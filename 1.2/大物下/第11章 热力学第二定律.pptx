
<file path=[Content_Types].xml><?xml version="1.0" encoding="utf-8"?>
<Types xmlns="http://schemas.openxmlformats.org/package/2006/content-types">
  <Default Extension="png" ContentType="image/png"/>
  <Default Extension="tmp"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charts/chart1.xml" ContentType="application/vnd.openxmlformats-officedocument.drawingml.chart+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821" r:id="rId2"/>
    <p:sldId id="667" r:id="rId3"/>
    <p:sldId id="668" r:id="rId4"/>
    <p:sldId id="677" r:id="rId5"/>
    <p:sldId id="681" r:id="rId6"/>
    <p:sldId id="1186" r:id="rId7"/>
    <p:sldId id="1058" r:id="rId8"/>
    <p:sldId id="1059" r:id="rId9"/>
    <p:sldId id="1065" r:id="rId10"/>
    <p:sldId id="1061" r:id="rId11"/>
    <p:sldId id="440" r:id="rId12"/>
    <p:sldId id="1060" r:id="rId13"/>
    <p:sldId id="1187" r:id="rId14"/>
    <p:sldId id="1062" r:id="rId15"/>
    <p:sldId id="1063" r:id="rId16"/>
    <p:sldId id="1064" r:id="rId17"/>
    <p:sldId id="1068" r:id="rId18"/>
    <p:sldId id="1066" r:id="rId19"/>
    <p:sldId id="1067" r:id="rId20"/>
    <p:sldId id="1079" r:id="rId21"/>
    <p:sldId id="1076" r:id="rId22"/>
    <p:sldId id="1080" r:id="rId23"/>
    <p:sldId id="1081" r:id="rId24"/>
    <p:sldId id="1088" r:id="rId25"/>
    <p:sldId id="1082" r:id="rId26"/>
    <p:sldId id="1085" r:id="rId27"/>
    <p:sldId id="1089" r:id="rId28"/>
    <p:sldId id="1090" r:id="rId29"/>
    <p:sldId id="605" r:id="rId30"/>
    <p:sldId id="342" r:id="rId31"/>
    <p:sldId id="343" r:id="rId32"/>
    <p:sldId id="344" r:id="rId33"/>
    <p:sldId id="345" r:id="rId34"/>
    <p:sldId id="347" r:id="rId35"/>
    <p:sldId id="346" r:id="rId36"/>
    <p:sldId id="348" r:id="rId37"/>
    <p:sldId id="351" r:id="rId38"/>
    <p:sldId id="352" r:id="rId39"/>
    <p:sldId id="353" r:id="rId40"/>
    <p:sldId id="354" r:id="rId41"/>
    <p:sldId id="1072" r:id="rId42"/>
    <p:sldId id="1091" r:id="rId43"/>
    <p:sldId id="649" r:id="rId44"/>
    <p:sldId id="360" r:id="rId45"/>
    <p:sldId id="1092"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92" autoAdjust="0"/>
    <p:restoredTop sz="94662" autoAdjust="0"/>
  </p:normalViewPr>
  <p:slideViewPr>
    <p:cSldViewPr snapToGrid="0">
      <p:cViewPr>
        <p:scale>
          <a:sx n="50" d="100"/>
          <a:sy n="50" d="100"/>
        </p:scale>
        <p:origin x="4164" y="23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55"/>
      <c:hPercent val="62"/>
      <c:rotY val="44"/>
      <c:depthPercent val="200"/>
      <c:rAngAx val="1"/>
    </c:view3D>
    <c:floor>
      <c:thickness val="0"/>
      <c:spPr>
        <a:solidFill>
          <a:srgbClr val="C0C0C0"/>
        </a:solidFill>
        <a:ln w="3175">
          <a:solidFill>
            <a:schemeClr val="tx1"/>
          </a:solidFill>
          <a:prstDash val="solid"/>
        </a:ln>
      </c:spPr>
    </c:floor>
    <c:sideWall>
      <c:thickness val="0"/>
      <c:spPr>
        <a:noFill/>
        <a:ln w="25400">
          <a:noFill/>
        </a:ln>
      </c:spPr>
    </c:sideWall>
    <c:backWall>
      <c:thickness val="0"/>
      <c:spPr>
        <a:noFill/>
        <a:ln w="25400">
          <a:noFill/>
        </a:ln>
      </c:spPr>
    </c:backWall>
    <c:plotArea>
      <c:layout>
        <c:manualLayout>
          <c:layoutTarget val="inner"/>
          <c:xMode val="edge"/>
          <c:yMode val="edge"/>
          <c:x val="4.0425161301789872E-2"/>
          <c:y val="4.0669856459330141E-2"/>
          <c:w val="0.95957483869821014"/>
          <c:h val="0.8898458824094575"/>
        </c:manualLayout>
      </c:layout>
      <c:bar3DChart>
        <c:barDir val="col"/>
        <c:grouping val="clustered"/>
        <c:varyColors val="0"/>
        <c:ser>
          <c:idx val="0"/>
          <c:order val="0"/>
          <c:tx>
            <c:strRef>
              <c:f>Sheet1!$B$1</c:f>
              <c:strCache>
                <c:ptCount val="1"/>
                <c:pt idx="0">
                  <c:v>  左4  右0</c:v>
                </c:pt>
              </c:strCache>
            </c:strRef>
          </c:tx>
          <c:spPr>
            <a:solidFill>
              <a:schemeClr val="accent1"/>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Sheet1!$B$2:$B$4</c:f>
              <c:numCache>
                <c:formatCode>General</c:formatCode>
                <c:ptCount val="3"/>
                <c:pt idx="0">
                  <c:v>1</c:v>
                </c:pt>
              </c:numCache>
            </c:numRef>
          </c:val>
          <c:extLst>
            <c:ext xmlns:c16="http://schemas.microsoft.com/office/drawing/2014/chart" uri="{C3380CC4-5D6E-409C-BE32-E72D297353CC}">
              <c16:uniqueId val="{00000000-5D48-47D5-A108-DE864AE5365F}"/>
            </c:ext>
          </c:extLst>
        </c:ser>
        <c:ser>
          <c:idx val="1"/>
          <c:order val="1"/>
          <c:tx>
            <c:strRef>
              <c:f>Sheet1!$C$1</c:f>
              <c:strCache>
                <c:ptCount val="1"/>
                <c:pt idx="0">
                  <c:v>  左3  右1</c:v>
                </c:pt>
              </c:strCache>
            </c:strRef>
          </c:tx>
          <c:spPr>
            <a:solidFill>
              <a:schemeClr val="accent2"/>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Sheet1!$C$2:$C$4</c:f>
              <c:numCache>
                <c:formatCode>General</c:formatCode>
                <c:ptCount val="3"/>
                <c:pt idx="0">
                  <c:v>4</c:v>
                </c:pt>
              </c:numCache>
            </c:numRef>
          </c:val>
          <c:extLst>
            <c:ext xmlns:c16="http://schemas.microsoft.com/office/drawing/2014/chart" uri="{C3380CC4-5D6E-409C-BE32-E72D297353CC}">
              <c16:uniqueId val="{00000001-5D48-47D5-A108-DE864AE5365F}"/>
            </c:ext>
          </c:extLst>
        </c:ser>
        <c:ser>
          <c:idx val="2"/>
          <c:order val="2"/>
          <c:tx>
            <c:strRef>
              <c:f>Sheet1!$D$1</c:f>
              <c:strCache>
                <c:ptCount val="1"/>
                <c:pt idx="0">
                  <c:v>  左2  右2</c:v>
                </c:pt>
              </c:strCache>
            </c:strRef>
          </c:tx>
          <c:spPr>
            <a:solidFill>
              <a:schemeClr val="hlink"/>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Sheet1!$D$2:$D$4</c:f>
              <c:numCache>
                <c:formatCode>General</c:formatCode>
                <c:ptCount val="3"/>
                <c:pt idx="0">
                  <c:v>6</c:v>
                </c:pt>
              </c:numCache>
            </c:numRef>
          </c:val>
          <c:extLst>
            <c:ext xmlns:c16="http://schemas.microsoft.com/office/drawing/2014/chart" uri="{C3380CC4-5D6E-409C-BE32-E72D297353CC}">
              <c16:uniqueId val="{00000002-5D48-47D5-A108-DE864AE5365F}"/>
            </c:ext>
          </c:extLst>
        </c:ser>
        <c:ser>
          <c:idx val="3"/>
          <c:order val="3"/>
          <c:tx>
            <c:strRef>
              <c:f>Sheet1!$E$1</c:f>
              <c:strCache>
                <c:ptCount val="1"/>
                <c:pt idx="0">
                  <c:v>  左1  右3</c:v>
                </c:pt>
              </c:strCache>
            </c:strRef>
          </c:tx>
          <c:spPr>
            <a:solidFill>
              <a:schemeClr val="folHlink"/>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Sheet1!$E$2:$E$4</c:f>
              <c:numCache>
                <c:formatCode>General</c:formatCode>
                <c:ptCount val="3"/>
                <c:pt idx="0">
                  <c:v>4</c:v>
                </c:pt>
              </c:numCache>
            </c:numRef>
          </c:val>
          <c:extLst>
            <c:ext xmlns:c16="http://schemas.microsoft.com/office/drawing/2014/chart" uri="{C3380CC4-5D6E-409C-BE32-E72D297353CC}">
              <c16:uniqueId val="{00000003-5D48-47D5-A108-DE864AE5365F}"/>
            </c:ext>
          </c:extLst>
        </c:ser>
        <c:ser>
          <c:idx val="4"/>
          <c:order val="4"/>
          <c:tx>
            <c:strRef>
              <c:f>Sheet1!$F$1</c:f>
              <c:strCache>
                <c:ptCount val="1"/>
                <c:pt idx="0">
                  <c:v>  左0  右4</c:v>
                </c:pt>
              </c:strCache>
            </c:strRef>
          </c:tx>
          <c:spPr>
            <a:solidFill>
              <a:schemeClr val="bg2"/>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Sheet1!$F$2:$F$4</c:f>
              <c:numCache>
                <c:formatCode>General</c:formatCode>
                <c:ptCount val="3"/>
                <c:pt idx="0">
                  <c:v>1</c:v>
                </c:pt>
              </c:numCache>
            </c:numRef>
          </c:val>
          <c:extLst>
            <c:ext xmlns:c16="http://schemas.microsoft.com/office/drawing/2014/chart" uri="{C3380CC4-5D6E-409C-BE32-E72D297353CC}">
              <c16:uniqueId val="{00000004-5D48-47D5-A108-DE864AE5365F}"/>
            </c:ext>
          </c:extLst>
        </c:ser>
        <c:ser>
          <c:idx val="5"/>
          <c:order val="5"/>
          <c:tx>
            <c:strRef>
              <c:f>Sheet1!$G$1</c:f>
              <c:strCache>
                <c:ptCount val="1"/>
              </c:strCache>
            </c:strRef>
          </c:tx>
          <c:spPr>
            <a:solidFill>
              <a:schemeClr val="tx2"/>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Sheet1!$G$2:$G$4</c:f>
              <c:numCache>
                <c:formatCode>General</c:formatCode>
                <c:ptCount val="3"/>
              </c:numCache>
            </c:numRef>
          </c:val>
          <c:extLst>
            <c:ext xmlns:c16="http://schemas.microsoft.com/office/drawing/2014/chart" uri="{C3380CC4-5D6E-409C-BE32-E72D297353CC}">
              <c16:uniqueId val="{00000005-5D48-47D5-A108-DE864AE5365F}"/>
            </c:ext>
          </c:extLst>
        </c:ser>
        <c:ser>
          <c:idx val="6"/>
          <c:order val="6"/>
          <c:tx>
            <c:strRef>
              <c:f>Sheet1!$H$1</c:f>
              <c:strCache>
                <c:ptCount val="1"/>
                <c:pt idx="0">
                  <c:v>  左5  右0</c:v>
                </c:pt>
              </c:strCache>
            </c:strRef>
          </c:tx>
          <c:spPr>
            <a:solidFill>
              <a:srgbClr val="0080C0"/>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Sheet1!$H$2:$H$4</c:f>
              <c:numCache>
                <c:formatCode>General</c:formatCode>
                <c:ptCount val="3"/>
                <c:pt idx="1">
                  <c:v>1</c:v>
                </c:pt>
              </c:numCache>
            </c:numRef>
          </c:val>
          <c:extLst>
            <c:ext xmlns:c16="http://schemas.microsoft.com/office/drawing/2014/chart" uri="{C3380CC4-5D6E-409C-BE32-E72D297353CC}">
              <c16:uniqueId val="{00000006-5D48-47D5-A108-DE864AE5365F}"/>
            </c:ext>
          </c:extLst>
        </c:ser>
        <c:ser>
          <c:idx val="7"/>
          <c:order val="7"/>
          <c:tx>
            <c:strRef>
              <c:f>Sheet1!$I$1</c:f>
              <c:strCache>
                <c:ptCount val="1"/>
                <c:pt idx="0">
                  <c:v>  左4  右1</c:v>
                </c:pt>
              </c:strCache>
            </c:strRef>
          </c:tx>
          <c:spPr>
            <a:solidFill>
              <a:srgbClr val="C0C0FF"/>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Sheet1!$I$2:$I$4</c:f>
              <c:numCache>
                <c:formatCode>General</c:formatCode>
                <c:ptCount val="3"/>
                <c:pt idx="1">
                  <c:v>5</c:v>
                </c:pt>
              </c:numCache>
            </c:numRef>
          </c:val>
          <c:extLst>
            <c:ext xmlns:c16="http://schemas.microsoft.com/office/drawing/2014/chart" uri="{C3380CC4-5D6E-409C-BE32-E72D297353CC}">
              <c16:uniqueId val="{00000007-5D48-47D5-A108-DE864AE5365F}"/>
            </c:ext>
          </c:extLst>
        </c:ser>
        <c:ser>
          <c:idx val="8"/>
          <c:order val="8"/>
          <c:tx>
            <c:strRef>
              <c:f>Sheet1!$J$1</c:f>
              <c:strCache>
                <c:ptCount val="1"/>
                <c:pt idx="0">
                  <c:v>  左3  右2</c:v>
                </c:pt>
              </c:strCache>
            </c:strRef>
          </c:tx>
          <c:spPr>
            <a:solidFill>
              <a:srgbClr val="FF0000"/>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Sheet1!$J$2:$J$4</c:f>
              <c:numCache>
                <c:formatCode>General</c:formatCode>
                <c:ptCount val="3"/>
                <c:pt idx="1">
                  <c:v>10</c:v>
                </c:pt>
              </c:numCache>
            </c:numRef>
          </c:val>
          <c:extLst>
            <c:ext xmlns:c16="http://schemas.microsoft.com/office/drawing/2014/chart" uri="{C3380CC4-5D6E-409C-BE32-E72D297353CC}">
              <c16:uniqueId val="{00000008-5D48-47D5-A108-DE864AE5365F}"/>
            </c:ext>
          </c:extLst>
        </c:ser>
        <c:ser>
          <c:idx val="9"/>
          <c:order val="9"/>
          <c:tx>
            <c:strRef>
              <c:f>Sheet1!$K$1</c:f>
              <c:strCache>
                <c:ptCount val="1"/>
                <c:pt idx="0">
                  <c:v>  左2  右3</c:v>
                </c:pt>
              </c:strCache>
            </c:strRef>
          </c:tx>
          <c:spPr>
            <a:solidFill>
              <a:srgbClr val="FFFF00"/>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Sheet1!$K$2:$K$4</c:f>
              <c:numCache>
                <c:formatCode>General</c:formatCode>
                <c:ptCount val="3"/>
                <c:pt idx="1">
                  <c:v>10</c:v>
                </c:pt>
              </c:numCache>
            </c:numRef>
          </c:val>
          <c:extLst>
            <c:ext xmlns:c16="http://schemas.microsoft.com/office/drawing/2014/chart" uri="{C3380CC4-5D6E-409C-BE32-E72D297353CC}">
              <c16:uniqueId val="{00000009-5D48-47D5-A108-DE864AE5365F}"/>
            </c:ext>
          </c:extLst>
        </c:ser>
        <c:ser>
          <c:idx val="10"/>
          <c:order val="10"/>
          <c:tx>
            <c:strRef>
              <c:f>Sheet1!$L$1</c:f>
              <c:strCache>
                <c:ptCount val="1"/>
                <c:pt idx="0">
                  <c:v>  左1  右4</c:v>
                </c:pt>
              </c:strCache>
            </c:strRef>
          </c:tx>
          <c:spPr>
            <a:solidFill>
              <a:srgbClr val="00FF00"/>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Sheet1!$L$2:$L$4</c:f>
              <c:numCache>
                <c:formatCode>General</c:formatCode>
                <c:ptCount val="3"/>
                <c:pt idx="1">
                  <c:v>5</c:v>
                </c:pt>
              </c:numCache>
            </c:numRef>
          </c:val>
          <c:extLst>
            <c:ext xmlns:c16="http://schemas.microsoft.com/office/drawing/2014/chart" uri="{C3380CC4-5D6E-409C-BE32-E72D297353CC}">
              <c16:uniqueId val="{0000000A-5D48-47D5-A108-DE864AE5365F}"/>
            </c:ext>
          </c:extLst>
        </c:ser>
        <c:ser>
          <c:idx val="11"/>
          <c:order val="11"/>
          <c:tx>
            <c:strRef>
              <c:f>Sheet1!$M$1</c:f>
              <c:strCache>
                <c:ptCount val="1"/>
                <c:pt idx="0">
                  <c:v>  左0  右5</c:v>
                </c:pt>
              </c:strCache>
            </c:strRef>
          </c:tx>
          <c:spPr>
            <a:solidFill>
              <a:srgbClr val="00FFFF"/>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Sheet1!$M$2:$M$4</c:f>
              <c:numCache>
                <c:formatCode>General</c:formatCode>
                <c:ptCount val="3"/>
                <c:pt idx="1">
                  <c:v>1</c:v>
                </c:pt>
              </c:numCache>
            </c:numRef>
          </c:val>
          <c:extLst>
            <c:ext xmlns:c16="http://schemas.microsoft.com/office/drawing/2014/chart" uri="{C3380CC4-5D6E-409C-BE32-E72D297353CC}">
              <c16:uniqueId val="{0000000B-5D48-47D5-A108-DE864AE5365F}"/>
            </c:ext>
          </c:extLst>
        </c:ser>
        <c:ser>
          <c:idx val="18"/>
          <c:order val="12"/>
          <c:tx>
            <c:strRef>
              <c:f>Sheet1!$O$1</c:f>
              <c:strCache>
                <c:ptCount val="1"/>
                <c:pt idx="0">
                  <c:v>  左6  右0</c:v>
                </c:pt>
              </c:strCache>
            </c:strRef>
          </c:tx>
          <c:spPr>
            <a:solidFill>
              <a:srgbClr val="E0FFE0"/>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Sheet1!$O$2:$O$4</c:f>
              <c:numCache>
                <c:formatCode>General</c:formatCode>
                <c:ptCount val="3"/>
                <c:pt idx="2">
                  <c:v>1</c:v>
                </c:pt>
              </c:numCache>
            </c:numRef>
          </c:val>
          <c:extLst>
            <c:ext xmlns:c16="http://schemas.microsoft.com/office/drawing/2014/chart" uri="{C3380CC4-5D6E-409C-BE32-E72D297353CC}">
              <c16:uniqueId val="{0000000C-5D48-47D5-A108-DE864AE5365F}"/>
            </c:ext>
          </c:extLst>
        </c:ser>
        <c:ser>
          <c:idx val="12"/>
          <c:order val="13"/>
          <c:tx>
            <c:strRef>
              <c:f>Sheet1!$P$1</c:f>
              <c:strCache>
                <c:ptCount val="1"/>
                <c:pt idx="0">
                  <c:v>  左5  右1</c:v>
                </c:pt>
              </c:strCache>
            </c:strRef>
          </c:tx>
          <c:spPr>
            <a:solidFill>
              <a:srgbClr val="0000FF"/>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Sheet1!$P$2:$P$4</c:f>
              <c:numCache>
                <c:formatCode>General</c:formatCode>
                <c:ptCount val="3"/>
                <c:pt idx="2">
                  <c:v>6</c:v>
                </c:pt>
              </c:numCache>
            </c:numRef>
          </c:val>
          <c:extLst>
            <c:ext xmlns:c16="http://schemas.microsoft.com/office/drawing/2014/chart" uri="{C3380CC4-5D6E-409C-BE32-E72D297353CC}">
              <c16:uniqueId val="{0000000D-5D48-47D5-A108-DE864AE5365F}"/>
            </c:ext>
          </c:extLst>
        </c:ser>
        <c:ser>
          <c:idx val="13"/>
          <c:order val="14"/>
          <c:tx>
            <c:strRef>
              <c:f>Sheet1!$Q$1</c:f>
              <c:strCache>
                <c:ptCount val="1"/>
                <c:pt idx="0">
                  <c:v>  左4  右2</c:v>
                </c:pt>
              </c:strCache>
            </c:strRef>
          </c:tx>
          <c:spPr>
            <a:solidFill>
              <a:srgbClr val="FF00FF"/>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Sheet1!$Q$2:$Q$4</c:f>
              <c:numCache>
                <c:formatCode>General</c:formatCode>
                <c:ptCount val="3"/>
                <c:pt idx="2">
                  <c:v>15</c:v>
                </c:pt>
              </c:numCache>
            </c:numRef>
          </c:val>
          <c:extLst>
            <c:ext xmlns:c16="http://schemas.microsoft.com/office/drawing/2014/chart" uri="{C3380CC4-5D6E-409C-BE32-E72D297353CC}">
              <c16:uniqueId val="{0000000E-5D48-47D5-A108-DE864AE5365F}"/>
            </c:ext>
          </c:extLst>
        </c:ser>
        <c:ser>
          <c:idx val="14"/>
          <c:order val="15"/>
          <c:tx>
            <c:strRef>
              <c:f>Sheet1!$R$1</c:f>
              <c:strCache>
                <c:ptCount val="1"/>
                <c:pt idx="0">
                  <c:v>  左3  右3</c:v>
                </c:pt>
              </c:strCache>
            </c:strRef>
          </c:tx>
          <c:spPr>
            <a:solidFill>
              <a:srgbClr val="008080"/>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Sheet1!$R$2:$R$4</c:f>
              <c:numCache>
                <c:formatCode>General</c:formatCode>
                <c:ptCount val="3"/>
                <c:pt idx="2">
                  <c:v>20</c:v>
                </c:pt>
              </c:numCache>
            </c:numRef>
          </c:val>
          <c:extLst>
            <c:ext xmlns:c16="http://schemas.microsoft.com/office/drawing/2014/chart" uri="{C3380CC4-5D6E-409C-BE32-E72D297353CC}">
              <c16:uniqueId val="{0000000F-5D48-47D5-A108-DE864AE5365F}"/>
            </c:ext>
          </c:extLst>
        </c:ser>
        <c:ser>
          <c:idx val="15"/>
          <c:order val="16"/>
          <c:tx>
            <c:strRef>
              <c:f>Sheet1!$S$1</c:f>
              <c:strCache>
                <c:ptCount val="1"/>
                <c:pt idx="0">
                  <c:v>  左2  右4</c:v>
                </c:pt>
              </c:strCache>
            </c:strRef>
          </c:tx>
          <c:spPr>
            <a:solidFill>
              <a:srgbClr val="0000FF"/>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Sheet1!$S$2:$S$4</c:f>
              <c:numCache>
                <c:formatCode>General</c:formatCode>
                <c:ptCount val="3"/>
                <c:pt idx="2">
                  <c:v>15</c:v>
                </c:pt>
              </c:numCache>
            </c:numRef>
          </c:val>
          <c:extLst>
            <c:ext xmlns:c16="http://schemas.microsoft.com/office/drawing/2014/chart" uri="{C3380CC4-5D6E-409C-BE32-E72D297353CC}">
              <c16:uniqueId val="{00000010-5D48-47D5-A108-DE864AE5365F}"/>
            </c:ext>
          </c:extLst>
        </c:ser>
        <c:ser>
          <c:idx val="16"/>
          <c:order val="17"/>
          <c:tx>
            <c:strRef>
              <c:f>Sheet1!$T$1</c:f>
              <c:strCache>
                <c:ptCount val="1"/>
                <c:pt idx="0">
                  <c:v>  左1  右5</c:v>
                </c:pt>
              </c:strCache>
            </c:strRef>
          </c:tx>
          <c:spPr>
            <a:solidFill>
              <a:srgbClr val="00CFFF"/>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Sheet1!$T$2:$T$4</c:f>
              <c:numCache>
                <c:formatCode>General</c:formatCode>
                <c:ptCount val="3"/>
                <c:pt idx="2">
                  <c:v>6</c:v>
                </c:pt>
              </c:numCache>
            </c:numRef>
          </c:val>
          <c:extLst>
            <c:ext xmlns:c16="http://schemas.microsoft.com/office/drawing/2014/chart" uri="{C3380CC4-5D6E-409C-BE32-E72D297353CC}">
              <c16:uniqueId val="{00000011-5D48-47D5-A108-DE864AE5365F}"/>
            </c:ext>
          </c:extLst>
        </c:ser>
        <c:ser>
          <c:idx val="17"/>
          <c:order val="18"/>
          <c:tx>
            <c:strRef>
              <c:f>Sheet1!$U$1</c:f>
              <c:strCache>
                <c:ptCount val="1"/>
                <c:pt idx="0">
                  <c:v>  左0  右6</c:v>
                </c:pt>
              </c:strCache>
            </c:strRef>
          </c:tx>
          <c:spPr>
            <a:solidFill>
              <a:srgbClr val="69FFFF"/>
            </a:solidFill>
            <a:ln w="9075">
              <a:solidFill>
                <a:srgbClr val="000000"/>
              </a:solidFill>
              <a:prstDash val="solid"/>
            </a:ln>
          </c:spPr>
          <c:invertIfNegative val="0"/>
          <c:cat>
            <c:strRef>
              <c:f>Sheet1!$A$2:$A$4</c:f>
              <c:strCache>
                <c:ptCount val="3"/>
                <c:pt idx="0">
                  <c:v>4个粒子分布</c:v>
                </c:pt>
                <c:pt idx="1">
                  <c:v>5个粒子分布</c:v>
                </c:pt>
                <c:pt idx="2">
                  <c:v>6个粒子分布</c:v>
                </c:pt>
              </c:strCache>
            </c:strRef>
          </c:cat>
          <c:val>
            <c:numRef>
              <c:f>Sheet1!$U$2:$U$4</c:f>
              <c:numCache>
                <c:formatCode>General</c:formatCode>
                <c:ptCount val="3"/>
                <c:pt idx="2">
                  <c:v>1</c:v>
                </c:pt>
              </c:numCache>
            </c:numRef>
          </c:val>
          <c:extLst>
            <c:ext xmlns:c16="http://schemas.microsoft.com/office/drawing/2014/chart" uri="{C3380CC4-5D6E-409C-BE32-E72D297353CC}">
              <c16:uniqueId val="{00000012-5D48-47D5-A108-DE864AE5365F}"/>
            </c:ext>
          </c:extLst>
        </c:ser>
        <c:dLbls>
          <c:showLegendKey val="0"/>
          <c:showVal val="0"/>
          <c:showCatName val="0"/>
          <c:showSerName val="0"/>
          <c:showPercent val="0"/>
          <c:showBubbleSize val="0"/>
        </c:dLbls>
        <c:gapWidth val="150"/>
        <c:gapDepth val="0"/>
        <c:shape val="box"/>
        <c:axId val="527212368"/>
        <c:axId val="1"/>
        <c:axId val="0"/>
      </c:bar3DChart>
      <c:catAx>
        <c:axId val="527212368"/>
        <c:scaling>
          <c:orientation val="minMax"/>
        </c:scaling>
        <c:delete val="0"/>
        <c:axPos val="b"/>
        <c:numFmt formatCode="General" sourceLinked="1"/>
        <c:majorTickMark val="in"/>
        <c:minorTickMark val="none"/>
        <c:tickLblPos val="low"/>
        <c:spPr>
          <a:ln w="2269">
            <a:solidFill>
              <a:schemeClr val="tx1"/>
            </a:solidFill>
            <a:prstDash val="solid"/>
          </a:ln>
        </c:spPr>
        <c:txPr>
          <a:bodyPr rot="0" vert="horz"/>
          <a:lstStyle/>
          <a:p>
            <a:pPr>
              <a:defRPr sz="1286" b="1" i="0" u="none" strike="noStrike" baseline="0">
                <a:solidFill>
                  <a:schemeClr val="tx1"/>
                </a:solidFill>
                <a:latin typeface="Arial"/>
                <a:ea typeface="Arial"/>
                <a:cs typeface="Arial"/>
              </a:defRPr>
            </a:pPr>
            <a:endParaRPr lang="en-US"/>
          </a:p>
        </c:txPr>
        <c:crossAx val="1"/>
        <c:crosses val="autoZero"/>
        <c:auto val="0"/>
        <c:lblAlgn val="ctr"/>
        <c:lblOffset val="100"/>
        <c:tickLblSkip val="1"/>
        <c:tickMarkSkip val="1"/>
        <c:noMultiLvlLbl val="0"/>
      </c:catAx>
      <c:valAx>
        <c:axId val="1"/>
        <c:scaling>
          <c:orientation val="minMax"/>
        </c:scaling>
        <c:delete val="0"/>
        <c:axPos val="l"/>
        <c:numFmt formatCode="General" sourceLinked="1"/>
        <c:majorTickMark val="in"/>
        <c:minorTickMark val="none"/>
        <c:tickLblPos val="nextTo"/>
        <c:spPr>
          <a:ln w="2269">
            <a:solidFill>
              <a:schemeClr val="tx1"/>
            </a:solidFill>
            <a:prstDash val="solid"/>
          </a:ln>
        </c:spPr>
        <c:txPr>
          <a:bodyPr rot="0" vert="horz"/>
          <a:lstStyle/>
          <a:p>
            <a:pPr>
              <a:defRPr sz="1286" b="1" i="0" u="none" strike="noStrike" baseline="0">
                <a:solidFill>
                  <a:schemeClr val="tx1"/>
                </a:solidFill>
                <a:latin typeface="Arial"/>
                <a:ea typeface="Arial"/>
                <a:cs typeface="Arial"/>
              </a:defRPr>
            </a:pPr>
            <a:endParaRPr lang="en-US"/>
          </a:p>
        </c:txPr>
        <c:crossAx val="527212368"/>
        <c:crosses val="autoZero"/>
        <c:crossBetween val="between"/>
      </c:valAx>
      <c:spPr>
        <a:noFill/>
        <a:ln w="18150">
          <a:noFill/>
        </a:ln>
      </c:spPr>
    </c:plotArea>
    <c:plotVisOnly val="1"/>
    <c:dispBlanksAs val="gap"/>
    <c:showDLblsOverMax val="0"/>
  </c:chart>
  <c:spPr>
    <a:noFill/>
    <a:ln>
      <a:noFill/>
    </a:ln>
  </c:spPr>
  <c:txPr>
    <a:bodyPr/>
    <a:lstStyle/>
    <a:p>
      <a:pPr>
        <a:defRPr sz="1286" b="1" i="0" u="none" strike="noStrike" baseline="0">
          <a:solidFill>
            <a:schemeClr val="tx1"/>
          </a:solidFill>
          <a:latin typeface="Arial"/>
          <a:ea typeface="Arial"/>
          <a:cs typeface="Arial"/>
        </a:defRPr>
      </a:pPr>
      <a:endParaRPr lang="en-US"/>
    </a:p>
  </c:txPr>
  <c:externalData r:id="rId1">
    <c:autoUpdate val="0"/>
  </c:externalData>
  <c:userShapes r:id="rId2"/>
</c:chartSpace>
</file>

<file path=ppt/drawings/_rels/vmlDrawing1.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 Id="rId4" Type="http://schemas.openxmlformats.org/officeDocument/2006/relationships/image" Target="../media/image3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 Id="rId6" Type="http://schemas.openxmlformats.org/officeDocument/2006/relationships/image" Target="../media/image42.wmf"/><Relationship Id="rId5" Type="http://schemas.openxmlformats.org/officeDocument/2006/relationships/image" Target="../media/image41.wmf"/><Relationship Id="rId4" Type="http://schemas.openxmlformats.org/officeDocument/2006/relationships/image" Target="../media/image4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5.wmf"/><Relationship Id="rId1" Type="http://schemas.openxmlformats.org/officeDocument/2006/relationships/image" Target="../media/image3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4.wmf"/></Relationships>
</file>

<file path=ppt/drawings/drawing1.xml><?xml version="1.0" encoding="utf-8"?>
<c:userShapes xmlns:c="http://schemas.openxmlformats.org/drawingml/2006/chart">
  <cdr:relSizeAnchor xmlns:cdr="http://schemas.openxmlformats.org/drawingml/2006/chartDrawing">
    <cdr:from>
      <cdr:x>0.4175</cdr:x>
      <cdr:y>0.49075</cdr:y>
    </cdr:from>
    <cdr:to>
      <cdr:x>0.424</cdr:x>
      <cdr:y>0.5625</cdr:y>
    </cdr:to>
    <cdr:sp macro="" textlink="">
      <cdr:nvSpPr>
        <cdr:cNvPr id="1025" name="文字 1">
          <a:extLst xmlns:a="http://schemas.openxmlformats.org/drawingml/2006/main">
            <a:ext uri="{FF2B5EF4-FFF2-40B4-BE49-F238E27FC236}">
              <a16:creationId xmlns:a16="http://schemas.microsoft.com/office/drawing/2014/main" id="{13B87D39-D8DB-EF64-31E3-9C00946A416C}"/>
            </a:ext>
          </a:extLst>
        </cdr:cNvPr>
        <cdr:cNvSpPr txBox="1">
          <a:spLocks xmlns:a="http://schemas.openxmlformats.org/drawingml/2006/main" noChangeArrowheads="1"/>
        </cdr:cNvSpPr>
      </cdr:nvSpPr>
      <cdr:spPr bwMode="auto">
        <a:xfrm xmlns:a="http://schemas.openxmlformats.org/drawingml/2006/main">
          <a:off x="2453616" y="1953897"/>
          <a:ext cx="38200" cy="285669"/>
        </a:xfrm>
        <a:prstGeom xmlns:a="http://schemas.openxmlformats.org/drawingml/2006/main" prst="rect">
          <a:avLst/>
        </a:prstGeom>
        <a:noFill xmlns:a="http://schemas.openxmlformats.org/drawingml/2006/main"/>
        <a:ln xmlns:a="http://schemas.openxmlformats.org/drawingml/2006/main">
          <a:noFill/>
        </a:ln>
        <a:extLst xmlns:a="http://schemas.openxmlformats.org/drawingml/2006/main">
          <a:ext uri="{909E8E84-426E-40DD-AFC4-6F175D3DCCD1}">
            <a14:hiddenFill xmlns:a14="http://schemas.microsoft.com/office/drawing/2010/main">
              <a:solidFill>
                <a:srgbClr xmlns:mc="http://schemas.openxmlformats.org/markup-compatibility/2006" val="000000" mc:Ignorable="a14" a14:legacySpreadsheetColorIndex="64"/>
              </a:solidFill>
            </a14:hiddenFill>
          </a:ext>
          <a:ext uri="{91240B29-F687-4F45-9708-019B960494DF}">
            <a14:hiddenLine xmlns:a14="http://schemas.microsoft.com/office/drawing/2010/main" w="9525">
              <a:solidFill>
                <a:srgbClr xmlns:mc="http://schemas.openxmlformats.org/markup-compatibility/2006" val="000000" mc:Ignorable="a14" a14:legacySpreadsheetColorIndex="64"/>
              </a:solidFill>
              <a:miter lim="800000"/>
              <a:headEnd/>
              <a:tailEnd/>
            </a14:hiddenLine>
          </a:ext>
        </a:extLst>
      </cdr:spPr>
      <cdr:txBody>
        <a:bodyPr xmlns:a="http://schemas.openxmlformats.org/drawingml/2006/main" wrap="none" lIns="18288" tIns="0" rIns="0" bIns="0" anchor="ctr" upright="1">
          <a:spAutoFit/>
        </a:bodyPr>
        <a:lstStyle xmlns:a="http://schemas.openxmlformats.org/drawingml/2006/main"/>
        <a:p xmlns:a="http://schemas.openxmlformats.org/drawingml/2006/main">
          <a:pPr algn="ctr" rtl="0">
            <a:defRPr sz="1000"/>
          </a:pPr>
          <a:endParaRPr lang="zh-CN" altLang="en-US"/>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5733EA-8E6D-4666-B9D4-9ACE27AD59EA}" type="datetimeFigureOut">
              <a:rPr lang="en-US" smtClean="0"/>
              <a:t>3/5/2024</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1FE689-547E-4EC7-A7DE-41A4901E6B75}" type="slidenum">
              <a:rPr lang="en-US" smtClean="0"/>
              <a:t>‹#›</a:t>
            </a:fld>
            <a:endParaRPr lang="en-US"/>
          </a:p>
        </p:txBody>
      </p:sp>
    </p:spTree>
    <p:extLst>
      <p:ext uri="{BB962C8B-B14F-4D97-AF65-F5344CB8AC3E}">
        <p14:creationId xmlns:p14="http://schemas.microsoft.com/office/powerpoint/2010/main" val="4072326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61FE689-547E-4EC7-A7DE-41A4901E6B75}" type="slidenum">
              <a:rPr lang="en-US" smtClean="0"/>
              <a:t>8</a:t>
            </a:fld>
            <a:endParaRPr lang="en-US"/>
          </a:p>
        </p:txBody>
      </p:sp>
    </p:spTree>
    <p:extLst>
      <p:ext uri="{BB962C8B-B14F-4D97-AF65-F5344CB8AC3E}">
        <p14:creationId xmlns:p14="http://schemas.microsoft.com/office/powerpoint/2010/main" val="3691233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F075D9-9C0A-4907-9E0A-2E1C5E38781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B63CDB30-CF70-4C98-8777-71D0DE6017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C8455DCF-EA4C-4853-BD99-7C8B11522995}"/>
              </a:ext>
            </a:extLst>
          </p:cNvPr>
          <p:cNvSpPr>
            <a:spLocks noGrp="1"/>
          </p:cNvSpPr>
          <p:nvPr>
            <p:ph type="dt" sz="half" idx="10"/>
          </p:nvPr>
        </p:nvSpPr>
        <p:spPr/>
        <p:txBody>
          <a:bodyPr/>
          <a:lstStyle/>
          <a:p>
            <a:fld id="{8569C8CB-8203-4113-BC19-5C96839CBD45}" type="datetimeFigureOut">
              <a:rPr lang="en-US" smtClean="0"/>
              <a:t>3/5/2024</a:t>
            </a:fld>
            <a:endParaRPr lang="en-US"/>
          </a:p>
        </p:txBody>
      </p:sp>
      <p:sp>
        <p:nvSpPr>
          <p:cNvPr id="5" name="页脚占位符 4">
            <a:extLst>
              <a:ext uri="{FF2B5EF4-FFF2-40B4-BE49-F238E27FC236}">
                <a16:creationId xmlns:a16="http://schemas.microsoft.com/office/drawing/2014/main" id="{A057D055-1BEA-4835-BCF3-DA518BC71717}"/>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12424949-9B6D-4ABE-81D0-3E80161027A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1000683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03ECBA-8D3D-44FD-8451-1C68376A6475}"/>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0D32FE7C-6E4F-4D24-8713-B2191E02029D}"/>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C24F968E-F782-49B7-8CFB-D5AD5205873F}"/>
              </a:ext>
            </a:extLst>
          </p:cNvPr>
          <p:cNvSpPr>
            <a:spLocks noGrp="1"/>
          </p:cNvSpPr>
          <p:nvPr>
            <p:ph type="dt" sz="half" idx="10"/>
          </p:nvPr>
        </p:nvSpPr>
        <p:spPr/>
        <p:txBody>
          <a:bodyPr/>
          <a:lstStyle/>
          <a:p>
            <a:fld id="{8569C8CB-8203-4113-BC19-5C96839CBD45}" type="datetimeFigureOut">
              <a:rPr lang="en-US" smtClean="0"/>
              <a:t>3/5/2024</a:t>
            </a:fld>
            <a:endParaRPr lang="en-US"/>
          </a:p>
        </p:txBody>
      </p:sp>
      <p:sp>
        <p:nvSpPr>
          <p:cNvPr id="5" name="页脚占位符 4">
            <a:extLst>
              <a:ext uri="{FF2B5EF4-FFF2-40B4-BE49-F238E27FC236}">
                <a16:creationId xmlns:a16="http://schemas.microsoft.com/office/drawing/2014/main" id="{16733CAE-7B6D-4B2F-A356-51AA8A9B789E}"/>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2DBC30F0-28D6-4C9B-AEE5-03D12DB8B436}"/>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84273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9E53B1-9079-49D9-9131-26E0E03C6F1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C8F01D29-1A52-4551-9AAD-87EDF9D76E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51D2B19E-2D1A-4065-8E51-732596D10154}"/>
              </a:ext>
            </a:extLst>
          </p:cNvPr>
          <p:cNvSpPr>
            <a:spLocks noGrp="1"/>
          </p:cNvSpPr>
          <p:nvPr>
            <p:ph type="dt" sz="half" idx="10"/>
          </p:nvPr>
        </p:nvSpPr>
        <p:spPr/>
        <p:txBody>
          <a:bodyPr/>
          <a:lstStyle/>
          <a:p>
            <a:fld id="{8569C8CB-8203-4113-BC19-5C96839CBD45}" type="datetimeFigureOut">
              <a:rPr lang="en-US" smtClean="0"/>
              <a:t>3/5/2024</a:t>
            </a:fld>
            <a:endParaRPr lang="en-US"/>
          </a:p>
        </p:txBody>
      </p:sp>
      <p:sp>
        <p:nvSpPr>
          <p:cNvPr id="5" name="页脚占位符 4">
            <a:extLst>
              <a:ext uri="{FF2B5EF4-FFF2-40B4-BE49-F238E27FC236}">
                <a16:creationId xmlns:a16="http://schemas.microsoft.com/office/drawing/2014/main" id="{D370643E-4976-4353-A93C-94547389C024}"/>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EF3E8924-C3CD-4AD0-8D20-BDBCD27DF27D}"/>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295288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BD28B-F5E7-4DEF-A7ED-85E67C83F559}"/>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BDB5A803-634D-4E5A-8215-1F45D12CCD83}"/>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a:extLst>
              <a:ext uri="{FF2B5EF4-FFF2-40B4-BE49-F238E27FC236}">
                <a16:creationId xmlns:a16="http://schemas.microsoft.com/office/drawing/2014/main" id="{8245702B-45D0-4EB5-AAA5-C47494C79821}"/>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32713FAE-28EA-4DD1-B781-345A797EEA62}"/>
              </a:ext>
            </a:extLst>
          </p:cNvPr>
          <p:cNvSpPr>
            <a:spLocks noGrp="1"/>
          </p:cNvSpPr>
          <p:nvPr>
            <p:ph type="dt" sz="half" idx="10"/>
          </p:nvPr>
        </p:nvSpPr>
        <p:spPr/>
        <p:txBody>
          <a:bodyPr/>
          <a:lstStyle/>
          <a:p>
            <a:fld id="{8569C8CB-8203-4113-BC19-5C96839CBD45}" type="datetimeFigureOut">
              <a:rPr lang="en-US" smtClean="0"/>
              <a:t>3/5/2024</a:t>
            </a:fld>
            <a:endParaRPr lang="en-US"/>
          </a:p>
        </p:txBody>
      </p:sp>
      <p:sp>
        <p:nvSpPr>
          <p:cNvPr id="6" name="页脚占位符 5">
            <a:extLst>
              <a:ext uri="{FF2B5EF4-FFF2-40B4-BE49-F238E27FC236}">
                <a16:creationId xmlns:a16="http://schemas.microsoft.com/office/drawing/2014/main" id="{D6B78BAD-ABD9-461C-A7F6-83BEE5EA72C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1DAFC4C7-93A9-4642-A356-4D4E2BD383C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60157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74F436-0EA1-486E-BFA5-AEFC10B549E5}"/>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DACE3DD6-1221-4B2B-A081-C438B4EA13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57A0C97E-5BD2-4E0E-B6D8-06BA9CC07EAC}"/>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a:extLst>
              <a:ext uri="{FF2B5EF4-FFF2-40B4-BE49-F238E27FC236}">
                <a16:creationId xmlns:a16="http://schemas.microsoft.com/office/drawing/2014/main" id="{F0A250BC-6CDA-4F55-9122-E95732154C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E49A7F6C-B16D-4596-8C2E-4B3AAA59920B}"/>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6">
            <a:extLst>
              <a:ext uri="{FF2B5EF4-FFF2-40B4-BE49-F238E27FC236}">
                <a16:creationId xmlns:a16="http://schemas.microsoft.com/office/drawing/2014/main" id="{086CDA96-F74A-4624-A701-06BB40E85578}"/>
              </a:ext>
            </a:extLst>
          </p:cNvPr>
          <p:cNvSpPr>
            <a:spLocks noGrp="1"/>
          </p:cNvSpPr>
          <p:nvPr>
            <p:ph type="dt" sz="half" idx="10"/>
          </p:nvPr>
        </p:nvSpPr>
        <p:spPr/>
        <p:txBody>
          <a:bodyPr/>
          <a:lstStyle/>
          <a:p>
            <a:fld id="{8569C8CB-8203-4113-BC19-5C96839CBD45}" type="datetimeFigureOut">
              <a:rPr lang="en-US" smtClean="0"/>
              <a:t>3/5/2024</a:t>
            </a:fld>
            <a:endParaRPr lang="en-US"/>
          </a:p>
        </p:txBody>
      </p:sp>
      <p:sp>
        <p:nvSpPr>
          <p:cNvPr id="8" name="页脚占位符 7">
            <a:extLst>
              <a:ext uri="{FF2B5EF4-FFF2-40B4-BE49-F238E27FC236}">
                <a16:creationId xmlns:a16="http://schemas.microsoft.com/office/drawing/2014/main" id="{1C82C964-0DCE-4251-A2D2-8B40BD442161}"/>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4CF80643-74A0-4D0A-B3AE-FDFCC00373BC}"/>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684343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21D687-2952-433A-A486-099C48C4B667}"/>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F84DCF08-EA4B-4E0C-B9DA-AF780B867655}"/>
              </a:ext>
            </a:extLst>
          </p:cNvPr>
          <p:cNvSpPr>
            <a:spLocks noGrp="1"/>
          </p:cNvSpPr>
          <p:nvPr>
            <p:ph type="dt" sz="half" idx="10"/>
          </p:nvPr>
        </p:nvSpPr>
        <p:spPr/>
        <p:txBody>
          <a:bodyPr/>
          <a:lstStyle/>
          <a:p>
            <a:fld id="{8569C8CB-8203-4113-BC19-5C96839CBD45}" type="datetimeFigureOut">
              <a:rPr lang="en-US" smtClean="0"/>
              <a:t>3/5/2024</a:t>
            </a:fld>
            <a:endParaRPr lang="en-US"/>
          </a:p>
        </p:txBody>
      </p:sp>
      <p:sp>
        <p:nvSpPr>
          <p:cNvPr id="4" name="页脚占位符 3">
            <a:extLst>
              <a:ext uri="{FF2B5EF4-FFF2-40B4-BE49-F238E27FC236}">
                <a16:creationId xmlns:a16="http://schemas.microsoft.com/office/drawing/2014/main" id="{F4DF4D79-43A3-4D15-AADB-49E2A00CDBAD}"/>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897F9052-09FA-4D04-AB45-329EED24907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117064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CE4DD36-7F96-444A-A9B7-5FBBE9CE746F}"/>
              </a:ext>
            </a:extLst>
          </p:cNvPr>
          <p:cNvSpPr>
            <a:spLocks noGrp="1"/>
          </p:cNvSpPr>
          <p:nvPr>
            <p:ph type="dt" sz="half" idx="10"/>
          </p:nvPr>
        </p:nvSpPr>
        <p:spPr/>
        <p:txBody>
          <a:bodyPr/>
          <a:lstStyle/>
          <a:p>
            <a:fld id="{8569C8CB-8203-4113-BC19-5C96839CBD45}" type="datetimeFigureOut">
              <a:rPr lang="en-US" smtClean="0"/>
              <a:t>3/5/2024</a:t>
            </a:fld>
            <a:endParaRPr lang="en-US"/>
          </a:p>
        </p:txBody>
      </p:sp>
      <p:sp>
        <p:nvSpPr>
          <p:cNvPr id="3" name="页脚占位符 2">
            <a:extLst>
              <a:ext uri="{FF2B5EF4-FFF2-40B4-BE49-F238E27FC236}">
                <a16:creationId xmlns:a16="http://schemas.microsoft.com/office/drawing/2014/main" id="{EC8F5D18-B09A-4096-AFDA-96A804D6D451}"/>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1ACC0151-1B68-4B32-AB2F-4A65BE2AD14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97626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FBC3E4-C582-4A91-A7AE-1D79621891D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A942F964-0EB5-4901-BC24-85E3354331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a:extLst>
              <a:ext uri="{FF2B5EF4-FFF2-40B4-BE49-F238E27FC236}">
                <a16:creationId xmlns:a16="http://schemas.microsoft.com/office/drawing/2014/main" id="{366385E8-484A-4DCD-B049-3172288A76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0569B17-EB32-4F6A-9B7C-5B597E7CC0ED}"/>
              </a:ext>
            </a:extLst>
          </p:cNvPr>
          <p:cNvSpPr>
            <a:spLocks noGrp="1"/>
          </p:cNvSpPr>
          <p:nvPr>
            <p:ph type="dt" sz="half" idx="10"/>
          </p:nvPr>
        </p:nvSpPr>
        <p:spPr/>
        <p:txBody>
          <a:bodyPr/>
          <a:lstStyle/>
          <a:p>
            <a:fld id="{8569C8CB-8203-4113-BC19-5C96839CBD45}" type="datetimeFigureOut">
              <a:rPr lang="en-US" smtClean="0"/>
              <a:t>3/5/2024</a:t>
            </a:fld>
            <a:endParaRPr lang="en-US"/>
          </a:p>
        </p:txBody>
      </p:sp>
      <p:sp>
        <p:nvSpPr>
          <p:cNvPr id="6" name="页脚占位符 5">
            <a:extLst>
              <a:ext uri="{FF2B5EF4-FFF2-40B4-BE49-F238E27FC236}">
                <a16:creationId xmlns:a16="http://schemas.microsoft.com/office/drawing/2014/main" id="{524C8B3B-8E4D-4EBB-8A2B-D5C7322C2396}"/>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63762D6F-D0D3-4812-B6E8-731E7AFBF937}"/>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54661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4EBE16-E626-4C00-8722-0F82B3A32BF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7C5C2DE1-D969-4D9C-B72F-3E40B96720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060D0D84-9E46-41CD-A472-B1029A0FCE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7C908C6-21BD-4D14-B9E5-67673794C1B6}"/>
              </a:ext>
            </a:extLst>
          </p:cNvPr>
          <p:cNvSpPr>
            <a:spLocks noGrp="1"/>
          </p:cNvSpPr>
          <p:nvPr>
            <p:ph type="dt" sz="half" idx="10"/>
          </p:nvPr>
        </p:nvSpPr>
        <p:spPr/>
        <p:txBody>
          <a:bodyPr/>
          <a:lstStyle/>
          <a:p>
            <a:fld id="{8569C8CB-8203-4113-BC19-5C96839CBD45}" type="datetimeFigureOut">
              <a:rPr lang="en-US" smtClean="0"/>
              <a:t>3/5/2024</a:t>
            </a:fld>
            <a:endParaRPr lang="en-US"/>
          </a:p>
        </p:txBody>
      </p:sp>
      <p:sp>
        <p:nvSpPr>
          <p:cNvPr id="6" name="页脚占位符 5">
            <a:extLst>
              <a:ext uri="{FF2B5EF4-FFF2-40B4-BE49-F238E27FC236}">
                <a16:creationId xmlns:a16="http://schemas.microsoft.com/office/drawing/2014/main" id="{BC237D1E-BE48-42AB-BF84-696F9BA0CD3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A25CDD9A-D6DD-4908-A730-2867C0197665}"/>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791083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CF7F10-CD63-4FB1-A171-A7DAAE8883A6}"/>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4FF1AB79-8425-466E-A8A5-DADBC36F29A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189E2F66-1492-47A7-BCD3-BF219BAE6E74}"/>
              </a:ext>
            </a:extLst>
          </p:cNvPr>
          <p:cNvSpPr>
            <a:spLocks noGrp="1"/>
          </p:cNvSpPr>
          <p:nvPr>
            <p:ph type="dt" sz="half" idx="10"/>
          </p:nvPr>
        </p:nvSpPr>
        <p:spPr/>
        <p:txBody>
          <a:bodyPr/>
          <a:lstStyle/>
          <a:p>
            <a:fld id="{8569C8CB-8203-4113-BC19-5C96839CBD45}" type="datetimeFigureOut">
              <a:rPr lang="en-US" smtClean="0"/>
              <a:t>3/5/2024</a:t>
            </a:fld>
            <a:endParaRPr lang="en-US"/>
          </a:p>
        </p:txBody>
      </p:sp>
      <p:sp>
        <p:nvSpPr>
          <p:cNvPr id="5" name="页脚占位符 4">
            <a:extLst>
              <a:ext uri="{FF2B5EF4-FFF2-40B4-BE49-F238E27FC236}">
                <a16:creationId xmlns:a16="http://schemas.microsoft.com/office/drawing/2014/main" id="{2142A3AF-5C92-49DE-B7CE-F57501C229CA}"/>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CFE16F9F-8375-4DF1-A57B-BDA6BF36C64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768209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9CEAE66-692B-4D65-A7C3-1680609F007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5F818DC3-D68F-47FD-9934-DB88063C3F44}"/>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2E197317-A46D-420C-A392-2D9B93AC409E}"/>
              </a:ext>
            </a:extLst>
          </p:cNvPr>
          <p:cNvSpPr>
            <a:spLocks noGrp="1"/>
          </p:cNvSpPr>
          <p:nvPr>
            <p:ph type="dt" sz="half" idx="10"/>
          </p:nvPr>
        </p:nvSpPr>
        <p:spPr/>
        <p:txBody>
          <a:bodyPr/>
          <a:lstStyle/>
          <a:p>
            <a:fld id="{8569C8CB-8203-4113-BC19-5C96839CBD45}" type="datetimeFigureOut">
              <a:rPr lang="en-US" smtClean="0"/>
              <a:t>3/5/2024</a:t>
            </a:fld>
            <a:endParaRPr lang="en-US"/>
          </a:p>
        </p:txBody>
      </p:sp>
      <p:sp>
        <p:nvSpPr>
          <p:cNvPr id="5" name="页脚占位符 4">
            <a:extLst>
              <a:ext uri="{FF2B5EF4-FFF2-40B4-BE49-F238E27FC236}">
                <a16:creationId xmlns:a16="http://schemas.microsoft.com/office/drawing/2014/main" id="{46B454CD-23C0-496D-BC54-03322B1D903F}"/>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9257EF11-F507-4D48-9B8C-E8680A05EBD3}"/>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687828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8EF7D3-5A27-4B57-8A33-E7C0DD1B0A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9CE378D8-CAD9-4EDA-B737-D089103748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4B61C7E5-DED7-4901-BEA1-361A290133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69C8CB-8203-4113-BC19-5C96839CBD45}" type="datetimeFigureOut">
              <a:rPr lang="en-US" smtClean="0"/>
              <a:t>3/5/2024</a:t>
            </a:fld>
            <a:endParaRPr lang="en-US"/>
          </a:p>
        </p:txBody>
      </p:sp>
      <p:sp>
        <p:nvSpPr>
          <p:cNvPr id="5" name="页脚占位符 4">
            <a:extLst>
              <a:ext uri="{FF2B5EF4-FFF2-40B4-BE49-F238E27FC236}">
                <a16:creationId xmlns:a16="http://schemas.microsoft.com/office/drawing/2014/main" id="{EDBCA12B-ADFA-4389-8BED-E30DC2D606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5D7DB51E-6AD4-4AAC-BD8A-505C38223C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16C4D0-362D-4F07-9D17-9A93F97D0861}" type="slidenum">
              <a:rPr lang="en-US" smtClean="0"/>
              <a:t>‹#›</a:t>
            </a:fld>
            <a:endParaRPr lang="en-US"/>
          </a:p>
        </p:txBody>
      </p:sp>
    </p:spTree>
    <p:extLst>
      <p:ext uri="{BB962C8B-B14F-4D97-AF65-F5344CB8AC3E}">
        <p14:creationId xmlns:p14="http://schemas.microsoft.com/office/powerpoint/2010/main" val="2190438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18" Type="http://schemas.openxmlformats.org/officeDocument/2006/relationships/image" Target="../media/image150.png"/><Relationship Id="rId26" Type="http://schemas.openxmlformats.org/officeDocument/2006/relationships/image" Target="../media/image158.png"/><Relationship Id="rId3" Type="http://schemas.openxmlformats.org/officeDocument/2006/relationships/image" Target="../media/image134.png"/><Relationship Id="rId21" Type="http://schemas.openxmlformats.org/officeDocument/2006/relationships/image" Target="../media/image153.png"/><Relationship Id="rId7" Type="http://schemas.openxmlformats.org/officeDocument/2006/relationships/image" Target="NULL"/><Relationship Id="rId12" Type="http://schemas.openxmlformats.org/officeDocument/2006/relationships/image" Target="NULL"/><Relationship Id="rId17" Type="http://schemas.openxmlformats.org/officeDocument/2006/relationships/image" Target="../media/image139.png"/><Relationship Id="rId25" Type="http://schemas.openxmlformats.org/officeDocument/2006/relationships/image" Target="../media/image157.png"/><Relationship Id="rId2" Type="http://schemas.openxmlformats.org/officeDocument/2006/relationships/image" Target="NULL"/><Relationship Id="rId16" Type="http://schemas.openxmlformats.org/officeDocument/2006/relationships/image" Target="../media/image138.png"/><Relationship Id="rId20" Type="http://schemas.openxmlformats.org/officeDocument/2006/relationships/image" Target="../media/image152.png"/><Relationship Id="rId1" Type="http://schemas.openxmlformats.org/officeDocument/2006/relationships/slideLayout" Target="../slideLayouts/slideLayout7.xml"/><Relationship Id="rId6" Type="http://schemas.openxmlformats.org/officeDocument/2006/relationships/image" Target="NULL"/><Relationship Id="rId11" Type="http://schemas.openxmlformats.org/officeDocument/2006/relationships/image" Target="NULL"/><Relationship Id="rId24" Type="http://schemas.openxmlformats.org/officeDocument/2006/relationships/image" Target="../media/image156.png"/><Relationship Id="rId5" Type="http://schemas.openxmlformats.org/officeDocument/2006/relationships/image" Target="../media/image136.png"/><Relationship Id="rId15" Type="http://schemas.openxmlformats.org/officeDocument/2006/relationships/image" Target="../media/image137.png"/><Relationship Id="rId23" Type="http://schemas.openxmlformats.org/officeDocument/2006/relationships/image" Target="../media/image155.png"/><Relationship Id="rId28" Type="http://schemas.openxmlformats.org/officeDocument/2006/relationships/image" Target="../media/image2.png"/><Relationship Id="rId10" Type="http://schemas.openxmlformats.org/officeDocument/2006/relationships/image" Target="NULL"/><Relationship Id="rId19" Type="http://schemas.openxmlformats.org/officeDocument/2006/relationships/image" Target="../media/image151.png"/><Relationship Id="rId9" Type="http://schemas.openxmlformats.org/officeDocument/2006/relationships/image" Target="NULL"/><Relationship Id="rId14" Type="http://schemas.openxmlformats.org/officeDocument/2006/relationships/image" Target="../media/image133.png"/><Relationship Id="rId4" Type="http://schemas.openxmlformats.org/officeDocument/2006/relationships/image" Target="../media/image135.png"/><Relationship Id="rId22" Type="http://schemas.openxmlformats.org/officeDocument/2006/relationships/image" Target="../media/image154.png"/><Relationship Id="rId27"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8.png"/><Relationship Id="rId3" Type="http://schemas.openxmlformats.org/officeDocument/2006/relationships/image" Target="../media/image116.png"/><Relationship Id="rId7" Type="http://schemas.openxmlformats.org/officeDocument/2006/relationships/image" Target="../media/image122.png"/><Relationship Id="rId12" Type="http://schemas.openxmlformats.org/officeDocument/2006/relationships/image" Target="../media/image127.png"/><Relationship Id="rId2" Type="http://schemas.openxmlformats.org/officeDocument/2006/relationships/image" Target="../media/image115.png"/><Relationship Id="rId16"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21.png"/><Relationship Id="rId11" Type="http://schemas.openxmlformats.org/officeDocument/2006/relationships/image" Target="../media/image126.png"/><Relationship Id="rId5" Type="http://schemas.openxmlformats.org/officeDocument/2006/relationships/image" Target="../media/image120.png"/><Relationship Id="rId15" Type="http://schemas.openxmlformats.org/officeDocument/2006/relationships/hyperlink" Target="file:///I:\&#30005;&#23376;&#25945;&#26696;2012&#19978;&#21322;&#24180;\&#30005;&#20912;&#31665;.exe" TargetMode="External"/><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png"/><Relationship Id="rId14" Type="http://schemas.openxmlformats.org/officeDocument/2006/relationships/image" Target="../media/image129.png"/></Relationships>
</file>

<file path=ppt/slides/_rels/slide4.xml.rels><?xml version="1.0" encoding="UTF-8" standalone="yes"?>
<Relationships xmlns="http://schemas.openxmlformats.org/package/2006/relationships"><Relationship Id="rId8" Type="http://schemas.openxmlformats.org/officeDocument/2006/relationships/image" Target="../media/image1870.png"/><Relationship Id="rId13" Type="http://schemas.openxmlformats.org/officeDocument/2006/relationships/image" Target="../media/image1830.png"/><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91.png"/><Relationship Id="rId5" Type="http://schemas.openxmlformats.org/officeDocument/2006/relationships/image" Target="../media/image87.png"/><Relationship Id="rId10" Type="http://schemas.openxmlformats.org/officeDocument/2006/relationships/image" Target="../media/image190.png"/><Relationship Id="rId4" Type="http://schemas.openxmlformats.org/officeDocument/2006/relationships/image" Target="../media/image6.png"/><Relationship Id="rId9" Type="http://schemas.openxmlformats.org/officeDocument/2006/relationships/image" Target="../media/image189.png"/><Relationship Id="rId14" Type="http://schemas.openxmlformats.org/officeDocument/2006/relationships/image" Target="../media/image1840.png"/></Relationships>
</file>

<file path=ppt/slides/_rels/slide5.xml.rels><?xml version="1.0" encoding="UTF-8" standalone="yes"?>
<Relationships xmlns="http://schemas.openxmlformats.org/package/2006/relationships"><Relationship Id="rId8" Type="http://schemas.openxmlformats.org/officeDocument/2006/relationships/image" Target="../media/image198.png"/><Relationship Id="rId13" Type="http://schemas.openxmlformats.org/officeDocument/2006/relationships/image" Target="../media/image15.png"/><Relationship Id="rId3" Type="http://schemas.openxmlformats.org/officeDocument/2006/relationships/image" Target="../media/image105.png"/><Relationship Id="rId7" Type="http://schemas.openxmlformats.org/officeDocument/2006/relationships/image" Target="../media/image12.png"/><Relationship Id="rId12"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3.png"/><Relationship Id="rId5" Type="http://schemas.openxmlformats.org/officeDocument/2006/relationships/image" Target="../media/image10.png"/><Relationship Id="rId10" Type="http://schemas.openxmlformats.org/officeDocument/2006/relationships/image" Target="../media/image199.png"/><Relationship Id="rId4" Type="http://schemas.openxmlformats.org/officeDocument/2006/relationships/image" Target="../media/image194.png"/><Relationship Id="rId9" Type="http://schemas.openxmlformats.org/officeDocument/2006/relationships/image" Target="../media/image307.png"/><Relationship Id="rId1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60.png"/><Relationship Id="rId7" Type="http://schemas.openxmlformats.org/officeDocument/2006/relationships/image" Target="../media/image1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hyperlink" Target="file:///I:\&#30005;&#23376;&#25945;&#26696;2012&#19978;&#21322;&#24180;\&#28909;&#26426;.exe" TargetMode="External"/><Relationship Id="rId5" Type="http://schemas.openxmlformats.org/officeDocument/2006/relationships/image" Target="../media/image1810.png"/><Relationship Id="rId4" Type="http://schemas.openxmlformats.org/officeDocument/2006/relationships/image" Target="../media/image970.png"/></Relationships>
</file>

<file path=ppt/slides/_rels/slide9.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01.png"/><Relationship Id="rId2" Type="http://schemas.openxmlformats.org/officeDocument/2006/relationships/image" Target="../media/image300.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24.tmp"/><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27.gif"/><Relationship Id="rId1" Type="http://schemas.openxmlformats.org/officeDocument/2006/relationships/slideLayout" Target="../slideLayouts/slideLayout7.xml"/><Relationship Id="rId6" Type="http://schemas.openxmlformats.org/officeDocument/2006/relationships/image" Target="../media/image160.png"/><Relationship Id="rId5" Type="http://schemas.openxmlformats.org/officeDocument/2006/relationships/image" Target="../media/image159.png"/><Relationship Id="rId4" Type="http://schemas.openxmlformats.org/officeDocument/2006/relationships/image" Target="../media/image140.png"/></Relationships>
</file>

<file path=ppt/slides/_rels/slide22.xml.rels><?xml version="1.0" encoding="UTF-8" standalone="yes"?>
<Relationships xmlns="http://schemas.openxmlformats.org/package/2006/relationships"><Relationship Id="rId3" Type="http://schemas.openxmlformats.org/officeDocument/2006/relationships/image" Target="../media/image29.gif"/><Relationship Id="rId2" Type="http://schemas.openxmlformats.org/officeDocument/2006/relationships/image" Target="../media/image28.gif"/><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27.gif"/><Relationship Id="rId4" Type="http://schemas.openxmlformats.org/officeDocument/2006/relationships/image" Target="../media/image32.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27.gif"/><Relationship Id="rId4" Type="http://schemas.openxmlformats.org/officeDocument/2006/relationships/image" Target="../media/image32.wmf"/></Relationships>
</file>

<file path=ppt/slides/_rels/slide29.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34.wmf"/><Relationship Id="rId5" Type="http://schemas.openxmlformats.org/officeDocument/2006/relationships/oleObject" Target="../embeddings/oleObject3.bin"/><Relationship Id="rId10" Type="http://schemas.openxmlformats.org/officeDocument/2006/relationships/image" Target="../media/image36.wmf"/><Relationship Id="rId4" Type="http://schemas.openxmlformats.org/officeDocument/2006/relationships/image" Target="../media/image33.wmf"/><Relationship Id="rId9" Type="http://schemas.openxmlformats.org/officeDocument/2006/relationships/oleObject" Target="../embeddings/oleObject5.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39.wmf"/><Relationship Id="rId13" Type="http://schemas.openxmlformats.org/officeDocument/2006/relationships/oleObject" Target="../embeddings/oleObject11.bin"/><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41.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38.w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40.wmf"/><Relationship Id="rId4" Type="http://schemas.openxmlformats.org/officeDocument/2006/relationships/image" Target="../media/image37.wmf"/><Relationship Id="rId9" Type="http://schemas.openxmlformats.org/officeDocument/2006/relationships/oleObject" Target="../embeddings/oleObject9.bin"/><Relationship Id="rId14" Type="http://schemas.openxmlformats.org/officeDocument/2006/relationships/image" Target="../media/image42.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35.wmf"/><Relationship Id="rId5" Type="http://schemas.openxmlformats.org/officeDocument/2006/relationships/oleObject" Target="../embeddings/oleObject4.bin"/><Relationship Id="rId4" Type="http://schemas.openxmlformats.org/officeDocument/2006/relationships/image" Target="../media/image34.wmf"/></Relationships>
</file>

<file path=ppt/slides/_rels/slide3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44.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 Box 13">
            <a:extLst>
              <a:ext uri="{FF2B5EF4-FFF2-40B4-BE49-F238E27FC236}">
                <a16:creationId xmlns:a16="http://schemas.microsoft.com/office/drawing/2014/main" id="{B1D77FAA-C6EC-4AC5-A3F5-4CC64C94B2C7}"/>
              </a:ext>
            </a:extLst>
          </p:cNvPr>
          <p:cNvSpPr txBox="1">
            <a:spLocks noChangeArrowheads="1"/>
          </p:cNvSpPr>
          <p:nvPr/>
        </p:nvSpPr>
        <p:spPr bwMode="auto">
          <a:xfrm>
            <a:off x="2928209" y="264124"/>
            <a:ext cx="709712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第</a:t>
            </a:r>
            <a:r>
              <a:rPr lang="en-US" altLang="zh-CN"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10</a:t>
            </a: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章　热力学第一定律</a:t>
            </a:r>
          </a:p>
        </p:txBody>
      </p:sp>
      <p:sp>
        <p:nvSpPr>
          <p:cNvPr id="4112" name="Rectangle 16">
            <a:hlinkClick r:id="" action="ppaction://noaction"/>
            <a:extLst>
              <a:ext uri="{FF2B5EF4-FFF2-40B4-BE49-F238E27FC236}">
                <a16:creationId xmlns:a16="http://schemas.microsoft.com/office/drawing/2014/main" id="{E4498F14-2B16-44E2-8121-1F90B80155C0}"/>
              </a:ext>
            </a:extLst>
          </p:cNvPr>
          <p:cNvSpPr>
            <a:spLocks noChangeArrowheads="1"/>
          </p:cNvSpPr>
          <p:nvPr/>
        </p:nvSpPr>
        <p:spPr bwMode="auto">
          <a:xfrm>
            <a:off x="2850993" y="1259371"/>
            <a:ext cx="6705460" cy="501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10.1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功  热量   热力学第一定律</a:t>
            </a:r>
          </a:p>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10.2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准静态过程</a:t>
            </a:r>
          </a:p>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10.3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热容</a:t>
            </a:r>
          </a:p>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10.4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绝热过程</a:t>
            </a:r>
          </a:p>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10.5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循环过程</a:t>
            </a:r>
          </a:p>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10.6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卡诺循环    </a:t>
            </a:r>
          </a:p>
          <a:p>
            <a:pPr>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10.7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制冷循环</a:t>
            </a:r>
          </a:p>
        </p:txBody>
      </p:sp>
      <p:sp>
        <p:nvSpPr>
          <p:cNvPr id="11" name="矩形 10">
            <a:extLst>
              <a:ext uri="{FF2B5EF4-FFF2-40B4-BE49-F238E27FC236}">
                <a16:creationId xmlns:a16="http://schemas.microsoft.com/office/drawing/2014/main" id="{BBDB04A1-0ED6-47DB-AB21-B6B2EFE1D30C}"/>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spTree>
    <p:extLst>
      <p:ext uri="{BB962C8B-B14F-4D97-AF65-F5344CB8AC3E}">
        <p14:creationId xmlns:p14="http://schemas.microsoft.com/office/powerpoint/2010/main" val="77909194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noChangeAspect="1"/>
          </p:cNvGrpSpPr>
          <p:nvPr/>
        </p:nvGrpSpPr>
        <p:grpSpPr>
          <a:xfrm>
            <a:off x="233606" y="5353139"/>
            <a:ext cx="6864350" cy="923925"/>
            <a:chOff x="1068" y="3200"/>
            <a:chExt cx="4324" cy="582"/>
          </a:xfrm>
        </p:grpSpPr>
        <p:sp>
          <p:nvSpPr>
            <p:cNvPr id="6191" name="Text Box 5"/>
            <p:cNvSpPr txBox="1"/>
            <p:nvPr/>
          </p:nvSpPr>
          <p:spPr>
            <a:xfrm>
              <a:off x="1068" y="3383"/>
              <a:ext cx="1536" cy="330"/>
            </a:xfrm>
            <a:prstGeom prst="rect">
              <a:avLst/>
            </a:prstGeom>
            <a:noFill/>
            <a:ln w="12700">
              <a:noFill/>
            </a:ln>
          </p:spPr>
          <p:txBody>
            <a:bodyPr>
              <a:spAutoFit/>
            </a:bodyPr>
            <a:lstStyle/>
            <a:p>
              <a:pPr>
                <a:spcBef>
                  <a:spcPct val="50000"/>
                </a:spcBef>
              </a:pPr>
              <a:r>
                <a:rPr lang="zh-CN" altLang="en-US" sz="2800" dirty="0">
                  <a:solidFill>
                    <a:srgbClr val="333333"/>
                  </a:solidFill>
                  <a:latin typeface="Times New Roman" panose="02020603050405020304" pitchFamily="18" charset="0"/>
                </a:rPr>
                <a:t>热机效率</a:t>
              </a:r>
            </a:p>
          </p:txBody>
        </p:sp>
        <mc:AlternateContent xmlns:mc="http://schemas.openxmlformats.org/markup-compatibility/2006" xmlns:a14="http://schemas.microsoft.com/office/drawing/2010/main">
          <mc:Choice Requires="a14">
            <p:sp>
              <p:nvSpPr>
                <p:cNvPr id="6160" name="Object 6"/>
                <p:cNvSpPr txBox="1"/>
                <p:nvPr/>
              </p:nvSpPr>
              <p:spPr>
                <a:xfrm>
                  <a:off x="2204" y="3200"/>
                  <a:ext cx="3188" cy="582"/>
                </a:xfrm>
                <a:prstGeom prst="rect">
                  <a:avLst/>
                </a:prstGeom>
                <a:noFill/>
                <a:ln w="12700" cap="flat" cmpd="sng">
                  <a:no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𝜂</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𝐴</m:t>
                            </m:r>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den>
                        </m:f>
                        <m:r>
                          <a:rPr lang="zh-CN" altLang="en-US" sz="2800" i="1">
                            <a:solidFill>
                              <a:srgbClr val="000000"/>
                            </a:solidFill>
                            <a:latin typeface="Cambria Math" panose="02040503050406030204" pitchFamily="18" charset="0"/>
                          </a:rPr>
                          <m:t>=1−</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den>
                        </m:f>
                      </m:oMath>
                    </m:oMathPara>
                  </a14:m>
                  <a:endParaRPr lang="zh-CN" altLang="en-US" sz="2800" dirty="0"/>
                </a:p>
              </p:txBody>
            </p:sp>
          </mc:Choice>
          <mc:Fallback xmlns="">
            <p:sp>
              <p:nvSpPr>
                <p:cNvPr id="6160" name="Object 6"/>
                <p:cNvSpPr txBox="1">
                  <a:spLocks noRot="1" noChangeAspect="1" noMove="1" noResize="1" noEditPoints="1" noAdjustHandles="1" noChangeArrowheads="1" noChangeShapeType="1" noTextEdit="1"/>
                </p:cNvSpPr>
                <p:nvPr/>
              </p:nvSpPr>
              <p:spPr>
                <a:xfrm>
                  <a:off x="2204" y="3200"/>
                  <a:ext cx="3188" cy="582"/>
                </a:xfrm>
                <a:prstGeom prst="rect">
                  <a:avLst/>
                </a:prstGeom>
                <a:blipFill>
                  <a:blip r:embed="rId2"/>
                  <a:stretch>
                    <a:fillRect/>
                  </a:stretch>
                </a:blipFill>
                <a:ln w="12700" cap="flat" cmpd="sng">
                  <a:noFill/>
                  <a:prstDash val="solid"/>
                  <a:miter/>
                  <a:headEnd type="none" w="med" len="med"/>
                  <a:tailEnd type="none" w="med" len="med"/>
                </a:ln>
              </p:spPr>
              <p:txBody>
                <a:bodyPr/>
                <a:lstStyle/>
                <a:p>
                  <a:r>
                    <a:rPr lang="en-US">
                      <a:noFill/>
                    </a:rPr>
                    <a:t> </a:t>
                  </a:r>
                </a:p>
              </p:txBody>
            </p:sp>
          </mc:Fallback>
        </mc:AlternateContent>
      </p:grpSp>
      <p:sp>
        <p:nvSpPr>
          <p:cNvPr id="6185" name="Freeform 23" descr="浅色下对角线"/>
          <p:cNvSpPr/>
          <p:nvPr/>
        </p:nvSpPr>
        <p:spPr>
          <a:xfrm>
            <a:off x="995606" y="2585174"/>
            <a:ext cx="1981200" cy="1219200"/>
          </a:xfrm>
          <a:custGeom>
            <a:avLst/>
            <a:gdLst>
              <a:gd name="txL" fmla="*/ 0 w 1248"/>
              <a:gd name="txT" fmla="*/ 0 h 768"/>
              <a:gd name="txR" fmla="*/ 1248 w 1248"/>
              <a:gd name="txB" fmla="*/ 768 h 768"/>
            </a:gdLst>
            <a:ahLst/>
            <a:cxnLst>
              <a:cxn ang="0">
                <a:pos x="0" y="0"/>
              </a:cxn>
              <a:cxn ang="0">
                <a:pos x="250" y="0"/>
              </a:cxn>
              <a:cxn ang="0">
                <a:pos x="624" y="96"/>
              </a:cxn>
              <a:cxn ang="0">
                <a:pos x="957" y="288"/>
              </a:cxn>
              <a:cxn ang="0">
                <a:pos x="1118" y="446"/>
              </a:cxn>
              <a:cxn ang="0">
                <a:pos x="1206" y="624"/>
              </a:cxn>
              <a:cxn ang="0">
                <a:pos x="1248" y="768"/>
              </a:cxn>
              <a:cxn ang="0">
                <a:pos x="1040" y="768"/>
              </a:cxn>
              <a:cxn ang="0">
                <a:pos x="790" y="720"/>
              </a:cxn>
              <a:cxn ang="0">
                <a:pos x="582" y="624"/>
              </a:cxn>
              <a:cxn ang="0">
                <a:pos x="374" y="528"/>
              </a:cxn>
              <a:cxn ang="0">
                <a:pos x="250" y="432"/>
              </a:cxn>
              <a:cxn ang="0">
                <a:pos x="166" y="336"/>
              </a:cxn>
              <a:cxn ang="0">
                <a:pos x="62" y="206"/>
              </a:cxn>
              <a:cxn ang="0">
                <a:pos x="27" y="103"/>
              </a:cxn>
              <a:cxn ang="0">
                <a:pos x="0" y="0"/>
              </a:cxn>
            </a:cxnLst>
            <a:rect l="txL" t="txT" r="txR" b="txB"/>
            <a:pathLst>
              <a:path w="1248" h="768">
                <a:moveTo>
                  <a:pt x="0" y="0"/>
                </a:moveTo>
                <a:lnTo>
                  <a:pt x="250" y="0"/>
                </a:lnTo>
                <a:lnTo>
                  <a:pt x="624" y="96"/>
                </a:lnTo>
                <a:lnTo>
                  <a:pt x="957" y="288"/>
                </a:lnTo>
                <a:lnTo>
                  <a:pt x="1118" y="446"/>
                </a:lnTo>
                <a:lnTo>
                  <a:pt x="1206" y="624"/>
                </a:lnTo>
                <a:lnTo>
                  <a:pt x="1248" y="768"/>
                </a:lnTo>
                <a:lnTo>
                  <a:pt x="1040" y="768"/>
                </a:lnTo>
                <a:lnTo>
                  <a:pt x="790" y="720"/>
                </a:lnTo>
                <a:lnTo>
                  <a:pt x="582" y="624"/>
                </a:lnTo>
                <a:lnTo>
                  <a:pt x="374" y="528"/>
                </a:lnTo>
                <a:lnTo>
                  <a:pt x="250" y="432"/>
                </a:lnTo>
                <a:lnTo>
                  <a:pt x="166" y="336"/>
                </a:lnTo>
                <a:lnTo>
                  <a:pt x="62" y="206"/>
                </a:lnTo>
                <a:lnTo>
                  <a:pt x="27" y="103"/>
                </a:lnTo>
                <a:lnTo>
                  <a:pt x="0" y="0"/>
                </a:lnTo>
                <a:close/>
              </a:path>
            </a:pathLst>
          </a:custGeom>
          <a:pattFill prst="ltDnDiag">
            <a:fgClr>
              <a:srgbClr val="CC0099">
                <a:alpha val="100000"/>
              </a:srgbClr>
            </a:fgClr>
            <a:bgClr>
              <a:schemeClr val="bg1">
                <a:alpha val="100000"/>
              </a:schemeClr>
            </a:bgClr>
          </a:pattFill>
          <a:ln w="9525">
            <a:noFill/>
          </a:ln>
        </p:spPr>
        <p:txBody>
          <a:bodyPr/>
          <a:lstStyle/>
          <a:p>
            <a:endParaRPr lang="zh-CN" altLang="en-US" sz="2600"/>
          </a:p>
        </p:txBody>
      </p:sp>
      <p:grpSp>
        <p:nvGrpSpPr>
          <p:cNvPr id="6172" name="Group 25"/>
          <p:cNvGrpSpPr/>
          <p:nvPr/>
        </p:nvGrpSpPr>
        <p:grpSpPr>
          <a:xfrm>
            <a:off x="81206" y="2127658"/>
            <a:ext cx="3513138" cy="2797175"/>
            <a:chOff x="3072" y="1632"/>
            <a:chExt cx="2213" cy="1762"/>
          </a:xfrm>
        </p:grpSpPr>
        <p:sp>
          <p:nvSpPr>
            <p:cNvPr id="6183" name="Line 26"/>
            <p:cNvSpPr/>
            <p:nvPr/>
          </p:nvSpPr>
          <p:spPr>
            <a:xfrm flipV="1">
              <a:off x="3306" y="3120"/>
              <a:ext cx="1974" cy="6"/>
            </a:xfrm>
            <a:prstGeom prst="line">
              <a:avLst/>
            </a:prstGeom>
            <a:ln w="19050" cap="flat" cmpd="sng">
              <a:solidFill>
                <a:srgbClr val="333333"/>
              </a:solidFill>
              <a:prstDash val="solid"/>
              <a:headEnd type="none" w="med" len="med"/>
              <a:tailEnd type="triangle" w="sm" len="lg"/>
            </a:ln>
          </p:spPr>
        </p:sp>
        <p:sp>
          <p:nvSpPr>
            <p:cNvPr id="6184" name="Line 27"/>
            <p:cNvSpPr/>
            <p:nvPr/>
          </p:nvSpPr>
          <p:spPr>
            <a:xfrm flipV="1">
              <a:off x="3306" y="1638"/>
              <a:ext cx="0" cy="1488"/>
            </a:xfrm>
            <a:prstGeom prst="line">
              <a:avLst/>
            </a:prstGeom>
            <a:ln w="19050" cap="flat" cmpd="sng">
              <a:solidFill>
                <a:srgbClr val="333333"/>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6153" name="Object 28"/>
                <p:cNvSpPr txBox="1"/>
                <p:nvPr/>
              </p:nvSpPr>
              <p:spPr>
                <a:xfrm>
                  <a:off x="3072" y="1632"/>
                  <a:ext cx="192" cy="228"/>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𝑝</m:t>
                        </m:r>
                      </m:oMath>
                    </m:oMathPara>
                  </a14:m>
                  <a:endParaRPr lang="zh-CN" altLang="en-US" sz="2600"/>
                </a:p>
              </p:txBody>
            </p:sp>
          </mc:Choice>
          <mc:Fallback xmlns="">
            <p:sp>
              <p:nvSpPr>
                <p:cNvPr id="6153" name="Object 28"/>
                <p:cNvSpPr txBox="1">
                  <a:spLocks noRot="1" noChangeAspect="1" noMove="1" noResize="1" noEditPoints="1" noAdjustHandles="1" noChangeArrowheads="1" noChangeShapeType="1" noTextEdit="1"/>
                </p:cNvSpPr>
                <p:nvPr/>
              </p:nvSpPr>
              <p:spPr>
                <a:xfrm>
                  <a:off x="3072" y="1632"/>
                  <a:ext cx="192" cy="228"/>
                </a:xfrm>
                <a:prstGeom prst="rect">
                  <a:avLst/>
                </a:prstGeom>
                <a:blipFill>
                  <a:blip r:embed="rId6"/>
                  <a:stretch>
                    <a:fillRect b="-2000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54" name="Object 29"/>
                <p:cNvSpPr txBox="1"/>
                <p:nvPr/>
              </p:nvSpPr>
              <p:spPr>
                <a:xfrm>
                  <a:off x="5088" y="3174"/>
                  <a:ext cx="197" cy="220"/>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𝑉</m:t>
                        </m:r>
                      </m:oMath>
                    </m:oMathPara>
                  </a14:m>
                  <a:endParaRPr lang="zh-CN" altLang="en-US" sz="2600"/>
                </a:p>
              </p:txBody>
            </p:sp>
          </mc:Choice>
          <mc:Fallback xmlns="">
            <p:sp>
              <p:nvSpPr>
                <p:cNvPr id="6154" name="Object 29"/>
                <p:cNvSpPr txBox="1">
                  <a:spLocks noRot="1" noChangeAspect="1" noMove="1" noResize="1" noEditPoints="1" noAdjustHandles="1" noChangeArrowheads="1" noChangeShapeType="1" noTextEdit="1"/>
                </p:cNvSpPr>
                <p:nvPr/>
              </p:nvSpPr>
              <p:spPr>
                <a:xfrm>
                  <a:off x="5088" y="3174"/>
                  <a:ext cx="197" cy="220"/>
                </a:xfrm>
                <a:prstGeom prst="rect">
                  <a:avLst/>
                </a:prstGeom>
                <a:blipFill>
                  <a:blip r:embed="rId7"/>
                  <a:stretch>
                    <a:fillRect b="-5263"/>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55" name="Object 30"/>
                <p:cNvSpPr txBox="1"/>
                <p:nvPr/>
              </p:nvSpPr>
              <p:spPr>
                <a:xfrm>
                  <a:off x="3210" y="3126"/>
                  <a:ext cx="177" cy="204"/>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𝑜</m:t>
                        </m:r>
                      </m:oMath>
                    </m:oMathPara>
                  </a14:m>
                  <a:endParaRPr lang="zh-CN" altLang="en-US" sz="2600"/>
                </a:p>
              </p:txBody>
            </p:sp>
          </mc:Choice>
          <mc:Fallback xmlns="">
            <p:sp>
              <p:nvSpPr>
                <p:cNvPr id="6155" name="Object 30"/>
                <p:cNvSpPr txBox="1">
                  <a:spLocks noRot="1" noChangeAspect="1" noMove="1" noResize="1" noEditPoints="1" noAdjustHandles="1" noChangeArrowheads="1" noChangeShapeType="1" noTextEdit="1"/>
                </p:cNvSpPr>
                <p:nvPr/>
              </p:nvSpPr>
              <p:spPr>
                <a:xfrm>
                  <a:off x="3210" y="3126"/>
                  <a:ext cx="177" cy="204"/>
                </a:xfrm>
                <a:prstGeom prst="rect">
                  <a:avLst/>
                </a:prstGeom>
                <a:blipFill>
                  <a:blip r:embed="rId8"/>
                  <a:stretch>
                    <a:fillRect b="-15094"/>
                  </a:stretch>
                </a:blipFill>
                <a:ln w="38100">
                  <a:noFill/>
                  <a:miter/>
                </a:ln>
              </p:spPr>
              <p:txBody>
                <a:bodyPr/>
                <a:lstStyle/>
                <a:p>
                  <a:r>
                    <a:rPr lang="zh-CN" altLang="en-US">
                      <a:noFill/>
                    </a:rPr>
                    <a:t> </a:t>
                  </a:r>
                </a:p>
              </p:txBody>
            </p:sp>
          </mc:Fallback>
        </mc:AlternateContent>
      </p:grpSp>
      <p:grpSp>
        <p:nvGrpSpPr>
          <p:cNvPr id="6173" name="Group 31"/>
          <p:cNvGrpSpPr/>
          <p:nvPr/>
        </p:nvGrpSpPr>
        <p:grpSpPr>
          <a:xfrm>
            <a:off x="767006" y="2127657"/>
            <a:ext cx="2743200" cy="2895600"/>
            <a:chOff x="3504" y="1632"/>
            <a:chExt cx="1728" cy="1824"/>
          </a:xfrm>
        </p:grpSpPr>
        <p:sp>
          <p:nvSpPr>
            <p:cNvPr id="6177" name="Arc 32"/>
            <p:cNvSpPr/>
            <p:nvPr/>
          </p:nvSpPr>
          <p:spPr>
            <a:xfrm>
              <a:off x="3648" y="1921"/>
              <a:ext cx="1252" cy="816"/>
            </a:xfrm>
            <a:custGeom>
              <a:avLst/>
              <a:gdLst>
                <a:gd name="txL" fmla="*/ 0 w 21594"/>
                <a:gd name="txT" fmla="*/ 0 h 21600"/>
                <a:gd name="txR" fmla="*/ 21594 w 21594"/>
                <a:gd name="txB" fmla="*/ 21600 h 21600"/>
              </a:gdLst>
              <a:ahLst/>
              <a:cxnLst>
                <a:cxn ang="0">
                  <a:pos x="0" y="0"/>
                </a:cxn>
                <a:cxn ang="0">
                  <a:pos x="73" y="30"/>
                </a:cxn>
                <a:cxn ang="0">
                  <a:pos x="0" y="31"/>
                </a:cxn>
              </a:cxnLst>
              <a:rect l="txL" t="txT" r="txR" b="txB"/>
              <a:pathLst>
                <a:path w="21594" h="21600" fill="none">
                  <a:moveTo>
                    <a:pt x="-1" y="0"/>
                  </a:moveTo>
                  <a:cubicBezTo>
                    <a:pt x="11723" y="0"/>
                    <a:pt x="21306" y="9351"/>
                    <a:pt x="21593" y="21072"/>
                  </a:cubicBezTo>
                </a:path>
                <a:path w="21594" h="21600" stroke="0">
                  <a:moveTo>
                    <a:pt x="-1" y="0"/>
                  </a:moveTo>
                  <a:cubicBezTo>
                    <a:pt x="11723" y="0"/>
                    <a:pt x="21306" y="9351"/>
                    <a:pt x="21593" y="21072"/>
                  </a:cubicBezTo>
                  <a:lnTo>
                    <a:pt x="0" y="21600"/>
                  </a:lnTo>
                  <a:close/>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sz="2600"/>
            </a:p>
          </p:txBody>
        </p:sp>
        <p:sp>
          <p:nvSpPr>
            <p:cNvPr id="6178" name="Line 33"/>
            <p:cNvSpPr/>
            <p:nvPr/>
          </p:nvSpPr>
          <p:spPr>
            <a:xfrm>
              <a:off x="4368" y="2064"/>
              <a:ext cx="192" cy="96"/>
            </a:xfrm>
            <a:prstGeom prst="line">
              <a:avLst/>
            </a:prstGeom>
            <a:ln w="57150" cap="flat" cmpd="sng">
              <a:solidFill>
                <a:srgbClr val="CC0099"/>
              </a:solidFill>
              <a:prstDash val="solid"/>
              <a:headEnd type="none" w="med" len="med"/>
              <a:tailEnd type="triangle" w="sm" len="lg"/>
            </a:ln>
          </p:spPr>
        </p:sp>
        <p:sp>
          <p:nvSpPr>
            <p:cNvPr id="6179" name="Text Box 34"/>
            <p:cNvSpPr txBox="1"/>
            <p:nvPr/>
          </p:nvSpPr>
          <p:spPr>
            <a:xfrm>
              <a:off x="3504" y="1632"/>
              <a:ext cx="336" cy="310"/>
            </a:xfrm>
            <a:prstGeom prst="rect">
              <a:avLst/>
            </a:prstGeom>
            <a:noFill/>
            <a:ln w="9525">
              <a:noFill/>
            </a:ln>
          </p:spPr>
          <p:txBody>
            <a:bodyPr>
              <a:spAutoFit/>
            </a:bodyPr>
            <a:lstStyle/>
            <a:p>
              <a:pPr>
                <a:spcBef>
                  <a:spcPct val="50000"/>
                </a:spcBef>
              </a:pPr>
              <a:r>
                <a:rPr lang="en-US" altLang="zh-CN" sz="2600" i="1" dirty="0">
                  <a:solidFill>
                    <a:srgbClr val="010000"/>
                  </a:solidFill>
                  <a:latin typeface="Times New Roman" panose="02020603050405020304" pitchFamily="18" charset="0"/>
                  <a:ea typeface="楷体_GB2312" panose="02010609030101010101" pitchFamily="49" charset="-122"/>
                </a:rPr>
                <a:t>A</a:t>
              </a:r>
            </a:p>
          </p:txBody>
        </p:sp>
        <p:sp>
          <p:nvSpPr>
            <p:cNvPr id="6180" name="Text Box 35"/>
            <p:cNvSpPr txBox="1"/>
            <p:nvPr/>
          </p:nvSpPr>
          <p:spPr>
            <a:xfrm>
              <a:off x="4896" y="2544"/>
              <a:ext cx="336" cy="310"/>
            </a:xfrm>
            <a:prstGeom prst="rect">
              <a:avLst/>
            </a:prstGeom>
            <a:noFill/>
            <a:ln w="9525">
              <a:noFill/>
            </a:ln>
          </p:spPr>
          <p:txBody>
            <a:bodyPr>
              <a:spAutoFit/>
            </a:bodyPr>
            <a:lstStyle/>
            <a:p>
              <a:pPr>
                <a:spcBef>
                  <a:spcPct val="50000"/>
                </a:spcBef>
              </a:pPr>
              <a:r>
                <a:rPr lang="en-US" altLang="zh-CN" sz="2600" i="1" dirty="0">
                  <a:solidFill>
                    <a:srgbClr val="010000"/>
                  </a:solidFill>
                  <a:latin typeface="Times New Roman" panose="02020603050405020304" pitchFamily="18" charset="0"/>
                  <a:ea typeface="楷体_GB2312" panose="02010609030101010101" pitchFamily="49" charset="-122"/>
                </a:rPr>
                <a:t>B</a:t>
              </a:r>
            </a:p>
          </p:txBody>
        </p:sp>
        <p:sp>
          <p:nvSpPr>
            <p:cNvPr id="6181" name="Line 36"/>
            <p:cNvSpPr/>
            <p:nvPr/>
          </p:nvSpPr>
          <p:spPr>
            <a:xfrm>
              <a:off x="3648" y="1920"/>
              <a:ext cx="0" cy="1200"/>
            </a:xfrm>
            <a:prstGeom prst="line">
              <a:avLst/>
            </a:prstGeom>
            <a:ln w="19050" cap="flat" cmpd="sng">
              <a:solidFill>
                <a:srgbClr val="1C1C1C"/>
              </a:solidFill>
              <a:prstDash val="dash"/>
              <a:headEnd type="none" w="med" len="med"/>
              <a:tailEnd type="none" w="med" len="med"/>
            </a:ln>
          </p:spPr>
        </p:sp>
        <p:sp>
          <p:nvSpPr>
            <p:cNvPr id="6182" name="Line 37"/>
            <p:cNvSpPr/>
            <p:nvPr/>
          </p:nvSpPr>
          <p:spPr>
            <a:xfrm>
              <a:off x="4896" y="2688"/>
              <a:ext cx="0" cy="432"/>
            </a:xfrm>
            <a:prstGeom prst="line">
              <a:avLst/>
            </a:prstGeom>
            <a:ln w="19050" cap="flat" cmpd="sng">
              <a:solidFill>
                <a:srgbClr val="1C1C1C"/>
              </a:solidFill>
              <a:prstDash val="dash"/>
              <a:headEnd type="none" w="med" len="med"/>
              <a:tailEnd type="none" w="med" len="med"/>
            </a:ln>
          </p:spPr>
        </p:sp>
        <mc:AlternateContent xmlns:mc="http://schemas.openxmlformats.org/markup-compatibility/2006" xmlns:a14="http://schemas.microsoft.com/office/drawing/2010/main">
          <mc:Choice Requires="a14">
            <p:sp>
              <p:nvSpPr>
                <p:cNvPr id="6150" name="Object 38"/>
                <p:cNvSpPr txBox="1"/>
                <p:nvPr/>
              </p:nvSpPr>
              <p:spPr>
                <a:xfrm>
                  <a:off x="3552" y="3072"/>
                  <a:ext cx="287" cy="3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𝑉</m:t>
                            </m:r>
                          </m:e>
                          <m:sub>
                            <m:r>
                              <a:rPr lang="zh-CN" altLang="en-US" sz="2600" i="1">
                                <a:solidFill>
                                  <a:srgbClr val="000000"/>
                                </a:solidFill>
                                <a:latin typeface="Cambria Math" panose="02040503050406030204" pitchFamily="18" charset="0"/>
                              </a:rPr>
                              <m:t>𝐴</m:t>
                            </m:r>
                          </m:sub>
                        </m:sSub>
                      </m:oMath>
                    </m:oMathPara>
                  </a14:m>
                  <a:endParaRPr lang="zh-CN" altLang="en-US" sz="2600"/>
                </a:p>
              </p:txBody>
            </p:sp>
          </mc:Choice>
          <mc:Fallback xmlns="">
            <p:sp>
              <p:nvSpPr>
                <p:cNvPr id="6150" name="Object 38"/>
                <p:cNvSpPr txBox="1">
                  <a:spLocks noRot="1" noChangeAspect="1" noMove="1" noResize="1" noEditPoints="1" noAdjustHandles="1" noChangeArrowheads="1" noChangeShapeType="1" noTextEdit="1"/>
                </p:cNvSpPr>
                <p:nvPr/>
              </p:nvSpPr>
              <p:spPr>
                <a:xfrm>
                  <a:off x="3552" y="3072"/>
                  <a:ext cx="287" cy="336"/>
                </a:xfrm>
                <a:prstGeom prst="rect">
                  <a:avLst/>
                </a:prstGeom>
                <a:blipFill>
                  <a:blip r:embed="rId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51" name="Object 39"/>
                <p:cNvSpPr txBox="1"/>
                <p:nvPr/>
              </p:nvSpPr>
              <p:spPr>
                <a:xfrm>
                  <a:off x="4800" y="3120"/>
                  <a:ext cx="287" cy="3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𝑉</m:t>
                            </m:r>
                          </m:e>
                          <m:sub>
                            <m:r>
                              <a:rPr lang="zh-CN" altLang="en-US" sz="2600" i="1">
                                <a:solidFill>
                                  <a:srgbClr val="000000"/>
                                </a:solidFill>
                                <a:latin typeface="Cambria Math" panose="02040503050406030204" pitchFamily="18" charset="0"/>
                              </a:rPr>
                              <m:t>𝐵</m:t>
                            </m:r>
                          </m:sub>
                        </m:sSub>
                      </m:oMath>
                    </m:oMathPara>
                  </a14:m>
                  <a:endParaRPr lang="zh-CN" altLang="en-US" sz="2600"/>
                </a:p>
              </p:txBody>
            </p:sp>
          </mc:Choice>
          <mc:Fallback xmlns="">
            <p:sp>
              <p:nvSpPr>
                <p:cNvPr id="6151" name="Object 39"/>
                <p:cNvSpPr txBox="1">
                  <a:spLocks noRot="1" noChangeAspect="1" noMove="1" noResize="1" noEditPoints="1" noAdjustHandles="1" noChangeArrowheads="1" noChangeShapeType="1" noTextEdit="1"/>
                </p:cNvSpPr>
                <p:nvPr/>
              </p:nvSpPr>
              <p:spPr>
                <a:xfrm>
                  <a:off x="4800" y="3120"/>
                  <a:ext cx="287" cy="336"/>
                </a:xfrm>
                <a:prstGeom prst="rect">
                  <a:avLst/>
                </a:prstGeom>
                <a:blipFill>
                  <a:blip r:embed="rId10"/>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52" name="Object 40"/>
                <p:cNvSpPr txBox="1"/>
                <p:nvPr/>
              </p:nvSpPr>
              <p:spPr>
                <a:xfrm>
                  <a:off x="4430" y="1920"/>
                  <a:ext cx="163" cy="204"/>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𝑐</m:t>
                        </m:r>
                      </m:oMath>
                    </m:oMathPara>
                  </a14:m>
                  <a:endParaRPr lang="zh-CN" altLang="en-US" sz="2600"/>
                </a:p>
              </p:txBody>
            </p:sp>
          </mc:Choice>
          <mc:Fallback xmlns="">
            <p:sp>
              <p:nvSpPr>
                <p:cNvPr id="6152" name="Object 40"/>
                <p:cNvSpPr txBox="1">
                  <a:spLocks noRot="1" noChangeAspect="1" noMove="1" noResize="1" noEditPoints="1" noAdjustHandles="1" noChangeArrowheads="1" noChangeShapeType="1" noTextEdit="1"/>
                </p:cNvSpPr>
                <p:nvPr/>
              </p:nvSpPr>
              <p:spPr>
                <a:xfrm>
                  <a:off x="4430" y="1920"/>
                  <a:ext cx="163" cy="204"/>
                </a:xfrm>
                <a:prstGeom prst="rect">
                  <a:avLst/>
                </a:prstGeom>
                <a:blipFill>
                  <a:blip r:embed="rId11"/>
                  <a:stretch>
                    <a:fillRect b="-15094"/>
                  </a:stretch>
                </a:blipFill>
                <a:ln w="38100">
                  <a:noFill/>
                  <a:miter/>
                </a:ln>
              </p:spPr>
              <p:txBody>
                <a:bodyPr/>
                <a:lstStyle/>
                <a:p>
                  <a:r>
                    <a:rPr lang="zh-CN" altLang="en-US">
                      <a:noFill/>
                    </a:rPr>
                    <a:t> </a:t>
                  </a:r>
                </a:p>
              </p:txBody>
            </p:sp>
          </mc:Fallback>
        </mc:AlternateContent>
      </p:grpSp>
      <p:grpSp>
        <p:nvGrpSpPr>
          <p:cNvPr id="6174" name="Group 41"/>
          <p:cNvGrpSpPr/>
          <p:nvPr/>
        </p:nvGrpSpPr>
        <p:grpSpPr>
          <a:xfrm>
            <a:off x="995606" y="2508657"/>
            <a:ext cx="1981200" cy="1422400"/>
            <a:chOff x="3648" y="1872"/>
            <a:chExt cx="1248" cy="896"/>
          </a:xfrm>
        </p:grpSpPr>
        <p:sp>
          <p:nvSpPr>
            <p:cNvPr id="6175" name="Arc 42"/>
            <p:cNvSpPr/>
            <p:nvPr/>
          </p:nvSpPr>
          <p:spPr>
            <a:xfrm flipH="1" flipV="1">
              <a:off x="3648" y="1872"/>
              <a:ext cx="1248" cy="816"/>
            </a:xfrm>
            <a:custGeom>
              <a:avLst/>
              <a:gdLst>
                <a:gd name="txL" fmla="*/ 0 w 21591"/>
                <a:gd name="txT" fmla="*/ 0 h 21600"/>
                <a:gd name="txR" fmla="*/ 21591 w 21591"/>
                <a:gd name="txB" fmla="*/ 21600 h 21600"/>
              </a:gdLst>
              <a:ahLst/>
              <a:cxnLst>
                <a:cxn ang="0">
                  <a:pos x="0" y="0"/>
                </a:cxn>
                <a:cxn ang="0">
                  <a:pos x="72" y="30"/>
                </a:cxn>
                <a:cxn ang="0">
                  <a:pos x="0" y="31"/>
                </a:cxn>
              </a:cxnLst>
              <a:rect l="txL" t="txT" r="txR" b="txB"/>
              <a:pathLst>
                <a:path w="21591" h="21600" fill="none">
                  <a:moveTo>
                    <a:pt x="-1" y="0"/>
                  </a:moveTo>
                  <a:cubicBezTo>
                    <a:pt x="11681" y="0"/>
                    <a:pt x="21246" y="9287"/>
                    <a:pt x="21590" y="20964"/>
                  </a:cubicBezTo>
                </a:path>
                <a:path w="21591" h="21600" stroke="0">
                  <a:moveTo>
                    <a:pt x="-1" y="0"/>
                  </a:moveTo>
                  <a:cubicBezTo>
                    <a:pt x="11681" y="0"/>
                    <a:pt x="21246" y="9287"/>
                    <a:pt x="21590" y="20964"/>
                  </a:cubicBezTo>
                  <a:lnTo>
                    <a:pt x="0" y="21600"/>
                  </a:lnTo>
                  <a:close/>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600"/>
            </a:p>
          </p:txBody>
        </p:sp>
        <p:sp>
          <p:nvSpPr>
            <p:cNvPr id="6176" name="Line 43"/>
            <p:cNvSpPr/>
            <p:nvPr/>
          </p:nvSpPr>
          <p:spPr>
            <a:xfrm flipH="1" flipV="1">
              <a:off x="4176" y="2544"/>
              <a:ext cx="144" cy="48"/>
            </a:xfrm>
            <a:prstGeom prst="line">
              <a:avLst/>
            </a:prstGeom>
            <a:ln w="57150" cap="flat" cmpd="sng">
              <a:solidFill>
                <a:srgbClr val="0000FF"/>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6149" name="Object 44"/>
                <p:cNvSpPr txBox="1"/>
                <p:nvPr/>
              </p:nvSpPr>
              <p:spPr>
                <a:xfrm>
                  <a:off x="4080" y="2544"/>
                  <a:ext cx="168" cy="224"/>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𝑑</m:t>
                        </m:r>
                      </m:oMath>
                    </m:oMathPara>
                  </a14:m>
                  <a:endParaRPr lang="zh-CN" altLang="en-US" sz="2600"/>
                </a:p>
              </p:txBody>
            </p:sp>
          </mc:Choice>
          <mc:Fallback xmlns="">
            <p:sp>
              <p:nvSpPr>
                <p:cNvPr id="6149" name="Object 44"/>
                <p:cNvSpPr txBox="1">
                  <a:spLocks noRot="1" noChangeAspect="1" noMove="1" noResize="1" noEditPoints="1" noAdjustHandles="1" noChangeArrowheads="1" noChangeShapeType="1" noTextEdit="1"/>
                </p:cNvSpPr>
                <p:nvPr/>
              </p:nvSpPr>
              <p:spPr>
                <a:xfrm>
                  <a:off x="4080" y="2544"/>
                  <a:ext cx="168" cy="224"/>
                </a:xfrm>
                <a:prstGeom prst="rect">
                  <a:avLst/>
                </a:prstGeom>
                <a:blipFill>
                  <a:blip r:embed="rId12"/>
                  <a:stretch>
                    <a:fillRect r="-2273" b="-3448"/>
                  </a:stretch>
                </a:blipFill>
                <a:ln w="38100">
                  <a:noFill/>
                  <a:miter/>
                </a:ln>
              </p:spPr>
              <p:txBody>
                <a:bodyPr/>
                <a:lstStyle/>
                <a:p>
                  <a:r>
                    <a:rPr lang="zh-CN" altLang="en-US">
                      <a:noFill/>
                    </a:rPr>
                    <a:t> </a:t>
                  </a:r>
                </a:p>
              </p:txBody>
            </p:sp>
          </mc:Fallback>
        </mc:AlternateContent>
      </p:grpSp>
      <p:sp>
        <p:nvSpPr>
          <p:cNvPr id="33" name="Text Box 13">
            <a:hlinkClick r:id="" action="ppaction://noaction"/>
            <a:extLst>
              <a:ext uri="{FF2B5EF4-FFF2-40B4-BE49-F238E27FC236}">
                <a16:creationId xmlns:a16="http://schemas.microsoft.com/office/drawing/2014/main" id="{59E766E3-561E-BB2E-99BE-047E171C812E}"/>
              </a:ext>
            </a:extLst>
          </p:cNvPr>
          <p:cNvSpPr txBox="1">
            <a:spLocks noChangeArrowheads="1"/>
          </p:cNvSpPr>
          <p:nvPr/>
        </p:nvSpPr>
        <p:spPr bwMode="auto">
          <a:xfrm>
            <a:off x="541688" y="411788"/>
            <a:ext cx="273833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热机</a:t>
            </a:r>
          </a:p>
        </p:txBody>
      </p:sp>
      <p:sp>
        <p:nvSpPr>
          <p:cNvPr id="34" name="Text Box 14">
            <a:extLst>
              <a:ext uri="{FF2B5EF4-FFF2-40B4-BE49-F238E27FC236}">
                <a16:creationId xmlns:a16="http://schemas.microsoft.com/office/drawing/2014/main" id="{3B0AC272-9E11-0416-E6AE-566A5C9F716D}"/>
              </a:ext>
            </a:extLst>
          </p:cNvPr>
          <p:cNvSpPr txBox="1"/>
          <p:nvPr/>
        </p:nvSpPr>
        <p:spPr>
          <a:xfrm>
            <a:off x="159584" y="1190519"/>
            <a:ext cx="4897438" cy="523875"/>
          </a:xfrm>
          <a:prstGeom prst="rect">
            <a:avLst/>
          </a:prstGeom>
          <a:noFill/>
          <a:ln w="9525">
            <a:noFill/>
          </a:ln>
        </p:spPr>
        <p:txBody>
          <a:bodyPr>
            <a:spAutoFit/>
          </a:bodyPr>
          <a:lstStyle/>
          <a:p>
            <a:pPr>
              <a:spcBef>
                <a:spcPct val="50000"/>
              </a:spcBef>
            </a:pPr>
            <a:r>
              <a:rPr lang="zh-CN" altLang="en-US" sz="2800" dirty="0">
                <a:solidFill>
                  <a:srgbClr val="333333"/>
                </a:solidFill>
                <a:latin typeface="Times New Roman" panose="02020603050405020304" pitchFamily="18" charset="0"/>
              </a:rPr>
              <a:t>热机（</a:t>
            </a:r>
            <a:r>
              <a:rPr lang="zh-CN" altLang="en-US" sz="2800" b="1" dirty="0">
                <a:solidFill>
                  <a:srgbClr val="FF0000"/>
                </a:solidFill>
                <a:latin typeface="Times New Roman" panose="02020603050405020304" pitchFamily="18" charset="0"/>
              </a:rPr>
              <a:t>正</a:t>
            </a:r>
            <a:r>
              <a:rPr lang="zh-CN" altLang="en-US" sz="2800" dirty="0">
                <a:solidFill>
                  <a:srgbClr val="333333"/>
                </a:solidFill>
                <a:latin typeface="Times New Roman" panose="02020603050405020304" pitchFamily="18" charset="0"/>
              </a:rPr>
              <a:t>循环）</a:t>
            </a:r>
            <a:endParaRPr lang="zh-CN" altLang="zh-CN" sz="2800" dirty="0">
              <a:solidFill>
                <a:srgbClr val="333333"/>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35" name="Object 15">
                <a:extLst>
                  <a:ext uri="{FF2B5EF4-FFF2-40B4-BE49-F238E27FC236}">
                    <a16:creationId xmlns:a16="http://schemas.microsoft.com/office/drawing/2014/main" id="{C5BA9E45-FE82-8711-BB98-BD09D29A9701}"/>
                  </a:ext>
                </a:extLst>
              </p:cNvPr>
              <p:cNvSpPr txBox="1"/>
              <p:nvPr/>
            </p:nvSpPr>
            <p:spPr>
              <a:xfrm>
                <a:off x="2555151" y="1168807"/>
                <a:ext cx="1255713" cy="327025"/>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&gt;0</m:t>
                      </m:r>
                    </m:oMath>
                  </m:oMathPara>
                </a14:m>
                <a:endParaRPr lang="zh-CN" altLang="en-US" sz="2800" dirty="0"/>
              </a:p>
            </p:txBody>
          </p:sp>
        </mc:Choice>
        <mc:Fallback xmlns="">
          <p:sp>
            <p:nvSpPr>
              <p:cNvPr id="35" name="Object 15">
                <a:extLst>
                  <a:ext uri="{FF2B5EF4-FFF2-40B4-BE49-F238E27FC236}">
                    <a16:creationId xmlns:a16="http://schemas.microsoft.com/office/drawing/2014/main" id="{C5BA9E45-FE82-8711-BB98-BD09D29A9701}"/>
                  </a:ext>
                </a:extLst>
              </p:cNvPr>
              <p:cNvSpPr txBox="1">
                <a:spLocks noRot="1" noChangeAspect="1" noMove="1" noResize="1" noEditPoints="1" noAdjustHandles="1" noChangeArrowheads="1" noChangeShapeType="1" noTextEdit="1"/>
              </p:cNvSpPr>
              <p:nvPr/>
            </p:nvSpPr>
            <p:spPr>
              <a:xfrm>
                <a:off x="2555151" y="1168807"/>
                <a:ext cx="1255713" cy="327025"/>
              </a:xfrm>
              <a:prstGeom prst="rect">
                <a:avLst/>
              </a:prstGeom>
              <a:blipFill>
                <a:blip r:embed="rId13"/>
                <a:stretch>
                  <a:fillRect b="-22642"/>
                </a:stretch>
              </a:blipFill>
              <a:ln w="38100">
                <a:noFill/>
                <a:miter/>
              </a:ln>
            </p:spPr>
            <p:txBody>
              <a:bodyPr/>
              <a:lstStyle/>
              <a:p>
                <a:r>
                  <a:rPr lang="en-US">
                    <a:noFill/>
                  </a:rPr>
                  <a:t> </a:t>
                </a:r>
              </a:p>
            </p:txBody>
          </p:sp>
        </mc:Fallback>
      </mc:AlternateContent>
      <p:sp>
        <p:nvSpPr>
          <p:cNvPr id="48" name="Text Box 13">
            <a:hlinkClick r:id="" action="ppaction://noaction"/>
            <a:extLst>
              <a:ext uri="{FF2B5EF4-FFF2-40B4-BE49-F238E27FC236}">
                <a16:creationId xmlns:a16="http://schemas.microsoft.com/office/drawing/2014/main" id="{A89C319E-0BC1-4AC3-8BE4-694BC85479B9}"/>
              </a:ext>
            </a:extLst>
          </p:cNvPr>
          <p:cNvSpPr txBox="1">
            <a:spLocks noChangeArrowheads="1"/>
          </p:cNvSpPr>
          <p:nvPr/>
        </p:nvSpPr>
        <p:spPr bwMode="auto">
          <a:xfrm>
            <a:off x="6186593"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卡诺循环</a:t>
            </a:r>
          </a:p>
        </p:txBody>
      </p:sp>
      <p:grpSp>
        <p:nvGrpSpPr>
          <p:cNvPr id="49" name="Group 6">
            <a:extLst>
              <a:ext uri="{FF2B5EF4-FFF2-40B4-BE49-F238E27FC236}">
                <a16:creationId xmlns:a16="http://schemas.microsoft.com/office/drawing/2014/main" id="{386B6931-B6A1-47F1-B8F5-6B4963CD2A0E}"/>
              </a:ext>
            </a:extLst>
          </p:cNvPr>
          <p:cNvGrpSpPr/>
          <p:nvPr/>
        </p:nvGrpSpPr>
        <p:grpSpPr>
          <a:xfrm>
            <a:off x="6843471" y="1455324"/>
            <a:ext cx="3524250" cy="3208338"/>
            <a:chOff x="569" y="1706"/>
            <a:chExt cx="2220" cy="2021"/>
          </a:xfrm>
        </p:grpSpPr>
        <p:grpSp>
          <p:nvGrpSpPr>
            <p:cNvPr id="50" name="Group 7">
              <a:extLst>
                <a:ext uri="{FF2B5EF4-FFF2-40B4-BE49-F238E27FC236}">
                  <a16:creationId xmlns:a16="http://schemas.microsoft.com/office/drawing/2014/main" id="{BAD2C633-96FA-4CF7-A23F-06176672AD25}"/>
                </a:ext>
              </a:extLst>
            </p:cNvPr>
            <p:cNvGrpSpPr/>
            <p:nvPr/>
          </p:nvGrpSpPr>
          <p:grpSpPr>
            <a:xfrm>
              <a:off x="569" y="1706"/>
              <a:ext cx="2220" cy="2021"/>
              <a:chOff x="569" y="1706"/>
              <a:chExt cx="2220" cy="2021"/>
            </a:xfrm>
          </p:grpSpPr>
          <p:grpSp>
            <p:nvGrpSpPr>
              <p:cNvPr id="57" name="Group 8">
                <a:extLst>
                  <a:ext uri="{FF2B5EF4-FFF2-40B4-BE49-F238E27FC236}">
                    <a16:creationId xmlns:a16="http://schemas.microsoft.com/office/drawing/2014/main" id="{F18BCD3A-28C8-4F49-B792-5EB5BB0352FF}"/>
                  </a:ext>
                </a:extLst>
              </p:cNvPr>
              <p:cNvGrpSpPr/>
              <p:nvPr/>
            </p:nvGrpSpPr>
            <p:grpSpPr>
              <a:xfrm>
                <a:off x="569" y="1706"/>
                <a:ext cx="2220" cy="2021"/>
                <a:chOff x="569" y="1706"/>
                <a:chExt cx="2220" cy="2021"/>
              </a:xfrm>
            </p:grpSpPr>
            <p:sp>
              <p:nvSpPr>
                <p:cNvPr id="59" name="Rectangle 9">
                  <a:extLst>
                    <a:ext uri="{FF2B5EF4-FFF2-40B4-BE49-F238E27FC236}">
                      <a16:creationId xmlns:a16="http://schemas.microsoft.com/office/drawing/2014/main" id="{E0DD71E8-8040-4BFA-B172-842B48F6FEC3}"/>
                    </a:ext>
                  </a:extLst>
                </p:cNvPr>
                <p:cNvSpPr/>
                <p:nvPr/>
              </p:nvSpPr>
              <p:spPr>
                <a:xfrm>
                  <a:off x="580" y="1706"/>
                  <a:ext cx="2209" cy="2017"/>
                </a:xfrm>
                <a:prstGeom prst="rect">
                  <a:avLst/>
                </a:prstGeom>
                <a:solidFill>
                  <a:schemeClr val="bg1"/>
                </a:solidFill>
                <a:ln w="9525" cap="flat" cmpd="sng">
                  <a:noFill/>
                  <a:prstDash val="solid"/>
                  <a:miter/>
                  <a:headEnd type="none" w="med" len="med"/>
                  <a:tailEnd type="none" w="med" len="med"/>
                </a:ln>
              </p:spPr>
              <p:txBody>
                <a:bodyPr wrap="none" anchor="ctr" anchorCtr="0"/>
                <a:lstStyle/>
                <a:p>
                  <a:endParaRPr lang="zh-CN" altLang="en-US" sz="2600" dirty="0">
                    <a:latin typeface="+mn-ea"/>
                  </a:endParaRPr>
                </a:p>
              </p:txBody>
            </p:sp>
            <p:sp>
              <p:nvSpPr>
                <p:cNvPr id="60" name="Line 10">
                  <a:extLst>
                    <a:ext uri="{FF2B5EF4-FFF2-40B4-BE49-F238E27FC236}">
                      <a16:creationId xmlns:a16="http://schemas.microsoft.com/office/drawing/2014/main" id="{DF139E46-4F35-4DE4-8AC4-6E4BC4F415AF}"/>
                    </a:ext>
                  </a:extLst>
                </p:cNvPr>
                <p:cNvSpPr/>
                <p:nvPr/>
              </p:nvSpPr>
              <p:spPr>
                <a:xfrm>
                  <a:off x="835" y="3476"/>
                  <a:ext cx="1912" cy="0"/>
                </a:xfrm>
                <a:prstGeom prst="line">
                  <a:avLst/>
                </a:prstGeom>
                <a:ln w="19050" cap="flat" cmpd="sng">
                  <a:solidFill>
                    <a:srgbClr val="000000"/>
                  </a:solidFill>
                  <a:prstDash val="solid"/>
                  <a:headEnd type="none" w="med" len="med"/>
                  <a:tailEnd type="triangle" w="sm" len="lg"/>
                </a:ln>
              </p:spPr>
            </p:sp>
            <p:sp>
              <p:nvSpPr>
                <p:cNvPr id="61" name="Line 11">
                  <a:extLst>
                    <a:ext uri="{FF2B5EF4-FFF2-40B4-BE49-F238E27FC236}">
                      <a16:creationId xmlns:a16="http://schemas.microsoft.com/office/drawing/2014/main" id="{A36BF6F3-B866-45FC-892E-76751DD8474B}"/>
                    </a:ext>
                  </a:extLst>
                </p:cNvPr>
                <p:cNvSpPr/>
                <p:nvPr/>
              </p:nvSpPr>
              <p:spPr>
                <a:xfrm flipV="1">
                  <a:off x="835" y="1790"/>
                  <a:ext cx="0" cy="1679"/>
                </a:xfrm>
                <a:prstGeom prst="line">
                  <a:avLst/>
                </a:prstGeom>
                <a:ln w="19050" cap="flat" cmpd="sng">
                  <a:solidFill>
                    <a:srgbClr val="000000"/>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62" name="Object 12">
                      <a:extLst>
                        <a:ext uri="{FF2B5EF4-FFF2-40B4-BE49-F238E27FC236}">
                          <a16:creationId xmlns:a16="http://schemas.microsoft.com/office/drawing/2014/main" id="{27044D40-3457-4908-BA04-AB7DE4FBA209}"/>
                        </a:ext>
                      </a:extLst>
                    </p:cNvPr>
                    <p:cNvSpPr txBox="1"/>
                    <p:nvPr/>
                  </p:nvSpPr>
                  <p:spPr>
                    <a:xfrm>
                      <a:off x="2577" y="3270"/>
                      <a:ext cx="170" cy="187"/>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b="0" i="1">
                                <a:solidFill>
                                  <a:srgbClr val="000000"/>
                                </a:solidFill>
                                <a:latin typeface="Cambria Math" panose="02040503050406030204" pitchFamily="18" charset="0"/>
                              </a:rPr>
                              <m:t>𝑉</m:t>
                            </m:r>
                          </m:oMath>
                        </m:oMathPara>
                      </a14:m>
                      <a:endParaRPr lang="zh-CN" altLang="en-US" sz="2600">
                        <a:latin typeface="+mn-ea"/>
                      </a:endParaRPr>
                    </a:p>
                  </p:txBody>
                </p:sp>
              </mc:Choice>
              <mc:Fallback xmlns="">
                <p:sp>
                  <p:nvSpPr>
                    <p:cNvPr id="58" name="Object 12">
                      <a:extLst>
                        <a:ext uri="{FF2B5EF4-FFF2-40B4-BE49-F238E27FC236}">
                          <a16:creationId xmlns:a16="http://schemas.microsoft.com/office/drawing/2014/main" id="{EE364DCB-CABF-F5B6-8863-FE62FFE33A6C}"/>
                        </a:ext>
                      </a:extLst>
                    </p:cNvPr>
                    <p:cNvSpPr txBox="1">
                      <a:spLocks noRot="1" noChangeAspect="1" noMove="1" noResize="1" noEditPoints="1" noAdjustHandles="1" noChangeArrowheads="1" noChangeShapeType="1" noTextEdit="1"/>
                    </p:cNvSpPr>
                    <p:nvPr/>
                  </p:nvSpPr>
                  <p:spPr>
                    <a:xfrm>
                      <a:off x="2577" y="3270"/>
                      <a:ext cx="170" cy="187"/>
                    </a:xfrm>
                    <a:prstGeom prst="rect">
                      <a:avLst/>
                    </a:prstGeom>
                    <a:blipFill>
                      <a:blip r:embed="rId14"/>
                      <a:stretch>
                        <a:fillRect r="-11364" b="-18367"/>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Object 13">
                      <a:extLst>
                        <a:ext uri="{FF2B5EF4-FFF2-40B4-BE49-F238E27FC236}">
                          <a16:creationId xmlns:a16="http://schemas.microsoft.com/office/drawing/2014/main" id="{8EF0B11F-6012-44DE-BB3D-4BB299BEDCC3}"/>
                        </a:ext>
                      </a:extLst>
                    </p:cNvPr>
                    <p:cNvSpPr txBox="1"/>
                    <p:nvPr/>
                  </p:nvSpPr>
                  <p:spPr>
                    <a:xfrm>
                      <a:off x="742" y="3471"/>
                      <a:ext cx="149" cy="169"/>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b="0" i="1">
                                <a:solidFill>
                                  <a:srgbClr val="000000"/>
                                </a:solidFill>
                                <a:latin typeface="Cambria Math" panose="02040503050406030204" pitchFamily="18" charset="0"/>
                              </a:rPr>
                              <m:t>𝑜</m:t>
                            </m:r>
                          </m:oMath>
                        </m:oMathPara>
                      </a14:m>
                      <a:endParaRPr lang="zh-CN" altLang="en-US" sz="2600">
                        <a:latin typeface="+mn-ea"/>
                      </a:endParaRPr>
                    </a:p>
                  </p:txBody>
                </p:sp>
              </mc:Choice>
              <mc:Fallback xmlns="">
                <p:sp>
                  <p:nvSpPr>
                    <p:cNvPr id="59" name="Object 13">
                      <a:extLst>
                        <a:ext uri="{FF2B5EF4-FFF2-40B4-BE49-F238E27FC236}">
                          <a16:creationId xmlns:a16="http://schemas.microsoft.com/office/drawing/2014/main" id="{4C76DE25-CFC9-ECE8-35C3-1A57A5EC0D97}"/>
                        </a:ext>
                      </a:extLst>
                    </p:cNvPr>
                    <p:cNvSpPr txBox="1">
                      <a:spLocks noRot="1" noChangeAspect="1" noMove="1" noResize="1" noEditPoints="1" noAdjustHandles="1" noChangeArrowheads="1" noChangeShapeType="1" noTextEdit="1"/>
                    </p:cNvSpPr>
                    <p:nvPr/>
                  </p:nvSpPr>
                  <p:spPr>
                    <a:xfrm>
                      <a:off x="742" y="3471"/>
                      <a:ext cx="149" cy="169"/>
                    </a:xfrm>
                    <a:prstGeom prst="rect">
                      <a:avLst/>
                    </a:prstGeom>
                    <a:blipFill>
                      <a:blip r:embed="rId3"/>
                      <a:stretch>
                        <a:fillRect r="-5128" b="-3409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Object 14">
                      <a:extLst>
                        <a:ext uri="{FF2B5EF4-FFF2-40B4-BE49-F238E27FC236}">
                          <a16:creationId xmlns:a16="http://schemas.microsoft.com/office/drawing/2014/main" id="{257FA979-A689-4B22-82EF-0C9CA7B753F4}"/>
                        </a:ext>
                      </a:extLst>
                    </p:cNvPr>
                    <p:cNvSpPr txBox="1"/>
                    <p:nvPr/>
                  </p:nvSpPr>
                  <p:spPr>
                    <a:xfrm>
                      <a:off x="602" y="1788"/>
                      <a:ext cx="179" cy="20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b="0" i="1">
                                <a:solidFill>
                                  <a:srgbClr val="000000"/>
                                </a:solidFill>
                                <a:latin typeface="Cambria Math" panose="02040503050406030204" pitchFamily="18" charset="0"/>
                              </a:rPr>
                              <m:t>𝑝</m:t>
                            </m:r>
                          </m:oMath>
                        </m:oMathPara>
                      </a14:m>
                      <a:endParaRPr lang="zh-CN" altLang="en-US" sz="2600">
                        <a:latin typeface="+mn-ea"/>
                      </a:endParaRPr>
                    </a:p>
                  </p:txBody>
                </p:sp>
              </mc:Choice>
              <mc:Fallback xmlns="">
                <p:sp>
                  <p:nvSpPr>
                    <p:cNvPr id="60" name="Object 14">
                      <a:extLst>
                        <a:ext uri="{FF2B5EF4-FFF2-40B4-BE49-F238E27FC236}">
                          <a16:creationId xmlns:a16="http://schemas.microsoft.com/office/drawing/2014/main" id="{C2FAD23B-BF18-B2AF-D619-C563AF988A2C}"/>
                        </a:ext>
                      </a:extLst>
                    </p:cNvPr>
                    <p:cNvSpPr txBox="1">
                      <a:spLocks noRot="1" noChangeAspect="1" noMove="1" noResize="1" noEditPoints="1" noAdjustHandles="1" noChangeArrowheads="1" noChangeShapeType="1" noTextEdit="1"/>
                    </p:cNvSpPr>
                    <p:nvPr/>
                  </p:nvSpPr>
                  <p:spPr>
                    <a:xfrm>
                      <a:off x="602" y="1788"/>
                      <a:ext cx="179" cy="206"/>
                    </a:xfrm>
                    <a:prstGeom prst="rect">
                      <a:avLst/>
                    </a:prstGeom>
                    <a:blipFill>
                      <a:blip r:embed="rId4"/>
                      <a:stretch>
                        <a:fillRect b="-27778"/>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Object 15">
                      <a:extLst>
                        <a:ext uri="{FF2B5EF4-FFF2-40B4-BE49-F238E27FC236}">
                          <a16:creationId xmlns:a16="http://schemas.microsoft.com/office/drawing/2014/main" id="{B6C6672B-8900-454F-A9C6-DF2D754ED014}"/>
                        </a:ext>
                      </a:extLst>
                    </p:cNvPr>
                    <p:cNvSpPr txBox="1"/>
                    <p:nvPr/>
                  </p:nvSpPr>
                  <p:spPr>
                    <a:xfrm>
                      <a:off x="2077" y="3165"/>
                      <a:ext cx="210" cy="25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𝑇</m:t>
                                </m:r>
                              </m:e>
                              <m:sub>
                                <m:r>
                                  <a:rPr lang="zh-CN" altLang="en-US" sz="2600" b="0" i="1">
                                    <a:solidFill>
                                      <a:srgbClr val="000000"/>
                                    </a:solidFill>
                                    <a:latin typeface="Cambria Math" panose="02040503050406030204" pitchFamily="18" charset="0"/>
                                  </a:rPr>
                                  <m:t>2</m:t>
                                </m:r>
                              </m:sub>
                            </m:sSub>
                          </m:oMath>
                        </m:oMathPara>
                      </a14:m>
                      <a:endParaRPr lang="zh-CN" altLang="en-US" sz="2600">
                        <a:latin typeface="+mn-ea"/>
                      </a:endParaRPr>
                    </a:p>
                  </p:txBody>
                </p:sp>
              </mc:Choice>
              <mc:Fallback xmlns="">
                <p:sp>
                  <p:nvSpPr>
                    <p:cNvPr id="61" name="Object 15">
                      <a:extLst>
                        <a:ext uri="{FF2B5EF4-FFF2-40B4-BE49-F238E27FC236}">
                          <a16:creationId xmlns:a16="http://schemas.microsoft.com/office/drawing/2014/main" id="{FC541D31-FF36-4471-4D78-302EB4D75CF5}"/>
                        </a:ext>
                      </a:extLst>
                    </p:cNvPr>
                    <p:cNvSpPr txBox="1">
                      <a:spLocks noRot="1" noChangeAspect="1" noMove="1" noResize="1" noEditPoints="1" noAdjustHandles="1" noChangeArrowheads="1" noChangeShapeType="1" noTextEdit="1"/>
                    </p:cNvSpPr>
                    <p:nvPr/>
                  </p:nvSpPr>
                  <p:spPr>
                    <a:xfrm>
                      <a:off x="2077" y="3165"/>
                      <a:ext cx="210" cy="256"/>
                    </a:xfrm>
                    <a:prstGeom prst="rect">
                      <a:avLst/>
                    </a:prstGeom>
                    <a:blipFill>
                      <a:blip r:embed="rId5"/>
                      <a:stretch>
                        <a:fillRect r="-9091" b="-2985"/>
                      </a:stretch>
                    </a:blipFill>
                    <a:ln w="38100">
                      <a:noFill/>
                      <a:miter/>
                    </a:ln>
                  </p:spPr>
                  <p:txBody>
                    <a:bodyPr/>
                    <a:lstStyle/>
                    <a:p>
                      <a:r>
                        <a:rPr lang="zh-CN" altLang="en-US">
                          <a:noFill/>
                        </a:rPr>
                        <a:t> </a:t>
                      </a:r>
                    </a:p>
                  </p:txBody>
                </p:sp>
              </mc:Fallback>
            </mc:AlternateContent>
            <p:sp>
              <p:nvSpPr>
                <p:cNvPr id="66" name="Freeform 16" descr="浅色上对角线">
                  <a:extLst>
                    <a:ext uri="{FF2B5EF4-FFF2-40B4-BE49-F238E27FC236}">
                      <a16:creationId xmlns:a16="http://schemas.microsoft.com/office/drawing/2014/main" id="{6C4509AD-246F-4C66-8047-C70BFFF9703C}"/>
                    </a:ext>
                  </a:extLst>
                </p:cNvPr>
                <p:cNvSpPr/>
                <p:nvPr/>
              </p:nvSpPr>
              <p:spPr>
                <a:xfrm>
                  <a:off x="1089" y="2133"/>
                  <a:ext cx="1297" cy="1045"/>
                </a:xfrm>
                <a:custGeom>
                  <a:avLst/>
                  <a:gdLst>
                    <a:gd name="txL" fmla="*/ 0 w 1465"/>
                    <a:gd name="txT" fmla="*/ 0 h 1219"/>
                    <a:gd name="txR" fmla="*/ 1465 w 1465"/>
                    <a:gd name="txB" fmla="*/ 1219 h 1219"/>
                  </a:gdLst>
                  <a:ahLst/>
                  <a:cxnLst>
                    <a:cxn ang="0">
                      <a:pos x="20" y="46"/>
                    </a:cxn>
                    <a:cxn ang="0">
                      <a:pos x="47" y="211"/>
                    </a:cxn>
                    <a:cxn ang="0">
                      <a:pos x="94" y="350"/>
                    </a:cxn>
                    <a:cxn ang="0">
                      <a:pos x="157" y="535"/>
                    </a:cxn>
                    <a:cxn ang="0">
                      <a:pos x="220" y="654"/>
                    </a:cxn>
                    <a:cxn ang="0">
                      <a:pos x="309" y="772"/>
                    </a:cxn>
                    <a:cxn ang="0">
                      <a:pos x="439" y="829"/>
                    </a:cxn>
                    <a:cxn ang="0">
                      <a:pos x="613" y="905"/>
                    </a:cxn>
                    <a:cxn ang="0">
                      <a:pos x="878" y="973"/>
                    </a:cxn>
                    <a:cxn ang="0">
                      <a:pos x="1086" y="1013"/>
                    </a:cxn>
                    <a:cxn ang="0">
                      <a:pos x="1297" y="1045"/>
                    </a:cxn>
                    <a:cxn ang="0">
                      <a:pos x="1197" y="958"/>
                    </a:cxn>
                    <a:cxn ang="0">
                      <a:pos x="1082" y="880"/>
                    </a:cxn>
                    <a:cxn ang="0">
                      <a:pos x="1046" y="839"/>
                    </a:cxn>
                    <a:cxn ang="0">
                      <a:pos x="993" y="777"/>
                    </a:cxn>
                    <a:cxn ang="0">
                      <a:pos x="968" y="736"/>
                    </a:cxn>
                    <a:cxn ang="0">
                      <a:pos x="904" y="613"/>
                    </a:cxn>
                    <a:cxn ang="0">
                      <a:pos x="826" y="567"/>
                    </a:cxn>
                    <a:cxn ang="0">
                      <a:pos x="889" y="582"/>
                    </a:cxn>
                    <a:cxn ang="0">
                      <a:pos x="765" y="543"/>
                    </a:cxn>
                    <a:cxn ang="0">
                      <a:pos x="700" y="520"/>
                    </a:cxn>
                    <a:cxn ang="0">
                      <a:pos x="617" y="489"/>
                    </a:cxn>
                    <a:cxn ang="0">
                      <a:pos x="523" y="432"/>
                    </a:cxn>
                    <a:cxn ang="0">
                      <a:pos x="339" y="315"/>
                    </a:cxn>
                    <a:cxn ang="0">
                      <a:pos x="189" y="206"/>
                    </a:cxn>
                    <a:cxn ang="0">
                      <a:pos x="110" y="139"/>
                    </a:cxn>
                    <a:cxn ang="0">
                      <a:pos x="0" y="0"/>
                    </a:cxn>
                  </a:cxnLst>
                  <a:rect l="txL" t="txT" r="txR" b="txB"/>
                  <a:pathLst>
                    <a:path w="1465" h="1219">
                      <a:moveTo>
                        <a:pt x="23" y="54"/>
                      </a:moveTo>
                      <a:lnTo>
                        <a:pt x="53" y="246"/>
                      </a:lnTo>
                      <a:lnTo>
                        <a:pt x="106" y="408"/>
                      </a:lnTo>
                      <a:lnTo>
                        <a:pt x="177" y="624"/>
                      </a:lnTo>
                      <a:lnTo>
                        <a:pt x="248" y="763"/>
                      </a:lnTo>
                      <a:lnTo>
                        <a:pt x="349" y="901"/>
                      </a:lnTo>
                      <a:lnTo>
                        <a:pt x="496" y="967"/>
                      </a:lnTo>
                      <a:lnTo>
                        <a:pt x="692" y="1056"/>
                      </a:lnTo>
                      <a:lnTo>
                        <a:pt x="992" y="1135"/>
                      </a:lnTo>
                      <a:lnTo>
                        <a:pt x="1227" y="1182"/>
                      </a:lnTo>
                      <a:lnTo>
                        <a:pt x="1465" y="1219"/>
                      </a:lnTo>
                      <a:lnTo>
                        <a:pt x="1352" y="1117"/>
                      </a:lnTo>
                      <a:lnTo>
                        <a:pt x="1222" y="1027"/>
                      </a:lnTo>
                      <a:lnTo>
                        <a:pt x="1181" y="979"/>
                      </a:lnTo>
                      <a:lnTo>
                        <a:pt x="1122" y="906"/>
                      </a:lnTo>
                      <a:lnTo>
                        <a:pt x="1093" y="859"/>
                      </a:lnTo>
                      <a:lnTo>
                        <a:pt x="1021" y="715"/>
                      </a:lnTo>
                      <a:lnTo>
                        <a:pt x="933" y="661"/>
                      </a:lnTo>
                      <a:lnTo>
                        <a:pt x="1004" y="679"/>
                      </a:lnTo>
                      <a:lnTo>
                        <a:pt x="864" y="633"/>
                      </a:lnTo>
                      <a:lnTo>
                        <a:pt x="791" y="607"/>
                      </a:lnTo>
                      <a:lnTo>
                        <a:pt x="697" y="570"/>
                      </a:lnTo>
                      <a:lnTo>
                        <a:pt x="591" y="504"/>
                      </a:lnTo>
                      <a:lnTo>
                        <a:pt x="383" y="367"/>
                      </a:lnTo>
                      <a:lnTo>
                        <a:pt x="213" y="240"/>
                      </a:lnTo>
                      <a:lnTo>
                        <a:pt x="124" y="162"/>
                      </a:lnTo>
                      <a:lnTo>
                        <a:pt x="0" y="0"/>
                      </a:lnTo>
                    </a:path>
                  </a:pathLst>
                </a:custGeom>
                <a:pattFill prst="ltUpDiag">
                  <a:fgClr>
                    <a:srgbClr val="CC3399">
                      <a:alpha val="100000"/>
                    </a:srgbClr>
                  </a:fgClr>
                  <a:bgClr>
                    <a:schemeClr val="bg1">
                      <a:alpha val="100000"/>
                    </a:schemeClr>
                  </a:bgClr>
                </a:pattFill>
                <a:ln w="9525">
                  <a:noFill/>
                </a:ln>
              </p:spPr>
              <p:txBody>
                <a:bodyPr/>
                <a:lstStyle/>
                <a:p>
                  <a:endParaRPr lang="zh-CN" altLang="en-US" sz="2600">
                    <a:latin typeface="+mn-ea"/>
                  </a:endParaRPr>
                </a:p>
              </p:txBody>
            </p:sp>
            <p:sp>
              <p:nvSpPr>
                <p:cNvPr id="67" name="Text Box 17">
                  <a:extLst>
                    <a:ext uri="{FF2B5EF4-FFF2-40B4-BE49-F238E27FC236}">
                      <a16:creationId xmlns:a16="http://schemas.microsoft.com/office/drawing/2014/main" id="{DB94702B-558C-4C4D-9581-E67D2A099CDE}"/>
                    </a:ext>
                  </a:extLst>
                </p:cNvPr>
                <p:cNvSpPr txBox="1"/>
                <p:nvPr/>
              </p:nvSpPr>
              <p:spPr>
                <a:xfrm flipH="1">
                  <a:off x="1492" y="2638"/>
                  <a:ext cx="330" cy="310"/>
                </a:xfrm>
                <a:prstGeom prst="rect">
                  <a:avLst/>
                </a:prstGeom>
                <a:noFill/>
                <a:ln w="9525">
                  <a:noFill/>
                </a:ln>
              </p:spPr>
              <p:txBody>
                <a:bodyPr>
                  <a:spAutoFit/>
                </a:bodyPr>
                <a:lstStyle/>
                <a:p>
                  <a:pPr>
                    <a:spcBef>
                      <a:spcPct val="50000"/>
                    </a:spcBef>
                  </a:pPr>
                  <a:r>
                    <a:rPr lang="en-US" altLang="zh-CN" sz="2600" i="1" dirty="0">
                      <a:solidFill>
                        <a:srgbClr val="CC0000"/>
                      </a:solidFill>
                      <a:latin typeface="+mn-ea"/>
                    </a:rPr>
                    <a:t>A</a:t>
                  </a:r>
                  <a:endParaRPr lang="en-US" altLang="zh-CN" sz="2600" i="1" dirty="0">
                    <a:solidFill>
                      <a:srgbClr val="A50021"/>
                    </a:solidFill>
                    <a:latin typeface="+mn-ea"/>
                  </a:endParaRPr>
                </a:p>
              </p:txBody>
            </p:sp>
            <p:sp>
              <p:nvSpPr>
                <p:cNvPr id="68" name="Line 18">
                  <a:extLst>
                    <a:ext uri="{FF2B5EF4-FFF2-40B4-BE49-F238E27FC236}">
                      <a16:creationId xmlns:a16="http://schemas.microsoft.com/office/drawing/2014/main" id="{D2FB462D-973A-48E3-AD4D-24A54517CF84}"/>
                    </a:ext>
                  </a:extLst>
                </p:cNvPr>
                <p:cNvSpPr/>
                <p:nvPr/>
              </p:nvSpPr>
              <p:spPr>
                <a:xfrm flipH="1" flipV="1">
                  <a:off x="1675" y="3034"/>
                  <a:ext cx="109" cy="36"/>
                </a:xfrm>
                <a:prstGeom prst="line">
                  <a:avLst/>
                </a:prstGeom>
                <a:ln w="57150" cap="flat" cmpd="sng">
                  <a:solidFill>
                    <a:srgbClr val="0000FF"/>
                  </a:solidFill>
                  <a:prstDash val="solid"/>
                  <a:headEnd type="none" w="med" len="med"/>
                  <a:tailEnd type="triangle" w="sm" len="lg"/>
                </a:ln>
              </p:spPr>
            </p:sp>
            <p:sp>
              <p:nvSpPr>
                <p:cNvPr id="69" name="Line 19">
                  <a:extLst>
                    <a:ext uri="{FF2B5EF4-FFF2-40B4-BE49-F238E27FC236}">
                      <a16:creationId xmlns:a16="http://schemas.microsoft.com/office/drawing/2014/main" id="{B943884A-0DAF-4AB7-A145-7D666056D961}"/>
                    </a:ext>
                  </a:extLst>
                </p:cNvPr>
                <p:cNvSpPr/>
                <p:nvPr/>
              </p:nvSpPr>
              <p:spPr>
                <a:xfrm>
                  <a:off x="1516" y="2492"/>
                  <a:ext cx="122" cy="73"/>
                </a:xfrm>
                <a:prstGeom prst="line">
                  <a:avLst/>
                </a:prstGeom>
                <a:ln w="57150" cap="flat" cmpd="sng">
                  <a:solidFill>
                    <a:srgbClr val="0000FF"/>
                  </a:solidFill>
                  <a:prstDash val="solid"/>
                  <a:headEnd type="none" w="med" len="med"/>
                  <a:tailEnd type="triangle" w="sm" len="lg"/>
                </a:ln>
              </p:spPr>
            </p:sp>
            <p:sp>
              <p:nvSpPr>
                <p:cNvPr id="70" name="Line 20">
                  <a:extLst>
                    <a:ext uri="{FF2B5EF4-FFF2-40B4-BE49-F238E27FC236}">
                      <a16:creationId xmlns:a16="http://schemas.microsoft.com/office/drawing/2014/main" id="{407E3E65-0E24-48F4-A48D-1D51084FF7B6}"/>
                    </a:ext>
                  </a:extLst>
                </p:cNvPr>
                <p:cNvSpPr/>
                <p:nvPr/>
              </p:nvSpPr>
              <p:spPr>
                <a:xfrm flipH="1" flipV="1">
                  <a:off x="1163" y="2457"/>
                  <a:ext cx="36" cy="108"/>
                </a:xfrm>
                <a:prstGeom prst="line">
                  <a:avLst/>
                </a:prstGeom>
                <a:ln w="57150" cap="flat" cmpd="sng">
                  <a:solidFill>
                    <a:srgbClr val="CC0099"/>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71" name="Object 21">
                      <a:extLst>
                        <a:ext uri="{FF2B5EF4-FFF2-40B4-BE49-F238E27FC236}">
                          <a16:creationId xmlns:a16="http://schemas.microsoft.com/office/drawing/2014/main" id="{3DA3022C-4CA9-414C-9B36-C4C36F4FE793}"/>
                        </a:ext>
                      </a:extLst>
                    </p:cNvPr>
                    <p:cNvSpPr txBox="1"/>
                    <p:nvPr/>
                  </p:nvSpPr>
                  <p:spPr>
                    <a:xfrm>
                      <a:off x="1684" y="2365"/>
                      <a:ext cx="179" cy="252"/>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𝑇</m:t>
                                </m:r>
                              </m:e>
                              <m:sub>
                                <m:r>
                                  <a:rPr lang="zh-CN" altLang="en-US" sz="2600" b="0" i="1">
                                    <a:solidFill>
                                      <a:srgbClr val="000000"/>
                                    </a:solidFill>
                                    <a:latin typeface="Cambria Math" panose="02040503050406030204" pitchFamily="18" charset="0"/>
                                  </a:rPr>
                                  <m:t>1</m:t>
                                </m:r>
                              </m:sub>
                            </m:sSub>
                          </m:oMath>
                        </m:oMathPara>
                      </a14:m>
                      <a:endParaRPr lang="zh-CN" altLang="en-US" sz="2600">
                        <a:latin typeface="+mn-ea"/>
                      </a:endParaRPr>
                    </a:p>
                  </p:txBody>
                </p:sp>
              </mc:Choice>
              <mc:Fallback xmlns="">
                <p:sp>
                  <p:nvSpPr>
                    <p:cNvPr id="67" name="Object 21">
                      <a:extLst>
                        <a:ext uri="{FF2B5EF4-FFF2-40B4-BE49-F238E27FC236}">
                          <a16:creationId xmlns:a16="http://schemas.microsoft.com/office/drawing/2014/main" id="{98F5553E-9AEB-E8A8-EB4F-E7491CFC8C9B}"/>
                        </a:ext>
                      </a:extLst>
                    </p:cNvPr>
                    <p:cNvSpPr txBox="1">
                      <a:spLocks noRot="1" noChangeAspect="1" noMove="1" noResize="1" noEditPoints="1" noAdjustHandles="1" noChangeArrowheads="1" noChangeShapeType="1" noTextEdit="1"/>
                    </p:cNvSpPr>
                    <p:nvPr/>
                  </p:nvSpPr>
                  <p:spPr>
                    <a:xfrm>
                      <a:off x="1684" y="2365"/>
                      <a:ext cx="179" cy="252"/>
                    </a:xfrm>
                    <a:prstGeom prst="rect">
                      <a:avLst/>
                    </a:prstGeom>
                    <a:blipFill>
                      <a:blip r:embed="rId15"/>
                      <a:stretch>
                        <a:fillRect r="-27660" b="-4545"/>
                      </a:stretch>
                    </a:blipFill>
                    <a:ln w="38100">
                      <a:noFill/>
                      <a:miter/>
                    </a:ln>
                  </p:spPr>
                  <p:txBody>
                    <a:bodyPr/>
                    <a:lstStyle/>
                    <a:p>
                      <a:r>
                        <a:rPr lang="zh-CN" altLang="en-US">
                          <a:noFill/>
                        </a:rPr>
                        <a:t> </a:t>
                      </a:r>
                    </a:p>
                  </p:txBody>
                </p:sp>
              </mc:Fallback>
            </mc:AlternateContent>
            <p:sp>
              <p:nvSpPr>
                <p:cNvPr id="72" name="Line 22">
                  <a:extLst>
                    <a:ext uri="{FF2B5EF4-FFF2-40B4-BE49-F238E27FC236}">
                      <a16:creationId xmlns:a16="http://schemas.microsoft.com/office/drawing/2014/main" id="{C7912954-251B-4C30-AA2D-C059D7E8A176}"/>
                    </a:ext>
                  </a:extLst>
                </p:cNvPr>
                <p:cNvSpPr/>
                <p:nvPr/>
              </p:nvSpPr>
              <p:spPr>
                <a:xfrm>
                  <a:off x="2109" y="2900"/>
                  <a:ext cx="78" cy="98"/>
                </a:xfrm>
                <a:prstGeom prst="line">
                  <a:avLst/>
                </a:prstGeom>
                <a:ln w="57150" cap="flat" cmpd="sng">
                  <a:solidFill>
                    <a:srgbClr val="CC0099"/>
                  </a:solidFill>
                  <a:prstDash val="solid"/>
                  <a:headEnd type="none" w="med" len="med"/>
                  <a:tailEnd type="triangle" w="sm" len="lg"/>
                </a:ln>
              </p:spPr>
            </p:sp>
            <p:sp>
              <p:nvSpPr>
                <p:cNvPr id="73" name="Freeform 23">
                  <a:extLst>
                    <a:ext uri="{FF2B5EF4-FFF2-40B4-BE49-F238E27FC236}">
                      <a16:creationId xmlns:a16="http://schemas.microsoft.com/office/drawing/2014/main" id="{D9ED45B7-EA4D-489F-8DD7-A664FF081DF4}"/>
                    </a:ext>
                  </a:extLst>
                </p:cNvPr>
                <p:cNvSpPr/>
                <p:nvPr/>
              </p:nvSpPr>
              <p:spPr>
                <a:xfrm>
                  <a:off x="1089" y="2133"/>
                  <a:ext cx="925" cy="583"/>
                </a:xfrm>
                <a:custGeom>
                  <a:avLst/>
                  <a:gdLst>
                    <a:gd name="txL" fmla="*/ 0 w 1044"/>
                    <a:gd name="txT" fmla="*/ 0 h 680"/>
                    <a:gd name="txR" fmla="*/ 1044 w 1044"/>
                    <a:gd name="txB" fmla="*/ 680 h 680"/>
                  </a:gdLst>
                  <a:ahLst/>
                  <a:cxnLst>
                    <a:cxn ang="0">
                      <a:pos x="0" y="0"/>
                    </a:cxn>
                    <a:cxn ang="0">
                      <a:pos x="214" y="211"/>
                    </a:cxn>
                    <a:cxn ang="0">
                      <a:pos x="444" y="373"/>
                    </a:cxn>
                    <a:cxn ang="0">
                      <a:pos x="650" y="484"/>
                    </a:cxn>
                    <a:cxn ang="0">
                      <a:pos x="887" y="570"/>
                    </a:cxn>
                    <a:cxn ang="0">
                      <a:pos x="882" y="564"/>
                    </a:cxn>
                  </a:cxnLst>
                  <a:rect l="txL" t="txT" r="txR" b="txB"/>
                  <a:pathLst>
                    <a:path w="1044" h="680">
                      <a:moveTo>
                        <a:pt x="0" y="0"/>
                      </a:moveTo>
                      <a:cubicBezTo>
                        <a:pt x="40" y="41"/>
                        <a:pt x="159" y="174"/>
                        <a:pt x="242" y="246"/>
                      </a:cubicBezTo>
                      <a:cubicBezTo>
                        <a:pt x="325" y="318"/>
                        <a:pt x="419" y="382"/>
                        <a:pt x="501" y="435"/>
                      </a:cubicBezTo>
                      <a:cubicBezTo>
                        <a:pt x="583" y="488"/>
                        <a:pt x="651" y="527"/>
                        <a:pt x="734" y="565"/>
                      </a:cubicBezTo>
                      <a:cubicBezTo>
                        <a:pt x="817" y="603"/>
                        <a:pt x="958" y="650"/>
                        <a:pt x="1001" y="665"/>
                      </a:cubicBezTo>
                      <a:cubicBezTo>
                        <a:pt x="1044" y="680"/>
                        <a:pt x="996" y="658"/>
                        <a:pt x="995" y="658"/>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600">
                    <a:latin typeface="+mn-ea"/>
                  </a:endParaRPr>
                </a:p>
              </p:txBody>
            </p:sp>
            <p:sp>
              <p:nvSpPr>
                <p:cNvPr id="74" name="Freeform 24">
                  <a:extLst>
                    <a:ext uri="{FF2B5EF4-FFF2-40B4-BE49-F238E27FC236}">
                      <a16:creationId xmlns:a16="http://schemas.microsoft.com/office/drawing/2014/main" id="{B7903374-9E8C-4E65-A00C-8CD88297D7E7}"/>
                    </a:ext>
                  </a:extLst>
                </p:cNvPr>
                <p:cNvSpPr/>
                <p:nvPr/>
              </p:nvSpPr>
              <p:spPr>
                <a:xfrm>
                  <a:off x="1367" y="2895"/>
                  <a:ext cx="1040" cy="283"/>
                </a:xfrm>
                <a:custGeom>
                  <a:avLst/>
                  <a:gdLst>
                    <a:gd name="txL" fmla="*/ 0 w 1175"/>
                    <a:gd name="txT" fmla="*/ 0 h 330"/>
                    <a:gd name="txR" fmla="*/ 1175 w 1175"/>
                    <a:gd name="txB" fmla="*/ 330 h 330"/>
                  </a:gdLst>
                  <a:ahLst/>
                  <a:cxnLst>
                    <a:cxn ang="0">
                      <a:pos x="0" y="0"/>
                    </a:cxn>
                    <a:cxn ang="0">
                      <a:pos x="160" y="75"/>
                    </a:cxn>
                    <a:cxn ang="0">
                      <a:pos x="419" y="175"/>
                    </a:cxn>
                    <a:cxn ang="0">
                      <a:pos x="767" y="251"/>
                    </a:cxn>
                    <a:cxn ang="0">
                      <a:pos x="1040" y="283"/>
                    </a:cxn>
                  </a:cxnLst>
                  <a:rect l="txL" t="txT" r="txR" b="txB"/>
                  <a:pathLst>
                    <a:path w="1175" h="330">
                      <a:moveTo>
                        <a:pt x="0" y="0"/>
                      </a:moveTo>
                      <a:cubicBezTo>
                        <a:pt x="30" y="14"/>
                        <a:pt x="102" y="53"/>
                        <a:pt x="181" y="87"/>
                      </a:cubicBezTo>
                      <a:cubicBezTo>
                        <a:pt x="260" y="121"/>
                        <a:pt x="359" y="170"/>
                        <a:pt x="473" y="204"/>
                      </a:cubicBezTo>
                      <a:cubicBezTo>
                        <a:pt x="587" y="238"/>
                        <a:pt x="749" y="272"/>
                        <a:pt x="866" y="293"/>
                      </a:cubicBezTo>
                      <a:cubicBezTo>
                        <a:pt x="983" y="314"/>
                        <a:pt x="1111" y="322"/>
                        <a:pt x="1175" y="330"/>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600">
                    <a:latin typeface="+mn-ea"/>
                  </a:endParaRPr>
                </a:p>
              </p:txBody>
            </p:sp>
            <p:sp>
              <p:nvSpPr>
                <p:cNvPr id="75" name="Freeform 25">
                  <a:extLst>
                    <a:ext uri="{FF2B5EF4-FFF2-40B4-BE49-F238E27FC236}">
                      <a16:creationId xmlns:a16="http://schemas.microsoft.com/office/drawing/2014/main" id="{30E980AA-03A9-4132-A24A-860FE7A7C9EF}"/>
                    </a:ext>
                  </a:extLst>
                </p:cNvPr>
                <p:cNvSpPr/>
                <p:nvPr/>
              </p:nvSpPr>
              <p:spPr>
                <a:xfrm>
                  <a:off x="1089" y="2133"/>
                  <a:ext cx="288" cy="767"/>
                </a:xfrm>
                <a:custGeom>
                  <a:avLst/>
                  <a:gdLst>
                    <a:gd name="txL" fmla="*/ 0 w 325"/>
                    <a:gd name="txT" fmla="*/ 0 h 895"/>
                    <a:gd name="txR" fmla="*/ 325 w 325"/>
                    <a:gd name="txB" fmla="*/ 895 h 895"/>
                  </a:gdLst>
                  <a:ahLst/>
                  <a:cxnLst>
                    <a:cxn ang="0">
                      <a:pos x="0" y="0"/>
                    </a:cxn>
                    <a:cxn ang="0">
                      <a:pos x="55" y="255"/>
                    </a:cxn>
                    <a:cxn ang="0">
                      <a:pos x="163" y="560"/>
                    </a:cxn>
                    <a:cxn ang="0">
                      <a:pos x="288" y="767"/>
                    </a:cxn>
                  </a:cxnLst>
                  <a:rect l="txL" t="txT" r="txR" b="txB"/>
                  <a:pathLst>
                    <a:path w="325" h="895">
                      <a:moveTo>
                        <a:pt x="0" y="0"/>
                      </a:moveTo>
                      <a:cubicBezTo>
                        <a:pt x="10" y="49"/>
                        <a:pt x="31" y="188"/>
                        <a:pt x="62" y="297"/>
                      </a:cubicBezTo>
                      <a:cubicBezTo>
                        <a:pt x="93" y="406"/>
                        <a:pt x="140" y="554"/>
                        <a:pt x="184" y="654"/>
                      </a:cubicBezTo>
                      <a:cubicBezTo>
                        <a:pt x="228" y="754"/>
                        <a:pt x="296" y="845"/>
                        <a:pt x="325" y="895"/>
                      </a:cubicBezTo>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sz="2600">
                    <a:latin typeface="+mn-ea"/>
                  </a:endParaRPr>
                </a:p>
              </p:txBody>
            </p:sp>
            <p:sp>
              <p:nvSpPr>
                <p:cNvPr id="76" name="Freeform 26">
                  <a:extLst>
                    <a:ext uri="{FF2B5EF4-FFF2-40B4-BE49-F238E27FC236}">
                      <a16:creationId xmlns:a16="http://schemas.microsoft.com/office/drawing/2014/main" id="{777A943B-5A66-4BAD-A156-47A1D7EC081D}"/>
                    </a:ext>
                  </a:extLst>
                </p:cNvPr>
                <p:cNvSpPr/>
                <p:nvPr/>
              </p:nvSpPr>
              <p:spPr>
                <a:xfrm>
                  <a:off x="1978" y="2705"/>
                  <a:ext cx="429" cy="473"/>
                </a:xfrm>
                <a:custGeom>
                  <a:avLst/>
                  <a:gdLst>
                    <a:gd name="txL" fmla="*/ 0 w 484"/>
                    <a:gd name="txT" fmla="*/ 0 h 552"/>
                    <a:gd name="txR" fmla="*/ 484 w 484"/>
                    <a:gd name="txB" fmla="*/ 552 h 552"/>
                  </a:gdLst>
                  <a:ahLst/>
                  <a:cxnLst>
                    <a:cxn ang="0">
                      <a:pos x="0" y="0"/>
                    </a:cxn>
                    <a:cxn ang="0">
                      <a:pos x="186" y="265"/>
                    </a:cxn>
                    <a:cxn ang="0">
                      <a:pos x="429" y="473"/>
                    </a:cxn>
                  </a:cxnLst>
                  <a:rect l="txL" t="txT" r="txR" b="txB"/>
                  <a:pathLst>
                    <a:path w="484" h="552">
                      <a:moveTo>
                        <a:pt x="0" y="0"/>
                      </a:moveTo>
                      <a:cubicBezTo>
                        <a:pt x="35" y="51"/>
                        <a:pt x="129" y="217"/>
                        <a:pt x="210" y="309"/>
                      </a:cubicBezTo>
                      <a:cubicBezTo>
                        <a:pt x="291" y="401"/>
                        <a:pt x="427" y="501"/>
                        <a:pt x="484" y="552"/>
                      </a:cubicBezTo>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sz="2600">
                    <a:latin typeface="+mn-ea"/>
                  </a:endParaRPr>
                </a:p>
              </p:txBody>
            </p:sp>
            <p:sp>
              <p:nvSpPr>
                <p:cNvPr id="77" name="Text Box 27">
                  <a:extLst>
                    <a:ext uri="{FF2B5EF4-FFF2-40B4-BE49-F238E27FC236}">
                      <a16:creationId xmlns:a16="http://schemas.microsoft.com/office/drawing/2014/main" id="{A4B9F16E-A3CD-45C9-B996-7A93676AE777}"/>
                    </a:ext>
                  </a:extLst>
                </p:cNvPr>
                <p:cNvSpPr txBox="1"/>
                <p:nvPr/>
              </p:nvSpPr>
              <p:spPr>
                <a:xfrm>
                  <a:off x="1005" y="1912"/>
                  <a:ext cx="254" cy="31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mn-ea"/>
                    </a:rPr>
                    <a:t>A</a:t>
                  </a:r>
                </a:p>
              </p:txBody>
            </p:sp>
            <p:sp>
              <p:nvSpPr>
                <p:cNvPr id="78" name="Text Box 28">
                  <a:extLst>
                    <a:ext uri="{FF2B5EF4-FFF2-40B4-BE49-F238E27FC236}">
                      <a16:creationId xmlns:a16="http://schemas.microsoft.com/office/drawing/2014/main" id="{00D54E74-CBD7-4248-91B8-348F4026E2FA}"/>
                    </a:ext>
                  </a:extLst>
                </p:cNvPr>
                <p:cNvSpPr txBox="1"/>
                <p:nvPr/>
              </p:nvSpPr>
              <p:spPr>
                <a:xfrm>
                  <a:off x="1982" y="2488"/>
                  <a:ext cx="297" cy="31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mn-ea"/>
                    </a:rPr>
                    <a:t>B</a:t>
                  </a:r>
                </a:p>
              </p:txBody>
            </p:sp>
            <p:sp>
              <p:nvSpPr>
                <p:cNvPr id="79" name="Text Box 29">
                  <a:extLst>
                    <a:ext uri="{FF2B5EF4-FFF2-40B4-BE49-F238E27FC236}">
                      <a16:creationId xmlns:a16="http://schemas.microsoft.com/office/drawing/2014/main" id="{E7963EDA-7846-4CA6-ADF3-977A72B48DF8}"/>
                    </a:ext>
                  </a:extLst>
                </p:cNvPr>
                <p:cNvSpPr txBox="1"/>
                <p:nvPr/>
              </p:nvSpPr>
              <p:spPr>
                <a:xfrm>
                  <a:off x="2407" y="2981"/>
                  <a:ext cx="255" cy="31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mn-ea"/>
                    </a:rPr>
                    <a:t>C</a:t>
                  </a:r>
                </a:p>
              </p:txBody>
            </p:sp>
            <p:sp>
              <p:nvSpPr>
                <p:cNvPr id="80" name="Text Box 30">
                  <a:extLst>
                    <a:ext uri="{FF2B5EF4-FFF2-40B4-BE49-F238E27FC236}">
                      <a16:creationId xmlns:a16="http://schemas.microsoft.com/office/drawing/2014/main" id="{BD279284-1EBC-455B-96E8-2B31714ACED5}"/>
                    </a:ext>
                  </a:extLst>
                </p:cNvPr>
                <p:cNvSpPr txBox="1"/>
                <p:nvPr/>
              </p:nvSpPr>
              <p:spPr>
                <a:xfrm>
                  <a:off x="1174" y="2858"/>
                  <a:ext cx="298" cy="310"/>
                </a:xfrm>
                <a:prstGeom prst="rect">
                  <a:avLst/>
                </a:prstGeom>
                <a:noFill/>
                <a:ln w="9525">
                  <a:noFill/>
                </a:ln>
              </p:spPr>
              <p:txBody>
                <a:bodyPr>
                  <a:spAutoFit/>
                </a:bodyPr>
                <a:lstStyle/>
                <a:p>
                  <a:pPr eaLnBrk="1" hangingPunct="1">
                    <a:spcBef>
                      <a:spcPct val="50000"/>
                    </a:spcBef>
                  </a:pPr>
                  <a:r>
                    <a:rPr lang="en-US" altLang="zh-CN" sz="2600" i="1" dirty="0">
                      <a:solidFill>
                        <a:srgbClr val="1C1C1C"/>
                      </a:solidFill>
                      <a:latin typeface="+mn-ea"/>
                    </a:rPr>
                    <a:t>D</a:t>
                  </a:r>
                </a:p>
              </p:txBody>
            </p:sp>
            <p:sp>
              <p:nvSpPr>
                <p:cNvPr id="81" name="Line 31">
                  <a:extLst>
                    <a:ext uri="{FF2B5EF4-FFF2-40B4-BE49-F238E27FC236}">
                      <a16:creationId xmlns:a16="http://schemas.microsoft.com/office/drawing/2014/main" id="{227654F5-F184-4E67-9AB1-093084674484}"/>
                    </a:ext>
                  </a:extLst>
                </p:cNvPr>
                <p:cNvSpPr/>
                <p:nvPr/>
              </p:nvSpPr>
              <p:spPr>
                <a:xfrm flipH="1">
                  <a:off x="835" y="2159"/>
                  <a:ext cx="254" cy="0"/>
                </a:xfrm>
                <a:prstGeom prst="line">
                  <a:avLst/>
                </a:prstGeom>
                <a:ln w="12700" cap="flat" cmpd="sng">
                  <a:solidFill>
                    <a:srgbClr val="000000"/>
                  </a:solidFill>
                  <a:prstDash val="dash"/>
                  <a:headEnd type="none" w="med" len="med"/>
                  <a:tailEnd type="none" w="med" len="med"/>
                </a:ln>
              </p:spPr>
            </p:sp>
            <p:sp>
              <p:nvSpPr>
                <p:cNvPr id="82" name="Line 32">
                  <a:extLst>
                    <a:ext uri="{FF2B5EF4-FFF2-40B4-BE49-F238E27FC236}">
                      <a16:creationId xmlns:a16="http://schemas.microsoft.com/office/drawing/2014/main" id="{6CB1B271-6DD2-42EC-A512-AFB09423BD43}"/>
                    </a:ext>
                  </a:extLst>
                </p:cNvPr>
                <p:cNvSpPr/>
                <p:nvPr/>
              </p:nvSpPr>
              <p:spPr>
                <a:xfrm flipH="1">
                  <a:off x="835" y="2694"/>
                  <a:ext cx="1147" cy="0"/>
                </a:xfrm>
                <a:prstGeom prst="line">
                  <a:avLst/>
                </a:prstGeom>
                <a:ln w="12700" cap="flat" cmpd="sng">
                  <a:solidFill>
                    <a:srgbClr val="000000"/>
                  </a:solidFill>
                  <a:prstDash val="dash"/>
                  <a:headEnd type="none" w="med" len="med"/>
                  <a:tailEnd type="none" w="med" len="med"/>
                </a:ln>
              </p:spPr>
            </p:sp>
            <p:sp>
              <p:nvSpPr>
                <p:cNvPr id="83" name="Line 33">
                  <a:extLst>
                    <a:ext uri="{FF2B5EF4-FFF2-40B4-BE49-F238E27FC236}">
                      <a16:creationId xmlns:a16="http://schemas.microsoft.com/office/drawing/2014/main" id="{D377158F-7AD0-4B05-B03C-FA0FAF47C9FB}"/>
                    </a:ext>
                  </a:extLst>
                </p:cNvPr>
                <p:cNvSpPr/>
                <p:nvPr/>
              </p:nvSpPr>
              <p:spPr>
                <a:xfrm flipH="1">
                  <a:off x="835" y="3188"/>
                  <a:ext cx="1572" cy="0"/>
                </a:xfrm>
                <a:prstGeom prst="line">
                  <a:avLst/>
                </a:prstGeom>
                <a:ln w="12700" cap="flat" cmpd="sng">
                  <a:solidFill>
                    <a:srgbClr val="000000"/>
                  </a:solidFill>
                  <a:prstDash val="dash"/>
                  <a:headEnd type="none" w="med" len="med"/>
                  <a:tailEnd type="none" w="med" len="med"/>
                </a:ln>
              </p:spPr>
            </p:sp>
            <p:sp>
              <p:nvSpPr>
                <p:cNvPr id="84" name="Line 34">
                  <a:extLst>
                    <a:ext uri="{FF2B5EF4-FFF2-40B4-BE49-F238E27FC236}">
                      <a16:creationId xmlns:a16="http://schemas.microsoft.com/office/drawing/2014/main" id="{0BE48DD7-1A18-40A7-849D-5EC894140A14}"/>
                    </a:ext>
                  </a:extLst>
                </p:cNvPr>
                <p:cNvSpPr/>
                <p:nvPr/>
              </p:nvSpPr>
              <p:spPr>
                <a:xfrm flipH="1">
                  <a:off x="835" y="2900"/>
                  <a:ext cx="552" cy="0"/>
                </a:xfrm>
                <a:prstGeom prst="line">
                  <a:avLst/>
                </a:prstGeom>
                <a:ln w="12700" cap="flat" cmpd="sng">
                  <a:solidFill>
                    <a:srgbClr val="000000"/>
                  </a:solidFill>
                  <a:prstDash val="dash"/>
                  <a:headEnd type="none" w="med" len="med"/>
                  <a:tailEnd type="none" w="med" len="med"/>
                </a:ln>
              </p:spPr>
            </p:sp>
            <p:sp>
              <p:nvSpPr>
                <p:cNvPr id="85" name="Line 35">
                  <a:extLst>
                    <a:ext uri="{FF2B5EF4-FFF2-40B4-BE49-F238E27FC236}">
                      <a16:creationId xmlns:a16="http://schemas.microsoft.com/office/drawing/2014/main" id="{80F92EE3-5E8C-4ECA-90B8-4B2BC450ED9D}"/>
                    </a:ext>
                  </a:extLst>
                </p:cNvPr>
                <p:cNvSpPr/>
                <p:nvPr/>
              </p:nvSpPr>
              <p:spPr>
                <a:xfrm flipH="1">
                  <a:off x="1089" y="2159"/>
                  <a:ext cx="0" cy="1317"/>
                </a:xfrm>
                <a:prstGeom prst="line">
                  <a:avLst/>
                </a:prstGeom>
                <a:ln w="12700" cap="flat" cmpd="sng">
                  <a:solidFill>
                    <a:srgbClr val="000000"/>
                  </a:solidFill>
                  <a:prstDash val="dash"/>
                  <a:headEnd type="none" w="med" len="med"/>
                  <a:tailEnd type="none" w="med" len="med"/>
                </a:ln>
              </p:spPr>
            </p:sp>
            <p:sp>
              <p:nvSpPr>
                <p:cNvPr id="86" name="Line 36">
                  <a:extLst>
                    <a:ext uri="{FF2B5EF4-FFF2-40B4-BE49-F238E27FC236}">
                      <a16:creationId xmlns:a16="http://schemas.microsoft.com/office/drawing/2014/main" id="{D24984EE-78DC-4AD0-90C2-8AA3CCEB4FAE}"/>
                    </a:ext>
                  </a:extLst>
                </p:cNvPr>
                <p:cNvSpPr/>
                <p:nvPr/>
              </p:nvSpPr>
              <p:spPr>
                <a:xfrm flipH="1">
                  <a:off x="1982" y="2694"/>
                  <a:ext cx="0" cy="782"/>
                </a:xfrm>
                <a:prstGeom prst="line">
                  <a:avLst/>
                </a:prstGeom>
                <a:ln w="12700" cap="flat" cmpd="sng">
                  <a:solidFill>
                    <a:srgbClr val="000000"/>
                  </a:solidFill>
                  <a:prstDash val="dash"/>
                  <a:headEnd type="none" w="med" len="med"/>
                  <a:tailEnd type="none" w="med" len="med"/>
                </a:ln>
              </p:spPr>
            </p:sp>
            <p:sp>
              <p:nvSpPr>
                <p:cNvPr id="87" name="Line 37">
                  <a:extLst>
                    <a:ext uri="{FF2B5EF4-FFF2-40B4-BE49-F238E27FC236}">
                      <a16:creationId xmlns:a16="http://schemas.microsoft.com/office/drawing/2014/main" id="{9ABE2051-7AEF-41E9-8E32-0A3334DAC97C}"/>
                    </a:ext>
                  </a:extLst>
                </p:cNvPr>
                <p:cNvSpPr/>
                <p:nvPr/>
              </p:nvSpPr>
              <p:spPr>
                <a:xfrm flipH="1">
                  <a:off x="1387" y="2900"/>
                  <a:ext cx="0" cy="576"/>
                </a:xfrm>
                <a:prstGeom prst="line">
                  <a:avLst/>
                </a:prstGeom>
                <a:ln w="12700" cap="flat" cmpd="sng">
                  <a:solidFill>
                    <a:srgbClr val="000000"/>
                  </a:solidFill>
                  <a:prstDash val="dash"/>
                  <a:headEnd type="none" w="med" len="med"/>
                  <a:tailEnd type="none" w="med" len="med"/>
                </a:ln>
              </p:spPr>
            </p:sp>
            <p:sp>
              <p:nvSpPr>
                <p:cNvPr id="88" name="Line 38">
                  <a:extLst>
                    <a:ext uri="{FF2B5EF4-FFF2-40B4-BE49-F238E27FC236}">
                      <a16:creationId xmlns:a16="http://schemas.microsoft.com/office/drawing/2014/main" id="{D76CE0FD-0D97-40F6-82E0-8ABF6EB14D0D}"/>
                    </a:ext>
                  </a:extLst>
                </p:cNvPr>
                <p:cNvSpPr/>
                <p:nvPr/>
              </p:nvSpPr>
              <p:spPr>
                <a:xfrm flipH="1">
                  <a:off x="2407" y="3188"/>
                  <a:ext cx="0" cy="288"/>
                </a:xfrm>
                <a:prstGeom prst="line">
                  <a:avLst/>
                </a:prstGeom>
                <a:ln w="12700" cap="flat" cmpd="sng">
                  <a:solidFill>
                    <a:srgbClr val="000000"/>
                  </a:solidFill>
                  <a:prstDash val="dash"/>
                  <a:headEnd type="none" w="med" len="med"/>
                  <a:tailEnd type="none" w="med" len="med"/>
                </a:ln>
              </p:spPr>
            </p:sp>
            <mc:AlternateContent xmlns:mc="http://schemas.openxmlformats.org/markup-compatibility/2006" xmlns:a14="http://schemas.microsoft.com/office/drawing/2010/main">
              <mc:Choice Requires="a14">
                <p:sp>
                  <p:nvSpPr>
                    <p:cNvPr id="89" name="Object 39">
                      <a:extLst>
                        <a:ext uri="{FF2B5EF4-FFF2-40B4-BE49-F238E27FC236}">
                          <a16:creationId xmlns:a16="http://schemas.microsoft.com/office/drawing/2014/main" id="{ACE16699-5BCE-4090-9B95-B70C9CAFC8CC}"/>
                        </a:ext>
                      </a:extLst>
                    </p:cNvPr>
                    <p:cNvSpPr txBox="1"/>
                    <p:nvPr/>
                  </p:nvSpPr>
                  <p:spPr>
                    <a:xfrm>
                      <a:off x="595" y="1994"/>
                      <a:ext cx="234" cy="27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𝑝</m:t>
                                </m:r>
                              </m:e>
                              <m:sub>
                                <m:r>
                                  <a:rPr lang="zh-CN" altLang="en-US" sz="2600" b="0" i="1">
                                    <a:solidFill>
                                      <a:srgbClr val="000000"/>
                                    </a:solidFill>
                                    <a:latin typeface="Cambria Math" panose="02040503050406030204" pitchFamily="18" charset="0"/>
                                  </a:rPr>
                                  <m:t>1</m:t>
                                </m:r>
                              </m:sub>
                            </m:sSub>
                          </m:oMath>
                        </m:oMathPara>
                      </a14:m>
                      <a:endParaRPr lang="zh-CN" altLang="en-US" sz="2600">
                        <a:latin typeface="+mn-ea"/>
                      </a:endParaRPr>
                    </a:p>
                  </p:txBody>
                </p:sp>
              </mc:Choice>
              <mc:Fallback xmlns="">
                <p:sp>
                  <p:nvSpPr>
                    <p:cNvPr id="85" name="Object 39">
                      <a:extLst>
                        <a:ext uri="{FF2B5EF4-FFF2-40B4-BE49-F238E27FC236}">
                          <a16:creationId xmlns:a16="http://schemas.microsoft.com/office/drawing/2014/main" id="{714DA03D-7116-E1E0-8E4C-8496B5A09DD6}"/>
                        </a:ext>
                      </a:extLst>
                    </p:cNvPr>
                    <p:cNvSpPr txBox="1">
                      <a:spLocks noRot="1" noChangeAspect="1" noMove="1" noResize="1" noEditPoints="1" noAdjustHandles="1" noChangeArrowheads="1" noChangeShapeType="1" noTextEdit="1"/>
                    </p:cNvSpPr>
                    <p:nvPr/>
                  </p:nvSpPr>
                  <p:spPr>
                    <a:xfrm>
                      <a:off x="595" y="1994"/>
                      <a:ext cx="234" cy="271"/>
                    </a:xfrm>
                    <a:prstGeom prst="rect">
                      <a:avLst/>
                    </a:prstGeom>
                    <a:blipFill>
                      <a:blip r:embed="rId16"/>
                      <a:stretch>
                        <a:fillRect r="-327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Object 40">
                      <a:extLst>
                        <a:ext uri="{FF2B5EF4-FFF2-40B4-BE49-F238E27FC236}">
                          <a16:creationId xmlns:a16="http://schemas.microsoft.com/office/drawing/2014/main" id="{435ABC20-9B7A-44B7-92A2-52072A182E4A}"/>
                        </a:ext>
                      </a:extLst>
                    </p:cNvPr>
                    <p:cNvSpPr txBox="1"/>
                    <p:nvPr/>
                  </p:nvSpPr>
                  <p:spPr>
                    <a:xfrm>
                      <a:off x="569" y="2488"/>
                      <a:ext cx="257" cy="27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𝑝</m:t>
                                </m:r>
                              </m:e>
                              <m:sub>
                                <m:r>
                                  <a:rPr lang="zh-CN" altLang="en-US" sz="2600" b="0" i="1">
                                    <a:solidFill>
                                      <a:srgbClr val="000000"/>
                                    </a:solidFill>
                                    <a:latin typeface="Cambria Math" panose="02040503050406030204" pitchFamily="18" charset="0"/>
                                  </a:rPr>
                                  <m:t>2</m:t>
                                </m:r>
                              </m:sub>
                            </m:sSub>
                          </m:oMath>
                        </m:oMathPara>
                      </a14:m>
                      <a:endParaRPr lang="zh-CN" altLang="en-US" sz="2600">
                        <a:latin typeface="+mn-ea"/>
                      </a:endParaRPr>
                    </a:p>
                  </p:txBody>
                </p:sp>
              </mc:Choice>
              <mc:Fallback xmlns="">
                <p:sp>
                  <p:nvSpPr>
                    <p:cNvPr id="86" name="Object 40">
                      <a:extLst>
                        <a:ext uri="{FF2B5EF4-FFF2-40B4-BE49-F238E27FC236}">
                          <a16:creationId xmlns:a16="http://schemas.microsoft.com/office/drawing/2014/main" id="{432B60AD-41C6-5225-E19D-A80570CDA613}"/>
                        </a:ext>
                      </a:extLst>
                    </p:cNvPr>
                    <p:cNvSpPr txBox="1">
                      <a:spLocks noRot="1" noChangeAspect="1" noMove="1" noResize="1" noEditPoints="1" noAdjustHandles="1" noChangeArrowheads="1" noChangeShapeType="1" noTextEdit="1"/>
                    </p:cNvSpPr>
                    <p:nvPr/>
                  </p:nvSpPr>
                  <p:spPr>
                    <a:xfrm>
                      <a:off x="569" y="2488"/>
                      <a:ext cx="257" cy="271"/>
                    </a:xfrm>
                    <a:prstGeom prst="rect">
                      <a:avLst/>
                    </a:prstGeom>
                    <a:blipFill>
                      <a:blip r:embed="rId17"/>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Object 41">
                      <a:extLst>
                        <a:ext uri="{FF2B5EF4-FFF2-40B4-BE49-F238E27FC236}">
                          <a16:creationId xmlns:a16="http://schemas.microsoft.com/office/drawing/2014/main" id="{913E445C-3AD5-4F5B-A91E-190FF12FCA5B}"/>
                        </a:ext>
                      </a:extLst>
                    </p:cNvPr>
                    <p:cNvSpPr txBox="1"/>
                    <p:nvPr/>
                  </p:nvSpPr>
                  <p:spPr>
                    <a:xfrm>
                      <a:off x="569" y="2735"/>
                      <a:ext cx="257" cy="27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𝑝</m:t>
                                </m:r>
                              </m:e>
                              <m:sub>
                                <m:r>
                                  <a:rPr lang="zh-CN" altLang="en-US" sz="2600" b="0" i="1">
                                    <a:solidFill>
                                      <a:srgbClr val="000000"/>
                                    </a:solidFill>
                                    <a:latin typeface="Cambria Math" panose="02040503050406030204" pitchFamily="18" charset="0"/>
                                  </a:rPr>
                                  <m:t>4</m:t>
                                </m:r>
                              </m:sub>
                            </m:sSub>
                          </m:oMath>
                        </m:oMathPara>
                      </a14:m>
                      <a:endParaRPr lang="zh-CN" altLang="en-US" sz="2600">
                        <a:latin typeface="+mn-ea"/>
                      </a:endParaRPr>
                    </a:p>
                  </p:txBody>
                </p:sp>
              </mc:Choice>
              <mc:Fallback xmlns="">
                <p:sp>
                  <p:nvSpPr>
                    <p:cNvPr id="87" name="Object 41">
                      <a:extLst>
                        <a:ext uri="{FF2B5EF4-FFF2-40B4-BE49-F238E27FC236}">
                          <a16:creationId xmlns:a16="http://schemas.microsoft.com/office/drawing/2014/main" id="{5383A752-E189-44DF-1875-370774D1F343}"/>
                        </a:ext>
                      </a:extLst>
                    </p:cNvPr>
                    <p:cNvSpPr txBox="1">
                      <a:spLocks noRot="1" noChangeAspect="1" noMove="1" noResize="1" noEditPoints="1" noAdjustHandles="1" noChangeArrowheads="1" noChangeShapeType="1" noTextEdit="1"/>
                    </p:cNvSpPr>
                    <p:nvPr/>
                  </p:nvSpPr>
                  <p:spPr>
                    <a:xfrm>
                      <a:off x="569" y="2735"/>
                      <a:ext cx="257" cy="271"/>
                    </a:xfrm>
                    <a:prstGeom prst="rect">
                      <a:avLst/>
                    </a:prstGeom>
                    <a:blipFill>
                      <a:blip r:embed="rId1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Object 42">
                      <a:extLst>
                        <a:ext uri="{FF2B5EF4-FFF2-40B4-BE49-F238E27FC236}">
                          <a16:creationId xmlns:a16="http://schemas.microsoft.com/office/drawing/2014/main" id="{32A1C530-9ED5-46F6-9DE5-D85FF91CEF47}"/>
                        </a:ext>
                      </a:extLst>
                    </p:cNvPr>
                    <p:cNvSpPr txBox="1"/>
                    <p:nvPr/>
                  </p:nvSpPr>
                  <p:spPr>
                    <a:xfrm>
                      <a:off x="574" y="3023"/>
                      <a:ext cx="246" cy="299"/>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𝑝</m:t>
                                </m:r>
                              </m:e>
                              <m:sub>
                                <m:r>
                                  <a:rPr lang="zh-CN" altLang="en-US" sz="2600" b="0" i="1">
                                    <a:solidFill>
                                      <a:srgbClr val="000000"/>
                                    </a:solidFill>
                                    <a:latin typeface="Cambria Math" panose="02040503050406030204" pitchFamily="18" charset="0"/>
                                  </a:rPr>
                                  <m:t>3</m:t>
                                </m:r>
                              </m:sub>
                            </m:sSub>
                          </m:oMath>
                        </m:oMathPara>
                      </a14:m>
                      <a:endParaRPr lang="zh-CN" altLang="en-US" sz="2600">
                        <a:latin typeface="+mn-ea"/>
                      </a:endParaRPr>
                    </a:p>
                  </p:txBody>
                </p:sp>
              </mc:Choice>
              <mc:Fallback xmlns="">
                <p:sp>
                  <p:nvSpPr>
                    <p:cNvPr id="88" name="Object 42">
                      <a:extLst>
                        <a:ext uri="{FF2B5EF4-FFF2-40B4-BE49-F238E27FC236}">
                          <a16:creationId xmlns:a16="http://schemas.microsoft.com/office/drawing/2014/main" id="{6D783D69-9932-F9BD-FCDA-F0235542859C}"/>
                        </a:ext>
                      </a:extLst>
                    </p:cNvPr>
                    <p:cNvSpPr txBox="1">
                      <a:spLocks noRot="1" noChangeAspect="1" noMove="1" noResize="1" noEditPoints="1" noAdjustHandles="1" noChangeArrowheads="1" noChangeShapeType="1" noTextEdit="1"/>
                    </p:cNvSpPr>
                    <p:nvPr/>
                  </p:nvSpPr>
                  <p:spPr>
                    <a:xfrm>
                      <a:off x="574" y="3023"/>
                      <a:ext cx="246" cy="299"/>
                    </a:xfrm>
                    <a:prstGeom prst="rect">
                      <a:avLst/>
                    </a:prstGeom>
                    <a:blipFill>
                      <a:blip r:embed="rId1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Object 43">
                      <a:extLst>
                        <a:ext uri="{FF2B5EF4-FFF2-40B4-BE49-F238E27FC236}">
                          <a16:creationId xmlns:a16="http://schemas.microsoft.com/office/drawing/2014/main" id="{46E43963-0186-4D51-85B0-4AC834E9F44A}"/>
                        </a:ext>
                      </a:extLst>
                    </p:cNvPr>
                    <p:cNvSpPr txBox="1"/>
                    <p:nvPr/>
                  </p:nvSpPr>
                  <p:spPr>
                    <a:xfrm>
                      <a:off x="999" y="3465"/>
                      <a:ext cx="180" cy="247"/>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𝑉</m:t>
                                </m:r>
                              </m:e>
                              <m:sub>
                                <m:r>
                                  <a:rPr lang="zh-CN" altLang="en-US" sz="2600" b="0" i="1">
                                    <a:solidFill>
                                      <a:srgbClr val="000000"/>
                                    </a:solidFill>
                                    <a:latin typeface="Cambria Math" panose="02040503050406030204" pitchFamily="18" charset="0"/>
                                  </a:rPr>
                                  <m:t>1</m:t>
                                </m:r>
                              </m:sub>
                            </m:sSub>
                          </m:oMath>
                        </m:oMathPara>
                      </a14:m>
                      <a:endParaRPr lang="zh-CN" altLang="en-US" sz="2600">
                        <a:latin typeface="+mn-ea"/>
                      </a:endParaRPr>
                    </a:p>
                  </p:txBody>
                </p:sp>
              </mc:Choice>
              <mc:Fallback xmlns="">
                <p:sp>
                  <p:nvSpPr>
                    <p:cNvPr id="89" name="Object 43">
                      <a:extLst>
                        <a:ext uri="{FF2B5EF4-FFF2-40B4-BE49-F238E27FC236}">
                          <a16:creationId xmlns:a16="http://schemas.microsoft.com/office/drawing/2014/main" id="{110A99F6-6372-CA71-97BF-A2F9BA0873FA}"/>
                        </a:ext>
                      </a:extLst>
                    </p:cNvPr>
                    <p:cNvSpPr txBox="1">
                      <a:spLocks noRot="1" noChangeAspect="1" noMove="1" noResize="1" noEditPoints="1" noAdjustHandles="1" noChangeArrowheads="1" noChangeShapeType="1" noTextEdit="1"/>
                    </p:cNvSpPr>
                    <p:nvPr/>
                  </p:nvSpPr>
                  <p:spPr>
                    <a:xfrm>
                      <a:off x="999" y="3465"/>
                      <a:ext cx="180" cy="247"/>
                    </a:xfrm>
                    <a:prstGeom prst="rect">
                      <a:avLst/>
                    </a:prstGeom>
                    <a:blipFill>
                      <a:blip r:embed="rId20"/>
                      <a:stretch>
                        <a:fillRect r="-29787" b="-7813"/>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Object 44">
                      <a:extLst>
                        <a:ext uri="{FF2B5EF4-FFF2-40B4-BE49-F238E27FC236}">
                          <a16:creationId xmlns:a16="http://schemas.microsoft.com/office/drawing/2014/main" id="{D324CF66-8B15-4E7B-AF7D-7B8F42490716}"/>
                        </a:ext>
                      </a:extLst>
                    </p:cNvPr>
                    <p:cNvSpPr txBox="1"/>
                    <p:nvPr/>
                  </p:nvSpPr>
                  <p:spPr>
                    <a:xfrm>
                      <a:off x="1292" y="3476"/>
                      <a:ext cx="200" cy="24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𝑉</m:t>
                                </m:r>
                              </m:e>
                              <m:sub>
                                <m:r>
                                  <a:rPr lang="zh-CN" altLang="en-US" sz="2600" b="0" i="1">
                                    <a:solidFill>
                                      <a:srgbClr val="000000"/>
                                    </a:solidFill>
                                    <a:latin typeface="Cambria Math" panose="02040503050406030204" pitchFamily="18" charset="0"/>
                                  </a:rPr>
                                  <m:t>4</m:t>
                                </m:r>
                              </m:sub>
                            </m:sSub>
                          </m:oMath>
                        </m:oMathPara>
                      </a14:m>
                      <a:endParaRPr lang="zh-CN" altLang="en-US" sz="2600">
                        <a:latin typeface="+mn-ea"/>
                      </a:endParaRPr>
                    </a:p>
                  </p:txBody>
                </p:sp>
              </mc:Choice>
              <mc:Fallback xmlns="">
                <p:sp>
                  <p:nvSpPr>
                    <p:cNvPr id="90" name="Object 44">
                      <a:extLst>
                        <a:ext uri="{FF2B5EF4-FFF2-40B4-BE49-F238E27FC236}">
                          <a16:creationId xmlns:a16="http://schemas.microsoft.com/office/drawing/2014/main" id="{51644FC7-8ED5-E815-0EAD-B03498F6D31B}"/>
                        </a:ext>
                      </a:extLst>
                    </p:cNvPr>
                    <p:cNvSpPr txBox="1">
                      <a:spLocks noRot="1" noChangeAspect="1" noMove="1" noResize="1" noEditPoints="1" noAdjustHandles="1" noChangeArrowheads="1" noChangeShapeType="1" noTextEdit="1"/>
                    </p:cNvSpPr>
                    <p:nvPr/>
                  </p:nvSpPr>
                  <p:spPr>
                    <a:xfrm>
                      <a:off x="1292" y="3476"/>
                      <a:ext cx="200" cy="246"/>
                    </a:xfrm>
                    <a:prstGeom prst="rect">
                      <a:avLst/>
                    </a:prstGeom>
                    <a:blipFill>
                      <a:blip r:embed="rId21"/>
                      <a:stretch>
                        <a:fillRect r="-21154" b="-6154"/>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Object 45">
                      <a:extLst>
                        <a:ext uri="{FF2B5EF4-FFF2-40B4-BE49-F238E27FC236}">
                          <a16:creationId xmlns:a16="http://schemas.microsoft.com/office/drawing/2014/main" id="{EAF5540C-F088-4AA3-8FF2-F65F3B9822CF}"/>
                        </a:ext>
                      </a:extLst>
                    </p:cNvPr>
                    <p:cNvSpPr txBox="1"/>
                    <p:nvPr/>
                  </p:nvSpPr>
                  <p:spPr>
                    <a:xfrm>
                      <a:off x="1887" y="3476"/>
                      <a:ext cx="199" cy="24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𝑉</m:t>
                                </m:r>
                              </m:e>
                              <m:sub>
                                <m:r>
                                  <a:rPr lang="zh-CN" altLang="en-US" sz="2600" b="0" i="1">
                                    <a:solidFill>
                                      <a:srgbClr val="000000"/>
                                    </a:solidFill>
                                    <a:latin typeface="Cambria Math" panose="02040503050406030204" pitchFamily="18" charset="0"/>
                                  </a:rPr>
                                  <m:t>2</m:t>
                                </m:r>
                              </m:sub>
                            </m:sSub>
                          </m:oMath>
                        </m:oMathPara>
                      </a14:m>
                      <a:endParaRPr lang="zh-CN" altLang="en-US" sz="2600">
                        <a:latin typeface="+mn-ea"/>
                      </a:endParaRPr>
                    </a:p>
                  </p:txBody>
                </p:sp>
              </mc:Choice>
              <mc:Fallback xmlns="">
                <p:sp>
                  <p:nvSpPr>
                    <p:cNvPr id="91" name="Object 45">
                      <a:extLst>
                        <a:ext uri="{FF2B5EF4-FFF2-40B4-BE49-F238E27FC236}">
                          <a16:creationId xmlns:a16="http://schemas.microsoft.com/office/drawing/2014/main" id="{197FFA6A-9D54-73C1-5F23-7222ABEC520E}"/>
                        </a:ext>
                      </a:extLst>
                    </p:cNvPr>
                    <p:cNvSpPr txBox="1">
                      <a:spLocks noRot="1" noChangeAspect="1" noMove="1" noResize="1" noEditPoints="1" noAdjustHandles="1" noChangeArrowheads="1" noChangeShapeType="1" noTextEdit="1"/>
                    </p:cNvSpPr>
                    <p:nvPr/>
                  </p:nvSpPr>
                  <p:spPr>
                    <a:xfrm>
                      <a:off x="1887" y="3476"/>
                      <a:ext cx="199" cy="246"/>
                    </a:xfrm>
                    <a:prstGeom prst="rect">
                      <a:avLst/>
                    </a:prstGeom>
                    <a:blipFill>
                      <a:blip r:embed="rId22"/>
                      <a:stretch>
                        <a:fillRect r="-17308" b="-6154"/>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 name="Object 46">
                      <a:extLst>
                        <a:ext uri="{FF2B5EF4-FFF2-40B4-BE49-F238E27FC236}">
                          <a16:creationId xmlns:a16="http://schemas.microsoft.com/office/drawing/2014/main" id="{6753D519-4D9D-4D4E-8AE0-A6C90484820D}"/>
                        </a:ext>
                      </a:extLst>
                    </p:cNvPr>
                    <p:cNvSpPr txBox="1"/>
                    <p:nvPr/>
                  </p:nvSpPr>
                  <p:spPr>
                    <a:xfrm>
                      <a:off x="2335" y="3471"/>
                      <a:ext cx="199" cy="25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𝑉</m:t>
                                </m:r>
                              </m:e>
                              <m:sub>
                                <m:r>
                                  <a:rPr lang="zh-CN" altLang="en-US" sz="2600" b="0" i="1">
                                    <a:solidFill>
                                      <a:srgbClr val="000000"/>
                                    </a:solidFill>
                                    <a:latin typeface="Cambria Math" panose="02040503050406030204" pitchFamily="18" charset="0"/>
                                  </a:rPr>
                                  <m:t>3</m:t>
                                </m:r>
                              </m:sub>
                            </m:sSub>
                          </m:oMath>
                        </m:oMathPara>
                      </a14:m>
                      <a:endParaRPr lang="zh-CN" altLang="en-US" sz="2600">
                        <a:latin typeface="+mn-ea"/>
                      </a:endParaRPr>
                    </a:p>
                  </p:txBody>
                </p:sp>
              </mc:Choice>
              <mc:Fallback xmlns="">
                <p:sp>
                  <p:nvSpPr>
                    <p:cNvPr id="92" name="Object 46">
                      <a:extLst>
                        <a:ext uri="{FF2B5EF4-FFF2-40B4-BE49-F238E27FC236}">
                          <a16:creationId xmlns:a16="http://schemas.microsoft.com/office/drawing/2014/main" id="{259FCC06-7354-88CC-00B3-07B67F2BE93B}"/>
                        </a:ext>
                      </a:extLst>
                    </p:cNvPr>
                    <p:cNvSpPr txBox="1">
                      <a:spLocks noRot="1" noChangeAspect="1" noMove="1" noResize="1" noEditPoints="1" noAdjustHandles="1" noChangeArrowheads="1" noChangeShapeType="1" noTextEdit="1"/>
                    </p:cNvSpPr>
                    <p:nvPr/>
                  </p:nvSpPr>
                  <p:spPr>
                    <a:xfrm>
                      <a:off x="2335" y="3471"/>
                      <a:ext cx="199" cy="256"/>
                    </a:xfrm>
                    <a:prstGeom prst="rect">
                      <a:avLst/>
                    </a:prstGeom>
                    <a:blipFill>
                      <a:blip r:embed="rId23"/>
                      <a:stretch>
                        <a:fillRect r="-19608" b="-2985"/>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8" name="Object 47">
                    <a:extLst>
                      <a:ext uri="{FF2B5EF4-FFF2-40B4-BE49-F238E27FC236}">
                        <a16:creationId xmlns:a16="http://schemas.microsoft.com/office/drawing/2014/main" id="{17F86103-A4C7-4B38-80AA-281A5AF16E59}"/>
                      </a:ext>
                    </a:extLst>
                  </p:cNvPr>
                  <p:cNvSpPr txBox="1"/>
                  <p:nvPr/>
                </p:nvSpPr>
                <p:spPr>
                  <a:xfrm>
                    <a:off x="1913" y="1764"/>
                    <a:ext cx="649" cy="263"/>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𝑇</m:t>
                              </m:r>
                            </m:e>
                            <m:sub>
                              <m:r>
                                <a:rPr lang="zh-CN" altLang="en-US" sz="2600" b="0" i="1">
                                  <a:solidFill>
                                    <a:srgbClr val="000000"/>
                                  </a:solidFill>
                                  <a:latin typeface="Cambria Math" panose="02040503050406030204" pitchFamily="18" charset="0"/>
                                </a:rPr>
                                <m:t>1</m:t>
                              </m:r>
                            </m:sub>
                          </m:sSub>
                          <m:r>
                            <a:rPr lang="zh-CN" altLang="en-US" sz="2600" b="0" i="1">
                              <a:solidFill>
                                <a:srgbClr val="000000"/>
                              </a:solidFill>
                              <a:latin typeface="Cambria Math" panose="02040503050406030204" pitchFamily="18" charset="0"/>
                            </a:rPr>
                            <m:t>&gt;</m:t>
                          </m:r>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𝑇</m:t>
                              </m:r>
                            </m:e>
                            <m:sub>
                              <m:r>
                                <a:rPr lang="zh-CN" altLang="en-US" sz="2600" b="0" i="1">
                                  <a:solidFill>
                                    <a:srgbClr val="000000"/>
                                  </a:solidFill>
                                  <a:latin typeface="Cambria Math" panose="02040503050406030204" pitchFamily="18" charset="0"/>
                                </a:rPr>
                                <m:t>2</m:t>
                              </m:r>
                            </m:sub>
                          </m:sSub>
                        </m:oMath>
                      </m:oMathPara>
                    </a14:m>
                    <a:endParaRPr lang="zh-CN" altLang="en-US" sz="2600">
                      <a:latin typeface="+mn-ea"/>
                    </a:endParaRPr>
                  </a:p>
                </p:txBody>
              </p:sp>
            </mc:Choice>
            <mc:Fallback xmlns="">
              <p:sp>
                <p:nvSpPr>
                  <p:cNvPr id="54" name="Object 47">
                    <a:extLst>
                      <a:ext uri="{FF2B5EF4-FFF2-40B4-BE49-F238E27FC236}">
                        <a16:creationId xmlns:a16="http://schemas.microsoft.com/office/drawing/2014/main" id="{F13D0202-3DB5-54C9-87B3-98285BF9ACA5}"/>
                      </a:ext>
                    </a:extLst>
                  </p:cNvPr>
                  <p:cNvSpPr txBox="1">
                    <a:spLocks noRot="1" noChangeAspect="1" noMove="1" noResize="1" noEditPoints="1" noAdjustHandles="1" noChangeArrowheads="1" noChangeShapeType="1" noTextEdit="1"/>
                  </p:cNvSpPr>
                  <p:nvPr/>
                </p:nvSpPr>
                <p:spPr>
                  <a:xfrm>
                    <a:off x="1913" y="1764"/>
                    <a:ext cx="649" cy="263"/>
                  </a:xfrm>
                  <a:prstGeom prst="rect">
                    <a:avLst/>
                  </a:prstGeom>
                  <a:blipFill>
                    <a:blip r:embed="rId24"/>
                    <a:stretch>
                      <a:fillRect b="-95588"/>
                    </a:stretch>
                  </a:blipFill>
                  <a:ln w="38100">
                    <a:noFill/>
                    <a:miter/>
                  </a:ln>
                </p:spPr>
                <p:txBody>
                  <a:bodyPr/>
                  <a:lstStyle/>
                  <a:p>
                    <a:r>
                      <a:rPr lang="zh-CN" altLang="en-US">
                        <a:noFill/>
                      </a:rPr>
                      <a:t> </a:t>
                    </a:r>
                  </a:p>
                </p:txBody>
              </p:sp>
            </mc:Fallback>
          </mc:AlternateContent>
        </p:grpSp>
        <p:grpSp>
          <p:nvGrpSpPr>
            <p:cNvPr id="51" name="Group 48">
              <a:extLst>
                <a:ext uri="{FF2B5EF4-FFF2-40B4-BE49-F238E27FC236}">
                  <a16:creationId xmlns:a16="http://schemas.microsoft.com/office/drawing/2014/main" id="{AC50852B-488C-4204-8308-68F599533928}"/>
                </a:ext>
              </a:extLst>
            </p:cNvPr>
            <p:cNvGrpSpPr/>
            <p:nvPr/>
          </p:nvGrpSpPr>
          <p:grpSpPr>
            <a:xfrm>
              <a:off x="1338" y="2069"/>
              <a:ext cx="497" cy="487"/>
              <a:chOff x="1392" y="1248"/>
              <a:chExt cx="575" cy="672"/>
            </a:xfrm>
          </p:grpSpPr>
          <mc:AlternateContent xmlns:mc="http://schemas.openxmlformats.org/markup-compatibility/2006" xmlns:a14="http://schemas.microsoft.com/office/drawing/2010/main">
            <mc:Choice Requires="a14">
              <p:sp>
                <p:nvSpPr>
                  <p:cNvPr id="55" name="Object 49">
                    <a:extLst>
                      <a:ext uri="{FF2B5EF4-FFF2-40B4-BE49-F238E27FC236}">
                        <a16:creationId xmlns:a16="http://schemas.microsoft.com/office/drawing/2014/main" id="{1C3682A4-E74D-4741-9958-D40868EA3BD3}"/>
                      </a:ext>
                    </a:extLst>
                  </p:cNvPr>
                  <p:cNvSpPr txBox="1"/>
                  <p:nvPr/>
                </p:nvSpPr>
                <p:spPr>
                  <a:xfrm>
                    <a:off x="1440" y="1248"/>
                    <a:ext cx="527" cy="48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𝑄</m:t>
                              </m:r>
                            </m:e>
                            <m:sub>
                              <m:r>
                                <a:rPr lang="zh-CN" altLang="en-US" sz="2600" b="0" i="1">
                                  <a:solidFill>
                                    <a:srgbClr val="000000"/>
                                  </a:solidFill>
                                  <a:latin typeface="Cambria Math" panose="02040503050406030204" pitchFamily="18" charset="0"/>
                                </a:rPr>
                                <m:t>𝑎𝑏</m:t>
                              </m:r>
                            </m:sub>
                          </m:sSub>
                        </m:oMath>
                      </m:oMathPara>
                    </a14:m>
                    <a:endParaRPr lang="zh-CN" altLang="en-US" sz="2600">
                      <a:latin typeface="+mn-ea"/>
                    </a:endParaRPr>
                  </a:p>
                </p:txBody>
              </p:sp>
            </mc:Choice>
            <mc:Fallback xmlns="">
              <p:sp>
                <p:nvSpPr>
                  <p:cNvPr id="51" name="Object 49">
                    <a:extLst>
                      <a:ext uri="{FF2B5EF4-FFF2-40B4-BE49-F238E27FC236}">
                        <a16:creationId xmlns:a16="http://schemas.microsoft.com/office/drawing/2014/main" id="{781DC0E2-32FB-7CAC-B313-C0780BEA7860}"/>
                      </a:ext>
                    </a:extLst>
                  </p:cNvPr>
                  <p:cNvSpPr txBox="1">
                    <a:spLocks noRot="1" noChangeAspect="1" noMove="1" noResize="1" noEditPoints="1" noAdjustHandles="1" noChangeArrowheads="1" noChangeShapeType="1" noTextEdit="1"/>
                  </p:cNvSpPr>
                  <p:nvPr/>
                </p:nvSpPr>
                <p:spPr>
                  <a:xfrm>
                    <a:off x="1440" y="1248"/>
                    <a:ext cx="527" cy="488"/>
                  </a:xfrm>
                  <a:prstGeom prst="rect">
                    <a:avLst/>
                  </a:prstGeom>
                  <a:blipFill>
                    <a:blip r:embed="rId25"/>
                    <a:stretch>
                      <a:fillRect/>
                    </a:stretch>
                  </a:blipFill>
                  <a:ln w="38100">
                    <a:noFill/>
                    <a:miter/>
                  </a:ln>
                </p:spPr>
                <p:txBody>
                  <a:bodyPr/>
                  <a:lstStyle/>
                  <a:p>
                    <a:r>
                      <a:rPr lang="zh-CN" altLang="en-US">
                        <a:noFill/>
                      </a:rPr>
                      <a:t> </a:t>
                    </a:r>
                  </a:p>
                </p:txBody>
              </p:sp>
            </mc:Fallback>
          </mc:AlternateContent>
          <p:sp>
            <p:nvSpPr>
              <p:cNvPr id="56" name="AutoShape 50">
                <a:extLst>
                  <a:ext uri="{FF2B5EF4-FFF2-40B4-BE49-F238E27FC236}">
                    <a16:creationId xmlns:a16="http://schemas.microsoft.com/office/drawing/2014/main" id="{B6DAE677-07A5-423C-8BE8-22C282139322}"/>
                  </a:ext>
                </a:extLst>
              </p:cNvPr>
              <p:cNvSpPr/>
              <p:nvPr/>
            </p:nvSpPr>
            <p:spPr>
              <a:xfrm>
                <a:off x="1392" y="1536"/>
                <a:ext cx="96" cy="384"/>
              </a:xfrm>
              <a:prstGeom prst="downArrow">
                <a:avLst>
                  <a:gd name="adj1" fmla="val 50000"/>
                  <a:gd name="adj2" fmla="val 100000"/>
                </a:avLst>
              </a:prstGeom>
              <a:solidFill>
                <a:schemeClr val="bg2"/>
              </a:solidFill>
              <a:ln w="28575" cap="flat" cmpd="sng">
                <a:solidFill>
                  <a:srgbClr val="FF0066"/>
                </a:solidFill>
                <a:prstDash val="solid"/>
                <a:miter/>
                <a:headEnd type="none" w="med" len="med"/>
                <a:tailEnd type="none" w="med" len="med"/>
              </a:ln>
            </p:spPr>
            <p:txBody>
              <a:bodyPr wrap="none" anchor="ctr" anchorCtr="0"/>
              <a:lstStyle/>
              <a:p>
                <a:endParaRPr lang="zh-CN" altLang="en-US" sz="2600" dirty="0">
                  <a:latin typeface="+mn-ea"/>
                </a:endParaRPr>
              </a:p>
            </p:txBody>
          </p:sp>
        </p:grpSp>
        <p:grpSp>
          <p:nvGrpSpPr>
            <p:cNvPr id="52" name="Group 51">
              <a:extLst>
                <a:ext uri="{FF2B5EF4-FFF2-40B4-BE49-F238E27FC236}">
                  <a16:creationId xmlns:a16="http://schemas.microsoft.com/office/drawing/2014/main" id="{4EDB63A5-0F9B-4C9F-A93E-EEE862E0FE87}"/>
                </a:ext>
              </a:extLst>
            </p:cNvPr>
            <p:cNvGrpSpPr/>
            <p:nvPr/>
          </p:nvGrpSpPr>
          <p:grpSpPr>
            <a:xfrm>
              <a:off x="1610" y="2958"/>
              <a:ext cx="350" cy="517"/>
              <a:chOff x="1584" y="2352"/>
              <a:chExt cx="540" cy="739"/>
            </a:xfrm>
          </p:grpSpPr>
          <mc:AlternateContent xmlns:mc="http://schemas.openxmlformats.org/markup-compatibility/2006" xmlns:a14="http://schemas.microsoft.com/office/drawing/2010/main">
            <mc:Choice Requires="a14">
              <p:sp>
                <p:nvSpPr>
                  <p:cNvPr id="53" name="Object 52">
                    <a:extLst>
                      <a:ext uri="{FF2B5EF4-FFF2-40B4-BE49-F238E27FC236}">
                        <a16:creationId xmlns:a16="http://schemas.microsoft.com/office/drawing/2014/main" id="{48AF535A-7878-4953-9580-0E803E1F5BBF}"/>
                      </a:ext>
                    </a:extLst>
                  </p:cNvPr>
                  <p:cNvSpPr txBox="1"/>
                  <p:nvPr/>
                </p:nvSpPr>
                <p:spPr>
                  <a:xfrm>
                    <a:off x="1584" y="2592"/>
                    <a:ext cx="540" cy="499"/>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b="0" i="1">
                                  <a:solidFill>
                                    <a:srgbClr val="000000"/>
                                  </a:solidFill>
                                  <a:latin typeface="Cambria Math" panose="02040503050406030204" pitchFamily="18" charset="0"/>
                                </a:rPr>
                                <m:t>𝑄</m:t>
                              </m:r>
                            </m:e>
                            <m:sub>
                              <m:r>
                                <a:rPr lang="zh-CN" altLang="en-US" sz="2600" b="0" i="1">
                                  <a:solidFill>
                                    <a:srgbClr val="000000"/>
                                  </a:solidFill>
                                  <a:latin typeface="Cambria Math" panose="02040503050406030204" pitchFamily="18" charset="0"/>
                                </a:rPr>
                                <m:t>𝑐𝑑</m:t>
                              </m:r>
                            </m:sub>
                          </m:sSub>
                        </m:oMath>
                      </m:oMathPara>
                    </a14:m>
                    <a:endParaRPr lang="zh-CN" altLang="en-US" sz="2600">
                      <a:latin typeface="+mn-ea"/>
                    </a:endParaRPr>
                  </a:p>
                </p:txBody>
              </p:sp>
            </mc:Choice>
            <mc:Fallback xmlns="">
              <p:sp>
                <p:nvSpPr>
                  <p:cNvPr id="49" name="Object 52">
                    <a:extLst>
                      <a:ext uri="{FF2B5EF4-FFF2-40B4-BE49-F238E27FC236}">
                        <a16:creationId xmlns:a16="http://schemas.microsoft.com/office/drawing/2014/main" id="{75B5464C-0ED2-8821-9BAD-6E29D1DE6E9D}"/>
                      </a:ext>
                    </a:extLst>
                  </p:cNvPr>
                  <p:cNvSpPr txBox="1">
                    <a:spLocks noRot="1" noChangeAspect="1" noMove="1" noResize="1" noEditPoints="1" noAdjustHandles="1" noChangeArrowheads="1" noChangeShapeType="1" noTextEdit="1"/>
                  </p:cNvSpPr>
                  <p:nvPr/>
                </p:nvSpPr>
                <p:spPr>
                  <a:xfrm>
                    <a:off x="1584" y="2592"/>
                    <a:ext cx="540" cy="499"/>
                  </a:xfrm>
                  <a:prstGeom prst="rect">
                    <a:avLst/>
                  </a:prstGeom>
                  <a:blipFill>
                    <a:blip r:embed="rId26"/>
                    <a:stretch>
                      <a:fillRect/>
                    </a:stretch>
                  </a:blipFill>
                  <a:ln w="38100">
                    <a:noFill/>
                    <a:miter/>
                  </a:ln>
                </p:spPr>
                <p:txBody>
                  <a:bodyPr/>
                  <a:lstStyle/>
                  <a:p>
                    <a:r>
                      <a:rPr lang="zh-CN" altLang="en-US">
                        <a:noFill/>
                      </a:rPr>
                      <a:t> </a:t>
                    </a:r>
                  </a:p>
                </p:txBody>
              </p:sp>
            </mc:Fallback>
          </mc:AlternateContent>
          <p:sp>
            <p:nvSpPr>
              <p:cNvPr id="54" name="AutoShape 53">
                <a:extLst>
                  <a:ext uri="{FF2B5EF4-FFF2-40B4-BE49-F238E27FC236}">
                    <a16:creationId xmlns:a16="http://schemas.microsoft.com/office/drawing/2014/main" id="{7923F9E4-4012-4FDE-8E71-96B7C1CDBB35}"/>
                  </a:ext>
                </a:extLst>
              </p:cNvPr>
              <p:cNvSpPr/>
              <p:nvPr/>
            </p:nvSpPr>
            <p:spPr>
              <a:xfrm>
                <a:off x="1584" y="2352"/>
                <a:ext cx="96" cy="384"/>
              </a:xfrm>
              <a:prstGeom prst="downArrow">
                <a:avLst>
                  <a:gd name="adj1" fmla="val 50000"/>
                  <a:gd name="adj2" fmla="val 100000"/>
                </a:avLst>
              </a:prstGeom>
              <a:solidFill>
                <a:schemeClr val="accent2"/>
              </a:solidFill>
              <a:ln w="28575" cap="flat" cmpd="sng">
                <a:solidFill>
                  <a:srgbClr val="0066FF"/>
                </a:solidFill>
                <a:prstDash val="solid"/>
                <a:miter/>
                <a:headEnd type="none" w="med" len="med"/>
                <a:tailEnd type="none" w="med" len="med"/>
              </a:ln>
            </p:spPr>
            <p:txBody>
              <a:bodyPr wrap="none" anchor="ctr" anchorCtr="0"/>
              <a:lstStyle/>
              <a:p>
                <a:endParaRPr lang="zh-CN" altLang="en-US" sz="2600" dirty="0">
                  <a:latin typeface="+mn-ea"/>
                </a:endParaRPr>
              </a:p>
            </p:txBody>
          </p:sp>
        </p:grpSp>
      </p:grpSp>
      <mc:AlternateContent xmlns:mc="http://schemas.openxmlformats.org/markup-compatibility/2006" xmlns:a14="http://schemas.microsoft.com/office/drawing/2010/main">
        <mc:Choice Requires="a14">
          <p:sp>
            <p:nvSpPr>
              <p:cNvPr id="97" name="Object 2">
                <a:extLst>
                  <a:ext uri="{FF2B5EF4-FFF2-40B4-BE49-F238E27FC236}">
                    <a16:creationId xmlns:a16="http://schemas.microsoft.com/office/drawing/2014/main" id="{5F1B3DAE-CA9B-4216-AF8B-18E8D91FABF2}"/>
                  </a:ext>
                </a:extLst>
              </p:cNvPr>
              <p:cNvSpPr txBox="1">
                <a:spLocks/>
              </p:cNvSpPr>
              <p:nvPr/>
            </p:nvSpPr>
            <p:spPr>
              <a:xfrm>
                <a:off x="7439859" y="5120427"/>
                <a:ext cx="2856797" cy="1002544"/>
              </a:xfrm>
              <a:prstGeom prst="rect">
                <a:avLst/>
              </a:prstGeom>
              <a:noFill/>
              <a:ln w="38100">
                <a:miter/>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𝜂</m:t>
                      </m:r>
                      <m:r>
                        <a:rPr lang="zh-CN" altLang="en-US" i="1" smtClean="0">
                          <a:solidFill>
                            <a:srgbClr val="000000"/>
                          </a:solidFill>
                          <a:latin typeface="Cambria Math" panose="02040503050406030204" pitchFamily="18" charset="0"/>
                        </a:rPr>
                        <m:t>=1−</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2</m:t>
                              </m:r>
                            </m:sub>
                          </m:sSub>
                        </m:num>
                        <m:den>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1</m:t>
                              </m:r>
                            </m:sub>
                          </m:sSub>
                        </m:den>
                      </m:f>
                    </m:oMath>
                  </m:oMathPara>
                </a14:m>
                <a:endParaRPr lang="zh-CN" altLang="en-US" dirty="0"/>
              </a:p>
            </p:txBody>
          </p:sp>
        </mc:Choice>
        <mc:Fallback xmlns="">
          <p:sp>
            <p:nvSpPr>
              <p:cNvPr id="97" name="Object 2">
                <a:extLst>
                  <a:ext uri="{FF2B5EF4-FFF2-40B4-BE49-F238E27FC236}">
                    <a16:creationId xmlns:a16="http://schemas.microsoft.com/office/drawing/2014/main" id="{5F1B3DAE-CA9B-4216-AF8B-18E8D91FABF2}"/>
                  </a:ext>
                </a:extLst>
              </p:cNvPr>
              <p:cNvSpPr txBox="1">
                <a:spLocks noRot="1" noChangeAspect="1" noMove="1" noResize="1" noEditPoints="1" noAdjustHandles="1" noChangeArrowheads="1" noChangeShapeType="1" noTextEdit="1"/>
              </p:cNvSpPr>
              <p:nvPr/>
            </p:nvSpPr>
            <p:spPr>
              <a:xfrm>
                <a:off x="7439859" y="5120427"/>
                <a:ext cx="2856797" cy="1002544"/>
              </a:xfrm>
              <a:prstGeom prst="rect">
                <a:avLst/>
              </a:prstGeom>
              <a:blipFill>
                <a:blip r:embed="rId27"/>
                <a:stretch>
                  <a:fillRect/>
                </a:stretch>
              </a:blipFill>
              <a:ln w="38100">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7E49D0BF-719D-412A-A13A-45A837DEF103}"/>
                  </a:ext>
                </a:extLst>
              </p:cNvPr>
              <p:cNvSpPr txBox="1"/>
              <p:nvPr/>
            </p:nvSpPr>
            <p:spPr>
              <a:xfrm>
                <a:off x="9258063" y="4937893"/>
                <a:ext cx="2045770" cy="10948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200" b="1" i="1" smtClean="0">
                          <a:solidFill>
                            <a:srgbClr val="FF0000"/>
                          </a:solidFill>
                          <a:latin typeface="Cambria Math" panose="02040503050406030204" pitchFamily="18" charset="0"/>
                        </a:rPr>
                        <m:t>=</m:t>
                      </m:r>
                      <m:r>
                        <a:rPr lang="zh-CN" altLang="en-US" sz="3200" b="1" i="1" smtClean="0">
                          <a:solidFill>
                            <a:srgbClr val="FF0000"/>
                          </a:solidFill>
                          <a:latin typeface="Cambria Math" panose="02040503050406030204" pitchFamily="18" charset="0"/>
                        </a:rPr>
                        <m:t>𝟏</m:t>
                      </m:r>
                      <m:r>
                        <a:rPr lang="zh-CN" altLang="en-US" sz="3200" b="1" i="1" smtClean="0">
                          <a:solidFill>
                            <a:srgbClr val="FF0000"/>
                          </a:solidFill>
                          <a:latin typeface="Cambria Math" panose="02040503050406030204" pitchFamily="18" charset="0"/>
                        </a:rPr>
                        <m:t>−</m:t>
                      </m:r>
                      <m:f>
                        <m:fPr>
                          <m:ctrlPr>
                            <a:rPr lang="zh-CN" altLang="en-US" sz="3200" b="1" i="1">
                              <a:solidFill>
                                <a:srgbClr val="FF0000"/>
                              </a:solidFill>
                              <a:latin typeface="Cambria Math" panose="02040503050406030204" pitchFamily="18" charset="0"/>
                            </a:rPr>
                          </m:ctrlPr>
                        </m:fPr>
                        <m:num>
                          <m:sSub>
                            <m:sSubPr>
                              <m:ctrlPr>
                                <a:rPr lang="zh-CN" altLang="en-US" sz="3200" b="1" i="1">
                                  <a:solidFill>
                                    <a:srgbClr val="FF0000"/>
                                  </a:solidFill>
                                  <a:latin typeface="Cambria Math" panose="02040503050406030204" pitchFamily="18" charset="0"/>
                                </a:rPr>
                              </m:ctrlPr>
                            </m:sSubPr>
                            <m:e>
                              <m:r>
                                <a:rPr lang="zh-CN" altLang="en-US" sz="3200" b="1" i="1">
                                  <a:solidFill>
                                    <a:srgbClr val="FF0000"/>
                                  </a:solidFill>
                                  <a:latin typeface="Cambria Math" panose="02040503050406030204" pitchFamily="18" charset="0"/>
                                </a:rPr>
                                <m:t>𝑻</m:t>
                              </m:r>
                            </m:e>
                            <m:sub>
                              <m:r>
                                <a:rPr lang="zh-CN" altLang="en-US" sz="3200" b="1" i="1">
                                  <a:solidFill>
                                    <a:srgbClr val="FF0000"/>
                                  </a:solidFill>
                                  <a:latin typeface="Cambria Math" panose="02040503050406030204" pitchFamily="18" charset="0"/>
                                </a:rPr>
                                <m:t>𝟐</m:t>
                              </m:r>
                            </m:sub>
                          </m:sSub>
                        </m:num>
                        <m:den>
                          <m:sSub>
                            <m:sSubPr>
                              <m:ctrlPr>
                                <a:rPr lang="zh-CN" altLang="en-US" sz="3200" b="1" i="1">
                                  <a:solidFill>
                                    <a:srgbClr val="FF0000"/>
                                  </a:solidFill>
                                  <a:latin typeface="Cambria Math" panose="02040503050406030204" pitchFamily="18" charset="0"/>
                                </a:rPr>
                              </m:ctrlPr>
                            </m:sSubPr>
                            <m:e>
                              <m:r>
                                <a:rPr lang="zh-CN" altLang="en-US" sz="3200" b="1" i="1">
                                  <a:solidFill>
                                    <a:srgbClr val="FF0000"/>
                                  </a:solidFill>
                                  <a:latin typeface="Cambria Math" panose="02040503050406030204" pitchFamily="18" charset="0"/>
                                </a:rPr>
                                <m:t>𝑻</m:t>
                              </m:r>
                            </m:e>
                            <m:sub>
                              <m:r>
                                <a:rPr lang="zh-CN" altLang="en-US" sz="3200" b="1" i="1">
                                  <a:solidFill>
                                    <a:srgbClr val="FF0000"/>
                                  </a:solidFill>
                                  <a:latin typeface="Cambria Math" panose="02040503050406030204" pitchFamily="18" charset="0"/>
                                </a:rPr>
                                <m:t>𝟏</m:t>
                              </m:r>
                            </m:sub>
                          </m:sSub>
                        </m:den>
                      </m:f>
                    </m:oMath>
                  </m:oMathPara>
                </a14:m>
                <a:endParaRPr lang="zh-CN" altLang="en-US" sz="3200" b="1" dirty="0">
                  <a:solidFill>
                    <a:srgbClr val="FF0000"/>
                  </a:solidFill>
                </a:endParaRPr>
              </a:p>
            </p:txBody>
          </p:sp>
        </mc:Choice>
        <mc:Fallback xmlns="">
          <p:sp>
            <p:nvSpPr>
              <p:cNvPr id="98" name="文本框 97">
                <a:extLst>
                  <a:ext uri="{FF2B5EF4-FFF2-40B4-BE49-F238E27FC236}">
                    <a16:creationId xmlns:a16="http://schemas.microsoft.com/office/drawing/2014/main" id="{7E49D0BF-719D-412A-A13A-45A837DEF103}"/>
                  </a:ext>
                </a:extLst>
              </p:cNvPr>
              <p:cNvSpPr txBox="1">
                <a:spLocks noRot="1" noChangeAspect="1" noMove="1" noResize="1" noEditPoints="1" noAdjustHandles="1" noChangeArrowheads="1" noChangeShapeType="1" noTextEdit="1"/>
              </p:cNvSpPr>
              <p:nvPr/>
            </p:nvSpPr>
            <p:spPr>
              <a:xfrm>
                <a:off x="9258063" y="4937893"/>
                <a:ext cx="2045770" cy="1094852"/>
              </a:xfrm>
              <a:prstGeom prst="rect">
                <a:avLst/>
              </a:prstGeom>
              <a:blipFill>
                <a:blip r:embed="rId28"/>
                <a:stretch>
                  <a:fillRect/>
                </a:stretch>
              </a:blipFill>
            </p:spPr>
            <p:txBody>
              <a:bodyPr/>
              <a:lstStyle/>
              <a:p>
                <a:r>
                  <a:rPr 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97" grpId="0" animBg="1"/>
      <p:bldP spid="9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77A3C-453E-4452-2089-5B46F8A574B7}"/>
            </a:ext>
          </a:extLst>
        </p:cNvPr>
        <p:cNvGrpSpPr/>
        <p:nvPr/>
      </p:nvGrpSpPr>
      <p:grpSpPr>
        <a:xfrm>
          <a:off x="0" y="0"/>
          <a:ext cx="0" cy="0"/>
          <a:chOff x="0" y="0"/>
          <a:chExt cx="0" cy="0"/>
        </a:xfrm>
      </p:grpSpPr>
      <p:grpSp>
        <p:nvGrpSpPr>
          <p:cNvPr id="7183" name="Group 3">
            <a:extLst>
              <a:ext uri="{FF2B5EF4-FFF2-40B4-BE49-F238E27FC236}">
                <a16:creationId xmlns:a16="http://schemas.microsoft.com/office/drawing/2014/main" id="{17468B19-BB62-275C-B871-7434CF4315AC}"/>
              </a:ext>
            </a:extLst>
          </p:cNvPr>
          <p:cNvGrpSpPr/>
          <p:nvPr/>
        </p:nvGrpSpPr>
        <p:grpSpPr>
          <a:xfrm>
            <a:off x="1206502" y="2612229"/>
            <a:ext cx="1981200" cy="1219200"/>
            <a:chOff x="1248" y="864"/>
            <a:chExt cx="1248" cy="768"/>
          </a:xfrm>
        </p:grpSpPr>
        <p:sp>
          <p:nvSpPr>
            <p:cNvPr id="7213" name="Freeform 4" descr="浅色下对角线">
              <a:extLst>
                <a:ext uri="{FF2B5EF4-FFF2-40B4-BE49-F238E27FC236}">
                  <a16:creationId xmlns:a16="http://schemas.microsoft.com/office/drawing/2014/main" id="{6290C681-900E-3EFD-7DA3-BEF133E2B6B1}"/>
                </a:ext>
              </a:extLst>
            </p:cNvPr>
            <p:cNvSpPr/>
            <p:nvPr/>
          </p:nvSpPr>
          <p:spPr>
            <a:xfrm>
              <a:off x="1248" y="864"/>
              <a:ext cx="1248" cy="768"/>
            </a:xfrm>
            <a:custGeom>
              <a:avLst/>
              <a:gdLst>
                <a:gd name="txL" fmla="*/ 0 w 1248"/>
                <a:gd name="txT" fmla="*/ 0 h 768"/>
                <a:gd name="txR" fmla="*/ 1248 w 1248"/>
                <a:gd name="txB" fmla="*/ 768 h 768"/>
              </a:gdLst>
              <a:ahLst/>
              <a:cxnLst>
                <a:cxn ang="0">
                  <a:pos x="0" y="0"/>
                </a:cxn>
                <a:cxn ang="0">
                  <a:pos x="250" y="0"/>
                </a:cxn>
                <a:cxn ang="0">
                  <a:pos x="624" y="96"/>
                </a:cxn>
                <a:cxn ang="0">
                  <a:pos x="957" y="288"/>
                </a:cxn>
                <a:cxn ang="0">
                  <a:pos x="1118" y="446"/>
                </a:cxn>
                <a:cxn ang="0">
                  <a:pos x="1206" y="624"/>
                </a:cxn>
                <a:cxn ang="0">
                  <a:pos x="1248" y="768"/>
                </a:cxn>
                <a:cxn ang="0">
                  <a:pos x="1040" y="768"/>
                </a:cxn>
                <a:cxn ang="0">
                  <a:pos x="790" y="720"/>
                </a:cxn>
                <a:cxn ang="0">
                  <a:pos x="582" y="624"/>
                </a:cxn>
                <a:cxn ang="0">
                  <a:pos x="374" y="528"/>
                </a:cxn>
                <a:cxn ang="0">
                  <a:pos x="250" y="432"/>
                </a:cxn>
                <a:cxn ang="0">
                  <a:pos x="166" y="336"/>
                </a:cxn>
                <a:cxn ang="0">
                  <a:pos x="62" y="206"/>
                </a:cxn>
                <a:cxn ang="0">
                  <a:pos x="27" y="103"/>
                </a:cxn>
                <a:cxn ang="0">
                  <a:pos x="0" y="0"/>
                </a:cxn>
              </a:cxnLst>
              <a:rect l="txL" t="txT" r="txR" b="txB"/>
              <a:pathLst>
                <a:path w="1248" h="768">
                  <a:moveTo>
                    <a:pt x="0" y="0"/>
                  </a:moveTo>
                  <a:lnTo>
                    <a:pt x="250" y="0"/>
                  </a:lnTo>
                  <a:lnTo>
                    <a:pt x="624" y="96"/>
                  </a:lnTo>
                  <a:lnTo>
                    <a:pt x="957" y="288"/>
                  </a:lnTo>
                  <a:lnTo>
                    <a:pt x="1118" y="446"/>
                  </a:lnTo>
                  <a:lnTo>
                    <a:pt x="1206" y="624"/>
                  </a:lnTo>
                  <a:lnTo>
                    <a:pt x="1248" y="768"/>
                  </a:lnTo>
                  <a:lnTo>
                    <a:pt x="1040" y="768"/>
                  </a:lnTo>
                  <a:lnTo>
                    <a:pt x="790" y="720"/>
                  </a:lnTo>
                  <a:lnTo>
                    <a:pt x="582" y="624"/>
                  </a:lnTo>
                  <a:lnTo>
                    <a:pt x="374" y="528"/>
                  </a:lnTo>
                  <a:lnTo>
                    <a:pt x="250" y="432"/>
                  </a:lnTo>
                  <a:lnTo>
                    <a:pt x="166" y="336"/>
                  </a:lnTo>
                  <a:lnTo>
                    <a:pt x="62" y="206"/>
                  </a:lnTo>
                  <a:lnTo>
                    <a:pt x="27" y="103"/>
                  </a:lnTo>
                  <a:lnTo>
                    <a:pt x="0" y="0"/>
                  </a:lnTo>
                  <a:close/>
                </a:path>
              </a:pathLst>
            </a:custGeom>
            <a:pattFill prst="ltDnDiag">
              <a:fgClr>
                <a:srgbClr val="0066FF">
                  <a:alpha val="100000"/>
                </a:srgbClr>
              </a:fgClr>
              <a:bgClr>
                <a:schemeClr val="bg1">
                  <a:alpha val="100000"/>
                </a:schemeClr>
              </a:bgClr>
            </a:pattFill>
            <a:ln w="9525">
              <a:noFill/>
            </a:ln>
          </p:spPr>
          <p:txBody>
            <a:bodyPr/>
            <a:lstStyle/>
            <a:p>
              <a:endParaRPr lang="zh-CN" altLang="en-US" sz="2800"/>
            </a:p>
          </p:txBody>
        </p:sp>
        <mc:AlternateContent xmlns:mc="http://schemas.openxmlformats.org/markup-compatibility/2006" xmlns:a14="http://schemas.microsoft.com/office/drawing/2010/main">
          <mc:Choice Requires="a14">
            <p:sp>
              <p:nvSpPr>
                <p:cNvPr id="7181" name="Object 5">
                  <a:extLst>
                    <a:ext uri="{FF2B5EF4-FFF2-40B4-BE49-F238E27FC236}">
                      <a16:creationId xmlns:a16="http://schemas.microsoft.com/office/drawing/2014/main" id="{FB80CC9B-0F70-AA24-D527-159E55897592}"/>
                    </a:ext>
                  </a:extLst>
                </p:cNvPr>
                <p:cNvSpPr txBox="1"/>
                <p:nvPr/>
              </p:nvSpPr>
              <p:spPr>
                <a:xfrm>
                  <a:off x="1776" y="1104"/>
                  <a:ext cx="288" cy="261"/>
                </a:xfrm>
                <a:prstGeom prst="rect">
                  <a:avLst/>
                </a:prstGeom>
                <a:noFill/>
                <a:ln w="38100">
                  <a:noFill/>
                  <a:miter/>
                </a:ln>
              </p:spPr>
              <p:txBody>
                <a:bodyPr>
                  <a:normAutofit fontScale="70000" lnSpcReduction="20000"/>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𝑊</m:t>
                        </m:r>
                      </m:oMath>
                    </m:oMathPara>
                  </a14:m>
                  <a:endParaRPr lang="zh-CN" altLang="en-US" sz="2800"/>
                </a:p>
              </p:txBody>
            </p:sp>
          </mc:Choice>
          <mc:Fallback xmlns="">
            <p:sp>
              <p:nvSpPr>
                <p:cNvPr id="7181" name="Object 5"/>
                <p:cNvSpPr txBox="1">
                  <a:spLocks noRot="1" noChangeAspect="1" noMove="1" noResize="1" noEditPoints="1" noAdjustHandles="1" noChangeArrowheads="1" noChangeShapeType="1" noTextEdit="1"/>
                </p:cNvSpPr>
                <p:nvPr/>
              </p:nvSpPr>
              <p:spPr>
                <a:xfrm>
                  <a:off x="1776" y="1104"/>
                  <a:ext cx="288" cy="261"/>
                </a:xfrm>
                <a:prstGeom prst="rect">
                  <a:avLst/>
                </a:prstGeom>
                <a:blipFill>
                  <a:blip r:embed="rId2"/>
                  <a:stretch>
                    <a:fillRect/>
                  </a:stretch>
                </a:blipFill>
                <a:ln w="38100">
                  <a:noFill/>
                  <a:miter/>
                </a:ln>
              </p:spPr>
              <p:txBody>
                <a:bodyPr/>
                <a:lstStyle/>
                <a:p>
                  <a:r>
                    <a:rPr lang="zh-CN" altLang="en-US">
                      <a:noFill/>
                    </a:rPr>
                    <a:t> </a:t>
                  </a:r>
                </a:p>
              </p:txBody>
            </p:sp>
          </mc:Fallback>
        </mc:AlternateContent>
      </p:grpSp>
      <p:grpSp>
        <p:nvGrpSpPr>
          <p:cNvPr id="3" name="Group 6">
            <a:extLst>
              <a:ext uri="{FF2B5EF4-FFF2-40B4-BE49-F238E27FC236}">
                <a16:creationId xmlns:a16="http://schemas.microsoft.com/office/drawing/2014/main" id="{CE687D0B-053C-7990-2CBA-95BCA57B638C}"/>
              </a:ext>
            </a:extLst>
          </p:cNvPr>
          <p:cNvGrpSpPr/>
          <p:nvPr/>
        </p:nvGrpSpPr>
        <p:grpSpPr>
          <a:xfrm>
            <a:off x="2197102" y="5447507"/>
            <a:ext cx="7029450" cy="1179513"/>
            <a:chOff x="368" y="3733"/>
            <a:chExt cx="4428" cy="743"/>
          </a:xfrm>
          <a:noFill/>
        </p:grpSpPr>
        <p:sp>
          <p:nvSpPr>
            <p:cNvPr id="7212" name="Text Box 7">
              <a:extLst>
                <a:ext uri="{FF2B5EF4-FFF2-40B4-BE49-F238E27FC236}">
                  <a16:creationId xmlns:a16="http://schemas.microsoft.com/office/drawing/2014/main" id="{C613D7B1-186D-B610-AE1F-5B9DF32A14D9}"/>
                </a:ext>
              </a:extLst>
            </p:cNvPr>
            <p:cNvSpPr txBox="1"/>
            <p:nvPr/>
          </p:nvSpPr>
          <p:spPr>
            <a:xfrm>
              <a:off x="368" y="3921"/>
              <a:ext cx="2496" cy="330"/>
            </a:xfrm>
            <a:prstGeom prst="rect">
              <a:avLst/>
            </a:prstGeom>
            <a:grpFill/>
            <a:ln w="19050">
              <a:noFill/>
            </a:ln>
          </p:spPr>
          <p:txBody>
            <a:bodyPr>
              <a:spAutoFit/>
            </a:bodyPr>
            <a:lstStyle/>
            <a:p>
              <a:pPr>
                <a:spcBef>
                  <a:spcPct val="50000"/>
                </a:spcBef>
              </a:pPr>
              <a:r>
                <a:rPr lang="zh-CN" altLang="en-US" sz="2800" dirty="0">
                  <a:solidFill>
                    <a:srgbClr val="1C1C1C"/>
                  </a:solidFill>
                  <a:latin typeface="Times New Roman" panose="02020603050405020304" pitchFamily="18" charset="0"/>
                </a:rPr>
                <a:t>制</a:t>
              </a:r>
              <a:r>
                <a:rPr lang="zh-CN" altLang="en-US" sz="2800" dirty="0">
                  <a:solidFill>
                    <a:srgbClr val="010000"/>
                  </a:solidFill>
                  <a:latin typeface="Times New Roman" panose="02020603050405020304" pitchFamily="18" charset="0"/>
                </a:rPr>
                <a:t>冷机</a:t>
              </a:r>
              <a:r>
                <a:rPr lang="zh-CN" altLang="en-US" sz="2800" dirty="0">
                  <a:solidFill>
                    <a:srgbClr val="1C1C1C"/>
                  </a:solidFill>
                  <a:latin typeface="Times New Roman" panose="02020603050405020304" pitchFamily="18" charset="0"/>
                </a:rPr>
                <a:t>制</a:t>
              </a:r>
              <a:r>
                <a:rPr lang="zh-CN" altLang="en-US" sz="2800" dirty="0">
                  <a:solidFill>
                    <a:srgbClr val="010000"/>
                  </a:solidFill>
                  <a:latin typeface="Times New Roman" panose="02020603050405020304" pitchFamily="18" charset="0"/>
                </a:rPr>
                <a:t>冷系数</a:t>
              </a:r>
            </a:p>
          </p:txBody>
        </p:sp>
        <mc:AlternateContent xmlns:mc="http://schemas.openxmlformats.org/markup-compatibility/2006" xmlns:a14="http://schemas.microsoft.com/office/drawing/2010/main">
          <mc:Choice Requires="a14">
            <p:sp>
              <p:nvSpPr>
                <p:cNvPr id="7180" name="Object 8">
                  <a:extLst>
                    <a:ext uri="{FF2B5EF4-FFF2-40B4-BE49-F238E27FC236}">
                      <a16:creationId xmlns:a16="http://schemas.microsoft.com/office/drawing/2014/main" id="{7766AFD6-39F4-131E-4395-1A2FAB69FF7A}"/>
                    </a:ext>
                  </a:extLst>
                </p:cNvPr>
                <p:cNvSpPr txBox="1"/>
                <p:nvPr/>
              </p:nvSpPr>
              <p:spPr>
                <a:xfrm>
                  <a:off x="2284" y="3733"/>
                  <a:ext cx="2512" cy="743"/>
                </a:xfrm>
                <a:prstGeom prst="rect">
                  <a:avLst/>
                </a:prstGeom>
                <a:grpFill/>
                <a:ln w="12700" cap="flat" cmpd="sng">
                  <a:noFill/>
                  <a:prstDash val="solid"/>
                  <a:miter/>
                  <a:headEnd type="none" w="med" len="med"/>
                  <a:tailEnd type="none" w="med" len="med"/>
                </a:ln>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𝑒</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d>
                              <m:dPr>
                                <m:begChr m:val="|"/>
                                <m:endChr m:val="|"/>
                                <m:ctrlPr>
                                  <a:rPr lang="zh-CN" altLang="en-US" sz="2800" i="1">
                                    <a:solidFill>
                                      <a:srgbClr val="000000"/>
                                    </a:solidFill>
                                    <a:latin typeface="Cambria Math" panose="02040503050406030204" pitchFamily="18" charset="0"/>
                                  </a:rPr>
                                </m:ctrlPr>
                              </m:dPr>
                              <m:e>
                                <m:r>
                                  <a:rPr lang="zh-CN" altLang="en-US" sz="2800" i="1">
                                    <a:solidFill>
                                      <a:srgbClr val="000000"/>
                                    </a:solidFill>
                                    <a:latin typeface="Cambria Math" panose="02040503050406030204" pitchFamily="18" charset="0"/>
                                  </a:rPr>
                                  <m:t>𝐴</m:t>
                                </m:r>
                              </m:e>
                            </m:d>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den>
                        </m:f>
                      </m:oMath>
                    </m:oMathPara>
                  </a14:m>
                  <a:endParaRPr lang="zh-CN" altLang="en-US" sz="2800"/>
                </a:p>
              </p:txBody>
            </p:sp>
          </mc:Choice>
          <mc:Fallback xmlns="">
            <p:sp>
              <p:nvSpPr>
                <p:cNvPr id="7180" name="Object 8"/>
                <p:cNvSpPr txBox="1">
                  <a:spLocks noRot="1" noChangeAspect="1" noMove="1" noResize="1" noEditPoints="1" noAdjustHandles="1" noChangeArrowheads="1" noChangeShapeType="1" noTextEdit="1"/>
                </p:cNvSpPr>
                <p:nvPr/>
              </p:nvSpPr>
              <p:spPr>
                <a:xfrm>
                  <a:off x="2284" y="3733"/>
                  <a:ext cx="2512" cy="743"/>
                </a:xfrm>
                <a:prstGeom prst="rect">
                  <a:avLst/>
                </a:prstGeom>
                <a:blipFill>
                  <a:blip r:embed="rId3"/>
                  <a:stretch>
                    <a:fillRect/>
                  </a:stretch>
                </a:blipFill>
                <a:ln w="12700" cap="flat" cmpd="sng">
                  <a:noFill/>
                  <a:prstDash val="solid"/>
                  <a:miter/>
                  <a:headEnd type="none" w="med" len="med"/>
                  <a:tailEnd type="none" w="med" len="med"/>
                </a:ln>
              </p:spPr>
              <p:txBody>
                <a:bodyPr/>
                <a:lstStyle/>
                <a:p>
                  <a:r>
                    <a:rPr lang="zh-CN" altLang="en-US">
                      <a:noFill/>
                    </a:rPr>
                    <a:t> </a:t>
                  </a:r>
                </a:p>
              </p:txBody>
            </p:sp>
          </mc:Fallback>
        </mc:AlternateContent>
      </p:grpSp>
      <p:grpSp>
        <p:nvGrpSpPr>
          <p:cNvPr id="7186" name="Group 10">
            <a:extLst>
              <a:ext uri="{FF2B5EF4-FFF2-40B4-BE49-F238E27FC236}">
                <a16:creationId xmlns:a16="http://schemas.microsoft.com/office/drawing/2014/main" id="{F50F969F-F54D-E16A-E664-4D2FFF062819}"/>
              </a:ext>
            </a:extLst>
          </p:cNvPr>
          <p:cNvGrpSpPr/>
          <p:nvPr/>
        </p:nvGrpSpPr>
        <p:grpSpPr>
          <a:xfrm>
            <a:off x="8927307" y="2630018"/>
            <a:ext cx="1981200" cy="781050"/>
            <a:chOff x="3552" y="1323"/>
            <a:chExt cx="1248" cy="492"/>
          </a:xfrm>
        </p:grpSpPr>
        <p:sp>
          <p:nvSpPr>
            <p:cNvPr id="7210" name="Oval 11">
              <a:extLst>
                <a:ext uri="{FF2B5EF4-FFF2-40B4-BE49-F238E27FC236}">
                  <a16:creationId xmlns:a16="http://schemas.microsoft.com/office/drawing/2014/main" id="{F162D84B-3036-F183-5B25-44F248A8F025}"/>
                </a:ext>
              </a:extLst>
            </p:cNvPr>
            <p:cNvSpPr/>
            <p:nvPr/>
          </p:nvSpPr>
          <p:spPr>
            <a:xfrm>
              <a:off x="3552" y="1323"/>
              <a:ext cx="1008" cy="492"/>
            </a:xfrm>
            <a:prstGeom prst="ellipse">
              <a:avLst/>
            </a:prstGeom>
            <a:solidFill>
              <a:schemeClr val="accent1"/>
            </a:solidFill>
            <a:ln w="19050" cap="flat" cmpd="sng">
              <a:solidFill>
                <a:schemeClr val="tx1"/>
              </a:solidFill>
              <a:prstDash val="solid"/>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7211" name="Text Box 12">
              <a:extLst>
                <a:ext uri="{FF2B5EF4-FFF2-40B4-BE49-F238E27FC236}">
                  <a16:creationId xmlns:a16="http://schemas.microsoft.com/office/drawing/2014/main" id="{C6B6378A-E2CF-EAA2-C637-9F4B09885439}"/>
                </a:ext>
              </a:extLst>
            </p:cNvPr>
            <p:cNvSpPr txBox="1"/>
            <p:nvPr/>
          </p:nvSpPr>
          <p:spPr>
            <a:xfrm>
              <a:off x="3648" y="1391"/>
              <a:ext cx="1152" cy="330"/>
            </a:xfrm>
            <a:prstGeom prst="rect">
              <a:avLst/>
            </a:prstGeom>
            <a:noFill/>
            <a:ln w="9525">
              <a:noFill/>
            </a:ln>
          </p:spPr>
          <p:txBody>
            <a:bodyPr>
              <a:spAutoFit/>
            </a:bodyPr>
            <a:lstStyle/>
            <a:p>
              <a:pPr>
                <a:spcBef>
                  <a:spcPct val="50000"/>
                </a:spcBef>
              </a:pPr>
              <a:r>
                <a:rPr lang="zh-CN" altLang="en-US" sz="2800" dirty="0">
                  <a:solidFill>
                    <a:srgbClr val="1C1C1C"/>
                  </a:solidFill>
                  <a:latin typeface="Times New Roman" panose="02020603050405020304" pitchFamily="18" charset="0"/>
                </a:rPr>
                <a:t>制冷</a:t>
              </a:r>
              <a:r>
                <a:rPr lang="zh-CN" altLang="en-US" sz="2800" dirty="0">
                  <a:solidFill>
                    <a:srgbClr val="333333"/>
                  </a:solidFill>
                  <a:latin typeface="Times New Roman" panose="02020603050405020304" pitchFamily="18" charset="0"/>
                </a:rPr>
                <a:t>机</a:t>
              </a:r>
            </a:p>
          </p:txBody>
        </p:sp>
      </p:grpSp>
      <p:grpSp>
        <p:nvGrpSpPr>
          <p:cNvPr id="7187" name="Group 13">
            <a:extLst>
              <a:ext uri="{FF2B5EF4-FFF2-40B4-BE49-F238E27FC236}">
                <a16:creationId xmlns:a16="http://schemas.microsoft.com/office/drawing/2014/main" id="{5F277635-1A56-F419-94D8-18BF2D802558}"/>
              </a:ext>
            </a:extLst>
          </p:cNvPr>
          <p:cNvGrpSpPr/>
          <p:nvPr/>
        </p:nvGrpSpPr>
        <p:grpSpPr>
          <a:xfrm>
            <a:off x="8774907" y="1487019"/>
            <a:ext cx="2057400" cy="533400"/>
            <a:chOff x="3648" y="864"/>
            <a:chExt cx="1296" cy="336"/>
          </a:xfrm>
        </p:grpSpPr>
        <p:sp>
          <p:nvSpPr>
            <p:cNvPr id="7208" name="Rectangle 14">
              <a:extLst>
                <a:ext uri="{FF2B5EF4-FFF2-40B4-BE49-F238E27FC236}">
                  <a16:creationId xmlns:a16="http://schemas.microsoft.com/office/drawing/2014/main" id="{B2CF24AA-DCB7-8A3F-F6BF-9566B59360A2}"/>
                </a:ext>
              </a:extLst>
            </p:cNvPr>
            <p:cNvSpPr/>
            <p:nvPr/>
          </p:nvSpPr>
          <p:spPr>
            <a:xfrm>
              <a:off x="3648" y="864"/>
              <a:ext cx="1152" cy="336"/>
            </a:xfrm>
            <a:prstGeom prst="rect">
              <a:avLst/>
            </a:prstGeom>
            <a:solidFill>
              <a:srgbClr val="FDE3F0"/>
            </a:solidFill>
            <a:ln w="19050" cap="flat" cmpd="sng">
              <a:solidFill>
                <a:srgbClr val="CC0099"/>
              </a:solid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p:sp>
          <p:nvSpPr>
            <p:cNvPr id="7209" name="Text Box 15">
              <a:extLst>
                <a:ext uri="{FF2B5EF4-FFF2-40B4-BE49-F238E27FC236}">
                  <a16:creationId xmlns:a16="http://schemas.microsoft.com/office/drawing/2014/main" id="{28A083BC-CE5A-F4B3-5D6D-496432A88432}"/>
                </a:ext>
              </a:extLst>
            </p:cNvPr>
            <p:cNvSpPr txBox="1"/>
            <p:nvPr/>
          </p:nvSpPr>
          <p:spPr>
            <a:xfrm>
              <a:off x="3696" y="870"/>
              <a:ext cx="1248" cy="330"/>
            </a:xfrm>
            <a:prstGeom prst="rect">
              <a:avLst/>
            </a:prstGeom>
            <a:noFill/>
            <a:ln w="9525">
              <a:noFill/>
            </a:ln>
          </p:spPr>
          <p:txBody>
            <a:bodyPr>
              <a:spAutoFit/>
            </a:bodyPr>
            <a:lstStyle/>
            <a:p>
              <a:pPr>
                <a:spcBef>
                  <a:spcPct val="50000"/>
                </a:spcBef>
              </a:pPr>
              <a:r>
                <a:rPr lang="zh-CN" altLang="en-US" sz="2800" dirty="0">
                  <a:solidFill>
                    <a:srgbClr val="333333"/>
                  </a:solidFill>
                  <a:latin typeface="Times New Roman" panose="02020603050405020304" pitchFamily="18" charset="0"/>
                </a:rPr>
                <a:t>高温热源</a:t>
              </a:r>
              <a:endParaRPr lang="zh-CN" altLang="en-US" sz="2800" dirty="0">
                <a:solidFill>
                  <a:srgbClr val="333333"/>
                </a:solidFill>
                <a:latin typeface="Times New Roman" panose="02020603050405020304" pitchFamily="18" charset="0"/>
                <a:ea typeface="楷体_GB2312" panose="02010609030101010101" pitchFamily="49" charset="-122"/>
              </a:endParaRPr>
            </a:p>
          </p:txBody>
        </p:sp>
      </p:grpSp>
      <p:grpSp>
        <p:nvGrpSpPr>
          <p:cNvPr id="7188" name="Group 16">
            <a:extLst>
              <a:ext uri="{FF2B5EF4-FFF2-40B4-BE49-F238E27FC236}">
                <a16:creationId xmlns:a16="http://schemas.microsoft.com/office/drawing/2014/main" id="{25DFC75B-4216-34D6-0BF5-6D0582C53A5B}"/>
              </a:ext>
            </a:extLst>
          </p:cNvPr>
          <p:cNvGrpSpPr/>
          <p:nvPr/>
        </p:nvGrpSpPr>
        <p:grpSpPr>
          <a:xfrm>
            <a:off x="292102" y="2155030"/>
            <a:ext cx="3513138" cy="2797175"/>
            <a:chOff x="3072" y="1632"/>
            <a:chExt cx="2213" cy="1762"/>
          </a:xfrm>
        </p:grpSpPr>
        <p:sp>
          <p:nvSpPr>
            <p:cNvPr id="7206" name="Line 17">
              <a:extLst>
                <a:ext uri="{FF2B5EF4-FFF2-40B4-BE49-F238E27FC236}">
                  <a16:creationId xmlns:a16="http://schemas.microsoft.com/office/drawing/2014/main" id="{85806312-CEA1-411F-F568-CF97F3BAE56A}"/>
                </a:ext>
              </a:extLst>
            </p:cNvPr>
            <p:cNvSpPr/>
            <p:nvPr/>
          </p:nvSpPr>
          <p:spPr>
            <a:xfrm flipV="1">
              <a:off x="3306" y="3120"/>
              <a:ext cx="1974" cy="6"/>
            </a:xfrm>
            <a:prstGeom prst="line">
              <a:avLst/>
            </a:prstGeom>
            <a:ln w="19050" cap="flat" cmpd="sng">
              <a:solidFill>
                <a:srgbClr val="333333"/>
              </a:solidFill>
              <a:prstDash val="solid"/>
              <a:headEnd type="none" w="med" len="med"/>
              <a:tailEnd type="triangle" w="sm" len="lg"/>
            </a:ln>
          </p:spPr>
        </p:sp>
        <p:sp>
          <p:nvSpPr>
            <p:cNvPr id="7207" name="Line 18">
              <a:extLst>
                <a:ext uri="{FF2B5EF4-FFF2-40B4-BE49-F238E27FC236}">
                  <a16:creationId xmlns:a16="http://schemas.microsoft.com/office/drawing/2014/main" id="{42BDF9F0-9C00-9923-3574-7FDC39D6104F}"/>
                </a:ext>
              </a:extLst>
            </p:cNvPr>
            <p:cNvSpPr/>
            <p:nvPr/>
          </p:nvSpPr>
          <p:spPr>
            <a:xfrm flipV="1">
              <a:off x="3306" y="1638"/>
              <a:ext cx="0" cy="1488"/>
            </a:xfrm>
            <a:prstGeom prst="line">
              <a:avLst/>
            </a:prstGeom>
            <a:ln w="19050" cap="flat" cmpd="sng">
              <a:solidFill>
                <a:srgbClr val="333333"/>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7177" name="Object 19">
                  <a:extLst>
                    <a:ext uri="{FF2B5EF4-FFF2-40B4-BE49-F238E27FC236}">
                      <a16:creationId xmlns:a16="http://schemas.microsoft.com/office/drawing/2014/main" id="{8DF1C4F6-C29E-5C80-6AB1-1A68C896E446}"/>
                    </a:ext>
                  </a:extLst>
                </p:cNvPr>
                <p:cNvSpPr txBox="1"/>
                <p:nvPr/>
              </p:nvSpPr>
              <p:spPr>
                <a:xfrm>
                  <a:off x="3072" y="1632"/>
                  <a:ext cx="192" cy="228"/>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𝑝</m:t>
                        </m:r>
                      </m:oMath>
                    </m:oMathPara>
                  </a14:m>
                  <a:endParaRPr lang="zh-CN" altLang="en-US" sz="2800"/>
                </a:p>
              </p:txBody>
            </p:sp>
          </mc:Choice>
          <mc:Fallback xmlns="">
            <p:sp>
              <p:nvSpPr>
                <p:cNvPr id="7177" name="Object 19"/>
                <p:cNvSpPr txBox="1">
                  <a:spLocks noRot="1" noChangeAspect="1" noMove="1" noResize="1" noEditPoints="1" noAdjustHandles="1" noChangeArrowheads="1" noChangeShapeType="1" noTextEdit="1"/>
                </p:cNvSpPr>
                <p:nvPr/>
              </p:nvSpPr>
              <p:spPr>
                <a:xfrm>
                  <a:off x="3072" y="1632"/>
                  <a:ext cx="192" cy="228"/>
                </a:xfrm>
                <a:prstGeom prst="rect">
                  <a:avLst/>
                </a:prstGeom>
                <a:blipFill>
                  <a:blip r:embed="rId4"/>
                  <a:stretch>
                    <a:fillRect b="-28814"/>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78" name="Object 20">
                  <a:extLst>
                    <a:ext uri="{FF2B5EF4-FFF2-40B4-BE49-F238E27FC236}">
                      <a16:creationId xmlns:a16="http://schemas.microsoft.com/office/drawing/2014/main" id="{AFFE2306-5BBE-5A7E-81DF-2EEA7BF30171}"/>
                    </a:ext>
                  </a:extLst>
                </p:cNvPr>
                <p:cNvSpPr txBox="1"/>
                <p:nvPr/>
              </p:nvSpPr>
              <p:spPr>
                <a:xfrm>
                  <a:off x="5088" y="3174"/>
                  <a:ext cx="197" cy="220"/>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𝑉</m:t>
                        </m:r>
                      </m:oMath>
                    </m:oMathPara>
                  </a14:m>
                  <a:endParaRPr lang="zh-CN" altLang="en-US" sz="2800"/>
                </a:p>
              </p:txBody>
            </p:sp>
          </mc:Choice>
          <mc:Fallback xmlns="">
            <p:sp>
              <p:nvSpPr>
                <p:cNvPr id="7178" name="Object 20"/>
                <p:cNvSpPr txBox="1">
                  <a:spLocks noRot="1" noChangeAspect="1" noMove="1" noResize="1" noEditPoints="1" noAdjustHandles="1" noChangeArrowheads="1" noChangeShapeType="1" noTextEdit="1"/>
                </p:cNvSpPr>
                <p:nvPr/>
              </p:nvSpPr>
              <p:spPr>
                <a:xfrm>
                  <a:off x="5088" y="3174"/>
                  <a:ext cx="197" cy="220"/>
                </a:xfrm>
                <a:prstGeom prst="rect">
                  <a:avLst/>
                </a:prstGeom>
                <a:blipFill>
                  <a:blip r:embed="rId5"/>
                  <a:stretch>
                    <a:fillRect b="-1228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79" name="Object 21">
                  <a:extLst>
                    <a:ext uri="{FF2B5EF4-FFF2-40B4-BE49-F238E27FC236}">
                      <a16:creationId xmlns:a16="http://schemas.microsoft.com/office/drawing/2014/main" id="{70553957-0E88-85D3-5F6A-2803CD4E884A}"/>
                    </a:ext>
                  </a:extLst>
                </p:cNvPr>
                <p:cNvSpPr txBox="1"/>
                <p:nvPr/>
              </p:nvSpPr>
              <p:spPr>
                <a:xfrm>
                  <a:off x="3210" y="3126"/>
                  <a:ext cx="177" cy="204"/>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𝑜</m:t>
                        </m:r>
                      </m:oMath>
                    </m:oMathPara>
                  </a14:m>
                  <a:endParaRPr lang="zh-CN" altLang="en-US" sz="2800"/>
                </a:p>
              </p:txBody>
            </p:sp>
          </mc:Choice>
          <mc:Fallback xmlns="">
            <p:sp>
              <p:nvSpPr>
                <p:cNvPr id="7179" name="Object 21"/>
                <p:cNvSpPr txBox="1">
                  <a:spLocks noRot="1" noChangeAspect="1" noMove="1" noResize="1" noEditPoints="1" noAdjustHandles="1" noChangeArrowheads="1" noChangeShapeType="1" noTextEdit="1"/>
                </p:cNvSpPr>
                <p:nvPr/>
              </p:nvSpPr>
              <p:spPr>
                <a:xfrm>
                  <a:off x="3210" y="3126"/>
                  <a:ext cx="177" cy="204"/>
                </a:xfrm>
                <a:prstGeom prst="rect">
                  <a:avLst/>
                </a:prstGeom>
                <a:blipFill>
                  <a:blip r:embed="rId6"/>
                  <a:stretch>
                    <a:fillRect b="-22642"/>
                  </a:stretch>
                </a:blipFill>
                <a:ln w="38100">
                  <a:noFill/>
                  <a:miter/>
                </a:ln>
              </p:spPr>
              <p:txBody>
                <a:bodyPr/>
                <a:lstStyle/>
                <a:p>
                  <a:r>
                    <a:rPr lang="zh-CN" altLang="en-US">
                      <a:noFill/>
                    </a:rPr>
                    <a:t> </a:t>
                  </a:r>
                </a:p>
              </p:txBody>
            </p:sp>
          </mc:Fallback>
        </mc:AlternateContent>
      </p:grpSp>
      <p:grpSp>
        <p:nvGrpSpPr>
          <p:cNvPr id="7189" name="Group 22">
            <a:extLst>
              <a:ext uri="{FF2B5EF4-FFF2-40B4-BE49-F238E27FC236}">
                <a16:creationId xmlns:a16="http://schemas.microsoft.com/office/drawing/2014/main" id="{CB789501-1D71-DF02-D861-503631035AE2}"/>
              </a:ext>
            </a:extLst>
          </p:cNvPr>
          <p:cNvGrpSpPr/>
          <p:nvPr/>
        </p:nvGrpSpPr>
        <p:grpSpPr>
          <a:xfrm>
            <a:off x="977902" y="2155029"/>
            <a:ext cx="2743200" cy="2895600"/>
            <a:chOff x="1104" y="576"/>
            <a:chExt cx="1728" cy="1824"/>
          </a:xfrm>
        </p:grpSpPr>
        <p:sp>
          <p:nvSpPr>
            <p:cNvPr id="7200" name="Arc 23">
              <a:extLst>
                <a:ext uri="{FF2B5EF4-FFF2-40B4-BE49-F238E27FC236}">
                  <a16:creationId xmlns:a16="http://schemas.microsoft.com/office/drawing/2014/main" id="{2C9F0424-DAD7-A1F8-DF00-8DD00D44AFEC}"/>
                </a:ext>
              </a:extLst>
            </p:cNvPr>
            <p:cNvSpPr/>
            <p:nvPr/>
          </p:nvSpPr>
          <p:spPr>
            <a:xfrm>
              <a:off x="1248" y="865"/>
              <a:ext cx="1252" cy="816"/>
            </a:xfrm>
            <a:custGeom>
              <a:avLst/>
              <a:gdLst>
                <a:gd name="txL" fmla="*/ 0 w 21594"/>
                <a:gd name="txT" fmla="*/ 0 h 21600"/>
                <a:gd name="txR" fmla="*/ 21594 w 21594"/>
                <a:gd name="txB" fmla="*/ 21600 h 21600"/>
              </a:gdLst>
              <a:ahLst/>
              <a:cxnLst>
                <a:cxn ang="0">
                  <a:pos x="0" y="0"/>
                </a:cxn>
                <a:cxn ang="0">
                  <a:pos x="73" y="30"/>
                </a:cxn>
                <a:cxn ang="0">
                  <a:pos x="0" y="31"/>
                </a:cxn>
              </a:cxnLst>
              <a:rect l="txL" t="txT" r="txR" b="txB"/>
              <a:pathLst>
                <a:path w="21594" h="21600" fill="none">
                  <a:moveTo>
                    <a:pt x="-1" y="0"/>
                  </a:moveTo>
                  <a:cubicBezTo>
                    <a:pt x="11723" y="0"/>
                    <a:pt x="21306" y="9351"/>
                    <a:pt x="21593" y="21072"/>
                  </a:cubicBezTo>
                </a:path>
                <a:path w="21594" h="21600" stroke="0">
                  <a:moveTo>
                    <a:pt x="-1" y="0"/>
                  </a:moveTo>
                  <a:cubicBezTo>
                    <a:pt x="11723" y="0"/>
                    <a:pt x="21306" y="9351"/>
                    <a:pt x="21593" y="21072"/>
                  </a:cubicBezTo>
                  <a:lnTo>
                    <a:pt x="0" y="21600"/>
                  </a:lnTo>
                  <a:close/>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sz="2800"/>
            </a:p>
          </p:txBody>
        </p:sp>
        <p:sp>
          <p:nvSpPr>
            <p:cNvPr id="7201" name="Line 24">
              <a:extLst>
                <a:ext uri="{FF2B5EF4-FFF2-40B4-BE49-F238E27FC236}">
                  <a16:creationId xmlns:a16="http://schemas.microsoft.com/office/drawing/2014/main" id="{F956CDB0-5B24-F5FF-480A-2E7BE035B12C}"/>
                </a:ext>
              </a:extLst>
            </p:cNvPr>
            <p:cNvSpPr/>
            <p:nvPr/>
          </p:nvSpPr>
          <p:spPr>
            <a:xfrm>
              <a:off x="1968" y="1008"/>
              <a:ext cx="192" cy="96"/>
            </a:xfrm>
            <a:prstGeom prst="line">
              <a:avLst/>
            </a:prstGeom>
            <a:ln w="57150" cap="flat" cmpd="sng">
              <a:solidFill>
                <a:srgbClr val="CC0099"/>
              </a:solidFill>
              <a:prstDash val="solid"/>
              <a:headEnd type="triangle" w="sm" len="lg"/>
              <a:tailEnd type="none" w="sm" len="lg"/>
            </a:ln>
          </p:spPr>
        </p:sp>
        <p:sp>
          <p:nvSpPr>
            <p:cNvPr id="7202" name="Text Box 25">
              <a:extLst>
                <a:ext uri="{FF2B5EF4-FFF2-40B4-BE49-F238E27FC236}">
                  <a16:creationId xmlns:a16="http://schemas.microsoft.com/office/drawing/2014/main" id="{2971B271-8AE0-E693-0679-C2C9EEC87BD3}"/>
                </a:ext>
              </a:extLst>
            </p:cNvPr>
            <p:cNvSpPr txBox="1"/>
            <p:nvPr/>
          </p:nvSpPr>
          <p:spPr>
            <a:xfrm>
              <a:off x="1104" y="576"/>
              <a:ext cx="336" cy="330"/>
            </a:xfrm>
            <a:prstGeom prst="rect">
              <a:avLst/>
            </a:prstGeom>
            <a:noFill/>
            <a:ln w="9525">
              <a:noFill/>
            </a:ln>
          </p:spPr>
          <p:txBody>
            <a:bodyPr>
              <a:spAutoFit/>
            </a:bodyPr>
            <a:lstStyle/>
            <a:p>
              <a:pPr>
                <a:spcBef>
                  <a:spcPct val="50000"/>
                </a:spcBef>
              </a:pPr>
              <a:r>
                <a:rPr lang="en-US" altLang="zh-CN" sz="2800" i="1" dirty="0">
                  <a:solidFill>
                    <a:srgbClr val="010000"/>
                  </a:solidFill>
                  <a:latin typeface="Times New Roman" panose="02020603050405020304" pitchFamily="18" charset="0"/>
                  <a:ea typeface="楷体_GB2312" panose="02010609030101010101" pitchFamily="49" charset="-122"/>
                </a:rPr>
                <a:t>A</a:t>
              </a:r>
            </a:p>
          </p:txBody>
        </p:sp>
        <p:sp>
          <p:nvSpPr>
            <p:cNvPr id="7203" name="Text Box 26">
              <a:extLst>
                <a:ext uri="{FF2B5EF4-FFF2-40B4-BE49-F238E27FC236}">
                  <a16:creationId xmlns:a16="http://schemas.microsoft.com/office/drawing/2014/main" id="{1BBC7246-3551-3DFA-2F72-85CF7A02019E}"/>
                </a:ext>
              </a:extLst>
            </p:cNvPr>
            <p:cNvSpPr txBox="1"/>
            <p:nvPr/>
          </p:nvSpPr>
          <p:spPr>
            <a:xfrm>
              <a:off x="2496" y="1488"/>
              <a:ext cx="336" cy="330"/>
            </a:xfrm>
            <a:prstGeom prst="rect">
              <a:avLst/>
            </a:prstGeom>
            <a:noFill/>
            <a:ln w="9525">
              <a:noFill/>
            </a:ln>
          </p:spPr>
          <p:txBody>
            <a:bodyPr>
              <a:spAutoFit/>
            </a:bodyPr>
            <a:lstStyle/>
            <a:p>
              <a:pPr>
                <a:spcBef>
                  <a:spcPct val="50000"/>
                </a:spcBef>
              </a:pPr>
              <a:r>
                <a:rPr lang="en-US" altLang="zh-CN" sz="2800" i="1" dirty="0">
                  <a:solidFill>
                    <a:srgbClr val="010000"/>
                  </a:solidFill>
                  <a:latin typeface="Times New Roman" panose="02020603050405020304" pitchFamily="18" charset="0"/>
                  <a:ea typeface="楷体_GB2312" panose="02010609030101010101" pitchFamily="49" charset="-122"/>
                </a:rPr>
                <a:t>B</a:t>
              </a:r>
            </a:p>
          </p:txBody>
        </p:sp>
        <p:sp>
          <p:nvSpPr>
            <p:cNvPr id="7204" name="Line 27">
              <a:extLst>
                <a:ext uri="{FF2B5EF4-FFF2-40B4-BE49-F238E27FC236}">
                  <a16:creationId xmlns:a16="http://schemas.microsoft.com/office/drawing/2014/main" id="{ABCFF92D-049D-41E5-B642-D26C8FA48675}"/>
                </a:ext>
              </a:extLst>
            </p:cNvPr>
            <p:cNvSpPr/>
            <p:nvPr/>
          </p:nvSpPr>
          <p:spPr>
            <a:xfrm>
              <a:off x="1248" y="864"/>
              <a:ext cx="0" cy="1200"/>
            </a:xfrm>
            <a:prstGeom prst="line">
              <a:avLst/>
            </a:prstGeom>
            <a:ln w="19050" cap="flat" cmpd="sng">
              <a:solidFill>
                <a:srgbClr val="1C1C1C"/>
              </a:solidFill>
              <a:prstDash val="dash"/>
              <a:headEnd type="none" w="med" len="med"/>
              <a:tailEnd type="none" w="med" len="med"/>
            </a:ln>
          </p:spPr>
        </p:sp>
        <p:sp>
          <p:nvSpPr>
            <p:cNvPr id="7205" name="Line 28">
              <a:extLst>
                <a:ext uri="{FF2B5EF4-FFF2-40B4-BE49-F238E27FC236}">
                  <a16:creationId xmlns:a16="http://schemas.microsoft.com/office/drawing/2014/main" id="{E5F10799-B3B0-632C-1510-DF2A501F99EC}"/>
                </a:ext>
              </a:extLst>
            </p:cNvPr>
            <p:cNvSpPr/>
            <p:nvPr/>
          </p:nvSpPr>
          <p:spPr>
            <a:xfrm>
              <a:off x="2496" y="1632"/>
              <a:ext cx="0" cy="432"/>
            </a:xfrm>
            <a:prstGeom prst="line">
              <a:avLst/>
            </a:prstGeom>
            <a:ln w="19050" cap="flat" cmpd="sng">
              <a:solidFill>
                <a:srgbClr val="1C1C1C"/>
              </a:solidFill>
              <a:prstDash val="dash"/>
              <a:headEnd type="none" w="med" len="med"/>
              <a:tailEnd type="none" w="med" len="med"/>
            </a:ln>
          </p:spPr>
        </p:sp>
        <mc:AlternateContent xmlns:mc="http://schemas.openxmlformats.org/markup-compatibility/2006" xmlns:a14="http://schemas.microsoft.com/office/drawing/2010/main">
          <mc:Choice Requires="a14">
            <p:sp>
              <p:nvSpPr>
                <p:cNvPr id="7174" name="Object 29">
                  <a:extLst>
                    <a:ext uri="{FF2B5EF4-FFF2-40B4-BE49-F238E27FC236}">
                      <a16:creationId xmlns:a16="http://schemas.microsoft.com/office/drawing/2014/main" id="{C6F61F0C-8CA0-6F0B-EEDA-5F14F7B1B322}"/>
                    </a:ext>
                  </a:extLst>
                </p:cNvPr>
                <p:cNvSpPr txBox="1"/>
                <p:nvPr/>
              </p:nvSpPr>
              <p:spPr>
                <a:xfrm>
                  <a:off x="1152" y="2016"/>
                  <a:ext cx="287" cy="3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𝐴</m:t>
                            </m:r>
                          </m:sub>
                        </m:sSub>
                      </m:oMath>
                    </m:oMathPara>
                  </a14:m>
                  <a:endParaRPr lang="zh-CN" altLang="en-US" sz="2800"/>
                </a:p>
              </p:txBody>
            </p:sp>
          </mc:Choice>
          <mc:Fallback xmlns="">
            <p:sp>
              <p:nvSpPr>
                <p:cNvPr id="7174" name="Object 29"/>
                <p:cNvSpPr txBox="1">
                  <a:spLocks noRot="1" noChangeAspect="1" noMove="1" noResize="1" noEditPoints="1" noAdjustHandles="1" noChangeArrowheads="1" noChangeShapeType="1" noTextEdit="1"/>
                </p:cNvSpPr>
                <p:nvPr/>
              </p:nvSpPr>
              <p:spPr>
                <a:xfrm>
                  <a:off x="1152" y="2016"/>
                  <a:ext cx="287" cy="336"/>
                </a:xfrm>
                <a:prstGeom prst="rect">
                  <a:avLst/>
                </a:prstGeom>
                <a:blipFill>
                  <a:blip r:embed="rId7"/>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75" name="Object 30">
                  <a:extLst>
                    <a:ext uri="{FF2B5EF4-FFF2-40B4-BE49-F238E27FC236}">
                      <a16:creationId xmlns:a16="http://schemas.microsoft.com/office/drawing/2014/main" id="{D390DCEE-72D3-0506-022E-D499435D7E5C}"/>
                    </a:ext>
                  </a:extLst>
                </p:cNvPr>
                <p:cNvSpPr txBox="1"/>
                <p:nvPr/>
              </p:nvSpPr>
              <p:spPr>
                <a:xfrm>
                  <a:off x="2400" y="2064"/>
                  <a:ext cx="287" cy="336"/>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𝑉</m:t>
                            </m:r>
                          </m:e>
                          <m:sub>
                            <m:r>
                              <a:rPr lang="zh-CN" altLang="en-US" sz="2800" i="1">
                                <a:solidFill>
                                  <a:srgbClr val="000000"/>
                                </a:solidFill>
                                <a:latin typeface="Cambria Math" panose="02040503050406030204" pitchFamily="18" charset="0"/>
                              </a:rPr>
                              <m:t>𝐵</m:t>
                            </m:r>
                          </m:sub>
                        </m:sSub>
                      </m:oMath>
                    </m:oMathPara>
                  </a14:m>
                  <a:endParaRPr lang="zh-CN" altLang="en-US" sz="2800"/>
                </a:p>
              </p:txBody>
            </p:sp>
          </mc:Choice>
          <mc:Fallback xmlns="">
            <p:sp>
              <p:nvSpPr>
                <p:cNvPr id="7175" name="Object 30"/>
                <p:cNvSpPr txBox="1">
                  <a:spLocks noRot="1" noChangeAspect="1" noMove="1" noResize="1" noEditPoints="1" noAdjustHandles="1" noChangeArrowheads="1" noChangeShapeType="1" noTextEdit="1"/>
                </p:cNvSpPr>
                <p:nvPr/>
              </p:nvSpPr>
              <p:spPr>
                <a:xfrm>
                  <a:off x="2400" y="2064"/>
                  <a:ext cx="287" cy="336"/>
                </a:xfrm>
                <a:prstGeom prst="rect">
                  <a:avLst/>
                </a:prstGeom>
                <a:blipFill>
                  <a:blip r:embed="rId8"/>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76" name="Object 31">
                  <a:extLst>
                    <a:ext uri="{FF2B5EF4-FFF2-40B4-BE49-F238E27FC236}">
                      <a16:creationId xmlns:a16="http://schemas.microsoft.com/office/drawing/2014/main" id="{C56DEA44-76F2-4EFD-B54C-0D8DF37F6826}"/>
                    </a:ext>
                  </a:extLst>
                </p:cNvPr>
                <p:cNvSpPr txBox="1"/>
                <p:nvPr/>
              </p:nvSpPr>
              <p:spPr>
                <a:xfrm>
                  <a:off x="2030" y="864"/>
                  <a:ext cx="163" cy="204"/>
                </a:xfrm>
                <a:prstGeom prst="rect">
                  <a:avLst/>
                </a:prstGeom>
                <a:noFill/>
                <a:ln w="38100">
                  <a:noFill/>
                  <a:miter/>
                </a:ln>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𝑐</m:t>
                        </m:r>
                      </m:oMath>
                    </m:oMathPara>
                  </a14:m>
                  <a:endParaRPr lang="zh-CN" altLang="en-US" sz="2800"/>
                </a:p>
              </p:txBody>
            </p:sp>
          </mc:Choice>
          <mc:Fallback xmlns="">
            <p:sp>
              <p:nvSpPr>
                <p:cNvPr id="7176" name="Object 31"/>
                <p:cNvSpPr txBox="1">
                  <a:spLocks noRot="1" noChangeAspect="1" noMove="1" noResize="1" noEditPoints="1" noAdjustHandles="1" noChangeArrowheads="1" noChangeShapeType="1" noTextEdit="1"/>
                </p:cNvSpPr>
                <p:nvPr/>
              </p:nvSpPr>
              <p:spPr>
                <a:xfrm>
                  <a:off x="2030" y="864"/>
                  <a:ext cx="163" cy="204"/>
                </a:xfrm>
                <a:prstGeom prst="rect">
                  <a:avLst/>
                </a:prstGeom>
                <a:blipFill>
                  <a:blip r:embed="rId9"/>
                  <a:stretch>
                    <a:fillRect/>
                  </a:stretch>
                </a:blipFill>
                <a:ln w="38100">
                  <a:noFill/>
                  <a:miter/>
                </a:ln>
              </p:spPr>
              <p:txBody>
                <a:bodyPr/>
                <a:lstStyle/>
                <a:p>
                  <a:r>
                    <a:rPr lang="zh-CN" altLang="en-US">
                      <a:noFill/>
                    </a:rPr>
                    <a:t> </a:t>
                  </a:r>
                </a:p>
              </p:txBody>
            </p:sp>
          </mc:Fallback>
        </mc:AlternateContent>
      </p:grpSp>
      <p:grpSp>
        <p:nvGrpSpPr>
          <p:cNvPr id="7190" name="Group 32">
            <a:extLst>
              <a:ext uri="{FF2B5EF4-FFF2-40B4-BE49-F238E27FC236}">
                <a16:creationId xmlns:a16="http://schemas.microsoft.com/office/drawing/2014/main" id="{3BA8E980-3C24-38E7-339B-DA58AF886E2D}"/>
              </a:ext>
            </a:extLst>
          </p:cNvPr>
          <p:cNvGrpSpPr/>
          <p:nvPr/>
        </p:nvGrpSpPr>
        <p:grpSpPr>
          <a:xfrm>
            <a:off x="1206502" y="2536029"/>
            <a:ext cx="1981200" cy="1447800"/>
            <a:chOff x="1248" y="816"/>
            <a:chExt cx="1248" cy="912"/>
          </a:xfrm>
        </p:grpSpPr>
        <p:sp>
          <p:nvSpPr>
            <p:cNvPr id="7198" name="Arc 33">
              <a:extLst>
                <a:ext uri="{FF2B5EF4-FFF2-40B4-BE49-F238E27FC236}">
                  <a16:creationId xmlns:a16="http://schemas.microsoft.com/office/drawing/2014/main" id="{EE9A158B-2332-B4CA-BC2A-EA0AA4493D2F}"/>
                </a:ext>
              </a:extLst>
            </p:cNvPr>
            <p:cNvSpPr/>
            <p:nvPr/>
          </p:nvSpPr>
          <p:spPr>
            <a:xfrm flipH="1" flipV="1">
              <a:off x="1248" y="816"/>
              <a:ext cx="1248" cy="816"/>
            </a:xfrm>
            <a:custGeom>
              <a:avLst/>
              <a:gdLst>
                <a:gd name="txL" fmla="*/ 0 w 21591"/>
                <a:gd name="txT" fmla="*/ 0 h 21600"/>
                <a:gd name="txR" fmla="*/ 21591 w 21591"/>
                <a:gd name="txB" fmla="*/ 21600 h 21600"/>
              </a:gdLst>
              <a:ahLst/>
              <a:cxnLst>
                <a:cxn ang="0">
                  <a:pos x="0" y="0"/>
                </a:cxn>
                <a:cxn ang="0">
                  <a:pos x="72" y="30"/>
                </a:cxn>
                <a:cxn ang="0">
                  <a:pos x="0" y="31"/>
                </a:cxn>
              </a:cxnLst>
              <a:rect l="txL" t="txT" r="txR" b="txB"/>
              <a:pathLst>
                <a:path w="21591" h="21600" fill="none">
                  <a:moveTo>
                    <a:pt x="-1" y="0"/>
                  </a:moveTo>
                  <a:cubicBezTo>
                    <a:pt x="11681" y="0"/>
                    <a:pt x="21246" y="9287"/>
                    <a:pt x="21590" y="20964"/>
                  </a:cubicBezTo>
                </a:path>
                <a:path w="21591" h="21600" stroke="0">
                  <a:moveTo>
                    <a:pt x="-1" y="0"/>
                  </a:moveTo>
                  <a:cubicBezTo>
                    <a:pt x="11681" y="0"/>
                    <a:pt x="21246" y="9287"/>
                    <a:pt x="21590" y="20964"/>
                  </a:cubicBezTo>
                  <a:lnTo>
                    <a:pt x="0" y="21600"/>
                  </a:lnTo>
                  <a:close/>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800"/>
            </a:p>
          </p:txBody>
        </p:sp>
        <p:sp>
          <p:nvSpPr>
            <p:cNvPr id="7199" name="Line 34">
              <a:extLst>
                <a:ext uri="{FF2B5EF4-FFF2-40B4-BE49-F238E27FC236}">
                  <a16:creationId xmlns:a16="http://schemas.microsoft.com/office/drawing/2014/main" id="{270BF974-1E43-3AF0-5D23-CDCE2FFA7173}"/>
                </a:ext>
              </a:extLst>
            </p:cNvPr>
            <p:cNvSpPr/>
            <p:nvPr/>
          </p:nvSpPr>
          <p:spPr>
            <a:xfrm flipH="1" flipV="1">
              <a:off x="1632" y="1392"/>
              <a:ext cx="144" cy="96"/>
            </a:xfrm>
            <a:prstGeom prst="line">
              <a:avLst/>
            </a:prstGeom>
            <a:ln w="57150" cap="flat" cmpd="sng">
              <a:solidFill>
                <a:srgbClr val="0000FF"/>
              </a:solidFill>
              <a:prstDash val="solid"/>
              <a:headEnd type="triangle" w="sm" len="lg"/>
              <a:tailEnd type="none" w="sm" len="lg"/>
            </a:ln>
          </p:spPr>
        </p:sp>
        <mc:AlternateContent xmlns:mc="http://schemas.openxmlformats.org/markup-compatibility/2006" xmlns:a14="http://schemas.microsoft.com/office/drawing/2010/main">
          <mc:Choice Requires="a14">
            <p:sp>
              <p:nvSpPr>
                <p:cNvPr id="7173" name="Object 35">
                  <a:extLst>
                    <a:ext uri="{FF2B5EF4-FFF2-40B4-BE49-F238E27FC236}">
                      <a16:creationId xmlns:a16="http://schemas.microsoft.com/office/drawing/2014/main" id="{95EF9BDC-87C1-BD3E-51CB-0AFC4A62600F}"/>
                    </a:ext>
                  </a:extLst>
                </p:cNvPr>
                <p:cNvSpPr txBox="1"/>
                <p:nvPr/>
              </p:nvSpPr>
              <p:spPr>
                <a:xfrm>
                  <a:off x="1680" y="1504"/>
                  <a:ext cx="168" cy="224"/>
                </a:xfrm>
                <a:prstGeom prst="rect">
                  <a:avLst/>
                </a:prstGeom>
                <a:noFill/>
                <a:ln w="38100">
                  <a:noFill/>
                  <a:miter/>
                </a:ln>
              </p:spPr>
              <p:txBody>
                <a:bodyPr>
                  <a:normAutofit fontScale="55000" lnSpcReduction="20000"/>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𝑑</m:t>
                        </m:r>
                      </m:oMath>
                    </m:oMathPara>
                  </a14:m>
                  <a:endParaRPr lang="zh-CN" altLang="en-US" sz="2800"/>
                </a:p>
              </p:txBody>
            </p:sp>
          </mc:Choice>
          <mc:Fallback xmlns="">
            <p:sp>
              <p:nvSpPr>
                <p:cNvPr id="7173" name="Object 35"/>
                <p:cNvSpPr txBox="1">
                  <a:spLocks noRot="1" noChangeAspect="1" noMove="1" noResize="1" noEditPoints="1" noAdjustHandles="1" noChangeArrowheads="1" noChangeShapeType="1" noTextEdit="1"/>
                </p:cNvSpPr>
                <p:nvPr/>
              </p:nvSpPr>
              <p:spPr>
                <a:xfrm>
                  <a:off x="1680" y="1504"/>
                  <a:ext cx="168" cy="224"/>
                </a:xfrm>
                <a:prstGeom prst="rect">
                  <a:avLst/>
                </a:prstGeom>
                <a:blipFill>
                  <a:blip r:embed="rId10"/>
                  <a:stretch>
                    <a:fillRect r="-2326"/>
                  </a:stretch>
                </a:blipFill>
                <a:ln w="38100">
                  <a:noFill/>
                  <a:miter/>
                </a:ln>
              </p:spPr>
              <p:txBody>
                <a:bodyPr/>
                <a:lstStyle/>
                <a:p>
                  <a:r>
                    <a:rPr lang="zh-CN" altLang="en-US">
                      <a:noFill/>
                    </a:rPr>
                    <a:t> </a:t>
                  </a:r>
                </a:p>
              </p:txBody>
            </p:sp>
          </mc:Fallback>
        </mc:AlternateContent>
      </p:grpSp>
      <p:grpSp>
        <p:nvGrpSpPr>
          <p:cNvPr id="9" name="Group 36">
            <a:extLst>
              <a:ext uri="{FF2B5EF4-FFF2-40B4-BE49-F238E27FC236}">
                <a16:creationId xmlns:a16="http://schemas.microsoft.com/office/drawing/2014/main" id="{F87231F7-9C99-53B8-3688-03F62868C0A4}"/>
              </a:ext>
            </a:extLst>
          </p:cNvPr>
          <p:cNvGrpSpPr/>
          <p:nvPr/>
        </p:nvGrpSpPr>
        <p:grpSpPr>
          <a:xfrm>
            <a:off x="9536907" y="1987081"/>
            <a:ext cx="895350" cy="892175"/>
            <a:chOff x="3792" y="1920"/>
            <a:chExt cx="564" cy="576"/>
          </a:xfrm>
        </p:grpSpPr>
        <mc:AlternateContent xmlns:mc="http://schemas.openxmlformats.org/markup-compatibility/2006" xmlns:a14="http://schemas.microsoft.com/office/drawing/2010/main">
          <mc:Choice Requires="a14">
            <p:sp>
              <p:nvSpPr>
                <p:cNvPr id="7172" name="Object 37">
                  <a:extLst>
                    <a:ext uri="{FF2B5EF4-FFF2-40B4-BE49-F238E27FC236}">
                      <a16:creationId xmlns:a16="http://schemas.microsoft.com/office/drawing/2014/main" id="{EC4E38A1-4715-93BC-9982-0B6ADC43D2B1}"/>
                    </a:ext>
                  </a:extLst>
                </p:cNvPr>
                <p:cNvSpPr txBox="1"/>
                <p:nvPr/>
              </p:nvSpPr>
              <p:spPr>
                <a:xfrm>
                  <a:off x="3984" y="1968"/>
                  <a:ext cx="372" cy="4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oMath>
                    </m:oMathPara>
                  </a14:m>
                  <a:endParaRPr lang="zh-CN" altLang="en-US" sz="2800"/>
                </a:p>
              </p:txBody>
            </p:sp>
          </mc:Choice>
          <mc:Fallback xmlns="">
            <p:sp>
              <p:nvSpPr>
                <p:cNvPr id="7172" name="Object 37"/>
                <p:cNvSpPr txBox="1">
                  <a:spLocks noRot="1" noChangeAspect="1" noMove="1" noResize="1" noEditPoints="1" noAdjustHandles="1" noChangeArrowheads="1" noChangeShapeType="1" noTextEdit="1"/>
                </p:cNvSpPr>
                <p:nvPr/>
              </p:nvSpPr>
              <p:spPr>
                <a:xfrm>
                  <a:off x="3984" y="1968"/>
                  <a:ext cx="372" cy="436"/>
                </a:xfrm>
                <a:prstGeom prst="rect">
                  <a:avLst/>
                </a:prstGeom>
                <a:blipFill>
                  <a:blip r:embed="rId11"/>
                  <a:stretch>
                    <a:fillRect/>
                  </a:stretch>
                </a:blipFill>
                <a:ln w="38100">
                  <a:noFill/>
                  <a:miter/>
                </a:ln>
              </p:spPr>
              <p:txBody>
                <a:bodyPr/>
                <a:lstStyle/>
                <a:p>
                  <a:r>
                    <a:rPr lang="zh-CN" altLang="en-US">
                      <a:noFill/>
                    </a:rPr>
                    <a:t> </a:t>
                  </a:r>
                </a:p>
              </p:txBody>
            </p:sp>
          </mc:Fallback>
        </mc:AlternateContent>
        <p:sp>
          <p:nvSpPr>
            <p:cNvPr id="7197" name="AutoShape 38">
              <a:extLst>
                <a:ext uri="{FF2B5EF4-FFF2-40B4-BE49-F238E27FC236}">
                  <a16:creationId xmlns:a16="http://schemas.microsoft.com/office/drawing/2014/main" id="{B2FD657A-E872-6B1B-8B93-68388B9A8E23}"/>
                </a:ext>
              </a:extLst>
            </p:cNvPr>
            <p:cNvSpPr/>
            <p:nvPr/>
          </p:nvSpPr>
          <p:spPr>
            <a:xfrm flipV="1">
              <a:off x="3792" y="1920"/>
              <a:ext cx="192" cy="576"/>
            </a:xfrm>
            <a:prstGeom prst="downArrow">
              <a:avLst>
                <a:gd name="adj1" fmla="val 35416"/>
                <a:gd name="adj2" fmla="val 125000"/>
              </a:avLst>
            </a:prstGeom>
            <a:solidFill>
              <a:srgbClr val="CCECFF"/>
            </a:solidFill>
            <a:ln w="19050" cap="flat" cmpd="sng">
              <a:solidFill>
                <a:srgbClr val="0000FF"/>
              </a:solidFill>
              <a:prstDash val="solid"/>
              <a:miter/>
              <a:headEnd type="none" w="med" len="med"/>
              <a:tailEnd type="none" w="med" len="med"/>
            </a:ln>
          </p:spPr>
          <p:txBody>
            <a:bodyPr vert="eaVert" wrap="none" anchor="ctr" anchorCtr="0"/>
            <a:lstStyle/>
            <a:p>
              <a:endParaRPr lang="zh-CN" altLang="en-US" sz="2800" dirty="0">
                <a:latin typeface="Bookman Old Style" panose="02050604050505020204" pitchFamily="18" charset="0"/>
              </a:endParaRPr>
            </a:p>
          </p:txBody>
        </p:sp>
      </p:grpSp>
      <p:grpSp>
        <p:nvGrpSpPr>
          <p:cNvPr id="10" name="Group 39">
            <a:extLst>
              <a:ext uri="{FF2B5EF4-FFF2-40B4-BE49-F238E27FC236}">
                <a16:creationId xmlns:a16="http://schemas.microsoft.com/office/drawing/2014/main" id="{82FF36A9-F1E1-7698-82A9-F77B500361A7}"/>
              </a:ext>
            </a:extLst>
          </p:cNvPr>
          <p:cNvGrpSpPr/>
          <p:nvPr/>
        </p:nvGrpSpPr>
        <p:grpSpPr>
          <a:xfrm>
            <a:off x="9613110" y="3331693"/>
            <a:ext cx="879476" cy="914400"/>
            <a:chOff x="3840" y="1765"/>
            <a:chExt cx="554" cy="576"/>
          </a:xfrm>
        </p:grpSpPr>
        <p:sp>
          <p:nvSpPr>
            <p:cNvPr id="7196" name="AutoShape 40">
              <a:extLst>
                <a:ext uri="{FF2B5EF4-FFF2-40B4-BE49-F238E27FC236}">
                  <a16:creationId xmlns:a16="http://schemas.microsoft.com/office/drawing/2014/main" id="{3AA149FF-3BD8-01E4-86A5-51E51FB70F1E}"/>
                </a:ext>
              </a:extLst>
            </p:cNvPr>
            <p:cNvSpPr/>
            <p:nvPr/>
          </p:nvSpPr>
          <p:spPr>
            <a:xfrm flipV="1">
              <a:off x="3840" y="1765"/>
              <a:ext cx="144" cy="576"/>
            </a:xfrm>
            <a:prstGeom prst="downArrow">
              <a:avLst>
                <a:gd name="adj1" fmla="val 40000"/>
                <a:gd name="adj2" fmla="val 160277"/>
              </a:avLst>
            </a:prstGeom>
            <a:solidFill>
              <a:srgbClr val="FFCCCC"/>
            </a:solidFill>
            <a:ln w="19050" cap="flat" cmpd="sng">
              <a:solidFill>
                <a:srgbClr val="FF0000"/>
              </a:solidFill>
              <a:prstDash val="solid"/>
              <a:miter/>
              <a:headEnd type="none" w="med" len="med"/>
              <a:tailEnd type="none" w="med" len="med"/>
            </a:ln>
          </p:spPr>
          <p:txBody>
            <a:bodyPr vert="eaVert" wrap="none" anchor="ctr" anchorCtr="0"/>
            <a:lstStyle/>
            <a:p>
              <a:endParaRPr lang="zh-CN" altLang="en-US" sz="28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7171" name="Object 41">
                  <a:extLst>
                    <a:ext uri="{FF2B5EF4-FFF2-40B4-BE49-F238E27FC236}">
                      <a16:creationId xmlns:a16="http://schemas.microsoft.com/office/drawing/2014/main" id="{494789C8-3A40-6C7E-7184-296113B039EB}"/>
                    </a:ext>
                  </a:extLst>
                </p:cNvPr>
                <p:cNvSpPr txBox="1"/>
                <p:nvPr/>
              </p:nvSpPr>
              <p:spPr>
                <a:xfrm>
                  <a:off x="3993" y="1852"/>
                  <a:ext cx="401" cy="43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oMath>
                    </m:oMathPara>
                  </a14:m>
                  <a:endParaRPr lang="zh-CN" altLang="en-US" sz="2800" dirty="0"/>
                </a:p>
              </p:txBody>
            </p:sp>
          </mc:Choice>
          <mc:Fallback xmlns="">
            <p:sp>
              <p:nvSpPr>
                <p:cNvPr id="7171" name="Object 41"/>
                <p:cNvSpPr txBox="1">
                  <a:spLocks noRot="1" noChangeAspect="1" noMove="1" noResize="1" noEditPoints="1" noAdjustHandles="1" noChangeArrowheads="1" noChangeShapeType="1" noTextEdit="1"/>
                </p:cNvSpPr>
                <p:nvPr/>
              </p:nvSpPr>
              <p:spPr>
                <a:xfrm>
                  <a:off x="3993" y="1852"/>
                  <a:ext cx="401" cy="435"/>
                </a:xfrm>
                <a:prstGeom prst="rect">
                  <a:avLst/>
                </a:prstGeom>
                <a:blipFill>
                  <a:blip r:embed="rId12"/>
                  <a:stretch>
                    <a:fillRect/>
                  </a:stretch>
                </a:blipFill>
                <a:ln w="38100">
                  <a:noFill/>
                  <a:miter/>
                </a:ln>
              </p:spPr>
              <p:txBody>
                <a:bodyPr/>
                <a:lstStyle/>
                <a:p>
                  <a:r>
                    <a:rPr lang="zh-CN" altLang="en-US">
                      <a:noFill/>
                    </a:rPr>
                    <a:t> </a:t>
                  </a:r>
                </a:p>
              </p:txBody>
            </p:sp>
          </mc:Fallback>
        </mc:AlternateContent>
      </p:grpSp>
      <p:grpSp>
        <p:nvGrpSpPr>
          <p:cNvPr id="11" name="Group 42">
            <a:extLst>
              <a:ext uri="{FF2B5EF4-FFF2-40B4-BE49-F238E27FC236}">
                <a16:creationId xmlns:a16="http://schemas.microsoft.com/office/drawing/2014/main" id="{8EDA8D1B-DFBF-0B95-26BC-3FE8C7570F83}"/>
              </a:ext>
            </a:extLst>
          </p:cNvPr>
          <p:cNvGrpSpPr/>
          <p:nvPr/>
        </p:nvGrpSpPr>
        <p:grpSpPr>
          <a:xfrm>
            <a:off x="10462423" y="2772891"/>
            <a:ext cx="1566863" cy="493713"/>
            <a:chOff x="4464" y="2448"/>
            <a:chExt cx="987" cy="311"/>
          </a:xfrm>
        </p:grpSpPr>
        <p:sp>
          <p:nvSpPr>
            <p:cNvPr id="7195" name="AutoShape 43">
              <a:extLst>
                <a:ext uri="{FF2B5EF4-FFF2-40B4-BE49-F238E27FC236}">
                  <a16:creationId xmlns:a16="http://schemas.microsoft.com/office/drawing/2014/main" id="{8848F109-183D-3B08-48D6-3F5C3AEB4A38}"/>
                </a:ext>
              </a:extLst>
            </p:cNvPr>
            <p:cNvSpPr/>
            <p:nvPr/>
          </p:nvSpPr>
          <p:spPr>
            <a:xfrm flipH="1">
              <a:off x="4464" y="2571"/>
              <a:ext cx="528" cy="96"/>
            </a:xfrm>
            <a:prstGeom prst="rightArrow">
              <a:avLst>
                <a:gd name="adj1" fmla="val 58666"/>
                <a:gd name="adj2" fmla="val 201030"/>
              </a:avLst>
            </a:prstGeom>
            <a:solidFill>
              <a:srgbClr val="99CCFF"/>
            </a:solidFill>
            <a:ln w="19050" cap="flat" cmpd="sng">
              <a:solidFill>
                <a:schemeClr val="tx2"/>
              </a:solidFill>
              <a:prstDash val="solid"/>
              <a:miter/>
              <a:headEnd type="none" w="med" len="med"/>
              <a:tailEnd type="none" w="med" len="med"/>
            </a:ln>
          </p:spPr>
          <p:txBody>
            <a:bodyPr wrap="none" anchor="ctr" anchorCtr="0"/>
            <a:lstStyle/>
            <a:p>
              <a:endParaRPr lang="zh-CN" altLang="en-US" sz="28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7170" name="Object 44">
                  <a:extLst>
                    <a:ext uri="{FF2B5EF4-FFF2-40B4-BE49-F238E27FC236}">
                      <a16:creationId xmlns:a16="http://schemas.microsoft.com/office/drawing/2014/main" id="{4C3216AC-0F38-E1B7-A29B-23E22A58BFF5}"/>
                    </a:ext>
                  </a:extLst>
                </p:cNvPr>
                <p:cNvSpPr txBox="1"/>
                <p:nvPr/>
              </p:nvSpPr>
              <p:spPr>
                <a:xfrm>
                  <a:off x="5081" y="2448"/>
                  <a:ext cx="370" cy="311"/>
                </a:xfrm>
                <a:prstGeom prst="rect">
                  <a:avLst/>
                </a:prstGeom>
                <a:solidFill>
                  <a:schemeClr val="accent1"/>
                </a:solidFill>
                <a:ln w="9525" cap="flat" cmpd="sng">
                  <a:solidFill>
                    <a:schemeClr val="tx1"/>
                  </a:solid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𝐴</m:t>
                        </m:r>
                      </m:oMath>
                    </m:oMathPara>
                  </a14:m>
                  <a:endParaRPr lang="zh-CN" altLang="en-US" sz="2800" dirty="0"/>
                </a:p>
              </p:txBody>
            </p:sp>
          </mc:Choice>
          <mc:Fallback xmlns="">
            <p:sp>
              <p:nvSpPr>
                <p:cNvPr id="7170" name="Object 44"/>
                <p:cNvSpPr txBox="1">
                  <a:spLocks noRot="1" noChangeAspect="1" noMove="1" noResize="1" noEditPoints="1" noAdjustHandles="1" noChangeArrowheads="1" noChangeShapeType="1" noTextEdit="1"/>
                </p:cNvSpPr>
                <p:nvPr/>
              </p:nvSpPr>
              <p:spPr>
                <a:xfrm>
                  <a:off x="5081" y="2448"/>
                  <a:ext cx="370" cy="311"/>
                </a:xfrm>
                <a:prstGeom prst="rect">
                  <a:avLst/>
                </a:prstGeom>
                <a:blipFill>
                  <a:blip r:embed="rId13"/>
                  <a:stretch>
                    <a:fillRect/>
                  </a:stretch>
                </a:blipFill>
                <a:ln w="9525" cap="flat" cmpd="sng">
                  <a:solidFill>
                    <a:schemeClr val="tx1"/>
                  </a:solidFill>
                  <a:prstDash val="solid"/>
                  <a:miter/>
                  <a:headEnd type="none" w="med" len="med"/>
                  <a:tailEnd type="none" w="med" len="med"/>
                </a:ln>
              </p:spPr>
              <p:txBody>
                <a:bodyPr/>
                <a:lstStyle/>
                <a:p>
                  <a:r>
                    <a:rPr lang="zh-CN" altLang="en-US">
                      <a:noFill/>
                    </a:rPr>
                    <a:t> </a:t>
                  </a:r>
                </a:p>
              </p:txBody>
            </p:sp>
          </mc:Fallback>
        </mc:AlternateContent>
      </p:grpSp>
      <p:sp>
        <p:nvSpPr>
          <p:cNvPr id="7194" name="Text Box 45">
            <a:extLst>
              <a:ext uri="{FF2B5EF4-FFF2-40B4-BE49-F238E27FC236}">
                <a16:creationId xmlns:a16="http://schemas.microsoft.com/office/drawing/2014/main" id="{A4664EE6-EFB7-07F9-BBB4-16E892A1146E}"/>
              </a:ext>
            </a:extLst>
          </p:cNvPr>
          <p:cNvSpPr txBox="1"/>
          <p:nvPr/>
        </p:nvSpPr>
        <p:spPr>
          <a:xfrm>
            <a:off x="8698707" y="4263556"/>
            <a:ext cx="1981200" cy="523220"/>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p>
            <a:pPr>
              <a:spcBef>
                <a:spcPct val="50000"/>
              </a:spcBef>
            </a:pPr>
            <a:r>
              <a:rPr lang="zh-CN" altLang="en-US" sz="2800" dirty="0">
                <a:solidFill>
                  <a:srgbClr val="333333"/>
                </a:solidFill>
                <a:latin typeface="Times New Roman" panose="02020603050405020304" pitchFamily="18" charset="0"/>
              </a:rPr>
              <a:t>低温热源</a:t>
            </a:r>
          </a:p>
        </p:txBody>
      </p:sp>
      <p:sp>
        <p:nvSpPr>
          <p:cNvPr id="30" name="Text Box 13">
            <a:hlinkClick r:id="" action="ppaction://noaction"/>
            <a:extLst>
              <a:ext uri="{FF2B5EF4-FFF2-40B4-BE49-F238E27FC236}">
                <a16:creationId xmlns:a16="http://schemas.microsoft.com/office/drawing/2014/main" id="{442E0252-0AEA-E8D1-86D1-9F8417CA292E}"/>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制冷机</a:t>
            </a:r>
          </a:p>
        </p:txBody>
      </p:sp>
      <p:grpSp>
        <p:nvGrpSpPr>
          <p:cNvPr id="31" name="Group 16">
            <a:extLst>
              <a:ext uri="{FF2B5EF4-FFF2-40B4-BE49-F238E27FC236}">
                <a16:creationId xmlns:a16="http://schemas.microsoft.com/office/drawing/2014/main" id="{27AE5EA3-BF38-7C18-C461-C3401E959F35}"/>
              </a:ext>
            </a:extLst>
          </p:cNvPr>
          <p:cNvGrpSpPr/>
          <p:nvPr/>
        </p:nvGrpSpPr>
        <p:grpSpPr>
          <a:xfrm>
            <a:off x="444502" y="1400167"/>
            <a:ext cx="4367213" cy="523875"/>
            <a:chOff x="966" y="3292"/>
            <a:chExt cx="2751" cy="330"/>
          </a:xfrm>
        </p:grpSpPr>
        <p:sp>
          <p:nvSpPr>
            <p:cNvPr id="32" name="Text Box 17">
              <a:extLst>
                <a:ext uri="{FF2B5EF4-FFF2-40B4-BE49-F238E27FC236}">
                  <a16:creationId xmlns:a16="http://schemas.microsoft.com/office/drawing/2014/main" id="{A062D0F3-3473-98B0-33AE-966C6483710C}"/>
                </a:ext>
              </a:extLst>
            </p:cNvPr>
            <p:cNvSpPr txBox="1"/>
            <p:nvPr/>
          </p:nvSpPr>
          <p:spPr>
            <a:xfrm>
              <a:off x="966" y="3292"/>
              <a:ext cx="2208" cy="330"/>
            </a:xfrm>
            <a:prstGeom prst="rect">
              <a:avLst/>
            </a:prstGeom>
            <a:noFill/>
            <a:ln w="9525">
              <a:noFill/>
            </a:ln>
          </p:spPr>
          <p:txBody>
            <a:bodyPr>
              <a:spAutoFit/>
            </a:bodyPr>
            <a:lstStyle/>
            <a:p>
              <a:pPr>
                <a:spcBef>
                  <a:spcPct val="50000"/>
                </a:spcBef>
              </a:pPr>
              <a:r>
                <a:rPr lang="zh-CN" altLang="en-US" sz="2800" dirty="0">
                  <a:solidFill>
                    <a:srgbClr val="1C1C1C"/>
                  </a:solidFill>
                  <a:latin typeface="Times New Roman" panose="02020603050405020304" pitchFamily="18" charset="0"/>
                </a:rPr>
                <a:t>制冷机（</a:t>
              </a:r>
              <a:r>
                <a:rPr lang="zh-CN" altLang="en-US" sz="2800" dirty="0">
                  <a:solidFill>
                    <a:srgbClr val="0000FF"/>
                  </a:solidFill>
                  <a:latin typeface="Times New Roman" panose="02020603050405020304" pitchFamily="18" charset="0"/>
                </a:rPr>
                <a:t>逆</a:t>
              </a:r>
              <a:r>
                <a:rPr lang="zh-CN" altLang="en-US" sz="2800" dirty="0">
                  <a:solidFill>
                    <a:srgbClr val="1C1C1C"/>
                  </a:solidFill>
                  <a:latin typeface="Times New Roman" panose="02020603050405020304" pitchFamily="18" charset="0"/>
                </a:rPr>
                <a:t>循环）</a:t>
              </a:r>
              <a:endParaRPr lang="zh-CN" altLang="zh-CN" sz="2800" dirty="0">
                <a:solidFill>
                  <a:srgbClr val="1C1C1C"/>
                </a:solidFill>
                <a:latin typeface="Times New Roman" panose="02020603050405020304" pitchFamily="18" charset="0"/>
                <a:ea typeface="楷体_GB2312" panose="02010609030101010101" pitchFamily="49" charset="-122"/>
              </a:endParaRPr>
            </a:p>
          </p:txBody>
        </p:sp>
        <mc:AlternateContent xmlns:mc="http://schemas.openxmlformats.org/markup-compatibility/2006" xmlns:a14="http://schemas.microsoft.com/office/drawing/2010/main">
          <mc:Choice Requires="a14">
            <p:sp>
              <p:nvSpPr>
                <p:cNvPr id="33" name="Object 18">
                  <a:extLst>
                    <a:ext uri="{FF2B5EF4-FFF2-40B4-BE49-F238E27FC236}">
                      <a16:creationId xmlns:a16="http://schemas.microsoft.com/office/drawing/2014/main" id="{3D4414AB-5C4D-E9DD-3891-75830B4D2C21}"/>
                    </a:ext>
                  </a:extLst>
                </p:cNvPr>
                <p:cNvSpPr txBox="1"/>
                <p:nvPr/>
              </p:nvSpPr>
              <p:spPr>
                <a:xfrm>
                  <a:off x="2811" y="3319"/>
                  <a:ext cx="906" cy="274"/>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&lt;0</m:t>
                        </m:r>
                      </m:oMath>
                    </m:oMathPara>
                  </a14:m>
                  <a:endParaRPr lang="zh-CN" altLang="en-US" sz="2800" dirty="0"/>
                </a:p>
              </p:txBody>
            </p:sp>
          </mc:Choice>
          <mc:Fallback xmlns="">
            <p:sp>
              <p:nvSpPr>
                <p:cNvPr id="33" name="Object 18">
                  <a:extLst>
                    <a:ext uri="{FF2B5EF4-FFF2-40B4-BE49-F238E27FC236}">
                      <a16:creationId xmlns:a16="http://schemas.microsoft.com/office/drawing/2014/main" id="{DBCEB0A7-A89E-E136-69D0-F7912DA782A8}"/>
                    </a:ext>
                  </a:extLst>
                </p:cNvPr>
                <p:cNvSpPr txBox="1">
                  <a:spLocks noRot="1" noChangeAspect="1" noMove="1" noResize="1" noEditPoints="1" noAdjustHandles="1" noChangeArrowheads="1" noChangeShapeType="1" noTextEdit="1"/>
                </p:cNvSpPr>
                <p:nvPr/>
              </p:nvSpPr>
              <p:spPr>
                <a:xfrm>
                  <a:off x="2811" y="3319"/>
                  <a:ext cx="906" cy="274"/>
                </a:xfrm>
                <a:prstGeom prst="rect">
                  <a:avLst/>
                </a:prstGeom>
                <a:blipFill>
                  <a:blip r:embed="rId14"/>
                  <a:stretch>
                    <a:fillRect/>
                  </a:stretch>
                </a:blipFill>
                <a:ln w="38100">
                  <a:noFill/>
                  <a:miter/>
                </a:ln>
              </p:spPr>
              <p:txBody>
                <a:bodyPr/>
                <a:lstStyle/>
                <a:p>
                  <a:r>
                    <a:rPr lang="zh-CN" altLang="en-US">
                      <a:noFill/>
                    </a:rPr>
                    <a:t> </a:t>
                  </a:r>
                </a:p>
              </p:txBody>
            </p:sp>
          </mc:Fallback>
        </mc:AlternateContent>
      </p:grpSp>
      <p:grpSp>
        <p:nvGrpSpPr>
          <p:cNvPr id="5" name="组合 4">
            <a:extLst>
              <a:ext uri="{FF2B5EF4-FFF2-40B4-BE49-F238E27FC236}">
                <a16:creationId xmlns:a16="http://schemas.microsoft.com/office/drawing/2014/main" id="{F395B888-8B51-63D4-9E7E-20052DC3BFBE}"/>
              </a:ext>
            </a:extLst>
          </p:cNvPr>
          <p:cNvGrpSpPr/>
          <p:nvPr/>
        </p:nvGrpSpPr>
        <p:grpSpPr>
          <a:xfrm>
            <a:off x="4650527" y="845466"/>
            <a:ext cx="3187017" cy="4517228"/>
            <a:chOff x="2051720" y="0"/>
            <a:chExt cx="5918944" cy="6858000"/>
          </a:xfrm>
        </p:grpSpPr>
        <p:pic>
          <p:nvPicPr>
            <p:cNvPr id="50" name="Picture 13">
              <a:hlinkClick r:id="rId15" action="ppaction://hlinkfile"/>
              <a:extLst>
                <a:ext uri="{FF2B5EF4-FFF2-40B4-BE49-F238E27FC236}">
                  <a16:creationId xmlns:a16="http://schemas.microsoft.com/office/drawing/2014/main" id="{72605BA0-ED34-3CEA-FED7-8F6FB5A84938}"/>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26667" t="6511" r="15085" b="4948"/>
            <a:stretch/>
          </p:blipFill>
          <p:spPr bwMode="auto">
            <a:xfrm>
              <a:off x="2051720" y="0"/>
              <a:ext cx="5904656"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51" name="Picture 13">
              <a:hlinkClick r:id="rId15" action="ppaction://hlinkfile"/>
              <a:extLst>
                <a:ext uri="{FF2B5EF4-FFF2-40B4-BE49-F238E27FC236}">
                  <a16:creationId xmlns:a16="http://schemas.microsoft.com/office/drawing/2014/main" id="{F814811F-1D86-E767-4EA0-6C881DA7A2DF}"/>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15873" t="55977" r="79432" b="4948"/>
            <a:stretch/>
          </p:blipFill>
          <p:spPr bwMode="auto">
            <a:xfrm>
              <a:off x="4380837" y="3628229"/>
              <a:ext cx="3589827" cy="3191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spTree>
    <p:extLst>
      <p:ext uri="{BB962C8B-B14F-4D97-AF65-F5344CB8AC3E}">
        <p14:creationId xmlns:p14="http://schemas.microsoft.com/office/powerpoint/2010/main" val="1229613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8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8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19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74" name="Group 2"/>
          <p:cNvGrpSpPr/>
          <p:nvPr/>
        </p:nvGrpSpPr>
        <p:grpSpPr>
          <a:xfrm>
            <a:off x="1628776" y="1518444"/>
            <a:ext cx="4000500" cy="3733800"/>
            <a:chOff x="480" y="864"/>
            <a:chExt cx="2520" cy="2352"/>
          </a:xfrm>
        </p:grpSpPr>
        <p:sp>
          <p:nvSpPr>
            <p:cNvPr id="15395" name="Rectangle 3"/>
            <p:cNvSpPr/>
            <p:nvPr/>
          </p:nvSpPr>
          <p:spPr>
            <a:xfrm>
              <a:off x="480" y="864"/>
              <a:ext cx="2496" cy="2352"/>
            </a:xfrm>
            <a:prstGeom prst="rect">
              <a:avLst/>
            </a:prstGeom>
            <a:solidFill>
              <a:schemeClr val="bg1"/>
            </a:solidFill>
            <a:ln w="9525" cap="flat" cmpd="sng">
              <a:noFill/>
              <a:prstDash val="solid"/>
              <a:miter/>
              <a:headEnd type="none" w="med" len="med"/>
              <a:tailEnd type="none" w="med" len="med"/>
            </a:ln>
          </p:spPr>
          <p:txBody>
            <a:bodyPr wrap="none" anchor="ctr" anchorCtr="0"/>
            <a:lstStyle/>
            <a:p>
              <a:endParaRPr lang="zh-CN" altLang="en-US" sz="2400" dirty="0">
                <a:latin typeface="Bookman Old Style" panose="02050604050505020204" pitchFamily="18" charset="0"/>
              </a:endParaRPr>
            </a:p>
          </p:txBody>
        </p:sp>
        <p:sp>
          <p:nvSpPr>
            <p:cNvPr id="15396" name="Line 4"/>
            <p:cNvSpPr/>
            <p:nvPr/>
          </p:nvSpPr>
          <p:spPr>
            <a:xfrm>
              <a:off x="768" y="2928"/>
              <a:ext cx="2160" cy="0"/>
            </a:xfrm>
            <a:prstGeom prst="line">
              <a:avLst/>
            </a:prstGeom>
            <a:ln w="19050" cap="flat" cmpd="sng">
              <a:solidFill>
                <a:srgbClr val="000000"/>
              </a:solidFill>
              <a:prstDash val="solid"/>
              <a:headEnd type="none" w="med" len="med"/>
              <a:tailEnd type="triangle" w="sm" len="lg"/>
            </a:ln>
          </p:spPr>
        </p:sp>
        <p:sp>
          <p:nvSpPr>
            <p:cNvPr id="15397" name="Line 5"/>
            <p:cNvSpPr/>
            <p:nvPr/>
          </p:nvSpPr>
          <p:spPr>
            <a:xfrm flipV="1">
              <a:off x="768" y="962"/>
              <a:ext cx="1" cy="1958"/>
            </a:xfrm>
            <a:prstGeom prst="line">
              <a:avLst/>
            </a:prstGeom>
            <a:ln w="19050" cap="flat" cmpd="sng">
              <a:solidFill>
                <a:srgbClr val="000000"/>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15368" name="Object 6"/>
                <p:cNvSpPr txBox="1"/>
                <p:nvPr/>
              </p:nvSpPr>
              <p:spPr>
                <a:xfrm>
                  <a:off x="2737" y="2688"/>
                  <a:ext cx="191" cy="218"/>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𝑉</m:t>
                        </m:r>
                      </m:oMath>
                    </m:oMathPara>
                  </a14:m>
                  <a:endParaRPr lang="zh-CN" altLang="en-US" sz="2400" dirty="0"/>
                </a:p>
              </p:txBody>
            </p:sp>
          </mc:Choice>
          <mc:Fallback xmlns="">
            <p:sp>
              <p:nvSpPr>
                <p:cNvPr id="15368" name="Object 6"/>
                <p:cNvSpPr txBox="1">
                  <a:spLocks noRot="1" noChangeAspect="1" noMove="1" noResize="1" noEditPoints="1" noAdjustHandles="1" noChangeArrowheads="1" noChangeShapeType="1" noTextEdit="1"/>
                </p:cNvSpPr>
                <p:nvPr/>
              </p:nvSpPr>
              <p:spPr>
                <a:xfrm>
                  <a:off x="2737" y="2688"/>
                  <a:ext cx="191" cy="218"/>
                </a:xfrm>
                <a:prstGeom prst="rect">
                  <a:avLst/>
                </a:prstGeom>
                <a:blipFill>
                  <a:blip r:embed="rId2"/>
                  <a:stretch>
                    <a:fillRect l="-6000" r="-26000" b="-28070"/>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369" name="Object 7"/>
                <p:cNvSpPr txBox="1"/>
                <p:nvPr/>
              </p:nvSpPr>
              <p:spPr>
                <a:xfrm>
                  <a:off x="664" y="2922"/>
                  <a:ext cx="168" cy="198"/>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𝑜</m:t>
                        </m:r>
                      </m:oMath>
                    </m:oMathPara>
                  </a14:m>
                  <a:endParaRPr lang="zh-CN" altLang="en-US" sz="2400" dirty="0"/>
                </a:p>
              </p:txBody>
            </p:sp>
          </mc:Choice>
          <mc:Fallback xmlns="">
            <p:sp>
              <p:nvSpPr>
                <p:cNvPr id="15369" name="Object 7"/>
                <p:cNvSpPr txBox="1">
                  <a:spLocks noRot="1" noChangeAspect="1" noMove="1" noResize="1" noEditPoints="1" noAdjustHandles="1" noChangeArrowheads="1" noChangeShapeType="1" noTextEdit="1"/>
                </p:cNvSpPr>
                <p:nvPr/>
              </p:nvSpPr>
              <p:spPr>
                <a:xfrm>
                  <a:off x="664" y="2922"/>
                  <a:ext cx="168" cy="198"/>
                </a:xfrm>
                <a:prstGeom prst="rect">
                  <a:avLst/>
                </a:prstGeom>
                <a:blipFill>
                  <a:blip r:embed="rId3"/>
                  <a:stretch>
                    <a:fillRect r="-25000" b="-30769"/>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370" name="Object 8"/>
                <p:cNvSpPr txBox="1"/>
                <p:nvPr/>
              </p:nvSpPr>
              <p:spPr>
                <a:xfrm>
                  <a:off x="505" y="960"/>
                  <a:ext cx="202" cy="240"/>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𝑝</m:t>
                        </m:r>
                      </m:oMath>
                    </m:oMathPara>
                  </a14:m>
                  <a:endParaRPr lang="zh-CN" altLang="en-US" sz="2400" dirty="0"/>
                </a:p>
              </p:txBody>
            </p:sp>
          </mc:Choice>
          <mc:Fallback xmlns="">
            <p:sp>
              <p:nvSpPr>
                <p:cNvPr id="15370" name="Object 8"/>
                <p:cNvSpPr txBox="1">
                  <a:spLocks noRot="1" noChangeAspect="1" noMove="1" noResize="1" noEditPoints="1" noAdjustHandles="1" noChangeArrowheads="1" noChangeShapeType="1" noTextEdit="1"/>
                </p:cNvSpPr>
                <p:nvPr/>
              </p:nvSpPr>
              <p:spPr>
                <a:xfrm>
                  <a:off x="505" y="960"/>
                  <a:ext cx="202" cy="240"/>
                </a:xfrm>
                <a:prstGeom prst="rect">
                  <a:avLst/>
                </a:prstGeom>
                <a:blipFill>
                  <a:blip r:embed="rId4"/>
                  <a:stretch>
                    <a:fillRect l="-5769" r="-17308" b="-34921"/>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371" name="Object 9"/>
                <p:cNvSpPr txBox="1"/>
                <p:nvPr/>
              </p:nvSpPr>
              <p:spPr>
                <a:xfrm>
                  <a:off x="2067" y="2544"/>
                  <a:ext cx="237" cy="299"/>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𝑇</m:t>
                            </m:r>
                          </m:e>
                          <m:sub>
                            <m:r>
                              <a:rPr lang="zh-CN" altLang="en-US" sz="2400" i="1">
                                <a:solidFill>
                                  <a:srgbClr val="000000"/>
                                </a:solidFill>
                                <a:latin typeface="Cambria Math" panose="02040503050406030204" pitchFamily="18" charset="0"/>
                              </a:rPr>
                              <m:t>2</m:t>
                            </m:r>
                          </m:sub>
                        </m:sSub>
                      </m:oMath>
                    </m:oMathPara>
                  </a14:m>
                  <a:endParaRPr lang="zh-CN" altLang="en-US" sz="2400"/>
                </a:p>
              </p:txBody>
            </p:sp>
          </mc:Choice>
          <mc:Fallback xmlns="">
            <p:sp>
              <p:nvSpPr>
                <p:cNvPr id="15371" name="Object 9"/>
                <p:cNvSpPr txBox="1">
                  <a:spLocks noRot="1" noChangeAspect="1" noMove="1" noResize="1" noEditPoints="1" noAdjustHandles="1" noChangeArrowheads="1" noChangeShapeType="1" noTextEdit="1"/>
                </p:cNvSpPr>
                <p:nvPr/>
              </p:nvSpPr>
              <p:spPr>
                <a:xfrm>
                  <a:off x="2067" y="2544"/>
                  <a:ext cx="237" cy="299"/>
                </a:xfrm>
                <a:prstGeom prst="rect">
                  <a:avLst/>
                </a:prstGeom>
                <a:blipFill>
                  <a:blip r:embed="rId5"/>
                  <a:stretch>
                    <a:fillRect/>
                  </a:stretch>
                </a:blipFill>
                <a:ln w="38100">
                  <a:noFill/>
                  <a:miter/>
                </a:ln>
              </p:spPr>
              <p:txBody>
                <a:bodyPr/>
                <a:lstStyle/>
                <a:p>
                  <a:r>
                    <a:rPr lang="en-US">
                      <a:noFill/>
                    </a:rPr>
                    <a:t> </a:t>
                  </a:r>
                </a:p>
              </p:txBody>
            </p:sp>
          </mc:Fallback>
        </mc:AlternateContent>
        <p:sp>
          <p:nvSpPr>
            <p:cNvPr id="15398" name="Freeform 10" descr="浅色下对角线"/>
            <p:cNvSpPr/>
            <p:nvPr/>
          </p:nvSpPr>
          <p:spPr>
            <a:xfrm>
              <a:off x="1056" y="1362"/>
              <a:ext cx="1465" cy="1219"/>
            </a:xfrm>
            <a:custGeom>
              <a:avLst/>
              <a:gdLst>
                <a:gd name="txL" fmla="*/ 0 w 1465"/>
                <a:gd name="txT" fmla="*/ 0 h 1219"/>
                <a:gd name="txR" fmla="*/ 1465 w 1465"/>
                <a:gd name="txB" fmla="*/ 1219 h 1219"/>
              </a:gdLst>
              <a:ahLst/>
              <a:cxnLst>
                <a:cxn ang="0">
                  <a:pos x="23" y="54"/>
                </a:cxn>
                <a:cxn ang="0">
                  <a:pos x="53" y="246"/>
                </a:cxn>
                <a:cxn ang="0">
                  <a:pos x="106" y="408"/>
                </a:cxn>
                <a:cxn ang="0">
                  <a:pos x="177" y="624"/>
                </a:cxn>
                <a:cxn ang="0">
                  <a:pos x="248" y="763"/>
                </a:cxn>
                <a:cxn ang="0">
                  <a:pos x="349" y="901"/>
                </a:cxn>
                <a:cxn ang="0">
                  <a:pos x="496" y="967"/>
                </a:cxn>
                <a:cxn ang="0">
                  <a:pos x="692" y="1056"/>
                </a:cxn>
                <a:cxn ang="0">
                  <a:pos x="992" y="1135"/>
                </a:cxn>
                <a:cxn ang="0">
                  <a:pos x="1227" y="1182"/>
                </a:cxn>
                <a:cxn ang="0">
                  <a:pos x="1465" y="1219"/>
                </a:cxn>
                <a:cxn ang="0">
                  <a:pos x="1352" y="1117"/>
                </a:cxn>
                <a:cxn ang="0">
                  <a:pos x="1222" y="1027"/>
                </a:cxn>
                <a:cxn ang="0">
                  <a:pos x="1181" y="979"/>
                </a:cxn>
                <a:cxn ang="0">
                  <a:pos x="1122" y="906"/>
                </a:cxn>
                <a:cxn ang="0">
                  <a:pos x="1093" y="859"/>
                </a:cxn>
                <a:cxn ang="0">
                  <a:pos x="1021" y="715"/>
                </a:cxn>
                <a:cxn ang="0">
                  <a:pos x="933" y="661"/>
                </a:cxn>
                <a:cxn ang="0">
                  <a:pos x="1004" y="679"/>
                </a:cxn>
                <a:cxn ang="0">
                  <a:pos x="864" y="633"/>
                </a:cxn>
                <a:cxn ang="0">
                  <a:pos x="791" y="607"/>
                </a:cxn>
                <a:cxn ang="0">
                  <a:pos x="697" y="570"/>
                </a:cxn>
                <a:cxn ang="0">
                  <a:pos x="591" y="504"/>
                </a:cxn>
                <a:cxn ang="0">
                  <a:pos x="383" y="367"/>
                </a:cxn>
                <a:cxn ang="0">
                  <a:pos x="213" y="240"/>
                </a:cxn>
                <a:cxn ang="0">
                  <a:pos x="124" y="162"/>
                </a:cxn>
                <a:cxn ang="0">
                  <a:pos x="0" y="0"/>
                </a:cxn>
              </a:cxnLst>
              <a:rect l="txL" t="txT" r="txR" b="txB"/>
              <a:pathLst>
                <a:path w="1465" h="1219">
                  <a:moveTo>
                    <a:pt x="23" y="54"/>
                  </a:moveTo>
                  <a:lnTo>
                    <a:pt x="53" y="246"/>
                  </a:lnTo>
                  <a:lnTo>
                    <a:pt x="106" y="408"/>
                  </a:lnTo>
                  <a:lnTo>
                    <a:pt x="177" y="624"/>
                  </a:lnTo>
                  <a:lnTo>
                    <a:pt x="248" y="763"/>
                  </a:lnTo>
                  <a:lnTo>
                    <a:pt x="349" y="901"/>
                  </a:lnTo>
                  <a:lnTo>
                    <a:pt x="496" y="967"/>
                  </a:lnTo>
                  <a:lnTo>
                    <a:pt x="692" y="1056"/>
                  </a:lnTo>
                  <a:lnTo>
                    <a:pt x="992" y="1135"/>
                  </a:lnTo>
                  <a:lnTo>
                    <a:pt x="1227" y="1182"/>
                  </a:lnTo>
                  <a:lnTo>
                    <a:pt x="1465" y="1219"/>
                  </a:lnTo>
                  <a:lnTo>
                    <a:pt x="1352" y="1117"/>
                  </a:lnTo>
                  <a:lnTo>
                    <a:pt x="1222" y="1027"/>
                  </a:lnTo>
                  <a:lnTo>
                    <a:pt x="1181" y="979"/>
                  </a:lnTo>
                  <a:lnTo>
                    <a:pt x="1122" y="906"/>
                  </a:lnTo>
                  <a:lnTo>
                    <a:pt x="1093" y="859"/>
                  </a:lnTo>
                  <a:lnTo>
                    <a:pt x="1021" y="715"/>
                  </a:lnTo>
                  <a:lnTo>
                    <a:pt x="933" y="661"/>
                  </a:lnTo>
                  <a:lnTo>
                    <a:pt x="1004" y="679"/>
                  </a:lnTo>
                  <a:lnTo>
                    <a:pt x="864" y="633"/>
                  </a:lnTo>
                  <a:lnTo>
                    <a:pt x="791" y="607"/>
                  </a:lnTo>
                  <a:lnTo>
                    <a:pt x="697" y="570"/>
                  </a:lnTo>
                  <a:lnTo>
                    <a:pt x="591" y="504"/>
                  </a:lnTo>
                  <a:lnTo>
                    <a:pt x="383" y="367"/>
                  </a:lnTo>
                  <a:lnTo>
                    <a:pt x="213" y="240"/>
                  </a:lnTo>
                  <a:lnTo>
                    <a:pt x="124" y="162"/>
                  </a:lnTo>
                  <a:lnTo>
                    <a:pt x="0" y="0"/>
                  </a:lnTo>
                </a:path>
              </a:pathLst>
            </a:custGeom>
            <a:pattFill prst="ltDnDiag">
              <a:fgClr>
                <a:srgbClr val="0066FF">
                  <a:alpha val="100000"/>
                </a:srgbClr>
              </a:fgClr>
              <a:bgClr>
                <a:schemeClr val="bg1">
                  <a:alpha val="100000"/>
                </a:schemeClr>
              </a:bgClr>
            </a:pattFill>
            <a:ln w="9525">
              <a:noFill/>
            </a:ln>
          </p:spPr>
          <p:txBody>
            <a:bodyPr/>
            <a:lstStyle/>
            <a:p>
              <a:endParaRPr lang="zh-CN" altLang="en-US" sz="2400"/>
            </a:p>
          </p:txBody>
        </p:sp>
        <p:sp>
          <p:nvSpPr>
            <p:cNvPr id="15399" name="Text Box 11"/>
            <p:cNvSpPr txBox="1"/>
            <p:nvPr/>
          </p:nvSpPr>
          <p:spPr>
            <a:xfrm flipH="1">
              <a:off x="1511" y="1951"/>
              <a:ext cx="372" cy="291"/>
            </a:xfrm>
            <a:prstGeom prst="rect">
              <a:avLst/>
            </a:prstGeom>
            <a:noFill/>
            <a:ln w="9525">
              <a:noFill/>
            </a:ln>
          </p:spPr>
          <p:txBody>
            <a:bodyPr>
              <a:spAutoFit/>
            </a:bodyPr>
            <a:lstStyle/>
            <a:p>
              <a:pPr>
                <a:spcBef>
                  <a:spcPct val="50000"/>
                </a:spcBef>
              </a:pPr>
              <a:r>
                <a:rPr lang="en-US" altLang="zh-CN" sz="2400" i="1" dirty="0">
                  <a:solidFill>
                    <a:srgbClr val="000000"/>
                  </a:solidFill>
                  <a:latin typeface="Times New Roman" panose="02020603050405020304" pitchFamily="18" charset="0"/>
                </a:rPr>
                <a:t>W</a:t>
              </a:r>
            </a:p>
          </p:txBody>
        </p:sp>
        <p:sp>
          <p:nvSpPr>
            <p:cNvPr id="15400" name="Line 12"/>
            <p:cNvSpPr/>
            <p:nvPr/>
          </p:nvSpPr>
          <p:spPr>
            <a:xfrm flipH="1" flipV="1">
              <a:off x="1748" y="2413"/>
              <a:ext cx="124" cy="42"/>
            </a:xfrm>
            <a:prstGeom prst="line">
              <a:avLst/>
            </a:prstGeom>
            <a:ln w="57150" cap="flat" cmpd="sng">
              <a:solidFill>
                <a:srgbClr val="0000FF"/>
              </a:solidFill>
              <a:prstDash val="solid"/>
              <a:headEnd type="triangle" w="sm" len="lg"/>
              <a:tailEnd type="none" w="sm" len="lg"/>
            </a:ln>
          </p:spPr>
        </p:sp>
        <p:sp>
          <p:nvSpPr>
            <p:cNvPr id="15401" name="Line 13"/>
            <p:cNvSpPr/>
            <p:nvPr/>
          </p:nvSpPr>
          <p:spPr>
            <a:xfrm>
              <a:off x="1488" y="1733"/>
              <a:ext cx="144" cy="96"/>
            </a:xfrm>
            <a:prstGeom prst="line">
              <a:avLst/>
            </a:prstGeom>
            <a:ln w="57150" cap="flat" cmpd="sng">
              <a:solidFill>
                <a:srgbClr val="0000FF"/>
              </a:solidFill>
              <a:prstDash val="solid"/>
              <a:headEnd type="triangle" w="sm" len="lg"/>
              <a:tailEnd type="none" w="sm" len="lg"/>
            </a:ln>
          </p:spPr>
        </p:sp>
        <p:sp>
          <p:nvSpPr>
            <p:cNvPr id="15402" name="Line 14"/>
            <p:cNvSpPr/>
            <p:nvPr/>
          </p:nvSpPr>
          <p:spPr>
            <a:xfrm flipH="1" flipV="1">
              <a:off x="1152" y="1799"/>
              <a:ext cx="41" cy="126"/>
            </a:xfrm>
            <a:prstGeom prst="line">
              <a:avLst/>
            </a:prstGeom>
            <a:ln w="57150" cap="flat" cmpd="sng">
              <a:solidFill>
                <a:srgbClr val="CC0099"/>
              </a:solidFill>
              <a:prstDash val="solid"/>
              <a:headEnd type="triangle" w="sm" len="lg"/>
              <a:tailEnd type="none" w="sm" len="lg"/>
            </a:ln>
          </p:spPr>
        </p:sp>
        <mc:AlternateContent xmlns:mc="http://schemas.openxmlformats.org/markup-compatibility/2006" xmlns:a14="http://schemas.microsoft.com/office/drawing/2010/main">
          <mc:Choice Requires="a14">
            <p:sp>
              <p:nvSpPr>
                <p:cNvPr id="15372" name="Object 15"/>
                <p:cNvSpPr txBox="1"/>
                <p:nvPr/>
              </p:nvSpPr>
              <p:spPr>
                <a:xfrm>
                  <a:off x="1728" y="1632"/>
                  <a:ext cx="202" cy="294"/>
                </a:xfrm>
                <a:prstGeom prst="rect">
                  <a:avLst/>
                </a:prstGeom>
                <a:noFill/>
                <a:ln w="38100">
                  <a:noFill/>
                  <a:miter/>
                </a:ln>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𝑇</m:t>
                            </m:r>
                          </m:e>
                          <m:sub>
                            <m:r>
                              <a:rPr lang="zh-CN" altLang="en-US" sz="2400" i="1">
                                <a:solidFill>
                                  <a:srgbClr val="000000"/>
                                </a:solidFill>
                                <a:latin typeface="Cambria Math" panose="02040503050406030204" pitchFamily="18" charset="0"/>
                              </a:rPr>
                              <m:t>1</m:t>
                            </m:r>
                          </m:sub>
                        </m:sSub>
                      </m:oMath>
                    </m:oMathPara>
                  </a14:m>
                  <a:endParaRPr lang="zh-CN" altLang="en-US" sz="2400"/>
                </a:p>
              </p:txBody>
            </p:sp>
          </mc:Choice>
          <mc:Fallback xmlns="">
            <p:sp>
              <p:nvSpPr>
                <p:cNvPr id="15372" name="Object 15"/>
                <p:cNvSpPr txBox="1">
                  <a:spLocks noRot="1" noChangeAspect="1" noMove="1" noResize="1" noEditPoints="1" noAdjustHandles="1" noChangeArrowheads="1" noChangeShapeType="1" noTextEdit="1"/>
                </p:cNvSpPr>
                <p:nvPr/>
              </p:nvSpPr>
              <p:spPr>
                <a:xfrm>
                  <a:off x="1728" y="1632"/>
                  <a:ext cx="202" cy="294"/>
                </a:xfrm>
                <a:prstGeom prst="rect">
                  <a:avLst/>
                </a:prstGeom>
                <a:blipFill>
                  <a:blip r:embed="rId6"/>
                  <a:stretch>
                    <a:fillRect r="-16981"/>
                  </a:stretch>
                </a:blipFill>
                <a:ln w="38100">
                  <a:noFill/>
                  <a:miter/>
                </a:ln>
              </p:spPr>
              <p:txBody>
                <a:bodyPr/>
                <a:lstStyle/>
                <a:p>
                  <a:r>
                    <a:rPr lang="zh-CN" altLang="en-US">
                      <a:noFill/>
                    </a:rPr>
                    <a:t> </a:t>
                  </a:r>
                </a:p>
              </p:txBody>
            </p:sp>
          </mc:Fallback>
        </mc:AlternateContent>
        <p:sp>
          <p:nvSpPr>
            <p:cNvPr id="15403" name="Line 16"/>
            <p:cNvSpPr/>
            <p:nvPr/>
          </p:nvSpPr>
          <p:spPr>
            <a:xfrm>
              <a:off x="2160" y="2213"/>
              <a:ext cx="96" cy="96"/>
            </a:xfrm>
            <a:prstGeom prst="line">
              <a:avLst/>
            </a:prstGeom>
            <a:ln w="57150" cap="flat" cmpd="sng">
              <a:solidFill>
                <a:srgbClr val="CC0099"/>
              </a:solidFill>
              <a:prstDash val="solid"/>
              <a:headEnd type="triangle" w="sm" len="lg"/>
              <a:tailEnd type="none" w="sm" len="lg"/>
            </a:ln>
          </p:spPr>
        </p:sp>
        <p:sp>
          <p:nvSpPr>
            <p:cNvPr id="15404" name="Freeform 17"/>
            <p:cNvSpPr/>
            <p:nvPr/>
          </p:nvSpPr>
          <p:spPr>
            <a:xfrm>
              <a:off x="1056" y="1349"/>
              <a:ext cx="1044" cy="680"/>
            </a:xfrm>
            <a:custGeom>
              <a:avLst/>
              <a:gdLst>
                <a:gd name="txL" fmla="*/ 0 w 1044"/>
                <a:gd name="txT" fmla="*/ 0 h 680"/>
                <a:gd name="txR" fmla="*/ 1044 w 1044"/>
                <a:gd name="txB" fmla="*/ 680 h 680"/>
              </a:gdLst>
              <a:ahLst/>
              <a:cxnLst>
                <a:cxn ang="0">
                  <a:pos x="0" y="0"/>
                </a:cxn>
                <a:cxn ang="0">
                  <a:pos x="242" y="246"/>
                </a:cxn>
                <a:cxn ang="0">
                  <a:pos x="501" y="435"/>
                </a:cxn>
                <a:cxn ang="0">
                  <a:pos x="734" y="565"/>
                </a:cxn>
                <a:cxn ang="0">
                  <a:pos x="1001" y="665"/>
                </a:cxn>
                <a:cxn ang="0">
                  <a:pos x="995" y="658"/>
                </a:cxn>
              </a:cxnLst>
              <a:rect l="txL" t="txT" r="txR" b="txB"/>
              <a:pathLst>
                <a:path w="1044" h="680">
                  <a:moveTo>
                    <a:pt x="0" y="0"/>
                  </a:moveTo>
                  <a:cubicBezTo>
                    <a:pt x="40" y="41"/>
                    <a:pt x="159" y="174"/>
                    <a:pt x="242" y="246"/>
                  </a:cubicBezTo>
                  <a:cubicBezTo>
                    <a:pt x="325" y="318"/>
                    <a:pt x="419" y="382"/>
                    <a:pt x="501" y="435"/>
                  </a:cubicBezTo>
                  <a:cubicBezTo>
                    <a:pt x="583" y="488"/>
                    <a:pt x="651" y="527"/>
                    <a:pt x="734" y="565"/>
                  </a:cubicBezTo>
                  <a:cubicBezTo>
                    <a:pt x="817" y="603"/>
                    <a:pt x="958" y="650"/>
                    <a:pt x="1001" y="665"/>
                  </a:cubicBezTo>
                  <a:cubicBezTo>
                    <a:pt x="1044" y="680"/>
                    <a:pt x="996" y="658"/>
                    <a:pt x="995" y="658"/>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400"/>
            </a:p>
          </p:txBody>
        </p:sp>
        <p:sp>
          <p:nvSpPr>
            <p:cNvPr id="15405" name="Freeform 18"/>
            <p:cNvSpPr/>
            <p:nvPr/>
          </p:nvSpPr>
          <p:spPr>
            <a:xfrm>
              <a:off x="1369" y="2251"/>
              <a:ext cx="1175" cy="330"/>
            </a:xfrm>
            <a:custGeom>
              <a:avLst/>
              <a:gdLst>
                <a:gd name="txL" fmla="*/ 0 w 1175"/>
                <a:gd name="txT" fmla="*/ 0 h 330"/>
                <a:gd name="txR" fmla="*/ 1175 w 1175"/>
                <a:gd name="txB" fmla="*/ 330 h 330"/>
              </a:gdLst>
              <a:ahLst/>
              <a:cxnLst>
                <a:cxn ang="0">
                  <a:pos x="0" y="0"/>
                </a:cxn>
                <a:cxn ang="0">
                  <a:pos x="181" y="87"/>
                </a:cxn>
                <a:cxn ang="0">
                  <a:pos x="473" y="204"/>
                </a:cxn>
                <a:cxn ang="0">
                  <a:pos x="866" y="293"/>
                </a:cxn>
                <a:cxn ang="0">
                  <a:pos x="1175" y="330"/>
                </a:cxn>
              </a:cxnLst>
              <a:rect l="txL" t="txT" r="txR" b="txB"/>
              <a:pathLst>
                <a:path w="1175" h="330">
                  <a:moveTo>
                    <a:pt x="0" y="0"/>
                  </a:moveTo>
                  <a:cubicBezTo>
                    <a:pt x="30" y="14"/>
                    <a:pt x="102" y="53"/>
                    <a:pt x="181" y="87"/>
                  </a:cubicBezTo>
                  <a:cubicBezTo>
                    <a:pt x="260" y="121"/>
                    <a:pt x="359" y="170"/>
                    <a:pt x="473" y="204"/>
                  </a:cubicBezTo>
                  <a:cubicBezTo>
                    <a:pt x="587" y="238"/>
                    <a:pt x="749" y="272"/>
                    <a:pt x="866" y="293"/>
                  </a:cubicBezTo>
                  <a:cubicBezTo>
                    <a:pt x="983" y="314"/>
                    <a:pt x="1111" y="322"/>
                    <a:pt x="1175" y="330"/>
                  </a:cubicBezTo>
                </a:path>
              </a:pathLst>
            </a:custGeom>
            <a:noFill/>
            <a:ln w="28575" cap="flat" cmpd="sng">
              <a:solidFill>
                <a:srgbClr val="0000FF">
                  <a:alpha val="100000"/>
                </a:srgbClr>
              </a:solidFill>
              <a:prstDash val="solid"/>
              <a:round/>
              <a:headEnd type="none" w="med" len="med"/>
              <a:tailEnd type="none" w="med" len="med"/>
            </a:ln>
          </p:spPr>
          <p:txBody>
            <a:bodyPr/>
            <a:lstStyle/>
            <a:p>
              <a:endParaRPr lang="zh-CN" altLang="en-US" sz="2400"/>
            </a:p>
          </p:txBody>
        </p:sp>
        <p:sp>
          <p:nvSpPr>
            <p:cNvPr id="15406" name="Freeform 19"/>
            <p:cNvSpPr/>
            <p:nvPr/>
          </p:nvSpPr>
          <p:spPr>
            <a:xfrm>
              <a:off x="1056" y="1362"/>
              <a:ext cx="325" cy="895"/>
            </a:xfrm>
            <a:custGeom>
              <a:avLst/>
              <a:gdLst>
                <a:gd name="txL" fmla="*/ 0 w 325"/>
                <a:gd name="txT" fmla="*/ 0 h 895"/>
                <a:gd name="txR" fmla="*/ 325 w 325"/>
                <a:gd name="txB" fmla="*/ 895 h 895"/>
              </a:gdLst>
              <a:ahLst/>
              <a:cxnLst>
                <a:cxn ang="0">
                  <a:pos x="0" y="0"/>
                </a:cxn>
                <a:cxn ang="0">
                  <a:pos x="62" y="297"/>
                </a:cxn>
                <a:cxn ang="0">
                  <a:pos x="184" y="654"/>
                </a:cxn>
                <a:cxn ang="0">
                  <a:pos x="325" y="895"/>
                </a:cxn>
              </a:cxnLst>
              <a:rect l="txL" t="txT" r="txR" b="txB"/>
              <a:pathLst>
                <a:path w="325" h="895">
                  <a:moveTo>
                    <a:pt x="0" y="0"/>
                  </a:moveTo>
                  <a:cubicBezTo>
                    <a:pt x="10" y="49"/>
                    <a:pt x="31" y="188"/>
                    <a:pt x="62" y="297"/>
                  </a:cubicBezTo>
                  <a:cubicBezTo>
                    <a:pt x="93" y="406"/>
                    <a:pt x="140" y="554"/>
                    <a:pt x="184" y="654"/>
                  </a:cubicBezTo>
                  <a:cubicBezTo>
                    <a:pt x="228" y="754"/>
                    <a:pt x="296" y="845"/>
                    <a:pt x="325" y="895"/>
                  </a:cubicBezTo>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sz="2400"/>
            </a:p>
          </p:txBody>
        </p:sp>
        <p:sp>
          <p:nvSpPr>
            <p:cNvPr id="15407" name="Freeform 20"/>
            <p:cNvSpPr/>
            <p:nvPr/>
          </p:nvSpPr>
          <p:spPr>
            <a:xfrm>
              <a:off x="2064" y="2021"/>
              <a:ext cx="484" cy="552"/>
            </a:xfrm>
            <a:custGeom>
              <a:avLst/>
              <a:gdLst>
                <a:gd name="txL" fmla="*/ 0 w 484"/>
                <a:gd name="txT" fmla="*/ 0 h 552"/>
                <a:gd name="txR" fmla="*/ 484 w 484"/>
                <a:gd name="txB" fmla="*/ 552 h 552"/>
              </a:gdLst>
              <a:ahLst/>
              <a:cxnLst>
                <a:cxn ang="0">
                  <a:pos x="0" y="0"/>
                </a:cxn>
                <a:cxn ang="0">
                  <a:pos x="210" y="309"/>
                </a:cxn>
                <a:cxn ang="0">
                  <a:pos x="484" y="552"/>
                </a:cxn>
              </a:cxnLst>
              <a:rect l="txL" t="txT" r="txR" b="txB"/>
              <a:pathLst>
                <a:path w="484" h="552">
                  <a:moveTo>
                    <a:pt x="0" y="0"/>
                  </a:moveTo>
                  <a:cubicBezTo>
                    <a:pt x="35" y="51"/>
                    <a:pt x="129" y="217"/>
                    <a:pt x="210" y="309"/>
                  </a:cubicBezTo>
                  <a:cubicBezTo>
                    <a:pt x="291" y="401"/>
                    <a:pt x="427" y="501"/>
                    <a:pt x="484" y="552"/>
                  </a:cubicBezTo>
                </a:path>
              </a:pathLst>
            </a:custGeom>
            <a:noFill/>
            <a:ln w="28575" cap="flat" cmpd="sng">
              <a:solidFill>
                <a:srgbClr val="CC00CC">
                  <a:alpha val="100000"/>
                </a:srgbClr>
              </a:solidFill>
              <a:prstDash val="solid"/>
              <a:round/>
              <a:headEnd type="none" w="med" len="med"/>
              <a:tailEnd type="none" w="med" len="med"/>
            </a:ln>
          </p:spPr>
          <p:txBody>
            <a:bodyPr/>
            <a:lstStyle/>
            <a:p>
              <a:endParaRPr lang="zh-CN" altLang="en-US" sz="2400"/>
            </a:p>
          </p:txBody>
        </p:sp>
        <p:sp>
          <p:nvSpPr>
            <p:cNvPr id="15408" name="Text Box 21"/>
            <p:cNvSpPr txBox="1"/>
            <p:nvPr/>
          </p:nvSpPr>
          <p:spPr>
            <a:xfrm>
              <a:off x="960" y="1104"/>
              <a:ext cx="288" cy="291"/>
            </a:xfrm>
            <a:prstGeom prst="rect">
              <a:avLst/>
            </a:prstGeom>
            <a:noFill/>
            <a:ln w="9525">
              <a:noFill/>
            </a:ln>
          </p:spPr>
          <p:txBody>
            <a:bodyPr>
              <a:spAutoFit/>
            </a:bodyPr>
            <a:lstStyle/>
            <a:p>
              <a:pPr eaLnBrk="1" hangingPunct="1">
                <a:spcBef>
                  <a:spcPct val="50000"/>
                </a:spcBef>
              </a:pPr>
              <a:r>
                <a:rPr lang="en-US" altLang="zh-CN" sz="2400" i="1" dirty="0">
                  <a:solidFill>
                    <a:srgbClr val="1C1C1C"/>
                  </a:solidFill>
                  <a:latin typeface="Times New Roman" panose="02020603050405020304" pitchFamily="18" charset="0"/>
                </a:rPr>
                <a:t>A</a:t>
              </a:r>
            </a:p>
          </p:txBody>
        </p:sp>
        <p:sp>
          <p:nvSpPr>
            <p:cNvPr id="15409" name="Text Box 22"/>
            <p:cNvSpPr txBox="1"/>
            <p:nvPr/>
          </p:nvSpPr>
          <p:spPr>
            <a:xfrm>
              <a:off x="2064" y="1776"/>
              <a:ext cx="336" cy="291"/>
            </a:xfrm>
            <a:prstGeom prst="rect">
              <a:avLst/>
            </a:prstGeom>
            <a:noFill/>
            <a:ln w="9525">
              <a:noFill/>
            </a:ln>
          </p:spPr>
          <p:txBody>
            <a:bodyPr>
              <a:spAutoFit/>
            </a:bodyPr>
            <a:lstStyle/>
            <a:p>
              <a:pPr eaLnBrk="1" hangingPunct="1">
                <a:spcBef>
                  <a:spcPct val="50000"/>
                </a:spcBef>
              </a:pPr>
              <a:r>
                <a:rPr lang="en-US" altLang="zh-CN" sz="2400" i="1" dirty="0">
                  <a:solidFill>
                    <a:srgbClr val="1C1C1C"/>
                  </a:solidFill>
                  <a:latin typeface="Times New Roman" panose="02020603050405020304" pitchFamily="18" charset="0"/>
                </a:rPr>
                <a:t>B</a:t>
              </a:r>
            </a:p>
          </p:txBody>
        </p:sp>
        <p:sp>
          <p:nvSpPr>
            <p:cNvPr id="15410" name="Text Box 23"/>
            <p:cNvSpPr txBox="1"/>
            <p:nvPr/>
          </p:nvSpPr>
          <p:spPr>
            <a:xfrm>
              <a:off x="2544" y="2352"/>
              <a:ext cx="288" cy="291"/>
            </a:xfrm>
            <a:prstGeom prst="rect">
              <a:avLst/>
            </a:prstGeom>
            <a:noFill/>
            <a:ln w="9525">
              <a:noFill/>
            </a:ln>
          </p:spPr>
          <p:txBody>
            <a:bodyPr>
              <a:spAutoFit/>
            </a:bodyPr>
            <a:lstStyle/>
            <a:p>
              <a:pPr eaLnBrk="1" hangingPunct="1">
                <a:spcBef>
                  <a:spcPct val="50000"/>
                </a:spcBef>
              </a:pPr>
              <a:r>
                <a:rPr lang="en-US" altLang="zh-CN" sz="2400" i="1" dirty="0">
                  <a:solidFill>
                    <a:srgbClr val="1C1C1C"/>
                  </a:solidFill>
                  <a:latin typeface="Times New Roman" panose="02020603050405020304" pitchFamily="18" charset="0"/>
                </a:rPr>
                <a:t>C</a:t>
              </a:r>
            </a:p>
          </p:txBody>
        </p:sp>
        <p:sp>
          <p:nvSpPr>
            <p:cNvPr id="15411" name="Text Box 24"/>
            <p:cNvSpPr txBox="1"/>
            <p:nvPr/>
          </p:nvSpPr>
          <p:spPr>
            <a:xfrm>
              <a:off x="1152" y="2208"/>
              <a:ext cx="336" cy="291"/>
            </a:xfrm>
            <a:prstGeom prst="rect">
              <a:avLst/>
            </a:prstGeom>
            <a:noFill/>
            <a:ln w="9525">
              <a:noFill/>
            </a:ln>
          </p:spPr>
          <p:txBody>
            <a:bodyPr>
              <a:spAutoFit/>
            </a:bodyPr>
            <a:lstStyle/>
            <a:p>
              <a:pPr eaLnBrk="1" hangingPunct="1">
                <a:spcBef>
                  <a:spcPct val="50000"/>
                </a:spcBef>
              </a:pPr>
              <a:r>
                <a:rPr lang="en-US" altLang="zh-CN" sz="2400" i="1" dirty="0">
                  <a:solidFill>
                    <a:srgbClr val="1C1C1C"/>
                  </a:solidFill>
                  <a:latin typeface="Times New Roman" panose="02020603050405020304" pitchFamily="18" charset="0"/>
                </a:rPr>
                <a:t>D</a:t>
              </a:r>
            </a:p>
          </p:txBody>
        </p:sp>
        <mc:AlternateContent xmlns:mc="http://schemas.openxmlformats.org/markup-compatibility/2006" xmlns:a14="http://schemas.microsoft.com/office/drawing/2010/main">
          <mc:Choice Requires="a14">
            <p:sp>
              <p:nvSpPr>
                <p:cNvPr id="15373" name="Object 25"/>
                <p:cNvSpPr txBox="1"/>
                <p:nvPr/>
              </p:nvSpPr>
              <p:spPr>
                <a:xfrm>
                  <a:off x="2208" y="960"/>
                  <a:ext cx="792" cy="328"/>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𝑇</m:t>
                            </m:r>
                          </m:e>
                          <m:sub>
                            <m:r>
                              <a:rPr lang="zh-CN" altLang="en-US" sz="2400" i="1">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&gt;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𝑇</m:t>
                            </m:r>
                          </m:e>
                          <m:sub>
                            <m:r>
                              <a:rPr lang="zh-CN" altLang="en-US" sz="2400" i="1">
                                <a:solidFill>
                                  <a:srgbClr val="000000"/>
                                </a:solidFill>
                                <a:latin typeface="Cambria Math" panose="02040503050406030204" pitchFamily="18" charset="0"/>
                              </a:rPr>
                              <m:t>2</m:t>
                            </m:r>
                          </m:sub>
                        </m:sSub>
                      </m:oMath>
                    </m:oMathPara>
                  </a14:m>
                  <a:endParaRPr lang="zh-CN" altLang="en-US" sz="2400" dirty="0"/>
                </a:p>
              </p:txBody>
            </p:sp>
          </mc:Choice>
          <mc:Fallback xmlns="">
            <p:sp>
              <p:nvSpPr>
                <p:cNvPr id="15373" name="Object 25"/>
                <p:cNvSpPr txBox="1">
                  <a:spLocks noRot="1" noChangeAspect="1" noMove="1" noResize="1" noEditPoints="1" noAdjustHandles="1" noChangeArrowheads="1" noChangeShapeType="1" noTextEdit="1"/>
                </p:cNvSpPr>
                <p:nvPr/>
              </p:nvSpPr>
              <p:spPr>
                <a:xfrm>
                  <a:off x="2208" y="960"/>
                  <a:ext cx="792" cy="328"/>
                </a:xfrm>
                <a:prstGeom prst="rect">
                  <a:avLst/>
                </a:prstGeom>
                <a:blipFill>
                  <a:blip r:embed="rId7"/>
                  <a:stretch>
                    <a:fillRect l="-971"/>
                  </a:stretch>
                </a:blipFill>
                <a:ln w="38100">
                  <a:noFill/>
                  <a:miter/>
                </a:ln>
              </p:spPr>
              <p:txBody>
                <a:bodyPr/>
                <a:lstStyle/>
                <a:p>
                  <a:r>
                    <a:rPr lang="zh-CN" altLang="en-US">
                      <a:noFill/>
                    </a:rPr>
                    <a:t> </a:t>
                  </a:r>
                </a:p>
              </p:txBody>
            </p:sp>
          </mc:Fallback>
        </mc:AlternateContent>
      </p:grpSp>
      <p:grpSp>
        <p:nvGrpSpPr>
          <p:cNvPr id="3" name="Group 26"/>
          <p:cNvGrpSpPr/>
          <p:nvPr/>
        </p:nvGrpSpPr>
        <p:grpSpPr>
          <a:xfrm>
            <a:off x="6591301" y="1412875"/>
            <a:ext cx="3076575" cy="604838"/>
            <a:chOff x="3527" y="890"/>
            <a:chExt cx="1938" cy="381"/>
          </a:xfrm>
        </p:grpSpPr>
        <p:sp>
          <p:nvSpPr>
            <p:cNvPr id="15393" name="Rectangle 27"/>
            <p:cNvSpPr/>
            <p:nvPr/>
          </p:nvSpPr>
          <p:spPr>
            <a:xfrm>
              <a:off x="3527" y="935"/>
              <a:ext cx="1440" cy="336"/>
            </a:xfrm>
            <a:prstGeom prst="rect">
              <a:avLst/>
            </a:prstGeom>
            <a:solidFill>
              <a:srgbClr val="FDE3F0"/>
            </a:solidFill>
            <a:ln w="19050" cap="flat" cmpd="sng">
              <a:solidFill>
                <a:srgbClr val="CC0099"/>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5394" name="Text Box 28"/>
            <p:cNvSpPr txBox="1"/>
            <p:nvPr/>
          </p:nvSpPr>
          <p:spPr>
            <a:xfrm>
              <a:off x="3593" y="890"/>
              <a:ext cx="1872" cy="365"/>
            </a:xfrm>
            <a:prstGeom prst="rect">
              <a:avLst/>
            </a:prstGeom>
            <a:noFill/>
            <a:ln w="9525">
              <a:noFill/>
            </a:ln>
          </p:spPr>
          <p:txBody>
            <a:bodyPr>
              <a:spAutoFit/>
            </a:bodyPr>
            <a:lstStyle/>
            <a:p>
              <a:pPr>
                <a:spcBef>
                  <a:spcPct val="50000"/>
                </a:spcBef>
              </a:pPr>
              <a:r>
                <a:rPr lang="zh-CN" altLang="en-US" sz="3200" dirty="0">
                  <a:solidFill>
                    <a:srgbClr val="000000"/>
                  </a:solidFill>
                  <a:latin typeface="Times New Roman" panose="02020603050405020304" pitchFamily="18" charset="0"/>
                </a:rPr>
                <a:t>高温热源</a:t>
              </a:r>
              <a:r>
                <a:rPr lang="en-US" altLang="zh-CN" sz="3200" i="1" dirty="0">
                  <a:solidFill>
                    <a:srgbClr val="000000"/>
                  </a:solidFill>
                  <a:latin typeface="Times New Roman" panose="02020603050405020304" pitchFamily="18" charset="0"/>
                </a:rPr>
                <a:t>T</a:t>
              </a:r>
              <a:r>
                <a:rPr lang="en-US" altLang="zh-CN" sz="3200" baseline="-25000" dirty="0">
                  <a:solidFill>
                    <a:srgbClr val="000000"/>
                  </a:solidFill>
                  <a:latin typeface="Times New Roman" panose="02020603050405020304" pitchFamily="18" charset="0"/>
                </a:rPr>
                <a:t>1</a:t>
              </a:r>
              <a:endParaRPr lang="en-US" altLang="zh-CN" sz="3200" baseline="-25000" dirty="0">
                <a:solidFill>
                  <a:srgbClr val="000000"/>
                </a:solidFill>
                <a:latin typeface="Times New Roman" panose="02020603050405020304" pitchFamily="18" charset="0"/>
                <a:ea typeface="楷体_GB2312" panose="02010609030101010101" pitchFamily="49" charset="-122"/>
              </a:endParaRPr>
            </a:p>
          </p:txBody>
        </p:sp>
      </p:grpSp>
      <p:grpSp>
        <p:nvGrpSpPr>
          <p:cNvPr id="4" name="Group 29"/>
          <p:cNvGrpSpPr/>
          <p:nvPr/>
        </p:nvGrpSpPr>
        <p:grpSpPr>
          <a:xfrm>
            <a:off x="6677025" y="2590800"/>
            <a:ext cx="2667000" cy="1066800"/>
            <a:chOff x="3264" y="2304"/>
            <a:chExt cx="1488" cy="576"/>
          </a:xfrm>
        </p:grpSpPr>
        <p:sp>
          <p:nvSpPr>
            <p:cNvPr id="15391" name="Oval 30"/>
            <p:cNvSpPr/>
            <p:nvPr/>
          </p:nvSpPr>
          <p:spPr>
            <a:xfrm>
              <a:off x="3264" y="2304"/>
              <a:ext cx="1344" cy="576"/>
            </a:xfrm>
            <a:prstGeom prst="ellipse">
              <a:avLst/>
            </a:prstGeom>
            <a:solidFill>
              <a:schemeClr val="accent1"/>
            </a:solidFill>
            <a:ln w="19050"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5392" name="Text Box 31"/>
            <p:cNvSpPr txBox="1"/>
            <p:nvPr/>
          </p:nvSpPr>
          <p:spPr>
            <a:xfrm>
              <a:off x="3312" y="2420"/>
              <a:ext cx="1440" cy="313"/>
            </a:xfrm>
            <a:prstGeom prst="rect">
              <a:avLst/>
            </a:prstGeom>
            <a:noFill/>
            <a:ln w="9525">
              <a:noFill/>
            </a:ln>
          </p:spPr>
          <p:txBody>
            <a:bodyPr>
              <a:spAutoFit/>
            </a:bodyPr>
            <a:lstStyle/>
            <a:p>
              <a:pPr>
                <a:spcBef>
                  <a:spcPct val="50000"/>
                </a:spcBef>
              </a:pPr>
              <a:r>
                <a:rPr lang="zh-CN" altLang="en-US" sz="3200" dirty="0">
                  <a:solidFill>
                    <a:srgbClr val="000000"/>
                  </a:solidFill>
                  <a:latin typeface="Times New Roman" panose="02020603050405020304" pitchFamily="18" charset="0"/>
                </a:rPr>
                <a:t>卡诺致冷机</a:t>
              </a:r>
            </a:p>
          </p:txBody>
        </p:sp>
      </p:grpSp>
      <p:grpSp>
        <p:nvGrpSpPr>
          <p:cNvPr id="5" name="Group 32"/>
          <p:cNvGrpSpPr/>
          <p:nvPr/>
        </p:nvGrpSpPr>
        <p:grpSpPr>
          <a:xfrm>
            <a:off x="7543800" y="1905000"/>
            <a:ext cx="990600" cy="914400"/>
            <a:chOff x="3792" y="1920"/>
            <a:chExt cx="564" cy="576"/>
          </a:xfrm>
        </p:grpSpPr>
        <mc:AlternateContent xmlns:mc="http://schemas.openxmlformats.org/markup-compatibility/2006" xmlns:a14="http://schemas.microsoft.com/office/drawing/2010/main">
          <mc:Choice Requires="a14">
            <p:sp>
              <p:nvSpPr>
                <p:cNvPr id="15367" name="Object 33"/>
                <p:cNvSpPr txBox="1"/>
                <p:nvPr/>
              </p:nvSpPr>
              <p:spPr>
                <a:xfrm>
                  <a:off x="3984" y="1968"/>
                  <a:ext cx="372" cy="4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oMath>
                    </m:oMathPara>
                  </a14:m>
                  <a:endParaRPr lang="zh-CN" altLang="en-US" sz="2600"/>
                </a:p>
              </p:txBody>
            </p:sp>
          </mc:Choice>
          <mc:Fallback xmlns="">
            <p:sp>
              <p:nvSpPr>
                <p:cNvPr id="15367" name="Object 33"/>
                <p:cNvSpPr txBox="1">
                  <a:spLocks noRot="1" noChangeAspect="1" noMove="1" noResize="1" noEditPoints="1" noAdjustHandles="1" noChangeArrowheads="1" noChangeShapeType="1" noTextEdit="1"/>
                </p:cNvSpPr>
                <p:nvPr/>
              </p:nvSpPr>
              <p:spPr>
                <a:xfrm>
                  <a:off x="3984" y="1968"/>
                  <a:ext cx="372" cy="436"/>
                </a:xfrm>
                <a:prstGeom prst="rect">
                  <a:avLst/>
                </a:prstGeom>
                <a:blipFill>
                  <a:blip r:embed="rId8"/>
                  <a:stretch>
                    <a:fillRect/>
                  </a:stretch>
                </a:blipFill>
                <a:ln w="38100">
                  <a:noFill/>
                  <a:miter/>
                </a:ln>
              </p:spPr>
              <p:txBody>
                <a:bodyPr/>
                <a:lstStyle/>
                <a:p>
                  <a:r>
                    <a:rPr lang="zh-CN" altLang="en-US">
                      <a:noFill/>
                    </a:rPr>
                    <a:t> </a:t>
                  </a:r>
                </a:p>
              </p:txBody>
            </p:sp>
          </mc:Fallback>
        </mc:AlternateContent>
        <p:sp>
          <p:nvSpPr>
            <p:cNvPr id="15390" name="AutoShape 34"/>
            <p:cNvSpPr/>
            <p:nvPr/>
          </p:nvSpPr>
          <p:spPr>
            <a:xfrm flipV="1">
              <a:off x="3792" y="1920"/>
              <a:ext cx="192" cy="576"/>
            </a:xfrm>
            <a:prstGeom prst="downArrow">
              <a:avLst>
                <a:gd name="adj1" fmla="val 35416"/>
                <a:gd name="adj2" fmla="val 125000"/>
              </a:avLst>
            </a:prstGeom>
            <a:solidFill>
              <a:srgbClr val="CCECFF"/>
            </a:solidFill>
            <a:ln w="19050" cap="flat" cmpd="sng">
              <a:solidFill>
                <a:srgbClr val="0000FF"/>
              </a:solidFill>
              <a:prstDash val="solid"/>
              <a:miter/>
              <a:headEnd type="none" w="med" len="med"/>
              <a:tailEnd type="none" w="med" len="med"/>
            </a:ln>
          </p:spPr>
          <p:txBody>
            <a:bodyPr vert="eaVert" wrap="none" anchor="ctr" anchorCtr="0"/>
            <a:lstStyle/>
            <a:p>
              <a:endParaRPr lang="zh-CN" altLang="en-US" sz="2600" dirty="0">
                <a:latin typeface="Bookman Old Style" panose="02050604050505020204" pitchFamily="18" charset="0"/>
              </a:endParaRPr>
            </a:p>
          </p:txBody>
        </p:sp>
      </p:grpSp>
      <p:grpSp>
        <p:nvGrpSpPr>
          <p:cNvPr id="6" name="Group 35"/>
          <p:cNvGrpSpPr/>
          <p:nvPr/>
        </p:nvGrpSpPr>
        <p:grpSpPr>
          <a:xfrm>
            <a:off x="7086600" y="3505200"/>
            <a:ext cx="762000" cy="914400"/>
            <a:chOff x="3504" y="2784"/>
            <a:chExt cx="480" cy="576"/>
          </a:xfrm>
        </p:grpSpPr>
        <p:sp>
          <p:nvSpPr>
            <p:cNvPr id="15389" name="AutoShape 36"/>
            <p:cNvSpPr/>
            <p:nvPr/>
          </p:nvSpPr>
          <p:spPr>
            <a:xfrm flipV="1">
              <a:off x="3840" y="2784"/>
              <a:ext cx="144" cy="576"/>
            </a:xfrm>
            <a:prstGeom prst="downArrow">
              <a:avLst>
                <a:gd name="adj1" fmla="val 40000"/>
                <a:gd name="adj2" fmla="val 160277"/>
              </a:avLst>
            </a:prstGeom>
            <a:solidFill>
              <a:srgbClr val="FFCCCC"/>
            </a:solidFill>
            <a:ln w="19050" cap="flat" cmpd="sng">
              <a:solidFill>
                <a:srgbClr val="FF0000"/>
              </a:solidFill>
              <a:prstDash val="solid"/>
              <a:miter/>
              <a:headEnd type="none" w="med" len="med"/>
              <a:tailEnd type="none" w="med" len="med"/>
            </a:ln>
          </p:spPr>
          <p:txBody>
            <a:bodyPr vert="eaVert"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15366" name="Object 37"/>
                <p:cNvSpPr txBox="1"/>
                <p:nvPr/>
              </p:nvSpPr>
              <p:spPr>
                <a:xfrm>
                  <a:off x="3504" y="2832"/>
                  <a:ext cx="401" cy="43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2</m:t>
                            </m:r>
                          </m:sub>
                        </m:sSub>
                      </m:oMath>
                    </m:oMathPara>
                  </a14:m>
                  <a:endParaRPr lang="zh-CN" altLang="en-US" sz="2600"/>
                </a:p>
              </p:txBody>
            </p:sp>
          </mc:Choice>
          <mc:Fallback xmlns="">
            <p:sp>
              <p:nvSpPr>
                <p:cNvPr id="15366" name="Object 37"/>
                <p:cNvSpPr txBox="1">
                  <a:spLocks noRot="1" noChangeAspect="1" noMove="1" noResize="1" noEditPoints="1" noAdjustHandles="1" noChangeArrowheads="1" noChangeShapeType="1" noTextEdit="1"/>
                </p:cNvSpPr>
                <p:nvPr/>
              </p:nvSpPr>
              <p:spPr>
                <a:xfrm>
                  <a:off x="3504" y="2832"/>
                  <a:ext cx="401" cy="435"/>
                </a:xfrm>
                <a:prstGeom prst="rect">
                  <a:avLst/>
                </a:prstGeom>
                <a:blipFill>
                  <a:blip r:embed="rId9"/>
                  <a:stretch>
                    <a:fillRect/>
                  </a:stretch>
                </a:blipFill>
                <a:ln w="38100">
                  <a:noFill/>
                  <a:miter/>
                </a:ln>
              </p:spPr>
              <p:txBody>
                <a:bodyPr/>
                <a:lstStyle/>
                <a:p>
                  <a:r>
                    <a:rPr lang="zh-CN" altLang="en-US">
                      <a:noFill/>
                    </a:rPr>
                    <a:t> </a:t>
                  </a:r>
                </a:p>
              </p:txBody>
            </p:sp>
          </mc:Fallback>
        </mc:AlternateContent>
      </p:grpSp>
      <p:grpSp>
        <p:nvGrpSpPr>
          <p:cNvPr id="7" name="Group 38"/>
          <p:cNvGrpSpPr/>
          <p:nvPr/>
        </p:nvGrpSpPr>
        <p:grpSpPr>
          <a:xfrm>
            <a:off x="8915402" y="2874967"/>
            <a:ext cx="1460501" cy="481013"/>
            <a:chOff x="4464" y="2462"/>
            <a:chExt cx="920" cy="303"/>
          </a:xfrm>
        </p:grpSpPr>
        <p:sp>
          <p:nvSpPr>
            <p:cNvPr id="15388" name="AutoShape 39"/>
            <p:cNvSpPr/>
            <p:nvPr/>
          </p:nvSpPr>
          <p:spPr>
            <a:xfrm flipH="1">
              <a:off x="4464" y="2571"/>
              <a:ext cx="528" cy="96"/>
            </a:xfrm>
            <a:prstGeom prst="rightArrow">
              <a:avLst>
                <a:gd name="adj1" fmla="val 58666"/>
                <a:gd name="adj2" fmla="val 201030"/>
              </a:avLst>
            </a:prstGeom>
            <a:solidFill>
              <a:srgbClr val="99CCFF"/>
            </a:solidFill>
            <a:ln w="19050" cap="flat" cmpd="sng">
              <a:solidFill>
                <a:schemeClr val="tx2"/>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15365" name="Object 40"/>
                <p:cNvSpPr txBox="1"/>
                <p:nvPr/>
              </p:nvSpPr>
              <p:spPr>
                <a:xfrm>
                  <a:off x="5101" y="2462"/>
                  <a:ext cx="283" cy="303"/>
                </a:xfrm>
                <a:prstGeom prst="rect">
                  <a:avLst/>
                </a:prstGeom>
                <a:solidFill>
                  <a:schemeClr val="accent1"/>
                </a:solidFill>
                <a:ln w="9525" cap="flat" cmpd="sng">
                  <a:solidFill>
                    <a:schemeClr val="tx1"/>
                  </a:solid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𝐴</m:t>
                        </m:r>
                      </m:oMath>
                    </m:oMathPara>
                  </a14:m>
                  <a:endParaRPr lang="zh-CN" altLang="en-US" sz="2600" dirty="0"/>
                </a:p>
              </p:txBody>
            </p:sp>
          </mc:Choice>
          <mc:Fallback xmlns="">
            <p:sp>
              <p:nvSpPr>
                <p:cNvPr id="15365" name="Object 40"/>
                <p:cNvSpPr txBox="1">
                  <a:spLocks noRot="1" noChangeAspect="1" noMove="1" noResize="1" noEditPoints="1" noAdjustHandles="1" noChangeArrowheads="1" noChangeShapeType="1" noTextEdit="1"/>
                </p:cNvSpPr>
                <p:nvPr/>
              </p:nvSpPr>
              <p:spPr>
                <a:xfrm>
                  <a:off x="5101" y="2462"/>
                  <a:ext cx="283" cy="303"/>
                </a:xfrm>
                <a:prstGeom prst="rect">
                  <a:avLst/>
                </a:prstGeom>
                <a:blipFill>
                  <a:blip r:embed="rId10"/>
                  <a:stretch>
                    <a:fillRect/>
                  </a:stretch>
                </a:blipFill>
                <a:ln w="9525" cap="flat" cmpd="sng">
                  <a:solidFill>
                    <a:schemeClr val="tx1"/>
                  </a:solidFill>
                  <a:prstDash val="solid"/>
                  <a:miter/>
                  <a:headEnd type="none" w="med" len="med"/>
                  <a:tailEnd type="none" w="med" len="med"/>
                </a:ln>
              </p:spPr>
              <p:txBody>
                <a:bodyPr/>
                <a:lstStyle/>
                <a:p>
                  <a:r>
                    <a:rPr lang="zh-CN" altLang="en-US">
                      <a:noFill/>
                    </a:rPr>
                    <a:t> </a:t>
                  </a:r>
                </a:p>
              </p:txBody>
            </p:sp>
          </mc:Fallback>
        </mc:AlternateContent>
      </p:grpSp>
      <p:grpSp>
        <p:nvGrpSpPr>
          <p:cNvPr id="8" name="Group 42"/>
          <p:cNvGrpSpPr/>
          <p:nvPr/>
        </p:nvGrpSpPr>
        <p:grpSpPr>
          <a:xfrm>
            <a:off x="1539876" y="5350670"/>
            <a:ext cx="8936249" cy="1081087"/>
            <a:chOff x="430" y="3354"/>
            <a:chExt cx="4011" cy="681"/>
          </a:xfrm>
        </p:grpSpPr>
        <p:sp>
          <p:nvSpPr>
            <p:cNvPr id="15387" name="Rectangle 43"/>
            <p:cNvSpPr/>
            <p:nvPr/>
          </p:nvSpPr>
          <p:spPr>
            <a:xfrm>
              <a:off x="430" y="3428"/>
              <a:ext cx="2586" cy="365"/>
            </a:xfrm>
            <a:prstGeom prst="rect">
              <a:avLst/>
            </a:prstGeom>
            <a:noFill/>
            <a:ln w="9525">
              <a:noFill/>
            </a:ln>
          </p:spPr>
          <p:txBody>
            <a:bodyPr>
              <a:spAutoFit/>
            </a:bodyPr>
            <a:lstStyle/>
            <a:p>
              <a:pPr>
                <a:spcBef>
                  <a:spcPct val="50000"/>
                </a:spcBef>
              </a:pPr>
              <a:r>
                <a:rPr lang="zh-CN" altLang="en-US" sz="3200" dirty="0">
                  <a:solidFill>
                    <a:srgbClr val="000000"/>
                  </a:solidFill>
                  <a:latin typeface="Times New Roman" panose="02020603050405020304" pitchFamily="18" charset="0"/>
                </a:rPr>
                <a:t>卡诺制冷机</a:t>
              </a:r>
              <a:r>
                <a:rPr lang="zh-CN" altLang="en-US" sz="3200" dirty="0">
                  <a:solidFill>
                    <a:srgbClr val="FF0000"/>
                  </a:solidFill>
                  <a:latin typeface="Times New Roman" panose="02020603050405020304" pitchFamily="18" charset="0"/>
                </a:rPr>
                <a:t>制冷</a:t>
              </a:r>
              <a:r>
                <a:rPr lang="zh-CN" altLang="en-US" sz="3200" dirty="0">
                  <a:solidFill>
                    <a:srgbClr val="000000"/>
                  </a:solidFill>
                  <a:latin typeface="Times New Roman" panose="02020603050405020304" pitchFamily="18" charset="0"/>
                </a:rPr>
                <a:t>系数</a:t>
              </a:r>
            </a:p>
          </p:txBody>
        </p:sp>
        <mc:AlternateContent xmlns:mc="http://schemas.openxmlformats.org/markup-compatibility/2006" xmlns:a14="http://schemas.microsoft.com/office/drawing/2010/main">
          <mc:Choice Requires="a14">
            <p:sp>
              <p:nvSpPr>
                <p:cNvPr id="15364" name="Object 44"/>
                <p:cNvSpPr txBox="1"/>
                <p:nvPr/>
              </p:nvSpPr>
              <p:spPr>
                <a:xfrm>
                  <a:off x="2407" y="3354"/>
                  <a:ext cx="2034" cy="681"/>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𝑒</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r>
                              <a:rPr lang="zh-CN" altLang="en-US" sz="2800" i="1">
                                <a:solidFill>
                                  <a:srgbClr val="000000"/>
                                </a:solidFill>
                                <a:latin typeface="Cambria Math" panose="02040503050406030204" pitchFamily="18" charset="0"/>
                              </a:rPr>
                              <m:t>𝐴</m:t>
                            </m:r>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𝑇</m:t>
                                </m:r>
                              </m:e>
                              <m:sub>
                                <m:r>
                                  <a:rPr lang="zh-CN" altLang="en-US" sz="2800" i="1">
                                    <a:solidFill>
                                      <a:srgbClr val="000000"/>
                                    </a:solidFill>
                                    <a:latin typeface="Cambria Math" panose="02040503050406030204" pitchFamily="18" charset="0"/>
                                  </a:rPr>
                                  <m:t>2</m:t>
                                </m:r>
                              </m:sub>
                            </m:sSub>
                          </m:den>
                        </m:f>
                      </m:oMath>
                    </m:oMathPara>
                  </a14:m>
                  <a:endParaRPr lang="zh-CN" altLang="en-US" sz="2800" dirty="0"/>
                </a:p>
              </p:txBody>
            </p:sp>
          </mc:Choice>
          <mc:Fallback xmlns="">
            <p:sp>
              <p:nvSpPr>
                <p:cNvPr id="15364" name="Object 44"/>
                <p:cNvSpPr txBox="1">
                  <a:spLocks noRot="1" noChangeAspect="1" noMove="1" noResize="1" noEditPoints="1" noAdjustHandles="1" noChangeArrowheads="1" noChangeShapeType="1" noTextEdit="1"/>
                </p:cNvSpPr>
                <p:nvPr/>
              </p:nvSpPr>
              <p:spPr>
                <a:xfrm>
                  <a:off x="2407" y="3354"/>
                  <a:ext cx="2034" cy="681"/>
                </a:xfrm>
                <a:prstGeom prst="rect">
                  <a:avLst/>
                </a:prstGeom>
                <a:blipFill>
                  <a:blip r:embed="rId11"/>
                  <a:stretch>
                    <a:fillRect/>
                  </a:stretch>
                </a:blipFill>
                <a:ln w="38100">
                  <a:noFill/>
                  <a:miter/>
                </a:ln>
              </p:spPr>
              <p:txBody>
                <a:bodyPr/>
                <a:lstStyle/>
                <a:p>
                  <a:r>
                    <a:rPr lang="zh-CN" altLang="en-US">
                      <a:noFill/>
                    </a:rPr>
                    <a:t> </a:t>
                  </a:r>
                </a:p>
              </p:txBody>
            </p:sp>
          </mc:Fallback>
        </mc:AlternateContent>
      </p:grpSp>
      <p:grpSp>
        <p:nvGrpSpPr>
          <p:cNvPr id="15382" name="Group 45"/>
          <p:cNvGrpSpPr/>
          <p:nvPr/>
        </p:nvGrpSpPr>
        <p:grpSpPr>
          <a:xfrm>
            <a:off x="3355976" y="3753644"/>
            <a:ext cx="647700" cy="850900"/>
            <a:chOff x="1519" y="2304"/>
            <a:chExt cx="408" cy="536"/>
          </a:xfrm>
        </p:grpSpPr>
        <p:sp>
          <p:nvSpPr>
            <p:cNvPr id="15386" name="AutoShape 46"/>
            <p:cNvSpPr/>
            <p:nvPr/>
          </p:nvSpPr>
          <p:spPr>
            <a:xfrm flipV="1">
              <a:off x="1848" y="2304"/>
              <a:ext cx="79" cy="402"/>
            </a:xfrm>
            <a:prstGeom prst="downArrow">
              <a:avLst>
                <a:gd name="adj1" fmla="val 50000"/>
                <a:gd name="adj2" fmla="val 127215"/>
              </a:avLst>
            </a:prstGeom>
            <a:solidFill>
              <a:schemeClr val="bg2"/>
            </a:solidFill>
            <a:ln w="28575" cap="flat" cmpd="sng">
              <a:solidFill>
                <a:srgbClr val="FF0066"/>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15363" name="Object 47"/>
                <p:cNvSpPr txBox="1"/>
                <p:nvPr/>
              </p:nvSpPr>
              <p:spPr>
                <a:xfrm>
                  <a:off x="1519" y="2569"/>
                  <a:ext cx="308" cy="271"/>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2</m:t>
                            </m:r>
                          </m:sub>
                        </m:sSub>
                      </m:oMath>
                    </m:oMathPara>
                  </a14:m>
                  <a:endParaRPr lang="zh-CN" altLang="en-US"/>
                </a:p>
              </p:txBody>
            </p:sp>
          </mc:Choice>
          <mc:Fallback xmlns="">
            <p:sp>
              <p:nvSpPr>
                <p:cNvPr id="15363" name="Object 47"/>
                <p:cNvSpPr txBox="1">
                  <a:spLocks noRot="1" noChangeAspect="1" noMove="1" noResize="1" noEditPoints="1" noAdjustHandles="1" noChangeArrowheads="1" noChangeShapeType="1" noTextEdit="1"/>
                </p:cNvSpPr>
                <p:nvPr/>
              </p:nvSpPr>
              <p:spPr>
                <a:xfrm>
                  <a:off x="1519" y="2569"/>
                  <a:ext cx="308" cy="271"/>
                </a:xfrm>
                <a:prstGeom prst="rect">
                  <a:avLst/>
                </a:prstGeom>
                <a:blipFill>
                  <a:blip r:embed="rId13"/>
                  <a:stretch>
                    <a:fillRect l="-2500"/>
                  </a:stretch>
                </a:blipFill>
                <a:ln w="38100">
                  <a:noFill/>
                  <a:miter/>
                </a:ln>
              </p:spPr>
              <p:txBody>
                <a:bodyPr/>
                <a:lstStyle/>
                <a:p>
                  <a:r>
                    <a:rPr lang="zh-CN" altLang="en-US">
                      <a:noFill/>
                    </a:rPr>
                    <a:t> </a:t>
                  </a:r>
                </a:p>
              </p:txBody>
            </p:sp>
          </mc:Fallback>
        </mc:AlternateContent>
      </p:grpSp>
      <p:grpSp>
        <p:nvGrpSpPr>
          <p:cNvPr id="15383" name="Group 48"/>
          <p:cNvGrpSpPr/>
          <p:nvPr/>
        </p:nvGrpSpPr>
        <p:grpSpPr>
          <a:xfrm>
            <a:off x="3078164" y="2083594"/>
            <a:ext cx="638175" cy="1081088"/>
            <a:chOff x="1344" y="1298"/>
            <a:chExt cx="402" cy="681"/>
          </a:xfrm>
        </p:grpSpPr>
        <mc:AlternateContent xmlns:mc="http://schemas.openxmlformats.org/markup-compatibility/2006" xmlns:a14="http://schemas.microsoft.com/office/drawing/2010/main">
          <mc:Choice Requires="a14">
            <p:sp>
              <p:nvSpPr>
                <p:cNvPr id="15362" name="Object 49"/>
                <p:cNvSpPr txBox="1"/>
                <p:nvPr/>
              </p:nvSpPr>
              <p:spPr>
                <a:xfrm>
                  <a:off x="1428" y="1298"/>
                  <a:ext cx="318" cy="307"/>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𝑄</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15362" name="Object 49"/>
                <p:cNvSpPr txBox="1">
                  <a:spLocks noRot="1" noChangeAspect="1" noMove="1" noResize="1" noEditPoints="1" noAdjustHandles="1" noChangeArrowheads="1" noChangeShapeType="1" noTextEdit="1"/>
                </p:cNvSpPr>
                <p:nvPr/>
              </p:nvSpPr>
              <p:spPr>
                <a:xfrm>
                  <a:off x="1428" y="1298"/>
                  <a:ext cx="318" cy="307"/>
                </a:xfrm>
                <a:prstGeom prst="rect">
                  <a:avLst/>
                </a:prstGeom>
                <a:blipFill>
                  <a:blip r:embed="rId14"/>
                  <a:stretch>
                    <a:fillRect l="-2410"/>
                  </a:stretch>
                </a:blipFill>
                <a:ln w="38100">
                  <a:noFill/>
                  <a:miter/>
                </a:ln>
              </p:spPr>
              <p:txBody>
                <a:bodyPr/>
                <a:lstStyle/>
                <a:p>
                  <a:r>
                    <a:rPr lang="zh-CN" altLang="en-US">
                      <a:noFill/>
                    </a:rPr>
                    <a:t> </a:t>
                  </a:r>
                </a:p>
              </p:txBody>
            </p:sp>
          </mc:Fallback>
        </mc:AlternateContent>
        <p:sp>
          <p:nvSpPr>
            <p:cNvPr id="15385" name="AutoShape 50"/>
            <p:cNvSpPr/>
            <p:nvPr/>
          </p:nvSpPr>
          <p:spPr>
            <a:xfrm flipV="1">
              <a:off x="1344" y="1556"/>
              <a:ext cx="165" cy="423"/>
            </a:xfrm>
            <a:prstGeom prst="downArrow">
              <a:avLst>
                <a:gd name="adj1" fmla="val 50000"/>
                <a:gd name="adj2" fmla="val 64090"/>
              </a:avLst>
            </a:prstGeom>
            <a:solidFill>
              <a:schemeClr val="accent2"/>
            </a:solidFill>
            <a:ln w="28575" cap="flat" cmpd="sng">
              <a:solidFill>
                <a:srgbClr val="0066FF"/>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sp>
        <p:nvSpPr>
          <p:cNvPr id="469043" name="Text Box 51"/>
          <p:cNvSpPr txBox="1"/>
          <p:nvPr/>
        </p:nvSpPr>
        <p:spPr>
          <a:xfrm>
            <a:off x="6600825" y="4437063"/>
            <a:ext cx="2286000" cy="588962"/>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p>
            <a:pPr>
              <a:spcBef>
                <a:spcPct val="50000"/>
              </a:spcBef>
            </a:pPr>
            <a:r>
              <a:rPr lang="zh-CN" altLang="en-US" sz="3200" dirty="0">
                <a:solidFill>
                  <a:srgbClr val="333333"/>
                </a:solidFill>
                <a:latin typeface="Times New Roman" panose="02020603050405020304" pitchFamily="18" charset="0"/>
              </a:rPr>
              <a:t>低温热源</a:t>
            </a:r>
            <a:r>
              <a:rPr lang="en-US" altLang="zh-CN" sz="3200" i="1" dirty="0">
                <a:solidFill>
                  <a:srgbClr val="333333"/>
                </a:solidFill>
                <a:latin typeface="Times New Roman" panose="02020603050405020304" pitchFamily="18" charset="0"/>
              </a:rPr>
              <a:t>T</a:t>
            </a:r>
            <a:r>
              <a:rPr lang="en-US" altLang="zh-CN" sz="3200" baseline="-25000" dirty="0">
                <a:solidFill>
                  <a:srgbClr val="333333"/>
                </a:solidFill>
                <a:latin typeface="Times New Roman" panose="02020603050405020304" pitchFamily="18" charset="0"/>
              </a:rPr>
              <a:t>2</a:t>
            </a:r>
          </a:p>
        </p:txBody>
      </p:sp>
      <p:sp>
        <p:nvSpPr>
          <p:cNvPr id="2" name="Text Box 13">
            <a:hlinkClick r:id="" action="ppaction://noaction"/>
            <a:extLst>
              <a:ext uri="{FF2B5EF4-FFF2-40B4-BE49-F238E27FC236}">
                <a16:creationId xmlns:a16="http://schemas.microsoft.com/office/drawing/2014/main" id="{8BC358C0-7DEE-526C-902A-0679D983D6B4}"/>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卡诺制冷机（卡诺逆循环）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40" name="Text Box 2"/>
          <p:cNvSpPr txBox="1"/>
          <p:nvPr/>
        </p:nvSpPr>
        <p:spPr>
          <a:xfrm>
            <a:off x="528637" y="473268"/>
            <a:ext cx="11134725" cy="1982402"/>
          </a:xfrm>
          <a:prstGeom prst="rect">
            <a:avLst/>
          </a:prstGeom>
          <a:noFill/>
          <a:ln w="9525">
            <a:noFill/>
          </a:ln>
        </p:spPr>
        <p:txBody>
          <a:bodyPr wrap="square">
            <a:spAutoFit/>
          </a:bodyPr>
          <a:lstStyle/>
          <a:p>
            <a:pPr eaLnBrk="1" hangingPunct="1">
              <a:lnSpc>
                <a:spcPct val="120000"/>
              </a:lnSpc>
            </a:pPr>
            <a:r>
              <a:rPr lang="en-US" altLang="zh-CN" sz="2600" dirty="0">
                <a:latin typeface="Times New Roman" panose="02020603050405020304" pitchFamily="18" charset="0"/>
              </a:rPr>
              <a:t>       </a:t>
            </a:r>
            <a:r>
              <a:rPr lang="zh-CN" altLang="en-US" sz="2600" dirty="0">
                <a:latin typeface="Times New Roman" panose="02020603050405020304" pitchFamily="18" charset="0"/>
              </a:rPr>
              <a:t>例</a:t>
            </a:r>
            <a:r>
              <a:rPr lang="en-US" altLang="zh-CN" sz="2600" dirty="0">
                <a:latin typeface="Times New Roman" panose="02020603050405020304" pitchFamily="18" charset="0"/>
              </a:rPr>
              <a:t>:  </a:t>
            </a:r>
            <a:r>
              <a:rPr lang="zh-CN" altLang="en-US" sz="2600" dirty="0">
                <a:solidFill>
                  <a:srgbClr val="1C1C1C"/>
                </a:solidFill>
                <a:latin typeface="Times New Roman" panose="02020603050405020304" pitchFamily="18" charset="0"/>
              </a:rPr>
              <a:t>一电冰箱放在室温为           的房间里 ，冰箱储藏柜中的温度维持在         。现每天有                  的热量自房间传入冰箱内</a:t>
            </a:r>
            <a:r>
              <a:rPr lang="zh-CN" altLang="en-US" sz="2600" dirty="0">
                <a:solidFill>
                  <a:srgbClr val="1C1C1C"/>
                </a:solidFill>
                <a:latin typeface="宋体" panose="02010600030101010101" pitchFamily="2" charset="-122"/>
              </a:rPr>
              <a:t> </a:t>
            </a:r>
            <a:r>
              <a:rPr lang="en-US" altLang="zh-CN" sz="2600" dirty="0">
                <a:solidFill>
                  <a:srgbClr val="1C1C1C"/>
                </a:solidFill>
                <a:latin typeface="宋体" panose="02010600030101010101" pitchFamily="2" charset="-122"/>
              </a:rPr>
              <a:t>,</a:t>
            </a:r>
            <a:r>
              <a:rPr lang="en-US" altLang="zh-CN" sz="2600" dirty="0">
                <a:solidFill>
                  <a:srgbClr val="1C1C1C"/>
                </a:solidFill>
                <a:latin typeface="Times New Roman" panose="02020603050405020304" pitchFamily="18" charset="0"/>
              </a:rPr>
              <a:t> </a:t>
            </a:r>
            <a:r>
              <a:rPr lang="zh-CN" altLang="en-US" sz="2600" dirty="0">
                <a:solidFill>
                  <a:srgbClr val="1C1C1C"/>
                </a:solidFill>
                <a:latin typeface="Times New Roman" panose="02020603050405020304" pitchFamily="18" charset="0"/>
              </a:rPr>
              <a:t>若要维持冰箱内温度不变 </a:t>
            </a:r>
            <a:r>
              <a:rPr lang="en-US" altLang="zh-CN" sz="2600" dirty="0">
                <a:solidFill>
                  <a:srgbClr val="1C1C1C"/>
                </a:solidFill>
                <a:latin typeface="宋体" panose="02010600030101010101" pitchFamily="2" charset="-122"/>
              </a:rPr>
              <a:t>,</a:t>
            </a:r>
            <a:r>
              <a:rPr lang="en-US" altLang="zh-CN" sz="2600" dirty="0">
                <a:solidFill>
                  <a:srgbClr val="1C1C1C"/>
                </a:solidFill>
                <a:latin typeface="Times New Roman" panose="02020603050405020304" pitchFamily="18" charset="0"/>
              </a:rPr>
              <a:t> </a:t>
            </a:r>
            <a:r>
              <a:rPr lang="zh-CN" altLang="en-US" sz="2600" dirty="0">
                <a:solidFill>
                  <a:srgbClr val="1C1C1C"/>
                </a:solidFill>
                <a:latin typeface="Times New Roman" panose="02020603050405020304" pitchFamily="18" charset="0"/>
              </a:rPr>
              <a:t>外界每天 需作多少功 </a:t>
            </a:r>
            <a:r>
              <a:rPr lang="en-US" altLang="zh-CN" sz="2600" dirty="0">
                <a:solidFill>
                  <a:srgbClr val="1C1C1C"/>
                </a:solidFill>
                <a:latin typeface="宋体" panose="02010600030101010101" pitchFamily="2" charset="-122"/>
              </a:rPr>
              <a:t>,</a:t>
            </a:r>
            <a:r>
              <a:rPr lang="en-US" altLang="zh-CN" sz="2600" dirty="0">
                <a:solidFill>
                  <a:srgbClr val="1C1C1C"/>
                </a:solidFill>
                <a:latin typeface="Times New Roman" panose="02020603050405020304" pitchFamily="18" charset="0"/>
              </a:rPr>
              <a:t> </a:t>
            </a:r>
            <a:r>
              <a:rPr lang="zh-CN" altLang="en-US" sz="2600" dirty="0">
                <a:solidFill>
                  <a:srgbClr val="1C1C1C"/>
                </a:solidFill>
                <a:latin typeface="Times New Roman" panose="02020603050405020304" pitchFamily="18" charset="0"/>
              </a:rPr>
              <a:t>其功率为多少？设在       至          之间运转的冰箱的致冷系数是卡诺致冷机致冷系数的 </a:t>
            </a:r>
            <a:r>
              <a:rPr lang="en-US" altLang="zh-CN" sz="2600" dirty="0">
                <a:solidFill>
                  <a:srgbClr val="1C1C1C"/>
                </a:solidFill>
                <a:latin typeface="Times New Roman" panose="02020603050405020304" pitchFamily="18" charset="0"/>
              </a:rPr>
              <a:t>55% </a:t>
            </a:r>
            <a:r>
              <a:rPr lang="zh-CN" altLang="en-US" sz="2600" dirty="0">
                <a:solidFill>
                  <a:srgbClr val="1C1C1C"/>
                </a:solidFill>
                <a:latin typeface="Times New Roman" panose="02020603050405020304" pitchFamily="18" charset="0"/>
              </a:rPr>
              <a:t>。</a:t>
            </a:r>
            <a:endParaRPr lang="en-US" altLang="zh-CN" sz="2600" dirty="0">
              <a:solidFill>
                <a:srgbClr val="1C1C1C"/>
              </a:solidFill>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18434" name="Object 3"/>
              <p:cNvSpPr txBox="1"/>
              <p:nvPr/>
            </p:nvSpPr>
            <p:spPr>
              <a:xfrm>
                <a:off x="8259763" y="1471614"/>
                <a:ext cx="647700" cy="5334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5</m:t>
                          </m:r>
                        </m:e>
                        <m:sup>
                          <m:r>
                            <a:rPr lang="zh-CN" altLang="en-US" sz="2600" i="1">
                              <a:solidFill>
                                <a:srgbClr val="000000"/>
                              </a:solidFill>
                              <a:latin typeface="Cambria Math" panose="02040503050406030204" pitchFamily="18" charset="0"/>
                            </a:rPr>
                            <m:t>∘</m:t>
                          </m:r>
                        </m:sup>
                      </m:sSup>
                      <m:r>
                        <m:rPr>
                          <m:sty m:val="p"/>
                        </m:rPr>
                        <a:rPr lang="zh-CN" altLang="en-US" sz="2600" i="0">
                          <a:solidFill>
                            <a:srgbClr val="000000"/>
                          </a:solidFill>
                          <a:latin typeface="Cambria Math" panose="02040503050406030204" pitchFamily="18" charset="0"/>
                        </a:rPr>
                        <m:t>C</m:t>
                      </m:r>
                    </m:oMath>
                  </m:oMathPara>
                </a14:m>
                <a:endParaRPr lang="zh-CN" altLang="en-US" sz="2600" dirty="0"/>
              </a:p>
            </p:txBody>
          </p:sp>
        </mc:Choice>
        <mc:Fallback xmlns="">
          <p:sp>
            <p:nvSpPr>
              <p:cNvPr id="18434" name="Object 3"/>
              <p:cNvSpPr txBox="1">
                <a:spLocks noRot="1" noChangeAspect="1" noMove="1" noResize="1" noEditPoints="1" noAdjustHandles="1" noChangeArrowheads="1" noChangeShapeType="1" noTextEdit="1"/>
              </p:cNvSpPr>
              <p:nvPr/>
            </p:nvSpPr>
            <p:spPr>
              <a:xfrm>
                <a:off x="8259763" y="1471614"/>
                <a:ext cx="647700" cy="533400"/>
              </a:xfrm>
              <a:prstGeom prst="rect">
                <a:avLst/>
              </a:prstGeom>
              <a:blipFill>
                <a:blip r:embed="rId2"/>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435" name="Object 4"/>
              <p:cNvSpPr txBox="1"/>
              <p:nvPr/>
            </p:nvSpPr>
            <p:spPr>
              <a:xfrm>
                <a:off x="4779453" y="504826"/>
                <a:ext cx="935038" cy="520700"/>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2</m:t>
                      </m:r>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0</m:t>
                          </m:r>
                        </m:e>
                        <m:sup>
                          <m:r>
                            <a:rPr lang="zh-CN" altLang="en-US" sz="2600" i="1">
                              <a:solidFill>
                                <a:srgbClr val="000000"/>
                              </a:solidFill>
                              <a:latin typeface="Cambria Math" panose="02040503050406030204" pitchFamily="18" charset="0"/>
                            </a:rPr>
                            <m:t>∘</m:t>
                          </m:r>
                        </m:sup>
                      </m:sSup>
                      <m:r>
                        <m:rPr>
                          <m:sty m:val="p"/>
                        </m:rPr>
                        <a:rPr lang="zh-CN" altLang="en-US" sz="2600" i="0">
                          <a:solidFill>
                            <a:srgbClr val="000000"/>
                          </a:solidFill>
                          <a:latin typeface="Cambria Math" panose="02040503050406030204" pitchFamily="18" charset="0"/>
                        </a:rPr>
                        <m:t>C</m:t>
                      </m:r>
                    </m:oMath>
                  </m:oMathPara>
                </a14:m>
                <a:endParaRPr lang="zh-CN" altLang="en-US" sz="2600" dirty="0"/>
              </a:p>
            </p:txBody>
          </p:sp>
        </mc:Choice>
        <mc:Fallback xmlns="">
          <p:sp>
            <p:nvSpPr>
              <p:cNvPr id="18435" name="Object 4"/>
              <p:cNvSpPr txBox="1">
                <a:spLocks noRot="1" noChangeAspect="1" noMove="1" noResize="1" noEditPoints="1" noAdjustHandles="1" noChangeArrowheads="1" noChangeShapeType="1" noTextEdit="1"/>
              </p:cNvSpPr>
              <p:nvPr/>
            </p:nvSpPr>
            <p:spPr>
              <a:xfrm>
                <a:off x="4779453" y="504826"/>
                <a:ext cx="935038" cy="520700"/>
              </a:xfrm>
              <a:prstGeom prst="rect">
                <a:avLst/>
              </a:prstGeom>
              <a:blipFill>
                <a:blip r:embed="rId3"/>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436" name="Object 5"/>
              <p:cNvSpPr txBox="1"/>
              <p:nvPr/>
            </p:nvSpPr>
            <p:spPr>
              <a:xfrm>
                <a:off x="3300413" y="998539"/>
                <a:ext cx="1657350" cy="512762"/>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2.0×1</m:t>
                      </m:r>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0</m:t>
                          </m:r>
                        </m:e>
                        <m:sup>
                          <m:r>
                            <a:rPr lang="zh-CN" altLang="en-US" sz="2600" i="1">
                              <a:solidFill>
                                <a:srgbClr val="000000"/>
                              </a:solidFill>
                              <a:latin typeface="Cambria Math" panose="02040503050406030204" pitchFamily="18" charset="0"/>
                            </a:rPr>
                            <m:t>7</m:t>
                          </m:r>
                        </m:sup>
                      </m:sSup>
                      <m:r>
                        <m:rPr>
                          <m:sty m:val="p"/>
                        </m:rPr>
                        <a:rPr lang="zh-CN" altLang="en-US" sz="2600" i="0">
                          <a:solidFill>
                            <a:srgbClr val="000000"/>
                          </a:solidFill>
                          <a:latin typeface="Cambria Math" panose="02040503050406030204" pitchFamily="18" charset="0"/>
                        </a:rPr>
                        <m:t>J</m:t>
                      </m:r>
                    </m:oMath>
                  </m:oMathPara>
                </a14:m>
                <a:endParaRPr lang="zh-CN" altLang="en-US" sz="2600" dirty="0"/>
              </a:p>
            </p:txBody>
          </p:sp>
        </mc:Choice>
        <mc:Fallback xmlns="">
          <p:sp>
            <p:nvSpPr>
              <p:cNvPr id="18436" name="Object 5"/>
              <p:cNvSpPr txBox="1">
                <a:spLocks noRot="1" noChangeAspect="1" noMove="1" noResize="1" noEditPoints="1" noAdjustHandles="1" noChangeArrowheads="1" noChangeShapeType="1" noTextEdit="1"/>
              </p:cNvSpPr>
              <p:nvPr/>
            </p:nvSpPr>
            <p:spPr>
              <a:xfrm>
                <a:off x="3300413" y="998539"/>
                <a:ext cx="1657350" cy="512762"/>
              </a:xfrm>
              <a:prstGeom prst="rect">
                <a:avLst/>
              </a:prstGeom>
              <a:blipFill>
                <a:blip r:embed="rId4"/>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437" name="Object 6"/>
              <p:cNvSpPr txBox="1"/>
              <p:nvPr/>
            </p:nvSpPr>
            <p:spPr>
              <a:xfrm>
                <a:off x="960439" y="976313"/>
                <a:ext cx="649287" cy="534988"/>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5</m:t>
                          </m:r>
                        </m:e>
                        <m:sup>
                          <m:r>
                            <a:rPr lang="zh-CN" altLang="en-US" sz="2600" i="1">
                              <a:solidFill>
                                <a:srgbClr val="000000"/>
                              </a:solidFill>
                              <a:latin typeface="Cambria Math" panose="02040503050406030204" pitchFamily="18" charset="0"/>
                            </a:rPr>
                            <m:t>∘</m:t>
                          </m:r>
                        </m:sup>
                      </m:sSup>
                      <m:r>
                        <m:rPr>
                          <m:sty m:val="p"/>
                        </m:rPr>
                        <a:rPr lang="zh-CN" altLang="en-US" sz="2600" i="0">
                          <a:solidFill>
                            <a:srgbClr val="000000"/>
                          </a:solidFill>
                          <a:latin typeface="Cambria Math" panose="02040503050406030204" pitchFamily="18" charset="0"/>
                        </a:rPr>
                        <m:t>C</m:t>
                      </m:r>
                    </m:oMath>
                  </m:oMathPara>
                </a14:m>
                <a:endParaRPr lang="zh-CN" altLang="en-US" sz="2600" dirty="0"/>
              </a:p>
            </p:txBody>
          </p:sp>
        </mc:Choice>
        <mc:Fallback xmlns="">
          <p:sp>
            <p:nvSpPr>
              <p:cNvPr id="18437" name="Object 6"/>
              <p:cNvSpPr txBox="1">
                <a:spLocks noRot="1" noChangeAspect="1" noMove="1" noResize="1" noEditPoints="1" noAdjustHandles="1" noChangeArrowheads="1" noChangeShapeType="1" noTextEdit="1"/>
              </p:cNvSpPr>
              <p:nvPr/>
            </p:nvSpPr>
            <p:spPr>
              <a:xfrm>
                <a:off x="960439" y="976313"/>
                <a:ext cx="649287" cy="534988"/>
              </a:xfrm>
              <a:prstGeom prst="rect">
                <a:avLst/>
              </a:prstGeom>
              <a:blipFill>
                <a:blip r:embed="rId5"/>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438" name="Object 7"/>
              <p:cNvSpPr txBox="1"/>
              <p:nvPr/>
            </p:nvSpPr>
            <p:spPr>
              <a:xfrm>
                <a:off x="9239249" y="1464469"/>
                <a:ext cx="942975" cy="525463"/>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2</m:t>
                      </m:r>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0</m:t>
                          </m:r>
                        </m:e>
                        <m:sup>
                          <m:r>
                            <a:rPr lang="zh-CN" altLang="en-US" sz="2600" i="1">
                              <a:solidFill>
                                <a:srgbClr val="000000"/>
                              </a:solidFill>
                              <a:latin typeface="Cambria Math" panose="02040503050406030204" pitchFamily="18" charset="0"/>
                            </a:rPr>
                            <m:t>∘</m:t>
                          </m:r>
                        </m:sup>
                      </m:sSup>
                      <m:r>
                        <m:rPr>
                          <m:sty m:val="p"/>
                        </m:rPr>
                        <a:rPr lang="zh-CN" altLang="en-US" sz="2600" i="0">
                          <a:solidFill>
                            <a:srgbClr val="000000"/>
                          </a:solidFill>
                          <a:latin typeface="Cambria Math" panose="02040503050406030204" pitchFamily="18" charset="0"/>
                        </a:rPr>
                        <m:t>C</m:t>
                      </m:r>
                    </m:oMath>
                  </m:oMathPara>
                </a14:m>
                <a:endParaRPr lang="zh-CN" altLang="en-US" sz="2600" dirty="0"/>
              </a:p>
            </p:txBody>
          </p:sp>
        </mc:Choice>
        <mc:Fallback xmlns="">
          <p:sp>
            <p:nvSpPr>
              <p:cNvPr id="18438" name="Object 7"/>
              <p:cNvSpPr txBox="1">
                <a:spLocks noRot="1" noChangeAspect="1" noMove="1" noResize="1" noEditPoints="1" noAdjustHandles="1" noChangeArrowheads="1" noChangeShapeType="1" noTextEdit="1"/>
              </p:cNvSpPr>
              <p:nvPr/>
            </p:nvSpPr>
            <p:spPr>
              <a:xfrm>
                <a:off x="9239249" y="1464469"/>
                <a:ext cx="942975" cy="525463"/>
              </a:xfrm>
              <a:prstGeom prst="rect">
                <a:avLst/>
              </a:prstGeom>
              <a:blipFill>
                <a:blip r:embed="rId6"/>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1049" name="Object 9"/>
              <p:cNvSpPr txBox="1"/>
              <p:nvPr/>
            </p:nvSpPr>
            <p:spPr>
              <a:xfrm>
                <a:off x="1748631" y="2644475"/>
                <a:ext cx="5472113" cy="1101725"/>
              </a:xfrm>
              <a:prstGeom prst="rect">
                <a:avLst/>
              </a:prstGeom>
              <a:noFill/>
              <a:ln w="38100">
                <a:noFill/>
                <a:miter/>
              </a:ln>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𝑒</m:t>
                      </m:r>
                      <m:r>
                        <a:rPr lang="zh-CN" altLang="en-US" sz="2600" i="1">
                          <a:solidFill>
                            <a:srgbClr val="000000"/>
                          </a:solidFill>
                          <a:latin typeface="Cambria Math" panose="02040503050406030204" pitchFamily="18" charset="0"/>
                        </a:rPr>
                        <m:t>=</m:t>
                      </m:r>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𝑒</m:t>
                          </m:r>
                        </m:e>
                        <m:sub>
                          <m:r>
                            <a:rPr lang="zh-CN" altLang="en-US" sz="2600" i="1">
                              <a:solidFill>
                                <a:srgbClr val="000000"/>
                              </a:solidFill>
                              <a:latin typeface="Cambria Math" panose="02040503050406030204" pitchFamily="18" charset="0"/>
                            </a:rPr>
                            <m:t>卡</m:t>
                          </m:r>
                        </m:sub>
                      </m:sSub>
                      <m:r>
                        <a:rPr lang="zh-CN" altLang="en-US" sz="2600" i="1">
                          <a:solidFill>
                            <a:srgbClr val="000000"/>
                          </a:solidFill>
                          <a:latin typeface="Cambria Math" panose="02040503050406030204" pitchFamily="18" charset="0"/>
                        </a:rPr>
                        <m:t>×55%=</m:t>
                      </m:r>
                      <m:f>
                        <m:fPr>
                          <m:ctrlPr>
                            <a:rPr lang="zh-CN" altLang="en-US" sz="2600" i="1">
                              <a:solidFill>
                                <a:srgbClr val="000000"/>
                              </a:solidFill>
                              <a:latin typeface="Cambria Math" panose="02040503050406030204" pitchFamily="18" charset="0"/>
                            </a:rPr>
                          </m:ctrlPr>
                        </m:fPr>
                        <m:num>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𝑇</m:t>
                              </m:r>
                            </m:e>
                            <m:sub>
                              <m:r>
                                <a:rPr lang="zh-CN" altLang="en-US" sz="2600" i="1">
                                  <a:solidFill>
                                    <a:srgbClr val="000000"/>
                                  </a:solidFill>
                                  <a:latin typeface="Cambria Math" panose="02040503050406030204" pitchFamily="18" charset="0"/>
                                </a:rPr>
                                <m:t>2</m:t>
                              </m:r>
                            </m:sub>
                          </m:sSub>
                        </m:num>
                        <m:den>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𝑇</m:t>
                              </m:r>
                            </m:e>
                            <m:sub>
                              <m:r>
                                <a:rPr lang="zh-CN" altLang="en-US" sz="2600" i="1">
                                  <a:solidFill>
                                    <a:srgbClr val="000000"/>
                                  </a:solidFill>
                                  <a:latin typeface="Cambria Math" panose="02040503050406030204" pitchFamily="18" charset="0"/>
                                </a:rPr>
                                <m:t>1</m:t>
                              </m:r>
                            </m:sub>
                          </m:sSub>
                          <m:r>
                            <a:rPr lang="zh-CN" altLang="en-US" sz="2600" i="1">
                              <a:solidFill>
                                <a:srgbClr val="000000"/>
                              </a:solidFill>
                              <a:latin typeface="Cambria Math" panose="02040503050406030204" pitchFamily="18" charset="0"/>
                            </a:rPr>
                            <m:t>−</m:t>
                          </m:r>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𝑇</m:t>
                              </m:r>
                            </m:e>
                            <m:sub>
                              <m:r>
                                <a:rPr lang="zh-CN" altLang="en-US" sz="2600" i="1">
                                  <a:solidFill>
                                    <a:srgbClr val="000000"/>
                                  </a:solidFill>
                                  <a:latin typeface="Cambria Math" panose="02040503050406030204" pitchFamily="18" charset="0"/>
                                </a:rPr>
                                <m:t>2</m:t>
                              </m:r>
                            </m:sub>
                          </m:sSub>
                        </m:den>
                      </m:f>
                      <m:r>
                        <a:rPr lang="zh-CN" altLang="en-US" sz="2600" i="1">
                          <a:solidFill>
                            <a:srgbClr val="000000"/>
                          </a:solidFill>
                          <a:latin typeface="Cambria Math" panose="02040503050406030204" pitchFamily="18" charset="0"/>
                        </a:rPr>
                        <m:t>×</m:t>
                      </m:r>
                      <m:f>
                        <m:fPr>
                          <m:ctrlPr>
                            <a:rPr lang="zh-CN" altLang="en-US" sz="2600" i="1">
                              <a:solidFill>
                                <a:srgbClr val="000000"/>
                              </a:solidFill>
                              <a:latin typeface="Cambria Math" panose="02040503050406030204" pitchFamily="18" charset="0"/>
                            </a:rPr>
                          </m:ctrlPr>
                        </m:fPr>
                        <m:num>
                          <m:r>
                            <a:rPr lang="zh-CN" altLang="en-US" sz="2600" i="1">
                              <a:solidFill>
                                <a:srgbClr val="000000"/>
                              </a:solidFill>
                              <a:latin typeface="Cambria Math" panose="02040503050406030204" pitchFamily="18" charset="0"/>
                            </a:rPr>
                            <m:t>55</m:t>
                          </m:r>
                        </m:num>
                        <m:den>
                          <m:r>
                            <a:rPr lang="zh-CN" altLang="en-US" sz="2600" i="1">
                              <a:solidFill>
                                <a:srgbClr val="000000"/>
                              </a:solidFill>
                              <a:latin typeface="Cambria Math" panose="02040503050406030204" pitchFamily="18" charset="0"/>
                            </a:rPr>
                            <m:t>100</m:t>
                          </m:r>
                        </m:den>
                      </m:f>
                      <m:r>
                        <a:rPr lang="zh-CN" altLang="en-US" sz="2600" i="1">
                          <a:solidFill>
                            <a:srgbClr val="000000"/>
                          </a:solidFill>
                          <a:latin typeface="Cambria Math" panose="02040503050406030204" pitchFamily="18" charset="0"/>
                        </a:rPr>
                        <m:t>=10.2</m:t>
                      </m:r>
                    </m:oMath>
                  </m:oMathPara>
                </a14:m>
                <a:endParaRPr lang="zh-CN" altLang="en-US" sz="2600" dirty="0"/>
              </a:p>
            </p:txBody>
          </p:sp>
        </mc:Choice>
        <mc:Fallback xmlns="">
          <p:sp>
            <p:nvSpPr>
              <p:cNvPr id="471049" name="Object 9"/>
              <p:cNvSpPr txBox="1">
                <a:spLocks noRot="1" noChangeAspect="1" noMove="1" noResize="1" noEditPoints="1" noAdjustHandles="1" noChangeArrowheads="1" noChangeShapeType="1" noTextEdit="1"/>
              </p:cNvSpPr>
              <p:nvPr/>
            </p:nvSpPr>
            <p:spPr>
              <a:xfrm>
                <a:off x="1748631" y="2644475"/>
                <a:ext cx="5472113" cy="1101725"/>
              </a:xfrm>
              <a:prstGeom prst="rect">
                <a:avLst/>
              </a:prstGeom>
              <a:blipFill>
                <a:blip r:embed="rId7"/>
                <a:stretch>
                  <a:fillRect/>
                </a:stretch>
              </a:blipFill>
              <a:ln w="38100">
                <a:noFill/>
                <a:miter/>
              </a:ln>
            </p:spPr>
            <p:txBody>
              <a:bodyPr/>
              <a:lstStyle/>
              <a:p>
                <a:r>
                  <a:rPr lang="zh-CN" altLang="en-US">
                    <a:noFill/>
                  </a:rPr>
                  <a:t> </a:t>
                </a:r>
              </a:p>
            </p:txBody>
          </p:sp>
        </mc:Fallback>
      </mc:AlternateContent>
      <p:grpSp>
        <p:nvGrpSpPr>
          <p:cNvPr id="2" name="Group 2">
            <a:extLst>
              <a:ext uri="{FF2B5EF4-FFF2-40B4-BE49-F238E27FC236}">
                <a16:creationId xmlns:a16="http://schemas.microsoft.com/office/drawing/2014/main" id="{91BCA85C-8DA8-64A5-5CDA-284640D2894F}"/>
              </a:ext>
            </a:extLst>
          </p:cNvPr>
          <p:cNvGrpSpPr/>
          <p:nvPr/>
        </p:nvGrpSpPr>
        <p:grpSpPr>
          <a:xfrm>
            <a:off x="925513" y="4568804"/>
            <a:ext cx="7924800" cy="612775"/>
            <a:chOff x="567" y="1480"/>
            <a:chExt cx="4992" cy="386"/>
          </a:xfrm>
        </p:grpSpPr>
        <p:sp>
          <p:nvSpPr>
            <p:cNvPr id="3" name="Rectangle 3">
              <a:extLst>
                <a:ext uri="{FF2B5EF4-FFF2-40B4-BE49-F238E27FC236}">
                  <a16:creationId xmlns:a16="http://schemas.microsoft.com/office/drawing/2014/main" id="{BBB4BCED-A515-27F8-AD54-2BC0BE1074EE}"/>
                </a:ext>
              </a:extLst>
            </p:cNvPr>
            <p:cNvSpPr/>
            <p:nvPr/>
          </p:nvSpPr>
          <p:spPr>
            <a:xfrm>
              <a:off x="567" y="1480"/>
              <a:ext cx="4992" cy="341"/>
            </a:xfrm>
            <a:prstGeom prst="rect">
              <a:avLst/>
            </a:prstGeom>
            <a:noFill/>
            <a:ln w="9525">
              <a:noFill/>
            </a:ln>
          </p:spPr>
          <p:txBody>
            <a:bodyPr>
              <a:spAutoFit/>
            </a:bodyPr>
            <a:lstStyle/>
            <a:p>
              <a:pPr eaLnBrk="1" hangingPunct="1">
                <a:lnSpc>
                  <a:spcPct val="120000"/>
                </a:lnSpc>
              </a:pPr>
              <a:r>
                <a:rPr lang="zh-CN" altLang="en-US" sz="2600" dirty="0">
                  <a:solidFill>
                    <a:srgbClr val="1C1C1C"/>
                  </a:solidFill>
                  <a:latin typeface="Times New Roman" panose="02020603050405020304" pitchFamily="18" charset="0"/>
                </a:rPr>
                <a:t>房间传入冰箱的热量                         </a:t>
              </a:r>
            </a:p>
          </p:txBody>
        </p:sp>
        <mc:AlternateContent xmlns:mc="http://schemas.openxmlformats.org/markup-compatibility/2006" xmlns:a14="http://schemas.microsoft.com/office/drawing/2010/main">
          <mc:Choice Requires="a14">
            <p:sp>
              <p:nvSpPr>
                <p:cNvPr id="4" name="Object 4">
                  <a:extLst>
                    <a:ext uri="{FF2B5EF4-FFF2-40B4-BE49-F238E27FC236}">
                      <a16:creationId xmlns:a16="http://schemas.microsoft.com/office/drawing/2014/main" id="{61FB0CD2-4197-C67E-92DC-C60B9CD8DB71}"/>
                    </a:ext>
                  </a:extLst>
                </p:cNvPr>
                <p:cNvSpPr txBox="1"/>
                <p:nvPr/>
              </p:nvSpPr>
              <p:spPr>
                <a:xfrm>
                  <a:off x="3180" y="1480"/>
                  <a:ext cx="1728" cy="386"/>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𝑄</m:t>
                            </m:r>
                          </m:e>
                          <m:sup>
                            <m:r>
                              <a:rPr lang="zh-CN" altLang="en-US" sz="2600" i="1">
                                <a:solidFill>
                                  <a:srgbClr val="000000"/>
                                </a:solidFill>
                                <a:latin typeface="Cambria Math" panose="02040503050406030204" pitchFamily="18" charset="0"/>
                              </a:rPr>
                              <m:t>′</m:t>
                            </m:r>
                          </m:sup>
                        </m:sSup>
                        <m:r>
                          <a:rPr lang="zh-CN" altLang="en-US" sz="2600" i="1">
                            <a:solidFill>
                              <a:srgbClr val="000000"/>
                            </a:solidFill>
                            <a:latin typeface="Cambria Math" panose="02040503050406030204" pitchFamily="18" charset="0"/>
                          </a:rPr>
                          <m:t>=2.0×1</m:t>
                        </m:r>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0</m:t>
                            </m:r>
                          </m:e>
                          <m:sup>
                            <m:r>
                              <a:rPr lang="zh-CN" altLang="en-US" sz="2600" i="1">
                                <a:solidFill>
                                  <a:srgbClr val="000000"/>
                                </a:solidFill>
                                <a:latin typeface="Cambria Math" panose="02040503050406030204" pitchFamily="18" charset="0"/>
                              </a:rPr>
                              <m:t>7</m:t>
                            </m:r>
                          </m:sup>
                        </m:sSup>
                        <m:r>
                          <m:rPr>
                            <m:nor/>
                          </m:rPr>
                          <a:rPr lang="zh-CN" altLang="en-US" sz="2600" i="0">
                            <a:solidFill>
                              <a:srgbClr val="000000"/>
                            </a:solidFill>
                            <a:latin typeface="Cambria Math" panose="02040503050406030204" pitchFamily="18" charset="0"/>
                          </a:rPr>
                          <m:t> </m:t>
                        </m:r>
                        <m:r>
                          <m:rPr>
                            <m:nor/>
                          </m:rPr>
                          <a:rPr lang="zh-CN" altLang="en-US" sz="2600" i="0">
                            <a:solidFill>
                              <a:srgbClr val="000000"/>
                            </a:solidFill>
                            <a:latin typeface="Cambria Math" panose="02040503050406030204" pitchFamily="18" charset="0"/>
                          </a:rPr>
                          <m:t>J</m:t>
                        </m:r>
                      </m:oMath>
                    </m:oMathPara>
                  </a14:m>
                  <a:endParaRPr lang="zh-CN" altLang="en-US" sz="2600" dirty="0"/>
                </a:p>
              </p:txBody>
            </p:sp>
          </mc:Choice>
          <mc:Fallback xmlns="">
            <p:sp>
              <p:nvSpPr>
                <p:cNvPr id="4" name="Object 4">
                  <a:extLst>
                    <a:ext uri="{FF2B5EF4-FFF2-40B4-BE49-F238E27FC236}">
                      <a16:creationId xmlns:a16="http://schemas.microsoft.com/office/drawing/2014/main" id="{61FB0CD2-4197-C67E-92DC-C60B9CD8DB71}"/>
                    </a:ext>
                  </a:extLst>
                </p:cNvPr>
                <p:cNvSpPr txBox="1">
                  <a:spLocks noRot="1" noChangeAspect="1" noMove="1" noResize="1" noEditPoints="1" noAdjustHandles="1" noChangeArrowheads="1" noChangeShapeType="1" noTextEdit="1"/>
                </p:cNvSpPr>
                <p:nvPr/>
              </p:nvSpPr>
              <p:spPr>
                <a:xfrm>
                  <a:off x="3180" y="1480"/>
                  <a:ext cx="1728" cy="386"/>
                </a:xfrm>
                <a:prstGeom prst="rect">
                  <a:avLst/>
                </a:prstGeom>
                <a:blipFill>
                  <a:blip r:embed="rId8"/>
                  <a:stretch>
                    <a:fillRect/>
                  </a:stretch>
                </a:blipFill>
                <a:ln w="38100">
                  <a:noFill/>
                  <a:miter/>
                </a:ln>
              </p:spPr>
              <p:txBody>
                <a:bodyPr/>
                <a:lstStyle/>
                <a:p>
                  <a:r>
                    <a:rPr lang="zh-CN" altLang="en-US">
                      <a:noFill/>
                    </a:rPr>
                    <a:t> </a:t>
                  </a:r>
                </a:p>
              </p:txBody>
            </p:sp>
          </mc:Fallback>
        </mc:AlternateContent>
      </p:grpSp>
      <p:grpSp>
        <p:nvGrpSpPr>
          <p:cNvPr id="6" name="Group 6">
            <a:extLst>
              <a:ext uri="{FF2B5EF4-FFF2-40B4-BE49-F238E27FC236}">
                <a16:creationId xmlns:a16="http://schemas.microsoft.com/office/drawing/2014/main" id="{F643D3EE-DCD4-FC8E-B36F-93F01A2064FB}"/>
              </a:ext>
            </a:extLst>
          </p:cNvPr>
          <p:cNvGrpSpPr/>
          <p:nvPr/>
        </p:nvGrpSpPr>
        <p:grpSpPr>
          <a:xfrm>
            <a:off x="1192213" y="3554391"/>
            <a:ext cx="7391400" cy="1117600"/>
            <a:chOff x="521" y="3203"/>
            <a:chExt cx="4656" cy="704"/>
          </a:xfrm>
        </p:grpSpPr>
        <p:sp>
          <p:nvSpPr>
            <p:cNvPr id="7" name="Rectangle 7">
              <a:extLst>
                <a:ext uri="{FF2B5EF4-FFF2-40B4-BE49-F238E27FC236}">
                  <a16:creationId xmlns:a16="http://schemas.microsoft.com/office/drawing/2014/main" id="{4838B33D-F268-9635-8EB7-B93AB2A0A18A}"/>
                </a:ext>
              </a:extLst>
            </p:cNvPr>
            <p:cNvSpPr/>
            <p:nvPr/>
          </p:nvSpPr>
          <p:spPr>
            <a:xfrm>
              <a:off x="521" y="3385"/>
              <a:ext cx="4656" cy="310"/>
            </a:xfrm>
            <a:prstGeom prst="rect">
              <a:avLst/>
            </a:prstGeom>
            <a:noFill/>
            <a:ln w="9525">
              <a:noFill/>
            </a:ln>
          </p:spPr>
          <p:txBody>
            <a:bodyPr>
              <a:spAutoFit/>
            </a:bodyPr>
            <a:lstStyle/>
            <a:p>
              <a:pPr eaLnBrk="1" hangingPunct="1"/>
              <a:r>
                <a:rPr lang="zh-CN" altLang="en-US" sz="2600" dirty="0">
                  <a:solidFill>
                    <a:srgbClr val="1C1C1C"/>
                  </a:solidFill>
                  <a:latin typeface="Times New Roman" panose="02020603050405020304" pitchFamily="18" charset="0"/>
                </a:rPr>
                <a:t>由                                  得</a:t>
              </a:r>
            </a:p>
          </p:txBody>
        </p:sp>
        <mc:AlternateContent xmlns:mc="http://schemas.openxmlformats.org/markup-compatibility/2006" xmlns:a14="http://schemas.microsoft.com/office/drawing/2010/main">
          <mc:Choice Requires="a14">
            <p:sp>
              <p:nvSpPr>
                <p:cNvPr id="8" name="Object 8">
                  <a:extLst>
                    <a:ext uri="{FF2B5EF4-FFF2-40B4-BE49-F238E27FC236}">
                      <a16:creationId xmlns:a16="http://schemas.microsoft.com/office/drawing/2014/main" id="{B92960C0-E3C3-2A8D-C6BE-1785BCC33800}"/>
                    </a:ext>
                  </a:extLst>
                </p:cNvPr>
                <p:cNvSpPr txBox="1"/>
                <p:nvPr/>
              </p:nvSpPr>
              <p:spPr>
                <a:xfrm>
                  <a:off x="930" y="3203"/>
                  <a:ext cx="1248" cy="704"/>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𝑒</m:t>
                        </m:r>
                        <m:r>
                          <a:rPr lang="zh-CN" altLang="en-US" sz="2600" i="1">
                            <a:solidFill>
                              <a:srgbClr val="000000"/>
                            </a:solidFill>
                            <a:latin typeface="Cambria Math" panose="02040503050406030204" pitchFamily="18" charset="0"/>
                          </a:rPr>
                          <m:t>=</m:t>
                        </m:r>
                        <m:f>
                          <m:fPr>
                            <m:ctrlPr>
                              <a:rPr lang="zh-CN" altLang="en-US" sz="2600" i="1">
                                <a:solidFill>
                                  <a:srgbClr val="000000"/>
                                </a:solidFill>
                                <a:latin typeface="Cambria Math" panose="02040503050406030204" pitchFamily="18" charset="0"/>
                              </a:rPr>
                            </m:ctrlPr>
                          </m:fPr>
                          <m:num>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2</m:t>
                                </m:r>
                              </m:sub>
                            </m:sSub>
                          </m:num>
                          <m:den>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r>
                              <a:rPr lang="zh-CN" altLang="en-US" sz="2600" i="1">
                                <a:solidFill>
                                  <a:srgbClr val="000000"/>
                                </a:solidFill>
                                <a:latin typeface="Cambria Math" panose="02040503050406030204" pitchFamily="18" charset="0"/>
                              </a:rPr>
                              <m:t>−</m:t>
                            </m:r>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2</m:t>
                                </m:r>
                              </m:sub>
                            </m:sSub>
                          </m:den>
                        </m:f>
                      </m:oMath>
                    </m:oMathPara>
                  </a14:m>
                  <a:endParaRPr lang="zh-CN" altLang="en-US" sz="2600"/>
                </a:p>
              </p:txBody>
            </p:sp>
          </mc:Choice>
          <mc:Fallback xmlns="">
            <p:sp>
              <p:nvSpPr>
                <p:cNvPr id="19460" name="Object 8"/>
                <p:cNvSpPr txBox="1">
                  <a:spLocks noRot="1" noChangeAspect="1" noMove="1" noResize="1" noEditPoints="1" noAdjustHandles="1" noChangeArrowheads="1" noChangeShapeType="1" noTextEdit="1"/>
                </p:cNvSpPr>
                <p:nvPr/>
              </p:nvSpPr>
              <p:spPr>
                <a:xfrm>
                  <a:off x="930" y="3203"/>
                  <a:ext cx="1248" cy="704"/>
                </a:xfrm>
                <a:prstGeom prst="rect">
                  <a:avLst/>
                </a:prstGeom>
                <a:blipFill>
                  <a:blip r:embed="rId9"/>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Object 9">
                  <a:extLst>
                    <a:ext uri="{FF2B5EF4-FFF2-40B4-BE49-F238E27FC236}">
                      <a16:creationId xmlns:a16="http://schemas.microsoft.com/office/drawing/2014/main" id="{E1868823-F0B6-8242-6C81-82F7AB4F338E}"/>
                    </a:ext>
                  </a:extLst>
                </p:cNvPr>
                <p:cNvSpPr txBox="1"/>
                <p:nvPr/>
              </p:nvSpPr>
              <p:spPr>
                <a:xfrm>
                  <a:off x="3288" y="3203"/>
                  <a:ext cx="1520" cy="639"/>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r>
                          <a:rPr lang="zh-CN" altLang="en-US" sz="2600" i="1">
                            <a:solidFill>
                              <a:srgbClr val="000000"/>
                            </a:solidFill>
                            <a:latin typeface="Cambria Math" panose="02040503050406030204" pitchFamily="18" charset="0"/>
                          </a:rPr>
                          <m:t>=</m:t>
                        </m:r>
                        <m:f>
                          <m:fPr>
                            <m:ctrlPr>
                              <a:rPr lang="zh-CN" altLang="en-US" sz="2600" i="1">
                                <a:solidFill>
                                  <a:srgbClr val="000000"/>
                                </a:solidFill>
                                <a:latin typeface="Cambria Math" panose="02040503050406030204" pitchFamily="18" charset="0"/>
                              </a:rPr>
                            </m:ctrlPr>
                          </m:fPr>
                          <m:num>
                            <m:r>
                              <a:rPr lang="zh-CN" altLang="en-US" sz="2600" i="1">
                                <a:solidFill>
                                  <a:srgbClr val="000000"/>
                                </a:solidFill>
                                <a:latin typeface="Cambria Math" panose="02040503050406030204" pitchFamily="18" charset="0"/>
                              </a:rPr>
                              <m:t>𝑒</m:t>
                            </m:r>
                            <m:r>
                              <a:rPr lang="zh-CN" altLang="en-US" sz="2600" i="1">
                                <a:solidFill>
                                  <a:srgbClr val="000000"/>
                                </a:solidFill>
                                <a:latin typeface="Cambria Math" panose="02040503050406030204" pitchFamily="18" charset="0"/>
                              </a:rPr>
                              <m:t>+1</m:t>
                            </m:r>
                          </m:num>
                          <m:den>
                            <m:r>
                              <a:rPr lang="zh-CN" altLang="en-US" sz="2600" i="1">
                                <a:solidFill>
                                  <a:srgbClr val="000000"/>
                                </a:solidFill>
                                <a:latin typeface="Cambria Math" panose="02040503050406030204" pitchFamily="18" charset="0"/>
                              </a:rPr>
                              <m:t>𝑒</m:t>
                            </m:r>
                          </m:den>
                        </m:f>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2</m:t>
                            </m:r>
                          </m:sub>
                        </m:sSub>
                      </m:oMath>
                    </m:oMathPara>
                  </a14:m>
                  <a:endParaRPr lang="zh-CN" altLang="en-US" sz="2600" dirty="0"/>
                </a:p>
              </p:txBody>
            </p:sp>
          </mc:Choice>
          <mc:Fallback xmlns="">
            <p:sp>
              <p:nvSpPr>
                <p:cNvPr id="9" name="Object 9">
                  <a:extLst>
                    <a:ext uri="{FF2B5EF4-FFF2-40B4-BE49-F238E27FC236}">
                      <a16:creationId xmlns:a16="http://schemas.microsoft.com/office/drawing/2014/main" id="{E1868823-F0B6-8242-6C81-82F7AB4F338E}"/>
                    </a:ext>
                  </a:extLst>
                </p:cNvPr>
                <p:cNvSpPr txBox="1">
                  <a:spLocks noRot="1" noChangeAspect="1" noMove="1" noResize="1" noEditPoints="1" noAdjustHandles="1" noChangeArrowheads="1" noChangeShapeType="1" noTextEdit="1"/>
                </p:cNvSpPr>
                <p:nvPr/>
              </p:nvSpPr>
              <p:spPr>
                <a:xfrm>
                  <a:off x="3288" y="3203"/>
                  <a:ext cx="1520" cy="639"/>
                </a:xfrm>
                <a:prstGeom prst="rect">
                  <a:avLst/>
                </a:prstGeom>
                <a:blipFill>
                  <a:blip r:embed="rId10"/>
                  <a:stretch>
                    <a:fillRect/>
                  </a:stretch>
                </a:blipFill>
                <a:ln w="38100">
                  <a:noFill/>
                  <a:miter/>
                </a:ln>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0" name="Object 10">
                <a:extLst>
                  <a:ext uri="{FF2B5EF4-FFF2-40B4-BE49-F238E27FC236}">
                    <a16:creationId xmlns:a16="http://schemas.microsoft.com/office/drawing/2014/main" id="{F0C5AE75-BD9F-EF3F-CFF9-A43D3E20BA71}"/>
                  </a:ext>
                </a:extLst>
              </p:cNvPr>
              <p:cNvSpPr txBox="1"/>
              <p:nvPr/>
            </p:nvSpPr>
            <p:spPr>
              <a:xfrm>
                <a:off x="4484688" y="5283973"/>
                <a:ext cx="2597151" cy="969963"/>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r>
                        <a:rPr lang="zh-CN" altLang="en-US" sz="2600" i="1">
                          <a:solidFill>
                            <a:srgbClr val="000000"/>
                          </a:solidFill>
                          <a:latin typeface="Cambria Math" panose="02040503050406030204" pitchFamily="18" charset="0"/>
                        </a:rPr>
                        <m:t>=</m:t>
                      </m:r>
                      <m:f>
                        <m:fPr>
                          <m:ctrlPr>
                            <a:rPr lang="zh-CN" altLang="en-US" sz="2600" i="1">
                              <a:solidFill>
                                <a:srgbClr val="000000"/>
                              </a:solidFill>
                              <a:latin typeface="Cambria Math" panose="02040503050406030204" pitchFamily="18" charset="0"/>
                            </a:rPr>
                          </m:ctrlPr>
                        </m:fPr>
                        <m:num>
                          <m:r>
                            <a:rPr lang="zh-CN" altLang="en-US" sz="2600" i="1">
                              <a:solidFill>
                                <a:srgbClr val="000000"/>
                              </a:solidFill>
                              <a:latin typeface="Cambria Math" panose="02040503050406030204" pitchFamily="18" charset="0"/>
                            </a:rPr>
                            <m:t>𝑒</m:t>
                          </m:r>
                          <m:r>
                            <a:rPr lang="zh-CN" altLang="en-US" sz="2600" i="1">
                              <a:solidFill>
                                <a:srgbClr val="000000"/>
                              </a:solidFill>
                              <a:latin typeface="Cambria Math" panose="02040503050406030204" pitchFamily="18" charset="0"/>
                            </a:rPr>
                            <m:t>+1</m:t>
                          </m:r>
                        </m:num>
                        <m:den>
                          <m:r>
                            <a:rPr lang="zh-CN" altLang="en-US" sz="2600" i="1">
                              <a:solidFill>
                                <a:srgbClr val="000000"/>
                              </a:solidFill>
                              <a:latin typeface="Cambria Math" panose="02040503050406030204" pitchFamily="18" charset="0"/>
                            </a:rPr>
                            <m:t>𝑒</m:t>
                          </m:r>
                        </m:den>
                      </m:f>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2</m:t>
                          </m:r>
                        </m:sub>
                      </m:sSub>
                    </m:oMath>
                  </m:oMathPara>
                </a14:m>
                <a:endParaRPr lang="zh-CN" altLang="en-US" sz="2600" dirty="0"/>
              </a:p>
            </p:txBody>
          </p:sp>
        </mc:Choice>
        <mc:Fallback xmlns="">
          <p:sp>
            <p:nvSpPr>
              <p:cNvPr id="10" name="Object 10">
                <a:extLst>
                  <a:ext uri="{FF2B5EF4-FFF2-40B4-BE49-F238E27FC236}">
                    <a16:creationId xmlns:a16="http://schemas.microsoft.com/office/drawing/2014/main" id="{F0C5AE75-BD9F-EF3F-CFF9-A43D3E20BA71}"/>
                  </a:ext>
                </a:extLst>
              </p:cNvPr>
              <p:cNvSpPr txBox="1">
                <a:spLocks noRot="1" noChangeAspect="1" noMove="1" noResize="1" noEditPoints="1" noAdjustHandles="1" noChangeArrowheads="1" noChangeShapeType="1" noTextEdit="1"/>
              </p:cNvSpPr>
              <p:nvPr/>
            </p:nvSpPr>
            <p:spPr>
              <a:xfrm>
                <a:off x="4484688" y="5283973"/>
                <a:ext cx="2597151" cy="969963"/>
              </a:xfrm>
              <a:prstGeom prst="rect">
                <a:avLst/>
              </a:prstGeom>
              <a:blipFill>
                <a:blip r:embed="rId11"/>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Object 11">
                <a:extLst>
                  <a:ext uri="{FF2B5EF4-FFF2-40B4-BE49-F238E27FC236}">
                    <a16:creationId xmlns:a16="http://schemas.microsoft.com/office/drawing/2014/main" id="{2D7D263E-F437-AAC1-8633-6D722C43D6D3}"/>
                  </a:ext>
                </a:extLst>
              </p:cNvPr>
              <p:cNvSpPr txBox="1"/>
              <p:nvPr/>
            </p:nvSpPr>
            <p:spPr>
              <a:xfrm>
                <a:off x="6577014" y="5191104"/>
                <a:ext cx="5614986" cy="1004887"/>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m:t>
                      </m:r>
                      <m:f>
                        <m:fPr>
                          <m:ctrlPr>
                            <a:rPr lang="zh-CN" altLang="en-US" sz="2600" i="1">
                              <a:solidFill>
                                <a:srgbClr val="000000"/>
                              </a:solidFill>
                              <a:latin typeface="Cambria Math" panose="02040503050406030204" pitchFamily="18" charset="0"/>
                            </a:rPr>
                          </m:ctrlPr>
                        </m:fPr>
                        <m:num>
                          <m:r>
                            <a:rPr lang="zh-CN" altLang="en-US" sz="2600" i="1">
                              <a:solidFill>
                                <a:srgbClr val="000000"/>
                              </a:solidFill>
                              <a:latin typeface="Cambria Math" panose="02040503050406030204" pitchFamily="18" charset="0"/>
                            </a:rPr>
                            <m:t>𝑒</m:t>
                          </m:r>
                          <m:r>
                            <a:rPr lang="zh-CN" altLang="en-US" sz="2600" i="1">
                              <a:solidFill>
                                <a:srgbClr val="000000"/>
                              </a:solidFill>
                              <a:latin typeface="Cambria Math" panose="02040503050406030204" pitchFamily="18" charset="0"/>
                            </a:rPr>
                            <m:t>+1</m:t>
                          </m:r>
                        </m:num>
                        <m:den>
                          <m:r>
                            <a:rPr lang="zh-CN" altLang="en-US" sz="2600" i="1">
                              <a:solidFill>
                                <a:srgbClr val="000000"/>
                              </a:solidFill>
                              <a:latin typeface="Cambria Math" panose="02040503050406030204" pitchFamily="18" charset="0"/>
                            </a:rPr>
                            <m:t>𝑒</m:t>
                          </m:r>
                        </m:den>
                      </m:f>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𝑄</m:t>
                          </m:r>
                        </m:e>
                        <m:sup>
                          <m:r>
                            <a:rPr lang="zh-CN" altLang="en-US" sz="2600" i="1">
                              <a:solidFill>
                                <a:srgbClr val="000000"/>
                              </a:solidFill>
                              <a:latin typeface="Cambria Math" panose="02040503050406030204" pitchFamily="18" charset="0"/>
                            </a:rPr>
                            <m:t>′</m:t>
                          </m:r>
                        </m:sup>
                      </m:sSup>
                      <m:r>
                        <a:rPr lang="zh-CN" altLang="en-US" sz="2600" i="1">
                          <a:solidFill>
                            <a:srgbClr val="000000"/>
                          </a:solidFill>
                          <a:latin typeface="Cambria Math" panose="02040503050406030204" pitchFamily="18" charset="0"/>
                        </a:rPr>
                        <m:t>=2.2×1</m:t>
                      </m:r>
                      <m:sSup>
                        <m:sSupPr>
                          <m:ctrlPr>
                            <a:rPr lang="zh-CN" altLang="en-US" sz="2600" i="1">
                              <a:solidFill>
                                <a:srgbClr val="000000"/>
                              </a:solidFill>
                              <a:latin typeface="Cambria Math" panose="02040503050406030204" pitchFamily="18" charset="0"/>
                            </a:rPr>
                          </m:ctrlPr>
                        </m:sSupPr>
                        <m:e>
                          <m:r>
                            <a:rPr lang="zh-CN" altLang="en-US" sz="2600" i="1">
                              <a:solidFill>
                                <a:srgbClr val="000000"/>
                              </a:solidFill>
                              <a:latin typeface="Cambria Math" panose="02040503050406030204" pitchFamily="18" charset="0"/>
                            </a:rPr>
                            <m:t>0</m:t>
                          </m:r>
                        </m:e>
                        <m:sup>
                          <m:r>
                            <a:rPr lang="zh-CN" altLang="en-US" sz="2600" i="1">
                              <a:solidFill>
                                <a:srgbClr val="000000"/>
                              </a:solidFill>
                              <a:latin typeface="Cambria Math" panose="02040503050406030204" pitchFamily="18" charset="0"/>
                            </a:rPr>
                            <m:t>7</m:t>
                          </m:r>
                        </m:sup>
                      </m:sSup>
                      <m:r>
                        <m:rPr>
                          <m:nor/>
                        </m:rPr>
                        <a:rPr lang="zh-CN" altLang="en-US" sz="2600" i="0">
                          <a:solidFill>
                            <a:srgbClr val="000000"/>
                          </a:solidFill>
                          <a:latin typeface="Cambria Math" panose="02040503050406030204" pitchFamily="18" charset="0"/>
                        </a:rPr>
                        <m:t> </m:t>
                      </m:r>
                      <m:r>
                        <m:rPr>
                          <m:nor/>
                        </m:rPr>
                        <a:rPr lang="zh-CN" altLang="en-US" sz="2600" i="0">
                          <a:solidFill>
                            <a:srgbClr val="000000"/>
                          </a:solidFill>
                          <a:latin typeface="Cambria Math" panose="02040503050406030204" pitchFamily="18" charset="0"/>
                        </a:rPr>
                        <m:t>J</m:t>
                      </m:r>
                    </m:oMath>
                  </m:oMathPara>
                </a14:m>
                <a:endParaRPr lang="zh-CN" altLang="en-US" sz="2600" dirty="0"/>
              </a:p>
            </p:txBody>
          </p:sp>
        </mc:Choice>
        <mc:Fallback xmlns="">
          <p:sp>
            <p:nvSpPr>
              <p:cNvPr id="11" name="Object 11">
                <a:extLst>
                  <a:ext uri="{FF2B5EF4-FFF2-40B4-BE49-F238E27FC236}">
                    <a16:creationId xmlns:a16="http://schemas.microsoft.com/office/drawing/2014/main" id="{2D7D263E-F437-AAC1-8633-6D722C43D6D3}"/>
                  </a:ext>
                </a:extLst>
              </p:cNvPr>
              <p:cNvSpPr txBox="1">
                <a:spLocks noRot="1" noChangeAspect="1" noMove="1" noResize="1" noEditPoints="1" noAdjustHandles="1" noChangeArrowheads="1" noChangeShapeType="1" noTextEdit="1"/>
              </p:cNvSpPr>
              <p:nvPr/>
            </p:nvSpPr>
            <p:spPr>
              <a:xfrm>
                <a:off x="6577014" y="5191104"/>
                <a:ext cx="5614986" cy="1004887"/>
              </a:xfrm>
              <a:prstGeom prst="rect">
                <a:avLst/>
              </a:prstGeom>
              <a:blipFill>
                <a:blip r:embed="rId12"/>
                <a:stretch>
                  <a:fillRect/>
                </a:stretch>
              </a:blipFill>
              <a:ln w="38100">
                <a:noFill/>
                <a:miter/>
              </a:ln>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B14B59F1-7A53-D026-43B0-968F42549088}"/>
              </a:ext>
            </a:extLst>
          </p:cNvPr>
          <p:cNvSpPr txBox="1"/>
          <p:nvPr/>
        </p:nvSpPr>
        <p:spPr>
          <a:xfrm>
            <a:off x="695326" y="5387648"/>
            <a:ext cx="6096000" cy="576568"/>
          </a:xfrm>
          <a:prstGeom prst="rect">
            <a:avLst/>
          </a:prstGeom>
          <a:noFill/>
        </p:spPr>
        <p:txBody>
          <a:bodyPr wrap="square">
            <a:spAutoFit/>
          </a:bodyPr>
          <a:lstStyle/>
          <a:p>
            <a:pPr eaLnBrk="1" hangingPunct="1">
              <a:lnSpc>
                <a:spcPct val="120000"/>
              </a:lnSpc>
            </a:pPr>
            <a:r>
              <a:rPr lang="zh-CN" altLang="en-US" sz="2800" dirty="0">
                <a:solidFill>
                  <a:srgbClr val="1C1C1C"/>
                </a:solidFill>
                <a:latin typeface="Times New Roman" panose="02020603050405020304" pitchFamily="18" charset="0"/>
              </a:rPr>
              <a:t>热平衡时</a:t>
            </a:r>
          </a:p>
        </p:txBody>
      </p:sp>
      <mc:AlternateContent xmlns:mc="http://schemas.openxmlformats.org/markup-compatibility/2006" xmlns:a14="http://schemas.microsoft.com/office/drawing/2010/main">
        <mc:Choice Requires="a14">
          <p:sp>
            <p:nvSpPr>
              <p:cNvPr id="14" name="Object 5">
                <a:extLst>
                  <a:ext uri="{FF2B5EF4-FFF2-40B4-BE49-F238E27FC236}">
                    <a16:creationId xmlns:a16="http://schemas.microsoft.com/office/drawing/2014/main" id="{4D9BCA74-BB20-1669-D420-C23706F96CE9}"/>
                  </a:ext>
                </a:extLst>
              </p:cNvPr>
              <p:cNvSpPr txBox="1"/>
              <p:nvPr/>
            </p:nvSpPr>
            <p:spPr>
              <a:xfrm>
                <a:off x="2247900" y="5422878"/>
                <a:ext cx="1881188" cy="541338"/>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𝑄</m:t>
                          </m:r>
                        </m:e>
                        <m:sup>
                          <m:r>
                            <a:rPr lang="zh-CN" altLang="en-US" sz="2800" i="1">
                              <a:solidFill>
                                <a:srgbClr val="000000"/>
                              </a:solidFill>
                              <a:latin typeface="Cambria Math" panose="02040503050406030204" pitchFamily="18" charset="0"/>
                            </a:rPr>
                            <m:t>′</m:t>
                          </m:r>
                        </m:sup>
                      </m:sSup>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oMath>
                  </m:oMathPara>
                </a14:m>
                <a:endParaRPr lang="zh-CN" altLang="en-US" sz="2800" dirty="0"/>
              </a:p>
            </p:txBody>
          </p:sp>
        </mc:Choice>
        <mc:Fallback xmlns="">
          <p:sp>
            <p:nvSpPr>
              <p:cNvPr id="14" name="Object 5">
                <a:extLst>
                  <a:ext uri="{FF2B5EF4-FFF2-40B4-BE49-F238E27FC236}">
                    <a16:creationId xmlns:a16="http://schemas.microsoft.com/office/drawing/2014/main" id="{4D9BCA74-BB20-1669-D420-C23706F96CE9}"/>
                  </a:ext>
                </a:extLst>
              </p:cNvPr>
              <p:cNvSpPr txBox="1">
                <a:spLocks noRot="1" noChangeAspect="1" noMove="1" noResize="1" noEditPoints="1" noAdjustHandles="1" noChangeArrowheads="1" noChangeShapeType="1" noTextEdit="1"/>
              </p:cNvSpPr>
              <p:nvPr/>
            </p:nvSpPr>
            <p:spPr>
              <a:xfrm>
                <a:off x="2247900" y="5422878"/>
                <a:ext cx="1881188" cy="541338"/>
              </a:xfrm>
              <a:prstGeom prst="rect">
                <a:avLst/>
              </a:prstGeom>
              <a:blipFill>
                <a:blip r:embed="rId13"/>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44">
                <a:extLst>
                  <a:ext uri="{FF2B5EF4-FFF2-40B4-BE49-F238E27FC236}">
                    <a16:creationId xmlns:a16="http://schemas.microsoft.com/office/drawing/2014/main" id="{587CD551-DAF9-DA5C-D39B-545EF4B8006E}"/>
                  </a:ext>
                </a:extLst>
              </p:cNvPr>
              <p:cNvSpPr txBox="1"/>
              <p:nvPr/>
            </p:nvSpPr>
            <p:spPr>
              <a:xfrm>
                <a:off x="4852886" y="6196762"/>
                <a:ext cx="4531621" cy="1081087"/>
              </a:xfrm>
              <a:prstGeom prst="rect">
                <a:avLst/>
              </a:prstGeom>
              <a:noFill/>
              <a:ln w="38100">
                <a:noFill/>
                <a:miter/>
              </a:ln>
            </p:spPr>
            <p:txBody>
              <a:bodyPr>
                <a:noAutofit/>
              </a:bodyPr>
              <a:lstStyle/>
              <a:p>
                <a14:m>
                  <m:oMath xmlns:m="http://schemas.openxmlformats.org/officeDocument/2006/math">
                    <m:r>
                      <a:rPr lang="zh-CN" altLang="en-US" sz="2800" i="1" smtClean="0">
                        <a:solidFill>
                          <a:srgbClr val="000000"/>
                        </a:solidFill>
                        <a:latin typeface="Cambria Math" panose="02040503050406030204" pitchFamily="18" charset="0"/>
                      </a:rPr>
                      <m:t>𝐴</m:t>
                    </m:r>
                    <m:r>
                      <a:rPr lang="zh-CN" altLang="en-US" sz="2800" i="1">
                        <a:solidFill>
                          <a:srgbClr val="000000"/>
                        </a:solidFill>
                        <a:latin typeface="Cambria Math" panose="02040503050406030204" pitchFamily="18" charset="0"/>
                      </a:rPr>
                      <m:t>=</m:t>
                    </m:r>
                  </m:oMath>
                </a14:m>
                <a:r>
                  <a:rPr lang="zh-CN" altLang="en-US" sz="2800" dirty="0">
                    <a:solidFill>
                      <a:srgbClr val="000000"/>
                    </a:solidFill>
                  </a:rPr>
                  <a:t> </a:t>
                </a:r>
                <a14:m>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𝑄</m:t>
                        </m:r>
                      </m:e>
                      <m:sub>
                        <m:r>
                          <a:rPr lang="zh-CN" altLang="en-US" sz="2800" i="1">
                            <a:solidFill>
                              <a:srgbClr val="000000"/>
                            </a:solidFill>
                            <a:latin typeface="Cambria Math" panose="02040503050406030204" pitchFamily="18" charset="0"/>
                          </a:rPr>
                          <m:t>2</m:t>
                        </m:r>
                      </m:sub>
                    </m:sSub>
                  </m:oMath>
                </a14:m>
                <a:r>
                  <a:rPr lang="en-US" altLang="zh-CN" sz="2800" dirty="0"/>
                  <a:t>= </a:t>
                </a:r>
                <a14:m>
                  <m:oMath xmlns:m="http://schemas.openxmlformats.org/officeDocument/2006/math">
                    <m:r>
                      <a:rPr lang="zh-CN" altLang="en-US" sz="2800" i="1">
                        <a:solidFill>
                          <a:srgbClr val="000000"/>
                        </a:solidFill>
                        <a:latin typeface="Cambria Math" panose="02040503050406030204" pitchFamily="18" charset="0"/>
                      </a:rPr>
                      <m:t>2</m:t>
                    </m:r>
                    <m:r>
                      <a:rPr lang="zh-CN" altLang="en-US" sz="2800" i="1" smtClean="0">
                        <a:solidFill>
                          <a:srgbClr val="000000"/>
                        </a:solidFill>
                        <a:latin typeface="Cambria Math" panose="02040503050406030204" pitchFamily="18" charset="0"/>
                      </a:rPr>
                      <m:t> </m:t>
                    </m:r>
                    <m:r>
                      <a:rPr lang="zh-CN" altLang="en-US" sz="2800" i="1">
                        <a:solidFill>
                          <a:srgbClr val="000000"/>
                        </a:solidFill>
                        <a:latin typeface="Cambria Math" panose="02040503050406030204" pitchFamily="18" charset="0"/>
                      </a:rPr>
                      <m:t>×1</m:t>
                    </m:r>
                    <m:sSup>
                      <m:sSupPr>
                        <m:ctrlPr>
                          <a:rPr lang="zh-CN" altLang="en-US" sz="2800" i="1">
                            <a:solidFill>
                              <a:srgbClr val="000000"/>
                            </a:solidFill>
                            <a:latin typeface="Cambria Math" panose="02040503050406030204" pitchFamily="18" charset="0"/>
                          </a:rPr>
                        </m:ctrlPr>
                      </m:sSupPr>
                      <m:e>
                        <m:r>
                          <a:rPr lang="zh-CN" altLang="en-US" sz="2800" i="1">
                            <a:solidFill>
                              <a:srgbClr val="000000"/>
                            </a:solidFill>
                            <a:latin typeface="Cambria Math" panose="02040503050406030204" pitchFamily="18" charset="0"/>
                          </a:rPr>
                          <m:t>0</m:t>
                        </m:r>
                      </m:e>
                      <m:sup>
                        <m:r>
                          <a:rPr lang="en-US" altLang="zh-CN" sz="2800" b="0" i="1" smtClean="0">
                            <a:solidFill>
                              <a:srgbClr val="000000"/>
                            </a:solidFill>
                            <a:latin typeface="Cambria Math" panose="02040503050406030204" pitchFamily="18" charset="0"/>
                          </a:rPr>
                          <m:t>6</m:t>
                        </m:r>
                      </m:sup>
                    </m:sSup>
                    <m:r>
                      <m:rPr>
                        <m:nor/>
                      </m:rPr>
                      <a:rPr lang="zh-CN" altLang="en-US" sz="2800">
                        <a:solidFill>
                          <a:srgbClr val="000000"/>
                        </a:solidFill>
                        <a:latin typeface="Cambria Math" panose="02040503050406030204" pitchFamily="18" charset="0"/>
                      </a:rPr>
                      <m:t> </m:t>
                    </m:r>
                    <m:r>
                      <m:rPr>
                        <m:nor/>
                      </m:rPr>
                      <a:rPr lang="zh-CN" altLang="en-US" sz="2800">
                        <a:solidFill>
                          <a:srgbClr val="000000"/>
                        </a:solidFill>
                        <a:latin typeface="Cambria Math" panose="02040503050406030204" pitchFamily="18" charset="0"/>
                      </a:rPr>
                      <m:t>J</m:t>
                    </m:r>
                  </m:oMath>
                </a14:m>
                <a:endParaRPr lang="zh-CN" altLang="en-US" sz="2800" dirty="0"/>
              </a:p>
            </p:txBody>
          </p:sp>
        </mc:Choice>
        <mc:Fallback xmlns="">
          <p:sp>
            <p:nvSpPr>
              <p:cNvPr id="5" name="Object 44">
                <a:extLst>
                  <a:ext uri="{FF2B5EF4-FFF2-40B4-BE49-F238E27FC236}">
                    <a16:creationId xmlns:a16="http://schemas.microsoft.com/office/drawing/2014/main" id="{587CD551-DAF9-DA5C-D39B-545EF4B8006E}"/>
                  </a:ext>
                </a:extLst>
              </p:cNvPr>
              <p:cNvSpPr txBox="1">
                <a:spLocks noRot="1" noChangeAspect="1" noMove="1" noResize="1" noEditPoints="1" noAdjustHandles="1" noChangeArrowheads="1" noChangeShapeType="1" noTextEdit="1"/>
              </p:cNvSpPr>
              <p:nvPr/>
            </p:nvSpPr>
            <p:spPr>
              <a:xfrm>
                <a:off x="4852886" y="6196762"/>
                <a:ext cx="4531621" cy="1081087"/>
              </a:xfrm>
              <a:prstGeom prst="rect">
                <a:avLst/>
              </a:prstGeom>
              <a:blipFill>
                <a:blip r:embed="rId14"/>
                <a:stretch>
                  <a:fillRect t="-6215"/>
                </a:stretch>
              </a:blipFill>
              <a:ln w="38100">
                <a:noFill/>
                <a:miter/>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9" grpId="0"/>
      <p:bldP spid="10" grpId="0"/>
      <p:bldP spid="11" grpId="0"/>
      <p:bldP spid="13" grpId="0"/>
      <p:bldP spid="14"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EE6B56-DBAD-4460-85C8-B9D868FF6142}"/>
              </a:ext>
            </a:extLst>
          </p:cNvPr>
          <p:cNvSpPr/>
          <p:nvPr/>
        </p:nvSpPr>
        <p:spPr>
          <a:xfrm>
            <a:off x="2033938" y="2533285"/>
            <a:ext cx="7981672" cy="584775"/>
          </a:xfrm>
          <a:prstGeom prst="rect">
            <a:avLst/>
          </a:prstGeom>
        </p:spPr>
        <p:txBody>
          <a:bodyPr wrap="none">
            <a:spAutoFit/>
          </a:bodyPr>
          <a:lstStyle/>
          <a:p>
            <a:r>
              <a:rPr lang="zh-CN" altLang="en-US" sz="3200" kern="0" dirty="0">
                <a:solidFill>
                  <a:srgbClr val="000000"/>
                </a:solidFill>
                <a:latin typeface="Times New Roman" panose="02020603050405020304" pitchFamily="18" charset="0"/>
                <a:ea typeface="+mj-ea"/>
                <a:cs typeface="Times New Roman" panose="02020603050405020304" pitchFamily="18" charset="0"/>
              </a:rPr>
              <a:t>作业 ：习题</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10.1</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10.8</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10.9</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10.16</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10.19</a:t>
            </a:r>
            <a:endParaRPr lang="en-US" sz="3200" kern="100" dirty="0">
              <a:effectLst/>
              <a:latin typeface="Times New Roman" panose="02020603050405020304" pitchFamily="18" charset="0"/>
              <a:ea typeface="+mj-ea"/>
              <a:cs typeface="Times New Roman" panose="02020603050405020304" pitchFamily="18" charset="0"/>
            </a:endParaRPr>
          </a:p>
        </p:txBody>
      </p:sp>
      <p:sp>
        <p:nvSpPr>
          <p:cNvPr id="3" name="矩形 2">
            <a:extLst>
              <a:ext uri="{FF2B5EF4-FFF2-40B4-BE49-F238E27FC236}">
                <a16:creationId xmlns:a16="http://schemas.microsoft.com/office/drawing/2014/main" id="{557FC185-3475-403F-A50E-0427321BF6DE}"/>
              </a:ext>
            </a:extLst>
          </p:cNvPr>
          <p:cNvSpPr/>
          <p:nvPr/>
        </p:nvSpPr>
        <p:spPr>
          <a:xfrm>
            <a:off x="2908582" y="3739940"/>
            <a:ext cx="5724644" cy="584775"/>
          </a:xfrm>
          <a:prstGeom prst="rect">
            <a:avLst/>
          </a:prstGeom>
        </p:spPr>
        <p:txBody>
          <a:bodyPr wrap="none">
            <a:spAutoFit/>
          </a:bodyPr>
          <a:lstStyle/>
          <a:p>
            <a:r>
              <a:rPr lang="zh-CN" altLang="en-US" sz="3200" kern="0" dirty="0">
                <a:solidFill>
                  <a:srgbClr val="000000"/>
                </a:solidFill>
                <a:latin typeface="Times New Roman" panose="02020603050405020304" pitchFamily="18" charset="0"/>
                <a:ea typeface="+mj-ea"/>
                <a:cs typeface="Times New Roman" panose="02020603050405020304" pitchFamily="18" charset="0"/>
              </a:rPr>
              <a:t>截止时间：</a:t>
            </a:r>
            <a:r>
              <a:rPr lang="en-US" altLang="zh-CN" sz="3200" kern="0" dirty="0">
                <a:solidFill>
                  <a:srgbClr val="000000"/>
                </a:solidFill>
                <a:latin typeface="Times New Roman" panose="02020603050405020304" pitchFamily="18" charset="0"/>
                <a:ea typeface="+mj-ea"/>
                <a:cs typeface="Times New Roman" panose="02020603050405020304" pitchFamily="18" charset="0"/>
              </a:rPr>
              <a:t>3</a:t>
            </a:r>
            <a:r>
              <a:rPr lang="zh-CN" altLang="en-US" sz="3200" kern="0" dirty="0">
                <a:solidFill>
                  <a:srgbClr val="000000"/>
                </a:solidFill>
                <a:latin typeface="Times New Roman" panose="02020603050405020304" pitchFamily="18" charset="0"/>
                <a:ea typeface="+mj-ea"/>
                <a:cs typeface="Times New Roman" panose="02020603050405020304" pitchFamily="18" charset="0"/>
              </a:rPr>
              <a:t>月</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12</a:t>
            </a:r>
            <a:r>
              <a:rPr lang="zh-CN" altLang="en-US" sz="3200" kern="0" dirty="0">
                <a:solidFill>
                  <a:srgbClr val="000000"/>
                </a:solidFill>
                <a:latin typeface="Times New Roman" panose="02020603050405020304" pitchFamily="18" charset="0"/>
                <a:ea typeface="+mj-ea"/>
                <a:cs typeface="Times New Roman" panose="02020603050405020304" pitchFamily="18" charset="0"/>
              </a:rPr>
              <a:t>日上午</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a:t>
            </a:r>
            <a:r>
              <a:rPr lang="zh-CN" altLang="en-US" sz="3200" kern="0" dirty="0">
                <a:solidFill>
                  <a:srgbClr val="000000"/>
                </a:solidFill>
                <a:latin typeface="Times New Roman" panose="02020603050405020304" pitchFamily="18" charset="0"/>
                <a:ea typeface="+mj-ea"/>
                <a:cs typeface="Times New Roman" panose="02020603050405020304" pitchFamily="18" charset="0"/>
              </a:rPr>
              <a:t>：</a:t>
            </a:r>
            <a:r>
              <a:rPr lang="en-US" altLang="zh-CN" sz="3200" kern="0" dirty="0">
                <a:solidFill>
                  <a:srgbClr val="000000"/>
                </a:solidFill>
                <a:latin typeface="Times New Roman" panose="02020603050405020304" pitchFamily="18" charset="0"/>
                <a:ea typeface="+mj-ea"/>
                <a:cs typeface="Times New Roman" panose="02020603050405020304" pitchFamily="18" charset="0"/>
              </a:rPr>
              <a:t>10</a:t>
            </a:r>
            <a:endParaRPr lang="en-US" sz="3200" kern="100" dirty="0">
              <a:effectLst/>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232057270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3">
            <a:extLst>
              <a:ext uri="{FF2B5EF4-FFF2-40B4-BE49-F238E27FC236}">
                <a16:creationId xmlns:a16="http://schemas.microsoft.com/office/drawing/2014/main" id="{F390B67F-45AC-DCC0-0496-D1A227E26D45}"/>
              </a:ext>
            </a:extLst>
          </p:cNvPr>
          <p:cNvSpPr>
            <a:spLocks noChangeArrowheads="1"/>
          </p:cNvSpPr>
          <p:nvPr/>
        </p:nvSpPr>
        <p:spPr bwMode="auto">
          <a:xfrm>
            <a:off x="928570" y="1113025"/>
            <a:ext cx="326724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dirty="0">
                <a:solidFill>
                  <a:srgbClr val="0066FF"/>
                </a:solidFill>
                <a:latin typeface="+mn-lt"/>
                <a:ea typeface="+mn-ea"/>
              </a:rPr>
              <a:t>- </a:t>
            </a:r>
            <a:r>
              <a:rPr lang="zh-CN" altLang="en-US" dirty="0">
                <a:solidFill>
                  <a:srgbClr val="0066FF"/>
                </a:solidFill>
                <a:latin typeface="+mn-lt"/>
                <a:ea typeface="+mn-ea"/>
              </a:rPr>
              <a:t>热力学第零定律：</a:t>
            </a:r>
          </a:p>
        </p:txBody>
      </p:sp>
      <p:sp>
        <p:nvSpPr>
          <p:cNvPr id="3" name="文本框 2">
            <a:extLst>
              <a:ext uri="{FF2B5EF4-FFF2-40B4-BE49-F238E27FC236}">
                <a16:creationId xmlns:a16="http://schemas.microsoft.com/office/drawing/2014/main" id="{A3058E40-0EC5-E10D-F020-23C6A286126A}"/>
              </a:ext>
            </a:extLst>
          </p:cNvPr>
          <p:cNvSpPr txBox="1"/>
          <p:nvPr/>
        </p:nvSpPr>
        <p:spPr>
          <a:xfrm>
            <a:off x="1399825" y="1798825"/>
            <a:ext cx="9414225" cy="954107"/>
          </a:xfrm>
          <a:prstGeom prst="rect">
            <a:avLst/>
          </a:prstGeom>
          <a:noFill/>
        </p:spPr>
        <p:txBody>
          <a:bodyPr wrap="square">
            <a:spAutoFit/>
          </a:bodyPr>
          <a:lstStyle/>
          <a:p>
            <a:r>
              <a:rPr lang="zh-CN" altLang="en-US" sz="2800" i="0" dirty="0">
                <a:solidFill>
                  <a:srgbClr val="202122"/>
                </a:solidFill>
                <a:effectLst/>
              </a:rPr>
              <a:t>若两个热力学系统均与第三个系统处于热平衡状态，此两个系统也必互相处于热平衡。</a:t>
            </a:r>
            <a:endParaRPr lang="zh-CN" altLang="en-US" sz="2800" dirty="0"/>
          </a:p>
        </p:txBody>
      </p:sp>
      <mc:AlternateContent xmlns:mc="http://schemas.openxmlformats.org/markup-compatibility/2006" xmlns:a14="http://schemas.microsoft.com/office/drawing/2010/main">
        <mc:Choice Requires="a14">
          <p:sp>
            <p:nvSpPr>
              <p:cNvPr id="4" name="Text Box 4">
                <a:extLst>
                  <a:ext uri="{FF2B5EF4-FFF2-40B4-BE49-F238E27FC236}">
                    <a16:creationId xmlns:a16="http://schemas.microsoft.com/office/drawing/2014/main" id="{E7521B2D-AEF9-26EA-7047-9C1207F0A899}"/>
                  </a:ext>
                </a:extLst>
              </p:cNvPr>
              <p:cNvSpPr txBox="1"/>
              <p:nvPr/>
            </p:nvSpPr>
            <p:spPr>
              <a:xfrm>
                <a:off x="1399825" y="4152286"/>
                <a:ext cx="9606783" cy="1093633"/>
              </a:xfrm>
              <a:prstGeom prst="rect">
                <a:avLst/>
              </a:prstGeom>
              <a:noFill/>
              <a:ln w="9525">
                <a:noFill/>
              </a:ln>
            </p:spPr>
            <p:txBody>
              <a:bodyPr wrap="square">
                <a:spAutoFit/>
              </a:bodyPr>
              <a:lstStyle/>
              <a:p>
                <a:pPr>
                  <a:lnSpc>
                    <a:spcPct val="120000"/>
                  </a:lnSpc>
                  <a:spcBef>
                    <a:spcPct val="50000"/>
                  </a:spcBef>
                </a:pPr>
                <a:r>
                  <a:rPr lang="zh-CN" altLang="en-US" sz="2800" dirty="0">
                    <a:solidFill>
                      <a:srgbClr val="080808"/>
                    </a:solidFill>
                    <a:latin typeface="Times New Roman" panose="02020603050405020304" pitchFamily="18" charset="0"/>
                  </a:rPr>
                  <a:t>系统</a:t>
                </a:r>
                <a:r>
                  <a:rPr lang="zh-CN" altLang="en-US" sz="2800" dirty="0">
                    <a:latin typeface="Times New Roman" panose="02020603050405020304" pitchFamily="18" charset="0"/>
                  </a:rPr>
                  <a:t>从外界吸收的热量（</a:t>
                </a:r>
                <a:r>
                  <a:rPr lang="en-US" sz="2800" dirty="0">
                    <a:solidFill>
                      <a:srgbClr val="0066FF"/>
                    </a:solidFill>
                  </a:rPr>
                  <a:t> </a:t>
                </a:r>
                <a14:m>
                  <m:oMath xmlns:m="http://schemas.openxmlformats.org/officeDocument/2006/math">
                    <m:r>
                      <a:rPr lang="en-US" sz="2800" i="1">
                        <a:solidFill>
                          <a:srgbClr val="0066FF"/>
                        </a:solidFill>
                        <a:latin typeface="Cambria Math" panose="02040503050406030204" pitchFamily="18" charset="0"/>
                      </a:rPr>
                      <m:t>𝑄</m:t>
                    </m:r>
                    <m:r>
                      <a:rPr lang="en-US" sz="2800" i="1">
                        <a:solidFill>
                          <a:srgbClr val="0066FF"/>
                        </a:solidFill>
                        <a:latin typeface="Cambria Math" panose="02040503050406030204" pitchFamily="18" charset="0"/>
                      </a:rPr>
                      <m:t> </m:t>
                    </m:r>
                  </m:oMath>
                </a14:m>
                <a:r>
                  <a:rPr lang="zh-CN" altLang="en-US" sz="2800" dirty="0">
                    <a:latin typeface="Times New Roman" panose="02020603050405020304" pitchFamily="18" charset="0"/>
                  </a:rPr>
                  <a:t>），一部分使系统的内能增加（</a:t>
                </a:r>
                <a:r>
                  <a:rPr lang="en-US" sz="2800" dirty="0">
                    <a:solidFill>
                      <a:srgbClr val="0066FF"/>
                    </a:solidFill>
                  </a:rPr>
                  <a:t> </a:t>
                </a:r>
                <a14:m>
                  <m:oMath xmlns:m="http://schemas.openxmlformats.org/officeDocument/2006/math">
                    <m:r>
                      <a:rPr lang="en-US" sz="2800" i="1">
                        <a:solidFill>
                          <a:srgbClr val="0066FF"/>
                        </a:solidFill>
                        <a:latin typeface="Cambria Math" panose="02040503050406030204" pitchFamily="18" charset="0"/>
                      </a:rPr>
                      <m:t>𝛥</m:t>
                    </m:r>
                    <m:r>
                      <a:rPr lang="en-US" sz="2800" i="1">
                        <a:solidFill>
                          <a:srgbClr val="0066FF"/>
                        </a:solidFill>
                        <a:latin typeface="Cambria Math" panose="02040503050406030204" pitchFamily="18" charset="0"/>
                      </a:rPr>
                      <m:t>𝐸</m:t>
                    </m:r>
                    <m:r>
                      <a:rPr lang="en-US" sz="2800" i="1">
                        <a:solidFill>
                          <a:srgbClr val="0066FF"/>
                        </a:solidFill>
                        <a:latin typeface="Cambria Math" panose="02040503050406030204" pitchFamily="18" charset="0"/>
                      </a:rPr>
                      <m:t> </m:t>
                    </m:r>
                  </m:oMath>
                </a14:m>
                <a:r>
                  <a:rPr lang="zh-CN" altLang="en-US" sz="2800" dirty="0">
                    <a:latin typeface="Times New Roman" panose="02020603050405020304" pitchFamily="18" charset="0"/>
                  </a:rPr>
                  <a:t>），另一部分使系统对外界做功（</a:t>
                </a:r>
                <a:r>
                  <a:rPr lang="en-US" sz="2800" dirty="0">
                    <a:solidFill>
                      <a:srgbClr val="0066FF"/>
                    </a:solidFill>
                  </a:rPr>
                  <a:t> </a:t>
                </a:r>
                <a14:m>
                  <m:oMath xmlns:m="http://schemas.openxmlformats.org/officeDocument/2006/math">
                    <m:r>
                      <a:rPr lang="en-US" sz="2800" i="1">
                        <a:solidFill>
                          <a:srgbClr val="0066FF"/>
                        </a:solidFill>
                        <a:latin typeface="Cambria Math" panose="02040503050406030204" pitchFamily="18" charset="0"/>
                      </a:rPr>
                      <m:t>𝐴</m:t>
                    </m:r>
                    <m:r>
                      <a:rPr lang="en-US" sz="2800" i="1">
                        <a:solidFill>
                          <a:srgbClr val="0066FF"/>
                        </a:solidFill>
                        <a:latin typeface="Cambria Math" panose="02040503050406030204" pitchFamily="18" charset="0"/>
                      </a:rPr>
                      <m:t> </m:t>
                    </m:r>
                  </m:oMath>
                </a14:m>
                <a:r>
                  <a:rPr lang="zh-CN" altLang="en-US" sz="2800" dirty="0">
                    <a:latin typeface="Times New Roman" panose="02020603050405020304" pitchFamily="18" charset="0"/>
                  </a:rPr>
                  <a:t>）</a:t>
                </a:r>
                <a:endParaRPr lang="en-US" altLang="zh-CN" sz="2800" dirty="0">
                  <a:solidFill>
                    <a:srgbClr val="CC0000"/>
                  </a:solidFill>
                  <a:latin typeface="Times New Roman" panose="02020603050405020304" pitchFamily="18" charset="0"/>
                </a:endParaRPr>
              </a:p>
            </p:txBody>
          </p:sp>
        </mc:Choice>
        <mc:Fallback xmlns="">
          <p:sp>
            <p:nvSpPr>
              <p:cNvPr id="4" name="Text Box 4">
                <a:extLst>
                  <a:ext uri="{FF2B5EF4-FFF2-40B4-BE49-F238E27FC236}">
                    <a16:creationId xmlns:a16="http://schemas.microsoft.com/office/drawing/2014/main" id="{E7521B2D-AEF9-26EA-7047-9C1207F0A899}"/>
                  </a:ext>
                </a:extLst>
              </p:cNvPr>
              <p:cNvSpPr txBox="1">
                <a:spLocks noRot="1" noChangeAspect="1" noMove="1" noResize="1" noEditPoints="1" noAdjustHandles="1" noChangeArrowheads="1" noChangeShapeType="1" noTextEdit="1"/>
              </p:cNvSpPr>
              <p:nvPr/>
            </p:nvSpPr>
            <p:spPr>
              <a:xfrm>
                <a:off x="1399825" y="4152286"/>
                <a:ext cx="9606783" cy="1093633"/>
              </a:xfrm>
              <a:prstGeom prst="rect">
                <a:avLst/>
              </a:prstGeom>
              <a:blipFill>
                <a:blip r:embed="rId2"/>
                <a:stretch>
                  <a:fillRect l="-1332" t="-556" b="-14444"/>
                </a:stretch>
              </a:blipFill>
              <a:ln w="9525">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Object 24">
                <a:extLst>
                  <a:ext uri="{FF2B5EF4-FFF2-40B4-BE49-F238E27FC236}">
                    <a16:creationId xmlns:a16="http://schemas.microsoft.com/office/drawing/2014/main" id="{A960021C-34FF-17C7-9C7D-99C834891BAA}"/>
                  </a:ext>
                </a:extLst>
              </p:cNvPr>
              <p:cNvSpPr txBox="1"/>
              <p:nvPr/>
            </p:nvSpPr>
            <p:spPr>
              <a:xfrm>
                <a:off x="2979727" y="3535145"/>
                <a:ext cx="4125157" cy="77914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66FF"/>
                          </a:solidFill>
                          <a:latin typeface="Cambria Math" panose="02040503050406030204" pitchFamily="18" charset="0"/>
                        </a:rPr>
                        <m:t>𝑄</m:t>
                      </m:r>
                      <m:r>
                        <a:rPr lang="en-US" sz="2800" b="0" i="1" smtClean="0">
                          <a:solidFill>
                            <a:srgbClr val="0066FF"/>
                          </a:solidFill>
                          <a:latin typeface="Cambria Math" panose="02040503050406030204" pitchFamily="18" charset="0"/>
                        </a:rPr>
                        <m:t>=</m:t>
                      </m:r>
                      <m:r>
                        <a:rPr lang="en-US" sz="2800" b="0" i="1">
                          <a:solidFill>
                            <a:srgbClr val="0066FF"/>
                          </a:solidFill>
                          <a:latin typeface="Cambria Math" panose="02040503050406030204" pitchFamily="18" charset="0"/>
                        </a:rPr>
                        <m:t>𝛥</m:t>
                      </m:r>
                      <m:r>
                        <a:rPr lang="en-US" sz="2800" b="0" i="1">
                          <a:solidFill>
                            <a:srgbClr val="0066FF"/>
                          </a:solidFill>
                          <a:latin typeface="Cambria Math" panose="02040503050406030204" pitchFamily="18" charset="0"/>
                        </a:rPr>
                        <m:t>𝐸</m:t>
                      </m:r>
                      <m:r>
                        <a:rPr lang="en-US" sz="2800" b="0" i="1">
                          <a:solidFill>
                            <a:srgbClr val="0066FF"/>
                          </a:solidFill>
                          <a:latin typeface="Cambria Math" panose="02040503050406030204" pitchFamily="18" charset="0"/>
                        </a:rPr>
                        <m:t>+</m:t>
                      </m:r>
                      <m:r>
                        <a:rPr lang="en-US" sz="2800" b="0" i="1">
                          <a:solidFill>
                            <a:srgbClr val="0066FF"/>
                          </a:solidFill>
                          <a:latin typeface="Cambria Math" panose="02040503050406030204" pitchFamily="18" charset="0"/>
                        </a:rPr>
                        <m:t>𝐴</m:t>
                      </m:r>
                    </m:oMath>
                  </m:oMathPara>
                </a14:m>
                <a:endParaRPr lang="en-US" sz="2800" dirty="0">
                  <a:solidFill>
                    <a:srgbClr val="0066FF"/>
                  </a:solidFill>
                </a:endParaRPr>
              </a:p>
            </p:txBody>
          </p:sp>
        </mc:Choice>
        <mc:Fallback xmlns="">
          <p:sp>
            <p:nvSpPr>
              <p:cNvPr id="5" name="Object 24">
                <a:extLst>
                  <a:ext uri="{FF2B5EF4-FFF2-40B4-BE49-F238E27FC236}">
                    <a16:creationId xmlns:a16="http://schemas.microsoft.com/office/drawing/2014/main" id="{A960021C-34FF-17C7-9C7D-99C834891BAA}"/>
                  </a:ext>
                </a:extLst>
              </p:cNvPr>
              <p:cNvSpPr txBox="1">
                <a:spLocks noRot="1" noChangeAspect="1" noMove="1" noResize="1" noEditPoints="1" noAdjustHandles="1" noChangeArrowheads="1" noChangeShapeType="1" noTextEdit="1"/>
              </p:cNvSpPr>
              <p:nvPr/>
            </p:nvSpPr>
            <p:spPr>
              <a:xfrm>
                <a:off x="2979727" y="3535145"/>
                <a:ext cx="4125157" cy="779145"/>
              </a:xfrm>
              <a:prstGeom prst="rect">
                <a:avLst/>
              </a:prstGeom>
              <a:blipFill>
                <a:blip r:embed="rId3"/>
                <a:stretch>
                  <a:fillRect/>
                </a:stretch>
              </a:blipFill>
              <a:ln w="38100">
                <a:noFill/>
                <a:miter/>
              </a:ln>
            </p:spPr>
            <p:txBody>
              <a:bodyPr/>
              <a:lstStyle/>
              <a:p>
                <a:r>
                  <a:rPr lang="zh-CN" altLang="en-US">
                    <a:noFill/>
                  </a:rPr>
                  <a:t> </a:t>
                </a:r>
              </a:p>
            </p:txBody>
          </p:sp>
        </mc:Fallback>
      </mc:AlternateContent>
      <p:sp>
        <p:nvSpPr>
          <p:cNvPr id="6" name="Text Box 13">
            <a:hlinkClick r:id="" action="ppaction://noaction"/>
            <a:extLst>
              <a:ext uri="{FF2B5EF4-FFF2-40B4-BE49-F238E27FC236}">
                <a16:creationId xmlns:a16="http://schemas.microsoft.com/office/drawing/2014/main" id="{5C14C8D2-AAA7-0464-B76A-231C15162FCE}"/>
              </a:ext>
            </a:extLst>
          </p:cNvPr>
          <p:cNvSpPr txBox="1">
            <a:spLocks noChangeArrowheads="1"/>
          </p:cNvSpPr>
          <p:nvPr/>
        </p:nvSpPr>
        <p:spPr bwMode="auto">
          <a:xfrm>
            <a:off x="998420" y="3535145"/>
            <a:ext cx="486958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lvl="0" eaLnBrk="1" hangingPunct="1">
              <a:defRPr/>
            </a:pPr>
            <a:r>
              <a:rPr kumimoji="1" lang="en-US" altLang="zh-CN" sz="2800" dirty="0">
                <a:solidFill>
                  <a:srgbClr val="0066FF"/>
                </a:solidFill>
                <a:latin typeface="+mn-lt"/>
                <a:ea typeface="+mn-ea"/>
                <a:cs typeface="Times New Roman" panose="02020603050405020304" pitchFamily="18" charset="0"/>
              </a:rPr>
              <a:t>- </a:t>
            </a:r>
            <a:r>
              <a:rPr kumimoji="1" lang="zh-CN" altLang="en-US" sz="2800" dirty="0">
                <a:solidFill>
                  <a:srgbClr val="0066FF"/>
                </a:solidFill>
                <a:latin typeface="+mn-lt"/>
                <a:ea typeface="+mn-ea"/>
                <a:cs typeface="Times New Roman" panose="02020603050405020304" pitchFamily="18" charset="0"/>
              </a:rPr>
              <a:t>热力学第一定律</a:t>
            </a:r>
          </a:p>
        </p:txBody>
      </p:sp>
      <p:sp>
        <p:nvSpPr>
          <p:cNvPr id="11" name="文本框 10">
            <a:extLst>
              <a:ext uri="{FF2B5EF4-FFF2-40B4-BE49-F238E27FC236}">
                <a16:creationId xmlns:a16="http://schemas.microsoft.com/office/drawing/2014/main" id="{5916EA15-2ED6-CCA3-724B-25E90B94FDA4}"/>
              </a:ext>
            </a:extLst>
          </p:cNvPr>
          <p:cNvSpPr txBox="1"/>
          <p:nvPr/>
        </p:nvSpPr>
        <p:spPr>
          <a:xfrm>
            <a:off x="1399825" y="2846853"/>
            <a:ext cx="3483326" cy="523220"/>
          </a:xfrm>
          <a:prstGeom prst="rect">
            <a:avLst/>
          </a:prstGeom>
          <a:noFill/>
        </p:spPr>
        <p:txBody>
          <a:bodyPr wrap="square">
            <a:spAutoFit/>
          </a:bodyPr>
          <a:lstStyle/>
          <a:p>
            <a:r>
              <a:rPr lang="en-US" altLang="zh-CN" sz="2800" i="0" dirty="0">
                <a:solidFill>
                  <a:srgbClr val="202122"/>
                </a:solidFill>
                <a:effectLst/>
              </a:rPr>
              <a:t>- </a:t>
            </a:r>
            <a:r>
              <a:rPr lang="zh-CN" altLang="en-US" sz="2800" i="0" dirty="0">
                <a:solidFill>
                  <a:srgbClr val="202122"/>
                </a:solidFill>
                <a:effectLst/>
              </a:rPr>
              <a:t>定义了温度</a:t>
            </a:r>
            <a:endParaRPr lang="zh-CN" altLang="en-US" sz="2800" dirty="0"/>
          </a:p>
        </p:txBody>
      </p:sp>
      <p:sp>
        <p:nvSpPr>
          <p:cNvPr id="12" name="文本框 11">
            <a:extLst>
              <a:ext uri="{FF2B5EF4-FFF2-40B4-BE49-F238E27FC236}">
                <a16:creationId xmlns:a16="http://schemas.microsoft.com/office/drawing/2014/main" id="{1F5EEF36-F219-0F3C-C757-EE185ED93C4F}"/>
              </a:ext>
            </a:extLst>
          </p:cNvPr>
          <p:cNvSpPr txBox="1"/>
          <p:nvPr/>
        </p:nvSpPr>
        <p:spPr>
          <a:xfrm>
            <a:off x="1399825" y="5436271"/>
            <a:ext cx="4823550" cy="523220"/>
          </a:xfrm>
          <a:prstGeom prst="rect">
            <a:avLst/>
          </a:prstGeom>
          <a:noFill/>
        </p:spPr>
        <p:txBody>
          <a:bodyPr wrap="square">
            <a:spAutoFit/>
          </a:bodyPr>
          <a:lstStyle/>
          <a:p>
            <a:r>
              <a:rPr lang="en-US" altLang="zh-CN" sz="2800" i="0" dirty="0">
                <a:solidFill>
                  <a:srgbClr val="202122"/>
                </a:solidFill>
                <a:effectLst/>
              </a:rPr>
              <a:t>- </a:t>
            </a:r>
            <a:r>
              <a:rPr lang="zh-CN" altLang="en-US" sz="2800" i="0" dirty="0">
                <a:solidFill>
                  <a:srgbClr val="202122"/>
                </a:solidFill>
                <a:effectLst/>
              </a:rPr>
              <a:t>能量守恒，能量转换</a:t>
            </a:r>
            <a:endParaRPr lang="zh-CN" altLang="en-US" sz="2800" dirty="0"/>
          </a:p>
        </p:txBody>
      </p:sp>
    </p:spTree>
    <p:extLst>
      <p:ext uri="{BB962C8B-B14F-4D97-AF65-F5344CB8AC3E}">
        <p14:creationId xmlns:p14="http://schemas.microsoft.com/office/powerpoint/2010/main" val="1213628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utoUpdateAnimBg="0"/>
      <p:bldP spid="2" grpId="1"/>
      <p:bldP spid="3" grpId="0"/>
      <p:bldP spid="4" grpId="0"/>
      <p:bldP spid="5" grpId="0"/>
      <p:bldP spid="6" grpId="0"/>
      <p:bldP spid="11"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2">
            <a:extLst>
              <a:ext uri="{FF2B5EF4-FFF2-40B4-BE49-F238E27FC236}">
                <a16:creationId xmlns:a16="http://schemas.microsoft.com/office/drawing/2014/main" id="{511FDD6E-1258-2E7C-8D57-7E7F2F9E3D2F}"/>
              </a:ext>
            </a:extLst>
          </p:cNvPr>
          <p:cNvSpPr/>
          <p:nvPr/>
        </p:nvSpPr>
        <p:spPr>
          <a:xfrm>
            <a:off x="6371830" y="2396818"/>
            <a:ext cx="1728787" cy="803275"/>
          </a:xfrm>
          <a:prstGeom prst="ellipse">
            <a:avLst/>
          </a:prstGeom>
          <a:solidFill>
            <a:schemeClr val="accent1"/>
          </a:solidFill>
          <a:ln w="19050" cap="flat" cmpd="sng">
            <a:solidFill>
              <a:srgbClr val="CC6600"/>
            </a:solidFill>
            <a:prstDash val="solid"/>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3" name="Text Box 3">
            <a:extLst>
              <a:ext uri="{FF2B5EF4-FFF2-40B4-BE49-F238E27FC236}">
                <a16:creationId xmlns:a16="http://schemas.microsoft.com/office/drawing/2014/main" id="{2BF724D2-1CDC-9C25-45EB-8950ABFF07C0}"/>
              </a:ext>
            </a:extLst>
          </p:cNvPr>
          <p:cNvSpPr txBox="1"/>
          <p:nvPr/>
        </p:nvSpPr>
        <p:spPr>
          <a:xfrm>
            <a:off x="6644879" y="2541279"/>
            <a:ext cx="1166812" cy="492443"/>
          </a:xfrm>
          <a:prstGeom prst="rect">
            <a:avLst/>
          </a:prstGeom>
          <a:solidFill>
            <a:schemeClr val="accent1"/>
          </a:solidFill>
          <a:ln w="9525">
            <a:noFill/>
          </a:ln>
        </p:spPr>
        <p:txBody>
          <a:bodyPr>
            <a:spAutoFit/>
          </a:bodyPr>
          <a:lstStyle/>
          <a:p>
            <a:pPr>
              <a:spcBef>
                <a:spcPct val="50000"/>
              </a:spcBef>
            </a:pPr>
            <a:r>
              <a:rPr lang="zh-CN" altLang="en-US" sz="2600" dirty="0">
                <a:solidFill>
                  <a:srgbClr val="333333"/>
                </a:solidFill>
                <a:latin typeface="Times New Roman" panose="02020603050405020304" pitchFamily="18" charset="0"/>
              </a:rPr>
              <a:t>热机</a:t>
            </a:r>
          </a:p>
        </p:txBody>
      </p:sp>
      <p:grpSp>
        <p:nvGrpSpPr>
          <p:cNvPr id="4" name="Group 8">
            <a:extLst>
              <a:ext uri="{FF2B5EF4-FFF2-40B4-BE49-F238E27FC236}">
                <a16:creationId xmlns:a16="http://schemas.microsoft.com/office/drawing/2014/main" id="{7E70D150-B823-389E-FFD5-D768FC6A2A7F}"/>
              </a:ext>
            </a:extLst>
          </p:cNvPr>
          <p:cNvGrpSpPr/>
          <p:nvPr/>
        </p:nvGrpSpPr>
        <p:grpSpPr>
          <a:xfrm>
            <a:off x="6367066" y="1276043"/>
            <a:ext cx="2057400" cy="533400"/>
            <a:chOff x="3648" y="864"/>
            <a:chExt cx="1296" cy="336"/>
          </a:xfrm>
        </p:grpSpPr>
        <p:sp>
          <p:nvSpPr>
            <p:cNvPr id="5" name="Rectangle 9">
              <a:extLst>
                <a:ext uri="{FF2B5EF4-FFF2-40B4-BE49-F238E27FC236}">
                  <a16:creationId xmlns:a16="http://schemas.microsoft.com/office/drawing/2014/main" id="{8DABCE11-78BF-271A-A383-981E5A798772}"/>
                </a:ext>
              </a:extLst>
            </p:cNvPr>
            <p:cNvSpPr/>
            <p:nvPr/>
          </p:nvSpPr>
          <p:spPr>
            <a:xfrm>
              <a:off x="3648" y="864"/>
              <a:ext cx="1152" cy="336"/>
            </a:xfrm>
            <a:prstGeom prst="rect">
              <a:avLst/>
            </a:prstGeom>
            <a:solidFill>
              <a:srgbClr val="FDE3F0"/>
            </a:solidFill>
            <a:ln w="19050" cap="flat" cmpd="sng">
              <a:solidFill>
                <a:srgbClr val="CC0099"/>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6" name="Text Box 10">
              <a:extLst>
                <a:ext uri="{FF2B5EF4-FFF2-40B4-BE49-F238E27FC236}">
                  <a16:creationId xmlns:a16="http://schemas.microsoft.com/office/drawing/2014/main" id="{2D64E491-E6D1-100B-D426-EE93D83323FF}"/>
                </a:ext>
              </a:extLst>
            </p:cNvPr>
            <p:cNvSpPr txBox="1"/>
            <p:nvPr/>
          </p:nvSpPr>
          <p:spPr>
            <a:xfrm>
              <a:off x="3696" y="870"/>
              <a:ext cx="1248" cy="310"/>
            </a:xfrm>
            <a:prstGeom prst="rect">
              <a:avLst/>
            </a:prstGeom>
            <a:noFill/>
            <a:ln w="9525">
              <a:noFill/>
            </a:ln>
          </p:spPr>
          <p:txBody>
            <a:bodyPr>
              <a:spAutoFit/>
            </a:bodyPr>
            <a:lstStyle/>
            <a:p>
              <a:pPr>
                <a:spcBef>
                  <a:spcPct val="50000"/>
                </a:spcBef>
              </a:pPr>
              <a:r>
                <a:rPr lang="zh-CN" altLang="en-US" sz="2600" dirty="0">
                  <a:solidFill>
                    <a:srgbClr val="333333"/>
                  </a:solidFill>
                  <a:latin typeface="Times New Roman" panose="02020603050405020304" pitchFamily="18" charset="0"/>
                </a:rPr>
                <a:t>高温热源</a:t>
              </a:r>
              <a:endParaRPr lang="zh-CN" altLang="en-US" sz="2600" dirty="0">
                <a:solidFill>
                  <a:srgbClr val="333333"/>
                </a:solidFill>
                <a:latin typeface="Times New Roman" panose="02020603050405020304" pitchFamily="18" charset="0"/>
                <a:ea typeface="楷体_GB2312" panose="02010609030101010101" pitchFamily="49" charset="-122"/>
              </a:endParaRPr>
            </a:p>
          </p:txBody>
        </p:sp>
      </p:grpSp>
      <p:sp>
        <p:nvSpPr>
          <p:cNvPr id="7" name="Text Box 11">
            <a:extLst>
              <a:ext uri="{FF2B5EF4-FFF2-40B4-BE49-F238E27FC236}">
                <a16:creationId xmlns:a16="http://schemas.microsoft.com/office/drawing/2014/main" id="{FCD097E0-26F3-2734-C76E-D9BBB14CCA7B}"/>
              </a:ext>
            </a:extLst>
          </p:cNvPr>
          <p:cNvSpPr txBox="1"/>
          <p:nvPr/>
        </p:nvSpPr>
        <p:spPr>
          <a:xfrm>
            <a:off x="6290866" y="3638242"/>
            <a:ext cx="1981200" cy="492443"/>
          </a:xfrm>
          <a:prstGeom prst="rect">
            <a:avLst/>
          </a:prstGeom>
          <a:solidFill>
            <a:schemeClr val="accent1"/>
          </a:solidFill>
          <a:ln w="9525" cap="flat" cmpd="sng">
            <a:solidFill>
              <a:schemeClr val="tx1"/>
            </a:solidFill>
            <a:prstDash val="solid"/>
            <a:miter/>
            <a:headEnd type="none" w="med" len="med"/>
            <a:tailEnd type="none" w="med" len="med"/>
          </a:ln>
        </p:spPr>
        <p:txBody>
          <a:bodyPr>
            <a:spAutoFit/>
          </a:bodyPr>
          <a:lstStyle/>
          <a:p>
            <a:pPr>
              <a:spcBef>
                <a:spcPct val="50000"/>
              </a:spcBef>
            </a:pPr>
            <a:r>
              <a:rPr lang="zh-CN" altLang="en-US" sz="2600" dirty="0">
                <a:solidFill>
                  <a:srgbClr val="333333"/>
                </a:solidFill>
                <a:latin typeface="Times New Roman" panose="02020603050405020304" pitchFamily="18" charset="0"/>
              </a:rPr>
              <a:t>低温热源</a:t>
            </a:r>
          </a:p>
        </p:txBody>
      </p:sp>
      <p:grpSp>
        <p:nvGrpSpPr>
          <p:cNvPr id="8" name="Group 12">
            <a:extLst>
              <a:ext uri="{FF2B5EF4-FFF2-40B4-BE49-F238E27FC236}">
                <a16:creationId xmlns:a16="http://schemas.microsoft.com/office/drawing/2014/main" id="{E1B3507D-F857-D178-0612-86075D9596DC}"/>
              </a:ext>
            </a:extLst>
          </p:cNvPr>
          <p:cNvGrpSpPr/>
          <p:nvPr/>
        </p:nvGrpSpPr>
        <p:grpSpPr>
          <a:xfrm>
            <a:off x="7052866" y="1790392"/>
            <a:ext cx="819150" cy="838200"/>
            <a:chOff x="4080" y="1152"/>
            <a:chExt cx="516" cy="528"/>
          </a:xfrm>
        </p:grpSpPr>
        <p:sp>
          <p:nvSpPr>
            <p:cNvPr id="9" name="AutoShape 13">
              <a:extLst>
                <a:ext uri="{FF2B5EF4-FFF2-40B4-BE49-F238E27FC236}">
                  <a16:creationId xmlns:a16="http://schemas.microsoft.com/office/drawing/2014/main" id="{CCBCF216-F1D5-A12B-1FFF-6EC5BEB2B40B}"/>
                </a:ext>
              </a:extLst>
            </p:cNvPr>
            <p:cNvSpPr/>
            <p:nvPr/>
          </p:nvSpPr>
          <p:spPr>
            <a:xfrm>
              <a:off x="4080" y="1152"/>
              <a:ext cx="144" cy="528"/>
            </a:xfrm>
            <a:prstGeom prst="downArrow">
              <a:avLst>
                <a:gd name="adj1" fmla="val 40000"/>
                <a:gd name="adj2" fmla="val 146921"/>
              </a:avLst>
            </a:prstGeom>
            <a:solidFill>
              <a:srgbClr val="FFCCCC"/>
            </a:solidFill>
            <a:ln w="19050" cap="flat" cmpd="sng">
              <a:solidFill>
                <a:srgbClr val="FF0000"/>
              </a:solidFill>
              <a:prstDash val="solid"/>
              <a:miter/>
              <a:headEnd type="none" w="med" len="med"/>
              <a:tailEnd type="none" w="med" len="med"/>
            </a:ln>
          </p:spPr>
          <p:txBody>
            <a:bodyPr vert="eaVert"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10" name="Object 14">
                  <a:extLst>
                    <a:ext uri="{FF2B5EF4-FFF2-40B4-BE49-F238E27FC236}">
                      <a16:creationId xmlns:a16="http://schemas.microsoft.com/office/drawing/2014/main" id="{B1BB5F11-3F42-1140-AA72-D2DAC6693B2D}"/>
                    </a:ext>
                  </a:extLst>
                </p:cNvPr>
                <p:cNvSpPr txBox="1"/>
                <p:nvPr/>
              </p:nvSpPr>
              <p:spPr>
                <a:xfrm>
                  <a:off x="4224" y="1152"/>
                  <a:ext cx="372" cy="436"/>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1</m:t>
                            </m:r>
                          </m:sub>
                        </m:sSub>
                      </m:oMath>
                    </m:oMathPara>
                  </a14:m>
                  <a:endParaRPr lang="zh-CN" altLang="en-US" sz="2600"/>
                </a:p>
              </p:txBody>
            </p:sp>
          </mc:Choice>
          <mc:Fallback xmlns="">
            <p:sp>
              <p:nvSpPr>
                <p:cNvPr id="6159" name="Object 14"/>
                <p:cNvSpPr txBox="1">
                  <a:spLocks noRot="1" noChangeAspect="1" noMove="1" noResize="1" noEditPoints="1" noAdjustHandles="1" noChangeArrowheads="1" noChangeShapeType="1" noTextEdit="1"/>
                </p:cNvSpPr>
                <p:nvPr/>
              </p:nvSpPr>
              <p:spPr>
                <a:xfrm>
                  <a:off x="4224" y="1152"/>
                  <a:ext cx="372" cy="436"/>
                </a:xfrm>
                <a:prstGeom prst="rect">
                  <a:avLst/>
                </a:prstGeom>
                <a:blipFill>
                  <a:blip r:embed="rId3"/>
                  <a:stretch>
                    <a:fillRect/>
                  </a:stretch>
                </a:blipFill>
                <a:ln w="38100">
                  <a:noFill/>
                  <a:miter/>
                </a:ln>
              </p:spPr>
              <p:txBody>
                <a:bodyPr/>
                <a:lstStyle/>
                <a:p>
                  <a:r>
                    <a:rPr lang="zh-CN" altLang="en-US">
                      <a:noFill/>
                    </a:rPr>
                    <a:t> </a:t>
                  </a:r>
                </a:p>
              </p:txBody>
            </p:sp>
          </mc:Fallback>
        </mc:AlternateContent>
      </p:grpSp>
      <p:grpSp>
        <p:nvGrpSpPr>
          <p:cNvPr id="11" name="Group 15">
            <a:extLst>
              <a:ext uri="{FF2B5EF4-FFF2-40B4-BE49-F238E27FC236}">
                <a16:creationId xmlns:a16="http://schemas.microsoft.com/office/drawing/2014/main" id="{5C8A4CA9-68D3-05BD-51E6-3D2C1235336C}"/>
              </a:ext>
            </a:extLst>
          </p:cNvPr>
          <p:cNvGrpSpPr/>
          <p:nvPr/>
        </p:nvGrpSpPr>
        <p:grpSpPr>
          <a:xfrm>
            <a:off x="7086213" y="3028644"/>
            <a:ext cx="841376" cy="804863"/>
            <a:chOff x="4101" y="1968"/>
            <a:chExt cx="530" cy="507"/>
          </a:xfrm>
        </p:grpSpPr>
        <p:sp>
          <p:nvSpPr>
            <p:cNvPr id="12" name="AutoShape 16">
              <a:extLst>
                <a:ext uri="{FF2B5EF4-FFF2-40B4-BE49-F238E27FC236}">
                  <a16:creationId xmlns:a16="http://schemas.microsoft.com/office/drawing/2014/main" id="{389C0892-9626-969C-8236-7F43302B61F2}"/>
                </a:ext>
              </a:extLst>
            </p:cNvPr>
            <p:cNvSpPr/>
            <p:nvPr/>
          </p:nvSpPr>
          <p:spPr>
            <a:xfrm>
              <a:off x="4101" y="1968"/>
              <a:ext cx="144" cy="480"/>
            </a:xfrm>
            <a:prstGeom prst="downArrow">
              <a:avLst>
                <a:gd name="adj1" fmla="val 35416"/>
                <a:gd name="adj2" fmla="val 138888"/>
              </a:avLst>
            </a:prstGeom>
            <a:solidFill>
              <a:srgbClr val="CCECFF"/>
            </a:solidFill>
            <a:ln w="19050" cap="flat" cmpd="sng">
              <a:solidFill>
                <a:srgbClr val="0000FF"/>
              </a:solidFill>
              <a:prstDash val="solid"/>
              <a:miter/>
              <a:headEnd type="none" w="med" len="med"/>
              <a:tailEnd type="none" w="med" len="med"/>
            </a:ln>
          </p:spPr>
          <p:txBody>
            <a:bodyPr vert="eaVert"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13" name="Object 17">
                  <a:extLst>
                    <a:ext uri="{FF2B5EF4-FFF2-40B4-BE49-F238E27FC236}">
                      <a16:creationId xmlns:a16="http://schemas.microsoft.com/office/drawing/2014/main" id="{56D7C993-B977-BE4F-D1FA-25D229399B1F}"/>
                    </a:ext>
                  </a:extLst>
                </p:cNvPr>
                <p:cNvSpPr txBox="1"/>
                <p:nvPr/>
              </p:nvSpPr>
              <p:spPr>
                <a:xfrm>
                  <a:off x="4259" y="2040"/>
                  <a:ext cx="372" cy="435"/>
                </a:xfrm>
                <a:prstGeom prst="rect">
                  <a:avLst/>
                </a:prstGeom>
                <a:noFill/>
                <a:ln w="38100">
                  <a:noFill/>
                  <a:miter/>
                </a:ln>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600" i="1">
                                <a:solidFill>
                                  <a:srgbClr val="000000"/>
                                </a:solidFill>
                                <a:latin typeface="Cambria Math" panose="02040503050406030204" pitchFamily="18" charset="0"/>
                              </a:rPr>
                            </m:ctrlPr>
                          </m:sSubPr>
                          <m:e>
                            <m:r>
                              <a:rPr lang="zh-CN" altLang="en-US" sz="2600" i="1">
                                <a:solidFill>
                                  <a:srgbClr val="000000"/>
                                </a:solidFill>
                                <a:latin typeface="Cambria Math" panose="02040503050406030204" pitchFamily="18" charset="0"/>
                              </a:rPr>
                              <m:t>𝑄</m:t>
                            </m:r>
                          </m:e>
                          <m:sub>
                            <m:r>
                              <a:rPr lang="zh-CN" altLang="en-US" sz="2600" i="1">
                                <a:solidFill>
                                  <a:srgbClr val="000000"/>
                                </a:solidFill>
                                <a:latin typeface="Cambria Math" panose="02040503050406030204" pitchFamily="18" charset="0"/>
                              </a:rPr>
                              <m:t>2</m:t>
                            </m:r>
                          </m:sub>
                        </m:sSub>
                      </m:oMath>
                    </m:oMathPara>
                  </a14:m>
                  <a:endParaRPr lang="zh-CN" altLang="en-US" sz="2600" dirty="0"/>
                </a:p>
              </p:txBody>
            </p:sp>
          </mc:Choice>
          <mc:Fallback xmlns="">
            <p:sp>
              <p:nvSpPr>
                <p:cNvPr id="6158" name="Object 17"/>
                <p:cNvSpPr txBox="1">
                  <a:spLocks noRot="1" noChangeAspect="1" noMove="1" noResize="1" noEditPoints="1" noAdjustHandles="1" noChangeArrowheads="1" noChangeShapeType="1" noTextEdit="1"/>
                </p:cNvSpPr>
                <p:nvPr/>
              </p:nvSpPr>
              <p:spPr>
                <a:xfrm>
                  <a:off x="4259" y="2040"/>
                  <a:ext cx="372" cy="435"/>
                </a:xfrm>
                <a:prstGeom prst="rect">
                  <a:avLst/>
                </a:prstGeom>
                <a:blipFill>
                  <a:blip r:embed="rId4"/>
                  <a:stretch>
                    <a:fillRect/>
                  </a:stretch>
                </a:blipFill>
                <a:ln w="38100">
                  <a:noFill/>
                  <a:miter/>
                </a:ln>
              </p:spPr>
              <p:txBody>
                <a:bodyPr/>
                <a:lstStyle/>
                <a:p>
                  <a:r>
                    <a:rPr lang="zh-CN" altLang="en-US">
                      <a:noFill/>
                    </a:rPr>
                    <a:t> </a:t>
                  </a:r>
                </a:p>
              </p:txBody>
            </p:sp>
          </mc:Fallback>
        </mc:AlternateContent>
      </p:grpSp>
      <p:grpSp>
        <p:nvGrpSpPr>
          <p:cNvPr id="14" name="Group 18">
            <a:extLst>
              <a:ext uri="{FF2B5EF4-FFF2-40B4-BE49-F238E27FC236}">
                <a16:creationId xmlns:a16="http://schemas.microsoft.com/office/drawing/2014/main" id="{421C8B1E-E47D-85B2-C29C-9C7FA2808F61}"/>
              </a:ext>
            </a:extLst>
          </p:cNvPr>
          <p:cNvGrpSpPr/>
          <p:nvPr/>
        </p:nvGrpSpPr>
        <p:grpSpPr>
          <a:xfrm>
            <a:off x="8142547" y="2463318"/>
            <a:ext cx="1371097" cy="490535"/>
            <a:chOff x="4711" y="1683"/>
            <a:chExt cx="803" cy="223"/>
          </a:xfrm>
        </p:grpSpPr>
        <p:sp>
          <p:nvSpPr>
            <p:cNvPr id="15" name="AutoShape 19">
              <a:extLst>
                <a:ext uri="{FF2B5EF4-FFF2-40B4-BE49-F238E27FC236}">
                  <a16:creationId xmlns:a16="http://schemas.microsoft.com/office/drawing/2014/main" id="{828E69BF-4CBA-5EFB-B39D-B0F26C1A8CB3}"/>
                </a:ext>
              </a:extLst>
            </p:cNvPr>
            <p:cNvSpPr/>
            <p:nvPr/>
          </p:nvSpPr>
          <p:spPr>
            <a:xfrm>
              <a:off x="4711" y="1784"/>
              <a:ext cx="528" cy="102"/>
            </a:xfrm>
            <a:prstGeom prst="rightArrow">
              <a:avLst>
                <a:gd name="adj1" fmla="val 58666"/>
                <a:gd name="adj2" fmla="val 189204"/>
              </a:avLst>
            </a:prstGeom>
            <a:solidFill>
              <a:schemeClr val="accent1"/>
            </a:solidFill>
            <a:ln w="19050" cap="flat" cmpd="sng">
              <a:solidFill>
                <a:srgbClr val="CC6600"/>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16" name="Object 20">
                  <a:extLst>
                    <a:ext uri="{FF2B5EF4-FFF2-40B4-BE49-F238E27FC236}">
                      <a16:creationId xmlns:a16="http://schemas.microsoft.com/office/drawing/2014/main" id="{CF7FAD1F-0A36-57C0-F050-048E3448F042}"/>
                    </a:ext>
                  </a:extLst>
                </p:cNvPr>
                <p:cNvSpPr txBox="1"/>
                <p:nvPr/>
              </p:nvSpPr>
              <p:spPr>
                <a:xfrm>
                  <a:off x="5295" y="1683"/>
                  <a:ext cx="219" cy="223"/>
                </a:xfrm>
                <a:prstGeom prst="rect">
                  <a:avLst/>
                </a:prstGeom>
                <a:solidFill>
                  <a:schemeClr val="accent1"/>
                </a:solidFill>
                <a:ln w="9525" cap="flat" cmpd="sng">
                  <a:solidFill>
                    <a:srgbClr val="CC6600"/>
                  </a:solidFill>
                  <a:prstDash val="solid"/>
                  <a:miter/>
                  <a:headEnd type="none" w="med" len="med"/>
                  <a:tailEnd type="none" w="med" len="med"/>
                </a:ln>
              </p:spPr>
              <p:txBody>
                <a:bodyPr>
                  <a:noAutofit/>
                </a:bodyPr>
                <a:lstStyle/>
                <a:p>
                  <a:pPr/>
                  <a14:m>
                    <m:oMathPara xmlns:m="http://schemas.openxmlformats.org/officeDocument/2006/math">
                      <m:oMathParaPr>
                        <m:jc m:val="left"/>
                      </m:oMathParaPr>
                      <m:oMath xmlns:m="http://schemas.openxmlformats.org/officeDocument/2006/math">
                        <m:r>
                          <a:rPr lang="zh-CN" altLang="en-US" sz="2600" i="1">
                            <a:solidFill>
                              <a:srgbClr val="000000"/>
                            </a:solidFill>
                            <a:latin typeface="Cambria Math" panose="02040503050406030204" pitchFamily="18" charset="0"/>
                          </a:rPr>
                          <m:t>𝐴</m:t>
                        </m:r>
                      </m:oMath>
                    </m:oMathPara>
                  </a14:m>
                  <a:endParaRPr lang="zh-CN" altLang="en-US" sz="2600" dirty="0"/>
                </a:p>
              </p:txBody>
            </p:sp>
          </mc:Choice>
          <mc:Fallback xmlns="">
            <p:sp>
              <p:nvSpPr>
                <p:cNvPr id="6157" name="Object 20"/>
                <p:cNvSpPr txBox="1">
                  <a:spLocks noRot="1" noChangeAspect="1" noMove="1" noResize="1" noEditPoints="1" noAdjustHandles="1" noChangeArrowheads="1" noChangeShapeType="1" noTextEdit="1"/>
                </p:cNvSpPr>
                <p:nvPr/>
              </p:nvSpPr>
              <p:spPr>
                <a:xfrm>
                  <a:off x="5295" y="1683"/>
                  <a:ext cx="219" cy="223"/>
                </a:xfrm>
                <a:prstGeom prst="rect">
                  <a:avLst/>
                </a:prstGeom>
                <a:blipFill>
                  <a:blip r:embed="rId5"/>
                  <a:stretch>
                    <a:fillRect/>
                  </a:stretch>
                </a:blipFill>
                <a:ln w="9525" cap="flat" cmpd="sng">
                  <a:solidFill>
                    <a:srgbClr val="CC6600"/>
                  </a:solidFill>
                  <a:prstDash val="solid"/>
                  <a:miter/>
                  <a:headEnd type="none" w="med" len="med"/>
                  <a:tailEnd type="none" w="med" len="med"/>
                </a:ln>
              </p:spPr>
              <p:txBody>
                <a:bodyPr/>
                <a:lstStyle/>
                <a:p>
                  <a:r>
                    <a:rPr lang="en-US">
                      <a:noFill/>
                    </a:rPr>
                    <a:t> </a:t>
                  </a:r>
                </a:p>
              </p:txBody>
            </p:sp>
          </mc:Fallback>
        </mc:AlternateContent>
      </p:grpSp>
      <p:grpSp>
        <p:nvGrpSpPr>
          <p:cNvPr id="17" name="组合 16">
            <a:extLst>
              <a:ext uri="{FF2B5EF4-FFF2-40B4-BE49-F238E27FC236}">
                <a16:creationId xmlns:a16="http://schemas.microsoft.com/office/drawing/2014/main" id="{B5D4B1F7-FB18-E6BB-70A8-87B8412D856D}"/>
              </a:ext>
            </a:extLst>
          </p:cNvPr>
          <p:cNvGrpSpPr/>
          <p:nvPr/>
        </p:nvGrpSpPr>
        <p:grpSpPr>
          <a:xfrm>
            <a:off x="2168682" y="1261081"/>
            <a:ext cx="3423935" cy="3174868"/>
            <a:chOff x="4890180" y="1338019"/>
            <a:chExt cx="3282364" cy="3039795"/>
          </a:xfrm>
        </p:grpSpPr>
        <p:pic>
          <p:nvPicPr>
            <p:cNvPr id="18" name="Picture 25">
              <a:hlinkClick r:id="rId6" action="ppaction://hlinkfile"/>
              <a:extLst>
                <a:ext uri="{FF2B5EF4-FFF2-40B4-BE49-F238E27FC236}">
                  <a16:creationId xmlns:a16="http://schemas.microsoft.com/office/drawing/2014/main" id="{15B33C50-91EF-1EAA-E072-52DF11B2D13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204" t="16136" r="27871" b="8509"/>
            <a:stretch/>
          </p:blipFill>
          <p:spPr bwMode="auto">
            <a:xfrm>
              <a:off x="4890180" y="1338019"/>
              <a:ext cx="3277421" cy="3039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9" name="Picture 25">
              <a:hlinkClick r:id="rId6" action="ppaction://hlinkfile"/>
              <a:extLst>
                <a:ext uri="{FF2B5EF4-FFF2-40B4-BE49-F238E27FC236}">
                  <a16:creationId xmlns:a16="http://schemas.microsoft.com/office/drawing/2014/main" id="{B62AE037-0296-E170-8CEC-3DFFEB33D0F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204" t="66153" r="86066" b="8509"/>
            <a:stretch/>
          </p:blipFill>
          <p:spPr bwMode="auto">
            <a:xfrm>
              <a:off x="7926214" y="2653108"/>
              <a:ext cx="246330" cy="819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0" name="Picture 25">
              <a:hlinkClick r:id="rId6" action="ppaction://hlinkfile"/>
              <a:extLst>
                <a:ext uri="{FF2B5EF4-FFF2-40B4-BE49-F238E27FC236}">
                  <a16:creationId xmlns:a16="http://schemas.microsoft.com/office/drawing/2014/main" id="{5FEF6F8A-DA27-BC24-5375-7553E63F908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204" t="66153" r="86066" b="8509"/>
            <a:stretch/>
          </p:blipFill>
          <p:spPr bwMode="auto">
            <a:xfrm>
              <a:off x="7921042" y="3531388"/>
              <a:ext cx="246330" cy="819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grpSp>
        <p:nvGrpSpPr>
          <p:cNvPr id="23" name="组合 22">
            <a:extLst>
              <a:ext uri="{FF2B5EF4-FFF2-40B4-BE49-F238E27FC236}">
                <a16:creationId xmlns:a16="http://schemas.microsoft.com/office/drawing/2014/main" id="{6285993E-414A-F526-3AE1-DC6CEF091FD0}"/>
              </a:ext>
            </a:extLst>
          </p:cNvPr>
          <p:cNvGrpSpPr/>
          <p:nvPr/>
        </p:nvGrpSpPr>
        <p:grpSpPr>
          <a:xfrm>
            <a:off x="3987910" y="2935962"/>
            <a:ext cx="1287580" cy="1153438"/>
            <a:chOff x="3232260" y="3386812"/>
            <a:chExt cx="1287580" cy="1044028"/>
          </a:xfrm>
        </p:grpSpPr>
        <p:pic>
          <p:nvPicPr>
            <p:cNvPr id="21" name="Picture 25">
              <a:hlinkClick r:id="rId6" action="ppaction://hlinkfile"/>
              <a:extLst>
                <a:ext uri="{FF2B5EF4-FFF2-40B4-BE49-F238E27FC236}">
                  <a16:creationId xmlns:a16="http://schemas.microsoft.com/office/drawing/2014/main" id="{437F4CF1-6AC9-95A1-6756-C4BF890B89B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204" t="66153" r="86066" b="8509"/>
            <a:stretch/>
          </p:blipFill>
          <p:spPr bwMode="auto">
            <a:xfrm>
              <a:off x="3232260" y="3386812"/>
              <a:ext cx="564164" cy="856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2" name="Picture 25">
              <a:hlinkClick r:id="rId6" action="ppaction://hlinkfile"/>
              <a:extLst>
                <a:ext uri="{FF2B5EF4-FFF2-40B4-BE49-F238E27FC236}">
                  <a16:creationId xmlns:a16="http://schemas.microsoft.com/office/drawing/2014/main" id="{5C42047D-1151-056C-FD54-AAAE5606A5C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9204" t="66153" r="86066" b="8509"/>
            <a:stretch/>
          </p:blipFill>
          <p:spPr bwMode="auto">
            <a:xfrm>
              <a:off x="3955676" y="3574684"/>
              <a:ext cx="564164" cy="856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sp>
        <p:nvSpPr>
          <p:cNvPr id="24" name="文本框 23">
            <a:extLst>
              <a:ext uri="{FF2B5EF4-FFF2-40B4-BE49-F238E27FC236}">
                <a16:creationId xmlns:a16="http://schemas.microsoft.com/office/drawing/2014/main" id="{22611FF0-6EBD-3579-6287-7AC201670726}"/>
              </a:ext>
            </a:extLst>
          </p:cNvPr>
          <p:cNvSpPr txBox="1"/>
          <p:nvPr/>
        </p:nvSpPr>
        <p:spPr>
          <a:xfrm>
            <a:off x="2788002" y="5173263"/>
            <a:ext cx="6340197" cy="584775"/>
          </a:xfrm>
          <a:prstGeom prst="rect">
            <a:avLst/>
          </a:prstGeom>
          <a:noFill/>
        </p:spPr>
        <p:txBody>
          <a:bodyPr wrap="none" rtlCol="0">
            <a:spAutoFit/>
          </a:bodyPr>
          <a:lstStyle/>
          <a:p>
            <a:r>
              <a:rPr lang="zh-CN" altLang="en-US" sz="3200" b="1" dirty="0">
                <a:solidFill>
                  <a:srgbClr val="0066FF"/>
                </a:solidFill>
              </a:rPr>
              <a:t>可以从单一热源吸热对外做功吗？</a:t>
            </a:r>
          </a:p>
        </p:txBody>
      </p:sp>
      <p:sp>
        <p:nvSpPr>
          <p:cNvPr id="26" name="文本框 25">
            <a:extLst>
              <a:ext uri="{FF2B5EF4-FFF2-40B4-BE49-F238E27FC236}">
                <a16:creationId xmlns:a16="http://schemas.microsoft.com/office/drawing/2014/main" id="{40783808-6150-E230-01B7-D416A8DB281B}"/>
              </a:ext>
            </a:extLst>
          </p:cNvPr>
          <p:cNvSpPr txBox="1"/>
          <p:nvPr/>
        </p:nvSpPr>
        <p:spPr>
          <a:xfrm>
            <a:off x="9044090" y="3948142"/>
            <a:ext cx="2526630" cy="523220"/>
          </a:xfrm>
          <a:prstGeom prst="rect">
            <a:avLst/>
          </a:prstGeom>
          <a:noFill/>
        </p:spPr>
        <p:txBody>
          <a:bodyPr wrap="square">
            <a:spAutoFit/>
          </a:bodyPr>
          <a:lstStyle/>
          <a:p>
            <a:r>
              <a:rPr lang="zh-CN" altLang="en-US" sz="2800" b="1" dirty="0">
                <a:solidFill>
                  <a:srgbClr val="000000"/>
                </a:solidFill>
                <a:latin typeface="Times New Roman" panose="02020603050405020304" pitchFamily="18" charset="0"/>
              </a:rPr>
              <a:t>效率</a:t>
            </a:r>
            <a:r>
              <a:rPr lang="en-US" altLang="zh-CN" sz="2800" b="1" dirty="0">
                <a:solidFill>
                  <a:srgbClr val="000000"/>
                </a:solidFill>
                <a:latin typeface="Times New Roman" panose="02020603050405020304" pitchFamily="18" charset="0"/>
              </a:rPr>
              <a:t>100%</a:t>
            </a:r>
            <a:endParaRPr lang="zh-CN" altLang="en-US" sz="2800" b="1" dirty="0"/>
          </a:p>
        </p:txBody>
      </p:sp>
    </p:spTree>
    <p:extLst>
      <p:ext uri="{BB962C8B-B14F-4D97-AF65-F5344CB8AC3E}">
        <p14:creationId xmlns:p14="http://schemas.microsoft.com/office/powerpoint/2010/main" val="2829562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1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4" grpId="0"/>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PMM2 - Perpetual Motion Machine of Second Kind | Thermodynamics Laws |  Engineering Thermodynamics on Make a GIF">
            <a:extLst>
              <a:ext uri="{FF2B5EF4-FFF2-40B4-BE49-F238E27FC236}">
                <a16:creationId xmlns:a16="http://schemas.microsoft.com/office/drawing/2014/main" id="{8B075AD9-FFE6-7FE5-EA76-B2D8F423968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099" b="14568"/>
          <a:stretch/>
        </p:blipFill>
        <p:spPr bwMode="auto">
          <a:xfrm>
            <a:off x="946150" y="1571624"/>
            <a:ext cx="9921394" cy="4092575"/>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ACE0A7B5-4ED7-A843-3679-D5AA685CFC5A}"/>
              </a:ext>
            </a:extLst>
          </p:cNvPr>
          <p:cNvSpPr txBox="1"/>
          <p:nvPr/>
        </p:nvSpPr>
        <p:spPr>
          <a:xfrm>
            <a:off x="4114800" y="806450"/>
            <a:ext cx="2954655" cy="646331"/>
          </a:xfrm>
          <a:prstGeom prst="rect">
            <a:avLst/>
          </a:prstGeom>
          <a:noFill/>
        </p:spPr>
        <p:txBody>
          <a:bodyPr wrap="none" rtlCol="0">
            <a:spAutoFit/>
          </a:bodyPr>
          <a:lstStyle/>
          <a:p>
            <a:r>
              <a:rPr lang="zh-CN" altLang="en-US" sz="3600" dirty="0"/>
              <a:t>第二类永动机</a:t>
            </a:r>
          </a:p>
        </p:txBody>
      </p:sp>
    </p:spTree>
    <p:extLst>
      <p:ext uri="{BB962C8B-B14F-4D97-AF65-F5344CB8AC3E}">
        <p14:creationId xmlns:p14="http://schemas.microsoft.com/office/powerpoint/2010/main" val="1015083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780D9E8-019F-E6DB-99ED-EDDA52B637B5}"/>
              </a:ext>
            </a:extLst>
          </p:cNvPr>
          <p:cNvSpPr txBox="1"/>
          <p:nvPr/>
        </p:nvSpPr>
        <p:spPr>
          <a:xfrm>
            <a:off x="5988580" y="2729367"/>
            <a:ext cx="7886700" cy="1384995"/>
          </a:xfrm>
          <a:prstGeom prst="rect">
            <a:avLst/>
          </a:prstGeom>
          <a:noFill/>
        </p:spPr>
        <p:txBody>
          <a:bodyPr wrap="square">
            <a:spAutoFit/>
          </a:bodyPr>
          <a:lstStyle/>
          <a:p>
            <a:pPr marL="285750" indent="-285750">
              <a:buFontTx/>
              <a:buChar char="-"/>
            </a:pPr>
            <a:r>
              <a:rPr lang="zh-CN" altLang="en-US" sz="2800" b="0" i="0" dirty="0">
                <a:effectLst/>
                <a:latin typeface="Hiragino Sans GB"/>
              </a:rPr>
              <a:t>机械能是可以</a:t>
            </a:r>
            <a:r>
              <a:rPr lang="zh-CN" altLang="en-US" sz="2800" dirty="0">
                <a:latin typeface="Hiragino Sans GB"/>
              </a:rPr>
              <a:t>自动</a:t>
            </a:r>
            <a:r>
              <a:rPr lang="zh-CN" altLang="en-US" sz="2800" b="0" i="0" dirty="0">
                <a:effectLst/>
                <a:latin typeface="Hiragino Sans GB"/>
              </a:rPr>
              <a:t>转化成热能</a:t>
            </a:r>
            <a:endParaRPr lang="en-US" altLang="zh-CN" sz="2800" b="0" i="0" dirty="0">
              <a:effectLst/>
              <a:latin typeface="Hiragino Sans GB"/>
            </a:endParaRPr>
          </a:p>
          <a:p>
            <a:pPr marL="285750" indent="-285750">
              <a:buFontTx/>
              <a:buChar char="-"/>
            </a:pPr>
            <a:endParaRPr lang="en-US" altLang="zh-CN" sz="2800" dirty="0">
              <a:latin typeface="Hiragino Sans GB"/>
            </a:endParaRPr>
          </a:p>
          <a:p>
            <a:pPr marL="285750" indent="-285750">
              <a:buFontTx/>
              <a:buChar char="-"/>
            </a:pPr>
            <a:r>
              <a:rPr lang="zh-CN" altLang="en-US" sz="2800" b="0" i="0" dirty="0">
                <a:effectLst/>
                <a:latin typeface="Hiragino Sans GB"/>
              </a:rPr>
              <a:t>热能不可能自动变化成机械能</a:t>
            </a:r>
            <a:endParaRPr lang="zh-CN" altLang="en-US" sz="2800" dirty="0"/>
          </a:p>
        </p:txBody>
      </p:sp>
      <p:grpSp>
        <p:nvGrpSpPr>
          <p:cNvPr id="4" name="Group 3">
            <a:extLst>
              <a:ext uri="{FF2B5EF4-FFF2-40B4-BE49-F238E27FC236}">
                <a16:creationId xmlns:a16="http://schemas.microsoft.com/office/drawing/2014/main" id="{8D61CAF9-BC2F-D581-0874-291F7E0E6E06}"/>
              </a:ext>
            </a:extLst>
          </p:cNvPr>
          <p:cNvGrpSpPr/>
          <p:nvPr/>
        </p:nvGrpSpPr>
        <p:grpSpPr>
          <a:xfrm>
            <a:off x="1958492" y="1790054"/>
            <a:ext cx="3439008" cy="3493146"/>
            <a:chOff x="528" y="1536"/>
            <a:chExt cx="2496" cy="2352"/>
          </a:xfrm>
        </p:grpSpPr>
        <p:sp>
          <p:nvSpPr>
            <p:cNvPr id="5" name="Rectangle 4" descr="小纸屑">
              <a:extLst>
                <a:ext uri="{FF2B5EF4-FFF2-40B4-BE49-F238E27FC236}">
                  <a16:creationId xmlns:a16="http://schemas.microsoft.com/office/drawing/2014/main" id="{1F4E87A7-A10E-0E5A-92B0-4B2D352AC48C}"/>
                </a:ext>
              </a:extLst>
            </p:cNvPr>
            <p:cNvSpPr/>
            <p:nvPr/>
          </p:nvSpPr>
          <p:spPr>
            <a:xfrm>
              <a:off x="1308" y="3036"/>
              <a:ext cx="858" cy="609"/>
            </a:xfrm>
            <a:prstGeom prst="rect">
              <a:avLst/>
            </a:prstGeom>
            <a:pattFill prst="smConfetti">
              <a:fgClr>
                <a:schemeClr val="tx1"/>
              </a:fgClr>
              <a:bgClr>
                <a:srgbClr val="FFFFFF"/>
              </a:bgClr>
            </a:pattFill>
            <a:ln w="9525">
              <a:noFill/>
            </a:ln>
          </p:spPr>
          <p:txBody>
            <a:bodyPr wrap="none" anchor="ctr" anchorCtr="0"/>
            <a:lstStyle/>
            <a:p>
              <a:endParaRPr lang="zh-CN" altLang="en-US" dirty="0">
                <a:latin typeface="Bookman Old Style" panose="02050604050505020204" pitchFamily="18" charset="0"/>
              </a:endParaRPr>
            </a:p>
          </p:txBody>
        </p:sp>
        <p:sp>
          <p:nvSpPr>
            <p:cNvPr id="6" name="Rectangle 5" descr="深色下对角线">
              <a:extLst>
                <a:ext uri="{FF2B5EF4-FFF2-40B4-BE49-F238E27FC236}">
                  <a16:creationId xmlns:a16="http://schemas.microsoft.com/office/drawing/2014/main" id="{D4747E23-E74D-371C-67A7-E6810FCC6449}"/>
                </a:ext>
              </a:extLst>
            </p:cNvPr>
            <p:cNvSpPr/>
            <p:nvPr/>
          </p:nvSpPr>
          <p:spPr>
            <a:xfrm>
              <a:off x="1035" y="2388"/>
              <a:ext cx="1521" cy="1500"/>
            </a:xfrm>
            <a:prstGeom prst="rect">
              <a:avLst/>
            </a:prstGeom>
            <a:pattFill prst="dkDnDiag">
              <a:fgClr>
                <a:schemeClr val="tx1"/>
              </a:fgClr>
              <a:bgClr>
                <a:srgbClr val="FF9966"/>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7" name="Rectangle 6" descr="小纸屑">
              <a:extLst>
                <a:ext uri="{FF2B5EF4-FFF2-40B4-BE49-F238E27FC236}">
                  <a16:creationId xmlns:a16="http://schemas.microsoft.com/office/drawing/2014/main" id="{C7FE96D8-9770-4F38-E4C7-53CC32CC8C0B}"/>
                </a:ext>
              </a:extLst>
            </p:cNvPr>
            <p:cNvSpPr/>
            <p:nvPr/>
          </p:nvSpPr>
          <p:spPr>
            <a:xfrm>
              <a:off x="1971" y="3199"/>
              <a:ext cx="507" cy="608"/>
            </a:xfrm>
            <a:prstGeom prst="rect">
              <a:avLst/>
            </a:prstGeom>
            <a:pattFill prst="smConfetti">
              <a:fgClr>
                <a:schemeClr val="tx1"/>
              </a:fgClr>
              <a:bgClr>
                <a:srgbClr val="FFFFFF"/>
              </a:bgClr>
            </a:pattFill>
            <a:ln w="9525">
              <a:noFill/>
            </a:ln>
          </p:spPr>
          <p:txBody>
            <a:bodyPr wrap="none" anchor="ctr" anchorCtr="0"/>
            <a:lstStyle/>
            <a:p>
              <a:endParaRPr lang="zh-CN" altLang="en-US" dirty="0">
                <a:latin typeface="Bookman Old Style" panose="02050604050505020204" pitchFamily="18" charset="0"/>
              </a:endParaRPr>
            </a:p>
          </p:txBody>
        </p:sp>
        <p:sp>
          <p:nvSpPr>
            <p:cNvPr id="8" name="Rectangle 7" descr="小纸屑">
              <a:extLst>
                <a:ext uri="{FF2B5EF4-FFF2-40B4-BE49-F238E27FC236}">
                  <a16:creationId xmlns:a16="http://schemas.microsoft.com/office/drawing/2014/main" id="{A4121D28-F8F6-FAD8-2055-44CC74470B93}"/>
                </a:ext>
              </a:extLst>
            </p:cNvPr>
            <p:cNvSpPr/>
            <p:nvPr/>
          </p:nvSpPr>
          <p:spPr>
            <a:xfrm>
              <a:off x="1113" y="3199"/>
              <a:ext cx="858" cy="608"/>
            </a:xfrm>
            <a:prstGeom prst="rect">
              <a:avLst/>
            </a:prstGeom>
            <a:pattFill prst="smConfetti">
              <a:fgClr>
                <a:schemeClr val="tx1"/>
              </a:fgClr>
              <a:bgClr>
                <a:srgbClr val="FFFFFF"/>
              </a:bgClr>
            </a:pattFill>
            <a:ln w="9525">
              <a:noFill/>
            </a:ln>
          </p:spPr>
          <p:txBody>
            <a:bodyPr wrap="none" anchor="ctr" anchorCtr="0"/>
            <a:lstStyle/>
            <a:p>
              <a:endParaRPr lang="zh-CN" altLang="en-US" dirty="0">
                <a:latin typeface="Bookman Old Style" panose="02050604050505020204" pitchFamily="18" charset="0"/>
              </a:endParaRPr>
            </a:p>
          </p:txBody>
        </p:sp>
        <p:sp>
          <p:nvSpPr>
            <p:cNvPr id="9" name="Rectangle 8" descr="小纸屑">
              <a:extLst>
                <a:ext uri="{FF2B5EF4-FFF2-40B4-BE49-F238E27FC236}">
                  <a16:creationId xmlns:a16="http://schemas.microsoft.com/office/drawing/2014/main" id="{EEB214D5-2E78-DC78-3B46-98FC9D215278}"/>
                </a:ext>
              </a:extLst>
            </p:cNvPr>
            <p:cNvSpPr/>
            <p:nvPr/>
          </p:nvSpPr>
          <p:spPr>
            <a:xfrm>
              <a:off x="1971" y="2509"/>
              <a:ext cx="507" cy="609"/>
            </a:xfrm>
            <a:prstGeom prst="rect">
              <a:avLst/>
            </a:prstGeom>
            <a:pattFill prst="smConfetti">
              <a:fgClr>
                <a:schemeClr val="tx1"/>
              </a:fgClr>
              <a:bgClr>
                <a:srgbClr val="FFFFFF"/>
              </a:bgClr>
            </a:pattFill>
            <a:ln w="9525">
              <a:noFill/>
            </a:ln>
          </p:spPr>
          <p:txBody>
            <a:bodyPr wrap="none" anchor="ctr" anchorCtr="0"/>
            <a:lstStyle/>
            <a:p>
              <a:endParaRPr lang="zh-CN" altLang="en-US" dirty="0">
                <a:latin typeface="Bookman Old Style" panose="02050604050505020204" pitchFamily="18" charset="0"/>
              </a:endParaRPr>
            </a:p>
          </p:txBody>
        </p:sp>
        <p:sp>
          <p:nvSpPr>
            <p:cNvPr id="10" name="Rectangle 9" descr="小纸屑">
              <a:extLst>
                <a:ext uri="{FF2B5EF4-FFF2-40B4-BE49-F238E27FC236}">
                  <a16:creationId xmlns:a16="http://schemas.microsoft.com/office/drawing/2014/main" id="{575996AD-88C3-B9F8-AEC7-4C895A18F87C}"/>
                </a:ext>
              </a:extLst>
            </p:cNvPr>
            <p:cNvSpPr/>
            <p:nvPr/>
          </p:nvSpPr>
          <p:spPr>
            <a:xfrm>
              <a:off x="1113" y="2509"/>
              <a:ext cx="858" cy="609"/>
            </a:xfrm>
            <a:prstGeom prst="rect">
              <a:avLst/>
            </a:prstGeom>
            <a:pattFill prst="smConfetti">
              <a:fgClr>
                <a:schemeClr val="tx1"/>
              </a:fgClr>
              <a:bgClr>
                <a:srgbClr val="FFFFFF"/>
              </a:bgClr>
            </a:pattFill>
            <a:ln w="9525">
              <a:noFill/>
            </a:ln>
          </p:spPr>
          <p:txBody>
            <a:bodyPr wrap="none" anchor="ctr" anchorCtr="0"/>
            <a:lstStyle/>
            <a:p>
              <a:endParaRPr lang="zh-CN" altLang="en-US" dirty="0">
                <a:latin typeface="Bookman Old Style" panose="02050604050505020204" pitchFamily="18" charset="0"/>
              </a:endParaRPr>
            </a:p>
          </p:txBody>
        </p:sp>
        <p:sp>
          <p:nvSpPr>
            <p:cNvPr id="11" name="Rectangle 10">
              <a:extLst>
                <a:ext uri="{FF2B5EF4-FFF2-40B4-BE49-F238E27FC236}">
                  <a16:creationId xmlns:a16="http://schemas.microsoft.com/office/drawing/2014/main" id="{46E28BF9-CA7D-A057-F337-C3F6900EEB6B}"/>
                </a:ext>
              </a:extLst>
            </p:cNvPr>
            <p:cNvSpPr>
              <a:spLocks noChangeArrowheads="1"/>
            </p:cNvSpPr>
            <p:nvPr/>
          </p:nvSpPr>
          <p:spPr bwMode="auto">
            <a:xfrm>
              <a:off x="1547" y="2793"/>
              <a:ext cx="497" cy="41"/>
            </a:xfrm>
            <a:prstGeom prst="rect">
              <a:avLst/>
            </a:prstGeom>
            <a:gradFill rotWithShape="0">
              <a:gsLst>
                <a:gs pos="0">
                  <a:schemeClr val="accent1">
                    <a:gamma/>
                    <a:shade val="66275"/>
                    <a:invGamma/>
                  </a:schemeClr>
                </a:gs>
                <a:gs pos="50000">
                  <a:schemeClr val="accent1"/>
                </a:gs>
                <a:gs pos="100000">
                  <a:schemeClr val="accent1">
                    <a:gamma/>
                    <a:shade val="66275"/>
                    <a:invGamma/>
                  </a:schemeClr>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3600" b="0" i="0" u="none" strike="noStrike" kern="1200" cap="none" spc="0" normalizeH="0" baseline="0" noProof="0">
                <a:ln>
                  <a:noFill/>
                </a:ln>
                <a:solidFill>
                  <a:schemeClr val="bg2"/>
                </a:solidFill>
                <a:effectLst/>
                <a:uLnTx/>
                <a:uFillTx/>
                <a:latin typeface="Bookman Old Style" panose="02050604050505020204" pitchFamily="18" charset="0"/>
                <a:ea typeface="宋体" panose="02010600030101010101" pitchFamily="2" charset="-122"/>
                <a:cs typeface="+mn-cs"/>
              </a:endParaRPr>
            </a:p>
          </p:txBody>
        </p:sp>
        <p:sp>
          <p:nvSpPr>
            <p:cNvPr id="12" name="Rectangle 11">
              <a:extLst>
                <a:ext uri="{FF2B5EF4-FFF2-40B4-BE49-F238E27FC236}">
                  <a16:creationId xmlns:a16="http://schemas.microsoft.com/office/drawing/2014/main" id="{39567D8D-4E23-2FEF-E245-1B89E08A0597}"/>
                </a:ext>
              </a:extLst>
            </p:cNvPr>
            <p:cNvSpPr/>
            <p:nvPr/>
          </p:nvSpPr>
          <p:spPr>
            <a:xfrm>
              <a:off x="2044" y="2590"/>
              <a:ext cx="356" cy="446"/>
            </a:xfrm>
            <a:prstGeom prst="rect">
              <a:avLst/>
            </a:prstGeom>
            <a:solidFill>
              <a:srgbClr val="99FFCC"/>
            </a:solidFill>
            <a:ln w="19050"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3" name="Rectangle 12">
              <a:extLst>
                <a:ext uri="{FF2B5EF4-FFF2-40B4-BE49-F238E27FC236}">
                  <a16:creationId xmlns:a16="http://schemas.microsoft.com/office/drawing/2014/main" id="{184D0117-7D15-FB9E-1077-5D30F12DF0A7}"/>
                </a:ext>
              </a:extLst>
            </p:cNvPr>
            <p:cNvSpPr/>
            <p:nvPr/>
          </p:nvSpPr>
          <p:spPr>
            <a:xfrm>
              <a:off x="1191" y="2590"/>
              <a:ext cx="356" cy="446"/>
            </a:xfrm>
            <a:prstGeom prst="rect">
              <a:avLst/>
            </a:prstGeom>
            <a:solidFill>
              <a:srgbClr val="99FFCC"/>
            </a:solidFill>
            <a:ln w="19050"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4" name="Rectangle 13">
              <a:extLst>
                <a:ext uri="{FF2B5EF4-FFF2-40B4-BE49-F238E27FC236}">
                  <a16:creationId xmlns:a16="http://schemas.microsoft.com/office/drawing/2014/main" id="{77726D46-CEFF-2AE3-E7A2-BF83607AA304}"/>
                </a:ext>
              </a:extLst>
            </p:cNvPr>
            <p:cNvSpPr>
              <a:spLocks noChangeArrowheads="1"/>
            </p:cNvSpPr>
            <p:nvPr/>
          </p:nvSpPr>
          <p:spPr bwMode="auto">
            <a:xfrm>
              <a:off x="1547" y="3482"/>
              <a:ext cx="497" cy="41"/>
            </a:xfrm>
            <a:prstGeom prst="rect">
              <a:avLst/>
            </a:prstGeom>
            <a:gradFill rotWithShape="0">
              <a:gsLst>
                <a:gs pos="0">
                  <a:schemeClr val="accent1">
                    <a:gamma/>
                    <a:shade val="66275"/>
                    <a:invGamma/>
                  </a:schemeClr>
                </a:gs>
                <a:gs pos="50000">
                  <a:schemeClr val="accent1"/>
                </a:gs>
                <a:gs pos="100000">
                  <a:schemeClr val="accent1">
                    <a:gamma/>
                    <a:shade val="66275"/>
                    <a:invGamma/>
                  </a:schemeClr>
                </a:gs>
              </a:gsLst>
              <a:lin ang="540000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3600" b="0" i="0" u="none" strike="noStrike" kern="1200" cap="none" spc="0" normalizeH="0" baseline="0" noProof="0">
                <a:ln>
                  <a:noFill/>
                </a:ln>
                <a:solidFill>
                  <a:schemeClr val="bg2"/>
                </a:solidFill>
                <a:effectLst/>
                <a:uLnTx/>
                <a:uFillTx/>
                <a:latin typeface="Bookman Old Style" panose="02050604050505020204" pitchFamily="18" charset="0"/>
                <a:ea typeface="宋体" panose="02010600030101010101" pitchFamily="2" charset="-122"/>
                <a:cs typeface="+mn-cs"/>
              </a:endParaRPr>
            </a:p>
          </p:txBody>
        </p:sp>
        <p:sp>
          <p:nvSpPr>
            <p:cNvPr id="15" name="Rectangle 14">
              <a:extLst>
                <a:ext uri="{FF2B5EF4-FFF2-40B4-BE49-F238E27FC236}">
                  <a16:creationId xmlns:a16="http://schemas.microsoft.com/office/drawing/2014/main" id="{D368834C-5139-E22C-80DB-27ACD0EC6FFD}"/>
                </a:ext>
              </a:extLst>
            </p:cNvPr>
            <p:cNvSpPr/>
            <p:nvPr/>
          </p:nvSpPr>
          <p:spPr>
            <a:xfrm>
              <a:off x="2044" y="3280"/>
              <a:ext cx="356" cy="446"/>
            </a:xfrm>
            <a:prstGeom prst="rect">
              <a:avLst/>
            </a:prstGeom>
            <a:solidFill>
              <a:srgbClr val="99FFCC"/>
            </a:solidFill>
            <a:ln w="19050"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6" name="Rectangle 15">
              <a:extLst>
                <a:ext uri="{FF2B5EF4-FFF2-40B4-BE49-F238E27FC236}">
                  <a16:creationId xmlns:a16="http://schemas.microsoft.com/office/drawing/2014/main" id="{DF907CC8-7404-C5C3-24B7-36C750655CDE}"/>
                </a:ext>
              </a:extLst>
            </p:cNvPr>
            <p:cNvSpPr/>
            <p:nvPr/>
          </p:nvSpPr>
          <p:spPr>
            <a:xfrm>
              <a:off x="1191" y="3280"/>
              <a:ext cx="356" cy="446"/>
            </a:xfrm>
            <a:prstGeom prst="rect">
              <a:avLst/>
            </a:prstGeom>
            <a:solidFill>
              <a:srgbClr val="99FFCC"/>
            </a:solidFill>
            <a:ln w="19050"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7" name="Oval 16">
              <a:extLst>
                <a:ext uri="{FF2B5EF4-FFF2-40B4-BE49-F238E27FC236}">
                  <a16:creationId xmlns:a16="http://schemas.microsoft.com/office/drawing/2014/main" id="{AA6AB936-7FC2-8FEE-7034-C14CA5A59B5C}"/>
                </a:ext>
              </a:extLst>
            </p:cNvPr>
            <p:cNvSpPr/>
            <p:nvPr/>
          </p:nvSpPr>
          <p:spPr>
            <a:xfrm>
              <a:off x="645" y="1860"/>
              <a:ext cx="195" cy="203"/>
            </a:xfrm>
            <a:prstGeom prst="ellipse">
              <a:avLst/>
            </a:prstGeom>
            <a:solidFill>
              <a:srgbClr val="FFD96D"/>
            </a:solidFill>
            <a:ln w="19050"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8" name="Line 17">
              <a:extLst>
                <a:ext uri="{FF2B5EF4-FFF2-40B4-BE49-F238E27FC236}">
                  <a16:creationId xmlns:a16="http://schemas.microsoft.com/office/drawing/2014/main" id="{F2B48CA3-B3B2-7591-A0A5-F20F4A6D60B7}"/>
                </a:ext>
              </a:extLst>
            </p:cNvPr>
            <p:cNvSpPr/>
            <p:nvPr/>
          </p:nvSpPr>
          <p:spPr>
            <a:xfrm flipH="1">
              <a:off x="723" y="1860"/>
              <a:ext cx="897" cy="0"/>
            </a:xfrm>
            <a:prstGeom prst="line">
              <a:avLst/>
            </a:prstGeom>
            <a:ln w="19050" cap="flat" cmpd="sng">
              <a:solidFill>
                <a:srgbClr val="0000FF"/>
              </a:solidFill>
              <a:prstDash val="solid"/>
              <a:headEnd type="none" w="med" len="med"/>
              <a:tailEnd type="none" w="med" len="med"/>
            </a:ln>
          </p:spPr>
        </p:sp>
        <p:sp>
          <p:nvSpPr>
            <p:cNvPr id="19" name="Line 18">
              <a:extLst>
                <a:ext uri="{FF2B5EF4-FFF2-40B4-BE49-F238E27FC236}">
                  <a16:creationId xmlns:a16="http://schemas.microsoft.com/office/drawing/2014/main" id="{0750DEBE-3FD0-9A9D-147B-FD852B50EB45}"/>
                </a:ext>
              </a:extLst>
            </p:cNvPr>
            <p:cNvSpPr/>
            <p:nvPr/>
          </p:nvSpPr>
          <p:spPr>
            <a:xfrm>
              <a:off x="645" y="1942"/>
              <a:ext cx="0" cy="729"/>
            </a:xfrm>
            <a:prstGeom prst="line">
              <a:avLst/>
            </a:prstGeom>
            <a:ln w="19050" cap="flat" cmpd="sng">
              <a:solidFill>
                <a:srgbClr val="0000FF"/>
              </a:solidFill>
              <a:prstDash val="solid"/>
              <a:headEnd type="none" w="med" len="med"/>
              <a:tailEnd type="none" w="med" len="med"/>
            </a:ln>
          </p:spPr>
        </p:sp>
        <p:sp>
          <p:nvSpPr>
            <p:cNvPr id="20" name="Rectangle 19" descr="绿色大理石">
              <a:extLst>
                <a:ext uri="{FF2B5EF4-FFF2-40B4-BE49-F238E27FC236}">
                  <a16:creationId xmlns:a16="http://schemas.microsoft.com/office/drawing/2014/main" id="{9EDE19C9-BE2C-61C3-BE18-4053C5306019}"/>
                </a:ext>
              </a:extLst>
            </p:cNvPr>
            <p:cNvSpPr/>
            <p:nvPr/>
          </p:nvSpPr>
          <p:spPr>
            <a:xfrm>
              <a:off x="528" y="2671"/>
              <a:ext cx="273" cy="365"/>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1" name="Oval 20">
              <a:extLst>
                <a:ext uri="{FF2B5EF4-FFF2-40B4-BE49-F238E27FC236}">
                  <a16:creationId xmlns:a16="http://schemas.microsoft.com/office/drawing/2014/main" id="{30137085-948A-8D02-6CBB-661CA4ABE611}"/>
                </a:ext>
              </a:extLst>
            </p:cNvPr>
            <p:cNvSpPr/>
            <p:nvPr/>
          </p:nvSpPr>
          <p:spPr>
            <a:xfrm>
              <a:off x="2712" y="2087"/>
              <a:ext cx="195" cy="203"/>
            </a:xfrm>
            <a:prstGeom prst="ellipse">
              <a:avLst/>
            </a:prstGeom>
            <a:solidFill>
              <a:srgbClr val="FFD96D"/>
            </a:solidFill>
            <a:ln w="19050"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2" name="Line 21">
              <a:extLst>
                <a:ext uri="{FF2B5EF4-FFF2-40B4-BE49-F238E27FC236}">
                  <a16:creationId xmlns:a16="http://schemas.microsoft.com/office/drawing/2014/main" id="{C530F27D-D2A0-72A5-67E8-E459F1C6A509}"/>
                </a:ext>
              </a:extLst>
            </p:cNvPr>
            <p:cNvSpPr/>
            <p:nvPr/>
          </p:nvSpPr>
          <p:spPr>
            <a:xfrm>
              <a:off x="2907" y="2144"/>
              <a:ext cx="0" cy="730"/>
            </a:xfrm>
            <a:prstGeom prst="line">
              <a:avLst/>
            </a:prstGeom>
            <a:ln w="19050" cap="flat" cmpd="sng">
              <a:solidFill>
                <a:srgbClr val="0000FF"/>
              </a:solidFill>
              <a:prstDash val="solid"/>
              <a:headEnd type="none" w="med" len="med"/>
              <a:tailEnd type="none" w="med" len="med"/>
            </a:ln>
          </p:spPr>
        </p:sp>
        <p:sp>
          <p:nvSpPr>
            <p:cNvPr id="23" name="Rectangle 22" descr="绿色大理石">
              <a:extLst>
                <a:ext uri="{FF2B5EF4-FFF2-40B4-BE49-F238E27FC236}">
                  <a16:creationId xmlns:a16="http://schemas.microsoft.com/office/drawing/2014/main" id="{875EAAD0-AE00-A06E-DB9E-9E9FEB932555}"/>
                </a:ext>
              </a:extLst>
            </p:cNvPr>
            <p:cNvSpPr/>
            <p:nvPr/>
          </p:nvSpPr>
          <p:spPr>
            <a:xfrm>
              <a:off x="2751" y="2736"/>
              <a:ext cx="273" cy="365"/>
            </a:xfrm>
            <a:prstGeom prst="rect">
              <a:avLst/>
            </a:prstGeom>
            <a:blipFill rotWithShape="0">
              <a:blip r:embed="rId2"/>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4" name="Line 23">
              <a:extLst>
                <a:ext uri="{FF2B5EF4-FFF2-40B4-BE49-F238E27FC236}">
                  <a16:creationId xmlns:a16="http://schemas.microsoft.com/office/drawing/2014/main" id="{80049700-64D6-84E4-DCC3-3C1DC6AD2FB7}"/>
                </a:ext>
              </a:extLst>
            </p:cNvPr>
            <p:cNvSpPr/>
            <p:nvPr/>
          </p:nvSpPr>
          <p:spPr>
            <a:xfrm flipH="1">
              <a:off x="1893" y="2087"/>
              <a:ext cx="897" cy="0"/>
            </a:xfrm>
            <a:prstGeom prst="line">
              <a:avLst/>
            </a:prstGeom>
            <a:ln w="19050" cap="flat" cmpd="sng">
              <a:solidFill>
                <a:srgbClr val="0000FF"/>
              </a:solidFill>
              <a:prstDash val="solid"/>
              <a:headEnd type="none" w="med" len="med"/>
              <a:tailEnd type="none" w="med" len="med"/>
            </a:ln>
          </p:spPr>
        </p:sp>
        <p:sp>
          <p:nvSpPr>
            <p:cNvPr id="25" name="Rectangle 24" descr="深色下对角线">
              <a:extLst>
                <a:ext uri="{FF2B5EF4-FFF2-40B4-BE49-F238E27FC236}">
                  <a16:creationId xmlns:a16="http://schemas.microsoft.com/office/drawing/2014/main" id="{23D7D630-B68F-4D96-9A47-AE8A6EEE533E}"/>
                </a:ext>
              </a:extLst>
            </p:cNvPr>
            <p:cNvSpPr/>
            <p:nvPr/>
          </p:nvSpPr>
          <p:spPr>
            <a:xfrm>
              <a:off x="1620" y="3604"/>
              <a:ext cx="78" cy="203"/>
            </a:xfrm>
            <a:prstGeom prst="rect">
              <a:avLst/>
            </a:prstGeom>
            <a:pattFill prst="dkDnDiag">
              <a:fgClr>
                <a:schemeClr val="tx1"/>
              </a:fgClr>
              <a:bgClr>
                <a:srgbClr val="EB8547"/>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6" name="Rectangle 25" descr="深色下对角线">
              <a:extLst>
                <a:ext uri="{FF2B5EF4-FFF2-40B4-BE49-F238E27FC236}">
                  <a16:creationId xmlns:a16="http://schemas.microsoft.com/office/drawing/2014/main" id="{1F4E6FC4-8FCC-7F6C-9A79-2FBFD9603BF2}"/>
                </a:ext>
              </a:extLst>
            </p:cNvPr>
            <p:cNvSpPr/>
            <p:nvPr/>
          </p:nvSpPr>
          <p:spPr>
            <a:xfrm>
              <a:off x="1854" y="3604"/>
              <a:ext cx="78" cy="203"/>
            </a:xfrm>
            <a:prstGeom prst="rect">
              <a:avLst/>
            </a:prstGeom>
            <a:pattFill prst="dkDnDiag">
              <a:fgClr>
                <a:schemeClr val="tx1"/>
              </a:fgClr>
              <a:bgClr>
                <a:srgbClr val="EB8547"/>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7" name="Rectangle 26" descr="深色下对角线">
              <a:extLst>
                <a:ext uri="{FF2B5EF4-FFF2-40B4-BE49-F238E27FC236}">
                  <a16:creationId xmlns:a16="http://schemas.microsoft.com/office/drawing/2014/main" id="{C9043499-2064-5D81-6F7E-ECAAB8A5C2B1}"/>
                </a:ext>
              </a:extLst>
            </p:cNvPr>
            <p:cNvSpPr/>
            <p:nvPr/>
          </p:nvSpPr>
          <p:spPr>
            <a:xfrm>
              <a:off x="1620" y="2509"/>
              <a:ext cx="78" cy="203"/>
            </a:xfrm>
            <a:prstGeom prst="rect">
              <a:avLst/>
            </a:prstGeom>
            <a:pattFill prst="dkDnDiag">
              <a:fgClr>
                <a:schemeClr val="tx1"/>
              </a:fgClr>
              <a:bgClr>
                <a:srgbClr val="EB8547"/>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8" name="Rectangle 27" descr="深色下对角线">
              <a:extLst>
                <a:ext uri="{FF2B5EF4-FFF2-40B4-BE49-F238E27FC236}">
                  <a16:creationId xmlns:a16="http://schemas.microsoft.com/office/drawing/2014/main" id="{B1B610FD-73E6-A254-27EF-33638AB4A07E}"/>
                </a:ext>
              </a:extLst>
            </p:cNvPr>
            <p:cNvSpPr/>
            <p:nvPr/>
          </p:nvSpPr>
          <p:spPr>
            <a:xfrm>
              <a:off x="1854" y="2509"/>
              <a:ext cx="78" cy="203"/>
            </a:xfrm>
            <a:prstGeom prst="rect">
              <a:avLst/>
            </a:prstGeom>
            <a:pattFill prst="dkDnDiag">
              <a:fgClr>
                <a:schemeClr val="tx1"/>
              </a:fgClr>
              <a:bgClr>
                <a:srgbClr val="EB8547"/>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9" name="Rectangle 28" descr="小纸屑">
              <a:extLst>
                <a:ext uri="{FF2B5EF4-FFF2-40B4-BE49-F238E27FC236}">
                  <a16:creationId xmlns:a16="http://schemas.microsoft.com/office/drawing/2014/main" id="{737B3D01-6E0D-C9BE-C294-285811ADFD21}"/>
                </a:ext>
              </a:extLst>
            </p:cNvPr>
            <p:cNvSpPr/>
            <p:nvPr/>
          </p:nvSpPr>
          <p:spPr>
            <a:xfrm>
              <a:off x="1620" y="3077"/>
              <a:ext cx="273" cy="162"/>
            </a:xfrm>
            <a:prstGeom prst="rect">
              <a:avLst/>
            </a:prstGeom>
            <a:pattFill prst="smConfetti">
              <a:fgClr>
                <a:schemeClr val="tx1"/>
              </a:fgClr>
              <a:bgClr>
                <a:srgbClr val="FFFFFF"/>
              </a:bgClr>
            </a:pattFill>
            <a:ln w="9525">
              <a:noFill/>
            </a:ln>
          </p:spPr>
          <p:txBody>
            <a:bodyPr wrap="none" anchor="ctr" anchorCtr="0"/>
            <a:lstStyle/>
            <a:p>
              <a:endParaRPr lang="zh-CN" altLang="en-US" dirty="0">
                <a:latin typeface="Bookman Old Style" panose="02050604050505020204" pitchFamily="18" charset="0"/>
              </a:endParaRPr>
            </a:p>
          </p:txBody>
        </p:sp>
        <p:sp>
          <p:nvSpPr>
            <p:cNvPr id="30" name="Rectangle 29">
              <a:extLst>
                <a:ext uri="{FF2B5EF4-FFF2-40B4-BE49-F238E27FC236}">
                  <a16:creationId xmlns:a16="http://schemas.microsoft.com/office/drawing/2014/main" id="{F6D1B3AD-742E-5A70-5A27-96383F381BB6}"/>
                </a:ext>
              </a:extLst>
            </p:cNvPr>
            <p:cNvSpPr>
              <a:spLocks noChangeArrowheads="1"/>
            </p:cNvSpPr>
            <p:nvPr/>
          </p:nvSpPr>
          <p:spPr bwMode="auto">
            <a:xfrm>
              <a:off x="1737" y="1658"/>
              <a:ext cx="78" cy="2149"/>
            </a:xfrm>
            <a:prstGeom prst="rect">
              <a:avLst/>
            </a:prstGeom>
            <a:gradFill rotWithShape="0">
              <a:gsLst>
                <a:gs pos="0">
                  <a:schemeClr val="accent1">
                    <a:gamma/>
                    <a:shade val="56078"/>
                    <a:invGamma/>
                  </a:schemeClr>
                </a:gs>
                <a:gs pos="50000">
                  <a:schemeClr val="accent1"/>
                </a:gs>
                <a:gs pos="100000">
                  <a:schemeClr val="accent1">
                    <a:gamma/>
                    <a:shade val="56078"/>
                    <a:invGamma/>
                  </a:schemeClr>
                </a:gs>
              </a:gsLst>
              <a:lin ang="0" scaled="1"/>
            </a:gradFill>
            <a:ln w="9525">
              <a:solidFill>
                <a:schemeClr val="tx1"/>
              </a:solidFill>
              <a:miter lim="800000"/>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3600" b="0" i="0" u="none" strike="noStrike" kern="1200" cap="none" spc="0" normalizeH="0" baseline="0" noProof="0">
                <a:ln>
                  <a:noFill/>
                </a:ln>
                <a:solidFill>
                  <a:schemeClr val="bg2"/>
                </a:solidFill>
                <a:effectLst/>
                <a:uLnTx/>
                <a:uFillTx/>
                <a:latin typeface="Bookman Old Style" panose="02050604050505020204" pitchFamily="18" charset="0"/>
                <a:ea typeface="宋体" panose="02010600030101010101" pitchFamily="2" charset="-122"/>
                <a:cs typeface="+mn-cs"/>
              </a:endParaRPr>
            </a:p>
          </p:txBody>
        </p:sp>
        <p:sp>
          <p:nvSpPr>
            <p:cNvPr id="31" name="Rectangle 30" descr="深色下对角线">
              <a:extLst>
                <a:ext uri="{FF2B5EF4-FFF2-40B4-BE49-F238E27FC236}">
                  <a16:creationId xmlns:a16="http://schemas.microsoft.com/office/drawing/2014/main" id="{14E3B5FA-477D-B39C-C601-E976231A2848}"/>
                </a:ext>
              </a:extLst>
            </p:cNvPr>
            <p:cNvSpPr/>
            <p:nvPr/>
          </p:nvSpPr>
          <p:spPr>
            <a:xfrm>
              <a:off x="1854" y="2996"/>
              <a:ext cx="78" cy="324"/>
            </a:xfrm>
            <a:prstGeom prst="rect">
              <a:avLst/>
            </a:prstGeom>
            <a:pattFill prst="dkDnDiag">
              <a:fgClr>
                <a:schemeClr val="tx1"/>
              </a:fgClr>
              <a:bgClr>
                <a:srgbClr val="EB8547"/>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32" name="Rectangle 31" descr="深色下对角线">
              <a:extLst>
                <a:ext uri="{FF2B5EF4-FFF2-40B4-BE49-F238E27FC236}">
                  <a16:creationId xmlns:a16="http://schemas.microsoft.com/office/drawing/2014/main" id="{CC5082B4-B4A1-96ED-0FC0-4DDBBB7A45F8}"/>
                </a:ext>
              </a:extLst>
            </p:cNvPr>
            <p:cNvSpPr/>
            <p:nvPr/>
          </p:nvSpPr>
          <p:spPr>
            <a:xfrm>
              <a:off x="1620" y="2996"/>
              <a:ext cx="78" cy="324"/>
            </a:xfrm>
            <a:prstGeom prst="rect">
              <a:avLst/>
            </a:prstGeom>
            <a:pattFill prst="dkDnDiag">
              <a:fgClr>
                <a:schemeClr val="tx1"/>
              </a:fgClr>
              <a:bgClr>
                <a:srgbClr val="EB8547"/>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33" name="Rectangle 32">
              <a:extLst>
                <a:ext uri="{FF2B5EF4-FFF2-40B4-BE49-F238E27FC236}">
                  <a16:creationId xmlns:a16="http://schemas.microsoft.com/office/drawing/2014/main" id="{B0E6D670-8AF8-47F9-D669-C3506D3A9CDC}"/>
                </a:ext>
              </a:extLst>
            </p:cNvPr>
            <p:cNvSpPr/>
            <p:nvPr/>
          </p:nvSpPr>
          <p:spPr>
            <a:xfrm>
              <a:off x="1620" y="1820"/>
              <a:ext cx="312" cy="405"/>
            </a:xfrm>
            <a:prstGeom prst="rect">
              <a:avLst/>
            </a:prstGeom>
            <a:gradFill rotWithShape="0">
              <a:gsLst>
                <a:gs pos="0">
                  <a:srgbClr val="8F8F39"/>
                </a:gs>
                <a:gs pos="50000">
                  <a:srgbClr val="FFFF66"/>
                </a:gs>
                <a:gs pos="100000">
                  <a:srgbClr val="8F8F39"/>
                </a:gs>
              </a:gsLst>
              <a:lin ang="0" scaled="1"/>
              <a:tileRect/>
            </a:gradFill>
            <a:ln w="12700"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34" name="Line 33">
              <a:extLst>
                <a:ext uri="{FF2B5EF4-FFF2-40B4-BE49-F238E27FC236}">
                  <a16:creationId xmlns:a16="http://schemas.microsoft.com/office/drawing/2014/main" id="{36C7F5EC-BF89-0887-4CA0-03D2ACCE588E}"/>
                </a:ext>
              </a:extLst>
            </p:cNvPr>
            <p:cNvSpPr/>
            <p:nvPr/>
          </p:nvSpPr>
          <p:spPr>
            <a:xfrm flipV="1">
              <a:off x="1620" y="1861"/>
              <a:ext cx="312" cy="40"/>
            </a:xfrm>
            <a:prstGeom prst="line">
              <a:avLst/>
            </a:prstGeom>
            <a:ln w="19050" cap="flat" cmpd="sng">
              <a:solidFill>
                <a:srgbClr val="0000FF"/>
              </a:solidFill>
              <a:prstDash val="solid"/>
              <a:headEnd type="none" w="med" len="med"/>
              <a:tailEnd type="none" w="med" len="med"/>
            </a:ln>
          </p:spPr>
        </p:sp>
        <p:sp>
          <p:nvSpPr>
            <p:cNvPr id="35" name="Line 34">
              <a:extLst>
                <a:ext uri="{FF2B5EF4-FFF2-40B4-BE49-F238E27FC236}">
                  <a16:creationId xmlns:a16="http://schemas.microsoft.com/office/drawing/2014/main" id="{776C5624-F36E-6991-9BFE-5CB76522A637}"/>
                </a:ext>
              </a:extLst>
            </p:cNvPr>
            <p:cNvSpPr/>
            <p:nvPr/>
          </p:nvSpPr>
          <p:spPr>
            <a:xfrm flipV="1">
              <a:off x="1620" y="1901"/>
              <a:ext cx="312" cy="41"/>
            </a:xfrm>
            <a:prstGeom prst="line">
              <a:avLst/>
            </a:prstGeom>
            <a:ln w="19050" cap="flat" cmpd="sng">
              <a:solidFill>
                <a:srgbClr val="0000FF"/>
              </a:solidFill>
              <a:prstDash val="solid"/>
              <a:headEnd type="none" w="med" len="med"/>
              <a:tailEnd type="none" w="med" len="med"/>
            </a:ln>
          </p:spPr>
        </p:sp>
        <p:sp>
          <p:nvSpPr>
            <p:cNvPr id="36" name="Line 35">
              <a:extLst>
                <a:ext uri="{FF2B5EF4-FFF2-40B4-BE49-F238E27FC236}">
                  <a16:creationId xmlns:a16="http://schemas.microsoft.com/office/drawing/2014/main" id="{511A435B-1566-142F-1861-AE0C1DB8D3D9}"/>
                </a:ext>
              </a:extLst>
            </p:cNvPr>
            <p:cNvSpPr/>
            <p:nvPr/>
          </p:nvSpPr>
          <p:spPr>
            <a:xfrm flipV="1">
              <a:off x="1620" y="1942"/>
              <a:ext cx="312" cy="40"/>
            </a:xfrm>
            <a:prstGeom prst="line">
              <a:avLst/>
            </a:prstGeom>
            <a:ln w="19050" cap="flat" cmpd="sng">
              <a:solidFill>
                <a:srgbClr val="0000FF"/>
              </a:solidFill>
              <a:prstDash val="solid"/>
              <a:headEnd type="none" w="med" len="med"/>
              <a:tailEnd type="none" w="med" len="med"/>
            </a:ln>
          </p:spPr>
        </p:sp>
        <p:sp>
          <p:nvSpPr>
            <p:cNvPr id="37" name="Line 36">
              <a:extLst>
                <a:ext uri="{FF2B5EF4-FFF2-40B4-BE49-F238E27FC236}">
                  <a16:creationId xmlns:a16="http://schemas.microsoft.com/office/drawing/2014/main" id="{BD5B02F5-6CB8-860C-C2DF-7769F01E5A99}"/>
                </a:ext>
              </a:extLst>
            </p:cNvPr>
            <p:cNvSpPr/>
            <p:nvPr/>
          </p:nvSpPr>
          <p:spPr>
            <a:xfrm flipV="1">
              <a:off x="1620" y="2144"/>
              <a:ext cx="312" cy="41"/>
            </a:xfrm>
            <a:prstGeom prst="line">
              <a:avLst/>
            </a:prstGeom>
            <a:ln w="19050" cap="flat" cmpd="sng">
              <a:solidFill>
                <a:srgbClr val="0000FF"/>
              </a:solidFill>
              <a:prstDash val="solid"/>
              <a:headEnd type="none" w="med" len="med"/>
              <a:tailEnd type="none" w="med" len="med"/>
            </a:ln>
          </p:spPr>
        </p:sp>
        <p:sp>
          <p:nvSpPr>
            <p:cNvPr id="38" name="Line 37">
              <a:extLst>
                <a:ext uri="{FF2B5EF4-FFF2-40B4-BE49-F238E27FC236}">
                  <a16:creationId xmlns:a16="http://schemas.microsoft.com/office/drawing/2014/main" id="{E7E54442-3512-037C-8174-87A9D5CA8B91}"/>
                </a:ext>
              </a:extLst>
            </p:cNvPr>
            <p:cNvSpPr/>
            <p:nvPr/>
          </p:nvSpPr>
          <p:spPr>
            <a:xfrm flipV="1">
              <a:off x="1620" y="2104"/>
              <a:ext cx="312" cy="40"/>
            </a:xfrm>
            <a:prstGeom prst="line">
              <a:avLst/>
            </a:prstGeom>
            <a:ln w="19050" cap="flat" cmpd="sng">
              <a:solidFill>
                <a:srgbClr val="0000FF"/>
              </a:solidFill>
              <a:prstDash val="solid"/>
              <a:headEnd type="none" w="med" len="med"/>
              <a:tailEnd type="none" w="med" len="med"/>
            </a:ln>
          </p:spPr>
        </p:sp>
        <p:sp>
          <p:nvSpPr>
            <p:cNvPr id="39" name="Line 38">
              <a:extLst>
                <a:ext uri="{FF2B5EF4-FFF2-40B4-BE49-F238E27FC236}">
                  <a16:creationId xmlns:a16="http://schemas.microsoft.com/office/drawing/2014/main" id="{78998B62-DF9B-5BFE-E626-2E3F31FACE83}"/>
                </a:ext>
              </a:extLst>
            </p:cNvPr>
            <p:cNvSpPr/>
            <p:nvPr/>
          </p:nvSpPr>
          <p:spPr>
            <a:xfrm flipV="1">
              <a:off x="1620" y="2063"/>
              <a:ext cx="312" cy="41"/>
            </a:xfrm>
            <a:prstGeom prst="line">
              <a:avLst/>
            </a:prstGeom>
            <a:ln w="19050" cap="flat" cmpd="sng">
              <a:solidFill>
                <a:srgbClr val="0000FF"/>
              </a:solidFill>
              <a:prstDash val="solid"/>
              <a:headEnd type="none" w="med" len="med"/>
              <a:tailEnd type="none" w="med" len="med"/>
            </a:ln>
          </p:spPr>
        </p:sp>
        <p:sp>
          <p:nvSpPr>
            <p:cNvPr id="40" name="Rectangle 39">
              <a:extLst>
                <a:ext uri="{FF2B5EF4-FFF2-40B4-BE49-F238E27FC236}">
                  <a16:creationId xmlns:a16="http://schemas.microsoft.com/office/drawing/2014/main" id="{E658D663-81D0-2860-CFCA-2F207F0AB997}"/>
                </a:ext>
              </a:extLst>
            </p:cNvPr>
            <p:cNvSpPr/>
            <p:nvPr/>
          </p:nvSpPr>
          <p:spPr>
            <a:xfrm>
              <a:off x="1620" y="1536"/>
              <a:ext cx="312" cy="122"/>
            </a:xfrm>
            <a:prstGeom prst="rect">
              <a:avLst/>
            </a:prstGeom>
            <a:gradFill rotWithShape="0">
              <a:gsLst>
                <a:gs pos="0">
                  <a:srgbClr val="766432"/>
                </a:gs>
                <a:gs pos="50000">
                  <a:srgbClr val="FFD96D"/>
                </a:gs>
                <a:gs pos="100000">
                  <a:srgbClr val="766432"/>
                </a:gs>
              </a:gsLst>
              <a:lin ang="0" scaled="1"/>
              <a:tileRect/>
            </a:gra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sp>
        <p:nvSpPr>
          <p:cNvPr id="41" name="文本框 40">
            <a:extLst>
              <a:ext uri="{FF2B5EF4-FFF2-40B4-BE49-F238E27FC236}">
                <a16:creationId xmlns:a16="http://schemas.microsoft.com/office/drawing/2014/main" id="{CF20C9CF-F330-72E0-7F86-CDADE8748C74}"/>
              </a:ext>
            </a:extLst>
          </p:cNvPr>
          <p:cNvSpPr txBox="1"/>
          <p:nvPr/>
        </p:nvSpPr>
        <p:spPr>
          <a:xfrm>
            <a:off x="2821660" y="5831793"/>
            <a:ext cx="7495696" cy="584775"/>
          </a:xfrm>
          <a:prstGeom prst="rect">
            <a:avLst/>
          </a:prstGeom>
          <a:noFill/>
        </p:spPr>
        <p:txBody>
          <a:bodyPr wrap="square">
            <a:spAutoFit/>
          </a:bodyPr>
          <a:lstStyle/>
          <a:p>
            <a:r>
              <a:rPr lang="zh-CN" altLang="en-US" sz="3200" b="1" dirty="0">
                <a:solidFill>
                  <a:srgbClr val="FF0000"/>
                </a:solidFill>
                <a:latin typeface="Times New Roman" panose="02020603050405020304" pitchFamily="18" charset="0"/>
              </a:rPr>
              <a:t>热自动转化成功的过程不可能发生</a:t>
            </a:r>
            <a:endParaRPr lang="zh-CN" altLang="en-US" sz="3200" b="1" i="0" dirty="0">
              <a:solidFill>
                <a:srgbClr val="FF0000"/>
              </a:solidFill>
              <a:effectLst/>
              <a:latin typeface="Helvetica Neue"/>
            </a:endParaRPr>
          </a:p>
        </p:txBody>
      </p:sp>
      <p:sp>
        <p:nvSpPr>
          <p:cNvPr id="45" name="Rectangle 2">
            <a:extLst>
              <a:ext uri="{FF2B5EF4-FFF2-40B4-BE49-F238E27FC236}">
                <a16:creationId xmlns:a16="http://schemas.microsoft.com/office/drawing/2014/main" id="{666EAE1A-1E27-00CC-73A0-C635DD2E6C0A}"/>
              </a:ext>
            </a:extLst>
          </p:cNvPr>
          <p:cNvSpPr>
            <a:spLocks noChangeArrowheads="1"/>
          </p:cNvSpPr>
          <p:nvPr/>
        </p:nvSpPr>
        <p:spPr bwMode="auto">
          <a:xfrm>
            <a:off x="885032" y="785162"/>
            <a:ext cx="10421935" cy="650500"/>
          </a:xfrm>
          <a:prstGeom prst="rect">
            <a:avLst/>
          </a:prstGeom>
          <a:noFill/>
          <a:ln>
            <a:noFill/>
          </a:ln>
          <a:effectLst/>
          <a:extLst>
            <a:ext uri="{909E8E84-426E-40DD-AFC4-6F175D3DCCD1}">
              <a14:hiddenFill xmlns:a14="http://schemas.microsoft.com/office/drawing/2010/main">
                <a:solidFill>
                  <a:srgbClr val="FF7C8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2700000" algn="ctr" rotWithShape="0">
                    <a:schemeClr val="bg2"/>
                  </a:outerShdw>
                </a:effectLst>
              </a14:hiddenEffects>
            </a:ext>
          </a:extLst>
        </p:spPr>
        <p:txBody>
          <a:bodyPr wrap="square" lIns="92075" tIns="46038" rIns="92075" bIns="46038">
            <a:spAutoFit/>
          </a:bodyPr>
          <a:lstStyle>
            <a:lvl1pPr defTabSz="762000">
              <a:defRPr kumimoji="1" sz="2400">
                <a:solidFill>
                  <a:schemeClr val="tx1"/>
                </a:solidFill>
                <a:latin typeface="仿宋_GB2312" pitchFamily="49" charset="-122"/>
                <a:ea typeface="宋体" panose="02010600030101010101" pitchFamily="2" charset="-122"/>
              </a:defRPr>
            </a:lvl1pPr>
            <a:lvl2pPr marL="663575" defTabSz="762000">
              <a:defRPr kumimoji="1" sz="2400">
                <a:solidFill>
                  <a:schemeClr val="tx1"/>
                </a:solidFill>
                <a:latin typeface="仿宋_GB2312" pitchFamily="49" charset="-122"/>
                <a:ea typeface="宋体" panose="02010600030101010101" pitchFamily="2" charset="-122"/>
              </a:defRPr>
            </a:lvl2pPr>
            <a:lvl3pPr marL="1143000" defTabSz="762000">
              <a:defRPr kumimoji="1" sz="2400">
                <a:solidFill>
                  <a:schemeClr val="tx1"/>
                </a:solidFill>
                <a:latin typeface="仿宋_GB2312" pitchFamily="49" charset="-122"/>
                <a:ea typeface="宋体" panose="02010600030101010101" pitchFamily="2" charset="-122"/>
              </a:defRPr>
            </a:lvl3pPr>
            <a:lvl4pPr marL="1714500" defTabSz="762000">
              <a:defRPr kumimoji="1" sz="2400">
                <a:solidFill>
                  <a:schemeClr val="tx1"/>
                </a:solidFill>
                <a:latin typeface="仿宋_GB2312" pitchFamily="49" charset="-122"/>
                <a:ea typeface="宋体" panose="02010600030101010101" pitchFamily="2" charset="-122"/>
              </a:defRPr>
            </a:lvl4pPr>
            <a:lvl5pPr marL="2286000" defTabSz="762000">
              <a:defRPr kumimoji="1" sz="2400">
                <a:solidFill>
                  <a:schemeClr val="tx1"/>
                </a:solidFill>
                <a:latin typeface="仿宋_GB2312" pitchFamily="49" charset="-122"/>
                <a:ea typeface="宋体" panose="02010600030101010101" pitchFamily="2" charset="-122"/>
              </a:defRPr>
            </a:lvl5pPr>
            <a:lvl6pPr marL="27432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6pPr>
            <a:lvl7pPr marL="32004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7pPr>
            <a:lvl8pPr marL="36576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8pPr>
            <a:lvl9pPr marL="4114800" defTabSz="762000" fontAlgn="base">
              <a:spcBef>
                <a:spcPct val="0"/>
              </a:spcBef>
              <a:spcAft>
                <a:spcPct val="0"/>
              </a:spcAft>
              <a:defRPr kumimoji="1" sz="2400">
                <a:solidFill>
                  <a:schemeClr val="tx1"/>
                </a:solidFill>
                <a:latin typeface="仿宋_GB2312" pitchFamily="49" charset="-122"/>
                <a:ea typeface="宋体" panose="02010600030101010101" pitchFamily="2" charset="-122"/>
              </a:defRPr>
            </a:lvl9pPr>
          </a:lstStyle>
          <a:p>
            <a:pPr algn="just">
              <a:lnSpc>
                <a:spcPct val="120000"/>
              </a:lnSpc>
              <a:spcBef>
                <a:spcPct val="50000"/>
              </a:spcBef>
              <a:buFont typeface="Monotype Sorts" pitchFamily="2" charset="2"/>
              <a:buNone/>
            </a:pPr>
            <a:r>
              <a:rPr lang="zh-CN" altLang="en-US" sz="3200" dirty="0">
                <a:latin typeface="华文楷体" panose="02010600040101010101" pitchFamily="2" charset="-122"/>
                <a:ea typeface="华文楷体" panose="02010600040101010101" pitchFamily="2" charset="-122"/>
              </a:rPr>
              <a:t>在热力学过程中，满足能量守恒的过程是否一定都能实现？</a:t>
            </a:r>
          </a:p>
        </p:txBody>
      </p:sp>
    </p:spTree>
    <p:extLst>
      <p:ext uri="{BB962C8B-B14F-4D97-AF65-F5344CB8AC3E}">
        <p14:creationId xmlns:p14="http://schemas.microsoft.com/office/powerpoint/2010/main" val="2240728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5" grpId="0" build="p" autoUpdateAnimBg="0" advAuto="0"/>
      <p:bldP spid="45"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9">
            <a:extLst>
              <a:ext uri="{FF2B5EF4-FFF2-40B4-BE49-F238E27FC236}">
                <a16:creationId xmlns:a16="http://schemas.microsoft.com/office/drawing/2014/main" id="{F089FC52-BC5A-DDC0-5D29-3112CA7E74FF}"/>
              </a:ext>
            </a:extLst>
          </p:cNvPr>
          <p:cNvGrpSpPr/>
          <p:nvPr/>
        </p:nvGrpSpPr>
        <p:grpSpPr>
          <a:xfrm>
            <a:off x="5071110" y="1083751"/>
            <a:ext cx="3048000" cy="1654175"/>
            <a:chOff x="2592" y="864"/>
            <a:chExt cx="1920" cy="1042"/>
          </a:xfrm>
        </p:grpSpPr>
        <mc:AlternateContent xmlns:mc="http://schemas.openxmlformats.org/markup-compatibility/2006" xmlns:a14="http://schemas.microsoft.com/office/drawing/2010/main">
          <mc:Choice Requires="a14">
            <p:sp>
              <p:nvSpPr>
                <p:cNvPr id="4" name="Object 10">
                  <a:extLst>
                    <a:ext uri="{FF2B5EF4-FFF2-40B4-BE49-F238E27FC236}">
                      <a16:creationId xmlns:a16="http://schemas.microsoft.com/office/drawing/2014/main" id="{E169645C-5779-1081-8E6A-9900E91CB2C3}"/>
                    </a:ext>
                  </a:extLst>
                </p:cNvPr>
                <p:cNvSpPr txBox="1"/>
                <p:nvPr/>
              </p:nvSpPr>
              <p:spPr>
                <a:xfrm>
                  <a:off x="3067" y="1576"/>
                  <a:ext cx="1445" cy="330"/>
                </a:xfrm>
                <a:prstGeom prst="rect">
                  <a:avLst/>
                </a:prstGeom>
                <a:noFill/>
                <a:ln w="38100">
                  <a:noFill/>
                  <a:miter/>
                </a:ln>
              </p:spPr>
              <p:txBody>
                <a:bodyPr>
                  <a:normAutofit fontScale="92500"/>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𝑝</m:t>
                            </m:r>
                          </m:e>
                          <m:sub>
                            <m:r>
                              <a:rPr lang="en-US" sz="2600" b="0" i="1">
                                <a:solidFill>
                                  <a:srgbClr val="000000"/>
                                </a:solidFill>
                                <a:latin typeface="Cambria Math" panose="02040503050406030204" pitchFamily="18" charset="0"/>
                              </a:rPr>
                              <m:t>2</m:t>
                            </m:r>
                          </m:sub>
                        </m:sSub>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𝑉</m:t>
                            </m:r>
                          </m:e>
                          <m:sub>
                            <m:r>
                              <a:rPr lang="en-US" sz="2600" b="0" i="1">
                                <a:solidFill>
                                  <a:srgbClr val="000000"/>
                                </a:solidFill>
                                <a:latin typeface="Cambria Math" panose="02040503050406030204" pitchFamily="18" charset="0"/>
                              </a:rPr>
                              <m:t>2</m:t>
                            </m:r>
                          </m:sub>
                        </m:sSub>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𝑇</m:t>
                            </m:r>
                          </m:e>
                          <m:sub>
                            <m:r>
                              <a:rPr lang="en-US" sz="2600" b="0" i="1">
                                <a:solidFill>
                                  <a:srgbClr val="000000"/>
                                </a:solidFill>
                                <a:latin typeface="Cambria Math" panose="02040503050406030204" pitchFamily="18" charset="0"/>
                              </a:rPr>
                              <m:t>2</m:t>
                            </m:r>
                          </m:sub>
                        </m:sSub>
                        <m:r>
                          <a:rPr lang="en-US" sz="2600" b="0" i="1">
                            <a:solidFill>
                              <a:srgbClr val="000000"/>
                            </a:solidFill>
                            <a:latin typeface="Cambria Math" panose="02040503050406030204" pitchFamily="18" charset="0"/>
                          </a:rPr>
                          <m:t>=</m:t>
                        </m:r>
                        <m:r>
                          <a:rPr lang="en-US" sz="2600" b="0" i="1">
                            <a:solidFill>
                              <a:srgbClr val="000000"/>
                            </a:solidFill>
                            <a:latin typeface="Cambria Math" panose="02040503050406030204" pitchFamily="18" charset="0"/>
                          </a:rPr>
                          <m:t>？</m:t>
                        </m:r>
                        <m:r>
                          <a:rPr lang="en-US" sz="2600" b="0" i="1">
                            <a:solidFill>
                              <a:srgbClr val="000000"/>
                            </a:solidFill>
                            <a:latin typeface="Cambria Math" panose="02040503050406030204" pitchFamily="18" charset="0"/>
                          </a:rPr>
                          <m:t>)</m:t>
                        </m:r>
                      </m:oMath>
                    </m:oMathPara>
                  </a14:m>
                  <a:endParaRPr lang="en-US" sz="2600" dirty="0"/>
                </a:p>
              </p:txBody>
            </p:sp>
          </mc:Choice>
          <mc:Fallback xmlns="">
            <p:sp>
              <p:nvSpPr>
                <p:cNvPr id="4" name="Object 10">
                  <a:extLst>
                    <a:ext uri="{FF2B5EF4-FFF2-40B4-BE49-F238E27FC236}">
                      <a16:creationId xmlns:a16="http://schemas.microsoft.com/office/drawing/2014/main" id="{E169645C-5779-1081-8E6A-9900E91CB2C3}"/>
                    </a:ext>
                  </a:extLst>
                </p:cNvPr>
                <p:cNvSpPr txBox="1">
                  <a:spLocks noRot="1" noChangeAspect="1" noMove="1" noResize="1" noEditPoints="1" noAdjustHandles="1" noChangeArrowheads="1" noChangeShapeType="1" noTextEdit="1"/>
                </p:cNvSpPr>
                <p:nvPr/>
              </p:nvSpPr>
              <p:spPr>
                <a:xfrm>
                  <a:off x="3067" y="1576"/>
                  <a:ext cx="1445" cy="330"/>
                </a:xfrm>
                <a:prstGeom prst="rect">
                  <a:avLst/>
                </a:prstGeom>
                <a:blipFill>
                  <a:blip r:embed="rId2"/>
                  <a:stretch>
                    <a:fillRect l="-1061" r="-1061" b="-4651"/>
                  </a:stretch>
                </a:blipFill>
                <a:ln w="38100">
                  <a:noFill/>
                  <a:miter/>
                </a:ln>
              </p:spPr>
              <p:txBody>
                <a:bodyPr/>
                <a:lstStyle/>
                <a:p>
                  <a:r>
                    <a:rPr lang="zh-CN" altLang="en-US">
                      <a:noFill/>
                    </a:rPr>
                    <a:t> </a:t>
                  </a:r>
                </a:p>
              </p:txBody>
            </p:sp>
          </mc:Fallback>
        </mc:AlternateContent>
        <p:grpSp>
          <p:nvGrpSpPr>
            <p:cNvPr id="5" name="Group 11">
              <a:extLst>
                <a:ext uri="{FF2B5EF4-FFF2-40B4-BE49-F238E27FC236}">
                  <a16:creationId xmlns:a16="http://schemas.microsoft.com/office/drawing/2014/main" id="{A3587664-5B51-816F-74F8-976B5516AFA5}"/>
                </a:ext>
              </a:extLst>
            </p:cNvPr>
            <p:cNvGrpSpPr/>
            <p:nvPr/>
          </p:nvGrpSpPr>
          <p:grpSpPr>
            <a:xfrm>
              <a:off x="2592" y="864"/>
              <a:ext cx="1920" cy="655"/>
              <a:chOff x="2496" y="864"/>
              <a:chExt cx="2160" cy="720"/>
            </a:xfrm>
          </p:grpSpPr>
          <p:sp>
            <p:nvSpPr>
              <p:cNvPr id="6" name="AutoShape 12">
                <a:extLst>
                  <a:ext uri="{FF2B5EF4-FFF2-40B4-BE49-F238E27FC236}">
                    <a16:creationId xmlns:a16="http://schemas.microsoft.com/office/drawing/2014/main" id="{3F1DE0EC-9E9E-2DF2-B243-284471F37CF2}"/>
                  </a:ext>
                </a:extLst>
              </p:cNvPr>
              <p:cNvSpPr/>
              <p:nvPr/>
            </p:nvSpPr>
            <p:spPr>
              <a:xfrm>
                <a:off x="2496" y="1104"/>
                <a:ext cx="576" cy="144"/>
              </a:xfrm>
              <a:prstGeom prst="rightArrow">
                <a:avLst>
                  <a:gd name="adj1" fmla="val 40277"/>
                  <a:gd name="adj2" fmla="val 131814"/>
                </a:avLst>
              </a:prstGeom>
              <a:gradFill rotWithShape="0">
                <a:gsLst>
                  <a:gs pos="0">
                    <a:srgbClr val="765E76"/>
                  </a:gs>
                  <a:gs pos="50000">
                    <a:srgbClr val="FFCCFF"/>
                  </a:gs>
                  <a:gs pos="100000">
                    <a:srgbClr val="765E76"/>
                  </a:gs>
                </a:gsLst>
                <a:lin ang="5400000" scaled="1"/>
                <a:tileRect/>
              </a:gradFill>
              <a:ln w="28575" cap="flat" cmpd="sng">
                <a:solidFill>
                  <a:srgbClr val="CC00CC"/>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grpSp>
            <p:nvGrpSpPr>
              <p:cNvPr id="7" name="Group 13">
                <a:extLst>
                  <a:ext uri="{FF2B5EF4-FFF2-40B4-BE49-F238E27FC236}">
                    <a16:creationId xmlns:a16="http://schemas.microsoft.com/office/drawing/2014/main" id="{D865485C-AF97-0BD3-3177-EA60540ED251}"/>
                  </a:ext>
                </a:extLst>
              </p:cNvPr>
              <p:cNvGrpSpPr/>
              <p:nvPr/>
            </p:nvGrpSpPr>
            <p:grpSpPr>
              <a:xfrm>
                <a:off x="3168" y="864"/>
                <a:ext cx="1488" cy="720"/>
                <a:chOff x="2976" y="816"/>
                <a:chExt cx="1488" cy="720"/>
              </a:xfrm>
            </p:grpSpPr>
            <p:sp>
              <p:nvSpPr>
                <p:cNvPr id="8" name="AutoShape 14">
                  <a:extLst>
                    <a:ext uri="{FF2B5EF4-FFF2-40B4-BE49-F238E27FC236}">
                      <a16:creationId xmlns:a16="http://schemas.microsoft.com/office/drawing/2014/main" id="{9AD58716-7447-9232-E9C4-1441C7BB9AC8}"/>
                    </a:ext>
                  </a:extLst>
                </p:cNvPr>
                <p:cNvSpPr/>
                <p:nvPr/>
              </p:nvSpPr>
              <p:spPr>
                <a:xfrm>
                  <a:off x="2976" y="816"/>
                  <a:ext cx="1488" cy="720"/>
                </a:xfrm>
                <a:prstGeom prst="bevel">
                  <a:avLst>
                    <a:gd name="adj" fmla="val 12500"/>
                  </a:avLst>
                </a:prstGeom>
                <a:solidFill>
                  <a:srgbClr val="996633"/>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9" name="Rectangle 15" descr="10%">
                  <a:extLst>
                    <a:ext uri="{FF2B5EF4-FFF2-40B4-BE49-F238E27FC236}">
                      <a16:creationId xmlns:a16="http://schemas.microsoft.com/office/drawing/2014/main" id="{F58CF25D-F379-B25D-B4EE-5F9DC019F440}"/>
                    </a:ext>
                  </a:extLst>
                </p:cNvPr>
                <p:cNvSpPr/>
                <p:nvPr/>
              </p:nvSpPr>
              <p:spPr>
                <a:xfrm>
                  <a:off x="3072" y="912"/>
                  <a:ext cx="1296" cy="528"/>
                </a:xfrm>
                <a:prstGeom prst="rect">
                  <a:avLst/>
                </a:prstGeom>
                <a:pattFill prst="pct10">
                  <a:fgClr>
                    <a:schemeClr val="tx1"/>
                  </a:fgClr>
                  <a:bgClr>
                    <a:srgbClr val="FFFFFF"/>
                  </a:bgClr>
                </a:patt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grpSp>
        </p:grpSp>
      </p:grpSp>
      <p:grpSp>
        <p:nvGrpSpPr>
          <p:cNvPr id="10" name="Group 16">
            <a:extLst>
              <a:ext uri="{FF2B5EF4-FFF2-40B4-BE49-F238E27FC236}">
                <a16:creationId xmlns:a16="http://schemas.microsoft.com/office/drawing/2014/main" id="{5ACCBED2-7B36-30C1-302B-87DEF4DF525D}"/>
              </a:ext>
            </a:extLst>
          </p:cNvPr>
          <p:cNvGrpSpPr/>
          <p:nvPr/>
        </p:nvGrpSpPr>
        <p:grpSpPr>
          <a:xfrm>
            <a:off x="2785110" y="931351"/>
            <a:ext cx="2133600" cy="1806575"/>
            <a:chOff x="1152" y="768"/>
            <a:chExt cx="1344" cy="1138"/>
          </a:xfrm>
        </p:grpSpPr>
        <mc:AlternateContent xmlns:mc="http://schemas.openxmlformats.org/markup-compatibility/2006" xmlns:a14="http://schemas.microsoft.com/office/drawing/2010/main">
          <mc:Choice Requires="a14">
            <p:sp>
              <p:nvSpPr>
                <p:cNvPr id="11" name="Object 17">
                  <a:extLst>
                    <a:ext uri="{FF2B5EF4-FFF2-40B4-BE49-F238E27FC236}">
                      <a16:creationId xmlns:a16="http://schemas.microsoft.com/office/drawing/2014/main" id="{5202609E-54D7-A56A-8658-57CF07C112C1}"/>
                    </a:ext>
                  </a:extLst>
                </p:cNvPr>
                <p:cNvSpPr txBox="1"/>
                <p:nvPr/>
              </p:nvSpPr>
              <p:spPr>
                <a:xfrm>
                  <a:off x="1439" y="1566"/>
                  <a:ext cx="866" cy="340"/>
                </a:xfrm>
                <a:prstGeom prst="rect">
                  <a:avLst/>
                </a:prstGeom>
                <a:noFill/>
                <a:ln w="38100">
                  <a:noFill/>
                  <a:miter/>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𝑝</m:t>
                            </m:r>
                          </m:e>
                          <m:sub>
                            <m:r>
                              <a:rPr lang="en-US" sz="2600" b="0" i="1">
                                <a:solidFill>
                                  <a:srgbClr val="000000"/>
                                </a:solidFill>
                                <a:latin typeface="Cambria Math" panose="02040503050406030204" pitchFamily="18" charset="0"/>
                              </a:rPr>
                              <m:t>1</m:t>
                            </m:r>
                          </m:sub>
                        </m:sSub>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𝑉</m:t>
                            </m:r>
                          </m:e>
                          <m:sub>
                            <m:r>
                              <a:rPr lang="en-US" sz="2600" b="0" i="1">
                                <a:solidFill>
                                  <a:srgbClr val="000000"/>
                                </a:solidFill>
                                <a:latin typeface="Cambria Math" panose="02040503050406030204" pitchFamily="18" charset="0"/>
                              </a:rPr>
                              <m:t>1</m:t>
                            </m:r>
                          </m:sub>
                        </m:sSub>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𝑇</m:t>
                            </m:r>
                          </m:e>
                          <m:sub>
                            <m:r>
                              <a:rPr lang="en-US" sz="2600" b="0" i="1">
                                <a:solidFill>
                                  <a:srgbClr val="000000"/>
                                </a:solidFill>
                                <a:latin typeface="Cambria Math" panose="02040503050406030204" pitchFamily="18" charset="0"/>
                              </a:rPr>
                              <m:t>1</m:t>
                            </m:r>
                          </m:sub>
                        </m:sSub>
                        <m:r>
                          <a:rPr lang="en-US" sz="2600" b="0" i="1">
                            <a:solidFill>
                              <a:srgbClr val="000000"/>
                            </a:solidFill>
                            <a:latin typeface="Cambria Math" panose="02040503050406030204" pitchFamily="18" charset="0"/>
                          </a:rPr>
                          <m:t>)</m:t>
                        </m:r>
                      </m:oMath>
                    </m:oMathPara>
                  </a14:m>
                  <a:endParaRPr lang="en-US" sz="2600" dirty="0"/>
                </a:p>
              </p:txBody>
            </p:sp>
          </mc:Choice>
          <mc:Fallback xmlns="">
            <p:sp>
              <p:nvSpPr>
                <p:cNvPr id="11" name="Object 17">
                  <a:extLst>
                    <a:ext uri="{FF2B5EF4-FFF2-40B4-BE49-F238E27FC236}">
                      <a16:creationId xmlns:a16="http://schemas.microsoft.com/office/drawing/2014/main" id="{5202609E-54D7-A56A-8658-57CF07C112C1}"/>
                    </a:ext>
                  </a:extLst>
                </p:cNvPr>
                <p:cNvSpPr txBox="1">
                  <a:spLocks noRot="1" noChangeAspect="1" noMove="1" noResize="1" noEditPoints="1" noAdjustHandles="1" noChangeArrowheads="1" noChangeShapeType="1" noTextEdit="1"/>
                </p:cNvSpPr>
                <p:nvPr/>
              </p:nvSpPr>
              <p:spPr>
                <a:xfrm>
                  <a:off x="1439" y="1566"/>
                  <a:ext cx="866" cy="340"/>
                </a:xfrm>
                <a:prstGeom prst="rect">
                  <a:avLst/>
                </a:prstGeom>
                <a:blipFill>
                  <a:blip r:embed="rId3"/>
                  <a:stretch>
                    <a:fillRect l="-2655" r="-5752"/>
                  </a:stretch>
                </a:blipFill>
                <a:ln w="38100">
                  <a:noFill/>
                  <a:miter/>
                </a:ln>
              </p:spPr>
              <p:txBody>
                <a:bodyPr/>
                <a:lstStyle/>
                <a:p>
                  <a:r>
                    <a:rPr lang="zh-CN" altLang="en-US">
                      <a:noFill/>
                    </a:rPr>
                    <a:t> </a:t>
                  </a:r>
                </a:p>
              </p:txBody>
            </p:sp>
          </mc:Fallback>
        </mc:AlternateContent>
        <p:grpSp>
          <p:nvGrpSpPr>
            <p:cNvPr id="12" name="Group 18">
              <a:extLst>
                <a:ext uri="{FF2B5EF4-FFF2-40B4-BE49-F238E27FC236}">
                  <a16:creationId xmlns:a16="http://schemas.microsoft.com/office/drawing/2014/main" id="{44AE12D2-7FCB-E6F0-911A-B52C6717E279}"/>
                </a:ext>
              </a:extLst>
            </p:cNvPr>
            <p:cNvGrpSpPr/>
            <p:nvPr/>
          </p:nvGrpSpPr>
          <p:grpSpPr>
            <a:xfrm>
              <a:off x="1152" y="856"/>
              <a:ext cx="1344" cy="663"/>
              <a:chOff x="1632" y="816"/>
              <a:chExt cx="1488" cy="720"/>
            </a:xfrm>
          </p:grpSpPr>
          <p:sp>
            <p:nvSpPr>
              <p:cNvPr id="16" name="AutoShape 19">
                <a:extLst>
                  <a:ext uri="{FF2B5EF4-FFF2-40B4-BE49-F238E27FC236}">
                    <a16:creationId xmlns:a16="http://schemas.microsoft.com/office/drawing/2014/main" id="{CE5B1465-BB13-904E-95DD-4F81D69849BB}"/>
                  </a:ext>
                </a:extLst>
              </p:cNvPr>
              <p:cNvSpPr/>
              <p:nvPr/>
            </p:nvSpPr>
            <p:spPr>
              <a:xfrm>
                <a:off x="1632" y="816"/>
                <a:ext cx="1488" cy="720"/>
              </a:xfrm>
              <a:prstGeom prst="bevel">
                <a:avLst>
                  <a:gd name="adj" fmla="val 12500"/>
                </a:avLst>
              </a:prstGeom>
              <a:solidFill>
                <a:srgbClr val="996633"/>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17" name="Rectangle 20">
                <a:extLst>
                  <a:ext uri="{FF2B5EF4-FFF2-40B4-BE49-F238E27FC236}">
                    <a16:creationId xmlns:a16="http://schemas.microsoft.com/office/drawing/2014/main" id="{639D3E83-5750-83B8-1640-E0DC219B3A22}"/>
                  </a:ext>
                </a:extLst>
              </p:cNvPr>
              <p:cNvSpPr/>
              <p:nvPr/>
            </p:nvSpPr>
            <p:spPr>
              <a:xfrm>
                <a:off x="1728" y="912"/>
                <a:ext cx="1296" cy="52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grpSp>
        <p:sp>
          <p:nvSpPr>
            <p:cNvPr id="13" name="Rectangle 21" descr="20%">
              <a:extLst>
                <a:ext uri="{FF2B5EF4-FFF2-40B4-BE49-F238E27FC236}">
                  <a16:creationId xmlns:a16="http://schemas.microsoft.com/office/drawing/2014/main" id="{E51454C1-9C12-C170-24C4-3D1A8A61D68F}"/>
                </a:ext>
              </a:extLst>
            </p:cNvPr>
            <p:cNvSpPr/>
            <p:nvPr/>
          </p:nvSpPr>
          <p:spPr>
            <a:xfrm>
              <a:off x="1239" y="945"/>
              <a:ext cx="563" cy="486"/>
            </a:xfrm>
            <a:prstGeom prst="rect">
              <a:avLst/>
            </a:prstGeom>
            <a:pattFill prst="pct20">
              <a:fgClr>
                <a:schemeClr val="tx1"/>
              </a:fgClr>
              <a:bgClr>
                <a:srgbClr val="FFFFFF"/>
              </a:bgClr>
            </a:patt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14" name="Line 22">
              <a:extLst>
                <a:ext uri="{FF2B5EF4-FFF2-40B4-BE49-F238E27FC236}">
                  <a16:creationId xmlns:a16="http://schemas.microsoft.com/office/drawing/2014/main" id="{583F1AA6-7779-762D-17FD-8761D41C1116}"/>
                </a:ext>
              </a:extLst>
            </p:cNvPr>
            <p:cNvSpPr/>
            <p:nvPr/>
          </p:nvSpPr>
          <p:spPr>
            <a:xfrm>
              <a:off x="1802" y="768"/>
              <a:ext cx="0" cy="663"/>
            </a:xfrm>
            <a:prstGeom prst="line">
              <a:avLst/>
            </a:prstGeom>
            <a:ln w="57150" cap="flat" cmpd="sng">
              <a:solidFill>
                <a:srgbClr val="996633"/>
              </a:solidFill>
              <a:prstDash val="solid"/>
              <a:headEnd type="none" w="med" len="med"/>
              <a:tailEnd type="none" w="med" len="med"/>
            </a:ln>
          </p:spPr>
        </p:sp>
        <p:sp>
          <p:nvSpPr>
            <p:cNvPr id="15" name="Line 23">
              <a:extLst>
                <a:ext uri="{FF2B5EF4-FFF2-40B4-BE49-F238E27FC236}">
                  <a16:creationId xmlns:a16="http://schemas.microsoft.com/office/drawing/2014/main" id="{BB96BEA9-C74B-3D2F-67B7-2E89C1BA39D7}"/>
                </a:ext>
              </a:extLst>
            </p:cNvPr>
            <p:cNvSpPr/>
            <p:nvPr/>
          </p:nvSpPr>
          <p:spPr>
            <a:xfrm>
              <a:off x="1716" y="768"/>
              <a:ext cx="173" cy="0"/>
            </a:xfrm>
            <a:prstGeom prst="line">
              <a:avLst/>
            </a:prstGeom>
            <a:ln w="57150" cap="flat" cmpd="sng">
              <a:solidFill>
                <a:srgbClr val="996633"/>
              </a:solidFill>
              <a:prstDash val="solid"/>
              <a:headEnd type="none" w="med" len="med"/>
              <a:tailEnd type="none" w="med" len="med"/>
            </a:ln>
          </p:spPr>
        </p:sp>
      </p:grpSp>
      <p:sp>
        <p:nvSpPr>
          <p:cNvPr id="18" name="文本框 17">
            <a:extLst>
              <a:ext uri="{FF2B5EF4-FFF2-40B4-BE49-F238E27FC236}">
                <a16:creationId xmlns:a16="http://schemas.microsoft.com/office/drawing/2014/main" id="{A02A836D-1367-2C2B-444A-68767EA39D26}"/>
              </a:ext>
            </a:extLst>
          </p:cNvPr>
          <p:cNvSpPr txBox="1"/>
          <p:nvPr/>
        </p:nvSpPr>
        <p:spPr>
          <a:xfrm>
            <a:off x="2794000" y="784665"/>
            <a:ext cx="268022" cy="492443"/>
          </a:xfrm>
          <a:prstGeom prst="rect">
            <a:avLst/>
          </a:prstGeom>
          <a:noFill/>
        </p:spPr>
        <p:txBody>
          <a:bodyPr wrap="none" rtlCol="0">
            <a:spAutoFit/>
          </a:bodyPr>
          <a:lstStyle/>
          <a:p>
            <a:r>
              <a:rPr lang="en-US" altLang="zh-CN" sz="2600"/>
              <a:t> </a:t>
            </a:r>
          </a:p>
        </p:txBody>
      </p:sp>
      <p:sp>
        <p:nvSpPr>
          <p:cNvPr id="20" name="文本框 19">
            <a:extLst>
              <a:ext uri="{FF2B5EF4-FFF2-40B4-BE49-F238E27FC236}">
                <a16:creationId xmlns:a16="http://schemas.microsoft.com/office/drawing/2014/main" id="{59451B9F-74E6-C695-904D-F69A4FA80B56}"/>
              </a:ext>
            </a:extLst>
          </p:cNvPr>
          <p:cNvSpPr txBox="1"/>
          <p:nvPr/>
        </p:nvSpPr>
        <p:spPr>
          <a:xfrm>
            <a:off x="1807845" y="2763897"/>
            <a:ext cx="4163384" cy="1232197"/>
          </a:xfrm>
          <a:prstGeom prst="rect">
            <a:avLst/>
          </a:prstGeom>
          <a:noFill/>
        </p:spPr>
        <p:txBody>
          <a:bodyPr wrap="none" rtlCol="0">
            <a:spAutoFit/>
          </a:bodyPr>
          <a:lstStyle/>
          <a:p>
            <a:pPr>
              <a:lnSpc>
                <a:spcPct val="150000"/>
              </a:lnSpc>
            </a:pPr>
            <a:r>
              <a:rPr lang="zh-CN" altLang="en-US" sz="2600" dirty="0">
                <a:latin typeface="Times New Roman" panose="02020603050405020304" pitchFamily="18" charset="0"/>
                <a:cs typeface="Times New Roman" panose="02020603050405020304" pitchFamily="18" charset="0"/>
              </a:rPr>
              <a:t>向真空膨胀，做功为</a:t>
            </a:r>
            <a:r>
              <a:rPr lang="en-US" altLang="zh-CN" sz="2600" dirty="0">
                <a:latin typeface="Times New Roman" panose="02020603050405020304" pitchFamily="18" charset="0"/>
                <a:cs typeface="Times New Roman" panose="02020603050405020304" pitchFamily="18" charset="0"/>
              </a:rPr>
              <a:t>   A = 0</a:t>
            </a:r>
          </a:p>
          <a:p>
            <a:pPr>
              <a:lnSpc>
                <a:spcPct val="150000"/>
              </a:lnSpc>
            </a:pPr>
            <a:r>
              <a:rPr lang="zh-CN" altLang="en-US" sz="2600" dirty="0">
                <a:latin typeface="Times New Roman" panose="02020603050405020304" pitchFamily="18" charset="0"/>
                <a:cs typeface="Times New Roman" panose="02020603050405020304" pitchFamily="18" charset="0"/>
              </a:rPr>
              <a:t>绝热条件，吸热为</a:t>
            </a:r>
            <a:r>
              <a:rPr lang="en-US" altLang="zh-CN" sz="2600" dirty="0">
                <a:latin typeface="Times New Roman" panose="02020603050405020304" pitchFamily="18" charset="0"/>
                <a:cs typeface="Times New Roman" panose="02020603050405020304" pitchFamily="18" charset="0"/>
              </a:rPr>
              <a:t>     Q  = 0</a:t>
            </a:r>
          </a:p>
        </p:txBody>
      </p:sp>
      <p:sp>
        <p:nvSpPr>
          <p:cNvPr id="21" name="文本框 20">
            <a:extLst>
              <a:ext uri="{FF2B5EF4-FFF2-40B4-BE49-F238E27FC236}">
                <a16:creationId xmlns:a16="http://schemas.microsoft.com/office/drawing/2014/main" id="{77C2D39A-8767-AB33-BDF3-6B34A79F2D4E}"/>
              </a:ext>
            </a:extLst>
          </p:cNvPr>
          <p:cNvSpPr txBox="1"/>
          <p:nvPr/>
        </p:nvSpPr>
        <p:spPr>
          <a:xfrm>
            <a:off x="1807845" y="4148156"/>
            <a:ext cx="2685351" cy="492443"/>
          </a:xfrm>
          <a:prstGeom prst="rect">
            <a:avLst/>
          </a:prstGeom>
          <a:noFill/>
        </p:spPr>
        <p:txBody>
          <a:bodyPr wrap="none" rtlCol="0">
            <a:spAutoFit/>
          </a:bodyPr>
          <a:lstStyle/>
          <a:p>
            <a:r>
              <a:rPr lang="zh-CN" altLang="en-US" sz="2600" dirty="0"/>
              <a:t>则内能变化为：</a:t>
            </a:r>
            <a:r>
              <a:rPr lang="en-US" altLang="zh-CN" sz="2600" dirty="0"/>
              <a:t>  </a:t>
            </a:r>
          </a:p>
        </p:txBody>
      </p:sp>
      <mc:AlternateContent xmlns:mc="http://schemas.openxmlformats.org/markup-compatibility/2006" xmlns:a14="http://schemas.microsoft.com/office/drawing/2010/main">
        <mc:Choice Requires="a14">
          <p:sp>
            <p:nvSpPr>
              <p:cNvPr id="22" name="对象 7">
                <a:extLst>
                  <a:ext uri="{FF2B5EF4-FFF2-40B4-BE49-F238E27FC236}">
                    <a16:creationId xmlns:a16="http://schemas.microsoft.com/office/drawing/2014/main" id="{3DC66BB4-BC6B-4104-7399-558FB39D30D3}"/>
                  </a:ext>
                </a:extLst>
              </p:cNvPr>
              <p:cNvSpPr txBox="1"/>
              <p:nvPr/>
            </p:nvSpPr>
            <p:spPr>
              <a:xfrm>
                <a:off x="4493196" y="4148156"/>
                <a:ext cx="2357755" cy="541020"/>
              </a:xfrm>
              <a:prstGeom prst="rect">
                <a:avLst/>
              </a:prstGeom>
            </p:spPr>
            <p:txBody>
              <a:bodyPr>
                <a:normAutofit fontScale="92500"/>
              </a:bodyPr>
              <a:lstStyle/>
              <a:p>
                <a:pPr/>
                <a14:m>
                  <m:oMathPara xmlns:m="http://schemas.openxmlformats.org/officeDocument/2006/math">
                    <m:oMathParaPr>
                      <m:jc m:val="centerGroup"/>
                    </m:oMathParaPr>
                    <m:oMath xmlns:m="http://schemas.openxmlformats.org/officeDocument/2006/math">
                      <m:r>
                        <a:rPr lang="en-US" sz="2600" b="0" i="1">
                          <a:solidFill>
                            <a:srgbClr val="000000"/>
                          </a:solidFill>
                          <a:latin typeface="Cambria Math" panose="02040503050406030204" pitchFamily="18" charset="0"/>
                        </a:rPr>
                        <m:t>𝛥</m:t>
                      </m:r>
                      <m:r>
                        <a:rPr lang="en-US" sz="2600" b="0" i="1">
                          <a:solidFill>
                            <a:srgbClr val="000000"/>
                          </a:solidFill>
                          <a:latin typeface="Cambria Math" panose="02040503050406030204" pitchFamily="18" charset="0"/>
                        </a:rPr>
                        <m:t>𝐸</m:t>
                      </m:r>
                      <m:r>
                        <a:rPr lang="en-US" sz="2600" b="0" i="1">
                          <a:solidFill>
                            <a:srgbClr val="000000"/>
                          </a:solidFill>
                          <a:latin typeface="Cambria Math" panose="02040503050406030204" pitchFamily="18" charset="0"/>
                        </a:rPr>
                        <m:t>=</m:t>
                      </m:r>
                      <m:r>
                        <a:rPr lang="en-US" sz="2600" b="0" i="1">
                          <a:solidFill>
                            <a:srgbClr val="000000"/>
                          </a:solidFill>
                          <a:latin typeface="Cambria Math" panose="02040503050406030204" pitchFamily="18" charset="0"/>
                        </a:rPr>
                        <m:t>𝑄</m:t>
                      </m:r>
                      <m:r>
                        <a:rPr lang="en-US" sz="2600" b="0" i="1">
                          <a:solidFill>
                            <a:srgbClr val="000000"/>
                          </a:solidFill>
                          <a:latin typeface="Cambria Math" panose="02040503050406030204" pitchFamily="18" charset="0"/>
                        </a:rPr>
                        <m:t>−</m:t>
                      </m:r>
                      <m:r>
                        <a:rPr lang="en-US" sz="2600" b="0" i="1">
                          <a:solidFill>
                            <a:srgbClr val="000000"/>
                          </a:solidFill>
                          <a:latin typeface="Cambria Math" panose="02040503050406030204" pitchFamily="18" charset="0"/>
                        </a:rPr>
                        <m:t>𝐴</m:t>
                      </m:r>
                      <m:r>
                        <a:rPr lang="en-US" sz="2600" b="0" i="1">
                          <a:solidFill>
                            <a:srgbClr val="000000"/>
                          </a:solidFill>
                          <a:latin typeface="Cambria Math" panose="02040503050406030204" pitchFamily="18" charset="0"/>
                        </a:rPr>
                        <m:t>=0</m:t>
                      </m:r>
                    </m:oMath>
                  </m:oMathPara>
                </a14:m>
                <a:endParaRPr lang="en-US" sz="2600" dirty="0"/>
              </a:p>
            </p:txBody>
          </p:sp>
        </mc:Choice>
        <mc:Fallback xmlns="">
          <p:sp>
            <p:nvSpPr>
              <p:cNvPr id="22" name="对象 7">
                <a:extLst>
                  <a:ext uri="{FF2B5EF4-FFF2-40B4-BE49-F238E27FC236}">
                    <a16:creationId xmlns:a16="http://schemas.microsoft.com/office/drawing/2014/main" id="{3DC66BB4-BC6B-4104-7399-558FB39D30D3}"/>
                  </a:ext>
                </a:extLst>
              </p:cNvPr>
              <p:cNvSpPr txBox="1">
                <a:spLocks noRot="1" noChangeAspect="1" noMove="1" noResize="1" noEditPoints="1" noAdjustHandles="1" noChangeArrowheads="1" noChangeShapeType="1" noTextEdit="1"/>
              </p:cNvSpPr>
              <p:nvPr/>
            </p:nvSpPr>
            <p:spPr>
              <a:xfrm>
                <a:off x="4493196" y="4148156"/>
                <a:ext cx="2357755" cy="54102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对象 9">
                <a:extLst>
                  <a:ext uri="{FF2B5EF4-FFF2-40B4-BE49-F238E27FC236}">
                    <a16:creationId xmlns:a16="http://schemas.microsoft.com/office/drawing/2014/main" id="{CCB0C4C6-DF4B-F26B-F55F-4DC9F1C7A1A3}"/>
                  </a:ext>
                </a:extLst>
              </p:cNvPr>
              <p:cNvSpPr txBox="1"/>
              <p:nvPr/>
            </p:nvSpPr>
            <p:spPr>
              <a:xfrm>
                <a:off x="6936533" y="4114183"/>
                <a:ext cx="2313304" cy="608965"/>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𝑇</m:t>
                          </m:r>
                        </m:e>
                        <m:sub>
                          <m:r>
                            <a:rPr lang="en-US" sz="2600" b="0" i="1">
                              <a:solidFill>
                                <a:srgbClr val="000000"/>
                              </a:solidFill>
                              <a:latin typeface="Cambria Math" panose="02040503050406030204" pitchFamily="18" charset="0"/>
                            </a:rPr>
                            <m:t>2</m:t>
                          </m:r>
                        </m:sub>
                      </m:sSub>
                      <m:r>
                        <a:rPr lang="en-US" sz="2600" b="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b="0" i="1">
                              <a:solidFill>
                                <a:srgbClr val="000000"/>
                              </a:solidFill>
                              <a:latin typeface="Cambria Math" panose="02040503050406030204" pitchFamily="18" charset="0"/>
                            </a:rPr>
                            <m:t>𝑇</m:t>
                          </m:r>
                        </m:e>
                        <m:sub>
                          <m:r>
                            <a:rPr lang="en-US" sz="2600" b="0" i="1">
                              <a:solidFill>
                                <a:srgbClr val="000000"/>
                              </a:solidFill>
                              <a:latin typeface="Cambria Math" panose="02040503050406030204" pitchFamily="18" charset="0"/>
                            </a:rPr>
                            <m:t>1</m:t>
                          </m:r>
                        </m:sub>
                      </m:sSub>
                    </m:oMath>
                  </m:oMathPara>
                </a14:m>
                <a:endParaRPr lang="en-US" sz="2600" dirty="0"/>
              </a:p>
            </p:txBody>
          </p:sp>
        </mc:Choice>
        <mc:Fallback xmlns="">
          <p:sp>
            <p:nvSpPr>
              <p:cNvPr id="23" name="对象 9">
                <a:extLst>
                  <a:ext uri="{FF2B5EF4-FFF2-40B4-BE49-F238E27FC236}">
                    <a16:creationId xmlns:a16="http://schemas.microsoft.com/office/drawing/2014/main" id="{CCB0C4C6-DF4B-F26B-F55F-4DC9F1C7A1A3}"/>
                  </a:ext>
                </a:extLst>
              </p:cNvPr>
              <p:cNvSpPr txBox="1">
                <a:spLocks noRot="1" noChangeAspect="1" noMove="1" noResize="1" noEditPoints="1" noAdjustHandles="1" noChangeArrowheads="1" noChangeShapeType="1" noTextEdit="1"/>
              </p:cNvSpPr>
              <p:nvPr/>
            </p:nvSpPr>
            <p:spPr>
              <a:xfrm>
                <a:off x="6936533" y="4114183"/>
                <a:ext cx="2313304" cy="60896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对象 9">
                <a:extLst>
                  <a:ext uri="{FF2B5EF4-FFF2-40B4-BE49-F238E27FC236}">
                    <a16:creationId xmlns:a16="http://schemas.microsoft.com/office/drawing/2014/main" id="{24F2B031-C7BC-88E8-7C80-85B90DEA98C4}"/>
                  </a:ext>
                </a:extLst>
              </p:cNvPr>
              <p:cNvSpPr txBox="1"/>
              <p:nvPr/>
            </p:nvSpPr>
            <p:spPr>
              <a:xfrm>
                <a:off x="8885983" y="4089894"/>
                <a:ext cx="2313304" cy="608965"/>
              </a:xfrm>
              <a:prstGeom prst="rect">
                <a:avLst/>
              </a:prstGeom>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𝑝</m:t>
                          </m:r>
                        </m:e>
                        <m:sub>
                          <m:r>
                            <a:rPr lang="en-US" sz="2600" i="1">
                              <a:solidFill>
                                <a:srgbClr val="000000"/>
                              </a:solidFill>
                              <a:latin typeface="Cambria Math" panose="02040503050406030204" pitchFamily="18" charset="0"/>
                            </a:rPr>
                            <m:t>1</m:t>
                          </m:r>
                        </m:sub>
                      </m:sSub>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𝑉</m:t>
                          </m:r>
                        </m:e>
                        <m:sub>
                          <m:r>
                            <a:rPr lang="en-US" sz="2600" i="1">
                              <a:solidFill>
                                <a:srgbClr val="000000"/>
                              </a:solidFill>
                              <a:latin typeface="Cambria Math" panose="02040503050406030204" pitchFamily="18" charset="0"/>
                            </a:rPr>
                            <m:t>1</m:t>
                          </m:r>
                        </m:sub>
                      </m:sSub>
                      <m:r>
                        <a:rPr lang="en-US" sz="2600" i="1">
                          <a:solidFill>
                            <a:srgbClr val="000000"/>
                          </a:solidFill>
                          <a:latin typeface="Cambria Math" panose="02040503050406030204" pitchFamily="18" charset="0"/>
                        </a:rPr>
                        <m:t>=</m:t>
                      </m:r>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𝑝</m:t>
                          </m:r>
                        </m:e>
                        <m:sub>
                          <m:r>
                            <a:rPr lang="en-US" sz="2600" i="1">
                              <a:solidFill>
                                <a:srgbClr val="000000"/>
                              </a:solidFill>
                              <a:latin typeface="Cambria Math" panose="02040503050406030204" pitchFamily="18" charset="0"/>
                            </a:rPr>
                            <m:t>2</m:t>
                          </m:r>
                        </m:sub>
                      </m:sSub>
                      <m:sSub>
                        <m:sSubPr>
                          <m:ctrlPr>
                            <a:rPr lang="en-US" sz="2600" i="1">
                              <a:solidFill>
                                <a:srgbClr val="000000"/>
                              </a:solidFill>
                              <a:latin typeface="Cambria Math" panose="02040503050406030204" pitchFamily="18" charset="0"/>
                            </a:rPr>
                          </m:ctrlPr>
                        </m:sSubPr>
                        <m:e>
                          <m:r>
                            <a:rPr lang="en-US" sz="2600" i="1">
                              <a:solidFill>
                                <a:srgbClr val="000000"/>
                              </a:solidFill>
                              <a:latin typeface="Cambria Math" panose="02040503050406030204" pitchFamily="18" charset="0"/>
                            </a:rPr>
                            <m:t>𝑉</m:t>
                          </m:r>
                        </m:e>
                        <m:sub>
                          <m:r>
                            <a:rPr lang="en-US" sz="2600" i="1">
                              <a:solidFill>
                                <a:srgbClr val="000000"/>
                              </a:solidFill>
                              <a:latin typeface="Cambria Math" panose="02040503050406030204" pitchFamily="18" charset="0"/>
                            </a:rPr>
                            <m:t>2</m:t>
                          </m:r>
                        </m:sub>
                      </m:sSub>
                    </m:oMath>
                  </m:oMathPara>
                </a14:m>
                <a:endParaRPr lang="en-US" sz="2600" dirty="0"/>
              </a:p>
            </p:txBody>
          </p:sp>
        </mc:Choice>
        <mc:Fallback xmlns="">
          <p:sp>
            <p:nvSpPr>
              <p:cNvPr id="24" name="对象 9">
                <a:extLst>
                  <a:ext uri="{FF2B5EF4-FFF2-40B4-BE49-F238E27FC236}">
                    <a16:creationId xmlns:a16="http://schemas.microsoft.com/office/drawing/2014/main" id="{24F2B031-C7BC-88E8-7C80-85B90DEA98C4}"/>
                  </a:ext>
                </a:extLst>
              </p:cNvPr>
              <p:cNvSpPr txBox="1">
                <a:spLocks noRot="1" noChangeAspect="1" noMove="1" noResize="1" noEditPoints="1" noAdjustHandles="1" noChangeArrowheads="1" noChangeShapeType="1" noTextEdit="1"/>
              </p:cNvSpPr>
              <p:nvPr/>
            </p:nvSpPr>
            <p:spPr>
              <a:xfrm>
                <a:off x="8885983" y="4089894"/>
                <a:ext cx="2313304" cy="608965"/>
              </a:xfrm>
              <a:prstGeom prst="rect">
                <a:avLst/>
              </a:prstGeom>
              <a:blipFill>
                <a:blip r:embed="rId6"/>
                <a:stretch>
                  <a:fillRect/>
                </a:stretch>
              </a:blipFill>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010103BB-C201-1618-6BFC-7BEDF22D2E74}"/>
              </a:ext>
            </a:extLst>
          </p:cNvPr>
          <p:cNvSpPr txBox="1"/>
          <p:nvPr/>
        </p:nvSpPr>
        <p:spPr>
          <a:xfrm>
            <a:off x="2922762" y="4875074"/>
            <a:ext cx="6363011" cy="584775"/>
          </a:xfrm>
          <a:prstGeom prst="rect">
            <a:avLst/>
          </a:prstGeom>
          <a:noFill/>
        </p:spPr>
        <p:txBody>
          <a:bodyPr wrap="square">
            <a:spAutoFit/>
          </a:bodyPr>
          <a:lstStyle/>
          <a:p>
            <a:r>
              <a:rPr lang="zh-CN" altLang="en-US" sz="3200" dirty="0">
                <a:solidFill>
                  <a:srgbClr val="0066FF"/>
                </a:solidFill>
                <a:latin typeface="Times New Roman" panose="02020603050405020304" pitchFamily="18" charset="0"/>
              </a:rPr>
              <a:t>气体只会自由膨胀不会自由压缩</a:t>
            </a:r>
            <a:endParaRPr lang="zh-CN" altLang="en-US" sz="3200" i="0" dirty="0">
              <a:solidFill>
                <a:srgbClr val="0066FF"/>
              </a:solidFill>
              <a:effectLst/>
              <a:latin typeface="Helvetica Neue"/>
            </a:endParaRPr>
          </a:p>
        </p:txBody>
      </p:sp>
      <p:sp>
        <p:nvSpPr>
          <p:cNvPr id="19" name="文本框 18">
            <a:extLst>
              <a:ext uri="{FF2B5EF4-FFF2-40B4-BE49-F238E27FC236}">
                <a16:creationId xmlns:a16="http://schemas.microsoft.com/office/drawing/2014/main" id="{1020A55A-5B90-9EBD-FAED-6ECBE19EE96B}"/>
              </a:ext>
            </a:extLst>
          </p:cNvPr>
          <p:cNvSpPr txBox="1"/>
          <p:nvPr/>
        </p:nvSpPr>
        <p:spPr>
          <a:xfrm>
            <a:off x="2406996" y="5694325"/>
            <a:ext cx="7495696" cy="584775"/>
          </a:xfrm>
          <a:prstGeom prst="rect">
            <a:avLst/>
          </a:prstGeom>
          <a:noFill/>
        </p:spPr>
        <p:txBody>
          <a:bodyPr wrap="square">
            <a:spAutoFit/>
          </a:bodyPr>
          <a:lstStyle/>
          <a:p>
            <a:r>
              <a:rPr lang="zh-CN" altLang="en-US" sz="3200" b="1" dirty="0">
                <a:solidFill>
                  <a:srgbClr val="FF0000"/>
                </a:solidFill>
                <a:latin typeface="Times New Roman" panose="02020603050405020304" pitchFamily="18" charset="0"/>
              </a:rPr>
              <a:t>气体向真空绝热膨胀的过程是不可逆的</a:t>
            </a:r>
            <a:endParaRPr lang="zh-CN" altLang="en-US" sz="3200" b="1" i="0" dirty="0">
              <a:solidFill>
                <a:srgbClr val="FF0000"/>
              </a:solidFill>
              <a:effectLst/>
              <a:latin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111">
            <a:extLst>
              <a:ext uri="{FF2B5EF4-FFF2-40B4-BE49-F238E27FC236}">
                <a16:creationId xmlns:a16="http://schemas.microsoft.com/office/drawing/2014/main" id="{4A8E9F70-BDF3-614E-945D-CE5C3B55FE4C}"/>
              </a:ext>
            </a:extLst>
          </p:cNvPr>
          <p:cNvGrpSpPr>
            <a:grpSpLocks/>
          </p:cNvGrpSpPr>
          <p:nvPr/>
        </p:nvGrpSpPr>
        <p:grpSpPr bwMode="auto">
          <a:xfrm>
            <a:off x="2152648" y="1481872"/>
            <a:ext cx="3562351" cy="2582128"/>
            <a:chOff x="3072" y="1526"/>
            <a:chExt cx="1776" cy="1114"/>
          </a:xfrm>
        </p:grpSpPr>
        <p:sp>
          <p:nvSpPr>
            <p:cNvPr id="4" name="Rectangle 3112">
              <a:extLst>
                <a:ext uri="{FF2B5EF4-FFF2-40B4-BE49-F238E27FC236}">
                  <a16:creationId xmlns:a16="http://schemas.microsoft.com/office/drawing/2014/main" id="{C6644BA8-095E-B629-1A33-A6A9E2DF9B3B}"/>
                </a:ext>
              </a:extLst>
            </p:cNvPr>
            <p:cNvSpPr>
              <a:spLocks noChangeArrowheads="1"/>
            </p:cNvSpPr>
            <p:nvPr/>
          </p:nvSpPr>
          <p:spPr bwMode="auto">
            <a:xfrm>
              <a:off x="3072" y="2016"/>
              <a:ext cx="768" cy="624"/>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000" b="0" dirty="0">
                  <a:latin typeface="+mn-lt"/>
                  <a:ea typeface="+mn-ea"/>
                </a:rPr>
                <a:t>冷</a:t>
              </a:r>
              <a:endParaRPr lang="en-US" altLang="zh-CN" sz="3000" b="0" dirty="0">
                <a:latin typeface="+mn-lt"/>
                <a:ea typeface="+mn-ea"/>
              </a:endParaRPr>
            </a:p>
          </p:txBody>
        </p:sp>
        <p:sp>
          <p:nvSpPr>
            <p:cNvPr id="5" name="AutoShape 3115">
              <a:extLst>
                <a:ext uri="{FF2B5EF4-FFF2-40B4-BE49-F238E27FC236}">
                  <a16:creationId xmlns:a16="http://schemas.microsoft.com/office/drawing/2014/main" id="{32DD06A7-C0AE-6BEA-B41C-AEFBF5BB386F}"/>
                </a:ext>
              </a:extLst>
            </p:cNvPr>
            <p:cNvSpPr>
              <a:spLocks noChangeArrowheads="1"/>
            </p:cNvSpPr>
            <p:nvPr/>
          </p:nvSpPr>
          <p:spPr bwMode="auto">
            <a:xfrm>
              <a:off x="3936" y="1536"/>
              <a:ext cx="912" cy="336"/>
            </a:xfrm>
            <a:prstGeom prst="wedgeEllipseCallout">
              <a:avLst>
                <a:gd name="adj1" fmla="val -47042"/>
                <a:gd name="adj2" fmla="val 69940"/>
              </a:avLst>
            </a:prstGeom>
            <a:solidFill>
              <a:schemeClr val="bg1"/>
            </a:solidFill>
            <a:ln w="9525">
              <a:no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3000" b="0">
                <a:latin typeface="+mn-lt"/>
                <a:ea typeface="+mn-ea"/>
              </a:endParaRPr>
            </a:p>
          </p:txBody>
        </p:sp>
        <p:sp>
          <p:nvSpPr>
            <p:cNvPr id="6" name="Rectangle 3117">
              <a:extLst>
                <a:ext uri="{FF2B5EF4-FFF2-40B4-BE49-F238E27FC236}">
                  <a16:creationId xmlns:a16="http://schemas.microsoft.com/office/drawing/2014/main" id="{E5FF0A60-FC81-0C77-6C79-E08A5B2ACB03}"/>
                </a:ext>
              </a:extLst>
            </p:cNvPr>
            <p:cNvSpPr>
              <a:spLocks noChangeArrowheads="1"/>
            </p:cNvSpPr>
            <p:nvPr/>
          </p:nvSpPr>
          <p:spPr bwMode="auto">
            <a:xfrm>
              <a:off x="3072" y="1526"/>
              <a:ext cx="768" cy="480"/>
            </a:xfrm>
            <a:prstGeom prst="rect">
              <a:avLst/>
            </a:prstGeom>
            <a:solidFill>
              <a:srgbClr val="FF9933"/>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9933"/>
              </a:extrusionClr>
              <a:contourClr>
                <a:srgbClr val="FF9933"/>
              </a:contourClr>
            </a:sp3d>
          </p:spPr>
          <p:txBody>
            <a:bodyPr wrap="none" anchor="ctr">
              <a:flatTx/>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000" b="0" dirty="0">
                  <a:latin typeface="+mn-lt"/>
                  <a:ea typeface="+mn-ea"/>
                </a:rPr>
                <a:t>热</a:t>
              </a:r>
              <a:endParaRPr lang="en-US" altLang="zh-CN" sz="3000" b="0" dirty="0">
                <a:latin typeface="+mn-lt"/>
                <a:ea typeface="+mn-ea"/>
              </a:endParaRPr>
            </a:p>
          </p:txBody>
        </p:sp>
      </p:grpSp>
      <p:sp>
        <p:nvSpPr>
          <p:cNvPr id="2" name="Text Box 3105">
            <a:extLst>
              <a:ext uri="{FF2B5EF4-FFF2-40B4-BE49-F238E27FC236}">
                <a16:creationId xmlns:a16="http://schemas.microsoft.com/office/drawing/2014/main" id="{2ABF6C0B-B155-D83E-5F24-B02309E10E38}"/>
              </a:ext>
            </a:extLst>
          </p:cNvPr>
          <p:cNvSpPr txBox="1">
            <a:spLocks noChangeArrowheads="1"/>
          </p:cNvSpPr>
          <p:nvPr/>
        </p:nvSpPr>
        <p:spPr bwMode="auto">
          <a:xfrm>
            <a:off x="4376510" y="2283862"/>
            <a:ext cx="687569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71500" indent="-381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marL="190500" indent="0" eaLnBrk="1" hangingPunct="1"/>
            <a:r>
              <a:rPr lang="zh-CN" altLang="en-US" sz="3000" b="0" dirty="0">
                <a:latin typeface="+mn-lt"/>
                <a:ea typeface="+mn-ea"/>
              </a:rPr>
              <a:t>热量只会从高温物体向低温物体传导</a:t>
            </a:r>
          </a:p>
        </p:txBody>
      </p:sp>
      <p:sp>
        <p:nvSpPr>
          <p:cNvPr id="7" name="文本框 6">
            <a:extLst>
              <a:ext uri="{FF2B5EF4-FFF2-40B4-BE49-F238E27FC236}">
                <a16:creationId xmlns:a16="http://schemas.microsoft.com/office/drawing/2014/main" id="{25BBF087-0D72-4558-7568-5FB41DEE7FE7}"/>
              </a:ext>
            </a:extLst>
          </p:cNvPr>
          <p:cNvSpPr txBox="1"/>
          <p:nvPr/>
        </p:nvSpPr>
        <p:spPr>
          <a:xfrm>
            <a:off x="1813064" y="4920861"/>
            <a:ext cx="8847294" cy="584775"/>
          </a:xfrm>
          <a:prstGeom prst="rect">
            <a:avLst/>
          </a:prstGeom>
          <a:noFill/>
        </p:spPr>
        <p:txBody>
          <a:bodyPr wrap="none" rtlCol="0">
            <a:spAutoFit/>
          </a:bodyPr>
          <a:lstStyle/>
          <a:p>
            <a:r>
              <a:rPr lang="zh-CN" altLang="en-US" sz="3200" b="1" dirty="0">
                <a:solidFill>
                  <a:srgbClr val="FF0000"/>
                </a:solidFill>
              </a:rPr>
              <a:t>一切与热现象有关的实际宏观过程都是不可逆的</a:t>
            </a:r>
          </a:p>
        </p:txBody>
      </p:sp>
    </p:spTree>
    <p:extLst>
      <p:ext uri="{BB962C8B-B14F-4D97-AF65-F5344CB8AC3E}">
        <p14:creationId xmlns:p14="http://schemas.microsoft.com/office/powerpoint/2010/main" val="3577801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 Box 13">
            <a:extLst>
              <a:ext uri="{FF2B5EF4-FFF2-40B4-BE49-F238E27FC236}">
                <a16:creationId xmlns:a16="http://schemas.microsoft.com/office/drawing/2014/main" id="{B1D77FAA-C6EC-4AC5-A3F5-4CC64C94B2C7}"/>
              </a:ext>
            </a:extLst>
          </p:cNvPr>
          <p:cNvSpPr txBox="1">
            <a:spLocks noChangeArrowheads="1"/>
          </p:cNvSpPr>
          <p:nvPr/>
        </p:nvSpPr>
        <p:spPr bwMode="auto">
          <a:xfrm>
            <a:off x="2928209" y="264124"/>
            <a:ext cx="709712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第</a:t>
            </a:r>
            <a:r>
              <a:rPr lang="en-US" altLang="zh-CN"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11</a:t>
            </a:r>
            <a:r>
              <a:rPr lang="zh-CN" altLang="en-US" sz="3600" b="1" dirty="0">
                <a:solidFill>
                  <a:schemeClr val="tx1"/>
                </a:solidFill>
                <a:latin typeface="Arial" panose="020B0604020202020204" pitchFamily="34" charset="0"/>
                <a:ea typeface="华文楷体" panose="02010600040101010101" pitchFamily="2" charset="-122"/>
                <a:cs typeface="Arial" panose="020B0604020202020204" pitchFamily="34" charset="0"/>
              </a:rPr>
              <a:t>章　热力学第二定律</a:t>
            </a:r>
          </a:p>
        </p:txBody>
      </p:sp>
      <p:sp>
        <p:nvSpPr>
          <p:cNvPr id="4112" name="Rectangle 16">
            <a:hlinkClick r:id="" action="ppaction://noaction"/>
            <a:extLst>
              <a:ext uri="{FF2B5EF4-FFF2-40B4-BE49-F238E27FC236}">
                <a16:creationId xmlns:a16="http://schemas.microsoft.com/office/drawing/2014/main" id="{E4498F14-2B16-44E2-8121-1F90B80155C0}"/>
              </a:ext>
            </a:extLst>
          </p:cNvPr>
          <p:cNvSpPr>
            <a:spLocks noChangeArrowheads="1"/>
          </p:cNvSpPr>
          <p:nvPr/>
        </p:nvSpPr>
        <p:spPr bwMode="auto">
          <a:xfrm>
            <a:off x="2850993" y="1259371"/>
            <a:ext cx="6705460" cy="5419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lnSpc>
                <a:spcPts val="2400"/>
              </a:lnSpc>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11.1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自然过程的方向</a:t>
            </a:r>
          </a:p>
          <a:p>
            <a:pPr>
              <a:lnSpc>
                <a:spcPts val="2400"/>
              </a:lnSpc>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11.2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不可逆的相互依存</a:t>
            </a:r>
          </a:p>
          <a:p>
            <a:pPr>
              <a:lnSpc>
                <a:spcPts val="2400"/>
              </a:lnSpc>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11.3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热力学第二定律及其微观意义</a:t>
            </a:r>
          </a:p>
          <a:p>
            <a:pPr>
              <a:lnSpc>
                <a:spcPts val="2400"/>
              </a:lnSpc>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11.4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热力学概率与自然过程的方向</a:t>
            </a:r>
          </a:p>
          <a:p>
            <a:pPr>
              <a:lnSpc>
                <a:spcPts val="2400"/>
              </a:lnSpc>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11.5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玻尔兹曼熵公式与熵增加原理</a:t>
            </a:r>
          </a:p>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11.6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可逆过程</a:t>
            </a:r>
          </a:p>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11.7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克劳修斯熵公式</a:t>
            </a:r>
            <a:endPar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endParaRPr>
          </a:p>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11.8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用克劳修斯熵公式计算熵变</a:t>
            </a:r>
            <a:endPar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endParaRPr>
          </a:p>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11.9*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温熵图</a:t>
            </a:r>
            <a:endPar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endParaRPr>
          </a:p>
          <a:p>
            <a:pPr>
              <a:lnSpc>
                <a:spcPts val="2400"/>
              </a:lnSpc>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11.10*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熵和能量退降</a:t>
            </a:r>
          </a:p>
        </p:txBody>
      </p:sp>
      <p:sp>
        <p:nvSpPr>
          <p:cNvPr id="11" name="矩形 10">
            <a:extLst>
              <a:ext uri="{FF2B5EF4-FFF2-40B4-BE49-F238E27FC236}">
                <a16:creationId xmlns:a16="http://schemas.microsoft.com/office/drawing/2014/main" id="{BBDB04A1-0ED6-47DB-AB21-B6B2EFE1D30C}"/>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a:solidFill>
                <a:schemeClr val="tx1"/>
              </a:solidFill>
              <a:latin typeface="Arial" panose="020B0604020202020204" pitchFamily="34" charset="0"/>
              <a:ea typeface="华文楷体" panose="02010600040101010101" pitchFamily="2" charset="-122"/>
              <a:cs typeface="Arial" panose="020B0604020202020204" pitchFamily="34" charset="0"/>
            </a:endParaRPr>
          </a:p>
        </p:txBody>
      </p:sp>
    </p:spTree>
    <p:extLst>
      <p:ext uri="{BB962C8B-B14F-4D97-AF65-F5344CB8AC3E}">
        <p14:creationId xmlns:p14="http://schemas.microsoft.com/office/powerpoint/2010/main" val="258814392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3">
            <a:hlinkClick r:id="" action="ppaction://noaction"/>
            <a:extLst>
              <a:ext uri="{FF2B5EF4-FFF2-40B4-BE49-F238E27FC236}">
                <a16:creationId xmlns:a16="http://schemas.microsoft.com/office/drawing/2014/main" id="{A65EAF76-DFA6-580D-6E10-8764AEA56AC7}"/>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不可逆性的相互依存</a:t>
            </a:r>
          </a:p>
        </p:txBody>
      </p:sp>
      <p:grpSp>
        <p:nvGrpSpPr>
          <p:cNvPr id="6" name="Group 6">
            <a:extLst>
              <a:ext uri="{FF2B5EF4-FFF2-40B4-BE49-F238E27FC236}">
                <a16:creationId xmlns:a16="http://schemas.microsoft.com/office/drawing/2014/main" id="{76667BCD-2379-ABD7-601D-56C666A7EAB4}"/>
              </a:ext>
            </a:extLst>
          </p:cNvPr>
          <p:cNvGrpSpPr/>
          <p:nvPr/>
        </p:nvGrpSpPr>
        <p:grpSpPr>
          <a:xfrm>
            <a:off x="1446893" y="3053670"/>
            <a:ext cx="1219200" cy="1219200"/>
            <a:chOff x="528" y="2208"/>
            <a:chExt cx="672" cy="672"/>
          </a:xfrm>
        </p:grpSpPr>
        <p:sp>
          <p:nvSpPr>
            <p:cNvPr id="7" name="Oval 7">
              <a:extLst>
                <a:ext uri="{FF2B5EF4-FFF2-40B4-BE49-F238E27FC236}">
                  <a16:creationId xmlns:a16="http://schemas.microsoft.com/office/drawing/2014/main" id="{1224D686-83C6-AAA8-6289-DB93616E8732}"/>
                </a:ext>
              </a:extLst>
            </p:cNvPr>
            <p:cNvSpPr/>
            <p:nvPr/>
          </p:nvSpPr>
          <p:spPr>
            <a:xfrm>
              <a:off x="528" y="2208"/>
              <a:ext cx="672" cy="672"/>
            </a:xfrm>
            <a:prstGeom prst="ellipse">
              <a:avLst/>
            </a:prstGeom>
            <a:solidFill>
              <a:schemeClr val="bg1"/>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8" name="Text Box 8">
              <a:extLst>
                <a:ext uri="{FF2B5EF4-FFF2-40B4-BE49-F238E27FC236}">
                  <a16:creationId xmlns:a16="http://schemas.microsoft.com/office/drawing/2014/main" id="{986BF2F3-518A-E6B2-A67A-418380660557}"/>
                </a:ext>
              </a:extLst>
            </p:cNvPr>
            <p:cNvSpPr txBox="1">
              <a:spLocks noChangeArrowheads="1"/>
            </p:cNvSpPr>
            <p:nvPr/>
          </p:nvSpPr>
          <p:spPr bwMode="auto">
            <a:xfrm>
              <a:off x="624" y="2400"/>
              <a:ext cx="528" cy="255"/>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zh-CN" altLang="en-US" sz="2400" kern="1200" cap="none" spc="0" normalizeH="0" baseline="0" noProof="0" dirty="0">
                  <a:solidFill>
                    <a:schemeClr val="tx1"/>
                  </a:solidFill>
                  <a:effectLst>
                    <a:outerShdw blurRad="38100" dist="38100" dir="2700000" algn="tl">
                      <a:srgbClr val="C0C0C0"/>
                    </a:outerShdw>
                  </a:effectLst>
                  <a:latin typeface="Bookman Old Style" panose="02050604050505020204" pitchFamily="18" charset="0"/>
                  <a:ea typeface="楷体_GB2312" panose="02010609030101010101" pitchFamily="49" charset="-122"/>
                  <a:cs typeface="+mn-cs"/>
                </a:rPr>
                <a:t>热机</a:t>
              </a:r>
            </a:p>
          </p:txBody>
        </p:sp>
      </p:grpSp>
      <p:grpSp>
        <p:nvGrpSpPr>
          <p:cNvPr id="9" name="Group 9">
            <a:extLst>
              <a:ext uri="{FF2B5EF4-FFF2-40B4-BE49-F238E27FC236}">
                <a16:creationId xmlns:a16="http://schemas.microsoft.com/office/drawing/2014/main" id="{F19A686A-EACA-1CA5-37EB-E28EB29EF89B}"/>
              </a:ext>
            </a:extLst>
          </p:cNvPr>
          <p:cNvGrpSpPr/>
          <p:nvPr/>
        </p:nvGrpSpPr>
        <p:grpSpPr>
          <a:xfrm>
            <a:off x="1370693" y="1605870"/>
            <a:ext cx="1295400" cy="1447800"/>
            <a:chOff x="384" y="1632"/>
            <a:chExt cx="816" cy="912"/>
          </a:xfrm>
        </p:grpSpPr>
        <p:sp>
          <p:nvSpPr>
            <p:cNvPr id="10" name="Rectangle 10">
              <a:extLst>
                <a:ext uri="{FF2B5EF4-FFF2-40B4-BE49-F238E27FC236}">
                  <a16:creationId xmlns:a16="http://schemas.microsoft.com/office/drawing/2014/main" id="{1C778A9F-68B5-6DCB-FE4C-4159E30DCE38}"/>
                </a:ext>
              </a:extLst>
            </p:cNvPr>
            <p:cNvSpPr/>
            <p:nvPr/>
          </p:nvSpPr>
          <p:spPr>
            <a:xfrm>
              <a:off x="384" y="1632"/>
              <a:ext cx="816" cy="288"/>
            </a:xfrm>
            <a:prstGeom prst="rect">
              <a:avLst/>
            </a:prstGeom>
            <a:solidFill>
              <a:srgbClr val="FF0000"/>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1" name="Text Box 11">
              <a:extLst>
                <a:ext uri="{FF2B5EF4-FFF2-40B4-BE49-F238E27FC236}">
                  <a16:creationId xmlns:a16="http://schemas.microsoft.com/office/drawing/2014/main" id="{10CA1BC8-5D2B-B6D2-5581-5A3517F039FB}"/>
                </a:ext>
              </a:extLst>
            </p:cNvPr>
            <p:cNvSpPr txBox="1">
              <a:spLocks noChangeArrowheads="1"/>
            </p:cNvSpPr>
            <p:nvPr/>
          </p:nvSpPr>
          <p:spPr bwMode="auto">
            <a:xfrm>
              <a:off x="672" y="1632"/>
              <a:ext cx="528" cy="291"/>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sz="2400" i="1" kern="1200" cap="none" spc="0" normalizeH="0" baseline="0" noProof="0" dirty="0">
                  <a:solidFill>
                    <a:schemeClr val="tx1"/>
                  </a:solidFill>
                  <a:effectLst>
                    <a:outerShdw blurRad="38100" dist="38100" dir="2700000" algn="tl">
                      <a:srgbClr val="C0C0C0"/>
                    </a:outerShdw>
                  </a:effectLst>
                  <a:latin typeface="Bookman Old Style" panose="02050604050505020204" pitchFamily="18" charset="0"/>
                  <a:ea typeface="楷体_GB2312" panose="02010609030101010101" pitchFamily="49" charset="-122"/>
                  <a:cs typeface="+mn-cs"/>
                </a:rPr>
                <a:t>T</a:t>
              </a:r>
              <a:r>
                <a:rPr kumimoji="1" lang="en-US" altLang="zh-CN" sz="2400" kern="1200" cap="none" spc="0" normalizeH="0" baseline="-25000" noProof="0" dirty="0">
                  <a:solidFill>
                    <a:schemeClr val="tx1"/>
                  </a:solidFill>
                  <a:effectLst>
                    <a:outerShdw blurRad="38100" dist="38100" dir="2700000" algn="tl">
                      <a:srgbClr val="C0C0C0"/>
                    </a:outerShdw>
                  </a:effectLst>
                  <a:latin typeface="Bookman Old Style" panose="02050604050505020204" pitchFamily="18" charset="0"/>
                  <a:ea typeface="楷体_GB2312" panose="02010609030101010101" pitchFamily="49" charset="-122"/>
                  <a:cs typeface="+mn-cs"/>
                </a:rPr>
                <a:t>1</a:t>
              </a:r>
              <a:endParaRPr kumimoji="1" lang="en-US" altLang="zh-CN" sz="2400" kern="1200" cap="none" spc="0" normalizeH="0" baseline="0" noProof="0" dirty="0">
                <a:solidFill>
                  <a:schemeClr val="tx1"/>
                </a:solidFill>
                <a:effectLst>
                  <a:outerShdw blurRad="38100" dist="38100" dir="2700000" algn="tl">
                    <a:srgbClr val="C0C0C0"/>
                  </a:outerShdw>
                </a:effectLst>
                <a:latin typeface="Bookman Old Style" panose="02050604050505020204" pitchFamily="18" charset="0"/>
                <a:ea typeface="楷体_GB2312" panose="02010609030101010101" pitchFamily="49" charset="-122"/>
                <a:cs typeface="+mn-cs"/>
              </a:endParaRPr>
            </a:p>
          </p:txBody>
        </p:sp>
        <p:sp>
          <p:nvSpPr>
            <p:cNvPr id="12" name="AutoShape 12">
              <a:extLst>
                <a:ext uri="{FF2B5EF4-FFF2-40B4-BE49-F238E27FC236}">
                  <a16:creationId xmlns:a16="http://schemas.microsoft.com/office/drawing/2014/main" id="{A03438EC-F69A-74AB-9247-F0CDC47545FB}"/>
                </a:ext>
              </a:extLst>
            </p:cNvPr>
            <p:cNvSpPr/>
            <p:nvPr/>
          </p:nvSpPr>
          <p:spPr>
            <a:xfrm>
              <a:off x="528" y="1920"/>
              <a:ext cx="576" cy="624"/>
            </a:xfrm>
            <a:prstGeom prst="downArrow">
              <a:avLst>
                <a:gd name="adj1" fmla="val 50000"/>
                <a:gd name="adj2" fmla="val 27083"/>
              </a:avLst>
            </a:prstGeom>
            <a:solidFill>
              <a:srgbClr val="FF9999"/>
            </a:solidFill>
            <a:ln w="9525" cap="flat" cmpd="sng">
              <a:solidFill>
                <a:schemeClr val="tx1"/>
              </a:solidFill>
              <a:prstDash val="solid"/>
              <a:miter/>
              <a:headEnd type="none" w="med" len="med"/>
              <a:tailEnd type="none" w="med" len="med"/>
            </a:ln>
          </p:spPr>
          <p:txBody>
            <a:bodyPr vert="eaVert" wrap="none" anchor="ctr" anchorCtr="0"/>
            <a:lstStyle/>
            <a:p>
              <a:endParaRPr lang="zh-CN" altLang="en-US" dirty="0">
                <a:latin typeface="Bookman Old Style" panose="02050604050505020204" pitchFamily="18" charset="0"/>
              </a:endParaRPr>
            </a:p>
          </p:txBody>
        </p:sp>
        <p:sp>
          <p:nvSpPr>
            <p:cNvPr id="13" name="Text Box 13">
              <a:extLst>
                <a:ext uri="{FF2B5EF4-FFF2-40B4-BE49-F238E27FC236}">
                  <a16:creationId xmlns:a16="http://schemas.microsoft.com/office/drawing/2014/main" id="{6B418CCA-2A33-A39B-3AC9-1708300EF219}"/>
                </a:ext>
              </a:extLst>
            </p:cNvPr>
            <p:cNvSpPr txBox="1">
              <a:spLocks noChangeArrowheads="1"/>
            </p:cNvSpPr>
            <p:nvPr/>
          </p:nvSpPr>
          <p:spPr bwMode="auto">
            <a:xfrm>
              <a:off x="672" y="2064"/>
              <a:ext cx="396" cy="291"/>
            </a:xfrm>
            <a:prstGeom prst="rect">
              <a:avLst/>
            </a:prstGeom>
            <a:noFill/>
            <a:ln w="9525">
              <a:noFill/>
              <a:miter lim="800000"/>
            </a:ln>
            <a:effectLst/>
          </p:spPr>
          <p:txBody>
            <a:bodyPr wrap="square">
              <a:spAutoFit/>
            </a:bodyPr>
            <a:lstStyle/>
            <a:p>
              <a:pPr marR="0" defTabSz="914400">
                <a:spcBef>
                  <a:spcPct val="50000"/>
                </a:spcBef>
                <a:buClrTx/>
                <a:buSzTx/>
                <a:buFontTx/>
                <a:buNone/>
                <a:defRPr/>
              </a:pPr>
              <a:r>
                <a:rPr kumimoji="1" lang="en-US" altLang="zh-CN" sz="2400" i="1" kern="1200" cap="none" spc="0" normalizeH="0" baseline="0" noProof="0" dirty="0">
                  <a:solidFill>
                    <a:schemeClr val="tx1"/>
                  </a:solidFill>
                  <a:effectLst>
                    <a:outerShdw blurRad="38100" dist="38100" dir="2700000" algn="tl">
                      <a:srgbClr val="C0C0C0"/>
                    </a:outerShdw>
                  </a:effectLst>
                  <a:latin typeface="Bookman Old Style" panose="02050604050505020204" pitchFamily="18" charset="0"/>
                  <a:ea typeface="楷体_GB2312" panose="02010609030101010101" pitchFamily="49" charset="-122"/>
                  <a:cs typeface="+mn-cs"/>
                </a:rPr>
                <a:t>Q</a:t>
              </a:r>
              <a:r>
                <a:rPr kumimoji="1" lang="en-US" altLang="zh-CN" sz="2400" kern="1200" cap="none" spc="0" normalizeH="0" baseline="-25000" noProof="0" dirty="0">
                  <a:solidFill>
                    <a:schemeClr val="tx1"/>
                  </a:solidFill>
                  <a:effectLst>
                    <a:outerShdw blurRad="38100" dist="38100" dir="2700000" algn="tl">
                      <a:srgbClr val="C0C0C0"/>
                    </a:outerShdw>
                  </a:effectLst>
                  <a:latin typeface="Bookman Old Style" panose="02050604050505020204" pitchFamily="18" charset="0"/>
                  <a:ea typeface="楷体_GB2312" panose="02010609030101010101" pitchFamily="49" charset="-122"/>
                  <a:cs typeface="+mn-cs"/>
                </a:rPr>
                <a:t>1</a:t>
              </a:r>
              <a:endParaRPr kumimoji="1" lang="en-US" altLang="zh-CN" sz="2400" kern="1200" cap="none" spc="0" normalizeH="0" baseline="0" noProof="0" dirty="0">
                <a:solidFill>
                  <a:schemeClr val="tx1"/>
                </a:solidFill>
                <a:effectLst>
                  <a:outerShdw blurRad="38100" dist="38100" dir="2700000" algn="tl">
                    <a:srgbClr val="C0C0C0"/>
                  </a:outerShdw>
                </a:effectLst>
                <a:latin typeface="Bookman Old Style" panose="02050604050505020204" pitchFamily="18" charset="0"/>
                <a:ea typeface="楷体_GB2312" panose="02010609030101010101" pitchFamily="49" charset="-122"/>
                <a:cs typeface="+mn-cs"/>
              </a:endParaRPr>
            </a:p>
          </p:txBody>
        </p:sp>
      </p:grpSp>
      <p:grpSp>
        <p:nvGrpSpPr>
          <p:cNvPr id="14" name="Group 14">
            <a:extLst>
              <a:ext uri="{FF2B5EF4-FFF2-40B4-BE49-F238E27FC236}">
                <a16:creationId xmlns:a16="http://schemas.microsoft.com/office/drawing/2014/main" id="{D402AFD9-9CB0-735B-4260-FFA91977DE2A}"/>
              </a:ext>
            </a:extLst>
          </p:cNvPr>
          <p:cNvGrpSpPr/>
          <p:nvPr/>
        </p:nvGrpSpPr>
        <p:grpSpPr>
          <a:xfrm>
            <a:off x="1142093" y="4272870"/>
            <a:ext cx="1828800" cy="1568450"/>
            <a:chOff x="240" y="3168"/>
            <a:chExt cx="1152" cy="864"/>
          </a:xfrm>
        </p:grpSpPr>
        <p:sp>
          <p:nvSpPr>
            <p:cNvPr id="15" name="AutoShape 15">
              <a:extLst>
                <a:ext uri="{FF2B5EF4-FFF2-40B4-BE49-F238E27FC236}">
                  <a16:creationId xmlns:a16="http://schemas.microsoft.com/office/drawing/2014/main" id="{506AFF29-0A6A-E458-0076-36786E27D840}"/>
                </a:ext>
              </a:extLst>
            </p:cNvPr>
            <p:cNvSpPr/>
            <p:nvPr/>
          </p:nvSpPr>
          <p:spPr>
            <a:xfrm>
              <a:off x="576" y="3168"/>
              <a:ext cx="480" cy="576"/>
            </a:xfrm>
            <a:prstGeom prst="downArrow">
              <a:avLst>
                <a:gd name="adj1" fmla="val 50000"/>
                <a:gd name="adj2" fmla="val 30000"/>
              </a:avLst>
            </a:prstGeom>
            <a:solidFill>
              <a:schemeClr val="hlink"/>
            </a:solidFill>
            <a:ln w="9525" cap="flat" cmpd="sng">
              <a:solidFill>
                <a:schemeClr val="tx1"/>
              </a:solidFill>
              <a:prstDash val="solid"/>
              <a:miter/>
              <a:headEnd type="none" w="med" len="med"/>
              <a:tailEnd type="none" w="med" len="med"/>
            </a:ln>
          </p:spPr>
          <p:txBody>
            <a:bodyPr vert="eaVert" wrap="none" anchor="ctr" anchorCtr="0"/>
            <a:lstStyle/>
            <a:p>
              <a:endParaRPr lang="zh-CN" altLang="en-US" dirty="0">
                <a:latin typeface="Bookman Old Style" panose="02050604050505020204" pitchFamily="18" charset="0"/>
              </a:endParaRPr>
            </a:p>
          </p:txBody>
        </p:sp>
        <p:grpSp>
          <p:nvGrpSpPr>
            <p:cNvPr id="16" name="Group 16">
              <a:extLst>
                <a:ext uri="{FF2B5EF4-FFF2-40B4-BE49-F238E27FC236}">
                  <a16:creationId xmlns:a16="http://schemas.microsoft.com/office/drawing/2014/main" id="{B86B8EB2-2AB4-748B-9D08-8D534BA1ABF9}"/>
                </a:ext>
              </a:extLst>
            </p:cNvPr>
            <p:cNvGrpSpPr/>
            <p:nvPr/>
          </p:nvGrpSpPr>
          <p:grpSpPr>
            <a:xfrm>
              <a:off x="240" y="3696"/>
              <a:ext cx="1152" cy="336"/>
              <a:chOff x="288" y="3648"/>
              <a:chExt cx="1152" cy="336"/>
            </a:xfrm>
          </p:grpSpPr>
          <p:sp>
            <p:nvSpPr>
              <p:cNvPr id="18" name="Rectangle 17">
                <a:extLst>
                  <a:ext uri="{FF2B5EF4-FFF2-40B4-BE49-F238E27FC236}">
                    <a16:creationId xmlns:a16="http://schemas.microsoft.com/office/drawing/2014/main" id="{5B204400-0C82-AF3B-0939-ACCC6C4690C6}"/>
                  </a:ext>
                </a:extLst>
              </p:cNvPr>
              <p:cNvSpPr/>
              <p:nvPr/>
            </p:nvSpPr>
            <p:spPr>
              <a:xfrm>
                <a:off x="288" y="3648"/>
                <a:ext cx="1152" cy="336"/>
              </a:xfrm>
              <a:prstGeom prst="rect">
                <a:avLst/>
              </a:prstGeom>
              <a:solidFill>
                <a:schemeClr val="accent2"/>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9" name="Text Box 18">
                <a:extLst>
                  <a:ext uri="{FF2B5EF4-FFF2-40B4-BE49-F238E27FC236}">
                    <a16:creationId xmlns:a16="http://schemas.microsoft.com/office/drawing/2014/main" id="{FE79D087-2925-A944-7DF9-D97C9B517BEB}"/>
                  </a:ext>
                </a:extLst>
              </p:cNvPr>
              <p:cNvSpPr txBox="1">
                <a:spLocks noChangeArrowheads="1"/>
              </p:cNvSpPr>
              <p:nvPr/>
            </p:nvSpPr>
            <p:spPr bwMode="auto">
              <a:xfrm>
                <a:off x="720" y="3696"/>
                <a:ext cx="432" cy="252"/>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sz="2400" i="1" kern="1200" cap="none" spc="0" normalizeH="0" baseline="0" noProof="0" dirty="0">
                    <a:solidFill>
                      <a:schemeClr val="tx1"/>
                    </a:solidFill>
                    <a:effectLst>
                      <a:outerShdw blurRad="38100" dist="38100" dir="2700000" algn="tl">
                        <a:srgbClr val="C0C0C0"/>
                      </a:outerShdw>
                    </a:effectLst>
                    <a:latin typeface="Bookman Old Style" panose="02050604050505020204" pitchFamily="18" charset="0"/>
                    <a:ea typeface="楷体_GB2312" panose="02010609030101010101" pitchFamily="49" charset="-122"/>
                    <a:cs typeface="+mn-cs"/>
                  </a:rPr>
                  <a:t>T</a:t>
                </a:r>
                <a:r>
                  <a:rPr kumimoji="1" lang="en-US" altLang="zh-CN" sz="2400" kern="1200" cap="none" spc="0" normalizeH="0" baseline="-25000" noProof="0" dirty="0">
                    <a:solidFill>
                      <a:schemeClr val="tx1"/>
                    </a:solidFill>
                    <a:effectLst>
                      <a:outerShdw blurRad="38100" dist="38100" dir="2700000" algn="tl">
                        <a:srgbClr val="C0C0C0"/>
                      </a:outerShdw>
                    </a:effectLst>
                    <a:latin typeface="Bookman Old Style" panose="02050604050505020204" pitchFamily="18" charset="0"/>
                    <a:ea typeface="楷体_GB2312" panose="02010609030101010101" pitchFamily="49" charset="-122"/>
                    <a:cs typeface="+mn-cs"/>
                  </a:rPr>
                  <a:t>2</a:t>
                </a:r>
                <a:endParaRPr kumimoji="1" lang="en-US" altLang="zh-CN" sz="2400" kern="1200" cap="none" spc="0" normalizeH="0" baseline="0" noProof="0" dirty="0">
                  <a:solidFill>
                    <a:schemeClr val="tx1"/>
                  </a:solidFill>
                  <a:effectLst>
                    <a:outerShdw blurRad="38100" dist="38100" dir="2700000" algn="tl">
                      <a:srgbClr val="C0C0C0"/>
                    </a:outerShdw>
                  </a:effectLst>
                  <a:latin typeface="Bookman Old Style" panose="02050604050505020204" pitchFamily="18" charset="0"/>
                  <a:ea typeface="楷体_GB2312" panose="02010609030101010101" pitchFamily="49" charset="-122"/>
                  <a:cs typeface="+mn-cs"/>
                </a:endParaRPr>
              </a:p>
            </p:txBody>
          </p:sp>
        </p:grpSp>
        <p:sp>
          <p:nvSpPr>
            <p:cNvPr id="17" name="Text Box 19">
              <a:extLst>
                <a:ext uri="{FF2B5EF4-FFF2-40B4-BE49-F238E27FC236}">
                  <a16:creationId xmlns:a16="http://schemas.microsoft.com/office/drawing/2014/main" id="{F04FD0BC-2704-D43C-1AE4-0D4D40D2BBE4}"/>
                </a:ext>
              </a:extLst>
            </p:cNvPr>
            <p:cNvSpPr txBox="1">
              <a:spLocks noChangeArrowheads="1"/>
            </p:cNvSpPr>
            <p:nvPr/>
          </p:nvSpPr>
          <p:spPr bwMode="auto">
            <a:xfrm>
              <a:off x="672" y="3312"/>
              <a:ext cx="384" cy="219"/>
            </a:xfrm>
            <a:prstGeom prst="rect">
              <a:avLst/>
            </a:prstGeom>
            <a:noFill/>
            <a:ln w="9525">
              <a:noFill/>
              <a:miter lim="800000"/>
            </a:ln>
            <a:effectLst/>
          </p:spPr>
          <p:txBody>
            <a:bodyPr>
              <a:spAutoFit/>
            </a:bodyPr>
            <a:lstStyle/>
            <a:p>
              <a:pPr marR="0" defTabSz="914400">
                <a:spcBef>
                  <a:spcPct val="50000"/>
                </a:spcBef>
                <a:buClrTx/>
                <a:buSzTx/>
                <a:buFontTx/>
                <a:buNone/>
                <a:defRPr/>
              </a:pPr>
              <a:r>
                <a:rPr kumimoji="1" lang="en-US" altLang="zh-CN" sz="2000" i="1" kern="1200" cap="none" spc="0" normalizeH="0" baseline="0" noProof="0" dirty="0">
                  <a:solidFill>
                    <a:schemeClr val="tx1"/>
                  </a:solidFill>
                  <a:effectLst>
                    <a:outerShdw blurRad="38100" dist="38100" dir="2700000" algn="tl">
                      <a:srgbClr val="C0C0C0"/>
                    </a:outerShdw>
                  </a:effectLst>
                  <a:latin typeface="Bookman Old Style" panose="02050604050505020204" pitchFamily="18" charset="0"/>
                  <a:ea typeface="楷体_GB2312" panose="02010609030101010101" pitchFamily="49" charset="-122"/>
                  <a:cs typeface="+mn-cs"/>
                </a:rPr>
                <a:t>Q</a:t>
              </a:r>
              <a:r>
                <a:rPr kumimoji="1" lang="en-US" altLang="zh-CN" sz="2000" kern="1200" cap="none" spc="0" normalizeH="0" baseline="-25000" noProof="0" dirty="0">
                  <a:solidFill>
                    <a:schemeClr val="tx1"/>
                  </a:solidFill>
                  <a:effectLst>
                    <a:outerShdw blurRad="38100" dist="38100" dir="2700000" algn="tl">
                      <a:srgbClr val="C0C0C0"/>
                    </a:outerShdw>
                  </a:effectLst>
                  <a:latin typeface="Bookman Old Style" panose="02050604050505020204" pitchFamily="18" charset="0"/>
                  <a:ea typeface="楷体_GB2312" panose="02010609030101010101" pitchFamily="49" charset="-122"/>
                  <a:cs typeface="+mn-cs"/>
                </a:rPr>
                <a:t>2</a:t>
              </a:r>
              <a:endParaRPr kumimoji="1" lang="en-US" altLang="zh-CN" sz="2000" kern="1200" cap="none" spc="0" normalizeH="0" baseline="0" noProof="0" dirty="0">
                <a:solidFill>
                  <a:schemeClr val="tx1"/>
                </a:solidFill>
                <a:effectLst>
                  <a:outerShdw blurRad="38100" dist="38100" dir="2700000" algn="tl">
                    <a:srgbClr val="C0C0C0"/>
                  </a:outerShdw>
                </a:effectLst>
                <a:latin typeface="Bookman Old Style" panose="02050604050505020204" pitchFamily="18" charset="0"/>
                <a:ea typeface="楷体_GB2312" panose="02010609030101010101" pitchFamily="49" charset="-122"/>
                <a:cs typeface="+mn-cs"/>
              </a:endParaRPr>
            </a:p>
          </p:txBody>
        </p:sp>
      </p:grpSp>
      <p:grpSp>
        <p:nvGrpSpPr>
          <p:cNvPr id="20" name="Group 20">
            <a:extLst>
              <a:ext uri="{FF2B5EF4-FFF2-40B4-BE49-F238E27FC236}">
                <a16:creationId xmlns:a16="http://schemas.microsoft.com/office/drawing/2014/main" id="{99BD8EAC-1478-5699-3C6C-26A2693E1D05}"/>
              </a:ext>
            </a:extLst>
          </p:cNvPr>
          <p:cNvGrpSpPr/>
          <p:nvPr/>
        </p:nvGrpSpPr>
        <p:grpSpPr>
          <a:xfrm>
            <a:off x="2666093" y="3358470"/>
            <a:ext cx="1066800" cy="685800"/>
            <a:chOff x="1200" y="2592"/>
            <a:chExt cx="672" cy="432"/>
          </a:xfrm>
        </p:grpSpPr>
        <p:sp>
          <p:nvSpPr>
            <p:cNvPr id="21" name="AutoShape 21">
              <a:extLst>
                <a:ext uri="{FF2B5EF4-FFF2-40B4-BE49-F238E27FC236}">
                  <a16:creationId xmlns:a16="http://schemas.microsoft.com/office/drawing/2014/main" id="{683C949E-D0AD-480C-0200-85FC84109516}"/>
                </a:ext>
              </a:extLst>
            </p:cNvPr>
            <p:cNvSpPr/>
            <p:nvPr/>
          </p:nvSpPr>
          <p:spPr>
            <a:xfrm>
              <a:off x="1200" y="2592"/>
              <a:ext cx="672" cy="432"/>
            </a:xfrm>
            <a:prstGeom prst="rightArrow">
              <a:avLst>
                <a:gd name="adj1" fmla="val 50000"/>
                <a:gd name="adj2" fmla="val 38888"/>
              </a:avLst>
            </a:prstGeom>
            <a:solidFill>
              <a:schemeClr val="accent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2" name="Text Box 22">
              <a:extLst>
                <a:ext uri="{FF2B5EF4-FFF2-40B4-BE49-F238E27FC236}">
                  <a16:creationId xmlns:a16="http://schemas.microsoft.com/office/drawing/2014/main" id="{9CB8A683-FB83-CD9A-2924-968E88A42A44}"/>
                </a:ext>
              </a:extLst>
            </p:cNvPr>
            <p:cNvSpPr txBox="1">
              <a:spLocks noChangeArrowheads="1"/>
            </p:cNvSpPr>
            <p:nvPr/>
          </p:nvSpPr>
          <p:spPr bwMode="auto">
            <a:xfrm>
              <a:off x="1344" y="2640"/>
              <a:ext cx="240" cy="291"/>
            </a:xfrm>
            <a:prstGeom prst="rect">
              <a:avLst/>
            </a:prstGeom>
            <a:noFill/>
            <a:ln w="9525">
              <a:noFill/>
              <a:miter lim="800000"/>
            </a:ln>
            <a:effectLst/>
          </p:spPr>
          <p:txBody>
            <a:bodyPr>
              <a:spAutoFit/>
            </a:bodyPr>
            <a:lstStyle/>
            <a:p>
              <a:pPr>
                <a:spcBef>
                  <a:spcPct val="50000"/>
                </a:spcBef>
                <a:buNone/>
              </a:pPr>
              <a:r>
                <a:rPr lang="en-US" altLang="zh-CN" sz="2400" i="1" dirty="0">
                  <a:solidFill>
                    <a:schemeClr val="tx1"/>
                  </a:solidFill>
                  <a:effectLst>
                    <a:outerShdw blurRad="38100" dist="38100" dir="2700000">
                      <a:srgbClr val="C0C0C0"/>
                    </a:outerShdw>
                  </a:effectLst>
                  <a:latin typeface="Bookman Old Style" panose="02050604050505020204" pitchFamily="18" charset="0"/>
                  <a:ea typeface="楷体_GB2312" panose="02010609030101010101" pitchFamily="49" charset="-122"/>
                </a:rPr>
                <a:t>W</a:t>
              </a:r>
            </a:p>
          </p:txBody>
        </p:sp>
      </p:grpSp>
      <p:sp>
        <p:nvSpPr>
          <p:cNvPr id="23" name="Rectangle 26">
            <a:extLst>
              <a:ext uri="{FF2B5EF4-FFF2-40B4-BE49-F238E27FC236}">
                <a16:creationId xmlns:a16="http://schemas.microsoft.com/office/drawing/2014/main" id="{EA921E78-F8FB-7ED8-5BB0-927853AC07EC}"/>
              </a:ext>
            </a:extLst>
          </p:cNvPr>
          <p:cNvSpPr/>
          <p:nvPr/>
        </p:nvSpPr>
        <p:spPr>
          <a:xfrm>
            <a:off x="691243" y="1466170"/>
            <a:ext cx="3059113" cy="4465637"/>
          </a:xfrm>
          <a:prstGeom prst="rect">
            <a:avLst/>
          </a:prstGeom>
          <a:noFill/>
          <a:ln w="9525">
            <a:noFill/>
          </a:ln>
        </p:spPr>
        <p:txBody>
          <a:bodyPr wrap="none" lIns="0" tIns="0" rIns="0" bIns="0" anchor="ctr" anchorCtr="0"/>
          <a:lstStyle/>
          <a:p>
            <a:endParaRPr lang="zh-CN" altLang="en-US" dirty="0">
              <a:latin typeface="Bookman Old Style" panose="02050604050505020204" pitchFamily="18" charset="0"/>
            </a:endParaRPr>
          </a:p>
        </p:txBody>
      </p:sp>
      <p:sp>
        <p:nvSpPr>
          <p:cNvPr id="24" name="圆角右箭头 22">
            <a:extLst>
              <a:ext uri="{FF2B5EF4-FFF2-40B4-BE49-F238E27FC236}">
                <a16:creationId xmlns:a16="http://schemas.microsoft.com/office/drawing/2014/main" id="{039DFF79-F318-DAA9-BC7A-6D4FB0F994F4}"/>
              </a:ext>
            </a:extLst>
          </p:cNvPr>
          <p:cNvSpPr/>
          <p:nvPr/>
        </p:nvSpPr>
        <p:spPr bwMode="auto">
          <a:xfrm>
            <a:off x="1123043" y="1828120"/>
            <a:ext cx="266700" cy="3341688"/>
          </a:xfrm>
          <a:prstGeom prst="ben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endParaRPr kumimoji="1" lang="zh-CN" altLang="en-US" sz="3600" b="1" i="0" u="none" strike="noStrike" kern="1200" cap="none" spc="0" normalizeH="0" baseline="0" noProof="0">
              <a:ln>
                <a:noFill/>
              </a:ln>
              <a:solidFill>
                <a:schemeClr val="bg2"/>
              </a:solidFill>
              <a:effectLst/>
              <a:uLnTx/>
              <a:uFillTx/>
              <a:latin typeface="Bookman Old Style" panose="02050604050505020204" pitchFamily="18" charset="0"/>
              <a:ea typeface="宋体" panose="02010600030101010101" pitchFamily="2" charset="-122"/>
              <a:cs typeface="+mn-cs"/>
            </a:endParaRPr>
          </a:p>
        </p:txBody>
      </p:sp>
      <p:sp>
        <p:nvSpPr>
          <p:cNvPr id="25" name="矩形 24">
            <a:extLst>
              <a:ext uri="{FF2B5EF4-FFF2-40B4-BE49-F238E27FC236}">
                <a16:creationId xmlns:a16="http://schemas.microsoft.com/office/drawing/2014/main" id="{AAF24610-CF44-9EC9-3C2C-A731334B5CB5}"/>
              </a:ext>
            </a:extLst>
          </p:cNvPr>
          <p:cNvSpPr/>
          <p:nvPr/>
        </p:nvSpPr>
        <p:spPr>
          <a:xfrm>
            <a:off x="691243" y="1958295"/>
            <a:ext cx="527050" cy="460375"/>
          </a:xfrm>
          <a:prstGeom prst="rect">
            <a:avLst/>
          </a:prstGeom>
        </p:spPr>
        <p:txBody>
          <a:bodyPr wrap="none">
            <a:spAutoFit/>
          </a:bodyPr>
          <a:lstStyle/>
          <a:p>
            <a:pPr marL="0" marR="0" lvl="0" indent="0" algn="l" defTabSz="914400" rtl="0" eaLnBrk="0" fontAlgn="base" latinLnBrk="0" hangingPunct="0">
              <a:lnSpc>
                <a:spcPct val="100000"/>
              </a:lnSpc>
              <a:spcBef>
                <a:spcPct val="50000"/>
              </a:spcBef>
              <a:spcAft>
                <a:spcPct val="0"/>
              </a:spcAft>
              <a:buClrTx/>
              <a:buSzTx/>
              <a:buFontTx/>
              <a:buNone/>
              <a:defRPr/>
            </a:pPr>
            <a:r>
              <a:rPr kumimoji="1" lang="en-US" altLang="zh-CN" sz="2400" b="1" i="1" u="none" strike="noStrike" kern="1200" cap="none" spc="0" normalizeH="0" baseline="0" noProof="0" dirty="0">
                <a:ln>
                  <a:noFill/>
                </a:ln>
                <a:solidFill>
                  <a:schemeClr val="tx1"/>
                </a:solidFill>
                <a:effectLst>
                  <a:outerShdw blurRad="38100" dist="38100" dir="2700000" algn="tl">
                    <a:srgbClr val="C0C0C0"/>
                  </a:outerShdw>
                </a:effectLst>
                <a:uLnTx/>
                <a:uFillTx/>
                <a:latin typeface="Bookman Old Style" panose="02050604050505020204" pitchFamily="18" charset="0"/>
                <a:ea typeface="楷体_GB2312" panose="02010609030101010101" pitchFamily="49" charset="-122"/>
                <a:cs typeface="+mn-cs"/>
              </a:rPr>
              <a:t>Q</a:t>
            </a:r>
            <a:r>
              <a:rPr kumimoji="1" lang="en-US" altLang="zh-CN" sz="2400" b="1" i="0" u="none" strike="noStrike" kern="1200" cap="none" spc="0" normalizeH="0" baseline="-25000" noProof="0" dirty="0">
                <a:ln>
                  <a:noFill/>
                </a:ln>
                <a:solidFill>
                  <a:schemeClr val="tx1"/>
                </a:solidFill>
                <a:effectLst>
                  <a:outerShdw blurRad="38100" dist="38100" dir="2700000" algn="tl">
                    <a:srgbClr val="C0C0C0"/>
                  </a:outerShdw>
                </a:effectLst>
                <a:uLnTx/>
                <a:uFillTx/>
                <a:latin typeface="Bookman Old Style" panose="02050604050505020204" pitchFamily="18" charset="0"/>
                <a:ea typeface="楷体_GB2312" panose="02010609030101010101" pitchFamily="49" charset="-122"/>
                <a:cs typeface="+mn-cs"/>
              </a:rPr>
              <a:t>2</a:t>
            </a:r>
            <a:endParaRPr kumimoji="1" lang="en-US" altLang="zh-CN" sz="2400" b="1" i="0" u="none" strike="noStrike" kern="1200" cap="none" spc="0" normalizeH="0" baseline="0" noProof="0" dirty="0">
              <a:ln>
                <a:noFill/>
              </a:ln>
              <a:solidFill>
                <a:schemeClr val="tx1"/>
              </a:solidFill>
              <a:effectLst>
                <a:outerShdw blurRad="38100" dist="38100" dir="2700000" algn="tl">
                  <a:srgbClr val="C0C0C0"/>
                </a:outerShdw>
              </a:effectLst>
              <a:uLnTx/>
              <a:uFillTx/>
              <a:latin typeface="Bookman Old Style" panose="02050604050505020204" pitchFamily="18" charset="0"/>
              <a:ea typeface="楷体_GB2312" panose="02010609030101010101" pitchFamily="49" charset="-122"/>
              <a:cs typeface="+mn-cs"/>
            </a:endParaRPr>
          </a:p>
        </p:txBody>
      </p:sp>
      <p:sp>
        <p:nvSpPr>
          <p:cNvPr id="29" name="文本框 28">
            <a:extLst>
              <a:ext uri="{FF2B5EF4-FFF2-40B4-BE49-F238E27FC236}">
                <a16:creationId xmlns:a16="http://schemas.microsoft.com/office/drawing/2014/main" id="{47905804-9F89-956A-8A9D-B4E3365F5DB3}"/>
              </a:ext>
            </a:extLst>
          </p:cNvPr>
          <p:cNvSpPr txBox="1"/>
          <p:nvPr/>
        </p:nvSpPr>
        <p:spPr>
          <a:xfrm>
            <a:off x="4036106" y="1997462"/>
            <a:ext cx="7865608" cy="3600986"/>
          </a:xfrm>
          <a:prstGeom prst="rect">
            <a:avLst/>
          </a:prstGeom>
          <a:noFill/>
        </p:spPr>
        <p:txBody>
          <a:bodyPr wrap="square">
            <a:spAutoFit/>
          </a:bodyPr>
          <a:lstStyle/>
          <a:p>
            <a:endParaRPr lang="en-US" altLang="zh-CN" sz="2800" dirty="0"/>
          </a:p>
          <a:p>
            <a:pPr marL="457200" indent="-457200">
              <a:buFontTx/>
              <a:buChar char="-"/>
            </a:pPr>
            <a:r>
              <a:rPr lang="zh-CN" altLang="en-US" sz="2800" dirty="0"/>
              <a:t>在高温物体及低温物体之间，放一个热机，让它从高温 </a:t>
            </a:r>
            <a:r>
              <a:rPr lang="en-US" altLang="zh-CN" sz="2800" dirty="0"/>
              <a:t>T</a:t>
            </a:r>
            <a:r>
              <a:rPr lang="en-US" altLang="zh-CN" sz="2800" baseline="-25000" dirty="0"/>
              <a:t>1</a:t>
            </a:r>
            <a:r>
              <a:rPr lang="en-US" altLang="zh-CN" sz="2800" dirty="0"/>
              <a:t> </a:t>
            </a:r>
            <a:r>
              <a:rPr lang="zh-CN" altLang="en-US" sz="2800" dirty="0"/>
              <a:t>吸热 </a:t>
            </a:r>
            <a:r>
              <a:rPr lang="en-US" altLang="zh-CN" sz="2800" dirty="0"/>
              <a:t>Q</a:t>
            </a:r>
            <a:r>
              <a:rPr lang="en-US" altLang="zh-CN" sz="2800" baseline="-25000" dirty="0"/>
              <a:t>1</a:t>
            </a:r>
            <a:r>
              <a:rPr lang="en-US" altLang="zh-CN" sz="2800" dirty="0"/>
              <a:t> </a:t>
            </a:r>
            <a:r>
              <a:rPr lang="zh-CN" altLang="en-US" sz="2800" dirty="0"/>
              <a:t>，向低温 </a:t>
            </a:r>
            <a:r>
              <a:rPr lang="en-US" altLang="zh-CN" sz="2800" dirty="0"/>
              <a:t>T</a:t>
            </a:r>
            <a:r>
              <a:rPr lang="en-US" altLang="zh-CN" sz="2800" baseline="-25000" dirty="0"/>
              <a:t>2</a:t>
            </a:r>
            <a:r>
              <a:rPr lang="en-US" altLang="zh-CN" sz="2800" dirty="0"/>
              <a:t> </a:t>
            </a:r>
            <a:r>
              <a:rPr lang="zh-CN" altLang="en-US" sz="2800" dirty="0"/>
              <a:t>放热 </a:t>
            </a:r>
            <a:r>
              <a:rPr lang="en-US" altLang="zh-CN" sz="2800" dirty="0"/>
              <a:t>Q</a:t>
            </a:r>
            <a:r>
              <a:rPr lang="en-US" altLang="zh-CN" sz="2800" baseline="-25000" dirty="0"/>
              <a:t>2</a:t>
            </a:r>
            <a:r>
              <a:rPr lang="en-US" altLang="zh-CN" sz="2800" dirty="0"/>
              <a:t> </a:t>
            </a:r>
            <a:r>
              <a:rPr lang="zh-CN" altLang="en-US" sz="2800" dirty="0"/>
              <a:t>而作功。</a:t>
            </a:r>
            <a:endParaRPr lang="en-US" altLang="zh-CN" sz="2800" dirty="0"/>
          </a:p>
          <a:p>
            <a:pPr marL="457200" indent="-457200">
              <a:buFontTx/>
              <a:buChar char="-"/>
            </a:pPr>
            <a:r>
              <a:rPr lang="en-US" altLang="zh-CN" sz="2800" dirty="0"/>
              <a:t> </a:t>
            </a:r>
            <a:r>
              <a:rPr lang="zh-CN" altLang="en-US" sz="2800" dirty="0"/>
              <a:t>而低温物体得到的热 </a:t>
            </a:r>
            <a:r>
              <a:rPr lang="en-US" altLang="zh-CN" sz="2800" dirty="0"/>
              <a:t>Q</a:t>
            </a:r>
            <a:r>
              <a:rPr lang="en-US" altLang="zh-CN" sz="2800" baseline="-25000" dirty="0"/>
              <a:t>2</a:t>
            </a:r>
            <a:r>
              <a:rPr lang="en-US" altLang="zh-CN" sz="2800" dirty="0"/>
              <a:t> </a:t>
            </a:r>
            <a:r>
              <a:rPr lang="zh-CN" altLang="en-US" sz="2800" dirty="0"/>
              <a:t>又会自动流向高温物体。于是，低温热源复原。</a:t>
            </a:r>
            <a:endParaRPr lang="en-US" altLang="zh-CN" sz="2800" dirty="0"/>
          </a:p>
          <a:p>
            <a:endParaRPr lang="en-US" altLang="zh-CN" sz="2800" dirty="0"/>
          </a:p>
          <a:p>
            <a:r>
              <a:rPr lang="zh-CN" altLang="en-US" sz="3200" dirty="0">
                <a:solidFill>
                  <a:srgbClr val="FF0000"/>
                </a:solidFill>
              </a:rPr>
              <a:t>只从单一高温热源吸热（</a:t>
            </a:r>
            <a:r>
              <a:rPr lang="en-US" altLang="zh-CN" sz="3200" dirty="0">
                <a:solidFill>
                  <a:srgbClr val="FF0000"/>
                </a:solidFill>
              </a:rPr>
              <a:t> Q</a:t>
            </a:r>
            <a:r>
              <a:rPr lang="en-US" altLang="zh-CN" sz="3200" baseline="-25000" dirty="0">
                <a:solidFill>
                  <a:srgbClr val="FF0000"/>
                </a:solidFill>
              </a:rPr>
              <a:t>1</a:t>
            </a:r>
            <a:r>
              <a:rPr lang="en-US" altLang="zh-CN" sz="3200" dirty="0">
                <a:solidFill>
                  <a:srgbClr val="FF0000"/>
                </a:solidFill>
              </a:rPr>
              <a:t> – Q</a:t>
            </a:r>
            <a:r>
              <a:rPr lang="en-US" altLang="zh-CN" sz="3200" baseline="-25000" dirty="0">
                <a:solidFill>
                  <a:srgbClr val="FF0000"/>
                </a:solidFill>
              </a:rPr>
              <a:t>2</a:t>
            </a:r>
            <a:r>
              <a:rPr lang="zh-CN" altLang="en-US" sz="3200" dirty="0">
                <a:solidFill>
                  <a:srgbClr val="FF0000"/>
                </a:solidFill>
              </a:rPr>
              <a:t>）而做功</a:t>
            </a:r>
            <a:r>
              <a:rPr lang="zh-CN" altLang="en-US" sz="2800" dirty="0">
                <a:solidFill>
                  <a:srgbClr val="FF0000"/>
                </a:solidFill>
              </a:rPr>
              <a:t>。</a:t>
            </a:r>
          </a:p>
        </p:txBody>
      </p:sp>
      <p:sp>
        <p:nvSpPr>
          <p:cNvPr id="4" name="文本框 3">
            <a:extLst>
              <a:ext uri="{FF2B5EF4-FFF2-40B4-BE49-F238E27FC236}">
                <a16:creationId xmlns:a16="http://schemas.microsoft.com/office/drawing/2014/main" id="{47255AF2-6F06-3112-E6E4-F1C5BB758A8D}"/>
              </a:ext>
            </a:extLst>
          </p:cNvPr>
          <p:cNvSpPr txBox="1"/>
          <p:nvPr/>
        </p:nvSpPr>
        <p:spPr>
          <a:xfrm>
            <a:off x="2978150" y="1204625"/>
            <a:ext cx="8030936" cy="584775"/>
          </a:xfrm>
          <a:prstGeom prst="rect">
            <a:avLst/>
          </a:prstGeom>
          <a:noFill/>
        </p:spPr>
        <p:txBody>
          <a:bodyPr wrap="square">
            <a:spAutoFit/>
          </a:bodyPr>
          <a:lstStyle/>
          <a:p>
            <a:r>
              <a:rPr lang="zh-CN" altLang="en-US" sz="3200" dirty="0">
                <a:solidFill>
                  <a:srgbClr val="FF0000"/>
                </a:solidFill>
              </a:rPr>
              <a:t> 假设热可从低温物体自动流向高温物体：</a:t>
            </a:r>
            <a:endParaRPr lang="en-US" altLang="zh-CN" sz="3200" dirty="0">
              <a:solidFill>
                <a:srgbClr val="FF0000"/>
              </a:solidFill>
            </a:endParaRPr>
          </a:p>
        </p:txBody>
      </p:sp>
    </p:spTree>
    <p:extLst>
      <p:ext uri="{BB962C8B-B14F-4D97-AF65-F5344CB8AC3E}">
        <p14:creationId xmlns:p14="http://schemas.microsoft.com/office/powerpoint/2010/main" val="1971239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nodePh="1">
                                  <p:stCondLst>
                                    <p:cond delay="0"/>
                                  </p:stCondLst>
                                  <p:endCondLst>
                                    <p:cond evt="begin" delay="0">
                                      <p:tn val="17"/>
                                    </p:cond>
                                  </p:end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P spid="25"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5EE7BB7-4825-E2E0-6BA6-2E5064EDFDA5}"/>
              </a:ext>
            </a:extLst>
          </p:cNvPr>
          <p:cNvPicPr>
            <a:picLocks noChangeAspect="1"/>
          </p:cNvPicPr>
          <p:nvPr/>
        </p:nvPicPr>
        <p:blipFill>
          <a:blip r:embed="rId2"/>
          <a:stretch>
            <a:fillRect/>
          </a:stretch>
        </p:blipFill>
        <p:spPr>
          <a:xfrm>
            <a:off x="2338841" y="1593850"/>
            <a:ext cx="6573317" cy="3670300"/>
          </a:xfrm>
          <a:prstGeom prst="rect">
            <a:avLst/>
          </a:prstGeom>
        </p:spPr>
      </p:pic>
      <p:sp>
        <p:nvSpPr>
          <p:cNvPr id="4" name="Text Box 13">
            <a:hlinkClick r:id="" action="ppaction://noaction"/>
            <a:extLst>
              <a:ext uri="{FF2B5EF4-FFF2-40B4-BE49-F238E27FC236}">
                <a16:creationId xmlns:a16="http://schemas.microsoft.com/office/drawing/2014/main" id="{11FABA4B-D512-5E6C-0546-E600F34E0048}"/>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不可逆性的相互依存</a:t>
            </a:r>
          </a:p>
        </p:txBody>
      </p:sp>
      <p:sp>
        <p:nvSpPr>
          <p:cNvPr id="5" name="文本框 4">
            <a:extLst>
              <a:ext uri="{FF2B5EF4-FFF2-40B4-BE49-F238E27FC236}">
                <a16:creationId xmlns:a16="http://schemas.microsoft.com/office/drawing/2014/main" id="{2D126594-0DED-751D-9C95-A88B2EA0A61B}"/>
              </a:ext>
            </a:extLst>
          </p:cNvPr>
          <p:cNvSpPr txBox="1"/>
          <p:nvPr/>
        </p:nvSpPr>
        <p:spPr>
          <a:xfrm>
            <a:off x="935490" y="4839978"/>
            <a:ext cx="11476037" cy="1877437"/>
          </a:xfrm>
          <a:prstGeom prst="rect">
            <a:avLst/>
          </a:prstGeom>
          <a:noFill/>
        </p:spPr>
        <p:txBody>
          <a:bodyPr wrap="square">
            <a:spAutoFit/>
          </a:bodyPr>
          <a:lstStyle/>
          <a:p>
            <a:endParaRPr lang="en-US" altLang="zh-CN" sz="2800" dirty="0"/>
          </a:p>
          <a:p>
            <a:r>
              <a:rPr lang="zh-CN" altLang="en-US" sz="2800" dirty="0"/>
              <a:t>从热库</a:t>
            </a:r>
            <a:r>
              <a:rPr lang="en-US" altLang="zh-CN" sz="2800" dirty="0"/>
              <a:t>T</a:t>
            </a:r>
            <a:r>
              <a:rPr lang="en-US" altLang="zh-CN" sz="2800" baseline="-25000" dirty="0"/>
              <a:t>0</a:t>
            </a:r>
            <a:r>
              <a:rPr lang="en-US" altLang="zh-CN" sz="2800" dirty="0"/>
              <a:t> </a:t>
            </a:r>
            <a:r>
              <a:rPr lang="zh-CN" altLang="en-US" sz="2800" dirty="0"/>
              <a:t>吸热做功，搅动温度大于</a:t>
            </a:r>
            <a:r>
              <a:rPr lang="en-US" altLang="zh-CN" sz="2800" dirty="0"/>
              <a:t>T</a:t>
            </a:r>
            <a:r>
              <a:rPr lang="en-US" altLang="zh-CN" sz="2800" baseline="-25000" dirty="0"/>
              <a:t>0</a:t>
            </a:r>
            <a:r>
              <a:rPr lang="zh-CN" altLang="en-US" sz="2800" dirty="0"/>
              <a:t>的水使其内能增加，温度升高</a:t>
            </a:r>
            <a:endParaRPr lang="en-US" altLang="zh-CN" sz="2800" dirty="0"/>
          </a:p>
          <a:p>
            <a:endParaRPr lang="en-US" altLang="zh-CN" sz="2800" dirty="0"/>
          </a:p>
          <a:p>
            <a:r>
              <a:rPr lang="zh-CN" altLang="en-US" sz="3200" dirty="0">
                <a:solidFill>
                  <a:srgbClr val="0066FF"/>
                </a:solidFill>
              </a:rPr>
              <a:t>             </a:t>
            </a:r>
            <a:r>
              <a:rPr lang="zh-CN" altLang="en-US" sz="3200" dirty="0">
                <a:solidFill>
                  <a:srgbClr val="FF0000"/>
                </a:solidFill>
              </a:rPr>
              <a:t>热量从低温物体向高温物体传导</a:t>
            </a:r>
            <a:endParaRPr lang="en-US" altLang="zh-CN" sz="3200" dirty="0">
              <a:solidFill>
                <a:srgbClr val="FF0000"/>
              </a:solidFill>
            </a:endParaRPr>
          </a:p>
        </p:txBody>
      </p:sp>
      <p:sp>
        <p:nvSpPr>
          <p:cNvPr id="2" name="文本框 1">
            <a:extLst>
              <a:ext uri="{FF2B5EF4-FFF2-40B4-BE49-F238E27FC236}">
                <a16:creationId xmlns:a16="http://schemas.microsoft.com/office/drawing/2014/main" id="{7DE52DC9-8F49-E805-CDA4-C3A96BBF8AEC}"/>
              </a:ext>
            </a:extLst>
          </p:cNvPr>
          <p:cNvSpPr txBox="1"/>
          <p:nvPr/>
        </p:nvSpPr>
        <p:spPr>
          <a:xfrm>
            <a:off x="855662" y="1079303"/>
            <a:ext cx="11476037" cy="584775"/>
          </a:xfrm>
          <a:prstGeom prst="rect">
            <a:avLst/>
          </a:prstGeom>
          <a:noFill/>
        </p:spPr>
        <p:txBody>
          <a:bodyPr wrap="square">
            <a:spAutoFit/>
          </a:bodyPr>
          <a:lstStyle/>
          <a:p>
            <a:r>
              <a:rPr lang="zh-CN" altLang="en-US" sz="3200" dirty="0">
                <a:solidFill>
                  <a:srgbClr val="FF0000"/>
                </a:solidFill>
              </a:rPr>
              <a:t> 假设热可自动转换成功，或可从单一热源吸热做功：</a:t>
            </a:r>
            <a:endParaRPr lang="en-US" altLang="zh-CN" sz="3200" dirty="0">
              <a:solidFill>
                <a:srgbClr val="FF0000"/>
              </a:solidFill>
            </a:endParaRPr>
          </a:p>
        </p:txBody>
      </p:sp>
    </p:spTree>
    <p:extLst>
      <p:ext uri="{BB962C8B-B14F-4D97-AF65-F5344CB8AC3E}">
        <p14:creationId xmlns:p14="http://schemas.microsoft.com/office/powerpoint/2010/main" val="132624251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a:hlinkClick r:id="" action="ppaction://noaction"/>
            <a:extLst>
              <a:ext uri="{FF2B5EF4-FFF2-40B4-BE49-F238E27FC236}">
                <a16:creationId xmlns:a16="http://schemas.microsoft.com/office/drawing/2014/main" id="{53E829B9-7E3D-641C-90A3-892C638508D5}"/>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不可逆性的相互依存</a:t>
            </a:r>
          </a:p>
        </p:txBody>
      </p:sp>
      <p:pic>
        <p:nvPicPr>
          <p:cNvPr id="4" name="图片 3">
            <a:extLst>
              <a:ext uri="{FF2B5EF4-FFF2-40B4-BE49-F238E27FC236}">
                <a16:creationId xmlns:a16="http://schemas.microsoft.com/office/drawing/2014/main" id="{1C4E10FA-8EE6-BED1-1A5E-6FAC873C994E}"/>
              </a:ext>
            </a:extLst>
          </p:cNvPr>
          <p:cNvPicPr>
            <a:picLocks noChangeAspect="1"/>
          </p:cNvPicPr>
          <p:nvPr/>
        </p:nvPicPr>
        <p:blipFill>
          <a:blip r:embed="rId2"/>
          <a:stretch>
            <a:fillRect/>
          </a:stretch>
        </p:blipFill>
        <p:spPr>
          <a:xfrm>
            <a:off x="400174" y="1829762"/>
            <a:ext cx="6358934" cy="4616450"/>
          </a:xfrm>
          <a:prstGeom prst="rect">
            <a:avLst/>
          </a:prstGeom>
        </p:spPr>
      </p:pic>
      <p:sp>
        <p:nvSpPr>
          <p:cNvPr id="6" name="文本框 5">
            <a:extLst>
              <a:ext uri="{FF2B5EF4-FFF2-40B4-BE49-F238E27FC236}">
                <a16:creationId xmlns:a16="http://schemas.microsoft.com/office/drawing/2014/main" id="{2C55D341-9EA5-F172-D0B4-8FCCA20F349B}"/>
              </a:ext>
            </a:extLst>
          </p:cNvPr>
          <p:cNvSpPr txBox="1"/>
          <p:nvPr/>
        </p:nvSpPr>
        <p:spPr>
          <a:xfrm>
            <a:off x="6665367" y="2038921"/>
            <a:ext cx="5266283" cy="2308324"/>
          </a:xfrm>
          <a:prstGeom prst="rect">
            <a:avLst/>
          </a:prstGeom>
          <a:noFill/>
        </p:spPr>
        <p:txBody>
          <a:bodyPr wrap="square">
            <a:spAutoFit/>
          </a:bodyPr>
          <a:lstStyle/>
          <a:p>
            <a:endParaRPr lang="en-US" altLang="zh-CN" sz="2800" dirty="0"/>
          </a:p>
          <a:p>
            <a:r>
              <a:rPr lang="zh-CN" altLang="en-US" sz="2800" dirty="0"/>
              <a:t>吸热做功，做功后等其自动收缩恢复到初态，然后再吸热做功</a:t>
            </a:r>
            <a:endParaRPr lang="en-US" altLang="zh-CN" sz="2800" dirty="0"/>
          </a:p>
          <a:p>
            <a:endParaRPr lang="en-US" altLang="zh-CN" sz="2800" dirty="0"/>
          </a:p>
          <a:p>
            <a:r>
              <a:rPr lang="zh-CN" altLang="en-US" sz="3200" dirty="0">
                <a:solidFill>
                  <a:srgbClr val="FF0000"/>
                </a:solidFill>
                <a:latin typeface="Times New Roman" panose="02020603050405020304" pitchFamily="18" charset="0"/>
              </a:rPr>
              <a:t>热自动转化成功的过程发生</a:t>
            </a:r>
            <a:endParaRPr lang="zh-CN" altLang="en-US" sz="3200" i="0" dirty="0">
              <a:solidFill>
                <a:srgbClr val="FF0000"/>
              </a:solidFill>
              <a:effectLst/>
              <a:latin typeface="Helvetica Neue"/>
            </a:endParaRPr>
          </a:p>
        </p:txBody>
      </p:sp>
      <p:sp>
        <p:nvSpPr>
          <p:cNvPr id="3" name="文本框 2">
            <a:extLst>
              <a:ext uri="{FF2B5EF4-FFF2-40B4-BE49-F238E27FC236}">
                <a16:creationId xmlns:a16="http://schemas.microsoft.com/office/drawing/2014/main" id="{5AFA4CB2-5CCA-FE3C-66A5-798D1D7B5C64}"/>
              </a:ext>
            </a:extLst>
          </p:cNvPr>
          <p:cNvSpPr txBox="1"/>
          <p:nvPr/>
        </p:nvSpPr>
        <p:spPr>
          <a:xfrm>
            <a:off x="2187122" y="1120552"/>
            <a:ext cx="8030936" cy="584775"/>
          </a:xfrm>
          <a:prstGeom prst="rect">
            <a:avLst/>
          </a:prstGeom>
          <a:noFill/>
        </p:spPr>
        <p:txBody>
          <a:bodyPr wrap="square">
            <a:spAutoFit/>
          </a:bodyPr>
          <a:lstStyle/>
          <a:p>
            <a:r>
              <a:rPr lang="zh-CN" altLang="en-US" sz="3200" dirty="0">
                <a:solidFill>
                  <a:srgbClr val="FF0000"/>
                </a:solidFill>
              </a:rPr>
              <a:t> 假设气体向真空绝热膨胀的过程是可逆的：</a:t>
            </a:r>
          </a:p>
        </p:txBody>
      </p:sp>
    </p:spTree>
    <p:extLst>
      <p:ext uri="{BB962C8B-B14F-4D97-AF65-F5344CB8AC3E}">
        <p14:creationId xmlns:p14="http://schemas.microsoft.com/office/powerpoint/2010/main" val="234789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A0F0158C-84EE-C340-F904-9124CFDDEBCD}"/>
              </a:ext>
            </a:extLst>
          </p:cNvPr>
          <p:cNvSpPr txBox="1"/>
          <p:nvPr>
            <p:custDataLst>
              <p:tags r:id="rId2"/>
            </p:custDataLst>
          </p:nvPr>
        </p:nvSpPr>
        <p:spPr>
          <a:xfrm>
            <a:off x="1206500" y="1131368"/>
            <a:ext cx="9525000" cy="2143125"/>
          </a:xfrm>
          <a:prstGeom prst="rect">
            <a:avLst/>
          </a:prstGeom>
          <a:noFill/>
        </p:spPr>
        <p:txBody>
          <a:bodyPr vert="horz" wrap="square" rtlCol="0" anchor="ctr" anchorCtr="0">
            <a:noAutofit/>
          </a:bodyPr>
          <a:lstStyle/>
          <a:p>
            <a:pPr marL="457200" indent="-457200">
              <a:lnSpc>
                <a:spcPct val="120000"/>
              </a:lnSpc>
              <a:spcBef>
                <a:spcPct val="5000"/>
              </a:spcBef>
            </a:pPr>
            <a:r>
              <a:rPr lang="zh-CN" altLang="en-US" sz="2800" dirty="0">
                <a:latin typeface="Times New Roman" panose="02020603050405020304" pitchFamily="18" charset="0"/>
              </a:rPr>
              <a:t>关于热功转换和热量传递</a:t>
            </a:r>
            <a:r>
              <a:rPr lang="en-US" altLang="zh-CN" sz="2800" dirty="0">
                <a:latin typeface="Times New Roman" panose="02020603050405020304" pitchFamily="18" charset="0"/>
              </a:rPr>
              <a:t>,  </a:t>
            </a:r>
            <a:r>
              <a:rPr lang="zh-CN" altLang="en-US" sz="2800" dirty="0">
                <a:latin typeface="Times New Roman" panose="02020603050405020304" pitchFamily="18" charset="0"/>
              </a:rPr>
              <a:t>下列哪些论述是正确的：</a:t>
            </a:r>
            <a:endParaRPr lang="en-US" altLang="zh-CN" sz="2800" dirty="0">
              <a:latin typeface="Times New Roman" panose="02020603050405020304" pitchFamily="18" charset="0"/>
            </a:endParaRPr>
          </a:p>
          <a:p>
            <a:pPr marL="457200" indent="-457200">
              <a:lnSpc>
                <a:spcPct val="120000"/>
              </a:lnSpc>
              <a:spcBef>
                <a:spcPct val="5000"/>
              </a:spcBef>
            </a:pPr>
            <a:r>
              <a:rPr lang="en-US" altLang="zh-CN" sz="2800" dirty="0">
                <a:latin typeface="Times New Roman" panose="02020603050405020304" pitchFamily="18" charset="0"/>
              </a:rPr>
              <a:t>(1) </a:t>
            </a:r>
            <a:r>
              <a:rPr lang="zh-CN" altLang="en-US" sz="2800" dirty="0">
                <a:latin typeface="Times New Roman" panose="02020603050405020304" pitchFamily="18" charset="0"/>
              </a:rPr>
              <a:t>热转功的过程中同时需要低温热源和高温热源</a:t>
            </a:r>
            <a:r>
              <a:rPr lang="en-US" altLang="zh-CN" sz="2800" dirty="0">
                <a:latin typeface="Times New Roman" panose="02020603050405020304" pitchFamily="18" charset="0"/>
              </a:rPr>
              <a:t>; </a:t>
            </a:r>
          </a:p>
          <a:p>
            <a:pPr marL="457200" indent="-457200">
              <a:lnSpc>
                <a:spcPct val="120000"/>
              </a:lnSpc>
              <a:spcBef>
                <a:spcPct val="5000"/>
              </a:spcBef>
            </a:pPr>
            <a:r>
              <a:rPr lang="en-US" altLang="zh-CN" sz="2800" dirty="0">
                <a:latin typeface="Times New Roman" panose="02020603050405020304" pitchFamily="18" charset="0"/>
              </a:rPr>
              <a:t>(2)</a:t>
            </a:r>
            <a:r>
              <a:rPr lang="zh-CN" altLang="en-US" sz="2800" dirty="0">
                <a:latin typeface="Times New Roman" panose="02020603050405020304" pitchFamily="18" charset="0"/>
              </a:rPr>
              <a:t>一切热机的效率都只能小于</a:t>
            </a:r>
            <a:r>
              <a:rPr lang="en-US" altLang="zh-CN" sz="2800" dirty="0">
                <a:latin typeface="Times New Roman" panose="02020603050405020304" pitchFamily="18" charset="0"/>
              </a:rPr>
              <a:t>1;   </a:t>
            </a:r>
          </a:p>
          <a:p>
            <a:pPr marL="457200" indent="-457200">
              <a:lnSpc>
                <a:spcPct val="120000"/>
              </a:lnSpc>
              <a:spcBef>
                <a:spcPct val="5000"/>
              </a:spcBef>
            </a:pPr>
            <a:r>
              <a:rPr lang="en-US" altLang="zh-CN" sz="2800" dirty="0">
                <a:latin typeface="Times New Roman" panose="02020603050405020304" pitchFamily="18" charset="0"/>
              </a:rPr>
              <a:t>(3) </a:t>
            </a:r>
            <a:r>
              <a:rPr lang="zh-CN" altLang="en-US" sz="2800" dirty="0">
                <a:latin typeface="Times New Roman" panose="02020603050405020304" pitchFamily="18" charset="0"/>
              </a:rPr>
              <a:t>热量不能从低温物体向高温物体传递</a:t>
            </a:r>
            <a:r>
              <a:rPr lang="zh-CN" altLang="en-US" sz="2800" dirty="0">
                <a:latin typeface="Bookman Old Style" panose="02050604050505020204" pitchFamily="18" charset="0"/>
              </a:rPr>
              <a:t>。</a:t>
            </a:r>
            <a:endParaRPr lang="en-US" altLang="zh-CN" sz="2800" dirty="0">
              <a:latin typeface="Bookman Old Style" panose="02050604050505020204" pitchFamily="18" charset="0"/>
            </a:endParaRPr>
          </a:p>
          <a:p>
            <a:pPr marL="457200" indent="-457200">
              <a:lnSpc>
                <a:spcPct val="120000"/>
              </a:lnSpc>
              <a:spcBef>
                <a:spcPct val="5000"/>
              </a:spcBef>
            </a:pPr>
            <a:r>
              <a:rPr lang="en-US" altLang="zh-CN" sz="2800" dirty="0">
                <a:latin typeface="Times New Roman" panose="02020603050405020304" pitchFamily="18" charset="0"/>
              </a:rPr>
              <a:t>(4)</a:t>
            </a:r>
            <a:r>
              <a:rPr lang="zh-CN" altLang="en-US" sz="2800" dirty="0">
                <a:latin typeface="Bookman Old Style" panose="02050604050505020204" pitchFamily="18" charset="0"/>
              </a:rPr>
              <a:t>热量从高温物体向低温物体传递是不可逆的。</a:t>
            </a:r>
            <a:endParaRPr lang="en-US" altLang="zh-CN" sz="2800" dirty="0">
              <a:latin typeface="Bookman Old Style" panose="02050604050505020204" pitchFamily="18" charset="0"/>
            </a:endParaRPr>
          </a:p>
        </p:txBody>
      </p:sp>
      <p:sp>
        <p:nvSpPr>
          <p:cNvPr id="9" name="椭圆 8">
            <a:extLst>
              <a:ext uri="{FF2B5EF4-FFF2-40B4-BE49-F238E27FC236}">
                <a16:creationId xmlns:a16="http://schemas.microsoft.com/office/drawing/2014/main" id="{11C9BE68-F579-D7FC-40D8-F45274F9436B}"/>
              </a:ext>
            </a:extLst>
          </p:cNvPr>
          <p:cNvSpPr>
            <a:spLocks noChangeAspect="1"/>
          </p:cNvSpPr>
          <p:nvPr>
            <p:custDataLst>
              <p:tags r:id="rId3"/>
            </p:custDataLst>
          </p:nvPr>
        </p:nvSpPr>
        <p:spPr>
          <a:xfrm>
            <a:off x="1374775" y="397192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703CD330-FE41-A887-DDB5-6E2AD51ECC3B}"/>
              </a:ext>
            </a:extLst>
          </p:cNvPr>
          <p:cNvSpPr>
            <a:spLocks noChangeAspect="1"/>
          </p:cNvSpPr>
          <p:nvPr>
            <p:custDataLst>
              <p:tags r:id="rId4"/>
            </p:custDataLst>
          </p:nvPr>
        </p:nvSpPr>
        <p:spPr>
          <a:xfrm>
            <a:off x="5280025" y="4062018"/>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CA2B4068-531F-C62B-1381-9C1A49FA11EF}"/>
              </a:ext>
            </a:extLst>
          </p:cNvPr>
          <p:cNvSpPr>
            <a:spLocks noChangeAspect="1"/>
          </p:cNvSpPr>
          <p:nvPr>
            <p:custDataLst>
              <p:tags r:id="rId5"/>
            </p:custDataLst>
          </p:nvPr>
        </p:nvSpPr>
        <p:spPr>
          <a:xfrm>
            <a:off x="1314450" y="488632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9E6DBDA6-ECE4-B2B9-944E-82CD6B5113DD}"/>
              </a:ext>
            </a:extLst>
          </p:cNvPr>
          <p:cNvSpPr>
            <a:spLocks noChangeAspect="1"/>
          </p:cNvSpPr>
          <p:nvPr>
            <p:custDataLst>
              <p:tags r:id="rId6"/>
            </p:custDataLst>
          </p:nvPr>
        </p:nvSpPr>
        <p:spPr>
          <a:xfrm>
            <a:off x="5280025" y="4966692"/>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25FB3ADF-9BD4-E8C4-10AE-440BC1128258}"/>
              </a:ext>
            </a:extLst>
          </p:cNvPr>
          <p:cNvSpPr/>
          <p:nvPr>
            <p:custDataLst>
              <p:tags r:id="rId7"/>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sp>
        <p:nvSpPr>
          <p:cNvPr id="21" name="文本框 20">
            <a:extLst>
              <a:ext uri="{FF2B5EF4-FFF2-40B4-BE49-F238E27FC236}">
                <a16:creationId xmlns:a16="http://schemas.microsoft.com/office/drawing/2014/main" id="{C91A4BA2-8F61-D44C-1E5B-E6D5A4BC7678}"/>
              </a:ext>
            </a:extLst>
          </p:cNvPr>
          <p:cNvSpPr txBox="1"/>
          <p:nvPr/>
        </p:nvSpPr>
        <p:spPr>
          <a:xfrm>
            <a:off x="2070100" y="3938194"/>
            <a:ext cx="6096000" cy="492443"/>
          </a:xfrm>
          <a:prstGeom prst="rect">
            <a:avLst/>
          </a:prstGeom>
          <a:noFill/>
        </p:spPr>
        <p:txBody>
          <a:bodyPr wrap="square">
            <a:spAutoFit/>
          </a:bodyPr>
          <a:lstStyle/>
          <a:p>
            <a:r>
              <a:rPr lang="zh-CN" altLang="en-US" sz="2600" dirty="0">
                <a:latin typeface="Times New Roman" panose="02020603050405020304" pitchFamily="18" charset="0"/>
              </a:rPr>
              <a:t>只有</a:t>
            </a:r>
            <a:r>
              <a:rPr lang="en-US" altLang="zh-CN" sz="2600" dirty="0">
                <a:latin typeface="Times New Roman" panose="02020603050405020304" pitchFamily="18" charset="0"/>
              </a:rPr>
              <a:t>1</a:t>
            </a:r>
            <a:r>
              <a:rPr lang="zh-CN" altLang="en-US" sz="2600" dirty="0">
                <a:latin typeface="Times New Roman" panose="02020603050405020304" pitchFamily="18" charset="0"/>
              </a:rPr>
              <a:t>，</a:t>
            </a:r>
            <a:r>
              <a:rPr lang="en-US" altLang="zh-CN" sz="2600" dirty="0">
                <a:latin typeface="Times New Roman" panose="02020603050405020304" pitchFamily="18" charset="0"/>
              </a:rPr>
              <a:t>2</a:t>
            </a:r>
            <a:r>
              <a:rPr lang="zh-CN" altLang="en-US" sz="2600" dirty="0">
                <a:latin typeface="Times New Roman" panose="02020603050405020304" pitchFamily="18" charset="0"/>
              </a:rPr>
              <a:t>，</a:t>
            </a:r>
            <a:r>
              <a:rPr lang="en-US" altLang="zh-CN" sz="2600" dirty="0">
                <a:latin typeface="Times New Roman" panose="02020603050405020304" pitchFamily="18" charset="0"/>
              </a:rPr>
              <a:t>4</a:t>
            </a:r>
            <a:r>
              <a:rPr lang="zh-CN" altLang="en-US" sz="2600" dirty="0">
                <a:latin typeface="Times New Roman" panose="02020603050405020304" pitchFamily="18" charset="0"/>
              </a:rPr>
              <a:t>正确</a:t>
            </a:r>
            <a:endParaRPr lang="zh-CN" altLang="en-US" sz="2600" dirty="0"/>
          </a:p>
        </p:txBody>
      </p:sp>
      <p:sp>
        <p:nvSpPr>
          <p:cNvPr id="22" name="文本框 21">
            <a:extLst>
              <a:ext uri="{FF2B5EF4-FFF2-40B4-BE49-F238E27FC236}">
                <a16:creationId xmlns:a16="http://schemas.microsoft.com/office/drawing/2014/main" id="{1FF7382A-6F6E-5D18-260F-C4A7822FCB11}"/>
              </a:ext>
            </a:extLst>
          </p:cNvPr>
          <p:cNvSpPr txBox="1"/>
          <p:nvPr/>
        </p:nvSpPr>
        <p:spPr>
          <a:xfrm>
            <a:off x="6191250" y="4062018"/>
            <a:ext cx="6096000" cy="492443"/>
          </a:xfrm>
          <a:prstGeom prst="rect">
            <a:avLst/>
          </a:prstGeom>
          <a:noFill/>
        </p:spPr>
        <p:txBody>
          <a:bodyPr wrap="square">
            <a:spAutoFit/>
          </a:bodyPr>
          <a:lstStyle/>
          <a:p>
            <a:r>
              <a:rPr lang="zh-CN" altLang="en-US" sz="2600" dirty="0">
                <a:latin typeface="Times New Roman" panose="02020603050405020304" pitchFamily="18" charset="0"/>
              </a:rPr>
              <a:t>只有</a:t>
            </a:r>
            <a:r>
              <a:rPr lang="en-US" altLang="zh-CN" sz="2600" dirty="0">
                <a:latin typeface="Times New Roman" panose="02020603050405020304" pitchFamily="18" charset="0"/>
              </a:rPr>
              <a:t>2</a:t>
            </a:r>
            <a:r>
              <a:rPr lang="zh-CN" altLang="en-US" sz="2600" dirty="0">
                <a:latin typeface="Times New Roman" panose="02020603050405020304" pitchFamily="18" charset="0"/>
              </a:rPr>
              <a:t>，</a:t>
            </a:r>
            <a:r>
              <a:rPr lang="en-US" altLang="zh-CN" sz="2600" dirty="0">
                <a:latin typeface="Times New Roman" panose="02020603050405020304" pitchFamily="18" charset="0"/>
              </a:rPr>
              <a:t>3</a:t>
            </a:r>
            <a:r>
              <a:rPr lang="zh-CN" altLang="en-US" sz="2600" dirty="0">
                <a:latin typeface="Times New Roman" panose="02020603050405020304" pitchFamily="18" charset="0"/>
              </a:rPr>
              <a:t>，</a:t>
            </a:r>
            <a:r>
              <a:rPr lang="en-US" altLang="zh-CN" sz="2600" dirty="0">
                <a:latin typeface="Times New Roman" panose="02020603050405020304" pitchFamily="18" charset="0"/>
              </a:rPr>
              <a:t>4</a:t>
            </a:r>
            <a:r>
              <a:rPr lang="zh-CN" altLang="en-US" sz="2600" dirty="0">
                <a:latin typeface="Times New Roman" panose="02020603050405020304" pitchFamily="18" charset="0"/>
              </a:rPr>
              <a:t>正确</a:t>
            </a:r>
            <a:endParaRPr lang="zh-CN" altLang="en-US" sz="2600" dirty="0"/>
          </a:p>
        </p:txBody>
      </p:sp>
      <p:sp>
        <p:nvSpPr>
          <p:cNvPr id="23" name="文本框 22">
            <a:extLst>
              <a:ext uri="{FF2B5EF4-FFF2-40B4-BE49-F238E27FC236}">
                <a16:creationId xmlns:a16="http://schemas.microsoft.com/office/drawing/2014/main" id="{A0F87958-245A-0F94-6112-8162B92A697F}"/>
              </a:ext>
            </a:extLst>
          </p:cNvPr>
          <p:cNvSpPr txBox="1"/>
          <p:nvPr/>
        </p:nvSpPr>
        <p:spPr>
          <a:xfrm>
            <a:off x="1993900" y="4944785"/>
            <a:ext cx="6096000" cy="492443"/>
          </a:xfrm>
          <a:prstGeom prst="rect">
            <a:avLst/>
          </a:prstGeom>
          <a:noFill/>
        </p:spPr>
        <p:txBody>
          <a:bodyPr wrap="square">
            <a:spAutoFit/>
          </a:bodyPr>
          <a:lstStyle/>
          <a:p>
            <a:r>
              <a:rPr lang="zh-CN" altLang="en-US" sz="2600" dirty="0">
                <a:latin typeface="Times New Roman" panose="02020603050405020304" pitchFamily="18" charset="0"/>
              </a:rPr>
              <a:t>只有</a:t>
            </a:r>
            <a:r>
              <a:rPr lang="en-US" altLang="zh-CN" sz="2600" dirty="0">
                <a:latin typeface="Times New Roman" panose="02020603050405020304" pitchFamily="18" charset="0"/>
              </a:rPr>
              <a:t>1</a:t>
            </a:r>
            <a:r>
              <a:rPr lang="zh-CN" altLang="en-US" sz="2600" dirty="0">
                <a:latin typeface="Times New Roman" panose="02020603050405020304" pitchFamily="18" charset="0"/>
              </a:rPr>
              <a:t>，</a:t>
            </a:r>
            <a:r>
              <a:rPr lang="en-US" altLang="zh-CN" sz="2600" dirty="0">
                <a:latin typeface="Times New Roman" panose="02020603050405020304" pitchFamily="18" charset="0"/>
              </a:rPr>
              <a:t>3</a:t>
            </a:r>
            <a:r>
              <a:rPr lang="zh-CN" altLang="en-US" sz="2600" dirty="0">
                <a:latin typeface="Times New Roman" panose="02020603050405020304" pitchFamily="18" charset="0"/>
              </a:rPr>
              <a:t>，</a:t>
            </a:r>
            <a:r>
              <a:rPr lang="en-US" altLang="zh-CN" sz="2600" dirty="0">
                <a:latin typeface="Times New Roman" panose="02020603050405020304" pitchFamily="18" charset="0"/>
              </a:rPr>
              <a:t>4</a:t>
            </a:r>
            <a:r>
              <a:rPr lang="zh-CN" altLang="en-US" sz="2600" dirty="0">
                <a:latin typeface="Times New Roman" panose="02020603050405020304" pitchFamily="18" charset="0"/>
              </a:rPr>
              <a:t>正确</a:t>
            </a:r>
            <a:endParaRPr lang="zh-CN" altLang="en-US" sz="2600" dirty="0"/>
          </a:p>
        </p:txBody>
      </p:sp>
      <p:sp>
        <p:nvSpPr>
          <p:cNvPr id="24" name="文本框 23">
            <a:extLst>
              <a:ext uri="{FF2B5EF4-FFF2-40B4-BE49-F238E27FC236}">
                <a16:creationId xmlns:a16="http://schemas.microsoft.com/office/drawing/2014/main" id="{6FC54FDB-96AB-7D0B-9118-D65BE5B0BF5C}"/>
              </a:ext>
            </a:extLst>
          </p:cNvPr>
          <p:cNvSpPr txBox="1"/>
          <p:nvPr/>
        </p:nvSpPr>
        <p:spPr>
          <a:xfrm>
            <a:off x="6191250" y="4922878"/>
            <a:ext cx="6096000" cy="492443"/>
          </a:xfrm>
          <a:prstGeom prst="rect">
            <a:avLst/>
          </a:prstGeom>
          <a:noFill/>
        </p:spPr>
        <p:txBody>
          <a:bodyPr wrap="square">
            <a:spAutoFit/>
          </a:bodyPr>
          <a:lstStyle/>
          <a:p>
            <a:r>
              <a:rPr lang="zh-CN" altLang="en-US" sz="2600" dirty="0">
                <a:latin typeface="Times New Roman" panose="02020603050405020304" pitchFamily="18" charset="0"/>
              </a:rPr>
              <a:t>全部正确</a:t>
            </a:r>
            <a:endParaRPr lang="zh-CN" altLang="en-US" sz="2600" dirty="0"/>
          </a:p>
        </p:txBody>
      </p:sp>
      <p:grpSp>
        <p:nvGrpSpPr>
          <p:cNvPr id="18" name="组合 17">
            <a:extLst>
              <a:ext uri="{FF2B5EF4-FFF2-40B4-BE49-F238E27FC236}">
                <a16:creationId xmlns:a16="http://schemas.microsoft.com/office/drawing/2014/main" id="{2A9DDA92-9F0E-DE42-04D5-026936F6B882}"/>
              </a:ext>
            </a:extLst>
          </p:cNvPr>
          <p:cNvGrpSpPr/>
          <p:nvPr>
            <p:custDataLst>
              <p:tags r:id="rId8"/>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8664EFC5-B6C2-8C1D-B5B2-C17571082223}"/>
                </a:ext>
              </a:extLst>
            </p:cNvPr>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13C87D30-0AED-1455-8A91-08F3D8E98A65}"/>
                </a:ext>
              </a:extLst>
            </p:cNvPr>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F9BBB41C-9792-B6E4-98DB-31C67E3572FD}"/>
                </a:ext>
              </a:extLst>
            </p:cNvPr>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723FB54F-138B-122E-44F6-192FDD247308}"/>
                </a:ext>
              </a:extLst>
            </p:cNvPr>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C10911D9-BF96-CDE7-A0F7-03E1E5C4812E}"/>
              </a:ext>
            </a:extLst>
          </p:cNvPr>
          <p:cNvPicPr>
            <a:picLocks/>
          </p:cNvPicPr>
          <p:nvPr>
            <p:custDataLst>
              <p:tags r:id="rId9"/>
            </p:custDataLst>
          </p:nvPr>
        </p:nvPicPr>
        <p:blipFill>
          <a:blip r:embed="rId1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698688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178F73EF-4DD6-C7A7-EAEB-20F41A4E0D59}"/>
              </a:ext>
            </a:extLst>
          </p:cNvPr>
          <p:cNvSpPr txBox="1"/>
          <p:nvPr/>
        </p:nvSpPr>
        <p:spPr>
          <a:xfrm>
            <a:off x="541688" y="3780241"/>
            <a:ext cx="9217025" cy="1382814"/>
          </a:xfrm>
          <a:prstGeom prst="rect">
            <a:avLst/>
          </a:prstGeom>
          <a:noFill/>
          <a:ln w="9525">
            <a:noFill/>
          </a:ln>
        </p:spPr>
        <p:txBody>
          <a:bodyPr wrap="square">
            <a:spAutoFit/>
          </a:bodyPr>
          <a:lstStyle/>
          <a:p>
            <a:pPr>
              <a:lnSpc>
                <a:spcPct val="120000"/>
              </a:lnSpc>
              <a:spcBef>
                <a:spcPct val="50000"/>
              </a:spcBef>
            </a:pPr>
            <a:r>
              <a:rPr lang="en-US" altLang="zh-CN" sz="3000" dirty="0">
                <a:solidFill>
                  <a:srgbClr val="FF0000"/>
                </a:solidFill>
              </a:rPr>
              <a:t>-  </a:t>
            </a:r>
            <a:r>
              <a:rPr lang="zh-CN" altLang="en-US" sz="3000" dirty="0">
                <a:solidFill>
                  <a:srgbClr val="FF0000"/>
                </a:solidFill>
              </a:rPr>
              <a:t>开尔文说法（</a:t>
            </a:r>
            <a:r>
              <a:rPr lang="en-US" altLang="zh-CN" sz="3000" dirty="0">
                <a:solidFill>
                  <a:srgbClr val="FF0000"/>
                </a:solidFill>
              </a:rPr>
              <a:t>1851</a:t>
            </a:r>
            <a:r>
              <a:rPr lang="zh-CN" altLang="en-US" sz="3000" dirty="0">
                <a:solidFill>
                  <a:srgbClr val="FF0000"/>
                </a:solidFill>
              </a:rPr>
              <a:t>） </a:t>
            </a:r>
            <a:r>
              <a:rPr lang="en-US" altLang="zh-CN" sz="3000" i="1" dirty="0">
                <a:solidFill>
                  <a:srgbClr val="FF0000"/>
                </a:solidFill>
              </a:rPr>
              <a:t>Kelvin-principle </a:t>
            </a:r>
          </a:p>
          <a:p>
            <a:pPr>
              <a:lnSpc>
                <a:spcPct val="120000"/>
              </a:lnSpc>
              <a:spcBef>
                <a:spcPct val="50000"/>
              </a:spcBef>
            </a:pPr>
            <a:r>
              <a:rPr lang="zh-CN" altLang="en-US" sz="3000" dirty="0"/>
              <a:t>     其唯一效果是热全部转化为功的过程是不可能的</a:t>
            </a:r>
            <a:endParaRPr lang="en-US" altLang="zh-CN" sz="3000" dirty="0"/>
          </a:p>
        </p:txBody>
      </p:sp>
      <p:sp>
        <p:nvSpPr>
          <p:cNvPr id="4" name="Rectangle 2">
            <a:extLst>
              <a:ext uri="{FF2B5EF4-FFF2-40B4-BE49-F238E27FC236}">
                <a16:creationId xmlns:a16="http://schemas.microsoft.com/office/drawing/2014/main" id="{5F81B528-ECDF-8484-F0EC-6EFA86DCE0DE}"/>
              </a:ext>
            </a:extLst>
          </p:cNvPr>
          <p:cNvSpPr/>
          <p:nvPr/>
        </p:nvSpPr>
        <p:spPr>
          <a:xfrm>
            <a:off x="541688" y="1338761"/>
            <a:ext cx="8733034" cy="1303690"/>
          </a:xfrm>
          <a:prstGeom prst="rect">
            <a:avLst/>
          </a:prstGeom>
          <a:noFill/>
          <a:ln w="9525">
            <a:noFill/>
          </a:ln>
        </p:spPr>
        <p:txBody>
          <a:bodyPr wrap="square">
            <a:spAutoFit/>
          </a:bodyPr>
          <a:lstStyle/>
          <a:p>
            <a:pPr>
              <a:spcBef>
                <a:spcPct val="50000"/>
              </a:spcBef>
            </a:pPr>
            <a:r>
              <a:rPr lang="en-US" altLang="zh-CN" sz="3000" dirty="0">
                <a:solidFill>
                  <a:srgbClr val="FF0000"/>
                </a:solidFill>
              </a:rPr>
              <a:t>-  </a:t>
            </a:r>
            <a:r>
              <a:rPr lang="zh-CN" altLang="en-US" sz="3000" dirty="0">
                <a:solidFill>
                  <a:srgbClr val="FF0000"/>
                </a:solidFill>
              </a:rPr>
              <a:t>克劳修斯说法 （</a:t>
            </a:r>
            <a:r>
              <a:rPr lang="en-US" altLang="zh-CN" sz="3000" dirty="0">
                <a:solidFill>
                  <a:srgbClr val="FF0000"/>
                </a:solidFill>
              </a:rPr>
              <a:t>1850</a:t>
            </a:r>
            <a:r>
              <a:rPr lang="zh-CN" altLang="en-US" sz="3000" dirty="0">
                <a:solidFill>
                  <a:srgbClr val="FF0000"/>
                </a:solidFill>
              </a:rPr>
              <a:t>年）</a:t>
            </a:r>
            <a:r>
              <a:rPr lang="en-US" altLang="zh-CN" sz="3000" dirty="0">
                <a:solidFill>
                  <a:srgbClr val="FF0000"/>
                </a:solidFill>
              </a:rPr>
              <a:t> </a:t>
            </a:r>
            <a:r>
              <a:rPr lang="en-US" altLang="zh-CN" sz="3000" i="1" dirty="0">
                <a:solidFill>
                  <a:srgbClr val="FF0000"/>
                </a:solidFill>
              </a:rPr>
              <a:t>Clausius-principle</a:t>
            </a:r>
            <a:endParaRPr lang="en-US" altLang="zh-CN" sz="3000" dirty="0">
              <a:solidFill>
                <a:srgbClr val="FF0000"/>
              </a:solidFill>
            </a:endParaRPr>
          </a:p>
          <a:p>
            <a:pPr>
              <a:lnSpc>
                <a:spcPct val="120000"/>
              </a:lnSpc>
              <a:spcBef>
                <a:spcPct val="50000"/>
              </a:spcBef>
            </a:pPr>
            <a:r>
              <a:rPr lang="zh-CN" altLang="en-US" sz="3000" dirty="0"/>
              <a:t>      热量不能自动的从低温物体转向高温物体</a:t>
            </a:r>
            <a:endParaRPr lang="en-US" altLang="zh-CN" sz="3000" dirty="0"/>
          </a:p>
        </p:txBody>
      </p:sp>
      <p:pic>
        <p:nvPicPr>
          <p:cNvPr id="6" name="图片 5">
            <a:extLst>
              <a:ext uri="{FF2B5EF4-FFF2-40B4-BE49-F238E27FC236}">
                <a16:creationId xmlns:a16="http://schemas.microsoft.com/office/drawing/2014/main" id="{A7207A4B-1CF0-184B-E1EB-D485A2C284DD}"/>
              </a:ext>
            </a:extLst>
          </p:cNvPr>
          <p:cNvPicPr>
            <a:picLocks noChangeAspect="1"/>
          </p:cNvPicPr>
          <p:nvPr/>
        </p:nvPicPr>
        <p:blipFill>
          <a:blip r:embed="rId2"/>
          <a:stretch>
            <a:fillRect/>
          </a:stretch>
        </p:blipFill>
        <p:spPr>
          <a:xfrm>
            <a:off x="9373101" y="1074206"/>
            <a:ext cx="2014389" cy="2387966"/>
          </a:xfrm>
          <a:prstGeom prst="rect">
            <a:avLst/>
          </a:prstGeom>
        </p:spPr>
      </p:pic>
      <p:pic>
        <p:nvPicPr>
          <p:cNvPr id="8" name="图片 7">
            <a:extLst>
              <a:ext uri="{FF2B5EF4-FFF2-40B4-BE49-F238E27FC236}">
                <a16:creationId xmlns:a16="http://schemas.microsoft.com/office/drawing/2014/main" id="{B543695D-E17F-69BF-CE26-E8A4A93B449F}"/>
              </a:ext>
            </a:extLst>
          </p:cNvPr>
          <p:cNvPicPr>
            <a:picLocks noChangeAspect="1"/>
          </p:cNvPicPr>
          <p:nvPr/>
        </p:nvPicPr>
        <p:blipFill>
          <a:blip r:embed="rId3"/>
          <a:stretch>
            <a:fillRect/>
          </a:stretch>
        </p:blipFill>
        <p:spPr>
          <a:xfrm>
            <a:off x="9373101" y="3763654"/>
            <a:ext cx="2029753" cy="2537191"/>
          </a:xfrm>
          <a:prstGeom prst="rect">
            <a:avLst/>
          </a:prstGeom>
        </p:spPr>
      </p:pic>
      <p:sp>
        <p:nvSpPr>
          <p:cNvPr id="5" name="Text Box 13">
            <a:hlinkClick r:id="" action="ppaction://noaction"/>
            <a:extLst>
              <a:ext uri="{FF2B5EF4-FFF2-40B4-BE49-F238E27FC236}">
                <a16:creationId xmlns:a16="http://schemas.microsoft.com/office/drawing/2014/main" id="{A4DBCDED-84F3-D7DA-FAFB-6E9FA5ACAEAB}"/>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热力学第二定律</a:t>
            </a:r>
          </a:p>
        </p:txBody>
      </p:sp>
    </p:spTree>
    <p:extLst>
      <p:ext uri="{BB962C8B-B14F-4D97-AF65-F5344CB8AC3E}">
        <p14:creationId xmlns:p14="http://schemas.microsoft.com/office/powerpoint/2010/main" val="2041591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a:extLst>
              <a:ext uri="{FF2B5EF4-FFF2-40B4-BE49-F238E27FC236}">
                <a16:creationId xmlns:a16="http://schemas.microsoft.com/office/drawing/2014/main" id="{C2DBC95D-6192-3129-999A-BE0960A4DC7D}"/>
              </a:ext>
            </a:extLst>
          </p:cNvPr>
          <p:cNvSpPr txBox="1"/>
          <p:nvPr/>
        </p:nvSpPr>
        <p:spPr>
          <a:xfrm>
            <a:off x="914400" y="1584325"/>
            <a:ext cx="9740900" cy="645818"/>
          </a:xfrm>
          <a:prstGeom prst="rect">
            <a:avLst/>
          </a:prstGeom>
          <a:noFill/>
          <a:ln w="9525">
            <a:noFill/>
          </a:ln>
        </p:spPr>
        <p:txBody>
          <a:bodyPr wrap="square">
            <a:spAutoFit/>
          </a:bodyPr>
          <a:lstStyle/>
          <a:p>
            <a:pPr eaLnBrk="1" hangingPunct="1">
              <a:lnSpc>
                <a:spcPct val="120000"/>
              </a:lnSpc>
              <a:spcBef>
                <a:spcPct val="50000"/>
              </a:spcBef>
            </a:pPr>
            <a:r>
              <a:rPr lang="en-US" altLang="zh-CN" sz="3200" dirty="0">
                <a:solidFill>
                  <a:srgbClr val="1C1C1C"/>
                </a:solidFill>
                <a:latin typeface="Times New Roman" panose="02020603050405020304" pitchFamily="18" charset="0"/>
              </a:rPr>
              <a:t>- </a:t>
            </a:r>
            <a:r>
              <a:rPr lang="zh-CN" altLang="en-US" sz="3200" dirty="0">
                <a:solidFill>
                  <a:srgbClr val="1C1C1C"/>
                </a:solidFill>
                <a:latin typeface="Times New Roman" panose="02020603050405020304" pitchFamily="18" charset="0"/>
              </a:rPr>
              <a:t>热力学第二定律是大量实验和经验的总结。</a:t>
            </a:r>
            <a:endParaRPr lang="en-US" altLang="zh-CN" sz="3200" dirty="0">
              <a:solidFill>
                <a:srgbClr val="1C1C1C"/>
              </a:solidFill>
              <a:latin typeface="Times New Roman" panose="02020603050405020304" pitchFamily="18" charset="0"/>
            </a:endParaRPr>
          </a:p>
        </p:txBody>
      </p:sp>
      <p:sp>
        <p:nvSpPr>
          <p:cNvPr id="3" name="Text Box 6">
            <a:extLst>
              <a:ext uri="{FF2B5EF4-FFF2-40B4-BE49-F238E27FC236}">
                <a16:creationId xmlns:a16="http://schemas.microsoft.com/office/drawing/2014/main" id="{1FDB3CC2-56B3-C9F4-07BF-21EB609ADD12}"/>
              </a:ext>
            </a:extLst>
          </p:cNvPr>
          <p:cNvSpPr txBox="1"/>
          <p:nvPr/>
        </p:nvSpPr>
        <p:spPr>
          <a:xfrm>
            <a:off x="1012825" y="3367383"/>
            <a:ext cx="10061575" cy="1260475"/>
          </a:xfrm>
          <a:prstGeom prst="rect">
            <a:avLst/>
          </a:prstGeom>
          <a:noFill/>
          <a:ln w="9525">
            <a:noFill/>
          </a:ln>
        </p:spPr>
        <p:txBody>
          <a:bodyPr wrap="square">
            <a:spAutoFit/>
          </a:bodyPr>
          <a:lstStyle/>
          <a:p>
            <a:pPr eaLnBrk="1" hangingPunct="1">
              <a:lnSpc>
                <a:spcPct val="120000"/>
              </a:lnSpc>
              <a:spcBef>
                <a:spcPct val="50000"/>
              </a:spcBef>
            </a:pPr>
            <a:r>
              <a:rPr lang="en-US" altLang="zh-CN" sz="3200" dirty="0">
                <a:solidFill>
                  <a:srgbClr val="CC0000"/>
                </a:solidFill>
                <a:latin typeface="Times New Roman" panose="02020603050405020304" pitchFamily="18" charset="0"/>
              </a:rPr>
              <a:t>- </a:t>
            </a:r>
            <a:r>
              <a:rPr lang="zh-CN" altLang="en-US" sz="3200" dirty="0">
                <a:solidFill>
                  <a:srgbClr val="1C1C1C"/>
                </a:solidFill>
                <a:latin typeface="Times New Roman" panose="02020603050405020304" pitchFamily="18" charset="0"/>
              </a:rPr>
              <a:t>热力学第二定律可有多种说法，每种说法都反映了自然界过程进行的方向性 。</a:t>
            </a:r>
            <a:endParaRPr lang="en-US" altLang="zh-CN" sz="3200" dirty="0">
              <a:solidFill>
                <a:srgbClr val="1C1C1C"/>
              </a:solidFill>
              <a:latin typeface="Times New Roman" panose="02020603050405020304" pitchFamily="18" charset="0"/>
            </a:endParaRPr>
          </a:p>
        </p:txBody>
      </p:sp>
      <p:sp>
        <p:nvSpPr>
          <p:cNvPr id="4" name="Rectangle 7">
            <a:extLst>
              <a:ext uri="{FF2B5EF4-FFF2-40B4-BE49-F238E27FC236}">
                <a16:creationId xmlns:a16="http://schemas.microsoft.com/office/drawing/2014/main" id="{F4B1BE77-3491-DD8B-C0FC-F939A96D8537}"/>
              </a:ext>
            </a:extLst>
          </p:cNvPr>
          <p:cNvSpPr/>
          <p:nvPr/>
        </p:nvSpPr>
        <p:spPr>
          <a:xfrm>
            <a:off x="914400" y="2462212"/>
            <a:ext cx="10934700" cy="645818"/>
          </a:xfrm>
          <a:prstGeom prst="rect">
            <a:avLst/>
          </a:prstGeom>
          <a:noFill/>
          <a:ln w="9525">
            <a:noFill/>
          </a:ln>
        </p:spPr>
        <p:txBody>
          <a:bodyPr wrap="square">
            <a:spAutoFit/>
          </a:bodyPr>
          <a:lstStyle/>
          <a:p>
            <a:pPr>
              <a:lnSpc>
                <a:spcPct val="120000"/>
              </a:lnSpc>
              <a:spcBef>
                <a:spcPct val="50000"/>
              </a:spcBef>
            </a:pPr>
            <a:r>
              <a:rPr lang="en-US" altLang="zh-CN" sz="3200" dirty="0">
                <a:solidFill>
                  <a:srgbClr val="CC0000"/>
                </a:solidFill>
                <a:latin typeface="Times New Roman" panose="02020603050405020304" pitchFamily="18" charset="0"/>
              </a:rPr>
              <a:t>- </a:t>
            </a:r>
            <a:r>
              <a:rPr lang="zh-CN" altLang="en-US" sz="3200" dirty="0">
                <a:solidFill>
                  <a:schemeClr val="tx1"/>
                </a:solidFill>
                <a:latin typeface="Times New Roman" panose="02020603050405020304" pitchFamily="18" charset="0"/>
              </a:rPr>
              <a:t>热力学第二定律开尔文说法与克劳修斯说法具有等效性 </a:t>
            </a:r>
            <a:endParaRPr lang="en-US" altLang="zh-CN" sz="3200" dirty="0">
              <a:solidFill>
                <a:schemeClr val="tx1"/>
              </a:solidFill>
              <a:latin typeface="Times New Roman" panose="02020603050405020304" pitchFamily="18" charset="0"/>
            </a:endParaRPr>
          </a:p>
        </p:txBody>
      </p:sp>
      <p:sp>
        <p:nvSpPr>
          <p:cNvPr id="5" name="Text Box 13">
            <a:hlinkClick r:id="" action="ppaction://noaction"/>
            <a:extLst>
              <a:ext uri="{FF2B5EF4-FFF2-40B4-BE49-F238E27FC236}">
                <a16:creationId xmlns:a16="http://schemas.microsoft.com/office/drawing/2014/main" id="{356FAC8D-D182-6FDA-C01B-09DFC2BABD65}"/>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热力学第二定律</a:t>
            </a:r>
          </a:p>
        </p:txBody>
      </p:sp>
      <p:graphicFrame>
        <p:nvGraphicFramePr>
          <p:cNvPr id="6" name="表格 5">
            <a:extLst>
              <a:ext uri="{FF2B5EF4-FFF2-40B4-BE49-F238E27FC236}">
                <a16:creationId xmlns:a16="http://schemas.microsoft.com/office/drawing/2014/main" id="{9CB270D0-FCAE-9CA5-CB4D-2AC40BBE2E4A}"/>
              </a:ext>
            </a:extLst>
          </p:cNvPr>
          <p:cNvGraphicFramePr>
            <a:graphicFrameLocks noGrp="1"/>
          </p:cNvGraphicFramePr>
          <p:nvPr/>
        </p:nvGraphicFramePr>
        <p:xfrm>
          <a:off x="2881085" y="5090013"/>
          <a:ext cx="7707086" cy="891540"/>
        </p:xfrm>
        <a:graphic>
          <a:graphicData uri="http://schemas.openxmlformats.org/drawingml/2006/table">
            <a:tbl>
              <a:tblPr/>
              <a:tblGrid>
                <a:gridCol w="1102761">
                  <a:extLst>
                    <a:ext uri="{9D8B030D-6E8A-4147-A177-3AD203B41FA5}">
                      <a16:colId xmlns:a16="http://schemas.microsoft.com/office/drawing/2014/main" val="2400388829"/>
                    </a:ext>
                  </a:extLst>
                </a:gridCol>
                <a:gridCol w="6604325">
                  <a:extLst>
                    <a:ext uri="{9D8B030D-6E8A-4147-A177-3AD203B41FA5}">
                      <a16:colId xmlns:a16="http://schemas.microsoft.com/office/drawing/2014/main" val="211281588"/>
                    </a:ext>
                  </a:extLst>
                </a:gridCol>
              </a:tblGrid>
              <a:tr h="0">
                <a:tc>
                  <a:txBody>
                    <a:bodyPr/>
                    <a:lstStyle/>
                    <a:p>
                      <a:pPr algn="l" fontAlgn="t"/>
                      <a:endParaRPr lang="zh-CN" altLang="en-US" b="1" dirty="0">
                        <a:solidFill>
                          <a:srgbClr val="B2B7F2"/>
                        </a:solidFill>
                        <a:effectLst/>
                        <a:latin typeface="Times New Roman" panose="02020603050405020304" pitchFamily="18" charset="0"/>
                      </a:endParaRPr>
                    </a:p>
                  </a:txBody>
                  <a:tcPr marL="47625" marR="47625" marT="47625" marB="47625">
                    <a:lnL>
                      <a:noFill/>
                    </a:lnL>
                    <a:lnR>
                      <a:noFill/>
                    </a:lnR>
                    <a:lnT>
                      <a:noFill/>
                    </a:lnT>
                    <a:lnB>
                      <a:noFill/>
                    </a:lnB>
                  </a:tcPr>
                </a:tc>
                <a:tc>
                  <a:txBody>
                    <a:bodyPr/>
                    <a:lstStyle/>
                    <a:p>
                      <a:pPr fontAlgn="t"/>
                      <a:r>
                        <a:rPr lang="zh-CN" altLang="en-US" sz="2800" dirty="0">
                          <a:effectLst/>
                        </a:rPr>
                        <a:t>不可存在一个机器，在循环动作中把一重物升高而同时使一热库冷却</a:t>
                      </a:r>
                    </a:p>
                  </a:txBody>
                  <a:tcPr marL="47625" marR="47625" marT="19050" marB="19050">
                    <a:lnL>
                      <a:noFill/>
                    </a:lnL>
                    <a:lnR>
                      <a:noFill/>
                    </a:lnR>
                    <a:lnT>
                      <a:noFill/>
                    </a:lnT>
                    <a:lnB>
                      <a:noFill/>
                    </a:lnB>
                  </a:tcPr>
                </a:tc>
                <a:extLst>
                  <a:ext uri="{0D108BD9-81ED-4DB2-BD59-A6C34878D82A}">
                    <a16:rowId xmlns:a16="http://schemas.microsoft.com/office/drawing/2014/main" val="2910410230"/>
                  </a:ext>
                </a:extLst>
              </a:tr>
            </a:tbl>
          </a:graphicData>
        </a:graphic>
      </p:graphicFrame>
      <p:sp>
        <p:nvSpPr>
          <p:cNvPr id="9" name="文本框 8">
            <a:extLst>
              <a:ext uri="{FF2B5EF4-FFF2-40B4-BE49-F238E27FC236}">
                <a16:creationId xmlns:a16="http://schemas.microsoft.com/office/drawing/2014/main" id="{4F39EFEA-0D28-BA9E-7A76-AD42CC97D651}"/>
              </a:ext>
            </a:extLst>
          </p:cNvPr>
          <p:cNvSpPr txBox="1"/>
          <p:nvPr/>
        </p:nvSpPr>
        <p:spPr>
          <a:xfrm>
            <a:off x="1622807" y="5090013"/>
            <a:ext cx="6095144" cy="523220"/>
          </a:xfrm>
          <a:prstGeom prst="rect">
            <a:avLst/>
          </a:prstGeom>
          <a:noFill/>
        </p:spPr>
        <p:txBody>
          <a:bodyPr wrap="square">
            <a:spAutoFit/>
          </a:bodyPr>
          <a:lstStyle/>
          <a:p>
            <a:r>
              <a:rPr kumimoji="0" lang="zh-CN" altLang="zh-CN" sz="2800" b="0" i="0" u="none" strike="noStrike" cap="none" normalizeH="0" baseline="0" dirty="0">
                <a:ln>
                  <a:noFill/>
                </a:ln>
                <a:solidFill>
                  <a:srgbClr val="202122"/>
                </a:solidFill>
                <a:effectLst/>
                <a:latin typeface="Arial" panose="020B0604020202020204" pitchFamily="34" charset="0"/>
              </a:rPr>
              <a:t>普朗克表述</a:t>
            </a:r>
            <a:r>
              <a:rPr kumimoji="0" lang="zh-CN" altLang="en-US" sz="2800" b="0" i="0" u="none" strike="noStrike" cap="none" normalizeH="0" baseline="0" dirty="0">
                <a:ln>
                  <a:noFill/>
                </a:ln>
                <a:solidFill>
                  <a:srgbClr val="202122"/>
                </a:solidFill>
                <a:effectLst/>
                <a:latin typeface="Arial" panose="020B0604020202020204" pitchFamily="34" charset="0"/>
              </a:rPr>
              <a:t>：</a:t>
            </a:r>
            <a:endParaRPr lang="zh-CN" altLang="en-US" sz="2800" dirty="0"/>
          </a:p>
        </p:txBody>
      </p:sp>
    </p:spTree>
    <p:extLst>
      <p:ext uri="{BB962C8B-B14F-4D97-AF65-F5344CB8AC3E}">
        <p14:creationId xmlns:p14="http://schemas.microsoft.com/office/powerpoint/2010/main" val="22310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a:extLst>
              <a:ext uri="{FF2B5EF4-FFF2-40B4-BE49-F238E27FC236}">
                <a16:creationId xmlns:a16="http://schemas.microsoft.com/office/drawing/2014/main" id="{C2DBC95D-6192-3129-999A-BE0960A4DC7D}"/>
              </a:ext>
            </a:extLst>
          </p:cNvPr>
          <p:cNvSpPr txBox="1"/>
          <p:nvPr/>
        </p:nvSpPr>
        <p:spPr>
          <a:xfrm>
            <a:off x="907143" y="1446440"/>
            <a:ext cx="9740900" cy="645818"/>
          </a:xfrm>
          <a:prstGeom prst="rect">
            <a:avLst/>
          </a:prstGeom>
          <a:noFill/>
          <a:ln w="9525">
            <a:noFill/>
          </a:ln>
        </p:spPr>
        <p:txBody>
          <a:bodyPr wrap="square">
            <a:spAutoFit/>
          </a:bodyPr>
          <a:lstStyle/>
          <a:p>
            <a:pPr eaLnBrk="1" hangingPunct="1">
              <a:lnSpc>
                <a:spcPct val="120000"/>
              </a:lnSpc>
              <a:spcBef>
                <a:spcPct val="50000"/>
              </a:spcBef>
            </a:pPr>
            <a:r>
              <a:rPr lang="en-US" altLang="zh-CN" sz="3200" dirty="0">
                <a:solidFill>
                  <a:srgbClr val="1C1C1C"/>
                </a:solidFill>
                <a:latin typeface="Times New Roman" panose="02020603050405020304" pitchFamily="18" charset="0"/>
              </a:rPr>
              <a:t>- </a:t>
            </a:r>
            <a:r>
              <a:rPr lang="zh-CN" altLang="en-US" sz="3200" dirty="0">
                <a:solidFill>
                  <a:srgbClr val="1C1C1C"/>
                </a:solidFill>
                <a:latin typeface="Times New Roman" panose="02020603050405020304" pitchFamily="18" charset="0"/>
              </a:rPr>
              <a:t>热力学第二定律是大量实验和经验的总结。</a:t>
            </a:r>
            <a:endParaRPr lang="en-US" altLang="zh-CN" sz="3200" dirty="0">
              <a:solidFill>
                <a:srgbClr val="1C1C1C"/>
              </a:solidFill>
              <a:latin typeface="Times New Roman" panose="02020603050405020304" pitchFamily="18" charset="0"/>
            </a:endParaRPr>
          </a:p>
        </p:txBody>
      </p:sp>
      <p:sp>
        <p:nvSpPr>
          <p:cNvPr id="5" name="Text Box 13">
            <a:hlinkClick r:id="" action="ppaction://noaction"/>
            <a:extLst>
              <a:ext uri="{FF2B5EF4-FFF2-40B4-BE49-F238E27FC236}">
                <a16:creationId xmlns:a16="http://schemas.microsoft.com/office/drawing/2014/main" id="{356FAC8D-D182-6FDA-C01B-09DFC2BABD65}"/>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热力学第二定律</a:t>
            </a:r>
          </a:p>
        </p:txBody>
      </p:sp>
      <p:sp>
        <p:nvSpPr>
          <p:cNvPr id="8" name="Rectangle 7">
            <a:extLst>
              <a:ext uri="{FF2B5EF4-FFF2-40B4-BE49-F238E27FC236}">
                <a16:creationId xmlns:a16="http://schemas.microsoft.com/office/drawing/2014/main" id="{68A67CFD-4757-8B4B-6C28-491B33E99285}"/>
              </a:ext>
            </a:extLst>
          </p:cNvPr>
          <p:cNvSpPr>
            <a:spLocks noChangeArrowheads="1"/>
          </p:cNvSpPr>
          <p:nvPr/>
        </p:nvSpPr>
        <p:spPr bwMode="auto">
          <a:xfrm>
            <a:off x="1733550" y="3105296"/>
            <a:ext cx="7729764" cy="1333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a:lnSpc>
                <a:spcPct val="120000"/>
              </a:lnSpc>
              <a:buFont typeface="Monotype Sorts" pitchFamily="2" charset="2"/>
              <a:buNone/>
            </a:pPr>
            <a:r>
              <a:rPr kumimoji="1" lang="zh-CN" altLang="en-US" sz="3600" dirty="0">
                <a:solidFill>
                  <a:srgbClr val="FF0000"/>
                </a:solidFill>
                <a:latin typeface="楷体" panose="02010609060101010101" pitchFamily="49" charset="-122"/>
                <a:ea typeface="楷体" panose="02010609060101010101" pitchFamily="49" charset="-122"/>
              </a:rPr>
              <a:t>为什么与热现象有关的实际宏观过程都是不可逆的？</a:t>
            </a:r>
          </a:p>
        </p:txBody>
      </p:sp>
    </p:spTree>
    <p:extLst>
      <p:ext uri="{BB962C8B-B14F-4D97-AF65-F5344CB8AC3E}">
        <p14:creationId xmlns:p14="http://schemas.microsoft.com/office/powerpoint/2010/main" val="1024114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42" descr="分子热运动">
            <a:extLst>
              <a:ext uri="{FF2B5EF4-FFF2-40B4-BE49-F238E27FC236}">
                <a16:creationId xmlns:a16="http://schemas.microsoft.com/office/drawing/2014/main" id="{D99DEB06-6721-68BA-D924-9284EEE775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689" y="1379687"/>
            <a:ext cx="3884060" cy="3884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870A79BB-5A45-E09B-274A-92BF4F00A8CB}"/>
              </a:ext>
            </a:extLst>
          </p:cNvPr>
          <p:cNvSpPr txBox="1"/>
          <p:nvPr/>
        </p:nvSpPr>
        <p:spPr>
          <a:xfrm>
            <a:off x="5206462" y="1129580"/>
            <a:ext cx="6351073" cy="1015663"/>
          </a:xfrm>
          <a:prstGeom prst="rect">
            <a:avLst/>
          </a:prstGeom>
          <a:noFill/>
        </p:spPr>
        <p:txBody>
          <a:bodyPr wrap="square">
            <a:spAutoFit/>
          </a:bodyPr>
          <a:lstStyle/>
          <a:p>
            <a:r>
              <a:rPr lang="en-US" altLang="zh-CN" sz="3000" b="0" i="0" u="none" strike="noStrike" baseline="0" dirty="0">
                <a:latin typeface="+mn-ea"/>
              </a:rPr>
              <a:t>- </a:t>
            </a:r>
            <a:r>
              <a:rPr lang="zh-CN" altLang="en-US" sz="3000" b="0" i="0" u="none" strike="noStrike" baseline="0" dirty="0">
                <a:latin typeface="+mn-ea"/>
              </a:rPr>
              <a:t>压强是气体分子给容器壁冲量的统计平均量</a:t>
            </a:r>
            <a:endParaRPr lang="zh-CN" altLang="en-US" sz="3000" dirty="0">
              <a:latin typeface="+mn-ea"/>
            </a:endParaRPr>
          </a:p>
        </p:txBody>
      </p:sp>
      <mc:AlternateContent xmlns:mc="http://schemas.openxmlformats.org/markup-compatibility/2006" xmlns:a14="http://schemas.microsoft.com/office/drawing/2010/main">
        <mc:Choice Requires="a14">
          <p:sp>
            <p:nvSpPr>
              <p:cNvPr id="5" name="Object 19">
                <a:extLst>
                  <a:ext uri="{FF2B5EF4-FFF2-40B4-BE49-F238E27FC236}">
                    <a16:creationId xmlns:a16="http://schemas.microsoft.com/office/drawing/2014/main" id="{15D09A48-C935-4B1F-D065-F7BCF7BB7809}"/>
                  </a:ext>
                </a:extLst>
              </p:cNvPr>
              <p:cNvSpPr txBox="1"/>
              <p:nvPr/>
            </p:nvSpPr>
            <p:spPr bwMode="auto">
              <a:xfrm>
                <a:off x="8000409" y="2055463"/>
                <a:ext cx="2718391" cy="1232414"/>
              </a:xfrm>
              <a:prstGeom prst="rect">
                <a:avLst/>
              </a:prstGeom>
              <a:noFill/>
            </p:spPr>
            <p:txBody>
              <a:bodyPr>
                <a:noAutofit/>
              </a:bodyPr>
              <a:lstStyle/>
              <a:p>
                <a:r>
                  <a:rPr lang="en-US" altLang="zh-CN" sz="3000" dirty="0">
                    <a:solidFill>
                      <a:srgbClr val="000000"/>
                    </a:solidFill>
                  </a:rPr>
                  <a:t>=</a:t>
                </a:r>
                <a14:m>
                  <m:oMath xmlns:m="http://schemas.openxmlformats.org/officeDocument/2006/math">
                    <m:r>
                      <a:rPr lang="en-US" altLang="zh-CN" sz="3000" b="0" i="0" smtClean="0">
                        <a:solidFill>
                          <a:srgbClr val="000000"/>
                        </a:solidFill>
                        <a:latin typeface="Cambria Math" panose="02040503050406030204" pitchFamily="18" charset="0"/>
                      </a:rPr>
                      <m:t> </m:t>
                    </m:r>
                    <m:f>
                      <m:fPr>
                        <m:ctrlPr>
                          <a:rPr lang="zh-CN" altLang="en-US" sz="3000" i="1">
                            <a:solidFill>
                              <a:srgbClr val="000000"/>
                            </a:solidFill>
                            <a:latin typeface="Cambria Math" panose="02040503050406030204" pitchFamily="18" charset="0"/>
                          </a:rPr>
                        </m:ctrlPr>
                      </m:fPr>
                      <m:num>
                        <m:r>
                          <a:rPr lang="zh-CN" altLang="en-US" sz="3000" i="1">
                            <a:solidFill>
                              <a:srgbClr val="000000"/>
                            </a:solidFill>
                            <a:latin typeface="Cambria Math" panose="02040503050406030204" pitchFamily="18" charset="0"/>
                          </a:rPr>
                          <m:t>2</m:t>
                        </m:r>
                      </m:num>
                      <m:den>
                        <m:r>
                          <a:rPr lang="zh-CN" altLang="en-US" sz="3000" i="1">
                            <a:solidFill>
                              <a:srgbClr val="000000"/>
                            </a:solidFill>
                            <a:latin typeface="Cambria Math" panose="02040503050406030204" pitchFamily="18" charset="0"/>
                          </a:rPr>
                          <m:t>3</m:t>
                        </m:r>
                      </m:den>
                    </m:f>
                    <m:r>
                      <a:rPr lang="zh-CN" altLang="en-US" sz="3000" i="1">
                        <a:solidFill>
                          <a:srgbClr val="000000"/>
                        </a:solidFill>
                        <a:latin typeface="Cambria Math" panose="02040503050406030204" pitchFamily="18" charset="0"/>
                      </a:rPr>
                      <m:t>𝑛</m:t>
                    </m:r>
                    <m:sSub>
                      <m:sSubPr>
                        <m:ctrlPr>
                          <a:rPr lang="zh-CN" altLang="en-US" sz="3000" i="1">
                            <a:solidFill>
                              <a:srgbClr val="000000"/>
                            </a:solidFill>
                            <a:latin typeface="Cambria Math" panose="02040503050406030204" pitchFamily="18" charset="0"/>
                          </a:rPr>
                        </m:ctrlPr>
                      </m:sSubPr>
                      <m:e>
                        <m:acc>
                          <m:accPr>
                            <m:chr m:val="̄"/>
                            <m:ctrlPr>
                              <a:rPr lang="zh-CN" altLang="en-US" sz="3000" i="1">
                                <a:solidFill>
                                  <a:srgbClr val="000000"/>
                                </a:solidFill>
                                <a:latin typeface="Cambria Math" panose="02040503050406030204" pitchFamily="18" charset="0"/>
                              </a:rPr>
                            </m:ctrlPr>
                          </m:accPr>
                          <m:e>
                            <m:r>
                              <a:rPr lang="zh-CN" altLang="en-US" sz="3000" i="1">
                                <a:solidFill>
                                  <a:srgbClr val="000000"/>
                                </a:solidFill>
                                <a:latin typeface="Cambria Math" panose="02040503050406030204" pitchFamily="18" charset="0"/>
                              </a:rPr>
                              <m:t>𝜀</m:t>
                            </m:r>
                          </m:e>
                        </m:acc>
                      </m:e>
                      <m:sub>
                        <m:r>
                          <a:rPr lang="zh-CN" altLang="en-US" sz="3000" i="1">
                            <a:solidFill>
                              <a:srgbClr val="000000"/>
                            </a:solidFill>
                            <a:latin typeface="Cambria Math" panose="02040503050406030204" pitchFamily="18" charset="0"/>
                          </a:rPr>
                          <m:t>𝑡</m:t>
                        </m:r>
                      </m:sub>
                    </m:sSub>
                  </m:oMath>
                </a14:m>
                <a:endParaRPr lang="zh-CN" altLang="en-US" sz="3000" dirty="0"/>
              </a:p>
            </p:txBody>
          </p:sp>
        </mc:Choice>
        <mc:Fallback xmlns="">
          <p:sp>
            <p:nvSpPr>
              <p:cNvPr id="5" name="Object 19">
                <a:extLst>
                  <a:ext uri="{FF2B5EF4-FFF2-40B4-BE49-F238E27FC236}">
                    <a16:creationId xmlns:a16="http://schemas.microsoft.com/office/drawing/2014/main" id="{15D09A48-C935-4B1F-D065-F7BCF7BB7809}"/>
                  </a:ext>
                </a:extLst>
              </p:cNvPr>
              <p:cNvSpPr txBox="1">
                <a:spLocks noRot="1" noChangeAspect="1" noMove="1" noResize="1" noEditPoints="1" noAdjustHandles="1" noChangeArrowheads="1" noChangeShapeType="1" noTextEdit="1"/>
              </p:cNvSpPr>
              <p:nvPr/>
            </p:nvSpPr>
            <p:spPr bwMode="auto">
              <a:xfrm>
                <a:off x="8000409" y="2055463"/>
                <a:ext cx="2718391" cy="1232414"/>
              </a:xfrm>
              <a:prstGeom prst="rect">
                <a:avLst/>
              </a:prstGeom>
              <a:blipFill>
                <a:blip r:embed="rId3"/>
                <a:stretch>
                  <a:fillRect l="-51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bject 9">
                <a:extLst>
                  <a:ext uri="{FF2B5EF4-FFF2-40B4-BE49-F238E27FC236}">
                    <a16:creationId xmlns:a16="http://schemas.microsoft.com/office/drawing/2014/main" id="{CD930140-13EE-CE9D-BF81-6FD74FF5E03E}"/>
                  </a:ext>
                </a:extLst>
              </p:cNvPr>
              <p:cNvSpPr txBox="1"/>
              <p:nvPr/>
            </p:nvSpPr>
            <p:spPr bwMode="auto">
              <a:xfrm>
                <a:off x="6251267" y="1950091"/>
                <a:ext cx="1985653" cy="1031875"/>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3000" i="1">
                          <a:solidFill>
                            <a:srgbClr val="000000"/>
                          </a:solidFill>
                          <a:latin typeface="Cambria Math" panose="02040503050406030204" pitchFamily="18" charset="0"/>
                        </a:rPr>
                        <m:t>𝑝</m:t>
                      </m:r>
                      <m:r>
                        <a:rPr lang="zh-CN" altLang="en-US" sz="3000" i="1">
                          <a:solidFill>
                            <a:srgbClr val="000000"/>
                          </a:solidFill>
                          <a:latin typeface="Cambria Math" panose="02040503050406030204" pitchFamily="18" charset="0"/>
                        </a:rPr>
                        <m:t>=</m:t>
                      </m:r>
                      <m:r>
                        <a:rPr lang="zh-CN" altLang="en-US" sz="3000" i="1">
                          <a:solidFill>
                            <a:srgbClr val="000000"/>
                          </a:solidFill>
                          <a:latin typeface="Cambria Math" panose="02040503050406030204" pitchFamily="18" charset="0"/>
                        </a:rPr>
                        <m:t>𝑛𝑚</m:t>
                      </m:r>
                      <m:bar>
                        <m:barPr>
                          <m:pos m:val="top"/>
                          <m:ctrlPr>
                            <a:rPr lang="zh-CN" altLang="en-US" sz="3000" i="1">
                              <a:solidFill>
                                <a:srgbClr val="000000"/>
                              </a:solidFill>
                              <a:latin typeface="Cambria Math" panose="02040503050406030204" pitchFamily="18" charset="0"/>
                            </a:rPr>
                          </m:ctrlPr>
                        </m:barPr>
                        <m:e>
                          <m:sSubSup>
                            <m:sSubSupPr>
                              <m:ctrlPr>
                                <a:rPr lang="zh-CN" altLang="en-US" sz="3000" i="1">
                                  <a:solidFill>
                                    <a:srgbClr val="000000"/>
                                  </a:solidFill>
                                  <a:latin typeface="Cambria Math" panose="02040503050406030204" pitchFamily="18" charset="0"/>
                                </a:rPr>
                              </m:ctrlPr>
                            </m:sSubSupPr>
                            <m:e>
                              <m:r>
                                <a:rPr lang="zh-CN" altLang="en-US" sz="3000" i="1">
                                  <a:solidFill>
                                    <a:srgbClr val="000000"/>
                                  </a:solidFill>
                                  <a:latin typeface="Cambria Math" panose="02040503050406030204" pitchFamily="18" charset="0"/>
                                </a:rPr>
                                <m:t>𝑣</m:t>
                              </m:r>
                            </m:e>
                            <m:sub>
                              <m:r>
                                <a:rPr lang="zh-CN" altLang="en-US" sz="3000" i="1">
                                  <a:solidFill>
                                    <a:srgbClr val="000000"/>
                                  </a:solidFill>
                                  <a:latin typeface="Cambria Math" panose="02040503050406030204" pitchFamily="18" charset="0"/>
                                </a:rPr>
                                <m:t>𝑥</m:t>
                              </m:r>
                            </m:sub>
                            <m:sup>
                              <m:r>
                                <a:rPr lang="zh-CN" altLang="en-US" sz="3000" i="1">
                                  <a:solidFill>
                                    <a:srgbClr val="000000"/>
                                  </a:solidFill>
                                  <a:latin typeface="Cambria Math" panose="02040503050406030204" pitchFamily="18" charset="0"/>
                                </a:rPr>
                                <m:t>2</m:t>
                              </m:r>
                            </m:sup>
                          </m:sSubSup>
                        </m:e>
                      </m:bar>
                    </m:oMath>
                  </m:oMathPara>
                </a14:m>
                <a:endParaRPr lang="zh-CN" altLang="en-US" sz="3000" dirty="0"/>
              </a:p>
            </p:txBody>
          </p:sp>
        </mc:Choice>
        <mc:Fallback xmlns="">
          <p:sp>
            <p:nvSpPr>
              <p:cNvPr id="6" name="Object 9">
                <a:extLst>
                  <a:ext uri="{FF2B5EF4-FFF2-40B4-BE49-F238E27FC236}">
                    <a16:creationId xmlns:a16="http://schemas.microsoft.com/office/drawing/2014/main" id="{CD930140-13EE-CE9D-BF81-6FD74FF5E03E}"/>
                  </a:ext>
                </a:extLst>
              </p:cNvPr>
              <p:cNvSpPr txBox="1">
                <a:spLocks noRot="1" noChangeAspect="1" noMove="1" noResize="1" noEditPoints="1" noAdjustHandles="1" noChangeArrowheads="1" noChangeShapeType="1" noTextEdit="1"/>
              </p:cNvSpPr>
              <p:nvPr/>
            </p:nvSpPr>
            <p:spPr bwMode="auto">
              <a:xfrm>
                <a:off x="6251267" y="1950091"/>
                <a:ext cx="1985653" cy="103187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Object 19">
                <a:extLst>
                  <a:ext uri="{FF2B5EF4-FFF2-40B4-BE49-F238E27FC236}">
                    <a16:creationId xmlns:a16="http://schemas.microsoft.com/office/drawing/2014/main" id="{33AA0214-5AD3-779C-2B04-E72FD8C7BD8C}"/>
                  </a:ext>
                </a:extLst>
              </p:cNvPr>
              <p:cNvSpPr txBox="1"/>
              <p:nvPr/>
            </p:nvSpPr>
            <p:spPr bwMode="auto">
              <a:xfrm>
                <a:off x="5946467" y="2755736"/>
                <a:ext cx="2183603" cy="933450"/>
              </a:xfrm>
              <a:prstGeom prst="rect">
                <a:avLst/>
              </a:prstGeom>
              <a:noFill/>
            </p:spPr>
            <p:txBody>
              <a:bodyPr>
                <a:noAutofit/>
              </a:bodyPr>
              <a:lstStyle/>
              <a:p>
                <a14:m>
                  <m:oMath xmlns:m="http://schemas.openxmlformats.org/officeDocument/2006/math">
                    <m:sSub>
                      <m:sSubPr>
                        <m:ctrlPr>
                          <a:rPr lang="zh-CN" altLang="en-US" sz="3000" i="1">
                            <a:solidFill>
                              <a:srgbClr val="000000"/>
                            </a:solidFill>
                            <a:latin typeface="Cambria Math" panose="02040503050406030204" pitchFamily="18" charset="0"/>
                          </a:rPr>
                        </m:ctrlPr>
                      </m:sSubPr>
                      <m:e>
                        <m:acc>
                          <m:accPr>
                            <m:chr m:val="̄"/>
                            <m:ctrlPr>
                              <a:rPr lang="zh-CN" altLang="en-US" sz="3000" i="1">
                                <a:solidFill>
                                  <a:srgbClr val="000000"/>
                                </a:solidFill>
                                <a:latin typeface="Cambria Math" panose="02040503050406030204" pitchFamily="18" charset="0"/>
                              </a:rPr>
                            </m:ctrlPr>
                          </m:accPr>
                          <m:e>
                            <m:r>
                              <a:rPr lang="zh-CN" altLang="en-US" sz="3000" i="1">
                                <a:solidFill>
                                  <a:srgbClr val="000000"/>
                                </a:solidFill>
                                <a:latin typeface="Cambria Math" panose="02040503050406030204" pitchFamily="18" charset="0"/>
                              </a:rPr>
                              <m:t>𝜀</m:t>
                            </m:r>
                          </m:e>
                        </m:acc>
                      </m:e>
                      <m:sub>
                        <m:r>
                          <a:rPr lang="zh-CN" altLang="en-US" sz="3000" i="1">
                            <a:solidFill>
                              <a:srgbClr val="000000"/>
                            </a:solidFill>
                            <a:latin typeface="Cambria Math" panose="02040503050406030204" pitchFamily="18" charset="0"/>
                          </a:rPr>
                          <m:t>𝑡</m:t>
                        </m:r>
                      </m:sub>
                    </m:sSub>
                  </m:oMath>
                </a14:m>
                <a:r>
                  <a:rPr lang="en-US" altLang="zh-CN" sz="3000" dirty="0"/>
                  <a:t>=</a:t>
                </a:r>
                <a:r>
                  <a:rPr lang="zh-CN" altLang="en-US" sz="3000" dirty="0">
                    <a:solidFill>
                      <a:srgbClr val="000000"/>
                    </a:solidFill>
                  </a:rPr>
                  <a:t> </a:t>
                </a:r>
                <a14:m>
                  <m:oMath xmlns:m="http://schemas.openxmlformats.org/officeDocument/2006/math">
                    <m:f>
                      <m:fPr>
                        <m:ctrlPr>
                          <a:rPr lang="zh-CN" altLang="en-US" sz="3000" i="1">
                            <a:solidFill>
                              <a:srgbClr val="000000"/>
                            </a:solidFill>
                            <a:latin typeface="Cambria Math" panose="02040503050406030204" pitchFamily="18" charset="0"/>
                          </a:rPr>
                        </m:ctrlPr>
                      </m:fPr>
                      <m:num>
                        <m:r>
                          <a:rPr lang="zh-CN" altLang="en-US" sz="3000" i="1">
                            <a:solidFill>
                              <a:srgbClr val="000000"/>
                            </a:solidFill>
                            <a:latin typeface="Cambria Math" panose="02040503050406030204" pitchFamily="18" charset="0"/>
                          </a:rPr>
                          <m:t>1</m:t>
                        </m:r>
                      </m:num>
                      <m:den>
                        <m:r>
                          <a:rPr lang="zh-CN" altLang="en-US" sz="3000" i="1">
                            <a:solidFill>
                              <a:srgbClr val="000000"/>
                            </a:solidFill>
                            <a:latin typeface="Cambria Math" panose="02040503050406030204" pitchFamily="18" charset="0"/>
                          </a:rPr>
                          <m:t>2</m:t>
                        </m:r>
                      </m:den>
                    </m:f>
                    <m:r>
                      <a:rPr lang="zh-CN" altLang="en-US" sz="3000" i="1">
                        <a:solidFill>
                          <a:srgbClr val="000000"/>
                        </a:solidFill>
                        <a:latin typeface="Cambria Math" panose="02040503050406030204" pitchFamily="18" charset="0"/>
                      </a:rPr>
                      <m:t>𝑚</m:t>
                    </m:r>
                    <m:bar>
                      <m:barPr>
                        <m:pos m:val="top"/>
                        <m:ctrlPr>
                          <a:rPr lang="zh-CN" altLang="en-US" sz="3000" i="1">
                            <a:solidFill>
                              <a:srgbClr val="000000"/>
                            </a:solidFill>
                            <a:latin typeface="Cambria Math" panose="02040503050406030204" pitchFamily="18" charset="0"/>
                          </a:rPr>
                        </m:ctrlPr>
                      </m:barPr>
                      <m:e>
                        <m:sSup>
                          <m:sSupPr>
                            <m:ctrlPr>
                              <a:rPr lang="zh-CN" altLang="en-US" sz="3000" i="1">
                                <a:solidFill>
                                  <a:srgbClr val="000000"/>
                                </a:solidFill>
                                <a:latin typeface="Cambria Math" panose="02040503050406030204" pitchFamily="18" charset="0"/>
                              </a:rPr>
                            </m:ctrlPr>
                          </m:sSupPr>
                          <m:e>
                            <m:r>
                              <a:rPr lang="zh-CN" altLang="en-US" sz="3000" i="1">
                                <a:solidFill>
                                  <a:srgbClr val="000000"/>
                                </a:solidFill>
                                <a:latin typeface="Cambria Math" panose="02040503050406030204" pitchFamily="18" charset="0"/>
                              </a:rPr>
                              <m:t>𝑣</m:t>
                            </m:r>
                          </m:e>
                          <m:sup>
                            <m:r>
                              <a:rPr lang="zh-CN" altLang="en-US" sz="3000" i="1">
                                <a:solidFill>
                                  <a:srgbClr val="000000"/>
                                </a:solidFill>
                                <a:latin typeface="Cambria Math" panose="02040503050406030204" pitchFamily="18" charset="0"/>
                              </a:rPr>
                              <m:t>2</m:t>
                            </m:r>
                          </m:sup>
                        </m:sSup>
                      </m:e>
                    </m:bar>
                  </m:oMath>
                </a14:m>
                <a:endParaRPr lang="zh-CN" altLang="en-US" sz="3000" dirty="0"/>
              </a:p>
            </p:txBody>
          </p:sp>
        </mc:Choice>
        <mc:Fallback xmlns="">
          <p:sp>
            <p:nvSpPr>
              <p:cNvPr id="7" name="Object 19">
                <a:extLst>
                  <a:ext uri="{FF2B5EF4-FFF2-40B4-BE49-F238E27FC236}">
                    <a16:creationId xmlns:a16="http://schemas.microsoft.com/office/drawing/2014/main" id="{33AA0214-5AD3-779C-2B04-E72FD8C7BD8C}"/>
                  </a:ext>
                </a:extLst>
              </p:cNvPr>
              <p:cNvSpPr txBox="1">
                <a:spLocks noRot="1" noChangeAspect="1" noMove="1" noResize="1" noEditPoints="1" noAdjustHandles="1" noChangeArrowheads="1" noChangeShapeType="1" noTextEdit="1"/>
              </p:cNvSpPr>
              <p:nvPr/>
            </p:nvSpPr>
            <p:spPr bwMode="auto">
              <a:xfrm>
                <a:off x="5946467" y="2755736"/>
                <a:ext cx="2183603" cy="933450"/>
              </a:xfrm>
              <a:prstGeom prst="rect">
                <a:avLst/>
              </a:prstGeom>
              <a:blipFill>
                <a:blip r:embed="rId5"/>
                <a:stretch>
                  <a:fillRect/>
                </a:stretch>
              </a:blipFill>
            </p:spPr>
            <p:txBody>
              <a:bodyPr/>
              <a:lstStyle/>
              <a:p>
                <a:r>
                  <a:rPr lang="en-US">
                    <a:noFill/>
                  </a:rPr>
                  <a:t> </a:t>
                </a:r>
              </a:p>
            </p:txBody>
          </p:sp>
        </mc:Fallback>
      </mc:AlternateContent>
      <p:sp>
        <p:nvSpPr>
          <p:cNvPr id="8" name="文本框 7">
            <a:extLst>
              <a:ext uri="{FF2B5EF4-FFF2-40B4-BE49-F238E27FC236}">
                <a16:creationId xmlns:a16="http://schemas.microsoft.com/office/drawing/2014/main" id="{A2818352-81D8-50EA-D9DC-29153748CBAA}"/>
              </a:ext>
            </a:extLst>
          </p:cNvPr>
          <p:cNvSpPr txBox="1"/>
          <p:nvPr/>
        </p:nvSpPr>
        <p:spPr>
          <a:xfrm>
            <a:off x="7910383" y="2875002"/>
            <a:ext cx="3647152" cy="553998"/>
          </a:xfrm>
          <a:prstGeom prst="rect">
            <a:avLst/>
          </a:prstGeom>
          <a:noFill/>
        </p:spPr>
        <p:txBody>
          <a:bodyPr wrap="none" rtlCol="0">
            <a:spAutoFit/>
          </a:bodyPr>
          <a:lstStyle/>
          <a:p>
            <a:r>
              <a:rPr lang="zh-CN" altLang="en-US" sz="3000" dirty="0"/>
              <a:t>分子的平均平动动能</a:t>
            </a:r>
          </a:p>
        </p:txBody>
      </p:sp>
      <p:sp>
        <p:nvSpPr>
          <p:cNvPr id="9" name="Text Box 13">
            <a:hlinkClick r:id="" action="ppaction://noaction"/>
            <a:extLst>
              <a:ext uri="{FF2B5EF4-FFF2-40B4-BE49-F238E27FC236}">
                <a16:creationId xmlns:a16="http://schemas.microsoft.com/office/drawing/2014/main" id="{43E8F761-8B21-9FF5-D70D-043918BC1FA5}"/>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宏观状态与微观状态</a:t>
            </a:r>
          </a:p>
        </p:txBody>
      </p:sp>
      <mc:AlternateContent xmlns:mc="http://schemas.openxmlformats.org/markup-compatibility/2006" xmlns:a14="http://schemas.microsoft.com/office/drawing/2010/main">
        <mc:Choice Requires="a14">
          <p:sp>
            <p:nvSpPr>
              <p:cNvPr id="12" name="Object 17">
                <a:extLst>
                  <a:ext uri="{FF2B5EF4-FFF2-40B4-BE49-F238E27FC236}">
                    <a16:creationId xmlns:a16="http://schemas.microsoft.com/office/drawing/2014/main" id="{FD500C1B-B74C-81EF-A72D-FFF5908D16C4}"/>
                  </a:ext>
                </a:extLst>
              </p:cNvPr>
              <p:cNvSpPr txBox="1"/>
              <p:nvPr/>
            </p:nvSpPr>
            <p:spPr bwMode="auto">
              <a:xfrm>
                <a:off x="6392491" y="4645293"/>
                <a:ext cx="5253038" cy="100965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3000" i="1">
                              <a:solidFill>
                                <a:srgbClr val="000000"/>
                              </a:solidFill>
                              <a:latin typeface="Cambria Math" panose="02040503050406030204" pitchFamily="18" charset="0"/>
                            </a:rPr>
                          </m:ctrlPr>
                        </m:sSubPr>
                        <m:e>
                          <m:acc>
                            <m:accPr>
                              <m:chr m:val="̄"/>
                              <m:ctrlPr>
                                <a:rPr lang="zh-CN" altLang="en-US" sz="3000" i="1">
                                  <a:solidFill>
                                    <a:srgbClr val="000000"/>
                                  </a:solidFill>
                                  <a:latin typeface="Cambria Math" panose="02040503050406030204" pitchFamily="18" charset="0"/>
                                </a:rPr>
                              </m:ctrlPr>
                            </m:accPr>
                            <m:e>
                              <m:r>
                                <a:rPr lang="zh-CN" altLang="en-US" sz="3000" i="1">
                                  <a:solidFill>
                                    <a:srgbClr val="000000"/>
                                  </a:solidFill>
                                  <a:latin typeface="Cambria Math" panose="02040503050406030204" pitchFamily="18" charset="0"/>
                                </a:rPr>
                                <m:t>𝜀</m:t>
                              </m:r>
                            </m:e>
                          </m:acc>
                        </m:e>
                        <m:sub>
                          <m:r>
                            <a:rPr lang="zh-CN" altLang="en-US" sz="3000" i="1">
                              <a:solidFill>
                                <a:srgbClr val="000000"/>
                              </a:solidFill>
                              <a:latin typeface="Cambria Math" panose="02040503050406030204" pitchFamily="18" charset="0"/>
                            </a:rPr>
                            <m:t>𝑡</m:t>
                          </m:r>
                        </m:sub>
                      </m:sSub>
                      <m:r>
                        <a:rPr lang="zh-CN" altLang="en-US" sz="3000" i="1">
                          <a:solidFill>
                            <a:srgbClr val="000000"/>
                          </a:solidFill>
                          <a:latin typeface="Cambria Math" panose="02040503050406030204" pitchFamily="18" charset="0"/>
                        </a:rPr>
                        <m:t>=</m:t>
                      </m:r>
                      <m:f>
                        <m:fPr>
                          <m:ctrlPr>
                            <a:rPr lang="zh-CN" altLang="en-US" sz="3000" i="1">
                              <a:solidFill>
                                <a:srgbClr val="000000"/>
                              </a:solidFill>
                              <a:latin typeface="Cambria Math" panose="02040503050406030204" pitchFamily="18" charset="0"/>
                            </a:rPr>
                          </m:ctrlPr>
                        </m:fPr>
                        <m:num>
                          <m:r>
                            <a:rPr lang="zh-CN" altLang="en-US" sz="3000" i="1">
                              <a:solidFill>
                                <a:srgbClr val="000000"/>
                              </a:solidFill>
                              <a:latin typeface="Cambria Math" panose="02040503050406030204" pitchFamily="18" charset="0"/>
                            </a:rPr>
                            <m:t>1</m:t>
                          </m:r>
                        </m:num>
                        <m:den>
                          <m:r>
                            <a:rPr lang="zh-CN" altLang="en-US" sz="3000" i="1">
                              <a:solidFill>
                                <a:srgbClr val="000000"/>
                              </a:solidFill>
                              <a:latin typeface="Cambria Math" panose="02040503050406030204" pitchFamily="18" charset="0"/>
                            </a:rPr>
                            <m:t>2</m:t>
                          </m:r>
                        </m:den>
                      </m:f>
                      <m:r>
                        <a:rPr lang="zh-CN" altLang="en-US" sz="3000" i="1">
                          <a:solidFill>
                            <a:srgbClr val="000000"/>
                          </a:solidFill>
                          <a:latin typeface="Cambria Math" panose="02040503050406030204" pitchFamily="18" charset="0"/>
                        </a:rPr>
                        <m:t>𝑚</m:t>
                      </m:r>
                      <m:bar>
                        <m:barPr>
                          <m:pos m:val="top"/>
                          <m:ctrlPr>
                            <a:rPr lang="zh-CN" altLang="en-US" sz="3000" i="1">
                              <a:solidFill>
                                <a:srgbClr val="000000"/>
                              </a:solidFill>
                              <a:latin typeface="Cambria Math" panose="02040503050406030204" pitchFamily="18" charset="0"/>
                            </a:rPr>
                          </m:ctrlPr>
                        </m:barPr>
                        <m:e>
                          <m:sSup>
                            <m:sSupPr>
                              <m:ctrlPr>
                                <a:rPr lang="zh-CN" altLang="en-US" sz="3000" i="1">
                                  <a:solidFill>
                                    <a:srgbClr val="000000"/>
                                  </a:solidFill>
                                  <a:latin typeface="Cambria Math" panose="02040503050406030204" pitchFamily="18" charset="0"/>
                                </a:rPr>
                              </m:ctrlPr>
                            </m:sSupPr>
                            <m:e>
                              <m:r>
                                <a:rPr lang="zh-CN" altLang="en-US" sz="3000" i="1">
                                  <a:solidFill>
                                    <a:srgbClr val="000000"/>
                                  </a:solidFill>
                                  <a:latin typeface="Cambria Math" panose="02040503050406030204" pitchFamily="18" charset="0"/>
                                </a:rPr>
                                <m:t>𝑣</m:t>
                              </m:r>
                            </m:e>
                            <m:sup>
                              <m:r>
                                <a:rPr lang="zh-CN" altLang="en-US" sz="3000" i="1">
                                  <a:solidFill>
                                    <a:srgbClr val="000000"/>
                                  </a:solidFill>
                                  <a:latin typeface="Cambria Math" panose="02040503050406030204" pitchFamily="18" charset="0"/>
                                </a:rPr>
                                <m:t>2</m:t>
                              </m:r>
                            </m:sup>
                          </m:sSup>
                        </m:e>
                      </m:bar>
                      <m:r>
                        <a:rPr lang="zh-CN" altLang="en-US" sz="3000" i="1">
                          <a:solidFill>
                            <a:srgbClr val="000000"/>
                          </a:solidFill>
                          <a:latin typeface="Cambria Math" panose="02040503050406030204" pitchFamily="18" charset="0"/>
                        </a:rPr>
                        <m:t>=</m:t>
                      </m:r>
                      <m:f>
                        <m:fPr>
                          <m:ctrlPr>
                            <a:rPr lang="zh-CN" altLang="en-US" sz="3000" i="1">
                              <a:solidFill>
                                <a:srgbClr val="000000"/>
                              </a:solidFill>
                              <a:latin typeface="Cambria Math" panose="02040503050406030204" pitchFamily="18" charset="0"/>
                            </a:rPr>
                          </m:ctrlPr>
                        </m:fPr>
                        <m:num>
                          <m:r>
                            <a:rPr lang="zh-CN" altLang="en-US" sz="3000" i="1">
                              <a:solidFill>
                                <a:srgbClr val="000000"/>
                              </a:solidFill>
                              <a:latin typeface="Cambria Math" panose="02040503050406030204" pitchFamily="18" charset="0"/>
                            </a:rPr>
                            <m:t>3</m:t>
                          </m:r>
                        </m:num>
                        <m:den>
                          <m:r>
                            <a:rPr lang="zh-CN" altLang="en-US" sz="3000" i="1">
                              <a:solidFill>
                                <a:srgbClr val="000000"/>
                              </a:solidFill>
                              <a:latin typeface="Cambria Math" panose="02040503050406030204" pitchFamily="18" charset="0"/>
                            </a:rPr>
                            <m:t>2</m:t>
                          </m:r>
                        </m:den>
                      </m:f>
                      <m:sSub>
                        <m:sSubPr>
                          <m:ctrlPr>
                            <a:rPr lang="zh-CN" altLang="en-US" sz="3000" i="1">
                              <a:solidFill>
                                <a:srgbClr val="000000"/>
                              </a:solidFill>
                              <a:latin typeface="Cambria Math" panose="02040503050406030204" pitchFamily="18" charset="0"/>
                            </a:rPr>
                          </m:ctrlPr>
                        </m:sSubPr>
                        <m:e>
                          <m:r>
                            <a:rPr lang="zh-CN" altLang="en-US" sz="3000" i="1">
                              <a:solidFill>
                                <a:srgbClr val="000000"/>
                              </a:solidFill>
                              <a:latin typeface="Cambria Math" panose="02040503050406030204" pitchFamily="18" charset="0"/>
                            </a:rPr>
                            <m:t>𝑘</m:t>
                          </m:r>
                        </m:e>
                        <m:sub>
                          <m:r>
                            <a:rPr lang="zh-CN" altLang="en-US" sz="3000" i="1">
                              <a:solidFill>
                                <a:srgbClr val="000000"/>
                              </a:solidFill>
                              <a:latin typeface="Cambria Math" panose="02040503050406030204" pitchFamily="18" charset="0"/>
                            </a:rPr>
                            <m:t>𝐵</m:t>
                          </m:r>
                        </m:sub>
                      </m:sSub>
                      <m:r>
                        <a:rPr lang="zh-CN" altLang="en-US" sz="3000" i="1">
                          <a:solidFill>
                            <a:srgbClr val="000000"/>
                          </a:solidFill>
                          <a:latin typeface="Cambria Math" panose="02040503050406030204" pitchFamily="18" charset="0"/>
                        </a:rPr>
                        <m:t>𝑇</m:t>
                      </m:r>
                    </m:oMath>
                  </m:oMathPara>
                </a14:m>
                <a:endParaRPr lang="zh-CN" altLang="en-US" sz="3000" dirty="0"/>
              </a:p>
            </p:txBody>
          </p:sp>
        </mc:Choice>
        <mc:Fallback xmlns="">
          <p:sp>
            <p:nvSpPr>
              <p:cNvPr id="12" name="Object 17">
                <a:extLst>
                  <a:ext uri="{FF2B5EF4-FFF2-40B4-BE49-F238E27FC236}">
                    <a16:creationId xmlns:a16="http://schemas.microsoft.com/office/drawing/2014/main" id="{FD500C1B-B74C-81EF-A72D-FFF5908D16C4}"/>
                  </a:ext>
                </a:extLst>
              </p:cNvPr>
              <p:cNvSpPr txBox="1">
                <a:spLocks noRot="1" noChangeAspect="1" noMove="1" noResize="1" noEditPoints="1" noAdjustHandles="1" noChangeArrowheads="1" noChangeShapeType="1" noTextEdit="1"/>
              </p:cNvSpPr>
              <p:nvPr/>
            </p:nvSpPr>
            <p:spPr bwMode="auto">
              <a:xfrm>
                <a:off x="6392491" y="4645293"/>
                <a:ext cx="5253038" cy="1009650"/>
              </a:xfrm>
              <a:prstGeom prst="rect">
                <a:avLst/>
              </a:prstGeom>
              <a:blipFill>
                <a:blip r:embed="rId6"/>
                <a:stretch>
                  <a:fillRect/>
                </a:stretch>
              </a:blipFill>
            </p:spPr>
            <p:txBody>
              <a:bodyPr/>
              <a:lstStyle/>
              <a:p>
                <a:r>
                  <a:rPr lang="en-US">
                    <a:noFill/>
                  </a:rPr>
                  <a:t> </a:t>
                </a:r>
              </a:p>
            </p:txBody>
          </p:sp>
        </mc:Fallback>
      </mc:AlternateContent>
      <p:sp>
        <p:nvSpPr>
          <p:cNvPr id="13" name="文本框 12">
            <a:extLst>
              <a:ext uri="{FF2B5EF4-FFF2-40B4-BE49-F238E27FC236}">
                <a16:creationId xmlns:a16="http://schemas.microsoft.com/office/drawing/2014/main" id="{202521A1-DD35-D21A-98D5-19D7221408FA}"/>
              </a:ext>
            </a:extLst>
          </p:cNvPr>
          <p:cNvSpPr txBox="1"/>
          <p:nvPr/>
        </p:nvSpPr>
        <p:spPr>
          <a:xfrm>
            <a:off x="5041900" y="3682239"/>
            <a:ext cx="6959293" cy="1015663"/>
          </a:xfrm>
          <a:prstGeom prst="rect">
            <a:avLst/>
          </a:prstGeom>
          <a:noFill/>
        </p:spPr>
        <p:txBody>
          <a:bodyPr wrap="square">
            <a:spAutoFit/>
          </a:bodyPr>
          <a:lstStyle/>
          <a:p>
            <a:r>
              <a:rPr lang="en-US" altLang="zh-CN" sz="3000" dirty="0"/>
              <a:t>- </a:t>
            </a:r>
            <a:r>
              <a:rPr lang="zh-CN" altLang="en-US" sz="3000" dirty="0"/>
              <a:t>温度是分子平均平动</a:t>
            </a:r>
            <a:r>
              <a:rPr lang="zh-CN" altLang="en-US" sz="3000" b="1" dirty="0"/>
              <a:t>动能</a:t>
            </a:r>
            <a:r>
              <a:rPr lang="zh-CN" altLang="en-US" sz="3000" dirty="0"/>
              <a:t>的量度，反映热运动的剧烈程度。</a:t>
            </a:r>
          </a:p>
        </p:txBody>
      </p:sp>
      <p:sp>
        <p:nvSpPr>
          <p:cNvPr id="14" name="Rectangle 7">
            <a:extLst>
              <a:ext uri="{FF2B5EF4-FFF2-40B4-BE49-F238E27FC236}">
                <a16:creationId xmlns:a16="http://schemas.microsoft.com/office/drawing/2014/main" id="{ECB269D8-F9AA-4693-BEA9-F141350FD1C0}"/>
              </a:ext>
            </a:extLst>
          </p:cNvPr>
          <p:cNvSpPr>
            <a:spLocks noChangeArrowheads="1"/>
          </p:cNvSpPr>
          <p:nvPr/>
        </p:nvSpPr>
        <p:spPr bwMode="auto">
          <a:xfrm>
            <a:off x="1997844" y="5624405"/>
            <a:ext cx="6523702" cy="1126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marL="457200" indent="-457200" algn="just">
              <a:lnSpc>
                <a:spcPct val="120000"/>
              </a:lnSpc>
              <a:buFontTx/>
              <a:buChar char="-"/>
            </a:pPr>
            <a:r>
              <a:rPr kumimoji="1" lang="zh-CN" altLang="en-US" sz="3000" b="0" dirty="0">
                <a:solidFill>
                  <a:srgbClr val="FF0000"/>
                </a:solidFill>
                <a:latin typeface="楷体" panose="02010609060101010101" pitchFamily="49" charset="-122"/>
                <a:ea typeface="楷体" panose="02010609060101010101" pitchFamily="49" charset="-122"/>
              </a:rPr>
              <a:t>分子微观运动是可逆的</a:t>
            </a:r>
            <a:endParaRPr kumimoji="1" lang="en-US" altLang="zh-CN" sz="3000" b="0" dirty="0">
              <a:solidFill>
                <a:srgbClr val="FF0000"/>
              </a:solidFill>
              <a:latin typeface="楷体" panose="02010609060101010101" pitchFamily="49" charset="-122"/>
              <a:ea typeface="楷体" panose="02010609060101010101" pitchFamily="49" charset="-122"/>
            </a:endParaRPr>
          </a:p>
          <a:p>
            <a:pPr marL="457200" indent="-457200" algn="just">
              <a:lnSpc>
                <a:spcPct val="120000"/>
              </a:lnSpc>
              <a:buFontTx/>
              <a:buChar char="-"/>
            </a:pPr>
            <a:r>
              <a:rPr kumimoji="1" lang="zh-CN" altLang="en-US" sz="3000" b="0" dirty="0">
                <a:solidFill>
                  <a:srgbClr val="FF0000"/>
                </a:solidFill>
                <a:latin typeface="楷体" panose="02010609060101010101" pitchFamily="49" charset="-122"/>
                <a:ea typeface="楷体" panose="02010609060101010101" pitchFamily="49" charset="-122"/>
              </a:rPr>
              <a:t>热力学体系的宏观过程是不可逆的</a:t>
            </a:r>
          </a:p>
        </p:txBody>
      </p:sp>
    </p:spTree>
    <p:extLst>
      <p:ext uri="{BB962C8B-B14F-4D97-AF65-F5344CB8AC3E}">
        <p14:creationId xmlns:p14="http://schemas.microsoft.com/office/powerpoint/2010/main" val="279935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12" grpId="0"/>
      <p:bldP spid="1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C69C42A5-B939-81AB-1B23-3F897E5C0F96}"/>
              </a:ext>
            </a:extLst>
          </p:cNvPr>
          <p:cNvSpPr txBox="1"/>
          <p:nvPr/>
        </p:nvSpPr>
        <p:spPr>
          <a:xfrm>
            <a:off x="691242" y="1414660"/>
            <a:ext cx="10809515" cy="584775"/>
          </a:xfrm>
          <a:prstGeom prst="rect">
            <a:avLst/>
          </a:prstGeom>
          <a:noFill/>
        </p:spPr>
        <p:txBody>
          <a:bodyPr wrap="square" rtlCol="0">
            <a:spAutoFit/>
          </a:bodyPr>
          <a:lstStyle/>
          <a:p>
            <a:r>
              <a:rPr lang="zh-CN" altLang="en-US" sz="3200" dirty="0">
                <a:solidFill>
                  <a:srgbClr val="FF0000"/>
                </a:solidFill>
              </a:rPr>
              <a:t>一切自然过程总是沿着分子热运动的无序性增大的方向进行</a:t>
            </a:r>
          </a:p>
        </p:txBody>
      </p:sp>
      <p:pic>
        <p:nvPicPr>
          <p:cNvPr id="5" name="Picture 2">
            <a:extLst>
              <a:ext uri="{FF2B5EF4-FFF2-40B4-BE49-F238E27FC236}">
                <a16:creationId xmlns:a16="http://schemas.microsoft.com/office/drawing/2014/main" id="{E8DE754C-EB27-E052-375C-847C4317F9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488" y="2117064"/>
            <a:ext cx="5470802" cy="306755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Spectacular GIFs of Water Paintings Revealed with Ink Drops">
            <a:extLst>
              <a:ext uri="{FF2B5EF4-FFF2-40B4-BE49-F238E27FC236}">
                <a16:creationId xmlns:a16="http://schemas.microsoft.com/office/drawing/2014/main" id="{472D4BEA-E6CD-EB89-EE03-65F24C7514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9825" y="2117064"/>
            <a:ext cx="5458286" cy="3067557"/>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13">
            <a:hlinkClick r:id="" action="ppaction://noaction"/>
            <a:extLst>
              <a:ext uri="{FF2B5EF4-FFF2-40B4-BE49-F238E27FC236}">
                <a16:creationId xmlns:a16="http://schemas.microsoft.com/office/drawing/2014/main" id="{4D68C6B9-84F4-2CDA-E3FB-F61D9BF612C8}"/>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热力学第二定律 </a:t>
            </a:r>
            <a:r>
              <a:rPr kumimoji="1" lang="en-US" altLang="zh-CN" sz="3200" dirty="0">
                <a:solidFill>
                  <a:srgbClr val="0066FF"/>
                </a:solidFill>
                <a:latin typeface="+mn-lt"/>
                <a:ea typeface="+mn-ea"/>
                <a:cs typeface="Times New Roman" panose="02020603050405020304" pitchFamily="18" charset="0"/>
              </a:rPr>
              <a:t>- </a:t>
            </a:r>
            <a:r>
              <a:rPr kumimoji="1" lang="zh-CN" altLang="en-US" sz="3200" dirty="0">
                <a:solidFill>
                  <a:srgbClr val="0066FF"/>
                </a:solidFill>
                <a:latin typeface="+mn-lt"/>
                <a:ea typeface="+mn-ea"/>
                <a:cs typeface="Times New Roman" panose="02020603050405020304" pitchFamily="18" charset="0"/>
              </a:rPr>
              <a:t>微观解释</a:t>
            </a:r>
          </a:p>
        </p:txBody>
      </p:sp>
      <p:pic>
        <p:nvPicPr>
          <p:cNvPr id="3" name="图片 2">
            <a:extLst>
              <a:ext uri="{FF2B5EF4-FFF2-40B4-BE49-F238E27FC236}">
                <a16:creationId xmlns:a16="http://schemas.microsoft.com/office/drawing/2014/main" id="{86B0227F-105D-9D33-4CD2-6F12780A978A}"/>
              </a:ext>
            </a:extLst>
          </p:cNvPr>
          <p:cNvPicPr>
            <a:picLocks noChangeAspect="1"/>
          </p:cNvPicPr>
          <p:nvPr/>
        </p:nvPicPr>
        <p:blipFill rotWithShape="1">
          <a:blip r:embed="rId4"/>
          <a:srcRect l="13000" t="62778" r="8400" b="14537"/>
          <a:stretch/>
        </p:blipFill>
        <p:spPr>
          <a:xfrm>
            <a:off x="393889" y="4965700"/>
            <a:ext cx="5744858" cy="1790700"/>
          </a:xfrm>
          <a:prstGeom prst="rect">
            <a:avLst/>
          </a:prstGeom>
        </p:spPr>
      </p:pic>
    </p:spTree>
    <p:extLst>
      <p:ext uri="{BB962C8B-B14F-4D97-AF65-F5344CB8AC3E}">
        <p14:creationId xmlns:p14="http://schemas.microsoft.com/office/powerpoint/2010/main" val="973673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a:hlinkClick r:id="" action="ppaction://noaction"/>
            <a:extLst>
              <a:ext uri="{FF2B5EF4-FFF2-40B4-BE49-F238E27FC236}">
                <a16:creationId xmlns:a16="http://schemas.microsoft.com/office/drawing/2014/main" id="{39E291F9-28C0-524A-E052-AD7A7CCD4475}"/>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热力学第二定律 </a:t>
            </a:r>
            <a:r>
              <a:rPr kumimoji="1" lang="en-US" altLang="zh-CN" sz="3200" dirty="0">
                <a:solidFill>
                  <a:srgbClr val="0066FF"/>
                </a:solidFill>
                <a:latin typeface="+mn-lt"/>
                <a:ea typeface="+mn-ea"/>
                <a:cs typeface="Times New Roman" panose="02020603050405020304" pitchFamily="18" charset="0"/>
              </a:rPr>
              <a:t>- </a:t>
            </a:r>
            <a:r>
              <a:rPr kumimoji="1" lang="zh-CN" altLang="en-US" sz="3200" dirty="0">
                <a:solidFill>
                  <a:srgbClr val="0066FF"/>
                </a:solidFill>
                <a:latin typeface="+mn-lt"/>
                <a:ea typeface="+mn-ea"/>
                <a:cs typeface="Times New Roman" panose="02020603050405020304" pitchFamily="18" charset="0"/>
              </a:rPr>
              <a:t>微观解释</a:t>
            </a:r>
          </a:p>
        </p:txBody>
      </p:sp>
      <p:grpSp>
        <p:nvGrpSpPr>
          <p:cNvPr id="3" name="Group 3111">
            <a:extLst>
              <a:ext uri="{FF2B5EF4-FFF2-40B4-BE49-F238E27FC236}">
                <a16:creationId xmlns:a16="http://schemas.microsoft.com/office/drawing/2014/main" id="{048024FC-7EB4-B719-4021-DD364DD9F66E}"/>
              </a:ext>
            </a:extLst>
          </p:cNvPr>
          <p:cNvGrpSpPr>
            <a:grpSpLocks/>
          </p:cNvGrpSpPr>
          <p:nvPr/>
        </p:nvGrpSpPr>
        <p:grpSpPr bwMode="auto">
          <a:xfrm>
            <a:off x="1267339" y="2016743"/>
            <a:ext cx="3562351" cy="2582128"/>
            <a:chOff x="3072" y="1526"/>
            <a:chExt cx="1776" cy="1114"/>
          </a:xfrm>
        </p:grpSpPr>
        <p:sp>
          <p:nvSpPr>
            <p:cNvPr id="4" name="Rectangle 3112">
              <a:extLst>
                <a:ext uri="{FF2B5EF4-FFF2-40B4-BE49-F238E27FC236}">
                  <a16:creationId xmlns:a16="http://schemas.microsoft.com/office/drawing/2014/main" id="{251BFF8B-3589-4777-0811-60F035DD4A34}"/>
                </a:ext>
              </a:extLst>
            </p:cNvPr>
            <p:cNvSpPr>
              <a:spLocks noChangeArrowheads="1"/>
            </p:cNvSpPr>
            <p:nvPr/>
          </p:nvSpPr>
          <p:spPr bwMode="auto">
            <a:xfrm>
              <a:off x="3072" y="2016"/>
              <a:ext cx="768" cy="624"/>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000" b="0" dirty="0">
                  <a:latin typeface="+mn-lt"/>
                  <a:ea typeface="+mn-ea"/>
                </a:rPr>
                <a:t>冷</a:t>
              </a:r>
              <a:endParaRPr lang="en-US" altLang="zh-CN" sz="3000" b="0" dirty="0">
                <a:latin typeface="+mn-lt"/>
                <a:ea typeface="+mn-ea"/>
              </a:endParaRPr>
            </a:p>
          </p:txBody>
        </p:sp>
        <p:sp>
          <p:nvSpPr>
            <p:cNvPr id="5" name="AutoShape 3115">
              <a:extLst>
                <a:ext uri="{FF2B5EF4-FFF2-40B4-BE49-F238E27FC236}">
                  <a16:creationId xmlns:a16="http://schemas.microsoft.com/office/drawing/2014/main" id="{4EBBDCEB-1E6C-C0B8-869E-68400D8921D2}"/>
                </a:ext>
              </a:extLst>
            </p:cNvPr>
            <p:cNvSpPr>
              <a:spLocks noChangeArrowheads="1"/>
            </p:cNvSpPr>
            <p:nvPr/>
          </p:nvSpPr>
          <p:spPr bwMode="auto">
            <a:xfrm>
              <a:off x="3936" y="1536"/>
              <a:ext cx="912" cy="336"/>
            </a:xfrm>
            <a:prstGeom prst="wedgeEllipseCallout">
              <a:avLst>
                <a:gd name="adj1" fmla="val -47042"/>
                <a:gd name="adj2" fmla="val 69940"/>
              </a:avLst>
            </a:prstGeom>
            <a:solidFill>
              <a:schemeClr val="bg1"/>
            </a:solidFill>
            <a:ln w="9525">
              <a:no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3000" b="0">
                <a:latin typeface="+mn-lt"/>
                <a:ea typeface="+mn-ea"/>
              </a:endParaRPr>
            </a:p>
          </p:txBody>
        </p:sp>
        <p:sp>
          <p:nvSpPr>
            <p:cNvPr id="6" name="Rectangle 3117">
              <a:extLst>
                <a:ext uri="{FF2B5EF4-FFF2-40B4-BE49-F238E27FC236}">
                  <a16:creationId xmlns:a16="http://schemas.microsoft.com/office/drawing/2014/main" id="{EA5BB01E-7EFF-E28D-D81C-4F61B52B0D81}"/>
                </a:ext>
              </a:extLst>
            </p:cNvPr>
            <p:cNvSpPr>
              <a:spLocks noChangeArrowheads="1"/>
            </p:cNvSpPr>
            <p:nvPr/>
          </p:nvSpPr>
          <p:spPr bwMode="auto">
            <a:xfrm>
              <a:off x="3072" y="1526"/>
              <a:ext cx="768" cy="480"/>
            </a:xfrm>
            <a:prstGeom prst="rect">
              <a:avLst/>
            </a:prstGeom>
            <a:solidFill>
              <a:srgbClr val="FF9933"/>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9933"/>
              </a:extrusionClr>
              <a:contourClr>
                <a:srgbClr val="FF9933"/>
              </a:contourClr>
            </a:sp3d>
          </p:spPr>
          <p:txBody>
            <a:bodyPr wrap="none" anchor="ctr">
              <a:flatTx/>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000" b="0" dirty="0">
                  <a:latin typeface="+mn-lt"/>
                  <a:ea typeface="+mn-ea"/>
                </a:rPr>
                <a:t>热</a:t>
              </a:r>
              <a:endParaRPr lang="en-US" altLang="zh-CN" sz="3000" b="0" dirty="0">
                <a:latin typeface="+mn-lt"/>
                <a:ea typeface="+mn-ea"/>
              </a:endParaRPr>
            </a:p>
          </p:txBody>
        </p:sp>
      </p:grpSp>
      <p:sp>
        <p:nvSpPr>
          <p:cNvPr id="8" name="文本框 7">
            <a:extLst>
              <a:ext uri="{FF2B5EF4-FFF2-40B4-BE49-F238E27FC236}">
                <a16:creationId xmlns:a16="http://schemas.microsoft.com/office/drawing/2014/main" id="{726577B9-62E6-FD9B-21EA-4165885123DC}"/>
              </a:ext>
            </a:extLst>
          </p:cNvPr>
          <p:cNvSpPr txBox="1"/>
          <p:nvPr/>
        </p:nvSpPr>
        <p:spPr>
          <a:xfrm>
            <a:off x="3396342" y="1949479"/>
            <a:ext cx="8443337" cy="523220"/>
          </a:xfrm>
          <a:prstGeom prst="rect">
            <a:avLst/>
          </a:prstGeom>
          <a:noFill/>
        </p:spPr>
        <p:txBody>
          <a:bodyPr wrap="none" rtlCol="0">
            <a:spAutoFit/>
          </a:bodyPr>
          <a:lstStyle/>
          <a:p>
            <a:r>
              <a:rPr lang="zh-CN" altLang="en-US" sz="2800" dirty="0"/>
              <a:t>高温物体分子平均动能大，低温物体分子平均动能小</a:t>
            </a:r>
          </a:p>
        </p:txBody>
      </p:sp>
      <p:sp>
        <p:nvSpPr>
          <p:cNvPr id="9" name="文本框 8">
            <a:extLst>
              <a:ext uri="{FF2B5EF4-FFF2-40B4-BE49-F238E27FC236}">
                <a16:creationId xmlns:a16="http://schemas.microsoft.com/office/drawing/2014/main" id="{96C1AFBB-76E0-7127-C74E-6451A1EE294D}"/>
              </a:ext>
            </a:extLst>
          </p:cNvPr>
          <p:cNvSpPr txBox="1"/>
          <p:nvPr/>
        </p:nvSpPr>
        <p:spPr>
          <a:xfrm>
            <a:off x="3432628" y="2977561"/>
            <a:ext cx="8019143" cy="1384995"/>
          </a:xfrm>
          <a:prstGeom prst="rect">
            <a:avLst/>
          </a:prstGeom>
          <a:noFill/>
        </p:spPr>
        <p:txBody>
          <a:bodyPr wrap="square" rtlCol="0">
            <a:spAutoFit/>
          </a:bodyPr>
          <a:lstStyle/>
          <a:p>
            <a:r>
              <a:rPr lang="zh-CN" altLang="en-US" sz="2800" dirty="0"/>
              <a:t>初始状态： 虽然两物体分子的运动都是无序的，但是平均动能大的分子聚集在高温区域，平均动能小的分子聚集在低温区域。</a:t>
            </a:r>
          </a:p>
        </p:txBody>
      </p:sp>
      <p:sp>
        <p:nvSpPr>
          <p:cNvPr id="10" name="文本框 9">
            <a:extLst>
              <a:ext uri="{FF2B5EF4-FFF2-40B4-BE49-F238E27FC236}">
                <a16:creationId xmlns:a16="http://schemas.microsoft.com/office/drawing/2014/main" id="{B9A14E48-E515-7DE2-746C-2EC57D243B7A}"/>
              </a:ext>
            </a:extLst>
          </p:cNvPr>
          <p:cNvSpPr txBox="1"/>
          <p:nvPr/>
        </p:nvSpPr>
        <p:spPr>
          <a:xfrm>
            <a:off x="3396340" y="4598871"/>
            <a:ext cx="7794173" cy="954107"/>
          </a:xfrm>
          <a:prstGeom prst="rect">
            <a:avLst/>
          </a:prstGeom>
          <a:noFill/>
        </p:spPr>
        <p:txBody>
          <a:bodyPr wrap="square" rtlCol="0">
            <a:spAutoFit/>
          </a:bodyPr>
          <a:lstStyle/>
          <a:p>
            <a:r>
              <a:rPr lang="zh-CN" altLang="en-US" sz="2800" dirty="0"/>
              <a:t>末态：温度相同，所有分子平均动能相同，按照平均动能区分两物体已不可能</a:t>
            </a:r>
          </a:p>
        </p:txBody>
      </p:sp>
      <p:sp>
        <p:nvSpPr>
          <p:cNvPr id="12" name="Text Box 3105">
            <a:extLst>
              <a:ext uri="{FF2B5EF4-FFF2-40B4-BE49-F238E27FC236}">
                <a16:creationId xmlns:a16="http://schemas.microsoft.com/office/drawing/2014/main" id="{721131E8-BAAA-A891-4633-61FE997FB0D0}"/>
              </a:ext>
            </a:extLst>
          </p:cNvPr>
          <p:cNvSpPr txBox="1">
            <a:spLocks noChangeArrowheads="1"/>
          </p:cNvSpPr>
          <p:nvPr/>
        </p:nvSpPr>
        <p:spPr bwMode="auto">
          <a:xfrm>
            <a:off x="2443386" y="1134212"/>
            <a:ext cx="92769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71500" indent="-381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marL="190500" indent="0" eaLnBrk="1" hangingPunct="1"/>
            <a:r>
              <a:rPr lang="zh-CN" altLang="en-US" sz="3000" b="0" dirty="0">
                <a:latin typeface="+mn-lt"/>
                <a:ea typeface="+mn-ea"/>
              </a:rPr>
              <a:t>热量只会从高温物体向低温物体传导</a:t>
            </a:r>
          </a:p>
        </p:txBody>
      </p:sp>
    </p:spTree>
    <p:extLst>
      <p:ext uri="{BB962C8B-B14F-4D97-AF65-F5344CB8AC3E}">
        <p14:creationId xmlns:p14="http://schemas.microsoft.com/office/powerpoint/2010/main" val="374904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a:hlinkClick r:id="" action="ppaction://noaction"/>
            <a:extLst>
              <a:ext uri="{FF2B5EF4-FFF2-40B4-BE49-F238E27FC236}">
                <a16:creationId xmlns:a16="http://schemas.microsoft.com/office/drawing/2014/main" id="{39E291F9-28C0-524A-E052-AD7A7CCD4475}"/>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热力学第二定律 </a:t>
            </a:r>
            <a:r>
              <a:rPr kumimoji="1" lang="en-US" altLang="zh-CN" sz="3200" dirty="0">
                <a:solidFill>
                  <a:srgbClr val="0066FF"/>
                </a:solidFill>
                <a:latin typeface="+mn-lt"/>
                <a:ea typeface="+mn-ea"/>
                <a:cs typeface="Times New Roman" panose="02020603050405020304" pitchFamily="18" charset="0"/>
              </a:rPr>
              <a:t>- </a:t>
            </a:r>
            <a:r>
              <a:rPr kumimoji="1" lang="zh-CN" altLang="en-US" sz="3200" dirty="0">
                <a:solidFill>
                  <a:srgbClr val="0066FF"/>
                </a:solidFill>
                <a:latin typeface="+mn-lt"/>
                <a:ea typeface="+mn-ea"/>
                <a:cs typeface="Times New Roman" panose="02020603050405020304" pitchFamily="18" charset="0"/>
              </a:rPr>
              <a:t>微观解释</a:t>
            </a:r>
          </a:p>
        </p:txBody>
      </p:sp>
      <p:grpSp>
        <p:nvGrpSpPr>
          <p:cNvPr id="3" name="Group 3111">
            <a:extLst>
              <a:ext uri="{FF2B5EF4-FFF2-40B4-BE49-F238E27FC236}">
                <a16:creationId xmlns:a16="http://schemas.microsoft.com/office/drawing/2014/main" id="{048024FC-7EB4-B719-4021-DD364DD9F66E}"/>
              </a:ext>
            </a:extLst>
          </p:cNvPr>
          <p:cNvGrpSpPr>
            <a:grpSpLocks/>
          </p:cNvGrpSpPr>
          <p:nvPr/>
        </p:nvGrpSpPr>
        <p:grpSpPr bwMode="auto">
          <a:xfrm>
            <a:off x="1267339" y="2016743"/>
            <a:ext cx="3562351" cy="2582128"/>
            <a:chOff x="3072" y="1526"/>
            <a:chExt cx="1776" cy="1114"/>
          </a:xfrm>
        </p:grpSpPr>
        <p:sp>
          <p:nvSpPr>
            <p:cNvPr id="4" name="Rectangle 3112">
              <a:extLst>
                <a:ext uri="{FF2B5EF4-FFF2-40B4-BE49-F238E27FC236}">
                  <a16:creationId xmlns:a16="http://schemas.microsoft.com/office/drawing/2014/main" id="{251BFF8B-3589-4777-0811-60F035DD4A34}"/>
                </a:ext>
              </a:extLst>
            </p:cNvPr>
            <p:cNvSpPr>
              <a:spLocks noChangeArrowheads="1"/>
            </p:cNvSpPr>
            <p:nvPr/>
          </p:nvSpPr>
          <p:spPr bwMode="auto">
            <a:xfrm>
              <a:off x="3072" y="2016"/>
              <a:ext cx="768" cy="624"/>
            </a:xfrm>
            <a:prstGeom prst="rect">
              <a:avLst/>
            </a:prstGeom>
            <a:solidFill>
              <a:schemeClr val="accent1"/>
            </a:solidFill>
            <a:ln w="9525">
              <a:miter lim="800000"/>
              <a:headEnd/>
              <a:tailEnd/>
            </a:ln>
            <a:scene3d>
              <a:camera prst="legacyObliqueTopRight"/>
              <a:lightRig rig="legacyFlat3" dir="b"/>
            </a:scene3d>
            <a:sp3d extrusionH="430200" prstMaterial="legacyMatte">
              <a:bevelT w="13500" h="13500" prst="angle"/>
              <a:bevelB w="13500" h="13500" prst="angle"/>
              <a:extrusionClr>
                <a:schemeClr val="accent1"/>
              </a:extrusionClr>
              <a:contourClr>
                <a:schemeClr val="accent1"/>
              </a:contourClr>
            </a:sp3d>
          </p:spPr>
          <p:txBody>
            <a:bodyPr wrap="none" anchor="ctr">
              <a:flatTx/>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000" b="0" dirty="0">
                  <a:latin typeface="+mn-lt"/>
                  <a:ea typeface="+mn-ea"/>
                </a:rPr>
                <a:t>冷</a:t>
              </a:r>
              <a:endParaRPr lang="en-US" altLang="zh-CN" sz="3000" b="0" dirty="0">
                <a:latin typeface="+mn-lt"/>
                <a:ea typeface="+mn-ea"/>
              </a:endParaRPr>
            </a:p>
          </p:txBody>
        </p:sp>
        <p:sp>
          <p:nvSpPr>
            <p:cNvPr id="5" name="AutoShape 3115">
              <a:extLst>
                <a:ext uri="{FF2B5EF4-FFF2-40B4-BE49-F238E27FC236}">
                  <a16:creationId xmlns:a16="http://schemas.microsoft.com/office/drawing/2014/main" id="{4EBBDCEB-1E6C-C0B8-869E-68400D8921D2}"/>
                </a:ext>
              </a:extLst>
            </p:cNvPr>
            <p:cNvSpPr>
              <a:spLocks noChangeArrowheads="1"/>
            </p:cNvSpPr>
            <p:nvPr/>
          </p:nvSpPr>
          <p:spPr bwMode="auto">
            <a:xfrm>
              <a:off x="3936" y="1536"/>
              <a:ext cx="912" cy="336"/>
            </a:xfrm>
            <a:prstGeom prst="wedgeEllipseCallout">
              <a:avLst>
                <a:gd name="adj1" fmla="val -47042"/>
                <a:gd name="adj2" fmla="val 69940"/>
              </a:avLst>
            </a:prstGeom>
            <a:solidFill>
              <a:schemeClr val="bg1"/>
            </a:solidFill>
            <a:ln w="9525">
              <a:no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zh-CN" sz="3000" b="0">
                <a:latin typeface="+mn-lt"/>
                <a:ea typeface="+mn-ea"/>
              </a:endParaRPr>
            </a:p>
          </p:txBody>
        </p:sp>
        <p:sp>
          <p:nvSpPr>
            <p:cNvPr id="6" name="Rectangle 3117">
              <a:extLst>
                <a:ext uri="{FF2B5EF4-FFF2-40B4-BE49-F238E27FC236}">
                  <a16:creationId xmlns:a16="http://schemas.microsoft.com/office/drawing/2014/main" id="{EA5BB01E-7EFF-E28D-D81C-4F61B52B0D81}"/>
                </a:ext>
              </a:extLst>
            </p:cNvPr>
            <p:cNvSpPr>
              <a:spLocks noChangeArrowheads="1"/>
            </p:cNvSpPr>
            <p:nvPr/>
          </p:nvSpPr>
          <p:spPr bwMode="auto">
            <a:xfrm>
              <a:off x="3072" y="1526"/>
              <a:ext cx="768" cy="480"/>
            </a:xfrm>
            <a:prstGeom prst="rect">
              <a:avLst/>
            </a:prstGeom>
            <a:solidFill>
              <a:srgbClr val="FF9933"/>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9933"/>
              </a:extrusionClr>
              <a:contourClr>
                <a:srgbClr val="FF9933"/>
              </a:contourClr>
            </a:sp3d>
          </p:spPr>
          <p:txBody>
            <a:bodyPr wrap="none" anchor="ctr">
              <a:flatTx/>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000" b="0" dirty="0">
                  <a:latin typeface="+mn-lt"/>
                  <a:ea typeface="+mn-ea"/>
                </a:rPr>
                <a:t>热</a:t>
              </a:r>
              <a:endParaRPr lang="en-US" altLang="zh-CN" sz="3000" b="0" dirty="0">
                <a:latin typeface="+mn-lt"/>
                <a:ea typeface="+mn-ea"/>
              </a:endParaRPr>
            </a:p>
          </p:txBody>
        </p:sp>
      </p:grpSp>
      <p:sp>
        <p:nvSpPr>
          <p:cNvPr id="9" name="文本框 8">
            <a:extLst>
              <a:ext uri="{FF2B5EF4-FFF2-40B4-BE49-F238E27FC236}">
                <a16:creationId xmlns:a16="http://schemas.microsoft.com/office/drawing/2014/main" id="{96C1AFBB-76E0-7127-C74E-6451A1EE294D}"/>
              </a:ext>
            </a:extLst>
          </p:cNvPr>
          <p:cNvSpPr txBox="1"/>
          <p:nvPr/>
        </p:nvSpPr>
        <p:spPr>
          <a:xfrm>
            <a:off x="3522626" y="1967070"/>
            <a:ext cx="8019143" cy="523220"/>
          </a:xfrm>
          <a:prstGeom prst="rect">
            <a:avLst/>
          </a:prstGeom>
          <a:noFill/>
        </p:spPr>
        <p:txBody>
          <a:bodyPr wrap="square" rtlCol="0">
            <a:spAutoFit/>
          </a:bodyPr>
          <a:lstStyle/>
          <a:p>
            <a:r>
              <a:rPr lang="zh-CN" altLang="en-US" sz="2800" dirty="0"/>
              <a:t>初始状态：</a:t>
            </a:r>
          </a:p>
        </p:txBody>
      </p:sp>
      <p:sp>
        <p:nvSpPr>
          <p:cNvPr id="10" name="文本框 9">
            <a:extLst>
              <a:ext uri="{FF2B5EF4-FFF2-40B4-BE49-F238E27FC236}">
                <a16:creationId xmlns:a16="http://schemas.microsoft.com/office/drawing/2014/main" id="{B9A14E48-E515-7DE2-746C-2EC57D243B7A}"/>
              </a:ext>
            </a:extLst>
          </p:cNvPr>
          <p:cNvSpPr txBox="1"/>
          <p:nvPr/>
        </p:nvSpPr>
        <p:spPr>
          <a:xfrm>
            <a:off x="6548853" y="1956563"/>
            <a:ext cx="7794173" cy="523220"/>
          </a:xfrm>
          <a:prstGeom prst="rect">
            <a:avLst/>
          </a:prstGeom>
          <a:noFill/>
        </p:spPr>
        <p:txBody>
          <a:bodyPr wrap="square" rtlCol="0">
            <a:spAutoFit/>
          </a:bodyPr>
          <a:lstStyle/>
          <a:p>
            <a:r>
              <a:rPr lang="zh-CN" altLang="en-US" sz="2800" dirty="0"/>
              <a:t>末态：</a:t>
            </a:r>
          </a:p>
        </p:txBody>
      </p:sp>
      <p:sp>
        <p:nvSpPr>
          <p:cNvPr id="11" name="文本框 10">
            <a:extLst>
              <a:ext uri="{FF2B5EF4-FFF2-40B4-BE49-F238E27FC236}">
                <a16:creationId xmlns:a16="http://schemas.microsoft.com/office/drawing/2014/main" id="{3999CC88-3D5A-AFF2-3CD0-E054CC86106E}"/>
              </a:ext>
            </a:extLst>
          </p:cNvPr>
          <p:cNvSpPr txBox="1"/>
          <p:nvPr/>
        </p:nvSpPr>
        <p:spPr>
          <a:xfrm>
            <a:off x="3348455" y="6215168"/>
            <a:ext cx="7794173" cy="584775"/>
          </a:xfrm>
          <a:prstGeom prst="rect">
            <a:avLst/>
          </a:prstGeom>
          <a:noFill/>
        </p:spPr>
        <p:txBody>
          <a:bodyPr wrap="square" rtlCol="0">
            <a:spAutoFit/>
          </a:bodyPr>
          <a:lstStyle/>
          <a:p>
            <a:r>
              <a:rPr lang="zh-CN" altLang="en-US" sz="3200" b="1" dirty="0">
                <a:solidFill>
                  <a:srgbClr val="FF0000"/>
                </a:solidFill>
              </a:rPr>
              <a:t>分子的无序性由于热传导增大</a:t>
            </a:r>
          </a:p>
        </p:txBody>
      </p:sp>
      <p:sp>
        <p:nvSpPr>
          <p:cNvPr id="12" name="Text Box 3105">
            <a:extLst>
              <a:ext uri="{FF2B5EF4-FFF2-40B4-BE49-F238E27FC236}">
                <a16:creationId xmlns:a16="http://schemas.microsoft.com/office/drawing/2014/main" id="{721131E8-BAAA-A891-4633-61FE997FB0D0}"/>
              </a:ext>
            </a:extLst>
          </p:cNvPr>
          <p:cNvSpPr txBox="1">
            <a:spLocks noChangeArrowheads="1"/>
          </p:cNvSpPr>
          <p:nvPr/>
        </p:nvSpPr>
        <p:spPr bwMode="auto">
          <a:xfrm>
            <a:off x="2443386" y="1134212"/>
            <a:ext cx="92769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571500" indent="-381000"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marL="190500" indent="0" eaLnBrk="1" hangingPunct="1"/>
            <a:r>
              <a:rPr lang="zh-CN" altLang="en-US" sz="3000" b="0" dirty="0">
                <a:latin typeface="+mn-lt"/>
                <a:ea typeface="+mn-ea"/>
              </a:rPr>
              <a:t>热量只会从高温物体向低温物体传导</a:t>
            </a:r>
          </a:p>
        </p:txBody>
      </p:sp>
      <p:pic>
        <p:nvPicPr>
          <p:cNvPr id="7" name="图片 6">
            <a:extLst>
              <a:ext uri="{FF2B5EF4-FFF2-40B4-BE49-F238E27FC236}">
                <a16:creationId xmlns:a16="http://schemas.microsoft.com/office/drawing/2014/main" id="{6B32F7FC-D156-72C1-F5F0-E32F87E26BC8}"/>
              </a:ext>
            </a:extLst>
          </p:cNvPr>
          <p:cNvPicPr>
            <a:picLocks noChangeAspect="1"/>
          </p:cNvPicPr>
          <p:nvPr/>
        </p:nvPicPr>
        <p:blipFill rotWithShape="1">
          <a:blip r:embed="rId2"/>
          <a:srcRect l="543" t="22739" r="62063" b="16711"/>
          <a:stretch/>
        </p:blipFill>
        <p:spPr>
          <a:xfrm rot="5400000">
            <a:off x="2781741" y="3399945"/>
            <a:ext cx="3571824" cy="1796654"/>
          </a:xfrm>
          <a:prstGeom prst="rect">
            <a:avLst/>
          </a:prstGeom>
        </p:spPr>
      </p:pic>
      <p:pic>
        <p:nvPicPr>
          <p:cNvPr id="13" name="图片 12">
            <a:extLst>
              <a:ext uri="{FF2B5EF4-FFF2-40B4-BE49-F238E27FC236}">
                <a16:creationId xmlns:a16="http://schemas.microsoft.com/office/drawing/2014/main" id="{FA33ED9A-55FD-2C60-41BF-F47A07BC1D74}"/>
              </a:ext>
            </a:extLst>
          </p:cNvPr>
          <p:cNvPicPr>
            <a:picLocks noChangeAspect="1"/>
          </p:cNvPicPr>
          <p:nvPr/>
        </p:nvPicPr>
        <p:blipFill rotWithShape="1">
          <a:blip r:embed="rId2"/>
          <a:srcRect l="62382" t="21428" r="272" b="14962"/>
          <a:stretch/>
        </p:blipFill>
        <p:spPr>
          <a:xfrm rot="5400000">
            <a:off x="5295923" y="3331293"/>
            <a:ext cx="3571825" cy="1889820"/>
          </a:xfrm>
          <a:prstGeom prst="rect">
            <a:avLst/>
          </a:prstGeom>
        </p:spPr>
      </p:pic>
    </p:spTree>
    <p:extLst>
      <p:ext uri="{BB962C8B-B14F-4D97-AF65-F5344CB8AC3E}">
        <p14:creationId xmlns:p14="http://schemas.microsoft.com/office/powerpoint/2010/main" val="60807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3">
            <a:hlinkClick r:id="" action="ppaction://noaction"/>
            <a:extLst>
              <a:ext uri="{FF2B5EF4-FFF2-40B4-BE49-F238E27FC236}">
                <a16:creationId xmlns:a16="http://schemas.microsoft.com/office/drawing/2014/main" id="{39E291F9-28C0-524A-E052-AD7A7CCD4475}"/>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热力学第二定律 </a:t>
            </a:r>
            <a:r>
              <a:rPr kumimoji="1" lang="en-US" altLang="zh-CN" sz="3200" dirty="0">
                <a:solidFill>
                  <a:srgbClr val="0066FF"/>
                </a:solidFill>
                <a:latin typeface="+mn-lt"/>
                <a:ea typeface="+mn-ea"/>
                <a:cs typeface="Times New Roman" panose="02020603050405020304" pitchFamily="18" charset="0"/>
              </a:rPr>
              <a:t>- </a:t>
            </a:r>
            <a:r>
              <a:rPr kumimoji="1" lang="zh-CN" altLang="en-US" sz="3200" dirty="0">
                <a:solidFill>
                  <a:srgbClr val="0066FF"/>
                </a:solidFill>
                <a:latin typeface="+mn-lt"/>
                <a:ea typeface="+mn-ea"/>
                <a:cs typeface="Times New Roman" panose="02020603050405020304" pitchFamily="18" charset="0"/>
              </a:rPr>
              <a:t>微观解释</a:t>
            </a:r>
          </a:p>
        </p:txBody>
      </p:sp>
      <p:grpSp>
        <p:nvGrpSpPr>
          <p:cNvPr id="49" name="Group 11">
            <a:extLst>
              <a:ext uri="{FF2B5EF4-FFF2-40B4-BE49-F238E27FC236}">
                <a16:creationId xmlns:a16="http://schemas.microsoft.com/office/drawing/2014/main" id="{42127CC3-DE98-2BB0-25B3-D769FD41ADA8}"/>
              </a:ext>
            </a:extLst>
          </p:cNvPr>
          <p:cNvGrpSpPr/>
          <p:nvPr/>
        </p:nvGrpSpPr>
        <p:grpSpPr>
          <a:xfrm>
            <a:off x="4434201" y="1636926"/>
            <a:ext cx="3323597" cy="1340358"/>
            <a:chOff x="2496" y="864"/>
            <a:chExt cx="2160" cy="720"/>
          </a:xfrm>
        </p:grpSpPr>
        <p:sp>
          <p:nvSpPr>
            <p:cNvPr id="50" name="AutoShape 12">
              <a:extLst>
                <a:ext uri="{FF2B5EF4-FFF2-40B4-BE49-F238E27FC236}">
                  <a16:creationId xmlns:a16="http://schemas.microsoft.com/office/drawing/2014/main" id="{D833C44D-980D-A9D3-1BA2-825A34E0BC9D}"/>
                </a:ext>
              </a:extLst>
            </p:cNvPr>
            <p:cNvSpPr/>
            <p:nvPr/>
          </p:nvSpPr>
          <p:spPr>
            <a:xfrm>
              <a:off x="2496" y="1104"/>
              <a:ext cx="576" cy="144"/>
            </a:xfrm>
            <a:prstGeom prst="rightArrow">
              <a:avLst>
                <a:gd name="adj1" fmla="val 40277"/>
                <a:gd name="adj2" fmla="val 131814"/>
              </a:avLst>
            </a:prstGeom>
            <a:gradFill rotWithShape="0">
              <a:gsLst>
                <a:gs pos="0">
                  <a:srgbClr val="765E76"/>
                </a:gs>
                <a:gs pos="50000">
                  <a:srgbClr val="FFCCFF"/>
                </a:gs>
                <a:gs pos="100000">
                  <a:srgbClr val="765E76"/>
                </a:gs>
              </a:gsLst>
              <a:lin ang="5400000" scaled="1"/>
              <a:tileRect/>
            </a:gradFill>
            <a:ln w="28575" cap="flat" cmpd="sng">
              <a:solidFill>
                <a:srgbClr val="CC00CC"/>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grpSp>
          <p:nvGrpSpPr>
            <p:cNvPr id="51" name="Group 13">
              <a:extLst>
                <a:ext uri="{FF2B5EF4-FFF2-40B4-BE49-F238E27FC236}">
                  <a16:creationId xmlns:a16="http://schemas.microsoft.com/office/drawing/2014/main" id="{58A07D9E-9164-C398-A28B-94C58ADDC1A0}"/>
                </a:ext>
              </a:extLst>
            </p:cNvPr>
            <p:cNvGrpSpPr/>
            <p:nvPr/>
          </p:nvGrpSpPr>
          <p:grpSpPr>
            <a:xfrm>
              <a:off x="3168" y="864"/>
              <a:ext cx="1488" cy="720"/>
              <a:chOff x="2976" y="816"/>
              <a:chExt cx="1488" cy="720"/>
            </a:xfrm>
          </p:grpSpPr>
          <p:sp>
            <p:nvSpPr>
              <p:cNvPr id="52" name="AutoShape 14">
                <a:extLst>
                  <a:ext uri="{FF2B5EF4-FFF2-40B4-BE49-F238E27FC236}">
                    <a16:creationId xmlns:a16="http://schemas.microsoft.com/office/drawing/2014/main" id="{FE84161B-DE2A-8663-C872-67CAC1334375}"/>
                  </a:ext>
                </a:extLst>
              </p:cNvPr>
              <p:cNvSpPr/>
              <p:nvPr/>
            </p:nvSpPr>
            <p:spPr>
              <a:xfrm>
                <a:off x="2976" y="816"/>
                <a:ext cx="1488" cy="720"/>
              </a:xfrm>
              <a:prstGeom prst="bevel">
                <a:avLst>
                  <a:gd name="adj" fmla="val 12500"/>
                </a:avLst>
              </a:prstGeom>
              <a:solidFill>
                <a:srgbClr val="996633"/>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53" name="Rectangle 15" descr="10%">
                <a:extLst>
                  <a:ext uri="{FF2B5EF4-FFF2-40B4-BE49-F238E27FC236}">
                    <a16:creationId xmlns:a16="http://schemas.microsoft.com/office/drawing/2014/main" id="{21476E2B-6A2A-61EE-F004-7243BC962569}"/>
                  </a:ext>
                </a:extLst>
              </p:cNvPr>
              <p:cNvSpPr/>
              <p:nvPr/>
            </p:nvSpPr>
            <p:spPr>
              <a:xfrm>
                <a:off x="3072" y="912"/>
                <a:ext cx="1296" cy="528"/>
              </a:xfrm>
              <a:prstGeom prst="rect">
                <a:avLst/>
              </a:prstGeom>
              <a:pattFill prst="pct10">
                <a:fgClr>
                  <a:schemeClr val="tx1"/>
                </a:fgClr>
                <a:bgClr>
                  <a:srgbClr val="FFFFFF"/>
                </a:bgClr>
              </a:patt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grpSp>
      </p:grpSp>
      <p:grpSp>
        <p:nvGrpSpPr>
          <p:cNvPr id="54" name="Group 16">
            <a:extLst>
              <a:ext uri="{FF2B5EF4-FFF2-40B4-BE49-F238E27FC236}">
                <a16:creationId xmlns:a16="http://schemas.microsoft.com/office/drawing/2014/main" id="{215C1D39-8D7F-3ADD-7B65-099AEB9D100E}"/>
              </a:ext>
            </a:extLst>
          </p:cNvPr>
          <p:cNvGrpSpPr/>
          <p:nvPr/>
        </p:nvGrpSpPr>
        <p:grpSpPr>
          <a:xfrm>
            <a:off x="1831703" y="1426044"/>
            <a:ext cx="2326518" cy="1536807"/>
            <a:chOff x="1152" y="768"/>
            <a:chExt cx="1344" cy="751"/>
          </a:xfrm>
        </p:grpSpPr>
        <p:grpSp>
          <p:nvGrpSpPr>
            <p:cNvPr id="55" name="Group 18">
              <a:extLst>
                <a:ext uri="{FF2B5EF4-FFF2-40B4-BE49-F238E27FC236}">
                  <a16:creationId xmlns:a16="http://schemas.microsoft.com/office/drawing/2014/main" id="{05D3928A-1E18-3CE7-E136-F767051DC930}"/>
                </a:ext>
              </a:extLst>
            </p:cNvPr>
            <p:cNvGrpSpPr/>
            <p:nvPr/>
          </p:nvGrpSpPr>
          <p:grpSpPr>
            <a:xfrm>
              <a:off x="1152" y="856"/>
              <a:ext cx="1344" cy="663"/>
              <a:chOff x="1632" y="816"/>
              <a:chExt cx="1488" cy="720"/>
            </a:xfrm>
          </p:grpSpPr>
          <p:sp>
            <p:nvSpPr>
              <p:cNvPr id="59" name="AutoShape 19">
                <a:extLst>
                  <a:ext uri="{FF2B5EF4-FFF2-40B4-BE49-F238E27FC236}">
                    <a16:creationId xmlns:a16="http://schemas.microsoft.com/office/drawing/2014/main" id="{4A7D1D8C-B47A-23CE-6D9B-E847C2A71E37}"/>
                  </a:ext>
                </a:extLst>
              </p:cNvPr>
              <p:cNvSpPr/>
              <p:nvPr/>
            </p:nvSpPr>
            <p:spPr>
              <a:xfrm>
                <a:off x="1632" y="816"/>
                <a:ext cx="1488" cy="720"/>
              </a:xfrm>
              <a:prstGeom prst="bevel">
                <a:avLst>
                  <a:gd name="adj" fmla="val 12500"/>
                </a:avLst>
              </a:prstGeom>
              <a:solidFill>
                <a:srgbClr val="996633"/>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60" name="Rectangle 20">
                <a:extLst>
                  <a:ext uri="{FF2B5EF4-FFF2-40B4-BE49-F238E27FC236}">
                    <a16:creationId xmlns:a16="http://schemas.microsoft.com/office/drawing/2014/main" id="{B92D6309-B117-A4D6-3C6B-554E2E859468}"/>
                  </a:ext>
                </a:extLst>
              </p:cNvPr>
              <p:cNvSpPr/>
              <p:nvPr/>
            </p:nvSpPr>
            <p:spPr>
              <a:xfrm>
                <a:off x="1728" y="912"/>
                <a:ext cx="1296" cy="52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grpSp>
        <p:sp>
          <p:nvSpPr>
            <p:cNvPr id="56" name="Rectangle 21" descr="20%">
              <a:extLst>
                <a:ext uri="{FF2B5EF4-FFF2-40B4-BE49-F238E27FC236}">
                  <a16:creationId xmlns:a16="http://schemas.microsoft.com/office/drawing/2014/main" id="{04E265EC-4844-FD5F-997C-A4465862BDFE}"/>
                </a:ext>
              </a:extLst>
            </p:cNvPr>
            <p:cNvSpPr/>
            <p:nvPr/>
          </p:nvSpPr>
          <p:spPr>
            <a:xfrm>
              <a:off x="1239" y="945"/>
              <a:ext cx="563" cy="486"/>
            </a:xfrm>
            <a:prstGeom prst="rect">
              <a:avLst/>
            </a:prstGeom>
            <a:pattFill prst="pct20">
              <a:fgClr>
                <a:schemeClr val="tx1"/>
              </a:fgClr>
              <a:bgClr>
                <a:srgbClr val="FFFFFF"/>
              </a:bgClr>
            </a:pattFill>
            <a:ln w="9525" cap="flat" cmpd="sng">
              <a:solidFill>
                <a:schemeClr val="tx1"/>
              </a:solidFill>
              <a:prstDash val="solid"/>
              <a:miter/>
              <a:headEnd type="none" w="med" len="med"/>
              <a:tailEnd type="none" w="med" len="med"/>
            </a:ln>
          </p:spPr>
          <p:txBody>
            <a:bodyPr wrap="none" anchor="ctr" anchorCtr="0"/>
            <a:lstStyle/>
            <a:p>
              <a:endParaRPr lang="zh-CN" altLang="en-US" sz="2600" dirty="0">
                <a:latin typeface="Bookman Old Style" panose="02050604050505020204" pitchFamily="18" charset="0"/>
              </a:endParaRPr>
            </a:p>
          </p:txBody>
        </p:sp>
        <p:sp>
          <p:nvSpPr>
            <p:cNvPr id="57" name="Line 22">
              <a:extLst>
                <a:ext uri="{FF2B5EF4-FFF2-40B4-BE49-F238E27FC236}">
                  <a16:creationId xmlns:a16="http://schemas.microsoft.com/office/drawing/2014/main" id="{D92B4D1F-C15B-993A-4ED8-2204FB6FDF0F}"/>
                </a:ext>
              </a:extLst>
            </p:cNvPr>
            <p:cNvSpPr/>
            <p:nvPr/>
          </p:nvSpPr>
          <p:spPr>
            <a:xfrm>
              <a:off x="1802" y="768"/>
              <a:ext cx="0" cy="663"/>
            </a:xfrm>
            <a:prstGeom prst="line">
              <a:avLst/>
            </a:prstGeom>
            <a:ln w="57150" cap="flat" cmpd="sng">
              <a:solidFill>
                <a:srgbClr val="996633"/>
              </a:solidFill>
              <a:prstDash val="solid"/>
              <a:headEnd type="none" w="med" len="med"/>
              <a:tailEnd type="none" w="med" len="med"/>
            </a:ln>
          </p:spPr>
        </p:sp>
        <p:sp>
          <p:nvSpPr>
            <p:cNvPr id="58" name="Line 23">
              <a:extLst>
                <a:ext uri="{FF2B5EF4-FFF2-40B4-BE49-F238E27FC236}">
                  <a16:creationId xmlns:a16="http://schemas.microsoft.com/office/drawing/2014/main" id="{9BC50419-7CD5-763D-E1BB-4D6D3EF3DA70}"/>
                </a:ext>
              </a:extLst>
            </p:cNvPr>
            <p:cNvSpPr/>
            <p:nvPr/>
          </p:nvSpPr>
          <p:spPr>
            <a:xfrm>
              <a:off x="1716" y="768"/>
              <a:ext cx="173" cy="0"/>
            </a:xfrm>
            <a:prstGeom prst="line">
              <a:avLst/>
            </a:prstGeom>
            <a:ln w="57150" cap="flat" cmpd="sng">
              <a:solidFill>
                <a:srgbClr val="996633"/>
              </a:solidFill>
              <a:prstDash val="solid"/>
              <a:headEnd type="none" w="med" len="med"/>
              <a:tailEnd type="none" w="med" len="med"/>
            </a:ln>
          </p:spPr>
        </p:sp>
      </p:grpSp>
      <p:sp>
        <p:nvSpPr>
          <p:cNvPr id="61" name="文本框 60">
            <a:extLst>
              <a:ext uri="{FF2B5EF4-FFF2-40B4-BE49-F238E27FC236}">
                <a16:creationId xmlns:a16="http://schemas.microsoft.com/office/drawing/2014/main" id="{83138B1A-11CA-3E22-A572-958D016E1DEB}"/>
              </a:ext>
            </a:extLst>
          </p:cNvPr>
          <p:cNvSpPr txBox="1"/>
          <p:nvPr/>
        </p:nvSpPr>
        <p:spPr>
          <a:xfrm>
            <a:off x="1840593" y="1279357"/>
            <a:ext cx="324562" cy="492443"/>
          </a:xfrm>
          <a:prstGeom prst="rect">
            <a:avLst/>
          </a:prstGeom>
          <a:noFill/>
        </p:spPr>
        <p:txBody>
          <a:bodyPr wrap="square" rtlCol="0">
            <a:spAutoFit/>
          </a:bodyPr>
          <a:lstStyle/>
          <a:p>
            <a:r>
              <a:rPr lang="en-US" altLang="zh-CN" sz="2600"/>
              <a:t> </a:t>
            </a:r>
          </a:p>
        </p:txBody>
      </p:sp>
      <p:sp>
        <p:nvSpPr>
          <p:cNvPr id="62" name="文本框 61">
            <a:extLst>
              <a:ext uri="{FF2B5EF4-FFF2-40B4-BE49-F238E27FC236}">
                <a16:creationId xmlns:a16="http://schemas.microsoft.com/office/drawing/2014/main" id="{E13A5983-7449-7EEB-249A-86AD006A965D}"/>
              </a:ext>
            </a:extLst>
          </p:cNvPr>
          <p:cNvSpPr txBox="1"/>
          <p:nvPr/>
        </p:nvSpPr>
        <p:spPr>
          <a:xfrm>
            <a:off x="1621307" y="3212233"/>
            <a:ext cx="8365820" cy="553998"/>
          </a:xfrm>
          <a:prstGeom prst="rect">
            <a:avLst/>
          </a:prstGeom>
          <a:noFill/>
        </p:spPr>
        <p:txBody>
          <a:bodyPr wrap="square">
            <a:spAutoFit/>
          </a:bodyPr>
          <a:lstStyle/>
          <a:p>
            <a:r>
              <a:rPr lang="zh-CN" altLang="en-US" sz="3000" dirty="0">
                <a:solidFill>
                  <a:srgbClr val="FF0000"/>
                </a:solidFill>
                <a:latin typeface="Times New Roman" panose="02020603050405020304" pitchFamily="18" charset="0"/>
              </a:rPr>
              <a:t>气体向真空绝热膨胀的过程中无序性增大</a:t>
            </a:r>
            <a:endParaRPr lang="zh-CN" altLang="en-US" sz="3000" i="0" dirty="0">
              <a:solidFill>
                <a:srgbClr val="FF0000"/>
              </a:solidFill>
              <a:effectLst/>
              <a:latin typeface="Helvetica Neue"/>
            </a:endParaRPr>
          </a:p>
        </p:txBody>
      </p:sp>
      <p:sp>
        <p:nvSpPr>
          <p:cNvPr id="64" name="文本框 63">
            <a:extLst>
              <a:ext uri="{FF2B5EF4-FFF2-40B4-BE49-F238E27FC236}">
                <a16:creationId xmlns:a16="http://schemas.microsoft.com/office/drawing/2014/main" id="{784AA4CC-38B0-CF91-94AE-EE05FA6DC797}"/>
              </a:ext>
            </a:extLst>
          </p:cNvPr>
          <p:cNvSpPr txBox="1"/>
          <p:nvPr/>
        </p:nvSpPr>
        <p:spPr>
          <a:xfrm>
            <a:off x="3152134" y="6108748"/>
            <a:ext cx="8359981" cy="553998"/>
          </a:xfrm>
          <a:prstGeom prst="rect">
            <a:avLst/>
          </a:prstGeom>
          <a:noFill/>
        </p:spPr>
        <p:txBody>
          <a:bodyPr wrap="none" rtlCol="0">
            <a:spAutoFit/>
          </a:bodyPr>
          <a:lstStyle/>
          <a:p>
            <a:r>
              <a:rPr lang="zh-CN" altLang="en-US" sz="3000" dirty="0">
                <a:solidFill>
                  <a:srgbClr val="FF0000"/>
                </a:solidFill>
              </a:rPr>
              <a:t>功变热： 大量分子的有序运动向无序运动的转化</a:t>
            </a:r>
          </a:p>
        </p:txBody>
      </p:sp>
      <p:grpSp>
        <p:nvGrpSpPr>
          <p:cNvPr id="65" name="Group 42">
            <a:extLst>
              <a:ext uri="{FF2B5EF4-FFF2-40B4-BE49-F238E27FC236}">
                <a16:creationId xmlns:a16="http://schemas.microsoft.com/office/drawing/2014/main" id="{5016D903-798B-91EC-7B9A-60A2989362BC}"/>
              </a:ext>
            </a:extLst>
          </p:cNvPr>
          <p:cNvGrpSpPr>
            <a:grpSpLocks/>
          </p:cNvGrpSpPr>
          <p:nvPr/>
        </p:nvGrpSpPr>
        <p:grpSpPr bwMode="auto">
          <a:xfrm>
            <a:off x="1098022" y="4430597"/>
            <a:ext cx="2965450" cy="1435100"/>
            <a:chOff x="336" y="2496"/>
            <a:chExt cx="1868" cy="904"/>
          </a:xfrm>
        </p:grpSpPr>
        <p:grpSp>
          <p:nvGrpSpPr>
            <p:cNvPr id="66" name="Group 43">
              <a:extLst>
                <a:ext uri="{FF2B5EF4-FFF2-40B4-BE49-F238E27FC236}">
                  <a16:creationId xmlns:a16="http://schemas.microsoft.com/office/drawing/2014/main" id="{F47146F6-E1F8-3BA9-C06C-FD5D3AC0D47B}"/>
                </a:ext>
              </a:extLst>
            </p:cNvPr>
            <p:cNvGrpSpPr>
              <a:grpSpLocks/>
            </p:cNvGrpSpPr>
            <p:nvPr/>
          </p:nvGrpSpPr>
          <p:grpSpPr bwMode="auto">
            <a:xfrm>
              <a:off x="336" y="2496"/>
              <a:ext cx="1868" cy="904"/>
              <a:chOff x="532" y="2260"/>
              <a:chExt cx="1868" cy="904"/>
            </a:xfrm>
          </p:grpSpPr>
          <p:sp>
            <p:nvSpPr>
              <p:cNvPr id="69" name="Rectangle 44" descr="浅色横线">
                <a:extLst>
                  <a:ext uri="{FF2B5EF4-FFF2-40B4-BE49-F238E27FC236}">
                    <a16:creationId xmlns:a16="http://schemas.microsoft.com/office/drawing/2014/main" id="{3299A3CF-C878-A326-6252-AD9904DBBA39}"/>
                  </a:ext>
                </a:extLst>
              </p:cNvPr>
              <p:cNvSpPr>
                <a:spLocks noChangeArrowheads="1"/>
              </p:cNvSpPr>
              <p:nvPr/>
            </p:nvSpPr>
            <p:spPr bwMode="auto">
              <a:xfrm>
                <a:off x="1444" y="2356"/>
                <a:ext cx="280" cy="712"/>
              </a:xfrm>
              <a:prstGeom prst="rect">
                <a:avLst/>
              </a:prstGeom>
              <a:pattFill prst="ltHorz">
                <a:fgClr>
                  <a:schemeClr val="tx2"/>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0" name="Rectangle 45" descr="深色横线">
                <a:extLst>
                  <a:ext uri="{FF2B5EF4-FFF2-40B4-BE49-F238E27FC236}">
                    <a16:creationId xmlns:a16="http://schemas.microsoft.com/office/drawing/2014/main" id="{FA4EBA34-BF32-A354-2F1B-48710E51960F}"/>
                  </a:ext>
                </a:extLst>
              </p:cNvPr>
              <p:cNvSpPr>
                <a:spLocks noChangeArrowheads="1"/>
              </p:cNvSpPr>
              <p:nvPr/>
            </p:nvSpPr>
            <p:spPr bwMode="auto">
              <a:xfrm>
                <a:off x="1732" y="2644"/>
                <a:ext cx="664" cy="136"/>
              </a:xfrm>
              <a:prstGeom prst="rect">
                <a:avLst/>
              </a:prstGeom>
              <a:pattFill prst="dkHorz">
                <a:fgClr>
                  <a:schemeClr val="tx2"/>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1" name="Rectangle 46">
                <a:extLst>
                  <a:ext uri="{FF2B5EF4-FFF2-40B4-BE49-F238E27FC236}">
                    <a16:creationId xmlns:a16="http://schemas.microsoft.com/office/drawing/2014/main" id="{F9F320D2-E5D6-5540-BB16-833135A36006}"/>
                  </a:ext>
                </a:extLst>
              </p:cNvPr>
              <p:cNvSpPr>
                <a:spLocks noChangeArrowheads="1"/>
              </p:cNvSpPr>
              <p:nvPr/>
            </p:nvSpPr>
            <p:spPr bwMode="auto">
              <a:xfrm>
                <a:off x="628" y="2356"/>
                <a:ext cx="808" cy="712"/>
              </a:xfrm>
              <a:prstGeom prst="rect">
                <a:avLst/>
              </a:prstGeom>
              <a:gradFill rotWithShape="0">
                <a:gsLst>
                  <a:gs pos="0">
                    <a:schemeClr val="tx1"/>
                  </a:gs>
                  <a:gs pos="100000">
                    <a:schemeClr val="tx1">
                      <a:gamma/>
                      <a:shade val="69804"/>
                      <a:invGamma/>
                    </a:schemeClr>
                  </a:gs>
                </a:gsLst>
                <a:lin ang="0" scaled="1"/>
              </a:gradFill>
              <a:ln w="12700">
                <a:solidFill>
                  <a:schemeClr val="tx1"/>
                </a:solidFill>
                <a:miter lim="800000"/>
                <a:headEnd/>
                <a:tailEnd/>
              </a:ln>
              <a:effectLst/>
            </p:spPr>
            <p:txBody>
              <a:bodyPr wrap="none" anchor="ctr"/>
              <a:lstStyle/>
              <a:p>
                <a:pPr>
                  <a:defRPr/>
                </a:pPr>
                <a:endParaRPr lang="zh-CN" altLang="en-US"/>
              </a:p>
            </p:txBody>
          </p:sp>
          <p:sp>
            <p:nvSpPr>
              <p:cNvPr id="72" name="Rectangle 47" descr="宽下对角线">
                <a:extLst>
                  <a:ext uri="{FF2B5EF4-FFF2-40B4-BE49-F238E27FC236}">
                    <a16:creationId xmlns:a16="http://schemas.microsoft.com/office/drawing/2014/main" id="{577529C1-000F-32A1-8124-9FC52991B9FE}"/>
                  </a:ext>
                </a:extLst>
              </p:cNvPr>
              <p:cNvSpPr>
                <a:spLocks noChangeArrowheads="1"/>
              </p:cNvSpPr>
              <p:nvPr/>
            </p:nvSpPr>
            <p:spPr bwMode="auto">
              <a:xfrm>
                <a:off x="532" y="2356"/>
                <a:ext cx="88" cy="712"/>
              </a:xfrm>
              <a:prstGeom prst="rect">
                <a:avLst/>
              </a:prstGeom>
              <a:pattFill prst="wdDnDiag">
                <a:fgClr>
                  <a:schemeClr val="tx1"/>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3" name="Rectangle 48" descr="宽下对角线">
                <a:extLst>
                  <a:ext uri="{FF2B5EF4-FFF2-40B4-BE49-F238E27FC236}">
                    <a16:creationId xmlns:a16="http://schemas.microsoft.com/office/drawing/2014/main" id="{AD7E82E4-8F9F-36BA-A693-D6D62A02BF7F}"/>
                  </a:ext>
                </a:extLst>
              </p:cNvPr>
              <p:cNvSpPr>
                <a:spLocks noChangeArrowheads="1"/>
              </p:cNvSpPr>
              <p:nvPr/>
            </p:nvSpPr>
            <p:spPr bwMode="auto">
              <a:xfrm>
                <a:off x="532" y="2260"/>
                <a:ext cx="1864" cy="88"/>
              </a:xfrm>
              <a:prstGeom prst="rect">
                <a:avLst/>
              </a:prstGeom>
              <a:pattFill prst="wdDnDiag">
                <a:fgClr>
                  <a:schemeClr val="tx1"/>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4" name="Rectangle 49" descr="宽下对角线">
                <a:extLst>
                  <a:ext uri="{FF2B5EF4-FFF2-40B4-BE49-F238E27FC236}">
                    <a16:creationId xmlns:a16="http://schemas.microsoft.com/office/drawing/2014/main" id="{E8F3F8FA-98B6-7808-F5F1-B914F4ECC6C1}"/>
                  </a:ext>
                </a:extLst>
              </p:cNvPr>
              <p:cNvSpPr>
                <a:spLocks noChangeArrowheads="1"/>
              </p:cNvSpPr>
              <p:nvPr/>
            </p:nvSpPr>
            <p:spPr bwMode="auto">
              <a:xfrm>
                <a:off x="532" y="3076"/>
                <a:ext cx="1864" cy="88"/>
              </a:xfrm>
              <a:prstGeom prst="rect">
                <a:avLst/>
              </a:prstGeom>
              <a:pattFill prst="wdDnDiag">
                <a:fgClr>
                  <a:schemeClr val="tx1"/>
                </a:fgClr>
                <a:bgClr>
                  <a:schemeClr val="bg1"/>
                </a:bgClr>
              </a:pattFill>
              <a:ln w="12700">
                <a:solidFill>
                  <a:schemeClr val="tx1"/>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5" name="Rectangle 50">
                <a:extLst>
                  <a:ext uri="{FF2B5EF4-FFF2-40B4-BE49-F238E27FC236}">
                    <a16:creationId xmlns:a16="http://schemas.microsoft.com/office/drawing/2014/main" id="{93839ADE-182C-1AD6-655D-9CE6A138625C}"/>
                  </a:ext>
                </a:extLst>
              </p:cNvPr>
              <p:cNvSpPr>
                <a:spLocks noChangeArrowheads="1"/>
              </p:cNvSpPr>
              <p:nvPr/>
            </p:nvSpPr>
            <p:spPr bwMode="auto">
              <a:xfrm>
                <a:off x="1814" y="2342"/>
                <a:ext cx="22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r>
                  <a:rPr lang="en-US" altLang="zh-CN" sz="2400" i="1"/>
                  <a:t>u</a:t>
                </a:r>
                <a:endParaRPr lang="en-US" altLang="zh-CN" sz="2400"/>
              </a:p>
            </p:txBody>
          </p:sp>
          <p:sp>
            <p:nvSpPr>
              <p:cNvPr id="76" name="Line 51">
                <a:extLst>
                  <a:ext uri="{FF2B5EF4-FFF2-40B4-BE49-F238E27FC236}">
                    <a16:creationId xmlns:a16="http://schemas.microsoft.com/office/drawing/2014/main" id="{CDE5F5C3-E18E-2D2F-AC17-5107795EC7B7}"/>
                  </a:ext>
                </a:extLst>
              </p:cNvPr>
              <p:cNvSpPr>
                <a:spLocks noChangeShapeType="1"/>
              </p:cNvSpPr>
              <p:nvPr/>
            </p:nvSpPr>
            <p:spPr bwMode="auto">
              <a:xfrm>
                <a:off x="2064" y="2496"/>
                <a:ext cx="336" cy="0"/>
              </a:xfrm>
              <a:prstGeom prst="line">
                <a:avLst/>
              </a:prstGeom>
              <a:noFill/>
              <a:ln w="12700">
                <a:solidFill>
                  <a:schemeClr val="tx1"/>
                </a:solidFill>
                <a:round/>
                <a:headEnd type="stealth" w="med" len="med"/>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7" name="Text Box 52">
              <a:extLst>
                <a:ext uri="{FF2B5EF4-FFF2-40B4-BE49-F238E27FC236}">
                  <a16:creationId xmlns:a16="http://schemas.microsoft.com/office/drawing/2014/main" id="{17C341D1-8666-1649-4137-8ED5C86A8976}"/>
                </a:ext>
              </a:extLst>
            </p:cNvPr>
            <p:cNvSpPr txBox="1">
              <a:spLocks noChangeArrowheads="1"/>
            </p:cNvSpPr>
            <p:nvPr/>
          </p:nvSpPr>
          <p:spPr bwMode="auto">
            <a:xfrm>
              <a:off x="1526" y="2976"/>
              <a:ext cx="29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t>S</a:t>
              </a:r>
              <a:endParaRPr lang="en-US" altLang="zh-CN"/>
            </a:p>
          </p:txBody>
        </p:sp>
        <p:sp>
          <p:nvSpPr>
            <p:cNvPr id="68" name="Text Box 53">
              <a:extLst>
                <a:ext uri="{FF2B5EF4-FFF2-40B4-BE49-F238E27FC236}">
                  <a16:creationId xmlns:a16="http://schemas.microsoft.com/office/drawing/2014/main" id="{96FC6593-D293-B70B-FC30-82784DE5B887}"/>
                </a:ext>
              </a:extLst>
            </p:cNvPr>
            <p:cNvSpPr txBox="1">
              <a:spLocks noChangeArrowheads="1"/>
            </p:cNvSpPr>
            <p:nvPr/>
          </p:nvSpPr>
          <p:spPr bwMode="auto">
            <a:xfrm>
              <a:off x="528" y="2832"/>
              <a:ext cx="25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a:solidFill>
                    <a:srgbClr val="FF0000"/>
                  </a:solidFill>
                </a:rPr>
                <a:t>P</a:t>
              </a:r>
              <a:endParaRPr lang="en-US" altLang="zh-CN" i="1"/>
            </a:p>
          </p:txBody>
        </p:sp>
      </p:grpSp>
      <p:grpSp>
        <p:nvGrpSpPr>
          <p:cNvPr id="77" name="Group 54">
            <a:extLst>
              <a:ext uri="{FF2B5EF4-FFF2-40B4-BE49-F238E27FC236}">
                <a16:creationId xmlns:a16="http://schemas.microsoft.com/office/drawing/2014/main" id="{EEBEC475-E8F8-940D-2D65-A6F96D610F05}"/>
              </a:ext>
            </a:extLst>
          </p:cNvPr>
          <p:cNvGrpSpPr>
            <a:grpSpLocks/>
          </p:cNvGrpSpPr>
          <p:nvPr/>
        </p:nvGrpSpPr>
        <p:grpSpPr bwMode="auto">
          <a:xfrm>
            <a:off x="2061787" y="4582997"/>
            <a:ext cx="1511300" cy="1130300"/>
            <a:chOff x="2544" y="672"/>
            <a:chExt cx="952" cy="712"/>
          </a:xfrm>
        </p:grpSpPr>
        <p:sp>
          <p:nvSpPr>
            <p:cNvPr id="78" name="Rectangle 55" descr="浅色横线">
              <a:extLst>
                <a:ext uri="{FF2B5EF4-FFF2-40B4-BE49-F238E27FC236}">
                  <a16:creationId xmlns:a16="http://schemas.microsoft.com/office/drawing/2014/main" id="{38262E1B-B88D-115C-51CC-1865F29E8861}"/>
                </a:ext>
              </a:extLst>
            </p:cNvPr>
            <p:cNvSpPr>
              <a:spLocks noChangeArrowheads="1"/>
            </p:cNvSpPr>
            <p:nvPr/>
          </p:nvSpPr>
          <p:spPr bwMode="auto">
            <a:xfrm>
              <a:off x="2544" y="672"/>
              <a:ext cx="280" cy="712"/>
            </a:xfrm>
            <a:prstGeom prst="rect">
              <a:avLst/>
            </a:prstGeom>
            <a:pattFill prst="ltHorz">
              <a:fgClr>
                <a:schemeClr val="tx2"/>
              </a:fgClr>
              <a:bgClr>
                <a:schemeClr val="bg1"/>
              </a:bgClr>
            </a:pattFill>
            <a:ln w="12700">
              <a:solidFill>
                <a:srgbClr val="FF0000"/>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79" name="Rectangle 56" descr="深色横线">
              <a:extLst>
                <a:ext uri="{FF2B5EF4-FFF2-40B4-BE49-F238E27FC236}">
                  <a16:creationId xmlns:a16="http://schemas.microsoft.com/office/drawing/2014/main" id="{683C725F-0895-2407-BD4D-06D3E9810501}"/>
                </a:ext>
              </a:extLst>
            </p:cNvPr>
            <p:cNvSpPr>
              <a:spLocks noChangeArrowheads="1"/>
            </p:cNvSpPr>
            <p:nvPr/>
          </p:nvSpPr>
          <p:spPr bwMode="auto">
            <a:xfrm>
              <a:off x="2832" y="960"/>
              <a:ext cx="664" cy="136"/>
            </a:xfrm>
            <a:prstGeom prst="rect">
              <a:avLst/>
            </a:prstGeom>
            <a:pattFill prst="dkHorz">
              <a:fgClr>
                <a:schemeClr val="tx2"/>
              </a:fgClr>
              <a:bgClr>
                <a:schemeClr val="bg1"/>
              </a:bgClr>
            </a:pattFill>
            <a:ln w="12700">
              <a:solidFill>
                <a:srgbClr val="FF0000"/>
              </a:solidFill>
              <a:miter lim="800000"/>
              <a:headEnd/>
              <a:tailEnd/>
            </a:ln>
          </p:spPr>
          <p:txBody>
            <a:bodyPr wrap="none" anchor="ct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81" name="文本框 80">
            <a:extLst>
              <a:ext uri="{FF2B5EF4-FFF2-40B4-BE49-F238E27FC236}">
                <a16:creationId xmlns:a16="http://schemas.microsoft.com/office/drawing/2014/main" id="{1D45B986-CA96-F299-BCDB-6DCD796015B0}"/>
              </a:ext>
            </a:extLst>
          </p:cNvPr>
          <p:cNvSpPr txBox="1"/>
          <p:nvPr/>
        </p:nvSpPr>
        <p:spPr>
          <a:xfrm>
            <a:off x="4562082" y="4606982"/>
            <a:ext cx="6096000" cy="1015663"/>
          </a:xfrm>
          <a:prstGeom prst="rect">
            <a:avLst/>
          </a:prstGeom>
          <a:noFill/>
        </p:spPr>
        <p:txBody>
          <a:bodyPr wrap="square">
            <a:spAutoFit/>
          </a:bodyPr>
          <a:lstStyle/>
          <a:p>
            <a:r>
              <a:rPr lang="zh-CN" altLang="en-US" sz="3000" b="0" i="0" dirty="0">
                <a:solidFill>
                  <a:srgbClr val="333333"/>
                </a:solidFill>
                <a:effectLst/>
                <a:latin typeface="Helvetica Neue"/>
              </a:rPr>
              <a:t>作功是大量分子的有规则运动，而热运动则是大量分子的无规则运动</a:t>
            </a:r>
            <a:endParaRPr lang="zh-CN" altLang="en-US" sz="3000" dirty="0"/>
          </a:p>
        </p:txBody>
      </p:sp>
    </p:spTree>
    <p:extLst>
      <p:ext uri="{BB962C8B-B14F-4D97-AF65-F5344CB8AC3E}">
        <p14:creationId xmlns:p14="http://schemas.microsoft.com/office/powerpoint/2010/main" val="2954705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2">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64" grpId="0"/>
      <p:bldP spid="8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EC45649-16E5-FBA3-526F-7646C4350CF4}"/>
              </a:ext>
            </a:extLst>
          </p:cNvPr>
          <p:cNvSpPr txBox="1"/>
          <p:nvPr/>
        </p:nvSpPr>
        <p:spPr>
          <a:xfrm>
            <a:off x="1723571" y="1565217"/>
            <a:ext cx="8744857" cy="1477328"/>
          </a:xfrm>
          <a:prstGeom prst="rect">
            <a:avLst/>
          </a:prstGeom>
          <a:noFill/>
        </p:spPr>
        <p:txBody>
          <a:bodyPr wrap="square">
            <a:spAutoFit/>
          </a:bodyPr>
          <a:lstStyle/>
          <a:p>
            <a:r>
              <a:rPr lang="zh-CN" altLang="en-US" sz="3000" b="0" i="0" dirty="0">
                <a:solidFill>
                  <a:srgbClr val="333333"/>
                </a:solidFill>
                <a:effectLst/>
                <a:latin typeface="Helvetica Neue"/>
              </a:rPr>
              <a:t>热力学第二定律只能适用于由很大数目分子所构成的系统及有限范围内的宏观过程，而不适用于少量的微观体系。</a:t>
            </a:r>
            <a:endParaRPr lang="zh-CN" altLang="en-US" sz="3000" dirty="0"/>
          </a:p>
        </p:txBody>
      </p:sp>
      <p:sp>
        <p:nvSpPr>
          <p:cNvPr id="4" name="Text Box 13">
            <a:hlinkClick r:id="" action="ppaction://noaction"/>
            <a:extLst>
              <a:ext uri="{FF2B5EF4-FFF2-40B4-BE49-F238E27FC236}">
                <a16:creationId xmlns:a16="http://schemas.microsoft.com/office/drawing/2014/main" id="{F550CD1C-0E63-DA5C-8E9E-C7713DD0410F}"/>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热力学第二定律 </a:t>
            </a:r>
            <a:r>
              <a:rPr kumimoji="1" lang="en-US" altLang="zh-CN" sz="3200" dirty="0">
                <a:solidFill>
                  <a:srgbClr val="0066FF"/>
                </a:solidFill>
                <a:latin typeface="+mn-lt"/>
                <a:ea typeface="+mn-ea"/>
                <a:cs typeface="Times New Roman" panose="02020603050405020304" pitchFamily="18" charset="0"/>
              </a:rPr>
              <a:t>- </a:t>
            </a:r>
            <a:r>
              <a:rPr kumimoji="1" lang="zh-CN" altLang="en-US" sz="3200" dirty="0">
                <a:solidFill>
                  <a:srgbClr val="0066FF"/>
                </a:solidFill>
                <a:latin typeface="+mn-lt"/>
                <a:ea typeface="+mn-ea"/>
                <a:cs typeface="Times New Roman" panose="02020603050405020304" pitchFamily="18" charset="0"/>
              </a:rPr>
              <a:t>微观解释</a:t>
            </a:r>
          </a:p>
        </p:txBody>
      </p:sp>
      <p:sp>
        <p:nvSpPr>
          <p:cNvPr id="5" name="文本框 4">
            <a:extLst>
              <a:ext uri="{FF2B5EF4-FFF2-40B4-BE49-F238E27FC236}">
                <a16:creationId xmlns:a16="http://schemas.microsoft.com/office/drawing/2014/main" id="{013C6624-39AE-BDDF-1325-9D301285966A}"/>
              </a:ext>
            </a:extLst>
          </p:cNvPr>
          <p:cNvSpPr txBox="1"/>
          <p:nvPr/>
        </p:nvSpPr>
        <p:spPr>
          <a:xfrm>
            <a:off x="1621973" y="3815455"/>
            <a:ext cx="9107714" cy="1077218"/>
          </a:xfrm>
          <a:prstGeom prst="rect">
            <a:avLst/>
          </a:prstGeom>
          <a:noFill/>
        </p:spPr>
        <p:txBody>
          <a:bodyPr wrap="square" rtlCol="0">
            <a:spAutoFit/>
          </a:bodyPr>
          <a:lstStyle/>
          <a:p>
            <a:r>
              <a:rPr lang="zh-CN" altLang="en-US" sz="3200" dirty="0">
                <a:solidFill>
                  <a:srgbClr val="FF0000"/>
                </a:solidFill>
              </a:rPr>
              <a:t>为什么自然过程总是沿着分子热运动的无序性增大的方向进行？</a:t>
            </a:r>
          </a:p>
        </p:txBody>
      </p:sp>
    </p:spTree>
    <p:extLst>
      <p:ext uri="{BB962C8B-B14F-4D97-AF65-F5344CB8AC3E}">
        <p14:creationId xmlns:p14="http://schemas.microsoft.com/office/powerpoint/2010/main" val="198773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5">
            <a:extLst>
              <a:ext uri="{FF2B5EF4-FFF2-40B4-BE49-F238E27FC236}">
                <a16:creationId xmlns:a16="http://schemas.microsoft.com/office/drawing/2014/main" id="{E37C9420-4D8C-26D7-B1D6-C6117EBF9130}"/>
              </a:ext>
            </a:extLst>
          </p:cNvPr>
          <p:cNvSpPr txBox="1">
            <a:spLocks noChangeArrowheads="1"/>
          </p:cNvSpPr>
          <p:nvPr/>
        </p:nvSpPr>
        <p:spPr bwMode="auto">
          <a:xfrm>
            <a:off x="1742219" y="1213790"/>
            <a:ext cx="32210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dirty="0">
                <a:latin typeface="+mn-lt"/>
                <a:ea typeface="+mn-ea"/>
              </a:rPr>
              <a:t>N</a:t>
            </a:r>
            <a:r>
              <a:rPr lang="zh-CN" altLang="en-US" dirty="0">
                <a:latin typeface="+mn-lt"/>
                <a:ea typeface="+mn-ea"/>
              </a:rPr>
              <a:t>粒子系统</a:t>
            </a:r>
          </a:p>
        </p:txBody>
      </p:sp>
      <p:grpSp>
        <p:nvGrpSpPr>
          <p:cNvPr id="3" name="Group 387">
            <a:extLst>
              <a:ext uri="{FF2B5EF4-FFF2-40B4-BE49-F238E27FC236}">
                <a16:creationId xmlns:a16="http://schemas.microsoft.com/office/drawing/2014/main" id="{DC9EE2C5-DA1F-732C-7B7A-AB08F05FFAE8}"/>
              </a:ext>
            </a:extLst>
          </p:cNvPr>
          <p:cNvGrpSpPr>
            <a:grpSpLocks/>
          </p:cNvGrpSpPr>
          <p:nvPr/>
        </p:nvGrpSpPr>
        <p:grpSpPr bwMode="auto">
          <a:xfrm>
            <a:off x="4853761" y="1609725"/>
            <a:ext cx="6202591" cy="714375"/>
            <a:chOff x="672" y="1083"/>
            <a:chExt cx="3415" cy="450"/>
          </a:xfrm>
        </p:grpSpPr>
        <p:sp>
          <p:nvSpPr>
            <p:cNvPr id="33127" name="Text Box 7">
              <a:extLst>
                <a:ext uri="{FF2B5EF4-FFF2-40B4-BE49-F238E27FC236}">
                  <a16:creationId xmlns:a16="http://schemas.microsoft.com/office/drawing/2014/main" id="{07F96C81-85DF-6CC2-827A-90BBE44BD9C0}"/>
                </a:ext>
              </a:extLst>
            </p:cNvPr>
            <p:cNvSpPr txBox="1">
              <a:spLocks noChangeArrowheads="1"/>
            </p:cNvSpPr>
            <p:nvPr/>
          </p:nvSpPr>
          <p:spPr bwMode="auto">
            <a:xfrm>
              <a:off x="672" y="1152"/>
              <a:ext cx="789"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000" b="0" dirty="0">
                  <a:latin typeface="华文楷体" panose="02010600040101010101" pitchFamily="2" charset="-122"/>
                  <a:ea typeface="华文楷体" panose="02010600040101010101" pitchFamily="2" charset="-122"/>
                </a:rPr>
                <a:t>微观态</a:t>
              </a:r>
            </a:p>
          </p:txBody>
        </p:sp>
        <p:sp>
          <p:nvSpPr>
            <p:cNvPr id="33128" name="Rectangle 361">
              <a:extLst>
                <a:ext uri="{FF2B5EF4-FFF2-40B4-BE49-F238E27FC236}">
                  <a16:creationId xmlns:a16="http://schemas.microsoft.com/office/drawing/2014/main" id="{F791AE92-FD1D-BE5A-7750-9A75F843C464}"/>
                </a:ext>
              </a:extLst>
            </p:cNvPr>
            <p:cNvSpPr>
              <a:spLocks noChangeArrowheads="1"/>
            </p:cNvSpPr>
            <p:nvPr/>
          </p:nvSpPr>
          <p:spPr bwMode="auto">
            <a:xfrm>
              <a:off x="4019" y="1211"/>
              <a:ext cx="68"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a:t>
              </a:r>
              <a:endParaRPr lang="en-US" altLang="zh-CN"/>
            </a:p>
          </p:txBody>
        </p:sp>
        <p:sp>
          <p:nvSpPr>
            <p:cNvPr id="33129" name="Rectangle 362">
              <a:extLst>
                <a:ext uri="{FF2B5EF4-FFF2-40B4-BE49-F238E27FC236}">
                  <a16:creationId xmlns:a16="http://schemas.microsoft.com/office/drawing/2014/main" id="{C29D71C9-9F7A-E8CC-9084-5E51904F516A}"/>
                </a:ext>
              </a:extLst>
            </p:cNvPr>
            <p:cNvSpPr>
              <a:spLocks noChangeArrowheads="1"/>
            </p:cNvSpPr>
            <p:nvPr/>
          </p:nvSpPr>
          <p:spPr bwMode="auto">
            <a:xfrm>
              <a:off x="3582" y="1211"/>
              <a:ext cx="5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 </a:t>
              </a:r>
              <a:endParaRPr lang="en-US" altLang="zh-CN"/>
            </a:p>
          </p:txBody>
        </p:sp>
        <p:sp>
          <p:nvSpPr>
            <p:cNvPr id="33130" name="Rectangle 363">
              <a:extLst>
                <a:ext uri="{FF2B5EF4-FFF2-40B4-BE49-F238E27FC236}">
                  <a16:creationId xmlns:a16="http://schemas.microsoft.com/office/drawing/2014/main" id="{79D6EE98-21DB-1E83-7C3C-7E77296A618E}"/>
                </a:ext>
              </a:extLst>
            </p:cNvPr>
            <p:cNvSpPr>
              <a:spLocks noChangeArrowheads="1"/>
            </p:cNvSpPr>
            <p:nvPr/>
          </p:nvSpPr>
          <p:spPr bwMode="auto">
            <a:xfrm>
              <a:off x="2835" y="1211"/>
              <a:ext cx="5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a:t>
              </a:r>
              <a:endParaRPr lang="en-US" altLang="zh-CN"/>
            </a:p>
          </p:txBody>
        </p:sp>
        <p:sp>
          <p:nvSpPr>
            <p:cNvPr id="33131" name="Rectangle 364">
              <a:extLst>
                <a:ext uri="{FF2B5EF4-FFF2-40B4-BE49-F238E27FC236}">
                  <a16:creationId xmlns:a16="http://schemas.microsoft.com/office/drawing/2014/main" id="{51C621E6-FAD6-EC4A-F968-EB432B9C8A00}"/>
                </a:ext>
              </a:extLst>
            </p:cNvPr>
            <p:cNvSpPr>
              <a:spLocks noChangeArrowheads="1"/>
            </p:cNvSpPr>
            <p:nvPr/>
          </p:nvSpPr>
          <p:spPr bwMode="auto">
            <a:xfrm>
              <a:off x="2475" y="1211"/>
              <a:ext cx="5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 </a:t>
              </a:r>
              <a:endParaRPr lang="en-US" altLang="zh-CN"/>
            </a:p>
          </p:txBody>
        </p:sp>
        <p:sp>
          <p:nvSpPr>
            <p:cNvPr id="33132" name="Rectangle 365">
              <a:extLst>
                <a:ext uri="{FF2B5EF4-FFF2-40B4-BE49-F238E27FC236}">
                  <a16:creationId xmlns:a16="http://schemas.microsoft.com/office/drawing/2014/main" id="{E00B6EC7-A051-E05A-5AF1-55B0A55E00B0}"/>
                </a:ext>
              </a:extLst>
            </p:cNvPr>
            <p:cNvSpPr>
              <a:spLocks noChangeArrowheads="1"/>
            </p:cNvSpPr>
            <p:nvPr/>
          </p:nvSpPr>
          <p:spPr bwMode="auto">
            <a:xfrm>
              <a:off x="2161" y="1211"/>
              <a:ext cx="5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a:t>
              </a:r>
              <a:endParaRPr lang="en-US" altLang="zh-CN"/>
            </a:p>
          </p:txBody>
        </p:sp>
        <p:sp>
          <p:nvSpPr>
            <p:cNvPr id="33133" name="Rectangle 366">
              <a:extLst>
                <a:ext uri="{FF2B5EF4-FFF2-40B4-BE49-F238E27FC236}">
                  <a16:creationId xmlns:a16="http://schemas.microsoft.com/office/drawing/2014/main" id="{124B905C-49D4-5F3A-EE11-348FC8763613}"/>
                </a:ext>
              </a:extLst>
            </p:cNvPr>
            <p:cNvSpPr>
              <a:spLocks noChangeArrowheads="1"/>
            </p:cNvSpPr>
            <p:nvPr/>
          </p:nvSpPr>
          <p:spPr bwMode="auto">
            <a:xfrm>
              <a:off x="1842" y="1211"/>
              <a:ext cx="5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 </a:t>
              </a:r>
              <a:endParaRPr lang="en-US" altLang="zh-CN"/>
            </a:p>
          </p:txBody>
        </p:sp>
        <p:sp>
          <p:nvSpPr>
            <p:cNvPr id="33134" name="Rectangle 367">
              <a:extLst>
                <a:ext uri="{FF2B5EF4-FFF2-40B4-BE49-F238E27FC236}">
                  <a16:creationId xmlns:a16="http://schemas.microsoft.com/office/drawing/2014/main" id="{372C08E0-D166-E96B-2742-69585FD894ED}"/>
                </a:ext>
              </a:extLst>
            </p:cNvPr>
            <p:cNvSpPr>
              <a:spLocks noChangeArrowheads="1"/>
            </p:cNvSpPr>
            <p:nvPr/>
          </p:nvSpPr>
          <p:spPr bwMode="auto">
            <a:xfrm>
              <a:off x="1533" y="1211"/>
              <a:ext cx="68"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dirty="0">
                  <a:solidFill>
                    <a:srgbClr val="000000"/>
                  </a:solidFill>
                </a:rPr>
                <a:t>(</a:t>
              </a:r>
              <a:endParaRPr lang="en-US" altLang="zh-CN" dirty="0"/>
            </a:p>
          </p:txBody>
        </p:sp>
        <p:sp>
          <p:nvSpPr>
            <p:cNvPr id="33135" name="Rectangle 368">
              <a:extLst>
                <a:ext uri="{FF2B5EF4-FFF2-40B4-BE49-F238E27FC236}">
                  <a16:creationId xmlns:a16="http://schemas.microsoft.com/office/drawing/2014/main" id="{A1028534-38E6-19D4-EBF9-EED83B792D89}"/>
                </a:ext>
              </a:extLst>
            </p:cNvPr>
            <p:cNvSpPr>
              <a:spLocks noChangeArrowheads="1"/>
            </p:cNvSpPr>
            <p:nvPr/>
          </p:nvSpPr>
          <p:spPr bwMode="auto">
            <a:xfrm>
              <a:off x="2694" y="1339"/>
              <a:ext cx="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a:solidFill>
                    <a:srgbClr val="000000"/>
                  </a:solidFill>
                </a:rPr>
                <a:t>2</a:t>
              </a:r>
              <a:endParaRPr lang="en-US" altLang="zh-CN"/>
            </a:p>
          </p:txBody>
        </p:sp>
        <p:sp>
          <p:nvSpPr>
            <p:cNvPr id="33136" name="Rectangle 369">
              <a:extLst>
                <a:ext uri="{FF2B5EF4-FFF2-40B4-BE49-F238E27FC236}">
                  <a16:creationId xmlns:a16="http://schemas.microsoft.com/office/drawing/2014/main" id="{2E0E7561-D10B-43FD-C33F-628D3F682251}"/>
                </a:ext>
              </a:extLst>
            </p:cNvPr>
            <p:cNvSpPr>
              <a:spLocks noChangeArrowheads="1"/>
            </p:cNvSpPr>
            <p:nvPr/>
          </p:nvSpPr>
          <p:spPr bwMode="auto">
            <a:xfrm>
              <a:off x="2362" y="1339"/>
              <a:ext cx="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a:solidFill>
                    <a:srgbClr val="000000"/>
                  </a:solidFill>
                </a:rPr>
                <a:t>2</a:t>
              </a:r>
              <a:endParaRPr lang="en-US" altLang="zh-CN"/>
            </a:p>
          </p:txBody>
        </p:sp>
        <p:sp>
          <p:nvSpPr>
            <p:cNvPr id="33137" name="Rectangle 370">
              <a:extLst>
                <a:ext uri="{FF2B5EF4-FFF2-40B4-BE49-F238E27FC236}">
                  <a16:creationId xmlns:a16="http://schemas.microsoft.com/office/drawing/2014/main" id="{5543649A-D605-C191-8E72-5F6CED2C68A2}"/>
                </a:ext>
              </a:extLst>
            </p:cNvPr>
            <p:cNvSpPr>
              <a:spLocks noChangeArrowheads="1"/>
            </p:cNvSpPr>
            <p:nvPr/>
          </p:nvSpPr>
          <p:spPr bwMode="auto">
            <a:xfrm>
              <a:off x="2037" y="1339"/>
              <a:ext cx="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a:solidFill>
                    <a:srgbClr val="000000"/>
                  </a:solidFill>
                </a:rPr>
                <a:t>1</a:t>
              </a:r>
              <a:endParaRPr lang="en-US" altLang="zh-CN"/>
            </a:p>
          </p:txBody>
        </p:sp>
        <p:sp>
          <p:nvSpPr>
            <p:cNvPr id="33138" name="Rectangle 371">
              <a:extLst>
                <a:ext uri="{FF2B5EF4-FFF2-40B4-BE49-F238E27FC236}">
                  <a16:creationId xmlns:a16="http://schemas.microsoft.com/office/drawing/2014/main" id="{B90F9DA0-0F9E-A8EE-7E34-56C27FCC9B61}"/>
                </a:ext>
              </a:extLst>
            </p:cNvPr>
            <p:cNvSpPr>
              <a:spLocks noChangeArrowheads="1"/>
            </p:cNvSpPr>
            <p:nvPr/>
          </p:nvSpPr>
          <p:spPr bwMode="auto">
            <a:xfrm>
              <a:off x="1728" y="1339"/>
              <a:ext cx="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a:solidFill>
                    <a:srgbClr val="000000"/>
                  </a:solidFill>
                </a:rPr>
                <a:t>1</a:t>
              </a:r>
              <a:endParaRPr lang="en-US" altLang="zh-CN"/>
            </a:p>
          </p:txBody>
        </p:sp>
        <p:sp>
          <p:nvSpPr>
            <p:cNvPr id="33139" name="Rectangle 372">
              <a:extLst>
                <a:ext uri="{FF2B5EF4-FFF2-40B4-BE49-F238E27FC236}">
                  <a16:creationId xmlns:a16="http://schemas.microsoft.com/office/drawing/2014/main" id="{059115B8-0A14-F964-A0AF-878929FC5D01}"/>
                </a:ext>
              </a:extLst>
            </p:cNvPr>
            <p:cNvSpPr>
              <a:spLocks noChangeArrowheads="1"/>
            </p:cNvSpPr>
            <p:nvPr/>
          </p:nvSpPr>
          <p:spPr bwMode="auto">
            <a:xfrm>
              <a:off x="3812" y="1339"/>
              <a:ext cx="9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i="1">
                  <a:solidFill>
                    <a:srgbClr val="000000"/>
                  </a:solidFill>
                </a:rPr>
                <a:t>N</a:t>
              </a:r>
              <a:endParaRPr lang="en-US" altLang="zh-CN"/>
            </a:p>
          </p:txBody>
        </p:sp>
        <p:sp>
          <p:nvSpPr>
            <p:cNvPr id="33140" name="Rectangle 373">
              <a:extLst>
                <a:ext uri="{FF2B5EF4-FFF2-40B4-BE49-F238E27FC236}">
                  <a16:creationId xmlns:a16="http://schemas.microsoft.com/office/drawing/2014/main" id="{A21D43FC-6161-1C0D-02F1-DE7C31332BB4}"/>
                </a:ext>
              </a:extLst>
            </p:cNvPr>
            <p:cNvSpPr>
              <a:spLocks noChangeArrowheads="1"/>
            </p:cNvSpPr>
            <p:nvPr/>
          </p:nvSpPr>
          <p:spPr bwMode="auto">
            <a:xfrm>
              <a:off x="3390" y="1339"/>
              <a:ext cx="9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i="1">
                  <a:solidFill>
                    <a:srgbClr val="000000"/>
                  </a:solidFill>
                </a:rPr>
                <a:t>N</a:t>
              </a:r>
              <a:endParaRPr lang="en-US" altLang="zh-CN"/>
            </a:p>
          </p:txBody>
        </p:sp>
        <p:sp>
          <p:nvSpPr>
            <p:cNvPr id="33141" name="Rectangle 374">
              <a:extLst>
                <a:ext uri="{FF2B5EF4-FFF2-40B4-BE49-F238E27FC236}">
                  <a16:creationId xmlns:a16="http://schemas.microsoft.com/office/drawing/2014/main" id="{FC3D0743-73E8-5388-4929-4FFA29DBACF5}"/>
                </a:ext>
              </a:extLst>
            </p:cNvPr>
            <p:cNvSpPr>
              <a:spLocks noChangeArrowheads="1"/>
            </p:cNvSpPr>
            <p:nvPr/>
          </p:nvSpPr>
          <p:spPr bwMode="auto">
            <a:xfrm>
              <a:off x="3654" y="1211"/>
              <a:ext cx="9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v</a:t>
              </a:r>
              <a:endParaRPr lang="en-US" altLang="zh-CN"/>
            </a:p>
          </p:txBody>
        </p:sp>
        <p:sp>
          <p:nvSpPr>
            <p:cNvPr id="33142" name="Rectangle 375">
              <a:extLst>
                <a:ext uri="{FF2B5EF4-FFF2-40B4-BE49-F238E27FC236}">
                  <a16:creationId xmlns:a16="http://schemas.microsoft.com/office/drawing/2014/main" id="{C6152520-A955-5A3B-B2F3-D069CC59A96E}"/>
                </a:ext>
              </a:extLst>
            </p:cNvPr>
            <p:cNvSpPr>
              <a:spLocks noChangeArrowheads="1"/>
            </p:cNvSpPr>
            <p:nvPr/>
          </p:nvSpPr>
          <p:spPr bwMode="auto">
            <a:xfrm>
              <a:off x="3278" y="1211"/>
              <a:ext cx="7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r</a:t>
              </a:r>
              <a:endParaRPr lang="en-US" altLang="zh-CN"/>
            </a:p>
          </p:txBody>
        </p:sp>
        <p:sp>
          <p:nvSpPr>
            <p:cNvPr id="33143" name="Rectangle 376">
              <a:extLst>
                <a:ext uri="{FF2B5EF4-FFF2-40B4-BE49-F238E27FC236}">
                  <a16:creationId xmlns:a16="http://schemas.microsoft.com/office/drawing/2014/main" id="{6B2EB94B-732A-AC14-12D0-DBAAC2F41C4E}"/>
                </a:ext>
              </a:extLst>
            </p:cNvPr>
            <p:cNvSpPr>
              <a:spLocks noChangeArrowheads="1"/>
            </p:cNvSpPr>
            <p:nvPr/>
          </p:nvSpPr>
          <p:spPr bwMode="auto">
            <a:xfrm>
              <a:off x="2547" y="1211"/>
              <a:ext cx="9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v</a:t>
              </a:r>
              <a:endParaRPr lang="en-US" altLang="zh-CN"/>
            </a:p>
          </p:txBody>
        </p:sp>
        <p:sp>
          <p:nvSpPr>
            <p:cNvPr id="33144" name="Rectangle 377">
              <a:extLst>
                <a:ext uri="{FF2B5EF4-FFF2-40B4-BE49-F238E27FC236}">
                  <a16:creationId xmlns:a16="http://schemas.microsoft.com/office/drawing/2014/main" id="{0FDA2AB4-9744-D3A7-27F6-C5FDEE554D43}"/>
                </a:ext>
              </a:extLst>
            </p:cNvPr>
            <p:cNvSpPr>
              <a:spLocks noChangeArrowheads="1"/>
            </p:cNvSpPr>
            <p:nvPr/>
          </p:nvSpPr>
          <p:spPr bwMode="auto">
            <a:xfrm>
              <a:off x="2284" y="1211"/>
              <a:ext cx="7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r</a:t>
              </a:r>
              <a:endParaRPr lang="en-US" altLang="zh-CN"/>
            </a:p>
          </p:txBody>
        </p:sp>
        <p:sp>
          <p:nvSpPr>
            <p:cNvPr id="33145" name="Rectangle 378">
              <a:extLst>
                <a:ext uri="{FF2B5EF4-FFF2-40B4-BE49-F238E27FC236}">
                  <a16:creationId xmlns:a16="http://schemas.microsoft.com/office/drawing/2014/main" id="{6920DF9D-1BAA-A0DD-A427-57B7A53F61E1}"/>
                </a:ext>
              </a:extLst>
            </p:cNvPr>
            <p:cNvSpPr>
              <a:spLocks noChangeArrowheads="1"/>
            </p:cNvSpPr>
            <p:nvPr/>
          </p:nvSpPr>
          <p:spPr bwMode="auto">
            <a:xfrm>
              <a:off x="1914" y="1211"/>
              <a:ext cx="9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v</a:t>
              </a:r>
              <a:endParaRPr lang="en-US" altLang="zh-CN"/>
            </a:p>
          </p:txBody>
        </p:sp>
        <p:sp>
          <p:nvSpPr>
            <p:cNvPr id="33146" name="Rectangle 379">
              <a:extLst>
                <a:ext uri="{FF2B5EF4-FFF2-40B4-BE49-F238E27FC236}">
                  <a16:creationId xmlns:a16="http://schemas.microsoft.com/office/drawing/2014/main" id="{EB601349-2021-5FE2-75D1-1EA5AB4FE484}"/>
                </a:ext>
              </a:extLst>
            </p:cNvPr>
            <p:cNvSpPr>
              <a:spLocks noChangeArrowheads="1"/>
            </p:cNvSpPr>
            <p:nvPr/>
          </p:nvSpPr>
          <p:spPr bwMode="auto">
            <a:xfrm>
              <a:off x="1651" y="1211"/>
              <a:ext cx="7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r</a:t>
              </a:r>
              <a:endParaRPr lang="en-US" altLang="zh-CN"/>
            </a:p>
          </p:txBody>
        </p:sp>
        <p:sp>
          <p:nvSpPr>
            <p:cNvPr id="33147" name="Rectangle 380">
              <a:extLst>
                <a:ext uri="{FF2B5EF4-FFF2-40B4-BE49-F238E27FC236}">
                  <a16:creationId xmlns:a16="http://schemas.microsoft.com/office/drawing/2014/main" id="{67626F5B-9474-287C-5B73-452FA7E17B4E}"/>
                </a:ext>
              </a:extLst>
            </p:cNvPr>
            <p:cNvSpPr>
              <a:spLocks noChangeArrowheads="1"/>
            </p:cNvSpPr>
            <p:nvPr/>
          </p:nvSpPr>
          <p:spPr bwMode="auto">
            <a:xfrm>
              <a:off x="3680"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dirty="0">
                  <a:solidFill>
                    <a:srgbClr val="000000"/>
                  </a:solidFill>
                  <a:latin typeface="MT Extra" panose="05050102010205020202" pitchFamily="18" charset="2"/>
                </a:rPr>
                <a:t>r</a:t>
              </a:r>
              <a:endParaRPr lang="en-US" altLang="zh-CN" dirty="0"/>
            </a:p>
          </p:txBody>
        </p:sp>
        <p:sp>
          <p:nvSpPr>
            <p:cNvPr id="33148" name="Rectangle 381">
              <a:extLst>
                <a:ext uri="{FF2B5EF4-FFF2-40B4-BE49-F238E27FC236}">
                  <a16:creationId xmlns:a16="http://schemas.microsoft.com/office/drawing/2014/main" id="{E33FC978-136A-40FB-D195-3A72A2D2B3D7}"/>
                </a:ext>
              </a:extLst>
            </p:cNvPr>
            <p:cNvSpPr>
              <a:spLocks noChangeArrowheads="1"/>
            </p:cNvSpPr>
            <p:nvPr/>
          </p:nvSpPr>
          <p:spPr bwMode="auto">
            <a:xfrm>
              <a:off x="3299"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latin typeface="MT Extra" panose="05050102010205020202" pitchFamily="18" charset="2"/>
                </a:rPr>
                <a:t>r</a:t>
              </a:r>
              <a:endParaRPr lang="en-US" altLang="zh-CN"/>
            </a:p>
          </p:txBody>
        </p:sp>
        <p:sp>
          <p:nvSpPr>
            <p:cNvPr id="33149" name="Rectangle 382">
              <a:extLst>
                <a:ext uri="{FF2B5EF4-FFF2-40B4-BE49-F238E27FC236}">
                  <a16:creationId xmlns:a16="http://schemas.microsoft.com/office/drawing/2014/main" id="{5B7F117E-FCC5-727A-5975-015A30C939DF}"/>
                </a:ext>
              </a:extLst>
            </p:cNvPr>
            <p:cNvSpPr>
              <a:spLocks noChangeArrowheads="1"/>
            </p:cNvSpPr>
            <p:nvPr/>
          </p:nvSpPr>
          <p:spPr bwMode="auto">
            <a:xfrm>
              <a:off x="2928" y="1233"/>
              <a:ext cx="205"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latin typeface="MT Extra" panose="05050102010205020202" pitchFamily="18" charset="2"/>
                </a:rPr>
                <a:t>L</a:t>
              </a:r>
              <a:endParaRPr lang="en-US" altLang="zh-CN"/>
            </a:p>
          </p:txBody>
        </p:sp>
        <p:sp>
          <p:nvSpPr>
            <p:cNvPr id="33150" name="Rectangle 383">
              <a:extLst>
                <a:ext uri="{FF2B5EF4-FFF2-40B4-BE49-F238E27FC236}">
                  <a16:creationId xmlns:a16="http://schemas.microsoft.com/office/drawing/2014/main" id="{E4D2EC1B-53E2-FD34-7AC7-CB6F7F279378}"/>
                </a:ext>
              </a:extLst>
            </p:cNvPr>
            <p:cNvSpPr>
              <a:spLocks noChangeArrowheads="1"/>
            </p:cNvSpPr>
            <p:nvPr/>
          </p:nvSpPr>
          <p:spPr bwMode="auto">
            <a:xfrm>
              <a:off x="2573"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dirty="0">
                  <a:solidFill>
                    <a:srgbClr val="000000"/>
                  </a:solidFill>
                  <a:latin typeface="MT Extra" panose="05050102010205020202" pitchFamily="18" charset="2"/>
                </a:rPr>
                <a:t>r</a:t>
              </a:r>
              <a:endParaRPr lang="en-US" altLang="zh-CN" dirty="0"/>
            </a:p>
          </p:txBody>
        </p:sp>
        <p:sp>
          <p:nvSpPr>
            <p:cNvPr id="33151" name="Rectangle 384">
              <a:extLst>
                <a:ext uri="{FF2B5EF4-FFF2-40B4-BE49-F238E27FC236}">
                  <a16:creationId xmlns:a16="http://schemas.microsoft.com/office/drawing/2014/main" id="{B8B6CA02-1BE2-53E7-A8FD-B2C1C63F38E9}"/>
                </a:ext>
              </a:extLst>
            </p:cNvPr>
            <p:cNvSpPr>
              <a:spLocks noChangeArrowheads="1"/>
            </p:cNvSpPr>
            <p:nvPr/>
          </p:nvSpPr>
          <p:spPr bwMode="auto">
            <a:xfrm>
              <a:off x="2306"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latin typeface="MT Extra" panose="05050102010205020202" pitchFamily="18" charset="2"/>
                </a:rPr>
                <a:t>r</a:t>
              </a:r>
              <a:endParaRPr lang="en-US" altLang="zh-CN"/>
            </a:p>
          </p:txBody>
        </p:sp>
        <p:sp>
          <p:nvSpPr>
            <p:cNvPr id="33152" name="Rectangle 385">
              <a:extLst>
                <a:ext uri="{FF2B5EF4-FFF2-40B4-BE49-F238E27FC236}">
                  <a16:creationId xmlns:a16="http://schemas.microsoft.com/office/drawing/2014/main" id="{F752B633-5AD3-E299-1CBF-4B3FBE8E6DC8}"/>
                </a:ext>
              </a:extLst>
            </p:cNvPr>
            <p:cNvSpPr>
              <a:spLocks noChangeArrowheads="1"/>
            </p:cNvSpPr>
            <p:nvPr/>
          </p:nvSpPr>
          <p:spPr bwMode="auto">
            <a:xfrm>
              <a:off x="1940"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latin typeface="MT Extra" panose="05050102010205020202" pitchFamily="18" charset="2"/>
                </a:rPr>
                <a:t>r</a:t>
              </a:r>
              <a:endParaRPr lang="en-US" altLang="zh-CN"/>
            </a:p>
          </p:txBody>
        </p:sp>
        <p:sp>
          <p:nvSpPr>
            <p:cNvPr id="33153" name="Rectangle 386">
              <a:extLst>
                <a:ext uri="{FF2B5EF4-FFF2-40B4-BE49-F238E27FC236}">
                  <a16:creationId xmlns:a16="http://schemas.microsoft.com/office/drawing/2014/main" id="{F101B1C9-4802-4529-40F2-4000696E613B}"/>
                </a:ext>
              </a:extLst>
            </p:cNvPr>
            <p:cNvSpPr>
              <a:spLocks noChangeArrowheads="1"/>
            </p:cNvSpPr>
            <p:nvPr/>
          </p:nvSpPr>
          <p:spPr bwMode="auto">
            <a:xfrm>
              <a:off x="1672"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latin typeface="MT Extra" panose="05050102010205020202" pitchFamily="18" charset="2"/>
                </a:rPr>
                <a:t>r</a:t>
              </a:r>
              <a:endParaRPr lang="en-US" altLang="zh-CN"/>
            </a:p>
          </p:txBody>
        </p:sp>
      </p:grpSp>
      <p:grpSp>
        <p:nvGrpSpPr>
          <p:cNvPr id="6" name="Group 9">
            <a:extLst>
              <a:ext uri="{FF2B5EF4-FFF2-40B4-BE49-F238E27FC236}">
                <a16:creationId xmlns:a16="http://schemas.microsoft.com/office/drawing/2014/main" id="{D2D6AD42-0393-3976-B00E-56CA1799CEAC}"/>
              </a:ext>
            </a:extLst>
          </p:cNvPr>
          <p:cNvGrpSpPr>
            <a:grpSpLocks/>
          </p:cNvGrpSpPr>
          <p:nvPr/>
        </p:nvGrpSpPr>
        <p:grpSpPr bwMode="auto">
          <a:xfrm>
            <a:off x="4914347" y="1068388"/>
            <a:ext cx="3663950" cy="527050"/>
            <a:chOff x="2150" y="988"/>
            <a:chExt cx="1690" cy="332"/>
          </a:xfrm>
        </p:grpSpPr>
        <p:sp>
          <p:nvSpPr>
            <p:cNvPr id="33126" name="Text Box 10">
              <a:extLst>
                <a:ext uri="{FF2B5EF4-FFF2-40B4-BE49-F238E27FC236}">
                  <a16:creationId xmlns:a16="http://schemas.microsoft.com/office/drawing/2014/main" id="{67669BF2-1AB9-04BE-D690-55B9168D5250}"/>
                </a:ext>
              </a:extLst>
            </p:cNvPr>
            <p:cNvSpPr txBox="1">
              <a:spLocks noChangeArrowheads="1"/>
            </p:cNvSpPr>
            <p:nvPr/>
          </p:nvSpPr>
          <p:spPr bwMode="auto">
            <a:xfrm>
              <a:off x="2150" y="988"/>
              <a:ext cx="7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latin typeface="+mn-lt"/>
                  <a:ea typeface="+mn-ea"/>
                </a:rPr>
                <a:t>宏观态</a:t>
              </a:r>
            </a:p>
          </p:txBody>
        </p:sp>
        <p:graphicFrame>
          <p:nvGraphicFramePr>
            <p:cNvPr id="32770" name="Object 11">
              <a:extLst>
                <a:ext uri="{FF2B5EF4-FFF2-40B4-BE49-F238E27FC236}">
                  <a16:creationId xmlns:a16="http://schemas.microsoft.com/office/drawing/2014/main" id="{9BC5F23C-3F4E-D236-5A99-6BA1917088E3}"/>
                </a:ext>
              </a:extLst>
            </p:cNvPr>
            <p:cNvGraphicFramePr>
              <a:graphicFrameLocks noChangeAspect="1"/>
            </p:cNvGraphicFramePr>
            <p:nvPr/>
          </p:nvGraphicFramePr>
          <p:xfrm>
            <a:off x="2976" y="1008"/>
            <a:ext cx="864" cy="312"/>
          </p:xfrm>
          <a:graphic>
            <a:graphicData uri="http://schemas.openxmlformats.org/presentationml/2006/ole">
              <mc:AlternateContent xmlns:mc="http://schemas.openxmlformats.org/markup-compatibility/2006">
                <mc:Choice xmlns:v="urn:schemas-microsoft-com:vml" Requires="v">
                  <p:oleObj spid="_x0000_s1027" name="公式" r:id="rId3" imgW="558720" imgH="203040" progId="">
                    <p:embed/>
                  </p:oleObj>
                </mc:Choice>
                <mc:Fallback>
                  <p:oleObj name="公式" r:id="rId3" imgW="558720" imgH="203040" progId="">
                    <p:embed/>
                    <p:pic>
                      <p:nvPicPr>
                        <p:cNvPr id="32770" name="Object 11">
                          <a:extLst>
                            <a:ext uri="{FF2B5EF4-FFF2-40B4-BE49-F238E27FC236}">
                              <a16:creationId xmlns:a16="http://schemas.microsoft.com/office/drawing/2014/main" id="{9BC5F23C-3F4E-D236-5A99-6BA1917088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6" y="1008"/>
                          <a:ext cx="864"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pic>
        <p:nvPicPr>
          <p:cNvPr id="8" name="Picture 42" descr="分子热运动">
            <a:extLst>
              <a:ext uri="{FF2B5EF4-FFF2-40B4-BE49-F238E27FC236}">
                <a16:creationId xmlns:a16="http://schemas.microsoft.com/office/drawing/2014/main" id="{FA6F751C-7D35-2B6F-A938-219334EC62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5562" y="1893434"/>
            <a:ext cx="3884060" cy="3884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13">
            <a:hlinkClick r:id="" action="ppaction://noaction"/>
            <a:extLst>
              <a:ext uri="{FF2B5EF4-FFF2-40B4-BE49-F238E27FC236}">
                <a16:creationId xmlns:a16="http://schemas.microsoft.com/office/drawing/2014/main" id="{61A0CFE0-6AAF-0EF4-6B48-319752A05491}"/>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热力学概率</a:t>
            </a:r>
          </a:p>
        </p:txBody>
      </p:sp>
      <p:sp>
        <p:nvSpPr>
          <p:cNvPr id="11" name="Text Box 4">
            <a:extLst>
              <a:ext uri="{FF2B5EF4-FFF2-40B4-BE49-F238E27FC236}">
                <a16:creationId xmlns:a16="http://schemas.microsoft.com/office/drawing/2014/main" id="{1B53F631-8CAF-0F41-3058-ED78E4153248}"/>
              </a:ext>
            </a:extLst>
          </p:cNvPr>
          <p:cNvSpPr txBox="1">
            <a:spLocks noChangeArrowheads="1"/>
          </p:cNvSpPr>
          <p:nvPr/>
        </p:nvSpPr>
        <p:spPr bwMode="auto">
          <a:xfrm>
            <a:off x="4670049" y="2402276"/>
            <a:ext cx="7009553" cy="4127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buFont typeface="Monotype Sorts" pitchFamily="2" charset="2"/>
              <a:buNone/>
            </a:pPr>
            <a:r>
              <a:rPr kumimoji="1" lang="zh-CN" altLang="en-US" sz="3000" b="0" dirty="0">
                <a:solidFill>
                  <a:srgbClr val="FF0000"/>
                </a:solidFill>
                <a:latin typeface="楷体" panose="02010609060101010101" pitchFamily="49" charset="-122"/>
                <a:ea typeface="楷体" panose="02010609060101010101" pitchFamily="49" charset="-122"/>
              </a:rPr>
              <a:t>玻耳兹曼：</a:t>
            </a:r>
            <a:endParaRPr kumimoji="1" lang="en-US" altLang="zh-CN" sz="3000" b="0" dirty="0">
              <a:solidFill>
                <a:srgbClr val="FF0000"/>
              </a:solidFill>
              <a:latin typeface="楷体" panose="02010609060101010101" pitchFamily="49" charset="-122"/>
              <a:ea typeface="楷体" panose="02010609060101010101" pitchFamily="49" charset="-122"/>
            </a:endParaRPr>
          </a:p>
          <a:p>
            <a:pPr>
              <a:lnSpc>
                <a:spcPct val="120000"/>
              </a:lnSpc>
              <a:spcBef>
                <a:spcPct val="50000"/>
              </a:spcBef>
              <a:buFont typeface="Monotype Sorts" pitchFamily="2" charset="2"/>
              <a:buNone/>
            </a:pPr>
            <a:r>
              <a:rPr kumimoji="1" lang="en-US" altLang="zh-CN" sz="3000" b="0" dirty="0">
                <a:solidFill>
                  <a:srgbClr val="FF0000"/>
                </a:solidFill>
                <a:latin typeface="楷体" panose="02010609060101010101" pitchFamily="49" charset="-122"/>
                <a:ea typeface="楷体" panose="02010609060101010101" pitchFamily="49" charset="-122"/>
              </a:rPr>
              <a:t>- </a:t>
            </a:r>
            <a:r>
              <a:rPr kumimoji="1" lang="zh-CN" altLang="en-US" sz="3000" b="0" dirty="0">
                <a:solidFill>
                  <a:srgbClr val="FF0000"/>
                </a:solidFill>
                <a:latin typeface="楷体" panose="02010609060101010101" pitchFamily="49" charset="-122"/>
                <a:ea typeface="楷体" panose="02010609060101010101" pitchFamily="49" charset="-122"/>
              </a:rPr>
              <a:t>从微观上看，对于一个系统状态的宏观描述是非常不完善的</a:t>
            </a:r>
            <a:br>
              <a:rPr kumimoji="1" lang="en-US" altLang="zh-CN" sz="3000" b="0" dirty="0">
                <a:solidFill>
                  <a:srgbClr val="FF0000"/>
                </a:solidFill>
                <a:latin typeface="楷体" panose="02010609060101010101" pitchFamily="49" charset="-122"/>
                <a:ea typeface="楷体" panose="02010609060101010101" pitchFamily="49" charset="-122"/>
              </a:rPr>
            </a:br>
            <a:r>
              <a:rPr kumimoji="1" lang="en-US" altLang="zh-CN" sz="3000" b="0" dirty="0">
                <a:solidFill>
                  <a:srgbClr val="FF0000"/>
                </a:solidFill>
                <a:latin typeface="楷体" panose="02010609060101010101" pitchFamily="49" charset="-122"/>
                <a:ea typeface="楷体" panose="02010609060101010101" pitchFamily="49" charset="-122"/>
              </a:rPr>
              <a:t>- </a:t>
            </a:r>
            <a:r>
              <a:rPr kumimoji="1" lang="zh-CN" altLang="en-US" sz="3000" b="0" dirty="0">
                <a:solidFill>
                  <a:srgbClr val="FF0000"/>
                </a:solidFill>
                <a:latin typeface="楷体" panose="02010609060101010101" pitchFamily="49" charset="-122"/>
                <a:ea typeface="楷体" panose="02010609060101010101" pitchFamily="49" charset="-122"/>
              </a:rPr>
              <a:t>系统的同一个宏观状态实际上可能对应于非常非常多的微观状态，而这些微观状态是粗略的宏观描述所不能加以区别的。</a:t>
            </a:r>
          </a:p>
        </p:txBody>
      </p:sp>
    </p:spTree>
    <p:extLst>
      <p:ext uri="{BB962C8B-B14F-4D97-AF65-F5344CB8AC3E}">
        <p14:creationId xmlns:p14="http://schemas.microsoft.com/office/powerpoint/2010/main" val="27184510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5">
            <a:extLst>
              <a:ext uri="{FF2B5EF4-FFF2-40B4-BE49-F238E27FC236}">
                <a16:creationId xmlns:a16="http://schemas.microsoft.com/office/drawing/2014/main" id="{E37C9420-4D8C-26D7-B1D6-C6117EBF9130}"/>
              </a:ext>
            </a:extLst>
          </p:cNvPr>
          <p:cNvSpPr txBox="1">
            <a:spLocks noChangeArrowheads="1"/>
          </p:cNvSpPr>
          <p:nvPr/>
        </p:nvSpPr>
        <p:spPr bwMode="auto">
          <a:xfrm>
            <a:off x="1742219" y="1213790"/>
            <a:ext cx="32210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i="1" dirty="0">
                <a:latin typeface="+mn-lt"/>
                <a:ea typeface="+mn-ea"/>
              </a:rPr>
              <a:t>N</a:t>
            </a:r>
            <a:r>
              <a:rPr lang="zh-CN" altLang="en-US" dirty="0">
                <a:latin typeface="+mn-lt"/>
                <a:ea typeface="+mn-ea"/>
              </a:rPr>
              <a:t>粒子系统</a:t>
            </a:r>
          </a:p>
        </p:txBody>
      </p:sp>
      <p:grpSp>
        <p:nvGrpSpPr>
          <p:cNvPr id="3" name="Group 387">
            <a:extLst>
              <a:ext uri="{FF2B5EF4-FFF2-40B4-BE49-F238E27FC236}">
                <a16:creationId xmlns:a16="http://schemas.microsoft.com/office/drawing/2014/main" id="{DC9EE2C5-DA1F-732C-7B7A-AB08F05FFAE8}"/>
              </a:ext>
            </a:extLst>
          </p:cNvPr>
          <p:cNvGrpSpPr>
            <a:grpSpLocks/>
          </p:cNvGrpSpPr>
          <p:nvPr/>
        </p:nvGrpSpPr>
        <p:grpSpPr bwMode="auto">
          <a:xfrm>
            <a:off x="4853761" y="1609725"/>
            <a:ext cx="6202591" cy="714375"/>
            <a:chOff x="672" y="1083"/>
            <a:chExt cx="3415" cy="450"/>
          </a:xfrm>
        </p:grpSpPr>
        <p:sp>
          <p:nvSpPr>
            <p:cNvPr id="33127" name="Text Box 7">
              <a:extLst>
                <a:ext uri="{FF2B5EF4-FFF2-40B4-BE49-F238E27FC236}">
                  <a16:creationId xmlns:a16="http://schemas.microsoft.com/office/drawing/2014/main" id="{07F96C81-85DF-6CC2-827A-90BBE44BD9C0}"/>
                </a:ext>
              </a:extLst>
            </p:cNvPr>
            <p:cNvSpPr txBox="1">
              <a:spLocks noChangeArrowheads="1"/>
            </p:cNvSpPr>
            <p:nvPr/>
          </p:nvSpPr>
          <p:spPr bwMode="auto">
            <a:xfrm>
              <a:off x="672" y="1152"/>
              <a:ext cx="789"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000" b="0" dirty="0">
                  <a:latin typeface="华文楷体" panose="02010600040101010101" pitchFamily="2" charset="-122"/>
                  <a:ea typeface="华文楷体" panose="02010600040101010101" pitchFamily="2" charset="-122"/>
                </a:rPr>
                <a:t>微观态</a:t>
              </a:r>
            </a:p>
          </p:txBody>
        </p:sp>
        <p:sp>
          <p:nvSpPr>
            <p:cNvPr id="33128" name="Rectangle 361">
              <a:extLst>
                <a:ext uri="{FF2B5EF4-FFF2-40B4-BE49-F238E27FC236}">
                  <a16:creationId xmlns:a16="http://schemas.microsoft.com/office/drawing/2014/main" id="{F791AE92-FD1D-BE5A-7750-9A75F843C464}"/>
                </a:ext>
              </a:extLst>
            </p:cNvPr>
            <p:cNvSpPr>
              <a:spLocks noChangeArrowheads="1"/>
            </p:cNvSpPr>
            <p:nvPr/>
          </p:nvSpPr>
          <p:spPr bwMode="auto">
            <a:xfrm>
              <a:off x="4019" y="1211"/>
              <a:ext cx="68"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a:t>
              </a:r>
              <a:endParaRPr lang="en-US" altLang="zh-CN"/>
            </a:p>
          </p:txBody>
        </p:sp>
        <p:sp>
          <p:nvSpPr>
            <p:cNvPr id="33129" name="Rectangle 362">
              <a:extLst>
                <a:ext uri="{FF2B5EF4-FFF2-40B4-BE49-F238E27FC236}">
                  <a16:creationId xmlns:a16="http://schemas.microsoft.com/office/drawing/2014/main" id="{C29D71C9-9F7A-E8CC-9084-5E51904F516A}"/>
                </a:ext>
              </a:extLst>
            </p:cNvPr>
            <p:cNvSpPr>
              <a:spLocks noChangeArrowheads="1"/>
            </p:cNvSpPr>
            <p:nvPr/>
          </p:nvSpPr>
          <p:spPr bwMode="auto">
            <a:xfrm>
              <a:off x="3582" y="1211"/>
              <a:ext cx="5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 </a:t>
              </a:r>
              <a:endParaRPr lang="en-US" altLang="zh-CN"/>
            </a:p>
          </p:txBody>
        </p:sp>
        <p:sp>
          <p:nvSpPr>
            <p:cNvPr id="33130" name="Rectangle 363">
              <a:extLst>
                <a:ext uri="{FF2B5EF4-FFF2-40B4-BE49-F238E27FC236}">
                  <a16:creationId xmlns:a16="http://schemas.microsoft.com/office/drawing/2014/main" id="{79D6EE98-21DB-1E83-7C3C-7E77296A618E}"/>
                </a:ext>
              </a:extLst>
            </p:cNvPr>
            <p:cNvSpPr>
              <a:spLocks noChangeArrowheads="1"/>
            </p:cNvSpPr>
            <p:nvPr/>
          </p:nvSpPr>
          <p:spPr bwMode="auto">
            <a:xfrm>
              <a:off x="2835" y="1211"/>
              <a:ext cx="5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a:t>
              </a:r>
              <a:endParaRPr lang="en-US" altLang="zh-CN"/>
            </a:p>
          </p:txBody>
        </p:sp>
        <p:sp>
          <p:nvSpPr>
            <p:cNvPr id="33131" name="Rectangle 364">
              <a:extLst>
                <a:ext uri="{FF2B5EF4-FFF2-40B4-BE49-F238E27FC236}">
                  <a16:creationId xmlns:a16="http://schemas.microsoft.com/office/drawing/2014/main" id="{51C621E6-FAD6-EC4A-F968-EB432B9C8A00}"/>
                </a:ext>
              </a:extLst>
            </p:cNvPr>
            <p:cNvSpPr>
              <a:spLocks noChangeArrowheads="1"/>
            </p:cNvSpPr>
            <p:nvPr/>
          </p:nvSpPr>
          <p:spPr bwMode="auto">
            <a:xfrm>
              <a:off x="2475" y="1211"/>
              <a:ext cx="5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 </a:t>
              </a:r>
              <a:endParaRPr lang="en-US" altLang="zh-CN"/>
            </a:p>
          </p:txBody>
        </p:sp>
        <p:sp>
          <p:nvSpPr>
            <p:cNvPr id="33132" name="Rectangle 365">
              <a:extLst>
                <a:ext uri="{FF2B5EF4-FFF2-40B4-BE49-F238E27FC236}">
                  <a16:creationId xmlns:a16="http://schemas.microsoft.com/office/drawing/2014/main" id="{E00B6EC7-A051-E05A-5AF1-55B0A55E00B0}"/>
                </a:ext>
              </a:extLst>
            </p:cNvPr>
            <p:cNvSpPr>
              <a:spLocks noChangeArrowheads="1"/>
            </p:cNvSpPr>
            <p:nvPr/>
          </p:nvSpPr>
          <p:spPr bwMode="auto">
            <a:xfrm>
              <a:off x="2161" y="1211"/>
              <a:ext cx="5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a:t>
              </a:r>
              <a:endParaRPr lang="en-US" altLang="zh-CN"/>
            </a:p>
          </p:txBody>
        </p:sp>
        <p:sp>
          <p:nvSpPr>
            <p:cNvPr id="33133" name="Rectangle 366">
              <a:extLst>
                <a:ext uri="{FF2B5EF4-FFF2-40B4-BE49-F238E27FC236}">
                  <a16:creationId xmlns:a16="http://schemas.microsoft.com/office/drawing/2014/main" id="{124B905C-49D4-5F3A-EE11-348FC8763613}"/>
                </a:ext>
              </a:extLst>
            </p:cNvPr>
            <p:cNvSpPr>
              <a:spLocks noChangeArrowheads="1"/>
            </p:cNvSpPr>
            <p:nvPr/>
          </p:nvSpPr>
          <p:spPr bwMode="auto">
            <a:xfrm>
              <a:off x="1842" y="1211"/>
              <a:ext cx="5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rPr>
                <a:t> </a:t>
              </a:r>
              <a:endParaRPr lang="en-US" altLang="zh-CN"/>
            </a:p>
          </p:txBody>
        </p:sp>
        <p:sp>
          <p:nvSpPr>
            <p:cNvPr id="33134" name="Rectangle 367">
              <a:extLst>
                <a:ext uri="{FF2B5EF4-FFF2-40B4-BE49-F238E27FC236}">
                  <a16:creationId xmlns:a16="http://schemas.microsoft.com/office/drawing/2014/main" id="{372C08E0-D166-E96B-2742-69585FD894ED}"/>
                </a:ext>
              </a:extLst>
            </p:cNvPr>
            <p:cNvSpPr>
              <a:spLocks noChangeArrowheads="1"/>
            </p:cNvSpPr>
            <p:nvPr/>
          </p:nvSpPr>
          <p:spPr bwMode="auto">
            <a:xfrm>
              <a:off x="1533" y="1211"/>
              <a:ext cx="68"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dirty="0">
                  <a:solidFill>
                    <a:srgbClr val="000000"/>
                  </a:solidFill>
                </a:rPr>
                <a:t>(</a:t>
              </a:r>
              <a:endParaRPr lang="en-US" altLang="zh-CN" dirty="0"/>
            </a:p>
          </p:txBody>
        </p:sp>
        <p:sp>
          <p:nvSpPr>
            <p:cNvPr id="33135" name="Rectangle 368">
              <a:extLst>
                <a:ext uri="{FF2B5EF4-FFF2-40B4-BE49-F238E27FC236}">
                  <a16:creationId xmlns:a16="http://schemas.microsoft.com/office/drawing/2014/main" id="{A1028534-38E6-19D4-EBF9-EED83B792D89}"/>
                </a:ext>
              </a:extLst>
            </p:cNvPr>
            <p:cNvSpPr>
              <a:spLocks noChangeArrowheads="1"/>
            </p:cNvSpPr>
            <p:nvPr/>
          </p:nvSpPr>
          <p:spPr bwMode="auto">
            <a:xfrm>
              <a:off x="2694" y="1339"/>
              <a:ext cx="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a:solidFill>
                    <a:srgbClr val="000000"/>
                  </a:solidFill>
                </a:rPr>
                <a:t>2</a:t>
              </a:r>
              <a:endParaRPr lang="en-US" altLang="zh-CN"/>
            </a:p>
          </p:txBody>
        </p:sp>
        <p:sp>
          <p:nvSpPr>
            <p:cNvPr id="33136" name="Rectangle 369">
              <a:extLst>
                <a:ext uri="{FF2B5EF4-FFF2-40B4-BE49-F238E27FC236}">
                  <a16:creationId xmlns:a16="http://schemas.microsoft.com/office/drawing/2014/main" id="{2E0E7561-D10B-43FD-C33F-628D3F682251}"/>
                </a:ext>
              </a:extLst>
            </p:cNvPr>
            <p:cNvSpPr>
              <a:spLocks noChangeArrowheads="1"/>
            </p:cNvSpPr>
            <p:nvPr/>
          </p:nvSpPr>
          <p:spPr bwMode="auto">
            <a:xfrm>
              <a:off x="2362" y="1339"/>
              <a:ext cx="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a:solidFill>
                    <a:srgbClr val="000000"/>
                  </a:solidFill>
                </a:rPr>
                <a:t>2</a:t>
              </a:r>
              <a:endParaRPr lang="en-US" altLang="zh-CN"/>
            </a:p>
          </p:txBody>
        </p:sp>
        <p:sp>
          <p:nvSpPr>
            <p:cNvPr id="33137" name="Rectangle 370">
              <a:extLst>
                <a:ext uri="{FF2B5EF4-FFF2-40B4-BE49-F238E27FC236}">
                  <a16:creationId xmlns:a16="http://schemas.microsoft.com/office/drawing/2014/main" id="{5543649A-D605-C191-8E72-5F6CED2C68A2}"/>
                </a:ext>
              </a:extLst>
            </p:cNvPr>
            <p:cNvSpPr>
              <a:spLocks noChangeArrowheads="1"/>
            </p:cNvSpPr>
            <p:nvPr/>
          </p:nvSpPr>
          <p:spPr bwMode="auto">
            <a:xfrm>
              <a:off x="2037" y="1339"/>
              <a:ext cx="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a:solidFill>
                    <a:srgbClr val="000000"/>
                  </a:solidFill>
                </a:rPr>
                <a:t>1</a:t>
              </a:r>
              <a:endParaRPr lang="en-US" altLang="zh-CN"/>
            </a:p>
          </p:txBody>
        </p:sp>
        <p:sp>
          <p:nvSpPr>
            <p:cNvPr id="33138" name="Rectangle 371">
              <a:extLst>
                <a:ext uri="{FF2B5EF4-FFF2-40B4-BE49-F238E27FC236}">
                  <a16:creationId xmlns:a16="http://schemas.microsoft.com/office/drawing/2014/main" id="{B90F9DA0-0F9E-A8EE-7E34-56C27FCC9B61}"/>
                </a:ext>
              </a:extLst>
            </p:cNvPr>
            <p:cNvSpPr>
              <a:spLocks noChangeArrowheads="1"/>
            </p:cNvSpPr>
            <p:nvPr/>
          </p:nvSpPr>
          <p:spPr bwMode="auto">
            <a:xfrm>
              <a:off x="1728" y="1339"/>
              <a:ext cx="7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a:solidFill>
                    <a:srgbClr val="000000"/>
                  </a:solidFill>
                </a:rPr>
                <a:t>1</a:t>
              </a:r>
              <a:endParaRPr lang="en-US" altLang="zh-CN"/>
            </a:p>
          </p:txBody>
        </p:sp>
        <p:sp>
          <p:nvSpPr>
            <p:cNvPr id="33139" name="Rectangle 372">
              <a:extLst>
                <a:ext uri="{FF2B5EF4-FFF2-40B4-BE49-F238E27FC236}">
                  <a16:creationId xmlns:a16="http://schemas.microsoft.com/office/drawing/2014/main" id="{059115B8-0A14-F964-A0AF-878929FC5D01}"/>
                </a:ext>
              </a:extLst>
            </p:cNvPr>
            <p:cNvSpPr>
              <a:spLocks noChangeArrowheads="1"/>
            </p:cNvSpPr>
            <p:nvPr/>
          </p:nvSpPr>
          <p:spPr bwMode="auto">
            <a:xfrm>
              <a:off x="3812" y="1339"/>
              <a:ext cx="9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i="1">
                  <a:solidFill>
                    <a:srgbClr val="000000"/>
                  </a:solidFill>
                </a:rPr>
                <a:t>N</a:t>
              </a:r>
              <a:endParaRPr lang="en-US" altLang="zh-CN"/>
            </a:p>
          </p:txBody>
        </p:sp>
        <p:sp>
          <p:nvSpPr>
            <p:cNvPr id="33140" name="Rectangle 373">
              <a:extLst>
                <a:ext uri="{FF2B5EF4-FFF2-40B4-BE49-F238E27FC236}">
                  <a16:creationId xmlns:a16="http://schemas.microsoft.com/office/drawing/2014/main" id="{A21D43FC-6161-1C0D-02F1-DE7C31332BB4}"/>
                </a:ext>
              </a:extLst>
            </p:cNvPr>
            <p:cNvSpPr>
              <a:spLocks noChangeArrowheads="1"/>
            </p:cNvSpPr>
            <p:nvPr/>
          </p:nvSpPr>
          <p:spPr bwMode="auto">
            <a:xfrm>
              <a:off x="3390" y="1339"/>
              <a:ext cx="9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0" i="1">
                  <a:solidFill>
                    <a:srgbClr val="000000"/>
                  </a:solidFill>
                </a:rPr>
                <a:t>N</a:t>
              </a:r>
              <a:endParaRPr lang="en-US" altLang="zh-CN"/>
            </a:p>
          </p:txBody>
        </p:sp>
        <p:sp>
          <p:nvSpPr>
            <p:cNvPr id="33141" name="Rectangle 374">
              <a:extLst>
                <a:ext uri="{FF2B5EF4-FFF2-40B4-BE49-F238E27FC236}">
                  <a16:creationId xmlns:a16="http://schemas.microsoft.com/office/drawing/2014/main" id="{FC3D0743-73E8-5388-4929-4FFA29DBACF5}"/>
                </a:ext>
              </a:extLst>
            </p:cNvPr>
            <p:cNvSpPr>
              <a:spLocks noChangeArrowheads="1"/>
            </p:cNvSpPr>
            <p:nvPr/>
          </p:nvSpPr>
          <p:spPr bwMode="auto">
            <a:xfrm>
              <a:off x="3654" y="1211"/>
              <a:ext cx="9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v</a:t>
              </a:r>
              <a:endParaRPr lang="en-US" altLang="zh-CN"/>
            </a:p>
          </p:txBody>
        </p:sp>
        <p:sp>
          <p:nvSpPr>
            <p:cNvPr id="33142" name="Rectangle 375">
              <a:extLst>
                <a:ext uri="{FF2B5EF4-FFF2-40B4-BE49-F238E27FC236}">
                  <a16:creationId xmlns:a16="http://schemas.microsoft.com/office/drawing/2014/main" id="{C6152520-A955-5A3B-B2F3-D069CC59A96E}"/>
                </a:ext>
              </a:extLst>
            </p:cNvPr>
            <p:cNvSpPr>
              <a:spLocks noChangeArrowheads="1"/>
            </p:cNvSpPr>
            <p:nvPr/>
          </p:nvSpPr>
          <p:spPr bwMode="auto">
            <a:xfrm>
              <a:off x="3278" y="1211"/>
              <a:ext cx="7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r</a:t>
              </a:r>
              <a:endParaRPr lang="en-US" altLang="zh-CN"/>
            </a:p>
          </p:txBody>
        </p:sp>
        <p:sp>
          <p:nvSpPr>
            <p:cNvPr id="33143" name="Rectangle 376">
              <a:extLst>
                <a:ext uri="{FF2B5EF4-FFF2-40B4-BE49-F238E27FC236}">
                  <a16:creationId xmlns:a16="http://schemas.microsoft.com/office/drawing/2014/main" id="{6B2EB94B-732A-AC14-12D0-DBAAC2F41C4E}"/>
                </a:ext>
              </a:extLst>
            </p:cNvPr>
            <p:cNvSpPr>
              <a:spLocks noChangeArrowheads="1"/>
            </p:cNvSpPr>
            <p:nvPr/>
          </p:nvSpPr>
          <p:spPr bwMode="auto">
            <a:xfrm>
              <a:off x="2547" y="1211"/>
              <a:ext cx="9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v</a:t>
              </a:r>
              <a:endParaRPr lang="en-US" altLang="zh-CN"/>
            </a:p>
          </p:txBody>
        </p:sp>
        <p:sp>
          <p:nvSpPr>
            <p:cNvPr id="33144" name="Rectangle 377">
              <a:extLst>
                <a:ext uri="{FF2B5EF4-FFF2-40B4-BE49-F238E27FC236}">
                  <a16:creationId xmlns:a16="http://schemas.microsoft.com/office/drawing/2014/main" id="{0FDA2AB4-9744-D3A7-27F6-C5FDEE554D43}"/>
                </a:ext>
              </a:extLst>
            </p:cNvPr>
            <p:cNvSpPr>
              <a:spLocks noChangeArrowheads="1"/>
            </p:cNvSpPr>
            <p:nvPr/>
          </p:nvSpPr>
          <p:spPr bwMode="auto">
            <a:xfrm>
              <a:off x="2284" y="1211"/>
              <a:ext cx="7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r</a:t>
              </a:r>
              <a:endParaRPr lang="en-US" altLang="zh-CN"/>
            </a:p>
          </p:txBody>
        </p:sp>
        <p:sp>
          <p:nvSpPr>
            <p:cNvPr id="33145" name="Rectangle 378">
              <a:extLst>
                <a:ext uri="{FF2B5EF4-FFF2-40B4-BE49-F238E27FC236}">
                  <a16:creationId xmlns:a16="http://schemas.microsoft.com/office/drawing/2014/main" id="{6920DF9D-1BAA-A0DD-A427-57B7A53F61E1}"/>
                </a:ext>
              </a:extLst>
            </p:cNvPr>
            <p:cNvSpPr>
              <a:spLocks noChangeArrowheads="1"/>
            </p:cNvSpPr>
            <p:nvPr/>
          </p:nvSpPr>
          <p:spPr bwMode="auto">
            <a:xfrm>
              <a:off x="1914" y="1211"/>
              <a:ext cx="91"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v</a:t>
              </a:r>
              <a:endParaRPr lang="en-US" altLang="zh-CN"/>
            </a:p>
          </p:txBody>
        </p:sp>
        <p:sp>
          <p:nvSpPr>
            <p:cNvPr id="33146" name="Rectangle 379">
              <a:extLst>
                <a:ext uri="{FF2B5EF4-FFF2-40B4-BE49-F238E27FC236}">
                  <a16:creationId xmlns:a16="http://schemas.microsoft.com/office/drawing/2014/main" id="{EB601349-2021-5FE2-75D1-1EA5AB4FE484}"/>
                </a:ext>
              </a:extLst>
            </p:cNvPr>
            <p:cNvSpPr>
              <a:spLocks noChangeArrowheads="1"/>
            </p:cNvSpPr>
            <p:nvPr/>
          </p:nvSpPr>
          <p:spPr bwMode="auto">
            <a:xfrm>
              <a:off x="1651" y="1211"/>
              <a:ext cx="7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i="1">
                  <a:solidFill>
                    <a:srgbClr val="000000"/>
                  </a:solidFill>
                </a:rPr>
                <a:t>r</a:t>
              </a:r>
              <a:endParaRPr lang="en-US" altLang="zh-CN"/>
            </a:p>
          </p:txBody>
        </p:sp>
        <p:sp>
          <p:nvSpPr>
            <p:cNvPr id="33147" name="Rectangle 380">
              <a:extLst>
                <a:ext uri="{FF2B5EF4-FFF2-40B4-BE49-F238E27FC236}">
                  <a16:creationId xmlns:a16="http://schemas.microsoft.com/office/drawing/2014/main" id="{67626F5B-9474-287C-5B73-452FA7E17B4E}"/>
                </a:ext>
              </a:extLst>
            </p:cNvPr>
            <p:cNvSpPr>
              <a:spLocks noChangeArrowheads="1"/>
            </p:cNvSpPr>
            <p:nvPr/>
          </p:nvSpPr>
          <p:spPr bwMode="auto">
            <a:xfrm>
              <a:off x="3680"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dirty="0">
                  <a:solidFill>
                    <a:srgbClr val="000000"/>
                  </a:solidFill>
                  <a:latin typeface="MT Extra" panose="05050102010205020202" pitchFamily="18" charset="2"/>
                </a:rPr>
                <a:t>r</a:t>
              </a:r>
              <a:endParaRPr lang="en-US" altLang="zh-CN" dirty="0"/>
            </a:p>
          </p:txBody>
        </p:sp>
        <p:sp>
          <p:nvSpPr>
            <p:cNvPr id="33148" name="Rectangle 381">
              <a:extLst>
                <a:ext uri="{FF2B5EF4-FFF2-40B4-BE49-F238E27FC236}">
                  <a16:creationId xmlns:a16="http://schemas.microsoft.com/office/drawing/2014/main" id="{E33FC978-136A-40FB-D195-3A72A2D2B3D7}"/>
                </a:ext>
              </a:extLst>
            </p:cNvPr>
            <p:cNvSpPr>
              <a:spLocks noChangeArrowheads="1"/>
            </p:cNvSpPr>
            <p:nvPr/>
          </p:nvSpPr>
          <p:spPr bwMode="auto">
            <a:xfrm>
              <a:off x="3299"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latin typeface="MT Extra" panose="05050102010205020202" pitchFamily="18" charset="2"/>
                </a:rPr>
                <a:t>r</a:t>
              </a:r>
              <a:endParaRPr lang="en-US" altLang="zh-CN"/>
            </a:p>
          </p:txBody>
        </p:sp>
        <p:sp>
          <p:nvSpPr>
            <p:cNvPr id="33149" name="Rectangle 382">
              <a:extLst>
                <a:ext uri="{FF2B5EF4-FFF2-40B4-BE49-F238E27FC236}">
                  <a16:creationId xmlns:a16="http://schemas.microsoft.com/office/drawing/2014/main" id="{5B7F117E-FCC5-727A-5975-015A30C939DF}"/>
                </a:ext>
              </a:extLst>
            </p:cNvPr>
            <p:cNvSpPr>
              <a:spLocks noChangeArrowheads="1"/>
            </p:cNvSpPr>
            <p:nvPr/>
          </p:nvSpPr>
          <p:spPr bwMode="auto">
            <a:xfrm>
              <a:off x="2928" y="1233"/>
              <a:ext cx="205"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latin typeface="MT Extra" panose="05050102010205020202" pitchFamily="18" charset="2"/>
                </a:rPr>
                <a:t>L</a:t>
              </a:r>
              <a:endParaRPr lang="en-US" altLang="zh-CN"/>
            </a:p>
          </p:txBody>
        </p:sp>
        <p:sp>
          <p:nvSpPr>
            <p:cNvPr id="33150" name="Rectangle 383">
              <a:extLst>
                <a:ext uri="{FF2B5EF4-FFF2-40B4-BE49-F238E27FC236}">
                  <a16:creationId xmlns:a16="http://schemas.microsoft.com/office/drawing/2014/main" id="{E4D2EC1B-53E2-FD34-7AC7-CB6F7F279378}"/>
                </a:ext>
              </a:extLst>
            </p:cNvPr>
            <p:cNvSpPr>
              <a:spLocks noChangeArrowheads="1"/>
            </p:cNvSpPr>
            <p:nvPr/>
          </p:nvSpPr>
          <p:spPr bwMode="auto">
            <a:xfrm>
              <a:off x="2573"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dirty="0">
                  <a:solidFill>
                    <a:srgbClr val="000000"/>
                  </a:solidFill>
                  <a:latin typeface="MT Extra" panose="05050102010205020202" pitchFamily="18" charset="2"/>
                </a:rPr>
                <a:t>r</a:t>
              </a:r>
              <a:endParaRPr lang="en-US" altLang="zh-CN" dirty="0"/>
            </a:p>
          </p:txBody>
        </p:sp>
        <p:sp>
          <p:nvSpPr>
            <p:cNvPr id="33151" name="Rectangle 384">
              <a:extLst>
                <a:ext uri="{FF2B5EF4-FFF2-40B4-BE49-F238E27FC236}">
                  <a16:creationId xmlns:a16="http://schemas.microsoft.com/office/drawing/2014/main" id="{B8B6CA02-1BE2-53E7-A8FD-B2C1C63F38E9}"/>
                </a:ext>
              </a:extLst>
            </p:cNvPr>
            <p:cNvSpPr>
              <a:spLocks noChangeArrowheads="1"/>
            </p:cNvSpPr>
            <p:nvPr/>
          </p:nvSpPr>
          <p:spPr bwMode="auto">
            <a:xfrm>
              <a:off x="2306"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latin typeface="MT Extra" panose="05050102010205020202" pitchFamily="18" charset="2"/>
                </a:rPr>
                <a:t>r</a:t>
              </a:r>
              <a:endParaRPr lang="en-US" altLang="zh-CN"/>
            </a:p>
          </p:txBody>
        </p:sp>
        <p:sp>
          <p:nvSpPr>
            <p:cNvPr id="33152" name="Rectangle 385">
              <a:extLst>
                <a:ext uri="{FF2B5EF4-FFF2-40B4-BE49-F238E27FC236}">
                  <a16:creationId xmlns:a16="http://schemas.microsoft.com/office/drawing/2014/main" id="{F752B633-5AD3-E299-1CBF-4B3FBE8E6DC8}"/>
                </a:ext>
              </a:extLst>
            </p:cNvPr>
            <p:cNvSpPr>
              <a:spLocks noChangeArrowheads="1"/>
            </p:cNvSpPr>
            <p:nvPr/>
          </p:nvSpPr>
          <p:spPr bwMode="auto">
            <a:xfrm>
              <a:off x="1940"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latin typeface="MT Extra" panose="05050102010205020202" pitchFamily="18" charset="2"/>
                </a:rPr>
                <a:t>r</a:t>
              </a:r>
              <a:endParaRPr lang="en-US" altLang="zh-CN"/>
            </a:p>
          </p:txBody>
        </p:sp>
        <p:sp>
          <p:nvSpPr>
            <p:cNvPr id="33153" name="Rectangle 386">
              <a:extLst>
                <a:ext uri="{FF2B5EF4-FFF2-40B4-BE49-F238E27FC236}">
                  <a16:creationId xmlns:a16="http://schemas.microsoft.com/office/drawing/2014/main" id="{F101B1C9-4802-4529-40F2-4000696E613B}"/>
                </a:ext>
              </a:extLst>
            </p:cNvPr>
            <p:cNvSpPr>
              <a:spLocks noChangeArrowheads="1"/>
            </p:cNvSpPr>
            <p:nvPr/>
          </p:nvSpPr>
          <p:spPr bwMode="auto">
            <a:xfrm>
              <a:off x="1672" y="1083"/>
              <a:ext cx="84"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900" b="0">
                  <a:solidFill>
                    <a:srgbClr val="000000"/>
                  </a:solidFill>
                  <a:latin typeface="MT Extra" panose="05050102010205020202" pitchFamily="18" charset="2"/>
                </a:rPr>
                <a:t>r</a:t>
              </a:r>
              <a:endParaRPr lang="en-US" altLang="zh-CN"/>
            </a:p>
          </p:txBody>
        </p:sp>
      </p:grpSp>
      <p:grpSp>
        <p:nvGrpSpPr>
          <p:cNvPr id="6" name="Group 9">
            <a:extLst>
              <a:ext uri="{FF2B5EF4-FFF2-40B4-BE49-F238E27FC236}">
                <a16:creationId xmlns:a16="http://schemas.microsoft.com/office/drawing/2014/main" id="{D2D6AD42-0393-3976-B00E-56CA1799CEAC}"/>
              </a:ext>
            </a:extLst>
          </p:cNvPr>
          <p:cNvGrpSpPr>
            <a:grpSpLocks/>
          </p:cNvGrpSpPr>
          <p:nvPr/>
        </p:nvGrpSpPr>
        <p:grpSpPr bwMode="auto">
          <a:xfrm>
            <a:off x="4914347" y="1068388"/>
            <a:ext cx="3663950" cy="527050"/>
            <a:chOff x="2150" y="988"/>
            <a:chExt cx="1690" cy="332"/>
          </a:xfrm>
        </p:grpSpPr>
        <p:sp>
          <p:nvSpPr>
            <p:cNvPr id="33126" name="Text Box 10">
              <a:extLst>
                <a:ext uri="{FF2B5EF4-FFF2-40B4-BE49-F238E27FC236}">
                  <a16:creationId xmlns:a16="http://schemas.microsoft.com/office/drawing/2014/main" id="{67669BF2-1AB9-04BE-D690-55B9168D5250}"/>
                </a:ext>
              </a:extLst>
            </p:cNvPr>
            <p:cNvSpPr txBox="1">
              <a:spLocks noChangeArrowheads="1"/>
            </p:cNvSpPr>
            <p:nvPr/>
          </p:nvSpPr>
          <p:spPr bwMode="auto">
            <a:xfrm>
              <a:off x="2150" y="988"/>
              <a:ext cx="7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latin typeface="+mn-lt"/>
                  <a:ea typeface="+mn-ea"/>
                </a:rPr>
                <a:t>宏观态</a:t>
              </a:r>
            </a:p>
          </p:txBody>
        </p:sp>
        <p:graphicFrame>
          <p:nvGraphicFramePr>
            <p:cNvPr id="32770" name="Object 11">
              <a:extLst>
                <a:ext uri="{FF2B5EF4-FFF2-40B4-BE49-F238E27FC236}">
                  <a16:creationId xmlns:a16="http://schemas.microsoft.com/office/drawing/2014/main" id="{9BC5F23C-3F4E-D236-5A99-6BA1917088E3}"/>
                </a:ext>
              </a:extLst>
            </p:cNvPr>
            <p:cNvGraphicFramePr>
              <a:graphicFrameLocks noChangeAspect="1"/>
            </p:cNvGraphicFramePr>
            <p:nvPr/>
          </p:nvGraphicFramePr>
          <p:xfrm>
            <a:off x="2976" y="1008"/>
            <a:ext cx="864" cy="312"/>
          </p:xfrm>
          <a:graphic>
            <a:graphicData uri="http://schemas.openxmlformats.org/presentationml/2006/ole">
              <mc:AlternateContent xmlns:mc="http://schemas.openxmlformats.org/markup-compatibility/2006">
                <mc:Choice xmlns:v="urn:schemas-microsoft-com:vml" Requires="v">
                  <p:oleObj spid="_x0000_s2051" name="公式" r:id="rId3" imgW="558720" imgH="203040" progId="">
                    <p:embed/>
                  </p:oleObj>
                </mc:Choice>
                <mc:Fallback>
                  <p:oleObj name="公式" r:id="rId3" imgW="558720" imgH="203040" progId="">
                    <p:embed/>
                    <p:pic>
                      <p:nvPicPr>
                        <p:cNvPr id="32770" name="Object 11">
                          <a:extLst>
                            <a:ext uri="{FF2B5EF4-FFF2-40B4-BE49-F238E27FC236}">
                              <a16:creationId xmlns:a16="http://schemas.microsoft.com/office/drawing/2014/main" id="{9BC5F23C-3F4E-D236-5A99-6BA1917088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6" y="1008"/>
                          <a:ext cx="864"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pic>
        <p:nvPicPr>
          <p:cNvPr id="8" name="Picture 42" descr="分子热运动">
            <a:extLst>
              <a:ext uri="{FF2B5EF4-FFF2-40B4-BE49-F238E27FC236}">
                <a16:creationId xmlns:a16="http://schemas.microsoft.com/office/drawing/2014/main" id="{FA6F751C-7D35-2B6F-A938-219334EC62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5562" y="1893434"/>
            <a:ext cx="3884060" cy="3884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13">
            <a:hlinkClick r:id="" action="ppaction://noaction"/>
            <a:extLst>
              <a:ext uri="{FF2B5EF4-FFF2-40B4-BE49-F238E27FC236}">
                <a16:creationId xmlns:a16="http://schemas.microsoft.com/office/drawing/2014/main" id="{61A0CFE0-6AAF-0EF4-6B48-319752A05491}"/>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热力学概率</a:t>
            </a:r>
          </a:p>
        </p:txBody>
      </p:sp>
      <p:sp>
        <p:nvSpPr>
          <p:cNvPr id="2" name="Text Box 4">
            <a:extLst>
              <a:ext uri="{FF2B5EF4-FFF2-40B4-BE49-F238E27FC236}">
                <a16:creationId xmlns:a16="http://schemas.microsoft.com/office/drawing/2014/main" id="{29B54665-0B60-238C-E139-D0F0A6E20E8D}"/>
              </a:ext>
            </a:extLst>
          </p:cNvPr>
          <p:cNvSpPr txBox="1">
            <a:spLocks noChangeArrowheads="1"/>
          </p:cNvSpPr>
          <p:nvPr/>
        </p:nvSpPr>
        <p:spPr bwMode="auto">
          <a:xfrm>
            <a:off x="5040805" y="3066655"/>
            <a:ext cx="7074984" cy="1126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000" b="0" dirty="0">
                <a:latin typeface="楷体" panose="02010609060101010101" pitchFamily="49" charset="-122"/>
                <a:ea typeface="楷体" panose="02010609060101010101" pitchFamily="49" charset="-122"/>
              </a:rPr>
              <a:t>系统内包含的分子数越多，和一个宏观状态对应的微观状态数就越多。</a:t>
            </a:r>
          </a:p>
        </p:txBody>
      </p:sp>
      <p:sp>
        <p:nvSpPr>
          <p:cNvPr id="4" name="Rectangle 4">
            <a:extLst>
              <a:ext uri="{FF2B5EF4-FFF2-40B4-BE49-F238E27FC236}">
                <a16:creationId xmlns:a16="http://schemas.microsoft.com/office/drawing/2014/main" id="{EBC377D8-C61A-3918-4D38-547C76992A15}"/>
              </a:ext>
            </a:extLst>
          </p:cNvPr>
          <p:cNvSpPr>
            <a:spLocks noChangeArrowheads="1"/>
          </p:cNvSpPr>
          <p:nvPr/>
        </p:nvSpPr>
        <p:spPr bwMode="auto">
          <a:xfrm>
            <a:off x="5618329" y="4765209"/>
            <a:ext cx="581589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0" dirty="0">
                <a:solidFill>
                  <a:srgbClr val="FF0000"/>
                </a:solidFill>
                <a:latin typeface="华文楷体" panose="02010600040101010101" pitchFamily="2" charset="-122"/>
                <a:ea typeface="华文楷体" panose="02010600040101010101" pitchFamily="2" charset="-122"/>
              </a:rPr>
              <a:t>宏观态所包含的微观态数目</a:t>
            </a:r>
          </a:p>
          <a:p>
            <a:pPr eaLnBrk="1" hangingPunct="1"/>
            <a:r>
              <a:rPr lang="zh-CN" altLang="en-US" sz="3200" b="0" dirty="0">
                <a:solidFill>
                  <a:srgbClr val="FF0000"/>
                </a:solidFill>
                <a:latin typeface="华文楷体" panose="02010600040101010101" pitchFamily="2" charset="-122"/>
                <a:ea typeface="华文楷体" panose="02010600040101010101" pitchFamily="2" charset="-122"/>
              </a:rPr>
              <a:t>称为该宏观态的热力学概率。</a:t>
            </a:r>
          </a:p>
        </p:txBody>
      </p:sp>
    </p:spTree>
    <p:extLst>
      <p:ext uri="{BB962C8B-B14F-4D97-AF65-F5344CB8AC3E}">
        <p14:creationId xmlns:p14="http://schemas.microsoft.com/office/powerpoint/2010/main" val="3151571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4" grpId="0" autoUpdateAnimBg="0"/>
      <p:bldP spid="4"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706354C6-AEFB-E0B2-9ACF-052DB3E96260}"/>
              </a:ext>
            </a:extLst>
          </p:cNvPr>
          <p:cNvGrpSpPr/>
          <p:nvPr/>
        </p:nvGrpSpPr>
        <p:grpSpPr>
          <a:xfrm>
            <a:off x="3087233" y="5589890"/>
            <a:ext cx="2865438" cy="623358"/>
            <a:chOff x="2381251" y="5626100"/>
            <a:chExt cx="2865438" cy="623358"/>
          </a:xfrm>
        </p:grpSpPr>
        <p:graphicFrame>
          <p:nvGraphicFramePr>
            <p:cNvPr id="36" name="Object 38">
              <a:extLst>
                <a:ext uri="{FF2B5EF4-FFF2-40B4-BE49-F238E27FC236}">
                  <a16:creationId xmlns:a16="http://schemas.microsoft.com/office/drawing/2014/main" id="{5EE6B58D-9DBF-5143-4AB2-08438BCE873F}"/>
                </a:ext>
              </a:extLst>
            </p:cNvPr>
            <p:cNvGraphicFramePr/>
            <p:nvPr/>
          </p:nvGraphicFramePr>
          <p:xfrm>
            <a:off x="2381251" y="5716058"/>
            <a:ext cx="2789238" cy="533400"/>
          </p:xfrm>
          <a:graphic>
            <a:graphicData uri="http://schemas.openxmlformats.org/presentationml/2006/ole">
              <mc:AlternateContent xmlns:mc="http://schemas.openxmlformats.org/markup-compatibility/2006">
                <mc:Choice xmlns:v="urn:schemas-microsoft-com:vml" Requires="v">
                  <p:oleObj spid="_x0000_s3078" r:id="rId3" imgW="1040130" imgH="215900" progId="Equation.3">
                    <p:embed/>
                  </p:oleObj>
                </mc:Choice>
                <mc:Fallback>
                  <p:oleObj r:id="rId3" imgW="1040130" imgH="215900" progId="Equation.3">
                    <p:embed/>
                    <p:pic>
                      <p:nvPicPr>
                        <p:cNvPr id="36" name="Object 38">
                          <a:extLst>
                            <a:ext uri="{FF2B5EF4-FFF2-40B4-BE49-F238E27FC236}">
                              <a16:creationId xmlns:a16="http://schemas.microsoft.com/office/drawing/2014/main" id="{5EE6B58D-9DBF-5143-4AB2-08438BCE873F}"/>
                            </a:ext>
                          </a:extLst>
                        </p:cNvPr>
                        <p:cNvPicPr/>
                        <p:nvPr/>
                      </p:nvPicPr>
                      <p:blipFill>
                        <a:blip r:embed="rId4"/>
                        <a:stretch>
                          <a:fillRect/>
                        </a:stretch>
                      </p:blipFill>
                      <p:spPr>
                        <a:xfrm>
                          <a:off x="2381251" y="5716058"/>
                          <a:ext cx="2789238" cy="533400"/>
                        </a:xfrm>
                        <a:prstGeom prst="rect">
                          <a:avLst/>
                        </a:prstGeom>
                        <a:noFill/>
                        <a:ln w="38100">
                          <a:noFill/>
                          <a:miter/>
                        </a:ln>
                      </p:spPr>
                    </p:pic>
                  </p:oleObj>
                </mc:Fallback>
              </mc:AlternateContent>
            </a:graphicData>
          </a:graphic>
        </p:graphicFrame>
        <p:sp>
          <p:nvSpPr>
            <p:cNvPr id="39" name="矩形 38">
              <a:extLst>
                <a:ext uri="{FF2B5EF4-FFF2-40B4-BE49-F238E27FC236}">
                  <a16:creationId xmlns:a16="http://schemas.microsoft.com/office/drawing/2014/main" id="{B1B15C34-857B-2859-C1EC-DF63AD6A10B3}"/>
                </a:ext>
              </a:extLst>
            </p:cNvPr>
            <p:cNvSpPr/>
            <p:nvPr/>
          </p:nvSpPr>
          <p:spPr>
            <a:xfrm>
              <a:off x="3415847" y="5626100"/>
              <a:ext cx="1830842" cy="5249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894" name="Group 10"/>
          <p:cNvGrpSpPr/>
          <p:nvPr/>
        </p:nvGrpSpPr>
        <p:grpSpPr>
          <a:xfrm>
            <a:off x="2589213" y="1231900"/>
            <a:ext cx="2133600" cy="1676400"/>
            <a:chOff x="1152" y="768"/>
            <a:chExt cx="1344" cy="1056"/>
          </a:xfrm>
        </p:grpSpPr>
        <p:graphicFrame>
          <p:nvGraphicFramePr>
            <p:cNvPr id="37892" name="Object 11"/>
            <p:cNvGraphicFramePr/>
            <p:nvPr/>
          </p:nvGraphicFramePr>
          <p:xfrm>
            <a:off x="1296" y="1506"/>
            <a:ext cx="1066" cy="318"/>
          </p:xfrm>
          <a:graphic>
            <a:graphicData uri="http://schemas.openxmlformats.org/presentationml/2006/ole">
              <mc:AlternateContent xmlns:mc="http://schemas.openxmlformats.org/markup-compatibility/2006">
                <mc:Choice xmlns:v="urn:schemas-microsoft-com:vml" Requires="v">
                  <p:oleObj spid="_x0000_s3079" r:id="rId5" imgW="1180465" imgH="368300" progId="Equation.3">
                    <p:embed/>
                  </p:oleObj>
                </mc:Choice>
                <mc:Fallback>
                  <p:oleObj r:id="rId5" imgW="1180465" imgH="368300" progId="Equation.3">
                    <p:embed/>
                    <p:pic>
                      <p:nvPicPr>
                        <p:cNvPr id="37892" name="Object 11"/>
                        <p:cNvPicPr/>
                        <p:nvPr/>
                      </p:nvPicPr>
                      <p:blipFill>
                        <a:blip r:embed="rId6"/>
                        <a:stretch>
                          <a:fillRect/>
                        </a:stretch>
                      </p:blipFill>
                      <p:spPr>
                        <a:xfrm>
                          <a:off x="1296" y="1506"/>
                          <a:ext cx="1066" cy="318"/>
                        </a:xfrm>
                        <a:prstGeom prst="rect">
                          <a:avLst/>
                        </a:prstGeom>
                        <a:noFill/>
                        <a:ln w="38100">
                          <a:noFill/>
                          <a:miter/>
                        </a:ln>
                      </p:spPr>
                    </p:pic>
                  </p:oleObj>
                </mc:Fallback>
              </mc:AlternateContent>
            </a:graphicData>
          </a:graphic>
        </p:graphicFrame>
        <p:grpSp>
          <p:nvGrpSpPr>
            <p:cNvPr id="37903" name="Group 12"/>
            <p:cNvGrpSpPr/>
            <p:nvPr/>
          </p:nvGrpSpPr>
          <p:grpSpPr>
            <a:xfrm>
              <a:off x="1152" y="856"/>
              <a:ext cx="1344" cy="663"/>
              <a:chOff x="1632" y="816"/>
              <a:chExt cx="1488" cy="720"/>
            </a:xfrm>
          </p:grpSpPr>
          <p:sp>
            <p:nvSpPr>
              <p:cNvPr id="37907" name="AutoShape 13"/>
              <p:cNvSpPr/>
              <p:nvPr/>
            </p:nvSpPr>
            <p:spPr>
              <a:xfrm>
                <a:off x="1632" y="816"/>
                <a:ext cx="1488" cy="720"/>
              </a:xfrm>
              <a:prstGeom prst="bevel">
                <a:avLst>
                  <a:gd name="adj" fmla="val 12500"/>
                </a:avLst>
              </a:prstGeom>
              <a:solidFill>
                <a:srgbClr val="996633"/>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37908" name="Rectangle 14"/>
              <p:cNvSpPr/>
              <p:nvPr/>
            </p:nvSpPr>
            <p:spPr>
              <a:xfrm>
                <a:off x="1728" y="912"/>
                <a:ext cx="1296" cy="52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sp>
          <p:nvSpPr>
            <p:cNvPr id="37904" name="Rectangle 15" descr="20%"/>
            <p:cNvSpPr/>
            <p:nvPr/>
          </p:nvSpPr>
          <p:spPr>
            <a:xfrm>
              <a:off x="1239" y="945"/>
              <a:ext cx="563" cy="486"/>
            </a:xfrm>
            <a:prstGeom prst="rect">
              <a:avLst/>
            </a:prstGeom>
            <a:pattFill prst="pct20">
              <a:fgClr>
                <a:schemeClr val="tx1"/>
              </a:fgClr>
              <a:bgClr>
                <a:srgbClr val="FFFFFF"/>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37905" name="Line 16"/>
            <p:cNvSpPr/>
            <p:nvPr/>
          </p:nvSpPr>
          <p:spPr>
            <a:xfrm>
              <a:off x="1802" y="768"/>
              <a:ext cx="0" cy="663"/>
            </a:xfrm>
            <a:prstGeom prst="line">
              <a:avLst/>
            </a:prstGeom>
            <a:ln w="57150" cap="flat" cmpd="sng">
              <a:solidFill>
                <a:srgbClr val="996633"/>
              </a:solidFill>
              <a:prstDash val="solid"/>
              <a:headEnd type="none" w="med" len="med"/>
              <a:tailEnd type="none" w="med" len="med"/>
            </a:ln>
          </p:spPr>
        </p:sp>
        <p:sp>
          <p:nvSpPr>
            <p:cNvPr id="37906" name="Line 17"/>
            <p:cNvSpPr/>
            <p:nvPr/>
          </p:nvSpPr>
          <p:spPr>
            <a:xfrm>
              <a:off x="1716" y="768"/>
              <a:ext cx="173" cy="0"/>
            </a:xfrm>
            <a:prstGeom prst="line">
              <a:avLst/>
            </a:prstGeom>
            <a:ln w="57150" cap="flat" cmpd="sng">
              <a:solidFill>
                <a:srgbClr val="996633"/>
              </a:solidFill>
              <a:prstDash val="solid"/>
              <a:headEnd type="none" w="med" len="med"/>
              <a:tailEnd type="none" w="med" len="med"/>
            </a:ln>
          </p:spPr>
        </p:sp>
      </p:grpSp>
      <p:grpSp>
        <p:nvGrpSpPr>
          <p:cNvPr id="37895" name="Group 18"/>
          <p:cNvGrpSpPr/>
          <p:nvPr/>
        </p:nvGrpSpPr>
        <p:grpSpPr>
          <a:xfrm>
            <a:off x="5114925" y="1352550"/>
            <a:ext cx="3048000" cy="1524000"/>
            <a:chOff x="2592" y="864"/>
            <a:chExt cx="1920" cy="960"/>
          </a:xfrm>
        </p:grpSpPr>
        <p:graphicFrame>
          <p:nvGraphicFramePr>
            <p:cNvPr id="37891" name="Object 19"/>
            <p:cNvGraphicFramePr/>
            <p:nvPr/>
          </p:nvGraphicFramePr>
          <p:xfrm>
            <a:off x="3360" y="1515"/>
            <a:ext cx="1057" cy="309"/>
          </p:xfrm>
          <a:graphic>
            <a:graphicData uri="http://schemas.openxmlformats.org/presentationml/2006/ole">
              <mc:AlternateContent xmlns:mc="http://schemas.openxmlformats.org/markup-compatibility/2006">
                <mc:Choice xmlns:v="urn:schemas-microsoft-com:vml" Requires="v">
                  <p:oleObj spid="_x0000_s3080" r:id="rId7" imgW="1244600" imgH="368300" progId="Equation.3">
                    <p:embed/>
                  </p:oleObj>
                </mc:Choice>
                <mc:Fallback>
                  <p:oleObj r:id="rId7" imgW="1244600" imgH="368300" progId="Equation.3">
                    <p:embed/>
                    <p:pic>
                      <p:nvPicPr>
                        <p:cNvPr id="37891" name="Object 19"/>
                        <p:cNvPicPr/>
                        <p:nvPr/>
                      </p:nvPicPr>
                      <p:blipFill>
                        <a:blip r:embed="rId8"/>
                        <a:stretch>
                          <a:fillRect/>
                        </a:stretch>
                      </p:blipFill>
                      <p:spPr>
                        <a:xfrm>
                          <a:off x="3360" y="1515"/>
                          <a:ext cx="1057" cy="309"/>
                        </a:xfrm>
                        <a:prstGeom prst="rect">
                          <a:avLst/>
                        </a:prstGeom>
                        <a:noFill/>
                        <a:ln w="38100">
                          <a:noFill/>
                          <a:miter/>
                        </a:ln>
                      </p:spPr>
                    </p:pic>
                  </p:oleObj>
                </mc:Fallback>
              </mc:AlternateContent>
            </a:graphicData>
          </a:graphic>
        </p:graphicFrame>
        <p:grpSp>
          <p:nvGrpSpPr>
            <p:cNvPr id="37898" name="Group 20"/>
            <p:cNvGrpSpPr/>
            <p:nvPr/>
          </p:nvGrpSpPr>
          <p:grpSpPr>
            <a:xfrm>
              <a:off x="2592" y="864"/>
              <a:ext cx="1920" cy="655"/>
              <a:chOff x="2496" y="864"/>
              <a:chExt cx="2160" cy="720"/>
            </a:xfrm>
          </p:grpSpPr>
          <p:sp>
            <p:nvSpPr>
              <p:cNvPr id="37899" name="AutoShape 21"/>
              <p:cNvSpPr/>
              <p:nvPr/>
            </p:nvSpPr>
            <p:spPr>
              <a:xfrm>
                <a:off x="2496" y="1104"/>
                <a:ext cx="576" cy="144"/>
              </a:xfrm>
              <a:prstGeom prst="rightArrow">
                <a:avLst>
                  <a:gd name="adj1" fmla="val 40277"/>
                  <a:gd name="adj2" fmla="val 131814"/>
                </a:avLst>
              </a:prstGeom>
              <a:gradFill rotWithShape="0">
                <a:gsLst>
                  <a:gs pos="0">
                    <a:srgbClr val="765E76"/>
                  </a:gs>
                  <a:gs pos="50000">
                    <a:srgbClr val="FFCCFF"/>
                  </a:gs>
                  <a:gs pos="100000">
                    <a:srgbClr val="765E76"/>
                  </a:gs>
                </a:gsLst>
                <a:lin ang="5400000" scaled="1"/>
                <a:tileRect/>
              </a:gradFill>
              <a:ln w="28575" cap="flat" cmpd="sng">
                <a:solidFill>
                  <a:srgbClr val="CC00CC"/>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nvGrpSpPr>
              <p:cNvPr id="37900" name="Group 22"/>
              <p:cNvGrpSpPr/>
              <p:nvPr/>
            </p:nvGrpSpPr>
            <p:grpSpPr>
              <a:xfrm>
                <a:off x="3168" y="864"/>
                <a:ext cx="1488" cy="720"/>
                <a:chOff x="2976" y="816"/>
                <a:chExt cx="1488" cy="720"/>
              </a:xfrm>
            </p:grpSpPr>
            <p:sp>
              <p:nvSpPr>
                <p:cNvPr id="37901" name="AutoShape 23"/>
                <p:cNvSpPr/>
                <p:nvPr/>
              </p:nvSpPr>
              <p:spPr>
                <a:xfrm>
                  <a:off x="2976" y="816"/>
                  <a:ext cx="1488" cy="720"/>
                </a:xfrm>
                <a:prstGeom prst="bevel">
                  <a:avLst>
                    <a:gd name="adj" fmla="val 12500"/>
                  </a:avLst>
                </a:prstGeom>
                <a:solidFill>
                  <a:srgbClr val="996633"/>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37902" name="Rectangle 24" descr="10%"/>
                <p:cNvSpPr/>
                <p:nvPr/>
              </p:nvSpPr>
              <p:spPr>
                <a:xfrm>
                  <a:off x="3072" y="912"/>
                  <a:ext cx="1296" cy="528"/>
                </a:xfrm>
                <a:prstGeom prst="rect">
                  <a:avLst/>
                </a:prstGeom>
                <a:pattFill prst="pct10">
                  <a:fgClr>
                    <a:schemeClr val="tx1"/>
                  </a:fgClr>
                  <a:bgClr>
                    <a:srgbClr val="FFFFFF"/>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grpSp>
      </p:grpSp>
      <p:sp>
        <p:nvSpPr>
          <p:cNvPr id="2" name="Text Box 13">
            <a:hlinkClick r:id="" action="ppaction://noaction"/>
            <a:extLst>
              <a:ext uri="{FF2B5EF4-FFF2-40B4-BE49-F238E27FC236}">
                <a16:creationId xmlns:a16="http://schemas.microsoft.com/office/drawing/2014/main" id="{533035D0-F307-9DBF-BC14-6B0A89FF05FC}"/>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热力学概率</a:t>
            </a:r>
          </a:p>
        </p:txBody>
      </p:sp>
      <p:sp>
        <p:nvSpPr>
          <p:cNvPr id="34" name="Rectangle 36">
            <a:extLst>
              <a:ext uri="{FF2B5EF4-FFF2-40B4-BE49-F238E27FC236}">
                <a16:creationId xmlns:a16="http://schemas.microsoft.com/office/drawing/2014/main" id="{90FE4B2F-085A-6434-2265-27DA02E6D215}"/>
              </a:ext>
            </a:extLst>
          </p:cNvPr>
          <p:cNvSpPr/>
          <p:nvPr/>
        </p:nvSpPr>
        <p:spPr>
          <a:xfrm>
            <a:off x="2345531" y="3060127"/>
            <a:ext cx="7164387" cy="645177"/>
          </a:xfrm>
          <a:prstGeom prst="rect">
            <a:avLst/>
          </a:prstGeom>
          <a:noFill/>
          <a:ln w="9525">
            <a:noFill/>
          </a:ln>
        </p:spPr>
        <p:txBody>
          <a:bodyPr>
            <a:spAutoFit/>
          </a:bodyPr>
          <a:lstStyle/>
          <a:p>
            <a:pPr>
              <a:lnSpc>
                <a:spcPct val="120000"/>
              </a:lnSpc>
            </a:pPr>
            <a:r>
              <a:rPr lang="zh-CN" altLang="en-US" sz="3200" dirty="0">
                <a:solidFill>
                  <a:srgbClr val="000000"/>
                </a:solidFill>
                <a:latin typeface="Arial" panose="020B0604020202020204" pitchFamily="34" charset="0"/>
              </a:rPr>
              <a:t>讨论</a:t>
            </a:r>
            <a:r>
              <a:rPr lang="en-US" altLang="zh-CN" sz="3200" dirty="0">
                <a:solidFill>
                  <a:srgbClr val="000000"/>
                </a:solidFill>
                <a:latin typeface="Arial" panose="020B0604020202020204" pitchFamily="34" charset="0"/>
              </a:rPr>
              <a:t>N</a:t>
            </a:r>
            <a:r>
              <a:rPr lang="zh-CN" altLang="en-US" sz="3200" dirty="0">
                <a:solidFill>
                  <a:srgbClr val="000000"/>
                </a:solidFill>
                <a:latin typeface="Arial" panose="020B0604020202020204" pitchFamily="34" charset="0"/>
              </a:rPr>
              <a:t>个粒子在空间的分布问题</a:t>
            </a:r>
            <a:endParaRPr lang="zh-CN" altLang="en-US" sz="3200" dirty="0">
              <a:solidFill>
                <a:srgbClr val="1C1C1C"/>
              </a:solidFill>
              <a:latin typeface="Arial" panose="020B0604020202020204" pitchFamily="34" charset="0"/>
            </a:endParaRPr>
          </a:p>
        </p:txBody>
      </p:sp>
      <p:grpSp>
        <p:nvGrpSpPr>
          <p:cNvPr id="38" name="组合 37">
            <a:extLst>
              <a:ext uri="{FF2B5EF4-FFF2-40B4-BE49-F238E27FC236}">
                <a16:creationId xmlns:a16="http://schemas.microsoft.com/office/drawing/2014/main" id="{D50C7FF1-8B0B-D3CE-70F7-56C1D257B4C0}"/>
              </a:ext>
            </a:extLst>
          </p:cNvPr>
          <p:cNvGrpSpPr/>
          <p:nvPr/>
        </p:nvGrpSpPr>
        <p:grpSpPr>
          <a:xfrm>
            <a:off x="3023733" y="4069184"/>
            <a:ext cx="2874963" cy="566739"/>
            <a:chOff x="2381250" y="4162424"/>
            <a:chExt cx="2874963" cy="566739"/>
          </a:xfrm>
        </p:grpSpPr>
        <p:graphicFrame>
          <p:nvGraphicFramePr>
            <p:cNvPr id="35" name="Object 37">
              <a:extLst>
                <a:ext uri="{FF2B5EF4-FFF2-40B4-BE49-F238E27FC236}">
                  <a16:creationId xmlns:a16="http://schemas.microsoft.com/office/drawing/2014/main" id="{9FBBB84A-4EDA-C71A-C7BC-7A82CE7EFB88}"/>
                </a:ext>
              </a:extLst>
            </p:cNvPr>
            <p:cNvGraphicFramePr/>
            <p:nvPr/>
          </p:nvGraphicFramePr>
          <p:xfrm>
            <a:off x="2381250" y="4162425"/>
            <a:ext cx="2874963" cy="566738"/>
          </p:xfrm>
          <a:graphic>
            <a:graphicData uri="http://schemas.openxmlformats.org/presentationml/2006/ole">
              <mc:AlternateContent xmlns:mc="http://schemas.openxmlformats.org/markup-compatibility/2006">
                <mc:Choice xmlns:v="urn:schemas-microsoft-com:vml" Requires="v">
                  <p:oleObj spid="_x0000_s3081" r:id="rId9" imgW="1002030" imgH="215900" progId="Equation.3">
                    <p:embed/>
                  </p:oleObj>
                </mc:Choice>
                <mc:Fallback>
                  <p:oleObj r:id="rId9" imgW="1002030" imgH="215900" progId="Equation.3">
                    <p:embed/>
                    <p:pic>
                      <p:nvPicPr>
                        <p:cNvPr id="35" name="Object 37">
                          <a:extLst>
                            <a:ext uri="{FF2B5EF4-FFF2-40B4-BE49-F238E27FC236}">
                              <a16:creationId xmlns:a16="http://schemas.microsoft.com/office/drawing/2014/main" id="{9FBBB84A-4EDA-C71A-C7BC-7A82CE7EFB88}"/>
                            </a:ext>
                          </a:extLst>
                        </p:cNvPr>
                        <p:cNvPicPr/>
                        <p:nvPr/>
                      </p:nvPicPr>
                      <p:blipFill>
                        <a:blip r:embed="rId10"/>
                        <a:stretch>
                          <a:fillRect/>
                        </a:stretch>
                      </p:blipFill>
                      <p:spPr>
                        <a:xfrm>
                          <a:off x="2381250" y="4162425"/>
                          <a:ext cx="2874963" cy="566738"/>
                        </a:xfrm>
                        <a:prstGeom prst="rect">
                          <a:avLst/>
                        </a:prstGeom>
                        <a:noFill/>
                        <a:ln w="38100">
                          <a:noFill/>
                          <a:miter/>
                        </a:ln>
                      </p:spPr>
                    </p:pic>
                  </p:oleObj>
                </mc:Fallback>
              </mc:AlternateContent>
            </a:graphicData>
          </a:graphic>
        </p:graphicFrame>
        <p:sp>
          <p:nvSpPr>
            <p:cNvPr id="37" name="矩形 36">
              <a:extLst>
                <a:ext uri="{FF2B5EF4-FFF2-40B4-BE49-F238E27FC236}">
                  <a16:creationId xmlns:a16="http://schemas.microsoft.com/office/drawing/2014/main" id="{595E53A4-5B18-EF08-AD45-D8A11324B902}"/>
                </a:ext>
              </a:extLst>
            </p:cNvPr>
            <p:cNvSpPr/>
            <p:nvPr/>
          </p:nvSpPr>
          <p:spPr>
            <a:xfrm>
              <a:off x="3425371" y="4162424"/>
              <a:ext cx="1830842" cy="5249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Group 2">
            <a:extLst>
              <a:ext uri="{FF2B5EF4-FFF2-40B4-BE49-F238E27FC236}">
                <a16:creationId xmlns:a16="http://schemas.microsoft.com/office/drawing/2014/main" id="{CB89DAE5-52EC-9681-1A02-1657E360BC25}"/>
              </a:ext>
            </a:extLst>
          </p:cNvPr>
          <p:cNvGrpSpPr/>
          <p:nvPr/>
        </p:nvGrpSpPr>
        <p:grpSpPr>
          <a:xfrm>
            <a:off x="5343071" y="3947961"/>
            <a:ext cx="3429000" cy="685800"/>
            <a:chOff x="3216" y="2592"/>
            <a:chExt cx="2160" cy="432"/>
          </a:xfrm>
        </p:grpSpPr>
        <p:grpSp>
          <p:nvGrpSpPr>
            <p:cNvPr id="4" name="Group 3">
              <a:extLst>
                <a:ext uri="{FF2B5EF4-FFF2-40B4-BE49-F238E27FC236}">
                  <a16:creationId xmlns:a16="http://schemas.microsoft.com/office/drawing/2014/main" id="{B9A32EBE-6081-2F30-C1C2-0F05FFB41CB3}"/>
                </a:ext>
              </a:extLst>
            </p:cNvPr>
            <p:cNvGrpSpPr/>
            <p:nvPr/>
          </p:nvGrpSpPr>
          <p:grpSpPr>
            <a:xfrm>
              <a:off x="4368" y="2592"/>
              <a:ext cx="1008" cy="432"/>
              <a:chOff x="1536" y="2736"/>
              <a:chExt cx="1008" cy="432"/>
            </a:xfrm>
          </p:grpSpPr>
          <p:sp>
            <p:nvSpPr>
              <p:cNvPr id="9" name="Rectangle 4">
                <a:extLst>
                  <a:ext uri="{FF2B5EF4-FFF2-40B4-BE49-F238E27FC236}">
                    <a16:creationId xmlns:a16="http://schemas.microsoft.com/office/drawing/2014/main" id="{752A863D-1632-FBAD-248E-0669C721FE38}"/>
                  </a:ext>
                </a:extLst>
              </p:cNvPr>
              <p:cNvSpPr/>
              <p:nvPr/>
            </p:nvSpPr>
            <p:spPr>
              <a:xfrm>
                <a:off x="1536" y="2736"/>
                <a:ext cx="480" cy="432"/>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0" name="Rectangle 5">
                <a:extLst>
                  <a:ext uri="{FF2B5EF4-FFF2-40B4-BE49-F238E27FC236}">
                    <a16:creationId xmlns:a16="http://schemas.microsoft.com/office/drawing/2014/main" id="{E46BF5AF-0280-C186-5CFA-0477EC5A798A}"/>
                  </a:ext>
                </a:extLst>
              </p:cNvPr>
              <p:cNvSpPr/>
              <p:nvPr/>
            </p:nvSpPr>
            <p:spPr>
              <a:xfrm>
                <a:off x="2016" y="2736"/>
                <a:ext cx="528" cy="432"/>
              </a:xfrm>
              <a:prstGeom prst="rect">
                <a:avLst/>
              </a:prstGeom>
              <a:noFill/>
              <a:ln w="9525" cap="flat" cmpd="sng">
                <a:solidFill>
                  <a:srgbClr val="3333CC"/>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1" name="Oval 6">
                <a:extLst>
                  <a:ext uri="{FF2B5EF4-FFF2-40B4-BE49-F238E27FC236}">
                    <a16:creationId xmlns:a16="http://schemas.microsoft.com/office/drawing/2014/main" id="{26829E2F-788D-5707-56E3-2974F10AB675}"/>
                  </a:ext>
                </a:extLst>
              </p:cNvPr>
              <p:cNvSpPr/>
              <p:nvPr/>
            </p:nvSpPr>
            <p:spPr>
              <a:xfrm>
                <a:off x="2208" y="2928"/>
                <a:ext cx="96" cy="96"/>
              </a:xfrm>
              <a:prstGeom prst="ellipse">
                <a:avLst/>
              </a:prstGeom>
              <a:solidFill>
                <a:srgbClr val="ED3921"/>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grpSp>
          <p:nvGrpSpPr>
            <p:cNvPr id="5" name="Group 7">
              <a:extLst>
                <a:ext uri="{FF2B5EF4-FFF2-40B4-BE49-F238E27FC236}">
                  <a16:creationId xmlns:a16="http://schemas.microsoft.com/office/drawing/2014/main" id="{FCE5FDC7-03AD-1F75-08A8-3EDD6BD82922}"/>
                </a:ext>
              </a:extLst>
            </p:cNvPr>
            <p:cNvGrpSpPr/>
            <p:nvPr/>
          </p:nvGrpSpPr>
          <p:grpSpPr>
            <a:xfrm>
              <a:off x="3216" y="2592"/>
              <a:ext cx="1008" cy="432"/>
              <a:chOff x="432" y="2736"/>
              <a:chExt cx="1008" cy="432"/>
            </a:xfrm>
          </p:grpSpPr>
          <p:sp>
            <p:nvSpPr>
              <p:cNvPr id="6" name="Rectangle 8">
                <a:extLst>
                  <a:ext uri="{FF2B5EF4-FFF2-40B4-BE49-F238E27FC236}">
                    <a16:creationId xmlns:a16="http://schemas.microsoft.com/office/drawing/2014/main" id="{3D66C382-7321-418E-C322-1A0A6306EEE2}"/>
                  </a:ext>
                </a:extLst>
              </p:cNvPr>
              <p:cNvSpPr/>
              <p:nvPr/>
            </p:nvSpPr>
            <p:spPr>
              <a:xfrm>
                <a:off x="432" y="2736"/>
                <a:ext cx="528" cy="432"/>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7" name="Rectangle 9">
                <a:extLst>
                  <a:ext uri="{FF2B5EF4-FFF2-40B4-BE49-F238E27FC236}">
                    <a16:creationId xmlns:a16="http://schemas.microsoft.com/office/drawing/2014/main" id="{ACC48E11-89DA-C7CB-5C28-FC54D14908A6}"/>
                  </a:ext>
                </a:extLst>
              </p:cNvPr>
              <p:cNvSpPr/>
              <p:nvPr/>
            </p:nvSpPr>
            <p:spPr>
              <a:xfrm>
                <a:off x="960" y="2736"/>
                <a:ext cx="480" cy="432"/>
              </a:xfrm>
              <a:prstGeom prst="rect">
                <a:avLst/>
              </a:prstGeom>
              <a:noFill/>
              <a:ln w="9525" cap="flat" cmpd="sng">
                <a:solidFill>
                  <a:srgbClr val="3333CC"/>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8" name="Oval 10">
                <a:extLst>
                  <a:ext uri="{FF2B5EF4-FFF2-40B4-BE49-F238E27FC236}">
                    <a16:creationId xmlns:a16="http://schemas.microsoft.com/office/drawing/2014/main" id="{EDED629F-280C-1667-E7D4-800772A29432}"/>
                  </a:ext>
                </a:extLst>
              </p:cNvPr>
              <p:cNvSpPr/>
              <p:nvPr/>
            </p:nvSpPr>
            <p:spPr>
              <a:xfrm>
                <a:off x="672" y="2928"/>
                <a:ext cx="96" cy="96"/>
              </a:xfrm>
              <a:prstGeom prst="ellipse">
                <a:avLst/>
              </a:prstGeom>
              <a:solidFill>
                <a:srgbClr val="ED3921"/>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grpSp>
      <p:grpSp>
        <p:nvGrpSpPr>
          <p:cNvPr id="12" name="Group 11">
            <a:extLst>
              <a:ext uri="{FF2B5EF4-FFF2-40B4-BE49-F238E27FC236}">
                <a16:creationId xmlns:a16="http://schemas.microsoft.com/office/drawing/2014/main" id="{FCF75F47-7BE3-7E66-66CB-AC13C8621C0B}"/>
              </a:ext>
            </a:extLst>
          </p:cNvPr>
          <p:cNvGrpSpPr/>
          <p:nvPr/>
        </p:nvGrpSpPr>
        <p:grpSpPr>
          <a:xfrm>
            <a:off x="5343071" y="5167161"/>
            <a:ext cx="3429000" cy="1447800"/>
            <a:chOff x="3216" y="3120"/>
            <a:chExt cx="2160" cy="912"/>
          </a:xfrm>
        </p:grpSpPr>
        <p:grpSp>
          <p:nvGrpSpPr>
            <p:cNvPr id="13" name="Group 12">
              <a:extLst>
                <a:ext uri="{FF2B5EF4-FFF2-40B4-BE49-F238E27FC236}">
                  <a16:creationId xmlns:a16="http://schemas.microsoft.com/office/drawing/2014/main" id="{81E5E63D-BF85-568E-1AC4-E81C5F31D73F}"/>
                </a:ext>
              </a:extLst>
            </p:cNvPr>
            <p:cNvGrpSpPr/>
            <p:nvPr/>
          </p:nvGrpSpPr>
          <p:grpSpPr>
            <a:xfrm>
              <a:off x="3216" y="3120"/>
              <a:ext cx="1008" cy="432"/>
              <a:chOff x="3072" y="2496"/>
              <a:chExt cx="1008" cy="432"/>
            </a:xfrm>
          </p:grpSpPr>
          <p:sp>
            <p:nvSpPr>
              <p:cNvPr id="29" name="Rectangle 13">
                <a:extLst>
                  <a:ext uri="{FF2B5EF4-FFF2-40B4-BE49-F238E27FC236}">
                    <a16:creationId xmlns:a16="http://schemas.microsoft.com/office/drawing/2014/main" id="{7B9E0228-1B51-5B0C-37D4-C167932C50E5}"/>
                  </a:ext>
                </a:extLst>
              </p:cNvPr>
              <p:cNvSpPr/>
              <p:nvPr/>
            </p:nvSpPr>
            <p:spPr>
              <a:xfrm>
                <a:off x="3600" y="2496"/>
                <a:ext cx="480" cy="432"/>
              </a:xfrm>
              <a:prstGeom prst="rect">
                <a:avLst/>
              </a:prstGeom>
              <a:noFill/>
              <a:ln w="9525" cap="flat" cmpd="sng">
                <a:solidFill>
                  <a:srgbClr val="3333CC"/>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nvGrpSpPr>
              <p:cNvPr id="30" name="Group 14">
                <a:extLst>
                  <a:ext uri="{FF2B5EF4-FFF2-40B4-BE49-F238E27FC236}">
                    <a16:creationId xmlns:a16="http://schemas.microsoft.com/office/drawing/2014/main" id="{7ED818CE-E6C7-1636-B93A-6AFD515F04C4}"/>
                  </a:ext>
                </a:extLst>
              </p:cNvPr>
              <p:cNvGrpSpPr/>
              <p:nvPr/>
            </p:nvGrpSpPr>
            <p:grpSpPr>
              <a:xfrm>
                <a:off x="3072" y="2496"/>
                <a:ext cx="528" cy="432"/>
                <a:chOff x="3072" y="2496"/>
                <a:chExt cx="528" cy="432"/>
              </a:xfrm>
            </p:grpSpPr>
            <p:sp>
              <p:nvSpPr>
                <p:cNvPr id="31" name="Rectangle 15">
                  <a:extLst>
                    <a:ext uri="{FF2B5EF4-FFF2-40B4-BE49-F238E27FC236}">
                      <a16:creationId xmlns:a16="http://schemas.microsoft.com/office/drawing/2014/main" id="{F0FFDD0C-BFAE-3F0F-506E-95C011493726}"/>
                    </a:ext>
                  </a:extLst>
                </p:cNvPr>
                <p:cNvSpPr/>
                <p:nvPr/>
              </p:nvSpPr>
              <p:spPr>
                <a:xfrm>
                  <a:off x="3072" y="2496"/>
                  <a:ext cx="528" cy="432"/>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32" name="Oval 16">
                  <a:extLst>
                    <a:ext uri="{FF2B5EF4-FFF2-40B4-BE49-F238E27FC236}">
                      <a16:creationId xmlns:a16="http://schemas.microsoft.com/office/drawing/2014/main" id="{0B4B504E-8EF2-C070-E01B-61821120287A}"/>
                    </a:ext>
                  </a:extLst>
                </p:cNvPr>
                <p:cNvSpPr/>
                <p:nvPr/>
              </p:nvSpPr>
              <p:spPr>
                <a:xfrm>
                  <a:off x="3168" y="2688"/>
                  <a:ext cx="96" cy="96"/>
                </a:xfrm>
                <a:prstGeom prst="ellipse">
                  <a:avLst/>
                </a:prstGeom>
                <a:solidFill>
                  <a:srgbClr val="ED3921"/>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33" name="Oval 17">
                  <a:extLst>
                    <a:ext uri="{FF2B5EF4-FFF2-40B4-BE49-F238E27FC236}">
                      <a16:creationId xmlns:a16="http://schemas.microsoft.com/office/drawing/2014/main" id="{3420962C-C52B-5240-EAF7-420A0E31B736}"/>
                    </a:ext>
                  </a:extLst>
                </p:cNvPr>
                <p:cNvSpPr/>
                <p:nvPr/>
              </p:nvSpPr>
              <p:spPr>
                <a:xfrm>
                  <a:off x="3408" y="2688"/>
                  <a:ext cx="96" cy="96"/>
                </a:xfrm>
                <a:prstGeom prst="ellipse">
                  <a:avLst/>
                </a:prstGeom>
                <a:solidFill>
                  <a:srgbClr val="3333CC"/>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grpSp>
        <p:grpSp>
          <p:nvGrpSpPr>
            <p:cNvPr id="14" name="Group 18">
              <a:extLst>
                <a:ext uri="{FF2B5EF4-FFF2-40B4-BE49-F238E27FC236}">
                  <a16:creationId xmlns:a16="http://schemas.microsoft.com/office/drawing/2014/main" id="{BA94C516-7CB8-29BC-641C-25D1746C299E}"/>
                </a:ext>
              </a:extLst>
            </p:cNvPr>
            <p:cNvGrpSpPr/>
            <p:nvPr/>
          </p:nvGrpSpPr>
          <p:grpSpPr>
            <a:xfrm>
              <a:off x="4368" y="3120"/>
              <a:ext cx="1008" cy="432"/>
              <a:chOff x="4320" y="2496"/>
              <a:chExt cx="1008" cy="432"/>
            </a:xfrm>
          </p:grpSpPr>
          <p:sp>
            <p:nvSpPr>
              <p:cNvPr id="25" name="Rectangle 19">
                <a:extLst>
                  <a:ext uri="{FF2B5EF4-FFF2-40B4-BE49-F238E27FC236}">
                    <a16:creationId xmlns:a16="http://schemas.microsoft.com/office/drawing/2014/main" id="{4AF05ADB-AD17-788E-4A58-432798D19075}"/>
                  </a:ext>
                </a:extLst>
              </p:cNvPr>
              <p:cNvSpPr/>
              <p:nvPr/>
            </p:nvSpPr>
            <p:spPr>
              <a:xfrm>
                <a:off x="4320" y="2496"/>
                <a:ext cx="528" cy="432"/>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6" name="Rectangle 20">
                <a:extLst>
                  <a:ext uri="{FF2B5EF4-FFF2-40B4-BE49-F238E27FC236}">
                    <a16:creationId xmlns:a16="http://schemas.microsoft.com/office/drawing/2014/main" id="{F55BFC63-9985-66B4-246C-D75B624D7527}"/>
                  </a:ext>
                </a:extLst>
              </p:cNvPr>
              <p:cNvSpPr/>
              <p:nvPr/>
            </p:nvSpPr>
            <p:spPr>
              <a:xfrm>
                <a:off x="4848" y="2496"/>
                <a:ext cx="480" cy="432"/>
              </a:xfrm>
              <a:prstGeom prst="rect">
                <a:avLst/>
              </a:prstGeom>
              <a:noFill/>
              <a:ln w="9525" cap="flat" cmpd="sng">
                <a:solidFill>
                  <a:srgbClr val="3333CC"/>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7" name="Oval 21">
                <a:extLst>
                  <a:ext uri="{FF2B5EF4-FFF2-40B4-BE49-F238E27FC236}">
                    <a16:creationId xmlns:a16="http://schemas.microsoft.com/office/drawing/2014/main" id="{900001F4-815F-C693-62B1-C67D2F1A111E}"/>
                  </a:ext>
                </a:extLst>
              </p:cNvPr>
              <p:cNvSpPr/>
              <p:nvPr/>
            </p:nvSpPr>
            <p:spPr>
              <a:xfrm>
                <a:off x="5040" y="2688"/>
                <a:ext cx="96" cy="96"/>
              </a:xfrm>
              <a:prstGeom prst="ellipse">
                <a:avLst/>
              </a:prstGeom>
              <a:solidFill>
                <a:srgbClr val="3333CC"/>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8" name="Oval 22">
                <a:extLst>
                  <a:ext uri="{FF2B5EF4-FFF2-40B4-BE49-F238E27FC236}">
                    <a16:creationId xmlns:a16="http://schemas.microsoft.com/office/drawing/2014/main" id="{9461CE65-67CE-D764-28FA-030BE374456A}"/>
                  </a:ext>
                </a:extLst>
              </p:cNvPr>
              <p:cNvSpPr/>
              <p:nvPr/>
            </p:nvSpPr>
            <p:spPr>
              <a:xfrm>
                <a:off x="4560" y="2688"/>
                <a:ext cx="96" cy="96"/>
              </a:xfrm>
              <a:prstGeom prst="ellipse">
                <a:avLst/>
              </a:prstGeom>
              <a:solidFill>
                <a:srgbClr val="ED3921"/>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grpSp>
          <p:nvGrpSpPr>
            <p:cNvPr id="15" name="Group 23">
              <a:extLst>
                <a:ext uri="{FF2B5EF4-FFF2-40B4-BE49-F238E27FC236}">
                  <a16:creationId xmlns:a16="http://schemas.microsoft.com/office/drawing/2014/main" id="{1B03A8E4-0CE4-68FF-D70E-2B567772EEB2}"/>
                </a:ext>
              </a:extLst>
            </p:cNvPr>
            <p:cNvGrpSpPr/>
            <p:nvPr/>
          </p:nvGrpSpPr>
          <p:grpSpPr>
            <a:xfrm>
              <a:off x="4368" y="3600"/>
              <a:ext cx="1008" cy="432"/>
              <a:chOff x="3072" y="3120"/>
              <a:chExt cx="1008" cy="432"/>
            </a:xfrm>
          </p:grpSpPr>
          <p:sp>
            <p:nvSpPr>
              <p:cNvPr id="21" name="Rectangle 24">
                <a:extLst>
                  <a:ext uri="{FF2B5EF4-FFF2-40B4-BE49-F238E27FC236}">
                    <a16:creationId xmlns:a16="http://schemas.microsoft.com/office/drawing/2014/main" id="{62C6DA79-8015-69A3-C89B-08DB17E6E9D9}"/>
                  </a:ext>
                </a:extLst>
              </p:cNvPr>
              <p:cNvSpPr/>
              <p:nvPr/>
            </p:nvSpPr>
            <p:spPr>
              <a:xfrm>
                <a:off x="3072" y="3120"/>
                <a:ext cx="528" cy="432"/>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2" name="Rectangle 25">
                <a:extLst>
                  <a:ext uri="{FF2B5EF4-FFF2-40B4-BE49-F238E27FC236}">
                    <a16:creationId xmlns:a16="http://schemas.microsoft.com/office/drawing/2014/main" id="{0B734194-B41C-391D-E666-C3190190DFE5}"/>
                  </a:ext>
                </a:extLst>
              </p:cNvPr>
              <p:cNvSpPr/>
              <p:nvPr/>
            </p:nvSpPr>
            <p:spPr>
              <a:xfrm>
                <a:off x="3600" y="3120"/>
                <a:ext cx="480" cy="432"/>
              </a:xfrm>
              <a:prstGeom prst="rect">
                <a:avLst/>
              </a:prstGeom>
              <a:noFill/>
              <a:ln w="9525" cap="flat" cmpd="sng">
                <a:solidFill>
                  <a:srgbClr val="3333CC"/>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3" name="Oval 26">
                <a:extLst>
                  <a:ext uri="{FF2B5EF4-FFF2-40B4-BE49-F238E27FC236}">
                    <a16:creationId xmlns:a16="http://schemas.microsoft.com/office/drawing/2014/main" id="{646002B8-C17C-A7F1-C474-6A9BA1844600}"/>
                  </a:ext>
                </a:extLst>
              </p:cNvPr>
              <p:cNvSpPr/>
              <p:nvPr/>
            </p:nvSpPr>
            <p:spPr>
              <a:xfrm>
                <a:off x="3696" y="3312"/>
                <a:ext cx="96" cy="96"/>
              </a:xfrm>
              <a:prstGeom prst="ellipse">
                <a:avLst/>
              </a:prstGeom>
              <a:solidFill>
                <a:srgbClr val="3333CC"/>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4" name="Oval 27">
                <a:extLst>
                  <a:ext uri="{FF2B5EF4-FFF2-40B4-BE49-F238E27FC236}">
                    <a16:creationId xmlns:a16="http://schemas.microsoft.com/office/drawing/2014/main" id="{311A21B0-5B53-022F-3022-EBB11AA982A4}"/>
                  </a:ext>
                </a:extLst>
              </p:cNvPr>
              <p:cNvSpPr/>
              <p:nvPr/>
            </p:nvSpPr>
            <p:spPr>
              <a:xfrm>
                <a:off x="3888" y="3312"/>
                <a:ext cx="96" cy="96"/>
              </a:xfrm>
              <a:prstGeom prst="ellipse">
                <a:avLst/>
              </a:prstGeom>
              <a:solidFill>
                <a:srgbClr val="ED3921"/>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grpSp>
          <p:nvGrpSpPr>
            <p:cNvPr id="16" name="Group 28">
              <a:extLst>
                <a:ext uri="{FF2B5EF4-FFF2-40B4-BE49-F238E27FC236}">
                  <a16:creationId xmlns:a16="http://schemas.microsoft.com/office/drawing/2014/main" id="{DC4AB754-2B48-5D34-CD8F-5622231E5D85}"/>
                </a:ext>
              </a:extLst>
            </p:cNvPr>
            <p:cNvGrpSpPr/>
            <p:nvPr/>
          </p:nvGrpSpPr>
          <p:grpSpPr>
            <a:xfrm>
              <a:off x="3216" y="3600"/>
              <a:ext cx="1008" cy="432"/>
              <a:chOff x="4320" y="3120"/>
              <a:chExt cx="1008" cy="432"/>
            </a:xfrm>
          </p:grpSpPr>
          <p:sp>
            <p:nvSpPr>
              <p:cNvPr id="17" name="Rectangle 29">
                <a:extLst>
                  <a:ext uri="{FF2B5EF4-FFF2-40B4-BE49-F238E27FC236}">
                    <a16:creationId xmlns:a16="http://schemas.microsoft.com/office/drawing/2014/main" id="{A5E03816-2D72-B770-A361-3976112C271A}"/>
                  </a:ext>
                </a:extLst>
              </p:cNvPr>
              <p:cNvSpPr/>
              <p:nvPr/>
            </p:nvSpPr>
            <p:spPr>
              <a:xfrm>
                <a:off x="4848" y="3120"/>
                <a:ext cx="480" cy="432"/>
              </a:xfrm>
              <a:prstGeom prst="rect">
                <a:avLst/>
              </a:prstGeom>
              <a:noFill/>
              <a:ln w="9525" cap="flat" cmpd="sng">
                <a:solidFill>
                  <a:srgbClr val="3333CC"/>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8" name="Rectangle 30">
                <a:extLst>
                  <a:ext uri="{FF2B5EF4-FFF2-40B4-BE49-F238E27FC236}">
                    <a16:creationId xmlns:a16="http://schemas.microsoft.com/office/drawing/2014/main" id="{2352B9A0-E586-5B22-6AD3-BE0DA40BE847}"/>
                  </a:ext>
                </a:extLst>
              </p:cNvPr>
              <p:cNvSpPr/>
              <p:nvPr/>
            </p:nvSpPr>
            <p:spPr>
              <a:xfrm>
                <a:off x="4320" y="3120"/>
                <a:ext cx="528" cy="432"/>
              </a:xfrm>
              <a:prstGeom prst="rect">
                <a:avLst/>
              </a:prstGeom>
              <a:no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9" name="Oval 31">
                <a:extLst>
                  <a:ext uri="{FF2B5EF4-FFF2-40B4-BE49-F238E27FC236}">
                    <a16:creationId xmlns:a16="http://schemas.microsoft.com/office/drawing/2014/main" id="{0F41CF07-5D63-CCFB-C647-F2B67F29CFEA}"/>
                  </a:ext>
                </a:extLst>
              </p:cNvPr>
              <p:cNvSpPr/>
              <p:nvPr/>
            </p:nvSpPr>
            <p:spPr>
              <a:xfrm>
                <a:off x="4560" y="3312"/>
                <a:ext cx="96" cy="96"/>
              </a:xfrm>
              <a:prstGeom prst="ellipse">
                <a:avLst/>
              </a:prstGeom>
              <a:solidFill>
                <a:srgbClr val="3333CC"/>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20" name="Oval 32">
                <a:extLst>
                  <a:ext uri="{FF2B5EF4-FFF2-40B4-BE49-F238E27FC236}">
                    <a16:creationId xmlns:a16="http://schemas.microsoft.com/office/drawing/2014/main" id="{5BD1BF9A-3BCB-FFF2-3C41-60A6923DB8D7}"/>
                  </a:ext>
                </a:extLst>
              </p:cNvPr>
              <p:cNvSpPr/>
              <p:nvPr/>
            </p:nvSpPr>
            <p:spPr>
              <a:xfrm>
                <a:off x="5040" y="3312"/>
                <a:ext cx="96" cy="96"/>
              </a:xfrm>
              <a:prstGeom prst="ellipse">
                <a:avLst/>
              </a:prstGeom>
              <a:solidFill>
                <a:srgbClr val="ED3921"/>
              </a:solidFill>
              <a:ln w="9525" cap="flat" cmpd="sng">
                <a:solidFill>
                  <a:schemeClr val="tx1"/>
                </a:solidFill>
                <a:prstDash val="solid"/>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32" name="Group 3">
            <a:extLst>
              <a:ext uri="{FF2B5EF4-FFF2-40B4-BE49-F238E27FC236}">
                <a16:creationId xmlns:a16="http://schemas.microsoft.com/office/drawing/2014/main" id="{9D1157B7-1E20-0ADB-540D-F23EF0D015E6}"/>
              </a:ext>
            </a:extLst>
          </p:cNvPr>
          <p:cNvGrpSpPr>
            <a:grpSpLocks/>
          </p:cNvGrpSpPr>
          <p:nvPr/>
        </p:nvGrpSpPr>
        <p:grpSpPr bwMode="auto">
          <a:xfrm>
            <a:off x="2651708" y="1983469"/>
            <a:ext cx="1248713" cy="838200"/>
            <a:chOff x="1032" y="836"/>
            <a:chExt cx="760" cy="528"/>
          </a:xfrm>
        </p:grpSpPr>
        <p:sp>
          <p:nvSpPr>
            <p:cNvPr id="22643" name="Rectangle 4">
              <a:extLst>
                <a:ext uri="{FF2B5EF4-FFF2-40B4-BE49-F238E27FC236}">
                  <a16:creationId xmlns:a16="http://schemas.microsoft.com/office/drawing/2014/main" id="{80266541-8193-EBA8-F535-AC0A8DCE277D}"/>
                </a:ext>
              </a:extLst>
            </p:cNvPr>
            <p:cNvSpPr>
              <a:spLocks noChangeArrowheads="1"/>
            </p:cNvSpPr>
            <p:nvPr/>
          </p:nvSpPr>
          <p:spPr bwMode="auto">
            <a:xfrm>
              <a:off x="1032" y="840"/>
              <a:ext cx="760" cy="52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44" name="Line 5">
              <a:extLst>
                <a:ext uri="{FF2B5EF4-FFF2-40B4-BE49-F238E27FC236}">
                  <a16:creationId xmlns:a16="http://schemas.microsoft.com/office/drawing/2014/main" id="{5FEFE992-25D0-B244-D38C-67B7A4F00D1F}"/>
                </a:ext>
              </a:extLst>
            </p:cNvPr>
            <p:cNvSpPr>
              <a:spLocks noChangeShapeType="1"/>
            </p:cNvSpPr>
            <p:nvPr/>
          </p:nvSpPr>
          <p:spPr bwMode="auto">
            <a:xfrm>
              <a:off x="1412" y="836"/>
              <a:ext cx="0" cy="528"/>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45" name="Oval 6">
              <a:extLst>
                <a:ext uri="{FF2B5EF4-FFF2-40B4-BE49-F238E27FC236}">
                  <a16:creationId xmlns:a16="http://schemas.microsoft.com/office/drawing/2014/main" id="{519C1E8F-5533-B5FE-C44F-75B4839C680F}"/>
                </a:ext>
              </a:extLst>
            </p:cNvPr>
            <p:cNvSpPr>
              <a:spLocks noChangeArrowheads="1"/>
            </p:cNvSpPr>
            <p:nvPr/>
          </p:nvSpPr>
          <p:spPr bwMode="auto">
            <a:xfrm>
              <a:off x="1094" y="975"/>
              <a:ext cx="109" cy="99"/>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46" name="Oval 7">
              <a:extLst>
                <a:ext uri="{FF2B5EF4-FFF2-40B4-BE49-F238E27FC236}">
                  <a16:creationId xmlns:a16="http://schemas.microsoft.com/office/drawing/2014/main" id="{25CFE866-C3BF-3746-A06D-C81374457B2F}"/>
                </a:ext>
              </a:extLst>
            </p:cNvPr>
            <p:cNvSpPr>
              <a:spLocks noChangeArrowheads="1"/>
            </p:cNvSpPr>
            <p:nvPr/>
          </p:nvSpPr>
          <p:spPr bwMode="auto">
            <a:xfrm>
              <a:off x="1262" y="975"/>
              <a:ext cx="106" cy="97"/>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47" name="Oval 8">
              <a:extLst>
                <a:ext uri="{FF2B5EF4-FFF2-40B4-BE49-F238E27FC236}">
                  <a16:creationId xmlns:a16="http://schemas.microsoft.com/office/drawing/2014/main" id="{1BA2A470-DB0D-ACBE-D196-4E63A4300BBB}"/>
                </a:ext>
              </a:extLst>
            </p:cNvPr>
            <p:cNvSpPr>
              <a:spLocks noChangeArrowheads="1"/>
            </p:cNvSpPr>
            <p:nvPr/>
          </p:nvSpPr>
          <p:spPr bwMode="auto">
            <a:xfrm>
              <a:off x="1268" y="1176"/>
              <a:ext cx="87" cy="88"/>
            </a:xfrm>
            <a:prstGeom prst="ellipse">
              <a:avLst/>
            </a:prstGeom>
            <a:solidFill>
              <a:schemeClr val="accent2"/>
            </a:solidFill>
            <a:ln w="12700">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48" name="Oval 9">
              <a:extLst>
                <a:ext uri="{FF2B5EF4-FFF2-40B4-BE49-F238E27FC236}">
                  <a16:creationId xmlns:a16="http://schemas.microsoft.com/office/drawing/2014/main" id="{79467C7F-E59E-E1C6-0A0A-258AB2B3AA59}"/>
                </a:ext>
              </a:extLst>
            </p:cNvPr>
            <p:cNvSpPr>
              <a:spLocks noChangeArrowheads="1"/>
            </p:cNvSpPr>
            <p:nvPr/>
          </p:nvSpPr>
          <p:spPr bwMode="auto">
            <a:xfrm>
              <a:off x="1452" y="1163"/>
              <a:ext cx="106" cy="106"/>
            </a:xfrm>
            <a:prstGeom prst="ellipse">
              <a:avLst/>
            </a:prstGeom>
            <a:solidFill>
              <a:schemeClr val="bg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grpSp>
      <p:sp>
        <p:nvSpPr>
          <p:cNvPr id="22533" name="Rectangle 10">
            <a:extLst>
              <a:ext uri="{FF2B5EF4-FFF2-40B4-BE49-F238E27FC236}">
                <a16:creationId xmlns:a16="http://schemas.microsoft.com/office/drawing/2014/main" id="{C9955034-A600-A5E2-FAA0-BFEA4145D91D}"/>
              </a:ext>
            </a:extLst>
          </p:cNvPr>
          <p:cNvSpPr>
            <a:spLocks noChangeArrowheads="1"/>
          </p:cNvSpPr>
          <p:nvPr/>
        </p:nvSpPr>
        <p:spPr bwMode="auto">
          <a:xfrm>
            <a:off x="2646779" y="2913744"/>
            <a:ext cx="1248713" cy="825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34" name="Line 11">
            <a:extLst>
              <a:ext uri="{FF2B5EF4-FFF2-40B4-BE49-F238E27FC236}">
                <a16:creationId xmlns:a16="http://schemas.microsoft.com/office/drawing/2014/main" id="{B37682D3-D3A7-A115-86ED-E60A3037D4FB}"/>
              </a:ext>
            </a:extLst>
          </p:cNvPr>
          <p:cNvSpPr>
            <a:spLocks noChangeShapeType="1"/>
          </p:cNvSpPr>
          <p:nvPr/>
        </p:nvSpPr>
        <p:spPr bwMode="auto">
          <a:xfrm>
            <a:off x="3271135" y="2907394"/>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35" name="Oval 12">
            <a:extLst>
              <a:ext uri="{FF2B5EF4-FFF2-40B4-BE49-F238E27FC236}">
                <a16:creationId xmlns:a16="http://schemas.microsoft.com/office/drawing/2014/main" id="{952E54B7-F527-25F1-4CBC-A8A528A74C2E}"/>
              </a:ext>
            </a:extLst>
          </p:cNvPr>
          <p:cNvSpPr>
            <a:spLocks noChangeArrowheads="1"/>
          </p:cNvSpPr>
          <p:nvPr/>
        </p:nvSpPr>
        <p:spPr bwMode="auto">
          <a:xfrm>
            <a:off x="3034537" y="3447144"/>
            <a:ext cx="142945" cy="139700"/>
          </a:xfrm>
          <a:prstGeom prst="ellipse">
            <a:avLst/>
          </a:prstGeom>
          <a:solidFill>
            <a:schemeClr val="accent2"/>
          </a:solidFill>
          <a:ln w="12700">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36" name="Oval 13">
            <a:extLst>
              <a:ext uri="{FF2B5EF4-FFF2-40B4-BE49-F238E27FC236}">
                <a16:creationId xmlns:a16="http://schemas.microsoft.com/office/drawing/2014/main" id="{FF1C785F-242D-7A73-EB16-C50BFEB48180}"/>
              </a:ext>
            </a:extLst>
          </p:cNvPr>
          <p:cNvSpPr>
            <a:spLocks noChangeArrowheads="1"/>
          </p:cNvSpPr>
          <p:nvPr/>
        </p:nvSpPr>
        <p:spPr bwMode="auto">
          <a:xfrm>
            <a:off x="2735503" y="3432857"/>
            <a:ext cx="174163" cy="168275"/>
          </a:xfrm>
          <a:prstGeom prst="ellipse">
            <a:avLst/>
          </a:prstGeom>
          <a:solidFill>
            <a:schemeClr val="bg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37" name="Oval 14">
            <a:extLst>
              <a:ext uri="{FF2B5EF4-FFF2-40B4-BE49-F238E27FC236}">
                <a16:creationId xmlns:a16="http://schemas.microsoft.com/office/drawing/2014/main" id="{63D15B74-1AB4-32D0-D5AC-2A9AAB6C53E0}"/>
              </a:ext>
            </a:extLst>
          </p:cNvPr>
          <p:cNvSpPr>
            <a:spLocks noChangeArrowheads="1"/>
          </p:cNvSpPr>
          <p:nvPr/>
        </p:nvSpPr>
        <p:spPr bwMode="auto">
          <a:xfrm>
            <a:off x="3350001" y="3121707"/>
            <a:ext cx="179092" cy="157163"/>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38" name="Oval 15">
            <a:extLst>
              <a:ext uri="{FF2B5EF4-FFF2-40B4-BE49-F238E27FC236}">
                <a16:creationId xmlns:a16="http://schemas.microsoft.com/office/drawing/2014/main" id="{D9EBFDBD-656C-C9B6-D4CB-D8CA7FB88131}"/>
              </a:ext>
            </a:extLst>
          </p:cNvPr>
          <p:cNvSpPr>
            <a:spLocks noChangeArrowheads="1"/>
          </p:cNvSpPr>
          <p:nvPr/>
        </p:nvSpPr>
        <p:spPr bwMode="auto">
          <a:xfrm>
            <a:off x="3626033" y="3121707"/>
            <a:ext cx="174163" cy="153988"/>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39" name="Rectangle 16">
            <a:extLst>
              <a:ext uri="{FF2B5EF4-FFF2-40B4-BE49-F238E27FC236}">
                <a16:creationId xmlns:a16="http://schemas.microsoft.com/office/drawing/2014/main" id="{13C38963-D007-C711-4EF9-147916A75B6D}"/>
              </a:ext>
            </a:extLst>
          </p:cNvPr>
          <p:cNvSpPr>
            <a:spLocks noChangeArrowheads="1"/>
          </p:cNvSpPr>
          <p:nvPr/>
        </p:nvSpPr>
        <p:spPr bwMode="auto">
          <a:xfrm>
            <a:off x="2656637" y="3823382"/>
            <a:ext cx="1248713" cy="825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40" name="Line 17">
            <a:extLst>
              <a:ext uri="{FF2B5EF4-FFF2-40B4-BE49-F238E27FC236}">
                <a16:creationId xmlns:a16="http://schemas.microsoft.com/office/drawing/2014/main" id="{C15EDAB3-FA96-63F3-C333-3AEB4DB900E9}"/>
              </a:ext>
            </a:extLst>
          </p:cNvPr>
          <p:cNvSpPr>
            <a:spLocks noChangeShapeType="1"/>
          </p:cNvSpPr>
          <p:nvPr/>
        </p:nvSpPr>
        <p:spPr bwMode="auto">
          <a:xfrm>
            <a:off x="3280994" y="3817032"/>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1" name="Oval 18">
            <a:extLst>
              <a:ext uri="{FF2B5EF4-FFF2-40B4-BE49-F238E27FC236}">
                <a16:creationId xmlns:a16="http://schemas.microsoft.com/office/drawing/2014/main" id="{22736633-490C-C29D-E4F4-1ED9AEEE5C7D}"/>
              </a:ext>
            </a:extLst>
          </p:cNvPr>
          <p:cNvSpPr>
            <a:spLocks noChangeArrowheads="1"/>
          </p:cNvSpPr>
          <p:nvPr/>
        </p:nvSpPr>
        <p:spPr bwMode="auto">
          <a:xfrm>
            <a:off x="2771650" y="4342494"/>
            <a:ext cx="179092" cy="157163"/>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42" name="Oval 19">
            <a:extLst>
              <a:ext uri="{FF2B5EF4-FFF2-40B4-BE49-F238E27FC236}">
                <a16:creationId xmlns:a16="http://schemas.microsoft.com/office/drawing/2014/main" id="{74F17561-3331-D519-4B6C-F3AE5346A6F8}"/>
              </a:ext>
            </a:extLst>
          </p:cNvPr>
          <p:cNvSpPr>
            <a:spLocks noChangeArrowheads="1"/>
          </p:cNvSpPr>
          <p:nvPr/>
        </p:nvSpPr>
        <p:spPr bwMode="auto">
          <a:xfrm>
            <a:off x="3044395" y="4356782"/>
            <a:ext cx="142945" cy="139700"/>
          </a:xfrm>
          <a:prstGeom prst="ellipse">
            <a:avLst/>
          </a:prstGeom>
          <a:solidFill>
            <a:schemeClr val="accent2"/>
          </a:solidFill>
          <a:ln w="12700">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43" name="Oval 20">
            <a:extLst>
              <a:ext uri="{FF2B5EF4-FFF2-40B4-BE49-F238E27FC236}">
                <a16:creationId xmlns:a16="http://schemas.microsoft.com/office/drawing/2014/main" id="{BE2169AA-4C64-7DB5-7065-0A03AD039934}"/>
              </a:ext>
            </a:extLst>
          </p:cNvPr>
          <p:cNvSpPr>
            <a:spLocks noChangeArrowheads="1"/>
          </p:cNvSpPr>
          <p:nvPr/>
        </p:nvSpPr>
        <p:spPr bwMode="auto">
          <a:xfrm>
            <a:off x="3635891" y="4031344"/>
            <a:ext cx="174163" cy="153988"/>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44" name="Oval 21">
            <a:extLst>
              <a:ext uri="{FF2B5EF4-FFF2-40B4-BE49-F238E27FC236}">
                <a16:creationId xmlns:a16="http://schemas.microsoft.com/office/drawing/2014/main" id="{E77668C2-59C4-2325-DC82-07913E3F9A85}"/>
              </a:ext>
            </a:extLst>
          </p:cNvPr>
          <p:cNvSpPr>
            <a:spLocks noChangeArrowheads="1"/>
          </p:cNvSpPr>
          <p:nvPr/>
        </p:nvSpPr>
        <p:spPr bwMode="auto">
          <a:xfrm>
            <a:off x="3359860" y="4031344"/>
            <a:ext cx="174163" cy="168275"/>
          </a:xfrm>
          <a:prstGeom prst="ellipse">
            <a:avLst/>
          </a:prstGeom>
          <a:solidFill>
            <a:schemeClr val="bg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45" name="Rectangle 22">
            <a:extLst>
              <a:ext uri="{FF2B5EF4-FFF2-40B4-BE49-F238E27FC236}">
                <a16:creationId xmlns:a16="http://schemas.microsoft.com/office/drawing/2014/main" id="{F86BA4F9-1186-E815-A022-0555157E3FA9}"/>
              </a:ext>
            </a:extLst>
          </p:cNvPr>
          <p:cNvSpPr>
            <a:spLocks noChangeArrowheads="1"/>
          </p:cNvSpPr>
          <p:nvPr/>
        </p:nvSpPr>
        <p:spPr bwMode="auto">
          <a:xfrm>
            <a:off x="2645136" y="4747307"/>
            <a:ext cx="1248713" cy="825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46" name="Line 23">
            <a:extLst>
              <a:ext uri="{FF2B5EF4-FFF2-40B4-BE49-F238E27FC236}">
                <a16:creationId xmlns:a16="http://schemas.microsoft.com/office/drawing/2014/main" id="{BEA7464D-E772-A41E-5554-D48B7B9288A9}"/>
              </a:ext>
            </a:extLst>
          </p:cNvPr>
          <p:cNvSpPr>
            <a:spLocks noChangeShapeType="1"/>
          </p:cNvSpPr>
          <p:nvPr/>
        </p:nvSpPr>
        <p:spPr bwMode="auto">
          <a:xfrm>
            <a:off x="3269492" y="4740957"/>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7" name="Oval 24">
            <a:extLst>
              <a:ext uri="{FF2B5EF4-FFF2-40B4-BE49-F238E27FC236}">
                <a16:creationId xmlns:a16="http://schemas.microsoft.com/office/drawing/2014/main" id="{3EAFABE4-0339-EEDD-CA29-73947E1A785E}"/>
              </a:ext>
            </a:extLst>
          </p:cNvPr>
          <p:cNvSpPr>
            <a:spLocks noChangeArrowheads="1"/>
          </p:cNvSpPr>
          <p:nvPr/>
        </p:nvSpPr>
        <p:spPr bwMode="auto">
          <a:xfrm>
            <a:off x="3078899" y="5282294"/>
            <a:ext cx="174163" cy="168275"/>
          </a:xfrm>
          <a:prstGeom prst="ellipse">
            <a:avLst/>
          </a:prstGeom>
          <a:solidFill>
            <a:schemeClr val="bg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48" name="Oval 25">
            <a:extLst>
              <a:ext uri="{FF2B5EF4-FFF2-40B4-BE49-F238E27FC236}">
                <a16:creationId xmlns:a16="http://schemas.microsoft.com/office/drawing/2014/main" id="{8165464B-9153-AFF6-0113-E2D1CEA0BB20}"/>
              </a:ext>
            </a:extLst>
          </p:cNvPr>
          <p:cNvSpPr>
            <a:spLocks noChangeArrowheads="1"/>
          </p:cNvSpPr>
          <p:nvPr/>
        </p:nvSpPr>
        <p:spPr bwMode="auto">
          <a:xfrm>
            <a:off x="3348358" y="4955269"/>
            <a:ext cx="179092" cy="157163"/>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49" name="Oval 26">
            <a:extLst>
              <a:ext uri="{FF2B5EF4-FFF2-40B4-BE49-F238E27FC236}">
                <a16:creationId xmlns:a16="http://schemas.microsoft.com/office/drawing/2014/main" id="{C347A5E7-5BDC-77DA-8EBA-8494400F6765}"/>
              </a:ext>
            </a:extLst>
          </p:cNvPr>
          <p:cNvSpPr>
            <a:spLocks noChangeArrowheads="1"/>
          </p:cNvSpPr>
          <p:nvPr/>
        </p:nvSpPr>
        <p:spPr bwMode="auto">
          <a:xfrm>
            <a:off x="3624390" y="4955269"/>
            <a:ext cx="174163" cy="153988"/>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50" name="Oval 27">
            <a:extLst>
              <a:ext uri="{FF2B5EF4-FFF2-40B4-BE49-F238E27FC236}">
                <a16:creationId xmlns:a16="http://schemas.microsoft.com/office/drawing/2014/main" id="{9CF92134-6051-D7C3-4776-8CF7B41292A4}"/>
              </a:ext>
            </a:extLst>
          </p:cNvPr>
          <p:cNvSpPr>
            <a:spLocks noChangeArrowheads="1"/>
          </p:cNvSpPr>
          <p:nvPr/>
        </p:nvSpPr>
        <p:spPr bwMode="auto">
          <a:xfrm>
            <a:off x="3634248" y="5274357"/>
            <a:ext cx="142945" cy="139700"/>
          </a:xfrm>
          <a:prstGeom prst="ellipse">
            <a:avLst/>
          </a:prstGeom>
          <a:solidFill>
            <a:schemeClr val="accent2"/>
          </a:solidFill>
          <a:ln w="12700">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51" name="Rectangle 28">
            <a:extLst>
              <a:ext uri="{FF2B5EF4-FFF2-40B4-BE49-F238E27FC236}">
                <a16:creationId xmlns:a16="http://schemas.microsoft.com/office/drawing/2014/main" id="{BBC256B5-5078-05FF-2F37-7666C16CB7A3}"/>
              </a:ext>
            </a:extLst>
          </p:cNvPr>
          <p:cNvSpPr>
            <a:spLocks noChangeArrowheads="1"/>
          </p:cNvSpPr>
          <p:nvPr/>
        </p:nvSpPr>
        <p:spPr bwMode="auto">
          <a:xfrm>
            <a:off x="3952998" y="1996169"/>
            <a:ext cx="1248713" cy="825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52" name="Line 29">
            <a:extLst>
              <a:ext uri="{FF2B5EF4-FFF2-40B4-BE49-F238E27FC236}">
                <a16:creationId xmlns:a16="http://schemas.microsoft.com/office/drawing/2014/main" id="{338D2F35-A987-AC8C-DDA2-82B6CBF5E8E3}"/>
              </a:ext>
            </a:extLst>
          </p:cNvPr>
          <p:cNvSpPr>
            <a:spLocks noChangeShapeType="1"/>
          </p:cNvSpPr>
          <p:nvPr/>
        </p:nvSpPr>
        <p:spPr bwMode="auto">
          <a:xfrm>
            <a:off x="4577355" y="1989819"/>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3" name="Oval 30">
            <a:extLst>
              <a:ext uri="{FF2B5EF4-FFF2-40B4-BE49-F238E27FC236}">
                <a16:creationId xmlns:a16="http://schemas.microsoft.com/office/drawing/2014/main" id="{61792014-09B5-A4A4-0E4C-5CC5D928A2E7}"/>
              </a:ext>
            </a:extLst>
          </p:cNvPr>
          <p:cNvSpPr>
            <a:spLocks noChangeArrowheads="1"/>
          </p:cNvSpPr>
          <p:nvPr/>
        </p:nvSpPr>
        <p:spPr bwMode="auto">
          <a:xfrm>
            <a:off x="4054867" y="2210482"/>
            <a:ext cx="179092" cy="157163"/>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54" name="Oval 31">
            <a:extLst>
              <a:ext uri="{FF2B5EF4-FFF2-40B4-BE49-F238E27FC236}">
                <a16:creationId xmlns:a16="http://schemas.microsoft.com/office/drawing/2014/main" id="{F7377508-B1AE-2BF6-D5AF-7D3B431A059B}"/>
              </a:ext>
            </a:extLst>
          </p:cNvPr>
          <p:cNvSpPr>
            <a:spLocks noChangeArrowheads="1"/>
          </p:cNvSpPr>
          <p:nvPr/>
        </p:nvSpPr>
        <p:spPr bwMode="auto">
          <a:xfrm>
            <a:off x="4340757" y="2529569"/>
            <a:ext cx="142945" cy="139700"/>
          </a:xfrm>
          <a:prstGeom prst="ellipse">
            <a:avLst/>
          </a:prstGeom>
          <a:solidFill>
            <a:schemeClr val="accent2"/>
          </a:solidFill>
          <a:ln w="12700">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55" name="Oval 32">
            <a:extLst>
              <a:ext uri="{FF2B5EF4-FFF2-40B4-BE49-F238E27FC236}">
                <a16:creationId xmlns:a16="http://schemas.microsoft.com/office/drawing/2014/main" id="{5B951724-F7E7-59E8-5DDB-1114A2484C06}"/>
              </a:ext>
            </a:extLst>
          </p:cNvPr>
          <p:cNvSpPr>
            <a:spLocks noChangeArrowheads="1"/>
          </p:cNvSpPr>
          <p:nvPr/>
        </p:nvSpPr>
        <p:spPr bwMode="auto">
          <a:xfrm>
            <a:off x="4041723" y="2515282"/>
            <a:ext cx="174163" cy="168275"/>
          </a:xfrm>
          <a:prstGeom prst="ellipse">
            <a:avLst/>
          </a:prstGeom>
          <a:solidFill>
            <a:schemeClr val="bg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56" name="Oval 33">
            <a:extLst>
              <a:ext uri="{FF2B5EF4-FFF2-40B4-BE49-F238E27FC236}">
                <a16:creationId xmlns:a16="http://schemas.microsoft.com/office/drawing/2014/main" id="{FADFA17C-7858-995D-9873-A20D8AF94A76}"/>
              </a:ext>
            </a:extLst>
          </p:cNvPr>
          <p:cNvSpPr>
            <a:spLocks noChangeArrowheads="1"/>
          </p:cNvSpPr>
          <p:nvPr/>
        </p:nvSpPr>
        <p:spPr bwMode="auto">
          <a:xfrm>
            <a:off x="4680867" y="2532744"/>
            <a:ext cx="174163" cy="153988"/>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57" name="Rectangle 34">
            <a:extLst>
              <a:ext uri="{FF2B5EF4-FFF2-40B4-BE49-F238E27FC236}">
                <a16:creationId xmlns:a16="http://schemas.microsoft.com/office/drawing/2014/main" id="{FAF91161-6431-7C1E-564F-739D8F41290F}"/>
              </a:ext>
            </a:extLst>
          </p:cNvPr>
          <p:cNvSpPr>
            <a:spLocks noChangeArrowheads="1"/>
          </p:cNvSpPr>
          <p:nvPr/>
        </p:nvSpPr>
        <p:spPr bwMode="auto">
          <a:xfrm>
            <a:off x="3948069" y="2920094"/>
            <a:ext cx="1248713" cy="825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58" name="Line 35">
            <a:extLst>
              <a:ext uri="{FF2B5EF4-FFF2-40B4-BE49-F238E27FC236}">
                <a16:creationId xmlns:a16="http://schemas.microsoft.com/office/drawing/2014/main" id="{2BEC4F37-9AC6-87FF-2009-3CE9A7C8D3E5}"/>
              </a:ext>
            </a:extLst>
          </p:cNvPr>
          <p:cNvSpPr>
            <a:spLocks noChangeShapeType="1"/>
          </p:cNvSpPr>
          <p:nvPr/>
        </p:nvSpPr>
        <p:spPr bwMode="auto">
          <a:xfrm>
            <a:off x="4572426" y="2913744"/>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59" name="Oval 36">
            <a:extLst>
              <a:ext uri="{FF2B5EF4-FFF2-40B4-BE49-F238E27FC236}">
                <a16:creationId xmlns:a16="http://schemas.microsoft.com/office/drawing/2014/main" id="{E337F171-85D2-92E3-091B-E98BB46A4890}"/>
              </a:ext>
            </a:extLst>
          </p:cNvPr>
          <p:cNvSpPr>
            <a:spLocks noChangeArrowheads="1"/>
          </p:cNvSpPr>
          <p:nvPr/>
        </p:nvSpPr>
        <p:spPr bwMode="auto">
          <a:xfrm>
            <a:off x="4049938" y="3134407"/>
            <a:ext cx="179092" cy="157163"/>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60" name="Oval 37">
            <a:extLst>
              <a:ext uri="{FF2B5EF4-FFF2-40B4-BE49-F238E27FC236}">
                <a16:creationId xmlns:a16="http://schemas.microsoft.com/office/drawing/2014/main" id="{D5D02964-97AF-4AD4-AACD-0CDFB072B7A6}"/>
              </a:ext>
            </a:extLst>
          </p:cNvPr>
          <p:cNvSpPr>
            <a:spLocks noChangeArrowheads="1"/>
          </p:cNvSpPr>
          <p:nvPr/>
        </p:nvSpPr>
        <p:spPr bwMode="auto">
          <a:xfrm>
            <a:off x="4036794" y="3439207"/>
            <a:ext cx="174163" cy="168275"/>
          </a:xfrm>
          <a:prstGeom prst="ellipse">
            <a:avLst/>
          </a:prstGeom>
          <a:solidFill>
            <a:schemeClr val="bg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61" name="Oval 38">
            <a:extLst>
              <a:ext uri="{FF2B5EF4-FFF2-40B4-BE49-F238E27FC236}">
                <a16:creationId xmlns:a16="http://schemas.microsoft.com/office/drawing/2014/main" id="{FC7EE6A6-92CE-7B61-63A9-844FCC7B5157}"/>
              </a:ext>
            </a:extLst>
          </p:cNvPr>
          <p:cNvSpPr>
            <a:spLocks noChangeArrowheads="1"/>
          </p:cNvSpPr>
          <p:nvPr/>
        </p:nvSpPr>
        <p:spPr bwMode="auto">
          <a:xfrm>
            <a:off x="4927323" y="3128057"/>
            <a:ext cx="174163" cy="153988"/>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62" name="Oval 39">
            <a:extLst>
              <a:ext uri="{FF2B5EF4-FFF2-40B4-BE49-F238E27FC236}">
                <a16:creationId xmlns:a16="http://schemas.microsoft.com/office/drawing/2014/main" id="{0C882516-772F-8DD0-F370-C8B50621FC6A}"/>
              </a:ext>
            </a:extLst>
          </p:cNvPr>
          <p:cNvSpPr>
            <a:spLocks noChangeArrowheads="1"/>
          </p:cNvSpPr>
          <p:nvPr/>
        </p:nvSpPr>
        <p:spPr bwMode="auto">
          <a:xfrm>
            <a:off x="4937182" y="3447144"/>
            <a:ext cx="142945" cy="139700"/>
          </a:xfrm>
          <a:prstGeom prst="ellipse">
            <a:avLst/>
          </a:prstGeom>
          <a:solidFill>
            <a:schemeClr val="accent2"/>
          </a:solidFill>
          <a:ln w="12700">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63" name="Rectangle 40">
            <a:extLst>
              <a:ext uri="{FF2B5EF4-FFF2-40B4-BE49-F238E27FC236}">
                <a16:creationId xmlns:a16="http://schemas.microsoft.com/office/drawing/2014/main" id="{7E402D33-19A7-E730-6310-466F5536E51A}"/>
              </a:ext>
            </a:extLst>
          </p:cNvPr>
          <p:cNvSpPr>
            <a:spLocks noChangeArrowheads="1"/>
          </p:cNvSpPr>
          <p:nvPr/>
        </p:nvSpPr>
        <p:spPr bwMode="auto">
          <a:xfrm>
            <a:off x="3957928" y="3829732"/>
            <a:ext cx="1248713" cy="825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64" name="Line 41">
            <a:extLst>
              <a:ext uri="{FF2B5EF4-FFF2-40B4-BE49-F238E27FC236}">
                <a16:creationId xmlns:a16="http://schemas.microsoft.com/office/drawing/2014/main" id="{0A8FD3F8-9938-D280-DBF3-341094674D07}"/>
              </a:ext>
            </a:extLst>
          </p:cNvPr>
          <p:cNvSpPr>
            <a:spLocks noChangeShapeType="1"/>
          </p:cNvSpPr>
          <p:nvPr/>
        </p:nvSpPr>
        <p:spPr bwMode="auto">
          <a:xfrm>
            <a:off x="4582284" y="3823382"/>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5" name="Oval 42">
            <a:extLst>
              <a:ext uri="{FF2B5EF4-FFF2-40B4-BE49-F238E27FC236}">
                <a16:creationId xmlns:a16="http://schemas.microsoft.com/office/drawing/2014/main" id="{FC4152FB-CA4A-74D0-4FB7-78BA0BA2A4F2}"/>
              </a:ext>
            </a:extLst>
          </p:cNvPr>
          <p:cNvSpPr>
            <a:spLocks noChangeArrowheads="1"/>
          </p:cNvSpPr>
          <p:nvPr/>
        </p:nvSpPr>
        <p:spPr bwMode="auto">
          <a:xfrm>
            <a:off x="4059796" y="4044044"/>
            <a:ext cx="174163" cy="153988"/>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66" name="Oval 43">
            <a:extLst>
              <a:ext uri="{FF2B5EF4-FFF2-40B4-BE49-F238E27FC236}">
                <a16:creationId xmlns:a16="http://schemas.microsoft.com/office/drawing/2014/main" id="{B8E90838-6B61-7566-B748-8E34201226E1}"/>
              </a:ext>
            </a:extLst>
          </p:cNvPr>
          <p:cNvSpPr>
            <a:spLocks noChangeArrowheads="1"/>
          </p:cNvSpPr>
          <p:nvPr/>
        </p:nvSpPr>
        <p:spPr bwMode="auto">
          <a:xfrm>
            <a:off x="4046652" y="4348844"/>
            <a:ext cx="174163" cy="168275"/>
          </a:xfrm>
          <a:prstGeom prst="ellipse">
            <a:avLst/>
          </a:prstGeom>
          <a:solidFill>
            <a:schemeClr val="bg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67" name="Oval 44">
            <a:extLst>
              <a:ext uri="{FF2B5EF4-FFF2-40B4-BE49-F238E27FC236}">
                <a16:creationId xmlns:a16="http://schemas.microsoft.com/office/drawing/2014/main" id="{5262822D-0840-7DC5-E8D1-9FDCD7BFE0E9}"/>
              </a:ext>
            </a:extLst>
          </p:cNvPr>
          <p:cNvSpPr>
            <a:spLocks noChangeArrowheads="1"/>
          </p:cNvSpPr>
          <p:nvPr/>
        </p:nvSpPr>
        <p:spPr bwMode="auto">
          <a:xfrm>
            <a:off x="4924037" y="4037694"/>
            <a:ext cx="179092" cy="157163"/>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68" name="Oval 45">
            <a:extLst>
              <a:ext uri="{FF2B5EF4-FFF2-40B4-BE49-F238E27FC236}">
                <a16:creationId xmlns:a16="http://schemas.microsoft.com/office/drawing/2014/main" id="{31896BDD-0B06-A399-2A31-272317C20F43}"/>
              </a:ext>
            </a:extLst>
          </p:cNvPr>
          <p:cNvSpPr>
            <a:spLocks noChangeArrowheads="1"/>
          </p:cNvSpPr>
          <p:nvPr/>
        </p:nvSpPr>
        <p:spPr bwMode="auto">
          <a:xfrm>
            <a:off x="4947040" y="4356782"/>
            <a:ext cx="142945" cy="139700"/>
          </a:xfrm>
          <a:prstGeom prst="ellipse">
            <a:avLst/>
          </a:prstGeom>
          <a:solidFill>
            <a:schemeClr val="accent2"/>
          </a:solidFill>
          <a:ln w="12700">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69" name="Rectangle 46">
            <a:extLst>
              <a:ext uri="{FF2B5EF4-FFF2-40B4-BE49-F238E27FC236}">
                <a16:creationId xmlns:a16="http://schemas.microsoft.com/office/drawing/2014/main" id="{57C18329-02F0-A6F3-2756-3A9A5C9D7014}"/>
              </a:ext>
            </a:extLst>
          </p:cNvPr>
          <p:cNvSpPr>
            <a:spLocks noChangeArrowheads="1"/>
          </p:cNvSpPr>
          <p:nvPr/>
        </p:nvSpPr>
        <p:spPr bwMode="auto">
          <a:xfrm>
            <a:off x="3946426" y="4753657"/>
            <a:ext cx="1248713" cy="825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70" name="Line 47">
            <a:extLst>
              <a:ext uri="{FF2B5EF4-FFF2-40B4-BE49-F238E27FC236}">
                <a16:creationId xmlns:a16="http://schemas.microsoft.com/office/drawing/2014/main" id="{96A403FC-24D6-D66F-589E-CBA4DD90FA20}"/>
              </a:ext>
            </a:extLst>
          </p:cNvPr>
          <p:cNvSpPr>
            <a:spLocks noChangeShapeType="1"/>
          </p:cNvSpPr>
          <p:nvPr/>
        </p:nvSpPr>
        <p:spPr bwMode="auto">
          <a:xfrm>
            <a:off x="4570783" y="4747307"/>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1" name="Oval 48">
            <a:extLst>
              <a:ext uri="{FF2B5EF4-FFF2-40B4-BE49-F238E27FC236}">
                <a16:creationId xmlns:a16="http://schemas.microsoft.com/office/drawing/2014/main" id="{9046068A-360D-BD5E-F473-3DA7C0184BD6}"/>
              </a:ext>
            </a:extLst>
          </p:cNvPr>
          <p:cNvSpPr>
            <a:spLocks noChangeArrowheads="1"/>
          </p:cNvSpPr>
          <p:nvPr/>
        </p:nvSpPr>
        <p:spPr bwMode="auto">
          <a:xfrm>
            <a:off x="4355544" y="5287057"/>
            <a:ext cx="174163" cy="153988"/>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72" name="Oval 49">
            <a:extLst>
              <a:ext uri="{FF2B5EF4-FFF2-40B4-BE49-F238E27FC236}">
                <a16:creationId xmlns:a16="http://schemas.microsoft.com/office/drawing/2014/main" id="{704B2787-B1BB-759E-A63C-A6C3FA4F37AD}"/>
              </a:ext>
            </a:extLst>
          </p:cNvPr>
          <p:cNvSpPr>
            <a:spLocks noChangeArrowheads="1"/>
          </p:cNvSpPr>
          <p:nvPr/>
        </p:nvSpPr>
        <p:spPr bwMode="auto">
          <a:xfrm>
            <a:off x="4649649" y="4961619"/>
            <a:ext cx="179092" cy="157163"/>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73" name="Oval 50">
            <a:extLst>
              <a:ext uri="{FF2B5EF4-FFF2-40B4-BE49-F238E27FC236}">
                <a16:creationId xmlns:a16="http://schemas.microsoft.com/office/drawing/2014/main" id="{83433503-7879-2DC8-600C-3A5BB6C612CA}"/>
              </a:ext>
            </a:extLst>
          </p:cNvPr>
          <p:cNvSpPr>
            <a:spLocks noChangeArrowheads="1"/>
          </p:cNvSpPr>
          <p:nvPr/>
        </p:nvSpPr>
        <p:spPr bwMode="auto">
          <a:xfrm>
            <a:off x="4935538" y="5280707"/>
            <a:ext cx="142945" cy="139700"/>
          </a:xfrm>
          <a:prstGeom prst="ellipse">
            <a:avLst/>
          </a:prstGeom>
          <a:solidFill>
            <a:schemeClr val="accent2"/>
          </a:solidFill>
          <a:ln w="12700">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74" name="Oval 51">
            <a:extLst>
              <a:ext uri="{FF2B5EF4-FFF2-40B4-BE49-F238E27FC236}">
                <a16:creationId xmlns:a16="http://schemas.microsoft.com/office/drawing/2014/main" id="{01B83621-3E62-1486-B8B0-024F2F8465DD}"/>
              </a:ext>
            </a:extLst>
          </p:cNvPr>
          <p:cNvSpPr>
            <a:spLocks noChangeArrowheads="1"/>
          </p:cNvSpPr>
          <p:nvPr/>
        </p:nvSpPr>
        <p:spPr bwMode="auto">
          <a:xfrm>
            <a:off x="4636505" y="5266419"/>
            <a:ext cx="174163" cy="168275"/>
          </a:xfrm>
          <a:prstGeom prst="ellipse">
            <a:avLst/>
          </a:prstGeom>
          <a:solidFill>
            <a:schemeClr val="bg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75" name="Rectangle 52">
            <a:extLst>
              <a:ext uri="{FF2B5EF4-FFF2-40B4-BE49-F238E27FC236}">
                <a16:creationId xmlns:a16="http://schemas.microsoft.com/office/drawing/2014/main" id="{A22E4604-FBBE-8C3C-A7D0-F7E3E3076798}"/>
              </a:ext>
            </a:extLst>
          </p:cNvPr>
          <p:cNvSpPr>
            <a:spLocks noChangeArrowheads="1"/>
          </p:cNvSpPr>
          <p:nvPr/>
        </p:nvSpPr>
        <p:spPr bwMode="auto">
          <a:xfrm>
            <a:off x="5260861" y="1996169"/>
            <a:ext cx="1248713" cy="825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76" name="Line 53">
            <a:extLst>
              <a:ext uri="{FF2B5EF4-FFF2-40B4-BE49-F238E27FC236}">
                <a16:creationId xmlns:a16="http://schemas.microsoft.com/office/drawing/2014/main" id="{F3D4422F-E994-18B3-29A8-9BEC8839DBFD}"/>
              </a:ext>
            </a:extLst>
          </p:cNvPr>
          <p:cNvSpPr>
            <a:spLocks noChangeShapeType="1"/>
          </p:cNvSpPr>
          <p:nvPr/>
        </p:nvSpPr>
        <p:spPr bwMode="auto">
          <a:xfrm>
            <a:off x="5885218" y="1989819"/>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7" name="Oval 54">
            <a:extLst>
              <a:ext uri="{FF2B5EF4-FFF2-40B4-BE49-F238E27FC236}">
                <a16:creationId xmlns:a16="http://schemas.microsoft.com/office/drawing/2014/main" id="{9A5239C9-076D-4A6E-0B68-D635EB445A1E}"/>
              </a:ext>
            </a:extLst>
          </p:cNvPr>
          <p:cNvSpPr>
            <a:spLocks noChangeArrowheads="1"/>
          </p:cNvSpPr>
          <p:nvPr/>
        </p:nvSpPr>
        <p:spPr bwMode="auto">
          <a:xfrm>
            <a:off x="5638761" y="2210482"/>
            <a:ext cx="174163" cy="153988"/>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78" name="Oval 55">
            <a:extLst>
              <a:ext uri="{FF2B5EF4-FFF2-40B4-BE49-F238E27FC236}">
                <a16:creationId xmlns:a16="http://schemas.microsoft.com/office/drawing/2014/main" id="{4D0B9E5B-C632-99E7-EB24-5708131B82B4}"/>
              </a:ext>
            </a:extLst>
          </p:cNvPr>
          <p:cNvSpPr>
            <a:spLocks noChangeArrowheads="1"/>
          </p:cNvSpPr>
          <p:nvPr/>
        </p:nvSpPr>
        <p:spPr bwMode="auto">
          <a:xfrm>
            <a:off x="5648619" y="2529569"/>
            <a:ext cx="142945" cy="139700"/>
          </a:xfrm>
          <a:prstGeom prst="ellipse">
            <a:avLst/>
          </a:prstGeom>
          <a:solidFill>
            <a:schemeClr val="accent2"/>
          </a:solidFill>
          <a:ln w="12700">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79" name="Oval 56">
            <a:extLst>
              <a:ext uri="{FF2B5EF4-FFF2-40B4-BE49-F238E27FC236}">
                <a16:creationId xmlns:a16="http://schemas.microsoft.com/office/drawing/2014/main" id="{246C876B-A529-6A1D-08C5-27F34BC62AE4}"/>
              </a:ext>
            </a:extLst>
          </p:cNvPr>
          <p:cNvSpPr>
            <a:spLocks noChangeArrowheads="1"/>
          </p:cNvSpPr>
          <p:nvPr/>
        </p:nvSpPr>
        <p:spPr bwMode="auto">
          <a:xfrm>
            <a:off x="5349585" y="2515282"/>
            <a:ext cx="174163" cy="168275"/>
          </a:xfrm>
          <a:prstGeom prst="ellipse">
            <a:avLst/>
          </a:prstGeom>
          <a:solidFill>
            <a:schemeClr val="bg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80" name="Oval 57">
            <a:extLst>
              <a:ext uri="{FF2B5EF4-FFF2-40B4-BE49-F238E27FC236}">
                <a16:creationId xmlns:a16="http://schemas.microsoft.com/office/drawing/2014/main" id="{EA28BD79-93D4-BA20-7E4C-AD1C4388ABA3}"/>
              </a:ext>
            </a:extLst>
          </p:cNvPr>
          <p:cNvSpPr>
            <a:spLocks noChangeArrowheads="1"/>
          </p:cNvSpPr>
          <p:nvPr/>
        </p:nvSpPr>
        <p:spPr bwMode="auto">
          <a:xfrm>
            <a:off x="5964084" y="2518457"/>
            <a:ext cx="179092" cy="157163"/>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81" name="Rectangle 58">
            <a:extLst>
              <a:ext uri="{FF2B5EF4-FFF2-40B4-BE49-F238E27FC236}">
                <a16:creationId xmlns:a16="http://schemas.microsoft.com/office/drawing/2014/main" id="{CCA7177B-464F-2EE2-DDE3-4B80EA027DD2}"/>
              </a:ext>
            </a:extLst>
          </p:cNvPr>
          <p:cNvSpPr>
            <a:spLocks noChangeArrowheads="1"/>
          </p:cNvSpPr>
          <p:nvPr/>
        </p:nvSpPr>
        <p:spPr bwMode="auto">
          <a:xfrm>
            <a:off x="5254289" y="4753657"/>
            <a:ext cx="1248713" cy="825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82" name="Line 59">
            <a:extLst>
              <a:ext uri="{FF2B5EF4-FFF2-40B4-BE49-F238E27FC236}">
                <a16:creationId xmlns:a16="http://schemas.microsoft.com/office/drawing/2014/main" id="{ED081DA8-9A7B-587A-B9D0-D082B9C90DC7}"/>
              </a:ext>
            </a:extLst>
          </p:cNvPr>
          <p:cNvSpPr>
            <a:spLocks noChangeShapeType="1"/>
          </p:cNvSpPr>
          <p:nvPr/>
        </p:nvSpPr>
        <p:spPr bwMode="auto">
          <a:xfrm>
            <a:off x="5878646" y="4747307"/>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3" name="Oval 60">
            <a:extLst>
              <a:ext uri="{FF2B5EF4-FFF2-40B4-BE49-F238E27FC236}">
                <a16:creationId xmlns:a16="http://schemas.microsoft.com/office/drawing/2014/main" id="{8C5478D4-18D9-C822-7A2E-7E463944612A}"/>
              </a:ext>
            </a:extLst>
          </p:cNvPr>
          <p:cNvSpPr>
            <a:spLocks noChangeArrowheads="1"/>
          </p:cNvSpPr>
          <p:nvPr/>
        </p:nvSpPr>
        <p:spPr bwMode="auto">
          <a:xfrm>
            <a:off x="5607543" y="5268007"/>
            <a:ext cx="179092" cy="157163"/>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84" name="Oval 61">
            <a:extLst>
              <a:ext uri="{FF2B5EF4-FFF2-40B4-BE49-F238E27FC236}">
                <a16:creationId xmlns:a16="http://schemas.microsoft.com/office/drawing/2014/main" id="{2A2A3042-D0C8-1A82-4DD3-4691C7C75FD6}"/>
              </a:ext>
            </a:extLst>
          </p:cNvPr>
          <p:cNvSpPr>
            <a:spLocks noChangeArrowheads="1"/>
          </p:cNvSpPr>
          <p:nvPr/>
        </p:nvSpPr>
        <p:spPr bwMode="auto">
          <a:xfrm>
            <a:off x="6233543" y="4961619"/>
            <a:ext cx="174163" cy="153988"/>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85" name="Oval 62">
            <a:extLst>
              <a:ext uri="{FF2B5EF4-FFF2-40B4-BE49-F238E27FC236}">
                <a16:creationId xmlns:a16="http://schemas.microsoft.com/office/drawing/2014/main" id="{BD543E86-82EF-7D60-9AEA-687C5ACD5F1C}"/>
              </a:ext>
            </a:extLst>
          </p:cNvPr>
          <p:cNvSpPr>
            <a:spLocks noChangeArrowheads="1"/>
          </p:cNvSpPr>
          <p:nvPr/>
        </p:nvSpPr>
        <p:spPr bwMode="auto">
          <a:xfrm>
            <a:off x="6243401" y="5280707"/>
            <a:ext cx="142945" cy="139700"/>
          </a:xfrm>
          <a:prstGeom prst="ellipse">
            <a:avLst/>
          </a:prstGeom>
          <a:solidFill>
            <a:schemeClr val="accent2"/>
          </a:solidFill>
          <a:ln w="12700">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86" name="Oval 63">
            <a:extLst>
              <a:ext uri="{FF2B5EF4-FFF2-40B4-BE49-F238E27FC236}">
                <a16:creationId xmlns:a16="http://schemas.microsoft.com/office/drawing/2014/main" id="{D395CE96-C25D-EEE7-ECE5-96260DEB12E3}"/>
              </a:ext>
            </a:extLst>
          </p:cNvPr>
          <p:cNvSpPr>
            <a:spLocks noChangeArrowheads="1"/>
          </p:cNvSpPr>
          <p:nvPr/>
        </p:nvSpPr>
        <p:spPr bwMode="auto">
          <a:xfrm>
            <a:off x="5944367" y="5266419"/>
            <a:ext cx="174163" cy="168275"/>
          </a:xfrm>
          <a:prstGeom prst="ellipse">
            <a:avLst/>
          </a:prstGeom>
          <a:solidFill>
            <a:schemeClr val="bg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87" name="Rectangle 64">
            <a:extLst>
              <a:ext uri="{FF2B5EF4-FFF2-40B4-BE49-F238E27FC236}">
                <a16:creationId xmlns:a16="http://schemas.microsoft.com/office/drawing/2014/main" id="{8AEC0D82-4660-06CD-EBE0-93BCFC3A7789}"/>
              </a:ext>
            </a:extLst>
          </p:cNvPr>
          <p:cNvSpPr>
            <a:spLocks noChangeArrowheads="1"/>
          </p:cNvSpPr>
          <p:nvPr/>
        </p:nvSpPr>
        <p:spPr bwMode="auto">
          <a:xfrm>
            <a:off x="1371777" y="1091294"/>
            <a:ext cx="1248713" cy="825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88" name="Line 65">
            <a:extLst>
              <a:ext uri="{FF2B5EF4-FFF2-40B4-BE49-F238E27FC236}">
                <a16:creationId xmlns:a16="http://schemas.microsoft.com/office/drawing/2014/main" id="{6B19E827-576F-71D5-B26A-A17A345505D8}"/>
              </a:ext>
            </a:extLst>
          </p:cNvPr>
          <p:cNvSpPr>
            <a:spLocks noChangeShapeType="1"/>
          </p:cNvSpPr>
          <p:nvPr/>
        </p:nvSpPr>
        <p:spPr bwMode="auto">
          <a:xfrm>
            <a:off x="1996133" y="1084944"/>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89" name="Oval 66">
            <a:extLst>
              <a:ext uri="{FF2B5EF4-FFF2-40B4-BE49-F238E27FC236}">
                <a16:creationId xmlns:a16="http://schemas.microsoft.com/office/drawing/2014/main" id="{0AC21BE0-9D70-4E6F-6ECC-2CC2C150554E}"/>
              </a:ext>
            </a:extLst>
          </p:cNvPr>
          <p:cNvSpPr>
            <a:spLocks noChangeArrowheads="1"/>
          </p:cNvSpPr>
          <p:nvPr/>
        </p:nvSpPr>
        <p:spPr bwMode="auto">
          <a:xfrm>
            <a:off x="1473646" y="1305607"/>
            <a:ext cx="179092" cy="157163"/>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90" name="Oval 67">
            <a:extLst>
              <a:ext uri="{FF2B5EF4-FFF2-40B4-BE49-F238E27FC236}">
                <a16:creationId xmlns:a16="http://schemas.microsoft.com/office/drawing/2014/main" id="{E93906C8-74AC-63D5-0E2D-B096A0998319}"/>
              </a:ext>
            </a:extLst>
          </p:cNvPr>
          <p:cNvSpPr>
            <a:spLocks noChangeArrowheads="1"/>
          </p:cNvSpPr>
          <p:nvPr/>
        </p:nvSpPr>
        <p:spPr bwMode="auto">
          <a:xfrm>
            <a:off x="1749677" y="1305607"/>
            <a:ext cx="174163" cy="153988"/>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91" name="Oval 68">
            <a:extLst>
              <a:ext uri="{FF2B5EF4-FFF2-40B4-BE49-F238E27FC236}">
                <a16:creationId xmlns:a16="http://schemas.microsoft.com/office/drawing/2014/main" id="{9847E551-5351-8A97-7339-93AB33225F0A}"/>
              </a:ext>
            </a:extLst>
          </p:cNvPr>
          <p:cNvSpPr>
            <a:spLocks noChangeArrowheads="1"/>
          </p:cNvSpPr>
          <p:nvPr/>
        </p:nvSpPr>
        <p:spPr bwMode="auto">
          <a:xfrm>
            <a:off x="1759535" y="1624694"/>
            <a:ext cx="142945" cy="139700"/>
          </a:xfrm>
          <a:prstGeom prst="ellipse">
            <a:avLst/>
          </a:prstGeom>
          <a:solidFill>
            <a:schemeClr val="accent2"/>
          </a:solidFill>
          <a:ln w="12700">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92" name="Oval 69">
            <a:extLst>
              <a:ext uri="{FF2B5EF4-FFF2-40B4-BE49-F238E27FC236}">
                <a16:creationId xmlns:a16="http://schemas.microsoft.com/office/drawing/2014/main" id="{6995BA50-1515-8CE2-CBEB-ABE8DA142A1A}"/>
              </a:ext>
            </a:extLst>
          </p:cNvPr>
          <p:cNvSpPr>
            <a:spLocks noChangeArrowheads="1"/>
          </p:cNvSpPr>
          <p:nvPr/>
        </p:nvSpPr>
        <p:spPr bwMode="auto">
          <a:xfrm>
            <a:off x="1460501" y="1610407"/>
            <a:ext cx="174163" cy="168275"/>
          </a:xfrm>
          <a:prstGeom prst="ellipse">
            <a:avLst/>
          </a:prstGeom>
          <a:solidFill>
            <a:schemeClr val="bg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grpSp>
        <p:nvGrpSpPr>
          <p:cNvPr id="22593" name="Group 70">
            <a:extLst>
              <a:ext uri="{FF2B5EF4-FFF2-40B4-BE49-F238E27FC236}">
                <a16:creationId xmlns:a16="http://schemas.microsoft.com/office/drawing/2014/main" id="{933C3657-3618-FBB7-8F0F-686011E2CB74}"/>
              </a:ext>
            </a:extLst>
          </p:cNvPr>
          <p:cNvGrpSpPr>
            <a:grpSpLocks/>
          </p:cNvGrpSpPr>
          <p:nvPr/>
        </p:nvGrpSpPr>
        <p:grpSpPr bwMode="auto">
          <a:xfrm>
            <a:off x="1355346" y="1988232"/>
            <a:ext cx="1248713" cy="838200"/>
            <a:chOff x="216" y="839"/>
            <a:chExt cx="760" cy="528"/>
          </a:xfrm>
        </p:grpSpPr>
        <p:sp>
          <p:nvSpPr>
            <p:cNvPr id="22637" name="Rectangle 71">
              <a:extLst>
                <a:ext uri="{FF2B5EF4-FFF2-40B4-BE49-F238E27FC236}">
                  <a16:creationId xmlns:a16="http://schemas.microsoft.com/office/drawing/2014/main" id="{38E72AD9-4DAC-59BE-6D0F-FFA67D850AB4}"/>
                </a:ext>
              </a:extLst>
            </p:cNvPr>
            <p:cNvSpPr>
              <a:spLocks noChangeArrowheads="1"/>
            </p:cNvSpPr>
            <p:nvPr/>
          </p:nvSpPr>
          <p:spPr bwMode="auto">
            <a:xfrm>
              <a:off x="216" y="843"/>
              <a:ext cx="760" cy="52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38" name="Line 72">
              <a:extLst>
                <a:ext uri="{FF2B5EF4-FFF2-40B4-BE49-F238E27FC236}">
                  <a16:creationId xmlns:a16="http://schemas.microsoft.com/office/drawing/2014/main" id="{E0D17C5C-84F0-9C70-0C1A-9610C377C07F}"/>
                </a:ext>
              </a:extLst>
            </p:cNvPr>
            <p:cNvSpPr>
              <a:spLocks noChangeShapeType="1"/>
            </p:cNvSpPr>
            <p:nvPr/>
          </p:nvSpPr>
          <p:spPr bwMode="auto">
            <a:xfrm>
              <a:off x="596" y="839"/>
              <a:ext cx="0" cy="528"/>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39" name="Oval 73">
              <a:extLst>
                <a:ext uri="{FF2B5EF4-FFF2-40B4-BE49-F238E27FC236}">
                  <a16:creationId xmlns:a16="http://schemas.microsoft.com/office/drawing/2014/main" id="{300D2DC8-2FA3-67AA-2707-0B66CA3024D1}"/>
                </a:ext>
              </a:extLst>
            </p:cNvPr>
            <p:cNvSpPr>
              <a:spLocks noChangeArrowheads="1"/>
            </p:cNvSpPr>
            <p:nvPr/>
          </p:nvSpPr>
          <p:spPr bwMode="auto">
            <a:xfrm>
              <a:off x="278" y="978"/>
              <a:ext cx="109" cy="99"/>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40" name="Oval 74">
              <a:extLst>
                <a:ext uri="{FF2B5EF4-FFF2-40B4-BE49-F238E27FC236}">
                  <a16:creationId xmlns:a16="http://schemas.microsoft.com/office/drawing/2014/main" id="{21A99F2B-DBEB-06F1-ACE1-5F862C1544F5}"/>
                </a:ext>
              </a:extLst>
            </p:cNvPr>
            <p:cNvSpPr>
              <a:spLocks noChangeArrowheads="1"/>
            </p:cNvSpPr>
            <p:nvPr/>
          </p:nvSpPr>
          <p:spPr bwMode="auto">
            <a:xfrm>
              <a:off x="446" y="978"/>
              <a:ext cx="106" cy="97"/>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41" name="Oval 75">
              <a:extLst>
                <a:ext uri="{FF2B5EF4-FFF2-40B4-BE49-F238E27FC236}">
                  <a16:creationId xmlns:a16="http://schemas.microsoft.com/office/drawing/2014/main" id="{A69A9476-0F99-BE3C-50E8-F36D9BABBA3F}"/>
                </a:ext>
              </a:extLst>
            </p:cNvPr>
            <p:cNvSpPr>
              <a:spLocks noChangeArrowheads="1"/>
            </p:cNvSpPr>
            <p:nvPr/>
          </p:nvSpPr>
          <p:spPr bwMode="auto">
            <a:xfrm>
              <a:off x="270" y="1170"/>
              <a:ext cx="106" cy="106"/>
            </a:xfrm>
            <a:prstGeom prst="ellipse">
              <a:avLst/>
            </a:prstGeom>
            <a:solidFill>
              <a:schemeClr val="bg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42" name="Oval 76">
              <a:extLst>
                <a:ext uri="{FF2B5EF4-FFF2-40B4-BE49-F238E27FC236}">
                  <a16:creationId xmlns:a16="http://schemas.microsoft.com/office/drawing/2014/main" id="{A0EE8A50-C88D-65BA-8899-FDD418B81510}"/>
                </a:ext>
              </a:extLst>
            </p:cNvPr>
            <p:cNvSpPr>
              <a:spLocks noChangeArrowheads="1"/>
            </p:cNvSpPr>
            <p:nvPr/>
          </p:nvSpPr>
          <p:spPr bwMode="auto">
            <a:xfrm>
              <a:off x="647" y="1175"/>
              <a:ext cx="87" cy="88"/>
            </a:xfrm>
            <a:prstGeom prst="ellipse">
              <a:avLst/>
            </a:prstGeom>
            <a:solidFill>
              <a:schemeClr val="accent2"/>
            </a:solidFill>
            <a:ln w="12700">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grpSp>
      <p:sp>
        <p:nvSpPr>
          <p:cNvPr id="22594" name="Rectangle 77">
            <a:extLst>
              <a:ext uri="{FF2B5EF4-FFF2-40B4-BE49-F238E27FC236}">
                <a16:creationId xmlns:a16="http://schemas.microsoft.com/office/drawing/2014/main" id="{2271363F-99EE-820B-1ED7-A4746DDC14F9}"/>
              </a:ext>
            </a:extLst>
          </p:cNvPr>
          <p:cNvSpPr>
            <a:spLocks noChangeArrowheads="1"/>
          </p:cNvSpPr>
          <p:nvPr/>
        </p:nvSpPr>
        <p:spPr bwMode="auto">
          <a:xfrm>
            <a:off x="1350417" y="2918507"/>
            <a:ext cx="1248713" cy="825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95" name="Line 78">
            <a:extLst>
              <a:ext uri="{FF2B5EF4-FFF2-40B4-BE49-F238E27FC236}">
                <a16:creationId xmlns:a16="http://schemas.microsoft.com/office/drawing/2014/main" id="{37C1E7CC-02CC-D54A-EAE8-484D1FC776FD}"/>
              </a:ext>
            </a:extLst>
          </p:cNvPr>
          <p:cNvSpPr>
            <a:spLocks noChangeShapeType="1"/>
          </p:cNvSpPr>
          <p:nvPr/>
        </p:nvSpPr>
        <p:spPr bwMode="auto">
          <a:xfrm>
            <a:off x="1974774" y="2912157"/>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96" name="Oval 79">
            <a:extLst>
              <a:ext uri="{FF2B5EF4-FFF2-40B4-BE49-F238E27FC236}">
                <a16:creationId xmlns:a16="http://schemas.microsoft.com/office/drawing/2014/main" id="{0DB5C94A-9596-E120-D226-F510C15AF47B}"/>
              </a:ext>
            </a:extLst>
          </p:cNvPr>
          <p:cNvSpPr>
            <a:spLocks noChangeArrowheads="1"/>
          </p:cNvSpPr>
          <p:nvPr/>
        </p:nvSpPr>
        <p:spPr bwMode="auto">
          <a:xfrm>
            <a:off x="1452286" y="3132819"/>
            <a:ext cx="179092" cy="157163"/>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97" name="Oval 80">
            <a:extLst>
              <a:ext uri="{FF2B5EF4-FFF2-40B4-BE49-F238E27FC236}">
                <a16:creationId xmlns:a16="http://schemas.microsoft.com/office/drawing/2014/main" id="{2F07724C-D3F1-14FE-F0B5-7507A177E153}"/>
              </a:ext>
            </a:extLst>
          </p:cNvPr>
          <p:cNvSpPr>
            <a:spLocks noChangeArrowheads="1"/>
          </p:cNvSpPr>
          <p:nvPr/>
        </p:nvSpPr>
        <p:spPr bwMode="auto">
          <a:xfrm>
            <a:off x="1728317" y="3132819"/>
            <a:ext cx="174163" cy="153988"/>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98" name="Oval 81">
            <a:extLst>
              <a:ext uri="{FF2B5EF4-FFF2-40B4-BE49-F238E27FC236}">
                <a16:creationId xmlns:a16="http://schemas.microsoft.com/office/drawing/2014/main" id="{07358C89-3208-9D5D-C9C9-DFA7ECCF7D98}"/>
              </a:ext>
            </a:extLst>
          </p:cNvPr>
          <p:cNvSpPr>
            <a:spLocks noChangeArrowheads="1"/>
          </p:cNvSpPr>
          <p:nvPr/>
        </p:nvSpPr>
        <p:spPr bwMode="auto">
          <a:xfrm>
            <a:off x="2339530" y="3445557"/>
            <a:ext cx="142945" cy="139700"/>
          </a:xfrm>
          <a:prstGeom prst="ellipse">
            <a:avLst/>
          </a:prstGeom>
          <a:solidFill>
            <a:schemeClr val="accent2"/>
          </a:solidFill>
          <a:ln w="12700">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599" name="Oval 82">
            <a:extLst>
              <a:ext uri="{FF2B5EF4-FFF2-40B4-BE49-F238E27FC236}">
                <a16:creationId xmlns:a16="http://schemas.microsoft.com/office/drawing/2014/main" id="{AA166189-E285-612D-FAFC-CE323119646A}"/>
              </a:ext>
            </a:extLst>
          </p:cNvPr>
          <p:cNvSpPr>
            <a:spLocks noChangeArrowheads="1"/>
          </p:cNvSpPr>
          <p:nvPr/>
        </p:nvSpPr>
        <p:spPr bwMode="auto">
          <a:xfrm>
            <a:off x="2040496" y="3431269"/>
            <a:ext cx="174163" cy="168275"/>
          </a:xfrm>
          <a:prstGeom prst="ellipse">
            <a:avLst/>
          </a:prstGeom>
          <a:solidFill>
            <a:schemeClr val="bg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00" name="Rectangle 83">
            <a:extLst>
              <a:ext uri="{FF2B5EF4-FFF2-40B4-BE49-F238E27FC236}">
                <a16:creationId xmlns:a16="http://schemas.microsoft.com/office/drawing/2014/main" id="{D4D2E4FA-FDC1-CA6B-8C14-56B7F68FD542}"/>
              </a:ext>
            </a:extLst>
          </p:cNvPr>
          <p:cNvSpPr>
            <a:spLocks noChangeArrowheads="1"/>
          </p:cNvSpPr>
          <p:nvPr/>
        </p:nvSpPr>
        <p:spPr bwMode="auto">
          <a:xfrm>
            <a:off x="1360276" y="3828144"/>
            <a:ext cx="1248713" cy="825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01" name="Line 84">
            <a:extLst>
              <a:ext uri="{FF2B5EF4-FFF2-40B4-BE49-F238E27FC236}">
                <a16:creationId xmlns:a16="http://schemas.microsoft.com/office/drawing/2014/main" id="{4039E67E-8337-01A1-5753-93108C8597CA}"/>
              </a:ext>
            </a:extLst>
          </p:cNvPr>
          <p:cNvSpPr>
            <a:spLocks noChangeShapeType="1"/>
          </p:cNvSpPr>
          <p:nvPr/>
        </p:nvSpPr>
        <p:spPr bwMode="auto">
          <a:xfrm>
            <a:off x="1984632" y="3821794"/>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2" name="Oval 85">
            <a:extLst>
              <a:ext uri="{FF2B5EF4-FFF2-40B4-BE49-F238E27FC236}">
                <a16:creationId xmlns:a16="http://schemas.microsoft.com/office/drawing/2014/main" id="{6AE38539-97AD-4740-51F4-EABDE23180DE}"/>
              </a:ext>
            </a:extLst>
          </p:cNvPr>
          <p:cNvSpPr>
            <a:spLocks noChangeArrowheads="1"/>
          </p:cNvSpPr>
          <p:nvPr/>
        </p:nvSpPr>
        <p:spPr bwMode="auto">
          <a:xfrm>
            <a:off x="1738176" y="4042457"/>
            <a:ext cx="174163" cy="153988"/>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03" name="Oval 86">
            <a:extLst>
              <a:ext uri="{FF2B5EF4-FFF2-40B4-BE49-F238E27FC236}">
                <a16:creationId xmlns:a16="http://schemas.microsoft.com/office/drawing/2014/main" id="{558F032E-9318-9FBB-83BF-998BD9F25D11}"/>
              </a:ext>
            </a:extLst>
          </p:cNvPr>
          <p:cNvSpPr>
            <a:spLocks noChangeArrowheads="1"/>
          </p:cNvSpPr>
          <p:nvPr/>
        </p:nvSpPr>
        <p:spPr bwMode="auto">
          <a:xfrm>
            <a:off x="1476932" y="4040869"/>
            <a:ext cx="142945" cy="139700"/>
          </a:xfrm>
          <a:prstGeom prst="ellipse">
            <a:avLst/>
          </a:prstGeom>
          <a:solidFill>
            <a:schemeClr val="accent2"/>
          </a:solidFill>
          <a:ln w="12700">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04" name="Oval 87">
            <a:extLst>
              <a:ext uri="{FF2B5EF4-FFF2-40B4-BE49-F238E27FC236}">
                <a16:creationId xmlns:a16="http://schemas.microsoft.com/office/drawing/2014/main" id="{EAEF00EC-B491-E40A-5CBB-7F446C3DCD0B}"/>
              </a:ext>
            </a:extLst>
          </p:cNvPr>
          <p:cNvSpPr>
            <a:spLocks noChangeArrowheads="1"/>
          </p:cNvSpPr>
          <p:nvPr/>
        </p:nvSpPr>
        <p:spPr bwMode="auto">
          <a:xfrm>
            <a:off x="2324742" y="4342494"/>
            <a:ext cx="179092" cy="157163"/>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05" name="Oval 88">
            <a:extLst>
              <a:ext uri="{FF2B5EF4-FFF2-40B4-BE49-F238E27FC236}">
                <a16:creationId xmlns:a16="http://schemas.microsoft.com/office/drawing/2014/main" id="{1D5FC275-6872-8E5E-3B6E-8D33D6332D1E}"/>
              </a:ext>
            </a:extLst>
          </p:cNvPr>
          <p:cNvSpPr>
            <a:spLocks noChangeArrowheads="1"/>
          </p:cNvSpPr>
          <p:nvPr/>
        </p:nvSpPr>
        <p:spPr bwMode="auto">
          <a:xfrm>
            <a:off x="2050354" y="4340907"/>
            <a:ext cx="174163" cy="168275"/>
          </a:xfrm>
          <a:prstGeom prst="ellipse">
            <a:avLst/>
          </a:prstGeom>
          <a:solidFill>
            <a:schemeClr val="bg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06" name="Rectangle 89">
            <a:extLst>
              <a:ext uri="{FF2B5EF4-FFF2-40B4-BE49-F238E27FC236}">
                <a16:creationId xmlns:a16="http://schemas.microsoft.com/office/drawing/2014/main" id="{9B83A94B-A538-0AF5-30BD-6BF7FCDDE09A}"/>
              </a:ext>
            </a:extLst>
          </p:cNvPr>
          <p:cNvSpPr>
            <a:spLocks noChangeArrowheads="1"/>
          </p:cNvSpPr>
          <p:nvPr/>
        </p:nvSpPr>
        <p:spPr bwMode="auto">
          <a:xfrm>
            <a:off x="1348774" y="4752069"/>
            <a:ext cx="1248713" cy="825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07" name="Line 90">
            <a:extLst>
              <a:ext uri="{FF2B5EF4-FFF2-40B4-BE49-F238E27FC236}">
                <a16:creationId xmlns:a16="http://schemas.microsoft.com/office/drawing/2014/main" id="{C390BDA9-C127-542B-E0F9-C4B521B4BAC9}"/>
              </a:ext>
            </a:extLst>
          </p:cNvPr>
          <p:cNvSpPr>
            <a:spLocks noChangeShapeType="1"/>
          </p:cNvSpPr>
          <p:nvPr/>
        </p:nvSpPr>
        <p:spPr bwMode="auto">
          <a:xfrm>
            <a:off x="1973131" y="4745719"/>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08" name="Oval 91">
            <a:extLst>
              <a:ext uri="{FF2B5EF4-FFF2-40B4-BE49-F238E27FC236}">
                <a16:creationId xmlns:a16="http://schemas.microsoft.com/office/drawing/2014/main" id="{70C466E8-36D5-6B81-3510-93B51A3413A0}"/>
              </a:ext>
            </a:extLst>
          </p:cNvPr>
          <p:cNvSpPr>
            <a:spLocks noChangeArrowheads="1"/>
          </p:cNvSpPr>
          <p:nvPr/>
        </p:nvSpPr>
        <p:spPr bwMode="auto">
          <a:xfrm>
            <a:off x="1736533" y="5285469"/>
            <a:ext cx="142945" cy="139700"/>
          </a:xfrm>
          <a:prstGeom prst="ellipse">
            <a:avLst/>
          </a:prstGeom>
          <a:solidFill>
            <a:schemeClr val="accent2"/>
          </a:solidFill>
          <a:ln w="12700">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09" name="Oval 92">
            <a:extLst>
              <a:ext uri="{FF2B5EF4-FFF2-40B4-BE49-F238E27FC236}">
                <a16:creationId xmlns:a16="http://schemas.microsoft.com/office/drawing/2014/main" id="{2EAB3B4E-1C4F-9306-DA2D-E8D4C79F5560}"/>
              </a:ext>
            </a:extLst>
          </p:cNvPr>
          <p:cNvSpPr>
            <a:spLocks noChangeArrowheads="1"/>
          </p:cNvSpPr>
          <p:nvPr/>
        </p:nvSpPr>
        <p:spPr bwMode="auto">
          <a:xfrm>
            <a:off x="2051997" y="4960032"/>
            <a:ext cx="179092" cy="157163"/>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10" name="Oval 93">
            <a:extLst>
              <a:ext uri="{FF2B5EF4-FFF2-40B4-BE49-F238E27FC236}">
                <a16:creationId xmlns:a16="http://schemas.microsoft.com/office/drawing/2014/main" id="{646D0A09-CE4D-F9E7-38E2-62548092D276}"/>
              </a:ext>
            </a:extLst>
          </p:cNvPr>
          <p:cNvSpPr>
            <a:spLocks noChangeArrowheads="1"/>
          </p:cNvSpPr>
          <p:nvPr/>
        </p:nvSpPr>
        <p:spPr bwMode="auto">
          <a:xfrm>
            <a:off x="2328028" y="4960032"/>
            <a:ext cx="174163" cy="153988"/>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11" name="Oval 94">
            <a:extLst>
              <a:ext uri="{FF2B5EF4-FFF2-40B4-BE49-F238E27FC236}">
                <a16:creationId xmlns:a16="http://schemas.microsoft.com/office/drawing/2014/main" id="{EE0B88E3-2430-44FD-2B88-2E1A5B02F6D0}"/>
              </a:ext>
            </a:extLst>
          </p:cNvPr>
          <p:cNvSpPr>
            <a:spLocks noChangeArrowheads="1"/>
          </p:cNvSpPr>
          <p:nvPr/>
        </p:nvSpPr>
        <p:spPr bwMode="auto">
          <a:xfrm>
            <a:off x="2038853" y="5264832"/>
            <a:ext cx="174163" cy="168275"/>
          </a:xfrm>
          <a:prstGeom prst="ellipse">
            <a:avLst/>
          </a:prstGeom>
          <a:solidFill>
            <a:schemeClr val="bg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12" name="Rectangle 95">
            <a:extLst>
              <a:ext uri="{FF2B5EF4-FFF2-40B4-BE49-F238E27FC236}">
                <a16:creationId xmlns:a16="http://schemas.microsoft.com/office/drawing/2014/main" id="{87137242-18FC-68B1-BE86-7D98087E16AA}"/>
              </a:ext>
            </a:extLst>
          </p:cNvPr>
          <p:cNvSpPr>
            <a:spLocks noChangeArrowheads="1"/>
          </p:cNvSpPr>
          <p:nvPr/>
        </p:nvSpPr>
        <p:spPr bwMode="auto">
          <a:xfrm>
            <a:off x="1340559" y="5690282"/>
            <a:ext cx="1248713" cy="8255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13" name="Line 96">
            <a:extLst>
              <a:ext uri="{FF2B5EF4-FFF2-40B4-BE49-F238E27FC236}">
                <a16:creationId xmlns:a16="http://schemas.microsoft.com/office/drawing/2014/main" id="{67420A4D-F1DC-CC6B-FB27-77F3AA33A150}"/>
              </a:ext>
            </a:extLst>
          </p:cNvPr>
          <p:cNvSpPr>
            <a:spLocks noChangeShapeType="1"/>
          </p:cNvSpPr>
          <p:nvPr/>
        </p:nvSpPr>
        <p:spPr bwMode="auto">
          <a:xfrm>
            <a:off x="1964916" y="5683932"/>
            <a:ext cx="0" cy="83820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614" name="Oval 97">
            <a:extLst>
              <a:ext uri="{FF2B5EF4-FFF2-40B4-BE49-F238E27FC236}">
                <a16:creationId xmlns:a16="http://schemas.microsoft.com/office/drawing/2014/main" id="{8A4EBA9F-95A5-1E19-C958-B1849D9E30EC}"/>
              </a:ext>
            </a:extLst>
          </p:cNvPr>
          <p:cNvSpPr>
            <a:spLocks noChangeArrowheads="1"/>
          </p:cNvSpPr>
          <p:nvPr/>
        </p:nvSpPr>
        <p:spPr bwMode="auto">
          <a:xfrm>
            <a:off x="2043782" y="5898244"/>
            <a:ext cx="179092" cy="157163"/>
          </a:xfrm>
          <a:prstGeom prst="ellipse">
            <a:avLst/>
          </a:prstGeom>
          <a:solidFill>
            <a:schemeClr val="accent1"/>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15" name="Oval 98">
            <a:extLst>
              <a:ext uri="{FF2B5EF4-FFF2-40B4-BE49-F238E27FC236}">
                <a16:creationId xmlns:a16="http://schemas.microsoft.com/office/drawing/2014/main" id="{68E55256-7C4F-8AB6-21EA-73EA523DE7C8}"/>
              </a:ext>
            </a:extLst>
          </p:cNvPr>
          <p:cNvSpPr>
            <a:spLocks noChangeArrowheads="1"/>
          </p:cNvSpPr>
          <p:nvPr/>
        </p:nvSpPr>
        <p:spPr bwMode="auto">
          <a:xfrm>
            <a:off x="2319813" y="5898244"/>
            <a:ext cx="174163" cy="153988"/>
          </a:xfrm>
          <a:prstGeom prst="ellipse">
            <a:avLst/>
          </a:prstGeom>
          <a:solidFill>
            <a:srgbClr val="FF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16" name="Oval 99">
            <a:extLst>
              <a:ext uri="{FF2B5EF4-FFF2-40B4-BE49-F238E27FC236}">
                <a16:creationId xmlns:a16="http://schemas.microsoft.com/office/drawing/2014/main" id="{7330C6A2-AF36-AE36-0DBC-B9AC071DD69A}"/>
              </a:ext>
            </a:extLst>
          </p:cNvPr>
          <p:cNvSpPr>
            <a:spLocks noChangeArrowheads="1"/>
          </p:cNvSpPr>
          <p:nvPr/>
        </p:nvSpPr>
        <p:spPr bwMode="auto">
          <a:xfrm>
            <a:off x="2329671" y="6217332"/>
            <a:ext cx="142945" cy="139700"/>
          </a:xfrm>
          <a:prstGeom prst="ellipse">
            <a:avLst/>
          </a:prstGeom>
          <a:solidFill>
            <a:schemeClr val="accent2"/>
          </a:solidFill>
          <a:ln w="12700">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17" name="Oval 100">
            <a:extLst>
              <a:ext uri="{FF2B5EF4-FFF2-40B4-BE49-F238E27FC236}">
                <a16:creationId xmlns:a16="http://schemas.microsoft.com/office/drawing/2014/main" id="{25200EAD-C367-37A4-E730-8698A00E2FDC}"/>
              </a:ext>
            </a:extLst>
          </p:cNvPr>
          <p:cNvSpPr>
            <a:spLocks noChangeArrowheads="1"/>
          </p:cNvSpPr>
          <p:nvPr/>
        </p:nvSpPr>
        <p:spPr bwMode="auto">
          <a:xfrm>
            <a:off x="2030637" y="6203044"/>
            <a:ext cx="174163" cy="168275"/>
          </a:xfrm>
          <a:prstGeom prst="ellipse">
            <a:avLst/>
          </a:prstGeom>
          <a:solidFill>
            <a:schemeClr val="bg2"/>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2618" name="Line 101">
            <a:extLst>
              <a:ext uri="{FF2B5EF4-FFF2-40B4-BE49-F238E27FC236}">
                <a16:creationId xmlns:a16="http://schemas.microsoft.com/office/drawing/2014/main" id="{C36AC12D-B024-56D9-C67C-62E65F73BEB5}"/>
              </a:ext>
            </a:extLst>
          </p:cNvPr>
          <p:cNvSpPr>
            <a:spLocks noChangeShapeType="1"/>
          </p:cNvSpPr>
          <p:nvPr/>
        </p:nvSpPr>
        <p:spPr bwMode="auto">
          <a:xfrm>
            <a:off x="1299483" y="1940607"/>
            <a:ext cx="893815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619" name="Line 102">
            <a:extLst>
              <a:ext uri="{FF2B5EF4-FFF2-40B4-BE49-F238E27FC236}">
                <a16:creationId xmlns:a16="http://schemas.microsoft.com/office/drawing/2014/main" id="{31CB0F50-4A66-1A58-18D8-05EA1454E235}"/>
              </a:ext>
            </a:extLst>
          </p:cNvPr>
          <p:cNvSpPr>
            <a:spLocks noChangeShapeType="1"/>
          </p:cNvSpPr>
          <p:nvPr/>
        </p:nvSpPr>
        <p:spPr bwMode="auto">
          <a:xfrm>
            <a:off x="1322486" y="2848657"/>
            <a:ext cx="893815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620" name="Line 103">
            <a:extLst>
              <a:ext uri="{FF2B5EF4-FFF2-40B4-BE49-F238E27FC236}">
                <a16:creationId xmlns:a16="http://schemas.microsoft.com/office/drawing/2014/main" id="{183F3E00-FD0E-39D3-0AE4-2F10865A80F5}"/>
              </a:ext>
            </a:extLst>
          </p:cNvPr>
          <p:cNvSpPr>
            <a:spLocks noChangeShapeType="1"/>
          </p:cNvSpPr>
          <p:nvPr/>
        </p:nvSpPr>
        <p:spPr bwMode="auto">
          <a:xfrm>
            <a:off x="1301126" y="4699682"/>
            <a:ext cx="893815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621" name="Line 104">
            <a:extLst>
              <a:ext uri="{FF2B5EF4-FFF2-40B4-BE49-F238E27FC236}">
                <a16:creationId xmlns:a16="http://schemas.microsoft.com/office/drawing/2014/main" id="{D6BF8FE2-8E3E-6F7B-689C-97843CC596A1}"/>
              </a:ext>
            </a:extLst>
          </p:cNvPr>
          <p:cNvSpPr>
            <a:spLocks noChangeShapeType="1"/>
          </p:cNvSpPr>
          <p:nvPr/>
        </p:nvSpPr>
        <p:spPr bwMode="auto">
          <a:xfrm>
            <a:off x="1330701" y="5628369"/>
            <a:ext cx="893815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622" name="Line 105">
            <a:extLst>
              <a:ext uri="{FF2B5EF4-FFF2-40B4-BE49-F238E27FC236}">
                <a16:creationId xmlns:a16="http://schemas.microsoft.com/office/drawing/2014/main" id="{6D38AF78-6EF7-3A78-EA21-27C528E76CA5}"/>
              </a:ext>
            </a:extLst>
          </p:cNvPr>
          <p:cNvSpPr>
            <a:spLocks noChangeShapeType="1"/>
          </p:cNvSpPr>
          <p:nvPr/>
        </p:nvSpPr>
        <p:spPr bwMode="auto">
          <a:xfrm>
            <a:off x="1299483" y="1027794"/>
            <a:ext cx="893815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dirty="0"/>
          </a:p>
        </p:txBody>
      </p:sp>
      <p:sp>
        <p:nvSpPr>
          <p:cNvPr id="22623" name="Line 106">
            <a:extLst>
              <a:ext uri="{FF2B5EF4-FFF2-40B4-BE49-F238E27FC236}">
                <a16:creationId xmlns:a16="http://schemas.microsoft.com/office/drawing/2014/main" id="{9E6F9FC9-FEB6-3DE1-A1AA-3F8B2EB7883C}"/>
              </a:ext>
            </a:extLst>
          </p:cNvPr>
          <p:cNvSpPr>
            <a:spLocks noChangeShapeType="1"/>
          </p:cNvSpPr>
          <p:nvPr/>
        </p:nvSpPr>
        <p:spPr bwMode="auto">
          <a:xfrm>
            <a:off x="1330701" y="6558644"/>
            <a:ext cx="893815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22624" name="Text Box 107">
            <a:extLst>
              <a:ext uri="{FF2B5EF4-FFF2-40B4-BE49-F238E27FC236}">
                <a16:creationId xmlns:a16="http://schemas.microsoft.com/office/drawing/2014/main" id="{9C97CC4B-2412-C99B-E5DE-398E8FC7F28D}"/>
              </a:ext>
            </a:extLst>
          </p:cNvPr>
          <p:cNvSpPr txBox="1">
            <a:spLocks noChangeArrowheads="1"/>
          </p:cNvSpPr>
          <p:nvPr/>
        </p:nvSpPr>
        <p:spPr bwMode="auto">
          <a:xfrm>
            <a:off x="2692784" y="403907"/>
            <a:ext cx="3557189"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spcBef>
                <a:spcPct val="50000"/>
              </a:spcBef>
              <a:buFont typeface="Monotype Sorts" pitchFamily="2" charset="2"/>
              <a:buNone/>
            </a:pPr>
            <a:r>
              <a:rPr kumimoji="1" lang="en-US" altLang="zh-CN" dirty="0">
                <a:ea typeface="华文楷体" panose="02010600040101010101" pitchFamily="2" charset="-122"/>
                <a:cs typeface="Times New Roman" panose="02020603050405020304" pitchFamily="18" charset="0"/>
              </a:rPr>
              <a:t>N=4</a:t>
            </a:r>
            <a:endParaRPr kumimoji="1" lang="zh-CN" altLang="en-US" dirty="0">
              <a:ea typeface="华文楷体" panose="02010600040101010101" pitchFamily="2" charset="-122"/>
              <a:cs typeface="Times New Roman" panose="02020603050405020304" pitchFamily="18" charset="0"/>
            </a:endParaRPr>
          </a:p>
        </p:txBody>
      </p:sp>
      <p:sp>
        <p:nvSpPr>
          <p:cNvPr id="22625" name="Text Box 108">
            <a:extLst>
              <a:ext uri="{FF2B5EF4-FFF2-40B4-BE49-F238E27FC236}">
                <a16:creationId xmlns:a16="http://schemas.microsoft.com/office/drawing/2014/main" id="{4D03E55C-3B9A-3EF6-E34B-700BE7AA4746}"/>
              </a:ext>
            </a:extLst>
          </p:cNvPr>
          <p:cNvSpPr txBox="1">
            <a:spLocks noChangeArrowheads="1"/>
          </p:cNvSpPr>
          <p:nvPr/>
        </p:nvSpPr>
        <p:spPr bwMode="auto">
          <a:xfrm>
            <a:off x="6327196" y="370569"/>
            <a:ext cx="1953579"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spcBef>
                <a:spcPct val="50000"/>
              </a:spcBef>
              <a:buFont typeface="Monotype Sorts" pitchFamily="2" charset="2"/>
              <a:buNone/>
            </a:pPr>
            <a:r>
              <a:rPr kumimoji="1" lang="zh-CN" altLang="en-US">
                <a:ea typeface="华文楷体" panose="02010600040101010101" pitchFamily="2" charset="-122"/>
                <a:cs typeface="Times New Roman" panose="02020603050405020304" pitchFamily="18" charset="0"/>
              </a:rPr>
              <a:t>宏观状态</a:t>
            </a:r>
          </a:p>
        </p:txBody>
      </p:sp>
      <p:sp>
        <p:nvSpPr>
          <p:cNvPr id="22626" name="Text Box 109">
            <a:extLst>
              <a:ext uri="{FF2B5EF4-FFF2-40B4-BE49-F238E27FC236}">
                <a16:creationId xmlns:a16="http://schemas.microsoft.com/office/drawing/2014/main" id="{C1EE6147-DF28-861C-6DA4-926A47797CCF}"/>
              </a:ext>
            </a:extLst>
          </p:cNvPr>
          <p:cNvSpPr txBox="1">
            <a:spLocks noChangeArrowheads="1"/>
          </p:cNvSpPr>
          <p:nvPr/>
        </p:nvSpPr>
        <p:spPr bwMode="auto">
          <a:xfrm>
            <a:off x="8303778" y="383269"/>
            <a:ext cx="1953579"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spcBef>
                <a:spcPct val="50000"/>
              </a:spcBef>
              <a:buFont typeface="Monotype Sorts" pitchFamily="2" charset="2"/>
              <a:buNone/>
            </a:pPr>
            <a:r>
              <a:rPr kumimoji="1" lang="zh-CN" altLang="en-US" dirty="0">
                <a:solidFill>
                  <a:srgbClr val="FF0000"/>
                </a:solidFill>
                <a:ea typeface="华文楷体" panose="02010600040101010101" pitchFamily="2" charset="-122"/>
                <a:cs typeface="Times New Roman" panose="02020603050405020304" pitchFamily="18" charset="0"/>
              </a:rPr>
              <a:t>微观态数</a:t>
            </a:r>
            <a:r>
              <a:rPr kumimoji="1" lang="zh-CN" altLang="en-US" dirty="0">
                <a:solidFill>
                  <a:srgbClr val="FF0000"/>
                </a:solidFill>
                <a:ea typeface="华文楷体" panose="02010600040101010101" pitchFamily="2" charset="-122"/>
                <a:cs typeface="Times New Roman" panose="02020603050405020304" pitchFamily="18" charset="0"/>
                <a:sym typeface="Symbol" panose="05050102010706020507" pitchFamily="18" charset="2"/>
              </a:rPr>
              <a:t></a:t>
            </a:r>
            <a:endParaRPr kumimoji="1" lang="zh-CN" altLang="en-US" dirty="0">
              <a:solidFill>
                <a:srgbClr val="FF0000"/>
              </a:solidFill>
              <a:ea typeface="华文楷体" panose="02010600040101010101" pitchFamily="2" charset="-122"/>
              <a:cs typeface="Times New Roman" panose="02020603050405020304" pitchFamily="18" charset="0"/>
            </a:endParaRPr>
          </a:p>
        </p:txBody>
      </p:sp>
      <p:sp>
        <p:nvSpPr>
          <p:cNvPr id="22627" name="Rectangle 110">
            <a:extLst>
              <a:ext uri="{FF2B5EF4-FFF2-40B4-BE49-F238E27FC236}">
                <a16:creationId xmlns:a16="http://schemas.microsoft.com/office/drawing/2014/main" id="{F57EF37F-58F2-4451-AC36-F85956DCCFFC}"/>
              </a:ext>
            </a:extLst>
          </p:cNvPr>
          <p:cNvSpPr>
            <a:spLocks noChangeArrowheads="1"/>
          </p:cNvSpPr>
          <p:nvPr/>
        </p:nvSpPr>
        <p:spPr bwMode="auto">
          <a:xfrm>
            <a:off x="6412635" y="1238932"/>
            <a:ext cx="1611826"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zh-CN" altLang="en-US" dirty="0">
                <a:ea typeface="华文楷体" panose="02010600040101010101" pitchFamily="2" charset="-122"/>
                <a:cs typeface="Times New Roman" panose="02020603050405020304" pitchFamily="18" charset="0"/>
              </a:rPr>
              <a:t>左</a:t>
            </a:r>
            <a:r>
              <a:rPr kumimoji="1" lang="en-US" altLang="zh-CN" dirty="0">
                <a:ea typeface="华文楷体" panose="02010600040101010101" pitchFamily="2" charset="-122"/>
                <a:cs typeface="Times New Roman" panose="02020603050405020304" pitchFamily="18" charset="0"/>
              </a:rPr>
              <a:t>4</a:t>
            </a:r>
            <a:r>
              <a:rPr kumimoji="1" lang="zh-CN" altLang="en-US" dirty="0">
                <a:ea typeface="华文楷体" panose="02010600040101010101" pitchFamily="2" charset="-122"/>
                <a:cs typeface="Times New Roman" panose="02020603050405020304" pitchFamily="18" charset="0"/>
              </a:rPr>
              <a:t>，右</a:t>
            </a:r>
            <a:r>
              <a:rPr kumimoji="1" lang="en-US" altLang="zh-CN" dirty="0">
                <a:ea typeface="华文楷体" panose="02010600040101010101" pitchFamily="2" charset="-122"/>
                <a:cs typeface="Times New Roman" panose="02020603050405020304" pitchFamily="18" charset="0"/>
              </a:rPr>
              <a:t>0</a:t>
            </a:r>
          </a:p>
        </p:txBody>
      </p:sp>
      <p:sp>
        <p:nvSpPr>
          <p:cNvPr id="22628" name="Rectangle 111">
            <a:extLst>
              <a:ext uri="{FF2B5EF4-FFF2-40B4-BE49-F238E27FC236}">
                <a16:creationId xmlns:a16="http://schemas.microsoft.com/office/drawing/2014/main" id="{8ED591FC-7727-0A18-5B3B-D9CD8C9C6F4E}"/>
              </a:ext>
            </a:extLst>
          </p:cNvPr>
          <p:cNvSpPr>
            <a:spLocks noChangeArrowheads="1"/>
          </p:cNvSpPr>
          <p:nvPr/>
        </p:nvSpPr>
        <p:spPr bwMode="auto">
          <a:xfrm>
            <a:off x="6481643" y="2148569"/>
            <a:ext cx="161018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zh-CN" altLang="en-US">
                <a:ea typeface="华文楷体" panose="02010600040101010101" pitchFamily="2" charset="-122"/>
                <a:cs typeface="Times New Roman" panose="02020603050405020304" pitchFamily="18" charset="0"/>
              </a:rPr>
              <a:t>左</a:t>
            </a:r>
            <a:r>
              <a:rPr kumimoji="1" lang="en-US" altLang="zh-CN">
                <a:ea typeface="华文楷体" panose="02010600040101010101" pitchFamily="2" charset="-122"/>
                <a:cs typeface="Times New Roman" panose="02020603050405020304" pitchFamily="18" charset="0"/>
              </a:rPr>
              <a:t>3</a:t>
            </a:r>
            <a:r>
              <a:rPr kumimoji="1" lang="zh-CN" altLang="en-US">
                <a:ea typeface="华文楷体" panose="02010600040101010101" pitchFamily="2" charset="-122"/>
                <a:cs typeface="Times New Roman" panose="02020603050405020304" pitchFamily="18" charset="0"/>
              </a:rPr>
              <a:t>，右</a:t>
            </a:r>
            <a:r>
              <a:rPr kumimoji="1" lang="en-US" altLang="zh-CN">
                <a:ea typeface="华文楷体" panose="02010600040101010101" pitchFamily="2" charset="-122"/>
                <a:cs typeface="Times New Roman" panose="02020603050405020304" pitchFamily="18" charset="0"/>
              </a:rPr>
              <a:t>1</a:t>
            </a:r>
          </a:p>
        </p:txBody>
      </p:sp>
      <p:sp>
        <p:nvSpPr>
          <p:cNvPr id="22629" name="Rectangle 112">
            <a:extLst>
              <a:ext uri="{FF2B5EF4-FFF2-40B4-BE49-F238E27FC236}">
                <a16:creationId xmlns:a16="http://schemas.microsoft.com/office/drawing/2014/main" id="{3CA8AB27-97D7-CFCE-20E2-60AD4A3C7194}"/>
              </a:ext>
            </a:extLst>
          </p:cNvPr>
          <p:cNvSpPr>
            <a:spLocks noChangeArrowheads="1"/>
          </p:cNvSpPr>
          <p:nvPr/>
        </p:nvSpPr>
        <p:spPr bwMode="auto">
          <a:xfrm>
            <a:off x="6466855" y="3523344"/>
            <a:ext cx="1667689"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zh-CN" altLang="en-US">
                <a:solidFill>
                  <a:srgbClr val="FF0000"/>
                </a:solidFill>
                <a:ea typeface="华文楷体" panose="02010600040101010101" pitchFamily="2" charset="-122"/>
                <a:cs typeface="Times New Roman" panose="02020603050405020304" pitchFamily="18" charset="0"/>
              </a:rPr>
              <a:t>左</a:t>
            </a:r>
            <a:r>
              <a:rPr kumimoji="1" lang="en-US" altLang="zh-CN">
                <a:solidFill>
                  <a:srgbClr val="FF0000"/>
                </a:solidFill>
                <a:ea typeface="华文楷体" panose="02010600040101010101" pitchFamily="2" charset="-122"/>
                <a:cs typeface="Times New Roman" panose="02020603050405020304" pitchFamily="18" charset="0"/>
              </a:rPr>
              <a:t>2</a:t>
            </a:r>
            <a:r>
              <a:rPr kumimoji="1" lang="zh-CN" altLang="en-US">
                <a:solidFill>
                  <a:srgbClr val="FF0000"/>
                </a:solidFill>
                <a:ea typeface="华文楷体" panose="02010600040101010101" pitchFamily="2" charset="-122"/>
                <a:cs typeface="Times New Roman" panose="02020603050405020304" pitchFamily="18" charset="0"/>
              </a:rPr>
              <a:t>，右</a:t>
            </a:r>
            <a:r>
              <a:rPr kumimoji="1" lang="en-US" altLang="zh-CN">
                <a:solidFill>
                  <a:srgbClr val="FF0000"/>
                </a:solidFill>
                <a:ea typeface="华文楷体" panose="02010600040101010101" pitchFamily="2" charset="-122"/>
                <a:cs typeface="Times New Roman" panose="02020603050405020304" pitchFamily="18" charset="0"/>
              </a:rPr>
              <a:t>2</a:t>
            </a:r>
          </a:p>
        </p:txBody>
      </p:sp>
      <p:sp>
        <p:nvSpPr>
          <p:cNvPr id="22630" name="Rectangle 113">
            <a:extLst>
              <a:ext uri="{FF2B5EF4-FFF2-40B4-BE49-F238E27FC236}">
                <a16:creationId xmlns:a16="http://schemas.microsoft.com/office/drawing/2014/main" id="{369E6013-3CEA-F067-177D-AD6563D3880C}"/>
              </a:ext>
            </a:extLst>
          </p:cNvPr>
          <p:cNvSpPr>
            <a:spLocks noChangeArrowheads="1"/>
          </p:cNvSpPr>
          <p:nvPr/>
        </p:nvSpPr>
        <p:spPr bwMode="auto">
          <a:xfrm>
            <a:off x="6496430" y="4918757"/>
            <a:ext cx="1611826"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zh-CN" altLang="en-US">
                <a:ea typeface="华文楷体" panose="02010600040101010101" pitchFamily="2" charset="-122"/>
                <a:cs typeface="Times New Roman" panose="02020603050405020304" pitchFamily="18" charset="0"/>
              </a:rPr>
              <a:t>左</a:t>
            </a:r>
            <a:r>
              <a:rPr kumimoji="1" lang="en-US" altLang="zh-CN">
                <a:ea typeface="华文楷体" panose="02010600040101010101" pitchFamily="2" charset="-122"/>
                <a:cs typeface="Times New Roman" panose="02020603050405020304" pitchFamily="18" charset="0"/>
              </a:rPr>
              <a:t>1</a:t>
            </a:r>
            <a:r>
              <a:rPr kumimoji="1" lang="zh-CN" altLang="en-US">
                <a:ea typeface="华文楷体" panose="02010600040101010101" pitchFamily="2" charset="-122"/>
                <a:cs typeface="Times New Roman" panose="02020603050405020304" pitchFamily="18" charset="0"/>
              </a:rPr>
              <a:t>，右</a:t>
            </a:r>
            <a:r>
              <a:rPr kumimoji="1" lang="en-US" altLang="zh-CN">
                <a:ea typeface="华文楷体" panose="02010600040101010101" pitchFamily="2" charset="-122"/>
                <a:cs typeface="Times New Roman" panose="02020603050405020304" pitchFamily="18" charset="0"/>
              </a:rPr>
              <a:t>3</a:t>
            </a:r>
          </a:p>
        </p:txBody>
      </p:sp>
      <p:sp>
        <p:nvSpPr>
          <p:cNvPr id="22631" name="Rectangle 114">
            <a:extLst>
              <a:ext uri="{FF2B5EF4-FFF2-40B4-BE49-F238E27FC236}">
                <a16:creationId xmlns:a16="http://schemas.microsoft.com/office/drawing/2014/main" id="{AAE76CA8-2C63-2B3E-E59E-939B71DE4E29}"/>
              </a:ext>
            </a:extLst>
          </p:cNvPr>
          <p:cNvSpPr>
            <a:spLocks noChangeArrowheads="1"/>
          </p:cNvSpPr>
          <p:nvPr/>
        </p:nvSpPr>
        <p:spPr bwMode="auto">
          <a:xfrm>
            <a:off x="6468498" y="5849032"/>
            <a:ext cx="1611826"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zh-CN" altLang="en-US">
                <a:ea typeface="华文楷体" panose="02010600040101010101" pitchFamily="2" charset="-122"/>
                <a:cs typeface="Times New Roman" panose="02020603050405020304" pitchFamily="18" charset="0"/>
              </a:rPr>
              <a:t>左</a:t>
            </a:r>
            <a:r>
              <a:rPr kumimoji="1" lang="en-US" altLang="zh-CN">
                <a:ea typeface="华文楷体" panose="02010600040101010101" pitchFamily="2" charset="-122"/>
                <a:cs typeface="Times New Roman" panose="02020603050405020304" pitchFamily="18" charset="0"/>
              </a:rPr>
              <a:t>0</a:t>
            </a:r>
            <a:r>
              <a:rPr kumimoji="1" lang="zh-CN" altLang="en-US">
                <a:ea typeface="华文楷体" panose="02010600040101010101" pitchFamily="2" charset="-122"/>
                <a:cs typeface="Times New Roman" panose="02020603050405020304" pitchFamily="18" charset="0"/>
              </a:rPr>
              <a:t>，右</a:t>
            </a:r>
            <a:r>
              <a:rPr kumimoji="1" lang="en-US" altLang="zh-CN">
                <a:ea typeface="华文楷体" panose="02010600040101010101" pitchFamily="2" charset="-122"/>
                <a:cs typeface="Times New Roman" panose="02020603050405020304" pitchFamily="18" charset="0"/>
              </a:rPr>
              <a:t>4</a:t>
            </a:r>
          </a:p>
        </p:txBody>
      </p:sp>
      <p:sp>
        <p:nvSpPr>
          <p:cNvPr id="22632" name="Rectangle 115">
            <a:extLst>
              <a:ext uri="{FF2B5EF4-FFF2-40B4-BE49-F238E27FC236}">
                <a16:creationId xmlns:a16="http://schemas.microsoft.com/office/drawing/2014/main" id="{99A346BF-A693-4B39-02C1-0EAA2B6A17FC}"/>
              </a:ext>
            </a:extLst>
          </p:cNvPr>
          <p:cNvSpPr>
            <a:spLocks noChangeArrowheads="1"/>
          </p:cNvSpPr>
          <p:nvPr/>
        </p:nvSpPr>
        <p:spPr bwMode="auto">
          <a:xfrm>
            <a:off x="9163090" y="1224644"/>
            <a:ext cx="36147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en-US" altLang="zh-CN">
                <a:solidFill>
                  <a:srgbClr val="FF0000"/>
                </a:solidFill>
                <a:ea typeface="华文楷体" panose="02010600040101010101" pitchFamily="2" charset="-122"/>
                <a:cs typeface="Times New Roman" panose="02020603050405020304" pitchFamily="18" charset="0"/>
              </a:rPr>
              <a:t>1</a:t>
            </a:r>
          </a:p>
        </p:txBody>
      </p:sp>
      <p:sp>
        <p:nvSpPr>
          <p:cNvPr id="22633" name="Rectangle 116">
            <a:extLst>
              <a:ext uri="{FF2B5EF4-FFF2-40B4-BE49-F238E27FC236}">
                <a16:creationId xmlns:a16="http://schemas.microsoft.com/office/drawing/2014/main" id="{C7CC09E2-7013-8EE3-06F8-534523857461}"/>
              </a:ext>
            </a:extLst>
          </p:cNvPr>
          <p:cNvSpPr>
            <a:spLocks noChangeArrowheads="1"/>
          </p:cNvSpPr>
          <p:nvPr/>
        </p:nvSpPr>
        <p:spPr bwMode="auto">
          <a:xfrm>
            <a:off x="9260029" y="5876019"/>
            <a:ext cx="3631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en-US" altLang="zh-CN">
                <a:solidFill>
                  <a:srgbClr val="FF0000"/>
                </a:solidFill>
                <a:ea typeface="华文楷体" panose="02010600040101010101" pitchFamily="2" charset="-122"/>
                <a:cs typeface="Times New Roman" panose="02020603050405020304" pitchFamily="18" charset="0"/>
              </a:rPr>
              <a:t>1</a:t>
            </a:r>
          </a:p>
        </p:txBody>
      </p:sp>
      <p:sp>
        <p:nvSpPr>
          <p:cNvPr id="22634" name="Rectangle 117">
            <a:extLst>
              <a:ext uri="{FF2B5EF4-FFF2-40B4-BE49-F238E27FC236}">
                <a16:creationId xmlns:a16="http://schemas.microsoft.com/office/drawing/2014/main" id="{1C960E99-4EFB-0D2D-30C3-6688BCE545AB}"/>
              </a:ext>
            </a:extLst>
          </p:cNvPr>
          <p:cNvSpPr>
            <a:spLocks noChangeArrowheads="1"/>
          </p:cNvSpPr>
          <p:nvPr/>
        </p:nvSpPr>
        <p:spPr bwMode="auto">
          <a:xfrm>
            <a:off x="9238670" y="4925107"/>
            <a:ext cx="36147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en-US" altLang="zh-CN">
                <a:solidFill>
                  <a:srgbClr val="FF0000"/>
                </a:solidFill>
                <a:ea typeface="华文楷体" panose="02010600040101010101" pitchFamily="2" charset="-122"/>
                <a:cs typeface="Times New Roman" panose="02020603050405020304" pitchFamily="18" charset="0"/>
              </a:rPr>
              <a:t>4</a:t>
            </a:r>
          </a:p>
        </p:txBody>
      </p:sp>
      <p:sp>
        <p:nvSpPr>
          <p:cNvPr id="22635" name="Rectangle 118">
            <a:extLst>
              <a:ext uri="{FF2B5EF4-FFF2-40B4-BE49-F238E27FC236}">
                <a16:creationId xmlns:a16="http://schemas.microsoft.com/office/drawing/2014/main" id="{11900FE8-53F4-3301-85AC-4405AC5F8C5B}"/>
              </a:ext>
            </a:extLst>
          </p:cNvPr>
          <p:cNvSpPr>
            <a:spLocks noChangeArrowheads="1"/>
          </p:cNvSpPr>
          <p:nvPr/>
        </p:nvSpPr>
        <p:spPr bwMode="auto">
          <a:xfrm>
            <a:off x="9217310" y="3496357"/>
            <a:ext cx="3631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en-US" altLang="zh-CN">
                <a:solidFill>
                  <a:srgbClr val="FF0000"/>
                </a:solidFill>
                <a:ea typeface="华文楷体" panose="02010600040101010101" pitchFamily="2" charset="-122"/>
                <a:cs typeface="Times New Roman" panose="02020603050405020304" pitchFamily="18" charset="0"/>
              </a:rPr>
              <a:t>6</a:t>
            </a:r>
          </a:p>
        </p:txBody>
      </p:sp>
      <p:sp>
        <p:nvSpPr>
          <p:cNvPr id="22636" name="Rectangle 119">
            <a:extLst>
              <a:ext uri="{FF2B5EF4-FFF2-40B4-BE49-F238E27FC236}">
                <a16:creationId xmlns:a16="http://schemas.microsoft.com/office/drawing/2014/main" id="{DA92FB69-0507-7114-4087-7E81D4C17DAB}"/>
              </a:ext>
            </a:extLst>
          </p:cNvPr>
          <p:cNvSpPr>
            <a:spLocks noChangeArrowheads="1"/>
          </p:cNvSpPr>
          <p:nvPr/>
        </p:nvSpPr>
        <p:spPr bwMode="auto">
          <a:xfrm>
            <a:off x="9164733" y="2139044"/>
            <a:ext cx="36147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en-US" altLang="zh-CN">
                <a:solidFill>
                  <a:srgbClr val="FF0000"/>
                </a:solidFill>
                <a:ea typeface="华文楷体" panose="02010600040101010101" pitchFamily="2" charset="-122"/>
                <a:cs typeface="Times New Roman" panose="02020603050405020304" pitchFamily="18" charset="0"/>
              </a:rPr>
              <a:t>4</a:t>
            </a:r>
          </a:p>
        </p:txBody>
      </p:sp>
    </p:spTree>
    <p:extLst>
      <p:ext uri="{BB962C8B-B14F-4D97-AF65-F5344CB8AC3E}">
        <p14:creationId xmlns:p14="http://schemas.microsoft.com/office/powerpoint/2010/main" val="1102201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8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58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58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59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59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59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6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6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62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6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6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5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55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55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55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55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55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55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57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57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57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57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57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258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259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61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62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263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253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253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253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253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253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253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253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254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254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254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254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2254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2255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2558"/>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255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256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2561"/>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2562"/>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2563"/>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256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2565"/>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2566"/>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22567"/>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22568"/>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22594"/>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22595"/>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22596"/>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22597"/>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22598"/>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22599"/>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22600"/>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22601"/>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22602"/>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22603"/>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22604"/>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22605"/>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22619"/>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2262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22629"/>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22635"/>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22545"/>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22546"/>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22547"/>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22548"/>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22549"/>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22550"/>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22569"/>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22570"/>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22571"/>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22572"/>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22573"/>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22574"/>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22581"/>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22582"/>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22583"/>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22584"/>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22585"/>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22586"/>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22606"/>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22607"/>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22608"/>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22609"/>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22610"/>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22611"/>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22630"/>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22634"/>
                                        </p:tgtEl>
                                        <p:attrNameLst>
                                          <p:attrName>style.visibility</p:attrName>
                                        </p:attrNameLst>
                                      </p:cBhvr>
                                      <p:to>
                                        <p:strVal val="visible"/>
                                      </p:to>
                                    </p:set>
                                  </p:childTnLst>
                                </p:cTn>
                              </p:par>
                            </p:childTnLst>
                          </p:cTn>
                        </p:par>
                      </p:childTnLst>
                    </p:cTn>
                  </p:par>
                  <p:par>
                    <p:cTn id="199" fill="hold">
                      <p:stCondLst>
                        <p:cond delay="indefinite"/>
                      </p:stCondLst>
                      <p:childTnLst>
                        <p:par>
                          <p:cTn id="200" fill="hold">
                            <p:stCondLst>
                              <p:cond delay="0"/>
                            </p:stCondLst>
                            <p:childTnLst>
                              <p:par>
                                <p:cTn id="201" presetID="1" presetClass="entr" presetSubtype="0" fill="hold" grpId="0" nodeType="clickEffect">
                                  <p:stCondLst>
                                    <p:cond delay="0"/>
                                  </p:stCondLst>
                                  <p:childTnLst>
                                    <p:set>
                                      <p:cBhvr>
                                        <p:cTn id="202" dur="1" fill="hold">
                                          <p:stCondLst>
                                            <p:cond delay="0"/>
                                          </p:stCondLst>
                                        </p:cTn>
                                        <p:tgtEl>
                                          <p:spTgt spid="22612"/>
                                        </p:tgtEl>
                                        <p:attrNameLst>
                                          <p:attrName>style.visibility</p:attrName>
                                        </p:attrNameLst>
                                      </p:cBhvr>
                                      <p:to>
                                        <p:strVal val="visible"/>
                                      </p:to>
                                    </p:set>
                                  </p:childTnLst>
                                </p:cTn>
                              </p:par>
                              <p:par>
                                <p:cTn id="203" presetID="1" presetClass="entr" presetSubtype="0" fill="hold" grpId="0" nodeType="withEffect">
                                  <p:stCondLst>
                                    <p:cond delay="0"/>
                                  </p:stCondLst>
                                  <p:childTnLst>
                                    <p:set>
                                      <p:cBhvr>
                                        <p:cTn id="204" dur="1" fill="hold">
                                          <p:stCondLst>
                                            <p:cond delay="0"/>
                                          </p:stCondLst>
                                        </p:cTn>
                                        <p:tgtEl>
                                          <p:spTgt spid="22613"/>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22614"/>
                                        </p:tgtEl>
                                        <p:attrNameLst>
                                          <p:attrName>style.visibility</p:attrName>
                                        </p:attrNameLst>
                                      </p:cBhvr>
                                      <p:to>
                                        <p:strVal val="visible"/>
                                      </p:to>
                                    </p:set>
                                  </p:childTnLst>
                                </p:cTn>
                              </p:par>
                              <p:par>
                                <p:cTn id="207" presetID="1" presetClass="entr" presetSubtype="0" fill="hold" grpId="0" nodeType="withEffect">
                                  <p:stCondLst>
                                    <p:cond delay="0"/>
                                  </p:stCondLst>
                                  <p:childTnLst>
                                    <p:set>
                                      <p:cBhvr>
                                        <p:cTn id="208" dur="1" fill="hold">
                                          <p:stCondLst>
                                            <p:cond delay="0"/>
                                          </p:stCondLst>
                                        </p:cTn>
                                        <p:tgtEl>
                                          <p:spTgt spid="22615"/>
                                        </p:tgtEl>
                                        <p:attrNameLst>
                                          <p:attrName>style.visibility</p:attrName>
                                        </p:attrNameLst>
                                      </p:cBhvr>
                                      <p:to>
                                        <p:strVal val="visible"/>
                                      </p:to>
                                    </p:set>
                                  </p:childTnLst>
                                </p:cTn>
                              </p:par>
                              <p:par>
                                <p:cTn id="209" presetID="1" presetClass="entr" presetSubtype="0" fill="hold" grpId="0" nodeType="withEffect">
                                  <p:stCondLst>
                                    <p:cond delay="0"/>
                                  </p:stCondLst>
                                  <p:childTnLst>
                                    <p:set>
                                      <p:cBhvr>
                                        <p:cTn id="210" dur="1" fill="hold">
                                          <p:stCondLst>
                                            <p:cond delay="0"/>
                                          </p:stCondLst>
                                        </p:cTn>
                                        <p:tgtEl>
                                          <p:spTgt spid="22616"/>
                                        </p:tgtEl>
                                        <p:attrNameLst>
                                          <p:attrName>style.visibility</p:attrName>
                                        </p:attrNameLst>
                                      </p:cBhvr>
                                      <p:to>
                                        <p:strVal val="visible"/>
                                      </p:to>
                                    </p:set>
                                  </p:childTnLst>
                                </p:cTn>
                              </p:par>
                              <p:par>
                                <p:cTn id="211" presetID="1" presetClass="entr" presetSubtype="0" fill="hold" grpId="0" nodeType="withEffect">
                                  <p:stCondLst>
                                    <p:cond delay="0"/>
                                  </p:stCondLst>
                                  <p:childTnLst>
                                    <p:set>
                                      <p:cBhvr>
                                        <p:cTn id="212" dur="1" fill="hold">
                                          <p:stCondLst>
                                            <p:cond delay="0"/>
                                          </p:stCondLst>
                                        </p:cTn>
                                        <p:tgtEl>
                                          <p:spTgt spid="22617"/>
                                        </p:tgtEl>
                                        <p:attrNameLst>
                                          <p:attrName>style.visibility</p:attrName>
                                        </p:attrNameLst>
                                      </p:cBhvr>
                                      <p:to>
                                        <p:strVal val="visible"/>
                                      </p:to>
                                    </p:set>
                                  </p:childTnLst>
                                </p:cTn>
                              </p:par>
                              <p:par>
                                <p:cTn id="213" presetID="1" presetClass="entr" presetSubtype="0" fill="hold" grpId="0" nodeType="withEffect">
                                  <p:stCondLst>
                                    <p:cond delay="0"/>
                                  </p:stCondLst>
                                  <p:childTnLst>
                                    <p:set>
                                      <p:cBhvr>
                                        <p:cTn id="214" dur="1" fill="hold">
                                          <p:stCondLst>
                                            <p:cond delay="0"/>
                                          </p:stCondLst>
                                        </p:cTn>
                                        <p:tgtEl>
                                          <p:spTgt spid="22621"/>
                                        </p:tgtEl>
                                        <p:attrNameLst>
                                          <p:attrName>style.visibility</p:attrName>
                                        </p:attrNameLst>
                                      </p:cBhvr>
                                      <p:to>
                                        <p:strVal val="visible"/>
                                      </p:to>
                                    </p:set>
                                  </p:childTnLst>
                                </p:cTn>
                              </p:par>
                              <p:par>
                                <p:cTn id="215" presetID="1" presetClass="entr" presetSubtype="0" fill="hold" grpId="0" nodeType="withEffect">
                                  <p:stCondLst>
                                    <p:cond delay="0"/>
                                  </p:stCondLst>
                                  <p:childTnLst>
                                    <p:set>
                                      <p:cBhvr>
                                        <p:cTn id="216" dur="1" fill="hold">
                                          <p:stCondLst>
                                            <p:cond delay="0"/>
                                          </p:stCondLst>
                                        </p:cTn>
                                        <p:tgtEl>
                                          <p:spTgt spid="22623"/>
                                        </p:tgtEl>
                                        <p:attrNameLst>
                                          <p:attrName>style.visibility</p:attrName>
                                        </p:attrNameLst>
                                      </p:cBhvr>
                                      <p:to>
                                        <p:strVal val="visible"/>
                                      </p:to>
                                    </p:set>
                                  </p:childTnLst>
                                </p:cTn>
                              </p:par>
                              <p:par>
                                <p:cTn id="217" presetID="1" presetClass="entr" presetSubtype="0" fill="hold" grpId="0" nodeType="withEffect">
                                  <p:stCondLst>
                                    <p:cond delay="0"/>
                                  </p:stCondLst>
                                  <p:childTnLst>
                                    <p:set>
                                      <p:cBhvr>
                                        <p:cTn id="218" dur="1" fill="hold">
                                          <p:stCondLst>
                                            <p:cond delay="0"/>
                                          </p:stCondLst>
                                        </p:cTn>
                                        <p:tgtEl>
                                          <p:spTgt spid="22631"/>
                                        </p:tgtEl>
                                        <p:attrNameLst>
                                          <p:attrName>style.visibility</p:attrName>
                                        </p:attrNameLst>
                                      </p:cBhvr>
                                      <p:to>
                                        <p:strVal val="visible"/>
                                      </p:to>
                                    </p:set>
                                  </p:childTnLst>
                                </p:cTn>
                              </p:par>
                              <p:par>
                                <p:cTn id="219" presetID="1" presetClass="entr" presetSubtype="0" fill="hold" grpId="0" nodeType="withEffect">
                                  <p:stCondLst>
                                    <p:cond delay="0"/>
                                  </p:stCondLst>
                                  <p:childTnLst>
                                    <p:set>
                                      <p:cBhvr>
                                        <p:cTn id="220" dur="1" fill="hold">
                                          <p:stCondLst>
                                            <p:cond delay="0"/>
                                          </p:stCondLst>
                                        </p:cTn>
                                        <p:tgtEl>
                                          <p:spTgt spid="226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p:bldP spid="22534" grpId="0" animBg="1"/>
      <p:bldP spid="22535" grpId="0" animBg="1"/>
      <p:bldP spid="22536" grpId="0" animBg="1"/>
      <p:bldP spid="22537" grpId="0" animBg="1"/>
      <p:bldP spid="22538" grpId="0" animBg="1"/>
      <p:bldP spid="22539" grpId="0" animBg="1"/>
      <p:bldP spid="22540" grpId="0" animBg="1"/>
      <p:bldP spid="22541" grpId="0" animBg="1"/>
      <p:bldP spid="22542" grpId="0" animBg="1"/>
      <p:bldP spid="22543" grpId="0" animBg="1"/>
      <p:bldP spid="22544" grpId="0" animBg="1"/>
      <p:bldP spid="22545" grpId="0" animBg="1"/>
      <p:bldP spid="22546" grpId="0" animBg="1"/>
      <p:bldP spid="22547" grpId="0" animBg="1"/>
      <p:bldP spid="22548" grpId="0" animBg="1"/>
      <p:bldP spid="22549" grpId="0" animBg="1"/>
      <p:bldP spid="22550" grpId="0" animBg="1"/>
      <p:bldP spid="22551" grpId="0" animBg="1"/>
      <p:bldP spid="22552" grpId="0" animBg="1"/>
      <p:bldP spid="22553" grpId="0" animBg="1"/>
      <p:bldP spid="22554" grpId="0" animBg="1"/>
      <p:bldP spid="22555" grpId="0" animBg="1"/>
      <p:bldP spid="22556" grpId="0" animBg="1"/>
      <p:bldP spid="22557" grpId="0" animBg="1"/>
      <p:bldP spid="22558" grpId="0" animBg="1"/>
      <p:bldP spid="22559" grpId="0" animBg="1"/>
      <p:bldP spid="22560" grpId="0" animBg="1"/>
      <p:bldP spid="22561" grpId="0" animBg="1"/>
      <p:bldP spid="22562" grpId="0" animBg="1"/>
      <p:bldP spid="22563" grpId="0" animBg="1"/>
      <p:bldP spid="22564" grpId="0" animBg="1"/>
      <p:bldP spid="22565" grpId="0" animBg="1"/>
      <p:bldP spid="22566" grpId="0" animBg="1"/>
      <p:bldP spid="22567" grpId="0" animBg="1"/>
      <p:bldP spid="22568" grpId="0" animBg="1"/>
      <p:bldP spid="22569" grpId="0" animBg="1"/>
      <p:bldP spid="22570" grpId="0" animBg="1"/>
      <p:bldP spid="22571" grpId="0" animBg="1"/>
      <p:bldP spid="22572" grpId="0" animBg="1"/>
      <p:bldP spid="22573" grpId="0" animBg="1"/>
      <p:bldP spid="22574" grpId="0" animBg="1"/>
      <p:bldP spid="22575" grpId="0" animBg="1"/>
      <p:bldP spid="22576" grpId="0" animBg="1"/>
      <p:bldP spid="22577" grpId="0" animBg="1"/>
      <p:bldP spid="22578" grpId="0" animBg="1"/>
      <p:bldP spid="22579" grpId="0" animBg="1"/>
      <p:bldP spid="22580" grpId="0" animBg="1"/>
      <p:bldP spid="22581" grpId="0" animBg="1"/>
      <p:bldP spid="22582" grpId="0" animBg="1"/>
      <p:bldP spid="22583" grpId="0" animBg="1"/>
      <p:bldP spid="22584" grpId="0" animBg="1"/>
      <p:bldP spid="22585" grpId="0" animBg="1"/>
      <p:bldP spid="22586" grpId="0" animBg="1"/>
      <p:bldP spid="22587" grpId="0" animBg="1"/>
      <p:bldP spid="22588" grpId="0" animBg="1"/>
      <p:bldP spid="22589" grpId="0" animBg="1"/>
      <p:bldP spid="22590" grpId="0" animBg="1"/>
      <p:bldP spid="22591" grpId="0" animBg="1"/>
      <p:bldP spid="22592" grpId="0" animBg="1"/>
      <p:bldP spid="22594" grpId="0" animBg="1"/>
      <p:bldP spid="22595" grpId="0" animBg="1"/>
      <p:bldP spid="22596" grpId="0" animBg="1"/>
      <p:bldP spid="22597" grpId="0" animBg="1"/>
      <p:bldP spid="22598" grpId="0" animBg="1"/>
      <p:bldP spid="22599" grpId="0" animBg="1"/>
      <p:bldP spid="22600" grpId="0" animBg="1"/>
      <p:bldP spid="22601" grpId="0" animBg="1"/>
      <p:bldP spid="22602" grpId="0" animBg="1"/>
      <p:bldP spid="22603" grpId="0" animBg="1"/>
      <p:bldP spid="22604" grpId="0" animBg="1"/>
      <p:bldP spid="22605" grpId="0" animBg="1"/>
      <p:bldP spid="22606" grpId="0" animBg="1"/>
      <p:bldP spid="22607" grpId="0" animBg="1"/>
      <p:bldP spid="22608" grpId="0" animBg="1"/>
      <p:bldP spid="22609" grpId="0" animBg="1"/>
      <p:bldP spid="22610" grpId="0" animBg="1"/>
      <p:bldP spid="22611" grpId="0" animBg="1"/>
      <p:bldP spid="22612" grpId="0" animBg="1"/>
      <p:bldP spid="22613" grpId="0" animBg="1"/>
      <p:bldP spid="22614" grpId="0" animBg="1"/>
      <p:bldP spid="22615" grpId="0" animBg="1"/>
      <p:bldP spid="22616" grpId="0" animBg="1"/>
      <p:bldP spid="22617" grpId="0" animBg="1"/>
      <p:bldP spid="22618" grpId="0" animBg="1"/>
      <p:bldP spid="22619" grpId="0" animBg="1"/>
      <p:bldP spid="22620" grpId="0" animBg="1"/>
      <p:bldP spid="22621" grpId="0" animBg="1"/>
      <p:bldP spid="22622" grpId="0" animBg="1"/>
      <p:bldP spid="22623" grpId="0" animBg="1"/>
      <p:bldP spid="22625" grpId="0"/>
      <p:bldP spid="22626" grpId="0"/>
      <p:bldP spid="22627" grpId="0"/>
      <p:bldP spid="22628" grpId="0"/>
      <p:bldP spid="22629" grpId="0"/>
      <p:bldP spid="22630" grpId="0"/>
      <p:bldP spid="22631" grpId="0"/>
      <p:bldP spid="22632" grpId="0"/>
      <p:bldP spid="22633" grpId="0"/>
      <p:bldP spid="22634" grpId="0"/>
      <p:bldP spid="22635" grpId="0"/>
      <p:bldP spid="2263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555" name="Group 2">
            <a:extLst>
              <a:ext uri="{FF2B5EF4-FFF2-40B4-BE49-F238E27FC236}">
                <a16:creationId xmlns:a16="http://schemas.microsoft.com/office/drawing/2014/main" id="{B15DC54F-2E26-2F00-7940-041ECA7E12CA}"/>
              </a:ext>
            </a:extLst>
          </p:cNvPr>
          <p:cNvGrpSpPr>
            <a:grpSpLocks/>
          </p:cNvGrpSpPr>
          <p:nvPr/>
        </p:nvGrpSpPr>
        <p:grpSpPr bwMode="auto">
          <a:xfrm>
            <a:off x="2063751" y="908051"/>
            <a:ext cx="8208963" cy="5332413"/>
            <a:chOff x="362" y="565"/>
            <a:chExt cx="4948" cy="3359"/>
          </a:xfrm>
        </p:grpSpPr>
        <p:sp>
          <p:nvSpPr>
            <p:cNvPr id="23557" name="Freeform 3">
              <a:extLst>
                <a:ext uri="{FF2B5EF4-FFF2-40B4-BE49-F238E27FC236}">
                  <a16:creationId xmlns:a16="http://schemas.microsoft.com/office/drawing/2014/main" id="{6DD6CCAF-1063-5AE4-38E4-DC5D1939640E}"/>
                </a:ext>
              </a:extLst>
            </p:cNvPr>
            <p:cNvSpPr>
              <a:spLocks/>
            </p:cNvSpPr>
            <p:nvPr/>
          </p:nvSpPr>
          <p:spPr bwMode="auto">
            <a:xfrm>
              <a:off x="520" y="3442"/>
              <a:ext cx="3344" cy="109"/>
            </a:xfrm>
            <a:custGeom>
              <a:avLst/>
              <a:gdLst>
                <a:gd name="T0" fmla="*/ 0 w 3344"/>
                <a:gd name="T1" fmla="*/ 109 h 109"/>
                <a:gd name="T2" fmla="*/ 186 w 3344"/>
                <a:gd name="T3" fmla="*/ 0 h 109"/>
                <a:gd name="T4" fmla="*/ 3344 w 3344"/>
                <a:gd name="T5" fmla="*/ 0 h 109"/>
                <a:gd name="T6" fmla="*/ 3158 w 3344"/>
                <a:gd name="T7" fmla="*/ 109 h 109"/>
                <a:gd name="T8" fmla="*/ 0 w 3344"/>
                <a:gd name="T9" fmla="*/ 109 h 109"/>
                <a:gd name="T10" fmla="*/ 0 60000 65536"/>
                <a:gd name="T11" fmla="*/ 0 60000 65536"/>
                <a:gd name="T12" fmla="*/ 0 60000 65536"/>
                <a:gd name="T13" fmla="*/ 0 60000 65536"/>
                <a:gd name="T14" fmla="*/ 0 60000 65536"/>
                <a:gd name="T15" fmla="*/ 0 w 3344"/>
                <a:gd name="T16" fmla="*/ 0 h 109"/>
                <a:gd name="T17" fmla="*/ 3344 w 3344"/>
                <a:gd name="T18" fmla="*/ 109 h 109"/>
              </a:gdLst>
              <a:ahLst/>
              <a:cxnLst>
                <a:cxn ang="T10">
                  <a:pos x="T0" y="T1"/>
                </a:cxn>
                <a:cxn ang="T11">
                  <a:pos x="T2" y="T3"/>
                </a:cxn>
                <a:cxn ang="T12">
                  <a:pos x="T4" y="T5"/>
                </a:cxn>
                <a:cxn ang="T13">
                  <a:pos x="T6" y="T7"/>
                </a:cxn>
                <a:cxn ang="T14">
                  <a:pos x="T8" y="T9"/>
                </a:cxn>
              </a:cxnLst>
              <a:rect l="T15" t="T16" r="T17" b="T18"/>
              <a:pathLst>
                <a:path w="3344" h="109">
                  <a:moveTo>
                    <a:pt x="0" y="109"/>
                  </a:moveTo>
                  <a:lnTo>
                    <a:pt x="186" y="0"/>
                  </a:lnTo>
                  <a:lnTo>
                    <a:pt x="3344" y="0"/>
                  </a:lnTo>
                  <a:lnTo>
                    <a:pt x="3158" y="109"/>
                  </a:lnTo>
                  <a:lnTo>
                    <a:pt x="0" y="10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58" name="Freeform 4">
              <a:extLst>
                <a:ext uri="{FF2B5EF4-FFF2-40B4-BE49-F238E27FC236}">
                  <a16:creationId xmlns:a16="http://schemas.microsoft.com/office/drawing/2014/main" id="{705C2C5B-62B2-8B7F-DA7F-66FB0E436415}"/>
                </a:ext>
              </a:extLst>
            </p:cNvPr>
            <p:cNvSpPr>
              <a:spLocks/>
            </p:cNvSpPr>
            <p:nvPr/>
          </p:nvSpPr>
          <p:spPr bwMode="auto">
            <a:xfrm>
              <a:off x="520" y="696"/>
              <a:ext cx="186" cy="2855"/>
            </a:xfrm>
            <a:custGeom>
              <a:avLst/>
              <a:gdLst>
                <a:gd name="T0" fmla="*/ 0 w 186"/>
                <a:gd name="T1" fmla="*/ 2855 h 2855"/>
                <a:gd name="T2" fmla="*/ 0 w 186"/>
                <a:gd name="T3" fmla="*/ 109 h 2855"/>
                <a:gd name="T4" fmla="*/ 186 w 186"/>
                <a:gd name="T5" fmla="*/ 0 h 2855"/>
                <a:gd name="T6" fmla="*/ 186 w 186"/>
                <a:gd name="T7" fmla="*/ 2746 h 2855"/>
                <a:gd name="T8" fmla="*/ 0 w 186"/>
                <a:gd name="T9" fmla="*/ 2855 h 2855"/>
                <a:gd name="T10" fmla="*/ 0 60000 65536"/>
                <a:gd name="T11" fmla="*/ 0 60000 65536"/>
                <a:gd name="T12" fmla="*/ 0 60000 65536"/>
                <a:gd name="T13" fmla="*/ 0 60000 65536"/>
                <a:gd name="T14" fmla="*/ 0 60000 65536"/>
                <a:gd name="T15" fmla="*/ 0 w 186"/>
                <a:gd name="T16" fmla="*/ 0 h 2855"/>
                <a:gd name="T17" fmla="*/ 186 w 186"/>
                <a:gd name="T18" fmla="*/ 2855 h 2855"/>
              </a:gdLst>
              <a:ahLst/>
              <a:cxnLst>
                <a:cxn ang="T10">
                  <a:pos x="T0" y="T1"/>
                </a:cxn>
                <a:cxn ang="T11">
                  <a:pos x="T2" y="T3"/>
                </a:cxn>
                <a:cxn ang="T12">
                  <a:pos x="T4" y="T5"/>
                </a:cxn>
                <a:cxn ang="T13">
                  <a:pos x="T6" y="T7"/>
                </a:cxn>
                <a:cxn ang="T14">
                  <a:pos x="T8" y="T9"/>
                </a:cxn>
              </a:cxnLst>
              <a:rect l="T15" t="T16" r="T17" b="T18"/>
              <a:pathLst>
                <a:path w="186" h="2855">
                  <a:moveTo>
                    <a:pt x="0" y="2855"/>
                  </a:moveTo>
                  <a:lnTo>
                    <a:pt x="0" y="109"/>
                  </a:lnTo>
                  <a:lnTo>
                    <a:pt x="186" y="0"/>
                  </a:lnTo>
                  <a:lnTo>
                    <a:pt x="186" y="2746"/>
                  </a:lnTo>
                  <a:lnTo>
                    <a:pt x="0" y="2855"/>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59" name="Rectangle 5">
              <a:extLst>
                <a:ext uri="{FF2B5EF4-FFF2-40B4-BE49-F238E27FC236}">
                  <a16:creationId xmlns:a16="http://schemas.microsoft.com/office/drawing/2014/main" id="{BF8C3AEB-F200-0744-0CD6-BBD83EBF2E58}"/>
                </a:ext>
              </a:extLst>
            </p:cNvPr>
            <p:cNvSpPr>
              <a:spLocks noChangeArrowheads="1"/>
            </p:cNvSpPr>
            <p:nvPr/>
          </p:nvSpPr>
          <p:spPr bwMode="auto">
            <a:xfrm>
              <a:off x="706" y="696"/>
              <a:ext cx="3158" cy="2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3560" name="Freeform 6">
              <a:extLst>
                <a:ext uri="{FF2B5EF4-FFF2-40B4-BE49-F238E27FC236}">
                  <a16:creationId xmlns:a16="http://schemas.microsoft.com/office/drawing/2014/main" id="{51C26D57-6C91-B7E0-5B7C-9616F2B5F99B}"/>
                </a:ext>
              </a:extLst>
            </p:cNvPr>
            <p:cNvSpPr>
              <a:spLocks/>
            </p:cNvSpPr>
            <p:nvPr/>
          </p:nvSpPr>
          <p:spPr bwMode="auto">
            <a:xfrm>
              <a:off x="520" y="3442"/>
              <a:ext cx="3344" cy="109"/>
            </a:xfrm>
            <a:custGeom>
              <a:avLst/>
              <a:gdLst>
                <a:gd name="T0" fmla="*/ 0 w 360"/>
                <a:gd name="T1" fmla="*/ 2147483647 h 13"/>
                <a:gd name="T2" fmla="*/ 2147483647 w 360"/>
                <a:gd name="T3" fmla="*/ 0 h 13"/>
                <a:gd name="T4" fmla="*/ 2147483647 w 360"/>
                <a:gd name="T5" fmla="*/ 0 h 13"/>
                <a:gd name="T6" fmla="*/ 0 60000 65536"/>
                <a:gd name="T7" fmla="*/ 0 60000 65536"/>
                <a:gd name="T8" fmla="*/ 0 60000 65536"/>
                <a:gd name="T9" fmla="*/ 0 w 360"/>
                <a:gd name="T10" fmla="*/ 0 h 13"/>
                <a:gd name="T11" fmla="*/ 360 w 360"/>
                <a:gd name="T12" fmla="*/ 13 h 13"/>
              </a:gdLst>
              <a:ahLst/>
              <a:cxnLst>
                <a:cxn ang="T6">
                  <a:pos x="T0" y="T1"/>
                </a:cxn>
                <a:cxn ang="T7">
                  <a:pos x="T2" y="T3"/>
                </a:cxn>
                <a:cxn ang="T8">
                  <a:pos x="T4" y="T5"/>
                </a:cxn>
              </a:cxnLst>
              <a:rect l="T9" t="T10" r="T11" b="T12"/>
              <a:pathLst>
                <a:path w="360" h="13">
                  <a:moveTo>
                    <a:pt x="0" y="13"/>
                  </a:moveTo>
                  <a:lnTo>
                    <a:pt x="20" y="0"/>
                  </a:lnTo>
                  <a:lnTo>
                    <a:pt x="360" y="0"/>
                  </a:lnTo>
                </a:path>
              </a:pathLst>
            </a:custGeom>
            <a:noFill/>
            <a:ln w="14288">
              <a:solidFill>
                <a:srgbClr val="00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1" name="Freeform 7">
              <a:extLst>
                <a:ext uri="{FF2B5EF4-FFF2-40B4-BE49-F238E27FC236}">
                  <a16:creationId xmlns:a16="http://schemas.microsoft.com/office/drawing/2014/main" id="{62D7E0E8-D8EB-0F51-D74C-78BEE4ED0F36}"/>
                </a:ext>
              </a:extLst>
            </p:cNvPr>
            <p:cNvSpPr>
              <a:spLocks/>
            </p:cNvSpPr>
            <p:nvPr/>
          </p:nvSpPr>
          <p:spPr bwMode="auto">
            <a:xfrm>
              <a:off x="520" y="2980"/>
              <a:ext cx="3344" cy="109"/>
            </a:xfrm>
            <a:custGeom>
              <a:avLst/>
              <a:gdLst>
                <a:gd name="T0" fmla="*/ 0 w 360"/>
                <a:gd name="T1" fmla="*/ 2147483647 h 13"/>
                <a:gd name="T2" fmla="*/ 2147483647 w 360"/>
                <a:gd name="T3" fmla="*/ 0 h 13"/>
                <a:gd name="T4" fmla="*/ 2147483647 w 360"/>
                <a:gd name="T5" fmla="*/ 0 h 13"/>
                <a:gd name="T6" fmla="*/ 0 60000 65536"/>
                <a:gd name="T7" fmla="*/ 0 60000 65536"/>
                <a:gd name="T8" fmla="*/ 0 60000 65536"/>
                <a:gd name="T9" fmla="*/ 0 w 360"/>
                <a:gd name="T10" fmla="*/ 0 h 13"/>
                <a:gd name="T11" fmla="*/ 360 w 360"/>
                <a:gd name="T12" fmla="*/ 13 h 13"/>
              </a:gdLst>
              <a:ahLst/>
              <a:cxnLst>
                <a:cxn ang="T6">
                  <a:pos x="T0" y="T1"/>
                </a:cxn>
                <a:cxn ang="T7">
                  <a:pos x="T2" y="T3"/>
                </a:cxn>
                <a:cxn ang="T8">
                  <a:pos x="T4" y="T5"/>
                </a:cxn>
              </a:cxnLst>
              <a:rect l="T9" t="T10" r="T11" b="T12"/>
              <a:pathLst>
                <a:path w="360" h="13">
                  <a:moveTo>
                    <a:pt x="0" y="13"/>
                  </a:moveTo>
                  <a:lnTo>
                    <a:pt x="20" y="0"/>
                  </a:lnTo>
                  <a:lnTo>
                    <a:pt x="360" y="0"/>
                  </a:lnTo>
                </a:path>
              </a:pathLst>
            </a:custGeom>
            <a:noFill/>
            <a:ln w="14288">
              <a:solidFill>
                <a:srgbClr val="00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2" name="Freeform 8">
              <a:extLst>
                <a:ext uri="{FF2B5EF4-FFF2-40B4-BE49-F238E27FC236}">
                  <a16:creationId xmlns:a16="http://schemas.microsoft.com/office/drawing/2014/main" id="{6E36C632-FC02-5EDE-CD05-436E023FE0C4}"/>
                </a:ext>
              </a:extLst>
            </p:cNvPr>
            <p:cNvSpPr>
              <a:spLocks/>
            </p:cNvSpPr>
            <p:nvPr/>
          </p:nvSpPr>
          <p:spPr bwMode="auto">
            <a:xfrm>
              <a:off x="520" y="2527"/>
              <a:ext cx="3344" cy="109"/>
            </a:xfrm>
            <a:custGeom>
              <a:avLst/>
              <a:gdLst>
                <a:gd name="T0" fmla="*/ 0 w 360"/>
                <a:gd name="T1" fmla="*/ 2147483647 h 13"/>
                <a:gd name="T2" fmla="*/ 2147483647 w 360"/>
                <a:gd name="T3" fmla="*/ 0 h 13"/>
                <a:gd name="T4" fmla="*/ 2147483647 w 360"/>
                <a:gd name="T5" fmla="*/ 0 h 13"/>
                <a:gd name="T6" fmla="*/ 0 60000 65536"/>
                <a:gd name="T7" fmla="*/ 0 60000 65536"/>
                <a:gd name="T8" fmla="*/ 0 60000 65536"/>
                <a:gd name="T9" fmla="*/ 0 w 360"/>
                <a:gd name="T10" fmla="*/ 0 h 13"/>
                <a:gd name="T11" fmla="*/ 360 w 360"/>
                <a:gd name="T12" fmla="*/ 13 h 13"/>
              </a:gdLst>
              <a:ahLst/>
              <a:cxnLst>
                <a:cxn ang="T6">
                  <a:pos x="T0" y="T1"/>
                </a:cxn>
                <a:cxn ang="T7">
                  <a:pos x="T2" y="T3"/>
                </a:cxn>
                <a:cxn ang="T8">
                  <a:pos x="T4" y="T5"/>
                </a:cxn>
              </a:cxnLst>
              <a:rect l="T9" t="T10" r="T11" b="T12"/>
              <a:pathLst>
                <a:path w="360" h="13">
                  <a:moveTo>
                    <a:pt x="0" y="13"/>
                  </a:moveTo>
                  <a:lnTo>
                    <a:pt x="20" y="0"/>
                  </a:lnTo>
                  <a:lnTo>
                    <a:pt x="360" y="0"/>
                  </a:lnTo>
                </a:path>
              </a:pathLst>
            </a:custGeom>
            <a:noFill/>
            <a:ln w="14288">
              <a:solidFill>
                <a:srgbClr val="00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3" name="Freeform 9">
              <a:extLst>
                <a:ext uri="{FF2B5EF4-FFF2-40B4-BE49-F238E27FC236}">
                  <a16:creationId xmlns:a16="http://schemas.microsoft.com/office/drawing/2014/main" id="{8926E0EE-0AF4-0731-2117-94B2FD766D44}"/>
                </a:ext>
              </a:extLst>
            </p:cNvPr>
            <p:cNvSpPr>
              <a:spLocks/>
            </p:cNvSpPr>
            <p:nvPr/>
          </p:nvSpPr>
          <p:spPr bwMode="auto">
            <a:xfrm>
              <a:off x="520" y="2073"/>
              <a:ext cx="3344" cy="101"/>
            </a:xfrm>
            <a:custGeom>
              <a:avLst/>
              <a:gdLst>
                <a:gd name="T0" fmla="*/ 0 w 360"/>
                <a:gd name="T1" fmla="*/ 2147483647 h 12"/>
                <a:gd name="T2" fmla="*/ 2147483647 w 360"/>
                <a:gd name="T3" fmla="*/ 0 h 12"/>
                <a:gd name="T4" fmla="*/ 2147483647 w 360"/>
                <a:gd name="T5" fmla="*/ 0 h 12"/>
                <a:gd name="T6" fmla="*/ 0 60000 65536"/>
                <a:gd name="T7" fmla="*/ 0 60000 65536"/>
                <a:gd name="T8" fmla="*/ 0 60000 65536"/>
                <a:gd name="T9" fmla="*/ 0 w 360"/>
                <a:gd name="T10" fmla="*/ 0 h 12"/>
                <a:gd name="T11" fmla="*/ 360 w 360"/>
                <a:gd name="T12" fmla="*/ 12 h 12"/>
              </a:gdLst>
              <a:ahLst/>
              <a:cxnLst>
                <a:cxn ang="T6">
                  <a:pos x="T0" y="T1"/>
                </a:cxn>
                <a:cxn ang="T7">
                  <a:pos x="T2" y="T3"/>
                </a:cxn>
                <a:cxn ang="T8">
                  <a:pos x="T4" y="T5"/>
                </a:cxn>
              </a:cxnLst>
              <a:rect l="T9" t="T10" r="T11" b="T12"/>
              <a:pathLst>
                <a:path w="360" h="12">
                  <a:moveTo>
                    <a:pt x="0" y="12"/>
                  </a:moveTo>
                  <a:lnTo>
                    <a:pt x="20" y="0"/>
                  </a:lnTo>
                  <a:lnTo>
                    <a:pt x="360" y="0"/>
                  </a:lnTo>
                </a:path>
              </a:pathLst>
            </a:custGeom>
            <a:noFill/>
            <a:ln w="14288">
              <a:solidFill>
                <a:srgbClr val="00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4" name="Freeform 10">
              <a:extLst>
                <a:ext uri="{FF2B5EF4-FFF2-40B4-BE49-F238E27FC236}">
                  <a16:creationId xmlns:a16="http://schemas.microsoft.com/office/drawing/2014/main" id="{2193AE2E-A374-D838-1A2E-A958EFAC5761}"/>
                </a:ext>
              </a:extLst>
            </p:cNvPr>
            <p:cNvSpPr>
              <a:spLocks/>
            </p:cNvSpPr>
            <p:nvPr/>
          </p:nvSpPr>
          <p:spPr bwMode="auto">
            <a:xfrm>
              <a:off x="520" y="1611"/>
              <a:ext cx="3344" cy="110"/>
            </a:xfrm>
            <a:custGeom>
              <a:avLst/>
              <a:gdLst>
                <a:gd name="T0" fmla="*/ 0 w 360"/>
                <a:gd name="T1" fmla="*/ 2147483647 h 13"/>
                <a:gd name="T2" fmla="*/ 2147483647 w 360"/>
                <a:gd name="T3" fmla="*/ 0 h 13"/>
                <a:gd name="T4" fmla="*/ 2147483647 w 360"/>
                <a:gd name="T5" fmla="*/ 0 h 13"/>
                <a:gd name="T6" fmla="*/ 0 60000 65536"/>
                <a:gd name="T7" fmla="*/ 0 60000 65536"/>
                <a:gd name="T8" fmla="*/ 0 60000 65536"/>
                <a:gd name="T9" fmla="*/ 0 w 360"/>
                <a:gd name="T10" fmla="*/ 0 h 13"/>
                <a:gd name="T11" fmla="*/ 360 w 360"/>
                <a:gd name="T12" fmla="*/ 13 h 13"/>
              </a:gdLst>
              <a:ahLst/>
              <a:cxnLst>
                <a:cxn ang="T6">
                  <a:pos x="T0" y="T1"/>
                </a:cxn>
                <a:cxn ang="T7">
                  <a:pos x="T2" y="T3"/>
                </a:cxn>
                <a:cxn ang="T8">
                  <a:pos x="T4" y="T5"/>
                </a:cxn>
              </a:cxnLst>
              <a:rect l="T9" t="T10" r="T11" b="T12"/>
              <a:pathLst>
                <a:path w="360" h="13">
                  <a:moveTo>
                    <a:pt x="0" y="13"/>
                  </a:moveTo>
                  <a:lnTo>
                    <a:pt x="20" y="0"/>
                  </a:lnTo>
                  <a:lnTo>
                    <a:pt x="360" y="0"/>
                  </a:lnTo>
                </a:path>
              </a:pathLst>
            </a:custGeom>
            <a:noFill/>
            <a:ln w="14288">
              <a:solidFill>
                <a:srgbClr val="00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5" name="Freeform 11">
              <a:extLst>
                <a:ext uri="{FF2B5EF4-FFF2-40B4-BE49-F238E27FC236}">
                  <a16:creationId xmlns:a16="http://schemas.microsoft.com/office/drawing/2014/main" id="{78D4C741-C32B-8570-CDCC-24A0D0E50432}"/>
                </a:ext>
              </a:extLst>
            </p:cNvPr>
            <p:cNvSpPr>
              <a:spLocks/>
            </p:cNvSpPr>
            <p:nvPr/>
          </p:nvSpPr>
          <p:spPr bwMode="auto">
            <a:xfrm>
              <a:off x="520" y="1158"/>
              <a:ext cx="3344" cy="109"/>
            </a:xfrm>
            <a:custGeom>
              <a:avLst/>
              <a:gdLst>
                <a:gd name="T0" fmla="*/ 0 w 360"/>
                <a:gd name="T1" fmla="*/ 2147483647 h 13"/>
                <a:gd name="T2" fmla="*/ 2147483647 w 360"/>
                <a:gd name="T3" fmla="*/ 0 h 13"/>
                <a:gd name="T4" fmla="*/ 2147483647 w 360"/>
                <a:gd name="T5" fmla="*/ 0 h 13"/>
                <a:gd name="T6" fmla="*/ 0 60000 65536"/>
                <a:gd name="T7" fmla="*/ 0 60000 65536"/>
                <a:gd name="T8" fmla="*/ 0 60000 65536"/>
                <a:gd name="T9" fmla="*/ 0 w 360"/>
                <a:gd name="T10" fmla="*/ 0 h 13"/>
                <a:gd name="T11" fmla="*/ 360 w 360"/>
                <a:gd name="T12" fmla="*/ 13 h 13"/>
              </a:gdLst>
              <a:ahLst/>
              <a:cxnLst>
                <a:cxn ang="T6">
                  <a:pos x="T0" y="T1"/>
                </a:cxn>
                <a:cxn ang="T7">
                  <a:pos x="T2" y="T3"/>
                </a:cxn>
                <a:cxn ang="T8">
                  <a:pos x="T4" y="T5"/>
                </a:cxn>
              </a:cxnLst>
              <a:rect l="T9" t="T10" r="T11" b="T12"/>
              <a:pathLst>
                <a:path w="360" h="13">
                  <a:moveTo>
                    <a:pt x="0" y="13"/>
                  </a:moveTo>
                  <a:lnTo>
                    <a:pt x="20" y="0"/>
                  </a:lnTo>
                  <a:lnTo>
                    <a:pt x="360" y="0"/>
                  </a:lnTo>
                </a:path>
              </a:pathLst>
            </a:custGeom>
            <a:noFill/>
            <a:ln w="14288">
              <a:solidFill>
                <a:srgbClr val="00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6" name="Freeform 12">
              <a:extLst>
                <a:ext uri="{FF2B5EF4-FFF2-40B4-BE49-F238E27FC236}">
                  <a16:creationId xmlns:a16="http://schemas.microsoft.com/office/drawing/2014/main" id="{5A7CA0FF-30C7-A273-561C-F6AC43A60673}"/>
                </a:ext>
              </a:extLst>
            </p:cNvPr>
            <p:cNvSpPr>
              <a:spLocks/>
            </p:cNvSpPr>
            <p:nvPr/>
          </p:nvSpPr>
          <p:spPr bwMode="auto">
            <a:xfrm>
              <a:off x="520" y="696"/>
              <a:ext cx="3344" cy="109"/>
            </a:xfrm>
            <a:custGeom>
              <a:avLst/>
              <a:gdLst>
                <a:gd name="T0" fmla="*/ 0 w 360"/>
                <a:gd name="T1" fmla="*/ 2147483647 h 13"/>
                <a:gd name="T2" fmla="*/ 2147483647 w 360"/>
                <a:gd name="T3" fmla="*/ 0 h 13"/>
                <a:gd name="T4" fmla="*/ 2147483647 w 360"/>
                <a:gd name="T5" fmla="*/ 0 h 13"/>
                <a:gd name="T6" fmla="*/ 0 60000 65536"/>
                <a:gd name="T7" fmla="*/ 0 60000 65536"/>
                <a:gd name="T8" fmla="*/ 0 60000 65536"/>
                <a:gd name="T9" fmla="*/ 0 w 360"/>
                <a:gd name="T10" fmla="*/ 0 h 13"/>
                <a:gd name="T11" fmla="*/ 360 w 360"/>
                <a:gd name="T12" fmla="*/ 13 h 13"/>
              </a:gdLst>
              <a:ahLst/>
              <a:cxnLst>
                <a:cxn ang="T6">
                  <a:pos x="T0" y="T1"/>
                </a:cxn>
                <a:cxn ang="T7">
                  <a:pos x="T2" y="T3"/>
                </a:cxn>
                <a:cxn ang="T8">
                  <a:pos x="T4" y="T5"/>
                </a:cxn>
              </a:cxnLst>
              <a:rect l="T9" t="T10" r="T11" b="T12"/>
              <a:pathLst>
                <a:path w="360" h="13">
                  <a:moveTo>
                    <a:pt x="0" y="13"/>
                  </a:moveTo>
                  <a:lnTo>
                    <a:pt x="20" y="0"/>
                  </a:lnTo>
                  <a:lnTo>
                    <a:pt x="360" y="0"/>
                  </a:lnTo>
                </a:path>
              </a:pathLst>
            </a:custGeom>
            <a:noFill/>
            <a:ln w="14288">
              <a:solidFill>
                <a:srgbClr val="00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7" name="Freeform 13">
              <a:extLst>
                <a:ext uri="{FF2B5EF4-FFF2-40B4-BE49-F238E27FC236}">
                  <a16:creationId xmlns:a16="http://schemas.microsoft.com/office/drawing/2014/main" id="{82F3B6E8-B52E-DEA1-65B2-A62EA0E6B9F7}"/>
                </a:ext>
              </a:extLst>
            </p:cNvPr>
            <p:cNvSpPr>
              <a:spLocks/>
            </p:cNvSpPr>
            <p:nvPr/>
          </p:nvSpPr>
          <p:spPr bwMode="auto">
            <a:xfrm>
              <a:off x="520" y="3442"/>
              <a:ext cx="3344" cy="109"/>
            </a:xfrm>
            <a:custGeom>
              <a:avLst/>
              <a:gdLst>
                <a:gd name="T0" fmla="*/ 3344 w 3344"/>
                <a:gd name="T1" fmla="*/ 0 h 109"/>
                <a:gd name="T2" fmla="*/ 3158 w 3344"/>
                <a:gd name="T3" fmla="*/ 109 h 109"/>
                <a:gd name="T4" fmla="*/ 0 w 3344"/>
                <a:gd name="T5" fmla="*/ 109 h 109"/>
                <a:gd name="T6" fmla="*/ 186 w 3344"/>
                <a:gd name="T7" fmla="*/ 0 h 109"/>
                <a:gd name="T8" fmla="*/ 3344 w 3344"/>
                <a:gd name="T9" fmla="*/ 0 h 109"/>
                <a:gd name="T10" fmla="*/ 0 60000 65536"/>
                <a:gd name="T11" fmla="*/ 0 60000 65536"/>
                <a:gd name="T12" fmla="*/ 0 60000 65536"/>
                <a:gd name="T13" fmla="*/ 0 60000 65536"/>
                <a:gd name="T14" fmla="*/ 0 60000 65536"/>
                <a:gd name="T15" fmla="*/ 0 w 3344"/>
                <a:gd name="T16" fmla="*/ 0 h 109"/>
                <a:gd name="T17" fmla="*/ 3344 w 3344"/>
                <a:gd name="T18" fmla="*/ 109 h 109"/>
              </a:gdLst>
              <a:ahLst/>
              <a:cxnLst>
                <a:cxn ang="T10">
                  <a:pos x="T0" y="T1"/>
                </a:cxn>
                <a:cxn ang="T11">
                  <a:pos x="T2" y="T3"/>
                </a:cxn>
                <a:cxn ang="T12">
                  <a:pos x="T4" y="T5"/>
                </a:cxn>
                <a:cxn ang="T13">
                  <a:pos x="T6" y="T7"/>
                </a:cxn>
                <a:cxn ang="T14">
                  <a:pos x="T8" y="T9"/>
                </a:cxn>
              </a:cxnLst>
              <a:rect l="T15" t="T16" r="T17" b="T18"/>
              <a:pathLst>
                <a:path w="3344" h="109">
                  <a:moveTo>
                    <a:pt x="3344" y="0"/>
                  </a:moveTo>
                  <a:lnTo>
                    <a:pt x="3158" y="109"/>
                  </a:lnTo>
                  <a:lnTo>
                    <a:pt x="0" y="109"/>
                  </a:lnTo>
                  <a:lnTo>
                    <a:pt x="186" y="0"/>
                  </a:lnTo>
                  <a:lnTo>
                    <a:pt x="3344" y="0"/>
                  </a:lnTo>
                  <a:close/>
                </a:path>
              </a:pathLst>
            </a:custGeom>
            <a:noFill/>
            <a:ln w="14288">
              <a:solidFill>
                <a:srgbClr val="003399"/>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3568" name="Freeform 14">
              <a:extLst>
                <a:ext uri="{FF2B5EF4-FFF2-40B4-BE49-F238E27FC236}">
                  <a16:creationId xmlns:a16="http://schemas.microsoft.com/office/drawing/2014/main" id="{CA58BA22-9970-03CA-5187-1D0E156B4076}"/>
                </a:ext>
              </a:extLst>
            </p:cNvPr>
            <p:cNvSpPr>
              <a:spLocks/>
            </p:cNvSpPr>
            <p:nvPr/>
          </p:nvSpPr>
          <p:spPr bwMode="auto">
            <a:xfrm>
              <a:off x="520" y="696"/>
              <a:ext cx="186" cy="2855"/>
            </a:xfrm>
            <a:custGeom>
              <a:avLst/>
              <a:gdLst>
                <a:gd name="T0" fmla="*/ 0 w 186"/>
                <a:gd name="T1" fmla="*/ 2855 h 2855"/>
                <a:gd name="T2" fmla="*/ 0 w 186"/>
                <a:gd name="T3" fmla="*/ 109 h 2855"/>
                <a:gd name="T4" fmla="*/ 186 w 186"/>
                <a:gd name="T5" fmla="*/ 0 h 2855"/>
                <a:gd name="T6" fmla="*/ 186 w 186"/>
                <a:gd name="T7" fmla="*/ 2746 h 2855"/>
                <a:gd name="T8" fmla="*/ 0 w 186"/>
                <a:gd name="T9" fmla="*/ 2855 h 2855"/>
                <a:gd name="T10" fmla="*/ 0 60000 65536"/>
                <a:gd name="T11" fmla="*/ 0 60000 65536"/>
                <a:gd name="T12" fmla="*/ 0 60000 65536"/>
                <a:gd name="T13" fmla="*/ 0 60000 65536"/>
                <a:gd name="T14" fmla="*/ 0 60000 65536"/>
                <a:gd name="T15" fmla="*/ 0 w 186"/>
                <a:gd name="T16" fmla="*/ 0 h 2855"/>
                <a:gd name="T17" fmla="*/ 186 w 186"/>
                <a:gd name="T18" fmla="*/ 2855 h 2855"/>
              </a:gdLst>
              <a:ahLst/>
              <a:cxnLst>
                <a:cxn ang="T10">
                  <a:pos x="T0" y="T1"/>
                </a:cxn>
                <a:cxn ang="T11">
                  <a:pos x="T2" y="T3"/>
                </a:cxn>
                <a:cxn ang="T12">
                  <a:pos x="T4" y="T5"/>
                </a:cxn>
                <a:cxn ang="T13">
                  <a:pos x="T6" y="T7"/>
                </a:cxn>
                <a:cxn ang="T14">
                  <a:pos x="T8" y="T9"/>
                </a:cxn>
              </a:cxnLst>
              <a:rect l="T15" t="T16" r="T17" b="T18"/>
              <a:pathLst>
                <a:path w="186" h="2855">
                  <a:moveTo>
                    <a:pt x="0" y="2855"/>
                  </a:moveTo>
                  <a:lnTo>
                    <a:pt x="0" y="109"/>
                  </a:lnTo>
                  <a:lnTo>
                    <a:pt x="186" y="0"/>
                  </a:lnTo>
                  <a:lnTo>
                    <a:pt x="186" y="2746"/>
                  </a:lnTo>
                  <a:lnTo>
                    <a:pt x="0" y="2855"/>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569" name="Rectangle 15">
              <a:extLst>
                <a:ext uri="{FF2B5EF4-FFF2-40B4-BE49-F238E27FC236}">
                  <a16:creationId xmlns:a16="http://schemas.microsoft.com/office/drawing/2014/main" id="{2C520C6C-AA06-C9EB-3E77-332F3A25F732}"/>
                </a:ext>
              </a:extLst>
            </p:cNvPr>
            <p:cNvSpPr>
              <a:spLocks noChangeArrowheads="1"/>
            </p:cNvSpPr>
            <p:nvPr/>
          </p:nvSpPr>
          <p:spPr bwMode="auto">
            <a:xfrm>
              <a:off x="706" y="696"/>
              <a:ext cx="3158" cy="2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3570" name="Freeform 16">
              <a:extLst>
                <a:ext uri="{FF2B5EF4-FFF2-40B4-BE49-F238E27FC236}">
                  <a16:creationId xmlns:a16="http://schemas.microsoft.com/office/drawing/2014/main" id="{FB817568-D29F-6B16-0C44-F6ED6B55FDE5}"/>
                </a:ext>
              </a:extLst>
            </p:cNvPr>
            <p:cNvSpPr>
              <a:spLocks/>
            </p:cNvSpPr>
            <p:nvPr/>
          </p:nvSpPr>
          <p:spPr bwMode="auto">
            <a:xfrm>
              <a:off x="1374" y="2980"/>
              <a:ext cx="186" cy="571"/>
            </a:xfrm>
            <a:custGeom>
              <a:avLst/>
              <a:gdLst>
                <a:gd name="T0" fmla="*/ 0 w 186"/>
                <a:gd name="T1" fmla="*/ 571 h 571"/>
                <a:gd name="T2" fmla="*/ 0 w 186"/>
                <a:gd name="T3" fmla="*/ 109 h 571"/>
                <a:gd name="T4" fmla="*/ 186 w 186"/>
                <a:gd name="T5" fmla="*/ 0 h 571"/>
                <a:gd name="T6" fmla="*/ 186 w 186"/>
                <a:gd name="T7" fmla="*/ 462 h 571"/>
                <a:gd name="T8" fmla="*/ 0 w 186"/>
                <a:gd name="T9" fmla="*/ 571 h 571"/>
                <a:gd name="T10" fmla="*/ 0 60000 65536"/>
                <a:gd name="T11" fmla="*/ 0 60000 65536"/>
                <a:gd name="T12" fmla="*/ 0 60000 65536"/>
                <a:gd name="T13" fmla="*/ 0 60000 65536"/>
                <a:gd name="T14" fmla="*/ 0 60000 65536"/>
                <a:gd name="T15" fmla="*/ 0 w 186"/>
                <a:gd name="T16" fmla="*/ 0 h 571"/>
                <a:gd name="T17" fmla="*/ 186 w 186"/>
                <a:gd name="T18" fmla="*/ 571 h 571"/>
              </a:gdLst>
              <a:ahLst/>
              <a:cxnLst>
                <a:cxn ang="T10">
                  <a:pos x="T0" y="T1"/>
                </a:cxn>
                <a:cxn ang="T11">
                  <a:pos x="T2" y="T3"/>
                </a:cxn>
                <a:cxn ang="T12">
                  <a:pos x="T4" y="T5"/>
                </a:cxn>
                <a:cxn ang="T13">
                  <a:pos x="T6" y="T7"/>
                </a:cxn>
                <a:cxn ang="T14">
                  <a:pos x="T8" y="T9"/>
                </a:cxn>
              </a:cxnLst>
              <a:rect l="T15" t="T16" r="T17" b="T18"/>
              <a:pathLst>
                <a:path w="186" h="571">
                  <a:moveTo>
                    <a:pt x="0" y="571"/>
                  </a:moveTo>
                  <a:lnTo>
                    <a:pt x="0" y="109"/>
                  </a:lnTo>
                  <a:lnTo>
                    <a:pt x="186" y="0"/>
                  </a:lnTo>
                  <a:lnTo>
                    <a:pt x="186" y="462"/>
                  </a:lnTo>
                  <a:lnTo>
                    <a:pt x="0" y="571"/>
                  </a:lnTo>
                  <a:close/>
                </a:path>
              </a:pathLst>
            </a:custGeom>
            <a:solidFill>
              <a:srgbClr val="00664D"/>
            </a:solidFill>
            <a:ln w="14288">
              <a:solidFill>
                <a:srgbClr val="000000"/>
              </a:solidFill>
              <a:round/>
              <a:headEnd/>
              <a:tailEnd/>
            </a:ln>
          </p:spPr>
          <p:txBody>
            <a:bodyPr/>
            <a:lstStyle/>
            <a:p>
              <a:endParaRPr lang="zh-CN" altLang="en-US"/>
            </a:p>
          </p:txBody>
        </p:sp>
        <p:sp>
          <p:nvSpPr>
            <p:cNvPr id="23571" name="Rectangle 17">
              <a:extLst>
                <a:ext uri="{FF2B5EF4-FFF2-40B4-BE49-F238E27FC236}">
                  <a16:creationId xmlns:a16="http://schemas.microsoft.com/office/drawing/2014/main" id="{F26A8B1E-8EA3-BF58-EE7B-519063811593}"/>
                </a:ext>
              </a:extLst>
            </p:cNvPr>
            <p:cNvSpPr>
              <a:spLocks noChangeArrowheads="1"/>
            </p:cNvSpPr>
            <p:nvPr/>
          </p:nvSpPr>
          <p:spPr bwMode="auto">
            <a:xfrm>
              <a:off x="882" y="3089"/>
              <a:ext cx="492" cy="462"/>
            </a:xfrm>
            <a:prstGeom prst="rect">
              <a:avLst/>
            </a:prstGeom>
            <a:solidFill>
              <a:srgbClr val="00CC99"/>
            </a:solidFill>
            <a:ln w="14288">
              <a:solidFill>
                <a:srgbClr val="000000"/>
              </a:solidFill>
              <a:miter lim="800000"/>
              <a:headEnd/>
              <a:tailEnd/>
            </a:ln>
          </p:spPr>
          <p:txBody>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3572" name="Freeform 18">
              <a:extLst>
                <a:ext uri="{FF2B5EF4-FFF2-40B4-BE49-F238E27FC236}">
                  <a16:creationId xmlns:a16="http://schemas.microsoft.com/office/drawing/2014/main" id="{041F6487-B980-9CB0-1E4A-CE27FFEBF1DF}"/>
                </a:ext>
              </a:extLst>
            </p:cNvPr>
            <p:cNvSpPr>
              <a:spLocks/>
            </p:cNvSpPr>
            <p:nvPr/>
          </p:nvSpPr>
          <p:spPr bwMode="auto">
            <a:xfrm>
              <a:off x="882" y="2980"/>
              <a:ext cx="678" cy="109"/>
            </a:xfrm>
            <a:custGeom>
              <a:avLst/>
              <a:gdLst>
                <a:gd name="T0" fmla="*/ 492 w 678"/>
                <a:gd name="T1" fmla="*/ 109 h 109"/>
                <a:gd name="T2" fmla="*/ 678 w 678"/>
                <a:gd name="T3" fmla="*/ 0 h 109"/>
                <a:gd name="T4" fmla="*/ 186 w 678"/>
                <a:gd name="T5" fmla="*/ 0 h 109"/>
                <a:gd name="T6" fmla="*/ 0 w 678"/>
                <a:gd name="T7" fmla="*/ 109 h 109"/>
                <a:gd name="T8" fmla="*/ 492 w 678"/>
                <a:gd name="T9" fmla="*/ 109 h 109"/>
                <a:gd name="T10" fmla="*/ 0 60000 65536"/>
                <a:gd name="T11" fmla="*/ 0 60000 65536"/>
                <a:gd name="T12" fmla="*/ 0 60000 65536"/>
                <a:gd name="T13" fmla="*/ 0 60000 65536"/>
                <a:gd name="T14" fmla="*/ 0 60000 65536"/>
                <a:gd name="T15" fmla="*/ 0 w 678"/>
                <a:gd name="T16" fmla="*/ 0 h 109"/>
                <a:gd name="T17" fmla="*/ 678 w 678"/>
                <a:gd name="T18" fmla="*/ 109 h 109"/>
              </a:gdLst>
              <a:ahLst/>
              <a:cxnLst>
                <a:cxn ang="T10">
                  <a:pos x="T0" y="T1"/>
                </a:cxn>
                <a:cxn ang="T11">
                  <a:pos x="T2" y="T3"/>
                </a:cxn>
                <a:cxn ang="T12">
                  <a:pos x="T4" y="T5"/>
                </a:cxn>
                <a:cxn ang="T13">
                  <a:pos x="T6" y="T7"/>
                </a:cxn>
                <a:cxn ang="T14">
                  <a:pos x="T8" y="T9"/>
                </a:cxn>
              </a:cxnLst>
              <a:rect l="T15" t="T16" r="T17" b="T18"/>
              <a:pathLst>
                <a:path w="678" h="109">
                  <a:moveTo>
                    <a:pt x="492" y="109"/>
                  </a:moveTo>
                  <a:lnTo>
                    <a:pt x="678" y="0"/>
                  </a:lnTo>
                  <a:lnTo>
                    <a:pt x="186" y="0"/>
                  </a:lnTo>
                  <a:lnTo>
                    <a:pt x="0" y="109"/>
                  </a:lnTo>
                  <a:lnTo>
                    <a:pt x="492" y="109"/>
                  </a:lnTo>
                  <a:close/>
                </a:path>
              </a:pathLst>
            </a:custGeom>
            <a:solidFill>
              <a:srgbClr val="009973"/>
            </a:solidFill>
            <a:ln w="14288">
              <a:solidFill>
                <a:srgbClr val="000000"/>
              </a:solidFill>
              <a:round/>
              <a:headEnd/>
              <a:tailEnd/>
            </a:ln>
          </p:spPr>
          <p:txBody>
            <a:bodyPr/>
            <a:lstStyle/>
            <a:p>
              <a:endParaRPr lang="zh-CN" altLang="en-US"/>
            </a:p>
          </p:txBody>
        </p:sp>
        <p:sp>
          <p:nvSpPr>
            <p:cNvPr id="23573" name="Freeform 19">
              <a:extLst>
                <a:ext uri="{FF2B5EF4-FFF2-40B4-BE49-F238E27FC236}">
                  <a16:creationId xmlns:a16="http://schemas.microsoft.com/office/drawing/2014/main" id="{0C53F182-287B-66EA-4D4C-DBA5173AC66A}"/>
                </a:ext>
              </a:extLst>
            </p:cNvPr>
            <p:cNvSpPr>
              <a:spLocks/>
            </p:cNvSpPr>
            <p:nvPr/>
          </p:nvSpPr>
          <p:spPr bwMode="auto">
            <a:xfrm>
              <a:off x="1858" y="1611"/>
              <a:ext cx="185" cy="1940"/>
            </a:xfrm>
            <a:custGeom>
              <a:avLst/>
              <a:gdLst>
                <a:gd name="T0" fmla="*/ 0 w 185"/>
                <a:gd name="T1" fmla="*/ 1940 h 1940"/>
                <a:gd name="T2" fmla="*/ 0 w 185"/>
                <a:gd name="T3" fmla="*/ 110 h 1940"/>
                <a:gd name="T4" fmla="*/ 185 w 185"/>
                <a:gd name="T5" fmla="*/ 0 h 1940"/>
                <a:gd name="T6" fmla="*/ 185 w 185"/>
                <a:gd name="T7" fmla="*/ 1831 h 1940"/>
                <a:gd name="T8" fmla="*/ 0 w 185"/>
                <a:gd name="T9" fmla="*/ 1940 h 1940"/>
                <a:gd name="T10" fmla="*/ 0 60000 65536"/>
                <a:gd name="T11" fmla="*/ 0 60000 65536"/>
                <a:gd name="T12" fmla="*/ 0 60000 65536"/>
                <a:gd name="T13" fmla="*/ 0 60000 65536"/>
                <a:gd name="T14" fmla="*/ 0 60000 65536"/>
                <a:gd name="T15" fmla="*/ 0 w 185"/>
                <a:gd name="T16" fmla="*/ 0 h 1940"/>
                <a:gd name="T17" fmla="*/ 185 w 185"/>
                <a:gd name="T18" fmla="*/ 1940 h 1940"/>
              </a:gdLst>
              <a:ahLst/>
              <a:cxnLst>
                <a:cxn ang="T10">
                  <a:pos x="T0" y="T1"/>
                </a:cxn>
                <a:cxn ang="T11">
                  <a:pos x="T2" y="T3"/>
                </a:cxn>
                <a:cxn ang="T12">
                  <a:pos x="T4" y="T5"/>
                </a:cxn>
                <a:cxn ang="T13">
                  <a:pos x="T6" y="T7"/>
                </a:cxn>
                <a:cxn ang="T14">
                  <a:pos x="T8" y="T9"/>
                </a:cxn>
              </a:cxnLst>
              <a:rect l="T15" t="T16" r="T17" b="T18"/>
              <a:pathLst>
                <a:path w="185" h="1940">
                  <a:moveTo>
                    <a:pt x="0" y="1940"/>
                  </a:moveTo>
                  <a:lnTo>
                    <a:pt x="0" y="110"/>
                  </a:lnTo>
                  <a:lnTo>
                    <a:pt x="185" y="0"/>
                  </a:lnTo>
                  <a:lnTo>
                    <a:pt x="185" y="1831"/>
                  </a:lnTo>
                  <a:lnTo>
                    <a:pt x="0" y="1940"/>
                  </a:lnTo>
                  <a:close/>
                </a:path>
              </a:pathLst>
            </a:custGeom>
            <a:solidFill>
              <a:srgbClr val="1A1A66"/>
            </a:solidFill>
            <a:ln w="14288">
              <a:solidFill>
                <a:srgbClr val="000000"/>
              </a:solidFill>
              <a:round/>
              <a:headEnd/>
              <a:tailEnd/>
            </a:ln>
          </p:spPr>
          <p:txBody>
            <a:bodyPr/>
            <a:lstStyle/>
            <a:p>
              <a:endParaRPr lang="zh-CN" altLang="en-US"/>
            </a:p>
          </p:txBody>
        </p:sp>
        <p:sp>
          <p:nvSpPr>
            <p:cNvPr id="23574" name="Rectangle 20">
              <a:extLst>
                <a:ext uri="{FF2B5EF4-FFF2-40B4-BE49-F238E27FC236}">
                  <a16:creationId xmlns:a16="http://schemas.microsoft.com/office/drawing/2014/main" id="{9AA81F79-6275-7A81-AD26-E303081243EB}"/>
                </a:ext>
              </a:extLst>
            </p:cNvPr>
            <p:cNvSpPr>
              <a:spLocks noChangeArrowheads="1"/>
            </p:cNvSpPr>
            <p:nvPr/>
          </p:nvSpPr>
          <p:spPr bwMode="auto">
            <a:xfrm>
              <a:off x="1374" y="1721"/>
              <a:ext cx="484" cy="1830"/>
            </a:xfrm>
            <a:prstGeom prst="rect">
              <a:avLst/>
            </a:prstGeom>
            <a:solidFill>
              <a:srgbClr val="0066FF"/>
            </a:solidFill>
            <a:ln w="14288">
              <a:solidFill>
                <a:schemeClr val="tx1"/>
              </a:solidFill>
              <a:miter lim="800000"/>
              <a:headEnd/>
              <a:tailEnd/>
            </a:ln>
          </p:spPr>
          <p:txBody>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3575" name="Freeform 21">
              <a:extLst>
                <a:ext uri="{FF2B5EF4-FFF2-40B4-BE49-F238E27FC236}">
                  <a16:creationId xmlns:a16="http://schemas.microsoft.com/office/drawing/2014/main" id="{C00A598A-3267-8306-79E3-F07CB0104900}"/>
                </a:ext>
              </a:extLst>
            </p:cNvPr>
            <p:cNvSpPr>
              <a:spLocks/>
            </p:cNvSpPr>
            <p:nvPr/>
          </p:nvSpPr>
          <p:spPr bwMode="auto">
            <a:xfrm>
              <a:off x="1374" y="1611"/>
              <a:ext cx="669" cy="110"/>
            </a:xfrm>
            <a:custGeom>
              <a:avLst/>
              <a:gdLst>
                <a:gd name="T0" fmla="*/ 484 w 669"/>
                <a:gd name="T1" fmla="*/ 110 h 110"/>
                <a:gd name="T2" fmla="*/ 669 w 669"/>
                <a:gd name="T3" fmla="*/ 0 h 110"/>
                <a:gd name="T4" fmla="*/ 186 w 669"/>
                <a:gd name="T5" fmla="*/ 0 h 110"/>
                <a:gd name="T6" fmla="*/ 0 w 669"/>
                <a:gd name="T7" fmla="*/ 110 h 110"/>
                <a:gd name="T8" fmla="*/ 484 w 669"/>
                <a:gd name="T9" fmla="*/ 110 h 110"/>
                <a:gd name="T10" fmla="*/ 0 60000 65536"/>
                <a:gd name="T11" fmla="*/ 0 60000 65536"/>
                <a:gd name="T12" fmla="*/ 0 60000 65536"/>
                <a:gd name="T13" fmla="*/ 0 60000 65536"/>
                <a:gd name="T14" fmla="*/ 0 60000 65536"/>
                <a:gd name="T15" fmla="*/ 0 w 669"/>
                <a:gd name="T16" fmla="*/ 0 h 110"/>
                <a:gd name="T17" fmla="*/ 669 w 669"/>
                <a:gd name="T18" fmla="*/ 110 h 110"/>
              </a:gdLst>
              <a:ahLst/>
              <a:cxnLst>
                <a:cxn ang="T10">
                  <a:pos x="T0" y="T1"/>
                </a:cxn>
                <a:cxn ang="T11">
                  <a:pos x="T2" y="T3"/>
                </a:cxn>
                <a:cxn ang="T12">
                  <a:pos x="T4" y="T5"/>
                </a:cxn>
                <a:cxn ang="T13">
                  <a:pos x="T6" y="T7"/>
                </a:cxn>
                <a:cxn ang="T14">
                  <a:pos x="T8" y="T9"/>
                </a:cxn>
              </a:cxnLst>
              <a:rect l="T15" t="T16" r="T17" b="T18"/>
              <a:pathLst>
                <a:path w="669" h="110">
                  <a:moveTo>
                    <a:pt x="484" y="110"/>
                  </a:moveTo>
                  <a:lnTo>
                    <a:pt x="669" y="0"/>
                  </a:lnTo>
                  <a:lnTo>
                    <a:pt x="186" y="0"/>
                  </a:lnTo>
                  <a:lnTo>
                    <a:pt x="0" y="110"/>
                  </a:lnTo>
                  <a:lnTo>
                    <a:pt x="484" y="110"/>
                  </a:lnTo>
                  <a:close/>
                </a:path>
              </a:pathLst>
            </a:custGeom>
            <a:solidFill>
              <a:srgbClr val="0066FF"/>
            </a:solidFill>
            <a:ln w="14288">
              <a:solidFill>
                <a:srgbClr val="000000"/>
              </a:solidFill>
              <a:round/>
              <a:headEnd/>
              <a:tailEnd/>
            </a:ln>
          </p:spPr>
          <p:txBody>
            <a:bodyPr/>
            <a:lstStyle/>
            <a:p>
              <a:endParaRPr lang="zh-CN" altLang="en-US"/>
            </a:p>
          </p:txBody>
        </p:sp>
        <p:sp>
          <p:nvSpPr>
            <p:cNvPr id="23576" name="Freeform 22">
              <a:extLst>
                <a:ext uri="{FF2B5EF4-FFF2-40B4-BE49-F238E27FC236}">
                  <a16:creationId xmlns:a16="http://schemas.microsoft.com/office/drawing/2014/main" id="{38F88EF8-1FB1-2D9A-B662-6DD91D14700A}"/>
                </a:ext>
              </a:extLst>
            </p:cNvPr>
            <p:cNvSpPr>
              <a:spLocks/>
            </p:cNvSpPr>
            <p:nvPr/>
          </p:nvSpPr>
          <p:spPr bwMode="auto">
            <a:xfrm>
              <a:off x="2341" y="696"/>
              <a:ext cx="185" cy="2855"/>
            </a:xfrm>
            <a:custGeom>
              <a:avLst/>
              <a:gdLst>
                <a:gd name="T0" fmla="*/ 0 w 185"/>
                <a:gd name="T1" fmla="*/ 2855 h 2855"/>
                <a:gd name="T2" fmla="*/ 0 w 185"/>
                <a:gd name="T3" fmla="*/ 109 h 2855"/>
                <a:gd name="T4" fmla="*/ 185 w 185"/>
                <a:gd name="T5" fmla="*/ 0 h 2855"/>
                <a:gd name="T6" fmla="*/ 185 w 185"/>
                <a:gd name="T7" fmla="*/ 2746 h 2855"/>
                <a:gd name="T8" fmla="*/ 0 w 185"/>
                <a:gd name="T9" fmla="*/ 2855 h 2855"/>
                <a:gd name="T10" fmla="*/ 0 60000 65536"/>
                <a:gd name="T11" fmla="*/ 0 60000 65536"/>
                <a:gd name="T12" fmla="*/ 0 60000 65536"/>
                <a:gd name="T13" fmla="*/ 0 60000 65536"/>
                <a:gd name="T14" fmla="*/ 0 60000 65536"/>
                <a:gd name="T15" fmla="*/ 0 w 185"/>
                <a:gd name="T16" fmla="*/ 0 h 2855"/>
                <a:gd name="T17" fmla="*/ 185 w 185"/>
                <a:gd name="T18" fmla="*/ 2855 h 2855"/>
              </a:gdLst>
              <a:ahLst/>
              <a:cxnLst>
                <a:cxn ang="T10">
                  <a:pos x="T0" y="T1"/>
                </a:cxn>
                <a:cxn ang="T11">
                  <a:pos x="T2" y="T3"/>
                </a:cxn>
                <a:cxn ang="T12">
                  <a:pos x="T4" y="T5"/>
                </a:cxn>
                <a:cxn ang="T13">
                  <a:pos x="T6" y="T7"/>
                </a:cxn>
                <a:cxn ang="T14">
                  <a:pos x="T8" y="T9"/>
                </a:cxn>
              </a:cxnLst>
              <a:rect l="T15" t="T16" r="T17" b="T18"/>
              <a:pathLst>
                <a:path w="185" h="2855">
                  <a:moveTo>
                    <a:pt x="0" y="2855"/>
                  </a:moveTo>
                  <a:lnTo>
                    <a:pt x="0" y="109"/>
                  </a:lnTo>
                  <a:lnTo>
                    <a:pt x="185" y="0"/>
                  </a:lnTo>
                  <a:lnTo>
                    <a:pt x="185" y="2746"/>
                  </a:lnTo>
                  <a:lnTo>
                    <a:pt x="0" y="2855"/>
                  </a:lnTo>
                  <a:close/>
                </a:path>
              </a:pathLst>
            </a:custGeom>
            <a:solidFill>
              <a:srgbClr val="800000"/>
            </a:solidFill>
            <a:ln w="14288">
              <a:solidFill>
                <a:srgbClr val="000000"/>
              </a:solidFill>
              <a:round/>
              <a:headEnd/>
              <a:tailEnd/>
            </a:ln>
          </p:spPr>
          <p:txBody>
            <a:bodyPr/>
            <a:lstStyle/>
            <a:p>
              <a:endParaRPr lang="zh-CN" altLang="en-US"/>
            </a:p>
          </p:txBody>
        </p:sp>
        <p:sp>
          <p:nvSpPr>
            <p:cNvPr id="23577" name="Rectangle 23">
              <a:extLst>
                <a:ext uri="{FF2B5EF4-FFF2-40B4-BE49-F238E27FC236}">
                  <a16:creationId xmlns:a16="http://schemas.microsoft.com/office/drawing/2014/main" id="{8479EF73-66CB-CB6C-B4D0-086E72F60DF8}"/>
                </a:ext>
              </a:extLst>
            </p:cNvPr>
            <p:cNvSpPr>
              <a:spLocks noChangeArrowheads="1"/>
            </p:cNvSpPr>
            <p:nvPr/>
          </p:nvSpPr>
          <p:spPr bwMode="auto">
            <a:xfrm>
              <a:off x="1858" y="805"/>
              <a:ext cx="483" cy="2746"/>
            </a:xfrm>
            <a:prstGeom prst="rect">
              <a:avLst/>
            </a:prstGeom>
            <a:solidFill>
              <a:srgbClr val="800000"/>
            </a:solidFill>
            <a:ln w="14288">
              <a:solidFill>
                <a:srgbClr val="000000"/>
              </a:solidFill>
              <a:miter lim="800000"/>
              <a:headEnd/>
              <a:tailEnd/>
            </a:ln>
          </p:spPr>
          <p:txBody>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3578" name="Freeform 24">
              <a:extLst>
                <a:ext uri="{FF2B5EF4-FFF2-40B4-BE49-F238E27FC236}">
                  <a16:creationId xmlns:a16="http://schemas.microsoft.com/office/drawing/2014/main" id="{A6450237-C644-60B1-CF6F-0A73FB0221D3}"/>
                </a:ext>
              </a:extLst>
            </p:cNvPr>
            <p:cNvSpPr>
              <a:spLocks/>
            </p:cNvSpPr>
            <p:nvPr/>
          </p:nvSpPr>
          <p:spPr bwMode="auto">
            <a:xfrm>
              <a:off x="1858" y="696"/>
              <a:ext cx="668" cy="109"/>
            </a:xfrm>
            <a:custGeom>
              <a:avLst/>
              <a:gdLst>
                <a:gd name="T0" fmla="*/ 483 w 668"/>
                <a:gd name="T1" fmla="*/ 109 h 109"/>
                <a:gd name="T2" fmla="*/ 668 w 668"/>
                <a:gd name="T3" fmla="*/ 0 h 109"/>
                <a:gd name="T4" fmla="*/ 185 w 668"/>
                <a:gd name="T5" fmla="*/ 0 h 109"/>
                <a:gd name="T6" fmla="*/ 0 w 668"/>
                <a:gd name="T7" fmla="*/ 109 h 109"/>
                <a:gd name="T8" fmla="*/ 483 w 668"/>
                <a:gd name="T9" fmla="*/ 109 h 109"/>
                <a:gd name="T10" fmla="*/ 0 60000 65536"/>
                <a:gd name="T11" fmla="*/ 0 60000 65536"/>
                <a:gd name="T12" fmla="*/ 0 60000 65536"/>
                <a:gd name="T13" fmla="*/ 0 60000 65536"/>
                <a:gd name="T14" fmla="*/ 0 60000 65536"/>
                <a:gd name="T15" fmla="*/ 0 w 668"/>
                <a:gd name="T16" fmla="*/ 0 h 109"/>
                <a:gd name="T17" fmla="*/ 668 w 668"/>
                <a:gd name="T18" fmla="*/ 109 h 109"/>
              </a:gdLst>
              <a:ahLst/>
              <a:cxnLst>
                <a:cxn ang="T10">
                  <a:pos x="T0" y="T1"/>
                </a:cxn>
                <a:cxn ang="T11">
                  <a:pos x="T2" y="T3"/>
                </a:cxn>
                <a:cxn ang="T12">
                  <a:pos x="T4" y="T5"/>
                </a:cxn>
                <a:cxn ang="T13">
                  <a:pos x="T6" y="T7"/>
                </a:cxn>
                <a:cxn ang="T14">
                  <a:pos x="T8" y="T9"/>
                </a:cxn>
              </a:cxnLst>
              <a:rect l="T15" t="T16" r="T17" b="T18"/>
              <a:pathLst>
                <a:path w="668" h="109">
                  <a:moveTo>
                    <a:pt x="483" y="109"/>
                  </a:moveTo>
                  <a:lnTo>
                    <a:pt x="668" y="0"/>
                  </a:lnTo>
                  <a:lnTo>
                    <a:pt x="185" y="0"/>
                  </a:lnTo>
                  <a:lnTo>
                    <a:pt x="0" y="109"/>
                  </a:lnTo>
                  <a:lnTo>
                    <a:pt x="483" y="109"/>
                  </a:lnTo>
                  <a:close/>
                </a:path>
              </a:pathLst>
            </a:custGeom>
            <a:solidFill>
              <a:srgbClr val="800000"/>
            </a:solidFill>
            <a:ln w="14288">
              <a:solidFill>
                <a:srgbClr val="000000"/>
              </a:solidFill>
              <a:round/>
              <a:headEnd/>
              <a:tailEnd/>
            </a:ln>
          </p:spPr>
          <p:txBody>
            <a:bodyPr/>
            <a:lstStyle/>
            <a:p>
              <a:endParaRPr lang="zh-CN" altLang="en-US"/>
            </a:p>
          </p:txBody>
        </p:sp>
        <p:sp>
          <p:nvSpPr>
            <p:cNvPr id="23579" name="Freeform 25">
              <a:extLst>
                <a:ext uri="{FF2B5EF4-FFF2-40B4-BE49-F238E27FC236}">
                  <a16:creationId xmlns:a16="http://schemas.microsoft.com/office/drawing/2014/main" id="{4E26CAB5-F30B-584F-D9A8-A43031328062}"/>
                </a:ext>
              </a:extLst>
            </p:cNvPr>
            <p:cNvSpPr>
              <a:spLocks/>
            </p:cNvSpPr>
            <p:nvPr/>
          </p:nvSpPr>
          <p:spPr bwMode="auto">
            <a:xfrm>
              <a:off x="2824" y="1611"/>
              <a:ext cx="186" cy="1940"/>
            </a:xfrm>
            <a:custGeom>
              <a:avLst/>
              <a:gdLst>
                <a:gd name="T0" fmla="*/ 0 w 186"/>
                <a:gd name="T1" fmla="*/ 1940 h 1940"/>
                <a:gd name="T2" fmla="*/ 0 w 186"/>
                <a:gd name="T3" fmla="*/ 110 h 1940"/>
                <a:gd name="T4" fmla="*/ 186 w 186"/>
                <a:gd name="T5" fmla="*/ 0 h 1940"/>
                <a:gd name="T6" fmla="*/ 186 w 186"/>
                <a:gd name="T7" fmla="*/ 1831 h 1940"/>
                <a:gd name="T8" fmla="*/ 0 w 186"/>
                <a:gd name="T9" fmla="*/ 1940 h 1940"/>
                <a:gd name="T10" fmla="*/ 0 60000 65536"/>
                <a:gd name="T11" fmla="*/ 0 60000 65536"/>
                <a:gd name="T12" fmla="*/ 0 60000 65536"/>
                <a:gd name="T13" fmla="*/ 0 60000 65536"/>
                <a:gd name="T14" fmla="*/ 0 60000 65536"/>
                <a:gd name="T15" fmla="*/ 0 w 186"/>
                <a:gd name="T16" fmla="*/ 0 h 1940"/>
                <a:gd name="T17" fmla="*/ 186 w 186"/>
                <a:gd name="T18" fmla="*/ 1940 h 1940"/>
              </a:gdLst>
              <a:ahLst/>
              <a:cxnLst>
                <a:cxn ang="T10">
                  <a:pos x="T0" y="T1"/>
                </a:cxn>
                <a:cxn ang="T11">
                  <a:pos x="T2" y="T3"/>
                </a:cxn>
                <a:cxn ang="T12">
                  <a:pos x="T4" y="T5"/>
                </a:cxn>
                <a:cxn ang="T13">
                  <a:pos x="T6" y="T7"/>
                </a:cxn>
                <a:cxn ang="T14">
                  <a:pos x="T8" y="T9"/>
                </a:cxn>
              </a:cxnLst>
              <a:rect l="T15" t="T16" r="T17" b="T18"/>
              <a:pathLst>
                <a:path w="186" h="1940">
                  <a:moveTo>
                    <a:pt x="0" y="1940"/>
                  </a:moveTo>
                  <a:lnTo>
                    <a:pt x="0" y="110"/>
                  </a:lnTo>
                  <a:lnTo>
                    <a:pt x="186" y="0"/>
                  </a:lnTo>
                  <a:lnTo>
                    <a:pt x="186" y="1831"/>
                  </a:lnTo>
                  <a:lnTo>
                    <a:pt x="0" y="1940"/>
                  </a:lnTo>
                  <a:close/>
                </a:path>
              </a:pathLst>
            </a:custGeom>
            <a:solidFill>
              <a:schemeClr val="folHlink"/>
            </a:solidFill>
            <a:ln w="14288">
              <a:solidFill>
                <a:srgbClr val="000000"/>
              </a:solidFill>
              <a:round/>
              <a:headEnd/>
              <a:tailEnd/>
            </a:ln>
          </p:spPr>
          <p:txBody>
            <a:bodyPr/>
            <a:lstStyle/>
            <a:p>
              <a:endParaRPr lang="zh-CN" altLang="en-US"/>
            </a:p>
          </p:txBody>
        </p:sp>
        <p:sp>
          <p:nvSpPr>
            <p:cNvPr id="23580" name="Rectangle 26">
              <a:extLst>
                <a:ext uri="{FF2B5EF4-FFF2-40B4-BE49-F238E27FC236}">
                  <a16:creationId xmlns:a16="http://schemas.microsoft.com/office/drawing/2014/main" id="{CA00D827-EB28-4315-18FE-2BFEC05806A9}"/>
                </a:ext>
              </a:extLst>
            </p:cNvPr>
            <p:cNvSpPr>
              <a:spLocks noChangeArrowheads="1"/>
            </p:cNvSpPr>
            <p:nvPr/>
          </p:nvSpPr>
          <p:spPr bwMode="auto">
            <a:xfrm>
              <a:off x="2341" y="1721"/>
              <a:ext cx="483" cy="1830"/>
            </a:xfrm>
            <a:prstGeom prst="rect">
              <a:avLst/>
            </a:prstGeom>
            <a:solidFill>
              <a:schemeClr val="folHlink"/>
            </a:solidFill>
            <a:ln w="14288">
              <a:solidFill>
                <a:srgbClr val="000000"/>
              </a:solidFill>
              <a:miter lim="800000"/>
              <a:headEnd/>
              <a:tailEnd/>
            </a:ln>
          </p:spPr>
          <p:txBody>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3581" name="Freeform 27">
              <a:extLst>
                <a:ext uri="{FF2B5EF4-FFF2-40B4-BE49-F238E27FC236}">
                  <a16:creationId xmlns:a16="http://schemas.microsoft.com/office/drawing/2014/main" id="{996AE988-402C-3F8E-41F7-CD84ED6D26B7}"/>
                </a:ext>
              </a:extLst>
            </p:cNvPr>
            <p:cNvSpPr>
              <a:spLocks/>
            </p:cNvSpPr>
            <p:nvPr/>
          </p:nvSpPr>
          <p:spPr bwMode="auto">
            <a:xfrm>
              <a:off x="2341" y="1611"/>
              <a:ext cx="669" cy="110"/>
            </a:xfrm>
            <a:custGeom>
              <a:avLst/>
              <a:gdLst>
                <a:gd name="T0" fmla="*/ 483 w 669"/>
                <a:gd name="T1" fmla="*/ 110 h 110"/>
                <a:gd name="T2" fmla="*/ 669 w 669"/>
                <a:gd name="T3" fmla="*/ 0 h 110"/>
                <a:gd name="T4" fmla="*/ 185 w 669"/>
                <a:gd name="T5" fmla="*/ 0 h 110"/>
                <a:gd name="T6" fmla="*/ 0 w 669"/>
                <a:gd name="T7" fmla="*/ 110 h 110"/>
                <a:gd name="T8" fmla="*/ 483 w 669"/>
                <a:gd name="T9" fmla="*/ 110 h 110"/>
                <a:gd name="T10" fmla="*/ 0 60000 65536"/>
                <a:gd name="T11" fmla="*/ 0 60000 65536"/>
                <a:gd name="T12" fmla="*/ 0 60000 65536"/>
                <a:gd name="T13" fmla="*/ 0 60000 65536"/>
                <a:gd name="T14" fmla="*/ 0 60000 65536"/>
                <a:gd name="T15" fmla="*/ 0 w 669"/>
                <a:gd name="T16" fmla="*/ 0 h 110"/>
                <a:gd name="T17" fmla="*/ 669 w 669"/>
                <a:gd name="T18" fmla="*/ 110 h 110"/>
              </a:gdLst>
              <a:ahLst/>
              <a:cxnLst>
                <a:cxn ang="T10">
                  <a:pos x="T0" y="T1"/>
                </a:cxn>
                <a:cxn ang="T11">
                  <a:pos x="T2" y="T3"/>
                </a:cxn>
                <a:cxn ang="T12">
                  <a:pos x="T4" y="T5"/>
                </a:cxn>
                <a:cxn ang="T13">
                  <a:pos x="T6" y="T7"/>
                </a:cxn>
                <a:cxn ang="T14">
                  <a:pos x="T8" y="T9"/>
                </a:cxn>
              </a:cxnLst>
              <a:rect l="T15" t="T16" r="T17" b="T18"/>
              <a:pathLst>
                <a:path w="669" h="110">
                  <a:moveTo>
                    <a:pt x="483" y="110"/>
                  </a:moveTo>
                  <a:lnTo>
                    <a:pt x="669" y="0"/>
                  </a:lnTo>
                  <a:lnTo>
                    <a:pt x="185" y="0"/>
                  </a:lnTo>
                  <a:lnTo>
                    <a:pt x="0" y="110"/>
                  </a:lnTo>
                  <a:lnTo>
                    <a:pt x="483" y="110"/>
                  </a:lnTo>
                  <a:close/>
                </a:path>
              </a:pathLst>
            </a:custGeom>
            <a:solidFill>
              <a:schemeClr val="folHlink"/>
            </a:solidFill>
            <a:ln w="14288">
              <a:solidFill>
                <a:srgbClr val="000000"/>
              </a:solidFill>
              <a:round/>
              <a:headEnd/>
              <a:tailEnd/>
            </a:ln>
          </p:spPr>
          <p:txBody>
            <a:bodyPr/>
            <a:lstStyle/>
            <a:p>
              <a:endParaRPr lang="zh-CN" altLang="en-US"/>
            </a:p>
          </p:txBody>
        </p:sp>
        <p:sp>
          <p:nvSpPr>
            <p:cNvPr id="23582" name="Freeform 28">
              <a:extLst>
                <a:ext uri="{FF2B5EF4-FFF2-40B4-BE49-F238E27FC236}">
                  <a16:creationId xmlns:a16="http://schemas.microsoft.com/office/drawing/2014/main" id="{A760287E-5068-A2DA-381D-040D6B940C8A}"/>
                </a:ext>
              </a:extLst>
            </p:cNvPr>
            <p:cNvSpPr>
              <a:spLocks/>
            </p:cNvSpPr>
            <p:nvPr/>
          </p:nvSpPr>
          <p:spPr bwMode="auto">
            <a:xfrm>
              <a:off x="3316" y="2980"/>
              <a:ext cx="186" cy="571"/>
            </a:xfrm>
            <a:custGeom>
              <a:avLst/>
              <a:gdLst>
                <a:gd name="T0" fmla="*/ 0 w 186"/>
                <a:gd name="T1" fmla="*/ 571 h 571"/>
                <a:gd name="T2" fmla="*/ 0 w 186"/>
                <a:gd name="T3" fmla="*/ 109 h 571"/>
                <a:gd name="T4" fmla="*/ 186 w 186"/>
                <a:gd name="T5" fmla="*/ 0 h 571"/>
                <a:gd name="T6" fmla="*/ 186 w 186"/>
                <a:gd name="T7" fmla="*/ 462 h 571"/>
                <a:gd name="T8" fmla="*/ 0 w 186"/>
                <a:gd name="T9" fmla="*/ 571 h 571"/>
                <a:gd name="T10" fmla="*/ 0 60000 65536"/>
                <a:gd name="T11" fmla="*/ 0 60000 65536"/>
                <a:gd name="T12" fmla="*/ 0 60000 65536"/>
                <a:gd name="T13" fmla="*/ 0 60000 65536"/>
                <a:gd name="T14" fmla="*/ 0 60000 65536"/>
                <a:gd name="T15" fmla="*/ 0 w 186"/>
                <a:gd name="T16" fmla="*/ 0 h 571"/>
                <a:gd name="T17" fmla="*/ 186 w 186"/>
                <a:gd name="T18" fmla="*/ 571 h 571"/>
              </a:gdLst>
              <a:ahLst/>
              <a:cxnLst>
                <a:cxn ang="T10">
                  <a:pos x="T0" y="T1"/>
                </a:cxn>
                <a:cxn ang="T11">
                  <a:pos x="T2" y="T3"/>
                </a:cxn>
                <a:cxn ang="T12">
                  <a:pos x="T4" y="T5"/>
                </a:cxn>
                <a:cxn ang="T13">
                  <a:pos x="T6" y="T7"/>
                </a:cxn>
                <a:cxn ang="T14">
                  <a:pos x="T8" y="T9"/>
                </a:cxn>
              </a:cxnLst>
              <a:rect l="T15" t="T16" r="T17" b="T18"/>
              <a:pathLst>
                <a:path w="186" h="571">
                  <a:moveTo>
                    <a:pt x="0" y="571"/>
                  </a:moveTo>
                  <a:lnTo>
                    <a:pt x="0" y="109"/>
                  </a:lnTo>
                  <a:lnTo>
                    <a:pt x="186" y="0"/>
                  </a:lnTo>
                  <a:lnTo>
                    <a:pt x="186" y="462"/>
                  </a:lnTo>
                  <a:lnTo>
                    <a:pt x="0" y="571"/>
                  </a:lnTo>
                  <a:close/>
                </a:path>
              </a:pathLst>
            </a:custGeom>
            <a:solidFill>
              <a:schemeClr val="bg2"/>
            </a:solidFill>
            <a:ln w="14288">
              <a:solidFill>
                <a:srgbClr val="000000"/>
              </a:solidFill>
              <a:round/>
              <a:headEnd/>
              <a:tailEnd/>
            </a:ln>
          </p:spPr>
          <p:txBody>
            <a:bodyPr/>
            <a:lstStyle/>
            <a:p>
              <a:endParaRPr lang="zh-CN" altLang="en-US"/>
            </a:p>
          </p:txBody>
        </p:sp>
        <p:sp>
          <p:nvSpPr>
            <p:cNvPr id="23583" name="Rectangle 29">
              <a:extLst>
                <a:ext uri="{FF2B5EF4-FFF2-40B4-BE49-F238E27FC236}">
                  <a16:creationId xmlns:a16="http://schemas.microsoft.com/office/drawing/2014/main" id="{EC244571-ED89-BD87-D5FA-80B747F1121A}"/>
                </a:ext>
              </a:extLst>
            </p:cNvPr>
            <p:cNvSpPr>
              <a:spLocks noChangeArrowheads="1"/>
            </p:cNvSpPr>
            <p:nvPr/>
          </p:nvSpPr>
          <p:spPr bwMode="auto">
            <a:xfrm>
              <a:off x="2824" y="3089"/>
              <a:ext cx="492" cy="462"/>
            </a:xfrm>
            <a:prstGeom prst="rect">
              <a:avLst/>
            </a:prstGeom>
            <a:solidFill>
              <a:schemeClr val="bg2"/>
            </a:solidFill>
            <a:ln w="14288">
              <a:solidFill>
                <a:srgbClr val="000000"/>
              </a:solidFill>
              <a:miter lim="800000"/>
              <a:headEnd/>
              <a:tailEnd/>
            </a:ln>
          </p:spPr>
          <p:txBody>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3584" name="Freeform 30">
              <a:extLst>
                <a:ext uri="{FF2B5EF4-FFF2-40B4-BE49-F238E27FC236}">
                  <a16:creationId xmlns:a16="http://schemas.microsoft.com/office/drawing/2014/main" id="{DA795E8D-0305-4BB7-C202-7286B713A5EE}"/>
                </a:ext>
              </a:extLst>
            </p:cNvPr>
            <p:cNvSpPr>
              <a:spLocks/>
            </p:cNvSpPr>
            <p:nvPr/>
          </p:nvSpPr>
          <p:spPr bwMode="auto">
            <a:xfrm>
              <a:off x="2824" y="2980"/>
              <a:ext cx="678" cy="109"/>
            </a:xfrm>
            <a:custGeom>
              <a:avLst/>
              <a:gdLst>
                <a:gd name="T0" fmla="*/ 492 w 678"/>
                <a:gd name="T1" fmla="*/ 109 h 109"/>
                <a:gd name="T2" fmla="*/ 678 w 678"/>
                <a:gd name="T3" fmla="*/ 0 h 109"/>
                <a:gd name="T4" fmla="*/ 186 w 678"/>
                <a:gd name="T5" fmla="*/ 0 h 109"/>
                <a:gd name="T6" fmla="*/ 0 w 678"/>
                <a:gd name="T7" fmla="*/ 109 h 109"/>
                <a:gd name="T8" fmla="*/ 492 w 678"/>
                <a:gd name="T9" fmla="*/ 109 h 109"/>
                <a:gd name="T10" fmla="*/ 0 60000 65536"/>
                <a:gd name="T11" fmla="*/ 0 60000 65536"/>
                <a:gd name="T12" fmla="*/ 0 60000 65536"/>
                <a:gd name="T13" fmla="*/ 0 60000 65536"/>
                <a:gd name="T14" fmla="*/ 0 60000 65536"/>
                <a:gd name="T15" fmla="*/ 0 w 678"/>
                <a:gd name="T16" fmla="*/ 0 h 109"/>
                <a:gd name="T17" fmla="*/ 678 w 678"/>
                <a:gd name="T18" fmla="*/ 109 h 109"/>
              </a:gdLst>
              <a:ahLst/>
              <a:cxnLst>
                <a:cxn ang="T10">
                  <a:pos x="T0" y="T1"/>
                </a:cxn>
                <a:cxn ang="T11">
                  <a:pos x="T2" y="T3"/>
                </a:cxn>
                <a:cxn ang="T12">
                  <a:pos x="T4" y="T5"/>
                </a:cxn>
                <a:cxn ang="T13">
                  <a:pos x="T6" y="T7"/>
                </a:cxn>
                <a:cxn ang="T14">
                  <a:pos x="T8" y="T9"/>
                </a:cxn>
              </a:cxnLst>
              <a:rect l="T15" t="T16" r="T17" b="T18"/>
              <a:pathLst>
                <a:path w="678" h="109">
                  <a:moveTo>
                    <a:pt x="492" y="109"/>
                  </a:moveTo>
                  <a:lnTo>
                    <a:pt x="678" y="0"/>
                  </a:lnTo>
                  <a:lnTo>
                    <a:pt x="186" y="0"/>
                  </a:lnTo>
                  <a:lnTo>
                    <a:pt x="0" y="109"/>
                  </a:lnTo>
                  <a:lnTo>
                    <a:pt x="492" y="109"/>
                  </a:lnTo>
                  <a:close/>
                </a:path>
              </a:pathLst>
            </a:custGeom>
            <a:solidFill>
              <a:schemeClr val="bg2"/>
            </a:solidFill>
            <a:ln w="14288">
              <a:solidFill>
                <a:srgbClr val="000000"/>
              </a:solidFill>
              <a:round/>
              <a:headEnd/>
              <a:tailEnd/>
            </a:ln>
          </p:spPr>
          <p:txBody>
            <a:bodyPr/>
            <a:lstStyle/>
            <a:p>
              <a:endParaRPr lang="zh-CN" altLang="en-US"/>
            </a:p>
          </p:txBody>
        </p:sp>
        <p:sp>
          <p:nvSpPr>
            <p:cNvPr id="23585" name="Line 31">
              <a:extLst>
                <a:ext uri="{FF2B5EF4-FFF2-40B4-BE49-F238E27FC236}">
                  <a16:creationId xmlns:a16="http://schemas.microsoft.com/office/drawing/2014/main" id="{E55F9607-5469-34C4-C028-3F199ED36E3A}"/>
                </a:ext>
              </a:extLst>
            </p:cNvPr>
            <p:cNvSpPr>
              <a:spLocks noChangeShapeType="1"/>
            </p:cNvSpPr>
            <p:nvPr/>
          </p:nvSpPr>
          <p:spPr bwMode="auto">
            <a:xfrm flipV="1">
              <a:off x="520" y="805"/>
              <a:ext cx="1" cy="2746"/>
            </a:xfrm>
            <a:prstGeom prst="line">
              <a:avLst/>
            </a:prstGeom>
            <a:noFill/>
            <a:ln w="14288">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6" name="Line 32">
              <a:extLst>
                <a:ext uri="{FF2B5EF4-FFF2-40B4-BE49-F238E27FC236}">
                  <a16:creationId xmlns:a16="http://schemas.microsoft.com/office/drawing/2014/main" id="{66ED37E1-51C5-FC0B-212B-15A050347B78}"/>
                </a:ext>
              </a:extLst>
            </p:cNvPr>
            <p:cNvSpPr>
              <a:spLocks noChangeShapeType="1"/>
            </p:cNvSpPr>
            <p:nvPr/>
          </p:nvSpPr>
          <p:spPr bwMode="auto">
            <a:xfrm flipH="1">
              <a:off x="520" y="3551"/>
              <a:ext cx="46" cy="1"/>
            </a:xfrm>
            <a:prstGeom prst="line">
              <a:avLst/>
            </a:prstGeom>
            <a:noFill/>
            <a:ln w="14288">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7" name="Line 33">
              <a:extLst>
                <a:ext uri="{FF2B5EF4-FFF2-40B4-BE49-F238E27FC236}">
                  <a16:creationId xmlns:a16="http://schemas.microsoft.com/office/drawing/2014/main" id="{BEA2B8CB-0F79-3080-D3AA-B9013CBA678F}"/>
                </a:ext>
              </a:extLst>
            </p:cNvPr>
            <p:cNvSpPr>
              <a:spLocks noChangeShapeType="1"/>
            </p:cNvSpPr>
            <p:nvPr/>
          </p:nvSpPr>
          <p:spPr bwMode="auto">
            <a:xfrm flipH="1">
              <a:off x="520" y="3089"/>
              <a:ext cx="46" cy="1"/>
            </a:xfrm>
            <a:prstGeom prst="line">
              <a:avLst/>
            </a:prstGeom>
            <a:noFill/>
            <a:ln w="14288">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8" name="Line 34">
              <a:extLst>
                <a:ext uri="{FF2B5EF4-FFF2-40B4-BE49-F238E27FC236}">
                  <a16:creationId xmlns:a16="http://schemas.microsoft.com/office/drawing/2014/main" id="{EC85099E-6890-20B1-FFBD-96D40A1B8D26}"/>
                </a:ext>
              </a:extLst>
            </p:cNvPr>
            <p:cNvSpPr>
              <a:spLocks noChangeShapeType="1"/>
            </p:cNvSpPr>
            <p:nvPr/>
          </p:nvSpPr>
          <p:spPr bwMode="auto">
            <a:xfrm flipH="1">
              <a:off x="520" y="2636"/>
              <a:ext cx="46" cy="1"/>
            </a:xfrm>
            <a:prstGeom prst="line">
              <a:avLst/>
            </a:prstGeom>
            <a:noFill/>
            <a:ln w="14288">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89" name="Line 35">
              <a:extLst>
                <a:ext uri="{FF2B5EF4-FFF2-40B4-BE49-F238E27FC236}">
                  <a16:creationId xmlns:a16="http://schemas.microsoft.com/office/drawing/2014/main" id="{76B230E5-9153-75C6-B429-C59C18DEDAA9}"/>
                </a:ext>
              </a:extLst>
            </p:cNvPr>
            <p:cNvSpPr>
              <a:spLocks noChangeShapeType="1"/>
            </p:cNvSpPr>
            <p:nvPr/>
          </p:nvSpPr>
          <p:spPr bwMode="auto">
            <a:xfrm flipH="1">
              <a:off x="520" y="2174"/>
              <a:ext cx="46" cy="1"/>
            </a:xfrm>
            <a:prstGeom prst="line">
              <a:avLst/>
            </a:prstGeom>
            <a:noFill/>
            <a:ln w="14288">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0" name="Line 36">
              <a:extLst>
                <a:ext uri="{FF2B5EF4-FFF2-40B4-BE49-F238E27FC236}">
                  <a16:creationId xmlns:a16="http://schemas.microsoft.com/office/drawing/2014/main" id="{4CAE64C7-64B4-05B4-05D3-8D61D5242A7F}"/>
                </a:ext>
              </a:extLst>
            </p:cNvPr>
            <p:cNvSpPr>
              <a:spLocks noChangeShapeType="1"/>
            </p:cNvSpPr>
            <p:nvPr/>
          </p:nvSpPr>
          <p:spPr bwMode="auto">
            <a:xfrm flipH="1">
              <a:off x="520" y="1721"/>
              <a:ext cx="46" cy="1"/>
            </a:xfrm>
            <a:prstGeom prst="line">
              <a:avLst/>
            </a:prstGeom>
            <a:noFill/>
            <a:ln w="14288">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1" name="Line 37">
              <a:extLst>
                <a:ext uri="{FF2B5EF4-FFF2-40B4-BE49-F238E27FC236}">
                  <a16:creationId xmlns:a16="http://schemas.microsoft.com/office/drawing/2014/main" id="{D9673386-C083-FD21-F3A5-B43C23374C53}"/>
                </a:ext>
              </a:extLst>
            </p:cNvPr>
            <p:cNvSpPr>
              <a:spLocks noChangeShapeType="1"/>
            </p:cNvSpPr>
            <p:nvPr/>
          </p:nvSpPr>
          <p:spPr bwMode="auto">
            <a:xfrm flipH="1">
              <a:off x="520" y="1267"/>
              <a:ext cx="46" cy="1"/>
            </a:xfrm>
            <a:prstGeom prst="line">
              <a:avLst/>
            </a:prstGeom>
            <a:noFill/>
            <a:ln w="14288">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2" name="Line 38">
              <a:extLst>
                <a:ext uri="{FF2B5EF4-FFF2-40B4-BE49-F238E27FC236}">
                  <a16:creationId xmlns:a16="http://schemas.microsoft.com/office/drawing/2014/main" id="{DCA727A1-F55A-88F8-6826-0BED352DAF31}"/>
                </a:ext>
              </a:extLst>
            </p:cNvPr>
            <p:cNvSpPr>
              <a:spLocks noChangeShapeType="1"/>
            </p:cNvSpPr>
            <p:nvPr/>
          </p:nvSpPr>
          <p:spPr bwMode="auto">
            <a:xfrm flipH="1">
              <a:off x="520" y="805"/>
              <a:ext cx="46" cy="1"/>
            </a:xfrm>
            <a:prstGeom prst="line">
              <a:avLst/>
            </a:prstGeom>
            <a:noFill/>
            <a:ln w="14288">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93" name="Rectangle 39">
              <a:extLst>
                <a:ext uri="{FF2B5EF4-FFF2-40B4-BE49-F238E27FC236}">
                  <a16:creationId xmlns:a16="http://schemas.microsoft.com/office/drawing/2014/main" id="{4A2F6E6B-5E0F-1DDE-5511-2D1B37F9DA73}"/>
                </a:ext>
              </a:extLst>
            </p:cNvPr>
            <p:cNvSpPr>
              <a:spLocks noChangeArrowheads="1"/>
            </p:cNvSpPr>
            <p:nvPr/>
          </p:nvSpPr>
          <p:spPr bwMode="auto">
            <a:xfrm>
              <a:off x="362" y="3433"/>
              <a:ext cx="9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en-US" altLang="zh-CN" sz="2500">
                  <a:solidFill>
                    <a:srgbClr val="003399"/>
                  </a:solidFill>
                  <a:ea typeface="华文楷体" panose="02010600040101010101" pitchFamily="2" charset="-122"/>
                  <a:cs typeface="Times New Roman" panose="02020603050405020304" pitchFamily="18" charset="0"/>
                </a:rPr>
                <a:t>0</a:t>
              </a:r>
              <a:endParaRPr kumimoji="1" lang="en-US" altLang="zh-CN" sz="3200" baseline="30000">
                <a:ea typeface="华文楷体" panose="02010600040101010101" pitchFamily="2" charset="-122"/>
                <a:cs typeface="Times New Roman" panose="02020603050405020304" pitchFamily="18" charset="0"/>
              </a:endParaRPr>
            </a:p>
          </p:txBody>
        </p:sp>
        <p:sp>
          <p:nvSpPr>
            <p:cNvPr id="23594" name="Rectangle 40">
              <a:extLst>
                <a:ext uri="{FF2B5EF4-FFF2-40B4-BE49-F238E27FC236}">
                  <a16:creationId xmlns:a16="http://schemas.microsoft.com/office/drawing/2014/main" id="{2627906E-7E24-7C1E-4E07-CD5025C92A53}"/>
                </a:ext>
              </a:extLst>
            </p:cNvPr>
            <p:cNvSpPr>
              <a:spLocks noChangeArrowheads="1"/>
            </p:cNvSpPr>
            <p:nvPr/>
          </p:nvSpPr>
          <p:spPr bwMode="auto">
            <a:xfrm>
              <a:off x="362" y="2972"/>
              <a:ext cx="9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en-US" altLang="zh-CN" sz="2500">
                  <a:solidFill>
                    <a:srgbClr val="003399"/>
                  </a:solidFill>
                  <a:ea typeface="华文楷体" panose="02010600040101010101" pitchFamily="2" charset="-122"/>
                  <a:cs typeface="Times New Roman" panose="02020603050405020304" pitchFamily="18" charset="0"/>
                </a:rPr>
                <a:t>1</a:t>
              </a:r>
              <a:endParaRPr kumimoji="1" lang="en-US" altLang="zh-CN" sz="3200" baseline="30000">
                <a:ea typeface="华文楷体" panose="02010600040101010101" pitchFamily="2" charset="-122"/>
                <a:cs typeface="Times New Roman" panose="02020603050405020304" pitchFamily="18" charset="0"/>
              </a:endParaRPr>
            </a:p>
          </p:txBody>
        </p:sp>
        <p:sp>
          <p:nvSpPr>
            <p:cNvPr id="23595" name="Rectangle 41">
              <a:extLst>
                <a:ext uri="{FF2B5EF4-FFF2-40B4-BE49-F238E27FC236}">
                  <a16:creationId xmlns:a16="http://schemas.microsoft.com/office/drawing/2014/main" id="{CFAFD411-D02D-6FF1-046E-E967CAD31A8C}"/>
                </a:ext>
              </a:extLst>
            </p:cNvPr>
            <p:cNvSpPr>
              <a:spLocks noChangeArrowheads="1"/>
            </p:cNvSpPr>
            <p:nvPr/>
          </p:nvSpPr>
          <p:spPr bwMode="auto">
            <a:xfrm>
              <a:off x="362" y="2518"/>
              <a:ext cx="9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en-US" altLang="zh-CN" sz="2500">
                  <a:solidFill>
                    <a:srgbClr val="003399"/>
                  </a:solidFill>
                  <a:ea typeface="华文楷体" panose="02010600040101010101" pitchFamily="2" charset="-122"/>
                  <a:cs typeface="Times New Roman" panose="02020603050405020304" pitchFamily="18" charset="0"/>
                </a:rPr>
                <a:t>2</a:t>
              </a:r>
              <a:endParaRPr kumimoji="1" lang="en-US" altLang="zh-CN" sz="3200" baseline="30000">
                <a:ea typeface="华文楷体" panose="02010600040101010101" pitchFamily="2" charset="-122"/>
                <a:cs typeface="Times New Roman" panose="02020603050405020304" pitchFamily="18" charset="0"/>
              </a:endParaRPr>
            </a:p>
          </p:txBody>
        </p:sp>
        <p:sp>
          <p:nvSpPr>
            <p:cNvPr id="23596" name="Rectangle 42">
              <a:extLst>
                <a:ext uri="{FF2B5EF4-FFF2-40B4-BE49-F238E27FC236}">
                  <a16:creationId xmlns:a16="http://schemas.microsoft.com/office/drawing/2014/main" id="{BFC168A7-D1A1-D6B3-26DE-25E9160D55A3}"/>
                </a:ext>
              </a:extLst>
            </p:cNvPr>
            <p:cNvSpPr>
              <a:spLocks noChangeArrowheads="1"/>
            </p:cNvSpPr>
            <p:nvPr/>
          </p:nvSpPr>
          <p:spPr bwMode="auto">
            <a:xfrm>
              <a:off x="362" y="2056"/>
              <a:ext cx="9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en-US" altLang="zh-CN" sz="2500">
                  <a:solidFill>
                    <a:srgbClr val="003399"/>
                  </a:solidFill>
                  <a:ea typeface="华文楷体" panose="02010600040101010101" pitchFamily="2" charset="-122"/>
                  <a:cs typeface="Times New Roman" panose="02020603050405020304" pitchFamily="18" charset="0"/>
                </a:rPr>
                <a:t>3</a:t>
              </a:r>
              <a:endParaRPr kumimoji="1" lang="en-US" altLang="zh-CN" sz="3200" baseline="30000">
                <a:ea typeface="华文楷体" panose="02010600040101010101" pitchFamily="2" charset="-122"/>
                <a:cs typeface="Times New Roman" panose="02020603050405020304" pitchFamily="18" charset="0"/>
              </a:endParaRPr>
            </a:p>
          </p:txBody>
        </p:sp>
        <p:sp>
          <p:nvSpPr>
            <p:cNvPr id="23597" name="Rectangle 43">
              <a:extLst>
                <a:ext uri="{FF2B5EF4-FFF2-40B4-BE49-F238E27FC236}">
                  <a16:creationId xmlns:a16="http://schemas.microsoft.com/office/drawing/2014/main" id="{67922463-B490-534D-0AEE-21E7E02C76B9}"/>
                </a:ext>
              </a:extLst>
            </p:cNvPr>
            <p:cNvSpPr>
              <a:spLocks noChangeArrowheads="1"/>
            </p:cNvSpPr>
            <p:nvPr/>
          </p:nvSpPr>
          <p:spPr bwMode="auto">
            <a:xfrm>
              <a:off x="362" y="1603"/>
              <a:ext cx="9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en-US" altLang="zh-CN" sz="2500">
                  <a:solidFill>
                    <a:srgbClr val="003399"/>
                  </a:solidFill>
                  <a:ea typeface="华文楷体" panose="02010600040101010101" pitchFamily="2" charset="-122"/>
                  <a:cs typeface="Times New Roman" panose="02020603050405020304" pitchFamily="18" charset="0"/>
                </a:rPr>
                <a:t>4</a:t>
              </a:r>
              <a:endParaRPr kumimoji="1" lang="en-US" altLang="zh-CN" sz="3200" baseline="30000">
                <a:ea typeface="华文楷体" panose="02010600040101010101" pitchFamily="2" charset="-122"/>
                <a:cs typeface="Times New Roman" panose="02020603050405020304" pitchFamily="18" charset="0"/>
              </a:endParaRPr>
            </a:p>
          </p:txBody>
        </p:sp>
        <p:sp>
          <p:nvSpPr>
            <p:cNvPr id="23598" name="Rectangle 44">
              <a:extLst>
                <a:ext uri="{FF2B5EF4-FFF2-40B4-BE49-F238E27FC236}">
                  <a16:creationId xmlns:a16="http://schemas.microsoft.com/office/drawing/2014/main" id="{84D1D403-34DF-A7C5-E715-C40A9968039E}"/>
                </a:ext>
              </a:extLst>
            </p:cNvPr>
            <p:cNvSpPr>
              <a:spLocks noChangeArrowheads="1"/>
            </p:cNvSpPr>
            <p:nvPr/>
          </p:nvSpPr>
          <p:spPr bwMode="auto">
            <a:xfrm>
              <a:off x="362" y="1150"/>
              <a:ext cx="9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en-US" altLang="zh-CN" sz="2500">
                  <a:solidFill>
                    <a:srgbClr val="003399"/>
                  </a:solidFill>
                  <a:ea typeface="华文楷体" panose="02010600040101010101" pitchFamily="2" charset="-122"/>
                  <a:cs typeface="Times New Roman" panose="02020603050405020304" pitchFamily="18" charset="0"/>
                </a:rPr>
                <a:t>5</a:t>
              </a:r>
              <a:endParaRPr kumimoji="1" lang="en-US" altLang="zh-CN" sz="3200" baseline="30000">
                <a:ea typeface="华文楷体" panose="02010600040101010101" pitchFamily="2" charset="-122"/>
                <a:cs typeface="Times New Roman" panose="02020603050405020304" pitchFamily="18" charset="0"/>
              </a:endParaRPr>
            </a:p>
          </p:txBody>
        </p:sp>
        <p:sp>
          <p:nvSpPr>
            <p:cNvPr id="23599" name="Rectangle 45">
              <a:extLst>
                <a:ext uri="{FF2B5EF4-FFF2-40B4-BE49-F238E27FC236}">
                  <a16:creationId xmlns:a16="http://schemas.microsoft.com/office/drawing/2014/main" id="{9F85663A-BF05-2C44-1A8A-B9483E91B889}"/>
                </a:ext>
              </a:extLst>
            </p:cNvPr>
            <p:cNvSpPr>
              <a:spLocks noChangeArrowheads="1"/>
            </p:cNvSpPr>
            <p:nvPr/>
          </p:nvSpPr>
          <p:spPr bwMode="auto">
            <a:xfrm>
              <a:off x="362" y="688"/>
              <a:ext cx="9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en-US" altLang="zh-CN" sz="2500">
                  <a:solidFill>
                    <a:srgbClr val="003399"/>
                  </a:solidFill>
                  <a:ea typeface="华文楷体" panose="02010600040101010101" pitchFamily="2" charset="-122"/>
                  <a:cs typeface="Times New Roman" panose="02020603050405020304" pitchFamily="18" charset="0"/>
                </a:rPr>
                <a:t>6</a:t>
              </a:r>
              <a:endParaRPr kumimoji="1" lang="en-US" altLang="zh-CN" sz="3200" baseline="30000">
                <a:ea typeface="华文楷体" panose="02010600040101010101" pitchFamily="2" charset="-122"/>
                <a:cs typeface="Times New Roman" panose="02020603050405020304" pitchFamily="18" charset="0"/>
              </a:endParaRPr>
            </a:p>
          </p:txBody>
        </p:sp>
        <p:sp>
          <p:nvSpPr>
            <p:cNvPr id="23600" name="Line 46">
              <a:extLst>
                <a:ext uri="{FF2B5EF4-FFF2-40B4-BE49-F238E27FC236}">
                  <a16:creationId xmlns:a16="http://schemas.microsoft.com/office/drawing/2014/main" id="{22D4F4A8-A7AB-4B05-B81A-5B57C0AEF25B}"/>
                </a:ext>
              </a:extLst>
            </p:cNvPr>
            <p:cNvSpPr>
              <a:spLocks noChangeShapeType="1"/>
            </p:cNvSpPr>
            <p:nvPr/>
          </p:nvSpPr>
          <p:spPr bwMode="auto">
            <a:xfrm>
              <a:off x="520" y="3551"/>
              <a:ext cx="3158" cy="1"/>
            </a:xfrm>
            <a:prstGeom prst="line">
              <a:avLst/>
            </a:prstGeom>
            <a:noFill/>
            <a:ln w="14288">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1" name="Line 47">
              <a:extLst>
                <a:ext uri="{FF2B5EF4-FFF2-40B4-BE49-F238E27FC236}">
                  <a16:creationId xmlns:a16="http://schemas.microsoft.com/office/drawing/2014/main" id="{41C72A90-B0C1-3847-8DD8-35587E5C18E6}"/>
                </a:ext>
              </a:extLst>
            </p:cNvPr>
            <p:cNvSpPr>
              <a:spLocks noChangeShapeType="1"/>
            </p:cNvSpPr>
            <p:nvPr/>
          </p:nvSpPr>
          <p:spPr bwMode="auto">
            <a:xfrm>
              <a:off x="520" y="3509"/>
              <a:ext cx="1" cy="42"/>
            </a:xfrm>
            <a:prstGeom prst="line">
              <a:avLst/>
            </a:prstGeom>
            <a:noFill/>
            <a:ln w="14288">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2" name="Line 48">
              <a:extLst>
                <a:ext uri="{FF2B5EF4-FFF2-40B4-BE49-F238E27FC236}">
                  <a16:creationId xmlns:a16="http://schemas.microsoft.com/office/drawing/2014/main" id="{C1AEE800-C793-F751-1565-8EF3A79AB802}"/>
                </a:ext>
              </a:extLst>
            </p:cNvPr>
            <p:cNvSpPr>
              <a:spLocks noChangeShapeType="1"/>
            </p:cNvSpPr>
            <p:nvPr/>
          </p:nvSpPr>
          <p:spPr bwMode="auto">
            <a:xfrm>
              <a:off x="3678" y="3509"/>
              <a:ext cx="1" cy="42"/>
            </a:xfrm>
            <a:prstGeom prst="line">
              <a:avLst/>
            </a:prstGeom>
            <a:noFill/>
            <a:ln w="14288">
              <a:solidFill>
                <a:srgbClr val="00339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603" name="Rectangle 49">
              <a:extLst>
                <a:ext uri="{FF2B5EF4-FFF2-40B4-BE49-F238E27FC236}">
                  <a16:creationId xmlns:a16="http://schemas.microsoft.com/office/drawing/2014/main" id="{BE4ABF6C-758E-A312-00C0-1F6477D5C38B}"/>
                </a:ext>
              </a:extLst>
            </p:cNvPr>
            <p:cNvSpPr>
              <a:spLocks noChangeArrowheads="1"/>
            </p:cNvSpPr>
            <p:nvPr/>
          </p:nvSpPr>
          <p:spPr bwMode="auto">
            <a:xfrm>
              <a:off x="1458" y="3655"/>
              <a:ext cx="142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en-US" altLang="zh-CN">
                  <a:solidFill>
                    <a:srgbClr val="003399"/>
                  </a:solidFill>
                  <a:ea typeface="华文楷体" panose="02010600040101010101" pitchFamily="2" charset="-122"/>
                  <a:cs typeface="Times New Roman" panose="02020603050405020304" pitchFamily="18" charset="0"/>
                </a:rPr>
                <a:t>4</a:t>
              </a:r>
              <a:r>
                <a:rPr kumimoji="1" lang="zh-CN" altLang="en-US">
                  <a:solidFill>
                    <a:srgbClr val="003399"/>
                  </a:solidFill>
                  <a:ea typeface="华文楷体" panose="02010600040101010101" pitchFamily="2" charset="-122"/>
                  <a:cs typeface="Times New Roman" panose="02020603050405020304" pitchFamily="18" charset="0"/>
                </a:rPr>
                <a:t>个粒子的分布</a:t>
              </a:r>
              <a:endParaRPr kumimoji="1" lang="zh-CN" altLang="en-US" baseline="30000">
                <a:ea typeface="华文楷体" panose="02010600040101010101" pitchFamily="2" charset="-122"/>
                <a:cs typeface="Times New Roman" panose="02020603050405020304" pitchFamily="18" charset="0"/>
              </a:endParaRPr>
            </a:p>
          </p:txBody>
        </p:sp>
        <p:sp>
          <p:nvSpPr>
            <p:cNvPr id="23604" name="Rectangle 50">
              <a:extLst>
                <a:ext uri="{FF2B5EF4-FFF2-40B4-BE49-F238E27FC236}">
                  <a16:creationId xmlns:a16="http://schemas.microsoft.com/office/drawing/2014/main" id="{846FBBAF-6D87-9F54-191A-0B78C5B1CC77}"/>
                </a:ext>
              </a:extLst>
            </p:cNvPr>
            <p:cNvSpPr>
              <a:spLocks noChangeArrowheads="1"/>
            </p:cNvSpPr>
            <p:nvPr/>
          </p:nvSpPr>
          <p:spPr bwMode="auto">
            <a:xfrm>
              <a:off x="2740" y="2056"/>
              <a:ext cx="74" cy="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3605" name="Rectangle 51">
              <a:extLst>
                <a:ext uri="{FF2B5EF4-FFF2-40B4-BE49-F238E27FC236}">
                  <a16:creationId xmlns:a16="http://schemas.microsoft.com/office/drawing/2014/main" id="{A3DD8899-7F78-2D2B-A23A-C12126AA4D1C}"/>
                </a:ext>
              </a:extLst>
            </p:cNvPr>
            <p:cNvSpPr>
              <a:spLocks noChangeArrowheads="1"/>
            </p:cNvSpPr>
            <p:nvPr/>
          </p:nvSpPr>
          <p:spPr bwMode="auto">
            <a:xfrm>
              <a:off x="3880" y="565"/>
              <a:ext cx="1430" cy="1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4351">
                  <a:solidFill>
                    <a:srgbClr val="000000"/>
                  </a:solidFill>
                  <a:miter lim="800000"/>
                  <a:headEnd/>
                  <a:tailEnd/>
                </a14:hiddenLine>
              </a:ext>
            </a:extLst>
          </p:spPr>
          <p:txBody>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3606" name="Rectangle 52">
              <a:extLst>
                <a:ext uri="{FF2B5EF4-FFF2-40B4-BE49-F238E27FC236}">
                  <a16:creationId xmlns:a16="http://schemas.microsoft.com/office/drawing/2014/main" id="{1F1438C5-822F-CF46-2EFB-2C1E92FB7D4A}"/>
                </a:ext>
              </a:extLst>
            </p:cNvPr>
            <p:cNvSpPr>
              <a:spLocks noChangeArrowheads="1"/>
            </p:cNvSpPr>
            <p:nvPr/>
          </p:nvSpPr>
          <p:spPr bwMode="auto">
            <a:xfrm>
              <a:off x="4038" y="682"/>
              <a:ext cx="139" cy="126"/>
            </a:xfrm>
            <a:prstGeom prst="rect">
              <a:avLst/>
            </a:prstGeom>
            <a:solidFill>
              <a:srgbClr val="00CC99"/>
            </a:solidFill>
            <a:ln w="14288">
              <a:solidFill>
                <a:srgbClr val="000000"/>
              </a:solidFill>
              <a:miter lim="800000"/>
              <a:headEnd/>
              <a:tailEnd/>
            </a:ln>
          </p:spPr>
          <p:txBody>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3607" name="Rectangle 53">
              <a:extLst>
                <a:ext uri="{FF2B5EF4-FFF2-40B4-BE49-F238E27FC236}">
                  <a16:creationId xmlns:a16="http://schemas.microsoft.com/office/drawing/2014/main" id="{CF129FA3-5395-2193-7FA2-C665C8C3F6CD}"/>
                </a:ext>
              </a:extLst>
            </p:cNvPr>
            <p:cNvSpPr>
              <a:spLocks noChangeArrowheads="1"/>
            </p:cNvSpPr>
            <p:nvPr/>
          </p:nvSpPr>
          <p:spPr bwMode="auto">
            <a:xfrm>
              <a:off x="4038" y="1030"/>
              <a:ext cx="139" cy="126"/>
            </a:xfrm>
            <a:prstGeom prst="rect">
              <a:avLst/>
            </a:prstGeom>
            <a:solidFill>
              <a:srgbClr val="0066FF"/>
            </a:solidFill>
            <a:ln w="14288">
              <a:solidFill>
                <a:srgbClr val="000000"/>
              </a:solidFill>
              <a:miter lim="800000"/>
              <a:headEnd/>
              <a:tailEnd/>
            </a:ln>
          </p:spPr>
          <p:txBody>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3608" name="Rectangle 54">
              <a:extLst>
                <a:ext uri="{FF2B5EF4-FFF2-40B4-BE49-F238E27FC236}">
                  <a16:creationId xmlns:a16="http://schemas.microsoft.com/office/drawing/2014/main" id="{D9A91535-AEC0-7401-474C-E0CA0CDD6671}"/>
                </a:ext>
              </a:extLst>
            </p:cNvPr>
            <p:cNvSpPr>
              <a:spLocks noChangeArrowheads="1"/>
            </p:cNvSpPr>
            <p:nvPr/>
          </p:nvSpPr>
          <p:spPr bwMode="auto">
            <a:xfrm>
              <a:off x="4038" y="1378"/>
              <a:ext cx="139" cy="126"/>
            </a:xfrm>
            <a:prstGeom prst="rect">
              <a:avLst/>
            </a:prstGeom>
            <a:solidFill>
              <a:srgbClr val="800000"/>
            </a:solidFill>
            <a:ln w="14351">
              <a:solidFill>
                <a:srgbClr val="000000"/>
              </a:solidFill>
              <a:miter lim="800000"/>
              <a:headEnd/>
              <a:tailEnd/>
            </a:ln>
          </p:spPr>
          <p:txBody>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3609" name="Rectangle 55">
              <a:extLst>
                <a:ext uri="{FF2B5EF4-FFF2-40B4-BE49-F238E27FC236}">
                  <a16:creationId xmlns:a16="http://schemas.microsoft.com/office/drawing/2014/main" id="{C289BEEC-43AC-0FD3-7155-A54C5F464E13}"/>
                </a:ext>
              </a:extLst>
            </p:cNvPr>
            <p:cNvSpPr>
              <a:spLocks noChangeArrowheads="1"/>
            </p:cNvSpPr>
            <p:nvPr/>
          </p:nvSpPr>
          <p:spPr bwMode="auto">
            <a:xfrm>
              <a:off x="4038" y="1717"/>
              <a:ext cx="139" cy="126"/>
            </a:xfrm>
            <a:prstGeom prst="rect">
              <a:avLst/>
            </a:prstGeom>
            <a:solidFill>
              <a:schemeClr val="folHlink"/>
            </a:solidFill>
            <a:ln w="14288">
              <a:solidFill>
                <a:srgbClr val="000000"/>
              </a:solidFill>
              <a:miter lim="800000"/>
              <a:headEnd/>
              <a:tailEnd/>
            </a:ln>
          </p:spPr>
          <p:txBody>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3610" name="Rectangle 56">
              <a:extLst>
                <a:ext uri="{FF2B5EF4-FFF2-40B4-BE49-F238E27FC236}">
                  <a16:creationId xmlns:a16="http://schemas.microsoft.com/office/drawing/2014/main" id="{778D9250-F3C8-28B9-E315-145F14416931}"/>
                </a:ext>
              </a:extLst>
            </p:cNvPr>
            <p:cNvSpPr>
              <a:spLocks noChangeArrowheads="1"/>
            </p:cNvSpPr>
            <p:nvPr/>
          </p:nvSpPr>
          <p:spPr bwMode="auto">
            <a:xfrm>
              <a:off x="4038" y="2065"/>
              <a:ext cx="139" cy="126"/>
            </a:xfrm>
            <a:prstGeom prst="rect">
              <a:avLst/>
            </a:prstGeom>
            <a:solidFill>
              <a:schemeClr val="bg2"/>
            </a:solidFill>
            <a:ln w="14288">
              <a:solidFill>
                <a:srgbClr val="000000"/>
              </a:solidFill>
              <a:miter lim="800000"/>
              <a:headEnd/>
              <a:tailEnd/>
            </a:ln>
          </p:spPr>
          <p:txBody>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ea typeface="华文楷体" panose="02010600040101010101" pitchFamily="2" charset="-122"/>
                <a:cs typeface="Times New Roman" panose="02020603050405020304" pitchFamily="18" charset="0"/>
              </a:endParaRPr>
            </a:p>
          </p:txBody>
        </p:sp>
        <p:sp>
          <p:nvSpPr>
            <p:cNvPr id="23611" name="Rectangle 57">
              <a:extLst>
                <a:ext uri="{FF2B5EF4-FFF2-40B4-BE49-F238E27FC236}">
                  <a16:creationId xmlns:a16="http://schemas.microsoft.com/office/drawing/2014/main" id="{0F1746E5-AD01-BF4E-EBC5-BDEC2788B546}"/>
                </a:ext>
              </a:extLst>
            </p:cNvPr>
            <p:cNvSpPr>
              <a:spLocks noChangeArrowheads="1"/>
            </p:cNvSpPr>
            <p:nvPr/>
          </p:nvSpPr>
          <p:spPr bwMode="auto">
            <a:xfrm>
              <a:off x="4212" y="571"/>
              <a:ext cx="9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zh-CN" altLang="en-US">
                  <a:ea typeface="华文楷体" panose="02010600040101010101" pitchFamily="2" charset="-122"/>
                  <a:cs typeface="Times New Roman" panose="02020603050405020304" pitchFamily="18" charset="0"/>
                </a:rPr>
                <a:t>左</a:t>
              </a:r>
              <a:r>
                <a:rPr kumimoji="1" lang="en-US" altLang="zh-CN">
                  <a:ea typeface="华文楷体" panose="02010600040101010101" pitchFamily="2" charset="-122"/>
                  <a:cs typeface="Times New Roman" panose="02020603050405020304" pitchFamily="18" charset="0"/>
                </a:rPr>
                <a:t>4</a:t>
              </a:r>
              <a:r>
                <a:rPr kumimoji="1" lang="zh-CN" altLang="en-US">
                  <a:ea typeface="华文楷体" panose="02010600040101010101" pitchFamily="2" charset="-122"/>
                  <a:cs typeface="Times New Roman" panose="02020603050405020304" pitchFamily="18" charset="0"/>
                </a:rPr>
                <a:t>，右</a:t>
              </a:r>
              <a:r>
                <a:rPr kumimoji="1" lang="en-US" altLang="zh-CN">
                  <a:ea typeface="华文楷体" panose="02010600040101010101" pitchFamily="2" charset="-122"/>
                  <a:cs typeface="Times New Roman" panose="02020603050405020304" pitchFamily="18" charset="0"/>
                </a:rPr>
                <a:t>0</a:t>
              </a:r>
            </a:p>
          </p:txBody>
        </p:sp>
        <p:sp>
          <p:nvSpPr>
            <p:cNvPr id="23612" name="Rectangle 58">
              <a:extLst>
                <a:ext uri="{FF2B5EF4-FFF2-40B4-BE49-F238E27FC236}">
                  <a16:creationId xmlns:a16="http://schemas.microsoft.com/office/drawing/2014/main" id="{88E3574E-1650-B2DC-2594-FA5742F9CAEB}"/>
                </a:ext>
              </a:extLst>
            </p:cNvPr>
            <p:cNvSpPr>
              <a:spLocks noChangeArrowheads="1"/>
            </p:cNvSpPr>
            <p:nvPr/>
          </p:nvSpPr>
          <p:spPr bwMode="auto">
            <a:xfrm>
              <a:off x="4226" y="932"/>
              <a:ext cx="97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zh-CN" altLang="en-US">
                  <a:ea typeface="华文楷体" panose="02010600040101010101" pitchFamily="2" charset="-122"/>
                  <a:cs typeface="Times New Roman" panose="02020603050405020304" pitchFamily="18" charset="0"/>
                </a:rPr>
                <a:t>左</a:t>
              </a:r>
              <a:r>
                <a:rPr kumimoji="1" lang="en-US" altLang="zh-CN">
                  <a:ea typeface="华文楷体" panose="02010600040101010101" pitchFamily="2" charset="-122"/>
                  <a:cs typeface="Times New Roman" panose="02020603050405020304" pitchFamily="18" charset="0"/>
                </a:rPr>
                <a:t>3</a:t>
              </a:r>
              <a:r>
                <a:rPr kumimoji="1" lang="zh-CN" altLang="en-US">
                  <a:ea typeface="华文楷体" panose="02010600040101010101" pitchFamily="2" charset="-122"/>
                  <a:cs typeface="Times New Roman" panose="02020603050405020304" pitchFamily="18" charset="0"/>
                </a:rPr>
                <a:t>，右</a:t>
              </a:r>
              <a:r>
                <a:rPr kumimoji="1" lang="en-US" altLang="zh-CN">
                  <a:ea typeface="华文楷体" panose="02010600040101010101" pitchFamily="2" charset="-122"/>
                  <a:cs typeface="Times New Roman" panose="02020603050405020304" pitchFamily="18" charset="0"/>
                </a:rPr>
                <a:t>1</a:t>
              </a:r>
            </a:p>
          </p:txBody>
        </p:sp>
        <p:sp>
          <p:nvSpPr>
            <p:cNvPr id="23613" name="Rectangle 59">
              <a:extLst>
                <a:ext uri="{FF2B5EF4-FFF2-40B4-BE49-F238E27FC236}">
                  <a16:creationId xmlns:a16="http://schemas.microsoft.com/office/drawing/2014/main" id="{8F8D45FF-1629-CA1D-08EB-DB0FE82812EE}"/>
                </a:ext>
              </a:extLst>
            </p:cNvPr>
            <p:cNvSpPr>
              <a:spLocks noChangeArrowheads="1"/>
            </p:cNvSpPr>
            <p:nvPr/>
          </p:nvSpPr>
          <p:spPr bwMode="auto">
            <a:xfrm>
              <a:off x="4235" y="1262"/>
              <a:ext cx="9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zh-CN" altLang="en-US">
                  <a:solidFill>
                    <a:srgbClr val="800000"/>
                  </a:solidFill>
                  <a:ea typeface="华文楷体" panose="02010600040101010101" pitchFamily="2" charset="-122"/>
                  <a:cs typeface="Times New Roman" panose="02020603050405020304" pitchFamily="18" charset="0"/>
                </a:rPr>
                <a:t>左</a:t>
              </a:r>
              <a:r>
                <a:rPr kumimoji="1" lang="en-US" altLang="zh-CN">
                  <a:solidFill>
                    <a:srgbClr val="800000"/>
                  </a:solidFill>
                  <a:ea typeface="华文楷体" panose="02010600040101010101" pitchFamily="2" charset="-122"/>
                  <a:cs typeface="Times New Roman" panose="02020603050405020304" pitchFamily="18" charset="0"/>
                </a:rPr>
                <a:t>2</a:t>
              </a:r>
              <a:r>
                <a:rPr kumimoji="1" lang="zh-CN" altLang="en-US">
                  <a:solidFill>
                    <a:srgbClr val="800000"/>
                  </a:solidFill>
                  <a:ea typeface="华文楷体" panose="02010600040101010101" pitchFamily="2" charset="-122"/>
                  <a:cs typeface="Times New Roman" panose="02020603050405020304" pitchFamily="18" charset="0"/>
                </a:rPr>
                <a:t>，右</a:t>
              </a:r>
              <a:r>
                <a:rPr kumimoji="1" lang="en-US" altLang="zh-CN">
                  <a:solidFill>
                    <a:srgbClr val="800000"/>
                  </a:solidFill>
                  <a:ea typeface="华文楷体" panose="02010600040101010101" pitchFamily="2" charset="-122"/>
                  <a:cs typeface="Times New Roman" panose="02020603050405020304" pitchFamily="18" charset="0"/>
                </a:rPr>
                <a:t>2</a:t>
              </a:r>
            </a:p>
          </p:txBody>
        </p:sp>
        <p:sp>
          <p:nvSpPr>
            <p:cNvPr id="23614" name="Rectangle 60">
              <a:extLst>
                <a:ext uri="{FF2B5EF4-FFF2-40B4-BE49-F238E27FC236}">
                  <a16:creationId xmlns:a16="http://schemas.microsoft.com/office/drawing/2014/main" id="{549B2645-EB76-2951-7CEA-1EFF08668D49}"/>
                </a:ext>
              </a:extLst>
            </p:cNvPr>
            <p:cNvSpPr>
              <a:spLocks noChangeArrowheads="1"/>
            </p:cNvSpPr>
            <p:nvPr/>
          </p:nvSpPr>
          <p:spPr bwMode="auto">
            <a:xfrm>
              <a:off x="4239" y="1613"/>
              <a:ext cx="97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zh-CN" altLang="en-US">
                  <a:ea typeface="华文楷体" panose="02010600040101010101" pitchFamily="2" charset="-122"/>
                  <a:cs typeface="Times New Roman" panose="02020603050405020304" pitchFamily="18" charset="0"/>
                </a:rPr>
                <a:t>左</a:t>
              </a:r>
              <a:r>
                <a:rPr kumimoji="1" lang="en-US" altLang="zh-CN">
                  <a:ea typeface="华文楷体" panose="02010600040101010101" pitchFamily="2" charset="-122"/>
                  <a:cs typeface="Times New Roman" panose="02020603050405020304" pitchFamily="18" charset="0"/>
                </a:rPr>
                <a:t>1</a:t>
              </a:r>
              <a:r>
                <a:rPr kumimoji="1" lang="zh-CN" altLang="en-US">
                  <a:ea typeface="华文楷体" panose="02010600040101010101" pitchFamily="2" charset="-122"/>
                  <a:cs typeface="Times New Roman" panose="02020603050405020304" pitchFamily="18" charset="0"/>
                </a:rPr>
                <a:t>，右</a:t>
              </a:r>
              <a:r>
                <a:rPr kumimoji="1" lang="en-US" altLang="zh-CN">
                  <a:ea typeface="华文楷体" panose="02010600040101010101" pitchFamily="2" charset="-122"/>
                  <a:cs typeface="Times New Roman" panose="02020603050405020304" pitchFamily="18" charset="0"/>
                </a:rPr>
                <a:t>3</a:t>
              </a:r>
            </a:p>
          </p:txBody>
        </p:sp>
        <p:sp>
          <p:nvSpPr>
            <p:cNvPr id="23615" name="Rectangle 61">
              <a:extLst>
                <a:ext uri="{FF2B5EF4-FFF2-40B4-BE49-F238E27FC236}">
                  <a16:creationId xmlns:a16="http://schemas.microsoft.com/office/drawing/2014/main" id="{D158E94F-A561-2D23-2857-2DF127F9FB84}"/>
                </a:ext>
              </a:extLst>
            </p:cNvPr>
            <p:cNvSpPr>
              <a:spLocks noChangeArrowheads="1"/>
            </p:cNvSpPr>
            <p:nvPr/>
          </p:nvSpPr>
          <p:spPr bwMode="auto">
            <a:xfrm>
              <a:off x="4254" y="1961"/>
              <a:ext cx="97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zh-CN" altLang="en-US">
                  <a:ea typeface="华文楷体" panose="02010600040101010101" pitchFamily="2" charset="-122"/>
                  <a:cs typeface="Times New Roman" panose="02020603050405020304" pitchFamily="18" charset="0"/>
                </a:rPr>
                <a:t>左</a:t>
              </a:r>
              <a:r>
                <a:rPr kumimoji="1" lang="en-US" altLang="zh-CN">
                  <a:ea typeface="华文楷体" panose="02010600040101010101" pitchFamily="2" charset="-122"/>
                  <a:cs typeface="Times New Roman" panose="02020603050405020304" pitchFamily="18" charset="0"/>
                </a:rPr>
                <a:t>0</a:t>
              </a:r>
              <a:r>
                <a:rPr kumimoji="1" lang="zh-CN" altLang="en-US">
                  <a:ea typeface="华文楷体" panose="02010600040101010101" pitchFamily="2" charset="-122"/>
                  <a:cs typeface="Times New Roman" panose="02020603050405020304" pitchFamily="18" charset="0"/>
                </a:rPr>
                <a:t>，右</a:t>
              </a:r>
              <a:r>
                <a:rPr kumimoji="1" lang="en-US" altLang="zh-CN">
                  <a:ea typeface="华文楷体" panose="02010600040101010101" pitchFamily="2" charset="-122"/>
                  <a:cs typeface="Times New Roman" panose="02020603050405020304" pitchFamily="18" charset="0"/>
                </a:rPr>
                <a:t>4</a:t>
              </a:r>
            </a:p>
          </p:txBody>
        </p:sp>
      </p:grpSp>
      <p:sp>
        <p:nvSpPr>
          <p:cNvPr id="23556" name="Text Box 62">
            <a:extLst>
              <a:ext uri="{FF2B5EF4-FFF2-40B4-BE49-F238E27FC236}">
                <a16:creationId xmlns:a16="http://schemas.microsoft.com/office/drawing/2014/main" id="{FC5A99F3-720C-58F0-5A24-89A2E52E90D2}"/>
              </a:ext>
            </a:extLst>
          </p:cNvPr>
          <p:cNvSpPr txBox="1">
            <a:spLocks noChangeArrowheads="1"/>
          </p:cNvSpPr>
          <p:nvPr/>
        </p:nvSpPr>
        <p:spPr bwMode="auto">
          <a:xfrm>
            <a:off x="1682750" y="495301"/>
            <a:ext cx="19700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ea typeface="华文楷体" panose="02010600040101010101" pitchFamily="2" charset="-122"/>
                <a:cs typeface="Times New Roman" panose="02020603050405020304" pitchFamily="18" charset="0"/>
              </a:rPr>
              <a:t>微观状态数</a:t>
            </a:r>
          </a:p>
        </p:txBody>
      </p:sp>
    </p:spTree>
    <p:extLst>
      <p:ext uri="{BB962C8B-B14F-4D97-AF65-F5344CB8AC3E}">
        <p14:creationId xmlns:p14="http://schemas.microsoft.com/office/powerpoint/2010/main" val="26095157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a:extLst>
              <a:ext uri="{FF2B5EF4-FFF2-40B4-BE49-F238E27FC236}">
                <a16:creationId xmlns:a16="http://schemas.microsoft.com/office/drawing/2014/main" id="{E5BE9DBA-CFB6-0201-39F2-3572E1D23382}"/>
              </a:ext>
            </a:extLst>
          </p:cNvPr>
          <p:cNvGraphicFramePr>
            <a:graphicFrameLocks/>
          </p:cNvGraphicFramePr>
          <p:nvPr/>
        </p:nvGraphicFramePr>
        <p:xfrm>
          <a:off x="1422400" y="283368"/>
          <a:ext cx="9347199" cy="6291263"/>
        </p:xfrm>
        <a:graphic>
          <a:graphicData uri="http://schemas.openxmlformats.org/drawingml/2006/chart">
            <c:chart xmlns:c="http://schemas.openxmlformats.org/drawingml/2006/chart" xmlns:r="http://schemas.openxmlformats.org/officeDocument/2006/relationships" r:id="rId2"/>
          </a:graphicData>
        </a:graphic>
      </p:graphicFrame>
      <p:sp>
        <p:nvSpPr>
          <p:cNvPr id="2052" name="Text Box 3">
            <a:extLst>
              <a:ext uri="{FF2B5EF4-FFF2-40B4-BE49-F238E27FC236}">
                <a16:creationId xmlns:a16="http://schemas.microsoft.com/office/drawing/2014/main" id="{03A2A6F9-CA29-3350-FCB1-E7FD2994F380}"/>
              </a:ext>
            </a:extLst>
          </p:cNvPr>
          <p:cNvSpPr txBox="1">
            <a:spLocks noChangeArrowheads="1"/>
          </p:cNvSpPr>
          <p:nvPr/>
        </p:nvSpPr>
        <p:spPr bwMode="auto">
          <a:xfrm>
            <a:off x="3286579" y="792844"/>
            <a:ext cx="19700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ea typeface="华文楷体" panose="02010600040101010101" pitchFamily="2" charset="-122"/>
                <a:cs typeface="Times New Roman" panose="02020603050405020304" pitchFamily="18" charset="0"/>
              </a:rPr>
              <a:t>微观状态数</a:t>
            </a:r>
          </a:p>
        </p:txBody>
      </p:sp>
    </p:spTree>
    <p:extLst>
      <p:ext uri="{BB962C8B-B14F-4D97-AF65-F5344CB8AC3E}">
        <p14:creationId xmlns:p14="http://schemas.microsoft.com/office/powerpoint/2010/main" val="6601132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 Box 4">
            <a:extLst>
              <a:ext uri="{FF2B5EF4-FFF2-40B4-BE49-F238E27FC236}">
                <a16:creationId xmlns:a16="http://schemas.microsoft.com/office/drawing/2014/main" id="{7DD23EFF-DC4C-886D-FBF4-CCE538C2695C}"/>
              </a:ext>
            </a:extLst>
          </p:cNvPr>
          <p:cNvSpPr txBox="1">
            <a:spLocks noChangeArrowheads="1"/>
          </p:cNvSpPr>
          <p:nvPr/>
        </p:nvSpPr>
        <p:spPr bwMode="auto">
          <a:xfrm>
            <a:off x="3792539" y="333376"/>
            <a:ext cx="49688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dirty="0">
                <a:ea typeface="楷体" panose="02010609060101010101" pitchFamily="49" charset="-122"/>
                <a:cs typeface="Times New Roman" panose="02020603050405020304" pitchFamily="18" charset="0"/>
              </a:rPr>
              <a:t>20</a:t>
            </a:r>
            <a:r>
              <a:rPr lang="zh-CN" altLang="en-US" dirty="0">
                <a:ea typeface="楷体" panose="02010609060101010101" pitchFamily="49" charset="-122"/>
                <a:cs typeface="Times New Roman" panose="02020603050405020304" pitchFamily="18" charset="0"/>
              </a:rPr>
              <a:t>个分子的位置分布</a:t>
            </a:r>
          </a:p>
        </p:txBody>
      </p:sp>
      <p:graphicFrame>
        <p:nvGraphicFramePr>
          <p:cNvPr id="128060" name="Group 60">
            <a:extLst>
              <a:ext uri="{FF2B5EF4-FFF2-40B4-BE49-F238E27FC236}">
                <a16:creationId xmlns:a16="http://schemas.microsoft.com/office/drawing/2014/main" id="{EFEB5AB0-2587-1976-A765-B8C406D48DC4}"/>
              </a:ext>
            </a:extLst>
          </p:cNvPr>
          <p:cNvGraphicFramePr>
            <a:graphicFrameLocks noGrp="1"/>
          </p:cNvGraphicFramePr>
          <p:nvPr/>
        </p:nvGraphicFramePr>
        <p:xfrm>
          <a:off x="1919288" y="981075"/>
          <a:ext cx="8208962" cy="5608320"/>
        </p:xfrm>
        <a:graphic>
          <a:graphicData uri="http://schemas.openxmlformats.org/drawingml/2006/table">
            <a:tbl>
              <a:tblPr/>
              <a:tblGrid>
                <a:gridCol w="1944687">
                  <a:extLst>
                    <a:ext uri="{9D8B030D-6E8A-4147-A177-3AD203B41FA5}">
                      <a16:colId xmlns:a16="http://schemas.microsoft.com/office/drawing/2014/main" val="3520063810"/>
                    </a:ext>
                  </a:extLst>
                </a:gridCol>
                <a:gridCol w="2016125">
                  <a:extLst>
                    <a:ext uri="{9D8B030D-6E8A-4147-A177-3AD203B41FA5}">
                      <a16:colId xmlns:a16="http://schemas.microsoft.com/office/drawing/2014/main" val="633628454"/>
                    </a:ext>
                  </a:extLst>
                </a:gridCol>
                <a:gridCol w="4248150">
                  <a:extLst>
                    <a:ext uri="{9D8B030D-6E8A-4147-A177-3AD203B41FA5}">
                      <a16:colId xmlns:a16="http://schemas.microsoft.com/office/drawing/2014/main" val="2185052003"/>
                    </a:ext>
                  </a:extLst>
                </a:gridCol>
              </a:tblGrid>
              <a:tr h="406400">
                <a:tc gridSpan="2">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 panose="02010609060101010101" pitchFamily="49" charset="-122"/>
                        </a:rPr>
                        <a:t>宏观状态</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Arial" panose="020B0604020202020204" pitchFamily="34" charset="0"/>
                          <a:ea typeface="楷体" panose="02010609060101010101" pitchFamily="49" charset="-122"/>
                        </a:rPr>
                        <a:t>一种宏观状态对应的微观状态数</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16704270"/>
                  </a:ext>
                </a:extLst>
              </a:tr>
              <a:tr h="406400">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左</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右</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02527552"/>
                  </a:ext>
                </a:extLst>
              </a:tr>
              <a:tr h="406400">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左</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右</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3982797"/>
                  </a:ext>
                </a:extLst>
              </a:tr>
              <a:tr h="406400">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左</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右</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15504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18108632"/>
                  </a:ext>
                </a:extLst>
              </a:tr>
              <a:tr h="406400">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左</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右</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167960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22882611"/>
                  </a:ext>
                </a:extLst>
              </a:tr>
              <a:tr h="406400">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左</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右</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184756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77763947"/>
                  </a:ext>
                </a:extLst>
              </a:tr>
              <a:tr h="406400">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左</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右</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167960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76400799"/>
                  </a:ext>
                </a:extLst>
              </a:tr>
              <a:tr h="406400">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左</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右</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15504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50155822"/>
                  </a:ext>
                </a:extLst>
              </a:tr>
              <a:tr h="406400">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左</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右</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190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16515001"/>
                  </a:ext>
                </a:extLst>
              </a:tr>
              <a:tr h="406400">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左</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右</a:t>
                      </a:r>
                      <a:r>
                        <a:rPr kumimoji="0" lang="en-US" altLang="zh-CN" sz="2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sz="20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17751900"/>
                  </a:ext>
                </a:extLst>
              </a:tr>
            </a:tbl>
          </a:graphicData>
        </a:graphic>
      </p:graphicFrame>
    </p:spTree>
    <p:extLst>
      <p:ext uri="{BB962C8B-B14F-4D97-AF65-F5344CB8AC3E}">
        <p14:creationId xmlns:p14="http://schemas.microsoft.com/office/powerpoint/2010/main" val="39351505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81" name="Group 2">
            <a:extLst>
              <a:ext uri="{FF2B5EF4-FFF2-40B4-BE49-F238E27FC236}">
                <a16:creationId xmlns:a16="http://schemas.microsoft.com/office/drawing/2014/main" id="{1B8EE2BB-EE78-EADD-F4BF-3226F3A0FCD0}"/>
              </a:ext>
            </a:extLst>
          </p:cNvPr>
          <p:cNvGrpSpPr>
            <a:grpSpLocks/>
          </p:cNvGrpSpPr>
          <p:nvPr/>
        </p:nvGrpSpPr>
        <p:grpSpPr bwMode="auto">
          <a:xfrm>
            <a:off x="2725403" y="434070"/>
            <a:ext cx="2844800" cy="1682750"/>
            <a:chOff x="712" y="224"/>
            <a:chExt cx="1792" cy="1060"/>
          </a:xfrm>
        </p:grpSpPr>
        <p:sp>
          <p:nvSpPr>
            <p:cNvPr id="3096" name="Rectangle 3" descr="5%">
              <a:extLst>
                <a:ext uri="{FF2B5EF4-FFF2-40B4-BE49-F238E27FC236}">
                  <a16:creationId xmlns:a16="http://schemas.microsoft.com/office/drawing/2014/main" id="{7E7F57D5-C025-3997-9250-5C7B8C36FE20}"/>
                </a:ext>
              </a:extLst>
            </p:cNvPr>
            <p:cNvSpPr>
              <a:spLocks noChangeArrowheads="1"/>
            </p:cNvSpPr>
            <p:nvPr/>
          </p:nvSpPr>
          <p:spPr bwMode="auto">
            <a:xfrm>
              <a:off x="712" y="538"/>
              <a:ext cx="1792" cy="736"/>
            </a:xfrm>
            <a:prstGeom prst="rect">
              <a:avLst/>
            </a:prstGeom>
            <a:pattFill prst="pct5">
              <a:fgClr>
                <a:schemeClr val="bg2"/>
              </a:fgClr>
              <a:bgClr>
                <a:srgbClr val="FFFFFF"/>
              </a:bgClr>
            </a:pattFill>
            <a:ln w="50800">
              <a:solidFill>
                <a:srgbClr val="660066"/>
              </a:solidFill>
              <a:miter lim="800000"/>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ea typeface="楷体" panose="02010609060101010101" pitchFamily="49" charset="-122"/>
              </a:endParaRPr>
            </a:p>
          </p:txBody>
        </p:sp>
        <p:sp>
          <p:nvSpPr>
            <p:cNvPr id="3097" name="Line 4">
              <a:extLst>
                <a:ext uri="{FF2B5EF4-FFF2-40B4-BE49-F238E27FC236}">
                  <a16:creationId xmlns:a16="http://schemas.microsoft.com/office/drawing/2014/main" id="{F28C6DBA-F89C-357C-AA95-C17E65F9ECFB}"/>
                </a:ext>
              </a:extLst>
            </p:cNvPr>
            <p:cNvSpPr>
              <a:spLocks noChangeShapeType="1"/>
            </p:cNvSpPr>
            <p:nvPr/>
          </p:nvSpPr>
          <p:spPr bwMode="auto">
            <a:xfrm>
              <a:off x="1608" y="585"/>
              <a:ext cx="0" cy="699"/>
            </a:xfrm>
            <a:prstGeom prst="line">
              <a:avLst/>
            </a:prstGeom>
            <a:noFill/>
            <a:ln w="50800">
              <a:solidFill>
                <a:srgbClr val="660066"/>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98" name="Rectangle 5">
              <a:extLst>
                <a:ext uri="{FF2B5EF4-FFF2-40B4-BE49-F238E27FC236}">
                  <a16:creationId xmlns:a16="http://schemas.microsoft.com/office/drawing/2014/main" id="{98763A12-B5BC-817C-BA9E-551CFE196DFE}"/>
                </a:ext>
              </a:extLst>
            </p:cNvPr>
            <p:cNvSpPr>
              <a:spLocks noChangeArrowheads="1"/>
            </p:cNvSpPr>
            <p:nvPr/>
          </p:nvSpPr>
          <p:spPr bwMode="auto">
            <a:xfrm>
              <a:off x="974" y="665"/>
              <a:ext cx="263" cy="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r>
                <a:rPr kumimoji="1" lang="en-US" altLang="zh-CN" sz="3600" b="0" i="1"/>
                <a:t>n</a:t>
              </a:r>
            </a:p>
          </p:txBody>
        </p:sp>
        <p:sp>
          <p:nvSpPr>
            <p:cNvPr id="3099" name="Rectangle 6">
              <a:extLst>
                <a:ext uri="{FF2B5EF4-FFF2-40B4-BE49-F238E27FC236}">
                  <a16:creationId xmlns:a16="http://schemas.microsoft.com/office/drawing/2014/main" id="{F21BE416-467C-298D-1816-43FAEFE72C5F}"/>
                </a:ext>
              </a:extLst>
            </p:cNvPr>
            <p:cNvSpPr>
              <a:spLocks noChangeArrowheads="1"/>
            </p:cNvSpPr>
            <p:nvPr/>
          </p:nvSpPr>
          <p:spPr bwMode="auto">
            <a:xfrm>
              <a:off x="1262" y="224"/>
              <a:ext cx="83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r>
                <a:rPr kumimoji="1" lang="en-US" altLang="zh-CN" b="0" i="1" dirty="0"/>
                <a:t>N=</a:t>
              </a:r>
              <a:r>
                <a:rPr kumimoji="1" lang="en-US" altLang="zh-CN" b="0" dirty="0"/>
                <a:t>10</a:t>
              </a:r>
              <a:r>
                <a:rPr kumimoji="1" lang="en-US" altLang="zh-CN" b="0" baseline="30000" dirty="0"/>
                <a:t>23</a:t>
              </a:r>
              <a:r>
                <a:rPr kumimoji="1" lang="en-US" altLang="zh-CN" sz="2400" b="0" baseline="30000" dirty="0"/>
                <a:t> </a:t>
              </a:r>
            </a:p>
          </p:txBody>
        </p:sp>
        <p:grpSp>
          <p:nvGrpSpPr>
            <p:cNvPr id="3100" name="Group 7">
              <a:extLst>
                <a:ext uri="{FF2B5EF4-FFF2-40B4-BE49-F238E27FC236}">
                  <a16:creationId xmlns:a16="http://schemas.microsoft.com/office/drawing/2014/main" id="{BAD7B893-7BC8-CA36-6DB2-F94CE2E5C359}"/>
                </a:ext>
              </a:extLst>
            </p:cNvPr>
            <p:cNvGrpSpPr>
              <a:grpSpLocks/>
            </p:cNvGrpSpPr>
            <p:nvPr/>
          </p:nvGrpSpPr>
          <p:grpSpPr bwMode="auto">
            <a:xfrm>
              <a:off x="1738" y="696"/>
              <a:ext cx="671" cy="391"/>
              <a:chOff x="1522" y="2405"/>
              <a:chExt cx="671" cy="391"/>
            </a:xfrm>
          </p:grpSpPr>
          <p:sp>
            <p:nvSpPr>
              <p:cNvPr id="3101" name="Text Box 8">
                <a:extLst>
                  <a:ext uri="{FF2B5EF4-FFF2-40B4-BE49-F238E27FC236}">
                    <a16:creationId xmlns:a16="http://schemas.microsoft.com/office/drawing/2014/main" id="{DE1C6A80-7041-328E-22CC-925EBE0A3585}"/>
                  </a:ext>
                </a:extLst>
              </p:cNvPr>
              <p:cNvSpPr txBox="1">
                <a:spLocks noChangeArrowheads="1"/>
              </p:cNvSpPr>
              <p:nvPr/>
            </p:nvSpPr>
            <p:spPr bwMode="auto">
              <a:xfrm>
                <a:off x="1522" y="2431"/>
                <a:ext cx="611"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spcBef>
                    <a:spcPct val="50000"/>
                  </a:spcBef>
                  <a:buFont typeface="Monotype Sorts" pitchFamily="2" charset="2"/>
                  <a:buNone/>
                </a:pPr>
                <a:r>
                  <a:rPr kumimoji="1" lang="en-US" altLang="zh-CN" sz="3200" b="0" i="1">
                    <a:ea typeface="黑体" panose="02010609060101010101" pitchFamily="49" charset="-122"/>
                  </a:rPr>
                  <a:t>N</a:t>
                </a:r>
              </a:p>
            </p:txBody>
          </p:sp>
          <p:sp>
            <p:nvSpPr>
              <p:cNvPr id="3102" name="Text Box 9">
                <a:extLst>
                  <a:ext uri="{FF2B5EF4-FFF2-40B4-BE49-F238E27FC236}">
                    <a16:creationId xmlns:a16="http://schemas.microsoft.com/office/drawing/2014/main" id="{131BAED0-2246-C245-2D68-5F6498FE1200}"/>
                  </a:ext>
                </a:extLst>
              </p:cNvPr>
              <p:cNvSpPr txBox="1">
                <a:spLocks noChangeArrowheads="1"/>
              </p:cNvSpPr>
              <p:nvPr/>
            </p:nvSpPr>
            <p:spPr bwMode="auto">
              <a:xfrm>
                <a:off x="1703" y="2405"/>
                <a:ext cx="49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spcBef>
                    <a:spcPct val="50000"/>
                  </a:spcBef>
                  <a:buFont typeface="Monotype Sorts" pitchFamily="2" charset="2"/>
                  <a:buNone/>
                </a:pPr>
                <a:r>
                  <a:rPr kumimoji="1" lang="en-US" altLang="zh-CN" sz="3200" b="0" i="1">
                    <a:ea typeface="黑体" panose="02010609060101010101" pitchFamily="49" charset="-122"/>
                    <a:sym typeface="Symbol" panose="05050102010706020507" pitchFamily="18" charset="2"/>
                  </a:rPr>
                  <a:t></a:t>
                </a:r>
                <a:r>
                  <a:rPr kumimoji="1" lang="en-US" altLang="zh-CN" sz="3200" b="0" i="1">
                    <a:ea typeface="黑体" panose="02010609060101010101" pitchFamily="49" charset="-122"/>
                  </a:rPr>
                  <a:t>n</a:t>
                </a:r>
              </a:p>
            </p:txBody>
          </p:sp>
        </p:grpSp>
      </p:grpSp>
      <p:sp>
        <p:nvSpPr>
          <p:cNvPr id="3082" name="Rectangle 10">
            <a:extLst>
              <a:ext uri="{FF2B5EF4-FFF2-40B4-BE49-F238E27FC236}">
                <a16:creationId xmlns:a16="http://schemas.microsoft.com/office/drawing/2014/main" id="{0F6A311E-89A9-1A8E-969D-934621A93564}"/>
              </a:ext>
            </a:extLst>
          </p:cNvPr>
          <p:cNvSpPr>
            <a:spLocks noChangeArrowheads="1"/>
          </p:cNvSpPr>
          <p:nvPr/>
        </p:nvSpPr>
        <p:spPr bwMode="auto">
          <a:xfrm>
            <a:off x="1830389" y="2336800"/>
            <a:ext cx="3233737"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r>
              <a:rPr kumimoji="1" lang="zh-CN" altLang="en-US" sz="3200" b="0" dirty="0">
                <a:ea typeface="楷体" panose="02010609060101010101" pitchFamily="49" charset="-122"/>
              </a:rPr>
              <a:t>微观态总数：</a:t>
            </a:r>
          </a:p>
        </p:txBody>
      </p:sp>
      <p:graphicFrame>
        <p:nvGraphicFramePr>
          <p:cNvPr id="79883" name="Object 11">
            <a:extLst>
              <a:ext uri="{FF2B5EF4-FFF2-40B4-BE49-F238E27FC236}">
                <a16:creationId xmlns:a16="http://schemas.microsoft.com/office/drawing/2014/main" id="{0CAD1DC5-ABE5-6A0B-D3D4-CC18A3B5340B}"/>
              </a:ext>
            </a:extLst>
          </p:cNvPr>
          <p:cNvGraphicFramePr>
            <a:graphicFrameLocks noChangeAspect="1"/>
          </p:cNvGraphicFramePr>
          <p:nvPr/>
        </p:nvGraphicFramePr>
        <p:xfrm>
          <a:off x="4224338" y="2276476"/>
          <a:ext cx="1801812" cy="612775"/>
        </p:xfrm>
        <a:graphic>
          <a:graphicData uri="http://schemas.openxmlformats.org/presentationml/2006/ole">
            <mc:AlternateContent xmlns:mc="http://schemas.openxmlformats.org/markup-compatibility/2006">
              <mc:Choice xmlns:v="urn:schemas-microsoft-com:vml" Requires="v">
                <p:oleObj spid="_x0000_s4104" name="Equation" r:id="rId3" imgW="634449" imgH="215713" progId="Equation.3">
                  <p:embed/>
                </p:oleObj>
              </mc:Choice>
              <mc:Fallback>
                <p:oleObj name="Equation" r:id="rId3" imgW="634449" imgH="215713" progId="Equation.3">
                  <p:embed/>
                  <p:pic>
                    <p:nvPicPr>
                      <p:cNvPr id="79883" name="Object 11">
                        <a:extLst>
                          <a:ext uri="{FF2B5EF4-FFF2-40B4-BE49-F238E27FC236}">
                            <a16:creationId xmlns:a16="http://schemas.microsoft.com/office/drawing/2014/main" id="{0CAD1DC5-ABE5-6A0B-D3D4-CC18A3B534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4338" y="2276476"/>
                        <a:ext cx="1801812"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84" name="Object 12">
            <a:extLst>
              <a:ext uri="{FF2B5EF4-FFF2-40B4-BE49-F238E27FC236}">
                <a16:creationId xmlns:a16="http://schemas.microsoft.com/office/drawing/2014/main" id="{F96855FA-0C76-FFA4-15EB-395EDB179506}"/>
              </a:ext>
            </a:extLst>
          </p:cNvPr>
          <p:cNvGraphicFramePr>
            <a:graphicFrameLocks noChangeAspect="1"/>
          </p:cNvGraphicFramePr>
          <p:nvPr/>
        </p:nvGraphicFramePr>
        <p:xfrm>
          <a:off x="7056438" y="2854326"/>
          <a:ext cx="3300412" cy="1065213"/>
        </p:xfrm>
        <a:graphic>
          <a:graphicData uri="http://schemas.openxmlformats.org/presentationml/2006/ole">
            <mc:AlternateContent xmlns:mc="http://schemas.openxmlformats.org/markup-compatibility/2006">
              <mc:Choice xmlns:v="urn:schemas-microsoft-com:vml" Requires="v">
                <p:oleObj spid="_x0000_s4105" name="公式" r:id="rId5" imgW="1358900" imgH="419100" progId="Equation.3">
                  <p:embed/>
                </p:oleObj>
              </mc:Choice>
              <mc:Fallback>
                <p:oleObj name="公式" r:id="rId5" imgW="1358900" imgH="419100" progId="Equation.3">
                  <p:embed/>
                  <p:pic>
                    <p:nvPicPr>
                      <p:cNvPr id="79884" name="Object 12">
                        <a:extLst>
                          <a:ext uri="{FF2B5EF4-FFF2-40B4-BE49-F238E27FC236}">
                            <a16:creationId xmlns:a16="http://schemas.microsoft.com/office/drawing/2014/main" id="{F96855FA-0C76-FFA4-15EB-395EDB17950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56438" y="2854326"/>
                        <a:ext cx="3300412" cy="1065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83" name="Rectangle 13">
            <a:extLst>
              <a:ext uri="{FF2B5EF4-FFF2-40B4-BE49-F238E27FC236}">
                <a16:creationId xmlns:a16="http://schemas.microsoft.com/office/drawing/2014/main" id="{DF21DDD6-92EB-DC78-FF62-9EC98D71187E}"/>
              </a:ext>
            </a:extLst>
          </p:cNvPr>
          <p:cNvSpPr>
            <a:spLocks noChangeArrowheads="1"/>
          </p:cNvSpPr>
          <p:nvPr/>
        </p:nvSpPr>
        <p:spPr bwMode="auto">
          <a:xfrm>
            <a:off x="1803401" y="3038475"/>
            <a:ext cx="55419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r>
              <a:rPr kumimoji="1" lang="zh-CN" altLang="en-US" sz="3200" b="0" dirty="0">
                <a:solidFill>
                  <a:srgbClr val="FF0000"/>
                </a:solidFill>
                <a:ea typeface="楷体" panose="02010609060101010101" pitchFamily="49" charset="-122"/>
              </a:rPr>
              <a:t>左右分子数相等的微观态数</a:t>
            </a:r>
            <a:r>
              <a:rPr kumimoji="1" lang="zh-CN" altLang="en-US" sz="3200" b="0" dirty="0">
                <a:solidFill>
                  <a:srgbClr val="FF0000"/>
                </a:solidFill>
                <a:ea typeface="黑体" panose="02010609060101010101" pitchFamily="49" charset="-122"/>
              </a:rPr>
              <a:t>：</a:t>
            </a:r>
          </a:p>
        </p:txBody>
      </p:sp>
      <p:graphicFrame>
        <p:nvGraphicFramePr>
          <p:cNvPr id="79886" name="Object 14">
            <a:extLst>
              <a:ext uri="{FF2B5EF4-FFF2-40B4-BE49-F238E27FC236}">
                <a16:creationId xmlns:a16="http://schemas.microsoft.com/office/drawing/2014/main" id="{5EBC5A61-9393-FFC4-5FC3-057F355C0992}"/>
              </a:ext>
            </a:extLst>
          </p:cNvPr>
          <p:cNvGraphicFramePr>
            <a:graphicFrameLocks noChangeAspect="1"/>
          </p:cNvGraphicFramePr>
          <p:nvPr/>
        </p:nvGraphicFramePr>
        <p:xfrm>
          <a:off x="4527550" y="5826125"/>
          <a:ext cx="2724150" cy="754063"/>
        </p:xfrm>
        <a:graphic>
          <a:graphicData uri="http://schemas.openxmlformats.org/presentationml/2006/ole">
            <mc:AlternateContent xmlns:mc="http://schemas.openxmlformats.org/markup-compatibility/2006">
              <mc:Choice xmlns:v="urn:schemas-microsoft-com:vml" Requires="v">
                <p:oleObj spid="_x0000_s4106" name="Equation" r:id="rId7" imgW="952087" imgH="279279" progId="Equation.DSMT4">
                  <p:embed/>
                </p:oleObj>
              </mc:Choice>
              <mc:Fallback>
                <p:oleObj name="Equation" r:id="rId7" imgW="952087" imgH="279279" progId="Equation.DSMT4">
                  <p:embed/>
                  <p:pic>
                    <p:nvPicPr>
                      <p:cNvPr id="79886" name="Object 14">
                        <a:extLst>
                          <a:ext uri="{FF2B5EF4-FFF2-40B4-BE49-F238E27FC236}">
                            <a16:creationId xmlns:a16="http://schemas.microsoft.com/office/drawing/2014/main" id="{5EBC5A61-9393-FFC4-5FC3-057F355C099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27550" y="5826125"/>
                        <a:ext cx="2724150" cy="754063"/>
                      </a:xfrm>
                      <a:prstGeom prst="rect">
                        <a:avLst/>
                      </a:prstGeom>
                      <a:noFill/>
                      <a:ln w="28575">
                        <a:solidFill>
                          <a:schemeClr val="bg1"/>
                        </a:solidFill>
                        <a:miter lim="800000"/>
                        <a:headEnd/>
                        <a:tailEnd/>
                      </a:ln>
                      <a:effectLst/>
                    </p:spPr>
                  </p:pic>
                </p:oleObj>
              </mc:Fallback>
            </mc:AlternateContent>
          </a:graphicData>
        </a:graphic>
      </p:graphicFrame>
      <p:grpSp>
        <p:nvGrpSpPr>
          <p:cNvPr id="3084" name="Group 15">
            <a:extLst>
              <a:ext uri="{FF2B5EF4-FFF2-40B4-BE49-F238E27FC236}">
                <a16:creationId xmlns:a16="http://schemas.microsoft.com/office/drawing/2014/main" id="{FD7B8443-A0B2-256D-08D6-0B0C02C6A57B}"/>
              </a:ext>
            </a:extLst>
          </p:cNvPr>
          <p:cNvGrpSpPr>
            <a:grpSpLocks/>
          </p:cNvGrpSpPr>
          <p:nvPr/>
        </p:nvGrpSpPr>
        <p:grpSpPr bwMode="auto">
          <a:xfrm>
            <a:off x="679450" y="5037142"/>
            <a:ext cx="8002588" cy="608013"/>
            <a:chOff x="-529" y="3680"/>
            <a:chExt cx="5041" cy="383"/>
          </a:xfrm>
        </p:grpSpPr>
        <p:graphicFrame>
          <p:nvGraphicFramePr>
            <p:cNvPr id="3079" name="Object 16">
              <a:extLst>
                <a:ext uri="{FF2B5EF4-FFF2-40B4-BE49-F238E27FC236}">
                  <a16:creationId xmlns:a16="http://schemas.microsoft.com/office/drawing/2014/main" id="{7CA44330-6AB6-B3B7-859A-4899FE699937}"/>
                </a:ext>
              </a:extLst>
            </p:cNvPr>
            <p:cNvGraphicFramePr>
              <a:graphicFrameLocks noChangeAspect="1"/>
            </p:cNvGraphicFramePr>
            <p:nvPr/>
          </p:nvGraphicFramePr>
          <p:xfrm>
            <a:off x="1393" y="3738"/>
            <a:ext cx="3119" cy="325"/>
          </p:xfrm>
          <a:graphic>
            <a:graphicData uri="http://schemas.openxmlformats.org/presentationml/2006/ole">
              <mc:AlternateContent xmlns:mc="http://schemas.openxmlformats.org/markup-compatibility/2006">
                <mc:Choice xmlns:v="urn:schemas-microsoft-com:vml" Requires="v">
                  <p:oleObj spid="_x0000_s4107" name="Equation" r:id="rId9" imgW="1968500" imgH="203200" progId="Equation.3">
                    <p:embed/>
                  </p:oleObj>
                </mc:Choice>
                <mc:Fallback>
                  <p:oleObj name="Equation" r:id="rId9" imgW="1968500" imgH="203200" progId="Equation.3">
                    <p:embed/>
                    <p:pic>
                      <p:nvPicPr>
                        <p:cNvPr id="3079" name="Object 16">
                          <a:extLst>
                            <a:ext uri="{FF2B5EF4-FFF2-40B4-BE49-F238E27FC236}">
                              <a16:creationId xmlns:a16="http://schemas.microsoft.com/office/drawing/2014/main" id="{7CA44330-6AB6-B3B7-859A-4899FE69993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93" y="3738"/>
                          <a:ext cx="3119" cy="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95" name="Rectangle 17">
              <a:extLst>
                <a:ext uri="{FF2B5EF4-FFF2-40B4-BE49-F238E27FC236}">
                  <a16:creationId xmlns:a16="http://schemas.microsoft.com/office/drawing/2014/main" id="{C3105321-B527-56F7-9889-9AB13C112256}"/>
                </a:ext>
              </a:extLst>
            </p:cNvPr>
            <p:cNvSpPr>
              <a:spLocks noChangeArrowheads="1"/>
            </p:cNvSpPr>
            <p:nvPr/>
          </p:nvSpPr>
          <p:spPr bwMode="auto">
            <a:xfrm>
              <a:off x="-529" y="3680"/>
              <a:ext cx="203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zh-CN" altLang="en-US" b="0" dirty="0">
                  <a:ea typeface="华文楷体" panose="02010600040101010101" pitchFamily="2" charset="-122"/>
                  <a:cs typeface="Times New Roman" panose="02020603050405020304" pitchFamily="18" charset="0"/>
                </a:rPr>
                <a:t>应用</a:t>
              </a:r>
              <a:r>
                <a:rPr kumimoji="1" lang="en-US" altLang="zh-CN" b="0" dirty="0">
                  <a:ea typeface="华文楷体" panose="02010600040101010101" pitchFamily="2" charset="-122"/>
                  <a:cs typeface="Times New Roman" panose="02020603050405020304" pitchFamily="18" charset="0"/>
                </a:rPr>
                <a:t>Stirling </a:t>
              </a:r>
              <a:r>
                <a:rPr kumimoji="1" lang="zh-CN" altLang="en-US" b="0" dirty="0">
                  <a:ea typeface="华文楷体" panose="02010600040101010101" pitchFamily="2" charset="-122"/>
                  <a:cs typeface="Times New Roman" panose="02020603050405020304" pitchFamily="18" charset="0"/>
                </a:rPr>
                <a:t>公式：</a:t>
              </a:r>
            </a:p>
          </p:txBody>
        </p:sp>
      </p:grpSp>
      <p:graphicFrame>
        <p:nvGraphicFramePr>
          <p:cNvPr id="79890" name="Object 18">
            <a:extLst>
              <a:ext uri="{FF2B5EF4-FFF2-40B4-BE49-F238E27FC236}">
                <a16:creationId xmlns:a16="http://schemas.microsoft.com/office/drawing/2014/main" id="{B1F0768D-AB4C-D9FF-9AAE-16E344FE9A7E}"/>
              </a:ext>
            </a:extLst>
          </p:cNvPr>
          <p:cNvGraphicFramePr>
            <a:graphicFrameLocks noChangeAspect="1"/>
          </p:cNvGraphicFramePr>
          <p:nvPr/>
        </p:nvGraphicFramePr>
        <p:xfrm>
          <a:off x="3906839" y="3852863"/>
          <a:ext cx="3978275" cy="1098550"/>
        </p:xfrm>
        <a:graphic>
          <a:graphicData uri="http://schemas.openxmlformats.org/presentationml/2006/ole">
            <mc:AlternateContent xmlns:mc="http://schemas.openxmlformats.org/markup-compatibility/2006">
              <mc:Choice xmlns:v="urn:schemas-microsoft-com:vml" Requires="v">
                <p:oleObj spid="_x0000_s4108" name="公式" r:id="rId11" imgW="1562100" imgH="431800" progId="Equation.3">
                  <p:embed/>
                </p:oleObj>
              </mc:Choice>
              <mc:Fallback>
                <p:oleObj name="公式" r:id="rId11" imgW="1562100" imgH="431800" progId="Equation.3">
                  <p:embed/>
                  <p:pic>
                    <p:nvPicPr>
                      <p:cNvPr id="79890" name="Object 18">
                        <a:extLst>
                          <a:ext uri="{FF2B5EF4-FFF2-40B4-BE49-F238E27FC236}">
                            <a16:creationId xmlns:a16="http://schemas.microsoft.com/office/drawing/2014/main" id="{B1F0768D-AB4C-D9FF-9AAE-16E344FE9A7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06839" y="3852863"/>
                        <a:ext cx="3978275" cy="1098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085" name="Group 41">
            <a:extLst>
              <a:ext uri="{FF2B5EF4-FFF2-40B4-BE49-F238E27FC236}">
                <a16:creationId xmlns:a16="http://schemas.microsoft.com/office/drawing/2014/main" id="{CF5826BA-D9B7-785F-85A9-1132A9C175F5}"/>
              </a:ext>
            </a:extLst>
          </p:cNvPr>
          <p:cNvGrpSpPr>
            <a:grpSpLocks/>
          </p:cNvGrpSpPr>
          <p:nvPr/>
        </p:nvGrpSpPr>
        <p:grpSpPr bwMode="auto">
          <a:xfrm>
            <a:off x="6221414" y="481014"/>
            <a:ext cx="3860800" cy="2557463"/>
            <a:chOff x="2711" y="223"/>
            <a:chExt cx="2432" cy="1611"/>
          </a:xfrm>
        </p:grpSpPr>
        <p:sp>
          <p:nvSpPr>
            <p:cNvPr id="3086" name="Line 42">
              <a:extLst>
                <a:ext uri="{FF2B5EF4-FFF2-40B4-BE49-F238E27FC236}">
                  <a16:creationId xmlns:a16="http://schemas.microsoft.com/office/drawing/2014/main" id="{B7767DEB-DBD4-D05B-25B5-ED27FB11E943}"/>
                </a:ext>
              </a:extLst>
            </p:cNvPr>
            <p:cNvSpPr>
              <a:spLocks noChangeShapeType="1"/>
            </p:cNvSpPr>
            <p:nvPr/>
          </p:nvSpPr>
          <p:spPr bwMode="auto">
            <a:xfrm flipH="1">
              <a:off x="3154" y="223"/>
              <a:ext cx="8" cy="1309"/>
            </a:xfrm>
            <a:prstGeom prst="line">
              <a:avLst/>
            </a:prstGeom>
            <a:noFill/>
            <a:ln w="28575">
              <a:solidFill>
                <a:srgbClr val="000000"/>
              </a:solidFill>
              <a:round/>
              <a:headEnd type="triangle" w="med" len="lg"/>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88" name="Rectangle 44">
              <a:extLst>
                <a:ext uri="{FF2B5EF4-FFF2-40B4-BE49-F238E27FC236}">
                  <a16:creationId xmlns:a16="http://schemas.microsoft.com/office/drawing/2014/main" id="{B5ABC31C-5C28-6087-8031-E0FCB90BDA82}"/>
                </a:ext>
              </a:extLst>
            </p:cNvPr>
            <p:cNvSpPr>
              <a:spLocks noChangeArrowheads="1"/>
            </p:cNvSpPr>
            <p:nvPr/>
          </p:nvSpPr>
          <p:spPr bwMode="auto">
            <a:xfrm>
              <a:off x="3759" y="1507"/>
              <a:ext cx="4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r>
                <a:rPr kumimoji="1" lang="en-US" altLang="zh-CN" b="0" i="1">
                  <a:solidFill>
                    <a:srgbClr val="003399"/>
                  </a:solidFill>
                </a:rPr>
                <a:t>N</a:t>
              </a:r>
              <a:r>
                <a:rPr kumimoji="1" lang="en-US" altLang="zh-CN" b="0">
                  <a:solidFill>
                    <a:srgbClr val="003399"/>
                  </a:solidFill>
                </a:rPr>
                <a:t>/2</a:t>
              </a:r>
              <a:endParaRPr kumimoji="1" lang="en-US" altLang="zh-CN" sz="2400" b="0">
                <a:solidFill>
                  <a:srgbClr val="003399"/>
                </a:solidFill>
              </a:endParaRPr>
            </a:p>
          </p:txBody>
        </p:sp>
        <p:sp>
          <p:nvSpPr>
            <p:cNvPr id="3089" name="Line 45">
              <a:extLst>
                <a:ext uri="{FF2B5EF4-FFF2-40B4-BE49-F238E27FC236}">
                  <a16:creationId xmlns:a16="http://schemas.microsoft.com/office/drawing/2014/main" id="{4AD19F4C-34D2-7808-EC8E-AC0120510D07}"/>
                </a:ext>
              </a:extLst>
            </p:cNvPr>
            <p:cNvSpPr>
              <a:spLocks noChangeShapeType="1"/>
            </p:cNvSpPr>
            <p:nvPr/>
          </p:nvSpPr>
          <p:spPr bwMode="auto">
            <a:xfrm>
              <a:off x="3961" y="1484"/>
              <a:ext cx="0" cy="48"/>
            </a:xfrm>
            <a:prstGeom prst="line">
              <a:avLst/>
            </a:prstGeom>
            <a:noFill/>
            <a:ln w="12700">
              <a:solidFill>
                <a:srgbClr val="003399"/>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90" name="Rectangle 46">
              <a:extLst>
                <a:ext uri="{FF2B5EF4-FFF2-40B4-BE49-F238E27FC236}">
                  <a16:creationId xmlns:a16="http://schemas.microsoft.com/office/drawing/2014/main" id="{A9F7532A-D8AA-F05A-7711-D41D30AEDA7B}"/>
                </a:ext>
              </a:extLst>
            </p:cNvPr>
            <p:cNvSpPr>
              <a:spLocks noChangeArrowheads="1"/>
            </p:cNvSpPr>
            <p:nvPr/>
          </p:nvSpPr>
          <p:spPr bwMode="auto">
            <a:xfrm>
              <a:off x="4897" y="1307"/>
              <a:ext cx="246"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r>
                <a:rPr kumimoji="1" lang="en-US" altLang="zh-CN" sz="3200" b="0" i="1">
                  <a:solidFill>
                    <a:srgbClr val="003399"/>
                  </a:solidFill>
                </a:rPr>
                <a:t>n</a:t>
              </a:r>
              <a:endParaRPr kumimoji="1" lang="en-US" altLang="zh-CN" sz="2400" b="0" i="1">
                <a:solidFill>
                  <a:srgbClr val="003399"/>
                </a:solidFill>
              </a:endParaRPr>
            </a:p>
          </p:txBody>
        </p:sp>
        <p:sp>
          <p:nvSpPr>
            <p:cNvPr id="3091" name="Line 47">
              <a:extLst>
                <a:ext uri="{FF2B5EF4-FFF2-40B4-BE49-F238E27FC236}">
                  <a16:creationId xmlns:a16="http://schemas.microsoft.com/office/drawing/2014/main" id="{032EB235-5571-7185-B98E-DB1313377949}"/>
                </a:ext>
              </a:extLst>
            </p:cNvPr>
            <p:cNvSpPr>
              <a:spLocks noChangeShapeType="1"/>
            </p:cNvSpPr>
            <p:nvPr/>
          </p:nvSpPr>
          <p:spPr bwMode="auto">
            <a:xfrm flipH="1">
              <a:off x="3914" y="554"/>
              <a:ext cx="40" cy="978"/>
            </a:xfrm>
            <a:prstGeom prst="line">
              <a:avLst/>
            </a:prstGeom>
            <a:noFill/>
            <a:ln w="28575">
              <a:solidFill>
                <a:srgbClr val="8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92" name="Line 48">
              <a:extLst>
                <a:ext uri="{FF2B5EF4-FFF2-40B4-BE49-F238E27FC236}">
                  <a16:creationId xmlns:a16="http://schemas.microsoft.com/office/drawing/2014/main" id="{B8245B0B-B524-26C9-61A0-52838E3BFA91}"/>
                </a:ext>
              </a:extLst>
            </p:cNvPr>
            <p:cNvSpPr>
              <a:spLocks noChangeShapeType="1"/>
            </p:cNvSpPr>
            <p:nvPr/>
          </p:nvSpPr>
          <p:spPr bwMode="auto">
            <a:xfrm>
              <a:off x="3945" y="547"/>
              <a:ext cx="65" cy="985"/>
            </a:xfrm>
            <a:prstGeom prst="line">
              <a:avLst/>
            </a:prstGeom>
            <a:noFill/>
            <a:ln w="28575">
              <a:solidFill>
                <a:srgbClr val="80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93" name="Line 49">
              <a:extLst>
                <a:ext uri="{FF2B5EF4-FFF2-40B4-BE49-F238E27FC236}">
                  <a16:creationId xmlns:a16="http://schemas.microsoft.com/office/drawing/2014/main" id="{0C5E13EA-4948-84B0-99B3-B9E797D53774}"/>
                </a:ext>
              </a:extLst>
            </p:cNvPr>
            <p:cNvSpPr>
              <a:spLocks noChangeShapeType="1"/>
            </p:cNvSpPr>
            <p:nvPr/>
          </p:nvSpPr>
          <p:spPr bwMode="auto">
            <a:xfrm>
              <a:off x="3145" y="1532"/>
              <a:ext cx="1776" cy="0"/>
            </a:xfrm>
            <a:prstGeom prst="line">
              <a:avLst/>
            </a:prstGeom>
            <a:noFill/>
            <a:ln w="28575">
              <a:solidFill>
                <a:srgbClr val="000000"/>
              </a:solidFill>
              <a:round/>
              <a:headEnd type="none" w="sm" len="sm"/>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078" name="Object 50">
              <a:extLst>
                <a:ext uri="{FF2B5EF4-FFF2-40B4-BE49-F238E27FC236}">
                  <a16:creationId xmlns:a16="http://schemas.microsoft.com/office/drawing/2014/main" id="{66843B08-319C-04D8-30FF-574065B2DBE4}"/>
                </a:ext>
              </a:extLst>
            </p:cNvPr>
            <p:cNvGraphicFramePr>
              <a:graphicFrameLocks noChangeAspect="1"/>
            </p:cNvGraphicFramePr>
            <p:nvPr/>
          </p:nvGraphicFramePr>
          <p:xfrm>
            <a:off x="2711" y="351"/>
            <a:ext cx="434" cy="343"/>
          </p:xfrm>
          <a:graphic>
            <a:graphicData uri="http://schemas.openxmlformats.org/presentationml/2006/ole">
              <mc:AlternateContent xmlns:mc="http://schemas.openxmlformats.org/markup-compatibility/2006">
                <mc:Choice xmlns:v="urn:schemas-microsoft-com:vml" Requires="v">
                  <p:oleObj spid="_x0000_s4109" name="公式" r:id="rId13" imgW="291847" imgH="215713" progId="Equation.3">
                    <p:embed/>
                  </p:oleObj>
                </mc:Choice>
                <mc:Fallback>
                  <p:oleObj name="公式" r:id="rId13" imgW="291847" imgH="215713" progId="Equation.3">
                    <p:embed/>
                    <p:pic>
                      <p:nvPicPr>
                        <p:cNvPr id="3078" name="Object 50">
                          <a:extLst>
                            <a:ext uri="{FF2B5EF4-FFF2-40B4-BE49-F238E27FC236}">
                              <a16:creationId xmlns:a16="http://schemas.microsoft.com/office/drawing/2014/main" id="{66843B08-319C-04D8-30FF-574065B2DBE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11" y="351"/>
                          <a:ext cx="434" cy="3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94" name="Line 51">
              <a:extLst>
                <a:ext uri="{FF2B5EF4-FFF2-40B4-BE49-F238E27FC236}">
                  <a16:creationId xmlns:a16="http://schemas.microsoft.com/office/drawing/2014/main" id="{25DE4117-64B6-48A3-E011-6A3A6D7D3DDB}"/>
                </a:ext>
              </a:extLst>
            </p:cNvPr>
            <p:cNvSpPr>
              <a:spLocks noChangeShapeType="1"/>
            </p:cNvSpPr>
            <p:nvPr/>
          </p:nvSpPr>
          <p:spPr bwMode="auto">
            <a:xfrm flipV="1">
              <a:off x="3155" y="551"/>
              <a:ext cx="794" cy="1"/>
            </a:xfrm>
            <a:prstGeom prst="line">
              <a:avLst/>
            </a:prstGeom>
            <a:noFill/>
            <a:ln w="12700">
              <a:solidFill>
                <a:srgbClr val="000000"/>
              </a:solidFill>
              <a:prstDash val="dash"/>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916524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8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8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988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989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08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988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0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 grpId="0"/>
      <p:bldP spid="308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Text Box 7">
            <a:extLst>
              <a:ext uri="{FF2B5EF4-FFF2-40B4-BE49-F238E27FC236}">
                <a16:creationId xmlns:a16="http://schemas.microsoft.com/office/drawing/2014/main" id="{087CFE46-480C-8743-A1E6-6A52E1745C0A}"/>
              </a:ext>
            </a:extLst>
          </p:cNvPr>
          <p:cNvSpPr txBox="1">
            <a:spLocks noChangeArrowheads="1"/>
          </p:cNvSpPr>
          <p:nvPr/>
        </p:nvSpPr>
        <p:spPr bwMode="auto">
          <a:xfrm>
            <a:off x="889908" y="1450976"/>
            <a:ext cx="10663463" cy="119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b="0" dirty="0">
                <a:latin typeface="楷体" panose="02010609060101010101" pitchFamily="49" charset="-122"/>
                <a:ea typeface="楷体" panose="02010609060101010101" pitchFamily="49" charset="-122"/>
              </a:rPr>
              <a:t>分子总数越多，则左右两侧分子数相等和差不多相等的宏观状态所对应的微观状态数占微观状态总数的比例越大。</a:t>
            </a:r>
          </a:p>
        </p:txBody>
      </p:sp>
      <p:sp>
        <p:nvSpPr>
          <p:cNvPr id="18" name="Rectangle 2">
            <a:extLst>
              <a:ext uri="{FF2B5EF4-FFF2-40B4-BE49-F238E27FC236}">
                <a16:creationId xmlns:a16="http://schemas.microsoft.com/office/drawing/2014/main" id="{32C451A6-505C-9132-0C4B-19D9E07EE476}"/>
              </a:ext>
            </a:extLst>
          </p:cNvPr>
          <p:cNvSpPr>
            <a:spLocks noChangeArrowheads="1"/>
          </p:cNvSpPr>
          <p:nvPr/>
        </p:nvSpPr>
        <p:spPr bwMode="auto">
          <a:xfrm>
            <a:off x="2291783" y="4071472"/>
            <a:ext cx="7108825"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1" lang="en-US" altLang="zh-CN" sz="3200" b="0" dirty="0">
                <a:latin typeface="楷体" panose="02010609060101010101" pitchFamily="49" charset="-122"/>
                <a:ea typeface="楷体" panose="02010609060101010101" pitchFamily="49" charset="-122"/>
                <a:cs typeface="Times New Roman" panose="02020603050405020304" pitchFamily="18" charset="0"/>
              </a:rPr>
              <a:t>— </a:t>
            </a:r>
            <a:r>
              <a:rPr kumimoji="1" lang="zh-CN" altLang="en-US" sz="3200" b="0" dirty="0">
                <a:latin typeface="楷体" panose="02010609060101010101" pitchFamily="49" charset="-122"/>
                <a:ea typeface="楷体" panose="02010609060101010101" pitchFamily="49" charset="-122"/>
                <a:cs typeface="Times New Roman" panose="02020603050405020304" pitchFamily="18" charset="0"/>
              </a:rPr>
              <a:t>微观态数大的宏观态出现的概率大</a:t>
            </a:r>
          </a:p>
        </p:txBody>
      </p:sp>
      <p:sp>
        <p:nvSpPr>
          <p:cNvPr id="19" name="Rectangle 3">
            <a:extLst>
              <a:ext uri="{FF2B5EF4-FFF2-40B4-BE49-F238E27FC236}">
                <a16:creationId xmlns:a16="http://schemas.microsoft.com/office/drawing/2014/main" id="{98D5AEBD-DBF6-09D6-9143-768BAD440ABF}"/>
              </a:ext>
            </a:extLst>
          </p:cNvPr>
          <p:cNvSpPr>
            <a:spLocks noChangeArrowheads="1"/>
          </p:cNvSpPr>
          <p:nvPr/>
        </p:nvSpPr>
        <p:spPr bwMode="auto">
          <a:xfrm>
            <a:off x="1148386" y="3136612"/>
            <a:ext cx="1014650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zh-CN" altLang="en-US" sz="3200" b="0" dirty="0">
                <a:latin typeface="楷体" panose="02010609060101010101" pitchFamily="49" charset="-122"/>
                <a:ea typeface="楷体" panose="02010609060101010101" pitchFamily="49" charset="-122"/>
              </a:rPr>
              <a:t>基本假设：对孤立系，各个微观状态出现的概率相等。</a:t>
            </a:r>
          </a:p>
        </p:txBody>
      </p:sp>
      <p:sp>
        <p:nvSpPr>
          <p:cNvPr id="20" name="Text Box 50">
            <a:extLst>
              <a:ext uri="{FF2B5EF4-FFF2-40B4-BE49-F238E27FC236}">
                <a16:creationId xmlns:a16="http://schemas.microsoft.com/office/drawing/2014/main" id="{CA905184-9595-882B-9597-024240EBE847}"/>
              </a:ext>
            </a:extLst>
          </p:cNvPr>
          <p:cNvSpPr txBox="1">
            <a:spLocks noChangeArrowheads="1"/>
          </p:cNvSpPr>
          <p:nvPr/>
        </p:nvSpPr>
        <p:spPr bwMode="auto">
          <a:xfrm>
            <a:off x="1976295" y="5115832"/>
            <a:ext cx="8239409" cy="119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lnSpc>
                <a:spcPct val="120000"/>
              </a:lnSpc>
            </a:pPr>
            <a:r>
              <a:rPr lang="zh-CN" altLang="en-US" sz="3200" dirty="0">
                <a:solidFill>
                  <a:srgbClr val="FF0000"/>
                </a:solidFill>
                <a:latin typeface="楷体" panose="02010609060101010101" pitchFamily="49" charset="-122"/>
                <a:ea typeface="楷体" panose="02010609060101010101" pitchFamily="49" charset="-122"/>
              </a:rPr>
              <a:t>对应于微观状态数最多的宏观状态就是系统在一定宏观条件下的平衡态。</a:t>
            </a:r>
          </a:p>
        </p:txBody>
      </p:sp>
      <p:sp>
        <p:nvSpPr>
          <p:cNvPr id="21" name="Text Box 13">
            <a:hlinkClick r:id="" action="ppaction://noaction"/>
            <a:extLst>
              <a:ext uri="{FF2B5EF4-FFF2-40B4-BE49-F238E27FC236}">
                <a16:creationId xmlns:a16="http://schemas.microsoft.com/office/drawing/2014/main" id="{42DF7362-D1A6-9CB3-B2DB-35A3F42E1765}"/>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热力学概率与自然过程方向</a:t>
            </a:r>
          </a:p>
        </p:txBody>
      </p:sp>
    </p:spTree>
    <p:extLst>
      <p:ext uri="{BB962C8B-B14F-4D97-AF65-F5344CB8AC3E}">
        <p14:creationId xmlns:p14="http://schemas.microsoft.com/office/powerpoint/2010/main" val="2062487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327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p:bldP spid="32773" grpId="1"/>
      <p:bldP spid="18" grpId="0"/>
      <p:bldP spid="18" grpId="1"/>
      <p:bldP spid="19" grpId="0"/>
      <p:bldP spid="20" grpId="0"/>
      <p:bldP spid="20"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9" name="Text Box 51">
            <a:extLst>
              <a:ext uri="{FF2B5EF4-FFF2-40B4-BE49-F238E27FC236}">
                <a16:creationId xmlns:a16="http://schemas.microsoft.com/office/drawing/2014/main" id="{29225AB6-BC4A-C707-9931-39C26D7D7873}"/>
              </a:ext>
            </a:extLst>
          </p:cNvPr>
          <p:cNvSpPr txBox="1">
            <a:spLocks noChangeArrowheads="1"/>
          </p:cNvSpPr>
          <p:nvPr/>
        </p:nvSpPr>
        <p:spPr bwMode="auto">
          <a:xfrm>
            <a:off x="1529216" y="3913188"/>
            <a:ext cx="9495517" cy="1786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3200" b="0" dirty="0">
                <a:latin typeface="楷体" panose="02010609060101010101" pitchFamily="49" charset="-122"/>
                <a:ea typeface="楷体" panose="02010609060101010101" pitchFamily="49" charset="-122"/>
              </a:rPr>
              <a:t>   </a:t>
            </a:r>
            <a:r>
              <a:rPr lang="zh-CN" altLang="en-US" sz="3200" b="0" dirty="0">
                <a:latin typeface="楷体" panose="02010609060101010101" pitchFamily="49" charset="-122"/>
                <a:ea typeface="楷体" panose="02010609060101010101" pitchFamily="49" charset="-122"/>
              </a:rPr>
              <a:t>气体自由膨胀过程是由非平衡态向平衡态转化的过程，从微观上说，是由包含微观状态数少的宏观状态向包含微观状态数目多的宏观状态进行。</a:t>
            </a:r>
          </a:p>
        </p:txBody>
      </p:sp>
      <p:grpSp>
        <p:nvGrpSpPr>
          <p:cNvPr id="2" name="Group 10">
            <a:extLst>
              <a:ext uri="{FF2B5EF4-FFF2-40B4-BE49-F238E27FC236}">
                <a16:creationId xmlns:a16="http://schemas.microsoft.com/office/drawing/2014/main" id="{E4E67AAF-3A25-7D9B-2C84-C4B51FA80037}"/>
              </a:ext>
            </a:extLst>
          </p:cNvPr>
          <p:cNvGrpSpPr/>
          <p:nvPr/>
        </p:nvGrpSpPr>
        <p:grpSpPr>
          <a:xfrm>
            <a:off x="2938463" y="1752600"/>
            <a:ext cx="2133600" cy="1676400"/>
            <a:chOff x="1152" y="768"/>
            <a:chExt cx="1344" cy="1056"/>
          </a:xfrm>
        </p:grpSpPr>
        <p:graphicFrame>
          <p:nvGraphicFramePr>
            <p:cNvPr id="3" name="Object 11">
              <a:extLst>
                <a:ext uri="{FF2B5EF4-FFF2-40B4-BE49-F238E27FC236}">
                  <a16:creationId xmlns:a16="http://schemas.microsoft.com/office/drawing/2014/main" id="{32A5805A-7C6B-F80B-D333-8249D304D067}"/>
                </a:ext>
              </a:extLst>
            </p:cNvPr>
            <p:cNvGraphicFramePr/>
            <p:nvPr/>
          </p:nvGraphicFramePr>
          <p:xfrm>
            <a:off x="1296" y="1506"/>
            <a:ext cx="1066" cy="318"/>
          </p:xfrm>
          <a:graphic>
            <a:graphicData uri="http://schemas.openxmlformats.org/presentationml/2006/ole">
              <mc:AlternateContent xmlns:mc="http://schemas.openxmlformats.org/markup-compatibility/2006">
                <mc:Choice xmlns:v="urn:schemas-microsoft-com:vml" Requires="v">
                  <p:oleObj spid="_x0000_s5124" r:id="rId3" imgW="1180465" imgH="368300" progId="Equation.3">
                    <p:embed/>
                  </p:oleObj>
                </mc:Choice>
                <mc:Fallback>
                  <p:oleObj r:id="rId3" imgW="1180465" imgH="368300" progId="Equation.3">
                    <p:embed/>
                    <p:pic>
                      <p:nvPicPr>
                        <p:cNvPr id="3" name="Object 11">
                          <a:extLst>
                            <a:ext uri="{FF2B5EF4-FFF2-40B4-BE49-F238E27FC236}">
                              <a16:creationId xmlns:a16="http://schemas.microsoft.com/office/drawing/2014/main" id="{32A5805A-7C6B-F80B-D333-8249D304D067}"/>
                            </a:ext>
                          </a:extLst>
                        </p:cNvPr>
                        <p:cNvPicPr/>
                        <p:nvPr/>
                      </p:nvPicPr>
                      <p:blipFill>
                        <a:blip r:embed="rId4"/>
                        <a:stretch>
                          <a:fillRect/>
                        </a:stretch>
                      </p:blipFill>
                      <p:spPr>
                        <a:xfrm>
                          <a:off x="1296" y="1506"/>
                          <a:ext cx="1066" cy="318"/>
                        </a:xfrm>
                        <a:prstGeom prst="rect">
                          <a:avLst/>
                        </a:prstGeom>
                        <a:noFill/>
                        <a:ln w="38100">
                          <a:noFill/>
                          <a:miter/>
                        </a:ln>
                      </p:spPr>
                    </p:pic>
                  </p:oleObj>
                </mc:Fallback>
              </mc:AlternateContent>
            </a:graphicData>
          </a:graphic>
        </p:graphicFrame>
        <p:grpSp>
          <p:nvGrpSpPr>
            <p:cNvPr id="4" name="Group 12">
              <a:extLst>
                <a:ext uri="{FF2B5EF4-FFF2-40B4-BE49-F238E27FC236}">
                  <a16:creationId xmlns:a16="http://schemas.microsoft.com/office/drawing/2014/main" id="{D962F719-FD11-BC71-80A4-C349C8498818}"/>
                </a:ext>
              </a:extLst>
            </p:cNvPr>
            <p:cNvGrpSpPr/>
            <p:nvPr/>
          </p:nvGrpSpPr>
          <p:grpSpPr>
            <a:xfrm>
              <a:off x="1152" y="856"/>
              <a:ext cx="1344" cy="663"/>
              <a:chOff x="1632" y="816"/>
              <a:chExt cx="1488" cy="720"/>
            </a:xfrm>
          </p:grpSpPr>
          <p:sp>
            <p:nvSpPr>
              <p:cNvPr id="8" name="AutoShape 13">
                <a:extLst>
                  <a:ext uri="{FF2B5EF4-FFF2-40B4-BE49-F238E27FC236}">
                    <a16:creationId xmlns:a16="http://schemas.microsoft.com/office/drawing/2014/main" id="{68732FF6-0DF8-52F6-6CCB-1354DB93BBF1}"/>
                  </a:ext>
                </a:extLst>
              </p:cNvPr>
              <p:cNvSpPr/>
              <p:nvPr/>
            </p:nvSpPr>
            <p:spPr>
              <a:xfrm>
                <a:off x="1632" y="816"/>
                <a:ext cx="1488" cy="720"/>
              </a:xfrm>
              <a:prstGeom prst="bevel">
                <a:avLst>
                  <a:gd name="adj" fmla="val 12500"/>
                </a:avLst>
              </a:prstGeom>
              <a:solidFill>
                <a:srgbClr val="996633"/>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9" name="Rectangle 14">
                <a:extLst>
                  <a:ext uri="{FF2B5EF4-FFF2-40B4-BE49-F238E27FC236}">
                    <a16:creationId xmlns:a16="http://schemas.microsoft.com/office/drawing/2014/main" id="{D54FD67F-4C9B-C019-A038-0902D5E35C97}"/>
                  </a:ext>
                </a:extLst>
              </p:cNvPr>
              <p:cNvSpPr/>
              <p:nvPr/>
            </p:nvSpPr>
            <p:spPr>
              <a:xfrm>
                <a:off x="1728" y="912"/>
                <a:ext cx="1296" cy="528"/>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sp>
          <p:nvSpPr>
            <p:cNvPr id="5" name="Rectangle 15" descr="20%">
              <a:extLst>
                <a:ext uri="{FF2B5EF4-FFF2-40B4-BE49-F238E27FC236}">
                  <a16:creationId xmlns:a16="http://schemas.microsoft.com/office/drawing/2014/main" id="{AAC9C838-603D-4FFF-0E6D-90AA2B8A27D9}"/>
                </a:ext>
              </a:extLst>
            </p:cNvPr>
            <p:cNvSpPr/>
            <p:nvPr/>
          </p:nvSpPr>
          <p:spPr>
            <a:xfrm>
              <a:off x="1239" y="945"/>
              <a:ext cx="563" cy="486"/>
            </a:xfrm>
            <a:prstGeom prst="rect">
              <a:avLst/>
            </a:prstGeom>
            <a:pattFill prst="pct20">
              <a:fgClr>
                <a:schemeClr val="tx1"/>
              </a:fgClr>
              <a:bgClr>
                <a:srgbClr val="FFFFFF"/>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6" name="Line 16">
              <a:extLst>
                <a:ext uri="{FF2B5EF4-FFF2-40B4-BE49-F238E27FC236}">
                  <a16:creationId xmlns:a16="http://schemas.microsoft.com/office/drawing/2014/main" id="{0C53FA5D-C187-84C8-FD44-932674FFC77C}"/>
                </a:ext>
              </a:extLst>
            </p:cNvPr>
            <p:cNvSpPr/>
            <p:nvPr/>
          </p:nvSpPr>
          <p:spPr>
            <a:xfrm>
              <a:off x="1802" y="768"/>
              <a:ext cx="0" cy="663"/>
            </a:xfrm>
            <a:prstGeom prst="line">
              <a:avLst/>
            </a:prstGeom>
            <a:ln w="57150" cap="flat" cmpd="sng">
              <a:solidFill>
                <a:srgbClr val="996633"/>
              </a:solidFill>
              <a:prstDash val="solid"/>
              <a:headEnd type="none" w="med" len="med"/>
              <a:tailEnd type="none" w="med" len="med"/>
            </a:ln>
          </p:spPr>
        </p:sp>
        <p:sp>
          <p:nvSpPr>
            <p:cNvPr id="7" name="Line 17">
              <a:extLst>
                <a:ext uri="{FF2B5EF4-FFF2-40B4-BE49-F238E27FC236}">
                  <a16:creationId xmlns:a16="http://schemas.microsoft.com/office/drawing/2014/main" id="{FDBFFCE0-A7FD-6316-C435-4A7FA5322331}"/>
                </a:ext>
              </a:extLst>
            </p:cNvPr>
            <p:cNvSpPr/>
            <p:nvPr/>
          </p:nvSpPr>
          <p:spPr>
            <a:xfrm>
              <a:off x="1716" y="768"/>
              <a:ext cx="173" cy="0"/>
            </a:xfrm>
            <a:prstGeom prst="line">
              <a:avLst/>
            </a:prstGeom>
            <a:ln w="57150" cap="flat" cmpd="sng">
              <a:solidFill>
                <a:srgbClr val="996633"/>
              </a:solidFill>
              <a:prstDash val="solid"/>
              <a:headEnd type="none" w="med" len="med"/>
              <a:tailEnd type="none" w="med" len="med"/>
            </a:ln>
          </p:spPr>
        </p:sp>
      </p:grpSp>
      <p:grpSp>
        <p:nvGrpSpPr>
          <p:cNvPr id="10" name="Group 18">
            <a:extLst>
              <a:ext uri="{FF2B5EF4-FFF2-40B4-BE49-F238E27FC236}">
                <a16:creationId xmlns:a16="http://schemas.microsoft.com/office/drawing/2014/main" id="{1BDA5049-5892-152E-9EE2-DC037295B91D}"/>
              </a:ext>
            </a:extLst>
          </p:cNvPr>
          <p:cNvGrpSpPr/>
          <p:nvPr/>
        </p:nvGrpSpPr>
        <p:grpSpPr>
          <a:xfrm>
            <a:off x="5464175" y="1873250"/>
            <a:ext cx="3048000" cy="1524000"/>
            <a:chOff x="2592" y="864"/>
            <a:chExt cx="1920" cy="960"/>
          </a:xfrm>
        </p:grpSpPr>
        <p:graphicFrame>
          <p:nvGraphicFramePr>
            <p:cNvPr id="11" name="Object 19">
              <a:extLst>
                <a:ext uri="{FF2B5EF4-FFF2-40B4-BE49-F238E27FC236}">
                  <a16:creationId xmlns:a16="http://schemas.microsoft.com/office/drawing/2014/main" id="{09A8D236-3CDE-DDDF-CDED-68D99D6761B3}"/>
                </a:ext>
              </a:extLst>
            </p:cNvPr>
            <p:cNvGraphicFramePr/>
            <p:nvPr/>
          </p:nvGraphicFramePr>
          <p:xfrm>
            <a:off x="3360" y="1515"/>
            <a:ext cx="1057" cy="309"/>
          </p:xfrm>
          <a:graphic>
            <a:graphicData uri="http://schemas.openxmlformats.org/presentationml/2006/ole">
              <mc:AlternateContent xmlns:mc="http://schemas.openxmlformats.org/markup-compatibility/2006">
                <mc:Choice xmlns:v="urn:schemas-microsoft-com:vml" Requires="v">
                  <p:oleObj spid="_x0000_s5125" r:id="rId5" imgW="1244600" imgH="368300" progId="Equation.3">
                    <p:embed/>
                  </p:oleObj>
                </mc:Choice>
                <mc:Fallback>
                  <p:oleObj r:id="rId5" imgW="1244600" imgH="368300" progId="Equation.3">
                    <p:embed/>
                    <p:pic>
                      <p:nvPicPr>
                        <p:cNvPr id="11" name="Object 19">
                          <a:extLst>
                            <a:ext uri="{FF2B5EF4-FFF2-40B4-BE49-F238E27FC236}">
                              <a16:creationId xmlns:a16="http://schemas.microsoft.com/office/drawing/2014/main" id="{09A8D236-3CDE-DDDF-CDED-68D99D6761B3}"/>
                            </a:ext>
                          </a:extLst>
                        </p:cNvPr>
                        <p:cNvPicPr/>
                        <p:nvPr/>
                      </p:nvPicPr>
                      <p:blipFill>
                        <a:blip r:embed="rId6"/>
                        <a:stretch>
                          <a:fillRect/>
                        </a:stretch>
                      </p:blipFill>
                      <p:spPr>
                        <a:xfrm>
                          <a:off x="3360" y="1515"/>
                          <a:ext cx="1057" cy="309"/>
                        </a:xfrm>
                        <a:prstGeom prst="rect">
                          <a:avLst/>
                        </a:prstGeom>
                        <a:noFill/>
                        <a:ln w="38100">
                          <a:noFill/>
                          <a:miter/>
                        </a:ln>
                      </p:spPr>
                    </p:pic>
                  </p:oleObj>
                </mc:Fallback>
              </mc:AlternateContent>
            </a:graphicData>
          </a:graphic>
        </p:graphicFrame>
        <p:grpSp>
          <p:nvGrpSpPr>
            <p:cNvPr id="12" name="Group 20">
              <a:extLst>
                <a:ext uri="{FF2B5EF4-FFF2-40B4-BE49-F238E27FC236}">
                  <a16:creationId xmlns:a16="http://schemas.microsoft.com/office/drawing/2014/main" id="{301ECAE9-03DD-A39A-E796-2AB23BAEE05E}"/>
                </a:ext>
              </a:extLst>
            </p:cNvPr>
            <p:cNvGrpSpPr/>
            <p:nvPr/>
          </p:nvGrpSpPr>
          <p:grpSpPr>
            <a:xfrm>
              <a:off x="2592" y="864"/>
              <a:ext cx="1920" cy="655"/>
              <a:chOff x="2496" y="864"/>
              <a:chExt cx="2160" cy="720"/>
            </a:xfrm>
          </p:grpSpPr>
          <p:sp>
            <p:nvSpPr>
              <p:cNvPr id="13" name="AutoShape 21">
                <a:extLst>
                  <a:ext uri="{FF2B5EF4-FFF2-40B4-BE49-F238E27FC236}">
                    <a16:creationId xmlns:a16="http://schemas.microsoft.com/office/drawing/2014/main" id="{67FDAC50-3541-0322-71BC-E77C6F445755}"/>
                  </a:ext>
                </a:extLst>
              </p:cNvPr>
              <p:cNvSpPr/>
              <p:nvPr/>
            </p:nvSpPr>
            <p:spPr>
              <a:xfrm>
                <a:off x="2496" y="1104"/>
                <a:ext cx="576" cy="144"/>
              </a:xfrm>
              <a:prstGeom prst="rightArrow">
                <a:avLst>
                  <a:gd name="adj1" fmla="val 40277"/>
                  <a:gd name="adj2" fmla="val 131814"/>
                </a:avLst>
              </a:prstGeom>
              <a:gradFill rotWithShape="0">
                <a:gsLst>
                  <a:gs pos="0">
                    <a:srgbClr val="765E76"/>
                  </a:gs>
                  <a:gs pos="50000">
                    <a:srgbClr val="FFCCFF"/>
                  </a:gs>
                  <a:gs pos="100000">
                    <a:srgbClr val="765E76"/>
                  </a:gs>
                </a:gsLst>
                <a:lin ang="5400000" scaled="1"/>
                <a:tileRect/>
              </a:gradFill>
              <a:ln w="28575" cap="flat" cmpd="sng">
                <a:solidFill>
                  <a:srgbClr val="CC00CC"/>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nvGrpSpPr>
              <p:cNvPr id="14" name="Group 22">
                <a:extLst>
                  <a:ext uri="{FF2B5EF4-FFF2-40B4-BE49-F238E27FC236}">
                    <a16:creationId xmlns:a16="http://schemas.microsoft.com/office/drawing/2014/main" id="{1E67E362-D0A8-37DA-17AB-A27B6A8C3652}"/>
                  </a:ext>
                </a:extLst>
              </p:cNvPr>
              <p:cNvGrpSpPr/>
              <p:nvPr/>
            </p:nvGrpSpPr>
            <p:grpSpPr>
              <a:xfrm>
                <a:off x="3168" y="864"/>
                <a:ext cx="1488" cy="720"/>
                <a:chOff x="2976" y="816"/>
                <a:chExt cx="1488" cy="720"/>
              </a:xfrm>
            </p:grpSpPr>
            <p:sp>
              <p:nvSpPr>
                <p:cNvPr id="15" name="AutoShape 23">
                  <a:extLst>
                    <a:ext uri="{FF2B5EF4-FFF2-40B4-BE49-F238E27FC236}">
                      <a16:creationId xmlns:a16="http://schemas.microsoft.com/office/drawing/2014/main" id="{EC33C128-0634-AA10-52CA-C5E32E871F2A}"/>
                    </a:ext>
                  </a:extLst>
                </p:cNvPr>
                <p:cNvSpPr/>
                <p:nvPr/>
              </p:nvSpPr>
              <p:spPr>
                <a:xfrm>
                  <a:off x="2976" y="816"/>
                  <a:ext cx="1488" cy="720"/>
                </a:xfrm>
                <a:prstGeom prst="bevel">
                  <a:avLst>
                    <a:gd name="adj" fmla="val 12500"/>
                  </a:avLst>
                </a:prstGeom>
                <a:solidFill>
                  <a:srgbClr val="996633"/>
                </a:solid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sp>
              <p:nvSpPr>
                <p:cNvPr id="16" name="Rectangle 24" descr="10%">
                  <a:extLst>
                    <a:ext uri="{FF2B5EF4-FFF2-40B4-BE49-F238E27FC236}">
                      <a16:creationId xmlns:a16="http://schemas.microsoft.com/office/drawing/2014/main" id="{CE23E878-87F5-04E2-8FC6-4BBF9C6F7BCF}"/>
                    </a:ext>
                  </a:extLst>
                </p:cNvPr>
                <p:cNvSpPr/>
                <p:nvPr/>
              </p:nvSpPr>
              <p:spPr>
                <a:xfrm>
                  <a:off x="3072" y="912"/>
                  <a:ext cx="1296" cy="528"/>
                </a:xfrm>
                <a:prstGeom prst="rect">
                  <a:avLst/>
                </a:prstGeom>
                <a:pattFill prst="pct10">
                  <a:fgClr>
                    <a:schemeClr val="tx1"/>
                  </a:fgClr>
                  <a:bgClr>
                    <a:srgbClr val="FFFFFF"/>
                  </a:bgClr>
                </a:patt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Bookman Old Style" panose="02050604050505020204" pitchFamily="18" charset="0"/>
                  </a:endParaRPr>
                </a:p>
              </p:txBody>
            </p:sp>
          </p:grpSp>
        </p:grpSp>
      </p:grpSp>
      <p:sp>
        <p:nvSpPr>
          <p:cNvPr id="17" name="Text Box 13">
            <a:hlinkClick r:id="" action="ppaction://noaction"/>
            <a:extLst>
              <a:ext uri="{FF2B5EF4-FFF2-40B4-BE49-F238E27FC236}">
                <a16:creationId xmlns:a16="http://schemas.microsoft.com/office/drawing/2014/main" id="{AB96BD8B-3C50-E766-F7EC-72DB01EEDC5E}"/>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热力学概率与自然过程方向</a:t>
            </a:r>
          </a:p>
        </p:txBody>
      </p:sp>
    </p:spTree>
    <p:extLst>
      <p:ext uri="{BB962C8B-B14F-4D97-AF65-F5344CB8AC3E}">
        <p14:creationId xmlns:p14="http://schemas.microsoft.com/office/powerpoint/2010/main" val="2496331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337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9" grpId="0"/>
      <p:bldP spid="33799" grpId="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1" name="Text Box 3">
            <a:extLst>
              <a:ext uri="{FF2B5EF4-FFF2-40B4-BE49-F238E27FC236}">
                <a16:creationId xmlns:a16="http://schemas.microsoft.com/office/drawing/2014/main" id="{DCD8DED5-53C0-6C8B-41A3-EFE0DE77B995}"/>
              </a:ext>
            </a:extLst>
          </p:cNvPr>
          <p:cNvSpPr txBox="1">
            <a:spLocks noChangeArrowheads="1"/>
          </p:cNvSpPr>
          <p:nvPr/>
        </p:nvSpPr>
        <p:spPr bwMode="auto">
          <a:xfrm>
            <a:off x="781051" y="1181101"/>
            <a:ext cx="494030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pPr>
            <a:r>
              <a:rPr kumimoji="1" lang="en-US" altLang="zh-CN" sz="3200" b="0" dirty="0">
                <a:ea typeface="楷体" panose="02010609060101010101" pitchFamily="49" charset="-122"/>
              </a:rPr>
              <a:t>1877</a:t>
            </a:r>
            <a:r>
              <a:rPr kumimoji="1" lang="zh-CN" altLang="en-US" sz="3200" b="0" dirty="0">
                <a:latin typeface="楷体" panose="02010609060101010101" pitchFamily="49" charset="-122"/>
                <a:ea typeface="楷体" panose="02010609060101010101" pitchFamily="49" charset="-122"/>
              </a:rPr>
              <a:t>年，玻耳兹曼引入</a:t>
            </a:r>
            <a:r>
              <a:rPr kumimoji="1" lang="zh-CN" altLang="en-US" sz="3200" b="0" dirty="0">
                <a:solidFill>
                  <a:srgbClr val="FF0000"/>
                </a:solidFill>
                <a:latin typeface="楷体" panose="02010609060101010101" pitchFamily="49" charset="-122"/>
                <a:ea typeface="楷体" panose="02010609060101010101" pitchFamily="49" charset="-122"/>
              </a:rPr>
              <a:t>熵</a:t>
            </a:r>
            <a:r>
              <a:rPr kumimoji="1" lang="en-US" altLang="zh-CN" sz="3200" b="0" dirty="0">
                <a:solidFill>
                  <a:srgbClr val="FF0000"/>
                </a:solidFill>
                <a:ea typeface="楷体" panose="02010609060101010101" pitchFamily="49" charset="-122"/>
              </a:rPr>
              <a:t>(Entropy)</a:t>
            </a:r>
            <a:r>
              <a:rPr kumimoji="1" lang="zh-CN" altLang="en-US" sz="3200" b="0" dirty="0">
                <a:solidFill>
                  <a:srgbClr val="FF0000"/>
                </a:solidFill>
                <a:latin typeface="楷体" panose="02010609060101010101" pitchFamily="49" charset="-122"/>
                <a:ea typeface="楷体" panose="02010609060101010101" pitchFamily="49" charset="-122"/>
              </a:rPr>
              <a:t>，</a:t>
            </a:r>
            <a:r>
              <a:rPr kumimoji="1" lang="zh-CN" altLang="en-US" sz="3200" b="0" dirty="0">
                <a:latin typeface="楷体" panose="02010609060101010101" pitchFamily="49" charset="-122"/>
                <a:ea typeface="楷体" panose="02010609060101010101" pitchFamily="49" charset="-122"/>
              </a:rPr>
              <a:t>表示系统无序性的大小</a:t>
            </a:r>
          </a:p>
        </p:txBody>
      </p:sp>
      <p:sp>
        <p:nvSpPr>
          <p:cNvPr id="34820" name="Text Box 4">
            <a:extLst>
              <a:ext uri="{FF2B5EF4-FFF2-40B4-BE49-F238E27FC236}">
                <a16:creationId xmlns:a16="http://schemas.microsoft.com/office/drawing/2014/main" id="{2E9BC8F2-088C-B282-2090-2B424F43D2D1}"/>
              </a:ext>
            </a:extLst>
          </p:cNvPr>
          <p:cNvSpPr txBox="1">
            <a:spLocks noChangeArrowheads="1"/>
          </p:cNvSpPr>
          <p:nvPr/>
        </p:nvSpPr>
        <p:spPr bwMode="auto">
          <a:xfrm>
            <a:off x="1353345" y="4965701"/>
            <a:ext cx="378301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kumimoji="1" lang="zh-CN" altLang="en-US" sz="3200" b="0" dirty="0">
                <a:solidFill>
                  <a:srgbClr val="FF0000"/>
                </a:solidFill>
                <a:latin typeface="楷体" panose="02010609060101010101" pitchFamily="49" charset="-122"/>
                <a:ea typeface="楷体" panose="02010609060101010101" pitchFamily="49" charset="-122"/>
              </a:rPr>
              <a:t>玻耳兹曼熵公式：</a:t>
            </a:r>
          </a:p>
        </p:txBody>
      </p:sp>
      <p:sp>
        <p:nvSpPr>
          <p:cNvPr id="34821" name="Text Box 5">
            <a:extLst>
              <a:ext uri="{FF2B5EF4-FFF2-40B4-BE49-F238E27FC236}">
                <a16:creationId xmlns:a16="http://schemas.microsoft.com/office/drawing/2014/main" id="{1D17AEA6-1E4A-7465-A401-B8AF6D0D7E2A}"/>
              </a:ext>
            </a:extLst>
          </p:cNvPr>
          <p:cNvSpPr txBox="1">
            <a:spLocks noChangeArrowheads="1"/>
          </p:cNvSpPr>
          <p:nvPr/>
        </p:nvSpPr>
        <p:spPr bwMode="auto">
          <a:xfrm>
            <a:off x="3012456" y="5771575"/>
            <a:ext cx="1958975" cy="584775"/>
          </a:xfrm>
          <a:prstGeom prst="rect">
            <a:avLst/>
          </a:prstGeom>
          <a:noFill/>
          <a:ln w="38100">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3200" i="1">
                <a:solidFill>
                  <a:srgbClr val="FF0000"/>
                </a:solidFill>
                <a:ea typeface="黑体" panose="02010609060101010101" pitchFamily="49" charset="-122"/>
              </a:rPr>
              <a:t>S</a:t>
            </a:r>
            <a:r>
              <a:rPr kumimoji="1" lang="en-US" altLang="zh-CN" sz="3200">
                <a:solidFill>
                  <a:srgbClr val="FF0000"/>
                </a:solidFill>
                <a:ea typeface="黑体" panose="02010609060101010101" pitchFamily="49" charset="-122"/>
              </a:rPr>
              <a:t> = </a:t>
            </a:r>
            <a:r>
              <a:rPr kumimoji="1" lang="en-US" altLang="zh-CN" sz="3200" i="1">
                <a:solidFill>
                  <a:srgbClr val="FF0000"/>
                </a:solidFill>
                <a:ea typeface="黑体" panose="02010609060101010101" pitchFamily="49" charset="-122"/>
              </a:rPr>
              <a:t>k</a:t>
            </a:r>
            <a:r>
              <a:rPr kumimoji="1" lang="en-US" altLang="zh-CN" sz="3200">
                <a:solidFill>
                  <a:srgbClr val="FF0000"/>
                </a:solidFill>
                <a:ea typeface="黑体" panose="02010609060101010101" pitchFamily="49" charset="-122"/>
              </a:rPr>
              <a:t> ln</a:t>
            </a:r>
            <a:r>
              <a:rPr kumimoji="1" lang="en-US" altLang="zh-CN" sz="3200" i="1">
                <a:solidFill>
                  <a:srgbClr val="FF0000"/>
                </a:solidFill>
                <a:ea typeface="黑体" panose="02010609060101010101" pitchFamily="49" charset="-122"/>
                <a:sym typeface="Symbol" panose="05050102010706020507" pitchFamily="18" charset="2"/>
              </a:rPr>
              <a:t></a:t>
            </a:r>
          </a:p>
        </p:txBody>
      </p:sp>
      <p:sp>
        <p:nvSpPr>
          <p:cNvPr id="27654" name="Rectangle 6">
            <a:extLst>
              <a:ext uri="{FF2B5EF4-FFF2-40B4-BE49-F238E27FC236}">
                <a16:creationId xmlns:a16="http://schemas.microsoft.com/office/drawing/2014/main" id="{B7213256-D898-6D10-D7FB-6CF6B627CD49}"/>
              </a:ext>
            </a:extLst>
          </p:cNvPr>
          <p:cNvSpPr>
            <a:spLocks noChangeArrowheads="1"/>
          </p:cNvSpPr>
          <p:nvPr/>
        </p:nvSpPr>
        <p:spPr bwMode="auto">
          <a:xfrm>
            <a:off x="2397920" y="3025776"/>
            <a:ext cx="17065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3200" b="0" i="1" dirty="0">
                <a:ea typeface="黑体" panose="02010609060101010101" pitchFamily="49" charset="-122"/>
              </a:rPr>
              <a:t>S</a:t>
            </a:r>
            <a:r>
              <a:rPr kumimoji="1" lang="en-US" altLang="zh-CN" sz="3200" b="0" dirty="0">
                <a:ea typeface="黑体" panose="02010609060101010101" pitchFamily="49" charset="-122"/>
              </a:rPr>
              <a:t> </a:t>
            </a:r>
            <a:r>
              <a:rPr kumimoji="1" lang="en-US" altLang="zh-CN" sz="3200" b="0" dirty="0">
                <a:ea typeface="黑体" panose="02010609060101010101" pitchFamily="49" charset="-122"/>
                <a:sym typeface="Symbol" panose="05050102010706020507" pitchFamily="18" charset="2"/>
              </a:rPr>
              <a:t></a:t>
            </a:r>
            <a:r>
              <a:rPr kumimoji="1" lang="en-US" altLang="zh-CN" sz="3200" b="0" dirty="0">
                <a:ea typeface="黑体" panose="02010609060101010101" pitchFamily="49" charset="-122"/>
              </a:rPr>
              <a:t> ln</a:t>
            </a:r>
            <a:r>
              <a:rPr kumimoji="1" lang="en-US" altLang="zh-CN" sz="3200" b="0" i="1" dirty="0">
                <a:ea typeface="黑体" panose="02010609060101010101" pitchFamily="49" charset="-122"/>
                <a:sym typeface="Symbol" panose="05050102010706020507" pitchFamily="18" charset="2"/>
              </a:rPr>
              <a:t></a:t>
            </a:r>
          </a:p>
        </p:txBody>
      </p:sp>
      <p:sp>
        <p:nvSpPr>
          <p:cNvPr id="27655" name="Text Box 7">
            <a:extLst>
              <a:ext uri="{FF2B5EF4-FFF2-40B4-BE49-F238E27FC236}">
                <a16:creationId xmlns:a16="http://schemas.microsoft.com/office/drawing/2014/main" id="{FCF36B6D-ABFB-C675-8F9D-55FD12EA3B73}"/>
              </a:ext>
            </a:extLst>
          </p:cNvPr>
          <p:cNvSpPr txBox="1">
            <a:spLocks noChangeArrowheads="1"/>
          </p:cNvSpPr>
          <p:nvPr/>
        </p:nvSpPr>
        <p:spPr bwMode="auto">
          <a:xfrm>
            <a:off x="968376" y="3783013"/>
            <a:ext cx="47529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just" eaLnBrk="1" hangingPunct="1"/>
            <a:r>
              <a:rPr kumimoji="1" lang="en-US" altLang="zh-CN" sz="3200" b="0" dirty="0">
                <a:ea typeface="楷体" panose="02010609060101010101" pitchFamily="49" charset="-122"/>
              </a:rPr>
              <a:t>1900</a:t>
            </a:r>
            <a:r>
              <a:rPr kumimoji="1" lang="zh-CN" altLang="en-US" sz="3200" b="0" dirty="0">
                <a:latin typeface="楷体" panose="02010609060101010101" pitchFamily="49" charset="-122"/>
                <a:ea typeface="楷体" panose="02010609060101010101" pitchFamily="49" charset="-122"/>
              </a:rPr>
              <a:t>年，普朗克引入系数 </a:t>
            </a:r>
            <a:r>
              <a:rPr kumimoji="1" lang="en-US" altLang="zh-CN" sz="3200" b="0" i="1" dirty="0">
                <a:ea typeface="楷体" panose="02010609060101010101" pitchFamily="49" charset="-122"/>
              </a:rPr>
              <a:t>k </a:t>
            </a:r>
            <a:r>
              <a:rPr kumimoji="1" lang="en-US" altLang="zh-CN" sz="3200" b="0" dirty="0">
                <a:latin typeface="楷体" panose="02010609060101010101" pitchFamily="49" charset="-122"/>
                <a:ea typeface="楷体" panose="02010609060101010101" pitchFamily="49" charset="-122"/>
              </a:rPr>
              <a:t>—</a:t>
            </a:r>
            <a:r>
              <a:rPr kumimoji="1" lang="zh-CN" altLang="en-US" sz="3200" b="0" dirty="0">
                <a:latin typeface="楷体" panose="02010609060101010101" pitchFamily="49" charset="-122"/>
                <a:ea typeface="楷体" panose="02010609060101010101" pitchFamily="49" charset="-122"/>
              </a:rPr>
              <a:t>玻耳兹曼常数</a:t>
            </a:r>
          </a:p>
        </p:txBody>
      </p:sp>
      <p:pic>
        <p:nvPicPr>
          <p:cNvPr id="34824" name="Picture 8" descr="BOLTZM~1">
            <a:extLst>
              <a:ext uri="{FF2B5EF4-FFF2-40B4-BE49-F238E27FC236}">
                <a16:creationId xmlns:a16="http://schemas.microsoft.com/office/drawing/2014/main" id="{B607092C-87AB-C266-3D29-D51968D3AB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1305" y="1154113"/>
            <a:ext cx="4197350" cy="5202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Box 13">
            <a:hlinkClick r:id="" action="ppaction://noaction"/>
            <a:extLst>
              <a:ext uri="{FF2B5EF4-FFF2-40B4-BE49-F238E27FC236}">
                <a16:creationId xmlns:a16="http://schemas.microsoft.com/office/drawing/2014/main" id="{F892216E-F0DF-1DC4-1585-FA6BAA69899F}"/>
              </a:ext>
            </a:extLst>
          </p:cNvPr>
          <p:cNvSpPr txBox="1">
            <a:spLocks noChangeArrowheads="1"/>
          </p:cNvSpPr>
          <p:nvPr/>
        </p:nvSpPr>
        <p:spPr bwMode="auto">
          <a:xfrm>
            <a:off x="541688" y="411788"/>
            <a:ext cx="690051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玻尔兹曼熵公式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6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34820"/>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348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8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p:bldP spid="34820" grpId="0"/>
      <p:bldP spid="34820" grpId="1"/>
      <p:bldP spid="34821" grpId="0" animBg="1"/>
      <p:bldP spid="34821" grpId="1" animBg="1"/>
      <p:bldP spid="27654" grpId="0"/>
      <p:bldP spid="2765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2">
            <a:extLst>
              <a:ext uri="{FF2B5EF4-FFF2-40B4-BE49-F238E27FC236}">
                <a16:creationId xmlns:a16="http://schemas.microsoft.com/office/drawing/2014/main" id="{BB51026C-5CF8-410B-0445-2C2A89215A39}"/>
              </a:ext>
            </a:extLst>
          </p:cNvPr>
          <p:cNvSpPr>
            <a:spLocks noChangeArrowheads="1"/>
          </p:cNvSpPr>
          <p:nvPr/>
        </p:nvSpPr>
        <p:spPr bwMode="auto">
          <a:xfrm>
            <a:off x="2022022" y="1627132"/>
            <a:ext cx="8424863" cy="62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381000" indent="-381000"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 typeface="Wingdings" panose="05000000000000000000" pitchFamily="2" charset="2"/>
              <a:buNone/>
            </a:pPr>
            <a:r>
              <a:rPr kumimoji="1" lang="en-US" altLang="zh-CN" sz="3200" b="0" dirty="0">
                <a:ea typeface="楷体" panose="02010609060101010101" pitchFamily="49" charset="-122"/>
                <a:cs typeface="Times New Roman" panose="02020603050405020304" pitchFamily="18" charset="0"/>
              </a:rPr>
              <a:t>- </a:t>
            </a:r>
            <a:r>
              <a:rPr kumimoji="1" lang="zh-CN" altLang="en-US" sz="3200" b="0" dirty="0">
                <a:ea typeface="楷体" panose="02010609060101010101" pitchFamily="49" charset="-122"/>
                <a:cs typeface="Times New Roman" panose="02020603050405020304" pitchFamily="18" charset="0"/>
              </a:rPr>
              <a:t>一个宏观状态</a:t>
            </a:r>
            <a:r>
              <a:rPr kumimoji="1" lang="zh-CN" altLang="en-US" sz="3200" b="0" dirty="0">
                <a:solidFill>
                  <a:srgbClr val="FF0000"/>
                </a:solidFill>
                <a:ea typeface="楷体" panose="02010609060101010101" pitchFamily="49" charset="-122"/>
                <a:cs typeface="Times New Roman" panose="02020603050405020304" pitchFamily="18" charset="0"/>
              </a:rPr>
              <a:t> </a:t>
            </a:r>
            <a:r>
              <a:rPr kumimoji="1" lang="zh-CN" altLang="en-US" sz="3200" b="0" dirty="0">
                <a:solidFill>
                  <a:srgbClr val="FF0000"/>
                </a:solidFill>
                <a:ea typeface="楷体" panose="02010609060101010101" pitchFamily="49" charset="-122"/>
                <a:cs typeface="Times New Roman" panose="02020603050405020304" pitchFamily="18" charset="0"/>
                <a:sym typeface="Symbol" panose="05050102010706020507" pitchFamily="18" charset="2"/>
              </a:rPr>
              <a:t> </a:t>
            </a:r>
            <a:r>
              <a:rPr kumimoji="1" lang="zh-CN" altLang="en-US" sz="3200" b="0" dirty="0">
                <a:ea typeface="楷体" panose="02010609060101010101" pitchFamily="49" charset="-122"/>
                <a:cs typeface="Times New Roman" panose="02020603050405020304" pitchFamily="18" charset="0"/>
                <a:sym typeface="Symbol" panose="05050102010706020507" pitchFamily="18" charset="2"/>
              </a:rPr>
              <a:t>一个</a:t>
            </a:r>
            <a:r>
              <a:rPr kumimoji="1" lang="zh-CN" altLang="en-US" sz="3200" b="0" i="1" dirty="0">
                <a:ea typeface="楷体" panose="02010609060101010101" pitchFamily="49" charset="-122"/>
                <a:cs typeface="Times New Roman" panose="02020603050405020304" pitchFamily="18" charset="0"/>
                <a:sym typeface="Symbol" panose="05050102010706020507" pitchFamily="18" charset="2"/>
              </a:rPr>
              <a:t> </a:t>
            </a:r>
            <a:r>
              <a:rPr kumimoji="1" lang="zh-CN" altLang="en-US" sz="3200" b="0" dirty="0">
                <a:ea typeface="楷体" panose="02010609060101010101" pitchFamily="49" charset="-122"/>
                <a:cs typeface="Times New Roman" panose="02020603050405020304" pitchFamily="18" charset="0"/>
                <a:sym typeface="Symbol" panose="05050102010706020507" pitchFamily="18" charset="2"/>
              </a:rPr>
              <a:t>值 </a:t>
            </a:r>
            <a:r>
              <a:rPr kumimoji="1" lang="zh-CN" altLang="en-US" sz="3200" b="0" dirty="0">
                <a:solidFill>
                  <a:srgbClr val="FF0000"/>
                </a:solidFill>
                <a:ea typeface="楷体" panose="02010609060101010101" pitchFamily="49" charset="-122"/>
                <a:cs typeface="Times New Roman" panose="02020603050405020304" pitchFamily="18" charset="0"/>
                <a:sym typeface="Symbol" panose="05050102010706020507" pitchFamily="18" charset="2"/>
              </a:rPr>
              <a:t></a:t>
            </a:r>
            <a:r>
              <a:rPr kumimoji="1" lang="zh-CN" altLang="en-US" sz="3200" b="0" dirty="0">
                <a:ea typeface="楷体" panose="02010609060101010101" pitchFamily="49" charset="-122"/>
                <a:cs typeface="Times New Roman" panose="02020603050405020304" pitchFamily="18" charset="0"/>
                <a:sym typeface="Symbol" panose="05050102010706020507" pitchFamily="18" charset="2"/>
              </a:rPr>
              <a:t> 一个</a:t>
            </a:r>
            <a:r>
              <a:rPr kumimoji="1" lang="en-US" altLang="zh-CN" sz="3200" b="0" i="1" dirty="0">
                <a:ea typeface="楷体" panose="02010609060101010101" pitchFamily="49" charset="-122"/>
                <a:cs typeface="Times New Roman" panose="02020603050405020304" pitchFamily="18" charset="0"/>
                <a:sym typeface="Symbol" panose="05050102010706020507" pitchFamily="18" charset="2"/>
              </a:rPr>
              <a:t>S </a:t>
            </a:r>
            <a:r>
              <a:rPr kumimoji="1" lang="zh-CN" altLang="en-US" sz="3200" b="0" dirty="0">
                <a:ea typeface="楷体" panose="02010609060101010101" pitchFamily="49" charset="-122"/>
                <a:cs typeface="Times New Roman" panose="02020603050405020304" pitchFamily="18" charset="0"/>
                <a:sym typeface="Symbol" panose="05050102010706020507" pitchFamily="18" charset="2"/>
              </a:rPr>
              <a:t>值</a:t>
            </a:r>
            <a:endParaRPr kumimoji="1" lang="zh-CN" altLang="en-US" sz="3200" b="0" dirty="0">
              <a:ea typeface="楷体" panose="02010609060101010101" pitchFamily="49" charset="-122"/>
              <a:cs typeface="Times New Roman" panose="02020603050405020304" pitchFamily="18" charset="0"/>
            </a:endParaRPr>
          </a:p>
        </p:txBody>
      </p:sp>
      <p:sp>
        <p:nvSpPr>
          <p:cNvPr id="4102" name="Rectangle 3">
            <a:extLst>
              <a:ext uri="{FF2B5EF4-FFF2-40B4-BE49-F238E27FC236}">
                <a16:creationId xmlns:a16="http://schemas.microsoft.com/office/drawing/2014/main" id="{81A12A11-E9BD-BE4B-C349-21B00E049BEF}"/>
              </a:ext>
            </a:extLst>
          </p:cNvPr>
          <p:cNvSpPr>
            <a:spLocks noChangeArrowheads="1"/>
          </p:cNvSpPr>
          <p:nvPr/>
        </p:nvSpPr>
        <p:spPr bwMode="auto">
          <a:xfrm>
            <a:off x="3044371" y="2393725"/>
            <a:ext cx="4292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zh-CN" altLang="en-US" sz="3200" b="0" dirty="0">
                <a:solidFill>
                  <a:srgbClr val="FF0000"/>
                </a:solidFill>
                <a:ea typeface="楷体" panose="02010609060101010101" pitchFamily="49" charset="-122"/>
                <a:cs typeface="Times New Roman" panose="02020603050405020304" pitchFamily="18" charset="0"/>
              </a:rPr>
              <a:t>熵是系统状态的函数</a:t>
            </a:r>
          </a:p>
        </p:txBody>
      </p:sp>
      <p:sp>
        <p:nvSpPr>
          <p:cNvPr id="4103" name="Text Box 4">
            <a:extLst>
              <a:ext uri="{FF2B5EF4-FFF2-40B4-BE49-F238E27FC236}">
                <a16:creationId xmlns:a16="http://schemas.microsoft.com/office/drawing/2014/main" id="{391F2BB7-8636-7942-F9D2-7B6567A7DCC1}"/>
              </a:ext>
            </a:extLst>
          </p:cNvPr>
          <p:cNvSpPr txBox="1">
            <a:spLocks noChangeArrowheads="1"/>
          </p:cNvSpPr>
          <p:nvPr/>
        </p:nvSpPr>
        <p:spPr bwMode="auto">
          <a:xfrm>
            <a:off x="2166485" y="3584520"/>
            <a:ext cx="8345487"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pPr>
            <a:r>
              <a:rPr kumimoji="1" lang="en-US" altLang="zh-CN" sz="3200" b="0" dirty="0">
                <a:ea typeface="楷体" panose="02010609060101010101" pitchFamily="49" charset="-122"/>
                <a:cs typeface="Times New Roman" panose="02020603050405020304" pitchFamily="18" charset="0"/>
              </a:rPr>
              <a:t>    </a:t>
            </a:r>
            <a:r>
              <a:rPr kumimoji="1" lang="zh-CN" altLang="en-US" sz="3200" b="0" dirty="0">
                <a:ea typeface="楷体" panose="02010609060101010101" pitchFamily="49" charset="-122"/>
                <a:cs typeface="Times New Roman" panose="02020603050405020304" pitchFamily="18" charset="0"/>
              </a:rPr>
              <a:t>设</a:t>
            </a:r>
            <a:r>
              <a:rPr kumimoji="1" lang="zh-CN" altLang="en-US" sz="3200" b="0" i="1" dirty="0">
                <a:ea typeface="楷体" panose="02010609060101010101" pitchFamily="49" charset="-122"/>
                <a:cs typeface="Times New Roman" panose="02020603050405020304" pitchFamily="18" charset="0"/>
                <a:sym typeface="Symbol" panose="05050102010706020507" pitchFamily="18" charset="2"/>
              </a:rPr>
              <a:t></a:t>
            </a:r>
            <a:r>
              <a:rPr kumimoji="1" lang="en-US" altLang="zh-CN" sz="3200" b="0" baseline="-25000" dirty="0">
                <a:ea typeface="楷体" panose="02010609060101010101" pitchFamily="49" charset="-122"/>
                <a:cs typeface="Times New Roman" panose="02020603050405020304" pitchFamily="18" charset="0"/>
              </a:rPr>
              <a:t>1</a:t>
            </a:r>
            <a:r>
              <a:rPr kumimoji="1" lang="en-US" altLang="zh-CN" sz="3200" b="0" dirty="0">
                <a:ea typeface="楷体" panose="02010609060101010101" pitchFamily="49" charset="-122"/>
                <a:cs typeface="Times New Roman" panose="02020603050405020304" pitchFamily="18" charset="0"/>
              </a:rPr>
              <a:t> </a:t>
            </a:r>
            <a:r>
              <a:rPr kumimoji="1" lang="zh-CN" altLang="en-US" sz="3200" b="0" dirty="0">
                <a:ea typeface="楷体" panose="02010609060101010101" pitchFamily="49" charset="-122"/>
                <a:cs typeface="Times New Roman" panose="02020603050405020304" pitchFamily="18" charset="0"/>
              </a:rPr>
              <a:t>和</a:t>
            </a:r>
            <a:r>
              <a:rPr kumimoji="1" lang="zh-CN" altLang="en-US" sz="3200" b="0" i="1" dirty="0">
                <a:ea typeface="楷体" panose="02010609060101010101" pitchFamily="49" charset="-122"/>
                <a:cs typeface="Times New Roman" panose="02020603050405020304" pitchFamily="18" charset="0"/>
                <a:sym typeface="Symbol" panose="05050102010706020507" pitchFamily="18" charset="2"/>
              </a:rPr>
              <a:t></a:t>
            </a:r>
            <a:r>
              <a:rPr kumimoji="1" lang="en-US" altLang="zh-CN" sz="3200" b="0" baseline="-25000" dirty="0">
                <a:ea typeface="楷体" panose="02010609060101010101" pitchFamily="49" charset="-122"/>
                <a:cs typeface="Times New Roman" panose="02020603050405020304" pitchFamily="18" charset="0"/>
                <a:sym typeface="Symbol" panose="05050102010706020507" pitchFamily="18" charset="2"/>
              </a:rPr>
              <a:t>2</a:t>
            </a:r>
            <a:r>
              <a:rPr kumimoji="1" lang="zh-CN" altLang="en-US" sz="3200" b="0" dirty="0">
                <a:ea typeface="楷体" panose="02010609060101010101" pitchFamily="49" charset="-122"/>
                <a:cs typeface="Times New Roman" panose="02020603050405020304" pitchFamily="18" charset="0"/>
                <a:sym typeface="Symbol" panose="05050102010706020507" pitchFamily="18" charset="2"/>
              </a:rPr>
              <a:t>分别</a:t>
            </a:r>
            <a:r>
              <a:rPr kumimoji="1" lang="zh-CN" altLang="en-US" sz="3200" b="0" dirty="0">
                <a:ea typeface="楷体" panose="02010609060101010101" pitchFamily="49" charset="-122"/>
                <a:cs typeface="Times New Roman" panose="02020603050405020304" pitchFamily="18" charset="0"/>
              </a:rPr>
              <a:t>表示两个子系统的热力学概率，整个系统的热力学概率</a:t>
            </a:r>
            <a:r>
              <a:rPr kumimoji="1" lang="zh-CN" altLang="en-US" sz="3200" b="0" dirty="0">
                <a:ea typeface="楷体" panose="02010609060101010101" pitchFamily="49" charset="-122"/>
                <a:cs typeface="Times New Roman" panose="02020603050405020304" pitchFamily="18" charset="0"/>
                <a:sym typeface="Symbol" panose="05050102010706020507" pitchFamily="18" charset="2"/>
              </a:rPr>
              <a:t>为</a:t>
            </a:r>
          </a:p>
        </p:txBody>
      </p:sp>
      <mc:AlternateContent xmlns:mc="http://schemas.openxmlformats.org/markup-compatibility/2006" xmlns:a14="http://schemas.microsoft.com/office/drawing/2010/main">
        <mc:Choice Requires="a14">
          <p:sp>
            <p:nvSpPr>
              <p:cNvPr id="83973" name="Object 5">
                <a:extLst>
                  <a:ext uri="{FF2B5EF4-FFF2-40B4-BE49-F238E27FC236}">
                    <a16:creationId xmlns:a16="http://schemas.microsoft.com/office/drawing/2014/main" id="{3708AC88-77C4-3EE1-38C8-57741AB72CE5}"/>
                  </a:ext>
                </a:extLst>
              </p:cNvPr>
              <p:cNvSpPr txBox="1"/>
              <p:nvPr/>
            </p:nvSpPr>
            <p:spPr bwMode="auto">
              <a:xfrm>
                <a:off x="2811463" y="5978525"/>
                <a:ext cx="8604023" cy="627063"/>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3200" i="1">
                          <a:solidFill>
                            <a:srgbClr val="000000"/>
                          </a:solidFill>
                          <a:latin typeface="Cambria Math" panose="02040503050406030204" pitchFamily="18" charset="0"/>
                        </a:rPr>
                        <m:t>𝑆</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𝑘</m:t>
                      </m:r>
                      <m:func>
                        <m:funcPr>
                          <m:ctrlPr>
                            <a:rPr lang="zh-CN" altLang="en-US" sz="3200" i="1">
                              <a:solidFill>
                                <a:srgbClr val="000000"/>
                              </a:solidFill>
                              <a:latin typeface="Cambria Math" panose="02040503050406030204" pitchFamily="18" charset="0"/>
                            </a:rPr>
                          </m:ctrlPr>
                        </m:funcPr>
                        <m:fName>
                          <m:r>
                            <m:rPr>
                              <m:sty m:val="p"/>
                            </m:rPr>
                            <a:rPr lang="zh-CN" altLang="en-US" sz="3200" i="0">
                              <a:solidFill>
                                <a:srgbClr val="000000"/>
                              </a:solidFill>
                              <a:latin typeface="Cambria Math" panose="02040503050406030204" pitchFamily="18" charset="0"/>
                            </a:rPr>
                            <m:t>ln</m:t>
                          </m:r>
                        </m:fName>
                        <m:e>
                          <m:r>
                            <m:rPr>
                              <m:sty m:val="p"/>
                            </m:rPr>
                            <a:rPr lang="zh-CN" altLang="en-US" sz="3200" i="1">
                              <a:solidFill>
                                <a:srgbClr val="000000"/>
                              </a:solidFill>
                              <a:latin typeface="Cambria Math" panose="02040503050406030204" pitchFamily="18" charset="0"/>
                            </a:rPr>
                            <m:t>Ω</m:t>
                          </m:r>
                        </m:e>
                      </m:func>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𝑘</m:t>
                      </m:r>
                      <m:func>
                        <m:funcPr>
                          <m:ctrlPr>
                            <a:rPr lang="zh-CN" altLang="en-US" sz="3200" i="1">
                              <a:solidFill>
                                <a:srgbClr val="000000"/>
                              </a:solidFill>
                              <a:latin typeface="Cambria Math" panose="02040503050406030204" pitchFamily="18" charset="0"/>
                            </a:rPr>
                          </m:ctrlPr>
                        </m:funcPr>
                        <m:fName>
                          <m:r>
                            <m:rPr>
                              <m:sty m:val="p"/>
                            </m:rPr>
                            <a:rPr lang="zh-CN" altLang="en-US" sz="3200" i="0">
                              <a:solidFill>
                                <a:srgbClr val="000000"/>
                              </a:solidFill>
                              <a:latin typeface="Cambria Math" panose="02040503050406030204" pitchFamily="18" charset="0"/>
                            </a:rPr>
                            <m:t>ln</m:t>
                          </m:r>
                        </m:fName>
                        <m:e>
                          <m:sSub>
                            <m:sSubPr>
                              <m:ctrlPr>
                                <a:rPr lang="zh-CN" altLang="en-US" sz="3200" i="1">
                                  <a:solidFill>
                                    <a:srgbClr val="000000"/>
                                  </a:solidFill>
                                  <a:latin typeface="Cambria Math" panose="02040503050406030204" pitchFamily="18" charset="0"/>
                                </a:rPr>
                              </m:ctrlPr>
                            </m:sSubPr>
                            <m:e>
                              <m:r>
                                <m:rPr>
                                  <m:sty m:val="p"/>
                                </m:rPr>
                                <a:rPr lang="zh-CN" altLang="en-US" sz="3200" i="1">
                                  <a:solidFill>
                                    <a:srgbClr val="000000"/>
                                  </a:solidFill>
                                  <a:latin typeface="Cambria Math" panose="02040503050406030204" pitchFamily="18" charset="0"/>
                                </a:rPr>
                                <m:t>Ω</m:t>
                              </m:r>
                            </m:e>
                            <m:sub>
                              <m:r>
                                <a:rPr lang="zh-CN" altLang="en-US" sz="3200" i="1">
                                  <a:solidFill>
                                    <a:srgbClr val="000000"/>
                                  </a:solidFill>
                                  <a:latin typeface="Cambria Math" panose="02040503050406030204" pitchFamily="18" charset="0"/>
                                </a:rPr>
                                <m:t>1</m:t>
                              </m:r>
                            </m:sub>
                          </m:sSub>
                        </m:e>
                      </m:func>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𝑘</m:t>
                      </m:r>
                      <m:func>
                        <m:funcPr>
                          <m:ctrlPr>
                            <a:rPr lang="zh-CN" altLang="en-US" sz="3200" i="1">
                              <a:solidFill>
                                <a:srgbClr val="000000"/>
                              </a:solidFill>
                              <a:latin typeface="Cambria Math" panose="02040503050406030204" pitchFamily="18" charset="0"/>
                            </a:rPr>
                          </m:ctrlPr>
                        </m:funcPr>
                        <m:fName>
                          <m:r>
                            <m:rPr>
                              <m:sty m:val="p"/>
                            </m:rPr>
                            <a:rPr lang="zh-CN" altLang="en-US" sz="3200" i="0">
                              <a:solidFill>
                                <a:srgbClr val="000000"/>
                              </a:solidFill>
                              <a:latin typeface="Cambria Math" panose="02040503050406030204" pitchFamily="18" charset="0"/>
                            </a:rPr>
                            <m:t>ln</m:t>
                          </m:r>
                        </m:fName>
                        <m:e>
                          <m:sSub>
                            <m:sSubPr>
                              <m:ctrlPr>
                                <a:rPr lang="zh-CN" altLang="en-US" sz="3200" i="1">
                                  <a:solidFill>
                                    <a:srgbClr val="000000"/>
                                  </a:solidFill>
                                  <a:latin typeface="Cambria Math" panose="02040503050406030204" pitchFamily="18" charset="0"/>
                                </a:rPr>
                              </m:ctrlPr>
                            </m:sSubPr>
                            <m:e>
                              <m:r>
                                <m:rPr>
                                  <m:sty m:val="p"/>
                                </m:rPr>
                                <a:rPr lang="zh-CN" altLang="en-US" sz="3200" i="1">
                                  <a:solidFill>
                                    <a:srgbClr val="000000"/>
                                  </a:solidFill>
                                  <a:latin typeface="Cambria Math" panose="02040503050406030204" pitchFamily="18" charset="0"/>
                                </a:rPr>
                                <m:t>Ω</m:t>
                              </m:r>
                            </m:e>
                            <m:sub>
                              <m:r>
                                <a:rPr lang="zh-CN" altLang="en-US" sz="3200" i="1">
                                  <a:solidFill>
                                    <a:srgbClr val="000000"/>
                                  </a:solidFill>
                                  <a:latin typeface="Cambria Math" panose="02040503050406030204" pitchFamily="18" charset="0"/>
                                </a:rPr>
                                <m:t>2</m:t>
                              </m:r>
                            </m:sub>
                          </m:sSub>
                        </m:e>
                      </m:func>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𝑆</m:t>
                          </m:r>
                        </m:e>
                        <m:sub>
                          <m:r>
                            <a:rPr lang="zh-CN" altLang="en-US" sz="3200" i="1">
                              <a:solidFill>
                                <a:srgbClr val="000000"/>
                              </a:solidFill>
                              <a:latin typeface="Cambria Math" panose="02040503050406030204" pitchFamily="18" charset="0"/>
                            </a:rPr>
                            <m:t>1</m:t>
                          </m:r>
                        </m:sub>
                      </m:sSub>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𝑆</m:t>
                          </m:r>
                        </m:e>
                        <m:sub>
                          <m:r>
                            <a:rPr lang="zh-CN" altLang="en-US" sz="3200" i="1">
                              <a:solidFill>
                                <a:srgbClr val="000000"/>
                              </a:solidFill>
                              <a:latin typeface="Cambria Math" panose="02040503050406030204" pitchFamily="18" charset="0"/>
                            </a:rPr>
                            <m:t>2</m:t>
                          </m:r>
                        </m:sub>
                      </m:sSub>
                    </m:oMath>
                  </m:oMathPara>
                </a14:m>
                <a:endParaRPr lang="zh-CN" altLang="en-US" sz="3200" dirty="0"/>
              </a:p>
            </p:txBody>
          </p:sp>
        </mc:Choice>
        <mc:Fallback xmlns="">
          <p:sp>
            <p:nvSpPr>
              <p:cNvPr id="83973" name="Object 5">
                <a:extLst>
                  <a:ext uri="{FF2B5EF4-FFF2-40B4-BE49-F238E27FC236}">
                    <a16:creationId xmlns:a16="http://schemas.microsoft.com/office/drawing/2014/main" id="{3708AC88-77C4-3EE1-38C8-57741AB72CE5}"/>
                  </a:ext>
                </a:extLst>
              </p:cNvPr>
              <p:cNvSpPr txBox="1">
                <a:spLocks noRot="1" noChangeAspect="1" noMove="1" noResize="1" noEditPoints="1" noAdjustHandles="1" noChangeArrowheads="1" noChangeShapeType="1" noTextEdit="1"/>
              </p:cNvSpPr>
              <p:nvPr/>
            </p:nvSpPr>
            <p:spPr bwMode="auto">
              <a:xfrm>
                <a:off x="2811463" y="5978525"/>
                <a:ext cx="8604023" cy="627063"/>
              </a:xfrm>
              <a:prstGeom prst="rect">
                <a:avLst/>
              </a:prstGeom>
              <a:blipFill>
                <a:blip r:embed="rId2"/>
                <a:stretch>
                  <a:fillRect/>
                </a:stretch>
              </a:blipFill>
              <a:ln>
                <a:noFill/>
              </a:ln>
              <a:effectLst/>
            </p:spPr>
            <p:txBody>
              <a:bodyPr/>
              <a:lstStyle/>
              <a:p>
                <a:r>
                  <a:rPr lang="zh-CN" altLang="en-US">
                    <a:noFill/>
                  </a:rPr>
                  <a:t> </a:t>
                </a:r>
              </a:p>
            </p:txBody>
          </p:sp>
        </mc:Fallback>
      </mc:AlternateContent>
      <p:sp>
        <p:nvSpPr>
          <p:cNvPr id="4104" name="Rectangle 6">
            <a:extLst>
              <a:ext uri="{FF2B5EF4-FFF2-40B4-BE49-F238E27FC236}">
                <a16:creationId xmlns:a16="http://schemas.microsoft.com/office/drawing/2014/main" id="{12526FD4-D318-CDB0-5795-A814D5F1715C}"/>
              </a:ext>
            </a:extLst>
          </p:cNvPr>
          <p:cNvSpPr>
            <a:spLocks noChangeArrowheads="1"/>
          </p:cNvSpPr>
          <p:nvPr/>
        </p:nvSpPr>
        <p:spPr bwMode="auto">
          <a:xfrm>
            <a:off x="2022022" y="3066994"/>
            <a:ext cx="39973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en-US" altLang="zh-CN" sz="3200" b="0" dirty="0">
                <a:ea typeface="楷体" panose="02010609060101010101" pitchFamily="49" charset="-122"/>
                <a:cs typeface="Times New Roman" panose="02020603050405020304" pitchFamily="18" charset="0"/>
              </a:rPr>
              <a:t>- </a:t>
            </a:r>
            <a:r>
              <a:rPr kumimoji="1" lang="zh-CN" altLang="en-US" sz="3200" b="0" dirty="0">
                <a:ea typeface="楷体" panose="02010609060101010101" pitchFamily="49" charset="-122"/>
                <a:cs typeface="Times New Roman" panose="02020603050405020304" pitchFamily="18" charset="0"/>
              </a:rPr>
              <a:t>熵具有可加性</a:t>
            </a:r>
          </a:p>
        </p:txBody>
      </p:sp>
      <mc:AlternateContent xmlns:mc="http://schemas.openxmlformats.org/markup-compatibility/2006" xmlns:a14="http://schemas.microsoft.com/office/drawing/2010/main">
        <mc:Choice Requires="a14">
          <p:sp>
            <p:nvSpPr>
              <p:cNvPr id="83975" name="Object 7">
                <a:extLst>
                  <a:ext uri="{FF2B5EF4-FFF2-40B4-BE49-F238E27FC236}">
                    <a16:creationId xmlns:a16="http://schemas.microsoft.com/office/drawing/2014/main" id="{5CDDFA50-A82C-6CC8-C42B-F4FA3B33868F}"/>
                  </a:ext>
                </a:extLst>
              </p:cNvPr>
              <p:cNvSpPr txBox="1"/>
              <p:nvPr/>
            </p:nvSpPr>
            <p:spPr bwMode="auto">
              <a:xfrm>
                <a:off x="5191125" y="4808538"/>
                <a:ext cx="2281238" cy="6350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sz="3200" i="1">
                          <a:solidFill>
                            <a:srgbClr val="000000"/>
                          </a:solidFill>
                          <a:latin typeface="Cambria Math" panose="02040503050406030204" pitchFamily="18" charset="0"/>
                        </a:rPr>
                        <m:t>Ω</m:t>
                      </m:r>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m:rPr>
                              <m:sty m:val="p"/>
                            </m:rPr>
                            <a:rPr lang="zh-CN" altLang="en-US" sz="3200" i="1">
                              <a:solidFill>
                                <a:srgbClr val="000000"/>
                              </a:solidFill>
                              <a:latin typeface="Cambria Math" panose="02040503050406030204" pitchFamily="18" charset="0"/>
                            </a:rPr>
                            <m:t>Ω</m:t>
                          </m:r>
                        </m:e>
                        <m:sub>
                          <m:r>
                            <a:rPr lang="zh-CN" altLang="en-US" sz="3200" i="1">
                              <a:solidFill>
                                <a:srgbClr val="000000"/>
                              </a:solidFill>
                              <a:latin typeface="Cambria Math" panose="02040503050406030204" pitchFamily="18" charset="0"/>
                            </a:rPr>
                            <m:t>1</m:t>
                          </m:r>
                        </m:sub>
                      </m:sSub>
                      <m:r>
                        <a:rPr lang="zh-CN" altLang="en-US" sz="3200" i="1">
                          <a:solidFill>
                            <a:srgbClr val="000000"/>
                          </a:solidFill>
                          <a:latin typeface="Cambria Math" panose="02040503050406030204" pitchFamily="18" charset="0"/>
                        </a:rPr>
                        <m:t>⋅</m:t>
                      </m:r>
                      <m:sSub>
                        <m:sSubPr>
                          <m:ctrlPr>
                            <a:rPr lang="zh-CN" altLang="en-US" sz="3200" i="1">
                              <a:solidFill>
                                <a:srgbClr val="000000"/>
                              </a:solidFill>
                              <a:latin typeface="Cambria Math" panose="02040503050406030204" pitchFamily="18" charset="0"/>
                            </a:rPr>
                          </m:ctrlPr>
                        </m:sSubPr>
                        <m:e>
                          <m:r>
                            <m:rPr>
                              <m:sty m:val="p"/>
                            </m:rPr>
                            <a:rPr lang="zh-CN" altLang="en-US" sz="3200" i="1">
                              <a:solidFill>
                                <a:srgbClr val="000000"/>
                              </a:solidFill>
                              <a:latin typeface="Cambria Math" panose="02040503050406030204" pitchFamily="18" charset="0"/>
                            </a:rPr>
                            <m:t>Ω</m:t>
                          </m:r>
                        </m:e>
                        <m:sub>
                          <m:r>
                            <a:rPr lang="zh-CN" altLang="en-US" sz="3200" i="1">
                              <a:solidFill>
                                <a:srgbClr val="000000"/>
                              </a:solidFill>
                              <a:latin typeface="Cambria Math" panose="02040503050406030204" pitchFamily="18" charset="0"/>
                            </a:rPr>
                            <m:t>2</m:t>
                          </m:r>
                        </m:sub>
                      </m:sSub>
                    </m:oMath>
                  </m:oMathPara>
                </a14:m>
                <a:endParaRPr lang="zh-CN" altLang="en-US" sz="3200" dirty="0"/>
              </a:p>
            </p:txBody>
          </p:sp>
        </mc:Choice>
        <mc:Fallback xmlns="">
          <p:sp>
            <p:nvSpPr>
              <p:cNvPr id="83975" name="Object 7">
                <a:extLst>
                  <a:ext uri="{FF2B5EF4-FFF2-40B4-BE49-F238E27FC236}">
                    <a16:creationId xmlns:a16="http://schemas.microsoft.com/office/drawing/2014/main" id="{5CDDFA50-A82C-6CC8-C42B-F4FA3B33868F}"/>
                  </a:ext>
                </a:extLst>
              </p:cNvPr>
              <p:cNvSpPr txBox="1">
                <a:spLocks noRot="1" noChangeAspect="1" noMove="1" noResize="1" noEditPoints="1" noAdjustHandles="1" noChangeArrowheads="1" noChangeShapeType="1" noTextEdit="1"/>
              </p:cNvSpPr>
              <p:nvPr/>
            </p:nvSpPr>
            <p:spPr bwMode="auto">
              <a:xfrm>
                <a:off x="5191125" y="4808538"/>
                <a:ext cx="2281238" cy="635000"/>
              </a:xfrm>
              <a:prstGeom prst="rect">
                <a:avLst/>
              </a:prstGeom>
              <a:blipFill>
                <a:blip r:embed="rId3"/>
                <a:stretch>
                  <a:fillRect/>
                </a:stretch>
              </a:blipFill>
              <a:ln>
                <a:noFill/>
              </a:ln>
              <a:effectLst/>
            </p:spPr>
            <p:txBody>
              <a:bodyPr/>
              <a:lstStyle/>
              <a:p>
                <a:r>
                  <a:rPr lang="zh-CN" altLang="en-US">
                    <a:noFill/>
                  </a:rPr>
                  <a:t> </a:t>
                </a:r>
              </a:p>
            </p:txBody>
          </p:sp>
        </mc:Fallback>
      </mc:AlternateContent>
      <p:sp>
        <p:nvSpPr>
          <p:cNvPr id="4105" name="Rectangle 8">
            <a:extLst>
              <a:ext uri="{FF2B5EF4-FFF2-40B4-BE49-F238E27FC236}">
                <a16:creationId xmlns:a16="http://schemas.microsoft.com/office/drawing/2014/main" id="{ED3F1DCD-2E8D-B111-4A96-DCFFCFE75B7B}"/>
              </a:ext>
            </a:extLst>
          </p:cNvPr>
          <p:cNvSpPr>
            <a:spLocks noChangeArrowheads="1"/>
          </p:cNvSpPr>
          <p:nvPr/>
        </p:nvSpPr>
        <p:spPr bwMode="auto">
          <a:xfrm>
            <a:off x="2309360" y="5313308"/>
            <a:ext cx="35067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zh-CN" altLang="en-US" sz="3200" b="0" dirty="0">
                <a:ea typeface="楷体" panose="02010609060101010101" pitchFamily="49" charset="-122"/>
                <a:cs typeface="Times New Roman" panose="02020603050405020304" pitchFamily="18" charset="0"/>
              </a:rPr>
              <a:t>整个系统的熵为</a:t>
            </a:r>
          </a:p>
        </p:txBody>
      </p:sp>
      <p:sp>
        <p:nvSpPr>
          <p:cNvPr id="4106" name="Rectangle 9">
            <a:extLst>
              <a:ext uri="{FF2B5EF4-FFF2-40B4-BE49-F238E27FC236}">
                <a16:creationId xmlns:a16="http://schemas.microsoft.com/office/drawing/2014/main" id="{C21C8939-9BEF-DBBD-5BC2-31927B9FBE0C}"/>
              </a:ext>
            </a:extLst>
          </p:cNvPr>
          <p:cNvSpPr>
            <a:spLocks noChangeArrowheads="1"/>
          </p:cNvSpPr>
          <p:nvPr/>
        </p:nvSpPr>
        <p:spPr bwMode="auto">
          <a:xfrm>
            <a:off x="2022022" y="553359"/>
            <a:ext cx="8747579"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marL="627063" indent="-627063"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spcBef>
                <a:spcPct val="50000"/>
              </a:spcBef>
              <a:buFont typeface="Wingdings" panose="05000000000000000000" pitchFamily="2" charset="2"/>
              <a:buNone/>
            </a:pPr>
            <a:r>
              <a:rPr kumimoji="1" lang="en-US" altLang="zh-CN" sz="3200" b="0" dirty="0">
                <a:ea typeface="楷体" panose="02010609060101010101" pitchFamily="49" charset="-122"/>
                <a:cs typeface="Times New Roman" panose="02020603050405020304" pitchFamily="18" charset="0"/>
              </a:rPr>
              <a:t>- </a:t>
            </a:r>
            <a:r>
              <a:rPr kumimoji="1" lang="zh-CN" altLang="en-US" sz="3200" b="0" dirty="0">
                <a:ea typeface="楷体" panose="02010609060101010101" pitchFamily="49" charset="-122"/>
                <a:cs typeface="Times New Roman" panose="02020603050405020304" pitchFamily="18" charset="0"/>
              </a:rPr>
              <a:t>熵和</a:t>
            </a:r>
            <a:r>
              <a:rPr kumimoji="1" lang="zh-CN" altLang="en-US" sz="3200" b="0" i="1" dirty="0">
                <a:ea typeface="楷体" panose="02010609060101010101" pitchFamily="49" charset="-122"/>
                <a:cs typeface="Times New Roman" panose="02020603050405020304" pitchFamily="18" charset="0"/>
                <a:sym typeface="Symbol" panose="05050102010706020507" pitchFamily="18" charset="2"/>
              </a:rPr>
              <a:t> </a:t>
            </a:r>
            <a:r>
              <a:rPr kumimoji="1" lang="zh-CN" altLang="en-US" sz="3200" b="0" dirty="0">
                <a:ea typeface="楷体" panose="02010609060101010101" pitchFamily="49" charset="-122"/>
                <a:cs typeface="Times New Roman" panose="02020603050405020304" pitchFamily="18" charset="0"/>
              </a:rPr>
              <a:t>一样，也是系统内分子热运动的无序性的一种量度。</a:t>
            </a:r>
          </a:p>
        </p:txBody>
      </p:sp>
      <p:sp>
        <p:nvSpPr>
          <p:cNvPr id="2" name="Text Box 13">
            <a:hlinkClick r:id="" action="ppaction://noaction"/>
            <a:extLst>
              <a:ext uri="{FF2B5EF4-FFF2-40B4-BE49-F238E27FC236}">
                <a16:creationId xmlns:a16="http://schemas.microsoft.com/office/drawing/2014/main" id="{C350C497-3C7F-D70A-6095-7031FED8AE89}"/>
              </a:ext>
            </a:extLst>
          </p:cNvPr>
          <p:cNvSpPr txBox="1">
            <a:spLocks noChangeArrowheads="1"/>
          </p:cNvSpPr>
          <p:nvPr/>
        </p:nvSpPr>
        <p:spPr bwMode="auto">
          <a:xfrm>
            <a:off x="570428" y="422957"/>
            <a:ext cx="159605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1" nodeType="clickEffect">
                                  <p:stCondLst>
                                    <p:cond delay="0"/>
                                  </p:stCondLst>
                                  <p:childTnLst>
                                    <p:set>
                                      <p:cBhvr>
                                        <p:cTn id="6" dur="1" fill="hold">
                                          <p:stCondLst>
                                            <p:cond delay="0"/>
                                          </p:stCondLst>
                                        </p:cTn>
                                        <p:tgtEl>
                                          <p:spTgt spid="410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410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41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41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397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410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39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1" grpId="0"/>
      <p:bldP spid="4101" grpId="1"/>
      <p:bldP spid="4102" grpId="0"/>
      <p:bldP spid="4102" grpId="1"/>
      <p:bldP spid="4103" grpId="0"/>
      <p:bldP spid="4103" grpId="1"/>
      <p:bldP spid="83973" grpId="0"/>
      <p:bldP spid="4104" grpId="0"/>
      <p:bldP spid="4104" grpId="1"/>
      <p:bldP spid="83975" grpId="0"/>
      <p:bldP spid="4105" grpId="0"/>
      <p:bldP spid="4105"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2">
            <a:extLst>
              <a:ext uri="{FF2B5EF4-FFF2-40B4-BE49-F238E27FC236}">
                <a16:creationId xmlns:a16="http://schemas.microsoft.com/office/drawing/2014/main" id="{591DF5BA-6CDF-249F-E36C-BD6EDC936799}"/>
              </a:ext>
            </a:extLst>
          </p:cNvPr>
          <p:cNvSpPr txBox="1">
            <a:spLocks noChangeArrowheads="1"/>
          </p:cNvSpPr>
          <p:nvPr/>
        </p:nvSpPr>
        <p:spPr bwMode="auto">
          <a:xfrm>
            <a:off x="3914663" y="3383184"/>
            <a:ext cx="6716712"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r>
              <a:rPr kumimoji="1" lang="zh-CN" altLang="en-US" sz="3200" b="0" dirty="0">
                <a:latin typeface="楷体" panose="02010609060101010101" pitchFamily="49" charset="-122"/>
                <a:ea typeface="楷体" panose="02010609060101010101" pitchFamily="49" charset="-122"/>
              </a:rPr>
              <a:t>热力学第二定律的另一种表述</a:t>
            </a:r>
          </a:p>
        </p:txBody>
      </p:sp>
      <p:grpSp>
        <p:nvGrpSpPr>
          <p:cNvPr id="2" name="Group 17">
            <a:extLst>
              <a:ext uri="{FF2B5EF4-FFF2-40B4-BE49-F238E27FC236}">
                <a16:creationId xmlns:a16="http://schemas.microsoft.com/office/drawing/2014/main" id="{4D907CFD-7825-C0EE-9ECA-14495707C04A}"/>
              </a:ext>
            </a:extLst>
          </p:cNvPr>
          <p:cNvGrpSpPr>
            <a:grpSpLocks/>
          </p:cNvGrpSpPr>
          <p:nvPr/>
        </p:nvGrpSpPr>
        <p:grpSpPr bwMode="auto">
          <a:xfrm>
            <a:off x="1560542" y="1227358"/>
            <a:ext cx="8353425" cy="2001838"/>
            <a:chOff x="381" y="959"/>
            <a:chExt cx="5159" cy="1261"/>
          </a:xfrm>
        </p:grpSpPr>
        <p:sp>
          <p:nvSpPr>
            <p:cNvPr id="5129" name="Text Box 18">
              <a:extLst>
                <a:ext uri="{FF2B5EF4-FFF2-40B4-BE49-F238E27FC236}">
                  <a16:creationId xmlns:a16="http://schemas.microsoft.com/office/drawing/2014/main" id="{D23C4124-44EE-FAE6-B396-56F58C26F2C5}"/>
                </a:ext>
              </a:extLst>
            </p:cNvPr>
            <p:cNvSpPr txBox="1">
              <a:spLocks noChangeArrowheads="1"/>
            </p:cNvSpPr>
            <p:nvPr/>
          </p:nvSpPr>
          <p:spPr bwMode="auto">
            <a:xfrm>
              <a:off x="381" y="959"/>
              <a:ext cx="5152" cy="75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pPr>
              <a:r>
                <a:rPr kumimoji="1" lang="en-US" altLang="zh-CN" sz="3200" b="0" dirty="0">
                  <a:latin typeface="楷体" panose="02010609060101010101" pitchFamily="49" charset="-122"/>
                  <a:ea typeface="楷体" panose="02010609060101010101" pitchFamily="49" charset="-122"/>
                </a:rPr>
                <a:t>    </a:t>
              </a:r>
              <a:r>
                <a:rPr kumimoji="1" lang="zh-CN" altLang="en-US" sz="3200" b="0" dirty="0">
                  <a:latin typeface="楷体" panose="02010609060101010101" pitchFamily="49" charset="-122"/>
                  <a:ea typeface="楷体" panose="02010609060101010101" pitchFamily="49" charset="-122"/>
                </a:rPr>
                <a:t>在孤立系统中所进行的自然过程总是沿着熵增大的方向进行，它是不可逆的。即</a:t>
              </a:r>
            </a:p>
          </p:txBody>
        </p:sp>
        <p:grpSp>
          <p:nvGrpSpPr>
            <p:cNvPr id="5130" name="Group 19">
              <a:extLst>
                <a:ext uri="{FF2B5EF4-FFF2-40B4-BE49-F238E27FC236}">
                  <a16:creationId xmlns:a16="http://schemas.microsoft.com/office/drawing/2014/main" id="{9A77F560-04F5-4FB0-5BC1-5E3ED8D12305}"/>
                </a:ext>
              </a:extLst>
            </p:cNvPr>
            <p:cNvGrpSpPr>
              <a:grpSpLocks/>
            </p:cNvGrpSpPr>
            <p:nvPr/>
          </p:nvGrpSpPr>
          <p:grpSpPr bwMode="auto">
            <a:xfrm>
              <a:off x="1274" y="1844"/>
              <a:ext cx="3732" cy="368"/>
              <a:chOff x="1589" y="1941"/>
              <a:chExt cx="3732" cy="368"/>
            </a:xfrm>
          </p:grpSpPr>
          <p:graphicFrame>
            <p:nvGraphicFramePr>
              <p:cNvPr id="5122" name="Object 20">
                <a:extLst>
                  <a:ext uri="{FF2B5EF4-FFF2-40B4-BE49-F238E27FC236}">
                    <a16:creationId xmlns:a16="http://schemas.microsoft.com/office/drawing/2014/main" id="{6A19E78C-EE57-B3E0-6DA3-9FA5837495E6}"/>
                  </a:ext>
                </a:extLst>
              </p:cNvPr>
              <p:cNvGraphicFramePr>
                <a:graphicFrameLocks noChangeAspect="1"/>
              </p:cNvGraphicFramePr>
              <p:nvPr/>
            </p:nvGraphicFramePr>
            <p:xfrm>
              <a:off x="1589" y="1957"/>
              <a:ext cx="706" cy="309"/>
            </p:xfrm>
            <a:graphic>
              <a:graphicData uri="http://schemas.openxmlformats.org/presentationml/2006/ole">
                <mc:AlternateContent xmlns:mc="http://schemas.openxmlformats.org/markup-compatibility/2006">
                  <mc:Choice xmlns:v="urn:schemas-microsoft-com:vml" Requires="v">
                    <p:oleObj spid="_x0000_s6147" name="Equation" r:id="rId3" imgW="469696" imgH="177723" progId="Equation.3">
                      <p:embed/>
                    </p:oleObj>
                  </mc:Choice>
                  <mc:Fallback>
                    <p:oleObj name="Equation" r:id="rId3" imgW="469696" imgH="177723" progId="Equation.3">
                      <p:embed/>
                      <p:pic>
                        <p:nvPicPr>
                          <p:cNvPr id="5122" name="Object 20">
                            <a:extLst>
                              <a:ext uri="{FF2B5EF4-FFF2-40B4-BE49-F238E27FC236}">
                                <a16:creationId xmlns:a16="http://schemas.microsoft.com/office/drawing/2014/main" id="{6A19E78C-EE57-B3E0-6DA3-9FA5837495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9" y="1957"/>
                            <a:ext cx="706" cy="3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32" name="Rectangle 21">
                <a:extLst>
                  <a:ext uri="{FF2B5EF4-FFF2-40B4-BE49-F238E27FC236}">
                    <a16:creationId xmlns:a16="http://schemas.microsoft.com/office/drawing/2014/main" id="{88EB7F20-C754-60C5-B364-292DF843F2C1}"/>
                  </a:ext>
                </a:extLst>
              </p:cNvPr>
              <p:cNvSpPr>
                <a:spLocks noChangeArrowheads="1"/>
              </p:cNvSpPr>
              <p:nvPr/>
            </p:nvSpPr>
            <p:spPr bwMode="auto">
              <a:xfrm>
                <a:off x="2266" y="1941"/>
                <a:ext cx="3055" cy="368"/>
              </a:xfrm>
              <a:prstGeom prst="rect">
                <a:avLst/>
              </a:prstGeom>
              <a:noFill/>
              <a:ln w="12700">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defTabSz="762000"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defTabSz="76200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defTabSz="7620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defTabSz="7620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defTabSz="7620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buFont typeface="Monotype Sorts" pitchFamily="2" charset="2"/>
                  <a:buNone/>
                </a:pPr>
                <a:r>
                  <a:rPr kumimoji="1" lang="zh-CN" altLang="en-US" sz="3200" b="0" dirty="0">
                    <a:latin typeface="楷体" panose="02010609060101010101" pitchFamily="49" charset="-122"/>
                    <a:ea typeface="楷体" panose="02010609060101010101" pitchFamily="49" charset="-122"/>
                  </a:rPr>
                  <a:t>（孤立</a:t>
                </a:r>
                <a:r>
                  <a:rPr kumimoji="1" lang="zh-CN" altLang="en-US" sz="3200" b="0" dirty="0">
                    <a:latin typeface="华文楷体" panose="02010600040101010101" pitchFamily="2" charset="-122"/>
                    <a:ea typeface="华文楷体" panose="02010600040101010101" pitchFamily="2" charset="-122"/>
                  </a:rPr>
                  <a:t>系统</a:t>
                </a:r>
                <a:r>
                  <a:rPr kumimoji="1" lang="zh-CN" altLang="en-US" sz="3200" b="0" dirty="0">
                    <a:latin typeface="楷体" panose="02010609060101010101" pitchFamily="49" charset="-122"/>
                    <a:ea typeface="楷体" panose="02010609060101010101" pitchFamily="49" charset="-122"/>
                  </a:rPr>
                  <a:t>，自然过程）</a:t>
                </a:r>
              </a:p>
            </p:txBody>
          </p:sp>
        </p:grpSp>
        <p:sp>
          <p:nvSpPr>
            <p:cNvPr id="5131" name="Rectangle 22">
              <a:extLst>
                <a:ext uri="{FF2B5EF4-FFF2-40B4-BE49-F238E27FC236}">
                  <a16:creationId xmlns:a16="http://schemas.microsoft.com/office/drawing/2014/main" id="{DF5462F0-38BD-1FF4-3BBD-7BD1C0779AAE}"/>
                </a:ext>
              </a:extLst>
            </p:cNvPr>
            <p:cNvSpPr>
              <a:spLocks noChangeArrowheads="1"/>
            </p:cNvSpPr>
            <p:nvPr/>
          </p:nvSpPr>
          <p:spPr bwMode="auto">
            <a:xfrm>
              <a:off x="406" y="1009"/>
              <a:ext cx="5134" cy="1211"/>
            </a:xfrm>
            <a:prstGeom prst="rect">
              <a:avLst/>
            </a:prstGeom>
            <a:noFill/>
            <a:ln w="28575">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楷体" panose="02010609060101010101" pitchFamily="49" charset="-122"/>
                <a:ea typeface="楷体" panose="02010609060101010101" pitchFamily="49" charset="-122"/>
              </a:endParaRPr>
            </a:p>
          </p:txBody>
        </p:sp>
      </p:grpSp>
      <p:sp>
        <p:nvSpPr>
          <p:cNvPr id="5126" name="Text Box 23">
            <a:extLst>
              <a:ext uri="{FF2B5EF4-FFF2-40B4-BE49-F238E27FC236}">
                <a16:creationId xmlns:a16="http://schemas.microsoft.com/office/drawing/2014/main" id="{25D45D51-381A-2F4C-22DC-C05090A2A0F6}"/>
              </a:ext>
            </a:extLst>
          </p:cNvPr>
          <p:cNvSpPr txBox="1">
            <a:spLocks noChangeArrowheads="1"/>
          </p:cNvSpPr>
          <p:nvPr/>
        </p:nvSpPr>
        <p:spPr bwMode="auto">
          <a:xfrm>
            <a:off x="803275" y="5630642"/>
            <a:ext cx="10699750" cy="60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just" eaLnBrk="1" hangingPunct="1">
              <a:lnSpc>
                <a:spcPct val="120000"/>
              </a:lnSpc>
              <a:spcBef>
                <a:spcPct val="50000"/>
              </a:spcBef>
            </a:pPr>
            <a:r>
              <a:rPr kumimoji="1" lang="zh-CN" altLang="en-US" sz="3200" b="0" dirty="0">
                <a:latin typeface="楷体" panose="02010609060101010101" pitchFamily="49" charset="-122"/>
                <a:ea typeface="楷体" panose="02010609060101010101" pitchFamily="49" charset="-122"/>
              </a:rPr>
              <a:t>“孤立”是充分条件。对非孤立体系的绝热过程，也成立。</a:t>
            </a:r>
          </a:p>
        </p:txBody>
      </p:sp>
      <p:sp>
        <p:nvSpPr>
          <p:cNvPr id="5127" name="Rectangle 24">
            <a:extLst>
              <a:ext uri="{FF2B5EF4-FFF2-40B4-BE49-F238E27FC236}">
                <a16:creationId xmlns:a16="http://schemas.microsoft.com/office/drawing/2014/main" id="{6F42AFE3-CBB9-8F37-0ABD-AE31729B3A0C}"/>
              </a:ext>
            </a:extLst>
          </p:cNvPr>
          <p:cNvSpPr>
            <a:spLocks noChangeArrowheads="1"/>
          </p:cNvSpPr>
          <p:nvPr/>
        </p:nvSpPr>
        <p:spPr bwMode="auto">
          <a:xfrm>
            <a:off x="2208214" y="4581525"/>
            <a:ext cx="8135937"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kumimoji="1" lang="zh-CN" altLang="en-US" sz="3200" b="0" dirty="0">
                <a:latin typeface="华文楷体" panose="02010600040101010101" pitchFamily="2" charset="-122"/>
                <a:ea typeface="华文楷体" panose="02010600040101010101" pitchFamily="2" charset="-122"/>
              </a:rPr>
              <a:t>孤立系统：与外界既无能量又无物质交换</a:t>
            </a:r>
          </a:p>
        </p:txBody>
      </p:sp>
      <p:sp>
        <p:nvSpPr>
          <p:cNvPr id="3" name="Text Box 13">
            <a:hlinkClick r:id="" action="ppaction://noaction"/>
            <a:extLst>
              <a:ext uri="{FF2B5EF4-FFF2-40B4-BE49-F238E27FC236}">
                <a16:creationId xmlns:a16="http://schemas.microsoft.com/office/drawing/2014/main" id="{A7B70DDB-6F13-1331-348F-D92DBFAA5E66}"/>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熵增加原理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51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51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p:bldP spid="5126" grpId="0"/>
      <p:bldP spid="5126" grpId="1"/>
      <p:bldP spid="5127" grpId="0"/>
      <p:bldP spid="5127" grpId="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Line 4">
            <a:extLst>
              <a:ext uri="{FF2B5EF4-FFF2-40B4-BE49-F238E27FC236}">
                <a16:creationId xmlns:a16="http://schemas.microsoft.com/office/drawing/2014/main" id="{C1776D6A-A778-9130-15D0-6E55A951E2A1}"/>
              </a:ext>
            </a:extLst>
          </p:cNvPr>
          <p:cNvSpPr>
            <a:spLocks noChangeShapeType="1"/>
          </p:cNvSpPr>
          <p:nvPr/>
        </p:nvSpPr>
        <p:spPr bwMode="auto">
          <a:xfrm>
            <a:off x="4079875" y="2742067"/>
            <a:ext cx="2808288"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75" name="Text Box 5">
            <a:extLst>
              <a:ext uri="{FF2B5EF4-FFF2-40B4-BE49-F238E27FC236}">
                <a16:creationId xmlns:a16="http://schemas.microsoft.com/office/drawing/2014/main" id="{F7967E40-DB5C-7FD7-6B24-1D38D542BD06}"/>
              </a:ext>
            </a:extLst>
          </p:cNvPr>
          <p:cNvSpPr txBox="1">
            <a:spLocks noChangeArrowheads="1"/>
          </p:cNvSpPr>
          <p:nvPr/>
        </p:nvSpPr>
        <p:spPr bwMode="auto">
          <a:xfrm>
            <a:off x="4943475" y="2021343"/>
            <a:ext cx="9969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0">
                <a:ea typeface="华文楷体" panose="02010600040101010101" pitchFamily="2" charset="-122"/>
                <a:cs typeface="宋体" panose="02010600030101010101" pitchFamily="2" charset="-122"/>
              </a:rPr>
              <a:t>放热</a:t>
            </a:r>
          </a:p>
        </p:txBody>
      </p:sp>
      <p:grpSp>
        <p:nvGrpSpPr>
          <p:cNvPr id="28676" name="Group 6">
            <a:extLst>
              <a:ext uri="{FF2B5EF4-FFF2-40B4-BE49-F238E27FC236}">
                <a16:creationId xmlns:a16="http://schemas.microsoft.com/office/drawing/2014/main" id="{1A75B28E-1BFE-57BD-3C9D-BF22860D38A8}"/>
              </a:ext>
            </a:extLst>
          </p:cNvPr>
          <p:cNvGrpSpPr>
            <a:grpSpLocks/>
          </p:cNvGrpSpPr>
          <p:nvPr/>
        </p:nvGrpSpPr>
        <p:grpSpPr bwMode="auto">
          <a:xfrm>
            <a:off x="7248525" y="1734004"/>
            <a:ext cx="1296988" cy="1727200"/>
            <a:chOff x="3606" y="754"/>
            <a:chExt cx="817" cy="1088"/>
          </a:xfrm>
        </p:grpSpPr>
        <p:sp>
          <p:nvSpPr>
            <p:cNvPr id="28762" name="Rectangle 7">
              <a:extLst>
                <a:ext uri="{FF2B5EF4-FFF2-40B4-BE49-F238E27FC236}">
                  <a16:creationId xmlns:a16="http://schemas.microsoft.com/office/drawing/2014/main" id="{404ACC2F-808C-0783-935E-3E973092AB6B}"/>
                </a:ext>
              </a:extLst>
            </p:cNvPr>
            <p:cNvSpPr>
              <a:spLocks noChangeArrowheads="1"/>
            </p:cNvSpPr>
            <p:nvPr/>
          </p:nvSpPr>
          <p:spPr bwMode="auto">
            <a:xfrm>
              <a:off x="3606" y="754"/>
              <a:ext cx="817" cy="108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63" name="Oval 8">
              <a:extLst>
                <a:ext uri="{FF2B5EF4-FFF2-40B4-BE49-F238E27FC236}">
                  <a16:creationId xmlns:a16="http://schemas.microsoft.com/office/drawing/2014/main" id="{C5FE80E9-2DF0-0841-1A4E-08DFC480BDAB}"/>
                </a:ext>
              </a:extLst>
            </p:cNvPr>
            <p:cNvSpPr>
              <a:spLocks noChangeArrowheads="1"/>
            </p:cNvSpPr>
            <p:nvPr/>
          </p:nvSpPr>
          <p:spPr bwMode="auto">
            <a:xfrm>
              <a:off x="3651" y="799"/>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64" name="Oval 9">
              <a:extLst>
                <a:ext uri="{FF2B5EF4-FFF2-40B4-BE49-F238E27FC236}">
                  <a16:creationId xmlns:a16="http://schemas.microsoft.com/office/drawing/2014/main" id="{792ED18D-AB44-A4D1-17DA-302B8167DB5D}"/>
                </a:ext>
              </a:extLst>
            </p:cNvPr>
            <p:cNvSpPr>
              <a:spLocks noChangeArrowheads="1"/>
            </p:cNvSpPr>
            <p:nvPr/>
          </p:nvSpPr>
          <p:spPr bwMode="auto">
            <a:xfrm>
              <a:off x="4286" y="799"/>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65" name="Oval 10">
              <a:extLst>
                <a:ext uri="{FF2B5EF4-FFF2-40B4-BE49-F238E27FC236}">
                  <a16:creationId xmlns:a16="http://schemas.microsoft.com/office/drawing/2014/main" id="{71F6D483-1D85-DF5F-BD40-CAECF87D75F9}"/>
                </a:ext>
              </a:extLst>
            </p:cNvPr>
            <p:cNvSpPr>
              <a:spLocks noChangeArrowheads="1"/>
            </p:cNvSpPr>
            <p:nvPr/>
          </p:nvSpPr>
          <p:spPr bwMode="auto">
            <a:xfrm>
              <a:off x="4104" y="799"/>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66" name="Oval 11">
              <a:extLst>
                <a:ext uri="{FF2B5EF4-FFF2-40B4-BE49-F238E27FC236}">
                  <a16:creationId xmlns:a16="http://schemas.microsoft.com/office/drawing/2014/main" id="{61A42315-4116-2419-22CE-A92A3E9189F8}"/>
                </a:ext>
              </a:extLst>
            </p:cNvPr>
            <p:cNvSpPr>
              <a:spLocks noChangeArrowheads="1"/>
            </p:cNvSpPr>
            <p:nvPr/>
          </p:nvSpPr>
          <p:spPr bwMode="auto">
            <a:xfrm>
              <a:off x="3923" y="799"/>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67" name="Oval 12">
              <a:extLst>
                <a:ext uri="{FF2B5EF4-FFF2-40B4-BE49-F238E27FC236}">
                  <a16:creationId xmlns:a16="http://schemas.microsoft.com/office/drawing/2014/main" id="{F18777CB-C904-EB48-B3C8-F2A55A0C5509}"/>
                </a:ext>
              </a:extLst>
            </p:cNvPr>
            <p:cNvSpPr>
              <a:spLocks noChangeArrowheads="1"/>
            </p:cNvSpPr>
            <p:nvPr/>
          </p:nvSpPr>
          <p:spPr bwMode="auto">
            <a:xfrm>
              <a:off x="3651" y="980"/>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68" name="Oval 13">
              <a:extLst>
                <a:ext uri="{FF2B5EF4-FFF2-40B4-BE49-F238E27FC236}">
                  <a16:creationId xmlns:a16="http://schemas.microsoft.com/office/drawing/2014/main" id="{5EFA172E-F949-F370-762E-00E61D2031B5}"/>
                </a:ext>
              </a:extLst>
            </p:cNvPr>
            <p:cNvSpPr>
              <a:spLocks noChangeArrowheads="1"/>
            </p:cNvSpPr>
            <p:nvPr/>
          </p:nvSpPr>
          <p:spPr bwMode="auto">
            <a:xfrm>
              <a:off x="4286" y="980"/>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69" name="Oval 14">
              <a:extLst>
                <a:ext uri="{FF2B5EF4-FFF2-40B4-BE49-F238E27FC236}">
                  <a16:creationId xmlns:a16="http://schemas.microsoft.com/office/drawing/2014/main" id="{F535AC1D-A4E7-2C94-9DD4-EE78DBF460F4}"/>
                </a:ext>
              </a:extLst>
            </p:cNvPr>
            <p:cNvSpPr>
              <a:spLocks noChangeArrowheads="1"/>
            </p:cNvSpPr>
            <p:nvPr/>
          </p:nvSpPr>
          <p:spPr bwMode="auto">
            <a:xfrm>
              <a:off x="4105" y="981"/>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70" name="Oval 15">
              <a:extLst>
                <a:ext uri="{FF2B5EF4-FFF2-40B4-BE49-F238E27FC236}">
                  <a16:creationId xmlns:a16="http://schemas.microsoft.com/office/drawing/2014/main" id="{E1481101-BF2C-29BB-37EC-82848EF28C10}"/>
                </a:ext>
              </a:extLst>
            </p:cNvPr>
            <p:cNvSpPr>
              <a:spLocks noChangeArrowheads="1"/>
            </p:cNvSpPr>
            <p:nvPr/>
          </p:nvSpPr>
          <p:spPr bwMode="auto">
            <a:xfrm>
              <a:off x="3923" y="980"/>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71" name="Oval 16">
              <a:extLst>
                <a:ext uri="{FF2B5EF4-FFF2-40B4-BE49-F238E27FC236}">
                  <a16:creationId xmlns:a16="http://schemas.microsoft.com/office/drawing/2014/main" id="{A5CB9E04-0619-3CAC-0C20-556AD0F574BD}"/>
                </a:ext>
              </a:extLst>
            </p:cNvPr>
            <p:cNvSpPr>
              <a:spLocks noChangeArrowheads="1"/>
            </p:cNvSpPr>
            <p:nvPr/>
          </p:nvSpPr>
          <p:spPr bwMode="auto">
            <a:xfrm>
              <a:off x="3697" y="1162"/>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72" name="Oval 17">
              <a:extLst>
                <a:ext uri="{FF2B5EF4-FFF2-40B4-BE49-F238E27FC236}">
                  <a16:creationId xmlns:a16="http://schemas.microsoft.com/office/drawing/2014/main" id="{4EC37CDE-E1F6-E878-4F72-A1C6D3C1D6E2}"/>
                </a:ext>
              </a:extLst>
            </p:cNvPr>
            <p:cNvSpPr>
              <a:spLocks noChangeArrowheads="1"/>
            </p:cNvSpPr>
            <p:nvPr/>
          </p:nvSpPr>
          <p:spPr bwMode="auto">
            <a:xfrm>
              <a:off x="4332" y="1162"/>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73" name="Oval 18">
              <a:extLst>
                <a:ext uri="{FF2B5EF4-FFF2-40B4-BE49-F238E27FC236}">
                  <a16:creationId xmlns:a16="http://schemas.microsoft.com/office/drawing/2014/main" id="{31DE0EBE-9315-7766-2760-E29D63A0FD0F}"/>
                </a:ext>
              </a:extLst>
            </p:cNvPr>
            <p:cNvSpPr>
              <a:spLocks noChangeArrowheads="1"/>
            </p:cNvSpPr>
            <p:nvPr/>
          </p:nvSpPr>
          <p:spPr bwMode="auto">
            <a:xfrm>
              <a:off x="4150" y="1162"/>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74" name="Oval 19">
              <a:extLst>
                <a:ext uri="{FF2B5EF4-FFF2-40B4-BE49-F238E27FC236}">
                  <a16:creationId xmlns:a16="http://schemas.microsoft.com/office/drawing/2014/main" id="{D3A60E98-1E3D-847F-4350-670EAF7AA968}"/>
                </a:ext>
              </a:extLst>
            </p:cNvPr>
            <p:cNvSpPr>
              <a:spLocks noChangeArrowheads="1"/>
            </p:cNvSpPr>
            <p:nvPr/>
          </p:nvSpPr>
          <p:spPr bwMode="auto">
            <a:xfrm>
              <a:off x="3969" y="1162"/>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75" name="Oval 20">
              <a:extLst>
                <a:ext uri="{FF2B5EF4-FFF2-40B4-BE49-F238E27FC236}">
                  <a16:creationId xmlns:a16="http://schemas.microsoft.com/office/drawing/2014/main" id="{C4DD7064-1D3A-93AB-EB50-C7E75A4A16C2}"/>
                </a:ext>
              </a:extLst>
            </p:cNvPr>
            <p:cNvSpPr>
              <a:spLocks noChangeArrowheads="1"/>
            </p:cNvSpPr>
            <p:nvPr/>
          </p:nvSpPr>
          <p:spPr bwMode="auto">
            <a:xfrm>
              <a:off x="3651" y="1344"/>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76" name="Oval 21">
              <a:extLst>
                <a:ext uri="{FF2B5EF4-FFF2-40B4-BE49-F238E27FC236}">
                  <a16:creationId xmlns:a16="http://schemas.microsoft.com/office/drawing/2014/main" id="{57B1BFF1-B1A8-DC2B-DD04-95A6FFE8EB05}"/>
                </a:ext>
              </a:extLst>
            </p:cNvPr>
            <p:cNvSpPr>
              <a:spLocks noChangeArrowheads="1"/>
            </p:cNvSpPr>
            <p:nvPr/>
          </p:nvSpPr>
          <p:spPr bwMode="auto">
            <a:xfrm>
              <a:off x="4286" y="1344"/>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77" name="Oval 22">
              <a:extLst>
                <a:ext uri="{FF2B5EF4-FFF2-40B4-BE49-F238E27FC236}">
                  <a16:creationId xmlns:a16="http://schemas.microsoft.com/office/drawing/2014/main" id="{F921A684-71F6-E7DF-3A6E-7A6FAD669223}"/>
                </a:ext>
              </a:extLst>
            </p:cNvPr>
            <p:cNvSpPr>
              <a:spLocks noChangeArrowheads="1"/>
            </p:cNvSpPr>
            <p:nvPr/>
          </p:nvSpPr>
          <p:spPr bwMode="auto">
            <a:xfrm>
              <a:off x="4104" y="1344"/>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78" name="Oval 23">
              <a:extLst>
                <a:ext uri="{FF2B5EF4-FFF2-40B4-BE49-F238E27FC236}">
                  <a16:creationId xmlns:a16="http://schemas.microsoft.com/office/drawing/2014/main" id="{C1B33A72-961D-5DD5-154F-4312D5E3F9DA}"/>
                </a:ext>
              </a:extLst>
            </p:cNvPr>
            <p:cNvSpPr>
              <a:spLocks noChangeArrowheads="1"/>
            </p:cNvSpPr>
            <p:nvPr/>
          </p:nvSpPr>
          <p:spPr bwMode="auto">
            <a:xfrm>
              <a:off x="3923" y="1344"/>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79" name="Rectangle 24">
              <a:extLst>
                <a:ext uri="{FF2B5EF4-FFF2-40B4-BE49-F238E27FC236}">
                  <a16:creationId xmlns:a16="http://schemas.microsoft.com/office/drawing/2014/main" id="{3D58146A-25F0-D8A1-DCB6-DFDAFC0FC1E4}"/>
                </a:ext>
              </a:extLst>
            </p:cNvPr>
            <p:cNvSpPr>
              <a:spLocks noChangeArrowheads="1"/>
            </p:cNvSpPr>
            <p:nvPr/>
          </p:nvSpPr>
          <p:spPr bwMode="auto">
            <a:xfrm>
              <a:off x="3606" y="1434"/>
              <a:ext cx="816" cy="408"/>
            </a:xfrm>
            <a:prstGeom prst="rect">
              <a:avLst/>
            </a:prstGeom>
            <a:solidFill>
              <a:schemeClr val="accent1"/>
            </a:solidFill>
            <a:ln w="9525">
              <a:solidFill>
                <a:schemeClr val="tx1"/>
              </a:solidFill>
              <a:miter lim="800000"/>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grpSp>
      <p:grpSp>
        <p:nvGrpSpPr>
          <p:cNvPr id="28677" name="Group 25">
            <a:extLst>
              <a:ext uri="{FF2B5EF4-FFF2-40B4-BE49-F238E27FC236}">
                <a16:creationId xmlns:a16="http://schemas.microsoft.com/office/drawing/2014/main" id="{8AC9E3F4-CD34-6836-21EF-B9A6CD80C4DB}"/>
              </a:ext>
            </a:extLst>
          </p:cNvPr>
          <p:cNvGrpSpPr>
            <a:grpSpLocks/>
          </p:cNvGrpSpPr>
          <p:nvPr/>
        </p:nvGrpSpPr>
        <p:grpSpPr bwMode="auto">
          <a:xfrm>
            <a:off x="2424113" y="1157742"/>
            <a:ext cx="1708150" cy="2303462"/>
            <a:chOff x="567" y="391"/>
            <a:chExt cx="1076" cy="1451"/>
          </a:xfrm>
        </p:grpSpPr>
        <p:grpSp>
          <p:nvGrpSpPr>
            <p:cNvPr id="28682" name="Group 26">
              <a:extLst>
                <a:ext uri="{FF2B5EF4-FFF2-40B4-BE49-F238E27FC236}">
                  <a16:creationId xmlns:a16="http://schemas.microsoft.com/office/drawing/2014/main" id="{EFA94DB3-A948-6928-F310-FCAE9ED7C27E}"/>
                </a:ext>
              </a:extLst>
            </p:cNvPr>
            <p:cNvGrpSpPr>
              <a:grpSpLocks/>
            </p:cNvGrpSpPr>
            <p:nvPr/>
          </p:nvGrpSpPr>
          <p:grpSpPr bwMode="auto">
            <a:xfrm>
              <a:off x="703" y="754"/>
              <a:ext cx="817" cy="1088"/>
              <a:chOff x="657" y="799"/>
              <a:chExt cx="817" cy="1088"/>
            </a:xfrm>
          </p:grpSpPr>
          <p:sp>
            <p:nvSpPr>
              <p:cNvPr id="28684" name="Rectangle 27">
                <a:extLst>
                  <a:ext uri="{FF2B5EF4-FFF2-40B4-BE49-F238E27FC236}">
                    <a16:creationId xmlns:a16="http://schemas.microsoft.com/office/drawing/2014/main" id="{B92B0375-329E-5268-5235-09429CCD119E}"/>
                  </a:ext>
                </a:extLst>
              </p:cNvPr>
              <p:cNvSpPr>
                <a:spLocks noChangeArrowheads="1"/>
              </p:cNvSpPr>
              <p:nvPr/>
            </p:nvSpPr>
            <p:spPr bwMode="auto">
              <a:xfrm>
                <a:off x="657" y="799"/>
                <a:ext cx="817" cy="1088"/>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685" name="Oval 28">
                <a:extLst>
                  <a:ext uri="{FF2B5EF4-FFF2-40B4-BE49-F238E27FC236}">
                    <a16:creationId xmlns:a16="http://schemas.microsoft.com/office/drawing/2014/main" id="{19B20052-9BEB-7348-D68D-B6328587FD3F}"/>
                  </a:ext>
                </a:extLst>
              </p:cNvPr>
              <p:cNvSpPr>
                <a:spLocks noChangeArrowheads="1"/>
              </p:cNvSpPr>
              <p:nvPr/>
            </p:nvSpPr>
            <p:spPr bwMode="auto">
              <a:xfrm>
                <a:off x="703" y="845"/>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686" name="Oval 29">
                <a:extLst>
                  <a:ext uri="{FF2B5EF4-FFF2-40B4-BE49-F238E27FC236}">
                    <a16:creationId xmlns:a16="http://schemas.microsoft.com/office/drawing/2014/main" id="{FD535BC6-A703-08B3-7402-8490636CCDB9}"/>
                  </a:ext>
                </a:extLst>
              </p:cNvPr>
              <p:cNvSpPr>
                <a:spLocks noChangeArrowheads="1"/>
              </p:cNvSpPr>
              <p:nvPr/>
            </p:nvSpPr>
            <p:spPr bwMode="auto">
              <a:xfrm>
                <a:off x="839" y="845"/>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687" name="Oval 30">
                <a:extLst>
                  <a:ext uri="{FF2B5EF4-FFF2-40B4-BE49-F238E27FC236}">
                    <a16:creationId xmlns:a16="http://schemas.microsoft.com/office/drawing/2014/main" id="{CACF2D9D-2E10-AF10-365B-A47A79896726}"/>
                  </a:ext>
                </a:extLst>
              </p:cNvPr>
              <p:cNvSpPr>
                <a:spLocks noChangeArrowheads="1"/>
              </p:cNvSpPr>
              <p:nvPr/>
            </p:nvSpPr>
            <p:spPr bwMode="auto">
              <a:xfrm>
                <a:off x="1338" y="845"/>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688" name="Oval 31">
                <a:extLst>
                  <a:ext uri="{FF2B5EF4-FFF2-40B4-BE49-F238E27FC236}">
                    <a16:creationId xmlns:a16="http://schemas.microsoft.com/office/drawing/2014/main" id="{6921CDFE-E73F-70E7-109B-ABDB8C5CC862}"/>
                  </a:ext>
                </a:extLst>
              </p:cNvPr>
              <p:cNvSpPr>
                <a:spLocks noChangeArrowheads="1"/>
              </p:cNvSpPr>
              <p:nvPr/>
            </p:nvSpPr>
            <p:spPr bwMode="auto">
              <a:xfrm>
                <a:off x="1247" y="845"/>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689" name="Oval 32">
                <a:extLst>
                  <a:ext uri="{FF2B5EF4-FFF2-40B4-BE49-F238E27FC236}">
                    <a16:creationId xmlns:a16="http://schemas.microsoft.com/office/drawing/2014/main" id="{CDC959A2-4349-00A2-510C-4CDB84A6FD25}"/>
                  </a:ext>
                </a:extLst>
              </p:cNvPr>
              <p:cNvSpPr>
                <a:spLocks noChangeArrowheads="1"/>
              </p:cNvSpPr>
              <p:nvPr/>
            </p:nvSpPr>
            <p:spPr bwMode="auto">
              <a:xfrm>
                <a:off x="1156" y="845"/>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690" name="Oval 33">
                <a:extLst>
                  <a:ext uri="{FF2B5EF4-FFF2-40B4-BE49-F238E27FC236}">
                    <a16:creationId xmlns:a16="http://schemas.microsoft.com/office/drawing/2014/main" id="{35185F95-4736-BA08-B556-A0C501A406A0}"/>
                  </a:ext>
                </a:extLst>
              </p:cNvPr>
              <p:cNvSpPr>
                <a:spLocks noChangeArrowheads="1"/>
              </p:cNvSpPr>
              <p:nvPr/>
            </p:nvSpPr>
            <p:spPr bwMode="auto">
              <a:xfrm>
                <a:off x="1066" y="845"/>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691" name="Oval 34">
                <a:extLst>
                  <a:ext uri="{FF2B5EF4-FFF2-40B4-BE49-F238E27FC236}">
                    <a16:creationId xmlns:a16="http://schemas.microsoft.com/office/drawing/2014/main" id="{FC49E672-6D52-69D1-F765-012CD8533256}"/>
                  </a:ext>
                </a:extLst>
              </p:cNvPr>
              <p:cNvSpPr>
                <a:spLocks noChangeArrowheads="1"/>
              </p:cNvSpPr>
              <p:nvPr/>
            </p:nvSpPr>
            <p:spPr bwMode="auto">
              <a:xfrm>
                <a:off x="975" y="845"/>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692" name="Oval 35">
                <a:extLst>
                  <a:ext uri="{FF2B5EF4-FFF2-40B4-BE49-F238E27FC236}">
                    <a16:creationId xmlns:a16="http://schemas.microsoft.com/office/drawing/2014/main" id="{27E08EEE-DED2-619D-0CF4-10689F8AF843}"/>
                  </a:ext>
                </a:extLst>
              </p:cNvPr>
              <p:cNvSpPr>
                <a:spLocks noChangeArrowheads="1"/>
              </p:cNvSpPr>
              <p:nvPr/>
            </p:nvSpPr>
            <p:spPr bwMode="auto">
              <a:xfrm>
                <a:off x="749" y="935"/>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693" name="Oval 36">
                <a:extLst>
                  <a:ext uri="{FF2B5EF4-FFF2-40B4-BE49-F238E27FC236}">
                    <a16:creationId xmlns:a16="http://schemas.microsoft.com/office/drawing/2014/main" id="{3ABA3B29-DA03-272D-263E-A9AF4FAF3B4D}"/>
                  </a:ext>
                </a:extLst>
              </p:cNvPr>
              <p:cNvSpPr>
                <a:spLocks noChangeArrowheads="1"/>
              </p:cNvSpPr>
              <p:nvPr/>
            </p:nvSpPr>
            <p:spPr bwMode="auto">
              <a:xfrm>
                <a:off x="885" y="935"/>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694" name="Oval 37">
                <a:extLst>
                  <a:ext uri="{FF2B5EF4-FFF2-40B4-BE49-F238E27FC236}">
                    <a16:creationId xmlns:a16="http://schemas.microsoft.com/office/drawing/2014/main" id="{BB490BE0-B939-9C46-73CC-07D7DFA51E1B}"/>
                  </a:ext>
                </a:extLst>
              </p:cNvPr>
              <p:cNvSpPr>
                <a:spLocks noChangeArrowheads="1"/>
              </p:cNvSpPr>
              <p:nvPr/>
            </p:nvSpPr>
            <p:spPr bwMode="auto">
              <a:xfrm>
                <a:off x="1384" y="935"/>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695" name="Oval 38">
                <a:extLst>
                  <a:ext uri="{FF2B5EF4-FFF2-40B4-BE49-F238E27FC236}">
                    <a16:creationId xmlns:a16="http://schemas.microsoft.com/office/drawing/2014/main" id="{913327CB-AF6C-0248-25DD-6A7FADD88458}"/>
                  </a:ext>
                </a:extLst>
              </p:cNvPr>
              <p:cNvSpPr>
                <a:spLocks noChangeArrowheads="1"/>
              </p:cNvSpPr>
              <p:nvPr/>
            </p:nvSpPr>
            <p:spPr bwMode="auto">
              <a:xfrm>
                <a:off x="1293" y="935"/>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696" name="Oval 39">
                <a:extLst>
                  <a:ext uri="{FF2B5EF4-FFF2-40B4-BE49-F238E27FC236}">
                    <a16:creationId xmlns:a16="http://schemas.microsoft.com/office/drawing/2014/main" id="{E6F29163-75F1-DE90-F472-DA246F065B7F}"/>
                  </a:ext>
                </a:extLst>
              </p:cNvPr>
              <p:cNvSpPr>
                <a:spLocks noChangeArrowheads="1"/>
              </p:cNvSpPr>
              <p:nvPr/>
            </p:nvSpPr>
            <p:spPr bwMode="auto">
              <a:xfrm>
                <a:off x="1202" y="935"/>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697" name="Oval 40">
                <a:extLst>
                  <a:ext uri="{FF2B5EF4-FFF2-40B4-BE49-F238E27FC236}">
                    <a16:creationId xmlns:a16="http://schemas.microsoft.com/office/drawing/2014/main" id="{14E10AB7-02A4-22B4-BA8A-76F39A27F1F1}"/>
                  </a:ext>
                </a:extLst>
              </p:cNvPr>
              <p:cNvSpPr>
                <a:spLocks noChangeArrowheads="1"/>
              </p:cNvSpPr>
              <p:nvPr/>
            </p:nvSpPr>
            <p:spPr bwMode="auto">
              <a:xfrm>
                <a:off x="1112" y="935"/>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698" name="Oval 41">
                <a:extLst>
                  <a:ext uri="{FF2B5EF4-FFF2-40B4-BE49-F238E27FC236}">
                    <a16:creationId xmlns:a16="http://schemas.microsoft.com/office/drawing/2014/main" id="{A1CBE5E5-EA92-7980-B11F-5CEF9D685438}"/>
                  </a:ext>
                </a:extLst>
              </p:cNvPr>
              <p:cNvSpPr>
                <a:spLocks noChangeArrowheads="1"/>
              </p:cNvSpPr>
              <p:nvPr/>
            </p:nvSpPr>
            <p:spPr bwMode="auto">
              <a:xfrm>
                <a:off x="1021" y="935"/>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699" name="Oval 42">
                <a:extLst>
                  <a:ext uri="{FF2B5EF4-FFF2-40B4-BE49-F238E27FC236}">
                    <a16:creationId xmlns:a16="http://schemas.microsoft.com/office/drawing/2014/main" id="{BE785129-63A8-174C-353E-B4541FD8BC1A}"/>
                  </a:ext>
                </a:extLst>
              </p:cNvPr>
              <p:cNvSpPr>
                <a:spLocks noChangeArrowheads="1"/>
              </p:cNvSpPr>
              <p:nvPr/>
            </p:nvSpPr>
            <p:spPr bwMode="auto">
              <a:xfrm>
                <a:off x="703" y="1026"/>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00" name="Oval 43">
                <a:extLst>
                  <a:ext uri="{FF2B5EF4-FFF2-40B4-BE49-F238E27FC236}">
                    <a16:creationId xmlns:a16="http://schemas.microsoft.com/office/drawing/2014/main" id="{455F3AE4-0AC3-5BD8-FC98-75E00EEC2180}"/>
                  </a:ext>
                </a:extLst>
              </p:cNvPr>
              <p:cNvSpPr>
                <a:spLocks noChangeArrowheads="1"/>
              </p:cNvSpPr>
              <p:nvPr/>
            </p:nvSpPr>
            <p:spPr bwMode="auto">
              <a:xfrm>
                <a:off x="839" y="1026"/>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01" name="Oval 44">
                <a:extLst>
                  <a:ext uri="{FF2B5EF4-FFF2-40B4-BE49-F238E27FC236}">
                    <a16:creationId xmlns:a16="http://schemas.microsoft.com/office/drawing/2014/main" id="{96E4A940-928B-9135-262F-FCBC1E36EE72}"/>
                  </a:ext>
                </a:extLst>
              </p:cNvPr>
              <p:cNvSpPr>
                <a:spLocks noChangeArrowheads="1"/>
              </p:cNvSpPr>
              <p:nvPr/>
            </p:nvSpPr>
            <p:spPr bwMode="auto">
              <a:xfrm>
                <a:off x="1338" y="1026"/>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02" name="Oval 45">
                <a:extLst>
                  <a:ext uri="{FF2B5EF4-FFF2-40B4-BE49-F238E27FC236}">
                    <a16:creationId xmlns:a16="http://schemas.microsoft.com/office/drawing/2014/main" id="{407720D8-4A7F-A67E-30E8-076AD29082A8}"/>
                  </a:ext>
                </a:extLst>
              </p:cNvPr>
              <p:cNvSpPr>
                <a:spLocks noChangeArrowheads="1"/>
              </p:cNvSpPr>
              <p:nvPr/>
            </p:nvSpPr>
            <p:spPr bwMode="auto">
              <a:xfrm>
                <a:off x="1247" y="1026"/>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03" name="Oval 46">
                <a:extLst>
                  <a:ext uri="{FF2B5EF4-FFF2-40B4-BE49-F238E27FC236}">
                    <a16:creationId xmlns:a16="http://schemas.microsoft.com/office/drawing/2014/main" id="{0E09FB7B-0FC5-4CB7-4460-145F97D7C991}"/>
                  </a:ext>
                </a:extLst>
              </p:cNvPr>
              <p:cNvSpPr>
                <a:spLocks noChangeArrowheads="1"/>
              </p:cNvSpPr>
              <p:nvPr/>
            </p:nvSpPr>
            <p:spPr bwMode="auto">
              <a:xfrm>
                <a:off x="1156" y="1026"/>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04" name="Oval 47">
                <a:extLst>
                  <a:ext uri="{FF2B5EF4-FFF2-40B4-BE49-F238E27FC236}">
                    <a16:creationId xmlns:a16="http://schemas.microsoft.com/office/drawing/2014/main" id="{AEB3A755-28B6-F2D3-C18F-AFAA8527E5D2}"/>
                  </a:ext>
                </a:extLst>
              </p:cNvPr>
              <p:cNvSpPr>
                <a:spLocks noChangeArrowheads="1"/>
              </p:cNvSpPr>
              <p:nvPr/>
            </p:nvSpPr>
            <p:spPr bwMode="auto">
              <a:xfrm>
                <a:off x="1066" y="1026"/>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05" name="Oval 48">
                <a:extLst>
                  <a:ext uri="{FF2B5EF4-FFF2-40B4-BE49-F238E27FC236}">
                    <a16:creationId xmlns:a16="http://schemas.microsoft.com/office/drawing/2014/main" id="{943EC612-1B29-5AD3-F9C7-8B7EEAF72868}"/>
                  </a:ext>
                </a:extLst>
              </p:cNvPr>
              <p:cNvSpPr>
                <a:spLocks noChangeArrowheads="1"/>
              </p:cNvSpPr>
              <p:nvPr/>
            </p:nvSpPr>
            <p:spPr bwMode="auto">
              <a:xfrm>
                <a:off x="975" y="1026"/>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06" name="Oval 49">
                <a:extLst>
                  <a:ext uri="{FF2B5EF4-FFF2-40B4-BE49-F238E27FC236}">
                    <a16:creationId xmlns:a16="http://schemas.microsoft.com/office/drawing/2014/main" id="{683690D5-0118-DEA6-7154-E64405B31A7F}"/>
                  </a:ext>
                </a:extLst>
              </p:cNvPr>
              <p:cNvSpPr>
                <a:spLocks noChangeArrowheads="1"/>
              </p:cNvSpPr>
              <p:nvPr/>
            </p:nvSpPr>
            <p:spPr bwMode="auto">
              <a:xfrm>
                <a:off x="703" y="1118"/>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07" name="Oval 50">
                <a:extLst>
                  <a:ext uri="{FF2B5EF4-FFF2-40B4-BE49-F238E27FC236}">
                    <a16:creationId xmlns:a16="http://schemas.microsoft.com/office/drawing/2014/main" id="{A92E127D-EF98-5F1A-7AAF-E2C61E2FB89C}"/>
                  </a:ext>
                </a:extLst>
              </p:cNvPr>
              <p:cNvSpPr>
                <a:spLocks noChangeArrowheads="1"/>
              </p:cNvSpPr>
              <p:nvPr/>
            </p:nvSpPr>
            <p:spPr bwMode="auto">
              <a:xfrm>
                <a:off x="839" y="1118"/>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08" name="Oval 51">
                <a:extLst>
                  <a:ext uri="{FF2B5EF4-FFF2-40B4-BE49-F238E27FC236}">
                    <a16:creationId xmlns:a16="http://schemas.microsoft.com/office/drawing/2014/main" id="{E5712707-BF47-CF39-B0F7-B553AE059146}"/>
                  </a:ext>
                </a:extLst>
              </p:cNvPr>
              <p:cNvSpPr>
                <a:spLocks noChangeArrowheads="1"/>
              </p:cNvSpPr>
              <p:nvPr/>
            </p:nvSpPr>
            <p:spPr bwMode="auto">
              <a:xfrm>
                <a:off x="1338" y="1118"/>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09" name="Oval 52">
                <a:extLst>
                  <a:ext uri="{FF2B5EF4-FFF2-40B4-BE49-F238E27FC236}">
                    <a16:creationId xmlns:a16="http://schemas.microsoft.com/office/drawing/2014/main" id="{09C8C8DA-28F9-F920-3AA3-65863B8E2CA6}"/>
                  </a:ext>
                </a:extLst>
              </p:cNvPr>
              <p:cNvSpPr>
                <a:spLocks noChangeArrowheads="1"/>
              </p:cNvSpPr>
              <p:nvPr/>
            </p:nvSpPr>
            <p:spPr bwMode="auto">
              <a:xfrm>
                <a:off x="1247" y="1118"/>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10" name="Oval 53">
                <a:extLst>
                  <a:ext uri="{FF2B5EF4-FFF2-40B4-BE49-F238E27FC236}">
                    <a16:creationId xmlns:a16="http://schemas.microsoft.com/office/drawing/2014/main" id="{93FE7D44-6CC6-1078-F549-B74C06F9000D}"/>
                  </a:ext>
                </a:extLst>
              </p:cNvPr>
              <p:cNvSpPr>
                <a:spLocks noChangeArrowheads="1"/>
              </p:cNvSpPr>
              <p:nvPr/>
            </p:nvSpPr>
            <p:spPr bwMode="auto">
              <a:xfrm>
                <a:off x="1156" y="1118"/>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11" name="Oval 54">
                <a:extLst>
                  <a:ext uri="{FF2B5EF4-FFF2-40B4-BE49-F238E27FC236}">
                    <a16:creationId xmlns:a16="http://schemas.microsoft.com/office/drawing/2014/main" id="{B4148C8D-21DD-F418-C2CD-D54E1C319633}"/>
                  </a:ext>
                </a:extLst>
              </p:cNvPr>
              <p:cNvSpPr>
                <a:spLocks noChangeArrowheads="1"/>
              </p:cNvSpPr>
              <p:nvPr/>
            </p:nvSpPr>
            <p:spPr bwMode="auto">
              <a:xfrm>
                <a:off x="1066" y="1118"/>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12" name="Oval 55">
                <a:extLst>
                  <a:ext uri="{FF2B5EF4-FFF2-40B4-BE49-F238E27FC236}">
                    <a16:creationId xmlns:a16="http://schemas.microsoft.com/office/drawing/2014/main" id="{F1D5D08C-0376-D0A5-6BBD-D9D1D24E8FBC}"/>
                  </a:ext>
                </a:extLst>
              </p:cNvPr>
              <p:cNvSpPr>
                <a:spLocks noChangeArrowheads="1"/>
              </p:cNvSpPr>
              <p:nvPr/>
            </p:nvSpPr>
            <p:spPr bwMode="auto">
              <a:xfrm>
                <a:off x="975" y="1118"/>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13" name="Oval 56">
                <a:extLst>
                  <a:ext uri="{FF2B5EF4-FFF2-40B4-BE49-F238E27FC236}">
                    <a16:creationId xmlns:a16="http://schemas.microsoft.com/office/drawing/2014/main" id="{62DA4090-468D-888F-C0FF-9081B81F322C}"/>
                  </a:ext>
                </a:extLst>
              </p:cNvPr>
              <p:cNvSpPr>
                <a:spLocks noChangeArrowheads="1"/>
              </p:cNvSpPr>
              <p:nvPr/>
            </p:nvSpPr>
            <p:spPr bwMode="auto">
              <a:xfrm>
                <a:off x="749" y="1208"/>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14" name="Oval 57">
                <a:extLst>
                  <a:ext uri="{FF2B5EF4-FFF2-40B4-BE49-F238E27FC236}">
                    <a16:creationId xmlns:a16="http://schemas.microsoft.com/office/drawing/2014/main" id="{052A50F4-9177-8C00-CBF7-55D6C546B078}"/>
                  </a:ext>
                </a:extLst>
              </p:cNvPr>
              <p:cNvSpPr>
                <a:spLocks noChangeArrowheads="1"/>
              </p:cNvSpPr>
              <p:nvPr/>
            </p:nvSpPr>
            <p:spPr bwMode="auto">
              <a:xfrm>
                <a:off x="885" y="1208"/>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15" name="Oval 58">
                <a:extLst>
                  <a:ext uri="{FF2B5EF4-FFF2-40B4-BE49-F238E27FC236}">
                    <a16:creationId xmlns:a16="http://schemas.microsoft.com/office/drawing/2014/main" id="{D99C7817-18D5-A697-65FF-587D446E2B2C}"/>
                  </a:ext>
                </a:extLst>
              </p:cNvPr>
              <p:cNvSpPr>
                <a:spLocks noChangeArrowheads="1"/>
              </p:cNvSpPr>
              <p:nvPr/>
            </p:nvSpPr>
            <p:spPr bwMode="auto">
              <a:xfrm>
                <a:off x="1384" y="1208"/>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16" name="Oval 59">
                <a:extLst>
                  <a:ext uri="{FF2B5EF4-FFF2-40B4-BE49-F238E27FC236}">
                    <a16:creationId xmlns:a16="http://schemas.microsoft.com/office/drawing/2014/main" id="{09CEC78F-D8AD-C746-03E3-3C3F04C0D3B4}"/>
                  </a:ext>
                </a:extLst>
              </p:cNvPr>
              <p:cNvSpPr>
                <a:spLocks noChangeArrowheads="1"/>
              </p:cNvSpPr>
              <p:nvPr/>
            </p:nvSpPr>
            <p:spPr bwMode="auto">
              <a:xfrm>
                <a:off x="1293" y="1208"/>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17" name="Oval 60">
                <a:extLst>
                  <a:ext uri="{FF2B5EF4-FFF2-40B4-BE49-F238E27FC236}">
                    <a16:creationId xmlns:a16="http://schemas.microsoft.com/office/drawing/2014/main" id="{6A8C50DB-F183-D223-BFE3-4DA85EBADB88}"/>
                  </a:ext>
                </a:extLst>
              </p:cNvPr>
              <p:cNvSpPr>
                <a:spLocks noChangeArrowheads="1"/>
              </p:cNvSpPr>
              <p:nvPr/>
            </p:nvSpPr>
            <p:spPr bwMode="auto">
              <a:xfrm>
                <a:off x="1202" y="1208"/>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18" name="Oval 61">
                <a:extLst>
                  <a:ext uri="{FF2B5EF4-FFF2-40B4-BE49-F238E27FC236}">
                    <a16:creationId xmlns:a16="http://schemas.microsoft.com/office/drawing/2014/main" id="{E16BB50D-39AB-CDA2-A5B2-3081068FEF30}"/>
                  </a:ext>
                </a:extLst>
              </p:cNvPr>
              <p:cNvSpPr>
                <a:spLocks noChangeArrowheads="1"/>
              </p:cNvSpPr>
              <p:nvPr/>
            </p:nvSpPr>
            <p:spPr bwMode="auto">
              <a:xfrm>
                <a:off x="1112" y="1208"/>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19" name="Oval 62">
                <a:extLst>
                  <a:ext uri="{FF2B5EF4-FFF2-40B4-BE49-F238E27FC236}">
                    <a16:creationId xmlns:a16="http://schemas.microsoft.com/office/drawing/2014/main" id="{0B5094FE-359B-B475-2A8C-80DC584D1085}"/>
                  </a:ext>
                </a:extLst>
              </p:cNvPr>
              <p:cNvSpPr>
                <a:spLocks noChangeArrowheads="1"/>
              </p:cNvSpPr>
              <p:nvPr/>
            </p:nvSpPr>
            <p:spPr bwMode="auto">
              <a:xfrm>
                <a:off x="1021" y="1208"/>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20" name="Oval 63">
                <a:extLst>
                  <a:ext uri="{FF2B5EF4-FFF2-40B4-BE49-F238E27FC236}">
                    <a16:creationId xmlns:a16="http://schemas.microsoft.com/office/drawing/2014/main" id="{672D58B2-CF82-04B6-7328-6724CCC30C70}"/>
                  </a:ext>
                </a:extLst>
              </p:cNvPr>
              <p:cNvSpPr>
                <a:spLocks noChangeArrowheads="1"/>
              </p:cNvSpPr>
              <p:nvPr/>
            </p:nvSpPr>
            <p:spPr bwMode="auto">
              <a:xfrm>
                <a:off x="703" y="1299"/>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21" name="Oval 64">
                <a:extLst>
                  <a:ext uri="{FF2B5EF4-FFF2-40B4-BE49-F238E27FC236}">
                    <a16:creationId xmlns:a16="http://schemas.microsoft.com/office/drawing/2014/main" id="{E52D5662-5344-C787-D0C8-2D947EBC74F6}"/>
                  </a:ext>
                </a:extLst>
              </p:cNvPr>
              <p:cNvSpPr>
                <a:spLocks noChangeArrowheads="1"/>
              </p:cNvSpPr>
              <p:nvPr/>
            </p:nvSpPr>
            <p:spPr bwMode="auto">
              <a:xfrm>
                <a:off x="839" y="1299"/>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22" name="Oval 65">
                <a:extLst>
                  <a:ext uri="{FF2B5EF4-FFF2-40B4-BE49-F238E27FC236}">
                    <a16:creationId xmlns:a16="http://schemas.microsoft.com/office/drawing/2014/main" id="{DC8C040E-860C-CAC0-59AD-8A61E8062E83}"/>
                  </a:ext>
                </a:extLst>
              </p:cNvPr>
              <p:cNvSpPr>
                <a:spLocks noChangeArrowheads="1"/>
              </p:cNvSpPr>
              <p:nvPr/>
            </p:nvSpPr>
            <p:spPr bwMode="auto">
              <a:xfrm>
                <a:off x="1338" y="1299"/>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23" name="Oval 66">
                <a:extLst>
                  <a:ext uri="{FF2B5EF4-FFF2-40B4-BE49-F238E27FC236}">
                    <a16:creationId xmlns:a16="http://schemas.microsoft.com/office/drawing/2014/main" id="{7992B5F1-DF77-F306-0453-4BE7E549746A}"/>
                  </a:ext>
                </a:extLst>
              </p:cNvPr>
              <p:cNvSpPr>
                <a:spLocks noChangeArrowheads="1"/>
              </p:cNvSpPr>
              <p:nvPr/>
            </p:nvSpPr>
            <p:spPr bwMode="auto">
              <a:xfrm>
                <a:off x="1247" y="1299"/>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24" name="Oval 67">
                <a:extLst>
                  <a:ext uri="{FF2B5EF4-FFF2-40B4-BE49-F238E27FC236}">
                    <a16:creationId xmlns:a16="http://schemas.microsoft.com/office/drawing/2014/main" id="{CA7E5343-FE34-8383-BD6A-7574397CBA38}"/>
                  </a:ext>
                </a:extLst>
              </p:cNvPr>
              <p:cNvSpPr>
                <a:spLocks noChangeArrowheads="1"/>
              </p:cNvSpPr>
              <p:nvPr/>
            </p:nvSpPr>
            <p:spPr bwMode="auto">
              <a:xfrm>
                <a:off x="1156" y="1299"/>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25" name="Oval 68">
                <a:extLst>
                  <a:ext uri="{FF2B5EF4-FFF2-40B4-BE49-F238E27FC236}">
                    <a16:creationId xmlns:a16="http://schemas.microsoft.com/office/drawing/2014/main" id="{AEF0491D-BCA1-620D-CF43-540C02B9A7DE}"/>
                  </a:ext>
                </a:extLst>
              </p:cNvPr>
              <p:cNvSpPr>
                <a:spLocks noChangeArrowheads="1"/>
              </p:cNvSpPr>
              <p:nvPr/>
            </p:nvSpPr>
            <p:spPr bwMode="auto">
              <a:xfrm>
                <a:off x="1066" y="1299"/>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26" name="Oval 69">
                <a:extLst>
                  <a:ext uri="{FF2B5EF4-FFF2-40B4-BE49-F238E27FC236}">
                    <a16:creationId xmlns:a16="http://schemas.microsoft.com/office/drawing/2014/main" id="{33E3451C-329A-AAB3-503C-F8E95B67782B}"/>
                  </a:ext>
                </a:extLst>
              </p:cNvPr>
              <p:cNvSpPr>
                <a:spLocks noChangeArrowheads="1"/>
              </p:cNvSpPr>
              <p:nvPr/>
            </p:nvSpPr>
            <p:spPr bwMode="auto">
              <a:xfrm>
                <a:off x="975" y="1299"/>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27" name="Oval 70">
                <a:extLst>
                  <a:ext uri="{FF2B5EF4-FFF2-40B4-BE49-F238E27FC236}">
                    <a16:creationId xmlns:a16="http://schemas.microsoft.com/office/drawing/2014/main" id="{7D09BA43-2C68-5E01-6AD8-AEEE0B930770}"/>
                  </a:ext>
                </a:extLst>
              </p:cNvPr>
              <p:cNvSpPr>
                <a:spLocks noChangeArrowheads="1"/>
              </p:cNvSpPr>
              <p:nvPr/>
            </p:nvSpPr>
            <p:spPr bwMode="auto">
              <a:xfrm>
                <a:off x="703" y="1390"/>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28" name="Oval 71">
                <a:extLst>
                  <a:ext uri="{FF2B5EF4-FFF2-40B4-BE49-F238E27FC236}">
                    <a16:creationId xmlns:a16="http://schemas.microsoft.com/office/drawing/2014/main" id="{9D2484B3-31DC-4AF7-AB75-2D48A02C8E8E}"/>
                  </a:ext>
                </a:extLst>
              </p:cNvPr>
              <p:cNvSpPr>
                <a:spLocks noChangeArrowheads="1"/>
              </p:cNvSpPr>
              <p:nvPr/>
            </p:nvSpPr>
            <p:spPr bwMode="auto">
              <a:xfrm>
                <a:off x="839" y="1390"/>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29" name="Oval 72">
                <a:extLst>
                  <a:ext uri="{FF2B5EF4-FFF2-40B4-BE49-F238E27FC236}">
                    <a16:creationId xmlns:a16="http://schemas.microsoft.com/office/drawing/2014/main" id="{07743989-324A-5CF9-D564-F3B858826743}"/>
                  </a:ext>
                </a:extLst>
              </p:cNvPr>
              <p:cNvSpPr>
                <a:spLocks noChangeArrowheads="1"/>
              </p:cNvSpPr>
              <p:nvPr/>
            </p:nvSpPr>
            <p:spPr bwMode="auto">
              <a:xfrm>
                <a:off x="1338" y="1390"/>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30" name="Oval 73">
                <a:extLst>
                  <a:ext uri="{FF2B5EF4-FFF2-40B4-BE49-F238E27FC236}">
                    <a16:creationId xmlns:a16="http://schemas.microsoft.com/office/drawing/2014/main" id="{759E5ABC-4CC4-F079-791C-C97E99692D02}"/>
                  </a:ext>
                </a:extLst>
              </p:cNvPr>
              <p:cNvSpPr>
                <a:spLocks noChangeArrowheads="1"/>
              </p:cNvSpPr>
              <p:nvPr/>
            </p:nvSpPr>
            <p:spPr bwMode="auto">
              <a:xfrm>
                <a:off x="1247" y="1390"/>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31" name="Oval 74">
                <a:extLst>
                  <a:ext uri="{FF2B5EF4-FFF2-40B4-BE49-F238E27FC236}">
                    <a16:creationId xmlns:a16="http://schemas.microsoft.com/office/drawing/2014/main" id="{921E2F85-2D5A-79D8-67D8-B85A5F67E803}"/>
                  </a:ext>
                </a:extLst>
              </p:cNvPr>
              <p:cNvSpPr>
                <a:spLocks noChangeArrowheads="1"/>
              </p:cNvSpPr>
              <p:nvPr/>
            </p:nvSpPr>
            <p:spPr bwMode="auto">
              <a:xfrm>
                <a:off x="1156" y="1390"/>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32" name="Oval 75">
                <a:extLst>
                  <a:ext uri="{FF2B5EF4-FFF2-40B4-BE49-F238E27FC236}">
                    <a16:creationId xmlns:a16="http://schemas.microsoft.com/office/drawing/2014/main" id="{3C476529-1C73-EAC3-F485-B01551474C0D}"/>
                  </a:ext>
                </a:extLst>
              </p:cNvPr>
              <p:cNvSpPr>
                <a:spLocks noChangeArrowheads="1"/>
              </p:cNvSpPr>
              <p:nvPr/>
            </p:nvSpPr>
            <p:spPr bwMode="auto">
              <a:xfrm>
                <a:off x="1066" y="1390"/>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33" name="Oval 76">
                <a:extLst>
                  <a:ext uri="{FF2B5EF4-FFF2-40B4-BE49-F238E27FC236}">
                    <a16:creationId xmlns:a16="http://schemas.microsoft.com/office/drawing/2014/main" id="{0292BB9A-4130-F17B-8BDF-4EE145646542}"/>
                  </a:ext>
                </a:extLst>
              </p:cNvPr>
              <p:cNvSpPr>
                <a:spLocks noChangeArrowheads="1"/>
              </p:cNvSpPr>
              <p:nvPr/>
            </p:nvSpPr>
            <p:spPr bwMode="auto">
              <a:xfrm>
                <a:off x="975" y="1390"/>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34" name="Oval 77">
                <a:extLst>
                  <a:ext uri="{FF2B5EF4-FFF2-40B4-BE49-F238E27FC236}">
                    <a16:creationId xmlns:a16="http://schemas.microsoft.com/office/drawing/2014/main" id="{47C46A37-6F92-67DB-01F5-E5E52E7AD273}"/>
                  </a:ext>
                </a:extLst>
              </p:cNvPr>
              <p:cNvSpPr>
                <a:spLocks noChangeArrowheads="1"/>
              </p:cNvSpPr>
              <p:nvPr/>
            </p:nvSpPr>
            <p:spPr bwMode="auto">
              <a:xfrm>
                <a:off x="749" y="1480"/>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35" name="Oval 78">
                <a:extLst>
                  <a:ext uri="{FF2B5EF4-FFF2-40B4-BE49-F238E27FC236}">
                    <a16:creationId xmlns:a16="http://schemas.microsoft.com/office/drawing/2014/main" id="{EC22CD1A-B036-C289-50C0-B9573DD7D5CB}"/>
                  </a:ext>
                </a:extLst>
              </p:cNvPr>
              <p:cNvSpPr>
                <a:spLocks noChangeArrowheads="1"/>
              </p:cNvSpPr>
              <p:nvPr/>
            </p:nvSpPr>
            <p:spPr bwMode="auto">
              <a:xfrm>
                <a:off x="885" y="1480"/>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36" name="Oval 79">
                <a:extLst>
                  <a:ext uri="{FF2B5EF4-FFF2-40B4-BE49-F238E27FC236}">
                    <a16:creationId xmlns:a16="http://schemas.microsoft.com/office/drawing/2014/main" id="{17C41C4F-2764-7E81-6198-8205FA248028}"/>
                  </a:ext>
                </a:extLst>
              </p:cNvPr>
              <p:cNvSpPr>
                <a:spLocks noChangeArrowheads="1"/>
              </p:cNvSpPr>
              <p:nvPr/>
            </p:nvSpPr>
            <p:spPr bwMode="auto">
              <a:xfrm>
                <a:off x="1384" y="1480"/>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37" name="Oval 80">
                <a:extLst>
                  <a:ext uri="{FF2B5EF4-FFF2-40B4-BE49-F238E27FC236}">
                    <a16:creationId xmlns:a16="http://schemas.microsoft.com/office/drawing/2014/main" id="{9FBD159B-8966-2D43-5195-9D7D9F6202CB}"/>
                  </a:ext>
                </a:extLst>
              </p:cNvPr>
              <p:cNvSpPr>
                <a:spLocks noChangeArrowheads="1"/>
              </p:cNvSpPr>
              <p:nvPr/>
            </p:nvSpPr>
            <p:spPr bwMode="auto">
              <a:xfrm>
                <a:off x="1293" y="1480"/>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38" name="Oval 81">
                <a:extLst>
                  <a:ext uri="{FF2B5EF4-FFF2-40B4-BE49-F238E27FC236}">
                    <a16:creationId xmlns:a16="http://schemas.microsoft.com/office/drawing/2014/main" id="{1A5B9F0E-56DD-386A-DC8D-443E5F3ED852}"/>
                  </a:ext>
                </a:extLst>
              </p:cNvPr>
              <p:cNvSpPr>
                <a:spLocks noChangeArrowheads="1"/>
              </p:cNvSpPr>
              <p:nvPr/>
            </p:nvSpPr>
            <p:spPr bwMode="auto">
              <a:xfrm>
                <a:off x="1202" y="1480"/>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39" name="Oval 82">
                <a:extLst>
                  <a:ext uri="{FF2B5EF4-FFF2-40B4-BE49-F238E27FC236}">
                    <a16:creationId xmlns:a16="http://schemas.microsoft.com/office/drawing/2014/main" id="{4D1F9078-EFED-2E55-A6CA-0E7B74323D60}"/>
                  </a:ext>
                </a:extLst>
              </p:cNvPr>
              <p:cNvSpPr>
                <a:spLocks noChangeArrowheads="1"/>
              </p:cNvSpPr>
              <p:nvPr/>
            </p:nvSpPr>
            <p:spPr bwMode="auto">
              <a:xfrm>
                <a:off x="1112" y="1480"/>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40" name="Oval 83">
                <a:extLst>
                  <a:ext uri="{FF2B5EF4-FFF2-40B4-BE49-F238E27FC236}">
                    <a16:creationId xmlns:a16="http://schemas.microsoft.com/office/drawing/2014/main" id="{AB2AA343-1AC1-B137-BA1E-009CD865CB9B}"/>
                  </a:ext>
                </a:extLst>
              </p:cNvPr>
              <p:cNvSpPr>
                <a:spLocks noChangeArrowheads="1"/>
              </p:cNvSpPr>
              <p:nvPr/>
            </p:nvSpPr>
            <p:spPr bwMode="auto">
              <a:xfrm>
                <a:off x="1021" y="1480"/>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41" name="Oval 84">
                <a:extLst>
                  <a:ext uri="{FF2B5EF4-FFF2-40B4-BE49-F238E27FC236}">
                    <a16:creationId xmlns:a16="http://schemas.microsoft.com/office/drawing/2014/main" id="{77E7EF2D-10CA-3E0E-692A-57A955E7B293}"/>
                  </a:ext>
                </a:extLst>
              </p:cNvPr>
              <p:cNvSpPr>
                <a:spLocks noChangeArrowheads="1"/>
              </p:cNvSpPr>
              <p:nvPr/>
            </p:nvSpPr>
            <p:spPr bwMode="auto">
              <a:xfrm>
                <a:off x="703" y="1571"/>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42" name="Oval 85">
                <a:extLst>
                  <a:ext uri="{FF2B5EF4-FFF2-40B4-BE49-F238E27FC236}">
                    <a16:creationId xmlns:a16="http://schemas.microsoft.com/office/drawing/2014/main" id="{90E1E6F0-C7C6-F4FA-3158-13CFA7F4D910}"/>
                  </a:ext>
                </a:extLst>
              </p:cNvPr>
              <p:cNvSpPr>
                <a:spLocks noChangeArrowheads="1"/>
              </p:cNvSpPr>
              <p:nvPr/>
            </p:nvSpPr>
            <p:spPr bwMode="auto">
              <a:xfrm>
                <a:off x="839" y="1571"/>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43" name="Oval 86">
                <a:extLst>
                  <a:ext uri="{FF2B5EF4-FFF2-40B4-BE49-F238E27FC236}">
                    <a16:creationId xmlns:a16="http://schemas.microsoft.com/office/drawing/2014/main" id="{584D5D1B-7609-503B-0A2B-EB7021F98B6B}"/>
                  </a:ext>
                </a:extLst>
              </p:cNvPr>
              <p:cNvSpPr>
                <a:spLocks noChangeArrowheads="1"/>
              </p:cNvSpPr>
              <p:nvPr/>
            </p:nvSpPr>
            <p:spPr bwMode="auto">
              <a:xfrm>
                <a:off x="1338" y="1571"/>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44" name="Oval 87">
                <a:extLst>
                  <a:ext uri="{FF2B5EF4-FFF2-40B4-BE49-F238E27FC236}">
                    <a16:creationId xmlns:a16="http://schemas.microsoft.com/office/drawing/2014/main" id="{3BE712F4-7230-BA2F-F7E5-069C407E7D4D}"/>
                  </a:ext>
                </a:extLst>
              </p:cNvPr>
              <p:cNvSpPr>
                <a:spLocks noChangeArrowheads="1"/>
              </p:cNvSpPr>
              <p:nvPr/>
            </p:nvSpPr>
            <p:spPr bwMode="auto">
              <a:xfrm>
                <a:off x="1247" y="1571"/>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45" name="Oval 88">
                <a:extLst>
                  <a:ext uri="{FF2B5EF4-FFF2-40B4-BE49-F238E27FC236}">
                    <a16:creationId xmlns:a16="http://schemas.microsoft.com/office/drawing/2014/main" id="{75EB46DC-AD05-380F-9C08-4B8C83776C0D}"/>
                  </a:ext>
                </a:extLst>
              </p:cNvPr>
              <p:cNvSpPr>
                <a:spLocks noChangeArrowheads="1"/>
              </p:cNvSpPr>
              <p:nvPr/>
            </p:nvSpPr>
            <p:spPr bwMode="auto">
              <a:xfrm>
                <a:off x="1156" y="1571"/>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46" name="Oval 89">
                <a:extLst>
                  <a:ext uri="{FF2B5EF4-FFF2-40B4-BE49-F238E27FC236}">
                    <a16:creationId xmlns:a16="http://schemas.microsoft.com/office/drawing/2014/main" id="{2BD97AF7-5E41-C90E-B94E-8ED482E2F01E}"/>
                  </a:ext>
                </a:extLst>
              </p:cNvPr>
              <p:cNvSpPr>
                <a:spLocks noChangeArrowheads="1"/>
              </p:cNvSpPr>
              <p:nvPr/>
            </p:nvSpPr>
            <p:spPr bwMode="auto">
              <a:xfrm>
                <a:off x="1066" y="1571"/>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47" name="Oval 90">
                <a:extLst>
                  <a:ext uri="{FF2B5EF4-FFF2-40B4-BE49-F238E27FC236}">
                    <a16:creationId xmlns:a16="http://schemas.microsoft.com/office/drawing/2014/main" id="{DDA246C6-3452-AAD1-AB9F-08F602C1648B}"/>
                  </a:ext>
                </a:extLst>
              </p:cNvPr>
              <p:cNvSpPr>
                <a:spLocks noChangeArrowheads="1"/>
              </p:cNvSpPr>
              <p:nvPr/>
            </p:nvSpPr>
            <p:spPr bwMode="auto">
              <a:xfrm>
                <a:off x="975" y="1571"/>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48" name="Oval 91">
                <a:extLst>
                  <a:ext uri="{FF2B5EF4-FFF2-40B4-BE49-F238E27FC236}">
                    <a16:creationId xmlns:a16="http://schemas.microsoft.com/office/drawing/2014/main" id="{17D0B91C-557A-32AD-B598-38EE9CD1DC3E}"/>
                  </a:ext>
                </a:extLst>
              </p:cNvPr>
              <p:cNvSpPr>
                <a:spLocks noChangeArrowheads="1"/>
              </p:cNvSpPr>
              <p:nvPr/>
            </p:nvSpPr>
            <p:spPr bwMode="auto">
              <a:xfrm>
                <a:off x="703" y="1662"/>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49" name="Oval 92">
                <a:extLst>
                  <a:ext uri="{FF2B5EF4-FFF2-40B4-BE49-F238E27FC236}">
                    <a16:creationId xmlns:a16="http://schemas.microsoft.com/office/drawing/2014/main" id="{5672D896-6F60-2AD7-E160-4E0A18F9E5A5}"/>
                  </a:ext>
                </a:extLst>
              </p:cNvPr>
              <p:cNvSpPr>
                <a:spLocks noChangeArrowheads="1"/>
              </p:cNvSpPr>
              <p:nvPr/>
            </p:nvSpPr>
            <p:spPr bwMode="auto">
              <a:xfrm>
                <a:off x="839" y="1662"/>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50" name="Oval 93">
                <a:extLst>
                  <a:ext uri="{FF2B5EF4-FFF2-40B4-BE49-F238E27FC236}">
                    <a16:creationId xmlns:a16="http://schemas.microsoft.com/office/drawing/2014/main" id="{F291B3C9-E7B9-6AB8-9064-B414CB7250BB}"/>
                  </a:ext>
                </a:extLst>
              </p:cNvPr>
              <p:cNvSpPr>
                <a:spLocks noChangeArrowheads="1"/>
              </p:cNvSpPr>
              <p:nvPr/>
            </p:nvSpPr>
            <p:spPr bwMode="auto">
              <a:xfrm>
                <a:off x="1338" y="1662"/>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51" name="Oval 94">
                <a:extLst>
                  <a:ext uri="{FF2B5EF4-FFF2-40B4-BE49-F238E27FC236}">
                    <a16:creationId xmlns:a16="http://schemas.microsoft.com/office/drawing/2014/main" id="{84DEC604-5AC4-9115-9536-F4AFC0131481}"/>
                  </a:ext>
                </a:extLst>
              </p:cNvPr>
              <p:cNvSpPr>
                <a:spLocks noChangeArrowheads="1"/>
              </p:cNvSpPr>
              <p:nvPr/>
            </p:nvSpPr>
            <p:spPr bwMode="auto">
              <a:xfrm>
                <a:off x="1247" y="1662"/>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52" name="Oval 95">
                <a:extLst>
                  <a:ext uri="{FF2B5EF4-FFF2-40B4-BE49-F238E27FC236}">
                    <a16:creationId xmlns:a16="http://schemas.microsoft.com/office/drawing/2014/main" id="{DCA0660E-1754-5049-C43E-F576D1FCC185}"/>
                  </a:ext>
                </a:extLst>
              </p:cNvPr>
              <p:cNvSpPr>
                <a:spLocks noChangeArrowheads="1"/>
              </p:cNvSpPr>
              <p:nvPr/>
            </p:nvSpPr>
            <p:spPr bwMode="auto">
              <a:xfrm>
                <a:off x="1156" y="1662"/>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53" name="Oval 96">
                <a:extLst>
                  <a:ext uri="{FF2B5EF4-FFF2-40B4-BE49-F238E27FC236}">
                    <a16:creationId xmlns:a16="http://schemas.microsoft.com/office/drawing/2014/main" id="{AF2F2174-2515-F0F6-59D1-FF0A5F5C456B}"/>
                  </a:ext>
                </a:extLst>
              </p:cNvPr>
              <p:cNvSpPr>
                <a:spLocks noChangeArrowheads="1"/>
              </p:cNvSpPr>
              <p:nvPr/>
            </p:nvSpPr>
            <p:spPr bwMode="auto">
              <a:xfrm>
                <a:off x="1066" y="1661"/>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54" name="Oval 97">
                <a:extLst>
                  <a:ext uri="{FF2B5EF4-FFF2-40B4-BE49-F238E27FC236}">
                    <a16:creationId xmlns:a16="http://schemas.microsoft.com/office/drawing/2014/main" id="{9508F307-8675-41F7-9F90-7D8DDD468EA7}"/>
                  </a:ext>
                </a:extLst>
              </p:cNvPr>
              <p:cNvSpPr>
                <a:spLocks noChangeArrowheads="1"/>
              </p:cNvSpPr>
              <p:nvPr/>
            </p:nvSpPr>
            <p:spPr bwMode="auto">
              <a:xfrm>
                <a:off x="975" y="1662"/>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55" name="Oval 98">
                <a:extLst>
                  <a:ext uri="{FF2B5EF4-FFF2-40B4-BE49-F238E27FC236}">
                    <a16:creationId xmlns:a16="http://schemas.microsoft.com/office/drawing/2014/main" id="{3B694FE5-CF8C-E194-2D16-EBD6900425C9}"/>
                  </a:ext>
                </a:extLst>
              </p:cNvPr>
              <p:cNvSpPr>
                <a:spLocks noChangeArrowheads="1"/>
              </p:cNvSpPr>
              <p:nvPr/>
            </p:nvSpPr>
            <p:spPr bwMode="auto">
              <a:xfrm>
                <a:off x="749" y="1752"/>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56" name="Oval 99">
                <a:extLst>
                  <a:ext uri="{FF2B5EF4-FFF2-40B4-BE49-F238E27FC236}">
                    <a16:creationId xmlns:a16="http://schemas.microsoft.com/office/drawing/2014/main" id="{2B782FE4-D0DC-DDD8-8DD5-5A0EC91FC258}"/>
                  </a:ext>
                </a:extLst>
              </p:cNvPr>
              <p:cNvSpPr>
                <a:spLocks noChangeArrowheads="1"/>
              </p:cNvSpPr>
              <p:nvPr/>
            </p:nvSpPr>
            <p:spPr bwMode="auto">
              <a:xfrm>
                <a:off x="885" y="1752"/>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57" name="Oval 100">
                <a:extLst>
                  <a:ext uri="{FF2B5EF4-FFF2-40B4-BE49-F238E27FC236}">
                    <a16:creationId xmlns:a16="http://schemas.microsoft.com/office/drawing/2014/main" id="{F85B29B8-0C8C-5AC8-3AF3-9724E65E19CA}"/>
                  </a:ext>
                </a:extLst>
              </p:cNvPr>
              <p:cNvSpPr>
                <a:spLocks noChangeArrowheads="1"/>
              </p:cNvSpPr>
              <p:nvPr/>
            </p:nvSpPr>
            <p:spPr bwMode="auto">
              <a:xfrm>
                <a:off x="1384" y="1752"/>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58" name="Oval 101">
                <a:extLst>
                  <a:ext uri="{FF2B5EF4-FFF2-40B4-BE49-F238E27FC236}">
                    <a16:creationId xmlns:a16="http://schemas.microsoft.com/office/drawing/2014/main" id="{E4C5DBBB-4B38-99BE-4D26-89BDD6F8427A}"/>
                  </a:ext>
                </a:extLst>
              </p:cNvPr>
              <p:cNvSpPr>
                <a:spLocks noChangeArrowheads="1"/>
              </p:cNvSpPr>
              <p:nvPr/>
            </p:nvSpPr>
            <p:spPr bwMode="auto">
              <a:xfrm>
                <a:off x="1293" y="1752"/>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59" name="Oval 102">
                <a:extLst>
                  <a:ext uri="{FF2B5EF4-FFF2-40B4-BE49-F238E27FC236}">
                    <a16:creationId xmlns:a16="http://schemas.microsoft.com/office/drawing/2014/main" id="{978FA7CE-E317-A445-685B-B929E7D6D230}"/>
                  </a:ext>
                </a:extLst>
              </p:cNvPr>
              <p:cNvSpPr>
                <a:spLocks noChangeArrowheads="1"/>
              </p:cNvSpPr>
              <p:nvPr/>
            </p:nvSpPr>
            <p:spPr bwMode="auto">
              <a:xfrm>
                <a:off x="1202" y="1752"/>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60" name="Oval 103">
                <a:extLst>
                  <a:ext uri="{FF2B5EF4-FFF2-40B4-BE49-F238E27FC236}">
                    <a16:creationId xmlns:a16="http://schemas.microsoft.com/office/drawing/2014/main" id="{7BB71E6C-CBD3-6158-F7E3-B7D2326783EB}"/>
                  </a:ext>
                </a:extLst>
              </p:cNvPr>
              <p:cNvSpPr>
                <a:spLocks noChangeArrowheads="1"/>
              </p:cNvSpPr>
              <p:nvPr/>
            </p:nvSpPr>
            <p:spPr bwMode="auto">
              <a:xfrm>
                <a:off x="1112" y="1752"/>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sp>
            <p:nvSpPr>
              <p:cNvPr id="28761" name="Oval 104">
                <a:extLst>
                  <a:ext uri="{FF2B5EF4-FFF2-40B4-BE49-F238E27FC236}">
                    <a16:creationId xmlns:a16="http://schemas.microsoft.com/office/drawing/2014/main" id="{328092AF-19A1-DE0B-7597-84050CB6ADAB}"/>
                  </a:ext>
                </a:extLst>
              </p:cNvPr>
              <p:cNvSpPr>
                <a:spLocks noChangeArrowheads="1"/>
              </p:cNvSpPr>
              <p:nvPr/>
            </p:nvSpPr>
            <p:spPr bwMode="auto">
              <a:xfrm>
                <a:off x="1021" y="1752"/>
                <a:ext cx="45" cy="45"/>
              </a:xfrm>
              <a:prstGeom prst="ellipse">
                <a:avLst/>
              </a:prstGeom>
              <a:solidFill>
                <a:schemeClr val="tx1"/>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b="0">
                  <a:ea typeface="华文楷体" panose="02010600040101010101" pitchFamily="2" charset="-122"/>
                  <a:cs typeface="宋体" panose="02010600030101010101" pitchFamily="2" charset="-122"/>
                </a:endParaRPr>
              </a:p>
            </p:txBody>
          </p:sp>
        </p:grpSp>
        <p:sp>
          <p:nvSpPr>
            <p:cNvPr id="28683" name="Text Box 105">
              <a:extLst>
                <a:ext uri="{FF2B5EF4-FFF2-40B4-BE49-F238E27FC236}">
                  <a16:creationId xmlns:a16="http://schemas.microsoft.com/office/drawing/2014/main" id="{FBE9D23E-4A6A-A8CA-630B-91B8D6CA6715}"/>
                </a:ext>
              </a:extLst>
            </p:cNvPr>
            <p:cNvSpPr txBox="1">
              <a:spLocks noChangeArrowheads="1"/>
            </p:cNvSpPr>
            <p:nvPr/>
          </p:nvSpPr>
          <p:spPr bwMode="auto">
            <a:xfrm>
              <a:off x="567" y="391"/>
              <a:ext cx="10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0">
                  <a:ea typeface="华文楷体" panose="02010600040101010101" pitchFamily="2" charset="-122"/>
                  <a:cs typeface="宋体" panose="02010600030101010101" pitchFamily="2" charset="-122"/>
                </a:rPr>
                <a:t>密闭的水罐</a:t>
              </a:r>
            </a:p>
          </p:txBody>
        </p:sp>
      </p:grpSp>
      <p:sp>
        <p:nvSpPr>
          <p:cNvPr id="28678" name="Text Box 106">
            <a:extLst>
              <a:ext uri="{FF2B5EF4-FFF2-40B4-BE49-F238E27FC236}">
                <a16:creationId xmlns:a16="http://schemas.microsoft.com/office/drawing/2014/main" id="{ACCA4C04-EB8E-3E91-C0FD-80E5809FD936}"/>
              </a:ext>
            </a:extLst>
          </p:cNvPr>
          <p:cNvSpPr txBox="1">
            <a:spLocks noChangeArrowheads="1"/>
          </p:cNvSpPr>
          <p:nvPr/>
        </p:nvSpPr>
        <p:spPr bwMode="auto">
          <a:xfrm>
            <a:off x="7032625" y="1229179"/>
            <a:ext cx="170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400" b="0">
                <a:ea typeface="华文楷体" panose="02010600040101010101" pitchFamily="2" charset="-122"/>
                <a:cs typeface="宋体" panose="02010600030101010101" pitchFamily="2" charset="-122"/>
              </a:rPr>
              <a:t>密闭的水罐</a:t>
            </a:r>
          </a:p>
        </p:txBody>
      </p:sp>
      <p:sp>
        <p:nvSpPr>
          <p:cNvPr id="28679" name="Text Box 107">
            <a:extLst>
              <a:ext uri="{FF2B5EF4-FFF2-40B4-BE49-F238E27FC236}">
                <a16:creationId xmlns:a16="http://schemas.microsoft.com/office/drawing/2014/main" id="{9748EB03-4475-7A33-E978-07044DFD35BE}"/>
              </a:ext>
            </a:extLst>
          </p:cNvPr>
          <p:cNvSpPr txBox="1">
            <a:spLocks noChangeArrowheads="1"/>
          </p:cNvSpPr>
          <p:nvPr/>
        </p:nvSpPr>
        <p:spPr bwMode="auto">
          <a:xfrm>
            <a:off x="4295775" y="2886529"/>
            <a:ext cx="2622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0">
                <a:ea typeface="华文楷体" panose="02010600040101010101" pitchFamily="2" charset="-122"/>
                <a:cs typeface="宋体" panose="02010600030101010101" pitchFamily="2" charset="-122"/>
              </a:rPr>
              <a:t>有序性增加了</a:t>
            </a:r>
          </a:p>
        </p:txBody>
      </p:sp>
      <p:sp>
        <p:nvSpPr>
          <p:cNvPr id="28680" name="Text Box 108">
            <a:extLst>
              <a:ext uri="{FF2B5EF4-FFF2-40B4-BE49-F238E27FC236}">
                <a16:creationId xmlns:a16="http://schemas.microsoft.com/office/drawing/2014/main" id="{75B1CF3A-1EAF-FECD-5F3E-47A49B891B2F}"/>
              </a:ext>
            </a:extLst>
          </p:cNvPr>
          <p:cNvSpPr txBox="1">
            <a:spLocks noChangeArrowheads="1"/>
          </p:cNvSpPr>
          <p:nvPr/>
        </p:nvSpPr>
        <p:spPr bwMode="auto">
          <a:xfrm>
            <a:off x="3000376" y="4046190"/>
            <a:ext cx="54673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0" dirty="0">
                <a:ea typeface="华文楷体" panose="02010600040101010101" pitchFamily="2" charset="-122"/>
                <a:cs typeface="宋体" panose="02010600030101010101" pitchFamily="2" charset="-122"/>
              </a:rPr>
              <a:t>是否违背热力学第二定律呢？</a:t>
            </a:r>
          </a:p>
        </p:txBody>
      </p:sp>
      <p:sp>
        <p:nvSpPr>
          <p:cNvPr id="35849" name="Text Box 109">
            <a:extLst>
              <a:ext uri="{FF2B5EF4-FFF2-40B4-BE49-F238E27FC236}">
                <a16:creationId xmlns:a16="http://schemas.microsoft.com/office/drawing/2014/main" id="{11F02065-C7AF-4FF5-90FE-51B4342D2062}"/>
              </a:ext>
            </a:extLst>
          </p:cNvPr>
          <p:cNvSpPr txBox="1">
            <a:spLocks noChangeArrowheads="1"/>
          </p:cNvSpPr>
          <p:nvPr/>
        </p:nvSpPr>
        <p:spPr bwMode="auto">
          <a:xfrm>
            <a:off x="1774826" y="5118555"/>
            <a:ext cx="8640763"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b="0" dirty="0">
                <a:ea typeface="华文楷体" panose="02010600040101010101" pitchFamily="2" charset="-122"/>
                <a:cs typeface="宋体" panose="02010600030101010101" pitchFamily="2" charset="-122"/>
              </a:rPr>
              <a:t>    不违背，因为这不是一个孤立系统，</a:t>
            </a:r>
            <a:r>
              <a:rPr lang="zh-CN" altLang="en-US" sz="3200" b="0" dirty="0">
                <a:solidFill>
                  <a:srgbClr val="FF0000"/>
                </a:solidFill>
                <a:ea typeface="华文楷体" panose="02010600040101010101" pitchFamily="2" charset="-122"/>
                <a:cs typeface="宋体" panose="02010600030101010101" pitchFamily="2" charset="-122"/>
              </a:rPr>
              <a:t>与外界有能量交换。</a:t>
            </a:r>
          </a:p>
        </p:txBody>
      </p:sp>
      <p:sp>
        <p:nvSpPr>
          <p:cNvPr id="2" name="Text Box 13">
            <a:hlinkClick r:id="" action="ppaction://noaction"/>
            <a:extLst>
              <a:ext uri="{FF2B5EF4-FFF2-40B4-BE49-F238E27FC236}">
                <a16:creationId xmlns:a16="http://schemas.microsoft.com/office/drawing/2014/main" id="{905B2382-6DC4-F161-F06D-C0629EA3B4BA}"/>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mn-lt"/>
                <a:ea typeface="+mn-ea"/>
                <a:cs typeface="Times New Roman" panose="02020603050405020304" pitchFamily="18" charset="0"/>
              </a:rPr>
              <a:t>熵增加原理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358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0" grpId="0"/>
      <p:bldP spid="35849" grpId="0"/>
      <p:bldP spid="35849" grpId="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8">
            <a:extLst>
              <a:ext uri="{FF2B5EF4-FFF2-40B4-BE49-F238E27FC236}">
                <a16:creationId xmlns:a16="http://schemas.microsoft.com/office/drawing/2014/main" id="{3447816A-153D-0E1E-A47A-6EA247EA23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157" y="599229"/>
            <a:ext cx="9749972" cy="4059851"/>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13">
            <a:hlinkClick r:id="" action="ppaction://noaction"/>
            <a:extLst>
              <a:ext uri="{FF2B5EF4-FFF2-40B4-BE49-F238E27FC236}">
                <a16:creationId xmlns:a16="http://schemas.microsoft.com/office/drawing/2014/main" id="{6E6F3105-6258-F66E-78FA-C8913A47F4AF}"/>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lang="zh-CN" altLang="en-US" sz="3200" dirty="0">
                <a:solidFill>
                  <a:srgbClr val="0066FF"/>
                </a:solidFill>
                <a:latin typeface="华文楷体" panose="02010600040101010101" pitchFamily="2" charset="-122"/>
                <a:ea typeface="华文楷体" panose="02010600040101010101" pitchFamily="2" charset="-122"/>
              </a:rPr>
              <a:t>麦克斯韦妖</a:t>
            </a:r>
            <a:endParaRPr kumimoji="1" lang="zh-CN" altLang="en-US" sz="3200" dirty="0">
              <a:solidFill>
                <a:srgbClr val="0066FF"/>
              </a:solidFill>
              <a:latin typeface="+mn-lt"/>
              <a:ea typeface="+mn-ea"/>
              <a:cs typeface="Times New Roman" panose="02020603050405020304" pitchFamily="18" charset="0"/>
            </a:endParaRPr>
          </a:p>
        </p:txBody>
      </p:sp>
      <p:sp>
        <p:nvSpPr>
          <p:cNvPr id="6" name="文本框 5">
            <a:extLst>
              <a:ext uri="{FF2B5EF4-FFF2-40B4-BE49-F238E27FC236}">
                <a16:creationId xmlns:a16="http://schemas.microsoft.com/office/drawing/2014/main" id="{CC1F27B7-62F5-E15E-F2F9-D5786089ED02}"/>
              </a:ext>
            </a:extLst>
          </p:cNvPr>
          <p:cNvSpPr txBox="1"/>
          <p:nvPr/>
        </p:nvSpPr>
        <p:spPr>
          <a:xfrm>
            <a:off x="1025071" y="4578420"/>
            <a:ext cx="10535557" cy="1015663"/>
          </a:xfrm>
          <a:prstGeom prst="rect">
            <a:avLst/>
          </a:prstGeom>
          <a:noFill/>
        </p:spPr>
        <p:txBody>
          <a:bodyPr wrap="square">
            <a:spAutoFit/>
          </a:bodyPr>
          <a:lstStyle/>
          <a:p>
            <a:r>
              <a:rPr lang="zh-CN" altLang="en-US" sz="3000" dirty="0">
                <a:latin typeface="华文楷体" panose="02010600040101010101" pitchFamily="2" charset="-122"/>
                <a:ea typeface="华文楷体" panose="02010600040101010101" pitchFamily="2" charset="-122"/>
              </a:rPr>
              <a:t>封闭系统的有序性增大，而熵减少。这只想象中的妖魔打破了“封闭系统的熵只能增加”的热力学第二定律。 </a:t>
            </a:r>
            <a:endParaRPr lang="zh-CN" altLang="en-US" sz="3000" dirty="0"/>
          </a:p>
        </p:txBody>
      </p:sp>
    </p:spTree>
    <p:extLst>
      <p:ext uri="{BB962C8B-B14F-4D97-AF65-F5344CB8AC3E}">
        <p14:creationId xmlns:p14="http://schemas.microsoft.com/office/powerpoint/2010/main" val="1372823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3">
            <a:hlinkClick r:id="" action="ppaction://noaction"/>
            <a:extLst>
              <a:ext uri="{FF2B5EF4-FFF2-40B4-BE49-F238E27FC236}">
                <a16:creationId xmlns:a16="http://schemas.microsoft.com/office/drawing/2014/main" id="{6E6F3105-6258-F66E-78FA-C8913A47F4AF}"/>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信息熵</a:t>
            </a:r>
            <a:endParaRPr kumimoji="1" lang="zh-CN" altLang="en-US" sz="3200" dirty="0">
              <a:solidFill>
                <a:srgbClr val="0066FF"/>
              </a:solidFill>
              <a:latin typeface="+mn-lt"/>
              <a:ea typeface="+mn-ea"/>
              <a:cs typeface="Times New Roman" panose="02020603050405020304" pitchFamily="18" charset="0"/>
            </a:endParaRPr>
          </a:p>
        </p:txBody>
      </p:sp>
      <p:sp>
        <p:nvSpPr>
          <p:cNvPr id="5" name="文本框 4">
            <a:extLst>
              <a:ext uri="{FF2B5EF4-FFF2-40B4-BE49-F238E27FC236}">
                <a16:creationId xmlns:a16="http://schemas.microsoft.com/office/drawing/2014/main" id="{0EF92FFB-32F2-4A6D-9D38-FF59A03BA94E}"/>
              </a:ext>
            </a:extLst>
          </p:cNvPr>
          <p:cNvSpPr txBox="1"/>
          <p:nvPr/>
        </p:nvSpPr>
        <p:spPr>
          <a:xfrm>
            <a:off x="655410" y="1271909"/>
            <a:ext cx="10750549" cy="954107"/>
          </a:xfrm>
          <a:prstGeom prst="rect">
            <a:avLst/>
          </a:prstGeom>
          <a:noFill/>
        </p:spPr>
        <p:txBody>
          <a:bodyPr wrap="square">
            <a:spAutoFit/>
          </a:bodyPr>
          <a:lstStyle/>
          <a:p>
            <a:r>
              <a:rPr lang="zh-CN" altLang="en-US" sz="2800" b="0" i="0" dirty="0">
                <a:solidFill>
                  <a:srgbClr val="333333"/>
                </a:solidFill>
                <a:effectLst/>
                <a:latin typeface="Helvetica Neue"/>
              </a:rPr>
              <a:t>列奥</a:t>
            </a:r>
            <a:r>
              <a:rPr lang="en-US" altLang="zh-CN" sz="2800" b="0" i="0" dirty="0">
                <a:solidFill>
                  <a:srgbClr val="333333"/>
                </a:solidFill>
                <a:effectLst/>
                <a:latin typeface="Helvetica Neue"/>
              </a:rPr>
              <a:t>·</a:t>
            </a:r>
            <a:r>
              <a:rPr lang="zh-CN" altLang="en-US" sz="2800" b="0" i="0" dirty="0">
                <a:solidFill>
                  <a:srgbClr val="333333"/>
                </a:solidFill>
                <a:effectLst/>
                <a:latin typeface="Helvetica Neue"/>
              </a:rPr>
              <a:t>西拉德于</a:t>
            </a:r>
            <a:r>
              <a:rPr lang="en-US" altLang="zh-CN" sz="2800" b="0" i="0" dirty="0">
                <a:solidFill>
                  <a:srgbClr val="333333"/>
                </a:solidFill>
                <a:effectLst/>
                <a:latin typeface="Helvetica Neue"/>
              </a:rPr>
              <a:t>1929</a:t>
            </a:r>
            <a:r>
              <a:rPr lang="zh-CN" altLang="en-US" sz="2800" b="0" i="0" dirty="0">
                <a:solidFill>
                  <a:srgbClr val="333333"/>
                </a:solidFill>
                <a:effectLst/>
                <a:latin typeface="Helvetica Neue"/>
              </a:rPr>
              <a:t>年指出：如果麦克斯韦妖真正存在，那么它观察分子速度及获取信息的过程必然产生额外的能量消耗， 产生熵 。</a:t>
            </a:r>
            <a:endParaRPr lang="zh-CN" altLang="en-US" sz="2800" dirty="0"/>
          </a:p>
        </p:txBody>
      </p:sp>
      <p:sp>
        <p:nvSpPr>
          <p:cNvPr id="7" name="Rectangle 7">
            <a:extLst>
              <a:ext uri="{FF2B5EF4-FFF2-40B4-BE49-F238E27FC236}">
                <a16:creationId xmlns:a16="http://schemas.microsoft.com/office/drawing/2014/main" id="{47F41743-2CBC-B580-C292-8BA3FA9EDB0C}"/>
              </a:ext>
            </a:extLst>
          </p:cNvPr>
          <p:cNvSpPr>
            <a:spLocks noChangeArrowheads="1"/>
          </p:cNvSpPr>
          <p:nvPr/>
        </p:nvSpPr>
        <p:spPr bwMode="auto">
          <a:xfrm>
            <a:off x="8560481" y="3603506"/>
            <a:ext cx="3631519"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r>
              <a:rPr lang="zh-CN" altLang="en-US" b="0" dirty="0">
                <a:solidFill>
                  <a:srgbClr val="0066FF"/>
                </a:solidFill>
                <a:ea typeface="华文楷体" panose="02010600040101010101" pitchFamily="2" charset="-122"/>
              </a:rPr>
              <a:t>上世纪</a:t>
            </a:r>
            <a:r>
              <a:rPr lang="en-US" altLang="zh-CN" b="0" dirty="0">
                <a:solidFill>
                  <a:srgbClr val="0066FF"/>
                </a:solidFill>
                <a:ea typeface="华文楷体" panose="02010600040101010101" pitchFamily="2" charset="-122"/>
              </a:rPr>
              <a:t>50</a:t>
            </a:r>
            <a:r>
              <a:rPr lang="zh-CN" altLang="en-US" b="0" dirty="0">
                <a:solidFill>
                  <a:srgbClr val="0066FF"/>
                </a:solidFill>
                <a:ea typeface="华文楷体" panose="02010600040101010101" pitchFamily="2" charset="-122"/>
              </a:rPr>
              <a:t>年代，法国物理学家布里渊：</a:t>
            </a:r>
          </a:p>
          <a:p>
            <a:r>
              <a:rPr lang="zh-CN" altLang="en-US" b="0" dirty="0">
                <a:solidFill>
                  <a:srgbClr val="0066FF"/>
                </a:solidFill>
                <a:ea typeface="华文楷体" panose="02010600040101010101" pitchFamily="2" charset="-122"/>
              </a:rPr>
              <a:t>信息熵</a:t>
            </a:r>
          </a:p>
          <a:p>
            <a:r>
              <a:rPr lang="en-US" altLang="zh-CN" b="0" dirty="0">
                <a:solidFill>
                  <a:srgbClr val="0066FF"/>
                </a:solidFill>
                <a:ea typeface="华文楷体" panose="02010600040101010101" pitchFamily="2" charset="-122"/>
              </a:rPr>
              <a:t>1bit=kln2(J/K)</a:t>
            </a:r>
            <a:endParaRPr lang="zh-CN" altLang="en-US" b="0" dirty="0">
              <a:solidFill>
                <a:srgbClr val="0066FF"/>
              </a:solidFill>
              <a:ea typeface="华文楷体" panose="02010600040101010101" pitchFamily="2" charset="-122"/>
            </a:endParaRPr>
          </a:p>
        </p:txBody>
      </p:sp>
      <p:sp>
        <p:nvSpPr>
          <p:cNvPr id="8" name="Rectangle 3">
            <a:extLst>
              <a:ext uri="{FF2B5EF4-FFF2-40B4-BE49-F238E27FC236}">
                <a16:creationId xmlns:a16="http://schemas.microsoft.com/office/drawing/2014/main" id="{421DC66E-51C8-4975-9812-3DC1C583E1C6}"/>
              </a:ext>
            </a:extLst>
          </p:cNvPr>
          <p:cNvSpPr txBox="1">
            <a:spLocks/>
          </p:cNvSpPr>
          <p:nvPr/>
        </p:nvSpPr>
        <p:spPr>
          <a:xfrm>
            <a:off x="91456" y="3103903"/>
            <a:ext cx="6368142" cy="4351338"/>
          </a:xfrm>
          <a:prstGeom prst="rect">
            <a:avLst/>
          </a:prstGeom>
        </p:spPr>
        <p:txBody>
          <a:bodyPr vert="horz" wrap="square" lIns="91440" tIns="45720" rIns="9144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zh-CN" altLang="en-US" dirty="0">
                <a:latin typeface="黑体" panose="02010600030101010101" pitchFamily="2" charset="-122"/>
                <a:ea typeface="黑体" panose="02010600030101010101" pitchFamily="2" charset="-122"/>
              </a:rPr>
              <a:t>不   处    啼      与     知           晓       夜        雨     风             眠    花     多        处                来       闻       声    知</a:t>
            </a:r>
          </a:p>
          <a:p>
            <a:pPr>
              <a:buFont typeface="Arial" panose="020B0604020202020204" pitchFamily="34" charset="0"/>
              <a:buNone/>
            </a:pPr>
            <a:r>
              <a:rPr lang="zh-CN" altLang="en-US" dirty="0">
                <a:latin typeface="黑体" panose="02010600030101010101" pitchFamily="2" charset="-122"/>
                <a:ea typeface="黑体" panose="02010600030101010101" pitchFamily="2" charset="-122"/>
              </a:rPr>
              <a:t>   落    觉     少     春</a:t>
            </a:r>
          </a:p>
          <a:p>
            <a:pPr marL="0" indent="0">
              <a:buFont typeface="Arial" panose="020B0604020202020204" pitchFamily="34" charset="0"/>
              <a:buNone/>
            </a:pPr>
            <a:endParaRPr lang="zh-CN" altLang="en-US" dirty="0">
              <a:latin typeface="黑体" panose="02010600030101010101" pitchFamily="2" charset="-122"/>
              <a:ea typeface="黑体" panose="02010600030101010101" pitchFamily="2" charset="-122"/>
            </a:endParaRPr>
          </a:p>
        </p:txBody>
      </p:sp>
      <p:sp>
        <p:nvSpPr>
          <p:cNvPr id="9" name="Rectangle 2">
            <a:extLst>
              <a:ext uri="{FF2B5EF4-FFF2-40B4-BE49-F238E27FC236}">
                <a16:creationId xmlns:a16="http://schemas.microsoft.com/office/drawing/2014/main" id="{CDF85397-E49C-168B-18EC-0DC04CD9D920}"/>
              </a:ext>
            </a:extLst>
          </p:cNvPr>
          <p:cNvSpPr txBox="1">
            <a:spLocks/>
          </p:cNvSpPr>
          <p:nvPr/>
        </p:nvSpPr>
        <p:spPr>
          <a:xfrm>
            <a:off x="6030685" y="2664959"/>
            <a:ext cx="2445657" cy="5229225"/>
          </a:xfrm>
          <a:prstGeom prst="rect">
            <a:avLst/>
          </a:prstGeom>
        </p:spPr>
        <p:txBody>
          <a:bodyPr vert="horz" wrap="square" lIns="91440" tIns="45720" rIns="9144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zh-CN" altLang="en-US" dirty="0">
                <a:latin typeface="黑体" panose="02010600030101010101" pitchFamily="2" charset="-122"/>
                <a:ea typeface="黑体" panose="02010600030101010101" pitchFamily="2" charset="-122"/>
              </a:rPr>
              <a:t>春眠不觉晓</a:t>
            </a:r>
          </a:p>
          <a:p>
            <a:pPr>
              <a:buFont typeface="Arial" panose="020B0604020202020204" pitchFamily="34" charset="0"/>
              <a:buNone/>
            </a:pPr>
            <a:r>
              <a:rPr lang="zh-CN" altLang="en-US" dirty="0">
                <a:latin typeface="黑体" panose="02010600030101010101" pitchFamily="2" charset="-122"/>
                <a:ea typeface="黑体" panose="02010600030101010101" pitchFamily="2" charset="-122"/>
              </a:rPr>
              <a:t>                   处处闻啼鸟</a:t>
            </a:r>
          </a:p>
          <a:p>
            <a:pPr>
              <a:buFont typeface="Arial" panose="020B0604020202020204" pitchFamily="34" charset="0"/>
              <a:buNone/>
            </a:pPr>
            <a:r>
              <a:rPr lang="zh-CN" altLang="en-US" dirty="0">
                <a:latin typeface="黑体" panose="02010600030101010101" pitchFamily="2" charset="-122"/>
                <a:ea typeface="黑体" panose="02010600030101010101" pitchFamily="2" charset="-122"/>
              </a:rPr>
              <a:t>                夜来风雨声</a:t>
            </a:r>
          </a:p>
          <a:p>
            <a:pPr>
              <a:buFont typeface="Arial" panose="020B0604020202020204" pitchFamily="34" charset="0"/>
              <a:buNone/>
            </a:pPr>
            <a:r>
              <a:rPr lang="zh-CN" altLang="en-US" dirty="0">
                <a:latin typeface="黑体" panose="02010600030101010101" pitchFamily="2" charset="-122"/>
                <a:ea typeface="黑体" panose="02010600030101010101" pitchFamily="2" charset="-122"/>
              </a:rPr>
              <a:t>                   花落知多少</a:t>
            </a:r>
          </a:p>
          <a:p>
            <a:endParaRPr lang="zh-CN" altLang="en-US" dirty="0">
              <a:latin typeface="黑体" panose="02010600030101010101" pitchFamily="2" charset="-122"/>
              <a:ea typeface="黑体" panose="02010600030101010101" pitchFamily="2" charset="-122"/>
            </a:endParaRPr>
          </a:p>
        </p:txBody>
      </p:sp>
    </p:spTree>
    <p:extLst>
      <p:ext uri="{BB962C8B-B14F-4D97-AF65-F5344CB8AC3E}">
        <p14:creationId xmlns:p14="http://schemas.microsoft.com/office/powerpoint/2010/main" val="25454397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13">
            <a:hlinkClick r:id="" action="ppaction://noaction"/>
            <a:extLst>
              <a:ext uri="{FF2B5EF4-FFF2-40B4-BE49-F238E27FC236}">
                <a16:creationId xmlns:a16="http://schemas.microsoft.com/office/drawing/2014/main" id="{0BCF09C1-9BF9-87E7-9D23-3406A28E55D5}"/>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有序与无序</a:t>
            </a:r>
            <a:endParaRPr kumimoji="1" lang="zh-CN" altLang="en-US" sz="3200" dirty="0">
              <a:solidFill>
                <a:srgbClr val="0066FF"/>
              </a:solidFill>
              <a:latin typeface="+mn-lt"/>
              <a:ea typeface="+mn-ea"/>
              <a:cs typeface="Times New Roman" panose="02020603050405020304" pitchFamily="18" charset="0"/>
            </a:endParaRPr>
          </a:p>
        </p:txBody>
      </p:sp>
      <p:sp>
        <p:nvSpPr>
          <p:cNvPr id="9" name="Rectangle 4">
            <a:extLst>
              <a:ext uri="{FF2B5EF4-FFF2-40B4-BE49-F238E27FC236}">
                <a16:creationId xmlns:a16="http://schemas.microsoft.com/office/drawing/2014/main" id="{CF292695-B71B-F0C2-3854-6C0EC066F224}"/>
              </a:ext>
            </a:extLst>
          </p:cNvPr>
          <p:cNvSpPr/>
          <p:nvPr/>
        </p:nvSpPr>
        <p:spPr>
          <a:xfrm>
            <a:off x="800099" y="2154606"/>
            <a:ext cx="10591801" cy="576120"/>
          </a:xfrm>
          <a:prstGeom prst="rect">
            <a:avLst/>
          </a:prstGeom>
          <a:noFill/>
          <a:ln w="9525">
            <a:noFill/>
          </a:ln>
        </p:spPr>
        <p:txBody>
          <a:bodyPr wrap="square">
            <a:spAutoFit/>
          </a:bodyPr>
          <a:lstStyle/>
          <a:p>
            <a:pPr eaLnBrk="1" hangingPunct="1">
              <a:lnSpc>
                <a:spcPct val="120000"/>
              </a:lnSpc>
              <a:spcBef>
                <a:spcPct val="50000"/>
              </a:spcBef>
            </a:pPr>
            <a:r>
              <a:rPr lang="zh-CN" altLang="en-US" sz="2800" dirty="0">
                <a:solidFill>
                  <a:srgbClr val="000000"/>
                </a:solidFill>
                <a:latin typeface="Bookman Old Style" panose="02050604050505020204" pitchFamily="18" charset="0"/>
              </a:rPr>
              <a:t>孤立系统中的熵永不减少        </a:t>
            </a:r>
            <a:r>
              <a:rPr lang="zh-CN" altLang="en-US" sz="2800" dirty="0">
                <a:solidFill>
                  <a:srgbClr val="000000"/>
                </a:solidFill>
                <a:latin typeface="Arial" panose="020B0604020202020204" pitchFamily="34" charset="0"/>
              </a:rPr>
              <a:t>宇宙的结局是一个死寂的永恒状态</a:t>
            </a:r>
          </a:p>
        </p:txBody>
      </p:sp>
      <p:sp>
        <p:nvSpPr>
          <p:cNvPr id="10" name="箭头: 右 9">
            <a:extLst>
              <a:ext uri="{FF2B5EF4-FFF2-40B4-BE49-F238E27FC236}">
                <a16:creationId xmlns:a16="http://schemas.microsoft.com/office/drawing/2014/main" id="{219D492C-0FE2-D441-8AD8-F5D88F2DEE66}"/>
              </a:ext>
            </a:extLst>
          </p:cNvPr>
          <p:cNvSpPr/>
          <p:nvPr/>
        </p:nvSpPr>
        <p:spPr>
          <a:xfrm>
            <a:off x="4983844" y="2391310"/>
            <a:ext cx="522514" cy="2467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Group 4">
            <a:extLst>
              <a:ext uri="{FF2B5EF4-FFF2-40B4-BE49-F238E27FC236}">
                <a16:creationId xmlns:a16="http://schemas.microsoft.com/office/drawing/2014/main" id="{75922DC1-2392-6A4B-30AC-8AA24513ED92}"/>
              </a:ext>
            </a:extLst>
          </p:cNvPr>
          <p:cNvGrpSpPr>
            <a:grpSpLocks/>
          </p:cNvGrpSpPr>
          <p:nvPr/>
        </p:nvGrpSpPr>
        <p:grpSpPr bwMode="auto">
          <a:xfrm>
            <a:off x="2378097" y="1226468"/>
            <a:ext cx="5855788" cy="558801"/>
            <a:chOff x="648" y="779"/>
            <a:chExt cx="3382" cy="352"/>
          </a:xfrm>
        </p:grpSpPr>
        <p:sp>
          <p:nvSpPr>
            <p:cNvPr id="12" name="Text Box 5">
              <a:extLst>
                <a:ext uri="{FF2B5EF4-FFF2-40B4-BE49-F238E27FC236}">
                  <a16:creationId xmlns:a16="http://schemas.microsoft.com/office/drawing/2014/main" id="{FAE74E42-FA42-72AC-63AA-95011F637B14}"/>
                </a:ext>
              </a:extLst>
            </p:cNvPr>
            <p:cNvSpPr txBox="1">
              <a:spLocks noChangeArrowheads="1"/>
            </p:cNvSpPr>
            <p:nvPr/>
          </p:nvSpPr>
          <p:spPr bwMode="auto">
            <a:xfrm>
              <a:off x="648" y="782"/>
              <a:ext cx="789"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000" b="0" dirty="0">
                  <a:solidFill>
                    <a:srgbClr val="FF0000"/>
                  </a:solidFill>
                  <a:latin typeface="华文楷体" panose="02010600040101010101" pitchFamily="2" charset="-122"/>
                  <a:ea typeface="华文楷体" panose="02010600040101010101" pitchFamily="2" charset="-122"/>
                </a:rPr>
                <a:t>热力学</a:t>
              </a:r>
            </a:p>
          </p:txBody>
        </p:sp>
        <p:sp>
          <p:nvSpPr>
            <p:cNvPr id="13" name="Rectangle 6">
              <a:extLst>
                <a:ext uri="{FF2B5EF4-FFF2-40B4-BE49-F238E27FC236}">
                  <a16:creationId xmlns:a16="http://schemas.microsoft.com/office/drawing/2014/main" id="{62161328-B79A-CD12-98B0-4FB34A111937}"/>
                </a:ext>
              </a:extLst>
            </p:cNvPr>
            <p:cNvSpPr>
              <a:spLocks noChangeArrowheads="1"/>
            </p:cNvSpPr>
            <p:nvPr/>
          </p:nvSpPr>
          <p:spPr bwMode="auto">
            <a:xfrm>
              <a:off x="1701" y="779"/>
              <a:ext cx="2329"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000" b="0" dirty="0">
                  <a:solidFill>
                    <a:srgbClr val="FF0000"/>
                  </a:solidFill>
                  <a:latin typeface="华文楷体" panose="02010600040101010101" pitchFamily="2" charset="-122"/>
                  <a:ea typeface="华文楷体" panose="02010600040101010101" pitchFamily="2" charset="-122"/>
                </a:rPr>
                <a:t>有序到无序的退化过程</a:t>
              </a:r>
            </a:p>
          </p:txBody>
        </p:sp>
      </p:grpSp>
      <p:sp>
        <p:nvSpPr>
          <p:cNvPr id="16" name="Rectangle 9">
            <a:extLst>
              <a:ext uri="{FF2B5EF4-FFF2-40B4-BE49-F238E27FC236}">
                <a16:creationId xmlns:a16="http://schemas.microsoft.com/office/drawing/2014/main" id="{F886CC72-034B-D4E7-CB77-20E1571A1970}"/>
              </a:ext>
            </a:extLst>
          </p:cNvPr>
          <p:cNvSpPr>
            <a:spLocks noChangeArrowheads="1"/>
          </p:cNvSpPr>
          <p:nvPr/>
        </p:nvSpPr>
        <p:spPr bwMode="auto">
          <a:xfrm>
            <a:off x="3129344" y="3044051"/>
            <a:ext cx="492472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000" b="0" dirty="0">
                <a:solidFill>
                  <a:srgbClr val="FF0000"/>
                </a:solidFill>
                <a:latin typeface="华文楷体" panose="02010600040101010101" pitchFamily="2" charset="-122"/>
                <a:ea typeface="华文楷体" panose="02010600040101010101" pitchFamily="2" charset="-122"/>
              </a:rPr>
              <a:t>进化过程</a:t>
            </a:r>
            <a:r>
              <a:rPr lang="en-US" altLang="zh-CN" sz="3000" b="0" dirty="0">
                <a:solidFill>
                  <a:srgbClr val="FF0000"/>
                </a:solidFill>
                <a:latin typeface="华文楷体" panose="02010600040101010101" pitchFamily="2" charset="-122"/>
                <a:ea typeface="华文楷体" panose="02010600040101010101" pitchFamily="2" charset="-122"/>
              </a:rPr>
              <a:t>: </a:t>
            </a:r>
            <a:r>
              <a:rPr lang="zh-CN" altLang="en-US" sz="3000" b="0" dirty="0">
                <a:solidFill>
                  <a:srgbClr val="FF0000"/>
                </a:solidFill>
                <a:latin typeface="华文楷体" panose="02010600040101010101" pitchFamily="2" charset="-122"/>
                <a:ea typeface="华文楷体" panose="02010600040101010101" pitchFamily="2" charset="-122"/>
              </a:rPr>
              <a:t>无序到有序</a:t>
            </a:r>
          </a:p>
        </p:txBody>
      </p:sp>
      <p:sp>
        <p:nvSpPr>
          <p:cNvPr id="17" name="Oval 4">
            <a:extLst>
              <a:ext uri="{FF2B5EF4-FFF2-40B4-BE49-F238E27FC236}">
                <a16:creationId xmlns:a16="http://schemas.microsoft.com/office/drawing/2014/main" id="{60934D94-E764-9049-C1F9-3F8EF7E1613E}"/>
              </a:ext>
            </a:extLst>
          </p:cNvPr>
          <p:cNvSpPr>
            <a:spLocks noChangeArrowheads="1"/>
          </p:cNvSpPr>
          <p:nvPr/>
        </p:nvSpPr>
        <p:spPr bwMode="auto">
          <a:xfrm>
            <a:off x="1140506" y="3693887"/>
            <a:ext cx="2952751" cy="2881313"/>
          </a:xfrm>
          <a:prstGeom prst="ellipse">
            <a:avLst/>
          </a:prstGeom>
          <a:solidFill>
            <a:srgbClr val="FFFF00"/>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r" eaLnBrk="1" hangingPunct="1"/>
            <a:r>
              <a:rPr lang="zh-CN" altLang="en-US" sz="3200" b="0">
                <a:ea typeface="华文楷体" panose="02010600040101010101" pitchFamily="2" charset="-122"/>
                <a:cs typeface="宋体" panose="02010600030101010101" pitchFamily="2" charset="-122"/>
              </a:rPr>
              <a:t>太阳</a:t>
            </a:r>
          </a:p>
        </p:txBody>
      </p:sp>
      <p:grpSp>
        <p:nvGrpSpPr>
          <p:cNvPr id="18" name="Group 5">
            <a:extLst>
              <a:ext uri="{FF2B5EF4-FFF2-40B4-BE49-F238E27FC236}">
                <a16:creationId xmlns:a16="http://schemas.microsoft.com/office/drawing/2014/main" id="{ABC34B46-E2A9-4CE1-9B78-D01D0A2FDEB8}"/>
              </a:ext>
            </a:extLst>
          </p:cNvPr>
          <p:cNvGrpSpPr>
            <a:grpSpLocks/>
          </p:cNvGrpSpPr>
          <p:nvPr/>
        </p:nvGrpSpPr>
        <p:grpSpPr bwMode="auto">
          <a:xfrm>
            <a:off x="3877356" y="3693886"/>
            <a:ext cx="3435350" cy="2089150"/>
            <a:chOff x="975" y="1842"/>
            <a:chExt cx="2164" cy="1316"/>
          </a:xfrm>
        </p:grpSpPr>
        <p:sp>
          <p:nvSpPr>
            <p:cNvPr id="19" name="AutoShape 6">
              <a:extLst>
                <a:ext uri="{FF2B5EF4-FFF2-40B4-BE49-F238E27FC236}">
                  <a16:creationId xmlns:a16="http://schemas.microsoft.com/office/drawing/2014/main" id="{4C3FE588-4C03-BB2E-409F-AD0396ADEDAB}"/>
                </a:ext>
              </a:extLst>
            </p:cNvPr>
            <p:cNvSpPr>
              <a:spLocks noChangeArrowheads="1"/>
            </p:cNvSpPr>
            <p:nvPr/>
          </p:nvSpPr>
          <p:spPr bwMode="auto">
            <a:xfrm>
              <a:off x="1169" y="2432"/>
              <a:ext cx="1769" cy="726"/>
            </a:xfrm>
            <a:prstGeom prst="rightArrow">
              <a:avLst>
                <a:gd name="adj1" fmla="val 50000"/>
                <a:gd name="adj2" fmla="val 60916"/>
              </a:avLst>
            </a:prstGeom>
            <a:solidFill>
              <a:schemeClr val="accent1"/>
            </a:solidFill>
            <a:ln w="9525">
              <a:solidFill>
                <a:schemeClr val="tx1"/>
              </a:solidFill>
              <a:miter lim="800000"/>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p>
          </p:txBody>
        </p:sp>
        <p:sp>
          <p:nvSpPr>
            <p:cNvPr id="20" name="Text Box 7">
              <a:extLst>
                <a:ext uri="{FF2B5EF4-FFF2-40B4-BE49-F238E27FC236}">
                  <a16:creationId xmlns:a16="http://schemas.microsoft.com/office/drawing/2014/main" id="{3FF2CE2A-0EFF-E565-2396-2745590A7CDD}"/>
                </a:ext>
              </a:extLst>
            </p:cNvPr>
            <p:cNvSpPr txBox="1">
              <a:spLocks noChangeArrowheads="1"/>
            </p:cNvSpPr>
            <p:nvPr/>
          </p:nvSpPr>
          <p:spPr bwMode="auto">
            <a:xfrm>
              <a:off x="975" y="1842"/>
              <a:ext cx="216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0">
                  <a:ea typeface="华文楷体" panose="02010600040101010101" pitchFamily="2" charset="-122"/>
                  <a:cs typeface="宋体" panose="02010600030101010101" pitchFamily="2" charset="-122"/>
                </a:rPr>
                <a:t>输入高品质太阳能</a:t>
              </a:r>
            </a:p>
          </p:txBody>
        </p:sp>
      </p:grpSp>
      <p:sp>
        <p:nvSpPr>
          <p:cNvPr id="21" name="Oval 8">
            <a:extLst>
              <a:ext uri="{FF2B5EF4-FFF2-40B4-BE49-F238E27FC236}">
                <a16:creationId xmlns:a16="http://schemas.microsoft.com/office/drawing/2014/main" id="{D3AD36C3-695B-7AD1-E22D-AD6E1BEC0616}"/>
              </a:ext>
            </a:extLst>
          </p:cNvPr>
          <p:cNvSpPr>
            <a:spLocks noChangeArrowheads="1"/>
          </p:cNvSpPr>
          <p:nvPr/>
        </p:nvSpPr>
        <p:spPr bwMode="auto">
          <a:xfrm>
            <a:off x="7188882" y="4486050"/>
            <a:ext cx="1368425" cy="1366837"/>
          </a:xfrm>
          <a:prstGeom prst="ellipse">
            <a:avLst/>
          </a:prstGeom>
          <a:solidFill>
            <a:srgbClr val="FFFF85"/>
          </a:solidFill>
          <a:ln w="9525">
            <a:solidFill>
              <a:schemeClr val="tx1"/>
            </a:solidFill>
            <a:round/>
            <a:headEnd/>
            <a:tailEnd/>
          </a:ln>
        </p:spPr>
        <p:txBody>
          <a:bodyPr wrap="none" anchor="ct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3200" b="0">
                <a:ea typeface="华文楷体" panose="02010600040101010101" pitchFamily="2" charset="-122"/>
                <a:cs typeface="宋体" panose="02010600030101010101" pitchFamily="2" charset="-122"/>
              </a:rPr>
              <a:t>地球</a:t>
            </a:r>
          </a:p>
        </p:txBody>
      </p:sp>
      <p:sp>
        <p:nvSpPr>
          <p:cNvPr id="22" name="Text Box 9">
            <a:extLst>
              <a:ext uri="{FF2B5EF4-FFF2-40B4-BE49-F238E27FC236}">
                <a16:creationId xmlns:a16="http://schemas.microsoft.com/office/drawing/2014/main" id="{B6B1C526-97DD-D479-5016-6F4B7E9468B3}"/>
              </a:ext>
            </a:extLst>
          </p:cNvPr>
          <p:cNvSpPr txBox="1">
            <a:spLocks noChangeArrowheads="1"/>
          </p:cNvSpPr>
          <p:nvPr/>
        </p:nvSpPr>
        <p:spPr bwMode="auto">
          <a:xfrm>
            <a:off x="6396718" y="6070375"/>
            <a:ext cx="4248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0">
                <a:ea typeface="华文楷体" panose="02010600040101010101" pitchFamily="2" charset="-122"/>
                <a:cs typeface="宋体" panose="02010600030101010101" pitchFamily="2" charset="-122"/>
              </a:rPr>
              <a:t>地球辐射出低品质热能</a:t>
            </a:r>
          </a:p>
        </p:txBody>
      </p:sp>
      <p:grpSp>
        <p:nvGrpSpPr>
          <p:cNvPr id="23" name="Group 10">
            <a:extLst>
              <a:ext uri="{FF2B5EF4-FFF2-40B4-BE49-F238E27FC236}">
                <a16:creationId xmlns:a16="http://schemas.microsoft.com/office/drawing/2014/main" id="{863BD818-2B13-923A-0232-772A17AE3036}"/>
              </a:ext>
            </a:extLst>
          </p:cNvPr>
          <p:cNvGrpSpPr>
            <a:grpSpLocks/>
          </p:cNvGrpSpPr>
          <p:nvPr/>
        </p:nvGrpSpPr>
        <p:grpSpPr bwMode="auto">
          <a:xfrm>
            <a:off x="7622269" y="3911374"/>
            <a:ext cx="1584325" cy="1295400"/>
            <a:chOff x="3334" y="1979"/>
            <a:chExt cx="998" cy="816"/>
          </a:xfrm>
        </p:grpSpPr>
        <p:sp>
          <p:nvSpPr>
            <p:cNvPr id="24" name="Line 11">
              <a:extLst>
                <a:ext uri="{FF2B5EF4-FFF2-40B4-BE49-F238E27FC236}">
                  <a16:creationId xmlns:a16="http://schemas.microsoft.com/office/drawing/2014/main" id="{5C1B58A4-BD44-012B-FF07-0EB2EA6F510C}"/>
                </a:ext>
              </a:extLst>
            </p:cNvPr>
            <p:cNvSpPr>
              <a:spLocks noChangeShapeType="1"/>
            </p:cNvSpPr>
            <p:nvPr/>
          </p:nvSpPr>
          <p:spPr bwMode="auto">
            <a:xfrm flipH="1" flipV="1">
              <a:off x="3334" y="1979"/>
              <a:ext cx="90" cy="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 name="Line 12">
              <a:extLst>
                <a:ext uri="{FF2B5EF4-FFF2-40B4-BE49-F238E27FC236}">
                  <a16:creationId xmlns:a16="http://schemas.microsoft.com/office/drawing/2014/main" id="{01379185-0D68-419B-6443-1893669505EF}"/>
                </a:ext>
              </a:extLst>
            </p:cNvPr>
            <p:cNvSpPr>
              <a:spLocks noChangeShapeType="1"/>
            </p:cNvSpPr>
            <p:nvPr/>
          </p:nvSpPr>
          <p:spPr bwMode="auto">
            <a:xfrm flipV="1">
              <a:off x="3561" y="1979"/>
              <a:ext cx="45" cy="3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13">
              <a:extLst>
                <a:ext uri="{FF2B5EF4-FFF2-40B4-BE49-F238E27FC236}">
                  <a16:creationId xmlns:a16="http://schemas.microsoft.com/office/drawing/2014/main" id="{EDA5ADFF-2510-44D6-F526-7679B1434CAE}"/>
                </a:ext>
              </a:extLst>
            </p:cNvPr>
            <p:cNvSpPr>
              <a:spLocks noChangeShapeType="1"/>
            </p:cNvSpPr>
            <p:nvPr/>
          </p:nvSpPr>
          <p:spPr bwMode="auto">
            <a:xfrm flipV="1">
              <a:off x="3651" y="2024"/>
              <a:ext cx="136" cy="36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Line 14">
              <a:extLst>
                <a:ext uri="{FF2B5EF4-FFF2-40B4-BE49-F238E27FC236}">
                  <a16:creationId xmlns:a16="http://schemas.microsoft.com/office/drawing/2014/main" id="{BE56C4B7-7DA9-D182-6FE7-C1B1C4D76D14}"/>
                </a:ext>
              </a:extLst>
            </p:cNvPr>
            <p:cNvSpPr>
              <a:spLocks noChangeShapeType="1"/>
            </p:cNvSpPr>
            <p:nvPr/>
          </p:nvSpPr>
          <p:spPr bwMode="auto">
            <a:xfrm flipV="1">
              <a:off x="3742" y="2115"/>
              <a:ext cx="181" cy="31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15">
              <a:extLst>
                <a:ext uri="{FF2B5EF4-FFF2-40B4-BE49-F238E27FC236}">
                  <a16:creationId xmlns:a16="http://schemas.microsoft.com/office/drawing/2014/main" id="{D3267B2D-6D47-9DA7-FE21-FFB21107BA86}"/>
                </a:ext>
              </a:extLst>
            </p:cNvPr>
            <p:cNvSpPr>
              <a:spLocks noChangeShapeType="1"/>
            </p:cNvSpPr>
            <p:nvPr/>
          </p:nvSpPr>
          <p:spPr bwMode="auto">
            <a:xfrm flipV="1">
              <a:off x="3787" y="2205"/>
              <a:ext cx="272" cy="27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Line 16">
              <a:extLst>
                <a:ext uri="{FF2B5EF4-FFF2-40B4-BE49-F238E27FC236}">
                  <a16:creationId xmlns:a16="http://schemas.microsoft.com/office/drawing/2014/main" id="{D729D95E-BDEB-F57D-0D6F-607CB2A3B432}"/>
                </a:ext>
              </a:extLst>
            </p:cNvPr>
            <p:cNvSpPr>
              <a:spLocks noChangeShapeType="1"/>
            </p:cNvSpPr>
            <p:nvPr/>
          </p:nvSpPr>
          <p:spPr bwMode="auto">
            <a:xfrm flipV="1">
              <a:off x="3833" y="2340"/>
              <a:ext cx="317" cy="22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Line 17">
              <a:extLst>
                <a:ext uri="{FF2B5EF4-FFF2-40B4-BE49-F238E27FC236}">
                  <a16:creationId xmlns:a16="http://schemas.microsoft.com/office/drawing/2014/main" id="{343CCE94-0822-CFE2-3879-ACD161595B17}"/>
                </a:ext>
              </a:extLst>
            </p:cNvPr>
            <p:cNvSpPr>
              <a:spLocks noChangeShapeType="1"/>
            </p:cNvSpPr>
            <p:nvPr/>
          </p:nvSpPr>
          <p:spPr bwMode="auto">
            <a:xfrm flipV="1">
              <a:off x="3924" y="2523"/>
              <a:ext cx="317" cy="13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Line 18">
              <a:extLst>
                <a:ext uri="{FF2B5EF4-FFF2-40B4-BE49-F238E27FC236}">
                  <a16:creationId xmlns:a16="http://schemas.microsoft.com/office/drawing/2014/main" id="{9FAD1F97-7A8B-249C-4E44-190689AD3128}"/>
                </a:ext>
              </a:extLst>
            </p:cNvPr>
            <p:cNvSpPr>
              <a:spLocks noChangeShapeType="1"/>
            </p:cNvSpPr>
            <p:nvPr/>
          </p:nvSpPr>
          <p:spPr bwMode="auto">
            <a:xfrm flipV="1">
              <a:off x="3923" y="2704"/>
              <a:ext cx="363" cy="4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2" name="Line 19">
              <a:extLst>
                <a:ext uri="{FF2B5EF4-FFF2-40B4-BE49-F238E27FC236}">
                  <a16:creationId xmlns:a16="http://schemas.microsoft.com/office/drawing/2014/main" id="{07A841EB-4197-7595-54B8-B25EB31A9124}"/>
                </a:ext>
              </a:extLst>
            </p:cNvPr>
            <p:cNvSpPr>
              <a:spLocks noChangeShapeType="1"/>
            </p:cNvSpPr>
            <p:nvPr/>
          </p:nvSpPr>
          <p:spPr bwMode="auto">
            <a:xfrm>
              <a:off x="3923" y="2795"/>
              <a:ext cx="409"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3" name="Text Box 20">
            <a:extLst>
              <a:ext uri="{FF2B5EF4-FFF2-40B4-BE49-F238E27FC236}">
                <a16:creationId xmlns:a16="http://schemas.microsoft.com/office/drawing/2014/main" id="{662F085D-AA33-FD71-0902-59235CB9F710}"/>
              </a:ext>
            </a:extLst>
          </p:cNvPr>
          <p:cNvSpPr txBox="1">
            <a:spLocks noChangeArrowheads="1"/>
          </p:cNvSpPr>
          <p:nvPr/>
        </p:nvSpPr>
        <p:spPr bwMode="auto">
          <a:xfrm>
            <a:off x="9432019" y="4630511"/>
            <a:ext cx="20415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0">
                <a:ea typeface="华文楷体" panose="02010600040101010101" pitchFamily="2" charset="-122"/>
                <a:cs typeface="宋体" panose="02010600030101010101" pitchFamily="2" charset="-122"/>
              </a:rPr>
              <a:t>+【</a:t>
            </a:r>
            <a:r>
              <a:rPr lang="zh-CN" altLang="en-US" sz="3200" b="0">
                <a:ea typeface="华文楷体" panose="02010600040101010101" pitchFamily="2" charset="-122"/>
                <a:cs typeface="宋体" panose="02010600030101010101" pitchFamily="2" charset="-122"/>
              </a:rPr>
              <a:t>生命</a:t>
            </a:r>
            <a:r>
              <a:rPr lang="en-US" altLang="zh-CN" sz="3200" b="0">
                <a:ea typeface="华文楷体" panose="02010600040101010101" pitchFamily="2" charset="-122"/>
                <a:cs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6" grpId="0"/>
      <p:bldP spid="17" grpId="0" animBg="1"/>
      <p:bldP spid="21" grpId="0" animBg="1"/>
      <p:bldP spid="22" grpId="0"/>
      <p:bldP spid="3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Box 3">
            <a:extLst>
              <a:ext uri="{FF2B5EF4-FFF2-40B4-BE49-F238E27FC236}">
                <a16:creationId xmlns:a16="http://schemas.microsoft.com/office/drawing/2014/main" id="{0A796F74-2600-0BFB-CE55-C19291C41F61}"/>
              </a:ext>
            </a:extLst>
          </p:cNvPr>
          <p:cNvSpPr txBox="1">
            <a:spLocks noChangeArrowheads="1"/>
          </p:cNvSpPr>
          <p:nvPr/>
        </p:nvSpPr>
        <p:spPr bwMode="auto">
          <a:xfrm>
            <a:off x="2224542" y="1098219"/>
            <a:ext cx="7121525" cy="608012"/>
          </a:xfrm>
          <a:prstGeom prst="rect">
            <a:avLst/>
          </a:prstGeom>
          <a:solidFill>
            <a:schemeClr val="bg1"/>
          </a:solidFill>
          <a:ln w="28575">
            <a:noFill/>
            <a:miter lim="800000"/>
            <a:headEnd/>
            <a:tailEnd/>
          </a:ln>
          <a:effectLst/>
        </p:spPr>
        <p:txBody>
          <a:bodyPr wrap="none">
            <a:spAutoFit/>
          </a:bodyPr>
          <a:lstStyle/>
          <a:p>
            <a:pPr>
              <a:defRPr/>
            </a:pPr>
            <a:r>
              <a:rPr lang="zh-CN" altLang="en-US" sz="3200" dirty="0">
                <a:ea typeface="华文楷体" pitchFamily="2" charset="-122"/>
                <a:cs typeface="宋体" pitchFamily="2" charset="-122"/>
              </a:rPr>
              <a:t>能量流过系统可以使系统有序性增加。</a:t>
            </a:r>
          </a:p>
        </p:txBody>
      </p:sp>
      <p:sp>
        <p:nvSpPr>
          <p:cNvPr id="31748" name="Text Box 4">
            <a:extLst>
              <a:ext uri="{FF2B5EF4-FFF2-40B4-BE49-F238E27FC236}">
                <a16:creationId xmlns:a16="http://schemas.microsoft.com/office/drawing/2014/main" id="{684ECCD0-5ACF-E083-02A5-71C81D8A3BC3}"/>
              </a:ext>
            </a:extLst>
          </p:cNvPr>
          <p:cNvSpPr txBox="1">
            <a:spLocks noChangeArrowheads="1"/>
          </p:cNvSpPr>
          <p:nvPr/>
        </p:nvSpPr>
        <p:spPr bwMode="auto">
          <a:xfrm>
            <a:off x="997630" y="4102221"/>
            <a:ext cx="10461397" cy="1827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b="0" dirty="0">
                <a:ea typeface="华文楷体" panose="02010600040101010101" pitchFamily="2" charset="-122"/>
                <a:cs typeface="宋体" panose="02010600030101010101" pitchFamily="2" charset="-122"/>
              </a:rPr>
              <a:t>     </a:t>
            </a:r>
            <a:r>
              <a:rPr lang="zh-CN" altLang="en-US" sz="3200" b="0" dirty="0">
                <a:solidFill>
                  <a:srgbClr val="FF0000"/>
                </a:solidFill>
                <a:ea typeface="华文楷体" panose="02010600040101010101" pitchFamily="2" charset="-122"/>
                <a:cs typeface="宋体" panose="02010600030101010101" pitchFamily="2" charset="-122"/>
              </a:rPr>
              <a:t>生命不能无中生有创造有序。生命俘获有序，</a:t>
            </a:r>
            <a:r>
              <a:rPr lang="zh-CN" altLang="en-US" sz="3200" b="0" dirty="0">
                <a:ea typeface="华文楷体" panose="02010600040101010101" pitchFamily="2" charset="-122"/>
                <a:cs typeface="宋体" panose="02010600030101010101" pitchFamily="2" charset="-122"/>
              </a:rPr>
              <a:t>有序根本上都来自于太阳。这些有序通过一系列错综复杂的过程，慢慢流经生物圈，这些过程一般地称为</a:t>
            </a:r>
            <a:r>
              <a:rPr lang="zh-CN" altLang="en-US" sz="3200" b="0" dirty="0">
                <a:solidFill>
                  <a:srgbClr val="FF0000"/>
                </a:solidFill>
                <a:ea typeface="华文楷体" panose="02010600040101010101" pitchFamily="2" charset="-122"/>
                <a:cs typeface="宋体" panose="02010600030101010101" pitchFamily="2" charset="-122"/>
              </a:rPr>
              <a:t>自由能转换</a:t>
            </a:r>
            <a:r>
              <a:rPr lang="zh-CN" altLang="en-US" sz="3200" b="0" dirty="0">
                <a:ea typeface="华文楷体" panose="02010600040101010101" pitchFamily="2" charset="-122"/>
                <a:cs typeface="宋体" panose="02010600030101010101" pitchFamily="2" charset="-122"/>
              </a:rPr>
              <a:t>。</a:t>
            </a:r>
          </a:p>
        </p:txBody>
      </p:sp>
      <p:sp>
        <p:nvSpPr>
          <p:cNvPr id="31749" name="Text Box 5">
            <a:extLst>
              <a:ext uri="{FF2B5EF4-FFF2-40B4-BE49-F238E27FC236}">
                <a16:creationId xmlns:a16="http://schemas.microsoft.com/office/drawing/2014/main" id="{504263AA-1C7C-3CD0-3717-17E87EEC660C}"/>
              </a:ext>
            </a:extLst>
          </p:cNvPr>
          <p:cNvSpPr txBox="1">
            <a:spLocks noChangeArrowheads="1"/>
          </p:cNvSpPr>
          <p:nvPr/>
        </p:nvSpPr>
        <p:spPr bwMode="auto">
          <a:xfrm>
            <a:off x="903288" y="1894916"/>
            <a:ext cx="10258197" cy="1827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8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8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8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8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3200" b="0" dirty="0">
                <a:ea typeface="华文楷体" panose="02010600040101010101" pitchFamily="2" charset="-122"/>
                <a:cs typeface="宋体" panose="02010600030101010101" pitchFamily="2" charset="-122"/>
              </a:rPr>
              <a:t>    动植物消耗高品质能量，放出低品质能量，用来抵抗热无序的退化趋势。如果有剩余，则创造有序，如盖房子等活动，</a:t>
            </a:r>
            <a:r>
              <a:rPr lang="zh-CN" altLang="en-US" sz="3200" b="0" dirty="0">
                <a:solidFill>
                  <a:srgbClr val="FF0000"/>
                </a:solidFill>
                <a:ea typeface="华文楷体" panose="02010600040101010101" pitchFamily="2" charset="-122"/>
                <a:cs typeface="宋体" panose="02010600030101010101" pitchFamily="2" charset="-122"/>
              </a:rPr>
              <a:t>所以动植物消耗的是有序，而不是能量。</a:t>
            </a:r>
          </a:p>
        </p:txBody>
      </p:sp>
      <p:sp>
        <p:nvSpPr>
          <p:cNvPr id="2" name="Text Box 13">
            <a:hlinkClick r:id="" action="ppaction://noaction"/>
            <a:extLst>
              <a:ext uri="{FF2B5EF4-FFF2-40B4-BE49-F238E27FC236}">
                <a16:creationId xmlns:a16="http://schemas.microsoft.com/office/drawing/2014/main" id="{9AB65220-4480-788B-7011-B679D5271197}"/>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有序与无序</a:t>
            </a:r>
            <a:endParaRPr kumimoji="1" lang="zh-CN" altLang="en-US" sz="3200" dirty="0">
              <a:solidFill>
                <a:srgbClr val="0066FF"/>
              </a:solidFill>
              <a:latin typeface="+mn-lt"/>
              <a:ea typeface="+mn-ea"/>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1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animBg="1"/>
      <p:bldP spid="31748" grpId="0"/>
      <p:bldP spid="3174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4F523F54-A515-2030-BC06-983C8E8E7E92}"/>
              </a:ext>
            </a:extLst>
          </p:cNvPr>
          <p:cNvSpPr txBox="1">
            <a:spLocks/>
          </p:cNvSpPr>
          <p:nvPr/>
        </p:nvSpPr>
        <p:spPr>
          <a:xfrm>
            <a:off x="1599478" y="2311400"/>
            <a:ext cx="9511207" cy="4456113"/>
          </a:xfrm>
          <a:prstGeom prst="rect">
            <a:avLst/>
          </a:prstGeo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zh-CN" altLang="en-US" sz="3200" dirty="0"/>
              <a:t>宇宙不能看成孤立系统</a:t>
            </a:r>
            <a:endParaRPr lang="en-US" altLang="zh-CN" sz="3200" dirty="0"/>
          </a:p>
          <a:p>
            <a:pPr>
              <a:buFontTx/>
              <a:buChar char="-"/>
            </a:pPr>
            <a:endParaRPr lang="zh-CN" altLang="en-US" sz="3200" dirty="0"/>
          </a:p>
          <a:p>
            <a:pPr marL="0" indent="0">
              <a:buNone/>
            </a:pPr>
            <a:r>
              <a:rPr lang="en-US" altLang="zh-CN" sz="3200" dirty="0"/>
              <a:t>- </a:t>
            </a:r>
            <a:r>
              <a:rPr lang="zh-CN" altLang="en-US" sz="3200" dirty="0"/>
              <a:t>宇宙在膨胀，每一个状态对应一个最大熵值 ，膨胀着的宇宙这个值也随着系统的膨胀而增加。当膨胀得足够快时，实际的熵增落后于最大熵值的增长。</a:t>
            </a:r>
          </a:p>
        </p:txBody>
      </p:sp>
      <p:sp>
        <p:nvSpPr>
          <p:cNvPr id="3" name="Text Box 13">
            <a:hlinkClick r:id="" action="ppaction://noaction"/>
            <a:extLst>
              <a:ext uri="{FF2B5EF4-FFF2-40B4-BE49-F238E27FC236}">
                <a16:creationId xmlns:a16="http://schemas.microsoft.com/office/drawing/2014/main" id="{55C7A628-84F9-7800-1BF8-103E362D797D}"/>
              </a:ext>
            </a:extLst>
          </p:cNvPr>
          <p:cNvSpPr txBox="1">
            <a:spLocks noChangeArrowheads="1"/>
          </p:cNvSpPr>
          <p:nvPr/>
        </p:nvSpPr>
        <p:spPr bwMode="auto">
          <a:xfrm>
            <a:off x="570428" y="422957"/>
            <a:ext cx="361694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457200" lvl="0" indent="-457200" eaLnBrk="1" hangingPunct="1">
              <a:buFont typeface="Wingdings" panose="05000000000000000000" pitchFamily="2" charset="2"/>
              <a:buChar char="q"/>
              <a:defRPr/>
            </a:pPr>
            <a:r>
              <a:rPr kumimoji="1"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热寂说</a:t>
            </a:r>
            <a:endParaRPr kumimoji="1" lang="zh-CN" altLang="en-US" sz="3200" dirty="0">
              <a:solidFill>
                <a:srgbClr val="0066FF"/>
              </a:solidFill>
              <a:latin typeface="+mn-lt"/>
              <a:ea typeface="+mn-ea"/>
              <a:cs typeface="Times New Roman" panose="02020603050405020304" pitchFamily="18" charset="0"/>
            </a:endParaRPr>
          </a:p>
        </p:txBody>
      </p:sp>
      <p:sp>
        <p:nvSpPr>
          <p:cNvPr id="4" name="Rectangle 4">
            <a:extLst>
              <a:ext uri="{FF2B5EF4-FFF2-40B4-BE49-F238E27FC236}">
                <a16:creationId xmlns:a16="http://schemas.microsoft.com/office/drawing/2014/main" id="{89CDF72B-986D-1426-6AF2-96CDA1124BA3}"/>
              </a:ext>
            </a:extLst>
          </p:cNvPr>
          <p:cNvSpPr/>
          <p:nvPr/>
        </p:nvSpPr>
        <p:spPr>
          <a:xfrm>
            <a:off x="2378899" y="1232949"/>
            <a:ext cx="6670758" cy="645177"/>
          </a:xfrm>
          <a:prstGeom prst="rect">
            <a:avLst/>
          </a:prstGeom>
          <a:noFill/>
          <a:ln w="9525">
            <a:noFill/>
          </a:ln>
        </p:spPr>
        <p:txBody>
          <a:bodyPr wrap="square">
            <a:spAutoFit/>
          </a:bodyPr>
          <a:lstStyle/>
          <a:p>
            <a:pPr eaLnBrk="1" hangingPunct="1">
              <a:lnSpc>
                <a:spcPct val="120000"/>
              </a:lnSpc>
              <a:spcBef>
                <a:spcPct val="50000"/>
              </a:spcBef>
            </a:pPr>
            <a:r>
              <a:rPr lang="zh-CN" altLang="en-US" sz="3200" dirty="0">
                <a:solidFill>
                  <a:srgbClr val="000000"/>
                </a:solidFill>
                <a:latin typeface="Arial" panose="020B0604020202020204" pitchFamily="34" charset="0"/>
              </a:rPr>
              <a:t>宇宙的结局是一个死寂的永恒状态？</a:t>
            </a:r>
          </a:p>
        </p:txBody>
      </p:sp>
    </p:spTree>
    <p:extLst>
      <p:ext uri="{BB962C8B-B14F-4D97-AF65-F5344CB8AC3E}">
        <p14:creationId xmlns:p14="http://schemas.microsoft.com/office/powerpoint/2010/main" val="3918844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大学物理">
      <a:majorFont>
        <a:latin typeface="Times New Roman"/>
        <a:ea typeface="华文楷体"/>
        <a:cs typeface=""/>
      </a:majorFont>
      <a:minorFont>
        <a:latin typeface="Times New Roman"/>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4182</TotalTime>
  <Words>2372</Words>
  <Application>Microsoft Office PowerPoint</Application>
  <PresentationFormat>宽屏</PresentationFormat>
  <Paragraphs>450</Paragraphs>
  <Slides>45</Slides>
  <Notes>1</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3</vt:i4>
      </vt:variant>
      <vt:variant>
        <vt:lpstr>幻灯片标题</vt:lpstr>
      </vt:variant>
      <vt:variant>
        <vt:i4>45</vt:i4>
      </vt:variant>
    </vt:vector>
  </HeadingPairs>
  <TitlesOfParts>
    <vt:vector size="67" baseType="lpstr">
      <vt:lpstr>Helvetica Neue</vt:lpstr>
      <vt:lpstr>Hiragino Sans GB</vt:lpstr>
      <vt:lpstr>Microsoft Yahei</vt:lpstr>
      <vt:lpstr>Monotype Sorts</vt:lpstr>
      <vt:lpstr>等线</vt:lpstr>
      <vt:lpstr>黑体</vt:lpstr>
      <vt:lpstr>华文楷体</vt:lpstr>
      <vt:lpstr>楷体</vt:lpstr>
      <vt:lpstr>楷体_GB2312</vt:lpstr>
      <vt:lpstr>宋体</vt:lpstr>
      <vt:lpstr>Arial</vt:lpstr>
      <vt:lpstr>Bookman Old Style</vt:lpstr>
      <vt:lpstr>Calibri</vt:lpstr>
      <vt:lpstr>Cambria Math</vt:lpstr>
      <vt:lpstr>MT Extra</vt:lpstr>
      <vt:lpstr>Symbol</vt:lpstr>
      <vt:lpstr>Times New Roman</vt:lpstr>
      <vt:lpstr>Wingdings</vt:lpstr>
      <vt:lpstr>Office 主题​​</vt:lpstr>
      <vt:lpstr>公式</vt:lpstr>
      <vt:lpstr>Equation.3</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Jingcheng  Li</dc:creator>
  <cp:lastModifiedBy>Jingcheng  Li</cp:lastModifiedBy>
  <cp:revision>104</cp:revision>
  <dcterms:created xsi:type="dcterms:W3CDTF">2023-02-17T03:39:54Z</dcterms:created>
  <dcterms:modified xsi:type="dcterms:W3CDTF">2024-03-05T01:28:07Z</dcterms:modified>
</cp:coreProperties>
</file>