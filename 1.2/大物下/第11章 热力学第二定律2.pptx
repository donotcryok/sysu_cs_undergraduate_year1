
<file path=[Content_Types].xml><?xml version="1.0" encoding="utf-8"?>
<Types xmlns="http://schemas.openxmlformats.org/package/2006/content-types">
  <Default Extension="bin" ContentType="application/vnd.openxmlformats-officedocument.oleObject"/>
  <Default Extension="tmp" ContentType="image/png"/>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200.xml" ContentType="application/vnd.openxmlformats-officedocument.presentationml.tags+xml"/>
  <Override PartName="/ppt/tags/tag210.xml" ContentType="application/vnd.openxmlformats-officedocument.presentationml.tags+xml"/>
  <Override PartName="/ppt/tags/tag220.xml" ContentType="application/vnd.openxmlformats-officedocument.presentationml.tags+xml"/>
  <Override PartName="/ppt/tags/tag23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1187" r:id="rId2"/>
    <p:sldId id="1066" r:id="rId3"/>
    <p:sldId id="1189" r:id="rId4"/>
    <p:sldId id="1190" r:id="rId5"/>
    <p:sldId id="1094" r:id="rId6"/>
    <p:sldId id="1099" r:id="rId7"/>
    <p:sldId id="1098" r:id="rId8"/>
    <p:sldId id="293" r:id="rId9"/>
    <p:sldId id="1100" r:id="rId10"/>
    <p:sldId id="1109" r:id="rId11"/>
    <p:sldId id="591" r:id="rId12"/>
    <p:sldId id="592" r:id="rId13"/>
    <p:sldId id="593" r:id="rId14"/>
    <p:sldId id="1102" r:id="rId15"/>
    <p:sldId id="596" r:id="rId16"/>
    <p:sldId id="597" r:id="rId17"/>
    <p:sldId id="598" r:id="rId18"/>
    <p:sldId id="1114" r:id="rId19"/>
    <p:sldId id="429" r:id="rId20"/>
    <p:sldId id="599" r:id="rId21"/>
    <p:sldId id="1104" r:id="rId22"/>
    <p:sldId id="1110" r:id="rId23"/>
    <p:sldId id="1111" r:id="rId24"/>
    <p:sldId id="1112" r:id="rId25"/>
    <p:sldId id="391" r:id="rId26"/>
    <p:sldId id="473" r:id="rId27"/>
    <p:sldId id="481" r:id="rId28"/>
    <p:sldId id="419" r:id="rId29"/>
    <p:sldId id="649" r:id="rId30"/>
    <p:sldId id="360" r:id="rId31"/>
    <p:sldId id="1092" r:id="rId32"/>
    <p:sldId id="432" r:id="rId33"/>
    <p:sldId id="433" r:id="rId34"/>
    <p:sldId id="434" r:id="rId35"/>
    <p:sldId id="436" r:id="rId36"/>
    <p:sldId id="437" r:id="rId37"/>
    <p:sldId id="438" r:id="rId38"/>
    <p:sldId id="118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92" autoAdjust="0"/>
    <p:restoredTop sz="94662" autoAdjust="0"/>
  </p:normalViewPr>
  <p:slideViewPr>
    <p:cSldViewPr snapToGrid="0">
      <p:cViewPr>
        <p:scale>
          <a:sx n="150" d="100"/>
          <a:sy n="150" d="100"/>
        </p:scale>
        <p:origin x="324"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3/7/2024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361FE689-547E-4EC7-A7DE-41A4901E6B75}" type="slidenum">
              <a:rPr lang="en-US" smtClean="0"/>
              <a:t>5</a:t>
            </a:fld>
            <a:endParaRPr lang="en-US"/>
          </a:p>
        </p:txBody>
      </p:sp>
    </p:spTree>
    <p:extLst>
      <p:ext uri="{BB962C8B-B14F-4D97-AF65-F5344CB8AC3E}">
        <p14:creationId xmlns:p14="http://schemas.microsoft.com/office/powerpoint/2010/main" val="2477020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平衡过程可能存在能量消耗，如摩擦。等压膨胀再压缩</a:t>
            </a:r>
            <a:endParaRPr lang="en-US" dirty="0"/>
          </a:p>
        </p:txBody>
      </p:sp>
      <p:sp>
        <p:nvSpPr>
          <p:cNvPr id="4" name="灯片编号占位符 3"/>
          <p:cNvSpPr>
            <a:spLocks noGrp="1"/>
          </p:cNvSpPr>
          <p:nvPr>
            <p:ph type="sldNum" sz="quarter" idx="5"/>
          </p:nvPr>
        </p:nvSpPr>
        <p:spPr/>
        <p:txBody>
          <a:bodyPr/>
          <a:lstStyle/>
          <a:p>
            <a:fld id="{361FE689-547E-4EC7-A7DE-41A4901E6B75}" type="slidenum">
              <a:rPr lang="en-US" smtClean="0"/>
              <a:t>7</a:t>
            </a:fld>
            <a:endParaRPr lang="en-US"/>
          </a:p>
        </p:txBody>
      </p:sp>
    </p:spTree>
    <p:extLst>
      <p:ext uri="{BB962C8B-B14F-4D97-AF65-F5344CB8AC3E}">
        <p14:creationId xmlns:p14="http://schemas.microsoft.com/office/powerpoint/2010/main" val="1377191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3/7/2024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8D7A1BC-E4FD-00C4-2887-67F01472051D}"/>
              </a:ext>
            </a:extLst>
          </p:cNvPr>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D69F37F7-181B-4072-18FA-18DB0D3B10E4}"/>
              </a:ext>
            </a:extLst>
          </p:cNvPr>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8B2669D1-4218-3350-60DD-026BD311C2AE}"/>
              </a:ext>
            </a:extLst>
          </p:cNvPr>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3B6E798C-06F0-6DB5-E0AE-82F4D3040AFB}"/>
              </a:ext>
            </a:extLst>
          </p:cNvPr>
          <p:cNvSpPr>
            <a:spLocks noGrp="1"/>
          </p:cNvSpPr>
          <p:nvPr>
            <p:ph type="sldNum" sz="quarter" idx="12"/>
          </p:nvPr>
        </p:nvSpPr>
        <p:spPr>
          <a:xfrm>
            <a:off x="8737600" y="6248400"/>
            <a:ext cx="2540000" cy="457200"/>
          </a:xfrm>
        </p:spPr>
        <p:txBody>
          <a:bodyPr/>
          <a:lstStyle>
            <a:lvl1pPr>
              <a:defRPr/>
            </a:lvl1pPr>
          </a:lstStyle>
          <a:p>
            <a:fld id="{5A02B1F7-0A56-419D-A694-C8A20B6D5291}" type="slidenum">
              <a:rPr lang="en-US" altLang="zh-CN"/>
              <a:pPr/>
              <a:t>‹#›</a:t>
            </a:fld>
            <a:endParaRPr lang="en-US" altLang="zh-CN"/>
          </a:p>
        </p:txBody>
      </p:sp>
    </p:spTree>
    <p:extLst>
      <p:ext uri="{BB962C8B-B14F-4D97-AF65-F5344CB8AC3E}">
        <p14:creationId xmlns:p14="http://schemas.microsoft.com/office/powerpoint/2010/main" val="1908471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3/7/2024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3.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42.png"/><Relationship Id="rId26" Type="http://schemas.openxmlformats.org/officeDocument/2006/relationships/image" Target="../media/image50.png"/><Relationship Id="rId3" Type="http://schemas.openxmlformats.org/officeDocument/2006/relationships/image" Target="../media/image22.png"/><Relationship Id="rId21" Type="http://schemas.openxmlformats.org/officeDocument/2006/relationships/image" Target="../media/image45.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41.png"/><Relationship Id="rId25" Type="http://schemas.openxmlformats.org/officeDocument/2006/relationships/image" Target="../media/image49.png"/><Relationship Id="rId2" Type="http://schemas.openxmlformats.org/officeDocument/2006/relationships/image" Target="../media/image15.png"/><Relationship Id="rId16" Type="http://schemas.openxmlformats.org/officeDocument/2006/relationships/image" Target="../media/image35.png"/><Relationship Id="rId20"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24" Type="http://schemas.openxmlformats.org/officeDocument/2006/relationships/image" Target="../media/image48.pn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7.png"/><Relationship Id="rId10" Type="http://schemas.openxmlformats.org/officeDocument/2006/relationships/image" Target="../media/image8.png"/><Relationship Id="rId19" Type="http://schemas.openxmlformats.org/officeDocument/2006/relationships/image" Target="../media/image43.png"/><Relationship Id="rId4" Type="http://schemas.openxmlformats.org/officeDocument/2006/relationships/image" Target="../media/image23.png"/><Relationship Id="rId9" Type="http://schemas.openxmlformats.org/officeDocument/2006/relationships/image" Target="../media/image4.png"/><Relationship Id="rId14" Type="http://schemas.openxmlformats.org/officeDocument/2006/relationships/image" Target="../media/image33.png"/><Relationship Id="rId22" Type="http://schemas.openxmlformats.org/officeDocument/2006/relationships/image" Target="../media/image46.png"/><Relationship Id="rId27"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42.png"/><Relationship Id="rId26" Type="http://schemas.openxmlformats.org/officeDocument/2006/relationships/image" Target="../media/image54.png"/><Relationship Id="rId3" Type="http://schemas.openxmlformats.org/officeDocument/2006/relationships/image" Target="../media/image22.png"/><Relationship Id="rId21" Type="http://schemas.openxmlformats.org/officeDocument/2006/relationships/image" Target="../media/image45.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41.png"/><Relationship Id="rId25" Type="http://schemas.openxmlformats.org/officeDocument/2006/relationships/image" Target="../media/image53.png"/><Relationship Id="rId2" Type="http://schemas.openxmlformats.org/officeDocument/2006/relationships/image" Target="../media/image15.png"/><Relationship Id="rId16" Type="http://schemas.openxmlformats.org/officeDocument/2006/relationships/image" Target="../media/image35.png"/><Relationship Id="rId20"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24" Type="http://schemas.openxmlformats.org/officeDocument/2006/relationships/image" Target="../media/image52.pn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7.png"/><Relationship Id="rId10" Type="http://schemas.openxmlformats.org/officeDocument/2006/relationships/image" Target="../media/image29.png"/><Relationship Id="rId19" Type="http://schemas.openxmlformats.org/officeDocument/2006/relationships/image" Target="../media/image43.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10.png"/><Relationship Id="rId7" Type="http://schemas.openxmlformats.org/officeDocument/2006/relationships/image" Target="../media/image9.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s>
</file>

<file path=ppt/slides/_rels/slide1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320.png"/><Relationship Id="rId7" Type="http://schemas.openxmlformats.org/officeDocument/2006/relationships/image" Target="../media/image61.png"/><Relationship Id="rId2" Type="http://schemas.openxmlformats.org/officeDocument/2006/relationships/image" Target="../media/image31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0.png"/><Relationship Id="rId10" Type="http://schemas.openxmlformats.org/officeDocument/2006/relationships/image" Target="../media/image64.png"/><Relationship Id="rId4" Type="http://schemas.openxmlformats.org/officeDocument/2006/relationships/image" Target="../media/image330.png"/><Relationship Id="rId9" Type="http://schemas.openxmlformats.org/officeDocument/2006/relationships/image" Target="../media/image63.png"/></Relationships>
</file>

<file path=ppt/slides/_rels/slide13.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0.png"/><Relationship Id="rId7" Type="http://schemas.openxmlformats.org/officeDocument/2006/relationships/image" Target="../media/image69.pn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image" Target="../media/image71.png"/></Relationships>
</file>

<file path=ppt/slides/_rels/slide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68.png"/><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1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17.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90.png"/><Relationship Id="rId7" Type="http://schemas.openxmlformats.org/officeDocument/2006/relationships/image" Target="../media/image93.png"/><Relationship Id="rId2" Type="http://schemas.openxmlformats.org/officeDocument/2006/relationships/image" Target="../media/image720.png"/><Relationship Id="rId1" Type="http://schemas.openxmlformats.org/officeDocument/2006/relationships/slideLayout" Target="../slideLayouts/slideLayout7.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750.png"/><Relationship Id="rId10" Type="http://schemas.openxmlformats.org/officeDocument/2006/relationships/image" Target="../media/image96.png"/><Relationship Id="rId4" Type="http://schemas.openxmlformats.org/officeDocument/2006/relationships/image" Target="../media/image91.png"/><Relationship Id="rId9" Type="http://schemas.openxmlformats.org/officeDocument/2006/relationships/image" Target="../media/image95.png"/></Relationships>
</file>

<file path=ppt/slides/_rels/slide18.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230.xml"/><Relationship Id="rId3" Type="http://schemas.openxmlformats.org/officeDocument/2006/relationships/tags" Target="../tags/tag19.xml"/><Relationship Id="rId21" Type="http://schemas.openxmlformats.org/officeDocument/2006/relationships/image" Target="../media/image911.png"/><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image" Target="../media/image11.png"/><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tags" Target="../tags/tag200.xml"/><Relationship Id="rId29" Type="http://schemas.openxmlformats.org/officeDocument/2006/relationships/oleObject" Target="../embeddings/oleObject2.bin"/><Relationship Id="rId1" Type="http://schemas.openxmlformats.org/officeDocument/2006/relationships/vmlDrawing" Target="../drawings/vmlDrawing2.v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tags" Target="../tags/tag220.xml"/><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image" Target="../media/image1010.png"/><Relationship Id="rId28" Type="http://schemas.openxmlformats.org/officeDocument/2006/relationships/image" Target="../media/image13.png"/><Relationship Id="rId10" Type="http://schemas.openxmlformats.org/officeDocument/2006/relationships/tags" Target="../tags/tag26.xml"/><Relationship Id="rId19" Type="http://schemas.openxmlformats.org/officeDocument/2006/relationships/slideLayout" Target="../slideLayouts/slideLayout7.xml"/><Relationship Id="rId31" Type="http://schemas.openxmlformats.org/officeDocument/2006/relationships/image" Target="../media/image3.tmp"/><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210.xml"/><Relationship Id="rId27" Type="http://schemas.openxmlformats.org/officeDocument/2006/relationships/image" Target="../media/image12.png"/><Relationship Id="rId30" Type="http://schemas.openxmlformats.org/officeDocument/2006/relationships/image" Target="../media/image9.wmf"/></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4.png"/><Relationship Id="rId7" Type="http://schemas.openxmlformats.org/officeDocument/2006/relationships/image" Target="../media/image2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2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940.png"/><Relationship Id="rId7" Type="http://schemas.openxmlformats.org/officeDocument/2006/relationships/image" Target="../media/image103.png"/><Relationship Id="rId12" Type="http://schemas.openxmlformats.org/officeDocument/2006/relationships/image" Target="../media/image930.png"/><Relationship Id="rId1" Type="http://schemas.openxmlformats.org/officeDocument/2006/relationships/slideLayout" Target="../slideLayouts/slideLayout7.xml"/><Relationship Id="rId6" Type="http://schemas.openxmlformats.org/officeDocument/2006/relationships/image" Target="../media/image890.png"/><Relationship Id="rId11" Type="http://schemas.openxmlformats.org/officeDocument/2006/relationships/image" Target="../media/image920.png"/><Relationship Id="rId5" Type="http://schemas.openxmlformats.org/officeDocument/2006/relationships/image" Target="../media/image880.png"/><Relationship Id="rId10" Type="http://schemas.openxmlformats.org/officeDocument/2006/relationships/image" Target="../media/image910.png"/><Relationship Id="rId9" Type="http://schemas.openxmlformats.org/officeDocument/2006/relationships/image" Target="../media/image900.png"/></Relationships>
</file>

<file path=ppt/slides/_rels/slide23.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24.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oleObject" Target="../embeddings/oleObject3.bin"/><Relationship Id="rId7" Type="http://schemas.openxmlformats.org/officeDocument/2006/relationships/image" Target="../media/image114.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39.wmf"/></Relationships>
</file>

<file path=ppt/slides/_rels/slide25.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4.png"/><Relationship Id="rId3" Type="http://schemas.openxmlformats.org/officeDocument/2006/relationships/image" Target="../media/image39.png"/><Relationship Id="rId7" Type="http://schemas.openxmlformats.org/officeDocument/2006/relationships/image" Target="../media/image120.png"/><Relationship Id="rId12" Type="http://schemas.openxmlformats.org/officeDocument/2006/relationships/image" Target="../media/image41.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19.png"/><Relationship Id="rId11" Type="http://schemas.openxmlformats.org/officeDocument/2006/relationships/oleObject" Target="../embeddings/oleObject5.bin"/><Relationship Id="rId5" Type="http://schemas.openxmlformats.org/officeDocument/2006/relationships/image" Target="../media/image118.png"/><Relationship Id="rId10" Type="http://schemas.openxmlformats.org/officeDocument/2006/relationships/image" Target="../media/image40.emf"/><Relationship Id="rId4" Type="http://schemas.openxmlformats.org/officeDocument/2006/relationships/image" Target="../media/image117.png"/><Relationship Id="rId9" Type="http://schemas.openxmlformats.org/officeDocument/2006/relationships/oleObject" Target="../embeddings/oleObject4.bin"/><Relationship Id="rId14" Type="http://schemas.openxmlformats.org/officeDocument/2006/relationships/image" Target="../media/image125.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42.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44.png"/><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44.wmf"/><Relationship Id="rId5" Type="http://schemas.openxmlformats.org/officeDocument/2006/relationships/oleObject" Target="../embeddings/oleObject8.bin"/><Relationship Id="rId4" Type="http://schemas.openxmlformats.org/officeDocument/2006/relationships/image" Target="../media/image43.wmf"/></Relationships>
</file>

<file path=ppt/slides/_rels/slide2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3" Type="http://schemas.openxmlformats.org/officeDocument/2006/relationships/image" Target="../media/image46.jpe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 Type="http://schemas.openxmlformats.org/officeDocument/2006/relationships/image" Target="../media/image45.jpeg"/><Relationship Id="rId16" Type="http://schemas.openxmlformats.org/officeDocument/2006/relationships/image" Target="../media/image137.png"/><Relationship Id="rId1" Type="http://schemas.openxmlformats.org/officeDocument/2006/relationships/slideLayout" Target="../slideLayouts/slideLayout7.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36.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47.jpeg"/><Relationship Id="rId9" Type="http://schemas.openxmlformats.org/officeDocument/2006/relationships/image" Target="../media/image130.png"/><Relationship Id="rId14" Type="http://schemas.openxmlformats.org/officeDocument/2006/relationships/image" Target="../media/image1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png"/><Relationship Id="rId1" Type="http://schemas.openxmlformats.org/officeDocument/2006/relationships/slideLayout" Target="../slideLayouts/slideLayout7.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3.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152.png"/><Relationship Id="rId7" Type="http://schemas.openxmlformats.org/officeDocument/2006/relationships/image" Target="../media/image156.png"/><Relationship Id="rId2" Type="http://schemas.openxmlformats.org/officeDocument/2006/relationships/image" Target="../media/image151.png"/><Relationship Id="rId1" Type="http://schemas.openxmlformats.org/officeDocument/2006/relationships/slideLayout" Target="../slideLayouts/slideLayout7.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 Id="rId9" Type="http://schemas.openxmlformats.org/officeDocument/2006/relationships/image" Target="../media/image158.png"/></Relationships>
</file>

<file path=ppt/slides/_rels/slide34.xml.rels><?xml version="1.0" encoding="UTF-8" standalone="yes"?>
<Relationships xmlns="http://schemas.openxmlformats.org/package/2006/relationships"><Relationship Id="rId18" Type="http://schemas.openxmlformats.org/officeDocument/2006/relationships/image" Target="../media/image600.png"/><Relationship Id="rId26" Type="http://schemas.openxmlformats.org/officeDocument/2006/relationships/image" Target="../media/image166.png"/><Relationship Id="rId21" Type="http://schemas.openxmlformats.org/officeDocument/2006/relationships/image" Target="../media/image161.png"/><Relationship Id="rId25" Type="http://schemas.openxmlformats.org/officeDocument/2006/relationships/image" Target="../media/image165.png"/><Relationship Id="rId20" Type="http://schemas.openxmlformats.org/officeDocument/2006/relationships/image" Target="../media/image160.png"/><Relationship Id="rId29" Type="http://schemas.openxmlformats.org/officeDocument/2006/relationships/image" Target="../media/image167.png"/><Relationship Id="rId1" Type="http://schemas.openxmlformats.org/officeDocument/2006/relationships/slideLayout" Target="../slideLayouts/slideLayout7.xml"/><Relationship Id="rId24" Type="http://schemas.openxmlformats.org/officeDocument/2006/relationships/image" Target="../media/image164.png"/><Relationship Id="rId23" Type="http://schemas.openxmlformats.org/officeDocument/2006/relationships/image" Target="../media/image163.png"/><Relationship Id="rId28" Type="http://schemas.openxmlformats.org/officeDocument/2006/relationships/image" Target="../media/image220.png"/><Relationship Id="rId19" Type="http://schemas.openxmlformats.org/officeDocument/2006/relationships/image" Target="../media/image159.png"/><Relationship Id="rId22" Type="http://schemas.openxmlformats.org/officeDocument/2006/relationships/image" Target="../media/image162.png"/><Relationship Id="rId27" Type="http://schemas.openxmlformats.org/officeDocument/2006/relationships/image" Target="../media/image219.png"/></Relationships>
</file>

<file path=ppt/slides/_rels/slide3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7.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36.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image" Target="../media/image177.png"/><Relationship Id="rId4" Type="http://schemas.openxmlformats.org/officeDocument/2006/relationships/image" Target="../media/image17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928209" y="264124"/>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11</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章　热力学第二定律</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850993" y="1259371"/>
            <a:ext cx="6705460" cy="541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11.1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自然过程的方向</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11.2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不可逆的相互依存</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11.3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热力学第二定律及其微观意义</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11.4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热力学概率与自然过程的方向</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11.5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玻尔兹曼熵公式与熵增加原理</a:t>
            </a: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11.6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可逆过程</a:t>
            </a: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11.7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克劳修斯熵公式</a:t>
            </a:r>
            <a:endPar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11.8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用克劳修斯熵公式计算熵变</a:t>
            </a:r>
            <a:endPar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11.9*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温熵图</a:t>
            </a:r>
            <a:endPar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11.10*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熵和能量退降</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25881439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178F73EF-4DD6-C7A7-EAEB-20F41A4E0D59}"/>
              </a:ext>
            </a:extLst>
          </p:cNvPr>
          <p:cNvSpPr txBox="1"/>
          <p:nvPr/>
        </p:nvSpPr>
        <p:spPr>
          <a:xfrm>
            <a:off x="619596" y="2767430"/>
            <a:ext cx="9217025" cy="1382814"/>
          </a:xfrm>
          <a:prstGeom prst="rect">
            <a:avLst/>
          </a:prstGeom>
          <a:noFill/>
          <a:ln w="9525">
            <a:noFill/>
          </a:ln>
        </p:spPr>
        <p:txBody>
          <a:bodyPr wrap="square">
            <a:spAutoFit/>
          </a:bodyPr>
          <a:lstStyle/>
          <a:p>
            <a:pPr>
              <a:lnSpc>
                <a:spcPct val="120000"/>
              </a:lnSpc>
              <a:spcBef>
                <a:spcPct val="50000"/>
              </a:spcBef>
            </a:pPr>
            <a:r>
              <a:rPr lang="en-US" altLang="zh-CN" sz="3000" dirty="0"/>
              <a:t>-  </a:t>
            </a:r>
            <a:r>
              <a:rPr lang="zh-CN" altLang="en-US" sz="3000" dirty="0"/>
              <a:t>开尔文说法（</a:t>
            </a:r>
            <a:r>
              <a:rPr lang="en-US" altLang="zh-CN" sz="3000" dirty="0"/>
              <a:t>1851</a:t>
            </a:r>
            <a:r>
              <a:rPr lang="zh-CN" altLang="en-US" sz="3000" dirty="0"/>
              <a:t>） </a:t>
            </a:r>
            <a:r>
              <a:rPr lang="en-US" altLang="zh-CN" sz="3000" i="1" dirty="0"/>
              <a:t>Kelvin-principle </a:t>
            </a:r>
          </a:p>
          <a:p>
            <a:pPr>
              <a:lnSpc>
                <a:spcPct val="120000"/>
              </a:lnSpc>
              <a:spcBef>
                <a:spcPct val="50000"/>
              </a:spcBef>
            </a:pPr>
            <a:r>
              <a:rPr lang="zh-CN" altLang="en-US" sz="3000" dirty="0"/>
              <a:t>     其唯一效果是热全部转化为功的过程是不可能的</a:t>
            </a:r>
            <a:endParaRPr lang="en-US" altLang="zh-CN" sz="3000" dirty="0"/>
          </a:p>
        </p:txBody>
      </p:sp>
      <p:sp>
        <p:nvSpPr>
          <p:cNvPr id="4" name="Rectangle 2">
            <a:extLst>
              <a:ext uri="{FF2B5EF4-FFF2-40B4-BE49-F238E27FC236}">
                <a16:creationId xmlns:a16="http://schemas.microsoft.com/office/drawing/2014/main" id="{5F81B528-ECDF-8484-F0EC-6EFA86DCE0DE}"/>
              </a:ext>
            </a:extLst>
          </p:cNvPr>
          <p:cNvSpPr/>
          <p:nvPr/>
        </p:nvSpPr>
        <p:spPr>
          <a:xfrm>
            <a:off x="541688" y="1338761"/>
            <a:ext cx="8733034" cy="1303690"/>
          </a:xfrm>
          <a:prstGeom prst="rect">
            <a:avLst/>
          </a:prstGeom>
          <a:noFill/>
          <a:ln w="9525">
            <a:noFill/>
          </a:ln>
        </p:spPr>
        <p:txBody>
          <a:bodyPr wrap="square">
            <a:spAutoFit/>
          </a:bodyPr>
          <a:lstStyle/>
          <a:p>
            <a:pPr>
              <a:spcBef>
                <a:spcPct val="50000"/>
              </a:spcBef>
            </a:pPr>
            <a:r>
              <a:rPr lang="en-US" altLang="zh-CN" sz="3000" dirty="0"/>
              <a:t>-  </a:t>
            </a:r>
            <a:r>
              <a:rPr lang="zh-CN" altLang="en-US" sz="3000" dirty="0"/>
              <a:t>克劳修斯说法 （</a:t>
            </a:r>
            <a:r>
              <a:rPr lang="en-US" altLang="zh-CN" sz="3000" dirty="0"/>
              <a:t>1850</a:t>
            </a:r>
            <a:r>
              <a:rPr lang="zh-CN" altLang="en-US" sz="3000" dirty="0"/>
              <a:t>年）</a:t>
            </a:r>
            <a:r>
              <a:rPr lang="en-US" altLang="zh-CN" sz="3000" dirty="0"/>
              <a:t> </a:t>
            </a:r>
            <a:r>
              <a:rPr lang="en-US" altLang="zh-CN" sz="3000" i="1" dirty="0"/>
              <a:t>Clausius-principle</a:t>
            </a:r>
            <a:endParaRPr lang="en-US" altLang="zh-CN" sz="3000" dirty="0"/>
          </a:p>
          <a:p>
            <a:pPr>
              <a:lnSpc>
                <a:spcPct val="120000"/>
              </a:lnSpc>
              <a:spcBef>
                <a:spcPct val="50000"/>
              </a:spcBef>
            </a:pPr>
            <a:r>
              <a:rPr lang="zh-CN" altLang="en-US" sz="3000" dirty="0"/>
              <a:t>      热量不能自动的从低温物体转向高温物体</a:t>
            </a:r>
            <a:endParaRPr lang="en-US" altLang="zh-CN" sz="3000" dirty="0"/>
          </a:p>
        </p:txBody>
      </p:sp>
      <p:sp>
        <p:nvSpPr>
          <p:cNvPr id="5" name="Text Box 13">
            <a:hlinkClick r:id="" action="ppaction://noaction"/>
            <a:extLst>
              <a:ext uri="{FF2B5EF4-FFF2-40B4-BE49-F238E27FC236}">
                <a16:creationId xmlns:a16="http://schemas.microsoft.com/office/drawing/2014/main" id="{A4DBCDED-84F3-D7DA-FAFB-6E9FA5ACAEAB}"/>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a:t>
            </a:r>
          </a:p>
        </p:txBody>
      </p:sp>
      <p:sp>
        <p:nvSpPr>
          <p:cNvPr id="9" name="文本框 8">
            <a:extLst>
              <a:ext uri="{FF2B5EF4-FFF2-40B4-BE49-F238E27FC236}">
                <a16:creationId xmlns:a16="http://schemas.microsoft.com/office/drawing/2014/main" id="{7AE9D62F-5032-413D-B9AA-5A9034C0FDF2}"/>
              </a:ext>
            </a:extLst>
          </p:cNvPr>
          <p:cNvSpPr txBox="1"/>
          <p:nvPr/>
        </p:nvSpPr>
        <p:spPr>
          <a:xfrm>
            <a:off x="619596" y="4867949"/>
            <a:ext cx="4991344" cy="1077218"/>
          </a:xfrm>
          <a:prstGeom prst="rect">
            <a:avLst/>
          </a:prstGeom>
          <a:noFill/>
        </p:spPr>
        <p:txBody>
          <a:bodyPr wrap="square" rtlCol="0">
            <a:spAutoFit/>
          </a:bodyPr>
          <a:lstStyle/>
          <a:p>
            <a:r>
              <a:rPr lang="zh-CN" altLang="en-US" sz="3200" b="1" dirty="0">
                <a:solidFill>
                  <a:srgbClr val="FF0000"/>
                </a:solidFill>
              </a:rPr>
              <a:t>一切与热现象有关的实际宏观过程都是不可逆的</a:t>
            </a:r>
          </a:p>
        </p:txBody>
      </p:sp>
      <p:sp>
        <p:nvSpPr>
          <p:cNvPr id="10" name="文本框 9">
            <a:extLst>
              <a:ext uri="{FF2B5EF4-FFF2-40B4-BE49-F238E27FC236}">
                <a16:creationId xmlns:a16="http://schemas.microsoft.com/office/drawing/2014/main" id="{6FC882D4-D4E8-44E3-9217-8697A601E28B}"/>
              </a:ext>
            </a:extLst>
          </p:cNvPr>
          <p:cNvSpPr txBox="1"/>
          <p:nvPr/>
        </p:nvSpPr>
        <p:spPr>
          <a:xfrm>
            <a:off x="6353003" y="4867949"/>
            <a:ext cx="5617641" cy="1077218"/>
          </a:xfrm>
          <a:prstGeom prst="rect">
            <a:avLst/>
          </a:prstGeom>
          <a:noFill/>
        </p:spPr>
        <p:txBody>
          <a:bodyPr wrap="square" rtlCol="0">
            <a:spAutoFit/>
          </a:bodyPr>
          <a:lstStyle/>
          <a:p>
            <a:r>
              <a:rPr lang="zh-CN" altLang="en-US" sz="3200" b="1" dirty="0">
                <a:solidFill>
                  <a:srgbClr val="0066FF"/>
                </a:solidFill>
              </a:rPr>
              <a:t>一切自然过程总是沿着分子热运动的无序性增大的方向进行</a:t>
            </a:r>
          </a:p>
        </p:txBody>
      </p:sp>
      <p:sp>
        <p:nvSpPr>
          <p:cNvPr id="11" name="箭头: 右 10">
            <a:extLst>
              <a:ext uri="{FF2B5EF4-FFF2-40B4-BE49-F238E27FC236}">
                <a16:creationId xmlns:a16="http://schemas.microsoft.com/office/drawing/2014/main" id="{8275A6DE-A7D6-48F9-9ED4-DC8B4695E65D}"/>
              </a:ext>
            </a:extLst>
          </p:cNvPr>
          <p:cNvSpPr/>
          <p:nvPr/>
        </p:nvSpPr>
        <p:spPr>
          <a:xfrm rot="10800000">
            <a:off x="5455544" y="5205906"/>
            <a:ext cx="786030" cy="425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159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0" grpId="0"/>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a:extLst>
              <a:ext uri="{FF2B5EF4-FFF2-40B4-BE49-F238E27FC236}">
                <a16:creationId xmlns:a16="http://schemas.microsoft.com/office/drawing/2014/main" id="{32C451A6-505C-9132-0C4B-19D9E07EE476}"/>
              </a:ext>
            </a:extLst>
          </p:cNvPr>
          <p:cNvSpPr>
            <a:spLocks noChangeArrowheads="1"/>
          </p:cNvSpPr>
          <p:nvPr/>
        </p:nvSpPr>
        <p:spPr bwMode="auto">
          <a:xfrm>
            <a:off x="2541587" y="4547963"/>
            <a:ext cx="710882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3200" b="0" dirty="0">
                <a:latin typeface="楷体" panose="02010609060101010101" pitchFamily="49" charset="-122"/>
                <a:ea typeface="楷体" panose="02010609060101010101" pitchFamily="49" charset="-122"/>
                <a:cs typeface="Times New Roman" panose="02020603050405020304" pitchFamily="18" charset="0"/>
              </a:rPr>
              <a:t>— </a:t>
            </a:r>
            <a:r>
              <a:rPr kumimoji="1" lang="zh-CN" altLang="en-US" sz="3200" b="0" dirty="0">
                <a:latin typeface="楷体" panose="02010609060101010101" pitchFamily="49" charset="-122"/>
                <a:ea typeface="楷体" panose="02010609060101010101" pitchFamily="49" charset="-122"/>
                <a:cs typeface="Times New Roman" panose="02020603050405020304" pitchFamily="18" charset="0"/>
              </a:rPr>
              <a:t>微观态数大的宏观态出现的概率大</a:t>
            </a:r>
          </a:p>
        </p:txBody>
      </p:sp>
      <p:sp>
        <p:nvSpPr>
          <p:cNvPr id="19" name="Rectangle 3">
            <a:extLst>
              <a:ext uri="{FF2B5EF4-FFF2-40B4-BE49-F238E27FC236}">
                <a16:creationId xmlns:a16="http://schemas.microsoft.com/office/drawing/2014/main" id="{98D5AEBD-DBF6-09D6-9143-768BAD440ABF}"/>
              </a:ext>
            </a:extLst>
          </p:cNvPr>
          <p:cNvSpPr>
            <a:spLocks noChangeArrowheads="1"/>
          </p:cNvSpPr>
          <p:nvPr/>
        </p:nvSpPr>
        <p:spPr bwMode="auto">
          <a:xfrm>
            <a:off x="1290240" y="3645281"/>
            <a:ext cx="101465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sz="3200" b="0" dirty="0">
                <a:latin typeface="楷体" panose="02010609060101010101" pitchFamily="49" charset="-122"/>
                <a:ea typeface="楷体" panose="02010609060101010101" pitchFamily="49" charset="-122"/>
              </a:rPr>
              <a:t>基本假设：对孤立系，各个微观状态出现的概率相等。</a:t>
            </a:r>
          </a:p>
        </p:txBody>
      </p:sp>
      <p:sp>
        <p:nvSpPr>
          <p:cNvPr id="20" name="Text Box 50">
            <a:extLst>
              <a:ext uri="{FF2B5EF4-FFF2-40B4-BE49-F238E27FC236}">
                <a16:creationId xmlns:a16="http://schemas.microsoft.com/office/drawing/2014/main" id="{CA905184-9595-882B-9597-024240EBE847}"/>
              </a:ext>
            </a:extLst>
          </p:cNvPr>
          <p:cNvSpPr txBox="1">
            <a:spLocks noChangeArrowheads="1"/>
          </p:cNvSpPr>
          <p:nvPr/>
        </p:nvSpPr>
        <p:spPr bwMode="auto">
          <a:xfrm>
            <a:off x="2164755" y="5436967"/>
            <a:ext cx="8239409" cy="11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r>
              <a:rPr lang="zh-CN" altLang="en-US" sz="3200" b="0" dirty="0">
                <a:latin typeface="楷体" panose="02010609060101010101" pitchFamily="49" charset="-122"/>
                <a:ea typeface="楷体" panose="02010609060101010101" pitchFamily="49" charset="-122"/>
              </a:rPr>
              <a:t>对应于微观状态数最多的宏观状态就是系统在一定宏观条件下的平衡态。</a:t>
            </a:r>
          </a:p>
        </p:txBody>
      </p:sp>
      <p:sp>
        <p:nvSpPr>
          <p:cNvPr id="21" name="Text Box 13">
            <a:hlinkClick r:id="" action="ppaction://noaction"/>
            <a:extLst>
              <a:ext uri="{FF2B5EF4-FFF2-40B4-BE49-F238E27FC236}">
                <a16:creationId xmlns:a16="http://schemas.microsoft.com/office/drawing/2014/main" id="{42DF7362-D1A6-9CB3-B2DB-35A3F42E176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热力学概率与自然过程方向</a:t>
            </a:r>
          </a:p>
        </p:txBody>
      </p:sp>
      <p:grpSp>
        <p:nvGrpSpPr>
          <p:cNvPr id="22" name="Group 387">
            <a:extLst>
              <a:ext uri="{FF2B5EF4-FFF2-40B4-BE49-F238E27FC236}">
                <a16:creationId xmlns:a16="http://schemas.microsoft.com/office/drawing/2014/main" id="{112F7831-5581-475A-AC9B-264C588FA12A}"/>
              </a:ext>
            </a:extLst>
          </p:cNvPr>
          <p:cNvGrpSpPr>
            <a:grpSpLocks/>
          </p:cNvGrpSpPr>
          <p:nvPr/>
        </p:nvGrpSpPr>
        <p:grpSpPr bwMode="auto">
          <a:xfrm>
            <a:off x="5148401" y="1030874"/>
            <a:ext cx="6202591" cy="714375"/>
            <a:chOff x="672" y="1083"/>
            <a:chExt cx="3415" cy="450"/>
          </a:xfrm>
        </p:grpSpPr>
        <p:sp>
          <p:nvSpPr>
            <p:cNvPr id="23" name="Text Box 7">
              <a:extLst>
                <a:ext uri="{FF2B5EF4-FFF2-40B4-BE49-F238E27FC236}">
                  <a16:creationId xmlns:a16="http://schemas.microsoft.com/office/drawing/2014/main" id="{60593B2D-30C2-404E-9248-1273DE3DCE89}"/>
                </a:ext>
              </a:extLst>
            </p:cNvPr>
            <p:cNvSpPr txBox="1">
              <a:spLocks noChangeArrowheads="1"/>
            </p:cNvSpPr>
            <p:nvPr/>
          </p:nvSpPr>
          <p:spPr bwMode="auto">
            <a:xfrm>
              <a:off x="672" y="1152"/>
              <a:ext cx="78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latin typeface="华文楷体" panose="02010600040101010101" pitchFamily="2" charset="-122"/>
                  <a:ea typeface="华文楷体" panose="02010600040101010101" pitchFamily="2" charset="-122"/>
                </a:rPr>
                <a:t>微观态</a:t>
              </a:r>
            </a:p>
          </p:txBody>
        </p:sp>
        <p:sp>
          <p:nvSpPr>
            <p:cNvPr id="24" name="Rectangle 361">
              <a:extLst>
                <a:ext uri="{FF2B5EF4-FFF2-40B4-BE49-F238E27FC236}">
                  <a16:creationId xmlns:a16="http://schemas.microsoft.com/office/drawing/2014/main" id="{C9EF6A52-9F6C-450C-8E1C-E0584035047E}"/>
                </a:ext>
              </a:extLst>
            </p:cNvPr>
            <p:cNvSpPr>
              <a:spLocks noChangeArrowheads="1"/>
            </p:cNvSpPr>
            <p:nvPr/>
          </p:nvSpPr>
          <p:spPr bwMode="auto">
            <a:xfrm>
              <a:off x="4019" y="1211"/>
              <a:ext cx="6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25" name="Rectangle 362">
              <a:extLst>
                <a:ext uri="{FF2B5EF4-FFF2-40B4-BE49-F238E27FC236}">
                  <a16:creationId xmlns:a16="http://schemas.microsoft.com/office/drawing/2014/main" id="{83D1D305-458E-49E0-8B70-BE910CA8FE32}"/>
                </a:ext>
              </a:extLst>
            </p:cNvPr>
            <p:cNvSpPr>
              <a:spLocks noChangeArrowheads="1"/>
            </p:cNvSpPr>
            <p:nvPr/>
          </p:nvSpPr>
          <p:spPr bwMode="auto">
            <a:xfrm>
              <a:off x="3582"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26" name="Rectangle 363">
              <a:extLst>
                <a:ext uri="{FF2B5EF4-FFF2-40B4-BE49-F238E27FC236}">
                  <a16:creationId xmlns:a16="http://schemas.microsoft.com/office/drawing/2014/main" id="{E2260C8C-49EA-4C45-BC16-FCB9ED391AB9}"/>
                </a:ext>
              </a:extLst>
            </p:cNvPr>
            <p:cNvSpPr>
              <a:spLocks noChangeArrowheads="1"/>
            </p:cNvSpPr>
            <p:nvPr/>
          </p:nvSpPr>
          <p:spPr bwMode="auto">
            <a:xfrm>
              <a:off x="2835"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27" name="Rectangle 364">
              <a:extLst>
                <a:ext uri="{FF2B5EF4-FFF2-40B4-BE49-F238E27FC236}">
                  <a16:creationId xmlns:a16="http://schemas.microsoft.com/office/drawing/2014/main" id="{D01F5E24-E1F0-4020-92EC-FE19D8C48AEC}"/>
                </a:ext>
              </a:extLst>
            </p:cNvPr>
            <p:cNvSpPr>
              <a:spLocks noChangeArrowheads="1"/>
            </p:cNvSpPr>
            <p:nvPr/>
          </p:nvSpPr>
          <p:spPr bwMode="auto">
            <a:xfrm>
              <a:off x="2475"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28" name="Rectangle 365">
              <a:extLst>
                <a:ext uri="{FF2B5EF4-FFF2-40B4-BE49-F238E27FC236}">
                  <a16:creationId xmlns:a16="http://schemas.microsoft.com/office/drawing/2014/main" id="{EA85B298-55CC-4774-BA19-527BAC60BC4A}"/>
                </a:ext>
              </a:extLst>
            </p:cNvPr>
            <p:cNvSpPr>
              <a:spLocks noChangeArrowheads="1"/>
            </p:cNvSpPr>
            <p:nvPr/>
          </p:nvSpPr>
          <p:spPr bwMode="auto">
            <a:xfrm>
              <a:off x="2161"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29" name="Rectangle 366">
              <a:extLst>
                <a:ext uri="{FF2B5EF4-FFF2-40B4-BE49-F238E27FC236}">
                  <a16:creationId xmlns:a16="http://schemas.microsoft.com/office/drawing/2014/main" id="{553E6561-3727-4209-90A9-5DE21AF19458}"/>
                </a:ext>
              </a:extLst>
            </p:cNvPr>
            <p:cNvSpPr>
              <a:spLocks noChangeArrowheads="1"/>
            </p:cNvSpPr>
            <p:nvPr/>
          </p:nvSpPr>
          <p:spPr bwMode="auto">
            <a:xfrm>
              <a:off x="1842"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0" name="Rectangle 367">
              <a:extLst>
                <a:ext uri="{FF2B5EF4-FFF2-40B4-BE49-F238E27FC236}">
                  <a16:creationId xmlns:a16="http://schemas.microsoft.com/office/drawing/2014/main" id="{ECF1F8EE-CCC1-464F-A4C0-3ADFE66A82CC}"/>
                </a:ext>
              </a:extLst>
            </p:cNvPr>
            <p:cNvSpPr>
              <a:spLocks noChangeArrowheads="1"/>
            </p:cNvSpPr>
            <p:nvPr/>
          </p:nvSpPr>
          <p:spPr bwMode="auto">
            <a:xfrm>
              <a:off x="1533" y="1211"/>
              <a:ext cx="6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rPr>
                <a:t>(</a:t>
              </a:r>
              <a:endParaRPr lang="en-US" altLang="zh-CN" dirty="0"/>
            </a:p>
          </p:txBody>
        </p:sp>
        <p:sp>
          <p:nvSpPr>
            <p:cNvPr id="31" name="Rectangle 368">
              <a:extLst>
                <a:ext uri="{FF2B5EF4-FFF2-40B4-BE49-F238E27FC236}">
                  <a16:creationId xmlns:a16="http://schemas.microsoft.com/office/drawing/2014/main" id="{6E460927-FF7C-461C-98AD-887006FE7F11}"/>
                </a:ext>
              </a:extLst>
            </p:cNvPr>
            <p:cNvSpPr>
              <a:spLocks noChangeArrowheads="1"/>
            </p:cNvSpPr>
            <p:nvPr/>
          </p:nvSpPr>
          <p:spPr bwMode="auto">
            <a:xfrm>
              <a:off x="2694"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2</a:t>
              </a:r>
              <a:endParaRPr lang="en-US" altLang="zh-CN"/>
            </a:p>
          </p:txBody>
        </p:sp>
        <p:sp>
          <p:nvSpPr>
            <p:cNvPr id="32" name="Rectangle 369">
              <a:extLst>
                <a:ext uri="{FF2B5EF4-FFF2-40B4-BE49-F238E27FC236}">
                  <a16:creationId xmlns:a16="http://schemas.microsoft.com/office/drawing/2014/main" id="{64B7852C-9BED-4FDA-B517-CDD80E7F3D36}"/>
                </a:ext>
              </a:extLst>
            </p:cNvPr>
            <p:cNvSpPr>
              <a:spLocks noChangeArrowheads="1"/>
            </p:cNvSpPr>
            <p:nvPr/>
          </p:nvSpPr>
          <p:spPr bwMode="auto">
            <a:xfrm>
              <a:off x="2362"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2</a:t>
              </a:r>
              <a:endParaRPr lang="en-US" altLang="zh-CN"/>
            </a:p>
          </p:txBody>
        </p:sp>
        <p:sp>
          <p:nvSpPr>
            <p:cNvPr id="33" name="Rectangle 370">
              <a:extLst>
                <a:ext uri="{FF2B5EF4-FFF2-40B4-BE49-F238E27FC236}">
                  <a16:creationId xmlns:a16="http://schemas.microsoft.com/office/drawing/2014/main" id="{124AB5F6-24CD-48A1-97FA-314144415777}"/>
                </a:ext>
              </a:extLst>
            </p:cNvPr>
            <p:cNvSpPr>
              <a:spLocks noChangeArrowheads="1"/>
            </p:cNvSpPr>
            <p:nvPr/>
          </p:nvSpPr>
          <p:spPr bwMode="auto">
            <a:xfrm>
              <a:off x="2037"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1</a:t>
              </a:r>
              <a:endParaRPr lang="en-US" altLang="zh-CN"/>
            </a:p>
          </p:txBody>
        </p:sp>
        <p:sp>
          <p:nvSpPr>
            <p:cNvPr id="34" name="Rectangle 371">
              <a:extLst>
                <a:ext uri="{FF2B5EF4-FFF2-40B4-BE49-F238E27FC236}">
                  <a16:creationId xmlns:a16="http://schemas.microsoft.com/office/drawing/2014/main" id="{98EA3EFC-B7D8-4EA6-B54F-AC37043EFA1C}"/>
                </a:ext>
              </a:extLst>
            </p:cNvPr>
            <p:cNvSpPr>
              <a:spLocks noChangeArrowheads="1"/>
            </p:cNvSpPr>
            <p:nvPr/>
          </p:nvSpPr>
          <p:spPr bwMode="auto">
            <a:xfrm>
              <a:off x="1728"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1</a:t>
              </a:r>
              <a:endParaRPr lang="en-US" altLang="zh-CN"/>
            </a:p>
          </p:txBody>
        </p:sp>
        <p:sp>
          <p:nvSpPr>
            <p:cNvPr id="35" name="Rectangle 372">
              <a:extLst>
                <a:ext uri="{FF2B5EF4-FFF2-40B4-BE49-F238E27FC236}">
                  <a16:creationId xmlns:a16="http://schemas.microsoft.com/office/drawing/2014/main" id="{8B2374EB-7388-44D3-BA60-75C85BA17403}"/>
                </a:ext>
              </a:extLst>
            </p:cNvPr>
            <p:cNvSpPr>
              <a:spLocks noChangeArrowheads="1"/>
            </p:cNvSpPr>
            <p:nvPr/>
          </p:nvSpPr>
          <p:spPr bwMode="auto">
            <a:xfrm>
              <a:off x="3812" y="1339"/>
              <a:ext cx="9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i="1">
                  <a:solidFill>
                    <a:srgbClr val="000000"/>
                  </a:solidFill>
                </a:rPr>
                <a:t>N</a:t>
              </a:r>
              <a:endParaRPr lang="en-US" altLang="zh-CN"/>
            </a:p>
          </p:txBody>
        </p:sp>
        <p:sp>
          <p:nvSpPr>
            <p:cNvPr id="36" name="Rectangle 373">
              <a:extLst>
                <a:ext uri="{FF2B5EF4-FFF2-40B4-BE49-F238E27FC236}">
                  <a16:creationId xmlns:a16="http://schemas.microsoft.com/office/drawing/2014/main" id="{04B6BE86-D0CC-4394-8FF4-9E44B9F943FC}"/>
                </a:ext>
              </a:extLst>
            </p:cNvPr>
            <p:cNvSpPr>
              <a:spLocks noChangeArrowheads="1"/>
            </p:cNvSpPr>
            <p:nvPr/>
          </p:nvSpPr>
          <p:spPr bwMode="auto">
            <a:xfrm>
              <a:off x="3390" y="1339"/>
              <a:ext cx="9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i="1">
                  <a:solidFill>
                    <a:srgbClr val="000000"/>
                  </a:solidFill>
                </a:rPr>
                <a:t>N</a:t>
              </a:r>
              <a:endParaRPr lang="en-US" altLang="zh-CN"/>
            </a:p>
          </p:txBody>
        </p:sp>
        <p:sp>
          <p:nvSpPr>
            <p:cNvPr id="37" name="Rectangle 374">
              <a:extLst>
                <a:ext uri="{FF2B5EF4-FFF2-40B4-BE49-F238E27FC236}">
                  <a16:creationId xmlns:a16="http://schemas.microsoft.com/office/drawing/2014/main" id="{81FAE98D-0195-4098-BAC3-5FD06A301009}"/>
                </a:ext>
              </a:extLst>
            </p:cNvPr>
            <p:cNvSpPr>
              <a:spLocks noChangeArrowheads="1"/>
            </p:cNvSpPr>
            <p:nvPr/>
          </p:nvSpPr>
          <p:spPr bwMode="auto">
            <a:xfrm>
              <a:off x="3654"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8" name="Rectangle 375">
              <a:extLst>
                <a:ext uri="{FF2B5EF4-FFF2-40B4-BE49-F238E27FC236}">
                  <a16:creationId xmlns:a16="http://schemas.microsoft.com/office/drawing/2014/main" id="{347A02CB-B02F-4F20-8BDE-0D237E1FF8FE}"/>
                </a:ext>
              </a:extLst>
            </p:cNvPr>
            <p:cNvSpPr>
              <a:spLocks noChangeArrowheads="1"/>
            </p:cNvSpPr>
            <p:nvPr/>
          </p:nvSpPr>
          <p:spPr bwMode="auto">
            <a:xfrm>
              <a:off x="3278"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9" name="Rectangle 376">
              <a:extLst>
                <a:ext uri="{FF2B5EF4-FFF2-40B4-BE49-F238E27FC236}">
                  <a16:creationId xmlns:a16="http://schemas.microsoft.com/office/drawing/2014/main" id="{7111A00D-F467-4311-869B-A279E7F68D0A}"/>
                </a:ext>
              </a:extLst>
            </p:cNvPr>
            <p:cNvSpPr>
              <a:spLocks noChangeArrowheads="1"/>
            </p:cNvSpPr>
            <p:nvPr/>
          </p:nvSpPr>
          <p:spPr bwMode="auto">
            <a:xfrm>
              <a:off x="2547"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40" name="Rectangle 377">
              <a:extLst>
                <a:ext uri="{FF2B5EF4-FFF2-40B4-BE49-F238E27FC236}">
                  <a16:creationId xmlns:a16="http://schemas.microsoft.com/office/drawing/2014/main" id="{BAE8727C-82E9-4A4E-AF89-EF024B890FC8}"/>
                </a:ext>
              </a:extLst>
            </p:cNvPr>
            <p:cNvSpPr>
              <a:spLocks noChangeArrowheads="1"/>
            </p:cNvSpPr>
            <p:nvPr/>
          </p:nvSpPr>
          <p:spPr bwMode="auto">
            <a:xfrm>
              <a:off x="2284"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41" name="Rectangle 378">
              <a:extLst>
                <a:ext uri="{FF2B5EF4-FFF2-40B4-BE49-F238E27FC236}">
                  <a16:creationId xmlns:a16="http://schemas.microsoft.com/office/drawing/2014/main" id="{4BBC3643-EA42-492F-ACA4-FB00766ECDF6}"/>
                </a:ext>
              </a:extLst>
            </p:cNvPr>
            <p:cNvSpPr>
              <a:spLocks noChangeArrowheads="1"/>
            </p:cNvSpPr>
            <p:nvPr/>
          </p:nvSpPr>
          <p:spPr bwMode="auto">
            <a:xfrm>
              <a:off x="1914"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42" name="Rectangle 379">
              <a:extLst>
                <a:ext uri="{FF2B5EF4-FFF2-40B4-BE49-F238E27FC236}">
                  <a16:creationId xmlns:a16="http://schemas.microsoft.com/office/drawing/2014/main" id="{CF6F48E4-7D2A-405E-B6C5-00199CF96DE0}"/>
                </a:ext>
              </a:extLst>
            </p:cNvPr>
            <p:cNvSpPr>
              <a:spLocks noChangeArrowheads="1"/>
            </p:cNvSpPr>
            <p:nvPr/>
          </p:nvSpPr>
          <p:spPr bwMode="auto">
            <a:xfrm>
              <a:off x="1651"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43" name="Rectangle 380">
              <a:extLst>
                <a:ext uri="{FF2B5EF4-FFF2-40B4-BE49-F238E27FC236}">
                  <a16:creationId xmlns:a16="http://schemas.microsoft.com/office/drawing/2014/main" id="{9EE98434-57A2-4E40-9534-4D1D2747E420}"/>
                </a:ext>
              </a:extLst>
            </p:cNvPr>
            <p:cNvSpPr>
              <a:spLocks noChangeArrowheads="1"/>
            </p:cNvSpPr>
            <p:nvPr/>
          </p:nvSpPr>
          <p:spPr bwMode="auto">
            <a:xfrm>
              <a:off x="3680"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latin typeface="MT Extra" panose="05050102010205020202" pitchFamily="18" charset="2"/>
                </a:rPr>
                <a:t>r</a:t>
              </a:r>
              <a:endParaRPr lang="en-US" altLang="zh-CN" dirty="0"/>
            </a:p>
          </p:txBody>
        </p:sp>
        <p:sp>
          <p:nvSpPr>
            <p:cNvPr id="44" name="Rectangle 381">
              <a:extLst>
                <a:ext uri="{FF2B5EF4-FFF2-40B4-BE49-F238E27FC236}">
                  <a16:creationId xmlns:a16="http://schemas.microsoft.com/office/drawing/2014/main" id="{F6695A4F-CC29-4FA0-AA07-2E5C60BEC6F4}"/>
                </a:ext>
              </a:extLst>
            </p:cNvPr>
            <p:cNvSpPr>
              <a:spLocks noChangeArrowheads="1"/>
            </p:cNvSpPr>
            <p:nvPr/>
          </p:nvSpPr>
          <p:spPr bwMode="auto">
            <a:xfrm>
              <a:off x="3299"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45" name="Rectangle 382">
              <a:extLst>
                <a:ext uri="{FF2B5EF4-FFF2-40B4-BE49-F238E27FC236}">
                  <a16:creationId xmlns:a16="http://schemas.microsoft.com/office/drawing/2014/main" id="{5C9B2285-671B-4823-83EB-43D2B324ABAB}"/>
                </a:ext>
              </a:extLst>
            </p:cNvPr>
            <p:cNvSpPr>
              <a:spLocks noChangeArrowheads="1"/>
            </p:cNvSpPr>
            <p:nvPr/>
          </p:nvSpPr>
          <p:spPr bwMode="auto">
            <a:xfrm>
              <a:off x="2928" y="1233"/>
              <a:ext cx="20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L</a:t>
              </a:r>
              <a:endParaRPr lang="en-US" altLang="zh-CN"/>
            </a:p>
          </p:txBody>
        </p:sp>
        <p:sp>
          <p:nvSpPr>
            <p:cNvPr id="46" name="Rectangle 383">
              <a:extLst>
                <a:ext uri="{FF2B5EF4-FFF2-40B4-BE49-F238E27FC236}">
                  <a16:creationId xmlns:a16="http://schemas.microsoft.com/office/drawing/2014/main" id="{8DF2ABEE-81B4-4F37-A688-FC5DDC5E4A21}"/>
                </a:ext>
              </a:extLst>
            </p:cNvPr>
            <p:cNvSpPr>
              <a:spLocks noChangeArrowheads="1"/>
            </p:cNvSpPr>
            <p:nvPr/>
          </p:nvSpPr>
          <p:spPr bwMode="auto">
            <a:xfrm>
              <a:off x="2573"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latin typeface="MT Extra" panose="05050102010205020202" pitchFamily="18" charset="2"/>
                </a:rPr>
                <a:t>r</a:t>
              </a:r>
              <a:endParaRPr lang="en-US" altLang="zh-CN" dirty="0"/>
            </a:p>
          </p:txBody>
        </p:sp>
        <p:sp>
          <p:nvSpPr>
            <p:cNvPr id="47" name="Rectangle 384">
              <a:extLst>
                <a:ext uri="{FF2B5EF4-FFF2-40B4-BE49-F238E27FC236}">
                  <a16:creationId xmlns:a16="http://schemas.microsoft.com/office/drawing/2014/main" id="{93349B30-8FD6-4D3E-8F98-DC2CDC3F6840}"/>
                </a:ext>
              </a:extLst>
            </p:cNvPr>
            <p:cNvSpPr>
              <a:spLocks noChangeArrowheads="1"/>
            </p:cNvSpPr>
            <p:nvPr/>
          </p:nvSpPr>
          <p:spPr bwMode="auto">
            <a:xfrm>
              <a:off x="2306"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48" name="Rectangle 385">
              <a:extLst>
                <a:ext uri="{FF2B5EF4-FFF2-40B4-BE49-F238E27FC236}">
                  <a16:creationId xmlns:a16="http://schemas.microsoft.com/office/drawing/2014/main" id="{22D8E707-0F37-4D3B-8A4E-D11033F511B1}"/>
                </a:ext>
              </a:extLst>
            </p:cNvPr>
            <p:cNvSpPr>
              <a:spLocks noChangeArrowheads="1"/>
            </p:cNvSpPr>
            <p:nvPr/>
          </p:nvSpPr>
          <p:spPr bwMode="auto">
            <a:xfrm>
              <a:off x="1940"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49" name="Rectangle 386">
              <a:extLst>
                <a:ext uri="{FF2B5EF4-FFF2-40B4-BE49-F238E27FC236}">
                  <a16:creationId xmlns:a16="http://schemas.microsoft.com/office/drawing/2014/main" id="{4CCF85CD-B56B-45A7-A5FB-C0E04B4E20F0}"/>
                </a:ext>
              </a:extLst>
            </p:cNvPr>
            <p:cNvSpPr>
              <a:spLocks noChangeArrowheads="1"/>
            </p:cNvSpPr>
            <p:nvPr/>
          </p:nvSpPr>
          <p:spPr bwMode="auto">
            <a:xfrm>
              <a:off x="1672"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grpSp>
      <p:grpSp>
        <p:nvGrpSpPr>
          <p:cNvPr id="50" name="Group 9">
            <a:extLst>
              <a:ext uri="{FF2B5EF4-FFF2-40B4-BE49-F238E27FC236}">
                <a16:creationId xmlns:a16="http://schemas.microsoft.com/office/drawing/2014/main" id="{E6C25F41-7076-4473-8EA0-2BF137D71EB3}"/>
              </a:ext>
            </a:extLst>
          </p:cNvPr>
          <p:cNvGrpSpPr>
            <a:grpSpLocks/>
          </p:cNvGrpSpPr>
          <p:nvPr/>
        </p:nvGrpSpPr>
        <p:grpSpPr bwMode="auto">
          <a:xfrm>
            <a:off x="1007016" y="1198590"/>
            <a:ext cx="3663950" cy="527050"/>
            <a:chOff x="2150" y="988"/>
            <a:chExt cx="1690" cy="332"/>
          </a:xfrm>
        </p:grpSpPr>
        <p:sp>
          <p:nvSpPr>
            <p:cNvPr id="51" name="Text Box 10">
              <a:extLst>
                <a:ext uri="{FF2B5EF4-FFF2-40B4-BE49-F238E27FC236}">
                  <a16:creationId xmlns:a16="http://schemas.microsoft.com/office/drawing/2014/main" id="{9FEFE865-C507-4407-BCC7-2227032E9E7A}"/>
                </a:ext>
              </a:extLst>
            </p:cNvPr>
            <p:cNvSpPr txBox="1">
              <a:spLocks noChangeArrowheads="1"/>
            </p:cNvSpPr>
            <p:nvPr/>
          </p:nvSpPr>
          <p:spPr bwMode="auto">
            <a:xfrm>
              <a:off x="2150" y="988"/>
              <a:ext cx="7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latin typeface="+mn-lt"/>
                  <a:ea typeface="+mn-ea"/>
                </a:rPr>
                <a:t>宏观态</a:t>
              </a:r>
            </a:p>
          </p:txBody>
        </p:sp>
        <p:graphicFrame>
          <p:nvGraphicFramePr>
            <p:cNvPr id="52" name="Object 11">
              <a:extLst>
                <a:ext uri="{FF2B5EF4-FFF2-40B4-BE49-F238E27FC236}">
                  <a16:creationId xmlns:a16="http://schemas.microsoft.com/office/drawing/2014/main" id="{D99E2457-D1FF-4030-B32F-22A1884AEA7C}"/>
                </a:ext>
              </a:extLst>
            </p:cNvPr>
            <p:cNvGraphicFramePr>
              <a:graphicFrameLocks noChangeAspect="1"/>
            </p:cNvGraphicFramePr>
            <p:nvPr/>
          </p:nvGraphicFramePr>
          <p:xfrm>
            <a:off x="2976" y="1008"/>
            <a:ext cx="864" cy="312"/>
          </p:xfrm>
          <a:graphic>
            <a:graphicData uri="http://schemas.openxmlformats.org/presentationml/2006/ole">
              <mc:AlternateContent xmlns:mc="http://schemas.openxmlformats.org/markup-compatibility/2006">
                <mc:Choice xmlns:v="urn:schemas-microsoft-com:vml" Requires="v">
                  <p:oleObj spid="_x0000_s8206" name="公式" r:id="rId3" imgW="558720" imgH="203040" progId="">
                    <p:embed/>
                  </p:oleObj>
                </mc:Choice>
                <mc:Fallback>
                  <p:oleObj name="公式" r:id="rId3" imgW="558720" imgH="203040" progId="">
                    <p:embed/>
                    <p:pic>
                      <p:nvPicPr>
                        <p:cNvPr id="32770" name="Object 11">
                          <a:extLst>
                            <a:ext uri="{FF2B5EF4-FFF2-40B4-BE49-F238E27FC236}">
                              <a16:creationId xmlns:a16="http://schemas.microsoft.com/office/drawing/2014/main" id="{9BC5F23C-3F4E-D236-5A99-6BA1917088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6" y="1008"/>
                          <a:ext cx="864"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3" name="Text Box 4">
            <a:extLst>
              <a:ext uri="{FF2B5EF4-FFF2-40B4-BE49-F238E27FC236}">
                <a16:creationId xmlns:a16="http://schemas.microsoft.com/office/drawing/2014/main" id="{E625DC6A-DBC3-4C89-B12E-02F81E23EAAD}"/>
              </a:ext>
            </a:extLst>
          </p:cNvPr>
          <p:cNvSpPr txBox="1">
            <a:spLocks noChangeArrowheads="1"/>
          </p:cNvSpPr>
          <p:nvPr/>
        </p:nvSpPr>
        <p:spPr bwMode="auto">
          <a:xfrm>
            <a:off x="1078432" y="1990011"/>
            <a:ext cx="10570122" cy="572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50000"/>
              </a:spcBef>
              <a:buFont typeface="Monotype Sorts" pitchFamily="2" charset="2"/>
              <a:buNone/>
            </a:pPr>
            <a:r>
              <a:rPr kumimoji="1" lang="en-US" altLang="zh-CN" sz="3000" b="0" dirty="0">
                <a:latin typeface="楷体" panose="02010609060101010101" pitchFamily="49" charset="-122"/>
                <a:ea typeface="楷体" panose="02010609060101010101" pitchFamily="49" charset="-122"/>
              </a:rPr>
              <a:t>- </a:t>
            </a:r>
            <a:r>
              <a:rPr kumimoji="1" lang="zh-CN" altLang="en-US" sz="3000" b="0" dirty="0">
                <a:latin typeface="楷体" panose="02010609060101010101" pitchFamily="49" charset="-122"/>
                <a:ea typeface="楷体" panose="02010609060101010101" pitchFamily="49" charset="-122"/>
              </a:rPr>
              <a:t>同一个宏观状态实际上可能对应于非常非常多的微观状态。</a:t>
            </a:r>
          </a:p>
        </p:txBody>
      </p:sp>
      <p:sp>
        <p:nvSpPr>
          <p:cNvPr id="54" name="Rectangle 4">
            <a:extLst>
              <a:ext uri="{FF2B5EF4-FFF2-40B4-BE49-F238E27FC236}">
                <a16:creationId xmlns:a16="http://schemas.microsoft.com/office/drawing/2014/main" id="{DB32E8EA-27F7-4A3F-A103-044BCD87CD5B}"/>
              </a:ext>
            </a:extLst>
          </p:cNvPr>
          <p:cNvSpPr>
            <a:spLocks noChangeArrowheads="1"/>
          </p:cNvSpPr>
          <p:nvPr/>
        </p:nvSpPr>
        <p:spPr bwMode="auto">
          <a:xfrm>
            <a:off x="1099248" y="2719088"/>
            <a:ext cx="104577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宏观态所包含的微观态数称为该宏观态的热力学概率。</a:t>
            </a:r>
          </a:p>
        </p:txBody>
      </p:sp>
    </p:spTree>
    <p:extLst>
      <p:ext uri="{BB962C8B-B14F-4D97-AF65-F5344CB8AC3E}">
        <p14:creationId xmlns:p14="http://schemas.microsoft.com/office/powerpoint/2010/main" val="49120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9" grpId="0"/>
      <p:bldP spid="20" grpId="0"/>
      <p:bldP spid="20" grpId="1"/>
      <p:bldP spid="53" grpId="0"/>
      <p:bldP spid="54" grpId="0" autoUpdateAnimBg="0"/>
      <p:bldP spid="54" grpId="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1" name="Text Box 5">
            <a:extLst>
              <a:ext uri="{FF2B5EF4-FFF2-40B4-BE49-F238E27FC236}">
                <a16:creationId xmlns:a16="http://schemas.microsoft.com/office/drawing/2014/main" id="{1D17AEA6-1E4A-7465-A401-B8AF6D0D7E2A}"/>
              </a:ext>
            </a:extLst>
          </p:cNvPr>
          <p:cNvSpPr txBox="1">
            <a:spLocks noChangeArrowheads="1"/>
          </p:cNvSpPr>
          <p:nvPr/>
        </p:nvSpPr>
        <p:spPr bwMode="auto">
          <a:xfrm>
            <a:off x="4422156" y="1043895"/>
            <a:ext cx="1958975" cy="58477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3200" i="1" dirty="0">
                <a:solidFill>
                  <a:srgbClr val="FF0000"/>
                </a:solidFill>
                <a:ea typeface="黑体" panose="02010609060101010101" pitchFamily="49" charset="-122"/>
              </a:rPr>
              <a:t>S</a:t>
            </a:r>
            <a:r>
              <a:rPr kumimoji="1" lang="en-US" altLang="zh-CN" sz="3200" dirty="0">
                <a:solidFill>
                  <a:srgbClr val="FF0000"/>
                </a:solidFill>
                <a:ea typeface="黑体" panose="02010609060101010101" pitchFamily="49" charset="-122"/>
              </a:rPr>
              <a:t> = </a:t>
            </a:r>
            <a:r>
              <a:rPr kumimoji="1" lang="en-US" altLang="zh-CN" sz="3200" i="1" dirty="0">
                <a:solidFill>
                  <a:srgbClr val="FF0000"/>
                </a:solidFill>
                <a:ea typeface="黑体" panose="02010609060101010101" pitchFamily="49" charset="-122"/>
              </a:rPr>
              <a:t>k</a:t>
            </a:r>
            <a:r>
              <a:rPr kumimoji="1" lang="en-US" altLang="zh-CN" sz="3200" dirty="0">
                <a:solidFill>
                  <a:srgbClr val="FF0000"/>
                </a:solidFill>
                <a:ea typeface="黑体" panose="02010609060101010101" pitchFamily="49" charset="-122"/>
              </a:rPr>
              <a:t> ln</a:t>
            </a:r>
            <a:r>
              <a:rPr kumimoji="1" lang="en-US" altLang="zh-CN" sz="3200" i="1" dirty="0">
                <a:solidFill>
                  <a:srgbClr val="FF0000"/>
                </a:solidFill>
                <a:ea typeface="黑体" panose="02010609060101010101" pitchFamily="49" charset="-122"/>
                <a:sym typeface="Symbol" panose="05050102010706020507" pitchFamily="18" charset="2"/>
              </a:rPr>
              <a:t></a:t>
            </a:r>
          </a:p>
        </p:txBody>
      </p:sp>
      <p:sp>
        <p:nvSpPr>
          <p:cNvPr id="2" name="Text Box 13">
            <a:hlinkClick r:id="" action="ppaction://noaction"/>
            <a:extLst>
              <a:ext uri="{FF2B5EF4-FFF2-40B4-BE49-F238E27FC236}">
                <a16:creationId xmlns:a16="http://schemas.microsoft.com/office/drawing/2014/main" id="{F892216E-F0DF-1DC4-1585-FA6BAA69899F}"/>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玻尔兹曼熵公式</a:t>
            </a:r>
          </a:p>
        </p:txBody>
      </p:sp>
      <p:sp>
        <p:nvSpPr>
          <p:cNvPr id="3" name="Text Box 2">
            <a:extLst>
              <a:ext uri="{FF2B5EF4-FFF2-40B4-BE49-F238E27FC236}">
                <a16:creationId xmlns:a16="http://schemas.microsoft.com/office/drawing/2014/main" id="{BB87AF71-3F0F-9B4E-4BA6-936057E64D12}"/>
              </a:ext>
            </a:extLst>
          </p:cNvPr>
          <p:cNvSpPr txBox="1">
            <a:spLocks noChangeArrowheads="1"/>
          </p:cNvSpPr>
          <p:nvPr/>
        </p:nvSpPr>
        <p:spPr bwMode="auto">
          <a:xfrm>
            <a:off x="4054363" y="3831829"/>
            <a:ext cx="67167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sz="3200" b="0" dirty="0">
                <a:latin typeface="楷体" panose="02010609060101010101" pitchFamily="49" charset="-122"/>
                <a:ea typeface="楷体" panose="02010609060101010101" pitchFamily="49" charset="-122"/>
              </a:rPr>
              <a:t>热力学第二定律的另一种表述</a:t>
            </a:r>
          </a:p>
        </p:txBody>
      </p:sp>
      <p:grpSp>
        <p:nvGrpSpPr>
          <p:cNvPr id="4" name="Group 17">
            <a:extLst>
              <a:ext uri="{FF2B5EF4-FFF2-40B4-BE49-F238E27FC236}">
                <a16:creationId xmlns:a16="http://schemas.microsoft.com/office/drawing/2014/main" id="{85DF3BD7-3C3D-B5EB-140E-738397F28C93}"/>
              </a:ext>
            </a:extLst>
          </p:cNvPr>
          <p:cNvGrpSpPr>
            <a:grpSpLocks/>
          </p:cNvGrpSpPr>
          <p:nvPr/>
        </p:nvGrpSpPr>
        <p:grpSpPr bwMode="auto">
          <a:xfrm>
            <a:off x="1700242" y="1676003"/>
            <a:ext cx="8353425" cy="2001838"/>
            <a:chOff x="381" y="959"/>
            <a:chExt cx="5159" cy="1261"/>
          </a:xfrm>
        </p:grpSpPr>
        <p:sp>
          <p:nvSpPr>
            <p:cNvPr id="5" name="Text Box 18">
              <a:extLst>
                <a:ext uri="{FF2B5EF4-FFF2-40B4-BE49-F238E27FC236}">
                  <a16:creationId xmlns:a16="http://schemas.microsoft.com/office/drawing/2014/main" id="{7427E08B-0AEC-7130-7705-A7B388DCB9FB}"/>
                </a:ext>
              </a:extLst>
            </p:cNvPr>
            <p:cNvSpPr txBox="1">
              <a:spLocks noChangeArrowheads="1"/>
            </p:cNvSpPr>
            <p:nvPr/>
          </p:nvSpPr>
          <p:spPr bwMode="auto">
            <a:xfrm>
              <a:off x="381" y="959"/>
              <a:ext cx="5152" cy="75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en-US" altLang="zh-CN" sz="3200" b="0" dirty="0">
                  <a:latin typeface="楷体" panose="02010609060101010101" pitchFamily="49" charset="-122"/>
                  <a:ea typeface="楷体" panose="02010609060101010101" pitchFamily="49" charset="-122"/>
                </a:rPr>
                <a:t>    </a:t>
              </a:r>
              <a:r>
                <a:rPr kumimoji="1" lang="zh-CN" altLang="en-US" sz="3200" b="0" dirty="0">
                  <a:latin typeface="楷体" panose="02010609060101010101" pitchFamily="49" charset="-122"/>
                  <a:ea typeface="楷体" panose="02010609060101010101" pitchFamily="49" charset="-122"/>
                </a:rPr>
                <a:t>在孤立系统中所进行的自然过程总是沿着熵增大的方向进行，它是不可逆的。即</a:t>
              </a:r>
            </a:p>
          </p:txBody>
        </p:sp>
        <p:grpSp>
          <p:nvGrpSpPr>
            <p:cNvPr id="6" name="Group 19">
              <a:extLst>
                <a:ext uri="{FF2B5EF4-FFF2-40B4-BE49-F238E27FC236}">
                  <a16:creationId xmlns:a16="http://schemas.microsoft.com/office/drawing/2014/main" id="{42E2ED01-A10D-EFC8-4620-04801418BAD7}"/>
                </a:ext>
              </a:extLst>
            </p:cNvPr>
            <p:cNvGrpSpPr>
              <a:grpSpLocks/>
            </p:cNvGrpSpPr>
            <p:nvPr/>
          </p:nvGrpSpPr>
          <p:grpSpPr bwMode="auto">
            <a:xfrm>
              <a:off x="1140" y="1844"/>
              <a:ext cx="3866" cy="368"/>
              <a:chOff x="1455" y="1941"/>
              <a:chExt cx="3866" cy="368"/>
            </a:xfrm>
          </p:grpSpPr>
          <mc:AlternateContent xmlns:mc="http://schemas.openxmlformats.org/markup-compatibility/2006" xmlns:a14="http://schemas.microsoft.com/office/drawing/2010/main">
            <mc:Choice Requires="a14">
              <p:sp>
                <p:nvSpPr>
                  <p:cNvPr id="8" name="Object 20">
                    <a:extLst>
                      <a:ext uri="{FF2B5EF4-FFF2-40B4-BE49-F238E27FC236}">
                        <a16:creationId xmlns:a16="http://schemas.microsoft.com/office/drawing/2014/main" id="{0A589B9C-CA00-4F44-5D9D-5B152DAF0808}"/>
                      </a:ext>
                    </a:extLst>
                  </p:cNvPr>
                  <p:cNvSpPr txBox="1"/>
                  <p:nvPr/>
                </p:nvSpPr>
                <p:spPr bwMode="auto">
                  <a:xfrm>
                    <a:off x="1455" y="1941"/>
                    <a:ext cx="1057" cy="30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600" i="1">
                              <a:solidFill>
                                <a:srgbClr val="000000"/>
                              </a:solidFill>
                              <a:latin typeface="Cambria Math" panose="02040503050406030204" pitchFamily="18" charset="0"/>
                            </a:rPr>
                            <m:t>Δ</m:t>
                          </m:r>
                          <m:r>
                            <a:rPr lang="zh-CN" altLang="en-US" sz="2600" i="1">
                              <a:solidFill>
                                <a:srgbClr val="000000"/>
                              </a:solidFill>
                              <a:latin typeface="Cambria Math" panose="02040503050406030204" pitchFamily="18" charset="0"/>
                            </a:rPr>
                            <m:t>𝑆</m:t>
                          </m:r>
                          <m:r>
                            <a:rPr lang="zh-CN" altLang="en-US" sz="2600" i="1">
                              <a:solidFill>
                                <a:srgbClr val="000000"/>
                              </a:solidFill>
                              <a:latin typeface="Cambria Math" panose="02040503050406030204" pitchFamily="18" charset="0"/>
                            </a:rPr>
                            <m:t>&gt;0</m:t>
                          </m:r>
                        </m:oMath>
                      </m:oMathPara>
                    </a14:m>
                    <a:endParaRPr lang="zh-CN" altLang="en-US" sz="2600" dirty="0"/>
                  </a:p>
                </p:txBody>
              </p:sp>
            </mc:Choice>
            <mc:Fallback xmlns="">
              <p:sp>
                <p:nvSpPr>
                  <p:cNvPr id="8" name="Object 20">
                    <a:extLst>
                      <a:ext uri="{FF2B5EF4-FFF2-40B4-BE49-F238E27FC236}">
                        <a16:creationId xmlns:a16="http://schemas.microsoft.com/office/drawing/2014/main" id="{0A589B9C-CA00-4F44-5D9D-5B152DAF0808}"/>
                      </a:ext>
                    </a:extLst>
                  </p:cNvPr>
                  <p:cNvSpPr txBox="1">
                    <a:spLocks noRot="1" noChangeAspect="1" noMove="1" noResize="1" noEditPoints="1" noAdjustHandles="1" noChangeArrowheads="1" noChangeShapeType="1" noTextEdit="1"/>
                  </p:cNvSpPr>
                  <p:nvPr/>
                </p:nvSpPr>
                <p:spPr bwMode="auto">
                  <a:xfrm>
                    <a:off x="1455" y="1941"/>
                    <a:ext cx="1057" cy="309"/>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9" name="Rectangle 21">
                <a:extLst>
                  <a:ext uri="{FF2B5EF4-FFF2-40B4-BE49-F238E27FC236}">
                    <a16:creationId xmlns:a16="http://schemas.microsoft.com/office/drawing/2014/main" id="{A6A95E74-8902-1DF6-C442-24F1986CB4C7}"/>
                  </a:ext>
                </a:extLst>
              </p:cNvPr>
              <p:cNvSpPr>
                <a:spLocks noChangeArrowheads="1"/>
              </p:cNvSpPr>
              <p:nvPr/>
            </p:nvSpPr>
            <p:spPr bwMode="auto">
              <a:xfrm>
                <a:off x="2266" y="1941"/>
                <a:ext cx="3055" cy="368"/>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sz="3200" b="0" dirty="0">
                    <a:latin typeface="楷体" panose="02010609060101010101" pitchFamily="49" charset="-122"/>
                    <a:ea typeface="楷体" panose="02010609060101010101" pitchFamily="49" charset="-122"/>
                  </a:rPr>
                  <a:t>（孤立</a:t>
                </a:r>
                <a:r>
                  <a:rPr kumimoji="1" lang="zh-CN" altLang="en-US" sz="3200" b="0" dirty="0">
                    <a:latin typeface="华文楷体" panose="02010600040101010101" pitchFamily="2" charset="-122"/>
                    <a:ea typeface="华文楷体" panose="02010600040101010101" pitchFamily="2" charset="-122"/>
                  </a:rPr>
                  <a:t>系统</a:t>
                </a:r>
                <a:r>
                  <a:rPr kumimoji="1" lang="zh-CN" altLang="en-US" sz="3200" b="0" dirty="0">
                    <a:latin typeface="楷体" panose="02010609060101010101" pitchFamily="49" charset="-122"/>
                    <a:ea typeface="楷体" panose="02010609060101010101" pitchFamily="49" charset="-122"/>
                  </a:rPr>
                  <a:t>，自然过程）</a:t>
                </a:r>
              </a:p>
            </p:txBody>
          </p:sp>
        </p:grpSp>
        <p:sp>
          <p:nvSpPr>
            <p:cNvPr id="7" name="Rectangle 22">
              <a:extLst>
                <a:ext uri="{FF2B5EF4-FFF2-40B4-BE49-F238E27FC236}">
                  <a16:creationId xmlns:a16="http://schemas.microsoft.com/office/drawing/2014/main" id="{0CDCB7BF-266F-31C3-3D13-C60AA555C98B}"/>
                </a:ext>
              </a:extLst>
            </p:cNvPr>
            <p:cNvSpPr>
              <a:spLocks noChangeArrowheads="1"/>
            </p:cNvSpPr>
            <p:nvPr/>
          </p:nvSpPr>
          <p:spPr bwMode="auto">
            <a:xfrm>
              <a:off x="406" y="1009"/>
              <a:ext cx="5134" cy="1211"/>
            </a:xfrm>
            <a:prstGeom prst="rect">
              <a:avLst/>
            </a:prstGeom>
            <a:noFill/>
            <a:ln w="28575">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楷体" panose="02010609060101010101" pitchFamily="49" charset="-122"/>
                <a:ea typeface="楷体" panose="02010609060101010101" pitchFamily="49" charset="-122"/>
              </a:endParaRPr>
            </a:p>
          </p:txBody>
        </p:sp>
      </p:grpSp>
      <mc:AlternateContent xmlns:mc="http://schemas.openxmlformats.org/markup-compatibility/2006" xmlns:a14="http://schemas.microsoft.com/office/drawing/2010/main">
        <mc:Choice Requires="a14">
          <p:sp>
            <p:nvSpPr>
              <p:cNvPr id="11" name="Text Box 4">
                <a:extLst>
                  <a:ext uri="{FF2B5EF4-FFF2-40B4-BE49-F238E27FC236}">
                    <a16:creationId xmlns:a16="http://schemas.microsoft.com/office/drawing/2014/main" id="{F04BF3DB-7B39-7E82-A6EE-DE983FE03A4D}"/>
                  </a:ext>
                </a:extLst>
              </p:cNvPr>
              <p:cNvSpPr txBox="1">
                <a:spLocks noChangeArrowheads="1"/>
              </p:cNvSpPr>
              <p:nvPr/>
            </p:nvSpPr>
            <p:spPr bwMode="auto">
              <a:xfrm>
                <a:off x="2208387" y="5342335"/>
                <a:ext cx="8345487" cy="6267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设</a:t>
                </a:r>
                <a14:m>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𝑆</m:t>
                        </m:r>
                      </m:e>
                      <m:sub>
                        <m:r>
                          <a:rPr lang="zh-CN" altLang="en-US" sz="3200" i="1">
                            <a:solidFill>
                              <a:srgbClr val="000000"/>
                            </a:solidFill>
                            <a:latin typeface="Cambria Math" panose="02040503050406030204" pitchFamily="18" charset="0"/>
                          </a:rPr>
                          <m:t>1</m:t>
                        </m:r>
                      </m:sub>
                    </m:sSub>
                  </m:oMath>
                </a14:m>
                <a:r>
                  <a:rPr kumimoji="1" lang="zh-CN" altLang="en-US" sz="3200" b="0" dirty="0">
                    <a:ea typeface="楷体" panose="02010609060101010101" pitchFamily="49" charset="-122"/>
                    <a:cs typeface="Times New Roman" panose="02020603050405020304" pitchFamily="18" charset="0"/>
                  </a:rPr>
                  <a:t>和</a:t>
                </a:r>
                <a14:m>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𝑆</m:t>
                        </m:r>
                      </m:e>
                      <m:sub>
                        <m:r>
                          <a:rPr lang="zh-CN" altLang="en-US" sz="3200" i="1">
                            <a:solidFill>
                              <a:srgbClr val="000000"/>
                            </a:solidFill>
                            <a:latin typeface="Cambria Math" panose="02040503050406030204" pitchFamily="18" charset="0"/>
                          </a:rPr>
                          <m:t>2</m:t>
                        </m:r>
                      </m:sub>
                    </m:sSub>
                  </m:oMath>
                </a14:m>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分别</a:t>
                </a:r>
                <a:r>
                  <a:rPr kumimoji="1" lang="zh-CN" altLang="en-US" sz="3200" b="0" dirty="0">
                    <a:ea typeface="楷体" panose="02010609060101010101" pitchFamily="49" charset="-122"/>
                    <a:cs typeface="Times New Roman" panose="02020603050405020304" pitchFamily="18" charset="0"/>
                  </a:rPr>
                  <a:t>表示两个子系统的</a:t>
                </a:r>
                <a:r>
                  <a:rPr kumimoji="1" lang="zh-CN" altLang="en-US" sz="3200" b="0" dirty="0">
                    <a:latin typeface="楷体" panose="02010609060101010101" pitchFamily="49" charset="-122"/>
                    <a:ea typeface="楷体" panose="02010609060101010101" pitchFamily="49" charset="-122"/>
                  </a:rPr>
                  <a:t>熵</a:t>
                </a:r>
                <a:endParaRPr kumimoji="1" lang="zh-CN" altLang="en-US" sz="3200" b="0" dirty="0">
                  <a:ea typeface="楷体" panose="02010609060101010101" pitchFamily="49" charset="-122"/>
                  <a:cs typeface="Times New Roman" panose="02020603050405020304" pitchFamily="18" charset="0"/>
                  <a:sym typeface="Symbol" panose="05050102010706020507" pitchFamily="18" charset="2"/>
                </a:endParaRPr>
              </a:p>
            </p:txBody>
          </p:sp>
        </mc:Choice>
        <mc:Fallback xmlns="">
          <p:sp>
            <p:nvSpPr>
              <p:cNvPr id="11" name="Text Box 4">
                <a:extLst>
                  <a:ext uri="{FF2B5EF4-FFF2-40B4-BE49-F238E27FC236}">
                    <a16:creationId xmlns:a16="http://schemas.microsoft.com/office/drawing/2014/main" id="{F04BF3DB-7B39-7E82-A6EE-DE983FE03A4D}"/>
                  </a:ext>
                </a:extLst>
              </p:cNvPr>
              <p:cNvSpPr txBox="1">
                <a:spLocks noRot="1" noChangeAspect="1" noMove="1" noResize="1" noEditPoints="1" noAdjustHandles="1" noChangeArrowheads="1" noChangeShapeType="1" noTextEdit="1"/>
              </p:cNvSpPr>
              <p:nvPr/>
            </p:nvSpPr>
            <p:spPr bwMode="auto">
              <a:xfrm>
                <a:off x="2208387" y="5342335"/>
                <a:ext cx="8345487" cy="626710"/>
              </a:xfrm>
              <a:prstGeom prst="rect">
                <a:avLst/>
              </a:prstGeom>
              <a:blipFill>
                <a:blip r:embed="rId3"/>
                <a:stretch>
                  <a:fillRect t="-8738" b="-281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5">
                <a:extLst>
                  <a:ext uri="{FF2B5EF4-FFF2-40B4-BE49-F238E27FC236}">
                    <a16:creationId xmlns:a16="http://schemas.microsoft.com/office/drawing/2014/main" id="{F15F272B-5698-5D97-29FD-E5008BFB9D68}"/>
                  </a:ext>
                </a:extLst>
              </p:cNvPr>
              <p:cNvSpPr txBox="1"/>
              <p:nvPr/>
            </p:nvSpPr>
            <p:spPr bwMode="auto">
              <a:xfrm>
                <a:off x="4479245" y="6104378"/>
                <a:ext cx="3864656" cy="6270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𝑆</m:t>
                      </m:r>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𝑆</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𝑆</m:t>
                          </m:r>
                        </m:e>
                        <m:sub>
                          <m:r>
                            <a:rPr lang="zh-CN" altLang="en-US" sz="3200" i="1">
                              <a:solidFill>
                                <a:srgbClr val="000000"/>
                              </a:solidFill>
                              <a:latin typeface="Cambria Math" panose="02040503050406030204" pitchFamily="18" charset="0"/>
                            </a:rPr>
                            <m:t>2</m:t>
                          </m:r>
                        </m:sub>
                      </m:sSub>
                    </m:oMath>
                  </m:oMathPara>
                </a14:m>
                <a:endParaRPr lang="zh-CN" altLang="en-US" sz="3200" dirty="0"/>
              </a:p>
            </p:txBody>
          </p:sp>
        </mc:Choice>
        <mc:Fallback xmlns="">
          <p:sp>
            <p:nvSpPr>
              <p:cNvPr id="12" name="Object 5">
                <a:extLst>
                  <a:ext uri="{FF2B5EF4-FFF2-40B4-BE49-F238E27FC236}">
                    <a16:creationId xmlns:a16="http://schemas.microsoft.com/office/drawing/2014/main" id="{F15F272B-5698-5D97-29FD-E5008BFB9D68}"/>
                  </a:ext>
                </a:extLst>
              </p:cNvPr>
              <p:cNvSpPr txBox="1">
                <a:spLocks noRot="1" noChangeAspect="1" noMove="1" noResize="1" noEditPoints="1" noAdjustHandles="1" noChangeArrowheads="1" noChangeShapeType="1" noTextEdit="1"/>
              </p:cNvSpPr>
              <p:nvPr/>
            </p:nvSpPr>
            <p:spPr bwMode="auto">
              <a:xfrm>
                <a:off x="4479245" y="6104378"/>
                <a:ext cx="3864656" cy="62706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13" name="Rectangle 6">
            <a:extLst>
              <a:ext uri="{FF2B5EF4-FFF2-40B4-BE49-F238E27FC236}">
                <a16:creationId xmlns:a16="http://schemas.microsoft.com/office/drawing/2014/main" id="{10B5BB45-CDD0-37BD-02DD-D874371018F3}"/>
              </a:ext>
            </a:extLst>
          </p:cNvPr>
          <p:cNvSpPr>
            <a:spLocks noChangeArrowheads="1"/>
          </p:cNvSpPr>
          <p:nvPr/>
        </p:nvSpPr>
        <p:spPr bwMode="auto">
          <a:xfrm>
            <a:off x="1873962" y="4602559"/>
            <a:ext cx="3997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熵具有可加性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48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nimBg="1"/>
      <p:bldP spid="34821" grpId="1" animBg="1"/>
      <p:bldP spid="3" grpId="0"/>
      <p:bldP spid="11" grpId="0"/>
      <p:bldP spid="11" grpId="1"/>
      <p:bldP spid="12" grpId="0"/>
      <p:bldP spid="13" grpId="0"/>
      <p:bldP spid="1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A4919D84-A4E2-450D-AC63-3FE0DFF948E8}"/>
              </a:ext>
            </a:extLst>
          </p:cNvPr>
          <p:cNvSpPr txBox="1">
            <a:spLocks noChangeArrowheads="1"/>
          </p:cNvSpPr>
          <p:nvPr/>
        </p:nvSpPr>
        <p:spPr bwMode="auto">
          <a:xfrm>
            <a:off x="585839" y="975636"/>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可逆过程</a:t>
            </a:r>
            <a:endParaRPr kumimoji="1" lang="zh-CN" altLang="en-US" sz="3200" dirty="0">
              <a:solidFill>
                <a:srgbClr val="0066FF"/>
              </a:solidFill>
              <a:latin typeface="+mn-lt"/>
              <a:ea typeface="+mn-ea"/>
              <a:cs typeface="Times New Roman" panose="02020603050405020304" pitchFamily="18" charset="0"/>
            </a:endParaRPr>
          </a:p>
        </p:txBody>
      </p:sp>
      <p:sp>
        <p:nvSpPr>
          <p:cNvPr id="3" name="Text Box 2">
            <a:extLst>
              <a:ext uri="{FF2B5EF4-FFF2-40B4-BE49-F238E27FC236}">
                <a16:creationId xmlns:a16="http://schemas.microsoft.com/office/drawing/2014/main" id="{B92DFECC-FB26-40AC-B2C0-F469C9B1A243}"/>
              </a:ext>
            </a:extLst>
          </p:cNvPr>
          <p:cNvSpPr txBox="1"/>
          <p:nvPr/>
        </p:nvSpPr>
        <p:spPr>
          <a:xfrm>
            <a:off x="669482" y="1571455"/>
            <a:ext cx="7420915" cy="1719189"/>
          </a:xfrm>
          <a:prstGeom prst="rect">
            <a:avLst/>
          </a:prstGeom>
          <a:noFill/>
          <a:ln w="9525">
            <a:noFill/>
          </a:ln>
        </p:spPr>
        <p:txBody>
          <a:bodyPr wrap="square">
            <a:spAutoFit/>
          </a:bodyPr>
          <a:lstStyle/>
          <a:p>
            <a:pPr>
              <a:lnSpc>
                <a:spcPct val="120000"/>
              </a:lnSpc>
              <a:spcBef>
                <a:spcPct val="50000"/>
              </a:spcBef>
            </a:pPr>
            <a:r>
              <a:rPr lang="zh-CN" altLang="en-US" sz="3000" dirty="0">
                <a:latin typeface="Times New Roman" panose="02020603050405020304" pitchFamily="18" charset="0"/>
              </a:rPr>
              <a:t>在系统状态变化过程中，如果使外界改变一无穷小的量，这个过程就可以反向进行，则这一过程称为可逆过程 </a:t>
            </a:r>
            <a:endParaRPr lang="en-US" altLang="zh-CN" sz="3000" dirty="0">
              <a:latin typeface="Times New Roman" panose="02020603050405020304" pitchFamily="18" charset="0"/>
            </a:endParaRPr>
          </a:p>
        </p:txBody>
      </p:sp>
      <p:sp>
        <p:nvSpPr>
          <p:cNvPr id="4" name="文本框 3">
            <a:extLst>
              <a:ext uri="{FF2B5EF4-FFF2-40B4-BE49-F238E27FC236}">
                <a16:creationId xmlns:a16="http://schemas.microsoft.com/office/drawing/2014/main" id="{4EF50431-368C-2C1C-DCCE-AC922D7F878D}"/>
              </a:ext>
            </a:extLst>
          </p:cNvPr>
          <p:cNvSpPr txBox="1"/>
          <p:nvPr/>
        </p:nvSpPr>
        <p:spPr>
          <a:xfrm>
            <a:off x="928677" y="3670994"/>
            <a:ext cx="5575300" cy="2677656"/>
          </a:xfrm>
          <a:prstGeom prst="rect">
            <a:avLst/>
          </a:prstGeom>
          <a:noFill/>
        </p:spPr>
        <p:txBody>
          <a:bodyPr wrap="square">
            <a:spAutoFit/>
          </a:bodyPr>
          <a:lstStyle/>
          <a:p>
            <a:r>
              <a:rPr lang="en-US" altLang="zh-CN" sz="2800" dirty="0">
                <a:latin typeface="Times New Roman" panose="02020603050405020304" pitchFamily="18" charset="0"/>
              </a:rPr>
              <a:t>-  </a:t>
            </a:r>
            <a:r>
              <a:rPr lang="zh-CN" altLang="en-US" sz="2800" dirty="0">
                <a:latin typeface="Times New Roman" panose="02020603050405020304" pitchFamily="18" charset="0"/>
              </a:rPr>
              <a:t>准静态过程（无限缓慢的过程）</a:t>
            </a:r>
            <a:endParaRPr lang="en-US" altLang="zh-CN" sz="2800" dirty="0">
              <a:latin typeface="Times New Roman" panose="02020603050405020304" pitchFamily="18" charset="0"/>
            </a:endParaRPr>
          </a:p>
          <a:p>
            <a:pPr marL="457200" indent="-457200">
              <a:buFontTx/>
              <a:buChar char="-"/>
            </a:pPr>
            <a:endParaRPr lang="en-US" altLang="zh-CN" sz="2800" dirty="0">
              <a:latin typeface="Times New Roman" panose="02020603050405020304" pitchFamily="18" charset="0"/>
            </a:endParaRPr>
          </a:p>
          <a:p>
            <a:pPr marL="457200" indent="-457200">
              <a:buFontTx/>
              <a:buChar char="-"/>
            </a:pPr>
            <a:r>
              <a:rPr lang="zh-CN" altLang="en-US" sz="2800" dirty="0">
                <a:latin typeface="Times New Roman" panose="02020603050405020304" pitchFamily="18" charset="0"/>
              </a:rPr>
              <a:t>且无摩擦力、粘滞力或其它耗散力作功</a:t>
            </a:r>
            <a:endParaRPr lang="en-US" altLang="zh-CN" sz="2800" dirty="0">
              <a:latin typeface="Times New Roman" panose="02020603050405020304" pitchFamily="18" charset="0"/>
            </a:endParaRPr>
          </a:p>
          <a:p>
            <a:pPr marL="457200" indent="-457200">
              <a:buFontTx/>
              <a:buChar char="-"/>
            </a:pPr>
            <a:endParaRPr lang="en-US" altLang="zh-CN" sz="2800" dirty="0">
              <a:latin typeface="Times New Roman" panose="02020603050405020304" pitchFamily="18" charset="0"/>
            </a:endParaRPr>
          </a:p>
          <a:p>
            <a:pPr marL="457200" indent="-457200">
              <a:buFontTx/>
              <a:buChar char="-"/>
            </a:pPr>
            <a:r>
              <a:rPr lang="zh-CN" altLang="en-US" sz="2800" dirty="0">
                <a:latin typeface="Times New Roman" panose="02020603050405020304" pitchFamily="18" charset="0"/>
              </a:rPr>
              <a:t>无能量耗散的过程 </a:t>
            </a:r>
            <a:endParaRPr lang="zh-CN" altLang="en-US" sz="2800" dirty="0"/>
          </a:p>
        </p:txBody>
      </p:sp>
      <p:pic>
        <p:nvPicPr>
          <p:cNvPr id="7" name="图片 6">
            <a:extLst>
              <a:ext uri="{FF2B5EF4-FFF2-40B4-BE49-F238E27FC236}">
                <a16:creationId xmlns:a16="http://schemas.microsoft.com/office/drawing/2014/main" id="{498A603C-DC12-4CE6-3BDF-0A30C80D9490}"/>
              </a:ext>
            </a:extLst>
          </p:cNvPr>
          <p:cNvPicPr>
            <a:picLocks noChangeAspect="1"/>
          </p:cNvPicPr>
          <p:nvPr/>
        </p:nvPicPr>
        <p:blipFill rotWithShape="1">
          <a:blip r:embed="rId3"/>
          <a:srcRect l="2909" t="20658" r="49673" b="11505"/>
          <a:stretch/>
        </p:blipFill>
        <p:spPr>
          <a:xfrm>
            <a:off x="7408773" y="4679677"/>
            <a:ext cx="3686175" cy="1965326"/>
          </a:xfrm>
          <a:prstGeom prst="rect">
            <a:avLst/>
          </a:prstGeom>
        </p:spPr>
      </p:pic>
      <p:sp>
        <p:nvSpPr>
          <p:cNvPr id="8" name="文本框 7">
            <a:extLst>
              <a:ext uri="{FF2B5EF4-FFF2-40B4-BE49-F238E27FC236}">
                <a16:creationId xmlns:a16="http://schemas.microsoft.com/office/drawing/2014/main" id="{9916A71E-155B-EFFC-D39B-A2573C5C18F4}"/>
              </a:ext>
            </a:extLst>
          </p:cNvPr>
          <p:cNvSpPr txBox="1"/>
          <p:nvPr/>
        </p:nvSpPr>
        <p:spPr>
          <a:xfrm>
            <a:off x="7499351" y="3454935"/>
            <a:ext cx="3538448" cy="954107"/>
          </a:xfrm>
          <a:prstGeom prst="rect">
            <a:avLst/>
          </a:prstGeom>
          <a:noFill/>
        </p:spPr>
        <p:txBody>
          <a:bodyPr wrap="square">
            <a:spAutoFit/>
          </a:bodyPr>
          <a:lstStyle/>
          <a:p>
            <a:r>
              <a:rPr lang="zh-CN" altLang="en-US" sz="2800" dirty="0">
                <a:latin typeface="Times New Roman" panose="02020603050405020304" pitchFamily="18" charset="0"/>
              </a:rPr>
              <a:t>等温热传导：温差为无限小的热传导</a:t>
            </a:r>
            <a:endParaRPr lang="zh-CN" altLang="en-US" sz="2800" dirty="0"/>
          </a:p>
        </p:txBody>
      </p:sp>
      <p:sp>
        <p:nvSpPr>
          <p:cNvPr id="5" name="文本框 4">
            <a:extLst>
              <a:ext uri="{FF2B5EF4-FFF2-40B4-BE49-F238E27FC236}">
                <a16:creationId xmlns:a16="http://schemas.microsoft.com/office/drawing/2014/main" id="{F8829995-9A28-1244-C17D-6BA7EF01291B}"/>
              </a:ext>
            </a:extLst>
          </p:cNvPr>
          <p:cNvSpPr txBox="1"/>
          <p:nvPr/>
        </p:nvSpPr>
        <p:spPr>
          <a:xfrm>
            <a:off x="1486511" y="248874"/>
            <a:ext cx="8952032" cy="584775"/>
          </a:xfrm>
          <a:prstGeom prst="rect">
            <a:avLst/>
          </a:prstGeom>
          <a:noFill/>
        </p:spPr>
        <p:txBody>
          <a:bodyPr wrap="square" rtlCol="0">
            <a:spAutoFit/>
          </a:bodyPr>
          <a:lstStyle/>
          <a:p>
            <a:r>
              <a:rPr lang="zh-CN" altLang="en-US" sz="3200" b="1" dirty="0"/>
              <a:t>一切与热现象有关的</a:t>
            </a:r>
            <a:r>
              <a:rPr lang="zh-CN" altLang="en-US" sz="3200" b="1" dirty="0">
                <a:solidFill>
                  <a:srgbClr val="FF0000"/>
                </a:solidFill>
              </a:rPr>
              <a:t>实际宏观过程</a:t>
            </a:r>
            <a:r>
              <a:rPr lang="zh-CN" altLang="en-US" sz="3200" b="1" dirty="0"/>
              <a:t>都是不可逆的</a:t>
            </a:r>
          </a:p>
        </p:txBody>
      </p:sp>
      <p:grpSp>
        <p:nvGrpSpPr>
          <p:cNvPr id="9" name="Group 42">
            <a:extLst>
              <a:ext uri="{FF2B5EF4-FFF2-40B4-BE49-F238E27FC236}">
                <a16:creationId xmlns:a16="http://schemas.microsoft.com/office/drawing/2014/main" id="{9DEA9249-F1FB-48ED-A585-6D6EE2739D08}"/>
              </a:ext>
            </a:extLst>
          </p:cNvPr>
          <p:cNvGrpSpPr>
            <a:grpSpLocks/>
          </p:cNvGrpSpPr>
          <p:nvPr/>
        </p:nvGrpSpPr>
        <p:grpSpPr bwMode="auto">
          <a:xfrm>
            <a:off x="7957841" y="1669050"/>
            <a:ext cx="2965450" cy="1435100"/>
            <a:chOff x="336" y="2496"/>
            <a:chExt cx="1868" cy="904"/>
          </a:xfrm>
        </p:grpSpPr>
        <p:grpSp>
          <p:nvGrpSpPr>
            <p:cNvPr id="10" name="Group 43">
              <a:extLst>
                <a:ext uri="{FF2B5EF4-FFF2-40B4-BE49-F238E27FC236}">
                  <a16:creationId xmlns:a16="http://schemas.microsoft.com/office/drawing/2014/main" id="{811EEE41-9D77-472E-B3EE-1ECB1A05B41D}"/>
                </a:ext>
              </a:extLst>
            </p:cNvPr>
            <p:cNvGrpSpPr>
              <a:grpSpLocks/>
            </p:cNvGrpSpPr>
            <p:nvPr/>
          </p:nvGrpSpPr>
          <p:grpSpPr bwMode="auto">
            <a:xfrm>
              <a:off x="336" y="2496"/>
              <a:ext cx="1868" cy="904"/>
              <a:chOff x="532" y="2260"/>
              <a:chExt cx="1868" cy="904"/>
            </a:xfrm>
          </p:grpSpPr>
          <p:sp>
            <p:nvSpPr>
              <p:cNvPr id="13" name="Rectangle 44" descr="浅色横线">
                <a:extLst>
                  <a:ext uri="{FF2B5EF4-FFF2-40B4-BE49-F238E27FC236}">
                    <a16:creationId xmlns:a16="http://schemas.microsoft.com/office/drawing/2014/main" id="{30070EEA-7A03-42DE-AEC2-6B416B29E829}"/>
                  </a:ext>
                </a:extLst>
              </p:cNvPr>
              <p:cNvSpPr>
                <a:spLocks noChangeArrowheads="1"/>
              </p:cNvSpPr>
              <p:nvPr/>
            </p:nvSpPr>
            <p:spPr bwMode="auto">
              <a:xfrm>
                <a:off x="1444" y="2356"/>
                <a:ext cx="280" cy="712"/>
              </a:xfrm>
              <a:prstGeom prst="rect">
                <a:avLst/>
              </a:prstGeom>
              <a:pattFill prst="lt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Rectangle 45" descr="深色横线">
                <a:extLst>
                  <a:ext uri="{FF2B5EF4-FFF2-40B4-BE49-F238E27FC236}">
                    <a16:creationId xmlns:a16="http://schemas.microsoft.com/office/drawing/2014/main" id="{16DF01CC-AFC9-466A-9F90-1DDEBE7BE0A5}"/>
                  </a:ext>
                </a:extLst>
              </p:cNvPr>
              <p:cNvSpPr>
                <a:spLocks noChangeArrowheads="1"/>
              </p:cNvSpPr>
              <p:nvPr/>
            </p:nvSpPr>
            <p:spPr bwMode="auto">
              <a:xfrm>
                <a:off x="1732" y="2644"/>
                <a:ext cx="664" cy="136"/>
              </a:xfrm>
              <a:prstGeom prst="rect">
                <a:avLst/>
              </a:prstGeom>
              <a:pattFill prst="dk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 name="Rectangle 46">
                <a:extLst>
                  <a:ext uri="{FF2B5EF4-FFF2-40B4-BE49-F238E27FC236}">
                    <a16:creationId xmlns:a16="http://schemas.microsoft.com/office/drawing/2014/main" id="{97F19F3B-F7D8-4F68-AC27-7301D66B0B99}"/>
                  </a:ext>
                </a:extLst>
              </p:cNvPr>
              <p:cNvSpPr>
                <a:spLocks noChangeArrowheads="1"/>
              </p:cNvSpPr>
              <p:nvPr/>
            </p:nvSpPr>
            <p:spPr bwMode="auto">
              <a:xfrm>
                <a:off x="628" y="2356"/>
                <a:ext cx="808" cy="712"/>
              </a:xfrm>
              <a:prstGeom prst="rect">
                <a:avLst/>
              </a:prstGeom>
              <a:gradFill rotWithShape="0">
                <a:gsLst>
                  <a:gs pos="0">
                    <a:schemeClr val="tx1"/>
                  </a:gs>
                  <a:gs pos="100000">
                    <a:schemeClr val="tx1">
                      <a:gamma/>
                      <a:shade val="69804"/>
                      <a:invGamma/>
                    </a:schemeClr>
                  </a:gs>
                </a:gsLst>
                <a:lin ang="0" scaled="1"/>
              </a:gradFill>
              <a:ln w="12700">
                <a:solidFill>
                  <a:schemeClr val="tx1"/>
                </a:solidFill>
                <a:miter lim="800000"/>
                <a:headEnd/>
                <a:tailEnd/>
              </a:ln>
              <a:effectLst/>
            </p:spPr>
            <p:txBody>
              <a:bodyPr wrap="none" anchor="ctr"/>
              <a:lstStyle/>
              <a:p>
                <a:pPr>
                  <a:defRPr/>
                </a:pPr>
                <a:endParaRPr lang="zh-CN" altLang="en-US"/>
              </a:p>
            </p:txBody>
          </p:sp>
          <p:sp>
            <p:nvSpPr>
              <p:cNvPr id="16" name="Rectangle 47" descr="宽下对角线">
                <a:extLst>
                  <a:ext uri="{FF2B5EF4-FFF2-40B4-BE49-F238E27FC236}">
                    <a16:creationId xmlns:a16="http://schemas.microsoft.com/office/drawing/2014/main" id="{9A51C574-5396-4E0F-B22C-0113FB8B3B9C}"/>
                  </a:ext>
                </a:extLst>
              </p:cNvPr>
              <p:cNvSpPr>
                <a:spLocks noChangeArrowheads="1"/>
              </p:cNvSpPr>
              <p:nvPr/>
            </p:nvSpPr>
            <p:spPr bwMode="auto">
              <a:xfrm>
                <a:off x="532" y="2356"/>
                <a:ext cx="88" cy="712"/>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 name="Rectangle 48" descr="宽下对角线">
                <a:extLst>
                  <a:ext uri="{FF2B5EF4-FFF2-40B4-BE49-F238E27FC236}">
                    <a16:creationId xmlns:a16="http://schemas.microsoft.com/office/drawing/2014/main" id="{5AC17FB5-417B-4624-81BE-2F01A9EF3E5F}"/>
                  </a:ext>
                </a:extLst>
              </p:cNvPr>
              <p:cNvSpPr>
                <a:spLocks noChangeArrowheads="1"/>
              </p:cNvSpPr>
              <p:nvPr/>
            </p:nvSpPr>
            <p:spPr bwMode="auto">
              <a:xfrm>
                <a:off x="532" y="2260"/>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Rectangle 49" descr="宽下对角线">
                <a:extLst>
                  <a:ext uri="{FF2B5EF4-FFF2-40B4-BE49-F238E27FC236}">
                    <a16:creationId xmlns:a16="http://schemas.microsoft.com/office/drawing/2014/main" id="{86B174FC-421E-4954-81A5-506F91E0F7A8}"/>
                  </a:ext>
                </a:extLst>
              </p:cNvPr>
              <p:cNvSpPr>
                <a:spLocks noChangeArrowheads="1"/>
              </p:cNvSpPr>
              <p:nvPr/>
            </p:nvSpPr>
            <p:spPr bwMode="auto">
              <a:xfrm>
                <a:off x="532" y="3076"/>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 name="Rectangle 50">
                <a:extLst>
                  <a:ext uri="{FF2B5EF4-FFF2-40B4-BE49-F238E27FC236}">
                    <a16:creationId xmlns:a16="http://schemas.microsoft.com/office/drawing/2014/main" id="{63B12F67-162E-4797-8E3D-0252A05A8960}"/>
                  </a:ext>
                </a:extLst>
              </p:cNvPr>
              <p:cNvSpPr>
                <a:spLocks noChangeArrowheads="1"/>
              </p:cNvSpPr>
              <p:nvPr/>
            </p:nvSpPr>
            <p:spPr bwMode="auto">
              <a:xfrm>
                <a:off x="1814" y="2342"/>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sz="2400" i="1"/>
                  <a:t>u</a:t>
                </a:r>
                <a:endParaRPr lang="en-US" altLang="zh-CN" sz="2400"/>
              </a:p>
            </p:txBody>
          </p:sp>
          <p:sp>
            <p:nvSpPr>
              <p:cNvPr id="20" name="Line 51">
                <a:extLst>
                  <a:ext uri="{FF2B5EF4-FFF2-40B4-BE49-F238E27FC236}">
                    <a16:creationId xmlns:a16="http://schemas.microsoft.com/office/drawing/2014/main" id="{C3A7C51B-699F-4868-AAF9-03ECDF68C1E2}"/>
                  </a:ext>
                </a:extLst>
              </p:cNvPr>
              <p:cNvSpPr>
                <a:spLocks noChangeShapeType="1"/>
              </p:cNvSpPr>
              <p:nvPr/>
            </p:nvSpPr>
            <p:spPr bwMode="auto">
              <a:xfrm>
                <a:off x="2064" y="2496"/>
                <a:ext cx="336"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 name="Text Box 52">
              <a:extLst>
                <a:ext uri="{FF2B5EF4-FFF2-40B4-BE49-F238E27FC236}">
                  <a16:creationId xmlns:a16="http://schemas.microsoft.com/office/drawing/2014/main" id="{6CF33F87-39B1-471F-A0DA-C281653448E5}"/>
                </a:ext>
              </a:extLst>
            </p:cNvPr>
            <p:cNvSpPr txBox="1">
              <a:spLocks noChangeArrowheads="1"/>
            </p:cNvSpPr>
            <p:nvPr/>
          </p:nvSpPr>
          <p:spPr bwMode="auto">
            <a:xfrm>
              <a:off x="1526" y="297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S</a:t>
              </a:r>
              <a:endParaRPr lang="en-US" altLang="zh-CN"/>
            </a:p>
          </p:txBody>
        </p:sp>
        <p:sp>
          <p:nvSpPr>
            <p:cNvPr id="12" name="Text Box 53">
              <a:extLst>
                <a:ext uri="{FF2B5EF4-FFF2-40B4-BE49-F238E27FC236}">
                  <a16:creationId xmlns:a16="http://schemas.microsoft.com/office/drawing/2014/main" id="{3187AEB2-FEB1-4726-B61D-ED46BB7260DE}"/>
                </a:ext>
              </a:extLst>
            </p:cNvPr>
            <p:cNvSpPr txBox="1">
              <a:spLocks noChangeArrowheads="1"/>
            </p:cNvSpPr>
            <p:nvPr/>
          </p:nvSpPr>
          <p:spPr bwMode="auto">
            <a:xfrm>
              <a:off x="528" y="2832"/>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0000"/>
                  </a:solidFill>
                </a:rPr>
                <a:t>P</a:t>
              </a:r>
              <a:endParaRPr lang="en-US" altLang="zh-CN" i="1"/>
            </a:p>
          </p:txBody>
        </p:sp>
      </p:grpSp>
      <p:grpSp>
        <p:nvGrpSpPr>
          <p:cNvPr id="21" name="Group 54">
            <a:extLst>
              <a:ext uri="{FF2B5EF4-FFF2-40B4-BE49-F238E27FC236}">
                <a16:creationId xmlns:a16="http://schemas.microsoft.com/office/drawing/2014/main" id="{E36A2D43-DA24-4B1B-9D85-EDB69F71F9E1}"/>
              </a:ext>
            </a:extLst>
          </p:cNvPr>
          <p:cNvGrpSpPr>
            <a:grpSpLocks/>
          </p:cNvGrpSpPr>
          <p:nvPr/>
        </p:nvGrpSpPr>
        <p:grpSpPr bwMode="auto">
          <a:xfrm>
            <a:off x="8872241" y="1821450"/>
            <a:ext cx="1511300" cy="1130300"/>
            <a:chOff x="2544" y="672"/>
            <a:chExt cx="952" cy="712"/>
          </a:xfrm>
        </p:grpSpPr>
        <p:sp>
          <p:nvSpPr>
            <p:cNvPr id="22" name="Rectangle 55" descr="浅色横线">
              <a:extLst>
                <a:ext uri="{FF2B5EF4-FFF2-40B4-BE49-F238E27FC236}">
                  <a16:creationId xmlns:a16="http://schemas.microsoft.com/office/drawing/2014/main" id="{5B70F852-70EA-4C19-B95C-6F5AB28AC7B0}"/>
                </a:ext>
              </a:extLst>
            </p:cNvPr>
            <p:cNvSpPr>
              <a:spLocks noChangeArrowheads="1"/>
            </p:cNvSpPr>
            <p:nvPr/>
          </p:nvSpPr>
          <p:spPr bwMode="auto">
            <a:xfrm>
              <a:off x="2544" y="672"/>
              <a:ext cx="280" cy="712"/>
            </a:xfrm>
            <a:prstGeom prst="rect">
              <a:avLst/>
            </a:prstGeom>
            <a:pattFill prst="lt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 name="Rectangle 56" descr="深色横线">
              <a:extLst>
                <a:ext uri="{FF2B5EF4-FFF2-40B4-BE49-F238E27FC236}">
                  <a16:creationId xmlns:a16="http://schemas.microsoft.com/office/drawing/2014/main" id="{0E1B6978-161F-4942-A4D7-980F7FB5D687}"/>
                </a:ext>
              </a:extLst>
            </p:cNvPr>
            <p:cNvSpPr>
              <a:spLocks noChangeArrowheads="1"/>
            </p:cNvSpPr>
            <p:nvPr/>
          </p:nvSpPr>
          <p:spPr bwMode="auto">
            <a:xfrm>
              <a:off x="2832" y="960"/>
              <a:ext cx="664" cy="136"/>
            </a:xfrm>
            <a:prstGeom prst="rect">
              <a:avLst/>
            </a:prstGeom>
            <a:pattFill prst="dk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260215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5E2AEA3-2622-80E8-FF74-7E316B7B4F1D}"/>
              </a:ext>
            </a:extLst>
          </p:cNvPr>
          <p:cNvSpPr/>
          <p:nvPr/>
        </p:nvSpPr>
        <p:spPr>
          <a:xfrm>
            <a:off x="1384680" y="1777777"/>
            <a:ext cx="10316253" cy="1719189"/>
          </a:xfrm>
          <a:prstGeom prst="rect">
            <a:avLst/>
          </a:prstGeom>
          <a:noFill/>
          <a:ln w="9525">
            <a:noFill/>
          </a:ln>
        </p:spPr>
        <p:txBody>
          <a:bodyPr wrap="square">
            <a:spAutoFit/>
          </a:bodyPr>
          <a:lstStyle/>
          <a:p>
            <a:pPr>
              <a:lnSpc>
                <a:spcPct val="120000"/>
              </a:lnSpc>
              <a:spcBef>
                <a:spcPct val="50000"/>
              </a:spcBef>
            </a:pPr>
            <a:r>
              <a:rPr lang="zh-CN" altLang="en-US" sz="3000" dirty="0">
                <a:latin typeface="Times New Roman" panose="02020603050405020304" pitchFamily="18" charset="0"/>
              </a:rPr>
              <a:t>在不引起其它变化的条件下，不能使逆过程重复正过程的每一状态，或者虽能重复但必然会引起其它变化，这样的过程叫做不可逆过程</a:t>
            </a:r>
            <a:endParaRPr lang="en-US" altLang="zh-CN" sz="3000" dirty="0">
              <a:latin typeface="Times New Roman" panose="02020603050405020304" pitchFamily="18" charset="0"/>
            </a:endParaRPr>
          </a:p>
        </p:txBody>
      </p:sp>
      <p:sp>
        <p:nvSpPr>
          <p:cNvPr id="5" name="Rectangle 3">
            <a:extLst>
              <a:ext uri="{FF2B5EF4-FFF2-40B4-BE49-F238E27FC236}">
                <a16:creationId xmlns:a16="http://schemas.microsoft.com/office/drawing/2014/main" id="{FE963D9E-5FFA-0FAA-6B78-50A1FCE482AD}"/>
              </a:ext>
            </a:extLst>
          </p:cNvPr>
          <p:cNvSpPr/>
          <p:nvPr/>
        </p:nvSpPr>
        <p:spPr>
          <a:xfrm>
            <a:off x="2670175" y="4133704"/>
            <a:ext cx="5688013" cy="1323439"/>
          </a:xfrm>
          <a:prstGeom prst="rect">
            <a:avLst/>
          </a:prstGeom>
          <a:noFill/>
          <a:ln w="9525" cap="flat" cmpd="sng">
            <a:noFill/>
            <a:prstDash val="solid"/>
            <a:miter/>
            <a:headEnd type="none" w="med" len="med"/>
            <a:tailEnd type="none" w="med" len="med"/>
          </a:ln>
        </p:spPr>
        <p:txBody>
          <a:bodyPr>
            <a:spAutoFit/>
          </a:bodyPr>
          <a:lstStyle/>
          <a:p>
            <a:pPr marL="457200" indent="-457200">
              <a:spcBef>
                <a:spcPct val="50000"/>
              </a:spcBef>
              <a:buFontTx/>
              <a:buChar char="-"/>
            </a:pPr>
            <a:r>
              <a:rPr lang="zh-CN" altLang="en-US" sz="3200" dirty="0">
                <a:solidFill>
                  <a:srgbClr val="FF0000"/>
                </a:solidFill>
                <a:latin typeface="Times New Roman" panose="02020603050405020304" pitchFamily="18" charset="0"/>
              </a:rPr>
              <a:t>非</a:t>
            </a:r>
            <a:r>
              <a:rPr lang="zh-CN" altLang="en-US" sz="3200" dirty="0">
                <a:latin typeface="Times New Roman" panose="02020603050405020304" pitchFamily="18" charset="0"/>
              </a:rPr>
              <a:t>准静态过程为不可逆过程</a:t>
            </a:r>
            <a:endParaRPr lang="en-US" altLang="zh-CN" sz="3200" dirty="0">
              <a:latin typeface="Times New Roman" panose="02020603050405020304" pitchFamily="18" charset="0"/>
            </a:endParaRPr>
          </a:p>
          <a:p>
            <a:pPr marL="457200" indent="-457200">
              <a:spcBef>
                <a:spcPct val="50000"/>
              </a:spcBef>
              <a:buFontTx/>
              <a:buChar char="-"/>
            </a:pPr>
            <a:r>
              <a:rPr lang="zh-CN" altLang="en-US" sz="3200" dirty="0">
                <a:latin typeface="Times New Roman" panose="02020603050405020304" pitchFamily="18" charset="0"/>
              </a:rPr>
              <a:t>实际的热力学过程</a:t>
            </a:r>
            <a:endParaRPr lang="en-US" altLang="zh-CN" sz="3200" dirty="0">
              <a:latin typeface="Times New Roman" panose="02020603050405020304" pitchFamily="18" charset="0"/>
            </a:endParaRPr>
          </a:p>
        </p:txBody>
      </p:sp>
      <p:sp>
        <p:nvSpPr>
          <p:cNvPr id="6" name="Text Box 13">
            <a:hlinkClick r:id="" action="ppaction://noaction"/>
            <a:extLst>
              <a:ext uri="{FF2B5EF4-FFF2-40B4-BE49-F238E27FC236}">
                <a16:creationId xmlns:a16="http://schemas.microsoft.com/office/drawing/2014/main" id="{DD796D88-25B4-95BA-9C2A-5E8590F39489}"/>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不可逆过程</a:t>
            </a:r>
            <a:endParaRPr kumimoji="1" lang="zh-CN" altLang="en-US" sz="3200" dirty="0">
              <a:solidFill>
                <a:srgbClr val="0066FF"/>
              </a:solidFill>
              <a:latin typeface="+mn-lt"/>
              <a:ea typeface="+mn-ea"/>
              <a:cs typeface="Times New Roman" panose="02020603050405020304" pitchFamily="18" charset="0"/>
            </a:endParaRPr>
          </a:p>
        </p:txBody>
      </p:sp>
    </p:spTree>
    <p:extLst>
      <p:ext uri="{BB962C8B-B14F-4D97-AF65-F5344CB8AC3E}">
        <p14:creationId xmlns:p14="http://schemas.microsoft.com/office/powerpoint/2010/main" val="386838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3C452C-FA36-1EEB-0F6D-63C86B485A91}"/>
              </a:ext>
            </a:extLst>
          </p:cNvPr>
          <p:cNvSpPr txBox="1"/>
          <p:nvPr>
            <p:custDataLst>
              <p:tags r:id="rId2"/>
            </p:custDataLst>
          </p:nvPr>
        </p:nvSpPr>
        <p:spPr>
          <a:xfrm>
            <a:off x="1219200" y="1500188"/>
            <a:ext cx="9753600" cy="2143125"/>
          </a:xfrm>
          <a:prstGeom prst="rect">
            <a:avLst/>
          </a:prstGeom>
          <a:noFill/>
        </p:spPr>
        <p:txBody>
          <a:bodyPr vert="horz" wrap="square" rtlCol="0" anchor="ctr" anchorCtr="0">
            <a:noAutofit/>
          </a:bodyPr>
          <a:lstStyle/>
          <a:p>
            <a:pPr marL="457200" indent="-457200">
              <a:lnSpc>
                <a:spcPct val="120000"/>
              </a:lnSpc>
              <a:spcBef>
                <a:spcPct val="5000"/>
              </a:spcBef>
            </a:pPr>
            <a:r>
              <a:rPr lang="zh-CN" altLang="en-US" sz="2800" dirty="0">
                <a:latin typeface="Times New Roman" panose="02020603050405020304" pitchFamily="18" charset="0"/>
              </a:rPr>
              <a:t>关于可逆过程和不可逆过程</a:t>
            </a:r>
            <a:r>
              <a:rPr lang="en-US" altLang="zh-CN" sz="2800" dirty="0">
                <a:latin typeface="Times New Roman" panose="02020603050405020304" pitchFamily="18" charset="0"/>
              </a:rPr>
              <a:t>,  </a:t>
            </a:r>
            <a:r>
              <a:rPr lang="zh-CN" altLang="en-US" sz="2800" dirty="0">
                <a:latin typeface="Times New Roman" panose="02020603050405020304" pitchFamily="18" charset="0"/>
              </a:rPr>
              <a:t>有下面的叙述</a:t>
            </a:r>
            <a:r>
              <a:rPr lang="en-US" altLang="zh-CN" sz="2800" dirty="0">
                <a:latin typeface="Times New Roman" panose="02020603050405020304" pitchFamily="18" charset="0"/>
              </a:rPr>
              <a:t>: </a:t>
            </a:r>
          </a:p>
          <a:p>
            <a:pPr marL="457200" indent="-457200">
              <a:lnSpc>
                <a:spcPct val="120000"/>
              </a:lnSpc>
              <a:spcBef>
                <a:spcPct val="5000"/>
              </a:spcBef>
            </a:pPr>
            <a:r>
              <a:rPr lang="en-US" altLang="zh-CN" sz="2800" dirty="0">
                <a:latin typeface="Times New Roman" panose="02020603050405020304" pitchFamily="18" charset="0"/>
              </a:rPr>
              <a:t>(1) </a:t>
            </a:r>
            <a:r>
              <a:rPr lang="zh-CN" altLang="en-US" sz="2800" dirty="0">
                <a:latin typeface="Times New Roman" panose="02020603050405020304" pitchFamily="18" charset="0"/>
              </a:rPr>
              <a:t>可逆热力学过程一定是平衡过程</a:t>
            </a:r>
            <a:r>
              <a:rPr lang="en-US" altLang="zh-CN" sz="2800" dirty="0">
                <a:latin typeface="Times New Roman" panose="02020603050405020304" pitchFamily="18" charset="0"/>
              </a:rPr>
              <a:t>; </a:t>
            </a:r>
          </a:p>
          <a:p>
            <a:pPr marL="457200" indent="-457200">
              <a:lnSpc>
                <a:spcPct val="120000"/>
              </a:lnSpc>
              <a:spcBef>
                <a:spcPct val="5000"/>
              </a:spcBef>
            </a:pPr>
            <a:r>
              <a:rPr lang="en-US" altLang="zh-CN" sz="2800" dirty="0">
                <a:latin typeface="Times New Roman" panose="02020603050405020304" pitchFamily="18" charset="0"/>
              </a:rPr>
              <a:t>(2)</a:t>
            </a:r>
            <a:r>
              <a:rPr lang="zh-CN" altLang="en-US" sz="2800" dirty="0">
                <a:latin typeface="Times New Roman" panose="02020603050405020304" pitchFamily="18" charset="0"/>
              </a:rPr>
              <a:t>平衡过程一定是可逆过程</a:t>
            </a:r>
            <a:r>
              <a:rPr lang="en-US" altLang="zh-CN" sz="2800" dirty="0">
                <a:latin typeface="Times New Roman" panose="02020603050405020304" pitchFamily="18" charset="0"/>
              </a:rPr>
              <a:t>;   </a:t>
            </a:r>
          </a:p>
          <a:p>
            <a:pPr marL="457200" indent="-457200">
              <a:lnSpc>
                <a:spcPct val="120000"/>
              </a:lnSpc>
              <a:spcBef>
                <a:spcPct val="5000"/>
              </a:spcBef>
            </a:pPr>
            <a:r>
              <a:rPr lang="en-US" altLang="zh-CN" sz="2800" dirty="0">
                <a:latin typeface="Times New Roman" panose="02020603050405020304" pitchFamily="18" charset="0"/>
              </a:rPr>
              <a:t>(3) </a:t>
            </a:r>
            <a:r>
              <a:rPr lang="zh-CN" altLang="en-US" sz="2800" dirty="0">
                <a:latin typeface="Times New Roman" panose="02020603050405020304" pitchFamily="18" charset="0"/>
              </a:rPr>
              <a:t>不可逆过程就是不能向相反方向进行的过程</a:t>
            </a:r>
            <a:r>
              <a:rPr lang="en-US" altLang="zh-CN" sz="2800" dirty="0">
                <a:latin typeface="Times New Roman" panose="02020603050405020304" pitchFamily="18" charset="0"/>
              </a:rPr>
              <a:t>;</a:t>
            </a:r>
            <a:endParaRPr lang="en-US" altLang="zh-CN" sz="2800" dirty="0">
              <a:latin typeface="Bookman Old Style" panose="02050604050505020204" pitchFamily="18" charset="0"/>
            </a:endParaRPr>
          </a:p>
          <a:p>
            <a:pPr marL="457200" indent="-457200">
              <a:lnSpc>
                <a:spcPct val="120000"/>
              </a:lnSpc>
              <a:spcBef>
                <a:spcPct val="5000"/>
              </a:spcBef>
            </a:pPr>
            <a:r>
              <a:rPr lang="en-US" altLang="zh-CN" sz="2800" dirty="0">
                <a:latin typeface="Times New Roman" panose="02020603050405020304" pitchFamily="18" charset="0"/>
              </a:rPr>
              <a:t>(4)</a:t>
            </a:r>
            <a:r>
              <a:rPr lang="zh-CN" altLang="en-US" sz="2800" dirty="0">
                <a:latin typeface="Bookman Old Style" panose="02050604050505020204" pitchFamily="18" charset="0"/>
              </a:rPr>
              <a:t>凡有摩擦的过程</a:t>
            </a:r>
            <a:r>
              <a:rPr lang="en-US" altLang="zh-CN" sz="2800" dirty="0">
                <a:latin typeface="Bookman Old Style" panose="02050604050505020204" pitchFamily="18" charset="0"/>
              </a:rPr>
              <a:t>, </a:t>
            </a:r>
            <a:r>
              <a:rPr lang="zh-CN" altLang="en-US" sz="2800" dirty="0">
                <a:latin typeface="Bookman Old Style" panose="02050604050505020204" pitchFamily="18" charset="0"/>
              </a:rPr>
              <a:t>一定是不可逆过程。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8522306B-4BFC-3E05-0B4E-3F3E1A776FB5}"/>
              </a:ext>
            </a:extLst>
          </p:cNvPr>
          <p:cNvSpPr txBox="1"/>
          <p:nvPr>
            <p:custDataLst>
              <p:tags r:id="rId3"/>
            </p:custDataLst>
          </p:nvPr>
        </p:nvSpPr>
        <p:spPr>
          <a:xfrm>
            <a:off x="2495550" y="4431506"/>
            <a:ext cx="372745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只有</a:t>
            </a:r>
            <a:r>
              <a:rPr lang="en-US" altLang="zh-CN" sz="2800" dirty="0">
                <a:latin typeface="Times New Roman" panose="02020603050405020304" pitchFamily="18" charset="0"/>
              </a:rPr>
              <a:t>1,2,3</a:t>
            </a:r>
            <a:r>
              <a:rPr lang="zh-CN" altLang="en-US" sz="2800" dirty="0">
                <a:latin typeface="Times New Roman" panose="02020603050405020304" pitchFamily="18" charset="0"/>
              </a:rPr>
              <a:t>正确</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F4E3E8CF-AE34-D3BF-2C61-4A63F5D3081C}"/>
              </a:ext>
            </a:extLst>
          </p:cNvPr>
          <p:cNvSpPr txBox="1"/>
          <p:nvPr>
            <p:custDataLst>
              <p:tags r:id="rId4"/>
            </p:custDataLst>
          </p:nvPr>
        </p:nvSpPr>
        <p:spPr>
          <a:xfrm>
            <a:off x="2495550" y="5288756"/>
            <a:ext cx="372745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只有</a:t>
            </a:r>
            <a:r>
              <a:rPr lang="en-US" altLang="zh-CN" sz="2800" dirty="0">
                <a:latin typeface="Times New Roman" panose="02020603050405020304" pitchFamily="18" charset="0"/>
              </a:rPr>
              <a:t>1,2,4</a:t>
            </a:r>
            <a:r>
              <a:rPr lang="zh-CN" altLang="en-US" sz="2800" dirty="0">
                <a:latin typeface="Times New Roman" panose="02020603050405020304" pitchFamily="18" charset="0"/>
              </a:rPr>
              <a:t>正确</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C2AF394B-E463-4BF9-912D-E8A38023EBE8}"/>
              </a:ext>
            </a:extLst>
          </p:cNvPr>
          <p:cNvSpPr txBox="1"/>
          <p:nvPr>
            <p:custDataLst>
              <p:tags r:id="rId5"/>
            </p:custDataLst>
          </p:nvPr>
        </p:nvSpPr>
        <p:spPr>
          <a:xfrm>
            <a:off x="6616700" y="4431506"/>
            <a:ext cx="372745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只有</a:t>
            </a:r>
            <a:r>
              <a:rPr lang="en-US" altLang="zh-CN" sz="2800" dirty="0">
                <a:latin typeface="Times New Roman" panose="02020603050405020304" pitchFamily="18" charset="0"/>
              </a:rPr>
              <a:t>2,4</a:t>
            </a:r>
            <a:r>
              <a:rPr lang="zh-CN" altLang="en-US" sz="2800" dirty="0">
                <a:latin typeface="Times New Roman" panose="02020603050405020304" pitchFamily="18" charset="0"/>
              </a:rPr>
              <a:t>正确</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554ED6ED-11B5-1084-31B6-191A76088FA0}"/>
              </a:ext>
            </a:extLst>
          </p:cNvPr>
          <p:cNvSpPr txBox="1"/>
          <p:nvPr>
            <p:custDataLst>
              <p:tags r:id="rId6"/>
            </p:custDataLst>
          </p:nvPr>
        </p:nvSpPr>
        <p:spPr>
          <a:xfrm>
            <a:off x="6616700" y="5288756"/>
            <a:ext cx="3727450" cy="642938"/>
          </a:xfrm>
          <a:prstGeom prst="rect">
            <a:avLst/>
          </a:prstGeom>
          <a:noFill/>
        </p:spPr>
        <p:txBody>
          <a:bodyPr vert="horz" rtlCol="0" anchor="ctr" anchorCtr="0">
            <a:noAutofit/>
          </a:bodyPr>
          <a:lstStyle/>
          <a:p>
            <a:r>
              <a:rPr lang="zh-CN" altLang="en-US" sz="2800" dirty="0">
                <a:latin typeface="Times New Roman" panose="02020603050405020304" pitchFamily="18" charset="0"/>
              </a:rPr>
              <a:t>只有</a:t>
            </a:r>
            <a:r>
              <a:rPr lang="en-US" altLang="zh-CN" sz="2800" dirty="0">
                <a:latin typeface="Times New Roman" panose="02020603050405020304" pitchFamily="18" charset="0"/>
              </a:rPr>
              <a:t>1,4</a:t>
            </a:r>
            <a:r>
              <a:rPr lang="zh-CN" altLang="en-US" sz="2800" dirty="0">
                <a:latin typeface="Times New Roman" panose="02020603050405020304" pitchFamily="18" charset="0"/>
              </a:rPr>
              <a:t>正确</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870AC5FD-C256-FE92-0E68-B224F9D12C42}"/>
              </a:ext>
            </a:extLst>
          </p:cNvPr>
          <p:cNvSpPr>
            <a:spLocks noChangeAspect="1"/>
          </p:cNvSpPr>
          <p:nvPr>
            <p:custDataLst>
              <p:tags r:id="rId7"/>
            </p:custDataLst>
          </p:nvPr>
        </p:nvSpPr>
        <p:spPr>
          <a:xfrm>
            <a:off x="1644650" y="44315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396FF51F-D98D-7479-BE96-F18604ED9467}"/>
              </a:ext>
            </a:extLst>
          </p:cNvPr>
          <p:cNvSpPr>
            <a:spLocks noChangeAspect="1"/>
          </p:cNvSpPr>
          <p:nvPr>
            <p:custDataLst>
              <p:tags r:id="rId8"/>
            </p:custDataLst>
          </p:nvPr>
        </p:nvSpPr>
        <p:spPr>
          <a:xfrm>
            <a:off x="1644650" y="52887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BC5872AB-78BD-78EF-3C1D-FFCECB6A9555}"/>
              </a:ext>
            </a:extLst>
          </p:cNvPr>
          <p:cNvSpPr>
            <a:spLocks noChangeAspect="1"/>
          </p:cNvSpPr>
          <p:nvPr>
            <p:custDataLst>
              <p:tags r:id="rId9"/>
            </p:custDataLst>
          </p:nvPr>
        </p:nvSpPr>
        <p:spPr>
          <a:xfrm>
            <a:off x="5765800" y="44315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722CC0DF-0C16-7997-245B-D70FE00CA009}"/>
              </a:ext>
            </a:extLst>
          </p:cNvPr>
          <p:cNvSpPr>
            <a:spLocks noChangeAspect="1"/>
          </p:cNvSpPr>
          <p:nvPr>
            <p:custDataLst>
              <p:tags r:id="rId10"/>
            </p:custDataLst>
          </p:nvPr>
        </p:nvSpPr>
        <p:spPr>
          <a:xfrm>
            <a:off x="5765800" y="52887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2CB57920-0997-3B2C-F57E-6481E80EC0E7}"/>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128FCBF2-92CC-5D0B-40E9-EFDA421001D2}"/>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30D00778-5F90-77B1-D033-5E731C10A4DB}"/>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6D8B2777-1BAE-BC34-3471-330651C123CE}"/>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0D1FAC56-E5DA-098B-1BF6-FA1A36848F8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34177345-DF4A-1367-0351-5E807970BCC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03F47B23-9947-60F4-F131-BBFA4C3B720D}"/>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608739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148" name="Object 1035">
                <a:extLst>
                  <a:ext uri="{FF2B5EF4-FFF2-40B4-BE49-F238E27FC236}">
                    <a16:creationId xmlns:a16="http://schemas.microsoft.com/office/drawing/2014/main" id="{6ECDF9C4-F8E0-438B-AF58-A67FBC098EA3}"/>
                  </a:ext>
                </a:extLst>
              </p:cNvPr>
              <p:cNvSpPr txBox="1"/>
              <p:nvPr/>
            </p:nvSpPr>
            <p:spPr bwMode="auto">
              <a:xfrm>
                <a:off x="4060030" y="3895652"/>
                <a:ext cx="3405822" cy="9906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𝜂</m:t>
                          </m:r>
                        </m:e>
                        <m:sub>
                          <m:r>
                            <a:rPr lang="zh-CN" altLang="en-US" sz="2800" i="1">
                              <a:solidFill>
                                <a:schemeClr val="tx1"/>
                              </a:solidFill>
                              <a:latin typeface="Cambria Math" panose="02040503050406030204" pitchFamily="18" charset="0"/>
                            </a:rPr>
                            <m:t>可逆</m:t>
                          </m:r>
                        </m:sub>
                      </m:sSub>
                      <m:r>
                        <a:rPr lang="zh-CN" altLang="en-US" sz="2800" i="1">
                          <a:solidFill>
                            <a:schemeClr val="tx1"/>
                          </a:solidFill>
                          <a:latin typeface="Cambria Math" panose="02040503050406030204" pitchFamily="18" charset="0"/>
                        </a:rPr>
                        <m:t>=1−</m:t>
                      </m:r>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𝑇</m:t>
                              </m:r>
                            </m:e>
                            <m:sub>
                              <m:r>
                                <a:rPr lang="zh-CN" altLang="en-US" sz="280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𝑇</m:t>
                              </m:r>
                            </m:e>
                            <m:sub>
                              <m:r>
                                <a:rPr lang="zh-CN" altLang="en-US" sz="2800" i="1">
                                  <a:solidFill>
                                    <a:schemeClr val="tx1"/>
                                  </a:solidFill>
                                  <a:latin typeface="Cambria Math" panose="02040503050406030204" pitchFamily="18" charset="0"/>
                                </a:rPr>
                                <m:t>1</m:t>
                              </m:r>
                            </m:sub>
                          </m:sSub>
                        </m:den>
                      </m:f>
                    </m:oMath>
                  </m:oMathPara>
                </a14:m>
                <a:endParaRPr lang="zh-CN" altLang="en-US" sz="2800" dirty="0">
                  <a:solidFill>
                    <a:schemeClr val="tx1"/>
                  </a:solidFill>
                  <a:latin typeface="+mn-ea"/>
                </a:endParaRPr>
              </a:p>
            </p:txBody>
          </p:sp>
        </mc:Choice>
        <mc:Fallback xmlns="">
          <p:sp>
            <p:nvSpPr>
              <p:cNvPr id="6148" name="Object 1035">
                <a:extLst>
                  <a:ext uri="{FF2B5EF4-FFF2-40B4-BE49-F238E27FC236}">
                    <a16:creationId xmlns:a16="http://schemas.microsoft.com/office/drawing/2014/main" id="{6ECDF9C4-F8E0-438B-AF58-A67FBC098EA3}"/>
                  </a:ext>
                </a:extLst>
              </p:cNvPr>
              <p:cNvSpPr txBox="1">
                <a:spLocks noRot="1" noChangeAspect="1" noMove="1" noResize="1" noEditPoints="1" noAdjustHandles="1" noChangeArrowheads="1" noChangeShapeType="1" noTextEdit="1"/>
              </p:cNvSpPr>
              <p:nvPr/>
            </p:nvSpPr>
            <p:spPr bwMode="auto">
              <a:xfrm>
                <a:off x="4060030" y="3895652"/>
                <a:ext cx="3405822" cy="99060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49" name="Object 1036">
                <a:extLst>
                  <a:ext uri="{FF2B5EF4-FFF2-40B4-BE49-F238E27FC236}">
                    <a16:creationId xmlns:a16="http://schemas.microsoft.com/office/drawing/2014/main" id="{798A7B77-195D-460C-B642-C0CC8B4765AB}"/>
                  </a:ext>
                </a:extLst>
              </p:cNvPr>
              <p:cNvSpPr txBox="1"/>
              <p:nvPr/>
            </p:nvSpPr>
            <p:spPr bwMode="auto">
              <a:xfrm>
                <a:off x="4060030" y="5754609"/>
                <a:ext cx="3610769" cy="9906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smtClean="0">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𝜂</m:t>
                          </m:r>
                        </m:e>
                        <m:sub>
                          <m:r>
                            <a:rPr lang="zh-CN" altLang="en-US" sz="2800" i="1">
                              <a:solidFill>
                                <a:schemeClr val="tx1"/>
                              </a:solidFill>
                              <a:latin typeface="Cambria Math" panose="02040503050406030204" pitchFamily="18" charset="0"/>
                            </a:rPr>
                            <m:t>不可逆</m:t>
                          </m:r>
                        </m:sub>
                      </m:sSub>
                      <m:r>
                        <a:rPr lang="zh-CN" altLang="en-US" sz="2800" i="1">
                          <a:solidFill>
                            <a:schemeClr val="tx1"/>
                          </a:solidFill>
                          <a:latin typeface="Cambria Math" panose="02040503050406030204" pitchFamily="18" charset="0"/>
                        </a:rPr>
                        <m:t>&lt;1−</m:t>
                      </m:r>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𝑇</m:t>
                              </m:r>
                            </m:e>
                            <m:sub>
                              <m:r>
                                <a:rPr lang="zh-CN" altLang="en-US" sz="280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𝑇</m:t>
                              </m:r>
                            </m:e>
                            <m:sub>
                              <m:r>
                                <a:rPr lang="zh-CN" altLang="en-US" sz="2800" i="1">
                                  <a:solidFill>
                                    <a:schemeClr val="tx1"/>
                                  </a:solidFill>
                                  <a:latin typeface="Cambria Math" panose="02040503050406030204" pitchFamily="18" charset="0"/>
                                </a:rPr>
                                <m:t>1</m:t>
                              </m:r>
                            </m:sub>
                          </m:sSub>
                        </m:den>
                      </m:f>
                    </m:oMath>
                  </m:oMathPara>
                </a14:m>
                <a:endParaRPr lang="zh-CN" altLang="en-US" sz="2800" dirty="0">
                  <a:solidFill>
                    <a:schemeClr val="tx1"/>
                  </a:solidFill>
                  <a:latin typeface="+mn-ea"/>
                </a:endParaRPr>
              </a:p>
            </p:txBody>
          </p:sp>
        </mc:Choice>
        <mc:Fallback xmlns="">
          <p:sp>
            <p:nvSpPr>
              <p:cNvPr id="6149" name="Object 1036">
                <a:extLst>
                  <a:ext uri="{FF2B5EF4-FFF2-40B4-BE49-F238E27FC236}">
                    <a16:creationId xmlns:a16="http://schemas.microsoft.com/office/drawing/2014/main" id="{798A7B77-195D-460C-B642-C0CC8B4765AB}"/>
                  </a:ext>
                </a:extLst>
              </p:cNvPr>
              <p:cNvSpPr txBox="1">
                <a:spLocks noRot="1" noChangeAspect="1" noMove="1" noResize="1" noEditPoints="1" noAdjustHandles="1" noChangeArrowheads="1" noChangeShapeType="1" noTextEdit="1"/>
              </p:cNvSpPr>
              <p:nvPr/>
            </p:nvSpPr>
            <p:spPr bwMode="auto">
              <a:xfrm>
                <a:off x="4060030" y="5754609"/>
                <a:ext cx="3610769" cy="990600"/>
              </a:xfrm>
              <a:prstGeom prst="rect">
                <a:avLst/>
              </a:prstGeom>
              <a:blipFill>
                <a:blip r:embed="rId3"/>
                <a:stretch>
                  <a:fillRect/>
                </a:stretch>
              </a:blipFill>
            </p:spPr>
            <p:txBody>
              <a:bodyPr/>
              <a:lstStyle/>
              <a:p>
                <a:r>
                  <a:rPr lang="zh-CN" altLang="en-US">
                    <a:noFill/>
                  </a:rPr>
                  <a:t> </a:t>
                </a:r>
              </a:p>
            </p:txBody>
          </p:sp>
        </mc:Fallback>
      </mc:AlternateContent>
      <p:sp>
        <p:nvSpPr>
          <p:cNvPr id="42012" name="Rectangle 1052">
            <a:extLst>
              <a:ext uri="{FF2B5EF4-FFF2-40B4-BE49-F238E27FC236}">
                <a16:creationId xmlns:a16="http://schemas.microsoft.com/office/drawing/2014/main" id="{6B097116-0905-454E-8220-CAE592806BAF}"/>
              </a:ext>
            </a:extLst>
          </p:cNvPr>
          <p:cNvSpPr>
            <a:spLocks noChangeArrowheads="1"/>
          </p:cNvSpPr>
          <p:nvPr/>
        </p:nvSpPr>
        <p:spPr bwMode="auto">
          <a:xfrm>
            <a:off x="1847573" y="1294993"/>
            <a:ext cx="63161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ea"/>
                <a:ea typeface="+mn-ea"/>
              </a:rPr>
              <a:t>可逆机：能产生可逆循环过程的机器。</a:t>
            </a:r>
          </a:p>
        </p:txBody>
      </p:sp>
      <p:sp>
        <p:nvSpPr>
          <p:cNvPr id="42013" name="Rectangle 1053">
            <a:extLst>
              <a:ext uri="{FF2B5EF4-FFF2-40B4-BE49-F238E27FC236}">
                <a16:creationId xmlns:a16="http://schemas.microsoft.com/office/drawing/2014/main" id="{BE678A14-07E1-4327-B4FE-C6F0C0D7B8A3}"/>
              </a:ext>
            </a:extLst>
          </p:cNvPr>
          <p:cNvSpPr>
            <a:spLocks noChangeArrowheads="1"/>
          </p:cNvSpPr>
          <p:nvPr/>
        </p:nvSpPr>
        <p:spPr bwMode="auto">
          <a:xfrm>
            <a:off x="1758673" y="2156743"/>
            <a:ext cx="70375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ea"/>
                <a:ea typeface="+mn-ea"/>
              </a:rPr>
              <a:t>不可逆机：不能产生可逆循环过程的机器。</a:t>
            </a:r>
          </a:p>
        </p:txBody>
      </p:sp>
      <p:sp>
        <p:nvSpPr>
          <p:cNvPr id="4" name="Text Box 13">
            <a:hlinkClick r:id="" action="ppaction://noaction"/>
            <a:extLst>
              <a:ext uri="{FF2B5EF4-FFF2-40B4-BE49-F238E27FC236}">
                <a16:creationId xmlns:a16="http://schemas.microsoft.com/office/drawing/2014/main" id="{3851D109-38CB-FD92-F48C-08B100C80CB1}"/>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卡诺定理</a:t>
            </a:r>
            <a:endParaRPr kumimoji="1" lang="zh-CN" altLang="en-US" sz="3200" dirty="0">
              <a:solidFill>
                <a:srgbClr val="0066FF"/>
              </a:solidFill>
              <a:latin typeface="+mn-lt"/>
              <a:ea typeface="+mn-ea"/>
              <a:cs typeface="Times New Roman" panose="02020603050405020304" pitchFamily="18" charset="0"/>
            </a:endParaRPr>
          </a:p>
        </p:txBody>
      </p:sp>
      <p:sp>
        <p:nvSpPr>
          <p:cNvPr id="10" name="文本框 9">
            <a:extLst>
              <a:ext uri="{FF2B5EF4-FFF2-40B4-BE49-F238E27FC236}">
                <a16:creationId xmlns:a16="http://schemas.microsoft.com/office/drawing/2014/main" id="{EC9E2C37-78DF-2F9B-F675-FF2FC6A87AE6}"/>
              </a:ext>
            </a:extLst>
          </p:cNvPr>
          <p:cNvSpPr txBox="1"/>
          <p:nvPr/>
        </p:nvSpPr>
        <p:spPr>
          <a:xfrm>
            <a:off x="993320" y="2904117"/>
            <a:ext cx="9458779" cy="954107"/>
          </a:xfrm>
          <a:prstGeom prst="rect">
            <a:avLst/>
          </a:prstGeom>
          <a:noFill/>
        </p:spPr>
        <p:txBody>
          <a:bodyPr wrap="square">
            <a:spAutoFit/>
          </a:bodyPr>
          <a:lstStyle/>
          <a:p>
            <a:r>
              <a:rPr lang="en-US" altLang="zh-CN" sz="2800" dirty="0">
                <a:latin typeface="+mn-ea"/>
              </a:rPr>
              <a:t>- </a:t>
            </a:r>
            <a:r>
              <a:rPr lang="zh-CN" altLang="en-US" sz="2800" dirty="0">
                <a:latin typeface="+mn-ea"/>
              </a:rPr>
              <a:t>在相同高温热源和低温热源之间工作的任意工作物质的可逆机都具有相同的效率 </a:t>
            </a:r>
          </a:p>
        </p:txBody>
      </p:sp>
      <p:sp>
        <p:nvSpPr>
          <p:cNvPr id="12" name="文本框 11">
            <a:extLst>
              <a:ext uri="{FF2B5EF4-FFF2-40B4-BE49-F238E27FC236}">
                <a16:creationId xmlns:a16="http://schemas.microsoft.com/office/drawing/2014/main" id="{2D176BCA-EC86-AAE8-E294-006EFD4F60CA}"/>
              </a:ext>
            </a:extLst>
          </p:cNvPr>
          <p:cNvSpPr txBox="1"/>
          <p:nvPr/>
        </p:nvSpPr>
        <p:spPr>
          <a:xfrm>
            <a:off x="1130300" y="4790173"/>
            <a:ext cx="9779000" cy="954107"/>
          </a:xfrm>
          <a:prstGeom prst="rect">
            <a:avLst/>
          </a:prstGeom>
          <a:noFill/>
        </p:spPr>
        <p:txBody>
          <a:bodyPr wrap="square">
            <a:spAutoFit/>
          </a:bodyPr>
          <a:lstStyle/>
          <a:p>
            <a:r>
              <a:rPr lang="en-US" altLang="zh-CN" sz="2800" dirty="0">
                <a:latin typeface="+mn-ea"/>
              </a:rPr>
              <a:t>- </a:t>
            </a:r>
            <a:r>
              <a:rPr lang="zh-CN" altLang="en-US" sz="2800" dirty="0">
                <a:latin typeface="+mn-ea"/>
              </a:rPr>
              <a:t>工作在相同的高温热源和低温热源之间的一切不可逆机的效率都不可能大于可逆机的效率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0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0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P spid="42012" grpId="0"/>
      <p:bldP spid="42013" grpId="0"/>
      <p:bldP spid="1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oup 405">
            <a:extLst>
              <a:ext uri="{FF2B5EF4-FFF2-40B4-BE49-F238E27FC236}">
                <a16:creationId xmlns:a16="http://schemas.microsoft.com/office/drawing/2014/main" id="{970BEFD8-7F5B-4119-A0BB-2C5889663147}"/>
              </a:ext>
            </a:extLst>
          </p:cNvPr>
          <p:cNvGrpSpPr>
            <a:grpSpLocks/>
          </p:cNvGrpSpPr>
          <p:nvPr/>
        </p:nvGrpSpPr>
        <p:grpSpPr bwMode="auto">
          <a:xfrm>
            <a:off x="5499576" y="1925638"/>
            <a:ext cx="5027611" cy="1657350"/>
            <a:chOff x="2544" y="2700"/>
            <a:chExt cx="3024" cy="1044"/>
          </a:xfrm>
        </p:grpSpPr>
        <p:sp>
          <p:nvSpPr>
            <p:cNvPr id="94" name="AutoShape 403">
              <a:extLst>
                <a:ext uri="{FF2B5EF4-FFF2-40B4-BE49-F238E27FC236}">
                  <a16:creationId xmlns:a16="http://schemas.microsoft.com/office/drawing/2014/main" id="{860B3D7B-C505-4813-9087-EFDB9A32218A}"/>
                </a:ext>
              </a:extLst>
            </p:cNvPr>
            <p:cNvSpPr>
              <a:spLocks noChangeArrowheads="1"/>
            </p:cNvSpPr>
            <p:nvPr/>
          </p:nvSpPr>
          <p:spPr bwMode="auto">
            <a:xfrm>
              <a:off x="2640" y="2736"/>
              <a:ext cx="2928" cy="1008"/>
            </a:xfrm>
            <a:prstGeom prst="leftArrowCallout">
              <a:avLst>
                <a:gd name="adj1" fmla="val 14583"/>
                <a:gd name="adj2" fmla="val 25000"/>
                <a:gd name="adj3" fmla="val 48413"/>
                <a:gd name="adj4" fmla="val 73329"/>
              </a:avLst>
            </a:prstGeom>
            <a:solidFill>
              <a:schemeClr val="bg1"/>
            </a:solidFill>
            <a:ln w="28575">
              <a:solidFill>
                <a:schemeClr val="accent2"/>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mc:AlternateContent xmlns:mc="http://schemas.openxmlformats.org/markup-compatibility/2006" xmlns:a14="http://schemas.microsoft.com/office/drawing/2010/main">
          <mc:Choice Requires="a14">
            <p:sp>
              <p:nvSpPr>
                <p:cNvPr id="95" name="Object 383">
                  <a:extLst>
                    <a:ext uri="{FF2B5EF4-FFF2-40B4-BE49-F238E27FC236}">
                      <a16:creationId xmlns:a16="http://schemas.microsoft.com/office/drawing/2014/main" id="{5568DF72-7269-4A6A-890B-3A7A8A07EF78}"/>
                    </a:ext>
                  </a:extLst>
                </p:cNvPr>
                <p:cNvSpPr txBox="1"/>
                <p:nvPr/>
              </p:nvSpPr>
              <p:spPr bwMode="auto">
                <a:xfrm>
                  <a:off x="2544" y="2700"/>
                  <a:ext cx="864" cy="27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95" name="Object 383">
                  <a:extLst>
                    <a:ext uri="{FF2B5EF4-FFF2-40B4-BE49-F238E27FC236}">
                      <a16:creationId xmlns:a16="http://schemas.microsoft.com/office/drawing/2014/main" id="{5568DF72-7269-4A6A-890B-3A7A8A07EF78}"/>
                    </a:ext>
                  </a:extLst>
                </p:cNvPr>
                <p:cNvSpPr txBox="1">
                  <a:spLocks noRot="1" noChangeAspect="1" noMove="1" noResize="1" noEditPoints="1" noAdjustHandles="1" noChangeArrowheads="1" noChangeShapeType="1" noTextEdit="1"/>
                </p:cNvSpPr>
                <p:nvPr/>
              </p:nvSpPr>
              <p:spPr bwMode="auto">
                <a:xfrm>
                  <a:off x="2544" y="2700"/>
                  <a:ext cx="864" cy="276"/>
                </a:xfrm>
                <a:prstGeom prst="rect">
                  <a:avLst/>
                </a:prstGeom>
                <a:blipFill>
                  <a:blip r:embed="rId2"/>
                  <a:stretch>
                    <a:fillRect/>
                  </a:stretch>
                </a:blipFill>
              </p:spPr>
              <p:txBody>
                <a:bodyPr/>
                <a:lstStyle/>
                <a:p>
                  <a:r>
                    <a:rPr lang="en-US">
                      <a:noFill/>
                    </a:rPr>
                    <a:t> </a:t>
                  </a:r>
                </a:p>
              </p:txBody>
            </p:sp>
          </mc:Fallback>
        </mc:AlternateContent>
      </p:grpSp>
      <p:sp>
        <p:nvSpPr>
          <p:cNvPr id="2" name="Text Box 13">
            <a:hlinkClick r:id="" action="ppaction://noaction"/>
            <a:extLst>
              <a:ext uri="{FF2B5EF4-FFF2-40B4-BE49-F238E27FC236}">
                <a16:creationId xmlns:a16="http://schemas.microsoft.com/office/drawing/2014/main" id="{30545881-65B5-4AE6-80F2-B7E32B392B13}"/>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卡诺定理</a:t>
            </a:r>
            <a:endParaRPr kumimoji="1" lang="zh-CN" altLang="en-US" sz="3200" dirty="0">
              <a:solidFill>
                <a:srgbClr val="0066FF"/>
              </a:solidFill>
              <a:latin typeface="+mn-lt"/>
              <a:ea typeface="+mn-ea"/>
              <a:cs typeface="Times New Roman" panose="02020603050405020304" pitchFamily="18" charset="0"/>
            </a:endParaRPr>
          </a:p>
        </p:txBody>
      </p:sp>
      <p:grpSp>
        <p:nvGrpSpPr>
          <p:cNvPr id="3" name="Group 433">
            <a:extLst>
              <a:ext uri="{FF2B5EF4-FFF2-40B4-BE49-F238E27FC236}">
                <a16:creationId xmlns:a16="http://schemas.microsoft.com/office/drawing/2014/main" id="{CAE50B94-E02B-4696-A09B-23CB3303AE3C}"/>
              </a:ext>
            </a:extLst>
          </p:cNvPr>
          <p:cNvGrpSpPr>
            <a:grpSpLocks/>
          </p:cNvGrpSpPr>
          <p:nvPr/>
        </p:nvGrpSpPr>
        <p:grpSpPr bwMode="auto">
          <a:xfrm>
            <a:off x="673019" y="1371587"/>
            <a:ext cx="3962400" cy="3276600"/>
            <a:chOff x="144" y="2208"/>
            <a:chExt cx="2496" cy="2064"/>
          </a:xfrm>
        </p:grpSpPr>
        <p:sp>
          <p:nvSpPr>
            <p:cNvPr id="4" name="Rectangle 309">
              <a:extLst>
                <a:ext uri="{FF2B5EF4-FFF2-40B4-BE49-F238E27FC236}">
                  <a16:creationId xmlns:a16="http://schemas.microsoft.com/office/drawing/2014/main" id="{BD01963D-F349-4A40-99C7-30AE37B227AE}"/>
                </a:ext>
              </a:extLst>
            </p:cNvPr>
            <p:cNvSpPr>
              <a:spLocks noChangeArrowheads="1"/>
            </p:cNvSpPr>
            <p:nvPr/>
          </p:nvSpPr>
          <p:spPr bwMode="auto">
            <a:xfrm>
              <a:off x="148" y="2222"/>
              <a:ext cx="2248" cy="328"/>
            </a:xfrm>
            <a:prstGeom prst="rect">
              <a:avLst/>
            </a:prstGeom>
            <a:solidFill>
              <a:srgbClr val="FF6699"/>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5" name="Rectangle 310">
              <a:extLst>
                <a:ext uri="{FF2B5EF4-FFF2-40B4-BE49-F238E27FC236}">
                  <a16:creationId xmlns:a16="http://schemas.microsoft.com/office/drawing/2014/main" id="{BD8CB748-9B03-4B9A-8CB5-A488E876261B}"/>
                </a:ext>
              </a:extLst>
            </p:cNvPr>
            <p:cNvSpPr>
              <a:spLocks noChangeArrowheads="1"/>
            </p:cNvSpPr>
            <p:nvPr/>
          </p:nvSpPr>
          <p:spPr bwMode="auto">
            <a:xfrm>
              <a:off x="148" y="3806"/>
              <a:ext cx="2248" cy="328"/>
            </a:xfrm>
            <a:prstGeom prst="rect">
              <a:avLst/>
            </a:prstGeom>
            <a:solidFill>
              <a:schemeClr val="bg2"/>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6" name="Rectangle 320">
              <a:extLst>
                <a:ext uri="{FF2B5EF4-FFF2-40B4-BE49-F238E27FC236}">
                  <a16:creationId xmlns:a16="http://schemas.microsoft.com/office/drawing/2014/main" id="{3DB4C091-DBD0-4FCD-ABB1-5E3CEB5A9945}"/>
                </a:ext>
              </a:extLst>
            </p:cNvPr>
            <p:cNvSpPr>
              <a:spLocks noChangeArrowheads="1"/>
            </p:cNvSpPr>
            <p:nvPr/>
          </p:nvSpPr>
          <p:spPr bwMode="auto">
            <a:xfrm>
              <a:off x="1046" y="2208"/>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p:sp>
          <p:nvSpPr>
            <p:cNvPr id="7" name="Rectangle 321">
              <a:extLst>
                <a:ext uri="{FF2B5EF4-FFF2-40B4-BE49-F238E27FC236}">
                  <a16:creationId xmlns:a16="http://schemas.microsoft.com/office/drawing/2014/main" id="{404BA194-75E5-4521-B474-C7EAEC26B5D8}"/>
                </a:ext>
              </a:extLst>
            </p:cNvPr>
            <p:cNvSpPr>
              <a:spLocks noChangeArrowheads="1"/>
            </p:cNvSpPr>
            <p:nvPr/>
          </p:nvSpPr>
          <p:spPr bwMode="auto">
            <a:xfrm>
              <a:off x="950" y="2256"/>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latin typeface="+mn-lt"/>
                  <a:ea typeface="+mn-ea"/>
                </a:rPr>
                <a:t>T</a:t>
              </a:r>
              <a:r>
                <a:rPr lang="en-US" altLang="zh-CN" b="0" i="1" baseline="-25000">
                  <a:latin typeface="+mn-lt"/>
                  <a:ea typeface="+mn-ea"/>
                </a:rPr>
                <a:t>1</a:t>
              </a:r>
              <a:r>
                <a:rPr lang="zh-CN" altLang="en-US" b="0">
                  <a:latin typeface="+mn-lt"/>
                  <a:ea typeface="+mn-ea"/>
                </a:rPr>
                <a:t>热库</a:t>
              </a:r>
            </a:p>
          </p:txBody>
        </p:sp>
        <p:sp>
          <p:nvSpPr>
            <p:cNvPr id="8" name="Rectangle 322">
              <a:extLst>
                <a:ext uri="{FF2B5EF4-FFF2-40B4-BE49-F238E27FC236}">
                  <a16:creationId xmlns:a16="http://schemas.microsoft.com/office/drawing/2014/main" id="{E8676988-DD4E-4D3E-B50F-6E9E12FDA811}"/>
                </a:ext>
              </a:extLst>
            </p:cNvPr>
            <p:cNvSpPr>
              <a:spLocks noChangeArrowheads="1"/>
            </p:cNvSpPr>
            <p:nvPr/>
          </p:nvSpPr>
          <p:spPr bwMode="auto">
            <a:xfrm>
              <a:off x="998" y="3792"/>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solidFill>
                    <a:srgbClr val="FF0000"/>
                  </a:solidFill>
                  <a:latin typeface="+mn-lt"/>
                  <a:ea typeface="+mn-ea"/>
                </a:rPr>
                <a:t>T</a:t>
              </a:r>
              <a:r>
                <a:rPr lang="en-US" altLang="zh-CN" b="0" i="1" baseline="-25000">
                  <a:solidFill>
                    <a:srgbClr val="FF0000"/>
                  </a:solidFill>
                  <a:latin typeface="+mn-lt"/>
                  <a:ea typeface="+mn-ea"/>
                </a:rPr>
                <a:t>2</a:t>
              </a:r>
              <a:r>
                <a:rPr lang="zh-CN" altLang="en-US" b="0">
                  <a:solidFill>
                    <a:srgbClr val="FF0000"/>
                  </a:solidFill>
                  <a:latin typeface="+mn-lt"/>
                  <a:ea typeface="+mn-ea"/>
                </a:rPr>
                <a:t>热库</a:t>
              </a:r>
              <a:endParaRPr lang="zh-CN" altLang="en-US" b="0" i="1">
                <a:solidFill>
                  <a:srgbClr val="FF0000"/>
                </a:solidFill>
                <a:latin typeface="+mn-lt"/>
                <a:ea typeface="+mn-ea"/>
              </a:endParaRPr>
            </a:p>
          </p:txBody>
        </p:sp>
        <p:sp>
          <p:nvSpPr>
            <p:cNvPr id="9" name="Oval 324">
              <a:extLst>
                <a:ext uri="{FF2B5EF4-FFF2-40B4-BE49-F238E27FC236}">
                  <a16:creationId xmlns:a16="http://schemas.microsoft.com/office/drawing/2014/main" id="{81CF12DD-64D8-46E6-B2E0-A2C38569DA33}"/>
                </a:ext>
              </a:extLst>
            </p:cNvPr>
            <p:cNvSpPr>
              <a:spLocks noChangeArrowheads="1"/>
            </p:cNvSpPr>
            <p:nvPr/>
          </p:nvSpPr>
          <p:spPr bwMode="auto">
            <a:xfrm>
              <a:off x="1440" y="2980"/>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10" name="Line 325">
              <a:extLst>
                <a:ext uri="{FF2B5EF4-FFF2-40B4-BE49-F238E27FC236}">
                  <a16:creationId xmlns:a16="http://schemas.microsoft.com/office/drawing/2014/main" id="{741F2637-AB9A-4A4B-9C30-D2C58D48ED38}"/>
                </a:ext>
              </a:extLst>
            </p:cNvPr>
            <p:cNvSpPr>
              <a:spLocks noChangeShapeType="1"/>
            </p:cNvSpPr>
            <p:nvPr/>
          </p:nvSpPr>
          <p:spPr bwMode="auto">
            <a:xfrm>
              <a:off x="1580" y="2544"/>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11" name="Line 326">
              <a:extLst>
                <a:ext uri="{FF2B5EF4-FFF2-40B4-BE49-F238E27FC236}">
                  <a16:creationId xmlns:a16="http://schemas.microsoft.com/office/drawing/2014/main" id="{13186489-1FB4-4D2A-8613-920C7CC2249D}"/>
                </a:ext>
              </a:extLst>
            </p:cNvPr>
            <p:cNvSpPr>
              <a:spLocks noChangeShapeType="1"/>
            </p:cNvSpPr>
            <p:nvPr/>
          </p:nvSpPr>
          <p:spPr bwMode="auto">
            <a:xfrm>
              <a:off x="1868" y="2352"/>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12" name="Line 327">
              <a:extLst>
                <a:ext uri="{FF2B5EF4-FFF2-40B4-BE49-F238E27FC236}">
                  <a16:creationId xmlns:a16="http://schemas.microsoft.com/office/drawing/2014/main" id="{BD64E867-D191-4885-B95A-E231CC96791C}"/>
                </a:ext>
              </a:extLst>
            </p:cNvPr>
            <p:cNvSpPr>
              <a:spLocks noChangeShapeType="1"/>
            </p:cNvSpPr>
            <p:nvPr/>
          </p:nvSpPr>
          <p:spPr bwMode="auto">
            <a:xfrm>
              <a:off x="1772" y="3696"/>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13" name="Line 328">
              <a:extLst>
                <a:ext uri="{FF2B5EF4-FFF2-40B4-BE49-F238E27FC236}">
                  <a16:creationId xmlns:a16="http://schemas.microsoft.com/office/drawing/2014/main" id="{CD3E72FE-B7B7-48BE-8AFB-CDD9CFC20DDF}"/>
                </a:ext>
              </a:extLst>
            </p:cNvPr>
            <p:cNvSpPr>
              <a:spLocks noChangeShapeType="1"/>
            </p:cNvSpPr>
            <p:nvPr/>
          </p:nvSpPr>
          <p:spPr bwMode="auto">
            <a:xfrm>
              <a:off x="1916" y="3360"/>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14" name="Line 329">
              <a:extLst>
                <a:ext uri="{FF2B5EF4-FFF2-40B4-BE49-F238E27FC236}">
                  <a16:creationId xmlns:a16="http://schemas.microsoft.com/office/drawing/2014/main" id="{B46EC9A2-5930-465F-8947-DA97D5611985}"/>
                </a:ext>
              </a:extLst>
            </p:cNvPr>
            <p:cNvSpPr>
              <a:spLocks noChangeShapeType="1"/>
            </p:cNvSpPr>
            <p:nvPr/>
          </p:nvSpPr>
          <p:spPr bwMode="auto">
            <a:xfrm>
              <a:off x="2108" y="2544"/>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15" name="Rectangle 330">
              <a:extLst>
                <a:ext uri="{FF2B5EF4-FFF2-40B4-BE49-F238E27FC236}">
                  <a16:creationId xmlns:a16="http://schemas.microsoft.com/office/drawing/2014/main" id="{253C5FE2-F6B9-4298-95DB-552D0045148D}"/>
                </a:ext>
              </a:extLst>
            </p:cNvPr>
            <p:cNvSpPr>
              <a:spLocks noChangeArrowheads="1"/>
            </p:cNvSpPr>
            <p:nvPr/>
          </p:nvSpPr>
          <p:spPr bwMode="auto">
            <a:xfrm>
              <a:off x="1635" y="3446"/>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16" name="Rectangle 331">
              <a:extLst>
                <a:ext uri="{FF2B5EF4-FFF2-40B4-BE49-F238E27FC236}">
                  <a16:creationId xmlns:a16="http://schemas.microsoft.com/office/drawing/2014/main" id="{9C9508CA-8FD8-415D-AAC6-7C280CC36601}"/>
                </a:ext>
              </a:extLst>
            </p:cNvPr>
            <p:cNvSpPr>
              <a:spLocks noChangeArrowheads="1"/>
            </p:cNvSpPr>
            <p:nvPr/>
          </p:nvSpPr>
          <p:spPr bwMode="auto">
            <a:xfrm>
              <a:off x="1714" y="2678"/>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17" name="Arc 332">
              <a:extLst>
                <a:ext uri="{FF2B5EF4-FFF2-40B4-BE49-F238E27FC236}">
                  <a16:creationId xmlns:a16="http://schemas.microsoft.com/office/drawing/2014/main" id="{E16D545D-6442-4F24-8D3D-B85841141CD0}"/>
                </a:ext>
              </a:extLst>
            </p:cNvPr>
            <p:cNvSpPr>
              <a:spLocks/>
            </p:cNvSpPr>
            <p:nvPr/>
          </p:nvSpPr>
          <p:spPr bwMode="auto">
            <a:xfrm>
              <a:off x="1917" y="3360"/>
              <a:ext cx="57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18" name="Arc 333">
              <a:extLst>
                <a:ext uri="{FF2B5EF4-FFF2-40B4-BE49-F238E27FC236}">
                  <a16:creationId xmlns:a16="http://schemas.microsoft.com/office/drawing/2014/main" id="{80B9ADAB-E7AF-43BD-8E0D-925233D2D753}"/>
                </a:ext>
              </a:extLst>
            </p:cNvPr>
            <p:cNvSpPr>
              <a:spLocks/>
            </p:cNvSpPr>
            <p:nvPr/>
          </p:nvSpPr>
          <p:spPr bwMode="auto">
            <a:xfrm>
              <a:off x="2109" y="2976"/>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19" name="Line 334">
              <a:extLst>
                <a:ext uri="{FF2B5EF4-FFF2-40B4-BE49-F238E27FC236}">
                  <a16:creationId xmlns:a16="http://schemas.microsoft.com/office/drawing/2014/main" id="{A2236DE3-2A32-48DE-8059-E668DEAB27A5}"/>
                </a:ext>
              </a:extLst>
            </p:cNvPr>
            <p:cNvSpPr>
              <a:spLocks noChangeShapeType="1"/>
            </p:cNvSpPr>
            <p:nvPr/>
          </p:nvSpPr>
          <p:spPr bwMode="auto">
            <a:xfrm>
              <a:off x="2252" y="3312"/>
              <a:ext cx="340"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20" name="Rectangle 335">
              <a:extLst>
                <a:ext uri="{FF2B5EF4-FFF2-40B4-BE49-F238E27FC236}">
                  <a16:creationId xmlns:a16="http://schemas.microsoft.com/office/drawing/2014/main" id="{CEA8A38D-E189-4643-8F2A-2CFA3B5BE2BC}"/>
                </a:ext>
              </a:extLst>
            </p:cNvPr>
            <p:cNvSpPr>
              <a:spLocks noChangeArrowheads="1"/>
            </p:cNvSpPr>
            <p:nvPr/>
          </p:nvSpPr>
          <p:spPr bwMode="auto">
            <a:xfrm>
              <a:off x="2386" y="3014"/>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mc:AlternateContent xmlns:mc="http://schemas.openxmlformats.org/markup-compatibility/2006" xmlns:a14="http://schemas.microsoft.com/office/drawing/2010/main">
          <mc:Choice Requires="a14">
            <p:sp>
              <p:nvSpPr>
                <p:cNvPr id="21" name="Object 336">
                  <a:extLst>
                    <a:ext uri="{FF2B5EF4-FFF2-40B4-BE49-F238E27FC236}">
                      <a16:creationId xmlns:a16="http://schemas.microsoft.com/office/drawing/2014/main" id="{18F73667-CB4E-4135-A6AC-44FA6F7CC059}"/>
                    </a:ext>
                  </a:extLst>
                </p:cNvPr>
                <p:cNvSpPr txBox="1"/>
                <p:nvPr/>
              </p:nvSpPr>
              <p:spPr bwMode="auto">
                <a:xfrm>
                  <a:off x="1776" y="2688"/>
                  <a:ext cx="33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21" name="Object 336">
                  <a:extLst>
                    <a:ext uri="{FF2B5EF4-FFF2-40B4-BE49-F238E27FC236}">
                      <a16:creationId xmlns:a16="http://schemas.microsoft.com/office/drawing/2014/main" id="{18F73667-CB4E-4135-A6AC-44FA6F7CC059}"/>
                    </a:ext>
                  </a:extLst>
                </p:cNvPr>
                <p:cNvSpPr txBox="1">
                  <a:spLocks noRot="1" noChangeAspect="1" noMove="1" noResize="1" noEditPoints="1" noAdjustHandles="1" noChangeArrowheads="1" noChangeShapeType="1" noTextEdit="1"/>
                </p:cNvSpPr>
                <p:nvPr/>
              </p:nvSpPr>
              <p:spPr bwMode="auto">
                <a:xfrm>
                  <a:off x="1776" y="2688"/>
                  <a:ext cx="336" cy="31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337">
                  <a:extLst>
                    <a:ext uri="{FF2B5EF4-FFF2-40B4-BE49-F238E27FC236}">
                      <a16:creationId xmlns:a16="http://schemas.microsoft.com/office/drawing/2014/main" id="{CAB71FB8-8F3B-4D53-886F-05FB236799A0}"/>
                    </a:ext>
                  </a:extLst>
                </p:cNvPr>
                <p:cNvSpPr txBox="1"/>
                <p:nvPr/>
              </p:nvSpPr>
              <p:spPr bwMode="auto">
                <a:xfrm>
                  <a:off x="1584" y="3456"/>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22" name="Object 337">
                  <a:extLst>
                    <a:ext uri="{FF2B5EF4-FFF2-40B4-BE49-F238E27FC236}">
                      <a16:creationId xmlns:a16="http://schemas.microsoft.com/office/drawing/2014/main" id="{CAB71FB8-8F3B-4D53-886F-05FB236799A0}"/>
                    </a:ext>
                  </a:extLst>
                </p:cNvPr>
                <p:cNvSpPr txBox="1">
                  <a:spLocks noRot="1" noChangeAspect="1" noMove="1" noResize="1" noEditPoints="1" noAdjustHandles="1" noChangeArrowheads="1" noChangeShapeType="1" noTextEdit="1"/>
                </p:cNvSpPr>
                <p:nvPr/>
              </p:nvSpPr>
              <p:spPr bwMode="auto">
                <a:xfrm>
                  <a:off x="1584" y="3456"/>
                  <a:ext cx="356" cy="31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339">
                  <a:extLst>
                    <a:ext uri="{FF2B5EF4-FFF2-40B4-BE49-F238E27FC236}">
                      <a16:creationId xmlns:a16="http://schemas.microsoft.com/office/drawing/2014/main" id="{3BB39E64-8883-4222-8F47-20912ECF5BA3}"/>
                    </a:ext>
                  </a:extLst>
                </p:cNvPr>
                <p:cNvSpPr txBox="1"/>
                <p:nvPr/>
              </p:nvSpPr>
              <p:spPr bwMode="auto">
                <a:xfrm>
                  <a:off x="2328" y="3024"/>
                  <a:ext cx="312" cy="2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23" name="Object 339">
                  <a:extLst>
                    <a:ext uri="{FF2B5EF4-FFF2-40B4-BE49-F238E27FC236}">
                      <a16:creationId xmlns:a16="http://schemas.microsoft.com/office/drawing/2014/main" id="{3BB39E64-8883-4222-8F47-20912ECF5BA3}"/>
                    </a:ext>
                  </a:extLst>
                </p:cNvPr>
                <p:cNvSpPr txBox="1">
                  <a:spLocks noRot="1" noChangeAspect="1" noMove="1" noResize="1" noEditPoints="1" noAdjustHandles="1" noChangeArrowheads="1" noChangeShapeType="1" noTextEdit="1"/>
                </p:cNvSpPr>
                <p:nvPr/>
              </p:nvSpPr>
              <p:spPr bwMode="auto">
                <a:xfrm>
                  <a:off x="2328" y="3024"/>
                  <a:ext cx="312" cy="237"/>
                </a:xfrm>
                <a:prstGeom prst="rect">
                  <a:avLst/>
                </a:prstGeom>
                <a:blipFill>
                  <a:blip r:embed="rId5"/>
                  <a:stretch>
                    <a:fillRect b="-4918"/>
                  </a:stretch>
                </a:blipFill>
              </p:spPr>
              <p:txBody>
                <a:bodyPr/>
                <a:lstStyle/>
                <a:p>
                  <a:r>
                    <a:rPr lang="en-US">
                      <a:noFill/>
                    </a:rPr>
                    <a:t> </a:t>
                  </a:r>
                </a:p>
              </p:txBody>
            </p:sp>
          </mc:Fallback>
        </mc:AlternateContent>
        <p:grpSp>
          <p:nvGrpSpPr>
            <p:cNvPr id="24" name="Group 357">
              <a:extLst>
                <a:ext uri="{FF2B5EF4-FFF2-40B4-BE49-F238E27FC236}">
                  <a16:creationId xmlns:a16="http://schemas.microsoft.com/office/drawing/2014/main" id="{F768C05D-D31B-43D9-8ED6-24CA6CD798D8}"/>
                </a:ext>
              </a:extLst>
            </p:cNvPr>
            <p:cNvGrpSpPr>
              <a:grpSpLocks/>
            </p:cNvGrpSpPr>
            <p:nvPr/>
          </p:nvGrpSpPr>
          <p:grpSpPr bwMode="auto">
            <a:xfrm>
              <a:off x="144" y="2352"/>
              <a:ext cx="1200" cy="1728"/>
              <a:chOff x="768" y="0"/>
              <a:chExt cx="1200" cy="1728"/>
            </a:xfrm>
          </p:grpSpPr>
          <p:sp>
            <p:nvSpPr>
              <p:cNvPr id="28" name="Oval 341">
                <a:extLst>
                  <a:ext uri="{FF2B5EF4-FFF2-40B4-BE49-F238E27FC236}">
                    <a16:creationId xmlns:a16="http://schemas.microsoft.com/office/drawing/2014/main" id="{95F43430-C2C4-4895-9D6B-F0292196CE18}"/>
                  </a:ext>
                </a:extLst>
              </p:cNvPr>
              <p:cNvSpPr>
                <a:spLocks noChangeArrowheads="1"/>
              </p:cNvSpPr>
              <p:nvPr/>
            </p:nvSpPr>
            <p:spPr bwMode="auto">
              <a:xfrm>
                <a:off x="768" y="628"/>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9" name="Line 342">
                <a:extLst>
                  <a:ext uri="{FF2B5EF4-FFF2-40B4-BE49-F238E27FC236}">
                    <a16:creationId xmlns:a16="http://schemas.microsoft.com/office/drawing/2014/main" id="{247A8717-C849-4CAF-A43C-40A10B5C930C}"/>
                  </a:ext>
                </a:extLst>
              </p:cNvPr>
              <p:cNvSpPr>
                <a:spLocks noChangeShapeType="1"/>
              </p:cNvSpPr>
              <p:nvPr/>
            </p:nvSpPr>
            <p:spPr bwMode="auto">
              <a:xfrm>
                <a:off x="908" y="192"/>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30" name="Line 343">
                <a:extLst>
                  <a:ext uri="{FF2B5EF4-FFF2-40B4-BE49-F238E27FC236}">
                    <a16:creationId xmlns:a16="http://schemas.microsoft.com/office/drawing/2014/main" id="{67751C36-27AF-49C6-89E5-F11905D9390C}"/>
                  </a:ext>
                </a:extLst>
              </p:cNvPr>
              <p:cNvSpPr>
                <a:spLocks noChangeShapeType="1"/>
              </p:cNvSpPr>
              <p:nvPr/>
            </p:nvSpPr>
            <p:spPr bwMode="auto">
              <a:xfrm>
                <a:off x="1196" y="0"/>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31" name="Line 344">
                <a:extLst>
                  <a:ext uri="{FF2B5EF4-FFF2-40B4-BE49-F238E27FC236}">
                    <a16:creationId xmlns:a16="http://schemas.microsoft.com/office/drawing/2014/main" id="{3899F51E-B6A4-46FC-8D83-CFC363C33606}"/>
                  </a:ext>
                </a:extLst>
              </p:cNvPr>
              <p:cNvSpPr>
                <a:spLocks noChangeShapeType="1"/>
              </p:cNvSpPr>
              <p:nvPr/>
            </p:nvSpPr>
            <p:spPr bwMode="auto">
              <a:xfrm>
                <a:off x="1100" y="1344"/>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32" name="Line 345">
                <a:extLst>
                  <a:ext uri="{FF2B5EF4-FFF2-40B4-BE49-F238E27FC236}">
                    <a16:creationId xmlns:a16="http://schemas.microsoft.com/office/drawing/2014/main" id="{02B77656-55E1-4816-B662-408A1DDA48B3}"/>
                  </a:ext>
                </a:extLst>
              </p:cNvPr>
              <p:cNvSpPr>
                <a:spLocks noChangeShapeType="1"/>
              </p:cNvSpPr>
              <p:nvPr/>
            </p:nvSpPr>
            <p:spPr bwMode="auto">
              <a:xfrm>
                <a:off x="1244" y="1008"/>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33" name="Line 346">
                <a:extLst>
                  <a:ext uri="{FF2B5EF4-FFF2-40B4-BE49-F238E27FC236}">
                    <a16:creationId xmlns:a16="http://schemas.microsoft.com/office/drawing/2014/main" id="{3A2CAFEA-ADBB-4F59-BB96-869B157A2FCD}"/>
                  </a:ext>
                </a:extLst>
              </p:cNvPr>
              <p:cNvSpPr>
                <a:spLocks noChangeShapeType="1"/>
              </p:cNvSpPr>
              <p:nvPr/>
            </p:nvSpPr>
            <p:spPr bwMode="auto">
              <a:xfrm>
                <a:off x="1436" y="192"/>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34" name="Rectangle 347">
                <a:extLst>
                  <a:ext uri="{FF2B5EF4-FFF2-40B4-BE49-F238E27FC236}">
                    <a16:creationId xmlns:a16="http://schemas.microsoft.com/office/drawing/2014/main" id="{34E9D46D-BB2D-40D9-A8E9-DBF6B8BEC166}"/>
                  </a:ext>
                </a:extLst>
              </p:cNvPr>
              <p:cNvSpPr>
                <a:spLocks noChangeArrowheads="1"/>
              </p:cNvSpPr>
              <p:nvPr/>
            </p:nvSpPr>
            <p:spPr bwMode="auto">
              <a:xfrm>
                <a:off x="963" y="1094"/>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35" name="Rectangle 348">
                <a:extLst>
                  <a:ext uri="{FF2B5EF4-FFF2-40B4-BE49-F238E27FC236}">
                    <a16:creationId xmlns:a16="http://schemas.microsoft.com/office/drawing/2014/main" id="{D8EFE1C2-DB7A-4F9C-A8A7-1B01FB258EAC}"/>
                  </a:ext>
                </a:extLst>
              </p:cNvPr>
              <p:cNvSpPr>
                <a:spLocks noChangeArrowheads="1"/>
              </p:cNvSpPr>
              <p:nvPr/>
            </p:nvSpPr>
            <p:spPr bwMode="auto">
              <a:xfrm>
                <a:off x="1042" y="326"/>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36" name="Arc 349">
                <a:extLst>
                  <a:ext uri="{FF2B5EF4-FFF2-40B4-BE49-F238E27FC236}">
                    <a16:creationId xmlns:a16="http://schemas.microsoft.com/office/drawing/2014/main" id="{BA3C7D46-3A16-4825-8E41-2E8FCE610A2D}"/>
                  </a:ext>
                </a:extLst>
              </p:cNvPr>
              <p:cNvSpPr>
                <a:spLocks/>
              </p:cNvSpPr>
              <p:nvPr/>
            </p:nvSpPr>
            <p:spPr bwMode="auto">
              <a:xfrm>
                <a:off x="1245" y="1008"/>
                <a:ext cx="57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37" name="Arc 350">
                <a:extLst>
                  <a:ext uri="{FF2B5EF4-FFF2-40B4-BE49-F238E27FC236}">
                    <a16:creationId xmlns:a16="http://schemas.microsoft.com/office/drawing/2014/main" id="{83DC0874-BD49-4334-B4A0-8DA2367CBC9F}"/>
                  </a:ext>
                </a:extLst>
              </p:cNvPr>
              <p:cNvSpPr>
                <a:spLocks/>
              </p:cNvSpPr>
              <p:nvPr/>
            </p:nvSpPr>
            <p:spPr bwMode="auto">
              <a:xfrm>
                <a:off x="1437" y="624"/>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38" name="Line 351">
                <a:extLst>
                  <a:ext uri="{FF2B5EF4-FFF2-40B4-BE49-F238E27FC236}">
                    <a16:creationId xmlns:a16="http://schemas.microsoft.com/office/drawing/2014/main" id="{24508D85-ED20-4F1C-A3C1-B9E9F51ACBCD}"/>
                  </a:ext>
                </a:extLst>
              </p:cNvPr>
              <p:cNvSpPr>
                <a:spLocks noChangeShapeType="1"/>
              </p:cNvSpPr>
              <p:nvPr/>
            </p:nvSpPr>
            <p:spPr bwMode="auto">
              <a:xfrm>
                <a:off x="1580" y="960"/>
                <a:ext cx="388"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39" name="Rectangle 352">
                <a:extLst>
                  <a:ext uri="{FF2B5EF4-FFF2-40B4-BE49-F238E27FC236}">
                    <a16:creationId xmlns:a16="http://schemas.microsoft.com/office/drawing/2014/main" id="{CC5550C6-2BC2-48D4-A397-E538EC995B81}"/>
                  </a:ext>
                </a:extLst>
              </p:cNvPr>
              <p:cNvSpPr>
                <a:spLocks noChangeArrowheads="1"/>
              </p:cNvSpPr>
              <p:nvPr/>
            </p:nvSpPr>
            <p:spPr bwMode="auto">
              <a:xfrm>
                <a:off x="1714" y="662"/>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mc:AlternateContent xmlns:mc="http://schemas.openxmlformats.org/markup-compatibility/2006" xmlns:a14="http://schemas.microsoft.com/office/drawing/2010/main">
            <mc:Choice Requires="a14">
              <p:sp>
                <p:nvSpPr>
                  <p:cNvPr id="40" name="Object 353">
                    <a:extLst>
                      <a:ext uri="{FF2B5EF4-FFF2-40B4-BE49-F238E27FC236}">
                        <a16:creationId xmlns:a16="http://schemas.microsoft.com/office/drawing/2014/main" id="{0FE4EE29-D893-4A24-B751-0EA951CA440E}"/>
                      </a:ext>
                    </a:extLst>
                  </p:cNvPr>
                  <p:cNvSpPr txBox="1"/>
                  <p:nvPr/>
                </p:nvSpPr>
                <p:spPr bwMode="auto">
                  <a:xfrm>
                    <a:off x="1064" y="336"/>
                    <a:ext cx="311"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oMath>
                      </m:oMathPara>
                    </a14:m>
                    <a:endParaRPr lang="zh-CN" altLang="en-US" sz="2800"/>
                  </a:p>
                </p:txBody>
              </p:sp>
            </mc:Choice>
            <mc:Fallback xmlns="">
              <p:sp>
                <p:nvSpPr>
                  <p:cNvPr id="40" name="Object 353">
                    <a:extLst>
                      <a:ext uri="{FF2B5EF4-FFF2-40B4-BE49-F238E27FC236}">
                        <a16:creationId xmlns:a16="http://schemas.microsoft.com/office/drawing/2014/main" id="{0FE4EE29-D893-4A24-B751-0EA951CA440E}"/>
                      </a:ext>
                    </a:extLst>
                  </p:cNvPr>
                  <p:cNvSpPr txBox="1">
                    <a:spLocks noRot="1" noChangeAspect="1" noMove="1" noResize="1" noEditPoints="1" noAdjustHandles="1" noChangeArrowheads="1" noChangeShapeType="1" noTextEdit="1"/>
                  </p:cNvSpPr>
                  <p:nvPr/>
                </p:nvSpPr>
                <p:spPr bwMode="auto">
                  <a:xfrm>
                    <a:off x="1064" y="336"/>
                    <a:ext cx="311" cy="31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354">
                    <a:extLst>
                      <a:ext uri="{FF2B5EF4-FFF2-40B4-BE49-F238E27FC236}">
                        <a16:creationId xmlns:a16="http://schemas.microsoft.com/office/drawing/2014/main" id="{5D1991EA-10B9-4A58-B9F2-50AD0F9CEBB7}"/>
                      </a:ext>
                    </a:extLst>
                  </p:cNvPr>
                  <p:cNvSpPr txBox="1"/>
                  <p:nvPr/>
                </p:nvSpPr>
                <p:spPr bwMode="auto">
                  <a:xfrm>
                    <a:off x="936" y="1104"/>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oMath>
                      </m:oMathPara>
                    </a14:m>
                    <a:endParaRPr lang="zh-CN" altLang="en-US" sz="2800"/>
                  </a:p>
                </p:txBody>
              </p:sp>
            </mc:Choice>
            <mc:Fallback xmlns="">
              <p:sp>
                <p:nvSpPr>
                  <p:cNvPr id="41" name="Object 354">
                    <a:extLst>
                      <a:ext uri="{FF2B5EF4-FFF2-40B4-BE49-F238E27FC236}">
                        <a16:creationId xmlns:a16="http://schemas.microsoft.com/office/drawing/2014/main" id="{5D1991EA-10B9-4A58-B9F2-50AD0F9CEBB7}"/>
                      </a:ext>
                    </a:extLst>
                  </p:cNvPr>
                  <p:cNvSpPr txBox="1">
                    <a:spLocks noRot="1" noChangeAspect="1" noMove="1" noResize="1" noEditPoints="1" noAdjustHandles="1" noChangeArrowheads="1" noChangeShapeType="1" noTextEdit="1"/>
                  </p:cNvSpPr>
                  <p:nvPr/>
                </p:nvSpPr>
                <p:spPr bwMode="auto">
                  <a:xfrm>
                    <a:off x="936" y="1104"/>
                    <a:ext cx="356" cy="31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355">
                    <a:extLst>
                      <a:ext uri="{FF2B5EF4-FFF2-40B4-BE49-F238E27FC236}">
                        <a16:creationId xmlns:a16="http://schemas.microsoft.com/office/drawing/2014/main" id="{301F6C84-5334-415E-98A0-67027B8038EC}"/>
                      </a:ext>
                    </a:extLst>
                  </p:cNvPr>
                  <p:cNvSpPr txBox="1"/>
                  <p:nvPr/>
                </p:nvSpPr>
                <p:spPr bwMode="auto">
                  <a:xfrm>
                    <a:off x="1653" y="672"/>
                    <a:ext cx="267" cy="2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oMath>
                      </m:oMathPara>
                    </a14:m>
                    <a:endParaRPr lang="zh-CN" altLang="en-US" sz="2800"/>
                  </a:p>
                </p:txBody>
              </p:sp>
            </mc:Choice>
            <mc:Fallback xmlns="">
              <p:sp>
                <p:nvSpPr>
                  <p:cNvPr id="42" name="Object 355">
                    <a:extLst>
                      <a:ext uri="{FF2B5EF4-FFF2-40B4-BE49-F238E27FC236}">
                        <a16:creationId xmlns:a16="http://schemas.microsoft.com/office/drawing/2014/main" id="{301F6C84-5334-415E-98A0-67027B8038EC}"/>
                      </a:ext>
                    </a:extLst>
                  </p:cNvPr>
                  <p:cNvSpPr txBox="1">
                    <a:spLocks noRot="1" noChangeAspect="1" noMove="1" noResize="1" noEditPoints="1" noAdjustHandles="1" noChangeArrowheads="1" noChangeShapeType="1" noTextEdit="1"/>
                  </p:cNvSpPr>
                  <p:nvPr/>
                </p:nvSpPr>
                <p:spPr bwMode="auto">
                  <a:xfrm>
                    <a:off x="1653" y="672"/>
                    <a:ext cx="267" cy="237"/>
                  </a:xfrm>
                  <a:prstGeom prst="rect">
                    <a:avLst/>
                  </a:prstGeom>
                  <a:blipFill>
                    <a:blip r:embed="rId8"/>
                    <a:stretch>
                      <a:fillRect b="-4918"/>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25" name="Object 359">
                  <a:extLst>
                    <a:ext uri="{FF2B5EF4-FFF2-40B4-BE49-F238E27FC236}">
                      <a16:creationId xmlns:a16="http://schemas.microsoft.com/office/drawing/2014/main" id="{4D8F9FF8-781B-4FC9-A128-192A72401259}"/>
                    </a:ext>
                  </a:extLst>
                </p:cNvPr>
                <p:cNvSpPr txBox="1"/>
                <p:nvPr/>
              </p:nvSpPr>
              <p:spPr bwMode="auto">
                <a:xfrm>
                  <a:off x="720" y="3504"/>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FF0000"/>
                            </a:solidFill>
                            <a:latin typeface="Cambria Math" panose="02040503050406030204" pitchFamily="18" charset="0"/>
                          </a:rPr>
                          <m:t>𝐶</m:t>
                        </m:r>
                      </m:oMath>
                    </m:oMathPara>
                  </a14:m>
                  <a:endParaRPr lang="zh-CN" altLang="en-US" sz="2800" dirty="0">
                    <a:solidFill>
                      <a:srgbClr val="FF0000"/>
                    </a:solidFill>
                  </a:endParaRPr>
                </a:p>
              </p:txBody>
            </p:sp>
          </mc:Choice>
          <mc:Fallback>
            <p:sp>
              <p:nvSpPr>
                <p:cNvPr id="25" name="Object 359">
                  <a:extLst>
                    <a:ext uri="{FF2B5EF4-FFF2-40B4-BE49-F238E27FC236}">
                      <a16:creationId xmlns:a16="http://schemas.microsoft.com/office/drawing/2014/main" id="{4D8F9FF8-781B-4FC9-A128-192A72401259}"/>
                    </a:ext>
                  </a:extLst>
                </p:cNvPr>
                <p:cNvSpPr txBox="1">
                  <a:spLocks noRot="1" noChangeAspect="1" noMove="1" noResize="1" noEditPoints="1" noAdjustHandles="1" noChangeArrowheads="1" noChangeShapeType="1" noTextEdit="1"/>
                </p:cNvSpPr>
                <p:nvPr/>
              </p:nvSpPr>
              <p:spPr bwMode="auto">
                <a:xfrm>
                  <a:off x="720" y="3504"/>
                  <a:ext cx="266" cy="25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Object 360">
                  <a:extLst>
                    <a:ext uri="{FF2B5EF4-FFF2-40B4-BE49-F238E27FC236}">
                      <a16:creationId xmlns:a16="http://schemas.microsoft.com/office/drawing/2014/main" id="{CC1963C6-3990-4107-A1DA-D3CAE1F49BCA}"/>
                    </a:ext>
                  </a:extLst>
                </p:cNvPr>
                <p:cNvSpPr txBox="1"/>
                <p:nvPr/>
              </p:nvSpPr>
              <p:spPr bwMode="auto">
                <a:xfrm>
                  <a:off x="2016" y="3504"/>
                  <a:ext cx="33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smtClean="0">
                                <a:solidFill>
                                  <a:srgbClr val="FF0000"/>
                                </a:solidFill>
                                <a:latin typeface="Cambria Math" panose="02040503050406030204" pitchFamily="18" charset="0"/>
                              </a:rPr>
                            </m:ctrlPr>
                          </m:sSupPr>
                          <m:e>
                            <m:r>
                              <a:rPr lang="zh-CN" altLang="en-US" sz="2800" b="0" i="1" smtClean="0">
                                <a:solidFill>
                                  <a:srgbClr val="FF0000"/>
                                </a:solidFill>
                                <a:latin typeface="Cambria Math" panose="02040503050406030204" pitchFamily="18" charset="0"/>
                              </a:rPr>
                              <m:t>𝐶</m:t>
                            </m:r>
                          </m:e>
                          <m:sup>
                            <m:r>
                              <a:rPr lang="zh-CN" altLang="en-US" sz="2800" b="0" i="1" smtClean="0">
                                <a:solidFill>
                                  <a:srgbClr val="FF0000"/>
                                </a:solidFill>
                                <a:latin typeface="Cambria Math" panose="02040503050406030204" pitchFamily="18" charset="0"/>
                              </a:rPr>
                              <m:t>′</m:t>
                            </m:r>
                          </m:sup>
                        </m:sSup>
                      </m:oMath>
                    </m:oMathPara>
                  </a14:m>
                  <a:endParaRPr lang="zh-CN" altLang="en-US" sz="2800" dirty="0"/>
                </a:p>
              </p:txBody>
            </p:sp>
          </mc:Choice>
          <mc:Fallback>
            <p:sp>
              <p:nvSpPr>
                <p:cNvPr id="26" name="Object 360">
                  <a:extLst>
                    <a:ext uri="{FF2B5EF4-FFF2-40B4-BE49-F238E27FC236}">
                      <a16:creationId xmlns:a16="http://schemas.microsoft.com/office/drawing/2014/main" id="{CC1963C6-3990-4107-A1DA-D3CAE1F49BCA}"/>
                    </a:ext>
                  </a:extLst>
                </p:cNvPr>
                <p:cNvSpPr txBox="1">
                  <a:spLocks noRot="1" noChangeAspect="1" noMove="1" noResize="1" noEditPoints="1" noAdjustHandles="1" noChangeArrowheads="1" noChangeShapeType="1" noTextEdit="1"/>
                </p:cNvSpPr>
                <p:nvPr/>
              </p:nvSpPr>
              <p:spPr bwMode="auto">
                <a:xfrm>
                  <a:off x="2016" y="3504"/>
                  <a:ext cx="336" cy="255"/>
                </a:xfrm>
                <a:prstGeom prst="rect">
                  <a:avLst/>
                </a:prstGeom>
                <a:blipFill>
                  <a:blip r:embed="rId10"/>
                  <a:stretch>
                    <a:fillRect/>
                  </a:stretch>
                </a:blipFill>
              </p:spPr>
              <p:txBody>
                <a:bodyPr/>
                <a:lstStyle/>
                <a:p>
                  <a:r>
                    <a:rPr lang="en-US">
                      <a:noFill/>
                    </a:rPr>
                    <a:t> </a:t>
                  </a:r>
                </a:p>
              </p:txBody>
            </p:sp>
          </mc:Fallback>
        </mc:AlternateContent>
        <p:sp>
          <p:nvSpPr>
            <p:cNvPr id="27" name="Rectangle 363">
              <a:extLst>
                <a:ext uri="{FF2B5EF4-FFF2-40B4-BE49-F238E27FC236}">
                  <a16:creationId xmlns:a16="http://schemas.microsoft.com/office/drawing/2014/main" id="{B0E59BA1-C5D3-4233-9F04-DAC4705BBF9D}"/>
                </a:ext>
              </a:extLst>
            </p:cNvPr>
            <p:cNvSpPr>
              <a:spLocks noChangeArrowheads="1"/>
            </p:cNvSpPr>
            <p:nvPr/>
          </p:nvSpPr>
          <p:spPr bwMode="auto">
            <a:xfrm>
              <a:off x="1440" y="398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grpSp>
      <mc:AlternateContent xmlns:mc="http://schemas.openxmlformats.org/markup-compatibility/2006" xmlns:a14="http://schemas.microsoft.com/office/drawing/2010/main">
        <mc:Choice Requires="a14">
          <p:sp>
            <p:nvSpPr>
              <p:cNvPr id="43" name="Object 413">
                <a:extLst>
                  <a:ext uri="{FF2B5EF4-FFF2-40B4-BE49-F238E27FC236}">
                    <a16:creationId xmlns:a16="http://schemas.microsoft.com/office/drawing/2014/main" id="{60EDF672-4E4C-4533-9E61-3796AAC6A3E7}"/>
                  </a:ext>
                </a:extLst>
              </p:cNvPr>
              <p:cNvSpPr txBox="1"/>
              <p:nvPr/>
            </p:nvSpPr>
            <p:spPr bwMode="auto">
              <a:xfrm>
                <a:off x="336866" y="4648187"/>
                <a:ext cx="2133600"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oMath>
                  </m:oMathPara>
                </a14:m>
                <a:endParaRPr lang="zh-CN" altLang="en-US" sz="2800" dirty="0"/>
              </a:p>
            </p:txBody>
          </p:sp>
        </mc:Choice>
        <mc:Fallback xmlns="">
          <p:sp>
            <p:nvSpPr>
              <p:cNvPr id="43" name="Object 413">
                <a:extLst>
                  <a:ext uri="{FF2B5EF4-FFF2-40B4-BE49-F238E27FC236}">
                    <a16:creationId xmlns:a16="http://schemas.microsoft.com/office/drawing/2014/main" id="{60EDF672-4E4C-4533-9E61-3796AAC6A3E7}"/>
                  </a:ext>
                </a:extLst>
              </p:cNvPr>
              <p:cNvSpPr txBox="1">
                <a:spLocks noRot="1" noChangeAspect="1" noMove="1" noResize="1" noEditPoints="1" noAdjustHandles="1" noChangeArrowheads="1" noChangeShapeType="1" noTextEdit="1"/>
              </p:cNvSpPr>
              <p:nvPr/>
            </p:nvSpPr>
            <p:spPr bwMode="auto">
              <a:xfrm>
                <a:off x="336866" y="4648187"/>
                <a:ext cx="2133600" cy="49371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Object 414">
                <a:extLst>
                  <a:ext uri="{FF2B5EF4-FFF2-40B4-BE49-F238E27FC236}">
                    <a16:creationId xmlns:a16="http://schemas.microsoft.com/office/drawing/2014/main" id="{91C9BC41-F4CF-4FA8-B89E-499CCB23F60C}"/>
                  </a:ext>
                </a:extLst>
              </p:cNvPr>
              <p:cNvSpPr txBox="1"/>
              <p:nvPr/>
            </p:nvSpPr>
            <p:spPr bwMode="auto">
              <a:xfrm>
                <a:off x="2943541" y="4648187"/>
                <a:ext cx="2203450"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44" name="Object 414">
                <a:extLst>
                  <a:ext uri="{FF2B5EF4-FFF2-40B4-BE49-F238E27FC236}">
                    <a16:creationId xmlns:a16="http://schemas.microsoft.com/office/drawing/2014/main" id="{91C9BC41-F4CF-4FA8-B89E-499CCB23F60C}"/>
                  </a:ext>
                </a:extLst>
              </p:cNvPr>
              <p:cNvSpPr txBox="1">
                <a:spLocks noRot="1" noChangeAspect="1" noMove="1" noResize="1" noEditPoints="1" noAdjustHandles="1" noChangeArrowheads="1" noChangeShapeType="1" noTextEdit="1"/>
              </p:cNvSpPr>
              <p:nvPr/>
            </p:nvSpPr>
            <p:spPr bwMode="auto">
              <a:xfrm>
                <a:off x="2943541" y="4648187"/>
                <a:ext cx="2203450" cy="49371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bject 415">
                <a:extLst>
                  <a:ext uri="{FF2B5EF4-FFF2-40B4-BE49-F238E27FC236}">
                    <a16:creationId xmlns:a16="http://schemas.microsoft.com/office/drawing/2014/main" id="{8F685F50-305C-409A-BF47-61852B284F00}"/>
                  </a:ext>
                </a:extLst>
              </p:cNvPr>
              <p:cNvSpPr txBox="1"/>
              <p:nvPr/>
            </p:nvSpPr>
            <p:spPr bwMode="auto">
              <a:xfrm>
                <a:off x="946467" y="6006292"/>
                <a:ext cx="3182938"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45" name="Object 415">
                <a:extLst>
                  <a:ext uri="{FF2B5EF4-FFF2-40B4-BE49-F238E27FC236}">
                    <a16:creationId xmlns:a16="http://schemas.microsoft.com/office/drawing/2014/main" id="{8F685F50-305C-409A-BF47-61852B284F00}"/>
                  </a:ext>
                </a:extLst>
              </p:cNvPr>
              <p:cNvSpPr txBox="1">
                <a:spLocks noRot="1" noChangeAspect="1" noMove="1" noResize="1" noEditPoints="1" noAdjustHandles="1" noChangeArrowheads="1" noChangeShapeType="1" noTextEdit="1"/>
              </p:cNvSpPr>
              <p:nvPr/>
            </p:nvSpPr>
            <p:spPr bwMode="auto">
              <a:xfrm>
                <a:off x="946467" y="6006292"/>
                <a:ext cx="3182938" cy="493713"/>
              </a:xfrm>
              <a:prstGeom prst="rect">
                <a:avLst/>
              </a:prstGeom>
              <a:blipFill>
                <a:blip r:embed="rId13"/>
                <a:stretch>
                  <a:fillRect/>
                </a:stretch>
              </a:blipFill>
            </p:spPr>
            <p:txBody>
              <a:bodyPr/>
              <a:lstStyle/>
              <a:p>
                <a:r>
                  <a:rPr lang="en-US">
                    <a:noFill/>
                  </a:rPr>
                  <a:t> </a:t>
                </a:r>
              </a:p>
            </p:txBody>
          </p:sp>
        </mc:Fallback>
      </mc:AlternateContent>
      <p:grpSp>
        <p:nvGrpSpPr>
          <p:cNvPr id="46" name="Group 434">
            <a:extLst>
              <a:ext uri="{FF2B5EF4-FFF2-40B4-BE49-F238E27FC236}">
                <a16:creationId xmlns:a16="http://schemas.microsoft.com/office/drawing/2014/main" id="{B02A0A03-BD22-43EE-9741-BF49D886F8B8}"/>
              </a:ext>
            </a:extLst>
          </p:cNvPr>
          <p:cNvGrpSpPr>
            <a:grpSpLocks/>
          </p:cNvGrpSpPr>
          <p:nvPr/>
        </p:nvGrpSpPr>
        <p:grpSpPr bwMode="auto">
          <a:xfrm>
            <a:off x="265430" y="5307012"/>
            <a:ext cx="2038350" cy="519113"/>
            <a:chOff x="48" y="336"/>
            <a:chExt cx="1284" cy="327"/>
          </a:xfrm>
        </p:grpSpPr>
        <mc:AlternateContent xmlns:mc="http://schemas.openxmlformats.org/markup-compatibility/2006" xmlns:a14="http://schemas.microsoft.com/office/drawing/2010/main">
          <mc:Choice Requires="a14">
            <p:sp>
              <p:nvSpPr>
                <p:cNvPr id="47" name="Object 416">
                  <a:extLst>
                    <a:ext uri="{FF2B5EF4-FFF2-40B4-BE49-F238E27FC236}">
                      <a16:creationId xmlns:a16="http://schemas.microsoft.com/office/drawing/2014/main" id="{37601B1D-1ECA-4AAE-A224-671293AC8A62}"/>
                    </a:ext>
                  </a:extLst>
                </p:cNvPr>
                <p:cNvSpPr txBox="1"/>
                <p:nvPr/>
              </p:nvSpPr>
              <p:spPr bwMode="auto">
                <a:xfrm>
                  <a:off x="414" y="336"/>
                  <a:ext cx="918"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47" name="Object 416">
                  <a:extLst>
                    <a:ext uri="{FF2B5EF4-FFF2-40B4-BE49-F238E27FC236}">
                      <a16:creationId xmlns:a16="http://schemas.microsoft.com/office/drawing/2014/main" id="{37601B1D-1ECA-4AAE-A224-671293AC8A62}"/>
                    </a:ext>
                  </a:extLst>
                </p:cNvPr>
                <p:cNvSpPr txBox="1">
                  <a:spLocks noRot="1" noChangeAspect="1" noMove="1" noResize="1" noEditPoints="1" noAdjustHandles="1" noChangeArrowheads="1" noChangeShapeType="1" noTextEdit="1"/>
                </p:cNvSpPr>
                <p:nvPr/>
              </p:nvSpPr>
              <p:spPr bwMode="auto">
                <a:xfrm>
                  <a:off x="414" y="336"/>
                  <a:ext cx="918" cy="311"/>
                </a:xfrm>
                <a:prstGeom prst="rect">
                  <a:avLst/>
                </a:prstGeom>
                <a:blipFill>
                  <a:blip r:embed="rId14"/>
                  <a:stretch>
                    <a:fillRect/>
                  </a:stretch>
                </a:blipFill>
              </p:spPr>
              <p:txBody>
                <a:bodyPr/>
                <a:lstStyle/>
                <a:p>
                  <a:r>
                    <a:rPr lang="en-US">
                      <a:noFill/>
                    </a:rPr>
                    <a:t> </a:t>
                  </a:r>
                </a:p>
              </p:txBody>
            </p:sp>
          </mc:Fallback>
        </mc:AlternateContent>
        <p:sp>
          <p:nvSpPr>
            <p:cNvPr id="48" name="Text Box 417">
              <a:extLst>
                <a:ext uri="{FF2B5EF4-FFF2-40B4-BE49-F238E27FC236}">
                  <a16:creationId xmlns:a16="http://schemas.microsoft.com/office/drawing/2014/main" id="{CC9B14B1-7ECA-474F-BF36-C0F044D54FFB}"/>
                </a:ext>
              </a:extLst>
            </p:cNvPr>
            <p:cNvSpPr txBox="1">
              <a:spLocks noChangeArrowheads="1"/>
            </p:cNvSpPr>
            <p:nvPr/>
          </p:nvSpPr>
          <p:spPr bwMode="auto">
            <a:xfrm>
              <a:off x="48" y="336"/>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a:latin typeface="+mn-lt"/>
                  <a:ea typeface="+mn-ea"/>
                </a:rPr>
                <a:t>设</a:t>
              </a:r>
            </a:p>
          </p:txBody>
        </p:sp>
      </p:grpSp>
      <p:grpSp>
        <p:nvGrpSpPr>
          <p:cNvPr id="49" name="Group 411">
            <a:extLst>
              <a:ext uri="{FF2B5EF4-FFF2-40B4-BE49-F238E27FC236}">
                <a16:creationId xmlns:a16="http://schemas.microsoft.com/office/drawing/2014/main" id="{3D76373D-CD9D-443E-9E57-9B88D8AC8779}"/>
              </a:ext>
            </a:extLst>
          </p:cNvPr>
          <p:cNvGrpSpPr>
            <a:grpSpLocks/>
          </p:cNvGrpSpPr>
          <p:nvPr/>
        </p:nvGrpSpPr>
        <p:grpSpPr bwMode="auto">
          <a:xfrm>
            <a:off x="8656322" y="422957"/>
            <a:ext cx="1303338" cy="523876"/>
            <a:chOff x="2208" y="996"/>
            <a:chExt cx="821" cy="330"/>
          </a:xfrm>
        </p:grpSpPr>
        <mc:AlternateContent xmlns:mc="http://schemas.openxmlformats.org/markup-compatibility/2006" xmlns:a14="http://schemas.microsoft.com/office/drawing/2010/main">
          <mc:Choice Requires="a14">
            <p:sp>
              <p:nvSpPr>
                <p:cNvPr id="50" name="Object 407">
                  <a:extLst>
                    <a:ext uri="{FF2B5EF4-FFF2-40B4-BE49-F238E27FC236}">
                      <a16:creationId xmlns:a16="http://schemas.microsoft.com/office/drawing/2014/main" id="{F64FB4B8-9609-4051-A0B0-F970E5DD5536}"/>
                    </a:ext>
                  </a:extLst>
                </p:cNvPr>
                <p:cNvSpPr txBox="1"/>
                <p:nvPr/>
              </p:nvSpPr>
              <p:spPr bwMode="auto">
                <a:xfrm>
                  <a:off x="2208" y="1008"/>
                  <a:ext cx="33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𝐶</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50" name="Object 407">
                  <a:extLst>
                    <a:ext uri="{FF2B5EF4-FFF2-40B4-BE49-F238E27FC236}">
                      <a16:creationId xmlns:a16="http://schemas.microsoft.com/office/drawing/2014/main" id="{F64FB4B8-9609-4051-A0B0-F970E5DD5536}"/>
                    </a:ext>
                  </a:extLst>
                </p:cNvPr>
                <p:cNvSpPr txBox="1">
                  <a:spLocks noRot="1" noChangeAspect="1" noMove="1" noResize="1" noEditPoints="1" noAdjustHandles="1" noChangeArrowheads="1" noChangeShapeType="1" noTextEdit="1"/>
                </p:cNvSpPr>
                <p:nvPr/>
              </p:nvSpPr>
              <p:spPr bwMode="auto">
                <a:xfrm>
                  <a:off x="2208" y="1008"/>
                  <a:ext cx="336" cy="255"/>
                </a:xfrm>
                <a:prstGeom prst="rect">
                  <a:avLst/>
                </a:prstGeom>
                <a:blipFill>
                  <a:blip r:embed="rId15"/>
                  <a:stretch>
                    <a:fillRect/>
                  </a:stretch>
                </a:blipFill>
              </p:spPr>
              <p:txBody>
                <a:bodyPr/>
                <a:lstStyle/>
                <a:p>
                  <a:r>
                    <a:rPr lang="en-US">
                      <a:noFill/>
                    </a:rPr>
                    <a:t> </a:t>
                  </a:r>
                </a:p>
              </p:txBody>
            </p:sp>
          </mc:Fallback>
        </mc:AlternateContent>
        <p:sp>
          <p:nvSpPr>
            <p:cNvPr id="51" name="Rectangle 409">
              <a:extLst>
                <a:ext uri="{FF2B5EF4-FFF2-40B4-BE49-F238E27FC236}">
                  <a16:creationId xmlns:a16="http://schemas.microsoft.com/office/drawing/2014/main" id="{66B91F40-2970-4A8C-B53A-AC5A10B348EE}"/>
                </a:ext>
              </a:extLst>
            </p:cNvPr>
            <p:cNvSpPr>
              <a:spLocks noChangeArrowheads="1"/>
            </p:cNvSpPr>
            <p:nvPr/>
          </p:nvSpPr>
          <p:spPr bwMode="auto">
            <a:xfrm>
              <a:off x="2458" y="996"/>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可逆</a:t>
              </a:r>
            </a:p>
          </p:txBody>
        </p:sp>
      </p:grpSp>
      <p:grpSp>
        <p:nvGrpSpPr>
          <p:cNvPr id="52" name="Group 412">
            <a:extLst>
              <a:ext uri="{FF2B5EF4-FFF2-40B4-BE49-F238E27FC236}">
                <a16:creationId xmlns:a16="http://schemas.microsoft.com/office/drawing/2014/main" id="{A5777B19-0EBE-44A8-B46B-F3F8CEFB9915}"/>
              </a:ext>
            </a:extLst>
          </p:cNvPr>
          <p:cNvGrpSpPr>
            <a:grpSpLocks/>
          </p:cNvGrpSpPr>
          <p:nvPr/>
        </p:nvGrpSpPr>
        <p:grpSpPr bwMode="auto">
          <a:xfrm>
            <a:off x="6827520" y="422957"/>
            <a:ext cx="1577976" cy="523876"/>
            <a:chOff x="960" y="948"/>
            <a:chExt cx="994" cy="330"/>
          </a:xfrm>
        </p:grpSpPr>
        <mc:AlternateContent xmlns:mc="http://schemas.openxmlformats.org/markup-compatibility/2006" xmlns:a14="http://schemas.microsoft.com/office/drawing/2010/main">
          <mc:Choice Requires="a14">
            <p:sp>
              <p:nvSpPr>
                <p:cNvPr id="53" name="Object 408">
                  <a:extLst>
                    <a:ext uri="{FF2B5EF4-FFF2-40B4-BE49-F238E27FC236}">
                      <a16:creationId xmlns:a16="http://schemas.microsoft.com/office/drawing/2014/main" id="{E79AC00D-268B-4172-8009-0A7671CD51F2}"/>
                    </a:ext>
                  </a:extLst>
                </p:cNvPr>
                <p:cNvSpPr txBox="1"/>
                <p:nvPr/>
              </p:nvSpPr>
              <p:spPr bwMode="auto">
                <a:xfrm>
                  <a:off x="960" y="960"/>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𝐶</m:t>
                        </m:r>
                      </m:oMath>
                    </m:oMathPara>
                  </a14:m>
                  <a:endParaRPr lang="zh-CN" altLang="en-US" sz="2800"/>
                </a:p>
              </p:txBody>
            </p:sp>
          </mc:Choice>
          <mc:Fallback xmlns="">
            <p:sp>
              <p:nvSpPr>
                <p:cNvPr id="53" name="Object 408">
                  <a:extLst>
                    <a:ext uri="{FF2B5EF4-FFF2-40B4-BE49-F238E27FC236}">
                      <a16:creationId xmlns:a16="http://schemas.microsoft.com/office/drawing/2014/main" id="{E79AC00D-268B-4172-8009-0A7671CD51F2}"/>
                    </a:ext>
                  </a:extLst>
                </p:cNvPr>
                <p:cNvSpPr txBox="1">
                  <a:spLocks noRot="1" noChangeAspect="1" noMove="1" noResize="1" noEditPoints="1" noAdjustHandles="1" noChangeArrowheads="1" noChangeShapeType="1" noTextEdit="1"/>
                </p:cNvSpPr>
                <p:nvPr/>
              </p:nvSpPr>
              <p:spPr bwMode="auto">
                <a:xfrm>
                  <a:off x="960" y="960"/>
                  <a:ext cx="266" cy="255"/>
                </a:xfrm>
                <a:prstGeom prst="rect">
                  <a:avLst/>
                </a:prstGeom>
                <a:blipFill>
                  <a:blip r:embed="rId16"/>
                  <a:stretch>
                    <a:fillRect/>
                  </a:stretch>
                </a:blipFill>
              </p:spPr>
              <p:txBody>
                <a:bodyPr/>
                <a:lstStyle/>
                <a:p>
                  <a:r>
                    <a:rPr lang="en-US">
                      <a:noFill/>
                    </a:rPr>
                    <a:t> </a:t>
                  </a:r>
                </a:p>
              </p:txBody>
            </p:sp>
          </mc:Fallback>
        </mc:AlternateContent>
        <p:sp>
          <p:nvSpPr>
            <p:cNvPr id="54" name="Rectangle 410">
              <a:extLst>
                <a:ext uri="{FF2B5EF4-FFF2-40B4-BE49-F238E27FC236}">
                  <a16:creationId xmlns:a16="http://schemas.microsoft.com/office/drawing/2014/main" id="{4E0C6503-636A-439A-890B-0D251D8EF39E}"/>
                </a:ext>
              </a:extLst>
            </p:cNvPr>
            <p:cNvSpPr>
              <a:spLocks noChangeArrowheads="1"/>
            </p:cNvSpPr>
            <p:nvPr/>
          </p:nvSpPr>
          <p:spPr bwMode="auto">
            <a:xfrm>
              <a:off x="1156" y="948"/>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不可逆</a:t>
              </a:r>
            </a:p>
          </p:txBody>
        </p:sp>
      </p:grpSp>
      <p:grpSp>
        <p:nvGrpSpPr>
          <p:cNvPr id="55" name="Group 404">
            <a:extLst>
              <a:ext uri="{FF2B5EF4-FFF2-40B4-BE49-F238E27FC236}">
                <a16:creationId xmlns:a16="http://schemas.microsoft.com/office/drawing/2014/main" id="{1EB5CF74-8C94-4F1F-BD57-BB6A9D25C795}"/>
              </a:ext>
            </a:extLst>
          </p:cNvPr>
          <p:cNvGrpSpPr>
            <a:grpSpLocks/>
          </p:cNvGrpSpPr>
          <p:nvPr/>
        </p:nvGrpSpPr>
        <p:grpSpPr bwMode="auto">
          <a:xfrm>
            <a:off x="6813232" y="1225550"/>
            <a:ext cx="3803650" cy="3057525"/>
            <a:chOff x="3316" y="2204"/>
            <a:chExt cx="2396" cy="1926"/>
          </a:xfrm>
        </p:grpSpPr>
        <p:sp>
          <p:nvSpPr>
            <p:cNvPr id="56" name="Rectangle 364">
              <a:extLst>
                <a:ext uri="{FF2B5EF4-FFF2-40B4-BE49-F238E27FC236}">
                  <a16:creationId xmlns:a16="http://schemas.microsoft.com/office/drawing/2014/main" id="{FE4CC940-FA14-4BFE-8310-2184D89FED63}"/>
                </a:ext>
              </a:extLst>
            </p:cNvPr>
            <p:cNvSpPr>
              <a:spLocks noChangeArrowheads="1"/>
            </p:cNvSpPr>
            <p:nvPr/>
          </p:nvSpPr>
          <p:spPr bwMode="auto">
            <a:xfrm>
              <a:off x="3316" y="2218"/>
              <a:ext cx="2248" cy="328"/>
            </a:xfrm>
            <a:prstGeom prst="rect">
              <a:avLst/>
            </a:prstGeom>
            <a:solidFill>
              <a:srgbClr val="FF6699"/>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57" name="Rectangle 365">
              <a:extLst>
                <a:ext uri="{FF2B5EF4-FFF2-40B4-BE49-F238E27FC236}">
                  <a16:creationId xmlns:a16="http://schemas.microsoft.com/office/drawing/2014/main" id="{25327CAF-574B-42B7-889B-93CD996FC2E2}"/>
                </a:ext>
              </a:extLst>
            </p:cNvPr>
            <p:cNvSpPr>
              <a:spLocks noChangeArrowheads="1"/>
            </p:cNvSpPr>
            <p:nvPr/>
          </p:nvSpPr>
          <p:spPr bwMode="auto">
            <a:xfrm>
              <a:off x="3316" y="3802"/>
              <a:ext cx="2248" cy="328"/>
            </a:xfrm>
            <a:prstGeom prst="rect">
              <a:avLst/>
            </a:prstGeom>
            <a:solidFill>
              <a:schemeClr val="bg2"/>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58" name="Rectangle 366">
              <a:extLst>
                <a:ext uri="{FF2B5EF4-FFF2-40B4-BE49-F238E27FC236}">
                  <a16:creationId xmlns:a16="http://schemas.microsoft.com/office/drawing/2014/main" id="{8CD4FEE4-6049-4C04-8B56-F2BDD94B2638}"/>
                </a:ext>
              </a:extLst>
            </p:cNvPr>
            <p:cNvSpPr>
              <a:spLocks noChangeArrowheads="1"/>
            </p:cNvSpPr>
            <p:nvPr/>
          </p:nvSpPr>
          <p:spPr bwMode="auto">
            <a:xfrm>
              <a:off x="4214" y="2204"/>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p:sp>
          <p:nvSpPr>
            <p:cNvPr id="59" name="Rectangle 367">
              <a:extLst>
                <a:ext uri="{FF2B5EF4-FFF2-40B4-BE49-F238E27FC236}">
                  <a16:creationId xmlns:a16="http://schemas.microsoft.com/office/drawing/2014/main" id="{C411AAB4-DE1D-431F-881C-E4220632EF79}"/>
                </a:ext>
              </a:extLst>
            </p:cNvPr>
            <p:cNvSpPr>
              <a:spLocks noChangeArrowheads="1"/>
            </p:cNvSpPr>
            <p:nvPr/>
          </p:nvSpPr>
          <p:spPr bwMode="auto">
            <a:xfrm>
              <a:off x="4118" y="2252"/>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latin typeface="+mn-lt"/>
                  <a:ea typeface="+mn-ea"/>
                </a:rPr>
                <a:t>T</a:t>
              </a:r>
              <a:r>
                <a:rPr lang="en-US" altLang="zh-CN" b="0" i="1" baseline="-25000">
                  <a:latin typeface="+mn-lt"/>
                  <a:ea typeface="+mn-ea"/>
                </a:rPr>
                <a:t>1</a:t>
              </a:r>
              <a:r>
                <a:rPr lang="zh-CN" altLang="en-US" b="0">
                  <a:latin typeface="+mn-lt"/>
                  <a:ea typeface="+mn-ea"/>
                </a:rPr>
                <a:t>热库</a:t>
              </a:r>
            </a:p>
          </p:txBody>
        </p:sp>
        <p:sp>
          <p:nvSpPr>
            <p:cNvPr id="60" name="Rectangle 368">
              <a:extLst>
                <a:ext uri="{FF2B5EF4-FFF2-40B4-BE49-F238E27FC236}">
                  <a16:creationId xmlns:a16="http://schemas.microsoft.com/office/drawing/2014/main" id="{95A1CD6F-A090-4615-8FC0-EC47BBB55D0D}"/>
                </a:ext>
              </a:extLst>
            </p:cNvPr>
            <p:cNvSpPr>
              <a:spLocks noChangeArrowheads="1"/>
            </p:cNvSpPr>
            <p:nvPr/>
          </p:nvSpPr>
          <p:spPr bwMode="auto">
            <a:xfrm>
              <a:off x="4166" y="3788"/>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solidFill>
                    <a:srgbClr val="FF0000"/>
                  </a:solidFill>
                  <a:latin typeface="+mn-lt"/>
                  <a:ea typeface="+mn-ea"/>
                </a:rPr>
                <a:t>T</a:t>
              </a:r>
              <a:r>
                <a:rPr lang="en-US" altLang="zh-CN" b="0" i="1" baseline="-25000">
                  <a:solidFill>
                    <a:srgbClr val="FF0000"/>
                  </a:solidFill>
                  <a:latin typeface="+mn-lt"/>
                  <a:ea typeface="+mn-ea"/>
                </a:rPr>
                <a:t>2</a:t>
              </a:r>
              <a:r>
                <a:rPr lang="zh-CN" altLang="en-US" b="0">
                  <a:solidFill>
                    <a:srgbClr val="FF0000"/>
                  </a:solidFill>
                  <a:latin typeface="+mn-lt"/>
                  <a:ea typeface="+mn-ea"/>
                </a:rPr>
                <a:t>热库</a:t>
              </a:r>
              <a:endParaRPr lang="zh-CN" altLang="en-US" b="0" i="1">
                <a:solidFill>
                  <a:srgbClr val="FF0000"/>
                </a:solidFill>
                <a:latin typeface="+mn-lt"/>
                <a:ea typeface="+mn-ea"/>
              </a:endParaRPr>
            </a:p>
          </p:txBody>
        </p:sp>
        <p:sp>
          <p:nvSpPr>
            <p:cNvPr id="61" name="Oval 369">
              <a:extLst>
                <a:ext uri="{FF2B5EF4-FFF2-40B4-BE49-F238E27FC236}">
                  <a16:creationId xmlns:a16="http://schemas.microsoft.com/office/drawing/2014/main" id="{F756ACEA-431B-443F-8CE4-5FD549FA565B}"/>
                </a:ext>
              </a:extLst>
            </p:cNvPr>
            <p:cNvSpPr>
              <a:spLocks noChangeArrowheads="1"/>
            </p:cNvSpPr>
            <p:nvPr/>
          </p:nvSpPr>
          <p:spPr bwMode="auto">
            <a:xfrm>
              <a:off x="4808" y="2976"/>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62" name="Line 370">
              <a:extLst>
                <a:ext uri="{FF2B5EF4-FFF2-40B4-BE49-F238E27FC236}">
                  <a16:creationId xmlns:a16="http://schemas.microsoft.com/office/drawing/2014/main" id="{E4D6DD6D-5CF9-4DE9-85CE-6383F8332386}"/>
                </a:ext>
              </a:extLst>
            </p:cNvPr>
            <p:cNvSpPr>
              <a:spLocks noChangeShapeType="1"/>
            </p:cNvSpPr>
            <p:nvPr/>
          </p:nvSpPr>
          <p:spPr bwMode="auto">
            <a:xfrm>
              <a:off x="5376" y="2540"/>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63" name="Line 371">
              <a:extLst>
                <a:ext uri="{FF2B5EF4-FFF2-40B4-BE49-F238E27FC236}">
                  <a16:creationId xmlns:a16="http://schemas.microsoft.com/office/drawing/2014/main" id="{BD2EC035-8EF8-4AD3-B553-D76E0D1E2FDE}"/>
                </a:ext>
              </a:extLst>
            </p:cNvPr>
            <p:cNvSpPr>
              <a:spLocks noChangeShapeType="1"/>
            </p:cNvSpPr>
            <p:nvPr/>
          </p:nvSpPr>
          <p:spPr bwMode="auto">
            <a:xfrm>
              <a:off x="5036" y="2348"/>
              <a:ext cx="0" cy="384"/>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64" name="Line 372">
              <a:extLst>
                <a:ext uri="{FF2B5EF4-FFF2-40B4-BE49-F238E27FC236}">
                  <a16:creationId xmlns:a16="http://schemas.microsoft.com/office/drawing/2014/main" id="{D13281E3-A0CC-49F3-8456-994A735F599A}"/>
                </a:ext>
              </a:extLst>
            </p:cNvPr>
            <p:cNvSpPr>
              <a:spLocks noChangeShapeType="1"/>
            </p:cNvSpPr>
            <p:nvPr/>
          </p:nvSpPr>
          <p:spPr bwMode="auto">
            <a:xfrm>
              <a:off x="5184" y="3740"/>
              <a:ext cx="0" cy="384"/>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65" name="Line 373">
              <a:extLst>
                <a:ext uri="{FF2B5EF4-FFF2-40B4-BE49-F238E27FC236}">
                  <a16:creationId xmlns:a16="http://schemas.microsoft.com/office/drawing/2014/main" id="{0A746F08-5975-430F-AC98-DB119523D5DA}"/>
                </a:ext>
              </a:extLst>
            </p:cNvPr>
            <p:cNvSpPr>
              <a:spLocks noChangeShapeType="1"/>
            </p:cNvSpPr>
            <p:nvPr/>
          </p:nvSpPr>
          <p:spPr bwMode="auto">
            <a:xfrm>
              <a:off x="4992" y="3500"/>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66" name="Rectangle 375">
              <a:extLst>
                <a:ext uri="{FF2B5EF4-FFF2-40B4-BE49-F238E27FC236}">
                  <a16:creationId xmlns:a16="http://schemas.microsoft.com/office/drawing/2014/main" id="{977D7C53-0253-4823-875D-B3B760A1A68B}"/>
                </a:ext>
              </a:extLst>
            </p:cNvPr>
            <p:cNvSpPr>
              <a:spLocks noChangeArrowheads="1"/>
            </p:cNvSpPr>
            <p:nvPr/>
          </p:nvSpPr>
          <p:spPr bwMode="auto">
            <a:xfrm>
              <a:off x="4803" y="3442"/>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67" name="Rectangle 376">
              <a:extLst>
                <a:ext uri="{FF2B5EF4-FFF2-40B4-BE49-F238E27FC236}">
                  <a16:creationId xmlns:a16="http://schemas.microsoft.com/office/drawing/2014/main" id="{AAE69F31-B8CE-47C7-BB6D-E41925C65EE1}"/>
                </a:ext>
              </a:extLst>
            </p:cNvPr>
            <p:cNvSpPr>
              <a:spLocks noChangeArrowheads="1"/>
            </p:cNvSpPr>
            <p:nvPr/>
          </p:nvSpPr>
          <p:spPr bwMode="auto">
            <a:xfrm>
              <a:off x="4882" y="2674"/>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68" name="Arc 377">
              <a:extLst>
                <a:ext uri="{FF2B5EF4-FFF2-40B4-BE49-F238E27FC236}">
                  <a16:creationId xmlns:a16="http://schemas.microsoft.com/office/drawing/2014/main" id="{EDB6EDCE-C2AD-43FB-9C52-EA4FA1A93D65}"/>
                </a:ext>
              </a:extLst>
            </p:cNvPr>
            <p:cNvSpPr>
              <a:spLocks/>
            </p:cNvSpPr>
            <p:nvPr/>
          </p:nvSpPr>
          <p:spPr bwMode="auto">
            <a:xfrm>
              <a:off x="4608" y="3068"/>
              <a:ext cx="240"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69" name="Arc 378">
              <a:extLst>
                <a:ext uri="{FF2B5EF4-FFF2-40B4-BE49-F238E27FC236}">
                  <a16:creationId xmlns:a16="http://schemas.microsoft.com/office/drawing/2014/main" id="{7B85F81B-C83B-4A54-8803-450D128CFC82}"/>
                </a:ext>
              </a:extLst>
            </p:cNvPr>
            <p:cNvSpPr>
              <a:spLocks/>
            </p:cNvSpPr>
            <p:nvPr/>
          </p:nvSpPr>
          <p:spPr bwMode="auto">
            <a:xfrm>
              <a:off x="4704" y="3413"/>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70" name="Object 381">
                  <a:extLst>
                    <a:ext uri="{FF2B5EF4-FFF2-40B4-BE49-F238E27FC236}">
                      <a16:creationId xmlns:a16="http://schemas.microsoft.com/office/drawing/2014/main" id="{DE80D71B-B0BA-48D9-98ED-20C4D29BC7C5}"/>
                    </a:ext>
                  </a:extLst>
                </p:cNvPr>
                <p:cNvSpPr txBox="1"/>
                <p:nvPr/>
              </p:nvSpPr>
              <p:spPr bwMode="auto">
                <a:xfrm>
                  <a:off x="4944" y="2684"/>
                  <a:ext cx="33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70" name="Object 381">
                  <a:extLst>
                    <a:ext uri="{FF2B5EF4-FFF2-40B4-BE49-F238E27FC236}">
                      <a16:creationId xmlns:a16="http://schemas.microsoft.com/office/drawing/2014/main" id="{DE80D71B-B0BA-48D9-98ED-20C4D29BC7C5}"/>
                    </a:ext>
                  </a:extLst>
                </p:cNvPr>
                <p:cNvSpPr txBox="1">
                  <a:spLocks noRot="1" noChangeAspect="1" noMove="1" noResize="1" noEditPoints="1" noAdjustHandles="1" noChangeArrowheads="1" noChangeShapeType="1" noTextEdit="1"/>
                </p:cNvSpPr>
                <p:nvPr/>
              </p:nvSpPr>
              <p:spPr bwMode="auto">
                <a:xfrm>
                  <a:off x="4944" y="2684"/>
                  <a:ext cx="336" cy="31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bject 382">
                  <a:extLst>
                    <a:ext uri="{FF2B5EF4-FFF2-40B4-BE49-F238E27FC236}">
                      <a16:creationId xmlns:a16="http://schemas.microsoft.com/office/drawing/2014/main" id="{2309FEBA-4D43-45A9-BDEA-0D26F8A031BB}"/>
                    </a:ext>
                  </a:extLst>
                </p:cNvPr>
                <p:cNvSpPr txBox="1"/>
                <p:nvPr/>
              </p:nvSpPr>
              <p:spPr bwMode="auto">
                <a:xfrm>
                  <a:off x="5040" y="3452"/>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71" name="Object 382">
                  <a:extLst>
                    <a:ext uri="{FF2B5EF4-FFF2-40B4-BE49-F238E27FC236}">
                      <a16:creationId xmlns:a16="http://schemas.microsoft.com/office/drawing/2014/main" id="{2309FEBA-4D43-45A9-BDEA-0D26F8A031BB}"/>
                    </a:ext>
                  </a:extLst>
                </p:cNvPr>
                <p:cNvSpPr txBox="1">
                  <a:spLocks noRot="1" noChangeAspect="1" noMove="1" noResize="1" noEditPoints="1" noAdjustHandles="1" noChangeArrowheads="1" noChangeShapeType="1" noTextEdit="1"/>
                </p:cNvSpPr>
                <p:nvPr/>
              </p:nvSpPr>
              <p:spPr bwMode="auto">
                <a:xfrm>
                  <a:off x="5040" y="3452"/>
                  <a:ext cx="356" cy="311"/>
                </a:xfrm>
                <a:prstGeom prst="rect">
                  <a:avLst/>
                </a:prstGeom>
                <a:blipFill>
                  <a:blip r:embed="rId18"/>
                  <a:stretch>
                    <a:fillRect/>
                  </a:stretch>
                </a:blipFill>
              </p:spPr>
              <p:txBody>
                <a:bodyPr/>
                <a:lstStyle/>
                <a:p>
                  <a:r>
                    <a:rPr lang="en-US">
                      <a:noFill/>
                    </a:rPr>
                    <a:t> </a:t>
                  </a:r>
                </a:p>
              </p:txBody>
            </p:sp>
          </mc:Fallback>
        </mc:AlternateContent>
        <p:grpSp>
          <p:nvGrpSpPr>
            <p:cNvPr id="72" name="Group 384">
              <a:extLst>
                <a:ext uri="{FF2B5EF4-FFF2-40B4-BE49-F238E27FC236}">
                  <a16:creationId xmlns:a16="http://schemas.microsoft.com/office/drawing/2014/main" id="{C7C077E4-099C-4750-8C5F-696AE17DDB38}"/>
                </a:ext>
              </a:extLst>
            </p:cNvPr>
            <p:cNvGrpSpPr>
              <a:grpSpLocks/>
            </p:cNvGrpSpPr>
            <p:nvPr/>
          </p:nvGrpSpPr>
          <p:grpSpPr bwMode="auto">
            <a:xfrm>
              <a:off x="3456" y="2348"/>
              <a:ext cx="1200" cy="1728"/>
              <a:chOff x="768" y="0"/>
              <a:chExt cx="1200" cy="1728"/>
            </a:xfrm>
          </p:grpSpPr>
          <p:sp>
            <p:nvSpPr>
              <p:cNvPr id="76" name="Oval 385">
                <a:extLst>
                  <a:ext uri="{FF2B5EF4-FFF2-40B4-BE49-F238E27FC236}">
                    <a16:creationId xmlns:a16="http://schemas.microsoft.com/office/drawing/2014/main" id="{522ADA47-2C5F-4984-ADC9-519217ACAC3A}"/>
                  </a:ext>
                </a:extLst>
              </p:cNvPr>
              <p:cNvSpPr>
                <a:spLocks noChangeArrowheads="1"/>
              </p:cNvSpPr>
              <p:nvPr/>
            </p:nvSpPr>
            <p:spPr bwMode="auto">
              <a:xfrm>
                <a:off x="768" y="628"/>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77" name="Line 386">
                <a:extLst>
                  <a:ext uri="{FF2B5EF4-FFF2-40B4-BE49-F238E27FC236}">
                    <a16:creationId xmlns:a16="http://schemas.microsoft.com/office/drawing/2014/main" id="{A731150D-CF02-42DC-B496-1FDDAA1D80BC}"/>
                  </a:ext>
                </a:extLst>
              </p:cNvPr>
              <p:cNvSpPr>
                <a:spLocks noChangeShapeType="1"/>
              </p:cNvSpPr>
              <p:nvPr/>
            </p:nvSpPr>
            <p:spPr bwMode="auto">
              <a:xfrm>
                <a:off x="908" y="192"/>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78" name="Line 387">
                <a:extLst>
                  <a:ext uri="{FF2B5EF4-FFF2-40B4-BE49-F238E27FC236}">
                    <a16:creationId xmlns:a16="http://schemas.microsoft.com/office/drawing/2014/main" id="{C09ACFDA-272E-46CB-8473-52A1E6D0F496}"/>
                  </a:ext>
                </a:extLst>
              </p:cNvPr>
              <p:cNvSpPr>
                <a:spLocks noChangeShapeType="1"/>
              </p:cNvSpPr>
              <p:nvPr/>
            </p:nvSpPr>
            <p:spPr bwMode="auto">
              <a:xfrm>
                <a:off x="1196" y="0"/>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79" name="Line 388">
                <a:extLst>
                  <a:ext uri="{FF2B5EF4-FFF2-40B4-BE49-F238E27FC236}">
                    <a16:creationId xmlns:a16="http://schemas.microsoft.com/office/drawing/2014/main" id="{AFD1139D-22D1-40A1-B0ED-C94FD13C8C08}"/>
                  </a:ext>
                </a:extLst>
              </p:cNvPr>
              <p:cNvSpPr>
                <a:spLocks noChangeShapeType="1"/>
              </p:cNvSpPr>
              <p:nvPr/>
            </p:nvSpPr>
            <p:spPr bwMode="auto">
              <a:xfrm>
                <a:off x="1100" y="1344"/>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80" name="Line 389">
                <a:extLst>
                  <a:ext uri="{FF2B5EF4-FFF2-40B4-BE49-F238E27FC236}">
                    <a16:creationId xmlns:a16="http://schemas.microsoft.com/office/drawing/2014/main" id="{A6A86631-6EC0-4197-85C0-4A0D4317FC3D}"/>
                  </a:ext>
                </a:extLst>
              </p:cNvPr>
              <p:cNvSpPr>
                <a:spLocks noChangeShapeType="1"/>
              </p:cNvSpPr>
              <p:nvPr/>
            </p:nvSpPr>
            <p:spPr bwMode="auto">
              <a:xfrm>
                <a:off x="1244" y="1008"/>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81" name="Line 390">
                <a:extLst>
                  <a:ext uri="{FF2B5EF4-FFF2-40B4-BE49-F238E27FC236}">
                    <a16:creationId xmlns:a16="http://schemas.microsoft.com/office/drawing/2014/main" id="{033A53CB-D674-4665-9505-9C17BC86F58B}"/>
                  </a:ext>
                </a:extLst>
              </p:cNvPr>
              <p:cNvSpPr>
                <a:spLocks noChangeShapeType="1"/>
              </p:cNvSpPr>
              <p:nvPr/>
            </p:nvSpPr>
            <p:spPr bwMode="auto">
              <a:xfrm>
                <a:off x="1436" y="192"/>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82" name="Rectangle 391">
                <a:extLst>
                  <a:ext uri="{FF2B5EF4-FFF2-40B4-BE49-F238E27FC236}">
                    <a16:creationId xmlns:a16="http://schemas.microsoft.com/office/drawing/2014/main" id="{4EE8C439-DC2A-4C50-8F13-E67B28961C67}"/>
                  </a:ext>
                </a:extLst>
              </p:cNvPr>
              <p:cNvSpPr>
                <a:spLocks noChangeArrowheads="1"/>
              </p:cNvSpPr>
              <p:nvPr/>
            </p:nvSpPr>
            <p:spPr bwMode="auto">
              <a:xfrm>
                <a:off x="963" y="1094"/>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83" name="Rectangle 392">
                <a:extLst>
                  <a:ext uri="{FF2B5EF4-FFF2-40B4-BE49-F238E27FC236}">
                    <a16:creationId xmlns:a16="http://schemas.microsoft.com/office/drawing/2014/main" id="{88BDFE88-B055-4869-B166-51A5187706A6}"/>
                  </a:ext>
                </a:extLst>
              </p:cNvPr>
              <p:cNvSpPr>
                <a:spLocks noChangeArrowheads="1"/>
              </p:cNvSpPr>
              <p:nvPr/>
            </p:nvSpPr>
            <p:spPr bwMode="auto">
              <a:xfrm>
                <a:off x="1042" y="326"/>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84" name="Arc 393">
                <a:extLst>
                  <a:ext uri="{FF2B5EF4-FFF2-40B4-BE49-F238E27FC236}">
                    <a16:creationId xmlns:a16="http://schemas.microsoft.com/office/drawing/2014/main" id="{5B03F78C-1E62-4452-BE52-5FDB83149C10}"/>
                  </a:ext>
                </a:extLst>
              </p:cNvPr>
              <p:cNvSpPr>
                <a:spLocks/>
              </p:cNvSpPr>
              <p:nvPr/>
            </p:nvSpPr>
            <p:spPr bwMode="auto">
              <a:xfrm>
                <a:off x="1245" y="1008"/>
                <a:ext cx="57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85" name="Arc 394">
                <a:extLst>
                  <a:ext uri="{FF2B5EF4-FFF2-40B4-BE49-F238E27FC236}">
                    <a16:creationId xmlns:a16="http://schemas.microsoft.com/office/drawing/2014/main" id="{C08D2C49-EB05-4D21-BB4C-849E24D8E9A5}"/>
                  </a:ext>
                </a:extLst>
              </p:cNvPr>
              <p:cNvSpPr>
                <a:spLocks/>
              </p:cNvSpPr>
              <p:nvPr/>
            </p:nvSpPr>
            <p:spPr bwMode="auto">
              <a:xfrm>
                <a:off x="1437" y="624"/>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86" name="Line 395">
                <a:extLst>
                  <a:ext uri="{FF2B5EF4-FFF2-40B4-BE49-F238E27FC236}">
                    <a16:creationId xmlns:a16="http://schemas.microsoft.com/office/drawing/2014/main" id="{76BC08F3-0ADA-4EAC-B560-7A62BDFE142C}"/>
                  </a:ext>
                </a:extLst>
              </p:cNvPr>
              <p:cNvSpPr>
                <a:spLocks noChangeShapeType="1"/>
              </p:cNvSpPr>
              <p:nvPr/>
            </p:nvSpPr>
            <p:spPr bwMode="auto">
              <a:xfrm>
                <a:off x="1580" y="960"/>
                <a:ext cx="388"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87" name="Rectangle 396">
                <a:extLst>
                  <a:ext uri="{FF2B5EF4-FFF2-40B4-BE49-F238E27FC236}">
                    <a16:creationId xmlns:a16="http://schemas.microsoft.com/office/drawing/2014/main" id="{0805BFED-60F5-48A3-8577-55F431C95AF6}"/>
                  </a:ext>
                </a:extLst>
              </p:cNvPr>
              <p:cNvSpPr>
                <a:spLocks noChangeArrowheads="1"/>
              </p:cNvSpPr>
              <p:nvPr/>
            </p:nvSpPr>
            <p:spPr bwMode="auto">
              <a:xfrm>
                <a:off x="1714" y="662"/>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mc:AlternateContent xmlns:mc="http://schemas.openxmlformats.org/markup-compatibility/2006" xmlns:a14="http://schemas.microsoft.com/office/drawing/2010/main">
            <mc:Choice Requires="a14">
              <p:sp>
                <p:nvSpPr>
                  <p:cNvPr id="88" name="Object 397">
                    <a:extLst>
                      <a:ext uri="{FF2B5EF4-FFF2-40B4-BE49-F238E27FC236}">
                        <a16:creationId xmlns:a16="http://schemas.microsoft.com/office/drawing/2014/main" id="{331618F8-278C-497C-B28A-7598EC0BAC3B}"/>
                      </a:ext>
                    </a:extLst>
                  </p:cNvPr>
                  <p:cNvSpPr txBox="1"/>
                  <p:nvPr/>
                </p:nvSpPr>
                <p:spPr bwMode="auto">
                  <a:xfrm>
                    <a:off x="1064" y="336"/>
                    <a:ext cx="311"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oMath>
                      </m:oMathPara>
                    </a14:m>
                    <a:endParaRPr lang="zh-CN" altLang="en-US" sz="2800"/>
                  </a:p>
                </p:txBody>
              </p:sp>
            </mc:Choice>
            <mc:Fallback xmlns="">
              <p:sp>
                <p:nvSpPr>
                  <p:cNvPr id="88" name="Object 397">
                    <a:extLst>
                      <a:ext uri="{FF2B5EF4-FFF2-40B4-BE49-F238E27FC236}">
                        <a16:creationId xmlns:a16="http://schemas.microsoft.com/office/drawing/2014/main" id="{331618F8-278C-497C-B28A-7598EC0BAC3B}"/>
                      </a:ext>
                    </a:extLst>
                  </p:cNvPr>
                  <p:cNvSpPr txBox="1">
                    <a:spLocks noRot="1" noChangeAspect="1" noMove="1" noResize="1" noEditPoints="1" noAdjustHandles="1" noChangeArrowheads="1" noChangeShapeType="1" noTextEdit="1"/>
                  </p:cNvSpPr>
                  <p:nvPr/>
                </p:nvSpPr>
                <p:spPr bwMode="auto">
                  <a:xfrm>
                    <a:off x="1064" y="336"/>
                    <a:ext cx="311" cy="311"/>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bject 398">
                    <a:extLst>
                      <a:ext uri="{FF2B5EF4-FFF2-40B4-BE49-F238E27FC236}">
                        <a16:creationId xmlns:a16="http://schemas.microsoft.com/office/drawing/2014/main" id="{11641264-2CCD-435F-92F8-4679A2FB99DA}"/>
                      </a:ext>
                    </a:extLst>
                  </p:cNvPr>
                  <p:cNvSpPr txBox="1"/>
                  <p:nvPr/>
                </p:nvSpPr>
                <p:spPr bwMode="auto">
                  <a:xfrm>
                    <a:off x="936" y="1104"/>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oMath>
                      </m:oMathPara>
                    </a14:m>
                    <a:endParaRPr lang="zh-CN" altLang="en-US" sz="2800"/>
                  </a:p>
                </p:txBody>
              </p:sp>
            </mc:Choice>
            <mc:Fallback xmlns="">
              <p:sp>
                <p:nvSpPr>
                  <p:cNvPr id="89" name="Object 398">
                    <a:extLst>
                      <a:ext uri="{FF2B5EF4-FFF2-40B4-BE49-F238E27FC236}">
                        <a16:creationId xmlns:a16="http://schemas.microsoft.com/office/drawing/2014/main" id="{11641264-2CCD-435F-92F8-4679A2FB99DA}"/>
                      </a:ext>
                    </a:extLst>
                  </p:cNvPr>
                  <p:cNvSpPr txBox="1">
                    <a:spLocks noRot="1" noChangeAspect="1" noMove="1" noResize="1" noEditPoints="1" noAdjustHandles="1" noChangeArrowheads="1" noChangeShapeType="1" noTextEdit="1"/>
                  </p:cNvSpPr>
                  <p:nvPr/>
                </p:nvSpPr>
                <p:spPr bwMode="auto">
                  <a:xfrm>
                    <a:off x="936" y="1104"/>
                    <a:ext cx="356" cy="311"/>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bject 399">
                    <a:extLst>
                      <a:ext uri="{FF2B5EF4-FFF2-40B4-BE49-F238E27FC236}">
                        <a16:creationId xmlns:a16="http://schemas.microsoft.com/office/drawing/2014/main" id="{1210D93A-265B-49F0-9EF3-B3E07FD61F34}"/>
                      </a:ext>
                    </a:extLst>
                  </p:cNvPr>
                  <p:cNvSpPr txBox="1"/>
                  <p:nvPr/>
                </p:nvSpPr>
                <p:spPr bwMode="auto">
                  <a:xfrm>
                    <a:off x="1653" y="672"/>
                    <a:ext cx="267" cy="2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oMath>
                      </m:oMathPara>
                    </a14:m>
                    <a:endParaRPr lang="zh-CN" altLang="en-US" sz="2800"/>
                  </a:p>
                </p:txBody>
              </p:sp>
            </mc:Choice>
            <mc:Fallback xmlns="">
              <p:sp>
                <p:nvSpPr>
                  <p:cNvPr id="90" name="Object 399">
                    <a:extLst>
                      <a:ext uri="{FF2B5EF4-FFF2-40B4-BE49-F238E27FC236}">
                        <a16:creationId xmlns:a16="http://schemas.microsoft.com/office/drawing/2014/main" id="{1210D93A-265B-49F0-9EF3-B3E07FD61F34}"/>
                      </a:ext>
                    </a:extLst>
                  </p:cNvPr>
                  <p:cNvSpPr txBox="1">
                    <a:spLocks noRot="1" noChangeAspect="1" noMove="1" noResize="1" noEditPoints="1" noAdjustHandles="1" noChangeArrowheads="1" noChangeShapeType="1" noTextEdit="1"/>
                  </p:cNvSpPr>
                  <p:nvPr/>
                </p:nvSpPr>
                <p:spPr bwMode="auto">
                  <a:xfrm>
                    <a:off x="1653" y="672"/>
                    <a:ext cx="267" cy="237"/>
                  </a:xfrm>
                  <a:prstGeom prst="rect">
                    <a:avLst/>
                  </a:prstGeom>
                  <a:blipFill>
                    <a:blip r:embed="rId21"/>
                    <a:stretch>
                      <a:fillRect b="-491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3" name="Object 400">
                  <a:extLst>
                    <a:ext uri="{FF2B5EF4-FFF2-40B4-BE49-F238E27FC236}">
                      <a16:creationId xmlns:a16="http://schemas.microsoft.com/office/drawing/2014/main" id="{8FBAAFBC-10CE-48CB-8929-94EB913E27C9}"/>
                    </a:ext>
                  </a:extLst>
                </p:cNvPr>
                <p:cNvSpPr txBox="1"/>
                <p:nvPr/>
              </p:nvSpPr>
              <p:spPr bwMode="auto">
                <a:xfrm>
                  <a:off x="3984" y="3456"/>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𝐶</m:t>
                        </m:r>
                      </m:oMath>
                    </m:oMathPara>
                  </a14:m>
                  <a:endParaRPr lang="zh-CN" altLang="en-US" sz="2800"/>
                </a:p>
              </p:txBody>
            </p:sp>
          </mc:Choice>
          <mc:Fallback xmlns="">
            <p:sp>
              <p:nvSpPr>
                <p:cNvPr id="73" name="Object 400">
                  <a:extLst>
                    <a:ext uri="{FF2B5EF4-FFF2-40B4-BE49-F238E27FC236}">
                      <a16:creationId xmlns:a16="http://schemas.microsoft.com/office/drawing/2014/main" id="{8FBAAFBC-10CE-48CB-8929-94EB913E27C9}"/>
                    </a:ext>
                  </a:extLst>
                </p:cNvPr>
                <p:cNvSpPr txBox="1">
                  <a:spLocks noRot="1" noChangeAspect="1" noMove="1" noResize="1" noEditPoints="1" noAdjustHandles="1" noChangeArrowheads="1" noChangeShapeType="1" noTextEdit="1"/>
                </p:cNvSpPr>
                <p:nvPr/>
              </p:nvSpPr>
              <p:spPr bwMode="auto">
                <a:xfrm>
                  <a:off x="3984" y="3456"/>
                  <a:ext cx="266" cy="25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Object 401">
                  <a:extLst>
                    <a:ext uri="{FF2B5EF4-FFF2-40B4-BE49-F238E27FC236}">
                      <a16:creationId xmlns:a16="http://schemas.microsoft.com/office/drawing/2014/main" id="{83414AC3-E8E9-4FB9-B85D-732B9616A35D}"/>
                    </a:ext>
                  </a:extLst>
                </p:cNvPr>
                <p:cNvSpPr txBox="1"/>
                <p:nvPr/>
              </p:nvSpPr>
              <p:spPr bwMode="auto">
                <a:xfrm>
                  <a:off x="5376" y="3356"/>
                  <a:ext cx="33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𝐶</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74" name="Object 401">
                  <a:extLst>
                    <a:ext uri="{FF2B5EF4-FFF2-40B4-BE49-F238E27FC236}">
                      <a16:creationId xmlns:a16="http://schemas.microsoft.com/office/drawing/2014/main" id="{83414AC3-E8E9-4FB9-B85D-732B9616A35D}"/>
                    </a:ext>
                  </a:extLst>
                </p:cNvPr>
                <p:cNvSpPr txBox="1">
                  <a:spLocks noRot="1" noChangeAspect="1" noMove="1" noResize="1" noEditPoints="1" noAdjustHandles="1" noChangeArrowheads="1" noChangeShapeType="1" noTextEdit="1"/>
                </p:cNvSpPr>
                <p:nvPr/>
              </p:nvSpPr>
              <p:spPr bwMode="auto">
                <a:xfrm>
                  <a:off x="5376" y="3356"/>
                  <a:ext cx="336" cy="255"/>
                </a:xfrm>
                <a:prstGeom prst="rect">
                  <a:avLst/>
                </a:prstGeom>
                <a:blipFill>
                  <a:blip r:embed="rId23"/>
                  <a:stretch>
                    <a:fillRect/>
                  </a:stretch>
                </a:blipFill>
              </p:spPr>
              <p:txBody>
                <a:bodyPr/>
                <a:lstStyle/>
                <a:p>
                  <a:r>
                    <a:rPr lang="en-US">
                      <a:noFill/>
                    </a:rPr>
                    <a:t> </a:t>
                  </a:r>
                </a:p>
              </p:txBody>
            </p:sp>
          </mc:Fallback>
        </mc:AlternateContent>
        <p:sp>
          <p:nvSpPr>
            <p:cNvPr id="75" name="Line 402">
              <a:extLst>
                <a:ext uri="{FF2B5EF4-FFF2-40B4-BE49-F238E27FC236}">
                  <a16:creationId xmlns:a16="http://schemas.microsoft.com/office/drawing/2014/main" id="{743EC672-F73B-456B-833D-E9EE833636EF}"/>
                </a:ext>
              </a:extLst>
            </p:cNvPr>
            <p:cNvSpPr>
              <a:spLocks noChangeShapeType="1"/>
            </p:cNvSpPr>
            <p:nvPr/>
          </p:nvSpPr>
          <p:spPr bwMode="auto">
            <a:xfrm>
              <a:off x="4848" y="2540"/>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grpSp>
      <mc:AlternateContent xmlns:mc="http://schemas.openxmlformats.org/markup-compatibility/2006" xmlns:a14="http://schemas.microsoft.com/office/drawing/2010/main">
        <mc:Choice Requires="a14">
          <p:sp>
            <p:nvSpPr>
              <p:cNvPr id="91" name="Object 419">
                <a:extLst>
                  <a:ext uri="{FF2B5EF4-FFF2-40B4-BE49-F238E27FC236}">
                    <a16:creationId xmlns:a16="http://schemas.microsoft.com/office/drawing/2014/main" id="{5787211E-DF39-4471-99F8-DC0BFC187BCC}"/>
                  </a:ext>
                </a:extLst>
              </p:cNvPr>
              <p:cNvSpPr txBox="1"/>
              <p:nvPr/>
            </p:nvSpPr>
            <p:spPr bwMode="auto">
              <a:xfrm>
                <a:off x="6221096" y="4530724"/>
                <a:ext cx="2867025" cy="557212"/>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如</m:t>
                      </m:r>
                      <m:r>
                        <m:rPr>
                          <m:nor/>
                        </m:rPr>
                        <a:rPr lang="zh-CN" altLang="en-US" sz="2800" i="0">
                          <a:solidFill>
                            <a:srgbClr val="000000"/>
                          </a:solidFill>
                        </a:rPr>
                        <m:t>  </m:t>
                      </m:r>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r>
                        <a:rPr lang="zh-CN" altLang="en-US" sz="2800" b="0" i="1" smtClean="0">
                          <a:solidFill>
                            <a:srgbClr val="000000"/>
                          </a:solidFill>
                          <a:latin typeface="Cambria Math" panose="02040503050406030204" pitchFamily="18" charset="0"/>
                        </a:rPr>
                        <m:t>&gt;0</m:t>
                      </m:r>
                    </m:oMath>
                  </m:oMathPara>
                </a14:m>
                <a:endParaRPr lang="zh-CN" altLang="en-US" sz="2800" dirty="0"/>
              </a:p>
            </p:txBody>
          </p:sp>
        </mc:Choice>
        <mc:Fallback xmlns="">
          <p:sp>
            <p:nvSpPr>
              <p:cNvPr id="91" name="Object 419">
                <a:extLst>
                  <a:ext uri="{FF2B5EF4-FFF2-40B4-BE49-F238E27FC236}">
                    <a16:creationId xmlns:a16="http://schemas.microsoft.com/office/drawing/2014/main" id="{5787211E-DF39-4471-99F8-DC0BFC187BCC}"/>
                  </a:ext>
                </a:extLst>
              </p:cNvPr>
              <p:cNvSpPr txBox="1">
                <a:spLocks noRot="1" noChangeAspect="1" noMove="1" noResize="1" noEditPoints="1" noAdjustHandles="1" noChangeArrowheads="1" noChangeShapeType="1" noTextEdit="1"/>
              </p:cNvSpPr>
              <p:nvPr/>
            </p:nvSpPr>
            <p:spPr bwMode="auto">
              <a:xfrm>
                <a:off x="6221096" y="4530724"/>
                <a:ext cx="2867025" cy="557212"/>
              </a:xfrm>
              <a:prstGeom prst="rect">
                <a:avLst/>
              </a:prstGeom>
              <a:blipFill>
                <a:blip r:embed="rId24"/>
                <a:stretch>
                  <a:fillRect/>
                </a:stretch>
              </a:blipFill>
            </p:spPr>
            <p:txBody>
              <a:bodyPr/>
              <a:lstStyle/>
              <a:p>
                <a:r>
                  <a:rPr lang="en-US">
                    <a:noFill/>
                  </a:rPr>
                  <a:t> </a:t>
                </a:r>
              </a:p>
            </p:txBody>
          </p:sp>
        </mc:Fallback>
      </mc:AlternateContent>
      <p:sp>
        <p:nvSpPr>
          <p:cNvPr id="92" name="Rectangle 420">
            <a:extLst>
              <a:ext uri="{FF2B5EF4-FFF2-40B4-BE49-F238E27FC236}">
                <a16:creationId xmlns:a16="http://schemas.microsoft.com/office/drawing/2014/main" id="{2F80B0CD-4CA7-4A7D-AB8F-E6638E213ACD}"/>
              </a:ext>
            </a:extLst>
          </p:cNvPr>
          <p:cNvSpPr>
            <a:spLocks noChangeArrowheads="1"/>
          </p:cNvSpPr>
          <p:nvPr/>
        </p:nvSpPr>
        <p:spPr bwMode="auto">
          <a:xfrm>
            <a:off x="8652351" y="4521199"/>
            <a:ext cx="34996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违背热力学第二定律</a:t>
            </a:r>
          </a:p>
        </p:txBody>
      </p:sp>
      <mc:AlternateContent xmlns:mc="http://schemas.openxmlformats.org/markup-compatibility/2006" xmlns:a14="http://schemas.microsoft.com/office/drawing/2010/main">
        <mc:Choice Requires="a14">
          <p:sp>
            <p:nvSpPr>
              <p:cNvPr id="96" name="Object 421">
                <a:extLst>
                  <a:ext uri="{FF2B5EF4-FFF2-40B4-BE49-F238E27FC236}">
                    <a16:creationId xmlns:a16="http://schemas.microsoft.com/office/drawing/2014/main" id="{7E836855-4B80-4745-8EBA-35B66B86D8F4}"/>
                  </a:ext>
                </a:extLst>
              </p:cNvPr>
              <p:cNvSpPr txBox="1"/>
              <p:nvPr/>
            </p:nvSpPr>
            <p:spPr bwMode="auto">
              <a:xfrm>
                <a:off x="6693376" y="5158420"/>
                <a:ext cx="2347912" cy="4064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m:t>
                      </m:r>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r>
                        <a:rPr lang="zh-CN" altLang="en-US" sz="2800" b="0" i="1" smtClean="0">
                          <a:solidFill>
                            <a:srgbClr val="000000"/>
                          </a:solidFill>
                          <a:latin typeface="Cambria Math" panose="02040503050406030204" pitchFamily="18" charset="0"/>
                        </a:rPr>
                        <m:t>≤0</m:t>
                      </m:r>
                    </m:oMath>
                  </m:oMathPara>
                </a14:m>
                <a:endParaRPr lang="zh-CN" altLang="en-US" sz="2800" dirty="0"/>
              </a:p>
            </p:txBody>
          </p:sp>
        </mc:Choice>
        <mc:Fallback xmlns="">
          <p:sp>
            <p:nvSpPr>
              <p:cNvPr id="96" name="Object 421">
                <a:extLst>
                  <a:ext uri="{FF2B5EF4-FFF2-40B4-BE49-F238E27FC236}">
                    <a16:creationId xmlns:a16="http://schemas.microsoft.com/office/drawing/2014/main" id="{7E836855-4B80-4745-8EBA-35B66B86D8F4}"/>
                  </a:ext>
                </a:extLst>
              </p:cNvPr>
              <p:cNvSpPr txBox="1">
                <a:spLocks noRot="1" noChangeAspect="1" noMove="1" noResize="1" noEditPoints="1" noAdjustHandles="1" noChangeArrowheads="1" noChangeShapeType="1" noTextEdit="1"/>
              </p:cNvSpPr>
              <p:nvPr/>
            </p:nvSpPr>
            <p:spPr bwMode="auto">
              <a:xfrm>
                <a:off x="6693376" y="5158420"/>
                <a:ext cx="2347912" cy="406400"/>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Object 422">
                <a:extLst>
                  <a:ext uri="{FF2B5EF4-FFF2-40B4-BE49-F238E27FC236}">
                    <a16:creationId xmlns:a16="http://schemas.microsoft.com/office/drawing/2014/main" id="{3D304A48-CC43-42BD-B347-AE745B92AB53}"/>
                  </a:ext>
                </a:extLst>
              </p:cNvPr>
              <p:cNvSpPr txBox="1"/>
              <p:nvPr/>
            </p:nvSpPr>
            <p:spPr bwMode="auto">
              <a:xfrm>
                <a:off x="9404825" y="5158420"/>
                <a:ext cx="1420813"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97" name="Object 422">
                <a:extLst>
                  <a:ext uri="{FF2B5EF4-FFF2-40B4-BE49-F238E27FC236}">
                    <a16:creationId xmlns:a16="http://schemas.microsoft.com/office/drawing/2014/main" id="{3D304A48-CC43-42BD-B347-AE745B92AB53}"/>
                  </a:ext>
                </a:extLst>
              </p:cNvPr>
              <p:cNvSpPr txBox="1">
                <a:spLocks noRot="1" noChangeAspect="1" noMove="1" noResize="1" noEditPoints="1" noAdjustHandles="1" noChangeArrowheads="1" noChangeShapeType="1" noTextEdit="1"/>
              </p:cNvSpPr>
              <p:nvPr/>
            </p:nvSpPr>
            <p:spPr bwMode="auto">
              <a:xfrm>
                <a:off x="9404825" y="5158420"/>
                <a:ext cx="1420813" cy="493713"/>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Object 424">
                <a:extLst>
                  <a:ext uri="{FF2B5EF4-FFF2-40B4-BE49-F238E27FC236}">
                    <a16:creationId xmlns:a16="http://schemas.microsoft.com/office/drawing/2014/main" id="{59238786-57B9-43F9-83E9-1573E595B97F}"/>
                  </a:ext>
                </a:extLst>
              </p:cNvPr>
              <p:cNvSpPr txBox="1"/>
              <p:nvPr/>
            </p:nvSpPr>
            <p:spPr bwMode="auto">
              <a:xfrm>
                <a:off x="6603684" y="5678821"/>
                <a:ext cx="4741861" cy="9906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𝜂</m:t>
                      </m:r>
                      <m:r>
                        <a:rPr lang="zh-CN" altLang="en-US" sz="2800" b="0" i="1" smtClean="0">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den>
                      </m:f>
                      <m:r>
                        <a:rPr lang="zh-CN" altLang="en-US" sz="2800" b="0" i="1" smtClean="0">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num>
                        <m:den>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den>
                      </m:f>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𝜂</m:t>
                          </m:r>
                        </m:e>
                        <m:sup>
                          <m:r>
                            <a:rPr lang="zh-CN" altLang="en-US" sz="2800" b="0" i="1" smtClean="0">
                              <a:solidFill>
                                <a:srgbClr val="000000"/>
                              </a:solidFill>
                              <a:latin typeface="Cambria Math" panose="02040503050406030204" pitchFamily="18" charset="0"/>
                            </a:rPr>
                            <m:t>′</m:t>
                          </m:r>
                        </m:sup>
                      </m:sSup>
                    </m:oMath>
                  </m:oMathPara>
                </a14:m>
                <a:endParaRPr lang="zh-CN" altLang="en-US" sz="2800" dirty="0"/>
              </a:p>
            </p:txBody>
          </p:sp>
        </mc:Choice>
        <mc:Fallback xmlns="">
          <p:sp>
            <p:nvSpPr>
              <p:cNvPr id="98" name="Object 424">
                <a:extLst>
                  <a:ext uri="{FF2B5EF4-FFF2-40B4-BE49-F238E27FC236}">
                    <a16:creationId xmlns:a16="http://schemas.microsoft.com/office/drawing/2014/main" id="{59238786-57B9-43F9-83E9-1573E595B97F}"/>
                  </a:ext>
                </a:extLst>
              </p:cNvPr>
              <p:cNvSpPr txBox="1">
                <a:spLocks noRot="1" noChangeAspect="1" noMove="1" noResize="1" noEditPoints="1" noAdjustHandles="1" noChangeArrowheads="1" noChangeShapeType="1" noTextEdit="1"/>
              </p:cNvSpPr>
              <p:nvPr/>
            </p:nvSpPr>
            <p:spPr bwMode="auto">
              <a:xfrm>
                <a:off x="6603684" y="5678821"/>
                <a:ext cx="4741861" cy="990600"/>
              </a:xfrm>
              <a:prstGeom prst="rect">
                <a:avLst/>
              </a:prstGeom>
              <a:blipFill>
                <a:blip r:embed="rId2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801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91" grpId="0"/>
      <p:bldP spid="92" grpId="0"/>
      <p:bldP spid="96" grpId="0"/>
      <p:bldP spid="97" grpId="0"/>
      <p:bldP spid="9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oup 405">
            <a:extLst>
              <a:ext uri="{FF2B5EF4-FFF2-40B4-BE49-F238E27FC236}">
                <a16:creationId xmlns:a16="http://schemas.microsoft.com/office/drawing/2014/main" id="{970BEFD8-7F5B-4119-A0BB-2C5889663147}"/>
              </a:ext>
            </a:extLst>
          </p:cNvPr>
          <p:cNvGrpSpPr>
            <a:grpSpLocks/>
          </p:cNvGrpSpPr>
          <p:nvPr/>
        </p:nvGrpSpPr>
        <p:grpSpPr bwMode="auto">
          <a:xfrm>
            <a:off x="5499576" y="1925638"/>
            <a:ext cx="5027611" cy="1657350"/>
            <a:chOff x="2544" y="2700"/>
            <a:chExt cx="3024" cy="1044"/>
          </a:xfrm>
        </p:grpSpPr>
        <p:sp>
          <p:nvSpPr>
            <p:cNvPr id="94" name="AutoShape 403">
              <a:extLst>
                <a:ext uri="{FF2B5EF4-FFF2-40B4-BE49-F238E27FC236}">
                  <a16:creationId xmlns:a16="http://schemas.microsoft.com/office/drawing/2014/main" id="{860B3D7B-C505-4813-9087-EFDB9A32218A}"/>
                </a:ext>
              </a:extLst>
            </p:cNvPr>
            <p:cNvSpPr>
              <a:spLocks noChangeArrowheads="1"/>
            </p:cNvSpPr>
            <p:nvPr/>
          </p:nvSpPr>
          <p:spPr bwMode="auto">
            <a:xfrm>
              <a:off x="2640" y="2736"/>
              <a:ext cx="2928" cy="1008"/>
            </a:xfrm>
            <a:prstGeom prst="leftArrowCallout">
              <a:avLst>
                <a:gd name="adj1" fmla="val 14583"/>
                <a:gd name="adj2" fmla="val 25000"/>
                <a:gd name="adj3" fmla="val 48413"/>
                <a:gd name="adj4" fmla="val 73329"/>
              </a:avLst>
            </a:prstGeom>
            <a:solidFill>
              <a:schemeClr val="bg1"/>
            </a:solidFill>
            <a:ln w="28575">
              <a:solidFill>
                <a:schemeClr val="accent2"/>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mc:AlternateContent xmlns:mc="http://schemas.openxmlformats.org/markup-compatibility/2006" xmlns:a14="http://schemas.microsoft.com/office/drawing/2010/main">
          <mc:Choice Requires="a14">
            <p:sp>
              <p:nvSpPr>
                <p:cNvPr id="95" name="Object 383">
                  <a:extLst>
                    <a:ext uri="{FF2B5EF4-FFF2-40B4-BE49-F238E27FC236}">
                      <a16:creationId xmlns:a16="http://schemas.microsoft.com/office/drawing/2014/main" id="{5568DF72-7269-4A6A-890B-3A7A8A07EF78}"/>
                    </a:ext>
                  </a:extLst>
                </p:cNvPr>
                <p:cNvSpPr txBox="1"/>
                <p:nvPr/>
              </p:nvSpPr>
              <p:spPr bwMode="auto">
                <a:xfrm>
                  <a:off x="2544" y="2700"/>
                  <a:ext cx="864" cy="276"/>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95" name="Object 383">
                  <a:extLst>
                    <a:ext uri="{FF2B5EF4-FFF2-40B4-BE49-F238E27FC236}">
                      <a16:creationId xmlns:a16="http://schemas.microsoft.com/office/drawing/2014/main" id="{5568DF72-7269-4A6A-890B-3A7A8A07EF78}"/>
                    </a:ext>
                  </a:extLst>
                </p:cNvPr>
                <p:cNvSpPr txBox="1">
                  <a:spLocks noRot="1" noChangeAspect="1" noMove="1" noResize="1" noEditPoints="1" noAdjustHandles="1" noChangeArrowheads="1" noChangeShapeType="1" noTextEdit="1"/>
                </p:cNvSpPr>
                <p:nvPr/>
              </p:nvSpPr>
              <p:spPr bwMode="auto">
                <a:xfrm>
                  <a:off x="2544" y="2700"/>
                  <a:ext cx="864" cy="276"/>
                </a:xfrm>
                <a:prstGeom prst="rect">
                  <a:avLst/>
                </a:prstGeom>
                <a:blipFill>
                  <a:blip r:embed="rId2"/>
                  <a:stretch>
                    <a:fillRect/>
                  </a:stretch>
                </a:blipFill>
              </p:spPr>
              <p:txBody>
                <a:bodyPr/>
                <a:lstStyle/>
                <a:p>
                  <a:r>
                    <a:rPr lang="en-US">
                      <a:noFill/>
                    </a:rPr>
                    <a:t> </a:t>
                  </a:r>
                </a:p>
              </p:txBody>
            </p:sp>
          </mc:Fallback>
        </mc:AlternateContent>
      </p:grpSp>
      <p:sp>
        <p:nvSpPr>
          <p:cNvPr id="2" name="Text Box 13">
            <a:hlinkClick r:id="" action="ppaction://noaction"/>
            <a:extLst>
              <a:ext uri="{FF2B5EF4-FFF2-40B4-BE49-F238E27FC236}">
                <a16:creationId xmlns:a16="http://schemas.microsoft.com/office/drawing/2014/main" id="{30545881-65B5-4AE6-80F2-B7E32B392B13}"/>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卡诺定理</a:t>
            </a:r>
            <a:endParaRPr kumimoji="1" lang="zh-CN" altLang="en-US" sz="3200" dirty="0">
              <a:solidFill>
                <a:srgbClr val="0066FF"/>
              </a:solidFill>
              <a:latin typeface="+mn-lt"/>
              <a:ea typeface="+mn-ea"/>
              <a:cs typeface="Times New Roman" panose="02020603050405020304" pitchFamily="18" charset="0"/>
            </a:endParaRPr>
          </a:p>
        </p:txBody>
      </p:sp>
      <p:grpSp>
        <p:nvGrpSpPr>
          <p:cNvPr id="3" name="Group 433">
            <a:extLst>
              <a:ext uri="{FF2B5EF4-FFF2-40B4-BE49-F238E27FC236}">
                <a16:creationId xmlns:a16="http://schemas.microsoft.com/office/drawing/2014/main" id="{CAE50B94-E02B-4696-A09B-23CB3303AE3C}"/>
              </a:ext>
            </a:extLst>
          </p:cNvPr>
          <p:cNvGrpSpPr>
            <a:grpSpLocks/>
          </p:cNvGrpSpPr>
          <p:nvPr/>
        </p:nvGrpSpPr>
        <p:grpSpPr bwMode="auto">
          <a:xfrm>
            <a:off x="673019" y="1371587"/>
            <a:ext cx="3962400" cy="3276600"/>
            <a:chOff x="144" y="2208"/>
            <a:chExt cx="2496" cy="2064"/>
          </a:xfrm>
        </p:grpSpPr>
        <p:sp>
          <p:nvSpPr>
            <p:cNvPr id="4" name="Rectangle 309">
              <a:extLst>
                <a:ext uri="{FF2B5EF4-FFF2-40B4-BE49-F238E27FC236}">
                  <a16:creationId xmlns:a16="http://schemas.microsoft.com/office/drawing/2014/main" id="{BD01963D-F349-4A40-99C7-30AE37B227AE}"/>
                </a:ext>
              </a:extLst>
            </p:cNvPr>
            <p:cNvSpPr>
              <a:spLocks noChangeArrowheads="1"/>
            </p:cNvSpPr>
            <p:nvPr/>
          </p:nvSpPr>
          <p:spPr bwMode="auto">
            <a:xfrm>
              <a:off x="148" y="2222"/>
              <a:ext cx="2248" cy="328"/>
            </a:xfrm>
            <a:prstGeom prst="rect">
              <a:avLst/>
            </a:prstGeom>
            <a:solidFill>
              <a:srgbClr val="FF6699"/>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5" name="Rectangle 310">
              <a:extLst>
                <a:ext uri="{FF2B5EF4-FFF2-40B4-BE49-F238E27FC236}">
                  <a16:creationId xmlns:a16="http://schemas.microsoft.com/office/drawing/2014/main" id="{BD8CB748-9B03-4B9A-8CB5-A488E876261B}"/>
                </a:ext>
              </a:extLst>
            </p:cNvPr>
            <p:cNvSpPr>
              <a:spLocks noChangeArrowheads="1"/>
            </p:cNvSpPr>
            <p:nvPr/>
          </p:nvSpPr>
          <p:spPr bwMode="auto">
            <a:xfrm>
              <a:off x="148" y="3806"/>
              <a:ext cx="2248" cy="328"/>
            </a:xfrm>
            <a:prstGeom prst="rect">
              <a:avLst/>
            </a:prstGeom>
            <a:solidFill>
              <a:schemeClr val="bg2"/>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6" name="Rectangle 320">
              <a:extLst>
                <a:ext uri="{FF2B5EF4-FFF2-40B4-BE49-F238E27FC236}">
                  <a16:creationId xmlns:a16="http://schemas.microsoft.com/office/drawing/2014/main" id="{3DB4C091-DBD0-4FCD-ABB1-5E3CEB5A9945}"/>
                </a:ext>
              </a:extLst>
            </p:cNvPr>
            <p:cNvSpPr>
              <a:spLocks noChangeArrowheads="1"/>
            </p:cNvSpPr>
            <p:nvPr/>
          </p:nvSpPr>
          <p:spPr bwMode="auto">
            <a:xfrm>
              <a:off x="1046" y="2208"/>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p:sp>
          <p:nvSpPr>
            <p:cNvPr id="7" name="Rectangle 321">
              <a:extLst>
                <a:ext uri="{FF2B5EF4-FFF2-40B4-BE49-F238E27FC236}">
                  <a16:creationId xmlns:a16="http://schemas.microsoft.com/office/drawing/2014/main" id="{404BA194-75E5-4521-B474-C7EAEC26B5D8}"/>
                </a:ext>
              </a:extLst>
            </p:cNvPr>
            <p:cNvSpPr>
              <a:spLocks noChangeArrowheads="1"/>
            </p:cNvSpPr>
            <p:nvPr/>
          </p:nvSpPr>
          <p:spPr bwMode="auto">
            <a:xfrm>
              <a:off x="950" y="2256"/>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latin typeface="+mn-lt"/>
                  <a:ea typeface="+mn-ea"/>
                </a:rPr>
                <a:t>T</a:t>
              </a:r>
              <a:r>
                <a:rPr lang="en-US" altLang="zh-CN" b="0" i="1" baseline="-25000">
                  <a:latin typeface="+mn-lt"/>
                  <a:ea typeface="+mn-ea"/>
                </a:rPr>
                <a:t>1</a:t>
              </a:r>
              <a:r>
                <a:rPr lang="zh-CN" altLang="en-US" b="0">
                  <a:latin typeface="+mn-lt"/>
                  <a:ea typeface="+mn-ea"/>
                </a:rPr>
                <a:t>热库</a:t>
              </a:r>
            </a:p>
          </p:txBody>
        </p:sp>
        <p:sp>
          <p:nvSpPr>
            <p:cNvPr id="8" name="Rectangle 322">
              <a:extLst>
                <a:ext uri="{FF2B5EF4-FFF2-40B4-BE49-F238E27FC236}">
                  <a16:creationId xmlns:a16="http://schemas.microsoft.com/office/drawing/2014/main" id="{E8676988-DD4E-4D3E-B50F-6E9E12FDA811}"/>
                </a:ext>
              </a:extLst>
            </p:cNvPr>
            <p:cNvSpPr>
              <a:spLocks noChangeArrowheads="1"/>
            </p:cNvSpPr>
            <p:nvPr/>
          </p:nvSpPr>
          <p:spPr bwMode="auto">
            <a:xfrm>
              <a:off x="998" y="3792"/>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solidFill>
                    <a:srgbClr val="FF0000"/>
                  </a:solidFill>
                  <a:latin typeface="+mn-lt"/>
                  <a:ea typeface="+mn-ea"/>
                </a:rPr>
                <a:t>T</a:t>
              </a:r>
              <a:r>
                <a:rPr lang="en-US" altLang="zh-CN" b="0" i="1" baseline="-25000">
                  <a:solidFill>
                    <a:srgbClr val="FF0000"/>
                  </a:solidFill>
                  <a:latin typeface="+mn-lt"/>
                  <a:ea typeface="+mn-ea"/>
                </a:rPr>
                <a:t>2</a:t>
              </a:r>
              <a:r>
                <a:rPr lang="zh-CN" altLang="en-US" b="0">
                  <a:solidFill>
                    <a:srgbClr val="FF0000"/>
                  </a:solidFill>
                  <a:latin typeface="+mn-lt"/>
                  <a:ea typeface="+mn-ea"/>
                </a:rPr>
                <a:t>热库</a:t>
              </a:r>
              <a:endParaRPr lang="zh-CN" altLang="en-US" b="0" i="1">
                <a:solidFill>
                  <a:srgbClr val="FF0000"/>
                </a:solidFill>
                <a:latin typeface="+mn-lt"/>
                <a:ea typeface="+mn-ea"/>
              </a:endParaRPr>
            </a:p>
          </p:txBody>
        </p:sp>
        <p:sp>
          <p:nvSpPr>
            <p:cNvPr id="9" name="Oval 324">
              <a:extLst>
                <a:ext uri="{FF2B5EF4-FFF2-40B4-BE49-F238E27FC236}">
                  <a16:creationId xmlns:a16="http://schemas.microsoft.com/office/drawing/2014/main" id="{81CF12DD-64D8-46E6-B2E0-A2C38569DA33}"/>
                </a:ext>
              </a:extLst>
            </p:cNvPr>
            <p:cNvSpPr>
              <a:spLocks noChangeArrowheads="1"/>
            </p:cNvSpPr>
            <p:nvPr/>
          </p:nvSpPr>
          <p:spPr bwMode="auto">
            <a:xfrm>
              <a:off x="1440" y="2980"/>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10" name="Line 325">
              <a:extLst>
                <a:ext uri="{FF2B5EF4-FFF2-40B4-BE49-F238E27FC236}">
                  <a16:creationId xmlns:a16="http://schemas.microsoft.com/office/drawing/2014/main" id="{741F2637-AB9A-4A4B-9C30-D2C58D48ED38}"/>
                </a:ext>
              </a:extLst>
            </p:cNvPr>
            <p:cNvSpPr>
              <a:spLocks noChangeShapeType="1"/>
            </p:cNvSpPr>
            <p:nvPr/>
          </p:nvSpPr>
          <p:spPr bwMode="auto">
            <a:xfrm>
              <a:off x="1580" y="2544"/>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11" name="Line 326">
              <a:extLst>
                <a:ext uri="{FF2B5EF4-FFF2-40B4-BE49-F238E27FC236}">
                  <a16:creationId xmlns:a16="http://schemas.microsoft.com/office/drawing/2014/main" id="{13186489-1FB4-4D2A-8613-920C7CC2249D}"/>
                </a:ext>
              </a:extLst>
            </p:cNvPr>
            <p:cNvSpPr>
              <a:spLocks noChangeShapeType="1"/>
            </p:cNvSpPr>
            <p:nvPr/>
          </p:nvSpPr>
          <p:spPr bwMode="auto">
            <a:xfrm>
              <a:off x="1868" y="2352"/>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12" name="Line 327">
              <a:extLst>
                <a:ext uri="{FF2B5EF4-FFF2-40B4-BE49-F238E27FC236}">
                  <a16:creationId xmlns:a16="http://schemas.microsoft.com/office/drawing/2014/main" id="{BD64E867-D191-4885-B95A-E231CC96791C}"/>
                </a:ext>
              </a:extLst>
            </p:cNvPr>
            <p:cNvSpPr>
              <a:spLocks noChangeShapeType="1"/>
            </p:cNvSpPr>
            <p:nvPr/>
          </p:nvSpPr>
          <p:spPr bwMode="auto">
            <a:xfrm>
              <a:off x="1772" y="3696"/>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13" name="Line 328">
              <a:extLst>
                <a:ext uri="{FF2B5EF4-FFF2-40B4-BE49-F238E27FC236}">
                  <a16:creationId xmlns:a16="http://schemas.microsoft.com/office/drawing/2014/main" id="{CD3E72FE-B7B7-48BE-8AFB-CDD9CFC20DDF}"/>
                </a:ext>
              </a:extLst>
            </p:cNvPr>
            <p:cNvSpPr>
              <a:spLocks noChangeShapeType="1"/>
            </p:cNvSpPr>
            <p:nvPr/>
          </p:nvSpPr>
          <p:spPr bwMode="auto">
            <a:xfrm>
              <a:off x="1916" y="3360"/>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14" name="Line 329">
              <a:extLst>
                <a:ext uri="{FF2B5EF4-FFF2-40B4-BE49-F238E27FC236}">
                  <a16:creationId xmlns:a16="http://schemas.microsoft.com/office/drawing/2014/main" id="{B46EC9A2-5930-465F-8947-DA97D5611985}"/>
                </a:ext>
              </a:extLst>
            </p:cNvPr>
            <p:cNvSpPr>
              <a:spLocks noChangeShapeType="1"/>
            </p:cNvSpPr>
            <p:nvPr/>
          </p:nvSpPr>
          <p:spPr bwMode="auto">
            <a:xfrm>
              <a:off x="2108" y="2544"/>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15" name="Rectangle 330">
              <a:extLst>
                <a:ext uri="{FF2B5EF4-FFF2-40B4-BE49-F238E27FC236}">
                  <a16:creationId xmlns:a16="http://schemas.microsoft.com/office/drawing/2014/main" id="{253C5FE2-F6B9-4298-95DB-552D0045148D}"/>
                </a:ext>
              </a:extLst>
            </p:cNvPr>
            <p:cNvSpPr>
              <a:spLocks noChangeArrowheads="1"/>
            </p:cNvSpPr>
            <p:nvPr/>
          </p:nvSpPr>
          <p:spPr bwMode="auto">
            <a:xfrm>
              <a:off x="1635" y="3446"/>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16" name="Rectangle 331">
              <a:extLst>
                <a:ext uri="{FF2B5EF4-FFF2-40B4-BE49-F238E27FC236}">
                  <a16:creationId xmlns:a16="http://schemas.microsoft.com/office/drawing/2014/main" id="{9C9508CA-8FD8-415D-AAC6-7C280CC36601}"/>
                </a:ext>
              </a:extLst>
            </p:cNvPr>
            <p:cNvSpPr>
              <a:spLocks noChangeArrowheads="1"/>
            </p:cNvSpPr>
            <p:nvPr/>
          </p:nvSpPr>
          <p:spPr bwMode="auto">
            <a:xfrm>
              <a:off x="1714" y="2678"/>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17" name="Arc 332">
              <a:extLst>
                <a:ext uri="{FF2B5EF4-FFF2-40B4-BE49-F238E27FC236}">
                  <a16:creationId xmlns:a16="http://schemas.microsoft.com/office/drawing/2014/main" id="{E16D545D-6442-4F24-8D3D-B85841141CD0}"/>
                </a:ext>
              </a:extLst>
            </p:cNvPr>
            <p:cNvSpPr>
              <a:spLocks/>
            </p:cNvSpPr>
            <p:nvPr/>
          </p:nvSpPr>
          <p:spPr bwMode="auto">
            <a:xfrm>
              <a:off x="1917" y="3360"/>
              <a:ext cx="57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18" name="Arc 333">
              <a:extLst>
                <a:ext uri="{FF2B5EF4-FFF2-40B4-BE49-F238E27FC236}">
                  <a16:creationId xmlns:a16="http://schemas.microsoft.com/office/drawing/2014/main" id="{80B9ADAB-E7AF-43BD-8E0D-925233D2D753}"/>
                </a:ext>
              </a:extLst>
            </p:cNvPr>
            <p:cNvSpPr>
              <a:spLocks/>
            </p:cNvSpPr>
            <p:nvPr/>
          </p:nvSpPr>
          <p:spPr bwMode="auto">
            <a:xfrm>
              <a:off x="2109" y="2976"/>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19" name="Line 334">
              <a:extLst>
                <a:ext uri="{FF2B5EF4-FFF2-40B4-BE49-F238E27FC236}">
                  <a16:creationId xmlns:a16="http://schemas.microsoft.com/office/drawing/2014/main" id="{A2236DE3-2A32-48DE-8059-E668DEAB27A5}"/>
                </a:ext>
              </a:extLst>
            </p:cNvPr>
            <p:cNvSpPr>
              <a:spLocks noChangeShapeType="1"/>
            </p:cNvSpPr>
            <p:nvPr/>
          </p:nvSpPr>
          <p:spPr bwMode="auto">
            <a:xfrm>
              <a:off x="2252" y="3312"/>
              <a:ext cx="340"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20" name="Rectangle 335">
              <a:extLst>
                <a:ext uri="{FF2B5EF4-FFF2-40B4-BE49-F238E27FC236}">
                  <a16:creationId xmlns:a16="http://schemas.microsoft.com/office/drawing/2014/main" id="{CEA8A38D-E189-4643-8F2A-2CFA3B5BE2BC}"/>
                </a:ext>
              </a:extLst>
            </p:cNvPr>
            <p:cNvSpPr>
              <a:spLocks noChangeArrowheads="1"/>
            </p:cNvSpPr>
            <p:nvPr/>
          </p:nvSpPr>
          <p:spPr bwMode="auto">
            <a:xfrm>
              <a:off x="2386" y="3014"/>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mc:AlternateContent xmlns:mc="http://schemas.openxmlformats.org/markup-compatibility/2006" xmlns:a14="http://schemas.microsoft.com/office/drawing/2010/main">
          <mc:Choice Requires="a14">
            <p:sp>
              <p:nvSpPr>
                <p:cNvPr id="21" name="Object 336">
                  <a:extLst>
                    <a:ext uri="{FF2B5EF4-FFF2-40B4-BE49-F238E27FC236}">
                      <a16:creationId xmlns:a16="http://schemas.microsoft.com/office/drawing/2014/main" id="{18F73667-CB4E-4135-A6AC-44FA6F7CC059}"/>
                    </a:ext>
                  </a:extLst>
                </p:cNvPr>
                <p:cNvSpPr txBox="1"/>
                <p:nvPr/>
              </p:nvSpPr>
              <p:spPr bwMode="auto">
                <a:xfrm>
                  <a:off x="1776" y="2688"/>
                  <a:ext cx="33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21" name="Object 336">
                  <a:extLst>
                    <a:ext uri="{FF2B5EF4-FFF2-40B4-BE49-F238E27FC236}">
                      <a16:creationId xmlns:a16="http://schemas.microsoft.com/office/drawing/2014/main" id="{18F73667-CB4E-4135-A6AC-44FA6F7CC059}"/>
                    </a:ext>
                  </a:extLst>
                </p:cNvPr>
                <p:cNvSpPr txBox="1">
                  <a:spLocks noRot="1" noChangeAspect="1" noMove="1" noResize="1" noEditPoints="1" noAdjustHandles="1" noChangeArrowheads="1" noChangeShapeType="1" noTextEdit="1"/>
                </p:cNvSpPr>
                <p:nvPr/>
              </p:nvSpPr>
              <p:spPr bwMode="auto">
                <a:xfrm>
                  <a:off x="1776" y="2688"/>
                  <a:ext cx="336" cy="31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337">
                  <a:extLst>
                    <a:ext uri="{FF2B5EF4-FFF2-40B4-BE49-F238E27FC236}">
                      <a16:creationId xmlns:a16="http://schemas.microsoft.com/office/drawing/2014/main" id="{CAB71FB8-8F3B-4D53-886F-05FB236799A0}"/>
                    </a:ext>
                  </a:extLst>
                </p:cNvPr>
                <p:cNvSpPr txBox="1"/>
                <p:nvPr/>
              </p:nvSpPr>
              <p:spPr bwMode="auto">
                <a:xfrm>
                  <a:off x="1584" y="3456"/>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22" name="Object 337">
                  <a:extLst>
                    <a:ext uri="{FF2B5EF4-FFF2-40B4-BE49-F238E27FC236}">
                      <a16:creationId xmlns:a16="http://schemas.microsoft.com/office/drawing/2014/main" id="{CAB71FB8-8F3B-4D53-886F-05FB236799A0}"/>
                    </a:ext>
                  </a:extLst>
                </p:cNvPr>
                <p:cNvSpPr txBox="1">
                  <a:spLocks noRot="1" noChangeAspect="1" noMove="1" noResize="1" noEditPoints="1" noAdjustHandles="1" noChangeArrowheads="1" noChangeShapeType="1" noTextEdit="1"/>
                </p:cNvSpPr>
                <p:nvPr/>
              </p:nvSpPr>
              <p:spPr bwMode="auto">
                <a:xfrm>
                  <a:off x="1584" y="3456"/>
                  <a:ext cx="356" cy="31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339">
                  <a:extLst>
                    <a:ext uri="{FF2B5EF4-FFF2-40B4-BE49-F238E27FC236}">
                      <a16:creationId xmlns:a16="http://schemas.microsoft.com/office/drawing/2014/main" id="{3BB39E64-8883-4222-8F47-20912ECF5BA3}"/>
                    </a:ext>
                  </a:extLst>
                </p:cNvPr>
                <p:cNvSpPr txBox="1"/>
                <p:nvPr/>
              </p:nvSpPr>
              <p:spPr bwMode="auto">
                <a:xfrm>
                  <a:off x="2328" y="3024"/>
                  <a:ext cx="312" cy="2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23" name="Object 339">
                  <a:extLst>
                    <a:ext uri="{FF2B5EF4-FFF2-40B4-BE49-F238E27FC236}">
                      <a16:creationId xmlns:a16="http://schemas.microsoft.com/office/drawing/2014/main" id="{3BB39E64-8883-4222-8F47-20912ECF5BA3}"/>
                    </a:ext>
                  </a:extLst>
                </p:cNvPr>
                <p:cNvSpPr txBox="1">
                  <a:spLocks noRot="1" noChangeAspect="1" noMove="1" noResize="1" noEditPoints="1" noAdjustHandles="1" noChangeArrowheads="1" noChangeShapeType="1" noTextEdit="1"/>
                </p:cNvSpPr>
                <p:nvPr/>
              </p:nvSpPr>
              <p:spPr bwMode="auto">
                <a:xfrm>
                  <a:off x="2328" y="3024"/>
                  <a:ext cx="312" cy="237"/>
                </a:xfrm>
                <a:prstGeom prst="rect">
                  <a:avLst/>
                </a:prstGeom>
                <a:blipFill>
                  <a:blip r:embed="rId5"/>
                  <a:stretch>
                    <a:fillRect b="-4918"/>
                  </a:stretch>
                </a:blipFill>
              </p:spPr>
              <p:txBody>
                <a:bodyPr/>
                <a:lstStyle/>
                <a:p>
                  <a:r>
                    <a:rPr lang="en-US">
                      <a:noFill/>
                    </a:rPr>
                    <a:t> </a:t>
                  </a:r>
                </a:p>
              </p:txBody>
            </p:sp>
          </mc:Fallback>
        </mc:AlternateContent>
        <p:grpSp>
          <p:nvGrpSpPr>
            <p:cNvPr id="24" name="Group 357">
              <a:extLst>
                <a:ext uri="{FF2B5EF4-FFF2-40B4-BE49-F238E27FC236}">
                  <a16:creationId xmlns:a16="http://schemas.microsoft.com/office/drawing/2014/main" id="{F768C05D-D31B-43D9-8ED6-24CA6CD798D8}"/>
                </a:ext>
              </a:extLst>
            </p:cNvPr>
            <p:cNvGrpSpPr>
              <a:grpSpLocks/>
            </p:cNvGrpSpPr>
            <p:nvPr/>
          </p:nvGrpSpPr>
          <p:grpSpPr bwMode="auto">
            <a:xfrm>
              <a:off x="144" y="2352"/>
              <a:ext cx="1200" cy="1728"/>
              <a:chOff x="768" y="0"/>
              <a:chExt cx="1200" cy="1728"/>
            </a:xfrm>
          </p:grpSpPr>
          <p:sp>
            <p:nvSpPr>
              <p:cNvPr id="28" name="Oval 341">
                <a:extLst>
                  <a:ext uri="{FF2B5EF4-FFF2-40B4-BE49-F238E27FC236}">
                    <a16:creationId xmlns:a16="http://schemas.microsoft.com/office/drawing/2014/main" id="{95F43430-C2C4-4895-9D6B-F0292196CE18}"/>
                  </a:ext>
                </a:extLst>
              </p:cNvPr>
              <p:cNvSpPr>
                <a:spLocks noChangeArrowheads="1"/>
              </p:cNvSpPr>
              <p:nvPr/>
            </p:nvSpPr>
            <p:spPr bwMode="auto">
              <a:xfrm>
                <a:off x="768" y="628"/>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9" name="Line 342">
                <a:extLst>
                  <a:ext uri="{FF2B5EF4-FFF2-40B4-BE49-F238E27FC236}">
                    <a16:creationId xmlns:a16="http://schemas.microsoft.com/office/drawing/2014/main" id="{247A8717-C849-4CAF-A43C-40A10B5C930C}"/>
                  </a:ext>
                </a:extLst>
              </p:cNvPr>
              <p:cNvSpPr>
                <a:spLocks noChangeShapeType="1"/>
              </p:cNvSpPr>
              <p:nvPr/>
            </p:nvSpPr>
            <p:spPr bwMode="auto">
              <a:xfrm>
                <a:off x="908" y="192"/>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30" name="Line 343">
                <a:extLst>
                  <a:ext uri="{FF2B5EF4-FFF2-40B4-BE49-F238E27FC236}">
                    <a16:creationId xmlns:a16="http://schemas.microsoft.com/office/drawing/2014/main" id="{67751C36-27AF-49C6-89E5-F11905D9390C}"/>
                  </a:ext>
                </a:extLst>
              </p:cNvPr>
              <p:cNvSpPr>
                <a:spLocks noChangeShapeType="1"/>
              </p:cNvSpPr>
              <p:nvPr/>
            </p:nvSpPr>
            <p:spPr bwMode="auto">
              <a:xfrm>
                <a:off x="1196" y="0"/>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31" name="Line 344">
                <a:extLst>
                  <a:ext uri="{FF2B5EF4-FFF2-40B4-BE49-F238E27FC236}">
                    <a16:creationId xmlns:a16="http://schemas.microsoft.com/office/drawing/2014/main" id="{3899F51E-B6A4-46FC-8D83-CFC363C33606}"/>
                  </a:ext>
                </a:extLst>
              </p:cNvPr>
              <p:cNvSpPr>
                <a:spLocks noChangeShapeType="1"/>
              </p:cNvSpPr>
              <p:nvPr/>
            </p:nvSpPr>
            <p:spPr bwMode="auto">
              <a:xfrm>
                <a:off x="1100" y="1344"/>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32" name="Line 345">
                <a:extLst>
                  <a:ext uri="{FF2B5EF4-FFF2-40B4-BE49-F238E27FC236}">
                    <a16:creationId xmlns:a16="http://schemas.microsoft.com/office/drawing/2014/main" id="{02B77656-55E1-4816-B662-408A1DDA48B3}"/>
                  </a:ext>
                </a:extLst>
              </p:cNvPr>
              <p:cNvSpPr>
                <a:spLocks noChangeShapeType="1"/>
              </p:cNvSpPr>
              <p:nvPr/>
            </p:nvSpPr>
            <p:spPr bwMode="auto">
              <a:xfrm>
                <a:off x="1244" y="1008"/>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33" name="Line 346">
                <a:extLst>
                  <a:ext uri="{FF2B5EF4-FFF2-40B4-BE49-F238E27FC236}">
                    <a16:creationId xmlns:a16="http://schemas.microsoft.com/office/drawing/2014/main" id="{3A2CAFEA-ADBB-4F59-BB96-869B157A2FCD}"/>
                  </a:ext>
                </a:extLst>
              </p:cNvPr>
              <p:cNvSpPr>
                <a:spLocks noChangeShapeType="1"/>
              </p:cNvSpPr>
              <p:nvPr/>
            </p:nvSpPr>
            <p:spPr bwMode="auto">
              <a:xfrm>
                <a:off x="1436" y="192"/>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34" name="Rectangle 347">
                <a:extLst>
                  <a:ext uri="{FF2B5EF4-FFF2-40B4-BE49-F238E27FC236}">
                    <a16:creationId xmlns:a16="http://schemas.microsoft.com/office/drawing/2014/main" id="{34E9D46D-BB2D-40D9-A8E9-DBF6B8BEC166}"/>
                  </a:ext>
                </a:extLst>
              </p:cNvPr>
              <p:cNvSpPr>
                <a:spLocks noChangeArrowheads="1"/>
              </p:cNvSpPr>
              <p:nvPr/>
            </p:nvSpPr>
            <p:spPr bwMode="auto">
              <a:xfrm>
                <a:off x="963" y="1094"/>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35" name="Rectangle 348">
                <a:extLst>
                  <a:ext uri="{FF2B5EF4-FFF2-40B4-BE49-F238E27FC236}">
                    <a16:creationId xmlns:a16="http://schemas.microsoft.com/office/drawing/2014/main" id="{D8EFE1C2-DB7A-4F9C-A8A7-1B01FB258EAC}"/>
                  </a:ext>
                </a:extLst>
              </p:cNvPr>
              <p:cNvSpPr>
                <a:spLocks noChangeArrowheads="1"/>
              </p:cNvSpPr>
              <p:nvPr/>
            </p:nvSpPr>
            <p:spPr bwMode="auto">
              <a:xfrm>
                <a:off x="1042" y="326"/>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36" name="Arc 349">
                <a:extLst>
                  <a:ext uri="{FF2B5EF4-FFF2-40B4-BE49-F238E27FC236}">
                    <a16:creationId xmlns:a16="http://schemas.microsoft.com/office/drawing/2014/main" id="{BA3C7D46-3A16-4825-8E41-2E8FCE610A2D}"/>
                  </a:ext>
                </a:extLst>
              </p:cNvPr>
              <p:cNvSpPr>
                <a:spLocks/>
              </p:cNvSpPr>
              <p:nvPr/>
            </p:nvSpPr>
            <p:spPr bwMode="auto">
              <a:xfrm>
                <a:off x="1245" y="1008"/>
                <a:ext cx="57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37" name="Arc 350">
                <a:extLst>
                  <a:ext uri="{FF2B5EF4-FFF2-40B4-BE49-F238E27FC236}">
                    <a16:creationId xmlns:a16="http://schemas.microsoft.com/office/drawing/2014/main" id="{83DC0874-BD49-4334-B4A0-8DA2367CBC9F}"/>
                  </a:ext>
                </a:extLst>
              </p:cNvPr>
              <p:cNvSpPr>
                <a:spLocks/>
              </p:cNvSpPr>
              <p:nvPr/>
            </p:nvSpPr>
            <p:spPr bwMode="auto">
              <a:xfrm>
                <a:off x="1437" y="624"/>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38" name="Line 351">
                <a:extLst>
                  <a:ext uri="{FF2B5EF4-FFF2-40B4-BE49-F238E27FC236}">
                    <a16:creationId xmlns:a16="http://schemas.microsoft.com/office/drawing/2014/main" id="{24508D85-ED20-4F1C-A3C1-B9E9F51ACBCD}"/>
                  </a:ext>
                </a:extLst>
              </p:cNvPr>
              <p:cNvSpPr>
                <a:spLocks noChangeShapeType="1"/>
              </p:cNvSpPr>
              <p:nvPr/>
            </p:nvSpPr>
            <p:spPr bwMode="auto">
              <a:xfrm>
                <a:off x="1580" y="960"/>
                <a:ext cx="388"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39" name="Rectangle 352">
                <a:extLst>
                  <a:ext uri="{FF2B5EF4-FFF2-40B4-BE49-F238E27FC236}">
                    <a16:creationId xmlns:a16="http://schemas.microsoft.com/office/drawing/2014/main" id="{CC5550C6-2BC2-48D4-A397-E538EC995B81}"/>
                  </a:ext>
                </a:extLst>
              </p:cNvPr>
              <p:cNvSpPr>
                <a:spLocks noChangeArrowheads="1"/>
              </p:cNvSpPr>
              <p:nvPr/>
            </p:nvSpPr>
            <p:spPr bwMode="auto">
              <a:xfrm>
                <a:off x="1714" y="662"/>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mc:AlternateContent xmlns:mc="http://schemas.openxmlformats.org/markup-compatibility/2006" xmlns:a14="http://schemas.microsoft.com/office/drawing/2010/main">
            <mc:Choice Requires="a14">
              <p:sp>
                <p:nvSpPr>
                  <p:cNvPr id="40" name="Object 353">
                    <a:extLst>
                      <a:ext uri="{FF2B5EF4-FFF2-40B4-BE49-F238E27FC236}">
                        <a16:creationId xmlns:a16="http://schemas.microsoft.com/office/drawing/2014/main" id="{0FE4EE29-D893-4A24-B751-0EA951CA440E}"/>
                      </a:ext>
                    </a:extLst>
                  </p:cNvPr>
                  <p:cNvSpPr txBox="1"/>
                  <p:nvPr/>
                </p:nvSpPr>
                <p:spPr bwMode="auto">
                  <a:xfrm>
                    <a:off x="1064" y="336"/>
                    <a:ext cx="311"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oMath>
                      </m:oMathPara>
                    </a14:m>
                    <a:endParaRPr lang="zh-CN" altLang="en-US" sz="2800"/>
                  </a:p>
                </p:txBody>
              </p:sp>
            </mc:Choice>
            <mc:Fallback xmlns="">
              <p:sp>
                <p:nvSpPr>
                  <p:cNvPr id="40" name="Object 353">
                    <a:extLst>
                      <a:ext uri="{FF2B5EF4-FFF2-40B4-BE49-F238E27FC236}">
                        <a16:creationId xmlns:a16="http://schemas.microsoft.com/office/drawing/2014/main" id="{0FE4EE29-D893-4A24-B751-0EA951CA440E}"/>
                      </a:ext>
                    </a:extLst>
                  </p:cNvPr>
                  <p:cNvSpPr txBox="1">
                    <a:spLocks noRot="1" noChangeAspect="1" noMove="1" noResize="1" noEditPoints="1" noAdjustHandles="1" noChangeArrowheads="1" noChangeShapeType="1" noTextEdit="1"/>
                  </p:cNvSpPr>
                  <p:nvPr/>
                </p:nvSpPr>
                <p:spPr bwMode="auto">
                  <a:xfrm>
                    <a:off x="1064" y="336"/>
                    <a:ext cx="311" cy="31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354">
                    <a:extLst>
                      <a:ext uri="{FF2B5EF4-FFF2-40B4-BE49-F238E27FC236}">
                        <a16:creationId xmlns:a16="http://schemas.microsoft.com/office/drawing/2014/main" id="{5D1991EA-10B9-4A58-B9F2-50AD0F9CEBB7}"/>
                      </a:ext>
                    </a:extLst>
                  </p:cNvPr>
                  <p:cNvSpPr txBox="1"/>
                  <p:nvPr/>
                </p:nvSpPr>
                <p:spPr bwMode="auto">
                  <a:xfrm>
                    <a:off x="936" y="1104"/>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oMath>
                      </m:oMathPara>
                    </a14:m>
                    <a:endParaRPr lang="zh-CN" altLang="en-US" sz="2800"/>
                  </a:p>
                </p:txBody>
              </p:sp>
            </mc:Choice>
            <mc:Fallback xmlns="">
              <p:sp>
                <p:nvSpPr>
                  <p:cNvPr id="41" name="Object 354">
                    <a:extLst>
                      <a:ext uri="{FF2B5EF4-FFF2-40B4-BE49-F238E27FC236}">
                        <a16:creationId xmlns:a16="http://schemas.microsoft.com/office/drawing/2014/main" id="{5D1991EA-10B9-4A58-B9F2-50AD0F9CEBB7}"/>
                      </a:ext>
                    </a:extLst>
                  </p:cNvPr>
                  <p:cNvSpPr txBox="1">
                    <a:spLocks noRot="1" noChangeAspect="1" noMove="1" noResize="1" noEditPoints="1" noAdjustHandles="1" noChangeArrowheads="1" noChangeShapeType="1" noTextEdit="1"/>
                  </p:cNvSpPr>
                  <p:nvPr/>
                </p:nvSpPr>
                <p:spPr bwMode="auto">
                  <a:xfrm>
                    <a:off x="936" y="1104"/>
                    <a:ext cx="356" cy="31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Object 355">
                    <a:extLst>
                      <a:ext uri="{FF2B5EF4-FFF2-40B4-BE49-F238E27FC236}">
                        <a16:creationId xmlns:a16="http://schemas.microsoft.com/office/drawing/2014/main" id="{301F6C84-5334-415E-98A0-67027B8038EC}"/>
                      </a:ext>
                    </a:extLst>
                  </p:cNvPr>
                  <p:cNvSpPr txBox="1"/>
                  <p:nvPr/>
                </p:nvSpPr>
                <p:spPr bwMode="auto">
                  <a:xfrm>
                    <a:off x="1653" y="672"/>
                    <a:ext cx="267" cy="2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oMath>
                      </m:oMathPara>
                    </a14:m>
                    <a:endParaRPr lang="zh-CN" altLang="en-US" sz="2800"/>
                  </a:p>
                </p:txBody>
              </p:sp>
            </mc:Choice>
            <mc:Fallback xmlns="">
              <p:sp>
                <p:nvSpPr>
                  <p:cNvPr id="42" name="Object 355">
                    <a:extLst>
                      <a:ext uri="{FF2B5EF4-FFF2-40B4-BE49-F238E27FC236}">
                        <a16:creationId xmlns:a16="http://schemas.microsoft.com/office/drawing/2014/main" id="{301F6C84-5334-415E-98A0-67027B8038EC}"/>
                      </a:ext>
                    </a:extLst>
                  </p:cNvPr>
                  <p:cNvSpPr txBox="1">
                    <a:spLocks noRot="1" noChangeAspect="1" noMove="1" noResize="1" noEditPoints="1" noAdjustHandles="1" noChangeArrowheads="1" noChangeShapeType="1" noTextEdit="1"/>
                  </p:cNvSpPr>
                  <p:nvPr/>
                </p:nvSpPr>
                <p:spPr bwMode="auto">
                  <a:xfrm>
                    <a:off x="1653" y="672"/>
                    <a:ext cx="267" cy="237"/>
                  </a:xfrm>
                  <a:prstGeom prst="rect">
                    <a:avLst/>
                  </a:prstGeom>
                  <a:blipFill>
                    <a:blip r:embed="rId8"/>
                    <a:stretch>
                      <a:fillRect b="-491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Object 359">
                  <a:extLst>
                    <a:ext uri="{FF2B5EF4-FFF2-40B4-BE49-F238E27FC236}">
                      <a16:creationId xmlns:a16="http://schemas.microsoft.com/office/drawing/2014/main" id="{4D8F9FF8-781B-4FC9-A128-192A72401259}"/>
                    </a:ext>
                  </a:extLst>
                </p:cNvPr>
                <p:cNvSpPr txBox="1"/>
                <p:nvPr/>
              </p:nvSpPr>
              <p:spPr bwMode="auto">
                <a:xfrm>
                  <a:off x="720" y="3504"/>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𝐶</m:t>
                        </m:r>
                      </m:oMath>
                    </m:oMathPara>
                  </a14:m>
                  <a:endParaRPr lang="zh-CN" altLang="en-US" sz="2800"/>
                </a:p>
              </p:txBody>
            </p:sp>
          </mc:Choice>
          <mc:Fallback xmlns="">
            <p:sp>
              <p:nvSpPr>
                <p:cNvPr id="25" name="Object 359">
                  <a:extLst>
                    <a:ext uri="{FF2B5EF4-FFF2-40B4-BE49-F238E27FC236}">
                      <a16:creationId xmlns:a16="http://schemas.microsoft.com/office/drawing/2014/main" id="{4D8F9FF8-781B-4FC9-A128-192A72401259}"/>
                    </a:ext>
                  </a:extLst>
                </p:cNvPr>
                <p:cNvSpPr txBox="1">
                  <a:spLocks noRot="1" noChangeAspect="1" noMove="1" noResize="1" noEditPoints="1" noAdjustHandles="1" noChangeArrowheads="1" noChangeShapeType="1" noTextEdit="1"/>
                </p:cNvSpPr>
                <p:nvPr/>
              </p:nvSpPr>
              <p:spPr bwMode="auto">
                <a:xfrm>
                  <a:off x="720" y="3504"/>
                  <a:ext cx="266" cy="25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360">
                  <a:extLst>
                    <a:ext uri="{FF2B5EF4-FFF2-40B4-BE49-F238E27FC236}">
                      <a16:creationId xmlns:a16="http://schemas.microsoft.com/office/drawing/2014/main" id="{CC1963C6-3990-4107-A1DA-D3CAE1F49BCA}"/>
                    </a:ext>
                  </a:extLst>
                </p:cNvPr>
                <p:cNvSpPr txBox="1"/>
                <p:nvPr/>
              </p:nvSpPr>
              <p:spPr bwMode="auto">
                <a:xfrm>
                  <a:off x="2016" y="3504"/>
                  <a:ext cx="33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𝐶</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26" name="Object 360">
                  <a:extLst>
                    <a:ext uri="{FF2B5EF4-FFF2-40B4-BE49-F238E27FC236}">
                      <a16:creationId xmlns:a16="http://schemas.microsoft.com/office/drawing/2014/main" id="{CC1963C6-3990-4107-A1DA-D3CAE1F49BCA}"/>
                    </a:ext>
                  </a:extLst>
                </p:cNvPr>
                <p:cNvSpPr txBox="1">
                  <a:spLocks noRot="1" noChangeAspect="1" noMove="1" noResize="1" noEditPoints="1" noAdjustHandles="1" noChangeArrowheads="1" noChangeShapeType="1" noTextEdit="1"/>
                </p:cNvSpPr>
                <p:nvPr/>
              </p:nvSpPr>
              <p:spPr bwMode="auto">
                <a:xfrm>
                  <a:off x="2016" y="3504"/>
                  <a:ext cx="336" cy="255"/>
                </a:xfrm>
                <a:prstGeom prst="rect">
                  <a:avLst/>
                </a:prstGeom>
                <a:blipFill>
                  <a:blip r:embed="rId10"/>
                  <a:stretch>
                    <a:fillRect/>
                  </a:stretch>
                </a:blipFill>
              </p:spPr>
              <p:txBody>
                <a:bodyPr/>
                <a:lstStyle/>
                <a:p>
                  <a:r>
                    <a:rPr lang="en-US">
                      <a:noFill/>
                    </a:rPr>
                    <a:t> </a:t>
                  </a:r>
                </a:p>
              </p:txBody>
            </p:sp>
          </mc:Fallback>
        </mc:AlternateContent>
        <p:sp>
          <p:nvSpPr>
            <p:cNvPr id="27" name="Rectangle 363">
              <a:extLst>
                <a:ext uri="{FF2B5EF4-FFF2-40B4-BE49-F238E27FC236}">
                  <a16:creationId xmlns:a16="http://schemas.microsoft.com/office/drawing/2014/main" id="{B0E59BA1-C5D3-4233-9F04-DAC4705BBF9D}"/>
                </a:ext>
              </a:extLst>
            </p:cNvPr>
            <p:cNvSpPr>
              <a:spLocks noChangeArrowheads="1"/>
            </p:cNvSpPr>
            <p:nvPr/>
          </p:nvSpPr>
          <p:spPr bwMode="auto">
            <a:xfrm>
              <a:off x="1440" y="3984"/>
              <a:ext cx="1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grpSp>
      <mc:AlternateContent xmlns:mc="http://schemas.openxmlformats.org/markup-compatibility/2006" xmlns:a14="http://schemas.microsoft.com/office/drawing/2010/main">
        <mc:Choice Requires="a14">
          <p:sp>
            <p:nvSpPr>
              <p:cNvPr id="43" name="Object 413">
                <a:extLst>
                  <a:ext uri="{FF2B5EF4-FFF2-40B4-BE49-F238E27FC236}">
                    <a16:creationId xmlns:a16="http://schemas.microsoft.com/office/drawing/2014/main" id="{60EDF672-4E4C-4533-9E61-3796AAC6A3E7}"/>
                  </a:ext>
                </a:extLst>
              </p:cNvPr>
              <p:cNvSpPr txBox="1"/>
              <p:nvPr/>
            </p:nvSpPr>
            <p:spPr bwMode="auto">
              <a:xfrm>
                <a:off x="336866" y="4648187"/>
                <a:ext cx="2133600"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oMath>
                  </m:oMathPara>
                </a14:m>
                <a:endParaRPr lang="zh-CN" altLang="en-US" sz="2800" dirty="0"/>
              </a:p>
            </p:txBody>
          </p:sp>
        </mc:Choice>
        <mc:Fallback xmlns="">
          <p:sp>
            <p:nvSpPr>
              <p:cNvPr id="43" name="Object 413">
                <a:extLst>
                  <a:ext uri="{FF2B5EF4-FFF2-40B4-BE49-F238E27FC236}">
                    <a16:creationId xmlns:a16="http://schemas.microsoft.com/office/drawing/2014/main" id="{60EDF672-4E4C-4533-9E61-3796AAC6A3E7}"/>
                  </a:ext>
                </a:extLst>
              </p:cNvPr>
              <p:cNvSpPr txBox="1">
                <a:spLocks noRot="1" noChangeAspect="1" noMove="1" noResize="1" noEditPoints="1" noAdjustHandles="1" noChangeArrowheads="1" noChangeShapeType="1" noTextEdit="1"/>
              </p:cNvSpPr>
              <p:nvPr/>
            </p:nvSpPr>
            <p:spPr bwMode="auto">
              <a:xfrm>
                <a:off x="336866" y="4648187"/>
                <a:ext cx="2133600" cy="49371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Object 414">
                <a:extLst>
                  <a:ext uri="{FF2B5EF4-FFF2-40B4-BE49-F238E27FC236}">
                    <a16:creationId xmlns:a16="http://schemas.microsoft.com/office/drawing/2014/main" id="{91C9BC41-F4CF-4FA8-B89E-499CCB23F60C}"/>
                  </a:ext>
                </a:extLst>
              </p:cNvPr>
              <p:cNvSpPr txBox="1"/>
              <p:nvPr/>
            </p:nvSpPr>
            <p:spPr bwMode="auto">
              <a:xfrm>
                <a:off x="2943541" y="4648187"/>
                <a:ext cx="2203450"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44" name="Object 414">
                <a:extLst>
                  <a:ext uri="{FF2B5EF4-FFF2-40B4-BE49-F238E27FC236}">
                    <a16:creationId xmlns:a16="http://schemas.microsoft.com/office/drawing/2014/main" id="{91C9BC41-F4CF-4FA8-B89E-499CCB23F60C}"/>
                  </a:ext>
                </a:extLst>
              </p:cNvPr>
              <p:cNvSpPr txBox="1">
                <a:spLocks noRot="1" noChangeAspect="1" noMove="1" noResize="1" noEditPoints="1" noAdjustHandles="1" noChangeArrowheads="1" noChangeShapeType="1" noTextEdit="1"/>
              </p:cNvSpPr>
              <p:nvPr/>
            </p:nvSpPr>
            <p:spPr bwMode="auto">
              <a:xfrm>
                <a:off x="2943541" y="4648187"/>
                <a:ext cx="2203450" cy="493713"/>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Object 415">
                <a:extLst>
                  <a:ext uri="{FF2B5EF4-FFF2-40B4-BE49-F238E27FC236}">
                    <a16:creationId xmlns:a16="http://schemas.microsoft.com/office/drawing/2014/main" id="{8F685F50-305C-409A-BF47-61852B284F00}"/>
                  </a:ext>
                </a:extLst>
              </p:cNvPr>
              <p:cNvSpPr txBox="1"/>
              <p:nvPr/>
            </p:nvSpPr>
            <p:spPr bwMode="auto">
              <a:xfrm>
                <a:off x="946467" y="6006292"/>
                <a:ext cx="3182938" cy="4937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𝐴</m:t>
                          </m:r>
                        </m:e>
                        <m:sup>
                          <m:r>
                            <a:rPr lang="zh-CN" altLang="en-US" sz="2800" b="0" i="1" smtClean="0">
                              <a:solidFill>
                                <a:srgbClr val="000000"/>
                              </a:solidFill>
                              <a:latin typeface="Cambria Math" panose="02040503050406030204" pitchFamily="18" charset="0"/>
                            </a:rPr>
                            <m:t>′</m:t>
                          </m:r>
                        </m:sup>
                      </m:sSup>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45" name="Object 415">
                <a:extLst>
                  <a:ext uri="{FF2B5EF4-FFF2-40B4-BE49-F238E27FC236}">
                    <a16:creationId xmlns:a16="http://schemas.microsoft.com/office/drawing/2014/main" id="{8F685F50-305C-409A-BF47-61852B284F00}"/>
                  </a:ext>
                </a:extLst>
              </p:cNvPr>
              <p:cNvSpPr txBox="1">
                <a:spLocks noRot="1" noChangeAspect="1" noMove="1" noResize="1" noEditPoints="1" noAdjustHandles="1" noChangeArrowheads="1" noChangeShapeType="1" noTextEdit="1"/>
              </p:cNvSpPr>
              <p:nvPr/>
            </p:nvSpPr>
            <p:spPr bwMode="auto">
              <a:xfrm>
                <a:off x="946467" y="6006292"/>
                <a:ext cx="3182938" cy="493713"/>
              </a:xfrm>
              <a:prstGeom prst="rect">
                <a:avLst/>
              </a:prstGeom>
              <a:blipFill>
                <a:blip r:embed="rId13"/>
                <a:stretch>
                  <a:fillRect/>
                </a:stretch>
              </a:blipFill>
            </p:spPr>
            <p:txBody>
              <a:bodyPr/>
              <a:lstStyle/>
              <a:p>
                <a:r>
                  <a:rPr lang="en-US">
                    <a:noFill/>
                  </a:rPr>
                  <a:t> </a:t>
                </a:r>
              </a:p>
            </p:txBody>
          </p:sp>
        </mc:Fallback>
      </mc:AlternateContent>
      <p:grpSp>
        <p:nvGrpSpPr>
          <p:cNvPr id="46" name="Group 434">
            <a:extLst>
              <a:ext uri="{FF2B5EF4-FFF2-40B4-BE49-F238E27FC236}">
                <a16:creationId xmlns:a16="http://schemas.microsoft.com/office/drawing/2014/main" id="{B02A0A03-BD22-43EE-9741-BF49D886F8B8}"/>
              </a:ext>
            </a:extLst>
          </p:cNvPr>
          <p:cNvGrpSpPr>
            <a:grpSpLocks/>
          </p:cNvGrpSpPr>
          <p:nvPr/>
        </p:nvGrpSpPr>
        <p:grpSpPr bwMode="auto">
          <a:xfrm>
            <a:off x="265430" y="5307012"/>
            <a:ext cx="2038350" cy="519113"/>
            <a:chOff x="48" y="336"/>
            <a:chExt cx="1284" cy="327"/>
          </a:xfrm>
        </p:grpSpPr>
        <mc:AlternateContent xmlns:mc="http://schemas.openxmlformats.org/markup-compatibility/2006" xmlns:a14="http://schemas.microsoft.com/office/drawing/2010/main">
          <mc:Choice Requires="a14">
            <p:sp>
              <p:nvSpPr>
                <p:cNvPr id="47" name="Object 416">
                  <a:extLst>
                    <a:ext uri="{FF2B5EF4-FFF2-40B4-BE49-F238E27FC236}">
                      <a16:creationId xmlns:a16="http://schemas.microsoft.com/office/drawing/2014/main" id="{37601B1D-1ECA-4AAE-A224-671293AC8A62}"/>
                    </a:ext>
                  </a:extLst>
                </p:cNvPr>
                <p:cNvSpPr txBox="1"/>
                <p:nvPr/>
              </p:nvSpPr>
              <p:spPr bwMode="auto">
                <a:xfrm>
                  <a:off x="414" y="336"/>
                  <a:ext cx="918"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r>
                          <a:rPr lang="zh-CN" altLang="en-US" sz="2800" b="0" i="1" smtClean="0">
                            <a:solidFill>
                              <a:srgbClr val="000000"/>
                            </a:solidFill>
                            <a:latin typeface="Cambria Math" panose="02040503050406030204" pitchFamily="18" charset="0"/>
                          </a:rPr>
                          <m:t>=</m:t>
                        </m:r>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dirty="0"/>
                </a:p>
              </p:txBody>
            </p:sp>
          </mc:Choice>
          <mc:Fallback xmlns="">
            <p:sp>
              <p:nvSpPr>
                <p:cNvPr id="47" name="Object 416">
                  <a:extLst>
                    <a:ext uri="{FF2B5EF4-FFF2-40B4-BE49-F238E27FC236}">
                      <a16:creationId xmlns:a16="http://schemas.microsoft.com/office/drawing/2014/main" id="{37601B1D-1ECA-4AAE-A224-671293AC8A62}"/>
                    </a:ext>
                  </a:extLst>
                </p:cNvPr>
                <p:cNvSpPr txBox="1">
                  <a:spLocks noRot="1" noChangeAspect="1" noMove="1" noResize="1" noEditPoints="1" noAdjustHandles="1" noChangeArrowheads="1" noChangeShapeType="1" noTextEdit="1"/>
                </p:cNvSpPr>
                <p:nvPr/>
              </p:nvSpPr>
              <p:spPr bwMode="auto">
                <a:xfrm>
                  <a:off x="414" y="336"/>
                  <a:ext cx="918" cy="311"/>
                </a:xfrm>
                <a:prstGeom prst="rect">
                  <a:avLst/>
                </a:prstGeom>
                <a:blipFill>
                  <a:blip r:embed="rId14"/>
                  <a:stretch>
                    <a:fillRect/>
                  </a:stretch>
                </a:blipFill>
              </p:spPr>
              <p:txBody>
                <a:bodyPr/>
                <a:lstStyle/>
                <a:p>
                  <a:r>
                    <a:rPr lang="en-US">
                      <a:noFill/>
                    </a:rPr>
                    <a:t> </a:t>
                  </a:r>
                </a:p>
              </p:txBody>
            </p:sp>
          </mc:Fallback>
        </mc:AlternateContent>
        <p:sp>
          <p:nvSpPr>
            <p:cNvPr id="48" name="Text Box 417">
              <a:extLst>
                <a:ext uri="{FF2B5EF4-FFF2-40B4-BE49-F238E27FC236}">
                  <a16:creationId xmlns:a16="http://schemas.microsoft.com/office/drawing/2014/main" id="{CC9B14B1-7ECA-474F-BF36-C0F044D54FFB}"/>
                </a:ext>
              </a:extLst>
            </p:cNvPr>
            <p:cNvSpPr txBox="1">
              <a:spLocks noChangeArrowheads="1"/>
            </p:cNvSpPr>
            <p:nvPr/>
          </p:nvSpPr>
          <p:spPr bwMode="auto">
            <a:xfrm>
              <a:off x="48" y="336"/>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a:latin typeface="+mn-lt"/>
                  <a:ea typeface="+mn-ea"/>
                </a:rPr>
                <a:t>设</a:t>
              </a:r>
            </a:p>
          </p:txBody>
        </p:sp>
      </p:grpSp>
      <p:grpSp>
        <p:nvGrpSpPr>
          <p:cNvPr id="49" name="Group 411">
            <a:extLst>
              <a:ext uri="{FF2B5EF4-FFF2-40B4-BE49-F238E27FC236}">
                <a16:creationId xmlns:a16="http://schemas.microsoft.com/office/drawing/2014/main" id="{3D76373D-CD9D-443E-9E57-9B88D8AC8779}"/>
              </a:ext>
            </a:extLst>
          </p:cNvPr>
          <p:cNvGrpSpPr>
            <a:grpSpLocks/>
          </p:cNvGrpSpPr>
          <p:nvPr/>
        </p:nvGrpSpPr>
        <p:grpSpPr bwMode="auto">
          <a:xfrm>
            <a:off x="8656322" y="422957"/>
            <a:ext cx="1303338" cy="523876"/>
            <a:chOff x="2208" y="996"/>
            <a:chExt cx="821" cy="330"/>
          </a:xfrm>
        </p:grpSpPr>
        <mc:AlternateContent xmlns:mc="http://schemas.openxmlformats.org/markup-compatibility/2006" xmlns:a14="http://schemas.microsoft.com/office/drawing/2010/main">
          <mc:Choice Requires="a14">
            <p:sp>
              <p:nvSpPr>
                <p:cNvPr id="50" name="Object 407">
                  <a:extLst>
                    <a:ext uri="{FF2B5EF4-FFF2-40B4-BE49-F238E27FC236}">
                      <a16:creationId xmlns:a16="http://schemas.microsoft.com/office/drawing/2014/main" id="{F64FB4B8-9609-4051-A0B0-F970E5DD5536}"/>
                    </a:ext>
                  </a:extLst>
                </p:cNvPr>
                <p:cNvSpPr txBox="1"/>
                <p:nvPr/>
              </p:nvSpPr>
              <p:spPr bwMode="auto">
                <a:xfrm>
                  <a:off x="2208" y="1008"/>
                  <a:ext cx="33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𝐶</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50" name="Object 407">
                  <a:extLst>
                    <a:ext uri="{FF2B5EF4-FFF2-40B4-BE49-F238E27FC236}">
                      <a16:creationId xmlns:a16="http://schemas.microsoft.com/office/drawing/2014/main" id="{F64FB4B8-9609-4051-A0B0-F970E5DD5536}"/>
                    </a:ext>
                  </a:extLst>
                </p:cNvPr>
                <p:cNvSpPr txBox="1">
                  <a:spLocks noRot="1" noChangeAspect="1" noMove="1" noResize="1" noEditPoints="1" noAdjustHandles="1" noChangeArrowheads="1" noChangeShapeType="1" noTextEdit="1"/>
                </p:cNvSpPr>
                <p:nvPr/>
              </p:nvSpPr>
              <p:spPr bwMode="auto">
                <a:xfrm>
                  <a:off x="2208" y="1008"/>
                  <a:ext cx="336" cy="255"/>
                </a:xfrm>
                <a:prstGeom prst="rect">
                  <a:avLst/>
                </a:prstGeom>
                <a:blipFill>
                  <a:blip r:embed="rId15"/>
                  <a:stretch>
                    <a:fillRect/>
                  </a:stretch>
                </a:blipFill>
              </p:spPr>
              <p:txBody>
                <a:bodyPr/>
                <a:lstStyle/>
                <a:p>
                  <a:r>
                    <a:rPr lang="en-US">
                      <a:noFill/>
                    </a:rPr>
                    <a:t> </a:t>
                  </a:r>
                </a:p>
              </p:txBody>
            </p:sp>
          </mc:Fallback>
        </mc:AlternateContent>
        <p:sp>
          <p:nvSpPr>
            <p:cNvPr id="51" name="Rectangle 409">
              <a:extLst>
                <a:ext uri="{FF2B5EF4-FFF2-40B4-BE49-F238E27FC236}">
                  <a16:creationId xmlns:a16="http://schemas.microsoft.com/office/drawing/2014/main" id="{66B91F40-2970-4A8C-B53A-AC5A10B348EE}"/>
                </a:ext>
              </a:extLst>
            </p:cNvPr>
            <p:cNvSpPr>
              <a:spLocks noChangeArrowheads="1"/>
            </p:cNvSpPr>
            <p:nvPr/>
          </p:nvSpPr>
          <p:spPr bwMode="auto">
            <a:xfrm>
              <a:off x="2458" y="996"/>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可逆</a:t>
              </a:r>
            </a:p>
          </p:txBody>
        </p:sp>
      </p:grpSp>
      <p:grpSp>
        <p:nvGrpSpPr>
          <p:cNvPr id="52" name="Group 412">
            <a:extLst>
              <a:ext uri="{FF2B5EF4-FFF2-40B4-BE49-F238E27FC236}">
                <a16:creationId xmlns:a16="http://schemas.microsoft.com/office/drawing/2014/main" id="{A5777B19-0EBE-44A8-B46B-F3F8CEFB9915}"/>
              </a:ext>
            </a:extLst>
          </p:cNvPr>
          <p:cNvGrpSpPr>
            <a:grpSpLocks/>
          </p:cNvGrpSpPr>
          <p:nvPr/>
        </p:nvGrpSpPr>
        <p:grpSpPr bwMode="auto">
          <a:xfrm>
            <a:off x="6827520" y="422957"/>
            <a:ext cx="1577976" cy="523876"/>
            <a:chOff x="960" y="948"/>
            <a:chExt cx="994" cy="330"/>
          </a:xfrm>
        </p:grpSpPr>
        <mc:AlternateContent xmlns:mc="http://schemas.openxmlformats.org/markup-compatibility/2006" xmlns:a14="http://schemas.microsoft.com/office/drawing/2010/main">
          <mc:Choice Requires="a14">
            <p:sp>
              <p:nvSpPr>
                <p:cNvPr id="53" name="Object 408">
                  <a:extLst>
                    <a:ext uri="{FF2B5EF4-FFF2-40B4-BE49-F238E27FC236}">
                      <a16:creationId xmlns:a16="http://schemas.microsoft.com/office/drawing/2014/main" id="{E79AC00D-268B-4172-8009-0A7671CD51F2}"/>
                    </a:ext>
                  </a:extLst>
                </p:cNvPr>
                <p:cNvSpPr txBox="1"/>
                <p:nvPr/>
              </p:nvSpPr>
              <p:spPr bwMode="auto">
                <a:xfrm>
                  <a:off x="960" y="960"/>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𝐶</m:t>
                        </m:r>
                      </m:oMath>
                    </m:oMathPara>
                  </a14:m>
                  <a:endParaRPr lang="zh-CN" altLang="en-US" sz="2800"/>
                </a:p>
              </p:txBody>
            </p:sp>
          </mc:Choice>
          <mc:Fallback xmlns="">
            <p:sp>
              <p:nvSpPr>
                <p:cNvPr id="53" name="Object 408">
                  <a:extLst>
                    <a:ext uri="{FF2B5EF4-FFF2-40B4-BE49-F238E27FC236}">
                      <a16:creationId xmlns:a16="http://schemas.microsoft.com/office/drawing/2014/main" id="{E79AC00D-268B-4172-8009-0A7671CD51F2}"/>
                    </a:ext>
                  </a:extLst>
                </p:cNvPr>
                <p:cNvSpPr txBox="1">
                  <a:spLocks noRot="1" noChangeAspect="1" noMove="1" noResize="1" noEditPoints="1" noAdjustHandles="1" noChangeArrowheads="1" noChangeShapeType="1" noTextEdit="1"/>
                </p:cNvSpPr>
                <p:nvPr/>
              </p:nvSpPr>
              <p:spPr bwMode="auto">
                <a:xfrm>
                  <a:off x="960" y="960"/>
                  <a:ext cx="266" cy="255"/>
                </a:xfrm>
                <a:prstGeom prst="rect">
                  <a:avLst/>
                </a:prstGeom>
                <a:blipFill>
                  <a:blip r:embed="rId16"/>
                  <a:stretch>
                    <a:fillRect/>
                  </a:stretch>
                </a:blipFill>
              </p:spPr>
              <p:txBody>
                <a:bodyPr/>
                <a:lstStyle/>
                <a:p>
                  <a:r>
                    <a:rPr lang="en-US">
                      <a:noFill/>
                    </a:rPr>
                    <a:t> </a:t>
                  </a:r>
                </a:p>
              </p:txBody>
            </p:sp>
          </mc:Fallback>
        </mc:AlternateContent>
        <p:sp>
          <p:nvSpPr>
            <p:cNvPr id="54" name="Rectangle 410">
              <a:extLst>
                <a:ext uri="{FF2B5EF4-FFF2-40B4-BE49-F238E27FC236}">
                  <a16:creationId xmlns:a16="http://schemas.microsoft.com/office/drawing/2014/main" id="{4E0C6503-636A-439A-890B-0D251D8EF39E}"/>
                </a:ext>
              </a:extLst>
            </p:cNvPr>
            <p:cNvSpPr>
              <a:spLocks noChangeArrowheads="1"/>
            </p:cNvSpPr>
            <p:nvPr/>
          </p:nvSpPr>
          <p:spPr bwMode="auto">
            <a:xfrm>
              <a:off x="1156" y="948"/>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不可逆</a:t>
              </a:r>
            </a:p>
          </p:txBody>
        </p:sp>
      </p:grpSp>
      <p:grpSp>
        <p:nvGrpSpPr>
          <p:cNvPr id="55" name="Group 404">
            <a:extLst>
              <a:ext uri="{FF2B5EF4-FFF2-40B4-BE49-F238E27FC236}">
                <a16:creationId xmlns:a16="http://schemas.microsoft.com/office/drawing/2014/main" id="{1EB5CF74-8C94-4F1F-BD57-BB6A9D25C795}"/>
              </a:ext>
            </a:extLst>
          </p:cNvPr>
          <p:cNvGrpSpPr>
            <a:grpSpLocks/>
          </p:cNvGrpSpPr>
          <p:nvPr/>
        </p:nvGrpSpPr>
        <p:grpSpPr bwMode="auto">
          <a:xfrm>
            <a:off x="6813232" y="1225550"/>
            <a:ext cx="3803650" cy="3057525"/>
            <a:chOff x="3316" y="2204"/>
            <a:chExt cx="2396" cy="1926"/>
          </a:xfrm>
        </p:grpSpPr>
        <p:sp>
          <p:nvSpPr>
            <p:cNvPr id="56" name="Rectangle 364">
              <a:extLst>
                <a:ext uri="{FF2B5EF4-FFF2-40B4-BE49-F238E27FC236}">
                  <a16:creationId xmlns:a16="http://schemas.microsoft.com/office/drawing/2014/main" id="{FE4CC940-FA14-4BFE-8310-2184D89FED63}"/>
                </a:ext>
              </a:extLst>
            </p:cNvPr>
            <p:cNvSpPr>
              <a:spLocks noChangeArrowheads="1"/>
            </p:cNvSpPr>
            <p:nvPr/>
          </p:nvSpPr>
          <p:spPr bwMode="auto">
            <a:xfrm>
              <a:off x="3316" y="2218"/>
              <a:ext cx="2248" cy="328"/>
            </a:xfrm>
            <a:prstGeom prst="rect">
              <a:avLst/>
            </a:prstGeom>
            <a:solidFill>
              <a:srgbClr val="FF6699"/>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57" name="Rectangle 365">
              <a:extLst>
                <a:ext uri="{FF2B5EF4-FFF2-40B4-BE49-F238E27FC236}">
                  <a16:creationId xmlns:a16="http://schemas.microsoft.com/office/drawing/2014/main" id="{25327CAF-574B-42B7-889B-93CD996FC2E2}"/>
                </a:ext>
              </a:extLst>
            </p:cNvPr>
            <p:cNvSpPr>
              <a:spLocks noChangeArrowheads="1"/>
            </p:cNvSpPr>
            <p:nvPr/>
          </p:nvSpPr>
          <p:spPr bwMode="auto">
            <a:xfrm>
              <a:off x="3316" y="3802"/>
              <a:ext cx="2248" cy="328"/>
            </a:xfrm>
            <a:prstGeom prst="rect">
              <a:avLst/>
            </a:prstGeom>
            <a:solidFill>
              <a:schemeClr val="bg2"/>
            </a:solid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58" name="Rectangle 366">
              <a:extLst>
                <a:ext uri="{FF2B5EF4-FFF2-40B4-BE49-F238E27FC236}">
                  <a16:creationId xmlns:a16="http://schemas.microsoft.com/office/drawing/2014/main" id="{8CD4FEE4-6049-4C04-8B56-F2BDD94B2638}"/>
                </a:ext>
              </a:extLst>
            </p:cNvPr>
            <p:cNvSpPr>
              <a:spLocks noChangeArrowheads="1"/>
            </p:cNvSpPr>
            <p:nvPr/>
          </p:nvSpPr>
          <p:spPr bwMode="auto">
            <a:xfrm>
              <a:off x="4214" y="2204"/>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p:sp>
          <p:nvSpPr>
            <p:cNvPr id="59" name="Rectangle 367">
              <a:extLst>
                <a:ext uri="{FF2B5EF4-FFF2-40B4-BE49-F238E27FC236}">
                  <a16:creationId xmlns:a16="http://schemas.microsoft.com/office/drawing/2014/main" id="{C411AAB4-DE1D-431F-881C-E4220632EF79}"/>
                </a:ext>
              </a:extLst>
            </p:cNvPr>
            <p:cNvSpPr>
              <a:spLocks noChangeArrowheads="1"/>
            </p:cNvSpPr>
            <p:nvPr/>
          </p:nvSpPr>
          <p:spPr bwMode="auto">
            <a:xfrm>
              <a:off x="4118" y="2252"/>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latin typeface="+mn-lt"/>
                  <a:ea typeface="+mn-ea"/>
                </a:rPr>
                <a:t>T</a:t>
              </a:r>
              <a:r>
                <a:rPr lang="en-US" altLang="zh-CN" b="0" i="1" baseline="-25000">
                  <a:latin typeface="+mn-lt"/>
                  <a:ea typeface="+mn-ea"/>
                </a:rPr>
                <a:t>1</a:t>
              </a:r>
              <a:r>
                <a:rPr lang="zh-CN" altLang="en-US" b="0">
                  <a:latin typeface="+mn-lt"/>
                  <a:ea typeface="+mn-ea"/>
                </a:rPr>
                <a:t>热库</a:t>
              </a:r>
            </a:p>
          </p:txBody>
        </p:sp>
        <p:sp>
          <p:nvSpPr>
            <p:cNvPr id="60" name="Rectangle 368">
              <a:extLst>
                <a:ext uri="{FF2B5EF4-FFF2-40B4-BE49-F238E27FC236}">
                  <a16:creationId xmlns:a16="http://schemas.microsoft.com/office/drawing/2014/main" id="{95A1CD6F-A090-4615-8FC0-EC47BBB55D0D}"/>
                </a:ext>
              </a:extLst>
            </p:cNvPr>
            <p:cNvSpPr>
              <a:spLocks noChangeArrowheads="1"/>
            </p:cNvSpPr>
            <p:nvPr/>
          </p:nvSpPr>
          <p:spPr bwMode="auto">
            <a:xfrm>
              <a:off x="4166" y="3788"/>
              <a:ext cx="7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b="0" i="1">
                  <a:solidFill>
                    <a:srgbClr val="FF0000"/>
                  </a:solidFill>
                  <a:latin typeface="+mn-lt"/>
                  <a:ea typeface="+mn-ea"/>
                </a:rPr>
                <a:t>T</a:t>
              </a:r>
              <a:r>
                <a:rPr lang="en-US" altLang="zh-CN" b="0" i="1" baseline="-25000">
                  <a:solidFill>
                    <a:srgbClr val="FF0000"/>
                  </a:solidFill>
                  <a:latin typeface="+mn-lt"/>
                  <a:ea typeface="+mn-ea"/>
                </a:rPr>
                <a:t>2</a:t>
              </a:r>
              <a:r>
                <a:rPr lang="zh-CN" altLang="en-US" b="0">
                  <a:solidFill>
                    <a:srgbClr val="FF0000"/>
                  </a:solidFill>
                  <a:latin typeface="+mn-lt"/>
                  <a:ea typeface="+mn-ea"/>
                </a:rPr>
                <a:t>热库</a:t>
              </a:r>
              <a:endParaRPr lang="zh-CN" altLang="en-US" b="0" i="1">
                <a:solidFill>
                  <a:srgbClr val="FF0000"/>
                </a:solidFill>
                <a:latin typeface="+mn-lt"/>
                <a:ea typeface="+mn-ea"/>
              </a:endParaRPr>
            </a:p>
          </p:txBody>
        </p:sp>
        <p:sp>
          <p:nvSpPr>
            <p:cNvPr id="61" name="Oval 369">
              <a:extLst>
                <a:ext uri="{FF2B5EF4-FFF2-40B4-BE49-F238E27FC236}">
                  <a16:creationId xmlns:a16="http://schemas.microsoft.com/office/drawing/2014/main" id="{F756ACEA-431B-443F-8CE4-5FD549FA565B}"/>
                </a:ext>
              </a:extLst>
            </p:cNvPr>
            <p:cNvSpPr>
              <a:spLocks noChangeArrowheads="1"/>
            </p:cNvSpPr>
            <p:nvPr/>
          </p:nvSpPr>
          <p:spPr bwMode="auto">
            <a:xfrm>
              <a:off x="4808" y="2976"/>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62" name="Line 370">
              <a:extLst>
                <a:ext uri="{FF2B5EF4-FFF2-40B4-BE49-F238E27FC236}">
                  <a16:creationId xmlns:a16="http://schemas.microsoft.com/office/drawing/2014/main" id="{E4D6DD6D-5CF9-4DE9-85CE-6383F8332386}"/>
                </a:ext>
              </a:extLst>
            </p:cNvPr>
            <p:cNvSpPr>
              <a:spLocks noChangeShapeType="1"/>
            </p:cNvSpPr>
            <p:nvPr/>
          </p:nvSpPr>
          <p:spPr bwMode="auto">
            <a:xfrm>
              <a:off x="5376" y="2540"/>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63" name="Line 371">
              <a:extLst>
                <a:ext uri="{FF2B5EF4-FFF2-40B4-BE49-F238E27FC236}">
                  <a16:creationId xmlns:a16="http://schemas.microsoft.com/office/drawing/2014/main" id="{BD2EC035-8EF8-4AD3-B553-D76E0D1E2FDE}"/>
                </a:ext>
              </a:extLst>
            </p:cNvPr>
            <p:cNvSpPr>
              <a:spLocks noChangeShapeType="1"/>
            </p:cNvSpPr>
            <p:nvPr/>
          </p:nvSpPr>
          <p:spPr bwMode="auto">
            <a:xfrm>
              <a:off x="5036" y="2348"/>
              <a:ext cx="0" cy="384"/>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64" name="Line 372">
              <a:extLst>
                <a:ext uri="{FF2B5EF4-FFF2-40B4-BE49-F238E27FC236}">
                  <a16:creationId xmlns:a16="http://schemas.microsoft.com/office/drawing/2014/main" id="{D13281E3-A0CC-49F3-8456-994A735F599A}"/>
                </a:ext>
              </a:extLst>
            </p:cNvPr>
            <p:cNvSpPr>
              <a:spLocks noChangeShapeType="1"/>
            </p:cNvSpPr>
            <p:nvPr/>
          </p:nvSpPr>
          <p:spPr bwMode="auto">
            <a:xfrm>
              <a:off x="5184" y="3740"/>
              <a:ext cx="0" cy="384"/>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65" name="Line 373">
              <a:extLst>
                <a:ext uri="{FF2B5EF4-FFF2-40B4-BE49-F238E27FC236}">
                  <a16:creationId xmlns:a16="http://schemas.microsoft.com/office/drawing/2014/main" id="{0A746F08-5975-430F-AC98-DB119523D5DA}"/>
                </a:ext>
              </a:extLst>
            </p:cNvPr>
            <p:cNvSpPr>
              <a:spLocks noChangeShapeType="1"/>
            </p:cNvSpPr>
            <p:nvPr/>
          </p:nvSpPr>
          <p:spPr bwMode="auto">
            <a:xfrm>
              <a:off x="4992" y="3500"/>
              <a:ext cx="0" cy="33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66" name="Rectangle 375">
              <a:extLst>
                <a:ext uri="{FF2B5EF4-FFF2-40B4-BE49-F238E27FC236}">
                  <a16:creationId xmlns:a16="http://schemas.microsoft.com/office/drawing/2014/main" id="{977D7C53-0253-4823-875D-B3B760A1A68B}"/>
                </a:ext>
              </a:extLst>
            </p:cNvPr>
            <p:cNvSpPr>
              <a:spLocks noChangeArrowheads="1"/>
            </p:cNvSpPr>
            <p:nvPr/>
          </p:nvSpPr>
          <p:spPr bwMode="auto">
            <a:xfrm>
              <a:off x="4803" y="3442"/>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67" name="Rectangle 376">
              <a:extLst>
                <a:ext uri="{FF2B5EF4-FFF2-40B4-BE49-F238E27FC236}">
                  <a16:creationId xmlns:a16="http://schemas.microsoft.com/office/drawing/2014/main" id="{AAE69F31-B8CE-47C7-BB6D-E41925C65EE1}"/>
                </a:ext>
              </a:extLst>
            </p:cNvPr>
            <p:cNvSpPr>
              <a:spLocks noChangeArrowheads="1"/>
            </p:cNvSpPr>
            <p:nvPr/>
          </p:nvSpPr>
          <p:spPr bwMode="auto">
            <a:xfrm>
              <a:off x="4882" y="2674"/>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68" name="Arc 377">
              <a:extLst>
                <a:ext uri="{FF2B5EF4-FFF2-40B4-BE49-F238E27FC236}">
                  <a16:creationId xmlns:a16="http://schemas.microsoft.com/office/drawing/2014/main" id="{EDB6EDCE-C2AD-43FB-9C52-EA4FA1A93D65}"/>
                </a:ext>
              </a:extLst>
            </p:cNvPr>
            <p:cNvSpPr>
              <a:spLocks/>
            </p:cNvSpPr>
            <p:nvPr/>
          </p:nvSpPr>
          <p:spPr bwMode="auto">
            <a:xfrm>
              <a:off x="4608" y="3068"/>
              <a:ext cx="240" cy="4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69" name="Arc 378">
              <a:extLst>
                <a:ext uri="{FF2B5EF4-FFF2-40B4-BE49-F238E27FC236}">
                  <a16:creationId xmlns:a16="http://schemas.microsoft.com/office/drawing/2014/main" id="{7B85F81B-C83B-4A54-8803-450D128CFC82}"/>
                </a:ext>
              </a:extLst>
            </p:cNvPr>
            <p:cNvSpPr>
              <a:spLocks/>
            </p:cNvSpPr>
            <p:nvPr/>
          </p:nvSpPr>
          <p:spPr bwMode="auto">
            <a:xfrm>
              <a:off x="4704" y="3413"/>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mc:AlternateContent xmlns:mc="http://schemas.openxmlformats.org/markup-compatibility/2006" xmlns:a14="http://schemas.microsoft.com/office/drawing/2010/main">
          <mc:Choice Requires="a14">
            <p:sp>
              <p:nvSpPr>
                <p:cNvPr id="70" name="Object 381">
                  <a:extLst>
                    <a:ext uri="{FF2B5EF4-FFF2-40B4-BE49-F238E27FC236}">
                      <a16:creationId xmlns:a16="http://schemas.microsoft.com/office/drawing/2014/main" id="{DE80D71B-B0BA-48D9-98ED-20C4D29BC7C5}"/>
                    </a:ext>
                  </a:extLst>
                </p:cNvPr>
                <p:cNvSpPr txBox="1"/>
                <p:nvPr/>
              </p:nvSpPr>
              <p:spPr bwMode="auto">
                <a:xfrm>
                  <a:off x="4944" y="2684"/>
                  <a:ext cx="33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70" name="Object 381">
                  <a:extLst>
                    <a:ext uri="{FF2B5EF4-FFF2-40B4-BE49-F238E27FC236}">
                      <a16:creationId xmlns:a16="http://schemas.microsoft.com/office/drawing/2014/main" id="{DE80D71B-B0BA-48D9-98ED-20C4D29BC7C5}"/>
                    </a:ext>
                  </a:extLst>
                </p:cNvPr>
                <p:cNvSpPr txBox="1">
                  <a:spLocks noRot="1" noChangeAspect="1" noMove="1" noResize="1" noEditPoints="1" noAdjustHandles="1" noChangeArrowheads="1" noChangeShapeType="1" noTextEdit="1"/>
                </p:cNvSpPr>
                <p:nvPr/>
              </p:nvSpPr>
              <p:spPr bwMode="auto">
                <a:xfrm>
                  <a:off x="4944" y="2684"/>
                  <a:ext cx="336" cy="31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Object 382">
                  <a:extLst>
                    <a:ext uri="{FF2B5EF4-FFF2-40B4-BE49-F238E27FC236}">
                      <a16:creationId xmlns:a16="http://schemas.microsoft.com/office/drawing/2014/main" id="{2309FEBA-4D43-45A9-BDEA-0D26F8A031BB}"/>
                    </a:ext>
                  </a:extLst>
                </p:cNvPr>
                <p:cNvSpPr txBox="1"/>
                <p:nvPr/>
              </p:nvSpPr>
              <p:spPr bwMode="auto">
                <a:xfrm>
                  <a:off x="5040" y="3452"/>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Sup>
                          <m:sSubSupPr>
                            <m:ctrlPr>
                              <a:rPr lang="zh-CN" altLang="en-US" sz="2800" i="1">
                                <a:solidFill>
                                  <a:srgbClr val="000000"/>
                                </a:solidFill>
                                <a:latin typeface="Cambria Math" panose="02040503050406030204" pitchFamily="18" charset="0"/>
                              </a:rPr>
                            </m:ctrlPr>
                          </m:sSubSup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up>
                            <m:r>
                              <a:rPr lang="zh-CN" altLang="en-US" sz="2800" b="0" i="1" smtClean="0">
                                <a:solidFill>
                                  <a:srgbClr val="000000"/>
                                </a:solidFill>
                                <a:latin typeface="Cambria Math" panose="02040503050406030204" pitchFamily="18" charset="0"/>
                              </a:rPr>
                              <m:t>′</m:t>
                            </m:r>
                          </m:sup>
                        </m:sSubSup>
                      </m:oMath>
                    </m:oMathPara>
                  </a14:m>
                  <a:endParaRPr lang="zh-CN" altLang="en-US" sz="2800"/>
                </a:p>
              </p:txBody>
            </p:sp>
          </mc:Choice>
          <mc:Fallback xmlns="">
            <p:sp>
              <p:nvSpPr>
                <p:cNvPr id="71" name="Object 382">
                  <a:extLst>
                    <a:ext uri="{FF2B5EF4-FFF2-40B4-BE49-F238E27FC236}">
                      <a16:creationId xmlns:a16="http://schemas.microsoft.com/office/drawing/2014/main" id="{2309FEBA-4D43-45A9-BDEA-0D26F8A031BB}"/>
                    </a:ext>
                  </a:extLst>
                </p:cNvPr>
                <p:cNvSpPr txBox="1">
                  <a:spLocks noRot="1" noChangeAspect="1" noMove="1" noResize="1" noEditPoints="1" noAdjustHandles="1" noChangeArrowheads="1" noChangeShapeType="1" noTextEdit="1"/>
                </p:cNvSpPr>
                <p:nvPr/>
              </p:nvSpPr>
              <p:spPr bwMode="auto">
                <a:xfrm>
                  <a:off x="5040" y="3452"/>
                  <a:ext cx="356" cy="311"/>
                </a:xfrm>
                <a:prstGeom prst="rect">
                  <a:avLst/>
                </a:prstGeom>
                <a:blipFill>
                  <a:blip r:embed="rId18"/>
                  <a:stretch>
                    <a:fillRect/>
                  </a:stretch>
                </a:blipFill>
              </p:spPr>
              <p:txBody>
                <a:bodyPr/>
                <a:lstStyle/>
                <a:p>
                  <a:r>
                    <a:rPr lang="en-US">
                      <a:noFill/>
                    </a:rPr>
                    <a:t> </a:t>
                  </a:r>
                </a:p>
              </p:txBody>
            </p:sp>
          </mc:Fallback>
        </mc:AlternateContent>
        <p:grpSp>
          <p:nvGrpSpPr>
            <p:cNvPr id="72" name="Group 384">
              <a:extLst>
                <a:ext uri="{FF2B5EF4-FFF2-40B4-BE49-F238E27FC236}">
                  <a16:creationId xmlns:a16="http://schemas.microsoft.com/office/drawing/2014/main" id="{C7C077E4-099C-4750-8C5F-696AE17DDB38}"/>
                </a:ext>
              </a:extLst>
            </p:cNvPr>
            <p:cNvGrpSpPr>
              <a:grpSpLocks/>
            </p:cNvGrpSpPr>
            <p:nvPr/>
          </p:nvGrpSpPr>
          <p:grpSpPr bwMode="auto">
            <a:xfrm>
              <a:off x="3456" y="2348"/>
              <a:ext cx="1200" cy="1728"/>
              <a:chOff x="768" y="0"/>
              <a:chExt cx="1200" cy="1728"/>
            </a:xfrm>
          </p:grpSpPr>
          <p:sp>
            <p:nvSpPr>
              <p:cNvPr id="76" name="Oval 385">
                <a:extLst>
                  <a:ext uri="{FF2B5EF4-FFF2-40B4-BE49-F238E27FC236}">
                    <a16:creationId xmlns:a16="http://schemas.microsoft.com/office/drawing/2014/main" id="{522ADA47-2C5F-4984-ADC9-519217ACAC3A}"/>
                  </a:ext>
                </a:extLst>
              </p:cNvPr>
              <p:cNvSpPr>
                <a:spLocks noChangeArrowheads="1"/>
              </p:cNvSpPr>
              <p:nvPr/>
            </p:nvSpPr>
            <p:spPr bwMode="auto">
              <a:xfrm>
                <a:off x="768" y="628"/>
                <a:ext cx="616" cy="520"/>
              </a:xfrm>
              <a:prstGeom prst="ellipse">
                <a:avLst/>
              </a:prstGeom>
              <a:solidFill>
                <a:schemeClr val="accent1"/>
              </a:solidFill>
              <a:ln w="2857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77" name="Line 386">
                <a:extLst>
                  <a:ext uri="{FF2B5EF4-FFF2-40B4-BE49-F238E27FC236}">
                    <a16:creationId xmlns:a16="http://schemas.microsoft.com/office/drawing/2014/main" id="{A731150D-CF02-42DC-B496-1FDDAA1D80BC}"/>
                  </a:ext>
                </a:extLst>
              </p:cNvPr>
              <p:cNvSpPr>
                <a:spLocks noChangeShapeType="1"/>
              </p:cNvSpPr>
              <p:nvPr/>
            </p:nvSpPr>
            <p:spPr bwMode="auto">
              <a:xfrm>
                <a:off x="908" y="192"/>
                <a:ext cx="0" cy="124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78" name="Line 387">
                <a:extLst>
                  <a:ext uri="{FF2B5EF4-FFF2-40B4-BE49-F238E27FC236}">
                    <a16:creationId xmlns:a16="http://schemas.microsoft.com/office/drawing/2014/main" id="{C09ACFDA-272E-46CB-8473-52A1E6D0F496}"/>
                  </a:ext>
                </a:extLst>
              </p:cNvPr>
              <p:cNvSpPr>
                <a:spLocks noChangeShapeType="1"/>
              </p:cNvSpPr>
              <p:nvPr/>
            </p:nvSpPr>
            <p:spPr bwMode="auto">
              <a:xfrm>
                <a:off x="1196" y="0"/>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79" name="Line 388">
                <a:extLst>
                  <a:ext uri="{FF2B5EF4-FFF2-40B4-BE49-F238E27FC236}">
                    <a16:creationId xmlns:a16="http://schemas.microsoft.com/office/drawing/2014/main" id="{AFD1139D-22D1-40A1-B0ED-C94FD13C8C08}"/>
                  </a:ext>
                </a:extLst>
              </p:cNvPr>
              <p:cNvSpPr>
                <a:spLocks noChangeShapeType="1"/>
              </p:cNvSpPr>
              <p:nvPr/>
            </p:nvSpPr>
            <p:spPr bwMode="auto">
              <a:xfrm>
                <a:off x="1100" y="1344"/>
                <a:ext cx="0" cy="384"/>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80" name="Line 389">
                <a:extLst>
                  <a:ext uri="{FF2B5EF4-FFF2-40B4-BE49-F238E27FC236}">
                    <a16:creationId xmlns:a16="http://schemas.microsoft.com/office/drawing/2014/main" id="{A6A86631-6EC0-4197-85C0-4A0D4317FC3D}"/>
                  </a:ext>
                </a:extLst>
              </p:cNvPr>
              <p:cNvSpPr>
                <a:spLocks noChangeShapeType="1"/>
              </p:cNvSpPr>
              <p:nvPr/>
            </p:nvSpPr>
            <p:spPr bwMode="auto">
              <a:xfrm>
                <a:off x="1244" y="1008"/>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81" name="Line 390">
                <a:extLst>
                  <a:ext uri="{FF2B5EF4-FFF2-40B4-BE49-F238E27FC236}">
                    <a16:creationId xmlns:a16="http://schemas.microsoft.com/office/drawing/2014/main" id="{033A53CB-D674-4665-9505-9C17BC86F58B}"/>
                  </a:ext>
                </a:extLst>
              </p:cNvPr>
              <p:cNvSpPr>
                <a:spLocks noChangeShapeType="1"/>
              </p:cNvSpPr>
              <p:nvPr/>
            </p:nvSpPr>
            <p:spPr bwMode="auto">
              <a:xfrm>
                <a:off x="1436" y="192"/>
                <a:ext cx="0" cy="43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
            <p:nvSpPr>
              <p:cNvPr id="82" name="Rectangle 391">
                <a:extLst>
                  <a:ext uri="{FF2B5EF4-FFF2-40B4-BE49-F238E27FC236}">
                    <a16:creationId xmlns:a16="http://schemas.microsoft.com/office/drawing/2014/main" id="{4EE8C439-DC2A-4C50-8F13-E67B28961C67}"/>
                  </a:ext>
                </a:extLst>
              </p:cNvPr>
              <p:cNvSpPr>
                <a:spLocks noChangeArrowheads="1"/>
              </p:cNvSpPr>
              <p:nvPr/>
            </p:nvSpPr>
            <p:spPr bwMode="auto">
              <a:xfrm>
                <a:off x="963" y="1094"/>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83" name="Rectangle 392">
                <a:extLst>
                  <a:ext uri="{FF2B5EF4-FFF2-40B4-BE49-F238E27FC236}">
                    <a16:creationId xmlns:a16="http://schemas.microsoft.com/office/drawing/2014/main" id="{88BDFE88-B055-4869-B166-51A5187706A6}"/>
                  </a:ext>
                </a:extLst>
              </p:cNvPr>
              <p:cNvSpPr>
                <a:spLocks noChangeArrowheads="1"/>
              </p:cNvSpPr>
              <p:nvPr/>
            </p:nvSpPr>
            <p:spPr bwMode="auto">
              <a:xfrm>
                <a:off x="1042" y="326"/>
                <a:ext cx="11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baseline="-25000">
                  <a:latin typeface="+mn-lt"/>
                  <a:ea typeface="+mn-ea"/>
                </a:endParaRPr>
              </a:p>
            </p:txBody>
          </p:sp>
          <p:sp>
            <p:nvSpPr>
              <p:cNvPr id="84" name="Arc 393">
                <a:extLst>
                  <a:ext uri="{FF2B5EF4-FFF2-40B4-BE49-F238E27FC236}">
                    <a16:creationId xmlns:a16="http://schemas.microsoft.com/office/drawing/2014/main" id="{5B03F78C-1E62-4452-BE52-5FDB83149C10}"/>
                  </a:ext>
                </a:extLst>
              </p:cNvPr>
              <p:cNvSpPr>
                <a:spLocks/>
              </p:cNvSpPr>
              <p:nvPr/>
            </p:nvSpPr>
            <p:spPr bwMode="auto">
              <a:xfrm>
                <a:off x="1245" y="1008"/>
                <a:ext cx="57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85" name="Arc 394">
                <a:extLst>
                  <a:ext uri="{FF2B5EF4-FFF2-40B4-BE49-F238E27FC236}">
                    <a16:creationId xmlns:a16="http://schemas.microsoft.com/office/drawing/2014/main" id="{C08D2C49-EB05-4D21-BB4C-849E24D8E9A5}"/>
                  </a:ext>
                </a:extLst>
              </p:cNvPr>
              <p:cNvSpPr>
                <a:spLocks/>
              </p:cNvSpPr>
              <p:nvPr/>
            </p:nvSpPr>
            <p:spPr bwMode="auto">
              <a:xfrm>
                <a:off x="1437" y="624"/>
                <a:ext cx="480" cy="87"/>
              </a:xfrm>
              <a:custGeom>
                <a:avLst/>
                <a:gdLst>
                  <a:gd name="T0" fmla="*/ 0 w 21600"/>
                  <a:gd name="T1" fmla="*/ 0 h 19480"/>
                  <a:gd name="T2" fmla="*/ 0 w 21600"/>
                  <a:gd name="T3" fmla="*/ 0 h 19480"/>
                  <a:gd name="T4" fmla="*/ 0 w 21600"/>
                  <a:gd name="T5" fmla="*/ 0 h 19480"/>
                  <a:gd name="T6" fmla="*/ 0 60000 65536"/>
                  <a:gd name="T7" fmla="*/ 0 60000 65536"/>
                  <a:gd name="T8" fmla="*/ 0 60000 65536"/>
                  <a:gd name="T9" fmla="*/ 0 w 21600"/>
                  <a:gd name="T10" fmla="*/ 0 h 19480"/>
                  <a:gd name="T11" fmla="*/ 21600 w 21600"/>
                  <a:gd name="T12" fmla="*/ 19480 h 19480"/>
                </a:gdLst>
                <a:ahLst/>
                <a:cxnLst>
                  <a:cxn ang="T6">
                    <a:pos x="T0" y="T1"/>
                  </a:cxn>
                  <a:cxn ang="T7">
                    <a:pos x="T2" y="T3"/>
                  </a:cxn>
                  <a:cxn ang="T8">
                    <a:pos x="T4" y="T5"/>
                  </a:cxn>
                </a:cxnLst>
                <a:rect l="T9" t="T10" r="T11" b="T12"/>
                <a:pathLst>
                  <a:path w="21600" h="19480" fill="none" extrusionOk="0">
                    <a:moveTo>
                      <a:pt x="12267" y="19480"/>
                    </a:moveTo>
                    <a:cubicBezTo>
                      <a:pt x="4770" y="15888"/>
                      <a:pt x="0" y="8313"/>
                      <a:pt x="0" y="0"/>
                    </a:cubicBezTo>
                  </a:path>
                  <a:path w="21600" h="19480" stroke="0" extrusionOk="0">
                    <a:moveTo>
                      <a:pt x="12267" y="19480"/>
                    </a:moveTo>
                    <a:cubicBezTo>
                      <a:pt x="4770" y="15888"/>
                      <a:pt x="0" y="8313"/>
                      <a:pt x="0" y="0"/>
                    </a:cubicBezTo>
                    <a:lnTo>
                      <a:pt x="21600" y="0"/>
                    </a:lnTo>
                    <a:close/>
                  </a:path>
                </a:pathLst>
              </a:custGeom>
              <a:noFill/>
              <a:ln w="28575"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sz="2800"/>
              </a:p>
            </p:txBody>
          </p:sp>
          <p:sp>
            <p:nvSpPr>
              <p:cNvPr id="86" name="Line 395">
                <a:extLst>
                  <a:ext uri="{FF2B5EF4-FFF2-40B4-BE49-F238E27FC236}">
                    <a16:creationId xmlns:a16="http://schemas.microsoft.com/office/drawing/2014/main" id="{76BC08F3-0ADA-4EAC-B560-7A62BDFE142C}"/>
                  </a:ext>
                </a:extLst>
              </p:cNvPr>
              <p:cNvSpPr>
                <a:spLocks noChangeShapeType="1"/>
              </p:cNvSpPr>
              <p:nvPr/>
            </p:nvSpPr>
            <p:spPr bwMode="auto">
              <a:xfrm>
                <a:off x="1580" y="960"/>
                <a:ext cx="388"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2800"/>
              </a:p>
            </p:txBody>
          </p:sp>
          <p:sp>
            <p:nvSpPr>
              <p:cNvPr id="87" name="Rectangle 396">
                <a:extLst>
                  <a:ext uri="{FF2B5EF4-FFF2-40B4-BE49-F238E27FC236}">
                    <a16:creationId xmlns:a16="http://schemas.microsoft.com/office/drawing/2014/main" id="{0805BFED-60F5-48A3-8577-55F431C95AF6}"/>
                  </a:ext>
                </a:extLst>
              </p:cNvPr>
              <p:cNvSpPr>
                <a:spLocks noChangeArrowheads="1"/>
              </p:cNvSpPr>
              <p:nvPr/>
            </p:nvSpPr>
            <p:spPr bwMode="auto">
              <a:xfrm>
                <a:off x="1714" y="662"/>
                <a:ext cx="11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endParaRPr lang="zh-CN" altLang="zh-CN" b="0" i="1">
                  <a:latin typeface="+mn-lt"/>
                  <a:ea typeface="+mn-ea"/>
                </a:endParaRPr>
              </a:p>
            </p:txBody>
          </p:sp>
          <mc:AlternateContent xmlns:mc="http://schemas.openxmlformats.org/markup-compatibility/2006" xmlns:a14="http://schemas.microsoft.com/office/drawing/2010/main">
            <mc:Choice Requires="a14">
              <p:sp>
                <p:nvSpPr>
                  <p:cNvPr id="88" name="Object 397">
                    <a:extLst>
                      <a:ext uri="{FF2B5EF4-FFF2-40B4-BE49-F238E27FC236}">
                        <a16:creationId xmlns:a16="http://schemas.microsoft.com/office/drawing/2014/main" id="{331618F8-278C-497C-B28A-7598EC0BAC3B}"/>
                      </a:ext>
                    </a:extLst>
                  </p:cNvPr>
                  <p:cNvSpPr txBox="1"/>
                  <p:nvPr/>
                </p:nvSpPr>
                <p:spPr bwMode="auto">
                  <a:xfrm>
                    <a:off x="1064" y="336"/>
                    <a:ext cx="311"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1</m:t>
                              </m:r>
                            </m:sub>
                          </m:sSub>
                        </m:oMath>
                      </m:oMathPara>
                    </a14:m>
                    <a:endParaRPr lang="zh-CN" altLang="en-US" sz="2800"/>
                  </a:p>
                </p:txBody>
              </p:sp>
            </mc:Choice>
            <mc:Fallback xmlns="">
              <p:sp>
                <p:nvSpPr>
                  <p:cNvPr id="88" name="Object 397">
                    <a:extLst>
                      <a:ext uri="{FF2B5EF4-FFF2-40B4-BE49-F238E27FC236}">
                        <a16:creationId xmlns:a16="http://schemas.microsoft.com/office/drawing/2014/main" id="{331618F8-278C-497C-B28A-7598EC0BAC3B}"/>
                      </a:ext>
                    </a:extLst>
                  </p:cNvPr>
                  <p:cNvSpPr txBox="1">
                    <a:spLocks noRot="1" noChangeAspect="1" noMove="1" noResize="1" noEditPoints="1" noAdjustHandles="1" noChangeArrowheads="1" noChangeShapeType="1" noTextEdit="1"/>
                  </p:cNvSpPr>
                  <p:nvPr/>
                </p:nvSpPr>
                <p:spPr bwMode="auto">
                  <a:xfrm>
                    <a:off x="1064" y="336"/>
                    <a:ext cx="311" cy="311"/>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Object 398">
                    <a:extLst>
                      <a:ext uri="{FF2B5EF4-FFF2-40B4-BE49-F238E27FC236}">
                        <a16:creationId xmlns:a16="http://schemas.microsoft.com/office/drawing/2014/main" id="{11641264-2CCD-435F-92F8-4679A2FB99DA}"/>
                      </a:ext>
                    </a:extLst>
                  </p:cNvPr>
                  <p:cNvSpPr txBox="1"/>
                  <p:nvPr/>
                </p:nvSpPr>
                <p:spPr bwMode="auto">
                  <a:xfrm>
                    <a:off x="936" y="1104"/>
                    <a:ext cx="356" cy="311"/>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smtClean="0">
                                  <a:solidFill>
                                    <a:srgbClr val="000000"/>
                                  </a:solidFill>
                                  <a:latin typeface="Cambria Math" panose="02040503050406030204" pitchFamily="18" charset="0"/>
                                </a:rPr>
                                <m:t>𝑄</m:t>
                              </m:r>
                            </m:e>
                            <m:sub>
                              <m:r>
                                <a:rPr lang="zh-CN" altLang="en-US" sz="2800" b="0" i="1" smtClean="0">
                                  <a:solidFill>
                                    <a:srgbClr val="000000"/>
                                  </a:solidFill>
                                  <a:latin typeface="Cambria Math" panose="02040503050406030204" pitchFamily="18" charset="0"/>
                                </a:rPr>
                                <m:t>2</m:t>
                              </m:r>
                            </m:sub>
                          </m:sSub>
                        </m:oMath>
                      </m:oMathPara>
                    </a14:m>
                    <a:endParaRPr lang="zh-CN" altLang="en-US" sz="2800"/>
                  </a:p>
                </p:txBody>
              </p:sp>
            </mc:Choice>
            <mc:Fallback xmlns="">
              <p:sp>
                <p:nvSpPr>
                  <p:cNvPr id="89" name="Object 398">
                    <a:extLst>
                      <a:ext uri="{FF2B5EF4-FFF2-40B4-BE49-F238E27FC236}">
                        <a16:creationId xmlns:a16="http://schemas.microsoft.com/office/drawing/2014/main" id="{11641264-2CCD-435F-92F8-4679A2FB99DA}"/>
                      </a:ext>
                    </a:extLst>
                  </p:cNvPr>
                  <p:cNvSpPr txBox="1">
                    <a:spLocks noRot="1" noChangeAspect="1" noMove="1" noResize="1" noEditPoints="1" noAdjustHandles="1" noChangeArrowheads="1" noChangeShapeType="1" noTextEdit="1"/>
                  </p:cNvSpPr>
                  <p:nvPr/>
                </p:nvSpPr>
                <p:spPr bwMode="auto">
                  <a:xfrm>
                    <a:off x="936" y="1104"/>
                    <a:ext cx="356" cy="311"/>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Object 399">
                    <a:extLst>
                      <a:ext uri="{FF2B5EF4-FFF2-40B4-BE49-F238E27FC236}">
                        <a16:creationId xmlns:a16="http://schemas.microsoft.com/office/drawing/2014/main" id="{1210D93A-265B-49F0-9EF3-B3E07FD61F34}"/>
                      </a:ext>
                    </a:extLst>
                  </p:cNvPr>
                  <p:cNvSpPr txBox="1"/>
                  <p:nvPr/>
                </p:nvSpPr>
                <p:spPr bwMode="auto">
                  <a:xfrm>
                    <a:off x="1653" y="672"/>
                    <a:ext cx="267" cy="2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𝐴</m:t>
                          </m:r>
                        </m:oMath>
                      </m:oMathPara>
                    </a14:m>
                    <a:endParaRPr lang="zh-CN" altLang="en-US" sz="2800"/>
                  </a:p>
                </p:txBody>
              </p:sp>
            </mc:Choice>
            <mc:Fallback xmlns="">
              <p:sp>
                <p:nvSpPr>
                  <p:cNvPr id="90" name="Object 399">
                    <a:extLst>
                      <a:ext uri="{FF2B5EF4-FFF2-40B4-BE49-F238E27FC236}">
                        <a16:creationId xmlns:a16="http://schemas.microsoft.com/office/drawing/2014/main" id="{1210D93A-265B-49F0-9EF3-B3E07FD61F34}"/>
                      </a:ext>
                    </a:extLst>
                  </p:cNvPr>
                  <p:cNvSpPr txBox="1">
                    <a:spLocks noRot="1" noChangeAspect="1" noMove="1" noResize="1" noEditPoints="1" noAdjustHandles="1" noChangeArrowheads="1" noChangeShapeType="1" noTextEdit="1"/>
                  </p:cNvSpPr>
                  <p:nvPr/>
                </p:nvSpPr>
                <p:spPr bwMode="auto">
                  <a:xfrm>
                    <a:off x="1653" y="672"/>
                    <a:ext cx="267" cy="237"/>
                  </a:xfrm>
                  <a:prstGeom prst="rect">
                    <a:avLst/>
                  </a:prstGeom>
                  <a:blipFill>
                    <a:blip r:embed="rId21"/>
                    <a:stretch>
                      <a:fillRect b="-491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3" name="Object 400">
                  <a:extLst>
                    <a:ext uri="{FF2B5EF4-FFF2-40B4-BE49-F238E27FC236}">
                      <a16:creationId xmlns:a16="http://schemas.microsoft.com/office/drawing/2014/main" id="{8FBAAFBC-10CE-48CB-8929-94EB913E27C9}"/>
                    </a:ext>
                  </a:extLst>
                </p:cNvPr>
                <p:cNvSpPr txBox="1"/>
                <p:nvPr/>
              </p:nvSpPr>
              <p:spPr bwMode="auto">
                <a:xfrm>
                  <a:off x="3984" y="3456"/>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𝐶</m:t>
                        </m:r>
                      </m:oMath>
                    </m:oMathPara>
                  </a14:m>
                  <a:endParaRPr lang="zh-CN" altLang="en-US" sz="2800"/>
                </a:p>
              </p:txBody>
            </p:sp>
          </mc:Choice>
          <mc:Fallback xmlns="">
            <p:sp>
              <p:nvSpPr>
                <p:cNvPr id="73" name="Object 400">
                  <a:extLst>
                    <a:ext uri="{FF2B5EF4-FFF2-40B4-BE49-F238E27FC236}">
                      <a16:creationId xmlns:a16="http://schemas.microsoft.com/office/drawing/2014/main" id="{8FBAAFBC-10CE-48CB-8929-94EB913E27C9}"/>
                    </a:ext>
                  </a:extLst>
                </p:cNvPr>
                <p:cNvSpPr txBox="1">
                  <a:spLocks noRot="1" noChangeAspect="1" noMove="1" noResize="1" noEditPoints="1" noAdjustHandles="1" noChangeArrowheads="1" noChangeShapeType="1" noTextEdit="1"/>
                </p:cNvSpPr>
                <p:nvPr/>
              </p:nvSpPr>
              <p:spPr bwMode="auto">
                <a:xfrm>
                  <a:off x="3984" y="3456"/>
                  <a:ext cx="266" cy="25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Object 401">
                  <a:extLst>
                    <a:ext uri="{FF2B5EF4-FFF2-40B4-BE49-F238E27FC236}">
                      <a16:creationId xmlns:a16="http://schemas.microsoft.com/office/drawing/2014/main" id="{83414AC3-E8E9-4FB9-B85D-732B9616A35D}"/>
                    </a:ext>
                  </a:extLst>
                </p:cNvPr>
                <p:cNvSpPr txBox="1"/>
                <p:nvPr/>
              </p:nvSpPr>
              <p:spPr bwMode="auto">
                <a:xfrm>
                  <a:off x="5376" y="3356"/>
                  <a:ext cx="33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𝐶</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74" name="Object 401">
                  <a:extLst>
                    <a:ext uri="{FF2B5EF4-FFF2-40B4-BE49-F238E27FC236}">
                      <a16:creationId xmlns:a16="http://schemas.microsoft.com/office/drawing/2014/main" id="{83414AC3-E8E9-4FB9-B85D-732B9616A35D}"/>
                    </a:ext>
                  </a:extLst>
                </p:cNvPr>
                <p:cNvSpPr txBox="1">
                  <a:spLocks noRot="1" noChangeAspect="1" noMove="1" noResize="1" noEditPoints="1" noAdjustHandles="1" noChangeArrowheads="1" noChangeShapeType="1" noTextEdit="1"/>
                </p:cNvSpPr>
                <p:nvPr/>
              </p:nvSpPr>
              <p:spPr bwMode="auto">
                <a:xfrm>
                  <a:off x="5376" y="3356"/>
                  <a:ext cx="336" cy="255"/>
                </a:xfrm>
                <a:prstGeom prst="rect">
                  <a:avLst/>
                </a:prstGeom>
                <a:blipFill>
                  <a:blip r:embed="rId23"/>
                  <a:stretch>
                    <a:fillRect/>
                  </a:stretch>
                </a:blipFill>
              </p:spPr>
              <p:txBody>
                <a:bodyPr/>
                <a:lstStyle/>
                <a:p>
                  <a:r>
                    <a:rPr lang="en-US">
                      <a:noFill/>
                    </a:rPr>
                    <a:t> </a:t>
                  </a:r>
                </a:p>
              </p:txBody>
            </p:sp>
          </mc:Fallback>
        </mc:AlternateContent>
        <p:sp>
          <p:nvSpPr>
            <p:cNvPr id="75" name="Line 402">
              <a:extLst>
                <a:ext uri="{FF2B5EF4-FFF2-40B4-BE49-F238E27FC236}">
                  <a16:creationId xmlns:a16="http://schemas.microsoft.com/office/drawing/2014/main" id="{743EC672-F73B-456B-833D-E9EE833636EF}"/>
                </a:ext>
              </a:extLst>
            </p:cNvPr>
            <p:cNvSpPr>
              <a:spLocks noChangeShapeType="1"/>
            </p:cNvSpPr>
            <p:nvPr/>
          </p:nvSpPr>
          <p:spPr bwMode="auto">
            <a:xfrm>
              <a:off x="4848" y="2540"/>
              <a:ext cx="0" cy="57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grpSp>
      <p:grpSp>
        <p:nvGrpSpPr>
          <p:cNvPr id="99" name="Group 428">
            <a:extLst>
              <a:ext uri="{FF2B5EF4-FFF2-40B4-BE49-F238E27FC236}">
                <a16:creationId xmlns:a16="http://schemas.microsoft.com/office/drawing/2014/main" id="{FFE2FF67-8022-816F-FC9E-1DBC57924C6C}"/>
              </a:ext>
            </a:extLst>
          </p:cNvPr>
          <p:cNvGrpSpPr>
            <a:grpSpLocks/>
          </p:cNvGrpSpPr>
          <p:nvPr/>
        </p:nvGrpSpPr>
        <p:grpSpPr bwMode="auto">
          <a:xfrm>
            <a:off x="7302181" y="5030791"/>
            <a:ext cx="2063750" cy="523876"/>
            <a:chOff x="3744" y="1739"/>
            <a:chExt cx="1300" cy="330"/>
          </a:xfrm>
        </p:grpSpPr>
        <mc:AlternateContent xmlns:mc="http://schemas.openxmlformats.org/markup-compatibility/2006" xmlns:a14="http://schemas.microsoft.com/office/drawing/2010/main">
          <mc:Choice Requires="a14">
            <p:sp>
              <p:nvSpPr>
                <p:cNvPr id="100" name="Object 426">
                  <a:extLst>
                    <a:ext uri="{FF2B5EF4-FFF2-40B4-BE49-F238E27FC236}">
                      <a16:creationId xmlns:a16="http://schemas.microsoft.com/office/drawing/2014/main" id="{B89A3F28-C2AC-48B4-E8F4-02774F7ECA0F}"/>
                    </a:ext>
                  </a:extLst>
                </p:cNvPr>
                <p:cNvSpPr txBox="1"/>
                <p:nvPr/>
              </p:nvSpPr>
              <p:spPr bwMode="auto">
                <a:xfrm>
                  <a:off x="4028" y="1739"/>
                  <a:ext cx="266" cy="25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𝐶</m:t>
                        </m:r>
                      </m:oMath>
                    </m:oMathPara>
                  </a14:m>
                  <a:endParaRPr lang="zh-CN" altLang="en-US" sz="2800" dirty="0"/>
                </a:p>
              </p:txBody>
            </p:sp>
          </mc:Choice>
          <mc:Fallback xmlns="">
            <p:sp>
              <p:nvSpPr>
                <p:cNvPr id="100" name="Object 426">
                  <a:extLst>
                    <a:ext uri="{FF2B5EF4-FFF2-40B4-BE49-F238E27FC236}">
                      <a16:creationId xmlns:a16="http://schemas.microsoft.com/office/drawing/2014/main" id="{DDC4ED54-24AE-4390-9B0E-DFC5B7CC9506}"/>
                    </a:ext>
                  </a:extLst>
                </p:cNvPr>
                <p:cNvSpPr txBox="1">
                  <a:spLocks noRot="1" noChangeAspect="1" noMove="1" noResize="1" noEditPoints="1" noAdjustHandles="1" noChangeArrowheads="1" noChangeShapeType="1" noTextEdit="1"/>
                </p:cNvSpPr>
                <p:nvPr/>
              </p:nvSpPr>
              <p:spPr bwMode="auto">
                <a:xfrm>
                  <a:off x="4028" y="1739"/>
                  <a:ext cx="266" cy="255"/>
                </a:xfrm>
                <a:prstGeom prst="rect">
                  <a:avLst/>
                </a:prstGeom>
                <a:blipFill>
                  <a:blip r:embed="rId24"/>
                  <a:stretch>
                    <a:fillRect/>
                  </a:stretch>
                </a:blipFill>
              </p:spPr>
              <p:txBody>
                <a:bodyPr/>
                <a:lstStyle/>
                <a:p>
                  <a:r>
                    <a:rPr lang="en-US">
                      <a:noFill/>
                    </a:rPr>
                    <a:t> </a:t>
                  </a:r>
                </a:p>
              </p:txBody>
            </p:sp>
          </mc:Fallback>
        </mc:AlternateContent>
        <p:sp>
          <p:nvSpPr>
            <p:cNvPr id="101" name="Rectangle 427">
              <a:extLst>
                <a:ext uri="{FF2B5EF4-FFF2-40B4-BE49-F238E27FC236}">
                  <a16:creationId xmlns:a16="http://schemas.microsoft.com/office/drawing/2014/main" id="{5CA5F923-CFD7-3702-3CFC-D1A6DAA62238}"/>
                </a:ext>
              </a:extLst>
            </p:cNvPr>
            <p:cNvSpPr>
              <a:spLocks noChangeArrowheads="1"/>
            </p:cNvSpPr>
            <p:nvPr/>
          </p:nvSpPr>
          <p:spPr bwMode="auto">
            <a:xfrm>
              <a:off x="3744" y="1742"/>
              <a:ext cx="13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如     也可逆</a:t>
              </a:r>
            </a:p>
          </p:txBody>
        </p:sp>
      </p:grpSp>
      <mc:AlternateContent xmlns:mc="http://schemas.openxmlformats.org/markup-compatibility/2006" xmlns:a14="http://schemas.microsoft.com/office/drawing/2010/main">
        <mc:Choice Requires="a14">
          <p:sp>
            <p:nvSpPr>
              <p:cNvPr id="102" name="Object 429">
                <a:extLst>
                  <a:ext uri="{FF2B5EF4-FFF2-40B4-BE49-F238E27FC236}">
                    <a16:creationId xmlns:a16="http://schemas.microsoft.com/office/drawing/2014/main" id="{AC474E88-A158-2C7A-40E6-3320CF7C75CA}"/>
                  </a:ext>
                </a:extLst>
              </p:cNvPr>
              <p:cNvSpPr txBox="1"/>
              <p:nvPr/>
            </p:nvSpPr>
            <p:spPr bwMode="auto">
              <a:xfrm>
                <a:off x="9473882" y="5035550"/>
                <a:ext cx="1173163" cy="4635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𝜂</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𝜂</m:t>
                          </m:r>
                        </m:e>
                        <m:sup>
                          <m:r>
                            <a:rPr lang="zh-CN" altLang="en-US" sz="2800" b="0" i="1" smtClean="0">
                              <a:solidFill>
                                <a:srgbClr val="000000"/>
                              </a:solidFill>
                              <a:latin typeface="Cambria Math" panose="02040503050406030204" pitchFamily="18" charset="0"/>
                            </a:rPr>
                            <m:t>′</m:t>
                          </m:r>
                        </m:sup>
                      </m:sSup>
                    </m:oMath>
                  </m:oMathPara>
                </a14:m>
                <a:endParaRPr lang="zh-CN" altLang="en-US" sz="2800" dirty="0"/>
              </a:p>
            </p:txBody>
          </p:sp>
        </mc:Choice>
        <mc:Fallback xmlns="">
          <p:sp>
            <p:nvSpPr>
              <p:cNvPr id="102" name="Object 429">
                <a:extLst>
                  <a:ext uri="{FF2B5EF4-FFF2-40B4-BE49-F238E27FC236}">
                    <a16:creationId xmlns:a16="http://schemas.microsoft.com/office/drawing/2014/main" id="{AC474E88-A158-2C7A-40E6-3320CF7C75CA}"/>
                  </a:ext>
                </a:extLst>
              </p:cNvPr>
              <p:cNvSpPr txBox="1">
                <a:spLocks noRot="1" noChangeAspect="1" noMove="1" noResize="1" noEditPoints="1" noAdjustHandles="1" noChangeArrowheads="1" noChangeShapeType="1" noTextEdit="1"/>
              </p:cNvSpPr>
              <p:nvPr/>
            </p:nvSpPr>
            <p:spPr bwMode="auto">
              <a:xfrm>
                <a:off x="9473882" y="5035550"/>
                <a:ext cx="1173163" cy="463550"/>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Object 430">
                <a:extLst>
                  <a:ext uri="{FF2B5EF4-FFF2-40B4-BE49-F238E27FC236}">
                    <a16:creationId xmlns:a16="http://schemas.microsoft.com/office/drawing/2014/main" id="{70A4C901-E3E4-FF6D-960C-CB53C1F9C40A}"/>
                  </a:ext>
                </a:extLst>
              </p:cNvPr>
              <p:cNvSpPr txBox="1"/>
              <p:nvPr/>
            </p:nvSpPr>
            <p:spPr bwMode="auto">
              <a:xfrm>
                <a:off x="8514493" y="5716587"/>
                <a:ext cx="1690179" cy="4635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𝜂</m:t>
                      </m:r>
                      <m:r>
                        <a:rPr lang="zh-CN" altLang="en-US" sz="2800" b="0" i="1" smtClean="0">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smtClean="0">
                              <a:solidFill>
                                <a:srgbClr val="000000"/>
                              </a:solidFill>
                              <a:latin typeface="Cambria Math" panose="02040503050406030204" pitchFamily="18" charset="0"/>
                            </a:rPr>
                            <m:t>𝜂</m:t>
                          </m:r>
                        </m:e>
                        <m:sup>
                          <m:r>
                            <a:rPr lang="zh-CN" altLang="en-US" sz="2800" b="0" i="1" smtClean="0">
                              <a:solidFill>
                                <a:srgbClr val="000000"/>
                              </a:solidFill>
                              <a:latin typeface="Cambria Math" panose="02040503050406030204" pitchFamily="18" charset="0"/>
                            </a:rPr>
                            <m:t>′</m:t>
                          </m:r>
                        </m:sup>
                      </m:sSup>
                    </m:oMath>
                  </m:oMathPara>
                </a14:m>
                <a:endParaRPr lang="zh-CN" altLang="en-US" sz="2800"/>
              </a:p>
            </p:txBody>
          </p:sp>
        </mc:Choice>
        <mc:Fallback xmlns="">
          <p:sp>
            <p:nvSpPr>
              <p:cNvPr id="103" name="Object 430">
                <a:extLst>
                  <a:ext uri="{FF2B5EF4-FFF2-40B4-BE49-F238E27FC236}">
                    <a16:creationId xmlns:a16="http://schemas.microsoft.com/office/drawing/2014/main" id="{70A4C901-E3E4-FF6D-960C-CB53C1F9C40A}"/>
                  </a:ext>
                </a:extLst>
              </p:cNvPr>
              <p:cNvSpPr txBox="1">
                <a:spLocks noRot="1" noChangeAspect="1" noMove="1" noResize="1" noEditPoints="1" noAdjustHandles="1" noChangeArrowheads="1" noChangeShapeType="1" noTextEdit="1"/>
              </p:cNvSpPr>
              <p:nvPr/>
            </p:nvSpPr>
            <p:spPr bwMode="auto">
              <a:xfrm>
                <a:off x="8514493" y="5716587"/>
                <a:ext cx="1690179" cy="463550"/>
              </a:xfrm>
              <a:prstGeom prst="rect">
                <a:avLst/>
              </a:prstGeom>
              <a:blipFill>
                <a:blip r:embed="rId2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52272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37602" name="Object 2"/>
              <p:cNvSpPr txBox="1"/>
              <p:nvPr/>
            </p:nvSpPr>
            <p:spPr>
              <a:xfrm>
                <a:off x="3773488" y="2623823"/>
                <a:ext cx="1981200" cy="129063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537602" name="Object 2"/>
              <p:cNvSpPr txBox="1">
                <a:spLocks noRot="1" noChangeAspect="1" noMove="1" noResize="1" noEditPoints="1" noAdjustHandles="1" noChangeArrowheads="1" noChangeShapeType="1" noTextEdit="1"/>
              </p:cNvSpPr>
              <p:nvPr/>
            </p:nvSpPr>
            <p:spPr>
              <a:xfrm>
                <a:off x="3773488" y="2623823"/>
                <a:ext cx="1981200" cy="1290637"/>
              </a:xfrm>
              <a:prstGeom prst="rect">
                <a:avLst/>
              </a:prstGeom>
              <a:blipFill>
                <a:blip r:embed="rId2"/>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653" name="Object 5"/>
              <p:cNvSpPr txBox="1"/>
              <p:nvPr/>
            </p:nvSpPr>
            <p:spPr>
              <a:xfrm>
                <a:off x="6337300" y="2640491"/>
                <a:ext cx="2514600" cy="12573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27653" name="Object 5"/>
              <p:cNvSpPr txBox="1">
                <a:spLocks noRot="1" noChangeAspect="1" noMove="1" noResize="1" noEditPoints="1" noAdjustHandles="1" noChangeArrowheads="1" noChangeShapeType="1" noTextEdit="1"/>
              </p:cNvSpPr>
              <p:nvPr/>
            </p:nvSpPr>
            <p:spPr>
              <a:xfrm>
                <a:off x="6337300" y="2640491"/>
                <a:ext cx="2514600" cy="1257300"/>
              </a:xfrm>
              <a:prstGeom prst="rect">
                <a:avLst/>
              </a:prstGeom>
              <a:blipFill>
                <a:blip r:embed="rId3"/>
                <a:stretch>
                  <a:fillRect/>
                </a:stretch>
              </a:blipFill>
              <a:ln w="38100">
                <a:noFill/>
                <a:miter/>
              </a:ln>
            </p:spPr>
            <p:txBody>
              <a:bodyPr/>
              <a:lstStyle/>
              <a:p>
                <a:r>
                  <a:rPr lang="en-US">
                    <a:noFill/>
                  </a:rPr>
                  <a:t> </a:t>
                </a:r>
              </a:p>
            </p:txBody>
          </p:sp>
        </mc:Fallback>
      </mc:AlternateContent>
      <p:sp>
        <p:nvSpPr>
          <p:cNvPr id="537606" name="Text Box 6"/>
          <p:cNvSpPr txBox="1"/>
          <p:nvPr/>
        </p:nvSpPr>
        <p:spPr>
          <a:xfrm>
            <a:off x="1812290" y="5275103"/>
            <a:ext cx="6202680" cy="519113"/>
          </a:xfrm>
          <a:prstGeom prst="rect">
            <a:avLst/>
          </a:prstGeom>
          <a:noFill/>
          <a:ln w="9525">
            <a:noFill/>
          </a:ln>
        </p:spPr>
        <p:txBody>
          <a:bodyPr wrap="square">
            <a:spAutoFit/>
          </a:bodyPr>
          <a:lstStyle/>
          <a:p>
            <a:pPr eaLnBrk="1" hangingPunct="1">
              <a:spcBef>
                <a:spcPct val="50000"/>
              </a:spcBef>
            </a:pPr>
            <a:r>
              <a:rPr lang="en-US" altLang="zh-CN" sz="2800" dirty="0">
                <a:latin typeface="Arial" panose="020B0604020202020204" pitchFamily="34" charset="0"/>
              </a:rPr>
              <a:t>- </a:t>
            </a:r>
            <a:r>
              <a:rPr lang="zh-CN" altLang="en-US" sz="2800" dirty="0">
                <a:solidFill>
                  <a:srgbClr val="000000"/>
                </a:solidFill>
                <a:latin typeface="Arial" panose="020B0604020202020204" pitchFamily="34" charset="0"/>
              </a:rPr>
              <a:t>可逆卡诺循环中</a:t>
            </a:r>
            <a:r>
              <a:rPr lang="en-US" altLang="zh-CN" sz="2800" dirty="0">
                <a:solidFill>
                  <a:srgbClr val="000000"/>
                </a:solidFill>
                <a:latin typeface="Arial" panose="020B0604020202020204" pitchFamily="34" charset="0"/>
              </a:rPr>
              <a:t>,  </a:t>
            </a:r>
            <a:r>
              <a:rPr lang="zh-CN" altLang="en-US" sz="2800" dirty="0">
                <a:solidFill>
                  <a:srgbClr val="000000"/>
                </a:solidFill>
                <a:latin typeface="Arial" panose="020B0604020202020204" pitchFamily="34" charset="0"/>
              </a:rPr>
              <a:t>热温比总和为零 </a:t>
            </a:r>
            <a:endParaRPr lang="en-US" altLang="zh-CN" sz="2800" dirty="0">
              <a:solidFill>
                <a:srgbClr val="000000"/>
              </a:solidFill>
              <a:latin typeface="Arial" panose="020B0604020202020204" pitchFamily="34" charset="0"/>
            </a:endParaRPr>
          </a:p>
        </p:txBody>
      </p:sp>
      <p:sp>
        <p:nvSpPr>
          <p:cNvPr id="537608" name="Rectangle 8"/>
          <p:cNvSpPr>
            <a:spLocks noChangeArrowheads="1"/>
          </p:cNvSpPr>
          <p:nvPr/>
        </p:nvSpPr>
        <p:spPr bwMode="auto">
          <a:xfrm>
            <a:off x="4392930" y="3938747"/>
            <a:ext cx="2286000" cy="1295400"/>
          </a:xfrm>
          <a:prstGeom prst="rect">
            <a:avLst/>
          </a:prstGeom>
          <a:noFill/>
          <a:ln w="9525">
            <a:noFill/>
            <a:miter lim="800000"/>
          </a:ln>
          <a:effectLst/>
        </p:spPr>
        <p:txBody>
          <a:bodyPr wrap="none" anchor="ctr"/>
          <a:lstStyle/>
          <a:p>
            <a:pPr eaLnBrk="0" fontAlgn="base" hangingPunct="0">
              <a:spcBef>
                <a:spcPct val="0"/>
              </a:spcBef>
              <a:spcAft>
                <a:spcPct val="0"/>
              </a:spcAft>
              <a:defRPr/>
            </a:pPr>
            <a:endParaRPr kumimoji="1" lang="zh-CN" altLang="en-US" sz="2800" b="1">
              <a:solidFill>
                <a:schemeClr val="bg2"/>
              </a:solidFill>
              <a:latin typeface="Bookman Old Style" panose="02050604050505020204" pitchFamily="18" charset="0"/>
              <a:ea typeface="宋体" panose="02010600030101010101" pitchFamily="2" charset="-122"/>
            </a:endParaRPr>
          </a:p>
        </p:txBody>
      </p:sp>
      <p:sp>
        <p:nvSpPr>
          <p:cNvPr id="537617" name="Text Box 17"/>
          <p:cNvSpPr txBox="1"/>
          <p:nvPr/>
        </p:nvSpPr>
        <p:spPr>
          <a:xfrm>
            <a:off x="1884997" y="2842977"/>
            <a:ext cx="1736373" cy="523220"/>
          </a:xfrm>
          <a:prstGeom prst="rect">
            <a:avLst/>
          </a:prstGeom>
          <a:noFill/>
          <a:ln w="9525">
            <a:noFill/>
          </a:ln>
        </p:spPr>
        <p:txBody>
          <a:bodyPr wrap="none">
            <a:spAutoFit/>
          </a:bodyPr>
          <a:lstStyle/>
          <a:p>
            <a:r>
              <a:rPr lang="zh-CN" altLang="en-US" sz="2800" dirty="0">
                <a:latin typeface="Bookman Old Style" panose="02050604050505020204" pitchFamily="18" charset="0"/>
              </a:rPr>
              <a:t>吸热为正 </a:t>
            </a:r>
          </a:p>
        </p:txBody>
      </p:sp>
      <p:sp>
        <p:nvSpPr>
          <p:cNvPr id="5" name="Text Box 13">
            <a:hlinkClick r:id="" action="ppaction://noaction"/>
            <a:extLst>
              <a:ext uri="{FF2B5EF4-FFF2-40B4-BE49-F238E27FC236}">
                <a16:creationId xmlns:a16="http://schemas.microsoft.com/office/drawing/2014/main" id="{B0614BF8-F071-AB32-AB20-6D252800029C}"/>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热温比</a:t>
            </a:r>
          </a:p>
        </p:txBody>
      </p:sp>
      <p:sp>
        <p:nvSpPr>
          <p:cNvPr id="2" name="Text Box 14">
            <a:extLst>
              <a:ext uri="{FF2B5EF4-FFF2-40B4-BE49-F238E27FC236}">
                <a16:creationId xmlns:a16="http://schemas.microsoft.com/office/drawing/2014/main" id="{F5033749-4ABA-EE0C-12E7-7C78522C71B9}"/>
              </a:ext>
            </a:extLst>
          </p:cNvPr>
          <p:cNvSpPr txBox="1"/>
          <p:nvPr/>
        </p:nvSpPr>
        <p:spPr>
          <a:xfrm>
            <a:off x="1562418" y="1623293"/>
            <a:ext cx="2438400" cy="519112"/>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可逆卡诺机</a:t>
            </a:r>
          </a:p>
        </p:txBody>
      </p:sp>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CC3F7AF9-EE2E-7544-3D36-8E7EE15F3841}"/>
                  </a:ext>
                </a:extLst>
              </p:cNvPr>
              <p:cNvSpPr txBox="1"/>
              <p:nvPr/>
            </p:nvSpPr>
            <p:spPr>
              <a:xfrm>
                <a:off x="3937635" y="4033363"/>
                <a:ext cx="612775" cy="12192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oMath>
                  </m:oMathPara>
                </a14:m>
                <a:endParaRPr lang="zh-CN" altLang="en-US" sz="2800" dirty="0"/>
              </a:p>
            </p:txBody>
          </p:sp>
        </mc:Choice>
        <mc:Fallback xmlns="">
          <p:sp>
            <p:nvSpPr>
              <p:cNvPr id="6" name="Object 9">
                <a:extLst>
                  <a:ext uri="{FF2B5EF4-FFF2-40B4-BE49-F238E27FC236}">
                    <a16:creationId xmlns:a16="http://schemas.microsoft.com/office/drawing/2014/main" id="{CC3F7AF9-EE2E-7544-3D36-8E7EE15F3841}"/>
                  </a:ext>
                </a:extLst>
              </p:cNvPr>
              <p:cNvSpPr txBox="1">
                <a:spLocks noRot="1" noChangeAspect="1" noMove="1" noResize="1" noEditPoints="1" noAdjustHandles="1" noChangeArrowheads="1" noChangeShapeType="1" noTextEdit="1"/>
              </p:cNvSpPr>
              <p:nvPr/>
            </p:nvSpPr>
            <p:spPr>
              <a:xfrm>
                <a:off x="3937635" y="4033363"/>
                <a:ext cx="612775" cy="1219200"/>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7" name="Text Box 10">
            <a:extLst>
              <a:ext uri="{FF2B5EF4-FFF2-40B4-BE49-F238E27FC236}">
                <a16:creationId xmlns:a16="http://schemas.microsoft.com/office/drawing/2014/main" id="{8CC5C41B-949A-3BDA-863E-A185CCD0E9A7}"/>
              </a:ext>
            </a:extLst>
          </p:cNvPr>
          <p:cNvSpPr txBox="1"/>
          <p:nvPr/>
        </p:nvSpPr>
        <p:spPr>
          <a:xfrm>
            <a:off x="2365693" y="4239260"/>
            <a:ext cx="2286000" cy="519113"/>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热温比</a:t>
            </a:r>
            <a:r>
              <a:rPr lang="en-US" altLang="zh-CN" sz="2800" dirty="0">
                <a:solidFill>
                  <a:srgbClr val="000000"/>
                </a:solidFill>
                <a:latin typeface="Arial" panose="020B0604020202020204" pitchFamily="34" charset="0"/>
              </a:rPr>
              <a:t>:</a:t>
            </a:r>
            <a:endParaRPr lang="zh-CN" altLang="en-US" sz="2800" dirty="0">
              <a:solidFill>
                <a:srgbClr val="000000"/>
              </a:solidFill>
              <a:latin typeface="Arial" panose="020B0604020202020204" pitchFamily="34" charset="0"/>
            </a:endParaRPr>
          </a:p>
        </p:txBody>
      </p:sp>
      <p:sp>
        <p:nvSpPr>
          <p:cNvPr id="8" name="Text Box 11">
            <a:extLst>
              <a:ext uri="{FF2B5EF4-FFF2-40B4-BE49-F238E27FC236}">
                <a16:creationId xmlns:a16="http://schemas.microsoft.com/office/drawing/2014/main" id="{AD7E7FDA-179A-3E1C-8FA8-39BE746541A6}"/>
              </a:ext>
            </a:extLst>
          </p:cNvPr>
          <p:cNvSpPr txBox="1"/>
          <p:nvPr/>
        </p:nvSpPr>
        <p:spPr>
          <a:xfrm>
            <a:off x="5041265" y="4121626"/>
            <a:ext cx="6092825" cy="946150"/>
          </a:xfrm>
          <a:prstGeom prst="rect">
            <a:avLst/>
          </a:prstGeom>
          <a:noFill/>
          <a:ln w="9525">
            <a:noFill/>
          </a:ln>
        </p:spPr>
        <p:txBody>
          <a:bodyPr wrap="square">
            <a:spAutoFit/>
          </a:bodyPr>
          <a:lstStyle/>
          <a:p>
            <a:pPr eaLnBrk="1" hangingPunct="1">
              <a:spcBef>
                <a:spcPct val="50000"/>
              </a:spcBef>
            </a:pPr>
            <a:r>
              <a:rPr lang="zh-CN" altLang="en-US" sz="2800" dirty="0">
                <a:solidFill>
                  <a:srgbClr val="000000"/>
                </a:solidFill>
                <a:latin typeface="Arial" panose="020B0604020202020204" pitchFamily="34" charset="0"/>
              </a:rPr>
              <a:t>等温过程中吸收或放出的热量与热源温度之比 </a:t>
            </a:r>
            <a:endParaRPr lang="en-US" altLang="zh-CN" sz="2800" dirty="0">
              <a:solidFill>
                <a:srgbClr val="000000"/>
              </a:solidFill>
              <a:latin typeface="Arial" panose="020B0604020202020204" pitchFamily="34" charset="0"/>
            </a:endParaRPr>
          </a:p>
        </p:txBody>
      </p:sp>
      <p:sp>
        <p:nvSpPr>
          <p:cNvPr id="9" name="Text Box 6">
            <a:extLst>
              <a:ext uri="{FF2B5EF4-FFF2-40B4-BE49-F238E27FC236}">
                <a16:creationId xmlns:a16="http://schemas.microsoft.com/office/drawing/2014/main" id="{8D74C3C5-F2A7-BB67-50BB-57FC0497E032}"/>
              </a:ext>
            </a:extLst>
          </p:cNvPr>
          <p:cNvSpPr txBox="1"/>
          <p:nvPr/>
        </p:nvSpPr>
        <p:spPr>
          <a:xfrm>
            <a:off x="1884997" y="6144575"/>
            <a:ext cx="6202680" cy="519113"/>
          </a:xfrm>
          <a:prstGeom prst="rect">
            <a:avLst/>
          </a:prstGeom>
          <a:noFill/>
          <a:ln w="9525">
            <a:noFill/>
          </a:ln>
        </p:spPr>
        <p:txBody>
          <a:bodyPr wrap="square">
            <a:spAutoFit/>
          </a:bodyPr>
          <a:lstStyle/>
          <a:p>
            <a:pPr eaLnBrk="1" hangingPunct="1">
              <a:spcBef>
                <a:spcPct val="50000"/>
              </a:spcBef>
            </a:pPr>
            <a:r>
              <a:rPr lang="en-US" altLang="zh-CN" sz="2800" dirty="0">
                <a:latin typeface="Arial" panose="020B0604020202020204" pitchFamily="34" charset="0"/>
              </a:rPr>
              <a:t>- </a:t>
            </a:r>
            <a:r>
              <a:rPr lang="zh-CN" altLang="en-US" sz="2800" dirty="0">
                <a:latin typeface="Arial" panose="020B0604020202020204" pitchFamily="34" charset="0"/>
              </a:rPr>
              <a:t>不</a:t>
            </a:r>
            <a:r>
              <a:rPr lang="zh-CN" altLang="en-US" sz="2800" dirty="0">
                <a:solidFill>
                  <a:srgbClr val="000000"/>
                </a:solidFill>
                <a:latin typeface="Arial" panose="020B0604020202020204" pitchFamily="34" charset="0"/>
              </a:rPr>
              <a:t>可逆循环</a:t>
            </a:r>
            <a:r>
              <a:rPr lang="en-US" altLang="zh-CN" sz="2800" dirty="0">
                <a:solidFill>
                  <a:srgbClr val="000000"/>
                </a:solidFill>
                <a:latin typeface="Arial" panose="020B0604020202020204" pitchFamily="34" charset="0"/>
              </a:rPr>
              <a:t>,  </a:t>
            </a:r>
            <a:r>
              <a:rPr lang="zh-CN" altLang="en-US" sz="2800" dirty="0">
                <a:solidFill>
                  <a:srgbClr val="000000"/>
                </a:solidFill>
                <a:latin typeface="Arial" panose="020B0604020202020204" pitchFamily="34" charset="0"/>
              </a:rPr>
              <a:t>热温比总和小于零 </a:t>
            </a:r>
            <a:endParaRPr lang="en-US" altLang="zh-CN" sz="2800" dirty="0">
              <a:solidFill>
                <a:srgbClr val="000000"/>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10" name="Object 5">
                <a:extLst>
                  <a:ext uri="{FF2B5EF4-FFF2-40B4-BE49-F238E27FC236}">
                    <a16:creationId xmlns:a16="http://schemas.microsoft.com/office/drawing/2014/main" id="{F8B55A97-5409-365A-AD47-AB10BF8734E5}"/>
                  </a:ext>
                </a:extLst>
              </p:cNvPr>
              <p:cNvSpPr txBox="1"/>
              <p:nvPr/>
            </p:nvSpPr>
            <p:spPr>
              <a:xfrm>
                <a:off x="7733207" y="5775481"/>
                <a:ext cx="2514600" cy="12573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r>
                        <a:rPr lang="en-US" altLang="zh-CN" sz="2800" i="1" smtClean="0">
                          <a:solidFill>
                            <a:srgbClr val="000000"/>
                          </a:solidFill>
                          <a:latin typeface="Cambria Math" panose="02040503050406030204" pitchFamily="18" charset="0"/>
                        </a:rPr>
                        <m:t>&lt;</m:t>
                      </m:r>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10" name="Object 5">
                <a:extLst>
                  <a:ext uri="{FF2B5EF4-FFF2-40B4-BE49-F238E27FC236}">
                    <a16:creationId xmlns:a16="http://schemas.microsoft.com/office/drawing/2014/main" id="{F8B55A97-5409-365A-AD47-AB10BF8734E5}"/>
                  </a:ext>
                </a:extLst>
              </p:cNvPr>
              <p:cNvSpPr txBox="1">
                <a:spLocks noRot="1" noChangeAspect="1" noMove="1" noResize="1" noEditPoints="1" noAdjustHandles="1" noChangeArrowheads="1" noChangeShapeType="1" noTextEdit="1"/>
              </p:cNvSpPr>
              <p:nvPr/>
            </p:nvSpPr>
            <p:spPr>
              <a:xfrm>
                <a:off x="7733207" y="5775481"/>
                <a:ext cx="2514600" cy="1257300"/>
              </a:xfrm>
              <a:prstGeom prst="rect">
                <a:avLst/>
              </a:prstGeom>
              <a:blipFill>
                <a:blip r:embed="rId6"/>
                <a:stretch>
                  <a:fillRect/>
                </a:stretch>
              </a:blipFill>
              <a:ln w="38100">
                <a:noFill/>
                <a:miter/>
              </a:ln>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5AB75274-573B-45DA-AE40-C5B03D44F96C}"/>
              </a:ext>
            </a:extLst>
          </p:cNvPr>
          <p:cNvGrpSpPr/>
          <p:nvPr/>
        </p:nvGrpSpPr>
        <p:grpSpPr>
          <a:xfrm>
            <a:off x="3777715" y="1328422"/>
            <a:ext cx="5475545" cy="1736465"/>
            <a:chOff x="3777715" y="1328422"/>
            <a:chExt cx="5475545" cy="1736465"/>
          </a:xfrm>
        </p:grpSpPr>
        <mc:AlternateContent xmlns:mc="http://schemas.openxmlformats.org/markup-compatibility/2006" xmlns:a14="http://schemas.microsoft.com/office/drawing/2010/main">
          <mc:Choice Requires="a14">
            <p:sp>
              <p:nvSpPr>
                <p:cNvPr id="15" name="Object 2">
                  <a:extLst>
                    <a:ext uri="{FF2B5EF4-FFF2-40B4-BE49-F238E27FC236}">
                      <a16:creationId xmlns:a16="http://schemas.microsoft.com/office/drawing/2014/main" id="{4618691B-C47F-40E3-BC32-D5DACF1E1C58}"/>
                    </a:ext>
                  </a:extLst>
                </p:cNvPr>
                <p:cNvSpPr txBox="1">
                  <a:spLocks/>
                </p:cNvSpPr>
                <p:nvPr/>
              </p:nvSpPr>
              <p:spPr>
                <a:xfrm>
                  <a:off x="3830913" y="1437700"/>
                  <a:ext cx="5422347" cy="1627187"/>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den>
                        </m:f>
                      </m:oMath>
                    </m:oMathPara>
                  </a14:m>
                  <a:endParaRPr lang="zh-CN" altLang="en-US" dirty="0"/>
                </a:p>
              </p:txBody>
            </p:sp>
          </mc:Choice>
          <mc:Fallback xmlns="">
            <p:sp>
              <p:nvSpPr>
                <p:cNvPr id="15" name="Object 2">
                  <a:extLst>
                    <a:ext uri="{FF2B5EF4-FFF2-40B4-BE49-F238E27FC236}">
                      <a16:creationId xmlns:a16="http://schemas.microsoft.com/office/drawing/2014/main" id="{4618691B-C47F-40E3-BC32-D5DACF1E1C58}"/>
                    </a:ext>
                  </a:extLst>
                </p:cNvPr>
                <p:cNvSpPr txBox="1">
                  <a:spLocks noRot="1" noChangeAspect="1" noMove="1" noResize="1" noEditPoints="1" noAdjustHandles="1" noChangeArrowheads="1" noChangeShapeType="1" noTextEdit="1"/>
                </p:cNvSpPr>
                <p:nvPr/>
              </p:nvSpPr>
              <p:spPr>
                <a:xfrm>
                  <a:off x="3830913" y="1437700"/>
                  <a:ext cx="5422347" cy="1627187"/>
                </a:xfrm>
                <a:prstGeom prst="rect">
                  <a:avLst/>
                </a:prstGeom>
                <a:blipFill>
                  <a:blip r:embed="rId7"/>
                  <a:stretch>
                    <a:fillRect/>
                  </a:stretch>
                </a:blipFill>
                <a:ln w="38100">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49BFE23-4D55-423A-91FD-36D397D363D8}"/>
                    </a:ext>
                  </a:extLst>
                </p:cNvPr>
                <p:cNvSpPr txBox="1"/>
                <p:nvPr/>
              </p:nvSpPr>
              <p:spPr>
                <a:xfrm>
                  <a:off x="3777715" y="1328422"/>
                  <a:ext cx="2045770" cy="1094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0" i="1" smtClean="0">
                            <a:solidFill>
                              <a:schemeClr val="tx1"/>
                            </a:solidFill>
                            <a:latin typeface="Cambria Math" panose="02040503050406030204" pitchFamily="18" charset="0"/>
                          </a:rPr>
                          <m:t>=</m:t>
                        </m:r>
                        <m:f>
                          <m:fPr>
                            <m:ctrlPr>
                              <a:rPr lang="zh-CN" altLang="en-US" sz="3200" i="1">
                                <a:solidFill>
                                  <a:schemeClr val="tx1"/>
                                </a:solidFill>
                                <a:latin typeface="Cambria Math" panose="02040503050406030204" pitchFamily="18" charset="0"/>
                              </a:rPr>
                            </m:ctrlPr>
                          </m:fPr>
                          <m:num>
                            <m:sSub>
                              <m:sSubPr>
                                <m:ctrlPr>
                                  <a:rPr lang="zh-CN" altLang="en-US" sz="3200" i="1">
                                    <a:solidFill>
                                      <a:schemeClr val="tx1"/>
                                    </a:solidFill>
                                    <a:latin typeface="Cambria Math" panose="02040503050406030204" pitchFamily="18" charset="0"/>
                                  </a:rPr>
                                </m:ctrlPr>
                              </m:sSubPr>
                              <m:e>
                                <m:r>
                                  <a:rPr lang="zh-CN" altLang="en-US" sz="3200" b="0" i="1">
                                    <a:solidFill>
                                      <a:schemeClr val="tx1"/>
                                    </a:solidFill>
                                    <a:latin typeface="Cambria Math" panose="02040503050406030204" pitchFamily="18" charset="0"/>
                                  </a:rPr>
                                  <m:t>𝑇</m:t>
                                </m:r>
                              </m:e>
                              <m:sub>
                                <m:r>
                                  <a:rPr lang="zh-CN" altLang="en-US" sz="3200" b="0" i="1">
                                    <a:solidFill>
                                      <a:schemeClr val="tx1"/>
                                    </a:solidFill>
                                    <a:latin typeface="Cambria Math" panose="02040503050406030204" pitchFamily="18" charset="0"/>
                                  </a:rPr>
                                  <m:t>2</m:t>
                                </m:r>
                              </m:sub>
                            </m:sSub>
                          </m:num>
                          <m:den>
                            <m:sSub>
                              <m:sSubPr>
                                <m:ctrlPr>
                                  <a:rPr lang="zh-CN" altLang="en-US" sz="3200" i="1">
                                    <a:solidFill>
                                      <a:schemeClr val="tx1"/>
                                    </a:solidFill>
                                    <a:latin typeface="Cambria Math" panose="02040503050406030204" pitchFamily="18" charset="0"/>
                                  </a:rPr>
                                </m:ctrlPr>
                              </m:sSubPr>
                              <m:e>
                                <m:r>
                                  <a:rPr lang="zh-CN" altLang="en-US" sz="3200" b="0" i="1">
                                    <a:solidFill>
                                      <a:schemeClr val="tx1"/>
                                    </a:solidFill>
                                    <a:latin typeface="Cambria Math" panose="02040503050406030204" pitchFamily="18" charset="0"/>
                                  </a:rPr>
                                  <m:t>𝑇</m:t>
                                </m:r>
                              </m:e>
                              <m:sub>
                                <m:r>
                                  <a:rPr lang="zh-CN" altLang="en-US" sz="3200" b="0" i="1">
                                    <a:solidFill>
                                      <a:schemeClr val="tx1"/>
                                    </a:solidFill>
                                    <a:latin typeface="Cambria Math" panose="02040503050406030204" pitchFamily="18" charset="0"/>
                                  </a:rPr>
                                  <m:t>1</m:t>
                                </m:r>
                              </m:sub>
                            </m:sSub>
                          </m:den>
                        </m:f>
                      </m:oMath>
                    </m:oMathPara>
                  </a14:m>
                  <a:endParaRPr lang="zh-CN" altLang="en-US" sz="3200" dirty="0">
                    <a:solidFill>
                      <a:schemeClr val="tx1"/>
                    </a:solidFill>
                  </a:endParaRPr>
                </a:p>
              </p:txBody>
            </p:sp>
          </mc:Choice>
          <mc:Fallback xmlns="">
            <p:sp>
              <p:nvSpPr>
                <p:cNvPr id="16" name="文本框 15">
                  <a:extLst>
                    <a:ext uri="{FF2B5EF4-FFF2-40B4-BE49-F238E27FC236}">
                      <a16:creationId xmlns:a16="http://schemas.microsoft.com/office/drawing/2014/main" id="{849BFE23-4D55-423A-91FD-36D397D363D8}"/>
                    </a:ext>
                  </a:extLst>
                </p:cNvPr>
                <p:cNvSpPr txBox="1">
                  <a:spLocks noRot="1" noChangeAspect="1" noMove="1" noResize="1" noEditPoints="1" noAdjustHandles="1" noChangeArrowheads="1" noChangeShapeType="1" noTextEdit="1"/>
                </p:cNvSpPr>
                <p:nvPr/>
              </p:nvSpPr>
              <p:spPr>
                <a:xfrm>
                  <a:off x="3777715" y="1328422"/>
                  <a:ext cx="2045770" cy="1094852"/>
                </a:xfrm>
                <a:prstGeom prst="rect">
                  <a:avLst/>
                </a:prstGeom>
                <a:blipFill>
                  <a:blip r:embed="rId8"/>
                  <a:stretch>
                    <a:fillRect/>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76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76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6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3760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2" grpId="0"/>
      <p:bldP spid="27653" grpId="0"/>
      <p:bldP spid="537606" grpId="0"/>
      <p:bldP spid="537617" grpId="0"/>
      <p:bldP spid="2" grpId="0"/>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82" name="Group 2"/>
          <p:cNvGrpSpPr/>
          <p:nvPr/>
        </p:nvGrpSpPr>
        <p:grpSpPr>
          <a:xfrm>
            <a:off x="1711960" y="1891057"/>
            <a:ext cx="4471988" cy="3211513"/>
            <a:chOff x="192" y="1008"/>
            <a:chExt cx="2817" cy="2023"/>
          </a:xfrm>
          <a:noFill/>
        </p:grpSpPr>
        <p:grpSp>
          <p:nvGrpSpPr>
            <p:cNvPr id="28712" name="Group 3"/>
            <p:cNvGrpSpPr/>
            <p:nvPr/>
          </p:nvGrpSpPr>
          <p:grpSpPr>
            <a:xfrm>
              <a:off x="192" y="1008"/>
              <a:ext cx="2817" cy="2023"/>
              <a:chOff x="192" y="1008"/>
              <a:chExt cx="2817" cy="2023"/>
            </a:xfrm>
            <a:grpFill/>
          </p:grpSpPr>
          <p:sp>
            <p:nvSpPr>
              <p:cNvPr id="28716" name="Line 5"/>
              <p:cNvSpPr/>
              <p:nvPr/>
            </p:nvSpPr>
            <p:spPr>
              <a:xfrm>
                <a:off x="484" y="2928"/>
                <a:ext cx="2304" cy="0"/>
              </a:xfrm>
              <a:prstGeom prst="line">
                <a:avLst/>
              </a:prstGeom>
              <a:grpFill/>
              <a:ln w="19050" cap="flat" cmpd="sng">
                <a:solidFill>
                  <a:schemeClr val="tx1"/>
                </a:solidFill>
                <a:prstDash val="solid"/>
                <a:headEnd type="none" w="med" len="med"/>
                <a:tailEnd type="triangle" w="sm" len="lg"/>
              </a:ln>
            </p:spPr>
          </p:sp>
          <p:sp>
            <p:nvSpPr>
              <p:cNvPr id="28717" name="Line 6"/>
              <p:cNvSpPr/>
              <p:nvPr/>
            </p:nvSpPr>
            <p:spPr>
              <a:xfrm flipV="1">
                <a:off x="484" y="1008"/>
                <a:ext cx="0" cy="1920"/>
              </a:xfrm>
              <a:prstGeom prst="line">
                <a:avLst/>
              </a:prstGeom>
              <a:grpFill/>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28679" name="Object 7"/>
                  <p:cNvSpPr txBox="1"/>
                  <p:nvPr/>
                </p:nvSpPr>
                <p:spPr>
                  <a:xfrm>
                    <a:off x="192" y="1008"/>
                    <a:ext cx="307" cy="332"/>
                  </a:xfrm>
                  <a:prstGeom prst="rect">
                    <a:avLst/>
                  </a:prstGeom>
                  <a:grp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oMath>
                      </m:oMathPara>
                    </a14:m>
                    <a:endParaRPr lang="zh-CN" altLang="en-US"/>
                  </a:p>
                </p:txBody>
              </p:sp>
            </mc:Choice>
            <mc:Fallback xmlns="">
              <p:sp>
                <p:nvSpPr>
                  <p:cNvPr id="28679" name="Object 7"/>
                  <p:cNvSpPr txBox="1">
                    <a:spLocks noRot="1" noChangeAspect="1" noMove="1" noResize="1" noEditPoints="1" noAdjustHandles="1" noChangeArrowheads="1" noChangeShapeType="1" noTextEdit="1"/>
                  </p:cNvSpPr>
                  <p:nvPr/>
                </p:nvSpPr>
                <p:spPr>
                  <a:xfrm>
                    <a:off x="192" y="1008"/>
                    <a:ext cx="307" cy="332"/>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680" name="Object 8"/>
                  <p:cNvSpPr txBox="1"/>
                  <p:nvPr/>
                </p:nvSpPr>
                <p:spPr>
                  <a:xfrm>
                    <a:off x="270" y="2736"/>
                    <a:ext cx="262" cy="288"/>
                  </a:xfrm>
                  <a:prstGeom prst="rect">
                    <a:avLst/>
                  </a:prstGeom>
                  <a:grp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𝑜</m:t>
                          </m:r>
                        </m:oMath>
                      </m:oMathPara>
                    </a14:m>
                    <a:endParaRPr lang="zh-CN" altLang="en-US"/>
                  </a:p>
                </p:txBody>
              </p:sp>
            </mc:Choice>
            <mc:Fallback xmlns="">
              <p:sp>
                <p:nvSpPr>
                  <p:cNvPr id="28680" name="Object 8"/>
                  <p:cNvSpPr txBox="1">
                    <a:spLocks noRot="1" noChangeAspect="1" noMove="1" noResize="1" noEditPoints="1" noAdjustHandles="1" noChangeArrowheads="1" noChangeShapeType="1" noTextEdit="1"/>
                  </p:cNvSpPr>
                  <p:nvPr/>
                </p:nvSpPr>
                <p:spPr>
                  <a:xfrm>
                    <a:off x="270" y="2736"/>
                    <a:ext cx="262" cy="288"/>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681" name="Object 9"/>
                  <p:cNvSpPr txBox="1"/>
                  <p:nvPr/>
                </p:nvSpPr>
                <p:spPr>
                  <a:xfrm>
                    <a:off x="2788" y="2784"/>
                    <a:ext cx="221" cy="247"/>
                  </a:xfrm>
                  <a:prstGeom prst="rect">
                    <a:avLst/>
                  </a:prstGeom>
                  <a:grp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𝑉</m:t>
                          </m:r>
                        </m:oMath>
                      </m:oMathPara>
                    </a14:m>
                    <a:endParaRPr lang="zh-CN" altLang="en-US"/>
                  </a:p>
                </p:txBody>
              </p:sp>
            </mc:Choice>
            <mc:Fallback xmlns="">
              <p:sp>
                <p:nvSpPr>
                  <p:cNvPr id="28681" name="Object 9"/>
                  <p:cNvSpPr txBox="1">
                    <a:spLocks noRot="1" noChangeAspect="1" noMove="1" noResize="1" noEditPoints="1" noAdjustHandles="1" noChangeArrowheads="1" noChangeShapeType="1" noTextEdit="1"/>
                  </p:cNvSpPr>
                  <p:nvPr/>
                </p:nvSpPr>
                <p:spPr>
                  <a:xfrm>
                    <a:off x="2788" y="2784"/>
                    <a:ext cx="221" cy="247"/>
                  </a:xfrm>
                  <a:prstGeom prst="rect">
                    <a:avLst/>
                  </a:prstGeom>
                  <a:blipFill>
                    <a:blip r:embed="rId4"/>
                    <a:stretch>
                      <a:fillRect/>
                    </a:stretch>
                  </a:blipFill>
                  <a:ln w="38100">
                    <a:noFill/>
                    <a:miter/>
                  </a:ln>
                </p:spPr>
                <p:txBody>
                  <a:bodyPr/>
                  <a:lstStyle/>
                  <a:p>
                    <a:r>
                      <a:rPr lang="zh-CN" altLang="en-US">
                        <a:noFill/>
                      </a:rPr>
                      <a:t> </a:t>
                    </a:r>
                  </a:p>
                </p:txBody>
              </p:sp>
            </mc:Fallback>
          </mc:AlternateContent>
          <p:sp>
            <p:nvSpPr>
              <p:cNvPr id="28718" name="Freeform 10"/>
              <p:cNvSpPr/>
              <p:nvPr/>
            </p:nvSpPr>
            <p:spPr>
              <a:xfrm>
                <a:off x="864" y="1344"/>
                <a:ext cx="1567" cy="1262"/>
              </a:xfrm>
              <a:custGeom>
                <a:avLst/>
                <a:gdLst>
                  <a:gd name="txL" fmla="*/ 0 w 1567"/>
                  <a:gd name="txT" fmla="*/ 0 h 1262"/>
                  <a:gd name="txR" fmla="*/ 1567 w 1567"/>
                  <a:gd name="txB" fmla="*/ 1262 h 1262"/>
                </a:gdLst>
                <a:ahLst/>
                <a:cxnLst>
                  <a:cxn ang="0">
                    <a:pos x="116" y="590"/>
                  </a:cxn>
                  <a:cxn ang="0">
                    <a:pos x="356" y="254"/>
                  </a:cxn>
                  <a:cxn ang="0">
                    <a:pos x="548" y="110"/>
                  </a:cxn>
                  <a:cxn ang="0">
                    <a:pos x="794" y="26"/>
                  </a:cxn>
                  <a:cxn ang="0">
                    <a:pos x="1124" y="14"/>
                  </a:cxn>
                  <a:cxn ang="0">
                    <a:pos x="1364" y="110"/>
                  </a:cxn>
                  <a:cxn ang="0">
                    <a:pos x="1508" y="254"/>
                  </a:cxn>
                  <a:cxn ang="0">
                    <a:pos x="1556" y="398"/>
                  </a:cxn>
                  <a:cxn ang="0">
                    <a:pos x="1556" y="638"/>
                  </a:cxn>
                  <a:cxn ang="0">
                    <a:pos x="1490" y="842"/>
                  </a:cxn>
                  <a:cxn ang="0">
                    <a:pos x="1364" y="974"/>
                  </a:cxn>
                  <a:cxn ang="0">
                    <a:pos x="1220" y="1070"/>
                  </a:cxn>
                  <a:cxn ang="0">
                    <a:pos x="1028" y="1166"/>
                  </a:cxn>
                  <a:cxn ang="0">
                    <a:pos x="802" y="1242"/>
                  </a:cxn>
                  <a:cxn ang="0">
                    <a:pos x="548" y="1262"/>
                  </a:cxn>
                  <a:cxn ang="0">
                    <a:pos x="272" y="1244"/>
                  </a:cxn>
                  <a:cxn ang="0">
                    <a:pos x="116" y="1166"/>
                  </a:cxn>
                  <a:cxn ang="0">
                    <a:pos x="16" y="972"/>
                  </a:cxn>
                  <a:cxn ang="0">
                    <a:pos x="20" y="782"/>
                  </a:cxn>
                  <a:cxn ang="0">
                    <a:pos x="116" y="590"/>
                  </a:cxn>
                </a:cxnLst>
                <a:rect l="txL" t="txT" r="txR" b="txB"/>
                <a:pathLst>
                  <a:path w="1567" h="1262">
                    <a:moveTo>
                      <a:pt x="116" y="590"/>
                    </a:moveTo>
                    <a:cubicBezTo>
                      <a:pt x="172" y="502"/>
                      <a:pt x="284" y="334"/>
                      <a:pt x="356" y="254"/>
                    </a:cubicBezTo>
                    <a:cubicBezTo>
                      <a:pt x="428" y="174"/>
                      <a:pt x="475" y="148"/>
                      <a:pt x="548" y="110"/>
                    </a:cubicBezTo>
                    <a:cubicBezTo>
                      <a:pt x="621" y="72"/>
                      <a:pt x="698" y="42"/>
                      <a:pt x="794" y="26"/>
                    </a:cubicBezTo>
                    <a:cubicBezTo>
                      <a:pt x="890" y="10"/>
                      <a:pt x="1029" y="0"/>
                      <a:pt x="1124" y="14"/>
                    </a:cubicBezTo>
                    <a:cubicBezTo>
                      <a:pt x="1219" y="28"/>
                      <a:pt x="1300" y="70"/>
                      <a:pt x="1364" y="110"/>
                    </a:cubicBezTo>
                    <a:cubicBezTo>
                      <a:pt x="1428" y="150"/>
                      <a:pt x="1476" y="206"/>
                      <a:pt x="1508" y="254"/>
                    </a:cubicBezTo>
                    <a:cubicBezTo>
                      <a:pt x="1540" y="302"/>
                      <a:pt x="1548" y="334"/>
                      <a:pt x="1556" y="398"/>
                    </a:cubicBezTo>
                    <a:cubicBezTo>
                      <a:pt x="1564" y="462"/>
                      <a:pt x="1567" y="564"/>
                      <a:pt x="1556" y="638"/>
                    </a:cubicBezTo>
                    <a:cubicBezTo>
                      <a:pt x="1545" y="712"/>
                      <a:pt x="1522" y="786"/>
                      <a:pt x="1490" y="842"/>
                    </a:cubicBezTo>
                    <a:cubicBezTo>
                      <a:pt x="1458" y="898"/>
                      <a:pt x="1409" y="936"/>
                      <a:pt x="1364" y="974"/>
                    </a:cubicBezTo>
                    <a:cubicBezTo>
                      <a:pt x="1319" y="1012"/>
                      <a:pt x="1276" y="1038"/>
                      <a:pt x="1220" y="1070"/>
                    </a:cubicBezTo>
                    <a:cubicBezTo>
                      <a:pt x="1164" y="1102"/>
                      <a:pt x="1098" y="1137"/>
                      <a:pt x="1028" y="1166"/>
                    </a:cubicBezTo>
                    <a:cubicBezTo>
                      <a:pt x="958" y="1195"/>
                      <a:pt x="882" y="1226"/>
                      <a:pt x="802" y="1242"/>
                    </a:cubicBezTo>
                    <a:cubicBezTo>
                      <a:pt x="722" y="1258"/>
                      <a:pt x="636" y="1262"/>
                      <a:pt x="548" y="1262"/>
                    </a:cubicBezTo>
                    <a:cubicBezTo>
                      <a:pt x="460" y="1262"/>
                      <a:pt x="344" y="1260"/>
                      <a:pt x="272" y="1244"/>
                    </a:cubicBezTo>
                    <a:cubicBezTo>
                      <a:pt x="200" y="1228"/>
                      <a:pt x="159" y="1211"/>
                      <a:pt x="116" y="1166"/>
                    </a:cubicBezTo>
                    <a:cubicBezTo>
                      <a:pt x="73" y="1121"/>
                      <a:pt x="32" y="1036"/>
                      <a:pt x="16" y="972"/>
                    </a:cubicBezTo>
                    <a:cubicBezTo>
                      <a:pt x="0" y="908"/>
                      <a:pt x="3" y="845"/>
                      <a:pt x="20" y="782"/>
                    </a:cubicBezTo>
                    <a:cubicBezTo>
                      <a:pt x="37" y="719"/>
                      <a:pt x="60" y="678"/>
                      <a:pt x="116" y="590"/>
                    </a:cubicBezTo>
                    <a:close/>
                  </a:path>
                </a:pathLst>
              </a:custGeom>
              <a:grpFill/>
              <a:ln w="19050" cap="flat" cmpd="sng">
                <a:solidFill>
                  <a:srgbClr val="006600">
                    <a:alpha val="100000"/>
                  </a:srgbClr>
                </a:solidFill>
                <a:prstDash val="solid"/>
                <a:round/>
                <a:headEnd type="none" w="med" len="med"/>
                <a:tailEnd type="none" w="med" len="med"/>
              </a:ln>
            </p:spPr>
            <p:txBody>
              <a:bodyPr/>
              <a:lstStyle/>
              <a:p>
                <a:endParaRPr lang="zh-CN" altLang="en-US"/>
              </a:p>
            </p:txBody>
          </p:sp>
        </p:grpSp>
        <p:sp>
          <p:nvSpPr>
            <p:cNvPr id="28713" name="Line 11"/>
            <p:cNvSpPr/>
            <p:nvPr/>
          </p:nvSpPr>
          <p:spPr>
            <a:xfrm flipH="1">
              <a:off x="2160" y="2208"/>
              <a:ext cx="192" cy="144"/>
            </a:xfrm>
            <a:prstGeom prst="line">
              <a:avLst/>
            </a:prstGeom>
            <a:grpFill/>
            <a:ln w="38100" cap="flat" cmpd="sng">
              <a:solidFill>
                <a:srgbClr val="008000"/>
              </a:solidFill>
              <a:prstDash val="solid"/>
              <a:headEnd type="none" w="med" len="med"/>
              <a:tailEnd type="triangle" w="sm" len="lg"/>
            </a:ln>
          </p:spPr>
        </p:sp>
        <p:sp>
          <p:nvSpPr>
            <p:cNvPr id="28714" name="Line 12"/>
            <p:cNvSpPr/>
            <p:nvPr/>
          </p:nvSpPr>
          <p:spPr>
            <a:xfrm flipV="1">
              <a:off x="1296" y="1440"/>
              <a:ext cx="144" cy="96"/>
            </a:xfrm>
            <a:prstGeom prst="line">
              <a:avLst/>
            </a:prstGeom>
            <a:grpFill/>
            <a:ln w="38100" cap="flat" cmpd="sng">
              <a:solidFill>
                <a:srgbClr val="008000"/>
              </a:solidFill>
              <a:prstDash val="solid"/>
              <a:headEnd type="none" w="med" len="med"/>
              <a:tailEnd type="triangle" w="sm" len="lg"/>
            </a:ln>
          </p:spPr>
        </p:sp>
      </p:grpSp>
      <p:grpSp>
        <p:nvGrpSpPr>
          <p:cNvPr id="4" name="Group 13"/>
          <p:cNvGrpSpPr/>
          <p:nvPr/>
        </p:nvGrpSpPr>
        <p:grpSpPr>
          <a:xfrm>
            <a:off x="6398260" y="1598957"/>
            <a:ext cx="3886200" cy="2057401"/>
            <a:chOff x="3120" y="912"/>
            <a:chExt cx="2448" cy="1296"/>
          </a:xfrm>
        </p:grpSpPr>
        <p:sp>
          <p:nvSpPr>
            <p:cNvPr id="28711" name="Text Box 14"/>
            <p:cNvSpPr txBox="1"/>
            <p:nvPr/>
          </p:nvSpPr>
          <p:spPr>
            <a:xfrm>
              <a:off x="3120" y="912"/>
              <a:ext cx="2448" cy="327"/>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任一微小可逆卡诺循环</a:t>
              </a:r>
            </a:p>
          </p:txBody>
        </p:sp>
        <mc:AlternateContent xmlns:mc="http://schemas.openxmlformats.org/markup-compatibility/2006" xmlns:a14="http://schemas.microsoft.com/office/drawing/2010/main">
          <mc:Choice Requires="a14">
            <p:sp>
              <p:nvSpPr>
                <p:cNvPr id="28678" name="Object 15"/>
                <p:cNvSpPr txBox="1"/>
                <p:nvPr/>
              </p:nvSpPr>
              <p:spPr>
                <a:xfrm>
                  <a:off x="3542" y="1449"/>
                  <a:ext cx="1824" cy="75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𝑖</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𝑖</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𝑖</m:t>
                                </m:r>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28678" name="Object 15"/>
                <p:cNvSpPr txBox="1">
                  <a:spLocks noRot="1" noChangeAspect="1" noMove="1" noResize="1" noEditPoints="1" noAdjustHandles="1" noChangeArrowheads="1" noChangeShapeType="1" noTextEdit="1"/>
                </p:cNvSpPr>
                <p:nvPr/>
              </p:nvSpPr>
              <p:spPr>
                <a:xfrm>
                  <a:off x="3542" y="1449"/>
                  <a:ext cx="1824" cy="759"/>
                </a:xfrm>
                <a:prstGeom prst="rect">
                  <a:avLst/>
                </a:prstGeom>
                <a:blipFill>
                  <a:blip r:embed="rId5"/>
                  <a:stretch>
                    <a:fillRect/>
                  </a:stretch>
                </a:blipFill>
                <a:ln w="38100">
                  <a:noFill/>
                  <a:miter/>
                </a:ln>
              </p:spPr>
              <p:txBody>
                <a:bodyPr/>
                <a:lstStyle/>
                <a:p>
                  <a:r>
                    <a:rPr lang="en-US">
                      <a:noFill/>
                    </a:rPr>
                    <a:t> </a:t>
                  </a:r>
                </a:p>
              </p:txBody>
            </p:sp>
          </mc:Fallback>
        </mc:AlternateContent>
      </p:grpSp>
      <p:grpSp>
        <p:nvGrpSpPr>
          <p:cNvPr id="5" name="Group 16"/>
          <p:cNvGrpSpPr/>
          <p:nvPr/>
        </p:nvGrpSpPr>
        <p:grpSpPr>
          <a:xfrm>
            <a:off x="6398260" y="3503957"/>
            <a:ext cx="3733800" cy="1958975"/>
            <a:chOff x="3120" y="2112"/>
            <a:chExt cx="2352" cy="1234"/>
          </a:xfrm>
        </p:grpSpPr>
        <p:sp>
          <p:nvSpPr>
            <p:cNvPr id="28710" name="Text Box 17"/>
            <p:cNvSpPr txBox="1"/>
            <p:nvPr/>
          </p:nvSpPr>
          <p:spPr>
            <a:xfrm>
              <a:off x="3120" y="2112"/>
              <a:ext cx="2352" cy="327"/>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对所有微小循环求和</a:t>
              </a:r>
            </a:p>
          </p:txBody>
        </p:sp>
        <mc:AlternateContent xmlns:mc="http://schemas.openxmlformats.org/markup-compatibility/2006" xmlns:a14="http://schemas.microsoft.com/office/drawing/2010/main">
          <mc:Choice Requires="a14">
            <p:sp>
              <p:nvSpPr>
                <p:cNvPr id="28677" name="Object 18"/>
                <p:cNvSpPr txBox="1"/>
                <p:nvPr/>
              </p:nvSpPr>
              <p:spPr>
                <a:xfrm>
                  <a:off x="3748" y="2552"/>
                  <a:ext cx="1440" cy="79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nary>
                          <m:naryPr>
                            <m:chr m:val="∑"/>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𝑖</m:t>
                            </m:r>
                          </m:sub>
                          <m:sup/>
                          <m:e>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𝑖</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𝑖</m:t>
                                    </m:r>
                                  </m:sub>
                                </m:sSub>
                              </m:den>
                            </m:f>
                          </m:e>
                        </m:nary>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28677" name="Object 18"/>
                <p:cNvSpPr txBox="1">
                  <a:spLocks noRot="1" noChangeAspect="1" noMove="1" noResize="1" noEditPoints="1" noAdjustHandles="1" noChangeArrowheads="1" noChangeShapeType="1" noTextEdit="1"/>
                </p:cNvSpPr>
                <p:nvPr/>
              </p:nvSpPr>
              <p:spPr>
                <a:xfrm>
                  <a:off x="3748" y="2552"/>
                  <a:ext cx="1440" cy="794"/>
                </a:xfrm>
                <a:prstGeom prst="rect">
                  <a:avLst/>
                </a:prstGeom>
                <a:blipFill>
                  <a:blip r:embed="rId6"/>
                  <a:stretch>
                    <a:fillRect/>
                  </a:stretch>
                </a:blipFill>
                <a:ln w="38100">
                  <a:noFill/>
                  <a:miter/>
                </a:ln>
              </p:spPr>
              <p:txBody>
                <a:bodyPr/>
                <a:lstStyle/>
                <a:p>
                  <a:r>
                    <a:rPr lang="en-US">
                      <a:noFill/>
                    </a:rPr>
                    <a:t> </a:t>
                  </a:r>
                </a:p>
              </p:txBody>
            </p:sp>
          </mc:Fallback>
        </mc:AlternateContent>
      </p:grpSp>
      <p:grpSp>
        <p:nvGrpSpPr>
          <p:cNvPr id="6" name="Group 19"/>
          <p:cNvGrpSpPr/>
          <p:nvPr/>
        </p:nvGrpSpPr>
        <p:grpSpPr>
          <a:xfrm>
            <a:off x="1122204" y="5025231"/>
            <a:ext cx="4724400" cy="1254125"/>
            <a:chOff x="624" y="3084"/>
            <a:chExt cx="2976" cy="790"/>
          </a:xfrm>
        </p:grpSpPr>
        <mc:AlternateContent xmlns:mc="http://schemas.openxmlformats.org/markup-compatibility/2006" xmlns:a14="http://schemas.microsoft.com/office/drawing/2010/main">
          <mc:Choice Requires="a14">
            <p:sp>
              <p:nvSpPr>
                <p:cNvPr id="28676" name="Object 20"/>
                <p:cNvSpPr txBox="1"/>
                <p:nvPr/>
              </p:nvSpPr>
              <p:spPr>
                <a:xfrm>
                  <a:off x="864" y="3084"/>
                  <a:ext cx="2736" cy="790"/>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𝑖</m:t>
                        </m:r>
                        <m:r>
                          <a:rPr lang="zh-CN" altLang="en-US" sz="2800" i="1" smtClean="0">
                            <a:solidFill>
                              <a:srgbClr val="000000"/>
                            </a:solidFill>
                            <a:latin typeface="Cambria Math" panose="02040503050406030204" pitchFamily="18" charset="0"/>
                          </a:rPr>
                          <m:t>→∞</m:t>
                        </m:r>
                        <m:m>
                          <m:mPr>
                            <m:plcHide m:val="on"/>
                            <m:mcs>
                              <m:mc>
                                <m:mcPr>
                                  <m:count m:val="2"/>
                                  <m:mcJc m:val="center"/>
                                </m:mcPr>
                              </m:mc>
                            </m:mcs>
                            <m:ctrlPr>
                              <a:rPr lang="zh-CN" altLang="en-US" sz="2800" i="1">
                                <a:solidFill>
                                  <a:srgbClr val="000000"/>
                                </a:solidFill>
                                <a:latin typeface="Cambria Math" panose="02040503050406030204" pitchFamily="18" charset="0"/>
                              </a:rPr>
                            </m:ctrlPr>
                          </m:mPr>
                          <m:mr>
                            <m:e/>
                            <m:e/>
                          </m:mr>
                        </m:m>
                        <m:m>
                          <m:mPr>
                            <m:plcHide m:val="on"/>
                            <m:mcs>
                              <m:mc>
                                <m:mcPr>
                                  <m:count m:val="2"/>
                                  <m:mcJc m:val="center"/>
                                </m:mcPr>
                              </m:mc>
                            </m:mcs>
                            <m:ctrlPr>
                              <a:rPr lang="zh-CN" altLang="en-US" sz="2800" i="1">
                                <a:solidFill>
                                  <a:srgbClr val="000000"/>
                                </a:solidFill>
                                <a:latin typeface="Cambria Math" panose="02040503050406030204" pitchFamily="18" charset="0"/>
                              </a:rPr>
                            </m:ctrlPr>
                          </m:mPr>
                          <m:mr>
                            <m:e/>
                            <m:e/>
                          </m:mr>
                        </m:m>
                        <m:nary>
                          <m:naryPr>
                            <m:chr m:val="∮"/>
                            <m:limLoc m:val="undOvr"/>
                            <m:supHide m:val="on"/>
                            <m:ctrlPr>
                              <a:rPr lang="zh-CN" altLang="en-US" sz="2800" i="1">
                                <a:solidFill>
                                  <a:srgbClr val="000000"/>
                                </a:solidFill>
                                <a:latin typeface="Cambria Math" panose="02040503050406030204" pitchFamily="18" charset="0"/>
                              </a:rPr>
                            </m:ctrlPr>
                          </m:naryPr>
                          <m:sub>
                            <m:r>
                              <m:rPr>
                                <m:brk m:alnAt="8"/>
                              </m:rPr>
                              <a:rPr lang="zh-CN" altLang="en-US" sz="2800" i="1">
                                <a:solidFill>
                                  <a:srgbClr val="000000"/>
                                </a:solidFill>
                                <a:latin typeface="Cambria Math" panose="02040503050406030204" pitchFamily="18" charset="0"/>
                              </a:rPr>
                              <m:t>可</m:t>
                            </m:r>
                            <m:r>
                              <a:rPr lang="zh-CN" altLang="en-US" sz="2800" i="1">
                                <a:solidFill>
                                  <a:srgbClr val="000000"/>
                                </a:solidFill>
                                <a:latin typeface="Cambria Math" panose="02040503050406030204" pitchFamily="18" charset="0"/>
                              </a:rPr>
                              <m:t>逆</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28676" name="Object 20"/>
                <p:cNvSpPr txBox="1">
                  <a:spLocks noRot="1" noChangeAspect="1" noMove="1" noResize="1" noEditPoints="1" noAdjustHandles="1" noChangeArrowheads="1" noChangeShapeType="1" noTextEdit="1"/>
                </p:cNvSpPr>
                <p:nvPr/>
              </p:nvSpPr>
              <p:spPr>
                <a:xfrm>
                  <a:off x="864" y="3084"/>
                  <a:ext cx="2736" cy="790"/>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28708" name="Text Box 21"/>
            <p:cNvSpPr txBox="1"/>
            <p:nvPr/>
          </p:nvSpPr>
          <p:spPr>
            <a:xfrm>
              <a:off x="624" y="3273"/>
              <a:ext cx="385" cy="327"/>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当</a:t>
              </a:r>
            </a:p>
          </p:txBody>
        </p:sp>
        <p:sp>
          <p:nvSpPr>
            <p:cNvPr id="28709" name="Text Box 22"/>
            <p:cNvSpPr txBox="1"/>
            <p:nvPr/>
          </p:nvSpPr>
          <p:spPr>
            <a:xfrm>
              <a:off x="1491" y="3277"/>
              <a:ext cx="960" cy="327"/>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时，则  </a:t>
              </a:r>
            </a:p>
          </p:txBody>
        </p:sp>
      </p:grpSp>
      <p:sp>
        <p:nvSpPr>
          <p:cNvPr id="28686" name="Rectangle 23"/>
          <p:cNvSpPr/>
          <p:nvPr/>
        </p:nvSpPr>
        <p:spPr>
          <a:xfrm>
            <a:off x="1559560" y="1052858"/>
            <a:ext cx="8991600" cy="519113"/>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Arial" panose="020B0604020202020204" pitchFamily="34" charset="0"/>
              </a:rPr>
              <a:t>任意的可逆循环可视为由许多可逆卡诺循环所组成</a:t>
            </a:r>
          </a:p>
        </p:txBody>
      </p:sp>
      <p:sp>
        <p:nvSpPr>
          <p:cNvPr id="538648" name="Text Box 24"/>
          <p:cNvSpPr txBox="1"/>
          <p:nvPr/>
        </p:nvSpPr>
        <p:spPr>
          <a:xfrm>
            <a:off x="1124585" y="6185692"/>
            <a:ext cx="8839200" cy="553998"/>
          </a:xfrm>
          <a:prstGeom prst="rect">
            <a:avLst/>
          </a:prstGeom>
          <a:noFill/>
          <a:ln w="9525">
            <a:noFill/>
          </a:ln>
        </p:spPr>
        <p:txBody>
          <a:bodyPr>
            <a:spAutoFit/>
          </a:bodyPr>
          <a:lstStyle/>
          <a:p>
            <a:pPr eaLnBrk="1" hangingPunct="1">
              <a:spcBef>
                <a:spcPct val="50000"/>
              </a:spcBef>
            </a:pPr>
            <a:r>
              <a:rPr lang="en-US" altLang="zh-CN" sz="3000" b="1" dirty="0">
                <a:solidFill>
                  <a:srgbClr val="0066FF"/>
                </a:solidFill>
                <a:latin typeface="Arial" panose="020B0604020202020204" pitchFamily="34" charset="0"/>
              </a:rPr>
              <a:t>- </a:t>
            </a:r>
            <a:r>
              <a:rPr lang="zh-CN" altLang="en-US" sz="3000" b="1" dirty="0">
                <a:solidFill>
                  <a:srgbClr val="0066FF"/>
                </a:solidFill>
                <a:latin typeface="Arial" panose="020B0604020202020204" pitchFamily="34" charset="0"/>
              </a:rPr>
              <a:t>对任一可逆循环过程</a:t>
            </a:r>
            <a:r>
              <a:rPr lang="en-US" altLang="zh-CN" sz="3000" b="1" dirty="0">
                <a:solidFill>
                  <a:srgbClr val="0066FF"/>
                </a:solidFill>
                <a:latin typeface="Arial" panose="020B0604020202020204" pitchFamily="34" charset="0"/>
              </a:rPr>
              <a:t>,  </a:t>
            </a:r>
            <a:r>
              <a:rPr lang="zh-CN" altLang="en-US" sz="3000" b="1" dirty="0">
                <a:solidFill>
                  <a:srgbClr val="0066FF"/>
                </a:solidFill>
                <a:latin typeface="Arial" panose="020B0604020202020204" pitchFamily="34" charset="0"/>
              </a:rPr>
              <a:t>热温比之和为零 </a:t>
            </a:r>
            <a:endParaRPr lang="en-US" altLang="zh-CN" sz="3000" b="1" dirty="0">
              <a:solidFill>
                <a:srgbClr val="0066FF"/>
              </a:solidFill>
              <a:latin typeface="Arial" panose="020B0604020202020204" pitchFamily="34" charset="0"/>
            </a:endParaRPr>
          </a:p>
        </p:txBody>
      </p:sp>
      <p:grpSp>
        <p:nvGrpSpPr>
          <p:cNvPr id="7" name="Group 25"/>
          <p:cNvGrpSpPr/>
          <p:nvPr/>
        </p:nvGrpSpPr>
        <p:grpSpPr>
          <a:xfrm>
            <a:off x="2632710" y="2338733"/>
            <a:ext cx="2851150" cy="2143125"/>
            <a:chOff x="772" y="1290"/>
            <a:chExt cx="1796" cy="1350"/>
          </a:xfrm>
        </p:grpSpPr>
        <p:sp>
          <p:nvSpPr>
            <p:cNvPr id="28697" name="Freeform 26"/>
            <p:cNvSpPr/>
            <p:nvPr/>
          </p:nvSpPr>
          <p:spPr>
            <a:xfrm>
              <a:off x="1504" y="1308"/>
              <a:ext cx="996" cy="756"/>
            </a:xfrm>
            <a:custGeom>
              <a:avLst/>
              <a:gdLst>
                <a:gd name="txL" fmla="*/ 0 w 996"/>
                <a:gd name="txT" fmla="*/ 0 h 756"/>
                <a:gd name="txR" fmla="*/ 996 w 996"/>
                <a:gd name="txB" fmla="*/ 756 h 756"/>
              </a:gdLst>
              <a:ahLst/>
              <a:cxnLst>
                <a:cxn ang="0">
                  <a:pos x="258" y="54"/>
                </a:cxn>
                <a:cxn ang="0">
                  <a:pos x="996" y="756"/>
                </a:cxn>
                <a:cxn ang="0">
                  <a:pos x="726" y="708"/>
                </a:cxn>
                <a:cxn ang="0">
                  <a:pos x="504" y="540"/>
                </a:cxn>
                <a:cxn ang="0">
                  <a:pos x="270" y="294"/>
                </a:cxn>
                <a:cxn ang="0">
                  <a:pos x="0" y="0"/>
                </a:cxn>
                <a:cxn ang="0">
                  <a:pos x="258" y="54"/>
                </a:cxn>
              </a:cxnLst>
              <a:rect l="txL" t="txT" r="txR" b="txB"/>
              <a:pathLst>
                <a:path w="996" h="756">
                  <a:moveTo>
                    <a:pt x="258" y="54"/>
                  </a:moveTo>
                  <a:lnTo>
                    <a:pt x="996" y="756"/>
                  </a:lnTo>
                  <a:lnTo>
                    <a:pt x="726" y="708"/>
                  </a:lnTo>
                  <a:lnTo>
                    <a:pt x="504" y="540"/>
                  </a:lnTo>
                  <a:lnTo>
                    <a:pt x="270" y="294"/>
                  </a:lnTo>
                  <a:lnTo>
                    <a:pt x="0" y="0"/>
                  </a:lnTo>
                  <a:lnTo>
                    <a:pt x="258" y="54"/>
                  </a:lnTo>
                  <a:close/>
                </a:path>
              </a:pathLst>
            </a:custGeom>
            <a:noFill/>
            <a:ln w="19050" cap="flat" cmpd="sng">
              <a:solidFill>
                <a:srgbClr val="D60093">
                  <a:alpha val="100000"/>
                </a:srgbClr>
              </a:solidFill>
              <a:prstDash val="solid"/>
              <a:round/>
              <a:headEnd type="none" w="med" len="med"/>
              <a:tailEnd type="none" w="med" len="med"/>
            </a:ln>
          </p:spPr>
          <p:txBody>
            <a:bodyPr/>
            <a:lstStyle/>
            <a:p>
              <a:endParaRPr lang="zh-CN" altLang="en-US"/>
            </a:p>
          </p:txBody>
        </p:sp>
        <p:sp>
          <p:nvSpPr>
            <p:cNvPr id="28698" name="Freeform 27"/>
            <p:cNvSpPr/>
            <p:nvPr/>
          </p:nvSpPr>
          <p:spPr>
            <a:xfrm>
              <a:off x="1710" y="1290"/>
              <a:ext cx="858" cy="630"/>
            </a:xfrm>
            <a:custGeom>
              <a:avLst/>
              <a:gdLst>
                <a:gd name="txL" fmla="*/ 0 w 858"/>
                <a:gd name="txT" fmla="*/ 0 h 630"/>
                <a:gd name="txR" fmla="*/ 858 w 858"/>
                <a:gd name="txB" fmla="*/ 630 h 630"/>
              </a:gdLst>
              <a:ahLst/>
              <a:cxnLst>
                <a:cxn ang="0">
                  <a:pos x="282" y="77"/>
                </a:cxn>
                <a:cxn ang="0">
                  <a:pos x="666" y="472"/>
                </a:cxn>
                <a:cxn ang="0">
                  <a:pos x="858" y="630"/>
                </a:cxn>
                <a:cxn ang="0">
                  <a:pos x="630" y="606"/>
                </a:cxn>
                <a:cxn ang="0">
                  <a:pos x="87" y="93"/>
                </a:cxn>
                <a:cxn ang="0">
                  <a:pos x="0" y="0"/>
                </a:cxn>
                <a:cxn ang="0">
                  <a:pos x="282" y="77"/>
                </a:cxn>
              </a:cxnLst>
              <a:rect l="txL" t="txT" r="txR" b="txB"/>
              <a:pathLst>
                <a:path w="858" h="630">
                  <a:moveTo>
                    <a:pt x="282" y="77"/>
                  </a:moveTo>
                  <a:lnTo>
                    <a:pt x="666" y="472"/>
                  </a:lnTo>
                  <a:lnTo>
                    <a:pt x="858" y="630"/>
                  </a:lnTo>
                  <a:lnTo>
                    <a:pt x="630" y="606"/>
                  </a:lnTo>
                  <a:lnTo>
                    <a:pt x="87" y="93"/>
                  </a:lnTo>
                  <a:lnTo>
                    <a:pt x="0" y="0"/>
                  </a:lnTo>
                  <a:lnTo>
                    <a:pt x="282" y="77"/>
                  </a:lnTo>
                  <a:close/>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28699" name="Freeform 28"/>
            <p:cNvSpPr/>
            <p:nvPr/>
          </p:nvSpPr>
          <p:spPr>
            <a:xfrm>
              <a:off x="1968" y="1344"/>
              <a:ext cx="528" cy="354"/>
            </a:xfrm>
            <a:custGeom>
              <a:avLst/>
              <a:gdLst>
                <a:gd name="txL" fmla="*/ 0 w 528"/>
                <a:gd name="txT" fmla="*/ 0 h 354"/>
                <a:gd name="txR" fmla="*/ 528 w 528"/>
                <a:gd name="txB" fmla="*/ 354 h 354"/>
              </a:gdLst>
              <a:ahLst/>
              <a:cxnLst>
                <a:cxn ang="0">
                  <a:pos x="0" y="0"/>
                </a:cxn>
                <a:cxn ang="0">
                  <a:pos x="205" y="58"/>
                </a:cxn>
                <a:cxn ang="0">
                  <a:pos x="257" y="102"/>
                </a:cxn>
                <a:cxn ang="0">
                  <a:pos x="317" y="158"/>
                </a:cxn>
                <a:cxn ang="0">
                  <a:pos x="369" y="201"/>
                </a:cxn>
                <a:cxn ang="0">
                  <a:pos x="445" y="262"/>
                </a:cxn>
                <a:cxn ang="0">
                  <a:pos x="522" y="318"/>
                </a:cxn>
                <a:cxn ang="0">
                  <a:pos x="504" y="321"/>
                </a:cxn>
                <a:cxn ang="0">
                  <a:pos x="354" y="354"/>
                </a:cxn>
                <a:cxn ang="0">
                  <a:pos x="319" y="328"/>
                </a:cxn>
                <a:cxn ang="0">
                  <a:pos x="292" y="308"/>
                </a:cxn>
                <a:cxn ang="0">
                  <a:pos x="256" y="273"/>
                </a:cxn>
                <a:cxn ang="0">
                  <a:pos x="224" y="239"/>
                </a:cxn>
                <a:cxn ang="0">
                  <a:pos x="170" y="181"/>
                </a:cxn>
                <a:cxn ang="0">
                  <a:pos x="128" y="134"/>
                </a:cxn>
                <a:cxn ang="0">
                  <a:pos x="95" y="92"/>
                </a:cxn>
                <a:cxn ang="0">
                  <a:pos x="69" y="66"/>
                </a:cxn>
                <a:cxn ang="0">
                  <a:pos x="42" y="45"/>
                </a:cxn>
                <a:cxn ang="0">
                  <a:pos x="0" y="0"/>
                </a:cxn>
              </a:cxnLst>
              <a:rect l="txL" t="txT" r="txR" b="txB"/>
              <a:pathLst>
                <a:path w="528" h="354">
                  <a:moveTo>
                    <a:pt x="0" y="0"/>
                  </a:moveTo>
                  <a:lnTo>
                    <a:pt x="205" y="58"/>
                  </a:lnTo>
                  <a:cubicBezTo>
                    <a:pt x="219" y="68"/>
                    <a:pt x="246" y="87"/>
                    <a:pt x="257" y="102"/>
                  </a:cubicBezTo>
                  <a:cubicBezTo>
                    <a:pt x="276" y="125"/>
                    <a:pt x="297" y="137"/>
                    <a:pt x="317" y="158"/>
                  </a:cubicBezTo>
                  <a:cubicBezTo>
                    <a:pt x="338" y="174"/>
                    <a:pt x="346" y="192"/>
                    <a:pt x="369" y="201"/>
                  </a:cubicBezTo>
                  <a:cubicBezTo>
                    <a:pt x="404" y="237"/>
                    <a:pt x="414" y="240"/>
                    <a:pt x="445" y="262"/>
                  </a:cubicBezTo>
                  <a:cubicBezTo>
                    <a:pt x="468" y="278"/>
                    <a:pt x="525" y="321"/>
                    <a:pt x="522" y="318"/>
                  </a:cubicBezTo>
                  <a:cubicBezTo>
                    <a:pt x="516" y="309"/>
                    <a:pt x="528" y="313"/>
                    <a:pt x="504" y="321"/>
                  </a:cubicBezTo>
                  <a:lnTo>
                    <a:pt x="354" y="354"/>
                  </a:lnTo>
                  <a:cubicBezTo>
                    <a:pt x="353" y="350"/>
                    <a:pt x="322" y="330"/>
                    <a:pt x="319" y="328"/>
                  </a:cubicBezTo>
                  <a:cubicBezTo>
                    <a:pt x="309" y="319"/>
                    <a:pt x="303" y="315"/>
                    <a:pt x="292" y="308"/>
                  </a:cubicBezTo>
                  <a:cubicBezTo>
                    <a:pt x="281" y="290"/>
                    <a:pt x="271" y="287"/>
                    <a:pt x="256" y="273"/>
                  </a:cubicBezTo>
                  <a:cubicBezTo>
                    <a:pt x="245" y="262"/>
                    <a:pt x="234" y="250"/>
                    <a:pt x="224" y="239"/>
                  </a:cubicBezTo>
                  <a:cubicBezTo>
                    <a:pt x="198" y="212"/>
                    <a:pt x="195" y="208"/>
                    <a:pt x="170" y="181"/>
                  </a:cubicBezTo>
                  <a:cubicBezTo>
                    <a:pt x="160" y="171"/>
                    <a:pt x="137" y="145"/>
                    <a:pt x="128" y="134"/>
                  </a:cubicBezTo>
                  <a:cubicBezTo>
                    <a:pt x="116" y="119"/>
                    <a:pt x="107" y="108"/>
                    <a:pt x="95" y="92"/>
                  </a:cubicBezTo>
                  <a:cubicBezTo>
                    <a:pt x="90" y="85"/>
                    <a:pt x="72" y="75"/>
                    <a:pt x="69" y="66"/>
                  </a:cubicBezTo>
                  <a:cubicBezTo>
                    <a:pt x="68" y="62"/>
                    <a:pt x="44" y="48"/>
                    <a:pt x="42" y="45"/>
                  </a:cubicBezTo>
                  <a:cubicBezTo>
                    <a:pt x="30" y="26"/>
                    <a:pt x="0" y="0"/>
                    <a:pt x="0" y="0"/>
                  </a:cubicBezTo>
                  <a:close/>
                </a:path>
              </a:pathLst>
            </a:custGeom>
            <a:noFill/>
            <a:ln w="19050" cap="flat" cmpd="sng">
              <a:solidFill>
                <a:srgbClr val="D60093">
                  <a:alpha val="100000"/>
                </a:srgbClr>
              </a:solidFill>
              <a:prstDash val="solid"/>
              <a:round/>
              <a:headEnd type="none" w="med" len="med"/>
              <a:tailEnd type="none" w="med" len="med"/>
            </a:ln>
          </p:spPr>
          <p:txBody>
            <a:bodyPr/>
            <a:lstStyle/>
            <a:p>
              <a:endParaRPr lang="zh-CN" altLang="en-US"/>
            </a:p>
          </p:txBody>
        </p:sp>
        <p:sp>
          <p:nvSpPr>
            <p:cNvPr id="28700" name="Freeform 29"/>
            <p:cNvSpPr/>
            <p:nvPr/>
          </p:nvSpPr>
          <p:spPr>
            <a:xfrm>
              <a:off x="1344" y="1392"/>
              <a:ext cx="1131" cy="834"/>
            </a:xfrm>
            <a:custGeom>
              <a:avLst/>
              <a:gdLst>
                <a:gd name="txL" fmla="*/ 0 w 1131"/>
                <a:gd name="txT" fmla="*/ 0 h 834"/>
                <a:gd name="txR" fmla="*/ 1131 w 1131"/>
                <a:gd name="txB" fmla="*/ 834 h 834"/>
              </a:gdLst>
              <a:ahLst/>
              <a:cxnLst>
                <a:cxn ang="0">
                  <a:pos x="291" y="63"/>
                </a:cxn>
                <a:cxn ang="0">
                  <a:pos x="555" y="345"/>
                </a:cxn>
                <a:cxn ang="0">
                  <a:pos x="621" y="414"/>
                </a:cxn>
                <a:cxn ang="0">
                  <a:pos x="1131" y="825"/>
                </a:cxn>
                <a:cxn ang="0">
                  <a:pos x="894" y="834"/>
                </a:cxn>
                <a:cxn ang="0">
                  <a:pos x="582" y="630"/>
                </a:cxn>
                <a:cxn ang="0">
                  <a:pos x="311" y="354"/>
                </a:cxn>
                <a:cxn ang="0">
                  <a:pos x="0" y="0"/>
                </a:cxn>
                <a:cxn ang="0">
                  <a:pos x="291" y="63"/>
                </a:cxn>
              </a:cxnLst>
              <a:rect l="txL" t="txT" r="txR" b="txB"/>
              <a:pathLst>
                <a:path w="1131" h="834">
                  <a:moveTo>
                    <a:pt x="291" y="63"/>
                  </a:moveTo>
                  <a:lnTo>
                    <a:pt x="555" y="345"/>
                  </a:lnTo>
                  <a:lnTo>
                    <a:pt x="621" y="414"/>
                  </a:lnTo>
                  <a:lnTo>
                    <a:pt x="1131" y="825"/>
                  </a:lnTo>
                  <a:lnTo>
                    <a:pt x="894" y="834"/>
                  </a:lnTo>
                  <a:lnTo>
                    <a:pt x="582" y="630"/>
                  </a:lnTo>
                  <a:lnTo>
                    <a:pt x="311" y="354"/>
                  </a:lnTo>
                  <a:lnTo>
                    <a:pt x="0" y="0"/>
                  </a:lnTo>
                  <a:lnTo>
                    <a:pt x="291" y="63"/>
                  </a:lnTo>
                  <a:close/>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28701" name="Freeform 30"/>
            <p:cNvSpPr/>
            <p:nvPr/>
          </p:nvSpPr>
          <p:spPr>
            <a:xfrm>
              <a:off x="1104" y="1440"/>
              <a:ext cx="1296" cy="912"/>
            </a:xfrm>
            <a:custGeom>
              <a:avLst/>
              <a:gdLst>
                <a:gd name="txL" fmla="*/ 0 w 1296"/>
                <a:gd name="txT" fmla="*/ 0 h 912"/>
                <a:gd name="txR" fmla="*/ 1296 w 1296"/>
                <a:gd name="txB" fmla="*/ 912 h 912"/>
              </a:gdLst>
              <a:ahLst/>
              <a:cxnLst>
                <a:cxn ang="0">
                  <a:pos x="341" y="86"/>
                </a:cxn>
                <a:cxn ang="0">
                  <a:pos x="714" y="480"/>
                </a:cxn>
                <a:cxn ang="0">
                  <a:pos x="1296" y="912"/>
                </a:cxn>
                <a:cxn ang="0">
                  <a:pos x="1022" y="893"/>
                </a:cxn>
                <a:cxn ang="0">
                  <a:pos x="678" y="663"/>
                </a:cxn>
                <a:cxn ang="0">
                  <a:pos x="355" y="379"/>
                </a:cxn>
                <a:cxn ang="0">
                  <a:pos x="0" y="0"/>
                </a:cxn>
                <a:cxn ang="0">
                  <a:pos x="341" y="86"/>
                </a:cxn>
              </a:cxnLst>
              <a:rect l="txL" t="txT" r="txR" b="txB"/>
              <a:pathLst>
                <a:path w="1296" h="912">
                  <a:moveTo>
                    <a:pt x="341" y="86"/>
                  </a:moveTo>
                  <a:lnTo>
                    <a:pt x="714" y="480"/>
                  </a:lnTo>
                  <a:lnTo>
                    <a:pt x="1296" y="912"/>
                  </a:lnTo>
                  <a:lnTo>
                    <a:pt x="1022" y="893"/>
                  </a:lnTo>
                  <a:lnTo>
                    <a:pt x="678" y="663"/>
                  </a:lnTo>
                  <a:lnTo>
                    <a:pt x="355" y="379"/>
                  </a:lnTo>
                  <a:lnTo>
                    <a:pt x="0" y="0"/>
                  </a:lnTo>
                  <a:lnTo>
                    <a:pt x="341" y="86"/>
                  </a:lnTo>
                  <a:close/>
                </a:path>
              </a:pathLst>
            </a:custGeom>
            <a:noFill/>
            <a:ln w="19050" cap="flat" cmpd="sng">
              <a:solidFill>
                <a:srgbClr val="D60093">
                  <a:alpha val="100000"/>
                </a:srgbClr>
              </a:solidFill>
              <a:prstDash val="solid"/>
              <a:round/>
              <a:headEnd type="none" w="med" len="med"/>
              <a:tailEnd type="none" w="med" len="med"/>
            </a:ln>
          </p:spPr>
          <p:txBody>
            <a:bodyPr/>
            <a:lstStyle/>
            <a:p>
              <a:endParaRPr lang="zh-CN" altLang="en-US"/>
            </a:p>
          </p:txBody>
        </p:sp>
        <p:sp>
          <p:nvSpPr>
            <p:cNvPr id="28702" name="Freeform 31"/>
            <p:cNvSpPr/>
            <p:nvPr/>
          </p:nvSpPr>
          <p:spPr>
            <a:xfrm>
              <a:off x="1012" y="1584"/>
              <a:ext cx="1248" cy="864"/>
            </a:xfrm>
            <a:custGeom>
              <a:avLst/>
              <a:gdLst>
                <a:gd name="txL" fmla="*/ 0 w 1248"/>
                <a:gd name="txT" fmla="*/ 0 h 864"/>
                <a:gd name="txR" fmla="*/ 1248 w 1248"/>
                <a:gd name="txB" fmla="*/ 864 h 864"/>
              </a:gdLst>
              <a:ahLst/>
              <a:cxnLst>
                <a:cxn ang="0">
                  <a:pos x="300" y="66"/>
                </a:cxn>
                <a:cxn ang="0">
                  <a:pos x="647" y="417"/>
                </a:cxn>
                <a:cxn ang="0">
                  <a:pos x="1248" y="864"/>
                </a:cxn>
                <a:cxn ang="0">
                  <a:pos x="984" y="846"/>
                </a:cxn>
                <a:cxn ang="0">
                  <a:pos x="662" y="636"/>
                </a:cxn>
                <a:cxn ang="0">
                  <a:pos x="515" y="519"/>
                </a:cxn>
                <a:cxn ang="0">
                  <a:pos x="342" y="359"/>
                </a:cxn>
                <a:cxn ang="0">
                  <a:pos x="0" y="0"/>
                </a:cxn>
                <a:cxn ang="0">
                  <a:pos x="300" y="66"/>
                </a:cxn>
              </a:cxnLst>
              <a:rect l="txL" t="txT" r="txR" b="txB"/>
              <a:pathLst>
                <a:path w="1248" h="864">
                  <a:moveTo>
                    <a:pt x="300" y="66"/>
                  </a:moveTo>
                  <a:lnTo>
                    <a:pt x="647" y="417"/>
                  </a:lnTo>
                  <a:lnTo>
                    <a:pt x="1248" y="864"/>
                  </a:lnTo>
                  <a:lnTo>
                    <a:pt x="984" y="846"/>
                  </a:lnTo>
                  <a:lnTo>
                    <a:pt x="662" y="636"/>
                  </a:lnTo>
                  <a:lnTo>
                    <a:pt x="515" y="519"/>
                  </a:lnTo>
                  <a:lnTo>
                    <a:pt x="342" y="359"/>
                  </a:lnTo>
                  <a:lnTo>
                    <a:pt x="0" y="0"/>
                  </a:lnTo>
                  <a:lnTo>
                    <a:pt x="300" y="66"/>
                  </a:lnTo>
                  <a:close/>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28703" name="Freeform 32"/>
            <p:cNvSpPr/>
            <p:nvPr/>
          </p:nvSpPr>
          <p:spPr>
            <a:xfrm>
              <a:off x="916" y="1728"/>
              <a:ext cx="1212" cy="799"/>
            </a:xfrm>
            <a:custGeom>
              <a:avLst/>
              <a:gdLst>
                <a:gd name="txL" fmla="*/ 0 w 1212"/>
                <a:gd name="txT" fmla="*/ 0 h 799"/>
                <a:gd name="txR" fmla="*/ 1212 w 1212"/>
                <a:gd name="txB" fmla="*/ 799 h 799"/>
              </a:gdLst>
              <a:ahLst/>
              <a:cxnLst>
                <a:cxn ang="0">
                  <a:pos x="288" y="62"/>
                </a:cxn>
                <a:cxn ang="0">
                  <a:pos x="623" y="384"/>
                </a:cxn>
                <a:cxn ang="0">
                  <a:pos x="806" y="519"/>
                </a:cxn>
                <a:cxn ang="0">
                  <a:pos x="1212" y="798"/>
                </a:cxn>
                <a:cxn ang="0">
                  <a:pos x="946" y="799"/>
                </a:cxn>
                <a:cxn ang="0">
                  <a:pos x="624" y="594"/>
                </a:cxn>
                <a:cxn ang="0">
                  <a:pos x="329" y="339"/>
                </a:cxn>
                <a:cxn ang="0">
                  <a:pos x="0" y="0"/>
                </a:cxn>
                <a:cxn ang="0">
                  <a:pos x="288" y="62"/>
                </a:cxn>
              </a:cxnLst>
              <a:rect l="txL" t="txT" r="txR" b="txB"/>
              <a:pathLst>
                <a:path w="1212" h="799">
                  <a:moveTo>
                    <a:pt x="288" y="62"/>
                  </a:moveTo>
                  <a:lnTo>
                    <a:pt x="623" y="384"/>
                  </a:lnTo>
                  <a:lnTo>
                    <a:pt x="806" y="519"/>
                  </a:lnTo>
                  <a:lnTo>
                    <a:pt x="1212" y="798"/>
                  </a:lnTo>
                  <a:lnTo>
                    <a:pt x="946" y="799"/>
                  </a:lnTo>
                  <a:lnTo>
                    <a:pt x="624" y="594"/>
                  </a:lnTo>
                  <a:lnTo>
                    <a:pt x="329" y="339"/>
                  </a:lnTo>
                  <a:lnTo>
                    <a:pt x="0" y="0"/>
                  </a:lnTo>
                  <a:lnTo>
                    <a:pt x="288" y="62"/>
                  </a:lnTo>
                  <a:close/>
                </a:path>
              </a:pathLst>
            </a:custGeom>
            <a:noFill/>
            <a:ln w="19050" cap="flat" cmpd="sng">
              <a:solidFill>
                <a:srgbClr val="D60093">
                  <a:alpha val="100000"/>
                </a:srgbClr>
              </a:solidFill>
              <a:prstDash val="solid"/>
              <a:round/>
              <a:headEnd type="none" w="med" len="med"/>
              <a:tailEnd type="none" w="med" len="med"/>
            </a:ln>
          </p:spPr>
          <p:txBody>
            <a:bodyPr/>
            <a:lstStyle/>
            <a:p>
              <a:endParaRPr lang="zh-CN" altLang="en-US"/>
            </a:p>
          </p:txBody>
        </p:sp>
        <p:sp>
          <p:nvSpPr>
            <p:cNvPr id="28704" name="Freeform 33"/>
            <p:cNvSpPr/>
            <p:nvPr/>
          </p:nvSpPr>
          <p:spPr>
            <a:xfrm>
              <a:off x="864" y="1872"/>
              <a:ext cx="1071" cy="716"/>
            </a:xfrm>
            <a:custGeom>
              <a:avLst/>
              <a:gdLst>
                <a:gd name="txL" fmla="*/ 0 w 1071"/>
                <a:gd name="txT" fmla="*/ 0 h 716"/>
                <a:gd name="txR" fmla="*/ 1071 w 1071"/>
                <a:gd name="txB" fmla="*/ 716 h 716"/>
              </a:gdLst>
              <a:ahLst/>
              <a:cxnLst>
                <a:cxn ang="0">
                  <a:pos x="216" y="30"/>
                </a:cxn>
                <a:cxn ang="0">
                  <a:pos x="552" y="348"/>
                </a:cxn>
                <a:cxn ang="0">
                  <a:pos x="1071" y="708"/>
                </a:cxn>
                <a:cxn ang="0">
                  <a:pos x="828" y="716"/>
                </a:cxn>
                <a:cxn ang="0">
                  <a:pos x="528" y="525"/>
                </a:cxn>
                <a:cxn ang="0">
                  <a:pos x="261" y="283"/>
                </a:cxn>
                <a:cxn ang="0">
                  <a:pos x="0" y="0"/>
                </a:cxn>
                <a:cxn ang="0">
                  <a:pos x="216" y="30"/>
                </a:cxn>
              </a:cxnLst>
              <a:rect l="txL" t="txT" r="txR" b="txB"/>
              <a:pathLst>
                <a:path w="1071" h="716">
                  <a:moveTo>
                    <a:pt x="216" y="30"/>
                  </a:moveTo>
                  <a:lnTo>
                    <a:pt x="552" y="348"/>
                  </a:lnTo>
                  <a:lnTo>
                    <a:pt x="1071" y="708"/>
                  </a:lnTo>
                  <a:lnTo>
                    <a:pt x="828" y="716"/>
                  </a:lnTo>
                  <a:lnTo>
                    <a:pt x="528" y="525"/>
                  </a:lnTo>
                  <a:lnTo>
                    <a:pt x="261" y="283"/>
                  </a:lnTo>
                  <a:lnTo>
                    <a:pt x="0" y="0"/>
                  </a:lnTo>
                  <a:lnTo>
                    <a:pt x="216" y="30"/>
                  </a:lnTo>
                  <a:close/>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28705" name="Freeform 34"/>
            <p:cNvSpPr/>
            <p:nvPr/>
          </p:nvSpPr>
          <p:spPr>
            <a:xfrm>
              <a:off x="816" y="1968"/>
              <a:ext cx="912" cy="648"/>
            </a:xfrm>
            <a:custGeom>
              <a:avLst/>
              <a:gdLst>
                <a:gd name="txL" fmla="*/ 0 w 912"/>
                <a:gd name="txT" fmla="*/ 0 h 648"/>
                <a:gd name="txR" fmla="*/ 912 w 912"/>
                <a:gd name="txB" fmla="*/ 648 h 648"/>
              </a:gdLst>
              <a:ahLst/>
              <a:cxnLst>
                <a:cxn ang="0">
                  <a:pos x="154" y="22"/>
                </a:cxn>
                <a:cxn ang="0">
                  <a:pos x="450" y="318"/>
                </a:cxn>
                <a:cxn ang="0">
                  <a:pos x="612" y="447"/>
                </a:cxn>
                <a:cxn ang="0">
                  <a:pos x="912" y="648"/>
                </a:cxn>
                <a:cxn ang="0">
                  <a:pos x="684" y="648"/>
                </a:cxn>
                <a:cxn ang="0">
                  <a:pos x="435" y="491"/>
                </a:cxn>
                <a:cxn ang="0">
                  <a:pos x="195" y="258"/>
                </a:cxn>
                <a:cxn ang="0">
                  <a:pos x="180" y="234"/>
                </a:cxn>
                <a:cxn ang="0">
                  <a:pos x="0" y="0"/>
                </a:cxn>
                <a:cxn ang="0">
                  <a:pos x="154" y="22"/>
                </a:cxn>
              </a:cxnLst>
              <a:rect l="txL" t="txT" r="txR" b="txB"/>
              <a:pathLst>
                <a:path w="912" h="648">
                  <a:moveTo>
                    <a:pt x="154" y="22"/>
                  </a:moveTo>
                  <a:lnTo>
                    <a:pt x="450" y="318"/>
                  </a:lnTo>
                  <a:lnTo>
                    <a:pt x="612" y="447"/>
                  </a:lnTo>
                  <a:lnTo>
                    <a:pt x="912" y="648"/>
                  </a:lnTo>
                  <a:lnTo>
                    <a:pt x="684" y="648"/>
                  </a:lnTo>
                  <a:lnTo>
                    <a:pt x="435" y="491"/>
                  </a:lnTo>
                  <a:lnTo>
                    <a:pt x="195" y="258"/>
                  </a:lnTo>
                  <a:lnTo>
                    <a:pt x="180" y="234"/>
                  </a:lnTo>
                  <a:lnTo>
                    <a:pt x="0" y="0"/>
                  </a:lnTo>
                  <a:lnTo>
                    <a:pt x="154" y="22"/>
                  </a:lnTo>
                  <a:close/>
                </a:path>
              </a:pathLst>
            </a:custGeom>
            <a:noFill/>
            <a:ln w="19050" cap="flat" cmpd="sng">
              <a:solidFill>
                <a:srgbClr val="D60093">
                  <a:alpha val="100000"/>
                </a:srgbClr>
              </a:solidFill>
              <a:prstDash val="solid"/>
              <a:round/>
              <a:headEnd type="none" w="med" len="med"/>
              <a:tailEnd type="none" w="med" len="med"/>
            </a:ln>
          </p:spPr>
          <p:txBody>
            <a:bodyPr/>
            <a:lstStyle/>
            <a:p>
              <a:endParaRPr lang="zh-CN" altLang="en-US"/>
            </a:p>
          </p:txBody>
        </p:sp>
        <p:sp>
          <p:nvSpPr>
            <p:cNvPr id="28706" name="Freeform 35"/>
            <p:cNvSpPr/>
            <p:nvPr/>
          </p:nvSpPr>
          <p:spPr>
            <a:xfrm>
              <a:off x="772" y="2106"/>
              <a:ext cx="758" cy="534"/>
            </a:xfrm>
            <a:custGeom>
              <a:avLst/>
              <a:gdLst>
                <a:gd name="txL" fmla="*/ 0 w 758"/>
                <a:gd name="txT" fmla="*/ 0 h 534"/>
                <a:gd name="txR" fmla="*/ 758 w 758"/>
                <a:gd name="txB" fmla="*/ 534 h 534"/>
              </a:gdLst>
              <a:ahLst/>
              <a:cxnLst>
                <a:cxn ang="0">
                  <a:pos x="146" y="0"/>
                </a:cxn>
                <a:cxn ang="0">
                  <a:pos x="377" y="261"/>
                </a:cxn>
                <a:cxn ang="0">
                  <a:pos x="404" y="285"/>
                </a:cxn>
                <a:cxn ang="0">
                  <a:pos x="512" y="377"/>
                </a:cxn>
                <a:cxn ang="0">
                  <a:pos x="758" y="534"/>
                </a:cxn>
                <a:cxn ang="0">
                  <a:pos x="530" y="510"/>
                </a:cxn>
                <a:cxn ang="0">
                  <a:pos x="371" y="417"/>
                </a:cxn>
                <a:cxn ang="0">
                  <a:pos x="165" y="224"/>
                </a:cxn>
                <a:cxn ang="0">
                  <a:pos x="0" y="6"/>
                </a:cxn>
                <a:cxn ang="0">
                  <a:pos x="146" y="0"/>
                </a:cxn>
              </a:cxnLst>
              <a:rect l="txL" t="txT" r="txR" b="txB"/>
              <a:pathLst>
                <a:path w="758" h="534">
                  <a:moveTo>
                    <a:pt x="146" y="0"/>
                  </a:moveTo>
                  <a:lnTo>
                    <a:pt x="377" y="261"/>
                  </a:lnTo>
                  <a:lnTo>
                    <a:pt x="404" y="285"/>
                  </a:lnTo>
                  <a:lnTo>
                    <a:pt x="512" y="377"/>
                  </a:lnTo>
                  <a:lnTo>
                    <a:pt x="758" y="534"/>
                  </a:lnTo>
                  <a:lnTo>
                    <a:pt x="530" y="510"/>
                  </a:lnTo>
                  <a:lnTo>
                    <a:pt x="371" y="417"/>
                  </a:lnTo>
                  <a:lnTo>
                    <a:pt x="165" y="224"/>
                  </a:lnTo>
                  <a:lnTo>
                    <a:pt x="0" y="6"/>
                  </a:lnTo>
                  <a:lnTo>
                    <a:pt x="146" y="0"/>
                  </a:lnTo>
                  <a:close/>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28707" name="Freeform 36"/>
            <p:cNvSpPr/>
            <p:nvPr/>
          </p:nvSpPr>
          <p:spPr>
            <a:xfrm>
              <a:off x="784" y="2256"/>
              <a:ext cx="518" cy="369"/>
            </a:xfrm>
            <a:custGeom>
              <a:avLst/>
              <a:gdLst>
                <a:gd name="txL" fmla="*/ 0 w 518"/>
                <a:gd name="txT" fmla="*/ 0 h 369"/>
                <a:gd name="txR" fmla="*/ 518 w 518"/>
                <a:gd name="txB" fmla="*/ 369 h 369"/>
              </a:gdLst>
              <a:ahLst/>
              <a:cxnLst>
                <a:cxn ang="0">
                  <a:pos x="119" y="30"/>
                </a:cxn>
                <a:cxn ang="0">
                  <a:pos x="241" y="157"/>
                </a:cxn>
                <a:cxn ang="0">
                  <a:pos x="329" y="235"/>
                </a:cxn>
                <a:cxn ang="0">
                  <a:pos x="518" y="369"/>
                </a:cxn>
                <a:cxn ang="0">
                  <a:pos x="320" y="351"/>
                </a:cxn>
                <a:cxn ang="0">
                  <a:pos x="248" y="300"/>
                </a:cxn>
                <a:cxn ang="0">
                  <a:pos x="182" y="237"/>
                </a:cxn>
                <a:cxn ang="0">
                  <a:pos x="89" y="129"/>
                </a:cxn>
                <a:cxn ang="0">
                  <a:pos x="0" y="0"/>
                </a:cxn>
                <a:cxn ang="0">
                  <a:pos x="119" y="30"/>
                </a:cxn>
              </a:cxnLst>
              <a:rect l="txL" t="txT" r="txR" b="txB"/>
              <a:pathLst>
                <a:path w="518" h="369">
                  <a:moveTo>
                    <a:pt x="119" y="30"/>
                  </a:moveTo>
                  <a:lnTo>
                    <a:pt x="241" y="157"/>
                  </a:lnTo>
                  <a:lnTo>
                    <a:pt x="329" y="235"/>
                  </a:lnTo>
                  <a:lnTo>
                    <a:pt x="518" y="369"/>
                  </a:lnTo>
                  <a:lnTo>
                    <a:pt x="320" y="351"/>
                  </a:lnTo>
                  <a:lnTo>
                    <a:pt x="248" y="300"/>
                  </a:lnTo>
                  <a:lnTo>
                    <a:pt x="182" y="237"/>
                  </a:lnTo>
                  <a:lnTo>
                    <a:pt x="89" y="129"/>
                  </a:lnTo>
                  <a:lnTo>
                    <a:pt x="0" y="0"/>
                  </a:lnTo>
                  <a:lnTo>
                    <a:pt x="119" y="30"/>
                  </a:lnTo>
                  <a:close/>
                </a:path>
              </a:pathLst>
            </a:custGeom>
            <a:noFill/>
            <a:ln w="19050" cap="flat" cmpd="sng">
              <a:solidFill>
                <a:srgbClr val="D60093">
                  <a:alpha val="100000"/>
                </a:srgbClr>
              </a:solidFill>
              <a:prstDash val="solid"/>
              <a:round/>
              <a:headEnd type="none" w="med" len="med"/>
              <a:tailEnd type="none" w="med" len="med"/>
            </a:ln>
          </p:spPr>
          <p:txBody>
            <a:bodyPr/>
            <a:lstStyle/>
            <a:p>
              <a:endParaRPr lang="zh-CN" altLang="en-US"/>
            </a:p>
          </p:txBody>
        </p:sp>
      </p:grpSp>
      <p:grpSp>
        <p:nvGrpSpPr>
          <p:cNvPr id="8" name="Group 37"/>
          <p:cNvGrpSpPr/>
          <p:nvPr/>
        </p:nvGrpSpPr>
        <p:grpSpPr>
          <a:xfrm>
            <a:off x="3159760" y="2576857"/>
            <a:ext cx="2057400" cy="1447800"/>
            <a:chOff x="1104" y="1440"/>
            <a:chExt cx="1296" cy="912"/>
          </a:xfrm>
        </p:grpSpPr>
        <p:sp>
          <p:nvSpPr>
            <p:cNvPr id="28694" name="Freeform 38" descr="浅色上对角线"/>
            <p:cNvSpPr/>
            <p:nvPr/>
          </p:nvSpPr>
          <p:spPr>
            <a:xfrm>
              <a:off x="1104" y="1440"/>
              <a:ext cx="1296" cy="912"/>
            </a:xfrm>
            <a:custGeom>
              <a:avLst/>
              <a:gdLst>
                <a:gd name="txL" fmla="*/ 0 w 1296"/>
                <a:gd name="txT" fmla="*/ 0 h 912"/>
                <a:gd name="txR" fmla="*/ 1296 w 1296"/>
                <a:gd name="txB" fmla="*/ 912 h 912"/>
              </a:gdLst>
              <a:ahLst/>
              <a:cxnLst>
                <a:cxn ang="0">
                  <a:pos x="333" y="63"/>
                </a:cxn>
                <a:cxn ang="0">
                  <a:pos x="471" y="228"/>
                </a:cxn>
                <a:cxn ang="0">
                  <a:pos x="720" y="477"/>
                </a:cxn>
                <a:cxn ang="0">
                  <a:pos x="975" y="681"/>
                </a:cxn>
                <a:cxn ang="0">
                  <a:pos x="1296" y="912"/>
                </a:cxn>
                <a:cxn ang="0">
                  <a:pos x="1020" y="912"/>
                </a:cxn>
                <a:cxn ang="0">
                  <a:pos x="675" y="660"/>
                </a:cxn>
                <a:cxn ang="0">
                  <a:pos x="519" y="522"/>
                </a:cxn>
                <a:cxn ang="0">
                  <a:pos x="354" y="357"/>
                </a:cxn>
                <a:cxn ang="0">
                  <a:pos x="0" y="0"/>
                </a:cxn>
                <a:cxn ang="0">
                  <a:pos x="333" y="63"/>
                </a:cxn>
              </a:cxnLst>
              <a:rect l="txL" t="txT" r="txR" b="txB"/>
              <a:pathLst>
                <a:path w="1296" h="912">
                  <a:moveTo>
                    <a:pt x="333" y="63"/>
                  </a:moveTo>
                  <a:lnTo>
                    <a:pt x="471" y="228"/>
                  </a:lnTo>
                  <a:lnTo>
                    <a:pt x="720" y="477"/>
                  </a:lnTo>
                  <a:lnTo>
                    <a:pt x="975" y="681"/>
                  </a:lnTo>
                  <a:lnTo>
                    <a:pt x="1296" y="912"/>
                  </a:lnTo>
                  <a:lnTo>
                    <a:pt x="1020" y="912"/>
                  </a:lnTo>
                  <a:lnTo>
                    <a:pt x="675" y="660"/>
                  </a:lnTo>
                  <a:lnTo>
                    <a:pt x="519" y="522"/>
                  </a:lnTo>
                  <a:lnTo>
                    <a:pt x="354" y="357"/>
                  </a:lnTo>
                  <a:lnTo>
                    <a:pt x="0" y="0"/>
                  </a:lnTo>
                  <a:lnTo>
                    <a:pt x="333" y="63"/>
                  </a:lnTo>
                  <a:close/>
                </a:path>
              </a:pathLst>
            </a:custGeom>
            <a:pattFill prst="ltUpDiag">
              <a:fgClr>
                <a:srgbClr val="FF33CC">
                  <a:alpha val="100000"/>
                </a:srgbClr>
              </a:fgClr>
              <a:bgClr>
                <a:schemeClr val="bg1">
                  <a:alpha val="100000"/>
                </a:schemeClr>
              </a:bgClr>
            </a:pattFill>
            <a:ln w="19050" cap="flat" cmpd="sng">
              <a:solidFill>
                <a:srgbClr val="FF0000">
                  <a:alpha val="100000"/>
                </a:srgbClr>
              </a:solidFill>
              <a:prstDash val="solid"/>
              <a:round/>
              <a:headEnd type="none" w="med" len="med"/>
              <a:tailEnd type="none" w="med" len="med"/>
            </a:ln>
          </p:spPr>
          <p:txBody>
            <a:bodyPr/>
            <a:lstStyle/>
            <a:p>
              <a:endParaRPr lang="zh-CN" altLang="en-US"/>
            </a:p>
          </p:txBody>
        </p:sp>
        <p:sp>
          <p:nvSpPr>
            <p:cNvPr id="28695" name="Line 39" descr="浅色上对角线"/>
            <p:cNvSpPr/>
            <p:nvPr/>
          </p:nvSpPr>
          <p:spPr>
            <a:xfrm>
              <a:off x="1776" y="1872"/>
              <a:ext cx="48" cy="48"/>
            </a:xfrm>
            <a:prstGeom prst="line">
              <a:avLst/>
            </a:prstGeom>
            <a:ln w="38100" cap="flat" cmpd="sng">
              <a:solidFill>
                <a:srgbClr val="FF0000"/>
              </a:solidFill>
              <a:prstDash val="solid"/>
              <a:headEnd type="none" w="med" len="med"/>
              <a:tailEnd type="triangle" w="sm" len="lg"/>
            </a:ln>
          </p:spPr>
        </p:sp>
        <p:sp>
          <p:nvSpPr>
            <p:cNvPr id="28696" name="Line 40" descr="浅色上对角线"/>
            <p:cNvSpPr/>
            <p:nvPr/>
          </p:nvSpPr>
          <p:spPr>
            <a:xfrm>
              <a:off x="1632" y="1968"/>
              <a:ext cx="48" cy="48"/>
            </a:xfrm>
            <a:prstGeom prst="line">
              <a:avLst/>
            </a:prstGeom>
            <a:ln w="38100" cap="flat" cmpd="sng">
              <a:solidFill>
                <a:srgbClr val="FF0000"/>
              </a:solidFill>
              <a:prstDash val="solid"/>
              <a:headEnd type="triangle" w="sm" len="lg"/>
              <a:tailEnd type="none" w="med" len="med"/>
            </a:ln>
          </p:spPr>
        </p:sp>
      </p:grpSp>
      <p:grpSp>
        <p:nvGrpSpPr>
          <p:cNvPr id="9" name="Group 41"/>
          <p:cNvGrpSpPr/>
          <p:nvPr/>
        </p:nvGrpSpPr>
        <p:grpSpPr>
          <a:xfrm>
            <a:off x="2626360" y="1814857"/>
            <a:ext cx="838200" cy="914400"/>
            <a:chOff x="768" y="912"/>
            <a:chExt cx="528" cy="576"/>
          </a:xfrm>
        </p:grpSpPr>
        <mc:AlternateContent xmlns:mc="http://schemas.openxmlformats.org/markup-compatibility/2006" xmlns:a14="http://schemas.microsoft.com/office/drawing/2010/main">
          <mc:Choice Requires="a14">
            <p:sp>
              <p:nvSpPr>
                <p:cNvPr id="28675" name="Object 42"/>
                <p:cNvSpPr txBox="1"/>
                <p:nvPr/>
              </p:nvSpPr>
              <p:spPr>
                <a:xfrm>
                  <a:off x="768" y="912"/>
                  <a:ext cx="432" cy="34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600" i="1">
                            <a:solidFill>
                              <a:srgbClr val="000000"/>
                            </a:solidFill>
                            <a:latin typeface="Cambria Math" panose="02040503050406030204" pitchFamily="18" charset="0"/>
                          </a:rPr>
                          <m:t>Δ</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𝑖</m:t>
                            </m:r>
                          </m:sub>
                        </m:sSub>
                      </m:oMath>
                    </m:oMathPara>
                  </a14:m>
                  <a:endParaRPr lang="zh-CN" altLang="en-US" sz="2600" dirty="0"/>
                </a:p>
              </p:txBody>
            </p:sp>
          </mc:Choice>
          <mc:Fallback xmlns="">
            <p:sp>
              <p:nvSpPr>
                <p:cNvPr id="28675" name="Object 42"/>
                <p:cNvSpPr txBox="1">
                  <a:spLocks noRot="1" noChangeAspect="1" noMove="1" noResize="1" noEditPoints="1" noAdjustHandles="1" noChangeArrowheads="1" noChangeShapeType="1" noTextEdit="1"/>
                </p:cNvSpPr>
                <p:nvPr/>
              </p:nvSpPr>
              <p:spPr>
                <a:xfrm>
                  <a:off x="768" y="912"/>
                  <a:ext cx="432" cy="347"/>
                </a:xfrm>
                <a:prstGeom prst="rect">
                  <a:avLst/>
                </a:prstGeom>
                <a:blipFill>
                  <a:blip r:embed="rId8"/>
                  <a:stretch>
                    <a:fillRect/>
                  </a:stretch>
                </a:blipFill>
                <a:ln w="38100">
                  <a:noFill/>
                  <a:miter/>
                </a:ln>
              </p:spPr>
              <p:txBody>
                <a:bodyPr/>
                <a:lstStyle/>
                <a:p>
                  <a:r>
                    <a:rPr lang="en-US">
                      <a:noFill/>
                    </a:rPr>
                    <a:t> </a:t>
                  </a:r>
                </a:p>
              </p:txBody>
            </p:sp>
          </mc:Fallback>
        </mc:AlternateContent>
        <p:sp>
          <p:nvSpPr>
            <p:cNvPr id="28693" name="AutoShape 43"/>
            <p:cNvSpPr/>
            <p:nvPr/>
          </p:nvSpPr>
          <p:spPr>
            <a:xfrm>
              <a:off x="1200" y="912"/>
              <a:ext cx="96" cy="576"/>
            </a:xfrm>
            <a:prstGeom prst="downArrow">
              <a:avLst>
                <a:gd name="adj1" fmla="val 56944"/>
                <a:gd name="adj2" fmla="val 298944"/>
              </a:avLst>
            </a:prstGeom>
            <a:solidFill>
              <a:srgbClr val="FFFFCC"/>
            </a:solidFill>
            <a:ln w="19050" cap="flat" cmpd="sng">
              <a:solidFill>
                <a:srgbClr val="CC6600"/>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10" name="Group 44"/>
          <p:cNvGrpSpPr/>
          <p:nvPr/>
        </p:nvGrpSpPr>
        <p:grpSpPr>
          <a:xfrm>
            <a:off x="4759960" y="4100857"/>
            <a:ext cx="990600" cy="782638"/>
            <a:chOff x="2112" y="2400"/>
            <a:chExt cx="624" cy="493"/>
          </a:xfrm>
        </p:grpSpPr>
        <mc:AlternateContent xmlns:mc="http://schemas.openxmlformats.org/markup-compatibility/2006" xmlns:a14="http://schemas.microsoft.com/office/drawing/2010/main">
          <mc:Choice Requires="a14">
            <p:sp>
              <p:nvSpPr>
                <p:cNvPr id="28674" name="Object 45"/>
                <p:cNvSpPr txBox="1"/>
                <p:nvPr/>
              </p:nvSpPr>
              <p:spPr>
                <a:xfrm>
                  <a:off x="2112" y="2544"/>
                  <a:ext cx="624" cy="34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600" i="1">
                            <a:solidFill>
                              <a:srgbClr val="000000"/>
                            </a:solidFill>
                            <a:latin typeface="Cambria Math" panose="02040503050406030204" pitchFamily="18" charset="0"/>
                          </a:rPr>
                          <m:t>Δ</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𝑖</m:t>
                            </m:r>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28674" name="Object 45"/>
                <p:cNvSpPr txBox="1">
                  <a:spLocks noRot="1" noChangeAspect="1" noMove="1" noResize="1" noEditPoints="1" noAdjustHandles="1" noChangeArrowheads="1" noChangeShapeType="1" noTextEdit="1"/>
                </p:cNvSpPr>
                <p:nvPr/>
              </p:nvSpPr>
              <p:spPr>
                <a:xfrm>
                  <a:off x="2112" y="2544"/>
                  <a:ext cx="624" cy="349"/>
                </a:xfrm>
                <a:prstGeom prst="rect">
                  <a:avLst/>
                </a:prstGeom>
                <a:blipFill>
                  <a:blip r:embed="rId9"/>
                  <a:stretch>
                    <a:fillRect/>
                  </a:stretch>
                </a:blipFill>
                <a:ln w="38100">
                  <a:noFill/>
                  <a:miter/>
                </a:ln>
              </p:spPr>
              <p:txBody>
                <a:bodyPr/>
                <a:lstStyle/>
                <a:p>
                  <a:r>
                    <a:rPr lang="en-US">
                      <a:noFill/>
                    </a:rPr>
                    <a:t> </a:t>
                  </a:r>
                </a:p>
              </p:txBody>
            </p:sp>
          </mc:Fallback>
        </mc:AlternateContent>
        <p:sp>
          <p:nvSpPr>
            <p:cNvPr id="28692" name="AutoShape 46"/>
            <p:cNvSpPr/>
            <p:nvPr/>
          </p:nvSpPr>
          <p:spPr>
            <a:xfrm rot="-2919145">
              <a:off x="2352" y="2160"/>
              <a:ext cx="96" cy="576"/>
            </a:xfrm>
            <a:prstGeom prst="downArrow">
              <a:avLst>
                <a:gd name="adj1" fmla="val 56944"/>
                <a:gd name="adj2" fmla="val 298944"/>
              </a:avLst>
            </a:prstGeom>
            <a:solidFill>
              <a:schemeClr val="accent2"/>
            </a:solidFill>
            <a:ln w="19050" cap="flat" cmpd="sng">
              <a:solidFill>
                <a:schemeClr val="tx2"/>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sp>
        <p:nvSpPr>
          <p:cNvPr id="47" name="Text Box 13">
            <a:hlinkClick r:id="" action="ppaction://noaction"/>
            <a:extLst>
              <a:ext uri="{FF2B5EF4-FFF2-40B4-BE49-F238E27FC236}">
                <a16:creationId xmlns:a16="http://schemas.microsoft.com/office/drawing/2014/main" id="{2107BBC0-BB76-48B4-8005-EBFE891B4341}"/>
              </a:ext>
            </a:extLst>
          </p:cNvPr>
          <p:cNvSpPr txBox="1">
            <a:spLocks noChangeArrowheads="1"/>
          </p:cNvSpPr>
          <p:nvPr/>
        </p:nvSpPr>
        <p:spPr bwMode="auto">
          <a:xfrm>
            <a:off x="574057" y="405824"/>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克劳修斯等式</a:t>
            </a:r>
          </a:p>
        </p:txBody>
      </p:sp>
      <p:sp>
        <p:nvSpPr>
          <p:cNvPr id="2" name="Rectangle 38">
            <a:extLst>
              <a:ext uri="{FF2B5EF4-FFF2-40B4-BE49-F238E27FC236}">
                <a16:creationId xmlns:a16="http://schemas.microsoft.com/office/drawing/2014/main" id="{7AB13A88-7BA5-480D-0AED-5D3678FEB8C0}"/>
              </a:ext>
            </a:extLst>
          </p:cNvPr>
          <p:cNvSpPr>
            <a:spLocks noChangeArrowheads="1"/>
          </p:cNvSpPr>
          <p:nvPr/>
        </p:nvSpPr>
        <p:spPr bwMode="auto">
          <a:xfrm>
            <a:off x="5544185" y="5508174"/>
            <a:ext cx="3402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latin typeface="+mn-lt"/>
                <a:ea typeface="+mn-ea"/>
              </a:rPr>
              <a:t>克劳修斯等式</a:t>
            </a:r>
          </a:p>
        </p:txBody>
      </p:sp>
      <mc:AlternateContent xmlns:mc="http://schemas.openxmlformats.org/markup-compatibility/2006" xmlns:a14="http://schemas.microsoft.com/office/drawing/2010/main">
        <mc:Choice Requires="a14">
          <p:sp>
            <p:nvSpPr>
              <p:cNvPr id="3" name="Object 4">
                <a:extLst>
                  <a:ext uri="{FF2B5EF4-FFF2-40B4-BE49-F238E27FC236}">
                    <a16:creationId xmlns:a16="http://schemas.microsoft.com/office/drawing/2014/main" id="{CD52E873-9166-4BC8-B650-D0BCFB8FD3E3}"/>
                  </a:ext>
                </a:extLst>
              </p:cNvPr>
              <p:cNvSpPr txBox="1"/>
              <p:nvPr/>
            </p:nvSpPr>
            <p:spPr bwMode="auto">
              <a:xfrm>
                <a:off x="8946198" y="5102570"/>
                <a:ext cx="2819400" cy="131445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2800" i="1" smtClean="0">
                              <a:solidFill>
                                <a:schemeClr val="tx1"/>
                              </a:solidFill>
                              <a:latin typeface="Cambria Math" panose="02040503050406030204" pitchFamily="18" charset="0"/>
                            </a:rPr>
                          </m:ctrlPr>
                        </m:naryPr>
                        <m:sub>
                          <m:r>
                            <a:rPr lang="zh-CN" altLang="en-US" sz="2800" i="1">
                              <a:solidFill>
                                <a:schemeClr val="tx1"/>
                              </a:solidFill>
                              <a:latin typeface="Cambria Math" panose="02040503050406030204" pitchFamily="18" charset="0"/>
                            </a:rPr>
                            <m:t>不可逆</m:t>
                          </m:r>
                        </m:sub>
                        <m:sup/>
                        <m:e>
                          <m:f>
                            <m:fPr>
                              <m:ctrlPr>
                                <a:rPr lang="zh-CN" altLang="en-US" sz="2800" i="1">
                                  <a:solidFill>
                                    <a:schemeClr val="tx1"/>
                                  </a:solidFill>
                                  <a:latin typeface="Cambria Math" panose="02040503050406030204" pitchFamily="18" charset="0"/>
                                </a:rPr>
                              </m:ctrlPr>
                            </m:fPr>
                            <m:num>
                              <m:r>
                                <a:rPr lang="zh-CN" altLang="en-US" sz="2800" i="1">
                                  <a:solidFill>
                                    <a:schemeClr val="tx1"/>
                                  </a:solidFill>
                                  <a:latin typeface="Cambria Math" panose="02040503050406030204" pitchFamily="18" charset="0"/>
                                </a:rPr>
                                <m:t>𝑑𝑄</m:t>
                              </m:r>
                            </m:num>
                            <m:den>
                              <m:r>
                                <a:rPr lang="zh-CN" altLang="en-US" sz="2800" i="1">
                                  <a:solidFill>
                                    <a:schemeClr val="tx1"/>
                                  </a:solidFill>
                                  <a:latin typeface="Cambria Math" panose="02040503050406030204" pitchFamily="18" charset="0"/>
                                </a:rPr>
                                <m:t>𝑇</m:t>
                              </m:r>
                            </m:den>
                          </m:f>
                          <m:r>
                            <a:rPr lang="zh-CN" altLang="en-US" sz="2800" i="1">
                              <a:solidFill>
                                <a:schemeClr val="tx1"/>
                              </a:solidFill>
                              <a:latin typeface="Cambria Math" panose="02040503050406030204" pitchFamily="18" charset="0"/>
                            </a:rPr>
                            <m:t>&lt;0</m:t>
                          </m:r>
                        </m:e>
                      </m:nary>
                    </m:oMath>
                  </m:oMathPara>
                </a14:m>
                <a:endParaRPr lang="zh-CN" altLang="en-US" sz="2800" dirty="0">
                  <a:solidFill>
                    <a:schemeClr val="tx1"/>
                  </a:solidFill>
                </a:endParaRPr>
              </a:p>
            </p:txBody>
          </p:sp>
        </mc:Choice>
        <mc:Fallback xmlns="">
          <p:sp>
            <p:nvSpPr>
              <p:cNvPr id="3" name="Object 4">
                <a:extLst>
                  <a:ext uri="{FF2B5EF4-FFF2-40B4-BE49-F238E27FC236}">
                    <a16:creationId xmlns:a16="http://schemas.microsoft.com/office/drawing/2014/main" id="{CD52E873-9166-4BC8-B650-D0BCFB8FD3E3}"/>
                  </a:ext>
                </a:extLst>
              </p:cNvPr>
              <p:cNvSpPr txBox="1">
                <a:spLocks noRot="1" noChangeAspect="1" noMove="1" noResize="1" noEditPoints="1" noAdjustHandles="1" noChangeArrowheads="1" noChangeShapeType="1" noTextEdit="1"/>
              </p:cNvSpPr>
              <p:nvPr/>
            </p:nvSpPr>
            <p:spPr bwMode="auto">
              <a:xfrm>
                <a:off x="8946198" y="5102570"/>
                <a:ext cx="2819400" cy="1314450"/>
              </a:xfrm>
              <a:prstGeom prst="rect">
                <a:avLst/>
              </a:prstGeom>
              <a:blipFill>
                <a:blip r:embed="rId10"/>
                <a:stretch>
                  <a:fillRect/>
                </a:stretch>
              </a:blipFill>
              <a:ln>
                <a:noFill/>
              </a:ln>
              <a:effectLst/>
            </p:spPr>
            <p:txBody>
              <a:bodyPr/>
              <a:lstStyle/>
              <a:p>
                <a:r>
                  <a:rPr lang="zh-CN" altLang="en-US">
                    <a:noFill/>
                  </a:rPr>
                  <a:t> </a:t>
                </a:r>
              </a:p>
            </p:txBody>
          </p:sp>
        </mc:Fallback>
      </mc:AlternateContent>
      <p:sp>
        <p:nvSpPr>
          <p:cNvPr id="11" name="Rectangle 39">
            <a:extLst>
              <a:ext uri="{FF2B5EF4-FFF2-40B4-BE49-F238E27FC236}">
                <a16:creationId xmlns:a16="http://schemas.microsoft.com/office/drawing/2014/main" id="{05638A99-7DD1-EC66-8CFB-831ED840549B}"/>
              </a:ext>
            </a:extLst>
          </p:cNvPr>
          <p:cNvSpPr>
            <a:spLocks noChangeArrowheads="1"/>
          </p:cNvSpPr>
          <p:nvPr/>
        </p:nvSpPr>
        <p:spPr bwMode="auto">
          <a:xfrm>
            <a:off x="9090344" y="6353109"/>
            <a:ext cx="340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latin typeface="+mn-lt"/>
                <a:ea typeface="+mn-ea"/>
              </a:rPr>
              <a:t>克劳修斯不等式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ou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ox(ou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trips(downRigh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strips(downRigh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386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6" grpId="0"/>
      <p:bldP spid="538648" grpId="0"/>
      <p:bldP spid="2" grpId="0"/>
      <p:bldP spid="3"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39650" name="Object 2"/>
              <p:cNvSpPr txBox="1"/>
              <p:nvPr/>
            </p:nvSpPr>
            <p:spPr>
              <a:xfrm>
                <a:off x="5488123" y="784379"/>
                <a:ext cx="5547360" cy="10477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nary>
                        <m:naryPr>
                          <m:chr m:val="∮"/>
                          <m:subHide m:val="on"/>
                          <m:supHide m:val="on"/>
                          <m:ctrlPr>
                            <a:rPr lang="zh-CN" altLang="en-US" sz="2800" i="1">
                              <a:solidFill>
                                <a:srgbClr val="000000"/>
                              </a:solidFill>
                              <a:latin typeface="Cambria Math" panose="02040503050406030204" pitchFamily="18" charset="0"/>
                            </a:rPr>
                          </m:ctrlPr>
                        </m:naryP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𝐴𝐶𝐵</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𝐵𝐷𝐴</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539650" name="Object 2"/>
              <p:cNvSpPr txBox="1">
                <a:spLocks noRot="1" noChangeAspect="1" noMove="1" noResize="1" noEditPoints="1" noAdjustHandles="1" noChangeArrowheads="1" noChangeShapeType="1" noTextEdit="1"/>
              </p:cNvSpPr>
              <p:nvPr/>
            </p:nvSpPr>
            <p:spPr>
              <a:xfrm>
                <a:off x="5488123" y="784379"/>
                <a:ext cx="5547360" cy="1047750"/>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539651" name="Text Box 3"/>
          <p:cNvSpPr txBox="1"/>
          <p:nvPr/>
        </p:nvSpPr>
        <p:spPr>
          <a:xfrm>
            <a:off x="1235287" y="5266554"/>
            <a:ext cx="9942816" cy="553998"/>
          </a:xfrm>
          <a:prstGeom prst="rect">
            <a:avLst/>
          </a:prstGeom>
          <a:noFill/>
          <a:ln w="9525">
            <a:noFill/>
          </a:ln>
        </p:spPr>
        <p:txBody>
          <a:bodyPr wrap="square">
            <a:spAutoFit/>
          </a:bodyPr>
          <a:lstStyle/>
          <a:p>
            <a:pPr>
              <a:spcBef>
                <a:spcPct val="50000"/>
              </a:spcBef>
            </a:pPr>
            <a:r>
              <a:rPr lang="en-US" altLang="zh-CN" sz="3000" b="1" dirty="0">
                <a:solidFill>
                  <a:srgbClr val="FF0000"/>
                </a:solidFill>
                <a:latin typeface="Arial" panose="020B0604020202020204" pitchFamily="34" charset="0"/>
              </a:rPr>
              <a:t>- </a:t>
            </a:r>
            <a:r>
              <a:rPr lang="zh-CN" altLang="en-US" sz="3000" b="1" dirty="0">
                <a:solidFill>
                  <a:srgbClr val="FF0000"/>
                </a:solidFill>
                <a:latin typeface="Arial" panose="020B0604020202020204" pitchFamily="34" charset="0"/>
              </a:rPr>
              <a:t>热温比的积分是一态函数的增量，此态函数称克劳修斯熵</a:t>
            </a:r>
            <a:endParaRPr lang="en-US" altLang="zh-CN" sz="3000" b="1" dirty="0">
              <a:solidFill>
                <a:srgbClr val="FF0000"/>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29704" name="Object 6"/>
              <p:cNvSpPr txBox="1"/>
              <p:nvPr/>
            </p:nvSpPr>
            <p:spPr>
              <a:xfrm>
                <a:off x="7279859" y="4126560"/>
                <a:ext cx="3124200" cy="11176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m:t>
                          </m:r>
                        </m:sub>
                        <m:sup>
                          <m:r>
                            <a:rPr lang="zh-CN" altLang="en-US" sz="280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29704" name="Object 6"/>
              <p:cNvSpPr txBox="1">
                <a:spLocks noRot="1" noChangeAspect="1" noMove="1" noResize="1" noEditPoints="1" noAdjustHandles="1" noChangeArrowheads="1" noChangeShapeType="1" noTextEdit="1"/>
              </p:cNvSpPr>
              <p:nvPr/>
            </p:nvSpPr>
            <p:spPr>
              <a:xfrm>
                <a:off x="7279859" y="4126560"/>
                <a:ext cx="3124200" cy="1117600"/>
              </a:xfrm>
              <a:prstGeom prst="rect">
                <a:avLst/>
              </a:prstGeom>
              <a:blipFill>
                <a:blip r:embed="rId3"/>
                <a:stretch>
                  <a:fillRect/>
                </a:stretch>
              </a:blipFill>
              <a:ln w="38100">
                <a:noFill/>
                <a:miter/>
              </a:ln>
            </p:spPr>
            <p:txBody>
              <a:bodyPr/>
              <a:lstStyle/>
              <a:p>
                <a:r>
                  <a:rPr lang="en-US">
                    <a:noFill/>
                  </a:rPr>
                  <a:t> </a:t>
                </a:r>
              </a:p>
            </p:txBody>
          </p:sp>
        </mc:Fallback>
      </mc:AlternateContent>
      <p:grpSp>
        <p:nvGrpSpPr>
          <p:cNvPr id="29708" name="Group 8"/>
          <p:cNvGrpSpPr/>
          <p:nvPr/>
        </p:nvGrpSpPr>
        <p:grpSpPr>
          <a:xfrm>
            <a:off x="1193799" y="1271733"/>
            <a:ext cx="3144201" cy="2290618"/>
            <a:chOff x="335" y="528"/>
            <a:chExt cx="2122" cy="1536"/>
          </a:xfrm>
        </p:grpSpPr>
        <p:sp>
          <p:nvSpPr>
            <p:cNvPr id="29712" name="Line 10"/>
            <p:cNvSpPr/>
            <p:nvPr/>
          </p:nvSpPr>
          <p:spPr>
            <a:xfrm>
              <a:off x="592" y="1916"/>
              <a:ext cx="1637" cy="0"/>
            </a:xfrm>
            <a:prstGeom prst="line">
              <a:avLst/>
            </a:prstGeom>
            <a:ln w="19050" cap="flat" cmpd="sng">
              <a:solidFill>
                <a:schemeClr val="tx1"/>
              </a:solidFill>
              <a:prstDash val="solid"/>
              <a:headEnd type="none" w="med" len="med"/>
              <a:tailEnd type="triangle" w="sm" len="lg"/>
            </a:ln>
          </p:spPr>
        </p:sp>
        <p:sp>
          <p:nvSpPr>
            <p:cNvPr id="29713" name="Line 11"/>
            <p:cNvSpPr/>
            <p:nvPr/>
          </p:nvSpPr>
          <p:spPr>
            <a:xfrm flipV="1">
              <a:off x="592" y="580"/>
              <a:ext cx="0" cy="1336"/>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29701" name="Object 12"/>
                <p:cNvSpPr txBox="1"/>
                <p:nvPr/>
              </p:nvSpPr>
              <p:spPr>
                <a:xfrm>
                  <a:off x="335" y="528"/>
                  <a:ext cx="267" cy="28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𝑝</m:t>
                        </m:r>
                      </m:oMath>
                    </m:oMathPara>
                  </a14:m>
                  <a:endParaRPr lang="zh-CN" altLang="en-US" sz="2600"/>
                </a:p>
              </p:txBody>
            </p:sp>
          </mc:Choice>
          <mc:Fallback xmlns="">
            <p:sp>
              <p:nvSpPr>
                <p:cNvPr id="29701" name="Object 12"/>
                <p:cNvSpPr txBox="1">
                  <a:spLocks noRot="1" noChangeAspect="1" noMove="1" noResize="1" noEditPoints="1" noAdjustHandles="1" noChangeArrowheads="1" noChangeShapeType="1" noTextEdit="1"/>
                </p:cNvSpPr>
                <p:nvPr/>
              </p:nvSpPr>
              <p:spPr>
                <a:xfrm>
                  <a:off x="335" y="528"/>
                  <a:ext cx="267" cy="283"/>
                </a:xfrm>
                <a:prstGeom prst="rect">
                  <a:avLst/>
                </a:prstGeom>
                <a:blipFill>
                  <a:blip r:embed="rId4"/>
                  <a:stretch>
                    <a:fillRect b="-289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2" name="Object 13"/>
                <p:cNvSpPr txBox="1"/>
                <p:nvPr/>
              </p:nvSpPr>
              <p:spPr>
                <a:xfrm>
                  <a:off x="363" y="1782"/>
                  <a:ext cx="263" cy="28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𝑜</m:t>
                        </m:r>
                      </m:oMath>
                    </m:oMathPara>
                  </a14:m>
                  <a:endParaRPr lang="zh-CN" altLang="en-US" sz="2600"/>
                </a:p>
              </p:txBody>
            </p:sp>
          </mc:Choice>
          <mc:Fallback xmlns="">
            <p:sp>
              <p:nvSpPr>
                <p:cNvPr id="29702" name="Object 13"/>
                <p:cNvSpPr txBox="1">
                  <a:spLocks noRot="1" noChangeAspect="1" noMove="1" noResize="1" noEditPoints="1" noAdjustHandles="1" noChangeArrowheads="1" noChangeShapeType="1" noTextEdit="1"/>
                </p:cNvSpPr>
                <p:nvPr/>
              </p:nvSpPr>
              <p:spPr>
                <a:xfrm>
                  <a:off x="363" y="1782"/>
                  <a:ext cx="263" cy="282"/>
                </a:xfrm>
                <a:prstGeom prst="rect">
                  <a:avLst/>
                </a:prstGeom>
                <a:blipFill>
                  <a:blip r:embed="rId5"/>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3" name="Object 14"/>
                <p:cNvSpPr txBox="1"/>
                <p:nvPr/>
              </p:nvSpPr>
              <p:spPr>
                <a:xfrm>
                  <a:off x="2229" y="1816"/>
                  <a:ext cx="228" cy="24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𝑉</m:t>
                        </m:r>
                      </m:oMath>
                    </m:oMathPara>
                  </a14:m>
                  <a:endParaRPr lang="zh-CN" altLang="en-US" sz="2600"/>
                </a:p>
              </p:txBody>
            </p:sp>
          </mc:Choice>
          <mc:Fallback xmlns="">
            <p:sp>
              <p:nvSpPr>
                <p:cNvPr id="29703" name="Object 14"/>
                <p:cNvSpPr txBox="1">
                  <a:spLocks noRot="1" noChangeAspect="1" noMove="1" noResize="1" noEditPoints="1" noAdjustHandles="1" noChangeArrowheads="1" noChangeShapeType="1" noTextEdit="1"/>
                </p:cNvSpPr>
                <p:nvPr/>
              </p:nvSpPr>
              <p:spPr>
                <a:xfrm>
                  <a:off x="2229" y="1816"/>
                  <a:ext cx="228" cy="248"/>
                </a:xfrm>
                <a:prstGeom prst="rect">
                  <a:avLst/>
                </a:prstGeom>
                <a:blipFill>
                  <a:blip r:embed="rId6"/>
                  <a:stretch>
                    <a:fillRect/>
                  </a:stretch>
                </a:blipFill>
                <a:ln w="38100">
                  <a:noFill/>
                  <a:miter/>
                </a:ln>
              </p:spPr>
              <p:txBody>
                <a:bodyPr/>
                <a:lstStyle/>
                <a:p>
                  <a:r>
                    <a:rPr lang="en-US">
                      <a:noFill/>
                    </a:rPr>
                    <a:t> </a:t>
                  </a:r>
                </a:p>
              </p:txBody>
            </p:sp>
          </mc:Fallback>
        </mc:AlternateContent>
        <p:sp>
          <p:nvSpPr>
            <p:cNvPr id="29714" name="Freeform 15"/>
            <p:cNvSpPr/>
            <p:nvPr/>
          </p:nvSpPr>
          <p:spPr>
            <a:xfrm>
              <a:off x="863" y="822"/>
              <a:ext cx="1263" cy="839"/>
            </a:xfrm>
            <a:custGeom>
              <a:avLst/>
              <a:gdLst>
                <a:gd name="txL" fmla="*/ 0 w 1263"/>
                <a:gd name="txT" fmla="*/ 0 h 839"/>
                <a:gd name="txR" fmla="*/ 1263 w 1263"/>
                <a:gd name="txB" fmla="*/ 839 h 839"/>
              </a:gdLst>
              <a:ahLst/>
              <a:cxnLst>
                <a:cxn ang="0">
                  <a:pos x="113" y="344"/>
                </a:cxn>
                <a:cxn ang="0">
                  <a:pos x="252" y="169"/>
                </a:cxn>
                <a:cxn ang="0">
                  <a:pos x="389" y="69"/>
                </a:cxn>
                <a:cxn ang="0">
                  <a:pos x="598" y="28"/>
                </a:cxn>
                <a:cxn ang="0">
                  <a:pos x="788" y="7"/>
                </a:cxn>
                <a:cxn ang="0">
                  <a:pos x="977" y="7"/>
                </a:cxn>
                <a:cxn ang="0">
                  <a:pos x="1223" y="49"/>
                </a:cxn>
                <a:cxn ang="0">
                  <a:pos x="1216" y="288"/>
                </a:cxn>
                <a:cxn ang="0">
                  <a:pos x="1167" y="442"/>
                </a:cxn>
                <a:cxn ang="0">
                  <a:pos x="1076" y="569"/>
                </a:cxn>
                <a:cxn ang="0">
                  <a:pos x="969" y="670"/>
                </a:cxn>
                <a:cxn ang="0">
                  <a:pos x="866" y="736"/>
                </a:cxn>
                <a:cxn ang="0">
                  <a:pos x="739" y="794"/>
                </a:cxn>
                <a:cxn ang="0">
                  <a:pos x="570" y="829"/>
                </a:cxn>
                <a:cxn ang="0">
                  <a:pos x="380" y="836"/>
                </a:cxn>
                <a:cxn ang="0">
                  <a:pos x="191" y="836"/>
                </a:cxn>
                <a:cxn ang="0">
                  <a:pos x="29" y="815"/>
                </a:cxn>
                <a:cxn ang="0">
                  <a:pos x="15" y="702"/>
                </a:cxn>
                <a:cxn ang="0">
                  <a:pos x="43" y="513"/>
                </a:cxn>
                <a:cxn ang="0">
                  <a:pos x="113" y="344"/>
                </a:cxn>
              </a:cxnLst>
              <a:rect l="txL" t="txT" r="txR" b="txB"/>
              <a:pathLst>
                <a:path w="1263" h="839">
                  <a:moveTo>
                    <a:pt x="113" y="344"/>
                  </a:moveTo>
                  <a:cubicBezTo>
                    <a:pt x="153" y="283"/>
                    <a:pt x="206" y="215"/>
                    <a:pt x="252" y="169"/>
                  </a:cubicBezTo>
                  <a:cubicBezTo>
                    <a:pt x="298" y="123"/>
                    <a:pt x="331" y="92"/>
                    <a:pt x="389" y="69"/>
                  </a:cubicBezTo>
                  <a:cubicBezTo>
                    <a:pt x="447" y="46"/>
                    <a:pt x="531" y="38"/>
                    <a:pt x="598" y="28"/>
                  </a:cubicBezTo>
                  <a:cubicBezTo>
                    <a:pt x="665" y="18"/>
                    <a:pt x="725" y="10"/>
                    <a:pt x="788" y="7"/>
                  </a:cubicBezTo>
                  <a:cubicBezTo>
                    <a:pt x="851" y="4"/>
                    <a:pt x="905" y="0"/>
                    <a:pt x="977" y="7"/>
                  </a:cubicBezTo>
                  <a:cubicBezTo>
                    <a:pt x="1049" y="14"/>
                    <a:pt x="1183" y="2"/>
                    <a:pt x="1223" y="49"/>
                  </a:cubicBezTo>
                  <a:cubicBezTo>
                    <a:pt x="1263" y="96"/>
                    <a:pt x="1225" y="223"/>
                    <a:pt x="1216" y="288"/>
                  </a:cubicBezTo>
                  <a:cubicBezTo>
                    <a:pt x="1207" y="353"/>
                    <a:pt x="1190" y="395"/>
                    <a:pt x="1167" y="442"/>
                  </a:cubicBezTo>
                  <a:cubicBezTo>
                    <a:pt x="1144" y="489"/>
                    <a:pt x="1109" y="531"/>
                    <a:pt x="1076" y="569"/>
                  </a:cubicBezTo>
                  <a:cubicBezTo>
                    <a:pt x="1043" y="607"/>
                    <a:pt x="1004" y="642"/>
                    <a:pt x="969" y="670"/>
                  </a:cubicBezTo>
                  <a:cubicBezTo>
                    <a:pt x="934" y="698"/>
                    <a:pt x="904" y="715"/>
                    <a:pt x="866" y="736"/>
                  </a:cubicBezTo>
                  <a:cubicBezTo>
                    <a:pt x="828" y="757"/>
                    <a:pt x="788" y="778"/>
                    <a:pt x="739" y="794"/>
                  </a:cubicBezTo>
                  <a:cubicBezTo>
                    <a:pt x="690" y="810"/>
                    <a:pt x="630" y="822"/>
                    <a:pt x="570" y="829"/>
                  </a:cubicBezTo>
                  <a:cubicBezTo>
                    <a:pt x="510" y="836"/>
                    <a:pt x="443" y="835"/>
                    <a:pt x="380" y="836"/>
                  </a:cubicBezTo>
                  <a:cubicBezTo>
                    <a:pt x="317" y="837"/>
                    <a:pt x="249" y="839"/>
                    <a:pt x="191" y="836"/>
                  </a:cubicBezTo>
                  <a:cubicBezTo>
                    <a:pt x="133" y="833"/>
                    <a:pt x="58" y="837"/>
                    <a:pt x="29" y="815"/>
                  </a:cubicBezTo>
                  <a:cubicBezTo>
                    <a:pt x="0" y="793"/>
                    <a:pt x="13" y="752"/>
                    <a:pt x="15" y="702"/>
                  </a:cubicBezTo>
                  <a:cubicBezTo>
                    <a:pt x="17" y="652"/>
                    <a:pt x="27" y="573"/>
                    <a:pt x="43" y="513"/>
                  </a:cubicBezTo>
                  <a:cubicBezTo>
                    <a:pt x="59" y="453"/>
                    <a:pt x="99" y="379"/>
                    <a:pt x="113" y="344"/>
                  </a:cubicBez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p>
          </p:txBody>
        </p:sp>
        <p:sp>
          <p:nvSpPr>
            <p:cNvPr id="29715" name="Line 16"/>
            <p:cNvSpPr/>
            <p:nvPr/>
          </p:nvSpPr>
          <p:spPr>
            <a:xfrm flipH="1">
              <a:off x="1783" y="1415"/>
              <a:ext cx="136" cy="100"/>
            </a:xfrm>
            <a:prstGeom prst="line">
              <a:avLst/>
            </a:prstGeom>
            <a:ln w="38100" cap="flat" cmpd="sng">
              <a:solidFill>
                <a:srgbClr val="0000FF"/>
              </a:solidFill>
              <a:prstDash val="solid"/>
              <a:headEnd type="none" w="med" len="med"/>
              <a:tailEnd type="triangle" w="sm" len="lg"/>
            </a:ln>
          </p:spPr>
        </p:sp>
        <p:sp>
          <p:nvSpPr>
            <p:cNvPr id="29716" name="Line 17"/>
            <p:cNvSpPr/>
            <p:nvPr/>
          </p:nvSpPr>
          <p:spPr>
            <a:xfrm flipV="1">
              <a:off x="1169" y="881"/>
              <a:ext cx="102" cy="66"/>
            </a:xfrm>
            <a:prstGeom prst="line">
              <a:avLst/>
            </a:prstGeom>
            <a:ln w="38100" cap="flat" cmpd="sng">
              <a:solidFill>
                <a:srgbClr val="0000FF"/>
              </a:solidFill>
              <a:prstDash val="solid"/>
              <a:headEnd type="none" w="med" len="med"/>
              <a:tailEnd type="triangle" w="sm" len="lg"/>
            </a:ln>
          </p:spPr>
        </p:sp>
        <p:sp>
          <p:nvSpPr>
            <p:cNvPr id="29717" name="Text Box 18"/>
            <p:cNvSpPr txBox="1"/>
            <p:nvPr/>
          </p:nvSpPr>
          <p:spPr>
            <a:xfrm>
              <a:off x="768" y="1488"/>
              <a:ext cx="288" cy="330"/>
            </a:xfrm>
            <a:prstGeom prst="rect">
              <a:avLst/>
            </a:prstGeom>
            <a:noFill/>
            <a:ln w="9525">
              <a:noFill/>
            </a:ln>
          </p:spPr>
          <p:txBody>
            <a:bodyPr>
              <a:spAutoFit/>
            </a:bodyPr>
            <a:lstStyle/>
            <a:p>
              <a:pPr eaLnBrk="1" hangingPunct="1">
                <a:spcBef>
                  <a:spcPct val="50000"/>
                </a:spcBef>
              </a:pPr>
              <a:r>
                <a:rPr lang="en-US" altLang="zh-CN" sz="2600" dirty="0">
                  <a:solidFill>
                    <a:srgbClr val="CC0000"/>
                  </a:solidFill>
                  <a:latin typeface="Times New Roman" panose="02020603050405020304" pitchFamily="18" charset="0"/>
                </a:rPr>
                <a:t>*</a:t>
              </a:r>
            </a:p>
          </p:txBody>
        </p:sp>
        <p:sp>
          <p:nvSpPr>
            <p:cNvPr id="29718" name="Text Box 19"/>
            <p:cNvSpPr txBox="1"/>
            <p:nvPr/>
          </p:nvSpPr>
          <p:spPr>
            <a:xfrm>
              <a:off x="1968" y="720"/>
              <a:ext cx="288" cy="330"/>
            </a:xfrm>
            <a:prstGeom prst="rect">
              <a:avLst/>
            </a:prstGeom>
            <a:noFill/>
            <a:ln w="9525">
              <a:noFill/>
            </a:ln>
          </p:spPr>
          <p:txBody>
            <a:bodyPr>
              <a:spAutoFit/>
            </a:bodyPr>
            <a:lstStyle/>
            <a:p>
              <a:pPr eaLnBrk="1" hangingPunct="1">
                <a:spcBef>
                  <a:spcPct val="50000"/>
                </a:spcBef>
              </a:pPr>
              <a:r>
                <a:rPr lang="en-US" altLang="zh-CN" sz="2600" dirty="0">
                  <a:solidFill>
                    <a:srgbClr val="CC0000"/>
                  </a:solidFill>
                  <a:latin typeface="Times New Roman" panose="02020603050405020304" pitchFamily="18" charset="0"/>
                </a:rPr>
                <a:t>*</a:t>
              </a:r>
            </a:p>
          </p:txBody>
        </p:sp>
        <p:sp>
          <p:nvSpPr>
            <p:cNvPr id="29719" name="Text Box 20"/>
            <p:cNvSpPr txBox="1"/>
            <p:nvPr/>
          </p:nvSpPr>
          <p:spPr>
            <a:xfrm>
              <a:off x="672" y="1584"/>
              <a:ext cx="240"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A</a:t>
              </a:r>
            </a:p>
          </p:txBody>
        </p:sp>
        <p:sp>
          <p:nvSpPr>
            <p:cNvPr id="29720" name="Text Box 21"/>
            <p:cNvSpPr txBox="1"/>
            <p:nvPr/>
          </p:nvSpPr>
          <p:spPr>
            <a:xfrm>
              <a:off x="2064" y="624"/>
              <a:ext cx="288"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B</a:t>
              </a:r>
            </a:p>
          </p:txBody>
        </p:sp>
        <p:sp>
          <p:nvSpPr>
            <p:cNvPr id="29721" name="Text Box 22"/>
            <p:cNvSpPr txBox="1"/>
            <p:nvPr/>
          </p:nvSpPr>
          <p:spPr>
            <a:xfrm>
              <a:off x="1008" y="624"/>
              <a:ext cx="288"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C</a:t>
              </a:r>
            </a:p>
          </p:txBody>
        </p:sp>
        <p:sp>
          <p:nvSpPr>
            <p:cNvPr id="29722" name="Text Box 23"/>
            <p:cNvSpPr txBox="1"/>
            <p:nvPr/>
          </p:nvSpPr>
          <p:spPr>
            <a:xfrm>
              <a:off x="1776" y="1440"/>
              <a:ext cx="336"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D</a:t>
              </a:r>
            </a:p>
          </p:txBody>
        </p:sp>
      </p:grpSp>
      <mc:AlternateContent xmlns:mc="http://schemas.openxmlformats.org/markup-compatibility/2006" xmlns:a14="http://schemas.microsoft.com/office/drawing/2010/main">
        <mc:Choice Requires="a14">
          <p:sp>
            <p:nvSpPr>
              <p:cNvPr id="29700" name="Object 26"/>
              <p:cNvSpPr txBox="1"/>
              <p:nvPr/>
            </p:nvSpPr>
            <p:spPr>
              <a:xfrm>
                <a:off x="4798815" y="2335767"/>
                <a:ext cx="3736429" cy="10477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𝐵𝐷𝐴</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𝐴𝐷𝐵</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29700" name="Object 26"/>
              <p:cNvSpPr txBox="1">
                <a:spLocks noRot="1" noChangeAspect="1" noMove="1" noResize="1" noEditPoints="1" noAdjustHandles="1" noChangeArrowheads="1" noChangeShapeType="1" noTextEdit="1"/>
              </p:cNvSpPr>
              <p:nvPr/>
            </p:nvSpPr>
            <p:spPr>
              <a:xfrm>
                <a:off x="4798815" y="2335767"/>
                <a:ext cx="3736429" cy="1047750"/>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9675" name="Object 27"/>
              <p:cNvSpPr txBox="1"/>
              <p:nvPr/>
            </p:nvSpPr>
            <p:spPr>
              <a:xfrm>
                <a:off x="8567639" y="2288162"/>
                <a:ext cx="3350041" cy="102711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𝐴𝐶𝐵</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nary>
                        <m:naryP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𝐴𝐷𝐵</m:t>
                          </m: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539675" name="Object 27"/>
              <p:cNvSpPr txBox="1">
                <a:spLocks noRot="1" noChangeAspect="1" noMove="1" noResize="1" noEditPoints="1" noAdjustHandles="1" noChangeArrowheads="1" noChangeShapeType="1" noTextEdit="1"/>
              </p:cNvSpPr>
              <p:nvPr/>
            </p:nvSpPr>
            <p:spPr>
              <a:xfrm>
                <a:off x="8567639" y="2288162"/>
                <a:ext cx="3350041" cy="1027113"/>
              </a:xfrm>
              <a:prstGeom prst="rect">
                <a:avLst/>
              </a:prstGeom>
              <a:blipFill>
                <a:blip r:embed="rId8"/>
                <a:stretch>
                  <a:fillRect/>
                </a:stretch>
              </a:blipFill>
              <a:ln w="38100">
                <a:noFill/>
                <a:miter/>
              </a:ln>
            </p:spPr>
            <p:txBody>
              <a:bodyPr/>
              <a:lstStyle/>
              <a:p>
                <a:r>
                  <a:rPr lang="zh-CN" altLang="en-US">
                    <a:noFill/>
                  </a:rPr>
                  <a:t> </a:t>
                </a:r>
              </a:p>
            </p:txBody>
          </p:sp>
        </mc:Fallback>
      </mc:AlternateContent>
      <p:sp>
        <p:nvSpPr>
          <p:cNvPr id="28" name="Text Box 13">
            <a:hlinkClick r:id="" action="ppaction://noaction"/>
            <a:extLst>
              <a:ext uri="{FF2B5EF4-FFF2-40B4-BE49-F238E27FC236}">
                <a16:creationId xmlns:a16="http://schemas.microsoft.com/office/drawing/2014/main" id="{B8C70B60-43E1-4589-85A8-F5052BFA32C3}"/>
              </a:ext>
            </a:extLst>
          </p:cNvPr>
          <p:cNvSpPr txBox="1">
            <a:spLocks noChangeArrowheads="1"/>
          </p:cNvSpPr>
          <p:nvPr/>
        </p:nvSpPr>
        <p:spPr bwMode="auto">
          <a:xfrm>
            <a:off x="574057" y="405824"/>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克劳修斯熵</a:t>
            </a:r>
          </a:p>
        </p:txBody>
      </p:sp>
      <p:sp>
        <p:nvSpPr>
          <p:cNvPr id="29" name="Text Box 25">
            <a:extLst>
              <a:ext uri="{FF2B5EF4-FFF2-40B4-BE49-F238E27FC236}">
                <a16:creationId xmlns:a16="http://schemas.microsoft.com/office/drawing/2014/main" id="{52AA1C8D-7760-482E-94B7-1DC2D3CE6A97}"/>
              </a:ext>
            </a:extLst>
          </p:cNvPr>
          <p:cNvSpPr txBox="1"/>
          <p:nvPr/>
        </p:nvSpPr>
        <p:spPr>
          <a:xfrm>
            <a:off x="1724085" y="3906119"/>
            <a:ext cx="2895600" cy="519113"/>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可逆过程</a:t>
            </a:r>
          </a:p>
        </p:txBody>
      </p:sp>
      <p:sp>
        <p:nvSpPr>
          <p:cNvPr id="30" name="Text Box 25">
            <a:extLst>
              <a:ext uri="{FF2B5EF4-FFF2-40B4-BE49-F238E27FC236}">
                <a16:creationId xmlns:a16="http://schemas.microsoft.com/office/drawing/2014/main" id="{A987C036-C6B8-4B70-B13E-3775386BCF75}"/>
              </a:ext>
            </a:extLst>
          </p:cNvPr>
          <p:cNvSpPr txBox="1"/>
          <p:nvPr/>
        </p:nvSpPr>
        <p:spPr>
          <a:xfrm>
            <a:off x="4735830" y="3645921"/>
            <a:ext cx="4836160" cy="954107"/>
          </a:xfrm>
          <a:prstGeom prst="rect">
            <a:avLst/>
          </a:prstGeom>
          <a:noFill/>
          <a:ln w="9525">
            <a:noFill/>
          </a:ln>
        </p:spPr>
        <p:txBody>
          <a:bodyPr wrap="square">
            <a:spAutoFit/>
          </a:bodyPr>
          <a:lstStyle/>
          <a:p>
            <a:pPr eaLnBrk="1" hangingPunct="1">
              <a:spcBef>
                <a:spcPct val="50000"/>
              </a:spcBef>
            </a:pPr>
            <a:r>
              <a:rPr lang="zh-CN" altLang="en-US" sz="2800" dirty="0">
                <a:latin typeface="Arial" panose="020B0604020202020204" pitchFamily="34" charset="0"/>
              </a:rPr>
              <a:t>热温比变化与路径无关，可定义状态函数：</a:t>
            </a:r>
          </a:p>
        </p:txBody>
      </p:sp>
      <p:grpSp>
        <p:nvGrpSpPr>
          <p:cNvPr id="2" name="组合 1">
            <a:extLst>
              <a:ext uri="{FF2B5EF4-FFF2-40B4-BE49-F238E27FC236}">
                <a16:creationId xmlns:a16="http://schemas.microsoft.com/office/drawing/2014/main" id="{F5DF62F7-BF1A-7BCD-6428-CB829ACBF724}"/>
              </a:ext>
            </a:extLst>
          </p:cNvPr>
          <p:cNvGrpSpPr/>
          <p:nvPr/>
        </p:nvGrpSpPr>
        <p:grpSpPr>
          <a:xfrm>
            <a:off x="7628890" y="5921073"/>
            <a:ext cx="3886200" cy="519113"/>
            <a:chOff x="7448224" y="6188447"/>
            <a:chExt cx="3886200" cy="519113"/>
          </a:xfrm>
        </p:grpSpPr>
        <p:sp>
          <p:nvSpPr>
            <p:cNvPr id="31" name="Text Box 12">
              <a:extLst>
                <a:ext uri="{FF2B5EF4-FFF2-40B4-BE49-F238E27FC236}">
                  <a16:creationId xmlns:a16="http://schemas.microsoft.com/office/drawing/2014/main" id="{846585C5-873D-4570-BBCA-29EFCFC1C957}"/>
                </a:ext>
              </a:extLst>
            </p:cNvPr>
            <p:cNvSpPr txBox="1"/>
            <p:nvPr/>
          </p:nvSpPr>
          <p:spPr>
            <a:xfrm>
              <a:off x="7448224" y="6188447"/>
              <a:ext cx="3886200" cy="519113"/>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熵的单位：</a:t>
              </a:r>
            </a:p>
          </p:txBody>
        </p:sp>
        <mc:AlternateContent xmlns:mc="http://schemas.openxmlformats.org/markup-compatibility/2006" xmlns:a14="http://schemas.microsoft.com/office/drawing/2010/main">
          <mc:Choice Requires="a14">
            <p:sp>
              <p:nvSpPr>
                <p:cNvPr id="32" name="Object 13">
                  <a:extLst>
                    <a:ext uri="{FF2B5EF4-FFF2-40B4-BE49-F238E27FC236}">
                      <a16:creationId xmlns:a16="http://schemas.microsoft.com/office/drawing/2014/main" id="{45E82C78-D7C7-4100-B66A-C8A6E96AC28C}"/>
                    </a:ext>
                  </a:extLst>
                </p:cNvPr>
                <p:cNvSpPr txBox="1"/>
                <p:nvPr/>
              </p:nvSpPr>
              <p:spPr>
                <a:xfrm>
                  <a:off x="9152890" y="6188447"/>
                  <a:ext cx="838200" cy="400050"/>
                </a:xfrm>
                <a:prstGeom prst="rect">
                  <a:avLst/>
                </a:prstGeom>
                <a:noFill/>
                <a:ln w="9525"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m:rPr>
                            <m:nor/>
                          </m:rPr>
                          <a:rPr lang="zh-CN" altLang="en-US" sz="2800" i="0">
                            <a:solidFill>
                              <a:srgbClr val="000000"/>
                            </a:solidFill>
                          </a:rPr>
                          <m:t>J</m:t>
                        </m:r>
                        <m:r>
                          <m:rPr>
                            <m:nor/>
                          </m:rPr>
                          <a:rPr lang="zh-CN" altLang="en-US" sz="2800" i="0">
                            <a:solidFill>
                              <a:srgbClr val="000000"/>
                            </a:solidFill>
                          </a:rPr>
                          <m:t>/</m:t>
                        </m:r>
                        <m:r>
                          <m:rPr>
                            <m:nor/>
                          </m:rPr>
                          <a:rPr lang="zh-CN" altLang="en-US" sz="2800" i="0">
                            <a:solidFill>
                              <a:srgbClr val="000000"/>
                            </a:solidFill>
                          </a:rPr>
                          <m:t>K</m:t>
                        </m:r>
                      </m:oMath>
                    </m:oMathPara>
                  </a14:m>
                  <a:endParaRPr lang="zh-CN" altLang="en-US" sz="2800" dirty="0"/>
                </a:p>
              </p:txBody>
            </p:sp>
          </mc:Choice>
          <mc:Fallback xmlns="">
            <p:sp>
              <p:nvSpPr>
                <p:cNvPr id="32" name="Object 13">
                  <a:extLst>
                    <a:ext uri="{FF2B5EF4-FFF2-40B4-BE49-F238E27FC236}">
                      <a16:creationId xmlns:a16="http://schemas.microsoft.com/office/drawing/2014/main" id="{45E82C78-D7C7-4100-B66A-C8A6E96AC28C}"/>
                    </a:ext>
                  </a:extLst>
                </p:cNvPr>
                <p:cNvSpPr txBox="1">
                  <a:spLocks noRot="1" noChangeAspect="1" noMove="1" noResize="1" noEditPoints="1" noAdjustHandles="1" noChangeArrowheads="1" noChangeShapeType="1" noTextEdit="1"/>
                </p:cNvSpPr>
                <p:nvPr/>
              </p:nvSpPr>
              <p:spPr>
                <a:xfrm>
                  <a:off x="9152890" y="6188447"/>
                  <a:ext cx="838200" cy="400050"/>
                </a:xfrm>
                <a:prstGeom prst="rect">
                  <a:avLst/>
                </a:prstGeom>
                <a:blipFill>
                  <a:blip r:embed="rId9"/>
                  <a:stretch>
                    <a:fillRect/>
                  </a:stretch>
                </a:blipFill>
                <a:ln w="9525" cap="flat" cmpd="sng">
                  <a:noFill/>
                  <a:prstDash val="solid"/>
                  <a:miter/>
                  <a:headEnd type="none" w="med" len="med"/>
                  <a:tailEnd type="none" w="med" len="med"/>
                </a:ln>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96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7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967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7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96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0" grpId="0"/>
      <p:bldP spid="539651" grpId="0"/>
      <p:bldP spid="29704" grpId="0"/>
      <p:bldP spid="29700" grpId="0"/>
      <p:bldP spid="539675" grpId="0"/>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704" name="Object 6"/>
              <p:cNvSpPr txBox="1"/>
              <p:nvPr/>
            </p:nvSpPr>
            <p:spPr>
              <a:xfrm>
                <a:off x="5247099" y="1941608"/>
                <a:ext cx="3124200" cy="11176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m:t>
                          </m:r>
                        </m:sub>
                        <m:sup>
                          <m:r>
                            <a:rPr lang="zh-CN" altLang="en-US" sz="280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29704" name="Object 6"/>
              <p:cNvSpPr txBox="1">
                <a:spLocks noRot="1" noChangeAspect="1" noMove="1" noResize="1" noEditPoints="1" noAdjustHandles="1" noChangeArrowheads="1" noChangeShapeType="1" noTextEdit="1"/>
              </p:cNvSpPr>
              <p:nvPr/>
            </p:nvSpPr>
            <p:spPr>
              <a:xfrm>
                <a:off x="5247099" y="1941608"/>
                <a:ext cx="3124200" cy="1117600"/>
              </a:xfrm>
              <a:prstGeom prst="rect">
                <a:avLst/>
              </a:prstGeom>
              <a:blipFill>
                <a:blip r:embed="rId2"/>
                <a:stretch>
                  <a:fillRect/>
                </a:stretch>
              </a:blipFill>
              <a:ln w="38100">
                <a:noFill/>
                <a:miter/>
              </a:ln>
            </p:spPr>
            <p:txBody>
              <a:bodyPr/>
              <a:lstStyle/>
              <a:p>
                <a:r>
                  <a:rPr lang="zh-CN" altLang="en-US">
                    <a:noFill/>
                  </a:rPr>
                  <a:t> </a:t>
                </a:r>
              </a:p>
            </p:txBody>
          </p:sp>
        </mc:Fallback>
      </mc:AlternateContent>
      <p:grpSp>
        <p:nvGrpSpPr>
          <p:cNvPr id="29708" name="Group 8"/>
          <p:cNvGrpSpPr/>
          <p:nvPr/>
        </p:nvGrpSpPr>
        <p:grpSpPr>
          <a:xfrm>
            <a:off x="1193799" y="1271733"/>
            <a:ext cx="3144201" cy="2290618"/>
            <a:chOff x="335" y="528"/>
            <a:chExt cx="2122" cy="1536"/>
          </a:xfrm>
        </p:grpSpPr>
        <p:sp>
          <p:nvSpPr>
            <p:cNvPr id="29712" name="Line 10"/>
            <p:cNvSpPr/>
            <p:nvPr/>
          </p:nvSpPr>
          <p:spPr>
            <a:xfrm>
              <a:off x="592" y="1916"/>
              <a:ext cx="1637" cy="0"/>
            </a:xfrm>
            <a:prstGeom prst="line">
              <a:avLst/>
            </a:prstGeom>
            <a:ln w="19050" cap="flat" cmpd="sng">
              <a:solidFill>
                <a:schemeClr val="tx1"/>
              </a:solidFill>
              <a:prstDash val="solid"/>
              <a:headEnd type="none" w="med" len="med"/>
              <a:tailEnd type="triangle" w="sm" len="lg"/>
            </a:ln>
          </p:spPr>
        </p:sp>
        <p:sp>
          <p:nvSpPr>
            <p:cNvPr id="29713" name="Line 11"/>
            <p:cNvSpPr/>
            <p:nvPr/>
          </p:nvSpPr>
          <p:spPr>
            <a:xfrm flipV="1">
              <a:off x="592" y="580"/>
              <a:ext cx="0" cy="1336"/>
            </a:xfrm>
            <a:prstGeom prst="line">
              <a:avLst/>
            </a:prstGeom>
            <a:ln w="19050" cap="flat" cmpd="sng">
              <a:solidFill>
                <a:schemeClr val="tx1"/>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29701" name="Object 12"/>
                <p:cNvSpPr txBox="1"/>
                <p:nvPr/>
              </p:nvSpPr>
              <p:spPr>
                <a:xfrm>
                  <a:off x="335" y="528"/>
                  <a:ext cx="267" cy="28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𝑝</m:t>
                        </m:r>
                      </m:oMath>
                    </m:oMathPara>
                  </a14:m>
                  <a:endParaRPr lang="zh-CN" altLang="en-US" sz="2600"/>
                </a:p>
              </p:txBody>
            </p:sp>
          </mc:Choice>
          <mc:Fallback xmlns="">
            <p:sp>
              <p:nvSpPr>
                <p:cNvPr id="29701" name="Object 12"/>
                <p:cNvSpPr txBox="1">
                  <a:spLocks noRot="1" noChangeAspect="1" noMove="1" noResize="1" noEditPoints="1" noAdjustHandles="1" noChangeArrowheads="1" noChangeShapeType="1" noTextEdit="1"/>
                </p:cNvSpPr>
                <p:nvPr/>
              </p:nvSpPr>
              <p:spPr>
                <a:xfrm>
                  <a:off x="335" y="528"/>
                  <a:ext cx="267" cy="283"/>
                </a:xfrm>
                <a:prstGeom prst="rect">
                  <a:avLst/>
                </a:prstGeom>
                <a:blipFill>
                  <a:blip r:embed="rId3"/>
                  <a:stretch>
                    <a:fillRect b="-289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2" name="Object 13"/>
                <p:cNvSpPr txBox="1"/>
                <p:nvPr/>
              </p:nvSpPr>
              <p:spPr>
                <a:xfrm>
                  <a:off x="363" y="1782"/>
                  <a:ext cx="263" cy="28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𝑜</m:t>
                        </m:r>
                      </m:oMath>
                    </m:oMathPara>
                  </a14:m>
                  <a:endParaRPr lang="zh-CN" altLang="en-US" sz="2600"/>
                </a:p>
              </p:txBody>
            </p:sp>
          </mc:Choice>
          <mc:Fallback xmlns="">
            <p:sp>
              <p:nvSpPr>
                <p:cNvPr id="29702" name="Object 13"/>
                <p:cNvSpPr txBox="1">
                  <a:spLocks noRot="1" noChangeAspect="1" noMove="1" noResize="1" noEditPoints="1" noAdjustHandles="1" noChangeArrowheads="1" noChangeShapeType="1" noTextEdit="1"/>
                </p:cNvSpPr>
                <p:nvPr/>
              </p:nvSpPr>
              <p:spPr>
                <a:xfrm>
                  <a:off x="363" y="1782"/>
                  <a:ext cx="263" cy="282"/>
                </a:xfrm>
                <a:prstGeom prst="rect">
                  <a:avLst/>
                </a:prstGeom>
                <a:blipFill>
                  <a:blip r:embed="rId4"/>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03" name="Object 14"/>
                <p:cNvSpPr txBox="1"/>
                <p:nvPr/>
              </p:nvSpPr>
              <p:spPr>
                <a:xfrm>
                  <a:off x="2229" y="1816"/>
                  <a:ext cx="228" cy="24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𝑉</m:t>
                        </m:r>
                      </m:oMath>
                    </m:oMathPara>
                  </a14:m>
                  <a:endParaRPr lang="zh-CN" altLang="en-US" sz="2600"/>
                </a:p>
              </p:txBody>
            </p:sp>
          </mc:Choice>
          <mc:Fallback xmlns="">
            <p:sp>
              <p:nvSpPr>
                <p:cNvPr id="29703" name="Object 14"/>
                <p:cNvSpPr txBox="1">
                  <a:spLocks noRot="1" noChangeAspect="1" noMove="1" noResize="1" noEditPoints="1" noAdjustHandles="1" noChangeArrowheads="1" noChangeShapeType="1" noTextEdit="1"/>
                </p:cNvSpPr>
                <p:nvPr/>
              </p:nvSpPr>
              <p:spPr>
                <a:xfrm>
                  <a:off x="2229" y="1816"/>
                  <a:ext cx="228" cy="248"/>
                </a:xfrm>
                <a:prstGeom prst="rect">
                  <a:avLst/>
                </a:prstGeom>
                <a:blipFill>
                  <a:blip r:embed="rId5"/>
                  <a:stretch>
                    <a:fillRect/>
                  </a:stretch>
                </a:blipFill>
                <a:ln w="38100">
                  <a:noFill/>
                  <a:miter/>
                </a:ln>
              </p:spPr>
              <p:txBody>
                <a:bodyPr/>
                <a:lstStyle/>
                <a:p>
                  <a:r>
                    <a:rPr lang="en-US">
                      <a:noFill/>
                    </a:rPr>
                    <a:t> </a:t>
                  </a:r>
                </a:p>
              </p:txBody>
            </p:sp>
          </mc:Fallback>
        </mc:AlternateContent>
        <p:sp>
          <p:nvSpPr>
            <p:cNvPr id="29714" name="Freeform 15"/>
            <p:cNvSpPr/>
            <p:nvPr/>
          </p:nvSpPr>
          <p:spPr>
            <a:xfrm>
              <a:off x="863" y="822"/>
              <a:ext cx="1263" cy="839"/>
            </a:xfrm>
            <a:custGeom>
              <a:avLst/>
              <a:gdLst>
                <a:gd name="txL" fmla="*/ 0 w 1263"/>
                <a:gd name="txT" fmla="*/ 0 h 839"/>
                <a:gd name="txR" fmla="*/ 1263 w 1263"/>
                <a:gd name="txB" fmla="*/ 839 h 839"/>
              </a:gdLst>
              <a:ahLst/>
              <a:cxnLst>
                <a:cxn ang="0">
                  <a:pos x="113" y="344"/>
                </a:cxn>
                <a:cxn ang="0">
                  <a:pos x="252" y="169"/>
                </a:cxn>
                <a:cxn ang="0">
                  <a:pos x="389" y="69"/>
                </a:cxn>
                <a:cxn ang="0">
                  <a:pos x="598" y="28"/>
                </a:cxn>
                <a:cxn ang="0">
                  <a:pos x="788" y="7"/>
                </a:cxn>
                <a:cxn ang="0">
                  <a:pos x="977" y="7"/>
                </a:cxn>
                <a:cxn ang="0">
                  <a:pos x="1223" y="49"/>
                </a:cxn>
                <a:cxn ang="0">
                  <a:pos x="1216" y="288"/>
                </a:cxn>
                <a:cxn ang="0">
                  <a:pos x="1167" y="442"/>
                </a:cxn>
                <a:cxn ang="0">
                  <a:pos x="1076" y="569"/>
                </a:cxn>
                <a:cxn ang="0">
                  <a:pos x="969" y="670"/>
                </a:cxn>
                <a:cxn ang="0">
                  <a:pos x="866" y="736"/>
                </a:cxn>
                <a:cxn ang="0">
                  <a:pos x="739" y="794"/>
                </a:cxn>
                <a:cxn ang="0">
                  <a:pos x="570" y="829"/>
                </a:cxn>
                <a:cxn ang="0">
                  <a:pos x="380" y="836"/>
                </a:cxn>
                <a:cxn ang="0">
                  <a:pos x="191" y="836"/>
                </a:cxn>
                <a:cxn ang="0">
                  <a:pos x="29" y="815"/>
                </a:cxn>
                <a:cxn ang="0">
                  <a:pos x="15" y="702"/>
                </a:cxn>
                <a:cxn ang="0">
                  <a:pos x="43" y="513"/>
                </a:cxn>
                <a:cxn ang="0">
                  <a:pos x="113" y="344"/>
                </a:cxn>
              </a:cxnLst>
              <a:rect l="txL" t="txT" r="txR" b="txB"/>
              <a:pathLst>
                <a:path w="1263" h="839">
                  <a:moveTo>
                    <a:pt x="113" y="344"/>
                  </a:moveTo>
                  <a:cubicBezTo>
                    <a:pt x="153" y="283"/>
                    <a:pt x="206" y="215"/>
                    <a:pt x="252" y="169"/>
                  </a:cubicBezTo>
                  <a:cubicBezTo>
                    <a:pt x="298" y="123"/>
                    <a:pt x="331" y="92"/>
                    <a:pt x="389" y="69"/>
                  </a:cubicBezTo>
                  <a:cubicBezTo>
                    <a:pt x="447" y="46"/>
                    <a:pt x="531" y="38"/>
                    <a:pt x="598" y="28"/>
                  </a:cubicBezTo>
                  <a:cubicBezTo>
                    <a:pt x="665" y="18"/>
                    <a:pt x="725" y="10"/>
                    <a:pt x="788" y="7"/>
                  </a:cubicBezTo>
                  <a:cubicBezTo>
                    <a:pt x="851" y="4"/>
                    <a:pt x="905" y="0"/>
                    <a:pt x="977" y="7"/>
                  </a:cubicBezTo>
                  <a:cubicBezTo>
                    <a:pt x="1049" y="14"/>
                    <a:pt x="1183" y="2"/>
                    <a:pt x="1223" y="49"/>
                  </a:cubicBezTo>
                  <a:cubicBezTo>
                    <a:pt x="1263" y="96"/>
                    <a:pt x="1225" y="223"/>
                    <a:pt x="1216" y="288"/>
                  </a:cubicBezTo>
                  <a:cubicBezTo>
                    <a:pt x="1207" y="353"/>
                    <a:pt x="1190" y="395"/>
                    <a:pt x="1167" y="442"/>
                  </a:cubicBezTo>
                  <a:cubicBezTo>
                    <a:pt x="1144" y="489"/>
                    <a:pt x="1109" y="531"/>
                    <a:pt x="1076" y="569"/>
                  </a:cubicBezTo>
                  <a:cubicBezTo>
                    <a:pt x="1043" y="607"/>
                    <a:pt x="1004" y="642"/>
                    <a:pt x="969" y="670"/>
                  </a:cubicBezTo>
                  <a:cubicBezTo>
                    <a:pt x="934" y="698"/>
                    <a:pt x="904" y="715"/>
                    <a:pt x="866" y="736"/>
                  </a:cubicBezTo>
                  <a:cubicBezTo>
                    <a:pt x="828" y="757"/>
                    <a:pt x="788" y="778"/>
                    <a:pt x="739" y="794"/>
                  </a:cubicBezTo>
                  <a:cubicBezTo>
                    <a:pt x="690" y="810"/>
                    <a:pt x="630" y="822"/>
                    <a:pt x="570" y="829"/>
                  </a:cubicBezTo>
                  <a:cubicBezTo>
                    <a:pt x="510" y="836"/>
                    <a:pt x="443" y="835"/>
                    <a:pt x="380" y="836"/>
                  </a:cubicBezTo>
                  <a:cubicBezTo>
                    <a:pt x="317" y="837"/>
                    <a:pt x="249" y="839"/>
                    <a:pt x="191" y="836"/>
                  </a:cubicBezTo>
                  <a:cubicBezTo>
                    <a:pt x="133" y="833"/>
                    <a:pt x="58" y="837"/>
                    <a:pt x="29" y="815"/>
                  </a:cubicBezTo>
                  <a:cubicBezTo>
                    <a:pt x="0" y="793"/>
                    <a:pt x="13" y="752"/>
                    <a:pt x="15" y="702"/>
                  </a:cubicBezTo>
                  <a:cubicBezTo>
                    <a:pt x="17" y="652"/>
                    <a:pt x="27" y="573"/>
                    <a:pt x="43" y="513"/>
                  </a:cubicBezTo>
                  <a:cubicBezTo>
                    <a:pt x="59" y="453"/>
                    <a:pt x="99" y="379"/>
                    <a:pt x="113" y="344"/>
                  </a:cubicBez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p>
          </p:txBody>
        </p:sp>
        <p:sp>
          <p:nvSpPr>
            <p:cNvPr id="29715" name="Line 16"/>
            <p:cNvSpPr/>
            <p:nvPr/>
          </p:nvSpPr>
          <p:spPr>
            <a:xfrm flipH="1">
              <a:off x="1783" y="1415"/>
              <a:ext cx="136" cy="100"/>
            </a:xfrm>
            <a:prstGeom prst="line">
              <a:avLst/>
            </a:prstGeom>
            <a:ln w="38100" cap="flat" cmpd="sng">
              <a:solidFill>
                <a:srgbClr val="0000FF"/>
              </a:solidFill>
              <a:prstDash val="solid"/>
              <a:headEnd type="none" w="med" len="med"/>
              <a:tailEnd type="triangle" w="sm" len="lg"/>
            </a:ln>
          </p:spPr>
        </p:sp>
        <p:sp>
          <p:nvSpPr>
            <p:cNvPr id="29716" name="Line 17"/>
            <p:cNvSpPr/>
            <p:nvPr/>
          </p:nvSpPr>
          <p:spPr>
            <a:xfrm flipV="1">
              <a:off x="1169" y="881"/>
              <a:ext cx="102" cy="66"/>
            </a:xfrm>
            <a:prstGeom prst="line">
              <a:avLst/>
            </a:prstGeom>
            <a:ln w="38100" cap="flat" cmpd="sng">
              <a:solidFill>
                <a:srgbClr val="0000FF"/>
              </a:solidFill>
              <a:prstDash val="solid"/>
              <a:headEnd type="none" w="med" len="med"/>
              <a:tailEnd type="triangle" w="sm" len="lg"/>
            </a:ln>
          </p:spPr>
        </p:sp>
        <p:sp>
          <p:nvSpPr>
            <p:cNvPr id="29717" name="Text Box 18"/>
            <p:cNvSpPr txBox="1"/>
            <p:nvPr/>
          </p:nvSpPr>
          <p:spPr>
            <a:xfrm>
              <a:off x="768" y="1488"/>
              <a:ext cx="288" cy="330"/>
            </a:xfrm>
            <a:prstGeom prst="rect">
              <a:avLst/>
            </a:prstGeom>
            <a:noFill/>
            <a:ln w="9525">
              <a:noFill/>
            </a:ln>
          </p:spPr>
          <p:txBody>
            <a:bodyPr>
              <a:spAutoFit/>
            </a:bodyPr>
            <a:lstStyle/>
            <a:p>
              <a:pPr eaLnBrk="1" hangingPunct="1">
                <a:spcBef>
                  <a:spcPct val="50000"/>
                </a:spcBef>
              </a:pPr>
              <a:r>
                <a:rPr lang="en-US" altLang="zh-CN" sz="2600" dirty="0">
                  <a:solidFill>
                    <a:srgbClr val="CC0000"/>
                  </a:solidFill>
                  <a:latin typeface="Times New Roman" panose="02020603050405020304" pitchFamily="18" charset="0"/>
                </a:rPr>
                <a:t>*</a:t>
              </a:r>
            </a:p>
          </p:txBody>
        </p:sp>
        <p:sp>
          <p:nvSpPr>
            <p:cNvPr id="29718" name="Text Box 19"/>
            <p:cNvSpPr txBox="1"/>
            <p:nvPr/>
          </p:nvSpPr>
          <p:spPr>
            <a:xfrm>
              <a:off x="1968" y="720"/>
              <a:ext cx="288" cy="330"/>
            </a:xfrm>
            <a:prstGeom prst="rect">
              <a:avLst/>
            </a:prstGeom>
            <a:noFill/>
            <a:ln w="9525">
              <a:noFill/>
            </a:ln>
          </p:spPr>
          <p:txBody>
            <a:bodyPr>
              <a:spAutoFit/>
            </a:bodyPr>
            <a:lstStyle/>
            <a:p>
              <a:pPr eaLnBrk="1" hangingPunct="1">
                <a:spcBef>
                  <a:spcPct val="50000"/>
                </a:spcBef>
              </a:pPr>
              <a:r>
                <a:rPr lang="en-US" altLang="zh-CN" sz="2600" dirty="0">
                  <a:solidFill>
                    <a:srgbClr val="CC0000"/>
                  </a:solidFill>
                  <a:latin typeface="Times New Roman" panose="02020603050405020304" pitchFamily="18" charset="0"/>
                </a:rPr>
                <a:t>*</a:t>
              </a:r>
            </a:p>
          </p:txBody>
        </p:sp>
        <p:sp>
          <p:nvSpPr>
            <p:cNvPr id="29719" name="Text Box 20"/>
            <p:cNvSpPr txBox="1"/>
            <p:nvPr/>
          </p:nvSpPr>
          <p:spPr>
            <a:xfrm>
              <a:off x="672" y="1584"/>
              <a:ext cx="240"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A</a:t>
              </a:r>
            </a:p>
          </p:txBody>
        </p:sp>
        <p:sp>
          <p:nvSpPr>
            <p:cNvPr id="29720" name="Text Box 21"/>
            <p:cNvSpPr txBox="1"/>
            <p:nvPr/>
          </p:nvSpPr>
          <p:spPr>
            <a:xfrm>
              <a:off x="2064" y="624"/>
              <a:ext cx="288"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B</a:t>
              </a:r>
            </a:p>
          </p:txBody>
        </p:sp>
        <p:sp>
          <p:nvSpPr>
            <p:cNvPr id="29721" name="Text Box 22"/>
            <p:cNvSpPr txBox="1"/>
            <p:nvPr/>
          </p:nvSpPr>
          <p:spPr>
            <a:xfrm>
              <a:off x="1008" y="624"/>
              <a:ext cx="288"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C</a:t>
              </a:r>
            </a:p>
          </p:txBody>
        </p:sp>
        <p:sp>
          <p:nvSpPr>
            <p:cNvPr id="29722" name="Text Box 23"/>
            <p:cNvSpPr txBox="1"/>
            <p:nvPr/>
          </p:nvSpPr>
          <p:spPr>
            <a:xfrm>
              <a:off x="1776" y="1440"/>
              <a:ext cx="336" cy="33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Times New Roman" panose="02020603050405020304" pitchFamily="18" charset="0"/>
                </a:rPr>
                <a:t>D</a:t>
              </a:r>
            </a:p>
          </p:txBody>
        </p:sp>
      </p:grpSp>
      <p:sp>
        <p:nvSpPr>
          <p:cNvPr id="28" name="Text Box 13">
            <a:hlinkClick r:id="" action="ppaction://noaction"/>
            <a:extLst>
              <a:ext uri="{FF2B5EF4-FFF2-40B4-BE49-F238E27FC236}">
                <a16:creationId xmlns:a16="http://schemas.microsoft.com/office/drawing/2014/main" id="{B8C70B60-43E1-4589-85A8-F5052BFA32C3}"/>
              </a:ext>
            </a:extLst>
          </p:cNvPr>
          <p:cNvSpPr txBox="1">
            <a:spLocks noChangeArrowheads="1"/>
          </p:cNvSpPr>
          <p:nvPr/>
        </p:nvSpPr>
        <p:spPr bwMode="auto">
          <a:xfrm>
            <a:off x="574057" y="405824"/>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克劳修斯熵</a:t>
            </a:r>
          </a:p>
        </p:txBody>
      </p:sp>
      <p:grpSp>
        <p:nvGrpSpPr>
          <p:cNvPr id="2" name="组合 1">
            <a:extLst>
              <a:ext uri="{FF2B5EF4-FFF2-40B4-BE49-F238E27FC236}">
                <a16:creationId xmlns:a16="http://schemas.microsoft.com/office/drawing/2014/main" id="{FF0E40CD-9FCF-4CA0-870C-A16C511DDF5E}"/>
              </a:ext>
            </a:extLst>
          </p:cNvPr>
          <p:cNvGrpSpPr/>
          <p:nvPr/>
        </p:nvGrpSpPr>
        <p:grpSpPr>
          <a:xfrm>
            <a:off x="8465788" y="2112674"/>
            <a:ext cx="3886200" cy="519113"/>
            <a:chOff x="8031480" y="6280740"/>
            <a:chExt cx="3886200" cy="519113"/>
          </a:xfrm>
        </p:grpSpPr>
        <p:sp>
          <p:nvSpPr>
            <p:cNvPr id="31" name="Text Box 12">
              <a:extLst>
                <a:ext uri="{FF2B5EF4-FFF2-40B4-BE49-F238E27FC236}">
                  <a16:creationId xmlns:a16="http://schemas.microsoft.com/office/drawing/2014/main" id="{846585C5-873D-4570-BBCA-29EFCFC1C957}"/>
                </a:ext>
              </a:extLst>
            </p:cNvPr>
            <p:cNvSpPr txBox="1"/>
            <p:nvPr/>
          </p:nvSpPr>
          <p:spPr>
            <a:xfrm>
              <a:off x="8031480" y="6280740"/>
              <a:ext cx="3886200" cy="519113"/>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熵的单位：</a:t>
              </a:r>
            </a:p>
          </p:txBody>
        </p:sp>
        <mc:AlternateContent xmlns:mc="http://schemas.openxmlformats.org/markup-compatibility/2006" xmlns:a14="http://schemas.microsoft.com/office/drawing/2010/main">
          <mc:Choice Requires="a14">
            <p:sp>
              <p:nvSpPr>
                <p:cNvPr id="32" name="Object 13">
                  <a:extLst>
                    <a:ext uri="{FF2B5EF4-FFF2-40B4-BE49-F238E27FC236}">
                      <a16:creationId xmlns:a16="http://schemas.microsoft.com/office/drawing/2014/main" id="{45E82C78-D7C7-4100-B66A-C8A6E96AC28C}"/>
                    </a:ext>
                  </a:extLst>
                </p:cNvPr>
                <p:cNvSpPr txBox="1"/>
                <p:nvPr/>
              </p:nvSpPr>
              <p:spPr>
                <a:xfrm>
                  <a:off x="9702800" y="6280740"/>
                  <a:ext cx="838200" cy="400050"/>
                </a:xfrm>
                <a:prstGeom prst="rect">
                  <a:avLst/>
                </a:prstGeom>
                <a:noFill/>
                <a:ln w="9525"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m:rPr>
                            <m:nor/>
                          </m:rPr>
                          <a:rPr lang="zh-CN" altLang="en-US" sz="2800" i="0">
                            <a:solidFill>
                              <a:srgbClr val="000000"/>
                            </a:solidFill>
                          </a:rPr>
                          <m:t>J</m:t>
                        </m:r>
                        <m:r>
                          <m:rPr>
                            <m:nor/>
                          </m:rPr>
                          <a:rPr lang="zh-CN" altLang="en-US" sz="2800" i="0">
                            <a:solidFill>
                              <a:srgbClr val="000000"/>
                            </a:solidFill>
                          </a:rPr>
                          <m:t>/</m:t>
                        </m:r>
                        <m:r>
                          <m:rPr>
                            <m:nor/>
                          </m:rPr>
                          <a:rPr lang="zh-CN" altLang="en-US" sz="2800" i="0">
                            <a:solidFill>
                              <a:srgbClr val="000000"/>
                            </a:solidFill>
                          </a:rPr>
                          <m:t>K</m:t>
                        </m:r>
                      </m:oMath>
                    </m:oMathPara>
                  </a14:m>
                  <a:endParaRPr lang="zh-CN" altLang="en-US" sz="2800" dirty="0"/>
                </a:p>
              </p:txBody>
            </p:sp>
          </mc:Choice>
          <mc:Fallback xmlns="">
            <p:sp>
              <p:nvSpPr>
                <p:cNvPr id="32" name="Object 13">
                  <a:extLst>
                    <a:ext uri="{FF2B5EF4-FFF2-40B4-BE49-F238E27FC236}">
                      <a16:creationId xmlns:a16="http://schemas.microsoft.com/office/drawing/2014/main" id="{45E82C78-D7C7-4100-B66A-C8A6E96AC28C}"/>
                    </a:ext>
                  </a:extLst>
                </p:cNvPr>
                <p:cNvSpPr txBox="1">
                  <a:spLocks noRot="1" noChangeAspect="1" noMove="1" noResize="1" noEditPoints="1" noAdjustHandles="1" noChangeArrowheads="1" noChangeShapeType="1" noTextEdit="1"/>
                </p:cNvSpPr>
                <p:nvPr/>
              </p:nvSpPr>
              <p:spPr>
                <a:xfrm>
                  <a:off x="9702800" y="6280740"/>
                  <a:ext cx="838200" cy="400050"/>
                </a:xfrm>
                <a:prstGeom prst="rect">
                  <a:avLst/>
                </a:prstGeom>
                <a:blipFill>
                  <a:blip r:embed="rId6"/>
                  <a:stretch>
                    <a:fillRect/>
                  </a:stretch>
                </a:blipFill>
                <a:ln w="9525" cap="flat" cmpd="sng">
                  <a:noFill/>
                  <a:prstDash val="solid"/>
                  <a:miter/>
                  <a:headEnd type="none" w="med" len="med"/>
                  <a:tailEnd type="none" w="med" len="med"/>
                </a:ln>
              </p:spPr>
              <p:txBody>
                <a:bodyPr/>
                <a:lstStyle/>
                <a:p>
                  <a:r>
                    <a:rPr lang="en-US">
                      <a:noFill/>
                    </a:rPr>
                    <a:t> </a:t>
                  </a:r>
                </a:p>
              </p:txBody>
            </p:sp>
          </mc:Fallback>
        </mc:AlternateContent>
      </p:grpSp>
      <p:sp>
        <p:nvSpPr>
          <p:cNvPr id="4" name="矩形 3">
            <a:extLst>
              <a:ext uri="{FF2B5EF4-FFF2-40B4-BE49-F238E27FC236}">
                <a16:creationId xmlns:a16="http://schemas.microsoft.com/office/drawing/2014/main" id="{E977E491-AB03-4FDC-8269-03EDD9B67276}"/>
              </a:ext>
            </a:extLst>
          </p:cNvPr>
          <p:cNvSpPr/>
          <p:nvPr/>
        </p:nvSpPr>
        <p:spPr>
          <a:xfrm>
            <a:off x="1325880" y="4270764"/>
            <a:ext cx="9824720" cy="954107"/>
          </a:xfrm>
          <a:prstGeom prst="rect">
            <a:avLst/>
          </a:prstGeom>
        </p:spPr>
        <p:txBody>
          <a:bodyPr wrap="square">
            <a:spAutoFit/>
          </a:bodyPr>
          <a:lstStyle/>
          <a:p>
            <a:r>
              <a:rPr lang="en-US" altLang="zh-CN" sz="2800" dirty="0"/>
              <a:t>-</a:t>
            </a:r>
            <a:r>
              <a:rPr lang="zh-CN" altLang="en-US" sz="2800" dirty="0">
                <a:latin typeface="Arial" panose="020B0604020202020204" pitchFamily="34" charset="0"/>
              </a:rPr>
              <a:t>熵</a:t>
            </a:r>
            <a:r>
              <a:rPr lang="zh-CN" altLang="en-US" sz="2800" dirty="0"/>
              <a:t>与连接态</a:t>
            </a:r>
            <a:r>
              <a:rPr lang="en-US" altLang="zh-CN" sz="2800" dirty="0"/>
              <a:t>A</a:t>
            </a:r>
            <a:r>
              <a:rPr lang="zh-CN" altLang="en-US" sz="2800" dirty="0"/>
              <a:t>和态</a:t>
            </a:r>
            <a:r>
              <a:rPr lang="en-US" altLang="zh-CN" sz="2800" dirty="0"/>
              <a:t>B</a:t>
            </a:r>
            <a:r>
              <a:rPr lang="zh-CN" altLang="en-US" sz="2800" dirty="0"/>
              <a:t>的过程无关，实际过程可以是可逆过程，也可是不可逆过程。</a:t>
            </a:r>
          </a:p>
        </p:txBody>
      </p:sp>
      <p:sp>
        <p:nvSpPr>
          <p:cNvPr id="3" name="Text Box 25">
            <a:extLst>
              <a:ext uri="{FF2B5EF4-FFF2-40B4-BE49-F238E27FC236}">
                <a16:creationId xmlns:a16="http://schemas.microsoft.com/office/drawing/2014/main" id="{800D2B4A-2F49-49F3-6403-96223C76C435}"/>
              </a:ext>
            </a:extLst>
          </p:cNvPr>
          <p:cNvSpPr txBox="1"/>
          <p:nvPr/>
        </p:nvSpPr>
        <p:spPr>
          <a:xfrm>
            <a:off x="1774885" y="3747126"/>
            <a:ext cx="2895600" cy="519113"/>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可逆过程</a:t>
            </a:r>
          </a:p>
        </p:txBody>
      </p:sp>
      <p:sp>
        <p:nvSpPr>
          <p:cNvPr id="5" name="Text Box 3">
            <a:extLst>
              <a:ext uri="{FF2B5EF4-FFF2-40B4-BE49-F238E27FC236}">
                <a16:creationId xmlns:a16="http://schemas.microsoft.com/office/drawing/2014/main" id="{93E78A6C-AADC-23D5-819E-2D0BF35F8298}"/>
              </a:ext>
            </a:extLst>
          </p:cNvPr>
          <p:cNvSpPr txBox="1"/>
          <p:nvPr/>
        </p:nvSpPr>
        <p:spPr>
          <a:xfrm>
            <a:off x="1325880" y="5359530"/>
            <a:ext cx="9540240" cy="771814"/>
          </a:xfrm>
          <a:prstGeom prst="rect">
            <a:avLst/>
          </a:prstGeom>
          <a:noFill/>
          <a:ln w="9525">
            <a:noFill/>
          </a:ln>
        </p:spPr>
        <p:txBody>
          <a:bodyPr wrap="square">
            <a:spAutoFit/>
          </a:bodyPr>
          <a:lstStyle/>
          <a:p>
            <a:pPr eaLnBrk="1" hangingPunct="1">
              <a:lnSpc>
                <a:spcPts val="2600"/>
              </a:lnSpc>
              <a:spcBef>
                <a:spcPct val="50000"/>
              </a:spcBef>
            </a:pPr>
            <a:r>
              <a:rPr lang="en-US" altLang="zh-CN" sz="2800" dirty="0">
                <a:latin typeface="Arial" panose="020B0604020202020204" pitchFamily="34" charset="0"/>
              </a:rPr>
              <a:t>- </a:t>
            </a:r>
            <a:r>
              <a:rPr lang="zh-CN" altLang="en-US" sz="2800" dirty="0">
                <a:latin typeface="Arial" panose="020B0604020202020204" pitchFamily="34" charset="0"/>
              </a:rPr>
              <a:t>熵是态函数，可在两平衡态之间假设任一可逆过程（非孤立），从而可计算熵变 </a:t>
            </a:r>
            <a:endParaRPr lang="en-US" altLang="zh-CN" sz="2800" dirty="0">
              <a:latin typeface="Arial" panose="020B0604020202020204" pitchFamily="34" charset="0"/>
            </a:endParaRPr>
          </a:p>
        </p:txBody>
      </p:sp>
      <p:sp>
        <p:nvSpPr>
          <p:cNvPr id="6" name="Text Box 4">
            <a:extLst>
              <a:ext uri="{FF2B5EF4-FFF2-40B4-BE49-F238E27FC236}">
                <a16:creationId xmlns:a16="http://schemas.microsoft.com/office/drawing/2014/main" id="{8A711186-D082-CD5D-446A-37FCEE3B7EC9}"/>
              </a:ext>
            </a:extLst>
          </p:cNvPr>
          <p:cNvSpPr txBox="1"/>
          <p:nvPr/>
        </p:nvSpPr>
        <p:spPr>
          <a:xfrm>
            <a:off x="1235287" y="6259530"/>
            <a:ext cx="11110595" cy="381130"/>
          </a:xfrm>
          <a:prstGeom prst="rect">
            <a:avLst/>
          </a:prstGeom>
          <a:noFill/>
          <a:ln w="9525">
            <a:noFill/>
          </a:ln>
        </p:spPr>
        <p:txBody>
          <a:bodyPr wrap="square">
            <a:spAutoFit/>
          </a:bodyPr>
          <a:lstStyle/>
          <a:p>
            <a:pPr eaLnBrk="1" hangingPunct="1">
              <a:lnSpc>
                <a:spcPts val="2000"/>
              </a:lnSpc>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当系统分为几个部分时， 各部分的熵变之和等于系统的熵变 </a:t>
            </a:r>
            <a:endParaRPr lang="en-US" altLang="zh-CN" sz="2800" dirty="0">
              <a:latin typeface="Times New Roman" panose="02020603050405020304" pitchFamily="18" charset="0"/>
            </a:endParaRPr>
          </a:p>
        </p:txBody>
      </p:sp>
      <p:sp>
        <p:nvSpPr>
          <p:cNvPr id="10" name="Line 9">
            <a:extLst>
              <a:ext uri="{FF2B5EF4-FFF2-40B4-BE49-F238E27FC236}">
                <a16:creationId xmlns:a16="http://schemas.microsoft.com/office/drawing/2014/main" id="{D2F2F7F8-A1DA-BBF6-561C-8F23C0F9E74B}"/>
              </a:ext>
            </a:extLst>
          </p:cNvPr>
          <p:cNvSpPr>
            <a:spLocks noChangeShapeType="1"/>
          </p:cNvSpPr>
          <p:nvPr/>
        </p:nvSpPr>
        <p:spPr bwMode="auto">
          <a:xfrm>
            <a:off x="6236809" y="1839044"/>
            <a:ext cx="228600" cy="0"/>
          </a:xfrm>
          <a:prstGeom prst="line">
            <a:avLst/>
          </a:prstGeom>
          <a:noFill/>
          <a:ln w="127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sz="2800"/>
          </a:p>
        </p:txBody>
      </p:sp>
    </p:spTree>
    <p:extLst>
      <p:ext uri="{BB962C8B-B14F-4D97-AF65-F5344CB8AC3E}">
        <p14:creationId xmlns:p14="http://schemas.microsoft.com/office/powerpoint/2010/main" val="4891084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2" name="Text Box 2"/>
          <p:cNvSpPr txBox="1"/>
          <p:nvPr/>
        </p:nvSpPr>
        <p:spPr>
          <a:xfrm>
            <a:off x="716280" y="276226"/>
            <a:ext cx="10083800" cy="1815882"/>
          </a:xfrm>
          <a:prstGeom prst="rect">
            <a:avLst/>
          </a:prstGeom>
          <a:noFill/>
          <a:ln w="9525">
            <a:noFill/>
          </a:ln>
        </p:spPr>
        <p:txBody>
          <a:bodyPr wrap="square">
            <a:spAutoFit/>
          </a:bodyPr>
          <a:lstStyle/>
          <a:p>
            <a:pPr eaLnBrk="1" hangingPunct="1">
              <a:spcBef>
                <a:spcPct val="50000"/>
              </a:spcBef>
            </a:pPr>
            <a:r>
              <a:rPr lang="zh-CN" altLang="en-US" sz="2800" dirty="0">
                <a:latin typeface="Times New Roman" panose="02020603050405020304" pitchFamily="18" charset="0"/>
              </a:rPr>
              <a:t>   例：</a:t>
            </a:r>
            <a:r>
              <a:rPr lang="zh-CN" altLang="en-US" sz="2800" dirty="0">
                <a:solidFill>
                  <a:srgbClr val="000000"/>
                </a:solidFill>
                <a:latin typeface="Times New Roman" panose="02020603050405020304" pitchFamily="18" charset="0"/>
              </a:rPr>
              <a:t>计算不同温度液体混合后的熵变 。质量为</a:t>
            </a:r>
            <a:r>
              <a:rPr lang="en-US" altLang="zh-CN" sz="2800" dirty="0">
                <a:solidFill>
                  <a:srgbClr val="000000"/>
                </a:solidFill>
                <a:latin typeface="Times New Roman" panose="02020603050405020304" pitchFamily="18" charset="0"/>
              </a:rPr>
              <a:t>0.30 kg</a:t>
            </a:r>
            <a:r>
              <a:rPr lang="zh-CN" altLang="en-US" sz="2800" dirty="0">
                <a:solidFill>
                  <a:srgbClr val="000000"/>
                </a:solidFill>
                <a:latin typeface="Times New Roman" panose="02020603050405020304" pitchFamily="18" charset="0"/>
              </a:rPr>
              <a:t>、温度为          的水</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与质量为 </a:t>
            </a:r>
            <a:r>
              <a:rPr lang="en-US" altLang="zh-CN" sz="2800" dirty="0">
                <a:solidFill>
                  <a:srgbClr val="000000"/>
                </a:solidFill>
                <a:latin typeface="Times New Roman" panose="02020603050405020304" pitchFamily="18" charset="0"/>
              </a:rPr>
              <a:t>0.70 kg</a:t>
            </a:r>
            <a:r>
              <a:rPr lang="zh-CN" altLang="en-US" sz="2800" dirty="0">
                <a:solidFill>
                  <a:srgbClr val="000000"/>
                </a:solidFill>
                <a:latin typeface="Times New Roman" panose="02020603050405020304" pitchFamily="18" charset="0"/>
              </a:rPr>
              <a:t>、 温度为         的水混合后，最后达到平衡状态。</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试求水的熵变。</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设整个系统与外界间无能量传递 。</a:t>
            </a:r>
            <a:endParaRPr lang="en-US" altLang="zh-CN" sz="28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1746" name="Object 3"/>
              <p:cNvSpPr txBox="1"/>
              <p:nvPr/>
            </p:nvSpPr>
            <p:spPr>
              <a:xfrm>
                <a:off x="1219200" y="707917"/>
                <a:ext cx="762000" cy="4762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9</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31746" name="Object 3"/>
              <p:cNvSpPr txBox="1">
                <a:spLocks noRot="1" noChangeAspect="1" noMove="1" noResize="1" noEditPoints="1" noAdjustHandles="1" noChangeArrowheads="1" noChangeShapeType="1" noTextEdit="1"/>
              </p:cNvSpPr>
              <p:nvPr/>
            </p:nvSpPr>
            <p:spPr>
              <a:xfrm>
                <a:off x="1219200" y="707917"/>
                <a:ext cx="762000" cy="476250"/>
              </a:xfrm>
              <a:prstGeom prst="rect">
                <a:avLst/>
              </a:prstGeom>
              <a:blipFill>
                <a:blip r:embed="rId2"/>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747" name="Object 4"/>
              <p:cNvSpPr txBox="1"/>
              <p:nvPr/>
            </p:nvSpPr>
            <p:spPr>
              <a:xfrm>
                <a:off x="7112000" y="712680"/>
                <a:ext cx="771525" cy="4714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31747" name="Object 4"/>
              <p:cNvSpPr txBox="1">
                <a:spLocks noRot="1" noChangeAspect="1" noMove="1" noResize="1" noEditPoints="1" noAdjustHandles="1" noChangeArrowheads="1" noChangeShapeType="1" noTextEdit="1"/>
              </p:cNvSpPr>
              <p:nvPr/>
            </p:nvSpPr>
            <p:spPr>
              <a:xfrm>
                <a:off x="7112000" y="712680"/>
                <a:ext cx="771525" cy="471487"/>
              </a:xfrm>
              <a:prstGeom prst="rect">
                <a:avLst/>
              </a:prstGeom>
              <a:blipFill>
                <a:blip r:embed="rId3"/>
                <a:stretch>
                  <a:fillRect/>
                </a:stretch>
              </a:blipFill>
              <a:ln w="38100">
                <a:noFill/>
                <a:miter/>
              </a:ln>
            </p:spPr>
            <p:txBody>
              <a:bodyPr/>
              <a:lstStyle/>
              <a:p>
                <a:r>
                  <a:rPr lang="en-US">
                    <a:noFill/>
                  </a:rPr>
                  <a:t> </a:t>
                </a:r>
              </a:p>
            </p:txBody>
          </p:sp>
        </mc:Fallback>
      </mc:AlternateContent>
      <p:sp>
        <p:nvSpPr>
          <p:cNvPr id="542725" name="Text Box 5"/>
          <p:cNvSpPr txBox="1"/>
          <p:nvPr/>
        </p:nvSpPr>
        <p:spPr>
          <a:xfrm>
            <a:off x="1397000" y="2158212"/>
            <a:ext cx="8534400" cy="116955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系统为孤立系统 </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混合是不可逆的等压过程。</a:t>
            </a:r>
            <a:endParaRPr lang="en-US" altLang="zh-CN" sz="2800" dirty="0">
              <a:solidFill>
                <a:srgbClr val="000000"/>
              </a:solidFill>
              <a:latin typeface="Times New Roman" panose="02020603050405020304" pitchFamily="18" charset="0"/>
            </a:endParaRPr>
          </a:p>
          <a:p>
            <a:pPr eaLnBrk="1" hangingPunct="1">
              <a:spcBef>
                <a:spcPct val="50000"/>
              </a:spcBef>
            </a:pPr>
            <a:r>
              <a:rPr lang="zh-CN" altLang="en-US" sz="2800" dirty="0">
                <a:solidFill>
                  <a:srgbClr val="000000"/>
                </a:solidFill>
                <a:latin typeface="Times New Roman" panose="02020603050405020304" pitchFamily="18" charset="0"/>
              </a:rPr>
              <a:t>为计算熵变 </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可假设一可逆等压混合过程。</a:t>
            </a:r>
            <a:endParaRPr lang="en-US" altLang="zh-CN" sz="2800" dirty="0">
              <a:solidFill>
                <a:srgbClr val="000000"/>
              </a:solidFill>
              <a:latin typeface="Times New Roman" panose="02020603050405020304" pitchFamily="18" charset="0"/>
            </a:endParaRPr>
          </a:p>
        </p:txBody>
      </p:sp>
      <p:grpSp>
        <p:nvGrpSpPr>
          <p:cNvPr id="2" name="Group 6"/>
          <p:cNvGrpSpPr/>
          <p:nvPr/>
        </p:nvGrpSpPr>
        <p:grpSpPr>
          <a:xfrm>
            <a:off x="2057400" y="3581405"/>
            <a:ext cx="8229600" cy="533401"/>
            <a:chOff x="336" y="2256"/>
            <a:chExt cx="5184" cy="336"/>
          </a:xfrm>
        </p:grpSpPr>
        <p:sp>
          <p:nvSpPr>
            <p:cNvPr id="31757" name="Text Box 7"/>
            <p:cNvSpPr txBox="1"/>
            <p:nvPr/>
          </p:nvSpPr>
          <p:spPr>
            <a:xfrm>
              <a:off x="336" y="2256"/>
              <a:ext cx="5184" cy="327"/>
            </a:xfrm>
            <a:prstGeom prst="rect">
              <a:avLst/>
            </a:prstGeom>
            <a:noFill/>
            <a:ln w="9525">
              <a:noFill/>
            </a:ln>
          </p:spPr>
          <p:txBody>
            <a:bodyPr>
              <a:spAutoFit/>
            </a:bodyPr>
            <a:lstStyle/>
            <a:p>
              <a:pPr eaLnBrk="1" hangingPunct="1">
                <a:spcBef>
                  <a:spcPct val="50000"/>
                </a:spcBef>
              </a:pP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设   平衡时水温为       </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水的定压比热容为</a:t>
              </a:r>
            </a:p>
          </p:txBody>
        </p:sp>
        <mc:AlternateContent xmlns:mc="http://schemas.openxmlformats.org/markup-compatibility/2006" xmlns:a14="http://schemas.microsoft.com/office/drawing/2010/main">
          <mc:Choice Requires="a14">
            <p:sp>
              <p:nvSpPr>
                <p:cNvPr id="31751" name="Object 8"/>
                <p:cNvSpPr txBox="1"/>
                <p:nvPr/>
              </p:nvSpPr>
              <p:spPr>
                <a:xfrm>
                  <a:off x="2464" y="2256"/>
                  <a:ext cx="288"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oMath>
                    </m:oMathPara>
                  </a14:m>
                  <a:endParaRPr lang="zh-CN" altLang="en-US" sz="2800" dirty="0"/>
                </a:p>
              </p:txBody>
            </p:sp>
          </mc:Choice>
          <mc:Fallback xmlns="">
            <p:sp>
              <p:nvSpPr>
                <p:cNvPr id="31751" name="Object 8"/>
                <p:cNvSpPr txBox="1">
                  <a:spLocks noRot="1" noChangeAspect="1" noMove="1" noResize="1" noEditPoints="1" noAdjustHandles="1" noChangeArrowheads="1" noChangeShapeType="1" noTextEdit="1"/>
                </p:cNvSpPr>
                <p:nvPr/>
              </p:nvSpPr>
              <p:spPr>
                <a:xfrm>
                  <a:off x="2464" y="2256"/>
                  <a:ext cx="288" cy="336"/>
                </a:xfrm>
                <a:prstGeom prst="rect">
                  <a:avLst/>
                </a:prstGeom>
                <a:blipFill>
                  <a:blip r:embed="rId4"/>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42729" name="Object 9"/>
              <p:cNvSpPr txBox="1"/>
              <p:nvPr/>
            </p:nvSpPr>
            <p:spPr>
              <a:xfrm>
                <a:off x="2746588" y="4169767"/>
                <a:ext cx="5860551" cy="6921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r>
                        <a:rPr lang="zh-CN" altLang="en-US" sz="2800" i="1">
                          <a:solidFill>
                            <a:srgbClr val="000000"/>
                          </a:solidFill>
                          <a:latin typeface="Cambria Math" panose="02040503050406030204" pitchFamily="18" charset="0"/>
                        </a:rPr>
                        <m:t>=4.18×1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0</m:t>
                          </m:r>
                        </m:e>
                        <m:sup>
                          <m:r>
                            <a:rPr lang="zh-CN" altLang="en-US" sz="2800" i="1">
                              <a:solidFill>
                                <a:srgbClr val="000000"/>
                              </a:solidFill>
                              <a:latin typeface="Cambria Math" panose="02040503050406030204" pitchFamily="18" charset="0"/>
                            </a:rPr>
                            <m:t>3</m:t>
                          </m:r>
                        </m:sup>
                      </m:sSup>
                      <m:r>
                        <m:rPr>
                          <m:sty m:val="p"/>
                        </m:rPr>
                        <a:rPr lang="zh-CN" altLang="en-US" sz="2800" i="0">
                          <a:solidFill>
                            <a:srgbClr val="000000"/>
                          </a:solidFill>
                          <a:latin typeface="Cambria Math" panose="02040503050406030204" pitchFamily="18" charset="0"/>
                        </a:rPr>
                        <m:t>J</m:t>
                      </m:r>
                      <m:r>
                        <a:rPr lang="zh-CN" altLang="en-US" sz="2800" i="1">
                          <a:solidFill>
                            <a:srgbClr val="000000"/>
                          </a:solidFill>
                          <a:latin typeface="Cambria Math" panose="02040503050406030204" pitchFamily="18" charset="0"/>
                        </a:rPr>
                        <m:t>⋅</m:t>
                      </m:r>
                      <m:r>
                        <m:rPr>
                          <m:nor/>
                        </m:rPr>
                        <a:rPr lang="zh-CN" altLang="en-US" sz="2800" i="0">
                          <a:solidFill>
                            <a:srgbClr val="000000"/>
                          </a:solidFill>
                          <a:latin typeface="Cambria Math" panose="02040503050406030204" pitchFamily="18" charset="0"/>
                        </a:rPr>
                        <m:t>k</m:t>
                      </m:r>
                      <m:sSup>
                        <m:sSupPr>
                          <m:ctrlPr>
                            <a:rPr lang="zh-CN" altLang="en-US" sz="2800" i="1">
                              <a:solidFill>
                                <a:srgbClr val="000000"/>
                              </a:solidFill>
                              <a:latin typeface="Cambria Math" panose="02040503050406030204" pitchFamily="18" charset="0"/>
                            </a:rPr>
                          </m:ctrlPr>
                        </m:sSupPr>
                        <m:e>
                          <m:r>
                            <m:rPr>
                              <m:nor/>
                            </m:rPr>
                            <a:rPr lang="zh-CN" altLang="en-US" sz="2800" i="0">
                              <a:solidFill>
                                <a:srgbClr val="000000"/>
                              </a:solidFill>
                              <a:latin typeface="Cambria Math" panose="02040503050406030204" pitchFamily="18" charset="0"/>
                            </a:rPr>
                            <m:t>g</m:t>
                          </m:r>
                        </m:e>
                        <m:sup>
                          <m:r>
                            <a:rPr lang="zh-CN" altLang="en-US" sz="2800" i="1">
                              <a:solidFill>
                                <a:srgbClr val="000000"/>
                              </a:solidFill>
                              <a:latin typeface="Cambria Math" panose="02040503050406030204" pitchFamily="18" charset="0"/>
                            </a:rPr>
                            <m:t>−</m:t>
                          </m:r>
                          <m:r>
                            <a:rPr lang="zh-CN" altLang="en-US" sz="2800" i="0">
                              <a:solidFill>
                                <a:srgbClr val="000000"/>
                              </a:solidFill>
                              <a:latin typeface="Cambria Math" panose="02040503050406030204" pitchFamily="18" charset="0"/>
                            </a:rPr>
                            <m:t>1</m:t>
                          </m:r>
                        </m:sup>
                      </m:sSup>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m:rPr>
                              <m:sty m:val="p"/>
                            </m:rPr>
                            <a:rPr lang="zh-CN" altLang="en-US" sz="2800" i="0">
                              <a:solidFill>
                                <a:srgbClr val="000000"/>
                              </a:solidFill>
                              <a:latin typeface="Cambria Math" panose="02040503050406030204" pitchFamily="18" charset="0"/>
                            </a:rPr>
                            <m:t>K</m:t>
                          </m:r>
                        </m:e>
                        <m:sup>
                          <m:r>
                            <a:rPr lang="zh-CN" altLang="en-US" sz="2800" i="1">
                              <a:solidFill>
                                <a:srgbClr val="000000"/>
                              </a:solidFill>
                              <a:latin typeface="Cambria Math" panose="02040503050406030204" pitchFamily="18" charset="0"/>
                            </a:rPr>
                            <m:t>−</m:t>
                          </m:r>
                          <m:r>
                            <a:rPr lang="zh-CN" altLang="en-US" sz="2800" i="0">
                              <a:solidFill>
                                <a:srgbClr val="000000"/>
                              </a:solidFill>
                              <a:latin typeface="Cambria Math" panose="02040503050406030204" pitchFamily="18" charset="0"/>
                            </a:rPr>
                            <m:t>1</m:t>
                          </m:r>
                        </m:sup>
                      </m:sSup>
                    </m:oMath>
                  </m:oMathPara>
                </a14:m>
                <a:endParaRPr lang="zh-CN" altLang="en-US" sz="2800" dirty="0"/>
              </a:p>
            </p:txBody>
          </p:sp>
        </mc:Choice>
        <mc:Fallback xmlns="">
          <p:sp>
            <p:nvSpPr>
              <p:cNvPr id="542729" name="Object 9"/>
              <p:cNvSpPr txBox="1">
                <a:spLocks noRot="1" noChangeAspect="1" noMove="1" noResize="1" noEditPoints="1" noAdjustHandles="1" noChangeArrowheads="1" noChangeShapeType="1" noTextEdit="1"/>
              </p:cNvSpPr>
              <p:nvPr/>
            </p:nvSpPr>
            <p:spPr>
              <a:xfrm>
                <a:off x="2746588" y="4169767"/>
                <a:ext cx="5860551" cy="692150"/>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50" name="Object 12"/>
              <p:cNvSpPr txBox="1"/>
              <p:nvPr/>
            </p:nvSpPr>
            <p:spPr>
              <a:xfrm>
                <a:off x="2425700" y="5288597"/>
                <a:ext cx="7696200" cy="7223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0.30×</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r>
                        <a:rPr lang="zh-CN" altLang="en-US" sz="2800" i="1">
                          <a:solidFill>
                            <a:srgbClr val="000000"/>
                          </a:solidFill>
                          <a:latin typeface="Cambria Math" panose="02040503050406030204" pitchFamily="18" charset="0"/>
                        </a:rPr>
                        <m:t>(363</m:t>
                      </m:r>
                      <m:r>
                        <m:rPr>
                          <m:sty m:val="p"/>
                        </m:rPr>
                        <a:rPr lang="zh-CN" altLang="en-US" sz="2800" i="0">
                          <a:solidFill>
                            <a:srgbClr val="000000"/>
                          </a:solidFill>
                          <a:latin typeface="Cambria Math" panose="02040503050406030204" pitchFamily="18" charset="0"/>
                        </a:rPr>
                        <m:t>K</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)=0.70×</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−293</m:t>
                      </m:r>
                      <m:r>
                        <m:rPr>
                          <m:sty m:val="p"/>
                        </m:rPr>
                        <a:rPr lang="zh-CN" altLang="en-US" sz="2800" i="0">
                          <a:solidFill>
                            <a:srgbClr val="000000"/>
                          </a:solidFill>
                          <a:latin typeface="Cambria Math" panose="02040503050406030204" pitchFamily="18" charset="0"/>
                        </a:rPr>
                        <m:t>K</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31750" name="Object 12"/>
              <p:cNvSpPr txBox="1">
                <a:spLocks noRot="1" noChangeAspect="1" noMove="1" noResize="1" noEditPoints="1" noAdjustHandles="1" noChangeArrowheads="1" noChangeShapeType="1" noTextEdit="1"/>
              </p:cNvSpPr>
              <p:nvPr/>
            </p:nvSpPr>
            <p:spPr>
              <a:xfrm>
                <a:off x="2425700" y="5288597"/>
                <a:ext cx="7696200" cy="722313"/>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2733" name="Object 13"/>
              <p:cNvSpPr txBox="1"/>
              <p:nvPr/>
            </p:nvSpPr>
            <p:spPr>
              <a:xfrm>
                <a:off x="5334000" y="5943601"/>
                <a:ext cx="1828800" cy="5318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=314</m:t>
                      </m:r>
                      <m:r>
                        <m:rPr>
                          <m:sty m:val="p"/>
                        </m:rPr>
                        <a:rPr lang="zh-CN" altLang="en-US" sz="2800" i="0">
                          <a:solidFill>
                            <a:srgbClr val="000000"/>
                          </a:solidFill>
                          <a:latin typeface="Cambria Math" panose="02040503050406030204" pitchFamily="18" charset="0"/>
                        </a:rPr>
                        <m:t>K</m:t>
                      </m:r>
                    </m:oMath>
                  </m:oMathPara>
                </a14:m>
                <a:endParaRPr lang="zh-CN" altLang="en-US" sz="2800" dirty="0"/>
              </a:p>
            </p:txBody>
          </p:sp>
        </mc:Choice>
        <mc:Fallback xmlns="">
          <p:sp>
            <p:nvSpPr>
              <p:cNvPr id="542733" name="Object 13"/>
              <p:cNvSpPr txBox="1">
                <a:spLocks noRot="1" noChangeAspect="1" noMove="1" noResize="1" noEditPoints="1" noAdjustHandles="1" noChangeArrowheads="1" noChangeShapeType="1" noTextEdit="1"/>
              </p:cNvSpPr>
              <p:nvPr/>
            </p:nvSpPr>
            <p:spPr>
              <a:xfrm>
                <a:off x="5334000" y="5943601"/>
                <a:ext cx="1828800" cy="531813"/>
              </a:xfrm>
              <a:prstGeom prst="rect">
                <a:avLst/>
              </a:prstGeom>
              <a:blipFill>
                <a:blip r:embed="rId7"/>
                <a:stretch>
                  <a:fillRect/>
                </a:stretch>
              </a:blipFill>
              <a:ln w="38100">
                <a:noFill/>
                <a:miter/>
              </a:ln>
            </p:spPr>
            <p:txBody>
              <a:bodyPr/>
              <a:lstStyle/>
              <a:p>
                <a:r>
                  <a:rPr lang="zh-CN" altLang="en-US">
                    <a:noFill/>
                  </a:rPr>
                  <a:t> </a:t>
                </a:r>
              </a:p>
            </p:txBody>
          </p:sp>
        </mc:Fallback>
      </mc:AlternateContent>
      <p:sp>
        <p:nvSpPr>
          <p:cNvPr id="4" name="Text Box 11">
            <a:extLst>
              <a:ext uri="{FF2B5EF4-FFF2-40B4-BE49-F238E27FC236}">
                <a16:creationId xmlns:a16="http://schemas.microsoft.com/office/drawing/2014/main" id="{8FA5DE76-88FD-64F3-B739-54B33A2FE9DA}"/>
              </a:ext>
            </a:extLst>
          </p:cNvPr>
          <p:cNvSpPr txBox="1"/>
          <p:nvPr/>
        </p:nvSpPr>
        <p:spPr>
          <a:xfrm>
            <a:off x="1663700" y="4761547"/>
            <a:ext cx="3733800" cy="519113"/>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由能量守恒得</a:t>
            </a:r>
          </a:p>
        </p:txBody>
      </p:sp>
      <mc:AlternateContent xmlns:mc="http://schemas.openxmlformats.org/markup-compatibility/2006" xmlns:a14="http://schemas.microsoft.com/office/drawing/2010/main">
        <mc:Choice Requires="a14">
          <p:sp>
            <p:nvSpPr>
              <p:cNvPr id="5" name="Object 87">
                <a:extLst>
                  <a:ext uri="{FF2B5EF4-FFF2-40B4-BE49-F238E27FC236}">
                    <a16:creationId xmlns:a16="http://schemas.microsoft.com/office/drawing/2014/main" id="{D907EE55-6573-E825-15D2-1C0B0D085E56}"/>
                  </a:ext>
                </a:extLst>
              </p:cNvPr>
              <p:cNvSpPr txBox="1"/>
              <p:nvPr/>
            </p:nvSpPr>
            <p:spPr bwMode="auto">
              <a:xfrm>
                <a:off x="7607300" y="4100518"/>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rgbClr val="000000"/>
                          </a:solidFill>
                          <a:latin typeface="Cambria Math" panose="02040503050406030204" pitchFamily="18" charset="0"/>
                        </a:rPr>
                        <m:t>𝑚</m:t>
                      </m:r>
                      <m:sSub>
                        <m:sSubPr>
                          <m:ctrlPr>
                            <a:rPr lang="en-US" altLang="zh-CN" sz="2800" i="1" smtClean="0">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𝐶</m:t>
                          </m:r>
                        </m:e>
                        <m:sub>
                          <m:r>
                            <a:rPr lang="en-US" altLang="zh-CN" sz="2800" i="1">
                              <a:solidFill>
                                <a:srgbClr val="000000"/>
                              </a:solidFill>
                              <a:latin typeface="Cambria Math" panose="02040503050406030204" pitchFamily="18" charset="0"/>
                            </a:rPr>
                            <m:t>𝑃</m:t>
                          </m:r>
                        </m:sub>
                      </m:sSub>
                      <m:r>
                        <a:rPr lang="en-US" sz="280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5" name="Object 87">
                <a:extLst>
                  <a:ext uri="{FF2B5EF4-FFF2-40B4-BE49-F238E27FC236}">
                    <a16:creationId xmlns:a16="http://schemas.microsoft.com/office/drawing/2014/main" id="{D907EE55-6573-E825-15D2-1C0B0D085E56}"/>
                  </a:ext>
                </a:extLst>
              </p:cNvPr>
              <p:cNvSpPr txBox="1">
                <a:spLocks noRot="1" noChangeAspect="1" noMove="1" noResize="1" noEditPoints="1" noAdjustHandles="1" noChangeArrowheads="1" noChangeShapeType="1" noTextEdit="1"/>
              </p:cNvSpPr>
              <p:nvPr/>
            </p:nvSpPr>
            <p:spPr bwMode="auto">
              <a:xfrm>
                <a:off x="7607300" y="4100518"/>
                <a:ext cx="4717731" cy="10922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85">
                <a:extLst>
                  <a:ext uri="{FF2B5EF4-FFF2-40B4-BE49-F238E27FC236}">
                    <a16:creationId xmlns:a16="http://schemas.microsoft.com/office/drawing/2014/main" id="{5346369C-F752-A473-86D1-2CFCAC9ADDA7}"/>
                  </a:ext>
                </a:extLst>
              </p:cNvPr>
              <p:cNvSpPr txBox="1"/>
              <p:nvPr/>
            </p:nvSpPr>
            <p:spPr bwMode="auto">
              <a:xfrm>
                <a:off x="7066682" y="4119216"/>
                <a:ext cx="2378730" cy="665814"/>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𝑝</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6" name="Object 85">
                <a:extLst>
                  <a:ext uri="{FF2B5EF4-FFF2-40B4-BE49-F238E27FC236}">
                    <a16:creationId xmlns:a16="http://schemas.microsoft.com/office/drawing/2014/main" id="{5346369C-F752-A473-86D1-2CFCAC9ADDA7}"/>
                  </a:ext>
                </a:extLst>
              </p:cNvPr>
              <p:cNvSpPr txBox="1">
                <a:spLocks noRot="1" noChangeAspect="1" noMove="1" noResize="1" noEditPoints="1" noAdjustHandles="1" noChangeArrowheads="1" noChangeShapeType="1" noTextEdit="1"/>
              </p:cNvSpPr>
              <p:nvPr/>
            </p:nvSpPr>
            <p:spPr bwMode="auto">
              <a:xfrm>
                <a:off x="7066682" y="4119216"/>
                <a:ext cx="2378730" cy="665814"/>
              </a:xfrm>
              <a:prstGeom prst="rect">
                <a:avLst/>
              </a:prstGeom>
              <a:blipFill>
                <a:blip r:embed="rId9"/>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7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427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9" grpId="0"/>
      <p:bldP spid="31750" grpId="0"/>
      <p:bldP spid="542733" grpId="0"/>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770" name="Object 2"/>
              <p:cNvSpPr txBox="1"/>
              <p:nvPr/>
            </p:nvSpPr>
            <p:spPr>
              <a:xfrm>
                <a:off x="7507841" y="1303497"/>
                <a:ext cx="2316136" cy="5318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=314</m:t>
                      </m:r>
                      <m:r>
                        <m:rPr>
                          <m:sty m:val="p"/>
                        </m:rPr>
                        <a:rPr lang="zh-CN" altLang="en-US" sz="2800" i="0">
                          <a:solidFill>
                            <a:srgbClr val="000000"/>
                          </a:solidFill>
                          <a:latin typeface="Cambria Math" panose="02040503050406030204" pitchFamily="18" charset="0"/>
                        </a:rPr>
                        <m:t>K</m:t>
                      </m:r>
                    </m:oMath>
                  </m:oMathPara>
                </a14:m>
                <a:endParaRPr lang="zh-CN" altLang="en-US" sz="2800"/>
              </a:p>
            </p:txBody>
          </p:sp>
        </mc:Choice>
        <mc:Fallback xmlns="">
          <p:sp>
            <p:nvSpPr>
              <p:cNvPr id="32770" name="Object 2"/>
              <p:cNvSpPr txBox="1">
                <a:spLocks noRot="1" noChangeAspect="1" noMove="1" noResize="1" noEditPoints="1" noAdjustHandles="1" noChangeArrowheads="1" noChangeShapeType="1" noTextEdit="1"/>
              </p:cNvSpPr>
              <p:nvPr/>
            </p:nvSpPr>
            <p:spPr>
              <a:xfrm>
                <a:off x="7507841" y="1303497"/>
                <a:ext cx="2316136" cy="531813"/>
              </a:xfrm>
              <a:prstGeom prst="rect">
                <a:avLst/>
              </a:prstGeom>
              <a:blipFill>
                <a:blip r:embed="rId2"/>
                <a:stretch>
                  <a:fillRect/>
                </a:stretch>
              </a:blipFill>
              <a:ln w="38100">
                <a:noFill/>
                <a:miter/>
              </a:ln>
            </p:spPr>
            <p:txBody>
              <a:bodyPr/>
              <a:lstStyle/>
              <a:p>
                <a:r>
                  <a:rPr lang="zh-CN" altLang="en-US">
                    <a:noFill/>
                  </a:rPr>
                  <a:t> </a:t>
                </a:r>
              </a:p>
            </p:txBody>
          </p:sp>
        </mc:Fallback>
      </mc:AlternateContent>
      <p:sp>
        <p:nvSpPr>
          <p:cNvPr id="32778" name="Text Box 3"/>
          <p:cNvSpPr txBox="1"/>
          <p:nvPr/>
        </p:nvSpPr>
        <p:spPr>
          <a:xfrm>
            <a:off x="1828799" y="1995488"/>
            <a:ext cx="6176363" cy="519112"/>
          </a:xfrm>
          <a:prstGeom prst="rect">
            <a:avLst/>
          </a:prstGeom>
          <a:noFill/>
          <a:ln w="9525">
            <a:noFill/>
          </a:ln>
        </p:spPr>
        <p:txBody>
          <a:bodyPr wrap="square">
            <a:spAutoFit/>
          </a:bodyPr>
          <a:lstStyle/>
          <a:p>
            <a:pPr eaLnBrk="1" hangingPunct="1">
              <a:spcBef>
                <a:spcPct val="50000"/>
              </a:spcBef>
            </a:pPr>
            <a:r>
              <a:rPr lang="zh-CN" altLang="en-US" sz="2800" dirty="0">
                <a:solidFill>
                  <a:srgbClr val="000000"/>
                </a:solidFill>
                <a:latin typeface="Times New Roman" panose="02020603050405020304" pitchFamily="18" charset="0"/>
              </a:rPr>
              <a:t>各部分热水的熵变</a:t>
            </a:r>
          </a:p>
        </p:txBody>
      </p:sp>
      <mc:AlternateContent xmlns:mc="http://schemas.openxmlformats.org/markup-compatibility/2006" xmlns:a14="http://schemas.microsoft.com/office/drawing/2010/main">
        <mc:Choice Requires="a14">
          <p:sp>
            <p:nvSpPr>
              <p:cNvPr id="543748" name="Object 4"/>
              <p:cNvSpPr txBox="1"/>
              <p:nvPr/>
            </p:nvSpPr>
            <p:spPr>
              <a:xfrm>
                <a:off x="1981201" y="2590800"/>
                <a:ext cx="10340181" cy="1150938"/>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nary>
                        <m:naryPr>
                          <m:subHide m:val="on"/>
                          <m:supHide m:val="on"/>
                          <m:ctrlPr>
                            <a:rPr lang="zh-CN" altLang="en-US" sz="2800" i="1">
                              <a:solidFill>
                                <a:srgbClr val="000000"/>
                              </a:solidFill>
                              <a:latin typeface="Cambria Math" panose="02040503050406030204" pitchFamily="18" charset="0"/>
                            </a:rPr>
                          </m:ctrlPr>
                        </m:naryP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sub>
                        <m:sup>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𝑇</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den>
                          </m:f>
                        </m:e>
                      </m:func>
                      <m:r>
                        <a:rPr lang="zh-CN" altLang="en-US" sz="2800" i="1">
                          <a:solidFill>
                            <a:srgbClr val="000000"/>
                          </a:solidFill>
                          <a:latin typeface="Cambria Math" panose="02040503050406030204" pitchFamily="18" charset="0"/>
                        </a:rPr>
                        <m:t>=−182</m:t>
                      </m:r>
                      <m:r>
                        <m:rPr>
                          <m:sty m:val="p"/>
                        </m:rPr>
                        <a:rPr lang="zh-CN" altLang="en-US" sz="2800" i="0">
                          <a:solidFill>
                            <a:srgbClr val="000000"/>
                          </a:solidFill>
                          <a:latin typeface="Cambria Math" panose="02040503050406030204" pitchFamily="18" charset="0"/>
                        </a:rPr>
                        <m:t>J</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m:rPr>
                              <m:sty m:val="p"/>
                            </m:rPr>
                            <a:rPr lang="zh-CN" altLang="en-US" sz="2800" i="0">
                              <a:solidFill>
                                <a:srgbClr val="000000"/>
                              </a:solidFill>
                              <a:latin typeface="Cambria Math" panose="02040503050406030204" pitchFamily="18" charset="0"/>
                            </a:rPr>
                            <m:t>K</m:t>
                          </m:r>
                        </m:e>
                        <m:sup>
                          <m:r>
                            <a:rPr lang="zh-CN" altLang="en-US" sz="2800" i="1">
                              <a:solidFill>
                                <a:srgbClr val="000000"/>
                              </a:solidFill>
                              <a:latin typeface="Cambria Math" panose="02040503050406030204" pitchFamily="18" charset="0"/>
                            </a:rPr>
                            <m:t>−1</m:t>
                          </m:r>
                        </m:sup>
                      </m:sSup>
                    </m:oMath>
                  </m:oMathPara>
                </a14:m>
                <a:endParaRPr lang="zh-CN" altLang="en-US" sz="2800" dirty="0"/>
              </a:p>
            </p:txBody>
          </p:sp>
        </mc:Choice>
        <mc:Fallback xmlns="">
          <p:sp>
            <p:nvSpPr>
              <p:cNvPr id="543748" name="Object 4"/>
              <p:cNvSpPr txBox="1">
                <a:spLocks noRot="1" noChangeAspect="1" noMove="1" noResize="1" noEditPoints="1" noAdjustHandles="1" noChangeArrowheads="1" noChangeShapeType="1" noTextEdit="1"/>
              </p:cNvSpPr>
              <p:nvPr/>
            </p:nvSpPr>
            <p:spPr>
              <a:xfrm>
                <a:off x="1981201" y="2590800"/>
                <a:ext cx="10340181" cy="1150938"/>
              </a:xfrm>
              <a:prstGeom prst="rect">
                <a:avLst/>
              </a:prstGeom>
              <a:blipFill>
                <a:blip r:embed="rId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3749" name="Object 5"/>
              <p:cNvSpPr txBox="1"/>
              <p:nvPr/>
            </p:nvSpPr>
            <p:spPr>
              <a:xfrm>
                <a:off x="1897064" y="3786189"/>
                <a:ext cx="10330127" cy="12223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nary>
                        <m:naryPr>
                          <m:subHide m:val="on"/>
                          <m:supHide m:val="on"/>
                          <m:ctrlPr>
                            <a:rPr lang="zh-CN" altLang="en-US" sz="2800" i="1">
                              <a:solidFill>
                                <a:srgbClr val="000000"/>
                              </a:solidFill>
                              <a:latin typeface="Cambria Math" panose="02040503050406030204" pitchFamily="18" charset="0"/>
                            </a:rPr>
                          </m:ctrlPr>
                        </m:naryPr>
                        <m:sub/>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sub>
                        <m:sup>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𝑇</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𝑐</m:t>
                          </m:r>
                        </m:e>
                        <m:sub>
                          <m:r>
                            <a:rPr lang="zh-CN" altLang="en-US" sz="2800" i="1">
                              <a:solidFill>
                                <a:srgbClr val="000000"/>
                              </a:solidFill>
                              <a:latin typeface="Cambria Math" panose="02040503050406030204" pitchFamily="18" charset="0"/>
                            </a:rPr>
                            <m:t>𝑝</m:t>
                          </m:r>
                        </m:sub>
                      </m:sSub>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𝑇</m:t>
                                  </m:r>
                                </m:e>
                                <m:sup>
                                  <m:r>
                                    <a:rPr lang="zh-CN" altLang="en-US" sz="2800" i="1">
                                      <a:solidFill>
                                        <a:srgbClr val="000000"/>
                                      </a:solidFill>
                                      <a:latin typeface="Cambria Math" panose="02040503050406030204" pitchFamily="18" charset="0"/>
                                    </a:rPr>
                                    <m:t>′</m:t>
                                  </m:r>
                                </m:sup>
                              </m:sSup>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e>
                      </m:func>
                      <m:r>
                        <a:rPr lang="zh-CN" altLang="en-US" sz="2800" i="1">
                          <a:solidFill>
                            <a:srgbClr val="000000"/>
                          </a:solidFill>
                          <a:latin typeface="Cambria Math" panose="02040503050406030204" pitchFamily="18" charset="0"/>
                        </a:rPr>
                        <m:t>=203</m:t>
                      </m:r>
                      <m:r>
                        <m:rPr>
                          <m:sty m:val="p"/>
                        </m:rPr>
                        <a:rPr lang="zh-CN" altLang="en-US" sz="2800" i="0">
                          <a:solidFill>
                            <a:srgbClr val="000000"/>
                          </a:solidFill>
                          <a:latin typeface="Cambria Math" panose="02040503050406030204" pitchFamily="18" charset="0"/>
                        </a:rPr>
                        <m:t>J</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m:rPr>
                              <m:sty m:val="p"/>
                            </m:rPr>
                            <a:rPr lang="zh-CN" altLang="en-US" sz="2800" i="0">
                              <a:solidFill>
                                <a:srgbClr val="000000"/>
                              </a:solidFill>
                              <a:latin typeface="Cambria Math" panose="02040503050406030204" pitchFamily="18" charset="0"/>
                            </a:rPr>
                            <m:t>K</m:t>
                          </m:r>
                        </m:e>
                        <m:sup>
                          <m:r>
                            <a:rPr lang="zh-CN" altLang="en-US" sz="2800" i="1">
                              <a:solidFill>
                                <a:srgbClr val="000000"/>
                              </a:solidFill>
                              <a:latin typeface="Cambria Math" panose="02040503050406030204" pitchFamily="18" charset="0"/>
                            </a:rPr>
                            <m:t>−1</m:t>
                          </m:r>
                        </m:sup>
                      </m:sSup>
                    </m:oMath>
                  </m:oMathPara>
                </a14:m>
                <a:endParaRPr lang="zh-CN" altLang="en-US" sz="2800" dirty="0"/>
              </a:p>
            </p:txBody>
          </p:sp>
        </mc:Choice>
        <mc:Fallback xmlns="">
          <p:sp>
            <p:nvSpPr>
              <p:cNvPr id="543749" name="Object 5"/>
              <p:cNvSpPr txBox="1">
                <a:spLocks noRot="1" noChangeAspect="1" noMove="1" noResize="1" noEditPoints="1" noAdjustHandles="1" noChangeArrowheads="1" noChangeShapeType="1" noTextEdit="1"/>
              </p:cNvSpPr>
              <p:nvPr/>
            </p:nvSpPr>
            <p:spPr>
              <a:xfrm>
                <a:off x="1897064" y="3786189"/>
                <a:ext cx="10330127" cy="1222375"/>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3750" name="Object 6"/>
              <p:cNvSpPr txBox="1"/>
              <p:nvPr/>
            </p:nvSpPr>
            <p:spPr>
              <a:xfrm>
                <a:off x="3880961" y="5165726"/>
                <a:ext cx="5693834" cy="6111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=21</m:t>
                      </m:r>
                      <m:r>
                        <m:rPr>
                          <m:sty m:val="p"/>
                        </m:rPr>
                        <a:rPr lang="zh-CN" altLang="en-US" sz="2800" i="0">
                          <a:solidFill>
                            <a:srgbClr val="000000"/>
                          </a:solidFill>
                          <a:latin typeface="Cambria Math" panose="02040503050406030204" pitchFamily="18" charset="0"/>
                        </a:rPr>
                        <m:t>J</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m:rPr>
                              <m:sty m:val="p"/>
                            </m:rPr>
                            <a:rPr lang="zh-CN" altLang="en-US" sz="2800" i="0">
                              <a:solidFill>
                                <a:srgbClr val="000000"/>
                              </a:solidFill>
                              <a:latin typeface="Cambria Math" panose="02040503050406030204" pitchFamily="18" charset="0"/>
                            </a:rPr>
                            <m:t>K</m:t>
                          </m:r>
                        </m:e>
                        <m:sup>
                          <m:r>
                            <a:rPr lang="zh-CN" altLang="en-US" sz="2800" i="1">
                              <a:solidFill>
                                <a:srgbClr val="000000"/>
                              </a:solidFill>
                              <a:latin typeface="Cambria Math" panose="02040503050406030204" pitchFamily="18" charset="0"/>
                            </a:rPr>
                            <m:t>−</m:t>
                          </m:r>
                          <m:r>
                            <a:rPr lang="zh-CN" altLang="en-US" sz="2800" i="0">
                              <a:solidFill>
                                <a:srgbClr val="000000"/>
                              </a:solidFill>
                              <a:latin typeface="Cambria Math" panose="02040503050406030204" pitchFamily="18" charset="0"/>
                            </a:rPr>
                            <m:t>1</m:t>
                          </m:r>
                        </m:sup>
                      </m:sSup>
                    </m:oMath>
                  </m:oMathPara>
                </a14:m>
                <a:endParaRPr lang="zh-CN" altLang="en-US" sz="2800" dirty="0"/>
              </a:p>
            </p:txBody>
          </p:sp>
        </mc:Choice>
        <mc:Fallback xmlns="">
          <p:sp>
            <p:nvSpPr>
              <p:cNvPr id="543750" name="Object 6"/>
              <p:cNvSpPr txBox="1">
                <a:spLocks noRot="1" noChangeAspect="1" noMove="1" noResize="1" noEditPoints="1" noAdjustHandles="1" noChangeArrowheads="1" noChangeShapeType="1" noTextEdit="1"/>
              </p:cNvSpPr>
              <p:nvPr/>
            </p:nvSpPr>
            <p:spPr>
              <a:xfrm>
                <a:off x="3880961" y="5165726"/>
                <a:ext cx="5693834" cy="611188"/>
              </a:xfrm>
              <a:prstGeom prst="rect">
                <a:avLst/>
              </a:prstGeom>
              <a:blipFill>
                <a:blip r:embed="rId5"/>
                <a:stretch>
                  <a:fillRect/>
                </a:stretch>
              </a:blipFill>
              <a:ln w="38100">
                <a:noFill/>
                <a:miter/>
              </a:ln>
            </p:spPr>
            <p:txBody>
              <a:bodyPr/>
              <a:lstStyle/>
              <a:p>
                <a:r>
                  <a:rPr lang="zh-CN" altLang="en-US">
                    <a:noFill/>
                  </a:rPr>
                  <a:t> </a:t>
                </a:r>
              </a:p>
            </p:txBody>
          </p:sp>
        </mc:Fallback>
      </mc:AlternateContent>
      <p:sp>
        <p:nvSpPr>
          <p:cNvPr id="543751" name="Text Box 7"/>
          <p:cNvSpPr txBox="1"/>
          <p:nvPr/>
        </p:nvSpPr>
        <p:spPr>
          <a:xfrm>
            <a:off x="2624401" y="6020596"/>
            <a:ext cx="9361050" cy="519113"/>
          </a:xfrm>
          <a:prstGeom prst="rect">
            <a:avLst/>
          </a:prstGeom>
          <a:noFill/>
          <a:ln w="9525">
            <a:noFill/>
          </a:ln>
        </p:spPr>
        <p:txBody>
          <a:bodyPr wrap="square">
            <a:spAutoFit/>
          </a:bodyPr>
          <a:lstStyle/>
          <a:p>
            <a:pPr eaLnBrk="1" hangingPunct="1">
              <a:spcBef>
                <a:spcPct val="50000"/>
              </a:spcBef>
            </a:pPr>
            <a:r>
              <a:rPr lang="zh-CN" altLang="en-US" sz="2800" b="1" dirty="0">
                <a:latin typeface="Times New Roman" panose="02020603050405020304" pitchFamily="18" charset="0"/>
              </a:rPr>
              <a:t>在此孤立系统中不可逆过程熵是增加的 </a:t>
            </a:r>
            <a:endParaRPr lang="en-US" altLang="zh-CN" sz="2800" b="1"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2774" name="Object 8"/>
              <p:cNvSpPr txBox="1"/>
              <p:nvPr/>
            </p:nvSpPr>
            <p:spPr>
              <a:xfrm>
                <a:off x="3683358" y="678737"/>
                <a:ext cx="2412642" cy="5365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=0.3</m:t>
                      </m:r>
                      <m:r>
                        <m:rPr>
                          <m:nor/>
                        </m:rPr>
                        <a:rPr lang="zh-CN" altLang="en-US" sz="2800" i="0">
                          <a:solidFill>
                            <a:srgbClr val="000000"/>
                          </a:solidFill>
                          <a:latin typeface="Cambria Math" panose="02040503050406030204" pitchFamily="18" charset="0"/>
                        </a:rPr>
                        <m:t>kg</m:t>
                      </m:r>
                    </m:oMath>
                  </m:oMathPara>
                </a14:m>
                <a:endParaRPr lang="zh-CN" altLang="en-US" sz="2800" dirty="0"/>
              </a:p>
            </p:txBody>
          </p:sp>
        </mc:Choice>
        <mc:Fallback xmlns="">
          <p:sp>
            <p:nvSpPr>
              <p:cNvPr id="32774" name="Object 8"/>
              <p:cNvSpPr txBox="1">
                <a:spLocks noRot="1" noChangeAspect="1" noMove="1" noResize="1" noEditPoints="1" noAdjustHandles="1" noChangeArrowheads="1" noChangeShapeType="1" noTextEdit="1"/>
              </p:cNvSpPr>
              <p:nvPr/>
            </p:nvSpPr>
            <p:spPr>
              <a:xfrm>
                <a:off x="3683358" y="678737"/>
                <a:ext cx="2412642" cy="536575"/>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75" name="Object 9"/>
              <p:cNvSpPr txBox="1"/>
              <p:nvPr/>
            </p:nvSpPr>
            <p:spPr>
              <a:xfrm>
                <a:off x="6553201" y="662941"/>
                <a:ext cx="2521211" cy="53657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𝑚</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=0.7</m:t>
                      </m:r>
                      <m:r>
                        <m:rPr>
                          <m:nor/>
                        </m:rPr>
                        <a:rPr lang="zh-CN" altLang="en-US" sz="2800" i="0">
                          <a:solidFill>
                            <a:srgbClr val="000000"/>
                          </a:solidFill>
                          <a:latin typeface="Cambria Math" panose="02040503050406030204" pitchFamily="18" charset="0"/>
                        </a:rPr>
                        <m:t>kg</m:t>
                      </m:r>
                    </m:oMath>
                  </m:oMathPara>
                </a14:m>
                <a:endParaRPr lang="zh-CN" altLang="en-US" sz="2800"/>
              </a:p>
            </p:txBody>
          </p:sp>
        </mc:Choice>
        <mc:Fallback xmlns="">
          <p:sp>
            <p:nvSpPr>
              <p:cNvPr id="32775" name="Object 9"/>
              <p:cNvSpPr txBox="1">
                <a:spLocks noRot="1" noChangeAspect="1" noMove="1" noResize="1" noEditPoints="1" noAdjustHandles="1" noChangeArrowheads="1" noChangeShapeType="1" noTextEdit="1"/>
              </p:cNvSpPr>
              <p:nvPr/>
            </p:nvSpPr>
            <p:spPr>
              <a:xfrm>
                <a:off x="6553201" y="662941"/>
                <a:ext cx="2521211" cy="536575"/>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76" name="Object 10"/>
              <p:cNvSpPr txBox="1"/>
              <p:nvPr/>
            </p:nvSpPr>
            <p:spPr>
              <a:xfrm>
                <a:off x="2819399" y="1295401"/>
                <a:ext cx="2123125" cy="5048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=363</m:t>
                      </m:r>
                      <m:r>
                        <m:rPr>
                          <m:sty m:val="p"/>
                        </m:rPr>
                        <a:rPr lang="zh-CN" altLang="en-US" sz="2800" i="0">
                          <a:solidFill>
                            <a:srgbClr val="000000"/>
                          </a:solidFill>
                          <a:latin typeface="Cambria Math" panose="02040503050406030204" pitchFamily="18" charset="0"/>
                        </a:rPr>
                        <m:t>K</m:t>
                      </m:r>
                    </m:oMath>
                  </m:oMathPara>
                </a14:m>
                <a:endParaRPr lang="zh-CN" altLang="en-US" sz="2800"/>
              </a:p>
            </p:txBody>
          </p:sp>
        </mc:Choice>
        <mc:Fallback xmlns="">
          <p:sp>
            <p:nvSpPr>
              <p:cNvPr id="32776" name="Object 10"/>
              <p:cNvSpPr txBox="1">
                <a:spLocks noRot="1" noChangeAspect="1" noMove="1" noResize="1" noEditPoints="1" noAdjustHandles="1" noChangeArrowheads="1" noChangeShapeType="1" noTextEdit="1"/>
              </p:cNvSpPr>
              <p:nvPr/>
            </p:nvSpPr>
            <p:spPr>
              <a:xfrm>
                <a:off x="2819399" y="1295401"/>
                <a:ext cx="2123125" cy="504825"/>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777" name="Object 11"/>
              <p:cNvSpPr txBox="1"/>
              <p:nvPr/>
            </p:nvSpPr>
            <p:spPr>
              <a:xfrm>
                <a:off x="5105401" y="1295401"/>
                <a:ext cx="2199525" cy="5048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=293</m:t>
                      </m:r>
                      <m:r>
                        <m:rPr>
                          <m:sty m:val="p"/>
                        </m:rPr>
                        <a:rPr lang="zh-CN" altLang="en-US" sz="2800" i="0">
                          <a:solidFill>
                            <a:srgbClr val="000000"/>
                          </a:solidFill>
                          <a:latin typeface="Cambria Math" panose="02040503050406030204" pitchFamily="18" charset="0"/>
                        </a:rPr>
                        <m:t>K</m:t>
                      </m:r>
                    </m:oMath>
                  </m:oMathPara>
                </a14:m>
                <a:endParaRPr lang="zh-CN" altLang="en-US" sz="2800"/>
              </a:p>
            </p:txBody>
          </p:sp>
        </mc:Choice>
        <mc:Fallback xmlns="">
          <p:sp>
            <p:nvSpPr>
              <p:cNvPr id="32777" name="Object 11"/>
              <p:cNvSpPr txBox="1">
                <a:spLocks noRot="1" noChangeAspect="1" noMove="1" noResize="1" noEditPoints="1" noAdjustHandles="1" noChangeArrowheads="1" noChangeShapeType="1" noTextEdit="1"/>
              </p:cNvSpPr>
              <p:nvPr/>
            </p:nvSpPr>
            <p:spPr>
              <a:xfrm>
                <a:off x="5105401" y="1295401"/>
                <a:ext cx="2199525" cy="504825"/>
              </a:xfrm>
              <a:prstGeom prst="rect">
                <a:avLst/>
              </a:prstGeom>
              <a:blipFill>
                <a:blip r:embed="rId9"/>
                <a:stretch>
                  <a:fillRect/>
                </a:stretch>
              </a:blipFill>
              <a:ln w="38100">
                <a:noFill/>
                <a:miter/>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37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37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37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3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8" grpId="0"/>
      <p:bldP spid="543748" grpId="0"/>
      <p:bldP spid="543749" grpId="0"/>
      <p:bldP spid="543750" grpId="0"/>
      <p:bldP spid="5437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804" name="Group 2"/>
          <p:cNvGrpSpPr/>
          <p:nvPr/>
        </p:nvGrpSpPr>
        <p:grpSpPr>
          <a:xfrm>
            <a:off x="7169658" y="926043"/>
            <a:ext cx="3796284" cy="2730500"/>
            <a:chOff x="3360" y="1008"/>
            <a:chExt cx="2256" cy="1440"/>
          </a:xfrm>
        </p:grpSpPr>
        <p:grpSp>
          <p:nvGrpSpPr>
            <p:cNvPr id="33812" name="Group 4"/>
            <p:cNvGrpSpPr/>
            <p:nvPr/>
          </p:nvGrpSpPr>
          <p:grpSpPr>
            <a:xfrm>
              <a:off x="3360" y="1008"/>
              <a:ext cx="1824" cy="1008"/>
              <a:chOff x="480" y="1056"/>
              <a:chExt cx="1824" cy="1008"/>
            </a:xfrm>
          </p:grpSpPr>
          <p:sp>
            <p:nvSpPr>
              <p:cNvPr id="33818" name="AutoShape 5"/>
              <p:cNvSpPr/>
              <p:nvPr/>
            </p:nvSpPr>
            <p:spPr>
              <a:xfrm>
                <a:off x="480" y="1056"/>
                <a:ext cx="1824" cy="1008"/>
              </a:xfrm>
              <a:prstGeom prst="bevel">
                <a:avLst>
                  <a:gd name="adj" fmla="val 9722"/>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33819" name="Rectangle 6"/>
              <p:cNvSpPr/>
              <p:nvPr/>
            </p:nvSpPr>
            <p:spPr>
              <a:xfrm>
                <a:off x="576" y="1152"/>
                <a:ext cx="1632" cy="81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sp>
          <p:nvSpPr>
            <p:cNvPr id="33813" name="Rectangle 7"/>
            <p:cNvSpPr/>
            <p:nvPr/>
          </p:nvSpPr>
          <p:spPr>
            <a:xfrm>
              <a:off x="3600" y="1200"/>
              <a:ext cx="816" cy="624"/>
            </a:xfrm>
            <a:prstGeom prst="rect">
              <a:avLst/>
            </a:prstGeom>
            <a:solidFill>
              <a:srgbClr val="FFE1FF"/>
            </a:solidFill>
            <a:ln w="9525" cap="flat" cmpd="sng">
              <a:solidFill>
                <a:srgbClr val="CC0099"/>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33814" name="Rectangle 8"/>
            <p:cNvSpPr/>
            <p:nvPr/>
          </p:nvSpPr>
          <p:spPr>
            <a:xfrm>
              <a:off x="4416" y="1200"/>
              <a:ext cx="480" cy="624"/>
            </a:xfrm>
            <a:prstGeom prst="rect">
              <a:avLst/>
            </a:prstGeom>
            <a:solidFill>
              <a:srgbClr val="D4EBF8"/>
            </a:solidFill>
            <a:ln w="9525" cap="flat" cmpd="sng">
              <a:solidFill>
                <a:srgbClr val="0000FF"/>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801" name="Object 9"/>
                <p:cNvSpPr txBox="1"/>
                <p:nvPr/>
              </p:nvSpPr>
              <p:spPr>
                <a:xfrm>
                  <a:off x="3727" y="1513"/>
                  <a:ext cx="292" cy="33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m:rPr>
                                <m:sty m:val="p"/>
                              </m:rPr>
                              <a:rPr lang="zh-CN" altLang="en-US" sz="2600" i="0">
                                <a:solidFill>
                                  <a:srgbClr val="000000"/>
                                </a:solidFill>
                                <a:latin typeface="Cambria Math" panose="02040503050406030204" pitchFamily="18" charset="0"/>
                              </a:rPr>
                              <m:t>A</m:t>
                            </m:r>
                          </m:sub>
                        </m:sSub>
                      </m:oMath>
                    </m:oMathPara>
                  </a14:m>
                  <a:endParaRPr lang="zh-CN" altLang="en-US" sz="2600"/>
                </a:p>
              </p:txBody>
            </p:sp>
          </mc:Choice>
          <mc:Fallback xmlns="">
            <p:sp>
              <p:nvSpPr>
                <p:cNvPr id="33801" name="Object 9"/>
                <p:cNvSpPr txBox="1">
                  <a:spLocks noRot="1" noChangeAspect="1" noMove="1" noResize="1" noEditPoints="1" noAdjustHandles="1" noChangeArrowheads="1" noChangeShapeType="1" noTextEdit="1"/>
                </p:cNvSpPr>
                <p:nvPr/>
              </p:nvSpPr>
              <p:spPr>
                <a:xfrm>
                  <a:off x="3727" y="1513"/>
                  <a:ext cx="292" cy="338"/>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802" name="Object 10"/>
                <p:cNvSpPr txBox="1"/>
                <p:nvPr/>
              </p:nvSpPr>
              <p:spPr>
                <a:xfrm>
                  <a:off x="4651" y="1513"/>
                  <a:ext cx="247" cy="311"/>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m:rPr>
                                <m:sty m:val="p"/>
                              </m:rPr>
                              <a:rPr lang="zh-CN" altLang="en-US" sz="2600" i="0">
                                <a:solidFill>
                                  <a:srgbClr val="000000"/>
                                </a:solidFill>
                                <a:latin typeface="Cambria Math" panose="02040503050406030204" pitchFamily="18" charset="0"/>
                              </a:rPr>
                              <m:t>B</m:t>
                            </m:r>
                          </m:sub>
                        </m:sSub>
                      </m:oMath>
                    </m:oMathPara>
                  </a14:m>
                  <a:endParaRPr lang="zh-CN" altLang="en-US" sz="2600"/>
                </a:p>
              </p:txBody>
            </p:sp>
          </mc:Choice>
          <mc:Fallback xmlns="">
            <p:sp>
              <p:nvSpPr>
                <p:cNvPr id="33802" name="Object 10"/>
                <p:cNvSpPr txBox="1">
                  <a:spLocks noRot="1" noChangeAspect="1" noMove="1" noResize="1" noEditPoints="1" noAdjustHandles="1" noChangeArrowheads="1" noChangeShapeType="1" noTextEdit="1"/>
                </p:cNvSpPr>
                <p:nvPr/>
              </p:nvSpPr>
              <p:spPr>
                <a:xfrm>
                  <a:off x="4651" y="1513"/>
                  <a:ext cx="247" cy="311"/>
                </a:xfrm>
                <a:prstGeom prst="rect">
                  <a:avLst/>
                </a:prstGeom>
                <a:blipFill>
                  <a:blip r:embed="rId3"/>
                  <a:stretch>
                    <a:fillRect l="-2899" r="-13043"/>
                  </a:stretch>
                </a:blipFill>
                <a:ln w="38100">
                  <a:noFill/>
                  <a:miter/>
                </a:ln>
              </p:spPr>
              <p:txBody>
                <a:bodyPr/>
                <a:lstStyle/>
                <a:p>
                  <a:r>
                    <a:rPr lang="zh-CN" altLang="en-US">
                      <a:noFill/>
                    </a:rPr>
                    <a:t> </a:t>
                  </a:r>
                </a:p>
              </p:txBody>
            </p:sp>
          </mc:Fallback>
        </mc:AlternateContent>
        <p:grpSp>
          <p:nvGrpSpPr>
            <p:cNvPr id="33815" name="Group 11"/>
            <p:cNvGrpSpPr/>
            <p:nvPr/>
          </p:nvGrpSpPr>
          <p:grpSpPr>
            <a:xfrm>
              <a:off x="4416" y="1968"/>
              <a:ext cx="1200" cy="480"/>
              <a:chOff x="1200" y="2160"/>
              <a:chExt cx="1200" cy="480"/>
            </a:xfrm>
          </p:grpSpPr>
          <p:sp>
            <p:nvSpPr>
              <p:cNvPr id="33816" name="Freeform 12"/>
              <p:cNvSpPr/>
              <p:nvPr/>
            </p:nvSpPr>
            <p:spPr>
              <a:xfrm>
                <a:off x="1200" y="2160"/>
                <a:ext cx="816" cy="480"/>
              </a:xfrm>
              <a:custGeom>
                <a:avLst/>
                <a:gdLst>
                  <a:gd name="txL" fmla="*/ 0 w 816"/>
                  <a:gd name="txT" fmla="*/ 0 h 480"/>
                  <a:gd name="txR" fmla="*/ 816 w 816"/>
                  <a:gd name="txB" fmla="*/ 480 h 480"/>
                </a:gdLst>
                <a:ahLst/>
                <a:cxnLst>
                  <a:cxn ang="0">
                    <a:pos x="0" y="144"/>
                  </a:cxn>
                  <a:cxn ang="0">
                    <a:pos x="0" y="480"/>
                  </a:cxn>
                  <a:cxn ang="0">
                    <a:pos x="816" y="480"/>
                  </a:cxn>
                  <a:cxn ang="0">
                    <a:pos x="816" y="144"/>
                  </a:cxn>
                  <a:cxn ang="0">
                    <a:pos x="288" y="144"/>
                  </a:cxn>
                  <a:cxn ang="0">
                    <a:pos x="96" y="0"/>
                  </a:cxn>
                  <a:cxn ang="0">
                    <a:pos x="144" y="144"/>
                  </a:cxn>
                  <a:cxn ang="0">
                    <a:pos x="0" y="144"/>
                  </a:cxn>
                </a:cxnLst>
                <a:rect l="txL" t="txT" r="txR" b="txB"/>
                <a:pathLst>
                  <a:path w="816" h="480">
                    <a:moveTo>
                      <a:pt x="0" y="144"/>
                    </a:moveTo>
                    <a:lnTo>
                      <a:pt x="0" y="480"/>
                    </a:lnTo>
                    <a:lnTo>
                      <a:pt x="816" y="480"/>
                    </a:lnTo>
                    <a:lnTo>
                      <a:pt x="816" y="144"/>
                    </a:lnTo>
                    <a:lnTo>
                      <a:pt x="288" y="144"/>
                    </a:lnTo>
                    <a:lnTo>
                      <a:pt x="96" y="0"/>
                    </a:lnTo>
                    <a:lnTo>
                      <a:pt x="144" y="144"/>
                    </a:lnTo>
                    <a:lnTo>
                      <a:pt x="0" y="144"/>
                    </a:lnTo>
                    <a:close/>
                  </a:path>
                </a:pathLst>
              </a:custGeom>
              <a:solidFill>
                <a:schemeClr val="accent1">
                  <a:alpha val="100000"/>
                </a:schemeClr>
              </a:solidFill>
              <a:ln w="9525" cap="flat" cmpd="sng">
                <a:solidFill>
                  <a:schemeClr val="tx1">
                    <a:alpha val="100000"/>
                  </a:schemeClr>
                </a:solidFill>
                <a:prstDash val="solid"/>
                <a:round/>
                <a:headEnd type="none" w="med" len="med"/>
                <a:tailEnd type="none" w="med" len="med"/>
              </a:ln>
            </p:spPr>
            <p:txBody>
              <a:bodyPr/>
              <a:lstStyle/>
              <a:p>
                <a:endParaRPr lang="zh-CN" altLang="en-US" sz="2600"/>
              </a:p>
            </p:txBody>
          </p:sp>
          <p:sp>
            <p:nvSpPr>
              <p:cNvPr id="33817" name="Text Box 13"/>
              <p:cNvSpPr txBox="1"/>
              <p:nvPr/>
            </p:nvSpPr>
            <p:spPr>
              <a:xfrm>
                <a:off x="1200" y="2308"/>
                <a:ext cx="1200" cy="260"/>
              </a:xfrm>
              <a:prstGeom prst="rect">
                <a:avLst/>
              </a:prstGeom>
              <a:noFill/>
              <a:ln w="9525">
                <a:noFill/>
              </a:ln>
            </p:spPr>
            <p:txBody>
              <a:bodyPr>
                <a:spAutoFit/>
              </a:bodyPr>
              <a:lstStyle/>
              <a:p>
                <a:pPr eaLnBrk="1" hangingPunct="1">
                  <a:spcBef>
                    <a:spcPct val="50000"/>
                  </a:spcBef>
                </a:pPr>
                <a:r>
                  <a:rPr lang="zh-CN" altLang="en-US" sz="2600" dirty="0">
                    <a:solidFill>
                      <a:srgbClr val="000000"/>
                    </a:solidFill>
                    <a:latin typeface="Times New Roman" panose="02020603050405020304" pitchFamily="18" charset="0"/>
                  </a:rPr>
                  <a:t>绝热壁</a:t>
                </a:r>
              </a:p>
            </p:txBody>
          </p:sp>
        </p:grpSp>
        <mc:AlternateContent xmlns:mc="http://schemas.openxmlformats.org/markup-compatibility/2006" xmlns:a14="http://schemas.microsoft.com/office/drawing/2010/main">
          <mc:Choice Requires="a14">
            <p:sp>
              <p:nvSpPr>
                <p:cNvPr id="33803" name="Object 14"/>
                <p:cNvSpPr txBox="1"/>
                <p:nvPr/>
              </p:nvSpPr>
              <p:spPr>
                <a:xfrm>
                  <a:off x="3408" y="2138"/>
                  <a:ext cx="768" cy="310"/>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m:rPr>
                                <m:sty m:val="p"/>
                              </m:rPr>
                              <a:rPr lang="zh-CN" altLang="en-US" sz="2600" i="0">
                                <a:solidFill>
                                  <a:srgbClr val="000000"/>
                                </a:solidFill>
                                <a:latin typeface="Cambria Math" panose="02040503050406030204" pitchFamily="18" charset="0"/>
                              </a:rPr>
                              <m:t>A</m:t>
                            </m:r>
                          </m:sub>
                        </m:sSub>
                        <m:r>
                          <a:rPr lang="zh-CN" altLang="en-US" sz="2600" i="1">
                            <a:solidFill>
                              <a:srgbClr val="000000"/>
                            </a:solidFill>
                            <a:latin typeface="Cambria Math" panose="02040503050406030204" pitchFamily="18" charset="0"/>
                          </a:rPr>
                          <m:t>&gt;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m:rPr>
                                <m:sty m:val="p"/>
                              </m:rPr>
                              <a:rPr lang="zh-CN" altLang="en-US" sz="2600" i="0">
                                <a:solidFill>
                                  <a:srgbClr val="000000"/>
                                </a:solidFill>
                                <a:latin typeface="Cambria Math" panose="02040503050406030204" pitchFamily="18" charset="0"/>
                              </a:rPr>
                              <m:t>B</m:t>
                            </m:r>
                          </m:sub>
                        </m:sSub>
                      </m:oMath>
                    </m:oMathPara>
                  </a14:m>
                  <a:endParaRPr lang="zh-CN" altLang="en-US" sz="2600"/>
                </a:p>
              </p:txBody>
            </p:sp>
          </mc:Choice>
          <mc:Fallback xmlns="">
            <p:sp>
              <p:nvSpPr>
                <p:cNvPr id="33803" name="Object 14"/>
                <p:cNvSpPr txBox="1">
                  <a:spLocks noRot="1" noChangeAspect="1" noMove="1" noResize="1" noEditPoints="1" noAdjustHandles="1" noChangeArrowheads="1" noChangeShapeType="1" noTextEdit="1"/>
                </p:cNvSpPr>
                <p:nvPr/>
              </p:nvSpPr>
              <p:spPr>
                <a:xfrm>
                  <a:off x="3408" y="2138"/>
                  <a:ext cx="768" cy="310"/>
                </a:xfrm>
                <a:prstGeom prst="rect">
                  <a:avLst/>
                </a:prstGeom>
                <a:blipFill>
                  <a:blip r:embed="rId4"/>
                  <a:stretch>
                    <a:fillRect l="-943"/>
                  </a:stretch>
                </a:blipFill>
                <a:ln w="38100">
                  <a:noFill/>
                  <a:miter/>
                </a:ln>
              </p:spPr>
              <p:txBody>
                <a:bodyPr/>
                <a:lstStyle/>
                <a:p>
                  <a:r>
                    <a:rPr lang="zh-CN" altLang="en-US">
                      <a:noFill/>
                    </a:rPr>
                    <a:t> </a:t>
                  </a:r>
                </a:p>
              </p:txBody>
            </p:sp>
          </mc:Fallback>
        </mc:AlternateContent>
      </p:grpSp>
      <p:sp>
        <p:nvSpPr>
          <p:cNvPr id="33805" name="Text Box 15"/>
          <p:cNvSpPr txBox="1"/>
          <p:nvPr/>
        </p:nvSpPr>
        <p:spPr>
          <a:xfrm>
            <a:off x="1524000" y="732631"/>
            <a:ext cx="4724400" cy="523220"/>
          </a:xfrm>
          <a:prstGeom prst="rect">
            <a:avLst/>
          </a:prstGeom>
          <a:noFill/>
          <a:ln w="9525">
            <a:noFill/>
          </a:ln>
        </p:spPr>
        <p:txBody>
          <a:bodyPr>
            <a:spAutoFit/>
          </a:bodyPr>
          <a:lstStyle/>
          <a:p>
            <a:pPr eaLnBrk="1" hangingPunct="1">
              <a:spcBef>
                <a:spcPct val="50000"/>
              </a:spcBef>
            </a:pPr>
            <a:r>
              <a:rPr lang="zh-CN" altLang="en-US" sz="2800" dirty="0">
                <a:latin typeface="Times New Roman" panose="02020603050405020304" pitchFamily="18" charset="0"/>
              </a:rPr>
              <a:t>例</a:t>
            </a:r>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分析热传导中的熵的变化</a:t>
            </a:r>
          </a:p>
        </p:txBody>
      </p:sp>
      <p:grpSp>
        <p:nvGrpSpPr>
          <p:cNvPr id="5" name="Group 16"/>
          <p:cNvGrpSpPr/>
          <p:nvPr/>
        </p:nvGrpSpPr>
        <p:grpSpPr>
          <a:xfrm>
            <a:off x="8603742" y="1323976"/>
            <a:ext cx="1066800" cy="609600"/>
            <a:chOff x="4176" y="960"/>
            <a:chExt cx="600" cy="336"/>
          </a:xfrm>
        </p:grpSpPr>
        <p:sp>
          <p:nvSpPr>
            <p:cNvPr id="33810" name="AutoShape 17"/>
            <p:cNvSpPr/>
            <p:nvPr/>
          </p:nvSpPr>
          <p:spPr>
            <a:xfrm>
              <a:off x="4176" y="1200"/>
              <a:ext cx="480" cy="96"/>
            </a:xfrm>
            <a:prstGeom prst="rightArrow">
              <a:avLst>
                <a:gd name="adj1" fmla="val 50000"/>
                <a:gd name="adj2" fmla="val 211805"/>
              </a:avLst>
            </a:prstGeom>
            <a:solidFill>
              <a:srgbClr val="FFFFCC"/>
            </a:solidFill>
            <a:ln w="19050" cap="flat" cmpd="sng">
              <a:solidFill>
                <a:srgbClr val="FF6600"/>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3800" name="Object 18"/>
                <p:cNvSpPr txBox="1"/>
                <p:nvPr/>
              </p:nvSpPr>
              <p:spPr>
                <a:xfrm>
                  <a:off x="4416" y="960"/>
                  <a:ext cx="360" cy="27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600" i="1">
                            <a:solidFill>
                              <a:srgbClr val="000000"/>
                            </a:solidFill>
                            <a:latin typeface="Cambria Math" panose="02040503050406030204" pitchFamily="18" charset="0"/>
                          </a:rPr>
                          <m:t>Δ</m:t>
                        </m:r>
                        <m:r>
                          <a:rPr lang="zh-CN" altLang="en-US" sz="2600" i="1">
                            <a:solidFill>
                              <a:srgbClr val="000000"/>
                            </a:solidFill>
                            <a:latin typeface="Cambria Math" panose="02040503050406030204" pitchFamily="18" charset="0"/>
                          </a:rPr>
                          <m:t>𝑄</m:t>
                        </m:r>
                      </m:oMath>
                    </m:oMathPara>
                  </a14:m>
                  <a:endParaRPr lang="zh-CN" altLang="en-US" sz="2600"/>
                </a:p>
              </p:txBody>
            </p:sp>
          </mc:Choice>
          <mc:Fallback xmlns="">
            <p:sp>
              <p:nvSpPr>
                <p:cNvPr id="33800" name="Object 18"/>
                <p:cNvSpPr txBox="1">
                  <a:spLocks noRot="1" noChangeAspect="1" noMove="1" noResize="1" noEditPoints="1" noAdjustHandles="1" noChangeArrowheads="1" noChangeShapeType="1" noTextEdit="1"/>
                </p:cNvSpPr>
                <p:nvPr/>
              </p:nvSpPr>
              <p:spPr>
                <a:xfrm>
                  <a:off x="4416" y="960"/>
                  <a:ext cx="360" cy="276"/>
                </a:xfrm>
                <a:prstGeom prst="rect">
                  <a:avLst/>
                </a:prstGeom>
                <a:blipFill>
                  <a:blip r:embed="rId5"/>
                  <a:stretch>
                    <a:fillRect l="-1905"/>
                  </a:stretch>
                </a:blipFill>
                <a:ln w="38100">
                  <a:noFill/>
                  <a:miter/>
                </a:ln>
              </p:spPr>
              <p:txBody>
                <a:bodyPr/>
                <a:lstStyle/>
                <a:p>
                  <a:r>
                    <a:rPr lang="zh-CN" altLang="en-US">
                      <a:noFill/>
                    </a:rPr>
                    <a:t> </a:t>
                  </a:r>
                </a:p>
              </p:txBody>
            </p:sp>
          </mc:Fallback>
        </mc:AlternateContent>
      </p:grpSp>
      <p:grpSp>
        <p:nvGrpSpPr>
          <p:cNvPr id="6" name="Group 19"/>
          <p:cNvGrpSpPr/>
          <p:nvPr/>
        </p:nvGrpSpPr>
        <p:grpSpPr>
          <a:xfrm>
            <a:off x="1828800" y="1219200"/>
            <a:ext cx="4267200" cy="971550"/>
            <a:chOff x="288" y="912"/>
            <a:chExt cx="2688" cy="612"/>
          </a:xfrm>
        </p:grpSpPr>
        <p:sp>
          <p:nvSpPr>
            <p:cNvPr id="33809" name="Text Box 20"/>
            <p:cNvSpPr txBox="1"/>
            <p:nvPr/>
          </p:nvSpPr>
          <p:spPr>
            <a:xfrm>
              <a:off x="288" y="912"/>
              <a:ext cx="2688" cy="596"/>
            </a:xfrm>
            <a:prstGeom prst="rect">
              <a:avLst/>
            </a:prstGeom>
            <a:noFill/>
            <a:ln w="9525">
              <a:noFill/>
            </a:ln>
          </p:spPr>
          <p:txBody>
            <a:bodyPr>
              <a:spAutoFit/>
            </a:bodyPr>
            <a:lstStyle/>
            <a:p>
              <a:pPr eaLnBrk="1" hangingPunct="1"/>
              <a:r>
                <a:rPr lang="en-US" altLang="zh-CN" sz="2800" dirty="0">
                  <a:solidFill>
                    <a:srgbClr val="000000"/>
                  </a:solidFill>
                  <a:latin typeface="Times New Roman" panose="02020603050405020304" pitchFamily="18" charset="0"/>
                </a:rPr>
                <a:t>        </a:t>
              </a:r>
              <a:r>
                <a:rPr lang="zh-CN" altLang="en-US" sz="2800" dirty="0">
                  <a:solidFill>
                    <a:srgbClr val="000000"/>
                  </a:solidFill>
                  <a:latin typeface="Times New Roman" panose="02020603050405020304" pitchFamily="18" charset="0"/>
                </a:rPr>
                <a:t>设在微小时间       内</a:t>
              </a:r>
              <a:r>
                <a:rPr lang="en-US" altLang="zh-CN" sz="2800" dirty="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rPr>
                <a:t>从 </a:t>
              </a:r>
              <a:r>
                <a:rPr lang="en-US" altLang="zh-CN" sz="2800" dirty="0">
                  <a:solidFill>
                    <a:srgbClr val="000000"/>
                  </a:solidFill>
                  <a:latin typeface="Times New Roman" panose="02020603050405020304" pitchFamily="18" charset="0"/>
                </a:rPr>
                <a:t>A </a:t>
              </a:r>
              <a:r>
                <a:rPr lang="zh-CN" altLang="en-US" sz="2800" dirty="0">
                  <a:solidFill>
                    <a:srgbClr val="000000"/>
                  </a:solidFill>
                  <a:latin typeface="Times New Roman" panose="02020603050405020304" pitchFamily="18" charset="0"/>
                </a:rPr>
                <a:t>传到 </a:t>
              </a:r>
              <a:r>
                <a:rPr lang="en-US" altLang="zh-CN" sz="2800" dirty="0">
                  <a:solidFill>
                    <a:srgbClr val="000000"/>
                  </a:solidFill>
                  <a:latin typeface="Times New Roman" panose="02020603050405020304" pitchFamily="18" charset="0"/>
                </a:rPr>
                <a:t>B </a:t>
              </a:r>
              <a:r>
                <a:rPr lang="zh-CN" altLang="en-US" sz="2800" dirty="0">
                  <a:solidFill>
                    <a:srgbClr val="000000"/>
                  </a:solidFill>
                  <a:latin typeface="Times New Roman" panose="02020603050405020304" pitchFamily="18" charset="0"/>
                </a:rPr>
                <a:t>的热量为</a:t>
              </a:r>
              <a:endParaRPr lang="en-US" altLang="zh-CN" sz="28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3798" name="Object 21"/>
                <p:cNvSpPr txBox="1"/>
                <p:nvPr/>
              </p:nvSpPr>
              <p:spPr>
                <a:xfrm>
                  <a:off x="2160" y="912"/>
                  <a:ext cx="336" cy="29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𝑡</m:t>
                        </m:r>
                      </m:oMath>
                    </m:oMathPara>
                  </a14:m>
                  <a:endParaRPr lang="zh-CN" altLang="en-US" sz="2800" dirty="0"/>
                </a:p>
              </p:txBody>
            </p:sp>
          </mc:Choice>
          <mc:Fallback xmlns="">
            <p:sp>
              <p:nvSpPr>
                <p:cNvPr id="33798" name="Object 21"/>
                <p:cNvSpPr txBox="1">
                  <a:spLocks noRot="1" noChangeAspect="1" noMove="1" noResize="1" noEditPoints="1" noAdjustHandles="1" noChangeArrowheads="1" noChangeShapeType="1" noTextEdit="1"/>
                </p:cNvSpPr>
                <p:nvPr/>
              </p:nvSpPr>
              <p:spPr>
                <a:xfrm>
                  <a:off x="2160" y="912"/>
                  <a:ext cx="336" cy="290"/>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799" name="Object 22"/>
                <p:cNvSpPr txBox="1"/>
                <p:nvPr/>
              </p:nvSpPr>
              <p:spPr>
                <a:xfrm>
                  <a:off x="2448" y="1193"/>
                  <a:ext cx="432" cy="331"/>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𝑄</m:t>
                        </m:r>
                      </m:oMath>
                    </m:oMathPara>
                  </a14:m>
                  <a:endParaRPr lang="zh-CN" altLang="en-US" sz="2800" dirty="0"/>
                </a:p>
              </p:txBody>
            </p:sp>
          </mc:Choice>
          <mc:Fallback xmlns="">
            <p:sp>
              <p:nvSpPr>
                <p:cNvPr id="33799" name="Object 22"/>
                <p:cNvSpPr txBox="1">
                  <a:spLocks noRot="1" noChangeAspect="1" noMove="1" noResize="1" noEditPoints="1" noAdjustHandles="1" noChangeArrowheads="1" noChangeShapeType="1" noTextEdit="1"/>
                </p:cNvSpPr>
                <p:nvPr/>
              </p:nvSpPr>
              <p:spPr>
                <a:xfrm>
                  <a:off x="2448" y="1193"/>
                  <a:ext cx="432" cy="331"/>
                </a:xfrm>
                <a:prstGeom prst="rect">
                  <a:avLst/>
                </a:prstGeom>
                <a:blipFill>
                  <a:blip r:embed="rId7"/>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44791" name="Object 23"/>
              <p:cNvSpPr txBox="1"/>
              <p:nvPr/>
            </p:nvSpPr>
            <p:spPr>
              <a:xfrm>
                <a:off x="3152108" y="2190751"/>
                <a:ext cx="2130235" cy="111442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m:rPr>
                              <m:sty m:val="p"/>
                            </m:rPr>
                            <a:rPr lang="zh-CN" altLang="en-US" sz="2800" i="0">
                              <a:solidFill>
                                <a:srgbClr val="000000"/>
                              </a:solidFill>
                              <a:latin typeface="Cambria Math" panose="02040503050406030204" pitchFamily="18" charset="0"/>
                            </a:rPr>
                            <m:t>A</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𝑄</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m:rPr>
                                  <m:sty m:val="p"/>
                                </m:rPr>
                                <a:rPr lang="zh-CN" altLang="en-US" sz="2800" i="0">
                                  <a:solidFill>
                                    <a:srgbClr val="000000"/>
                                  </a:solidFill>
                                  <a:latin typeface="Cambria Math" panose="02040503050406030204" pitchFamily="18" charset="0"/>
                                </a:rPr>
                                <m:t>A</m:t>
                              </m:r>
                            </m:sub>
                          </m:sSub>
                        </m:den>
                      </m:f>
                    </m:oMath>
                  </m:oMathPara>
                </a14:m>
                <a:endParaRPr lang="zh-CN" altLang="en-US" sz="2800" dirty="0"/>
              </a:p>
            </p:txBody>
          </p:sp>
        </mc:Choice>
        <mc:Fallback xmlns="">
          <p:sp>
            <p:nvSpPr>
              <p:cNvPr id="544791" name="Object 23"/>
              <p:cNvSpPr txBox="1">
                <a:spLocks noRot="1" noChangeAspect="1" noMove="1" noResize="1" noEditPoints="1" noAdjustHandles="1" noChangeArrowheads="1" noChangeShapeType="1" noTextEdit="1"/>
              </p:cNvSpPr>
              <p:nvPr/>
            </p:nvSpPr>
            <p:spPr>
              <a:xfrm>
                <a:off x="3152108" y="2190751"/>
                <a:ext cx="2130235" cy="1114427"/>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4792" name="Object 24"/>
              <p:cNvSpPr txBox="1"/>
              <p:nvPr/>
            </p:nvSpPr>
            <p:spPr>
              <a:xfrm>
                <a:off x="3276600" y="3276601"/>
                <a:ext cx="1981200" cy="11922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m:rPr>
                              <m:sty m:val="p"/>
                            </m:rPr>
                            <a:rPr lang="zh-CN" altLang="en-US" sz="2800" i="0">
                              <a:solidFill>
                                <a:srgbClr val="000000"/>
                              </a:solidFill>
                              <a:latin typeface="Cambria Math" panose="02040503050406030204" pitchFamily="18" charset="0"/>
                            </a:rPr>
                            <m:t>B</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𝑄</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m:rPr>
                                  <m:sty m:val="p"/>
                                </m:rPr>
                                <a:rPr lang="zh-CN" altLang="en-US" sz="2800" i="0">
                                  <a:solidFill>
                                    <a:srgbClr val="000000"/>
                                  </a:solidFill>
                                  <a:latin typeface="Cambria Math" panose="02040503050406030204" pitchFamily="18" charset="0"/>
                                </a:rPr>
                                <m:t>B</m:t>
                              </m:r>
                            </m:sub>
                          </m:sSub>
                        </m:den>
                      </m:f>
                    </m:oMath>
                  </m:oMathPara>
                </a14:m>
                <a:endParaRPr lang="zh-CN" altLang="en-US" sz="2800" dirty="0"/>
              </a:p>
            </p:txBody>
          </p:sp>
        </mc:Choice>
        <mc:Fallback xmlns="">
          <p:sp>
            <p:nvSpPr>
              <p:cNvPr id="544792" name="Object 24"/>
              <p:cNvSpPr txBox="1">
                <a:spLocks noRot="1" noChangeAspect="1" noMove="1" noResize="1" noEditPoints="1" noAdjustHandles="1" noChangeArrowheads="1" noChangeShapeType="1" noTextEdit="1"/>
              </p:cNvSpPr>
              <p:nvPr/>
            </p:nvSpPr>
            <p:spPr>
              <a:xfrm>
                <a:off x="3276600" y="3276601"/>
                <a:ext cx="1981200" cy="1192213"/>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4793" name="Object 25"/>
              <p:cNvSpPr txBox="1"/>
              <p:nvPr/>
            </p:nvSpPr>
            <p:spPr>
              <a:xfrm>
                <a:off x="3124200" y="4267201"/>
                <a:ext cx="6096000" cy="111442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m:rPr>
                              <m:sty m:val="p"/>
                            </m:rPr>
                            <a:rPr lang="zh-CN" altLang="en-US" sz="2800" i="0">
                              <a:solidFill>
                                <a:srgbClr val="000000"/>
                              </a:solidFill>
                              <a:latin typeface="Cambria Math" panose="02040503050406030204" pitchFamily="18" charset="0"/>
                            </a:rPr>
                            <m:t>A</m:t>
                          </m:r>
                        </m:sub>
                      </m:sSub>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m:rPr>
                              <m:sty m:val="p"/>
                            </m:rPr>
                            <a:rPr lang="zh-CN" altLang="en-US" sz="2800" i="0">
                              <a:solidFill>
                                <a:srgbClr val="000000"/>
                              </a:solidFill>
                              <a:latin typeface="Cambria Math" panose="02040503050406030204" pitchFamily="18" charset="0"/>
                            </a:rPr>
                            <m:t>B</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𝑄</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m:rPr>
                                  <m:sty m:val="p"/>
                                </m:rPr>
                                <a:rPr lang="zh-CN" altLang="en-US" sz="2800" i="0">
                                  <a:solidFill>
                                    <a:srgbClr val="000000"/>
                                  </a:solidFill>
                                  <a:latin typeface="Cambria Math" panose="02040503050406030204" pitchFamily="18" charset="0"/>
                                </a:rPr>
                                <m:t>A</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𝑄</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m:rPr>
                                  <m:sty m:val="p"/>
                                </m:rPr>
                                <a:rPr lang="zh-CN" altLang="en-US" sz="2800" i="0">
                                  <a:solidFill>
                                    <a:srgbClr val="000000"/>
                                  </a:solidFill>
                                  <a:latin typeface="Cambria Math" panose="02040503050406030204" pitchFamily="18" charset="0"/>
                                </a:rPr>
                                <m:t>B</m:t>
                              </m:r>
                            </m:sub>
                          </m:sSub>
                        </m:den>
                      </m:f>
                    </m:oMath>
                  </m:oMathPara>
                </a14:m>
                <a:endParaRPr lang="zh-CN" altLang="en-US" sz="2800" dirty="0"/>
              </a:p>
            </p:txBody>
          </p:sp>
        </mc:Choice>
        <mc:Fallback xmlns="">
          <p:sp>
            <p:nvSpPr>
              <p:cNvPr id="544793" name="Object 25"/>
              <p:cNvSpPr txBox="1">
                <a:spLocks noRot="1" noChangeAspect="1" noMove="1" noResize="1" noEditPoints="1" noAdjustHandles="1" noChangeArrowheads="1" noChangeShapeType="1" noTextEdit="1"/>
              </p:cNvSpPr>
              <p:nvPr/>
            </p:nvSpPr>
            <p:spPr>
              <a:xfrm>
                <a:off x="3124200" y="4267201"/>
                <a:ext cx="6096000" cy="1114425"/>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4794" name="Object 26"/>
              <p:cNvSpPr txBox="1"/>
              <p:nvPr/>
            </p:nvSpPr>
            <p:spPr>
              <a:xfrm>
                <a:off x="3810000" y="5410200"/>
                <a:ext cx="4419600" cy="5588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m:rPr>
                              <m:sty m:val="p"/>
                            </m:rPr>
                            <a:rPr lang="zh-CN" altLang="en-US" sz="2800" i="0">
                              <a:solidFill>
                                <a:srgbClr val="000000"/>
                              </a:solidFill>
                              <a:latin typeface="Cambria Math" panose="02040503050406030204" pitchFamily="18" charset="0"/>
                            </a:rPr>
                            <m:t>A</m:t>
                          </m:r>
                        </m:sub>
                      </m:sSub>
                      <m:r>
                        <a:rPr lang="zh-CN" altLang="en-US" sz="2800" i="1">
                          <a:solidFill>
                            <a:srgbClr val="000000"/>
                          </a:solidFill>
                          <a:latin typeface="Cambria Math" panose="02040503050406030204" pitchFamily="18" charset="0"/>
                        </a:rPr>
                        <m:t>&gt;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m:rPr>
                              <m:sty m:val="p"/>
                            </m:rPr>
                            <a:rPr lang="zh-CN" altLang="en-US" sz="2800" i="0">
                              <a:solidFill>
                                <a:srgbClr val="000000"/>
                              </a:solidFill>
                              <a:latin typeface="Cambria Math" panose="02040503050406030204" pitchFamily="18" charset="0"/>
                            </a:rPr>
                            <m:t>B</m:t>
                          </m:r>
                        </m:sub>
                      </m:sSub>
                      <m:m>
                        <m:mPr>
                          <m:plcHide m:val="on"/>
                          <m:mcs>
                            <m:mc>
                              <m:mcPr>
                                <m:count m:val="2"/>
                                <m:mcJc m:val="center"/>
                              </m:mcPr>
                            </m:mc>
                          </m:mcs>
                          <m:ctrlPr>
                            <a:rPr lang="zh-CN" altLang="en-US" sz="2800" i="1">
                              <a:solidFill>
                                <a:srgbClr val="000000"/>
                              </a:solidFill>
                              <a:latin typeface="Cambria Math" panose="02040503050406030204" pitchFamily="18" charset="0"/>
                            </a:rPr>
                          </m:ctrlPr>
                        </m:mPr>
                        <m:mr>
                          <m:e/>
                          <m:e/>
                        </m:mr>
                      </m:m>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&gt;0</m:t>
                      </m:r>
                    </m:oMath>
                  </m:oMathPara>
                </a14:m>
                <a:endParaRPr lang="zh-CN" altLang="en-US" sz="2800" dirty="0"/>
              </a:p>
            </p:txBody>
          </p:sp>
        </mc:Choice>
        <mc:Fallback xmlns="">
          <p:sp>
            <p:nvSpPr>
              <p:cNvPr id="544794" name="Object 26"/>
              <p:cNvSpPr txBox="1">
                <a:spLocks noRot="1" noChangeAspect="1" noMove="1" noResize="1" noEditPoints="1" noAdjustHandles="1" noChangeArrowheads="1" noChangeShapeType="1" noTextEdit="1"/>
              </p:cNvSpPr>
              <p:nvPr/>
            </p:nvSpPr>
            <p:spPr>
              <a:xfrm>
                <a:off x="3810000" y="5410200"/>
                <a:ext cx="4419600" cy="558800"/>
              </a:xfrm>
              <a:prstGeom prst="rect">
                <a:avLst/>
              </a:prstGeom>
              <a:blipFill>
                <a:blip r:embed="rId11"/>
                <a:stretch>
                  <a:fillRect/>
                </a:stretch>
              </a:blipFill>
              <a:ln w="38100">
                <a:noFill/>
                <a:miter/>
              </a:ln>
            </p:spPr>
            <p:txBody>
              <a:bodyPr/>
              <a:lstStyle/>
              <a:p>
                <a:r>
                  <a:rPr lang="zh-CN" altLang="en-US">
                    <a:noFill/>
                  </a:rPr>
                  <a:t> </a:t>
                </a:r>
              </a:p>
            </p:txBody>
          </p:sp>
        </mc:Fallback>
      </mc:AlternateContent>
      <p:sp>
        <p:nvSpPr>
          <p:cNvPr id="544795" name="Rectangle 27"/>
          <p:cNvSpPr/>
          <p:nvPr/>
        </p:nvSpPr>
        <p:spPr>
          <a:xfrm>
            <a:off x="2583942" y="6148780"/>
            <a:ext cx="8382000" cy="519113"/>
          </a:xfrm>
          <a:prstGeom prst="rect">
            <a:avLst/>
          </a:prstGeom>
          <a:noFill/>
          <a:ln w="9525">
            <a:noFill/>
          </a:ln>
        </p:spPr>
        <p:txBody>
          <a:bodyPr>
            <a:spAutoFit/>
          </a:bodyPr>
          <a:lstStyle/>
          <a:p>
            <a:pPr eaLnBrk="1" hangingPunct="1">
              <a:spcBef>
                <a:spcPct val="50000"/>
              </a:spcBef>
            </a:pPr>
            <a:r>
              <a:rPr lang="zh-CN" altLang="en-US" sz="2800" b="1" dirty="0">
                <a:latin typeface="Times New Roman" panose="02020603050405020304" pitchFamily="18" charset="0"/>
              </a:rPr>
              <a:t>同样，此孤立系统中不可逆过程熵亦是增加的 </a:t>
            </a:r>
            <a:endParaRPr lang="en-US" altLang="zh-CN"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80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47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47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479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479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44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91" grpId="0"/>
      <p:bldP spid="544792" grpId="0"/>
      <p:bldP spid="544793" grpId="0"/>
      <p:bldP spid="544794" grpId="0"/>
      <p:bldP spid="54479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A9EE2BE-C32A-4FA1-B1F2-36A7F357881F}"/>
              </a:ext>
            </a:extLst>
          </p:cNvPr>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683A143-D5DF-48EA-85E1-92A62EE43DE2}"/>
                  </a:ext>
                </a:extLst>
              </p:cNvPr>
              <p:cNvSpPr txBox="1"/>
              <p:nvPr>
                <p:custDataLst>
                  <p:tags r:id="rId4"/>
                </p:custDataLst>
              </p:nvPr>
            </p:nvSpPr>
            <p:spPr>
              <a:xfrm>
                <a:off x="2243455" y="4104828"/>
                <a:ext cx="206946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𝜈</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5</m:t>
                          </m:r>
                        </m:num>
                        <m:den>
                          <m:r>
                            <a:rPr lang="en-US" sz="2400" i="1">
                              <a:solidFill>
                                <a:srgbClr val="000000"/>
                              </a:solidFill>
                              <a:latin typeface="Cambria Math" panose="02040503050406030204" pitchFamily="18" charset="0"/>
                            </a:rPr>
                            <m:t>2</m:t>
                          </m:r>
                        </m:den>
                      </m:f>
                      <m:r>
                        <a:rPr lang="en-US" sz="2400" i="1">
                          <a:solidFill>
                            <a:srgbClr val="000000"/>
                          </a:solidFill>
                          <a:latin typeface="Cambria Math" panose="02040503050406030204" pitchFamily="18" charset="0"/>
                        </a:rPr>
                        <m:t>𝑅</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ln</m:t>
                          </m:r>
                        </m:fName>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7</m:t>
                              </m:r>
                            </m:num>
                            <m:den>
                              <m:r>
                                <a:rPr lang="en-US" sz="2400" i="1">
                                  <a:solidFill>
                                    <a:srgbClr val="000000"/>
                                  </a:solidFill>
                                  <a:latin typeface="Cambria Math" panose="02040503050406030204" pitchFamily="18" charset="0"/>
                                </a:rPr>
                                <m:t>5</m:t>
                              </m:r>
                            </m:den>
                          </m:f>
                        </m:e>
                      </m:func>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A683A143-D5DF-48EA-85E1-92A62EE43DE2}"/>
                  </a:ext>
                </a:extLst>
              </p:cNvPr>
              <p:cNvSpPr txBox="1">
                <a:spLocks noRot="1" noChangeAspect="1" noMove="1" noResize="1" noEditPoints="1" noAdjustHandles="1" noChangeArrowheads="1" noChangeShapeType="1" noTextEdit="1"/>
              </p:cNvSpPr>
              <p:nvPr>
                <p:custDataLst>
                  <p:tags r:id="rId20"/>
                </p:custDataLst>
              </p:nvPr>
            </p:nvSpPr>
            <p:spPr>
              <a:xfrm>
                <a:off x="2243455" y="4104828"/>
                <a:ext cx="2069465" cy="642938"/>
              </a:xfrm>
              <a:prstGeom prst="rect">
                <a:avLst/>
              </a:prstGeom>
              <a:blipFill>
                <a:blip r:embed="rId21"/>
                <a:stretch>
                  <a:fillRect b="-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49C4113-4AC1-4348-9833-8AE101D85A92}"/>
                  </a:ext>
                </a:extLst>
              </p:cNvPr>
              <p:cNvSpPr txBox="1"/>
              <p:nvPr>
                <p:custDataLst>
                  <p:tags r:id="rId5"/>
                </p:custDataLst>
              </p:nvPr>
            </p:nvSpPr>
            <p:spPr>
              <a:xfrm>
                <a:off x="2243455" y="5183345"/>
                <a:ext cx="1978025"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rPr>
                        <m:t>𝜈</m:t>
                      </m:r>
                      <m:f>
                        <m:fPr>
                          <m:ctrlPr>
                            <a:rPr lang="en-US" sz="2400" i="1">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7</m:t>
                          </m:r>
                        </m:num>
                        <m:den>
                          <m:r>
                            <a:rPr lang="en-US" sz="2400" i="1">
                              <a:solidFill>
                                <a:srgbClr val="000000"/>
                              </a:solidFill>
                              <a:latin typeface="Cambria Math" panose="02040503050406030204" pitchFamily="18" charset="0"/>
                            </a:rPr>
                            <m:t>2</m:t>
                          </m:r>
                        </m:den>
                      </m:f>
                      <m:r>
                        <a:rPr lang="en-US" sz="2400" i="1">
                          <a:solidFill>
                            <a:srgbClr val="000000"/>
                          </a:solidFill>
                          <a:latin typeface="Cambria Math" panose="02040503050406030204" pitchFamily="18" charset="0"/>
                        </a:rPr>
                        <m:t>𝑅</m:t>
                      </m:r>
                      <m:func>
                        <m:funcPr>
                          <m:ctrlPr>
                            <a:rPr lang="en-US" sz="2400" i="1">
                              <a:solidFill>
                                <a:srgbClr val="000000"/>
                              </a:solidFill>
                              <a:latin typeface="Cambria Math" panose="02040503050406030204" pitchFamily="18" charset="0"/>
                            </a:rPr>
                          </m:ctrlPr>
                        </m:funcPr>
                        <m:fName>
                          <m:r>
                            <m:rPr>
                              <m:sty m:val="p"/>
                            </m:rPr>
                            <a:rPr lang="en-US" sz="2400">
                              <a:solidFill>
                                <a:srgbClr val="000000"/>
                              </a:solidFill>
                              <a:latin typeface="Cambria Math" panose="02040503050406030204" pitchFamily="18" charset="0"/>
                            </a:rPr>
                            <m:t>ln</m:t>
                          </m:r>
                        </m:fName>
                        <m:e>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7</m:t>
                              </m:r>
                            </m:num>
                            <m:den>
                              <m:r>
                                <a:rPr lang="en-US" sz="2400" i="1">
                                  <a:solidFill>
                                    <a:srgbClr val="000000"/>
                                  </a:solidFill>
                                  <a:latin typeface="Cambria Math" panose="02040503050406030204" pitchFamily="18" charset="0"/>
                                </a:rPr>
                                <m:t>5</m:t>
                              </m:r>
                            </m:den>
                          </m:f>
                        </m:e>
                      </m:func>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049C4113-4AC1-4348-9833-8AE101D85A92}"/>
                  </a:ext>
                </a:extLst>
              </p:cNvPr>
              <p:cNvSpPr txBox="1">
                <a:spLocks noRot="1" noChangeAspect="1" noMove="1" noResize="1" noEditPoints="1" noAdjustHandles="1" noChangeArrowheads="1" noChangeShapeType="1" noTextEdit="1"/>
              </p:cNvSpPr>
              <p:nvPr>
                <p:custDataLst>
                  <p:tags r:id="rId22"/>
                </p:custDataLst>
              </p:nvPr>
            </p:nvSpPr>
            <p:spPr>
              <a:xfrm>
                <a:off x="2243455" y="5183345"/>
                <a:ext cx="1978025" cy="642938"/>
              </a:xfrm>
              <a:prstGeom prst="rect">
                <a:avLst/>
              </a:prstGeom>
              <a:blipFill>
                <a:blip r:embed="rId23"/>
                <a:stretch>
                  <a:fillRect b="-28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6335068-AAE2-4D4D-A2E7-E376C6F20AFD}"/>
                  </a:ext>
                </a:extLst>
              </p:cNvPr>
              <p:cNvSpPr txBox="1"/>
              <p:nvPr>
                <p:custDataLst>
                  <p:tags r:id="rId6"/>
                </p:custDataLst>
              </p:nvPr>
            </p:nvSpPr>
            <p:spPr>
              <a:xfrm>
                <a:off x="6096000" y="4068921"/>
                <a:ext cx="2438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𝜈</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5</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𝑅</m:t>
                      </m:r>
                    </m:oMath>
                  </m:oMathPara>
                </a14:m>
                <a:endParaRPr 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66335068-AAE2-4D4D-A2E7-E376C6F20AFD}"/>
                  </a:ext>
                </a:extLst>
              </p:cNvPr>
              <p:cNvSpPr txBox="1">
                <a:spLocks noRot="1" noChangeAspect="1" noMove="1" noResize="1" noEditPoints="1" noAdjustHandles="1" noChangeArrowheads="1" noChangeShapeType="1" noTextEdit="1"/>
              </p:cNvSpPr>
              <p:nvPr>
                <p:custDataLst>
                  <p:tags r:id="rId24"/>
                </p:custDataLst>
              </p:nvPr>
            </p:nvSpPr>
            <p:spPr>
              <a:xfrm>
                <a:off x="6096000" y="4068921"/>
                <a:ext cx="2438400" cy="642938"/>
              </a:xfrm>
              <a:prstGeom prst="rect">
                <a:avLst/>
              </a:prstGeom>
              <a:blipFill>
                <a:blip r:embed="rId25"/>
                <a:stretch>
                  <a:fillRect t="-4717" b="-122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F8993F7-14C1-4E44-8630-E51C7871B85C}"/>
                  </a:ext>
                </a:extLst>
              </p:cNvPr>
              <p:cNvSpPr txBox="1"/>
              <p:nvPr>
                <p:custDataLst>
                  <p:tags r:id="rId7"/>
                </p:custDataLst>
              </p:nvPr>
            </p:nvSpPr>
            <p:spPr>
              <a:xfrm>
                <a:off x="6096000" y="5183345"/>
                <a:ext cx="25146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r>
                        <a:rPr lang="en-US" sz="2800" i="1" smtClean="0">
                          <a:solidFill>
                            <a:srgbClr val="000000"/>
                          </a:solidFill>
                          <a:latin typeface="Cambria Math" panose="02040503050406030204" pitchFamily="18" charset="0"/>
                        </a:rPr>
                        <m:t>𝜈</m:t>
                      </m:r>
                      <m:f>
                        <m:fPr>
                          <m:ctrlPr>
                            <a:rPr lang="en-US" sz="2800" i="1">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7</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𝑅</m:t>
                      </m:r>
                    </m:oMath>
                  </m:oMathPara>
                </a14:m>
                <a:endParaRPr 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a:extLst>
                  <a:ext uri="{FF2B5EF4-FFF2-40B4-BE49-F238E27FC236}">
                    <a16:creationId xmlns:a16="http://schemas.microsoft.com/office/drawing/2014/main" id="{8F8993F7-14C1-4E44-8630-E51C7871B85C}"/>
                  </a:ext>
                </a:extLst>
              </p:cNvPr>
              <p:cNvSpPr txBox="1">
                <a:spLocks noRot="1" noChangeAspect="1" noMove="1" noResize="1" noEditPoints="1" noAdjustHandles="1" noChangeArrowheads="1" noChangeShapeType="1" noTextEdit="1"/>
              </p:cNvSpPr>
              <p:nvPr>
                <p:custDataLst>
                  <p:tags r:id="rId26"/>
                </p:custDataLst>
              </p:nvPr>
            </p:nvSpPr>
            <p:spPr>
              <a:xfrm>
                <a:off x="6096000" y="5183345"/>
                <a:ext cx="2514600" cy="642938"/>
              </a:xfrm>
              <a:prstGeom prst="rect">
                <a:avLst/>
              </a:prstGeom>
              <a:blipFill>
                <a:blip r:embed="rId27"/>
                <a:stretch>
                  <a:fillRect t="-2830" b="-12264"/>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E6CCEF0F-E4D3-4099-9210-4E145F24CF71}"/>
              </a:ext>
            </a:extLst>
          </p:cNvPr>
          <p:cNvSpPr>
            <a:spLocks noChangeAspect="1"/>
          </p:cNvSpPr>
          <p:nvPr>
            <p:custDataLst>
              <p:tags r:id="rId8"/>
            </p:custDataLst>
          </p:nvPr>
        </p:nvSpPr>
        <p:spPr>
          <a:xfrm>
            <a:off x="1376680" y="4169121"/>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18D450F8-087E-4B38-8699-63798690CEE7}"/>
              </a:ext>
            </a:extLst>
          </p:cNvPr>
          <p:cNvSpPr>
            <a:spLocks noChangeAspect="1"/>
          </p:cNvSpPr>
          <p:nvPr>
            <p:custDataLst>
              <p:tags r:id="rId9"/>
            </p:custDataLst>
          </p:nvPr>
        </p:nvSpPr>
        <p:spPr>
          <a:xfrm>
            <a:off x="1376680" y="524763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356C29E1-B4BB-45D5-BAD9-B21089769F82}"/>
              </a:ext>
            </a:extLst>
          </p:cNvPr>
          <p:cNvSpPr>
            <a:spLocks noChangeAspect="1"/>
          </p:cNvSpPr>
          <p:nvPr>
            <p:custDataLst>
              <p:tags r:id="rId10"/>
            </p:custDataLst>
          </p:nvPr>
        </p:nvSpPr>
        <p:spPr>
          <a:xfrm>
            <a:off x="5229225" y="413321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5B8B47AB-3713-4AF8-A7AA-BBE19BB8E764}"/>
              </a:ext>
            </a:extLst>
          </p:cNvPr>
          <p:cNvSpPr>
            <a:spLocks noChangeAspect="1"/>
          </p:cNvSpPr>
          <p:nvPr>
            <p:custDataLst>
              <p:tags r:id="rId11"/>
            </p:custDataLst>
          </p:nvPr>
        </p:nvSpPr>
        <p:spPr>
          <a:xfrm>
            <a:off x="5229225" y="524763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403D6F45-5DD1-4275-A1F8-80102B99B5A2}"/>
              </a:ext>
            </a:extLst>
          </p:cNvPr>
          <p:cNvSpPr/>
          <p:nvPr>
            <p:custDataLst>
              <p:tags r:id="rId1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20" name="Group 3">
            <a:extLst>
              <a:ext uri="{FF2B5EF4-FFF2-40B4-BE49-F238E27FC236}">
                <a16:creationId xmlns:a16="http://schemas.microsoft.com/office/drawing/2014/main" id="{17785C77-402B-4B8D-A5FE-A23C1D70DAD4}"/>
              </a:ext>
            </a:extLst>
          </p:cNvPr>
          <p:cNvGrpSpPr>
            <a:grpSpLocks/>
          </p:cNvGrpSpPr>
          <p:nvPr/>
        </p:nvGrpSpPr>
        <p:grpSpPr bwMode="auto">
          <a:xfrm>
            <a:off x="8231188" y="1610360"/>
            <a:ext cx="1447800" cy="1981200"/>
            <a:chOff x="4128" y="336"/>
            <a:chExt cx="912" cy="1248"/>
          </a:xfrm>
        </p:grpSpPr>
        <p:sp>
          <p:nvSpPr>
            <p:cNvPr id="21" name="Rectangle 4">
              <a:extLst>
                <a:ext uri="{FF2B5EF4-FFF2-40B4-BE49-F238E27FC236}">
                  <a16:creationId xmlns:a16="http://schemas.microsoft.com/office/drawing/2014/main" id="{A4DDE0C2-9D4B-4C78-95E8-4E441575866C}"/>
                </a:ext>
              </a:extLst>
            </p:cNvPr>
            <p:cNvSpPr>
              <a:spLocks noChangeArrowheads="1"/>
            </p:cNvSpPr>
            <p:nvPr/>
          </p:nvSpPr>
          <p:spPr bwMode="auto">
            <a:xfrm>
              <a:off x="4128" y="576"/>
              <a:ext cx="96" cy="1008"/>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2" name="Rectangle 5">
              <a:extLst>
                <a:ext uri="{FF2B5EF4-FFF2-40B4-BE49-F238E27FC236}">
                  <a16:creationId xmlns:a16="http://schemas.microsoft.com/office/drawing/2014/main" id="{F4AB5EB6-5B3F-427B-82DE-CBE5AB250D62}"/>
                </a:ext>
              </a:extLst>
            </p:cNvPr>
            <p:cNvSpPr>
              <a:spLocks noChangeArrowheads="1"/>
            </p:cNvSpPr>
            <p:nvPr/>
          </p:nvSpPr>
          <p:spPr bwMode="auto">
            <a:xfrm>
              <a:off x="4944" y="576"/>
              <a:ext cx="96" cy="1008"/>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3" name="Rectangle 6">
              <a:extLst>
                <a:ext uri="{FF2B5EF4-FFF2-40B4-BE49-F238E27FC236}">
                  <a16:creationId xmlns:a16="http://schemas.microsoft.com/office/drawing/2014/main" id="{29D449C9-722C-47F3-9AEF-83AA4C75128B}"/>
                </a:ext>
              </a:extLst>
            </p:cNvPr>
            <p:cNvSpPr>
              <a:spLocks noChangeArrowheads="1"/>
            </p:cNvSpPr>
            <p:nvPr/>
          </p:nvSpPr>
          <p:spPr bwMode="auto">
            <a:xfrm>
              <a:off x="4128" y="1488"/>
              <a:ext cx="912" cy="96"/>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4" name="Rectangle 7">
              <a:extLst>
                <a:ext uri="{FF2B5EF4-FFF2-40B4-BE49-F238E27FC236}">
                  <a16:creationId xmlns:a16="http://schemas.microsoft.com/office/drawing/2014/main" id="{D931CCF4-407B-4338-926D-913E4137050B}"/>
                </a:ext>
              </a:extLst>
            </p:cNvPr>
            <p:cNvSpPr>
              <a:spLocks noChangeArrowheads="1"/>
            </p:cNvSpPr>
            <p:nvPr/>
          </p:nvSpPr>
          <p:spPr bwMode="auto">
            <a:xfrm>
              <a:off x="4224" y="672"/>
              <a:ext cx="720" cy="96"/>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5" name="Rectangle 8">
              <a:extLst>
                <a:ext uri="{FF2B5EF4-FFF2-40B4-BE49-F238E27FC236}">
                  <a16:creationId xmlns:a16="http://schemas.microsoft.com/office/drawing/2014/main" id="{D811C584-2522-4403-BB80-D4D499431EF7}"/>
                </a:ext>
              </a:extLst>
            </p:cNvPr>
            <p:cNvSpPr>
              <a:spLocks noChangeArrowheads="1"/>
            </p:cNvSpPr>
            <p:nvPr/>
          </p:nvSpPr>
          <p:spPr bwMode="auto">
            <a:xfrm>
              <a:off x="4176" y="1104"/>
              <a:ext cx="816" cy="48"/>
            </a:xfrm>
            <a:prstGeom prst="rect">
              <a:avLst/>
            </a:prstGeom>
            <a:solidFill>
              <a:schemeClr val="accent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6" name="Rectangle 9">
              <a:extLst>
                <a:ext uri="{FF2B5EF4-FFF2-40B4-BE49-F238E27FC236}">
                  <a16:creationId xmlns:a16="http://schemas.microsoft.com/office/drawing/2014/main" id="{1558D24F-4803-4ACF-963A-2FD783C15371}"/>
                </a:ext>
              </a:extLst>
            </p:cNvPr>
            <p:cNvSpPr>
              <a:spLocks noChangeArrowheads="1"/>
            </p:cNvSpPr>
            <p:nvPr/>
          </p:nvSpPr>
          <p:spPr bwMode="auto">
            <a:xfrm>
              <a:off x="4464" y="432"/>
              <a:ext cx="240" cy="24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 name="Oval 10">
              <a:extLst>
                <a:ext uri="{FF2B5EF4-FFF2-40B4-BE49-F238E27FC236}">
                  <a16:creationId xmlns:a16="http://schemas.microsoft.com/office/drawing/2014/main" id="{09B00E73-5B4E-46E3-B73E-3D6770D64D9E}"/>
                </a:ext>
              </a:extLst>
            </p:cNvPr>
            <p:cNvSpPr>
              <a:spLocks noChangeArrowheads="1"/>
            </p:cNvSpPr>
            <p:nvPr/>
          </p:nvSpPr>
          <p:spPr bwMode="auto">
            <a:xfrm>
              <a:off x="4512" y="336"/>
              <a:ext cx="144"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8" name="Rectangle 11" descr="80%">
              <a:extLst>
                <a:ext uri="{FF2B5EF4-FFF2-40B4-BE49-F238E27FC236}">
                  <a16:creationId xmlns:a16="http://schemas.microsoft.com/office/drawing/2014/main" id="{7FE440DA-6180-404E-AB84-FC358421B843}"/>
                </a:ext>
              </a:extLst>
            </p:cNvPr>
            <p:cNvSpPr>
              <a:spLocks noChangeArrowheads="1"/>
            </p:cNvSpPr>
            <p:nvPr/>
          </p:nvSpPr>
          <p:spPr bwMode="auto">
            <a:xfrm>
              <a:off x="4224" y="768"/>
              <a:ext cx="720" cy="336"/>
            </a:xfrm>
            <a:prstGeom prst="rect">
              <a:avLst/>
            </a:prstGeom>
            <a:blipFill dpi="0" rotWithShape="0">
              <a:blip r:embed="rId28"/>
              <a:srcRect/>
              <a:tile tx="0" ty="0" sx="100000" sy="100000" flip="none" algn="tl"/>
            </a:blip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dirty="0">
                  <a:solidFill>
                    <a:schemeClr val="accent2"/>
                  </a:solidFill>
                </a:rPr>
                <a:t>A</a:t>
              </a:r>
            </a:p>
          </p:txBody>
        </p:sp>
        <p:sp>
          <p:nvSpPr>
            <p:cNvPr id="29" name="Oval 12">
              <a:extLst>
                <a:ext uri="{FF2B5EF4-FFF2-40B4-BE49-F238E27FC236}">
                  <a16:creationId xmlns:a16="http://schemas.microsoft.com/office/drawing/2014/main" id="{FE907983-CF09-43D8-82A7-019AA33436A2}"/>
                </a:ext>
              </a:extLst>
            </p:cNvPr>
            <p:cNvSpPr>
              <a:spLocks noChangeArrowheads="1"/>
            </p:cNvSpPr>
            <p:nvPr/>
          </p:nvSpPr>
          <p:spPr bwMode="auto">
            <a:xfrm>
              <a:off x="4560" y="1104"/>
              <a:ext cx="48" cy="48"/>
            </a:xfrm>
            <a:prstGeom prst="ellipse">
              <a:avLst/>
            </a:prstGeom>
            <a:solidFill>
              <a:schemeClr val="tx1"/>
            </a:solidFill>
            <a:ln w="9525">
              <a:solidFill>
                <a:schemeClr val="bg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30" name="Text Box 13">
              <a:extLst>
                <a:ext uri="{FF2B5EF4-FFF2-40B4-BE49-F238E27FC236}">
                  <a16:creationId xmlns:a16="http://schemas.microsoft.com/office/drawing/2014/main" id="{069846DD-338A-4D2C-9E33-C00E579D66ED}"/>
                </a:ext>
              </a:extLst>
            </p:cNvPr>
            <p:cNvSpPr txBox="1">
              <a:spLocks noChangeArrowheads="1"/>
            </p:cNvSpPr>
            <p:nvPr/>
          </p:nvSpPr>
          <p:spPr bwMode="auto">
            <a:xfrm>
              <a:off x="4464" y="1200"/>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chemeClr val="accent2"/>
                  </a:solidFill>
                </a:rPr>
                <a:t>B</a:t>
              </a:r>
            </a:p>
          </p:txBody>
        </p:sp>
      </p:grpSp>
      <p:grpSp>
        <p:nvGrpSpPr>
          <p:cNvPr id="31" name="组合 30">
            <a:extLst>
              <a:ext uri="{FF2B5EF4-FFF2-40B4-BE49-F238E27FC236}">
                <a16:creationId xmlns:a16="http://schemas.microsoft.com/office/drawing/2014/main" id="{B8DE0A32-816F-4C67-B1DF-F09410C58732}"/>
              </a:ext>
            </a:extLst>
          </p:cNvPr>
          <p:cNvGrpSpPr>
            <a:grpSpLocks/>
          </p:cNvGrpSpPr>
          <p:nvPr/>
        </p:nvGrpSpPr>
        <p:grpSpPr bwMode="auto">
          <a:xfrm>
            <a:off x="919481" y="1442820"/>
            <a:ext cx="6778307" cy="2123658"/>
            <a:chOff x="750173" y="81698"/>
            <a:chExt cx="5867400" cy="2123658"/>
          </a:xfrm>
        </p:grpSpPr>
        <p:sp>
          <p:nvSpPr>
            <p:cNvPr id="32" name="Text Box 14">
              <a:extLst>
                <a:ext uri="{FF2B5EF4-FFF2-40B4-BE49-F238E27FC236}">
                  <a16:creationId xmlns:a16="http://schemas.microsoft.com/office/drawing/2014/main" id="{7B33762C-C63C-4259-BEFE-279F045E824A}"/>
                </a:ext>
              </a:extLst>
            </p:cNvPr>
            <p:cNvSpPr txBox="1">
              <a:spLocks noChangeArrowheads="1"/>
            </p:cNvSpPr>
            <p:nvPr/>
          </p:nvSpPr>
          <p:spPr bwMode="auto">
            <a:xfrm>
              <a:off x="750173" y="81698"/>
              <a:ext cx="5867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600" dirty="0">
                  <a:solidFill>
                    <a:srgbClr val="000000"/>
                  </a:solidFill>
                </a:rPr>
                <a:t>有一绝热系统，中间固定导热板（阀门），上面有一活塞，开始时两区域体积相同， </a:t>
              </a:r>
              <a:br>
                <a:rPr lang="en-US" altLang="zh-CN" sz="2600" dirty="0">
                  <a:solidFill>
                    <a:srgbClr val="000000"/>
                  </a:solidFill>
                </a:rPr>
              </a:br>
              <a:r>
                <a:rPr lang="en-US" altLang="zh-CN" sz="2600" dirty="0">
                  <a:solidFill>
                    <a:srgbClr val="000000"/>
                  </a:solidFill>
                </a:rPr>
                <a:t>A</a:t>
              </a:r>
              <a:r>
                <a:rPr lang="zh-CN" altLang="en-US" sz="2600" dirty="0">
                  <a:solidFill>
                    <a:srgbClr val="000000"/>
                  </a:solidFill>
                </a:rPr>
                <a:t>：  摩尔单原子理想气体， 温度 </a:t>
              </a:r>
              <a:r>
                <a:rPr lang="en-US" altLang="zh-CN" sz="2600" i="1" dirty="0">
                  <a:solidFill>
                    <a:srgbClr val="000000"/>
                  </a:solidFill>
                </a:rPr>
                <a:t>T</a:t>
              </a:r>
              <a:r>
                <a:rPr lang="en-US" altLang="zh-CN" sz="2600" baseline="-25000" dirty="0">
                  <a:solidFill>
                    <a:srgbClr val="000000"/>
                  </a:solidFill>
                </a:rPr>
                <a:t>1</a:t>
              </a:r>
              <a:r>
                <a:rPr lang="zh-CN" altLang="en-US" sz="2600" dirty="0">
                  <a:solidFill>
                    <a:srgbClr val="000000"/>
                  </a:solidFill>
                </a:rPr>
                <a:t>；</a:t>
              </a:r>
              <a:r>
                <a:rPr lang="en-US" altLang="zh-CN" sz="2600" dirty="0">
                  <a:solidFill>
                    <a:srgbClr val="000000"/>
                  </a:solidFill>
                </a:rPr>
                <a:t>B:</a:t>
              </a:r>
              <a:r>
                <a:rPr lang="zh-CN" altLang="en-US" sz="2600" dirty="0">
                  <a:solidFill>
                    <a:srgbClr val="000000"/>
                  </a:solidFill>
                </a:rPr>
                <a:t>真空。后微微</a:t>
              </a:r>
              <a:r>
                <a:rPr lang="zh-CN" altLang="en-US" sz="2800" dirty="0">
                  <a:solidFill>
                    <a:srgbClr val="000000"/>
                  </a:solidFill>
                </a:rPr>
                <a:t>打开阀门，</a:t>
              </a:r>
              <a:r>
                <a:rPr lang="zh-CN" altLang="en-US" sz="2600" dirty="0">
                  <a:solidFill>
                    <a:srgbClr val="000000"/>
                  </a:solidFill>
                </a:rPr>
                <a:t>活塞下降</a:t>
              </a:r>
              <a:r>
                <a:rPr lang="zh-CN" altLang="en-US" sz="2800" dirty="0">
                  <a:solidFill>
                    <a:srgbClr val="000000"/>
                  </a:solidFill>
                </a:rPr>
                <a:t>，</a:t>
              </a:r>
              <a:r>
                <a:rPr lang="zh-CN" altLang="en-US" sz="2600" dirty="0">
                  <a:solidFill>
                    <a:srgbClr val="000000"/>
                  </a:solidFill>
                </a:rPr>
                <a:t>达到平衡，这一过程中的熵变是：</a:t>
              </a:r>
              <a:r>
                <a:rPr lang="zh-CN" altLang="en-US" sz="2600" i="1" u="sng" dirty="0">
                  <a:solidFill>
                    <a:srgbClr val="000000"/>
                  </a:solidFill>
                </a:rPr>
                <a:t>    </a:t>
              </a:r>
              <a:r>
                <a:rPr lang="zh-CN" altLang="en-US" sz="2600" dirty="0">
                  <a:solidFill>
                    <a:srgbClr val="000000"/>
                  </a:solidFill>
                </a:rPr>
                <a:t> </a:t>
              </a:r>
              <a:r>
                <a:rPr lang="zh-CN" altLang="en-US" sz="2600" u="sng" dirty="0">
                  <a:solidFill>
                    <a:srgbClr val="000000"/>
                  </a:solidFill>
                </a:rPr>
                <a:t> </a:t>
              </a:r>
              <a:endParaRPr lang="zh-CN" altLang="en-US" sz="2800" dirty="0">
                <a:solidFill>
                  <a:srgbClr val="000000"/>
                </a:solidFill>
              </a:endParaRPr>
            </a:p>
          </p:txBody>
        </p:sp>
        <p:graphicFrame>
          <p:nvGraphicFramePr>
            <p:cNvPr id="33" name="Object 5">
              <a:extLst>
                <a:ext uri="{FF2B5EF4-FFF2-40B4-BE49-F238E27FC236}">
                  <a16:creationId xmlns:a16="http://schemas.microsoft.com/office/drawing/2014/main" id="{A762955C-80B0-484E-9DCE-CF0AF415E31B}"/>
                </a:ext>
              </a:extLst>
            </p:cNvPr>
            <p:cNvGraphicFramePr>
              <a:graphicFrameLocks noChangeAspect="1"/>
            </p:cNvGraphicFramePr>
            <p:nvPr>
              <p:extLst/>
            </p:nvPr>
          </p:nvGraphicFramePr>
          <p:xfrm>
            <a:off x="1145931" y="941517"/>
            <a:ext cx="533400" cy="423704"/>
          </p:xfrm>
          <a:graphic>
            <a:graphicData uri="http://schemas.openxmlformats.org/presentationml/2006/ole">
              <mc:AlternateContent xmlns:mc="http://schemas.openxmlformats.org/markup-compatibility/2006">
                <mc:Choice xmlns:v="urn:schemas-microsoft-com:vml" Requires="v">
                  <p:oleObj spid="_x0000_s15366" name="Equation" r:id="rId29" imgW="177646" imgH="139579" progId="Equation.DSMT4">
                    <p:embed/>
                  </p:oleObj>
                </mc:Choice>
                <mc:Fallback>
                  <p:oleObj name="Equation" r:id="rId29" imgW="177646" imgH="139579" progId="Equation.DSMT4">
                    <p:embed/>
                    <p:pic>
                      <p:nvPicPr>
                        <p:cNvPr id="33" name="Object 5">
                          <a:extLst>
                            <a:ext uri="{FF2B5EF4-FFF2-40B4-BE49-F238E27FC236}">
                              <a16:creationId xmlns:a16="http://schemas.microsoft.com/office/drawing/2014/main" id="{A762955C-80B0-484E-9DCE-CF0AF415E31B}"/>
                            </a:ext>
                          </a:extLst>
                        </p:cNvPr>
                        <p:cNvPicPr>
                          <a:picLocks noChangeAspect="1" noChangeArrowheads="1"/>
                        </p:cNvPicPr>
                        <p:nvPr/>
                      </p:nvPicPr>
                      <p:blipFill>
                        <a:blip r:embed="rId30">
                          <a:lum bright="-100000"/>
                          <a:extLst>
                            <a:ext uri="{28A0092B-C50C-407E-A947-70E740481C1C}">
                              <a14:useLocalDpi xmlns:a14="http://schemas.microsoft.com/office/drawing/2010/main" val="0"/>
                            </a:ext>
                          </a:extLst>
                        </a:blip>
                        <a:srcRect/>
                        <a:stretch>
                          <a:fillRect/>
                        </a:stretch>
                      </p:blipFill>
                      <p:spPr bwMode="auto">
                        <a:xfrm>
                          <a:off x="1145931" y="941517"/>
                          <a:ext cx="533400" cy="423704"/>
                        </a:xfrm>
                        <a:prstGeom prst="rect">
                          <a:avLst/>
                        </a:prstGeom>
                        <a:noFill/>
                        <a:ln>
                          <a:noFill/>
                        </a:ln>
                        <a:effectLst/>
                      </p:spPr>
                    </p:pic>
                  </p:oleObj>
                </mc:Fallback>
              </mc:AlternateContent>
            </a:graphicData>
          </a:graphic>
        </p:graphicFrame>
      </p:grpSp>
      <p:grpSp>
        <p:nvGrpSpPr>
          <p:cNvPr id="18" name="组合 17">
            <a:extLst>
              <a:ext uri="{FF2B5EF4-FFF2-40B4-BE49-F238E27FC236}">
                <a16:creationId xmlns:a16="http://schemas.microsoft.com/office/drawing/2014/main" id="{BC0D6BB7-059C-42C9-A7E1-F2C3982DAC41}"/>
              </a:ext>
            </a:extLst>
          </p:cNvPr>
          <p:cNvGrpSpPr/>
          <p:nvPr>
            <p:custDataLst>
              <p:tags r:id="rId13"/>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816BDF7C-C4AF-4FC3-89C4-D74D40E1166F}"/>
                </a:ext>
              </a:extLst>
            </p:cNvPr>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AC39BAC8-18FB-4FBD-B86A-A98A335C8698}"/>
                </a:ext>
              </a:extLst>
            </p:cNvPr>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223D47C2-5B62-4060-A73C-6C96F26B9C25}"/>
                </a:ext>
              </a:extLst>
            </p:cNvPr>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69D8AF5F-7139-4071-8A15-BAB57CCC8523}"/>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42DE1DF4-34D7-4662-9CFC-3DD4F982D0A7}"/>
              </a:ext>
            </a:extLst>
          </p:cNvPr>
          <p:cNvPicPr>
            <a:picLocks/>
          </p:cNvPicPr>
          <p:nvPr>
            <p:custDataLst>
              <p:tags r:id="rId14"/>
            </p:custDataLst>
          </p:nvPr>
        </p:nvPicPr>
        <p:blipFill>
          <a:blip r:embed="rId3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
    </p:custDataLst>
    <p:extLst>
      <p:ext uri="{BB962C8B-B14F-4D97-AF65-F5344CB8AC3E}">
        <p14:creationId xmlns:p14="http://schemas.microsoft.com/office/powerpoint/2010/main" val="1207767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3">
            <a:extLst>
              <a:ext uri="{FF2B5EF4-FFF2-40B4-BE49-F238E27FC236}">
                <a16:creationId xmlns:a16="http://schemas.microsoft.com/office/drawing/2014/main" id="{4B055BC2-EF29-490E-9ADF-3677AB42AEF8}"/>
              </a:ext>
            </a:extLst>
          </p:cNvPr>
          <p:cNvGrpSpPr>
            <a:grpSpLocks/>
          </p:cNvGrpSpPr>
          <p:nvPr/>
        </p:nvGrpSpPr>
        <p:grpSpPr bwMode="auto">
          <a:xfrm>
            <a:off x="9652003" y="963613"/>
            <a:ext cx="1447800" cy="1981200"/>
            <a:chOff x="4128" y="336"/>
            <a:chExt cx="912" cy="1248"/>
          </a:xfrm>
        </p:grpSpPr>
        <p:sp>
          <p:nvSpPr>
            <p:cNvPr id="27663" name="Rectangle 4">
              <a:extLst>
                <a:ext uri="{FF2B5EF4-FFF2-40B4-BE49-F238E27FC236}">
                  <a16:creationId xmlns:a16="http://schemas.microsoft.com/office/drawing/2014/main" id="{A613760B-8F4B-4391-B365-F55E112BC815}"/>
                </a:ext>
              </a:extLst>
            </p:cNvPr>
            <p:cNvSpPr>
              <a:spLocks noChangeArrowheads="1"/>
            </p:cNvSpPr>
            <p:nvPr/>
          </p:nvSpPr>
          <p:spPr bwMode="auto">
            <a:xfrm>
              <a:off x="4128" y="576"/>
              <a:ext cx="96" cy="1008"/>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64" name="Rectangle 5">
              <a:extLst>
                <a:ext uri="{FF2B5EF4-FFF2-40B4-BE49-F238E27FC236}">
                  <a16:creationId xmlns:a16="http://schemas.microsoft.com/office/drawing/2014/main" id="{867B361A-46C0-4ED5-ACF9-4FB033570DB6}"/>
                </a:ext>
              </a:extLst>
            </p:cNvPr>
            <p:cNvSpPr>
              <a:spLocks noChangeArrowheads="1"/>
            </p:cNvSpPr>
            <p:nvPr/>
          </p:nvSpPr>
          <p:spPr bwMode="auto">
            <a:xfrm>
              <a:off x="4944" y="576"/>
              <a:ext cx="96" cy="1008"/>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65" name="Rectangle 6">
              <a:extLst>
                <a:ext uri="{FF2B5EF4-FFF2-40B4-BE49-F238E27FC236}">
                  <a16:creationId xmlns:a16="http://schemas.microsoft.com/office/drawing/2014/main" id="{281E77AE-721F-4C88-B61B-6ED527A2BB7F}"/>
                </a:ext>
              </a:extLst>
            </p:cNvPr>
            <p:cNvSpPr>
              <a:spLocks noChangeArrowheads="1"/>
            </p:cNvSpPr>
            <p:nvPr/>
          </p:nvSpPr>
          <p:spPr bwMode="auto">
            <a:xfrm>
              <a:off x="4128" y="1488"/>
              <a:ext cx="912" cy="96"/>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66" name="Rectangle 7">
              <a:extLst>
                <a:ext uri="{FF2B5EF4-FFF2-40B4-BE49-F238E27FC236}">
                  <a16:creationId xmlns:a16="http://schemas.microsoft.com/office/drawing/2014/main" id="{42B4A425-1766-420E-AECE-B0F963F28997}"/>
                </a:ext>
              </a:extLst>
            </p:cNvPr>
            <p:cNvSpPr>
              <a:spLocks noChangeArrowheads="1"/>
            </p:cNvSpPr>
            <p:nvPr/>
          </p:nvSpPr>
          <p:spPr bwMode="auto">
            <a:xfrm>
              <a:off x="4224" y="672"/>
              <a:ext cx="720" cy="96"/>
            </a:xfrm>
            <a:prstGeom prst="rect">
              <a:avLst/>
            </a:prstGeom>
            <a:solidFill>
              <a:schemeClr val="bg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67" name="Rectangle 8">
              <a:extLst>
                <a:ext uri="{FF2B5EF4-FFF2-40B4-BE49-F238E27FC236}">
                  <a16:creationId xmlns:a16="http://schemas.microsoft.com/office/drawing/2014/main" id="{8F623326-1234-4F43-9B74-444CE40163A7}"/>
                </a:ext>
              </a:extLst>
            </p:cNvPr>
            <p:cNvSpPr>
              <a:spLocks noChangeArrowheads="1"/>
            </p:cNvSpPr>
            <p:nvPr/>
          </p:nvSpPr>
          <p:spPr bwMode="auto">
            <a:xfrm>
              <a:off x="4176" y="1104"/>
              <a:ext cx="816" cy="48"/>
            </a:xfrm>
            <a:prstGeom prst="rect">
              <a:avLst/>
            </a:prstGeom>
            <a:solidFill>
              <a:schemeClr val="accent2"/>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68" name="Rectangle 9">
              <a:extLst>
                <a:ext uri="{FF2B5EF4-FFF2-40B4-BE49-F238E27FC236}">
                  <a16:creationId xmlns:a16="http://schemas.microsoft.com/office/drawing/2014/main" id="{20B50FCC-067B-4298-B334-0BB9F398D980}"/>
                </a:ext>
              </a:extLst>
            </p:cNvPr>
            <p:cNvSpPr>
              <a:spLocks noChangeArrowheads="1"/>
            </p:cNvSpPr>
            <p:nvPr/>
          </p:nvSpPr>
          <p:spPr bwMode="auto">
            <a:xfrm>
              <a:off x="4464" y="432"/>
              <a:ext cx="240" cy="240"/>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69" name="Oval 10">
              <a:extLst>
                <a:ext uri="{FF2B5EF4-FFF2-40B4-BE49-F238E27FC236}">
                  <a16:creationId xmlns:a16="http://schemas.microsoft.com/office/drawing/2014/main" id="{C27BB219-5BC8-4657-8D7C-BB5A16828DD6}"/>
                </a:ext>
              </a:extLst>
            </p:cNvPr>
            <p:cNvSpPr>
              <a:spLocks noChangeArrowheads="1"/>
            </p:cNvSpPr>
            <p:nvPr/>
          </p:nvSpPr>
          <p:spPr bwMode="auto">
            <a:xfrm>
              <a:off x="4512" y="336"/>
              <a:ext cx="144" cy="96"/>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70" name="Rectangle 11" descr="80%">
              <a:extLst>
                <a:ext uri="{FF2B5EF4-FFF2-40B4-BE49-F238E27FC236}">
                  <a16:creationId xmlns:a16="http://schemas.microsoft.com/office/drawing/2014/main" id="{32AADF9F-4C0C-4C0D-BDD5-E863E3AFE690}"/>
                </a:ext>
              </a:extLst>
            </p:cNvPr>
            <p:cNvSpPr>
              <a:spLocks noChangeArrowheads="1"/>
            </p:cNvSpPr>
            <p:nvPr/>
          </p:nvSpPr>
          <p:spPr bwMode="auto">
            <a:xfrm>
              <a:off x="4224" y="768"/>
              <a:ext cx="720" cy="336"/>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800" dirty="0">
                  <a:solidFill>
                    <a:schemeClr val="accent2"/>
                  </a:solidFill>
                </a:rPr>
                <a:t>A</a:t>
              </a:r>
            </a:p>
          </p:txBody>
        </p:sp>
        <p:sp>
          <p:nvSpPr>
            <p:cNvPr id="27671" name="Oval 12">
              <a:extLst>
                <a:ext uri="{FF2B5EF4-FFF2-40B4-BE49-F238E27FC236}">
                  <a16:creationId xmlns:a16="http://schemas.microsoft.com/office/drawing/2014/main" id="{76506E84-D3E2-4713-B9EF-6EDA5C08FEA8}"/>
                </a:ext>
              </a:extLst>
            </p:cNvPr>
            <p:cNvSpPr>
              <a:spLocks noChangeArrowheads="1"/>
            </p:cNvSpPr>
            <p:nvPr/>
          </p:nvSpPr>
          <p:spPr bwMode="auto">
            <a:xfrm>
              <a:off x="4560" y="1104"/>
              <a:ext cx="48" cy="48"/>
            </a:xfrm>
            <a:prstGeom prst="ellipse">
              <a:avLst/>
            </a:prstGeom>
            <a:solidFill>
              <a:schemeClr val="tx1"/>
            </a:solidFill>
            <a:ln w="9525">
              <a:solidFill>
                <a:schemeClr val="bg1"/>
              </a:solidFill>
              <a:round/>
              <a:headEnd/>
              <a:tailE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p>
          </p:txBody>
        </p:sp>
        <p:sp>
          <p:nvSpPr>
            <p:cNvPr id="27672" name="Text Box 13">
              <a:extLst>
                <a:ext uri="{FF2B5EF4-FFF2-40B4-BE49-F238E27FC236}">
                  <a16:creationId xmlns:a16="http://schemas.microsoft.com/office/drawing/2014/main" id="{797AE023-EC62-4D78-B267-174AFFFB32A1}"/>
                </a:ext>
              </a:extLst>
            </p:cNvPr>
            <p:cNvSpPr txBox="1">
              <a:spLocks noChangeArrowheads="1"/>
            </p:cNvSpPr>
            <p:nvPr/>
          </p:nvSpPr>
          <p:spPr bwMode="auto">
            <a:xfrm>
              <a:off x="4464" y="1200"/>
              <a:ext cx="2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chemeClr val="accent2"/>
                  </a:solidFill>
                </a:rPr>
                <a:t>B</a:t>
              </a:r>
            </a:p>
          </p:txBody>
        </p:sp>
      </p:grpSp>
      <p:sp>
        <p:nvSpPr>
          <p:cNvPr id="38927" name="Text Box 15">
            <a:extLst>
              <a:ext uri="{FF2B5EF4-FFF2-40B4-BE49-F238E27FC236}">
                <a16:creationId xmlns:a16="http://schemas.microsoft.com/office/drawing/2014/main" id="{E3DD4DCB-C532-4F6F-9BFD-6A15F28E82F9}"/>
              </a:ext>
            </a:extLst>
          </p:cNvPr>
          <p:cNvSpPr txBox="1">
            <a:spLocks noChangeArrowheads="1"/>
          </p:cNvSpPr>
          <p:nvPr/>
        </p:nvSpPr>
        <p:spPr bwMode="auto">
          <a:xfrm>
            <a:off x="1181104" y="1027112"/>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00"/>
                </a:solidFill>
                <a:latin typeface="+mn-lt"/>
                <a:ea typeface="+mn-ea"/>
              </a:rPr>
              <a:t>设初态</a:t>
            </a:r>
          </a:p>
        </p:txBody>
      </p:sp>
      <mc:AlternateContent xmlns:mc="http://schemas.openxmlformats.org/markup-compatibility/2006" xmlns:a14="http://schemas.microsoft.com/office/drawing/2010/main">
        <mc:Choice Requires="a14">
          <p:sp>
            <p:nvSpPr>
              <p:cNvPr id="38928" name="Object 2">
                <a:extLst>
                  <a:ext uri="{FF2B5EF4-FFF2-40B4-BE49-F238E27FC236}">
                    <a16:creationId xmlns:a16="http://schemas.microsoft.com/office/drawing/2014/main" id="{4B376A5D-510B-4EC6-B7C3-D7648F1D4DEA}"/>
                  </a:ext>
                </a:extLst>
              </p:cNvPr>
              <p:cNvSpPr txBox="1"/>
              <p:nvPr/>
            </p:nvSpPr>
            <p:spPr bwMode="auto">
              <a:xfrm>
                <a:off x="2347913" y="1001713"/>
                <a:ext cx="1493837" cy="6477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𝑃</m:t>
                      </m:r>
                    </m:oMath>
                  </m:oMathPara>
                </a14:m>
                <a:endParaRPr lang="en-US" sz="2800"/>
              </a:p>
            </p:txBody>
          </p:sp>
        </mc:Choice>
        <mc:Fallback xmlns="">
          <p:sp>
            <p:nvSpPr>
              <p:cNvPr id="38928" name="Object 2">
                <a:extLst>
                  <a:ext uri="{FF2B5EF4-FFF2-40B4-BE49-F238E27FC236}">
                    <a16:creationId xmlns:a16="http://schemas.microsoft.com/office/drawing/2014/main" id="{4B376A5D-510B-4EC6-B7C3-D7648F1D4DEA}"/>
                  </a:ext>
                </a:extLst>
              </p:cNvPr>
              <p:cNvSpPr txBox="1">
                <a:spLocks noRot="1" noChangeAspect="1" noMove="1" noResize="1" noEditPoints="1" noAdjustHandles="1" noChangeArrowheads="1" noChangeShapeType="1" noTextEdit="1"/>
              </p:cNvSpPr>
              <p:nvPr/>
            </p:nvSpPr>
            <p:spPr bwMode="auto">
              <a:xfrm>
                <a:off x="2347913" y="1001713"/>
                <a:ext cx="1493837" cy="647700"/>
              </a:xfrm>
              <a:prstGeom prst="rect">
                <a:avLst/>
              </a:prstGeom>
              <a:blipFill>
                <a:blip r:embed="rId3"/>
                <a:stretch>
                  <a:fillRect/>
                </a:stretch>
              </a:blipFill>
              <a:ln>
                <a:noFill/>
              </a:ln>
              <a:effectLst/>
            </p:spPr>
            <p:txBody>
              <a:bodyPr/>
              <a:lstStyle/>
              <a:p>
                <a:r>
                  <a:rPr lang="en-US">
                    <a:noFill/>
                  </a:rPr>
                  <a:t> </a:t>
                </a:r>
              </a:p>
            </p:txBody>
          </p:sp>
        </mc:Fallback>
      </mc:AlternateContent>
      <p:sp>
        <p:nvSpPr>
          <p:cNvPr id="38929" name="Text Box 17">
            <a:extLst>
              <a:ext uri="{FF2B5EF4-FFF2-40B4-BE49-F238E27FC236}">
                <a16:creationId xmlns:a16="http://schemas.microsoft.com/office/drawing/2014/main" id="{3B2A236C-6597-42E9-B8C8-70AB09A24B44}"/>
              </a:ext>
            </a:extLst>
          </p:cNvPr>
          <p:cNvSpPr txBox="1">
            <a:spLocks noChangeArrowheads="1"/>
          </p:cNvSpPr>
          <p:nvPr/>
        </p:nvSpPr>
        <p:spPr bwMode="auto">
          <a:xfrm>
            <a:off x="4192592" y="1020762"/>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a:solidFill>
                  <a:srgbClr val="000000"/>
                </a:solidFill>
                <a:latin typeface="+mn-lt"/>
                <a:ea typeface="+mn-ea"/>
              </a:rPr>
              <a:t>终态</a:t>
            </a:r>
          </a:p>
        </p:txBody>
      </p:sp>
      <mc:AlternateContent xmlns:mc="http://schemas.openxmlformats.org/markup-compatibility/2006" xmlns:a14="http://schemas.microsoft.com/office/drawing/2010/main">
        <mc:Choice Requires="a14">
          <p:sp>
            <p:nvSpPr>
              <p:cNvPr id="38930" name="Object 3">
                <a:extLst>
                  <a:ext uri="{FF2B5EF4-FFF2-40B4-BE49-F238E27FC236}">
                    <a16:creationId xmlns:a16="http://schemas.microsoft.com/office/drawing/2014/main" id="{53A363F6-C7AC-414D-B7AA-C8CB3D34FDBD}"/>
                  </a:ext>
                </a:extLst>
              </p:cNvPr>
              <p:cNvSpPr txBox="1"/>
              <p:nvPr/>
            </p:nvSpPr>
            <p:spPr bwMode="auto">
              <a:xfrm>
                <a:off x="5014913" y="963613"/>
                <a:ext cx="2346325" cy="68262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𝑃</m:t>
                      </m:r>
                    </m:oMath>
                  </m:oMathPara>
                </a14:m>
                <a:endParaRPr lang="en-US" sz="2800"/>
              </a:p>
            </p:txBody>
          </p:sp>
        </mc:Choice>
        <mc:Fallback xmlns="">
          <p:sp>
            <p:nvSpPr>
              <p:cNvPr id="38930" name="Object 3">
                <a:extLst>
                  <a:ext uri="{FF2B5EF4-FFF2-40B4-BE49-F238E27FC236}">
                    <a16:creationId xmlns:a16="http://schemas.microsoft.com/office/drawing/2014/main" id="{53A363F6-C7AC-414D-B7AA-C8CB3D34FDBD}"/>
                  </a:ext>
                </a:extLst>
              </p:cNvPr>
              <p:cNvSpPr txBox="1">
                <a:spLocks noRot="1" noChangeAspect="1" noMove="1" noResize="1" noEditPoints="1" noAdjustHandles="1" noChangeArrowheads="1" noChangeShapeType="1" noTextEdit="1"/>
              </p:cNvSpPr>
              <p:nvPr/>
            </p:nvSpPr>
            <p:spPr bwMode="auto">
              <a:xfrm>
                <a:off x="5014913" y="963613"/>
                <a:ext cx="2346325" cy="682625"/>
              </a:xfrm>
              <a:prstGeom prst="rect">
                <a:avLst/>
              </a:prstGeom>
              <a:blipFill>
                <a:blip r:embed="rId4"/>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31" name="Object 4">
                <a:extLst>
                  <a:ext uri="{FF2B5EF4-FFF2-40B4-BE49-F238E27FC236}">
                    <a16:creationId xmlns:a16="http://schemas.microsoft.com/office/drawing/2014/main" id="{8F641A94-7DD8-458C-A757-E7025BA300B8}"/>
                  </a:ext>
                </a:extLst>
              </p:cNvPr>
              <p:cNvSpPr txBox="1"/>
              <p:nvPr/>
            </p:nvSpPr>
            <p:spPr bwMode="auto">
              <a:xfrm>
                <a:off x="1536700" y="1993107"/>
                <a:ext cx="6972303" cy="647701"/>
              </a:xfrm>
              <a:prstGeom prst="rect">
                <a:avLst/>
              </a:prstGeom>
              <a:noFill/>
              <a:ln>
                <a:noFill/>
              </a:ln>
              <a:effectLst/>
            </p:spPr>
            <p:txBody>
              <a:bodyPr>
                <a:normAutofit/>
              </a:bodyPr>
              <a:lstStyle/>
              <a:p>
                <a14:m>
                  <m:oMath xmlns:m="http://schemas.openxmlformats.org/officeDocument/2006/math">
                    <m:r>
                      <a:rPr lang="en-US" sz="2800" i="1" smtClean="0">
                        <a:solidFill>
                          <a:srgbClr val="000000"/>
                        </a:solidFill>
                        <a:latin typeface="Cambria Math" panose="02040503050406030204" pitchFamily="18" charset="0"/>
                      </a:rPr>
                      <m:t>𝑃</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oMath>
                </a14:m>
                <a:r>
                  <a:rPr lang="en-US" sz="2800" i="1" dirty="0">
                    <a:solidFill>
                      <a:srgbClr val="000000"/>
                    </a:solidFill>
                    <a:latin typeface="Cambria Math" panose="02040503050406030204" pitchFamily="18" charset="0"/>
                  </a:rPr>
                  <a:t>  </a:t>
                </a:r>
                <a14:m>
                  <m:oMath xmlns:m="http://schemas.openxmlformats.org/officeDocument/2006/math">
                    <m:r>
                      <a:rPr lang="en-US" sz="2800" b="0" i="1" smtClean="0">
                        <a:solidFill>
                          <a:srgbClr val="000000"/>
                        </a:solidFill>
                        <a:latin typeface="Cambria Math" panose="02040503050406030204" pitchFamily="18" charset="0"/>
                      </a:rPr>
                      <m:t>          </m:t>
                    </m:r>
                    <m:r>
                      <a:rPr lang="en-US" sz="2800" i="1">
                        <a:solidFill>
                          <a:srgbClr val="000000"/>
                        </a:solidFill>
                        <a:latin typeface="Cambria Math" panose="02040503050406030204" pitchFamily="18" charset="0"/>
                      </a:rPr>
                      <m:t>𝑃</m:t>
                    </m:r>
                    <m:d>
                      <m:dPr>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0</m:t>
                            </m:r>
                          </m:sub>
                        </m:sSub>
                      </m:e>
                    </m:d>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oMath>
                </a14:m>
                <a:endParaRPr lang="en-US" sz="2800" dirty="0"/>
              </a:p>
            </p:txBody>
          </p:sp>
        </mc:Choice>
        <mc:Fallback xmlns="">
          <p:sp>
            <p:nvSpPr>
              <p:cNvPr id="38931" name="Object 4">
                <a:extLst>
                  <a:ext uri="{FF2B5EF4-FFF2-40B4-BE49-F238E27FC236}">
                    <a16:creationId xmlns:a16="http://schemas.microsoft.com/office/drawing/2014/main" id="{8F641A94-7DD8-458C-A757-E7025BA300B8}"/>
                  </a:ext>
                </a:extLst>
              </p:cNvPr>
              <p:cNvSpPr txBox="1">
                <a:spLocks noRot="1" noChangeAspect="1" noMove="1" noResize="1" noEditPoints="1" noAdjustHandles="1" noChangeArrowheads="1" noChangeShapeType="1" noTextEdit="1"/>
              </p:cNvSpPr>
              <p:nvPr/>
            </p:nvSpPr>
            <p:spPr bwMode="auto">
              <a:xfrm>
                <a:off x="1536700" y="1993107"/>
                <a:ext cx="6972303" cy="647701"/>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932" name="Object 5">
                <a:extLst>
                  <a:ext uri="{FF2B5EF4-FFF2-40B4-BE49-F238E27FC236}">
                    <a16:creationId xmlns:a16="http://schemas.microsoft.com/office/drawing/2014/main" id="{B9E81B05-BDAE-48F8-8775-C8C100ACA8E9}"/>
                  </a:ext>
                </a:extLst>
              </p:cNvPr>
              <p:cNvSpPr txBox="1"/>
              <p:nvPr/>
            </p:nvSpPr>
            <p:spPr bwMode="auto">
              <a:xfrm>
                <a:off x="1065216" y="3667126"/>
                <a:ext cx="5719762" cy="72548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𝐴</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𝑃</m:t>
                      </m:r>
                      <m:d>
                        <m:dPr>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0</m:t>
                              </m:r>
                            </m:sub>
                          </m:sSub>
                        </m:e>
                      </m:d>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0">
                          <a:solidFill>
                            <a:srgbClr val="000000"/>
                          </a:solidFill>
                          <a:latin typeface="Cambria Math" panose="02040503050406030204" pitchFamily="18" charset="0"/>
                        </a:rPr>
                        <m:t> </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𝑉</m:t>
                          </m:r>
                          <m:r>
                            <a:rPr lang="en-US" sz="2800" i="1">
                              <a:solidFill>
                                <a:srgbClr val="000000"/>
                              </a:solidFill>
                              <a:latin typeface="Cambria Math" panose="02040503050406030204" pitchFamily="18" charset="0"/>
                            </a:rPr>
                            <m:t>,</m:t>
                          </m:r>
                          <m:r>
                            <m:rPr>
                              <m:sty m:val="p"/>
                            </m:rPr>
                            <a:rPr lang="en-US" sz="2800" i="0">
                              <a:solidFill>
                                <a:srgbClr val="000000"/>
                              </a:solidFill>
                              <a:latin typeface="Cambria Math" panose="02040503050406030204" pitchFamily="18" charset="0"/>
                            </a:rPr>
                            <m:t>m</m:t>
                          </m:r>
                        </m:sub>
                      </m:sSub>
                      <m:d>
                        <m:dPr>
                          <m:ctrlPr>
                            <a:rPr lang="en-US" sz="2800" i="1">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e>
                      </m:d>
                    </m:oMath>
                  </m:oMathPara>
                </a14:m>
                <a:endParaRPr lang="en-US" sz="2800" dirty="0"/>
              </a:p>
            </p:txBody>
          </p:sp>
        </mc:Choice>
        <mc:Fallback>
          <p:sp>
            <p:nvSpPr>
              <p:cNvPr id="38932" name="Object 5">
                <a:extLst>
                  <a:ext uri="{FF2B5EF4-FFF2-40B4-BE49-F238E27FC236}">
                    <a16:creationId xmlns:a16="http://schemas.microsoft.com/office/drawing/2014/main" id="{B9E81B05-BDAE-48F8-8775-C8C100ACA8E9}"/>
                  </a:ext>
                </a:extLst>
              </p:cNvPr>
              <p:cNvSpPr txBox="1">
                <a:spLocks noRot="1" noChangeAspect="1" noMove="1" noResize="1" noEditPoints="1" noAdjustHandles="1" noChangeArrowheads="1" noChangeShapeType="1" noTextEdit="1"/>
              </p:cNvSpPr>
              <p:nvPr/>
            </p:nvSpPr>
            <p:spPr bwMode="auto">
              <a:xfrm>
                <a:off x="1065216" y="3667126"/>
                <a:ext cx="5719762" cy="725487"/>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933" name="Object 6">
                <a:extLst>
                  <a:ext uri="{FF2B5EF4-FFF2-40B4-BE49-F238E27FC236}">
                    <a16:creationId xmlns:a16="http://schemas.microsoft.com/office/drawing/2014/main" id="{704973FA-A128-41CC-B48D-032558C28FFD}"/>
                  </a:ext>
                </a:extLst>
              </p:cNvPr>
              <p:cNvSpPr txBox="1"/>
              <p:nvPr/>
            </p:nvSpPr>
            <p:spPr bwMode="auto">
              <a:xfrm>
                <a:off x="1719901" y="4376919"/>
                <a:ext cx="1641475" cy="1182687"/>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7</m:t>
                          </m:r>
                        </m:num>
                        <m:den>
                          <m:r>
                            <a:rPr lang="en-US" sz="2800" i="1">
                              <a:solidFill>
                                <a:srgbClr val="000000"/>
                              </a:solidFill>
                              <a:latin typeface="Cambria Math" panose="02040503050406030204" pitchFamily="18" charset="0"/>
                            </a:rPr>
                            <m:t>5</m:t>
                          </m:r>
                        </m:den>
                      </m:f>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oMath>
                  </m:oMathPara>
                </a14:m>
                <a:endParaRPr lang="en-US" sz="2800" dirty="0"/>
              </a:p>
            </p:txBody>
          </p:sp>
        </mc:Choice>
        <mc:Fallback>
          <p:sp>
            <p:nvSpPr>
              <p:cNvPr id="38933" name="Object 6">
                <a:extLst>
                  <a:ext uri="{FF2B5EF4-FFF2-40B4-BE49-F238E27FC236}">
                    <a16:creationId xmlns:a16="http://schemas.microsoft.com/office/drawing/2014/main" id="{704973FA-A128-41CC-B48D-032558C28FFD}"/>
                  </a:ext>
                </a:extLst>
              </p:cNvPr>
              <p:cNvSpPr txBox="1">
                <a:spLocks noRot="1" noChangeAspect="1" noMove="1" noResize="1" noEditPoints="1" noAdjustHandles="1" noChangeArrowheads="1" noChangeShapeType="1" noTextEdit="1"/>
              </p:cNvSpPr>
              <p:nvPr/>
            </p:nvSpPr>
            <p:spPr bwMode="auto">
              <a:xfrm>
                <a:off x="1719901" y="4376919"/>
                <a:ext cx="1641475" cy="1182687"/>
              </a:xfrm>
              <a:prstGeom prst="rect">
                <a:avLst/>
              </a:prstGeom>
              <a:blipFill>
                <a:blip r:embed="rId7"/>
                <a:stretch>
                  <a:fillRect/>
                </a:stretch>
              </a:blipFill>
              <a:ln>
                <a:noFill/>
              </a:ln>
              <a:effectLst/>
            </p:spPr>
            <p:txBody>
              <a:bodyPr/>
              <a:lstStyle/>
              <a:p>
                <a:r>
                  <a:rPr lang="en-US">
                    <a:noFill/>
                  </a:rPr>
                  <a:t> </a:t>
                </a:r>
              </a:p>
            </p:txBody>
          </p:sp>
        </mc:Fallback>
      </mc:AlternateContent>
      <p:sp>
        <p:nvSpPr>
          <p:cNvPr id="35" name="Text Box 2">
            <a:extLst>
              <a:ext uri="{FF2B5EF4-FFF2-40B4-BE49-F238E27FC236}">
                <a16:creationId xmlns:a16="http://schemas.microsoft.com/office/drawing/2014/main" id="{33B60A6B-A089-4120-85BA-9556848A1C7A}"/>
              </a:ext>
            </a:extLst>
          </p:cNvPr>
          <p:cNvSpPr txBox="1">
            <a:spLocks noChangeArrowheads="1"/>
          </p:cNvSpPr>
          <p:nvPr/>
        </p:nvSpPr>
        <p:spPr bwMode="auto">
          <a:xfrm>
            <a:off x="3709534" y="4714499"/>
            <a:ext cx="4493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00"/>
                </a:solidFill>
                <a:latin typeface="华文楷体" panose="02010600040101010101" pitchFamily="2" charset="-122"/>
                <a:ea typeface="华文楷体" panose="02010600040101010101" pitchFamily="2" charset="-122"/>
              </a:rPr>
              <a:t>设想一准静态等压升温过程</a:t>
            </a:r>
          </a:p>
        </p:txBody>
      </p:sp>
      <mc:AlternateContent xmlns:mc="http://schemas.openxmlformats.org/markup-compatibility/2006">
        <mc:Choice xmlns:a14="http://schemas.microsoft.com/office/drawing/2010/main" Requires="a14">
          <p:sp>
            <p:nvSpPr>
              <p:cNvPr id="36" name="Object 2">
                <a:extLst>
                  <a:ext uri="{FF2B5EF4-FFF2-40B4-BE49-F238E27FC236}">
                    <a16:creationId xmlns:a16="http://schemas.microsoft.com/office/drawing/2014/main" id="{878DDAD0-681D-4803-B587-DD1D3CC12991}"/>
                  </a:ext>
                </a:extLst>
              </p:cNvPr>
              <p:cNvSpPr txBox="1"/>
              <p:nvPr/>
            </p:nvSpPr>
            <p:spPr bwMode="auto">
              <a:xfrm>
                <a:off x="3503616" y="5561013"/>
                <a:ext cx="6910387" cy="11811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i="1">
                          <a:solidFill>
                            <a:srgbClr val="000000"/>
                          </a:solidFill>
                          <a:latin typeface="Cambria Math" panose="02040503050406030204" pitchFamily="18" charset="0"/>
                        </a:rPr>
                        <m:t>Δ</m:t>
                      </m:r>
                      <m:r>
                        <a:rPr lang="en-US" sz="2800" i="1">
                          <a:solidFill>
                            <a:srgbClr val="000000"/>
                          </a:solidFill>
                          <a:latin typeface="Cambria Math" panose="02040503050406030204" pitchFamily="18" charset="0"/>
                        </a:rPr>
                        <m:t>𝑆</m:t>
                      </m:r>
                      <m:r>
                        <a:rPr lang="en-US" sz="2800" i="1">
                          <a:solidFill>
                            <a:srgbClr val="000000"/>
                          </a:solidFill>
                          <a:latin typeface="Cambria Math" panose="02040503050406030204" pitchFamily="18" charset="0"/>
                        </a:rPr>
                        <m:t>=</m:t>
                      </m:r>
                      <m:nary>
                        <m:naryPr>
                          <m:ctrlPr>
                            <a:rPr lang="en-US" sz="2800" i="1">
                              <a:solidFill>
                                <a:srgbClr val="000000"/>
                              </a:solidFill>
                              <a:latin typeface="Cambria Math" panose="02040503050406030204" pitchFamily="18" charset="0"/>
                            </a:rPr>
                          </m:ctrlPr>
                        </m:naryPr>
                        <m:sub>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sub>
                        <m:sup>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sup>
                        <m:e>
                          <m:f>
                            <m:fPr>
                              <m:ctrlPr>
                                <a:rPr lang="en-US" sz="2800" i="1">
                                  <a:solidFill>
                                    <a:srgbClr val="000000"/>
                                  </a:solidFill>
                                  <a:latin typeface="Cambria Math" panose="02040503050406030204" pitchFamily="18" charset="0"/>
                                </a:rPr>
                              </m:ctrlPr>
                            </m:fPr>
                            <m:num>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𝑄</m:t>
                              </m:r>
                            </m:num>
                            <m:den>
                              <m:r>
                                <a:rPr lang="en-US" sz="2800" i="1">
                                  <a:solidFill>
                                    <a:srgbClr val="000000"/>
                                  </a:solidFill>
                                  <a:latin typeface="Cambria Math" panose="02040503050406030204" pitchFamily="18" charset="0"/>
                                </a:rPr>
                                <m:t>𝑇</m:t>
                              </m:r>
                            </m:den>
                          </m:f>
                        </m:e>
                      </m:nary>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nary>
                        <m:naryPr>
                          <m:ctrlPr>
                            <a:rPr lang="en-US" sz="2800" i="1">
                              <a:solidFill>
                                <a:srgbClr val="000000"/>
                              </a:solidFill>
                              <a:latin typeface="Cambria Math" panose="02040503050406030204" pitchFamily="18" charset="0"/>
                            </a:rPr>
                          </m:ctrlPr>
                        </m:naryPr>
                        <m:sub>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sub>
                        <m:sup>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sup>
                        <m:e>
                          <m:f>
                            <m:fPr>
                              <m:ctrlPr>
                                <a:rPr lang="en-US" sz="2800" i="1">
                                  <a:solidFill>
                                    <a:srgbClr val="000000"/>
                                  </a:solidFill>
                                  <a:latin typeface="Cambria Math" panose="02040503050406030204" pitchFamily="18" charset="0"/>
                                </a:rPr>
                              </m:ctrlPr>
                            </m:fPr>
                            <m:num>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𝐶</m:t>
                                  </m:r>
                                </m:e>
                                <m:sub>
                                  <m:r>
                                    <a:rPr lang="en-US" sz="2800" i="1">
                                      <a:solidFill>
                                        <a:srgbClr val="000000"/>
                                      </a:solidFill>
                                      <a:latin typeface="Cambria Math" panose="02040503050406030204" pitchFamily="18" charset="0"/>
                                    </a:rPr>
                                    <m:t>𝑃</m:t>
                                  </m:r>
                                </m:sub>
                              </m:sSub>
                              <m:r>
                                <m:rPr>
                                  <m:sty m:val="p"/>
                                </m:rPr>
                                <a:rPr lang="en-US" sz="2800" i="0">
                                  <a:solidFill>
                                    <a:srgbClr val="000000"/>
                                  </a:solidFill>
                                  <a:latin typeface="Cambria Math" panose="02040503050406030204" pitchFamily="18" charset="0"/>
                                </a:rPr>
                                <m:t>d</m:t>
                              </m:r>
                              <m:r>
                                <a:rPr lang="en-US" sz="2800" i="1">
                                  <a:solidFill>
                                    <a:srgbClr val="000000"/>
                                  </a:solidFill>
                                  <a:latin typeface="Cambria Math" panose="02040503050406030204" pitchFamily="18" charset="0"/>
                                </a:rPr>
                                <m:t>𝑇</m:t>
                              </m:r>
                            </m:num>
                            <m:den>
                              <m:r>
                                <a:rPr lang="en-US" sz="2800" i="1">
                                  <a:solidFill>
                                    <a:srgbClr val="000000"/>
                                  </a:solidFill>
                                  <a:latin typeface="Cambria Math" panose="02040503050406030204" pitchFamily="18" charset="0"/>
                                </a:rPr>
                                <m:t>𝑇</m:t>
                              </m:r>
                            </m:den>
                          </m:f>
                        </m:e>
                      </m:nary>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5</m:t>
                          </m:r>
                        </m:num>
                        <m:den>
                          <m:r>
                            <a:rPr lang="en-US" sz="2800" i="1">
                              <a:solidFill>
                                <a:srgbClr val="000000"/>
                              </a:solidFill>
                              <a:latin typeface="Cambria Math" panose="02040503050406030204" pitchFamily="18" charset="0"/>
                            </a:rPr>
                            <m:t>2</m:t>
                          </m:r>
                        </m:den>
                      </m:f>
                      <m:r>
                        <a:rPr lang="en-US" sz="2800" i="1">
                          <a:solidFill>
                            <a:srgbClr val="000000"/>
                          </a:solidFill>
                          <a:latin typeface="Cambria Math" panose="02040503050406030204" pitchFamily="18" charset="0"/>
                        </a:rPr>
                        <m:t>𝑅</m:t>
                      </m:r>
                      <m:func>
                        <m:funcPr>
                          <m:ctrlPr>
                            <a:rPr lang="en-US" sz="2800" i="1">
                              <a:solidFill>
                                <a:srgbClr val="000000"/>
                              </a:solidFill>
                              <a:latin typeface="Cambria Math" panose="02040503050406030204" pitchFamily="18" charset="0"/>
                            </a:rPr>
                          </m:ctrlPr>
                        </m:funcPr>
                        <m:fName>
                          <m:r>
                            <m:rPr>
                              <m:sty m:val="p"/>
                            </m:rPr>
                            <a:rPr lang="en-US" sz="2800" i="0">
                              <a:solidFill>
                                <a:srgbClr val="000000"/>
                              </a:solidFill>
                              <a:latin typeface="Cambria Math" panose="02040503050406030204" pitchFamily="18" charset="0"/>
                            </a:rPr>
                            <m:t>ln</m:t>
                          </m:r>
                        </m:fName>
                        <m:e>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7</m:t>
                              </m:r>
                            </m:num>
                            <m:den>
                              <m:r>
                                <a:rPr lang="en-US" sz="2800" i="1">
                                  <a:solidFill>
                                    <a:srgbClr val="000000"/>
                                  </a:solidFill>
                                  <a:latin typeface="Cambria Math" panose="02040503050406030204" pitchFamily="18" charset="0"/>
                                </a:rPr>
                                <m:t>5</m:t>
                              </m:r>
                            </m:den>
                          </m:f>
                        </m:e>
                      </m:func>
                    </m:oMath>
                  </m:oMathPara>
                </a14:m>
                <a:endParaRPr lang="en-US" sz="2800" dirty="0"/>
              </a:p>
            </p:txBody>
          </p:sp>
        </mc:Choice>
        <mc:Fallback>
          <p:sp>
            <p:nvSpPr>
              <p:cNvPr id="36" name="Object 2">
                <a:extLst>
                  <a:ext uri="{FF2B5EF4-FFF2-40B4-BE49-F238E27FC236}">
                    <a16:creationId xmlns:a16="http://schemas.microsoft.com/office/drawing/2014/main" id="{878DDAD0-681D-4803-B587-DD1D3CC12991}"/>
                  </a:ext>
                </a:extLst>
              </p:cNvPr>
              <p:cNvSpPr txBox="1">
                <a:spLocks noRot="1" noChangeAspect="1" noMove="1" noResize="1" noEditPoints="1" noAdjustHandles="1" noChangeArrowheads="1" noChangeShapeType="1" noTextEdit="1"/>
              </p:cNvSpPr>
              <p:nvPr/>
            </p:nvSpPr>
            <p:spPr bwMode="auto">
              <a:xfrm>
                <a:off x="3503616" y="5561013"/>
                <a:ext cx="6910387" cy="1181100"/>
              </a:xfrm>
              <a:prstGeom prst="rect">
                <a:avLst/>
              </a:prstGeom>
              <a:blipFill>
                <a:blip r:embed="rId8"/>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Object 4">
                <a:extLst>
                  <a:ext uri="{FF2B5EF4-FFF2-40B4-BE49-F238E27FC236}">
                    <a16:creationId xmlns:a16="http://schemas.microsoft.com/office/drawing/2014/main" id="{9CA02D8A-BC11-4FA2-AEE3-C5DFFD8401F8}"/>
                  </a:ext>
                </a:extLst>
              </p:cNvPr>
              <p:cNvSpPr txBox="1"/>
              <p:nvPr/>
            </p:nvSpPr>
            <p:spPr bwMode="auto">
              <a:xfrm>
                <a:off x="2347913" y="2815347"/>
                <a:ext cx="3973619" cy="647701"/>
              </a:xfrm>
              <a:prstGeom prst="rect">
                <a:avLst/>
              </a:prstGeom>
              <a:noFill/>
              <a:ln>
                <a:noFill/>
              </a:ln>
              <a:effectLst/>
            </p:spPr>
            <p:txBody>
              <a:bodyPr>
                <a:normAutofit/>
              </a:bodyPr>
              <a:lstStyle/>
              <a:p>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𝑃</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𝑉</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b="0" i="1" smtClean="0">
                          <a:solidFill>
                            <a:srgbClr val="000000"/>
                          </a:solidFill>
                          <a:latin typeface="Cambria Math" panose="02040503050406030204" pitchFamily="18" charset="0"/>
                        </a:rPr>
                        <m:t>)</m:t>
                      </m:r>
                    </m:oMath>
                  </m:oMathPara>
                </a14:m>
                <a:endParaRPr lang="en-US" sz="2800" dirty="0"/>
              </a:p>
            </p:txBody>
          </p:sp>
        </mc:Choice>
        <mc:Fallback>
          <p:sp>
            <p:nvSpPr>
              <p:cNvPr id="22" name="Object 4">
                <a:extLst>
                  <a:ext uri="{FF2B5EF4-FFF2-40B4-BE49-F238E27FC236}">
                    <a16:creationId xmlns:a16="http://schemas.microsoft.com/office/drawing/2014/main" id="{9CA02D8A-BC11-4FA2-AEE3-C5DFFD8401F8}"/>
                  </a:ext>
                </a:extLst>
              </p:cNvPr>
              <p:cNvSpPr txBox="1">
                <a:spLocks noRot="1" noChangeAspect="1" noMove="1" noResize="1" noEditPoints="1" noAdjustHandles="1" noChangeArrowheads="1" noChangeShapeType="1" noTextEdit="1"/>
              </p:cNvSpPr>
              <p:nvPr/>
            </p:nvSpPr>
            <p:spPr bwMode="auto">
              <a:xfrm>
                <a:off x="2347913" y="2815347"/>
                <a:ext cx="3973619" cy="647701"/>
              </a:xfrm>
              <a:prstGeom prst="rect">
                <a:avLst/>
              </a:prstGeom>
              <a:blipFill>
                <a:blip r:embed="rId9"/>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5620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89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930"/>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389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9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9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7" grpId="0" build="p" autoUpdateAnimBg="0"/>
      <p:bldP spid="38927" grpId="1"/>
      <p:bldP spid="38928" grpId="0"/>
      <p:bldP spid="38929" grpId="0" build="p" autoUpdateAnimBg="0"/>
      <p:bldP spid="38929" grpId="1"/>
      <p:bldP spid="38930" grpId="0"/>
      <p:bldP spid="38931" grpId="0"/>
      <p:bldP spid="38932" grpId="0"/>
      <p:bldP spid="38933" grpId="0"/>
      <p:bldP spid="35" grpId="0" build="p" autoUpdateAnimBg="0" advAuto="0"/>
      <p:bldP spid="35" grpId="1"/>
      <p:bldP spid="36"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Text Box 2"/>
          <p:cNvSpPr txBox="1"/>
          <p:nvPr/>
        </p:nvSpPr>
        <p:spPr>
          <a:xfrm>
            <a:off x="1396857" y="1355913"/>
            <a:ext cx="5283485" cy="523220"/>
          </a:xfrm>
          <a:prstGeom prst="rect">
            <a:avLst/>
          </a:prstGeom>
          <a:noFill/>
          <a:ln w="9525">
            <a:noFill/>
          </a:ln>
        </p:spPr>
        <p:txBody>
          <a:bodyPr wrap="square">
            <a:spAutoFit/>
          </a:bodyPr>
          <a:lstStyle/>
          <a:p>
            <a:pPr eaLnBrk="1" hangingPunct="1">
              <a:spcBef>
                <a:spcPct val="50000"/>
              </a:spcBef>
            </a:pPr>
            <a:r>
              <a:rPr lang="zh-CN" altLang="en-US" sz="2800" dirty="0">
                <a:solidFill>
                  <a:srgbClr val="000000"/>
                </a:solidFill>
                <a:latin typeface="Arial" panose="020B0604020202020204" pitchFamily="34" charset="0"/>
              </a:rPr>
              <a:t>孤立系统中的熵永不减少</a:t>
            </a:r>
            <a:endParaRPr lang="en-US" altLang="zh-CN" sz="2800" dirty="0">
              <a:solidFill>
                <a:srgbClr val="1C1C1C"/>
              </a:solidFill>
              <a:latin typeface="Arial" panose="020B0604020202020204" pitchFamily="34" charset="0"/>
            </a:endParaRPr>
          </a:p>
        </p:txBody>
      </p:sp>
      <p:grpSp>
        <p:nvGrpSpPr>
          <p:cNvPr id="2" name="Group 3"/>
          <p:cNvGrpSpPr/>
          <p:nvPr/>
        </p:nvGrpSpPr>
        <p:grpSpPr>
          <a:xfrm>
            <a:off x="1831369" y="3727138"/>
            <a:ext cx="7467600" cy="762000"/>
            <a:chOff x="912" y="2352"/>
            <a:chExt cx="4704" cy="480"/>
          </a:xfrm>
        </p:grpSpPr>
        <p:sp>
          <p:nvSpPr>
            <p:cNvPr id="34837" name="Text Box 4"/>
            <p:cNvSpPr txBox="1"/>
            <p:nvPr/>
          </p:nvSpPr>
          <p:spPr>
            <a:xfrm>
              <a:off x="912" y="2496"/>
              <a:ext cx="1392" cy="327"/>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平衡态 </a:t>
              </a:r>
              <a:r>
                <a:rPr lang="en-US" altLang="zh-CN" sz="2800" i="1" dirty="0">
                  <a:latin typeface="Times New Roman" panose="02020603050405020304" pitchFamily="18" charset="0"/>
                </a:rPr>
                <a:t>A</a:t>
              </a:r>
            </a:p>
          </p:txBody>
        </p:sp>
        <p:sp>
          <p:nvSpPr>
            <p:cNvPr id="34838" name="Text Box 5"/>
            <p:cNvSpPr txBox="1"/>
            <p:nvPr/>
          </p:nvSpPr>
          <p:spPr>
            <a:xfrm>
              <a:off x="3168" y="2505"/>
              <a:ext cx="2448" cy="327"/>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平衡态 </a:t>
              </a:r>
              <a:r>
                <a:rPr lang="en-US" altLang="zh-CN" sz="2800" i="1" dirty="0">
                  <a:latin typeface="Times New Roman" panose="02020603050405020304" pitchFamily="18" charset="0"/>
                </a:rPr>
                <a:t>B </a:t>
              </a:r>
              <a:r>
                <a:rPr lang="zh-CN" altLang="zh-CN" sz="2800" dirty="0">
                  <a:latin typeface="Arial" panose="020B0604020202020204" pitchFamily="34" charset="0"/>
                </a:rPr>
                <a:t>（</a:t>
              </a:r>
              <a:r>
                <a:rPr lang="zh-CN" altLang="en-US" sz="2800" dirty="0">
                  <a:latin typeface="Arial" panose="020B0604020202020204" pitchFamily="34" charset="0"/>
                </a:rPr>
                <a:t>熵不变）</a:t>
              </a:r>
            </a:p>
          </p:txBody>
        </p:sp>
        <p:sp>
          <p:nvSpPr>
            <p:cNvPr id="34839" name="Line 6"/>
            <p:cNvSpPr/>
            <p:nvPr/>
          </p:nvSpPr>
          <p:spPr>
            <a:xfrm>
              <a:off x="2064" y="2697"/>
              <a:ext cx="1104" cy="0"/>
            </a:xfrm>
            <a:prstGeom prst="line">
              <a:avLst/>
            </a:prstGeom>
            <a:ln w="38100" cap="flat" cmpd="sng">
              <a:solidFill>
                <a:srgbClr val="CC00CC"/>
              </a:solidFill>
              <a:prstDash val="solid"/>
              <a:headEnd type="none" w="med" len="med"/>
              <a:tailEnd type="triangle" w="sm" len="lg"/>
            </a:ln>
          </p:spPr>
        </p:sp>
        <p:sp>
          <p:nvSpPr>
            <p:cNvPr id="34840" name="Text Box 7"/>
            <p:cNvSpPr txBox="1"/>
            <p:nvPr/>
          </p:nvSpPr>
          <p:spPr>
            <a:xfrm>
              <a:off x="2064" y="2352"/>
              <a:ext cx="1728" cy="327"/>
            </a:xfrm>
            <a:prstGeom prst="rect">
              <a:avLst/>
            </a:prstGeom>
            <a:noFill/>
            <a:ln w="9525">
              <a:noFill/>
            </a:ln>
          </p:spPr>
          <p:txBody>
            <a:bodyPr>
              <a:spAutoFit/>
            </a:bodyPr>
            <a:lstStyle/>
            <a:p>
              <a:pPr eaLnBrk="1" hangingPunct="1">
                <a:spcBef>
                  <a:spcPct val="50000"/>
                </a:spcBef>
              </a:pPr>
              <a:r>
                <a:rPr lang="zh-CN" altLang="en-US" sz="2800" dirty="0">
                  <a:solidFill>
                    <a:srgbClr val="CC0000"/>
                  </a:solidFill>
                  <a:latin typeface="Arial" panose="020B0604020202020204" pitchFamily="34" charset="0"/>
                </a:rPr>
                <a:t>可逆</a:t>
              </a:r>
              <a:r>
                <a:rPr lang="zh-CN" altLang="en-US" sz="2800" dirty="0">
                  <a:latin typeface="Arial" panose="020B0604020202020204" pitchFamily="34" charset="0"/>
                </a:rPr>
                <a:t>过程</a:t>
              </a:r>
              <a:endParaRPr lang="zh-CN" altLang="en-US" sz="2800" dirty="0">
                <a:solidFill>
                  <a:srgbClr val="E80000"/>
                </a:solidFill>
                <a:latin typeface="Arial" panose="020B0604020202020204" pitchFamily="34" charset="0"/>
              </a:endParaRPr>
            </a:p>
          </p:txBody>
        </p:sp>
      </p:grpSp>
      <p:grpSp>
        <p:nvGrpSpPr>
          <p:cNvPr id="3" name="Group 8"/>
          <p:cNvGrpSpPr/>
          <p:nvPr/>
        </p:nvGrpSpPr>
        <p:grpSpPr>
          <a:xfrm>
            <a:off x="1831369" y="4565339"/>
            <a:ext cx="7391400" cy="976313"/>
            <a:chOff x="720" y="2745"/>
            <a:chExt cx="4656" cy="615"/>
          </a:xfrm>
        </p:grpSpPr>
        <p:sp>
          <p:nvSpPr>
            <p:cNvPr id="34832" name="Text Box 9"/>
            <p:cNvSpPr txBox="1"/>
            <p:nvPr/>
          </p:nvSpPr>
          <p:spPr>
            <a:xfrm>
              <a:off x="720" y="2880"/>
              <a:ext cx="1344" cy="327"/>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非平衡态</a:t>
              </a:r>
            </a:p>
          </p:txBody>
        </p:sp>
        <p:sp>
          <p:nvSpPr>
            <p:cNvPr id="34833" name="Text Box 10"/>
            <p:cNvSpPr txBox="1"/>
            <p:nvPr/>
          </p:nvSpPr>
          <p:spPr>
            <a:xfrm>
              <a:off x="3168" y="2880"/>
              <a:ext cx="2208" cy="327"/>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平衡态（熵增加） </a:t>
              </a:r>
            </a:p>
          </p:txBody>
        </p:sp>
        <p:sp>
          <p:nvSpPr>
            <p:cNvPr id="34834" name="Text Box 11"/>
            <p:cNvSpPr txBox="1"/>
            <p:nvPr/>
          </p:nvSpPr>
          <p:spPr>
            <a:xfrm>
              <a:off x="1824" y="2745"/>
              <a:ext cx="1584" cy="327"/>
            </a:xfrm>
            <a:prstGeom prst="rect">
              <a:avLst/>
            </a:prstGeom>
            <a:noFill/>
            <a:ln w="9525">
              <a:noFill/>
            </a:ln>
          </p:spPr>
          <p:txBody>
            <a:bodyPr>
              <a:spAutoFit/>
            </a:bodyPr>
            <a:lstStyle/>
            <a:p>
              <a:pPr eaLnBrk="1" hangingPunct="1">
                <a:spcBef>
                  <a:spcPct val="50000"/>
                </a:spcBef>
              </a:pPr>
              <a:r>
                <a:rPr lang="zh-CN" altLang="en-US" sz="2800" dirty="0">
                  <a:solidFill>
                    <a:srgbClr val="CC0000"/>
                  </a:solidFill>
                  <a:latin typeface="Arial" panose="020B0604020202020204" pitchFamily="34" charset="0"/>
                </a:rPr>
                <a:t>不可逆</a:t>
              </a:r>
              <a:r>
                <a:rPr lang="zh-CN" altLang="en-US" sz="2800" dirty="0">
                  <a:latin typeface="Arial" panose="020B0604020202020204" pitchFamily="34" charset="0"/>
                </a:rPr>
                <a:t>过程</a:t>
              </a:r>
              <a:endParaRPr lang="zh-CN" altLang="en-US" sz="2800" dirty="0">
                <a:solidFill>
                  <a:srgbClr val="6600CC"/>
                </a:solidFill>
                <a:latin typeface="Arial" panose="020B0604020202020204" pitchFamily="34" charset="0"/>
              </a:endParaRPr>
            </a:p>
          </p:txBody>
        </p:sp>
        <p:sp>
          <p:nvSpPr>
            <p:cNvPr id="34835" name="Text Box 12"/>
            <p:cNvSpPr txBox="1"/>
            <p:nvPr/>
          </p:nvSpPr>
          <p:spPr>
            <a:xfrm>
              <a:off x="1920" y="3033"/>
              <a:ext cx="1296" cy="327"/>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自发过程</a:t>
              </a:r>
              <a:endParaRPr lang="zh-CN" altLang="en-US" sz="2800" dirty="0">
                <a:solidFill>
                  <a:srgbClr val="CC6600"/>
                </a:solidFill>
                <a:latin typeface="Arial" panose="020B0604020202020204" pitchFamily="34" charset="0"/>
              </a:endParaRPr>
            </a:p>
          </p:txBody>
        </p:sp>
        <p:sp>
          <p:nvSpPr>
            <p:cNvPr id="34836" name="Line 13"/>
            <p:cNvSpPr/>
            <p:nvPr/>
          </p:nvSpPr>
          <p:spPr>
            <a:xfrm>
              <a:off x="1824" y="3072"/>
              <a:ext cx="1296" cy="0"/>
            </a:xfrm>
            <a:prstGeom prst="line">
              <a:avLst/>
            </a:prstGeom>
            <a:ln w="38100" cap="flat" cmpd="sng">
              <a:solidFill>
                <a:srgbClr val="0000FF"/>
              </a:solidFill>
              <a:prstDash val="solid"/>
              <a:headEnd type="none" w="med" len="med"/>
              <a:tailEnd type="triangle" w="sm" len="lg"/>
            </a:ln>
          </p:spPr>
        </p:sp>
      </p:grpSp>
      <p:grpSp>
        <p:nvGrpSpPr>
          <p:cNvPr id="4" name="Group 14"/>
          <p:cNvGrpSpPr/>
          <p:nvPr/>
        </p:nvGrpSpPr>
        <p:grpSpPr>
          <a:xfrm>
            <a:off x="2514600" y="2208275"/>
            <a:ext cx="5029200" cy="1128713"/>
            <a:chOff x="2112" y="816"/>
            <a:chExt cx="3168" cy="711"/>
          </a:xfrm>
        </p:grpSpPr>
        <p:grpSp>
          <p:nvGrpSpPr>
            <p:cNvPr id="34827" name="Group 15"/>
            <p:cNvGrpSpPr/>
            <p:nvPr/>
          </p:nvGrpSpPr>
          <p:grpSpPr>
            <a:xfrm>
              <a:off x="2112" y="816"/>
              <a:ext cx="3168" cy="327"/>
              <a:chOff x="768" y="1008"/>
              <a:chExt cx="3168" cy="327"/>
            </a:xfrm>
          </p:grpSpPr>
          <p:sp>
            <p:nvSpPr>
              <p:cNvPr id="34831" name="Text Box 16"/>
              <p:cNvSpPr txBox="1"/>
              <p:nvPr/>
            </p:nvSpPr>
            <p:spPr>
              <a:xfrm>
                <a:off x="768" y="1008"/>
                <a:ext cx="2592" cy="327"/>
              </a:xfrm>
              <a:prstGeom prst="rect">
                <a:avLst/>
              </a:prstGeom>
              <a:noFill/>
              <a:ln w="12700">
                <a:noFill/>
              </a:ln>
            </p:spPr>
            <p:txBody>
              <a:bodyPr>
                <a:spAutoFit/>
              </a:bodyPr>
              <a:lstStyle/>
              <a:p>
                <a:pPr eaLnBrk="1" hangingPunct="1">
                  <a:spcBef>
                    <a:spcPct val="50000"/>
                  </a:spcBef>
                </a:pPr>
                <a:r>
                  <a:rPr lang="en-US" altLang="zh-CN" sz="2800" dirty="0">
                    <a:latin typeface="Arial" panose="020B0604020202020204" pitchFamily="34" charset="0"/>
                  </a:rPr>
                  <a:t> - </a:t>
                </a:r>
                <a:r>
                  <a:rPr lang="zh-CN" altLang="en-US" sz="2800" dirty="0">
                    <a:solidFill>
                      <a:srgbClr val="000000"/>
                    </a:solidFill>
                    <a:latin typeface="Arial" panose="020B0604020202020204" pitchFamily="34" charset="0"/>
                  </a:rPr>
                  <a:t>孤立系统</a:t>
                </a:r>
                <a:r>
                  <a:rPr lang="zh-CN" altLang="en-US" sz="2800" dirty="0">
                    <a:solidFill>
                      <a:srgbClr val="CC0000"/>
                    </a:solidFill>
                    <a:latin typeface="Arial" panose="020B0604020202020204" pitchFamily="34" charset="0"/>
                  </a:rPr>
                  <a:t>不</a:t>
                </a:r>
                <a:r>
                  <a:rPr lang="zh-CN" altLang="en-US" sz="2800" dirty="0">
                    <a:latin typeface="Arial" panose="020B0604020202020204" pitchFamily="34" charset="0"/>
                  </a:rPr>
                  <a:t>可逆过程</a:t>
                </a:r>
              </a:p>
            </p:txBody>
          </p:sp>
          <mc:AlternateContent xmlns:mc="http://schemas.openxmlformats.org/markup-compatibility/2006" xmlns:a14="http://schemas.microsoft.com/office/drawing/2010/main">
            <mc:Choice Requires="a14">
              <p:sp>
                <p:nvSpPr>
                  <p:cNvPr id="34820" name="Object 17"/>
                  <p:cNvSpPr txBox="1"/>
                  <p:nvPr/>
                </p:nvSpPr>
                <p:spPr>
                  <a:xfrm>
                    <a:off x="3072" y="1008"/>
                    <a:ext cx="864" cy="288"/>
                  </a:xfrm>
                  <a:prstGeom prst="rect">
                    <a:avLst/>
                  </a:prstGeom>
                  <a:no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&gt;0</m:t>
                          </m:r>
                        </m:oMath>
                      </m:oMathPara>
                    </a14:m>
                    <a:endParaRPr lang="zh-CN" altLang="en-US" sz="2800"/>
                  </a:p>
                </p:txBody>
              </p:sp>
            </mc:Choice>
            <mc:Fallback xmlns="">
              <p:sp>
                <p:nvSpPr>
                  <p:cNvPr id="34820" name="Object 17"/>
                  <p:cNvSpPr txBox="1">
                    <a:spLocks noRot="1" noChangeAspect="1" noMove="1" noResize="1" noEditPoints="1" noAdjustHandles="1" noChangeArrowheads="1" noChangeShapeType="1" noTextEdit="1"/>
                  </p:cNvSpPr>
                  <p:nvPr/>
                </p:nvSpPr>
                <p:spPr>
                  <a:xfrm>
                    <a:off x="3072" y="1008"/>
                    <a:ext cx="864" cy="288"/>
                  </a:xfrm>
                  <a:prstGeom prst="rect">
                    <a:avLst/>
                  </a:prstGeom>
                  <a:blipFill>
                    <a:blip r:embed="rId2"/>
                    <a:stretch>
                      <a:fillRect l="-1333"/>
                    </a:stretch>
                  </a:blipFill>
                  <a:ln w="38100">
                    <a:noFill/>
                    <a:miter/>
                  </a:ln>
                </p:spPr>
                <p:txBody>
                  <a:bodyPr/>
                  <a:lstStyle/>
                  <a:p>
                    <a:r>
                      <a:rPr lang="zh-CN" altLang="en-US">
                        <a:noFill/>
                      </a:rPr>
                      <a:t> </a:t>
                    </a:r>
                  </a:p>
                </p:txBody>
              </p:sp>
            </mc:Fallback>
          </mc:AlternateContent>
        </p:grpSp>
        <p:grpSp>
          <p:nvGrpSpPr>
            <p:cNvPr id="34828" name="Group 18"/>
            <p:cNvGrpSpPr/>
            <p:nvPr/>
          </p:nvGrpSpPr>
          <p:grpSpPr>
            <a:xfrm>
              <a:off x="2160" y="1200"/>
              <a:ext cx="3120" cy="327"/>
              <a:chOff x="2160" y="1200"/>
              <a:chExt cx="3120" cy="327"/>
            </a:xfrm>
          </p:grpSpPr>
          <p:sp>
            <p:nvSpPr>
              <p:cNvPr id="34830" name="Rectangle 19"/>
              <p:cNvSpPr/>
              <p:nvPr/>
            </p:nvSpPr>
            <p:spPr>
              <a:xfrm>
                <a:off x="2160" y="1200"/>
                <a:ext cx="2448" cy="327"/>
              </a:xfrm>
              <a:prstGeom prst="rect">
                <a:avLst/>
              </a:prstGeom>
              <a:noFill/>
              <a:ln w="9525">
                <a:noFill/>
              </a:ln>
            </p:spPr>
            <p:txBody>
              <a:bodyPr>
                <a:spAutoFit/>
              </a:bodyPr>
              <a:lstStyle/>
              <a:p>
                <a:pPr eaLnBrk="1" hangingPunct="1">
                  <a:spcBef>
                    <a:spcPct val="50000"/>
                  </a:spcBef>
                </a:pPr>
                <a:r>
                  <a:rPr lang="en-US" altLang="zh-CN" sz="2800" dirty="0">
                    <a:solidFill>
                      <a:srgbClr val="000000"/>
                    </a:solidFill>
                    <a:latin typeface="Arial" panose="020B0604020202020204" pitchFamily="34" charset="0"/>
                  </a:rPr>
                  <a:t>- </a:t>
                </a:r>
                <a:r>
                  <a:rPr lang="zh-CN" altLang="en-US" sz="2800" dirty="0">
                    <a:solidFill>
                      <a:srgbClr val="000000"/>
                    </a:solidFill>
                    <a:latin typeface="Arial" panose="020B0604020202020204" pitchFamily="34" charset="0"/>
                  </a:rPr>
                  <a:t>孤立系统</a:t>
                </a:r>
                <a:r>
                  <a:rPr lang="zh-CN" altLang="en-US" sz="2800" dirty="0">
                    <a:solidFill>
                      <a:srgbClr val="CC0000"/>
                    </a:solidFill>
                    <a:latin typeface="Arial" panose="020B0604020202020204" pitchFamily="34" charset="0"/>
                  </a:rPr>
                  <a:t>可逆</a:t>
                </a:r>
                <a:r>
                  <a:rPr lang="zh-CN" altLang="en-US" sz="2800" dirty="0">
                    <a:latin typeface="Arial" panose="020B0604020202020204" pitchFamily="34" charset="0"/>
                  </a:rPr>
                  <a:t>过程</a:t>
                </a:r>
              </a:p>
            </p:txBody>
          </p:sp>
          <mc:AlternateContent xmlns:mc="http://schemas.openxmlformats.org/markup-compatibility/2006" xmlns:a14="http://schemas.microsoft.com/office/drawing/2010/main">
            <mc:Choice Requires="a14">
              <p:sp>
                <p:nvSpPr>
                  <p:cNvPr id="34819" name="Object 20"/>
                  <p:cNvSpPr txBox="1"/>
                  <p:nvPr/>
                </p:nvSpPr>
                <p:spPr>
                  <a:xfrm>
                    <a:off x="4416" y="1200"/>
                    <a:ext cx="864" cy="288"/>
                  </a:xfrm>
                  <a:prstGeom prst="rect">
                    <a:avLst/>
                  </a:prstGeom>
                  <a:no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=0</m:t>
                          </m:r>
                        </m:oMath>
                      </m:oMathPara>
                    </a14:m>
                    <a:endParaRPr lang="zh-CN" altLang="en-US" sz="2800"/>
                  </a:p>
                </p:txBody>
              </p:sp>
            </mc:Choice>
            <mc:Fallback xmlns="">
              <p:sp>
                <p:nvSpPr>
                  <p:cNvPr id="34819" name="Object 20"/>
                  <p:cNvSpPr txBox="1">
                    <a:spLocks noRot="1" noChangeAspect="1" noMove="1" noResize="1" noEditPoints="1" noAdjustHandles="1" noChangeArrowheads="1" noChangeShapeType="1" noTextEdit="1"/>
                  </p:cNvSpPr>
                  <p:nvPr/>
                </p:nvSpPr>
                <p:spPr>
                  <a:xfrm>
                    <a:off x="4416" y="1200"/>
                    <a:ext cx="864" cy="288"/>
                  </a:xfrm>
                  <a:prstGeom prst="rect">
                    <a:avLst/>
                  </a:prstGeom>
                  <a:blipFill>
                    <a:blip r:embed="rId3"/>
                    <a:stretch>
                      <a:fillRect l="-1333"/>
                    </a:stretch>
                  </a:blipFill>
                  <a:ln w="38100">
                    <a:noFill/>
                    <a:miter/>
                  </a:ln>
                </p:spPr>
                <p:txBody>
                  <a:bodyPr/>
                  <a:lstStyle/>
                  <a:p>
                    <a:r>
                      <a:rPr lang="zh-CN" altLang="en-US">
                        <a:noFill/>
                      </a:rPr>
                      <a:t> </a:t>
                    </a:r>
                  </a:p>
                </p:txBody>
              </p:sp>
            </mc:Fallback>
          </mc:AlternateContent>
        </p:grpSp>
      </p:grpSp>
      <mc:AlternateContent xmlns:mc="http://schemas.openxmlformats.org/markup-compatibility/2006" xmlns:a14="http://schemas.microsoft.com/office/drawing/2010/main">
        <mc:Choice Requires="a14">
          <p:sp>
            <p:nvSpPr>
              <p:cNvPr id="545814" name="Object 22"/>
              <p:cNvSpPr txBox="1"/>
              <p:nvPr/>
            </p:nvSpPr>
            <p:spPr>
              <a:xfrm>
                <a:off x="5961150" y="1047875"/>
                <a:ext cx="3691419" cy="602457"/>
              </a:xfrm>
              <a:prstGeom prst="rect">
                <a:avLst/>
              </a:prstGeom>
              <a:solidFill>
                <a:schemeClr val="bg1"/>
              </a:solidFill>
              <a:ln w="9525" cap="flat" cmpd="sng">
                <a:solidFill>
                  <a:schemeClr val="bg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m:t>
                          </m:r>
                        </m:sub>
                        <m:sup>
                          <m:r>
                            <a:rPr lang="zh-CN" altLang="en-US" sz="280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545814" name="Object 22"/>
              <p:cNvSpPr txBox="1">
                <a:spLocks noRot="1" noChangeAspect="1" noMove="1" noResize="1" noEditPoints="1" noAdjustHandles="1" noChangeArrowheads="1" noChangeShapeType="1" noTextEdit="1"/>
              </p:cNvSpPr>
              <p:nvPr/>
            </p:nvSpPr>
            <p:spPr>
              <a:xfrm>
                <a:off x="5961150" y="1047875"/>
                <a:ext cx="3691419" cy="602457"/>
              </a:xfrm>
              <a:prstGeom prst="rect">
                <a:avLst/>
              </a:prstGeom>
              <a:blipFill>
                <a:blip r:embed="rId4"/>
                <a:stretch>
                  <a:fillRect b="-64356"/>
                </a:stretch>
              </a:blipFill>
              <a:ln w="9525" cap="flat" cmpd="sng">
                <a:solidFill>
                  <a:schemeClr val="bg1"/>
                </a:solidFill>
                <a:prstDash val="solid"/>
                <a:miter/>
                <a:headEnd type="none" w="med" len="med"/>
                <a:tailEnd type="none" w="med" len="med"/>
              </a:ln>
            </p:spPr>
            <p:txBody>
              <a:bodyPr/>
              <a:lstStyle/>
              <a:p>
                <a:r>
                  <a:rPr lang="zh-CN" altLang="en-US">
                    <a:noFill/>
                  </a:rPr>
                  <a:t> </a:t>
                </a:r>
              </a:p>
            </p:txBody>
          </p:sp>
        </mc:Fallback>
      </mc:AlternateContent>
      <p:sp>
        <p:nvSpPr>
          <p:cNvPr id="5" name="Text Box 13">
            <a:hlinkClick r:id="" action="ppaction://noaction"/>
            <a:extLst>
              <a:ext uri="{FF2B5EF4-FFF2-40B4-BE49-F238E27FC236}">
                <a16:creationId xmlns:a16="http://schemas.microsoft.com/office/drawing/2014/main" id="{6BEEFB65-5E29-DF21-1268-03F1EF8AE16B}"/>
              </a:ext>
            </a:extLst>
          </p:cNvPr>
          <p:cNvSpPr txBox="1">
            <a:spLocks noChangeArrowheads="1"/>
          </p:cNvSpPr>
          <p:nvPr/>
        </p:nvSpPr>
        <p:spPr bwMode="auto">
          <a:xfrm>
            <a:off x="574057" y="405824"/>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熵增加原理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a:extLst>
              <a:ext uri="{FF2B5EF4-FFF2-40B4-BE49-F238E27FC236}">
                <a16:creationId xmlns:a16="http://schemas.microsoft.com/office/drawing/2014/main" id="{A3D386F7-5189-0B58-E3EF-C83F1F142A5F}"/>
              </a:ext>
            </a:extLst>
          </p:cNvPr>
          <p:cNvSpPr>
            <a:spLocks noChangeArrowheads="1"/>
          </p:cNvSpPr>
          <p:nvPr/>
        </p:nvSpPr>
        <p:spPr bwMode="auto">
          <a:xfrm>
            <a:off x="2552681" y="3342975"/>
            <a:ext cx="2746482" cy="1093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20000"/>
              </a:lnSpc>
            </a:pPr>
            <a:r>
              <a:rPr lang="zh-CN" altLang="zh-CN" sz="2800" dirty="0">
                <a:solidFill>
                  <a:srgbClr val="000000"/>
                </a:solidFill>
              </a:rPr>
              <a:t>某平衡态熵的绝对值</a:t>
            </a:r>
          </a:p>
        </p:txBody>
      </p:sp>
      <p:sp>
        <p:nvSpPr>
          <p:cNvPr id="79876" name="Rectangle 4">
            <a:extLst>
              <a:ext uri="{FF2B5EF4-FFF2-40B4-BE49-F238E27FC236}">
                <a16:creationId xmlns:a16="http://schemas.microsoft.com/office/drawing/2014/main" id="{0A8EBA25-A802-7F89-0B1E-33C74BD29B13}"/>
              </a:ext>
            </a:extLst>
          </p:cNvPr>
          <p:cNvSpPr>
            <a:spLocks noChangeArrowheads="1"/>
          </p:cNvSpPr>
          <p:nvPr/>
        </p:nvSpPr>
        <p:spPr bwMode="auto">
          <a:xfrm>
            <a:off x="6008669" y="3221377"/>
            <a:ext cx="3541160" cy="1599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20000"/>
              </a:lnSpc>
            </a:pPr>
            <a:r>
              <a:rPr lang="zh-CN" altLang="zh-CN" sz="2800" dirty="0">
                <a:solidFill>
                  <a:srgbClr val="000000"/>
                </a:solidFill>
              </a:rPr>
              <a:t>从一个平衡态到另一个平衡态的过程中熵的变化</a:t>
            </a:r>
          </a:p>
        </p:txBody>
      </p:sp>
      <p:sp>
        <p:nvSpPr>
          <p:cNvPr id="79877" name="Rectangle 5">
            <a:extLst>
              <a:ext uri="{FF2B5EF4-FFF2-40B4-BE49-F238E27FC236}">
                <a16:creationId xmlns:a16="http://schemas.microsoft.com/office/drawing/2014/main" id="{E21F4F76-B799-A8B8-42A7-1B1187ED9217}"/>
              </a:ext>
            </a:extLst>
          </p:cNvPr>
          <p:cNvSpPr>
            <a:spLocks noChangeArrowheads="1"/>
          </p:cNvSpPr>
          <p:nvPr/>
        </p:nvSpPr>
        <p:spPr bwMode="auto">
          <a:xfrm>
            <a:off x="2141996" y="5292269"/>
            <a:ext cx="3734434" cy="576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zh-CN" sz="2800" dirty="0"/>
              <a:t>对非平衡态也有意义</a:t>
            </a:r>
          </a:p>
        </p:txBody>
      </p:sp>
      <p:sp>
        <p:nvSpPr>
          <p:cNvPr id="79878" name="Rectangle 6">
            <a:extLst>
              <a:ext uri="{FF2B5EF4-FFF2-40B4-BE49-F238E27FC236}">
                <a16:creationId xmlns:a16="http://schemas.microsoft.com/office/drawing/2014/main" id="{271AA4C1-32E4-EA53-F53F-D52B85C1C2A0}"/>
              </a:ext>
            </a:extLst>
          </p:cNvPr>
          <p:cNvSpPr>
            <a:spLocks noChangeArrowheads="1"/>
          </p:cNvSpPr>
          <p:nvPr/>
        </p:nvSpPr>
        <p:spPr bwMode="auto">
          <a:xfrm>
            <a:off x="5775756" y="5002628"/>
            <a:ext cx="4212933" cy="1093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zh-CN" sz="2800" dirty="0"/>
              <a:t>只对系统的平衡态有意义</a:t>
            </a:r>
            <a:r>
              <a:rPr lang="zh-CN" altLang="en-US" sz="2800" dirty="0"/>
              <a:t>，</a:t>
            </a:r>
            <a:r>
              <a:rPr lang="zh-CN" altLang="zh-CN" sz="2800" dirty="0"/>
              <a:t>是系统平衡态的函数</a:t>
            </a:r>
          </a:p>
        </p:txBody>
      </p:sp>
      <mc:AlternateContent xmlns:mc="http://schemas.openxmlformats.org/markup-compatibility/2006">
        <mc:Choice xmlns:a14="http://schemas.microsoft.com/office/drawing/2010/main" Requires="a14">
          <p:sp>
            <p:nvSpPr>
              <p:cNvPr id="79879" name="Object 7">
                <a:extLst>
                  <a:ext uri="{FF2B5EF4-FFF2-40B4-BE49-F238E27FC236}">
                    <a16:creationId xmlns:a16="http://schemas.microsoft.com/office/drawing/2014/main" id="{F3741B3E-79CF-654E-2DCE-C1E9C88B0452}"/>
                  </a:ext>
                </a:extLst>
              </p:cNvPr>
              <p:cNvSpPr txBox="1"/>
              <p:nvPr/>
            </p:nvSpPr>
            <p:spPr bwMode="auto">
              <a:xfrm>
                <a:off x="3117038" y="2141611"/>
                <a:ext cx="1784350" cy="44132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𝑆</m:t>
                      </m:r>
                      <m:r>
                        <a:rPr lang="zh-CN" altLang="en-US" sz="2800" b="0" i="1" smtClean="0">
                          <a:solidFill>
                            <a:srgbClr val="000000"/>
                          </a:solidFill>
                          <a:latin typeface="Cambria Math" panose="02040503050406030204" pitchFamily="18" charset="0"/>
                        </a:rPr>
                        <m:t>=</m:t>
                      </m:r>
                      <m:r>
                        <a:rPr lang="zh-CN" altLang="en-US" sz="2800" b="0" i="1" smtClean="0">
                          <a:solidFill>
                            <a:srgbClr val="000000"/>
                          </a:solidFill>
                          <a:latin typeface="Cambria Math" panose="02040503050406030204" pitchFamily="18" charset="0"/>
                        </a:rPr>
                        <m:t>𝑘</m:t>
                      </m:r>
                      <m:func>
                        <m:funcPr>
                          <m:ctrlPr>
                            <a:rPr lang="zh-CN" altLang="en-US" sz="2800" i="1">
                              <a:solidFill>
                                <a:srgbClr val="000000"/>
                              </a:solidFill>
                              <a:latin typeface="Cambria Math" panose="02040503050406030204" pitchFamily="18" charset="0"/>
                            </a:rPr>
                          </m:ctrlPr>
                        </m:funcPr>
                        <m:fName>
                          <m:r>
                            <m:rPr>
                              <m:sty m:val="p"/>
                            </m:rPr>
                            <a:rPr lang="zh-CN" altLang="en-US" sz="2800" b="0" i="0">
                              <a:solidFill>
                                <a:srgbClr val="000000"/>
                              </a:solidFill>
                              <a:latin typeface="Cambria Math" panose="02040503050406030204" pitchFamily="18" charset="0"/>
                            </a:rPr>
                            <m:t>ln</m:t>
                          </m:r>
                        </m:fName>
                        <m:e>
                          <m:r>
                            <m:rPr>
                              <m:nor/>
                            </m:rPr>
                            <a:rPr kumimoji="1" lang="en-US" altLang="zh-CN" sz="2800" i="1" dirty="0" smtClean="0">
                              <a:solidFill>
                                <a:schemeClr val="tx1"/>
                              </a:solidFill>
                              <a:ea typeface="黑体" panose="02010609060101010101" pitchFamily="49" charset="-122"/>
                              <a:sym typeface="Symbol" panose="05050102010706020507" pitchFamily="18" charset="2"/>
                            </a:rPr>
                            <m:t></m:t>
                          </m:r>
                        </m:e>
                      </m:func>
                    </m:oMath>
                  </m:oMathPara>
                </a14:m>
                <a:endParaRPr lang="zh-CN" altLang="en-US" sz="2800" dirty="0"/>
              </a:p>
            </p:txBody>
          </p:sp>
        </mc:Choice>
        <mc:Fallback>
          <p:sp>
            <p:nvSpPr>
              <p:cNvPr id="79879" name="Object 7">
                <a:extLst>
                  <a:ext uri="{FF2B5EF4-FFF2-40B4-BE49-F238E27FC236}">
                    <a16:creationId xmlns:a16="http://schemas.microsoft.com/office/drawing/2014/main" id="{F3741B3E-79CF-654E-2DCE-C1E9C88B0452}"/>
                  </a:ext>
                </a:extLst>
              </p:cNvPr>
              <p:cNvSpPr txBox="1">
                <a:spLocks noRot="1" noChangeAspect="1" noMove="1" noResize="1" noEditPoints="1" noAdjustHandles="1" noChangeArrowheads="1" noChangeShapeType="1" noTextEdit="1"/>
              </p:cNvSpPr>
              <p:nvPr/>
            </p:nvSpPr>
            <p:spPr bwMode="auto">
              <a:xfrm>
                <a:off x="3117038" y="2141611"/>
                <a:ext cx="1784350" cy="441325"/>
              </a:xfrm>
              <a:prstGeom prst="rect">
                <a:avLst/>
              </a:prstGeom>
              <a:blipFill>
                <a:blip r:embed="rId2"/>
                <a:stretch>
                  <a:fillRect l="-341"/>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880" name="Object 8">
                <a:extLst>
                  <a:ext uri="{FF2B5EF4-FFF2-40B4-BE49-F238E27FC236}">
                    <a16:creationId xmlns:a16="http://schemas.microsoft.com/office/drawing/2014/main" id="{5B2EEBBE-9863-3107-539B-D178D7F8675A}"/>
                  </a:ext>
                </a:extLst>
              </p:cNvPr>
              <p:cNvSpPr txBox="1"/>
              <p:nvPr/>
            </p:nvSpPr>
            <p:spPr bwMode="auto">
              <a:xfrm>
                <a:off x="6084869" y="1898989"/>
                <a:ext cx="3276600" cy="855662"/>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zh-CN" altLang="en-US" sz="2800" b="0" i="1" smtClean="0">
                          <a:solidFill>
                            <a:srgbClr val="000000"/>
                          </a:solidFill>
                          <a:latin typeface="Cambria Math" panose="02040503050406030204" pitchFamily="18" charset="0"/>
                        </a:rPr>
                        <m:t>𝛥</m:t>
                      </m:r>
                      <m:r>
                        <a:rPr lang="zh-CN" altLang="en-US" sz="2800" b="0" i="1" smtClean="0">
                          <a:solidFill>
                            <a:srgbClr val="000000"/>
                          </a:solidFill>
                          <a:latin typeface="Cambria Math" panose="02040503050406030204" pitchFamily="18" charset="0"/>
                        </a:rPr>
                        <m:t>𝑆</m:t>
                      </m:r>
                      <m:r>
                        <a:rPr lang="zh-CN" altLang="en-US" sz="2800" b="0" i="1" smtClean="0">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𝑆</m:t>
                          </m:r>
                        </m:e>
                        <m:sub>
                          <m:r>
                            <a:rPr lang="zh-CN" altLang="en-US" sz="2800" b="0" i="1">
                              <a:solidFill>
                                <a:srgbClr val="000000"/>
                              </a:solidFill>
                              <a:latin typeface="Cambria Math" panose="02040503050406030204" pitchFamily="18" charset="0"/>
                            </a:rPr>
                            <m:t>𝐵</m:t>
                          </m:r>
                        </m:sub>
                      </m:sSub>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𝑆</m:t>
                          </m:r>
                        </m:e>
                        <m:sub>
                          <m:r>
                            <a:rPr lang="zh-CN" altLang="en-US" sz="2800" b="0" i="1">
                              <a:solidFill>
                                <a:srgbClr val="000000"/>
                              </a:solidFill>
                              <a:latin typeface="Cambria Math" panose="02040503050406030204" pitchFamily="18" charset="0"/>
                            </a:rPr>
                            <m:t>𝐴</m:t>
                          </m:r>
                        </m:sub>
                      </m:sSub>
                      <m:r>
                        <a:rPr lang="zh-CN" altLang="en-US" sz="2800" b="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𝐴</m:t>
                          </m:r>
                        </m:sub>
                        <m:sup>
                          <m:r>
                            <a:rPr lang="zh-CN" altLang="en-US" sz="2800" b="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𝑑𝑄</m:t>
                              </m:r>
                            </m:num>
                            <m:den>
                              <m:r>
                                <a:rPr lang="zh-CN" altLang="en-US" sz="2800" b="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79880" name="Object 8">
                <a:extLst>
                  <a:ext uri="{FF2B5EF4-FFF2-40B4-BE49-F238E27FC236}">
                    <a16:creationId xmlns:a16="http://schemas.microsoft.com/office/drawing/2014/main" id="{5B2EEBBE-9863-3107-539B-D178D7F8675A}"/>
                  </a:ext>
                </a:extLst>
              </p:cNvPr>
              <p:cNvSpPr txBox="1">
                <a:spLocks noRot="1" noChangeAspect="1" noMove="1" noResize="1" noEditPoints="1" noAdjustHandles="1" noChangeArrowheads="1" noChangeShapeType="1" noTextEdit="1"/>
              </p:cNvSpPr>
              <p:nvPr/>
            </p:nvSpPr>
            <p:spPr bwMode="auto">
              <a:xfrm>
                <a:off x="6084869" y="1898989"/>
                <a:ext cx="3276600" cy="855662"/>
              </a:xfrm>
              <a:prstGeom prst="rect">
                <a:avLst/>
              </a:prstGeom>
              <a:blipFill>
                <a:blip r:embed="rId3"/>
                <a:stretch>
                  <a:fillRect/>
                </a:stretch>
              </a:blipFill>
              <a:ln>
                <a:noFill/>
              </a:ln>
              <a:effectLst/>
            </p:spPr>
            <p:txBody>
              <a:bodyPr/>
              <a:lstStyle/>
              <a:p>
                <a:r>
                  <a:rPr lang="zh-CN" altLang="en-US">
                    <a:noFill/>
                  </a:rPr>
                  <a:t> </a:t>
                </a:r>
              </a:p>
            </p:txBody>
          </p:sp>
        </mc:Fallback>
      </mc:AlternateContent>
      <p:grpSp>
        <p:nvGrpSpPr>
          <p:cNvPr id="79881" name="Group 9">
            <a:extLst>
              <a:ext uri="{FF2B5EF4-FFF2-40B4-BE49-F238E27FC236}">
                <a16:creationId xmlns:a16="http://schemas.microsoft.com/office/drawing/2014/main" id="{C5A33BAB-1A9C-3E82-026A-381F031C3296}"/>
              </a:ext>
            </a:extLst>
          </p:cNvPr>
          <p:cNvGrpSpPr>
            <a:grpSpLocks/>
          </p:cNvGrpSpPr>
          <p:nvPr/>
        </p:nvGrpSpPr>
        <p:grpSpPr bwMode="auto">
          <a:xfrm>
            <a:off x="1970069" y="1183026"/>
            <a:ext cx="8077200" cy="5029200"/>
            <a:chOff x="0" y="0"/>
            <a:chExt cx="5088" cy="3168"/>
          </a:xfrm>
        </p:grpSpPr>
        <p:sp>
          <p:nvSpPr>
            <p:cNvPr id="79882" name="Rectangle 10">
              <a:extLst>
                <a:ext uri="{FF2B5EF4-FFF2-40B4-BE49-F238E27FC236}">
                  <a16:creationId xmlns:a16="http://schemas.microsoft.com/office/drawing/2014/main" id="{4F178200-28B6-0851-2FC2-4545983DAD57}"/>
                </a:ext>
              </a:extLst>
            </p:cNvPr>
            <p:cNvSpPr>
              <a:spLocks noChangeArrowheads="1"/>
            </p:cNvSpPr>
            <p:nvPr/>
          </p:nvSpPr>
          <p:spPr bwMode="auto">
            <a:xfrm>
              <a:off x="2976" y="3"/>
              <a:ext cx="1247" cy="365"/>
            </a:xfrm>
            <a:prstGeom prst="rect">
              <a:avLst/>
            </a:prstGeom>
            <a:noFill/>
            <a:ln w="9525" cmpd="sng">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zh-CN" sz="2800" dirty="0">
                  <a:solidFill>
                    <a:srgbClr val="FF0000"/>
                  </a:solidFill>
                </a:rPr>
                <a:t>克劳修斯熵</a:t>
              </a:r>
            </a:p>
          </p:txBody>
        </p:sp>
        <p:sp>
          <p:nvSpPr>
            <p:cNvPr id="79883" name="Rectangle 11">
              <a:extLst>
                <a:ext uri="{FF2B5EF4-FFF2-40B4-BE49-F238E27FC236}">
                  <a16:creationId xmlns:a16="http://schemas.microsoft.com/office/drawing/2014/main" id="{9AE4C57E-0C43-92AE-D61A-5934F074056F}"/>
                </a:ext>
              </a:extLst>
            </p:cNvPr>
            <p:cNvSpPr>
              <a:spLocks noChangeArrowheads="1"/>
            </p:cNvSpPr>
            <p:nvPr/>
          </p:nvSpPr>
          <p:spPr bwMode="auto">
            <a:xfrm>
              <a:off x="576" y="3"/>
              <a:ext cx="1247" cy="365"/>
            </a:xfrm>
            <a:prstGeom prst="rect">
              <a:avLst/>
            </a:prstGeom>
            <a:noFill/>
            <a:ln w="9525" cmpd="sng">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zh-CN" sz="2800" dirty="0">
                  <a:solidFill>
                    <a:srgbClr val="FF0000"/>
                  </a:solidFill>
                </a:rPr>
                <a:t>玻耳兹曼熵</a:t>
              </a:r>
            </a:p>
          </p:txBody>
        </p:sp>
        <p:sp>
          <p:nvSpPr>
            <p:cNvPr id="79884" name="Line 12">
              <a:extLst>
                <a:ext uri="{FF2B5EF4-FFF2-40B4-BE49-F238E27FC236}">
                  <a16:creationId xmlns:a16="http://schemas.microsoft.com/office/drawing/2014/main" id="{8BF67806-2C3F-8D27-93E0-3C36DF2C3518}"/>
                </a:ext>
              </a:extLst>
            </p:cNvPr>
            <p:cNvSpPr>
              <a:spLocks noChangeShapeType="1"/>
            </p:cNvSpPr>
            <p:nvPr/>
          </p:nvSpPr>
          <p:spPr bwMode="auto">
            <a:xfrm flipV="1">
              <a:off x="0" y="2400"/>
              <a:ext cx="5088" cy="0"/>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85" name="Line 13">
              <a:extLst>
                <a:ext uri="{FF2B5EF4-FFF2-40B4-BE49-F238E27FC236}">
                  <a16:creationId xmlns:a16="http://schemas.microsoft.com/office/drawing/2014/main" id="{7F7AD5C8-B56F-26AD-679E-485A91235F4B}"/>
                </a:ext>
              </a:extLst>
            </p:cNvPr>
            <p:cNvSpPr>
              <a:spLocks noChangeShapeType="1"/>
            </p:cNvSpPr>
            <p:nvPr/>
          </p:nvSpPr>
          <p:spPr bwMode="auto">
            <a:xfrm>
              <a:off x="0" y="0"/>
              <a:ext cx="0" cy="3168"/>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86" name="Line 14">
              <a:extLst>
                <a:ext uri="{FF2B5EF4-FFF2-40B4-BE49-F238E27FC236}">
                  <a16:creationId xmlns:a16="http://schemas.microsoft.com/office/drawing/2014/main" id="{AF8038A7-766A-1722-1941-EF9272BDE5DE}"/>
                </a:ext>
              </a:extLst>
            </p:cNvPr>
            <p:cNvSpPr>
              <a:spLocks noChangeShapeType="1"/>
            </p:cNvSpPr>
            <p:nvPr/>
          </p:nvSpPr>
          <p:spPr bwMode="auto">
            <a:xfrm>
              <a:off x="0" y="3168"/>
              <a:ext cx="5088" cy="0"/>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87" name="Line 15">
              <a:extLst>
                <a:ext uri="{FF2B5EF4-FFF2-40B4-BE49-F238E27FC236}">
                  <a16:creationId xmlns:a16="http://schemas.microsoft.com/office/drawing/2014/main" id="{EF556AC7-79A0-4712-EA89-EF17F0AEDFC3}"/>
                </a:ext>
              </a:extLst>
            </p:cNvPr>
            <p:cNvSpPr>
              <a:spLocks noChangeShapeType="1"/>
            </p:cNvSpPr>
            <p:nvPr/>
          </p:nvSpPr>
          <p:spPr bwMode="auto">
            <a:xfrm>
              <a:off x="5088" y="0"/>
              <a:ext cx="0" cy="3168"/>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88" name="Line 16">
              <a:extLst>
                <a:ext uri="{FF2B5EF4-FFF2-40B4-BE49-F238E27FC236}">
                  <a16:creationId xmlns:a16="http://schemas.microsoft.com/office/drawing/2014/main" id="{02AEC9A1-405F-CD1E-E077-1A906B33BB38}"/>
                </a:ext>
              </a:extLst>
            </p:cNvPr>
            <p:cNvSpPr>
              <a:spLocks noChangeShapeType="1"/>
            </p:cNvSpPr>
            <p:nvPr/>
          </p:nvSpPr>
          <p:spPr bwMode="auto">
            <a:xfrm>
              <a:off x="2304" y="0"/>
              <a:ext cx="0" cy="3168"/>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89" name="Line 17">
              <a:extLst>
                <a:ext uri="{FF2B5EF4-FFF2-40B4-BE49-F238E27FC236}">
                  <a16:creationId xmlns:a16="http://schemas.microsoft.com/office/drawing/2014/main" id="{9B4940F8-7C76-E218-FF6E-0A5E97A6BDC9}"/>
                </a:ext>
              </a:extLst>
            </p:cNvPr>
            <p:cNvSpPr>
              <a:spLocks noChangeShapeType="1"/>
            </p:cNvSpPr>
            <p:nvPr/>
          </p:nvSpPr>
          <p:spPr bwMode="auto">
            <a:xfrm flipV="1">
              <a:off x="0" y="0"/>
              <a:ext cx="5088" cy="0"/>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90" name="Line 18">
              <a:extLst>
                <a:ext uri="{FF2B5EF4-FFF2-40B4-BE49-F238E27FC236}">
                  <a16:creationId xmlns:a16="http://schemas.microsoft.com/office/drawing/2014/main" id="{B47339D5-D769-7950-C22C-19ACAA5833A4}"/>
                </a:ext>
              </a:extLst>
            </p:cNvPr>
            <p:cNvSpPr>
              <a:spLocks noChangeShapeType="1"/>
            </p:cNvSpPr>
            <p:nvPr/>
          </p:nvSpPr>
          <p:spPr bwMode="auto">
            <a:xfrm flipV="1">
              <a:off x="0" y="432"/>
              <a:ext cx="5088" cy="0"/>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9891" name="Line 19">
              <a:extLst>
                <a:ext uri="{FF2B5EF4-FFF2-40B4-BE49-F238E27FC236}">
                  <a16:creationId xmlns:a16="http://schemas.microsoft.com/office/drawing/2014/main" id="{373B8E16-282B-B0EA-EC54-462869DC1C12}"/>
                </a:ext>
              </a:extLst>
            </p:cNvPr>
            <p:cNvSpPr>
              <a:spLocks noChangeShapeType="1"/>
            </p:cNvSpPr>
            <p:nvPr/>
          </p:nvSpPr>
          <p:spPr bwMode="auto">
            <a:xfrm flipV="1">
              <a:off x="0" y="1152"/>
              <a:ext cx="5088" cy="0"/>
            </a:xfrm>
            <a:prstGeom prst="line">
              <a:avLst/>
            </a:prstGeom>
            <a:noFill/>
            <a:ln w="9525" cmpd="sng">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2" name="Text Box 13">
            <a:hlinkClick r:id="" action="ppaction://noaction"/>
            <a:extLst>
              <a:ext uri="{FF2B5EF4-FFF2-40B4-BE49-F238E27FC236}">
                <a16:creationId xmlns:a16="http://schemas.microsoft.com/office/drawing/2014/main" id="{BB63BDD3-DCE3-79FF-B5CA-CE98A10FDCB3}"/>
              </a:ext>
            </a:extLst>
          </p:cNvPr>
          <p:cNvSpPr txBox="1">
            <a:spLocks noChangeArrowheads="1"/>
          </p:cNvSpPr>
          <p:nvPr/>
        </p:nvSpPr>
        <p:spPr bwMode="auto">
          <a:xfrm>
            <a:off x="574057" y="405824"/>
            <a:ext cx="86932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克劳修斯熵与玻耳兹曼熵</a:t>
            </a:r>
          </a:p>
        </p:txBody>
      </p:sp>
    </p:spTree>
    <p:extLst>
      <p:ext uri="{BB962C8B-B14F-4D97-AF65-F5344CB8AC3E}">
        <p14:creationId xmlns:p14="http://schemas.microsoft.com/office/powerpoint/2010/main" val="22568042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8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8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798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798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798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79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autoUpdateAnimBg="0"/>
      <p:bldP spid="79875" grpId="1"/>
      <p:bldP spid="79876" grpId="0" autoUpdateAnimBg="0"/>
      <p:bldP spid="79876" grpId="1"/>
      <p:bldP spid="79877" grpId="0" autoUpdateAnimBg="0"/>
      <p:bldP spid="79877" grpId="1"/>
      <p:bldP spid="79878" grpId="0" autoUpdateAnimBg="0"/>
      <p:bldP spid="79878" grpId="1"/>
      <p:bldP spid="79879" grpId="0"/>
      <p:bldP spid="7988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BB63BDD3-DCE3-79FF-B5CA-CE98A10FDCB3}"/>
              </a:ext>
            </a:extLst>
          </p:cNvPr>
          <p:cNvSpPr txBox="1">
            <a:spLocks noChangeArrowheads="1"/>
          </p:cNvSpPr>
          <p:nvPr/>
        </p:nvSpPr>
        <p:spPr bwMode="auto">
          <a:xfrm>
            <a:off x="574057" y="405824"/>
            <a:ext cx="86932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克劳修斯熵与玻耳兹曼熵的等价关系</a:t>
            </a:r>
          </a:p>
        </p:txBody>
      </p:sp>
      <p:sp>
        <p:nvSpPr>
          <p:cNvPr id="3" name="Text Box 2">
            <a:extLst>
              <a:ext uri="{FF2B5EF4-FFF2-40B4-BE49-F238E27FC236}">
                <a16:creationId xmlns:a16="http://schemas.microsoft.com/office/drawing/2014/main" id="{5F837BB0-AD31-959F-E48A-3EA33464B405}"/>
              </a:ext>
            </a:extLst>
          </p:cNvPr>
          <p:cNvSpPr txBox="1"/>
          <p:nvPr/>
        </p:nvSpPr>
        <p:spPr>
          <a:xfrm>
            <a:off x="2806788" y="1048089"/>
            <a:ext cx="8229600" cy="519113"/>
          </a:xfrm>
          <a:prstGeom prst="rect">
            <a:avLst/>
          </a:prstGeom>
          <a:noFill/>
          <a:ln w="9525">
            <a:noFill/>
          </a:ln>
        </p:spPr>
        <p:txBody>
          <a:bodyPr>
            <a:spAutoFit/>
          </a:bodyPr>
          <a:lstStyle/>
          <a:p>
            <a:pPr eaLnBrk="1" hangingPunct="1">
              <a:spcBef>
                <a:spcPct val="50000"/>
              </a:spcBef>
            </a:pPr>
            <a:r>
              <a:rPr lang="zh-CN" altLang="en-US" sz="2800" dirty="0">
                <a:latin typeface="Arial" panose="020B0604020202020204" pitchFamily="34" charset="0"/>
              </a:rPr>
              <a:t>理想气体向真空自由膨胀中的熵变</a:t>
            </a:r>
            <a:endParaRPr lang="en-US" altLang="zh-CN" sz="2800" dirty="0">
              <a:latin typeface="Arial" panose="020B0604020202020204" pitchFamily="34" charset="0"/>
            </a:endParaRPr>
          </a:p>
        </p:txBody>
      </p:sp>
      <p:grpSp>
        <p:nvGrpSpPr>
          <p:cNvPr id="4" name="Group 9">
            <a:extLst>
              <a:ext uri="{FF2B5EF4-FFF2-40B4-BE49-F238E27FC236}">
                <a16:creationId xmlns:a16="http://schemas.microsoft.com/office/drawing/2014/main" id="{2BBEBB55-D7D6-81C5-A89A-16E25584F1AF}"/>
              </a:ext>
            </a:extLst>
          </p:cNvPr>
          <p:cNvGrpSpPr/>
          <p:nvPr/>
        </p:nvGrpSpPr>
        <p:grpSpPr>
          <a:xfrm>
            <a:off x="5618251" y="1864760"/>
            <a:ext cx="3048000" cy="1524000"/>
            <a:chOff x="2592" y="864"/>
            <a:chExt cx="1920" cy="960"/>
          </a:xfrm>
        </p:grpSpPr>
        <mc:AlternateContent xmlns:mc="http://schemas.openxmlformats.org/markup-compatibility/2006" xmlns:a14="http://schemas.microsoft.com/office/drawing/2010/main">
          <mc:Choice Requires="a14">
            <p:sp>
              <p:nvSpPr>
                <p:cNvPr id="5" name="Object 10">
                  <a:extLst>
                    <a:ext uri="{FF2B5EF4-FFF2-40B4-BE49-F238E27FC236}">
                      <a16:creationId xmlns:a16="http://schemas.microsoft.com/office/drawing/2014/main" id="{4493E723-80FC-25D6-E183-7CCE43F785F4}"/>
                    </a:ext>
                  </a:extLst>
                </p:cNvPr>
                <p:cNvSpPr txBox="1"/>
                <p:nvPr/>
              </p:nvSpPr>
              <p:spPr>
                <a:xfrm>
                  <a:off x="3360" y="1515"/>
                  <a:ext cx="1057" cy="30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5850" name="Object 10"/>
                <p:cNvSpPr txBox="1">
                  <a:spLocks noRot="1" noChangeAspect="1" noMove="1" noResize="1" noEditPoints="1" noAdjustHandles="1" noChangeArrowheads="1" noChangeShapeType="1" noTextEdit="1"/>
                </p:cNvSpPr>
                <p:nvPr/>
              </p:nvSpPr>
              <p:spPr>
                <a:xfrm>
                  <a:off x="3360" y="1515"/>
                  <a:ext cx="1057" cy="309"/>
                </a:xfrm>
                <a:prstGeom prst="rect">
                  <a:avLst/>
                </a:prstGeom>
                <a:blipFill>
                  <a:blip r:embed="rId5"/>
                  <a:stretch>
                    <a:fillRect l="-1091"/>
                  </a:stretch>
                </a:blipFill>
                <a:ln w="38100">
                  <a:noFill/>
                  <a:miter/>
                </a:ln>
              </p:spPr>
              <p:txBody>
                <a:bodyPr/>
                <a:lstStyle/>
                <a:p>
                  <a:r>
                    <a:rPr lang="zh-CN" altLang="en-US">
                      <a:noFill/>
                    </a:rPr>
                    <a:t> </a:t>
                  </a:r>
                </a:p>
              </p:txBody>
            </p:sp>
          </mc:Fallback>
        </mc:AlternateContent>
        <p:grpSp>
          <p:nvGrpSpPr>
            <p:cNvPr id="6" name="Group 11">
              <a:extLst>
                <a:ext uri="{FF2B5EF4-FFF2-40B4-BE49-F238E27FC236}">
                  <a16:creationId xmlns:a16="http://schemas.microsoft.com/office/drawing/2014/main" id="{AB5B91DA-91E6-B13A-7F67-66D076837B0A}"/>
                </a:ext>
              </a:extLst>
            </p:cNvPr>
            <p:cNvGrpSpPr/>
            <p:nvPr/>
          </p:nvGrpSpPr>
          <p:grpSpPr>
            <a:xfrm>
              <a:off x="2592" y="864"/>
              <a:ext cx="1920" cy="655"/>
              <a:chOff x="2496" y="864"/>
              <a:chExt cx="2160" cy="720"/>
            </a:xfrm>
          </p:grpSpPr>
          <p:sp>
            <p:nvSpPr>
              <p:cNvPr id="7" name="AutoShape 12">
                <a:extLst>
                  <a:ext uri="{FF2B5EF4-FFF2-40B4-BE49-F238E27FC236}">
                    <a16:creationId xmlns:a16="http://schemas.microsoft.com/office/drawing/2014/main" id="{49984DF6-F81C-CE16-7E1A-C1B30DA2F835}"/>
                  </a:ext>
                </a:extLst>
              </p:cNvPr>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nvGrpSpPr>
              <p:cNvPr id="8" name="Group 13">
                <a:extLst>
                  <a:ext uri="{FF2B5EF4-FFF2-40B4-BE49-F238E27FC236}">
                    <a16:creationId xmlns:a16="http://schemas.microsoft.com/office/drawing/2014/main" id="{00FD300D-CFA8-D770-2974-BD26FCA4EF3D}"/>
                  </a:ext>
                </a:extLst>
              </p:cNvPr>
              <p:cNvGrpSpPr/>
              <p:nvPr/>
            </p:nvGrpSpPr>
            <p:grpSpPr>
              <a:xfrm>
                <a:off x="3168" y="864"/>
                <a:ext cx="1488" cy="720"/>
                <a:chOff x="2976" y="816"/>
                <a:chExt cx="1488" cy="720"/>
              </a:xfrm>
            </p:grpSpPr>
            <p:sp>
              <p:nvSpPr>
                <p:cNvPr id="9" name="AutoShape 14">
                  <a:extLst>
                    <a:ext uri="{FF2B5EF4-FFF2-40B4-BE49-F238E27FC236}">
                      <a16:creationId xmlns:a16="http://schemas.microsoft.com/office/drawing/2014/main" id="{274C5361-5F70-DF80-5FB2-E7D6E0344ABC}"/>
                    </a:ext>
                  </a:extLst>
                </p:cNvPr>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0" name="Rectangle 15" descr="10%">
                  <a:extLst>
                    <a:ext uri="{FF2B5EF4-FFF2-40B4-BE49-F238E27FC236}">
                      <a16:creationId xmlns:a16="http://schemas.microsoft.com/office/drawing/2014/main" id="{CEBDA8CD-673E-CB28-3A4C-162DB104BEDC}"/>
                    </a:ext>
                  </a:extLst>
                </p:cNvPr>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grpSp>
      <p:grpSp>
        <p:nvGrpSpPr>
          <p:cNvPr id="11" name="Group 16">
            <a:extLst>
              <a:ext uri="{FF2B5EF4-FFF2-40B4-BE49-F238E27FC236}">
                <a16:creationId xmlns:a16="http://schemas.microsoft.com/office/drawing/2014/main" id="{8FCF6031-B7DA-11B6-CCB5-A785481E234F}"/>
              </a:ext>
            </a:extLst>
          </p:cNvPr>
          <p:cNvGrpSpPr/>
          <p:nvPr/>
        </p:nvGrpSpPr>
        <p:grpSpPr>
          <a:xfrm>
            <a:off x="3332251" y="1712360"/>
            <a:ext cx="2133600" cy="1676400"/>
            <a:chOff x="1152" y="768"/>
            <a:chExt cx="1344" cy="1056"/>
          </a:xfrm>
        </p:grpSpPr>
        <mc:AlternateContent xmlns:mc="http://schemas.openxmlformats.org/markup-compatibility/2006" xmlns:a14="http://schemas.microsoft.com/office/drawing/2010/main">
          <mc:Choice Requires="a14">
            <p:sp>
              <p:nvSpPr>
                <p:cNvPr id="12" name="Object 17">
                  <a:extLst>
                    <a:ext uri="{FF2B5EF4-FFF2-40B4-BE49-F238E27FC236}">
                      <a16:creationId xmlns:a16="http://schemas.microsoft.com/office/drawing/2014/main" id="{5B948416-D99F-6FB1-F65E-12008523477E}"/>
                    </a:ext>
                  </a:extLst>
                </p:cNvPr>
                <p:cNvSpPr txBox="1"/>
                <p:nvPr/>
              </p:nvSpPr>
              <p:spPr>
                <a:xfrm>
                  <a:off x="1296" y="1506"/>
                  <a:ext cx="1066" cy="31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r>
                          <a:rPr lang="zh-CN" altLang="en-US" i="1">
                            <a:solidFill>
                              <a:srgbClr val="000000"/>
                            </a:solidFill>
                            <a:latin typeface="Cambria Math" panose="02040503050406030204" pitchFamily="18" charset="0"/>
                          </a:rPr>
                          <m:t>)</m:t>
                        </m:r>
                      </m:oMath>
                    </m:oMathPara>
                  </a14:m>
                  <a:endParaRPr lang="zh-CN" altLang="en-US"/>
                </a:p>
              </p:txBody>
            </p:sp>
          </mc:Choice>
          <mc:Fallback xmlns="">
            <p:sp>
              <p:nvSpPr>
                <p:cNvPr id="35849" name="Object 17"/>
                <p:cNvSpPr txBox="1">
                  <a:spLocks noRot="1" noChangeAspect="1" noMove="1" noResize="1" noEditPoints="1" noAdjustHandles="1" noChangeArrowheads="1" noChangeShapeType="1" noTextEdit="1"/>
                </p:cNvSpPr>
                <p:nvPr/>
              </p:nvSpPr>
              <p:spPr>
                <a:xfrm>
                  <a:off x="1296" y="1506"/>
                  <a:ext cx="1066" cy="318"/>
                </a:xfrm>
                <a:prstGeom prst="rect">
                  <a:avLst/>
                </a:prstGeom>
                <a:blipFill>
                  <a:blip r:embed="rId6"/>
                  <a:stretch>
                    <a:fillRect l="-1083"/>
                  </a:stretch>
                </a:blipFill>
                <a:ln w="38100">
                  <a:noFill/>
                  <a:miter/>
                </a:ln>
              </p:spPr>
              <p:txBody>
                <a:bodyPr/>
                <a:lstStyle/>
                <a:p>
                  <a:r>
                    <a:rPr lang="zh-CN" altLang="en-US">
                      <a:noFill/>
                    </a:rPr>
                    <a:t> </a:t>
                  </a:r>
                </a:p>
              </p:txBody>
            </p:sp>
          </mc:Fallback>
        </mc:AlternateContent>
        <p:grpSp>
          <p:nvGrpSpPr>
            <p:cNvPr id="13" name="Group 18">
              <a:extLst>
                <a:ext uri="{FF2B5EF4-FFF2-40B4-BE49-F238E27FC236}">
                  <a16:creationId xmlns:a16="http://schemas.microsoft.com/office/drawing/2014/main" id="{DA96F0CF-FE9A-4D5B-1DF5-8AD5B914432C}"/>
                </a:ext>
              </a:extLst>
            </p:cNvPr>
            <p:cNvGrpSpPr/>
            <p:nvPr/>
          </p:nvGrpSpPr>
          <p:grpSpPr>
            <a:xfrm>
              <a:off x="1152" y="856"/>
              <a:ext cx="1344" cy="663"/>
              <a:chOff x="1632" y="816"/>
              <a:chExt cx="1488" cy="720"/>
            </a:xfrm>
          </p:grpSpPr>
          <p:sp>
            <p:nvSpPr>
              <p:cNvPr id="17" name="AutoShape 19">
                <a:extLst>
                  <a:ext uri="{FF2B5EF4-FFF2-40B4-BE49-F238E27FC236}">
                    <a16:creationId xmlns:a16="http://schemas.microsoft.com/office/drawing/2014/main" id="{BA42597B-7506-0161-D45D-6639DE25CA8A}"/>
                  </a:ext>
                </a:extLst>
              </p:cNvPr>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8" name="Rectangle 20">
                <a:extLst>
                  <a:ext uri="{FF2B5EF4-FFF2-40B4-BE49-F238E27FC236}">
                    <a16:creationId xmlns:a16="http://schemas.microsoft.com/office/drawing/2014/main" id="{18220901-011C-0762-637C-6F7FB1320C39}"/>
                  </a:ext>
                </a:extLst>
              </p:cNvPr>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14" name="Rectangle 21" descr="20%">
              <a:extLst>
                <a:ext uri="{FF2B5EF4-FFF2-40B4-BE49-F238E27FC236}">
                  <a16:creationId xmlns:a16="http://schemas.microsoft.com/office/drawing/2014/main" id="{888E893D-EEC3-1D5B-0C60-738912A44698}"/>
                </a:ext>
              </a:extLst>
            </p:cNvPr>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 name="Line 22">
              <a:extLst>
                <a:ext uri="{FF2B5EF4-FFF2-40B4-BE49-F238E27FC236}">
                  <a16:creationId xmlns:a16="http://schemas.microsoft.com/office/drawing/2014/main" id="{433D4F17-9CA6-A69A-64A1-207D77B2BA63}"/>
                </a:ext>
              </a:extLst>
            </p:cNvPr>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16" name="Line 23">
              <a:extLst>
                <a:ext uri="{FF2B5EF4-FFF2-40B4-BE49-F238E27FC236}">
                  <a16:creationId xmlns:a16="http://schemas.microsoft.com/office/drawing/2014/main" id="{CECAE5FC-C20C-E6A6-11B3-C0B47223B1D1}"/>
                </a:ext>
              </a:extLst>
            </p:cNvPr>
            <p:cNvSpPr/>
            <p:nvPr/>
          </p:nvSpPr>
          <p:spPr>
            <a:xfrm>
              <a:off x="1716" y="768"/>
              <a:ext cx="173" cy="0"/>
            </a:xfrm>
            <a:prstGeom prst="line">
              <a:avLst/>
            </a:prstGeom>
            <a:ln w="57150" cap="flat" cmpd="sng">
              <a:solidFill>
                <a:srgbClr val="996633"/>
              </a:solidFill>
              <a:prstDash val="solid"/>
              <a:headEnd type="none" w="med" len="med"/>
              <a:tailEnd type="none" w="med" len="med"/>
            </a:ln>
          </p:spPr>
        </p:sp>
      </p:grpSp>
      <p:sp>
        <p:nvSpPr>
          <p:cNvPr id="19" name="Text Box 4">
            <a:extLst>
              <a:ext uri="{FF2B5EF4-FFF2-40B4-BE49-F238E27FC236}">
                <a16:creationId xmlns:a16="http://schemas.microsoft.com/office/drawing/2014/main" id="{67F052D4-A833-71D4-F883-26887F1B77A4}"/>
              </a:ext>
            </a:extLst>
          </p:cNvPr>
          <p:cNvSpPr txBox="1"/>
          <p:nvPr/>
        </p:nvSpPr>
        <p:spPr>
          <a:xfrm>
            <a:off x="4864187" y="3658943"/>
            <a:ext cx="5790113" cy="946150"/>
          </a:xfrm>
          <a:prstGeom prst="rect">
            <a:avLst/>
          </a:prstGeom>
          <a:noFill/>
          <a:ln w="9525">
            <a:noFill/>
          </a:ln>
        </p:spPr>
        <p:txBody>
          <a:bodyPr wrap="square">
            <a:spAutoFit/>
          </a:bodyPr>
          <a:lstStyle/>
          <a:p>
            <a:pPr eaLnBrk="1" hangingPunct="1">
              <a:spcBef>
                <a:spcPct val="50000"/>
              </a:spcBef>
            </a:pPr>
            <a:r>
              <a:rPr lang="zh-CN" altLang="en-US" sz="2800" dirty="0">
                <a:latin typeface="Arial" panose="020B0604020202020204" pitchFamily="34" charset="0"/>
              </a:rPr>
              <a:t>在态</a:t>
            </a:r>
            <a:r>
              <a:rPr lang="en-US" altLang="zh-CN" sz="2800" dirty="0">
                <a:latin typeface="Arial" panose="020B0604020202020204" pitchFamily="34" charset="0"/>
              </a:rPr>
              <a:t>1</a:t>
            </a:r>
            <a:r>
              <a:rPr lang="zh-CN" altLang="en-US" sz="2800" dirty="0">
                <a:latin typeface="Arial" panose="020B0604020202020204" pitchFamily="34" charset="0"/>
              </a:rPr>
              <a:t>和态</a:t>
            </a:r>
            <a:r>
              <a:rPr lang="en-US" altLang="zh-CN" sz="2800" dirty="0">
                <a:latin typeface="Arial" panose="020B0604020202020204" pitchFamily="34" charset="0"/>
              </a:rPr>
              <a:t>2</a:t>
            </a:r>
            <a:r>
              <a:rPr lang="zh-CN" altLang="en-US" sz="2800" dirty="0">
                <a:latin typeface="Arial" panose="020B0604020202020204" pitchFamily="34" charset="0"/>
              </a:rPr>
              <a:t>之间假设一可逆（但是非孤立）等温膨胀过程</a:t>
            </a:r>
            <a:endParaRPr lang="zh-CN" altLang="en-US" sz="2800" dirty="0">
              <a:solidFill>
                <a:srgbClr val="3333CC"/>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20" name="Object 5">
                <a:extLst>
                  <a:ext uri="{FF2B5EF4-FFF2-40B4-BE49-F238E27FC236}">
                    <a16:creationId xmlns:a16="http://schemas.microsoft.com/office/drawing/2014/main" id="{EE4FC0BF-C347-D8F1-7943-6F7E6F7491CF}"/>
                  </a:ext>
                </a:extLst>
              </p:cNvPr>
              <p:cNvSpPr txBox="1"/>
              <p:nvPr/>
            </p:nvSpPr>
            <p:spPr>
              <a:xfrm>
                <a:off x="5050247" y="4794058"/>
                <a:ext cx="6081802" cy="99218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1</m:t>
                          </m:r>
                        </m:sub>
                        <m:sup>
                          <m:r>
                            <a:rPr lang="zh-CN" altLang="en-US" sz="2800" i="1">
                              <a:solidFill>
                                <a:srgbClr val="000000"/>
                              </a:solidFill>
                              <a:latin typeface="Cambria Math" panose="02040503050406030204" pitchFamily="18" charset="0"/>
                            </a:rPr>
                            <m:t>2</m:t>
                          </m:r>
                        </m:sup>
                        <m:e>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𝑄</m:t>
                              </m:r>
                            </m:num>
                            <m:den>
                              <m:r>
                                <a:rPr lang="zh-CN" altLang="en-US" sz="2800" i="1">
                                  <a:solidFill>
                                    <a:srgbClr val="000000"/>
                                  </a:solidFill>
                                  <a:latin typeface="Cambria Math" panose="02040503050406030204" pitchFamily="18" charset="0"/>
                                </a:rPr>
                                <m:t>𝑇</m:t>
                              </m:r>
                            </m:den>
                          </m:f>
                        </m:e>
                      </m:nary>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sup>
                        <m:e>
                          <m:r>
                            <a:rPr lang="en-US" altLang="zh-CN"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m:t>
                          </m:r>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𝑉</m:t>
                              </m:r>
                            </m:num>
                            <m:den>
                              <m:r>
                                <a:rPr lang="zh-CN" altLang="en-US" sz="2800" i="1">
                                  <a:solidFill>
                                    <a:srgbClr val="000000"/>
                                  </a:solidFill>
                                  <a:latin typeface="Cambria Math" panose="02040503050406030204" pitchFamily="18" charset="0"/>
                                </a:rPr>
                                <m:t>𝑉</m:t>
                              </m:r>
                            </m:den>
                          </m:f>
                        </m:e>
                      </m:nary>
                    </m:oMath>
                  </m:oMathPara>
                </a14:m>
                <a:endParaRPr lang="zh-CN" altLang="en-US" sz="2800" dirty="0"/>
              </a:p>
            </p:txBody>
          </p:sp>
        </mc:Choice>
        <mc:Fallback xmlns="">
          <p:sp>
            <p:nvSpPr>
              <p:cNvPr id="20" name="Object 5">
                <a:extLst>
                  <a:ext uri="{FF2B5EF4-FFF2-40B4-BE49-F238E27FC236}">
                    <a16:creationId xmlns:a16="http://schemas.microsoft.com/office/drawing/2014/main" id="{EE4FC0BF-C347-D8F1-7943-6F7E6F7491CF}"/>
                  </a:ext>
                </a:extLst>
              </p:cNvPr>
              <p:cNvSpPr txBox="1">
                <a:spLocks noRot="1" noChangeAspect="1" noMove="1" noResize="1" noEditPoints="1" noAdjustHandles="1" noChangeArrowheads="1" noChangeShapeType="1" noTextEdit="1"/>
              </p:cNvSpPr>
              <p:nvPr/>
            </p:nvSpPr>
            <p:spPr>
              <a:xfrm>
                <a:off x="5050247" y="4794058"/>
                <a:ext cx="6081802" cy="992188"/>
              </a:xfrm>
              <a:prstGeom prst="rect">
                <a:avLst/>
              </a:prstGeom>
              <a:blipFill>
                <a:blip r:embed="rId7"/>
                <a:stretch>
                  <a:fillRect b="-674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7">
                <a:extLst>
                  <a:ext uri="{FF2B5EF4-FFF2-40B4-BE49-F238E27FC236}">
                    <a16:creationId xmlns:a16="http://schemas.microsoft.com/office/drawing/2014/main" id="{28FFE03D-3183-47D7-E860-21040A29B60F}"/>
                  </a:ext>
                </a:extLst>
              </p:cNvPr>
              <p:cNvSpPr txBox="1"/>
              <p:nvPr/>
            </p:nvSpPr>
            <p:spPr>
              <a:xfrm>
                <a:off x="5764301" y="5898907"/>
                <a:ext cx="2590800" cy="102711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func>
                    </m:oMath>
                  </m:oMathPara>
                </a14:m>
                <a:endParaRPr lang="zh-CN" altLang="en-US" sz="2800" dirty="0"/>
              </a:p>
            </p:txBody>
          </p:sp>
        </mc:Choice>
        <mc:Fallback xmlns="">
          <p:sp>
            <p:nvSpPr>
              <p:cNvPr id="22" name="Object 7">
                <a:extLst>
                  <a:ext uri="{FF2B5EF4-FFF2-40B4-BE49-F238E27FC236}">
                    <a16:creationId xmlns:a16="http://schemas.microsoft.com/office/drawing/2014/main" id="{28FFE03D-3183-47D7-E860-21040A29B60F}"/>
                  </a:ext>
                </a:extLst>
              </p:cNvPr>
              <p:cNvSpPr txBox="1">
                <a:spLocks noRot="1" noChangeAspect="1" noMove="1" noResize="1" noEditPoints="1" noAdjustHandles="1" noChangeArrowheads="1" noChangeShapeType="1" noTextEdit="1"/>
              </p:cNvSpPr>
              <p:nvPr/>
            </p:nvSpPr>
            <p:spPr>
              <a:xfrm>
                <a:off x="5764301" y="5898907"/>
                <a:ext cx="2590800" cy="1027113"/>
              </a:xfrm>
              <a:prstGeom prst="rect">
                <a:avLst/>
              </a:prstGeom>
              <a:blipFill>
                <a:blip r:embed="rId8"/>
                <a:stretch>
                  <a:fillRect/>
                </a:stretch>
              </a:blipFill>
              <a:ln w="38100">
                <a:noFill/>
                <a:miter/>
              </a:ln>
            </p:spPr>
            <p:txBody>
              <a:bodyPr/>
              <a:lstStyle/>
              <a:p>
                <a:r>
                  <a:rPr lang="zh-CN" altLang="en-US">
                    <a:noFill/>
                  </a:rPr>
                  <a:t> </a:t>
                </a:r>
              </a:p>
            </p:txBody>
          </p:sp>
        </mc:Fallback>
      </mc:AlternateContent>
      <p:grpSp>
        <p:nvGrpSpPr>
          <p:cNvPr id="24" name="Group 24">
            <a:extLst>
              <a:ext uri="{FF2B5EF4-FFF2-40B4-BE49-F238E27FC236}">
                <a16:creationId xmlns:a16="http://schemas.microsoft.com/office/drawing/2014/main" id="{90288A2D-3A10-42D8-6068-AC72269EC78C}"/>
              </a:ext>
            </a:extLst>
          </p:cNvPr>
          <p:cNvGrpSpPr/>
          <p:nvPr/>
        </p:nvGrpSpPr>
        <p:grpSpPr>
          <a:xfrm>
            <a:off x="1282788" y="3926440"/>
            <a:ext cx="3124200" cy="2438400"/>
            <a:chOff x="240" y="2592"/>
            <a:chExt cx="1968" cy="1536"/>
          </a:xfrm>
        </p:grpSpPr>
        <p:sp>
          <p:nvSpPr>
            <p:cNvPr id="25" name="Rectangle 25">
              <a:extLst>
                <a:ext uri="{FF2B5EF4-FFF2-40B4-BE49-F238E27FC236}">
                  <a16:creationId xmlns:a16="http://schemas.microsoft.com/office/drawing/2014/main" id="{FC15BE5A-89C5-660F-F059-805EA6078F65}"/>
                </a:ext>
              </a:extLst>
            </p:cNvPr>
            <p:cNvSpPr/>
            <p:nvPr/>
          </p:nvSpPr>
          <p:spPr>
            <a:xfrm>
              <a:off x="240" y="2592"/>
              <a:ext cx="1968" cy="153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26" name="Object 26">
                  <a:extLst>
                    <a:ext uri="{FF2B5EF4-FFF2-40B4-BE49-F238E27FC236}">
                      <a16:creationId xmlns:a16="http://schemas.microsoft.com/office/drawing/2014/main" id="{9AA1A8DC-8B98-806D-A0FE-D4AA15BD492F}"/>
                    </a:ext>
                  </a:extLst>
                </p:cNvPr>
                <p:cNvSpPr txBox="1"/>
                <p:nvPr/>
              </p:nvSpPr>
              <p:spPr>
                <a:xfrm>
                  <a:off x="720" y="3840"/>
                  <a:ext cx="216" cy="2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35844" name="Object 26"/>
                <p:cNvSpPr txBox="1">
                  <a:spLocks noRot="1" noChangeAspect="1" noMove="1" noResize="1" noEditPoints="1" noAdjustHandles="1" noChangeArrowheads="1" noChangeShapeType="1" noTextEdit="1"/>
                </p:cNvSpPr>
                <p:nvPr/>
              </p:nvSpPr>
              <p:spPr>
                <a:xfrm>
                  <a:off x="720" y="3840"/>
                  <a:ext cx="216" cy="288"/>
                </a:xfrm>
                <a:prstGeom prst="rect">
                  <a:avLst/>
                </a:prstGeom>
                <a:blipFill>
                  <a:blip r:embed="rId9"/>
                  <a:stretch>
                    <a:fillRect r="-357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27">
                  <a:extLst>
                    <a:ext uri="{FF2B5EF4-FFF2-40B4-BE49-F238E27FC236}">
                      <a16:creationId xmlns:a16="http://schemas.microsoft.com/office/drawing/2014/main" id="{66821953-FB71-73D8-9DEB-87FD4C49C7B8}"/>
                    </a:ext>
                  </a:extLst>
                </p:cNvPr>
                <p:cNvSpPr txBox="1"/>
                <p:nvPr/>
              </p:nvSpPr>
              <p:spPr>
                <a:xfrm>
                  <a:off x="1620" y="3840"/>
                  <a:ext cx="204" cy="28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𝑉</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35845" name="Object 27"/>
                <p:cNvSpPr txBox="1">
                  <a:spLocks noRot="1" noChangeAspect="1" noMove="1" noResize="1" noEditPoints="1" noAdjustHandles="1" noChangeArrowheads="1" noChangeShapeType="1" noTextEdit="1"/>
                </p:cNvSpPr>
                <p:nvPr/>
              </p:nvSpPr>
              <p:spPr>
                <a:xfrm>
                  <a:off x="1620" y="3840"/>
                  <a:ext cx="204" cy="285"/>
                </a:xfrm>
                <a:prstGeom prst="rect">
                  <a:avLst/>
                </a:prstGeom>
                <a:blipFill>
                  <a:blip r:embed="rId10"/>
                  <a:stretch>
                    <a:fillRect r="-11321"/>
                  </a:stretch>
                </a:blipFill>
                <a:ln w="38100">
                  <a:noFill/>
                  <a:miter/>
                </a:ln>
              </p:spPr>
              <p:txBody>
                <a:bodyPr/>
                <a:lstStyle/>
                <a:p>
                  <a:r>
                    <a:rPr lang="zh-CN" altLang="en-US">
                      <a:noFill/>
                    </a:rPr>
                    <a:t> </a:t>
                  </a:r>
                </a:p>
              </p:txBody>
            </p:sp>
          </mc:Fallback>
        </mc:AlternateContent>
        <p:sp>
          <p:nvSpPr>
            <p:cNvPr id="28" name="Line 28">
              <a:extLst>
                <a:ext uri="{FF2B5EF4-FFF2-40B4-BE49-F238E27FC236}">
                  <a16:creationId xmlns:a16="http://schemas.microsoft.com/office/drawing/2014/main" id="{4B8DE23E-B8E0-4A9E-5ECB-D51B31F72027}"/>
                </a:ext>
              </a:extLst>
            </p:cNvPr>
            <p:cNvSpPr/>
            <p:nvPr/>
          </p:nvSpPr>
          <p:spPr>
            <a:xfrm>
              <a:off x="528" y="3828"/>
              <a:ext cx="1636" cy="0"/>
            </a:xfrm>
            <a:prstGeom prst="line">
              <a:avLst/>
            </a:prstGeom>
            <a:ln w="19050" cap="flat" cmpd="sng">
              <a:solidFill>
                <a:schemeClr val="tx1"/>
              </a:solidFill>
              <a:prstDash val="solid"/>
              <a:headEnd type="none" w="med" len="med"/>
              <a:tailEnd type="triangle" w="sm" len="lg"/>
            </a:ln>
          </p:spPr>
        </p:sp>
        <p:sp>
          <p:nvSpPr>
            <p:cNvPr id="29" name="Line 29">
              <a:extLst>
                <a:ext uri="{FF2B5EF4-FFF2-40B4-BE49-F238E27FC236}">
                  <a16:creationId xmlns:a16="http://schemas.microsoft.com/office/drawing/2014/main" id="{5AD04D2F-278E-2C43-2C90-02FBBBA33611}"/>
                </a:ext>
              </a:extLst>
            </p:cNvPr>
            <p:cNvSpPr/>
            <p:nvPr/>
          </p:nvSpPr>
          <p:spPr>
            <a:xfrm flipV="1">
              <a:off x="528" y="2688"/>
              <a:ext cx="0" cy="1129"/>
            </a:xfrm>
            <a:prstGeom prst="line">
              <a:avLst/>
            </a:prstGeom>
            <a:ln w="19050" cap="flat" cmpd="sng">
              <a:solidFill>
                <a:schemeClr val="tx1"/>
              </a:solidFill>
              <a:prstDash val="solid"/>
              <a:headEnd type="none" w="med" len="med"/>
              <a:tailEnd type="triangle" w="sm" len="lg"/>
            </a:ln>
          </p:spPr>
        </p:sp>
        <p:sp>
          <p:nvSpPr>
            <p:cNvPr id="30" name="Line 30">
              <a:extLst>
                <a:ext uri="{FF2B5EF4-FFF2-40B4-BE49-F238E27FC236}">
                  <a16:creationId xmlns:a16="http://schemas.microsoft.com/office/drawing/2014/main" id="{A41E5FF5-AAA5-52FA-699C-EA53AAE3BBD1}"/>
                </a:ext>
              </a:extLst>
            </p:cNvPr>
            <p:cNvSpPr/>
            <p:nvPr/>
          </p:nvSpPr>
          <p:spPr>
            <a:xfrm>
              <a:off x="864" y="2869"/>
              <a:ext cx="0" cy="948"/>
            </a:xfrm>
            <a:prstGeom prst="line">
              <a:avLst/>
            </a:prstGeom>
            <a:ln w="19050" cap="flat" cmpd="sng">
              <a:solidFill>
                <a:schemeClr val="tx1"/>
              </a:solidFill>
              <a:prstDash val="dash"/>
              <a:headEnd type="none" w="med" len="med"/>
              <a:tailEnd type="none" w="med" len="med"/>
            </a:ln>
          </p:spPr>
        </p:sp>
        <p:sp>
          <p:nvSpPr>
            <p:cNvPr id="31" name="Line 31">
              <a:extLst>
                <a:ext uri="{FF2B5EF4-FFF2-40B4-BE49-F238E27FC236}">
                  <a16:creationId xmlns:a16="http://schemas.microsoft.com/office/drawing/2014/main" id="{6090BDDA-22FE-0774-1F42-2A6AEE8D6827}"/>
                </a:ext>
              </a:extLst>
            </p:cNvPr>
            <p:cNvSpPr/>
            <p:nvPr/>
          </p:nvSpPr>
          <p:spPr>
            <a:xfrm>
              <a:off x="1776" y="3504"/>
              <a:ext cx="0" cy="313"/>
            </a:xfrm>
            <a:prstGeom prst="line">
              <a:avLst/>
            </a:prstGeom>
            <a:ln w="19050" cap="flat" cmpd="sng">
              <a:solidFill>
                <a:schemeClr val="tx1"/>
              </a:solidFill>
              <a:prstDash val="dash"/>
              <a:headEnd type="none" w="med" len="med"/>
              <a:tailEnd type="none" w="med" len="med"/>
            </a:ln>
          </p:spPr>
        </p:sp>
        <p:sp>
          <p:nvSpPr>
            <p:cNvPr id="32" name="Line 32">
              <a:extLst>
                <a:ext uri="{FF2B5EF4-FFF2-40B4-BE49-F238E27FC236}">
                  <a16:creationId xmlns:a16="http://schemas.microsoft.com/office/drawing/2014/main" id="{60710B36-F5BF-83ED-E1C1-97A3E3234270}"/>
                </a:ext>
              </a:extLst>
            </p:cNvPr>
            <p:cNvSpPr/>
            <p:nvPr/>
          </p:nvSpPr>
          <p:spPr>
            <a:xfrm>
              <a:off x="1200" y="3264"/>
              <a:ext cx="89" cy="83"/>
            </a:xfrm>
            <a:prstGeom prst="line">
              <a:avLst/>
            </a:prstGeom>
            <a:ln w="38100" cap="flat" cmpd="sng">
              <a:solidFill>
                <a:srgbClr val="0000FF"/>
              </a:solidFill>
              <a:prstDash val="solid"/>
              <a:headEnd type="none" w="med" len="med"/>
              <a:tailEnd type="triangle" w="sm" len="lg"/>
            </a:ln>
          </p:spPr>
        </p:sp>
        <p:sp>
          <p:nvSpPr>
            <p:cNvPr id="33" name="Text Box 33">
              <a:extLst>
                <a:ext uri="{FF2B5EF4-FFF2-40B4-BE49-F238E27FC236}">
                  <a16:creationId xmlns:a16="http://schemas.microsoft.com/office/drawing/2014/main" id="{CA95818F-94BC-85BD-6A4E-846B753F65A8}"/>
                </a:ext>
              </a:extLst>
            </p:cNvPr>
            <p:cNvSpPr txBox="1"/>
            <p:nvPr/>
          </p:nvSpPr>
          <p:spPr>
            <a:xfrm>
              <a:off x="830" y="2704"/>
              <a:ext cx="309" cy="288"/>
            </a:xfrm>
            <a:prstGeom prst="rect">
              <a:avLst/>
            </a:prstGeom>
            <a:noFill/>
            <a:ln w="9525">
              <a:noFill/>
            </a:ln>
          </p:spPr>
          <p:txBody>
            <a:bodyPr>
              <a:spAutoFit/>
            </a:bodyPr>
            <a:lstStyle/>
            <a:p>
              <a:pPr eaLnBrk="1" hangingPunct="1">
                <a:spcBef>
                  <a:spcPct val="50000"/>
                </a:spcBef>
              </a:pPr>
              <a:r>
                <a:rPr lang="en-US" altLang="zh-CN" sz="2400" dirty="0">
                  <a:latin typeface="Arial" panose="020B0604020202020204" pitchFamily="34" charset="0"/>
                </a:rPr>
                <a:t>1</a:t>
              </a:r>
            </a:p>
          </p:txBody>
        </p:sp>
        <p:sp>
          <p:nvSpPr>
            <p:cNvPr id="34" name="Text Box 34">
              <a:extLst>
                <a:ext uri="{FF2B5EF4-FFF2-40B4-BE49-F238E27FC236}">
                  <a16:creationId xmlns:a16="http://schemas.microsoft.com/office/drawing/2014/main" id="{1AA06BDA-530A-DE55-94A6-447A5F542F8F}"/>
                </a:ext>
              </a:extLst>
            </p:cNvPr>
            <p:cNvSpPr txBox="1"/>
            <p:nvPr/>
          </p:nvSpPr>
          <p:spPr>
            <a:xfrm>
              <a:off x="1654" y="3216"/>
              <a:ext cx="266" cy="288"/>
            </a:xfrm>
            <a:prstGeom prst="rect">
              <a:avLst/>
            </a:prstGeom>
            <a:noFill/>
            <a:ln w="9525">
              <a:noFill/>
            </a:ln>
          </p:spPr>
          <p:txBody>
            <a:bodyPr>
              <a:spAutoFit/>
            </a:bodyPr>
            <a:lstStyle/>
            <a:p>
              <a:pPr eaLnBrk="1" hangingPunct="1">
                <a:spcBef>
                  <a:spcPct val="50000"/>
                </a:spcBef>
              </a:pPr>
              <a:r>
                <a:rPr lang="en-US" altLang="zh-CN" sz="2400" dirty="0">
                  <a:latin typeface="Arial" panose="020B0604020202020204" pitchFamily="34" charset="0"/>
                </a:rPr>
                <a:t>2</a:t>
              </a:r>
            </a:p>
          </p:txBody>
        </p:sp>
        <mc:AlternateContent xmlns:mc="http://schemas.openxmlformats.org/markup-compatibility/2006" xmlns:a14="http://schemas.microsoft.com/office/drawing/2010/main">
          <mc:Choice Requires="a14">
            <p:sp>
              <p:nvSpPr>
                <p:cNvPr id="35" name="Object 35">
                  <a:extLst>
                    <a:ext uri="{FF2B5EF4-FFF2-40B4-BE49-F238E27FC236}">
                      <a16:creationId xmlns:a16="http://schemas.microsoft.com/office/drawing/2014/main" id="{F368F26C-92D9-3D52-D41E-1257CDB855F7}"/>
                    </a:ext>
                  </a:extLst>
                </p:cNvPr>
                <p:cNvSpPr txBox="1"/>
                <p:nvPr/>
              </p:nvSpPr>
              <p:spPr>
                <a:xfrm>
                  <a:off x="280" y="2736"/>
                  <a:ext cx="206" cy="24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oMath>
                    </m:oMathPara>
                  </a14:m>
                  <a:endParaRPr lang="zh-CN" altLang="en-US"/>
                </a:p>
              </p:txBody>
            </p:sp>
          </mc:Choice>
          <mc:Fallback xmlns="">
            <p:sp>
              <p:nvSpPr>
                <p:cNvPr id="35846" name="Object 35"/>
                <p:cNvSpPr txBox="1">
                  <a:spLocks noRot="1" noChangeAspect="1" noMove="1" noResize="1" noEditPoints="1" noAdjustHandles="1" noChangeArrowheads="1" noChangeShapeType="1" noTextEdit="1"/>
                </p:cNvSpPr>
                <p:nvPr/>
              </p:nvSpPr>
              <p:spPr>
                <a:xfrm>
                  <a:off x="280" y="2736"/>
                  <a:ext cx="206" cy="245"/>
                </a:xfrm>
                <a:prstGeom prst="rect">
                  <a:avLst/>
                </a:prstGeom>
                <a:blipFill>
                  <a:blip r:embed="rId11"/>
                  <a:stretch>
                    <a:fillRect b="-156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36">
                  <a:extLst>
                    <a:ext uri="{FF2B5EF4-FFF2-40B4-BE49-F238E27FC236}">
                      <a16:creationId xmlns:a16="http://schemas.microsoft.com/office/drawing/2014/main" id="{02F83449-AB8A-B9F9-A790-5CC05DE9FD32}"/>
                    </a:ext>
                  </a:extLst>
                </p:cNvPr>
                <p:cNvSpPr txBox="1"/>
                <p:nvPr/>
              </p:nvSpPr>
              <p:spPr>
                <a:xfrm>
                  <a:off x="336" y="3792"/>
                  <a:ext cx="233" cy="25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𝑜</m:t>
                        </m:r>
                      </m:oMath>
                    </m:oMathPara>
                  </a14:m>
                  <a:endParaRPr lang="zh-CN" altLang="en-US"/>
                </a:p>
              </p:txBody>
            </p:sp>
          </mc:Choice>
          <mc:Fallback xmlns="">
            <p:sp>
              <p:nvSpPr>
                <p:cNvPr id="35847" name="Object 36"/>
                <p:cNvSpPr txBox="1">
                  <a:spLocks noRot="1" noChangeAspect="1" noMove="1" noResize="1" noEditPoints="1" noAdjustHandles="1" noChangeArrowheads="1" noChangeShapeType="1" noTextEdit="1"/>
                </p:cNvSpPr>
                <p:nvPr/>
              </p:nvSpPr>
              <p:spPr>
                <a:xfrm>
                  <a:off x="336" y="3792"/>
                  <a:ext cx="233" cy="257"/>
                </a:xfrm>
                <a:prstGeom prst="rect">
                  <a:avLst/>
                </a:prstGeom>
                <a:blipFill>
                  <a:blip r:embed="rId1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37">
                  <a:extLst>
                    <a:ext uri="{FF2B5EF4-FFF2-40B4-BE49-F238E27FC236}">
                      <a16:creationId xmlns:a16="http://schemas.microsoft.com/office/drawing/2014/main" id="{11CD88A1-7C05-8956-BFCF-8B6D5CE846F4}"/>
                    </a:ext>
                  </a:extLst>
                </p:cNvPr>
                <p:cNvSpPr txBox="1"/>
                <p:nvPr/>
              </p:nvSpPr>
              <p:spPr>
                <a:xfrm>
                  <a:off x="1872" y="3840"/>
                  <a:ext cx="204" cy="229"/>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𝑉</m:t>
                        </m:r>
                      </m:oMath>
                    </m:oMathPara>
                  </a14:m>
                  <a:endParaRPr lang="zh-CN" altLang="en-US"/>
                </a:p>
              </p:txBody>
            </p:sp>
          </mc:Choice>
          <mc:Fallback xmlns="">
            <p:sp>
              <p:nvSpPr>
                <p:cNvPr id="35848" name="Object 37"/>
                <p:cNvSpPr txBox="1">
                  <a:spLocks noRot="1" noChangeAspect="1" noMove="1" noResize="1" noEditPoints="1" noAdjustHandles="1" noChangeArrowheads="1" noChangeShapeType="1" noTextEdit="1"/>
                </p:cNvSpPr>
                <p:nvPr/>
              </p:nvSpPr>
              <p:spPr>
                <a:xfrm>
                  <a:off x="1872" y="3840"/>
                  <a:ext cx="204" cy="229"/>
                </a:xfrm>
                <a:prstGeom prst="rect">
                  <a:avLst/>
                </a:prstGeom>
                <a:blipFill>
                  <a:blip r:embed="rId13"/>
                  <a:stretch>
                    <a:fillRect/>
                  </a:stretch>
                </a:blipFill>
                <a:ln w="38100">
                  <a:noFill/>
                  <a:miter/>
                </a:ln>
              </p:spPr>
              <p:txBody>
                <a:bodyPr/>
                <a:lstStyle/>
                <a:p>
                  <a:r>
                    <a:rPr lang="zh-CN" altLang="en-US">
                      <a:noFill/>
                    </a:rPr>
                    <a:t> </a:t>
                  </a:r>
                </a:p>
              </p:txBody>
            </p:sp>
          </mc:Fallback>
        </mc:AlternateContent>
        <p:sp>
          <p:nvSpPr>
            <p:cNvPr id="38" name="Freeform 38">
              <a:extLst>
                <a:ext uri="{FF2B5EF4-FFF2-40B4-BE49-F238E27FC236}">
                  <a16:creationId xmlns:a16="http://schemas.microsoft.com/office/drawing/2014/main" id="{F03FD18D-120F-5151-CFFD-EA25B2BCB39D}"/>
                </a:ext>
              </a:extLst>
            </p:cNvPr>
            <p:cNvSpPr/>
            <p:nvPr/>
          </p:nvSpPr>
          <p:spPr>
            <a:xfrm>
              <a:off x="864" y="2880"/>
              <a:ext cx="912" cy="624"/>
            </a:xfrm>
            <a:custGeom>
              <a:avLst/>
              <a:gdLst>
                <a:gd name="txL" fmla="*/ 0 w 912"/>
                <a:gd name="txT" fmla="*/ 0 h 624"/>
                <a:gd name="txR" fmla="*/ 912 w 912"/>
                <a:gd name="txB" fmla="*/ 624 h 624"/>
              </a:gdLst>
              <a:ahLst/>
              <a:cxnLst>
                <a:cxn ang="0">
                  <a:pos x="0" y="0"/>
                </a:cxn>
                <a:cxn ang="0">
                  <a:pos x="233" y="302"/>
                </a:cxn>
                <a:cxn ang="0">
                  <a:pos x="542" y="514"/>
                </a:cxn>
                <a:cxn ang="0">
                  <a:pos x="912" y="624"/>
                </a:cxn>
              </a:cxnLst>
              <a:rect l="txL" t="txT" r="txR" b="txB"/>
              <a:pathLst>
                <a:path w="912" h="624">
                  <a:moveTo>
                    <a:pt x="0" y="0"/>
                  </a:moveTo>
                  <a:cubicBezTo>
                    <a:pt x="39" y="50"/>
                    <a:pt x="143" y="216"/>
                    <a:pt x="233" y="302"/>
                  </a:cubicBezTo>
                  <a:cubicBezTo>
                    <a:pt x="323" y="388"/>
                    <a:pt x="429" y="460"/>
                    <a:pt x="542" y="514"/>
                  </a:cubicBezTo>
                  <a:cubicBezTo>
                    <a:pt x="655" y="568"/>
                    <a:pt x="835" y="601"/>
                    <a:pt x="912" y="624"/>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a:p>
          </p:txBody>
        </p:sp>
      </p:grpSp>
      <p:sp>
        <p:nvSpPr>
          <p:cNvPr id="60" name="文本框 59">
            <a:extLst>
              <a:ext uri="{FF2B5EF4-FFF2-40B4-BE49-F238E27FC236}">
                <a16:creationId xmlns:a16="http://schemas.microsoft.com/office/drawing/2014/main" id="{EE78D6AB-5BAF-796A-F373-0DEA627430BB}"/>
              </a:ext>
            </a:extLst>
          </p:cNvPr>
          <p:cNvSpPr txBox="1"/>
          <p:nvPr/>
        </p:nvSpPr>
        <p:spPr>
          <a:xfrm>
            <a:off x="1036690" y="3184300"/>
            <a:ext cx="6095144" cy="523220"/>
          </a:xfrm>
          <a:prstGeom prst="rect">
            <a:avLst/>
          </a:prstGeom>
          <a:noFill/>
        </p:spPr>
        <p:txBody>
          <a:bodyPr wrap="square">
            <a:spAutoFit/>
          </a:bodyPr>
          <a:lstStyle/>
          <a:p>
            <a:r>
              <a:rPr kumimoji="1"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克劳修斯熵</a:t>
            </a:r>
            <a:endParaRPr lang="zh-CN" altLang="en-US" sz="2800" b="1" dirty="0">
              <a:solidFill>
                <a:srgbClr val="FF0000"/>
              </a:solidFill>
            </a:endParaRPr>
          </a:p>
        </p:txBody>
      </p:sp>
    </p:spTree>
    <p:extLst>
      <p:ext uri="{BB962C8B-B14F-4D97-AF65-F5344CB8AC3E}">
        <p14:creationId xmlns:p14="http://schemas.microsoft.com/office/powerpoint/2010/main" val="26740726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P spid="20" grpId="0"/>
      <p:bldP spid="22" grpId="0"/>
      <p:bldP spid="6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BB63BDD3-DCE3-79FF-B5CA-CE98A10FDCB3}"/>
              </a:ext>
            </a:extLst>
          </p:cNvPr>
          <p:cNvSpPr txBox="1">
            <a:spLocks noChangeArrowheads="1"/>
          </p:cNvSpPr>
          <p:nvPr/>
        </p:nvSpPr>
        <p:spPr bwMode="auto">
          <a:xfrm>
            <a:off x="574057" y="405824"/>
            <a:ext cx="86932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克劳修斯熵与玻耳兹曼熵的等价关系</a:t>
            </a:r>
          </a:p>
        </p:txBody>
      </p:sp>
      <p:sp>
        <p:nvSpPr>
          <p:cNvPr id="60" name="文本框 59">
            <a:extLst>
              <a:ext uri="{FF2B5EF4-FFF2-40B4-BE49-F238E27FC236}">
                <a16:creationId xmlns:a16="http://schemas.microsoft.com/office/drawing/2014/main" id="{EE78D6AB-5BAF-796A-F373-0DEA627430BB}"/>
              </a:ext>
            </a:extLst>
          </p:cNvPr>
          <p:cNvSpPr txBox="1"/>
          <p:nvPr/>
        </p:nvSpPr>
        <p:spPr>
          <a:xfrm>
            <a:off x="1344915" y="1358737"/>
            <a:ext cx="6095144" cy="523220"/>
          </a:xfrm>
          <a:prstGeom prst="rect">
            <a:avLst/>
          </a:prstGeom>
          <a:noFill/>
        </p:spPr>
        <p:txBody>
          <a:bodyPr wrap="square">
            <a:spAutoFit/>
          </a:bodyPr>
          <a:lstStyle/>
          <a:p>
            <a:r>
              <a:rPr kumimoji="1"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玻耳兹曼熵</a:t>
            </a:r>
            <a:endParaRPr lang="zh-CN" altLang="en-US" sz="2800" b="1" dirty="0">
              <a:solidFill>
                <a:srgbClr val="FF0000"/>
              </a:solidFill>
            </a:endParaRPr>
          </a:p>
        </p:txBody>
      </p:sp>
      <mc:AlternateContent xmlns:mc="http://schemas.openxmlformats.org/markup-compatibility/2006" xmlns:a14="http://schemas.microsoft.com/office/drawing/2010/main">
        <mc:Choice Requires="a14">
          <p:sp>
            <p:nvSpPr>
              <p:cNvPr id="21" name="Object 14">
                <a:extLst>
                  <a:ext uri="{FF2B5EF4-FFF2-40B4-BE49-F238E27FC236}">
                    <a16:creationId xmlns:a16="http://schemas.microsoft.com/office/drawing/2014/main" id="{3741C856-C0BD-A95E-C949-68C239C1FD1B}"/>
                  </a:ext>
                </a:extLst>
              </p:cNvPr>
              <p:cNvSpPr txBox="1"/>
              <p:nvPr/>
            </p:nvSpPr>
            <p:spPr bwMode="auto">
              <a:xfrm>
                <a:off x="3796585" y="1276163"/>
                <a:ext cx="5832475" cy="965200"/>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zh-CN" altLang="en-US" sz="2800" i="1" smtClean="0">
                          <a:solidFill>
                            <a:schemeClr val="tx1"/>
                          </a:solidFill>
                          <a:latin typeface="Cambria Math" panose="02040503050406030204" pitchFamily="18" charset="0"/>
                        </a:rPr>
                        <m:t>Δ</m:t>
                      </m:r>
                      <m:r>
                        <a:rPr lang="zh-CN" altLang="en-US" sz="2800" i="1" smtClean="0">
                          <a:solidFill>
                            <a:schemeClr val="tx1"/>
                          </a:solidFill>
                          <a:latin typeface="Cambria Math" panose="02040503050406030204" pitchFamily="18" charset="0"/>
                        </a:rPr>
                        <m:t>𝑆</m:t>
                      </m:r>
                      <m:r>
                        <a:rPr lang="zh-CN" altLang="en-US" sz="2800" i="1" smtClean="0">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𝑆</m:t>
                          </m:r>
                        </m:e>
                        <m:sub>
                          <m:r>
                            <a:rPr lang="zh-CN" altLang="en-US" sz="2800" i="1">
                              <a:solidFill>
                                <a:schemeClr val="tx1"/>
                              </a:solidFill>
                              <a:latin typeface="Cambria Math" panose="02040503050406030204" pitchFamily="18" charset="0"/>
                            </a:rPr>
                            <m:t>2</m:t>
                          </m:r>
                        </m:sub>
                      </m:sSub>
                      <m:r>
                        <a:rPr lang="zh-CN" altLang="en-US" sz="2800" i="1">
                          <a:solidFill>
                            <a:schemeClr val="tx1"/>
                          </a:solidFill>
                          <a:latin typeface="Cambria Math" panose="02040503050406030204" pitchFamily="18" charset="0"/>
                        </a:rPr>
                        <m:t>−</m:t>
                      </m:r>
                      <m:sSub>
                        <m:sSubPr>
                          <m:ctrlPr>
                            <a:rPr lang="zh-CN" altLang="en-US" sz="2800" i="1">
                              <a:solidFill>
                                <a:schemeClr val="tx1"/>
                              </a:solidFill>
                              <a:latin typeface="Cambria Math" panose="02040503050406030204" pitchFamily="18" charset="0"/>
                            </a:rPr>
                          </m:ctrlPr>
                        </m:sSubPr>
                        <m:e>
                          <m:r>
                            <a:rPr lang="zh-CN" altLang="en-US" sz="2800" i="1">
                              <a:solidFill>
                                <a:schemeClr val="tx1"/>
                              </a:solidFill>
                              <a:latin typeface="Cambria Math" panose="02040503050406030204" pitchFamily="18" charset="0"/>
                            </a:rPr>
                            <m:t>𝑆</m:t>
                          </m:r>
                        </m:e>
                        <m:sub>
                          <m:r>
                            <a:rPr lang="zh-CN" altLang="en-US" sz="2800" i="1">
                              <a:solidFill>
                                <a:schemeClr val="tx1"/>
                              </a:solidFill>
                              <a:latin typeface="Cambria Math" panose="02040503050406030204" pitchFamily="18" charset="0"/>
                            </a:rPr>
                            <m:t>1</m:t>
                          </m:r>
                        </m:sub>
                      </m:sSub>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𝑘</m:t>
                      </m:r>
                      <m:r>
                        <a:rPr lang="zh-CN" altLang="en-US" sz="2800" i="1">
                          <a:solidFill>
                            <a:schemeClr val="tx1"/>
                          </a:solidFill>
                          <a:latin typeface="Cambria Math" panose="02040503050406030204" pitchFamily="18" charset="0"/>
                        </a:rPr>
                        <m:t>(</m:t>
                      </m:r>
                      <m:func>
                        <m:funcPr>
                          <m:ctrlPr>
                            <a:rPr lang="zh-CN" altLang="en-US" sz="2800" i="1">
                              <a:solidFill>
                                <a:schemeClr val="tx1"/>
                              </a:solidFill>
                              <a:latin typeface="Cambria Math" panose="02040503050406030204" pitchFamily="18" charset="0"/>
                            </a:rPr>
                          </m:ctrlPr>
                        </m:funcPr>
                        <m:fName>
                          <m:r>
                            <m:rPr>
                              <m:sty m:val="p"/>
                            </m:rPr>
                            <a:rPr lang="zh-CN" altLang="en-US" sz="2800" i="0">
                              <a:solidFill>
                                <a:schemeClr val="tx1"/>
                              </a:solidFill>
                              <a:latin typeface="Cambria Math" panose="02040503050406030204" pitchFamily="18" charset="0"/>
                            </a:rPr>
                            <m:t>ln</m:t>
                          </m:r>
                        </m:fName>
                        <m:e>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i="1">
                                  <a:solidFill>
                                    <a:schemeClr val="tx1"/>
                                  </a:solidFill>
                                  <a:latin typeface="Cambria Math" panose="02040503050406030204" pitchFamily="18" charset="0"/>
                                </a:rPr>
                                <m:t>2</m:t>
                              </m:r>
                            </m:sub>
                          </m:sSub>
                        </m:e>
                      </m:func>
                      <m:r>
                        <a:rPr lang="zh-CN" altLang="en-US" sz="2800" i="1">
                          <a:solidFill>
                            <a:schemeClr val="tx1"/>
                          </a:solidFill>
                          <a:latin typeface="Cambria Math" panose="02040503050406030204" pitchFamily="18" charset="0"/>
                        </a:rPr>
                        <m:t>−</m:t>
                      </m:r>
                      <m:func>
                        <m:funcPr>
                          <m:ctrlPr>
                            <a:rPr lang="zh-CN" altLang="en-US" sz="2800" i="1">
                              <a:solidFill>
                                <a:schemeClr val="tx1"/>
                              </a:solidFill>
                              <a:latin typeface="Cambria Math" panose="02040503050406030204" pitchFamily="18" charset="0"/>
                            </a:rPr>
                          </m:ctrlPr>
                        </m:funcPr>
                        <m:fName>
                          <m:r>
                            <m:rPr>
                              <m:sty m:val="p"/>
                            </m:rPr>
                            <a:rPr lang="zh-CN" altLang="en-US" sz="2800" i="0">
                              <a:solidFill>
                                <a:schemeClr val="tx1"/>
                              </a:solidFill>
                              <a:latin typeface="Cambria Math" panose="02040503050406030204" pitchFamily="18" charset="0"/>
                            </a:rPr>
                            <m:t>ln</m:t>
                          </m:r>
                        </m:fName>
                        <m:e>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i="1">
                                  <a:solidFill>
                                    <a:schemeClr val="tx1"/>
                                  </a:solidFill>
                                  <a:latin typeface="Cambria Math" panose="02040503050406030204" pitchFamily="18" charset="0"/>
                                </a:rPr>
                                <m:t>1</m:t>
                              </m:r>
                            </m:sub>
                          </m:sSub>
                        </m:e>
                      </m:func>
                      <m:r>
                        <a:rPr lang="zh-CN" altLang="en-US" sz="2800" i="1">
                          <a:solidFill>
                            <a:schemeClr val="tx1"/>
                          </a:solidFill>
                          <a:latin typeface="Cambria Math" panose="02040503050406030204" pitchFamily="18" charset="0"/>
                        </a:rPr>
                        <m:t>)=</m:t>
                      </m:r>
                      <m:r>
                        <a:rPr lang="zh-CN" altLang="en-US" sz="2800" i="1">
                          <a:solidFill>
                            <a:schemeClr val="tx1"/>
                          </a:solidFill>
                          <a:latin typeface="Cambria Math" panose="02040503050406030204" pitchFamily="18" charset="0"/>
                        </a:rPr>
                        <m:t>𝑘</m:t>
                      </m:r>
                      <m:func>
                        <m:funcPr>
                          <m:ctrlPr>
                            <a:rPr lang="zh-CN" altLang="en-US" sz="2800" i="1">
                              <a:solidFill>
                                <a:schemeClr val="tx1"/>
                              </a:solidFill>
                              <a:latin typeface="Cambria Math" panose="02040503050406030204" pitchFamily="18" charset="0"/>
                            </a:rPr>
                          </m:ctrlPr>
                        </m:funcPr>
                        <m:fName>
                          <m:r>
                            <m:rPr>
                              <m:sty m:val="p"/>
                            </m:rPr>
                            <a:rPr lang="zh-CN" altLang="en-US" sz="2800" i="0">
                              <a:solidFill>
                                <a:schemeClr val="tx1"/>
                              </a:solidFill>
                              <a:latin typeface="Cambria Math" panose="02040503050406030204" pitchFamily="18" charset="0"/>
                            </a:rPr>
                            <m:t>ln</m:t>
                          </m:r>
                        </m:fName>
                        <m:e>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i="1">
                                      <a:solidFill>
                                        <a:schemeClr val="tx1"/>
                                      </a:solidFill>
                                      <a:latin typeface="Cambria Math" panose="02040503050406030204" pitchFamily="18" charset="0"/>
                                    </a:rPr>
                                    <m:t>1</m:t>
                                  </m:r>
                                </m:sub>
                              </m:sSub>
                            </m:den>
                          </m:f>
                        </m:e>
                      </m:func>
                    </m:oMath>
                  </m:oMathPara>
                </a14:m>
                <a:endParaRPr lang="zh-CN" altLang="en-US" sz="2800" dirty="0">
                  <a:solidFill>
                    <a:schemeClr val="tx1"/>
                  </a:solidFill>
                </a:endParaRPr>
              </a:p>
            </p:txBody>
          </p:sp>
        </mc:Choice>
        <mc:Fallback xmlns="">
          <p:sp>
            <p:nvSpPr>
              <p:cNvPr id="21" name="Object 14">
                <a:extLst>
                  <a:ext uri="{FF2B5EF4-FFF2-40B4-BE49-F238E27FC236}">
                    <a16:creationId xmlns:a16="http://schemas.microsoft.com/office/drawing/2014/main" id="{3741C856-C0BD-A95E-C949-68C239C1FD1B}"/>
                  </a:ext>
                </a:extLst>
              </p:cNvPr>
              <p:cNvSpPr txBox="1">
                <a:spLocks noRot="1" noChangeAspect="1" noMove="1" noResize="1" noEditPoints="1" noAdjustHandles="1" noChangeArrowheads="1" noChangeShapeType="1" noTextEdit="1"/>
              </p:cNvSpPr>
              <p:nvPr/>
            </p:nvSpPr>
            <p:spPr bwMode="auto">
              <a:xfrm>
                <a:off x="3796585" y="1276163"/>
                <a:ext cx="5832475" cy="965200"/>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23" name="Text Box 15">
            <a:extLst>
              <a:ext uri="{FF2B5EF4-FFF2-40B4-BE49-F238E27FC236}">
                <a16:creationId xmlns:a16="http://schemas.microsoft.com/office/drawing/2014/main" id="{E56A4252-EBD0-BF17-6786-68F345AFF5D4}"/>
              </a:ext>
            </a:extLst>
          </p:cNvPr>
          <p:cNvSpPr txBox="1">
            <a:spLocks noChangeArrowheads="1"/>
          </p:cNvSpPr>
          <p:nvPr/>
        </p:nvSpPr>
        <p:spPr bwMode="auto">
          <a:xfrm>
            <a:off x="1811891" y="3631220"/>
            <a:ext cx="447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2800"/>
              <a:t>膨胀前后热力学概率之比为</a:t>
            </a:r>
          </a:p>
        </p:txBody>
      </p:sp>
      <mc:AlternateContent xmlns:mc="http://schemas.openxmlformats.org/markup-compatibility/2006" xmlns:a14="http://schemas.microsoft.com/office/drawing/2010/main">
        <mc:Choice Requires="a14">
          <p:sp>
            <p:nvSpPr>
              <p:cNvPr id="39" name="Object 16">
                <a:extLst>
                  <a:ext uri="{FF2B5EF4-FFF2-40B4-BE49-F238E27FC236}">
                    <a16:creationId xmlns:a16="http://schemas.microsoft.com/office/drawing/2014/main" id="{660B0D90-85A5-3CE4-9004-467CB65635E2}"/>
                  </a:ext>
                </a:extLst>
              </p:cNvPr>
              <p:cNvSpPr txBox="1"/>
              <p:nvPr/>
            </p:nvSpPr>
            <p:spPr bwMode="auto">
              <a:xfrm>
                <a:off x="6420404" y="3416907"/>
                <a:ext cx="3011272" cy="1022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smtClean="0">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b="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b="0" i="1">
                                  <a:solidFill>
                                    <a:schemeClr val="tx1"/>
                                  </a:solidFill>
                                  <a:latin typeface="Cambria Math" panose="02040503050406030204" pitchFamily="18" charset="0"/>
                                </a:rPr>
                                <m:t>1</m:t>
                              </m:r>
                            </m:sub>
                          </m:sSub>
                        </m:den>
                      </m:f>
                      <m:r>
                        <a:rPr lang="zh-CN" altLang="en-US" sz="2800" b="0" i="1">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1</m:t>
                              </m:r>
                            </m:sub>
                          </m:sSub>
                        </m:den>
                      </m:f>
                      <m:sSup>
                        <m:sSupPr>
                          <m:ctrlPr>
                            <a:rPr lang="zh-CN" altLang="en-US" sz="2800" i="1">
                              <a:solidFill>
                                <a:schemeClr val="tx1"/>
                              </a:solidFill>
                              <a:latin typeface="Cambria Math" panose="02040503050406030204" pitchFamily="18" charset="0"/>
                            </a:rPr>
                          </m:ctrlPr>
                        </m:sSupPr>
                        <m:e>
                          <m:r>
                            <a:rPr lang="zh-CN" altLang="en-US" sz="2800" b="0" i="1">
                              <a:solidFill>
                                <a:schemeClr val="tx1"/>
                              </a:solidFill>
                              <a:latin typeface="Cambria Math" panose="02040503050406030204" pitchFamily="18" charset="0"/>
                            </a:rPr>
                            <m:t>)</m:t>
                          </m:r>
                        </m:e>
                        <m:sup>
                          <m:r>
                            <a:rPr lang="en-US" altLang="zh-CN" sz="2800" i="1">
                              <a:solidFill>
                                <a:schemeClr val="tx1"/>
                              </a:solidFill>
                              <a:latin typeface="Cambria Math" panose="02040503050406030204" pitchFamily="18" charset="0"/>
                            </a:rPr>
                            <m:t>𝜈</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𝑁</m:t>
                              </m:r>
                            </m:e>
                            <m:sub>
                              <m:r>
                                <a:rPr lang="zh-CN" altLang="en-US" sz="2800" b="0" i="1">
                                  <a:solidFill>
                                    <a:schemeClr val="tx1"/>
                                  </a:solidFill>
                                  <a:latin typeface="Cambria Math" panose="02040503050406030204" pitchFamily="18" charset="0"/>
                                </a:rPr>
                                <m:t>𝐴</m:t>
                              </m:r>
                            </m:sub>
                          </m:sSub>
                        </m:sup>
                      </m:sSup>
                    </m:oMath>
                  </m:oMathPara>
                </a14:m>
                <a:endParaRPr lang="zh-CN" altLang="en-US" sz="2800" dirty="0">
                  <a:solidFill>
                    <a:schemeClr val="tx1"/>
                  </a:solidFill>
                </a:endParaRPr>
              </a:p>
            </p:txBody>
          </p:sp>
        </mc:Choice>
        <mc:Fallback xmlns="">
          <p:sp>
            <p:nvSpPr>
              <p:cNvPr id="39" name="Object 16">
                <a:extLst>
                  <a:ext uri="{FF2B5EF4-FFF2-40B4-BE49-F238E27FC236}">
                    <a16:creationId xmlns:a16="http://schemas.microsoft.com/office/drawing/2014/main" id="{660B0D90-85A5-3CE4-9004-467CB65635E2}"/>
                  </a:ext>
                </a:extLst>
              </p:cNvPr>
              <p:cNvSpPr txBox="1">
                <a:spLocks noRot="1" noChangeAspect="1" noMove="1" noResize="1" noEditPoints="1" noAdjustHandles="1" noChangeArrowheads="1" noChangeShapeType="1" noTextEdit="1"/>
              </p:cNvSpPr>
              <p:nvPr/>
            </p:nvSpPr>
            <p:spPr bwMode="auto">
              <a:xfrm>
                <a:off x="6420404" y="3416907"/>
                <a:ext cx="3011272" cy="1022350"/>
              </a:xfrm>
              <a:prstGeom prst="rect">
                <a:avLst/>
              </a:prstGeom>
              <a:blipFill>
                <a:blip r:embed="rId3"/>
                <a:stretch>
                  <a:fillRect/>
                </a:stretch>
              </a:blipFill>
              <a:ln>
                <a:noFill/>
              </a:ln>
              <a:effectLst/>
            </p:spPr>
            <p:txBody>
              <a:bodyPr/>
              <a:lstStyle/>
              <a:p>
                <a:r>
                  <a:rPr lang="zh-CN" altLang="en-US">
                    <a:noFill/>
                  </a:rPr>
                  <a:t> </a:t>
                </a:r>
              </a:p>
            </p:txBody>
          </p:sp>
        </mc:Fallback>
      </mc:AlternateContent>
      <p:grpSp>
        <p:nvGrpSpPr>
          <p:cNvPr id="40" name="Group 17">
            <a:extLst>
              <a:ext uri="{FF2B5EF4-FFF2-40B4-BE49-F238E27FC236}">
                <a16:creationId xmlns:a16="http://schemas.microsoft.com/office/drawing/2014/main" id="{4B5D3118-D404-79EF-3F6D-8A01FE251DF2}"/>
              </a:ext>
            </a:extLst>
          </p:cNvPr>
          <p:cNvGrpSpPr>
            <a:grpSpLocks/>
          </p:cNvGrpSpPr>
          <p:nvPr/>
        </p:nvGrpSpPr>
        <p:grpSpPr bwMode="auto">
          <a:xfrm>
            <a:off x="1811892" y="2250095"/>
            <a:ext cx="7758113" cy="595313"/>
            <a:chOff x="0" y="0"/>
            <a:chExt cx="4887" cy="375"/>
          </a:xfrm>
        </p:grpSpPr>
        <mc:AlternateContent xmlns:mc="http://schemas.openxmlformats.org/markup-compatibility/2006" xmlns:a14="http://schemas.microsoft.com/office/drawing/2010/main">
          <mc:Choice Requires="a14">
            <p:sp>
              <p:nvSpPr>
                <p:cNvPr id="41" name="Object 18">
                  <a:extLst>
                    <a:ext uri="{FF2B5EF4-FFF2-40B4-BE49-F238E27FC236}">
                      <a16:creationId xmlns:a16="http://schemas.microsoft.com/office/drawing/2014/main" id="{5126A510-5B5E-222F-CC7C-46D92836CD8D}"/>
                    </a:ext>
                  </a:extLst>
                </p:cNvPr>
                <p:cNvSpPr txBox="1"/>
                <p:nvPr/>
              </p:nvSpPr>
              <p:spPr bwMode="auto">
                <a:xfrm>
                  <a:off x="0" y="39"/>
                  <a:ext cx="640" cy="33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altLang="zh-CN" sz="2800" i="1" smtClean="0">
                            <a:solidFill>
                              <a:schemeClr val="tx1"/>
                            </a:solidFill>
                            <a:latin typeface="Cambria Math" panose="02040503050406030204" pitchFamily="18" charset="0"/>
                          </a:rPr>
                          <m:t>𝜈</m:t>
                        </m:r>
                        <m:r>
                          <a:rPr lang="zh-CN" altLang="en-US" sz="2800" b="0" i="1" smtClean="0">
                            <a:solidFill>
                              <a:schemeClr val="tx1"/>
                            </a:solidFill>
                            <a:latin typeface="Cambria Math" panose="02040503050406030204" pitchFamily="18" charset="0"/>
                          </a:rPr>
                          <m:t>摩尔</m:t>
                        </m:r>
                      </m:oMath>
                    </m:oMathPara>
                  </a14:m>
                  <a:endParaRPr lang="zh-CN" altLang="en-US" sz="2800" dirty="0">
                    <a:solidFill>
                      <a:schemeClr val="tx1"/>
                    </a:solidFill>
                  </a:endParaRPr>
                </a:p>
              </p:txBody>
            </p:sp>
          </mc:Choice>
          <mc:Fallback xmlns="">
            <p:sp>
              <p:nvSpPr>
                <p:cNvPr id="41" name="Object 18">
                  <a:extLst>
                    <a:ext uri="{FF2B5EF4-FFF2-40B4-BE49-F238E27FC236}">
                      <a16:creationId xmlns:a16="http://schemas.microsoft.com/office/drawing/2014/main" id="{5126A510-5B5E-222F-CC7C-46D92836CD8D}"/>
                    </a:ext>
                  </a:extLst>
                </p:cNvPr>
                <p:cNvSpPr txBox="1">
                  <a:spLocks noRot="1" noChangeAspect="1" noMove="1" noResize="1" noEditPoints="1" noAdjustHandles="1" noChangeArrowheads="1" noChangeShapeType="1" noTextEdit="1"/>
                </p:cNvSpPr>
                <p:nvPr/>
              </p:nvSpPr>
              <p:spPr bwMode="auto">
                <a:xfrm>
                  <a:off x="0" y="39"/>
                  <a:ext cx="640" cy="336"/>
                </a:xfrm>
                <a:prstGeom prst="rect">
                  <a:avLst/>
                </a:prstGeom>
                <a:blipFill>
                  <a:blip r:embed="rId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Text Box 19">
                  <a:extLst>
                    <a:ext uri="{FF2B5EF4-FFF2-40B4-BE49-F238E27FC236}">
                      <a16:creationId xmlns:a16="http://schemas.microsoft.com/office/drawing/2014/main" id="{80C5B7AA-CADA-7DB2-BE68-14F424A630D3}"/>
                    </a:ext>
                  </a:extLst>
                </p:cNvPr>
                <p:cNvSpPr txBox="1">
                  <a:spLocks noChangeArrowheads="1"/>
                </p:cNvSpPr>
                <p:nvPr/>
              </p:nvSpPr>
              <p:spPr bwMode="auto">
                <a:xfrm>
                  <a:off x="567" y="0"/>
                  <a:ext cx="4320" cy="3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zh-CN" sz="2800" dirty="0">
                      <a:solidFill>
                        <a:schemeClr val="tx1"/>
                      </a:solidFill>
                    </a:rPr>
                    <a:t>分子在体积</a:t>
                  </a:r>
                  <a:r>
                    <a:rPr lang="zh-CN" altLang="zh-CN" sz="2800" i="1" dirty="0">
                      <a:solidFill>
                        <a:schemeClr val="tx1"/>
                      </a:solidFill>
                    </a:rPr>
                    <a:t>V</a:t>
                  </a:r>
                  <a:r>
                    <a:rPr lang="zh-CN" altLang="zh-CN" sz="2800" dirty="0">
                      <a:solidFill>
                        <a:schemeClr val="tx1"/>
                      </a:solidFill>
                    </a:rPr>
                    <a:t>内的位置分布的热力学概率</a:t>
                  </a:r>
                  <a14:m>
                    <m:oMath xmlns:m="http://schemas.openxmlformats.org/officeDocument/2006/math">
                      <m:r>
                        <m:rPr>
                          <m:nor/>
                        </m:rPr>
                        <a:rPr kumimoji="1" lang="en-US" altLang="zh-CN" sz="2800" i="1" dirty="0" smtClean="0">
                          <a:solidFill>
                            <a:schemeClr val="tx1"/>
                          </a:solidFill>
                          <a:ea typeface="黑体" panose="02010609060101010101" pitchFamily="49" charset="-122"/>
                          <a:sym typeface="Symbol" panose="05050102010706020507" pitchFamily="18" charset="2"/>
                        </a:rPr>
                        <m:t></m:t>
                      </m:r>
                    </m:oMath>
                  </a14:m>
                  <a:endParaRPr lang="zh-CN" altLang="zh-CN" sz="2800" i="1" dirty="0">
                    <a:solidFill>
                      <a:schemeClr val="tx1"/>
                    </a:solidFill>
                  </a:endParaRPr>
                </a:p>
              </p:txBody>
            </p:sp>
          </mc:Choice>
          <mc:Fallback xmlns="">
            <p:sp>
              <p:nvSpPr>
                <p:cNvPr id="42" name="Text Box 19">
                  <a:extLst>
                    <a:ext uri="{FF2B5EF4-FFF2-40B4-BE49-F238E27FC236}">
                      <a16:creationId xmlns:a16="http://schemas.microsoft.com/office/drawing/2014/main" id="{80C5B7AA-CADA-7DB2-BE68-14F424A630D3}"/>
                    </a:ext>
                  </a:extLst>
                </p:cNvPr>
                <p:cNvSpPr txBox="1">
                  <a:spLocks noRot="1" noChangeAspect="1" noMove="1" noResize="1" noEditPoints="1" noAdjustHandles="1" noChangeArrowheads="1" noChangeShapeType="1" noTextEdit="1"/>
                </p:cNvSpPr>
                <p:nvPr/>
              </p:nvSpPr>
              <p:spPr bwMode="auto">
                <a:xfrm>
                  <a:off x="567" y="0"/>
                  <a:ext cx="4320" cy="365"/>
                </a:xfrm>
                <a:prstGeom prst="rect">
                  <a:avLst/>
                </a:prstGeom>
                <a:blipFill>
                  <a:blip r:embed="rId5"/>
                  <a:stretch>
                    <a:fillRect l="-1867" t="-3158" b="-2842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3" name="Object 20">
                <a:extLst>
                  <a:ext uri="{FF2B5EF4-FFF2-40B4-BE49-F238E27FC236}">
                    <a16:creationId xmlns:a16="http://schemas.microsoft.com/office/drawing/2014/main" id="{F0268483-A70D-02CB-680D-DCF64365261D}"/>
                  </a:ext>
                </a:extLst>
              </p:cNvPr>
              <p:cNvSpPr txBox="1"/>
              <p:nvPr/>
            </p:nvSpPr>
            <p:spPr bwMode="auto">
              <a:xfrm>
                <a:off x="4083604" y="2896208"/>
                <a:ext cx="1689100" cy="53498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nor/>
                        </m:rPr>
                        <a:rPr kumimoji="1" lang="en-US" altLang="zh-CN" sz="2800" i="1" dirty="0" smtClean="0">
                          <a:solidFill>
                            <a:schemeClr val="tx1"/>
                          </a:solidFill>
                          <a:ea typeface="黑体" panose="02010609060101010101" pitchFamily="49" charset="-122"/>
                          <a:sym typeface="Symbol" panose="05050102010706020507" pitchFamily="18" charset="2"/>
                        </a:rPr>
                        <m:t></m:t>
                      </m:r>
                      <m:r>
                        <a:rPr lang="zh-CN" altLang="en-US" sz="2800" b="0" i="1" smtClean="0">
                          <a:solidFill>
                            <a:schemeClr val="tx1"/>
                          </a:solidFill>
                          <a:latin typeface="Cambria Math" panose="02040503050406030204" pitchFamily="18" charset="0"/>
                        </a:rPr>
                        <m:t>∝</m:t>
                      </m:r>
                      <m:sSup>
                        <m:sSupPr>
                          <m:ctrlPr>
                            <a:rPr lang="zh-CN" altLang="en-US" sz="2800" i="1">
                              <a:solidFill>
                                <a:schemeClr val="tx1"/>
                              </a:solidFill>
                              <a:latin typeface="Cambria Math" panose="02040503050406030204" pitchFamily="18" charset="0"/>
                            </a:rPr>
                          </m:ctrlPr>
                        </m:sSupPr>
                        <m:e>
                          <m:r>
                            <a:rPr lang="zh-CN" altLang="en-US" sz="2800" b="0" i="1">
                              <a:solidFill>
                                <a:schemeClr val="tx1"/>
                              </a:solidFill>
                              <a:latin typeface="Cambria Math" panose="02040503050406030204" pitchFamily="18" charset="0"/>
                            </a:rPr>
                            <m:t>𝑉</m:t>
                          </m:r>
                        </m:e>
                        <m:sup>
                          <m:r>
                            <a:rPr lang="en-US" altLang="zh-CN" sz="2800" i="1">
                              <a:solidFill>
                                <a:schemeClr val="tx1"/>
                              </a:solidFill>
                              <a:latin typeface="Cambria Math" panose="02040503050406030204" pitchFamily="18" charset="0"/>
                            </a:rPr>
                            <m:t>𝜈</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𝑁</m:t>
                              </m:r>
                            </m:e>
                            <m:sub>
                              <m:r>
                                <a:rPr lang="zh-CN" altLang="en-US" sz="2800" b="0" i="1">
                                  <a:solidFill>
                                    <a:schemeClr val="tx1"/>
                                  </a:solidFill>
                                  <a:latin typeface="Cambria Math" panose="02040503050406030204" pitchFamily="18" charset="0"/>
                                </a:rPr>
                                <m:t>𝐴</m:t>
                              </m:r>
                            </m:sub>
                          </m:sSub>
                        </m:sup>
                      </m:sSup>
                    </m:oMath>
                  </m:oMathPara>
                </a14:m>
                <a:endParaRPr lang="zh-CN" altLang="en-US" sz="2800" dirty="0">
                  <a:solidFill>
                    <a:schemeClr val="tx1"/>
                  </a:solidFill>
                </a:endParaRPr>
              </a:p>
            </p:txBody>
          </p:sp>
        </mc:Choice>
        <mc:Fallback xmlns="">
          <p:sp>
            <p:nvSpPr>
              <p:cNvPr id="43" name="Object 20">
                <a:extLst>
                  <a:ext uri="{FF2B5EF4-FFF2-40B4-BE49-F238E27FC236}">
                    <a16:creationId xmlns:a16="http://schemas.microsoft.com/office/drawing/2014/main" id="{F0268483-A70D-02CB-680D-DCF64365261D}"/>
                  </a:ext>
                </a:extLst>
              </p:cNvPr>
              <p:cNvSpPr txBox="1">
                <a:spLocks noRot="1" noChangeAspect="1" noMove="1" noResize="1" noEditPoints="1" noAdjustHandles="1" noChangeArrowheads="1" noChangeShapeType="1" noTextEdit="1"/>
              </p:cNvSpPr>
              <p:nvPr/>
            </p:nvSpPr>
            <p:spPr bwMode="auto">
              <a:xfrm>
                <a:off x="4083604" y="2896208"/>
                <a:ext cx="1689100" cy="534987"/>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Object 21">
                <a:extLst>
                  <a:ext uri="{FF2B5EF4-FFF2-40B4-BE49-F238E27FC236}">
                    <a16:creationId xmlns:a16="http://schemas.microsoft.com/office/drawing/2014/main" id="{4BB2ACAC-E879-360A-B09A-FE67F55DD857}"/>
                  </a:ext>
                </a:extLst>
              </p:cNvPr>
              <p:cNvSpPr txBox="1"/>
              <p:nvPr/>
            </p:nvSpPr>
            <p:spPr bwMode="auto">
              <a:xfrm>
                <a:off x="1883329" y="4395930"/>
                <a:ext cx="7473950" cy="1282700"/>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sz="2800" b="0" i="1" smtClean="0">
                          <a:solidFill>
                            <a:schemeClr val="tx1"/>
                          </a:solidFill>
                          <a:latin typeface="Cambria Math" panose="02040503050406030204" pitchFamily="18" charset="0"/>
                        </a:rPr>
                        <m:t>𝛥</m:t>
                      </m:r>
                      <m:r>
                        <a:rPr lang="zh-CN" altLang="en-US" sz="2800" b="0" i="1" smtClean="0">
                          <a:solidFill>
                            <a:schemeClr val="tx1"/>
                          </a:solidFill>
                          <a:latin typeface="Cambria Math" panose="02040503050406030204" pitchFamily="18" charset="0"/>
                        </a:rPr>
                        <m:t>𝑆</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𝑘</m:t>
                      </m:r>
                      <m:func>
                        <m:funcPr>
                          <m:ctrlPr>
                            <a:rPr lang="zh-CN" altLang="en-US" sz="2800" i="1">
                              <a:solidFill>
                                <a:schemeClr val="tx1"/>
                              </a:solidFill>
                              <a:latin typeface="Cambria Math" panose="02040503050406030204" pitchFamily="18" charset="0"/>
                            </a:rPr>
                          </m:ctrlPr>
                        </m:funcPr>
                        <m:fName>
                          <m:r>
                            <m:rPr>
                              <m:sty m:val="p"/>
                            </m:rPr>
                            <a:rPr lang="zh-CN" altLang="en-US" sz="2800" b="0" i="0">
                              <a:solidFill>
                                <a:schemeClr val="tx1"/>
                              </a:solidFill>
                              <a:latin typeface="Cambria Math" panose="02040503050406030204" pitchFamily="18" charset="0"/>
                            </a:rPr>
                            <m:t>ln</m:t>
                          </m:r>
                        </m:fName>
                        <m:e>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b="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m:rPr>
                                      <m:nor/>
                                    </m:rPr>
                                    <a:rPr kumimoji="1" lang="en-US" altLang="zh-CN" sz="2800" i="1" dirty="0">
                                      <a:solidFill>
                                        <a:schemeClr val="tx1"/>
                                      </a:solidFill>
                                      <a:ea typeface="黑体" panose="02010609060101010101" pitchFamily="49" charset="-122"/>
                                      <a:sym typeface="Symbol" panose="05050102010706020507" pitchFamily="18" charset="2"/>
                                    </a:rPr>
                                    <m:t></m:t>
                                  </m:r>
                                </m:e>
                                <m:sub>
                                  <m:r>
                                    <a:rPr lang="zh-CN" altLang="en-US" sz="2800" b="0" i="1">
                                      <a:solidFill>
                                        <a:schemeClr val="tx1"/>
                                      </a:solidFill>
                                      <a:latin typeface="Cambria Math" panose="02040503050406030204" pitchFamily="18" charset="0"/>
                                    </a:rPr>
                                    <m:t>1</m:t>
                                  </m:r>
                                </m:sub>
                              </m:sSub>
                            </m:den>
                          </m:f>
                        </m:e>
                      </m:func>
                      <m:r>
                        <a:rPr lang="zh-CN" altLang="en-US" sz="2800" b="0" i="1">
                          <a:solidFill>
                            <a:schemeClr val="tx1"/>
                          </a:solidFill>
                          <a:latin typeface="Cambria Math" panose="02040503050406030204" pitchFamily="18" charset="0"/>
                        </a:rPr>
                        <m:t>=</m:t>
                      </m:r>
                      <m:r>
                        <a:rPr lang="zh-CN" altLang="en-US" sz="2800" b="0" i="1">
                          <a:solidFill>
                            <a:schemeClr val="tx1"/>
                          </a:solidFill>
                          <a:latin typeface="Cambria Math" panose="02040503050406030204" pitchFamily="18" charset="0"/>
                        </a:rPr>
                        <m:t>𝑘</m:t>
                      </m:r>
                      <m:func>
                        <m:funcPr>
                          <m:ctrlPr>
                            <a:rPr lang="zh-CN" altLang="en-US" sz="2800" i="1">
                              <a:solidFill>
                                <a:schemeClr val="tx1"/>
                              </a:solidFill>
                              <a:latin typeface="Cambria Math" panose="02040503050406030204" pitchFamily="18" charset="0"/>
                            </a:rPr>
                          </m:ctrlPr>
                        </m:funcPr>
                        <m:fName>
                          <m:r>
                            <m:rPr>
                              <m:sty m:val="p"/>
                            </m:rPr>
                            <a:rPr lang="zh-CN" altLang="en-US" sz="2800" b="0" i="0">
                              <a:solidFill>
                                <a:schemeClr val="tx1"/>
                              </a:solidFill>
                              <a:latin typeface="Cambria Math" panose="02040503050406030204" pitchFamily="18" charset="0"/>
                            </a:rPr>
                            <m:t>ln</m:t>
                          </m:r>
                        </m:fName>
                        <m:e>
                          <m:r>
                            <a:rPr lang="zh-CN" altLang="en-US" sz="2800" b="0" i="1">
                              <a:solidFill>
                                <a:schemeClr val="tx1"/>
                              </a:solidFill>
                              <a:latin typeface="Cambria Math" panose="02040503050406030204" pitchFamily="18" charset="0"/>
                            </a:rPr>
                            <m:t>(</m:t>
                          </m:r>
                        </m:e>
                      </m:func>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1</m:t>
                              </m:r>
                            </m:sub>
                          </m:sSub>
                        </m:den>
                      </m:f>
                      <m:sSup>
                        <m:sSupPr>
                          <m:ctrlPr>
                            <a:rPr lang="zh-CN" altLang="en-US" sz="2800" i="1">
                              <a:solidFill>
                                <a:schemeClr val="tx1"/>
                              </a:solidFill>
                              <a:latin typeface="Cambria Math" panose="02040503050406030204" pitchFamily="18" charset="0"/>
                            </a:rPr>
                          </m:ctrlPr>
                        </m:sSupPr>
                        <m:e>
                          <m:r>
                            <a:rPr lang="zh-CN" altLang="en-US" sz="2800" b="0" i="1">
                              <a:solidFill>
                                <a:schemeClr val="tx1"/>
                              </a:solidFill>
                              <a:latin typeface="Cambria Math" panose="02040503050406030204" pitchFamily="18" charset="0"/>
                            </a:rPr>
                            <m:t>)</m:t>
                          </m:r>
                        </m:e>
                        <m:sup>
                          <m:r>
                            <a:rPr lang="en-US" altLang="zh-CN" sz="2800" i="1">
                              <a:solidFill>
                                <a:schemeClr val="tx1"/>
                              </a:solidFill>
                              <a:latin typeface="Cambria Math" panose="02040503050406030204" pitchFamily="18" charset="0"/>
                            </a:rPr>
                            <m:t>𝜈</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𝑁</m:t>
                              </m:r>
                            </m:e>
                            <m:sub>
                              <m:r>
                                <a:rPr lang="zh-CN" altLang="en-US" sz="2800" b="0" i="1">
                                  <a:solidFill>
                                    <a:schemeClr val="tx1"/>
                                  </a:solidFill>
                                  <a:latin typeface="Cambria Math" panose="02040503050406030204" pitchFamily="18" charset="0"/>
                                </a:rPr>
                                <m:t>𝐴</m:t>
                              </m:r>
                            </m:sub>
                          </m:sSub>
                        </m:sup>
                      </m:sSup>
                      <m:r>
                        <a:rPr lang="zh-CN" altLang="en-US" sz="2800" b="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𝜈</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𝑁</m:t>
                          </m:r>
                        </m:e>
                        <m:sub>
                          <m:r>
                            <a:rPr lang="zh-CN" altLang="en-US" sz="2800" b="0" i="1">
                              <a:solidFill>
                                <a:schemeClr val="tx1"/>
                              </a:solidFill>
                              <a:latin typeface="Cambria Math" panose="02040503050406030204" pitchFamily="18" charset="0"/>
                            </a:rPr>
                            <m:t>𝐴</m:t>
                          </m:r>
                        </m:sub>
                      </m:sSub>
                      <m:r>
                        <a:rPr lang="zh-CN" altLang="en-US" sz="2800" b="0" i="1">
                          <a:solidFill>
                            <a:schemeClr val="tx1"/>
                          </a:solidFill>
                          <a:latin typeface="Cambria Math" panose="02040503050406030204" pitchFamily="18" charset="0"/>
                        </a:rPr>
                        <m:t>𝑘</m:t>
                      </m:r>
                      <m:func>
                        <m:funcPr>
                          <m:ctrlPr>
                            <a:rPr lang="zh-CN" altLang="en-US" sz="2800" i="1">
                              <a:solidFill>
                                <a:schemeClr val="tx1"/>
                              </a:solidFill>
                              <a:latin typeface="Cambria Math" panose="02040503050406030204" pitchFamily="18" charset="0"/>
                            </a:rPr>
                          </m:ctrlPr>
                        </m:funcPr>
                        <m:fName>
                          <m:r>
                            <m:rPr>
                              <m:sty m:val="p"/>
                            </m:rPr>
                            <a:rPr lang="zh-CN" altLang="en-US" sz="2800" b="0" i="0">
                              <a:solidFill>
                                <a:schemeClr val="tx1"/>
                              </a:solidFill>
                              <a:latin typeface="Cambria Math" panose="02040503050406030204" pitchFamily="18" charset="0"/>
                            </a:rPr>
                            <m:t>ln</m:t>
                          </m:r>
                        </m:fName>
                        <m:e>
                          <m:r>
                            <a:rPr lang="zh-CN" altLang="en-US" sz="2800" b="0" i="1">
                              <a:solidFill>
                                <a:schemeClr val="tx1"/>
                              </a:solidFill>
                              <a:latin typeface="Cambria Math" panose="02040503050406030204" pitchFamily="18" charset="0"/>
                            </a:rPr>
                            <m:t>(</m:t>
                          </m:r>
                        </m:e>
                      </m:func>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1</m:t>
                              </m:r>
                            </m:sub>
                          </m:sSub>
                        </m:den>
                      </m:f>
                      <m:r>
                        <a:rPr lang="zh-CN" altLang="en-US" sz="2800" b="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𝜈</m:t>
                      </m:r>
                      <m:r>
                        <a:rPr lang="zh-CN" altLang="en-US" sz="2800" b="0" i="1">
                          <a:solidFill>
                            <a:schemeClr val="tx1"/>
                          </a:solidFill>
                          <a:latin typeface="Cambria Math" panose="02040503050406030204" pitchFamily="18" charset="0"/>
                        </a:rPr>
                        <m:t>𝑅</m:t>
                      </m:r>
                      <m:func>
                        <m:funcPr>
                          <m:ctrlPr>
                            <a:rPr lang="zh-CN" altLang="en-US" sz="2800" i="1">
                              <a:solidFill>
                                <a:schemeClr val="tx1"/>
                              </a:solidFill>
                              <a:latin typeface="Cambria Math" panose="02040503050406030204" pitchFamily="18" charset="0"/>
                            </a:rPr>
                          </m:ctrlPr>
                        </m:funcPr>
                        <m:fName>
                          <m:r>
                            <m:rPr>
                              <m:sty m:val="p"/>
                            </m:rPr>
                            <a:rPr lang="zh-CN" altLang="en-US" sz="2800" b="0" i="0">
                              <a:solidFill>
                                <a:schemeClr val="tx1"/>
                              </a:solidFill>
                              <a:latin typeface="Cambria Math" panose="02040503050406030204" pitchFamily="18" charset="0"/>
                            </a:rPr>
                            <m:t>ln</m:t>
                          </m:r>
                        </m:fName>
                        <m:e>
                          <m:f>
                            <m:fPr>
                              <m:ctrlPr>
                                <a:rPr lang="zh-CN" altLang="en-US" sz="2800" i="1">
                                  <a:solidFill>
                                    <a:schemeClr val="tx1"/>
                                  </a:solidFill>
                                  <a:latin typeface="Cambria Math" panose="02040503050406030204" pitchFamily="18" charset="0"/>
                                </a:rPr>
                              </m:ctrlPr>
                            </m:fPr>
                            <m:num>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2</m:t>
                                  </m:r>
                                </m:sub>
                              </m:sSub>
                            </m:num>
                            <m:den>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𝑉</m:t>
                                  </m:r>
                                </m:e>
                                <m:sub>
                                  <m:r>
                                    <a:rPr lang="zh-CN" altLang="en-US" sz="2800" b="0" i="1">
                                      <a:solidFill>
                                        <a:schemeClr val="tx1"/>
                                      </a:solidFill>
                                      <a:latin typeface="Cambria Math" panose="02040503050406030204" pitchFamily="18" charset="0"/>
                                    </a:rPr>
                                    <m:t>1</m:t>
                                  </m:r>
                                </m:sub>
                              </m:sSub>
                            </m:den>
                          </m:f>
                        </m:e>
                      </m:func>
                    </m:oMath>
                  </m:oMathPara>
                </a14:m>
                <a:br>
                  <a:rPr lang="zh-CN" altLang="en-US" sz="2800" dirty="0">
                    <a:solidFill>
                      <a:schemeClr val="tx1"/>
                    </a:solidFill>
                  </a:rPr>
                </a:br>
                <a:endParaRPr lang="zh-CN" altLang="en-US" sz="2800" dirty="0">
                  <a:solidFill>
                    <a:schemeClr val="tx1"/>
                  </a:solidFill>
                </a:endParaRPr>
              </a:p>
            </p:txBody>
          </p:sp>
        </mc:Choice>
        <mc:Fallback xmlns="">
          <p:sp>
            <p:nvSpPr>
              <p:cNvPr id="44" name="Object 21">
                <a:extLst>
                  <a:ext uri="{FF2B5EF4-FFF2-40B4-BE49-F238E27FC236}">
                    <a16:creationId xmlns:a16="http://schemas.microsoft.com/office/drawing/2014/main" id="{4BB2ACAC-E879-360A-B09A-FE67F55DD857}"/>
                  </a:ext>
                </a:extLst>
              </p:cNvPr>
              <p:cNvSpPr txBox="1">
                <a:spLocks noRot="1" noChangeAspect="1" noMove="1" noResize="1" noEditPoints="1" noAdjustHandles="1" noChangeArrowheads="1" noChangeShapeType="1" noTextEdit="1"/>
              </p:cNvSpPr>
              <p:nvPr/>
            </p:nvSpPr>
            <p:spPr bwMode="auto">
              <a:xfrm>
                <a:off x="1883329" y="4395930"/>
                <a:ext cx="7473950" cy="1282700"/>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45" name="Text Box 7">
            <a:extLst>
              <a:ext uri="{FF2B5EF4-FFF2-40B4-BE49-F238E27FC236}">
                <a16:creationId xmlns:a16="http://schemas.microsoft.com/office/drawing/2014/main" id="{6E7B1B9F-E2DE-AB6E-B957-2261E20FB7A2}"/>
              </a:ext>
            </a:extLst>
          </p:cNvPr>
          <p:cNvSpPr txBox="1">
            <a:spLocks noChangeArrowheads="1"/>
          </p:cNvSpPr>
          <p:nvPr/>
        </p:nvSpPr>
        <p:spPr bwMode="auto">
          <a:xfrm>
            <a:off x="1624540" y="5581837"/>
            <a:ext cx="9315502" cy="576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zh-CN" sz="2800" dirty="0"/>
              <a:t>两者结果相同, 表明了克劳修斯熵与玻耳兹曼熵的等价性</a:t>
            </a:r>
          </a:p>
        </p:txBody>
      </p:sp>
    </p:spTree>
    <p:extLst>
      <p:ext uri="{BB962C8B-B14F-4D97-AF65-F5344CB8AC3E}">
        <p14:creationId xmlns:p14="http://schemas.microsoft.com/office/powerpoint/2010/main" val="29113477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21" grpId="0"/>
      <p:bldP spid="23" grpId="0" autoUpdateAnimBg="0"/>
      <p:bldP spid="23" grpId="1"/>
      <p:bldP spid="39" grpId="0"/>
      <p:bldP spid="43" grpId="0"/>
      <p:bldP spid="44" grpId="0"/>
      <p:bldP spid="45" grpId="0" autoUpdateAnimBg="0"/>
      <p:bldP spid="45"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3">
            <a:hlinkClick r:id="" action="ppaction://noaction"/>
            <a:extLst>
              <a:ext uri="{FF2B5EF4-FFF2-40B4-BE49-F238E27FC236}">
                <a16:creationId xmlns:a16="http://schemas.microsoft.com/office/drawing/2014/main" id="{8E77FAB5-BFD6-B9E7-BAC1-CCACF12DA9CD}"/>
              </a:ext>
            </a:extLst>
          </p:cNvPr>
          <p:cNvSpPr txBox="1">
            <a:spLocks noChangeArrowheads="1"/>
          </p:cNvSpPr>
          <p:nvPr/>
        </p:nvSpPr>
        <p:spPr bwMode="auto">
          <a:xfrm>
            <a:off x="574057" y="405824"/>
            <a:ext cx="86932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热力学基本方程</a:t>
            </a:r>
          </a:p>
        </p:txBody>
      </p:sp>
      <p:grpSp>
        <p:nvGrpSpPr>
          <p:cNvPr id="2" name="Group 23">
            <a:extLst>
              <a:ext uri="{FF2B5EF4-FFF2-40B4-BE49-F238E27FC236}">
                <a16:creationId xmlns:a16="http://schemas.microsoft.com/office/drawing/2014/main" id="{5E300574-530D-A097-B44A-2475D67FFA8D}"/>
              </a:ext>
            </a:extLst>
          </p:cNvPr>
          <p:cNvGrpSpPr>
            <a:grpSpLocks/>
          </p:cNvGrpSpPr>
          <p:nvPr/>
        </p:nvGrpSpPr>
        <p:grpSpPr bwMode="auto">
          <a:xfrm>
            <a:off x="1972637" y="1292180"/>
            <a:ext cx="5029654" cy="847725"/>
            <a:chOff x="1248" y="2374"/>
            <a:chExt cx="2951" cy="534"/>
          </a:xfrm>
        </p:grpSpPr>
        <p:sp>
          <p:nvSpPr>
            <p:cNvPr id="3" name="Rectangle 14">
              <a:extLst>
                <a:ext uri="{FF2B5EF4-FFF2-40B4-BE49-F238E27FC236}">
                  <a16:creationId xmlns:a16="http://schemas.microsoft.com/office/drawing/2014/main" id="{0BB1688C-A3D5-2599-96C4-2FD826EA0C24}"/>
                </a:ext>
              </a:extLst>
            </p:cNvPr>
            <p:cNvSpPr>
              <a:spLocks noChangeArrowheads="1"/>
            </p:cNvSpPr>
            <p:nvPr/>
          </p:nvSpPr>
          <p:spPr bwMode="auto">
            <a:xfrm>
              <a:off x="1248" y="2452"/>
              <a:ext cx="19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zh-CN" altLang="en-US" b="0" dirty="0">
                  <a:latin typeface="+mn-lt"/>
                  <a:ea typeface="+mn-ea"/>
                </a:rPr>
                <a:t>对于微小可逆过程</a:t>
              </a:r>
            </a:p>
          </p:txBody>
        </p:sp>
        <p:graphicFrame>
          <p:nvGraphicFramePr>
            <p:cNvPr id="4" name="Object 16">
              <a:extLst>
                <a:ext uri="{FF2B5EF4-FFF2-40B4-BE49-F238E27FC236}">
                  <a16:creationId xmlns:a16="http://schemas.microsoft.com/office/drawing/2014/main" id="{AA97CDCA-25D7-2292-4E12-A192D76338EB}"/>
                </a:ext>
              </a:extLst>
            </p:cNvPr>
            <p:cNvGraphicFramePr>
              <a:graphicFrameLocks/>
            </p:cNvGraphicFramePr>
            <p:nvPr>
              <p:extLst/>
            </p:nvPr>
          </p:nvGraphicFramePr>
          <p:xfrm>
            <a:off x="3162" y="2374"/>
            <a:ext cx="1037" cy="534"/>
          </p:xfrm>
          <a:graphic>
            <a:graphicData uri="http://schemas.openxmlformats.org/presentationml/2006/ole">
              <mc:AlternateContent xmlns:mc="http://schemas.openxmlformats.org/markup-compatibility/2006">
                <mc:Choice xmlns:v="urn:schemas-microsoft-com:vml" Requires="v">
                  <p:oleObj spid="_x0000_s9229" name="Equation" r:id="rId3" imgW="495000" imgH="330120" progId="Equation.2">
                    <p:embed/>
                  </p:oleObj>
                </mc:Choice>
                <mc:Fallback>
                  <p:oleObj name="Equation" r:id="rId3" imgW="495000" imgH="330120" progId="Equation.2">
                    <p:embed/>
                    <p:pic>
                      <p:nvPicPr>
                        <p:cNvPr id="4" name="Object 16">
                          <a:extLst>
                            <a:ext uri="{FF2B5EF4-FFF2-40B4-BE49-F238E27FC236}">
                              <a16:creationId xmlns:a16="http://schemas.microsoft.com/office/drawing/2014/main" id="{AA97CDCA-25D7-2292-4E12-A192D76338E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2" y="2374"/>
                          <a:ext cx="1037" cy="534"/>
                        </a:xfrm>
                        <a:prstGeom prst="rect">
                          <a:avLst/>
                        </a:prstGeom>
                        <a:noFill/>
                        <a:ln>
                          <a:noFill/>
                        </a:ln>
                        <a:effectLst/>
                      </p:spPr>
                    </p:pic>
                  </p:oleObj>
                </mc:Fallback>
              </mc:AlternateContent>
            </a:graphicData>
          </a:graphic>
        </p:graphicFrame>
      </p:grpSp>
      <mc:AlternateContent xmlns:mc="http://schemas.openxmlformats.org/markup-compatibility/2006" xmlns:a14="http://schemas.microsoft.com/office/drawing/2010/main">
        <mc:Choice Requires="a14">
          <p:sp>
            <p:nvSpPr>
              <p:cNvPr id="5" name="Object 19">
                <a:extLst>
                  <a:ext uri="{FF2B5EF4-FFF2-40B4-BE49-F238E27FC236}">
                    <a16:creationId xmlns:a16="http://schemas.microsoft.com/office/drawing/2014/main" id="{F4A4A6FE-7B4D-316B-4637-CE0126A8682B}"/>
                  </a:ext>
                </a:extLst>
              </p:cNvPr>
              <p:cNvSpPr txBox="1"/>
              <p:nvPr/>
            </p:nvSpPr>
            <p:spPr bwMode="auto">
              <a:xfrm>
                <a:off x="3668823" y="3337804"/>
                <a:ext cx="3656013" cy="5873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sz="2800" b="0" i="1" smtClean="0">
                          <a:solidFill>
                            <a:schemeClr val="tx1"/>
                          </a:solidFill>
                          <a:latin typeface="Cambria Math" panose="02040503050406030204" pitchFamily="18" charset="0"/>
                        </a:rPr>
                        <m:t>𝑑𝑄</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𝑑𝐸</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𝑝𝑑𝑉</m:t>
                      </m:r>
                    </m:oMath>
                  </m:oMathPara>
                </a14:m>
                <a:endParaRPr lang="zh-CN" altLang="en-US" sz="2800" dirty="0">
                  <a:solidFill>
                    <a:schemeClr val="tx1"/>
                  </a:solidFill>
                </a:endParaRPr>
              </a:p>
            </p:txBody>
          </p:sp>
        </mc:Choice>
        <mc:Fallback xmlns="">
          <p:sp>
            <p:nvSpPr>
              <p:cNvPr id="5" name="Object 19">
                <a:extLst>
                  <a:ext uri="{FF2B5EF4-FFF2-40B4-BE49-F238E27FC236}">
                    <a16:creationId xmlns:a16="http://schemas.microsoft.com/office/drawing/2014/main" id="{F4A4A6FE-7B4D-316B-4637-CE0126A8682B}"/>
                  </a:ext>
                </a:extLst>
              </p:cNvPr>
              <p:cNvSpPr txBox="1">
                <a:spLocks noRot="1" noChangeAspect="1" noMove="1" noResize="1" noEditPoints="1" noAdjustHandles="1" noChangeArrowheads="1" noChangeShapeType="1" noTextEdit="1"/>
              </p:cNvSpPr>
              <p:nvPr/>
            </p:nvSpPr>
            <p:spPr bwMode="auto">
              <a:xfrm>
                <a:off x="3668823" y="3337804"/>
                <a:ext cx="3656013" cy="58737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20">
                <a:extLst>
                  <a:ext uri="{FF2B5EF4-FFF2-40B4-BE49-F238E27FC236}">
                    <a16:creationId xmlns:a16="http://schemas.microsoft.com/office/drawing/2014/main" id="{C63B61EA-CA84-BF9C-6232-1133F6A1092C}"/>
                  </a:ext>
                </a:extLst>
              </p:cNvPr>
              <p:cNvSpPr txBox="1"/>
              <p:nvPr/>
            </p:nvSpPr>
            <p:spPr bwMode="auto">
              <a:xfrm>
                <a:off x="1806133" y="4360741"/>
                <a:ext cx="4525963" cy="5873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altLang="zh-CN" sz="2800" b="0" i="1" smtClean="0">
                          <a:solidFill>
                            <a:schemeClr val="tx1"/>
                          </a:solidFill>
                          <a:latin typeface="Cambria Math" panose="02040503050406030204" pitchFamily="18" charset="0"/>
                        </a:rPr>
                        <m:t> </m:t>
                      </m:r>
                      <m:r>
                        <a:rPr lang="zh-CN" altLang="en-US" sz="2800" b="0" i="1" smtClean="0">
                          <a:solidFill>
                            <a:schemeClr val="tx1"/>
                          </a:solidFill>
                          <a:latin typeface="Cambria Math" panose="02040503050406030204" pitchFamily="18" charset="0"/>
                        </a:rPr>
                        <m:t>𝑇𝑑𝑆</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𝑑𝐸</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𝑝𝑑𝑉</m:t>
                      </m:r>
                    </m:oMath>
                  </m:oMathPara>
                </a14:m>
                <a:endParaRPr lang="zh-CN" altLang="en-US" sz="2800" dirty="0">
                  <a:solidFill>
                    <a:schemeClr val="tx1"/>
                  </a:solidFill>
                </a:endParaRPr>
              </a:p>
            </p:txBody>
          </p:sp>
        </mc:Choice>
        <mc:Fallback xmlns="">
          <p:sp>
            <p:nvSpPr>
              <p:cNvPr id="6" name="Object 20">
                <a:extLst>
                  <a:ext uri="{FF2B5EF4-FFF2-40B4-BE49-F238E27FC236}">
                    <a16:creationId xmlns:a16="http://schemas.microsoft.com/office/drawing/2014/main" id="{C63B61EA-CA84-BF9C-6232-1133F6A1092C}"/>
                  </a:ext>
                </a:extLst>
              </p:cNvPr>
              <p:cNvSpPr txBox="1">
                <a:spLocks noRot="1" noChangeAspect="1" noMove="1" noResize="1" noEditPoints="1" noAdjustHandles="1" noChangeArrowheads="1" noChangeShapeType="1" noTextEdit="1"/>
              </p:cNvSpPr>
              <p:nvPr/>
            </p:nvSpPr>
            <p:spPr bwMode="auto">
              <a:xfrm>
                <a:off x="1806133" y="4360741"/>
                <a:ext cx="4525963" cy="587375"/>
              </a:xfrm>
              <a:prstGeom prst="rect">
                <a:avLst/>
              </a:prstGeom>
              <a:blipFill>
                <a:blip r:embed="rId6"/>
                <a:stretch>
                  <a:fillRect/>
                </a:stretch>
              </a:blipFill>
            </p:spPr>
            <p:txBody>
              <a:bodyPr/>
              <a:lstStyle/>
              <a:p>
                <a:r>
                  <a:rPr lang="zh-CN" altLang="en-US">
                    <a:noFill/>
                  </a:rPr>
                  <a:t> </a:t>
                </a:r>
              </a:p>
            </p:txBody>
          </p:sp>
        </mc:Fallback>
      </mc:AlternateContent>
      <p:sp>
        <p:nvSpPr>
          <p:cNvPr id="7" name="Rectangle 3">
            <a:extLst>
              <a:ext uri="{FF2B5EF4-FFF2-40B4-BE49-F238E27FC236}">
                <a16:creationId xmlns:a16="http://schemas.microsoft.com/office/drawing/2014/main" id="{97ED71FE-602A-17C2-35C0-164FB6128966}"/>
              </a:ext>
            </a:extLst>
          </p:cNvPr>
          <p:cNvSpPr>
            <a:spLocks noChangeArrowheads="1"/>
          </p:cNvSpPr>
          <p:nvPr/>
        </p:nvSpPr>
        <p:spPr bwMode="auto">
          <a:xfrm>
            <a:off x="1677902" y="2449412"/>
            <a:ext cx="341760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zh-CN" altLang="zh-CN" sz="2800" dirty="0"/>
              <a:t>根据热力学第一定律</a:t>
            </a:r>
          </a:p>
        </p:txBody>
      </p:sp>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D8C44BA8-AC9E-1162-D151-3E1B1AD3CD1B}"/>
                  </a:ext>
                </a:extLst>
              </p:cNvPr>
              <p:cNvSpPr txBox="1"/>
              <p:nvPr/>
            </p:nvSpPr>
            <p:spPr bwMode="auto">
              <a:xfrm>
                <a:off x="5234839" y="2453230"/>
                <a:ext cx="3516044" cy="5048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smtClean="0">
                          <a:solidFill>
                            <a:schemeClr val="tx1"/>
                          </a:solidFill>
                          <a:latin typeface="Cambria Math" panose="02040503050406030204" pitchFamily="18" charset="0"/>
                        </a:rPr>
                        <m:t>𝑑𝑄</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𝑑𝐸</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𝑑𝐴</m:t>
                      </m:r>
                    </m:oMath>
                  </m:oMathPara>
                </a14:m>
                <a:endParaRPr lang="zh-CN" altLang="en-US" sz="2800" dirty="0">
                  <a:solidFill>
                    <a:schemeClr val="tx1"/>
                  </a:solidFill>
                </a:endParaRPr>
              </a:p>
            </p:txBody>
          </p:sp>
        </mc:Choice>
        <mc:Fallback xmlns="">
          <p:sp>
            <p:nvSpPr>
              <p:cNvPr id="8" name="Object 7">
                <a:extLst>
                  <a:ext uri="{FF2B5EF4-FFF2-40B4-BE49-F238E27FC236}">
                    <a16:creationId xmlns:a16="http://schemas.microsoft.com/office/drawing/2014/main" id="{D8C44BA8-AC9E-1162-D151-3E1B1AD3CD1B}"/>
                  </a:ext>
                </a:extLst>
              </p:cNvPr>
              <p:cNvSpPr txBox="1">
                <a:spLocks noRot="1" noChangeAspect="1" noMove="1" noResize="1" noEditPoints="1" noAdjustHandles="1" noChangeArrowheads="1" noChangeShapeType="1" noTextEdit="1"/>
              </p:cNvSpPr>
              <p:nvPr/>
            </p:nvSpPr>
            <p:spPr bwMode="auto">
              <a:xfrm>
                <a:off x="5234839" y="2453230"/>
                <a:ext cx="3516044" cy="504825"/>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9" name="Rectangle 4">
            <a:extLst>
              <a:ext uri="{FF2B5EF4-FFF2-40B4-BE49-F238E27FC236}">
                <a16:creationId xmlns:a16="http://schemas.microsoft.com/office/drawing/2014/main" id="{186EDF7B-B74E-4387-8F66-32FB110CD5E0}"/>
              </a:ext>
            </a:extLst>
          </p:cNvPr>
          <p:cNvSpPr>
            <a:spLocks noChangeArrowheads="1"/>
          </p:cNvSpPr>
          <p:nvPr/>
        </p:nvSpPr>
        <p:spPr bwMode="auto">
          <a:xfrm>
            <a:off x="5095504" y="4092434"/>
            <a:ext cx="5095435" cy="109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lnSpc>
                <a:spcPct val="120000"/>
              </a:lnSpc>
            </a:pPr>
            <a:r>
              <a:rPr lang="zh-CN" altLang="zh-CN" sz="2800" dirty="0"/>
              <a:t>这就是综合了热力学第一、第二定律的</a:t>
            </a:r>
            <a:r>
              <a:rPr lang="zh-CN" altLang="zh-CN" sz="2800" dirty="0">
                <a:effectLst>
                  <a:outerShdw blurRad="38100" dist="38100" dir="2700000" algn="tl">
                    <a:srgbClr val="C0C0C0"/>
                  </a:outerShdw>
                </a:effectLst>
              </a:rPr>
              <a:t>热力学基本关系式。</a:t>
            </a:r>
          </a:p>
        </p:txBody>
      </p:sp>
      <mc:AlternateContent xmlns:mc="http://schemas.openxmlformats.org/markup-compatibility/2006" xmlns:a14="http://schemas.microsoft.com/office/drawing/2010/main">
        <mc:Choice Requires="a14">
          <p:sp>
            <p:nvSpPr>
              <p:cNvPr id="11" name="Object 6">
                <a:extLst>
                  <a:ext uri="{FF2B5EF4-FFF2-40B4-BE49-F238E27FC236}">
                    <a16:creationId xmlns:a16="http://schemas.microsoft.com/office/drawing/2014/main" id="{2D81C03F-5051-3C97-B250-FDE0DB695CEF}"/>
                  </a:ext>
                </a:extLst>
              </p:cNvPr>
              <p:cNvSpPr txBox="1"/>
              <p:nvPr/>
            </p:nvSpPr>
            <p:spPr bwMode="auto">
              <a:xfrm>
                <a:off x="3016072" y="5685049"/>
                <a:ext cx="5095434" cy="425450"/>
              </a:xfrm>
              <a:prstGeom prst="rect">
                <a:avLst/>
              </a:prstGeom>
              <a:solidFill>
                <a:schemeClr val="bg1"/>
              </a:solidFill>
              <a:ln w="9525" cmpd="sng">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latin typeface="Cambria Math" panose="02040503050406030204" pitchFamily="18" charset="0"/>
                        </a:rPr>
                        <m:t>普遍</m:t>
                      </m:r>
                      <m:r>
                        <a:rPr lang="zh-CN" altLang="en-US" sz="2800" i="1" smtClean="0">
                          <a:latin typeface="Cambria Math" panose="02040503050406030204" pitchFamily="18" charset="0"/>
                        </a:rPr>
                        <m:t>形式</m:t>
                      </m:r>
                      <m:r>
                        <a:rPr lang="zh-CN" altLang="en-US" sz="2800" i="1">
                          <a:latin typeface="Cambria Math" panose="02040503050406030204" pitchFamily="18" charset="0"/>
                        </a:rPr>
                        <m:t>：</m:t>
                      </m:r>
                      <m:r>
                        <a:rPr lang="zh-CN" altLang="en-US" sz="2800" b="0" i="1" smtClean="0">
                          <a:solidFill>
                            <a:schemeClr val="tx1"/>
                          </a:solidFill>
                          <a:latin typeface="Cambria Math" panose="02040503050406030204" pitchFamily="18" charset="0"/>
                        </a:rPr>
                        <m:t>𝑇𝑑𝑆</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𝑑𝐸</m:t>
                      </m:r>
                      <m:r>
                        <a:rPr lang="zh-CN" altLang="en-US" sz="2800" b="0" i="1" smtClean="0">
                          <a:solidFill>
                            <a:schemeClr val="tx1"/>
                          </a:solidFill>
                          <a:latin typeface="Cambria Math" panose="02040503050406030204" pitchFamily="18" charset="0"/>
                        </a:rPr>
                        <m:t>+</m:t>
                      </m:r>
                      <m:r>
                        <a:rPr lang="zh-CN" altLang="en-US" sz="2800" b="0" i="1" smtClean="0">
                          <a:solidFill>
                            <a:schemeClr val="tx1"/>
                          </a:solidFill>
                          <a:latin typeface="Cambria Math" panose="02040503050406030204" pitchFamily="18" charset="0"/>
                        </a:rPr>
                        <m:t>𝑃𝑑𝑉</m:t>
                      </m:r>
                    </m:oMath>
                  </m:oMathPara>
                </a14:m>
                <a:endParaRPr lang="zh-CN" altLang="en-US" sz="2800" dirty="0">
                  <a:solidFill>
                    <a:schemeClr val="tx1"/>
                  </a:solidFill>
                </a:endParaRPr>
              </a:p>
            </p:txBody>
          </p:sp>
        </mc:Choice>
        <mc:Fallback xmlns="">
          <p:sp>
            <p:nvSpPr>
              <p:cNvPr id="11" name="Object 6">
                <a:extLst>
                  <a:ext uri="{FF2B5EF4-FFF2-40B4-BE49-F238E27FC236}">
                    <a16:creationId xmlns:a16="http://schemas.microsoft.com/office/drawing/2014/main" id="{2D81C03F-5051-3C97-B250-FDE0DB695CEF}"/>
                  </a:ext>
                </a:extLst>
              </p:cNvPr>
              <p:cNvSpPr txBox="1">
                <a:spLocks noRot="1" noChangeAspect="1" noMove="1" noResize="1" noEditPoints="1" noAdjustHandles="1" noChangeArrowheads="1" noChangeShapeType="1" noTextEdit="1"/>
              </p:cNvSpPr>
              <p:nvPr/>
            </p:nvSpPr>
            <p:spPr bwMode="auto">
              <a:xfrm>
                <a:off x="3016072" y="5685049"/>
                <a:ext cx="5095434" cy="425450"/>
              </a:xfrm>
              <a:prstGeom prst="rect">
                <a:avLst/>
              </a:prstGeom>
              <a:blipFill>
                <a:blip r:embed="rId8"/>
                <a:stretch>
                  <a:fillRect b="-2817"/>
                </a:stretch>
              </a:blipFill>
              <a:ln w="9525" cmpd="sng">
                <a:solidFill>
                  <a:schemeClr val="bg1"/>
                </a:solid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26562764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utoUpdateAnimBg="0"/>
      <p:bldP spid="7" grpId="1"/>
      <p:bldP spid="8" grpId="0"/>
      <p:bldP spid="9" grpId="0" autoUpdateAnimBg="0"/>
      <p:bldP spid="9" grpId="1"/>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2100" name="Object 4">
                <a:extLst>
                  <a:ext uri="{FF2B5EF4-FFF2-40B4-BE49-F238E27FC236}">
                    <a16:creationId xmlns:a16="http://schemas.microsoft.com/office/drawing/2014/main" id="{AEC0F4C9-5E8F-43AD-9C63-F20077AA8B0F}"/>
                  </a:ext>
                </a:extLst>
              </p:cNvPr>
              <p:cNvSpPr txBox="1"/>
              <p:nvPr/>
            </p:nvSpPr>
            <p:spPr bwMode="auto">
              <a:xfrm>
                <a:off x="2547499" y="1215073"/>
                <a:ext cx="5332412" cy="860425"/>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sz="2800" b="0" i="1" smtClean="0">
                          <a:solidFill>
                            <a:schemeClr val="tx1"/>
                          </a:solidFill>
                          <a:latin typeface="Cambria Math" panose="02040503050406030204" pitchFamily="18" charset="0"/>
                        </a:rPr>
                        <m:t>𝑑𝑆</m:t>
                      </m:r>
                      <m:r>
                        <a:rPr lang="zh-CN" altLang="en-US" sz="2800" b="0" i="1" smtClean="0">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𝑑𝐸</m:t>
                          </m:r>
                          <m:r>
                            <a:rPr lang="zh-CN" altLang="en-US" sz="2800" b="0" i="1">
                              <a:solidFill>
                                <a:schemeClr val="tx1"/>
                              </a:solidFill>
                              <a:latin typeface="Cambria Math" panose="02040503050406030204" pitchFamily="18" charset="0"/>
                            </a:rPr>
                            <m:t>+</m:t>
                          </m:r>
                          <m:r>
                            <a:rPr lang="zh-CN" altLang="en-US" sz="2800" b="0" i="1">
                              <a:solidFill>
                                <a:schemeClr val="tx1"/>
                              </a:solidFill>
                              <a:latin typeface="Cambria Math" panose="02040503050406030204" pitchFamily="18" charset="0"/>
                            </a:rPr>
                            <m:t>𝑝𝑑𝑉</m:t>
                          </m:r>
                        </m:num>
                        <m:den>
                          <m:r>
                            <a:rPr lang="zh-CN" altLang="en-US" sz="2800" b="0" i="1">
                              <a:solidFill>
                                <a:schemeClr val="tx1"/>
                              </a:solidFill>
                              <a:latin typeface="Cambria Math" panose="02040503050406030204" pitchFamily="18" charset="0"/>
                            </a:rPr>
                            <m:t>𝑇</m:t>
                          </m:r>
                        </m:den>
                      </m:f>
                      <m:r>
                        <a:rPr lang="zh-CN" altLang="en-US" sz="2800" b="0" i="1">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𝜈</m:t>
                          </m:r>
                          <m:sSub>
                            <m:sSubPr>
                              <m:ctrlPr>
                                <a:rPr lang="zh-CN" altLang="en-US"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𝐶</m:t>
                              </m:r>
                            </m:e>
                            <m:sub>
                              <m:r>
                                <a:rPr lang="zh-CN" altLang="en-US" sz="2800" b="0" i="1">
                                  <a:solidFill>
                                    <a:schemeClr val="tx1"/>
                                  </a:solidFill>
                                  <a:latin typeface="Cambria Math" panose="02040503050406030204" pitchFamily="18" charset="0"/>
                                </a:rPr>
                                <m:t>𝑉</m:t>
                              </m:r>
                              <m:r>
                                <a:rPr lang="zh-CN" altLang="en-US" sz="2800" b="0" i="1">
                                  <a:solidFill>
                                    <a:schemeClr val="tx1"/>
                                  </a:solidFill>
                                  <a:latin typeface="Cambria Math" panose="02040503050406030204" pitchFamily="18" charset="0"/>
                                </a:rPr>
                                <m:t>,</m:t>
                              </m:r>
                              <m:r>
                                <a:rPr lang="zh-CN" altLang="en-US" sz="2800" b="0" i="1">
                                  <a:solidFill>
                                    <a:schemeClr val="tx1"/>
                                  </a:solidFill>
                                  <a:latin typeface="Cambria Math" panose="02040503050406030204" pitchFamily="18" charset="0"/>
                                </a:rPr>
                                <m:t>𝑚</m:t>
                              </m:r>
                            </m:sub>
                          </m:sSub>
                          <m:r>
                            <a:rPr lang="zh-CN" altLang="en-US" sz="2800" b="0" i="1">
                              <a:solidFill>
                                <a:schemeClr val="tx1"/>
                              </a:solidFill>
                              <a:latin typeface="Cambria Math" panose="02040503050406030204" pitchFamily="18" charset="0"/>
                            </a:rPr>
                            <m:t>𝑑𝑇</m:t>
                          </m:r>
                        </m:num>
                        <m:den>
                          <m:r>
                            <a:rPr lang="zh-CN" altLang="en-US" sz="2800" b="0" i="1">
                              <a:solidFill>
                                <a:schemeClr val="tx1"/>
                              </a:solidFill>
                              <a:latin typeface="Cambria Math" panose="02040503050406030204" pitchFamily="18" charset="0"/>
                            </a:rPr>
                            <m:t>𝑇</m:t>
                          </m:r>
                        </m:den>
                      </m:f>
                      <m:r>
                        <a:rPr lang="zh-CN" altLang="en-US" sz="2800" b="0" i="1">
                          <a:solidFill>
                            <a:schemeClr val="tx1"/>
                          </a:solidFill>
                          <a:latin typeface="Cambria Math" panose="02040503050406030204" pitchFamily="18" charset="0"/>
                        </a:rPr>
                        <m:t>+</m:t>
                      </m:r>
                      <m:f>
                        <m:fPr>
                          <m:ctrlPr>
                            <a:rPr lang="zh-CN" altLang="en-US" sz="2800" i="1">
                              <a:solidFill>
                                <a:schemeClr val="tx1"/>
                              </a:solidFill>
                              <a:latin typeface="Cambria Math" panose="02040503050406030204" pitchFamily="18" charset="0"/>
                            </a:rPr>
                          </m:ctrlPr>
                        </m:fPr>
                        <m:num>
                          <m:r>
                            <a:rPr lang="zh-CN" altLang="en-US" sz="2800" b="0" i="1">
                              <a:solidFill>
                                <a:schemeClr val="tx1"/>
                              </a:solidFill>
                              <a:latin typeface="Cambria Math" panose="02040503050406030204" pitchFamily="18" charset="0"/>
                            </a:rPr>
                            <m:t>𝜈</m:t>
                          </m:r>
                          <m:r>
                            <a:rPr lang="zh-CN" altLang="en-US" sz="2800" b="0" i="1">
                              <a:solidFill>
                                <a:schemeClr val="tx1"/>
                              </a:solidFill>
                              <a:latin typeface="Cambria Math" panose="02040503050406030204" pitchFamily="18" charset="0"/>
                            </a:rPr>
                            <m:t>𝑅</m:t>
                          </m:r>
                        </m:num>
                        <m:den>
                          <m:r>
                            <a:rPr lang="zh-CN" altLang="en-US" sz="2800" b="0" i="1">
                              <a:solidFill>
                                <a:schemeClr val="tx1"/>
                              </a:solidFill>
                              <a:latin typeface="Cambria Math" panose="02040503050406030204" pitchFamily="18" charset="0"/>
                            </a:rPr>
                            <m:t>𝑉</m:t>
                          </m:r>
                        </m:den>
                      </m:f>
                      <m:r>
                        <a:rPr lang="zh-CN" altLang="en-US" sz="2800" b="0" i="1">
                          <a:solidFill>
                            <a:schemeClr val="tx1"/>
                          </a:solidFill>
                          <a:latin typeface="Cambria Math" panose="02040503050406030204" pitchFamily="18" charset="0"/>
                        </a:rPr>
                        <m:t>𝑑𝑉</m:t>
                      </m:r>
                      <m:r>
                        <a:rPr lang="zh-CN" altLang="en-US" sz="2800" b="0" i="1">
                          <a:solidFill>
                            <a:schemeClr val="tx1"/>
                          </a:solidFill>
                          <a:latin typeface="Cambria Math" panose="02040503050406030204" pitchFamily="18" charset="0"/>
                        </a:rPr>
                        <m:t>;</m:t>
                      </m:r>
                    </m:oMath>
                  </m:oMathPara>
                </a14:m>
                <a:endParaRPr lang="zh-CN" altLang="en-US" sz="2800" dirty="0">
                  <a:solidFill>
                    <a:schemeClr val="tx1"/>
                  </a:solidFill>
                </a:endParaRPr>
              </a:p>
            </p:txBody>
          </p:sp>
        </mc:Choice>
        <mc:Fallback xmlns="">
          <p:sp>
            <p:nvSpPr>
              <p:cNvPr id="132100" name="Object 4">
                <a:extLst>
                  <a:ext uri="{FF2B5EF4-FFF2-40B4-BE49-F238E27FC236}">
                    <a16:creationId xmlns:a16="http://schemas.microsoft.com/office/drawing/2014/main" id="{AEC0F4C9-5E8F-43AD-9C63-F20077AA8B0F}"/>
                  </a:ext>
                </a:extLst>
              </p:cNvPr>
              <p:cNvSpPr txBox="1">
                <a:spLocks noRot="1" noChangeAspect="1" noMove="1" noResize="1" noEditPoints="1" noAdjustHandles="1" noChangeArrowheads="1" noChangeShapeType="1" noTextEdit="1"/>
              </p:cNvSpPr>
              <p:nvPr/>
            </p:nvSpPr>
            <p:spPr bwMode="auto">
              <a:xfrm>
                <a:off x="2547499" y="1215073"/>
                <a:ext cx="5332412" cy="86042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101" name="Object 5">
                <a:extLst>
                  <a:ext uri="{FF2B5EF4-FFF2-40B4-BE49-F238E27FC236}">
                    <a16:creationId xmlns:a16="http://schemas.microsoft.com/office/drawing/2014/main" id="{215CA792-CF35-4B0A-A67F-76DB7786B8CA}"/>
                  </a:ext>
                </a:extLst>
              </p:cNvPr>
              <p:cNvSpPr txBox="1"/>
              <p:nvPr/>
            </p:nvSpPr>
            <p:spPr bwMode="auto">
              <a:xfrm>
                <a:off x="2443098" y="2161855"/>
                <a:ext cx="6618288" cy="96202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600" b="0" i="1" smtClean="0">
                          <a:solidFill>
                            <a:schemeClr val="tx1"/>
                          </a:solidFill>
                          <a:latin typeface="Cambria Math" panose="02040503050406030204" pitchFamily="18" charset="0"/>
                        </a:rPr>
                        <m:t>𝛥</m:t>
                      </m:r>
                      <m:r>
                        <a:rPr lang="zh-CN" altLang="en-US" sz="2600" b="0" i="1" smtClean="0">
                          <a:solidFill>
                            <a:schemeClr val="tx1"/>
                          </a:solidFill>
                          <a:latin typeface="Cambria Math" panose="02040503050406030204" pitchFamily="18" charset="0"/>
                        </a:rPr>
                        <m:t>𝑆</m:t>
                      </m:r>
                      <m:r>
                        <a:rPr lang="zh-CN" altLang="en-US" sz="2600" b="0" i="1" smtClean="0">
                          <a:solidFill>
                            <a:schemeClr val="tx1"/>
                          </a:solidFill>
                          <a:latin typeface="Cambria Math" panose="02040503050406030204" pitchFamily="18" charset="0"/>
                        </a:rPr>
                        <m:t>=</m:t>
                      </m:r>
                      <m:r>
                        <a:rPr lang="zh-CN" altLang="en-US" sz="2600" b="0" i="1" smtClean="0">
                          <a:solidFill>
                            <a:schemeClr val="tx1"/>
                          </a:solidFill>
                          <a:latin typeface="Cambria Math" panose="02040503050406030204" pitchFamily="18" charset="0"/>
                        </a:rPr>
                        <m:t>𝑆</m:t>
                      </m:r>
                      <m:r>
                        <a:rPr lang="zh-CN" altLang="en-US" sz="2600" b="0" i="1" smtClean="0">
                          <a:solidFill>
                            <a:schemeClr val="tx1"/>
                          </a:solidFill>
                          <a:latin typeface="Cambria Math" panose="02040503050406030204" pitchFamily="18" charset="0"/>
                        </a:rPr>
                        <m:t>−</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𝑆</m:t>
                          </m:r>
                        </m:e>
                        <m:sub>
                          <m:r>
                            <a:rPr lang="zh-CN" altLang="en-US" sz="2600" b="0" i="1">
                              <a:solidFill>
                                <a:schemeClr val="tx1"/>
                              </a:solidFill>
                              <a:latin typeface="Cambria Math" panose="02040503050406030204" pitchFamily="18" charset="0"/>
                            </a:rPr>
                            <m:t>0</m:t>
                          </m:r>
                        </m:sub>
                      </m:sSub>
                      <m:r>
                        <a:rPr lang="zh-CN" altLang="en-US" sz="2600" b="0" i="1">
                          <a:solidFill>
                            <a:schemeClr val="tx1"/>
                          </a:solidFill>
                          <a:latin typeface="Cambria Math" panose="02040503050406030204" pitchFamily="18" charset="0"/>
                        </a:rPr>
                        <m:t>=</m:t>
                      </m:r>
                      <m:nary>
                        <m:naryPr>
                          <m:ctrlPr>
                            <a:rPr lang="zh-CN" altLang="en-US" sz="2600" i="1">
                              <a:solidFill>
                                <a:schemeClr val="tx1"/>
                              </a:solidFill>
                              <a:latin typeface="Cambria Math" panose="02040503050406030204" pitchFamily="18" charset="0"/>
                            </a:rPr>
                          </m:ctrlPr>
                        </m:naryPr>
                        <m:sub>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𝑇</m:t>
                              </m:r>
                            </m:e>
                            <m:sub>
                              <m:r>
                                <a:rPr lang="zh-CN" altLang="en-US" sz="2600" b="0" i="1">
                                  <a:solidFill>
                                    <a:schemeClr val="tx1"/>
                                  </a:solidFill>
                                  <a:latin typeface="Cambria Math" panose="02040503050406030204" pitchFamily="18" charset="0"/>
                                </a:rPr>
                                <m:t>0</m:t>
                              </m:r>
                            </m:sub>
                          </m:sSub>
                        </m:sub>
                        <m:sup>
                          <m:r>
                            <a:rPr lang="zh-CN" altLang="en-US" sz="2600" b="0" i="1">
                              <a:solidFill>
                                <a:schemeClr val="tx1"/>
                              </a:solidFill>
                              <a:latin typeface="Cambria Math" panose="02040503050406030204" pitchFamily="18" charset="0"/>
                            </a:rPr>
                            <m:t>𝑇</m:t>
                          </m:r>
                        </m:sup>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𝑉</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r>
                                <a:rPr lang="zh-CN" altLang="en-US" sz="2600" b="0" i="1">
                                  <a:solidFill>
                                    <a:schemeClr val="tx1"/>
                                  </a:solidFill>
                                  <a:latin typeface="Cambria Math" panose="02040503050406030204" pitchFamily="18" charset="0"/>
                                </a:rPr>
                                <m:t>𝑑𝑇</m:t>
                              </m:r>
                            </m:num>
                            <m:den>
                              <m:r>
                                <a:rPr lang="zh-CN" altLang="en-US" sz="2600" b="0" i="1">
                                  <a:solidFill>
                                    <a:schemeClr val="tx1"/>
                                  </a:solidFill>
                                  <a:latin typeface="Cambria Math" panose="02040503050406030204" pitchFamily="18" charset="0"/>
                                </a:rPr>
                                <m:t>𝑇</m:t>
                              </m:r>
                            </m:den>
                          </m:f>
                        </m:e>
                      </m:nary>
                      <m:r>
                        <a:rPr lang="zh-CN" altLang="en-US" sz="2600" b="0" i="1">
                          <a:solidFill>
                            <a:schemeClr val="tx1"/>
                          </a:solidFill>
                          <a:latin typeface="Cambria Math" panose="02040503050406030204" pitchFamily="18" charset="0"/>
                        </a:rPr>
                        <m:t>+</m:t>
                      </m:r>
                      <m:nary>
                        <m:naryPr>
                          <m:ctrlPr>
                            <a:rPr lang="zh-CN" altLang="en-US" sz="2600" i="1">
                              <a:solidFill>
                                <a:schemeClr val="tx1"/>
                              </a:solidFill>
                              <a:latin typeface="Cambria Math" panose="02040503050406030204" pitchFamily="18" charset="0"/>
                            </a:rPr>
                          </m:ctrlPr>
                        </m:naryPr>
                        <m:sub>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sub>
                        <m:sup>
                          <m:r>
                            <a:rPr lang="zh-CN" altLang="en-US" sz="2600" b="0" i="1">
                              <a:solidFill>
                                <a:schemeClr val="tx1"/>
                              </a:solidFill>
                              <a:latin typeface="Cambria Math" panose="02040503050406030204" pitchFamily="18" charset="0"/>
                            </a:rPr>
                            <m:t>𝑉</m:t>
                          </m:r>
                        </m:sup>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𝜈</m:t>
                              </m:r>
                              <m:r>
                                <a:rPr lang="zh-CN" altLang="en-US" sz="2600" b="0" i="1">
                                  <a:solidFill>
                                    <a:schemeClr val="tx1"/>
                                  </a:solidFill>
                                  <a:latin typeface="Cambria Math" panose="02040503050406030204" pitchFamily="18" charset="0"/>
                                </a:rPr>
                                <m:t>𝑅</m:t>
                              </m:r>
                            </m:num>
                            <m:den>
                              <m:r>
                                <a:rPr lang="zh-CN" altLang="en-US" sz="2600" b="0" i="1">
                                  <a:solidFill>
                                    <a:schemeClr val="tx1"/>
                                  </a:solidFill>
                                  <a:latin typeface="Cambria Math" panose="02040503050406030204" pitchFamily="18" charset="0"/>
                                </a:rPr>
                                <m:t>𝑉</m:t>
                              </m:r>
                            </m:den>
                          </m:f>
                        </m:e>
                      </m:nary>
                      <m:r>
                        <a:rPr lang="zh-CN" altLang="en-US" sz="2600" b="0" i="1">
                          <a:solidFill>
                            <a:schemeClr val="tx1"/>
                          </a:solidFill>
                          <a:latin typeface="Cambria Math" panose="02040503050406030204" pitchFamily="18" charset="0"/>
                        </a:rPr>
                        <m:t>𝑑𝑉</m:t>
                      </m:r>
                    </m:oMath>
                  </m:oMathPara>
                </a14:m>
                <a:endParaRPr lang="zh-CN" altLang="en-US" sz="2600" dirty="0">
                  <a:solidFill>
                    <a:schemeClr val="tx1"/>
                  </a:solidFill>
                </a:endParaRPr>
              </a:p>
            </p:txBody>
          </p:sp>
        </mc:Choice>
        <mc:Fallback xmlns="">
          <p:sp>
            <p:nvSpPr>
              <p:cNvPr id="132101" name="Object 5">
                <a:extLst>
                  <a:ext uri="{FF2B5EF4-FFF2-40B4-BE49-F238E27FC236}">
                    <a16:creationId xmlns:a16="http://schemas.microsoft.com/office/drawing/2014/main" id="{215CA792-CF35-4B0A-A67F-76DB7786B8CA}"/>
                  </a:ext>
                </a:extLst>
              </p:cNvPr>
              <p:cNvSpPr txBox="1">
                <a:spLocks noRot="1" noChangeAspect="1" noMove="1" noResize="1" noEditPoints="1" noAdjustHandles="1" noChangeArrowheads="1" noChangeShapeType="1" noTextEdit="1"/>
              </p:cNvSpPr>
              <p:nvPr/>
            </p:nvSpPr>
            <p:spPr bwMode="auto">
              <a:xfrm>
                <a:off x="2443098" y="2161855"/>
                <a:ext cx="6618288" cy="962025"/>
              </a:xfrm>
              <a:prstGeom prst="rect">
                <a:avLst/>
              </a:prstGeom>
              <a:blipFill>
                <a:blip r:embed="rId4"/>
                <a:stretch>
                  <a:fillRect b="-31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102" name="Object 6">
                <a:extLst>
                  <a:ext uri="{FF2B5EF4-FFF2-40B4-BE49-F238E27FC236}">
                    <a16:creationId xmlns:a16="http://schemas.microsoft.com/office/drawing/2014/main" id="{D01E5691-3647-4A5A-A817-DE545D0D1114}"/>
                  </a:ext>
                </a:extLst>
              </p:cNvPr>
              <p:cNvSpPr txBox="1"/>
              <p:nvPr/>
            </p:nvSpPr>
            <p:spPr bwMode="auto">
              <a:xfrm>
                <a:off x="3281298" y="3088955"/>
                <a:ext cx="5780088" cy="87312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600" b="0" i="1" smtClean="0">
                          <a:solidFill>
                            <a:schemeClr val="tx1"/>
                          </a:solidFill>
                          <a:latin typeface="Cambria Math" panose="02040503050406030204" pitchFamily="18" charset="0"/>
                        </a:rPr>
                        <m:t>=</m:t>
                      </m:r>
                      <m:r>
                        <a:rPr lang="zh-CN" altLang="en-US" sz="2600" b="0" i="1" smtClean="0">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𝑉</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𝑇</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𝑇</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r>
                        <a:rPr lang="zh-CN" altLang="en-US" sz="2600" b="0" i="1">
                          <a:solidFill>
                            <a:schemeClr val="tx1"/>
                          </a:solidFill>
                          <a:latin typeface="Cambria Math" panose="02040503050406030204" pitchFamily="18" charset="0"/>
                        </a:rPr>
                        <m:t>𝑅</m:t>
                      </m:r>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𝑉</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oMath>
                  </m:oMathPara>
                </a14:m>
                <a:endParaRPr lang="zh-CN" altLang="en-US" sz="2600" dirty="0">
                  <a:solidFill>
                    <a:schemeClr val="tx1"/>
                  </a:solidFill>
                </a:endParaRPr>
              </a:p>
            </p:txBody>
          </p:sp>
        </mc:Choice>
        <mc:Fallback xmlns="">
          <p:sp>
            <p:nvSpPr>
              <p:cNvPr id="132102" name="Object 6">
                <a:extLst>
                  <a:ext uri="{FF2B5EF4-FFF2-40B4-BE49-F238E27FC236}">
                    <a16:creationId xmlns:a16="http://schemas.microsoft.com/office/drawing/2014/main" id="{D01E5691-3647-4A5A-A817-DE545D0D1114}"/>
                  </a:ext>
                </a:extLst>
              </p:cNvPr>
              <p:cNvSpPr txBox="1">
                <a:spLocks noRot="1" noChangeAspect="1" noMove="1" noResize="1" noEditPoints="1" noAdjustHandles="1" noChangeArrowheads="1" noChangeShapeType="1" noTextEdit="1"/>
              </p:cNvSpPr>
              <p:nvPr/>
            </p:nvSpPr>
            <p:spPr bwMode="auto">
              <a:xfrm>
                <a:off x="3281298" y="3088955"/>
                <a:ext cx="5780088" cy="87312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103" name="Object 7">
                <a:extLst>
                  <a:ext uri="{FF2B5EF4-FFF2-40B4-BE49-F238E27FC236}">
                    <a16:creationId xmlns:a16="http://schemas.microsoft.com/office/drawing/2014/main" id="{BFF1D482-73C9-496E-B65F-24CA278737A0}"/>
                  </a:ext>
                </a:extLst>
              </p:cNvPr>
              <p:cNvSpPr txBox="1"/>
              <p:nvPr/>
            </p:nvSpPr>
            <p:spPr bwMode="auto">
              <a:xfrm>
                <a:off x="2230372" y="3946204"/>
                <a:ext cx="9122571" cy="8699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600" b="0" i="1" smtClean="0">
                          <a:solidFill>
                            <a:schemeClr val="tx1"/>
                          </a:solidFill>
                          <a:latin typeface="Cambria Math" panose="02040503050406030204" pitchFamily="18" charset="0"/>
                        </a:rPr>
                        <m:t>∴</m:t>
                      </m:r>
                      <m:r>
                        <a:rPr lang="zh-CN" altLang="en-US" sz="2600" b="0" i="1" smtClean="0">
                          <a:solidFill>
                            <a:schemeClr val="tx1"/>
                          </a:solidFill>
                          <a:latin typeface="Cambria Math" panose="02040503050406030204" pitchFamily="18" charset="0"/>
                        </a:rPr>
                        <m:t>𝛥</m:t>
                      </m:r>
                      <m:r>
                        <a:rPr lang="zh-CN" altLang="en-US" sz="2600" b="0" i="1" smtClean="0">
                          <a:solidFill>
                            <a:schemeClr val="tx1"/>
                          </a:solidFill>
                          <a:latin typeface="Cambria Math" panose="02040503050406030204" pitchFamily="18" charset="0"/>
                        </a:rPr>
                        <m:t>𝑆</m:t>
                      </m:r>
                      <m:r>
                        <a:rPr lang="zh-CN" altLang="en-US" sz="2600" b="0" i="1" smtClean="0">
                          <a:solidFill>
                            <a:schemeClr val="tx1"/>
                          </a:solidFill>
                          <a:latin typeface="Cambria Math" panose="02040503050406030204" pitchFamily="18" charset="0"/>
                        </a:rPr>
                        <m:t>=</m:t>
                      </m:r>
                      <m:r>
                        <a:rPr lang="zh-CN" altLang="en-US" sz="2600" b="0" i="1" smtClean="0">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𝑉</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𝑝</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𝑝</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𝑝</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𝑉</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𝑝</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𝑇</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𝑇</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r>
                        <a:rPr lang="zh-CN" altLang="en-US" sz="2600" b="0" i="1">
                          <a:solidFill>
                            <a:schemeClr val="tx1"/>
                          </a:solidFill>
                          <a:latin typeface="Cambria Math" panose="02040503050406030204" pitchFamily="18" charset="0"/>
                        </a:rPr>
                        <m:t>𝑅</m:t>
                      </m:r>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𝑝</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𝑝</m:t>
                                  </m:r>
                                </m:e>
                                <m:sub>
                                  <m:r>
                                    <a:rPr lang="zh-CN" altLang="en-US" sz="2600" b="0" i="1">
                                      <a:solidFill>
                                        <a:schemeClr val="tx1"/>
                                      </a:solidFill>
                                      <a:latin typeface="Cambria Math" panose="02040503050406030204" pitchFamily="18" charset="0"/>
                                    </a:rPr>
                                    <m:t>0</m:t>
                                  </m:r>
                                </m:sub>
                              </m:sSub>
                            </m:den>
                          </m:f>
                        </m:e>
                      </m:func>
                    </m:oMath>
                  </m:oMathPara>
                </a14:m>
                <a:endParaRPr lang="zh-CN" altLang="en-US" sz="2600" dirty="0">
                  <a:solidFill>
                    <a:schemeClr val="tx1"/>
                  </a:solidFill>
                </a:endParaRPr>
              </a:p>
            </p:txBody>
          </p:sp>
        </mc:Choice>
        <mc:Fallback xmlns="">
          <p:sp>
            <p:nvSpPr>
              <p:cNvPr id="132103" name="Object 7">
                <a:extLst>
                  <a:ext uri="{FF2B5EF4-FFF2-40B4-BE49-F238E27FC236}">
                    <a16:creationId xmlns:a16="http://schemas.microsoft.com/office/drawing/2014/main" id="{BFF1D482-73C9-496E-B65F-24CA278737A0}"/>
                  </a:ext>
                </a:extLst>
              </p:cNvPr>
              <p:cNvSpPr txBox="1">
                <a:spLocks noRot="1" noChangeAspect="1" noMove="1" noResize="1" noEditPoints="1" noAdjustHandles="1" noChangeArrowheads="1" noChangeShapeType="1" noTextEdit="1"/>
              </p:cNvSpPr>
              <p:nvPr/>
            </p:nvSpPr>
            <p:spPr bwMode="auto">
              <a:xfrm>
                <a:off x="2230372" y="3946204"/>
                <a:ext cx="9122571" cy="86995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104" name="Object 8">
                <a:extLst>
                  <a:ext uri="{FF2B5EF4-FFF2-40B4-BE49-F238E27FC236}">
                    <a16:creationId xmlns:a16="http://schemas.microsoft.com/office/drawing/2014/main" id="{486DCF78-4EC0-4F9F-BF20-CE84554550A0}"/>
                  </a:ext>
                </a:extLst>
              </p:cNvPr>
              <p:cNvSpPr txBox="1"/>
              <p:nvPr/>
            </p:nvSpPr>
            <p:spPr bwMode="auto">
              <a:xfrm>
                <a:off x="6226168" y="4919550"/>
                <a:ext cx="4515463" cy="91281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600" b="0" i="1" smtClean="0">
                          <a:solidFill>
                            <a:schemeClr val="tx1"/>
                          </a:solidFill>
                          <a:latin typeface="Cambria Math" panose="02040503050406030204" pitchFamily="18" charset="0"/>
                        </a:rPr>
                        <m:t>𝑝</m:t>
                      </m:r>
                      <m:r>
                        <a:rPr lang="zh-CN" altLang="en-US" sz="2600" b="0" i="1" smtClean="0">
                          <a:solidFill>
                            <a:schemeClr val="tx1"/>
                          </a:solidFill>
                          <a:latin typeface="Cambria Math" panose="02040503050406030204" pitchFamily="18" charset="0"/>
                        </a:rPr>
                        <m:t>=</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𝑝</m:t>
                          </m:r>
                        </m:e>
                        <m:sub>
                          <m:r>
                            <a:rPr lang="zh-CN" altLang="en-US" sz="2600" b="0" i="1">
                              <a:solidFill>
                                <a:schemeClr val="tx1"/>
                              </a:solidFill>
                              <a:latin typeface="Cambria Math" panose="02040503050406030204" pitchFamily="18" charset="0"/>
                            </a:rPr>
                            <m:t>0</m:t>
                          </m:r>
                        </m:sub>
                      </m:sSub>
                      <m:r>
                        <a:rPr lang="zh-CN" altLang="en-US" sz="2600" b="0" i="1">
                          <a:solidFill>
                            <a:schemeClr val="tx1"/>
                          </a:solidFill>
                          <a:latin typeface="Cambria Math" panose="02040503050406030204" pitchFamily="18" charset="0"/>
                        </a:rPr>
                        <m:t>:</m:t>
                      </m:r>
                      <m:r>
                        <a:rPr lang="en-US" altLang="zh-CN" sz="2600" b="0" i="1" smtClean="0">
                          <a:solidFill>
                            <a:schemeClr val="tx1"/>
                          </a:solidFill>
                          <a:latin typeface="Cambria Math" panose="02040503050406030204" pitchFamily="18" charset="0"/>
                        </a:rPr>
                        <m:t>        </m:t>
                      </m:r>
                      <m:r>
                        <a:rPr lang="zh-CN" altLang="en-US" sz="2600" b="0" i="1">
                          <a:solidFill>
                            <a:schemeClr val="tx1"/>
                          </a:solidFill>
                          <a:latin typeface="Cambria Math" panose="02040503050406030204" pitchFamily="18" charset="0"/>
                        </a:rPr>
                        <m:t>𝛥</m:t>
                      </m:r>
                      <m:r>
                        <a:rPr lang="zh-CN" altLang="en-US" sz="2600" b="0" i="1">
                          <a:solidFill>
                            <a:schemeClr val="tx1"/>
                          </a:solidFill>
                          <a:latin typeface="Cambria Math" panose="02040503050406030204" pitchFamily="18" charset="0"/>
                        </a:rPr>
                        <m:t>𝑆</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𝑝</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𝑉</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oMath>
                  </m:oMathPara>
                </a14:m>
                <a:endParaRPr lang="zh-CN" altLang="en-US" sz="2600" dirty="0">
                  <a:solidFill>
                    <a:schemeClr val="tx1"/>
                  </a:solidFill>
                </a:endParaRPr>
              </a:p>
            </p:txBody>
          </p:sp>
        </mc:Choice>
        <mc:Fallback xmlns="">
          <p:sp>
            <p:nvSpPr>
              <p:cNvPr id="132104" name="Object 8">
                <a:extLst>
                  <a:ext uri="{FF2B5EF4-FFF2-40B4-BE49-F238E27FC236}">
                    <a16:creationId xmlns:a16="http://schemas.microsoft.com/office/drawing/2014/main" id="{486DCF78-4EC0-4F9F-BF20-CE84554550A0}"/>
                  </a:ext>
                </a:extLst>
              </p:cNvPr>
              <p:cNvSpPr txBox="1">
                <a:spLocks noRot="1" noChangeAspect="1" noMove="1" noResize="1" noEditPoints="1" noAdjustHandles="1" noChangeArrowheads="1" noChangeShapeType="1" noTextEdit="1"/>
              </p:cNvSpPr>
              <p:nvPr/>
            </p:nvSpPr>
            <p:spPr bwMode="auto">
              <a:xfrm>
                <a:off x="6226168" y="4919550"/>
                <a:ext cx="4515463" cy="91281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105" name="Object 9">
                <a:extLst>
                  <a:ext uri="{FF2B5EF4-FFF2-40B4-BE49-F238E27FC236}">
                    <a16:creationId xmlns:a16="http://schemas.microsoft.com/office/drawing/2014/main" id="{99621868-F36B-41B1-8701-FAF3E5A911A8}"/>
                  </a:ext>
                </a:extLst>
              </p:cNvPr>
              <p:cNvSpPr txBox="1"/>
              <p:nvPr/>
            </p:nvSpPr>
            <p:spPr bwMode="auto">
              <a:xfrm>
                <a:off x="3744912" y="5820616"/>
                <a:ext cx="4371672" cy="9207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600" b="0" i="1" smtClean="0">
                          <a:solidFill>
                            <a:schemeClr val="tx1"/>
                          </a:solidFill>
                          <a:latin typeface="Cambria Math" panose="02040503050406030204" pitchFamily="18" charset="0"/>
                        </a:rPr>
                        <m:t>𝑉</m:t>
                      </m:r>
                      <m:r>
                        <a:rPr lang="zh-CN" altLang="en-US" sz="2600" b="0" i="1" smtClean="0">
                          <a:solidFill>
                            <a:schemeClr val="tx1"/>
                          </a:solidFill>
                          <a:latin typeface="Cambria Math" panose="02040503050406030204" pitchFamily="18" charset="0"/>
                        </a:rPr>
                        <m:t>=</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r>
                        <a:rPr lang="zh-CN" altLang="en-US" sz="2600" b="0" i="1">
                          <a:solidFill>
                            <a:schemeClr val="tx1"/>
                          </a:solidFill>
                          <a:latin typeface="Cambria Math" panose="02040503050406030204" pitchFamily="18" charset="0"/>
                        </a:rPr>
                        <m:t>:</m:t>
                      </m:r>
                      <m:r>
                        <a:rPr lang="en-US" altLang="zh-CN" sz="2600" b="0" i="1" smtClean="0">
                          <a:solidFill>
                            <a:schemeClr val="tx1"/>
                          </a:solidFill>
                          <a:latin typeface="Cambria Math" panose="02040503050406030204" pitchFamily="18" charset="0"/>
                        </a:rPr>
                        <m:t>    </m:t>
                      </m:r>
                      <m:r>
                        <a:rPr lang="zh-CN" altLang="en-US" sz="2600" b="0" i="1">
                          <a:solidFill>
                            <a:schemeClr val="tx1"/>
                          </a:solidFill>
                          <a:latin typeface="Cambria Math" panose="02040503050406030204" pitchFamily="18" charset="0"/>
                        </a:rPr>
                        <m:t>𝛥</m:t>
                      </m:r>
                      <m:r>
                        <a:rPr lang="zh-CN" altLang="en-US" sz="2600" b="0" i="1">
                          <a:solidFill>
                            <a:schemeClr val="tx1"/>
                          </a:solidFill>
                          <a:latin typeface="Cambria Math" panose="02040503050406030204" pitchFamily="18" charset="0"/>
                        </a:rPr>
                        <m:t>𝑆</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𝐶</m:t>
                          </m:r>
                        </m:e>
                        <m:sub>
                          <m:r>
                            <a:rPr lang="zh-CN" altLang="en-US" sz="2600" b="0" i="1">
                              <a:solidFill>
                                <a:schemeClr val="tx1"/>
                              </a:solidFill>
                              <a:latin typeface="Cambria Math" panose="02040503050406030204" pitchFamily="18" charset="0"/>
                            </a:rPr>
                            <m:t>𝑉</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𝑚</m:t>
                          </m:r>
                        </m:sub>
                      </m:sSub>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𝑝</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𝑝</m:t>
                                  </m:r>
                                </m:e>
                                <m:sub>
                                  <m:r>
                                    <a:rPr lang="zh-CN" altLang="en-US" sz="2600" b="0" i="1">
                                      <a:solidFill>
                                        <a:schemeClr val="tx1"/>
                                      </a:solidFill>
                                      <a:latin typeface="Cambria Math" panose="02040503050406030204" pitchFamily="18" charset="0"/>
                                    </a:rPr>
                                    <m:t>0</m:t>
                                  </m:r>
                                </m:sub>
                              </m:sSub>
                            </m:den>
                          </m:f>
                        </m:e>
                      </m:func>
                    </m:oMath>
                  </m:oMathPara>
                </a14:m>
                <a:endParaRPr lang="zh-CN" altLang="en-US" sz="2600" dirty="0">
                  <a:solidFill>
                    <a:schemeClr val="tx1"/>
                  </a:solidFill>
                </a:endParaRPr>
              </a:p>
            </p:txBody>
          </p:sp>
        </mc:Choice>
        <mc:Fallback xmlns="">
          <p:sp>
            <p:nvSpPr>
              <p:cNvPr id="132105" name="Object 9">
                <a:extLst>
                  <a:ext uri="{FF2B5EF4-FFF2-40B4-BE49-F238E27FC236}">
                    <a16:creationId xmlns:a16="http://schemas.microsoft.com/office/drawing/2014/main" id="{99621868-F36B-41B1-8701-FAF3E5A911A8}"/>
                  </a:ext>
                </a:extLst>
              </p:cNvPr>
              <p:cNvSpPr txBox="1">
                <a:spLocks noRot="1" noChangeAspect="1" noMove="1" noResize="1" noEditPoints="1" noAdjustHandles="1" noChangeArrowheads="1" noChangeShapeType="1" noTextEdit="1"/>
              </p:cNvSpPr>
              <p:nvPr/>
            </p:nvSpPr>
            <p:spPr bwMode="auto">
              <a:xfrm>
                <a:off x="3744912" y="5820616"/>
                <a:ext cx="4371672" cy="920750"/>
              </a:xfrm>
              <a:prstGeom prst="rect">
                <a:avLst/>
              </a:prstGeom>
              <a:blipFill>
                <a:blip r:embed="rId8"/>
                <a:stretch>
                  <a:fillRect/>
                </a:stretch>
              </a:blipFill>
            </p:spPr>
            <p:txBody>
              <a:bodyPr/>
              <a:lstStyle/>
              <a:p>
                <a:r>
                  <a:rPr lang="zh-CN" altLang="en-US">
                    <a:noFill/>
                  </a:rPr>
                  <a:t> </a:t>
                </a:r>
              </a:p>
            </p:txBody>
          </p:sp>
        </mc:Fallback>
      </mc:AlternateContent>
      <p:graphicFrame>
        <p:nvGraphicFramePr>
          <p:cNvPr id="16392" name="Object 11">
            <a:extLst>
              <a:ext uri="{FF2B5EF4-FFF2-40B4-BE49-F238E27FC236}">
                <a16:creationId xmlns:a16="http://schemas.microsoft.com/office/drawing/2014/main" id="{1F5F85C5-F5DE-4F1E-A6BA-DBF3C14C3B14}"/>
              </a:ext>
            </a:extLst>
          </p:cNvPr>
          <p:cNvGraphicFramePr>
            <a:graphicFrameLocks noChangeAspect="1"/>
          </p:cNvGraphicFramePr>
          <p:nvPr>
            <p:extLst>
              <p:ext uri="{D42A27DB-BD31-4B8C-83A1-F6EECF244321}">
                <p14:modId xmlns:p14="http://schemas.microsoft.com/office/powerpoint/2010/main" val="716229823"/>
              </p:ext>
            </p:extLst>
          </p:nvPr>
        </p:nvGraphicFramePr>
        <p:xfrm>
          <a:off x="5524500" y="127000"/>
          <a:ext cx="1143000" cy="503238"/>
        </p:xfrm>
        <a:graphic>
          <a:graphicData uri="http://schemas.openxmlformats.org/presentationml/2006/ole">
            <mc:AlternateContent xmlns:mc="http://schemas.openxmlformats.org/markup-compatibility/2006">
              <mc:Choice xmlns:v="urn:schemas-microsoft-com:vml" Requires="v">
                <p:oleObj spid="_x0000_s11288" name="Equation" r:id="rId9" imgW="545760" imgH="241200" progId="Equation.2">
                  <p:embed/>
                </p:oleObj>
              </mc:Choice>
              <mc:Fallback>
                <p:oleObj name="Equation" r:id="rId9" imgW="545760" imgH="241200" progId="Equation.2">
                  <p:embed/>
                  <p:pic>
                    <p:nvPicPr>
                      <p:cNvPr id="16392" name="Object 11">
                        <a:extLst>
                          <a:ext uri="{FF2B5EF4-FFF2-40B4-BE49-F238E27FC236}">
                            <a16:creationId xmlns:a16="http://schemas.microsoft.com/office/drawing/2014/main" id="{1F5F85C5-F5DE-4F1E-A6BA-DBF3C14C3B14}"/>
                          </a:ext>
                        </a:extLst>
                      </p:cNvPr>
                      <p:cNvPicPr>
                        <a:picLocks noChangeAspect="1" noChangeArrowheads="1"/>
                      </p:cNvPicPr>
                      <p:nvPr/>
                    </p:nvPicPr>
                    <p:blipFill>
                      <a:blip r:embed="rId10">
                        <a:lum bright="2000"/>
                        <a:extLst>
                          <a:ext uri="{28A0092B-C50C-407E-A947-70E740481C1C}">
                            <a14:useLocalDpi xmlns:a14="http://schemas.microsoft.com/office/drawing/2010/main" val="0"/>
                          </a:ext>
                        </a:extLst>
                      </a:blip>
                      <a:srcRect/>
                      <a:stretch>
                        <a:fillRect/>
                      </a:stretch>
                    </p:blipFill>
                    <p:spPr bwMode="auto">
                      <a:xfrm>
                        <a:off x="5524500" y="127000"/>
                        <a:ext cx="1143000" cy="503238"/>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16393" name="Object 12">
            <a:extLst>
              <a:ext uri="{FF2B5EF4-FFF2-40B4-BE49-F238E27FC236}">
                <a16:creationId xmlns:a16="http://schemas.microsoft.com/office/drawing/2014/main" id="{8220BC93-DA22-4E9F-AD02-DB7C8DC9018C}"/>
              </a:ext>
            </a:extLst>
          </p:cNvPr>
          <p:cNvGraphicFramePr>
            <a:graphicFrameLocks noChangeAspect="1"/>
          </p:cNvGraphicFramePr>
          <p:nvPr>
            <p:extLst>
              <p:ext uri="{D42A27DB-BD31-4B8C-83A1-F6EECF244321}">
                <p14:modId xmlns:p14="http://schemas.microsoft.com/office/powerpoint/2010/main" val="3837567523"/>
              </p:ext>
            </p:extLst>
          </p:nvPr>
        </p:nvGraphicFramePr>
        <p:xfrm>
          <a:off x="3023373" y="629445"/>
          <a:ext cx="914400" cy="442913"/>
        </p:xfrm>
        <a:graphic>
          <a:graphicData uri="http://schemas.openxmlformats.org/presentationml/2006/ole">
            <mc:AlternateContent xmlns:mc="http://schemas.openxmlformats.org/markup-compatibility/2006">
              <mc:Choice xmlns:v="urn:schemas-microsoft-com:vml" Requires="v">
                <p:oleObj spid="_x0000_s11289" name="Equation" r:id="rId11" imgW="469800" imgH="190440" progId="Equation.2">
                  <p:embed/>
                </p:oleObj>
              </mc:Choice>
              <mc:Fallback>
                <p:oleObj name="Equation" r:id="rId11" imgW="469800" imgH="190440" progId="Equation.2">
                  <p:embed/>
                  <p:pic>
                    <p:nvPicPr>
                      <p:cNvPr id="16393" name="Object 12">
                        <a:extLst>
                          <a:ext uri="{FF2B5EF4-FFF2-40B4-BE49-F238E27FC236}">
                            <a16:creationId xmlns:a16="http://schemas.microsoft.com/office/drawing/2014/main" id="{8220BC93-DA22-4E9F-AD02-DB7C8DC9018C}"/>
                          </a:ext>
                        </a:extLst>
                      </p:cNvPr>
                      <p:cNvPicPr>
                        <a:picLocks noChangeAspect="1" noChangeArrowheads="1"/>
                      </p:cNvPicPr>
                      <p:nvPr/>
                    </p:nvPicPr>
                    <p:blipFill>
                      <a:blip r:embed="rId12">
                        <a:lum bright="2000"/>
                        <a:extLst>
                          <a:ext uri="{28A0092B-C50C-407E-A947-70E740481C1C}">
                            <a14:useLocalDpi xmlns:a14="http://schemas.microsoft.com/office/drawing/2010/main" val="0"/>
                          </a:ext>
                        </a:extLst>
                      </a:blip>
                      <a:srcRect/>
                      <a:stretch>
                        <a:fillRect/>
                      </a:stretch>
                    </p:blipFill>
                    <p:spPr bwMode="auto">
                      <a:xfrm>
                        <a:off x="3023373" y="629445"/>
                        <a:ext cx="914400" cy="442913"/>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6394" name="Rectangle 13">
            <a:extLst>
              <a:ext uri="{FF2B5EF4-FFF2-40B4-BE49-F238E27FC236}">
                <a16:creationId xmlns:a16="http://schemas.microsoft.com/office/drawing/2014/main" id="{A411108B-31D2-4AEA-8D51-C7C4708A1330}"/>
              </a:ext>
            </a:extLst>
          </p:cNvPr>
          <p:cNvSpPr>
            <a:spLocks noChangeArrowheads="1"/>
          </p:cNvSpPr>
          <p:nvPr/>
        </p:nvSpPr>
        <p:spPr bwMode="auto">
          <a:xfrm>
            <a:off x="1799878" y="104757"/>
            <a:ext cx="790472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例 ：求理想气体从初态             准静态地变化到任</a:t>
            </a:r>
          </a:p>
          <a:p>
            <a:pPr eaLnBrk="1" hangingPunct="1"/>
            <a:r>
              <a:rPr lang="zh-CN" altLang="en-US" b="0" dirty="0">
                <a:latin typeface="+mn-lt"/>
                <a:ea typeface="+mn-ea"/>
              </a:rPr>
              <a:t>一末态             时的熵变。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338FEF1-06DC-7F62-8856-B6E6B2B55BF8}"/>
                  </a:ext>
                </a:extLst>
              </p:cNvPr>
              <p:cNvSpPr txBox="1"/>
              <p:nvPr/>
            </p:nvSpPr>
            <p:spPr>
              <a:xfrm>
                <a:off x="5213705" y="3119325"/>
                <a:ext cx="6095144" cy="9094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600" b="0" i="1" smtClean="0">
                          <a:solidFill>
                            <a:schemeClr val="tx1"/>
                          </a:solidFill>
                          <a:latin typeface="Cambria Math" panose="02040503050406030204" pitchFamily="18" charset="0"/>
                        </a:rPr>
                        <m:t>∵</m:t>
                      </m:r>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𝑇</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𝑇</m:t>
                              </m:r>
                            </m:e>
                            <m:sub>
                              <m:r>
                                <a:rPr lang="zh-CN" altLang="en-US" sz="2600" b="0" i="1">
                                  <a:solidFill>
                                    <a:schemeClr val="tx1"/>
                                  </a:solidFill>
                                  <a:latin typeface="Cambria Math" panose="02040503050406030204" pitchFamily="18" charset="0"/>
                                </a:rPr>
                                <m:t>0</m:t>
                              </m:r>
                            </m:sub>
                          </m:sSub>
                        </m:den>
                      </m:f>
                      <m:r>
                        <a:rPr lang="zh-CN" altLang="en-US" sz="2600" b="0" i="1">
                          <a:solidFill>
                            <a:schemeClr val="tx1"/>
                          </a:solidFill>
                          <a:latin typeface="Cambria Math" panose="02040503050406030204" pitchFamily="18" charset="0"/>
                        </a:rPr>
                        <m:t>=</m:t>
                      </m:r>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𝑝𝑉</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𝑝</m:t>
                              </m:r>
                            </m:e>
                            <m:sub>
                              <m:r>
                                <a:rPr lang="zh-CN" altLang="en-US" sz="2600" b="0" i="1">
                                  <a:solidFill>
                                    <a:schemeClr val="tx1"/>
                                  </a:solidFill>
                                  <a:latin typeface="Cambria Math" panose="02040503050406030204" pitchFamily="18" charset="0"/>
                                </a:rPr>
                                <m:t>0</m:t>
                              </m:r>
                            </m:sub>
                          </m:sSub>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den>
                      </m:f>
                      <m:r>
                        <a:rPr lang="zh-CN" altLang="en-US" sz="2600" b="0" i="1">
                          <a:solidFill>
                            <a:schemeClr val="tx1"/>
                          </a:solidFill>
                          <a:latin typeface="Cambria Math" panose="02040503050406030204" pitchFamily="18" charset="0"/>
                        </a:rPr>
                        <m:t>;</m:t>
                      </m:r>
                    </m:oMath>
                  </m:oMathPara>
                </a14:m>
                <a:endParaRPr lang="zh-CN" altLang="en-US" sz="2600" dirty="0"/>
              </a:p>
            </p:txBody>
          </p:sp>
        </mc:Choice>
        <mc:Fallback xmlns="">
          <p:sp>
            <p:nvSpPr>
              <p:cNvPr id="5" name="文本框 4">
                <a:extLst>
                  <a:ext uri="{FF2B5EF4-FFF2-40B4-BE49-F238E27FC236}">
                    <a16:creationId xmlns:a16="http://schemas.microsoft.com/office/drawing/2014/main" id="{D338FEF1-06DC-7F62-8856-B6E6B2B55BF8}"/>
                  </a:ext>
                </a:extLst>
              </p:cNvPr>
              <p:cNvSpPr txBox="1">
                <a:spLocks noRot="1" noChangeAspect="1" noMove="1" noResize="1" noEditPoints="1" noAdjustHandles="1" noChangeArrowheads="1" noChangeShapeType="1" noTextEdit="1"/>
              </p:cNvSpPr>
              <p:nvPr/>
            </p:nvSpPr>
            <p:spPr>
              <a:xfrm>
                <a:off x="5213705" y="3119325"/>
                <a:ext cx="6095144" cy="909416"/>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01D0CC-7136-2DE5-32DF-16E98B65F4AB}"/>
                  </a:ext>
                </a:extLst>
              </p:cNvPr>
              <p:cNvSpPr txBox="1"/>
              <p:nvPr/>
            </p:nvSpPr>
            <p:spPr>
              <a:xfrm>
                <a:off x="721770" y="4889180"/>
                <a:ext cx="6095144" cy="9094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600" b="0" i="1" smtClean="0">
                          <a:solidFill>
                            <a:schemeClr val="tx1"/>
                          </a:solidFill>
                          <a:latin typeface="Cambria Math" panose="02040503050406030204" pitchFamily="18" charset="0"/>
                        </a:rPr>
                        <m:t>𝑇</m:t>
                      </m:r>
                      <m:r>
                        <a:rPr lang="zh-CN" altLang="en-US" sz="2600" b="0" i="1" smtClean="0">
                          <a:solidFill>
                            <a:schemeClr val="tx1"/>
                          </a:solidFill>
                          <a:latin typeface="Cambria Math" panose="02040503050406030204" pitchFamily="18" charset="0"/>
                        </a:rPr>
                        <m:t>=</m:t>
                      </m:r>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𝑇</m:t>
                          </m:r>
                        </m:e>
                        <m:sub>
                          <m:r>
                            <a:rPr lang="zh-CN" altLang="en-US" sz="2600" b="0" i="1">
                              <a:solidFill>
                                <a:schemeClr val="tx1"/>
                              </a:solidFill>
                              <a:latin typeface="Cambria Math" panose="02040503050406030204" pitchFamily="18" charset="0"/>
                            </a:rPr>
                            <m:t>0</m:t>
                          </m:r>
                        </m:sub>
                      </m:sSub>
                      <m:r>
                        <a:rPr lang="zh-CN" altLang="en-US" sz="2600" b="0" i="1">
                          <a:solidFill>
                            <a:schemeClr val="tx1"/>
                          </a:solidFill>
                          <a:latin typeface="Cambria Math" panose="02040503050406030204" pitchFamily="18" charset="0"/>
                        </a:rPr>
                        <m:t>:</m:t>
                      </m:r>
                      <m:r>
                        <a:rPr lang="en-US" altLang="zh-CN" sz="2600" b="0" i="1" smtClean="0">
                          <a:solidFill>
                            <a:schemeClr val="tx1"/>
                          </a:solidFill>
                          <a:latin typeface="Cambria Math" panose="02040503050406030204" pitchFamily="18" charset="0"/>
                        </a:rPr>
                        <m:t>  </m:t>
                      </m:r>
                      <m:r>
                        <a:rPr lang="zh-CN" altLang="en-US" sz="2600" b="0" i="1">
                          <a:solidFill>
                            <a:schemeClr val="tx1"/>
                          </a:solidFill>
                          <a:latin typeface="Cambria Math" panose="02040503050406030204" pitchFamily="18" charset="0"/>
                        </a:rPr>
                        <m:t>𝛥</m:t>
                      </m:r>
                      <m:r>
                        <a:rPr lang="zh-CN" altLang="en-US" sz="2600" b="0" i="1">
                          <a:solidFill>
                            <a:schemeClr val="tx1"/>
                          </a:solidFill>
                          <a:latin typeface="Cambria Math" panose="02040503050406030204" pitchFamily="18" charset="0"/>
                        </a:rPr>
                        <m:t>𝑆</m:t>
                      </m:r>
                      <m:r>
                        <a:rPr lang="zh-CN" altLang="en-US" sz="2600" b="0" i="1">
                          <a:solidFill>
                            <a:schemeClr val="tx1"/>
                          </a:solidFill>
                          <a:latin typeface="Cambria Math" panose="02040503050406030204" pitchFamily="18" charset="0"/>
                        </a:rPr>
                        <m:t>=</m:t>
                      </m:r>
                      <m:r>
                        <a:rPr lang="zh-CN" altLang="en-US" sz="2600" b="0" i="1">
                          <a:solidFill>
                            <a:schemeClr val="tx1"/>
                          </a:solidFill>
                          <a:latin typeface="Cambria Math" panose="02040503050406030204" pitchFamily="18" charset="0"/>
                        </a:rPr>
                        <m:t>𝜈</m:t>
                      </m:r>
                      <m:r>
                        <a:rPr lang="zh-CN" altLang="en-US" sz="2600" b="0" i="1">
                          <a:solidFill>
                            <a:schemeClr val="tx1"/>
                          </a:solidFill>
                          <a:latin typeface="Cambria Math" panose="02040503050406030204" pitchFamily="18" charset="0"/>
                        </a:rPr>
                        <m:t>𝑅</m:t>
                      </m:r>
                      <m:func>
                        <m:funcPr>
                          <m:ctrlPr>
                            <a:rPr lang="zh-CN" altLang="en-US" sz="2600" i="1">
                              <a:solidFill>
                                <a:schemeClr val="tx1"/>
                              </a:solidFill>
                              <a:latin typeface="Cambria Math" panose="02040503050406030204" pitchFamily="18" charset="0"/>
                            </a:rPr>
                          </m:ctrlPr>
                        </m:funcPr>
                        <m:fName>
                          <m:r>
                            <m:rPr>
                              <m:sty m:val="p"/>
                            </m:rPr>
                            <a:rPr lang="zh-CN" altLang="en-US" sz="2600" b="0" i="0">
                              <a:solidFill>
                                <a:schemeClr val="tx1"/>
                              </a:solidFill>
                              <a:latin typeface="Cambria Math" panose="02040503050406030204" pitchFamily="18" charset="0"/>
                            </a:rPr>
                            <m:t>ln</m:t>
                          </m:r>
                        </m:fName>
                        <m:e>
                          <m:f>
                            <m:fPr>
                              <m:ctrlPr>
                                <a:rPr lang="zh-CN" altLang="en-US" sz="2600" i="1">
                                  <a:solidFill>
                                    <a:schemeClr val="tx1"/>
                                  </a:solidFill>
                                  <a:latin typeface="Cambria Math" panose="02040503050406030204" pitchFamily="18" charset="0"/>
                                </a:rPr>
                              </m:ctrlPr>
                            </m:fPr>
                            <m:num>
                              <m:r>
                                <a:rPr lang="zh-CN" altLang="en-US" sz="2600" b="0" i="1">
                                  <a:solidFill>
                                    <a:schemeClr val="tx1"/>
                                  </a:solidFill>
                                  <a:latin typeface="Cambria Math" panose="02040503050406030204" pitchFamily="18" charset="0"/>
                                </a:rPr>
                                <m:t>𝑉</m:t>
                              </m:r>
                            </m:num>
                            <m:den>
                              <m:sSub>
                                <m:sSubPr>
                                  <m:ctrlPr>
                                    <a:rPr lang="zh-CN" altLang="en-US" sz="2600" i="1">
                                      <a:solidFill>
                                        <a:schemeClr val="tx1"/>
                                      </a:solidFill>
                                      <a:latin typeface="Cambria Math" panose="02040503050406030204" pitchFamily="18" charset="0"/>
                                    </a:rPr>
                                  </m:ctrlPr>
                                </m:sSubPr>
                                <m:e>
                                  <m:r>
                                    <a:rPr lang="zh-CN" altLang="en-US" sz="2600" b="0" i="1">
                                      <a:solidFill>
                                        <a:schemeClr val="tx1"/>
                                      </a:solidFill>
                                      <a:latin typeface="Cambria Math" panose="02040503050406030204" pitchFamily="18" charset="0"/>
                                    </a:rPr>
                                    <m:t>𝑉</m:t>
                                  </m:r>
                                </m:e>
                                <m:sub>
                                  <m:r>
                                    <a:rPr lang="zh-CN" altLang="en-US" sz="2600" b="0" i="1">
                                      <a:solidFill>
                                        <a:schemeClr val="tx1"/>
                                      </a:solidFill>
                                      <a:latin typeface="Cambria Math" panose="02040503050406030204" pitchFamily="18" charset="0"/>
                                    </a:rPr>
                                    <m:t>0</m:t>
                                  </m:r>
                                </m:sub>
                              </m:sSub>
                            </m:den>
                          </m:f>
                        </m:e>
                      </m:func>
                      <m:r>
                        <a:rPr lang="zh-CN" altLang="en-US" sz="2600" b="0" i="1">
                          <a:solidFill>
                            <a:schemeClr val="tx1"/>
                          </a:solidFill>
                          <a:latin typeface="Cambria Math" panose="02040503050406030204" pitchFamily="18" charset="0"/>
                        </a:rPr>
                        <m:t>;</m:t>
                      </m:r>
                      <m:r>
                        <a:rPr lang="en-US" altLang="zh-CN" sz="2600" b="0" i="1" smtClean="0">
                          <a:solidFill>
                            <a:schemeClr val="tx1"/>
                          </a:solidFill>
                          <a:latin typeface="Cambria Math" panose="02040503050406030204" pitchFamily="18" charset="0"/>
                        </a:rPr>
                        <m:t> </m:t>
                      </m:r>
                    </m:oMath>
                  </m:oMathPara>
                </a14:m>
                <a:endParaRPr lang="zh-CN" altLang="en-US" sz="2600" dirty="0"/>
              </a:p>
            </p:txBody>
          </p:sp>
        </mc:Choice>
        <mc:Fallback xmlns="">
          <p:sp>
            <p:nvSpPr>
              <p:cNvPr id="7" name="文本框 6">
                <a:extLst>
                  <a:ext uri="{FF2B5EF4-FFF2-40B4-BE49-F238E27FC236}">
                    <a16:creationId xmlns:a16="http://schemas.microsoft.com/office/drawing/2014/main" id="{0501D0CC-7136-2DE5-32DF-16E98B65F4AB}"/>
                  </a:ext>
                </a:extLst>
              </p:cNvPr>
              <p:cNvSpPr txBox="1">
                <a:spLocks noRot="1" noChangeAspect="1" noMove="1" noResize="1" noEditPoints="1" noAdjustHandles="1" noChangeArrowheads="1" noChangeShapeType="1" noTextEdit="1"/>
              </p:cNvSpPr>
              <p:nvPr/>
            </p:nvSpPr>
            <p:spPr>
              <a:xfrm>
                <a:off x="721770" y="4889180"/>
                <a:ext cx="6095144" cy="909416"/>
              </a:xfrm>
              <a:prstGeom prst="rect">
                <a:avLst/>
              </a:prstGeom>
              <a:blipFill>
                <a:blip r:embed="rId1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1607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2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21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21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210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2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P spid="132101" grpId="0"/>
      <p:bldP spid="132102" grpId="0"/>
      <p:bldP spid="132103" grpId="0"/>
      <p:bldP spid="132104" grpId="0"/>
      <p:bldP spid="132105" grpId="0"/>
      <p:bldP spid="5"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1147" name="Rectangle 27">
            <a:extLst>
              <a:ext uri="{FF2B5EF4-FFF2-40B4-BE49-F238E27FC236}">
                <a16:creationId xmlns:a16="http://schemas.microsoft.com/office/drawing/2014/main" id="{86C7802D-0D78-BAB1-8711-AD6E478F9A4D}"/>
              </a:ext>
            </a:extLst>
          </p:cNvPr>
          <p:cNvSpPr>
            <a:spLocks noChangeArrowheads="1"/>
          </p:cNvSpPr>
          <p:nvPr/>
        </p:nvSpPr>
        <p:spPr bwMode="auto">
          <a:xfrm>
            <a:off x="2224088" y="1071563"/>
            <a:ext cx="2514600"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zh-CN" altLang="en-US" sz="2800" dirty="0">
                <a:latin typeface="+mn-lt"/>
                <a:ea typeface="+mn-ea"/>
              </a:rPr>
              <a:t>对可逆过程</a:t>
            </a:r>
            <a:r>
              <a:rPr lang="en-US" altLang="zh-CN" sz="2800" dirty="0">
                <a:latin typeface="+mn-lt"/>
                <a:ea typeface="+mn-ea"/>
              </a:rPr>
              <a:t>:</a:t>
            </a:r>
          </a:p>
        </p:txBody>
      </p:sp>
      <p:graphicFrame>
        <p:nvGraphicFramePr>
          <p:cNvPr id="261149" name="Object 29">
            <a:extLst>
              <a:ext uri="{FF2B5EF4-FFF2-40B4-BE49-F238E27FC236}">
                <a16:creationId xmlns:a16="http://schemas.microsoft.com/office/drawing/2014/main" id="{11553DCD-0AE1-94F9-AD0E-10FA0793E7D3}"/>
              </a:ext>
            </a:extLst>
          </p:cNvPr>
          <p:cNvGraphicFramePr>
            <a:graphicFrameLocks noChangeAspect="1"/>
          </p:cNvGraphicFramePr>
          <p:nvPr>
            <p:extLst/>
          </p:nvPr>
        </p:nvGraphicFramePr>
        <p:xfrm>
          <a:off x="4854575" y="958850"/>
          <a:ext cx="2628900" cy="796925"/>
        </p:xfrm>
        <a:graphic>
          <a:graphicData uri="http://schemas.openxmlformats.org/presentationml/2006/ole">
            <mc:AlternateContent xmlns:mc="http://schemas.openxmlformats.org/markup-compatibility/2006">
              <mc:Choice xmlns:v="urn:schemas-microsoft-com:vml" Requires="v">
                <p:oleObj spid="_x0000_s12302" name="公式" r:id="rId3" imgW="2158920" imgH="558720" progId="Equation.3">
                  <p:embed/>
                </p:oleObj>
              </mc:Choice>
              <mc:Fallback>
                <p:oleObj name="公式" r:id="rId3" imgW="2158920" imgH="558720" progId="Equation.3">
                  <p:embed/>
                  <p:pic>
                    <p:nvPicPr>
                      <p:cNvPr id="261149" name="Object 29">
                        <a:extLst>
                          <a:ext uri="{FF2B5EF4-FFF2-40B4-BE49-F238E27FC236}">
                            <a16:creationId xmlns:a16="http://schemas.microsoft.com/office/drawing/2014/main" id="{11553DCD-0AE1-94F9-AD0E-10FA0793E7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575" y="958850"/>
                        <a:ext cx="2628900" cy="796925"/>
                      </a:xfrm>
                      <a:prstGeom prst="rect">
                        <a:avLst/>
                      </a:prstGeom>
                      <a:noFill/>
                      <a:ln>
                        <a:noFill/>
                      </a:ln>
                      <a:effectLst/>
                    </p:spPr>
                  </p:pic>
                </p:oleObj>
              </mc:Fallback>
            </mc:AlternateContent>
          </a:graphicData>
        </a:graphic>
      </p:graphicFrame>
      <p:sp>
        <p:nvSpPr>
          <p:cNvPr id="261124" name="Rectangle 4">
            <a:extLst>
              <a:ext uri="{FF2B5EF4-FFF2-40B4-BE49-F238E27FC236}">
                <a16:creationId xmlns:a16="http://schemas.microsoft.com/office/drawing/2014/main" id="{A31581A0-7D20-4322-440A-E4E3B76DB3B2}"/>
              </a:ext>
            </a:extLst>
          </p:cNvPr>
          <p:cNvSpPr>
            <a:spLocks noChangeArrowheads="1"/>
          </p:cNvSpPr>
          <p:nvPr/>
        </p:nvSpPr>
        <p:spPr bwMode="auto">
          <a:xfrm>
            <a:off x="2238376" y="1989978"/>
            <a:ext cx="7597775" cy="23971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2700">
                <a:solidFill>
                  <a:schemeClr val="bg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261155" name="Group 35">
            <a:extLst>
              <a:ext uri="{FF2B5EF4-FFF2-40B4-BE49-F238E27FC236}">
                <a16:creationId xmlns:a16="http://schemas.microsoft.com/office/drawing/2014/main" id="{71C00845-8D7F-1DE5-D5AB-217F863D538C}"/>
              </a:ext>
            </a:extLst>
          </p:cNvPr>
          <p:cNvGrpSpPr>
            <a:grpSpLocks/>
          </p:cNvGrpSpPr>
          <p:nvPr/>
        </p:nvGrpSpPr>
        <p:grpSpPr bwMode="auto">
          <a:xfrm>
            <a:off x="2224088" y="2094755"/>
            <a:ext cx="3806825" cy="2276476"/>
            <a:chOff x="528" y="2207"/>
            <a:chExt cx="2398" cy="1434"/>
          </a:xfrm>
        </p:grpSpPr>
        <p:sp>
          <p:nvSpPr>
            <p:cNvPr id="261127" name="Line 7">
              <a:extLst>
                <a:ext uri="{FF2B5EF4-FFF2-40B4-BE49-F238E27FC236}">
                  <a16:creationId xmlns:a16="http://schemas.microsoft.com/office/drawing/2014/main" id="{75704427-0A2E-2994-A87D-E59169733A7B}"/>
                </a:ext>
              </a:extLst>
            </p:cNvPr>
            <p:cNvSpPr>
              <a:spLocks noChangeShapeType="1"/>
            </p:cNvSpPr>
            <p:nvPr/>
          </p:nvSpPr>
          <p:spPr bwMode="auto">
            <a:xfrm>
              <a:off x="778" y="2265"/>
              <a:ext cx="0" cy="1200"/>
            </a:xfrm>
            <a:prstGeom prst="line">
              <a:avLst/>
            </a:prstGeom>
            <a:noFill/>
            <a:ln w="508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28" name="Line 8">
              <a:extLst>
                <a:ext uri="{FF2B5EF4-FFF2-40B4-BE49-F238E27FC236}">
                  <a16:creationId xmlns:a16="http://schemas.microsoft.com/office/drawing/2014/main" id="{4AE90810-F529-100C-0F5B-81820FAEBCDA}"/>
                </a:ext>
              </a:extLst>
            </p:cNvPr>
            <p:cNvSpPr>
              <a:spLocks noChangeShapeType="1"/>
            </p:cNvSpPr>
            <p:nvPr/>
          </p:nvSpPr>
          <p:spPr bwMode="auto">
            <a:xfrm>
              <a:off x="778" y="3465"/>
              <a:ext cx="1968" cy="0"/>
            </a:xfrm>
            <a:prstGeom prst="line">
              <a:avLst/>
            </a:prstGeom>
            <a:noFill/>
            <a:ln w="508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29" name="Rectangle 9">
              <a:extLst>
                <a:ext uri="{FF2B5EF4-FFF2-40B4-BE49-F238E27FC236}">
                  <a16:creationId xmlns:a16="http://schemas.microsoft.com/office/drawing/2014/main" id="{89BCFAC2-253B-D9E0-4843-1A29652267C4}"/>
                </a:ext>
              </a:extLst>
            </p:cNvPr>
            <p:cNvSpPr>
              <a:spLocks noChangeArrowheads="1"/>
            </p:cNvSpPr>
            <p:nvPr/>
          </p:nvSpPr>
          <p:spPr bwMode="auto">
            <a:xfrm>
              <a:off x="528" y="2207"/>
              <a:ext cx="24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a:latin typeface="+mn-lt"/>
                  <a:ea typeface="+mn-ea"/>
                </a:rPr>
                <a:t>T</a:t>
              </a:r>
            </a:p>
          </p:txBody>
        </p:sp>
        <p:sp>
          <p:nvSpPr>
            <p:cNvPr id="261130" name="Rectangle 10">
              <a:extLst>
                <a:ext uri="{FF2B5EF4-FFF2-40B4-BE49-F238E27FC236}">
                  <a16:creationId xmlns:a16="http://schemas.microsoft.com/office/drawing/2014/main" id="{97DE2606-2F7C-A55E-F1DB-A6C80B100916}"/>
                </a:ext>
              </a:extLst>
            </p:cNvPr>
            <p:cNvSpPr>
              <a:spLocks noChangeArrowheads="1"/>
            </p:cNvSpPr>
            <p:nvPr/>
          </p:nvSpPr>
          <p:spPr bwMode="auto">
            <a:xfrm>
              <a:off x="2696" y="3311"/>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a:latin typeface="+mn-lt"/>
                  <a:ea typeface="+mn-ea"/>
                </a:rPr>
                <a:t>S</a:t>
              </a:r>
            </a:p>
          </p:txBody>
        </p:sp>
        <p:sp>
          <p:nvSpPr>
            <p:cNvPr id="261131" name="Arc 11">
              <a:extLst>
                <a:ext uri="{FF2B5EF4-FFF2-40B4-BE49-F238E27FC236}">
                  <a16:creationId xmlns:a16="http://schemas.microsoft.com/office/drawing/2014/main" id="{3E710376-6421-5D9D-1E4A-469CC102E514}"/>
                </a:ext>
              </a:extLst>
            </p:cNvPr>
            <p:cNvSpPr>
              <a:spLocks/>
            </p:cNvSpPr>
            <p:nvPr/>
          </p:nvSpPr>
          <p:spPr bwMode="auto">
            <a:xfrm>
              <a:off x="1163" y="2505"/>
              <a:ext cx="1248" cy="57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50800" cap="rnd">
              <a:solidFill>
                <a:srgbClr val="8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32" name="Line 12">
              <a:extLst>
                <a:ext uri="{FF2B5EF4-FFF2-40B4-BE49-F238E27FC236}">
                  <a16:creationId xmlns:a16="http://schemas.microsoft.com/office/drawing/2014/main" id="{D3EE29CC-1F55-E9D4-501B-F8974E980348}"/>
                </a:ext>
              </a:extLst>
            </p:cNvPr>
            <p:cNvSpPr>
              <a:spLocks noChangeShapeType="1"/>
            </p:cNvSpPr>
            <p:nvPr/>
          </p:nvSpPr>
          <p:spPr bwMode="auto">
            <a:xfrm>
              <a:off x="1162" y="2505"/>
              <a:ext cx="0" cy="960"/>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33" name="Line 13">
              <a:extLst>
                <a:ext uri="{FF2B5EF4-FFF2-40B4-BE49-F238E27FC236}">
                  <a16:creationId xmlns:a16="http://schemas.microsoft.com/office/drawing/2014/main" id="{0844CF34-81EB-B0FA-31E6-0CF21CFA44E5}"/>
                </a:ext>
              </a:extLst>
            </p:cNvPr>
            <p:cNvSpPr>
              <a:spLocks noChangeShapeType="1"/>
            </p:cNvSpPr>
            <p:nvPr/>
          </p:nvSpPr>
          <p:spPr bwMode="auto">
            <a:xfrm>
              <a:off x="2410" y="3081"/>
              <a:ext cx="0" cy="384"/>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34" name="Rectangle 14">
              <a:extLst>
                <a:ext uri="{FF2B5EF4-FFF2-40B4-BE49-F238E27FC236}">
                  <a16:creationId xmlns:a16="http://schemas.microsoft.com/office/drawing/2014/main" id="{3840431A-034D-318B-D874-ED9DCFA9A71B}"/>
                </a:ext>
              </a:extLst>
            </p:cNvPr>
            <p:cNvSpPr>
              <a:spLocks noChangeArrowheads="1"/>
            </p:cNvSpPr>
            <p:nvPr/>
          </p:nvSpPr>
          <p:spPr bwMode="auto">
            <a:xfrm>
              <a:off x="1536" y="3071"/>
              <a:ext cx="56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dirty="0">
                  <a:latin typeface="+mn-lt"/>
                  <a:ea typeface="+mn-ea"/>
                </a:rPr>
                <a:t>Q</a:t>
              </a:r>
              <a:r>
                <a:rPr lang="zh-CN" altLang="en-US" sz="2800" baseline="-25000" dirty="0">
                  <a:latin typeface="+mn-lt"/>
                  <a:ea typeface="+mn-ea"/>
                </a:rPr>
                <a:t>吸</a:t>
              </a:r>
            </a:p>
          </p:txBody>
        </p:sp>
        <p:sp>
          <p:nvSpPr>
            <p:cNvPr id="261135" name="Line 15">
              <a:extLst>
                <a:ext uri="{FF2B5EF4-FFF2-40B4-BE49-F238E27FC236}">
                  <a16:creationId xmlns:a16="http://schemas.microsoft.com/office/drawing/2014/main" id="{8DB91D0E-C74B-E56C-AA5E-957B9F966B78}"/>
                </a:ext>
              </a:extLst>
            </p:cNvPr>
            <p:cNvSpPr>
              <a:spLocks noChangeShapeType="1"/>
            </p:cNvSpPr>
            <p:nvPr/>
          </p:nvSpPr>
          <p:spPr bwMode="auto">
            <a:xfrm>
              <a:off x="1594" y="2937"/>
              <a:ext cx="144" cy="48"/>
            </a:xfrm>
            <a:prstGeom prst="line">
              <a:avLst/>
            </a:prstGeom>
            <a:noFill/>
            <a:ln w="50800">
              <a:solidFill>
                <a:srgbClr val="80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nvGrpSpPr>
          <p:cNvPr id="261156" name="Group 36">
            <a:extLst>
              <a:ext uri="{FF2B5EF4-FFF2-40B4-BE49-F238E27FC236}">
                <a16:creationId xmlns:a16="http://schemas.microsoft.com/office/drawing/2014/main" id="{A70AC1E5-4D71-5FB0-705E-50C12AE3AEEF}"/>
              </a:ext>
            </a:extLst>
          </p:cNvPr>
          <p:cNvGrpSpPr>
            <a:grpSpLocks/>
          </p:cNvGrpSpPr>
          <p:nvPr/>
        </p:nvGrpSpPr>
        <p:grpSpPr bwMode="auto">
          <a:xfrm>
            <a:off x="5881687" y="2156667"/>
            <a:ext cx="3794125" cy="2276476"/>
            <a:chOff x="2832" y="2246"/>
            <a:chExt cx="2390" cy="1434"/>
          </a:xfrm>
        </p:grpSpPr>
        <p:sp>
          <p:nvSpPr>
            <p:cNvPr id="261137" name="Line 17">
              <a:extLst>
                <a:ext uri="{FF2B5EF4-FFF2-40B4-BE49-F238E27FC236}">
                  <a16:creationId xmlns:a16="http://schemas.microsoft.com/office/drawing/2014/main" id="{84C7D7EA-836B-C3D5-F859-B7B8F235F169}"/>
                </a:ext>
              </a:extLst>
            </p:cNvPr>
            <p:cNvSpPr>
              <a:spLocks noChangeShapeType="1"/>
            </p:cNvSpPr>
            <p:nvPr/>
          </p:nvSpPr>
          <p:spPr bwMode="auto">
            <a:xfrm>
              <a:off x="3082" y="2304"/>
              <a:ext cx="0" cy="1200"/>
            </a:xfrm>
            <a:prstGeom prst="line">
              <a:avLst/>
            </a:prstGeom>
            <a:noFill/>
            <a:ln w="50800">
              <a:solidFill>
                <a:schemeClr val="tx1"/>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38" name="Line 18">
              <a:extLst>
                <a:ext uri="{FF2B5EF4-FFF2-40B4-BE49-F238E27FC236}">
                  <a16:creationId xmlns:a16="http://schemas.microsoft.com/office/drawing/2014/main" id="{4F03692A-2D2E-E853-96A0-459C21990654}"/>
                </a:ext>
              </a:extLst>
            </p:cNvPr>
            <p:cNvSpPr>
              <a:spLocks noChangeShapeType="1"/>
            </p:cNvSpPr>
            <p:nvPr/>
          </p:nvSpPr>
          <p:spPr bwMode="auto">
            <a:xfrm>
              <a:off x="3082" y="3504"/>
              <a:ext cx="1968" cy="0"/>
            </a:xfrm>
            <a:prstGeom prst="line">
              <a:avLst/>
            </a:prstGeom>
            <a:noFill/>
            <a:ln w="50800">
              <a:solidFill>
                <a:schemeClr val="tx1"/>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39" name="Rectangle 19">
              <a:extLst>
                <a:ext uri="{FF2B5EF4-FFF2-40B4-BE49-F238E27FC236}">
                  <a16:creationId xmlns:a16="http://schemas.microsoft.com/office/drawing/2014/main" id="{2496CB83-D39B-E297-1246-BF16DEE01D21}"/>
                </a:ext>
              </a:extLst>
            </p:cNvPr>
            <p:cNvSpPr>
              <a:spLocks noChangeArrowheads="1"/>
            </p:cNvSpPr>
            <p:nvPr/>
          </p:nvSpPr>
          <p:spPr bwMode="auto">
            <a:xfrm>
              <a:off x="2832" y="2246"/>
              <a:ext cx="24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a:latin typeface="+mn-lt"/>
                  <a:ea typeface="+mn-ea"/>
                </a:rPr>
                <a:t>T</a:t>
              </a:r>
            </a:p>
          </p:txBody>
        </p:sp>
        <p:sp>
          <p:nvSpPr>
            <p:cNvPr id="261140" name="Rectangle 20">
              <a:extLst>
                <a:ext uri="{FF2B5EF4-FFF2-40B4-BE49-F238E27FC236}">
                  <a16:creationId xmlns:a16="http://schemas.microsoft.com/office/drawing/2014/main" id="{8233240A-C79C-600C-70E7-F6EEA05539A3}"/>
                </a:ext>
              </a:extLst>
            </p:cNvPr>
            <p:cNvSpPr>
              <a:spLocks noChangeArrowheads="1"/>
            </p:cNvSpPr>
            <p:nvPr/>
          </p:nvSpPr>
          <p:spPr bwMode="auto">
            <a:xfrm>
              <a:off x="4992" y="3350"/>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a:latin typeface="+mn-lt"/>
                  <a:ea typeface="+mn-ea"/>
                </a:rPr>
                <a:t>S</a:t>
              </a:r>
            </a:p>
          </p:txBody>
        </p:sp>
        <p:sp>
          <p:nvSpPr>
            <p:cNvPr id="261141" name="Arc 21">
              <a:extLst>
                <a:ext uri="{FF2B5EF4-FFF2-40B4-BE49-F238E27FC236}">
                  <a16:creationId xmlns:a16="http://schemas.microsoft.com/office/drawing/2014/main" id="{ABF43367-EF8D-B93C-C4E2-EEE9F8D22B0B}"/>
                </a:ext>
              </a:extLst>
            </p:cNvPr>
            <p:cNvSpPr>
              <a:spLocks/>
            </p:cNvSpPr>
            <p:nvPr/>
          </p:nvSpPr>
          <p:spPr bwMode="auto">
            <a:xfrm>
              <a:off x="3467" y="2544"/>
              <a:ext cx="1248" cy="57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50800" cap="rnd">
              <a:solidFill>
                <a:srgbClr val="80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42" name="Line 22">
              <a:extLst>
                <a:ext uri="{FF2B5EF4-FFF2-40B4-BE49-F238E27FC236}">
                  <a16:creationId xmlns:a16="http://schemas.microsoft.com/office/drawing/2014/main" id="{6CC163BF-0C10-2E07-BA18-C794F484D073}"/>
                </a:ext>
              </a:extLst>
            </p:cNvPr>
            <p:cNvSpPr>
              <a:spLocks noChangeShapeType="1"/>
            </p:cNvSpPr>
            <p:nvPr/>
          </p:nvSpPr>
          <p:spPr bwMode="auto">
            <a:xfrm>
              <a:off x="3466" y="2544"/>
              <a:ext cx="0" cy="960"/>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43" name="Line 23">
              <a:extLst>
                <a:ext uri="{FF2B5EF4-FFF2-40B4-BE49-F238E27FC236}">
                  <a16:creationId xmlns:a16="http://schemas.microsoft.com/office/drawing/2014/main" id="{94E08921-13FC-F8FF-40E9-2943F20834DD}"/>
                </a:ext>
              </a:extLst>
            </p:cNvPr>
            <p:cNvSpPr>
              <a:spLocks noChangeShapeType="1"/>
            </p:cNvSpPr>
            <p:nvPr/>
          </p:nvSpPr>
          <p:spPr bwMode="auto">
            <a:xfrm>
              <a:off x="4714" y="3120"/>
              <a:ext cx="0" cy="384"/>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261144" name="Rectangle 24">
              <a:extLst>
                <a:ext uri="{FF2B5EF4-FFF2-40B4-BE49-F238E27FC236}">
                  <a16:creationId xmlns:a16="http://schemas.microsoft.com/office/drawing/2014/main" id="{093A6015-272D-7409-8B3B-76BE551D0138}"/>
                </a:ext>
              </a:extLst>
            </p:cNvPr>
            <p:cNvSpPr>
              <a:spLocks noChangeArrowheads="1"/>
            </p:cNvSpPr>
            <p:nvPr/>
          </p:nvSpPr>
          <p:spPr bwMode="auto">
            <a:xfrm>
              <a:off x="3840" y="3110"/>
              <a:ext cx="62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dirty="0">
                  <a:latin typeface="+mn-lt"/>
                  <a:ea typeface="+mn-ea"/>
                </a:rPr>
                <a:t>Q</a:t>
              </a:r>
              <a:r>
                <a:rPr lang="zh-CN" altLang="en-US" sz="2800" baseline="-25000" dirty="0">
                  <a:latin typeface="+mn-lt"/>
                  <a:ea typeface="+mn-ea"/>
                </a:rPr>
                <a:t>放</a:t>
              </a:r>
            </a:p>
          </p:txBody>
        </p:sp>
        <p:sp>
          <p:nvSpPr>
            <p:cNvPr id="261145" name="Line 25">
              <a:extLst>
                <a:ext uri="{FF2B5EF4-FFF2-40B4-BE49-F238E27FC236}">
                  <a16:creationId xmlns:a16="http://schemas.microsoft.com/office/drawing/2014/main" id="{AAC5FBB4-75CE-5366-D438-93F79D6BA906}"/>
                </a:ext>
              </a:extLst>
            </p:cNvPr>
            <p:cNvSpPr>
              <a:spLocks noChangeShapeType="1"/>
            </p:cNvSpPr>
            <p:nvPr/>
          </p:nvSpPr>
          <p:spPr bwMode="auto">
            <a:xfrm flipH="1" flipV="1">
              <a:off x="3898" y="2976"/>
              <a:ext cx="192" cy="64"/>
            </a:xfrm>
            <a:prstGeom prst="line">
              <a:avLst/>
            </a:prstGeom>
            <a:noFill/>
            <a:ln w="50800">
              <a:solidFill>
                <a:srgbClr val="80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261146" name="Rectangle 26">
            <a:extLst>
              <a:ext uri="{FF2B5EF4-FFF2-40B4-BE49-F238E27FC236}">
                <a16:creationId xmlns:a16="http://schemas.microsoft.com/office/drawing/2014/main" id="{B3A0FC97-0739-A355-FBEE-45143EBED071}"/>
              </a:ext>
            </a:extLst>
          </p:cNvPr>
          <p:cNvSpPr>
            <a:spLocks noChangeArrowheads="1"/>
          </p:cNvSpPr>
          <p:nvPr/>
        </p:nvSpPr>
        <p:spPr bwMode="auto">
          <a:xfrm>
            <a:off x="2925691" y="4812571"/>
            <a:ext cx="6858000" cy="52386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800" i="1" dirty="0">
                <a:latin typeface="+mn-lt"/>
                <a:ea typeface="+mn-ea"/>
              </a:rPr>
              <a:t>T-S</a:t>
            </a:r>
            <a:r>
              <a:rPr lang="zh-CN" altLang="en-US" sz="2800" dirty="0">
                <a:latin typeface="+mn-lt"/>
                <a:ea typeface="+mn-ea"/>
              </a:rPr>
              <a:t>曲线下的面积为吸（放）的热。</a:t>
            </a:r>
          </a:p>
        </p:txBody>
      </p:sp>
      <p:sp>
        <p:nvSpPr>
          <p:cNvPr id="4" name="Text Box 13">
            <a:hlinkClick r:id="" action="ppaction://noaction"/>
            <a:extLst>
              <a:ext uri="{FF2B5EF4-FFF2-40B4-BE49-F238E27FC236}">
                <a16:creationId xmlns:a16="http://schemas.microsoft.com/office/drawing/2014/main" id="{20629D9B-5E2D-B77E-1C65-2D923AD7799B}"/>
              </a:ext>
            </a:extLst>
          </p:cNvPr>
          <p:cNvSpPr txBox="1">
            <a:spLocks noChangeArrowheads="1"/>
          </p:cNvSpPr>
          <p:nvPr/>
        </p:nvSpPr>
        <p:spPr bwMode="auto">
          <a:xfrm>
            <a:off x="574057" y="405824"/>
            <a:ext cx="86932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温熵图</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611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11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11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11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261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47" grpId="0" autoUpdateAnimBg="0"/>
      <p:bldP spid="261147" grpId="1"/>
      <p:bldP spid="261146" grpId="0"/>
      <p:bldP spid="26114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9363" name="Group 51">
            <a:extLst>
              <a:ext uri="{FF2B5EF4-FFF2-40B4-BE49-F238E27FC236}">
                <a16:creationId xmlns:a16="http://schemas.microsoft.com/office/drawing/2014/main" id="{5637FD1C-373F-4EE6-BACB-3661E7D8ADEB}"/>
              </a:ext>
            </a:extLst>
          </p:cNvPr>
          <p:cNvGrpSpPr>
            <a:grpSpLocks/>
          </p:cNvGrpSpPr>
          <p:nvPr/>
        </p:nvGrpSpPr>
        <p:grpSpPr bwMode="auto">
          <a:xfrm>
            <a:off x="1794669" y="405824"/>
            <a:ext cx="8602662" cy="3459163"/>
            <a:chOff x="251" y="1346"/>
            <a:chExt cx="5419" cy="2179"/>
          </a:xfrm>
        </p:grpSpPr>
        <p:sp>
          <p:nvSpPr>
            <p:cNvPr id="269348" name="Rectangle 36">
              <a:extLst>
                <a:ext uri="{FF2B5EF4-FFF2-40B4-BE49-F238E27FC236}">
                  <a16:creationId xmlns:a16="http://schemas.microsoft.com/office/drawing/2014/main" id="{155F30A5-C8EF-9219-82C7-782C6DBFCA01}"/>
                </a:ext>
              </a:extLst>
            </p:cNvPr>
            <p:cNvSpPr>
              <a:spLocks noChangeArrowheads="1"/>
            </p:cNvSpPr>
            <p:nvPr/>
          </p:nvSpPr>
          <p:spPr bwMode="auto">
            <a:xfrm>
              <a:off x="3563" y="1905"/>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b</a:t>
              </a:r>
            </a:p>
          </p:txBody>
        </p:sp>
        <p:sp>
          <p:nvSpPr>
            <p:cNvPr id="269353" name="Rectangle 41">
              <a:extLst>
                <a:ext uri="{FF2B5EF4-FFF2-40B4-BE49-F238E27FC236}">
                  <a16:creationId xmlns:a16="http://schemas.microsoft.com/office/drawing/2014/main" id="{DC4E83B2-E20C-7996-3DC6-13CA5BB6FE38}"/>
                </a:ext>
              </a:extLst>
            </p:cNvPr>
            <p:cNvSpPr>
              <a:spLocks noChangeArrowheads="1"/>
            </p:cNvSpPr>
            <p:nvPr/>
          </p:nvSpPr>
          <p:spPr bwMode="auto">
            <a:xfrm>
              <a:off x="1307" y="1346"/>
              <a:ext cx="3208" cy="311"/>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zh-CN" altLang="en-US" sz="2600" dirty="0">
                  <a:latin typeface="+mj-ea"/>
                  <a:ea typeface="+mj-ea"/>
                </a:rPr>
                <a:t>卡诺循环（任意工质）温熵图</a:t>
              </a:r>
            </a:p>
          </p:txBody>
        </p:sp>
        <p:sp>
          <p:nvSpPr>
            <p:cNvPr id="269318" name="Line 6">
              <a:extLst>
                <a:ext uri="{FF2B5EF4-FFF2-40B4-BE49-F238E27FC236}">
                  <a16:creationId xmlns:a16="http://schemas.microsoft.com/office/drawing/2014/main" id="{80FA88EA-6BCF-97A0-EAF1-391414441BD9}"/>
                </a:ext>
              </a:extLst>
            </p:cNvPr>
            <p:cNvSpPr>
              <a:spLocks noChangeShapeType="1"/>
            </p:cNvSpPr>
            <p:nvPr/>
          </p:nvSpPr>
          <p:spPr bwMode="auto">
            <a:xfrm>
              <a:off x="1595" y="1914"/>
              <a:ext cx="0" cy="1200"/>
            </a:xfrm>
            <a:prstGeom prst="line">
              <a:avLst/>
            </a:prstGeom>
            <a:noFill/>
            <a:ln w="50800">
              <a:solidFill>
                <a:srgbClr val="000099"/>
              </a:solidFill>
              <a:round/>
              <a:headEnd type="triangle"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19" name="Rectangle 7">
              <a:extLst>
                <a:ext uri="{FF2B5EF4-FFF2-40B4-BE49-F238E27FC236}">
                  <a16:creationId xmlns:a16="http://schemas.microsoft.com/office/drawing/2014/main" id="{795C968A-F033-FE21-FE74-4A1536365D54}"/>
                </a:ext>
              </a:extLst>
            </p:cNvPr>
            <p:cNvSpPr>
              <a:spLocks noChangeArrowheads="1"/>
            </p:cNvSpPr>
            <p:nvPr/>
          </p:nvSpPr>
          <p:spPr bwMode="auto">
            <a:xfrm>
              <a:off x="1249" y="1808"/>
              <a:ext cx="24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600" i="1">
                  <a:latin typeface="+mj-ea"/>
                  <a:ea typeface="+mj-ea"/>
                </a:rPr>
                <a:t>T</a:t>
              </a:r>
            </a:p>
          </p:txBody>
        </p:sp>
        <p:sp>
          <p:nvSpPr>
            <p:cNvPr id="269320" name="Rectangle 8">
              <a:extLst>
                <a:ext uri="{FF2B5EF4-FFF2-40B4-BE49-F238E27FC236}">
                  <a16:creationId xmlns:a16="http://schemas.microsoft.com/office/drawing/2014/main" id="{6A02E61D-813B-039F-8E3E-C43A87B9EFDC}"/>
                </a:ext>
              </a:extLst>
            </p:cNvPr>
            <p:cNvSpPr>
              <a:spLocks noChangeArrowheads="1"/>
            </p:cNvSpPr>
            <p:nvPr/>
          </p:nvSpPr>
          <p:spPr bwMode="auto">
            <a:xfrm>
              <a:off x="3985" y="2960"/>
              <a:ext cx="22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600" i="1" dirty="0">
                  <a:latin typeface="+mj-ea"/>
                  <a:ea typeface="+mj-ea"/>
                </a:rPr>
                <a:t>S</a:t>
              </a:r>
            </a:p>
          </p:txBody>
        </p:sp>
        <p:sp>
          <p:nvSpPr>
            <p:cNvPr id="269321" name="Line 9">
              <a:extLst>
                <a:ext uri="{FF2B5EF4-FFF2-40B4-BE49-F238E27FC236}">
                  <a16:creationId xmlns:a16="http://schemas.microsoft.com/office/drawing/2014/main" id="{AA04C7BE-C481-C152-1D58-409C48F6BE7F}"/>
                </a:ext>
              </a:extLst>
            </p:cNvPr>
            <p:cNvSpPr>
              <a:spLocks noChangeShapeType="1"/>
            </p:cNvSpPr>
            <p:nvPr/>
          </p:nvSpPr>
          <p:spPr bwMode="auto">
            <a:xfrm>
              <a:off x="2119" y="2346"/>
              <a:ext cx="0" cy="768"/>
            </a:xfrm>
            <a:prstGeom prst="line">
              <a:avLst/>
            </a:prstGeom>
            <a:noFill/>
            <a:ln w="12700">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2" name="Line 10">
              <a:extLst>
                <a:ext uri="{FF2B5EF4-FFF2-40B4-BE49-F238E27FC236}">
                  <a16:creationId xmlns:a16="http://schemas.microsoft.com/office/drawing/2014/main" id="{B96FF094-6F36-E25E-24F6-628DA8184B51}"/>
                </a:ext>
              </a:extLst>
            </p:cNvPr>
            <p:cNvSpPr>
              <a:spLocks noChangeShapeType="1"/>
            </p:cNvSpPr>
            <p:nvPr/>
          </p:nvSpPr>
          <p:spPr bwMode="auto">
            <a:xfrm>
              <a:off x="3241" y="2730"/>
              <a:ext cx="0" cy="384"/>
            </a:xfrm>
            <a:prstGeom prst="line">
              <a:avLst/>
            </a:prstGeom>
            <a:noFill/>
            <a:ln w="12700">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3" name="Rectangle 11">
              <a:extLst>
                <a:ext uri="{FF2B5EF4-FFF2-40B4-BE49-F238E27FC236}">
                  <a16:creationId xmlns:a16="http://schemas.microsoft.com/office/drawing/2014/main" id="{8C96DB2B-23DE-A511-AFC6-C48624EAEDF6}"/>
                </a:ext>
              </a:extLst>
            </p:cNvPr>
            <p:cNvSpPr>
              <a:spLocks noChangeArrowheads="1"/>
            </p:cNvSpPr>
            <p:nvPr/>
          </p:nvSpPr>
          <p:spPr bwMode="auto">
            <a:xfrm>
              <a:off x="2113" y="2336"/>
              <a:ext cx="125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600" i="1">
                  <a:latin typeface="+mj-ea"/>
                  <a:ea typeface="+mj-ea"/>
                </a:rPr>
                <a:t>W</a:t>
              </a:r>
              <a:r>
                <a:rPr lang="zh-CN" altLang="en-US" sz="2600">
                  <a:latin typeface="+mj-ea"/>
                  <a:ea typeface="+mj-ea"/>
                </a:rPr>
                <a:t>＝</a:t>
              </a:r>
              <a:r>
                <a:rPr lang="en-US" altLang="zh-CN" sz="2600" i="1">
                  <a:latin typeface="+mj-ea"/>
                  <a:ea typeface="+mj-ea"/>
                </a:rPr>
                <a:t>Q</a:t>
              </a:r>
              <a:r>
                <a:rPr lang="en-US" altLang="zh-CN" sz="2600" baseline="-25000">
                  <a:latin typeface="+mj-ea"/>
                  <a:ea typeface="+mj-ea"/>
                </a:rPr>
                <a:t>1</a:t>
              </a:r>
              <a:r>
                <a:rPr lang="zh-CN" altLang="en-US" sz="2600" i="1">
                  <a:latin typeface="+mj-ea"/>
                  <a:ea typeface="+mj-ea"/>
                </a:rPr>
                <a:t>－</a:t>
              </a:r>
              <a:r>
                <a:rPr lang="en-US" altLang="zh-CN" sz="2600" i="1">
                  <a:latin typeface="+mj-ea"/>
                  <a:ea typeface="+mj-ea"/>
                </a:rPr>
                <a:t>Q</a:t>
              </a:r>
              <a:r>
                <a:rPr lang="en-US" altLang="zh-CN" sz="2600" baseline="-25000">
                  <a:latin typeface="+mj-ea"/>
                  <a:ea typeface="+mj-ea"/>
                </a:rPr>
                <a:t>2</a:t>
              </a:r>
            </a:p>
          </p:txBody>
        </p:sp>
        <p:sp>
          <p:nvSpPr>
            <p:cNvPr id="269324" name="Rectangle 12">
              <a:extLst>
                <a:ext uri="{FF2B5EF4-FFF2-40B4-BE49-F238E27FC236}">
                  <a16:creationId xmlns:a16="http://schemas.microsoft.com/office/drawing/2014/main" id="{CA9667D4-5799-406F-2BA7-B01AFB21CF92}"/>
                </a:ext>
              </a:extLst>
            </p:cNvPr>
            <p:cNvSpPr>
              <a:spLocks noChangeArrowheads="1"/>
            </p:cNvSpPr>
            <p:nvPr/>
          </p:nvSpPr>
          <p:spPr bwMode="auto">
            <a:xfrm>
              <a:off x="2123" y="2145"/>
              <a:ext cx="1120" cy="640"/>
            </a:xfrm>
            <a:prstGeom prst="rect">
              <a:avLst/>
            </a:prstGeom>
            <a:noFill/>
            <a:ln w="508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5" name="Line 13">
              <a:extLst>
                <a:ext uri="{FF2B5EF4-FFF2-40B4-BE49-F238E27FC236}">
                  <a16:creationId xmlns:a16="http://schemas.microsoft.com/office/drawing/2014/main" id="{71AB21D7-980A-C55A-8D84-D3A9D316C56C}"/>
                </a:ext>
              </a:extLst>
            </p:cNvPr>
            <p:cNvSpPr>
              <a:spLocks noChangeShapeType="1"/>
            </p:cNvSpPr>
            <p:nvPr/>
          </p:nvSpPr>
          <p:spPr bwMode="auto">
            <a:xfrm>
              <a:off x="1595" y="2145"/>
              <a:ext cx="528" cy="0"/>
            </a:xfrm>
            <a:prstGeom prst="line">
              <a:avLst/>
            </a:prstGeom>
            <a:noFill/>
            <a:ln w="12700">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6" name="Line 14">
              <a:extLst>
                <a:ext uri="{FF2B5EF4-FFF2-40B4-BE49-F238E27FC236}">
                  <a16:creationId xmlns:a16="http://schemas.microsoft.com/office/drawing/2014/main" id="{A126DAFB-AB43-351B-0E51-95BA5A982066}"/>
                </a:ext>
              </a:extLst>
            </p:cNvPr>
            <p:cNvSpPr>
              <a:spLocks noChangeShapeType="1"/>
            </p:cNvSpPr>
            <p:nvPr/>
          </p:nvSpPr>
          <p:spPr bwMode="auto">
            <a:xfrm>
              <a:off x="1595" y="2777"/>
              <a:ext cx="528" cy="0"/>
            </a:xfrm>
            <a:prstGeom prst="line">
              <a:avLst/>
            </a:prstGeom>
            <a:noFill/>
            <a:ln w="12700">
              <a:solidFill>
                <a:srgbClr val="000099"/>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7" name="Rectangle 15">
              <a:extLst>
                <a:ext uri="{FF2B5EF4-FFF2-40B4-BE49-F238E27FC236}">
                  <a16:creationId xmlns:a16="http://schemas.microsoft.com/office/drawing/2014/main" id="{DB235C7E-3187-B23D-6E10-959FCF233B58}"/>
                </a:ext>
              </a:extLst>
            </p:cNvPr>
            <p:cNvSpPr>
              <a:spLocks noChangeArrowheads="1"/>
            </p:cNvSpPr>
            <p:nvPr/>
          </p:nvSpPr>
          <p:spPr bwMode="auto">
            <a:xfrm>
              <a:off x="3243" y="2145"/>
              <a:ext cx="320" cy="656"/>
            </a:xfrm>
            <a:prstGeom prst="rect">
              <a:avLst/>
            </a:prstGeom>
            <a:noFill/>
            <a:ln w="25400">
              <a:solidFill>
                <a:schemeClr val="accent2"/>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8" name="Line 16">
              <a:extLst>
                <a:ext uri="{FF2B5EF4-FFF2-40B4-BE49-F238E27FC236}">
                  <a16:creationId xmlns:a16="http://schemas.microsoft.com/office/drawing/2014/main" id="{DC8B341B-AE29-2BCB-7EC5-B145FA04A5F4}"/>
                </a:ext>
              </a:extLst>
            </p:cNvPr>
            <p:cNvSpPr>
              <a:spLocks noChangeShapeType="1"/>
            </p:cNvSpPr>
            <p:nvPr/>
          </p:nvSpPr>
          <p:spPr bwMode="auto">
            <a:xfrm>
              <a:off x="1595" y="3105"/>
              <a:ext cx="2400" cy="0"/>
            </a:xfrm>
            <a:prstGeom prst="line">
              <a:avLst/>
            </a:prstGeom>
            <a:noFill/>
            <a:ln w="50800">
              <a:solidFill>
                <a:srgbClr val="000099"/>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29" name="Line 17">
              <a:extLst>
                <a:ext uri="{FF2B5EF4-FFF2-40B4-BE49-F238E27FC236}">
                  <a16:creationId xmlns:a16="http://schemas.microsoft.com/office/drawing/2014/main" id="{193D53F7-4CC9-CFFF-D55E-09A51B4FF820}"/>
                </a:ext>
              </a:extLst>
            </p:cNvPr>
            <p:cNvSpPr>
              <a:spLocks noChangeShapeType="1"/>
            </p:cNvSpPr>
            <p:nvPr/>
          </p:nvSpPr>
          <p:spPr bwMode="auto">
            <a:xfrm>
              <a:off x="3563" y="2730"/>
              <a:ext cx="0" cy="384"/>
            </a:xfrm>
            <a:prstGeom prst="line">
              <a:avLst/>
            </a:prstGeom>
            <a:noFill/>
            <a:ln w="12700">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30" name="Rectangle 18">
              <a:extLst>
                <a:ext uri="{FF2B5EF4-FFF2-40B4-BE49-F238E27FC236}">
                  <a16:creationId xmlns:a16="http://schemas.microsoft.com/office/drawing/2014/main" id="{9A13C0ED-F384-754E-9BDA-1AD314C1ECA3}"/>
                </a:ext>
              </a:extLst>
            </p:cNvPr>
            <p:cNvSpPr>
              <a:spLocks noChangeArrowheads="1"/>
            </p:cNvSpPr>
            <p:nvPr/>
          </p:nvSpPr>
          <p:spPr bwMode="auto">
            <a:xfrm>
              <a:off x="1249" y="2039"/>
              <a:ext cx="31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600" i="1">
                  <a:latin typeface="+mj-ea"/>
                  <a:ea typeface="+mj-ea"/>
                </a:rPr>
                <a:t>T</a:t>
              </a:r>
              <a:r>
                <a:rPr lang="en-US" altLang="zh-CN" sz="2600" baseline="-25000">
                  <a:latin typeface="+mj-ea"/>
                  <a:ea typeface="+mj-ea"/>
                </a:rPr>
                <a:t>1</a:t>
              </a:r>
            </a:p>
          </p:txBody>
        </p:sp>
        <p:sp>
          <p:nvSpPr>
            <p:cNvPr id="269331" name="Rectangle 19">
              <a:extLst>
                <a:ext uri="{FF2B5EF4-FFF2-40B4-BE49-F238E27FC236}">
                  <a16:creationId xmlns:a16="http://schemas.microsoft.com/office/drawing/2014/main" id="{BBEAB04D-6084-3E3A-5995-48F3DF463040}"/>
                </a:ext>
              </a:extLst>
            </p:cNvPr>
            <p:cNvSpPr>
              <a:spLocks noChangeArrowheads="1"/>
            </p:cNvSpPr>
            <p:nvPr/>
          </p:nvSpPr>
          <p:spPr bwMode="auto">
            <a:xfrm>
              <a:off x="1249" y="2615"/>
              <a:ext cx="312"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Tx/>
                <a:buNone/>
              </a:pPr>
              <a:r>
                <a:rPr lang="en-US" altLang="zh-CN" sz="2600" i="1">
                  <a:latin typeface="+mj-ea"/>
                  <a:ea typeface="+mj-ea"/>
                </a:rPr>
                <a:t>T</a:t>
              </a:r>
              <a:r>
                <a:rPr lang="en-US" altLang="zh-CN" sz="2600" baseline="-25000">
                  <a:latin typeface="+mj-ea"/>
                  <a:ea typeface="+mj-ea"/>
                </a:rPr>
                <a:t>2</a:t>
              </a:r>
            </a:p>
          </p:txBody>
        </p:sp>
        <p:sp>
          <p:nvSpPr>
            <p:cNvPr id="269332" name="Line 20">
              <a:extLst>
                <a:ext uri="{FF2B5EF4-FFF2-40B4-BE49-F238E27FC236}">
                  <a16:creationId xmlns:a16="http://schemas.microsoft.com/office/drawing/2014/main" id="{52D5684D-32F6-009E-CF56-FC0AFEB08292}"/>
                </a:ext>
              </a:extLst>
            </p:cNvPr>
            <p:cNvSpPr>
              <a:spLocks noChangeShapeType="1"/>
            </p:cNvSpPr>
            <p:nvPr/>
          </p:nvSpPr>
          <p:spPr bwMode="auto">
            <a:xfrm>
              <a:off x="2555" y="2145"/>
              <a:ext cx="192" cy="0"/>
            </a:xfrm>
            <a:prstGeom prst="line">
              <a:avLst/>
            </a:prstGeom>
            <a:noFill/>
            <a:ln w="50800">
              <a:solidFill>
                <a:schemeClr val="accent2"/>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33" name="Rectangle 21">
              <a:extLst>
                <a:ext uri="{FF2B5EF4-FFF2-40B4-BE49-F238E27FC236}">
                  <a16:creationId xmlns:a16="http://schemas.microsoft.com/office/drawing/2014/main" id="{DAE9EFE4-B394-E45D-F0D5-EEED1AFEEB1E}"/>
                </a:ext>
              </a:extLst>
            </p:cNvPr>
            <p:cNvSpPr>
              <a:spLocks noChangeArrowheads="1"/>
            </p:cNvSpPr>
            <p:nvPr/>
          </p:nvSpPr>
          <p:spPr bwMode="auto">
            <a:xfrm>
              <a:off x="2555" y="1638"/>
              <a:ext cx="105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zh-CN" altLang="en-US" sz="2600">
                  <a:latin typeface="+mj-ea"/>
                  <a:ea typeface="+mj-ea"/>
                </a:rPr>
                <a:t>等温过程</a:t>
              </a:r>
            </a:p>
          </p:txBody>
        </p:sp>
        <p:sp>
          <p:nvSpPr>
            <p:cNvPr id="269334" name="Rectangle 22">
              <a:extLst>
                <a:ext uri="{FF2B5EF4-FFF2-40B4-BE49-F238E27FC236}">
                  <a16:creationId xmlns:a16="http://schemas.microsoft.com/office/drawing/2014/main" id="{9211D8A2-75B0-C97F-EAB1-40042A209BB8}"/>
                </a:ext>
              </a:extLst>
            </p:cNvPr>
            <p:cNvSpPr>
              <a:spLocks noChangeArrowheads="1"/>
            </p:cNvSpPr>
            <p:nvPr/>
          </p:nvSpPr>
          <p:spPr bwMode="auto">
            <a:xfrm>
              <a:off x="251" y="2049"/>
              <a:ext cx="105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zh-CN" altLang="en-US" sz="2600">
                  <a:latin typeface="+mj-ea"/>
                  <a:ea typeface="+mj-ea"/>
                </a:rPr>
                <a:t>绝热过程</a:t>
              </a:r>
            </a:p>
          </p:txBody>
        </p:sp>
        <p:sp>
          <p:nvSpPr>
            <p:cNvPr id="269335" name="Line 23">
              <a:extLst>
                <a:ext uri="{FF2B5EF4-FFF2-40B4-BE49-F238E27FC236}">
                  <a16:creationId xmlns:a16="http://schemas.microsoft.com/office/drawing/2014/main" id="{EE83E026-00CE-78AF-F239-8027AD7E2E26}"/>
                </a:ext>
              </a:extLst>
            </p:cNvPr>
            <p:cNvSpPr>
              <a:spLocks noChangeShapeType="1"/>
            </p:cNvSpPr>
            <p:nvPr/>
          </p:nvSpPr>
          <p:spPr bwMode="auto">
            <a:xfrm flipH="1" flipV="1">
              <a:off x="2651" y="2817"/>
              <a:ext cx="71" cy="462"/>
            </a:xfrm>
            <a:prstGeom prst="line">
              <a:avLst/>
            </a:prstGeom>
            <a:noFill/>
            <a:ln w="12700">
              <a:solidFill>
                <a:srgbClr val="CC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36" name="Line 24">
              <a:extLst>
                <a:ext uri="{FF2B5EF4-FFF2-40B4-BE49-F238E27FC236}">
                  <a16:creationId xmlns:a16="http://schemas.microsoft.com/office/drawing/2014/main" id="{673D837C-2684-6304-70CC-A00AE26D85A0}"/>
                </a:ext>
              </a:extLst>
            </p:cNvPr>
            <p:cNvSpPr>
              <a:spLocks noChangeShapeType="1"/>
            </p:cNvSpPr>
            <p:nvPr/>
          </p:nvSpPr>
          <p:spPr bwMode="auto">
            <a:xfrm flipH="1">
              <a:off x="2795" y="1953"/>
              <a:ext cx="192" cy="192"/>
            </a:xfrm>
            <a:prstGeom prst="line">
              <a:avLst/>
            </a:prstGeom>
            <a:noFill/>
            <a:ln w="12700">
              <a:solidFill>
                <a:srgbClr val="CC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37" name="Line 25">
              <a:extLst>
                <a:ext uri="{FF2B5EF4-FFF2-40B4-BE49-F238E27FC236}">
                  <a16:creationId xmlns:a16="http://schemas.microsoft.com/office/drawing/2014/main" id="{528B3D8F-6D7F-5AEC-8B04-2A9C598B33D0}"/>
                </a:ext>
              </a:extLst>
            </p:cNvPr>
            <p:cNvSpPr>
              <a:spLocks noChangeShapeType="1"/>
            </p:cNvSpPr>
            <p:nvPr/>
          </p:nvSpPr>
          <p:spPr bwMode="auto">
            <a:xfrm>
              <a:off x="1211" y="2241"/>
              <a:ext cx="864" cy="288"/>
            </a:xfrm>
            <a:prstGeom prst="line">
              <a:avLst/>
            </a:prstGeom>
            <a:noFill/>
            <a:ln w="12700">
              <a:solidFill>
                <a:srgbClr val="CC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38" name="Rectangle 26">
              <a:extLst>
                <a:ext uri="{FF2B5EF4-FFF2-40B4-BE49-F238E27FC236}">
                  <a16:creationId xmlns:a16="http://schemas.microsoft.com/office/drawing/2014/main" id="{E3574512-90A4-8082-C77B-51EDE918862F}"/>
                </a:ext>
              </a:extLst>
            </p:cNvPr>
            <p:cNvSpPr>
              <a:spLocks noChangeArrowheads="1"/>
            </p:cNvSpPr>
            <p:nvPr/>
          </p:nvSpPr>
          <p:spPr bwMode="auto">
            <a:xfrm>
              <a:off x="3743" y="2195"/>
              <a:ext cx="19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zh-CN" altLang="en-US" sz="2600">
                  <a:latin typeface="+mj-ea"/>
                  <a:ea typeface="+mj-ea"/>
                </a:rPr>
                <a:t>绝热过程（等熵）</a:t>
              </a:r>
            </a:p>
          </p:txBody>
        </p:sp>
        <p:sp>
          <p:nvSpPr>
            <p:cNvPr id="269339" name="Line 27">
              <a:extLst>
                <a:ext uri="{FF2B5EF4-FFF2-40B4-BE49-F238E27FC236}">
                  <a16:creationId xmlns:a16="http://schemas.microsoft.com/office/drawing/2014/main" id="{2298947D-01F1-48BA-CFEA-70C8BF550846}"/>
                </a:ext>
              </a:extLst>
            </p:cNvPr>
            <p:cNvSpPr>
              <a:spLocks noChangeShapeType="1"/>
            </p:cNvSpPr>
            <p:nvPr/>
          </p:nvSpPr>
          <p:spPr bwMode="auto">
            <a:xfrm flipH="1">
              <a:off x="3227" y="2384"/>
              <a:ext cx="556" cy="145"/>
            </a:xfrm>
            <a:prstGeom prst="line">
              <a:avLst/>
            </a:prstGeom>
            <a:noFill/>
            <a:ln w="12700">
              <a:solidFill>
                <a:srgbClr val="CC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40" name="Rectangle 28">
              <a:extLst>
                <a:ext uri="{FF2B5EF4-FFF2-40B4-BE49-F238E27FC236}">
                  <a16:creationId xmlns:a16="http://schemas.microsoft.com/office/drawing/2014/main" id="{257AA542-2801-42B6-1E19-5F4DBE85FC11}"/>
                </a:ext>
              </a:extLst>
            </p:cNvPr>
            <p:cNvSpPr>
              <a:spLocks noChangeArrowheads="1"/>
            </p:cNvSpPr>
            <p:nvPr/>
          </p:nvSpPr>
          <p:spPr bwMode="auto">
            <a:xfrm>
              <a:off x="2187" y="3214"/>
              <a:ext cx="105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zh-CN" altLang="en-US" sz="2600">
                  <a:latin typeface="+mj-ea"/>
                  <a:ea typeface="+mj-ea"/>
                </a:rPr>
                <a:t>等温过程</a:t>
              </a:r>
            </a:p>
          </p:txBody>
        </p:sp>
        <p:sp>
          <p:nvSpPr>
            <p:cNvPr id="269341" name="Rectangle 29">
              <a:extLst>
                <a:ext uri="{FF2B5EF4-FFF2-40B4-BE49-F238E27FC236}">
                  <a16:creationId xmlns:a16="http://schemas.microsoft.com/office/drawing/2014/main" id="{CB4CDDB9-C412-269F-9A61-F170D7106420}"/>
                </a:ext>
              </a:extLst>
            </p:cNvPr>
            <p:cNvSpPr>
              <a:spLocks noChangeArrowheads="1"/>
            </p:cNvSpPr>
            <p:nvPr/>
          </p:nvSpPr>
          <p:spPr bwMode="auto">
            <a:xfrm>
              <a:off x="1883" y="2769"/>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d</a:t>
              </a:r>
            </a:p>
          </p:txBody>
        </p:sp>
        <p:sp>
          <p:nvSpPr>
            <p:cNvPr id="269342" name="Rectangle 30">
              <a:extLst>
                <a:ext uri="{FF2B5EF4-FFF2-40B4-BE49-F238E27FC236}">
                  <a16:creationId xmlns:a16="http://schemas.microsoft.com/office/drawing/2014/main" id="{396ABCA3-85B0-0B1B-1212-A7D21B95BA86}"/>
                </a:ext>
              </a:extLst>
            </p:cNvPr>
            <p:cNvSpPr>
              <a:spLocks noChangeArrowheads="1"/>
            </p:cNvSpPr>
            <p:nvPr/>
          </p:nvSpPr>
          <p:spPr bwMode="auto">
            <a:xfrm>
              <a:off x="3221" y="2755"/>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c</a:t>
              </a:r>
            </a:p>
          </p:txBody>
        </p:sp>
        <p:sp>
          <p:nvSpPr>
            <p:cNvPr id="269343" name="Rectangle 31">
              <a:extLst>
                <a:ext uri="{FF2B5EF4-FFF2-40B4-BE49-F238E27FC236}">
                  <a16:creationId xmlns:a16="http://schemas.microsoft.com/office/drawing/2014/main" id="{88E3DE3C-3F69-1F3D-2391-A37DE926B5D2}"/>
                </a:ext>
              </a:extLst>
            </p:cNvPr>
            <p:cNvSpPr>
              <a:spLocks noChangeArrowheads="1"/>
            </p:cNvSpPr>
            <p:nvPr/>
          </p:nvSpPr>
          <p:spPr bwMode="auto">
            <a:xfrm>
              <a:off x="3131" y="1857"/>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b</a:t>
              </a:r>
            </a:p>
          </p:txBody>
        </p:sp>
        <p:sp>
          <p:nvSpPr>
            <p:cNvPr id="269344" name="Rectangle 32">
              <a:extLst>
                <a:ext uri="{FF2B5EF4-FFF2-40B4-BE49-F238E27FC236}">
                  <a16:creationId xmlns:a16="http://schemas.microsoft.com/office/drawing/2014/main" id="{E9BFB7CF-80BC-F96E-1719-7C471251AE03}"/>
                </a:ext>
              </a:extLst>
            </p:cNvPr>
            <p:cNvSpPr>
              <a:spLocks noChangeArrowheads="1"/>
            </p:cNvSpPr>
            <p:nvPr/>
          </p:nvSpPr>
          <p:spPr bwMode="auto">
            <a:xfrm>
              <a:off x="1979" y="1857"/>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a</a:t>
              </a:r>
            </a:p>
          </p:txBody>
        </p:sp>
        <p:sp>
          <p:nvSpPr>
            <p:cNvPr id="269345" name="Rectangle 33">
              <a:extLst>
                <a:ext uri="{FF2B5EF4-FFF2-40B4-BE49-F238E27FC236}">
                  <a16:creationId xmlns:a16="http://schemas.microsoft.com/office/drawing/2014/main" id="{341A1696-5299-DFC2-32D2-D5C02D9B0B4B}"/>
                </a:ext>
              </a:extLst>
            </p:cNvPr>
            <p:cNvSpPr>
              <a:spLocks noChangeArrowheads="1"/>
            </p:cNvSpPr>
            <p:nvPr/>
          </p:nvSpPr>
          <p:spPr bwMode="auto">
            <a:xfrm>
              <a:off x="3131" y="3057"/>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n</a:t>
              </a:r>
            </a:p>
          </p:txBody>
        </p:sp>
        <p:sp>
          <p:nvSpPr>
            <p:cNvPr id="269346" name="Rectangle 34">
              <a:extLst>
                <a:ext uri="{FF2B5EF4-FFF2-40B4-BE49-F238E27FC236}">
                  <a16:creationId xmlns:a16="http://schemas.microsoft.com/office/drawing/2014/main" id="{74915554-39FB-F934-2DC6-77CE50983888}"/>
                </a:ext>
              </a:extLst>
            </p:cNvPr>
            <p:cNvSpPr>
              <a:spLocks noChangeArrowheads="1"/>
            </p:cNvSpPr>
            <p:nvPr/>
          </p:nvSpPr>
          <p:spPr bwMode="auto">
            <a:xfrm>
              <a:off x="1931" y="3057"/>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m</a:t>
              </a:r>
            </a:p>
          </p:txBody>
        </p:sp>
        <p:sp>
          <p:nvSpPr>
            <p:cNvPr id="269347" name="Line 35">
              <a:extLst>
                <a:ext uri="{FF2B5EF4-FFF2-40B4-BE49-F238E27FC236}">
                  <a16:creationId xmlns:a16="http://schemas.microsoft.com/office/drawing/2014/main" id="{FA3A9B5C-F82F-4734-CA2E-9F289D85C44A}"/>
                </a:ext>
              </a:extLst>
            </p:cNvPr>
            <p:cNvSpPr>
              <a:spLocks noChangeShapeType="1"/>
            </p:cNvSpPr>
            <p:nvPr/>
          </p:nvSpPr>
          <p:spPr bwMode="auto">
            <a:xfrm flipH="1">
              <a:off x="3764" y="2001"/>
              <a:ext cx="39" cy="55"/>
            </a:xfrm>
            <a:prstGeom prst="line">
              <a:avLst/>
            </a:prstGeom>
            <a:noFill/>
            <a:ln w="28575">
              <a:solidFill>
                <a:srgbClr val="CC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49" name="Rectangle 37">
              <a:extLst>
                <a:ext uri="{FF2B5EF4-FFF2-40B4-BE49-F238E27FC236}">
                  <a16:creationId xmlns:a16="http://schemas.microsoft.com/office/drawing/2014/main" id="{9F4CB4F7-EC6B-79AB-ED15-445D5A8AA55D}"/>
                </a:ext>
              </a:extLst>
            </p:cNvPr>
            <p:cNvSpPr>
              <a:spLocks noChangeArrowheads="1"/>
            </p:cNvSpPr>
            <p:nvPr/>
          </p:nvSpPr>
          <p:spPr bwMode="auto">
            <a:xfrm>
              <a:off x="3611" y="2673"/>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c</a:t>
              </a:r>
            </a:p>
          </p:txBody>
        </p:sp>
        <p:sp>
          <p:nvSpPr>
            <p:cNvPr id="269351" name="Rectangle 39">
              <a:extLst>
                <a:ext uri="{FF2B5EF4-FFF2-40B4-BE49-F238E27FC236}">
                  <a16:creationId xmlns:a16="http://schemas.microsoft.com/office/drawing/2014/main" id="{72A312D0-A570-D99D-9A8B-F1F252A2C24C}"/>
                </a:ext>
              </a:extLst>
            </p:cNvPr>
            <p:cNvSpPr>
              <a:spLocks noChangeArrowheads="1"/>
            </p:cNvSpPr>
            <p:nvPr/>
          </p:nvSpPr>
          <p:spPr bwMode="auto">
            <a:xfrm>
              <a:off x="3467" y="3057"/>
              <a:ext cx="28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Tx/>
                <a:buNone/>
              </a:pPr>
              <a:r>
                <a:rPr lang="en-US" altLang="zh-CN" sz="2600" i="1">
                  <a:latin typeface="+mj-ea"/>
                  <a:ea typeface="+mj-ea"/>
                </a:rPr>
                <a:t>n</a:t>
              </a:r>
            </a:p>
          </p:txBody>
        </p:sp>
        <p:sp>
          <p:nvSpPr>
            <p:cNvPr id="269358" name="Line 46">
              <a:extLst>
                <a:ext uri="{FF2B5EF4-FFF2-40B4-BE49-F238E27FC236}">
                  <a16:creationId xmlns:a16="http://schemas.microsoft.com/office/drawing/2014/main" id="{B8BC4741-4CCB-275F-7AD7-214DF8A60EFE}"/>
                </a:ext>
              </a:extLst>
            </p:cNvPr>
            <p:cNvSpPr>
              <a:spLocks noChangeShapeType="1"/>
            </p:cNvSpPr>
            <p:nvPr/>
          </p:nvSpPr>
          <p:spPr bwMode="auto">
            <a:xfrm flipH="1">
              <a:off x="2571" y="2780"/>
              <a:ext cx="192" cy="0"/>
            </a:xfrm>
            <a:prstGeom prst="line">
              <a:avLst/>
            </a:prstGeom>
            <a:noFill/>
            <a:ln w="50800">
              <a:solidFill>
                <a:schemeClr val="accent2"/>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61" name="Line 49">
              <a:extLst>
                <a:ext uri="{FF2B5EF4-FFF2-40B4-BE49-F238E27FC236}">
                  <a16:creationId xmlns:a16="http://schemas.microsoft.com/office/drawing/2014/main" id="{1616D415-7C47-900E-96A4-8A7BE8951978}"/>
                </a:ext>
              </a:extLst>
            </p:cNvPr>
            <p:cNvSpPr>
              <a:spLocks noChangeShapeType="1"/>
            </p:cNvSpPr>
            <p:nvPr/>
          </p:nvSpPr>
          <p:spPr bwMode="auto">
            <a:xfrm flipH="1">
              <a:off x="3785" y="2803"/>
              <a:ext cx="39" cy="55"/>
            </a:xfrm>
            <a:prstGeom prst="line">
              <a:avLst/>
            </a:prstGeom>
            <a:noFill/>
            <a:ln w="28575">
              <a:solidFill>
                <a:srgbClr val="CC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sp>
          <p:nvSpPr>
            <p:cNvPr id="269362" name="Line 50">
              <a:extLst>
                <a:ext uri="{FF2B5EF4-FFF2-40B4-BE49-F238E27FC236}">
                  <a16:creationId xmlns:a16="http://schemas.microsoft.com/office/drawing/2014/main" id="{11463C4A-5FDA-EC92-2E7E-23CF462C6D9C}"/>
                </a:ext>
              </a:extLst>
            </p:cNvPr>
            <p:cNvSpPr>
              <a:spLocks noChangeShapeType="1"/>
            </p:cNvSpPr>
            <p:nvPr/>
          </p:nvSpPr>
          <p:spPr bwMode="auto">
            <a:xfrm flipH="1">
              <a:off x="3649" y="3189"/>
              <a:ext cx="39" cy="55"/>
            </a:xfrm>
            <a:prstGeom prst="line">
              <a:avLst/>
            </a:prstGeom>
            <a:noFill/>
            <a:ln w="28575">
              <a:solidFill>
                <a:srgbClr val="CC33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600">
                <a:latin typeface="+mj-ea"/>
                <a:ea typeface="+mj-ea"/>
              </a:endParaRPr>
            </a:p>
          </p:txBody>
        </p:sp>
      </p:grpSp>
      <p:sp>
        <p:nvSpPr>
          <p:cNvPr id="3" name="Text Box 13">
            <a:hlinkClick r:id="" action="ppaction://noaction"/>
            <a:extLst>
              <a:ext uri="{FF2B5EF4-FFF2-40B4-BE49-F238E27FC236}">
                <a16:creationId xmlns:a16="http://schemas.microsoft.com/office/drawing/2014/main" id="{95360869-2DD0-804D-F381-A877BACBE482}"/>
              </a:ext>
            </a:extLst>
          </p:cNvPr>
          <p:cNvSpPr txBox="1">
            <a:spLocks noChangeArrowheads="1"/>
          </p:cNvSpPr>
          <p:nvPr/>
        </p:nvSpPr>
        <p:spPr bwMode="auto">
          <a:xfrm>
            <a:off x="574057" y="405824"/>
            <a:ext cx="86932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温熵图</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4" name="Text Box 40">
            <a:extLst>
              <a:ext uri="{FF2B5EF4-FFF2-40B4-BE49-F238E27FC236}">
                <a16:creationId xmlns:a16="http://schemas.microsoft.com/office/drawing/2014/main" id="{26057359-121C-BC1D-7E0E-17799C3F3CBF}"/>
              </a:ext>
            </a:extLst>
          </p:cNvPr>
          <p:cNvSpPr txBox="1">
            <a:spLocks noChangeArrowheads="1"/>
          </p:cNvSpPr>
          <p:nvPr/>
        </p:nvSpPr>
        <p:spPr bwMode="auto">
          <a:xfrm>
            <a:off x="1761413" y="5792213"/>
            <a:ext cx="73009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仿宋_GB2312" pitchFamily="49" charset="-122"/>
                <a:ea typeface="宋体" panose="02010600030101010101" pitchFamily="2" charset="-122"/>
              </a:defRPr>
            </a:lvl1pPr>
            <a:lvl2pPr marL="571500"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spcBef>
                <a:spcPct val="50000"/>
              </a:spcBef>
              <a:buFont typeface="Monotype Sorts" pitchFamily="2" charset="2"/>
              <a:buNone/>
            </a:pPr>
            <a:r>
              <a:rPr lang="zh-CN" altLang="en-US" sz="2800">
                <a:latin typeface="+mn-lt"/>
                <a:ea typeface="+mn-ea"/>
              </a:rPr>
              <a:t>若循环过程有损耗</a:t>
            </a:r>
            <a:r>
              <a:rPr lang="zh-CN" altLang="en-US" sz="2800">
                <a:latin typeface="+mn-lt"/>
                <a:ea typeface="+mn-ea"/>
                <a:sym typeface="Symbol" panose="05050102010706020507" pitchFamily="18" charset="2"/>
              </a:rPr>
              <a:t>做功减少，则有</a:t>
            </a:r>
          </a:p>
        </p:txBody>
      </p:sp>
      <p:graphicFrame>
        <p:nvGraphicFramePr>
          <p:cNvPr id="5" name="Object 41">
            <a:extLst>
              <a:ext uri="{FF2B5EF4-FFF2-40B4-BE49-F238E27FC236}">
                <a16:creationId xmlns:a16="http://schemas.microsoft.com/office/drawing/2014/main" id="{084CA06C-9738-0F4F-C9EA-12B87D0A886B}"/>
              </a:ext>
            </a:extLst>
          </p:cNvPr>
          <p:cNvGraphicFramePr>
            <a:graphicFrameLocks noChangeAspect="1"/>
          </p:cNvGraphicFramePr>
          <p:nvPr>
            <p:extLst/>
          </p:nvPr>
        </p:nvGraphicFramePr>
        <p:xfrm>
          <a:off x="6553681" y="4616786"/>
          <a:ext cx="2314094" cy="933487"/>
        </p:xfrm>
        <a:graphic>
          <a:graphicData uri="http://schemas.openxmlformats.org/presentationml/2006/ole">
            <mc:AlternateContent xmlns:mc="http://schemas.openxmlformats.org/markup-compatibility/2006">
              <mc:Choice xmlns:v="urn:schemas-microsoft-com:vml" Requires="v">
                <p:oleObj spid="_x0000_s13338" name="公式" r:id="rId3" imgW="1473120" imgH="609480" progId="Equation.3">
                  <p:embed/>
                </p:oleObj>
              </mc:Choice>
              <mc:Fallback>
                <p:oleObj name="公式" r:id="rId3" imgW="1473120" imgH="609480" progId="Equation.3">
                  <p:embed/>
                  <p:pic>
                    <p:nvPicPr>
                      <p:cNvPr id="5" name="Object 41">
                        <a:extLst>
                          <a:ext uri="{FF2B5EF4-FFF2-40B4-BE49-F238E27FC236}">
                            <a16:creationId xmlns:a16="http://schemas.microsoft.com/office/drawing/2014/main" id="{084CA06C-9738-0F4F-C9EA-12B87D0A8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681" y="4616786"/>
                        <a:ext cx="2314094" cy="933487"/>
                      </a:xfrm>
                      <a:prstGeom prst="rect">
                        <a:avLst/>
                      </a:prstGeom>
                      <a:noFill/>
                      <a:ln>
                        <a:noFill/>
                      </a:ln>
                      <a:effectLst/>
                    </p:spPr>
                  </p:pic>
                </p:oleObj>
              </mc:Fallback>
            </mc:AlternateContent>
          </a:graphicData>
        </a:graphic>
      </p:graphicFrame>
      <p:sp>
        <p:nvSpPr>
          <p:cNvPr id="6" name="Rectangle 82">
            <a:extLst>
              <a:ext uri="{FF2B5EF4-FFF2-40B4-BE49-F238E27FC236}">
                <a16:creationId xmlns:a16="http://schemas.microsoft.com/office/drawing/2014/main" id="{E566717D-354A-703C-1D3A-AC908584BFC9}"/>
              </a:ext>
            </a:extLst>
          </p:cNvPr>
          <p:cNvSpPr>
            <a:spLocks noChangeArrowheads="1"/>
          </p:cNvSpPr>
          <p:nvPr/>
        </p:nvSpPr>
        <p:spPr bwMode="auto">
          <a:xfrm>
            <a:off x="1664575" y="3879274"/>
            <a:ext cx="8483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仿宋_GB2312" pitchFamily="49" charset="-122"/>
                <a:ea typeface="宋体" panose="02010600030101010101" pitchFamily="2" charset="-122"/>
              </a:defRPr>
            </a:lvl1pPr>
            <a:lvl2pPr marL="571500">
              <a:defRPr kumimoji="1" sz="2400">
                <a:solidFill>
                  <a:schemeClr val="tx1"/>
                </a:solidFill>
                <a:latin typeface="仿宋_GB2312" pitchFamily="49" charset="-122"/>
                <a:ea typeface="宋体" panose="02010600030101010101" pitchFamily="2" charset="-122"/>
              </a:defRPr>
            </a:lvl2pPr>
            <a:lvl3pPr marL="1143000">
              <a:defRPr kumimoji="1" sz="2400">
                <a:solidFill>
                  <a:schemeClr val="tx1"/>
                </a:solidFill>
                <a:latin typeface="仿宋_GB2312" pitchFamily="49" charset="-122"/>
                <a:ea typeface="宋体" panose="02010600030101010101" pitchFamily="2" charset="-122"/>
              </a:defRPr>
            </a:lvl3pPr>
            <a:lvl4pPr marL="1714500">
              <a:defRPr kumimoji="1" sz="2400">
                <a:solidFill>
                  <a:schemeClr val="tx1"/>
                </a:solidFill>
                <a:latin typeface="仿宋_GB2312" pitchFamily="49" charset="-122"/>
                <a:ea typeface="宋体" panose="02010600030101010101" pitchFamily="2" charset="-122"/>
              </a:defRPr>
            </a:lvl4pPr>
            <a:lvl5pPr marL="2286000">
              <a:defRPr kumimoji="1" sz="2400">
                <a:solidFill>
                  <a:schemeClr val="tx1"/>
                </a:solidFill>
                <a:latin typeface="仿宋_GB2312" pitchFamily="49" charset="-122"/>
                <a:ea typeface="宋体" panose="02010600030101010101" pitchFamily="2" charset="-122"/>
              </a:defRPr>
            </a:lvl5pPr>
            <a:lvl6pPr marL="27432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buFont typeface="Monotype Sorts" pitchFamily="2" charset="2"/>
              <a:buNone/>
            </a:pPr>
            <a:r>
              <a:rPr lang="zh-CN" altLang="en-US" sz="2800" dirty="0">
                <a:latin typeface="+mn-lt"/>
                <a:ea typeface="+mn-ea"/>
              </a:rPr>
              <a:t>对任意工质，只要高、低温热源温度相同，则</a:t>
            </a:r>
          </a:p>
        </p:txBody>
      </p:sp>
      <p:graphicFrame>
        <p:nvGraphicFramePr>
          <p:cNvPr id="7" name="Object 83">
            <a:extLst>
              <a:ext uri="{FF2B5EF4-FFF2-40B4-BE49-F238E27FC236}">
                <a16:creationId xmlns:a16="http://schemas.microsoft.com/office/drawing/2014/main" id="{39371B5B-1FAB-AE8F-E5D5-5B8B549F2A52}"/>
              </a:ext>
            </a:extLst>
          </p:cNvPr>
          <p:cNvGraphicFramePr>
            <a:graphicFrameLocks noChangeAspect="1"/>
          </p:cNvGraphicFramePr>
          <p:nvPr>
            <p:extLst/>
          </p:nvPr>
        </p:nvGraphicFramePr>
        <p:xfrm>
          <a:off x="1985962" y="4651374"/>
          <a:ext cx="4479615" cy="881627"/>
        </p:xfrm>
        <a:graphic>
          <a:graphicData uri="http://schemas.openxmlformats.org/presentationml/2006/ole">
            <mc:AlternateContent xmlns:mc="http://schemas.openxmlformats.org/markup-compatibility/2006">
              <mc:Choice xmlns:v="urn:schemas-microsoft-com:vml" Requires="v">
                <p:oleObj spid="_x0000_s13339" name="公式" r:id="rId5" imgW="3098520" imgH="609480" progId="Equation.3">
                  <p:embed/>
                </p:oleObj>
              </mc:Choice>
              <mc:Fallback>
                <p:oleObj name="公式" r:id="rId5" imgW="3098520" imgH="609480" progId="Equation.3">
                  <p:embed/>
                  <p:pic>
                    <p:nvPicPr>
                      <p:cNvPr id="7" name="Object 83">
                        <a:extLst>
                          <a:ext uri="{FF2B5EF4-FFF2-40B4-BE49-F238E27FC236}">
                            <a16:creationId xmlns:a16="http://schemas.microsoft.com/office/drawing/2014/main" id="{39371B5B-1FAB-AE8F-E5D5-5B8B549F2A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5962" y="4651374"/>
                        <a:ext cx="4479615" cy="881627"/>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8" name="Object 86">
                <a:extLst>
                  <a:ext uri="{FF2B5EF4-FFF2-40B4-BE49-F238E27FC236}">
                    <a16:creationId xmlns:a16="http://schemas.microsoft.com/office/drawing/2014/main" id="{E4BD616B-1141-74BA-D146-C070E181BB1A}"/>
                  </a:ext>
                </a:extLst>
              </p:cNvPr>
              <p:cNvSpPr txBox="1"/>
              <p:nvPr/>
            </p:nvSpPr>
            <p:spPr bwMode="auto">
              <a:xfrm>
                <a:off x="7612527" y="5792213"/>
                <a:ext cx="1066800" cy="681037"/>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𝜂</m:t>
                      </m:r>
                      <m:r>
                        <a:rPr lang="zh-CN" altLang="en-US" sz="2800" i="1">
                          <a:solidFill>
                            <a:srgbClr val="000000"/>
                          </a:solidFill>
                          <a:latin typeface="Cambria Math" panose="02040503050406030204" pitchFamily="18" charset="0"/>
                        </a:rPr>
                        <m:t>&lt;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𝜂</m:t>
                          </m:r>
                        </m:e>
                        <m:sub>
                          <m:r>
                            <a:rPr lang="zh-CN" altLang="en-US" sz="2800" i="1">
                              <a:solidFill>
                                <a:srgbClr val="000000"/>
                              </a:solidFill>
                              <a:latin typeface="Cambria Math" panose="02040503050406030204" pitchFamily="18" charset="0"/>
                            </a:rPr>
                            <m:t>𝑐</m:t>
                          </m:r>
                        </m:sub>
                      </m:sSub>
                    </m:oMath>
                  </m:oMathPara>
                </a14:m>
                <a:endParaRPr lang="zh-CN" altLang="en-US" sz="2800" dirty="0"/>
              </a:p>
            </p:txBody>
          </p:sp>
        </mc:Choice>
        <mc:Fallback xmlns="">
          <p:sp>
            <p:nvSpPr>
              <p:cNvPr id="8" name="Object 86">
                <a:extLst>
                  <a:ext uri="{FF2B5EF4-FFF2-40B4-BE49-F238E27FC236}">
                    <a16:creationId xmlns:a16="http://schemas.microsoft.com/office/drawing/2014/main" id="{E4BD616B-1141-74BA-D146-C070E181BB1A}"/>
                  </a:ext>
                </a:extLst>
              </p:cNvPr>
              <p:cNvSpPr txBox="1">
                <a:spLocks noRot="1" noChangeAspect="1" noMove="1" noResize="1" noEditPoints="1" noAdjustHandles="1" noChangeArrowheads="1" noChangeShapeType="1" noTextEdit="1"/>
              </p:cNvSpPr>
              <p:nvPr/>
            </p:nvSpPr>
            <p:spPr bwMode="auto">
              <a:xfrm>
                <a:off x="7612527" y="5792213"/>
                <a:ext cx="1066800" cy="681037"/>
              </a:xfrm>
              <a:prstGeom prst="rect">
                <a:avLst/>
              </a:prstGeom>
              <a:blipFill>
                <a:blip r:embed="rId7"/>
                <a:stretch>
                  <a:fillRect l="-1714"/>
                </a:stretch>
              </a:blipFill>
              <a:ln>
                <a:noFill/>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4" grpId="1"/>
      <p:bldP spid="6"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35">
            <a:extLst>
              <a:ext uri="{FF2B5EF4-FFF2-40B4-BE49-F238E27FC236}">
                <a16:creationId xmlns:a16="http://schemas.microsoft.com/office/drawing/2014/main" id="{23F2D468-4C23-4650-A888-BD6D71EC1A7D}"/>
              </a:ext>
            </a:extLst>
          </p:cNvPr>
          <p:cNvGrpSpPr>
            <a:grpSpLocks/>
          </p:cNvGrpSpPr>
          <p:nvPr/>
        </p:nvGrpSpPr>
        <p:grpSpPr bwMode="auto">
          <a:xfrm>
            <a:off x="2381251" y="1357313"/>
            <a:ext cx="1285875" cy="2019300"/>
            <a:chOff x="857224" y="1357298"/>
            <a:chExt cx="1285884" cy="2019185"/>
          </a:xfrm>
        </p:grpSpPr>
        <p:grpSp>
          <p:nvGrpSpPr>
            <p:cNvPr id="25631" name="Group 14">
              <a:extLst>
                <a:ext uri="{FF2B5EF4-FFF2-40B4-BE49-F238E27FC236}">
                  <a16:creationId xmlns:a16="http://schemas.microsoft.com/office/drawing/2014/main" id="{55EBA202-C1CA-4964-9E7C-7C4747B5D294}"/>
                </a:ext>
              </a:extLst>
            </p:cNvPr>
            <p:cNvGrpSpPr>
              <a:grpSpLocks noChangeAspect="1"/>
            </p:cNvGrpSpPr>
            <p:nvPr/>
          </p:nvGrpSpPr>
          <p:grpSpPr bwMode="auto">
            <a:xfrm>
              <a:off x="857224" y="1357298"/>
              <a:ext cx="975360" cy="1951038"/>
              <a:chOff x="2832" y="1977"/>
              <a:chExt cx="768" cy="1536"/>
            </a:xfrm>
          </p:grpSpPr>
          <p:sp>
            <p:nvSpPr>
              <p:cNvPr id="25632" name="Rectangle 15" descr="永恒">
                <a:extLst>
                  <a:ext uri="{FF2B5EF4-FFF2-40B4-BE49-F238E27FC236}">
                    <a16:creationId xmlns:a16="http://schemas.microsoft.com/office/drawing/2014/main" id="{2AA11093-76DD-4CB6-AA7D-3A9787BFF279}"/>
                  </a:ext>
                </a:extLst>
              </p:cNvPr>
              <p:cNvSpPr>
                <a:spLocks noChangeAspect="1" noChangeArrowheads="1"/>
              </p:cNvSpPr>
              <p:nvPr/>
            </p:nvSpPr>
            <p:spPr bwMode="auto">
              <a:xfrm>
                <a:off x="2832" y="1977"/>
                <a:ext cx="672" cy="432"/>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i="1">
                  <a:latin typeface="+mn-lt"/>
                  <a:ea typeface="+mn-ea"/>
                </a:endParaRPr>
              </a:p>
            </p:txBody>
          </p:sp>
          <p:sp>
            <p:nvSpPr>
              <p:cNvPr id="25633" name="Rectangle 18">
                <a:extLst>
                  <a:ext uri="{FF2B5EF4-FFF2-40B4-BE49-F238E27FC236}">
                    <a16:creationId xmlns:a16="http://schemas.microsoft.com/office/drawing/2014/main" id="{BD6C350F-BA83-4038-8366-0E9ABA571005}"/>
                  </a:ext>
                </a:extLst>
              </p:cNvPr>
              <p:cNvSpPr>
                <a:spLocks noChangeAspect="1" noChangeArrowheads="1"/>
              </p:cNvSpPr>
              <p:nvPr/>
            </p:nvSpPr>
            <p:spPr bwMode="auto">
              <a:xfrm>
                <a:off x="2832" y="3225"/>
                <a:ext cx="672" cy="288"/>
              </a:xfrm>
              <a:prstGeom prst="rect">
                <a:avLst/>
              </a:prstGeom>
              <a:solidFill>
                <a:srgbClr val="FFFFCC"/>
              </a:solid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a:latin typeface="+mn-lt"/>
                  <a:ea typeface="+mn-ea"/>
                </a:endParaRPr>
              </a:p>
            </p:txBody>
          </p:sp>
          <p:sp>
            <p:nvSpPr>
              <p:cNvPr id="25634" name="Oval 20" descr="白色大理石">
                <a:extLst>
                  <a:ext uri="{FF2B5EF4-FFF2-40B4-BE49-F238E27FC236}">
                    <a16:creationId xmlns:a16="http://schemas.microsoft.com/office/drawing/2014/main" id="{71B2B932-BF44-477C-A551-E2BC2C490B8E}"/>
                  </a:ext>
                </a:extLst>
              </p:cNvPr>
              <p:cNvSpPr>
                <a:spLocks noChangeAspect="1" noChangeArrowheads="1"/>
              </p:cNvSpPr>
              <p:nvPr/>
            </p:nvSpPr>
            <p:spPr bwMode="auto">
              <a:xfrm>
                <a:off x="2928" y="2649"/>
                <a:ext cx="432" cy="384"/>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0">
                    <a:latin typeface="+mn-lt"/>
                    <a:ea typeface="+mn-ea"/>
                  </a:rPr>
                  <a:t>R</a:t>
                </a:r>
              </a:p>
            </p:txBody>
          </p:sp>
          <p:sp>
            <p:nvSpPr>
              <p:cNvPr id="25635" name="AutoShape 21" descr="粉色砂纸">
                <a:extLst>
                  <a:ext uri="{FF2B5EF4-FFF2-40B4-BE49-F238E27FC236}">
                    <a16:creationId xmlns:a16="http://schemas.microsoft.com/office/drawing/2014/main" id="{41B147AD-F655-49B1-9FFE-530D45D831E5}"/>
                  </a:ext>
                </a:extLst>
              </p:cNvPr>
              <p:cNvSpPr>
                <a:spLocks noChangeAspect="1" noChangeArrowheads="1"/>
              </p:cNvSpPr>
              <p:nvPr/>
            </p:nvSpPr>
            <p:spPr bwMode="auto">
              <a:xfrm>
                <a:off x="3072" y="2409"/>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36" name="AutoShape 22" descr="粉色砂纸">
                <a:extLst>
                  <a:ext uri="{FF2B5EF4-FFF2-40B4-BE49-F238E27FC236}">
                    <a16:creationId xmlns:a16="http://schemas.microsoft.com/office/drawing/2014/main" id="{8232280E-2134-4C78-A0CF-1A65650F4C5A}"/>
                  </a:ext>
                </a:extLst>
              </p:cNvPr>
              <p:cNvSpPr>
                <a:spLocks noChangeAspect="1" noChangeArrowheads="1"/>
              </p:cNvSpPr>
              <p:nvPr/>
            </p:nvSpPr>
            <p:spPr bwMode="auto">
              <a:xfrm>
                <a:off x="3072" y="3033"/>
                <a:ext cx="192" cy="192"/>
              </a:xfrm>
              <a:prstGeom prst="downArrow">
                <a:avLst>
                  <a:gd name="adj1" fmla="val 50000"/>
                  <a:gd name="adj2" fmla="val 2500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37" name="AutoShape 23" descr="粉色砂纸">
                <a:extLst>
                  <a:ext uri="{FF2B5EF4-FFF2-40B4-BE49-F238E27FC236}">
                    <a16:creationId xmlns:a16="http://schemas.microsoft.com/office/drawing/2014/main" id="{70D459C4-DF27-4D5B-B8A1-CFD32A3ABBF3}"/>
                  </a:ext>
                </a:extLst>
              </p:cNvPr>
              <p:cNvSpPr>
                <a:spLocks noChangeAspect="1" noChangeArrowheads="1"/>
              </p:cNvSpPr>
              <p:nvPr/>
            </p:nvSpPr>
            <p:spPr bwMode="auto">
              <a:xfrm rot="5449700" flipV="1">
                <a:off x="3384" y="2721"/>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grpSp>
        <mc:AlternateContent xmlns:mc="http://schemas.openxmlformats.org/markup-compatibility/2006" xmlns:a14="http://schemas.microsoft.com/office/drawing/2010/main">
          <mc:Choice Requires="a14">
            <p:sp>
              <p:nvSpPr>
                <p:cNvPr id="2" name="Object 2">
                  <a:extLst>
                    <a:ext uri="{FF2B5EF4-FFF2-40B4-BE49-F238E27FC236}">
                      <a16:creationId xmlns:a16="http://schemas.microsoft.com/office/drawing/2014/main" id="{835C0D3A-2B22-4C24-BCCA-9E602C55A6F0}"/>
                    </a:ext>
                  </a:extLst>
                </p:cNvPr>
                <p:cNvSpPr txBox="1"/>
                <p:nvPr/>
              </p:nvSpPr>
              <p:spPr bwMode="auto">
                <a:xfrm>
                  <a:off x="1142976" y="2904996"/>
                  <a:ext cx="341312" cy="471487"/>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oMath>
                    </m:oMathPara>
                  </a14:m>
                  <a:endParaRPr lang="zh-CN" altLang="en-US" sz="2800"/>
                </a:p>
              </p:txBody>
            </p:sp>
          </mc:Choice>
          <mc:Fallback xmlns="">
            <p:sp>
              <p:nvSpPr>
                <p:cNvPr id="2" name="Object 2">
                  <a:extLst>
                    <a:ext uri="{FF2B5EF4-FFF2-40B4-BE49-F238E27FC236}">
                      <a16:creationId xmlns:a16="http://schemas.microsoft.com/office/drawing/2014/main" id="{835C0D3A-2B22-4C24-BCCA-9E602C55A6F0}"/>
                    </a:ext>
                  </a:extLst>
                </p:cNvPr>
                <p:cNvSpPr txBox="1">
                  <a:spLocks noRot="1" noChangeAspect="1" noMove="1" noResize="1" noEditPoints="1" noAdjustHandles="1" noChangeArrowheads="1" noChangeShapeType="1" noTextEdit="1"/>
                </p:cNvSpPr>
                <p:nvPr/>
              </p:nvSpPr>
              <p:spPr bwMode="auto">
                <a:xfrm>
                  <a:off x="1142976" y="2904996"/>
                  <a:ext cx="341312" cy="471487"/>
                </a:xfrm>
                <a:prstGeom prst="rect">
                  <a:avLst/>
                </a:prstGeom>
                <a:blipFill>
                  <a:blip r:embed="rId5"/>
                  <a:stretch>
                    <a:fillRect l="-1818" r="-2181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6BDC223E-D994-4819-9C04-F2B7E0CE1C90}"/>
                    </a:ext>
                  </a:extLst>
                </p:cNvPr>
                <p:cNvSpPr txBox="1"/>
                <p:nvPr/>
              </p:nvSpPr>
              <p:spPr bwMode="auto">
                <a:xfrm>
                  <a:off x="1119188" y="1385888"/>
                  <a:ext cx="314325" cy="471487"/>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oMath>
                    </m:oMathPara>
                  </a14:m>
                  <a:endParaRPr lang="zh-CN" altLang="en-US" sz="2800"/>
                </a:p>
              </p:txBody>
            </p:sp>
          </mc:Choice>
          <mc:Fallback xmlns="">
            <p:sp>
              <p:nvSpPr>
                <p:cNvPr id="4" name="Object 3">
                  <a:extLst>
                    <a:ext uri="{FF2B5EF4-FFF2-40B4-BE49-F238E27FC236}">
                      <a16:creationId xmlns:a16="http://schemas.microsoft.com/office/drawing/2014/main" id="{6BDC223E-D994-4819-9C04-F2B7E0CE1C90}"/>
                    </a:ext>
                  </a:extLst>
                </p:cNvPr>
                <p:cNvSpPr txBox="1">
                  <a:spLocks noRot="1" noChangeAspect="1" noMove="1" noResize="1" noEditPoints="1" noAdjustHandles="1" noChangeArrowheads="1" noChangeShapeType="1" noTextEdit="1"/>
                </p:cNvSpPr>
                <p:nvPr/>
              </p:nvSpPr>
              <p:spPr bwMode="auto">
                <a:xfrm>
                  <a:off x="1119188" y="1385888"/>
                  <a:ext cx="314325" cy="471487"/>
                </a:xfrm>
                <a:prstGeom prst="rect">
                  <a:avLst/>
                </a:prstGeom>
                <a:blipFill>
                  <a:blip r:embed="rId6"/>
                  <a:stretch>
                    <a:fillRect r="-235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15">
                  <a:extLst>
                    <a:ext uri="{FF2B5EF4-FFF2-40B4-BE49-F238E27FC236}">
                      <a16:creationId xmlns:a16="http://schemas.microsoft.com/office/drawing/2014/main" id="{3922025D-606D-4DF9-ADB0-6F3099EA4053}"/>
                    </a:ext>
                  </a:extLst>
                </p:cNvPr>
                <p:cNvSpPr txBox="1"/>
                <p:nvPr/>
              </p:nvSpPr>
              <p:spPr bwMode="auto">
                <a:xfrm>
                  <a:off x="1827196" y="2238304"/>
                  <a:ext cx="315912" cy="339725"/>
                </a:xfrm>
                <a:prstGeom prst="rect">
                  <a:avLst/>
                </a:prstGeom>
                <a:noFill/>
                <a:ln>
                  <a:noFill/>
                </a:ln>
                <a:effectLst/>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𝐴</m:t>
                        </m:r>
                      </m:oMath>
                    </m:oMathPara>
                  </a14:m>
                  <a:endParaRPr lang="zh-CN" altLang="en-US" sz="2800"/>
                </a:p>
              </p:txBody>
            </p:sp>
          </mc:Choice>
          <mc:Fallback xmlns="">
            <p:sp>
              <p:nvSpPr>
                <p:cNvPr id="5" name="Object 15">
                  <a:extLst>
                    <a:ext uri="{FF2B5EF4-FFF2-40B4-BE49-F238E27FC236}">
                      <a16:creationId xmlns:a16="http://schemas.microsoft.com/office/drawing/2014/main" id="{3922025D-606D-4DF9-ADB0-6F3099EA4053}"/>
                    </a:ext>
                  </a:extLst>
                </p:cNvPr>
                <p:cNvSpPr txBox="1">
                  <a:spLocks noRot="1" noChangeAspect="1" noMove="1" noResize="1" noEditPoints="1" noAdjustHandles="1" noChangeArrowheads="1" noChangeShapeType="1" noTextEdit="1"/>
                </p:cNvSpPr>
                <p:nvPr/>
              </p:nvSpPr>
              <p:spPr bwMode="auto">
                <a:xfrm>
                  <a:off x="1827196" y="2238304"/>
                  <a:ext cx="315912" cy="339725"/>
                </a:xfrm>
                <a:prstGeom prst="rect">
                  <a:avLst/>
                </a:prstGeom>
                <a:blipFill>
                  <a:blip r:embed="rId7"/>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F6EEB79B-D3CA-4263-A0A5-C3517CF99A34}"/>
                    </a:ext>
                  </a:extLst>
                </p:cNvPr>
                <p:cNvSpPr txBox="1"/>
                <p:nvPr/>
              </p:nvSpPr>
              <p:spPr bwMode="auto">
                <a:xfrm>
                  <a:off x="1443038" y="1882775"/>
                  <a:ext cx="314325" cy="417513"/>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𝑄</m:t>
                        </m:r>
                      </m:oMath>
                    </m:oMathPara>
                  </a14:m>
                  <a:endParaRPr lang="zh-CN" altLang="en-US" sz="2800"/>
                </a:p>
              </p:txBody>
            </p:sp>
          </mc:Choice>
          <mc:Fallback xmlns="">
            <p:sp>
              <p:nvSpPr>
                <p:cNvPr id="6" name="Object 5">
                  <a:extLst>
                    <a:ext uri="{FF2B5EF4-FFF2-40B4-BE49-F238E27FC236}">
                      <a16:creationId xmlns:a16="http://schemas.microsoft.com/office/drawing/2014/main" id="{F6EEB79B-D3CA-4263-A0A5-C3517CF99A34}"/>
                    </a:ext>
                  </a:extLst>
                </p:cNvPr>
                <p:cNvSpPr txBox="1">
                  <a:spLocks noRot="1" noChangeAspect="1" noMove="1" noResize="1" noEditPoints="1" noAdjustHandles="1" noChangeArrowheads="1" noChangeShapeType="1" noTextEdit="1"/>
                </p:cNvSpPr>
                <p:nvPr/>
              </p:nvSpPr>
              <p:spPr bwMode="auto">
                <a:xfrm>
                  <a:off x="1443038" y="1882775"/>
                  <a:ext cx="314325" cy="417513"/>
                </a:xfrm>
                <a:prstGeom prst="rect">
                  <a:avLst/>
                </a:prstGeom>
                <a:blipFill>
                  <a:blip r:embed="rId8"/>
                  <a:stretch>
                    <a:fillRect l="-5882" r="-19608" b="-5882"/>
                  </a:stretch>
                </a:blipFill>
                <a:ln>
                  <a:noFill/>
                </a:ln>
                <a:effectLst/>
              </p:spPr>
              <p:txBody>
                <a:bodyPr/>
                <a:lstStyle/>
                <a:p>
                  <a:r>
                    <a:rPr lang="zh-CN" altLang="en-US">
                      <a:noFill/>
                    </a:rPr>
                    <a:t> </a:t>
                  </a:r>
                </a:p>
              </p:txBody>
            </p:sp>
          </mc:Fallback>
        </mc:AlternateContent>
      </p:grpSp>
      <p:grpSp>
        <p:nvGrpSpPr>
          <p:cNvPr id="13" name="组合 36">
            <a:extLst>
              <a:ext uri="{FF2B5EF4-FFF2-40B4-BE49-F238E27FC236}">
                <a16:creationId xmlns:a16="http://schemas.microsoft.com/office/drawing/2014/main" id="{3E8BE41A-ACBE-4CD8-AE02-6F13DF6F7A44}"/>
              </a:ext>
            </a:extLst>
          </p:cNvPr>
          <p:cNvGrpSpPr>
            <a:grpSpLocks/>
          </p:cNvGrpSpPr>
          <p:nvPr/>
        </p:nvGrpSpPr>
        <p:grpSpPr bwMode="auto">
          <a:xfrm>
            <a:off x="3309938" y="1143001"/>
            <a:ext cx="2286000" cy="2233613"/>
            <a:chOff x="1785918" y="1142984"/>
            <a:chExt cx="2286016" cy="2233499"/>
          </a:xfrm>
        </p:grpSpPr>
        <p:grpSp>
          <p:nvGrpSpPr>
            <p:cNvPr id="25623" name="Group 14">
              <a:extLst>
                <a:ext uri="{FF2B5EF4-FFF2-40B4-BE49-F238E27FC236}">
                  <a16:creationId xmlns:a16="http://schemas.microsoft.com/office/drawing/2014/main" id="{2DAD7EFB-9A5D-440C-8162-1140D709AC54}"/>
                </a:ext>
              </a:extLst>
            </p:cNvPr>
            <p:cNvGrpSpPr>
              <a:grpSpLocks noChangeAspect="1"/>
            </p:cNvGrpSpPr>
            <p:nvPr/>
          </p:nvGrpSpPr>
          <p:grpSpPr bwMode="auto">
            <a:xfrm>
              <a:off x="2688765" y="1357298"/>
              <a:ext cx="975360" cy="1951038"/>
              <a:chOff x="2832" y="1977"/>
              <a:chExt cx="768" cy="1536"/>
            </a:xfrm>
          </p:grpSpPr>
          <p:sp>
            <p:nvSpPr>
              <p:cNvPr id="25625" name="Rectangle 15" descr="永恒">
                <a:extLst>
                  <a:ext uri="{FF2B5EF4-FFF2-40B4-BE49-F238E27FC236}">
                    <a16:creationId xmlns:a16="http://schemas.microsoft.com/office/drawing/2014/main" id="{8EF866BD-BC8E-472D-84CA-8EBCC4036D99}"/>
                  </a:ext>
                </a:extLst>
              </p:cNvPr>
              <p:cNvSpPr>
                <a:spLocks noChangeAspect="1" noChangeArrowheads="1"/>
              </p:cNvSpPr>
              <p:nvPr/>
            </p:nvSpPr>
            <p:spPr bwMode="auto">
              <a:xfrm>
                <a:off x="2832" y="1977"/>
                <a:ext cx="672" cy="432"/>
              </a:xfrm>
              <a:prstGeom prst="rect">
                <a:avLst/>
              </a:prstGeom>
              <a:blipFill dpi="0" rotWithShape="0">
                <a:blip r:embed="rId2"/>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i="1">
                  <a:latin typeface="+mn-lt"/>
                  <a:ea typeface="+mn-ea"/>
                </a:endParaRPr>
              </a:p>
            </p:txBody>
          </p:sp>
          <p:sp>
            <p:nvSpPr>
              <p:cNvPr id="25626" name="Rectangle 18">
                <a:extLst>
                  <a:ext uri="{FF2B5EF4-FFF2-40B4-BE49-F238E27FC236}">
                    <a16:creationId xmlns:a16="http://schemas.microsoft.com/office/drawing/2014/main" id="{7BAA9B1F-1C21-421B-97A7-882DF90C0E0B}"/>
                  </a:ext>
                </a:extLst>
              </p:cNvPr>
              <p:cNvSpPr>
                <a:spLocks noChangeAspect="1" noChangeArrowheads="1"/>
              </p:cNvSpPr>
              <p:nvPr/>
            </p:nvSpPr>
            <p:spPr bwMode="auto">
              <a:xfrm>
                <a:off x="2832" y="3225"/>
                <a:ext cx="672" cy="288"/>
              </a:xfrm>
              <a:prstGeom prst="rect">
                <a:avLst/>
              </a:prstGeom>
              <a:solidFill>
                <a:srgbClr val="FFFFCC"/>
              </a:solid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b="0">
                  <a:latin typeface="+mn-lt"/>
                  <a:ea typeface="+mn-ea"/>
                </a:endParaRPr>
              </a:p>
            </p:txBody>
          </p:sp>
          <p:sp>
            <p:nvSpPr>
              <p:cNvPr id="25627" name="Oval 20" descr="白色大理石">
                <a:extLst>
                  <a:ext uri="{FF2B5EF4-FFF2-40B4-BE49-F238E27FC236}">
                    <a16:creationId xmlns:a16="http://schemas.microsoft.com/office/drawing/2014/main" id="{EE0FD5DE-F902-4CF7-BF64-FD85468636DE}"/>
                  </a:ext>
                </a:extLst>
              </p:cNvPr>
              <p:cNvSpPr>
                <a:spLocks noChangeAspect="1" noChangeArrowheads="1"/>
              </p:cNvSpPr>
              <p:nvPr/>
            </p:nvSpPr>
            <p:spPr bwMode="auto">
              <a:xfrm>
                <a:off x="2928" y="2649"/>
                <a:ext cx="432" cy="384"/>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0">
                    <a:latin typeface="+mn-lt"/>
                    <a:ea typeface="+mn-ea"/>
                  </a:rPr>
                  <a:t>R</a:t>
                </a:r>
              </a:p>
            </p:txBody>
          </p:sp>
          <p:sp>
            <p:nvSpPr>
              <p:cNvPr id="25628" name="AutoShape 21" descr="粉色砂纸">
                <a:extLst>
                  <a:ext uri="{FF2B5EF4-FFF2-40B4-BE49-F238E27FC236}">
                    <a16:creationId xmlns:a16="http://schemas.microsoft.com/office/drawing/2014/main" id="{CE593150-552F-4297-8C71-78CCFD429C47}"/>
                  </a:ext>
                </a:extLst>
              </p:cNvPr>
              <p:cNvSpPr>
                <a:spLocks noChangeAspect="1" noChangeArrowheads="1"/>
              </p:cNvSpPr>
              <p:nvPr/>
            </p:nvSpPr>
            <p:spPr bwMode="auto">
              <a:xfrm>
                <a:off x="3072" y="2409"/>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29" name="AutoShape 22" descr="粉色砂纸">
                <a:extLst>
                  <a:ext uri="{FF2B5EF4-FFF2-40B4-BE49-F238E27FC236}">
                    <a16:creationId xmlns:a16="http://schemas.microsoft.com/office/drawing/2014/main" id="{F398AB8F-DC8C-4C8A-BA11-F019CD0421E7}"/>
                  </a:ext>
                </a:extLst>
              </p:cNvPr>
              <p:cNvSpPr>
                <a:spLocks noChangeAspect="1" noChangeArrowheads="1"/>
              </p:cNvSpPr>
              <p:nvPr/>
            </p:nvSpPr>
            <p:spPr bwMode="auto">
              <a:xfrm>
                <a:off x="3072" y="3033"/>
                <a:ext cx="192" cy="192"/>
              </a:xfrm>
              <a:prstGeom prst="downArrow">
                <a:avLst>
                  <a:gd name="adj1" fmla="val 50000"/>
                  <a:gd name="adj2" fmla="val 2500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sp>
            <p:nvSpPr>
              <p:cNvPr id="25630" name="AutoShape 23" descr="粉色砂纸">
                <a:extLst>
                  <a:ext uri="{FF2B5EF4-FFF2-40B4-BE49-F238E27FC236}">
                    <a16:creationId xmlns:a16="http://schemas.microsoft.com/office/drawing/2014/main" id="{800F486E-702E-400C-AE22-6748BC332372}"/>
                  </a:ext>
                </a:extLst>
              </p:cNvPr>
              <p:cNvSpPr>
                <a:spLocks noChangeAspect="1" noChangeArrowheads="1"/>
              </p:cNvSpPr>
              <p:nvPr/>
            </p:nvSpPr>
            <p:spPr bwMode="auto">
              <a:xfrm rot="5449700" flipV="1">
                <a:off x="3384" y="2721"/>
                <a:ext cx="192" cy="240"/>
              </a:xfrm>
              <a:prstGeom prst="downArrow">
                <a:avLst>
                  <a:gd name="adj1" fmla="val 50000"/>
                  <a:gd name="adj2" fmla="val 31250"/>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p:gr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DAFC3A8C-2D86-4175-B974-8A6A006B7DE8}"/>
                    </a:ext>
                  </a:extLst>
                </p:cNvPr>
                <p:cNvSpPr txBox="1"/>
                <p:nvPr/>
              </p:nvSpPr>
              <p:spPr bwMode="auto">
                <a:xfrm>
                  <a:off x="2998079" y="2904996"/>
                  <a:ext cx="341312" cy="471487"/>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oMath>
                    </m:oMathPara>
                  </a14:m>
                  <a:endParaRPr lang="zh-CN" altLang="en-US" sz="2800"/>
                </a:p>
              </p:txBody>
            </p:sp>
          </mc:Choice>
          <mc:Fallback xmlns="">
            <p:sp>
              <p:nvSpPr>
                <p:cNvPr id="7" name="Object 6">
                  <a:extLst>
                    <a:ext uri="{FF2B5EF4-FFF2-40B4-BE49-F238E27FC236}">
                      <a16:creationId xmlns:a16="http://schemas.microsoft.com/office/drawing/2014/main" id="{DAFC3A8C-2D86-4175-B974-8A6A006B7DE8}"/>
                    </a:ext>
                  </a:extLst>
                </p:cNvPr>
                <p:cNvSpPr txBox="1">
                  <a:spLocks noRot="1" noChangeAspect="1" noMove="1" noResize="1" noEditPoints="1" noAdjustHandles="1" noChangeArrowheads="1" noChangeShapeType="1" noTextEdit="1"/>
                </p:cNvSpPr>
                <p:nvPr/>
              </p:nvSpPr>
              <p:spPr bwMode="auto">
                <a:xfrm>
                  <a:off x="2998079" y="2904996"/>
                  <a:ext cx="341312" cy="471487"/>
                </a:xfrm>
                <a:prstGeom prst="rect">
                  <a:avLst/>
                </a:prstGeom>
                <a:blipFill>
                  <a:blip r:embed="rId9"/>
                  <a:stretch>
                    <a:fillRect l="-1786" r="-2142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7">
                  <a:extLst>
                    <a:ext uri="{FF2B5EF4-FFF2-40B4-BE49-F238E27FC236}">
                      <a16:creationId xmlns:a16="http://schemas.microsoft.com/office/drawing/2014/main" id="{E44EB93A-37EB-4357-8DC2-9AAE2A54FA0A}"/>
                    </a:ext>
                  </a:extLst>
                </p:cNvPr>
                <p:cNvSpPr txBox="1"/>
                <p:nvPr/>
              </p:nvSpPr>
              <p:spPr bwMode="auto">
                <a:xfrm>
                  <a:off x="3676646" y="2238492"/>
                  <a:ext cx="395288" cy="392112"/>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𝐴</m:t>
                            </m:r>
                          </m:e>
                          <m:sup>
                            <m:r>
                              <a:rPr lang="zh-CN" altLang="en-US" sz="2800" b="0" i="1">
                                <a:solidFill>
                                  <a:srgbClr val="000000"/>
                                </a:solidFill>
                                <a:latin typeface="Cambria Math" panose="02040503050406030204" pitchFamily="18" charset="0"/>
                              </a:rPr>
                              <m:t>′</m:t>
                            </m:r>
                          </m:sup>
                        </m:sSup>
                      </m:oMath>
                    </m:oMathPara>
                  </a14:m>
                  <a:endParaRPr lang="zh-CN" altLang="en-US" sz="2800"/>
                </a:p>
              </p:txBody>
            </p:sp>
          </mc:Choice>
          <mc:Fallback xmlns="">
            <p:sp>
              <p:nvSpPr>
                <p:cNvPr id="8" name="Object 7">
                  <a:extLst>
                    <a:ext uri="{FF2B5EF4-FFF2-40B4-BE49-F238E27FC236}">
                      <a16:creationId xmlns:a16="http://schemas.microsoft.com/office/drawing/2014/main" id="{E44EB93A-37EB-4357-8DC2-9AAE2A54FA0A}"/>
                    </a:ext>
                  </a:extLst>
                </p:cNvPr>
                <p:cNvSpPr txBox="1">
                  <a:spLocks noRot="1" noChangeAspect="1" noMove="1" noResize="1" noEditPoints="1" noAdjustHandles="1" noChangeArrowheads="1" noChangeShapeType="1" noTextEdit="1"/>
                </p:cNvSpPr>
                <p:nvPr/>
              </p:nvSpPr>
              <p:spPr bwMode="auto">
                <a:xfrm>
                  <a:off x="3676646" y="2238492"/>
                  <a:ext cx="395288" cy="392112"/>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8">
                  <a:extLst>
                    <a:ext uri="{FF2B5EF4-FFF2-40B4-BE49-F238E27FC236}">
                      <a16:creationId xmlns:a16="http://schemas.microsoft.com/office/drawing/2014/main" id="{3E008E66-04CC-4B78-A902-2C709FF48628}"/>
                    </a:ext>
                  </a:extLst>
                </p:cNvPr>
                <p:cNvSpPr txBox="1"/>
                <p:nvPr/>
              </p:nvSpPr>
              <p:spPr bwMode="auto">
                <a:xfrm>
                  <a:off x="3262313" y="1870838"/>
                  <a:ext cx="315912" cy="417512"/>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𝑄</m:t>
                        </m:r>
                      </m:oMath>
                    </m:oMathPara>
                  </a14:m>
                  <a:endParaRPr lang="zh-CN" altLang="en-US" sz="2800"/>
                </a:p>
              </p:txBody>
            </p:sp>
          </mc:Choice>
          <mc:Fallback xmlns="">
            <p:sp>
              <p:nvSpPr>
                <p:cNvPr id="9" name="Object 8">
                  <a:extLst>
                    <a:ext uri="{FF2B5EF4-FFF2-40B4-BE49-F238E27FC236}">
                      <a16:creationId xmlns:a16="http://schemas.microsoft.com/office/drawing/2014/main" id="{3E008E66-04CC-4B78-A902-2C709FF48628}"/>
                    </a:ext>
                  </a:extLst>
                </p:cNvPr>
                <p:cNvSpPr txBox="1">
                  <a:spLocks noRot="1" noChangeAspect="1" noMove="1" noResize="1" noEditPoints="1" noAdjustHandles="1" noChangeArrowheads="1" noChangeShapeType="1" noTextEdit="1"/>
                </p:cNvSpPr>
                <p:nvPr/>
              </p:nvSpPr>
              <p:spPr bwMode="auto">
                <a:xfrm>
                  <a:off x="3262313" y="1870838"/>
                  <a:ext cx="315912" cy="417512"/>
                </a:xfrm>
                <a:prstGeom prst="rect">
                  <a:avLst/>
                </a:prstGeom>
                <a:blipFill>
                  <a:blip r:embed="rId11"/>
                  <a:stretch>
                    <a:fillRect l="-5769" r="-17308" b="-588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Object 9">
                  <a:extLst>
                    <a:ext uri="{FF2B5EF4-FFF2-40B4-BE49-F238E27FC236}">
                      <a16:creationId xmlns:a16="http://schemas.microsoft.com/office/drawing/2014/main" id="{08799B56-28AB-4086-9B7A-2EE7F746B82A}"/>
                    </a:ext>
                  </a:extLst>
                </p:cNvPr>
                <p:cNvSpPr txBox="1"/>
                <p:nvPr/>
              </p:nvSpPr>
              <p:spPr bwMode="auto">
                <a:xfrm>
                  <a:off x="2963925" y="1388938"/>
                  <a:ext cx="341313" cy="47307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oMath>
                    </m:oMathPara>
                  </a14:m>
                  <a:endParaRPr lang="zh-CN" altLang="en-US" sz="2800"/>
                </a:p>
              </p:txBody>
            </p:sp>
          </mc:Choice>
          <mc:Fallback xmlns="">
            <p:sp>
              <p:nvSpPr>
                <p:cNvPr id="10" name="Object 9">
                  <a:extLst>
                    <a:ext uri="{FF2B5EF4-FFF2-40B4-BE49-F238E27FC236}">
                      <a16:creationId xmlns:a16="http://schemas.microsoft.com/office/drawing/2014/main" id="{08799B56-28AB-4086-9B7A-2EE7F746B82A}"/>
                    </a:ext>
                  </a:extLst>
                </p:cNvPr>
                <p:cNvSpPr txBox="1">
                  <a:spLocks noRot="1" noChangeAspect="1" noMove="1" noResize="1" noEditPoints="1" noAdjustHandles="1" noChangeArrowheads="1" noChangeShapeType="1" noTextEdit="1"/>
                </p:cNvSpPr>
                <p:nvPr/>
              </p:nvSpPr>
              <p:spPr bwMode="auto">
                <a:xfrm>
                  <a:off x="2963925" y="1388938"/>
                  <a:ext cx="341313" cy="473075"/>
                </a:xfrm>
                <a:prstGeom prst="rect">
                  <a:avLst/>
                </a:prstGeom>
                <a:blipFill>
                  <a:blip r:embed="rId12"/>
                  <a:stretch>
                    <a:fillRect l="-1786" r="-21429"/>
                  </a:stretch>
                </a:blipFill>
                <a:ln>
                  <a:noFill/>
                </a:ln>
                <a:effectLst/>
              </p:spPr>
              <p:txBody>
                <a:bodyPr/>
                <a:lstStyle/>
                <a:p>
                  <a:r>
                    <a:rPr lang="zh-CN" altLang="en-US">
                      <a:noFill/>
                    </a:rPr>
                    <a:t> </a:t>
                  </a:r>
                </a:p>
              </p:txBody>
            </p:sp>
          </mc:Fallback>
        </mc:AlternateContent>
        <p:sp>
          <p:nvSpPr>
            <p:cNvPr id="25624" name="AutoShape 17" descr="粉色砂纸">
              <a:extLst>
                <a:ext uri="{FF2B5EF4-FFF2-40B4-BE49-F238E27FC236}">
                  <a16:creationId xmlns:a16="http://schemas.microsoft.com/office/drawing/2014/main" id="{FAABBA2D-40D0-4F58-B541-E01739EC88AD}"/>
                </a:ext>
              </a:extLst>
            </p:cNvPr>
            <p:cNvSpPr>
              <a:spLocks noChangeAspect="1" noChangeArrowheads="1"/>
            </p:cNvSpPr>
            <p:nvPr/>
          </p:nvSpPr>
          <p:spPr bwMode="auto">
            <a:xfrm>
              <a:off x="1785918" y="1500174"/>
              <a:ext cx="809568" cy="222944"/>
            </a:xfrm>
            <a:prstGeom prst="rightArrow">
              <a:avLst>
                <a:gd name="adj1" fmla="val 50000"/>
                <a:gd name="adj2" fmla="val 62505"/>
              </a:avLst>
            </a:prstGeom>
            <a:blipFill dpi="0" rotWithShape="0">
              <a:blip r:embed="rId4"/>
              <a:srcRect/>
              <a:tile tx="0" ty="0" sx="100000" sy="100000" flip="none" algn="tl"/>
            </a:blipFill>
            <a:ln w="9525" cap="rnd">
              <a:solidFill>
                <a:schemeClr val="tx1"/>
              </a:solidFill>
              <a:prstDash val="sysDot"/>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mn-lt"/>
                <a:ea typeface="+mn-ea"/>
              </a:endParaRPr>
            </a:p>
          </p:txBody>
        </p:sp>
        <mc:AlternateContent xmlns:mc="http://schemas.openxmlformats.org/markup-compatibility/2006" xmlns:a14="http://schemas.microsoft.com/office/drawing/2010/main">
          <mc:Choice Requires="a14">
            <p:sp>
              <p:nvSpPr>
                <p:cNvPr id="11" name="Object 12">
                  <a:extLst>
                    <a:ext uri="{FF2B5EF4-FFF2-40B4-BE49-F238E27FC236}">
                      <a16:creationId xmlns:a16="http://schemas.microsoft.com/office/drawing/2014/main" id="{7238C099-B292-4A0D-85DC-625144BE84C9}"/>
                    </a:ext>
                  </a:extLst>
                </p:cNvPr>
                <p:cNvSpPr txBox="1"/>
                <p:nvPr/>
              </p:nvSpPr>
              <p:spPr bwMode="auto">
                <a:xfrm>
                  <a:off x="2071670" y="1142984"/>
                  <a:ext cx="315912" cy="417512"/>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𝑄</m:t>
                        </m:r>
                      </m:oMath>
                    </m:oMathPara>
                  </a14:m>
                  <a:endParaRPr lang="zh-CN" altLang="en-US" sz="2800"/>
                </a:p>
              </p:txBody>
            </p:sp>
          </mc:Choice>
          <mc:Fallback xmlns="">
            <p:sp>
              <p:nvSpPr>
                <p:cNvPr id="11" name="Object 12">
                  <a:extLst>
                    <a:ext uri="{FF2B5EF4-FFF2-40B4-BE49-F238E27FC236}">
                      <a16:creationId xmlns:a16="http://schemas.microsoft.com/office/drawing/2014/main" id="{7238C099-B292-4A0D-85DC-625144BE84C9}"/>
                    </a:ext>
                  </a:extLst>
                </p:cNvPr>
                <p:cNvSpPr txBox="1">
                  <a:spLocks noRot="1" noChangeAspect="1" noMove="1" noResize="1" noEditPoints="1" noAdjustHandles="1" noChangeArrowheads="1" noChangeShapeType="1" noTextEdit="1"/>
                </p:cNvSpPr>
                <p:nvPr/>
              </p:nvSpPr>
              <p:spPr bwMode="auto">
                <a:xfrm>
                  <a:off x="2071670" y="1142984"/>
                  <a:ext cx="315912" cy="417512"/>
                </a:xfrm>
                <a:prstGeom prst="rect">
                  <a:avLst/>
                </a:prstGeom>
                <a:blipFill>
                  <a:blip r:embed="rId13"/>
                  <a:stretch>
                    <a:fillRect l="-5769" r="-17308" b="-5882"/>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5191" name="Object 23">
                <a:extLst>
                  <a:ext uri="{FF2B5EF4-FFF2-40B4-BE49-F238E27FC236}">
                    <a16:creationId xmlns:a16="http://schemas.microsoft.com/office/drawing/2014/main" id="{B296C818-88EA-4DF9-97B2-8A86B386405A}"/>
                  </a:ext>
                </a:extLst>
              </p:cNvPr>
              <p:cNvSpPr txBox="1"/>
              <p:nvPr/>
            </p:nvSpPr>
            <p:spPr bwMode="auto">
              <a:xfrm>
                <a:off x="7024687" y="1214439"/>
                <a:ext cx="2481263" cy="89058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r>
                        <a:rPr lang="zh-CN" altLang="en-US" sz="2800" b="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135191" name="Object 23">
                <a:extLst>
                  <a:ext uri="{FF2B5EF4-FFF2-40B4-BE49-F238E27FC236}">
                    <a16:creationId xmlns:a16="http://schemas.microsoft.com/office/drawing/2014/main" id="{B296C818-88EA-4DF9-97B2-8A86B386405A}"/>
                  </a:ext>
                </a:extLst>
              </p:cNvPr>
              <p:cNvSpPr txBox="1">
                <a:spLocks noRot="1" noChangeAspect="1" noMove="1" noResize="1" noEditPoints="1" noAdjustHandles="1" noChangeArrowheads="1" noChangeShapeType="1" noTextEdit="1"/>
              </p:cNvSpPr>
              <p:nvPr/>
            </p:nvSpPr>
            <p:spPr bwMode="auto">
              <a:xfrm>
                <a:off x="7024687" y="1214439"/>
                <a:ext cx="2481263" cy="890587"/>
              </a:xfrm>
              <a:prstGeom prst="rect">
                <a:avLst/>
              </a:prstGeom>
              <a:blipFill>
                <a:blip r:embed="rId14"/>
                <a:stretch>
                  <a:fillRect b="-342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12">
                <a:extLst>
                  <a:ext uri="{FF2B5EF4-FFF2-40B4-BE49-F238E27FC236}">
                    <a16:creationId xmlns:a16="http://schemas.microsoft.com/office/drawing/2014/main" id="{DCE87AA0-A740-403A-9456-778BF01A89E4}"/>
                  </a:ext>
                </a:extLst>
              </p:cNvPr>
              <p:cNvSpPr txBox="1"/>
              <p:nvPr/>
            </p:nvSpPr>
            <p:spPr bwMode="auto">
              <a:xfrm>
                <a:off x="7024689" y="2428875"/>
                <a:ext cx="2786060" cy="8905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𝐴</m:t>
                          </m:r>
                        </m:e>
                        <m:sup>
                          <m:r>
                            <a:rPr lang="zh-CN" altLang="en-US" sz="2800" b="0" i="1">
                              <a:solidFill>
                                <a:srgbClr val="000000"/>
                              </a:solidFill>
                              <a:latin typeface="Cambria Math" panose="02040503050406030204" pitchFamily="18" charset="0"/>
                            </a:rPr>
                            <m:t>′</m:t>
                          </m:r>
                        </m:sup>
                      </m:sSup>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r>
                        <a:rPr lang="zh-CN" altLang="en-US" sz="2800" b="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28" name="Object 12">
                <a:extLst>
                  <a:ext uri="{FF2B5EF4-FFF2-40B4-BE49-F238E27FC236}">
                    <a16:creationId xmlns:a16="http://schemas.microsoft.com/office/drawing/2014/main" id="{DCE87AA0-A740-403A-9456-778BF01A89E4}"/>
                  </a:ext>
                </a:extLst>
              </p:cNvPr>
              <p:cNvSpPr txBox="1">
                <a:spLocks noRot="1" noChangeAspect="1" noMove="1" noResize="1" noEditPoints="1" noAdjustHandles="1" noChangeArrowheads="1" noChangeShapeType="1" noTextEdit="1"/>
              </p:cNvSpPr>
              <p:nvPr/>
            </p:nvSpPr>
            <p:spPr bwMode="auto">
              <a:xfrm>
                <a:off x="7024689" y="2428875"/>
                <a:ext cx="2786060" cy="890588"/>
              </a:xfrm>
              <a:prstGeom prst="rect">
                <a:avLst/>
              </a:prstGeom>
              <a:blipFill>
                <a:blip r:embed="rId15"/>
                <a:stretch>
                  <a:fillRect b="-272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13">
                <a:extLst>
                  <a:ext uri="{FF2B5EF4-FFF2-40B4-BE49-F238E27FC236}">
                    <a16:creationId xmlns:a16="http://schemas.microsoft.com/office/drawing/2014/main" id="{4F4E1282-940B-4F27-B9A6-778E65F6E47D}"/>
                  </a:ext>
                </a:extLst>
              </p:cNvPr>
              <p:cNvSpPr txBox="1"/>
              <p:nvPr/>
            </p:nvSpPr>
            <p:spPr bwMode="auto">
              <a:xfrm>
                <a:off x="5524500" y="1357314"/>
                <a:ext cx="1500187" cy="4730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r>
                        <a:rPr lang="zh-CN" altLang="en-US" sz="2800" b="0" i="1">
                          <a:solidFill>
                            <a:srgbClr val="000000"/>
                          </a:solidFill>
                          <a:latin typeface="Cambria Math" panose="02040503050406030204" pitchFamily="18" charset="0"/>
                        </a:rPr>
                        <m:t>&lt;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oMath>
                  </m:oMathPara>
                </a14:m>
                <a:endParaRPr lang="zh-CN" altLang="en-US" sz="2800"/>
              </a:p>
            </p:txBody>
          </p:sp>
        </mc:Choice>
        <mc:Fallback xmlns="">
          <p:sp>
            <p:nvSpPr>
              <p:cNvPr id="27" name="Object 13">
                <a:extLst>
                  <a:ext uri="{FF2B5EF4-FFF2-40B4-BE49-F238E27FC236}">
                    <a16:creationId xmlns:a16="http://schemas.microsoft.com/office/drawing/2014/main" id="{4F4E1282-940B-4F27-B9A6-778E65F6E47D}"/>
                  </a:ext>
                </a:extLst>
              </p:cNvPr>
              <p:cNvSpPr txBox="1">
                <a:spLocks noRot="1" noChangeAspect="1" noMove="1" noResize="1" noEditPoints="1" noAdjustHandles="1" noChangeArrowheads="1" noChangeShapeType="1" noTextEdit="1"/>
              </p:cNvSpPr>
              <p:nvPr/>
            </p:nvSpPr>
            <p:spPr bwMode="auto">
              <a:xfrm>
                <a:off x="5524500" y="1357314"/>
                <a:ext cx="1500187" cy="473075"/>
              </a:xfrm>
              <a:prstGeom prst="rect">
                <a:avLst/>
              </a:prstGeom>
              <a:blipFill>
                <a:blip r:embed="rId16"/>
                <a:stretch>
                  <a:fillRect/>
                </a:stretch>
              </a:blipFill>
              <a:ln>
                <a:noFill/>
              </a:ln>
              <a:effectLst/>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EB9446CD-9A4C-4CCE-872B-CC1020A0C0C4}"/>
              </a:ext>
            </a:extLst>
          </p:cNvPr>
          <p:cNvSpPr>
            <a:spLocks noChangeArrowheads="1"/>
          </p:cNvSpPr>
          <p:nvPr/>
        </p:nvSpPr>
        <p:spPr bwMode="auto">
          <a:xfrm>
            <a:off x="1881189" y="3690939"/>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对外少做的功（能量退化）为</a:t>
            </a:r>
          </a:p>
        </p:txBody>
      </p:sp>
      <mc:AlternateContent xmlns:mc="http://schemas.openxmlformats.org/markup-compatibility/2006" xmlns:a14="http://schemas.microsoft.com/office/drawing/2010/main">
        <mc:Choice Requires="a14">
          <p:sp>
            <p:nvSpPr>
              <p:cNvPr id="31" name="Object 4">
                <a:extLst>
                  <a:ext uri="{FF2B5EF4-FFF2-40B4-BE49-F238E27FC236}">
                    <a16:creationId xmlns:a16="http://schemas.microsoft.com/office/drawing/2014/main" id="{AE00D0DF-AF6F-411E-ABAE-14712BA3035F}"/>
                  </a:ext>
                </a:extLst>
              </p:cNvPr>
              <p:cNvSpPr txBox="1"/>
              <p:nvPr/>
            </p:nvSpPr>
            <p:spPr bwMode="auto">
              <a:xfrm>
                <a:off x="4166547" y="4098270"/>
                <a:ext cx="4556213" cy="889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a:rPr lang="zh-CN" altLang="en-US" sz="2800" b="0" i="1">
                              <a:solidFill>
                                <a:srgbClr val="000000"/>
                              </a:solidFill>
                              <a:latin typeface="Cambria Math" panose="02040503050406030204" pitchFamily="18" charset="0"/>
                            </a:rPr>
                            <m:t>𝐴</m:t>
                          </m:r>
                        </m:e>
                        <m:sup>
                          <m:r>
                            <a:rPr lang="zh-CN" altLang="en-US" sz="2800" b="0" i="1">
                              <a:solidFill>
                                <a:srgbClr val="000000"/>
                              </a:solidFill>
                              <a:latin typeface="Cambria Math" panose="02040503050406030204" pitchFamily="18" charset="0"/>
                            </a:rPr>
                            <m:t>′</m:t>
                          </m:r>
                        </m:sup>
                      </m:sSup>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31" name="Object 4">
                <a:extLst>
                  <a:ext uri="{FF2B5EF4-FFF2-40B4-BE49-F238E27FC236}">
                    <a16:creationId xmlns:a16="http://schemas.microsoft.com/office/drawing/2014/main" id="{AE00D0DF-AF6F-411E-ABAE-14712BA3035F}"/>
                  </a:ext>
                </a:extLst>
              </p:cNvPr>
              <p:cNvSpPr txBox="1">
                <a:spLocks noRot="1" noChangeAspect="1" noMove="1" noResize="1" noEditPoints="1" noAdjustHandles="1" noChangeArrowheads="1" noChangeShapeType="1" noTextEdit="1"/>
              </p:cNvSpPr>
              <p:nvPr/>
            </p:nvSpPr>
            <p:spPr bwMode="auto">
              <a:xfrm>
                <a:off x="4166547" y="4098270"/>
                <a:ext cx="4556213" cy="889000"/>
              </a:xfrm>
              <a:prstGeom prst="rect">
                <a:avLst/>
              </a:prstGeom>
              <a:blipFill>
                <a:blip r:embed="rId17"/>
                <a:stretch>
                  <a:fillRect b="-3425"/>
                </a:stretch>
              </a:blipFill>
              <a:ln>
                <a:noFill/>
              </a:ln>
              <a:effectLst/>
            </p:spPr>
            <p:txBody>
              <a:bodyPr/>
              <a:lstStyle/>
              <a:p>
                <a:r>
                  <a:rPr lang="zh-CN" altLang="en-US">
                    <a:noFill/>
                  </a:rPr>
                  <a:t> </a:t>
                </a:r>
              </a:p>
            </p:txBody>
          </p:sp>
        </mc:Fallback>
      </mc:AlternateContent>
      <p:sp>
        <p:nvSpPr>
          <p:cNvPr id="32" name="矩形 31">
            <a:extLst>
              <a:ext uri="{FF2B5EF4-FFF2-40B4-BE49-F238E27FC236}">
                <a16:creationId xmlns:a16="http://schemas.microsoft.com/office/drawing/2014/main" id="{A7C30148-A42E-4F25-80D1-166406E611D0}"/>
              </a:ext>
            </a:extLst>
          </p:cNvPr>
          <p:cNvSpPr>
            <a:spLocks noChangeArrowheads="1"/>
          </p:cNvSpPr>
          <p:nvPr/>
        </p:nvSpPr>
        <p:spPr bwMode="auto">
          <a:xfrm>
            <a:off x="2330451" y="5191124"/>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熵增加量为</a:t>
            </a:r>
          </a:p>
        </p:txBody>
      </p:sp>
      <mc:AlternateContent xmlns:mc="http://schemas.openxmlformats.org/markup-compatibility/2006" xmlns:a14="http://schemas.microsoft.com/office/drawing/2010/main">
        <mc:Choice Requires="a14">
          <p:sp>
            <p:nvSpPr>
              <p:cNvPr id="33" name="Object 15">
                <a:extLst>
                  <a:ext uri="{FF2B5EF4-FFF2-40B4-BE49-F238E27FC236}">
                    <a16:creationId xmlns:a16="http://schemas.microsoft.com/office/drawing/2014/main" id="{29E3130D-032D-4CDD-9C88-B18414492F7D}"/>
                  </a:ext>
                </a:extLst>
              </p:cNvPr>
              <p:cNvSpPr txBox="1"/>
              <p:nvPr/>
            </p:nvSpPr>
            <p:spPr bwMode="auto">
              <a:xfrm>
                <a:off x="4667251" y="4976813"/>
                <a:ext cx="2863706" cy="889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𝑆</m:t>
                      </m:r>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𝑄</m:t>
                      </m:r>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2</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1</m:t>
                          </m:r>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1</m:t>
                              </m:r>
                            </m:sub>
                          </m:sSub>
                        </m:den>
                      </m:f>
                      <m:r>
                        <a:rPr lang="zh-CN" altLang="en-US" sz="2800" b="0" i="1">
                          <a:solidFill>
                            <a:srgbClr val="000000"/>
                          </a:solidFill>
                          <a:latin typeface="Cambria Math" panose="02040503050406030204" pitchFamily="18" charset="0"/>
                        </a:rPr>
                        <m:t>)</m:t>
                      </m:r>
                    </m:oMath>
                  </m:oMathPara>
                </a14:m>
                <a:endParaRPr lang="zh-CN" altLang="en-US" sz="2800" dirty="0"/>
              </a:p>
            </p:txBody>
          </p:sp>
        </mc:Choice>
        <mc:Fallback xmlns="">
          <p:sp>
            <p:nvSpPr>
              <p:cNvPr id="33" name="Object 15">
                <a:extLst>
                  <a:ext uri="{FF2B5EF4-FFF2-40B4-BE49-F238E27FC236}">
                    <a16:creationId xmlns:a16="http://schemas.microsoft.com/office/drawing/2014/main" id="{29E3130D-032D-4CDD-9C88-B18414492F7D}"/>
                  </a:ext>
                </a:extLst>
              </p:cNvPr>
              <p:cNvSpPr txBox="1">
                <a:spLocks noRot="1" noChangeAspect="1" noMove="1" noResize="1" noEditPoints="1" noAdjustHandles="1" noChangeArrowheads="1" noChangeShapeType="1" noTextEdit="1"/>
              </p:cNvSpPr>
              <p:nvPr/>
            </p:nvSpPr>
            <p:spPr bwMode="auto">
              <a:xfrm>
                <a:off x="4667251" y="4976813"/>
                <a:ext cx="2863706" cy="889000"/>
              </a:xfrm>
              <a:prstGeom prst="rect">
                <a:avLst/>
              </a:prstGeom>
              <a:blipFill>
                <a:blip r:embed="rId18"/>
                <a:stretch>
                  <a:fillRect b="-342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Object 16">
                <a:extLst>
                  <a:ext uri="{FF2B5EF4-FFF2-40B4-BE49-F238E27FC236}">
                    <a16:creationId xmlns:a16="http://schemas.microsoft.com/office/drawing/2014/main" id="{811D128B-B4A7-430F-B2C8-183F1F4BDA3B}"/>
                  </a:ext>
                </a:extLst>
              </p:cNvPr>
              <p:cNvSpPr txBox="1"/>
              <p:nvPr/>
            </p:nvSpPr>
            <p:spPr bwMode="auto">
              <a:xfrm>
                <a:off x="2330451" y="6069667"/>
                <a:ext cx="2619385" cy="4699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𝐴</m:t>
                      </m:r>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𝑇</m:t>
                          </m:r>
                        </m:e>
                        <m:sub>
                          <m:r>
                            <a:rPr lang="zh-CN" altLang="en-US" sz="2800" b="0" i="1">
                              <a:solidFill>
                                <a:srgbClr val="000000"/>
                              </a:solidFill>
                              <a:latin typeface="Cambria Math" panose="02040503050406030204" pitchFamily="18" charset="0"/>
                            </a:rPr>
                            <m:t>0</m:t>
                          </m:r>
                        </m:sub>
                      </m:sSub>
                      <m:r>
                        <a:rPr lang="zh-CN" altLang="en-US" sz="2800" b="0" i="1">
                          <a:solidFill>
                            <a:srgbClr val="000000"/>
                          </a:solidFill>
                          <a:latin typeface="Cambria Math" panose="02040503050406030204" pitchFamily="18" charset="0"/>
                        </a:rPr>
                        <m:t>𝛥</m:t>
                      </m:r>
                      <m:r>
                        <a:rPr lang="zh-CN" altLang="en-US" sz="2800" b="0" i="1">
                          <a:solidFill>
                            <a:srgbClr val="000000"/>
                          </a:solidFill>
                          <a:latin typeface="Cambria Math" panose="02040503050406030204" pitchFamily="18" charset="0"/>
                        </a:rPr>
                        <m:t>𝑆</m:t>
                      </m:r>
                    </m:oMath>
                  </m:oMathPara>
                </a14:m>
                <a:endParaRPr lang="zh-CN" altLang="en-US" sz="2800" dirty="0"/>
              </a:p>
            </p:txBody>
          </p:sp>
        </mc:Choice>
        <mc:Fallback xmlns="">
          <p:sp>
            <p:nvSpPr>
              <p:cNvPr id="34" name="Object 16">
                <a:extLst>
                  <a:ext uri="{FF2B5EF4-FFF2-40B4-BE49-F238E27FC236}">
                    <a16:creationId xmlns:a16="http://schemas.microsoft.com/office/drawing/2014/main" id="{811D128B-B4A7-430F-B2C8-183F1F4BDA3B}"/>
                  </a:ext>
                </a:extLst>
              </p:cNvPr>
              <p:cNvSpPr txBox="1">
                <a:spLocks noRot="1" noChangeAspect="1" noMove="1" noResize="1" noEditPoints="1" noAdjustHandles="1" noChangeArrowheads="1" noChangeShapeType="1" noTextEdit="1"/>
              </p:cNvSpPr>
              <p:nvPr/>
            </p:nvSpPr>
            <p:spPr bwMode="auto">
              <a:xfrm>
                <a:off x="2330451" y="6069667"/>
                <a:ext cx="2619385" cy="469900"/>
              </a:xfrm>
              <a:prstGeom prst="rect">
                <a:avLst/>
              </a:prstGeom>
              <a:blipFill>
                <a:blip r:embed="rId19"/>
                <a:stretch>
                  <a:fillRect/>
                </a:stretch>
              </a:blipFill>
              <a:ln>
                <a:noFill/>
              </a:ln>
              <a:effectLst/>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7C651E43-4CCE-4DA6-8F98-9119C72D919A}"/>
              </a:ext>
            </a:extLst>
          </p:cNvPr>
          <p:cNvSpPr>
            <a:spLocks noChangeArrowheads="1"/>
          </p:cNvSpPr>
          <p:nvPr/>
        </p:nvSpPr>
        <p:spPr bwMode="auto">
          <a:xfrm>
            <a:off x="4761415" y="6127751"/>
            <a:ext cx="449353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0" dirty="0">
                <a:latin typeface="+mn-lt"/>
                <a:ea typeface="+mn-ea"/>
              </a:rPr>
              <a:t>熵的增加是能量退降的量度</a:t>
            </a:r>
          </a:p>
        </p:txBody>
      </p:sp>
      <p:sp>
        <p:nvSpPr>
          <p:cNvPr id="38" name="Text Box 13">
            <a:hlinkClick r:id="" action="ppaction://noaction"/>
            <a:extLst>
              <a:ext uri="{FF2B5EF4-FFF2-40B4-BE49-F238E27FC236}">
                <a16:creationId xmlns:a16="http://schemas.microsoft.com/office/drawing/2014/main" id="{15A58D11-41B0-4468-BFE9-A27CC15460A2}"/>
              </a:ext>
            </a:extLst>
          </p:cNvPr>
          <p:cNvSpPr txBox="1">
            <a:spLocks noChangeArrowheads="1"/>
          </p:cNvSpPr>
          <p:nvPr/>
        </p:nvSpPr>
        <p:spPr bwMode="auto">
          <a:xfrm>
            <a:off x="574058" y="405824"/>
            <a:ext cx="409319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熵与能量退降</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6569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51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91" grpId="0"/>
      <p:bldP spid="28" grpId="0"/>
      <p:bldP spid="27" grpId="0"/>
      <p:bldP spid="30" grpId="0"/>
      <p:bldP spid="31" grpId="0"/>
      <p:bldP spid="32" grpId="0"/>
      <p:bldP spid="33" grpId="0"/>
      <p:bldP spid="34" grpId="0"/>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13">
            <a:hlinkClick r:id="" action="ppaction://noaction"/>
            <a:extLst>
              <a:ext uri="{FF2B5EF4-FFF2-40B4-BE49-F238E27FC236}">
                <a16:creationId xmlns:a16="http://schemas.microsoft.com/office/drawing/2014/main" id="{0BCF09C1-9BF9-87E7-9D23-3406A28E55D5}"/>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有序与无序</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
        <p:nvSpPr>
          <p:cNvPr id="9" name="Rectangle 4">
            <a:extLst>
              <a:ext uri="{FF2B5EF4-FFF2-40B4-BE49-F238E27FC236}">
                <a16:creationId xmlns:a16="http://schemas.microsoft.com/office/drawing/2014/main" id="{CF292695-B71B-F0C2-3854-6C0EC066F224}"/>
              </a:ext>
            </a:extLst>
          </p:cNvPr>
          <p:cNvSpPr/>
          <p:nvPr/>
        </p:nvSpPr>
        <p:spPr>
          <a:xfrm>
            <a:off x="800099" y="2154606"/>
            <a:ext cx="10591801" cy="576120"/>
          </a:xfrm>
          <a:prstGeom prst="rect">
            <a:avLst/>
          </a:prstGeom>
          <a:noFill/>
          <a:ln w="9525">
            <a:noFill/>
          </a:ln>
        </p:spPr>
        <p:txBody>
          <a:bodyPr wrap="square">
            <a:spAutoFit/>
          </a:bodyPr>
          <a:lstStyle/>
          <a:p>
            <a:pPr eaLnBrk="1" hangingPunct="1">
              <a:lnSpc>
                <a:spcPct val="120000"/>
              </a:lnSpc>
              <a:spcBef>
                <a:spcPct val="50000"/>
              </a:spcBef>
            </a:pPr>
            <a:r>
              <a:rPr lang="zh-CN" altLang="en-US" sz="2800" dirty="0">
                <a:solidFill>
                  <a:srgbClr val="000000"/>
                </a:solidFill>
                <a:latin typeface="Bookman Old Style" panose="02050604050505020204" pitchFamily="18" charset="0"/>
              </a:rPr>
              <a:t>孤立系统中的熵永不减少        </a:t>
            </a:r>
            <a:r>
              <a:rPr lang="zh-CN" altLang="en-US" sz="2800" dirty="0">
                <a:solidFill>
                  <a:srgbClr val="000000"/>
                </a:solidFill>
                <a:latin typeface="Arial" panose="020B0604020202020204" pitchFamily="34" charset="0"/>
              </a:rPr>
              <a:t>宇宙的结局是一个死寂的永恒状态</a:t>
            </a:r>
          </a:p>
        </p:txBody>
      </p:sp>
      <p:sp>
        <p:nvSpPr>
          <p:cNvPr id="10" name="箭头: 右 9">
            <a:extLst>
              <a:ext uri="{FF2B5EF4-FFF2-40B4-BE49-F238E27FC236}">
                <a16:creationId xmlns:a16="http://schemas.microsoft.com/office/drawing/2014/main" id="{219D492C-0FE2-D441-8AD8-F5D88F2DEE66}"/>
              </a:ext>
            </a:extLst>
          </p:cNvPr>
          <p:cNvSpPr/>
          <p:nvPr/>
        </p:nvSpPr>
        <p:spPr>
          <a:xfrm>
            <a:off x="4983844" y="2391310"/>
            <a:ext cx="522514" cy="2467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Group 4">
            <a:extLst>
              <a:ext uri="{FF2B5EF4-FFF2-40B4-BE49-F238E27FC236}">
                <a16:creationId xmlns:a16="http://schemas.microsoft.com/office/drawing/2014/main" id="{75922DC1-2392-6A4B-30AC-8AA24513ED92}"/>
              </a:ext>
            </a:extLst>
          </p:cNvPr>
          <p:cNvGrpSpPr>
            <a:grpSpLocks/>
          </p:cNvGrpSpPr>
          <p:nvPr/>
        </p:nvGrpSpPr>
        <p:grpSpPr bwMode="auto">
          <a:xfrm>
            <a:off x="2378097" y="1226468"/>
            <a:ext cx="5855788" cy="558801"/>
            <a:chOff x="648" y="779"/>
            <a:chExt cx="3382" cy="352"/>
          </a:xfrm>
        </p:grpSpPr>
        <p:sp>
          <p:nvSpPr>
            <p:cNvPr id="12" name="Text Box 5">
              <a:extLst>
                <a:ext uri="{FF2B5EF4-FFF2-40B4-BE49-F238E27FC236}">
                  <a16:creationId xmlns:a16="http://schemas.microsoft.com/office/drawing/2014/main" id="{FAE74E42-FA42-72AC-63AA-95011F637B14}"/>
                </a:ext>
              </a:extLst>
            </p:cNvPr>
            <p:cNvSpPr txBox="1">
              <a:spLocks noChangeArrowheads="1"/>
            </p:cNvSpPr>
            <p:nvPr/>
          </p:nvSpPr>
          <p:spPr bwMode="auto">
            <a:xfrm>
              <a:off x="648" y="782"/>
              <a:ext cx="78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热力学</a:t>
              </a:r>
            </a:p>
          </p:txBody>
        </p:sp>
        <p:sp>
          <p:nvSpPr>
            <p:cNvPr id="13" name="Rectangle 6">
              <a:extLst>
                <a:ext uri="{FF2B5EF4-FFF2-40B4-BE49-F238E27FC236}">
                  <a16:creationId xmlns:a16="http://schemas.microsoft.com/office/drawing/2014/main" id="{62161328-B79A-CD12-98B0-4FB34A111937}"/>
                </a:ext>
              </a:extLst>
            </p:cNvPr>
            <p:cNvSpPr>
              <a:spLocks noChangeArrowheads="1"/>
            </p:cNvSpPr>
            <p:nvPr/>
          </p:nvSpPr>
          <p:spPr bwMode="auto">
            <a:xfrm>
              <a:off x="1701" y="779"/>
              <a:ext cx="232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有序到无序的退化过程</a:t>
              </a:r>
            </a:p>
          </p:txBody>
        </p:sp>
      </p:grpSp>
      <p:sp>
        <p:nvSpPr>
          <p:cNvPr id="16" name="Rectangle 9">
            <a:extLst>
              <a:ext uri="{FF2B5EF4-FFF2-40B4-BE49-F238E27FC236}">
                <a16:creationId xmlns:a16="http://schemas.microsoft.com/office/drawing/2014/main" id="{F886CC72-034B-D4E7-CB77-20E1571A1970}"/>
              </a:ext>
            </a:extLst>
          </p:cNvPr>
          <p:cNvSpPr>
            <a:spLocks noChangeArrowheads="1"/>
          </p:cNvSpPr>
          <p:nvPr/>
        </p:nvSpPr>
        <p:spPr bwMode="auto">
          <a:xfrm>
            <a:off x="3129344" y="3044051"/>
            <a:ext cx="49247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进化过程</a:t>
            </a:r>
            <a:r>
              <a:rPr lang="en-US" altLang="zh-CN" sz="3000" b="0" dirty="0">
                <a:solidFill>
                  <a:srgbClr val="FF0000"/>
                </a:solidFill>
                <a:latin typeface="华文楷体" panose="02010600040101010101" pitchFamily="2" charset="-122"/>
                <a:ea typeface="华文楷体" panose="02010600040101010101" pitchFamily="2" charset="-122"/>
              </a:rPr>
              <a:t>: </a:t>
            </a:r>
            <a:r>
              <a:rPr lang="zh-CN" altLang="en-US" sz="3000" b="0" dirty="0">
                <a:solidFill>
                  <a:srgbClr val="FF0000"/>
                </a:solidFill>
                <a:latin typeface="华文楷体" panose="02010600040101010101" pitchFamily="2" charset="-122"/>
                <a:ea typeface="华文楷体" panose="02010600040101010101" pitchFamily="2" charset="-122"/>
              </a:rPr>
              <a:t>无序到有序</a:t>
            </a:r>
          </a:p>
        </p:txBody>
      </p:sp>
      <p:sp>
        <p:nvSpPr>
          <p:cNvPr id="17" name="Oval 4">
            <a:extLst>
              <a:ext uri="{FF2B5EF4-FFF2-40B4-BE49-F238E27FC236}">
                <a16:creationId xmlns:a16="http://schemas.microsoft.com/office/drawing/2014/main" id="{60934D94-E764-9049-C1F9-3F8EF7E1613E}"/>
              </a:ext>
            </a:extLst>
          </p:cNvPr>
          <p:cNvSpPr>
            <a:spLocks noChangeArrowheads="1"/>
          </p:cNvSpPr>
          <p:nvPr/>
        </p:nvSpPr>
        <p:spPr bwMode="auto">
          <a:xfrm>
            <a:off x="1140506" y="3693887"/>
            <a:ext cx="2952751" cy="2881313"/>
          </a:xfrm>
          <a:prstGeom prst="ellipse">
            <a:avLst/>
          </a:prstGeom>
          <a:solidFill>
            <a:srgbClr val="FFFF00"/>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3200" b="0">
                <a:ea typeface="华文楷体" panose="02010600040101010101" pitchFamily="2" charset="-122"/>
                <a:cs typeface="宋体" panose="02010600030101010101" pitchFamily="2" charset="-122"/>
              </a:rPr>
              <a:t>太阳</a:t>
            </a:r>
          </a:p>
        </p:txBody>
      </p:sp>
      <p:grpSp>
        <p:nvGrpSpPr>
          <p:cNvPr id="18" name="Group 5">
            <a:extLst>
              <a:ext uri="{FF2B5EF4-FFF2-40B4-BE49-F238E27FC236}">
                <a16:creationId xmlns:a16="http://schemas.microsoft.com/office/drawing/2014/main" id="{ABC34B46-E2A9-4CE1-9B78-D01D0A2FDEB8}"/>
              </a:ext>
            </a:extLst>
          </p:cNvPr>
          <p:cNvGrpSpPr>
            <a:grpSpLocks/>
          </p:cNvGrpSpPr>
          <p:nvPr/>
        </p:nvGrpSpPr>
        <p:grpSpPr bwMode="auto">
          <a:xfrm>
            <a:off x="3877356" y="3693886"/>
            <a:ext cx="3435350" cy="2089150"/>
            <a:chOff x="975" y="1842"/>
            <a:chExt cx="2164" cy="1316"/>
          </a:xfrm>
        </p:grpSpPr>
        <p:sp>
          <p:nvSpPr>
            <p:cNvPr id="19" name="AutoShape 6">
              <a:extLst>
                <a:ext uri="{FF2B5EF4-FFF2-40B4-BE49-F238E27FC236}">
                  <a16:creationId xmlns:a16="http://schemas.microsoft.com/office/drawing/2014/main" id="{4C3FE588-4C03-BB2E-409F-AD0396ADEDAB}"/>
                </a:ext>
              </a:extLst>
            </p:cNvPr>
            <p:cNvSpPr>
              <a:spLocks noChangeArrowheads="1"/>
            </p:cNvSpPr>
            <p:nvPr/>
          </p:nvSpPr>
          <p:spPr bwMode="auto">
            <a:xfrm>
              <a:off x="1169" y="2432"/>
              <a:ext cx="1769" cy="726"/>
            </a:xfrm>
            <a:prstGeom prst="rightArrow">
              <a:avLst>
                <a:gd name="adj1" fmla="val 50000"/>
                <a:gd name="adj2" fmla="val 60916"/>
              </a:avLst>
            </a:prstGeom>
            <a:solidFill>
              <a:schemeClr val="accent1"/>
            </a:solidFill>
            <a:ln w="9525">
              <a:solidFill>
                <a:schemeClr val="tx1"/>
              </a:solidFill>
              <a:miter lim="800000"/>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p>
          </p:txBody>
        </p:sp>
        <p:sp>
          <p:nvSpPr>
            <p:cNvPr id="20" name="Text Box 7">
              <a:extLst>
                <a:ext uri="{FF2B5EF4-FFF2-40B4-BE49-F238E27FC236}">
                  <a16:creationId xmlns:a16="http://schemas.microsoft.com/office/drawing/2014/main" id="{3FF2CE2A-0EFF-E565-2396-2745590A7CDD}"/>
                </a:ext>
              </a:extLst>
            </p:cNvPr>
            <p:cNvSpPr txBox="1">
              <a:spLocks noChangeArrowheads="1"/>
            </p:cNvSpPr>
            <p:nvPr/>
          </p:nvSpPr>
          <p:spPr bwMode="auto">
            <a:xfrm>
              <a:off x="975" y="1842"/>
              <a:ext cx="21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输入高品质太阳能</a:t>
              </a:r>
            </a:p>
          </p:txBody>
        </p:sp>
      </p:grpSp>
      <p:sp>
        <p:nvSpPr>
          <p:cNvPr id="21" name="Oval 8">
            <a:extLst>
              <a:ext uri="{FF2B5EF4-FFF2-40B4-BE49-F238E27FC236}">
                <a16:creationId xmlns:a16="http://schemas.microsoft.com/office/drawing/2014/main" id="{D3AD36C3-695B-7AD1-E22D-AD6E1BEC0616}"/>
              </a:ext>
            </a:extLst>
          </p:cNvPr>
          <p:cNvSpPr>
            <a:spLocks noChangeArrowheads="1"/>
          </p:cNvSpPr>
          <p:nvPr/>
        </p:nvSpPr>
        <p:spPr bwMode="auto">
          <a:xfrm>
            <a:off x="7188882" y="4486050"/>
            <a:ext cx="1368425" cy="1366837"/>
          </a:xfrm>
          <a:prstGeom prst="ellipse">
            <a:avLst/>
          </a:prstGeom>
          <a:solidFill>
            <a:srgbClr val="FFFF85"/>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0">
                <a:ea typeface="华文楷体" panose="02010600040101010101" pitchFamily="2" charset="-122"/>
                <a:cs typeface="宋体" panose="02010600030101010101" pitchFamily="2" charset="-122"/>
              </a:rPr>
              <a:t>地球</a:t>
            </a:r>
          </a:p>
        </p:txBody>
      </p:sp>
      <p:sp>
        <p:nvSpPr>
          <p:cNvPr id="22" name="Text Box 9">
            <a:extLst>
              <a:ext uri="{FF2B5EF4-FFF2-40B4-BE49-F238E27FC236}">
                <a16:creationId xmlns:a16="http://schemas.microsoft.com/office/drawing/2014/main" id="{B6B1C526-97DD-D479-5016-6F4B7E9468B3}"/>
              </a:ext>
            </a:extLst>
          </p:cNvPr>
          <p:cNvSpPr txBox="1">
            <a:spLocks noChangeArrowheads="1"/>
          </p:cNvSpPr>
          <p:nvPr/>
        </p:nvSpPr>
        <p:spPr bwMode="auto">
          <a:xfrm>
            <a:off x="6396718" y="6070375"/>
            <a:ext cx="4248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地球辐射出低品质热能</a:t>
            </a:r>
          </a:p>
        </p:txBody>
      </p:sp>
      <p:grpSp>
        <p:nvGrpSpPr>
          <p:cNvPr id="23" name="Group 10">
            <a:extLst>
              <a:ext uri="{FF2B5EF4-FFF2-40B4-BE49-F238E27FC236}">
                <a16:creationId xmlns:a16="http://schemas.microsoft.com/office/drawing/2014/main" id="{863BD818-2B13-923A-0232-772A17AE3036}"/>
              </a:ext>
            </a:extLst>
          </p:cNvPr>
          <p:cNvGrpSpPr>
            <a:grpSpLocks/>
          </p:cNvGrpSpPr>
          <p:nvPr/>
        </p:nvGrpSpPr>
        <p:grpSpPr bwMode="auto">
          <a:xfrm>
            <a:off x="7622269" y="3911374"/>
            <a:ext cx="1584325" cy="1295400"/>
            <a:chOff x="3334" y="1979"/>
            <a:chExt cx="998" cy="816"/>
          </a:xfrm>
        </p:grpSpPr>
        <p:sp>
          <p:nvSpPr>
            <p:cNvPr id="24" name="Line 11">
              <a:extLst>
                <a:ext uri="{FF2B5EF4-FFF2-40B4-BE49-F238E27FC236}">
                  <a16:creationId xmlns:a16="http://schemas.microsoft.com/office/drawing/2014/main" id="{5C1B58A4-BD44-012B-FF07-0EB2EA6F510C}"/>
                </a:ext>
              </a:extLst>
            </p:cNvPr>
            <p:cNvSpPr>
              <a:spLocks noChangeShapeType="1"/>
            </p:cNvSpPr>
            <p:nvPr/>
          </p:nvSpPr>
          <p:spPr bwMode="auto">
            <a:xfrm flipH="1" flipV="1">
              <a:off x="3334" y="1979"/>
              <a:ext cx="9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2">
              <a:extLst>
                <a:ext uri="{FF2B5EF4-FFF2-40B4-BE49-F238E27FC236}">
                  <a16:creationId xmlns:a16="http://schemas.microsoft.com/office/drawing/2014/main" id="{01379185-0D68-419B-6443-1893669505EF}"/>
                </a:ext>
              </a:extLst>
            </p:cNvPr>
            <p:cNvSpPr>
              <a:spLocks noChangeShapeType="1"/>
            </p:cNvSpPr>
            <p:nvPr/>
          </p:nvSpPr>
          <p:spPr bwMode="auto">
            <a:xfrm flipV="1">
              <a:off x="3561" y="1979"/>
              <a:ext cx="45"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13">
              <a:extLst>
                <a:ext uri="{FF2B5EF4-FFF2-40B4-BE49-F238E27FC236}">
                  <a16:creationId xmlns:a16="http://schemas.microsoft.com/office/drawing/2014/main" id="{EDA5ADFF-2510-44D6-F526-7679B1434CAE}"/>
                </a:ext>
              </a:extLst>
            </p:cNvPr>
            <p:cNvSpPr>
              <a:spLocks noChangeShapeType="1"/>
            </p:cNvSpPr>
            <p:nvPr/>
          </p:nvSpPr>
          <p:spPr bwMode="auto">
            <a:xfrm flipV="1">
              <a:off x="3651" y="2024"/>
              <a:ext cx="136"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14">
              <a:extLst>
                <a:ext uri="{FF2B5EF4-FFF2-40B4-BE49-F238E27FC236}">
                  <a16:creationId xmlns:a16="http://schemas.microsoft.com/office/drawing/2014/main" id="{BE56C4B7-7DA9-D182-6FE7-C1B1C4D76D14}"/>
                </a:ext>
              </a:extLst>
            </p:cNvPr>
            <p:cNvSpPr>
              <a:spLocks noChangeShapeType="1"/>
            </p:cNvSpPr>
            <p:nvPr/>
          </p:nvSpPr>
          <p:spPr bwMode="auto">
            <a:xfrm flipV="1">
              <a:off x="3742" y="2115"/>
              <a:ext cx="181" cy="3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15">
              <a:extLst>
                <a:ext uri="{FF2B5EF4-FFF2-40B4-BE49-F238E27FC236}">
                  <a16:creationId xmlns:a16="http://schemas.microsoft.com/office/drawing/2014/main" id="{D3267B2D-6D47-9DA7-FE21-FFB21107BA86}"/>
                </a:ext>
              </a:extLst>
            </p:cNvPr>
            <p:cNvSpPr>
              <a:spLocks noChangeShapeType="1"/>
            </p:cNvSpPr>
            <p:nvPr/>
          </p:nvSpPr>
          <p:spPr bwMode="auto">
            <a:xfrm flipV="1">
              <a:off x="3787" y="2205"/>
              <a:ext cx="272"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16">
              <a:extLst>
                <a:ext uri="{FF2B5EF4-FFF2-40B4-BE49-F238E27FC236}">
                  <a16:creationId xmlns:a16="http://schemas.microsoft.com/office/drawing/2014/main" id="{D729D95E-BDEB-F57D-0D6F-607CB2A3B432}"/>
                </a:ext>
              </a:extLst>
            </p:cNvPr>
            <p:cNvSpPr>
              <a:spLocks noChangeShapeType="1"/>
            </p:cNvSpPr>
            <p:nvPr/>
          </p:nvSpPr>
          <p:spPr bwMode="auto">
            <a:xfrm flipV="1">
              <a:off x="3833" y="2340"/>
              <a:ext cx="317" cy="2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7">
              <a:extLst>
                <a:ext uri="{FF2B5EF4-FFF2-40B4-BE49-F238E27FC236}">
                  <a16:creationId xmlns:a16="http://schemas.microsoft.com/office/drawing/2014/main" id="{343CCE94-0822-CFE2-3879-ACD161595B17}"/>
                </a:ext>
              </a:extLst>
            </p:cNvPr>
            <p:cNvSpPr>
              <a:spLocks noChangeShapeType="1"/>
            </p:cNvSpPr>
            <p:nvPr/>
          </p:nvSpPr>
          <p:spPr bwMode="auto">
            <a:xfrm flipV="1">
              <a:off x="3924" y="2523"/>
              <a:ext cx="317" cy="1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18">
              <a:extLst>
                <a:ext uri="{FF2B5EF4-FFF2-40B4-BE49-F238E27FC236}">
                  <a16:creationId xmlns:a16="http://schemas.microsoft.com/office/drawing/2014/main" id="{9FAD1F97-7A8B-249C-4E44-190689AD3128}"/>
                </a:ext>
              </a:extLst>
            </p:cNvPr>
            <p:cNvSpPr>
              <a:spLocks noChangeShapeType="1"/>
            </p:cNvSpPr>
            <p:nvPr/>
          </p:nvSpPr>
          <p:spPr bwMode="auto">
            <a:xfrm flipV="1">
              <a:off x="3923" y="2704"/>
              <a:ext cx="363" cy="4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19">
              <a:extLst>
                <a:ext uri="{FF2B5EF4-FFF2-40B4-BE49-F238E27FC236}">
                  <a16:creationId xmlns:a16="http://schemas.microsoft.com/office/drawing/2014/main" id="{07A841EB-4197-7595-54B8-B25EB31A9124}"/>
                </a:ext>
              </a:extLst>
            </p:cNvPr>
            <p:cNvSpPr>
              <a:spLocks noChangeShapeType="1"/>
            </p:cNvSpPr>
            <p:nvPr/>
          </p:nvSpPr>
          <p:spPr bwMode="auto">
            <a:xfrm>
              <a:off x="3923" y="2795"/>
              <a:ext cx="40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20">
            <a:extLst>
              <a:ext uri="{FF2B5EF4-FFF2-40B4-BE49-F238E27FC236}">
                <a16:creationId xmlns:a16="http://schemas.microsoft.com/office/drawing/2014/main" id="{662F085D-AA33-FD71-0902-59235CB9F710}"/>
              </a:ext>
            </a:extLst>
          </p:cNvPr>
          <p:cNvSpPr txBox="1">
            <a:spLocks noChangeArrowheads="1"/>
          </p:cNvSpPr>
          <p:nvPr/>
        </p:nvSpPr>
        <p:spPr bwMode="auto">
          <a:xfrm>
            <a:off x="9432019" y="4630511"/>
            <a:ext cx="2041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0">
                <a:ea typeface="华文楷体" panose="02010600040101010101" pitchFamily="2" charset="-122"/>
                <a:cs typeface="宋体" panose="02010600030101010101" pitchFamily="2" charset="-122"/>
              </a:rPr>
              <a:t>+【</a:t>
            </a:r>
            <a:r>
              <a:rPr lang="zh-CN" altLang="en-US" sz="3200" b="0">
                <a:ea typeface="华文楷体" panose="02010600040101010101" pitchFamily="2" charset="-122"/>
                <a:cs typeface="宋体" panose="02010600030101010101" pitchFamily="2" charset="-122"/>
              </a:rPr>
              <a:t>生命</a:t>
            </a:r>
            <a:r>
              <a:rPr lang="en-US" altLang="zh-CN" sz="3200" b="0">
                <a:ea typeface="华文楷体" panose="02010600040101010101" pitchFamily="2" charset="-122"/>
                <a:cs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6" grpId="0"/>
      <p:bldP spid="17" grpId="0" animBg="1"/>
      <p:bldP spid="21" grpId="0" animBg="1"/>
      <p:bldP spid="22" grpId="0"/>
      <p:bldP spid="3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0A796F74-2600-0BFB-CE55-C19291C41F61}"/>
              </a:ext>
            </a:extLst>
          </p:cNvPr>
          <p:cNvSpPr txBox="1">
            <a:spLocks noChangeArrowheads="1"/>
          </p:cNvSpPr>
          <p:nvPr/>
        </p:nvSpPr>
        <p:spPr bwMode="auto">
          <a:xfrm>
            <a:off x="2224542" y="1098219"/>
            <a:ext cx="7121525" cy="608012"/>
          </a:xfrm>
          <a:prstGeom prst="rect">
            <a:avLst/>
          </a:prstGeom>
          <a:solidFill>
            <a:schemeClr val="bg1"/>
          </a:solidFill>
          <a:ln w="28575">
            <a:noFill/>
            <a:miter lim="800000"/>
            <a:headEnd/>
            <a:tailEnd/>
          </a:ln>
          <a:effectLst/>
        </p:spPr>
        <p:txBody>
          <a:bodyPr wrap="none">
            <a:spAutoFit/>
          </a:bodyPr>
          <a:lstStyle/>
          <a:p>
            <a:pPr>
              <a:defRPr/>
            </a:pPr>
            <a:r>
              <a:rPr lang="zh-CN" altLang="en-US" sz="3200" dirty="0">
                <a:ea typeface="华文楷体" pitchFamily="2" charset="-122"/>
                <a:cs typeface="宋体" pitchFamily="2" charset="-122"/>
              </a:rPr>
              <a:t>能量流过系统可以使系统有序性增加。</a:t>
            </a:r>
          </a:p>
        </p:txBody>
      </p:sp>
      <p:sp>
        <p:nvSpPr>
          <p:cNvPr id="31748" name="Text Box 4">
            <a:extLst>
              <a:ext uri="{FF2B5EF4-FFF2-40B4-BE49-F238E27FC236}">
                <a16:creationId xmlns:a16="http://schemas.microsoft.com/office/drawing/2014/main" id="{684ECCD0-5ACF-E083-02A5-71C81D8A3BC3}"/>
              </a:ext>
            </a:extLst>
          </p:cNvPr>
          <p:cNvSpPr txBox="1">
            <a:spLocks noChangeArrowheads="1"/>
          </p:cNvSpPr>
          <p:nvPr/>
        </p:nvSpPr>
        <p:spPr bwMode="auto">
          <a:xfrm>
            <a:off x="997630" y="4102221"/>
            <a:ext cx="10461397" cy="182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0" dirty="0">
                <a:ea typeface="华文楷体" panose="02010600040101010101" pitchFamily="2" charset="-122"/>
                <a:cs typeface="宋体" panose="02010600030101010101" pitchFamily="2" charset="-122"/>
              </a:rPr>
              <a:t>     </a:t>
            </a:r>
            <a:r>
              <a:rPr lang="zh-CN" altLang="en-US" sz="3200" b="0" dirty="0">
                <a:solidFill>
                  <a:srgbClr val="FF0000"/>
                </a:solidFill>
                <a:ea typeface="华文楷体" panose="02010600040101010101" pitchFamily="2" charset="-122"/>
                <a:cs typeface="宋体" panose="02010600030101010101" pitchFamily="2" charset="-122"/>
              </a:rPr>
              <a:t>生命不能无中生有创造有序。生命俘获有序，</a:t>
            </a:r>
            <a:r>
              <a:rPr lang="zh-CN" altLang="en-US" sz="3200" b="0" dirty="0">
                <a:ea typeface="华文楷体" panose="02010600040101010101" pitchFamily="2" charset="-122"/>
                <a:cs typeface="宋体" panose="02010600030101010101" pitchFamily="2" charset="-122"/>
              </a:rPr>
              <a:t>有序根本上都来自于太阳。这些有序通过一系列错综复杂的过程，慢慢流经生物圈，这些过程一般地称为</a:t>
            </a:r>
            <a:r>
              <a:rPr lang="zh-CN" altLang="en-US" sz="3200" b="0" dirty="0">
                <a:solidFill>
                  <a:srgbClr val="FF0000"/>
                </a:solidFill>
                <a:ea typeface="华文楷体" panose="02010600040101010101" pitchFamily="2" charset="-122"/>
                <a:cs typeface="宋体" panose="02010600030101010101" pitchFamily="2" charset="-122"/>
              </a:rPr>
              <a:t>自由能转换</a:t>
            </a:r>
            <a:r>
              <a:rPr lang="zh-CN" altLang="en-US" sz="3200" b="0" dirty="0">
                <a:ea typeface="华文楷体" panose="02010600040101010101" pitchFamily="2" charset="-122"/>
                <a:cs typeface="宋体" panose="02010600030101010101" pitchFamily="2" charset="-122"/>
              </a:rPr>
              <a:t>。</a:t>
            </a:r>
          </a:p>
        </p:txBody>
      </p:sp>
      <p:sp>
        <p:nvSpPr>
          <p:cNvPr id="31749" name="Text Box 5">
            <a:extLst>
              <a:ext uri="{FF2B5EF4-FFF2-40B4-BE49-F238E27FC236}">
                <a16:creationId xmlns:a16="http://schemas.microsoft.com/office/drawing/2014/main" id="{504263AA-1C7C-3CD0-3717-17E87EEC660C}"/>
              </a:ext>
            </a:extLst>
          </p:cNvPr>
          <p:cNvSpPr txBox="1">
            <a:spLocks noChangeArrowheads="1"/>
          </p:cNvSpPr>
          <p:nvPr/>
        </p:nvSpPr>
        <p:spPr bwMode="auto">
          <a:xfrm>
            <a:off x="903288" y="1894916"/>
            <a:ext cx="10258197" cy="182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0" dirty="0">
                <a:ea typeface="华文楷体" panose="02010600040101010101" pitchFamily="2" charset="-122"/>
                <a:cs typeface="宋体" panose="02010600030101010101" pitchFamily="2" charset="-122"/>
              </a:rPr>
              <a:t>    动植物消耗高品质能量，放出低品质能量，用来抵抗热无序的退化趋势。如果有剩余，则创造有序，如盖房子等活动，</a:t>
            </a:r>
            <a:r>
              <a:rPr lang="zh-CN" altLang="en-US" sz="3200" b="0" dirty="0">
                <a:solidFill>
                  <a:srgbClr val="FF0000"/>
                </a:solidFill>
                <a:ea typeface="华文楷体" panose="02010600040101010101" pitchFamily="2" charset="-122"/>
                <a:cs typeface="宋体" panose="02010600030101010101" pitchFamily="2" charset="-122"/>
              </a:rPr>
              <a:t>所以动植物消耗的是有序，而不是能量。</a:t>
            </a:r>
          </a:p>
        </p:txBody>
      </p:sp>
      <p:sp>
        <p:nvSpPr>
          <p:cNvPr id="2" name="Text Box 13">
            <a:hlinkClick r:id="" action="ppaction://noaction"/>
            <a:extLst>
              <a:ext uri="{FF2B5EF4-FFF2-40B4-BE49-F238E27FC236}">
                <a16:creationId xmlns:a16="http://schemas.microsoft.com/office/drawing/2014/main" id="{9AB65220-4480-788B-7011-B679D5271197}"/>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有序与无序</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nimBg="1"/>
      <p:bldP spid="31748" grpId="0"/>
      <p:bldP spid="3174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F523F54-A515-2030-BC06-983C8E8E7E92}"/>
              </a:ext>
            </a:extLst>
          </p:cNvPr>
          <p:cNvSpPr txBox="1">
            <a:spLocks/>
          </p:cNvSpPr>
          <p:nvPr/>
        </p:nvSpPr>
        <p:spPr>
          <a:xfrm>
            <a:off x="1599478" y="2311400"/>
            <a:ext cx="9511207" cy="4456113"/>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zh-CN" altLang="en-US" sz="3200" dirty="0"/>
              <a:t>宇宙不能看成孤立系统</a:t>
            </a:r>
            <a:endParaRPr lang="en-US" altLang="zh-CN" sz="3200" dirty="0"/>
          </a:p>
          <a:p>
            <a:pPr>
              <a:buFontTx/>
              <a:buChar char="-"/>
            </a:pPr>
            <a:endParaRPr lang="zh-CN" altLang="en-US" sz="3200" dirty="0"/>
          </a:p>
          <a:p>
            <a:pPr marL="0" indent="0">
              <a:buNone/>
            </a:pPr>
            <a:r>
              <a:rPr lang="en-US" altLang="zh-CN" sz="3200" dirty="0"/>
              <a:t>- </a:t>
            </a:r>
            <a:r>
              <a:rPr lang="zh-CN" altLang="en-US" sz="3200" dirty="0"/>
              <a:t>宇宙在膨胀，每一个状态对应一个最大熵值 ，膨胀着的宇宙这个值也随着系统的膨胀而增加。当膨胀得足够快时，实际的熵增落后于最大熵值的增长。</a:t>
            </a:r>
          </a:p>
        </p:txBody>
      </p:sp>
      <p:sp>
        <p:nvSpPr>
          <p:cNvPr id="3" name="Text Box 13">
            <a:hlinkClick r:id="" action="ppaction://noaction"/>
            <a:extLst>
              <a:ext uri="{FF2B5EF4-FFF2-40B4-BE49-F238E27FC236}">
                <a16:creationId xmlns:a16="http://schemas.microsoft.com/office/drawing/2014/main" id="{55C7A628-84F9-7800-1BF8-103E362D797D}"/>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热寂说</a:t>
            </a:r>
            <a:r>
              <a:rPr kumimoji="1" lang="en-US" altLang="zh-CN"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a:t>
            </a:r>
            <a:endParaRPr kumimoji="1" lang="zh-CN" altLang="en-US" sz="3200" dirty="0">
              <a:solidFill>
                <a:srgbClr val="0066FF"/>
              </a:solidFill>
              <a:latin typeface="+mn-lt"/>
              <a:ea typeface="+mn-ea"/>
              <a:cs typeface="Times New Roman" panose="02020603050405020304" pitchFamily="18" charset="0"/>
            </a:endParaRPr>
          </a:p>
        </p:txBody>
      </p:sp>
      <p:sp>
        <p:nvSpPr>
          <p:cNvPr id="4" name="Rectangle 4">
            <a:extLst>
              <a:ext uri="{FF2B5EF4-FFF2-40B4-BE49-F238E27FC236}">
                <a16:creationId xmlns:a16="http://schemas.microsoft.com/office/drawing/2014/main" id="{89CDF72B-986D-1426-6AF2-96CDA1124BA3}"/>
              </a:ext>
            </a:extLst>
          </p:cNvPr>
          <p:cNvSpPr/>
          <p:nvPr/>
        </p:nvSpPr>
        <p:spPr>
          <a:xfrm>
            <a:off x="2378899" y="1232949"/>
            <a:ext cx="6670758" cy="645177"/>
          </a:xfrm>
          <a:prstGeom prst="rect">
            <a:avLst/>
          </a:prstGeom>
          <a:noFill/>
          <a:ln w="9525">
            <a:noFill/>
          </a:ln>
        </p:spPr>
        <p:txBody>
          <a:bodyPr wrap="square">
            <a:spAutoFit/>
          </a:bodyPr>
          <a:lstStyle/>
          <a:p>
            <a:pPr eaLnBrk="1" hangingPunct="1">
              <a:lnSpc>
                <a:spcPct val="120000"/>
              </a:lnSpc>
              <a:spcBef>
                <a:spcPct val="50000"/>
              </a:spcBef>
            </a:pPr>
            <a:r>
              <a:rPr lang="zh-CN" altLang="en-US" sz="3200" dirty="0">
                <a:solidFill>
                  <a:srgbClr val="000000"/>
                </a:solidFill>
                <a:latin typeface="Arial" panose="020B0604020202020204" pitchFamily="34" charset="0"/>
              </a:rPr>
              <a:t>宇宙的结局是一个死寂的永恒状态？</a:t>
            </a:r>
          </a:p>
        </p:txBody>
      </p:sp>
    </p:spTree>
    <p:extLst>
      <p:ext uri="{BB962C8B-B14F-4D97-AF65-F5344CB8AC3E}">
        <p14:creationId xmlns:p14="http://schemas.microsoft.com/office/powerpoint/2010/main" val="391884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a:extLst>
              <a:ext uri="{FF2B5EF4-FFF2-40B4-BE49-F238E27FC236}">
                <a16:creationId xmlns:a16="http://schemas.microsoft.com/office/drawing/2014/main" id="{C44FCEEE-BD07-ADCD-44E4-76994D27C645}"/>
              </a:ext>
            </a:extLst>
          </p:cNvPr>
          <p:cNvSpPr txBox="1">
            <a:spLocks noChangeArrowheads="1"/>
          </p:cNvSpPr>
          <p:nvPr/>
        </p:nvSpPr>
        <p:spPr bwMode="auto">
          <a:xfrm>
            <a:off x="1905000" y="2071688"/>
            <a:ext cx="3657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chemeClr val="bg1"/>
                </a:solidFill>
                <a:latin typeface="+mn-ea"/>
              </a:rPr>
              <a:t>（1）热力学第一定律</a:t>
            </a:r>
          </a:p>
        </p:txBody>
      </p:sp>
      <mc:AlternateContent xmlns:mc="http://schemas.openxmlformats.org/markup-compatibility/2006" xmlns:a14="http://schemas.microsoft.com/office/drawing/2010/main">
        <mc:Choice Requires="a14">
          <p:sp>
            <p:nvSpPr>
              <p:cNvPr id="100355" name="Object 3">
                <a:extLst>
                  <a:ext uri="{FF2B5EF4-FFF2-40B4-BE49-F238E27FC236}">
                    <a16:creationId xmlns:a16="http://schemas.microsoft.com/office/drawing/2014/main" id="{33799BA9-9723-D002-FC6D-1AD0B48E77AB}"/>
                  </a:ext>
                </a:extLst>
              </p:cNvPr>
              <p:cNvSpPr txBox="1"/>
              <p:nvPr/>
            </p:nvSpPr>
            <p:spPr bwMode="auto">
              <a:xfrm>
                <a:off x="6297614" y="2121581"/>
                <a:ext cx="2205858" cy="5429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𝑄</m:t>
                      </m:r>
                      <m:r>
                        <a:rPr lang="zh-CN" altLang="en-US" sz="2800" i="1" smtClean="0">
                          <a:solidFill>
                            <a:srgbClr val="000000"/>
                          </a:solidFill>
                          <a:latin typeface="Cambria Math" panose="02040503050406030204" pitchFamily="18" charset="0"/>
                        </a:rPr>
                        <m:t>=</m:t>
                      </m:r>
                      <m:r>
                        <m:rPr>
                          <m:sty m:val="p"/>
                        </m:rPr>
                        <a:rPr lang="zh-CN" altLang="en-US" sz="2800" i="1" smtClean="0">
                          <a:solidFill>
                            <a:srgbClr val="000000"/>
                          </a:solidFill>
                          <a:latin typeface="Cambria Math" panose="02040503050406030204" pitchFamily="18" charset="0"/>
                        </a:rPr>
                        <m:t>Δ</m:t>
                      </m:r>
                      <m:r>
                        <a:rPr lang="zh-CN" altLang="en-US" sz="2800" i="1" smtClean="0">
                          <a:solidFill>
                            <a:srgbClr val="000000"/>
                          </a:solidFill>
                          <a:latin typeface="Cambria Math" panose="02040503050406030204" pitchFamily="18" charset="0"/>
                        </a:rPr>
                        <m:t>𝐸</m:t>
                      </m:r>
                      <m:r>
                        <a:rPr lang="zh-CN" altLang="en-US" sz="280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𝐴</m:t>
                      </m:r>
                    </m:oMath>
                  </m:oMathPara>
                </a14:m>
                <a:endParaRPr lang="zh-CN" altLang="en-US" sz="2800" dirty="0">
                  <a:latin typeface="+mn-ea"/>
                </a:endParaRPr>
              </a:p>
            </p:txBody>
          </p:sp>
        </mc:Choice>
        <mc:Fallback xmlns="">
          <p:sp>
            <p:nvSpPr>
              <p:cNvPr id="100355" name="Object 3">
                <a:extLst>
                  <a:ext uri="{FF2B5EF4-FFF2-40B4-BE49-F238E27FC236}">
                    <a16:creationId xmlns:a16="http://schemas.microsoft.com/office/drawing/2014/main" id="{33799BA9-9723-D002-FC6D-1AD0B48E77AB}"/>
                  </a:ext>
                </a:extLst>
              </p:cNvPr>
              <p:cNvSpPr txBox="1">
                <a:spLocks noRot="1" noChangeAspect="1" noMove="1" noResize="1" noEditPoints="1" noAdjustHandles="1" noChangeArrowheads="1" noChangeShapeType="1" noTextEdit="1"/>
              </p:cNvSpPr>
              <p:nvPr/>
            </p:nvSpPr>
            <p:spPr bwMode="auto">
              <a:xfrm>
                <a:off x="6297614" y="2121581"/>
                <a:ext cx="2205858" cy="542925"/>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356" name="Object 4">
                <a:extLst>
                  <a:ext uri="{FF2B5EF4-FFF2-40B4-BE49-F238E27FC236}">
                    <a16:creationId xmlns:a16="http://schemas.microsoft.com/office/drawing/2014/main" id="{C0129F36-0812-0013-F557-8FAA7F8A1052}"/>
                  </a:ext>
                </a:extLst>
              </p:cNvPr>
              <p:cNvSpPr txBox="1"/>
              <p:nvPr/>
            </p:nvSpPr>
            <p:spPr bwMode="auto">
              <a:xfrm>
                <a:off x="8458200" y="2120901"/>
                <a:ext cx="2489735" cy="514350"/>
              </a:xfrm>
              <a:prstGeom prst="rect">
                <a:avLst/>
              </a:prstGeom>
              <a:noFill/>
              <a:ln>
                <a:noFill/>
              </a:ln>
              <a:effectLst/>
            </p:spPr>
            <p:txBody>
              <a:bodyPr>
                <a:noAutofit/>
              </a:bodyPr>
              <a:lstStyle/>
              <a:p>
                <a14:m>
                  <m:oMath xmlns:m="http://schemas.openxmlformats.org/officeDocument/2006/math">
                    <m:r>
                      <a:rPr lang="zh-CN" altLang="en-US" sz="2800" i="1">
                        <a:solidFill>
                          <a:srgbClr val="000000"/>
                        </a:solidFill>
                        <a:latin typeface="Cambria Math" panose="02040503050406030204" pitchFamily="18" charset="0"/>
                      </a:rPr>
                      <m:t>𝑑𝑄</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oMath>
                </a14:m>
                <a:r>
                  <a:rPr lang="en-US" altLang="zh-CN" sz="2800" dirty="0">
                    <a:latin typeface="+mn-ea"/>
                  </a:rPr>
                  <a:t>A</a:t>
                </a:r>
                <a:endParaRPr lang="zh-CN" altLang="en-US" sz="2800" dirty="0">
                  <a:latin typeface="+mn-ea"/>
                </a:endParaRPr>
              </a:p>
            </p:txBody>
          </p:sp>
        </mc:Choice>
        <mc:Fallback xmlns="">
          <p:sp>
            <p:nvSpPr>
              <p:cNvPr id="100356" name="Object 4">
                <a:extLst>
                  <a:ext uri="{FF2B5EF4-FFF2-40B4-BE49-F238E27FC236}">
                    <a16:creationId xmlns:a16="http://schemas.microsoft.com/office/drawing/2014/main" id="{C0129F36-0812-0013-F557-8FAA7F8A1052}"/>
                  </a:ext>
                </a:extLst>
              </p:cNvPr>
              <p:cNvSpPr txBox="1">
                <a:spLocks noRot="1" noChangeAspect="1" noMove="1" noResize="1" noEditPoints="1" noAdjustHandles="1" noChangeArrowheads="1" noChangeShapeType="1" noTextEdit="1"/>
              </p:cNvSpPr>
              <p:nvPr/>
            </p:nvSpPr>
            <p:spPr bwMode="auto">
              <a:xfrm>
                <a:off x="8458200" y="2120901"/>
                <a:ext cx="2489735" cy="514350"/>
              </a:xfrm>
              <a:prstGeom prst="rect">
                <a:avLst/>
              </a:prstGeom>
              <a:blipFill>
                <a:blip r:embed="rId3"/>
                <a:stretch>
                  <a:fillRect t="-13095" r="-2451" b="-34524"/>
                </a:stretch>
              </a:blipFill>
              <a:ln>
                <a:noFill/>
              </a:ln>
              <a:effectLst/>
            </p:spPr>
            <p:txBody>
              <a:bodyPr/>
              <a:lstStyle/>
              <a:p>
                <a:r>
                  <a:rPr lang="zh-CN" altLang="en-US">
                    <a:noFill/>
                  </a:rPr>
                  <a:t> </a:t>
                </a:r>
              </a:p>
            </p:txBody>
          </p:sp>
        </mc:Fallback>
      </mc:AlternateContent>
      <p:sp>
        <p:nvSpPr>
          <p:cNvPr id="100357" name="Text Box 5">
            <a:extLst>
              <a:ext uri="{FF2B5EF4-FFF2-40B4-BE49-F238E27FC236}">
                <a16:creationId xmlns:a16="http://schemas.microsoft.com/office/drawing/2014/main" id="{924C1343-F0AA-28DA-C3A4-97A9263DD2EC}"/>
              </a:ext>
            </a:extLst>
          </p:cNvPr>
          <p:cNvSpPr txBox="1">
            <a:spLocks noChangeArrowheads="1"/>
          </p:cNvSpPr>
          <p:nvPr/>
        </p:nvSpPr>
        <p:spPr bwMode="auto">
          <a:xfrm>
            <a:off x="4383366" y="503240"/>
            <a:ext cx="3505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dirty="0">
                <a:solidFill>
                  <a:srgbClr val="0066FF"/>
                </a:solidFill>
                <a:latin typeface="Times New Roman" panose="02020603050405020304" pitchFamily="18" charset="0"/>
              </a:rPr>
              <a:t>热力学总结</a:t>
            </a:r>
            <a:endParaRPr lang="zh-CN" altLang="zh-CN" sz="3600" b="1" dirty="0">
              <a:solidFill>
                <a:srgbClr val="0066FF"/>
              </a:solidFill>
              <a:latin typeface="Times New Roman" panose="02020603050405020304" pitchFamily="18" charset="0"/>
            </a:endParaRPr>
          </a:p>
        </p:txBody>
      </p:sp>
      <p:sp>
        <p:nvSpPr>
          <p:cNvPr id="100358" name="Text Box 6">
            <a:extLst>
              <a:ext uri="{FF2B5EF4-FFF2-40B4-BE49-F238E27FC236}">
                <a16:creationId xmlns:a16="http://schemas.microsoft.com/office/drawing/2014/main" id="{8C92D05B-775A-41D6-BB61-83F7B174CBEF}"/>
              </a:ext>
            </a:extLst>
          </p:cNvPr>
          <p:cNvSpPr txBox="1">
            <a:spLocks noChangeArrowheads="1"/>
          </p:cNvSpPr>
          <p:nvPr/>
        </p:nvSpPr>
        <p:spPr bwMode="auto">
          <a:xfrm>
            <a:off x="1537493" y="2113544"/>
            <a:ext cx="655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mn-ea"/>
              </a:rPr>
              <a:t>2、</a:t>
            </a:r>
            <a:r>
              <a:rPr lang="zh-CN" altLang="zh-CN" sz="2800" b="1" dirty="0">
                <a:latin typeface="+mn-ea"/>
              </a:rPr>
              <a:t>热力学第一定律及其应用</a:t>
            </a:r>
          </a:p>
        </p:txBody>
      </p:sp>
      <p:sp>
        <p:nvSpPr>
          <p:cNvPr id="100359" name="Text Box 7">
            <a:extLst>
              <a:ext uri="{FF2B5EF4-FFF2-40B4-BE49-F238E27FC236}">
                <a16:creationId xmlns:a16="http://schemas.microsoft.com/office/drawing/2014/main" id="{F7D86590-BA7A-1E3B-0391-13C0F1F845EF}"/>
              </a:ext>
            </a:extLst>
          </p:cNvPr>
          <p:cNvSpPr txBox="1">
            <a:spLocks noChangeArrowheads="1"/>
          </p:cNvSpPr>
          <p:nvPr/>
        </p:nvSpPr>
        <p:spPr bwMode="auto">
          <a:xfrm>
            <a:off x="1524000" y="1397001"/>
            <a:ext cx="952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mn-ea"/>
              </a:rPr>
              <a:t>1、</a:t>
            </a:r>
            <a:r>
              <a:rPr lang="zh-CN" altLang="zh-CN" sz="2800" b="1" dirty="0">
                <a:latin typeface="+mn-ea"/>
              </a:rPr>
              <a:t>掌握功、热量和内能等概念，理解准静态过程</a:t>
            </a:r>
          </a:p>
        </p:txBody>
      </p:sp>
      <p:sp>
        <p:nvSpPr>
          <p:cNvPr id="100360" name="Text Box 8">
            <a:extLst>
              <a:ext uri="{FF2B5EF4-FFF2-40B4-BE49-F238E27FC236}">
                <a16:creationId xmlns:a16="http://schemas.microsoft.com/office/drawing/2014/main" id="{F8178F30-8515-06B5-9831-AB47E4F419DB}"/>
              </a:ext>
            </a:extLst>
          </p:cNvPr>
          <p:cNvSpPr txBox="1">
            <a:spLocks noChangeArrowheads="1"/>
          </p:cNvSpPr>
          <p:nvPr/>
        </p:nvSpPr>
        <p:spPr bwMode="auto">
          <a:xfrm>
            <a:off x="1558925" y="2981326"/>
            <a:ext cx="762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mn-ea"/>
              </a:rPr>
              <a:t>3、</a:t>
            </a:r>
            <a:r>
              <a:rPr lang="zh-CN" altLang="zh-CN" sz="2800" b="1" dirty="0">
                <a:latin typeface="+mn-ea"/>
              </a:rPr>
              <a:t>准静态过程中功、热量、内能的计算</a:t>
            </a:r>
          </a:p>
        </p:txBody>
      </p:sp>
      <mc:AlternateContent xmlns:mc="http://schemas.openxmlformats.org/markup-compatibility/2006" xmlns:a14="http://schemas.microsoft.com/office/drawing/2010/main">
        <mc:Choice Requires="a14">
          <p:sp>
            <p:nvSpPr>
              <p:cNvPr id="100361" name="Object 9">
                <a:extLst>
                  <a:ext uri="{FF2B5EF4-FFF2-40B4-BE49-F238E27FC236}">
                    <a16:creationId xmlns:a16="http://schemas.microsoft.com/office/drawing/2014/main" id="{BA160E16-794F-2E19-CB2A-A9DF2C84387B}"/>
                  </a:ext>
                </a:extLst>
              </p:cNvPr>
              <p:cNvSpPr txBox="1"/>
              <p:nvPr/>
            </p:nvSpPr>
            <p:spPr bwMode="auto">
              <a:xfrm>
                <a:off x="3733800" y="3611563"/>
                <a:ext cx="3309938" cy="8588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(1):</m:t>
                      </m:r>
                      <m:r>
                        <a:rPr lang="en-US" altLang="zh-CN" sz="2800" b="0" i="1" smtClean="0">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sup>
                        <m:e>
                          <m:r>
                            <a:rPr lang="zh-CN" altLang="en-US" sz="2800" i="1">
                              <a:solidFill>
                                <a:srgbClr val="000000"/>
                              </a:solidFill>
                              <a:latin typeface="Cambria Math" panose="02040503050406030204" pitchFamily="18" charset="0"/>
                            </a:rPr>
                            <m:t>𝑃𝑑𝑉</m:t>
                          </m:r>
                        </m:e>
                      </m:nary>
                      <m:r>
                        <a:rPr lang="zh-CN" altLang="en-US" sz="2800" i="1">
                          <a:solidFill>
                            <a:srgbClr val="000000"/>
                          </a:solidFill>
                          <a:latin typeface="Cambria Math" panose="02040503050406030204" pitchFamily="18" charset="0"/>
                        </a:rPr>
                        <m:t>;</m:t>
                      </m:r>
                    </m:oMath>
                  </m:oMathPara>
                </a14:m>
                <a:endParaRPr lang="zh-CN" altLang="en-US" sz="2800" dirty="0">
                  <a:latin typeface="+mn-ea"/>
                </a:endParaRPr>
              </a:p>
            </p:txBody>
          </p:sp>
        </mc:Choice>
        <mc:Fallback xmlns="">
          <p:sp>
            <p:nvSpPr>
              <p:cNvPr id="100361" name="Object 9">
                <a:extLst>
                  <a:ext uri="{FF2B5EF4-FFF2-40B4-BE49-F238E27FC236}">
                    <a16:creationId xmlns:a16="http://schemas.microsoft.com/office/drawing/2014/main" id="{BA160E16-794F-2E19-CB2A-A9DF2C84387B}"/>
                  </a:ext>
                </a:extLst>
              </p:cNvPr>
              <p:cNvSpPr txBox="1">
                <a:spLocks noRot="1" noChangeAspect="1" noMove="1" noResize="1" noEditPoints="1" noAdjustHandles="1" noChangeArrowheads="1" noChangeShapeType="1" noTextEdit="1"/>
              </p:cNvSpPr>
              <p:nvPr/>
            </p:nvSpPr>
            <p:spPr bwMode="auto">
              <a:xfrm>
                <a:off x="3733800" y="3611563"/>
                <a:ext cx="3309938" cy="858837"/>
              </a:xfrm>
              <a:prstGeom prst="rect">
                <a:avLst/>
              </a:prstGeom>
              <a:blipFill>
                <a:blip r:embed="rId4"/>
                <a:stretch>
                  <a:fillRect b="-24113"/>
                </a:stretch>
              </a:blipFill>
              <a:ln>
                <a:noFill/>
              </a:ln>
              <a:effectLst/>
            </p:spPr>
            <p:txBody>
              <a:bodyPr/>
              <a:lstStyle/>
              <a:p>
                <a:r>
                  <a:rPr lang="zh-CN" altLang="en-US">
                    <a:noFill/>
                  </a:rPr>
                  <a:t> </a:t>
                </a:r>
              </a:p>
            </p:txBody>
          </p:sp>
        </mc:Fallback>
      </mc:AlternateContent>
      <p:sp>
        <p:nvSpPr>
          <p:cNvPr id="100362" name="Text Box 10">
            <a:extLst>
              <a:ext uri="{FF2B5EF4-FFF2-40B4-BE49-F238E27FC236}">
                <a16:creationId xmlns:a16="http://schemas.microsoft.com/office/drawing/2014/main" id="{3FF0B104-7A04-D196-D143-5C9D49A6F5A7}"/>
              </a:ext>
            </a:extLst>
          </p:cNvPr>
          <p:cNvSpPr txBox="1">
            <a:spLocks noChangeArrowheads="1"/>
          </p:cNvSpPr>
          <p:nvPr/>
        </p:nvSpPr>
        <p:spPr bwMode="auto">
          <a:xfrm>
            <a:off x="1397793" y="4928394"/>
            <a:ext cx="2690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rgbClr val="FF0000"/>
                </a:solidFill>
                <a:latin typeface="+mn-ea"/>
              </a:rPr>
              <a:t>热量的计算：</a:t>
            </a:r>
          </a:p>
        </p:txBody>
      </p:sp>
      <mc:AlternateContent xmlns:mc="http://schemas.openxmlformats.org/markup-compatibility/2006" xmlns:a14="http://schemas.microsoft.com/office/drawing/2010/main">
        <mc:Choice Requires="a14">
          <p:sp>
            <p:nvSpPr>
              <p:cNvPr id="100363" name="Object 11">
                <a:extLst>
                  <a:ext uri="{FF2B5EF4-FFF2-40B4-BE49-F238E27FC236}">
                    <a16:creationId xmlns:a16="http://schemas.microsoft.com/office/drawing/2014/main" id="{A35FE8CD-44E6-DA2D-5F2A-5C646F49A56B}"/>
                  </a:ext>
                </a:extLst>
              </p:cNvPr>
              <p:cNvSpPr txBox="1"/>
              <p:nvPr/>
            </p:nvSpPr>
            <p:spPr bwMode="auto">
              <a:xfrm>
                <a:off x="3810001" y="4993480"/>
                <a:ext cx="6188075" cy="10795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a:rPr lang="en-US" altLang="zh-CN" sz="2800" i="1" smtClean="0">
                          <a:solidFill>
                            <a:srgbClr val="000000"/>
                          </a:solidFill>
                          <a:latin typeface="Cambria Math" panose="02040503050406030204" pitchFamily="18" charset="0"/>
                        </a:rPr>
                        <m:t>𝜈</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𝑚</m:t>
                          </m:r>
                        </m:sub>
                      </m:sSub>
                      <m:r>
                        <a:rPr lang="zh-CN" altLang="en-US" sz="2800" i="1" smtClean="0">
                          <a:solidFill>
                            <a:srgbClr val="000000"/>
                          </a:solidFill>
                          <a:latin typeface="Cambria Math" panose="02040503050406030204" pitchFamily="18" charset="0"/>
                        </a:rPr>
                        <m:t> </m:t>
                      </m:r>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𝑇</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𝑇</m:t>
                          </m:r>
                        </m:e>
                        <m:sub>
                          <m:r>
                            <a:rPr lang="en-US" altLang="zh-CN" sz="2800" i="1">
                              <a:solidFill>
                                <a:srgbClr val="000000"/>
                              </a:solidFill>
                              <a:latin typeface="Cambria Math" panose="02040503050406030204" pitchFamily="18" charset="0"/>
                            </a:rPr>
                            <m:t>1</m:t>
                          </m:r>
                        </m:sub>
                      </m:sSub>
                      <m:r>
                        <a:rPr lang="en-US" altLang="zh-CN" sz="2800" i="1">
                          <a:solidFill>
                            <a:srgbClr val="000000"/>
                          </a:solidFill>
                          <a:latin typeface="Cambria Math" panose="02040503050406030204" pitchFamily="18" charset="0"/>
                        </a:rPr>
                        <m:t>)</m:t>
                      </m:r>
                    </m:oMath>
                  </m:oMathPara>
                </a14:m>
                <a:endParaRPr lang="en-US" altLang="zh-CN" sz="2800" dirty="0"/>
              </a:p>
            </p:txBody>
          </p:sp>
        </mc:Choice>
        <mc:Fallback xmlns="">
          <p:sp>
            <p:nvSpPr>
              <p:cNvPr id="100363" name="Object 11">
                <a:extLst>
                  <a:ext uri="{FF2B5EF4-FFF2-40B4-BE49-F238E27FC236}">
                    <a16:creationId xmlns:a16="http://schemas.microsoft.com/office/drawing/2014/main" id="{A35FE8CD-44E6-DA2D-5F2A-5C646F49A56B}"/>
                  </a:ext>
                </a:extLst>
              </p:cNvPr>
              <p:cNvSpPr txBox="1">
                <a:spLocks noRot="1" noChangeAspect="1" noMove="1" noResize="1" noEditPoints="1" noAdjustHandles="1" noChangeArrowheads="1" noChangeShapeType="1" noTextEdit="1"/>
              </p:cNvSpPr>
              <p:nvPr/>
            </p:nvSpPr>
            <p:spPr bwMode="auto">
              <a:xfrm>
                <a:off x="3810001" y="4993480"/>
                <a:ext cx="6188075" cy="1079500"/>
              </a:xfrm>
              <a:prstGeom prst="rect">
                <a:avLst/>
              </a:prstGeom>
              <a:blipFill>
                <a:blip r:embed="rId5"/>
                <a:stretch>
                  <a:fillRect/>
                </a:stretch>
              </a:blipFill>
              <a:ln>
                <a:noFill/>
              </a:ln>
              <a:effectLst/>
            </p:spPr>
            <p:txBody>
              <a:bodyPr/>
              <a:lstStyle/>
              <a:p>
                <a:r>
                  <a:rPr lang="zh-CN" altLang="en-US">
                    <a:noFill/>
                  </a:rPr>
                  <a:t> </a:t>
                </a:r>
              </a:p>
            </p:txBody>
          </p:sp>
        </mc:Fallback>
      </mc:AlternateContent>
      <p:sp>
        <p:nvSpPr>
          <p:cNvPr id="100364" name="Text Box 12">
            <a:extLst>
              <a:ext uri="{FF2B5EF4-FFF2-40B4-BE49-F238E27FC236}">
                <a16:creationId xmlns:a16="http://schemas.microsoft.com/office/drawing/2014/main" id="{D2038B6B-F6E0-D40F-A7DD-899DDD7FE30C}"/>
              </a:ext>
            </a:extLst>
          </p:cNvPr>
          <p:cNvSpPr txBox="1">
            <a:spLocks noChangeArrowheads="1"/>
          </p:cNvSpPr>
          <p:nvPr/>
        </p:nvSpPr>
        <p:spPr bwMode="auto">
          <a:xfrm>
            <a:off x="1752600" y="3886201"/>
            <a:ext cx="1981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mn-ea"/>
              </a:rPr>
              <a:t>功的计算：</a:t>
            </a:r>
          </a:p>
        </p:txBody>
      </p:sp>
      <mc:AlternateContent xmlns:mc="http://schemas.openxmlformats.org/markup-compatibility/2006" xmlns:a14="http://schemas.microsoft.com/office/drawing/2010/main">
        <mc:Choice Requires="a14">
          <p:sp>
            <p:nvSpPr>
              <p:cNvPr id="100365" name="Object 13">
                <a:extLst>
                  <a:ext uri="{FF2B5EF4-FFF2-40B4-BE49-F238E27FC236}">
                    <a16:creationId xmlns:a16="http://schemas.microsoft.com/office/drawing/2014/main" id="{E4E0EE8F-B4C6-D0F7-342B-0D30196564AE}"/>
                  </a:ext>
                </a:extLst>
              </p:cNvPr>
              <p:cNvSpPr txBox="1"/>
              <p:nvPr/>
            </p:nvSpPr>
            <p:spPr bwMode="auto">
              <a:xfrm>
                <a:off x="7224713" y="3871119"/>
                <a:ext cx="3309938" cy="549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smtClean="0">
                          <a:solidFill>
                            <a:srgbClr val="000000"/>
                          </a:solidFill>
                          <a:latin typeface="Cambria Math" panose="02040503050406030204" pitchFamily="18" charset="0"/>
                        </a:rPr>
                        <m:t>(2):</m:t>
                      </m:r>
                      <m:r>
                        <a:rPr lang="en-US" altLang="zh-CN" sz="2800" b="0" i="1" smtClean="0">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oMath>
                  </m:oMathPara>
                </a14:m>
                <a:endParaRPr lang="zh-CN" altLang="en-US" sz="2800" dirty="0">
                  <a:latin typeface="+mn-ea"/>
                </a:endParaRPr>
              </a:p>
            </p:txBody>
          </p:sp>
        </mc:Choice>
        <mc:Fallback xmlns="">
          <p:sp>
            <p:nvSpPr>
              <p:cNvPr id="100365" name="Object 13">
                <a:extLst>
                  <a:ext uri="{FF2B5EF4-FFF2-40B4-BE49-F238E27FC236}">
                    <a16:creationId xmlns:a16="http://schemas.microsoft.com/office/drawing/2014/main" id="{E4E0EE8F-B4C6-D0F7-342B-0D30196564AE}"/>
                  </a:ext>
                </a:extLst>
              </p:cNvPr>
              <p:cNvSpPr txBox="1">
                <a:spLocks noRot="1" noChangeAspect="1" noMove="1" noResize="1" noEditPoints="1" noAdjustHandles="1" noChangeArrowheads="1" noChangeShapeType="1" noTextEdit="1"/>
              </p:cNvSpPr>
              <p:nvPr/>
            </p:nvSpPr>
            <p:spPr bwMode="auto">
              <a:xfrm>
                <a:off x="7224713" y="3871119"/>
                <a:ext cx="3309938" cy="549275"/>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366" name="Object 14">
                <a:extLst>
                  <a:ext uri="{FF2B5EF4-FFF2-40B4-BE49-F238E27FC236}">
                    <a16:creationId xmlns:a16="http://schemas.microsoft.com/office/drawing/2014/main" id="{290FDD58-2821-527D-07F8-BC665069DE85}"/>
                  </a:ext>
                </a:extLst>
              </p:cNvPr>
              <p:cNvSpPr txBox="1"/>
              <p:nvPr/>
            </p:nvSpPr>
            <p:spPr bwMode="auto">
              <a:xfrm>
                <a:off x="3810001" y="6003926"/>
                <a:ext cx="3479514" cy="54927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(2):</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𝑊</m:t>
                      </m:r>
                    </m:oMath>
                  </m:oMathPara>
                </a14:m>
                <a:endParaRPr lang="zh-CN" altLang="en-US" sz="2800" dirty="0">
                  <a:latin typeface="+mn-ea"/>
                </a:endParaRPr>
              </a:p>
            </p:txBody>
          </p:sp>
        </mc:Choice>
        <mc:Fallback xmlns="">
          <p:sp>
            <p:nvSpPr>
              <p:cNvPr id="100366" name="Object 14">
                <a:extLst>
                  <a:ext uri="{FF2B5EF4-FFF2-40B4-BE49-F238E27FC236}">
                    <a16:creationId xmlns:a16="http://schemas.microsoft.com/office/drawing/2014/main" id="{290FDD58-2821-527D-07F8-BC665069DE85}"/>
                  </a:ext>
                </a:extLst>
              </p:cNvPr>
              <p:cNvSpPr txBox="1">
                <a:spLocks noRot="1" noChangeAspect="1" noMove="1" noResize="1" noEditPoints="1" noAdjustHandles="1" noChangeArrowheads="1" noChangeShapeType="1" noTextEdit="1"/>
              </p:cNvSpPr>
              <p:nvPr/>
            </p:nvSpPr>
            <p:spPr bwMode="auto">
              <a:xfrm>
                <a:off x="3810001" y="6003926"/>
                <a:ext cx="3479514" cy="549275"/>
              </a:xfrm>
              <a:prstGeom prst="rect">
                <a:avLst/>
              </a:prstGeom>
              <a:blipFill>
                <a:blip r:embed="rId7"/>
                <a:stretch>
                  <a:fillRect/>
                </a:stretch>
              </a:blipFill>
              <a:ln>
                <a:noFill/>
              </a:ln>
              <a:effec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03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003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03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003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1003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036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03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003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036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0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autoUpdateAnimBg="0"/>
      <p:bldP spid="100355" grpId="0"/>
      <p:bldP spid="100356" grpId="0"/>
      <p:bldP spid="100357" grpId="0" autoUpdateAnimBg="0"/>
      <p:bldP spid="100358" grpId="0" autoUpdateAnimBg="0"/>
      <p:bldP spid="100358" grpId="1"/>
      <p:bldP spid="100359" grpId="0" autoUpdateAnimBg="0"/>
      <p:bldP spid="100359" grpId="1"/>
      <p:bldP spid="100360" grpId="0" autoUpdateAnimBg="0"/>
      <p:bldP spid="100360" grpId="1"/>
      <p:bldP spid="100361" grpId="0"/>
      <p:bldP spid="100362" grpId="0" autoUpdateAnimBg="0"/>
      <p:bldP spid="100362" grpId="1"/>
      <p:bldP spid="100363" grpId="0"/>
      <p:bldP spid="100364" grpId="0" autoUpdateAnimBg="0"/>
      <p:bldP spid="100364" grpId="1"/>
      <p:bldP spid="100365" grpId="0"/>
      <p:bldP spid="10036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a:extLst>
              <a:ext uri="{FF2B5EF4-FFF2-40B4-BE49-F238E27FC236}">
                <a16:creationId xmlns:a16="http://schemas.microsoft.com/office/drawing/2014/main" id="{B3EBBFC9-A338-7C6D-3D48-3E9C39CEB8AF}"/>
              </a:ext>
            </a:extLst>
          </p:cNvPr>
          <p:cNvSpPr txBox="1">
            <a:spLocks noChangeArrowheads="1"/>
          </p:cNvSpPr>
          <p:nvPr/>
        </p:nvSpPr>
        <p:spPr bwMode="auto">
          <a:xfrm>
            <a:off x="2406650" y="5348288"/>
            <a:ext cx="1676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Times New Roman" panose="02020603050405020304" pitchFamily="18" charset="0"/>
              </a:rPr>
              <a:t>迈耶公式: </a:t>
            </a:r>
          </a:p>
        </p:txBody>
      </p:sp>
      <mc:AlternateContent xmlns:mc="http://schemas.openxmlformats.org/markup-compatibility/2006" xmlns:a14="http://schemas.microsoft.com/office/drawing/2010/main">
        <mc:Choice Requires="a14">
          <p:sp>
            <p:nvSpPr>
              <p:cNvPr id="101379" name="Object 3">
                <a:extLst>
                  <a:ext uri="{FF2B5EF4-FFF2-40B4-BE49-F238E27FC236}">
                    <a16:creationId xmlns:a16="http://schemas.microsoft.com/office/drawing/2014/main" id="{C71D9652-2127-8975-F312-42B915E3178D}"/>
                  </a:ext>
                </a:extLst>
              </p:cNvPr>
              <p:cNvSpPr txBox="1"/>
              <p:nvPr/>
            </p:nvSpPr>
            <p:spPr bwMode="auto">
              <a:xfrm>
                <a:off x="4129087" y="5348288"/>
                <a:ext cx="2743199" cy="56673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101379" name="Object 3">
                <a:extLst>
                  <a:ext uri="{FF2B5EF4-FFF2-40B4-BE49-F238E27FC236}">
                    <a16:creationId xmlns:a16="http://schemas.microsoft.com/office/drawing/2014/main" id="{C71D9652-2127-8975-F312-42B915E3178D}"/>
                  </a:ext>
                </a:extLst>
              </p:cNvPr>
              <p:cNvSpPr txBox="1">
                <a:spLocks noRot="1" noChangeAspect="1" noMove="1" noResize="1" noEditPoints="1" noAdjustHandles="1" noChangeArrowheads="1" noChangeShapeType="1" noTextEdit="1"/>
              </p:cNvSpPr>
              <p:nvPr/>
            </p:nvSpPr>
            <p:spPr bwMode="auto">
              <a:xfrm>
                <a:off x="4129087" y="5348288"/>
                <a:ext cx="2743199" cy="566738"/>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80" name="Object 4">
                <a:extLst>
                  <a:ext uri="{FF2B5EF4-FFF2-40B4-BE49-F238E27FC236}">
                    <a16:creationId xmlns:a16="http://schemas.microsoft.com/office/drawing/2014/main" id="{B1ACEBC9-8E7C-5254-2602-D7754F2099E0}"/>
                  </a:ext>
                </a:extLst>
              </p:cNvPr>
              <p:cNvSpPr txBox="1"/>
              <p:nvPr/>
            </p:nvSpPr>
            <p:spPr bwMode="auto">
              <a:xfrm>
                <a:off x="6483298" y="3624264"/>
                <a:ext cx="2633715" cy="93503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101380" name="Object 4">
                <a:extLst>
                  <a:ext uri="{FF2B5EF4-FFF2-40B4-BE49-F238E27FC236}">
                    <a16:creationId xmlns:a16="http://schemas.microsoft.com/office/drawing/2014/main" id="{B1ACEBC9-8E7C-5254-2602-D7754F2099E0}"/>
                  </a:ext>
                </a:extLst>
              </p:cNvPr>
              <p:cNvSpPr txBox="1">
                <a:spLocks noRot="1" noChangeAspect="1" noMove="1" noResize="1" noEditPoints="1" noAdjustHandles="1" noChangeArrowheads="1" noChangeShapeType="1" noTextEdit="1"/>
              </p:cNvSpPr>
              <p:nvPr/>
            </p:nvSpPr>
            <p:spPr bwMode="auto">
              <a:xfrm>
                <a:off x="6483298" y="3624264"/>
                <a:ext cx="2633715" cy="935037"/>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01381" name="Text Box 5">
            <a:extLst>
              <a:ext uri="{FF2B5EF4-FFF2-40B4-BE49-F238E27FC236}">
                <a16:creationId xmlns:a16="http://schemas.microsoft.com/office/drawing/2014/main" id="{B1E9AA5C-E3FA-987C-C137-7B150B42E2C7}"/>
              </a:ext>
            </a:extLst>
          </p:cNvPr>
          <p:cNvSpPr txBox="1">
            <a:spLocks noChangeArrowheads="1"/>
          </p:cNvSpPr>
          <p:nvPr/>
        </p:nvSpPr>
        <p:spPr bwMode="auto">
          <a:xfrm>
            <a:off x="4114800" y="3860800"/>
            <a:ext cx="289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rgbClr val="FF0000"/>
                </a:solidFill>
                <a:latin typeface="Times New Roman" panose="02020603050405020304" pitchFamily="18" charset="0"/>
              </a:rPr>
              <a:t>定容摩尔热容:</a:t>
            </a:r>
          </a:p>
        </p:txBody>
      </p:sp>
      <p:sp>
        <p:nvSpPr>
          <p:cNvPr id="101382" name="Text Box 6">
            <a:extLst>
              <a:ext uri="{FF2B5EF4-FFF2-40B4-BE49-F238E27FC236}">
                <a16:creationId xmlns:a16="http://schemas.microsoft.com/office/drawing/2014/main" id="{D43FEA8B-5BBF-F887-093A-1D882621FB08}"/>
              </a:ext>
            </a:extLst>
          </p:cNvPr>
          <p:cNvSpPr txBox="1">
            <a:spLocks noChangeArrowheads="1"/>
          </p:cNvSpPr>
          <p:nvPr/>
        </p:nvSpPr>
        <p:spPr bwMode="auto">
          <a:xfrm>
            <a:off x="4073525" y="4627563"/>
            <a:ext cx="2743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rgbClr val="FF0000"/>
                </a:solidFill>
                <a:latin typeface="Times New Roman" panose="02020603050405020304" pitchFamily="18" charset="0"/>
              </a:rPr>
              <a:t>定压摩尔热容:</a:t>
            </a:r>
          </a:p>
        </p:txBody>
      </p:sp>
      <mc:AlternateContent xmlns:mc="http://schemas.openxmlformats.org/markup-compatibility/2006" xmlns:a14="http://schemas.microsoft.com/office/drawing/2010/main">
        <mc:Choice Requires="a14">
          <p:sp>
            <p:nvSpPr>
              <p:cNvPr id="101383" name="Object 7">
                <a:extLst>
                  <a:ext uri="{FF2B5EF4-FFF2-40B4-BE49-F238E27FC236}">
                    <a16:creationId xmlns:a16="http://schemas.microsoft.com/office/drawing/2014/main" id="{481588A1-A456-A2F7-663D-38831942C903}"/>
                  </a:ext>
                </a:extLst>
              </p:cNvPr>
              <p:cNvSpPr txBox="1"/>
              <p:nvPr/>
            </p:nvSpPr>
            <p:spPr bwMode="auto">
              <a:xfrm>
                <a:off x="6586024" y="4484688"/>
                <a:ext cx="2508711" cy="8429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101383" name="Object 7">
                <a:extLst>
                  <a:ext uri="{FF2B5EF4-FFF2-40B4-BE49-F238E27FC236}">
                    <a16:creationId xmlns:a16="http://schemas.microsoft.com/office/drawing/2014/main" id="{481588A1-A456-A2F7-663D-38831942C903}"/>
                  </a:ext>
                </a:extLst>
              </p:cNvPr>
              <p:cNvSpPr txBox="1">
                <a:spLocks noRot="1" noChangeAspect="1" noMove="1" noResize="1" noEditPoints="1" noAdjustHandles="1" noChangeArrowheads="1" noChangeShapeType="1" noTextEdit="1"/>
              </p:cNvSpPr>
              <p:nvPr/>
            </p:nvSpPr>
            <p:spPr bwMode="auto">
              <a:xfrm>
                <a:off x="6586024" y="4484688"/>
                <a:ext cx="2508711" cy="842963"/>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101384" name="Text Box 8">
            <a:extLst>
              <a:ext uri="{FF2B5EF4-FFF2-40B4-BE49-F238E27FC236}">
                <a16:creationId xmlns:a16="http://schemas.microsoft.com/office/drawing/2014/main" id="{B27C151A-ED96-88B1-70D8-5E21EC890E17}"/>
              </a:ext>
            </a:extLst>
          </p:cNvPr>
          <p:cNvSpPr txBox="1">
            <a:spLocks noChangeArrowheads="1"/>
          </p:cNvSpPr>
          <p:nvPr/>
        </p:nvSpPr>
        <p:spPr bwMode="auto">
          <a:xfrm>
            <a:off x="1774826" y="6092825"/>
            <a:ext cx="4428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zh-CN" sz="2800" b="1" dirty="0">
                <a:solidFill>
                  <a:srgbClr val="FF0000"/>
                </a:solidFill>
                <a:latin typeface="Times New Roman" panose="02020603050405020304" pitchFamily="18" charset="0"/>
              </a:rPr>
              <a:t>比热容比（绝热系数）：</a:t>
            </a:r>
          </a:p>
        </p:txBody>
      </p:sp>
      <mc:AlternateContent xmlns:mc="http://schemas.openxmlformats.org/markup-compatibility/2006" xmlns:a14="http://schemas.microsoft.com/office/drawing/2010/main">
        <mc:Choice Requires="a14">
          <p:sp>
            <p:nvSpPr>
              <p:cNvPr id="101385" name="Object 9">
                <a:extLst>
                  <a:ext uri="{FF2B5EF4-FFF2-40B4-BE49-F238E27FC236}">
                    <a16:creationId xmlns:a16="http://schemas.microsoft.com/office/drawing/2014/main" id="{F99EF1DB-E096-C807-F196-B20BF2306A3B}"/>
                  </a:ext>
                </a:extLst>
              </p:cNvPr>
              <p:cNvSpPr txBox="1"/>
              <p:nvPr/>
            </p:nvSpPr>
            <p:spPr bwMode="auto">
              <a:xfrm>
                <a:off x="6202826" y="5870575"/>
                <a:ext cx="1975402" cy="9874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𝛾</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𝑝</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𝑣</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𝑚</m:t>
                              </m:r>
                            </m:sub>
                          </m:sSub>
                        </m:den>
                      </m:f>
                    </m:oMath>
                  </m:oMathPara>
                </a14:m>
                <a:endParaRPr lang="zh-CN" altLang="en-US" sz="2800" dirty="0"/>
              </a:p>
            </p:txBody>
          </p:sp>
        </mc:Choice>
        <mc:Fallback xmlns="">
          <p:sp>
            <p:nvSpPr>
              <p:cNvPr id="101385" name="Object 9">
                <a:extLst>
                  <a:ext uri="{FF2B5EF4-FFF2-40B4-BE49-F238E27FC236}">
                    <a16:creationId xmlns:a16="http://schemas.microsoft.com/office/drawing/2014/main" id="{F99EF1DB-E096-C807-F196-B20BF2306A3B}"/>
                  </a:ext>
                </a:extLst>
              </p:cNvPr>
              <p:cNvSpPr txBox="1">
                <a:spLocks noRot="1" noChangeAspect="1" noMove="1" noResize="1" noEditPoints="1" noAdjustHandles="1" noChangeArrowheads="1" noChangeShapeType="1" noTextEdit="1"/>
              </p:cNvSpPr>
              <p:nvPr/>
            </p:nvSpPr>
            <p:spPr bwMode="auto">
              <a:xfrm>
                <a:off x="6202826" y="5870575"/>
                <a:ext cx="1975402" cy="987425"/>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86" name="Object 10">
                <a:extLst>
                  <a:ext uri="{FF2B5EF4-FFF2-40B4-BE49-F238E27FC236}">
                    <a16:creationId xmlns:a16="http://schemas.microsoft.com/office/drawing/2014/main" id="{62601553-7361-98F8-0A74-72C312D0FDD6}"/>
                  </a:ext>
                </a:extLst>
              </p:cNvPr>
              <p:cNvSpPr txBox="1"/>
              <p:nvPr/>
            </p:nvSpPr>
            <p:spPr bwMode="auto">
              <a:xfrm>
                <a:off x="1842089" y="2628106"/>
                <a:ext cx="5580989" cy="876300"/>
              </a:xfrm>
              <a:prstGeom prst="rect">
                <a:avLst/>
              </a:prstGeom>
              <a:noFill/>
              <a:ln w="9525" cmpd="sng">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摩尔热容定义：</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𝑑𝑄</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m:t>
                              </m:r>
                            </m:e>
                            <m:sub>
                              <m:r>
                                <a:rPr lang="zh-CN" altLang="en-US" sz="2800" i="1">
                                  <a:solidFill>
                                    <a:srgbClr val="000000"/>
                                  </a:solidFill>
                                  <a:latin typeface="Cambria Math" panose="02040503050406030204" pitchFamily="18" charset="0"/>
                                </a:rPr>
                                <m:t>𝑚𝑜𝑙</m:t>
                              </m:r>
                            </m:sub>
                          </m:sSub>
                        </m:num>
                        <m:den>
                          <m:r>
                            <a:rPr lang="zh-CN" altLang="en-US" sz="2800" i="1">
                              <a:solidFill>
                                <a:srgbClr val="000000"/>
                              </a:solidFill>
                              <a:latin typeface="Cambria Math" panose="02040503050406030204" pitchFamily="18" charset="0"/>
                            </a:rPr>
                            <m:t>𝑑𝑇</m:t>
                          </m:r>
                        </m:den>
                      </m:f>
                    </m:oMath>
                  </m:oMathPara>
                </a14:m>
                <a:endParaRPr lang="zh-CN" altLang="en-US" sz="2800" dirty="0"/>
              </a:p>
            </p:txBody>
          </p:sp>
        </mc:Choice>
        <mc:Fallback xmlns="">
          <p:sp>
            <p:nvSpPr>
              <p:cNvPr id="101386" name="Object 10">
                <a:extLst>
                  <a:ext uri="{FF2B5EF4-FFF2-40B4-BE49-F238E27FC236}">
                    <a16:creationId xmlns:a16="http://schemas.microsoft.com/office/drawing/2014/main" id="{62601553-7361-98F8-0A74-72C312D0FDD6}"/>
                  </a:ext>
                </a:extLst>
              </p:cNvPr>
              <p:cNvSpPr txBox="1">
                <a:spLocks noRot="1" noChangeAspect="1" noMove="1" noResize="1" noEditPoints="1" noAdjustHandles="1" noChangeArrowheads="1" noChangeShapeType="1" noTextEdit="1"/>
              </p:cNvSpPr>
              <p:nvPr/>
            </p:nvSpPr>
            <p:spPr bwMode="auto">
              <a:xfrm>
                <a:off x="1842089" y="2628106"/>
                <a:ext cx="5580989" cy="876300"/>
              </a:xfrm>
              <a:prstGeom prst="rect">
                <a:avLst/>
              </a:prstGeom>
              <a:blipFill>
                <a:blip r:embed="rId6"/>
                <a:stretch>
                  <a:fillRect/>
                </a:stretch>
              </a:blipFill>
              <a:ln w="9525" cmpd="sng">
                <a:solidFill>
                  <a:schemeClr val="bg1"/>
                </a:solidFill>
                <a:miter lim="800000"/>
                <a:headEnd/>
                <a:tailEnd/>
              </a:ln>
              <a:effectLst/>
            </p:spPr>
            <p:txBody>
              <a:bodyPr/>
              <a:lstStyle/>
              <a:p>
                <a:r>
                  <a:rPr lang="zh-CN" altLang="en-US">
                    <a:noFill/>
                  </a:rPr>
                  <a:t> </a:t>
                </a:r>
              </a:p>
            </p:txBody>
          </p:sp>
        </mc:Fallback>
      </mc:AlternateContent>
      <p:grpSp>
        <p:nvGrpSpPr>
          <p:cNvPr id="101387" name="Group 11">
            <a:extLst>
              <a:ext uri="{FF2B5EF4-FFF2-40B4-BE49-F238E27FC236}">
                <a16:creationId xmlns:a16="http://schemas.microsoft.com/office/drawing/2014/main" id="{B9FA0702-E0BC-08E1-FDBE-576B91E1AB70}"/>
              </a:ext>
            </a:extLst>
          </p:cNvPr>
          <p:cNvGrpSpPr>
            <a:grpSpLocks/>
          </p:cNvGrpSpPr>
          <p:nvPr/>
        </p:nvGrpSpPr>
        <p:grpSpPr bwMode="auto">
          <a:xfrm>
            <a:off x="1919288" y="4027488"/>
            <a:ext cx="2286000" cy="914400"/>
            <a:chOff x="0" y="0"/>
            <a:chExt cx="1440" cy="576"/>
          </a:xfrm>
        </p:grpSpPr>
        <p:sp>
          <p:nvSpPr>
            <p:cNvPr id="101388" name="Text Box 12">
              <a:extLst>
                <a:ext uri="{FF2B5EF4-FFF2-40B4-BE49-F238E27FC236}">
                  <a16:creationId xmlns:a16="http://schemas.microsoft.com/office/drawing/2014/main" id="{D2C6B2D7-38B5-AFBE-7C21-1728FF3C3A2D}"/>
                </a:ext>
              </a:extLst>
            </p:cNvPr>
            <p:cNvSpPr txBox="1">
              <a:spLocks noChangeArrowheads="1"/>
            </p:cNvSpPr>
            <p:nvPr/>
          </p:nvSpPr>
          <p:spPr bwMode="auto">
            <a:xfrm>
              <a:off x="0" y="96"/>
              <a:ext cx="13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Times New Roman" panose="02020603050405020304" pitchFamily="18" charset="0"/>
                </a:rPr>
                <a:t>摩尔热容</a:t>
              </a:r>
              <a:r>
                <a:rPr lang="zh-CN" altLang="zh-CN" sz="2800" b="1" i="1" dirty="0">
                  <a:solidFill>
                    <a:srgbClr val="FF0000"/>
                  </a:solidFill>
                  <a:latin typeface="Times New Roman" panose="02020603050405020304" pitchFamily="18" charset="0"/>
                </a:rPr>
                <a:t>C</a:t>
              </a:r>
              <a:r>
                <a:rPr lang="zh-CN" altLang="zh-CN" sz="2800" b="1" i="1" baseline="-25000" dirty="0">
                  <a:solidFill>
                    <a:srgbClr val="FF0000"/>
                  </a:solidFill>
                  <a:latin typeface="Times New Roman" panose="02020603050405020304" pitchFamily="18" charset="0"/>
                </a:rPr>
                <a:t>m</a:t>
              </a:r>
              <a:r>
                <a:rPr lang="zh-CN" altLang="zh-CN" sz="2800" b="1" dirty="0">
                  <a:solidFill>
                    <a:srgbClr val="FF0000"/>
                  </a:solidFill>
                  <a:latin typeface="Times New Roman" panose="02020603050405020304" pitchFamily="18" charset="0"/>
                </a:rPr>
                <a:t>:</a:t>
              </a:r>
            </a:p>
          </p:txBody>
        </p:sp>
        <p:sp>
          <p:nvSpPr>
            <p:cNvPr id="101389" name="AutoShape 13">
              <a:extLst>
                <a:ext uri="{FF2B5EF4-FFF2-40B4-BE49-F238E27FC236}">
                  <a16:creationId xmlns:a16="http://schemas.microsoft.com/office/drawing/2014/main" id="{9E2A3722-A637-7979-1B4F-6B25A33194F3}"/>
                </a:ext>
              </a:extLst>
            </p:cNvPr>
            <p:cNvSpPr>
              <a:spLocks/>
            </p:cNvSpPr>
            <p:nvPr/>
          </p:nvSpPr>
          <p:spPr bwMode="auto">
            <a:xfrm>
              <a:off x="1344" y="0"/>
              <a:ext cx="96" cy="576"/>
            </a:xfrm>
            <a:prstGeom prst="leftBrace">
              <a:avLst>
                <a:gd name="adj1" fmla="val 50000"/>
                <a:gd name="adj2" fmla="val 50000"/>
              </a:avLst>
            </a:prstGeom>
            <a:noFill/>
            <a:ln w="28575" cmpd="sng">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solidFill>
                  <a:srgbClr val="FF0000"/>
                </a:solidFill>
              </a:endParaRPr>
            </a:p>
          </p:txBody>
        </p:sp>
      </p:grpSp>
      <p:sp>
        <p:nvSpPr>
          <p:cNvPr id="101390" name="Text Box 14">
            <a:extLst>
              <a:ext uri="{FF2B5EF4-FFF2-40B4-BE49-F238E27FC236}">
                <a16:creationId xmlns:a16="http://schemas.microsoft.com/office/drawing/2014/main" id="{58FB60E9-0E62-77C3-325C-82C739E65C73}"/>
              </a:ext>
            </a:extLst>
          </p:cNvPr>
          <p:cNvSpPr txBox="1">
            <a:spLocks noChangeArrowheads="1"/>
          </p:cNvSpPr>
          <p:nvPr/>
        </p:nvSpPr>
        <p:spPr bwMode="auto">
          <a:xfrm>
            <a:off x="1774825" y="1989138"/>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Times New Roman" panose="02020603050405020304" pitchFamily="18" charset="0"/>
              </a:rPr>
              <a:t>内能的变化的计算：</a:t>
            </a:r>
          </a:p>
        </p:txBody>
      </p:sp>
      <mc:AlternateContent xmlns:mc="http://schemas.openxmlformats.org/markup-compatibility/2006" xmlns:a14="http://schemas.microsoft.com/office/drawing/2010/main">
        <mc:Choice Requires="a14">
          <p:sp>
            <p:nvSpPr>
              <p:cNvPr id="101391" name="Object 15">
                <a:extLst>
                  <a:ext uri="{FF2B5EF4-FFF2-40B4-BE49-F238E27FC236}">
                    <a16:creationId xmlns:a16="http://schemas.microsoft.com/office/drawing/2014/main" id="{C9A62A5B-A980-A89A-E2AF-3E03C2D5B8B8}"/>
                  </a:ext>
                </a:extLst>
              </p:cNvPr>
              <p:cNvSpPr txBox="1"/>
              <p:nvPr/>
            </p:nvSpPr>
            <p:spPr bwMode="auto">
              <a:xfrm>
                <a:off x="4774915" y="1804193"/>
                <a:ext cx="2947988" cy="962025"/>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𝜇</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01391" name="Object 15">
                <a:extLst>
                  <a:ext uri="{FF2B5EF4-FFF2-40B4-BE49-F238E27FC236}">
                    <a16:creationId xmlns:a16="http://schemas.microsoft.com/office/drawing/2014/main" id="{C9A62A5B-A980-A89A-E2AF-3E03C2D5B8B8}"/>
                  </a:ext>
                </a:extLst>
              </p:cNvPr>
              <p:cNvSpPr txBox="1">
                <a:spLocks noRot="1" noChangeAspect="1" noMove="1" noResize="1" noEditPoints="1" noAdjustHandles="1" noChangeArrowheads="1" noChangeShapeType="1" noTextEdit="1"/>
              </p:cNvSpPr>
              <p:nvPr/>
            </p:nvSpPr>
            <p:spPr bwMode="auto">
              <a:xfrm>
                <a:off x="4774915" y="1804193"/>
                <a:ext cx="2947988" cy="962025"/>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101392" name="Text Box 16">
            <a:extLst>
              <a:ext uri="{FF2B5EF4-FFF2-40B4-BE49-F238E27FC236}">
                <a16:creationId xmlns:a16="http://schemas.microsoft.com/office/drawing/2014/main" id="{70DFA133-6060-9BAA-78EF-76D2B1BB70F7}"/>
              </a:ext>
            </a:extLst>
          </p:cNvPr>
          <p:cNvSpPr txBox="1">
            <a:spLocks noChangeArrowheads="1"/>
          </p:cNvSpPr>
          <p:nvPr/>
        </p:nvSpPr>
        <p:spPr bwMode="auto">
          <a:xfrm>
            <a:off x="1800225" y="946943"/>
            <a:ext cx="2447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Times New Roman" panose="02020603050405020304" pitchFamily="18" charset="0"/>
              </a:rPr>
              <a:t>内能的计算：</a:t>
            </a:r>
          </a:p>
        </p:txBody>
      </p:sp>
      <mc:AlternateContent xmlns:mc="http://schemas.openxmlformats.org/markup-compatibility/2006" xmlns:a14="http://schemas.microsoft.com/office/drawing/2010/main">
        <mc:Choice Requires="a14">
          <p:sp>
            <p:nvSpPr>
              <p:cNvPr id="101393" name="Object 17">
                <a:extLst>
                  <a:ext uri="{FF2B5EF4-FFF2-40B4-BE49-F238E27FC236}">
                    <a16:creationId xmlns:a16="http://schemas.microsoft.com/office/drawing/2014/main" id="{1CA16137-603A-3500-F116-4785005916B2}"/>
                  </a:ext>
                </a:extLst>
              </p:cNvPr>
              <p:cNvSpPr txBox="1"/>
              <p:nvPr/>
            </p:nvSpPr>
            <p:spPr bwMode="auto">
              <a:xfrm>
                <a:off x="3988826" y="724694"/>
                <a:ext cx="3788988" cy="9080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𝜇</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𝑖</m:t>
                          </m:r>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01393" name="Object 17">
                <a:extLst>
                  <a:ext uri="{FF2B5EF4-FFF2-40B4-BE49-F238E27FC236}">
                    <a16:creationId xmlns:a16="http://schemas.microsoft.com/office/drawing/2014/main" id="{1CA16137-603A-3500-F116-4785005916B2}"/>
                  </a:ext>
                </a:extLst>
              </p:cNvPr>
              <p:cNvSpPr txBox="1">
                <a:spLocks noRot="1" noChangeAspect="1" noMove="1" noResize="1" noEditPoints="1" noAdjustHandles="1" noChangeArrowheads="1" noChangeShapeType="1" noTextEdit="1"/>
              </p:cNvSpPr>
              <p:nvPr/>
            </p:nvSpPr>
            <p:spPr bwMode="auto">
              <a:xfrm>
                <a:off x="3988826" y="724694"/>
                <a:ext cx="3788988" cy="908050"/>
              </a:xfrm>
              <a:prstGeom prst="rect">
                <a:avLst/>
              </a:prstGeom>
              <a:blipFill>
                <a:blip r:embed="rId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394" name="Object 18">
                <a:extLst>
                  <a:ext uri="{FF2B5EF4-FFF2-40B4-BE49-F238E27FC236}">
                    <a16:creationId xmlns:a16="http://schemas.microsoft.com/office/drawing/2014/main" id="{00CBDCB2-D98A-241B-1DCE-313F1516C230}"/>
                  </a:ext>
                </a:extLst>
              </p:cNvPr>
              <p:cNvSpPr txBox="1"/>
              <p:nvPr/>
            </p:nvSpPr>
            <p:spPr bwMode="auto">
              <a:xfrm>
                <a:off x="7931418" y="924719"/>
                <a:ext cx="2952748" cy="5080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(2):</m:t>
                      </m:r>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𝑄</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𝑊</m:t>
                      </m:r>
                    </m:oMath>
                  </m:oMathPara>
                </a14:m>
                <a:endParaRPr lang="zh-CN" altLang="en-US" sz="2800" dirty="0"/>
              </a:p>
            </p:txBody>
          </p:sp>
        </mc:Choice>
        <mc:Fallback xmlns="">
          <p:sp>
            <p:nvSpPr>
              <p:cNvPr id="101394" name="Object 18">
                <a:extLst>
                  <a:ext uri="{FF2B5EF4-FFF2-40B4-BE49-F238E27FC236}">
                    <a16:creationId xmlns:a16="http://schemas.microsoft.com/office/drawing/2014/main" id="{00CBDCB2-D98A-241B-1DCE-313F1516C230}"/>
                  </a:ext>
                </a:extLst>
              </p:cNvPr>
              <p:cNvSpPr txBox="1">
                <a:spLocks noRot="1" noChangeAspect="1" noMove="1" noResize="1" noEditPoints="1" noAdjustHandles="1" noChangeArrowheads="1" noChangeShapeType="1" noTextEdit="1"/>
              </p:cNvSpPr>
              <p:nvPr/>
            </p:nvSpPr>
            <p:spPr bwMode="auto">
              <a:xfrm>
                <a:off x="7931418" y="924719"/>
                <a:ext cx="2952748" cy="508000"/>
              </a:xfrm>
              <a:prstGeom prst="rect">
                <a:avLst/>
              </a:prstGeom>
              <a:blipFill>
                <a:blip r:embed="rId9"/>
                <a:stretch>
                  <a:fillRect/>
                </a:stretch>
              </a:blipFill>
              <a:ln>
                <a:noFill/>
              </a:ln>
              <a:effec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13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3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13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0139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139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13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1380"/>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101381"/>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10138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138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138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10137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137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10138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13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utoUpdateAnimBg="0"/>
      <p:bldP spid="101378" grpId="1"/>
      <p:bldP spid="101379" grpId="0"/>
      <p:bldP spid="101380" grpId="0"/>
      <p:bldP spid="101381" grpId="0" autoUpdateAnimBg="0"/>
      <p:bldP spid="101381" grpId="1"/>
      <p:bldP spid="101382" grpId="0" autoUpdateAnimBg="0"/>
      <p:bldP spid="101382" grpId="1"/>
      <p:bldP spid="101383" grpId="0"/>
      <p:bldP spid="101384" grpId="0" autoUpdateAnimBg="0"/>
      <p:bldP spid="101384" grpId="1"/>
      <p:bldP spid="101385" grpId="0"/>
      <p:bldP spid="101386" grpId="0" animBg="1"/>
      <p:bldP spid="101390" grpId="0" autoUpdateAnimBg="0"/>
      <p:bldP spid="101390" grpId="1"/>
      <p:bldP spid="101391" grpId="0"/>
      <p:bldP spid="101392" grpId="0" autoUpdateAnimBg="0"/>
      <p:bldP spid="101392" grpId="1"/>
      <p:bldP spid="101393" grpId="0"/>
      <p:bldP spid="10139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3">
            <a:extLst>
              <a:ext uri="{FF2B5EF4-FFF2-40B4-BE49-F238E27FC236}">
                <a16:creationId xmlns:a16="http://schemas.microsoft.com/office/drawing/2014/main" id="{95E4D2F5-8D6D-BCB4-F130-089B9DB69001}"/>
              </a:ext>
            </a:extLst>
          </p:cNvPr>
          <p:cNvGrpSpPr/>
          <p:nvPr/>
        </p:nvGrpSpPr>
        <p:grpSpPr>
          <a:xfrm>
            <a:off x="2189761" y="417898"/>
            <a:ext cx="5545138" cy="663575"/>
            <a:chOff x="539" y="1425"/>
            <a:chExt cx="3493" cy="418"/>
          </a:xfrm>
        </p:grpSpPr>
        <mc:AlternateContent xmlns:mc="http://schemas.openxmlformats.org/markup-compatibility/2006" xmlns:a14="http://schemas.microsoft.com/office/drawing/2010/main">
          <mc:Choice Requires="a14">
            <p:sp>
              <p:nvSpPr>
                <p:cNvPr id="19" name="Object 4">
                  <a:extLst>
                    <a:ext uri="{FF2B5EF4-FFF2-40B4-BE49-F238E27FC236}">
                      <a16:creationId xmlns:a16="http://schemas.microsoft.com/office/drawing/2014/main" id="{6775BF98-E720-A66B-3581-37B8BBA9F61B}"/>
                    </a:ext>
                  </a:extLst>
                </p:cNvPr>
                <p:cNvSpPr txBox="1"/>
                <p:nvPr/>
              </p:nvSpPr>
              <p:spPr>
                <a:xfrm>
                  <a:off x="2657" y="1425"/>
                  <a:ext cx="1375" cy="41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𝑝𝑉</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𝜈</m:t>
                        </m:r>
                        <m:r>
                          <a:rPr lang="en-US" sz="2800" b="0" i="1">
                            <a:solidFill>
                              <a:srgbClr val="000000"/>
                            </a:solidFill>
                            <a:latin typeface="Cambria Math" panose="02040503050406030204" pitchFamily="18" charset="0"/>
                          </a:rPr>
                          <m:t>𝑅𝑇</m:t>
                        </m:r>
                      </m:oMath>
                    </m:oMathPara>
                  </a14:m>
                  <a:endParaRPr lang="en-US" sz="2800" dirty="0"/>
                </a:p>
              </p:txBody>
            </p:sp>
          </mc:Choice>
          <mc:Fallback xmlns="">
            <p:sp>
              <p:nvSpPr>
                <p:cNvPr id="8" name="Object 4">
                  <a:extLst>
                    <a:ext uri="{FF2B5EF4-FFF2-40B4-BE49-F238E27FC236}">
                      <a16:creationId xmlns:a16="http://schemas.microsoft.com/office/drawing/2014/main" id="{3894D405-45EF-4B78-80D0-DB0B0A8C3F0A}"/>
                    </a:ext>
                  </a:extLst>
                </p:cNvPr>
                <p:cNvSpPr txBox="1">
                  <a:spLocks noRot="1" noChangeAspect="1" noMove="1" noResize="1" noEditPoints="1" noAdjustHandles="1" noChangeArrowheads="1" noChangeShapeType="1" noTextEdit="1"/>
                </p:cNvSpPr>
                <p:nvPr/>
              </p:nvSpPr>
              <p:spPr>
                <a:xfrm>
                  <a:off x="2657" y="1425"/>
                  <a:ext cx="1375" cy="418"/>
                </a:xfrm>
                <a:prstGeom prst="rect">
                  <a:avLst/>
                </a:prstGeom>
                <a:blipFill>
                  <a:blip r:embed="rId18"/>
                  <a:stretch>
                    <a:fillRect/>
                  </a:stretch>
                </a:blipFill>
                <a:ln w="38100">
                  <a:noFill/>
                  <a:miter/>
                </a:ln>
              </p:spPr>
              <p:txBody>
                <a:bodyPr/>
                <a:lstStyle/>
                <a:p>
                  <a:r>
                    <a:rPr lang="zh-CN" altLang="en-US">
                      <a:noFill/>
                    </a:rPr>
                    <a:t> </a:t>
                  </a:r>
                </a:p>
              </p:txBody>
            </p:sp>
          </mc:Fallback>
        </mc:AlternateContent>
        <p:sp>
          <p:nvSpPr>
            <p:cNvPr id="20" name="Text Box 6">
              <a:extLst>
                <a:ext uri="{FF2B5EF4-FFF2-40B4-BE49-F238E27FC236}">
                  <a16:creationId xmlns:a16="http://schemas.microsoft.com/office/drawing/2014/main" id="{F031FA0C-9793-D501-7E7D-BF8AA9389A1C}"/>
                </a:ext>
              </a:extLst>
            </p:cNvPr>
            <p:cNvSpPr txBox="1"/>
            <p:nvPr/>
          </p:nvSpPr>
          <p:spPr>
            <a:xfrm>
              <a:off x="539" y="1445"/>
              <a:ext cx="2592" cy="330"/>
            </a:xfrm>
            <a:prstGeom prst="rect">
              <a:avLst/>
            </a:prstGeom>
            <a:noFill/>
            <a:ln w="9525">
              <a:noFill/>
            </a:ln>
          </p:spPr>
          <p:txBody>
            <a:bodyPr>
              <a:spAutoFit/>
            </a:bodyPr>
            <a:lstStyle/>
            <a:p>
              <a:pPr eaLnBrk="1" hangingPunct="1">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理想气体状态方程</a:t>
              </a:r>
            </a:p>
          </p:txBody>
        </p:sp>
      </p:grpSp>
      <mc:AlternateContent xmlns:mc="http://schemas.openxmlformats.org/markup-compatibility/2006" xmlns:a14="http://schemas.microsoft.com/office/drawing/2010/main">
        <mc:Choice Requires="a14">
          <p:sp>
            <p:nvSpPr>
              <p:cNvPr id="21" name="Object 3">
                <a:extLst>
                  <a:ext uri="{FF2B5EF4-FFF2-40B4-BE49-F238E27FC236}">
                    <a16:creationId xmlns:a16="http://schemas.microsoft.com/office/drawing/2014/main" id="{B8509C0C-9120-9A24-579E-06675664DB7C}"/>
                  </a:ext>
                </a:extLst>
              </p:cNvPr>
              <p:cNvSpPr txBox="1"/>
              <p:nvPr/>
            </p:nvSpPr>
            <p:spPr>
              <a:xfrm>
                <a:off x="5971053" y="1216392"/>
                <a:ext cx="1905000" cy="61912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𝐸</m:t>
                      </m:r>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𝑇</m:t>
                      </m:r>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21" name="Object 3">
                <a:extLst>
                  <a:ext uri="{FF2B5EF4-FFF2-40B4-BE49-F238E27FC236}">
                    <a16:creationId xmlns:a16="http://schemas.microsoft.com/office/drawing/2014/main" id="{B8509C0C-9120-9A24-579E-06675664DB7C}"/>
                  </a:ext>
                </a:extLst>
              </p:cNvPr>
              <p:cNvSpPr txBox="1">
                <a:spLocks noRot="1" noChangeAspect="1" noMove="1" noResize="1" noEditPoints="1" noAdjustHandles="1" noChangeArrowheads="1" noChangeShapeType="1" noTextEdit="1"/>
              </p:cNvSpPr>
              <p:nvPr/>
            </p:nvSpPr>
            <p:spPr>
              <a:xfrm>
                <a:off x="5971053" y="1216392"/>
                <a:ext cx="1905000" cy="619125"/>
              </a:xfrm>
              <a:prstGeom prst="rect">
                <a:avLst/>
              </a:prstGeom>
              <a:blipFill>
                <a:blip r:embed="rId19"/>
                <a:stretch>
                  <a:fillRect/>
                </a:stretch>
              </a:blipFill>
              <a:ln w="38100">
                <a:noFill/>
                <a:miter/>
              </a:ln>
            </p:spPr>
            <p:txBody>
              <a:bodyPr/>
              <a:lstStyle/>
              <a:p>
                <a:r>
                  <a:rPr lang="zh-CN" altLang="en-US">
                    <a:noFill/>
                  </a:rPr>
                  <a:t> </a:t>
                </a:r>
              </a:p>
            </p:txBody>
          </p:sp>
        </mc:Fallback>
      </mc:AlternateContent>
      <p:sp>
        <p:nvSpPr>
          <p:cNvPr id="22" name="Text Box 5">
            <a:extLst>
              <a:ext uri="{FF2B5EF4-FFF2-40B4-BE49-F238E27FC236}">
                <a16:creationId xmlns:a16="http://schemas.microsoft.com/office/drawing/2014/main" id="{4E87986A-09E2-271C-89CA-FC34432BBEAE}"/>
              </a:ext>
            </a:extLst>
          </p:cNvPr>
          <p:cNvSpPr txBox="1"/>
          <p:nvPr/>
        </p:nvSpPr>
        <p:spPr>
          <a:xfrm>
            <a:off x="2225900" y="1240929"/>
            <a:ext cx="2908168" cy="523220"/>
          </a:xfrm>
          <a:prstGeom prst="rect">
            <a:avLst/>
          </a:prstGeom>
          <a:noFill/>
          <a:ln w="9525">
            <a:noFill/>
          </a:ln>
        </p:spPr>
        <p:txBody>
          <a:bodyPr wrap="none">
            <a:spAutoFit/>
          </a:bodyPr>
          <a:lstStyle/>
          <a:p>
            <a:pPr eaLnBrk="1" hangingPunct="1">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理想气体的内能</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1518104A-3A09-13F8-CC88-4515F6F968A8}"/>
                  </a:ext>
                </a:extLst>
              </p:cNvPr>
              <p:cNvSpPr txBox="1"/>
              <p:nvPr/>
            </p:nvSpPr>
            <p:spPr>
              <a:xfrm>
                <a:off x="7604814" y="1062808"/>
                <a:ext cx="2987370" cy="895373"/>
              </a:xfrm>
              <a:prstGeom prst="rect">
                <a:avLst/>
              </a:prstGeom>
              <a:noFill/>
            </p:spPr>
            <p:txBody>
              <a:bodyPr wrap="square">
                <a:spAutoFit/>
              </a:bodyPr>
              <a:lstStyle/>
              <a:p>
                <a:r>
                  <a:rPr lang="en-US" altLang="zh-CN" sz="3600" dirty="0"/>
                  <a:t>= </a:t>
                </a:r>
                <a:r>
                  <a:rPr lang="zh-CN" altLang="en-US" sz="3600" dirty="0"/>
                  <a:t> </a:t>
                </a:r>
                <a14:m>
                  <m:oMath xmlns:m="http://schemas.openxmlformats.org/officeDocument/2006/math">
                    <m:f>
                      <m:fPr>
                        <m:ctrlPr>
                          <a:rPr lang="zh-CN" altLang="en-US" sz="3600" i="1">
                            <a:latin typeface="Cambria Math" panose="02040503050406030204" pitchFamily="18" charset="0"/>
                          </a:rPr>
                        </m:ctrlPr>
                      </m:fPr>
                      <m:num>
                        <m:r>
                          <a:rPr lang="zh-CN" altLang="en-US" sz="3600" i="1">
                            <a:latin typeface="Cambria Math" panose="02040503050406030204" pitchFamily="18" charset="0"/>
                          </a:rPr>
                          <m:t>𝑖</m:t>
                        </m:r>
                      </m:num>
                      <m:den>
                        <m:r>
                          <a:rPr lang="zh-CN" altLang="en-US" sz="3600" i="1">
                            <a:latin typeface="Cambria Math" panose="02040503050406030204" pitchFamily="18" charset="0"/>
                          </a:rPr>
                          <m:t>2</m:t>
                        </m:r>
                      </m:den>
                    </m:f>
                    <m:r>
                      <m:rPr>
                        <m:sty m:val="p"/>
                      </m:rPr>
                      <a:rPr lang="el-GR" altLang="zh-CN" sz="3600" i="1">
                        <a:solidFill>
                          <a:srgbClr val="000000"/>
                        </a:solidFill>
                        <a:latin typeface="Cambria Math" panose="02040503050406030204" pitchFamily="18" charset="0"/>
                      </a:rPr>
                      <m:t>ν</m:t>
                    </m:r>
                    <m:r>
                      <m:rPr>
                        <m:sty m:val="p"/>
                      </m:rPr>
                      <a:rPr lang="en-US" altLang="zh-CN" sz="3600" i="1">
                        <a:solidFill>
                          <a:srgbClr val="000000"/>
                        </a:solidFill>
                        <a:latin typeface="Cambria Math" panose="02040503050406030204" pitchFamily="18" charset="0"/>
                      </a:rPr>
                      <m:t>R</m:t>
                    </m:r>
                    <m:r>
                      <a:rPr lang="zh-CN" altLang="en-US" sz="3600" i="1">
                        <a:latin typeface="Cambria Math" panose="02040503050406030204" pitchFamily="18" charset="0"/>
                      </a:rPr>
                      <m:t>𝑇</m:t>
                    </m:r>
                  </m:oMath>
                </a14:m>
                <a:endParaRPr lang="zh-CN" altLang="en-US" sz="3600" dirty="0"/>
              </a:p>
            </p:txBody>
          </p:sp>
        </mc:Choice>
        <mc:Fallback xmlns="">
          <p:sp>
            <p:nvSpPr>
              <p:cNvPr id="23" name="文本框 22">
                <a:extLst>
                  <a:ext uri="{FF2B5EF4-FFF2-40B4-BE49-F238E27FC236}">
                    <a16:creationId xmlns:a16="http://schemas.microsoft.com/office/drawing/2014/main" id="{1518104A-3A09-13F8-CC88-4515F6F968A8}"/>
                  </a:ext>
                </a:extLst>
              </p:cNvPr>
              <p:cNvSpPr txBox="1">
                <a:spLocks noRot="1" noChangeAspect="1" noMove="1" noResize="1" noEditPoints="1" noAdjustHandles="1" noChangeArrowheads="1" noChangeShapeType="1" noTextEdit="1"/>
              </p:cNvSpPr>
              <p:nvPr/>
            </p:nvSpPr>
            <p:spPr>
              <a:xfrm>
                <a:off x="7604814" y="1062808"/>
                <a:ext cx="2987370" cy="895373"/>
              </a:xfrm>
              <a:prstGeom prst="rect">
                <a:avLst/>
              </a:prstGeom>
              <a:blipFill>
                <a:blip r:embed="rId20"/>
                <a:stretch>
                  <a:fillRect l="-6327" b="-108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Object 6">
                <a:extLst>
                  <a:ext uri="{FF2B5EF4-FFF2-40B4-BE49-F238E27FC236}">
                    <a16:creationId xmlns:a16="http://schemas.microsoft.com/office/drawing/2014/main" id="{3B88F844-2E30-14A5-0846-F32DA5FCCBBD}"/>
                  </a:ext>
                </a:extLst>
              </p:cNvPr>
              <p:cNvSpPr txBox="1"/>
              <p:nvPr/>
            </p:nvSpPr>
            <p:spPr>
              <a:xfrm>
                <a:off x="2779007" y="2909103"/>
                <a:ext cx="1905000" cy="61912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𝑄</m:t>
                          </m:r>
                        </m:e>
                        <m:sub>
                          <m:r>
                            <a:rPr lang="en-US" sz="2800" b="0" i="1">
                              <a:solidFill>
                                <a:srgbClr val="000000"/>
                              </a:solidFill>
                              <a:latin typeface="Cambria Math" panose="02040503050406030204" pitchFamily="18" charset="0"/>
                            </a:rPr>
                            <m:t>𝑉</m:t>
                          </m:r>
                        </m:sub>
                      </m:sSub>
                      <m:r>
                        <a:rPr lang="en-US" sz="2800" b="0" i="1">
                          <a:solidFill>
                            <a:srgbClr val="000000"/>
                          </a:solidFill>
                          <a:latin typeface="Cambria Math" panose="02040503050406030204" pitchFamily="18" charset="0"/>
                        </a:rPr>
                        <m:t>=</m:t>
                      </m:r>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𝐸</m:t>
                      </m:r>
                    </m:oMath>
                  </m:oMathPara>
                </a14:m>
                <a:endParaRPr lang="en-US" sz="2800" dirty="0"/>
              </a:p>
            </p:txBody>
          </p:sp>
        </mc:Choice>
        <mc:Fallback xmlns="">
          <p:sp>
            <p:nvSpPr>
              <p:cNvPr id="24" name="Object 6">
                <a:extLst>
                  <a:ext uri="{FF2B5EF4-FFF2-40B4-BE49-F238E27FC236}">
                    <a16:creationId xmlns:a16="http://schemas.microsoft.com/office/drawing/2014/main" id="{3B88F844-2E30-14A5-0846-F32DA5FCCBBD}"/>
                  </a:ext>
                </a:extLst>
              </p:cNvPr>
              <p:cNvSpPr txBox="1">
                <a:spLocks noRot="1" noChangeAspect="1" noMove="1" noResize="1" noEditPoints="1" noAdjustHandles="1" noChangeArrowheads="1" noChangeShapeType="1" noTextEdit="1"/>
              </p:cNvSpPr>
              <p:nvPr/>
            </p:nvSpPr>
            <p:spPr>
              <a:xfrm>
                <a:off x="2779007" y="2909103"/>
                <a:ext cx="1905000" cy="619125"/>
              </a:xfrm>
              <a:prstGeom prst="rect">
                <a:avLst/>
              </a:prstGeom>
              <a:blipFill>
                <a:blip r:embed="rId21"/>
                <a:stretch>
                  <a:fillRect/>
                </a:stretch>
              </a:blipFill>
              <a:ln w="38100">
                <a:noFill/>
                <a:miter/>
              </a:ln>
            </p:spPr>
            <p:txBody>
              <a:bodyPr/>
              <a:lstStyle/>
              <a:p>
                <a:r>
                  <a:rPr lang="zh-CN" altLang="en-US">
                    <a:noFill/>
                  </a:rPr>
                  <a:t> </a:t>
                </a:r>
              </a:p>
            </p:txBody>
          </p:sp>
        </mc:Fallback>
      </mc:AlternateContent>
      <p:sp>
        <p:nvSpPr>
          <p:cNvPr id="25" name="Text Box 13">
            <a:hlinkClick r:id="" action="ppaction://noaction"/>
            <a:extLst>
              <a:ext uri="{FF2B5EF4-FFF2-40B4-BE49-F238E27FC236}">
                <a16:creationId xmlns:a16="http://schemas.microsoft.com/office/drawing/2014/main" id="{6229DB99-0FA2-304A-8738-DE5B9737F9DF}"/>
              </a:ext>
            </a:extLst>
          </p:cNvPr>
          <p:cNvSpPr txBox="1">
            <a:spLocks noChangeArrowheads="1"/>
          </p:cNvSpPr>
          <p:nvPr/>
        </p:nvSpPr>
        <p:spPr bwMode="auto">
          <a:xfrm>
            <a:off x="1670173" y="2208714"/>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FF0000"/>
                </a:solidFill>
                <a:latin typeface="+mn-lt"/>
                <a:ea typeface="+mn-ea"/>
                <a:cs typeface="Times New Roman" panose="02020603050405020304" pitchFamily="18" charset="0"/>
              </a:rPr>
              <a:t>等体过程</a:t>
            </a:r>
          </a:p>
        </p:txBody>
      </p:sp>
      <mc:AlternateContent xmlns:mc="http://schemas.openxmlformats.org/markup-compatibility/2006" xmlns:a14="http://schemas.microsoft.com/office/drawing/2010/main">
        <mc:Choice Requires="a14">
          <p:sp>
            <p:nvSpPr>
              <p:cNvPr id="26" name="Object 22">
                <a:extLst>
                  <a:ext uri="{FF2B5EF4-FFF2-40B4-BE49-F238E27FC236}">
                    <a16:creationId xmlns:a16="http://schemas.microsoft.com/office/drawing/2014/main" id="{85528D71-66E7-F79F-9422-C5BFDE75AEE5}"/>
                  </a:ext>
                </a:extLst>
              </p:cNvPr>
              <p:cNvSpPr txBox="1"/>
              <p:nvPr/>
            </p:nvSpPr>
            <p:spPr bwMode="auto">
              <a:xfrm>
                <a:off x="-227347" y="3581790"/>
                <a:ext cx="7543153" cy="965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𝑄</m:t>
                          </m:r>
                        </m:e>
                        <m:sub>
                          <m:r>
                            <a:rPr lang="en-US" sz="2800" i="1">
                              <a:solidFill>
                                <a:srgbClr val="000000"/>
                              </a:solidFill>
                              <a:latin typeface="Cambria Math" panose="02040503050406030204" pitchFamily="18" charset="0"/>
                            </a:rPr>
                            <m:t>𝑉</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𝐸</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num>
                        <m:den>
                          <m:r>
                            <a:rPr lang="en-US" sz="2800" i="1">
                              <a:solidFill>
                                <a:srgbClr val="000000"/>
                              </a:solidFill>
                              <a:latin typeface="Cambria Math" panose="02040503050406030204" pitchFamily="18" charset="0"/>
                            </a:rPr>
                            <m:t>2</m:t>
                          </m:r>
                        </m:den>
                      </m:f>
                      <m:r>
                        <m:rPr>
                          <m:sty m:val="p"/>
                        </m:rPr>
                        <a:rPr lang="el-GR" altLang="zh-CN" sz="2800" i="1">
                          <a:solidFill>
                            <a:srgbClr val="000000"/>
                          </a:solidFill>
                          <a:latin typeface="Cambria Math" panose="02040503050406030204" pitchFamily="18" charset="0"/>
                        </a:rPr>
                        <m:t>ν</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6" name="Object 22">
                <a:extLst>
                  <a:ext uri="{FF2B5EF4-FFF2-40B4-BE49-F238E27FC236}">
                    <a16:creationId xmlns:a16="http://schemas.microsoft.com/office/drawing/2014/main" id="{85528D71-66E7-F79F-9422-C5BFDE75AEE5}"/>
                  </a:ext>
                </a:extLst>
              </p:cNvPr>
              <p:cNvSpPr txBox="1">
                <a:spLocks noRot="1" noChangeAspect="1" noMove="1" noResize="1" noEditPoints="1" noAdjustHandles="1" noChangeArrowheads="1" noChangeShapeType="1" noTextEdit="1"/>
              </p:cNvSpPr>
              <p:nvPr/>
            </p:nvSpPr>
            <p:spPr bwMode="auto">
              <a:xfrm>
                <a:off x="-227347" y="3581790"/>
                <a:ext cx="7543153" cy="965200"/>
              </a:xfrm>
              <a:prstGeom prst="rect">
                <a:avLst/>
              </a:prstGeom>
              <a:blipFill>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3">
                <a:extLst>
                  <a:ext uri="{FF2B5EF4-FFF2-40B4-BE49-F238E27FC236}">
                    <a16:creationId xmlns:a16="http://schemas.microsoft.com/office/drawing/2014/main" id="{43ADBD5F-8754-FDDA-3FA1-E3B6C457D890}"/>
                  </a:ext>
                </a:extLst>
              </p:cNvPr>
              <p:cNvSpPr txBox="1"/>
              <p:nvPr/>
            </p:nvSpPr>
            <p:spPr>
              <a:xfrm>
                <a:off x="1187808" y="2927716"/>
                <a:ext cx="1818446" cy="620395"/>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2800" b="0" i="0">
                          <a:solidFill>
                            <a:srgbClr val="000000"/>
                          </a:solidFill>
                          <a:latin typeface="Cambria Math" panose="02040503050406030204" pitchFamily="18" charset="0"/>
                        </a:rPr>
                        <m:t>d</m:t>
                      </m:r>
                      <m:r>
                        <a:rPr lang="en-US" sz="2800" b="0" i="1">
                          <a:solidFill>
                            <a:srgbClr val="000000"/>
                          </a:solidFill>
                          <a:latin typeface="Cambria Math" panose="02040503050406030204" pitchFamily="18" charset="0"/>
                        </a:rPr>
                        <m:t>𝐴</m:t>
                      </m:r>
                      <m:r>
                        <a:rPr lang="en-US" sz="2800" b="0" i="1">
                          <a:solidFill>
                            <a:srgbClr val="000000"/>
                          </a:solidFill>
                          <a:latin typeface="Cambria Math" panose="02040503050406030204" pitchFamily="18" charset="0"/>
                        </a:rPr>
                        <m:t>=0</m:t>
                      </m:r>
                    </m:oMath>
                  </m:oMathPara>
                </a14:m>
                <a:endParaRPr lang="en-US" sz="2800" dirty="0"/>
              </a:p>
            </p:txBody>
          </p:sp>
        </mc:Choice>
        <mc:Fallback xmlns="">
          <p:sp>
            <p:nvSpPr>
              <p:cNvPr id="27" name="Object 3">
                <a:extLst>
                  <a:ext uri="{FF2B5EF4-FFF2-40B4-BE49-F238E27FC236}">
                    <a16:creationId xmlns:a16="http://schemas.microsoft.com/office/drawing/2014/main" id="{43ADBD5F-8754-FDDA-3FA1-E3B6C457D890}"/>
                  </a:ext>
                </a:extLst>
              </p:cNvPr>
              <p:cNvSpPr txBox="1">
                <a:spLocks noRot="1" noChangeAspect="1" noMove="1" noResize="1" noEditPoints="1" noAdjustHandles="1" noChangeArrowheads="1" noChangeShapeType="1" noTextEdit="1"/>
              </p:cNvSpPr>
              <p:nvPr/>
            </p:nvSpPr>
            <p:spPr>
              <a:xfrm>
                <a:off x="1187808" y="2927716"/>
                <a:ext cx="1818446" cy="620395"/>
              </a:xfrm>
              <a:prstGeom prst="rect">
                <a:avLst/>
              </a:prstGeom>
              <a:blipFill>
                <a:blip r:embed="rId2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31">
                <a:extLst>
                  <a:ext uri="{FF2B5EF4-FFF2-40B4-BE49-F238E27FC236}">
                    <a16:creationId xmlns:a16="http://schemas.microsoft.com/office/drawing/2014/main" id="{C270F1B1-5BC4-2992-EDD5-A7D4B92FEDB6}"/>
                  </a:ext>
                </a:extLst>
              </p:cNvPr>
              <p:cNvSpPr txBox="1"/>
              <p:nvPr/>
            </p:nvSpPr>
            <p:spPr>
              <a:xfrm>
                <a:off x="6894938" y="2977421"/>
                <a:ext cx="5112413" cy="48895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𝐴</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𝑝</m:t>
                      </m:r>
                      <m:d>
                        <m:dPr>
                          <m:ctrlPr>
                            <a:rPr lang="en-US" sz="2800" b="0" i="1" smtClean="0">
                              <a:solidFill>
                                <a:srgbClr val="000000"/>
                              </a:solidFill>
                              <a:latin typeface="Cambria Math" panose="02040503050406030204" pitchFamily="18" charset="0"/>
                            </a:rPr>
                          </m:ctrlPr>
                        </m:dPr>
                        <m:e>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2</m:t>
                              </m:r>
                            </m:sub>
                          </m:sSub>
                          <m:r>
                            <a:rPr lang="en-US" sz="2800" b="0" i="1"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𝑉</m:t>
                              </m:r>
                            </m:e>
                            <m:sub>
                              <m:r>
                                <a:rPr lang="en-US" sz="2800" b="0" i="1" smtClean="0">
                                  <a:solidFill>
                                    <a:srgbClr val="000000"/>
                                  </a:solidFill>
                                  <a:latin typeface="Cambria Math" panose="02040503050406030204" pitchFamily="18" charset="0"/>
                                </a:rPr>
                                <m:t>1</m:t>
                              </m:r>
                            </m:sub>
                          </m:sSub>
                        </m:e>
                      </m:d>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28" name="Object 31">
                <a:extLst>
                  <a:ext uri="{FF2B5EF4-FFF2-40B4-BE49-F238E27FC236}">
                    <a16:creationId xmlns:a16="http://schemas.microsoft.com/office/drawing/2014/main" id="{C270F1B1-5BC4-2992-EDD5-A7D4B92FEDB6}"/>
                  </a:ext>
                </a:extLst>
              </p:cNvPr>
              <p:cNvSpPr txBox="1">
                <a:spLocks noRot="1" noChangeAspect="1" noMove="1" noResize="1" noEditPoints="1" noAdjustHandles="1" noChangeArrowheads="1" noChangeShapeType="1" noTextEdit="1"/>
              </p:cNvSpPr>
              <p:nvPr/>
            </p:nvSpPr>
            <p:spPr>
              <a:xfrm>
                <a:off x="6894938" y="2977421"/>
                <a:ext cx="5112413" cy="488950"/>
              </a:xfrm>
              <a:prstGeom prst="rect">
                <a:avLst/>
              </a:prstGeom>
              <a:blipFill>
                <a:blip r:embed="rId24"/>
                <a:stretch>
                  <a:fillRect/>
                </a:stretch>
              </a:blipFill>
              <a:ln w="38100">
                <a:noFill/>
                <a:miter/>
              </a:ln>
            </p:spPr>
            <p:txBody>
              <a:bodyPr/>
              <a:lstStyle/>
              <a:p>
                <a:r>
                  <a:rPr lang="zh-CN" altLang="en-US">
                    <a:noFill/>
                  </a:rPr>
                  <a:t> </a:t>
                </a:r>
              </a:p>
            </p:txBody>
          </p:sp>
        </mc:Fallback>
      </mc:AlternateContent>
      <p:sp>
        <p:nvSpPr>
          <p:cNvPr id="29" name="Text Box 13">
            <a:hlinkClick r:id="" action="ppaction://noaction"/>
            <a:extLst>
              <a:ext uri="{FF2B5EF4-FFF2-40B4-BE49-F238E27FC236}">
                <a16:creationId xmlns:a16="http://schemas.microsoft.com/office/drawing/2014/main" id="{D1002D34-D82F-25D9-22A6-17CDF7093EB6}"/>
              </a:ext>
            </a:extLst>
          </p:cNvPr>
          <p:cNvSpPr txBox="1">
            <a:spLocks noChangeArrowheads="1"/>
          </p:cNvSpPr>
          <p:nvPr/>
        </p:nvSpPr>
        <p:spPr bwMode="auto">
          <a:xfrm>
            <a:off x="7402892" y="2208714"/>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FF0000"/>
                </a:solidFill>
                <a:latin typeface="+mn-lt"/>
                <a:ea typeface="+mn-ea"/>
                <a:cs typeface="Times New Roman" panose="02020603050405020304" pitchFamily="18" charset="0"/>
              </a:rPr>
              <a:t>等压过程</a:t>
            </a:r>
          </a:p>
        </p:txBody>
      </p:sp>
      <mc:AlternateContent xmlns:mc="http://schemas.openxmlformats.org/markup-compatibility/2006" xmlns:a14="http://schemas.microsoft.com/office/drawing/2010/main">
        <mc:Choice Requires="a14">
          <p:sp>
            <p:nvSpPr>
              <p:cNvPr id="30" name="Object 87">
                <a:extLst>
                  <a:ext uri="{FF2B5EF4-FFF2-40B4-BE49-F238E27FC236}">
                    <a16:creationId xmlns:a16="http://schemas.microsoft.com/office/drawing/2014/main" id="{0DB9C8CE-F882-BBEF-FF16-5C53E1582B8F}"/>
                  </a:ext>
                </a:extLst>
              </p:cNvPr>
              <p:cNvSpPr txBox="1"/>
              <p:nvPr/>
            </p:nvSpPr>
            <p:spPr bwMode="auto">
              <a:xfrm>
                <a:off x="7496040" y="3520345"/>
                <a:ext cx="4717731" cy="1092200"/>
              </a:xfrm>
              <a:prstGeom prst="rect">
                <a:avLst/>
              </a:prstGeom>
              <a:noFill/>
            </p:spPr>
            <p:txBody>
              <a:bodyPr>
                <a:noAutofit/>
              </a:bodyPr>
              <a:lstStyle/>
              <a:p>
                <a:pPr/>
                <a14:m>
                  <m:oMathPara xmlns:m="http://schemas.openxmlformats.org/officeDocument/2006/math">
                    <m:oMathParaPr>
                      <m:jc m:val="centerGroup"/>
                    </m:oMathParaPr>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2</m:t>
                          </m:r>
                        </m:den>
                      </m:f>
                      <m:r>
                        <a:rPr lang="en-US" altLang="zh-CN" sz="2800" i="1">
                          <a:solidFill>
                            <a:srgbClr val="000000"/>
                          </a:solidFill>
                          <a:latin typeface="Cambria Math" panose="02040503050406030204" pitchFamily="18" charset="0"/>
                        </a:rPr>
                        <m:t>𝜈</m:t>
                      </m:r>
                      <m:r>
                        <a:rPr lang="en-US" sz="2800" i="1">
                          <a:solidFill>
                            <a:srgbClr val="000000"/>
                          </a:solidFill>
                          <a:latin typeface="Cambria Math" panose="02040503050406030204" pitchFamily="18" charset="0"/>
                        </a:rPr>
                        <m:t>𝑅</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𝑇</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oMath>
                  </m:oMathPara>
                </a14:m>
                <a:endParaRPr lang="en-US" sz="2800" dirty="0"/>
              </a:p>
            </p:txBody>
          </p:sp>
        </mc:Choice>
        <mc:Fallback xmlns="">
          <p:sp>
            <p:nvSpPr>
              <p:cNvPr id="30" name="Object 87">
                <a:extLst>
                  <a:ext uri="{FF2B5EF4-FFF2-40B4-BE49-F238E27FC236}">
                    <a16:creationId xmlns:a16="http://schemas.microsoft.com/office/drawing/2014/main" id="{0DB9C8CE-F882-BBEF-FF16-5C53E1582B8F}"/>
                  </a:ext>
                </a:extLst>
              </p:cNvPr>
              <p:cNvSpPr txBox="1">
                <a:spLocks noRot="1" noChangeAspect="1" noMove="1" noResize="1" noEditPoints="1" noAdjustHandles="1" noChangeArrowheads="1" noChangeShapeType="1" noTextEdit="1"/>
              </p:cNvSpPr>
              <p:nvPr/>
            </p:nvSpPr>
            <p:spPr bwMode="auto">
              <a:xfrm>
                <a:off x="7496040" y="3520345"/>
                <a:ext cx="4717731" cy="1092200"/>
              </a:xfrm>
              <a:prstGeom prst="rect">
                <a:avLst/>
              </a:prstGeom>
              <a:blipFill>
                <a:blip r:embed="rId25"/>
                <a:stretch>
                  <a:fillRect/>
                </a:stretch>
              </a:blipFill>
            </p:spPr>
            <p:txBody>
              <a:bodyPr/>
              <a:lstStyle/>
              <a:p>
                <a:r>
                  <a:rPr lang="zh-CN" altLang="en-US">
                    <a:noFill/>
                  </a:rPr>
                  <a:t> </a:t>
                </a:r>
              </a:p>
            </p:txBody>
          </p:sp>
        </mc:Fallback>
      </mc:AlternateContent>
      <p:sp>
        <p:nvSpPr>
          <p:cNvPr id="31" name="Text Box 13">
            <a:hlinkClick r:id="" action="ppaction://noaction"/>
            <a:extLst>
              <a:ext uri="{FF2B5EF4-FFF2-40B4-BE49-F238E27FC236}">
                <a16:creationId xmlns:a16="http://schemas.microsoft.com/office/drawing/2014/main" id="{3297221A-86F7-4FF0-416B-9018001E14E6}"/>
              </a:ext>
            </a:extLst>
          </p:cNvPr>
          <p:cNvSpPr txBox="1">
            <a:spLocks noChangeArrowheads="1"/>
          </p:cNvSpPr>
          <p:nvPr/>
        </p:nvSpPr>
        <p:spPr bwMode="auto">
          <a:xfrm>
            <a:off x="1800891" y="4600552"/>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FF0000"/>
                </a:solidFill>
                <a:latin typeface="+mn-lt"/>
                <a:ea typeface="+mn-ea"/>
                <a:cs typeface="Times New Roman" panose="02020603050405020304" pitchFamily="18" charset="0"/>
              </a:rPr>
              <a:t>等温过程</a:t>
            </a:r>
          </a:p>
        </p:txBody>
      </p:sp>
      <mc:AlternateContent xmlns:mc="http://schemas.openxmlformats.org/markup-compatibility/2006" xmlns:a14="http://schemas.microsoft.com/office/drawing/2010/main">
        <mc:Choice Requires="a14">
          <p:sp>
            <p:nvSpPr>
              <p:cNvPr id="32" name="Object 11">
                <a:extLst>
                  <a:ext uri="{FF2B5EF4-FFF2-40B4-BE49-F238E27FC236}">
                    <a16:creationId xmlns:a16="http://schemas.microsoft.com/office/drawing/2014/main" id="{06D34CFA-A250-714C-2EDE-88C6D4E9C657}"/>
                  </a:ext>
                </a:extLst>
              </p:cNvPr>
              <p:cNvSpPr txBox="1"/>
              <p:nvPr/>
            </p:nvSpPr>
            <p:spPr bwMode="auto">
              <a:xfrm>
                <a:off x="943581" y="5335291"/>
                <a:ext cx="5822938" cy="930693"/>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𝑄</m:t>
                          </m:r>
                        </m:e>
                        <m:sub>
                          <m:r>
                            <a:rPr lang="en-US" altLang="zh-CN" sz="2800" i="1">
                              <a:solidFill>
                                <a:srgbClr val="000000"/>
                              </a:solidFill>
                              <a:latin typeface="Cambria Math" panose="02040503050406030204" pitchFamily="18" charset="0"/>
                            </a:rPr>
                            <m:t>𝑇</m:t>
                          </m:r>
                        </m:sub>
                      </m:sSub>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sub>
                        <m:sup>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sup>
                        <m:e>
                          <m:r>
                            <a:rPr lang="zh-CN" altLang="en-US" sz="2800" i="1">
                              <a:solidFill>
                                <a:srgbClr val="000000"/>
                              </a:solidFill>
                              <a:latin typeface="Cambria Math" panose="02040503050406030204" pitchFamily="18" charset="0"/>
                            </a:rPr>
                            <m:t>𝜈</m:t>
                          </m:r>
                        </m:e>
                      </m:nary>
                      <m:r>
                        <a:rPr lang="zh-CN" altLang="en-US" sz="2800" i="1">
                          <a:solidFill>
                            <a:srgbClr val="000000"/>
                          </a:solidFill>
                          <a:latin typeface="Cambria Math" panose="02040503050406030204" pitchFamily="18" charset="0"/>
                        </a:rPr>
                        <m:t>𝑅𝑇</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𝑑𝑉</m:t>
                          </m:r>
                        </m:num>
                        <m:den>
                          <m:r>
                            <a:rPr lang="zh-CN" altLang="en-US" sz="2800" i="1">
                              <a:solidFill>
                                <a:srgbClr val="000000"/>
                              </a:solidFill>
                              <a:latin typeface="Cambria Math" panose="02040503050406030204" pitchFamily="18" charset="0"/>
                            </a:rPr>
                            <m:t>𝑉</m:t>
                          </m:r>
                        </m:den>
                      </m:f>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𝜈</m:t>
                      </m:r>
                      <m:r>
                        <a:rPr lang="zh-CN" altLang="en-US" sz="2800" i="1">
                          <a:solidFill>
                            <a:srgbClr val="000000"/>
                          </a:solidFill>
                          <a:latin typeface="Cambria Math" panose="02040503050406030204" pitchFamily="18" charset="0"/>
                        </a:rPr>
                        <m:t>𝑅𝑇</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1</m:t>
                                  </m:r>
                                </m:sub>
                              </m:sSub>
                            </m:den>
                          </m:f>
                        </m:e>
                      </m:func>
                    </m:oMath>
                  </m:oMathPara>
                </a14:m>
                <a:endParaRPr lang="zh-CN" altLang="en-US" sz="2800" dirty="0"/>
              </a:p>
            </p:txBody>
          </p:sp>
        </mc:Choice>
        <mc:Fallback xmlns="">
          <p:sp>
            <p:nvSpPr>
              <p:cNvPr id="32" name="Object 11">
                <a:extLst>
                  <a:ext uri="{FF2B5EF4-FFF2-40B4-BE49-F238E27FC236}">
                    <a16:creationId xmlns:a16="http://schemas.microsoft.com/office/drawing/2014/main" id="{06D34CFA-A250-714C-2EDE-88C6D4E9C657}"/>
                  </a:ext>
                </a:extLst>
              </p:cNvPr>
              <p:cNvSpPr txBox="1">
                <a:spLocks noRot="1" noChangeAspect="1" noMove="1" noResize="1" noEditPoints="1" noAdjustHandles="1" noChangeArrowheads="1" noChangeShapeType="1" noTextEdit="1"/>
              </p:cNvSpPr>
              <p:nvPr/>
            </p:nvSpPr>
            <p:spPr bwMode="auto">
              <a:xfrm>
                <a:off x="943581" y="5335291"/>
                <a:ext cx="5822938" cy="930693"/>
              </a:xfrm>
              <a:prstGeom prst="rect">
                <a:avLst/>
              </a:prstGeom>
              <a:blipFill>
                <a:blip r:embed="rId26"/>
                <a:stretch>
                  <a:fillRect b="-13725"/>
                </a:stretch>
              </a:blipFill>
            </p:spPr>
            <p:txBody>
              <a:bodyPr/>
              <a:lstStyle/>
              <a:p>
                <a:r>
                  <a:rPr lang="zh-CN" altLang="en-US">
                    <a:noFill/>
                  </a:rPr>
                  <a:t> </a:t>
                </a:r>
              </a:p>
            </p:txBody>
          </p:sp>
        </mc:Fallback>
      </mc:AlternateContent>
      <p:sp>
        <p:nvSpPr>
          <p:cNvPr id="33" name="Text Box 13">
            <a:hlinkClick r:id="" action="ppaction://noaction"/>
            <a:extLst>
              <a:ext uri="{FF2B5EF4-FFF2-40B4-BE49-F238E27FC236}">
                <a16:creationId xmlns:a16="http://schemas.microsoft.com/office/drawing/2014/main" id="{7D8B8EEB-0AE7-723E-886E-E92CEBB7AE98}"/>
              </a:ext>
            </a:extLst>
          </p:cNvPr>
          <p:cNvSpPr txBox="1">
            <a:spLocks noChangeArrowheads="1"/>
          </p:cNvSpPr>
          <p:nvPr/>
        </p:nvSpPr>
        <p:spPr bwMode="auto">
          <a:xfrm>
            <a:off x="7315806" y="4727964"/>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FF0000"/>
                </a:solidFill>
                <a:latin typeface="+mn-lt"/>
                <a:ea typeface="+mn-ea"/>
                <a:cs typeface="Times New Roman" panose="02020603050405020304" pitchFamily="18" charset="0"/>
              </a:rPr>
              <a:t>绝热过程</a:t>
            </a:r>
          </a:p>
        </p:txBody>
      </p:sp>
      <p:grpSp>
        <p:nvGrpSpPr>
          <p:cNvPr id="34" name="Group 6">
            <a:extLst>
              <a:ext uri="{FF2B5EF4-FFF2-40B4-BE49-F238E27FC236}">
                <a16:creationId xmlns:a16="http://schemas.microsoft.com/office/drawing/2014/main" id="{C0FC387B-D5FA-1EA0-2348-E282CC9E2EC8}"/>
              </a:ext>
            </a:extLst>
          </p:cNvPr>
          <p:cNvGrpSpPr/>
          <p:nvPr/>
        </p:nvGrpSpPr>
        <p:grpSpPr>
          <a:xfrm>
            <a:off x="9119160" y="5527991"/>
            <a:ext cx="3816070" cy="1226765"/>
            <a:chOff x="3744" y="3112"/>
            <a:chExt cx="1630" cy="847"/>
          </a:xfrm>
        </p:grpSpPr>
        <mc:AlternateContent xmlns:mc="http://schemas.openxmlformats.org/markup-compatibility/2006" xmlns:a14="http://schemas.microsoft.com/office/drawing/2010/main">
          <mc:Choice Requires="a14">
            <p:sp>
              <p:nvSpPr>
                <p:cNvPr id="35" name="Object 10">
                  <a:extLst>
                    <a:ext uri="{FF2B5EF4-FFF2-40B4-BE49-F238E27FC236}">
                      <a16:creationId xmlns:a16="http://schemas.microsoft.com/office/drawing/2014/main" id="{8693CA9F-CCD8-67FE-9101-D75AD24BAA76}"/>
                    </a:ext>
                  </a:extLst>
                </p:cNvPr>
                <p:cNvSpPr txBox="1"/>
                <p:nvPr/>
              </p:nvSpPr>
              <p:spPr>
                <a:xfrm>
                  <a:off x="3744" y="3112"/>
                  <a:ext cx="886" cy="44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𝑝</m:t>
                        </m:r>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𝑉</m:t>
                            </m:r>
                          </m:e>
                          <m:sup>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3" name="Object 10">
                  <a:extLst>
                    <a:ext uri="{FF2B5EF4-FFF2-40B4-BE49-F238E27FC236}">
                      <a16:creationId xmlns:a16="http://schemas.microsoft.com/office/drawing/2014/main" id="{69A74F00-BED1-894D-1AA9-78A86695ADD5}"/>
                    </a:ext>
                  </a:extLst>
                </p:cNvPr>
                <p:cNvSpPr txBox="1">
                  <a:spLocks noRot="1" noChangeAspect="1" noMove="1" noResize="1" noEditPoints="1" noAdjustHandles="1" noChangeArrowheads="1" noChangeShapeType="1" noTextEdit="1"/>
                </p:cNvSpPr>
                <p:nvPr/>
              </p:nvSpPr>
              <p:spPr>
                <a:xfrm>
                  <a:off x="3744" y="3112"/>
                  <a:ext cx="886" cy="440"/>
                </a:xfrm>
                <a:prstGeom prst="rect">
                  <a:avLst/>
                </a:prstGeom>
                <a:blipFill>
                  <a:blip r:embed="rId2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Object 11">
                  <a:extLst>
                    <a:ext uri="{FF2B5EF4-FFF2-40B4-BE49-F238E27FC236}">
                      <a16:creationId xmlns:a16="http://schemas.microsoft.com/office/drawing/2014/main" id="{30302A16-E092-E172-450E-2EE6BEF6DB47}"/>
                    </a:ext>
                  </a:extLst>
                </p:cNvPr>
                <p:cNvSpPr txBox="1"/>
                <p:nvPr/>
              </p:nvSpPr>
              <p:spPr>
                <a:xfrm>
                  <a:off x="3744" y="3552"/>
                  <a:ext cx="1104" cy="407"/>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𝑝</m:t>
                            </m:r>
                          </m:e>
                          <m:sup>
                            <m:r>
                              <a:rPr lang="en-US" sz="2800" b="0" i="1">
                                <a:solidFill>
                                  <a:srgbClr val="000000"/>
                                </a:solidFill>
                                <a:latin typeface="Cambria Math" panose="02040503050406030204" pitchFamily="18" charset="0"/>
                              </a:rPr>
                              <m:t>𝛾</m:t>
                            </m:r>
                            <m:r>
                              <a:rPr lang="en-US" sz="2800" b="0" i="1">
                                <a:solidFill>
                                  <a:srgbClr val="000000"/>
                                </a:solidFill>
                                <a:latin typeface="Cambria Math" panose="02040503050406030204" pitchFamily="18" charset="0"/>
                              </a:rPr>
                              <m:t>−1</m:t>
                            </m:r>
                          </m:sup>
                        </m:sSup>
                        <m:sSup>
                          <m:sSupPr>
                            <m:ctrlPr>
                              <a:rPr lang="en-US" sz="2800" i="1">
                                <a:solidFill>
                                  <a:srgbClr val="000000"/>
                                </a:solidFill>
                                <a:latin typeface="Cambria Math" panose="02040503050406030204" pitchFamily="18" charset="0"/>
                              </a:rPr>
                            </m:ctrlPr>
                          </m:sSupPr>
                          <m:e>
                            <m:r>
                              <a:rPr lang="en-US" sz="2800" b="0" i="1">
                                <a:solidFill>
                                  <a:srgbClr val="000000"/>
                                </a:solidFill>
                                <a:latin typeface="Cambria Math" panose="02040503050406030204" pitchFamily="18" charset="0"/>
                              </a:rPr>
                              <m:t>𝑇</m:t>
                            </m:r>
                          </m:e>
                          <m:sup>
                            <m:r>
                              <a:rPr lang="en-US" sz="2800" b="0" i="1">
                                <a:solidFill>
                                  <a:srgbClr val="000000"/>
                                </a:solidFill>
                                <a:latin typeface="Cambria Math" panose="02040503050406030204" pitchFamily="18" charset="0"/>
                              </a:rPr>
                              <m:t>−</m:t>
                            </m:r>
                            <m:r>
                              <a:rPr lang="en-US" sz="2800" b="0" i="1">
                                <a:solidFill>
                                  <a:srgbClr val="000000"/>
                                </a:solidFill>
                                <a:latin typeface="Cambria Math" panose="02040503050406030204" pitchFamily="18" charset="0"/>
                              </a:rPr>
                              <m:t>𝛾</m:t>
                            </m:r>
                          </m:sup>
                        </m:sSup>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54" name="Object 11">
                  <a:extLst>
                    <a:ext uri="{FF2B5EF4-FFF2-40B4-BE49-F238E27FC236}">
                      <a16:creationId xmlns:a16="http://schemas.microsoft.com/office/drawing/2014/main" id="{09B4C298-376E-B3F0-BA4B-E4668E7B59A0}"/>
                    </a:ext>
                  </a:extLst>
                </p:cNvPr>
                <p:cNvSpPr txBox="1">
                  <a:spLocks noRot="1" noChangeAspect="1" noMove="1" noResize="1" noEditPoints="1" noAdjustHandles="1" noChangeArrowheads="1" noChangeShapeType="1" noTextEdit="1"/>
                </p:cNvSpPr>
                <p:nvPr/>
              </p:nvSpPr>
              <p:spPr>
                <a:xfrm>
                  <a:off x="3744" y="3552"/>
                  <a:ext cx="1104" cy="407"/>
                </a:xfrm>
                <a:prstGeom prst="rect">
                  <a:avLst/>
                </a:prstGeom>
                <a:blipFill>
                  <a:blip r:embed="rId28"/>
                  <a:stretch>
                    <a:fillRect/>
                  </a:stretch>
                </a:blipFill>
                <a:ln w="38100">
                  <a:noFill/>
                  <a:miter/>
                </a:ln>
              </p:spPr>
              <p:txBody>
                <a:bodyPr/>
                <a:lstStyle/>
                <a:p>
                  <a:r>
                    <a:rPr lang="zh-CN" altLang="en-US">
                      <a:noFill/>
                    </a:rPr>
                    <a:t> </a:t>
                  </a:r>
                </a:p>
              </p:txBody>
            </p:sp>
          </mc:Fallback>
        </mc:AlternateContent>
        <p:sp>
          <p:nvSpPr>
            <p:cNvPr id="37" name="Rectangle 13">
              <a:extLst>
                <a:ext uri="{FF2B5EF4-FFF2-40B4-BE49-F238E27FC236}">
                  <a16:creationId xmlns:a16="http://schemas.microsoft.com/office/drawing/2014/main" id="{E7BBAA72-5DD1-7960-2D5A-5F02435E07F3}"/>
                </a:ext>
              </a:extLst>
            </p:cNvPr>
            <p:cNvSpPr/>
            <p:nvPr/>
          </p:nvSpPr>
          <p:spPr>
            <a:xfrm>
              <a:off x="4450" y="3120"/>
              <a:ext cx="721"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sp>
          <p:nvSpPr>
            <p:cNvPr id="38" name="Rectangle 14">
              <a:extLst>
                <a:ext uri="{FF2B5EF4-FFF2-40B4-BE49-F238E27FC236}">
                  <a16:creationId xmlns:a16="http://schemas.microsoft.com/office/drawing/2014/main" id="{5D206BFE-4C90-621E-47AA-479B36CEDD57}"/>
                </a:ext>
              </a:extLst>
            </p:cNvPr>
            <p:cNvSpPr/>
            <p:nvPr/>
          </p:nvSpPr>
          <p:spPr>
            <a:xfrm>
              <a:off x="4654" y="3575"/>
              <a:ext cx="720" cy="361"/>
            </a:xfrm>
            <a:prstGeom prst="rect">
              <a:avLst/>
            </a:prstGeom>
            <a:noFill/>
            <a:ln w="9525">
              <a:noFill/>
            </a:ln>
          </p:spPr>
          <p:txBody>
            <a:bodyPr>
              <a:spAutoFit/>
            </a:bodyPr>
            <a:lstStyle/>
            <a:p>
              <a:pPr eaLnBrk="1" hangingPunct="1">
                <a:spcBef>
                  <a:spcPct val="50000"/>
                </a:spcBef>
              </a:pPr>
              <a:r>
                <a:rPr lang="zh-CN" altLang="en-US" sz="2800" dirty="0">
                  <a:solidFill>
                    <a:srgbClr val="000000"/>
                  </a:solidFill>
                  <a:latin typeface="Times New Roman" panose="02020603050405020304" pitchFamily="18" charset="0"/>
                </a:rPr>
                <a:t>常量</a:t>
              </a:r>
            </a:p>
          </p:txBody>
        </p:sp>
      </p:grpSp>
      <mc:AlternateContent xmlns:mc="http://schemas.openxmlformats.org/markup-compatibility/2006" xmlns:a14="http://schemas.microsoft.com/office/drawing/2010/main">
        <mc:Choice Requires="a14">
          <p:sp>
            <p:nvSpPr>
              <p:cNvPr id="39" name="Object 15">
                <a:extLst>
                  <a:ext uri="{FF2B5EF4-FFF2-40B4-BE49-F238E27FC236}">
                    <a16:creationId xmlns:a16="http://schemas.microsoft.com/office/drawing/2014/main" id="{9FF79BCA-6598-3129-8462-1796477C8BBE}"/>
                  </a:ext>
                </a:extLst>
              </p:cNvPr>
              <p:cNvSpPr txBox="1">
                <a:spLocks/>
              </p:cNvSpPr>
              <p:nvPr/>
            </p:nvSpPr>
            <p:spPr>
              <a:xfrm>
                <a:off x="9494965" y="4801946"/>
                <a:ext cx="1792288" cy="766762"/>
              </a:xfrm>
              <a:prstGeom prst="rect">
                <a:avLst/>
              </a:prstGeom>
              <a:noFill/>
              <a:ln w="38100">
                <a:miter/>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centerGroup"/>
                    </m:oMathParaPr>
                    <m:oMath xmlns:m="http://schemas.openxmlformats.org/officeDocument/2006/math">
                      <m:sSup>
                        <m:sSupPr>
                          <m:ctrlPr>
                            <a:rPr lang="en-US" i="1" smtClean="0">
                              <a:solidFill>
                                <a:srgbClr val="000000"/>
                              </a:solidFill>
                              <a:latin typeface="Cambria Math" panose="02040503050406030204" pitchFamily="18" charset="0"/>
                            </a:rPr>
                          </m:ctrlPr>
                        </m:sSupPr>
                        <m:e>
                          <m:r>
                            <a:rPr lang="en-US" b="0" i="1">
                              <a:solidFill>
                                <a:srgbClr val="000000"/>
                              </a:solidFill>
                              <a:latin typeface="Cambria Math" panose="02040503050406030204" pitchFamily="18" charset="0"/>
                            </a:rPr>
                            <m:t>𝑉</m:t>
                          </m:r>
                        </m:e>
                        <m:sup>
                          <m:r>
                            <a:rPr lang="en-US" b="0" i="1">
                              <a:solidFill>
                                <a:srgbClr val="000000"/>
                              </a:solidFill>
                              <a:latin typeface="Cambria Math" panose="02040503050406030204" pitchFamily="18" charset="0"/>
                            </a:rPr>
                            <m:t>𝛾</m:t>
                          </m:r>
                          <m:r>
                            <a:rPr lang="en-US" b="0" i="1">
                              <a:solidFill>
                                <a:srgbClr val="000000"/>
                              </a:solidFill>
                              <a:latin typeface="Cambria Math" panose="02040503050406030204" pitchFamily="18" charset="0"/>
                            </a:rPr>
                            <m:t>−1</m:t>
                          </m:r>
                        </m:sup>
                      </m:sSup>
                      <m:r>
                        <a:rPr lang="en-US" b="0" i="1">
                          <a:solidFill>
                            <a:srgbClr val="000000"/>
                          </a:solidFill>
                          <a:latin typeface="Cambria Math" panose="02040503050406030204" pitchFamily="18" charset="0"/>
                        </a:rPr>
                        <m:t>𝑇</m:t>
                      </m:r>
                      <m:r>
                        <a:rPr lang="en-US" b="0" i="1">
                          <a:solidFill>
                            <a:srgbClr val="000000"/>
                          </a:solidFill>
                          <a:latin typeface="Cambria Math" panose="02040503050406030204" pitchFamily="18" charset="0"/>
                        </a:rPr>
                        <m:t>=</m:t>
                      </m:r>
                    </m:oMath>
                  </m:oMathPara>
                </a14:m>
                <a:endParaRPr lang="en-US"/>
              </a:p>
            </p:txBody>
          </p:sp>
        </mc:Choice>
        <mc:Fallback xmlns="">
          <p:sp>
            <p:nvSpPr>
              <p:cNvPr id="39" name="Object 15">
                <a:extLst>
                  <a:ext uri="{FF2B5EF4-FFF2-40B4-BE49-F238E27FC236}">
                    <a16:creationId xmlns:a16="http://schemas.microsoft.com/office/drawing/2014/main" id="{9FF79BCA-6598-3129-8462-1796477C8BBE}"/>
                  </a:ext>
                </a:extLst>
              </p:cNvPr>
              <p:cNvSpPr txBox="1">
                <a:spLocks noRot="1" noChangeAspect="1" noMove="1" noResize="1" noEditPoints="1" noAdjustHandles="1" noChangeArrowheads="1" noChangeShapeType="1" noTextEdit="1"/>
              </p:cNvSpPr>
              <p:nvPr/>
            </p:nvSpPr>
            <p:spPr>
              <a:xfrm>
                <a:off x="9494965" y="4801946"/>
                <a:ext cx="1792288" cy="766762"/>
              </a:xfrm>
              <a:prstGeom prst="rect">
                <a:avLst/>
              </a:prstGeom>
              <a:blipFill>
                <a:blip r:embed="rId29"/>
                <a:stretch>
                  <a:fillRect/>
                </a:stretch>
              </a:blipFill>
              <a:ln w="38100">
                <a:miter/>
              </a:ln>
            </p:spPr>
            <p:txBody>
              <a:bodyPr/>
              <a:lstStyle/>
              <a:p>
                <a:r>
                  <a:rPr lang="zh-CN" altLang="en-US">
                    <a:noFill/>
                  </a:rPr>
                  <a:t> </a:t>
                </a:r>
              </a:p>
            </p:txBody>
          </p:sp>
        </mc:Fallback>
      </mc:AlternateContent>
      <p:sp>
        <p:nvSpPr>
          <p:cNvPr id="40" name="Text Box 16">
            <a:extLst>
              <a:ext uri="{FF2B5EF4-FFF2-40B4-BE49-F238E27FC236}">
                <a16:creationId xmlns:a16="http://schemas.microsoft.com/office/drawing/2014/main" id="{DA3EE56F-56CB-E088-7E56-F7B393192C3E}"/>
              </a:ext>
            </a:extLst>
          </p:cNvPr>
          <p:cNvSpPr txBox="1"/>
          <p:nvPr/>
        </p:nvSpPr>
        <p:spPr>
          <a:xfrm>
            <a:off x="11113070" y="4767492"/>
            <a:ext cx="992579" cy="523220"/>
          </a:xfrm>
          <a:prstGeom prst="rect">
            <a:avLst/>
          </a:prstGeom>
          <a:noFill/>
          <a:ln w="9525">
            <a:noFill/>
          </a:ln>
        </p:spPr>
        <p:txBody>
          <a:bodyPr wrap="none">
            <a:spAutoFit/>
          </a:bodyPr>
          <a:lstStyle/>
          <a:p>
            <a:pPr eaLnBrk="1" hangingPunct="1"/>
            <a:r>
              <a:rPr lang="zh-CN" altLang="en-US" sz="2800" dirty="0">
                <a:solidFill>
                  <a:srgbClr val="000000"/>
                </a:solidFill>
                <a:latin typeface="Times New Roman" panose="02020603050405020304" pitchFamily="18" charset="0"/>
              </a:rPr>
              <a:t>常量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P spid="26" grpId="0"/>
      <p:bldP spid="27" grpId="0"/>
      <p:bldP spid="28" grpId="0"/>
      <p:bldP spid="29" grpId="0"/>
      <p:bldP spid="30" grpId="0"/>
      <p:bldP spid="31" grpId="0"/>
      <p:bldP spid="32" grpId="0"/>
      <p:bldP spid="33" grpId="0"/>
      <p:bldP spid="39" grpId="0" animBg="1"/>
      <p:bldP spid="4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a:extLst>
              <a:ext uri="{FF2B5EF4-FFF2-40B4-BE49-F238E27FC236}">
                <a16:creationId xmlns:a16="http://schemas.microsoft.com/office/drawing/2014/main" id="{EC6FAAAB-180E-BF23-DD09-FD81DF1C9C0D}"/>
              </a:ext>
            </a:extLst>
          </p:cNvPr>
          <p:cNvSpPr txBox="1">
            <a:spLocks noChangeArrowheads="1"/>
          </p:cNvSpPr>
          <p:nvPr/>
        </p:nvSpPr>
        <p:spPr bwMode="auto">
          <a:xfrm>
            <a:off x="1800225" y="649287"/>
            <a:ext cx="487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Times New Roman" panose="02020603050405020304" pitchFamily="18" charset="0"/>
              </a:rPr>
              <a:t>-  </a:t>
            </a:r>
            <a:r>
              <a:rPr lang="zh-CN" altLang="zh-CN" sz="2800" b="1" dirty="0">
                <a:latin typeface="Times New Roman" panose="02020603050405020304" pitchFamily="18" charset="0"/>
              </a:rPr>
              <a:t>循环过程和卡诺循环</a:t>
            </a:r>
          </a:p>
        </p:txBody>
      </p:sp>
      <p:sp>
        <p:nvSpPr>
          <p:cNvPr id="104451" name="Text Box 3">
            <a:extLst>
              <a:ext uri="{FF2B5EF4-FFF2-40B4-BE49-F238E27FC236}">
                <a16:creationId xmlns:a16="http://schemas.microsoft.com/office/drawing/2014/main" id="{602200A8-F41E-73D4-8CFF-A6503558C5F8}"/>
              </a:ext>
            </a:extLst>
          </p:cNvPr>
          <p:cNvSpPr txBox="1">
            <a:spLocks noChangeArrowheads="1"/>
          </p:cNvSpPr>
          <p:nvPr/>
        </p:nvSpPr>
        <p:spPr bwMode="auto">
          <a:xfrm>
            <a:off x="1981200" y="1558926"/>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Times New Roman" panose="02020603050405020304" pitchFamily="18" charset="0"/>
              </a:rPr>
              <a:t>(1) 循环过程的特点</a:t>
            </a:r>
          </a:p>
        </p:txBody>
      </p:sp>
      <mc:AlternateContent xmlns:mc="http://schemas.openxmlformats.org/markup-compatibility/2006" xmlns:a14="http://schemas.microsoft.com/office/drawing/2010/main">
        <mc:Choice Requires="a14">
          <p:sp>
            <p:nvSpPr>
              <p:cNvPr id="104452" name="Object 4">
                <a:extLst>
                  <a:ext uri="{FF2B5EF4-FFF2-40B4-BE49-F238E27FC236}">
                    <a16:creationId xmlns:a16="http://schemas.microsoft.com/office/drawing/2014/main" id="{99B6A658-B4ED-83C1-0594-73D9D28ACDE9}"/>
                  </a:ext>
                </a:extLst>
              </p:cNvPr>
              <p:cNvSpPr txBox="1"/>
              <p:nvPr/>
            </p:nvSpPr>
            <p:spPr bwMode="auto">
              <a:xfrm>
                <a:off x="5403850" y="1482725"/>
                <a:ext cx="3887788" cy="60960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=0  </m:t>
                      </m:r>
                      <m:r>
                        <a:rPr lang="zh-CN" altLang="en-US" sz="2800" i="1">
                          <a:solidFill>
                            <a:srgbClr val="000000"/>
                          </a:solidFill>
                          <a:latin typeface="Cambria Math" panose="02040503050406030204" pitchFamily="18" charset="0"/>
                        </a:rPr>
                        <m:t>𝑊</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104452" name="Object 4">
                <a:extLst>
                  <a:ext uri="{FF2B5EF4-FFF2-40B4-BE49-F238E27FC236}">
                    <a16:creationId xmlns:a16="http://schemas.microsoft.com/office/drawing/2014/main" id="{99B6A658-B4ED-83C1-0594-73D9D28ACDE9}"/>
                  </a:ext>
                </a:extLst>
              </p:cNvPr>
              <p:cNvSpPr txBox="1">
                <a:spLocks noRot="1" noChangeAspect="1" noMove="1" noResize="1" noEditPoints="1" noAdjustHandles="1" noChangeArrowheads="1" noChangeShapeType="1" noTextEdit="1"/>
              </p:cNvSpPr>
              <p:nvPr/>
            </p:nvSpPr>
            <p:spPr bwMode="auto">
              <a:xfrm>
                <a:off x="5403850" y="1482725"/>
                <a:ext cx="3887788" cy="609600"/>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104453" name="Text Box 5">
            <a:extLst>
              <a:ext uri="{FF2B5EF4-FFF2-40B4-BE49-F238E27FC236}">
                <a16:creationId xmlns:a16="http://schemas.microsoft.com/office/drawing/2014/main" id="{308F3391-3456-9E98-C692-5911226043D0}"/>
              </a:ext>
            </a:extLst>
          </p:cNvPr>
          <p:cNvSpPr txBox="1">
            <a:spLocks noChangeArrowheads="1"/>
          </p:cNvSpPr>
          <p:nvPr/>
        </p:nvSpPr>
        <p:spPr bwMode="auto">
          <a:xfrm>
            <a:off x="1800225" y="2554288"/>
            <a:ext cx="182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latin typeface="Times New Roman" panose="02020603050405020304" pitchFamily="18" charset="0"/>
              </a:rPr>
              <a:t>热机效率</a:t>
            </a:r>
          </a:p>
        </p:txBody>
      </p:sp>
      <mc:AlternateContent xmlns:mc="http://schemas.openxmlformats.org/markup-compatibility/2006" xmlns:a14="http://schemas.microsoft.com/office/drawing/2010/main">
        <mc:Choice Requires="a14">
          <p:sp>
            <p:nvSpPr>
              <p:cNvPr id="104454" name="Object 6">
                <a:extLst>
                  <a:ext uri="{FF2B5EF4-FFF2-40B4-BE49-F238E27FC236}">
                    <a16:creationId xmlns:a16="http://schemas.microsoft.com/office/drawing/2014/main" id="{2B2E11AF-D1AC-47EA-7882-F8796B956868}"/>
                  </a:ext>
                </a:extLst>
              </p:cNvPr>
              <p:cNvSpPr txBox="1"/>
              <p:nvPr/>
            </p:nvSpPr>
            <p:spPr bwMode="auto">
              <a:xfrm>
                <a:off x="3498850" y="2384424"/>
                <a:ext cx="3308349" cy="110331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𝜂</m:t>
                      </m:r>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𝑊</m:t>
                          </m:r>
                        </m:num>
                        <m:den>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放</m:t>
                              </m:r>
                            </m:sub>
                          </m:sSub>
                        </m:den>
                      </m:f>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num>
                        <m:den>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den>
                      </m:f>
                      <m:r>
                        <a:rPr lang="zh-CN" altLang="en-US" sz="2600" i="1">
                          <a:solidFill>
                            <a:srgbClr val="000000"/>
                          </a:solidFill>
                          <a:latin typeface="Cambria Math" panose="02040503050406030204" pitchFamily="18" charset="0"/>
                        </a:rPr>
                        <m:t>;</m:t>
                      </m:r>
                    </m:oMath>
                  </m:oMathPara>
                </a14:m>
                <a:endParaRPr lang="zh-CN" altLang="en-US" sz="2600" dirty="0"/>
              </a:p>
            </p:txBody>
          </p:sp>
        </mc:Choice>
        <mc:Fallback xmlns="">
          <p:sp>
            <p:nvSpPr>
              <p:cNvPr id="104454" name="Object 6">
                <a:extLst>
                  <a:ext uri="{FF2B5EF4-FFF2-40B4-BE49-F238E27FC236}">
                    <a16:creationId xmlns:a16="http://schemas.microsoft.com/office/drawing/2014/main" id="{2B2E11AF-D1AC-47EA-7882-F8796B956868}"/>
                  </a:ext>
                </a:extLst>
              </p:cNvPr>
              <p:cNvSpPr txBox="1">
                <a:spLocks noRot="1" noChangeAspect="1" noMove="1" noResize="1" noEditPoints="1" noAdjustHandles="1" noChangeArrowheads="1" noChangeShapeType="1" noTextEdit="1"/>
              </p:cNvSpPr>
              <p:nvPr/>
            </p:nvSpPr>
            <p:spPr bwMode="auto">
              <a:xfrm>
                <a:off x="3498850" y="2384424"/>
                <a:ext cx="3308349" cy="1103313"/>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04455" name="Text Box 7">
            <a:extLst>
              <a:ext uri="{FF2B5EF4-FFF2-40B4-BE49-F238E27FC236}">
                <a16:creationId xmlns:a16="http://schemas.microsoft.com/office/drawing/2014/main" id="{9667FAF4-98DB-862B-EED2-3BA4BC16E33C}"/>
              </a:ext>
            </a:extLst>
          </p:cNvPr>
          <p:cNvSpPr txBox="1">
            <a:spLocks noChangeArrowheads="1"/>
          </p:cNvSpPr>
          <p:nvPr/>
        </p:nvSpPr>
        <p:spPr bwMode="auto">
          <a:xfrm>
            <a:off x="1952625" y="4094163"/>
            <a:ext cx="182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latin typeface="Times New Roman" panose="02020603050405020304" pitchFamily="18" charset="0"/>
              </a:rPr>
              <a:t>致冷系数</a:t>
            </a:r>
          </a:p>
        </p:txBody>
      </p:sp>
      <mc:AlternateContent xmlns:mc="http://schemas.openxmlformats.org/markup-compatibility/2006" xmlns:a14="http://schemas.microsoft.com/office/drawing/2010/main">
        <mc:Choice Requires="a14">
          <p:sp>
            <p:nvSpPr>
              <p:cNvPr id="104456" name="Object 8">
                <a:extLst>
                  <a:ext uri="{FF2B5EF4-FFF2-40B4-BE49-F238E27FC236}">
                    <a16:creationId xmlns:a16="http://schemas.microsoft.com/office/drawing/2014/main" id="{7087AA32-6339-4CD1-48A1-60B9BA2D9970}"/>
                  </a:ext>
                </a:extLst>
              </p:cNvPr>
              <p:cNvSpPr txBox="1"/>
              <p:nvPr/>
            </p:nvSpPr>
            <p:spPr bwMode="auto">
              <a:xfrm>
                <a:off x="3498851" y="3832225"/>
                <a:ext cx="2955925" cy="1200150"/>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𝜀</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吸</m:t>
                              </m:r>
                            </m:sub>
                          </m:sSub>
                        </m:num>
                        <m:den>
                          <m:r>
                            <a:rPr lang="zh-CN" altLang="en-US" sz="2800" i="1">
                              <a:solidFill>
                                <a:srgbClr val="000000"/>
                              </a:solidFill>
                              <a:latin typeface="Cambria Math" panose="02040503050406030204" pitchFamily="18" charset="0"/>
                            </a:rPr>
                            <m:t>𝑊</m:t>
                          </m:r>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104456" name="Object 8">
                <a:extLst>
                  <a:ext uri="{FF2B5EF4-FFF2-40B4-BE49-F238E27FC236}">
                    <a16:creationId xmlns:a16="http://schemas.microsoft.com/office/drawing/2014/main" id="{7087AA32-6339-4CD1-48A1-60B9BA2D9970}"/>
                  </a:ext>
                </a:extLst>
              </p:cNvPr>
              <p:cNvSpPr txBox="1">
                <a:spLocks noRot="1" noChangeAspect="1" noMove="1" noResize="1" noEditPoints="1" noAdjustHandles="1" noChangeArrowheads="1" noChangeShapeType="1" noTextEdit="1"/>
              </p:cNvSpPr>
              <p:nvPr/>
            </p:nvSpPr>
            <p:spPr bwMode="auto">
              <a:xfrm>
                <a:off x="3498851" y="3832225"/>
                <a:ext cx="2955925" cy="1200150"/>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104457" name="Text Box 9">
            <a:extLst>
              <a:ext uri="{FF2B5EF4-FFF2-40B4-BE49-F238E27FC236}">
                <a16:creationId xmlns:a16="http://schemas.microsoft.com/office/drawing/2014/main" id="{52A1C5D7-7601-45E5-9236-33F4D341A45D}"/>
              </a:ext>
            </a:extLst>
          </p:cNvPr>
          <p:cNvSpPr txBox="1">
            <a:spLocks noChangeArrowheads="1"/>
          </p:cNvSpPr>
          <p:nvPr/>
        </p:nvSpPr>
        <p:spPr bwMode="auto">
          <a:xfrm>
            <a:off x="1898650" y="4957763"/>
            <a:ext cx="2438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latin typeface="Times New Roman" panose="02020603050405020304" pitchFamily="18" charset="0"/>
              </a:rPr>
              <a:t>(2)卡诺循环: </a:t>
            </a:r>
          </a:p>
        </p:txBody>
      </p:sp>
      <mc:AlternateContent xmlns:mc="http://schemas.openxmlformats.org/markup-compatibility/2006" xmlns:a14="http://schemas.microsoft.com/office/drawing/2010/main">
        <mc:Choice Requires="a14">
          <p:sp>
            <p:nvSpPr>
              <p:cNvPr id="104458" name="Object 10">
                <a:extLst>
                  <a:ext uri="{FF2B5EF4-FFF2-40B4-BE49-F238E27FC236}">
                    <a16:creationId xmlns:a16="http://schemas.microsoft.com/office/drawing/2014/main" id="{E1A1C301-7D02-2834-602A-A1D3FD7EAB38}"/>
                  </a:ext>
                </a:extLst>
              </p:cNvPr>
              <p:cNvSpPr txBox="1"/>
              <p:nvPr/>
            </p:nvSpPr>
            <p:spPr bwMode="auto">
              <a:xfrm>
                <a:off x="6807199" y="2259012"/>
                <a:ext cx="3663950" cy="10668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𝜂</m:t>
                          </m:r>
                        </m:e>
                        <m:sub>
                          <m:r>
                            <a:rPr lang="zh-CN" altLang="en-US" sz="2800" i="1">
                              <a:solidFill>
                                <a:srgbClr val="000000"/>
                              </a:solidFill>
                              <a:latin typeface="Cambria Math" panose="02040503050406030204" pitchFamily="18" charset="0"/>
                            </a:rPr>
                            <m:t>卡诺</m:t>
                          </m:r>
                        </m:sub>
                      </m:sSub>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04458" name="Object 10">
                <a:extLst>
                  <a:ext uri="{FF2B5EF4-FFF2-40B4-BE49-F238E27FC236}">
                    <a16:creationId xmlns:a16="http://schemas.microsoft.com/office/drawing/2014/main" id="{E1A1C301-7D02-2834-602A-A1D3FD7EAB38}"/>
                  </a:ext>
                </a:extLst>
              </p:cNvPr>
              <p:cNvSpPr txBox="1">
                <a:spLocks noRot="1" noChangeAspect="1" noMove="1" noResize="1" noEditPoints="1" noAdjustHandles="1" noChangeArrowheads="1" noChangeShapeType="1" noTextEdit="1"/>
              </p:cNvSpPr>
              <p:nvPr/>
            </p:nvSpPr>
            <p:spPr bwMode="auto">
              <a:xfrm>
                <a:off x="6807199" y="2259012"/>
                <a:ext cx="3663950" cy="1066800"/>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459" name="Object 11">
                <a:extLst>
                  <a:ext uri="{FF2B5EF4-FFF2-40B4-BE49-F238E27FC236}">
                    <a16:creationId xmlns:a16="http://schemas.microsoft.com/office/drawing/2014/main" id="{6F4C035A-1C66-0AB7-DC9A-045E9AA17EF4}"/>
                  </a:ext>
                </a:extLst>
              </p:cNvPr>
              <p:cNvSpPr txBox="1"/>
              <p:nvPr/>
            </p:nvSpPr>
            <p:spPr bwMode="auto">
              <a:xfrm>
                <a:off x="6662738" y="3832225"/>
                <a:ext cx="3694112" cy="10668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卡诺</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104459" name="Object 11">
                <a:extLst>
                  <a:ext uri="{FF2B5EF4-FFF2-40B4-BE49-F238E27FC236}">
                    <a16:creationId xmlns:a16="http://schemas.microsoft.com/office/drawing/2014/main" id="{6F4C035A-1C66-0AB7-DC9A-045E9AA17EF4}"/>
                  </a:ext>
                </a:extLst>
              </p:cNvPr>
              <p:cNvSpPr txBox="1">
                <a:spLocks noRot="1" noChangeAspect="1" noMove="1" noResize="1" noEditPoints="1" noAdjustHandles="1" noChangeArrowheads="1" noChangeShapeType="1" noTextEdit="1"/>
              </p:cNvSpPr>
              <p:nvPr/>
            </p:nvSpPr>
            <p:spPr bwMode="auto">
              <a:xfrm>
                <a:off x="6662738" y="3832225"/>
                <a:ext cx="3694112" cy="1066800"/>
              </a:xfrm>
              <a:prstGeom prst="rect">
                <a:avLst/>
              </a:prstGeom>
              <a:blipFill>
                <a:blip r:embed="rId6"/>
                <a:stretch>
                  <a:fillRect/>
                </a:stretch>
              </a:blipFill>
              <a:ln>
                <a:noFill/>
              </a:ln>
              <a:effectLst/>
            </p:spPr>
            <p:txBody>
              <a:bodyPr/>
              <a:lstStyle/>
              <a:p>
                <a:r>
                  <a:rPr lang="zh-CN" altLang="en-US">
                    <a:noFill/>
                  </a:rPr>
                  <a:t> </a:t>
                </a:r>
              </a:p>
            </p:txBody>
          </p:sp>
        </mc:Fallback>
      </mc:AlternateContent>
      <p:sp>
        <p:nvSpPr>
          <p:cNvPr id="104460" name="Text Box 12">
            <a:extLst>
              <a:ext uri="{FF2B5EF4-FFF2-40B4-BE49-F238E27FC236}">
                <a16:creationId xmlns:a16="http://schemas.microsoft.com/office/drawing/2014/main" id="{0A29BDA8-EE55-4F09-C703-23A6B7A44281}"/>
              </a:ext>
            </a:extLst>
          </p:cNvPr>
          <p:cNvSpPr txBox="1">
            <a:spLocks noChangeArrowheads="1"/>
          </p:cNvSpPr>
          <p:nvPr/>
        </p:nvSpPr>
        <p:spPr bwMode="auto">
          <a:xfrm>
            <a:off x="1898650" y="5405438"/>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000000"/>
                </a:solidFill>
                <a:latin typeface="Times New Roman" panose="02020603050405020304" pitchFamily="18" charset="0"/>
              </a:rPr>
              <a:t>由两条等温线和两条绝热线组成的循环</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44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44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044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4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445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044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445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44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04457"/>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104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autoUpdateAnimBg="0"/>
      <p:bldP spid="104451" grpId="1"/>
      <p:bldP spid="104452" grpId="0"/>
      <p:bldP spid="104453" grpId="0" autoUpdateAnimBg="0"/>
      <p:bldP spid="104453" grpId="1"/>
      <p:bldP spid="104454" grpId="0"/>
      <p:bldP spid="104455" grpId="0" autoUpdateAnimBg="0"/>
      <p:bldP spid="104455" grpId="1"/>
      <p:bldP spid="104456" grpId="0"/>
      <p:bldP spid="104457" grpId="0" autoUpdateAnimBg="0"/>
      <p:bldP spid="104457" grpId="1"/>
      <p:bldP spid="104458" grpId="0"/>
      <p:bldP spid="104459" grpId="0"/>
      <p:bldP spid="104460" grpId="0" autoUpdateAnimBg="0"/>
      <p:bldP spid="104460"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a:extLst>
              <a:ext uri="{FF2B5EF4-FFF2-40B4-BE49-F238E27FC236}">
                <a16:creationId xmlns:a16="http://schemas.microsoft.com/office/drawing/2014/main" id="{EF93379A-CFE3-9186-B1A7-13D8E97E0213}"/>
              </a:ext>
            </a:extLst>
          </p:cNvPr>
          <p:cNvSpPr txBox="1">
            <a:spLocks noChangeArrowheads="1"/>
          </p:cNvSpPr>
          <p:nvPr/>
        </p:nvSpPr>
        <p:spPr bwMode="auto">
          <a:xfrm>
            <a:off x="1828800" y="422275"/>
            <a:ext cx="472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dirty="0">
                <a:latin typeface="Times New Roman" panose="02020603050405020304" pitchFamily="18" charset="0"/>
              </a:rPr>
              <a:t>- </a:t>
            </a:r>
            <a:r>
              <a:rPr lang="zh-CN" altLang="zh-CN" sz="3200" b="1" dirty="0">
                <a:latin typeface="Times New Roman" panose="02020603050405020304" pitchFamily="18" charset="0"/>
              </a:rPr>
              <a:t>热力学第二定律     熵</a:t>
            </a:r>
          </a:p>
        </p:txBody>
      </p:sp>
      <p:sp>
        <p:nvSpPr>
          <p:cNvPr id="105475" name="Text Box 3">
            <a:extLst>
              <a:ext uri="{FF2B5EF4-FFF2-40B4-BE49-F238E27FC236}">
                <a16:creationId xmlns:a16="http://schemas.microsoft.com/office/drawing/2014/main" id="{D55481FD-BCEE-5465-2749-9E5FF30A6C8E}"/>
              </a:ext>
            </a:extLst>
          </p:cNvPr>
          <p:cNvSpPr txBox="1">
            <a:spLocks noChangeArrowheads="1"/>
          </p:cNvSpPr>
          <p:nvPr/>
        </p:nvSpPr>
        <p:spPr bwMode="auto">
          <a:xfrm>
            <a:off x="1828800" y="1995488"/>
            <a:ext cx="8083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r>
              <a:rPr lang="zh-CN" altLang="zh-CN" sz="2400" b="1" dirty="0"/>
              <a:t>①  开尔文与克劳修斯的两种表述及其等价性。</a:t>
            </a:r>
          </a:p>
        </p:txBody>
      </p:sp>
      <p:sp>
        <p:nvSpPr>
          <p:cNvPr id="105476" name="Text Box 4">
            <a:extLst>
              <a:ext uri="{FF2B5EF4-FFF2-40B4-BE49-F238E27FC236}">
                <a16:creationId xmlns:a16="http://schemas.microsoft.com/office/drawing/2014/main" id="{1DFDB66C-5968-374A-299C-AF5D93FF2F83}"/>
              </a:ext>
            </a:extLst>
          </p:cNvPr>
          <p:cNvSpPr txBox="1">
            <a:spLocks noChangeArrowheads="1"/>
          </p:cNvSpPr>
          <p:nvPr/>
        </p:nvSpPr>
        <p:spPr bwMode="auto">
          <a:xfrm>
            <a:off x="1676400" y="1447801"/>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solidFill>
                  <a:srgbClr val="FF0000"/>
                </a:solidFill>
              </a:rPr>
              <a:t>(1)、热力学第二定律</a:t>
            </a:r>
          </a:p>
        </p:txBody>
      </p:sp>
      <p:sp>
        <p:nvSpPr>
          <p:cNvPr id="105477" name="Rectangle 5">
            <a:extLst>
              <a:ext uri="{FF2B5EF4-FFF2-40B4-BE49-F238E27FC236}">
                <a16:creationId xmlns:a16="http://schemas.microsoft.com/office/drawing/2014/main" id="{4CD5F42E-070A-1B00-D55B-C6F54BD80938}"/>
              </a:ext>
            </a:extLst>
          </p:cNvPr>
          <p:cNvSpPr>
            <a:spLocks noChangeArrowheads="1"/>
          </p:cNvSpPr>
          <p:nvPr/>
        </p:nvSpPr>
        <p:spPr bwMode="auto">
          <a:xfrm>
            <a:off x="2209801" y="2438401"/>
            <a:ext cx="4724370" cy="507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spcBef>
                <a:spcPct val="50000"/>
              </a:spcBef>
            </a:pPr>
            <a:r>
              <a:rPr lang="zh-CN" altLang="zh-CN" sz="2400" b="1" dirty="0"/>
              <a:t> ②  热力学第二定律的统计解释</a:t>
            </a:r>
            <a:r>
              <a:rPr lang="zh-CN" altLang="en-US" sz="2400" b="1" dirty="0"/>
              <a:t>。</a:t>
            </a:r>
            <a:endParaRPr lang="zh-CN" altLang="zh-CN" sz="2400" b="1" dirty="0"/>
          </a:p>
        </p:txBody>
      </p:sp>
      <p:sp>
        <p:nvSpPr>
          <p:cNvPr id="105478" name="Text Box 6">
            <a:extLst>
              <a:ext uri="{FF2B5EF4-FFF2-40B4-BE49-F238E27FC236}">
                <a16:creationId xmlns:a16="http://schemas.microsoft.com/office/drawing/2014/main" id="{0C1E7537-12EC-0EE3-70C1-B76D04A8E4FE}"/>
              </a:ext>
            </a:extLst>
          </p:cNvPr>
          <p:cNvSpPr txBox="1">
            <a:spLocks noChangeArrowheads="1"/>
          </p:cNvSpPr>
          <p:nvPr/>
        </p:nvSpPr>
        <p:spPr bwMode="auto">
          <a:xfrm>
            <a:off x="1600200" y="3450354"/>
            <a:ext cx="3919538" cy="5478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10000"/>
              </a:lnSpc>
            </a:pPr>
            <a:r>
              <a:rPr lang="zh-CN" altLang="zh-CN" sz="2800" b="1">
                <a:solidFill>
                  <a:srgbClr val="FF0000"/>
                </a:solidFill>
              </a:rPr>
              <a:t>(2)、熵及熵的计算</a:t>
            </a:r>
          </a:p>
        </p:txBody>
      </p:sp>
      <p:sp>
        <p:nvSpPr>
          <p:cNvPr id="105479" name="Text Box 7">
            <a:extLst>
              <a:ext uri="{FF2B5EF4-FFF2-40B4-BE49-F238E27FC236}">
                <a16:creationId xmlns:a16="http://schemas.microsoft.com/office/drawing/2014/main" id="{E5D852A1-19B6-589F-248A-572809AC381D}"/>
              </a:ext>
            </a:extLst>
          </p:cNvPr>
          <p:cNvSpPr txBox="1">
            <a:spLocks noChangeArrowheads="1"/>
          </p:cNvSpPr>
          <p:nvPr/>
        </p:nvSpPr>
        <p:spPr bwMode="auto">
          <a:xfrm>
            <a:off x="1752600" y="4346575"/>
            <a:ext cx="304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400" b="1"/>
              <a:t>玻尔兹曼熵公式：</a:t>
            </a:r>
          </a:p>
        </p:txBody>
      </p:sp>
      <mc:AlternateContent xmlns:mc="http://schemas.openxmlformats.org/markup-compatibility/2006" xmlns:a14="http://schemas.microsoft.com/office/drawing/2010/main">
        <mc:Choice Requires="a14">
          <p:sp>
            <p:nvSpPr>
              <p:cNvPr id="105480" name="Object 8">
                <a:extLst>
                  <a:ext uri="{FF2B5EF4-FFF2-40B4-BE49-F238E27FC236}">
                    <a16:creationId xmlns:a16="http://schemas.microsoft.com/office/drawing/2014/main" id="{259495D2-85B3-3E81-F36A-2CB23E495A87}"/>
                  </a:ext>
                </a:extLst>
              </p:cNvPr>
              <p:cNvSpPr txBox="1"/>
              <p:nvPr/>
            </p:nvSpPr>
            <p:spPr bwMode="auto">
              <a:xfrm>
                <a:off x="4511676" y="4346576"/>
                <a:ext cx="1952625" cy="481013"/>
              </a:xfrm>
              <a:prstGeom prst="rect">
                <a:avLst/>
              </a:prstGeom>
              <a:noFill/>
              <a:ln w="38100" cmpd="sng">
                <a:solidFill>
                  <a:schemeClr val="bg1"/>
                </a:solidFill>
                <a:miter lim="800000"/>
                <a:headEnd/>
                <a:tailEnd/>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𝑘</m:t>
                      </m:r>
                      <m:func>
                        <m:funcPr>
                          <m:ctrlPr>
                            <a:rPr lang="zh-CN" altLang="en-US" sz="2800" i="1">
                              <a:solidFill>
                                <a:srgbClr val="000000"/>
                              </a:solidFill>
                              <a:latin typeface="Cambria Math" panose="02040503050406030204" pitchFamily="18" charset="0"/>
                            </a:rPr>
                          </m:ctrlPr>
                        </m:funcPr>
                        <m:fName>
                          <m:r>
                            <m:rPr>
                              <m:sty m:val="p"/>
                            </m:rPr>
                            <a:rPr lang="zh-CN" altLang="en-US" sz="2800" i="0">
                              <a:solidFill>
                                <a:srgbClr val="000000"/>
                              </a:solidFill>
                              <a:latin typeface="Cambria Math" panose="02040503050406030204" pitchFamily="18" charset="0"/>
                            </a:rPr>
                            <m:t>ln</m:t>
                          </m:r>
                        </m:fName>
                        <m:e>
                          <m:r>
                            <a:rPr lang="zh-CN" altLang="en-US" sz="2800" i="1">
                              <a:solidFill>
                                <a:srgbClr val="000000"/>
                              </a:solidFill>
                              <a:latin typeface="Cambria Math" panose="02040503050406030204" pitchFamily="18" charset="0"/>
                            </a:rPr>
                            <m:t>𝑤</m:t>
                          </m:r>
                        </m:e>
                      </m:func>
                    </m:oMath>
                  </m:oMathPara>
                </a14:m>
                <a:endParaRPr lang="zh-CN" altLang="en-US" sz="2800" dirty="0"/>
              </a:p>
            </p:txBody>
          </p:sp>
        </mc:Choice>
        <mc:Fallback xmlns="">
          <p:sp>
            <p:nvSpPr>
              <p:cNvPr id="105480" name="Object 8">
                <a:extLst>
                  <a:ext uri="{FF2B5EF4-FFF2-40B4-BE49-F238E27FC236}">
                    <a16:creationId xmlns:a16="http://schemas.microsoft.com/office/drawing/2014/main" id="{259495D2-85B3-3E81-F36A-2CB23E495A87}"/>
                  </a:ext>
                </a:extLst>
              </p:cNvPr>
              <p:cNvSpPr txBox="1">
                <a:spLocks noRot="1" noChangeAspect="1" noMove="1" noResize="1" noEditPoints="1" noAdjustHandles="1" noChangeArrowheads="1" noChangeShapeType="1" noTextEdit="1"/>
              </p:cNvSpPr>
              <p:nvPr/>
            </p:nvSpPr>
            <p:spPr bwMode="auto">
              <a:xfrm>
                <a:off x="4511676" y="4346576"/>
                <a:ext cx="1952625" cy="481013"/>
              </a:xfrm>
              <a:prstGeom prst="rect">
                <a:avLst/>
              </a:prstGeom>
              <a:blipFill>
                <a:blip r:embed="rId2"/>
                <a:stretch>
                  <a:fillRect/>
                </a:stretch>
              </a:blipFill>
              <a:ln w="38100" cmpd="sng">
                <a:solidFill>
                  <a:schemeClr val="bg1"/>
                </a:solidFill>
                <a:miter lim="800000"/>
                <a:headEnd/>
                <a:tailEnd/>
              </a:ln>
              <a:effectLst/>
            </p:spPr>
            <p:txBody>
              <a:bodyPr/>
              <a:lstStyle/>
              <a:p>
                <a:r>
                  <a:rPr lang="zh-CN" altLang="en-US">
                    <a:noFill/>
                  </a:rPr>
                  <a:t> </a:t>
                </a:r>
              </a:p>
            </p:txBody>
          </p:sp>
        </mc:Fallback>
      </mc:AlternateContent>
      <p:sp>
        <p:nvSpPr>
          <p:cNvPr id="105481" name="Text Box 9">
            <a:extLst>
              <a:ext uri="{FF2B5EF4-FFF2-40B4-BE49-F238E27FC236}">
                <a16:creationId xmlns:a16="http://schemas.microsoft.com/office/drawing/2014/main" id="{B1148069-12B5-9AA9-8F71-3390B31028B9}"/>
              </a:ext>
            </a:extLst>
          </p:cNvPr>
          <p:cNvSpPr txBox="1">
            <a:spLocks noChangeArrowheads="1"/>
          </p:cNvSpPr>
          <p:nvPr/>
        </p:nvSpPr>
        <p:spPr bwMode="auto">
          <a:xfrm>
            <a:off x="6743700" y="4400551"/>
            <a:ext cx="3168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zh-CN" sz="2000" b="1">
                <a:solidFill>
                  <a:srgbClr val="000000"/>
                </a:solidFill>
              </a:rPr>
              <a:t>（其中</a:t>
            </a:r>
            <a:r>
              <a:rPr lang="zh-CN" altLang="zh-CN" sz="2000" b="1" i="1">
                <a:solidFill>
                  <a:srgbClr val="000000"/>
                </a:solidFill>
              </a:rPr>
              <a:t>w</a:t>
            </a:r>
            <a:r>
              <a:rPr lang="zh-CN" altLang="zh-CN" sz="2000" b="1">
                <a:solidFill>
                  <a:srgbClr val="000000"/>
                </a:solidFill>
              </a:rPr>
              <a:t> 是热力学几率）</a:t>
            </a:r>
          </a:p>
        </p:txBody>
      </p:sp>
      <p:sp>
        <p:nvSpPr>
          <p:cNvPr id="105482" name="Text Box 10">
            <a:extLst>
              <a:ext uri="{FF2B5EF4-FFF2-40B4-BE49-F238E27FC236}">
                <a16:creationId xmlns:a16="http://schemas.microsoft.com/office/drawing/2014/main" id="{52FDD516-EC1C-9A01-F249-F924EFD0CE49}"/>
              </a:ext>
            </a:extLst>
          </p:cNvPr>
          <p:cNvSpPr txBox="1">
            <a:spLocks noChangeArrowheads="1"/>
          </p:cNvSpPr>
          <p:nvPr/>
        </p:nvSpPr>
        <p:spPr bwMode="auto">
          <a:xfrm>
            <a:off x="1919288" y="5034681"/>
            <a:ext cx="8458200" cy="5478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10000"/>
              </a:lnSpc>
            </a:pPr>
            <a:r>
              <a:rPr lang="zh-CN" altLang="zh-CN" sz="2800" b="1"/>
              <a:t>热力学几率</a:t>
            </a:r>
            <a:r>
              <a:rPr lang="zh-CN" altLang="zh-CN" sz="2800" b="1" i="1"/>
              <a:t>w</a:t>
            </a:r>
            <a:r>
              <a:rPr lang="zh-CN" altLang="zh-CN" sz="2800" b="1"/>
              <a:t> ：表示任一宏观态所对应的微观态数.</a:t>
            </a:r>
          </a:p>
        </p:txBody>
      </p:sp>
      <p:sp>
        <p:nvSpPr>
          <p:cNvPr id="105483" name="Rectangle 11">
            <a:extLst>
              <a:ext uri="{FF2B5EF4-FFF2-40B4-BE49-F238E27FC236}">
                <a16:creationId xmlns:a16="http://schemas.microsoft.com/office/drawing/2014/main" id="{6900975F-5089-BCB1-7743-15284263C1C7}"/>
              </a:ext>
            </a:extLst>
          </p:cNvPr>
          <p:cNvSpPr>
            <a:spLocks noChangeArrowheads="1"/>
          </p:cNvSpPr>
          <p:nvPr/>
        </p:nvSpPr>
        <p:spPr bwMode="auto">
          <a:xfrm>
            <a:off x="1795603" y="5826841"/>
            <a:ext cx="3057247" cy="5478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lnSpc>
                <a:spcPct val="110000"/>
              </a:lnSpc>
            </a:pPr>
            <a:r>
              <a:rPr lang="zh-CN" altLang="zh-CN" sz="2800" b="1"/>
              <a:t>克劳修斯熵公式：</a:t>
            </a:r>
          </a:p>
        </p:txBody>
      </p:sp>
      <mc:AlternateContent xmlns:mc="http://schemas.openxmlformats.org/markup-compatibility/2006" xmlns:a14="http://schemas.microsoft.com/office/drawing/2010/main">
        <mc:Choice Requires="a14">
          <p:sp>
            <p:nvSpPr>
              <p:cNvPr id="105484" name="Object 12">
                <a:extLst>
                  <a:ext uri="{FF2B5EF4-FFF2-40B4-BE49-F238E27FC236}">
                    <a16:creationId xmlns:a16="http://schemas.microsoft.com/office/drawing/2014/main" id="{DB737BC8-5F29-D68B-778E-29456E0208A5}"/>
                  </a:ext>
                </a:extLst>
              </p:cNvPr>
              <p:cNvSpPr txBox="1"/>
              <p:nvPr/>
            </p:nvSpPr>
            <p:spPr bwMode="auto">
              <a:xfrm>
                <a:off x="4656138" y="5675313"/>
                <a:ext cx="5256212" cy="849312"/>
              </a:xfrm>
              <a:prstGeom prst="rect">
                <a:avLst/>
              </a:prstGeom>
              <a:noFill/>
              <a:ln w="38100" cmpd="sng">
                <a:solidFill>
                  <a:schemeClr val="bg1"/>
                </a:solidFill>
                <a:miter lim="800000"/>
                <a:headEnd/>
                <a:tailEnd/>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rPr>
                        <m:t>Δ</m:t>
                      </m:r>
                      <m:r>
                        <a:rPr lang="zh-CN" altLang="en-US" sz="2800" i="1">
                          <a:solidFill>
                            <a:srgbClr val="000000"/>
                          </a:solidFill>
                          <a:latin typeface="Cambria Math" panose="02040503050406030204" pitchFamily="18" charset="0"/>
                        </a:rPr>
                        <m:t>𝑆</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𝑆</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nary>
                        <m:naryPr>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𝐴</m:t>
                          </m:r>
                        </m:sub>
                        <m:sup>
                          <m:r>
                            <a:rPr lang="zh-CN" altLang="en-US" sz="2800" i="1">
                              <a:solidFill>
                                <a:srgbClr val="000000"/>
                              </a:solidFill>
                              <a:latin typeface="Cambria Math" panose="02040503050406030204" pitchFamily="18" charset="0"/>
                            </a:rPr>
                            <m:t>𝐵</m:t>
                          </m:r>
                        </m:sup>
                        <m:e>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𝑑</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可逆</m:t>
                                  </m:r>
                                </m:sub>
                              </m:sSub>
                            </m:num>
                            <m:den>
                              <m:r>
                                <a:rPr lang="zh-CN" altLang="en-US" sz="2800" i="1">
                                  <a:solidFill>
                                    <a:srgbClr val="000000"/>
                                  </a:solidFill>
                                  <a:latin typeface="Cambria Math" panose="02040503050406030204" pitchFamily="18" charset="0"/>
                                </a:rPr>
                                <m:t>𝑇</m:t>
                              </m:r>
                            </m:den>
                          </m:f>
                        </m:e>
                      </m:nary>
                    </m:oMath>
                  </m:oMathPara>
                </a14:m>
                <a:endParaRPr lang="zh-CN" altLang="en-US" sz="2800" dirty="0"/>
              </a:p>
            </p:txBody>
          </p:sp>
        </mc:Choice>
        <mc:Fallback xmlns="">
          <p:sp>
            <p:nvSpPr>
              <p:cNvPr id="105484" name="Object 12">
                <a:extLst>
                  <a:ext uri="{FF2B5EF4-FFF2-40B4-BE49-F238E27FC236}">
                    <a16:creationId xmlns:a16="http://schemas.microsoft.com/office/drawing/2014/main" id="{DB737BC8-5F29-D68B-778E-29456E0208A5}"/>
                  </a:ext>
                </a:extLst>
              </p:cNvPr>
              <p:cNvSpPr txBox="1">
                <a:spLocks noRot="1" noChangeAspect="1" noMove="1" noResize="1" noEditPoints="1" noAdjustHandles="1" noChangeArrowheads="1" noChangeShapeType="1" noTextEdit="1"/>
              </p:cNvSpPr>
              <p:nvPr/>
            </p:nvSpPr>
            <p:spPr bwMode="auto">
              <a:xfrm>
                <a:off x="4656138" y="5675313"/>
                <a:ext cx="5256212" cy="849312"/>
              </a:xfrm>
              <a:prstGeom prst="rect">
                <a:avLst/>
              </a:prstGeom>
              <a:blipFill>
                <a:blip r:embed="rId3"/>
                <a:stretch>
                  <a:fillRect b="-16552"/>
                </a:stretch>
              </a:blipFill>
              <a:ln w="38100" cmpd="sng">
                <a:solidFill>
                  <a:schemeClr val="bg1"/>
                </a:solidFill>
                <a:miter lim="800000"/>
                <a:headEnd/>
                <a:tailEnd/>
              </a:ln>
              <a:effectLst/>
            </p:spPr>
            <p:txBody>
              <a:bodyPr/>
              <a:lstStyle/>
              <a:p>
                <a:r>
                  <a:rPr lang="zh-CN" altLang="en-US">
                    <a:noFill/>
                  </a:rPr>
                  <a:t> </a:t>
                </a:r>
              </a:p>
            </p:txBody>
          </p:sp>
        </mc:Fallback>
      </mc:AlternateContent>
      <p:sp>
        <p:nvSpPr>
          <p:cNvPr id="105485" name="Rectangle 13">
            <a:extLst>
              <a:ext uri="{FF2B5EF4-FFF2-40B4-BE49-F238E27FC236}">
                <a16:creationId xmlns:a16="http://schemas.microsoft.com/office/drawing/2014/main" id="{158359BE-466E-ADEE-7978-6FAAE1AE527C}"/>
              </a:ext>
            </a:extLst>
          </p:cNvPr>
          <p:cNvSpPr>
            <a:spLocks noChangeArrowheads="1"/>
          </p:cNvSpPr>
          <p:nvPr/>
        </p:nvSpPr>
        <p:spPr bwMode="auto">
          <a:xfrm>
            <a:off x="2286000" y="2898776"/>
            <a:ext cx="5257800" cy="508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lnSpc>
                <a:spcPct val="120000"/>
              </a:lnSpc>
            </a:pPr>
            <a:r>
              <a:rPr lang="zh-CN" altLang="zh-CN" sz="2400" b="1" dirty="0">
                <a:solidFill>
                  <a:srgbClr val="000000"/>
                </a:solidFill>
              </a:rPr>
              <a:t>③   可逆过程、不可逆过程。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wipe(left)">
                                      <p:cBhvr>
                                        <p:cTn id="7" dur="500"/>
                                        <p:tgtEl>
                                          <p:spTgt spid="1054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5476"/>
                                        </p:tgtEl>
                                        <p:attrNameLst>
                                          <p:attrName>style.visibility</p:attrName>
                                        </p:attrNameLst>
                                      </p:cBhvr>
                                      <p:to>
                                        <p:strVal val="visible"/>
                                      </p:to>
                                    </p:set>
                                    <p:animEffect transition="in" filter="wipe(left)">
                                      <p:cBhvr>
                                        <p:cTn id="12" dur="500"/>
                                        <p:tgtEl>
                                          <p:spTgt spid="1054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5475"/>
                                        </p:tgtEl>
                                        <p:attrNameLst>
                                          <p:attrName>style.visibility</p:attrName>
                                        </p:attrNameLst>
                                      </p:cBhvr>
                                      <p:to>
                                        <p:strVal val="visible"/>
                                      </p:to>
                                    </p:set>
                                    <p:animEffect transition="in" filter="wipe(left)">
                                      <p:cBhvr>
                                        <p:cTn id="17" dur="500"/>
                                        <p:tgtEl>
                                          <p:spTgt spid="1054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10547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5485">
                                            <p:txEl>
                                              <p:pRg st="0" end="0"/>
                                            </p:txEl>
                                          </p:spTgt>
                                        </p:tgtEl>
                                        <p:attrNameLst>
                                          <p:attrName>style.visibility</p:attrName>
                                        </p:attrNameLst>
                                      </p:cBhvr>
                                      <p:to>
                                        <p:strVal val="visible"/>
                                      </p:to>
                                    </p:set>
                                    <p:animEffect transition="in" filter="wipe(left)">
                                      <p:cBhvr>
                                        <p:cTn id="26" dur="500"/>
                                        <p:tgtEl>
                                          <p:spTgt spid="105485">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05478"/>
                                        </p:tgtEl>
                                        <p:attrNameLst>
                                          <p:attrName>style.visibility</p:attrName>
                                        </p:attrNameLst>
                                      </p:cBhvr>
                                      <p:to>
                                        <p:strVal val="visible"/>
                                      </p:to>
                                    </p:set>
                                    <p:animEffect transition="in" filter="wipe(left)">
                                      <p:cBhvr>
                                        <p:cTn id="31" dur="500"/>
                                        <p:tgtEl>
                                          <p:spTgt spid="10547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05479"/>
                                        </p:tgtEl>
                                        <p:attrNameLst>
                                          <p:attrName>style.visibility</p:attrName>
                                        </p:attrNameLst>
                                      </p:cBhvr>
                                      <p:to>
                                        <p:strVal val="visible"/>
                                      </p:to>
                                    </p:set>
                                    <p:animEffect transition="in" filter="wipe(left)">
                                      <p:cBhvr>
                                        <p:cTn id="36" dur="500"/>
                                        <p:tgtEl>
                                          <p:spTgt spid="10547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548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10548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05482"/>
                                        </p:tgtEl>
                                        <p:attrNameLst>
                                          <p:attrName>style.visibility</p:attrName>
                                        </p:attrNameLst>
                                      </p:cBhvr>
                                      <p:to>
                                        <p:strVal val="visible"/>
                                      </p:to>
                                    </p:set>
                                    <p:anim calcmode="lin" valueType="num">
                                      <p:cBhvr additive="base">
                                        <p:cTn id="49" dur="500" fill="hold"/>
                                        <p:tgtEl>
                                          <p:spTgt spid="105482"/>
                                        </p:tgtEl>
                                        <p:attrNameLst>
                                          <p:attrName>ppt_x</p:attrName>
                                        </p:attrNameLst>
                                      </p:cBhvr>
                                      <p:tavLst>
                                        <p:tav tm="0">
                                          <p:val>
                                            <p:strVal val="0-#ppt_w/2"/>
                                          </p:val>
                                        </p:tav>
                                        <p:tav tm="100000">
                                          <p:val>
                                            <p:strVal val="#ppt_x"/>
                                          </p:val>
                                        </p:tav>
                                      </p:tavLst>
                                    </p:anim>
                                    <p:anim calcmode="lin" valueType="num">
                                      <p:cBhvr additive="base">
                                        <p:cTn id="50" dur="500" fill="hold"/>
                                        <p:tgtEl>
                                          <p:spTgt spid="10548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105483"/>
                                        </p:tgtEl>
                                        <p:attrNameLst>
                                          <p:attrName>style.visibility</p:attrName>
                                        </p:attrNameLst>
                                      </p:cBhvr>
                                      <p:to>
                                        <p:strVal val="visible"/>
                                      </p:to>
                                    </p:set>
                                    <p:animEffect transition="in" filter="dissolve">
                                      <p:cBhvr>
                                        <p:cTn id="55" dur="500"/>
                                        <p:tgtEl>
                                          <p:spTgt spid="105483"/>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05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autoUpdateAnimBg="0"/>
      <p:bldP spid="105476" grpId="0" autoUpdateAnimBg="0"/>
      <p:bldP spid="105477" grpId="0" autoUpdateAnimBg="0"/>
      <p:bldP spid="105478" grpId="0" autoUpdateAnimBg="0"/>
      <p:bldP spid="105479" grpId="0" autoUpdateAnimBg="0"/>
      <p:bldP spid="105480" grpId="0" animBg="1"/>
      <p:bldP spid="105481" grpId="0" autoUpdateAnimBg="0"/>
      <p:bldP spid="105482" grpId="0" autoUpdateAnimBg="0"/>
      <p:bldP spid="105483" grpId="0" autoUpdateAnimBg="0"/>
      <p:bldP spid="105484" grpId="0" animBg="1"/>
      <p:bldP spid="105485"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A617B859-D12C-B3E7-7B36-534CD39BC823}"/>
              </a:ext>
            </a:extLst>
          </p:cNvPr>
          <p:cNvSpPr>
            <a:spLocks noChangeArrowheads="1"/>
          </p:cNvSpPr>
          <p:nvPr/>
        </p:nvSpPr>
        <p:spPr bwMode="auto">
          <a:xfrm>
            <a:off x="1752600" y="2636838"/>
            <a:ext cx="3657600" cy="580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lnSpc>
                <a:spcPct val="120000"/>
              </a:lnSpc>
            </a:pPr>
            <a:r>
              <a:rPr lang="zh-CN" altLang="zh-CN" sz="2800" b="1" dirty="0">
                <a:solidFill>
                  <a:srgbClr val="FF0000"/>
                </a:solidFill>
                <a:ea typeface="+mj-ea"/>
              </a:rPr>
              <a:t>    ② 对不可逆过程:</a:t>
            </a:r>
            <a:endParaRPr lang="zh-CN" altLang="zh-CN" sz="2800" b="1" u="sng" dirty="0">
              <a:solidFill>
                <a:srgbClr val="FF0000"/>
              </a:solidFill>
              <a:ea typeface="+mj-ea"/>
            </a:endParaRPr>
          </a:p>
        </p:txBody>
      </p:sp>
      <p:sp>
        <p:nvSpPr>
          <p:cNvPr id="106499" name="Text Box 3">
            <a:extLst>
              <a:ext uri="{FF2B5EF4-FFF2-40B4-BE49-F238E27FC236}">
                <a16:creationId xmlns:a16="http://schemas.microsoft.com/office/drawing/2014/main" id="{4E34BE88-FE03-D37B-81C4-162ED98D186D}"/>
              </a:ext>
            </a:extLst>
          </p:cNvPr>
          <p:cNvSpPr txBox="1">
            <a:spLocks noChangeArrowheads="1"/>
          </p:cNvSpPr>
          <p:nvPr/>
        </p:nvSpPr>
        <p:spPr bwMode="auto">
          <a:xfrm>
            <a:off x="1828800" y="1384300"/>
            <a:ext cx="3259138" cy="58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zh-CN" sz="2800" b="1" dirty="0">
                <a:solidFill>
                  <a:srgbClr val="FF0000"/>
                </a:solidFill>
                <a:ea typeface="+mj-ea"/>
              </a:rPr>
              <a:t>     ① 对可逆过程</a:t>
            </a:r>
          </a:p>
        </p:txBody>
      </p:sp>
      <mc:AlternateContent xmlns:mc="http://schemas.openxmlformats.org/markup-compatibility/2006" xmlns:a14="http://schemas.microsoft.com/office/drawing/2010/main">
        <mc:Choice Requires="a14">
          <p:sp>
            <p:nvSpPr>
              <p:cNvPr id="106500" name="Object 4">
                <a:extLst>
                  <a:ext uri="{FF2B5EF4-FFF2-40B4-BE49-F238E27FC236}">
                    <a16:creationId xmlns:a16="http://schemas.microsoft.com/office/drawing/2014/main" id="{0AFB243F-DFDC-064C-7940-D0B5DB6B542F}"/>
                  </a:ext>
                </a:extLst>
              </p:cNvPr>
              <p:cNvSpPr txBox="1"/>
              <p:nvPr/>
            </p:nvSpPr>
            <p:spPr bwMode="auto">
              <a:xfrm>
                <a:off x="5011738" y="5475064"/>
                <a:ext cx="2073275" cy="70008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800" i="1">
                          <a:solidFill>
                            <a:srgbClr val="000000"/>
                          </a:solidFill>
                          <a:latin typeface="Cambria Math" panose="02040503050406030204" pitchFamily="18" charset="0"/>
                          <a:ea typeface="+mj-ea"/>
                        </a:rPr>
                        <m:t>Δ</m:t>
                      </m:r>
                      <m:r>
                        <a:rPr lang="zh-CN" altLang="en-US" sz="2800" i="1">
                          <a:solidFill>
                            <a:srgbClr val="000000"/>
                          </a:solidFill>
                          <a:latin typeface="Cambria Math" panose="02040503050406030204" pitchFamily="18" charset="0"/>
                          <a:ea typeface="+mj-ea"/>
                        </a:rPr>
                        <m:t>𝑆</m:t>
                      </m:r>
                      <m:r>
                        <a:rPr lang="zh-CN" altLang="en-US" sz="2800" i="1">
                          <a:solidFill>
                            <a:srgbClr val="000000"/>
                          </a:solidFill>
                          <a:latin typeface="Cambria Math" panose="02040503050406030204" pitchFamily="18" charset="0"/>
                          <a:ea typeface="+mj-ea"/>
                        </a:rPr>
                        <m:t>≥0</m:t>
                      </m:r>
                    </m:oMath>
                  </m:oMathPara>
                </a14:m>
                <a:endParaRPr lang="zh-CN" altLang="en-US" sz="2800" dirty="0">
                  <a:ea typeface="+mj-ea"/>
                </a:endParaRPr>
              </a:p>
            </p:txBody>
          </p:sp>
        </mc:Choice>
        <mc:Fallback xmlns="">
          <p:sp>
            <p:nvSpPr>
              <p:cNvPr id="106500" name="Object 4">
                <a:extLst>
                  <a:ext uri="{FF2B5EF4-FFF2-40B4-BE49-F238E27FC236}">
                    <a16:creationId xmlns:a16="http://schemas.microsoft.com/office/drawing/2014/main" id="{0AFB243F-DFDC-064C-7940-D0B5DB6B542F}"/>
                  </a:ext>
                </a:extLst>
              </p:cNvPr>
              <p:cNvSpPr txBox="1">
                <a:spLocks noRot="1" noChangeAspect="1" noMove="1" noResize="1" noEditPoints="1" noAdjustHandles="1" noChangeArrowheads="1" noChangeShapeType="1" noTextEdit="1"/>
              </p:cNvSpPr>
              <p:nvPr/>
            </p:nvSpPr>
            <p:spPr bwMode="auto">
              <a:xfrm>
                <a:off x="5011738" y="5475064"/>
                <a:ext cx="2073275" cy="700087"/>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106501" name="Text Box 5">
            <a:extLst>
              <a:ext uri="{FF2B5EF4-FFF2-40B4-BE49-F238E27FC236}">
                <a16:creationId xmlns:a16="http://schemas.microsoft.com/office/drawing/2014/main" id="{8A515687-E5BF-DA89-6E63-39CAF98E66A3}"/>
              </a:ext>
            </a:extLst>
          </p:cNvPr>
          <p:cNvSpPr txBox="1">
            <a:spLocks noChangeArrowheads="1"/>
          </p:cNvSpPr>
          <p:nvPr/>
        </p:nvSpPr>
        <p:spPr bwMode="auto">
          <a:xfrm>
            <a:off x="1752600" y="4247204"/>
            <a:ext cx="381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a:solidFill>
                  <a:srgbClr val="FF0000"/>
                </a:solidFill>
                <a:ea typeface="+mj-ea"/>
              </a:rPr>
              <a:t>（3）熵增原理:</a:t>
            </a:r>
          </a:p>
        </p:txBody>
      </p:sp>
      <p:sp>
        <p:nvSpPr>
          <p:cNvPr id="106502" name="Text Box 6">
            <a:extLst>
              <a:ext uri="{FF2B5EF4-FFF2-40B4-BE49-F238E27FC236}">
                <a16:creationId xmlns:a16="http://schemas.microsoft.com/office/drawing/2014/main" id="{F6E659EA-56B2-7908-C506-D26FDA591505}"/>
              </a:ext>
            </a:extLst>
          </p:cNvPr>
          <p:cNvSpPr txBox="1">
            <a:spLocks noChangeArrowheads="1"/>
          </p:cNvSpPr>
          <p:nvPr/>
        </p:nvSpPr>
        <p:spPr bwMode="auto">
          <a:xfrm>
            <a:off x="2178050" y="4893541"/>
            <a:ext cx="8162812" cy="58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zh-CN" altLang="zh-CN" sz="2800" b="1" dirty="0">
                <a:ea typeface="+mj-ea"/>
              </a:rPr>
              <a:t>孤立系统内不论进行什么过程，系统的熵不会减少</a:t>
            </a:r>
          </a:p>
        </p:txBody>
      </p:sp>
      <mc:AlternateContent xmlns:mc="http://schemas.openxmlformats.org/markup-compatibility/2006" xmlns:a14="http://schemas.microsoft.com/office/drawing/2010/main">
        <mc:Choice Requires="a14">
          <p:sp>
            <p:nvSpPr>
              <p:cNvPr id="106503" name="Object 7">
                <a:extLst>
                  <a:ext uri="{FF2B5EF4-FFF2-40B4-BE49-F238E27FC236}">
                    <a16:creationId xmlns:a16="http://schemas.microsoft.com/office/drawing/2014/main" id="{7FA09A4D-1BC0-EF4C-EF90-3F548FBE18E9}"/>
                  </a:ext>
                </a:extLst>
              </p:cNvPr>
              <p:cNvSpPr txBox="1"/>
              <p:nvPr/>
            </p:nvSpPr>
            <p:spPr bwMode="auto">
              <a:xfrm>
                <a:off x="5178424" y="2593543"/>
                <a:ext cx="4232275" cy="990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ea typeface="+mj-ea"/>
                            </a:rPr>
                          </m:ctrlPr>
                        </m:sSubPr>
                        <m:e>
                          <m:r>
                            <a:rPr lang="zh-CN" altLang="en-US" sz="2800" i="1">
                              <a:solidFill>
                                <a:srgbClr val="000000"/>
                              </a:solidFill>
                              <a:latin typeface="Cambria Math" panose="02040503050406030204" pitchFamily="18" charset="0"/>
                              <a:ea typeface="+mj-ea"/>
                            </a:rPr>
                            <m:t>𝑆</m:t>
                          </m:r>
                        </m:e>
                        <m:sub>
                          <m:r>
                            <a:rPr lang="zh-CN" altLang="en-US" sz="2800" i="1">
                              <a:solidFill>
                                <a:srgbClr val="000000"/>
                              </a:solidFill>
                              <a:latin typeface="Cambria Math" panose="02040503050406030204" pitchFamily="18" charset="0"/>
                              <a:ea typeface="+mj-ea"/>
                            </a:rPr>
                            <m:t>𝐵</m:t>
                          </m:r>
                        </m:sub>
                      </m:sSub>
                      <m:r>
                        <a:rPr lang="zh-CN" altLang="en-US" sz="2800" i="1">
                          <a:solidFill>
                            <a:srgbClr val="000000"/>
                          </a:solidFill>
                          <a:latin typeface="Cambria Math" panose="02040503050406030204" pitchFamily="18" charset="0"/>
                          <a:ea typeface="+mj-ea"/>
                        </a:rPr>
                        <m:t>−</m:t>
                      </m:r>
                      <m:sSub>
                        <m:sSubPr>
                          <m:ctrlPr>
                            <a:rPr lang="zh-CN" altLang="en-US" sz="2800" i="1">
                              <a:solidFill>
                                <a:srgbClr val="000000"/>
                              </a:solidFill>
                              <a:latin typeface="Cambria Math" panose="02040503050406030204" pitchFamily="18" charset="0"/>
                              <a:ea typeface="+mj-ea"/>
                            </a:rPr>
                          </m:ctrlPr>
                        </m:sSubPr>
                        <m:e>
                          <m:r>
                            <a:rPr lang="zh-CN" altLang="en-US" sz="2800" i="1">
                              <a:solidFill>
                                <a:srgbClr val="000000"/>
                              </a:solidFill>
                              <a:latin typeface="Cambria Math" panose="02040503050406030204" pitchFamily="18" charset="0"/>
                              <a:ea typeface="+mj-ea"/>
                            </a:rPr>
                            <m:t>𝑆</m:t>
                          </m:r>
                        </m:e>
                        <m:sub>
                          <m:r>
                            <a:rPr lang="zh-CN" altLang="en-US" sz="2800" i="1">
                              <a:solidFill>
                                <a:srgbClr val="000000"/>
                              </a:solidFill>
                              <a:latin typeface="Cambria Math" panose="02040503050406030204" pitchFamily="18" charset="0"/>
                              <a:ea typeface="+mj-ea"/>
                            </a:rPr>
                            <m:t>𝐴</m:t>
                          </m:r>
                        </m:sub>
                      </m:sSub>
                      <m:r>
                        <a:rPr lang="zh-CN" altLang="en-US" sz="2800" i="1">
                          <a:solidFill>
                            <a:srgbClr val="000000"/>
                          </a:solidFill>
                          <a:latin typeface="Cambria Math" panose="02040503050406030204" pitchFamily="18" charset="0"/>
                          <a:ea typeface="+mj-ea"/>
                        </a:rPr>
                        <m:t>&gt;</m:t>
                      </m:r>
                      <m:nary>
                        <m:naryPr>
                          <m:ctrlPr>
                            <a:rPr lang="zh-CN" altLang="en-US" sz="2800" i="1">
                              <a:solidFill>
                                <a:srgbClr val="000000"/>
                              </a:solidFill>
                              <a:latin typeface="Cambria Math" panose="02040503050406030204" pitchFamily="18" charset="0"/>
                              <a:ea typeface="+mj-ea"/>
                            </a:rPr>
                          </m:ctrlPr>
                        </m:naryPr>
                        <m:sub>
                          <m:r>
                            <a:rPr lang="zh-CN" altLang="en-US" sz="2800" i="1">
                              <a:solidFill>
                                <a:srgbClr val="000000"/>
                              </a:solidFill>
                              <a:latin typeface="Cambria Math" panose="02040503050406030204" pitchFamily="18" charset="0"/>
                              <a:ea typeface="+mj-ea"/>
                            </a:rPr>
                            <m:t>𝐴</m:t>
                          </m:r>
                        </m:sub>
                        <m:sup>
                          <m:r>
                            <a:rPr lang="zh-CN" altLang="en-US" sz="2800" i="1">
                              <a:solidFill>
                                <a:srgbClr val="000000"/>
                              </a:solidFill>
                              <a:latin typeface="Cambria Math" panose="02040503050406030204" pitchFamily="18" charset="0"/>
                              <a:ea typeface="+mj-ea"/>
                            </a:rPr>
                            <m:t>𝐵</m:t>
                          </m:r>
                        </m:sup>
                        <m:e>
                          <m:f>
                            <m:fPr>
                              <m:ctrlPr>
                                <a:rPr lang="zh-CN" altLang="en-US" sz="2800" i="1">
                                  <a:solidFill>
                                    <a:srgbClr val="000000"/>
                                  </a:solidFill>
                                  <a:latin typeface="Cambria Math" panose="02040503050406030204" pitchFamily="18" charset="0"/>
                                  <a:ea typeface="+mj-ea"/>
                                </a:rPr>
                              </m:ctrlPr>
                            </m:fPr>
                            <m:num>
                              <m:r>
                                <a:rPr lang="zh-CN" altLang="en-US" sz="2800" i="1">
                                  <a:solidFill>
                                    <a:srgbClr val="000000"/>
                                  </a:solidFill>
                                  <a:latin typeface="Cambria Math" panose="02040503050406030204" pitchFamily="18" charset="0"/>
                                  <a:ea typeface="+mj-ea"/>
                                </a:rPr>
                                <m:t>𝑑</m:t>
                              </m:r>
                              <m:sSub>
                                <m:sSubPr>
                                  <m:ctrlPr>
                                    <a:rPr lang="zh-CN" altLang="en-US" sz="2800" i="1">
                                      <a:solidFill>
                                        <a:srgbClr val="000000"/>
                                      </a:solidFill>
                                      <a:latin typeface="Cambria Math" panose="02040503050406030204" pitchFamily="18" charset="0"/>
                                      <a:ea typeface="+mj-ea"/>
                                    </a:rPr>
                                  </m:ctrlPr>
                                </m:sSubPr>
                                <m:e>
                                  <m:r>
                                    <a:rPr lang="zh-CN" altLang="en-US" sz="2800" i="1">
                                      <a:solidFill>
                                        <a:srgbClr val="000000"/>
                                      </a:solidFill>
                                      <a:latin typeface="Cambria Math" panose="02040503050406030204" pitchFamily="18" charset="0"/>
                                      <a:ea typeface="+mj-ea"/>
                                    </a:rPr>
                                    <m:t>𝑄</m:t>
                                  </m:r>
                                </m:e>
                                <m:sub>
                                  <m:r>
                                    <a:rPr lang="zh-CN" altLang="en-US" sz="2800" i="1">
                                      <a:solidFill>
                                        <a:srgbClr val="000000"/>
                                      </a:solidFill>
                                      <a:latin typeface="Cambria Math" panose="02040503050406030204" pitchFamily="18" charset="0"/>
                                      <a:ea typeface="+mj-ea"/>
                                    </a:rPr>
                                    <m:t>不可逆</m:t>
                                  </m:r>
                                </m:sub>
                              </m:sSub>
                            </m:num>
                            <m:den>
                              <m:r>
                                <a:rPr lang="zh-CN" altLang="en-US" sz="2800" i="1">
                                  <a:solidFill>
                                    <a:srgbClr val="000000"/>
                                  </a:solidFill>
                                  <a:latin typeface="Cambria Math" panose="02040503050406030204" pitchFamily="18" charset="0"/>
                                  <a:ea typeface="+mj-ea"/>
                                </a:rPr>
                                <m:t>𝑇</m:t>
                              </m:r>
                            </m:den>
                          </m:f>
                        </m:e>
                      </m:nary>
                    </m:oMath>
                  </m:oMathPara>
                </a14:m>
                <a:endParaRPr lang="zh-CN" altLang="en-US" sz="2800" dirty="0">
                  <a:ea typeface="+mj-ea"/>
                </a:endParaRPr>
              </a:p>
            </p:txBody>
          </p:sp>
        </mc:Choice>
        <mc:Fallback xmlns="">
          <p:sp>
            <p:nvSpPr>
              <p:cNvPr id="106503" name="Object 7">
                <a:extLst>
                  <a:ext uri="{FF2B5EF4-FFF2-40B4-BE49-F238E27FC236}">
                    <a16:creationId xmlns:a16="http://schemas.microsoft.com/office/drawing/2014/main" id="{7FA09A4D-1BC0-EF4C-EF90-3F548FBE18E9}"/>
                  </a:ext>
                </a:extLst>
              </p:cNvPr>
              <p:cNvSpPr txBox="1">
                <a:spLocks noRot="1" noChangeAspect="1" noMove="1" noResize="1" noEditPoints="1" noAdjustHandles="1" noChangeArrowheads="1" noChangeShapeType="1" noTextEdit="1"/>
              </p:cNvSpPr>
              <p:nvPr/>
            </p:nvSpPr>
            <p:spPr bwMode="auto">
              <a:xfrm>
                <a:off x="5178424" y="2593543"/>
                <a:ext cx="4232275" cy="990600"/>
              </a:xfrm>
              <a:prstGeom prst="rect">
                <a:avLst/>
              </a:prstGeom>
              <a:blipFill>
                <a:blip r:embed="rId4"/>
                <a:stretch>
                  <a:fillRect b="-1840"/>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505" name="Object 9">
                <a:extLst>
                  <a:ext uri="{FF2B5EF4-FFF2-40B4-BE49-F238E27FC236}">
                    <a16:creationId xmlns:a16="http://schemas.microsoft.com/office/drawing/2014/main" id="{0362DEC9-FC75-EBD7-D614-B11F6E2409F3}"/>
                  </a:ext>
                </a:extLst>
              </p:cNvPr>
              <p:cNvSpPr txBox="1"/>
              <p:nvPr/>
            </p:nvSpPr>
            <p:spPr bwMode="auto">
              <a:xfrm>
                <a:off x="5087939" y="1182688"/>
                <a:ext cx="4322760" cy="10223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ea typeface="+mj-ea"/>
                            </a:rPr>
                          </m:ctrlPr>
                        </m:sSubPr>
                        <m:e>
                          <m:r>
                            <a:rPr lang="zh-CN" altLang="en-US" sz="2800" i="1">
                              <a:solidFill>
                                <a:srgbClr val="000000"/>
                              </a:solidFill>
                              <a:latin typeface="Cambria Math" panose="02040503050406030204" pitchFamily="18" charset="0"/>
                              <a:ea typeface="+mj-ea"/>
                            </a:rPr>
                            <m:t>𝑆</m:t>
                          </m:r>
                        </m:e>
                        <m:sub>
                          <m:r>
                            <a:rPr lang="zh-CN" altLang="en-US" sz="2800" i="1">
                              <a:solidFill>
                                <a:srgbClr val="000000"/>
                              </a:solidFill>
                              <a:latin typeface="Cambria Math" panose="02040503050406030204" pitchFamily="18" charset="0"/>
                              <a:ea typeface="+mj-ea"/>
                            </a:rPr>
                            <m:t>𝐵</m:t>
                          </m:r>
                        </m:sub>
                      </m:sSub>
                      <m:r>
                        <a:rPr lang="zh-CN" altLang="en-US" sz="2800" i="1">
                          <a:solidFill>
                            <a:srgbClr val="000000"/>
                          </a:solidFill>
                          <a:latin typeface="Cambria Math" panose="02040503050406030204" pitchFamily="18" charset="0"/>
                          <a:ea typeface="+mj-ea"/>
                        </a:rPr>
                        <m:t>−</m:t>
                      </m:r>
                      <m:sSub>
                        <m:sSubPr>
                          <m:ctrlPr>
                            <a:rPr lang="zh-CN" altLang="en-US" sz="2800" i="1">
                              <a:solidFill>
                                <a:srgbClr val="000000"/>
                              </a:solidFill>
                              <a:latin typeface="Cambria Math" panose="02040503050406030204" pitchFamily="18" charset="0"/>
                              <a:ea typeface="+mj-ea"/>
                            </a:rPr>
                          </m:ctrlPr>
                        </m:sSubPr>
                        <m:e>
                          <m:r>
                            <a:rPr lang="zh-CN" altLang="en-US" sz="2800" i="1">
                              <a:solidFill>
                                <a:srgbClr val="000000"/>
                              </a:solidFill>
                              <a:latin typeface="Cambria Math" panose="02040503050406030204" pitchFamily="18" charset="0"/>
                              <a:ea typeface="+mj-ea"/>
                            </a:rPr>
                            <m:t>𝑆</m:t>
                          </m:r>
                        </m:e>
                        <m:sub>
                          <m:r>
                            <a:rPr lang="zh-CN" altLang="en-US" sz="2800" i="1">
                              <a:solidFill>
                                <a:srgbClr val="000000"/>
                              </a:solidFill>
                              <a:latin typeface="Cambria Math" panose="02040503050406030204" pitchFamily="18" charset="0"/>
                              <a:ea typeface="+mj-ea"/>
                            </a:rPr>
                            <m:t>𝐴</m:t>
                          </m:r>
                        </m:sub>
                      </m:sSub>
                      <m:r>
                        <a:rPr lang="zh-CN" altLang="en-US" sz="2800" i="1">
                          <a:solidFill>
                            <a:srgbClr val="000000"/>
                          </a:solidFill>
                          <a:latin typeface="Cambria Math" panose="02040503050406030204" pitchFamily="18" charset="0"/>
                          <a:ea typeface="+mj-ea"/>
                        </a:rPr>
                        <m:t>=</m:t>
                      </m:r>
                      <m:nary>
                        <m:naryPr>
                          <m:ctrlPr>
                            <a:rPr lang="zh-CN" altLang="en-US" sz="2800" i="1">
                              <a:solidFill>
                                <a:srgbClr val="000000"/>
                              </a:solidFill>
                              <a:latin typeface="Cambria Math" panose="02040503050406030204" pitchFamily="18" charset="0"/>
                              <a:ea typeface="+mj-ea"/>
                            </a:rPr>
                          </m:ctrlPr>
                        </m:naryPr>
                        <m:sub>
                          <m:r>
                            <a:rPr lang="zh-CN" altLang="en-US" sz="2800" i="1">
                              <a:solidFill>
                                <a:srgbClr val="000000"/>
                              </a:solidFill>
                              <a:latin typeface="Cambria Math" panose="02040503050406030204" pitchFamily="18" charset="0"/>
                              <a:ea typeface="+mj-ea"/>
                            </a:rPr>
                            <m:t>𝐴</m:t>
                          </m:r>
                        </m:sub>
                        <m:sup>
                          <m:r>
                            <a:rPr lang="zh-CN" altLang="en-US" sz="2800" i="1">
                              <a:solidFill>
                                <a:srgbClr val="000000"/>
                              </a:solidFill>
                              <a:latin typeface="Cambria Math" panose="02040503050406030204" pitchFamily="18" charset="0"/>
                              <a:ea typeface="+mj-ea"/>
                            </a:rPr>
                            <m:t>𝐵</m:t>
                          </m:r>
                        </m:sup>
                        <m:e>
                          <m:f>
                            <m:fPr>
                              <m:ctrlPr>
                                <a:rPr lang="zh-CN" altLang="en-US" sz="2800" i="1">
                                  <a:solidFill>
                                    <a:srgbClr val="000000"/>
                                  </a:solidFill>
                                  <a:latin typeface="Cambria Math" panose="02040503050406030204" pitchFamily="18" charset="0"/>
                                  <a:ea typeface="+mj-ea"/>
                                </a:rPr>
                              </m:ctrlPr>
                            </m:fPr>
                            <m:num>
                              <m:r>
                                <a:rPr lang="zh-CN" altLang="en-US" sz="2800" i="1">
                                  <a:solidFill>
                                    <a:srgbClr val="000000"/>
                                  </a:solidFill>
                                  <a:latin typeface="Cambria Math" panose="02040503050406030204" pitchFamily="18" charset="0"/>
                                  <a:ea typeface="+mj-ea"/>
                                </a:rPr>
                                <m:t>𝑑</m:t>
                              </m:r>
                              <m:sSub>
                                <m:sSubPr>
                                  <m:ctrlPr>
                                    <a:rPr lang="zh-CN" altLang="en-US" sz="2800" i="1">
                                      <a:solidFill>
                                        <a:srgbClr val="000000"/>
                                      </a:solidFill>
                                      <a:latin typeface="Cambria Math" panose="02040503050406030204" pitchFamily="18" charset="0"/>
                                      <a:ea typeface="+mj-ea"/>
                                    </a:rPr>
                                  </m:ctrlPr>
                                </m:sSubPr>
                                <m:e>
                                  <m:r>
                                    <a:rPr lang="zh-CN" altLang="en-US" sz="2800" i="1">
                                      <a:solidFill>
                                        <a:srgbClr val="000000"/>
                                      </a:solidFill>
                                      <a:latin typeface="Cambria Math" panose="02040503050406030204" pitchFamily="18" charset="0"/>
                                      <a:ea typeface="+mj-ea"/>
                                    </a:rPr>
                                    <m:t>𝑄</m:t>
                                  </m:r>
                                </m:e>
                                <m:sub>
                                  <m:r>
                                    <a:rPr lang="zh-CN" altLang="en-US" sz="2800" i="1">
                                      <a:solidFill>
                                        <a:srgbClr val="000000"/>
                                      </a:solidFill>
                                      <a:latin typeface="Cambria Math" panose="02040503050406030204" pitchFamily="18" charset="0"/>
                                      <a:ea typeface="+mj-ea"/>
                                    </a:rPr>
                                    <m:t>可逆</m:t>
                                  </m:r>
                                </m:sub>
                              </m:sSub>
                            </m:num>
                            <m:den>
                              <m:r>
                                <a:rPr lang="zh-CN" altLang="en-US" sz="2800" i="1">
                                  <a:solidFill>
                                    <a:srgbClr val="000000"/>
                                  </a:solidFill>
                                  <a:latin typeface="Cambria Math" panose="02040503050406030204" pitchFamily="18" charset="0"/>
                                  <a:ea typeface="+mj-ea"/>
                                </a:rPr>
                                <m:t>𝑇</m:t>
                              </m:r>
                            </m:den>
                          </m:f>
                        </m:e>
                      </m:nary>
                    </m:oMath>
                  </m:oMathPara>
                </a14:m>
                <a:endParaRPr lang="zh-CN" altLang="en-US" sz="2800" dirty="0">
                  <a:ea typeface="+mj-ea"/>
                </a:endParaRPr>
              </a:p>
            </p:txBody>
          </p:sp>
        </mc:Choice>
        <mc:Fallback xmlns="">
          <p:sp>
            <p:nvSpPr>
              <p:cNvPr id="106505" name="Object 9">
                <a:extLst>
                  <a:ext uri="{FF2B5EF4-FFF2-40B4-BE49-F238E27FC236}">
                    <a16:creationId xmlns:a16="http://schemas.microsoft.com/office/drawing/2014/main" id="{0362DEC9-FC75-EBD7-D614-B11F6E2409F3}"/>
                  </a:ext>
                </a:extLst>
              </p:cNvPr>
              <p:cNvSpPr txBox="1">
                <a:spLocks noRot="1" noChangeAspect="1" noMove="1" noResize="1" noEditPoints="1" noAdjustHandles="1" noChangeArrowheads="1" noChangeShapeType="1" noTextEdit="1"/>
              </p:cNvSpPr>
              <p:nvPr/>
            </p:nvSpPr>
            <p:spPr bwMode="auto">
              <a:xfrm>
                <a:off x="5087939" y="1182688"/>
                <a:ext cx="4322760" cy="1022350"/>
              </a:xfrm>
              <a:prstGeom prst="rect">
                <a:avLst/>
              </a:prstGeom>
              <a:blipFill>
                <a:blip r:embed="rId5"/>
                <a:stretch>
                  <a:fillRect/>
                </a:stretch>
              </a:blipFill>
              <a:ln>
                <a:noFill/>
              </a:ln>
              <a:effectLst/>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5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6498">
                                            <p:txEl>
                                              <p:pRg st="0" end="0"/>
                                            </p:txEl>
                                          </p:spTgt>
                                        </p:tgtEl>
                                        <p:attrNameLst>
                                          <p:attrName>style.visibility</p:attrName>
                                        </p:attrNameLst>
                                      </p:cBhvr>
                                      <p:to>
                                        <p:strVal val="visible"/>
                                      </p:to>
                                    </p:set>
                                    <p:animEffect transition="in" filter="wipe(left)">
                                      <p:cBhvr>
                                        <p:cTn id="15" dur="500"/>
                                        <p:tgtEl>
                                          <p:spTgt spid="10649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650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06501"/>
                                        </p:tgtEl>
                                        <p:attrNameLst>
                                          <p:attrName>style.visibility</p:attrName>
                                        </p:attrNameLst>
                                      </p:cBhvr>
                                      <p:to>
                                        <p:strVal val="visible"/>
                                      </p:to>
                                    </p:set>
                                    <p:animEffect transition="in" filter="wipe(left)">
                                      <p:cBhvr>
                                        <p:cTn id="24" dur="500"/>
                                        <p:tgtEl>
                                          <p:spTgt spid="10650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iterate type="lt">
                                    <p:tmPct val="100000"/>
                                  </p:iterate>
                                  <p:childTnLst>
                                    <p:set>
                                      <p:cBhvr>
                                        <p:cTn id="28" dur="1" fill="hold">
                                          <p:stCondLst>
                                            <p:cond delay="0"/>
                                          </p:stCondLst>
                                        </p:cTn>
                                        <p:tgtEl>
                                          <p:spTgt spid="106502">
                                            <p:txEl>
                                              <p:pRg st="0" end="0"/>
                                            </p:txEl>
                                          </p:spTgt>
                                        </p:tgtEl>
                                        <p:attrNameLst>
                                          <p:attrName>style.visibility</p:attrName>
                                        </p:attrNameLst>
                                      </p:cBhvr>
                                      <p:to>
                                        <p:strVal val="visible"/>
                                      </p:to>
                                    </p:set>
                                    <p:animEffect transition="in" filter="wipe(up)">
                                      <p:cBhvr>
                                        <p:cTn id="29" dur="75"/>
                                        <p:tgtEl>
                                          <p:spTgt spid="106502">
                                            <p:txEl>
                                              <p:pRg st="0" end="0"/>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TYPE.WAV"/>
                                        </p:tgtEl>
                                      </p:cMediaNode>
                                    </p:audio>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6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build="p" autoUpdateAnimBg="0"/>
      <p:bldP spid="106499" grpId="0"/>
      <p:bldP spid="106500" grpId="0"/>
      <p:bldP spid="106501" grpId="0" autoUpdateAnimBg="0"/>
      <p:bldP spid="106502" grpId="0" build="p" autoUpdateAnimBg="0"/>
      <p:bldP spid="106503" grpId="0"/>
      <p:bldP spid="10650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033938" y="2533285"/>
            <a:ext cx="6442789"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作业 ：习题</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11.3</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11.5</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11.7</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11.9</a:t>
            </a:r>
            <a:endParaRPr lang="en-US" sz="3200" kern="100" dirty="0">
              <a:effectLst/>
              <a:latin typeface="Times New Roman" panose="02020603050405020304" pitchFamily="18" charset="0"/>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908582" y="3739940"/>
            <a:ext cx="5724644"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截止时间：</a:t>
            </a:r>
            <a:r>
              <a:rPr lang="en-US" altLang="zh-CN" sz="3200" kern="0" dirty="0">
                <a:solidFill>
                  <a:srgbClr val="000000"/>
                </a:solidFill>
                <a:latin typeface="Times New Roman" panose="02020603050405020304" pitchFamily="18" charset="0"/>
                <a:ea typeface="+mj-ea"/>
                <a:cs typeface="Times New Roman" panose="02020603050405020304" pitchFamily="18" charset="0"/>
              </a:rPr>
              <a:t>3</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14</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日上午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endParaRPr lang="en-US" sz="3200" kern="100" dirty="0">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3205727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0.xml><?xml version="1.0" encoding="utf-8"?>
<p:tagLst xmlns:a="http://schemas.openxmlformats.org/drawingml/2006/main" xmlns:r="http://schemas.openxmlformats.org/officeDocument/2006/relationships" xmlns:p="http://schemas.openxmlformats.org/presentationml/2006/main">
  <p:tag name="RAINPROBLEM" val="ProblemIte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4301</TotalTime>
  <Words>2967</Words>
  <Application>Microsoft Office PowerPoint</Application>
  <PresentationFormat>宽屏</PresentationFormat>
  <Paragraphs>521</Paragraphs>
  <Slides>38</Slides>
  <Notes>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38</vt:i4>
      </vt:variant>
    </vt:vector>
  </HeadingPairs>
  <TitlesOfParts>
    <vt:vector size="56" baseType="lpstr">
      <vt:lpstr>Microsoft Yahei</vt:lpstr>
      <vt:lpstr>Monotype Sorts</vt:lpstr>
      <vt:lpstr>等线</vt:lpstr>
      <vt:lpstr>黑体</vt:lpstr>
      <vt:lpstr>华文楷体</vt:lpstr>
      <vt:lpstr>楷体</vt:lpstr>
      <vt:lpstr>宋体</vt:lpstr>
      <vt:lpstr>Arial</vt:lpstr>
      <vt:lpstr>Bookman Old Style</vt:lpstr>
      <vt:lpstr>Calibri</vt:lpstr>
      <vt:lpstr>Cambria Math</vt:lpstr>
      <vt:lpstr>MT Extra</vt:lpstr>
      <vt:lpstr>Symbol</vt:lpstr>
      <vt:lpstr>Times New Roman</vt:lpstr>
      <vt:lpstr>Wingdings</vt:lpstr>
      <vt:lpstr>Office 主题​​</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117</cp:revision>
  <dcterms:created xsi:type="dcterms:W3CDTF">2023-02-17T03:39:54Z</dcterms:created>
  <dcterms:modified xsi:type="dcterms:W3CDTF">2024-03-07T01:47:12Z</dcterms:modified>
</cp:coreProperties>
</file>