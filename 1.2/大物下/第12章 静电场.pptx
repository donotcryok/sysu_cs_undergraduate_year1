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1187" r:id="rId2"/>
    <p:sldId id="419" r:id="rId3"/>
    <p:sldId id="649" r:id="rId4"/>
    <p:sldId id="360" r:id="rId5"/>
    <p:sldId id="1092" r:id="rId6"/>
    <p:sldId id="1186" r:id="rId7"/>
    <p:sldId id="432" r:id="rId8"/>
    <p:sldId id="1117" r:id="rId9"/>
    <p:sldId id="433" r:id="rId10"/>
    <p:sldId id="434" r:id="rId11"/>
    <p:sldId id="667" r:id="rId12"/>
    <p:sldId id="1048" r:id="rId13"/>
    <p:sldId id="1118" r:id="rId14"/>
    <p:sldId id="437" r:id="rId15"/>
    <p:sldId id="874" r:id="rId16"/>
    <p:sldId id="831" r:id="rId17"/>
    <p:sldId id="872" r:id="rId18"/>
    <p:sldId id="833" r:id="rId19"/>
    <p:sldId id="1119" r:id="rId20"/>
    <p:sldId id="834" r:id="rId21"/>
    <p:sldId id="835" r:id="rId22"/>
    <p:sldId id="836" r:id="rId23"/>
    <p:sldId id="838" r:id="rId24"/>
    <p:sldId id="875" r:id="rId25"/>
    <p:sldId id="1122" r:id="rId26"/>
    <p:sldId id="841" r:id="rId27"/>
    <p:sldId id="843" r:id="rId28"/>
    <p:sldId id="1188" r:id="rId29"/>
    <p:sldId id="876" r:id="rId30"/>
    <p:sldId id="845" r:id="rId31"/>
    <p:sldId id="1123" r:id="rId32"/>
    <p:sldId id="853" r:id="rId33"/>
    <p:sldId id="855" r:id="rId34"/>
    <p:sldId id="856" r:id="rId35"/>
    <p:sldId id="489" r:id="rId36"/>
    <p:sldId id="1130" r:id="rId37"/>
    <p:sldId id="879" r:id="rId38"/>
    <p:sldId id="860" r:id="rId39"/>
    <p:sldId id="880" r:id="rId40"/>
    <p:sldId id="864" r:id="rId41"/>
    <p:sldId id="881" r:id="rId42"/>
    <p:sldId id="882" r:id="rId43"/>
    <p:sldId id="468" r:id="rId44"/>
    <p:sldId id="808" r:id="rId45"/>
    <p:sldId id="472" r:id="rId46"/>
    <p:sldId id="1115" r:id="rId47"/>
    <p:sldId id="81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38" autoAdjust="0"/>
    <p:restoredTop sz="94662" autoAdjust="0"/>
  </p:normalViewPr>
  <p:slideViewPr>
    <p:cSldViewPr snapToGrid="0">
      <p:cViewPr varScale="1">
        <p:scale>
          <a:sx n="158" d="100"/>
          <a:sy n="158" d="100"/>
        </p:scale>
        <p:origin x="9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image" Target="../media/image74.emf"/><Relationship Id="rId7" Type="http://schemas.openxmlformats.org/officeDocument/2006/relationships/image" Target="../media/image78.wmf"/><Relationship Id="rId2" Type="http://schemas.openxmlformats.org/officeDocument/2006/relationships/image" Target="../media/image73.emf"/><Relationship Id="rId1" Type="http://schemas.openxmlformats.org/officeDocument/2006/relationships/image" Target="../media/image72.emf"/><Relationship Id="rId6" Type="http://schemas.openxmlformats.org/officeDocument/2006/relationships/image" Target="../media/image77.wmf"/><Relationship Id="rId11" Type="http://schemas.openxmlformats.org/officeDocument/2006/relationships/image" Target="../media/image82.wmf"/><Relationship Id="rId5" Type="http://schemas.openxmlformats.org/officeDocument/2006/relationships/image" Target="../media/image76.emf"/><Relationship Id="rId10" Type="http://schemas.openxmlformats.org/officeDocument/2006/relationships/image" Target="../media/image81.emf"/><Relationship Id="rId4" Type="http://schemas.openxmlformats.org/officeDocument/2006/relationships/image" Target="../media/image75.wmf"/><Relationship Id="rId9" Type="http://schemas.openxmlformats.org/officeDocument/2006/relationships/image" Target="../media/image80.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85.emf"/><Relationship Id="rId7" Type="http://schemas.openxmlformats.org/officeDocument/2006/relationships/image" Target="../media/image86.wmf"/><Relationship Id="rId2" Type="http://schemas.openxmlformats.org/officeDocument/2006/relationships/image" Target="../media/image84.emf"/><Relationship Id="rId1" Type="http://schemas.openxmlformats.org/officeDocument/2006/relationships/image" Target="../media/image83.e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3/12/2024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A19AF11A-E53C-43C9-A486-74E64C6EE140}" type="slidenum">
              <a:rPr lang="en-US" smtClean="0"/>
              <a:t>30</a:t>
            </a:fld>
            <a:endParaRPr lang="en-US"/>
          </a:p>
        </p:txBody>
      </p:sp>
    </p:spTree>
    <p:extLst>
      <p:ext uri="{BB962C8B-B14F-4D97-AF65-F5344CB8AC3E}">
        <p14:creationId xmlns:p14="http://schemas.microsoft.com/office/powerpoint/2010/main" val="2017202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A19AF11A-E53C-43C9-A486-74E64C6EE140}" type="slidenum">
              <a:rPr lang="en-US" smtClean="0"/>
              <a:t>31</a:t>
            </a:fld>
            <a:endParaRPr lang="en-US"/>
          </a:p>
        </p:txBody>
      </p:sp>
    </p:spTree>
    <p:extLst>
      <p:ext uri="{BB962C8B-B14F-4D97-AF65-F5344CB8AC3E}">
        <p14:creationId xmlns:p14="http://schemas.microsoft.com/office/powerpoint/2010/main" val="1500954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C506484-4EB8-4C0E-8D2B-69B4D1268550}" type="slidenum">
              <a:rPr lang="en-US" altLang="zh-CN" smtClean="0"/>
              <a:pPr>
                <a:spcBef>
                  <a:spcPct val="0"/>
                </a:spcBef>
              </a:pPr>
              <a:t>45</a:t>
            </a:fld>
            <a:endParaRPr lang="en-US" altLang="zh-CN"/>
          </a:p>
        </p:txBody>
      </p:sp>
      <p:sp>
        <p:nvSpPr>
          <p:cNvPr id="62467" name="Rectangle 2"/>
          <p:cNvSpPr>
            <a:spLocks noGrp="1" noRot="1" noChangeAspect="1" noChangeArrowheads="1" noTextEdit="1"/>
          </p:cNvSpPr>
          <p:nvPr>
            <p:ph type="sldImg"/>
          </p:nvPr>
        </p:nvSpPr>
        <p:spPr bwMode="auto">
          <a:xfrm>
            <a:off x="26988" y="744538"/>
            <a:ext cx="6615112" cy="37226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97642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02EB796-427A-4A62-B09D-6A58B12211F3}" type="slidenum">
              <a:rPr lang="en-US" altLang="zh-CN" smtClean="0"/>
              <a:pPr>
                <a:spcBef>
                  <a:spcPct val="0"/>
                </a:spcBef>
              </a:pPr>
              <a:t>46</a:t>
            </a:fld>
            <a:endParaRPr lang="en-US" altLang="zh-CN"/>
          </a:p>
        </p:txBody>
      </p:sp>
      <p:sp>
        <p:nvSpPr>
          <p:cNvPr id="64515" name="Rectangle 2"/>
          <p:cNvSpPr>
            <a:spLocks noGrp="1" noRot="1" noChangeAspect="1" noChangeArrowheads="1" noTextEdit="1"/>
          </p:cNvSpPr>
          <p:nvPr>
            <p:ph type="sldImg"/>
          </p:nvPr>
        </p:nvSpPr>
        <p:spPr bwMode="auto">
          <a:xfrm>
            <a:off x="26988" y="744538"/>
            <a:ext cx="6615112" cy="37226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1630456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3/12/2024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NULL"/><Relationship Id="rId3" Type="http://schemas.openxmlformats.org/officeDocument/2006/relationships/image" Target="../media/image2.jpeg"/><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NULL"/><Relationship Id="rId2" Type="http://schemas.openxmlformats.org/officeDocument/2006/relationships/image" Target="../media/image1.jpeg"/><Relationship Id="rId16"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19" Type="http://schemas.openxmlformats.org/officeDocument/2006/relationships/image" Target="NULL"/><Relationship Id="rId4" Type="http://schemas.openxmlformats.org/officeDocument/2006/relationships/image" Target="../media/image3.jpeg"/><Relationship Id="rId9" Type="http://schemas.openxmlformats.org/officeDocument/2006/relationships/image" Target="NULL"/><Relationship Id="rId14" Type="http://schemas.openxmlformats.org/officeDocument/2006/relationships/image" Target="NUL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29"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28" Type="http://schemas.openxmlformats.org/officeDocument/2006/relationships/image" Target="../media/image220.png"/><Relationship Id="rId4" Type="http://schemas.openxmlformats.org/officeDocument/2006/relationships/image" Target="../media/image45.png"/><Relationship Id="rId27" Type="http://schemas.openxmlformats.org/officeDocument/2006/relationships/image" Target="../media/image219.png"/><Relationship Id="rId30" Type="http://schemas.openxmlformats.org/officeDocument/2006/relationships/image" Target="../media/image7.png"/></Relationships>
</file>

<file path=ppt/slides/_rels/slide11.xml.rels><?xml version="1.0" encoding="UTF-8" standalone="yes"?>
<Relationships xmlns="http://schemas.openxmlformats.org/package/2006/relationships"><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media/image53.png"/><Relationship Id="rId12"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media/image8.png"/><Relationship Id="rId4" Type="http://schemas.openxmlformats.org/officeDocument/2006/relationships/image" Target="NULL"/><Relationship Id="rId14" Type="http://schemas.openxmlformats.org/officeDocument/2006/relationships/image" Target="../media/image54.png"/></Relationships>
</file>

<file path=ppt/slides/_rels/slide12.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56.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1300.png"/><Relationship Id="rId16" Type="http://schemas.openxmlformats.org/officeDocument/2006/relationships/image" Target="../media/image94.pn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5" Type="http://schemas.openxmlformats.org/officeDocument/2006/relationships/image" Target="../media/image82.png"/><Relationship Id="rId10" Type="http://schemas.openxmlformats.org/officeDocument/2006/relationships/image" Target="../media/image77.png"/><Relationship Id="rId19" Type="http://schemas.openxmlformats.org/officeDocument/2006/relationships/image" Target="../media/image57.png"/><Relationship Id="rId9" Type="http://schemas.openxmlformats.org/officeDocument/2006/relationships/image" Target="../media/image76.png"/><Relationship Id="rId14" Type="http://schemas.openxmlformats.org/officeDocument/2006/relationships/image" Target="../media/image8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3.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21.jpeg"/><Relationship Id="rId1" Type="http://schemas.openxmlformats.org/officeDocument/2006/relationships/slideLayout" Target="../slideLayouts/slideLayout7.xml"/><Relationship Id="rId5" Type="http://schemas.openxmlformats.org/officeDocument/2006/relationships/image" Target="../media/image98.png"/><Relationship Id="rId4" Type="http://schemas.openxmlformats.org/officeDocument/2006/relationships/image" Target="../media/image95.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95.png"/><Relationship Id="rId4" Type="http://schemas.openxmlformats.org/officeDocument/2006/relationships/image" Target="../media/image93.png"/></Relationships>
</file>

<file path=ppt/slides/_rels/slide26.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350.png"/><Relationship Id="rId2"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340.png"/><Relationship Id="rId5" Type="http://schemas.openxmlformats.org/officeDocument/2006/relationships/image" Target="../media/image330.png"/><Relationship Id="rId4" Type="http://schemas.openxmlformats.org/officeDocument/2006/relationships/image" Target="../media/image32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3.gif"/></Relationships>
</file>

<file path=ppt/slides/_rels/slide3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5.png"/><Relationship Id="rId7" Type="http://schemas.openxmlformats.org/officeDocument/2006/relationships/image" Target="../media/image64.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66.png"/><Relationship Id="rId4" Type="http://schemas.openxmlformats.org/officeDocument/2006/relationships/image" Target="../media/image600.png"/><Relationship Id="rId9" Type="http://schemas.openxmlformats.org/officeDocument/2006/relationships/image" Target="../media/image66.jpeg"/></Relationships>
</file>

<file path=ppt/slides/_rels/slide33.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560.png"/><Relationship Id="rId5" Type="http://schemas.openxmlformats.org/officeDocument/2006/relationships/image" Target="../media/image111.png"/><Relationship Id="rId4" Type="http://schemas.openxmlformats.org/officeDocument/2006/relationships/image" Target="../media/image110.png"/></Relationships>
</file>

<file path=ppt/slides/_rels/slide34.x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oleObject" Target="../embeddings/oleObject7.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70.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8.wmf"/><Relationship Id="rId11" Type="http://schemas.openxmlformats.org/officeDocument/2006/relationships/oleObject" Target="../embeddings/oleObject6.bin"/><Relationship Id="rId5" Type="http://schemas.openxmlformats.org/officeDocument/2006/relationships/oleObject" Target="../embeddings/oleObject4.bin"/><Relationship Id="rId10" Type="http://schemas.openxmlformats.org/officeDocument/2006/relationships/image" Target="../media/image122.png"/><Relationship Id="rId4" Type="http://schemas.openxmlformats.org/officeDocument/2006/relationships/image" Target="../media/image67.wmf"/><Relationship Id="rId9" Type="http://schemas.openxmlformats.org/officeDocument/2006/relationships/image" Target="../media/image116.png"/><Relationship Id="rId14" Type="http://schemas.openxmlformats.org/officeDocument/2006/relationships/image" Target="../media/image71.wmf"/></Relationships>
</file>

<file path=ppt/slides/_rels/slide35.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oleObject" Target="../embeddings/oleObject13.bin"/><Relationship Id="rId18" Type="http://schemas.openxmlformats.org/officeDocument/2006/relationships/image" Target="../media/image79.wmf"/><Relationship Id="rId26" Type="http://schemas.openxmlformats.org/officeDocument/2006/relationships/image" Target="../media/image82.wmf"/><Relationship Id="rId3" Type="http://schemas.openxmlformats.org/officeDocument/2006/relationships/oleObject" Target="../embeddings/oleObject8.bin"/><Relationship Id="rId21" Type="http://schemas.openxmlformats.org/officeDocument/2006/relationships/image" Target="../media/image80.emf"/><Relationship Id="rId7" Type="http://schemas.openxmlformats.org/officeDocument/2006/relationships/oleObject" Target="../embeddings/oleObject10.bin"/><Relationship Id="rId12" Type="http://schemas.openxmlformats.org/officeDocument/2006/relationships/image" Target="../media/image76.emf"/><Relationship Id="rId17" Type="http://schemas.openxmlformats.org/officeDocument/2006/relationships/oleObject" Target="../embeddings/oleObject15.bin"/><Relationship Id="rId25"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78.wmf"/><Relationship Id="rId20" Type="http://schemas.openxmlformats.org/officeDocument/2006/relationships/oleObject" Target="../embeddings/oleObject16.bin"/><Relationship Id="rId1" Type="http://schemas.openxmlformats.org/officeDocument/2006/relationships/vmlDrawing" Target="../drawings/vmlDrawing4.vml"/><Relationship Id="rId6" Type="http://schemas.openxmlformats.org/officeDocument/2006/relationships/image" Target="../media/image73.emf"/><Relationship Id="rId11" Type="http://schemas.openxmlformats.org/officeDocument/2006/relationships/oleObject" Target="../embeddings/oleObject12.bin"/><Relationship Id="rId24" Type="http://schemas.openxmlformats.org/officeDocument/2006/relationships/image" Target="../media/image81.e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10" Type="http://schemas.openxmlformats.org/officeDocument/2006/relationships/image" Target="../media/image75.wmf"/><Relationship Id="rId19" Type="http://schemas.openxmlformats.org/officeDocument/2006/relationships/image" Target="../media/image321.png"/><Relationship Id="rId4" Type="http://schemas.openxmlformats.org/officeDocument/2006/relationships/image" Target="../media/image72.emf"/><Relationship Id="rId9" Type="http://schemas.openxmlformats.org/officeDocument/2006/relationships/oleObject" Target="../embeddings/oleObject11.bin"/><Relationship Id="rId14" Type="http://schemas.openxmlformats.org/officeDocument/2006/relationships/image" Target="../media/image77.wmf"/><Relationship Id="rId22" Type="http://schemas.openxmlformats.org/officeDocument/2006/relationships/oleObject" Target="../embeddings/oleObject17.bin"/><Relationship Id="rId27" Type="http://schemas.openxmlformats.org/officeDocument/2006/relationships/image" Target="../media/image311.png"/></Relationships>
</file>

<file path=ppt/slides/_rels/slide36.xml.rels><?xml version="1.0" encoding="UTF-8" standalone="yes"?>
<Relationships xmlns="http://schemas.openxmlformats.org/package/2006/relationships"><Relationship Id="rId8" Type="http://schemas.openxmlformats.org/officeDocument/2006/relationships/image" Target="../media/image85.emf"/><Relationship Id="rId13" Type="http://schemas.openxmlformats.org/officeDocument/2006/relationships/oleObject" Target="../embeddings/oleObject14.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77.wmf"/><Relationship Id="rId17" Type="http://schemas.openxmlformats.org/officeDocument/2006/relationships/image" Target="../media/image361.png"/><Relationship Id="rId2" Type="http://schemas.openxmlformats.org/officeDocument/2006/relationships/slideLayout" Target="../slideLayouts/slideLayout7.xml"/><Relationship Id="rId16" Type="http://schemas.openxmlformats.org/officeDocument/2006/relationships/image" Target="../media/image86.wmf"/><Relationship Id="rId1" Type="http://schemas.openxmlformats.org/officeDocument/2006/relationships/vmlDrawing" Target="../drawings/vmlDrawing5.vml"/><Relationship Id="rId6" Type="http://schemas.openxmlformats.org/officeDocument/2006/relationships/image" Target="../media/image84.emf"/><Relationship Id="rId11" Type="http://schemas.openxmlformats.org/officeDocument/2006/relationships/oleObject" Target="../embeddings/oleObject13.bin"/><Relationship Id="rId5" Type="http://schemas.openxmlformats.org/officeDocument/2006/relationships/oleObject" Target="../embeddings/oleObject21.bin"/><Relationship Id="rId15" Type="http://schemas.openxmlformats.org/officeDocument/2006/relationships/oleObject" Target="../embeddings/oleObject24.bin"/><Relationship Id="rId10" Type="http://schemas.openxmlformats.org/officeDocument/2006/relationships/image" Target="../media/image75.wmf"/><Relationship Id="rId4" Type="http://schemas.openxmlformats.org/officeDocument/2006/relationships/image" Target="../media/image83.emf"/><Relationship Id="rId9" Type="http://schemas.openxmlformats.org/officeDocument/2006/relationships/oleObject" Target="../embeddings/oleObject23.bin"/><Relationship Id="rId14" Type="http://schemas.openxmlformats.org/officeDocument/2006/relationships/image" Target="../media/image78.wmf"/></Relationships>
</file>

<file path=ppt/slides/_rels/slide37.xml.rels><?xml version="1.0" encoding="UTF-8" standalone="yes"?>
<Relationships xmlns="http://schemas.openxmlformats.org/package/2006/relationships"><Relationship Id="rId8" Type="http://schemas.openxmlformats.org/officeDocument/2006/relationships/image" Target="../media/image640.png"/><Relationship Id="rId7"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20.png"/><Relationship Id="rId10" Type="http://schemas.openxmlformats.org/officeDocument/2006/relationships/image" Target="../media/image88.png"/><Relationship Id="rId9" Type="http://schemas.openxmlformats.org/officeDocument/2006/relationships/image" Target="../media/image650.png"/></Relationships>
</file>

<file path=ppt/slides/_rels/slide38.xml.rels><?xml version="1.0" encoding="UTF-8" standalone="yes"?>
<Relationships xmlns="http://schemas.openxmlformats.org/package/2006/relationships"><Relationship Id="rId3" Type="http://schemas.openxmlformats.org/officeDocument/2006/relationships/image" Target="../media/image710.png"/><Relationship Id="rId7" Type="http://schemas.openxmlformats.org/officeDocument/2006/relationships/image" Target="../media/image92.png"/><Relationship Id="rId2"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740.png"/><Relationship Id="rId5" Type="http://schemas.openxmlformats.org/officeDocument/2006/relationships/image" Target="../media/image89.png"/><Relationship Id="rId4" Type="http://schemas.openxmlformats.org/officeDocument/2006/relationships/image" Target="../media/image720.png"/></Relationships>
</file>

<file path=ppt/slides/_rels/slide3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760.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790.png"/><Relationship Id="rId4" Type="http://schemas.openxmlformats.org/officeDocument/2006/relationships/image" Target="../media/image780.png"/></Relationships>
</file>

<file path=ppt/slides/_rels/slide40.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0.png"/><Relationship Id="rId1" Type="http://schemas.openxmlformats.org/officeDocument/2006/relationships/slideLayout" Target="../slideLayouts/slideLayout7.xml"/><Relationship Id="rId6" Type="http://schemas.openxmlformats.org/officeDocument/2006/relationships/image" Target="../media/image850.png"/><Relationship Id="rId5" Type="http://schemas.openxmlformats.org/officeDocument/2006/relationships/image" Target="../media/image840.png"/><Relationship Id="rId4" Type="http://schemas.openxmlformats.org/officeDocument/2006/relationships/image" Target="../media/image91.png"/></Relationships>
</file>

<file path=ppt/slides/_rels/slide41.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870.png"/><Relationship Id="rId2" Type="http://schemas.openxmlformats.org/officeDocument/2006/relationships/image" Target="../media/image820.png"/><Relationship Id="rId1" Type="http://schemas.openxmlformats.org/officeDocument/2006/relationships/slideLayout" Target="../slideLayouts/slideLayout7.xml"/><Relationship Id="rId6" Type="http://schemas.openxmlformats.org/officeDocument/2006/relationships/image" Target="../media/image850.png"/><Relationship Id="rId5" Type="http://schemas.openxmlformats.org/officeDocument/2006/relationships/image" Target="../media/image840.png"/><Relationship Id="rId4" Type="http://schemas.openxmlformats.org/officeDocument/2006/relationships/image" Target="../media/image810.png"/></Relationships>
</file>

<file path=ppt/slides/_rels/slide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820.png"/><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3" Type="http://schemas.openxmlformats.org/officeDocument/2006/relationships/image" Target="../media/image920.png"/><Relationship Id="rId7" Type="http://schemas.openxmlformats.org/officeDocument/2006/relationships/image" Target="../media/image960.png"/><Relationship Id="rId2"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image" Target="../media/image950.png"/><Relationship Id="rId24" Type="http://schemas.openxmlformats.org/officeDocument/2006/relationships/image" Target="../media/image980.png"/><Relationship Id="rId5" Type="http://schemas.openxmlformats.org/officeDocument/2006/relationships/image" Target="../media/image940.png"/><Relationship Id="rId23" Type="http://schemas.openxmlformats.org/officeDocument/2006/relationships/image" Target="../media/image970.png"/><Relationship Id="rId19" Type="http://schemas.openxmlformats.org/officeDocument/2006/relationships/image" Target="../media/image1010.png"/><Relationship Id="rId4" Type="http://schemas.openxmlformats.org/officeDocument/2006/relationships/image" Target="../media/image930.png"/><Relationship Id="rId22" Type="http://schemas.openxmlformats.org/officeDocument/2006/relationships/image" Target="../media/image1040.png"/></Relationships>
</file>

<file path=ppt/slides/_rels/slide4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90.png"/><Relationship Id="rId1" Type="http://schemas.openxmlformats.org/officeDocument/2006/relationships/slideLayout" Target="../slideLayouts/slideLayout7.xml"/><Relationship Id="rId6" Type="http://schemas.openxmlformats.org/officeDocument/2006/relationships/image" Target="../media/image1030.png"/><Relationship Id="rId5" Type="http://schemas.openxmlformats.org/officeDocument/2006/relationships/image" Target="../media/image1020.png"/><Relationship Id="rId4" Type="http://schemas.openxmlformats.org/officeDocument/2006/relationships/image" Target="../media/image1011.png"/></Relationships>
</file>

<file path=ppt/slides/_rels/slide45.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8.png"/><Relationship Id="rId5" Type="http://schemas.openxmlformats.org/officeDocument/2006/relationships/image" Target="../media/image1070.png"/><Relationship Id="rId4" Type="http://schemas.openxmlformats.org/officeDocument/2006/relationships/image" Target="../media/image10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160.png"/><Relationship Id="rId3" Type="http://schemas.openxmlformats.org/officeDocument/2006/relationships/image" Target="../media/image105.png"/><Relationship Id="rId7" Type="http://schemas.openxmlformats.org/officeDocument/2006/relationships/image" Target="../media/image1100.png"/><Relationship Id="rId12" Type="http://schemas.openxmlformats.org/officeDocument/2006/relationships/image" Target="../media/image1150.png"/><Relationship Id="rId2" Type="http://schemas.openxmlformats.org/officeDocument/2006/relationships/image" Target="../media/image1091.png"/><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image" Target="../media/image1140.png"/><Relationship Id="rId5" Type="http://schemas.openxmlformats.org/officeDocument/2006/relationships/image" Target="../media/image1120.png"/><Relationship Id="rId10" Type="http://schemas.openxmlformats.org/officeDocument/2006/relationships/image" Target="../media/image1130.png"/><Relationship Id="rId4" Type="http://schemas.openxmlformats.org/officeDocument/2006/relationships/image" Target="../media/image1111.png"/><Relationship Id="rId9" Type="http://schemas.openxmlformats.org/officeDocument/2006/relationships/image" Target="../media/image1110.png"/><Relationship Id="rId14" Type="http://schemas.openxmlformats.org/officeDocument/2006/relationships/image" Target="../media/image11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11</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热力学第二定律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41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自然过程的方向</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不可逆的相互依存</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热力学第二定律及其微观意义</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11.4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热力学概率与自然过程的方向</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玻尔兹曼熵公式与熵增加原理</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可逆过程</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11.7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克劳修斯熵公式</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11.8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用克劳修斯熵公式计算熵变</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11.9*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温熵图</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11.10*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熵和能量退降</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25881439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5">
            <a:extLst>
              <a:ext uri="{FF2B5EF4-FFF2-40B4-BE49-F238E27FC236}">
                <a16:creationId xmlns:a16="http://schemas.microsoft.com/office/drawing/2014/main" id="{23F2D468-4C23-4650-A888-BD6D71EC1A7D}"/>
              </a:ext>
            </a:extLst>
          </p:cNvPr>
          <p:cNvGrpSpPr>
            <a:grpSpLocks/>
          </p:cNvGrpSpPr>
          <p:nvPr/>
        </p:nvGrpSpPr>
        <p:grpSpPr bwMode="auto">
          <a:xfrm>
            <a:off x="2381251" y="1357313"/>
            <a:ext cx="1285875" cy="2019300"/>
            <a:chOff x="857224" y="1357298"/>
            <a:chExt cx="1285884" cy="2019185"/>
          </a:xfrm>
        </p:grpSpPr>
        <p:grpSp>
          <p:nvGrpSpPr>
            <p:cNvPr id="25631" name="Group 14">
              <a:extLst>
                <a:ext uri="{FF2B5EF4-FFF2-40B4-BE49-F238E27FC236}">
                  <a16:creationId xmlns:a16="http://schemas.microsoft.com/office/drawing/2014/main" id="{55EBA202-C1CA-4964-9E7C-7C4747B5D294}"/>
                </a:ext>
              </a:extLst>
            </p:cNvPr>
            <p:cNvGrpSpPr>
              <a:grpSpLocks noChangeAspect="1"/>
            </p:cNvGrpSpPr>
            <p:nvPr/>
          </p:nvGrpSpPr>
          <p:grpSpPr bwMode="auto">
            <a:xfrm>
              <a:off x="857224" y="1357298"/>
              <a:ext cx="975360" cy="1951038"/>
              <a:chOff x="2832" y="1977"/>
              <a:chExt cx="768" cy="1536"/>
            </a:xfrm>
          </p:grpSpPr>
          <p:sp>
            <p:nvSpPr>
              <p:cNvPr id="25632" name="Rectangle 15" descr="永恒">
                <a:extLst>
                  <a:ext uri="{FF2B5EF4-FFF2-40B4-BE49-F238E27FC236}">
                    <a16:creationId xmlns:a16="http://schemas.microsoft.com/office/drawing/2014/main" id="{2AA11093-76DD-4CB6-AA7D-3A9787BFF279}"/>
                  </a:ext>
                </a:extLst>
              </p:cNvPr>
              <p:cNvSpPr>
                <a:spLocks noChangeAspect="1" noChangeArrowheads="1"/>
              </p:cNvSpPr>
              <p:nvPr/>
            </p:nvSpPr>
            <p:spPr bwMode="auto">
              <a:xfrm>
                <a:off x="2832" y="1977"/>
                <a:ext cx="672" cy="432"/>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i="1">
                  <a:latin typeface="+mn-lt"/>
                  <a:ea typeface="+mn-ea"/>
                </a:endParaRPr>
              </a:p>
            </p:txBody>
          </p:sp>
          <p:sp>
            <p:nvSpPr>
              <p:cNvPr id="25633" name="Rectangle 18">
                <a:extLst>
                  <a:ext uri="{FF2B5EF4-FFF2-40B4-BE49-F238E27FC236}">
                    <a16:creationId xmlns:a16="http://schemas.microsoft.com/office/drawing/2014/main" id="{BD6C350F-BA83-4038-8366-0E9ABA571005}"/>
                  </a:ext>
                </a:extLst>
              </p:cNvPr>
              <p:cNvSpPr>
                <a:spLocks noChangeAspect="1" noChangeArrowheads="1"/>
              </p:cNvSpPr>
              <p:nvPr/>
            </p:nvSpPr>
            <p:spPr bwMode="auto">
              <a:xfrm>
                <a:off x="2832" y="3225"/>
                <a:ext cx="672" cy="288"/>
              </a:xfrm>
              <a:prstGeom prst="rect">
                <a:avLst/>
              </a:prstGeom>
              <a:solidFill>
                <a:srgbClr val="FFFFCC"/>
              </a:solid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a:latin typeface="+mn-lt"/>
                  <a:ea typeface="+mn-ea"/>
                </a:endParaRPr>
              </a:p>
            </p:txBody>
          </p:sp>
          <p:sp>
            <p:nvSpPr>
              <p:cNvPr id="25634" name="Oval 20" descr="白色大理石">
                <a:extLst>
                  <a:ext uri="{FF2B5EF4-FFF2-40B4-BE49-F238E27FC236}">
                    <a16:creationId xmlns:a16="http://schemas.microsoft.com/office/drawing/2014/main" id="{71B2B932-BF44-477C-A551-E2BC2C490B8E}"/>
                  </a:ext>
                </a:extLst>
              </p:cNvPr>
              <p:cNvSpPr>
                <a:spLocks noChangeAspect="1" noChangeArrowheads="1"/>
              </p:cNvSpPr>
              <p:nvPr/>
            </p:nvSpPr>
            <p:spPr bwMode="auto">
              <a:xfrm>
                <a:off x="2928" y="2649"/>
                <a:ext cx="432" cy="384"/>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a:latin typeface="+mn-lt"/>
                    <a:ea typeface="+mn-ea"/>
                  </a:rPr>
                  <a:t>R</a:t>
                </a:r>
              </a:p>
            </p:txBody>
          </p:sp>
          <p:sp>
            <p:nvSpPr>
              <p:cNvPr id="25635" name="AutoShape 21" descr="粉色砂纸">
                <a:extLst>
                  <a:ext uri="{FF2B5EF4-FFF2-40B4-BE49-F238E27FC236}">
                    <a16:creationId xmlns:a16="http://schemas.microsoft.com/office/drawing/2014/main" id="{41B147AD-F655-49B1-9FFE-530D45D831E5}"/>
                  </a:ext>
                </a:extLst>
              </p:cNvPr>
              <p:cNvSpPr>
                <a:spLocks noChangeAspect="1" noChangeArrowheads="1"/>
              </p:cNvSpPr>
              <p:nvPr/>
            </p:nvSpPr>
            <p:spPr bwMode="auto">
              <a:xfrm>
                <a:off x="3072" y="2409"/>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6" name="AutoShape 22" descr="粉色砂纸">
                <a:extLst>
                  <a:ext uri="{FF2B5EF4-FFF2-40B4-BE49-F238E27FC236}">
                    <a16:creationId xmlns:a16="http://schemas.microsoft.com/office/drawing/2014/main" id="{8232280E-2134-4C78-A0CF-1A65650F4C5A}"/>
                  </a:ext>
                </a:extLst>
              </p:cNvPr>
              <p:cNvSpPr>
                <a:spLocks noChangeAspect="1" noChangeArrowheads="1"/>
              </p:cNvSpPr>
              <p:nvPr/>
            </p:nvSpPr>
            <p:spPr bwMode="auto">
              <a:xfrm>
                <a:off x="3072" y="3033"/>
                <a:ext cx="192" cy="192"/>
              </a:xfrm>
              <a:prstGeom prst="downArrow">
                <a:avLst>
                  <a:gd name="adj1" fmla="val 50000"/>
                  <a:gd name="adj2" fmla="val 2500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7" name="AutoShape 23" descr="粉色砂纸">
                <a:extLst>
                  <a:ext uri="{FF2B5EF4-FFF2-40B4-BE49-F238E27FC236}">
                    <a16:creationId xmlns:a16="http://schemas.microsoft.com/office/drawing/2014/main" id="{70D459C4-DF27-4D5B-B8A1-CFD32A3ABBF3}"/>
                  </a:ext>
                </a:extLst>
              </p:cNvPr>
              <p:cNvSpPr>
                <a:spLocks noChangeAspect="1" noChangeArrowheads="1"/>
              </p:cNvSpPr>
              <p:nvPr/>
            </p:nvSpPr>
            <p:spPr bwMode="auto">
              <a:xfrm rot="5449700" flipV="1">
                <a:off x="3384" y="2721"/>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2" name="Object 2">
                  <a:extLst>
                    <a:ext uri="{FF2B5EF4-FFF2-40B4-BE49-F238E27FC236}">
                      <a16:creationId xmlns:a16="http://schemas.microsoft.com/office/drawing/2014/main" id="{835C0D3A-2B22-4C24-BCCA-9E602C55A6F0}"/>
                    </a:ext>
                  </a:extLst>
                </p:cNvPr>
                <p:cNvSpPr txBox="1"/>
                <p:nvPr/>
              </p:nvSpPr>
              <p:spPr bwMode="auto">
                <a:xfrm>
                  <a:off x="1142976" y="2904996"/>
                  <a:ext cx="341312" cy="471487"/>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oMath>
                    </m:oMathPara>
                  </a14:m>
                  <a:endParaRPr lang="zh-CN" altLang="en-US" sz="2800"/>
                </a:p>
              </p:txBody>
            </p:sp>
          </mc:Choice>
          <mc:Fallback xmlns="">
            <p:sp>
              <p:nvSpPr>
                <p:cNvPr id="2" name="Object 2">
                  <a:extLst>
                    <a:ext uri="{FF2B5EF4-FFF2-40B4-BE49-F238E27FC236}">
                      <a16:creationId xmlns:a16="http://schemas.microsoft.com/office/drawing/2014/main" id="{835C0D3A-2B22-4C24-BCCA-9E602C55A6F0}"/>
                    </a:ext>
                  </a:extLst>
                </p:cNvPr>
                <p:cNvSpPr txBox="1">
                  <a:spLocks noRot="1" noChangeAspect="1" noMove="1" noResize="1" noEditPoints="1" noAdjustHandles="1" noChangeArrowheads="1" noChangeShapeType="1" noTextEdit="1"/>
                </p:cNvSpPr>
                <p:nvPr/>
              </p:nvSpPr>
              <p:spPr bwMode="auto">
                <a:xfrm>
                  <a:off x="1142976" y="2904996"/>
                  <a:ext cx="341312" cy="471487"/>
                </a:xfrm>
                <a:prstGeom prst="rect">
                  <a:avLst/>
                </a:prstGeom>
                <a:blipFill>
                  <a:blip r:embed="rId5"/>
                  <a:stretch>
                    <a:fillRect l="-1818" r="-2181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6BDC223E-D994-4819-9C04-F2B7E0CE1C90}"/>
                    </a:ext>
                  </a:extLst>
                </p:cNvPr>
                <p:cNvSpPr txBox="1"/>
                <p:nvPr/>
              </p:nvSpPr>
              <p:spPr bwMode="auto">
                <a:xfrm>
                  <a:off x="1119188" y="1385888"/>
                  <a:ext cx="314325" cy="471487"/>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oMath>
                    </m:oMathPara>
                  </a14:m>
                  <a:endParaRPr lang="zh-CN" altLang="en-US" sz="2800"/>
                </a:p>
              </p:txBody>
            </p:sp>
          </mc:Choice>
          <mc:Fallback xmlns="">
            <p:sp>
              <p:nvSpPr>
                <p:cNvPr id="4" name="Object 3">
                  <a:extLst>
                    <a:ext uri="{FF2B5EF4-FFF2-40B4-BE49-F238E27FC236}">
                      <a16:creationId xmlns:a16="http://schemas.microsoft.com/office/drawing/2014/main" id="{6BDC223E-D994-4819-9C04-F2B7E0CE1C90}"/>
                    </a:ext>
                  </a:extLst>
                </p:cNvPr>
                <p:cNvSpPr txBox="1">
                  <a:spLocks noRot="1" noChangeAspect="1" noMove="1" noResize="1" noEditPoints="1" noAdjustHandles="1" noChangeArrowheads="1" noChangeShapeType="1" noTextEdit="1"/>
                </p:cNvSpPr>
                <p:nvPr/>
              </p:nvSpPr>
              <p:spPr bwMode="auto">
                <a:xfrm>
                  <a:off x="1119188" y="1385888"/>
                  <a:ext cx="314325" cy="471487"/>
                </a:xfrm>
                <a:prstGeom prst="rect">
                  <a:avLst/>
                </a:prstGeom>
                <a:blipFill>
                  <a:blip r:embed="rId6"/>
                  <a:stretch>
                    <a:fillRect r="-235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15">
                  <a:extLst>
                    <a:ext uri="{FF2B5EF4-FFF2-40B4-BE49-F238E27FC236}">
                      <a16:creationId xmlns:a16="http://schemas.microsoft.com/office/drawing/2014/main" id="{3922025D-606D-4DF9-ADB0-6F3099EA4053}"/>
                    </a:ext>
                  </a:extLst>
                </p:cNvPr>
                <p:cNvSpPr txBox="1"/>
                <p:nvPr/>
              </p:nvSpPr>
              <p:spPr bwMode="auto">
                <a:xfrm>
                  <a:off x="1827196" y="2238304"/>
                  <a:ext cx="315912" cy="339725"/>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𝐴</m:t>
                        </m:r>
                      </m:oMath>
                    </m:oMathPara>
                  </a14:m>
                  <a:endParaRPr lang="zh-CN" altLang="en-US" sz="2800"/>
                </a:p>
              </p:txBody>
            </p:sp>
          </mc:Choice>
          <mc:Fallback xmlns="">
            <p:sp>
              <p:nvSpPr>
                <p:cNvPr id="5" name="Object 15">
                  <a:extLst>
                    <a:ext uri="{FF2B5EF4-FFF2-40B4-BE49-F238E27FC236}">
                      <a16:creationId xmlns:a16="http://schemas.microsoft.com/office/drawing/2014/main" id="{3922025D-606D-4DF9-ADB0-6F3099EA4053}"/>
                    </a:ext>
                  </a:extLst>
                </p:cNvPr>
                <p:cNvSpPr txBox="1">
                  <a:spLocks noRot="1" noChangeAspect="1" noMove="1" noResize="1" noEditPoints="1" noAdjustHandles="1" noChangeArrowheads="1" noChangeShapeType="1" noTextEdit="1"/>
                </p:cNvSpPr>
                <p:nvPr/>
              </p:nvSpPr>
              <p:spPr bwMode="auto">
                <a:xfrm>
                  <a:off x="1827196" y="2238304"/>
                  <a:ext cx="315912" cy="339725"/>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F6EEB79B-D3CA-4263-A0A5-C3517CF99A34}"/>
                    </a:ext>
                  </a:extLst>
                </p:cNvPr>
                <p:cNvSpPr txBox="1"/>
                <p:nvPr/>
              </p:nvSpPr>
              <p:spPr bwMode="auto">
                <a:xfrm>
                  <a:off x="1443038" y="1882775"/>
                  <a:ext cx="314325" cy="417513"/>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6" name="Object 5">
                  <a:extLst>
                    <a:ext uri="{FF2B5EF4-FFF2-40B4-BE49-F238E27FC236}">
                      <a16:creationId xmlns:a16="http://schemas.microsoft.com/office/drawing/2014/main" id="{F6EEB79B-D3CA-4263-A0A5-C3517CF99A34}"/>
                    </a:ext>
                  </a:extLst>
                </p:cNvPr>
                <p:cNvSpPr txBox="1">
                  <a:spLocks noRot="1" noChangeAspect="1" noMove="1" noResize="1" noEditPoints="1" noAdjustHandles="1" noChangeArrowheads="1" noChangeShapeType="1" noTextEdit="1"/>
                </p:cNvSpPr>
                <p:nvPr/>
              </p:nvSpPr>
              <p:spPr bwMode="auto">
                <a:xfrm>
                  <a:off x="1443038" y="1882775"/>
                  <a:ext cx="314325" cy="417513"/>
                </a:xfrm>
                <a:prstGeom prst="rect">
                  <a:avLst/>
                </a:prstGeom>
                <a:blipFill>
                  <a:blip r:embed="rId8"/>
                  <a:stretch>
                    <a:fillRect l="-5882" r="-19608" b="-5882"/>
                  </a:stretch>
                </a:blipFill>
                <a:ln>
                  <a:noFill/>
                </a:ln>
                <a:effectLst/>
              </p:spPr>
              <p:txBody>
                <a:bodyPr/>
                <a:lstStyle/>
                <a:p>
                  <a:r>
                    <a:rPr lang="zh-CN" altLang="en-US">
                      <a:noFill/>
                    </a:rPr>
                    <a:t> </a:t>
                  </a:r>
                </a:p>
              </p:txBody>
            </p:sp>
          </mc:Fallback>
        </mc:AlternateContent>
      </p:grpSp>
      <p:grpSp>
        <p:nvGrpSpPr>
          <p:cNvPr id="13" name="组合 36">
            <a:extLst>
              <a:ext uri="{FF2B5EF4-FFF2-40B4-BE49-F238E27FC236}">
                <a16:creationId xmlns:a16="http://schemas.microsoft.com/office/drawing/2014/main" id="{3E8BE41A-ACBE-4CD8-AE02-6F13DF6F7A44}"/>
              </a:ext>
            </a:extLst>
          </p:cNvPr>
          <p:cNvGrpSpPr>
            <a:grpSpLocks/>
          </p:cNvGrpSpPr>
          <p:nvPr/>
        </p:nvGrpSpPr>
        <p:grpSpPr bwMode="auto">
          <a:xfrm>
            <a:off x="3309938" y="1143001"/>
            <a:ext cx="2286000" cy="2233613"/>
            <a:chOff x="1785918" y="1142984"/>
            <a:chExt cx="2286016" cy="2233499"/>
          </a:xfrm>
        </p:grpSpPr>
        <p:grpSp>
          <p:nvGrpSpPr>
            <p:cNvPr id="25623" name="Group 14">
              <a:extLst>
                <a:ext uri="{FF2B5EF4-FFF2-40B4-BE49-F238E27FC236}">
                  <a16:creationId xmlns:a16="http://schemas.microsoft.com/office/drawing/2014/main" id="{2DAD7EFB-9A5D-440C-8162-1140D709AC54}"/>
                </a:ext>
              </a:extLst>
            </p:cNvPr>
            <p:cNvGrpSpPr>
              <a:grpSpLocks noChangeAspect="1"/>
            </p:cNvGrpSpPr>
            <p:nvPr/>
          </p:nvGrpSpPr>
          <p:grpSpPr bwMode="auto">
            <a:xfrm>
              <a:off x="2688765" y="1357298"/>
              <a:ext cx="975360" cy="1951038"/>
              <a:chOff x="2832" y="1977"/>
              <a:chExt cx="768" cy="1536"/>
            </a:xfrm>
          </p:grpSpPr>
          <p:sp>
            <p:nvSpPr>
              <p:cNvPr id="25625" name="Rectangle 15" descr="永恒">
                <a:extLst>
                  <a:ext uri="{FF2B5EF4-FFF2-40B4-BE49-F238E27FC236}">
                    <a16:creationId xmlns:a16="http://schemas.microsoft.com/office/drawing/2014/main" id="{8EF866BD-BC8E-472D-84CA-8EBCC4036D99}"/>
                  </a:ext>
                </a:extLst>
              </p:cNvPr>
              <p:cNvSpPr>
                <a:spLocks noChangeAspect="1" noChangeArrowheads="1"/>
              </p:cNvSpPr>
              <p:nvPr/>
            </p:nvSpPr>
            <p:spPr bwMode="auto">
              <a:xfrm>
                <a:off x="2832" y="1977"/>
                <a:ext cx="672" cy="432"/>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i="1">
                  <a:latin typeface="+mn-lt"/>
                  <a:ea typeface="+mn-ea"/>
                </a:endParaRPr>
              </a:p>
            </p:txBody>
          </p:sp>
          <p:sp>
            <p:nvSpPr>
              <p:cNvPr id="25626" name="Rectangle 18">
                <a:extLst>
                  <a:ext uri="{FF2B5EF4-FFF2-40B4-BE49-F238E27FC236}">
                    <a16:creationId xmlns:a16="http://schemas.microsoft.com/office/drawing/2014/main" id="{7BAA9B1F-1C21-421B-97A7-882DF90C0E0B}"/>
                  </a:ext>
                </a:extLst>
              </p:cNvPr>
              <p:cNvSpPr>
                <a:spLocks noChangeAspect="1" noChangeArrowheads="1"/>
              </p:cNvSpPr>
              <p:nvPr/>
            </p:nvSpPr>
            <p:spPr bwMode="auto">
              <a:xfrm>
                <a:off x="2832" y="3225"/>
                <a:ext cx="672" cy="288"/>
              </a:xfrm>
              <a:prstGeom prst="rect">
                <a:avLst/>
              </a:prstGeom>
              <a:solidFill>
                <a:srgbClr val="FFFFCC"/>
              </a:solid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a:latin typeface="+mn-lt"/>
                  <a:ea typeface="+mn-ea"/>
                </a:endParaRPr>
              </a:p>
            </p:txBody>
          </p:sp>
          <p:sp>
            <p:nvSpPr>
              <p:cNvPr id="25627" name="Oval 20" descr="白色大理石">
                <a:extLst>
                  <a:ext uri="{FF2B5EF4-FFF2-40B4-BE49-F238E27FC236}">
                    <a16:creationId xmlns:a16="http://schemas.microsoft.com/office/drawing/2014/main" id="{EE0FD5DE-F902-4CF7-BF64-FD85468636DE}"/>
                  </a:ext>
                </a:extLst>
              </p:cNvPr>
              <p:cNvSpPr>
                <a:spLocks noChangeAspect="1" noChangeArrowheads="1"/>
              </p:cNvSpPr>
              <p:nvPr/>
            </p:nvSpPr>
            <p:spPr bwMode="auto">
              <a:xfrm>
                <a:off x="2928" y="2649"/>
                <a:ext cx="432" cy="384"/>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a:latin typeface="+mn-lt"/>
                    <a:ea typeface="+mn-ea"/>
                  </a:rPr>
                  <a:t>R</a:t>
                </a:r>
              </a:p>
            </p:txBody>
          </p:sp>
          <p:sp>
            <p:nvSpPr>
              <p:cNvPr id="25628" name="AutoShape 21" descr="粉色砂纸">
                <a:extLst>
                  <a:ext uri="{FF2B5EF4-FFF2-40B4-BE49-F238E27FC236}">
                    <a16:creationId xmlns:a16="http://schemas.microsoft.com/office/drawing/2014/main" id="{CE593150-552F-4297-8C71-78CCFD429C47}"/>
                  </a:ext>
                </a:extLst>
              </p:cNvPr>
              <p:cNvSpPr>
                <a:spLocks noChangeAspect="1" noChangeArrowheads="1"/>
              </p:cNvSpPr>
              <p:nvPr/>
            </p:nvSpPr>
            <p:spPr bwMode="auto">
              <a:xfrm>
                <a:off x="3072" y="2409"/>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29" name="AutoShape 22" descr="粉色砂纸">
                <a:extLst>
                  <a:ext uri="{FF2B5EF4-FFF2-40B4-BE49-F238E27FC236}">
                    <a16:creationId xmlns:a16="http://schemas.microsoft.com/office/drawing/2014/main" id="{F398AB8F-DC8C-4C8A-BA11-F019CD0421E7}"/>
                  </a:ext>
                </a:extLst>
              </p:cNvPr>
              <p:cNvSpPr>
                <a:spLocks noChangeAspect="1" noChangeArrowheads="1"/>
              </p:cNvSpPr>
              <p:nvPr/>
            </p:nvSpPr>
            <p:spPr bwMode="auto">
              <a:xfrm>
                <a:off x="3072" y="3033"/>
                <a:ext cx="192" cy="192"/>
              </a:xfrm>
              <a:prstGeom prst="downArrow">
                <a:avLst>
                  <a:gd name="adj1" fmla="val 50000"/>
                  <a:gd name="adj2" fmla="val 2500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0" name="AutoShape 23" descr="粉色砂纸">
                <a:extLst>
                  <a:ext uri="{FF2B5EF4-FFF2-40B4-BE49-F238E27FC236}">
                    <a16:creationId xmlns:a16="http://schemas.microsoft.com/office/drawing/2014/main" id="{800F486E-702E-400C-AE22-6748BC332372}"/>
                  </a:ext>
                </a:extLst>
              </p:cNvPr>
              <p:cNvSpPr>
                <a:spLocks noChangeAspect="1" noChangeArrowheads="1"/>
              </p:cNvSpPr>
              <p:nvPr/>
            </p:nvSpPr>
            <p:spPr bwMode="auto">
              <a:xfrm rot="5449700" flipV="1">
                <a:off x="3384" y="2721"/>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DAFC3A8C-2D86-4175-B974-8A6A006B7DE8}"/>
                    </a:ext>
                  </a:extLst>
                </p:cNvPr>
                <p:cNvSpPr txBox="1"/>
                <p:nvPr/>
              </p:nvSpPr>
              <p:spPr bwMode="auto">
                <a:xfrm>
                  <a:off x="2998079" y="2904996"/>
                  <a:ext cx="341312" cy="471487"/>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oMath>
                    </m:oMathPara>
                  </a14:m>
                  <a:endParaRPr lang="zh-CN" altLang="en-US" sz="2800"/>
                </a:p>
              </p:txBody>
            </p:sp>
          </mc:Choice>
          <mc:Fallback xmlns="">
            <p:sp>
              <p:nvSpPr>
                <p:cNvPr id="7" name="Object 6">
                  <a:extLst>
                    <a:ext uri="{FF2B5EF4-FFF2-40B4-BE49-F238E27FC236}">
                      <a16:creationId xmlns:a16="http://schemas.microsoft.com/office/drawing/2014/main" id="{DAFC3A8C-2D86-4175-B974-8A6A006B7DE8}"/>
                    </a:ext>
                  </a:extLst>
                </p:cNvPr>
                <p:cNvSpPr txBox="1">
                  <a:spLocks noRot="1" noChangeAspect="1" noMove="1" noResize="1" noEditPoints="1" noAdjustHandles="1" noChangeArrowheads="1" noChangeShapeType="1" noTextEdit="1"/>
                </p:cNvSpPr>
                <p:nvPr/>
              </p:nvSpPr>
              <p:spPr bwMode="auto">
                <a:xfrm>
                  <a:off x="2998079" y="2904996"/>
                  <a:ext cx="341312" cy="471487"/>
                </a:xfrm>
                <a:prstGeom prst="rect">
                  <a:avLst/>
                </a:prstGeom>
                <a:blipFill>
                  <a:blip r:embed="rId9"/>
                  <a:stretch>
                    <a:fillRect l="-1786" r="-214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E44EB93A-37EB-4357-8DC2-9AAE2A54FA0A}"/>
                    </a:ext>
                  </a:extLst>
                </p:cNvPr>
                <p:cNvSpPr txBox="1"/>
                <p:nvPr/>
              </p:nvSpPr>
              <p:spPr bwMode="auto">
                <a:xfrm>
                  <a:off x="3676646" y="2238492"/>
                  <a:ext cx="395288" cy="392112"/>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oMath>
                    </m:oMathPara>
                  </a14:m>
                  <a:endParaRPr lang="zh-CN" altLang="en-US" sz="2800"/>
                </a:p>
              </p:txBody>
            </p:sp>
          </mc:Choice>
          <mc:Fallback xmlns="">
            <p:sp>
              <p:nvSpPr>
                <p:cNvPr id="8" name="Object 7">
                  <a:extLst>
                    <a:ext uri="{FF2B5EF4-FFF2-40B4-BE49-F238E27FC236}">
                      <a16:creationId xmlns:a16="http://schemas.microsoft.com/office/drawing/2014/main" id="{E44EB93A-37EB-4357-8DC2-9AAE2A54FA0A}"/>
                    </a:ext>
                  </a:extLst>
                </p:cNvPr>
                <p:cNvSpPr txBox="1">
                  <a:spLocks noRot="1" noChangeAspect="1" noMove="1" noResize="1" noEditPoints="1" noAdjustHandles="1" noChangeArrowheads="1" noChangeShapeType="1" noTextEdit="1"/>
                </p:cNvSpPr>
                <p:nvPr/>
              </p:nvSpPr>
              <p:spPr bwMode="auto">
                <a:xfrm>
                  <a:off x="3676646" y="2238492"/>
                  <a:ext cx="395288" cy="392112"/>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3E008E66-04CC-4B78-A902-2C709FF48628}"/>
                    </a:ext>
                  </a:extLst>
                </p:cNvPr>
                <p:cNvSpPr txBox="1"/>
                <p:nvPr/>
              </p:nvSpPr>
              <p:spPr bwMode="auto">
                <a:xfrm>
                  <a:off x="3262313" y="1870838"/>
                  <a:ext cx="315912" cy="417512"/>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9" name="Object 8">
                  <a:extLst>
                    <a:ext uri="{FF2B5EF4-FFF2-40B4-BE49-F238E27FC236}">
                      <a16:creationId xmlns:a16="http://schemas.microsoft.com/office/drawing/2014/main" id="{3E008E66-04CC-4B78-A902-2C709FF48628}"/>
                    </a:ext>
                  </a:extLst>
                </p:cNvPr>
                <p:cNvSpPr txBox="1">
                  <a:spLocks noRot="1" noChangeAspect="1" noMove="1" noResize="1" noEditPoints="1" noAdjustHandles="1" noChangeArrowheads="1" noChangeShapeType="1" noTextEdit="1"/>
                </p:cNvSpPr>
                <p:nvPr/>
              </p:nvSpPr>
              <p:spPr bwMode="auto">
                <a:xfrm>
                  <a:off x="3262313" y="1870838"/>
                  <a:ext cx="315912" cy="417512"/>
                </a:xfrm>
                <a:prstGeom prst="rect">
                  <a:avLst/>
                </a:prstGeom>
                <a:blipFill>
                  <a:blip r:embed="rId11"/>
                  <a:stretch>
                    <a:fillRect l="-5769" r="-17308" b="-588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08799B56-28AB-4086-9B7A-2EE7F746B82A}"/>
                    </a:ext>
                  </a:extLst>
                </p:cNvPr>
                <p:cNvSpPr txBox="1"/>
                <p:nvPr/>
              </p:nvSpPr>
              <p:spPr bwMode="auto">
                <a:xfrm>
                  <a:off x="2963925" y="1388938"/>
                  <a:ext cx="341313" cy="47307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oMath>
                    </m:oMathPara>
                  </a14:m>
                  <a:endParaRPr lang="zh-CN" altLang="en-US" sz="2800"/>
                </a:p>
              </p:txBody>
            </p:sp>
          </mc:Choice>
          <mc:Fallback xmlns="">
            <p:sp>
              <p:nvSpPr>
                <p:cNvPr id="10" name="Object 9">
                  <a:extLst>
                    <a:ext uri="{FF2B5EF4-FFF2-40B4-BE49-F238E27FC236}">
                      <a16:creationId xmlns:a16="http://schemas.microsoft.com/office/drawing/2014/main" id="{08799B56-28AB-4086-9B7A-2EE7F746B82A}"/>
                    </a:ext>
                  </a:extLst>
                </p:cNvPr>
                <p:cNvSpPr txBox="1">
                  <a:spLocks noRot="1" noChangeAspect="1" noMove="1" noResize="1" noEditPoints="1" noAdjustHandles="1" noChangeArrowheads="1" noChangeShapeType="1" noTextEdit="1"/>
                </p:cNvSpPr>
                <p:nvPr/>
              </p:nvSpPr>
              <p:spPr bwMode="auto">
                <a:xfrm>
                  <a:off x="2963925" y="1388938"/>
                  <a:ext cx="341313" cy="473075"/>
                </a:xfrm>
                <a:prstGeom prst="rect">
                  <a:avLst/>
                </a:prstGeom>
                <a:blipFill>
                  <a:blip r:embed="rId12"/>
                  <a:stretch>
                    <a:fillRect l="-1786" r="-21429"/>
                  </a:stretch>
                </a:blipFill>
                <a:ln>
                  <a:noFill/>
                </a:ln>
                <a:effectLst/>
              </p:spPr>
              <p:txBody>
                <a:bodyPr/>
                <a:lstStyle/>
                <a:p>
                  <a:r>
                    <a:rPr lang="zh-CN" altLang="en-US">
                      <a:noFill/>
                    </a:rPr>
                    <a:t> </a:t>
                  </a:r>
                </a:p>
              </p:txBody>
            </p:sp>
          </mc:Fallback>
        </mc:AlternateContent>
        <p:sp>
          <p:nvSpPr>
            <p:cNvPr id="25624" name="AutoShape 17" descr="粉色砂纸">
              <a:extLst>
                <a:ext uri="{FF2B5EF4-FFF2-40B4-BE49-F238E27FC236}">
                  <a16:creationId xmlns:a16="http://schemas.microsoft.com/office/drawing/2014/main" id="{FAABBA2D-40D0-4F58-B541-E01739EC88AD}"/>
                </a:ext>
              </a:extLst>
            </p:cNvPr>
            <p:cNvSpPr>
              <a:spLocks noChangeAspect="1" noChangeArrowheads="1"/>
            </p:cNvSpPr>
            <p:nvPr/>
          </p:nvSpPr>
          <p:spPr bwMode="auto">
            <a:xfrm>
              <a:off x="1785918" y="1500174"/>
              <a:ext cx="809568" cy="222944"/>
            </a:xfrm>
            <a:prstGeom prst="rightArrow">
              <a:avLst>
                <a:gd name="adj1" fmla="val 50000"/>
                <a:gd name="adj2" fmla="val 62505"/>
              </a:avLst>
            </a:prstGeom>
            <a:blipFill dpi="0" rotWithShape="0">
              <a:blip r:embed="rId4"/>
              <a:srcRect/>
              <a:tile tx="0" ty="0" sx="100000" sy="100000" flip="none" algn="tl"/>
            </a:blipFill>
            <a:ln w="9525" cap="rnd">
              <a:solidFill>
                <a:schemeClr val="tx1"/>
              </a:solidFill>
              <a:prstDash val="sysDot"/>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7238C099-B292-4A0D-85DC-625144BE84C9}"/>
                    </a:ext>
                  </a:extLst>
                </p:cNvPr>
                <p:cNvSpPr txBox="1"/>
                <p:nvPr/>
              </p:nvSpPr>
              <p:spPr bwMode="auto">
                <a:xfrm>
                  <a:off x="2071670" y="1142984"/>
                  <a:ext cx="315912" cy="417512"/>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11" name="Object 12">
                  <a:extLst>
                    <a:ext uri="{FF2B5EF4-FFF2-40B4-BE49-F238E27FC236}">
                      <a16:creationId xmlns:a16="http://schemas.microsoft.com/office/drawing/2014/main" id="{7238C099-B292-4A0D-85DC-625144BE84C9}"/>
                    </a:ext>
                  </a:extLst>
                </p:cNvPr>
                <p:cNvSpPr txBox="1">
                  <a:spLocks noRot="1" noChangeAspect="1" noMove="1" noResize="1" noEditPoints="1" noAdjustHandles="1" noChangeArrowheads="1" noChangeShapeType="1" noTextEdit="1"/>
                </p:cNvSpPr>
                <p:nvPr/>
              </p:nvSpPr>
              <p:spPr bwMode="auto">
                <a:xfrm>
                  <a:off x="2071670" y="1142984"/>
                  <a:ext cx="315912" cy="417512"/>
                </a:xfrm>
                <a:prstGeom prst="rect">
                  <a:avLst/>
                </a:prstGeom>
                <a:blipFill>
                  <a:blip r:embed="rId13"/>
                  <a:stretch>
                    <a:fillRect l="-5769" r="-17308" b="-5882"/>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5191" name="Object 23">
                <a:extLst>
                  <a:ext uri="{FF2B5EF4-FFF2-40B4-BE49-F238E27FC236}">
                    <a16:creationId xmlns:a16="http://schemas.microsoft.com/office/drawing/2014/main" id="{B296C818-88EA-4DF9-97B2-8A86B386405A}"/>
                  </a:ext>
                </a:extLst>
              </p:cNvPr>
              <p:cNvSpPr txBox="1"/>
              <p:nvPr/>
            </p:nvSpPr>
            <p:spPr bwMode="auto">
              <a:xfrm>
                <a:off x="7024687" y="1214439"/>
                <a:ext cx="2481263" cy="8905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135191" name="Object 23">
                <a:extLst>
                  <a:ext uri="{FF2B5EF4-FFF2-40B4-BE49-F238E27FC236}">
                    <a16:creationId xmlns:a16="http://schemas.microsoft.com/office/drawing/2014/main" id="{B296C818-88EA-4DF9-97B2-8A86B386405A}"/>
                  </a:ext>
                </a:extLst>
              </p:cNvPr>
              <p:cNvSpPr txBox="1">
                <a:spLocks noRot="1" noChangeAspect="1" noMove="1" noResize="1" noEditPoints="1" noAdjustHandles="1" noChangeArrowheads="1" noChangeShapeType="1" noTextEdit="1"/>
              </p:cNvSpPr>
              <p:nvPr/>
            </p:nvSpPr>
            <p:spPr bwMode="auto">
              <a:xfrm>
                <a:off x="7024687" y="1214439"/>
                <a:ext cx="2481263" cy="890587"/>
              </a:xfrm>
              <a:prstGeom prst="rect">
                <a:avLst/>
              </a:prstGeom>
              <a:blipFill>
                <a:blip r:embed="rId14"/>
                <a:stretch>
                  <a:fillRect b="-34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12">
                <a:extLst>
                  <a:ext uri="{FF2B5EF4-FFF2-40B4-BE49-F238E27FC236}">
                    <a16:creationId xmlns:a16="http://schemas.microsoft.com/office/drawing/2014/main" id="{DCE87AA0-A740-403A-9456-778BF01A89E4}"/>
                  </a:ext>
                </a:extLst>
              </p:cNvPr>
              <p:cNvSpPr txBox="1"/>
              <p:nvPr/>
            </p:nvSpPr>
            <p:spPr bwMode="auto">
              <a:xfrm>
                <a:off x="7024689" y="2428875"/>
                <a:ext cx="2786060" cy="8905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28" name="Object 12">
                <a:extLst>
                  <a:ext uri="{FF2B5EF4-FFF2-40B4-BE49-F238E27FC236}">
                    <a16:creationId xmlns:a16="http://schemas.microsoft.com/office/drawing/2014/main" id="{DCE87AA0-A740-403A-9456-778BF01A89E4}"/>
                  </a:ext>
                </a:extLst>
              </p:cNvPr>
              <p:cNvSpPr txBox="1">
                <a:spLocks noRot="1" noChangeAspect="1" noMove="1" noResize="1" noEditPoints="1" noAdjustHandles="1" noChangeArrowheads="1" noChangeShapeType="1" noTextEdit="1"/>
              </p:cNvSpPr>
              <p:nvPr/>
            </p:nvSpPr>
            <p:spPr bwMode="auto">
              <a:xfrm>
                <a:off x="7024689" y="2428875"/>
                <a:ext cx="2786060" cy="890588"/>
              </a:xfrm>
              <a:prstGeom prst="rect">
                <a:avLst/>
              </a:prstGeom>
              <a:blipFill>
                <a:blip r:embed="rId15"/>
                <a:stretch>
                  <a:fillRect b="-272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13">
                <a:extLst>
                  <a:ext uri="{FF2B5EF4-FFF2-40B4-BE49-F238E27FC236}">
                    <a16:creationId xmlns:a16="http://schemas.microsoft.com/office/drawing/2014/main" id="{4F4E1282-940B-4F27-B9A6-778E65F6E47D}"/>
                  </a:ext>
                </a:extLst>
              </p:cNvPr>
              <p:cNvSpPr txBox="1"/>
              <p:nvPr/>
            </p:nvSpPr>
            <p:spPr bwMode="auto">
              <a:xfrm>
                <a:off x="5524500" y="1357314"/>
                <a:ext cx="1500187" cy="4730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r>
                        <a:rPr lang="zh-CN" altLang="en-US" sz="2800" b="0" i="1">
                          <a:solidFill>
                            <a:srgbClr val="000000"/>
                          </a:solidFill>
                          <a:latin typeface="Cambria Math" panose="02040503050406030204" pitchFamily="18" charset="0"/>
                        </a:rPr>
                        <m:t>&lt;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oMath>
                  </m:oMathPara>
                </a14:m>
                <a:endParaRPr lang="zh-CN" altLang="en-US" sz="2800"/>
              </a:p>
            </p:txBody>
          </p:sp>
        </mc:Choice>
        <mc:Fallback xmlns="">
          <p:sp>
            <p:nvSpPr>
              <p:cNvPr id="27" name="Object 13">
                <a:extLst>
                  <a:ext uri="{FF2B5EF4-FFF2-40B4-BE49-F238E27FC236}">
                    <a16:creationId xmlns:a16="http://schemas.microsoft.com/office/drawing/2014/main" id="{4F4E1282-940B-4F27-B9A6-778E65F6E47D}"/>
                  </a:ext>
                </a:extLst>
              </p:cNvPr>
              <p:cNvSpPr txBox="1">
                <a:spLocks noRot="1" noChangeAspect="1" noMove="1" noResize="1" noEditPoints="1" noAdjustHandles="1" noChangeArrowheads="1" noChangeShapeType="1" noTextEdit="1"/>
              </p:cNvSpPr>
              <p:nvPr/>
            </p:nvSpPr>
            <p:spPr bwMode="auto">
              <a:xfrm>
                <a:off x="5524500" y="1357314"/>
                <a:ext cx="1500187" cy="473075"/>
              </a:xfrm>
              <a:prstGeom prst="rect">
                <a:avLst/>
              </a:prstGeom>
              <a:blipFill>
                <a:blip r:embed="rId16"/>
                <a:stretch>
                  <a:fillRect/>
                </a:stretch>
              </a:blipFill>
              <a:ln>
                <a:noFill/>
              </a:ln>
              <a:effectLst/>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EB9446CD-9A4C-4CCE-872B-CC1020A0C0C4}"/>
              </a:ext>
            </a:extLst>
          </p:cNvPr>
          <p:cNvSpPr>
            <a:spLocks noChangeArrowheads="1"/>
          </p:cNvSpPr>
          <p:nvPr/>
        </p:nvSpPr>
        <p:spPr bwMode="auto">
          <a:xfrm>
            <a:off x="1881189" y="3690939"/>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对外少做的功（能量退化）为</a:t>
            </a:r>
          </a:p>
        </p:txBody>
      </p:sp>
      <mc:AlternateContent xmlns:mc="http://schemas.openxmlformats.org/markup-compatibility/2006" xmlns:a14="http://schemas.microsoft.com/office/drawing/2010/main">
        <mc:Choice Requires="a14">
          <p:sp>
            <p:nvSpPr>
              <p:cNvPr id="31" name="Object 4">
                <a:extLst>
                  <a:ext uri="{FF2B5EF4-FFF2-40B4-BE49-F238E27FC236}">
                    <a16:creationId xmlns:a16="http://schemas.microsoft.com/office/drawing/2014/main" id="{AE00D0DF-AF6F-411E-ABAE-14712BA3035F}"/>
                  </a:ext>
                </a:extLst>
              </p:cNvPr>
              <p:cNvSpPr txBox="1"/>
              <p:nvPr/>
            </p:nvSpPr>
            <p:spPr bwMode="auto">
              <a:xfrm>
                <a:off x="4166547" y="4098270"/>
                <a:ext cx="4556213" cy="889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31" name="Object 4">
                <a:extLst>
                  <a:ext uri="{FF2B5EF4-FFF2-40B4-BE49-F238E27FC236}">
                    <a16:creationId xmlns:a16="http://schemas.microsoft.com/office/drawing/2014/main" id="{AE00D0DF-AF6F-411E-ABAE-14712BA3035F}"/>
                  </a:ext>
                </a:extLst>
              </p:cNvPr>
              <p:cNvSpPr txBox="1">
                <a:spLocks noRot="1" noChangeAspect="1" noMove="1" noResize="1" noEditPoints="1" noAdjustHandles="1" noChangeArrowheads="1" noChangeShapeType="1" noTextEdit="1"/>
              </p:cNvSpPr>
              <p:nvPr/>
            </p:nvSpPr>
            <p:spPr bwMode="auto">
              <a:xfrm>
                <a:off x="4166547" y="4098270"/>
                <a:ext cx="4556213" cy="889000"/>
              </a:xfrm>
              <a:prstGeom prst="rect">
                <a:avLst/>
              </a:prstGeom>
              <a:blipFill>
                <a:blip r:embed="rId17"/>
                <a:stretch>
                  <a:fillRect b="-3425"/>
                </a:stretch>
              </a:blipFill>
              <a:ln>
                <a:noFill/>
              </a:ln>
              <a:effectLst/>
            </p:spPr>
            <p:txBody>
              <a:bodyPr/>
              <a:lstStyle/>
              <a:p>
                <a:r>
                  <a:rPr lang="zh-CN" altLang="en-US">
                    <a:noFill/>
                  </a:rPr>
                  <a:t> </a:t>
                </a:r>
              </a:p>
            </p:txBody>
          </p:sp>
        </mc:Fallback>
      </mc:AlternateContent>
      <p:sp>
        <p:nvSpPr>
          <p:cNvPr id="32" name="矩形 31">
            <a:extLst>
              <a:ext uri="{FF2B5EF4-FFF2-40B4-BE49-F238E27FC236}">
                <a16:creationId xmlns:a16="http://schemas.microsoft.com/office/drawing/2014/main" id="{A7C30148-A42E-4F25-80D1-166406E611D0}"/>
              </a:ext>
            </a:extLst>
          </p:cNvPr>
          <p:cNvSpPr>
            <a:spLocks noChangeArrowheads="1"/>
          </p:cNvSpPr>
          <p:nvPr/>
        </p:nvSpPr>
        <p:spPr bwMode="auto">
          <a:xfrm>
            <a:off x="2330451" y="5191124"/>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熵增加量为</a:t>
            </a:r>
          </a:p>
        </p:txBody>
      </p:sp>
      <mc:AlternateContent xmlns:mc="http://schemas.openxmlformats.org/markup-compatibility/2006" xmlns:a14="http://schemas.microsoft.com/office/drawing/2010/main">
        <mc:Choice Requires="a14">
          <p:sp>
            <p:nvSpPr>
              <p:cNvPr id="33" name="Object 15">
                <a:extLst>
                  <a:ext uri="{FF2B5EF4-FFF2-40B4-BE49-F238E27FC236}">
                    <a16:creationId xmlns:a16="http://schemas.microsoft.com/office/drawing/2014/main" id="{29E3130D-032D-4CDD-9C88-B18414492F7D}"/>
                  </a:ext>
                </a:extLst>
              </p:cNvPr>
              <p:cNvSpPr txBox="1"/>
              <p:nvPr/>
            </p:nvSpPr>
            <p:spPr bwMode="auto">
              <a:xfrm>
                <a:off x="4667251" y="4976813"/>
                <a:ext cx="2863706" cy="889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𝑆</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33" name="Object 15">
                <a:extLst>
                  <a:ext uri="{FF2B5EF4-FFF2-40B4-BE49-F238E27FC236}">
                    <a16:creationId xmlns:a16="http://schemas.microsoft.com/office/drawing/2014/main" id="{29E3130D-032D-4CDD-9C88-B18414492F7D}"/>
                  </a:ext>
                </a:extLst>
              </p:cNvPr>
              <p:cNvSpPr txBox="1">
                <a:spLocks noRot="1" noChangeAspect="1" noMove="1" noResize="1" noEditPoints="1" noAdjustHandles="1" noChangeArrowheads="1" noChangeShapeType="1" noTextEdit="1"/>
              </p:cNvSpPr>
              <p:nvPr/>
            </p:nvSpPr>
            <p:spPr bwMode="auto">
              <a:xfrm>
                <a:off x="4667251" y="4976813"/>
                <a:ext cx="2863706" cy="889000"/>
              </a:xfrm>
              <a:prstGeom prst="rect">
                <a:avLst/>
              </a:prstGeom>
              <a:blipFill>
                <a:blip r:embed="rId18"/>
                <a:stretch>
                  <a:fillRect b="-34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Object 16">
                <a:extLst>
                  <a:ext uri="{FF2B5EF4-FFF2-40B4-BE49-F238E27FC236}">
                    <a16:creationId xmlns:a16="http://schemas.microsoft.com/office/drawing/2014/main" id="{811D128B-B4A7-430F-B2C8-183F1F4BDA3B}"/>
                  </a:ext>
                </a:extLst>
              </p:cNvPr>
              <p:cNvSpPr txBox="1"/>
              <p:nvPr/>
            </p:nvSpPr>
            <p:spPr bwMode="auto">
              <a:xfrm>
                <a:off x="2330451" y="6069667"/>
                <a:ext cx="2619385" cy="469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𝑆</m:t>
                      </m:r>
                    </m:oMath>
                  </m:oMathPara>
                </a14:m>
                <a:endParaRPr lang="zh-CN" altLang="en-US" sz="2800" dirty="0"/>
              </a:p>
            </p:txBody>
          </p:sp>
        </mc:Choice>
        <mc:Fallback xmlns="">
          <p:sp>
            <p:nvSpPr>
              <p:cNvPr id="34" name="Object 16">
                <a:extLst>
                  <a:ext uri="{FF2B5EF4-FFF2-40B4-BE49-F238E27FC236}">
                    <a16:creationId xmlns:a16="http://schemas.microsoft.com/office/drawing/2014/main" id="{811D128B-B4A7-430F-B2C8-183F1F4BDA3B}"/>
                  </a:ext>
                </a:extLst>
              </p:cNvPr>
              <p:cNvSpPr txBox="1">
                <a:spLocks noRot="1" noChangeAspect="1" noMove="1" noResize="1" noEditPoints="1" noAdjustHandles="1" noChangeArrowheads="1" noChangeShapeType="1" noTextEdit="1"/>
              </p:cNvSpPr>
              <p:nvPr/>
            </p:nvSpPr>
            <p:spPr bwMode="auto">
              <a:xfrm>
                <a:off x="2330451" y="6069667"/>
                <a:ext cx="2619385" cy="469900"/>
              </a:xfrm>
              <a:prstGeom prst="rect">
                <a:avLst/>
              </a:prstGeom>
              <a:blipFill>
                <a:blip r:embed="rId19"/>
                <a:stretch>
                  <a:fillRect/>
                </a:stretch>
              </a:blipFill>
              <a:ln>
                <a:noFill/>
              </a:ln>
              <a:effectLst/>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7C651E43-4CCE-4DA6-8F98-9119C72D919A}"/>
              </a:ext>
            </a:extLst>
          </p:cNvPr>
          <p:cNvSpPr>
            <a:spLocks noChangeArrowheads="1"/>
          </p:cNvSpPr>
          <p:nvPr/>
        </p:nvSpPr>
        <p:spPr bwMode="auto">
          <a:xfrm>
            <a:off x="4761415" y="6127751"/>
            <a:ext cx="4493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熵的增加是能量退降的量度</a:t>
            </a:r>
          </a:p>
        </p:txBody>
      </p:sp>
      <p:sp>
        <p:nvSpPr>
          <p:cNvPr id="38" name="Text Box 13">
            <a:hlinkClick r:id="" action="ppaction://noaction"/>
            <a:extLst>
              <a:ext uri="{FF2B5EF4-FFF2-40B4-BE49-F238E27FC236}">
                <a16:creationId xmlns:a16="http://schemas.microsoft.com/office/drawing/2014/main" id="{15A58D11-41B0-4468-BFE9-A27CC15460A2}"/>
              </a:ext>
            </a:extLst>
          </p:cNvPr>
          <p:cNvSpPr txBox="1">
            <a:spLocks noChangeArrowheads="1"/>
          </p:cNvSpPr>
          <p:nvPr/>
        </p:nvSpPr>
        <p:spPr bwMode="auto">
          <a:xfrm>
            <a:off x="574058" y="405824"/>
            <a:ext cx="40931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熵与能量退降</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656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51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1" grpId="0"/>
      <p:bldP spid="28" grpId="0"/>
      <p:bldP spid="27" grpId="0"/>
      <p:bldP spid="30" grpId="0"/>
      <p:bldP spid="31" grpId="0"/>
      <p:bldP spid="32" grpId="0"/>
      <p:bldP spid="33" grpId="0"/>
      <p:bldP spid="34"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3">
            <a:hlinkClick r:id="" action="ppaction://noaction"/>
            <a:extLst>
              <a:ext uri="{FF2B5EF4-FFF2-40B4-BE49-F238E27FC236}">
                <a16:creationId xmlns:a16="http://schemas.microsoft.com/office/drawing/2014/main" id="{0BCF09C1-9BF9-87E7-9D23-3406A28E55D5}"/>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
        <p:nvSpPr>
          <p:cNvPr id="9" name="Rectangle 4">
            <a:extLst>
              <a:ext uri="{FF2B5EF4-FFF2-40B4-BE49-F238E27FC236}">
                <a16:creationId xmlns:a16="http://schemas.microsoft.com/office/drawing/2014/main" id="{CF292695-B71B-F0C2-3854-6C0EC066F224}"/>
              </a:ext>
            </a:extLst>
          </p:cNvPr>
          <p:cNvSpPr/>
          <p:nvPr/>
        </p:nvSpPr>
        <p:spPr>
          <a:xfrm>
            <a:off x="800099" y="2154606"/>
            <a:ext cx="10591801" cy="576120"/>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Bookman Old Style" panose="02050604050505020204" pitchFamily="18" charset="0"/>
              </a:rPr>
              <a:t>孤立系统中的熵永不减少        </a:t>
            </a:r>
            <a:r>
              <a:rPr lang="zh-CN" altLang="en-US" sz="2800" dirty="0">
                <a:solidFill>
                  <a:srgbClr val="000000"/>
                </a:solidFill>
                <a:latin typeface="Arial" panose="020B0604020202020204" pitchFamily="34" charset="0"/>
              </a:rPr>
              <a:t>宇宙的结局是一个死寂的永恒状态</a:t>
            </a:r>
          </a:p>
        </p:txBody>
      </p:sp>
      <p:sp>
        <p:nvSpPr>
          <p:cNvPr id="10" name="箭头: 右 9">
            <a:extLst>
              <a:ext uri="{FF2B5EF4-FFF2-40B4-BE49-F238E27FC236}">
                <a16:creationId xmlns:a16="http://schemas.microsoft.com/office/drawing/2014/main" id="{219D492C-0FE2-D441-8AD8-F5D88F2DEE66}"/>
              </a:ext>
            </a:extLst>
          </p:cNvPr>
          <p:cNvSpPr/>
          <p:nvPr/>
        </p:nvSpPr>
        <p:spPr>
          <a:xfrm>
            <a:off x="4983844" y="2391310"/>
            <a:ext cx="522514" cy="246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Group 4">
            <a:extLst>
              <a:ext uri="{FF2B5EF4-FFF2-40B4-BE49-F238E27FC236}">
                <a16:creationId xmlns:a16="http://schemas.microsoft.com/office/drawing/2014/main" id="{75922DC1-2392-6A4B-30AC-8AA24513ED92}"/>
              </a:ext>
            </a:extLst>
          </p:cNvPr>
          <p:cNvGrpSpPr>
            <a:grpSpLocks/>
          </p:cNvGrpSpPr>
          <p:nvPr/>
        </p:nvGrpSpPr>
        <p:grpSpPr bwMode="auto">
          <a:xfrm>
            <a:off x="2378097" y="1226468"/>
            <a:ext cx="5855788" cy="558801"/>
            <a:chOff x="648" y="779"/>
            <a:chExt cx="3382" cy="352"/>
          </a:xfrm>
        </p:grpSpPr>
        <p:sp>
          <p:nvSpPr>
            <p:cNvPr id="12" name="Text Box 5">
              <a:extLst>
                <a:ext uri="{FF2B5EF4-FFF2-40B4-BE49-F238E27FC236}">
                  <a16:creationId xmlns:a16="http://schemas.microsoft.com/office/drawing/2014/main" id="{FAE74E42-FA42-72AC-63AA-95011F637B14}"/>
                </a:ext>
              </a:extLst>
            </p:cNvPr>
            <p:cNvSpPr txBox="1">
              <a:spLocks noChangeArrowheads="1"/>
            </p:cNvSpPr>
            <p:nvPr/>
          </p:nvSpPr>
          <p:spPr bwMode="auto">
            <a:xfrm>
              <a:off x="648" y="78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热力学</a:t>
              </a:r>
            </a:p>
          </p:txBody>
        </p:sp>
        <p:sp>
          <p:nvSpPr>
            <p:cNvPr id="13" name="Rectangle 6">
              <a:extLst>
                <a:ext uri="{FF2B5EF4-FFF2-40B4-BE49-F238E27FC236}">
                  <a16:creationId xmlns:a16="http://schemas.microsoft.com/office/drawing/2014/main" id="{62161328-B79A-CD12-98B0-4FB34A111937}"/>
                </a:ext>
              </a:extLst>
            </p:cNvPr>
            <p:cNvSpPr>
              <a:spLocks noChangeArrowheads="1"/>
            </p:cNvSpPr>
            <p:nvPr/>
          </p:nvSpPr>
          <p:spPr bwMode="auto">
            <a:xfrm>
              <a:off x="1701" y="779"/>
              <a:ext cx="232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有序到无序的退化过程</a:t>
              </a:r>
            </a:p>
          </p:txBody>
        </p:sp>
      </p:grpSp>
      <p:sp>
        <p:nvSpPr>
          <p:cNvPr id="16" name="Rectangle 9">
            <a:extLst>
              <a:ext uri="{FF2B5EF4-FFF2-40B4-BE49-F238E27FC236}">
                <a16:creationId xmlns:a16="http://schemas.microsoft.com/office/drawing/2014/main" id="{F886CC72-034B-D4E7-CB77-20E1571A1970}"/>
              </a:ext>
            </a:extLst>
          </p:cNvPr>
          <p:cNvSpPr>
            <a:spLocks noChangeArrowheads="1"/>
          </p:cNvSpPr>
          <p:nvPr/>
        </p:nvSpPr>
        <p:spPr bwMode="auto">
          <a:xfrm>
            <a:off x="3129344" y="3044051"/>
            <a:ext cx="49247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进化过程</a:t>
            </a:r>
            <a:r>
              <a:rPr lang="en-US" altLang="zh-CN" sz="3000" b="0" dirty="0">
                <a:solidFill>
                  <a:srgbClr val="FF0000"/>
                </a:solidFill>
                <a:latin typeface="华文楷体" panose="02010600040101010101" pitchFamily="2" charset="-122"/>
                <a:ea typeface="华文楷体" panose="02010600040101010101" pitchFamily="2" charset="-122"/>
              </a:rPr>
              <a:t>: </a:t>
            </a:r>
            <a:r>
              <a:rPr lang="zh-CN" altLang="en-US" sz="3000" b="0" dirty="0">
                <a:solidFill>
                  <a:srgbClr val="FF0000"/>
                </a:solidFill>
                <a:latin typeface="华文楷体" panose="02010600040101010101" pitchFamily="2" charset="-122"/>
                <a:ea typeface="华文楷体" panose="02010600040101010101" pitchFamily="2" charset="-122"/>
              </a:rPr>
              <a:t>无序到有序</a:t>
            </a:r>
          </a:p>
        </p:txBody>
      </p:sp>
      <p:sp>
        <p:nvSpPr>
          <p:cNvPr id="17" name="Oval 4">
            <a:extLst>
              <a:ext uri="{FF2B5EF4-FFF2-40B4-BE49-F238E27FC236}">
                <a16:creationId xmlns:a16="http://schemas.microsoft.com/office/drawing/2014/main" id="{60934D94-E764-9049-C1F9-3F8EF7E1613E}"/>
              </a:ext>
            </a:extLst>
          </p:cNvPr>
          <p:cNvSpPr>
            <a:spLocks noChangeArrowheads="1"/>
          </p:cNvSpPr>
          <p:nvPr/>
        </p:nvSpPr>
        <p:spPr bwMode="auto">
          <a:xfrm>
            <a:off x="1140506" y="3693887"/>
            <a:ext cx="2952751" cy="2881313"/>
          </a:xfrm>
          <a:prstGeom prst="ellipse">
            <a:avLst/>
          </a:prstGeom>
          <a:solidFill>
            <a:srgbClr val="FFFF00"/>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3200" b="0">
                <a:ea typeface="华文楷体" panose="02010600040101010101" pitchFamily="2" charset="-122"/>
                <a:cs typeface="宋体" panose="02010600030101010101" pitchFamily="2" charset="-122"/>
              </a:rPr>
              <a:t>太阳</a:t>
            </a:r>
          </a:p>
        </p:txBody>
      </p:sp>
      <p:grpSp>
        <p:nvGrpSpPr>
          <p:cNvPr id="18" name="Group 5">
            <a:extLst>
              <a:ext uri="{FF2B5EF4-FFF2-40B4-BE49-F238E27FC236}">
                <a16:creationId xmlns:a16="http://schemas.microsoft.com/office/drawing/2014/main" id="{ABC34B46-E2A9-4CE1-9B78-D01D0A2FDEB8}"/>
              </a:ext>
            </a:extLst>
          </p:cNvPr>
          <p:cNvGrpSpPr>
            <a:grpSpLocks/>
          </p:cNvGrpSpPr>
          <p:nvPr/>
        </p:nvGrpSpPr>
        <p:grpSpPr bwMode="auto">
          <a:xfrm>
            <a:off x="3877356" y="3693886"/>
            <a:ext cx="3435350" cy="2089150"/>
            <a:chOff x="975" y="1842"/>
            <a:chExt cx="2164" cy="1316"/>
          </a:xfrm>
        </p:grpSpPr>
        <p:sp>
          <p:nvSpPr>
            <p:cNvPr id="19" name="AutoShape 6">
              <a:extLst>
                <a:ext uri="{FF2B5EF4-FFF2-40B4-BE49-F238E27FC236}">
                  <a16:creationId xmlns:a16="http://schemas.microsoft.com/office/drawing/2014/main" id="{4C3FE588-4C03-BB2E-409F-AD0396ADEDAB}"/>
                </a:ext>
              </a:extLst>
            </p:cNvPr>
            <p:cNvSpPr>
              <a:spLocks noChangeArrowheads="1"/>
            </p:cNvSpPr>
            <p:nvPr/>
          </p:nvSpPr>
          <p:spPr bwMode="auto">
            <a:xfrm>
              <a:off x="1169" y="2432"/>
              <a:ext cx="1769" cy="726"/>
            </a:xfrm>
            <a:prstGeom prst="rightArrow">
              <a:avLst>
                <a:gd name="adj1" fmla="val 50000"/>
                <a:gd name="adj2" fmla="val 60916"/>
              </a:avLst>
            </a:prstGeom>
            <a:solidFill>
              <a:schemeClr val="accent1"/>
            </a:solidFill>
            <a:ln w="9525">
              <a:solidFill>
                <a:schemeClr val="tx1"/>
              </a:solidFill>
              <a:miter lim="800000"/>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p>
          </p:txBody>
        </p:sp>
        <p:sp>
          <p:nvSpPr>
            <p:cNvPr id="20" name="Text Box 7">
              <a:extLst>
                <a:ext uri="{FF2B5EF4-FFF2-40B4-BE49-F238E27FC236}">
                  <a16:creationId xmlns:a16="http://schemas.microsoft.com/office/drawing/2014/main" id="{3FF2CE2A-0EFF-E565-2396-2745590A7CDD}"/>
                </a:ext>
              </a:extLst>
            </p:cNvPr>
            <p:cNvSpPr txBox="1">
              <a:spLocks noChangeArrowheads="1"/>
            </p:cNvSpPr>
            <p:nvPr/>
          </p:nvSpPr>
          <p:spPr bwMode="auto">
            <a:xfrm>
              <a:off x="975" y="1842"/>
              <a:ext cx="21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输入高品质太阳能</a:t>
              </a:r>
            </a:p>
          </p:txBody>
        </p:sp>
      </p:grpSp>
      <p:sp>
        <p:nvSpPr>
          <p:cNvPr id="21" name="Oval 8">
            <a:extLst>
              <a:ext uri="{FF2B5EF4-FFF2-40B4-BE49-F238E27FC236}">
                <a16:creationId xmlns:a16="http://schemas.microsoft.com/office/drawing/2014/main" id="{D3AD36C3-695B-7AD1-E22D-AD6E1BEC0616}"/>
              </a:ext>
            </a:extLst>
          </p:cNvPr>
          <p:cNvSpPr>
            <a:spLocks noChangeArrowheads="1"/>
          </p:cNvSpPr>
          <p:nvPr/>
        </p:nvSpPr>
        <p:spPr bwMode="auto">
          <a:xfrm>
            <a:off x="7188882" y="4486050"/>
            <a:ext cx="1368425" cy="1366837"/>
          </a:xfrm>
          <a:prstGeom prst="ellipse">
            <a:avLst/>
          </a:prstGeom>
          <a:solidFill>
            <a:srgbClr val="FFFF85"/>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0">
                <a:ea typeface="华文楷体" panose="02010600040101010101" pitchFamily="2" charset="-122"/>
                <a:cs typeface="宋体" panose="02010600030101010101" pitchFamily="2" charset="-122"/>
              </a:rPr>
              <a:t>地球</a:t>
            </a:r>
          </a:p>
        </p:txBody>
      </p:sp>
      <p:sp>
        <p:nvSpPr>
          <p:cNvPr id="22" name="Text Box 9">
            <a:extLst>
              <a:ext uri="{FF2B5EF4-FFF2-40B4-BE49-F238E27FC236}">
                <a16:creationId xmlns:a16="http://schemas.microsoft.com/office/drawing/2014/main" id="{B6B1C526-97DD-D479-5016-6F4B7E9468B3}"/>
              </a:ext>
            </a:extLst>
          </p:cNvPr>
          <p:cNvSpPr txBox="1">
            <a:spLocks noChangeArrowheads="1"/>
          </p:cNvSpPr>
          <p:nvPr/>
        </p:nvSpPr>
        <p:spPr bwMode="auto">
          <a:xfrm>
            <a:off x="6396718" y="6070375"/>
            <a:ext cx="4248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地球辐射出低品质热能</a:t>
            </a:r>
          </a:p>
        </p:txBody>
      </p:sp>
      <p:grpSp>
        <p:nvGrpSpPr>
          <p:cNvPr id="23" name="Group 10">
            <a:extLst>
              <a:ext uri="{FF2B5EF4-FFF2-40B4-BE49-F238E27FC236}">
                <a16:creationId xmlns:a16="http://schemas.microsoft.com/office/drawing/2014/main" id="{863BD818-2B13-923A-0232-772A17AE3036}"/>
              </a:ext>
            </a:extLst>
          </p:cNvPr>
          <p:cNvGrpSpPr>
            <a:grpSpLocks/>
          </p:cNvGrpSpPr>
          <p:nvPr/>
        </p:nvGrpSpPr>
        <p:grpSpPr bwMode="auto">
          <a:xfrm>
            <a:off x="7622269" y="3911374"/>
            <a:ext cx="1584325" cy="1295400"/>
            <a:chOff x="3334" y="1979"/>
            <a:chExt cx="998" cy="816"/>
          </a:xfrm>
        </p:grpSpPr>
        <p:sp>
          <p:nvSpPr>
            <p:cNvPr id="24" name="Line 11">
              <a:extLst>
                <a:ext uri="{FF2B5EF4-FFF2-40B4-BE49-F238E27FC236}">
                  <a16:creationId xmlns:a16="http://schemas.microsoft.com/office/drawing/2014/main" id="{5C1B58A4-BD44-012B-FF07-0EB2EA6F510C}"/>
                </a:ext>
              </a:extLst>
            </p:cNvPr>
            <p:cNvSpPr>
              <a:spLocks noChangeShapeType="1"/>
            </p:cNvSpPr>
            <p:nvPr/>
          </p:nvSpPr>
          <p:spPr bwMode="auto">
            <a:xfrm flipH="1" flipV="1">
              <a:off x="3334" y="1979"/>
              <a:ext cx="9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2">
              <a:extLst>
                <a:ext uri="{FF2B5EF4-FFF2-40B4-BE49-F238E27FC236}">
                  <a16:creationId xmlns:a16="http://schemas.microsoft.com/office/drawing/2014/main" id="{01379185-0D68-419B-6443-1893669505EF}"/>
                </a:ext>
              </a:extLst>
            </p:cNvPr>
            <p:cNvSpPr>
              <a:spLocks noChangeShapeType="1"/>
            </p:cNvSpPr>
            <p:nvPr/>
          </p:nvSpPr>
          <p:spPr bwMode="auto">
            <a:xfrm flipV="1">
              <a:off x="3561" y="1979"/>
              <a:ext cx="45"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13">
              <a:extLst>
                <a:ext uri="{FF2B5EF4-FFF2-40B4-BE49-F238E27FC236}">
                  <a16:creationId xmlns:a16="http://schemas.microsoft.com/office/drawing/2014/main" id="{EDA5ADFF-2510-44D6-F526-7679B1434CAE}"/>
                </a:ext>
              </a:extLst>
            </p:cNvPr>
            <p:cNvSpPr>
              <a:spLocks noChangeShapeType="1"/>
            </p:cNvSpPr>
            <p:nvPr/>
          </p:nvSpPr>
          <p:spPr bwMode="auto">
            <a:xfrm flipV="1">
              <a:off x="3651" y="2024"/>
              <a:ext cx="136"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14">
              <a:extLst>
                <a:ext uri="{FF2B5EF4-FFF2-40B4-BE49-F238E27FC236}">
                  <a16:creationId xmlns:a16="http://schemas.microsoft.com/office/drawing/2014/main" id="{BE56C4B7-7DA9-D182-6FE7-C1B1C4D76D14}"/>
                </a:ext>
              </a:extLst>
            </p:cNvPr>
            <p:cNvSpPr>
              <a:spLocks noChangeShapeType="1"/>
            </p:cNvSpPr>
            <p:nvPr/>
          </p:nvSpPr>
          <p:spPr bwMode="auto">
            <a:xfrm flipV="1">
              <a:off x="3742" y="2115"/>
              <a:ext cx="181" cy="3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15">
              <a:extLst>
                <a:ext uri="{FF2B5EF4-FFF2-40B4-BE49-F238E27FC236}">
                  <a16:creationId xmlns:a16="http://schemas.microsoft.com/office/drawing/2014/main" id="{D3267B2D-6D47-9DA7-FE21-FFB21107BA86}"/>
                </a:ext>
              </a:extLst>
            </p:cNvPr>
            <p:cNvSpPr>
              <a:spLocks noChangeShapeType="1"/>
            </p:cNvSpPr>
            <p:nvPr/>
          </p:nvSpPr>
          <p:spPr bwMode="auto">
            <a:xfrm flipV="1">
              <a:off x="3787" y="2205"/>
              <a:ext cx="272"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16">
              <a:extLst>
                <a:ext uri="{FF2B5EF4-FFF2-40B4-BE49-F238E27FC236}">
                  <a16:creationId xmlns:a16="http://schemas.microsoft.com/office/drawing/2014/main" id="{D729D95E-BDEB-F57D-0D6F-607CB2A3B432}"/>
                </a:ext>
              </a:extLst>
            </p:cNvPr>
            <p:cNvSpPr>
              <a:spLocks noChangeShapeType="1"/>
            </p:cNvSpPr>
            <p:nvPr/>
          </p:nvSpPr>
          <p:spPr bwMode="auto">
            <a:xfrm flipV="1">
              <a:off x="3833" y="2340"/>
              <a:ext cx="317" cy="2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7">
              <a:extLst>
                <a:ext uri="{FF2B5EF4-FFF2-40B4-BE49-F238E27FC236}">
                  <a16:creationId xmlns:a16="http://schemas.microsoft.com/office/drawing/2014/main" id="{343CCE94-0822-CFE2-3879-ACD161595B17}"/>
                </a:ext>
              </a:extLst>
            </p:cNvPr>
            <p:cNvSpPr>
              <a:spLocks noChangeShapeType="1"/>
            </p:cNvSpPr>
            <p:nvPr/>
          </p:nvSpPr>
          <p:spPr bwMode="auto">
            <a:xfrm flipV="1">
              <a:off x="3924" y="2523"/>
              <a:ext cx="317" cy="1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18">
              <a:extLst>
                <a:ext uri="{FF2B5EF4-FFF2-40B4-BE49-F238E27FC236}">
                  <a16:creationId xmlns:a16="http://schemas.microsoft.com/office/drawing/2014/main" id="{9FAD1F97-7A8B-249C-4E44-190689AD3128}"/>
                </a:ext>
              </a:extLst>
            </p:cNvPr>
            <p:cNvSpPr>
              <a:spLocks noChangeShapeType="1"/>
            </p:cNvSpPr>
            <p:nvPr/>
          </p:nvSpPr>
          <p:spPr bwMode="auto">
            <a:xfrm flipV="1">
              <a:off x="3923" y="2704"/>
              <a:ext cx="363" cy="4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9">
              <a:extLst>
                <a:ext uri="{FF2B5EF4-FFF2-40B4-BE49-F238E27FC236}">
                  <a16:creationId xmlns:a16="http://schemas.microsoft.com/office/drawing/2014/main" id="{07A841EB-4197-7595-54B8-B25EB31A9124}"/>
                </a:ext>
              </a:extLst>
            </p:cNvPr>
            <p:cNvSpPr>
              <a:spLocks noChangeShapeType="1"/>
            </p:cNvSpPr>
            <p:nvPr/>
          </p:nvSpPr>
          <p:spPr bwMode="auto">
            <a:xfrm>
              <a:off x="3923" y="2795"/>
              <a:ext cx="40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20">
            <a:extLst>
              <a:ext uri="{FF2B5EF4-FFF2-40B4-BE49-F238E27FC236}">
                <a16:creationId xmlns:a16="http://schemas.microsoft.com/office/drawing/2014/main" id="{662F085D-AA33-FD71-0902-59235CB9F710}"/>
              </a:ext>
            </a:extLst>
          </p:cNvPr>
          <p:cNvSpPr txBox="1">
            <a:spLocks noChangeArrowheads="1"/>
          </p:cNvSpPr>
          <p:nvPr/>
        </p:nvSpPr>
        <p:spPr bwMode="auto">
          <a:xfrm>
            <a:off x="9432019" y="4630511"/>
            <a:ext cx="204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a:ea typeface="华文楷体" panose="02010600040101010101" pitchFamily="2" charset="-122"/>
                <a:cs typeface="宋体" panose="02010600030101010101" pitchFamily="2" charset="-122"/>
              </a:rPr>
              <a:t>+【</a:t>
            </a:r>
            <a:r>
              <a:rPr lang="zh-CN" altLang="en-US" sz="3200" b="0">
                <a:ea typeface="华文楷体" panose="02010600040101010101" pitchFamily="2" charset="-122"/>
                <a:cs typeface="宋体" panose="02010600030101010101" pitchFamily="2" charset="-122"/>
              </a:rPr>
              <a:t>生命</a:t>
            </a:r>
            <a:r>
              <a:rPr lang="en-US" altLang="zh-CN" sz="3200" b="0">
                <a:ea typeface="华文楷体" panose="02010600040101010101" pitchFamily="2" charset="-122"/>
                <a:cs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6" grpId="0"/>
      <p:bldP spid="17" grpId="0" animBg="1"/>
      <p:bldP spid="21" grpId="0" animBg="1"/>
      <p:bldP spid="2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0A796F74-2600-0BFB-CE55-C19291C41F61}"/>
              </a:ext>
            </a:extLst>
          </p:cNvPr>
          <p:cNvSpPr txBox="1">
            <a:spLocks noChangeArrowheads="1"/>
          </p:cNvSpPr>
          <p:nvPr/>
        </p:nvSpPr>
        <p:spPr bwMode="auto">
          <a:xfrm>
            <a:off x="2224542" y="1098219"/>
            <a:ext cx="7121525" cy="608012"/>
          </a:xfrm>
          <a:prstGeom prst="rect">
            <a:avLst/>
          </a:prstGeom>
          <a:solidFill>
            <a:schemeClr val="bg1"/>
          </a:solidFill>
          <a:ln w="28575">
            <a:noFill/>
            <a:miter lim="800000"/>
            <a:headEnd/>
            <a:tailEnd/>
          </a:ln>
          <a:effectLst/>
        </p:spPr>
        <p:txBody>
          <a:bodyPr wrap="none">
            <a:spAutoFit/>
          </a:bodyPr>
          <a:lstStyle/>
          <a:p>
            <a:pPr>
              <a:defRPr/>
            </a:pPr>
            <a:r>
              <a:rPr lang="zh-CN" altLang="en-US" sz="3200" dirty="0">
                <a:ea typeface="华文楷体" pitchFamily="2" charset="-122"/>
                <a:cs typeface="宋体" pitchFamily="2" charset="-122"/>
              </a:rPr>
              <a:t>能量流过系统可以使系统有序性增加。</a:t>
            </a:r>
          </a:p>
        </p:txBody>
      </p:sp>
      <p:sp>
        <p:nvSpPr>
          <p:cNvPr id="31748" name="Text Box 4">
            <a:extLst>
              <a:ext uri="{FF2B5EF4-FFF2-40B4-BE49-F238E27FC236}">
                <a16:creationId xmlns:a16="http://schemas.microsoft.com/office/drawing/2014/main" id="{684ECCD0-5ACF-E083-02A5-71C81D8A3BC3}"/>
              </a:ext>
            </a:extLst>
          </p:cNvPr>
          <p:cNvSpPr txBox="1">
            <a:spLocks noChangeArrowheads="1"/>
          </p:cNvSpPr>
          <p:nvPr/>
        </p:nvSpPr>
        <p:spPr bwMode="auto">
          <a:xfrm>
            <a:off x="997630" y="4102221"/>
            <a:ext cx="104613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b="0" dirty="0">
                <a:ea typeface="华文楷体" panose="02010600040101010101" pitchFamily="2" charset="-122"/>
                <a:cs typeface="宋体" panose="02010600030101010101" pitchFamily="2" charset="-122"/>
              </a:rPr>
              <a:t>- </a:t>
            </a:r>
            <a:r>
              <a:rPr lang="zh-CN" altLang="en-US" sz="3200" b="0" dirty="0">
                <a:solidFill>
                  <a:srgbClr val="FF0000"/>
                </a:solidFill>
                <a:ea typeface="华文楷体" panose="02010600040101010101" pitchFamily="2" charset="-122"/>
                <a:cs typeface="宋体" panose="02010600030101010101" pitchFamily="2" charset="-122"/>
              </a:rPr>
              <a:t>生命不能无中生有创造有序。生命俘获有序，</a:t>
            </a:r>
            <a:r>
              <a:rPr lang="zh-CN" altLang="en-US" sz="3200" b="0" dirty="0">
                <a:ea typeface="华文楷体" panose="02010600040101010101" pitchFamily="2" charset="-122"/>
                <a:cs typeface="宋体" panose="02010600030101010101" pitchFamily="2" charset="-122"/>
              </a:rPr>
              <a:t>有序根本上都来自于太阳。这些有序通过一系列错综复杂的过程，慢慢流经生物圈，这些过程一般地称为</a:t>
            </a:r>
            <a:r>
              <a:rPr lang="zh-CN" altLang="en-US" sz="3200" b="0" dirty="0">
                <a:solidFill>
                  <a:srgbClr val="FF0000"/>
                </a:solidFill>
                <a:ea typeface="华文楷体" panose="02010600040101010101" pitchFamily="2" charset="-122"/>
                <a:cs typeface="宋体" panose="02010600030101010101" pitchFamily="2" charset="-122"/>
              </a:rPr>
              <a:t>自由能转换</a:t>
            </a:r>
            <a:r>
              <a:rPr lang="zh-CN" altLang="en-US" sz="3200" b="0" dirty="0">
                <a:ea typeface="华文楷体" panose="02010600040101010101" pitchFamily="2" charset="-122"/>
                <a:cs typeface="宋体" panose="02010600030101010101" pitchFamily="2" charset="-122"/>
              </a:rPr>
              <a:t>。</a:t>
            </a:r>
          </a:p>
        </p:txBody>
      </p:sp>
      <p:sp>
        <p:nvSpPr>
          <p:cNvPr id="31749" name="Text Box 5">
            <a:extLst>
              <a:ext uri="{FF2B5EF4-FFF2-40B4-BE49-F238E27FC236}">
                <a16:creationId xmlns:a16="http://schemas.microsoft.com/office/drawing/2014/main" id="{504263AA-1C7C-3CD0-3717-17E87EEC660C}"/>
              </a:ext>
            </a:extLst>
          </p:cNvPr>
          <p:cNvSpPr txBox="1">
            <a:spLocks noChangeArrowheads="1"/>
          </p:cNvSpPr>
          <p:nvPr/>
        </p:nvSpPr>
        <p:spPr bwMode="auto">
          <a:xfrm>
            <a:off x="903288" y="1894916"/>
            <a:ext cx="102581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b="0" dirty="0">
                <a:ea typeface="华文楷体" panose="02010600040101010101" pitchFamily="2" charset="-122"/>
                <a:cs typeface="宋体" panose="02010600030101010101" pitchFamily="2" charset="-122"/>
              </a:rPr>
              <a:t>- </a:t>
            </a:r>
            <a:r>
              <a:rPr lang="zh-CN" altLang="en-US" sz="3200" b="0" dirty="0">
                <a:ea typeface="华文楷体" panose="02010600040101010101" pitchFamily="2" charset="-122"/>
                <a:cs typeface="宋体" panose="02010600030101010101" pitchFamily="2" charset="-122"/>
              </a:rPr>
              <a:t>动植物消耗高品质能量，放出低品质能量，用来抵抗热无序的退化趋势。如果有剩余，则创造有序，如盖房子等活动，</a:t>
            </a:r>
            <a:r>
              <a:rPr lang="zh-CN" altLang="en-US" sz="3200" b="0" dirty="0">
                <a:solidFill>
                  <a:srgbClr val="FF0000"/>
                </a:solidFill>
                <a:ea typeface="华文楷体" panose="02010600040101010101" pitchFamily="2" charset="-122"/>
                <a:cs typeface="宋体" panose="02010600030101010101" pitchFamily="2" charset="-122"/>
              </a:rPr>
              <a:t>所以动植物消耗的是有序，而不是能量。</a:t>
            </a:r>
          </a:p>
        </p:txBody>
      </p:sp>
      <p:sp>
        <p:nvSpPr>
          <p:cNvPr id="2" name="Text Box 13">
            <a:hlinkClick r:id="" action="ppaction://noaction"/>
            <a:extLst>
              <a:ext uri="{FF2B5EF4-FFF2-40B4-BE49-F238E27FC236}">
                <a16:creationId xmlns:a16="http://schemas.microsoft.com/office/drawing/2014/main" id="{9AB65220-4480-788B-7011-B679D5271197}"/>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nimBg="1"/>
      <p:bldP spid="31748" grpId="0"/>
      <p:bldP spid="317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F523F54-A515-2030-BC06-983C8E8E7E92}"/>
              </a:ext>
            </a:extLst>
          </p:cNvPr>
          <p:cNvSpPr txBox="1">
            <a:spLocks/>
          </p:cNvSpPr>
          <p:nvPr/>
        </p:nvSpPr>
        <p:spPr>
          <a:xfrm>
            <a:off x="652853" y="2514502"/>
            <a:ext cx="6477051" cy="4456113"/>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zh-CN" altLang="en-US" sz="3200" dirty="0"/>
              <a:t>宇宙不能看成孤立系统</a:t>
            </a:r>
            <a:endParaRPr lang="en-US" altLang="zh-CN" sz="3200" dirty="0"/>
          </a:p>
          <a:p>
            <a:pPr>
              <a:buFontTx/>
              <a:buChar char="-"/>
            </a:pPr>
            <a:r>
              <a:rPr lang="zh-CN" altLang="en-US" sz="3200" dirty="0"/>
              <a:t>宇宙在膨胀，每一个状态对应一个最大熵值 ，膨胀着的宇宙这个值也随着系统的膨胀而增加。当膨胀得足够快时，实际的熵增落后于最大熵值的增长</a:t>
            </a:r>
            <a:endParaRPr lang="en-US" altLang="zh-CN" sz="3200" dirty="0"/>
          </a:p>
          <a:p>
            <a:pPr>
              <a:buFontTx/>
              <a:buChar char="-"/>
            </a:pPr>
            <a:r>
              <a:rPr lang="zh-CN" altLang="en-US" sz="3200" dirty="0"/>
              <a:t>庞加莱始态复现定理</a:t>
            </a:r>
          </a:p>
        </p:txBody>
      </p:sp>
      <p:sp>
        <p:nvSpPr>
          <p:cNvPr id="3" name="Text Box 13">
            <a:hlinkClick r:id="" action="ppaction://noaction"/>
            <a:extLst>
              <a:ext uri="{FF2B5EF4-FFF2-40B4-BE49-F238E27FC236}">
                <a16:creationId xmlns:a16="http://schemas.microsoft.com/office/drawing/2014/main" id="{55C7A628-84F9-7800-1BF8-103E362D797D}"/>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热寂说</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
        <p:nvSpPr>
          <p:cNvPr id="4" name="Rectangle 4">
            <a:extLst>
              <a:ext uri="{FF2B5EF4-FFF2-40B4-BE49-F238E27FC236}">
                <a16:creationId xmlns:a16="http://schemas.microsoft.com/office/drawing/2014/main" id="{89CDF72B-986D-1426-6AF2-96CDA1124BA3}"/>
              </a:ext>
            </a:extLst>
          </p:cNvPr>
          <p:cNvSpPr/>
          <p:nvPr/>
        </p:nvSpPr>
        <p:spPr>
          <a:xfrm>
            <a:off x="515894" y="1468277"/>
            <a:ext cx="6670758" cy="645177"/>
          </a:xfrm>
          <a:prstGeom prst="rect">
            <a:avLst/>
          </a:prstGeom>
          <a:noFill/>
          <a:ln w="9525">
            <a:noFill/>
          </a:ln>
        </p:spPr>
        <p:txBody>
          <a:bodyPr wrap="square">
            <a:spAutoFit/>
          </a:bodyPr>
          <a:lstStyle/>
          <a:p>
            <a:pPr eaLnBrk="1" hangingPunct="1">
              <a:lnSpc>
                <a:spcPct val="120000"/>
              </a:lnSpc>
              <a:spcBef>
                <a:spcPct val="50000"/>
              </a:spcBef>
            </a:pPr>
            <a:r>
              <a:rPr lang="zh-CN" altLang="en-US" sz="3200" dirty="0">
                <a:solidFill>
                  <a:srgbClr val="000000"/>
                </a:solidFill>
                <a:latin typeface="Arial" panose="020B0604020202020204" pitchFamily="34" charset="0"/>
              </a:rPr>
              <a:t>宇宙的结局是一个死寂的永恒状态？</a:t>
            </a:r>
          </a:p>
        </p:txBody>
      </p:sp>
      <p:pic>
        <p:nvPicPr>
          <p:cNvPr id="1026" name="Picture 2" descr="宇宙并不稳定？科学家：真空衰变随时可能发生，进而毁灭宇宙_手机搜狐网">
            <a:extLst>
              <a:ext uri="{FF2B5EF4-FFF2-40B4-BE49-F238E27FC236}">
                <a16:creationId xmlns:a16="http://schemas.microsoft.com/office/drawing/2014/main" id="{B524000A-C8B5-4F36-8D35-9CE59F8A9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6652" y="1712970"/>
            <a:ext cx="4584000" cy="3543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84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033938" y="2533285"/>
            <a:ext cx="6442789"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作业 ：习题</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11.5</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11.7</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11.9</a:t>
            </a:r>
            <a:endParaRPr lang="en-US" sz="3200" kern="100" dirty="0">
              <a:effectLst/>
              <a:latin typeface="Times New Roman" panose="02020603050405020304" pitchFamily="18" charset="0"/>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908582" y="3739940"/>
            <a:ext cx="5724644"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截止时间：</a:t>
            </a:r>
            <a:r>
              <a:rPr lang="en-US" altLang="zh-CN" sz="3200" kern="0" dirty="0">
                <a:solidFill>
                  <a:srgbClr val="000000"/>
                </a:solidFill>
                <a:latin typeface="Times New Roman" panose="02020603050405020304" pitchFamily="18" charset="0"/>
                <a:ea typeface="+mj-ea"/>
                <a:cs typeface="Times New Roman" panose="02020603050405020304" pitchFamily="18" charset="0"/>
              </a:rPr>
              <a:t>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19</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日上午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endParaRPr lang="en-US" sz="3200" kern="100" dirty="0">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3205727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C44FCEEE-BD07-ADCD-44E4-76994D27C645}"/>
              </a:ext>
            </a:extLst>
          </p:cNvPr>
          <p:cNvSpPr txBox="1">
            <a:spLocks noChangeArrowheads="1"/>
          </p:cNvSpPr>
          <p:nvPr/>
        </p:nvSpPr>
        <p:spPr bwMode="auto">
          <a:xfrm>
            <a:off x="1905000" y="2071688"/>
            <a:ext cx="3657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chemeClr val="bg1"/>
                </a:solidFill>
                <a:latin typeface="+mn-ea"/>
              </a:rPr>
              <a:t>（1）热力学第一定律</a:t>
            </a:r>
          </a:p>
        </p:txBody>
      </p:sp>
      <mc:AlternateContent xmlns:mc="http://schemas.openxmlformats.org/markup-compatibility/2006" xmlns:a14="http://schemas.microsoft.com/office/drawing/2010/main">
        <mc:Choice Requires="a14">
          <p:sp>
            <p:nvSpPr>
              <p:cNvPr id="100355" name="Object 3">
                <a:extLst>
                  <a:ext uri="{FF2B5EF4-FFF2-40B4-BE49-F238E27FC236}">
                    <a16:creationId xmlns:a16="http://schemas.microsoft.com/office/drawing/2014/main" id="{33799BA9-9723-D002-FC6D-1AD0B48E77AB}"/>
                  </a:ext>
                </a:extLst>
              </p:cNvPr>
              <p:cNvSpPr txBox="1"/>
              <p:nvPr/>
            </p:nvSpPr>
            <p:spPr bwMode="auto">
              <a:xfrm>
                <a:off x="6238849" y="2731873"/>
                <a:ext cx="2205858" cy="5429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𝑄</m:t>
                      </m:r>
                      <m:r>
                        <a:rPr lang="zh-CN" altLang="en-US" sz="2800" i="1" smtClean="0">
                          <a:solidFill>
                            <a:srgbClr val="000000"/>
                          </a:solidFill>
                          <a:latin typeface="Cambria Math" panose="02040503050406030204" pitchFamily="18" charset="0"/>
                        </a:rPr>
                        <m:t>=</m:t>
                      </m:r>
                      <m:r>
                        <m:rPr>
                          <m:sty m:val="p"/>
                        </m:rPr>
                        <a:rPr lang="zh-CN" altLang="en-US" sz="2800" i="1" smtClean="0">
                          <a:solidFill>
                            <a:srgbClr val="000000"/>
                          </a:solidFill>
                          <a:latin typeface="Cambria Math" panose="02040503050406030204" pitchFamily="18" charset="0"/>
                        </a:rPr>
                        <m:t>Δ</m:t>
                      </m:r>
                      <m:r>
                        <a:rPr lang="zh-CN" altLang="en-US" sz="2800" i="1" smtClean="0">
                          <a:solidFill>
                            <a:srgbClr val="000000"/>
                          </a:solidFill>
                          <a:latin typeface="Cambria Math" panose="02040503050406030204" pitchFamily="18" charset="0"/>
                        </a:rPr>
                        <m:t>𝐸</m:t>
                      </m:r>
                      <m:r>
                        <a:rPr lang="zh-CN" altLang="en-US"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𝐴</m:t>
                      </m:r>
                    </m:oMath>
                  </m:oMathPara>
                </a14:m>
                <a:endParaRPr lang="zh-CN" altLang="en-US" sz="2800" dirty="0">
                  <a:latin typeface="+mn-ea"/>
                </a:endParaRPr>
              </a:p>
            </p:txBody>
          </p:sp>
        </mc:Choice>
        <mc:Fallback xmlns="">
          <p:sp>
            <p:nvSpPr>
              <p:cNvPr id="100355" name="Object 3">
                <a:extLst>
                  <a:ext uri="{FF2B5EF4-FFF2-40B4-BE49-F238E27FC236}">
                    <a16:creationId xmlns:a16="http://schemas.microsoft.com/office/drawing/2014/main" id="{33799BA9-9723-D002-FC6D-1AD0B48E77AB}"/>
                  </a:ext>
                </a:extLst>
              </p:cNvPr>
              <p:cNvSpPr txBox="1">
                <a:spLocks noRot="1" noChangeAspect="1" noMove="1" noResize="1" noEditPoints="1" noAdjustHandles="1" noChangeArrowheads="1" noChangeShapeType="1" noTextEdit="1"/>
              </p:cNvSpPr>
              <p:nvPr/>
            </p:nvSpPr>
            <p:spPr bwMode="auto">
              <a:xfrm>
                <a:off x="6238849" y="2731873"/>
                <a:ext cx="2205858" cy="542925"/>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356" name="Object 4">
                <a:extLst>
                  <a:ext uri="{FF2B5EF4-FFF2-40B4-BE49-F238E27FC236}">
                    <a16:creationId xmlns:a16="http://schemas.microsoft.com/office/drawing/2014/main" id="{C0129F36-0812-0013-F557-8FAA7F8A1052}"/>
                  </a:ext>
                </a:extLst>
              </p:cNvPr>
              <p:cNvSpPr txBox="1"/>
              <p:nvPr/>
            </p:nvSpPr>
            <p:spPr bwMode="auto">
              <a:xfrm>
                <a:off x="8444707" y="2751137"/>
                <a:ext cx="2489735" cy="514350"/>
              </a:xfrm>
              <a:prstGeom prst="rect">
                <a:avLst/>
              </a:prstGeom>
              <a:noFill/>
              <a:ln>
                <a:noFill/>
              </a:ln>
              <a:effectLst/>
            </p:spPr>
            <p:txBody>
              <a:bodyPr>
                <a:noAutofit/>
              </a:bodyPr>
              <a:lstStyle/>
              <a:p>
                <a14:m>
                  <m:oMath xmlns:m="http://schemas.openxmlformats.org/officeDocument/2006/math">
                    <m:r>
                      <a:rPr lang="zh-CN" altLang="en-US" sz="2800" i="1">
                        <a:solidFill>
                          <a:srgbClr val="000000"/>
                        </a:solidFill>
                        <a:latin typeface="Cambria Math" panose="02040503050406030204" pitchFamily="18" charset="0"/>
                      </a:rPr>
                      <m:t>𝑑𝑄</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oMath>
                </a14:m>
                <a:r>
                  <a:rPr lang="en-US" altLang="zh-CN" sz="2800" dirty="0">
                    <a:latin typeface="+mn-ea"/>
                  </a:rPr>
                  <a:t>A</a:t>
                </a:r>
                <a:endParaRPr lang="zh-CN" altLang="en-US" sz="2800" dirty="0">
                  <a:latin typeface="+mn-ea"/>
                </a:endParaRPr>
              </a:p>
            </p:txBody>
          </p:sp>
        </mc:Choice>
        <mc:Fallback xmlns="">
          <p:sp>
            <p:nvSpPr>
              <p:cNvPr id="100356" name="Object 4">
                <a:extLst>
                  <a:ext uri="{FF2B5EF4-FFF2-40B4-BE49-F238E27FC236}">
                    <a16:creationId xmlns:a16="http://schemas.microsoft.com/office/drawing/2014/main" id="{C0129F36-0812-0013-F557-8FAA7F8A1052}"/>
                  </a:ext>
                </a:extLst>
              </p:cNvPr>
              <p:cNvSpPr txBox="1">
                <a:spLocks noRot="1" noChangeAspect="1" noMove="1" noResize="1" noEditPoints="1" noAdjustHandles="1" noChangeArrowheads="1" noChangeShapeType="1" noTextEdit="1"/>
              </p:cNvSpPr>
              <p:nvPr/>
            </p:nvSpPr>
            <p:spPr bwMode="auto">
              <a:xfrm>
                <a:off x="8444707" y="2751137"/>
                <a:ext cx="2489735" cy="514350"/>
              </a:xfrm>
              <a:prstGeom prst="rect">
                <a:avLst/>
              </a:prstGeom>
              <a:blipFill>
                <a:blip r:embed="rId3"/>
                <a:stretch>
                  <a:fillRect t="-11765" r="-2445" b="-32941"/>
                </a:stretch>
              </a:blipFill>
              <a:ln>
                <a:noFill/>
              </a:ln>
              <a:effectLst/>
            </p:spPr>
            <p:txBody>
              <a:bodyPr/>
              <a:lstStyle/>
              <a:p>
                <a:r>
                  <a:rPr lang="zh-CN" altLang="en-US">
                    <a:noFill/>
                  </a:rPr>
                  <a:t> </a:t>
                </a:r>
              </a:p>
            </p:txBody>
          </p:sp>
        </mc:Fallback>
      </mc:AlternateContent>
      <p:sp>
        <p:nvSpPr>
          <p:cNvPr id="100357" name="Text Box 5">
            <a:extLst>
              <a:ext uri="{FF2B5EF4-FFF2-40B4-BE49-F238E27FC236}">
                <a16:creationId xmlns:a16="http://schemas.microsoft.com/office/drawing/2014/main" id="{924C1343-F0AA-28DA-C3A4-97A9263DD2EC}"/>
              </a:ext>
            </a:extLst>
          </p:cNvPr>
          <p:cNvSpPr txBox="1">
            <a:spLocks noChangeArrowheads="1"/>
          </p:cNvSpPr>
          <p:nvPr/>
        </p:nvSpPr>
        <p:spPr bwMode="auto">
          <a:xfrm>
            <a:off x="4383366" y="503240"/>
            <a:ext cx="3505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dirty="0">
                <a:solidFill>
                  <a:srgbClr val="0066FF"/>
                </a:solidFill>
                <a:latin typeface="Times New Roman" panose="02020603050405020304" pitchFamily="18" charset="0"/>
              </a:rPr>
              <a:t>热力学总结</a:t>
            </a:r>
            <a:endParaRPr lang="zh-CN" altLang="zh-CN" sz="3600" b="1" dirty="0">
              <a:solidFill>
                <a:srgbClr val="0066FF"/>
              </a:solidFill>
              <a:latin typeface="Times New Roman" panose="02020603050405020304" pitchFamily="18" charset="0"/>
            </a:endParaRPr>
          </a:p>
        </p:txBody>
      </p:sp>
      <p:sp>
        <p:nvSpPr>
          <p:cNvPr id="100358" name="Text Box 6">
            <a:extLst>
              <a:ext uri="{FF2B5EF4-FFF2-40B4-BE49-F238E27FC236}">
                <a16:creationId xmlns:a16="http://schemas.microsoft.com/office/drawing/2014/main" id="{8C92D05B-775A-41D6-BB61-83F7B174CBEF}"/>
              </a:ext>
            </a:extLst>
          </p:cNvPr>
          <p:cNvSpPr txBox="1">
            <a:spLocks noChangeArrowheads="1"/>
          </p:cNvSpPr>
          <p:nvPr/>
        </p:nvSpPr>
        <p:spPr bwMode="auto">
          <a:xfrm>
            <a:off x="1524000" y="2743780"/>
            <a:ext cx="655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n-ea"/>
              </a:rPr>
              <a:t>- </a:t>
            </a:r>
            <a:r>
              <a:rPr lang="zh-CN" altLang="zh-CN" sz="2800" b="1" dirty="0">
                <a:latin typeface="+mn-ea"/>
              </a:rPr>
              <a:t>热力学第一定律及其应用</a:t>
            </a:r>
          </a:p>
        </p:txBody>
      </p:sp>
      <p:sp>
        <p:nvSpPr>
          <p:cNvPr id="100359" name="Text Box 7">
            <a:extLst>
              <a:ext uri="{FF2B5EF4-FFF2-40B4-BE49-F238E27FC236}">
                <a16:creationId xmlns:a16="http://schemas.microsoft.com/office/drawing/2014/main" id="{F7D86590-BA7A-1E3B-0391-13C0F1F845EF}"/>
              </a:ext>
            </a:extLst>
          </p:cNvPr>
          <p:cNvSpPr txBox="1">
            <a:spLocks noChangeArrowheads="1"/>
          </p:cNvSpPr>
          <p:nvPr/>
        </p:nvSpPr>
        <p:spPr bwMode="auto">
          <a:xfrm>
            <a:off x="1524000" y="1397001"/>
            <a:ext cx="9525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n-ea"/>
              </a:rPr>
              <a:t>- </a:t>
            </a:r>
            <a:r>
              <a:rPr lang="zh-CN" altLang="zh-CN" sz="2800" b="1" dirty="0">
                <a:latin typeface="+mn-ea"/>
              </a:rPr>
              <a:t>掌握功、热量</a:t>
            </a:r>
            <a:r>
              <a:rPr lang="zh-CN" altLang="en-US" sz="2800" b="1" dirty="0">
                <a:latin typeface="+mn-ea"/>
              </a:rPr>
              <a:t>、</a:t>
            </a:r>
            <a:r>
              <a:rPr lang="zh-CN" altLang="zh-CN" sz="2800" b="1" dirty="0">
                <a:latin typeface="+mn-ea"/>
              </a:rPr>
              <a:t>内能</a:t>
            </a:r>
            <a:r>
              <a:rPr lang="zh-CN" altLang="en-US" sz="2800" b="1" dirty="0">
                <a:latin typeface="+mn-ea"/>
              </a:rPr>
              <a:t>、熵</a:t>
            </a:r>
            <a:r>
              <a:rPr lang="zh-CN" altLang="zh-CN" sz="2800" b="1" dirty="0">
                <a:latin typeface="+mn-ea"/>
              </a:rPr>
              <a:t>等</a:t>
            </a:r>
            <a:r>
              <a:rPr lang="zh-CN" altLang="en-US" sz="2800" b="1" dirty="0">
                <a:latin typeface="+mn-ea"/>
              </a:rPr>
              <a:t>物理量</a:t>
            </a:r>
            <a:r>
              <a:rPr lang="zh-CN" altLang="zh-CN" sz="2800" b="1" dirty="0">
                <a:latin typeface="+mn-ea"/>
              </a:rPr>
              <a:t>，理解准静态过程</a:t>
            </a:r>
            <a:r>
              <a:rPr lang="zh-CN" altLang="en-US" sz="2800" b="1" dirty="0">
                <a:latin typeface="+mn-ea"/>
              </a:rPr>
              <a:t>、可逆过程及热力学概率等</a:t>
            </a:r>
            <a:endParaRPr lang="zh-CN" altLang="zh-CN" sz="2800" b="1" dirty="0">
              <a:latin typeface="+mn-ea"/>
            </a:endParaRPr>
          </a:p>
        </p:txBody>
      </p:sp>
      <p:sp>
        <p:nvSpPr>
          <p:cNvPr id="2" name="Text Box 6">
            <a:extLst>
              <a:ext uri="{FF2B5EF4-FFF2-40B4-BE49-F238E27FC236}">
                <a16:creationId xmlns:a16="http://schemas.microsoft.com/office/drawing/2014/main" id="{5C3E0C79-B78E-6EDF-622C-970CA24F809D}"/>
              </a:ext>
            </a:extLst>
          </p:cNvPr>
          <p:cNvSpPr txBox="1">
            <a:spLocks noChangeArrowheads="1"/>
          </p:cNvSpPr>
          <p:nvPr/>
        </p:nvSpPr>
        <p:spPr bwMode="auto">
          <a:xfrm>
            <a:off x="1616123" y="3785973"/>
            <a:ext cx="655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mn-ea"/>
              </a:rPr>
              <a:t>- </a:t>
            </a:r>
            <a:r>
              <a:rPr lang="zh-CN" altLang="zh-CN" sz="2800" b="1" dirty="0">
                <a:latin typeface="+mn-ea"/>
              </a:rPr>
              <a:t>热力学第</a:t>
            </a:r>
            <a:r>
              <a:rPr lang="zh-CN" altLang="en-US" sz="2800" b="1" dirty="0">
                <a:latin typeface="+mn-ea"/>
              </a:rPr>
              <a:t>二</a:t>
            </a:r>
            <a:r>
              <a:rPr lang="zh-CN" altLang="zh-CN" sz="2800" b="1" dirty="0">
                <a:latin typeface="+mn-ea"/>
              </a:rPr>
              <a:t>定律及其应用</a:t>
            </a:r>
          </a:p>
        </p:txBody>
      </p:sp>
      <mc:AlternateContent xmlns:mc="http://schemas.openxmlformats.org/markup-compatibility/2006" xmlns:a14="http://schemas.microsoft.com/office/drawing/2010/main">
        <mc:Choice Requires="a14">
          <p:sp>
            <p:nvSpPr>
              <p:cNvPr id="3" name="Object 22">
                <a:extLst>
                  <a:ext uri="{FF2B5EF4-FFF2-40B4-BE49-F238E27FC236}">
                    <a16:creationId xmlns:a16="http://schemas.microsoft.com/office/drawing/2014/main" id="{1C1807AC-E47F-6125-DFD2-49BD9D70C6FE}"/>
                  </a:ext>
                </a:extLst>
              </p:cNvPr>
              <p:cNvSpPr txBox="1"/>
              <p:nvPr/>
            </p:nvSpPr>
            <p:spPr>
              <a:xfrm>
                <a:off x="8169323" y="3496649"/>
                <a:ext cx="3691419" cy="602457"/>
              </a:xfrm>
              <a:prstGeom prst="rect">
                <a:avLst/>
              </a:prstGeom>
              <a:solidFill>
                <a:schemeClr val="bg1"/>
              </a:solidFill>
              <a:ln w="9525" cap="flat" cmpd="sng">
                <a:solidFill>
                  <a:schemeClr val="bg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 name="Object 22">
                <a:extLst>
                  <a:ext uri="{FF2B5EF4-FFF2-40B4-BE49-F238E27FC236}">
                    <a16:creationId xmlns:a16="http://schemas.microsoft.com/office/drawing/2014/main" id="{1C1807AC-E47F-6125-DFD2-49BD9D70C6FE}"/>
                  </a:ext>
                </a:extLst>
              </p:cNvPr>
              <p:cNvSpPr txBox="1">
                <a:spLocks noRot="1" noChangeAspect="1" noMove="1" noResize="1" noEditPoints="1" noAdjustHandles="1" noChangeArrowheads="1" noChangeShapeType="1" noTextEdit="1"/>
              </p:cNvSpPr>
              <p:nvPr/>
            </p:nvSpPr>
            <p:spPr>
              <a:xfrm>
                <a:off x="8169323" y="3496649"/>
                <a:ext cx="3691419" cy="602457"/>
              </a:xfrm>
              <a:prstGeom prst="rect">
                <a:avLst/>
              </a:prstGeom>
              <a:blipFill>
                <a:blip r:embed="rId4"/>
                <a:stretch>
                  <a:fillRect b="-66000"/>
                </a:stretch>
              </a:blipFill>
              <a:ln w="9525" cap="flat" cmpd="sng">
                <a:solidFill>
                  <a:schemeClr val="bg1"/>
                </a:solidFill>
                <a:prstDash val="solid"/>
                <a:miter/>
                <a:headEnd type="none" w="med" len="med"/>
                <a:tailEnd type="none" w="med" len="med"/>
              </a:ln>
            </p:spPr>
            <p:txBody>
              <a:bodyPr/>
              <a:lstStyle/>
              <a:p>
                <a:r>
                  <a:rPr lang="zh-CN" altLang="en-US">
                    <a:noFill/>
                  </a:rPr>
                  <a:t> </a:t>
                </a:r>
              </a:p>
            </p:txBody>
          </p:sp>
        </mc:Fallback>
      </mc:AlternateContent>
      <p:sp>
        <p:nvSpPr>
          <p:cNvPr id="4" name="Text Box 5">
            <a:extLst>
              <a:ext uri="{FF2B5EF4-FFF2-40B4-BE49-F238E27FC236}">
                <a16:creationId xmlns:a16="http://schemas.microsoft.com/office/drawing/2014/main" id="{9C5431AA-E6CB-599D-94D0-3C7540930669}"/>
              </a:ext>
            </a:extLst>
          </p:cNvPr>
          <p:cNvSpPr txBox="1">
            <a:spLocks noChangeArrowheads="1"/>
          </p:cNvSpPr>
          <p:nvPr/>
        </p:nvSpPr>
        <p:spPr bwMode="auto">
          <a:xfrm>
            <a:off x="6499617" y="3753141"/>
            <a:ext cx="1958975" cy="584775"/>
          </a:xfrm>
          <a:prstGeom prst="rect">
            <a:avLst/>
          </a:prstGeom>
          <a:noFill/>
          <a:ln w="38100">
            <a:noFill/>
            <a:miter lim="800000"/>
            <a:headEnd/>
            <a:tailEnd/>
          </a:ln>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3200" b="0" i="1" dirty="0">
                <a:ea typeface="黑体" panose="02010609060101010101" pitchFamily="49" charset="-122"/>
              </a:rPr>
              <a:t>S</a:t>
            </a:r>
            <a:r>
              <a:rPr kumimoji="1" lang="en-US" altLang="zh-CN" sz="3200" b="0" dirty="0">
                <a:ea typeface="黑体" panose="02010609060101010101" pitchFamily="49" charset="-122"/>
              </a:rPr>
              <a:t> = </a:t>
            </a:r>
            <a:r>
              <a:rPr kumimoji="1" lang="en-US" altLang="zh-CN" sz="3200" b="0" i="1" dirty="0">
                <a:ea typeface="黑体" panose="02010609060101010101" pitchFamily="49" charset="-122"/>
              </a:rPr>
              <a:t>k</a:t>
            </a:r>
            <a:r>
              <a:rPr kumimoji="1" lang="en-US" altLang="zh-CN" sz="3200" b="0" dirty="0">
                <a:ea typeface="黑体" panose="02010609060101010101" pitchFamily="49" charset="-122"/>
              </a:rPr>
              <a:t> ln</a:t>
            </a:r>
            <a:r>
              <a:rPr kumimoji="1" lang="en-US" altLang="zh-CN" sz="3200" b="0" i="1" dirty="0">
                <a:ea typeface="黑体" panose="02010609060101010101" pitchFamily="49" charset="-122"/>
                <a:sym typeface="Symbol" panose="05050102010706020507" pitchFamily="18" charset="2"/>
              </a:rPr>
              <a:t></a:t>
            </a:r>
          </a:p>
        </p:txBody>
      </p:sp>
      <mc:AlternateContent xmlns:mc="http://schemas.openxmlformats.org/markup-compatibility/2006" xmlns:a14="http://schemas.microsoft.com/office/drawing/2010/main">
        <mc:Choice Requires="a14">
          <p:sp>
            <p:nvSpPr>
              <p:cNvPr id="5" name="Object 20">
                <a:extLst>
                  <a:ext uri="{FF2B5EF4-FFF2-40B4-BE49-F238E27FC236}">
                    <a16:creationId xmlns:a16="http://schemas.microsoft.com/office/drawing/2014/main" id="{19F8ABCD-4014-50C8-4371-3FFFB0CC11BF}"/>
                  </a:ext>
                </a:extLst>
              </p:cNvPr>
              <p:cNvSpPr txBox="1"/>
              <p:nvPr/>
            </p:nvSpPr>
            <p:spPr bwMode="auto">
              <a:xfrm>
                <a:off x="6815866" y="5024833"/>
                <a:ext cx="4525963" cy="5873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altLang="zh-CN" sz="2800" b="0" i="1" smtClean="0">
                          <a:solidFill>
                            <a:schemeClr val="tx1"/>
                          </a:solidFill>
                          <a:latin typeface="Cambria Math" panose="02040503050406030204" pitchFamily="18" charset="0"/>
                        </a:rPr>
                        <m:t> </m:t>
                      </m:r>
                      <m:r>
                        <a:rPr lang="zh-CN" altLang="en-US" sz="2800" b="0" i="1" smtClean="0">
                          <a:solidFill>
                            <a:schemeClr val="tx1"/>
                          </a:solidFill>
                          <a:latin typeface="Cambria Math" panose="02040503050406030204" pitchFamily="18" charset="0"/>
                        </a:rPr>
                        <m:t>𝑇𝑑𝑆</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𝑑𝐸</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𝑝𝑑𝑉</m:t>
                      </m:r>
                    </m:oMath>
                  </m:oMathPara>
                </a14:m>
                <a:endParaRPr lang="zh-CN" altLang="en-US" sz="2800" dirty="0">
                  <a:solidFill>
                    <a:schemeClr val="tx1"/>
                  </a:solidFill>
                </a:endParaRPr>
              </a:p>
            </p:txBody>
          </p:sp>
        </mc:Choice>
        <mc:Fallback xmlns="">
          <p:sp>
            <p:nvSpPr>
              <p:cNvPr id="5" name="Object 20">
                <a:extLst>
                  <a:ext uri="{FF2B5EF4-FFF2-40B4-BE49-F238E27FC236}">
                    <a16:creationId xmlns:a16="http://schemas.microsoft.com/office/drawing/2014/main" id="{19F8ABCD-4014-50C8-4371-3FFFB0CC11BF}"/>
                  </a:ext>
                </a:extLst>
              </p:cNvPr>
              <p:cNvSpPr txBox="1">
                <a:spLocks noRot="1" noChangeAspect="1" noMove="1" noResize="1" noEditPoints="1" noAdjustHandles="1" noChangeArrowheads="1" noChangeShapeType="1" noTextEdit="1"/>
              </p:cNvSpPr>
              <p:nvPr/>
            </p:nvSpPr>
            <p:spPr bwMode="auto">
              <a:xfrm>
                <a:off x="6815866" y="5024833"/>
                <a:ext cx="4525963" cy="587375"/>
              </a:xfrm>
              <a:prstGeom prst="rect">
                <a:avLst/>
              </a:prstGeom>
              <a:blipFill>
                <a:blip r:embed="rId5"/>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70072A4-C2CF-EEB2-098E-D6051ECE12D6}"/>
              </a:ext>
            </a:extLst>
          </p:cNvPr>
          <p:cNvSpPr txBox="1"/>
          <p:nvPr/>
        </p:nvSpPr>
        <p:spPr>
          <a:xfrm>
            <a:off x="1752600" y="5056911"/>
            <a:ext cx="6096000" cy="523220"/>
          </a:xfrm>
          <a:prstGeom prst="rect">
            <a:avLst/>
          </a:prstGeom>
          <a:noFill/>
        </p:spPr>
        <p:txBody>
          <a:bodyPr wrap="square">
            <a:spAutoFit/>
          </a:bodyPr>
          <a:lstStyle/>
          <a:p>
            <a:r>
              <a:rPr lang="en-US" altLang="zh-CN" sz="2800" b="1" dirty="0"/>
              <a:t>- </a:t>
            </a:r>
            <a:r>
              <a:rPr lang="zh-CN" altLang="en-US" sz="2800" b="1" dirty="0"/>
              <a:t>热力学基本方程（可逆过程）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0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003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03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5" grpId="0"/>
      <p:bldP spid="100356" grpId="0"/>
      <p:bldP spid="100357" grpId="0" autoUpdateAnimBg="0"/>
      <p:bldP spid="100358" grpId="0" autoUpdateAnimBg="0"/>
      <p:bldP spid="100358" grpId="1"/>
      <p:bldP spid="100359" grpId="0" autoUpdateAnimBg="0"/>
      <p:bldP spid="100359" grpId="1"/>
      <p:bldP spid="2" grpId="0" autoUpdateAnimBg="0"/>
      <p:bldP spid="2" grpId="1"/>
      <p:bldP spid="3" grpId="0" animBg="1"/>
      <p:bldP spid="4" grpId="0" animBg="1"/>
      <p:bldP spid="4" grpId="1" animBg="1"/>
      <p:bldP spid="5"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8">
            <a:extLst>
              <a:ext uri="{FF2B5EF4-FFF2-40B4-BE49-F238E27FC236}">
                <a16:creationId xmlns:a16="http://schemas.microsoft.com/office/drawing/2014/main" id="{421C200B-AC4B-0D5E-9276-8422680A9823}"/>
              </a:ext>
            </a:extLst>
          </p:cNvPr>
          <p:cNvSpPr txBox="1">
            <a:spLocks noChangeArrowheads="1"/>
          </p:cNvSpPr>
          <p:nvPr/>
        </p:nvSpPr>
        <p:spPr bwMode="auto">
          <a:xfrm>
            <a:off x="961314" y="884012"/>
            <a:ext cx="7620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solidFill>
                  <a:srgbClr val="993300"/>
                </a:solidFill>
                <a:latin typeface="+mn-ea"/>
              </a:rPr>
              <a:t>- </a:t>
            </a:r>
            <a:r>
              <a:rPr lang="zh-CN" altLang="zh-CN" sz="3200" b="1" dirty="0">
                <a:latin typeface="+mn-ea"/>
              </a:rPr>
              <a:t>准静态过程中功、热量、内能的计算</a:t>
            </a:r>
          </a:p>
        </p:txBody>
      </p:sp>
      <mc:AlternateContent xmlns:mc="http://schemas.openxmlformats.org/markup-compatibility/2006" xmlns:a14="http://schemas.microsoft.com/office/drawing/2010/main">
        <mc:Choice Requires="a14">
          <p:sp>
            <p:nvSpPr>
              <p:cNvPr id="3" name="Object 9">
                <a:extLst>
                  <a:ext uri="{FF2B5EF4-FFF2-40B4-BE49-F238E27FC236}">
                    <a16:creationId xmlns:a16="http://schemas.microsoft.com/office/drawing/2014/main" id="{B0A0E63C-943E-3E5B-D5C9-87A9322B7281}"/>
                  </a:ext>
                </a:extLst>
              </p:cNvPr>
              <p:cNvSpPr txBox="1"/>
              <p:nvPr/>
            </p:nvSpPr>
            <p:spPr bwMode="auto">
              <a:xfrm>
                <a:off x="3435432" y="1666649"/>
                <a:ext cx="3309938" cy="8588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zh-CN" altLang="en-US" sz="2800" i="1" smtClean="0">
                              <a:solidFill>
                                <a:srgbClr val="000000"/>
                              </a:solidFill>
                              <a:latin typeface="Cambria Math" panose="02040503050406030204" pitchFamily="18" charset="0"/>
                            </a:rPr>
                          </m:ctrlPr>
                        </m:dPr>
                        <m:e>
                          <m:r>
                            <a:rPr lang="zh-CN" altLang="en-US" sz="2800" i="1" smtClean="0">
                              <a:solidFill>
                                <a:srgbClr val="000000"/>
                              </a:solidFill>
                              <a:latin typeface="Cambria Math" panose="02040503050406030204" pitchFamily="18" charset="0"/>
                            </a:rPr>
                            <m:t>1</m:t>
                          </m:r>
                        </m:e>
                      </m:d>
                      <m:r>
                        <a:rPr lang="en-US" altLang="zh-CN" sz="2800" b="0" i="1"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zh-CN" altLang="en-US" sz="2800" i="1">
                              <a:solidFill>
                                <a:srgbClr val="000000"/>
                              </a:solidFill>
                              <a:latin typeface="Cambria Math" panose="02040503050406030204" pitchFamily="18" charset="0"/>
                            </a:rPr>
                            <m:t>𝑃𝑑𝑉</m:t>
                          </m:r>
                        </m:e>
                      </m:nary>
                      <m:r>
                        <a:rPr lang="zh-CN" altLang="en-US" sz="2800" i="1">
                          <a:solidFill>
                            <a:srgbClr val="000000"/>
                          </a:solidFill>
                          <a:latin typeface="Cambria Math" panose="02040503050406030204" pitchFamily="18" charset="0"/>
                        </a:rPr>
                        <m:t>;</m:t>
                      </m:r>
                    </m:oMath>
                  </m:oMathPara>
                </a14:m>
                <a:endParaRPr lang="zh-CN" altLang="en-US" sz="2800" dirty="0">
                  <a:latin typeface="+mn-ea"/>
                </a:endParaRPr>
              </a:p>
            </p:txBody>
          </p:sp>
        </mc:Choice>
        <mc:Fallback xmlns="">
          <p:sp>
            <p:nvSpPr>
              <p:cNvPr id="3" name="Object 9">
                <a:extLst>
                  <a:ext uri="{FF2B5EF4-FFF2-40B4-BE49-F238E27FC236}">
                    <a16:creationId xmlns:a16="http://schemas.microsoft.com/office/drawing/2014/main" id="{B0A0E63C-943E-3E5B-D5C9-87A9322B7281}"/>
                  </a:ext>
                </a:extLst>
              </p:cNvPr>
              <p:cNvSpPr txBox="1">
                <a:spLocks noRot="1" noChangeAspect="1" noMove="1" noResize="1" noEditPoints="1" noAdjustHandles="1" noChangeArrowheads="1" noChangeShapeType="1" noTextEdit="1"/>
              </p:cNvSpPr>
              <p:nvPr/>
            </p:nvSpPr>
            <p:spPr bwMode="auto">
              <a:xfrm>
                <a:off x="3435432" y="1666649"/>
                <a:ext cx="3309938" cy="858837"/>
              </a:xfrm>
              <a:prstGeom prst="rect">
                <a:avLst/>
              </a:prstGeom>
              <a:blipFill>
                <a:blip r:embed="rId2"/>
                <a:stretch>
                  <a:fillRect b="-23404"/>
                </a:stretch>
              </a:blipFill>
              <a:ln>
                <a:noFill/>
              </a:ln>
              <a:effectLst/>
            </p:spPr>
            <p:txBody>
              <a:bodyPr/>
              <a:lstStyle/>
              <a:p>
                <a:r>
                  <a:rPr lang="zh-CN" altLang="en-US">
                    <a:noFill/>
                  </a:rPr>
                  <a:t> </a:t>
                </a:r>
              </a:p>
            </p:txBody>
          </p:sp>
        </mc:Fallback>
      </mc:AlternateContent>
      <p:sp>
        <p:nvSpPr>
          <p:cNvPr id="4" name="Text Box 10">
            <a:extLst>
              <a:ext uri="{FF2B5EF4-FFF2-40B4-BE49-F238E27FC236}">
                <a16:creationId xmlns:a16="http://schemas.microsoft.com/office/drawing/2014/main" id="{5FBD439A-DB96-DFEC-59AF-378600407058}"/>
              </a:ext>
            </a:extLst>
          </p:cNvPr>
          <p:cNvSpPr txBox="1">
            <a:spLocks noChangeArrowheads="1"/>
          </p:cNvSpPr>
          <p:nvPr/>
        </p:nvSpPr>
        <p:spPr bwMode="auto">
          <a:xfrm>
            <a:off x="1099425" y="2983480"/>
            <a:ext cx="2690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66FF"/>
                </a:solidFill>
                <a:latin typeface="+mn-ea"/>
              </a:rPr>
              <a:t>热量的计算：</a:t>
            </a:r>
          </a:p>
        </p:txBody>
      </p:sp>
      <mc:AlternateContent xmlns:mc="http://schemas.openxmlformats.org/markup-compatibility/2006" xmlns:a14="http://schemas.microsoft.com/office/drawing/2010/main">
        <mc:Choice Requires="a14">
          <p:sp>
            <p:nvSpPr>
              <p:cNvPr id="5" name="Object 11">
                <a:extLst>
                  <a:ext uri="{FF2B5EF4-FFF2-40B4-BE49-F238E27FC236}">
                    <a16:creationId xmlns:a16="http://schemas.microsoft.com/office/drawing/2014/main" id="{F7CDCA84-1B95-AC3B-26D1-95FDCF2690FB}"/>
                  </a:ext>
                </a:extLst>
              </p:cNvPr>
              <p:cNvSpPr txBox="1"/>
              <p:nvPr/>
            </p:nvSpPr>
            <p:spPr bwMode="auto">
              <a:xfrm>
                <a:off x="3511633" y="3048566"/>
                <a:ext cx="6188075" cy="10795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d>
                        <m:dPr>
                          <m:ctrlPr>
                            <a:rPr lang="zh-CN" altLang="en-US" sz="2800" i="1" smtClean="0">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1</m:t>
                          </m:r>
                        </m:e>
                      </m:d>
                      <m:r>
                        <a:rPr lang="en-US" altLang="zh-CN"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a:rPr lang="en-US" altLang="zh-CN" sz="2800" i="1" smtClean="0">
                          <a:solidFill>
                            <a:srgbClr val="000000"/>
                          </a:solidFill>
                          <a:latin typeface="Cambria Math" panose="02040503050406030204" pitchFamily="18" charset="0"/>
                        </a:rPr>
                        <m:t>𝜈</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𝑚</m:t>
                          </m:r>
                        </m:sub>
                      </m:sSub>
                      <m:r>
                        <a:rPr lang="zh-CN" altLang="en-US" sz="2800" i="1" smtClean="0">
                          <a:solidFill>
                            <a:srgbClr val="000000"/>
                          </a:solidFill>
                          <a:latin typeface="Cambria Math" panose="02040503050406030204" pitchFamily="18" charset="0"/>
                        </a:rPr>
                        <m:t> </m:t>
                      </m:r>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𝑇</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𝑇</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m:t>
                      </m:r>
                    </m:oMath>
                  </m:oMathPara>
                </a14:m>
                <a:endParaRPr lang="en-US" altLang="zh-CN" sz="2800" dirty="0"/>
              </a:p>
            </p:txBody>
          </p:sp>
        </mc:Choice>
        <mc:Fallback xmlns="">
          <p:sp>
            <p:nvSpPr>
              <p:cNvPr id="5" name="Object 11">
                <a:extLst>
                  <a:ext uri="{FF2B5EF4-FFF2-40B4-BE49-F238E27FC236}">
                    <a16:creationId xmlns:a16="http://schemas.microsoft.com/office/drawing/2014/main" id="{F7CDCA84-1B95-AC3B-26D1-95FDCF2690FB}"/>
                  </a:ext>
                </a:extLst>
              </p:cNvPr>
              <p:cNvSpPr txBox="1">
                <a:spLocks noRot="1" noChangeAspect="1" noMove="1" noResize="1" noEditPoints="1" noAdjustHandles="1" noChangeArrowheads="1" noChangeShapeType="1" noTextEdit="1"/>
              </p:cNvSpPr>
              <p:nvPr/>
            </p:nvSpPr>
            <p:spPr bwMode="auto">
              <a:xfrm>
                <a:off x="3511633" y="3048566"/>
                <a:ext cx="6188075" cy="107950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6" name="Text Box 12">
            <a:extLst>
              <a:ext uri="{FF2B5EF4-FFF2-40B4-BE49-F238E27FC236}">
                <a16:creationId xmlns:a16="http://schemas.microsoft.com/office/drawing/2014/main" id="{63EF1146-A6DD-C99F-703A-032E2984754C}"/>
              </a:ext>
            </a:extLst>
          </p:cNvPr>
          <p:cNvSpPr txBox="1">
            <a:spLocks noChangeArrowheads="1"/>
          </p:cNvSpPr>
          <p:nvPr/>
        </p:nvSpPr>
        <p:spPr bwMode="auto">
          <a:xfrm>
            <a:off x="1454232" y="1941287"/>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66FF"/>
                </a:solidFill>
                <a:latin typeface="+mn-ea"/>
              </a:rPr>
              <a:t>功的计算：</a:t>
            </a:r>
          </a:p>
        </p:txBody>
      </p:sp>
      <mc:AlternateContent xmlns:mc="http://schemas.openxmlformats.org/markup-compatibility/2006" xmlns:a14="http://schemas.microsoft.com/office/drawing/2010/main">
        <mc:Choice Requires="a14">
          <p:sp>
            <p:nvSpPr>
              <p:cNvPr id="7" name="Object 13">
                <a:extLst>
                  <a:ext uri="{FF2B5EF4-FFF2-40B4-BE49-F238E27FC236}">
                    <a16:creationId xmlns:a16="http://schemas.microsoft.com/office/drawing/2014/main" id="{2815A292-6912-A942-3CE0-B77659CAF8EE}"/>
                  </a:ext>
                </a:extLst>
              </p:cNvPr>
              <p:cNvSpPr txBox="1"/>
              <p:nvPr/>
            </p:nvSpPr>
            <p:spPr bwMode="auto">
              <a:xfrm>
                <a:off x="6926345" y="1929958"/>
                <a:ext cx="3309938"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zh-CN" altLang="en-US" sz="2800" i="1" smtClean="0">
                              <a:solidFill>
                                <a:srgbClr val="000000"/>
                              </a:solidFill>
                              <a:latin typeface="Cambria Math" panose="02040503050406030204" pitchFamily="18" charset="0"/>
                            </a:rPr>
                          </m:ctrlPr>
                        </m:dPr>
                        <m:e>
                          <m:r>
                            <a:rPr lang="zh-CN" altLang="en-US" sz="2800" i="1" smtClean="0">
                              <a:solidFill>
                                <a:srgbClr val="000000"/>
                              </a:solidFill>
                              <a:latin typeface="Cambria Math" panose="02040503050406030204" pitchFamily="18" charset="0"/>
                            </a:rPr>
                            <m:t>2</m:t>
                          </m:r>
                        </m:e>
                      </m:d>
                      <m:r>
                        <a:rPr lang="en-US" altLang="zh-CN" sz="2800" b="0" i="1" smtClean="0">
                          <a:solidFill>
                            <a:srgbClr val="000000"/>
                          </a:solidFill>
                          <a:latin typeface="Cambria Math" panose="02040503050406030204" pitchFamily="18" charset="0"/>
                        </a:rPr>
                        <m:t> </m:t>
                      </m:r>
                      <m:r>
                        <a:rPr lang="en-US" altLang="zh-CN" sz="2800" b="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oMath>
                  </m:oMathPara>
                </a14:m>
                <a:endParaRPr lang="zh-CN" altLang="en-US" sz="2800" dirty="0">
                  <a:latin typeface="+mn-ea"/>
                </a:endParaRPr>
              </a:p>
            </p:txBody>
          </p:sp>
        </mc:Choice>
        <mc:Fallback xmlns="">
          <p:sp>
            <p:nvSpPr>
              <p:cNvPr id="7" name="Object 13">
                <a:extLst>
                  <a:ext uri="{FF2B5EF4-FFF2-40B4-BE49-F238E27FC236}">
                    <a16:creationId xmlns:a16="http://schemas.microsoft.com/office/drawing/2014/main" id="{2815A292-6912-A942-3CE0-B77659CAF8EE}"/>
                  </a:ext>
                </a:extLst>
              </p:cNvPr>
              <p:cNvSpPr txBox="1">
                <a:spLocks noRot="1" noChangeAspect="1" noMove="1" noResize="1" noEditPoints="1" noAdjustHandles="1" noChangeArrowheads="1" noChangeShapeType="1" noTextEdit="1"/>
              </p:cNvSpPr>
              <p:nvPr/>
            </p:nvSpPr>
            <p:spPr bwMode="auto">
              <a:xfrm>
                <a:off x="6926345" y="1929958"/>
                <a:ext cx="3309938" cy="549275"/>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4">
                <a:extLst>
                  <a:ext uri="{FF2B5EF4-FFF2-40B4-BE49-F238E27FC236}">
                    <a16:creationId xmlns:a16="http://schemas.microsoft.com/office/drawing/2014/main" id="{F9272752-EA2E-B65A-8521-38A5380E8D0A}"/>
                  </a:ext>
                </a:extLst>
              </p:cNvPr>
              <p:cNvSpPr txBox="1"/>
              <p:nvPr/>
            </p:nvSpPr>
            <p:spPr bwMode="auto">
              <a:xfrm>
                <a:off x="3511633" y="4059012"/>
                <a:ext cx="3479514"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ctrlPr>
                            <a:rPr lang="zh-CN" altLang="en-US" sz="2800" i="1" smtClean="0">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2</m:t>
                          </m:r>
                        </m:e>
                      </m:d>
                      <m:r>
                        <a:rPr lang="en-US" altLang="zh-CN"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A</m:t>
                      </m:r>
                    </m:oMath>
                  </m:oMathPara>
                </a14:m>
                <a:endParaRPr lang="zh-CN" altLang="en-US" sz="2800" dirty="0">
                  <a:latin typeface="+mn-ea"/>
                </a:endParaRPr>
              </a:p>
            </p:txBody>
          </p:sp>
        </mc:Choice>
        <mc:Fallback xmlns="">
          <p:sp>
            <p:nvSpPr>
              <p:cNvPr id="8" name="Object 14">
                <a:extLst>
                  <a:ext uri="{FF2B5EF4-FFF2-40B4-BE49-F238E27FC236}">
                    <a16:creationId xmlns:a16="http://schemas.microsoft.com/office/drawing/2014/main" id="{F9272752-EA2E-B65A-8521-38A5380E8D0A}"/>
                  </a:ext>
                </a:extLst>
              </p:cNvPr>
              <p:cNvSpPr txBox="1">
                <a:spLocks noRot="1" noChangeAspect="1" noMove="1" noResize="1" noEditPoints="1" noAdjustHandles="1" noChangeArrowheads="1" noChangeShapeType="1" noTextEdit="1"/>
              </p:cNvSpPr>
              <p:nvPr/>
            </p:nvSpPr>
            <p:spPr bwMode="auto">
              <a:xfrm>
                <a:off x="3511633" y="4059012"/>
                <a:ext cx="3479514" cy="549275"/>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3">
                <a:extLst>
                  <a:ext uri="{FF2B5EF4-FFF2-40B4-BE49-F238E27FC236}">
                    <a16:creationId xmlns:a16="http://schemas.microsoft.com/office/drawing/2014/main" id="{2652643E-898F-080F-6EBA-A34F8D7CB33A}"/>
                  </a:ext>
                </a:extLst>
              </p:cNvPr>
              <p:cNvSpPr txBox="1"/>
              <p:nvPr/>
            </p:nvSpPr>
            <p:spPr>
              <a:xfrm>
                <a:off x="4208928" y="4908143"/>
                <a:ext cx="2675236" cy="619125"/>
              </a:xfrm>
              <a:prstGeom prst="rect">
                <a:avLst/>
              </a:prstGeom>
              <a:noFill/>
              <a:ln w="38100">
                <a:noFill/>
                <a:miter/>
              </a:ln>
            </p:spPr>
            <p:txBody>
              <a:bodyPr>
                <a:noAutofit/>
              </a:bodyPr>
              <a:lstStyle/>
              <a:p>
                <a:r>
                  <a:rPr lang="en-US" sz="2800" b="0" dirty="0">
                    <a:solidFill>
                      <a:srgbClr val="000000"/>
                    </a:solidFill>
                  </a:rPr>
                  <a:t> </a:t>
                </a:r>
                <a14:m>
                  <m:oMath xmlns:m="http://schemas.openxmlformats.org/officeDocument/2006/math">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𝑇</m:t>
                    </m:r>
                    <m:r>
                      <a:rPr lang="en-US" sz="2800" b="0" i="1">
                        <a:solidFill>
                          <a:srgbClr val="000000"/>
                        </a:solidFill>
                        <a:latin typeface="Cambria Math" panose="02040503050406030204" pitchFamily="18" charset="0"/>
                      </a:rPr>
                      <m:t>)</m:t>
                    </m:r>
                  </m:oMath>
                </a14:m>
                <a:endParaRPr lang="en-US" sz="2800" dirty="0"/>
              </a:p>
            </p:txBody>
          </p:sp>
        </mc:Choice>
        <mc:Fallback xmlns="">
          <p:sp>
            <p:nvSpPr>
              <p:cNvPr id="9" name="Object 3">
                <a:extLst>
                  <a:ext uri="{FF2B5EF4-FFF2-40B4-BE49-F238E27FC236}">
                    <a16:creationId xmlns:a16="http://schemas.microsoft.com/office/drawing/2014/main" id="{2652643E-898F-080F-6EBA-A34F8D7CB33A}"/>
                  </a:ext>
                </a:extLst>
              </p:cNvPr>
              <p:cNvSpPr txBox="1">
                <a:spLocks noRot="1" noChangeAspect="1" noMove="1" noResize="1" noEditPoints="1" noAdjustHandles="1" noChangeArrowheads="1" noChangeShapeType="1" noTextEdit="1"/>
              </p:cNvSpPr>
              <p:nvPr/>
            </p:nvSpPr>
            <p:spPr>
              <a:xfrm>
                <a:off x="4208928" y="4908143"/>
                <a:ext cx="2675236" cy="619125"/>
              </a:xfrm>
              <a:prstGeom prst="rect">
                <a:avLst/>
              </a:prstGeom>
              <a:blipFill>
                <a:blip r:embed="rId6"/>
                <a:stretch>
                  <a:fillRect/>
                </a:stretch>
              </a:blipFill>
              <a:ln w="38100">
                <a:noFill/>
                <a:miter/>
              </a:ln>
            </p:spPr>
            <p:txBody>
              <a:bodyPr/>
              <a:lstStyle/>
              <a:p>
                <a:r>
                  <a:rPr lang="zh-CN" altLang="en-US">
                    <a:noFill/>
                  </a:rPr>
                  <a:t> </a:t>
                </a:r>
              </a:p>
            </p:txBody>
          </p:sp>
        </mc:Fallback>
      </mc:AlternateContent>
      <p:sp>
        <p:nvSpPr>
          <p:cNvPr id="10" name="Text Box 5">
            <a:extLst>
              <a:ext uri="{FF2B5EF4-FFF2-40B4-BE49-F238E27FC236}">
                <a16:creationId xmlns:a16="http://schemas.microsoft.com/office/drawing/2014/main" id="{788F261E-F969-C437-0F0B-FB731F8464D3}"/>
              </a:ext>
            </a:extLst>
          </p:cNvPr>
          <p:cNvSpPr txBox="1"/>
          <p:nvPr/>
        </p:nvSpPr>
        <p:spPr>
          <a:xfrm>
            <a:off x="961314" y="4927363"/>
            <a:ext cx="3028393" cy="523220"/>
          </a:xfrm>
          <a:prstGeom prst="rect">
            <a:avLst/>
          </a:prstGeom>
          <a:noFill/>
          <a:ln w="9525">
            <a:noFill/>
          </a:ln>
        </p:spPr>
        <p:txBody>
          <a:bodyPr wrap="none">
            <a:spAutoFit/>
          </a:bodyPr>
          <a:lstStyle/>
          <a:p>
            <a:pPr eaLnBrk="1" hangingPunct="1">
              <a:spcBef>
                <a:spcPct val="50000"/>
              </a:spcBef>
            </a:pPr>
            <a:r>
              <a:rPr lang="en-US" altLang="zh-CN" sz="2800" b="1" dirty="0">
                <a:solidFill>
                  <a:srgbClr val="0066FF"/>
                </a:solidFill>
                <a:latin typeface="Times New Roman" panose="02020603050405020304" pitchFamily="18" charset="0"/>
              </a:rPr>
              <a:t>- </a:t>
            </a:r>
            <a:r>
              <a:rPr lang="zh-CN" altLang="en-US" sz="2800" b="1" dirty="0">
                <a:solidFill>
                  <a:srgbClr val="0066FF"/>
                </a:solidFill>
                <a:latin typeface="Times New Roman" panose="02020603050405020304" pitchFamily="18" charset="0"/>
              </a:rPr>
              <a:t>理想气体的内能</a:t>
            </a:r>
            <a:r>
              <a:rPr lang="en-US" altLang="zh-CN" sz="2800" b="1" dirty="0">
                <a:solidFill>
                  <a:srgbClr val="0066FF"/>
                </a:solidFill>
                <a:latin typeface="Times New Roman" panose="02020603050405020304" pitchFamily="18" charset="0"/>
              </a:rPr>
              <a:t>:</a:t>
            </a:r>
            <a:endParaRPr lang="zh-CN" altLang="en-US" sz="2800" b="1" dirty="0">
              <a:solidFill>
                <a:srgbClr val="0066FF"/>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7F2A19F-E5DA-4BB8-DE0E-5DB4A73AC280}"/>
                  </a:ext>
                </a:extLst>
              </p:cNvPr>
              <p:cNvSpPr txBox="1"/>
              <p:nvPr/>
            </p:nvSpPr>
            <p:spPr>
              <a:xfrm>
                <a:off x="5853100" y="4862122"/>
                <a:ext cx="2987370" cy="716799"/>
              </a:xfrm>
              <a:prstGeom prst="rect">
                <a:avLst/>
              </a:prstGeom>
              <a:noFill/>
            </p:spPr>
            <p:txBody>
              <a:bodyPr wrap="square">
                <a:spAutoFit/>
              </a:bodyPr>
              <a:lstStyle/>
              <a:p>
                <a:r>
                  <a:rPr lang="en-US" altLang="zh-CN" sz="2800" dirty="0"/>
                  <a:t>= </a:t>
                </a:r>
                <a:r>
                  <a:rPr lang="zh-CN" altLang="en-US" sz="2800" dirty="0"/>
                  <a:t> </a:t>
                </a:r>
                <a14:m>
                  <m:oMath xmlns:m="http://schemas.openxmlformats.org/officeDocument/2006/math">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𝑖</m:t>
                        </m:r>
                      </m:num>
                      <m:den>
                        <m:r>
                          <a:rPr lang="zh-CN" altLang="en-US" sz="2800" i="1">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m:rPr>
                        <m:sty m:val="p"/>
                      </m:rPr>
                      <a:rPr lang="en-US" altLang="zh-CN" sz="2800" i="1">
                        <a:solidFill>
                          <a:srgbClr val="000000"/>
                        </a:solidFill>
                        <a:latin typeface="Cambria Math" panose="02040503050406030204" pitchFamily="18" charset="0"/>
                      </a:rPr>
                      <m:t>R</m:t>
                    </m:r>
                    <m:r>
                      <a:rPr lang="zh-CN" altLang="en-US" sz="2800" i="1">
                        <a:latin typeface="Cambria Math" panose="02040503050406030204" pitchFamily="18" charset="0"/>
                      </a:rPr>
                      <m:t>𝑇</m:t>
                    </m:r>
                  </m:oMath>
                </a14:m>
                <a:endParaRPr lang="zh-CN" altLang="en-US" sz="2800" dirty="0"/>
              </a:p>
            </p:txBody>
          </p:sp>
        </mc:Choice>
        <mc:Fallback xmlns="">
          <p:sp>
            <p:nvSpPr>
              <p:cNvPr id="11" name="文本框 10">
                <a:extLst>
                  <a:ext uri="{FF2B5EF4-FFF2-40B4-BE49-F238E27FC236}">
                    <a16:creationId xmlns:a16="http://schemas.microsoft.com/office/drawing/2014/main" id="{27F2A19F-E5DA-4BB8-DE0E-5DB4A73AC280}"/>
                  </a:ext>
                </a:extLst>
              </p:cNvPr>
              <p:cNvSpPr txBox="1">
                <a:spLocks noRot="1" noChangeAspect="1" noMove="1" noResize="1" noEditPoints="1" noAdjustHandles="1" noChangeArrowheads="1" noChangeShapeType="1" noTextEdit="1"/>
              </p:cNvSpPr>
              <p:nvPr/>
            </p:nvSpPr>
            <p:spPr>
              <a:xfrm>
                <a:off x="5853100" y="4862122"/>
                <a:ext cx="2987370" cy="716799"/>
              </a:xfrm>
              <a:prstGeom prst="rect">
                <a:avLst/>
              </a:prstGeom>
              <a:blipFill>
                <a:blip r:embed="rId7"/>
                <a:stretch>
                  <a:fillRect l="-4082" b="-10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3">
                <a:extLst>
                  <a:ext uri="{FF2B5EF4-FFF2-40B4-BE49-F238E27FC236}">
                    <a16:creationId xmlns:a16="http://schemas.microsoft.com/office/drawing/2014/main" id="{1FB17F07-DDCB-D34F-0073-1004660658E7}"/>
                  </a:ext>
                </a:extLst>
              </p:cNvPr>
              <p:cNvSpPr txBox="1"/>
              <p:nvPr/>
            </p:nvSpPr>
            <p:spPr bwMode="auto">
              <a:xfrm>
                <a:off x="9354009" y="5973988"/>
                <a:ext cx="3309938"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(2)</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𝐴</m:t>
                      </m:r>
                    </m:oMath>
                  </m:oMathPara>
                </a14:m>
                <a:endParaRPr lang="zh-CN" altLang="en-US" sz="2800" dirty="0">
                  <a:latin typeface="+mn-ea"/>
                </a:endParaRPr>
              </a:p>
            </p:txBody>
          </p:sp>
        </mc:Choice>
        <mc:Fallback xmlns="">
          <p:sp>
            <p:nvSpPr>
              <p:cNvPr id="12" name="Object 13">
                <a:extLst>
                  <a:ext uri="{FF2B5EF4-FFF2-40B4-BE49-F238E27FC236}">
                    <a16:creationId xmlns:a16="http://schemas.microsoft.com/office/drawing/2014/main" id="{1FB17F07-DDCB-D34F-0073-1004660658E7}"/>
                  </a:ext>
                </a:extLst>
              </p:cNvPr>
              <p:cNvSpPr txBox="1">
                <a:spLocks noRot="1" noChangeAspect="1" noMove="1" noResize="1" noEditPoints="1" noAdjustHandles="1" noChangeArrowheads="1" noChangeShapeType="1" noTextEdit="1"/>
              </p:cNvSpPr>
              <p:nvPr/>
            </p:nvSpPr>
            <p:spPr bwMode="auto">
              <a:xfrm>
                <a:off x="9354009" y="5973988"/>
                <a:ext cx="3309938" cy="549275"/>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3" name="Text Box 5">
            <a:extLst>
              <a:ext uri="{FF2B5EF4-FFF2-40B4-BE49-F238E27FC236}">
                <a16:creationId xmlns:a16="http://schemas.microsoft.com/office/drawing/2014/main" id="{19FC6152-1EAA-ACAF-C927-B2A4828239DC}"/>
              </a:ext>
            </a:extLst>
          </p:cNvPr>
          <p:cNvSpPr txBox="1"/>
          <p:nvPr/>
        </p:nvSpPr>
        <p:spPr>
          <a:xfrm>
            <a:off x="961314" y="5984062"/>
            <a:ext cx="3746538" cy="523220"/>
          </a:xfrm>
          <a:prstGeom prst="rect">
            <a:avLst/>
          </a:prstGeom>
          <a:noFill/>
          <a:ln w="9525">
            <a:noFill/>
          </a:ln>
        </p:spPr>
        <p:txBody>
          <a:bodyPr wrap="none">
            <a:spAutoFit/>
          </a:bodyPr>
          <a:lstStyle/>
          <a:p>
            <a:pPr eaLnBrk="1" hangingPunct="1">
              <a:spcBef>
                <a:spcPct val="50000"/>
              </a:spcBef>
            </a:pPr>
            <a:r>
              <a:rPr lang="en-US" altLang="zh-CN" sz="2800" b="1" dirty="0">
                <a:solidFill>
                  <a:srgbClr val="0066FF"/>
                </a:solidFill>
                <a:latin typeface="Times New Roman" panose="02020603050405020304" pitchFamily="18" charset="0"/>
              </a:rPr>
              <a:t>- </a:t>
            </a:r>
            <a:r>
              <a:rPr lang="zh-CN" altLang="en-US" sz="2800" b="1" dirty="0">
                <a:solidFill>
                  <a:srgbClr val="0066FF"/>
                </a:solidFill>
                <a:latin typeface="Times New Roman" panose="02020603050405020304" pitchFamily="18" charset="0"/>
              </a:rPr>
              <a:t>理想气体的内能变化</a:t>
            </a:r>
            <a:r>
              <a:rPr lang="en-US" altLang="zh-CN" sz="2800" b="1" dirty="0">
                <a:solidFill>
                  <a:srgbClr val="0066FF"/>
                </a:solidFill>
                <a:latin typeface="Times New Roman" panose="02020603050405020304" pitchFamily="18" charset="0"/>
              </a:rPr>
              <a:t>:</a:t>
            </a:r>
            <a:endParaRPr lang="zh-CN" altLang="en-US" sz="2800" b="1" dirty="0">
              <a:solidFill>
                <a:srgbClr val="0066FF"/>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Object 17">
                <a:extLst>
                  <a:ext uri="{FF2B5EF4-FFF2-40B4-BE49-F238E27FC236}">
                    <a16:creationId xmlns:a16="http://schemas.microsoft.com/office/drawing/2014/main" id="{F7779F8D-989B-3709-B57C-0EA98A5BD109}"/>
                  </a:ext>
                </a:extLst>
              </p:cNvPr>
              <p:cNvSpPr txBox="1"/>
              <p:nvPr/>
            </p:nvSpPr>
            <p:spPr bwMode="auto">
              <a:xfrm>
                <a:off x="4850876" y="5704127"/>
                <a:ext cx="3788988" cy="9080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𝜈</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5" name="Object 17">
                <a:extLst>
                  <a:ext uri="{FF2B5EF4-FFF2-40B4-BE49-F238E27FC236}">
                    <a16:creationId xmlns:a16="http://schemas.microsoft.com/office/drawing/2014/main" id="{F7779F8D-989B-3709-B57C-0EA98A5BD109}"/>
                  </a:ext>
                </a:extLst>
              </p:cNvPr>
              <p:cNvSpPr txBox="1">
                <a:spLocks noRot="1" noChangeAspect="1" noMove="1" noResize="1" noEditPoints="1" noAdjustHandles="1" noChangeArrowheads="1" noChangeShapeType="1" noTextEdit="1"/>
              </p:cNvSpPr>
              <p:nvPr/>
            </p:nvSpPr>
            <p:spPr bwMode="auto">
              <a:xfrm>
                <a:off x="4850876" y="5704127"/>
                <a:ext cx="3788988" cy="908050"/>
              </a:xfrm>
              <a:prstGeom prst="rect">
                <a:avLst/>
              </a:prstGeom>
              <a:blipFill>
                <a:blip r:embed="rId9"/>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72571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2" grpId="1"/>
      <p:bldP spid="3" grpId="0"/>
      <p:bldP spid="4" grpId="0" autoUpdateAnimBg="0"/>
      <p:bldP spid="4" grpId="1"/>
      <p:bldP spid="5" grpId="0"/>
      <p:bldP spid="6" grpId="0" autoUpdateAnimBg="0"/>
      <p:bldP spid="6" grpId="1"/>
      <p:bldP spid="7" grpId="0"/>
      <p:bldP spid="8" grpId="0"/>
      <p:bldP spid="9" grpId="0"/>
      <p:bldP spid="10" grpId="0"/>
      <p:bldP spid="11" grpId="0"/>
      <p:bldP spid="12"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a:extLst>
              <a:ext uri="{FF2B5EF4-FFF2-40B4-BE49-F238E27FC236}">
                <a16:creationId xmlns:a16="http://schemas.microsoft.com/office/drawing/2014/main" id="{B3EBBFC9-A338-7C6D-3D48-3E9C39CEB8AF}"/>
              </a:ext>
            </a:extLst>
          </p:cNvPr>
          <p:cNvSpPr txBox="1">
            <a:spLocks noChangeArrowheads="1"/>
          </p:cNvSpPr>
          <p:nvPr/>
        </p:nvSpPr>
        <p:spPr bwMode="auto">
          <a:xfrm>
            <a:off x="2348593" y="3271836"/>
            <a:ext cx="167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66FF"/>
                </a:solidFill>
                <a:latin typeface="Times New Roman" panose="02020603050405020304" pitchFamily="18" charset="0"/>
              </a:rPr>
              <a:t>迈耶公式: </a:t>
            </a:r>
          </a:p>
        </p:txBody>
      </p:sp>
      <mc:AlternateContent xmlns:mc="http://schemas.openxmlformats.org/markup-compatibility/2006" xmlns:a14="http://schemas.microsoft.com/office/drawing/2010/main">
        <mc:Choice Requires="a14">
          <p:sp>
            <p:nvSpPr>
              <p:cNvPr id="101379" name="Object 3">
                <a:extLst>
                  <a:ext uri="{FF2B5EF4-FFF2-40B4-BE49-F238E27FC236}">
                    <a16:creationId xmlns:a16="http://schemas.microsoft.com/office/drawing/2014/main" id="{C71D9652-2127-8975-F312-42B915E3178D}"/>
                  </a:ext>
                </a:extLst>
              </p:cNvPr>
              <p:cNvSpPr txBox="1"/>
              <p:nvPr/>
            </p:nvSpPr>
            <p:spPr bwMode="auto">
              <a:xfrm>
                <a:off x="4071030" y="3271836"/>
                <a:ext cx="2743199" cy="5667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79" name="Object 3">
                <a:extLst>
                  <a:ext uri="{FF2B5EF4-FFF2-40B4-BE49-F238E27FC236}">
                    <a16:creationId xmlns:a16="http://schemas.microsoft.com/office/drawing/2014/main" id="{C71D9652-2127-8975-F312-42B915E3178D}"/>
                  </a:ext>
                </a:extLst>
              </p:cNvPr>
              <p:cNvSpPr txBox="1">
                <a:spLocks noRot="1" noChangeAspect="1" noMove="1" noResize="1" noEditPoints="1" noAdjustHandles="1" noChangeArrowheads="1" noChangeShapeType="1" noTextEdit="1"/>
              </p:cNvSpPr>
              <p:nvPr/>
            </p:nvSpPr>
            <p:spPr bwMode="auto">
              <a:xfrm>
                <a:off x="4071030" y="3271836"/>
                <a:ext cx="2743199" cy="566738"/>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80" name="Object 4">
                <a:extLst>
                  <a:ext uri="{FF2B5EF4-FFF2-40B4-BE49-F238E27FC236}">
                    <a16:creationId xmlns:a16="http://schemas.microsoft.com/office/drawing/2014/main" id="{B1ACEBC9-8E7C-5254-2602-D7754F2099E0}"/>
                  </a:ext>
                </a:extLst>
              </p:cNvPr>
              <p:cNvSpPr txBox="1"/>
              <p:nvPr/>
            </p:nvSpPr>
            <p:spPr bwMode="auto">
              <a:xfrm>
                <a:off x="6425241" y="1547812"/>
                <a:ext cx="2633715" cy="9350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80" name="Object 4">
                <a:extLst>
                  <a:ext uri="{FF2B5EF4-FFF2-40B4-BE49-F238E27FC236}">
                    <a16:creationId xmlns:a16="http://schemas.microsoft.com/office/drawing/2014/main" id="{B1ACEBC9-8E7C-5254-2602-D7754F2099E0}"/>
                  </a:ext>
                </a:extLst>
              </p:cNvPr>
              <p:cNvSpPr txBox="1">
                <a:spLocks noRot="1" noChangeAspect="1" noMove="1" noResize="1" noEditPoints="1" noAdjustHandles="1" noChangeArrowheads="1" noChangeShapeType="1" noTextEdit="1"/>
              </p:cNvSpPr>
              <p:nvPr/>
            </p:nvSpPr>
            <p:spPr bwMode="auto">
              <a:xfrm>
                <a:off x="6425241" y="1547812"/>
                <a:ext cx="2633715" cy="935037"/>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01381" name="Text Box 5">
            <a:extLst>
              <a:ext uri="{FF2B5EF4-FFF2-40B4-BE49-F238E27FC236}">
                <a16:creationId xmlns:a16="http://schemas.microsoft.com/office/drawing/2014/main" id="{B1E9AA5C-E3FA-987C-C137-7B150B42E2C7}"/>
              </a:ext>
            </a:extLst>
          </p:cNvPr>
          <p:cNvSpPr txBox="1">
            <a:spLocks noChangeArrowheads="1"/>
          </p:cNvSpPr>
          <p:nvPr/>
        </p:nvSpPr>
        <p:spPr bwMode="auto">
          <a:xfrm>
            <a:off x="4056743" y="1784348"/>
            <a:ext cx="289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0066FF"/>
                </a:solidFill>
                <a:latin typeface="Times New Roman" panose="02020603050405020304" pitchFamily="18" charset="0"/>
              </a:rPr>
              <a:t>定容摩尔热容:</a:t>
            </a:r>
          </a:p>
        </p:txBody>
      </p:sp>
      <p:sp>
        <p:nvSpPr>
          <p:cNvPr id="101382" name="Text Box 6">
            <a:extLst>
              <a:ext uri="{FF2B5EF4-FFF2-40B4-BE49-F238E27FC236}">
                <a16:creationId xmlns:a16="http://schemas.microsoft.com/office/drawing/2014/main" id="{D43FEA8B-5BBF-F887-093A-1D882621FB08}"/>
              </a:ext>
            </a:extLst>
          </p:cNvPr>
          <p:cNvSpPr txBox="1">
            <a:spLocks noChangeArrowheads="1"/>
          </p:cNvSpPr>
          <p:nvPr/>
        </p:nvSpPr>
        <p:spPr bwMode="auto">
          <a:xfrm>
            <a:off x="4015468" y="2551111"/>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0066FF"/>
                </a:solidFill>
                <a:latin typeface="Times New Roman" panose="02020603050405020304" pitchFamily="18" charset="0"/>
              </a:rPr>
              <a:t>定压摩尔热容:</a:t>
            </a:r>
          </a:p>
        </p:txBody>
      </p:sp>
      <mc:AlternateContent xmlns:mc="http://schemas.openxmlformats.org/markup-compatibility/2006" xmlns:a14="http://schemas.microsoft.com/office/drawing/2010/main">
        <mc:Choice Requires="a14">
          <p:sp>
            <p:nvSpPr>
              <p:cNvPr id="101383" name="Object 7">
                <a:extLst>
                  <a:ext uri="{FF2B5EF4-FFF2-40B4-BE49-F238E27FC236}">
                    <a16:creationId xmlns:a16="http://schemas.microsoft.com/office/drawing/2014/main" id="{481588A1-A456-A2F7-663D-38831942C903}"/>
                  </a:ext>
                </a:extLst>
              </p:cNvPr>
              <p:cNvSpPr txBox="1"/>
              <p:nvPr/>
            </p:nvSpPr>
            <p:spPr bwMode="auto">
              <a:xfrm>
                <a:off x="6527967" y="2408236"/>
                <a:ext cx="2508711" cy="8429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83" name="Object 7">
                <a:extLst>
                  <a:ext uri="{FF2B5EF4-FFF2-40B4-BE49-F238E27FC236}">
                    <a16:creationId xmlns:a16="http://schemas.microsoft.com/office/drawing/2014/main" id="{481588A1-A456-A2F7-663D-38831942C903}"/>
                  </a:ext>
                </a:extLst>
              </p:cNvPr>
              <p:cNvSpPr txBox="1">
                <a:spLocks noRot="1" noChangeAspect="1" noMove="1" noResize="1" noEditPoints="1" noAdjustHandles="1" noChangeArrowheads="1" noChangeShapeType="1" noTextEdit="1"/>
              </p:cNvSpPr>
              <p:nvPr/>
            </p:nvSpPr>
            <p:spPr bwMode="auto">
              <a:xfrm>
                <a:off x="6527967" y="2408236"/>
                <a:ext cx="2508711" cy="84296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01384" name="Text Box 8">
            <a:extLst>
              <a:ext uri="{FF2B5EF4-FFF2-40B4-BE49-F238E27FC236}">
                <a16:creationId xmlns:a16="http://schemas.microsoft.com/office/drawing/2014/main" id="{B27C151A-ED96-88B1-70D8-5E21EC890E17}"/>
              </a:ext>
            </a:extLst>
          </p:cNvPr>
          <p:cNvSpPr txBox="1">
            <a:spLocks noChangeArrowheads="1"/>
          </p:cNvSpPr>
          <p:nvPr/>
        </p:nvSpPr>
        <p:spPr bwMode="auto">
          <a:xfrm>
            <a:off x="1716769" y="4016373"/>
            <a:ext cx="4428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2800" b="1" dirty="0">
                <a:solidFill>
                  <a:srgbClr val="0066FF"/>
                </a:solidFill>
                <a:latin typeface="Times New Roman" panose="02020603050405020304" pitchFamily="18" charset="0"/>
              </a:rPr>
              <a:t>比热容比（绝热系数）：</a:t>
            </a:r>
          </a:p>
        </p:txBody>
      </p:sp>
      <mc:AlternateContent xmlns:mc="http://schemas.openxmlformats.org/markup-compatibility/2006" xmlns:a14="http://schemas.microsoft.com/office/drawing/2010/main">
        <mc:Choice Requires="a14">
          <p:sp>
            <p:nvSpPr>
              <p:cNvPr id="101385" name="Object 9">
                <a:extLst>
                  <a:ext uri="{FF2B5EF4-FFF2-40B4-BE49-F238E27FC236}">
                    <a16:creationId xmlns:a16="http://schemas.microsoft.com/office/drawing/2014/main" id="{F99EF1DB-E096-C807-F196-B20BF2306A3B}"/>
                  </a:ext>
                </a:extLst>
              </p:cNvPr>
              <p:cNvSpPr txBox="1"/>
              <p:nvPr/>
            </p:nvSpPr>
            <p:spPr bwMode="auto">
              <a:xfrm>
                <a:off x="6144769" y="3794123"/>
                <a:ext cx="1975402" cy="9874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𝛾</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den>
                      </m:f>
                    </m:oMath>
                  </m:oMathPara>
                </a14:m>
                <a:endParaRPr lang="zh-CN" altLang="en-US" sz="2800" dirty="0"/>
              </a:p>
            </p:txBody>
          </p:sp>
        </mc:Choice>
        <mc:Fallback xmlns="">
          <p:sp>
            <p:nvSpPr>
              <p:cNvPr id="101385" name="Object 9">
                <a:extLst>
                  <a:ext uri="{FF2B5EF4-FFF2-40B4-BE49-F238E27FC236}">
                    <a16:creationId xmlns:a16="http://schemas.microsoft.com/office/drawing/2014/main" id="{F99EF1DB-E096-C807-F196-B20BF2306A3B}"/>
                  </a:ext>
                </a:extLst>
              </p:cNvPr>
              <p:cNvSpPr txBox="1">
                <a:spLocks noRot="1" noChangeAspect="1" noMove="1" noResize="1" noEditPoints="1" noAdjustHandles="1" noChangeArrowheads="1" noChangeShapeType="1" noTextEdit="1"/>
              </p:cNvSpPr>
              <p:nvPr/>
            </p:nvSpPr>
            <p:spPr bwMode="auto">
              <a:xfrm>
                <a:off x="6144769" y="3794123"/>
                <a:ext cx="1975402" cy="987425"/>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86" name="Object 10">
                <a:extLst>
                  <a:ext uri="{FF2B5EF4-FFF2-40B4-BE49-F238E27FC236}">
                    <a16:creationId xmlns:a16="http://schemas.microsoft.com/office/drawing/2014/main" id="{62601553-7361-98F8-0A74-72C312D0FDD6}"/>
                  </a:ext>
                </a:extLst>
              </p:cNvPr>
              <p:cNvSpPr txBox="1"/>
              <p:nvPr/>
            </p:nvSpPr>
            <p:spPr bwMode="auto">
              <a:xfrm>
                <a:off x="1784032" y="551654"/>
                <a:ext cx="5580989" cy="876300"/>
              </a:xfrm>
              <a:prstGeom prst="rect">
                <a:avLst/>
              </a:prstGeom>
              <a:noFill/>
              <a:ln w="9525"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摩尔热容定义：</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𝑑𝑄</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m:t>
                              </m:r>
                            </m:e>
                            <m:sub>
                              <m:r>
                                <a:rPr lang="zh-CN" altLang="en-US" sz="2800" i="1">
                                  <a:solidFill>
                                    <a:srgbClr val="000000"/>
                                  </a:solidFill>
                                  <a:latin typeface="Cambria Math" panose="02040503050406030204" pitchFamily="18" charset="0"/>
                                </a:rPr>
                                <m:t>𝑚𝑜𝑙</m:t>
                              </m:r>
                            </m:sub>
                          </m:sSub>
                        </m:num>
                        <m:den>
                          <m:r>
                            <a:rPr lang="zh-CN" altLang="en-US" sz="2800" i="1">
                              <a:solidFill>
                                <a:srgbClr val="000000"/>
                              </a:solidFill>
                              <a:latin typeface="Cambria Math" panose="02040503050406030204" pitchFamily="18" charset="0"/>
                            </a:rPr>
                            <m:t>𝑑𝑇</m:t>
                          </m:r>
                        </m:den>
                      </m:f>
                    </m:oMath>
                  </m:oMathPara>
                </a14:m>
                <a:endParaRPr lang="zh-CN" altLang="en-US" sz="2800" dirty="0"/>
              </a:p>
            </p:txBody>
          </p:sp>
        </mc:Choice>
        <mc:Fallback xmlns="">
          <p:sp>
            <p:nvSpPr>
              <p:cNvPr id="101386" name="Object 10">
                <a:extLst>
                  <a:ext uri="{FF2B5EF4-FFF2-40B4-BE49-F238E27FC236}">
                    <a16:creationId xmlns:a16="http://schemas.microsoft.com/office/drawing/2014/main" id="{62601553-7361-98F8-0A74-72C312D0FDD6}"/>
                  </a:ext>
                </a:extLst>
              </p:cNvPr>
              <p:cNvSpPr txBox="1">
                <a:spLocks noRot="1" noChangeAspect="1" noMove="1" noResize="1" noEditPoints="1" noAdjustHandles="1" noChangeArrowheads="1" noChangeShapeType="1" noTextEdit="1"/>
              </p:cNvSpPr>
              <p:nvPr/>
            </p:nvSpPr>
            <p:spPr bwMode="auto">
              <a:xfrm>
                <a:off x="1784032" y="551654"/>
                <a:ext cx="5580989" cy="876300"/>
              </a:xfrm>
              <a:prstGeom prst="rect">
                <a:avLst/>
              </a:prstGeom>
              <a:blipFill>
                <a:blip r:embed="rId6"/>
                <a:stretch>
                  <a:fillRect/>
                </a:stretch>
              </a:blipFill>
              <a:ln w="9525" cmpd="sng">
                <a:solidFill>
                  <a:schemeClr val="bg1"/>
                </a:solidFill>
                <a:miter lim="800000"/>
                <a:headEnd/>
                <a:tailEnd/>
              </a:ln>
              <a:effectLst/>
            </p:spPr>
            <p:txBody>
              <a:bodyPr/>
              <a:lstStyle/>
              <a:p>
                <a:r>
                  <a:rPr lang="zh-CN" altLang="en-US">
                    <a:noFill/>
                  </a:rPr>
                  <a:t> </a:t>
                </a:r>
              </a:p>
            </p:txBody>
          </p:sp>
        </mc:Fallback>
      </mc:AlternateContent>
      <p:grpSp>
        <p:nvGrpSpPr>
          <p:cNvPr id="101387" name="Group 11">
            <a:extLst>
              <a:ext uri="{FF2B5EF4-FFF2-40B4-BE49-F238E27FC236}">
                <a16:creationId xmlns:a16="http://schemas.microsoft.com/office/drawing/2014/main" id="{B9FA0702-E0BC-08E1-FDBE-576B91E1AB70}"/>
              </a:ext>
            </a:extLst>
          </p:cNvPr>
          <p:cNvGrpSpPr>
            <a:grpSpLocks/>
          </p:cNvGrpSpPr>
          <p:nvPr/>
        </p:nvGrpSpPr>
        <p:grpSpPr bwMode="auto">
          <a:xfrm>
            <a:off x="1861231" y="1951036"/>
            <a:ext cx="2286000" cy="914400"/>
            <a:chOff x="0" y="0"/>
            <a:chExt cx="1440" cy="576"/>
          </a:xfrm>
        </p:grpSpPr>
        <p:sp>
          <p:nvSpPr>
            <p:cNvPr id="101388" name="Text Box 12">
              <a:extLst>
                <a:ext uri="{FF2B5EF4-FFF2-40B4-BE49-F238E27FC236}">
                  <a16:creationId xmlns:a16="http://schemas.microsoft.com/office/drawing/2014/main" id="{D2C6B2D7-38B5-AFBE-7C21-1728FF3C3A2D}"/>
                </a:ext>
              </a:extLst>
            </p:cNvPr>
            <p:cNvSpPr txBox="1">
              <a:spLocks noChangeArrowheads="1"/>
            </p:cNvSpPr>
            <p:nvPr/>
          </p:nvSpPr>
          <p:spPr bwMode="auto">
            <a:xfrm>
              <a:off x="0" y="96"/>
              <a:ext cx="13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66FF"/>
                  </a:solidFill>
                  <a:latin typeface="Times New Roman" panose="02020603050405020304" pitchFamily="18" charset="0"/>
                </a:rPr>
                <a:t>摩尔热容</a:t>
              </a:r>
              <a:r>
                <a:rPr lang="zh-CN" altLang="zh-CN" sz="2800" b="1" i="1" dirty="0">
                  <a:solidFill>
                    <a:srgbClr val="0066FF"/>
                  </a:solidFill>
                  <a:latin typeface="Times New Roman" panose="02020603050405020304" pitchFamily="18" charset="0"/>
                </a:rPr>
                <a:t>C</a:t>
              </a:r>
              <a:r>
                <a:rPr lang="zh-CN" altLang="zh-CN" sz="2800" b="1" i="1" baseline="-25000" dirty="0">
                  <a:solidFill>
                    <a:srgbClr val="0066FF"/>
                  </a:solidFill>
                  <a:latin typeface="Times New Roman" panose="02020603050405020304" pitchFamily="18" charset="0"/>
                </a:rPr>
                <a:t>m</a:t>
              </a:r>
              <a:r>
                <a:rPr lang="zh-CN" altLang="zh-CN" sz="2800" b="1" dirty="0">
                  <a:solidFill>
                    <a:srgbClr val="0066FF"/>
                  </a:solidFill>
                  <a:latin typeface="Times New Roman" panose="02020603050405020304" pitchFamily="18" charset="0"/>
                </a:rPr>
                <a:t>:</a:t>
              </a:r>
            </a:p>
          </p:txBody>
        </p:sp>
        <p:sp>
          <p:nvSpPr>
            <p:cNvPr id="101389" name="AutoShape 13">
              <a:extLst>
                <a:ext uri="{FF2B5EF4-FFF2-40B4-BE49-F238E27FC236}">
                  <a16:creationId xmlns:a16="http://schemas.microsoft.com/office/drawing/2014/main" id="{9E2A3722-A637-7979-1B4F-6B25A33194F3}"/>
                </a:ext>
              </a:extLst>
            </p:cNvPr>
            <p:cNvSpPr>
              <a:spLocks/>
            </p:cNvSpPr>
            <p:nvPr/>
          </p:nvSpPr>
          <p:spPr bwMode="auto">
            <a:xfrm>
              <a:off x="1344" y="0"/>
              <a:ext cx="96" cy="576"/>
            </a:xfrm>
            <a:prstGeom prst="leftBrace">
              <a:avLst>
                <a:gd name="adj1" fmla="val 50000"/>
                <a:gd name="adj2" fmla="val 50000"/>
              </a:avLst>
            </a:prstGeom>
            <a:noFill/>
            <a:ln w="28575" cmpd="sng">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0066FF"/>
                </a:solidFill>
              </a:endParaRPr>
            </a:p>
          </p:txBody>
        </p:sp>
      </p:grpSp>
      <p:grpSp>
        <p:nvGrpSpPr>
          <p:cNvPr id="2" name="Group 14">
            <a:extLst>
              <a:ext uri="{FF2B5EF4-FFF2-40B4-BE49-F238E27FC236}">
                <a16:creationId xmlns:a16="http://schemas.microsoft.com/office/drawing/2014/main" id="{3E78A195-1FFD-2E4E-F8B8-BA7B2ED763C4}"/>
              </a:ext>
            </a:extLst>
          </p:cNvPr>
          <p:cNvGrpSpPr>
            <a:grpSpLocks/>
          </p:cNvGrpSpPr>
          <p:nvPr/>
        </p:nvGrpSpPr>
        <p:grpSpPr bwMode="auto">
          <a:xfrm>
            <a:off x="2569031" y="4959345"/>
            <a:ext cx="4010026" cy="523875"/>
            <a:chOff x="672" y="1104"/>
            <a:chExt cx="2526" cy="330"/>
          </a:xfrm>
        </p:grpSpPr>
        <p:sp>
          <p:nvSpPr>
            <p:cNvPr id="3" name="Text Box 2">
              <a:extLst>
                <a:ext uri="{FF2B5EF4-FFF2-40B4-BE49-F238E27FC236}">
                  <a16:creationId xmlns:a16="http://schemas.microsoft.com/office/drawing/2014/main" id="{8295A13B-C4FA-8058-AC8A-9B28174CB140}"/>
                </a:ext>
              </a:extLst>
            </p:cNvPr>
            <p:cNvSpPr txBox="1">
              <a:spLocks noChangeArrowheads="1"/>
            </p:cNvSpPr>
            <p:nvPr/>
          </p:nvSpPr>
          <p:spPr bwMode="auto">
            <a:xfrm>
              <a:off x="672" y="1104"/>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单原子气体：</a:t>
              </a:r>
            </a:p>
          </p:txBody>
        </p:sp>
        <p:sp>
          <p:nvSpPr>
            <p:cNvPr id="5" name="Text Box 9">
              <a:extLst>
                <a:ext uri="{FF2B5EF4-FFF2-40B4-BE49-F238E27FC236}">
                  <a16:creationId xmlns:a16="http://schemas.microsoft.com/office/drawing/2014/main" id="{285362B3-2420-0FB7-BBAA-825710F032C8}"/>
                </a:ext>
              </a:extLst>
            </p:cNvPr>
            <p:cNvSpPr txBox="1">
              <a:spLocks noChangeArrowheads="1"/>
            </p:cNvSpPr>
            <p:nvPr/>
          </p:nvSpPr>
          <p:spPr bwMode="auto">
            <a:xfrm>
              <a:off x="2640" y="1104"/>
              <a:ext cx="5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dirty="0">
                  <a:latin typeface="+mn-lt"/>
                  <a:ea typeface="+mn-ea"/>
                </a:rPr>
                <a:t>  </a:t>
              </a:r>
              <a:r>
                <a:rPr lang="en-US" altLang="zh-CN" b="0" i="1" dirty="0" err="1">
                  <a:latin typeface="+mn-lt"/>
                  <a:ea typeface="+mn-ea"/>
                </a:rPr>
                <a:t>i</a:t>
              </a:r>
              <a:r>
                <a:rPr lang="en-US" altLang="zh-CN" b="0" i="1" dirty="0">
                  <a:latin typeface="+mn-lt"/>
                  <a:ea typeface="+mn-ea"/>
                </a:rPr>
                <a:t>=3</a:t>
              </a:r>
            </a:p>
          </p:txBody>
        </p:sp>
      </p:grpSp>
      <p:grpSp>
        <p:nvGrpSpPr>
          <p:cNvPr id="6" name="Group 16">
            <a:extLst>
              <a:ext uri="{FF2B5EF4-FFF2-40B4-BE49-F238E27FC236}">
                <a16:creationId xmlns:a16="http://schemas.microsoft.com/office/drawing/2014/main" id="{19D13F50-1717-953D-DB68-B4B38BACA100}"/>
              </a:ext>
            </a:extLst>
          </p:cNvPr>
          <p:cNvGrpSpPr>
            <a:grpSpLocks/>
          </p:cNvGrpSpPr>
          <p:nvPr/>
        </p:nvGrpSpPr>
        <p:grpSpPr bwMode="auto">
          <a:xfrm>
            <a:off x="2545701" y="6257925"/>
            <a:ext cx="4057650" cy="600075"/>
            <a:chOff x="624" y="2352"/>
            <a:chExt cx="2556" cy="378"/>
          </a:xfrm>
        </p:grpSpPr>
        <p:sp>
          <p:nvSpPr>
            <p:cNvPr id="7" name="Rectangle 4">
              <a:extLst>
                <a:ext uri="{FF2B5EF4-FFF2-40B4-BE49-F238E27FC236}">
                  <a16:creationId xmlns:a16="http://schemas.microsoft.com/office/drawing/2014/main" id="{52151348-DECF-A476-1376-C4F336CC74C6}"/>
                </a:ext>
              </a:extLst>
            </p:cNvPr>
            <p:cNvSpPr>
              <a:spLocks noChangeArrowheads="1"/>
            </p:cNvSpPr>
            <p:nvPr/>
          </p:nvSpPr>
          <p:spPr bwMode="auto">
            <a:xfrm>
              <a:off x="624" y="2352"/>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多原子气体：</a:t>
              </a:r>
            </a:p>
          </p:txBody>
        </p:sp>
        <p:sp>
          <p:nvSpPr>
            <p:cNvPr id="9" name="Rectangle 12">
              <a:extLst>
                <a:ext uri="{FF2B5EF4-FFF2-40B4-BE49-F238E27FC236}">
                  <a16:creationId xmlns:a16="http://schemas.microsoft.com/office/drawing/2014/main" id="{24BEBF4C-427E-06C9-C59D-F209BEF68049}"/>
                </a:ext>
              </a:extLst>
            </p:cNvPr>
            <p:cNvSpPr>
              <a:spLocks noChangeArrowheads="1"/>
            </p:cNvSpPr>
            <p:nvPr/>
          </p:nvSpPr>
          <p:spPr bwMode="auto">
            <a:xfrm>
              <a:off x="2736" y="2400"/>
              <a:ext cx="4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latin typeface="+mn-lt"/>
                  <a:ea typeface="+mn-ea"/>
                </a:rPr>
                <a:t>i=6</a:t>
              </a:r>
            </a:p>
          </p:txBody>
        </p:sp>
      </p:grpSp>
      <p:grpSp>
        <p:nvGrpSpPr>
          <p:cNvPr id="10" name="Group 15">
            <a:extLst>
              <a:ext uri="{FF2B5EF4-FFF2-40B4-BE49-F238E27FC236}">
                <a16:creationId xmlns:a16="http://schemas.microsoft.com/office/drawing/2014/main" id="{2FC06D09-1193-F8E7-73B8-9986E78324BC}"/>
              </a:ext>
            </a:extLst>
          </p:cNvPr>
          <p:cNvGrpSpPr>
            <a:grpSpLocks/>
          </p:cNvGrpSpPr>
          <p:nvPr/>
        </p:nvGrpSpPr>
        <p:grpSpPr bwMode="auto">
          <a:xfrm>
            <a:off x="2569031" y="5570535"/>
            <a:ext cx="4057650" cy="600075"/>
            <a:chOff x="624" y="1728"/>
            <a:chExt cx="2556" cy="378"/>
          </a:xfrm>
        </p:grpSpPr>
        <p:sp>
          <p:nvSpPr>
            <p:cNvPr id="11" name="Rectangle 3">
              <a:extLst>
                <a:ext uri="{FF2B5EF4-FFF2-40B4-BE49-F238E27FC236}">
                  <a16:creationId xmlns:a16="http://schemas.microsoft.com/office/drawing/2014/main" id="{4F1CDA25-2025-3459-EE18-0EAFA5CC89DD}"/>
                </a:ext>
              </a:extLst>
            </p:cNvPr>
            <p:cNvSpPr>
              <a:spLocks noChangeArrowheads="1"/>
            </p:cNvSpPr>
            <p:nvPr/>
          </p:nvSpPr>
          <p:spPr bwMode="auto">
            <a:xfrm>
              <a:off x="624" y="1728"/>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双原子气体：</a:t>
              </a:r>
            </a:p>
          </p:txBody>
        </p:sp>
        <p:sp>
          <p:nvSpPr>
            <p:cNvPr id="13" name="Rectangle 13">
              <a:extLst>
                <a:ext uri="{FF2B5EF4-FFF2-40B4-BE49-F238E27FC236}">
                  <a16:creationId xmlns:a16="http://schemas.microsoft.com/office/drawing/2014/main" id="{25EBBA08-616E-687B-F39D-FAF2CCF132C5}"/>
                </a:ext>
              </a:extLst>
            </p:cNvPr>
            <p:cNvSpPr>
              <a:spLocks noChangeArrowheads="1"/>
            </p:cNvSpPr>
            <p:nvPr/>
          </p:nvSpPr>
          <p:spPr bwMode="auto">
            <a:xfrm>
              <a:off x="2736" y="1776"/>
              <a:ext cx="4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latin typeface="+mn-lt"/>
                  <a:ea typeface="+mn-ea"/>
                </a:rPr>
                <a:t>i=5</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8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01381"/>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0138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13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13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013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13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1013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3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78" grpId="1"/>
      <p:bldP spid="101379" grpId="0"/>
      <p:bldP spid="101380" grpId="0"/>
      <p:bldP spid="101381" grpId="0" autoUpdateAnimBg="0"/>
      <p:bldP spid="101381" grpId="1"/>
      <p:bldP spid="101382" grpId="0" autoUpdateAnimBg="0"/>
      <p:bldP spid="101382" grpId="1"/>
      <p:bldP spid="101383" grpId="0"/>
      <p:bldP spid="101384" grpId="0" autoUpdateAnimBg="0"/>
      <p:bldP spid="101384" grpId="1"/>
      <p:bldP spid="101385" grpId="0"/>
      <p:bldP spid="10138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Object 6">
                <a:extLst>
                  <a:ext uri="{FF2B5EF4-FFF2-40B4-BE49-F238E27FC236}">
                    <a16:creationId xmlns:a16="http://schemas.microsoft.com/office/drawing/2014/main" id="{3B88F844-2E30-14A5-0846-F32DA5FCCBBD}"/>
                  </a:ext>
                </a:extLst>
              </p:cNvPr>
              <p:cNvSpPr txBox="1"/>
              <p:nvPr/>
            </p:nvSpPr>
            <p:spPr>
              <a:xfrm>
                <a:off x="2394378" y="2038246"/>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𝑉</m:t>
                          </m:r>
                        </m:sub>
                      </m:sSub>
                      <m:r>
                        <a:rPr lang="en-US" sz="2800" b="0" i="1">
                          <a:solidFill>
                            <a:srgbClr val="000000"/>
                          </a:solidFill>
                          <a:latin typeface="Cambria Math" panose="02040503050406030204" pitchFamily="18" charset="0"/>
                        </a:rPr>
                        <m:t>=</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oMath>
                  </m:oMathPara>
                </a14:m>
                <a:endParaRPr lang="en-US" sz="2800" dirty="0"/>
              </a:p>
            </p:txBody>
          </p:sp>
        </mc:Choice>
        <mc:Fallback xmlns="">
          <p:sp>
            <p:nvSpPr>
              <p:cNvPr id="24" name="Object 6">
                <a:extLst>
                  <a:ext uri="{FF2B5EF4-FFF2-40B4-BE49-F238E27FC236}">
                    <a16:creationId xmlns:a16="http://schemas.microsoft.com/office/drawing/2014/main" id="{3B88F844-2E30-14A5-0846-F32DA5FCCBBD}"/>
                  </a:ext>
                </a:extLst>
              </p:cNvPr>
              <p:cNvSpPr txBox="1">
                <a:spLocks noRot="1" noChangeAspect="1" noMove="1" noResize="1" noEditPoints="1" noAdjustHandles="1" noChangeArrowheads="1" noChangeShapeType="1" noTextEdit="1"/>
              </p:cNvSpPr>
              <p:nvPr/>
            </p:nvSpPr>
            <p:spPr>
              <a:xfrm>
                <a:off x="2394378" y="2038246"/>
                <a:ext cx="1905000" cy="619125"/>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25" name="Text Box 13">
            <a:hlinkClick r:id="" action="ppaction://noaction"/>
            <a:extLst>
              <a:ext uri="{FF2B5EF4-FFF2-40B4-BE49-F238E27FC236}">
                <a16:creationId xmlns:a16="http://schemas.microsoft.com/office/drawing/2014/main" id="{6229DB99-0FA2-304A-8738-DE5B9737F9DF}"/>
              </a:ext>
            </a:extLst>
          </p:cNvPr>
          <p:cNvSpPr txBox="1">
            <a:spLocks noChangeArrowheads="1"/>
          </p:cNvSpPr>
          <p:nvPr/>
        </p:nvSpPr>
        <p:spPr bwMode="auto">
          <a:xfrm>
            <a:off x="1285544" y="1337857"/>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等体过程</a:t>
            </a:r>
          </a:p>
        </p:txBody>
      </p:sp>
      <mc:AlternateContent xmlns:mc="http://schemas.openxmlformats.org/markup-compatibility/2006" xmlns:a14="http://schemas.microsoft.com/office/drawing/2010/main">
        <mc:Choice Requires="a14">
          <p:sp>
            <p:nvSpPr>
              <p:cNvPr id="26" name="Object 22">
                <a:extLst>
                  <a:ext uri="{FF2B5EF4-FFF2-40B4-BE49-F238E27FC236}">
                    <a16:creationId xmlns:a16="http://schemas.microsoft.com/office/drawing/2014/main" id="{85528D71-66E7-F79F-9422-C5BFDE75AEE5}"/>
                  </a:ext>
                </a:extLst>
              </p:cNvPr>
              <p:cNvSpPr txBox="1"/>
              <p:nvPr/>
            </p:nvSpPr>
            <p:spPr bwMode="auto">
              <a:xfrm>
                <a:off x="-611976" y="2710933"/>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6" name="Object 22">
                <a:extLst>
                  <a:ext uri="{FF2B5EF4-FFF2-40B4-BE49-F238E27FC236}">
                    <a16:creationId xmlns:a16="http://schemas.microsoft.com/office/drawing/2014/main" id="{85528D71-66E7-F79F-9422-C5BFDE75AEE5}"/>
                  </a:ext>
                </a:extLst>
              </p:cNvPr>
              <p:cNvSpPr txBox="1">
                <a:spLocks noRot="1" noChangeAspect="1" noMove="1" noResize="1" noEditPoints="1" noAdjustHandles="1" noChangeArrowheads="1" noChangeShapeType="1" noTextEdit="1"/>
              </p:cNvSpPr>
              <p:nvPr/>
            </p:nvSpPr>
            <p:spPr bwMode="auto">
              <a:xfrm>
                <a:off x="-611976" y="2710933"/>
                <a:ext cx="7543153" cy="9652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3">
                <a:extLst>
                  <a:ext uri="{FF2B5EF4-FFF2-40B4-BE49-F238E27FC236}">
                    <a16:creationId xmlns:a16="http://schemas.microsoft.com/office/drawing/2014/main" id="{43ADBD5F-8754-FDDA-3FA1-E3B6C457D890}"/>
                  </a:ext>
                </a:extLst>
              </p:cNvPr>
              <p:cNvSpPr txBox="1"/>
              <p:nvPr/>
            </p:nvSpPr>
            <p:spPr>
              <a:xfrm>
                <a:off x="803179" y="2056859"/>
                <a:ext cx="1818446" cy="62039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𝐴</m:t>
                      </m:r>
                      <m:r>
                        <a:rPr lang="en-US" sz="2800" b="0" i="1">
                          <a:solidFill>
                            <a:srgbClr val="000000"/>
                          </a:solidFill>
                          <a:latin typeface="Cambria Math" panose="02040503050406030204" pitchFamily="18" charset="0"/>
                        </a:rPr>
                        <m:t>=0</m:t>
                      </m:r>
                    </m:oMath>
                  </m:oMathPara>
                </a14:m>
                <a:endParaRPr lang="en-US" sz="2800" dirty="0"/>
              </a:p>
            </p:txBody>
          </p:sp>
        </mc:Choice>
        <mc:Fallback xmlns="">
          <p:sp>
            <p:nvSpPr>
              <p:cNvPr id="27" name="Object 3">
                <a:extLst>
                  <a:ext uri="{FF2B5EF4-FFF2-40B4-BE49-F238E27FC236}">
                    <a16:creationId xmlns:a16="http://schemas.microsoft.com/office/drawing/2014/main" id="{43ADBD5F-8754-FDDA-3FA1-E3B6C457D890}"/>
                  </a:ext>
                </a:extLst>
              </p:cNvPr>
              <p:cNvSpPr txBox="1">
                <a:spLocks noRot="1" noChangeAspect="1" noMove="1" noResize="1" noEditPoints="1" noAdjustHandles="1" noChangeArrowheads="1" noChangeShapeType="1" noTextEdit="1"/>
              </p:cNvSpPr>
              <p:nvPr/>
            </p:nvSpPr>
            <p:spPr>
              <a:xfrm>
                <a:off x="803179" y="2056859"/>
                <a:ext cx="1818446" cy="620395"/>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31">
                <a:extLst>
                  <a:ext uri="{FF2B5EF4-FFF2-40B4-BE49-F238E27FC236}">
                    <a16:creationId xmlns:a16="http://schemas.microsoft.com/office/drawing/2014/main" id="{C270F1B1-5BC4-2992-EDD5-A7D4B92FEDB6}"/>
                  </a:ext>
                </a:extLst>
              </p:cNvPr>
              <p:cNvSpPr txBox="1"/>
              <p:nvPr/>
            </p:nvSpPr>
            <p:spPr>
              <a:xfrm>
                <a:off x="6510309" y="2106564"/>
                <a:ext cx="5112413" cy="4889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𝑝</m:t>
                      </m:r>
                      <m:d>
                        <m:dPr>
                          <m:ctrlPr>
                            <a:rPr lang="en-US" sz="2800" b="0" i="1" smtClean="0">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2</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1</m:t>
                              </m:r>
                            </m:sub>
                          </m:sSub>
                        </m:e>
                      </m:d>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8" name="Object 31">
                <a:extLst>
                  <a:ext uri="{FF2B5EF4-FFF2-40B4-BE49-F238E27FC236}">
                    <a16:creationId xmlns:a16="http://schemas.microsoft.com/office/drawing/2014/main" id="{C270F1B1-5BC4-2992-EDD5-A7D4B92FEDB6}"/>
                  </a:ext>
                </a:extLst>
              </p:cNvPr>
              <p:cNvSpPr txBox="1">
                <a:spLocks noRot="1" noChangeAspect="1" noMove="1" noResize="1" noEditPoints="1" noAdjustHandles="1" noChangeArrowheads="1" noChangeShapeType="1" noTextEdit="1"/>
              </p:cNvSpPr>
              <p:nvPr/>
            </p:nvSpPr>
            <p:spPr>
              <a:xfrm>
                <a:off x="6510309" y="2106564"/>
                <a:ext cx="5112413" cy="488950"/>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29" name="Text Box 13">
            <a:hlinkClick r:id="" action="ppaction://noaction"/>
            <a:extLst>
              <a:ext uri="{FF2B5EF4-FFF2-40B4-BE49-F238E27FC236}">
                <a16:creationId xmlns:a16="http://schemas.microsoft.com/office/drawing/2014/main" id="{D1002D34-D82F-25D9-22A6-17CDF7093EB6}"/>
              </a:ext>
            </a:extLst>
          </p:cNvPr>
          <p:cNvSpPr txBox="1">
            <a:spLocks noChangeArrowheads="1"/>
          </p:cNvSpPr>
          <p:nvPr/>
        </p:nvSpPr>
        <p:spPr bwMode="auto">
          <a:xfrm>
            <a:off x="7018263" y="1337857"/>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等压过程</a:t>
            </a:r>
          </a:p>
        </p:txBody>
      </p:sp>
      <mc:AlternateContent xmlns:mc="http://schemas.openxmlformats.org/markup-compatibility/2006" xmlns:a14="http://schemas.microsoft.com/office/drawing/2010/main">
        <mc:Choice Requires="a14">
          <p:sp>
            <p:nvSpPr>
              <p:cNvPr id="30" name="Object 87">
                <a:extLst>
                  <a:ext uri="{FF2B5EF4-FFF2-40B4-BE49-F238E27FC236}">
                    <a16:creationId xmlns:a16="http://schemas.microsoft.com/office/drawing/2014/main" id="{0DB9C8CE-F882-BBEF-FF16-5C53E1582B8F}"/>
                  </a:ext>
                </a:extLst>
              </p:cNvPr>
              <p:cNvSpPr txBox="1"/>
              <p:nvPr/>
            </p:nvSpPr>
            <p:spPr bwMode="auto">
              <a:xfrm>
                <a:off x="7111411" y="2649488"/>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altLang="zh-CN"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0" name="Object 87">
                <a:extLst>
                  <a:ext uri="{FF2B5EF4-FFF2-40B4-BE49-F238E27FC236}">
                    <a16:creationId xmlns:a16="http://schemas.microsoft.com/office/drawing/2014/main" id="{0DB9C8CE-F882-BBEF-FF16-5C53E1582B8F}"/>
                  </a:ext>
                </a:extLst>
              </p:cNvPr>
              <p:cNvSpPr txBox="1">
                <a:spLocks noRot="1" noChangeAspect="1" noMove="1" noResize="1" noEditPoints="1" noAdjustHandles="1" noChangeArrowheads="1" noChangeShapeType="1" noTextEdit="1"/>
              </p:cNvSpPr>
              <p:nvPr/>
            </p:nvSpPr>
            <p:spPr bwMode="auto">
              <a:xfrm>
                <a:off x="7111411" y="2649488"/>
                <a:ext cx="4717731" cy="1092200"/>
              </a:xfrm>
              <a:prstGeom prst="rect">
                <a:avLst/>
              </a:prstGeom>
              <a:blipFill>
                <a:blip r:embed="rId6"/>
                <a:stretch>
                  <a:fillRect/>
                </a:stretch>
              </a:blipFill>
            </p:spPr>
            <p:txBody>
              <a:bodyPr/>
              <a:lstStyle/>
              <a:p>
                <a:r>
                  <a:rPr lang="zh-CN" altLang="en-US">
                    <a:noFill/>
                  </a:rPr>
                  <a:t> </a:t>
                </a:r>
              </a:p>
            </p:txBody>
          </p:sp>
        </mc:Fallback>
      </mc:AlternateContent>
      <p:sp>
        <p:nvSpPr>
          <p:cNvPr id="31" name="Text Box 13">
            <a:hlinkClick r:id="" action="ppaction://noaction"/>
            <a:extLst>
              <a:ext uri="{FF2B5EF4-FFF2-40B4-BE49-F238E27FC236}">
                <a16:creationId xmlns:a16="http://schemas.microsoft.com/office/drawing/2014/main" id="{3297221A-86F7-4FF0-416B-9018001E14E6}"/>
              </a:ext>
            </a:extLst>
          </p:cNvPr>
          <p:cNvSpPr txBox="1">
            <a:spLocks noChangeArrowheads="1"/>
          </p:cNvSpPr>
          <p:nvPr/>
        </p:nvSpPr>
        <p:spPr bwMode="auto">
          <a:xfrm>
            <a:off x="1416262" y="3729695"/>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等温过程</a:t>
            </a:r>
          </a:p>
        </p:txBody>
      </p:sp>
      <mc:AlternateContent xmlns:mc="http://schemas.openxmlformats.org/markup-compatibility/2006" xmlns:a14="http://schemas.microsoft.com/office/drawing/2010/main">
        <mc:Choice Requires="a14">
          <p:sp>
            <p:nvSpPr>
              <p:cNvPr id="32" name="Object 11">
                <a:extLst>
                  <a:ext uri="{FF2B5EF4-FFF2-40B4-BE49-F238E27FC236}">
                    <a16:creationId xmlns:a16="http://schemas.microsoft.com/office/drawing/2014/main" id="{06D34CFA-A250-714C-2EDE-88C6D4E9C657}"/>
                  </a:ext>
                </a:extLst>
              </p:cNvPr>
              <p:cNvSpPr txBox="1"/>
              <p:nvPr/>
            </p:nvSpPr>
            <p:spPr bwMode="auto">
              <a:xfrm>
                <a:off x="558952" y="4464434"/>
                <a:ext cx="5822938" cy="93069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𝑄</m:t>
                          </m:r>
                        </m:e>
                        <m:sub>
                          <m:r>
                            <a:rPr lang="en-US" altLang="zh-CN" sz="2800" i="1">
                              <a:solidFill>
                                <a:srgbClr val="000000"/>
                              </a:solidFill>
                              <a:latin typeface="Cambria Math" panose="02040503050406030204" pitchFamily="18" charset="0"/>
                            </a:rPr>
                            <m:t>𝑇</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zh-CN" altLang="en-US" sz="2800" i="1">
                              <a:solidFill>
                                <a:srgbClr val="000000"/>
                              </a:solidFill>
                              <a:latin typeface="Cambria Math" panose="02040503050406030204" pitchFamily="18" charset="0"/>
                            </a:rPr>
                            <m:t>𝜈</m:t>
                          </m:r>
                        </m:e>
                      </m:nary>
                      <m:r>
                        <a:rPr lang="zh-CN" altLang="en-US" sz="2800" i="1">
                          <a:solidFill>
                            <a:srgbClr val="000000"/>
                          </a:solidFill>
                          <a:latin typeface="Cambria Math" panose="02040503050406030204" pitchFamily="18" charset="0"/>
                        </a:rPr>
                        <m:t>𝑅𝑇</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𝑑𝑉</m:t>
                          </m:r>
                        </m:num>
                        <m:den>
                          <m:r>
                            <a:rPr lang="zh-CN" altLang="en-US" sz="2800" i="1">
                              <a:solidFill>
                                <a:srgbClr val="000000"/>
                              </a:solidFill>
                              <a:latin typeface="Cambria Math" panose="02040503050406030204" pitchFamily="18" charset="0"/>
                            </a:rPr>
                            <m:t>𝑉</m:t>
                          </m:r>
                        </m:den>
                      </m:f>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𝑅𝑇</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func>
                    </m:oMath>
                  </m:oMathPara>
                </a14:m>
                <a:endParaRPr lang="zh-CN" altLang="en-US" sz="2800" dirty="0"/>
              </a:p>
            </p:txBody>
          </p:sp>
        </mc:Choice>
        <mc:Fallback xmlns="">
          <p:sp>
            <p:nvSpPr>
              <p:cNvPr id="32" name="Object 11">
                <a:extLst>
                  <a:ext uri="{FF2B5EF4-FFF2-40B4-BE49-F238E27FC236}">
                    <a16:creationId xmlns:a16="http://schemas.microsoft.com/office/drawing/2014/main" id="{06D34CFA-A250-714C-2EDE-88C6D4E9C657}"/>
                  </a:ext>
                </a:extLst>
              </p:cNvPr>
              <p:cNvSpPr txBox="1">
                <a:spLocks noRot="1" noChangeAspect="1" noMove="1" noResize="1" noEditPoints="1" noAdjustHandles="1" noChangeArrowheads="1" noChangeShapeType="1" noTextEdit="1"/>
              </p:cNvSpPr>
              <p:nvPr/>
            </p:nvSpPr>
            <p:spPr bwMode="auto">
              <a:xfrm>
                <a:off x="558952" y="4464434"/>
                <a:ext cx="5822938" cy="930693"/>
              </a:xfrm>
              <a:prstGeom prst="rect">
                <a:avLst/>
              </a:prstGeom>
              <a:blipFill>
                <a:blip r:embed="rId7"/>
                <a:stretch>
                  <a:fillRect b="-13725"/>
                </a:stretch>
              </a:blipFill>
            </p:spPr>
            <p:txBody>
              <a:bodyPr/>
              <a:lstStyle/>
              <a:p>
                <a:r>
                  <a:rPr lang="zh-CN" altLang="en-US">
                    <a:noFill/>
                  </a:rPr>
                  <a:t> </a:t>
                </a:r>
              </a:p>
            </p:txBody>
          </p:sp>
        </mc:Fallback>
      </mc:AlternateContent>
      <p:sp>
        <p:nvSpPr>
          <p:cNvPr id="33" name="Text Box 13">
            <a:hlinkClick r:id="" action="ppaction://noaction"/>
            <a:extLst>
              <a:ext uri="{FF2B5EF4-FFF2-40B4-BE49-F238E27FC236}">
                <a16:creationId xmlns:a16="http://schemas.microsoft.com/office/drawing/2014/main" id="{7D8B8EEB-0AE7-723E-886E-E92CEBB7AE98}"/>
              </a:ext>
            </a:extLst>
          </p:cNvPr>
          <p:cNvSpPr txBox="1">
            <a:spLocks noChangeArrowheads="1"/>
          </p:cNvSpPr>
          <p:nvPr/>
        </p:nvSpPr>
        <p:spPr bwMode="auto">
          <a:xfrm>
            <a:off x="6931177" y="3857107"/>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绝热过程</a:t>
            </a:r>
          </a:p>
        </p:txBody>
      </p:sp>
      <p:grpSp>
        <p:nvGrpSpPr>
          <p:cNvPr id="34" name="Group 6">
            <a:extLst>
              <a:ext uri="{FF2B5EF4-FFF2-40B4-BE49-F238E27FC236}">
                <a16:creationId xmlns:a16="http://schemas.microsoft.com/office/drawing/2014/main" id="{C0FC387B-D5FA-1EA0-2348-E282CC9E2EC8}"/>
              </a:ext>
            </a:extLst>
          </p:cNvPr>
          <p:cNvGrpSpPr/>
          <p:nvPr/>
        </p:nvGrpSpPr>
        <p:grpSpPr>
          <a:xfrm>
            <a:off x="8734531" y="4657134"/>
            <a:ext cx="3816070" cy="1226765"/>
            <a:chOff x="3744" y="3112"/>
            <a:chExt cx="1630" cy="847"/>
          </a:xfrm>
        </p:grpSpPr>
        <mc:AlternateContent xmlns:mc="http://schemas.openxmlformats.org/markup-compatibility/2006" xmlns:a14="http://schemas.microsoft.com/office/drawing/2010/main">
          <mc:Choice Requires="a14">
            <p:sp>
              <p:nvSpPr>
                <p:cNvPr id="35" name="Object 10">
                  <a:extLst>
                    <a:ext uri="{FF2B5EF4-FFF2-40B4-BE49-F238E27FC236}">
                      <a16:creationId xmlns:a16="http://schemas.microsoft.com/office/drawing/2014/main" id="{8693CA9F-CCD8-67FE-9101-D75AD24BAA76}"/>
                    </a:ext>
                  </a:extLst>
                </p:cNvPr>
                <p:cNvSpPr txBox="1"/>
                <p:nvPr/>
              </p:nvSpPr>
              <p:spPr>
                <a:xfrm>
                  <a:off x="3744" y="3112"/>
                  <a:ext cx="886" cy="44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𝑉</m:t>
                            </m:r>
                          </m:e>
                          <m:sup>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3" name="Object 10">
                  <a:extLst>
                    <a:ext uri="{FF2B5EF4-FFF2-40B4-BE49-F238E27FC236}">
                      <a16:creationId xmlns:a16="http://schemas.microsoft.com/office/drawing/2014/main" id="{69A74F00-BED1-894D-1AA9-78A86695ADD5}"/>
                    </a:ext>
                  </a:extLst>
                </p:cNvPr>
                <p:cNvSpPr txBox="1">
                  <a:spLocks noRot="1" noChangeAspect="1" noMove="1" noResize="1" noEditPoints="1" noAdjustHandles="1" noChangeArrowheads="1" noChangeShapeType="1" noTextEdit="1"/>
                </p:cNvSpPr>
                <p:nvPr/>
              </p:nvSpPr>
              <p:spPr>
                <a:xfrm>
                  <a:off x="3744" y="3112"/>
                  <a:ext cx="886" cy="440"/>
                </a:xfrm>
                <a:prstGeom prst="rect">
                  <a:avLst/>
                </a:prstGeom>
                <a:blipFill>
                  <a:blip r:embed="rId2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11">
                  <a:extLst>
                    <a:ext uri="{FF2B5EF4-FFF2-40B4-BE49-F238E27FC236}">
                      <a16:creationId xmlns:a16="http://schemas.microsoft.com/office/drawing/2014/main" id="{30302A16-E092-E172-450E-2EE6BEF6DB47}"/>
                    </a:ext>
                  </a:extLst>
                </p:cNvPr>
                <p:cNvSpPr txBox="1"/>
                <p:nvPr/>
              </p:nvSpPr>
              <p:spPr>
                <a:xfrm>
                  <a:off x="3744" y="3552"/>
                  <a:ext cx="1104" cy="4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4" name="Object 11">
                  <a:extLst>
                    <a:ext uri="{FF2B5EF4-FFF2-40B4-BE49-F238E27FC236}">
                      <a16:creationId xmlns:a16="http://schemas.microsoft.com/office/drawing/2014/main" id="{09B4C298-376E-B3F0-BA4B-E4668E7B59A0}"/>
                    </a:ext>
                  </a:extLst>
                </p:cNvPr>
                <p:cNvSpPr txBox="1">
                  <a:spLocks noRot="1" noChangeAspect="1" noMove="1" noResize="1" noEditPoints="1" noAdjustHandles="1" noChangeArrowheads="1" noChangeShapeType="1" noTextEdit="1"/>
                </p:cNvSpPr>
                <p:nvPr/>
              </p:nvSpPr>
              <p:spPr>
                <a:xfrm>
                  <a:off x="3744" y="3552"/>
                  <a:ext cx="1104" cy="407"/>
                </a:xfrm>
                <a:prstGeom prst="rect">
                  <a:avLst/>
                </a:prstGeom>
                <a:blipFill>
                  <a:blip r:embed="rId28"/>
                  <a:stretch>
                    <a:fillRect/>
                  </a:stretch>
                </a:blipFill>
                <a:ln w="38100">
                  <a:noFill/>
                  <a:miter/>
                </a:ln>
              </p:spPr>
              <p:txBody>
                <a:bodyPr/>
                <a:lstStyle/>
                <a:p>
                  <a:r>
                    <a:rPr lang="zh-CN" altLang="en-US">
                      <a:noFill/>
                    </a:rPr>
                    <a:t> </a:t>
                  </a:r>
                </a:p>
              </p:txBody>
            </p:sp>
          </mc:Fallback>
        </mc:AlternateContent>
        <p:sp>
          <p:nvSpPr>
            <p:cNvPr id="37" name="Rectangle 13">
              <a:extLst>
                <a:ext uri="{FF2B5EF4-FFF2-40B4-BE49-F238E27FC236}">
                  <a16:creationId xmlns:a16="http://schemas.microsoft.com/office/drawing/2014/main" id="{E7BBAA72-5DD1-7960-2D5A-5F02435E07F3}"/>
                </a:ext>
              </a:extLst>
            </p:cNvPr>
            <p:cNvSpPr/>
            <p:nvPr/>
          </p:nvSpPr>
          <p:spPr>
            <a:xfrm>
              <a:off x="4450" y="3120"/>
              <a:ext cx="721"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
          <p:nvSpPr>
            <p:cNvPr id="38" name="Rectangle 14">
              <a:extLst>
                <a:ext uri="{FF2B5EF4-FFF2-40B4-BE49-F238E27FC236}">
                  <a16:creationId xmlns:a16="http://schemas.microsoft.com/office/drawing/2014/main" id="{5D206BFE-4C90-621E-47AA-479B36CEDD57}"/>
                </a:ext>
              </a:extLst>
            </p:cNvPr>
            <p:cNvSpPr/>
            <p:nvPr/>
          </p:nvSpPr>
          <p:spPr>
            <a:xfrm>
              <a:off x="4654" y="3575"/>
              <a:ext cx="720"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39" name="Object 15">
                <a:extLst>
                  <a:ext uri="{FF2B5EF4-FFF2-40B4-BE49-F238E27FC236}">
                    <a16:creationId xmlns:a16="http://schemas.microsoft.com/office/drawing/2014/main" id="{9FF79BCA-6598-3129-8462-1796477C8BBE}"/>
                  </a:ext>
                </a:extLst>
              </p:cNvPr>
              <p:cNvSpPr txBox="1">
                <a:spLocks/>
              </p:cNvSpPr>
              <p:nvPr/>
            </p:nvSpPr>
            <p:spPr>
              <a:xfrm>
                <a:off x="9110336" y="3931089"/>
                <a:ext cx="1792288" cy="766762"/>
              </a:xfrm>
              <a:prstGeom prst="rect">
                <a:avLst/>
              </a:prstGeom>
              <a:noFill/>
              <a:ln w="38100">
                <a:miter/>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i="1" smtClean="0">
                              <a:solidFill>
                                <a:srgbClr val="000000"/>
                              </a:solidFill>
                              <a:latin typeface="Cambria Math" panose="02040503050406030204" pitchFamily="18" charset="0"/>
                            </a:rPr>
                          </m:ctrlPr>
                        </m:sSupPr>
                        <m:e>
                          <m:r>
                            <a:rPr lang="en-US" b="0" i="1">
                              <a:solidFill>
                                <a:srgbClr val="000000"/>
                              </a:solidFill>
                              <a:latin typeface="Cambria Math" panose="02040503050406030204" pitchFamily="18" charset="0"/>
                            </a:rPr>
                            <m:t>𝑉</m:t>
                          </m:r>
                        </m:e>
                        <m:sup>
                          <m:r>
                            <a:rPr lang="en-US" b="0" i="1">
                              <a:solidFill>
                                <a:srgbClr val="000000"/>
                              </a:solidFill>
                              <a:latin typeface="Cambria Math" panose="02040503050406030204" pitchFamily="18" charset="0"/>
                            </a:rPr>
                            <m:t>𝛾</m:t>
                          </m:r>
                          <m:r>
                            <a:rPr lang="en-US" b="0" i="1">
                              <a:solidFill>
                                <a:srgbClr val="000000"/>
                              </a:solidFill>
                              <a:latin typeface="Cambria Math" panose="02040503050406030204" pitchFamily="18" charset="0"/>
                            </a:rPr>
                            <m:t>−1</m:t>
                          </m:r>
                        </m:sup>
                      </m:sSup>
                      <m:r>
                        <a:rPr lang="en-US" b="0" i="1">
                          <a:solidFill>
                            <a:srgbClr val="000000"/>
                          </a:solidFill>
                          <a:latin typeface="Cambria Math" panose="02040503050406030204" pitchFamily="18" charset="0"/>
                        </a:rPr>
                        <m:t>𝑇</m:t>
                      </m:r>
                      <m:r>
                        <a:rPr lang="en-US" b="0" i="1">
                          <a:solidFill>
                            <a:srgbClr val="000000"/>
                          </a:solidFill>
                          <a:latin typeface="Cambria Math" panose="02040503050406030204" pitchFamily="18" charset="0"/>
                        </a:rPr>
                        <m:t>=</m:t>
                      </m:r>
                    </m:oMath>
                  </m:oMathPara>
                </a14:m>
                <a:endParaRPr lang="en-US"/>
              </a:p>
            </p:txBody>
          </p:sp>
        </mc:Choice>
        <mc:Fallback xmlns="">
          <p:sp>
            <p:nvSpPr>
              <p:cNvPr id="39" name="Object 15">
                <a:extLst>
                  <a:ext uri="{FF2B5EF4-FFF2-40B4-BE49-F238E27FC236}">
                    <a16:creationId xmlns:a16="http://schemas.microsoft.com/office/drawing/2014/main" id="{9FF79BCA-6598-3129-8462-1796477C8BBE}"/>
                  </a:ext>
                </a:extLst>
              </p:cNvPr>
              <p:cNvSpPr txBox="1">
                <a:spLocks noRot="1" noChangeAspect="1" noMove="1" noResize="1" noEditPoints="1" noAdjustHandles="1" noChangeArrowheads="1" noChangeShapeType="1" noTextEdit="1"/>
              </p:cNvSpPr>
              <p:nvPr/>
            </p:nvSpPr>
            <p:spPr>
              <a:xfrm>
                <a:off x="9110336" y="3931089"/>
                <a:ext cx="1792288" cy="766762"/>
              </a:xfrm>
              <a:prstGeom prst="rect">
                <a:avLst/>
              </a:prstGeom>
              <a:blipFill>
                <a:blip r:embed="rId29"/>
                <a:stretch>
                  <a:fillRect/>
                </a:stretch>
              </a:blipFill>
              <a:ln w="38100">
                <a:miter/>
              </a:ln>
            </p:spPr>
            <p:txBody>
              <a:bodyPr/>
              <a:lstStyle/>
              <a:p>
                <a:r>
                  <a:rPr lang="zh-CN" altLang="en-US">
                    <a:noFill/>
                  </a:rPr>
                  <a:t> </a:t>
                </a:r>
              </a:p>
            </p:txBody>
          </p:sp>
        </mc:Fallback>
      </mc:AlternateContent>
      <p:sp>
        <p:nvSpPr>
          <p:cNvPr id="40" name="Text Box 16">
            <a:extLst>
              <a:ext uri="{FF2B5EF4-FFF2-40B4-BE49-F238E27FC236}">
                <a16:creationId xmlns:a16="http://schemas.microsoft.com/office/drawing/2014/main" id="{DA3EE56F-56CB-E088-7E56-F7B393192C3E}"/>
              </a:ext>
            </a:extLst>
          </p:cNvPr>
          <p:cNvSpPr txBox="1"/>
          <p:nvPr/>
        </p:nvSpPr>
        <p:spPr>
          <a:xfrm>
            <a:off x="10728441" y="3896635"/>
            <a:ext cx="992579" cy="523220"/>
          </a:xfrm>
          <a:prstGeom prst="rect">
            <a:avLst/>
          </a:prstGeom>
          <a:noFill/>
          <a:ln w="9525">
            <a:noFill/>
          </a:ln>
        </p:spPr>
        <p:txBody>
          <a:bodyPr wrap="none">
            <a:spAutoFit/>
          </a:bodyPr>
          <a:lstStyle/>
          <a:p>
            <a:pPr eaLnBrk="1" hangingPunct="1"/>
            <a:r>
              <a:rPr lang="zh-CN" altLang="en-US" sz="2800" dirty="0">
                <a:solidFill>
                  <a:srgbClr val="000000"/>
                </a:solidFill>
                <a:latin typeface="Times New Roman" panose="02020603050405020304" pitchFamily="18" charset="0"/>
              </a:rPr>
              <a:t>常量 </a:t>
            </a:r>
          </a:p>
        </p:txBody>
      </p:sp>
      <mc:AlternateContent xmlns:mc="http://schemas.openxmlformats.org/markup-compatibility/2006" xmlns:a14="http://schemas.microsoft.com/office/drawing/2010/main">
        <mc:Choice Requires="a14">
          <p:sp>
            <p:nvSpPr>
              <p:cNvPr id="2" name="Object 22">
                <a:extLst>
                  <a:ext uri="{FF2B5EF4-FFF2-40B4-BE49-F238E27FC236}">
                    <a16:creationId xmlns:a16="http://schemas.microsoft.com/office/drawing/2014/main" id="{C1D07C5D-69E5-6AEE-FC6F-4CD958E4F61C}"/>
                  </a:ext>
                </a:extLst>
              </p:cNvPr>
              <p:cNvSpPr txBox="1"/>
              <p:nvPr/>
            </p:nvSpPr>
            <p:spPr bwMode="auto">
              <a:xfrm>
                <a:off x="6613750" y="2865695"/>
                <a:ext cx="1939238"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 name="Object 22">
                <a:extLst>
                  <a:ext uri="{FF2B5EF4-FFF2-40B4-BE49-F238E27FC236}">
                    <a16:creationId xmlns:a16="http://schemas.microsoft.com/office/drawing/2014/main" id="{C1D07C5D-69E5-6AEE-FC6F-4CD958E4F61C}"/>
                  </a:ext>
                </a:extLst>
              </p:cNvPr>
              <p:cNvSpPr txBox="1">
                <a:spLocks noRot="1" noChangeAspect="1" noMove="1" noResize="1" noEditPoints="1" noAdjustHandles="1" noChangeArrowheads="1" noChangeShapeType="1" noTextEdit="1"/>
              </p:cNvSpPr>
              <p:nvPr/>
            </p:nvSpPr>
            <p:spPr bwMode="auto">
              <a:xfrm>
                <a:off x="6613750" y="2865695"/>
                <a:ext cx="1939238" cy="965200"/>
              </a:xfrm>
              <a:prstGeom prst="rect">
                <a:avLst/>
              </a:prstGeom>
              <a:blipFill>
                <a:blip r:embed="rId30"/>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P spid="30" grpId="0"/>
      <p:bldP spid="31" grpId="0"/>
      <p:bldP spid="32" grpId="0"/>
      <p:bldP spid="33" grpId="0"/>
      <p:bldP spid="39" grpId="0" animBg="1"/>
      <p:bldP spid="40"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1" name="Oval 2"/>
          <p:cNvSpPr/>
          <p:nvPr/>
        </p:nvSpPr>
        <p:spPr>
          <a:xfrm>
            <a:off x="2296037" y="3151210"/>
            <a:ext cx="1728787" cy="803275"/>
          </a:xfrm>
          <a:prstGeom prst="ellipse">
            <a:avLst/>
          </a:prstGeom>
          <a:solidFill>
            <a:schemeClr val="accent1"/>
          </a:solidFill>
          <a:ln w="19050" cap="flat" cmpd="sng">
            <a:solidFill>
              <a:srgbClr val="CC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162" name="Text Box 3"/>
          <p:cNvSpPr txBox="1"/>
          <p:nvPr/>
        </p:nvSpPr>
        <p:spPr>
          <a:xfrm>
            <a:off x="2569086" y="3295671"/>
            <a:ext cx="1166812" cy="492443"/>
          </a:xfrm>
          <a:prstGeom prst="rect">
            <a:avLst/>
          </a:prstGeom>
          <a:solidFill>
            <a:schemeClr val="accent1"/>
          </a:solid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热机</a:t>
            </a:r>
          </a:p>
        </p:txBody>
      </p:sp>
      <p:grpSp>
        <p:nvGrpSpPr>
          <p:cNvPr id="2" name="Group 4"/>
          <p:cNvGrpSpPr>
            <a:grpSpLocks noChangeAspect="1"/>
          </p:cNvGrpSpPr>
          <p:nvPr/>
        </p:nvGrpSpPr>
        <p:grpSpPr>
          <a:xfrm>
            <a:off x="419621" y="5248301"/>
            <a:ext cx="6864350" cy="923925"/>
            <a:chOff x="1068" y="3200"/>
            <a:chExt cx="4324" cy="582"/>
          </a:xfrm>
        </p:grpSpPr>
        <p:sp>
          <p:nvSpPr>
            <p:cNvPr id="6191" name="Text Box 5"/>
            <p:cNvSpPr txBox="1"/>
            <p:nvPr/>
          </p:nvSpPr>
          <p:spPr>
            <a:xfrm>
              <a:off x="1068" y="3383"/>
              <a:ext cx="1536" cy="330"/>
            </a:xfrm>
            <a:prstGeom prst="rect">
              <a:avLst/>
            </a:prstGeom>
            <a:noFill/>
            <a:ln w="12700">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热机效率</a:t>
              </a:r>
            </a:p>
          </p:txBody>
        </p:sp>
        <mc:AlternateContent xmlns:mc="http://schemas.openxmlformats.org/markup-compatibility/2006" xmlns:a14="http://schemas.microsoft.com/office/drawing/2010/main">
          <mc:Choice Requires="a14">
            <p:sp>
              <p:nvSpPr>
                <p:cNvPr id="6160" name="Object 6"/>
                <p:cNvSpPr txBox="1"/>
                <p:nvPr/>
              </p:nvSpPr>
              <p:spPr>
                <a:xfrm>
                  <a:off x="2204" y="3200"/>
                  <a:ext cx="3188" cy="582"/>
                </a:xfrm>
                <a:prstGeom prst="rect">
                  <a:avLst/>
                </a:prstGeom>
                <a:noFill/>
                <a:ln w="12700"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𝐴</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oMath>
                    </m:oMathPara>
                  </a14:m>
                  <a:endParaRPr lang="zh-CN" altLang="en-US" sz="2800" dirty="0"/>
                </a:p>
              </p:txBody>
            </p:sp>
          </mc:Choice>
          <mc:Fallback xmlns="">
            <p:sp>
              <p:nvSpPr>
                <p:cNvPr id="6160" name="Object 6"/>
                <p:cNvSpPr txBox="1">
                  <a:spLocks noRot="1" noChangeAspect="1" noMove="1" noResize="1" noEditPoints="1" noAdjustHandles="1" noChangeArrowheads="1" noChangeShapeType="1" noTextEdit="1"/>
                </p:cNvSpPr>
                <p:nvPr/>
              </p:nvSpPr>
              <p:spPr>
                <a:xfrm>
                  <a:off x="2204" y="3200"/>
                  <a:ext cx="3188" cy="582"/>
                </a:xfrm>
                <a:prstGeom prst="rect">
                  <a:avLst/>
                </a:prstGeom>
                <a:blipFill>
                  <a:blip r:embed="rId2"/>
                  <a:stretch>
                    <a:fillRect/>
                  </a:stretch>
                </a:blipFill>
                <a:ln w="12700" cap="flat" cmpd="sng">
                  <a:noFill/>
                  <a:prstDash val="solid"/>
                  <a:miter/>
                  <a:headEnd type="none" w="med" len="med"/>
                  <a:tailEnd type="none" w="med" len="med"/>
                </a:ln>
              </p:spPr>
              <p:txBody>
                <a:bodyPr/>
                <a:lstStyle/>
                <a:p>
                  <a:r>
                    <a:rPr lang="en-US">
                      <a:noFill/>
                    </a:rPr>
                    <a:t> </a:t>
                  </a:r>
                </a:p>
              </p:txBody>
            </p:sp>
          </mc:Fallback>
        </mc:AlternateContent>
      </p:grpSp>
      <p:grpSp>
        <p:nvGrpSpPr>
          <p:cNvPr id="6165" name="Group 8"/>
          <p:cNvGrpSpPr/>
          <p:nvPr/>
        </p:nvGrpSpPr>
        <p:grpSpPr>
          <a:xfrm>
            <a:off x="2291273" y="2030435"/>
            <a:ext cx="2057400" cy="533400"/>
            <a:chOff x="3648" y="864"/>
            <a:chExt cx="1296" cy="336"/>
          </a:xfrm>
        </p:grpSpPr>
        <p:sp>
          <p:nvSpPr>
            <p:cNvPr id="6189" name="Rectangle 9"/>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190" name="Text Box 10"/>
            <p:cNvSpPr txBox="1"/>
            <p:nvPr/>
          </p:nvSpPr>
          <p:spPr>
            <a:xfrm>
              <a:off x="3696" y="870"/>
              <a:ext cx="1248" cy="310"/>
            </a:xfrm>
            <a:prstGeom prst="rect">
              <a:avLst/>
            </a:prstGeom>
            <a:no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高温热源</a:t>
              </a:r>
              <a:endParaRPr lang="zh-CN" altLang="en-US" sz="2600" dirty="0">
                <a:solidFill>
                  <a:srgbClr val="333333"/>
                </a:solidFill>
                <a:latin typeface="Times New Roman" panose="02020603050405020304" pitchFamily="18" charset="0"/>
                <a:ea typeface="楷体_GB2312" panose="02010609030101010101" pitchFamily="49" charset="-122"/>
              </a:endParaRPr>
            </a:p>
          </p:txBody>
        </p:sp>
      </p:grpSp>
      <p:sp>
        <p:nvSpPr>
          <p:cNvPr id="6166" name="Text Box 11"/>
          <p:cNvSpPr txBox="1"/>
          <p:nvPr/>
        </p:nvSpPr>
        <p:spPr>
          <a:xfrm>
            <a:off x="2215073" y="4392634"/>
            <a:ext cx="1981200" cy="492443"/>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600" dirty="0">
                <a:solidFill>
                  <a:srgbClr val="333333"/>
                </a:solidFill>
                <a:latin typeface="Times New Roman" panose="02020603050405020304" pitchFamily="18" charset="0"/>
              </a:rPr>
              <a:t>低温热源</a:t>
            </a:r>
          </a:p>
        </p:txBody>
      </p:sp>
      <p:grpSp>
        <p:nvGrpSpPr>
          <p:cNvPr id="4" name="Group 12"/>
          <p:cNvGrpSpPr/>
          <p:nvPr/>
        </p:nvGrpSpPr>
        <p:grpSpPr>
          <a:xfrm>
            <a:off x="2977073" y="2544784"/>
            <a:ext cx="819150" cy="838200"/>
            <a:chOff x="4080" y="1152"/>
            <a:chExt cx="516" cy="528"/>
          </a:xfrm>
        </p:grpSpPr>
        <p:sp>
          <p:nvSpPr>
            <p:cNvPr id="6188" name="AutoShape 13"/>
            <p:cNvSpPr/>
            <p:nvPr/>
          </p:nvSpPr>
          <p:spPr>
            <a:xfrm>
              <a:off x="4080" y="1152"/>
              <a:ext cx="144" cy="528"/>
            </a:xfrm>
            <a:prstGeom prst="downArrow">
              <a:avLst>
                <a:gd name="adj1" fmla="val 40000"/>
                <a:gd name="adj2" fmla="val 146921"/>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9" name="Object 14"/>
                <p:cNvSpPr txBox="1"/>
                <p:nvPr/>
              </p:nvSpPr>
              <p:spPr>
                <a:xfrm>
                  <a:off x="4224" y="1152"/>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6159" name="Object 14"/>
                <p:cNvSpPr txBox="1">
                  <a:spLocks noRot="1" noChangeAspect="1" noMove="1" noResize="1" noEditPoints="1" noAdjustHandles="1" noChangeArrowheads="1" noChangeShapeType="1" noTextEdit="1"/>
                </p:cNvSpPr>
                <p:nvPr/>
              </p:nvSpPr>
              <p:spPr>
                <a:xfrm>
                  <a:off x="4224" y="1152"/>
                  <a:ext cx="372" cy="436"/>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5" name="Group 15"/>
          <p:cNvGrpSpPr/>
          <p:nvPr/>
        </p:nvGrpSpPr>
        <p:grpSpPr>
          <a:xfrm>
            <a:off x="3010420" y="3783036"/>
            <a:ext cx="841376" cy="804863"/>
            <a:chOff x="4101" y="1968"/>
            <a:chExt cx="530" cy="507"/>
          </a:xfrm>
        </p:grpSpPr>
        <p:sp>
          <p:nvSpPr>
            <p:cNvPr id="6187" name="AutoShape 16"/>
            <p:cNvSpPr/>
            <p:nvPr/>
          </p:nvSpPr>
          <p:spPr>
            <a:xfrm>
              <a:off x="4101" y="1968"/>
              <a:ext cx="144" cy="480"/>
            </a:xfrm>
            <a:prstGeom prst="downArrow">
              <a:avLst>
                <a:gd name="adj1" fmla="val 35416"/>
                <a:gd name="adj2" fmla="val 138888"/>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8" name="Object 17"/>
                <p:cNvSpPr txBox="1"/>
                <p:nvPr/>
              </p:nvSpPr>
              <p:spPr>
                <a:xfrm>
                  <a:off x="4259" y="2040"/>
                  <a:ext cx="372"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6158" name="Object 17"/>
                <p:cNvSpPr txBox="1">
                  <a:spLocks noRot="1" noChangeAspect="1" noMove="1" noResize="1" noEditPoints="1" noAdjustHandles="1" noChangeArrowheads="1" noChangeShapeType="1" noTextEdit="1"/>
                </p:cNvSpPr>
                <p:nvPr/>
              </p:nvSpPr>
              <p:spPr>
                <a:xfrm>
                  <a:off x="4259" y="2040"/>
                  <a:ext cx="372" cy="435"/>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6" name="Group 18"/>
          <p:cNvGrpSpPr/>
          <p:nvPr/>
        </p:nvGrpSpPr>
        <p:grpSpPr>
          <a:xfrm>
            <a:off x="4066754" y="3217710"/>
            <a:ext cx="1371097" cy="490535"/>
            <a:chOff x="4711" y="1683"/>
            <a:chExt cx="803" cy="223"/>
          </a:xfrm>
        </p:grpSpPr>
        <p:sp>
          <p:nvSpPr>
            <p:cNvPr id="6186" name="AutoShape 19"/>
            <p:cNvSpPr/>
            <p:nvPr/>
          </p:nvSpPr>
          <p:spPr>
            <a:xfrm>
              <a:off x="4711" y="1784"/>
              <a:ext cx="528" cy="102"/>
            </a:xfrm>
            <a:prstGeom prst="rightArrow">
              <a:avLst>
                <a:gd name="adj1" fmla="val 58666"/>
                <a:gd name="adj2" fmla="val 189204"/>
              </a:avLst>
            </a:prstGeom>
            <a:solidFill>
              <a:schemeClr val="accent1"/>
            </a:solidFill>
            <a:ln w="19050" cap="flat" cmpd="sng">
              <a:solidFill>
                <a:srgbClr val="CC66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6157" name="Object 20"/>
                <p:cNvSpPr txBox="1"/>
                <p:nvPr/>
              </p:nvSpPr>
              <p:spPr>
                <a:xfrm>
                  <a:off x="5295" y="1683"/>
                  <a:ext cx="219" cy="223"/>
                </a:xfrm>
                <a:prstGeom prst="rect">
                  <a:avLst/>
                </a:prstGeom>
                <a:solidFill>
                  <a:schemeClr val="accent1"/>
                </a:solidFill>
                <a:ln w="9525" cap="flat" cmpd="sng">
                  <a:solidFill>
                    <a:srgbClr val="CC6600"/>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6157" name="Object 20"/>
                <p:cNvSpPr txBox="1">
                  <a:spLocks noRot="1" noChangeAspect="1" noMove="1" noResize="1" noEditPoints="1" noAdjustHandles="1" noChangeArrowheads="1" noChangeShapeType="1" noTextEdit="1"/>
                </p:cNvSpPr>
                <p:nvPr/>
              </p:nvSpPr>
              <p:spPr>
                <a:xfrm>
                  <a:off x="5295" y="1683"/>
                  <a:ext cx="219" cy="223"/>
                </a:xfrm>
                <a:prstGeom prst="rect">
                  <a:avLst/>
                </a:prstGeom>
                <a:blipFill>
                  <a:blip r:embed="rId5"/>
                  <a:stretch>
                    <a:fillRect/>
                  </a:stretch>
                </a:blipFill>
                <a:ln w="9525" cap="flat" cmpd="sng">
                  <a:solidFill>
                    <a:srgbClr val="CC6600"/>
                  </a:solidFill>
                  <a:prstDash val="solid"/>
                  <a:miter/>
                  <a:headEnd type="none" w="med" len="med"/>
                  <a:tailEnd type="none" w="med" len="med"/>
                </a:ln>
              </p:spPr>
              <p:txBody>
                <a:bodyPr/>
                <a:lstStyle/>
                <a:p>
                  <a:r>
                    <a:rPr lang="en-US">
                      <a:noFill/>
                    </a:rPr>
                    <a:t> </a:t>
                  </a:r>
                </a:p>
              </p:txBody>
            </p:sp>
          </mc:Fallback>
        </mc:AlternateContent>
      </p:grpSp>
      <p:sp>
        <p:nvSpPr>
          <p:cNvPr id="33" name="Text Box 13">
            <a:hlinkClick r:id="" action="ppaction://noaction"/>
            <a:extLst>
              <a:ext uri="{FF2B5EF4-FFF2-40B4-BE49-F238E27FC236}">
                <a16:creationId xmlns:a16="http://schemas.microsoft.com/office/drawing/2014/main" id="{59E766E3-561E-BB2E-99BE-047E171C812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循环系统： 热机，制冷机</a:t>
            </a:r>
          </a:p>
        </p:txBody>
      </p:sp>
      <p:sp>
        <p:nvSpPr>
          <p:cNvPr id="34" name="Text Box 14">
            <a:extLst>
              <a:ext uri="{FF2B5EF4-FFF2-40B4-BE49-F238E27FC236}">
                <a16:creationId xmlns:a16="http://schemas.microsoft.com/office/drawing/2014/main" id="{3B0AC272-9E11-0416-E6AE-566A5C9F716D}"/>
              </a:ext>
            </a:extLst>
          </p:cNvPr>
          <p:cNvSpPr txBox="1"/>
          <p:nvPr/>
        </p:nvSpPr>
        <p:spPr>
          <a:xfrm>
            <a:off x="1342498" y="1305464"/>
            <a:ext cx="4897438" cy="523875"/>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a:t>
            </a:r>
            <a:r>
              <a:rPr lang="zh-CN" altLang="en-US" sz="2800" dirty="0">
                <a:solidFill>
                  <a:srgbClr val="CC0000"/>
                </a:solidFill>
                <a:latin typeface="Times New Roman" panose="02020603050405020304" pitchFamily="18" charset="0"/>
              </a:rPr>
              <a:t>正</a:t>
            </a:r>
            <a:r>
              <a:rPr lang="zh-CN" altLang="en-US" sz="2800" dirty="0">
                <a:solidFill>
                  <a:srgbClr val="333333"/>
                </a:solidFill>
                <a:latin typeface="Times New Roman" panose="02020603050405020304" pitchFamily="18" charset="0"/>
              </a:rPr>
              <a:t>循环）</a:t>
            </a:r>
            <a:endParaRPr lang="zh-CN" altLang="zh-CN" sz="2800" dirty="0">
              <a:solidFill>
                <a:srgbClr val="333333"/>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5" name="Object 15">
                <a:extLst>
                  <a:ext uri="{FF2B5EF4-FFF2-40B4-BE49-F238E27FC236}">
                    <a16:creationId xmlns:a16="http://schemas.microsoft.com/office/drawing/2014/main" id="{C5BA9E45-FE82-8711-BB98-BD09D29A9701}"/>
                  </a:ext>
                </a:extLst>
              </p:cNvPr>
              <p:cNvSpPr txBox="1"/>
              <p:nvPr/>
            </p:nvSpPr>
            <p:spPr>
              <a:xfrm>
                <a:off x="3791217" y="1305464"/>
                <a:ext cx="1255713" cy="3270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&gt;0</m:t>
                      </m:r>
                    </m:oMath>
                  </m:oMathPara>
                </a14:m>
                <a:endParaRPr lang="zh-CN" altLang="en-US" sz="2800" dirty="0"/>
              </a:p>
            </p:txBody>
          </p:sp>
        </mc:Choice>
        <mc:Fallback xmlns="">
          <p:sp>
            <p:nvSpPr>
              <p:cNvPr id="35" name="Object 15">
                <a:extLst>
                  <a:ext uri="{FF2B5EF4-FFF2-40B4-BE49-F238E27FC236}">
                    <a16:creationId xmlns:a16="http://schemas.microsoft.com/office/drawing/2014/main" id="{C5BA9E45-FE82-8711-BB98-BD09D29A9701}"/>
                  </a:ext>
                </a:extLst>
              </p:cNvPr>
              <p:cNvSpPr txBox="1">
                <a:spLocks noRot="1" noChangeAspect="1" noMove="1" noResize="1" noEditPoints="1" noAdjustHandles="1" noChangeArrowheads="1" noChangeShapeType="1" noTextEdit="1"/>
              </p:cNvSpPr>
              <p:nvPr/>
            </p:nvSpPr>
            <p:spPr>
              <a:xfrm>
                <a:off x="3791217" y="1305464"/>
                <a:ext cx="1255713" cy="327025"/>
              </a:xfrm>
              <a:prstGeom prst="rect">
                <a:avLst/>
              </a:prstGeom>
              <a:blipFill>
                <a:blip r:embed="rId6"/>
                <a:stretch>
                  <a:fillRect b="-20370"/>
                </a:stretch>
              </a:blipFill>
              <a:ln w="38100">
                <a:noFill/>
                <a:miter/>
              </a:ln>
            </p:spPr>
            <p:txBody>
              <a:bodyPr/>
              <a:lstStyle/>
              <a:p>
                <a:r>
                  <a:rPr lang="zh-CN" altLang="en-US">
                    <a:noFill/>
                  </a:rPr>
                  <a:t> </a:t>
                </a:r>
              </a:p>
            </p:txBody>
          </p:sp>
        </mc:Fallback>
      </mc:AlternateContent>
      <p:grpSp>
        <p:nvGrpSpPr>
          <p:cNvPr id="10" name="Group 6">
            <a:extLst>
              <a:ext uri="{FF2B5EF4-FFF2-40B4-BE49-F238E27FC236}">
                <a16:creationId xmlns:a16="http://schemas.microsoft.com/office/drawing/2014/main" id="{8AFDC2E9-47C2-D275-1CCC-E2524375B5E8}"/>
              </a:ext>
            </a:extLst>
          </p:cNvPr>
          <p:cNvGrpSpPr/>
          <p:nvPr/>
        </p:nvGrpSpPr>
        <p:grpSpPr>
          <a:xfrm>
            <a:off x="8389733" y="5355726"/>
            <a:ext cx="3987800" cy="1604963"/>
            <a:chOff x="352" y="3921"/>
            <a:chExt cx="2512" cy="1011"/>
          </a:xfrm>
          <a:noFill/>
        </p:grpSpPr>
        <p:sp>
          <p:nvSpPr>
            <p:cNvPr id="11" name="Text Box 7">
              <a:extLst>
                <a:ext uri="{FF2B5EF4-FFF2-40B4-BE49-F238E27FC236}">
                  <a16:creationId xmlns:a16="http://schemas.microsoft.com/office/drawing/2014/main" id="{FBCA4B00-A26C-8171-A8CA-15CFBF72393B}"/>
                </a:ext>
              </a:extLst>
            </p:cNvPr>
            <p:cNvSpPr txBox="1"/>
            <p:nvPr/>
          </p:nvSpPr>
          <p:spPr>
            <a:xfrm>
              <a:off x="368" y="3921"/>
              <a:ext cx="2496" cy="330"/>
            </a:xfrm>
            <a:prstGeom prst="rect">
              <a:avLst/>
            </a:prstGeom>
            <a:grpFill/>
            <a:ln w="19050">
              <a:noFill/>
            </a:ln>
          </p:spPr>
          <p:txBody>
            <a:bodyPr>
              <a:spAutoFit/>
            </a:bodyPr>
            <a:lstStyle/>
            <a:p>
              <a:pPr>
                <a:spcBef>
                  <a:spcPct val="50000"/>
                </a:spcBef>
              </a:pPr>
              <a:r>
                <a:rPr lang="zh-CN" altLang="en-US" sz="2800" dirty="0">
                  <a:solidFill>
                    <a:srgbClr val="010000"/>
                  </a:solidFill>
                  <a:latin typeface="Times New Roman" panose="02020603050405020304" pitchFamily="18" charset="0"/>
                </a:rPr>
                <a:t>致冷机致冷系数</a:t>
              </a:r>
            </a:p>
          </p:txBody>
        </p:sp>
        <mc:AlternateContent xmlns:mc="http://schemas.openxmlformats.org/markup-compatibility/2006" xmlns:a14="http://schemas.microsoft.com/office/drawing/2010/main">
          <mc:Choice Requires="a14">
            <p:sp>
              <p:nvSpPr>
                <p:cNvPr id="12" name="Object 8">
                  <a:extLst>
                    <a:ext uri="{FF2B5EF4-FFF2-40B4-BE49-F238E27FC236}">
                      <a16:creationId xmlns:a16="http://schemas.microsoft.com/office/drawing/2014/main" id="{51DE190C-BEB8-A9F0-23D9-9C8187EA3A4E}"/>
                    </a:ext>
                  </a:extLst>
                </p:cNvPr>
                <p:cNvSpPr txBox="1"/>
                <p:nvPr/>
              </p:nvSpPr>
              <p:spPr>
                <a:xfrm>
                  <a:off x="352" y="4220"/>
                  <a:ext cx="2512" cy="712"/>
                </a:xfrm>
                <a:prstGeom prst="rect">
                  <a:avLst/>
                </a:prstGeom>
                <a:grpFill/>
                <a:ln w="12700" cap="flat" cmpd="sng">
                  <a:noFill/>
                  <a:prstDash val="solid"/>
                  <a:miter/>
                  <a:headEnd type="none" w="med" len="med"/>
                  <a:tailEnd type="none" w="med" len="med"/>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d>
                              <m:dPr>
                                <m:begChr m:val="|"/>
                                <m:endChr m:val="|"/>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𝐴</m:t>
                                </m:r>
                              </m:e>
                            </m:d>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12" name="Object 8">
                  <a:extLst>
                    <a:ext uri="{FF2B5EF4-FFF2-40B4-BE49-F238E27FC236}">
                      <a16:creationId xmlns:a16="http://schemas.microsoft.com/office/drawing/2014/main" id="{51DE190C-BEB8-A9F0-23D9-9C8187EA3A4E}"/>
                    </a:ext>
                  </a:extLst>
                </p:cNvPr>
                <p:cNvSpPr txBox="1">
                  <a:spLocks noRot="1" noChangeAspect="1" noMove="1" noResize="1" noEditPoints="1" noAdjustHandles="1" noChangeArrowheads="1" noChangeShapeType="1" noTextEdit="1"/>
                </p:cNvSpPr>
                <p:nvPr/>
              </p:nvSpPr>
              <p:spPr>
                <a:xfrm>
                  <a:off x="352" y="4220"/>
                  <a:ext cx="2512" cy="712"/>
                </a:xfrm>
                <a:prstGeom prst="rect">
                  <a:avLst/>
                </a:prstGeom>
                <a:blipFill>
                  <a:blip r:embed="rId7"/>
                  <a:stretch>
                    <a:fillRect/>
                  </a:stretch>
                </a:blipFill>
                <a:ln w="12700" cap="flat" cmpd="sng">
                  <a:noFill/>
                  <a:prstDash val="solid"/>
                  <a:miter/>
                  <a:headEnd type="none" w="med" len="med"/>
                  <a:tailEnd type="none" w="med" len="med"/>
                </a:ln>
              </p:spPr>
              <p:txBody>
                <a:bodyPr/>
                <a:lstStyle/>
                <a:p>
                  <a:r>
                    <a:rPr lang="zh-CN" altLang="en-US">
                      <a:noFill/>
                    </a:rPr>
                    <a:t> </a:t>
                  </a:r>
                </a:p>
              </p:txBody>
            </p:sp>
          </mc:Fallback>
        </mc:AlternateContent>
      </p:grpSp>
      <p:grpSp>
        <p:nvGrpSpPr>
          <p:cNvPr id="13" name="Group 10">
            <a:extLst>
              <a:ext uri="{FF2B5EF4-FFF2-40B4-BE49-F238E27FC236}">
                <a16:creationId xmlns:a16="http://schemas.microsoft.com/office/drawing/2014/main" id="{EA13A7EC-8B30-7368-6B17-B5C7D88E4F7B}"/>
              </a:ext>
            </a:extLst>
          </p:cNvPr>
          <p:cNvGrpSpPr/>
          <p:nvPr/>
        </p:nvGrpSpPr>
        <p:grpSpPr>
          <a:xfrm>
            <a:off x="8878683" y="2891721"/>
            <a:ext cx="1981200" cy="781050"/>
            <a:chOff x="3552" y="1323"/>
            <a:chExt cx="1248" cy="492"/>
          </a:xfrm>
        </p:grpSpPr>
        <p:sp>
          <p:nvSpPr>
            <p:cNvPr id="14" name="Oval 11">
              <a:extLst>
                <a:ext uri="{FF2B5EF4-FFF2-40B4-BE49-F238E27FC236}">
                  <a16:creationId xmlns:a16="http://schemas.microsoft.com/office/drawing/2014/main" id="{8EE66A77-E537-C47D-DC42-2760D7A2BB11}"/>
                </a:ext>
              </a:extLst>
            </p:cNvPr>
            <p:cNvSpPr/>
            <p:nvPr/>
          </p:nvSpPr>
          <p:spPr>
            <a:xfrm>
              <a:off x="3552" y="1323"/>
              <a:ext cx="1008" cy="492"/>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5" name="Text Box 12">
              <a:extLst>
                <a:ext uri="{FF2B5EF4-FFF2-40B4-BE49-F238E27FC236}">
                  <a16:creationId xmlns:a16="http://schemas.microsoft.com/office/drawing/2014/main" id="{F123B3B2-F2D6-1190-1F9F-C3D8D182D3A3}"/>
                </a:ext>
              </a:extLst>
            </p:cNvPr>
            <p:cNvSpPr txBox="1"/>
            <p:nvPr/>
          </p:nvSpPr>
          <p:spPr>
            <a:xfrm>
              <a:off x="3648" y="1391"/>
              <a:ext cx="1152"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致冷</a:t>
              </a:r>
              <a:r>
                <a:rPr lang="zh-CN" altLang="en-US" sz="2800" dirty="0">
                  <a:solidFill>
                    <a:srgbClr val="333333"/>
                  </a:solidFill>
                  <a:latin typeface="Times New Roman" panose="02020603050405020304" pitchFamily="18" charset="0"/>
                </a:rPr>
                <a:t>机</a:t>
              </a:r>
            </a:p>
          </p:txBody>
        </p:sp>
      </p:grpSp>
      <p:grpSp>
        <p:nvGrpSpPr>
          <p:cNvPr id="16" name="Group 13">
            <a:extLst>
              <a:ext uri="{FF2B5EF4-FFF2-40B4-BE49-F238E27FC236}">
                <a16:creationId xmlns:a16="http://schemas.microsoft.com/office/drawing/2014/main" id="{2B596DEC-70B4-67B4-6A36-2D4BC6272BC0}"/>
              </a:ext>
            </a:extLst>
          </p:cNvPr>
          <p:cNvGrpSpPr/>
          <p:nvPr/>
        </p:nvGrpSpPr>
        <p:grpSpPr>
          <a:xfrm>
            <a:off x="8726283" y="1748722"/>
            <a:ext cx="2057400" cy="533400"/>
            <a:chOff x="3648" y="864"/>
            <a:chExt cx="1296" cy="336"/>
          </a:xfrm>
        </p:grpSpPr>
        <p:sp>
          <p:nvSpPr>
            <p:cNvPr id="17" name="Rectangle 14">
              <a:extLst>
                <a:ext uri="{FF2B5EF4-FFF2-40B4-BE49-F238E27FC236}">
                  <a16:creationId xmlns:a16="http://schemas.microsoft.com/office/drawing/2014/main" id="{C998A34E-1351-5168-649D-768F19F36EE3}"/>
                </a:ext>
              </a:extLst>
            </p:cNvPr>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18" name="Text Box 15">
              <a:extLst>
                <a:ext uri="{FF2B5EF4-FFF2-40B4-BE49-F238E27FC236}">
                  <a16:creationId xmlns:a16="http://schemas.microsoft.com/office/drawing/2014/main" id="{19486FB1-94BD-5949-DFF5-9D3A759BA51F}"/>
                </a:ext>
              </a:extLst>
            </p:cNvPr>
            <p:cNvSpPr txBox="1"/>
            <p:nvPr/>
          </p:nvSpPr>
          <p:spPr>
            <a:xfrm>
              <a:off x="3696" y="870"/>
              <a:ext cx="1248" cy="330"/>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高温热源</a:t>
              </a:r>
              <a:endParaRPr lang="zh-CN" altLang="en-US" sz="2800" dirty="0">
                <a:solidFill>
                  <a:srgbClr val="333333"/>
                </a:solidFill>
                <a:latin typeface="Times New Roman" panose="02020603050405020304" pitchFamily="18" charset="0"/>
                <a:ea typeface="楷体_GB2312" panose="02010609030101010101" pitchFamily="49" charset="-122"/>
              </a:endParaRPr>
            </a:p>
          </p:txBody>
        </p:sp>
      </p:grpSp>
      <p:grpSp>
        <p:nvGrpSpPr>
          <p:cNvPr id="42" name="Group 36">
            <a:extLst>
              <a:ext uri="{FF2B5EF4-FFF2-40B4-BE49-F238E27FC236}">
                <a16:creationId xmlns:a16="http://schemas.microsoft.com/office/drawing/2014/main" id="{9C35F732-497B-E39F-D83D-1169B5757706}"/>
              </a:ext>
            </a:extLst>
          </p:cNvPr>
          <p:cNvGrpSpPr/>
          <p:nvPr/>
        </p:nvGrpSpPr>
        <p:grpSpPr>
          <a:xfrm>
            <a:off x="9488283" y="2248784"/>
            <a:ext cx="895350" cy="892175"/>
            <a:chOff x="3792" y="1920"/>
            <a:chExt cx="564" cy="576"/>
          </a:xfrm>
        </p:grpSpPr>
        <mc:AlternateContent xmlns:mc="http://schemas.openxmlformats.org/markup-compatibility/2006" xmlns:a14="http://schemas.microsoft.com/office/drawing/2010/main">
          <mc:Choice Requires="a14">
            <p:sp>
              <p:nvSpPr>
                <p:cNvPr id="43" name="Object 37">
                  <a:extLst>
                    <a:ext uri="{FF2B5EF4-FFF2-40B4-BE49-F238E27FC236}">
                      <a16:creationId xmlns:a16="http://schemas.microsoft.com/office/drawing/2014/main" id="{850B2FD7-73A1-2B6A-DC3E-5E1F01EC562E}"/>
                    </a:ext>
                  </a:extLst>
                </p:cNvPr>
                <p:cNvSpPr txBox="1"/>
                <p:nvPr/>
              </p:nvSpPr>
              <p:spPr>
                <a:xfrm>
                  <a:off x="3984" y="1968"/>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oMath>
                    </m:oMathPara>
                  </a14:m>
                  <a:endParaRPr lang="zh-CN" altLang="en-US" sz="2800"/>
                </a:p>
              </p:txBody>
            </p:sp>
          </mc:Choice>
          <mc:Fallback xmlns="">
            <p:sp>
              <p:nvSpPr>
                <p:cNvPr id="7172" name="Object 37"/>
                <p:cNvSpPr txBox="1">
                  <a:spLocks noRot="1" noChangeAspect="1" noMove="1" noResize="1" noEditPoints="1" noAdjustHandles="1" noChangeArrowheads="1" noChangeShapeType="1" noTextEdit="1"/>
                </p:cNvSpPr>
                <p:nvPr/>
              </p:nvSpPr>
              <p:spPr>
                <a:xfrm>
                  <a:off x="3984" y="1968"/>
                  <a:ext cx="372" cy="436"/>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47" name="AutoShape 38">
              <a:extLst>
                <a:ext uri="{FF2B5EF4-FFF2-40B4-BE49-F238E27FC236}">
                  <a16:creationId xmlns:a16="http://schemas.microsoft.com/office/drawing/2014/main" id="{3E484E3C-FC29-CE77-DF44-070B2BD1DC38}"/>
                </a:ext>
              </a:extLst>
            </p:cNvPr>
            <p:cNvSpPr/>
            <p:nvPr/>
          </p:nvSpPr>
          <p:spPr>
            <a:xfrm flipV="1">
              <a:off x="3792" y="1920"/>
              <a:ext cx="192" cy="576"/>
            </a:xfrm>
            <a:prstGeom prst="downArrow">
              <a:avLst>
                <a:gd name="adj1" fmla="val 35416"/>
                <a:gd name="adj2" fmla="val 125000"/>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p:grpSp>
      <p:grpSp>
        <p:nvGrpSpPr>
          <p:cNvPr id="48" name="Group 39">
            <a:extLst>
              <a:ext uri="{FF2B5EF4-FFF2-40B4-BE49-F238E27FC236}">
                <a16:creationId xmlns:a16="http://schemas.microsoft.com/office/drawing/2014/main" id="{60F2A95C-C7B3-98A0-EE36-50F033E28129}"/>
              </a:ext>
            </a:extLst>
          </p:cNvPr>
          <p:cNvGrpSpPr/>
          <p:nvPr/>
        </p:nvGrpSpPr>
        <p:grpSpPr>
          <a:xfrm>
            <a:off x="9564486" y="3593396"/>
            <a:ext cx="879476" cy="914400"/>
            <a:chOff x="3840" y="1765"/>
            <a:chExt cx="554" cy="576"/>
          </a:xfrm>
        </p:grpSpPr>
        <p:sp>
          <p:nvSpPr>
            <p:cNvPr id="49" name="AutoShape 40">
              <a:extLst>
                <a:ext uri="{FF2B5EF4-FFF2-40B4-BE49-F238E27FC236}">
                  <a16:creationId xmlns:a16="http://schemas.microsoft.com/office/drawing/2014/main" id="{F13BDE4F-45E8-8EC3-F360-3E6E8695DC48}"/>
                </a:ext>
              </a:extLst>
            </p:cNvPr>
            <p:cNvSpPr/>
            <p:nvPr/>
          </p:nvSpPr>
          <p:spPr>
            <a:xfrm flipV="1">
              <a:off x="3840" y="1765"/>
              <a:ext cx="144" cy="576"/>
            </a:xfrm>
            <a:prstGeom prst="downArrow">
              <a:avLst>
                <a:gd name="adj1" fmla="val 40000"/>
                <a:gd name="adj2" fmla="val 160277"/>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50" name="Object 41">
                  <a:extLst>
                    <a:ext uri="{FF2B5EF4-FFF2-40B4-BE49-F238E27FC236}">
                      <a16:creationId xmlns:a16="http://schemas.microsoft.com/office/drawing/2014/main" id="{011CDE5E-EBCE-9F78-C8B3-47E9ABAADB45}"/>
                    </a:ext>
                  </a:extLst>
                </p:cNvPr>
                <p:cNvSpPr txBox="1"/>
                <p:nvPr/>
              </p:nvSpPr>
              <p:spPr>
                <a:xfrm>
                  <a:off x="3993" y="1852"/>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7171" name="Object 41"/>
                <p:cNvSpPr txBox="1">
                  <a:spLocks noRot="1" noChangeAspect="1" noMove="1" noResize="1" noEditPoints="1" noAdjustHandles="1" noChangeArrowheads="1" noChangeShapeType="1" noTextEdit="1"/>
                </p:cNvSpPr>
                <p:nvPr/>
              </p:nvSpPr>
              <p:spPr>
                <a:xfrm>
                  <a:off x="3993" y="1852"/>
                  <a:ext cx="401" cy="435"/>
                </a:xfrm>
                <a:prstGeom prst="rect">
                  <a:avLst/>
                </a:prstGeom>
                <a:blipFill>
                  <a:blip r:embed="rId12"/>
                  <a:stretch>
                    <a:fillRect/>
                  </a:stretch>
                </a:blipFill>
                <a:ln w="38100">
                  <a:noFill/>
                  <a:miter/>
                </a:ln>
              </p:spPr>
              <p:txBody>
                <a:bodyPr/>
                <a:lstStyle/>
                <a:p>
                  <a:r>
                    <a:rPr lang="zh-CN" altLang="en-US">
                      <a:noFill/>
                    </a:rPr>
                    <a:t> </a:t>
                  </a:r>
                </a:p>
              </p:txBody>
            </p:sp>
          </mc:Fallback>
        </mc:AlternateContent>
      </p:grpSp>
      <p:grpSp>
        <p:nvGrpSpPr>
          <p:cNvPr id="51" name="Group 42">
            <a:extLst>
              <a:ext uri="{FF2B5EF4-FFF2-40B4-BE49-F238E27FC236}">
                <a16:creationId xmlns:a16="http://schemas.microsoft.com/office/drawing/2014/main" id="{8F47C4BD-8AEB-0163-B378-60238581A402}"/>
              </a:ext>
            </a:extLst>
          </p:cNvPr>
          <p:cNvGrpSpPr/>
          <p:nvPr/>
        </p:nvGrpSpPr>
        <p:grpSpPr>
          <a:xfrm>
            <a:off x="10413799" y="3034594"/>
            <a:ext cx="1566863" cy="493713"/>
            <a:chOff x="4464" y="2448"/>
            <a:chExt cx="987" cy="311"/>
          </a:xfrm>
        </p:grpSpPr>
        <p:sp>
          <p:nvSpPr>
            <p:cNvPr id="52" name="AutoShape 43">
              <a:extLst>
                <a:ext uri="{FF2B5EF4-FFF2-40B4-BE49-F238E27FC236}">
                  <a16:creationId xmlns:a16="http://schemas.microsoft.com/office/drawing/2014/main" id="{D8A8F464-BB33-FE00-9D24-7CC8F824F4D8}"/>
                </a:ext>
              </a:extLst>
            </p:cNvPr>
            <p:cNvSpPr/>
            <p:nvPr/>
          </p:nvSpPr>
          <p:spPr>
            <a:xfrm flipH="1">
              <a:off x="4464" y="2571"/>
              <a:ext cx="528" cy="96"/>
            </a:xfrm>
            <a:prstGeom prst="rightArrow">
              <a:avLst>
                <a:gd name="adj1" fmla="val 58666"/>
                <a:gd name="adj2" fmla="val 201030"/>
              </a:avLst>
            </a:prstGeom>
            <a:solidFill>
              <a:srgbClr val="99CCFF"/>
            </a:solidFill>
            <a:ln w="19050" cap="flat" cmpd="sng">
              <a:solidFill>
                <a:schemeClr val="tx2"/>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53" name="Object 44">
                  <a:extLst>
                    <a:ext uri="{FF2B5EF4-FFF2-40B4-BE49-F238E27FC236}">
                      <a16:creationId xmlns:a16="http://schemas.microsoft.com/office/drawing/2014/main" id="{BD0E1BA1-7FD6-E1D1-20C1-D5CD4C2A4CD8}"/>
                    </a:ext>
                  </a:extLst>
                </p:cNvPr>
                <p:cNvSpPr txBox="1"/>
                <p:nvPr/>
              </p:nvSpPr>
              <p:spPr>
                <a:xfrm>
                  <a:off x="5081" y="2448"/>
                  <a:ext cx="370" cy="311"/>
                </a:xfrm>
                <a:prstGeom prst="rect">
                  <a:avLst/>
                </a:prstGeom>
                <a:solidFill>
                  <a:schemeClr val="accent1"/>
                </a:solidFill>
                <a:ln w="9525" cap="flat" cmpd="sng">
                  <a:solidFill>
                    <a:schemeClr val="tx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dirty="0"/>
                </a:p>
              </p:txBody>
            </p:sp>
          </mc:Choice>
          <mc:Fallback xmlns="">
            <p:sp>
              <p:nvSpPr>
                <p:cNvPr id="7170" name="Object 44"/>
                <p:cNvSpPr txBox="1">
                  <a:spLocks noRot="1" noChangeAspect="1" noMove="1" noResize="1" noEditPoints="1" noAdjustHandles="1" noChangeArrowheads="1" noChangeShapeType="1" noTextEdit="1"/>
                </p:cNvSpPr>
                <p:nvPr/>
              </p:nvSpPr>
              <p:spPr>
                <a:xfrm>
                  <a:off x="5081" y="2448"/>
                  <a:ext cx="370" cy="311"/>
                </a:xfrm>
                <a:prstGeom prst="rect">
                  <a:avLst/>
                </a:prstGeom>
                <a:blipFill>
                  <a:blip r:embed="rId13"/>
                  <a:stretch>
                    <a:fillRect/>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grpSp>
      <p:sp>
        <p:nvSpPr>
          <p:cNvPr id="54" name="Text Box 45">
            <a:extLst>
              <a:ext uri="{FF2B5EF4-FFF2-40B4-BE49-F238E27FC236}">
                <a16:creationId xmlns:a16="http://schemas.microsoft.com/office/drawing/2014/main" id="{5B149A31-E24F-006E-6D59-F7DA8EBC1CFD}"/>
              </a:ext>
            </a:extLst>
          </p:cNvPr>
          <p:cNvSpPr txBox="1"/>
          <p:nvPr/>
        </p:nvSpPr>
        <p:spPr>
          <a:xfrm>
            <a:off x="8650083" y="4525259"/>
            <a:ext cx="1981200" cy="52322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800" dirty="0">
                <a:solidFill>
                  <a:srgbClr val="333333"/>
                </a:solidFill>
                <a:latin typeface="Times New Roman" panose="02020603050405020304" pitchFamily="18" charset="0"/>
              </a:rPr>
              <a:t>低温热源</a:t>
            </a:r>
          </a:p>
        </p:txBody>
      </p:sp>
      <p:grpSp>
        <p:nvGrpSpPr>
          <p:cNvPr id="55" name="Group 16">
            <a:extLst>
              <a:ext uri="{FF2B5EF4-FFF2-40B4-BE49-F238E27FC236}">
                <a16:creationId xmlns:a16="http://schemas.microsoft.com/office/drawing/2014/main" id="{30BFF90B-36E0-ED99-5B9D-30315DD67ABD}"/>
              </a:ext>
            </a:extLst>
          </p:cNvPr>
          <p:cNvGrpSpPr/>
          <p:nvPr/>
        </p:nvGrpSpPr>
        <p:grpSpPr>
          <a:xfrm>
            <a:off x="7750764" y="1193362"/>
            <a:ext cx="4389438" cy="523875"/>
            <a:chOff x="966" y="3292"/>
            <a:chExt cx="2765" cy="330"/>
          </a:xfrm>
        </p:grpSpPr>
        <p:sp>
          <p:nvSpPr>
            <p:cNvPr id="56" name="Text Box 17">
              <a:extLst>
                <a:ext uri="{FF2B5EF4-FFF2-40B4-BE49-F238E27FC236}">
                  <a16:creationId xmlns:a16="http://schemas.microsoft.com/office/drawing/2014/main" id="{F6E04EAB-4EA0-A455-142D-74A4A7315B32}"/>
                </a:ext>
              </a:extLst>
            </p:cNvPr>
            <p:cNvSpPr txBox="1"/>
            <p:nvPr/>
          </p:nvSpPr>
          <p:spPr>
            <a:xfrm>
              <a:off x="966" y="3292"/>
              <a:ext cx="2208"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致冷机（</a:t>
              </a:r>
              <a:r>
                <a:rPr lang="zh-CN" altLang="en-US" sz="2800" dirty="0">
                  <a:solidFill>
                    <a:srgbClr val="0000FF"/>
                  </a:solidFill>
                  <a:latin typeface="Times New Roman" panose="02020603050405020304" pitchFamily="18" charset="0"/>
                </a:rPr>
                <a:t>逆</a:t>
              </a:r>
              <a:r>
                <a:rPr lang="zh-CN" altLang="en-US" sz="2800" dirty="0">
                  <a:solidFill>
                    <a:srgbClr val="1C1C1C"/>
                  </a:solidFill>
                  <a:latin typeface="Times New Roman" panose="02020603050405020304" pitchFamily="18" charset="0"/>
                </a:rPr>
                <a:t>循环）</a:t>
              </a:r>
              <a:endParaRPr lang="zh-CN" altLang="zh-CN" sz="2800" dirty="0">
                <a:solidFill>
                  <a:srgbClr val="1C1C1C"/>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57" name="Object 18">
                  <a:extLst>
                    <a:ext uri="{FF2B5EF4-FFF2-40B4-BE49-F238E27FC236}">
                      <a16:creationId xmlns:a16="http://schemas.microsoft.com/office/drawing/2014/main" id="{B6E93DDD-00AC-1DDC-3285-CB240024F4A5}"/>
                    </a:ext>
                  </a:extLst>
                </p:cNvPr>
                <p:cNvSpPr txBox="1"/>
                <p:nvPr/>
              </p:nvSpPr>
              <p:spPr>
                <a:xfrm>
                  <a:off x="2825" y="3292"/>
                  <a:ext cx="906" cy="27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&lt;0</m:t>
                        </m:r>
                      </m:oMath>
                    </m:oMathPara>
                  </a14:m>
                  <a:endParaRPr lang="zh-CN" altLang="en-US" sz="2800" dirty="0"/>
                </a:p>
              </p:txBody>
            </p:sp>
          </mc:Choice>
          <mc:Fallback xmlns="">
            <p:sp>
              <p:nvSpPr>
                <p:cNvPr id="57" name="Object 18">
                  <a:extLst>
                    <a:ext uri="{FF2B5EF4-FFF2-40B4-BE49-F238E27FC236}">
                      <a16:creationId xmlns:a16="http://schemas.microsoft.com/office/drawing/2014/main" id="{B6E93DDD-00AC-1DDC-3285-CB240024F4A5}"/>
                    </a:ext>
                  </a:extLst>
                </p:cNvPr>
                <p:cNvSpPr txBox="1">
                  <a:spLocks noRot="1" noChangeAspect="1" noMove="1" noResize="1" noEditPoints="1" noAdjustHandles="1" noChangeArrowheads="1" noChangeShapeType="1" noTextEdit="1"/>
                </p:cNvSpPr>
                <p:nvPr/>
              </p:nvSpPr>
              <p:spPr>
                <a:xfrm>
                  <a:off x="2825" y="3292"/>
                  <a:ext cx="906" cy="274"/>
                </a:xfrm>
                <a:prstGeom prst="rect">
                  <a:avLst/>
                </a:prstGeom>
                <a:blipFill>
                  <a:blip r:embed="rId14"/>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Object 4">
                <a:extLst>
                  <a:ext uri="{FF2B5EF4-FFF2-40B4-BE49-F238E27FC236}">
                    <a16:creationId xmlns:a16="http://schemas.microsoft.com/office/drawing/2014/main" id="{0469202B-034D-6136-3E9B-298972710862}"/>
                  </a:ext>
                </a:extLst>
              </p:cNvPr>
              <p:cNvSpPr txBox="1"/>
              <p:nvPr/>
            </p:nvSpPr>
            <p:spPr bwMode="auto">
              <a:xfrm>
                <a:off x="6057695" y="475548"/>
                <a:ext cx="3887788" cy="6096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zh-CN" altLang="en-US" sz="2800" i="1" smtClean="0">
                          <a:solidFill>
                            <a:srgbClr val="000000"/>
                          </a:solidFill>
                          <a:latin typeface="Cambria Math" panose="02040503050406030204" pitchFamily="18" charset="0"/>
                        </a:rPr>
                        <m:t>Δ</m:t>
                      </m:r>
                      <m:r>
                        <a:rPr lang="zh-CN" altLang="en-US" sz="2800" i="1" smtClean="0">
                          <a:solidFill>
                            <a:srgbClr val="000000"/>
                          </a:solidFill>
                          <a:latin typeface="Cambria Math" panose="02040503050406030204" pitchFamily="18" charset="0"/>
                        </a:rPr>
                        <m:t>𝐸</m:t>
                      </m:r>
                      <m:r>
                        <a:rPr lang="zh-CN" altLang="en-US" sz="2800" i="1" smtClean="0">
                          <a:solidFill>
                            <a:srgbClr val="000000"/>
                          </a:solidFill>
                          <a:latin typeface="Cambria Math" panose="02040503050406030204" pitchFamily="18" charset="0"/>
                        </a:rPr>
                        <m:t>=0  </m:t>
                      </m:r>
                      <m:r>
                        <a:rPr lang="en-US" altLang="zh-CN" sz="2800" b="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58" name="Object 4">
                <a:extLst>
                  <a:ext uri="{FF2B5EF4-FFF2-40B4-BE49-F238E27FC236}">
                    <a16:creationId xmlns:a16="http://schemas.microsoft.com/office/drawing/2014/main" id="{0469202B-034D-6136-3E9B-298972710862}"/>
                  </a:ext>
                </a:extLst>
              </p:cNvPr>
              <p:cNvSpPr txBox="1">
                <a:spLocks noRot="1" noChangeAspect="1" noMove="1" noResize="1" noEditPoints="1" noAdjustHandles="1" noChangeArrowheads="1" noChangeShapeType="1" noTextEdit="1"/>
              </p:cNvSpPr>
              <p:nvPr/>
            </p:nvSpPr>
            <p:spPr bwMode="auto">
              <a:xfrm>
                <a:off x="6057695" y="475548"/>
                <a:ext cx="3887788" cy="609600"/>
              </a:xfrm>
              <a:prstGeom prst="rect">
                <a:avLst/>
              </a:prstGeom>
              <a:blipFill>
                <a:blip r:embed="rId15"/>
                <a:stretch>
                  <a:fillRect/>
                </a:stretch>
              </a:blipFill>
              <a:ln>
                <a:noFill/>
              </a:ln>
              <a:effectLst/>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1" grpId="0" animBg="1"/>
      <p:bldP spid="6162" grpId="0" animBg="1"/>
      <p:bldP spid="6166" grpId="0" animBg="1"/>
      <p:bldP spid="34" grpId="0"/>
      <p:bldP spid="35" grpId="0"/>
      <p:bldP spid="54" grpId="0" animBg="1"/>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DE1E5AA0-B039-64CC-03ED-54BC4133CACD}"/>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3200" dirty="0">
                <a:solidFill>
                  <a:srgbClr val="0066FF"/>
                </a:solidFill>
                <a:latin typeface="+mn-lt"/>
                <a:ea typeface="+mn-ea"/>
                <a:cs typeface="Times New Roman" panose="02020603050405020304" pitchFamily="18" charset="0"/>
              </a:rPr>
              <a:t>-</a:t>
            </a:r>
            <a:r>
              <a:rPr kumimoji="1" lang="zh-CN" altLang="en-US" sz="3200" dirty="0">
                <a:solidFill>
                  <a:srgbClr val="0066FF"/>
                </a:solidFill>
                <a:latin typeface="+mn-lt"/>
                <a:ea typeface="+mn-ea"/>
                <a:cs typeface="Times New Roman" panose="02020603050405020304" pitchFamily="18" charset="0"/>
              </a:rPr>
              <a:t>卡诺循环</a:t>
            </a:r>
          </a:p>
        </p:txBody>
      </p:sp>
      <p:grpSp>
        <p:nvGrpSpPr>
          <p:cNvPr id="3" name="Group 15">
            <a:extLst>
              <a:ext uri="{FF2B5EF4-FFF2-40B4-BE49-F238E27FC236}">
                <a16:creationId xmlns:a16="http://schemas.microsoft.com/office/drawing/2014/main" id="{CFEAE280-CA8E-1067-927C-A136302F12E2}"/>
              </a:ext>
            </a:extLst>
          </p:cNvPr>
          <p:cNvGrpSpPr/>
          <p:nvPr/>
        </p:nvGrpSpPr>
        <p:grpSpPr>
          <a:xfrm>
            <a:off x="1064959" y="1271256"/>
            <a:ext cx="3457575" cy="3078163"/>
            <a:chOff x="569" y="1788"/>
            <a:chExt cx="2178" cy="1939"/>
          </a:xfrm>
        </p:grpSpPr>
        <p:sp>
          <p:nvSpPr>
            <p:cNvPr id="4" name="Line 17">
              <a:extLst>
                <a:ext uri="{FF2B5EF4-FFF2-40B4-BE49-F238E27FC236}">
                  <a16:creationId xmlns:a16="http://schemas.microsoft.com/office/drawing/2014/main" id="{9E82B319-BE3D-2C50-5BA8-A6B3083925E4}"/>
                </a:ext>
              </a:extLst>
            </p:cNvPr>
            <p:cNvSpPr/>
            <p:nvPr/>
          </p:nvSpPr>
          <p:spPr>
            <a:xfrm>
              <a:off x="835" y="3476"/>
              <a:ext cx="1912" cy="0"/>
            </a:xfrm>
            <a:prstGeom prst="line">
              <a:avLst/>
            </a:prstGeom>
            <a:ln w="19050" cap="flat" cmpd="sng">
              <a:solidFill>
                <a:srgbClr val="000000"/>
              </a:solidFill>
              <a:prstDash val="solid"/>
              <a:headEnd type="none" w="med" len="med"/>
              <a:tailEnd type="triangle" w="sm" len="lg"/>
            </a:ln>
          </p:spPr>
        </p:sp>
        <p:sp>
          <p:nvSpPr>
            <p:cNvPr id="5" name="Line 18">
              <a:extLst>
                <a:ext uri="{FF2B5EF4-FFF2-40B4-BE49-F238E27FC236}">
                  <a16:creationId xmlns:a16="http://schemas.microsoft.com/office/drawing/2014/main" id="{CA50DB5B-1804-745E-19A3-96089921BBDD}"/>
                </a:ext>
              </a:extLst>
            </p:cNvPr>
            <p:cNvSpPr/>
            <p:nvPr/>
          </p:nvSpPr>
          <p:spPr>
            <a:xfrm flipV="1">
              <a:off x="835" y="1790"/>
              <a:ext cx="0" cy="1679"/>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 name="Object 19">
                  <a:extLst>
                    <a:ext uri="{FF2B5EF4-FFF2-40B4-BE49-F238E27FC236}">
                      <a16:creationId xmlns:a16="http://schemas.microsoft.com/office/drawing/2014/main" id="{9875B368-53B6-754B-A433-0BA1FE7ACC86}"/>
                    </a:ext>
                  </a:extLst>
                </p:cNvPr>
                <p:cNvSpPr txBox="1"/>
                <p:nvPr/>
              </p:nvSpPr>
              <p:spPr>
                <a:xfrm>
                  <a:off x="2577" y="3270"/>
                  <a:ext cx="170" cy="1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𝑉</m:t>
                        </m:r>
                      </m:oMath>
                    </m:oMathPara>
                  </a14:m>
                  <a:endParaRPr lang="zh-CN" altLang="en-US" sz="2800">
                    <a:latin typeface="+mn-ea"/>
                  </a:endParaRPr>
                </a:p>
              </p:txBody>
            </p:sp>
          </mc:Choice>
          <mc:Fallback xmlns="">
            <p:sp>
              <p:nvSpPr>
                <p:cNvPr id="10242" name="Object 19"/>
                <p:cNvSpPr txBox="1">
                  <a:spLocks noRot="1" noChangeAspect="1" noMove="1" noResize="1" noEditPoints="1" noAdjustHandles="1" noChangeArrowheads="1" noChangeShapeType="1" noTextEdit="1"/>
                </p:cNvSpPr>
                <p:nvPr/>
              </p:nvSpPr>
              <p:spPr>
                <a:xfrm>
                  <a:off x="2577" y="3270"/>
                  <a:ext cx="170" cy="187"/>
                </a:xfrm>
                <a:prstGeom prst="rect">
                  <a:avLst/>
                </a:prstGeom>
                <a:blipFill>
                  <a:blip r:embed="rId5"/>
                  <a:stretch>
                    <a:fillRect r="-15909" b="-291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20">
                  <a:extLst>
                    <a:ext uri="{FF2B5EF4-FFF2-40B4-BE49-F238E27FC236}">
                      <a16:creationId xmlns:a16="http://schemas.microsoft.com/office/drawing/2014/main" id="{B463FD43-D294-9FC3-0C67-DABC01AF2641}"/>
                    </a:ext>
                  </a:extLst>
                </p:cNvPr>
                <p:cNvSpPr txBox="1"/>
                <p:nvPr/>
              </p:nvSpPr>
              <p:spPr>
                <a:xfrm>
                  <a:off x="742" y="3471"/>
                  <a:ext cx="149" cy="16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𝑜</m:t>
                        </m:r>
                      </m:oMath>
                    </m:oMathPara>
                  </a14:m>
                  <a:endParaRPr lang="zh-CN" altLang="en-US" sz="2800">
                    <a:latin typeface="+mn-ea"/>
                  </a:endParaRPr>
                </a:p>
              </p:txBody>
            </p:sp>
          </mc:Choice>
          <mc:Fallback xmlns="">
            <p:sp>
              <p:nvSpPr>
                <p:cNvPr id="10243" name="Object 20"/>
                <p:cNvSpPr txBox="1">
                  <a:spLocks noRot="1" noChangeAspect="1" noMove="1" noResize="1" noEditPoints="1" noAdjustHandles="1" noChangeArrowheads="1" noChangeShapeType="1" noTextEdit="1"/>
                </p:cNvSpPr>
                <p:nvPr/>
              </p:nvSpPr>
              <p:spPr>
                <a:xfrm>
                  <a:off x="742" y="3471"/>
                  <a:ext cx="149" cy="169"/>
                </a:xfrm>
                <a:prstGeom prst="rect">
                  <a:avLst/>
                </a:prstGeom>
                <a:blipFill>
                  <a:blip r:embed="rId6"/>
                  <a:stretch>
                    <a:fillRect r="-12821" b="-43182"/>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21">
                  <a:extLst>
                    <a:ext uri="{FF2B5EF4-FFF2-40B4-BE49-F238E27FC236}">
                      <a16:creationId xmlns:a16="http://schemas.microsoft.com/office/drawing/2014/main" id="{8F38C547-0D01-E82A-D830-FF9BD6AAE84E}"/>
                    </a:ext>
                  </a:extLst>
                </p:cNvPr>
                <p:cNvSpPr txBox="1"/>
                <p:nvPr/>
              </p:nvSpPr>
              <p:spPr>
                <a:xfrm>
                  <a:off x="602" y="1788"/>
                  <a:ext cx="179" cy="20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oMath>
                    </m:oMathPara>
                  </a14:m>
                  <a:endParaRPr lang="zh-CN" altLang="en-US" sz="2800">
                    <a:latin typeface="+mn-ea"/>
                  </a:endParaRPr>
                </a:p>
              </p:txBody>
            </p:sp>
          </mc:Choice>
          <mc:Fallback xmlns="">
            <p:sp>
              <p:nvSpPr>
                <p:cNvPr id="10244" name="Object 21"/>
                <p:cNvSpPr txBox="1">
                  <a:spLocks noRot="1" noChangeAspect="1" noMove="1" noResize="1" noEditPoints="1" noAdjustHandles="1" noChangeArrowheads="1" noChangeShapeType="1" noTextEdit="1"/>
                </p:cNvSpPr>
                <p:nvPr/>
              </p:nvSpPr>
              <p:spPr>
                <a:xfrm>
                  <a:off x="602" y="1788"/>
                  <a:ext cx="179" cy="206"/>
                </a:xfrm>
                <a:prstGeom prst="rect">
                  <a:avLst/>
                </a:prstGeom>
                <a:blipFill>
                  <a:blip r:embed="rId7"/>
                  <a:stretch>
                    <a:fillRect b="-3962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22">
                  <a:extLst>
                    <a:ext uri="{FF2B5EF4-FFF2-40B4-BE49-F238E27FC236}">
                      <a16:creationId xmlns:a16="http://schemas.microsoft.com/office/drawing/2014/main" id="{C8A98E5B-6028-8E43-4063-0066CA4A7B80}"/>
                    </a:ext>
                  </a:extLst>
                </p:cNvPr>
                <p:cNvSpPr txBox="1"/>
                <p:nvPr/>
              </p:nvSpPr>
              <p:spPr>
                <a:xfrm>
                  <a:off x="2059" y="3165"/>
                  <a:ext cx="210"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oMath>
                    </m:oMathPara>
                  </a14:m>
                  <a:endParaRPr lang="zh-CN" altLang="en-US" sz="2800">
                    <a:latin typeface="+mn-ea"/>
                  </a:endParaRPr>
                </a:p>
              </p:txBody>
            </p:sp>
          </mc:Choice>
          <mc:Fallback xmlns="">
            <p:sp>
              <p:nvSpPr>
                <p:cNvPr id="10245" name="Object 22"/>
                <p:cNvSpPr txBox="1">
                  <a:spLocks noRot="1" noChangeAspect="1" noMove="1" noResize="1" noEditPoints="1" noAdjustHandles="1" noChangeArrowheads="1" noChangeShapeType="1" noTextEdit="1"/>
                </p:cNvSpPr>
                <p:nvPr/>
              </p:nvSpPr>
              <p:spPr>
                <a:xfrm>
                  <a:off x="2059" y="3165"/>
                  <a:ext cx="210" cy="256"/>
                </a:xfrm>
                <a:prstGeom prst="rect">
                  <a:avLst/>
                </a:prstGeom>
                <a:blipFill>
                  <a:blip r:embed="rId8"/>
                  <a:stretch>
                    <a:fillRect r="-18182" b="-10448"/>
                  </a:stretch>
                </a:blipFill>
                <a:ln w="38100">
                  <a:noFill/>
                  <a:miter/>
                </a:ln>
              </p:spPr>
              <p:txBody>
                <a:bodyPr/>
                <a:lstStyle/>
                <a:p>
                  <a:r>
                    <a:rPr lang="zh-CN" altLang="en-US">
                      <a:noFill/>
                    </a:rPr>
                    <a:t> </a:t>
                  </a:r>
                </a:p>
              </p:txBody>
            </p:sp>
          </mc:Fallback>
        </mc:AlternateContent>
        <p:sp>
          <p:nvSpPr>
            <p:cNvPr id="10" name="Freeform 23" descr="浅色上对角线">
              <a:extLst>
                <a:ext uri="{FF2B5EF4-FFF2-40B4-BE49-F238E27FC236}">
                  <a16:creationId xmlns:a16="http://schemas.microsoft.com/office/drawing/2014/main" id="{99933420-5F5E-F604-5A00-712D6C539208}"/>
                </a:ext>
              </a:extLst>
            </p:cNvPr>
            <p:cNvSpPr/>
            <p:nvPr/>
          </p:nvSpPr>
          <p:spPr>
            <a:xfrm>
              <a:off x="1089" y="2133"/>
              <a:ext cx="1297" cy="1045"/>
            </a:xfrm>
            <a:custGeom>
              <a:avLst/>
              <a:gdLst>
                <a:gd name="txL" fmla="*/ 0 w 1465"/>
                <a:gd name="txT" fmla="*/ 0 h 1219"/>
                <a:gd name="txR" fmla="*/ 1465 w 1465"/>
                <a:gd name="txB" fmla="*/ 1219 h 1219"/>
              </a:gdLst>
              <a:ahLst/>
              <a:cxnLst>
                <a:cxn ang="0">
                  <a:pos x="20" y="46"/>
                </a:cxn>
                <a:cxn ang="0">
                  <a:pos x="47" y="211"/>
                </a:cxn>
                <a:cxn ang="0">
                  <a:pos x="94" y="350"/>
                </a:cxn>
                <a:cxn ang="0">
                  <a:pos x="157" y="535"/>
                </a:cxn>
                <a:cxn ang="0">
                  <a:pos x="220" y="654"/>
                </a:cxn>
                <a:cxn ang="0">
                  <a:pos x="309" y="772"/>
                </a:cxn>
                <a:cxn ang="0">
                  <a:pos x="439" y="829"/>
                </a:cxn>
                <a:cxn ang="0">
                  <a:pos x="613" y="905"/>
                </a:cxn>
                <a:cxn ang="0">
                  <a:pos x="878" y="973"/>
                </a:cxn>
                <a:cxn ang="0">
                  <a:pos x="1086" y="1013"/>
                </a:cxn>
                <a:cxn ang="0">
                  <a:pos x="1297" y="1045"/>
                </a:cxn>
                <a:cxn ang="0">
                  <a:pos x="1197" y="958"/>
                </a:cxn>
                <a:cxn ang="0">
                  <a:pos x="1082" y="880"/>
                </a:cxn>
                <a:cxn ang="0">
                  <a:pos x="1046" y="839"/>
                </a:cxn>
                <a:cxn ang="0">
                  <a:pos x="993" y="777"/>
                </a:cxn>
                <a:cxn ang="0">
                  <a:pos x="968" y="736"/>
                </a:cxn>
                <a:cxn ang="0">
                  <a:pos x="904" y="613"/>
                </a:cxn>
                <a:cxn ang="0">
                  <a:pos x="826" y="567"/>
                </a:cxn>
                <a:cxn ang="0">
                  <a:pos x="889" y="582"/>
                </a:cxn>
                <a:cxn ang="0">
                  <a:pos x="765" y="543"/>
                </a:cxn>
                <a:cxn ang="0">
                  <a:pos x="700" y="520"/>
                </a:cxn>
                <a:cxn ang="0">
                  <a:pos x="617" y="489"/>
                </a:cxn>
                <a:cxn ang="0">
                  <a:pos x="523" y="432"/>
                </a:cxn>
                <a:cxn ang="0">
                  <a:pos x="339" y="315"/>
                </a:cxn>
                <a:cxn ang="0">
                  <a:pos x="189" y="206"/>
                </a:cxn>
                <a:cxn ang="0">
                  <a:pos x="110" y="139"/>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UpDiag">
              <a:fgClr>
                <a:srgbClr val="CC3399">
                  <a:alpha val="100000"/>
                </a:srgbClr>
              </a:fgClr>
              <a:bgClr>
                <a:schemeClr val="bg1">
                  <a:alpha val="100000"/>
                </a:schemeClr>
              </a:bgClr>
            </a:pattFill>
            <a:ln w="9525">
              <a:noFill/>
            </a:ln>
          </p:spPr>
          <p:txBody>
            <a:bodyPr/>
            <a:lstStyle/>
            <a:p>
              <a:endParaRPr lang="zh-CN" altLang="en-US" sz="2800">
                <a:latin typeface="+mn-ea"/>
              </a:endParaRPr>
            </a:p>
          </p:txBody>
        </p:sp>
        <p:sp>
          <p:nvSpPr>
            <p:cNvPr id="11" name="Text Box 24">
              <a:extLst>
                <a:ext uri="{FF2B5EF4-FFF2-40B4-BE49-F238E27FC236}">
                  <a16:creationId xmlns:a16="http://schemas.microsoft.com/office/drawing/2014/main" id="{4B3C950C-B468-38DB-D5E6-7CD6D13BC702}"/>
                </a:ext>
              </a:extLst>
            </p:cNvPr>
            <p:cNvSpPr txBox="1"/>
            <p:nvPr/>
          </p:nvSpPr>
          <p:spPr>
            <a:xfrm flipH="1">
              <a:off x="1492" y="2638"/>
              <a:ext cx="330" cy="330"/>
            </a:xfrm>
            <a:prstGeom prst="rect">
              <a:avLst/>
            </a:prstGeom>
            <a:noFill/>
            <a:ln w="9525">
              <a:noFill/>
            </a:ln>
          </p:spPr>
          <p:txBody>
            <a:bodyPr>
              <a:spAutoFit/>
            </a:bodyPr>
            <a:lstStyle/>
            <a:p>
              <a:pPr>
                <a:spcBef>
                  <a:spcPct val="50000"/>
                </a:spcBef>
              </a:pPr>
              <a:r>
                <a:rPr lang="en-US" altLang="zh-CN" sz="2800" i="1" dirty="0">
                  <a:solidFill>
                    <a:srgbClr val="CC0000"/>
                  </a:solidFill>
                  <a:latin typeface="+mn-ea"/>
                </a:rPr>
                <a:t>W</a:t>
              </a:r>
              <a:endParaRPr lang="en-US" altLang="zh-CN" sz="2800" i="1" dirty="0">
                <a:solidFill>
                  <a:srgbClr val="A50021"/>
                </a:solidFill>
                <a:latin typeface="+mn-ea"/>
              </a:endParaRPr>
            </a:p>
          </p:txBody>
        </p:sp>
        <p:sp>
          <p:nvSpPr>
            <p:cNvPr id="12" name="Line 25">
              <a:extLst>
                <a:ext uri="{FF2B5EF4-FFF2-40B4-BE49-F238E27FC236}">
                  <a16:creationId xmlns:a16="http://schemas.microsoft.com/office/drawing/2014/main" id="{11168AEA-6FA6-7A29-B634-55C8E512C930}"/>
                </a:ext>
              </a:extLst>
            </p:cNvPr>
            <p:cNvSpPr/>
            <p:nvPr/>
          </p:nvSpPr>
          <p:spPr>
            <a:xfrm flipH="1" flipV="1">
              <a:off x="1675" y="3034"/>
              <a:ext cx="109" cy="36"/>
            </a:xfrm>
            <a:prstGeom prst="line">
              <a:avLst/>
            </a:prstGeom>
            <a:ln w="57150" cap="flat" cmpd="sng">
              <a:solidFill>
                <a:srgbClr val="0000FF"/>
              </a:solidFill>
              <a:prstDash val="solid"/>
              <a:headEnd type="none" w="med" len="med"/>
              <a:tailEnd type="triangle" w="sm" len="lg"/>
            </a:ln>
          </p:spPr>
        </p:sp>
        <p:sp>
          <p:nvSpPr>
            <p:cNvPr id="13" name="Line 26">
              <a:extLst>
                <a:ext uri="{FF2B5EF4-FFF2-40B4-BE49-F238E27FC236}">
                  <a16:creationId xmlns:a16="http://schemas.microsoft.com/office/drawing/2014/main" id="{45245CAE-898E-58D8-A891-83D731BF1A93}"/>
                </a:ext>
              </a:extLst>
            </p:cNvPr>
            <p:cNvSpPr/>
            <p:nvPr/>
          </p:nvSpPr>
          <p:spPr>
            <a:xfrm>
              <a:off x="1516" y="2492"/>
              <a:ext cx="122" cy="73"/>
            </a:xfrm>
            <a:prstGeom prst="line">
              <a:avLst/>
            </a:prstGeom>
            <a:ln w="57150" cap="flat" cmpd="sng">
              <a:solidFill>
                <a:srgbClr val="0000FF"/>
              </a:solidFill>
              <a:prstDash val="solid"/>
              <a:headEnd type="none" w="med" len="med"/>
              <a:tailEnd type="triangle" w="sm" len="lg"/>
            </a:ln>
          </p:spPr>
        </p:sp>
        <p:sp>
          <p:nvSpPr>
            <p:cNvPr id="14" name="Line 27">
              <a:extLst>
                <a:ext uri="{FF2B5EF4-FFF2-40B4-BE49-F238E27FC236}">
                  <a16:creationId xmlns:a16="http://schemas.microsoft.com/office/drawing/2014/main" id="{CC816D01-6653-B33A-4FCC-C98C4375D21A}"/>
                </a:ext>
              </a:extLst>
            </p:cNvPr>
            <p:cNvSpPr/>
            <p:nvPr/>
          </p:nvSpPr>
          <p:spPr>
            <a:xfrm flipH="1" flipV="1">
              <a:off x="1163" y="2457"/>
              <a:ext cx="36" cy="108"/>
            </a:xfrm>
            <a:prstGeom prst="line">
              <a:avLst/>
            </a:prstGeom>
            <a:ln w="57150" cap="flat" cmpd="sng">
              <a:solidFill>
                <a:srgbClr val="CC0099"/>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5" name="Object 28">
                  <a:extLst>
                    <a:ext uri="{FF2B5EF4-FFF2-40B4-BE49-F238E27FC236}">
                      <a16:creationId xmlns:a16="http://schemas.microsoft.com/office/drawing/2014/main" id="{0C572BC1-E7A5-AB03-B6B6-7E61311E383C}"/>
                    </a:ext>
                  </a:extLst>
                </p:cNvPr>
                <p:cNvSpPr txBox="1"/>
                <p:nvPr/>
              </p:nvSpPr>
              <p:spPr>
                <a:xfrm>
                  <a:off x="1684" y="2365"/>
                  <a:ext cx="179" cy="25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46" name="Object 28"/>
                <p:cNvSpPr txBox="1">
                  <a:spLocks noRot="1" noChangeAspect="1" noMove="1" noResize="1" noEditPoints="1" noAdjustHandles="1" noChangeArrowheads="1" noChangeShapeType="1" noTextEdit="1"/>
                </p:cNvSpPr>
                <p:nvPr/>
              </p:nvSpPr>
              <p:spPr>
                <a:xfrm>
                  <a:off x="1684" y="2365"/>
                  <a:ext cx="179" cy="252"/>
                </a:xfrm>
                <a:prstGeom prst="rect">
                  <a:avLst/>
                </a:prstGeom>
                <a:blipFill>
                  <a:blip r:embed="rId9"/>
                  <a:stretch>
                    <a:fillRect r="-39130" b="-12121"/>
                  </a:stretch>
                </a:blipFill>
                <a:ln w="38100">
                  <a:noFill/>
                  <a:miter/>
                </a:ln>
              </p:spPr>
              <p:txBody>
                <a:bodyPr/>
                <a:lstStyle/>
                <a:p>
                  <a:r>
                    <a:rPr lang="zh-CN" altLang="en-US">
                      <a:noFill/>
                    </a:rPr>
                    <a:t> </a:t>
                  </a:r>
                </a:p>
              </p:txBody>
            </p:sp>
          </mc:Fallback>
        </mc:AlternateContent>
        <p:sp>
          <p:nvSpPr>
            <p:cNvPr id="16" name="Line 29">
              <a:extLst>
                <a:ext uri="{FF2B5EF4-FFF2-40B4-BE49-F238E27FC236}">
                  <a16:creationId xmlns:a16="http://schemas.microsoft.com/office/drawing/2014/main" id="{6981FB3C-4B61-DAAA-F5F9-DAF1753C781E}"/>
                </a:ext>
              </a:extLst>
            </p:cNvPr>
            <p:cNvSpPr/>
            <p:nvPr/>
          </p:nvSpPr>
          <p:spPr>
            <a:xfrm>
              <a:off x="2109" y="2900"/>
              <a:ext cx="78" cy="98"/>
            </a:xfrm>
            <a:prstGeom prst="line">
              <a:avLst/>
            </a:prstGeom>
            <a:ln w="57150" cap="flat" cmpd="sng">
              <a:solidFill>
                <a:srgbClr val="CC0099"/>
              </a:solidFill>
              <a:prstDash val="solid"/>
              <a:headEnd type="none" w="med" len="med"/>
              <a:tailEnd type="triangle" w="sm" len="lg"/>
            </a:ln>
          </p:spPr>
        </p:sp>
        <p:sp>
          <p:nvSpPr>
            <p:cNvPr id="17" name="Freeform 30">
              <a:extLst>
                <a:ext uri="{FF2B5EF4-FFF2-40B4-BE49-F238E27FC236}">
                  <a16:creationId xmlns:a16="http://schemas.microsoft.com/office/drawing/2014/main" id="{7943E4BD-5C03-894A-364B-F21E4BD2D00F}"/>
                </a:ext>
              </a:extLst>
            </p:cNvPr>
            <p:cNvSpPr/>
            <p:nvPr/>
          </p:nvSpPr>
          <p:spPr>
            <a:xfrm>
              <a:off x="1089" y="2133"/>
              <a:ext cx="925" cy="583"/>
            </a:xfrm>
            <a:custGeom>
              <a:avLst/>
              <a:gdLst>
                <a:gd name="txL" fmla="*/ 0 w 1044"/>
                <a:gd name="txT" fmla="*/ 0 h 680"/>
                <a:gd name="txR" fmla="*/ 1044 w 1044"/>
                <a:gd name="txB" fmla="*/ 680 h 680"/>
              </a:gdLst>
              <a:ahLst/>
              <a:cxnLst>
                <a:cxn ang="0">
                  <a:pos x="0" y="0"/>
                </a:cxn>
                <a:cxn ang="0">
                  <a:pos x="214" y="211"/>
                </a:cxn>
                <a:cxn ang="0">
                  <a:pos x="444" y="373"/>
                </a:cxn>
                <a:cxn ang="0">
                  <a:pos x="650" y="484"/>
                </a:cxn>
                <a:cxn ang="0">
                  <a:pos x="887" y="570"/>
                </a:cxn>
                <a:cxn ang="0">
                  <a:pos x="882" y="564"/>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latin typeface="+mn-ea"/>
              </a:endParaRPr>
            </a:p>
          </p:txBody>
        </p:sp>
        <p:sp>
          <p:nvSpPr>
            <p:cNvPr id="18" name="Freeform 31">
              <a:extLst>
                <a:ext uri="{FF2B5EF4-FFF2-40B4-BE49-F238E27FC236}">
                  <a16:creationId xmlns:a16="http://schemas.microsoft.com/office/drawing/2014/main" id="{A6319FF1-20A9-AAA7-BE93-9F6A082C6B70}"/>
                </a:ext>
              </a:extLst>
            </p:cNvPr>
            <p:cNvSpPr/>
            <p:nvPr/>
          </p:nvSpPr>
          <p:spPr>
            <a:xfrm>
              <a:off x="1367" y="2895"/>
              <a:ext cx="1040" cy="283"/>
            </a:xfrm>
            <a:custGeom>
              <a:avLst/>
              <a:gdLst>
                <a:gd name="txL" fmla="*/ 0 w 1175"/>
                <a:gd name="txT" fmla="*/ 0 h 330"/>
                <a:gd name="txR" fmla="*/ 1175 w 1175"/>
                <a:gd name="txB" fmla="*/ 330 h 330"/>
              </a:gdLst>
              <a:ahLst/>
              <a:cxnLst>
                <a:cxn ang="0">
                  <a:pos x="0" y="0"/>
                </a:cxn>
                <a:cxn ang="0">
                  <a:pos x="160" y="75"/>
                </a:cxn>
                <a:cxn ang="0">
                  <a:pos x="419" y="175"/>
                </a:cxn>
                <a:cxn ang="0">
                  <a:pos x="767" y="251"/>
                </a:cxn>
                <a:cxn ang="0">
                  <a:pos x="1040" y="283"/>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latin typeface="+mn-ea"/>
              </a:endParaRPr>
            </a:p>
          </p:txBody>
        </p:sp>
        <p:sp>
          <p:nvSpPr>
            <p:cNvPr id="19" name="Freeform 32">
              <a:extLst>
                <a:ext uri="{FF2B5EF4-FFF2-40B4-BE49-F238E27FC236}">
                  <a16:creationId xmlns:a16="http://schemas.microsoft.com/office/drawing/2014/main" id="{98A4A07D-ACEE-FE84-D8A5-5F4E50358B1B}"/>
                </a:ext>
              </a:extLst>
            </p:cNvPr>
            <p:cNvSpPr/>
            <p:nvPr/>
          </p:nvSpPr>
          <p:spPr>
            <a:xfrm>
              <a:off x="1089" y="2133"/>
              <a:ext cx="288" cy="767"/>
            </a:xfrm>
            <a:custGeom>
              <a:avLst/>
              <a:gdLst>
                <a:gd name="txL" fmla="*/ 0 w 325"/>
                <a:gd name="txT" fmla="*/ 0 h 895"/>
                <a:gd name="txR" fmla="*/ 325 w 325"/>
                <a:gd name="txB" fmla="*/ 895 h 895"/>
              </a:gdLst>
              <a:ahLst/>
              <a:cxnLst>
                <a:cxn ang="0">
                  <a:pos x="0" y="0"/>
                </a:cxn>
                <a:cxn ang="0">
                  <a:pos x="55" y="255"/>
                </a:cxn>
                <a:cxn ang="0">
                  <a:pos x="163" y="560"/>
                </a:cxn>
                <a:cxn ang="0">
                  <a:pos x="288" y="767"/>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latin typeface="+mn-ea"/>
              </a:endParaRPr>
            </a:p>
          </p:txBody>
        </p:sp>
        <p:sp>
          <p:nvSpPr>
            <p:cNvPr id="20" name="Freeform 33">
              <a:extLst>
                <a:ext uri="{FF2B5EF4-FFF2-40B4-BE49-F238E27FC236}">
                  <a16:creationId xmlns:a16="http://schemas.microsoft.com/office/drawing/2014/main" id="{03F9A75A-B92D-1ACF-6474-8AB6ED901563}"/>
                </a:ext>
              </a:extLst>
            </p:cNvPr>
            <p:cNvSpPr/>
            <p:nvPr/>
          </p:nvSpPr>
          <p:spPr>
            <a:xfrm>
              <a:off x="1978" y="2705"/>
              <a:ext cx="429" cy="473"/>
            </a:xfrm>
            <a:custGeom>
              <a:avLst/>
              <a:gdLst>
                <a:gd name="txL" fmla="*/ 0 w 484"/>
                <a:gd name="txT" fmla="*/ 0 h 552"/>
                <a:gd name="txR" fmla="*/ 484 w 484"/>
                <a:gd name="txB" fmla="*/ 552 h 552"/>
              </a:gdLst>
              <a:ahLst/>
              <a:cxnLst>
                <a:cxn ang="0">
                  <a:pos x="0" y="0"/>
                </a:cxn>
                <a:cxn ang="0">
                  <a:pos x="186" y="265"/>
                </a:cxn>
                <a:cxn ang="0">
                  <a:pos x="429" y="473"/>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latin typeface="+mn-ea"/>
              </a:endParaRPr>
            </a:p>
          </p:txBody>
        </p:sp>
        <p:sp>
          <p:nvSpPr>
            <p:cNvPr id="21" name="Text Box 34">
              <a:extLst>
                <a:ext uri="{FF2B5EF4-FFF2-40B4-BE49-F238E27FC236}">
                  <a16:creationId xmlns:a16="http://schemas.microsoft.com/office/drawing/2014/main" id="{2DC39909-072C-56E5-0608-2956F9EACC49}"/>
                </a:ext>
              </a:extLst>
            </p:cNvPr>
            <p:cNvSpPr txBox="1"/>
            <p:nvPr/>
          </p:nvSpPr>
          <p:spPr>
            <a:xfrm>
              <a:off x="1005" y="1912"/>
              <a:ext cx="254"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A</a:t>
              </a:r>
            </a:p>
          </p:txBody>
        </p:sp>
        <p:sp>
          <p:nvSpPr>
            <p:cNvPr id="22" name="Text Box 35">
              <a:extLst>
                <a:ext uri="{FF2B5EF4-FFF2-40B4-BE49-F238E27FC236}">
                  <a16:creationId xmlns:a16="http://schemas.microsoft.com/office/drawing/2014/main" id="{D6A65E46-7676-AAD7-0D7A-2CB692A5FA44}"/>
                </a:ext>
              </a:extLst>
            </p:cNvPr>
            <p:cNvSpPr txBox="1"/>
            <p:nvPr/>
          </p:nvSpPr>
          <p:spPr>
            <a:xfrm>
              <a:off x="1982" y="2488"/>
              <a:ext cx="297"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B</a:t>
              </a:r>
            </a:p>
          </p:txBody>
        </p:sp>
        <p:sp>
          <p:nvSpPr>
            <p:cNvPr id="23" name="Text Box 36">
              <a:extLst>
                <a:ext uri="{FF2B5EF4-FFF2-40B4-BE49-F238E27FC236}">
                  <a16:creationId xmlns:a16="http://schemas.microsoft.com/office/drawing/2014/main" id="{B8E10E3D-6715-B03B-61D7-20A284CB9F68}"/>
                </a:ext>
              </a:extLst>
            </p:cNvPr>
            <p:cNvSpPr txBox="1"/>
            <p:nvPr/>
          </p:nvSpPr>
          <p:spPr>
            <a:xfrm>
              <a:off x="2407" y="2981"/>
              <a:ext cx="255"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C</a:t>
              </a:r>
            </a:p>
          </p:txBody>
        </p:sp>
        <p:sp>
          <p:nvSpPr>
            <p:cNvPr id="24" name="Text Box 37">
              <a:extLst>
                <a:ext uri="{FF2B5EF4-FFF2-40B4-BE49-F238E27FC236}">
                  <a16:creationId xmlns:a16="http://schemas.microsoft.com/office/drawing/2014/main" id="{166E3091-242D-B9BB-2401-2EADEFA853DC}"/>
                </a:ext>
              </a:extLst>
            </p:cNvPr>
            <p:cNvSpPr txBox="1"/>
            <p:nvPr/>
          </p:nvSpPr>
          <p:spPr>
            <a:xfrm>
              <a:off x="1174" y="2858"/>
              <a:ext cx="298" cy="330"/>
            </a:xfrm>
            <a:prstGeom prst="rect">
              <a:avLst/>
            </a:prstGeom>
            <a:noFill/>
            <a:ln w="9525">
              <a:noFill/>
            </a:ln>
          </p:spPr>
          <p:txBody>
            <a:bodyPr>
              <a:spAutoFit/>
            </a:bodyPr>
            <a:lstStyle/>
            <a:p>
              <a:pPr eaLnBrk="1" hangingPunct="1">
                <a:spcBef>
                  <a:spcPct val="50000"/>
                </a:spcBef>
              </a:pPr>
              <a:r>
                <a:rPr lang="en-US" altLang="zh-CN" sz="2800" i="1" dirty="0">
                  <a:solidFill>
                    <a:srgbClr val="1C1C1C"/>
                  </a:solidFill>
                  <a:latin typeface="+mn-ea"/>
                </a:rPr>
                <a:t>D</a:t>
              </a:r>
            </a:p>
          </p:txBody>
        </p:sp>
        <p:sp>
          <p:nvSpPr>
            <p:cNvPr id="25" name="Line 38">
              <a:extLst>
                <a:ext uri="{FF2B5EF4-FFF2-40B4-BE49-F238E27FC236}">
                  <a16:creationId xmlns:a16="http://schemas.microsoft.com/office/drawing/2014/main" id="{BA88E201-89A4-581E-84C7-13963FCE5262}"/>
                </a:ext>
              </a:extLst>
            </p:cNvPr>
            <p:cNvSpPr/>
            <p:nvPr/>
          </p:nvSpPr>
          <p:spPr>
            <a:xfrm flipH="1">
              <a:off x="835" y="2159"/>
              <a:ext cx="254" cy="0"/>
            </a:xfrm>
            <a:prstGeom prst="line">
              <a:avLst/>
            </a:prstGeom>
            <a:ln w="12700" cap="flat" cmpd="sng">
              <a:solidFill>
                <a:srgbClr val="000000"/>
              </a:solidFill>
              <a:prstDash val="dash"/>
              <a:headEnd type="none" w="med" len="med"/>
              <a:tailEnd type="none" w="med" len="med"/>
            </a:ln>
          </p:spPr>
        </p:sp>
        <p:sp>
          <p:nvSpPr>
            <p:cNvPr id="26" name="Line 39">
              <a:extLst>
                <a:ext uri="{FF2B5EF4-FFF2-40B4-BE49-F238E27FC236}">
                  <a16:creationId xmlns:a16="http://schemas.microsoft.com/office/drawing/2014/main" id="{6B971B2B-D341-F0A1-A15A-CF8375BE2B28}"/>
                </a:ext>
              </a:extLst>
            </p:cNvPr>
            <p:cNvSpPr/>
            <p:nvPr/>
          </p:nvSpPr>
          <p:spPr>
            <a:xfrm flipH="1">
              <a:off x="835" y="2694"/>
              <a:ext cx="1147" cy="0"/>
            </a:xfrm>
            <a:prstGeom prst="line">
              <a:avLst/>
            </a:prstGeom>
            <a:ln w="12700" cap="flat" cmpd="sng">
              <a:solidFill>
                <a:srgbClr val="000000"/>
              </a:solidFill>
              <a:prstDash val="dash"/>
              <a:headEnd type="none" w="med" len="med"/>
              <a:tailEnd type="none" w="med" len="med"/>
            </a:ln>
          </p:spPr>
        </p:sp>
        <p:sp>
          <p:nvSpPr>
            <p:cNvPr id="27" name="Line 40">
              <a:extLst>
                <a:ext uri="{FF2B5EF4-FFF2-40B4-BE49-F238E27FC236}">
                  <a16:creationId xmlns:a16="http://schemas.microsoft.com/office/drawing/2014/main" id="{5D748E6E-390F-3C97-AD51-FE0C92A24942}"/>
                </a:ext>
              </a:extLst>
            </p:cNvPr>
            <p:cNvSpPr/>
            <p:nvPr/>
          </p:nvSpPr>
          <p:spPr>
            <a:xfrm flipH="1">
              <a:off x="835" y="3188"/>
              <a:ext cx="1572" cy="0"/>
            </a:xfrm>
            <a:prstGeom prst="line">
              <a:avLst/>
            </a:prstGeom>
            <a:ln w="12700" cap="flat" cmpd="sng">
              <a:solidFill>
                <a:srgbClr val="000000"/>
              </a:solidFill>
              <a:prstDash val="dash"/>
              <a:headEnd type="none" w="med" len="med"/>
              <a:tailEnd type="none" w="med" len="med"/>
            </a:ln>
          </p:spPr>
        </p:sp>
        <p:sp>
          <p:nvSpPr>
            <p:cNvPr id="28" name="Line 41">
              <a:extLst>
                <a:ext uri="{FF2B5EF4-FFF2-40B4-BE49-F238E27FC236}">
                  <a16:creationId xmlns:a16="http://schemas.microsoft.com/office/drawing/2014/main" id="{DBFA59EC-D4E7-3645-20CF-17DD81776491}"/>
                </a:ext>
              </a:extLst>
            </p:cNvPr>
            <p:cNvSpPr/>
            <p:nvPr/>
          </p:nvSpPr>
          <p:spPr>
            <a:xfrm flipH="1">
              <a:off x="835" y="2900"/>
              <a:ext cx="552" cy="0"/>
            </a:xfrm>
            <a:prstGeom prst="line">
              <a:avLst/>
            </a:prstGeom>
            <a:ln w="12700" cap="flat" cmpd="sng">
              <a:solidFill>
                <a:srgbClr val="000000"/>
              </a:solidFill>
              <a:prstDash val="dash"/>
              <a:headEnd type="none" w="med" len="med"/>
              <a:tailEnd type="none" w="med" len="med"/>
            </a:ln>
          </p:spPr>
        </p:sp>
        <p:sp>
          <p:nvSpPr>
            <p:cNvPr id="29" name="Line 42">
              <a:extLst>
                <a:ext uri="{FF2B5EF4-FFF2-40B4-BE49-F238E27FC236}">
                  <a16:creationId xmlns:a16="http://schemas.microsoft.com/office/drawing/2014/main" id="{92681E94-B9C1-FA0F-6670-5276C68C4D7E}"/>
                </a:ext>
              </a:extLst>
            </p:cNvPr>
            <p:cNvSpPr/>
            <p:nvPr/>
          </p:nvSpPr>
          <p:spPr>
            <a:xfrm flipH="1">
              <a:off x="1089" y="2159"/>
              <a:ext cx="0" cy="1317"/>
            </a:xfrm>
            <a:prstGeom prst="line">
              <a:avLst/>
            </a:prstGeom>
            <a:ln w="12700" cap="flat" cmpd="sng">
              <a:solidFill>
                <a:srgbClr val="000000"/>
              </a:solidFill>
              <a:prstDash val="dash"/>
              <a:headEnd type="none" w="med" len="med"/>
              <a:tailEnd type="none" w="med" len="med"/>
            </a:ln>
          </p:spPr>
        </p:sp>
        <p:sp>
          <p:nvSpPr>
            <p:cNvPr id="30" name="Line 43">
              <a:extLst>
                <a:ext uri="{FF2B5EF4-FFF2-40B4-BE49-F238E27FC236}">
                  <a16:creationId xmlns:a16="http://schemas.microsoft.com/office/drawing/2014/main" id="{E5757788-57D9-F152-FEE1-20070115C519}"/>
                </a:ext>
              </a:extLst>
            </p:cNvPr>
            <p:cNvSpPr/>
            <p:nvPr/>
          </p:nvSpPr>
          <p:spPr>
            <a:xfrm flipH="1">
              <a:off x="1982" y="2694"/>
              <a:ext cx="0" cy="782"/>
            </a:xfrm>
            <a:prstGeom prst="line">
              <a:avLst/>
            </a:prstGeom>
            <a:ln w="12700" cap="flat" cmpd="sng">
              <a:solidFill>
                <a:srgbClr val="000000"/>
              </a:solidFill>
              <a:prstDash val="dash"/>
              <a:headEnd type="none" w="med" len="med"/>
              <a:tailEnd type="none" w="med" len="med"/>
            </a:ln>
          </p:spPr>
        </p:sp>
        <p:sp>
          <p:nvSpPr>
            <p:cNvPr id="31" name="Line 44">
              <a:extLst>
                <a:ext uri="{FF2B5EF4-FFF2-40B4-BE49-F238E27FC236}">
                  <a16:creationId xmlns:a16="http://schemas.microsoft.com/office/drawing/2014/main" id="{FDD5F349-98A3-F191-C4C5-3C82B9AD37E2}"/>
                </a:ext>
              </a:extLst>
            </p:cNvPr>
            <p:cNvSpPr/>
            <p:nvPr/>
          </p:nvSpPr>
          <p:spPr>
            <a:xfrm flipH="1">
              <a:off x="1387" y="2900"/>
              <a:ext cx="0" cy="576"/>
            </a:xfrm>
            <a:prstGeom prst="line">
              <a:avLst/>
            </a:prstGeom>
            <a:ln w="12700" cap="flat" cmpd="sng">
              <a:solidFill>
                <a:srgbClr val="000000"/>
              </a:solidFill>
              <a:prstDash val="dash"/>
              <a:headEnd type="none" w="med" len="med"/>
              <a:tailEnd type="none" w="med" len="med"/>
            </a:ln>
          </p:spPr>
        </p:sp>
        <p:sp>
          <p:nvSpPr>
            <p:cNvPr id="32" name="Line 45">
              <a:extLst>
                <a:ext uri="{FF2B5EF4-FFF2-40B4-BE49-F238E27FC236}">
                  <a16:creationId xmlns:a16="http://schemas.microsoft.com/office/drawing/2014/main" id="{2F231C2E-D251-F124-381E-D877F7EE8D5C}"/>
                </a:ext>
              </a:extLst>
            </p:cNvPr>
            <p:cNvSpPr/>
            <p:nvPr/>
          </p:nvSpPr>
          <p:spPr>
            <a:xfrm flipH="1">
              <a:off x="2407" y="3188"/>
              <a:ext cx="0" cy="288"/>
            </a:xfrm>
            <a:prstGeom prst="line">
              <a:avLst/>
            </a:prstGeom>
            <a:ln w="12700" cap="flat" cmpd="sng">
              <a:solidFill>
                <a:srgbClr val="000000"/>
              </a:solidFill>
              <a:prstDash val="dash"/>
              <a:headEnd type="none" w="med" len="med"/>
              <a:tailEnd type="none" w="med" len="med"/>
            </a:ln>
          </p:spPr>
        </p:sp>
        <mc:AlternateContent xmlns:mc="http://schemas.openxmlformats.org/markup-compatibility/2006" xmlns:a14="http://schemas.microsoft.com/office/drawing/2010/main">
          <mc:Choice Requires="a14">
            <p:sp>
              <p:nvSpPr>
                <p:cNvPr id="33" name="Object 46">
                  <a:extLst>
                    <a:ext uri="{FF2B5EF4-FFF2-40B4-BE49-F238E27FC236}">
                      <a16:creationId xmlns:a16="http://schemas.microsoft.com/office/drawing/2014/main" id="{0B247C2F-0A7D-4051-6018-BD22A6C13C03}"/>
                    </a:ext>
                  </a:extLst>
                </p:cNvPr>
                <p:cNvSpPr txBox="1"/>
                <p:nvPr/>
              </p:nvSpPr>
              <p:spPr>
                <a:xfrm>
                  <a:off x="595" y="1994"/>
                  <a:ext cx="234"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47" name="Object 46"/>
                <p:cNvSpPr txBox="1">
                  <a:spLocks noRot="1" noChangeAspect="1" noMove="1" noResize="1" noEditPoints="1" noAdjustHandles="1" noChangeArrowheads="1" noChangeShapeType="1" noTextEdit="1"/>
                </p:cNvSpPr>
                <p:nvPr/>
              </p:nvSpPr>
              <p:spPr>
                <a:xfrm>
                  <a:off x="595" y="1994"/>
                  <a:ext cx="234" cy="271"/>
                </a:xfrm>
                <a:prstGeom prst="rect">
                  <a:avLst/>
                </a:prstGeom>
                <a:blipFill>
                  <a:blip r:embed="rId10"/>
                  <a:stretch>
                    <a:fillRect r="-6557" b="-563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Object 47">
                  <a:extLst>
                    <a:ext uri="{FF2B5EF4-FFF2-40B4-BE49-F238E27FC236}">
                      <a16:creationId xmlns:a16="http://schemas.microsoft.com/office/drawing/2014/main" id="{C888B110-DF1A-BE07-92A6-E9D8BB05BAEF}"/>
                    </a:ext>
                  </a:extLst>
                </p:cNvPr>
                <p:cNvSpPr txBox="1"/>
                <p:nvPr/>
              </p:nvSpPr>
              <p:spPr>
                <a:xfrm>
                  <a:off x="569" y="2488"/>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2</m:t>
                            </m:r>
                          </m:sub>
                        </m:sSub>
                      </m:oMath>
                    </m:oMathPara>
                  </a14:m>
                  <a:endParaRPr lang="zh-CN" altLang="en-US" sz="2800">
                    <a:latin typeface="+mn-ea"/>
                  </a:endParaRPr>
                </a:p>
              </p:txBody>
            </p:sp>
          </mc:Choice>
          <mc:Fallback xmlns="">
            <p:sp>
              <p:nvSpPr>
                <p:cNvPr id="10248" name="Object 47"/>
                <p:cNvSpPr txBox="1">
                  <a:spLocks noRot="1" noChangeAspect="1" noMove="1" noResize="1" noEditPoints="1" noAdjustHandles="1" noChangeArrowheads="1" noChangeShapeType="1" noTextEdit="1"/>
                </p:cNvSpPr>
                <p:nvPr/>
              </p:nvSpPr>
              <p:spPr>
                <a:xfrm>
                  <a:off x="569" y="2488"/>
                  <a:ext cx="257" cy="271"/>
                </a:xfrm>
                <a:prstGeom prst="rect">
                  <a:avLst/>
                </a:prstGeom>
                <a:blipFill>
                  <a:blip r:embed="rId11"/>
                  <a:stretch>
                    <a:fillRect b="-42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Object 48">
                  <a:extLst>
                    <a:ext uri="{FF2B5EF4-FFF2-40B4-BE49-F238E27FC236}">
                      <a16:creationId xmlns:a16="http://schemas.microsoft.com/office/drawing/2014/main" id="{41ED11A5-B4F8-1AA6-0773-A8EB6AB29685}"/>
                    </a:ext>
                  </a:extLst>
                </p:cNvPr>
                <p:cNvSpPr txBox="1"/>
                <p:nvPr/>
              </p:nvSpPr>
              <p:spPr>
                <a:xfrm>
                  <a:off x="569" y="2735"/>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4</m:t>
                            </m:r>
                          </m:sub>
                        </m:sSub>
                      </m:oMath>
                    </m:oMathPara>
                  </a14:m>
                  <a:endParaRPr lang="zh-CN" altLang="en-US" sz="2800">
                    <a:latin typeface="+mn-ea"/>
                  </a:endParaRPr>
                </a:p>
              </p:txBody>
            </p:sp>
          </mc:Choice>
          <mc:Fallback xmlns="">
            <p:sp>
              <p:nvSpPr>
                <p:cNvPr id="10249" name="Object 48"/>
                <p:cNvSpPr txBox="1">
                  <a:spLocks noRot="1" noChangeAspect="1" noMove="1" noResize="1" noEditPoints="1" noAdjustHandles="1" noChangeArrowheads="1" noChangeShapeType="1" noTextEdit="1"/>
                </p:cNvSpPr>
                <p:nvPr/>
              </p:nvSpPr>
              <p:spPr>
                <a:xfrm>
                  <a:off x="569" y="2735"/>
                  <a:ext cx="257" cy="271"/>
                </a:xfrm>
                <a:prstGeom prst="rect">
                  <a:avLst/>
                </a:prstGeom>
                <a:blipFill>
                  <a:blip r:embed="rId12"/>
                  <a:stretch>
                    <a:fillRect b="-563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49">
                  <a:extLst>
                    <a:ext uri="{FF2B5EF4-FFF2-40B4-BE49-F238E27FC236}">
                      <a16:creationId xmlns:a16="http://schemas.microsoft.com/office/drawing/2014/main" id="{B9C37905-5AF7-0263-CF01-E0238804E8F1}"/>
                    </a:ext>
                  </a:extLst>
                </p:cNvPr>
                <p:cNvSpPr txBox="1"/>
                <p:nvPr/>
              </p:nvSpPr>
              <p:spPr>
                <a:xfrm>
                  <a:off x="574" y="3023"/>
                  <a:ext cx="246" cy="2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𝑝</m:t>
                            </m:r>
                          </m:e>
                          <m:sub>
                            <m:r>
                              <a:rPr lang="zh-CN" altLang="en-US" sz="2800" i="1">
                                <a:solidFill>
                                  <a:srgbClr val="000000"/>
                                </a:solidFill>
                                <a:latin typeface="Cambria Math" panose="02040503050406030204" pitchFamily="18" charset="0"/>
                              </a:rPr>
                              <m:t>3</m:t>
                            </m:r>
                          </m:sub>
                        </m:sSub>
                      </m:oMath>
                    </m:oMathPara>
                  </a14:m>
                  <a:endParaRPr lang="zh-CN" altLang="en-US" sz="2800">
                    <a:latin typeface="+mn-ea"/>
                  </a:endParaRPr>
                </a:p>
              </p:txBody>
            </p:sp>
          </mc:Choice>
          <mc:Fallback xmlns="">
            <p:sp>
              <p:nvSpPr>
                <p:cNvPr id="10250" name="Object 49"/>
                <p:cNvSpPr txBox="1">
                  <a:spLocks noRot="1" noChangeAspect="1" noMove="1" noResize="1" noEditPoints="1" noAdjustHandles="1" noChangeArrowheads="1" noChangeShapeType="1" noTextEdit="1"/>
                </p:cNvSpPr>
                <p:nvPr/>
              </p:nvSpPr>
              <p:spPr>
                <a:xfrm>
                  <a:off x="574" y="3023"/>
                  <a:ext cx="246" cy="299"/>
                </a:xfrm>
                <a:prstGeom prst="rect">
                  <a:avLst/>
                </a:prstGeom>
                <a:blipFill>
                  <a:blip r:embed="rId13"/>
                  <a:stretch>
                    <a:fillRect r="-15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50">
                  <a:extLst>
                    <a:ext uri="{FF2B5EF4-FFF2-40B4-BE49-F238E27FC236}">
                      <a16:creationId xmlns:a16="http://schemas.microsoft.com/office/drawing/2014/main" id="{70E5BE65-E2DF-8E65-6248-66AEF2739E7C}"/>
                    </a:ext>
                  </a:extLst>
                </p:cNvPr>
                <p:cNvSpPr txBox="1"/>
                <p:nvPr/>
              </p:nvSpPr>
              <p:spPr>
                <a:xfrm>
                  <a:off x="999" y="3465"/>
                  <a:ext cx="180" cy="24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oMath>
                    </m:oMathPara>
                  </a14:m>
                  <a:endParaRPr lang="zh-CN" altLang="en-US" sz="2800">
                    <a:latin typeface="+mn-ea"/>
                  </a:endParaRPr>
                </a:p>
              </p:txBody>
            </p:sp>
          </mc:Choice>
          <mc:Fallback xmlns="">
            <p:sp>
              <p:nvSpPr>
                <p:cNvPr id="10251" name="Object 50"/>
                <p:cNvSpPr txBox="1">
                  <a:spLocks noRot="1" noChangeAspect="1" noMove="1" noResize="1" noEditPoints="1" noAdjustHandles="1" noChangeArrowheads="1" noChangeShapeType="1" noTextEdit="1"/>
                </p:cNvSpPr>
                <p:nvPr/>
              </p:nvSpPr>
              <p:spPr>
                <a:xfrm>
                  <a:off x="999" y="3465"/>
                  <a:ext cx="180" cy="247"/>
                </a:xfrm>
                <a:prstGeom prst="rect">
                  <a:avLst/>
                </a:prstGeom>
                <a:blipFill>
                  <a:blip r:embed="rId14"/>
                  <a:stretch>
                    <a:fillRect r="-36170" b="-13846"/>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51">
                  <a:extLst>
                    <a:ext uri="{FF2B5EF4-FFF2-40B4-BE49-F238E27FC236}">
                      <a16:creationId xmlns:a16="http://schemas.microsoft.com/office/drawing/2014/main" id="{46F1C8A4-4416-7D25-B789-E6CFFCA96114}"/>
                    </a:ext>
                  </a:extLst>
                </p:cNvPr>
                <p:cNvSpPr txBox="1"/>
                <p:nvPr/>
              </p:nvSpPr>
              <p:spPr>
                <a:xfrm>
                  <a:off x="1292" y="3476"/>
                  <a:ext cx="200"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4</m:t>
                            </m:r>
                          </m:sub>
                        </m:sSub>
                      </m:oMath>
                    </m:oMathPara>
                  </a14:m>
                  <a:endParaRPr lang="zh-CN" altLang="en-US" sz="2800">
                    <a:latin typeface="+mn-ea"/>
                  </a:endParaRPr>
                </a:p>
              </p:txBody>
            </p:sp>
          </mc:Choice>
          <mc:Fallback xmlns="">
            <p:sp>
              <p:nvSpPr>
                <p:cNvPr id="10252" name="Object 51"/>
                <p:cNvSpPr txBox="1">
                  <a:spLocks noRot="1" noChangeAspect="1" noMove="1" noResize="1" noEditPoints="1" noAdjustHandles="1" noChangeArrowheads="1" noChangeShapeType="1" noTextEdit="1"/>
                </p:cNvSpPr>
                <p:nvPr/>
              </p:nvSpPr>
              <p:spPr>
                <a:xfrm>
                  <a:off x="1292" y="3476"/>
                  <a:ext cx="200" cy="246"/>
                </a:xfrm>
                <a:prstGeom prst="rect">
                  <a:avLst/>
                </a:prstGeom>
                <a:blipFill>
                  <a:blip r:embed="rId15"/>
                  <a:stretch>
                    <a:fillRect r="-24528" b="-156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Object 52">
                  <a:extLst>
                    <a:ext uri="{FF2B5EF4-FFF2-40B4-BE49-F238E27FC236}">
                      <a16:creationId xmlns:a16="http://schemas.microsoft.com/office/drawing/2014/main" id="{A6F6F59E-9945-B349-A286-19AB173F496F}"/>
                    </a:ext>
                  </a:extLst>
                </p:cNvPr>
                <p:cNvSpPr txBox="1"/>
                <p:nvPr/>
              </p:nvSpPr>
              <p:spPr>
                <a:xfrm>
                  <a:off x="1887" y="3476"/>
                  <a:ext cx="199"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oMath>
                    </m:oMathPara>
                  </a14:m>
                  <a:endParaRPr lang="zh-CN" altLang="en-US" sz="2800" dirty="0">
                    <a:latin typeface="+mn-ea"/>
                  </a:endParaRPr>
                </a:p>
              </p:txBody>
            </p:sp>
          </mc:Choice>
          <mc:Fallback xmlns="">
            <p:sp>
              <p:nvSpPr>
                <p:cNvPr id="10253" name="Object 52"/>
                <p:cNvSpPr txBox="1">
                  <a:spLocks noRot="1" noChangeAspect="1" noMove="1" noResize="1" noEditPoints="1" noAdjustHandles="1" noChangeArrowheads="1" noChangeShapeType="1" noTextEdit="1"/>
                </p:cNvSpPr>
                <p:nvPr/>
              </p:nvSpPr>
              <p:spPr>
                <a:xfrm>
                  <a:off x="1887" y="3476"/>
                  <a:ext cx="199" cy="246"/>
                </a:xfrm>
                <a:prstGeom prst="rect">
                  <a:avLst/>
                </a:prstGeom>
                <a:blipFill>
                  <a:blip r:embed="rId16"/>
                  <a:stretch>
                    <a:fillRect r="-23077" b="-15625"/>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Object 53">
                  <a:extLst>
                    <a:ext uri="{FF2B5EF4-FFF2-40B4-BE49-F238E27FC236}">
                      <a16:creationId xmlns:a16="http://schemas.microsoft.com/office/drawing/2014/main" id="{8DEC0944-6176-1484-CF53-6859A9EAA74D}"/>
                    </a:ext>
                  </a:extLst>
                </p:cNvPr>
                <p:cNvSpPr txBox="1"/>
                <p:nvPr/>
              </p:nvSpPr>
              <p:spPr>
                <a:xfrm>
                  <a:off x="2335" y="3471"/>
                  <a:ext cx="199"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3</m:t>
                            </m:r>
                          </m:sub>
                        </m:sSub>
                      </m:oMath>
                    </m:oMathPara>
                  </a14:m>
                  <a:endParaRPr lang="zh-CN" altLang="en-US" sz="2800" dirty="0">
                    <a:latin typeface="+mn-ea"/>
                  </a:endParaRPr>
                </a:p>
              </p:txBody>
            </p:sp>
          </mc:Choice>
          <mc:Fallback xmlns="">
            <p:sp>
              <p:nvSpPr>
                <p:cNvPr id="10254" name="Object 53"/>
                <p:cNvSpPr txBox="1">
                  <a:spLocks noRot="1" noChangeAspect="1" noMove="1" noResize="1" noEditPoints="1" noAdjustHandles="1" noChangeArrowheads="1" noChangeShapeType="1" noTextEdit="1"/>
                </p:cNvSpPr>
                <p:nvPr/>
              </p:nvSpPr>
              <p:spPr>
                <a:xfrm>
                  <a:off x="2335" y="3471"/>
                  <a:ext cx="199" cy="256"/>
                </a:xfrm>
                <a:prstGeom prst="rect">
                  <a:avLst/>
                </a:prstGeom>
                <a:blipFill>
                  <a:blip r:embed="rId17"/>
                  <a:stretch>
                    <a:fillRect r="-21154" b="-10448"/>
                  </a:stretch>
                </a:blipFill>
                <a:ln w="38100">
                  <a:noFill/>
                  <a:miter/>
                </a:ln>
              </p:spPr>
              <p:txBody>
                <a:bodyPr/>
                <a:lstStyle/>
                <a:p>
                  <a:r>
                    <a:rPr lang="zh-CN" altLang="en-US">
                      <a:noFill/>
                    </a:rPr>
                    <a:t> </a:t>
                  </a:r>
                </a:p>
              </p:txBody>
            </p:sp>
          </mc:Fallback>
        </mc:AlternateContent>
      </p:grpSp>
      <p:sp>
        <p:nvSpPr>
          <p:cNvPr id="93" name="Text Box 3">
            <a:extLst>
              <a:ext uri="{FF2B5EF4-FFF2-40B4-BE49-F238E27FC236}">
                <a16:creationId xmlns:a16="http://schemas.microsoft.com/office/drawing/2014/main" id="{9FE9B515-AEA1-58EB-42EA-A711D66B64AA}"/>
              </a:ext>
            </a:extLst>
          </p:cNvPr>
          <p:cNvSpPr txBox="1"/>
          <p:nvPr/>
        </p:nvSpPr>
        <p:spPr>
          <a:xfrm>
            <a:off x="4995608" y="1684005"/>
            <a:ext cx="3352800" cy="2462213"/>
          </a:xfrm>
          <a:prstGeom prst="rect">
            <a:avLst/>
          </a:prstGeom>
          <a:noFill/>
          <a:ln w="9525">
            <a:noFill/>
          </a:ln>
        </p:spPr>
        <p:txBody>
          <a:bodyPr>
            <a:spAutoFit/>
          </a:bodyPr>
          <a:lstStyle/>
          <a:p>
            <a:pPr>
              <a:spcBef>
                <a:spcPct val="50000"/>
              </a:spcBef>
            </a:pPr>
            <a:r>
              <a:rPr lang="en-US" altLang="zh-CN" sz="2800" dirty="0">
                <a:latin typeface="Times New Roman" panose="02020603050405020304" pitchFamily="18" charset="0"/>
              </a:rPr>
              <a:t> </a:t>
            </a:r>
            <a:r>
              <a:rPr lang="en-US" altLang="zh-CN" sz="2800" i="1" dirty="0">
                <a:solidFill>
                  <a:srgbClr val="333333"/>
                </a:solidFill>
                <a:latin typeface="Times New Roman" panose="02020603050405020304" pitchFamily="18" charset="0"/>
              </a:rPr>
              <a:t>A — B</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等温膨胀</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B — C</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绝热膨胀</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C — D</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等温压缩</a:t>
            </a:r>
          </a:p>
          <a:p>
            <a:pPr>
              <a:spcBef>
                <a:spcPct val="50000"/>
              </a:spcBef>
            </a:pPr>
            <a:r>
              <a:rPr lang="zh-CN" altLang="en-US" sz="2800" dirty="0">
                <a:solidFill>
                  <a:srgbClr val="333333"/>
                </a:solidFill>
                <a:latin typeface="Times New Roman" panose="02020603050405020304" pitchFamily="18" charset="0"/>
              </a:rPr>
              <a:t> </a:t>
            </a:r>
            <a:r>
              <a:rPr lang="en-US" altLang="zh-CN" sz="2800" i="1" dirty="0">
                <a:solidFill>
                  <a:srgbClr val="333333"/>
                </a:solidFill>
                <a:latin typeface="Times New Roman" panose="02020603050405020304" pitchFamily="18" charset="0"/>
              </a:rPr>
              <a:t>D — A</a:t>
            </a:r>
            <a:r>
              <a:rPr lang="en-US" altLang="zh-CN" sz="2800" dirty="0">
                <a:solidFill>
                  <a:srgbClr val="333333"/>
                </a:solidFill>
                <a:latin typeface="Times New Roman" panose="02020603050405020304" pitchFamily="18" charset="0"/>
              </a:rPr>
              <a:t>  </a:t>
            </a:r>
            <a:r>
              <a:rPr lang="zh-CN" altLang="en-US" sz="2800" dirty="0">
                <a:solidFill>
                  <a:srgbClr val="333333"/>
                </a:solidFill>
                <a:latin typeface="Times New Roman" panose="02020603050405020304" pitchFamily="18" charset="0"/>
              </a:rPr>
              <a:t>绝热压缩</a:t>
            </a:r>
          </a:p>
        </p:txBody>
      </p:sp>
      <p:sp>
        <p:nvSpPr>
          <p:cNvPr id="96" name="文本框 95">
            <a:extLst>
              <a:ext uri="{FF2B5EF4-FFF2-40B4-BE49-F238E27FC236}">
                <a16:creationId xmlns:a16="http://schemas.microsoft.com/office/drawing/2014/main" id="{1ED5F1B9-DBD3-B564-3289-6764F0FA7F4C}"/>
              </a:ext>
            </a:extLst>
          </p:cNvPr>
          <p:cNvSpPr txBox="1"/>
          <p:nvPr/>
        </p:nvSpPr>
        <p:spPr>
          <a:xfrm>
            <a:off x="1401510" y="4992336"/>
            <a:ext cx="9820792" cy="954107"/>
          </a:xfrm>
          <a:prstGeom prst="rect">
            <a:avLst/>
          </a:prstGeom>
          <a:noFill/>
        </p:spPr>
        <p:txBody>
          <a:bodyPr wrap="square">
            <a:spAutoFit/>
          </a:bodyPr>
          <a:lstStyle/>
          <a:p>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卡诺热机效率与工作物质无关，只与两个热源的温度有关，两热源的温差越大，则卡诺循环的效率越高 </a:t>
            </a:r>
            <a:endParaRPr lang="zh-CN" altLang="en-US" sz="2800" dirty="0"/>
          </a:p>
        </p:txBody>
      </p:sp>
      <mc:AlternateContent xmlns:mc="http://schemas.openxmlformats.org/markup-compatibility/2006" xmlns:a14="http://schemas.microsoft.com/office/drawing/2010/main">
        <mc:Choice Requires="a14">
          <p:sp>
            <p:nvSpPr>
              <p:cNvPr id="97" name="Object 10">
                <a:extLst>
                  <a:ext uri="{FF2B5EF4-FFF2-40B4-BE49-F238E27FC236}">
                    <a16:creationId xmlns:a16="http://schemas.microsoft.com/office/drawing/2014/main" id="{61CEA120-A01F-ADA0-583B-5325B529BFD6}"/>
                  </a:ext>
                </a:extLst>
              </p:cNvPr>
              <p:cNvSpPr txBox="1"/>
              <p:nvPr/>
            </p:nvSpPr>
            <p:spPr bwMode="auto">
              <a:xfrm>
                <a:off x="8469566" y="1642731"/>
                <a:ext cx="3663950" cy="10668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𝜂</m:t>
                          </m:r>
                        </m:e>
                        <m:sub>
                          <m:r>
                            <a:rPr lang="zh-CN" altLang="en-US" sz="2800" i="1">
                              <a:solidFill>
                                <a:srgbClr val="000000"/>
                              </a:solidFill>
                              <a:latin typeface="Cambria Math" panose="02040503050406030204" pitchFamily="18" charset="0"/>
                            </a:rPr>
                            <m:t>卡诺</m:t>
                          </m:r>
                        </m:sub>
                      </m:sSub>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97" name="Object 10">
                <a:extLst>
                  <a:ext uri="{FF2B5EF4-FFF2-40B4-BE49-F238E27FC236}">
                    <a16:creationId xmlns:a16="http://schemas.microsoft.com/office/drawing/2014/main" id="{61CEA120-A01F-ADA0-583B-5325B529BFD6}"/>
                  </a:ext>
                </a:extLst>
              </p:cNvPr>
              <p:cNvSpPr txBox="1">
                <a:spLocks noRot="1" noChangeAspect="1" noMove="1" noResize="1" noEditPoints="1" noAdjustHandles="1" noChangeArrowheads="1" noChangeShapeType="1" noTextEdit="1"/>
              </p:cNvSpPr>
              <p:nvPr/>
            </p:nvSpPr>
            <p:spPr bwMode="auto">
              <a:xfrm>
                <a:off x="8469566" y="1642731"/>
                <a:ext cx="3663950" cy="1066800"/>
              </a:xfrm>
              <a:prstGeom prst="rect">
                <a:avLst/>
              </a:prstGeom>
              <a:blipFill>
                <a:blip r:embed="rId1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Object 11">
                <a:extLst>
                  <a:ext uri="{FF2B5EF4-FFF2-40B4-BE49-F238E27FC236}">
                    <a16:creationId xmlns:a16="http://schemas.microsoft.com/office/drawing/2014/main" id="{EADA3389-4C88-974C-8B6C-71FB04458F1E}"/>
                  </a:ext>
                </a:extLst>
              </p:cNvPr>
              <p:cNvSpPr txBox="1"/>
              <p:nvPr/>
            </p:nvSpPr>
            <p:spPr bwMode="auto">
              <a:xfrm>
                <a:off x="8497888" y="3209037"/>
                <a:ext cx="3694112" cy="10668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𝑒</m:t>
                          </m:r>
                        </m:e>
                        <m:sub>
                          <m:r>
                            <a:rPr lang="zh-CN" altLang="en-US" sz="2800" i="1">
                              <a:solidFill>
                                <a:srgbClr val="000000"/>
                              </a:solidFill>
                              <a:latin typeface="Cambria Math" panose="02040503050406030204" pitchFamily="18" charset="0"/>
                            </a:rPr>
                            <m:t>卡诺</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99" name="Object 11">
                <a:extLst>
                  <a:ext uri="{FF2B5EF4-FFF2-40B4-BE49-F238E27FC236}">
                    <a16:creationId xmlns:a16="http://schemas.microsoft.com/office/drawing/2014/main" id="{EADA3389-4C88-974C-8B6C-71FB04458F1E}"/>
                  </a:ext>
                </a:extLst>
              </p:cNvPr>
              <p:cNvSpPr txBox="1">
                <a:spLocks noRot="1" noChangeAspect="1" noMove="1" noResize="1" noEditPoints="1" noAdjustHandles="1" noChangeArrowheads="1" noChangeShapeType="1" noTextEdit="1"/>
              </p:cNvSpPr>
              <p:nvPr/>
            </p:nvSpPr>
            <p:spPr bwMode="auto">
              <a:xfrm>
                <a:off x="8497888" y="3209037"/>
                <a:ext cx="3694112" cy="1066800"/>
              </a:xfrm>
              <a:prstGeom prst="rect">
                <a:avLst/>
              </a:prstGeom>
              <a:blipFill>
                <a:blip r:embed="rId19"/>
                <a:stretch>
                  <a:fillRect/>
                </a:stretch>
              </a:blipFill>
              <a:ln>
                <a:noFill/>
              </a:ln>
              <a:effectLst/>
            </p:spPr>
            <p:txBody>
              <a:bodyPr/>
              <a:lstStyle/>
              <a:p>
                <a:r>
                  <a:rPr lang="zh-CN" altLang="en-US">
                    <a:noFill/>
                  </a:rPr>
                  <a:t> </a:t>
                </a:r>
              </a:p>
            </p:txBody>
          </p:sp>
        </mc:Fallback>
      </mc:AlternateContent>
      <p:sp>
        <p:nvSpPr>
          <p:cNvPr id="100" name="文本框 99">
            <a:extLst>
              <a:ext uri="{FF2B5EF4-FFF2-40B4-BE49-F238E27FC236}">
                <a16:creationId xmlns:a16="http://schemas.microsoft.com/office/drawing/2014/main" id="{F9D114C9-FC02-513E-DC2B-3CE446ABB169}"/>
              </a:ext>
            </a:extLst>
          </p:cNvPr>
          <p:cNvSpPr txBox="1"/>
          <p:nvPr/>
        </p:nvSpPr>
        <p:spPr>
          <a:xfrm>
            <a:off x="1401510" y="6073809"/>
            <a:ext cx="9820792" cy="523220"/>
          </a:xfrm>
          <a:prstGeom prst="rect">
            <a:avLst/>
          </a:prstGeom>
          <a:noFill/>
        </p:spPr>
        <p:txBody>
          <a:bodyPr wrap="square">
            <a:spAutoFit/>
          </a:bodyPr>
          <a:lstStyle/>
          <a:p>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卡诺热机效率最高 </a:t>
            </a:r>
            <a:endParaRPr lang="zh-CN" altLang="en-US" sz="2800" dirty="0"/>
          </a:p>
        </p:txBody>
      </p:sp>
    </p:spTree>
    <p:extLst>
      <p:ext uri="{BB962C8B-B14F-4D97-AF65-F5344CB8AC3E}">
        <p14:creationId xmlns:p14="http://schemas.microsoft.com/office/powerpoint/2010/main" val="40742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6" grpId="0"/>
      <p:bldP spid="97" grpId="0"/>
      <p:bldP spid="99" grpId="0"/>
      <p:bldP spid="10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a:extLst>
              <a:ext uri="{FF2B5EF4-FFF2-40B4-BE49-F238E27FC236}">
                <a16:creationId xmlns:a16="http://schemas.microsoft.com/office/drawing/2014/main" id="{EF93379A-CFE3-9186-B1A7-13D8E97E0213}"/>
              </a:ext>
            </a:extLst>
          </p:cNvPr>
          <p:cNvSpPr txBox="1">
            <a:spLocks noChangeArrowheads="1"/>
          </p:cNvSpPr>
          <p:nvPr/>
        </p:nvSpPr>
        <p:spPr bwMode="auto">
          <a:xfrm>
            <a:off x="1423988" y="424735"/>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solidFill>
                  <a:srgbClr val="0066FF"/>
                </a:solidFill>
                <a:latin typeface="Times New Roman" panose="02020603050405020304" pitchFamily="18" charset="0"/>
              </a:rPr>
              <a:t>- </a:t>
            </a:r>
            <a:r>
              <a:rPr lang="zh-CN" altLang="zh-CN" sz="3200" b="1" dirty="0">
                <a:solidFill>
                  <a:srgbClr val="0066FF"/>
                </a:solidFill>
                <a:latin typeface="Times New Roman" panose="02020603050405020304" pitchFamily="18" charset="0"/>
              </a:rPr>
              <a:t>热力学第二定律     熵</a:t>
            </a:r>
          </a:p>
        </p:txBody>
      </p:sp>
      <p:sp>
        <p:nvSpPr>
          <p:cNvPr id="105475" name="Text Box 3">
            <a:extLst>
              <a:ext uri="{FF2B5EF4-FFF2-40B4-BE49-F238E27FC236}">
                <a16:creationId xmlns:a16="http://schemas.microsoft.com/office/drawing/2014/main" id="{D55481FD-BCEE-5465-2749-9E5FF30A6C8E}"/>
              </a:ext>
            </a:extLst>
          </p:cNvPr>
          <p:cNvSpPr txBox="1">
            <a:spLocks noChangeArrowheads="1"/>
          </p:cNvSpPr>
          <p:nvPr/>
        </p:nvSpPr>
        <p:spPr bwMode="auto">
          <a:xfrm>
            <a:off x="1423988" y="2146801"/>
            <a:ext cx="928914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r>
              <a:rPr lang="zh-CN" altLang="zh-CN" sz="2600" dirty="0"/>
              <a:t>开尔文</a:t>
            </a:r>
            <a:r>
              <a:rPr lang="zh-CN" altLang="en-US" sz="2600" dirty="0"/>
              <a:t>：不能从单一热源吸热对外做功</a:t>
            </a:r>
            <a:endParaRPr lang="en-US" altLang="zh-CN" sz="2600" dirty="0"/>
          </a:p>
          <a:p>
            <a:pPr lvl="1"/>
            <a:endParaRPr lang="en-US" altLang="zh-CN" sz="2600" dirty="0"/>
          </a:p>
          <a:p>
            <a:pPr lvl="1"/>
            <a:r>
              <a:rPr lang="zh-CN" altLang="zh-CN" sz="2600" dirty="0"/>
              <a:t>克劳修斯</a:t>
            </a:r>
            <a:r>
              <a:rPr lang="zh-CN" altLang="en-US" sz="2600" dirty="0"/>
              <a:t>：热量不能自动从低温物体转移到高温物体</a:t>
            </a:r>
            <a:endParaRPr lang="zh-CN" altLang="zh-CN" sz="2600" dirty="0"/>
          </a:p>
        </p:txBody>
      </p:sp>
      <p:sp>
        <p:nvSpPr>
          <p:cNvPr id="105476" name="Text Box 4">
            <a:extLst>
              <a:ext uri="{FF2B5EF4-FFF2-40B4-BE49-F238E27FC236}">
                <a16:creationId xmlns:a16="http://schemas.microsoft.com/office/drawing/2014/main" id="{1DFDB66C-5968-374A-299C-AF5D93FF2F83}"/>
              </a:ext>
            </a:extLst>
          </p:cNvPr>
          <p:cNvSpPr txBox="1">
            <a:spLocks noChangeArrowheads="1"/>
          </p:cNvSpPr>
          <p:nvPr/>
        </p:nvSpPr>
        <p:spPr bwMode="auto">
          <a:xfrm>
            <a:off x="1690914" y="1231425"/>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66FF"/>
                </a:solidFill>
              </a:rPr>
              <a:t>热力学第二定律</a:t>
            </a:r>
            <a:r>
              <a:rPr lang="zh-CN" altLang="en-US" sz="2800" b="1" dirty="0">
                <a:solidFill>
                  <a:srgbClr val="0066FF"/>
                </a:solidFill>
              </a:rPr>
              <a:t>的多种表述及等价性</a:t>
            </a:r>
            <a:r>
              <a:rPr lang="en-US" altLang="zh-CN" sz="2800" b="1" dirty="0">
                <a:solidFill>
                  <a:srgbClr val="0066FF"/>
                </a:solidFill>
              </a:rPr>
              <a:t> </a:t>
            </a:r>
            <a:endParaRPr lang="zh-CN" altLang="zh-CN" sz="2800" b="1" dirty="0">
              <a:solidFill>
                <a:srgbClr val="0066FF"/>
              </a:solidFill>
            </a:endParaRPr>
          </a:p>
        </p:txBody>
      </p:sp>
      <p:sp>
        <p:nvSpPr>
          <p:cNvPr id="5" name="文本框 4">
            <a:extLst>
              <a:ext uri="{FF2B5EF4-FFF2-40B4-BE49-F238E27FC236}">
                <a16:creationId xmlns:a16="http://schemas.microsoft.com/office/drawing/2014/main" id="{225A1B07-3AF9-468F-3E7A-0E3BA1DB5866}"/>
              </a:ext>
            </a:extLst>
          </p:cNvPr>
          <p:cNvSpPr txBox="1"/>
          <p:nvPr/>
        </p:nvSpPr>
        <p:spPr>
          <a:xfrm>
            <a:off x="1921240" y="3936547"/>
            <a:ext cx="9147492" cy="492443"/>
          </a:xfrm>
          <a:prstGeom prst="rect">
            <a:avLst/>
          </a:prstGeom>
          <a:noFill/>
        </p:spPr>
        <p:txBody>
          <a:bodyPr wrap="square" rtlCol="0">
            <a:spAutoFit/>
          </a:bodyPr>
          <a:lstStyle/>
          <a:p>
            <a:r>
              <a:rPr lang="zh-CN" altLang="en-US" sz="2600" dirty="0"/>
              <a:t>一切与热现象有关的实际宏观过程都是不可逆的</a:t>
            </a:r>
          </a:p>
        </p:txBody>
      </p:sp>
      <p:sp>
        <p:nvSpPr>
          <p:cNvPr id="6" name="文本框 5">
            <a:extLst>
              <a:ext uri="{FF2B5EF4-FFF2-40B4-BE49-F238E27FC236}">
                <a16:creationId xmlns:a16="http://schemas.microsoft.com/office/drawing/2014/main" id="{C2D418C9-A422-6584-2C13-9414EB045453}"/>
              </a:ext>
            </a:extLst>
          </p:cNvPr>
          <p:cNvSpPr txBox="1"/>
          <p:nvPr/>
        </p:nvSpPr>
        <p:spPr>
          <a:xfrm>
            <a:off x="1921240" y="4861241"/>
            <a:ext cx="10407819" cy="492443"/>
          </a:xfrm>
          <a:prstGeom prst="rect">
            <a:avLst/>
          </a:prstGeom>
          <a:noFill/>
        </p:spPr>
        <p:txBody>
          <a:bodyPr wrap="square" rtlCol="0">
            <a:spAutoFit/>
          </a:bodyPr>
          <a:lstStyle/>
          <a:p>
            <a:r>
              <a:rPr lang="zh-CN" altLang="en-US" sz="2600" dirty="0"/>
              <a:t>一切自然过程总是沿着分子热运动的无序性（熵）增大的方向进行</a:t>
            </a:r>
          </a:p>
        </p:txBody>
      </p:sp>
    </p:spTree>
    <p:extLst>
      <p:ext uri="{BB962C8B-B14F-4D97-AF65-F5344CB8AC3E}">
        <p14:creationId xmlns:p14="http://schemas.microsoft.com/office/powerpoint/2010/main" val="27790915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54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054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54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4" grpId="1"/>
      <p:bldP spid="105475" grpId="0" autoUpdateAnimBg="0"/>
      <p:bldP spid="105475" grpId="1"/>
      <p:bldP spid="105476" grpId="0" autoUpdateAnimBg="0"/>
      <p:bldP spid="105476" grpId="1"/>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a:extLst>
              <a:ext uri="{FF2B5EF4-FFF2-40B4-BE49-F238E27FC236}">
                <a16:creationId xmlns:a16="http://schemas.microsoft.com/office/drawing/2014/main" id="{EF93379A-CFE3-9186-B1A7-13D8E97E0213}"/>
              </a:ext>
            </a:extLst>
          </p:cNvPr>
          <p:cNvSpPr txBox="1">
            <a:spLocks noChangeArrowheads="1"/>
          </p:cNvSpPr>
          <p:nvPr/>
        </p:nvSpPr>
        <p:spPr bwMode="auto">
          <a:xfrm>
            <a:off x="1423988" y="424735"/>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solidFill>
                  <a:srgbClr val="0066FF"/>
                </a:solidFill>
                <a:latin typeface="Times New Roman" panose="02020603050405020304" pitchFamily="18" charset="0"/>
              </a:rPr>
              <a:t>- </a:t>
            </a:r>
            <a:r>
              <a:rPr lang="zh-CN" altLang="zh-CN" sz="3200" b="1" dirty="0">
                <a:solidFill>
                  <a:srgbClr val="0066FF"/>
                </a:solidFill>
                <a:latin typeface="Times New Roman" panose="02020603050405020304" pitchFamily="18" charset="0"/>
              </a:rPr>
              <a:t>热力学第二定律     熵</a:t>
            </a:r>
          </a:p>
        </p:txBody>
      </p:sp>
      <p:sp>
        <p:nvSpPr>
          <p:cNvPr id="105478" name="Text Box 6">
            <a:extLst>
              <a:ext uri="{FF2B5EF4-FFF2-40B4-BE49-F238E27FC236}">
                <a16:creationId xmlns:a16="http://schemas.microsoft.com/office/drawing/2014/main" id="{0C1E7537-12EC-0EE3-70C1-B76D04A8E4FE}"/>
              </a:ext>
            </a:extLst>
          </p:cNvPr>
          <p:cNvSpPr txBox="1">
            <a:spLocks noChangeArrowheads="1"/>
          </p:cNvSpPr>
          <p:nvPr/>
        </p:nvSpPr>
        <p:spPr bwMode="auto">
          <a:xfrm>
            <a:off x="1909534" y="1496108"/>
            <a:ext cx="3919538" cy="5478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10000"/>
              </a:lnSpc>
            </a:pPr>
            <a:r>
              <a:rPr lang="en-US" altLang="zh-CN" sz="2800" b="1" dirty="0">
                <a:solidFill>
                  <a:srgbClr val="0066FF"/>
                </a:solidFill>
              </a:rPr>
              <a:t>- </a:t>
            </a:r>
            <a:r>
              <a:rPr lang="zh-CN" altLang="zh-CN" sz="2800" b="1" dirty="0">
                <a:solidFill>
                  <a:srgbClr val="0066FF"/>
                </a:solidFill>
              </a:rPr>
              <a:t>熵及熵的计算</a:t>
            </a:r>
          </a:p>
        </p:txBody>
      </p:sp>
      <p:sp>
        <p:nvSpPr>
          <p:cNvPr id="105479" name="Text Box 7">
            <a:extLst>
              <a:ext uri="{FF2B5EF4-FFF2-40B4-BE49-F238E27FC236}">
                <a16:creationId xmlns:a16="http://schemas.microsoft.com/office/drawing/2014/main" id="{E5D852A1-19B6-589F-248A-572809AC381D}"/>
              </a:ext>
            </a:extLst>
          </p:cNvPr>
          <p:cNvSpPr txBox="1">
            <a:spLocks noChangeArrowheads="1"/>
          </p:cNvSpPr>
          <p:nvPr/>
        </p:nvSpPr>
        <p:spPr bwMode="auto">
          <a:xfrm>
            <a:off x="1909534" y="2567612"/>
            <a:ext cx="3048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t>玻尔兹曼熵公式：</a:t>
            </a:r>
          </a:p>
        </p:txBody>
      </p:sp>
      <mc:AlternateContent xmlns:mc="http://schemas.openxmlformats.org/markup-compatibility/2006" xmlns:a14="http://schemas.microsoft.com/office/drawing/2010/main">
        <mc:Choice Requires="a14">
          <p:sp>
            <p:nvSpPr>
              <p:cNvPr id="105480" name="Object 8">
                <a:extLst>
                  <a:ext uri="{FF2B5EF4-FFF2-40B4-BE49-F238E27FC236}">
                    <a16:creationId xmlns:a16="http://schemas.microsoft.com/office/drawing/2014/main" id="{259495D2-85B3-3E81-F36A-2CB23E495A87}"/>
                  </a:ext>
                </a:extLst>
              </p:cNvPr>
              <p:cNvSpPr txBox="1"/>
              <p:nvPr/>
            </p:nvSpPr>
            <p:spPr bwMode="auto">
              <a:xfrm>
                <a:off x="4685846" y="2533311"/>
                <a:ext cx="1952625" cy="481013"/>
              </a:xfrm>
              <a:prstGeom prst="rect">
                <a:avLst/>
              </a:prstGeom>
              <a:noFill/>
              <a:ln w="38100"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𝑆</m:t>
                      </m:r>
                      <m:r>
                        <a:rPr lang="zh-CN" altLang="en-US" sz="2600" b="0" i="1">
                          <a:solidFill>
                            <a:srgbClr val="000000"/>
                          </a:solidFill>
                          <a:latin typeface="Cambria Math" panose="02040503050406030204" pitchFamily="18" charset="0"/>
                        </a:rPr>
                        <m:t>=</m:t>
                      </m:r>
                      <m:r>
                        <a:rPr lang="zh-CN" altLang="en-US" sz="2600" b="0" i="1">
                          <a:solidFill>
                            <a:srgbClr val="000000"/>
                          </a:solidFill>
                          <a:latin typeface="Cambria Math" panose="02040503050406030204" pitchFamily="18" charset="0"/>
                        </a:rPr>
                        <m:t>𝑘</m:t>
                      </m:r>
                      <m:func>
                        <m:funcPr>
                          <m:ctrlPr>
                            <a:rPr lang="zh-CN" altLang="en-US" sz="2600" i="1">
                              <a:solidFill>
                                <a:srgbClr val="000000"/>
                              </a:solidFill>
                              <a:latin typeface="Cambria Math" panose="02040503050406030204" pitchFamily="18" charset="0"/>
                            </a:rPr>
                          </m:ctrlPr>
                        </m:funcPr>
                        <m:fName>
                          <m:r>
                            <m:rPr>
                              <m:sty m:val="p"/>
                            </m:rPr>
                            <a:rPr lang="zh-CN" altLang="en-US" sz="2600" b="0" i="0">
                              <a:solidFill>
                                <a:srgbClr val="000000"/>
                              </a:solidFill>
                              <a:latin typeface="Cambria Math" panose="02040503050406030204" pitchFamily="18" charset="0"/>
                            </a:rPr>
                            <m:t>ln</m:t>
                          </m:r>
                        </m:fName>
                        <m:e>
                          <m:r>
                            <m:rPr>
                              <m:nor/>
                            </m:rPr>
                            <a:rPr kumimoji="1" lang="en-US" altLang="zh-CN" sz="2600" i="1" dirty="0">
                              <a:ea typeface="黑体" panose="02010609060101010101" pitchFamily="49" charset="-122"/>
                              <a:sym typeface="Symbol" panose="05050102010706020507" pitchFamily="18" charset="2"/>
                            </a:rPr>
                            <m:t></m:t>
                          </m:r>
                        </m:e>
                      </m:func>
                    </m:oMath>
                  </m:oMathPara>
                </a14:m>
                <a:endParaRPr lang="zh-CN" altLang="en-US" sz="2600" dirty="0"/>
              </a:p>
            </p:txBody>
          </p:sp>
        </mc:Choice>
        <mc:Fallback xmlns="">
          <p:sp>
            <p:nvSpPr>
              <p:cNvPr id="105480" name="Object 8">
                <a:extLst>
                  <a:ext uri="{FF2B5EF4-FFF2-40B4-BE49-F238E27FC236}">
                    <a16:creationId xmlns:a16="http://schemas.microsoft.com/office/drawing/2014/main" id="{259495D2-85B3-3E81-F36A-2CB23E495A87}"/>
                  </a:ext>
                </a:extLst>
              </p:cNvPr>
              <p:cNvSpPr txBox="1">
                <a:spLocks noRot="1" noChangeAspect="1" noMove="1" noResize="1" noEditPoints="1" noAdjustHandles="1" noChangeArrowheads="1" noChangeShapeType="1" noTextEdit="1"/>
              </p:cNvSpPr>
              <p:nvPr/>
            </p:nvSpPr>
            <p:spPr bwMode="auto">
              <a:xfrm>
                <a:off x="4685846" y="2533311"/>
                <a:ext cx="1952625" cy="481013"/>
              </a:xfrm>
              <a:prstGeom prst="rect">
                <a:avLst/>
              </a:prstGeom>
              <a:blipFill>
                <a:blip r:embed="rId2"/>
                <a:stretch>
                  <a:fillRect/>
                </a:stretch>
              </a:blipFill>
              <a:ln w="38100" cmpd="sng">
                <a:solidFill>
                  <a:schemeClr val="bg1"/>
                </a:solidFill>
                <a:miter lim="800000"/>
                <a:headEnd/>
                <a:tailEnd/>
              </a:ln>
              <a:effectLst/>
            </p:spPr>
            <p:txBody>
              <a:bodyPr/>
              <a:lstStyle/>
              <a:p>
                <a:r>
                  <a:rPr lang="zh-CN" altLang="en-US">
                    <a:noFill/>
                  </a:rPr>
                  <a:t> </a:t>
                </a:r>
              </a:p>
            </p:txBody>
          </p:sp>
        </mc:Fallback>
      </mc:AlternateContent>
      <p:sp>
        <p:nvSpPr>
          <p:cNvPr id="105481" name="Text Box 9">
            <a:extLst>
              <a:ext uri="{FF2B5EF4-FFF2-40B4-BE49-F238E27FC236}">
                <a16:creationId xmlns:a16="http://schemas.microsoft.com/office/drawing/2014/main" id="{B1148069-12B5-9AA9-8F71-3390B31028B9}"/>
              </a:ext>
            </a:extLst>
          </p:cNvPr>
          <p:cNvSpPr txBox="1">
            <a:spLocks noChangeArrowheads="1"/>
          </p:cNvSpPr>
          <p:nvPr/>
        </p:nvSpPr>
        <p:spPr bwMode="auto">
          <a:xfrm>
            <a:off x="2451326" y="3199778"/>
            <a:ext cx="400458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zh-CN" sz="2600" dirty="0">
                <a:solidFill>
                  <a:srgbClr val="000000"/>
                </a:solidFill>
              </a:rPr>
              <a:t>（其中</a:t>
            </a:r>
            <a:r>
              <a:rPr kumimoji="1" lang="en-US" altLang="zh-CN" sz="2600" i="1" dirty="0">
                <a:ea typeface="黑体" panose="02010609060101010101" pitchFamily="49" charset="-122"/>
                <a:sym typeface="Symbol" panose="05050102010706020507" pitchFamily="18" charset="2"/>
              </a:rPr>
              <a:t></a:t>
            </a:r>
            <a:r>
              <a:rPr lang="zh-CN" altLang="zh-CN" sz="2600" dirty="0">
                <a:solidFill>
                  <a:srgbClr val="000000"/>
                </a:solidFill>
              </a:rPr>
              <a:t> 是热力学</a:t>
            </a:r>
            <a:r>
              <a:rPr lang="zh-CN" altLang="en-US" sz="2600" dirty="0">
                <a:solidFill>
                  <a:srgbClr val="000000"/>
                </a:solidFill>
              </a:rPr>
              <a:t>概</a:t>
            </a:r>
            <a:r>
              <a:rPr lang="zh-CN" altLang="zh-CN" sz="2600" dirty="0">
                <a:solidFill>
                  <a:srgbClr val="000000"/>
                </a:solidFill>
              </a:rPr>
              <a:t>率）</a:t>
            </a:r>
          </a:p>
        </p:txBody>
      </p:sp>
      <p:sp>
        <p:nvSpPr>
          <p:cNvPr id="105483" name="Rectangle 11">
            <a:extLst>
              <a:ext uri="{FF2B5EF4-FFF2-40B4-BE49-F238E27FC236}">
                <a16:creationId xmlns:a16="http://schemas.microsoft.com/office/drawing/2014/main" id="{6900975F-5089-BCB1-7743-15284263C1C7}"/>
              </a:ext>
            </a:extLst>
          </p:cNvPr>
          <p:cNvSpPr>
            <a:spLocks noChangeArrowheads="1"/>
          </p:cNvSpPr>
          <p:nvPr/>
        </p:nvSpPr>
        <p:spPr bwMode="auto">
          <a:xfrm>
            <a:off x="1909534" y="4261705"/>
            <a:ext cx="3057247" cy="5478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10000"/>
              </a:lnSpc>
            </a:pPr>
            <a:r>
              <a:rPr lang="zh-CN" altLang="zh-CN" sz="2800" b="1" dirty="0"/>
              <a:t>克劳修斯熵公式：</a:t>
            </a:r>
          </a:p>
        </p:txBody>
      </p:sp>
      <mc:AlternateContent xmlns:mc="http://schemas.openxmlformats.org/markup-compatibility/2006" xmlns:a14="http://schemas.microsoft.com/office/drawing/2010/main">
        <mc:Choice Requires="a14">
          <p:sp>
            <p:nvSpPr>
              <p:cNvPr id="105484" name="Object 12">
                <a:extLst>
                  <a:ext uri="{FF2B5EF4-FFF2-40B4-BE49-F238E27FC236}">
                    <a16:creationId xmlns:a16="http://schemas.microsoft.com/office/drawing/2014/main" id="{DB737BC8-5F29-D68B-778E-29456E0208A5}"/>
                  </a:ext>
                </a:extLst>
              </p:cNvPr>
              <p:cNvSpPr txBox="1"/>
              <p:nvPr/>
            </p:nvSpPr>
            <p:spPr bwMode="auto">
              <a:xfrm>
                <a:off x="4972224" y="3966909"/>
                <a:ext cx="5256212" cy="849312"/>
              </a:xfrm>
              <a:prstGeom prst="rect">
                <a:avLst/>
              </a:prstGeom>
              <a:noFill/>
              <a:ln w="38100"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𝑑𝑄</m:t>
                              </m:r>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105484" name="Object 12">
                <a:extLst>
                  <a:ext uri="{FF2B5EF4-FFF2-40B4-BE49-F238E27FC236}">
                    <a16:creationId xmlns:a16="http://schemas.microsoft.com/office/drawing/2014/main" id="{DB737BC8-5F29-D68B-778E-29456E0208A5}"/>
                  </a:ext>
                </a:extLst>
              </p:cNvPr>
              <p:cNvSpPr txBox="1">
                <a:spLocks noRot="1" noChangeAspect="1" noMove="1" noResize="1" noEditPoints="1" noAdjustHandles="1" noChangeArrowheads="1" noChangeShapeType="1" noTextEdit="1"/>
              </p:cNvSpPr>
              <p:nvPr/>
            </p:nvSpPr>
            <p:spPr bwMode="auto">
              <a:xfrm>
                <a:off x="4972224" y="3966909"/>
                <a:ext cx="5256212" cy="849312"/>
              </a:xfrm>
              <a:prstGeom prst="rect">
                <a:avLst/>
              </a:prstGeom>
              <a:blipFill>
                <a:blip r:embed="rId3"/>
                <a:stretch>
                  <a:fillRect b="-15862"/>
                </a:stretch>
              </a:blipFill>
              <a:ln w="38100" cmpd="sng">
                <a:solidFill>
                  <a:schemeClr val="bg1"/>
                </a:solidFill>
                <a:miter lim="800000"/>
                <a:headEnd/>
                <a:tailEnd/>
              </a:ln>
              <a:effectLst/>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53865B9E-1A96-EBF5-B9AC-4FA30D305745}"/>
              </a:ext>
            </a:extLst>
          </p:cNvPr>
          <p:cNvSpPr txBox="1"/>
          <p:nvPr/>
        </p:nvSpPr>
        <p:spPr>
          <a:xfrm>
            <a:off x="4741242" y="5228156"/>
            <a:ext cx="6449271" cy="523220"/>
          </a:xfrm>
          <a:prstGeom prst="rect">
            <a:avLst/>
          </a:prstGeom>
          <a:noFill/>
        </p:spPr>
        <p:txBody>
          <a:bodyPr wrap="square" rtlCol="0">
            <a:spAutoFit/>
          </a:bodyPr>
          <a:lstStyle/>
          <a:p>
            <a:r>
              <a:rPr lang="zh-CN" altLang="en-US" sz="2800" dirty="0"/>
              <a:t>设计可逆过程，计算熵变</a:t>
            </a:r>
          </a:p>
        </p:txBody>
      </p:sp>
      <p:sp>
        <p:nvSpPr>
          <p:cNvPr id="4" name="Text Box 50">
            <a:extLst>
              <a:ext uri="{FF2B5EF4-FFF2-40B4-BE49-F238E27FC236}">
                <a16:creationId xmlns:a16="http://schemas.microsoft.com/office/drawing/2014/main" id="{792DDEEE-EDBD-20C6-F6E4-E9BEE14B5D47}"/>
              </a:ext>
            </a:extLst>
          </p:cNvPr>
          <p:cNvSpPr txBox="1">
            <a:spLocks noChangeArrowheads="1"/>
          </p:cNvSpPr>
          <p:nvPr/>
        </p:nvSpPr>
        <p:spPr bwMode="auto">
          <a:xfrm>
            <a:off x="6660470" y="2566177"/>
            <a:ext cx="5508625" cy="9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zh-CN" altLang="en-US" sz="2600" b="0" dirty="0">
                <a:latin typeface="楷体" panose="02010609060101010101" pitchFamily="49" charset="-122"/>
                <a:ea typeface="楷体" panose="02010609060101010101" pitchFamily="49" charset="-122"/>
              </a:rPr>
              <a:t>对应于微观状态数最多的宏观状态就是系统在一定宏观条件下的平衡态。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54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054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547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4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0548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1054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548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4" grpId="1"/>
      <p:bldP spid="105478" grpId="0" autoUpdateAnimBg="0"/>
      <p:bldP spid="105478" grpId="1"/>
      <p:bldP spid="105479" grpId="0" autoUpdateAnimBg="0"/>
      <p:bldP spid="105479" grpId="1"/>
      <p:bldP spid="105480" grpId="0" animBg="1"/>
      <p:bldP spid="105481" grpId="0" autoUpdateAnimBg="0"/>
      <p:bldP spid="105483" grpId="0" autoUpdateAnimBg="0"/>
      <p:bldP spid="105483" grpId="1"/>
      <p:bldP spid="105484" grpId="0" animBg="1"/>
      <p:bldP spid="3" grpId="0"/>
      <p:bldP spid="4" grpId="0"/>
      <p:bldP spid="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6524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12</a:t>
            </a: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章 静电场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 Electrostatic  field</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1756229" y="1467533"/>
            <a:ext cx="3962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12.1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电荷</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1756229" y="2762933"/>
            <a:ext cx="411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12.3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电场 电场强度</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1746705" y="3412219"/>
            <a:ext cx="53126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12.4</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  点电荷电场及叠加原理</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1756229" y="4131358"/>
            <a:ext cx="7206342" cy="206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电场线和电通量</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高斯定理</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12.7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利用高斯定理求静电场的分布</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1756230" y="2115233"/>
            <a:ext cx="30972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12.2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库仑定律</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prstClr val="white"/>
              </a:solidFill>
              <a:latin typeface="Arial" panose="020B0604020202020204" pitchFamily="34" charset="0"/>
              <a:ea typeface="华文楷体" panose="02010600040101010101" pitchFamily="2" charset="-122"/>
              <a:cs typeface="Arial" panose="020B0604020202020204" pitchFamily="34" charset="0"/>
            </a:endParaRPr>
          </a:p>
        </p:txBody>
      </p:sp>
      <p:pic>
        <p:nvPicPr>
          <p:cNvPr id="2" name="Picture 2">
            <a:extLst>
              <a:ext uri="{FF2B5EF4-FFF2-40B4-BE49-F238E27FC236}">
                <a16:creationId xmlns:a16="http://schemas.microsoft.com/office/drawing/2014/main" id="{CAA48BD2-257E-17F5-2DD6-9A2FC459B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8119" y="1928495"/>
            <a:ext cx="4808365" cy="296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4182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2" grpId="0"/>
      <p:bldP spid="4114" grpId="0"/>
      <p:bldP spid="4115" grpId="0"/>
      <p:bldP spid="4116"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C13AD66-C380-4D09-BBDF-2685920B8BBF}"/>
              </a:ext>
            </a:extLst>
          </p:cNvPr>
          <p:cNvSpPr/>
          <p:nvPr/>
        </p:nvSpPr>
        <p:spPr>
          <a:xfrm>
            <a:off x="2065773" y="1443134"/>
            <a:ext cx="1005403" cy="539058"/>
          </a:xfrm>
          <a:prstGeom prst="rect">
            <a:avLst/>
          </a:prstGeom>
        </p:spPr>
        <p:txBody>
          <a:bodyPr wrap="none">
            <a:spAutoFit/>
          </a:bodyPr>
          <a:lstStyle/>
          <a:p>
            <a:pPr lvl="0" defTabSz="1200150">
              <a:lnSpc>
                <a:spcPct val="90000"/>
              </a:lnSpc>
              <a:spcBef>
                <a:spcPct val="0"/>
              </a:spcBef>
              <a:spcAft>
                <a:spcPct val="35000"/>
              </a:spcAft>
            </a:pPr>
            <a:r>
              <a:rPr lang="zh-CN" altLang="en-US" sz="3200" dirty="0">
                <a:latin typeface="华文楷体" panose="02010600040101010101" pitchFamily="2" charset="-122"/>
                <a:ea typeface="华文楷体" panose="02010600040101010101" pitchFamily="2" charset="-122"/>
              </a:rPr>
              <a:t>雷电</a:t>
            </a:r>
          </a:p>
        </p:txBody>
      </p:sp>
      <p:pic>
        <p:nvPicPr>
          <p:cNvPr id="50178" name="Picture 2" descr="微软Windows7雷电主题携你亲历骇人雷电- Win7之家">
            <a:extLst>
              <a:ext uri="{FF2B5EF4-FFF2-40B4-BE49-F238E27FC236}">
                <a16:creationId xmlns:a16="http://schemas.microsoft.com/office/drawing/2014/main" id="{C01A08ED-025C-478E-B916-458FF2984F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862"/>
          <a:stretch/>
        </p:blipFill>
        <p:spPr bwMode="auto">
          <a:xfrm>
            <a:off x="1135517" y="3469239"/>
            <a:ext cx="2921410" cy="2767692"/>
          </a:xfrm>
          <a:prstGeom prst="rect">
            <a:avLst/>
          </a:prstGeom>
          <a:noFill/>
          <a:extLst>
            <a:ext uri="{909E8E84-426E-40DD-AFC4-6F175D3DCCD1}">
              <a14:hiddenFill xmlns:a14="http://schemas.microsoft.com/office/drawing/2010/main">
                <a:solidFill>
                  <a:srgbClr val="FFFFFF"/>
                </a:solidFill>
              </a14:hiddenFill>
            </a:ext>
          </a:extLst>
        </p:spPr>
      </p:pic>
      <p:pic>
        <p:nvPicPr>
          <p:cNvPr id="50180" name="Picture 4" descr="http://qiyuan.chaziwang.com/pic/ziyuanimg/E794B5.png">
            <a:extLst>
              <a:ext uri="{FF2B5EF4-FFF2-40B4-BE49-F238E27FC236}">
                <a16:creationId xmlns:a16="http://schemas.microsoft.com/office/drawing/2014/main" id="{9FF20FE7-BB8D-4F82-BAB0-17B0BBD2CD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695" t="9561" r="502" b="54002"/>
          <a:stretch/>
        </p:blipFill>
        <p:spPr bwMode="auto">
          <a:xfrm>
            <a:off x="1094695" y="2084772"/>
            <a:ext cx="3384097" cy="1179306"/>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2FEE2D13-126C-4181-9975-06BEE8EBDCAA}"/>
              </a:ext>
            </a:extLst>
          </p:cNvPr>
          <p:cNvSpPr/>
          <p:nvPr/>
        </p:nvSpPr>
        <p:spPr>
          <a:xfrm>
            <a:off x="7294685" y="1374368"/>
            <a:ext cx="1826141" cy="539058"/>
          </a:xfrm>
          <a:prstGeom prst="rect">
            <a:avLst/>
          </a:prstGeom>
        </p:spPr>
        <p:txBody>
          <a:bodyPr wrap="none">
            <a:spAutoFit/>
          </a:bodyPr>
          <a:lstStyle/>
          <a:p>
            <a:pPr lvl="0" defTabSz="1200150">
              <a:lnSpc>
                <a:spcPct val="90000"/>
              </a:lnSpc>
              <a:spcBef>
                <a:spcPct val="0"/>
              </a:spcBef>
              <a:spcAft>
                <a:spcPct val="35000"/>
              </a:spcAft>
            </a:pPr>
            <a:r>
              <a:rPr lang="zh-CN" altLang="en-US" sz="3200" dirty="0">
                <a:latin typeface="华文楷体" panose="02010600040101010101" pitchFamily="2" charset="-122"/>
                <a:ea typeface="华文楷体" panose="02010600040101010101" pitchFamily="2" charset="-122"/>
              </a:rPr>
              <a:t>摩擦起电</a:t>
            </a:r>
          </a:p>
        </p:txBody>
      </p:sp>
      <p:pic>
        <p:nvPicPr>
          <p:cNvPr id="84994" name="Picture 2" descr="在寒冷的冬天，無論是開門、開窗戶、開水龍頭，甚至換衣服和跟人握手時，都很容易產生靜電，除了會聽到劈啪作響的靜電聲，還會感到電擊似的刺痛。">
            <a:extLst>
              <a:ext uri="{FF2B5EF4-FFF2-40B4-BE49-F238E27FC236}">
                <a16:creationId xmlns:a16="http://schemas.microsoft.com/office/drawing/2014/main" id="{EF86323C-A747-4823-BC10-0B21B8CC2C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4790" y="2383762"/>
            <a:ext cx="6256320" cy="326639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2F48A70F-13E9-44DC-A7D2-4122CA771D81}"/>
              </a:ext>
            </a:extLst>
          </p:cNvPr>
          <p:cNvSpPr txBox="1"/>
          <p:nvPr/>
        </p:nvSpPr>
        <p:spPr>
          <a:xfrm>
            <a:off x="6679618" y="6129842"/>
            <a:ext cx="3388658" cy="584775"/>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电究竟是什么？</a:t>
            </a:r>
            <a:endParaRPr lang="en-US" sz="3200" dirty="0">
              <a:latin typeface="华文楷体" panose="02010600040101010101" pitchFamily="2" charset="-122"/>
              <a:ea typeface="华文楷体" panose="02010600040101010101" pitchFamily="2" charset="-122"/>
            </a:endParaRPr>
          </a:p>
        </p:txBody>
      </p:sp>
      <p:sp>
        <p:nvSpPr>
          <p:cNvPr id="3" name="Rectangle 3">
            <a:extLst>
              <a:ext uri="{FF2B5EF4-FFF2-40B4-BE49-F238E27FC236}">
                <a16:creationId xmlns:a16="http://schemas.microsoft.com/office/drawing/2014/main" id="{E8B59994-8B39-CA13-45F3-C3ADEB35D280}"/>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 电现象</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9809689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1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9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050" descr="flank">
            <a:extLst>
              <a:ext uri="{FF2B5EF4-FFF2-40B4-BE49-F238E27FC236}">
                <a16:creationId xmlns:a16="http://schemas.microsoft.com/office/drawing/2014/main" id="{4058235C-8576-4B58-9FEA-30B8104A2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363" y="1026591"/>
            <a:ext cx="3425207" cy="4748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26" descr="cloud">
            <a:extLst>
              <a:ext uri="{FF2B5EF4-FFF2-40B4-BE49-F238E27FC236}">
                <a16:creationId xmlns:a16="http://schemas.microsoft.com/office/drawing/2014/main" id="{DB5EC2FB-0CF6-42A3-A095-167CAD0F1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506" y="1356475"/>
            <a:ext cx="4650588" cy="3672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0A91BFE-99EB-4221-8693-3BB8BE2507CC}"/>
              </a:ext>
            </a:extLst>
          </p:cNvPr>
          <p:cNvSpPr/>
          <p:nvPr/>
        </p:nvSpPr>
        <p:spPr>
          <a:xfrm>
            <a:off x="3927132" y="5720213"/>
            <a:ext cx="4448654" cy="523220"/>
          </a:xfrm>
          <a:prstGeom prst="rect">
            <a:avLst/>
          </a:prstGeom>
          <a:ln>
            <a:solidFill>
              <a:schemeClr val="tx1"/>
            </a:solidFill>
          </a:ln>
        </p:spPr>
        <p:txBody>
          <a:bodyPr wrap="none">
            <a:spAutoFit/>
          </a:bodyPr>
          <a:lstStyle/>
          <a:p>
            <a:r>
              <a:rPr lang="en-US" altLang="zh-CN" sz="2800" dirty="0">
                <a:latin typeface="华文楷体" panose="02010600040101010101" pitchFamily="2" charset="-122"/>
                <a:ea typeface="华文楷体" panose="02010600040101010101" pitchFamily="2" charset="-122"/>
              </a:rPr>
              <a:t>1753</a:t>
            </a:r>
            <a:r>
              <a:rPr lang="zh-CN" altLang="en-US" sz="2800" dirty="0">
                <a:latin typeface="华文楷体" panose="02010600040101010101" pitchFamily="2" charset="-122"/>
                <a:ea typeface="华文楷体" panose="02010600040101010101" pitchFamily="2" charset="-122"/>
              </a:rPr>
              <a:t>年，俄国科学家利赫曼</a:t>
            </a:r>
            <a:endParaRPr lang="en-US" sz="2800" dirty="0">
              <a:latin typeface="华文楷体" panose="02010600040101010101" pitchFamily="2" charset="-122"/>
              <a:ea typeface="华文楷体" panose="02010600040101010101" pitchFamily="2" charset="-122"/>
            </a:endParaRPr>
          </a:p>
        </p:txBody>
      </p:sp>
      <p:sp>
        <p:nvSpPr>
          <p:cNvPr id="5" name="矩形 4">
            <a:extLst>
              <a:ext uri="{FF2B5EF4-FFF2-40B4-BE49-F238E27FC236}">
                <a16:creationId xmlns:a16="http://schemas.microsoft.com/office/drawing/2014/main" id="{B27F3E39-7C51-475D-9527-D3107D174AFE}"/>
              </a:ext>
            </a:extLst>
          </p:cNvPr>
          <p:cNvSpPr/>
          <p:nvPr/>
        </p:nvSpPr>
        <p:spPr>
          <a:xfrm>
            <a:off x="864413" y="5767890"/>
            <a:ext cx="2832827" cy="523220"/>
          </a:xfrm>
          <a:prstGeom prst="rect">
            <a:avLst/>
          </a:prstGeom>
        </p:spPr>
        <p:txBody>
          <a:bodyPr wrap="none">
            <a:spAutoFit/>
          </a:bodyPr>
          <a:lstStyle/>
          <a:p>
            <a:r>
              <a:rPr lang="en-US" altLang="zh-CN" sz="2800" dirty="0">
                <a:latin typeface="华文楷体" panose="02010600040101010101" pitchFamily="2" charset="-122"/>
                <a:ea typeface="华文楷体" panose="02010600040101010101" pitchFamily="2" charset="-122"/>
              </a:rPr>
              <a:t>1752 </a:t>
            </a:r>
            <a:r>
              <a:rPr lang="zh-CN" altLang="en-US" sz="2800" dirty="0">
                <a:latin typeface="华文楷体" panose="02010600040101010101" pitchFamily="2" charset="-122"/>
                <a:ea typeface="华文楷体" panose="02010600040101010101" pitchFamily="2" charset="-122"/>
              </a:rPr>
              <a:t>年 富兰克林</a:t>
            </a:r>
            <a:endParaRPr lang="en-US" altLang="zh-CN" sz="2800" dirty="0">
              <a:latin typeface="华文楷体" panose="02010600040101010101" pitchFamily="2" charset="-122"/>
              <a:ea typeface="华文楷体" panose="02010600040101010101" pitchFamily="2" charset="-122"/>
            </a:endParaRPr>
          </a:p>
        </p:txBody>
      </p:sp>
      <p:pic>
        <p:nvPicPr>
          <p:cNvPr id="87042" name="Picture 2" descr="图片">
            <a:extLst>
              <a:ext uri="{FF2B5EF4-FFF2-40B4-BE49-F238E27FC236}">
                <a16:creationId xmlns:a16="http://schemas.microsoft.com/office/drawing/2014/main" id="{B1F17880-6AAB-43DC-8249-8EDE3CCD701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297" t="1854" r="4297" b="-1854"/>
          <a:stretch/>
        </p:blipFill>
        <p:spPr bwMode="auto">
          <a:xfrm>
            <a:off x="8383208" y="723583"/>
            <a:ext cx="3562501" cy="535490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2C89C77A-D8FE-4019-9F3B-D4ACA5096FF3}"/>
              </a:ext>
            </a:extLst>
          </p:cNvPr>
          <p:cNvSpPr txBox="1"/>
          <p:nvPr/>
        </p:nvSpPr>
        <p:spPr>
          <a:xfrm>
            <a:off x="9692805" y="6039400"/>
            <a:ext cx="1336430"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避雷针</a:t>
            </a:r>
            <a:endParaRPr lang="en-US" altLang="zh-CN" sz="2800" dirty="0">
              <a:latin typeface="华文楷体" panose="02010600040101010101" pitchFamily="2" charset="-122"/>
              <a:ea typeface="华文楷体" panose="02010600040101010101" pitchFamily="2" charset="-122"/>
            </a:endParaRPr>
          </a:p>
        </p:txBody>
      </p:sp>
      <p:sp>
        <p:nvSpPr>
          <p:cNvPr id="2" name="Rectangle 3">
            <a:extLst>
              <a:ext uri="{FF2B5EF4-FFF2-40B4-BE49-F238E27FC236}">
                <a16:creationId xmlns:a16="http://schemas.microsoft.com/office/drawing/2014/main" id="{82482415-9522-9A92-43C8-8A34D73F49E3}"/>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 电现象</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97288DAB-53AA-5A0D-E100-1960FC1597A0}"/>
              </a:ext>
            </a:extLst>
          </p:cNvPr>
          <p:cNvSpPr txBox="1"/>
          <p:nvPr/>
        </p:nvSpPr>
        <p:spPr>
          <a:xfrm>
            <a:off x="4992029" y="6243433"/>
            <a:ext cx="2555400" cy="523220"/>
          </a:xfrm>
          <a:prstGeom prst="rect">
            <a:avLst/>
          </a:prstGeom>
          <a:noFill/>
        </p:spPr>
        <p:txBody>
          <a:bodyPr wrap="square">
            <a:spAutoFit/>
          </a:bodyPr>
          <a:lstStyle/>
          <a:p>
            <a:r>
              <a:rPr lang="zh-CN" altLang="en-US" sz="2800" i="0" dirty="0">
                <a:effectLst/>
                <a:latin typeface="Helvetica Neue"/>
              </a:rPr>
              <a:t>雷电利用计划</a:t>
            </a:r>
            <a:endParaRPr lang="zh-CN" altLang="en-US" sz="2800" dirty="0"/>
          </a:p>
        </p:txBody>
      </p:sp>
      <p:sp>
        <p:nvSpPr>
          <p:cNvPr id="10" name="矩形 9">
            <a:extLst>
              <a:ext uri="{FF2B5EF4-FFF2-40B4-BE49-F238E27FC236}">
                <a16:creationId xmlns:a16="http://schemas.microsoft.com/office/drawing/2014/main" id="{F7AAC235-638A-B02E-616A-4D6C25FA6991}"/>
              </a:ext>
            </a:extLst>
          </p:cNvPr>
          <p:cNvSpPr/>
          <p:nvPr/>
        </p:nvSpPr>
        <p:spPr>
          <a:xfrm>
            <a:off x="1009628" y="6291110"/>
            <a:ext cx="2428870"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正电荷 负电荷</a:t>
            </a:r>
            <a:endParaRPr lang="en-US" altLang="zh-CN"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2373277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70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A9D9BCC2-3106-466C-A3D4-B70C9931D936}"/>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电荷量子化 </a:t>
            </a:r>
            <a:endParaRPr lang="en-US" altLang="zh-CN" sz="3200" b="1" dirty="0">
              <a:solidFill>
                <a:srgbClr val="0066FF"/>
              </a:solidFill>
              <a:ea typeface="华文楷体" panose="02010600040101010101" pitchFamily="2" charset="-122"/>
              <a:cs typeface="Times New Roman" panose="02020603050405020304" pitchFamily="18" charset="0"/>
            </a:endParaRPr>
          </a:p>
        </p:txBody>
      </p:sp>
      <p:sp>
        <p:nvSpPr>
          <p:cNvPr id="3" name="Rectangle 3">
            <a:extLst>
              <a:ext uri="{FF2B5EF4-FFF2-40B4-BE49-F238E27FC236}">
                <a16:creationId xmlns:a16="http://schemas.microsoft.com/office/drawing/2014/main" id="{1BDB7BE9-A06A-09A4-0B88-B1E358DB09BB}"/>
              </a:ext>
            </a:extLst>
          </p:cNvPr>
          <p:cNvSpPr>
            <a:spLocks noChangeArrowheads="1"/>
          </p:cNvSpPr>
          <p:nvPr/>
        </p:nvSpPr>
        <p:spPr bwMode="auto">
          <a:xfrm>
            <a:off x="894896" y="1758250"/>
            <a:ext cx="11180990" cy="3324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solidFill>
                  <a:schemeClr val="tx1"/>
                </a:solidFill>
                <a:ea typeface="华文楷体" panose="02010600040101010101" pitchFamily="2" charset="-122"/>
                <a:cs typeface="Times New Roman" panose="02020603050405020304" pitchFamily="18" charset="0"/>
              </a:rPr>
              <a:t>-   </a:t>
            </a:r>
            <a:r>
              <a:rPr lang="zh-CN" altLang="en-US" sz="2800" dirty="0">
                <a:solidFill>
                  <a:schemeClr val="tx1"/>
                </a:solidFill>
                <a:ea typeface="华文楷体" panose="02010600040101010101" pitchFamily="2" charset="-122"/>
                <a:cs typeface="Times New Roman" panose="02020603050405020304" pitchFamily="18" charset="0"/>
              </a:rPr>
              <a:t>法拉第</a:t>
            </a:r>
            <a:r>
              <a:rPr lang="en-US" altLang="zh-CN" sz="2800" dirty="0">
                <a:solidFill>
                  <a:schemeClr val="tx1"/>
                </a:solidFill>
                <a:ea typeface="华文楷体" panose="02010600040101010101" pitchFamily="2" charset="-122"/>
                <a:cs typeface="Times New Roman" panose="02020603050405020304" pitchFamily="18" charset="0"/>
              </a:rPr>
              <a:t>(Faraday)</a:t>
            </a:r>
            <a:r>
              <a:rPr lang="zh-CN" altLang="en-US" sz="2800" dirty="0">
                <a:solidFill>
                  <a:schemeClr val="tx1"/>
                </a:solidFill>
                <a:ea typeface="华文楷体" panose="02010600040101010101" pitchFamily="2" charset="-122"/>
                <a:cs typeface="Times New Roman" panose="02020603050405020304" pitchFamily="18" charset="0"/>
              </a:rPr>
              <a:t>、阿雷尼乌斯</a:t>
            </a:r>
            <a:r>
              <a:rPr lang="en-US" altLang="zh-CN" sz="2800" dirty="0">
                <a:solidFill>
                  <a:schemeClr val="tx1"/>
                </a:solidFill>
                <a:ea typeface="华文楷体" panose="02010600040101010101" pitchFamily="2" charset="-122"/>
                <a:cs typeface="Times New Roman" panose="02020603050405020304" pitchFamily="18" charset="0"/>
              </a:rPr>
              <a:t>(Arrhenius)</a:t>
            </a:r>
            <a:r>
              <a:rPr lang="zh-CN" altLang="en-US" sz="2800" dirty="0">
                <a:solidFill>
                  <a:schemeClr val="tx1"/>
                </a:solidFill>
                <a:ea typeface="华文楷体" panose="02010600040101010101" pitchFamily="2" charset="-122"/>
                <a:cs typeface="Times New Roman" panose="02020603050405020304" pitchFamily="18" charset="0"/>
              </a:rPr>
              <a:t>： </a:t>
            </a:r>
            <a:br>
              <a:rPr lang="en-US" altLang="zh-CN" sz="2800" dirty="0">
                <a:solidFill>
                  <a:schemeClr val="tx1"/>
                </a:solidFill>
                <a:ea typeface="华文楷体" panose="02010600040101010101" pitchFamily="2" charset="-122"/>
                <a:cs typeface="Times New Roman" panose="02020603050405020304" pitchFamily="18" charset="0"/>
              </a:rPr>
            </a:br>
            <a:r>
              <a:rPr lang="en-US" altLang="zh-CN" sz="2800" dirty="0">
                <a:solidFill>
                  <a:schemeClr val="tx1"/>
                </a:solidFill>
                <a:ea typeface="华文楷体" panose="02010600040101010101" pitchFamily="2" charset="-122"/>
                <a:cs typeface="Times New Roman" panose="02020603050405020304" pitchFamily="18" charset="0"/>
              </a:rPr>
              <a:t>    </a:t>
            </a:r>
            <a:r>
              <a:rPr lang="zh-CN" altLang="en-US" sz="2800" dirty="0">
                <a:solidFill>
                  <a:schemeClr val="tx1"/>
                </a:solidFill>
                <a:ea typeface="华文楷体" panose="02010600040101010101" pitchFamily="2" charset="-122"/>
                <a:cs typeface="Times New Roman" panose="02020603050405020304" pitchFamily="18" charset="0"/>
              </a:rPr>
              <a:t>一个离子的电量只能是一个基本电荷电量的整数倍</a:t>
            </a:r>
            <a:endParaRPr lang="en-US" altLang="zh-CN" sz="2800" dirty="0">
              <a:solidFill>
                <a:schemeClr val="tx1"/>
              </a:solidFill>
              <a:ea typeface="华文楷体" panose="02010600040101010101" pitchFamily="2" charset="-122"/>
              <a:cs typeface="Times New Roman" panose="02020603050405020304" pitchFamily="18" charset="0"/>
            </a:endParaRPr>
          </a:p>
          <a:p>
            <a:pPr marL="342900" indent="-342900">
              <a:spcBef>
                <a:spcPct val="50000"/>
              </a:spcBef>
              <a:buFontTx/>
              <a:buChar char="-"/>
            </a:pPr>
            <a:r>
              <a:rPr lang="zh-CN" altLang="en-US" sz="2800" dirty="0">
                <a:solidFill>
                  <a:schemeClr val="tx1"/>
                </a:solidFill>
                <a:ea typeface="华文楷体" panose="02010600040101010101" pitchFamily="2" charset="-122"/>
                <a:cs typeface="Times New Roman" panose="02020603050405020304" pitchFamily="18" charset="0"/>
              </a:rPr>
              <a:t>斯通尼</a:t>
            </a:r>
            <a:r>
              <a:rPr lang="en-US" altLang="zh-CN" sz="2800" dirty="0">
                <a:solidFill>
                  <a:schemeClr val="tx1"/>
                </a:solidFill>
                <a:ea typeface="华文楷体" panose="02010600040101010101" pitchFamily="2" charset="-122"/>
                <a:cs typeface="Times New Roman" panose="02020603050405020304" pitchFamily="18" charset="0"/>
              </a:rPr>
              <a:t>(Stoney) :  </a:t>
            </a:r>
            <a:r>
              <a:rPr lang="zh-CN" altLang="en-US" sz="2800" dirty="0">
                <a:solidFill>
                  <a:schemeClr val="tx1"/>
                </a:solidFill>
                <a:ea typeface="华文楷体" panose="02010600040101010101" pitchFamily="2" charset="-122"/>
                <a:cs typeface="Times New Roman" panose="02020603050405020304" pitchFamily="18" charset="0"/>
              </a:rPr>
              <a:t>电子</a:t>
            </a:r>
            <a:r>
              <a:rPr lang="en-US" altLang="zh-CN" sz="2800" dirty="0">
                <a:solidFill>
                  <a:schemeClr val="tx1"/>
                </a:solidFill>
                <a:ea typeface="华文楷体" panose="02010600040101010101" pitchFamily="2" charset="-122"/>
                <a:cs typeface="Times New Roman" panose="02020603050405020304" pitchFamily="18" charset="0"/>
              </a:rPr>
              <a:t>(electron)</a:t>
            </a:r>
          </a:p>
          <a:p>
            <a:pPr marL="342900" indent="-342900">
              <a:spcBef>
                <a:spcPct val="50000"/>
              </a:spcBef>
              <a:buFontTx/>
              <a:buChar char="-"/>
            </a:pPr>
            <a:r>
              <a:rPr lang="en-US" altLang="zh-CN" sz="2800" dirty="0">
                <a:solidFill>
                  <a:schemeClr val="tx1"/>
                </a:solidFill>
                <a:ea typeface="华文楷体" panose="02010600040101010101" pitchFamily="2" charset="-122"/>
                <a:cs typeface="Times New Roman" panose="02020603050405020304" pitchFamily="18" charset="0"/>
              </a:rPr>
              <a:t>1897</a:t>
            </a:r>
            <a:r>
              <a:rPr lang="zh-CN" altLang="en-US" sz="2800" dirty="0">
                <a:solidFill>
                  <a:schemeClr val="tx1"/>
                </a:solidFill>
                <a:ea typeface="华文楷体" panose="02010600040101010101" pitchFamily="2" charset="-122"/>
                <a:cs typeface="Times New Roman" panose="02020603050405020304" pitchFamily="18" charset="0"/>
              </a:rPr>
              <a:t>年约瑟夫</a:t>
            </a:r>
            <a:r>
              <a:rPr lang="en-US" altLang="zh-CN" sz="2800" dirty="0">
                <a:solidFill>
                  <a:schemeClr val="tx1"/>
                </a:solidFill>
                <a:ea typeface="华文楷体" panose="02010600040101010101" pitchFamily="2" charset="-122"/>
                <a:cs typeface="Times New Roman" panose="02020603050405020304" pitchFamily="18" charset="0"/>
              </a:rPr>
              <a:t>·</a:t>
            </a:r>
            <a:r>
              <a:rPr lang="zh-CN" altLang="en-US" sz="2800" dirty="0">
                <a:solidFill>
                  <a:schemeClr val="tx1"/>
                </a:solidFill>
                <a:ea typeface="华文楷体" panose="02010600040101010101" pitchFamily="2" charset="-122"/>
                <a:cs typeface="Times New Roman" panose="02020603050405020304" pitchFamily="18" charset="0"/>
              </a:rPr>
              <a:t>汤姆孙</a:t>
            </a:r>
            <a:r>
              <a:rPr lang="en-US" altLang="zh-CN" sz="2800" dirty="0">
                <a:solidFill>
                  <a:schemeClr val="tx1"/>
                </a:solidFill>
                <a:ea typeface="华文楷体" panose="02010600040101010101" pitchFamily="2" charset="-122"/>
                <a:cs typeface="Times New Roman" panose="02020603050405020304" pitchFamily="18" charset="0"/>
              </a:rPr>
              <a:t>(</a:t>
            </a:r>
            <a:r>
              <a:rPr lang="en-US" altLang="zh-CN" sz="2800" dirty="0" err="1">
                <a:solidFill>
                  <a:schemeClr val="tx1"/>
                </a:solidFill>
                <a:ea typeface="华文楷体" panose="02010600040101010101" pitchFamily="2" charset="-122"/>
                <a:cs typeface="Times New Roman" panose="02020603050405020304" pitchFamily="18" charset="0"/>
              </a:rPr>
              <a:t>J.J.Thomson</a:t>
            </a:r>
            <a:r>
              <a:rPr lang="en-US" altLang="zh-CN" sz="2800" dirty="0">
                <a:solidFill>
                  <a:schemeClr val="tx1"/>
                </a:solidFill>
                <a:ea typeface="华文楷体" panose="02010600040101010101" pitchFamily="2" charset="-122"/>
                <a:cs typeface="Times New Roman" panose="02020603050405020304" pitchFamily="18" charset="0"/>
              </a:rPr>
              <a:t>)</a:t>
            </a:r>
            <a:r>
              <a:rPr lang="zh-CN" altLang="en-US" sz="2800" dirty="0">
                <a:solidFill>
                  <a:schemeClr val="tx1"/>
                </a:solidFill>
                <a:ea typeface="华文楷体" panose="02010600040101010101" pitchFamily="2" charset="-122"/>
                <a:cs typeface="Times New Roman" panose="02020603050405020304" pitchFamily="18" charset="0"/>
              </a:rPr>
              <a:t>发现电子</a:t>
            </a:r>
            <a:endParaRPr lang="en-US" altLang="zh-CN" sz="2800" dirty="0">
              <a:solidFill>
                <a:schemeClr val="tx1"/>
              </a:solidFill>
              <a:ea typeface="华文楷体" panose="02010600040101010101" pitchFamily="2" charset="-122"/>
              <a:cs typeface="Times New Roman" panose="02020603050405020304" pitchFamily="18" charset="0"/>
            </a:endParaRPr>
          </a:p>
          <a:p>
            <a:pPr>
              <a:spcBef>
                <a:spcPct val="50000"/>
              </a:spcBef>
            </a:pPr>
            <a:r>
              <a:rPr lang="en-US" altLang="zh-CN" sz="2800" dirty="0">
                <a:solidFill>
                  <a:schemeClr val="tx1"/>
                </a:solidFill>
                <a:ea typeface="华文楷体" panose="02010600040101010101" pitchFamily="2" charset="-122"/>
                <a:cs typeface="Times New Roman" panose="02020603050405020304" pitchFamily="18" charset="0"/>
              </a:rPr>
              <a:t>-   1906-1917</a:t>
            </a:r>
            <a:r>
              <a:rPr lang="zh-CN" altLang="en-US" sz="2800" dirty="0">
                <a:solidFill>
                  <a:schemeClr val="tx1"/>
                </a:solidFill>
                <a:ea typeface="华文楷体" panose="02010600040101010101" pitchFamily="2" charset="-122"/>
                <a:cs typeface="Times New Roman" panose="02020603050405020304" pitchFamily="18" charset="0"/>
              </a:rPr>
              <a:t>年，密立根</a:t>
            </a:r>
            <a:r>
              <a:rPr lang="en-US" altLang="zh-CN" sz="2800" dirty="0">
                <a:solidFill>
                  <a:schemeClr val="tx1"/>
                </a:solidFill>
                <a:ea typeface="华文楷体" panose="02010600040101010101" pitchFamily="2" charset="-122"/>
                <a:cs typeface="Times New Roman" panose="02020603050405020304" pitchFamily="18" charset="0"/>
              </a:rPr>
              <a:t>(Millikan)</a:t>
            </a:r>
            <a:r>
              <a:rPr lang="zh-CN" altLang="en-US" sz="2800" dirty="0">
                <a:solidFill>
                  <a:schemeClr val="tx1"/>
                </a:solidFill>
                <a:ea typeface="华文楷体" panose="02010600040101010101" pitchFamily="2" charset="-122"/>
                <a:cs typeface="Times New Roman" panose="02020603050405020304" pitchFamily="18" charset="0"/>
              </a:rPr>
              <a:t>用油滴法首先从实验上证明了，微小粒子带电量的变化不连续。</a:t>
            </a:r>
            <a:r>
              <a:rPr lang="zh-CN" altLang="en-US" sz="2800" dirty="0">
                <a:solidFill>
                  <a:srgbClr val="0000CC"/>
                </a:solidFill>
                <a:ea typeface="华文楷体" panose="02010600040101010101" pitchFamily="2" charset="-122"/>
                <a:cs typeface="Times New Roman" panose="02020603050405020304" pitchFamily="18" charset="0"/>
              </a:rPr>
              <a:t>   </a:t>
            </a:r>
          </a:p>
        </p:txBody>
      </p:sp>
    </p:spTree>
    <p:extLst>
      <p:ext uri="{BB962C8B-B14F-4D97-AF65-F5344CB8AC3E}">
        <p14:creationId xmlns:p14="http://schemas.microsoft.com/office/powerpoint/2010/main" val="39624008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A9D9BCC2-3106-466C-A3D4-B70C9931D936}"/>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油滴实验</a:t>
            </a:r>
            <a:endParaRPr lang="en-US" altLang="zh-CN" sz="3200" b="1" dirty="0">
              <a:solidFill>
                <a:srgbClr val="0066FF"/>
              </a:solidFill>
              <a:ea typeface="华文楷体" panose="02010600040101010101" pitchFamily="2" charset="-122"/>
              <a:cs typeface="Times New Roman" panose="02020603050405020304" pitchFamily="18" charset="0"/>
            </a:endParaRPr>
          </a:p>
        </p:txBody>
      </p:sp>
      <p:graphicFrame>
        <p:nvGraphicFramePr>
          <p:cNvPr id="13" name="Object 6">
            <a:extLst>
              <a:ext uri="{FF2B5EF4-FFF2-40B4-BE49-F238E27FC236}">
                <a16:creationId xmlns:a16="http://schemas.microsoft.com/office/drawing/2014/main" id="{1ACC04A5-5350-45BE-94CF-E73C908C5C5E}"/>
              </a:ext>
            </a:extLst>
          </p:cNvPr>
          <p:cNvGraphicFramePr>
            <a:graphicFrameLocks/>
          </p:cNvGraphicFramePr>
          <p:nvPr>
            <p:extLst>
              <p:ext uri="{D42A27DB-BD31-4B8C-83A1-F6EECF244321}">
                <p14:modId xmlns:p14="http://schemas.microsoft.com/office/powerpoint/2010/main" val="4037416122"/>
              </p:ext>
            </p:extLst>
          </p:nvPr>
        </p:nvGraphicFramePr>
        <p:xfrm>
          <a:off x="1512661" y="5781218"/>
          <a:ext cx="1849438" cy="685800"/>
        </p:xfrm>
        <a:graphic>
          <a:graphicData uri="http://schemas.openxmlformats.org/presentationml/2006/ole">
            <mc:AlternateContent xmlns:mc="http://schemas.openxmlformats.org/markup-compatibility/2006">
              <mc:Choice xmlns:v="urn:schemas-microsoft-com:vml" Requires="v">
                <p:oleObj spid="_x0000_s2058" name="公式" r:id="rId3" imgW="508000" imgH="190500" progId="Equation.3">
                  <p:embed/>
                </p:oleObj>
              </mc:Choice>
              <mc:Fallback>
                <p:oleObj name="公式" r:id="rId3" imgW="508000" imgH="190500" progId="Equation.3">
                  <p:embed/>
                  <p:pic>
                    <p:nvPicPr>
                      <p:cNvPr id="13" name="Object 6">
                        <a:extLst>
                          <a:ext uri="{FF2B5EF4-FFF2-40B4-BE49-F238E27FC236}">
                            <a16:creationId xmlns:a16="http://schemas.microsoft.com/office/drawing/2014/main" id="{1ACC04A5-5350-45BE-94CF-E73C908C5C5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661" y="5781218"/>
                        <a:ext cx="1849438" cy="685800"/>
                      </a:xfrm>
                      <a:prstGeom prst="rect">
                        <a:avLst/>
                      </a:prstGeom>
                      <a:noFill/>
                      <a:ln w="9525">
                        <a:noFill/>
                        <a:miter lim="800000"/>
                        <a:headEnd/>
                        <a:tailEnd/>
                      </a:ln>
                      <a:effectLst/>
                    </p:spPr>
                  </p:pic>
                </p:oleObj>
              </mc:Fallback>
            </mc:AlternateContent>
          </a:graphicData>
        </a:graphic>
      </p:graphicFrame>
      <p:pic>
        <p:nvPicPr>
          <p:cNvPr id="64518" name="Picture 6" descr="https://upload.wikimedia.org/wikipedia/commons/thumb/1/11/Simplified_scheme_of_Millikan%E2%80%99s_oil-drop_experiment.png/450px-Simplified_scheme_of_Millikan%E2%80%99s_oil-drop_experiment.png">
            <a:extLst>
              <a:ext uri="{FF2B5EF4-FFF2-40B4-BE49-F238E27FC236}">
                <a16:creationId xmlns:a16="http://schemas.microsoft.com/office/drawing/2014/main" id="{6B3723FF-8DA1-450F-95A0-8CC31CE4A4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7240" y="1222186"/>
            <a:ext cx="7440964" cy="2827567"/>
          </a:xfrm>
          <a:prstGeom prst="rect">
            <a:avLst/>
          </a:prstGeom>
          <a:noFill/>
          <a:extLst>
            <a:ext uri="{909E8E84-426E-40DD-AFC4-6F175D3DCCD1}">
              <a14:hiddenFill xmlns:a14="http://schemas.microsoft.com/office/drawing/2010/main">
                <a:solidFill>
                  <a:srgbClr val="FFFFFF"/>
                </a:solidFill>
              </a14:hiddenFill>
            </a:ext>
          </a:extLst>
        </p:spPr>
      </p:pic>
      <p:pic>
        <p:nvPicPr>
          <p:cNvPr id="64520" name="Picture 8" descr="https://upload.wikimedia.org/wikipedia/commons/thumb/6/6f/Millikan%E2%80%99s_oil-drop_apparatus_1.jpg/250px-Millikan%E2%80%99s_oil-drop_apparatus_1.jpg">
            <a:extLst>
              <a:ext uri="{FF2B5EF4-FFF2-40B4-BE49-F238E27FC236}">
                <a16:creationId xmlns:a16="http://schemas.microsoft.com/office/drawing/2014/main" id="{282BF228-C7BD-4C2C-834B-2F149C88A5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456" y="1592495"/>
            <a:ext cx="2731609" cy="208695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1CCBE907-1C33-4DB9-8695-E30C4D47C6A1}"/>
              </a:ext>
            </a:extLst>
          </p:cNvPr>
          <p:cNvSpPr/>
          <p:nvPr/>
        </p:nvSpPr>
        <p:spPr>
          <a:xfrm>
            <a:off x="990044" y="4333786"/>
            <a:ext cx="3698070" cy="954107"/>
          </a:xfrm>
          <a:prstGeom prst="rect">
            <a:avLst/>
          </a:prstGeom>
        </p:spPr>
        <p:txBody>
          <a:bodyPr wrap="square">
            <a:spAutoFit/>
          </a:bodyPr>
          <a:lstStyle/>
          <a:p>
            <a:r>
              <a:rPr lang="zh-CN" altLang="en-US" sz="2800" b="0" i="0" dirty="0">
                <a:effectLst/>
                <a:latin typeface="Arial" panose="020B0604020202020204" pitchFamily="34" charset="0"/>
              </a:rPr>
              <a:t>所有油滴的总电荷值皆为同一数字的倍数</a:t>
            </a:r>
            <a:endParaRPr lang="en-US" sz="2800"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7A8A817-949A-40DA-91E0-3B0B5619B6D6}"/>
                  </a:ext>
                </a:extLst>
              </p:cNvPr>
              <p:cNvSpPr/>
              <p:nvPr/>
            </p:nvSpPr>
            <p:spPr>
              <a:xfrm>
                <a:off x="4004923" y="4211316"/>
                <a:ext cx="8187077" cy="2153154"/>
              </a:xfrm>
              <a:prstGeom prst="rect">
                <a:avLst/>
              </a:prstGeom>
            </p:spPr>
            <p:txBody>
              <a:bodyPr wrap="square">
                <a:spAutoFit/>
              </a:bodyPr>
              <a:lstStyle/>
              <a:p>
                <a:pPr algn="ctr">
                  <a:lnSpc>
                    <a:spcPct val="150000"/>
                  </a:lnSpc>
                  <a:spcBef>
                    <a:spcPct val="20000"/>
                  </a:spcBef>
                </a:pPr>
                <a14:m>
                  <m:oMathPara xmlns:m="http://schemas.openxmlformats.org/officeDocument/2006/math">
                    <m:oMathParaPr>
                      <m:jc m:val="centerGroup"/>
                    </m:oMathParaPr>
                    <m:oMath xmlns:m="http://schemas.openxmlformats.org/officeDocument/2006/math">
                      <m:r>
                        <a:rPr lang="zh-CN" altLang="zh-CN" sz="2800" i="1" dirty="0" smtClean="0">
                          <a:latin typeface="Cambria Math" panose="02040503050406030204" pitchFamily="18" charset="0"/>
                          <a:ea typeface="华文新魏" panose="02010800040101010101" pitchFamily="2" charset="-122"/>
                        </a:rPr>
                        <m:t>𝒆</m:t>
                      </m:r>
                      <m:r>
                        <a:rPr lang="zh-CN" altLang="zh-CN" sz="2800" i="1" dirty="0" smtClean="0">
                          <a:latin typeface="Cambria Math" panose="02040503050406030204" pitchFamily="18" charset="0"/>
                          <a:ea typeface="华文新魏" panose="02010800040101010101" pitchFamily="2" charset="-122"/>
                        </a:rPr>
                        <m:t>=</m:t>
                      </m:r>
                      <m:r>
                        <a:rPr lang="zh-CN" altLang="zh-CN" sz="2800" i="1" dirty="0" smtClean="0">
                          <a:latin typeface="Cambria Math" panose="02040503050406030204" pitchFamily="18" charset="0"/>
                          <a:ea typeface="华文新魏" panose="02010800040101010101" pitchFamily="2" charset="-122"/>
                        </a:rPr>
                        <m:t>𝟏</m:t>
                      </m:r>
                      <m:r>
                        <a:rPr lang="zh-CN" altLang="zh-CN" sz="2800" i="1" dirty="0" smtClean="0">
                          <a:latin typeface="Cambria Math" panose="02040503050406030204" pitchFamily="18" charset="0"/>
                          <a:ea typeface="华文新魏" panose="02010800040101010101" pitchFamily="2" charset="-122"/>
                        </a:rPr>
                        <m:t>.</m:t>
                      </m:r>
                      <m:r>
                        <a:rPr lang="zh-CN" altLang="zh-CN" sz="2800" i="1" dirty="0" smtClean="0">
                          <a:latin typeface="Cambria Math" panose="02040503050406030204" pitchFamily="18" charset="0"/>
                          <a:ea typeface="华文新魏" panose="02010800040101010101" pitchFamily="2" charset="-122"/>
                        </a:rPr>
                        <m:t>𝟔𝟎𝟐</m:t>
                      </m:r>
                      <m:r>
                        <a:rPr lang="zh-CN" altLang="zh-CN" sz="2800" i="1" dirty="0">
                          <a:latin typeface="Cambria Math" panose="02040503050406030204" pitchFamily="18" charset="0"/>
                          <a:ea typeface="华文新魏" panose="02010800040101010101" pitchFamily="2" charset="-122"/>
                          <a:sym typeface="Symbol" panose="05050102010706020507" pitchFamily="18" charset="2"/>
                        </a:rPr>
                        <m:t></m:t>
                      </m:r>
                      <m:sSup>
                        <m:sSupPr>
                          <m:ctrlPr>
                            <a:rPr lang="en-US" altLang="zh-CN" sz="2800" i="1" dirty="0">
                              <a:latin typeface="Cambria Math" panose="02040503050406030204" pitchFamily="18" charset="0"/>
                              <a:ea typeface="华文新魏" panose="02010800040101010101" pitchFamily="2" charset="-122"/>
                              <a:sym typeface="Symbol" panose="05050102010706020507" pitchFamily="18" charset="2"/>
                            </a:rPr>
                          </m:ctrlPr>
                        </m:sSupPr>
                        <m:e>
                          <m:r>
                            <a:rPr lang="en-US" altLang="zh-CN" sz="2800" i="1" dirty="0">
                              <a:latin typeface="Cambria Math" panose="02040503050406030204" pitchFamily="18" charset="0"/>
                              <a:ea typeface="华文新魏" panose="02010800040101010101" pitchFamily="2" charset="-122"/>
                              <a:sym typeface="Symbol" panose="05050102010706020507" pitchFamily="18" charset="2"/>
                            </a:rPr>
                            <m:t>𝟏𝟎</m:t>
                          </m:r>
                        </m:e>
                        <m:sup>
                          <m:r>
                            <a:rPr lang="en-US" altLang="zh-CN" sz="2800" i="1" dirty="0">
                              <a:latin typeface="Cambria Math" panose="02040503050406030204" pitchFamily="18" charset="0"/>
                              <a:ea typeface="华文新魏" panose="02010800040101010101" pitchFamily="2" charset="-122"/>
                              <a:sym typeface="Symbol" panose="05050102010706020507" pitchFamily="18" charset="2"/>
                            </a:rPr>
                            <m:t>−</m:t>
                          </m:r>
                          <m:r>
                            <a:rPr lang="en-US" altLang="zh-CN" sz="2800" i="1" dirty="0">
                              <a:latin typeface="Cambria Math" panose="02040503050406030204" pitchFamily="18" charset="0"/>
                              <a:ea typeface="华文新魏" panose="02010800040101010101" pitchFamily="2" charset="-122"/>
                              <a:sym typeface="Symbol" panose="05050102010706020507" pitchFamily="18" charset="2"/>
                            </a:rPr>
                            <m:t>𝟏𝟗</m:t>
                          </m:r>
                        </m:sup>
                      </m:sSup>
                      <m:r>
                        <a:rPr lang="en-US" altLang="zh-CN" sz="2800" b="1" i="1" dirty="0" smtClean="0">
                          <a:latin typeface="Cambria Math" panose="02040503050406030204" pitchFamily="18" charset="0"/>
                          <a:ea typeface="华文新魏" panose="02010800040101010101" pitchFamily="2" charset="-122"/>
                          <a:sym typeface="Symbol" panose="05050102010706020507" pitchFamily="18" charset="2"/>
                        </a:rPr>
                        <m:t> </m:t>
                      </m:r>
                      <m:r>
                        <a:rPr lang="en-US" altLang="zh-CN" sz="2800" b="1" i="0" dirty="0" smtClean="0">
                          <a:latin typeface="Cambria Math" panose="02040503050406030204" pitchFamily="18" charset="0"/>
                          <a:ea typeface="华文新魏" panose="02010800040101010101" pitchFamily="2" charset="-122"/>
                          <a:sym typeface="Symbol" panose="05050102010706020507" pitchFamily="18" charset="2"/>
                        </a:rPr>
                        <m:t>𝐂</m:t>
                      </m:r>
                    </m:oMath>
                  </m:oMathPara>
                </a14:m>
                <a:endParaRPr lang="en-US" altLang="zh-CN" sz="2800" dirty="0">
                  <a:ea typeface="华文新魏" panose="02010800040101010101" pitchFamily="2" charset="-122"/>
                  <a:sym typeface="Symbol" panose="05050102010706020507" pitchFamily="18" charset="2"/>
                </a:endParaRPr>
              </a:p>
              <a:p>
                <a:pPr algn="ctr">
                  <a:lnSpc>
                    <a:spcPct val="150000"/>
                  </a:lnSpc>
                  <a:spcBef>
                    <a:spcPct val="20000"/>
                  </a:spcBef>
                </a:pPr>
                <a:r>
                  <a:rPr lang="zh-CN" altLang="zh-CN" sz="2800" dirty="0">
                    <a:sym typeface="Symbol" panose="05050102010706020507" pitchFamily="18" charset="2"/>
                  </a:rPr>
                  <a:t>电子</a:t>
                </a:r>
                <a:r>
                  <a:rPr lang="zh-CN" altLang="en-US" sz="2800" dirty="0">
                    <a:sym typeface="Symbol" panose="05050102010706020507" pitchFamily="18" charset="2"/>
                  </a:rPr>
                  <a:t>或质子</a:t>
                </a:r>
                <a:r>
                  <a:rPr lang="zh-CN" altLang="zh-CN" sz="2800" dirty="0">
                    <a:sym typeface="Symbol" panose="05050102010706020507" pitchFamily="18" charset="2"/>
                  </a:rPr>
                  <a:t>电量</a:t>
                </a:r>
                <a:r>
                  <a:rPr lang="en-US" altLang="zh-CN" sz="2800" dirty="0">
                    <a:sym typeface="Symbol" panose="05050102010706020507" pitchFamily="18" charset="2"/>
                  </a:rPr>
                  <a:t>——</a:t>
                </a:r>
                <a:r>
                  <a:rPr lang="zh-CN" altLang="en-US" sz="2800" dirty="0">
                    <a:solidFill>
                      <a:srgbClr val="FF0000"/>
                    </a:solidFill>
                    <a:sym typeface="Symbol" panose="05050102010706020507" pitchFamily="18" charset="2"/>
                  </a:rPr>
                  <a:t>基元电荷</a:t>
                </a:r>
                <a:r>
                  <a:rPr lang="zh-CN" altLang="en-US" sz="2800" dirty="0">
                    <a:sym typeface="Symbol" panose="05050102010706020507" pitchFamily="18" charset="2"/>
                  </a:rPr>
                  <a:t>。</a:t>
                </a:r>
                <a:endParaRPr lang="en-US" altLang="zh-CN" sz="2800" dirty="0">
                  <a:sym typeface="Symbol" panose="05050102010706020507" pitchFamily="18" charset="2"/>
                </a:endParaRPr>
              </a:p>
              <a:p>
                <a:pPr algn="ctr">
                  <a:lnSpc>
                    <a:spcPct val="150000"/>
                  </a:lnSpc>
                  <a:spcBef>
                    <a:spcPct val="20000"/>
                  </a:spcBef>
                </a:pPr>
                <a14:m>
                  <m:oMath xmlns:m="http://schemas.openxmlformats.org/officeDocument/2006/math">
                    <m:r>
                      <a:rPr lang="en-US" altLang="zh-CN" sz="2800" i="1" dirty="0">
                        <a:latin typeface="Cambria Math" panose="02040503050406030204" pitchFamily="18" charset="0"/>
                        <a:ea typeface="华文新魏" panose="02010800040101010101" pitchFamily="2" charset="-122"/>
                        <a:sym typeface="Symbol" panose="05050102010706020507" pitchFamily="18" charset="2"/>
                      </a:rPr>
                      <m:t>𝒆</m:t>
                    </m:r>
                  </m:oMath>
                </a14:m>
                <a:r>
                  <a:rPr lang="zh-CN" altLang="en-US" sz="2800" dirty="0">
                    <a:sym typeface="Symbol" panose="05050102010706020507" pitchFamily="18" charset="2"/>
                  </a:rPr>
                  <a:t>是自然界的最重要的常量之一</a:t>
                </a:r>
                <a:endParaRPr lang="zh-CN" altLang="en-US" sz="2800" dirty="0"/>
              </a:p>
            </p:txBody>
          </p:sp>
        </mc:Choice>
        <mc:Fallback xmlns="">
          <p:sp>
            <p:nvSpPr>
              <p:cNvPr id="2" name="矩形 1">
                <a:extLst>
                  <a:ext uri="{FF2B5EF4-FFF2-40B4-BE49-F238E27FC236}">
                    <a16:creationId xmlns:a16="http://schemas.microsoft.com/office/drawing/2014/main" id="{F7A8A817-949A-40DA-91E0-3B0B5619B6D6}"/>
                  </a:ext>
                </a:extLst>
              </p:cNvPr>
              <p:cNvSpPr>
                <a:spLocks noRot="1" noChangeAspect="1" noMove="1" noResize="1" noEditPoints="1" noAdjustHandles="1" noChangeArrowheads="1" noChangeShapeType="1" noTextEdit="1"/>
              </p:cNvSpPr>
              <p:nvPr/>
            </p:nvSpPr>
            <p:spPr>
              <a:xfrm>
                <a:off x="4004923" y="4211316"/>
                <a:ext cx="8187077" cy="2153154"/>
              </a:xfrm>
              <a:prstGeom prst="rect">
                <a:avLst/>
              </a:prstGeom>
              <a:blipFill>
                <a:blip r:embed="rId7"/>
                <a:stretch>
                  <a:fillRect b="-70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463278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45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3DBDBE0-D3B0-4604-A93C-2754BF1AFB1F}"/>
                  </a:ext>
                </a:extLst>
              </p:cNvPr>
              <p:cNvSpPr/>
              <p:nvPr/>
            </p:nvSpPr>
            <p:spPr>
              <a:xfrm>
                <a:off x="990147" y="1365307"/>
                <a:ext cx="5014698" cy="753283"/>
              </a:xfrm>
              <a:prstGeom prst="rect">
                <a:avLst/>
              </a:prstGeom>
            </p:spPr>
            <p:txBody>
              <a:bodyPr wrap="square">
                <a:spAutoFit/>
              </a:bodyPr>
              <a:lstStyle/>
              <a:p>
                <a:pPr algn="ctr">
                  <a:lnSpc>
                    <a:spcPct val="150000"/>
                  </a:lnSpc>
                  <a:spcBef>
                    <a:spcPct val="20000"/>
                  </a:spcBef>
                </a:pPr>
                <a14:m>
                  <m:oMathPara xmlns:m="http://schemas.openxmlformats.org/officeDocument/2006/math">
                    <m:oMathParaPr>
                      <m:jc m:val="centerGroup"/>
                    </m:oMathParaPr>
                    <m:oMath xmlns:m="http://schemas.openxmlformats.org/officeDocument/2006/math">
                      <m:r>
                        <a:rPr lang="zh-CN" altLang="zh-CN" sz="2800" i="1" dirty="0" smtClean="0">
                          <a:latin typeface="Cambria Math" panose="02040503050406030204" pitchFamily="18" charset="0"/>
                          <a:ea typeface="华文新魏" panose="02010800040101010101" pitchFamily="2" charset="-122"/>
                        </a:rPr>
                        <m:t>𝒆</m:t>
                      </m:r>
                      <m:r>
                        <a:rPr lang="zh-CN" altLang="zh-CN" sz="2800" i="1" dirty="0" smtClean="0">
                          <a:latin typeface="Cambria Math" panose="02040503050406030204" pitchFamily="18" charset="0"/>
                          <a:ea typeface="华文新魏" panose="02010800040101010101" pitchFamily="2" charset="-122"/>
                        </a:rPr>
                        <m:t>=</m:t>
                      </m:r>
                      <m:r>
                        <a:rPr lang="zh-CN" altLang="zh-CN" sz="2800" i="1" dirty="0" smtClean="0">
                          <a:latin typeface="Cambria Math" panose="02040503050406030204" pitchFamily="18" charset="0"/>
                          <a:ea typeface="华文新魏" panose="02010800040101010101" pitchFamily="2" charset="-122"/>
                        </a:rPr>
                        <m:t>𝟏</m:t>
                      </m:r>
                      <m:r>
                        <a:rPr lang="zh-CN" altLang="zh-CN" sz="2800" i="1" dirty="0" smtClean="0">
                          <a:latin typeface="Cambria Math" panose="02040503050406030204" pitchFamily="18" charset="0"/>
                          <a:ea typeface="华文新魏" panose="02010800040101010101" pitchFamily="2" charset="-122"/>
                        </a:rPr>
                        <m:t>.</m:t>
                      </m:r>
                      <m:r>
                        <a:rPr lang="zh-CN" altLang="zh-CN" sz="2800" i="1" dirty="0" smtClean="0">
                          <a:latin typeface="Cambria Math" panose="02040503050406030204" pitchFamily="18" charset="0"/>
                          <a:ea typeface="华文新魏" panose="02010800040101010101" pitchFamily="2" charset="-122"/>
                        </a:rPr>
                        <m:t>𝟔𝟎𝟐</m:t>
                      </m:r>
                      <m:r>
                        <a:rPr lang="zh-CN" altLang="zh-CN" sz="2800" i="1" dirty="0">
                          <a:latin typeface="Cambria Math" panose="02040503050406030204" pitchFamily="18" charset="0"/>
                          <a:ea typeface="华文新魏" panose="02010800040101010101" pitchFamily="2" charset="-122"/>
                          <a:sym typeface="Symbol" panose="05050102010706020507" pitchFamily="18" charset="2"/>
                        </a:rPr>
                        <m:t></m:t>
                      </m:r>
                      <m:sSup>
                        <m:sSupPr>
                          <m:ctrlPr>
                            <a:rPr lang="en-US" altLang="zh-CN" sz="2800" i="1" dirty="0">
                              <a:latin typeface="Cambria Math" panose="02040503050406030204" pitchFamily="18" charset="0"/>
                              <a:ea typeface="华文新魏" panose="02010800040101010101" pitchFamily="2" charset="-122"/>
                              <a:sym typeface="Symbol" panose="05050102010706020507" pitchFamily="18" charset="2"/>
                            </a:rPr>
                          </m:ctrlPr>
                        </m:sSupPr>
                        <m:e>
                          <m:r>
                            <a:rPr lang="en-US" altLang="zh-CN" sz="2800" i="1" dirty="0">
                              <a:latin typeface="Cambria Math" panose="02040503050406030204" pitchFamily="18" charset="0"/>
                              <a:ea typeface="华文新魏" panose="02010800040101010101" pitchFamily="2" charset="-122"/>
                              <a:sym typeface="Symbol" panose="05050102010706020507" pitchFamily="18" charset="2"/>
                            </a:rPr>
                            <m:t>𝟏𝟎</m:t>
                          </m:r>
                        </m:e>
                        <m:sup>
                          <m:r>
                            <a:rPr lang="en-US" altLang="zh-CN" sz="2800" i="1" dirty="0">
                              <a:latin typeface="Cambria Math" panose="02040503050406030204" pitchFamily="18" charset="0"/>
                              <a:ea typeface="华文新魏" panose="02010800040101010101" pitchFamily="2" charset="-122"/>
                              <a:sym typeface="Symbol" panose="05050102010706020507" pitchFamily="18" charset="2"/>
                            </a:rPr>
                            <m:t>−</m:t>
                          </m:r>
                          <m:r>
                            <a:rPr lang="en-US" altLang="zh-CN" sz="2800" i="1" dirty="0">
                              <a:latin typeface="Cambria Math" panose="02040503050406030204" pitchFamily="18" charset="0"/>
                              <a:ea typeface="华文新魏" panose="02010800040101010101" pitchFamily="2" charset="-122"/>
                              <a:sym typeface="Symbol" panose="05050102010706020507" pitchFamily="18" charset="2"/>
                            </a:rPr>
                            <m:t>𝟏𝟗</m:t>
                          </m:r>
                        </m:sup>
                      </m:sSup>
                      <m:r>
                        <a:rPr lang="en-US" altLang="zh-CN" sz="2800" b="1" i="1" dirty="0" smtClean="0">
                          <a:latin typeface="Cambria Math" panose="02040503050406030204" pitchFamily="18" charset="0"/>
                          <a:ea typeface="华文新魏" panose="02010800040101010101" pitchFamily="2" charset="-122"/>
                          <a:sym typeface="Symbol" panose="05050102010706020507" pitchFamily="18" charset="2"/>
                        </a:rPr>
                        <m:t> </m:t>
                      </m:r>
                      <m:r>
                        <a:rPr lang="en-US" altLang="zh-CN" sz="2800" b="1" i="0" dirty="0" smtClean="0">
                          <a:latin typeface="Cambria Math" panose="02040503050406030204" pitchFamily="18" charset="0"/>
                          <a:ea typeface="华文新魏" panose="02010800040101010101" pitchFamily="2" charset="-122"/>
                          <a:sym typeface="Symbol" panose="05050102010706020507" pitchFamily="18" charset="2"/>
                        </a:rPr>
                        <m:t>𝐂</m:t>
                      </m:r>
                    </m:oMath>
                  </m:oMathPara>
                </a14:m>
                <a:endParaRPr lang="en-US" altLang="zh-CN" sz="2800" dirty="0">
                  <a:ea typeface="华文新魏" panose="02010800040101010101" pitchFamily="2" charset="-122"/>
                  <a:sym typeface="Symbol" panose="05050102010706020507" pitchFamily="18" charset="2"/>
                </a:endParaRPr>
              </a:p>
            </p:txBody>
          </p:sp>
        </mc:Choice>
        <mc:Fallback xmlns="">
          <p:sp>
            <p:nvSpPr>
              <p:cNvPr id="10" name="矩形 9">
                <a:extLst>
                  <a:ext uri="{FF2B5EF4-FFF2-40B4-BE49-F238E27FC236}">
                    <a16:creationId xmlns:a16="http://schemas.microsoft.com/office/drawing/2014/main" id="{83DBDBE0-D3B0-4604-A93C-2754BF1AFB1F}"/>
                  </a:ext>
                </a:extLst>
              </p:cNvPr>
              <p:cNvSpPr>
                <a:spLocks noRot="1" noChangeAspect="1" noMove="1" noResize="1" noEditPoints="1" noAdjustHandles="1" noChangeArrowheads="1" noChangeShapeType="1" noTextEdit="1"/>
              </p:cNvSpPr>
              <p:nvPr/>
            </p:nvSpPr>
            <p:spPr>
              <a:xfrm>
                <a:off x="990147" y="1365307"/>
                <a:ext cx="5014698" cy="753283"/>
              </a:xfrm>
              <a:prstGeom prst="rect">
                <a:avLst/>
              </a:prstGeom>
              <a:blipFill>
                <a:blip r:embed="rId2"/>
                <a:stretch>
                  <a:fillRect/>
                </a:stretch>
              </a:blipFill>
            </p:spPr>
            <p:txBody>
              <a:bodyPr/>
              <a:lstStyle/>
              <a:p>
                <a:r>
                  <a:rPr lang="zh-CN" altLang="en-US">
                    <a:noFill/>
                  </a:rPr>
                  <a:t> </a:t>
                </a:r>
              </a:p>
            </p:txBody>
          </p:sp>
        </mc:Fallback>
      </mc:AlternateContent>
      <p:pic>
        <p:nvPicPr>
          <p:cNvPr id="14" name="Picture 2" descr="为什么自身质量为0的胶子，却给了质子和中子99%的质量？_粒子">
            <a:extLst>
              <a:ext uri="{FF2B5EF4-FFF2-40B4-BE49-F238E27FC236}">
                <a16:creationId xmlns:a16="http://schemas.microsoft.com/office/drawing/2014/main" id="{C75D55A2-3EAD-4F52-A351-106797E103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2" t="10383" r="12603" b="3903"/>
          <a:stretch/>
        </p:blipFill>
        <p:spPr bwMode="auto">
          <a:xfrm>
            <a:off x="8265022" y="2038842"/>
            <a:ext cx="3107876" cy="1613624"/>
          </a:xfrm>
          <a:prstGeom prst="rect">
            <a:avLst/>
          </a:prstGeom>
          <a:noFill/>
          <a:extLst>
            <a:ext uri="{909E8E84-426E-40DD-AFC4-6F175D3DCCD1}">
              <a14:hiddenFill xmlns:a14="http://schemas.microsoft.com/office/drawing/2010/main">
                <a:solidFill>
                  <a:srgbClr val="FFFFFF"/>
                </a:solidFill>
              </a14:hiddenFill>
            </a:ext>
          </a:extLst>
        </p:spPr>
      </p:pic>
      <p:pic>
        <p:nvPicPr>
          <p:cNvPr id="15" name="内容占位符 7">
            <a:extLst>
              <a:ext uri="{FF2B5EF4-FFF2-40B4-BE49-F238E27FC236}">
                <a16:creationId xmlns:a16="http://schemas.microsoft.com/office/drawing/2014/main" id="{B5DF02E8-7778-46FF-99E8-8D63CE5260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795" y="2172351"/>
            <a:ext cx="6740805" cy="3426688"/>
          </a:xfrm>
          <a:prstGeom prst="rect">
            <a:avLst/>
          </a:prstGeom>
          <a:ln>
            <a:noFill/>
          </a:ln>
          <a:effectLst>
            <a:softEdge rad="112500"/>
          </a:effectLst>
        </p:spPr>
      </p:pic>
      <p:sp>
        <p:nvSpPr>
          <p:cNvPr id="3" name="文本框 2">
            <a:extLst>
              <a:ext uri="{FF2B5EF4-FFF2-40B4-BE49-F238E27FC236}">
                <a16:creationId xmlns:a16="http://schemas.microsoft.com/office/drawing/2014/main" id="{63C6C4EE-B8AF-4D28-ACAD-90C3CC8F6802}"/>
              </a:ext>
            </a:extLst>
          </p:cNvPr>
          <p:cNvSpPr txBox="1"/>
          <p:nvPr/>
        </p:nvSpPr>
        <p:spPr>
          <a:xfrm>
            <a:off x="8735282" y="3940133"/>
            <a:ext cx="2722118" cy="1384995"/>
          </a:xfrm>
          <a:prstGeom prst="rect">
            <a:avLst/>
          </a:prstGeom>
          <a:noFill/>
        </p:spPr>
        <p:txBody>
          <a:bodyPr wrap="square" rtlCol="0">
            <a:spAutoFit/>
          </a:bodyPr>
          <a:lstStyle/>
          <a:p>
            <a:r>
              <a:rPr lang="en-US" altLang="zh-CN" sz="2800" dirty="0"/>
              <a:t>u</a:t>
            </a:r>
            <a:r>
              <a:rPr lang="zh-CN" altLang="en-US" sz="2800" dirty="0"/>
              <a:t>夸克 </a:t>
            </a:r>
            <a:r>
              <a:rPr lang="en-US" altLang="zh-CN" sz="2800" dirty="0"/>
              <a:t>+2/3 e</a:t>
            </a:r>
          </a:p>
          <a:p>
            <a:endParaRPr lang="en-US" altLang="zh-CN" sz="2800" dirty="0"/>
          </a:p>
          <a:p>
            <a:r>
              <a:rPr lang="en-US" altLang="zh-CN" sz="2800" dirty="0"/>
              <a:t>d</a:t>
            </a:r>
            <a:r>
              <a:rPr lang="zh-CN" altLang="en-US" sz="2800" dirty="0"/>
              <a:t>夸克</a:t>
            </a:r>
            <a:r>
              <a:rPr lang="en-US" altLang="zh-CN" sz="2800" dirty="0"/>
              <a:t>-1/3 e</a:t>
            </a:r>
            <a:endParaRPr lang="en-US" sz="2800" dirty="0"/>
          </a:p>
        </p:txBody>
      </p:sp>
      <p:sp>
        <p:nvSpPr>
          <p:cNvPr id="13" name="Rectangle 3">
            <a:extLst>
              <a:ext uri="{FF2B5EF4-FFF2-40B4-BE49-F238E27FC236}">
                <a16:creationId xmlns:a16="http://schemas.microsoft.com/office/drawing/2014/main" id="{B104A217-EBAA-4ABB-BD60-D7E15C29E3B3}"/>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 两种电荷：正电荷、负电荷</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sp>
        <p:nvSpPr>
          <p:cNvPr id="2" name="文本框 1">
            <a:extLst>
              <a:ext uri="{FF2B5EF4-FFF2-40B4-BE49-F238E27FC236}">
                <a16:creationId xmlns:a16="http://schemas.microsoft.com/office/drawing/2014/main" id="{11A51FDA-2427-4FF9-BCC8-A5C719027D38}"/>
              </a:ext>
            </a:extLst>
          </p:cNvPr>
          <p:cNvSpPr txBox="1"/>
          <p:nvPr/>
        </p:nvSpPr>
        <p:spPr>
          <a:xfrm>
            <a:off x="860253" y="6023282"/>
            <a:ext cx="10618964" cy="523220"/>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电子：</a:t>
            </a:r>
            <a:r>
              <a:rPr lang="zh-CN" altLang="en-US" sz="2800" dirty="0">
                <a:latin typeface="华文楷体" panose="02010600040101010101" pitchFamily="2" charset="-122"/>
                <a:ea typeface="华文楷体" panose="02010600040101010101" pitchFamily="2" charset="-122"/>
              </a:rPr>
              <a:t>静止质量</a:t>
            </a:r>
            <a:r>
              <a:rPr lang="en-US" sz="2800" dirty="0">
                <a:latin typeface="华文楷体" panose="02010600040101010101" pitchFamily="2" charset="-122"/>
                <a:ea typeface="华文楷体" panose="02010600040101010101" pitchFamily="2" charset="-122"/>
              </a:rPr>
              <a:t>9.10956×10</a:t>
            </a:r>
            <a:r>
              <a:rPr lang="en-US" sz="2800" baseline="30000" dirty="0">
                <a:latin typeface="华文楷体" panose="02010600040101010101" pitchFamily="2" charset="-122"/>
                <a:ea typeface="华文楷体" panose="02010600040101010101" pitchFamily="2" charset="-122"/>
              </a:rPr>
              <a:t>-31</a:t>
            </a:r>
            <a:r>
              <a:rPr lang="en-US" sz="2800" dirty="0">
                <a:latin typeface="华文楷体" panose="02010600040101010101" pitchFamily="2" charset="-122"/>
                <a:ea typeface="华文楷体" panose="02010600040101010101" pitchFamily="2" charset="-122"/>
              </a:rPr>
              <a:t>kg</a:t>
            </a:r>
            <a:r>
              <a:rPr lang="zh-CN" altLang="en-US" sz="2800" dirty="0">
                <a:latin typeface="华文楷体" panose="02010600040101010101" pitchFamily="2" charset="-122"/>
                <a:ea typeface="华文楷体" panose="02010600040101010101" pitchFamily="2" charset="-122"/>
              </a:rPr>
              <a:t>； 推断电子半径的上限为</a:t>
            </a:r>
            <a:r>
              <a:rPr lang="en-US" altLang="zh-CN" sz="2800" dirty="0">
                <a:latin typeface="华文楷体" panose="02010600040101010101" pitchFamily="2" charset="-122"/>
                <a:ea typeface="华文楷体" panose="02010600040101010101" pitchFamily="2" charset="-122"/>
              </a:rPr>
              <a:t>10</a:t>
            </a:r>
            <a:r>
              <a:rPr lang="zh-CN" altLang="en-US" sz="2800" baseline="30000" dirty="0">
                <a:latin typeface="华文楷体" panose="02010600040101010101" pitchFamily="2" charset="-122"/>
                <a:ea typeface="华文楷体" panose="02010600040101010101" pitchFamily="2" charset="-122"/>
              </a:rPr>
              <a:t>−</a:t>
            </a:r>
            <a:r>
              <a:rPr lang="en-US" altLang="zh-CN" sz="2800" baseline="30000" dirty="0">
                <a:latin typeface="华文楷体" panose="02010600040101010101" pitchFamily="2" charset="-122"/>
                <a:ea typeface="华文楷体" panose="02010600040101010101" pitchFamily="2" charset="-122"/>
              </a:rPr>
              <a:t>22</a:t>
            </a:r>
            <a:r>
              <a:rPr lang="en-US" altLang="zh-CN" sz="2800" dirty="0">
                <a:latin typeface="华文楷体" panose="02010600040101010101" pitchFamily="2" charset="-122"/>
                <a:ea typeface="华文楷体" panose="02010600040101010101" pitchFamily="2" charset="-122"/>
              </a:rPr>
              <a:t>m</a:t>
            </a:r>
            <a:r>
              <a:rPr lang="zh-CN" altLang="en-US" sz="2800" dirty="0">
                <a:latin typeface="华文楷体" panose="02010600040101010101" pitchFamily="2" charset="-122"/>
                <a:ea typeface="华文楷体" panose="02010600040101010101" pitchFamily="2" charset="-122"/>
              </a:rPr>
              <a:t>。</a:t>
            </a:r>
            <a:endParaRPr lang="en-US" sz="2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7303777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A9D9BCC2-3106-466C-A3D4-B70C9931D936}"/>
              </a:ext>
            </a:extLst>
          </p:cNvPr>
          <p:cNvSpPr>
            <a:spLocks noChangeArrowheads="1"/>
          </p:cNvSpPr>
          <p:nvPr/>
        </p:nvSpPr>
        <p:spPr bwMode="auto">
          <a:xfrm>
            <a:off x="234045" y="749752"/>
            <a:ext cx="9999888" cy="1324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sym typeface="Monotype Sorts" pitchFamily="2" charset="2"/>
              </a:rPr>
              <a:t>电荷守恒定律</a:t>
            </a:r>
            <a:endParaRPr lang="en-US" altLang="zh-CN" sz="3200" b="1" dirty="0">
              <a:solidFill>
                <a:srgbClr val="0066FF"/>
              </a:solidFill>
              <a:latin typeface="华文楷体" panose="02010600040101010101" pitchFamily="2" charset="-122"/>
              <a:ea typeface="华文楷体" panose="02010600040101010101" pitchFamily="2" charset="-122"/>
              <a:sym typeface="Monotype Sorts" pitchFamily="2" charset="2"/>
            </a:endParaRPr>
          </a:p>
          <a:p>
            <a:pPr marL="457200" indent="-457200">
              <a:spcBef>
                <a:spcPct val="50000"/>
              </a:spcBef>
              <a:buFont typeface="Wingdings" panose="05000000000000000000" pitchFamily="2" charset="2"/>
              <a:buChar char="q"/>
            </a:pPr>
            <a:endParaRPr lang="en-US" altLang="zh-CN"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3" name="Rectangle 3">
                <a:extLst>
                  <a:ext uri="{FF2B5EF4-FFF2-40B4-BE49-F238E27FC236}">
                    <a16:creationId xmlns:a16="http://schemas.microsoft.com/office/drawing/2014/main" id="{F240ED47-710E-4EB3-B44E-ADE0D215541B}"/>
                  </a:ext>
                </a:extLst>
              </p:cNvPr>
              <p:cNvSpPr txBox="1">
                <a:spLocks noChangeArrowheads="1"/>
              </p:cNvSpPr>
              <p:nvPr/>
            </p:nvSpPr>
            <p:spPr>
              <a:xfrm>
                <a:off x="1144360" y="1595489"/>
                <a:ext cx="8565697" cy="432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Aft>
                    <a:spcPts val="2400"/>
                  </a:spcAft>
                  <a:buNone/>
                </a:pP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实验证明，在一个与外界没有电荷交换的系统内，无论经过怎样的物理过程，系统正、负电荷量的代数和总是保持不变。</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gn="ctr" defTabSz="457200">
                  <a:lnSpc>
                    <a:spcPct val="130000"/>
                  </a:lnSpc>
                  <a:spcBef>
                    <a:spcPts val="24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sPre>
                        <m:sPrePr>
                          <m:ctrlPr>
                            <a:rPr lang="en-US" altLang="zh-CN" i="1">
                              <a:solidFill>
                                <a:srgbClr val="000000"/>
                              </a:solidFill>
                              <a:latin typeface="Cambria Math" panose="02040503050406030204" pitchFamily="18" charset="0"/>
                              <a:ea typeface="黑体" panose="02010609060101010101" pitchFamily="49" charset="-122"/>
                            </a:rPr>
                          </m:ctrlPr>
                        </m:sPrePr>
                        <m:sub>
                          <m:r>
                            <a:rPr lang="en-US" altLang="zh-CN" b="0" i="1" smtClean="0">
                              <a:solidFill>
                                <a:srgbClr val="000000"/>
                              </a:solidFill>
                              <a:latin typeface="Cambria Math" panose="02040503050406030204" pitchFamily="18" charset="0"/>
                              <a:ea typeface="黑体" panose="02010609060101010101" pitchFamily="49" charset="-122"/>
                            </a:rPr>
                            <m:t>92</m:t>
                          </m:r>
                        </m:sub>
                        <m:sup>
                          <m:r>
                            <a:rPr lang="en-US" altLang="zh-CN" b="0" i="1" smtClean="0">
                              <a:solidFill>
                                <a:srgbClr val="000000"/>
                              </a:solidFill>
                              <a:latin typeface="Cambria Math" panose="02040503050406030204" pitchFamily="18" charset="0"/>
                            </a:rPr>
                            <m:t>238</m:t>
                          </m:r>
                        </m:sup>
                        <m:e>
                          <m:r>
                            <a:rPr lang="en-US" altLang="zh-CN" b="0" i="1" smtClean="0">
                              <a:solidFill>
                                <a:srgbClr val="000000"/>
                              </a:solidFill>
                              <a:latin typeface="Cambria Math" panose="02040503050406030204" pitchFamily="18" charset="0"/>
                            </a:rPr>
                            <m:t>𝑈</m:t>
                          </m:r>
                        </m:e>
                      </m:sPre>
                      <m:r>
                        <a:rPr lang="en-US" altLang="zh-CN" b="0" smtClean="0">
                          <a:solidFill>
                            <a:srgbClr val="000000"/>
                          </a:solidFill>
                          <a:latin typeface="Cambria Math" panose="02040503050406030204" pitchFamily="18" charset="0"/>
                          <a:ea typeface="Cambria Math" panose="02040503050406030204" pitchFamily="18" charset="0"/>
                        </a:rPr>
                        <m:t>→</m:t>
                      </m:r>
                      <m:sPre>
                        <m:sPrePr>
                          <m:ctrlPr>
                            <a:rPr lang="en-US" altLang="zh-CN" i="1">
                              <a:solidFill>
                                <a:srgbClr val="000000"/>
                              </a:solidFill>
                              <a:latin typeface="Cambria Math" panose="02040503050406030204" pitchFamily="18" charset="0"/>
                              <a:ea typeface="黑体" panose="02010609060101010101" pitchFamily="49" charset="-122"/>
                            </a:rPr>
                          </m:ctrlPr>
                        </m:sPrePr>
                        <m:sub>
                          <m:r>
                            <a:rPr lang="en-US" altLang="zh-CN" b="0" i="1" smtClean="0">
                              <a:solidFill>
                                <a:srgbClr val="000000"/>
                              </a:solidFill>
                              <a:latin typeface="Cambria Math" panose="02040503050406030204" pitchFamily="18" charset="0"/>
                              <a:ea typeface="黑体" panose="02010609060101010101" pitchFamily="49" charset="-122"/>
                            </a:rPr>
                            <m:t>90</m:t>
                          </m:r>
                        </m:sub>
                        <m:sup>
                          <m:r>
                            <a:rPr lang="en-US" altLang="zh-CN" b="0" i="1" smtClean="0">
                              <a:solidFill>
                                <a:srgbClr val="000000"/>
                              </a:solidFill>
                              <a:latin typeface="Cambria Math" panose="02040503050406030204" pitchFamily="18" charset="0"/>
                            </a:rPr>
                            <m:t>234</m:t>
                          </m:r>
                        </m:sup>
                        <m:e>
                          <m:r>
                            <a:rPr lang="en-US" altLang="zh-CN" b="0" i="1" smtClean="0">
                              <a:solidFill>
                                <a:srgbClr val="000000"/>
                              </a:solidFill>
                              <a:latin typeface="Cambria Math" panose="02040503050406030204" pitchFamily="18" charset="0"/>
                            </a:rPr>
                            <m:t>𝑇h</m:t>
                          </m:r>
                          <m:r>
                            <a:rPr lang="en-US" altLang="zh-CN" b="0" smtClean="0">
                              <a:solidFill>
                                <a:srgbClr val="000000"/>
                              </a:solidFill>
                              <a:latin typeface="Cambria Math" panose="02040503050406030204" pitchFamily="18" charset="0"/>
                            </a:rPr>
                            <m:t>+</m:t>
                          </m:r>
                          <m:sPre>
                            <m:sPrePr>
                              <m:ctrlPr>
                                <a:rPr lang="en-US" altLang="zh-CN" i="1">
                                  <a:solidFill>
                                    <a:srgbClr val="000000"/>
                                  </a:solidFill>
                                  <a:latin typeface="Cambria Math" panose="02040503050406030204" pitchFamily="18" charset="0"/>
                                  <a:ea typeface="黑体" panose="02010609060101010101" pitchFamily="49" charset="-122"/>
                                </a:rPr>
                              </m:ctrlPr>
                            </m:sPrePr>
                            <m:sub>
                              <m:r>
                                <a:rPr lang="en-US" altLang="zh-CN" b="0" i="1" smtClean="0">
                                  <a:solidFill>
                                    <a:srgbClr val="000000"/>
                                  </a:solidFill>
                                  <a:latin typeface="Cambria Math" panose="02040503050406030204" pitchFamily="18" charset="0"/>
                                  <a:ea typeface="黑体" panose="02010609060101010101" pitchFamily="49" charset="-122"/>
                                </a:rPr>
                                <m:t>2</m:t>
                              </m:r>
                            </m:sub>
                            <m:sup>
                              <m:r>
                                <a:rPr lang="en-US" altLang="zh-CN" b="0" i="1" smtClean="0">
                                  <a:solidFill>
                                    <a:srgbClr val="000000"/>
                                  </a:solidFill>
                                  <a:latin typeface="Cambria Math" panose="02040503050406030204" pitchFamily="18" charset="0"/>
                                  <a:ea typeface="黑体" panose="02010609060101010101" pitchFamily="49" charset="-122"/>
                                </a:rPr>
                                <m:t>4</m:t>
                              </m:r>
                            </m:sup>
                            <m:e>
                              <m:r>
                                <a:rPr lang="en-US" altLang="zh-CN" b="0" i="1" smtClean="0">
                                  <a:solidFill>
                                    <a:srgbClr val="000000"/>
                                  </a:solidFill>
                                  <a:latin typeface="Cambria Math" panose="02040503050406030204" pitchFamily="18" charset="0"/>
                                </a:rPr>
                                <m:t>𝐻𝑒</m:t>
                              </m:r>
                            </m:e>
                          </m:sPre>
                        </m:e>
                      </m:sPre>
                    </m:oMath>
                  </m:oMathPara>
                </a14:m>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ctr" defTabSz="457200">
                  <a:lnSpc>
                    <a:spcPct val="130000"/>
                  </a:lnSpc>
                  <a:spcBef>
                    <a:spcPct val="50000"/>
                  </a:spcBef>
                  <a:spcAft>
                    <a:spcPts val="2400"/>
                  </a:spcAft>
                  <a:buFont typeface="Arial" panose="020B0604020202020204" pitchFamily="34" charset="0"/>
                  <a:buNone/>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14:m>
                  <m:oMath xmlns:m="http://schemas.openxmlformats.org/officeDocument/2006/math">
                    <m:r>
                      <a:rPr lang="zh-CN" altLang="en-US" b="0" i="1" dirty="0" smtClean="0">
                        <a:latin typeface="Cambria Math" panose="02040503050406030204" pitchFamily="18" charset="0"/>
                        <a:ea typeface="黑体" panose="02010609060101010101" pitchFamily="49" charset="-122"/>
                      </a:rPr>
                      <m:t>铀核</m:t>
                    </m:r>
                    <m:r>
                      <a:rPr lang="zh-CN" altLang="en-US" b="0" i="1" smtClean="0">
                        <a:latin typeface="Cambria Math" panose="02040503050406030204" pitchFamily="18" charset="0"/>
                        <a:ea typeface="黑体" panose="02010609060101010101" pitchFamily="49" charset="-122"/>
                      </a:rPr>
                      <m:t>→</m:t>
                    </m:r>
                    <m:r>
                      <a:rPr lang="zh-CN" altLang="en-US" b="0" i="1" dirty="0" smtClean="0">
                        <a:latin typeface="Cambria Math" panose="02040503050406030204" pitchFamily="18" charset="0"/>
                        <a:ea typeface="黑体" panose="02010609060101010101" pitchFamily="49" charset="-122"/>
                      </a:rPr>
                      <m:t>钍</m:t>
                    </m:r>
                    <m:r>
                      <a:rPr lang="en-US" altLang="zh-CN" b="0" dirty="0" smtClean="0">
                        <a:latin typeface="Cambria Math" panose="02040503050406030204" pitchFamily="18" charset="0"/>
                        <a:ea typeface="黑体" panose="02010609060101010101" pitchFamily="49" charset="-122"/>
                      </a:rPr>
                      <m:t>+</m:t>
                    </m:r>
                    <m:r>
                      <a:rPr lang="zh-CN" altLang="en-US" b="0" i="1" smtClean="0">
                        <a:latin typeface="Cambria Math" panose="02040503050406030204" pitchFamily="18" charset="0"/>
                        <a:ea typeface="黑体" panose="02010609060101010101" pitchFamily="49" charset="-122"/>
                      </a:rPr>
                      <m:t>𝛼</m:t>
                    </m:r>
                    <m:r>
                      <a:rPr lang="zh-CN" altLang="en-US" b="0" i="1" dirty="0" smtClean="0">
                        <a:latin typeface="Cambria Math" panose="02040503050406030204" pitchFamily="18" charset="0"/>
                        <a:ea typeface="黑体" panose="02010609060101010101" pitchFamily="49" charset="-122"/>
                      </a:rPr>
                      <m:t>粒子</m:t>
                    </m:r>
                  </m:oMath>
                </a14:m>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p>
              <a:p>
                <a:pPr>
                  <a:lnSpc>
                    <a:spcPct val="130000"/>
                  </a:lnSpc>
                  <a:buClr>
                    <a:srgbClr val="E48312"/>
                  </a:buClr>
                  <a:buFont typeface="Arial" panose="020B0604020202020204" pitchFamily="34" charset="0"/>
                  <a:buNone/>
                </a:pPr>
                <a14:m>
                  <m:oMathPara xmlns:m="http://schemas.openxmlformats.org/officeDocument/2006/math">
                    <m:oMathParaPr>
                      <m:jc m:val="center"/>
                    </m:oMathParaPr>
                    <m:oMath xmlns:m="http://schemas.openxmlformats.org/officeDocument/2006/math">
                      <m:sSup>
                        <m:sSupPr>
                          <m:ctrlPr>
                            <a:rPr lang="zh-CN" altLang="en-US" i="1">
                              <a:latin typeface="Cambria Math" panose="02040503050406030204" pitchFamily="18" charset="0"/>
                              <a:ea typeface="黑体" panose="02010609060101010101" pitchFamily="49" charset="-122"/>
                            </a:rPr>
                          </m:ctrlPr>
                        </m:sSupPr>
                        <m:e>
                          <m:r>
                            <a:rPr lang="zh-CN" altLang="en-US" b="0" i="1" smtClean="0">
                              <a:latin typeface="Cambria Math" panose="02040503050406030204" pitchFamily="18" charset="0"/>
                              <a:ea typeface="黑体" panose="02010609060101010101" pitchFamily="49" charset="-122"/>
                            </a:rPr>
                            <m:t>𝑒</m:t>
                          </m:r>
                        </m:e>
                        <m:sup>
                          <m:r>
                            <a:rPr lang="zh-CN" altLang="en-US" b="0" smtClean="0">
                              <a:latin typeface="Cambria Math" panose="02040503050406030204" pitchFamily="18" charset="0"/>
                              <a:ea typeface="黑体" panose="02010609060101010101" pitchFamily="49" charset="-122"/>
                            </a:rPr>
                            <m:t>+</m:t>
                          </m:r>
                        </m:sup>
                      </m:sSup>
                      <m:r>
                        <a:rPr lang="zh-CN" altLang="en-US" b="0" smtClean="0">
                          <a:latin typeface="Cambria Math" panose="02040503050406030204" pitchFamily="18" charset="0"/>
                          <a:ea typeface="黑体" panose="02010609060101010101" pitchFamily="49" charset="-122"/>
                        </a:rPr>
                        <m:t>+</m:t>
                      </m:r>
                      <m:sSup>
                        <m:sSupPr>
                          <m:ctrlPr>
                            <a:rPr lang="zh-CN" altLang="en-US" i="1">
                              <a:latin typeface="Cambria Math" panose="02040503050406030204" pitchFamily="18" charset="0"/>
                              <a:ea typeface="黑体" panose="02010609060101010101" pitchFamily="49" charset="-122"/>
                            </a:rPr>
                          </m:ctrlPr>
                        </m:sSupPr>
                        <m:e>
                          <m:r>
                            <a:rPr lang="zh-CN" altLang="en-US" b="0" i="1" smtClean="0">
                              <a:latin typeface="Cambria Math" panose="02040503050406030204" pitchFamily="18" charset="0"/>
                              <a:ea typeface="黑体" panose="02010609060101010101" pitchFamily="49" charset="-122"/>
                            </a:rPr>
                            <m:t>𝑒</m:t>
                          </m:r>
                        </m:e>
                        <m:sup>
                          <m:r>
                            <a:rPr lang="zh-CN" altLang="en-US" b="0" smtClean="0">
                              <a:latin typeface="Cambria Math" panose="02040503050406030204" pitchFamily="18" charset="0"/>
                              <a:ea typeface="黑体" panose="02010609060101010101" pitchFamily="49" charset="-122"/>
                            </a:rPr>
                            <m:t>−</m:t>
                          </m:r>
                        </m:sup>
                      </m:sSup>
                      <m:r>
                        <a:rPr lang="zh-CN" altLang="en-US" b="0" smtClean="0">
                          <a:latin typeface="Cambria Math" panose="02040503050406030204" pitchFamily="18" charset="0"/>
                          <a:ea typeface="黑体" panose="02010609060101010101" pitchFamily="49" charset="-122"/>
                        </a:rPr>
                        <m:t>→</m:t>
                      </m:r>
                      <m:r>
                        <a:rPr lang="zh-CN" altLang="en-US" b="0" i="1" smtClean="0">
                          <a:latin typeface="Cambria Math" panose="02040503050406030204" pitchFamily="18" charset="0"/>
                          <a:ea typeface="黑体" panose="02010609060101010101" pitchFamily="49" charset="-122"/>
                        </a:rPr>
                        <m:t>𝛾</m:t>
                      </m:r>
                      <m:r>
                        <m:rPr>
                          <m:nor/>
                        </m:rPr>
                        <a:rPr lang="zh-CN" altLang="en-US">
                          <a:latin typeface="Times New Roman" panose="02020603050405020304" pitchFamily="18" charset="0"/>
                          <a:ea typeface="华文楷体" panose="02010600040101010101" pitchFamily="2" charset="-122"/>
                          <a:cs typeface="Times New Roman" panose="02020603050405020304" pitchFamily="18" charset="0"/>
                        </a:rPr>
                        <m:t>  </m:t>
                      </m:r>
                      <m:r>
                        <a:rPr lang="zh-CN" altLang="en-US" b="0" smtClean="0">
                          <a:latin typeface="Cambria Math" panose="02040503050406030204" pitchFamily="18" charset="0"/>
                          <a:ea typeface="黑体" panose="02010609060101010101" pitchFamily="49" charset="-122"/>
                        </a:rPr>
                        <m:t>湮灭</m:t>
                      </m:r>
                    </m:oMath>
                  </m:oMathPara>
                </a14:m>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p>
                <a:pPr marL="0" indent="0" algn="ctr" defTabSz="457200">
                  <a:lnSpc>
                    <a:spcPct val="130000"/>
                  </a:lnSpc>
                  <a:spcBef>
                    <a:spcPct val="50000"/>
                  </a:spcBef>
                  <a:buFont typeface="Arial" panose="020B0604020202020204" pitchFamily="34" charset="0"/>
                  <a:buNone/>
                </a:pP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3" name="Rectangle 3">
                <a:extLst>
                  <a:ext uri="{FF2B5EF4-FFF2-40B4-BE49-F238E27FC236}">
                    <a16:creationId xmlns:a16="http://schemas.microsoft.com/office/drawing/2014/main" id="{F240ED47-710E-4EB3-B44E-ADE0D215541B}"/>
                  </a:ext>
                </a:extLst>
              </p:cNvPr>
              <p:cNvSpPr txBox="1">
                <a:spLocks noRot="1" noChangeAspect="1" noMove="1" noResize="1" noEditPoints="1" noAdjustHandles="1" noChangeArrowheads="1" noChangeShapeType="1" noTextEdit="1"/>
              </p:cNvSpPr>
              <p:nvPr/>
            </p:nvSpPr>
            <p:spPr>
              <a:xfrm>
                <a:off x="1144360" y="1595489"/>
                <a:ext cx="8565697" cy="4322763"/>
              </a:xfrm>
              <a:prstGeom prst="rect">
                <a:avLst/>
              </a:prstGeom>
              <a:blipFill>
                <a:blip r:embed="rId2"/>
                <a:stretch>
                  <a:fillRect l="-1495"/>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15EF90B4-14B6-4751-8347-1024CDD4D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8899" y="3002665"/>
            <a:ext cx="2429214" cy="3105583"/>
          </a:xfrm>
          <a:prstGeom prst="rect">
            <a:avLst/>
          </a:prstGeom>
        </p:spPr>
      </p:pic>
    </p:spTree>
    <p:extLst>
      <p:ext uri="{BB962C8B-B14F-4D97-AF65-F5344CB8AC3E}">
        <p14:creationId xmlns:p14="http://schemas.microsoft.com/office/powerpoint/2010/main" val="59292256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a:extLst>
              <a:ext uri="{FF2B5EF4-FFF2-40B4-BE49-F238E27FC236}">
                <a16:creationId xmlns:a16="http://schemas.microsoft.com/office/drawing/2014/main" id="{A9D9BCC2-3106-466C-A3D4-B70C9931D936}"/>
              </a:ext>
            </a:extLst>
          </p:cNvPr>
          <p:cNvSpPr>
            <a:spLocks noChangeArrowheads="1"/>
          </p:cNvSpPr>
          <p:nvPr/>
        </p:nvSpPr>
        <p:spPr bwMode="auto">
          <a:xfrm>
            <a:off x="348344" y="794656"/>
            <a:ext cx="5566681" cy="1324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sym typeface="Monotype Sorts" pitchFamily="2" charset="2"/>
              </a:rPr>
              <a:t>电荷的相对论不变性</a:t>
            </a:r>
          </a:p>
          <a:p>
            <a:pPr marL="457200" indent="-457200">
              <a:spcBef>
                <a:spcPct val="50000"/>
              </a:spcBef>
              <a:buFont typeface="Wingdings" panose="05000000000000000000" pitchFamily="2" charset="2"/>
              <a:buChar char="q"/>
            </a:pPr>
            <a:endParaRPr lang="en-US" altLang="zh-CN" sz="3200" b="1" dirty="0">
              <a:solidFill>
                <a:srgbClr val="0066FF"/>
              </a:solidFill>
              <a:latin typeface="华文楷体" panose="02010600040101010101" pitchFamily="2" charset="-122"/>
              <a:ea typeface="华文楷体" panose="02010600040101010101" pitchFamily="2" charset="-122"/>
            </a:endParaRPr>
          </a:p>
        </p:txBody>
      </p:sp>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pic>
        <p:nvPicPr>
          <p:cNvPr id="8" name="内容占位符 13">
            <a:extLst>
              <a:ext uri="{FF2B5EF4-FFF2-40B4-BE49-F238E27FC236}">
                <a16:creationId xmlns:a16="http://schemas.microsoft.com/office/drawing/2014/main" id="{F6949F8C-5A68-4358-A38D-235C8DEA3D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6492" y="1622396"/>
            <a:ext cx="6708183" cy="3197358"/>
          </a:xfrm>
          <a:prstGeom prst="rect">
            <a:avLst/>
          </a:prstGeom>
          <a:ln>
            <a:noFill/>
          </a:ln>
          <a:effectLst>
            <a:softEdge rad="112500"/>
          </a:effectLst>
        </p:spPr>
      </p:pic>
      <p:sp>
        <p:nvSpPr>
          <p:cNvPr id="9" name="文本框 8">
            <a:extLst>
              <a:ext uri="{FF2B5EF4-FFF2-40B4-BE49-F238E27FC236}">
                <a16:creationId xmlns:a16="http://schemas.microsoft.com/office/drawing/2014/main" id="{8110DFE8-14F8-41D1-B11C-75F0FC38DC06}"/>
              </a:ext>
            </a:extLst>
          </p:cNvPr>
          <p:cNvSpPr txBox="1"/>
          <p:nvPr/>
        </p:nvSpPr>
        <p:spPr>
          <a:xfrm>
            <a:off x="3383657" y="5603421"/>
            <a:ext cx="5220580" cy="838691"/>
          </a:xfrm>
          <a:prstGeom prst="rect">
            <a:avLst/>
          </a:prstGeom>
          <a:noFill/>
        </p:spPr>
        <p:txBody>
          <a:bodyPr wrap="square" rtlCol="0">
            <a:spAutoFit/>
          </a:bodyPr>
          <a:lstStyle/>
          <a:p>
            <a:pPr algn="ctr">
              <a:lnSpc>
                <a:spcPct val="200000"/>
              </a:lnSpc>
            </a:pPr>
            <a:r>
              <a:rPr lang="zh-CN" altLang="en-US" sz="2800" b="1" dirty="0">
                <a:solidFill>
                  <a:srgbClr val="0066FF"/>
                </a:solidFill>
                <a:latin typeface="华文楷体" panose="02010600040101010101" pitchFamily="2" charset="-122"/>
                <a:ea typeface="华文楷体" panose="02010600040101010101" pitchFamily="2" charset="-122"/>
              </a:rPr>
              <a:t>电荷的电量与其运动状态无关</a:t>
            </a:r>
            <a:endParaRPr lang="zh-CN" altLang="en-US" sz="2400" b="1" kern="0" dirty="0">
              <a:solidFill>
                <a:srgbClr val="0066FF"/>
              </a:solidFill>
              <a:latin typeface="华文楷体" panose="02010600040101010101" pitchFamily="2" charset="-122"/>
              <a:ea typeface="华文楷体" panose="02010600040101010101" pitchFamily="2" charset="-122"/>
            </a:endParaRPr>
          </a:p>
        </p:txBody>
      </p:sp>
      <p:sp>
        <p:nvSpPr>
          <p:cNvPr id="2" name="文本框 1">
            <a:extLst>
              <a:ext uri="{FF2B5EF4-FFF2-40B4-BE49-F238E27FC236}">
                <a16:creationId xmlns:a16="http://schemas.microsoft.com/office/drawing/2014/main" id="{FE09011D-B922-4FBF-9ACF-518E35EC6A1D}"/>
              </a:ext>
            </a:extLst>
          </p:cNvPr>
          <p:cNvSpPr txBox="1"/>
          <p:nvPr/>
        </p:nvSpPr>
        <p:spPr>
          <a:xfrm>
            <a:off x="1618455" y="4976167"/>
            <a:ext cx="8533105" cy="830997"/>
          </a:xfrm>
          <a:prstGeom prst="rect">
            <a:avLst/>
          </a:prstGeom>
          <a:noFill/>
        </p:spPr>
        <p:txBody>
          <a:bodyPr wrap="none" rtlCol="0">
            <a:spAutoFit/>
          </a:bodyPr>
          <a:lstStyle/>
          <a:p>
            <a:pPr marL="342900" indent="-342900">
              <a:buFontTx/>
              <a:buChar char="-"/>
            </a:pPr>
            <a:r>
              <a:rPr lang="zh-CN" altLang="en-US" sz="2400" dirty="0"/>
              <a:t>氦原子两质子能量远大于氢分子两质子的能量（一百万倍）</a:t>
            </a:r>
            <a:endParaRPr lang="en-US" altLang="zh-CN" sz="2400" dirty="0"/>
          </a:p>
          <a:p>
            <a:pPr marL="342900" indent="-342900">
              <a:buFontTx/>
              <a:buChar char="-"/>
            </a:pPr>
            <a:r>
              <a:rPr lang="zh-CN" altLang="en-US" sz="2400" dirty="0"/>
              <a:t>氦原子和氢分子都是电中性，相对差异小于</a:t>
            </a:r>
            <a:r>
              <a:rPr lang="en-US" altLang="zh-CN" sz="2400" dirty="0"/>
              <a:t>10</a:t>
            </a:r>
            <a:r>
              <a:rPr lang="en-US" altLang="zh-CN" sz="2400" baseline="30000" dirty="0"/>
              <a:t>-20</a:t>
            </a:r>
            <a:endParaRPr lang="en-US" sz="2400" baseline="30000" dirty="0"/>
          </a:p>
        </p:txBody>
      </p:sp>
    </p:spTree>
    <p:extLst>
      <p:ext uri="{BB962C8B-B14F-4D97-AF65-F5344CB8AC3E}">
        <p14:creationId xmlns:p14="http://schemas.microsoft.com/office/powerpoint/2010/main" val="325048844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pic>
        <p:nvPicPr>
          <p:cNvPr id="13" name="Picture 2" descr="http://5b0988e595225.cdn.sohucs.com/images/20190101/51f4e025a67f4e6ea2d04011962f196d.jpeg">
            <a:extLst>
              <a:ext uri="{FF2B5EF4-FFF2-40B4-BE49-F238E27FC236}">
                <a16:creationId xmlns:a16="http://schemas.microsoft.com/office/drawing/2014/main" id="{505F4CAA-433C-4AB4-BF6D-0851BC802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8163" y="892548"/>
            <a:ext cx="7145205" cy="5201767"/>
          </a:xfrm>
          <a:prstGeom prst="rect">
            <a:avLst/>
          </a:prstGeom>
          <a:noFill/>
          <a:extLst>
            <a:ext uri="{909E8E84-426E-40DD-AFC4-6F175D3DCCD1}">
              <a14:hiddenFill xmlns:a14="http://schemas.microsoft.com/office/drawing/2010/main">
                <a:solidFill>
                  <a:srgbClr val="FFFFFF"/>
                </a:solidFill>
              </a14:hiddenFill>
            </a:ext>
          </a:extLst>
        </p:spPr>
      </p:pic>
      <p:sp>
        <p:nvSpPr>
          <p:cNvPr id="17" name="Text Box 51">
            <a:extLst>
              <a:ext uri="{FF2B5EF4-FFF2-40B4-BE49-F238E27FC236}">
                <a16:creationId xmlns:a16="http://schemas.microsoft.com/office/drawing/2014/main" id="{599C92CA-E5BC-424B-B225-C06125DFBEA0}"/>
              </a:ext>
            </a:extLst>
          </p:cNvPr>
          <p:cNvSpPr txBox="1">
            <a:spLocks noChangeArrowheads="1"/>
          </p:cNvSpPr>
          <p:nvPr/>
        </p:nvSpPr>
        <p:spPr bwMode="auto">
          <a:xfrm>
            <a:off x="364209" y="4886608"/>
            <a:ext cx="3305637"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库仑 </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(C. A. Coulomb</a:t>
            </a:r>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2" name="矩形 1">
            <a:extLst>
              <a:ext uri="{FF2B5EF4-FFF2-40B4-BE49-F238E27FC236}">
                <a16:creationId xmlns:a16="http://schemas.microsoft.com/office/drawing/2014/main" id="{425FD65B-3A51-4CD1-AF2F-1005DEC2420F}"/>
              </a:ext>
            </a:extLst>
          </p:cNvPr>
          <p:cNvSpPr/>
          <p:nvPr/>
        </p:nvSpPr>
        <p:spPr>
          <a:xfrm>
            <a:off x="632689" y="5362336"/>
            <a:ext cx="2895344" cy="575157"/>
          </a:xfrm>
          <a:prstGeom prst="rect">
            <a:avLst/>
          </a:prstGeom>
        </p:spPr>
        <p:txBody>
          <a:bodyPr wrap="none">
            <a:spAutoFit/>
          </a:bodyPr>
          <a:lstStyle/>
          <a:p>
            <a:pPr>
              <a:lnSpc>
                <a:spcPct val="120000"/>
              </a:lnSpc>
              <a:defRPr/>
            </a:pP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法国：</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1736 </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1806</a:t>
            </a:r>
          </a:p>
        </p:txBody>
      </p:sp>
      <p:sp>
        <p:nvSpPr>
          <p:cNvPr id="19" name="Rectangle 3">
            <a:extLst>
              <a:ext uri="{FF2B5EF4-FFF2-40B4-BE49-F238E27FC236}">
                <a16:creationId xmlns:a16="http://schemas.microsoft.com/office/drawing/2014/main" id="{D1607ABB-48F4-4035-8FEF-D7E4FD320992}"/>
              </a:ext>
            </a:extLst>
          </p:cNvPr>
          <p:cNvSpPr>
            <a:spLocks noChangeArrowheads="1"/>
          </p:cNvSpPr>
          <p:nvPr/>
        </p:nvSpPr>
        <p:spPr bwMode="auto">
          <a:xfrm>
            <a:off x="421008" y="763685"/>
            <a:ext cx="60614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sym typeface="Monotype Sorts" pitchFamily="2" charset="2"/>
              </a:rPr>
              <a:t>库伦定律</a:t>
            </a:r>
            <a:endParaRPr lang="en-US" altLang="zh-CN" sz="3200" b="1" dirty="0">
              <a:solidFill>
                <a:srgbClr val="0066FF"/>
              </a:solidFill>
              <a:ea typeface="华文楷体" panose="0201060004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77AB8A1A-D654-4324-AA87-76B7DD338CFB}"/>
              </a:ext>
            </a:extLst>
          </p:cNvPr>
          <p:cNvSpPr/>
          <p:nvPr/>
        </p:nvSpPr>
        <p:spPr>
          <a:xfrm>
            <a:off x="5642832" y="602468"/>
            <a:ext cx="3374570" cy="580159"/>
          </a:xfrm>
          <a:prstGeom prst="rect">
            <a:avLst/>
          </a:prstGeom>
        </p:spPr>
        <p:txBody>
          <a:bodyPr wrap="square">
            <a:spAutoFit/>
          </a:bodyPr>
          <a:lstStyle/>
          <a:p>
            <a:pPr>
              <a:lnSpc>
                <a:spcPct val="120000"/>
              </a:lnSpc>
              <a:defRPr/>
            </a:pPr>
            <a:r>
              <a:rPr lang="en-US" altLang="zh-CN" sz="2800" b="1" dirty="0">
                <a:latin typeface="华文楷体" panose="02010600040101010101" pitchFamily="2" charset="-122"/>
                <a:ea typeface="华文楷体" panose="02010600040101010101" pitchFamily="2" charset="-122"/>
                <a:cs typeface="Times New Roman" panose="02020603050405020304" pitchFamily="18" charset="0"/>
              </a:rPr>
              <a:t>1785</a:t>
            </a:r>
            <a:r>
              <a:rPr lang="zh-CN" altLang="en-US" sz="2800" b="1" dirty="0">
                <a:latin typeface="华文楷体" panose="02010600040101010101" pitchFamily="2" charset="-122"/>
                <a:ea typeface="华文楷体" panose="02010600040101010101" pitchFamily="2" charset="-122"/>
                <a:cs typeface="Times New Roman" panose="02020603050405020304" pitchFamily="18" charset="0"/>
              </a:rPr>
              <a:t>年：（扭秤实验）</a:t>
            </a:r>
            <a:endParaRPr lang="en-US" altLang="zh-CN" sz="2800" b="1" dirty="0">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75778" name="Picture 2" descr="Coulomb&amp;#39;s law - Wikipedia">
            <a:extLst>
              <a:ext uri="{FF2B5EF4-FFF2-40B4-BE49-F238E27FC236}">
                <a16:creationId xmlns:a16="http://schemas.microsoft.com/office/drawing/2014/main" id="{FC321207-F00F-4423-A143-A2341F22D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18" y="1747519"/>
            <a:ext cx="2462473" cy="289900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7BEA73F-B929-4D44-B109-E260D077C368}"/>
              </a:ext>
            </a:extLst>
          </p:cNvPr>
          <p:cNvSpPr txBox="1"/>
          <p:nvPr/>
        </p:nvSpPr>
        <p:spPr>
          <a:xfrm>
            <a:off x="7008838" y="6151630"/>
            <a:ext cx="3755572"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如何校准小球所带电量</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40592397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 grpId="0"/>
      <p:bldP spid="5"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1" name="矩形 10">
            <a:extLst>
              <a:ext uri="{FF2B5EF4-FFF2-40B4-BE49-F238E27FC236}">
                <a16:creationId xmlns:a16="http://schemas.microsoft.com/office/drawing/2014/main" id="{17C24174-15F1-419C-A44B-B9730C11CF20}"/>
              </a:ext>
            </a:extLst>
          </p:cNvPr>
          <p:cNvSpPr/>
          <p:nvPr/>
        </p:nvSpPr>
        <p:spPr>
          <a:xfrm>
            <a:off x="807818" y="1394294"/>
            <a:ext cx="10844448" cy="1384995"/>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在真空中， 两个静止点电荷之间的相互作用力大小，与它们的电量的乘积成正比，与它们之间距离的平方成反比；作用力的方向沿着它们的联线，同号电荷相斥，异号电荷相吸。</a:t>
            </a:r>
            <a:endParaRPr lang="en-US" sz="2800" dirty="0">
              <a:latin typeface="华文楷体" panose="02010600040101010101" pitchFamily="2" charset="-122"/>
              <a:ea typeface="华文楷体" panose="02010600040101010101" pitchFamily="2" charset="-122"/>
            </a:endParaRPr>
          </a:p>
        </p:txBody>
      </p:sp>
      <p:pic>
        <p:nvPicPr>
          <p:cNvPr id="12" name="Picture 6" descr="Coulomb&amp;#39;s Law Electric Charge Force Electrostatics, PNG, 1280x1024px,  Coulomb, Area, Blue, Charlesaugustin De Coulomb, Diagram Download">
            <a:extLst>
              <a:ext uri="{FF2B5EF4-FFF2-40B4-BE49-F238E27FC236}">
                <a16:creationId xmlns:a16="http://schemas.microsoft.com/office/drawing/2014/main" id="{09D88AE1-9F9E-4748-9041-AD8E666FCA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716"/>
          <a:stretch/>
        </p:blipFill>
        <p:spPr bwMode="auto">
          <a:xfrm>
            <a:off x="1046967" y="3013032"/>
            <a:ext cx="5049033" cy="30812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7FE9296B-936E-792B-76B0-8B54FE53AA26}"/>
              </a:ext>
            </a:extLst>
          </p:cNvPr>
          <p:cNvSpPr>
            <a:spLocks noChangeArrowheads="1"/>
          </p:cNvSpPr>
          <p:nvPr/>
        </p:nvSpPr>
        <p:spPr bwMode="auto">
          <a:xfrm>
            <a:off x="421008" y="763685"/>
            <a:ext cx="60614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sym typeface="Monotype Sorts" pitchFamily="2" charset="2"/>
              </a:rPr>
              <a:t>库伦定律</a:t>
            </a:r>
            <a:endParaRPr lang="en-US" altLang="zh-CN" sz="3200" b="1" dirty="0">
              <a:solidFill>
                <a:srgbClr val="0066FF"/>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701F659-9DA6-1409-4607-0BB17B10E805}"/>
                  </a:ext>
                </a:extLst>
              </p:cNvPr>
              <p:cNvSpPr/>
              <p:nvPr/>
            </p:nvSpPr>
            <p:spPr>
              <a:xfrm>
                <a:off x="6517891" y="3277517"/>
                <a:ext cx="2986395" cy="974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a:rPr lang="en-US" altLang="zh-CN" sz="2800" i="1">
                              <a:latin typeface="Cambria Math" panose="02040503050406030204" pitchFamily="18" charset="0"/>
                            </a:rPr>
                            <m:t>𝑭</m:t>
                          </m:r>
                        </m:e>
                      </m:acc>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𝟏</m:t>
                          </m:r>
                        </m:num>
                        <m:den>
                          <m:r>
                            <a:rPr lang="en-US" altLang="zh-CN" sz="2800" i="1">
                              <a:latin typeface="Cambria Math" panose="02040503050406030204" pitchFamily="18" charset="0"/>
                            </a:rPr>
                            <m:t>𝟒</m:t>
                          </m:r>
                          <m:r>
                            <a:rPr lang="zh-CN" altLang="en-US" sz="2800" i="1">
                              <a:latin typeface="Cambria Math" panose="02040503050406030204" pitchFamily="18" charset="0"/>
                            </a:rPr>
                            <m:t>𝝅</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𝜺</m:t>
                              </m:r>
                            </m:e>
                            <m:sub>
                              <m:r>
                                <a:rPr lang="en-US" altLang="zh-CN" sz="2800" i="1">
                                  <a:latin typeface="Cambria Math" panose="02040503050406030204" pitchFamily="18" charset="0"/>
                                </a:rPr>
                                <m:t>𝟎</m:t>
                              </m:r>
                            </m:sub>
                          </m:sSub>
                        </m:den>
                      </m:f>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𝒒</m:t>
                              </m:r>
                            </m:e>
                            <m:sub>
                              <m:r>
                                <a:rPr lang="en-US" altLang="zh-CN" sz="2800" b="0" i="1" smtClean="0">
                                  <a:latin typeface="Cambria Math" panose="02040503050406030204" pitchFamily="18" charset="0"/>
                                </a:rPr>
                                <m:t>1</m:t>
                              </m:r>
                            </m:sub>
                          </m:sSub>
                          <m:r>
                            <a:rPr lang="en-US" altLang="zh-CN" sz="2800" i="1">
                              <a:latin typeface="Cambria Math" panose="02040503050406030204" pitchFamily="18" charset="0"/>
                            </a:rPr>
                            <m:t>𝒒</m:t>
                          </m:r>
                          <m:r>
                            <a:rPr lang="en-US" altLang="zh-CN" sz="2800" b="0" i="1" baseline="-25000" smtClean="0">
                              <a:latin typeface="Cambria Math" panose="02040503050406030204" pitchFamily="18" charset="0"/>
                            </a:rPr>
                            <m:t>2</m:t>
                          </m:r>
                        </m:num>
                        <m:den>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𝒓</m:t>
                              </m:r>
                            </m:e>
                            <m:sup>
                              <m:r>
                                <a:rPr lang="en-US" altLang="zh-CN" sz="2800" i="1">
                                  <a:latin typeface="Cambria Math" panose="02040503050406030204" pitchFamily="18" charset="0"/>
                                </a:rPr>
                                <m:t>𝟐</m:t>
                              </m:r>
                            </m:sup>
                          </m:sSup>
                        </m:den>
                      </m:f>
                      <m:sSub>
                        <m:sSubPr>
                          <m:ctrlPr>
                            <a:rPr lang="en-US" altLang="zh-CN" sz="2800" i="1">
                              <a:latin typeface="Cambria Math" panose="02040503050406030204" pitchFamily="18" charset="0"/>
                            </a:rPr>
                          </m:ctrlPr>
                        </m:sSub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𝒆</m:t>
                              </m:r>
                            </m:e>
                          </m:acc>
                        </m:e>
                        <m:sub>
                          <m:r>
                            <a:rPr lang="en-US" altLang="zh-CN" sz="2800" i="1">
                              <a:latin typeface="Cambria Math" panose="02040503050406030204" pitchFamily="18" charset="0"/>
                            </a:rPr>
                            <m:t>𝒓</m:t>
                          </m:r>
                        </m:sub>
                      </m:sSub>
                    </m:oMath>
                  </m:oMathPara>
                </a14:m>
                <a:endParaRPr lang="en-US" sz="2800" dirty="0"/>
              </a:p>
            </p:txBody>
          </p:sp>
        </mc:Choice>
        <mc:Fallback xmlns="">
          <p:sp>
            <p:nvSpPr>
              <p:cNvPr id="8" name="矩形 7">
                <a:extLst>
                  <a:ext uri="{FF2B5EF4-FFF2-40B4-BE49-F238E27FC236}">
                    <a16:creationId xmlns:a16="http://schemas.microsoft.com/office/drawing/2014/main" id="{9701F659-9DA6-1409-4607-0BB17B10E805}"/>
                  </a:ext>
                </a:extLst>
              </p:cNvPr>
              <p:cNvSpPr>
                <a:spLocks noRot="1" noChangeAspect="1" noMove="1" noResize="1" noEditPoints="1" noAdjustHandles="1" noChangeArrowheads="1" noChangeShapeType="1" noTextEdit="1"/>
              </p:cNvSpPr>
              <p:nvPr/>
            </p:nvSpPr>
            <p:spPr>
              <a:xfrm>
                <a:off x="6517891" y="3277517"/>
                <a:ext cx="2986395" cy="97430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60B9618-F119-16A9-76B1-C47CC32AAF3C}"/>
                  </a:ext>
                </a:extLst>
              </p:cNvPr>
              <p:cNvSpPr/>
              <p:nvPr/>
            </p:nvSpPr>
            <p:spPr>
              <a:xfrm>
                <a:off x="9783411" y="3269337"/>
                <a:ext cx="1695015" cy="974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FF0000"/>
                          </a:solidFill>
                          <a:latin typeface="Cambria Math" panose="02040503050406030204" pitchFamily="18" charset="0"/>
                          <a:ea typeface="华文新魏" panose="02010800040101010101" pitchFamily="2" charset="-122"/>
                        </a:rPr>
                        <m:t>𝑘</m:t>
                      </m:r>
                      <m:r>
                        <a:rPr lang="en-US" altLang="zh-CN" sz="2800" b="0" i="1" kern="0" smtClean="0">
                          <a:solidFill>
                            <a:srgbClr val="FF0000"/>
                          </a:solidFill>
                          <a:latin typeface="Cambria Math" panose="02040503050406030204" pitchFamily="18" charset="0"/>
                          <a:ea typeface="华文新魏" panose="02010800040101010101" pitchFamily="2" charset="-122"/>
                        </a:rPr>
                        <m:t>=</m:t>
                      </m:r>
                      <m:f>
                        <m:fPr>
                          <m:ctrlPr>
                            <a:rPr lang="en-US" altLang="zh-CN" sz="2800" i="1" kern="0">
                              <a:solidFill>
                                <a:srgbClr val="FF0000"/>
                              </a:solidFill>
                              <a:latin typeface="Cambria Math" panose="02040503050406030204" pitchFamily="18" charset="0"/>
                              <a:ea typeface="华文新魏" panose="02010800040101010101" pitchFamily="2" charset="-122"/>
                            </a:rPr>
                          </m:ctrlPr>
                        </m:fPr>
                        <m:num>
                          <m:r>
                            <a:rPr lang="en-US" altLang="zh-CN" sz="2800" b="0" i="1" kern="0">
                              <a:solidFill>
                                <a:srgbClr val="FF0000"/>
                              </a:solidFill>
                              <a:latin typeface="Cambria Math" panose="02040503050406030204" pitchFamily="18" charset="0"/>
                              <a:ea typeface="华文新魏" panose="02010800040101010101" pitchFamily="2" charset="-122"/>
                            </a:rPr>
                            <m:t>1</m:t>
                          </m:r>
                        </m:num>
                        <m:den>
                          <m:r>
                            <a:rPr lang="en-US" altLang="zh-CN" sz="2800" b="0" i="1" kern="0">
                              <a:solidFill>
                                <a:srgbClr val="FF0000"/>
                              </a:solidFill>
                              <a:latin typeface="Cambria Math" panose="02040503050406030204" pitchFamily="18" charset="0"/>
                              <a:ea typeface="华文新魏" panose="02010800040101010101" pitchFamily="2" charset="-122"/>
                            </a:rPr>
                            <m:t>4</m:t>
                          </m:r>
                          <m:r>
                            <a:rPr lang="zh-CN" altLang="en-US" sz="2800" b="0" i="1" kern="0">
                              <a:solidFill>
                                <a:srgbClr val="FF0000"/>
                              </a:solidFill>
                              <a:latin typeface="Cambria Math" panose="02040503050406030204" pitchFamily="18" charset="0"/>
                              <a:ea typeface="华文新魏" panose="02010800040101010101" pitchFamily="2" charset="-122"/>
                            </a:rPr>
                            <m:t>𝜋</m:t>
                          </m:r>
                          <m:sSub>
                            <m:sSubPr>
                              <m:ctrlPr>
                                <a:rPr lang="en-US" altLang="zh-CN" sz="2800" i="1" kern="0">
                                  <a:solidFill>
                                    <a:srgbClr val="FF0000"/>
                                  </a:solidFill>
                                  <a:latin typeface="Cambria Math" panose="02040503050406030204" pitchFamily="18" charset="0"/>
                                  <a:ea typeface="华文新魏" panose="02010800040101010101" pitchFamily="2" charset="-122"/>
                                </a:rPr>
                              </m:ctrlPr>
                            </m:sSubPr>
                            <m:e>
                              <m:r>
                                <a:rPr lang="zh-CN" altLang="en-US" sz="2800" b="0" i="1" kern="0">
                                  <a:solidFill>
                                    <a:srgbClr val="FF0000"/>
                                  </a:solidFill>
                                  <a:latin typeface="Cambria Math" panose="02040503050406030204" pitchFamily="18" charset="0"/>
                                  <a:ea typeface="华文新魏" panose="02010800040101010101" pitchFamily="2" charset="-122"/>
                                </a:rPr>
                                <m:t>𝜀</m:t>
                              </m:r>
                            </m:e>
                            <m:sub>
                              <m:r>
                                <a:rPr lang="en-US" altLang="zh-CN" sz="2800" b="0" i="1" kern="0">
                                  <a:solidFill>
                                    <a:srgbClr val="FF0000"/>
                                  </a:solidFill>
                                  <a:latin typeface="Cambria Math" panose="02040503050406030204" pitchFamily="18" charset="0"/>
                                  <a:ea typeface="华文新魏" panose="02010800040101010101" pitchFamily="2" charset="-122"/>
                                </a:rPr>
                                <m:t>0</m:t>
                              </m:r>
                            </m:sub>
                          </m:sSub>
                        </m:den>
                      </m:f>
                    </m:oMath>
                  </m:oMathPara>
                </a14:m>
                <a:endPar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C60B9618-F119-16A9-76B1-C47CC32AAF3C}"/>
                  </a:ext>
                </a:extLst>
              </p:cNvPr>
              <p:cNvSpPr>
                <a:spLocks noRot="1" noChangeAspect="1" noMove="1" noResize="1" noEditPoints="1" noAdjustHandles="1" noChangeArrowheads="1" noChangeShapeType="1" noTextEdit="1"/>
              </p:cNvSpPr>
              <p:nvPr/>
            </p:nvSpPr>
            <p:spPr>
              <a:xfrm>
                <a:off x="9783411" y="3269337"/>
                <a:ext cx="1695015" cy="97494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内容占位符 4">
                <a:extLst>
                  <a:ext uri="{FF2B5EF4-FFF2-40B4-BE49-F238E27FC236}">
                    <a16:creationId xmlns:a16="http://schemas.microsoft.com/office/drawing/2014/main" id="{CBB2E7D4-3ECE-7DC0-A64A-F9A78A65CD7E}"/>
                  </a:ext>
                </a:extLst>
              </p:cNvPr>
              <p:cNvSpPr txBox="1">
                <a:spLocks/>
              </p:cNvSpPr>
              <p:nvPr/>
            </p:nvSpPr>
            <p:spPr>
              <a:xfrm>
                <a:off x="6096000" y="4734332"/>
                <a:ext cx="5548548" cy="164316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50000"/>
                  </a:spcBef>
                  <a:buClr>
                    <a:srgbClr val="E48312"/>
                  </a:buClr>
                  <a:buNone/>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𝑘</m:t>
                      </m:r>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=8.9880×</m:t>
                      </m:r>
                      <m:sSup>
                        <m:sSup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9</m:t>
                          </m:r>
                        </m:sup>
                      </m:sSup>
                      <m:r>
                        <a:rPr lang="en-US" altLang="zh-CN" b="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N</m:t>
                      </m:r>
                      <m:r>
                        <a:rPr lang="en-US" altLang="zh-CN" b="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m:t>
                          </m:r>
                        </m:e>
                        <m:sup>
                          <m: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b="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m:t>
                          </m:r>
                        </m:e>
                        <m:sup>
                          <m:r>
                            <a:rPr lang="en-US" altLang="zh-CN"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marL="0" indent="0" algn="ctr">
                  <a:lnSpc>
                    <a:spcPct val="100000"/>
                  </a:lnSpc>
                  <a:spcBef>
                    <a:spcPct val="50000"/>
                  </a:spcBef>
                  <a:buNone/>
                </a:pPr>
                <a14:m>
                  <m:oMathPara xmlns:m="http://schemas.openxmlformats.org/officeDocument/2006/math">
                    <m:oMathParaPr>
                      <m:jc m:val="centerGroup"/>
                    </m:oMathParaPr>
                    <m:oMath xmlns:m="http://schemas.openxmlformats.org/officeDocument/2006/math">
                      <m:sSub>
                        <m:sSubPr>
                          <m:ctrlPr>
                            <a:rPr lang="el-GR" altLang="zh-CN"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l-GR" b="0" i="1">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b="0" i="1">
                              <a:latin typeface="Cambria Math" panose="02040503050406030204" pitchFamily="18" charset="0"/>
                              <a:ea typeface="华文新魏" panose="02010800040101010101" pitchFamily="2" charset="-122"/>
                              <a:cs typeface="Times New Roman" panose="02020603050405020304" pitchFamily="18" charset="0"/>
                            </a:rPr>
                            <m:t>0</m:t>
                          </m:r>
                        </m:sub>
                      </m:sSub>
                      <m:r>
                        <a:rPr lang="en-US" altLang="zh-CN" b="0" i="1">
                          <a:latin typeface="Cambria Math" panose="02040503050406030204" pitchFamily="18" charset="0"/>
                          <a:ea typeface="华文新魏" panose="02010800040101010101" pitchFamily="2" charset="-122"/>
                          <a:cs typeface="Times New Roman" panose="02020603050405020304" pitchFamily="18" charset="0"/>
                        </a:rPr>
                        <m:t>=8.8542</m:t>
                      </m:r>
                      <m:r>
                        <a:rPr lang="en-US" altLang="zh-CN" b="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0" i="1">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b="0" i="1">
                              <a:latin typeface="Cambria Math" panose="02040503050406030204" pitchFamily="18" charset="0"/>
                              <a:ea typeface="Cambria Math" panose="02040503050406030204" pitchFamily="18" charset="0"/>
                              <a:cs typeface="Times New Roman" panose="02020603050405020304" pitchFamily="18" charset="0"/>
                            </a:rPr>
                            <m:t>−12</m:t>
                          </m:r>
                        </m:sup>
                      </m:sSup>
                      <m:r>
                        <a:rPr lang="en-US" altLang="zh-CN" b="0" i="1">
                          <a:latin typeface="Cambria Math" panose="02040503050406030204" pitchFamily="18" charset="0"/>
                          <a:ea typeface="Cambria Math" panose="02040503050406030204" pitchFamily="18" charset="0"/>
                          <a:cs typeface="Times New Roman" panose="02020603050405020304" pitchFamily="18" charset="0"/>
                        </a:rPr>
                        <m:t> </m:t>
                      </m:r>
                      <m:f>
                        <m:f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b="0" i="1">
                                  <a:latin typeface="Cambria Math" panose="02040503050406030204" pitchFamily="18" charset="0"/>
                                  <a:ea typeface="Cambria Math" panose="02040503050406030204" pitchFamily="18" charset="0"/>
                                  <a:cs typeface="Times New Roman" panose="02020603050405020304" pitchFamily="18" charset="0"/>
                                </a:rPr>
                                <m:t>C</m:t>
                              </m:r>
                            </m:e>
                            <m:sup>
                              <m:r>
                                <a:rPr lang="en-US" altLang="zh-CN" b="0" i="1">
                                  <a:latin typeface="Cambria Math" panose="02040503050406030204" pitchFamily="18" charset="0"/>
                                  <a:ea typeface="Cambria Math" panose="02040503050406030204" pitchFamily="18" charset="0"/>
                                  <a:cs typeface="Times New Roman" panose="02020603050405020304" pitchFamily="18" charset="0"/>
                                </a:rPr>
                                <m:t>2</m:t>
                              </m:r>
                            </m:sup>
                          </m:sSup>
                        </m:num>
                        <m:den>
                          <m:r>
                            <m:rPr>
                              <m:sty m:val="p"/>
                            </m:rPr>
                            <a:rPr lang="en-US" altLang="zh-CN" b="0" i="1">
                              <a:latin typeface="Cambria Math" panose="02040503050406030204" pitchFamily="18" charset="0"/>
                              <a:ea typeface="Cambria Math" panose="02040503050406030204" pitchFamily="18" charset="0"/>
                              <a:cs typeface="Times New Roman" panose="02020603050405020304" pitchFamily="18" charset="0"/>
                            </a:rPr>
                            <m:t>N</m:t>
                          </m:r>
                          <m:r>
                            <a:rPr lang="en-US" altLang="zh-CN" b="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b="0" i="1">
                                  <a:latin typeface="Cambria Math" panose="02040503050406030204" pitchFamily="18" charset="0"/>
                                  <a:ea typeface="Cambria Math" panose="02040503050406030204" pitchFamily="18" charset="0"/>
                                  <a:cs typeface="Times New Roman" panose="02020603050405020304" pitchFamily="18" charset="0"/>
                                </a:rPr>
                                <m:t>m</m:t>
                              </m:r>
                            </m:e>
                            <m:sup>
                              <m:r>
                                <a:rPr lang="en-US" altLang="zh-CN" b="0" i="1">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br>
                  <a:rPr lang="en-US" altLang="zh-CN" dirty="0">
                    <a:latin typeface="Times New Roman" panose="02020603050405020304" pitchFamily="18" charset="0"/>
                    <a:ea typeface="华文楷体" panose="02010600040101010101" pitchFamily="2" charset="-122"/>
                    <a:cs typeface="Times New Roman" panose="02020603050405020304" pitchFamily="18" charset="0"/>
                  </a:rPr>
                </a:b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真空电容率</a:t>
                </a:r>
                <a:r>
                  <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介电常数</a:t>
                </a:r>
                <a:endParaRPr lang="en-US" altLang="zh-CN"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内容占位符 4">
                <a:extLst>
                  <a:ext uri="{FF2B5EF4-FFF2-40B4-BE49-F238E27FC236}">
                    <a16:creationId xmlns:a16="http://schemas.microsoft.com/office/drawing/2014/main" id="{CBB2E7D4-3ECE-7DC0-A64A-F9A78A65CD7E}"/>
                  </a:ext>
                </a:extLst>
              </p:cNvPr>
              <p:cNvSpPr txBox="1">
                <a:spLocks noRot="1" noChangeAspect="1" noMove="1" noResize="1" noEditPoints="1" noAdjustHandles="1" noChangeArrowheads="1" noChangeShapeType="1" noTextEdit="1"/>
              </p:cNvSpPr>
              <p:nvPr/>
            </p:nvSpPr>
            <p:spPr>
              <a:xfrm>
                <a:off x="6096000" y="4734332"/>
                <a:ext cx="5548548" cy="1643161"/>
              </a:xfrm>
              <a:prstGeom prst="rect">
                <a:avLst/>
              </a:prstGeom>
              <a:blipFill>
                <a:blip r:embed="rId5"/>
                <a:stretch>
                  <a:fillRect b="-33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38852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1" name="矩形 10">
            <a:extLst>
              <a:ext uri="{FF2B5EF4-FFF2-40B4-BE49-F238E27FC236}">
                <a16:creationId xmlns:a16="http://schemas.microsoft.com/office/drawing/2014/main" id="{17C24174-15F1-419C-A44B-B9730C11CF20}"/>
              </a:ext>
            </a:extLst>
          </p:cNvPr>
          <p:cNvSpPr/>
          <p:nvPr/>
        </p:nvSpPr>
        <p:spPr>
          <a:xfrm>
            <a:off x="807818" y="1394294"/>
            <a:ext cx="10844448" cy="1384995"/>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在真空中， 两个静止点电荷之间的相互作用力大小，与它们的电量的乘积成正比，与它们之间距离的平方成反比；作用力的方向沿着它们的联线，同号电荷相斥，异号电荷相吸。</a:t>
            </a:r>
            <a:endParaRPr lang="en-US" sz="2800" dirty="0">
              <a:latin typeface="华文楷体" panose="02010600040101010101" pitchFamily="2" charset="-122"/>
              <a:ea typeface="华文楷体" panose="02010600040101010101" pitchFamily="2" charset="-122"/>
            </a:endParaRPr>
          </a:p>
        </p:txBody>
      </p:sp>
      <p:pic>
        <p:nvPicPr>
          <p:cNvPr id="12" name="Picture 6" descr="Coulomb&amp;#39;s Law Electric Charge Force Electrostatics, PNG, 1280x1024px,  Coulomb, Area, Blue, Charlesaugustin De Coulomb, Diagram Download">
            <a:extLst>
              <a:ext uri="{FF2B5EF4-FFF2-40B4-BE49-F238E27FC236}">
                <a16:creationId xmlns:a16="http://schemas.microsoft.com/office/drawing/2014/main" id="{09D88AE1-9F9E-4748-9041-AD8E666FCA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716"/>
          <a:stretch/>
        </p:blipFill>
        <p:spPr bwMode="auto">
          <a:xfrm>
            <a:off x="1046967" y="3013032"/>
            <a:ext cx="5049033" cy="308128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90BFCFC3-CD9E-45DA-BC07-566B80645A39}"/>
                  </a:ext>
                </a:extLst>
              </p:cNvPr>
              <p:cNvSpPr/>
              <p:nvPr/>
            </p:nvSpPr>
            <p:spPr>
              <a:xfrm>
                <a:off x="5418137" y="4430589"/>
                <a:ext cx="5554663" cy="1456681"/>
              </a:xfrm>
              <a:prstGeom prst="rect">
                <a:avLst/>
              </a:prstGeom>
            </p:spPr>
            <p:txBody>
              <a:bodyPr wrap="square">
                <a:spAutoFit/>
              </a:bodyPr>
              <a:lstStyle/>
              <a:p>
                <a:pPr algn="ctr">
                  <a:lnSpc>
                    <a:spcPct val="150000"/>
                  </a:lnSpc>
                </a:pPr>
                <a:r>
                  <a:rPr lang="zh-CN" altLang="en-US" sz="2800" dirty="0">
                    <a:solidFill>
                      <a:srgbClr val="000000"/>
                    </a:solidFill>
                    <a:latin typeface="+mn-ea"/>
                    <a:cs typeface="Times New Roman" panose="02020603050405020304" pitchFamily="18" charset="0"/>
                  </a:rPr>
                  <a:t>遵守牛顿第三定律：</a:t>
                </a:r>
                <a:r>
                  <a:rPr lang="en-US" altLang="zh-CN" sz="2800" dirty="0">
                    <a:solidFill>
                      <a:srgbClr val="000000"/>
                    </a:solidFill>
                    <a:latin typeface="+mn-ea"/>
                    <a:cs typeface="Times New Roman" panose="02020603050405020304" pitchFamily="18" charset="0"/>
                  </a:rPr>
                  <a:t>       </a:t>
                </a:r>
                <a:br>
                  <a:rPr lang="en-US" altLang="zh-CN" sz="2800" dirty="0">
                    <a:solidFill>
                      <a:srgbClr val="000000"/>
                    </a:solidFill>
                    <a:latin typeface="+mn-ea"/>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en-US" altLang="zh-CN" sz="2800" i="1" kern="0" smtClean="0">
                              <a:solidFill>
                                <a:srgbClr val="0066FF"/>
                              </a:solidFill>
                              <a:latin typeface="Cambria Math" panose="02040503050406030204" pitchFamily="18" charset="0"/>
                            </a:rPr>
                          </m:ctrlPr>
                        </m:sSubPr>
                        <m:e>
                          <m:acc>
                            <m:accPr>
                              <m:chr m:val="⃗"/>
                              <m:ctrlPr>
                                <a:rPr lang="en-US" altLang="zh-CN" sz="2800" i="1" kern="0">
                                  <a:solidFill>
                                    <a:srgbClr val="0066FF"/>
                                  </a:solidFill>
                                  <a:latin typeface="Cambria Math" panose="02040503050406030204" pitchFamily="18" charset="0"/>
                                </a:rPr>
                              </m:ctrlPr>
                            </m:accPr>
                            <m:e>
                              <m:r>
                                <a:rPr lang="en-US" altLang="zh-CN" sz="2800" i="1" kern="0">
                                  <a:solidFill>
                                    <a:srgbClr val="0066FF"/>
                                  </a:solidFill>
                                  <a:latin typeface="Cambria Math" panose="02040503050406030204" pitchFamily="18" charset="0"/>
                                </a:rPr>
                                <m:t>𝑭</m:t>
                              </m:r>
                            </m:e>
                          </m:acc>
                        </m:e>
                        <m:sub>
                          <m:r>
                            <a:rPr lang="en-US" altLang="zh-CN" sz="2800" i="1" kern="0">
                              <a:solidFill>
                                <a:srgbClr val="0066FF"/>
                              </a:solidFill>
                              <a:latin typeface="Cambria Math" panose="02040503050406030204" pitchFamily="18" charset="0"/>
                            </a:rPr>
                            <m:t>𝟏𝟐</m:t>
                          </m:r>
                        </m:sub>
                      </m:sSub>
                      <m:r>
                        <a:rPr lang="en-US" altLang="zh-CN" sz="2800" i="1" kern="0">
                          <a:solidFill>
                            <a:srgbClr val="0066FF"/>
                          </a:solidFill>
                          <a:latin typeface="Cambria Math" panose="02040503050406030204" pitchFamily="18" charset="0"/>
                        </a:rPr>
                        <m:t>=−</m:t>
                      </m:r>
                      <m:sSub>
                        <m:sSubPr>
                          <m:ctrlPr>
                            <a:rPr lang="en-US" altLang="zh-CN" sz="2800" i="1" kern="0">
                              <a:solidFill>
                                <a:srgbClr val="0066FF"/>
                              </a:solidFill>
                              <a:latin typeface="Cambria Math" panose="02040503050406030204" pitchFamily="18" charset="0"/>
                            </a:rPr>
                          </m:ctrlPr>
                        </m:sSubPr>
                        <m:e>
                          <m:acc>
                            <m:accPr>
                              <m:chr m:val="⃗"/>
                              <m:ctrlPr>
                                <a:rPr lang="en-US" altLang="zh-CN" sz="2800" i="1" kern="0">
                                  <a:solidFill>
                                    <a:srgbClr val="0066FF"/>
                                  </a:solidFill>
                                  <a:latin typeface="Cambria Math" panose="02040503050406030204" pitchFamily="18" charset="0"/>
                                </a:rPr>
                              </m:ctrlPr>
                            </m:accPr>
                            <m:e>
                              <m:r>
                                <a:rPr lang="en-US" altLang="zh-CN" sz="2800" i="1" kern="0">
                                  <a:solidFill>
                                    <a:srgbClr val="0066FF"/>
                                  </a:solidFill>
                                  <a:latin typeface="Cambria Math" panose="02040503050406030204" pitchFamily="18" charset="0"/>
                                </a:rPr>
                                <m:t>𝑭</m:t>
                              </m:r>
                            </m:e>
                          </m:acc>
                        </m:e>
                        <m:sub>
                          <m:r>
                            <a:rPr lang="en-US" altLang="zh-CN" sz="2800" i="1" kern="0">
                              <a:solidFill>
                                <a:srgbClr val="0066FF"/>
                              </a:solidFill>
                              <a:latin typeface="Cambria Math" panose="02040503050406030204" pitchFamily="18" charset="0"/>
                            </a:rPr>
                            <m:t>𝟐𝟏</m:t>
                          </m:r>
                        </m:sub>
                      </m:sSub>
                    </m:oMath>
                  </m:oMathPara>
                </a14:m>
                <a:endParaRPr lang="en-US" sz="2800" dirty="0">
                  <a:latin typeface="+mn-ea"/>
                </a:endParaRPr>
              </a:p>
            </p:txBody>
          </p:sp>
        </mc:Choice>
        <mc:Fallback xmlns="">
          <p:sp>
            <p:nvSpPr>
              <p:cNvPr id="20" name="矩形 19">
                <a:extLst>
                  <a:ext uri="{FF2B5EF4-FFF2-40B4-BE49-F238E27FC236}">
                    <a16:creationId xmlns:a16="http://schemas.microsoft.com/office/drawing/2014/main" id="{90BFCFC3-CD9E-45DA-BC07-566B80645A39}"/>
                  </a:ext>
                </a:extLst>
              </p:cNvPr>
              <p:cNvSpPr>
                <a:spLocks noRot="1" noChangeAspect="1" noMove="1" noResize="1" noEditPoints="1" noAdjustHandles="1" noChangeArrowheads="1" noChangeShapeType="1" noTextEdit="1"/>
              </p:cNvSpPr>
              <p:nvPr/>
            </p:nvSpPr>
            <p:spPr>
              <a:xfrm>
                <a:off x="5418137" y="4430589"/>
                <a:ext cx="5554663" cy="1456681"/>
              </a:xfrm>
              <a:prstGeom prst="rect">
                <a:avLst/>
              </a:prstGeom>
              <a:blipFill>
                <a:blip r:embed="rId3"/>
                <a:stretch>
                  <a:fillRect/>
                </a:stretch>
              </a:blipFill>
            </p:spPr>
            <p:txBody>
              <a:bodyPr/>
              <a:lstStyle/>
              <a:p>
                <a:r>
                  <a:rPr lang="zh-CN" altLang="en-US">
                    <a:noFill/>
                  </a:rPr>
                  <a:t> </a:t>
                </a:r>
              </a:p>
            </p:txBody>
          </p:sp>
        </mc:Fallback>
      </mc:AlternateContent>
      <p:sp>
        <p:nvSpPr>
          <p:cNvPr id="5" name="Rectangle 3">
            <a:extLst>
              <a:ext uri="{FF2B5EF4-FFF2-40B4-BE49-F238E27FC236}">
                <a16:creationId xmlns:a16="http://schemas.microsoft.com/office/drawing/2014/main" id="{7FE9296B-936E-792B-76B0-8B54FE53AA26}"/>
              </a:ext>
            </a:extLst>
          </p:cNvPr>
          <p:cNvSpPr>
            <a:spLocks noChangeArrowheads="1"/>
          </p:cNvSpPr>
          <p:nvPr/>
        </p:nvSpPr>
        <p:spPr bwMode="auto">
          <a:xfrm>
            <a:off x="421008" y="763685"/>
            <a:ext cx="60614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sym typeface="Monotype Sorts" pitchFamily="2" charset="2"/>
              </a:rPr>
              <a:t>库伦定律</a:t>
            </a:r>
            <a:endParaRPr lang="en-US" altLang="zh-CN" sz="3200" b="1" dirty="0">
              <a:solidFill>
                <a:srgbClr val="0066FF"/>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701F659-9DA6-1409-4607-0BB17B10E805}"/>
                  </a:ext>
                </a:extLst>
              </p:cNvPr>
              <p:cNvSpPr/>
              <p:nvPr/>
            </p:nvSpPr>
            <p:spPr>
              <a:xfrm>
                <a:off x="6517891" y="3277517"/>
                <a:ext cx="2986395" cy="974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a:rPr lang="en-US" altLang="zh-CN" sz="2800" i="1">
                              <a:latin typeface="Cambria Math" panose="02040503050406030204" pitchFamily="18" charset="0"/>
                            </a:rPr>
                            <m:t>𝑭</m:t>
                          </m:r>
                        </m:e>
                      </m:acc>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𝟏</m:t>
                          </m:r>
                        </m:num>
                        <m:den>
                          <m:r>
                            <a:rPr lang="en-US" altLang="zh-CN" sz="2800" i="1">
                              <a:latin typeface="Cambria Math" panose="02040503050406030204" pitchFamily="18" charset="0"/>
                            </a:rPr>
                            <m:t>𝟒</m:t>
                          </m:r>
                          <m:r>
                            <a:rPr lang="zh-CN" altLang="en-US" sz="2800" i="1">
                              <a:latin typeface="Cambria Math" panose="02040503050406030204" pitchFamily="18" charset="0"/>
                            </a:rPr>
                            <m:t>𝝅</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𝜺</m:t>
                              </m:r>
                            </m:e>
                            <m:sub>
                              <m:r>
                                <a:rPr lang="en-US" altLang="zh-CN" sz="2800" i="1">
                                  <a:latin typeface="Cambria Math" panose="02040503050406030204" pitchFamily="18" charset="0"/>
                                </a:rPr>
                                <m:t>𝟎</m:t>
                              </m:r>
                            </m:sub>
                          </m:sSub>
                        </m:den>
                      </m:f>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𝒒</m:t>
                              </m:r>
                            </m:e>
                            <m:sub>
                              <m:r>
                                <a:rPr lang="en-US" altLang="zh-CN" sz="2800" b="0" i="1" smtClean="0">
                                  <a:latin typeface="Cambria Math" panose="02040503050406030204" pitchFamily="18" charset="0"/>
                                </a:rPr>
                                <m:t>1</m:t>
                              </m:r>
                            </m:sub>
                          </m:sSub>
                          <m:r>
                            <a:rPr lang="en-US" altLang="zh-CN" sz="2800" i="1">
                              <a:latin typeface="Cambria Math" panose="02040503050406030204" pitchFamily="18" charset="0"/>
                            </a:rPr>
                            <m:t>𝒒</m:t>
                          </m:r>
                          <m:r>
                            <a:rPr lang="en-US" altLang="zh-CN" sz="2800" b="0" i="1" baseline="-25000" smtClean="0">
                              <a:latin typeface="Cambria Math" panose="02040503050406030204" pitchFamily="18" charset="0"/>
                            </a:rPr>
                            <m:t>2</m:t>
                          </m:r>
                        </m:num>
                        <m:den>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𝒓</m:t>
                              </m:r>
                            </m:e>
                            <m:sup>
                              <m:r>
                                <a:rPr lang="en-US" altLang="zh-CN" sz="2800" i="1">
                                  <a:latin typeface="Cambria Math" panose="02040503050406030204" pitchFamily="18" charset="0"/>
                                </a:rPr>
                                <m:t>𝟐</m:t>
                              </m:r>
                            </m:sup>
                          </m:sSup>
                        </m:den>
                      </m:f>
                      <m:sSub>
                        <m:sSubPr>
                          <m:ctrlPr>
                            <a:rPr lang="en-US" altLang="zh-CN" sz="2800" i="1">
                              <a:latin typeface="Cambria Math" panose="02040503050406030204" pitchFamily="18" charset="0"/>
                            </a:rPr>
                          </m:ctrlPr>
                        </m:sSub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𝒆</m:t>
                              </m:r>
                            </m:e>
                          </m:acc>
                        </m:e>
                        <m:sub>
                          <m:r>
                            <a:rPr lang="en-US" altLang="zh-CN" sz="2800" i="1">
                              <a:latin typeface="Cambria Math" panose="02040503050406030204" pitchFamily="18" charset="0"/>
                            </a:rPr>
                            <m:t>𝒓</m:t>
                          </m:r>
                        </m:sub>
                      </m:sSub>
                    </m:oMath>
                  </m:oMathPara>
                </a14:m>
                <a:endParaRPr lang="en-US" sz="2800" dirty="0"/>
              </a:p>
            </p:txBody>
          </p:sp>
        </mc:Choice>
        <mc:Fallback xmlns="">
          <p:sp>
            <p:nvSpPr>
              <p:cNvPr id="8" name="矩形 7">
                <a:extLst>
                  <a:ext uri="{FF2B5EF4-FFF2-40B4-BE49-F238E27FC236}">
                    <a16:creationId xmlns:a16="http://schemas.microsoft.com/office/drawing/2014/main" id="{9701F659-9DA6-1409-4607-0BB17B10E805}"/>
                  </a:ext>
                </a:extLst>
              </p:cNvPr>
              <p:cNvSpPr>
                <a:spLocks noRot="1" noChangeAspect="1" noMove="1" noResize="1" noEditPoints="1" noAdjustHandles="1" noChangeArrowheads="1" noChangeShapeType="1" noTextEdit="1"/>
              </p:cNvSpPr>
              <p:nvPr/>
            </p:nvSpPr>
            <p:spPr>
              <a:xfrm>
                <a:off x="6517891" y="3277517"/>
                <a:ext cx="2986395" cy="97430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60B9618-F119-16A9-76B1-C47CC32AAF3C}"/>
                  </a:ext>
                </a:extLst>
              </p:cNvPr>
              <p:cNvSpPr/>
              <p:nvPr/>
            </p:nvSpPr>
            <p:spPr>
              <a:xfrm>
                <a:off x="9783411" y="3269337"/>
                <a:ext cx="1695015" cy="974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kern="0" smtClean="0">
                          <a:solidFill>
                            <a:srgbClr val="FF0000"/>
                          </a:solidFill>
                          <a:latin typeface="Cambria Math" panose="02040503050406030204" pitchFamily="18" charset="0"/>
                          <a:ea typeface="华文新魏" panose="02010800040101010101" pitchFamily="2" charset="-122"/>
                        </a:rPr>
                        <m:t>𝑘</m:t>
                      </m:r>
                      <m:r>
                        <a:rPr lang="en-US" altLang="zh-CN" sz="2800" b="0" i="1" kern="0" smtClean="0">
                          <a:solidFill>
                            <a:srgbClr val="FF0000"/>
                          </a:solidFill>
                          <a:latin typeface="Cambria Math" panose="02040503050406030204" pitchFamily="18" charset="0"/>
                          <a:ea typeface="华文新魏" panose="02010800040101010101" pitchFamily="2" charset="-122"/>
                        </a:rPr>
                        <m:t>=</m:t>
                      </m:r>
                      <m:f>
                        <m:fPr>
                          <m:ctrlPr>
                            <a:rPr lang="en-US" altLang="zh-CN" sz="2800" i="1" kern="0">
                              <a:solidFill>
                                <a:srgbClr val="FF0000"/>
                              </a:solidFill>
                              <a:latin typeface="Cambria Math" panose="02040503050406030204" pitchFamily="18" charset="0"/>
                              <a:ea typeface="华文新魏" panose="02010800040101010101" pitchFamily="2" charset="-122"/>
                            </a:rPr>
                          </m:ctrlPr>
                        </m:fPr>
                        <m:num>
                          <m:r>
                            <a:rPr lang="en-US" altLang="zh-CN" sz="2800" b="0" i="1" kern="0">
                              <a:solidFill>
                                <a:srgbClr val="FF0000"/>
                              </a:solidFill>
                              <a:latin typeface="Cambria Math" panose="02040503050406030204" pitchFamily="18" charset="0"/>
                              <a:ea typeface="华文新魏" panose="02010800040101010101" pitchFamily="2" charset="-122"/>
                            </a:rPr>
                            <m:t>1</m:t>
                          </m:r>
                        </m:num>
                        <m:den>
                          <m:r>
                            <a:rPr lang="en-US" altLang="zh-CN" sz="2800" b="0" i="1" kern="0">
                              <a:solidFill>
                                <a:srgbClr val="FF0000"/>
                              </a:solidFill>
                              <a:latin typeface="Cambria Math" panose="02040503050406030204" pitchFamily="18" charset="0"/>
                              <a:ea typeface="华文新魏" panose="02010800040101010101" pitchFamily="2" charset="-122"/>
                            </a:rPr>
                            <m:t>4</m:t>
                          </m:r>
                          <m:r>
                            <a:rPr lang="zh-CN" altLang="en-US" sz="2800" b="0" i="1" kern="0">
                              <a:solidFill>
                                <a:srgbClr val="FF0000"/>
                              </a:solidFill>
                              <a:latin typeface="Cambria Math" panose="02040503050406030204" pitchFamily="18" charset="0"/>
                              <a:ea typeface="华文新魏" panose="02010800040101010101" pitchFamily="2" charset="-122"/>
                            </a:rPr>
                            <m:t>𝜋</m:t>
                          </m:r>
                          <m:sSub>
                            <m:sSubPr>
                              <m:ctrlPr>
                                <a:rPr lang="en-US" altLang="zh-CN" sz="2800" i="1" kern="0">
                                  <a:solidFill>
                                    <a:srgbClr val="FF0000"/>
                                  </a:solidFill>
                                  <a:latin typeface="Cambria Math" panose="02040503050406030204" pitchFamily="18" charset="0"/>
                                  <a:ea typeface="华文新魏" panose="02010800040101010101" pitchFamily="2" charset="-122"/>
                                </a:rPr>
                              </m:ctrlPr>
                            </m:sSubPr>
                            <m:e>
                              <m:r>
                                <a:rPr lang="zh-CN" altLang="en-US" sz="2800" b="0" i="1" kern="0">
                                  <a:solidFill>
                                    <a:srgbClr val="FF0000"/>
                                  </a:solidFill>
                                  <a:latin typeface="Cambria Math" panose="02040503050406030204" pitchFamily="18" charset="0"/>
                                  <a:ea typeface="华文新魏" panose="02010800040101010101" pitchFamily="2" charset="-122"/>
                                </a:rPr>
                                <m:t>𝜀</m:t>
                              </m:r>
                            </m:e>
                            <m:sub>
                              <m:r>
                                <a:rPr lang="en-US" altLang="zh-CN" sz="2800" b="0" i="1" kern="0">
                                  <a:solidFill>
                                    <a:srgbClr val="FF0000"/>
                                  </a:solidFill>
                                  <a:latin typeface="Cambria Math" panose="02040503050406030204" pitchFamily="18" charset="0"/>
                                  <a:ea typeface="华文新魏" panose="02010800040101010101" pitchFamily="2" charset="-122"/>
                                </a:rPr>
                                <m:t>0</m:t>
                              </m:r>
                            </m:sub>
                          </m:sSub>
                        </m:den>
                      </m:f>
                    </m:oMath>
                  </m:oMathPara>
                </a14:m>
                <a:endPar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C60B9618-F119-16A9-76B1-C47CC32AAF3C}"/>
                  </a:ext>
                </a:extLst>
              </p:cNvPr>
              <p:cNvSpPr>
                <a:spLocks noRot="1" noChangeAspect="1" noMove="1" noResize="1" noEditPoints="1" noAdjustHandles="1" noChangeArrowheads="1" noChangeShapeType="1" noTextEdit="1"/>
              </p:cNvSpPr>
              <p:nvPr/>
            </p:nvSpPr>
            <p:spPr>
              <a:xfrm>
                <a:off x="9783411" y="3269337"/>
                <a:ext cx="1695015" cy="97494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695AC6-FE7D-481E-FA35-3BCE90F60853}"/>
                  </a:ext>
                </a:extLst>
              </p:cNvPr>
              <p:cNvSpPr/>
              <p:nvPr/>
            </p:nvSpPr>
            <p:spPr>
              <a:xfrm>
                <a:off x="6824111" y="5887270"/>
                <a:ext cx="3806807" cy="1052596"/>
              </a:xfrm>
              <a:prstGeom prst="rect">
                <a:avLst/>
              </a:prstGeom>
            </p:spPr>
            <p:txBody>
              <a:bodyPr wrap="square">
                <a:spAutoFit/>
              </a:bodyPr>
              <a:lstStyle/>
              <a:p>
                <a:pPr>
                  <a:lnSpc>
                    <a:spcPct val="120000"/>
                  </a:lnSpc>
                  <a:defRPr/>
                </a:pPr>
                <a:r>
                  <a:rPr lang="zh-CN" altLang="en-US" sz="26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电荷的单位：库仑</a:t>
                </a:r>
                <a:endParaRPr lang="en-US" altLang="zh-CN" sz="2600" i="1" dirty="0">
                  <a:solidFill>
                    <a:srgbClr val="0066FF"/>
                  </a:solidFill>
                  <a:latin typeface="华文楷体" panose="02010600040101010101" pitchFamily="2" charset="-122"/>
                  <a:ea typeface="华文楷体" panose="02010600040101010101" pitchFamily="2" charset="-122"/>
                </a:endParaRPr>
              </a:p>
              <a:p>
                <a:pPr>
                  <a:lnSpc>
                    <a:spcPct val="120000"/>
                  </a:lnSpc>
                  <a:defRPr/>
                </a:pPr>
                <a14:m>
                  <m:oMathPara xmlns:m="http://schemas.openxmlformats.org/officeDocument/2006/math">
                    <m:oMathParaPr>
                      <m:jc m:val="centerGroup"/>
                    </m:oMathParaPr>
                    <m:oMath xmlns:m="http://schemas.openxmlformats.org/officeDocument/2006/math">
                      <m:r>
                        <a:rPr lang="en-US" altLang="zh-CN" sz="2600" i="1" dirty="0">
                          <a:solidFill>
                            <a:srgbClr val="0066FF"/>
                          </a:solidFill>
                          <a:latin typeface="Cambria Math" panose="02040503050406030204" pitchFamily="18" charset="0"/>
                          <a:ea typeface="华文新魏" panose="02010800040101010101" pitchFamily="2" charset="-122"/>
                        </a:rPr>
                        <m:t>1</m:t>
                      </m:r>
                      <m:r>
                        <m:rPr>
                          <m:sty m:val="p"/>
                        </m:rPr>
                        <a:rPr lang="en-US" altLang="zh-CN" sz="2600" i="1" dirty="0">
                          <a:solidFill>
                            <a:srgbClr val="0066FF"/>
                          </a:solidFill>
                          <a:latin typeface="Cambria Math" panose="02040503050406030204" pitchFamily="18" charset="0"/>
                          <a:ea typeface="华文新魏" panose="02010800040101010101" pitchFamily="2" charset="-122"/>
                        </a:rPr>
                        <m:t>C</m:t>
                      </m:r>
                      <m:r>
                        <a:rPr lang="en-US" altLang="zh-CN" sz="2600" i="1" dirty="0">
                          <a:solidFill>
                            <a:srgbClr val="0066FF"/>
                          </a:solidFill>
                          <a:latin typeface="Cambria Math" panose="02040503050406030204" pitchFamily="18" charset="0"/>
                          <a:ea typeface="华文新魏" panose="02010800040101010101" pitchFamily="2" charset="-122"/>
                        </a:rPr>
                        <m:t>=6.2414×1018</m:t>
                      </m:r>
                      <m:r>
                        <a:rPr lang="en-US" altLang="zh-CN" sz="2600" i="1" dirty="0">
                          <a:solidFill>
                            <a:srgbClr val="0066FF"/>
                          </a:solidFill>
                          <a:latin typeface="Cambria Math" panose="02040503050406030204" pitchFamily="18" charset="0"/>
                          <a:ea typeface="华文新魏" panose="02010800040101010101" pitchFamily="2" charset="-122"/>
                        </a:rPr>
                        <m:t>𝑒</m:t>
                      </m:r>
                      <m:r>
                        <a:rPr lang="en-US" altLang="zh-CN" sz="2600" i="1" dirty="0">
                          <a:solidFill>
                            <a:srgbClr val="0066FF"/>
                          </a:solidFill>
                          <a:latin typeface="Cambria Math" panose="02040503050406030204" pitchFamily="18" charset="0"/>
                          <a:ea typeface="华文新魏" panose="02010800040101010101" pitchFamily="2" charset="-122"/>
                        </a:rPr>
                        <m:t> </m:t>
                      </m:r>
                    </m:oMath>
                  </m:oMathPara>
                </a14:m>
                <a:endParaRPr lang="en-US" altLang="zh-CN" sz="2600" dirty="0">
                  <a:solidFill>
                    <a:srgbClr val="0066FF"/>
                  </a:solidFill>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E2695AC6-FE7D-481E-FA35-3BCE90F60853}"/>
                  </a:ext>
                </a:extLst>
              </p:cNvPr>
              <p:cNvSpPr>
                <a:spLocks noRot="1" noChangeAspect="1" noMove="1" noResize="1" noEditPoints="1" noAdjustHandles="1" noChangeArrowheads="1" noChangeShapeType="1" noTextEdit="1"/>
              </p:cNvSpPr>
              <p:nvPr/>
            </p:nvSpPr>
            <p:spPr>
              <a:xfrm>
                <a:off x="6824111" y="5887270"/>
                <a:ext cx="3806807" cy="1052596"/>
              </a:xfrm>
              <a:prstGeom prst="rect">
                <a:avLst/>
              </a:prstGeom>
              <a:blipFill>
                <a:blip r:embed="rId6"/>
                <a:stretch>
                  <a:fillRect l="-2880"/>
                </a:stretch>
              </a:blipFill>
            </p:spPr>
            <p:txBody>
              <a:bodyPr/>
              <a:lstStyle/>
              <a:p>
                <a:r>
                  <a:rPr lang="en-US">
                    <a:noFill/>
                  </a:rPr>
                  <a:t> </a:t>
                </a:r>
              </a:p>
            </p:txBody>
          </p:sp>
        </mc:Fallback>
      </mc:AlternateContent>
    </p:spTree>
    <p:extLst>
      <p:ext uri="{BB962C8B-B14F-4D97-AF65-F5344CB8AC3E}">
        <p14:creationId xmlns:p14="http://schemas.microsoft.com/office/powerpoint/2010/main" val="400268998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9" name="Rectangle 3">
            <a:extLst>
              <a:ext uri="{FF2B5EF4-FFF2-40B4-BE49-F238E27FC236}">
                <a16:creationId xmlns:a16="http://schemas.microsoft.com/office/drawing/2014/main" id="{D1607ABB-48F4-4035-8FEF-D7E4FD320992}"/>
              </a:ext>
            </a:extLst>
          </p:cNvPr>
          <p:cNvSpPr>
            <a:spLocks noChangeArrowheads="1"/>
          </p:cNvSpPr>
          <p:nvPr/>
        </p:nvSpPr>
        <p:spPr bwMode="auto">
          <a:xfrm>
            <a:off x="798830" y="861579"/>
            <a:ext cx="512254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sym typeface="Monotype Sorts" pitchFamily="2" charset="2"/>
              </a:rPr>
              <a:t>叠加原理</a:t>
            </a:r>
            <a:endParaRPr lang="en-US" altLang="zh-CN" sz="3200"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3" name="文本占位符 9">
                <a:extLst>
                  <a:ext uri="{FF2B5EF4-FFF2-40B4-BE49-F238E27FC236}">
                    <a16:creationId xmlns:a16="http://schemas.microsoft.com/office/drawing/2014/main" id="{336EE73C-0E4C-4D23-8C6C-473915239A59}"/>
                  </a:ext>
                </a:extLst>
              </p:cNvPr>
              <p:cNvSpPr txBox="1">
                <a:spLocks/>
              </p:cNvSpPr>
              <p:nvPr/>
            </p:nvSpPr>
            <p:spPr>
              <a:xfrm>
                <a:off x="5476327" y="1709142"/>
                <a:ext cx="5253385" cy="428727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dirty="0">
                    <a:solidFill>
                      <a:srgbClr val="0066FF"/>
                    </a:solidFill>
                    <a:latin typeface="华文楷体" panose="02010600040101010101" pitchFamily="2" charset="-122"/>
                    <a:ea typeface="华文楷体" panose="02010600040101010101" pitchFamily="2" charset="-122"/>
                  </a:rPr>
                  <a:t>实验</a:t>
                </a:r>
                <a:r>
                  <a:rPr lang="zh-CN" altLang="en-US" spc="300" dirty="0">
                    <a:solidFill>
                      <a:srgbClr val="0066FF"/>
                    </a:solidFill>
                    <a:latin typeface="华文楷体" panose="02010600040101010101" pitchFamily="2" charset="-122"/>
                    <a:ea typeface="华文楷体" panose="02010600040101010101" pitchFamily="2" charset="-122"/>
                  </a:rPr>
                  <a:t>证明</a:t>
                </a:r>
                <a:r>
                  <a:rPr lang="zh-CN" altLang="en-US" dirty="0">
                    <a:solidFill>
                      <a:srgbClr val="0066FF"/>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当空间中有两个以上的点电荷时，作用在某一点电荷上的总静电力等于其它各点电荷单独存在时对该点电荷所施静电力的矢量和。</a:t>
                </a:r>
                <a:endParaRPr lang="en-US" altLang="zh-CN" dirty="0">
                  <a:solidFill>
                    <a:srgbClr val="000000"/>
                  </a:solidFill>
                  <a:latin typeface="华文楷体" panose="02010600040101010101" pitchFamily="2" charset="-122"/>
                  <a:ea typeface="华文楷体" panose="02010600040101010101" pitchFamily="2" charset="-122"/>
                </a:endParaRPr>
              </a:p>
              <a:p>
                <a:pPr marL="0" indent="0">
                  <a:lnSpc>
                    <a:spcPct val="130000"/>
                  </a:lnSpc>
                  <a:buNone/>
                </a:pPr>
                <a:endParaRPr lang="en-US" altLang="zh-CN" dirty="0">
                  <a:solidFill>
                    <a:schemeClr val="tx1"/>
                  </a:solidFill>
                  <a:latin typeface="华文楷体" panose="02010600040101010101" pitchFamily="2" charset="-122"/>
                  <a:ea typeface="华文楷体" panose="02010600040101010101" pitchFamily="2" charset="-122"/>
                </a:endParaRPr>
              </a:p>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acc>
                        <m:accPr>
                          <m:chr m:val="⃗"/>
                          <m:ctrlPr>
                            <a:rPr lang="zh-CN" altLang="en-US" i="1">
                              <a:solidFill>
                                <a:schemeClr val="tx1"/>
                              </a:solidFill>
                              <a:latin typeface="Cambria Math" panose="02040503050406030204" pitchFamily="18" charset="0"/>
                              <a:ea typeface="华文新魏" panose="02010800040101010101" pitchFamily="2" charset="-122"/>
                            </a:rPr>
                          </m:ctrlPr>
                        </m:accPr>
                        <m:e>
                          <m:r>
                            <a:rPr lang="en-US" altLang="zh-CN" b="1" i="1">
                              <a:solidFill>
                                <a:schemeClr val="tx1"/>
                              </a:solidFill>
                              <a:latin typeface="Cambria Math" panose="02040503050406030204" pitchFamily="18" charset="0"/>
                              <a:ea typeface="华文新魏" panose="02010800040101010101" pitchFamily="2" charset="-122"/>
                            </a:rPr>
                            <m:t>𝑭</m:t>
                          </m:r>
                        </m:e>
                      </m:acc>
                      <m:r>
                        <a:rPr lang="en-US" altLang="zh-CN" b="1" i="1">
                          <a:solidFill>
                            <a:schemeClr val="tx1"/>
                          </a:solidFill>
                          <a:latin typeface="Cambria Math" panose="02040503050406030204" pitchFamily="18" charset="0"/>
                          <a:ea typeface="华文新魏" panose="02010800040101010101" pitchFamily="2" charset="-122"/>
                        </a:rPr>
                        <m:t>=</m:t>
                      </m:r>
                      <m:nary>
                        <m:naryPr>
                          <m:chr m:val="∑"/>
                          <m:subHide m:val="on"/>
                          <m:supHide m:val="on"/>
                          <m:ctrlPr>
                            <a:rPr lang="en-US" altLang="zh-CN" i="1">
                              <a:solidFill>
                                <a:schemeClr val="tx1"/>
                              </a:solidFill>
                              <a:latin typeface="Cambria Math" panose="02040503050406030204" pitchFamily="18" charset="0"/>
                              <a:ea typeface="华文新魏" panose="02010800040101010101" pitchFamily="2" charset="-122"/>
                            </a:rPr>
                          </m:ctrlPr>
                        </m:naryPr>
                        <m:sub/>
                        <m:sup/>
                        <m:e>
                          <m:sSub>
                            <m:sSubPr>
                              <m:ctrlPr>
                                <a:rPr lang="en-US" altLang="zh-CN" i="1">
                                  <a:solidFill>
                                    <a:schemeClr val="tx1"/>
                                  </a:solidFill>
                                  <a:latin typeface="Cambria Math" panose="02040503050406030204" pitchFamily="18" charset="0"/>
                                  <a:ea typeface="华文新魏" panose="02010800040101010101" pitchFamily="2" charset="-122"/>
                                </a:rPr>
                              </m:ctrlPr>
                            </m:sSubPr>
                            <m:e>
                              <m:acc>
                                <m:accPr>
                                  <m:chr m:val="⃗"/>
                                  <m:ctrlPr>
                                    <a:rPr lang="en-US" altLang="zh-CN" i="1">
                                      <a:solidFill>
                                        <a:schemeClr val="tx1"/>
                                      </a:solidFill>
                                      <a:latin typeface="Cambria Math" panose="02040503050406030204" pitchFamily="18" charset="0"/>
                                      <a:ea typeface="华文新魏" panose="02010800040101010101" pitchFamily="2" charset="-122"/>
                                    </a:rPr>
                                  </m:ctrlPr>
                                </m:accPr>
                                <m:e>
                                  <m:r>
                                    <a:rPr lang="en-US" altLang="zh-CN" b="1" i="1">
                                      <a:solidFill>
                                        <a:schemeClr val="tx1"/>
                                      </a:solidFill>
                                      <a:latin typeface="Cambria Math" panose="02040503050406030204" pitchFamily="18" charset="0"/>
                                      <a:ea typeface="华文新魏" panose="02010800040101010101" pitchFamily="2" charset="-122"/>
                                    </a:rPr>
                                    <m:t>𝑭</m:t>
                                  </m:r>
                                </m:e>
                              </m:acc>
                            </m:e>
                            <m:sub>
                              <m:r>
                                <a:rPr lang="en-US" altLang="zh-CN" b="1" i="1">
                                  <a:solidFill>
                                    <a:schemeClr val="tx1"/>
                                  </a:solidFill>
                                  <a:latin typeface="Cambria Math" panose="02040503050406030204" pitchFamily="18" charset="0"/>
                                  <a:ea typeface="华文新魏" panose="02010800040101010101" pitchFamily="2" charset="-122"/>
                                </a:rPr>
                                <m:t>𝒊</m:t>
                              </m:r>
                            </m:sub>
                          </m:sSub>
                        </m:e>
                      </m:nary>
                    </m:oMath>
                  </m:oMathPara>
                </a14:m>
                <a:endParaRPr lang="zh-CN" altLang="en-US" dirty="0">
                  <a:latin typeface="华文楷体" panose="02010600040101010101" pitchFamily="2" charset="-122"/>
                  <a:ea typeface="华文楷体" panose="02010600040101010101" pitchFamily="2" charset="-122"/>
                </a:endParaRPr>
              </a:p>
            </p:txBody>
          </p:sp>
        </mc:Choice>
        <mc:Fallback xmlns="">
          <p:sp>
            <p:nvSpPr>
              <p:cNvPr id="13" name="文本占位符 9">
                <a:extLst>
                  <a:ext uri="{FF2B5EF4-FFF2-40B4-BE49-F238E27FC236}">
                    <a16:creationId xmlns:a16="http://schemas.microsoft.com/office/drawing/2014/main" id="{336EE73C-0E4C-4D23-8C6C-473915239A59}"/>
                  </a:ext>
                </a:extLst>
              </p:cNvPr>
              <p:cNvSpPr txBox="1">
                <a:spLocks noRot="1" noChangeAspect="1" noMove="1" noResize="1" noEditPoints="1" noAdjustHandles="1" noChangeArrowheads="1" noChangeShapeType="1" noTextEdit="1"/>
              </p:cNvSpPr>
              <p:nvPr/>
            </p:nvSpPr>
            <p:spPr>
              <a:xfrm>
                <a:off x="5476327" y="1709142"/>
                <a:ext cx="5253385" cy="4287279"/>
              </a:xfrm>
              <a:prstGeom prst="rect">
                <a:avLst/>
              </a:prstGeom>
              <a:blipFill>
                <a:blip r:embed="rId2"/>
                <a:stretch>
                  <a:fillRect l="-2320" r="-1508"/>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3206921B-4540-49FA-A19E-15A88F2E3DC0}"/>
              </a:ext>
            </a:extLst>
          </p:cNvPr>
          <p:cNvGrpSpPr/>
          <p:nvPr/>
        </p:nvGrpSpPr>
        <p:grpSpPr>
          <a:xfrm>
            <a:off x="1318045" y="2160796"/>
            <a:ext cx="3419475" cy="3024192"/>
            <a:chOff x="4887035" y="2519519"/>
            <a:chExt cx="3419475" cy="3024192"/>
          </a:xfrm>
        </p:grpSpPr>
        <p:grpSp>
          <p:nvGrpSpPr>
            <p:cNvPr id="15" name="Group 85">
              <a:extLst>
                <a:ext uri="{FF2B5EF4-FFF2-40B4-BE49-F238E27FC236}">
                  <a16:creationId xmlns:a16="http://schemas.microsoft.com/office/drawing/2014/main" id="{836316F5-A35F-45BA-BF73-B46F3326A567}"/>
                </a:ext>
              </a:extLst>
            </p:cNvPr>
            <p:cNvGrpSpPr>
              <a:grpSpLocks/>
            </p:cNvGrpSpPr>
            <p:nvPr/>
          </p:nvGrpSpPr>
          <p:grpSpPr bwMode="auto">
            <a:xfrm>
              <a:off x="6974599" y="3816507"/>
              <a:ext cx="865187" cy="1277938"/>
              <a:chOff x="4467" y="2705"/>
              <a:chExt cx="545" cy="805"/>
            </a:xfrm>
          </p:grpSpPr>
          <p:sp>
            <p:nvSpPr>
              <p:cNvPr id="46" name="Line 54">
                <a:extLst>
                  <a:ext uri="{FF2B5EF4-FFF2-40B4-BE49-F238E27FC236}">
                    <a16:creationId xmlns:a16="http://schemas.microsoft.com/office/drawing/2014/main" id="{E3310AB2-9884-41AC-82E4-9468650C9AA0}"/>
                  </a:ext>
                </a:extLst>
              </p:cNvPr>
              <p:cNvSpPr>
                <a:spLocks noChangeShapeType="1"/>
              </p:cNvSpPr>
              <p:nvPr/>
            </p:nvSpPr>
            <p:spPr bwMode="auto">
              <a:xfrm>
                <a:off x="4467" y="2705"/>
                <a:ext cx="545" cy="544"/>
              </a:xfrm>
              <a:prstGeom prst="line">
                <a:avLst/>
              </a:prstGeom>
              <a:noFill/>
              <a:ln w="31750">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47" name="Line 55">
                <a:extLst>
                  <a:ext uri="{FF2B5EF4-FFF2-40B4-BE49-F238E27FC236}">
                    <a16:creationId xmlns:a16="http://schemas.microsoft.com/office/drawing/2014/main" id="{0D5E90E0-F93D-4C76-8BBB-92804BC2796A}"/>
                  </a:ext>
                </a:extLst>
              </p:cNvPr>
              <p:cNvSpPr>
                <a:spLocks noChangeShapeType="1"/>
              </p:cNvSpPr>
              <p:nvPr/>
            </p:nvSpPr>
            <p:spPr bwMode="auto">
              <a:xfrm flipV="1">
                <a:off x="4740" y="3236"/>
                <a:ext cx="260" cy="274"/>
              </a:xfrm>
              <a:prstGeom prst="line">
                <a:avLst/>
              </a:prstGeom>
              <a:noFill/>
              <a:ln w="31750">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mc:AlternateContent xmlns:mc="http://schemas.openxmlformats.org/markup-compatibility/2006" xmlns:a14="http://schemas.microsoft.com/office/drawing/2010/main">
          <mc:Choice Requires="a14">
            <p:sp>
              <p:nvSpPr>
                <p:cNvPr id="16" name="Object 36">
                  <a:extLst>
                    <a:ext uri="{FF2B5EF4-FFF2-40B4-BE49-F238E27FC236}">
                      <a16:creationId xmlns:a16="http://schemas.microsoft.com/office/drawing/2014/main" id="{88206078-317E-4158-9DC6-BEF2C9BD6F2B}"/>
                    </a:ext>
                  </a:extLst>
                </p:cNvPr>
                <p:cNvSpPr txBox="1"/>
                <p:nvPr/>
              </p:nvSpPr>
              <p:spPr bwMode="auto">
                <a:xfrm>
                  <a:off x="7863814" y="4427963"/>
                  <a:ext cx="379967" cy="467850"/>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zh-CN" altLang="en-US" sz="2800" b="1" i="1">
                                <a:solidFill>
                                  <a:srgbClr val="000000"/>
                                </a:solidFill>
                                <a:latin typeface="Cambria Math" panose="02040503050406030204" pitchFamily="18" charset="0"/>
                              </a:rPr>
                              <m:t>𝑭</m:t>
                            </m:r>
                          </m:e>
                        </m:acc>
                      </m:oMath>
                    </m:oMathPara>
                  </a14:m>
                  <a:endParaRPr lang="zh-CN" altLang="en-US" sz="2800" b="1">
                    <a:latin typeface="华文楷体" panose="02010600040101010101" pitchFamily="2" charset="-122"/>
                    <a:ea typeface="华文楷体" panose="02010600040101010101" pitchFamily="2" charset="-122"/>
                  </a:endParaRPr>
                </a:p>
              </p:txBody>
            </p:sp>
          </mc:Choice>
          <mc:Fallback xmlns="">
            <p:sp>
              <p:nvSpPr>
                <p:cNvPr id="20509" name="Object 36"/>
                <p:cNvSpPr txBox="1">
                  <a:spLocks noRot="1" noChangeAspect="1" noMove="1" noResize="1" noEditPoints="1" noAdjustHandles="1" noChangeArrowheads="1" noChangeShapeType="1" noTextEdit="1"/>
                </p:cNvSpPr>
                <p:nvPr/>
              </p:nvSpPr>
              <p:spPr bwMode="auto">
                <a:xfrm>
                  <a:off x="7863814" y="4427963"/>
                  <a:ext cx="379967" cy="467850"/>
                </a:xfrm>
                <a:prstGeom prst="rect">
                  <a:avLst/>
                </a:prstGeom>
                <a:blipFill>
                  <a:blip r:embed="rId3"/>
                  <a:stretch>
                    <a:fillRect l="-1613"/>
                  </a:stretch>
                </a:blipFill>
                <a:ln>
                  <a:noFill/>
                </a:ln>
                <a:effectLst/>
              </p:spPr>
              <p:txBody>
                <a:bodyPr/>
                <a:lstStyle/>
                <a:p>
                  <a:r>
                    <a:rPr lang="zh-CN" altLang="en-US">
                      <a:noFill/>
                    </a:rPr>
                    <a:t> </a:t>
                  </a:r>
                </a:p>
              </p:txBody>
            </p:sp>
          </mc:Fallback>
        </mc:AlternateContent>
        <p:grpSp>
          <p:nvGrpSpPr>
            <p:cNvPr id="17" name="Group 84">
              <a:extLst>
                <a:ext uri="{FF2B5EF4-FFF2-40B4-BE49-F238E27FC236}">
                  <a16:creationId xmlns:a16="http://schemas.microsoft.com/office/drawing/2014/main" id="{E2238C29-FFF6-4C62-BFF1-7BDB21C38160}"/>
                </a:ext>
              </a:extLst>
            </p:cNvPr>
            <p:cNvGrpSpPr>
              <a:grpSpLocks/>
            </p:cNvGrpSpPr>
            <p:nvPr/>
          </p:nvGrpSpPr>
          <p:grpSpPr bwMode="auto">
            <a:xfrm>
              <a:off x="4887035" y="2519519"/>
              <a:ext cx="3419475" cy="2198689"/>
              <a:chOff x="3152" y="1888"/>
              <a:chExt cx="2154" cy="1385"/>
            </a:xfrm>
          </p:grpSpPr>
          <p:grpSp>
            <p:nvGrpSpPr>
              <p:cNvPr id="33" name="Group 59">
                <a:extLst>
                  <a:ext uri="{FF2B5EF4-FFF2-40B4-BE49-F238E27FC236}">
                    <a16:creationId xmlns:a16="http://schemas.microsoft.com/office/drawing/2014/main" id="{7E3D50D0-060B-4823-811F-5039F7F968D2}"/>
                  </a:ext>
                </a:extLst>
              </p:cNvPr>
              <p:cNvGrpSpPr>
                <a:grpSpLocks/>
              </p:cNvGrpSpPr>
              <p:nvPr/>
            </p:nvGrpSpPr>
            <p:grpSpPr bwMode="auto">
              <a:xfrm>
                <a:off x="3152" y="1888"/>
                <a:ext cx="1919" cy="1237"/>
                <a:chOff x="3198" y="1842"/>
                <a:chExt cx="1919" cy="1237"/>
              </a:xfrm>
            </p:grpSpPr>
            <p:grpSp>
              <p:nvGrpSpPr>
                <p:cNvPr id="37" name="Group 60">
                  <a:extLst>
                    <a:ext uri="{FF2B5EF4-FFF2-40B4-BE49-F238E27FC236}">
                      <a16:creationId xmlns:a16="http://schemas.microsoft.com/office/drawing/2014/main" id="{A764E2C8-6111-4E7E-89D2-9CB4209C4051}"/>
                    </a:ext>
                  </a:extLst>
                </p:cNvPr>
                <p:cNvGrpSpPr>
                  <a:grpSpLocks/>
                </p:cNvGrpSpPr>
                <p:nvPr/>
              </p:nvGrpSpPr>
              <p:grpSpPr bwMode="auto">
                <a:xfrm>
                  <a:off x="3470" y="1998"/>
                  <a:ext cx="1647" cy="1001"/>
                  <a:chOff x="3470" y="1998"/>
                  <a:chExt cx="1647" cy="1001"/>
                </a:xfrm>
              </p:grpSpPr>
              <p:sp>
                <p:nvSpPr>
                  <p:cNvPr id="41" name="Oval 62">
                    <a:extLst>
                      <a:ext uri="{FF2B5EF4-FFF2-40B4-BE49-F238E27FC236}">
                        <a16:creationId xmlns:a16="http://schemas.microsoft.com/office/drawing/2014/main" id="{E6378BB0-FBDE-422F-9F50-E216DDA4DA1C}"/>
                      </a:ext>
                    </a:extLst>
                  </p:cNvPr>
                  <p:cNvSpPr>
                    <a:spLocks noChangeArrowheads="1"/>
                  </p:cNvSpPr>
                  <p:nvPr/>
                </p:nvSpPr>
                <p:spPr bwMode="auto">
                  <a:xfrm>
                    <a:off x="4147" y="2773"/>
                    <a:ext cx="226" cy="226"/>
                  </a:xfrm>
                  <a:prstGeom prst="ellipse">
                    <a:avLst/>
                  </a:prstGeom>
                  <a:gradFill rotWithShape="1">
                    <a:gsLst>
                      <a:gs pos="0">
                        <a:srgbClr val="FF6600"/>
                      </a:gs>
                      <a:gs pos="100000">
                        <a:srgbClr val="762F00"/>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42" name="Oval 61">
                    <a:extLst>
                      <a:ext uri="{FF2B5EF4-FFF2-40B4-BE49-F238E27FC236}">
                        <a16:creationId xmlns:a16="http://schemas.microsoft.com/office/drawing/2014/main" id="{3D044CB0-FAC3-485B-8CF8-F467DC031F11}"/>
                      </a:ext>
                    </a:extLst>
                  </p:cNvPr>
                  <p:cNvSpPr>
                    <a:spLocks noChangeArrowheads="1"/>
                  </p:cNvSpPr>
                  <p:nvPr/>
                </p:nvSpPr>
                <p:spPr bwMode="auto">
                  <a:xfrm>
                    <a:off x="4890" y="1998"/>
                    <a:ext cx="227" cy="227"/>
                  </a:xfrm>
                  <a:prstGeom prst="ellipse">
                    <a:avLst/>
                  </a:prstGeom>
                  <a:gradFill rotWithShape="1">
                    <a:gsLst>
                      <a:gs pos="0">
                        <a:srgbClr val="008080"/>
                      </a:gs>
                      <a:gs pos="100000">
                        <a:srgbClr val="003B3B"/>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43" name="Oval 63">
                    <a:extLst>
                      <a:ext uri="{FF2B5EF4-FFF2-40B4-BE49-F238E27FC236}">
                        <a16:creationId xmlns:a16="http://schemas.microsoft.com/office/drawing/2014/main" id="{9124D4F9-E48A-4D0E-9026-2CDB47EAB4F0}"/>
                      </a:ext>
                    </a:extLst>
                  </p:cNvPr>
                  <p:cNvSpPr>
                    <a:spLocks noChangeArrowheads="1"/>
                  </p:cNvSpPr>
                  <p:nvPr/>
                </p:nvSpPr>
                <p:spPr bwMode="auto">
                  <a:xfrm>
                    <a:off x="3470" y="2160"/>
                    <a:ext cx="227" cy="227"/>
                  </a:xfrm>
                  <a:prstGeom prst="ellipse">
                    <a:avLst/>
                  </a:prstGeom>
                  <a:gradFill rotWithShape="1">
                    <a:gsLst>
                      <a:gs pos="0">
                        <a:srgbClr val="FF6600"/>
                      </a:gs>
                      <a:gs pos="100000">
                        <a:srgbClr val="762F00"/>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44" name="Line 64">
                    <a:extLst>
                      <a:ext uri="{FF2B5EF4-FFF2-40B4-BE49-F238E27FC236}">
                        <a16:creationId xmlns:a16="http://schemas.microsoft.com/office/drawing/2014/main" id="{CF1D7CCA-1ACF-4086-AF8F-17953B4ACDCD}"/>
                      </a:ext>
                    </a:extLst>
                  </p:cNvPr>
                  <p:cNvSpPr>
                    <a:spLocks noChangeShapeType="1"/>
                  </p:cNvSpPr>
                  <p:nvPr/>
                </p:nvSpPr>
                <p:spPr bwMode="auto">
                  <a:xfrm flipH="1" flipV="1">
                    <a:off x="3696" y="2341"/>
                    <a:ext cx="454" cy="454"/>
                  </a:xfrm>
                  <a:prstGeom prst="line">
                    <a:avLst/>
                  </a:prstGeom>
                  <a:noFill/>
                  <a:ln w="25400">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45" name="Line 65">
                    <a:extLst>
                      <a:ext uri="{FF2B5EF4-FFF2-40B4-BE49-F238E27FC236}">
                        <a16:creationId xmlns:a16="http://schemas.microsoft.com/office/drawing/2014/main" id="{165DB9D8-F401-4032-B990-A8BC587F9EB4}"/>
                      </a:ext>
                    </a:extLst>
                  </p:cNvPr>
                  <p:cNvSpPr>
                    <a:spLocks noChangeShapeType="1"/>
                  </p:cNvSpPr>
                  <p:nvPr/>
                </p:nvSpPr>
                <p:spPr bwMode="auto">
                  <a:xfrm flipH="1">
                    <a:off x="4362" y="2147"/>
                    <a:ext cx="594" cy="635"/>
                  </a:xfrm>
                  <a:prstGeom prst="line">
                    <a:avLst/>
                  </a:prstGeom>
                  <a:noFill/>
                  <a:ln w="25400">
                    <a:solidFill>
                      <a:srgbClr val="008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grpSp>
              <p:nvGrpSpPr>
                <p:cNvPr id="38" name="Group 66">
                  <a:extLst>
                    <a:ext uri="{FF2B5EF4-FFF2-40B4-BE49-F238E27FC236}">
                      <a16:creationId xmlns:a16="http://schemas.microsoft.com/office/drawing/2014/main" id="{AA9A66DC-3F57-44EB-8F33-F7EEEA5EEB32}"/>
                    </a:ext>
                  </a:extLst>
                </p:cNvPr>
                <p:cNvGrpSpPr>
                  <a:grpSpLocks/>
                </p:cNvGrpSpPr>
                <p:nvPr/>
              </p:nvGrpSpPr>
              <p:grpSpPr bwMode="auto">
                <a:xfrm>
                  <a:off x="3198" y="1842"/>
                  <a:ext cx="861" cy="1237"/>
                  <a:chOff x="3198" y="1842"/>
                  <a:chExt cx="861" cy="1237"/>
                </a:xfrm>
              </p:grpSpPr>
              <p:sp>
                <p:nvSpPr>
                  <p:cNvPr id="39" name="Text Box 67">
                    <a:extLst>
                      <a:ext uri="{FF2B5EF4-FFF2-40B4-BE49-F238E27FC236}">
                        <a16:creationId xmlns:a16="http://schemas.microsoft.com/office/drawing/2014/main" id="{310A0A51-8679-4CA4-816F-A6E0A9E08968}"/>
                      </a:ext>
                    </a:extLst>
                  </p:cNvPr>
                  <p:cNvSpPr txBox="1">
                    <a:spLocks noChangeArrowheads="1"/>
                  </p:cNvSpPr>
                  <p:nvPr/>
                </p:nvSpPr>
                <p:spPr bwMode="auto">
                  <a:xfrm>
                    <a:off x="3198" y="1842"/>
                    <a:ext cx="318"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zh-CN" sz="2800" baseline="-25000">
                      <a:latin typeface="华文楷体" panose="02010600040101010101" pitchFamily="2" charset="-122"/>
                      <a:ea typeface="华文楷体" panose="02010600040101010101" pitchFamily="2" charset="-122"/>
                    </a:endParaRPr>
                  </a:p>
                </p:txBody>
              </p:sp>
              <p:sp>
                <p:nvSpPr>
                  <p:cNvPr id="40" name="Text Box 68">
                    <a:extLst>
                      <a:ext uri="{FF2B5EF4-FFF2-40B4-BE49-F238E27FC236}">
                        <a16:creationId xmlns:a16="http://schemas.microsoft.com/office/drawing/2014/main" id="{125CFD8F-7568-46AF-A030-9B8A3885D201}"/>
                      </a:ext>
                    </a:extLst>
                  </p:cNvPr>
                  <p:cNvSpPr txBox="1">
                    <a:spLocks noChangeArrowheads="1"/>
                  </p:cNvSpPr>
                  <p:nvPr/>
                </p:nvSpPr>
                <p:spPr bwMode="auto">
                  <a:xfrm>
                    <a:off x="3696" y="2840"/>
                    <a:ext cx="363"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zh-CN" sz="2800" baseline="-25000">
                      <a:latin typeface="华文楷体" panose="02010600040101010101" pitchFamily="2" charset="-122"/>
                      <a:ea typeface="华文楷体" panose="02010600040101010101" pitchFamily="2" charset="-122"/>
                    </a:endParaRPr>
                  </a:p>
                </p:txBody>
              </p:sp>
            </p:grpSp>
          </p:grpSp>
          <mc:AlternateContent xmlns:mc="http://schemas.openxmlformats.org/markup-compatibility/2006" xmlns:a14="http://schemas.microsoft.com/office/drawing/2010/main">
            <mc:Choice Requires="a14">
              <p:sp>
                <p:nvSpPr>
                  <p:cNvPr id="34" name="Object 72">
                    <a:extLst>
                      <a:ext uri="{FF2B5EF4-FFF2-40B4-BE49-F238E27FC236}">
                        <a16:creationId xmlns:a16="http://schemas.microsoft.com/office/drawing/2014/main" id="{6B72BC93-2CC1-4E94-BC74-61680F61F104}"/>
                      </a:ext>
                    </a:extLst>
                  </p:cNvPr>
                  <p:cNvSpPr txBox="1"/>
                  <p:nvPr/>
                </p:nvSpPr>
                <p:spPr bwMode="auto">
                  <a:xfrm>
                    <a:off x="5075" y="1896"/>
                    <a:ext cx="231" cy="32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𝒒</m:t>
                              </m:r>
                            </m:e>
                            <m:sub>
                              <m:r>
                                <a:rPr lang="zh-CN" altLang="en-US" sz="2800" b="1" i="1">
                                  <a:solidFill>
                                    <a:srgbClr val="000000"/>
                                  </a:solidFill>
                                  <a:latin typeface="Cambria Math" panose="02040503050406030204" pitchFamily="18" charset="0"/>
                                </a:rPr>
                                <m:t>𝟐</m:t>
                              </m:r>
                            </m:sub>
                          </m:sSub>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20497" name="Object 72"/>
                  <p:cNvSpPr txBox="1">
                    <a:spLocks noRot="1" noChangeAspect="1" noMove="1" noResize="1" noEditPoints="1" noAdjustHandles="1" noChangeArrowheads="1" noChangeShapeType="1" noTextEdit="1"/>
                  </p:cNvSpPr>
                  <p:nvPr/>
                </p:nvSpPr>
                <p:spPr bwMode="auto">
                  <a:xfrm>
                    <a:off x="5075" y="1896"/>
                    <a:ext cx="231" cy="321"/>
                  </a:xfrm>
                  <a:prstGeom prst="rect">
                    <a:avLst/>
                  </a:prstGeom>
                  <a:blipFill>
                    <a:blip r:embed="rId4"/>
                    <a:stretch>
                      <a:fillRect r="-1803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Object 73">
                    <a:extLst>
                      <a:ext uri="{FF2B5EF4-FFF2-40B4-BE49-F238E27FC236}">
                        <a16:creationId xmlns:a16="http://schemas.microsoft.com/office/drawing/2014/main" id="{AC1E8E5C-1232-468E-A111-D93C2A84CE2D}"/>
                      </a:ext>
                    </a:extLst>
                  </p:cNvPr>
                  <p:cNvSpPr txBox="1"/>
                  <p:nvPr/>
                </p:nvSpPr>
                <p:spPr bwMode="auto">
                  <a:xfrm>
                    <a:off x="3185" y="1931"/>
                    <a:ext cx="239" cy="36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𝒒</m:t>
                              </m:r>
                            </m:e>
                            <m:sub>
                              <m:r>
                                <a:rPr lang="zh-CN" altLang="en-US" sz="2800" b="1" i="1">
                                  <a:solidFill>
                                    <a:srgbClr val="000000"/>
                                  </a:solidFill>
                                  <a:latin typeface="Cambria Math" panose="02040503050406030204" pitchFamily="18" charset="0"/>
                                </a:rPr>
                                <m:t>𝟏</m:t>
                              </m:r>
                            </m:sub>
                          </m:sSub>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20498" name="Object 73"/>
                  <p:cNvSpPr txBox="1">
                    <a:spLocks noRot="1" noChangeAspect="1" noMove="1" noResize="1" noEditPoints="1" noAdjustHandles="1" noChangeArrowheads="1" noChangeShapeType="1" noTextEdit="1"/>
                  </p:cNvSpPr>
                  <p:nvPr/>
                </p:nvSpPr>
                <p:spPr bwMode="auto">
                  <a:xfrm>
                    <a:off x="3185" y="1931"/>
                    <a:ext cx="239" cy="361"/>
                  </a:xfrm>
                  <a:prstGeom prst="rect">
                    <a:avLst/>
                  </a:prstGeom>
                  <a:blipFill>
                    <a:blip r:embed="rId5"/>
                    <a:stretch>
                      <a:fillRect r="-1774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74">
                    <a:extLst>
                      <a:ext uri="{FF2B5EF4-FFF2-40B4-BE49-F238E27FC236}">
                        <a16:creationId xmlns:a16="http://schemas.microsoft.com/office/drawing/2014/main" id="{C0BCEA77-DB16-4887-857B-5BC33AFF451D}"/>
                      </a:ext>
                    </a:extLst>
                  </p:cNvPr>
                  <p:cNvSpPr txBox="1"/>
                  <p:nvPr/>
                </p:nvSpPr>
                <p:spPr bwMode="auto">
                  <a:xfrm>
                    <a:off x="3820" y="2857"/>
                    <a:ext cx="283" cy="41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FF0000"/>
                                  </a:solidFill>
                                  <a:latin typeface="Cambria Math" panose="02040503050406030204" pitchFamily="18" charset="0"/>
                                </a:rPr>
                              </m:ctrlPr>
                            </m:sSubPr>
                            <m:e>
                              <m:r>
                                <a:rPr lang="zh-CN" altLang="en-US" sz="2800" b="1" i="1">
                                  <a:solidFill>
                                    <a:srgbClr val="FF0000"/>
                                  </a:solidFill>
                                  <a:latin typeface="Cambria Math" panose="02040503050406030204" pitchFamily="18" charset="0"/>
                                </a:rPr>
                                <m:t>𝒒</m:t>
                              </m:r>
                            </m:e>
                            <m:sub>
                              <m:r>
                                <a:rPr lang="en-US" altLang="zh-CN" sz="2800" b="1" i="1">
                                  <a:solidFill>
                                    <a:srgbClr val="FF0000"/>
                                  </a:solidFill>
                                  <a:latin typeface="Cambria Math" panose="02040503050406030204" pitchFamily="18" charset="0"/>
                                </a:rPr>
                                <m:t>𝟎</m:t>
                              </m:r>
                            </m:sub>
                          </m:sSub>
                        </m:oMath>
                      </m:oMathPara>
                    </a14:m>
                    <a:endParaRPr lang="zh-CN" altLang="en-US" sz="2800" b="1" dirty="0">
                      <a:solidFill>
                        <a:srgbClr val="FF0000"/>
                      </a:solidFill>
                      <a:latin typeface="华文楷体" panose="02010600040101010101" pitchFamily="2" charset="-122"/>
                      <a:ea typeface="华文楷体" panose="02010600040101010101" pitchFamily="2" charset="-122"/>
                    </a:endParaRPr>
                  </a:p>
                </p:txBody>
              </p:sp>
            </mc:Choice>
            <mc:Fallback xmlns="">
              <p:sp>
                <p:nvSpPr>
                  <p:cNvPr id="20499" name="Object 74"/>
                  <p:cNvSpPr txBox="1">
                    <a:spLocks noRot="1" noChangeAspect="1" noMove="1" noResize="1" noEditPoints="1" noAdjustHandles="1" noChangeArrowheads="1" noChangeShapeType="1" noTextEdit="1"/>
                  </p:cNvSpPr>
                  <p:nvPr/>
                </p:nvSpPr>
                <p:spPr bwMode="auto">
                  <a:xfrm>
                    <a:off x="3820" y="2857"/>
                    <a:ext cx="283" cy="416"/>
                  </a:xfrm>
                  <a:prstGeom prst="rect">
                    <a:avLst/>
                  </a:prstGeom>
                  <a:blipFill>
                    <a:blip r:embed="rId6"/>
                    <a:stretch>
                      <a:fillRect/>
                    </a:stretch>
                  </a:blipFill>
                  <a:ln>
                    <a:noFill/>
                  </a:ln>
                  <a:effectLst/>
                </p:spPr>
                <p:txBody>
                  <a:bodyPr/>
                  <a:lstStyle/>
                  <a:p>
                    <a:r>
                      <a:rPr lang="zh-CN" altLang="en-US">
                        <a:noFill/>
                      </a:rPr>
                      <a:t> </a:t>
                    </a:r>
                  </a:p>
                </p:txBody>
              </p:sp>
            </mc:Fallback>
          </mc:AlternateContent>
        </p:grpSp>
        <p:grpSp>
          <p:nvGrpSpPr>
            <p:cNvPr id="18" name="Group 76">
              <a:extLst>
                <a:ext uri="{FF2B5EF4-FFF2-40B4-BE49-F238E27FC236}">
                  <a16:creationId xmlns:a16="http://schemas.microsoft.com/office/drawing/2014/main" id="{DAF35A90-503F-426C-B2AA-36E67279FE5E}"/>
                </a:ext>
              </a:extLst>
            </p:cNvPr>
            <p:cNvGrpSpPr>
              <a:grpSpLocks/>
            </p:cNvGrpSpPr>
            <p:nvPr/>
          </p:nvGrpSpPr>
          <p:grpSpPr bwMode="auto">
            <a:xfrm>
              <a:off x="6401775" y="3266735"/>
              <a:ext cx="531541" cy="908543"/>
              <a:chOff x="4177" y="2431"/>
              <a:chExt cx="264" cy="446"/>
            </a:xfrm>
          </p:grpSpPr>
          <mc:AlternateContent xmlns:mc="http://schemas.openxmlformats.org/markup-compatibility/2006" xmlns:a14="http://schemas.microsoft.com/office/drawing/2010/main">
            <mc:Choice Requires="a14">
              <p:sp>
                <p:nvSpPr>
                  <p:cNvPr id="31" name="Object 35">
                    <a:extLst>
                      <a:ext uri="{FF2B5EF4-FFF2-40B4-BE49-F238E27FC236}">
                        <a16:creationId xmlns:a16="http://schemas.microsoft.com/office/drawing/2014/main" id="{DB60E9F0-CDEF-4839-ADB7-4441A5FA4713}"/>
                      </a:ext>
                    </a:extLst>
                  </p:cNvPr>
                  <p:cNvSpPr txBox="1"/>
                  <p:nvPr/>
                </p:nvSpPr>
                <p:spPr bwMode="auto">
                  <a:xfrm>
                    <a:off x="4177" y="2431"/>
                    <a:ext cx="185" cy="24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acc>
                                <m:accPr>
                                  <m:chr m:val="⃗"/>
                                  <m:ctrlPr>
                                    <a:rPr lang="zh-CN" altLang="en-US" sz="2800" b="1" i="1">
                                      <a:solidFill>
                                        <a:srgbClr val="000000"/>
                                      </a:solidFill>
                                      <a:latin typeface="Cambria Math" panose="02040503050406030204" pitchFamily="18" charset="0"/>
                                    </a:rPr>
                                  </m:ctrlPr>
                                </m:accPr>
                                <m:e>
                                  <m:r>
                                    <a:rPr lang="zh-CN" altLang="en-US" sz="2800" b="1" i="1">
                                      <a:solidFill>
                                        <a:srgbClr val="000000"/>
                                      </a:solidFill>
                                      <a:latin typeface="Cambria Math" panose="02040503050406030204" pitchFamily="18" charset="0"/>
                                    </a:rPr>
                                    <m:t>𝑭</m:t>
                                  </m:r>
                                </m:e>
                              </m:acc>
                            </m:e>
                            <m:sub>
                              <m:r>
                                <a:rPr lang="zh-CN" altLang="en-US" sz="2800" b="1" i="1">
                                  <a:solidFill>
                                    <a:srgbClr val="000000"/>
                                  </a:solidFill>
                                  <a:latin typeface="Cambria Math" panose="02040503050406030204" pitchFamily="18" charset="0"/>
                                </a:rPr>
                                <m:t>𝟐</m:t>
                              </m:r>
                            </m:sub>
                          </m:sSub>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20494" name="Object 35"/>
                  <p:cNvSpPr txBox="1">
                    <a:spLocks noRot="1" noChangeAspect="1" noMove="1" noResize="1" noEditPoints="1" noAdjustHandles="1" noChangeArrowheads="1" noChangeShapeType="1" noTextEdit="1"/>
                  </p:cNvSpPr>
                  <p:nvPr/>
                </p:nvSpPr>
                <p:spPr bwMode="auto">
                  <a:xfrm>
                    <a:off x="4177" y="2431"/>
                    <a:ext cx="185" cy="242"/>
                  </a:xfrm>
                  <a:prstGeom prst="rect">
                    <a:avLst/>
                  </a:prstGeom>
                  <a:blipFill>
                    <a:blip r:embed="rId7"/>
                    <a:stretch>
                      <a:fillRect r="-21311" b="-3704"/>
                    </a:stretch>
                  </a:blipFill>
                  <a:ln>
                    <a:noFill/>
                  </a:ln>
                  <a:effectLst/>
                </p:spPr>
                <p:txBody>
                  <a:bodyPr/>
                  <a:lstStyle/>
                  <a:p>
                    <a:r>
                      <a:rPr lang="zh-CN" altLang="en-US">
                        <a:noFill/>
                      </a:rPr>
                      <a:t> </a:t>
                    </a:r>
                  </a:p>
                </p:txBody>
              </p:sp>
            </mc:Fallback>
          </mc:AlternateContent>
          <p:sp>
            <p:nvSpPr>
              <p:cNvPr id="32" name="Line 75">
                <a:extLst>
                  <a:ext uri="{FF2B5EF4-FFF2-40B4-BE49-F238E27FC236}">
                    <a16:creationId xmlns:a16="http://schemas.microsoft.com/office/drawing/2014/main" id="{E9A9CEE7-D6DE-43DD-975C-18CC475BA563}"/>
                  </a:ext>
                </a:extLst>
              </p:cNvPr>
              <p:cNvSpPr>
                <a:spLocks noChangeShapeType="1"/>
              </p:cNvSpPr>
              <p:nvPr/>
            </p:nvSpPr>
            <p:spPr bwMode="auto">
              <a:xfrm flipV="1">
                <a:off x="4259" y="2696"/>
                <a:ext cx="182" cy="181"/>
              </a:xfrm>
              <a:prstGeom prst="line">
                <a:avLst/>
              </a:prstGeom>
              <a:noFill/>
              <a:ln w="38100">
                <a:solidFill>
                  <a:srgbClr val="339966"/>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grpSp>
          <p:nvGrpSpPr>
            <p:cNvPr id="20" name="Group 83">
              <a:extLst>
                <a:ext uri="{FF2B5EF4-FFF2-40B4-BE49-F238E27FC236}">
                  <a16:creationId xmlns:a16="http://schemas.microsoft.com/office/drawing/2014/main" id="{1F14BFC1-CFE9-421C-A9EC-9F6D0B37860D}"/>
                </a:ext>
              </a:extLst>
            </p:cNvPr>
            <p:cNvGrpSpPr>
              <a:grpSpLocks/>
            </p:cNvGrpSpPr>
            <p:nvPr/>
          </p:nvGrpSpPr>
          <p:grpSpPr bwMode="auto">
            <a:xfrm>
              <a:off x="6566615" y="4170522"/>
              <a:ext cx="993775" cy="1373189"/>
              <a:chOff x="4210" y="2929"/>
              <a:chExt cx="626" cy="865"/>
            </a:xfrm>
          </p:grpSpPr>
          <p:sp>
            <p:nvSpPr>
              <p:cNvPr id="25" name="Line 58">
                <a:extLst>
                  <a:ext uri="{FF2B5EF4-FFF2-40B4-BE49-F238E27FC236}">
                    <a16:creationId xmlns:a16="http://schemas.microsoft.com/office/drawing/2014/main" id="{D52888E3-ACEC-4C3C-91D8-2CFA73070573}"/>
                  </a:ext>
                </a:extLst>
              </p:cNvPr>
              <p:cNvSpPr>
                <a:spLocks noChangeShapeType="1"/>
              </p:cNvSpPr>
              <p:nvPr/>
            </p:nvSpPr>
            <p:spPr bwMode="auto">
              <a:xfrm>
                <a:off x="4210" y="2929"/>
                <a:ext cx="544" cy="567"/>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nvGrpSpPr>
              <p:cNvPr id="27" name="Group 79">
                <a:extLst>
                  <a:ext uri="{FF2B5EF4-FFF2-40B4-BE49-F238E27FC236}">
                    <a16:creationId xmlns:a16="http://schemas.microsoft.com/office/drawing/2014/main" id="{06972F1E-9E25-460F-848C-7A9BEC6CFE64}"/>
                  </a:ext>
                </a:extLst>
              </p:cNvPr>
              <p:cNvGrpSpPr>
                <a:grpSpLocks noChangeAspect="1"/>
              </p:cNvGrpSpPr>
              <p:nvPr/>
            </p:nvGrpSpPr>
            <p:grpSpPr bwMode="auto">
              <a:xfrm>
                <a:off x="4481" y="3479"/>
                <a:ext cx="355" cy="315"/>
                <a:chOff x="4481" y="3479"/>
                <a:chExt cx="355" cy="315"/>
              </a:xfrm>
            </p:grpSpPr>
            <p:sp>
              <p:nvSpPr>
                <p:cNvPr id="28" name="AutoShape 78">
                  <a:extLst>
                    <a:ext uri="{FF2B5EF4-FFF2-40B4-BE49-F238E27FC236}">
                      <a16:creationId xmlns:a16="http://schemas.microsoft.com/office/drawing/2014/main" id="{82D8E5E5-E5DD-40E0-BC70-6F2027174219}"/>
                    </a:ext>
                  </a:extLst>
                </p:cNvPr>
                <p:cNvSpPr>
                  <a:spLocks noChangeAspect="1" noChangeArrowheads="1" noTextEdit="1"/>
                </p:cNvSpPr>
                <p:nvPr/>
              </p:nvSpPr>
              <p:spPr bwMode="auto">
                <a:xfrm>
                  <a:off x="4649" y="3521"/>
                  <a:ext cx="18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800" b="1">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0" name="Rectangle 81">
                      <a:extLst>
                        <a:ext uri="{FF2B5EF4-FFF2-40B4-BE49-F238E27FC236}">
                          <a16:creationId xmlns:a16="http://schemas.microsoft.com/office/drawing/2014/main" id="{A28E441D-1651-4ACF-95FF-AF36D133C094}"/>
                        </a:ext>
                      </a:extLst>
                    </p:cNvPr>
                    <p:cNvSpPr>
                      <a:spLocks noChangeArrowheads="1"/>
                    </p:cNvSpPr>
                    <p:nvPr/>
                  </p:nvSpPr>
                  <p:spPr bwMode="auto">
                    <a:xfrm>
                      <a:off x="4481" y="3479"/>
                      <a:ext cx="309" cy="30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lIns="0" tIns="0" rIns="0" bIns="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𝑭</m:t>
                                    </m:r>
                                  </m:e>
                                </m:acc>
                              </m:e>
                              <m:sub>
                                <m:r>
                                  <a:rPr lang="en-US" altLang="zh-CN" sz="2800" i="1">
                                    <a:latin typeface="Cambria Math" panose="02040503050406030204" pitchFamily="18" charset="0"/>
                                  </a:rPr>
                                  <m:t>𝟏</m:t>
                                </m:r>
                              </m:sub>
                            </m:sSub>
                          </m:oMath>
                        </m:oMathPara>
                      </a14:m>
                      <a:endParaRPr lang="en-US" altLang="zh-CN" sz="2800" dirty="0">
                        <a:latin typeface="华文楷体" panose="02010600040101010101" pitchFamily="2" charset="-122"/>
                        <a:ea typeface="华文楷体" panose="02010600040101010101" pitchFamily="2" charset="-122"/>
                      </a:endParaRPr>
                    </a:p>
                  </p:txBody>
                </p:sp>
              </mc:Choice>
              <mc:Fallback xmlns="">
                <p:sp>
                  <p:nvSpPr>
                    <p:cNvPr id="20492" name="Rectangle 81"/>
                    <p:cNvSpPr>
                      <a:spLocks noRot="1" noChangeAspect="1" noMove="1" noResize="1" noEditPoints="1" noAdjustHandles="1" noChangeArrowheads="1" noChangeShapeType="1" noTextEdit="1"/>
                    </p:cNvSpPr>
                    <p:nvPr/>
                  </p:nvSpPr>
                  <p:spPr bwMode="auto">
                    <a:xfrm>
                      <a:off x="4481" y="3479"/>
                      <a:ext cx="309" cy="304"/>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cxnSp>
          <p:nvCxnSpPr>
            <p:cNvPr id="24" name="直接箭头连接符 23">
              <a:extLst>
                <a:ext uri="{FF2B5EF4-FFF2-40B4-BE49-F238E27FC236}">
                  <a16:creationId xmlns:a16="http://schemas.microsoft.com/office/drawing/2014/main" id="{D8ACBCF1-4DF9-4A18-8C81-8C3959F52391}"/>
                </a:ext>
              </a:extLst>
            </p:cNvPr>
            <p:cNvCxnSpPr/>
            <p:nvPr/>
          </p:nvCxnSpPr>
          <p:spPr bwMode="auto">
            <a:xfrm>
              <a:off x="6588040" y="4175732"/>
              <a:ext cx="1200146" cy="479420"/>
            </a:xfrm>
            <a:prstGeom prst="straightConnector1">
              <a:avLst/>
            </a:prstGeom>
            <a:solidFill>
              <a:srgbClr val="FFFFFF"/>
            </a:solidFill>
            <a:ln w="57150"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spTree>
    <p:extLst>
      <p:ext uri="{BB962C8B-B14F-4D97-AF65-F5344CB8AC3E}">
        <p14:creationId xmlns:p14="http://schemas.microsoft.com/office/powerpoint/2010/main" val="12170675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48" name="Rectangle 2">
                <a:extLst>
                  <a:ext uri="{FF2B5EF4-FFF2-40B4-BE49-F238E27FC236}">
                    <a16:creationId xmlns:a16="http://schemas.microsoft.com/office/drawing/2014/main" id="{17380173-F591-439D-B9BE-C2394E091440}"/>
                  </a:ext>
                </a:extLst>
              </p:cNvPr>
              <p:cNvSpPr>
                <a:spLocks noChangeArrowheads="1"/>
              </p:cNvSpPr>
              <p:nvPr/>
            </p:nvSpPr>
            <p:spPr bwMode="auto">
              <a:xfrm>
                <a:off x="372251" y="74138"/>
                <a:ext cx="11353119" cy="14064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just"/>
                <a:r>
                  <a:rPr lang="en-US" altLang="zh-CN" sz="2800" b="0" dirty="0">
                    <a:solidFill>
                      <a:schemeClr val="tx1"/>
                    </a:solidFill>
                    <a:latin typeface="华文楷体" panose="02010600040101010101" pitchFamily="2" charset="-122"/>
                    <a:ea typeface="华文楷体" panose="02010600040101010101" pitchFamily="2" charset="-122"/>
                  </a:rPr>
                  <a:t>[</a:t>
                </a:r>
                <a:r>
                  <a:rPr lang="zh-CN" altLang="en-US" sz="2800" b="0" dirty="0">
                    <a:solidFill>
                      <a:schemeClr val="tx1"/>
                    </a:solidFill>
                    <a:latin typeface="华文楷体" panose="02010600040101010101" pitchFamily="2" charset="-122"/>
                    <a:ea typeface="华文楷体" panose="02010600040101010101" pitchFamily="2" charset="-122"/>
                  </a:rPr>
                  <a:t>例</a:t>
                </a:r>
                <a:r>
                  <a:rPr lang="en-US" altLang="zh-CN" sz="2800" b="0" dirty="0">
                    <a:solidFill>
                      <a:schemeClr val="tx1"/>
                    </a:solidFill>
                    <a:latin typeface="华文楷体" panose="02010600040101010101" pitchFamily="2" charset="-122"/>
                    <a:ea typeface="华文楷体" panose="02010600040101010101" pitchFamily="2" charset="-122"/>
                  </a:rPr>
                  <a:t>12.1] </a:t>
                </a:r>
                <a:r>
                  <a:rPr lang="zh-CN" altLang="en-US" sz="2800" b="0" dirty="0">
                    <a:solidFill>
                      <a:schemeClr val="tx1"/>
                    </a:solidFill>
                    <a:latin typeface="华文楷体" panose="02010600040101010101" pitchFamily="2" charset="-122"/>
                    <a:ea typeface="华文楷体" panose="02010600040101010101" pitchFamily="2" charset="-122"/>
                  </a:rPr>
                  <a:t>按量子理论，在基态下氢原子电子在半径</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𝑟</m:t>
                    </m:r>
                    <m:r>
                      <a:rPr lang="zh-CN" altLang="en-US" sz="2800" b="0" i="1" dirty="0">
                        <a:solidFill>
                          <a:schemeClr val="tx1"/>
                        </a:solidFill>
                        <a:latin typeface="Cambria Math" panose="02040503050406030204" pitchFamily="18" charset="0"/>
                        <a:ea typeface="华文新魏" panose="02010800040101010101" pitchFamily="2" charset="-122"/>
                      </a:rPr>
                      <m:t>＝</m:t>
                    </m:r>
                    <m:r>
                      <a:rPr lang="en-US" altLang="zh-CN" sz="2800" b="0" i="1" dirty="0">
                        <a:solidFill>
                          <a:schemeClr val="tx1"/>
                        </a:solidFill>
                        <a:latin typeface="Cambria Math" panose="02040503050406030204" pitchFamily="18" charset="0"/>
                        <a:ea typeface="华文新魏" panose="02010800040101010101" pitchFamily="2" charset="-122"/>
                      </a:rPr>
                      <m:t>0.529Å</m:t>
                    </m:r>
                  </m:oMath>
                </a14:m>
                <a:r>
                  <a:rPr lang="zh-CN" altLang="en-US" sz="2800" b="0" dirty="0">
                    <a:solidFill>
                      <a:schemeClr val="tx1"/>
                    </a:solidFill>
                    <a:latin typeface="华文楷体" panose="02010600040101010101" pitchFamily="2" charset="-122"/>
                    <a:ea typeface="华文楷体" panose="02010600040101010101" pitchFamily="2" charset="-122"/>
                  </a:rPr>
                  <a:t>的球面附近出现的概率最大。</a:t>
                </a:r>
                <a:r>
                  <a:rPr lang="en-US" altLang="zh-CN" sz="2800" b="0" dirty="0">
                    <a:solidFill>
                      <a:schemeClr val="tx1"/>
                    </a:solidFill>
                    <a:latin typeface="华文楷体" panose="02010600040101010101" pitchFamily="2" charset="-122"/>
                    <a:ea typeface="华文楷体" panose="02010600040101010101" pitchFamily="2" charset="-122"/>
                  </a:rPr>
                  <a:t> </a:t>
                </a:r>
                <a:r>
                  <a:rPr lang="zh-CN" altLang="en-US" sz="2800" b="0" dirty="0">
                    <a:solidFill>
                      <a:schemeClr val="tx1"/>
                    </a:solidFill>
                    <a:latin typeface="华文楷体" panose="02010600040101010101" pitchFamily="2" charset="-122"/>
                    <a:ea typeface="华文楷体" panose="02010600040101010101" pitchFamily="2" charset="-122"/>
                  </a:rPr>
                  <a:t>试计算在基态下</a:t>
                </a:r>
                <a:r>
                  <a:rPr lang="en-US" altLang="zh-CN" sz="2800" b="0" dirty="0">
                    <a:solidFill>
                      <a:schemeClr val="tx1"/>
                    </a:solidFill>
                    <a:latin typeface="华文楷体" panose="02010600040101010101" pitchFamily="2" charset="-122"/>
                    <a:ea typeface="华文楷体" panose="02010600040101010101" pitchFamily="2" charset="-122"/>
                  </a:rPr>
                  <a:t>,</a:t>
                </a:r>
                <a:r>
                  <a:rPr lang="zh-CN" altLang="en-US" sz="2800" b="0" dirty="0">
                    <a:solidFill>
                      <a:schemeClr val="tx1"/>
                    </a:solidFill>
                    <a:latin typeface="华文楷体" panose="02010600040101010101" pitchFamily="2" charset="-122"/>
                    <a:ea typeface="华文楷体" panose="02010600040101010101" pitchFamily="2" charset="-122"/>
                  </a:rPr>
                  <a:t>氢原子内电子和质子之间的静电力和万有引力，引力常数为</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𝐺</m:t>
                    </m:r>
                    <m:r>
                      <a:rPr lang="en-US" altLang="zh-CN" sz="2800" b="0" i="1" dirty="0">
                        <a:solidFill>
                          <a:schemeClr val="tx1"/>
                        </a:solidFill>
                        <a:latin typeface="Cambria Math" panose="02040503050406030204" pitchFamily="18" charset="0"/>
                        <a:ea typeface="华文新魏" panose="02010800040101010101" pitchFamily="2" charset="-122"/>
                      </a:rPr>
                      <m:t> =6.67×</m:t>
                    </m:r>
                    <m:sSup>
                      <m:sSupPr>
                        <m:ctrlPr>
                          <a:rPr lang="en-US" altLang="zh-CN" sz="2800" b="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10</m:t>
                        </m:r>
                      </m:e>
                      <m:sup>
                        <m:r>
                          <a:rPr lang="en-US" altLang="zh-CN" sz="2800" b="0" i="1" dirty="0">
                            <a:solidFill>
                              <a:schemeClr val="tx1"/>
                            </a:solidFill>
                            <a:latin typeface="Cambria Math" panose="02040503050406030204" pitchFamily="18" charset="0"/>
                            <a:ea typeface="华文新魏" panose="02010800040101010101" pitchFamily="2" charset="-122"/>
                          </a:rPr>
                          <m:t>−11</m:t>
                        </m:r>
                      </m:sup>
                    </m:sSup>
                  </m:oMath>
                </a14:m>
                <a:r>
                  <a:rPr lang="en-US" altLang="zh-CN" sz="2800" b="0" dirty="0">
                    <a:solidFill>
                      <a:schemeClr val="tx1"/>
                    </a:solidFill>
                    <a:latin typeface="华文楷体" panose="02010600040101010101" pitchFamily="2" charset="-122"/>
                    <a:ea typeface="华文楷体" panose="02010600040101010101" pitchFamily="2" charset="-122"/>
                  </a:rPr>
                  <a:t>N﹒m</a:t>
                </a:r>
                <a:r>
                  <a:rPr lang="en-US" altLang="zh-CN" sz="2800" b="0" baseline="30000" dirty="0">
                    <a:solidFill>
                      <a:schemeClr val="tx1"/>
                    </a:solidFill>
                    <a:latin typeface="华文楷体" panose="02010600040101010101" pitchFamily="2" charset="-122"/>
                    <a:ea typeface="华文楷体" panose="02010600040101010101" pitchFamily="2" charset="-122"/>
                  </a:rPr>
                  <a:t>2</a:t>
                </a:r>
                <a:r>
                  <a:rPr lang="en-US" altLang="zh-CN" sz="2800" b="0" dirty="0">
                    <a:solidFill>
                      <a:schemeClr val="tx1"/>
                    </a:solidFill>
                    <a:latin typeface="华文楷体" panose="02010600040101010101" pitchFamily="2" charset="-122"/>
                    <a:ea typeface="华文楷体" panose="02010600040101010101" pitchFamily="2" charset="-122"/>
                  </a:rPr>
                  <a:t>/kg</a:t>
                </a:r>
                <a:r>
                  <a:rPr lang="en-US" altLang="zh-CN" sz="2800" b="0" baseline="30000" dirty="0">
                    <a:solidFill>
                      <a:schemeClr val="tx1"/>
                    </a:solidFill>
                    <a:latin typeface="华文楷体" panose="02010600040101010101" pitchFamily="2" charset="-122"/>
                    <a:ea typeface="华文楷体" panose="02010600040101010101" pitchFamily="2" charset="-122"/>
                  </a:rPr>
                  <a:t>2</a:t>
                </a:r>
                <a:r>
                  <a:rPr lang="zh-CN" altLang="en-US" sz="2800" b="0" dirty="0">
                    <a:solidFill>
                      <a:schemeClr val="tx1"/>
                    </a:solidFill>
                    <a:latin typeface="华文楷体" panose="02010600040101010101" pitchFamily="2" charset="-122"/>
                    <a:ea typeface="华文楷体" panose="02010600040101010101" pitchFamily="2" charset="-122"/>
                  </a:rPr>
                  <a:t>。</a:t>
                </a:r>
              </a:p>
            </p:txBody>
          </p:sp>
        </mc:Choice>
        <mc:Fallback xmlns="">
          <p:sp>
            <p:nvSpPr>
              <p:cNvPr id="48" name="Rectangle 2">
                <a:extLst>
                  <a:ext uri="{FF2B5EF4-FFF2-40B4-BE49-F238E27FC236}">
                    <a16:creationId xmlns:a16="http://schemas.microsoft.com/office/drawing/2014/main" id="{17380173-F591-439D-B9BE-C2394E091440}"/>
                  </a:ext>
                </a:extLst>
              </p:cNvPr>
              <p:cNvSpPr>
                <a:spLocks noRot="1" noChangeAspect="1" noMove="1" noResize="1" noEditPoints="1" noAdjustHandles="1" noChangeArrowheads="1" noChangeShapeType="1" noTextEdit="1"/>
              </p:cNvSpPr>
              <p:nvPr/>
            </p:nvSpPr>
            <p:spPr bwMode="auto">
              <a:xfrm>
                <a:off x="372251" y="74138"/>
                <a:ext cx="11353119" cy="1406411"/>
              </a:xfrm>
              <a:prstGeom prst="rect">
                <a:avLst/>
              </a:prstGeom>
              <a:blipFill>
                <a:blip r:embed="rId2"/>
                <a:stretch>
                  <a:fillRect l="-1074" t="-2597" r="-1128" b="-1125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9" name="Rectangle 3">
            <a:extLst>
              <a:ext uri="{FF2B5EF4-FFF2-40B4-BE49-F238E27FC236}">
                <a16:creationId xmlns:a16="http://schemas.microsoft.com/office/drawing/2014/main" id="{CBD881BF-3AFA-4907-AC71-398066D5E728}"/>
              </a:ext>
            </a:extLst>
          </p:cNvPr>
          <p:cNvSpPr>
            <a:spLocks noChangeArrowheads="1"/>
          </p:cNvSpPr>
          <p:nvPr/>
        </p:nvSpPr>
        <p:spPr bwMode="auto">
          <a:xfrm>
            <a:off x="212310" y="1899186"/>
            <a:ext cx="628640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0" dirty="0">
                <a:latin typeface="华文楷体" panose="02010600040101010101" pitchFamily="2" charset="-122"/>
                <a:ea typeface="华文楷体" panose="02010600040101010101" pitchFamily="2" charset="-122"/>
              </a:rPr>
              <a:t>原子核中的核子的基本信息如下：</a:t>
            </a:r>
          </a:p>
        </p:txBody>
      </p:sp>
      <p:graphicFrame>
        <p:nvGraphicFramePr>
          <p:cNvPr id="50" name="Group 4">
            <a:extLst>
              <a:ext uri="{FF2B5EF4-FFF2-40B4-BE49-F238E27FC236}">
                <a16:creationId xmlns:a16="http://schemas.microsoft.com/office/drawing/2014/main" id="{7D204F33-2CCE-443D-8AD5-65B5A2764D19}"/>
              </a:ext>
            </a:extLst>
          </p:cNvPr>
          <p:cNvGraphicFramePr>
            <a:graphicFrameLocks noGrp="1"/>
          </p:cNvGraphicFramePr>
          <p:nvPr>
            <p:extLst>
              <p:ext uri="{D42A27DB-BD31-4B8C-83A1-F6EECF244321}">
                <p14:modId xmlns:p14="http://schemas.microsoft.com/office/powerpoint/2010/main" val="3375179820"/>
              </p:ext>
            </p:extLst>
          </p:nvPr>
        </p:nvGraphicFramePr>
        <p:xfrm>
          <a:off x="5619331" y="1514123"/>
          <a:ext cx="6283409" cy="1554957"/>
        </p:xfrm>
        <a:graphic>
          <a:graphicData uri="http://schemas.openxmlformats.org/drawingml/2006/table">
            <a:tbl>
              <a:tblPr/>
              <a:tblGrid>
                <a:gridCol w="2094867">
                  <a:extLst>
                    <a:ext uri="{9D8B030D-6E8A-4147-A177-3AD203B41FA5}">
                      <a16:colId xmlns:a16="http://schemas.microsoft.com/office/drawing/2014/main" val="20000"/>
                    </a:ext>
                  </a:extLst>
                </a:gridCol>
                <a:gridCol w="2093675">
                  <a:extLst>
                    <a:ext uri="{9D8B030D-6E8A-4147-A177-3AD203B41FA5}">
                      <a16:colId xmlns:a16="http://schemas.microsoft.com/office/drawing/2014/main" val="20001"/>
                    </a:ext>
                  </a:extLst>
                </a:gridCol>
                <a:gridCol w="2094867">
                  <a:extLst>
                    <a:ext uri="{9D8B030D-6E8A-4147-A177-3AD203B41FA5}">
                      <a16:colId xmlns:a16="http://schemas.microsoft.com/office/drawing/2014/main" val="20002"/>
                    </a:ext>
                  </a:extLst>
                </a:gridCol>
              </a:tblGrid>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电荷量</a:t>
                      </a: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质量</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/kg</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电子（</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e</a:t>
                      </a: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 60×10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-19</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9.11×10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-31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质子（</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 60×10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-19</a:t>
                      </a:r>
                      <a:endParaRPr kumimoji="0" lang="zh-CN" altLang="en-US"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1.67×10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-27</a:t>
                      </a:r>
                      <a:endParaRPr kumimoji="0" lang="zh-CN" altLang="en-US"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676340E3-A98A-4C04-B19A-87DFA3972DA8}"/>
                  </a:ext>
                </a:extLst>
              </p:cNvPr>
              <p:cNvSpPr>
                <a:spLocks noChangeArrowheads="1"/>
              </p:cNvSpPr>
              <p:nvPr/>
            </p:nvSpPr>
            <p:spPr bwMode="auto">
              <a:xfrm>
                <a:off x="558961" y="3106975"/>
                <a:ext cx="7785865" cy="137287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600" b="0" dirty="0">
                    <a:ea typeface="华文楷体" panose="02010600040101010101" pitchFamily="2" charset="-122"/>
                    <a:cs typeface="Times New Roman" panose="02020603050405020304" pitchFamily="18" charset="0"/>
                  </a:rPr>
                  <a:t>按库仑定律，电子和质子之间的静电力：</a:t>
                </a:r>
                <a:endParaRPr lang="en-US" altLang="zh-CN" sz="2600" b="0" dirty="0">
                  <a:ea typeface="华文楷体" panose="02010600040101010101" pitchFamily="2" charset="-122"/>
                  <a:cs typeface="Times New Roman" panose="02020603050405020304" pitchFamily="18" charset="0"/>
                </a:endParaRPr>
              </a:p>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zh-CN" sz="2600" b="0" i="1">
                              <a:latin typeface="Cambria Math" panose="02040503050406030204" pitchFamily="18" charset="0"/>
                              <a:ea typeface="华文新魏" panose="02010800040101010101" pitchFamily="2" charset="-122"/>
                            </a:rPr>
                          </m:ctrlPr>
                        </m:sSubPr>
                        <m:e>
                          <m:r>
                            <a:rPr lang="en-US" altLang="zh-CN" sz="2600" b="0" i="1">
                              <a:latin typeface="Cambria Math" panose="02040503050406030204" pitchFamily="18" charset="0"/>
                              <a:ea typeface="华文新魏" panose="02010800040101010101" pitchFamily="2" charset="-122"/>
                            </a:rPr>
                            <m:t>𝐹</m:t>
                          </m:r>
                        </m:e>
                        <m:sub>
                          <m:r>
                            <a:rPr lang="en-US" altLang="zh-CN" sz="2600" b="0" i="1">
                              <a:latin typeface="Cambria Math" panose="02040503050406030204" pitchFamily="18" charset="0"/>
                              <a:ea typeface="华文新魏" panose="02010800040101010101" pitchFamily="2" charset="-122"/>
                            </a:rPr>
                            <m:t>𝑒</m:t>
                          </m:r>
                        </m:sub>
                      </m:sSub>
                      <m:r>
                        <a:rPr lang="en-US" altLang="zh-CN" sz="2600" b="0" i="1">
                          <a:latin typeface="Cambria Math" panose="02040503050406030204" pitchFamily="18" charset="0"/>
                          <a:ea typeface="华文新魏" panose="02010800040101010101" pitchFamily="2" charset="-122"/>
                        </a:rPr>
                        <m:t>=</m:t>
                      </m:r>
                      <m:f>
                        <m:fPr>
                          <m:ctrlPr>
                            <a:rPr lang="en-US" altLang="zh-CN" sz="2600" b="0" i="1">
                              <a:latin typeface="Cambria Math" panose="02040503050406030204" pitchFamily="18" charset="0"/>
                              <a:ea typeface="黑体" panose="02010609060101010101" pitchFamily="49" charset="-122"/>
                            </a:rPr>
                          </m:ctrlPr>
                        </m:fPr>
                        <m:num>
                          <m:r>
                            <a:rPr lang="en-US" altLang="zh-CN" sz="2600" b="0" i="1">
                              <a:latin typeface="Cambria Math" panose="02040503050406030204" pitchFamily="18" charset="0"/>
                              <a:ea typeface="黑体" panose="02010609060101010101" pitchFamily="49" charset="-122"/>
                            </a:rPr>
                            <m:t>1</m:t>
                          </m:r>
                        </m:num>
                        <m:den>
                          <m:r>
                            <a:rPr lang="en-US" altLang="zh-CN" sz="2600" b="0" i="1">
                              <a:latin typeface="Cambria Math" panose="02040503050406030204" pitchFamily="18" charset="0"/>
                              <a:ea typeface="黑体" panose="02010609060101010101" pitchFamily="49" charset="-122"/>
                            </a:rPr>
                            <m:t>4</m:t>
                          </m:r>
                          <m:r>
                            <a:rPr lang="zh-CN" altLang="en-US" sz="2600" b="0" i="1">
                              <a:latin typeface="Cambria Math" panose="02040503050406030204" pitchFamily="18" charset="0"/>
                              <a:ea typeface="黑体" panose="02010609060101010101" pitchFamily="49" charset="-122"/>
                            </a:rPr>
                            <m:t>𝜋</m:t>
                          </m:r>
                          <m:sSub>
                            <m:sSubPr>
                              <m:ctrlPr>
                                <a:rPr lang="en-US" altLang="zh-CN" sz="2600" b="0" i="1">
                                  <a:latin typeface="Cambria Math" panose="02040503050406030204" pitchFamily="18" charset="0"/>
                                  <a:ea typeface="黑体" panose="02010609060101010101" pitchFamily="49" charset="-122"/>
                                </a:rPr>
                              </m:ctrlPr>
                            </m:sSubPr>
                            <m:e>
                              <m:r>
                                <a:rPr lang="zh-CN" altLang="en-US" sz="2600" b="0" i="1">
                                  <a:latin typeface="Cambria Math" panose="02040503050406030204" pitchFamily="18" charset="0"/>
                                  <a:ea typeface="黑体" panose="02010609060101010101" pitchFamily="49" charset="-122"/>
                                </a:rPr>
                                <m:t>𝜀</m:t>
                              </m:r>
                            </m:e>
                            <m:sub>
                              <m:r>
                                <a:rPr lang="en-US" altLang="zh-CN" sz="2600" b="0" i="1">
                                  <a:latin typeface="Cambria Math" panose="02040503050406030204" pitchFamily="18" charset="0"/>
                                  <a:ea typeface="黑体" panose="02010609060101010101" pitchFamily="49" charset="-122"/>
                                </a:rPr>
                                <m:t>0</m:t>
                              </m:r>
                            </m:sub>
                          </m:sSub>
                        </m:den>
                      </m:f>
                      <m:f>
                        <m:fPr>
                          <m:ctrlPr>
                            <a:rPr lang="en-US" altLang="zh-CN" sz="2600" b="0" i="1">
                              <a:latin typeface="Cambria Math" panose="02040503050406030204" pitchFamily="18" charset="0"/>
                              <a:ea typeface="黑体" panose="02010609060101010101" pitchFamily="49" charset="-122"/>
                            </a:rPr>
                          </m:ctrlPr>
                        </m:fPr>
                        <m:num>
                          <m:sSup>
                            <m:sSupPr>
                              <m:ctrlPr>
                                <a:rPr lang="en-US" altLang="zh-CN" sz="2600" b="0" i="1">
                                  <a:latin typeface="Cambria Math" panose="02040503050406030204" pitchFamily="18" charset="0"/>
                                  <a:ea typeface="黑体" panose="02010609060101010101" pitchFamily="49" charset="-122"/>
                                </a:rPr>
                              </m:ctrlPr>
                            </m:sSupPr>
                            <m:e>
                              <m:r>
                                <a:rPr lang="en-US" altLang="zh-CN" sz="2600" b="0" i="1">
                                  <a:latin typeface="Cambria Math" panose="02040503050406030204" pitchFamily="18" charset="0"/>
                                  <a:ea typeface="黑体" panose="02010609060101010101" pitchFamily="49" charset="-122"/>
                                </a:rPr>
                                <m:t>𝑒</m:t>
                              </m:r>
                            </m:e>
                            <m:sup>
                              <m:r>
                                <a:rPr lang="en-US" altLang="zh-CN" sz="2600" b="0" i="1">
                                  <a:latin typeface="Cambria Math" panose="02040503050406030204" pitchFamily="18" charset="0"/>
                                  <a:ea typeface="黑体" panose="02010609060101010101" pitchFamily="49" charset="-122"/>
                                </a:rPr>
                                <m:t>2</m:t>
                              </m:r>
                            </m:sup>
                          </m:sSup>
                        </m:num>
                        <m:den>
                          <m:sSup>
                            <m:sSupPr>
                              <m:ctrlPr>
                                <a:rPr lang="en-US" altLang="zh-CN" sz="2600" b="0" i="1">
                                  <a:latin typeface="Cambria Math" panose="02040503050406030204" pitchFamily="18" charset="0"/>
                                  <a:ea typeface="黑体" panose="02010609060101010101" pitchFamily="49" charset="-122"/>
                                </a:rPr>
                              </m:ctrlPr>
                            </m:sSupPr>
                            <m:e>
                              <m:r>
                                <a:rPr lang="en-US" altLang="zh-CN" sz="2600" b="0" i="1">
                                  <a:latin typeface="Cambria Math" panose="02040503050406030204" pitchFamily="18" charset="0"/>
                                  <a:ea typeface="黑体" panose="02010609060101010101" pitchFamily="49" charset="-122"/>
                                </a:rPr>
                                <m:t>𝑟</m:t>
                              </m:r>
                            </m:e>
                            <m:sup>
                              <m:r>
                                <a:rPr lang="en-US" altLang="zh-CN" sz="2600" b="0" i="1">
                                  <a:latin typeface="Cambria Math" panose="02040503050406030204" pitchFamily="18" charset="0"/>
                                  <a:ea typeface="黑体" panose="02010609060101010101" pitchFamily="49" charset="-122"/>
                                </a:rPr>
                                <m:t>2</m:t>
                              </m:r>
                            </m:sup>
                          </m:sSup>
                        </m:den>
                      </m:f>
                      <m:r>
                        <a:rPr lang="en-US" altLang="zh-CN" sz="2600" b="0" i="1">
                          <a:latin typeface="Cambria Math" panose="02040503050406030204" pitchFamily="18" charset="0"/>
                          <a:ea typeface="黑体" panose="02010609060101010101" pitchFamily="49" charset="-122"/>
                        </a:rPr>
                        <m:t>=8.23</m:t>
                      </m:r>
                      <m:r>
                        <a:rPr lang="en-US" altLang="zh-CN" sz="2600" b="0" i="1">
                          <a:latin typeface="Cambria Math" panose="02040503050406030204" pitchFamily="18" charset="0"/>
                          <a:ea typeface="Cambria Math" panose="02040503050406030204" pitchFamily="18" charset="0"/>
                        </a:rPr>
                        <m:t>×</m:t>
                      </m:r>
                      <m:sSup>
                        <m:sSupPr>
                          <m:ctrlPr>
                            <a:rPr lang="en-US" altLang="zh-CN" sz="2600" b="0" i="1">
                              <a:latin typeface="Cambria Math" panose="02040503050406030204" pitchFamily="18" charset="0"/>
                              <a:ea typeface="Cambria Math" panose="02040503050406030204" pitchFamily="18" charset="0"/>
                            </a:rPr>
                          </m:ctrlPr>
                        </m:sSupPr>
                        <m:e>
                          <m:r>
                            <a:rPr lang="en-US" altLang="zh-CN" sz="2600" b="0" i="1">
                              <a:latin typeface="Cambria Math" panose="02040503050406030204" pitchFamily="18" charset="0"/>
                              <a:ea typeface="Cambria Math" panose="02040503050406030204" pitchFamily="18" charset="0"/>
                            </a:rPr>
                            <m:t>10</m:t>
                          </m:r>
                        </m:e>
                        <m:sup>
                          <m:r>
                            <a:rPr lang="en-US" altLang="zh-CN" sz="2600" b="0" i="1">
                              <a:latin typeface="Cambria Math" panose="02040503050406030204" pitchFamily="18" charset="0"/>
                              <a:ea typeface="Cambria Math" panose="02040503050406030204" pitchFamily="18" charset="0"/>
                            </a:rPr>
                            <m:t>−8</m:t>
                          </m:r>
                        </m:sup>
                      </m:sSup>
                      <m:r>
                        <m:rPr>
                          <m:sty m:val="p"/>
                        </m:rPr>
                        <a:rPr lang="en-US" altLang="zh-CN" sz="2600" b="0" i="1">
                          <a:latin typeface="Cambria Math" panose="02040503050406030204" pitchFamily="18" charset="0"/>
                          <a:ea typeface="Cambria Math" panose="02040503050406030204" pitchFamily="18" charset="0"/>
                        </a:rPr>
                        <m:t>N</m:t>
                      </m:r>
                    </m:oMath>
                  </m:oMathPara>
                </a14:m>
                <a:endParaRPr lang="zh-CN" altLang="en-US" sz="2600" b="0" dirty="0">
                  <a:ea typeface="华文楷体" panose="02010600040101010101" pitchFamily="2" charset="-122"/>
                  <a:cs typeface="Times New Roman" panose="02020603050405020304" pitchFamily="18" charset="0"/>
                </a:endParaRPr>
              </a:p>
            </p:txBody>
          </p:sp>
        </mc:Choice>
        <mc:Fallback xmlns="">
          <p:sp>
            <p:nvSpPr>
              <p:cNvPr id="6" name="Rectangle 3">
                <a:extLst>
                  <a:ext uri="{FF2B5EF4-FFF2-40B4-BE49-F238E27FC236}">
                    <a16:creationId xmlns:a16="http://schemas.microsoft.com/office/drawing/2014/main" id="{676340E3-A98A-4C04-B19A-87DFA3972DA8}"/>
                  </a:ext>
                </a:extLst>
              </p:cNvPr>
              <p:cNvSpPr>
                <a:spLocks noRot="1" noChangeAspect="1" noMove="1" noResize="1" noEditPoints="1" noAdjustHandles="1" noChangeArrowheads="1" noChangeShapeType="1" noTextEdit="1"/>
              </p:cNvSpPr>
              <p:nvPr/>
            </p:nvSpPr>
            <p:spPr bwMode="auto">
              <a:xfrm>
                <a:off x="558961" y="3106975"/>
                <a:ext cx="7785865" cy="1372876"/>
              </a:xfrm>
              <a:prstGeom prst="rect">
                <a:avLst/>
              </a:prstGeom>
              <a:blipFill>
                <a:blip r:embed="rId3"/>
                <a:stretch>
                  <a:fillRect l="-1410" t="-44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59FD30C-9C63-4D3E-A82A-D5FE89C6FEC9}"/>
                  </a:ext>
                </a:extLst>
              </p:cNvPr>
              <p:cNvSpPr>
                <a:spLocks noChangeArrowheads="1"/>
              </p:cNvSpPr>
              <p:nvPr/>
            </p:nvSpPr>
            <p:spPr bwMode="auto">
              <a:xfrm>
                <a:off x="558961" y="4517746"/>
                <a:ext cx="7785865" cy="15074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600" b="0" dirty="0">
                    <a:ea typeface="华文楷体" panose="02010600040101010101" pitchFamily="2" charset="-122"/>
                    <a:cs typeface="Times New Roman" panose="02020603050405020304" pitchFamily="18" charset="0"/>
                  </a:rPr>
                  <a:t>电子和质子之间的万有引力：</a:t>
                </a:r>
                <a:endParaRPr lang="en-US" altLang="zh-CN" sz="2600" b="0" dirty="0">
                  <a:ea typeface="华文楷体" panose="02010600040101010101" pitchFamily="2" charset="-122"/>
                  <a:cs typeface="Times New Roman" panose="02020603050405020304" pitchFamily="18" charset="0"/>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sz="2600" b="0" i="1">
                              <a:latin typeface="Cambria Math" panose="02040503050406030204" pitchFamily="18" charset="0"/>
                              <a:ea typeface="华文新魏" panose="02010800040101010101" pitchFamily="2" charset="-122"/>
                            </a:rPr>
                          </m:ctrlPr>
                        </m:sSubPr>
                        <m:e>
                          <m:r>
                            <a:rPr lang="en-US" altLang="zh-CN" sz="2600" b="0" i="1">
                              <a:latin typeface="Cambria Math" panose="02040503050406030204" pitchFamily="18" charset="0"/>
                              <a:ea typeface="华文新魏" panose="02010800040101010101" pitchFamily="2" charset="-122"/>
                            </a:rPr>
                            <m:t>𝐹</m:t>
                          </m:r>
                        </m:e>
                        <m:sub>
                          <m:r>
                            <a:rPr lang="en-US" altLang="zh-CN" sz="2600" b="0" i="1">
                              <a:latin typeface="Cambria Math" panose="02040503050406030204" pitchFamily="18" charset="0"/>
                              <a:ea typeface="华文新魏" panose="02010800040101010101" pitchFamily="2" charset="-122"/>
                            </a:rPr>
                            <m:t>𝑔</m:t>
                          </m:r>
                        </m:sub>
                      </m:sSub>
                      <m:r>
                        <a:rPr lang="en-US" altLang="zh-CN" sz="2600" b="0" i="1">
                          <a:latin typeface="Cambria Math" panose="02040503050406030204" pitchFamily="18" charset="0"/>
                          <a:ea typeface="华文新魏" panose="02010800040101010101" pitchFamily="2" charset="-122"/>
                        </a:rPr>
                        <m:t>=</m:t>
                      </m:r>
                      <m:r>
                        <a:rPr lang="en-US" altLang="zh-CN" sz="2600" b="0" i="1">
                          <a:latin typeface="Cambria Math" panose="02040503050406030204" pitchFamily="18" charset="0"/>
                          <a:ea typeface="华文新魏" panose="02010800040101010101" pitchFamily="2" charset="-122"/>
                        </a:rPr>
                        <m:t>𝐺</m:t>
                      </m:r>
                      <m:f>
                        <m:fPr>
                          <m:ctrlPr>
                            <a:rPr lang="en-US" altLang="zh-CN" sz="2600" b="0" i="1">
                              <a:latin typeface="Cambria Math" panose="02040503050406030204" pitchFamily="18" charset="0"/>
                              <a:ea typeface="华文新魏" panose="02010800040101010101" pitchFamily="2" charset="-122"/>
                            </a:rPr>
                          </m:ctrlPr>
                        </m:fPr>
                        <m:num>
                          <m:sSub>
                            <m:sSubPr>
                              <m:ctrlPr>
                                <a:rPr lang="en-US" altLang="zh-CN" sz="2600" b="0" i="1">
                                  <a:latin typeface="Cambria Math" panose="02040503050406030204" pitchFamily="18" charset="0"/>
                                  <a:ea typeface="华文新魏" panose="02010800040101010101" pitchFamily="2" charset="-122"/>
                                </a:rPr>
                              </m:ctrlPr>
                            </m:sSubPr>
                            <m:e>
                              <m:r>
                                <a:rPr lang="en-US" altLang="zh-CN" sz="2600" b="0" i="1">
                                  <a:latin typeface="Cambria Math" panose="02040503050406030204" pitchFamily="18" charset="0"/>
                                  <a:ea typeface="华文新魏" panose="02010800040101010101" pitchFamily="2" charset="-122"/>
                                </a:rPr>
                                <m:t>𝑚</m:t>
                              </m:r>
                            </m:e>
                            <m:sub>
                              <m:r>
                                <a:rPr lang="en-US" altLang="zh-CN" sz="2600" b="0" i="1">
                                  <a:latin typeface="Cambria Math" panose="02040503050406030204" pitchFamily="18" charset="0"/>
                                  <a:ea typeface="华文新魏" panose="02010800040101010101" pitchFamily="2" charset="-122"/>
                                </a:rPr>
                                <m:t>1</m:t>
                              </m:r>
                            </m:sub>
                          </m:sSub>
                          <m:sSub>
                            <m:sSubPr>
                              <m:ctrlPr>
                                <a:rPr lang="en-US" altLang="zh-CN" sz="2600" b="0" i="1">
                                  <a:latin typeface="Cambria Math" panose="02040503050406030204" pitchFamily="18" charset="0"/>
                                  <a:ea typeface="华文新魏" panose="02010800040101010101" pitchFamily="2" charset="-122"/>
                                </a:rPr>
                              </m:ctrlPr>
                            </m:sSubPr>
                            <m:e>
                              <m:r>
                                <a:rPr lang="en-US" altLang="zh-CN" sz="2600" b="0" i="1">
                                  <a:latin typeface="Cambria Math" panose="02040503050406030204" pitchFamily="18" charset="0"/>
                                  <a:ea typeface="华文新魏" panose="02010800040101010101" pitchFamily="2" charset="-122"/>
                                </a:rPr>
                                <m:t>𝑚</m:t>
                              </m:r>
                            </m:e>
                            <m:sub>
                              <m:r>
                                <a:rPr lang="en-US" altLang="zh-CN" sz="2600" b="0" i="1">
                                  <a:latin typeface="Cambria Math" panose="02040503050406030204" pitchFamily="18" charset="0"/>
                                  <a:ea typeface="华文新魏" panose="02010800040101010101" pitchFamily="2" charset="-122"/>
                                </a:rPr>
                                <m:t>2</m:t>
                              </m:r>
                            </m:sub>
                          </m:sSub>
                        </m:num>
                        <m:den>
                          <m:sSup>
                            <m:sSupPr>
                              <m:ctrlPr>
                                <a:rPr lang="en-US" altLang="zh-CN" sz="2600" b="0" i="1">
                                  <a:latin typeface="Cambria Math" panose="02040503050406030204" pitchFamily="18" charset="0"/>
                                  <a:ea typeface="华文新魏" panose="02010800040101010101" pitchFamily="2" charset="-122"/>
                                </a:rPr>
                              </m:ctrlPr>
                            </m:sSupPr>
                            <m:e>
                              <m:r>
                                <a:rPr lang="en-US" altLang="zh-CN" sz="2600" b="0" i="1">
                                  <a:latin typeface="Cambria Math" panose="02040503050406030204" pitchFamily="18" charset="0"/>
                                  <a:ea typeface="华文新魏" panose="02010800040101010101" pitchFamily="2" charset="-122"/>
                                </a:rPr>
                                <m:t>𝑟</m:t>
                              </m:r>
                            </m:e>
                            <m:sup>
                              <m:r>
                                <a:rPr lang="en-US" altLang="zh-CN" sz="2600" b="0" i="1">
                                  <a:latin typeface="Cambria Math" panose="02040503050406030204" pitchFamily="18" charset="0"/>
                                  <a:ea typeface="华文新魏" panose="02010800040101010101" pitchFamily="2" charset="-122"/>
                                </a:rPr>
                                <m:t>2</m:t>
                              </m:r>
                            </m:sup>
                          </m:sSup>
                        </m:den>
                      </m:f>
                      <m:r>
                        <a:rPr lang="en-US" altLang="zh-CN" sz="2600" b="0" i="1">
                          <a:latin typeface="Cambria Math" panose="02040503050406030204" pitchFamily="18" charset="0"/>
                          <a:ea typeface="华文新魏" panose="02010800040101010101" pitchFamily="2" charset="-122"/>
                        </a:rPr>
                        <m:t>=3.63</m:t>
                      </m:r>
                      <m:r>
                        <a:rPr lang="en-US" altLang="zh-CN" sz="2600" b="0" i="1">
                          <a:latin typeface="Cambria Math" panose="02040503050406030204" pitchFamily="18" charset="0"/>
                          <a:ea typeface="Cambria Math" panose="02040503050406030204" pitchFamily="18" charset="0"/>
                        </a:rPr>
                        <m:t>×</m:t>
                      </m:r>
                      <m:sSup>
                        <m:sSupPr>
                          <m:ctrlPr>
                            <a:rPr lang="en-US" altLang="zh-CN" sz="2600" b="0" i="1">
                              <a:latin typeface="Cambria Math" panose="02040503050406030204" pitchFamily="18" charset="0"/>
                              <a:ea typeface="Cambria Math" panose="02040503050406030204" pitchFamily="18" charset="0"/>
                            </a:rPr>
                          </m:ctrlPr>
                        </m:sSupPr>
                        <m:e>
                          <m:r>
                            <a:rPr lang="en-US" altLang="zh-CN" sz="2600" b="0" i="1">
                              <a:latin typeface="Cambria Math" panose="02040503050406030204" pitchFamily="18" charset="0"/>
                              <a:ea typeface="Cambria Math" panose="02040503050406030204" pitchFamily="18" charset="0"/>
                            </a:rPr>
                            <m:t>10</m:t>
                          </m:r>
                        </m:e>
                        <m:sup>
                          <m:r>
                            <a:rPr lang="en-US" altLang="zh-CN" sz="2600" b="0" i="1">
                              <a:latin typeface="Cambria Math" panose="02040503050406030204" pitchFamily="18" charset="0"/>
                              <a:ea typeface="Cambria Math" panose="02040503050406030204" pitchFamily="18" charset="0"/>
                            </a:rPr>
                            <m:t>−47</m:t>
                          </m:r>
                        </m:sup>
                      </m:sSup>
                      <m:r>
                        <m:rPr>
                          <m:sty m:val="p"/>
                        </m:rPr>
                        <a:rPr lang="en-US" altLang="zh-CN" sz="2600" b="0" i="1">
                          <a:latin typeface="Cambria Math" panose="02040503050406030204" pitchFamily="18" charset="0"/>
                          <a:ea typeface="Cambria Math" panose="02040503050406030204" pitchFamily="18" charset="0"/>
                        </a:rPr>
                        <m:t>N</m:t>
                      </m:r>
                    </m:oMath>
                  </m:oMathPara>
                </a14:m>
                <a:endParaRPr lang="zh-CN" altLang="en-US" sz="2600" b="0" dirty="0">
                  <a:ea typeface="华文楷体" panose="02010600040101010101" pitchFamily="2" charset="-122"/>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859FD30C-9C63-4D3E-A82A-D5FE89C6FEC9}"/>
                  </a:ext>
                </a:extLst>
              </p:cNvPr>
              <p:cNvSpPr>
                <a:spLocks noRot="1" noChangeAspect="1" noMove="1" noResize="1" noEditPoints="1" noAdjustHandles="1" noChangeArrowheads="1" noChangeShapeType="1" noTextEdit="1"/>
              </p:cNvSpPr>
              <p:nvPr/>
            </p:nvSpPr>
            <p:spPr bwMode="auto">
              <a:xfrm>
                <a:off x="558961" y="4517746"/>
                <a:ext cx="7785865" cy="1507400"/>
              </a:xfrm>
              <a:prstGeom prst="rect">
                <a:avLst/>
              </a:prstGeom>
              <a:blipFill>
                <a:blip r:embed="rId4"/>
                <a:stretch>
                  <a:fillRect l="-14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9" name="Rectangle 2">
            <a:extLst>
              <a:ext uri="{FF2B5EF4-FFF2-40B4-BE49-F238E27FC236}">
                <a16:creationId xmlns:a16="http://schemas.microsoft.com/office/drawing/2014/main" id="{A2EBE04D-6861-4164-B28C-3B6AEA94DBF8}"/>
              </a:ext>
            </a:extLst>
          </p:cNvPr>
          <p:cNvSpPr>
            <a:spLocks noChangeArrowheads="1"/>
          </p:cNvSpPr>
          <p:nvPr/>
        </p:nvSpPr>
        <p:spPr bwMode="auto">
          <a:xfrm>
            <a:off x="7315361" y="4787236"/>
            <a:ext cx="4749639" cy="12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600" b="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 </a:t>
            </a:r>
            <a:r>
              <a:rPr lang="zh-CN" altLang="en-US"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在处理电子和质子之间的相互作用时</a:t>
            </a:r>
            <a:r>
              <a:rPr lang="en-US" altLang="zh-CN"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a:t>
            </a:r>
            <a:r>
              <a:rPr lang="zh-CN" altLang="en-US"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只需考虑静电力。</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0E19480-C464-43BA-8461-D3DCEC172477}"/>
                  </a:ext>
                </a:extLst>
              </p:cNvPr>
              <p:cNvSpPr/>
              <p:nvPr/>
            </p:nvSpPr>
            <p:spPr>
              <a:xfrm>
                <a:off x="7518193" y="3788921"/>
                <a:ext cx="4207177" cy="6538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zh-CN" altLang="en-US" sz="3200" i="1" smtClean="0">
                              <a:solidFill>
                                <a:srgbClr val="0066FF"/>
                              </a:solidFill>
                              <a:latin typeface="Cambria Math" panose="02040503050406030204" pitchFamily="18" charset="0"/>
                            </a:rPr>
                          </m:ctrlPr>
                        </m:fPr>
                        <m:num>
                          <m:sSub>
                            <m:sSubPr>
                              <m:ctrlPr>
                                <a:rPr lang="en-US" altLang="zh-CN" sz="3200" i="1">
                                  <a:solidFill>
                                    <a:srgbClr val="0066FF"/>
                                  </a:solidFill>
                                  <a:latin typeface="Cambria Math" panose="02040503050406030204" pitchFamily="18" charset="0"/>
                                </a:rPr>
                              </m:ctrlPr>
                            </m:sSubPr>
                            <m:e>
                              <m:r>
                                <a:rPr lang="en-US" altLang="zh-CN" sz="3200" b="1" i="1">
                                  <a:solidFill>
                                    <a:srgbClr val="0066FF"/>
                                  </a:solidFill>
                                  <a:latin typeface="Cambria Math" panose="02040503050406030204" pitchFamily="18" charset="0"/>
                                </a:rPr>
                                <m:t>𝑭</m:t>
                              </m:r>
                            </m:e>
                            <m:sub>
                              <m:r>
                                <a:rPr lang="en-US" altLang="zh-CN" sz="3200" b="1" i="1">
                                  <a:solidFill>
                                    <a:srgbClr val="0066FF"/>
                                  </a:solidFill>
                                  <a:latin typeface="Cambria Math" panose="02040503050406030204" pitchFamily="18" charset="0"/>
                                </a:rPr>
                                <m:t>𝒆</m:t>
                              </m:r>
                            </m:sub>
                          </m:sSub>
                        </m:num>
                        <m:den>
                          <m:sSub>
                            <m:sSubPr>
                              <m:ctrlPr>
                                <a:rPr lang="en-US" altLang="zh-CN" sz="3200" i="1">
                                  <a:solidFill>
                                    <a:srgbClr val="0066FF"/>
                                  </a:solidFill>
                                  <a:latin typeface="Cambria Math" panose="02040503050406030204" pitchFamily="18" charset="0"/>
                                </a:rPr>
                              </m:ctrlPr>
                            </m:sSubPr>
                            <m:e>
                              <m:r>
                                <a:rPr lang="en-US" altLang="zh-CN" sz="3200" b="1" i="1">
                                  <a:solidFill>
                                    <a:srgbClr val="0066FF"/>
                                  </a:solidFill>
                                  <a:latin typeface="Cambria Math" panose="02040503050406030204" pitchFamily="18" charset="0"/>
                                </a:rPr>
                                <m:t>𝑭</m:t>
                              </m:r>
                            </m:e>
                            <m:sub>
                              <m:r>
                                <a:rPr lang="en-US" altLang="zh-CN" sz="3200" b="1" i="1">
                                  <a:solidFill>
                                    <a:srgbClr val="0066FF"/>
                                  </a:solidFill>
                                  <a:latin typeface="Cambria Math" panose="02040503050406030204" pitchFamily="18" charset="0"/>
                                </a:rPr>
                                <m:t>𝒈</m:t>
                              </m:r>
                            </m:sub>
                          </m:sSub>
                        </m:den>
                      </m:f>
                      <m:r>
                        <a:rPr lang="en-US" altLang="zh-CN" sz="3200" b="1" i="1">
                          <a:solidFill>
                            <a:srgbClr val="0066FF"/>
                          </a:solidFill>
                          <a:latin typeface="Cambria Math" panose="02040503050406030204" pitchFamily="18" charset="0"/>
                        </a:rPr>
                        <m:t>=</m:t>
                      </m:r>
                      <m:r>
                        <a:rPr lang="en-US" altLang="zh-CN" sz="3200" b="1" i="1">
                          <a:solidFill>
                            <a:srgbClr val="0066FF"/>
                          </a:solidFill>
                          <a:latin typeface="Cambria Math" panose="02040503050406030204" pitchFamily="18" charset="0"/>
                          <a:ea typeface="华文新魏" panose="02010800040101010101" pitchFamily="2" charset="-122"/>
                        </a:rPr>
                        <m:t>𝟐</m:t>
                      </m:r>
                      <m:r>
                        <a:rPr lang="en-US" altLang="zh-CN" sz="3200" b="1" i="1">
                          <a:solidFill>
                            <a:srgbClr val="0066FF"/>
                          </a:solidFill>
                          <a:latin typeface="Cambria Math" panose="02040503050406030204" pitchFamily="18" charset="0"/>
                          <a:ea typeface="华文新魏" panose="02010800040101010101" pitchFamily="2" charset="-122"/>
                        </a:rPr>
                        <m:t>.</m:t>
                      </m:r>
                      <m:r>
                        <a:rPr lang="en-US" altLang="zh-CN" sz="3200" b="1" i="1">
                          <a:solidFill>
                            <a:srgbClr val="0066FF"/>
                          </a:solidFill>
                          <a:latin typeface="Cambria Math" panose="02040503050406030204" pitchFamily="18" charset="0"/>
                          <a:ea typeface="华文新魏" panose="02010800040101010101" pitchFamily="2" charset="-122"/>
                        </a:rPr>
                        <m:t>𝟐𝟔</m:t>
                      </m:r>
                      <m:r>
                        <a:rPr lang="en-US" altLang="zh-CN" sz="3200" i="1">
                          <a:solidFill>
                            <a:srgbClr val="0066FF"/>
                          </a:solidFill>
                          <a:latin typeface="Cambria Math" panose="02040503050406030204" pitchFamily="18" charset="0"/>
                          <a:ea typeface="Cambria Math" panose="02040503050406030204" pitchFamily="18" charset="0"/>
                        </a:rPr>
                        <m:t>×</m:t>
                      </m:r>
                      <m:sSup>
                        <m:sSupPr>
                          <m:ctrlPr>
                            <a:rPr lang="en-US" altLang="zh-CN" sz="3200" i="1">
                              <a:solidFill>
                                <a:srgbClr val="0066FF"/>
                              </a:solidFill>
                              <a:latin typeface="Cambria Math" panose="02040503050406030204" pitchFamily="18" charset="0"/>
                              <a:ea typeface="Cambria Math" panose="02040503050406030204" pitchFamily="18" charset="0"/>
                            </a:rPr>
                          </m:ctrlPr>
                        </m:sSupPr>
                        <m:e>
                          <m:r>
                            <a:rPr lang="en-US" altLang="zh-CN" sz="3200" i="1">
                              <a:solidFill>
                                <a:srgbClr val="0066FF"/>
                              </a:solidFill>
                              <a:latin typeface="Cambria Math" panose="02040503050406030204" pitchFamily="18" charset="0"/>
                              <a:ea typeface="Cambria Math" panose="02040503050406030204" pitchFamily="18" charset="0"/>
                            </a:rPr>
                            <m:t>𝟏𝟎</m:t>
                          </m:r>
                        </m:e>
                        <m:sup>
                          <m:r>
                            <a:rPr lang="en-US" altLang="zh-CN" sz="3200" b="1" i="1">
                              <a:solidFill>
                                <a:srgbClr val="0066FF"/>
                              </a:solidFill>
                              <a:latin typeface="Cambria Math" panose="02040503050406030204" pitchFamily="18" charset="0"/>
                              <a:ea typeface="Cambria Math" panose="02040503050406030204" pitchFamily="18" charset="0"/>
                            </a:rPr>
                            <m:t>𝟑𝟗</m:t>
                          </m:r>
                        </m:sup>
                      </m:sSup>
                    </m:oMath>
                  </m:oMathPara>
                </a14:m>
                <a:endParaRPr lang="zh-CN" altLang="en-US" sz="32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A0E19480-C464-43BA-8461-D3DCEC172477}"/>
                  </a:ext>
                </a:extLst>
              </p:cNvPr>
              <p:cNvSpPr>
                <a:spLocks noRot="1" noChangeAspect="1" noMove="1" noResize="1" noEditPoints="1" noAdjustHandles="1" noChangeArrowheads="1" noChangeShapeType="1" noTextEdit="1"/>
              </p:cNvSpPr>
              <p:nvPr/>
            </p:nvSpPr>
            <p:spPr>
              <a:xfrm>
                <a:off x="7518193" y="3788921"/>
                <a:ext cx="4207177" cy="65383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007938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48" name="Rectangle 2">
                <a:extLst>
                  <a:ext uri="{FF2B5EF4-FFF2-40B4-BE49-F238E27FC236}">
                    <a16:creationId xmlns:a16="http://schemas.microsoft.com/office/drawing/2014/main" id="{17380173-F591-439D-B9BE-C2394E091440}"/>
                  </a:ext>
                </a:extLst>
              </p:cNvPr>
              <p:cNvSpPr>
                <a:spLocks noChangeArrowheads="1"/>
              </p:cNvSpPr>
              <p:nvPr/>
            </p:nvSpPr>
            <p:spPr bwMode="auto">
              <a:xfrm>
                <a:off x="372251" y="74138"/>
                <a:ext cx="11353119" cy="140641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just"/>
                <a:r>
                  <a:rPr lang="en-US" altLang="zh-CN" sz="2800" b="0" dirty="0">
                    <a:solidFill>
                      <a:schemeClr val="tx1"/>
                    </a:solidFill>
                    <a:latin typeface="华文楷体" panose="02010600040101010101" pitchFamily="2" charset="-122"/>
                    <a:ea typeface="华文楷体" panose="02010600040101010101" pitchFamily="2" charset="-122"/>
                  </a:rPr>
                  <a:t>[</a:t>
                </a:r>
                <a:r>
                  <a:rPr lang="zh-CN" altLang="en-US" sz="2800" b="0" dirty="0">
                    <a:solidFill>
                      <a:schemeClr val="tx1"/>
                    </a:solidFill>
                    <a:latin typeface="华文楷体" panose="02010600040101010101" pitchFamily="2" charset="-122"/>
                    <a:ea typeface="华文楷体" panose="02010600040101010101" pitchFamily="2" charset="-122"/>
                  </a:rPr>
                  <a:t>例</a:t>
                </a:r>
                <a:r>
                  <a:rPr lang="en-US" altLang="zh-CN" sz="2800" b="0" dirty="0">
                    <a:solidFill>
                      <a:schemeClr val="tx1"/>
                    </a:solidFill>
                    <a:latin typeface="华文楷体" panose="02010600040101010101" pitchFamily="2" charset="-122"/>
                    <a:ea typeface="华文楷体" panose="02010600040101010101" pitchFamily="2" charset="-122"/>
                  </a:rPr>
                  <a:t>12.1] </a:t>
                </a:r>
                <a:r>
                  <a:rPr lang="zh-CN" altLang="en-US" sz="2800" b="0" dirty="0">
                    <a:solidFill>
                      <a:schemeClr val="tx1"/>
                    </a:solidFill>
                    <a:latin typeface="华文楷体" panose="02010600040101010101" pitchFamily="2" charset="-122"/>
                    <a:ea typeface="华文楷体" panose="02010600040101010101" pitchFamily="2" charset="-122"/>
                  </a:rPr>
                  <a:t>按量子理论，在基态下氢原子电子在半径</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𝑟</m:t>
                    </m:r>
                    <m:r>
                      <a:rPr lang="zh-CN" altLang="en-US" sz="2800" b="0" i="1" dirty="0">
                        <a:solidFill>
                          <a:schemeClr val="tx1"/>
                        </a:solidFill>
                        <a:latin typeface="Cambria Math" panose="02040503050406030204" pitchFamily="18" charset="0"/>
                        <a:ea typeface="华文新魏" panose="02010800040101010101" pitchFamily="2" charset="-122"/>
                      </a:rPr>
                      <m:t>＝</m:t>
                    </m:r>
                    <m:r>
                      <a:rPr lang="en-US" altLang="zh-CN" sz="2800" b="0" i="1" dirty="0">
                        <a:solidFill>
                          <a:schemeClr val="tx1"/>
                        </a:solidFill>
                        <a:latin typeface="Cambria Math" panose="02040503050406030204" pitchFamily="18" charset="0"/>
                        <a:ea typeface="华文新魏" panose="02010800040101010101" pitchFamily="2" charset="-122"/>
                      </a:rPr>
                      <m:t>0.529Å</m:t>
                    </m:r>
                  </m:oMath>
                </a14:m>
                <a:r>
                  <a:rPr lang="zh-CN" altLang="en-US" sz="2800" b="0" dirty="0">
                    <a:solidFill>
                      <a:schemeClr val="tx1"/>
                    </a:solidFill>
                    <a:latin typeface="华文楷体" panose="02010600040101010101" pitchFamily="2" charset="-122"/>
                    <a:ea typeface="华文楷体" panose="02010600040101010101" pitchFamily="2" charset="-122"/>
                  </a:rPr>
                  <a:t>的球面附近出现的概率最大。</a:t>
                </a:r>
                <a:r>
                  <a:rPr lang="en-US" altLang="zh-CN" sz="2800" b="0" dirty="0">
                    <a:solidFill>
                      <a:schemeClr val="tx1"/>
                    </a:solidFill>
                    <a:latin typeface="华文楷体" panose="02010600040101010101" pitchFamily="2" charset="-122"/>
                    <a:ea typeface="华文楷体" panose="02010600040101010101" pitchFamily="2" charset="-122"/>
                  </a:rPr>
                  <a:t> </a:t>
                </a:r>
                <a:r>
                  <a:rPr lang="zh-CN" altLang="en-US" sz="2800" b="0" dirty="0">
                    <a:solidFill>
                      <a:schemeClr val="tx1"/>
                    </a:solidFill>
                    <a:latin typeface="华文楷体" panose="02010600040101010101" pitchFamily="2" charset="-122"/>
                    <a:ea typeface="华文楷体" panose="02010600040101010101" pitchFamily="2" charset="-122"/>
                  </a:rPr>
                  <a:t>试计算在基态下</a:t>
                </a:r>
                <a:r>
                  <a:rPr lang="en-US" altLang="zh-CN" sz="2800" b="0" dirty="0">
                    <a:solidFill>
                      <a:schemeClr val="tx1"/>
                    </a:solidFill>
                    <a:latin typeface="华文楷体" panose="02010600040101010101" pitchFamily="2" charset="-122"/>
                    <a:ea typeface="华文楷体" panose="02010600040101010101" pitchFamily="2" charset="-122"/>
                  </a:rPr>
                  <a:t>,</a:t>
                </a:r>
                <a:r>
                  <a:rPr lang="zh-CN" altLang="en-US" sz="2800" b="0" dirty="0">
                    <a:solidFill>
                      <a:schemeClr val="tx1"/>
                    </a:solidFill>
                    <a:latin typeface="华文楷体" panose="02010600040101010101" pitchFamily="2" charset="-122"/>
                    <a:ea typeface="华文楷体" panose="02010600040101010101" pitchFamily="2" charset="-122"/>
                  </a:rPr>
                  <a:t>氢原子内电子和质子之间的静电力和万有引力，引力常数为</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𝐺</m:t>
                    </m:r>
                    <m:r>
                      <a:rPr lang="en-US" altLang="zh-CN" sz="2800" b="0" i="1" dirty="0">
                        <a:solidFill>
                          <a:schemeClr val="tx1"/>
                        </a:solidFill>
                        <a:latin typeface="Cambria Math" panose="02040503050406030204" pitchFamily="18" charset="0"/>
                        <a:ea typeface="华文新魏" panose="02010800040101010101" pitchFamily="2" charset="-122"/>
                      </a:rPr>
                      <m:t> =6.67×</m:t>
                    </m:r>
                    <m:sSup>
                      <m:sSupPr>
                        <m:ctrlPr>
                          <a:rPr lang="en-US" altLang="zh-CN" sz="2800" b="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10</m:t>
                        </m:r>
                      </m:e>
                      <m:sup>
                        <m:r>
                          <a:rPr lang="en-US" altLang="zh-CN" sz="2800" b="0" i="1" dirty="0">
                            <a:solidFill>
                              <a:schemeClr val="tx1"/>
                            </a:solidFill>
                            <a:latin typeface="Cambria Math" panose="02040503050406030204" pitchFamily="18" charset="0"/>
                            <a:ea typeface="华文新魏" panose="02010800040101010101" pitchFamily="2" charset="-122"/>
                          </a:rPr>
                          <m:t>−11</m:t>
                        </m:r>
                      </m:sup>
                    </m:sSup>
                  </m:oMath>
                </a14:m>
                <a:r>
                  <a:rPr lang="en-US" altLang="zh-CN" sz="2800" b="0" dirty="0">
                    <a:solidFill>
                      <a:schemeClr val="tx1"/>
                    </a:solidFill>
                    <a:latin typeface="华文楷体" panose="02010600040101010101" pitchFamily="2" charset="-122"/>
                    <a:ea typeface="华文楷体" panose="02010600040101010101" pitchFamily="2" charset="-122"/>
                  </a:rPr>
                  <a:t>N﹒m</a:t>
                </a:r>
                <a:r>
                  <a:rPr lang="en-US" altLang="zh-CN" sz="2800" b="0" baseline="30000" dirty="0">
                    <a:solidFill>
                      <a:schemeClr val="tx1"/>
                    </a:solidFill>
                    <a:latin typeface="华文楷体" panose="02010600040101010101" pitchFamily="2" charset="-122"/>
                    <a:ea typeface="华文楷体" panose="02010600040101010101" pitchFamily="2" charset="-122"/>
                  </a:rPr>
                  <a:t>2</a:t>
                </a:r>
                <a:r>
                  <a:rPr lang="en-US" altLang="zh-CN" sz="2800" b="0" dirty="0">
                    <a:solidFill>
                      <a:schemeClr val="tx1"/>
                    </a:solidFill>
                    <a:latin typeface="华文楷体" panose="02010600040101010101" pitchFamily="2" charset="-122"/>
                    <a:ea typeface="华文楷体" panose="02010600040101010101" pitchFamily="2" charset="-122"/>
                  </a:rPr>
                  <a:t>/kg</a:t>
                </a:r>
                <a:r>
                  <a:rPr lang="en-US" altLang="zh-CN" sz="2800" b="0" baseline="30000" dirty="0">
                    <a:solidFill>
                      <a:schemeClr val="tx1"/>
                    </a:solidFill>
                    <a:latin typeface="华文楷体" panose="02010600040101010101" pitchFamily="2" charset="-122"/>
                    <a:ea typeface="华文楷体" panose="02010600040101010101" pitchFamily="2" charset="-122"/>
                  </a:rPr>
                  <a:t>2</a:t>
                </a:r>
                <a:r>
                  <a:rPr lang="zh-CN" altLang="en-US" sz="2800" b="0" dirty="0">
                    <a:solidFill>
                      <a:schemeClr val="tx1"/>
                    </a:solidFill>
                    <a:latin typeface="华文楷体" panose="02010600040101010101" pitchFamily="2" charset="-122"/>
                    <a:ea typeface="华文楷体" panose="02010600040101010101" pitchFamily="2" charset="-122"/>
                  </a:rPr>
                  <a:t>。</a:t>
                </a:r>
              </a:p>
            </p:txBody>
          </p:sp>
        </mc:Choice>
        <mc:Fallback xmlns="">
          <p:sp>
            <p:nvSpPr>
              <p:cNvPr id="48" name="Rectangle 2">
                <a:extLst>
                  <a:ext uri="{FF2B5EF4-FFF2-40B4-BE49-F238E27FC236}">
                    <a16:creationId xmlns:a16="http://schemas.microsoft.com/office/drawing/2014/main" id="{17380173-F591-439D-B9BE-C2394E091440}"/>
                  </a:ext>
                </a:extLst>
              </p:cNvPr>
              <p:cNvSpPr>
                <a:spLocks noRot="1" noChangeAspect="1" noMove="1" noResize="1" noEditPoints="1" noAdjustHandles="1" noChangeArrowheads="1" noChangeShapeType="1" noTextEdit="1"/>
              </p:cNvSpPr>
              <p:nvPr/>
            </p:nvSpPr>
            <p:spPr bwMode="auto">
              <a:xfrm>
                <a:off x="372251" y="74138"/>
                <a:ext cx="11353119" cy="1406411"/>
              </a:xfrm>
              <a:prstGeom prst="rect">
                <a:avLst/>
              </a:prstGeom>
              <a:blipFill>
                <a:blip r:embed="rId2"/>
                <a:stretch>
                  <a:fillRect l="-1074" t="-2597" r="-1128" b="-1125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aphicFrame>
        <p:nvGraphicFramePr>
          <p:cNvPr id="50" name="Group 4">
            <a:extLst>
              <a:ext uri="{FF2B5EF4-FFF2-40B4-BE49-F238E27FC236}">
                <a16:creationId xmlns:a16="http://schemas.microsoft.com/office/drawing/2014/main" id="{7D204F33-2CCE-443D-8AD5-65B5A2764D19}"/>
              </a:ext>
            </a:extLst>
          </p:cNvPr>
          <p:cNvGraphicFramePr>
            <a:graphicFrameLocks noGrp="1"/>
          </p:cNvGraphicFramePr>
          <p:nvPr/>
        </p:nvGraphicFramePr>
        <p:xfrm>
          <a:off x="5619331" y="1514123"/>
          <a:ext cx="6283409" cy="1554957"/>
        </p:xfrm>
        <a:graphic>
          <a:graphicData uri="http://schemas.openxmlformats.org/drawingml/2006/table">
            <a:tbl>
              <a:tblPr/>
              <a:tblGrid>
                <a:gridCol w="2094867">
                  <a:extLst>
                    <a:ext uri="{9D8B030D-6E8A-4147-A177-3AD203B41FA5}">
                      <a16:colId xmlns:a16="http://schemas.microsoft.com/office/drawing/2014/main" val="20000"/>
                    </a:ext>
                  </a:extLst>
                </a:gridCol>
                <a:gridCol w="2093675">
                  <a:extLst>
                    <a:ext uri="{9D8B030D-6E8A-4147-A177-3AD203B41FA5}">
                      <a16:colId xmlns:a16="http://schemas.microsoft.com/office/drawing/2014/main" val="20001"/>
                    </a:ext>
                  </a:extLst>
                </a:gridCol>
                <a:gridCol w="2094867">
                  <a:extLst>
                    <a:ext uri="{9D8B030D-6E8A-4147-A177-3AD203B41FA5}">
                      <a16:colId xmlns:a16="http://schemas.microsoft.com/office/drawing/2014/main" val="20002"/>
                    </a:ext>
                  </a:extLst>
                </a:gridCol>
              </a:tblGrid>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电荷量</a:t>
                      </a: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/C</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质量</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/kg</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电子（</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e</a:t>
                      </a: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 60×10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-19</a:t>
                      </a:r>
                      <a:endPar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9.11×10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-31</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319">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质子（</a:t>
                      </a:r>
                      <a:r>
                        <a:rPr kumimoji="0" lang="en-US" altLang="zh-CN"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kumimoji="0" lang="zh-CN" altLang="en-US" sz="28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 60×10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-19</a:t>
                      </a:r>
                      <a:endParaRPr kumimoji="0" lang="zh-CN" altLang="en-US"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Arial" panose="020B0604020202020204" pitchFamily="34" charset="0"/>
                          <a:ea typeface="宋体" panose="02010600030101010101" pitchFamily="2" charset="-122"/>
                        </a:defRPr>
                      </a:lvl1pPr>
                      <a:lvl2pPr algn="l" eaLnBrk="0" hangingPunct="0">
                        <a:spcBef>
                          <a:spcPct val="20000"/>
                        </a:spcBef>
                        <a:defRPr sz="2400">
                          <a:solidFill>
                            <a:schemeClr val="tx1"/>
                          </a:solidFill>
                          <a:latin typeface="Arial" panose="020B0604020202020204" pitchFamily="34" charset="0"/>
                          <a:ea typeface="宋体" panose="02010600030101010101" pitchFamily="2" charset="-122"/>
                        </a:defRPr>
                      </a:lvl2pPr>
                      <a:lvl3pPr algn="l" eaLnBrk="0" hangingPunct="0">
                        <a:spcBef>
                          <a:spcPct val="20000"/>
                        </a:spcBef>
                        <a:defRPr sz="2000">
                          <a:solidFill>
                            <a:schemeClr val="tx1"/>
                          </a:solidFill>
                          <a:latin typeface="Arial" panose="020B0604020202020204" pitchFamily="34" charset="0"/>
                          <a:ea typeface="宋体" panose="02010600030101010101" pitchFamily="2" charset="-122"/>
                        </a:defRPr>
                      </a:lvl3pPr>
                      <a:lvl4pPr algn="l" eaLnBrk="0" hangingPunct="0">
                        <a:spcBef>
                          <a:spcPct val="20000"/>
                        </a:spcBef>
                        <a:defRPr>
                          <a:solidFill>
                            <a:schemeClr val="tx1"/>
                          </a:solidFill>
                          <a:latin typeface="Arial" panose="020B0604020202020204" pitchFamily="34" charset="0"/>
                          <a:ea typeface="宋体" panose="02010600030101010101" pitchFamily="2" charset="-122"/>
                        </a:defRPr>
                      </a:lvl4pPr>
                      <a:lvl5pPr algn="l"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1.67×10</a:t>
                      </a:r>
                      <a:r>
                        <a:rPr kumimoji="0" lang="en-US" altLang="zh-CN"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-27</a:t>
                      </a:r>
                      <a:endParaRPr kumimoji="0" lang="zh-CN" altLang="en-US" sz="28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Rectangle 2">
            <a:extLst>
              <a:ext uri="{FF2B5EF4-FFF2-40B4-BE49-F238E27FC236}">
                <a16:creationId xmlns:a16="http://schemas.microsoft.com/office/drawing/2014/main" id="{A2EBE04D-6861-4164-B28C-3B6AEA94DBF8}"/>
              </a:ext>
            </a:extLst>
          </p:cNvPr>
          <p:cNvSpPr>
            <a:spLocks noChangeArrowheads="1"/>
          </p:cNvSpPr>
          <p:nvPr/>
        </p:nvSpPr>
        <p:spPr bwMode="auto">
          <a:xfrm>
            <a:off x="7315361" y="4787236"/>
            <a:ext cx="4749639" cy="12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600" b="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 </a:t>
            </a:r>
            <a:r>
              <a:rPr lang="zh-CN" altLang="en-US"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在处理电子和质子之间的相互作用时</a:t>
            </a:r>
            <a:r>
              <a:rPr lang="en-US" altLang="zh-CN"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a:t>
            </a:r>
            <a:r>
              <a:rPr lang="zh-CN" altLang="en-US" sz="2600" b="0" dirty="0">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只需考虑静电力。</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0E19480-C464-43BA-8461-D3DCEC172477}"/>
                  </a:ext>
                </a:extLst>
              </p:cNvPr>
              <p:cNvSpPr/>
              <p:nvPr/>
            </p:nvSpPr>
            <p:spPr>
              <a:xfrm>
                <a:off x="7518193" y="3788921"/>
                <a:ext cx="4207177" cy="6538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zh-CN" altLang="en-US" sz="3200" i="1" smtClean="0">
                              <a:solidFill>
                                <a:srgbClr val="0066FF"/>
                              </a:solidFill>
                              <a:latin typeface="Cambria Math" panose="02040503050406030204" pitchFamily="18" charset="0"/>
                            </a:rPr>
                          </m:ctrlPr>
                        </m:fPr>
                        <m:num>
                          <m:sSub>
                            <m:sSubPr>
                              <m:ctrlPr>
                                <a:rPr lang="en-US" altLang="zh-CN" sz="3200" i="1">
                                  <a:solidFill>
                                    <a:srgbClr val="0066FF"/>
                                  </a:solidFill>
                                  <a:latin typeface="Cambria Math" panose="02040503050406030204" pitchFamily="18" charset="0"/>
                                </a:rPr>
                              </m:ctrlPr>
                            </m:sSubPr>
                            <m:e>
                              <m:r>
                                <a:rPr lang="en-US" altLang="zh-CN" sz="3200" b="1" i="1">
                                  <a:solidFill>
                                    <a:srgbClr val="0066FF"/>
                                  </a:solidFill>
                                  <a:latin typeface="Cambria Math" panose="02040503050406030204" pitchFamily="18" charset="0"/>
                                </a:rPr>
                                <m:t>𝑭</m:t>
                              </m:r>
                            </m:e>
                            <m:sub>
                              <m:r>
                                <a:rPr lang="en-US" altLang="zh-CN" sz="3200" b="1" i="1">
                                  <a:solidFill>
                                    <a:srgbClr val="0066FF"/>
                                  </a:solidFill>
                                  <a:latin typeface="Cambria Math" panose="02040503050406030204" pitchFamily="18" charset="0"/>
                                </a:rPr>
                                <m:t>𝒆</m:t>
                              </m:r>
                            </m:sub>
                          </m:sSub>
                        </m:num>
                        <m:den>
                          <m:sSub>
                            <m:sSubPr>
                              <m:ctrlPr>
                                <a:rPr lang="en-US" altLang="zh-CN" sz="3200" i="1">
                                  <a:solidFill>
                                    <a:srgbClr val="0066FF"/>
                                  </a:solidFill>
                                  <a:latin typeface="Cambria Math" panose="02040503050406030204" pitchFamily="18" charset="0"/>
                                </a:rPr>
                              </m:ctrlPr>
                            </m:sSubPr>
                            <m:e>
                              <m:r>
                                <a:rPr lang="en-US" altLang="zh-CN" sz="3200" b="1" i="1">
                                  <a:solidFill>
                                    <a:srgbClr val="0066FF"/>
                                  </a:solidFill>
                                  <a:latin typeface="Cambria Math" panose="02040503050406030204" pitchFamily="18" charset="0"/>
                                </a:rPr>
                                <m:t>𝑭</m:t>
                              </m:r>
                            </m:e>
                            <m:sub>
                              <m:r>
                                <a:rPr lang="en-US" altLang="zh-CN" sz="3200" b="1" i="1">
                                  <a:solidFill>
                                    <a:srgbClr val="0066FF"/>
                                  </a:solidFill>
                                  <a:latin typeface="Cambria Math" panose="02040503050406030204" pitchFamily="18" charset="0"/>
                                </a:rPr>
                                <m:t>𝒈</m:t>
                              </m:r>
                            </m:sub>
                          </m:sSub>
                        </m:den>
                      </m:f>
                      <m:r>
                        <a:rPr lang="en-US" altLang="zh-CN" sz="3200" b="1" i="1">
                          <a:solidFill>
                            <a:srgbClr val="0066FF"/>
                          </a:solidFill>
                          <a:latin typeface="Cambria Math" panose="02040503050406030204" pitchFamily="18" charset="0"/>
                        </a:rPr>
                        <m:t>=</m:t>
                      </m:r>
                      <m:r>
                        <a:rPr lang="en-US" altLang="zh-CN" sz="3200" b="1" i="1">
                          <a:solidFill>
                            <a:srgbClr val="0066FF"/>
                          </a:solidFill>
                          <a:latin typeface="Cambria Math" panose="02040503050406030204" pitchFamily="18" charset="0"/>
                          <a:ea typeface="华文新魏" panose="02010800040101010101" pitchFamily="2" charset="-122"/>
                        </a:rPr>
                        <m:t>𝟐</m:t>
                      </m:r>
                      <m:r>
                        <a:rPr lang="en-US" altLang="zh-CN" sz="3200" b="1" i="1">
                          <a:solidFill>
                            <a:srgbClr val="0066FF"/>
                          </a:solidFill>
                          <a:latin typeface="Cambria Math" panose="02040503050406030204" pitchFamily="18" charset="0"/>
                          <a:ea typeface="华文新魏" panose="02010800040101010101" pitchFamily="2" charset="-122"/>
                        </a:rPr>
                        <m:t>.</m:t>
                      </m:r>
                      <m:r>
                        <a:rPr lang="en-US" altLang="zh-CN" sz="3200" b="1" i="1">
                          <a:solidFill>
                            <a:srgbClr val="0066FF"/>
                          </a:solidFill>
                          <a:latin typeface="Cambria Math" panose="02040503050406030204" pitchFamily="18" charset="0"/>
                          <a:ea typeface="华文新魏" panose="02010800040101010101" pitchFamily="2" charset="-122"/>
                        </a:rPr>
                        <m:t>𝟐𝟔</m:t>
                      </m:r>
                      <m:r>
                        <a:rPr lang="en-US" altLang="zh-CN" sz="3200" i="1">
                          <a:solidFill>
                            <a:srgbClr val="0066FF"/>
                          </a:solidFill>
                          <a:latin typeface="Cambria Math" panose="02040503050406030204" pitchFamily="18" charset="0"/>
                          <a:ea typeface="Cambria Math" panose="02040503050406030204" pitchFamily="18" charset="0"/>
                        </a:rPr>
                        <m:t>×</m:t>
                      </m:r>
                      <m:sSup>
                        <m:sSupPr>
                          <m:ctrlPr>
                            <a:rPr lang="en-US" altLang="zh-CN" sz="3200" i="1">
                              <a:solidFill>
                                <a:srgbClr val="0066FF"/>
                              </a:solidFill>
                              <a:latin typeface="Cambria Math" panose="02040503050406030204" pitchFamily="18" charset="0"/>
                              <a:ea typeface="Cambria Math" panose="02040503050406030204" pitchFamily="18" charset="0"/>
                            </a:rPr>
                          </m:ctrlPr>
                        </m:sSupPr>
                        <m:e>
                          <m:r>
                            <a:rPr lang="en-US" altLang="zh-CN" sz="3200" i="1">
                              <a:solidFill>
                                <a:srgbClr val="0066FF"/>
                              </a:solidFill>
                              <a:latin typeface="Cambria Math" panose="02040503050406030204" pitchFamily="18" charset="0"/>
                              <a:ea typeface="Cambria Math" panose="02040503050406030204" pitchFamily="18" charset="0"/>
                            </a:rPr>
                            <m:t>𝟏𝟎</m:t>
                          </m:r>
                        </m:e>
                        <m:sup>
                          <m:r>
                            <a:rPr lang="en-US" altLang="zh-CN" sz="3200" b="1" i="1">
                              <a:solidFill>
                                <a:srgbClr val="0066FF"/>
                              </a:solidFill>
                              <a:latin typeface="Cambria Math" panose="02040503050406030204" pitchFamily="18" charset="0"/>
                              <a:ea typeface="Cambria Math" panose="02040503050406030204" pitchFamily="18" charset="0"/>
                            </a:rPr>
                            <m:t>𝟑𝟗</m:t>
                          </m:r>
                        </m:sup>
                      </m:sSup>
                    </m:oMath>
                  </m:oMathPara>
                </a14:m>
                <a:endParaRPr lang="zh-CN" altLang="en-US" sz="32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A0E19480-C464-43BA-8461-D3DCEC172477}"/>
                  </a:ext>
                </a:extLst>
              </p:cNvPr>
              <p:cNvSpPr>
                <a:spLocks noRot="1" noChangeAspect="1" noMove="1" noResize="1" noEditPoints="1" noAdjustHandles="1" noChangeArrowheads="1" noChangeShapeType="1" noTextEdit="1"/>
              </p:cNvSpPr>
              <p:nvPr/>
            </p:nvSpPr>
            <p:spPr>
              <a:xfrm>
                <a:off x="7518193" y="3788921"/>
                <a:ext cx="4207177" cy="653833"/>
              </a:xfrm>
              <a:prstGeom prst="rect">
                <a:avLst/>
              </a:prstGeom>
              <a:blipFill>
                <a:blip r:embed="rId3"/>
                <a:stretch>
                  <a:fillRect/>
                </a:stretch>
              </a:blipFill>
            </p:spPr>
            <p:txBody>
              <a:bodyPr/>
              <a:lstStyle/>
              <a:p>
                <a:r>
                  <a:rPr lang="en-US">
                    <a:noFill/>
                  </a:rPr>
                  <a:t> </a:t>
                </a:r>
              </a:p>
            </p:txBody>
          </p:sp>
        </mc:Fallback>
      </mc:AlternateContent>
      <p:sp>
        <p:nvSpPr>
          <p:cNvPr id="11" name="标题 10">
            <a:extLst>
              <a:ext uri="{FF2B5EF4-FFF2-40B4-BE49-F238E27FC236}">
                <a16:creationId xmlns:a16="http://schemas.microsoft.com/office/drawing/2014/main" id="{94109328-7DD6-4DB1-A309-22B75282D9E2}"/>
              </a:ext>
            </a:extLst>
          </p:cNvPr>
          <p:cNvSpPr txBox="1">
            <a:spLocks/>
          </p:cNvSpPr>
          <p:nvPr/>
        </p:nvSpPr>
        <p:spPr>
          <a:xfrm>
            <a:off x="-2250923" y="3073994"/>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Rectangle 5">
            <a:extLst>
              <a:ext uri="{FF2B5EF4-FFF2-40B4-BE49-F238E27FC236}">
                <a16:creationId xmlns:a16="http://schemas.microsoft.com/office/drawing/2014/main" id="{3FF462A0-04B9-477E-B6BD-7D6D171883E1}"/>
              </a:ext>
            </a:extLst>
          </p:cNvPr>
          <p:cNvSpPr>
            <a:spLocks noChangeArrowheads="1"/>
          </p:cNvSpPr>
          <p:nvPr/>
        </p:nvSpPr>
        <p:spPr bwMode="auto">
          <a:xfrm>
            <a:off x="664098" y="5357153"/>
            <a:ext cx="5338769" cy="95628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dirty="0">
                <a:solidFill>
                  <a:srgbClr val="FF0000"/>
                </a:solidFill>
                <a:ea typeface="华文楷体" panose="02010600040101010101" pitchFamily="2" charset="-122"/>
                <a:cs typeface="Times New Roman" panose="02020603050405020304" pitchFamily="18" charset="0"/>
              </a:rPr>
              <a:t>强力</a:t>
            </a:r>
            <a:r>
              <a:rPr kumimoji="0" lang="zh-CN" altLang="en-US" sz="2800" dirty="0">
                <a:solidFill>
                  <a:srgbClr val="000000"/>
                </a:solidFill>
                <a:ea typeface="华文楷体" panose="02010600040101010101" pitchFamily="2" charset="-122"/>
                <a:cs typeface="Times New Roman" panose="02020603050405020304" pitchFamily="18" charset="0"/>
              </a:rPr>
              <a:t>：存在于核子、介子和超子之间，也叫强相互作用</a:t>
            </a:r>
            <a:endParaRPr kumimoji="0" lang="zh-CN" altLang="en-US" sz="2800" dirty="0">
              <a:ea typeface="华文楷体" panose="02010600040101010101" pitchFamily="2" charset="-122"/>
              <a:cs typeface="Times New Roman" panose="02020603050405020304" pitchFamily="18" charset="0"/>
            </a:endParaRPr>
          </a:p>
        </p:txBody>
      </p:sp>
      <p:grpSp>
        <p:nvGrpSpPr>
          <p:cNvPr id="13" name="Group 4">
            <a:extLst>
              <a:ext uri="{FF2B5EF4-FFF2-40B4-BE49-F238E27FC236}">
                <a16:creationId xmlns:a16="http://schemas.microsoft.com/office/drawing/2014/main" id="{290DE3CB-C3C7-408D-AAD9-44C9FFD91C95}"/>
              </a:ext>
            </a:extLst>
          </p:cNvPr>
          <p:cNvGrpSpPr>
            <a:grpSpLocks/>
          </p:cNvGrpSpPr>
          <p:nvPr/>
        </p:nvGrpSpPr>
        <p:grpSpPr bwMode="auto">
          <a:xfrm>
            <a:off x="2470441" y="3528354"/>
            <a:ext cx="1981200" cy="0"/>
            <a:chOff x="0" y="0"/>
            <a:chExt cx="1248" cy="0"/>
          </a:xfrm>
        </p:grpSpPr>
        <p:sp>
          <p:nvSpPr>
            <p:cNvPr id="14" name="Line 15">
              <a:extLst>
                <a:ext uri="{FF2B5EF4-FFF2-40B4-BE49-F238E27FC236}">
                  <a16:creationId xmlns:a16="http://schemas.microsoft.com/office/drawing/2014/main" id="{0FAE6D16-E3D5-4CCA-8545-A8E7E1854B72}"/>
                </a:ext>
              </a:extLst>
            </p:cNvPr>
            <p:cNvSpPr>
              <a:spLocks noChangeShapeType="1"/>
            </p:cNvSpPr>
            <p:nvPr/>
          </p:nvSpPr>
          <p:spPr bwMode="auto">
            <a:xfrm>
              <a:off x="864" y="0"/>
              <a:ext cx="384" cy="0"/>
            </a:xfrm>
            <a:prstGeom prst="line">
              <a:avLst/>
            </a:prstGeom>
            <a:noFill/>
            <a:ln w="28575" cap="sq">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5" name="Line 16">
              <a:extLst>
                <a:ext uri="{FF2B5EF4-FFF2-40B4-BE49-F238E27FC236}">
                  <a16:creationId xmlns:a16="http://schemas.microsoft.com/office/drawing/2014/main" id="{8F33BC29-542A-40E9-94C2-25C43C320AF3}"/>
                </a:ext>
              </a:extLst>
            </p:cNvPr>
            <p:cNvSpPr>
              <a:spLocks noChangeShapeType="1"/>
            </p:cNvSpPr>
            <p:nvPr/>
          </p:nvSpPr>
          <p:spPr bwMode="auto">
            <a:xfrm flipH="1">
              <a:off x="0" y="0"/>
              <a:ext cx="384" cy="0"/>
            </a:xfrm>
            <a:prstGeom prst="line">
              <a:avLst/>
            </a:prstGeom>
            <a:noFill/>
            <a:ln w="28575" cap="sq">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6" name="Oval 17">
            <a:extLst>
              <a:ext uri="{FF2B5EF4-FFF2-40B4-BE49-F238E27FC236}">
                <a16:creationId xmlns:a16="http://schemas.microsoft.com/office/drawing/2014/main" id="{49DB0BF3-3B7C-4654-8929-2C12A563F204}"/>
              </a:ext>
            </a:extLst>
          </p:cNvPr>
          <p:cNvSpPr>
            <a:spLocks noChangeArrowheads="1"/>
          </p:cNvSpPr>
          <p:nvPr/>
        </p:nvSpPr>
        <p:spPr bwMode="auto">
          <a:xfrm>
            <a:off x="2775241" y="3147354"/>
            <a:ext cx="1295400" cy="762000"/>
          </a:xfrm>
          <a:prstGeom prst="ellipse">
            <a:avLst/>
          </a:prstGeom>
          <a:noFill/>
          <a:ln w="28575"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b="0">
              <a:solidFill>
                <a:srgbClr val="000000"/>
              </a:solidFill>
              <a:ea typeface="华文楷体" panose="02010600040101010101" pitchFamily="2" charset="-122"/>
              <a:cs typeface="Times New Roman" panose="02020603050405020304" pitchFamily="18" charset="0"/>
            </a:endParaRPr>
          </a:p>
        </p:txBody>
      </p:sp>
      <p:grpSp>
        <p:nvGrpSpPr>
          <p:cNvPr id="17" name="Group 8">
            <a:extLst>
              <a:ext uri="{FF2B5EF4-FFF2-40B4-BE49-F238E27FC236}">
                <a16:creationId xmlns:a16="http://schemas.microsoft.com/office/drawing/2014/main" id="{CBCB1D55-E031-4A92-BF25-2195F7123987}"/>
              </a:ext>
            </a:extLst>
          </p:cNvPr>
          <p:cNvGrpSpPr>
            <a:grpSpLocks/>
          </p:cNvGrpSpPr>
          <p:nvPr/>
        </p:nvGrpSpPr>
        <p:grpSpPr bwMode="auto">
          <a:xfrm>
            <a:off x="3003841" y="3223554"/>
            <a:ext cx="914400" cy="609600"/>
            <a:chOff x="0" y="0"/>
            <a:chExt cx="576" cy="384"/>
          </a:xfrm>
        </p:grpSpPr>
        <p:grpSp>
          <p:nvGrpSpPr>
            <p:cNvPr id="18" name="Group 9">
              <a:extLst>
                <a:ext uri="{FF2B5EF4-FFF2-40B4-BE49-F238E27FC236}">
                  <a16:creationId xmlns:a16="http://schemas.microsoft.com/office/drawing/2014/main" id="{06C0C848-E74C-4581-B002-F74743BF18FA}"/>
                </a:ext>
              </a:extLst>
            </p:cNvPr>
            <p:cNvGrpSpPr>
              <a:grpSpLocks/>
            </p:cNvGrpSpPr>
            <p:nvPr/>
          </p:nvGrpSpPr>
          <p:grpSpPr bwMode="auto">
            <a:xfrm>
              <a:off x="336" y="48"/>
              <a:ext cx="240" cy="292"/>
              <a:chOff x="0" y="0"/>
              <a:chExt cx="240" cy="292"/>
            </a:xfrm>
          </p:grpSpPr>
          <p:sp>
            <p:nvSpPr>
              <p:cNvPr id="24" name="Oval 20">
                <a:extLst>
                  <a:ext uri="{FF2B5EF4-FFF2-40B4-BE49-F238E27FC236}">
                    <a16:creationId xmlns:a16="http://schemas.microsoft.com/office/drawing/2014/main" id="{C4B12317-94E5-47E8-9C74-F60F1990F6D7}"/>
                  </a:ext>
                </a:extLst>
              </p:cNvPr>
              <p:cNvSpPr>
                <a:spLocks noChangeArrowheads="1"/>
              </p:cNvSpPr>
              <p:nvPr/>
            </p:nvSpPr>
            <p:spPr bwMode="auto">
              <a:xfrm>
                <a:off x="0" y="48"/>
                <a:ext cx="192" cy="192"/>
              </a:xfrm>
              <a:prstGeom prst="ellipse">
                <a:avLst/>
              </a:prstGeom>
              <a:solidFill>
                <a:schemeClr val="hlink"/>
              </a:solid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b="0">
                  <a:solidFill>
                    <a:srgbClr val="000000"/>
                  </a:solidFill>
                  <a:ea typeface="华文楷体" panose="02010600040101010101" pitchFamily="2" charset="-122"/>
                  <a:cs typeface="Times New Roman" panose="02020603050405020304" pitchFamily="18" charset="0"/>
                </a:endParaRPr>
              </a:p>
            </p:txBody>
          </p:sp>
          <p:sp>
            <p:nvSpPr>
              <p:cNvPr id="25" name="Text Box 21">
                <a:extLst>
                  <a:ext uri="{FF2B5EF4-FFF2-40B4-BE49-F238E27FC236}">
                    <a16:creationId xmlns:a16="http://schemas.microsoft.com/office/drawing/2014/main" id="{3D8D8E4F-05C7-4B5F-96D5-8DAD0E3B7CF7}"/>
                  </a:ext>
                </a:extLst>
              </p:cNvPr>
              <p:cNvSpPr txBox="1">
                <a:spLocks noChangeArrowheads="1"/>
              </p:cNvSpPr>
              <p:nvPr/>
            </p:nvSpPr>
            <p:spPr bwMode="auto">
              <a:xfrm>
                <a:off x="0" y="0"/>
                <a:ext cx="240"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400" b="0">
                    <a:solidFill>
                      <a:srgbClr val="000000"/>
                    </a:solidFill>
                    <a:ea typeface="华文楷体" panose="02010600040101010101" pitchFamily="2" charset="-122"/>
                    <a:cs typeface="Times New Roman" panose="02020603050405020304" pitchFamily="18" charset="0"/>
                  </a:rPr>
                  <a:t>+</a:t>
                </a:r>
              </a:p>
            </p:txBody>
          </p:sp>
        </p:grpSp>
        <p:grpSp>
          <p:nvGrpSpPr>
            <p:cNvPr id="19" name="Group 12">
              <a:extLst>
                <a:ext uri="{FF2B5EF4-FFF2-40B4-BE49-F238E27FC236}">
                  <a16:creationId xmlns:a16="http://schemas.microsoft.com/office/drawing/2014/main" id="{5E8FA2FD-D3C9-4ED3-837D-BE704BAEBEF6}"/>
                </a:ext>
              </a:extLst>
            </p:cNvPr>
            <p:cNvGrpSpPr>
              <a:grpSpLocks/>
            </p:cNvGrpSpPr>
            <p:nvPr/>
          </p:nvGrpSpPr>
          <p:grpSpPr bwMode="auto">
            <a:xfrm>
              <a:off x="0" y="48"/>
              <a:ext cx="240" cy="292"/>
              <a:chOff x="0" y="0"/>
              <a:chExt cx="240" cy="292"/>
            </a:xfrm>
          </p:grpSpPr>
          <p:sp>
            <p:nvSpPr>
              <p:cNvPr id="22" name="Oval 23">
                <a:extLst>
                  <a:ext uri="{FF2B5EF4-FFF2-40B4-BE49-F238E27FC236}">
                    <a16:creationId xmlns:a16="http://schemas.microsoft.com/office/drawing/2014/main" id="{B575AB35-8704-464D-A339-EC36748E69B7}"/>
                  </a:ext>
                </a:extLst>
              </p:cNvPr>
              <p:cNvSpPr>
                <a:spLocks noChangeArrowheads="1"/>
              </p:cNvSpPr>
              <p:nvPr/>
            </p:nvSpPr>
            <p:spPr bwMode="auto">
              <a:xfrm>
                <a:off x="0" y="48"/>
                <a:ext cx="192" cy="192"/>
              </a:xfrm>
              <a:prstGeom prst="ellipse">
                <a:avLst/>
              </a:prstGeom>
              <a:solidFill>
                <a:schemeClr val="hlink"/>
              </a:solidFill>
              <a:ln w="28575"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b="0">
                  <a:solidFill>
                    <a:srgbClr val="000000"/>
                  </a:solidFill>
                  <a:ea typeface="华文楷体" panose="02010600040101010101" pitchFamily="2" charset="-122"/>
                  <a:cs typeface="Times New Roman" panose="02020603050405020304" pitchFamily="18" charset="0"/>
                </a:endParaRPr>
              </a:p>
            </p:txBody>
          </p:sp>
          <p:sp>
            <p:nvSpPr>
              <p:cNvPr id="23" name="Text Box 24">
                <a:extLst>
                  <a:ext uri="{FF2B5EF4-FFF2-40B4-BE49-F238E27FC236}">
                    <a16:creationId xmlns:a16="http://schemas.microsoft.com/office/drawing/2014/main" id="{2D323BD4-852E-4CB9-9DB4-F4899CF491E0}"/>
                  </a:ext>
                </a:extLst>
              </p:cNvPr>
              <p:cNvSpPr txBox="1">
                <a:spLocks noChangeArrowheads="1"/>
              </p:cNvSpPr>
              <p:nvPr/>
            </p:nvSpPr>
            <p:spPr bwMode="auto">
              <a:xfrm>
                <a:off x="0" y="0"/>
                <a:ext cx="240"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2400" b="0">
                    <a:solidFill>
                      <a:srgbClr val="000000"/>
                    </a:solidFill>
                    <a:ea typeface="华文楷体" panose="02010600040101010101" pitchFamily="2" charset="-122"/>
                    <a:cs typeface="Times New Roman" panose="02020603050405020304" pitchFamily="18" charset="0"/>
                  </a:rPr>
                  <a:t>+</a:t>
                </a:r>
              </a:p>
            </p:txBody>
          </p:sp>
        </p:grpSp>
        <p:sp>
          <p:nvSpPr>
            <p:cNvPr id="20" name="Oval 25">
              <a:extLst>
                <a:ext uri="{FF2B5EF4-FFF2-40B4-BE49-F238E27FC236}">
                  <a16:creationId xmlns:a16="http://schemas.microsoft.com/office/drawing/2014/main" id="{6ADE0CF0-43C6-447A-A7F2-E8CB57F9CED5}"/>
                </a:ext>
              </a:extLst>
            </p:cNvPr>
            <p:cNvSpPr>
              <a:spLocks noChangeArrowheads="1"/>
            </p:cNvSpPr>
            <p:nvPr/>
          </p:nvSpPr>
          <p:spPr bwMode="auto">
            <a:xfrm>
              <a:off x="192" y="192"/>
              <a:ext cx="144" cy="192"/>
            </a:xfrm>
            <a:prstGeom prst="ellipse">
              <a:avLst/>
            </a:prstGeom>
            <a:noFill/>
            <a:ln w="28575"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b="0">
                <a:solidFill>
                  <a:srgbClr val="000000"/>
                </a:solidFill>
                <a:ea typeface="华文楷体" panose="02010600040101010101" pitchFamily="2" charset="-122"/>
                <a:cs typeface="Times New Roman" panose="02020603050405020304" pitchFamily="18" charset="0"/>
              </a:endParaRPr>
            </a:p>
          </p:txBody>
        </p:sp>
        <p:sp>
          <p:nvSpPr>
            <p:cNvPr id="21" name="Oval 26">
              <a:extLst>
                <a:ext uri="{FF2B5EF4-FFF2-40B4-BE49-F238E27FC236}">
                  <a16:creationId xmlns:a16="http://schemas.microsoft.com/office/drawing/2014/main" id="{DABAB347-C2EC-4507-9639-1CEF8D251812}"/>
                </a:ext>
              </a:extLst>
            </p:cNvPr>
            <p:cNvSpPr>
              <a:spLocks noChangeArrowheads="1"/>
            </p:cNvSpPr>
            <p:nvPr/>
          </p:nvSpPr>
          <p:spPr bwMode="auto">
            <a:xfrm>
              <a:off x="192" y="0"/>
              <a:ext cx="144" cy="192"/>
            </a:xfrm>
            <a:prstGeom prst="ellipse">
              <a:avLst/>
            </a:prstGeom>
            <a:noFill/>
            <a:ln w="28575"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b="0">
                <a:solidFill>
                  <a:srgbClr val="000000"/>
                </a:solidFill>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26" name="Text Box 28">
                <a:extLst>
                  <a:ext uri="{FF2B5EF4-FFF2-40B4-BE49-F238E27FC236}">
                    <a16:creationId xmlns:a16="http://schemas.microsoft.com/office/drawing/2014/main" id="{AB9AD1C0-8C76-4D34-B11C-B97B2ECFD6A5}"/>
                  </a:ext>
                </a:extLst>
              </p:cNvPr>
              <p:cNvSpPr txBox="1">
                <a:spLocks noChangeArrowheads="1"/>
              </p:cNvSpPr>
              <p:nvPr/>
            </p:nvSpPr>
            <p:spPr bwMode="auto">
              <a:xfrm>
                <a:off x="1281403" y="3528354"/>
                <a:ext cx="1790700" cy="463846"/>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400" dirty="0">
                    <a:solidFill>
                      <a:srgbClr val="0066FF"/>
                    </a:solidFill>
                    <a:ea typeface="华文楷体" panose="02010600040101010101" pitchFamily="2" charset="-122"/>
                    <a:cs typeface="Times New Roman" panose="02020603050405020304" pitchFamily="18" charset="0"/>
                  </a:rPr>
                  <a:t>电力</a:t>
                </a:r>
                <a14:m>
                  <m:oMath xmlns:m="http://schemas.openxmlformats.org/officeDocument/2006/math">
                    <m:r>
                      <a:rPr kumimoji="0" lang="en-US" altLang="zh-CN" sz="2400" dirty="0">
                        <a:solidFill>
                          <a:srgbClr val="0066FF"/>
                        </a:solidFill>
                        <a:latin typeface="Cambria Math" panose="02040503050406030204" pitchFamily="18" charset="0"/>
                        <a:ea typeface="微软雅黑" panose="020B0503020204020204" pitchFamily="34" charset="-122"/>
                      </a:rPr>
                      <m:t>𝟏𝟎</m:t>
                    </m:r>
                    <m:r>
                      <a:rPr kumimoji="0" lang="en-US" altLang="zh-CN" sz="2400" baseline="30000" dirty="0">
                        <a:solidFill>
                          <a:srgbClr val="0066FF"/>
                        </a:solidFill>
                        <a:latin typeface="Cambria Math" panose="02040503050406030204" pitchFamily="18" charset="0"/>
                        <a:ea typeface="微软雅黑" panose="020B0503020204020204" pitchFamily="34" charset="-122"/>
                      </a:rPr>
                      <m:t>𝟐</m:t>
                    </m:r>
                    <m:r>
                      <a:rPr kumimoji="0" lang="en-US" altLang="zh-CN" sz="2400" dirty="0">
                        <a:solidFill>
                          <a:srgbClr val="0066FF"/>
                        </a:solidFill>
                        <a:latin typeface="Cambria Math" panose="02040503050406030204" pitchFamily="18" charset="0"/>
                        <a:ea typeface="微软雅黑" panose="020B0503020204020204" pitchFamily="34" charset="-122"/>
                      </a:rPr>
                      <m:t> </m:t>
                    </m:r>
                    <m:r>
                      <a:rPr kumimoji="0" lang="en-US" altLang="zh-CN" sz="2400" dirty="0">
                        <a:solidFill>
                          <a:srgbClr val="0066FF"/>
                        </a:solidFill>
                        <a:latin typeface="Cambria Math" panose="02040503050406030204" pitchFamily="18" charset="0"/>
                        <a:ea typeface="微软雅黑" panose="020B0503020204020204" pitchFamily="34" charset="-122"/>
                      </a:rPr>
                      <m:t>𝐍</m:t>
                    </m:r>
                  </m:oMath>
                </a14:m>
                <a:endParaRPr kumimoji="0" lang="en-US" altLang="zh-CN" sz="2400" dirty="0">
                  <a:solidFill>
                    <a:srgbClr val="0066FF"/>
                  </a:solidFill>
                  <a:ea typeface="华文楷体" panose="02010600040101010101" pitchFamily="2" charset="-122"/>
                  <a:cs typeface="Times New Roman" panose="02020603050405020304" pitchFamily="18" charset="0"/>
                </a:endParaRPr>
              </a:p>
            </p:txBody>
          </p:sp>
        </mc:Choice>
        <mc:Fallback xmlns="">
          <p:sp>
            <p:nvSpPr>
              <p:cNvPr id="26" name="Text Box 28">
                <a:extLst>
                  <a:ext uri="{FF2B5EF4-FFF2-40B4-BE49-F238E27FC236}">
                    <a16:creationId xmlns:a16="http://schemas.microsoft.com/office/drawing/2014/main" id="{AB9AD1C0-8C76-4D34-B11C-B97B2ECFD6A5}"/>
                  </a:ext>
                </a:extLst>
              </p:cNvPr>
              <p:cNvSpPr txBox="1">
                <a:spLocks noRot="1" noChangeAspect="1" noMove="1" noResize="1" noEditPoints="1" noAdjustHandles="1" noChangeArrowheads="1" noChangeShapeType="1" noTextEdit="1"/>
              </p:cNvSpPr>
              <p:nvPr/>
            </p:nvSpPr>
            <p:spPr bwMode="auto">
              <a:xfrm>
                <a:off x="1281403" y="3528354"/>
                <a:ext cx="1790700" cy="463846"/>
              </a:xfrm>
              <a:prstGeom prst="rect">
                <a:avLst/>
              </a:prstGeom>
              <a:blipFill>
                <a:blip r:embed="rId4"/>
                <a:stretch>
                  <a:fillRect l="-5442" t="-9211" b="-3026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AutoShape 29">
                <a:extLst>
                  <a:ext uri="{FF2B5EF4-FFF2-40B4-BE49-F238E27FC236}">
                    <a16:creationId xmlns:a16="http://schemas.microsoft.com/office/drawing/2014/main" id="{B97E25C4-956C-42B1-9ECC-011F96DB3D3A}"/>
                  </a:ext>
                </a:extLst>
              </p:cNvPr>
              <p:cNvSpPr>
                <a:spLocks noChangeArrowheads="1"/>
              </p:cNvSpPr>
              <p:nvPr/>
            </p:nvSpPr>
            <p:spPr bwMode="auto">
              <a:xfrm>
                <a:off x="2851441" y="2385354"/>
                <a:ext cx="1944042" cy="381000"/>
              </a:xfrm>
              <a:prstGeom prst="wedgeRectCallout">
                <a:avLst>
                  <a:gd name="adj1" fmla="val -20067"/>
                  <a:gd name="adj2" fmla="val 234502"/>
                </a:avLst>
              </a:prstGeom>
              <a:noFill/>
              <a:ln w="28575" cap="sq">
                <a:solidFill>
                  <a:schemeClr val="tx1"/>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400" dirty="0">
                    <a:solidFill>
                      <a:srgbClr val="000000"/>
                    </a:solidFill>
                    <a:ea typeface="华文楷体" panose="02010600040101010101" pitchFamily="2" charset="-122"/>
                    <a:cs typeface="Times New Roman" panose="02020603050405020304" pitchFamily="18" charset="0"/>
                  </a:rPr>
                  <a:t>引力</a:t>
                </a:r>
                <a14:m>
                  <m:oMath xmlns:m="http://schemas.openxmlformats.org/officeDocument/2006/math">
                    <m:sSup>
                      <m:sSupPr>
                        <m:ctrlPr>
                          <a:rPr kumimoji="0" lang="en-US" altLang="zh-CN" sz="2400" i="1" dirty="0">
                            <a:solidFill>
                              <a:srgbClr val="000000"/>
                            </a:solidFill>
                            <a:latin typeface="Cambria Math" panose="02040503050406030204" pitchFamily="18" charset="0"/>
                            <a:ea typeface="微软雅黑" panose="020B0503020204020204" pitchFamily="34" charset="-122"/>
                          </a:rPr>
                        </m:ctrlPr>
                      </m:sSupPr>
                      <m:e>
                        <m:r>
                          <a:rPr kumimoji="0" lang="en-US" altLang="zh-CN" sz="2400" dirty="0">
                            <a:solidFill>
                              <a:srgbClr val="000000"/>
                            </a:solidFill>
                            <a:latin typeface="Cambria Math" panose="02040503050406030204" pitchFamily="18" charset="0"/>
                            <a:ea typeface="微软雅黑" panose="020B0503020204020204" pitchFamily="34" charset="-122"/>
                          </a:rPr>
                          <m:t>𝟏𝟎</m:t>
                        </m:r>
                      </m:e>
                      <m:sup>
                        <m:r>
                          <a:rPr kumimoji="0" lang="en-US" altLang="zh-CN" sz="2400" i="1" dirty="0">
                            <a:solidFill>
                              <a:srgbClr val="000000"/>
                            </a:solidFill>
                            <a:latin typeface="Cambria Math" panose="02040503050406030204" pitchFamily="18" charset="0"/>
                            <a:ea typeface="微软雅黑" panose="020B0503020204020204" pitchFamily="34" charset="-122"/>
                          </a:rPr>
                          <m:t>−</m:t>
                        </m:r>
                        <m:r>
                          <a:rPr kumimoji="0" lang="en-US" altLang="zh-CN" sz="2400" i="1" dirty="0">
                            <a:solidFill>
                              <a:srgbClr val="000000"/>
                            </a:solidFill>
                            <a:latin typeface="Cambria Math" panose="02040503050406030204" pitchFamily="18" charset="0"/>
                            <a:ea typeface="微软雅黑" panose="020B0503020204020204" pitchFamily="34" charset="-122"/>
                          </a:rPr>
                          <m:t>𝟑𝟒</m:t>
                        </m:r>
                      </m:sup>
                    </m:sSup>
                    <m:r>
                      <a:rPr kumimoji="0" lang="en-US" altLang="zh-CN" sz="2400" dirty="0">
                        <a:solidFill>
                          <a:srgbClr val="000000"/>
                        </a:solidFill>
                        <a:latin typeface="Cambria Math" panose="02040503050406030204" pitchFamily="18" charset="0"/>
                        <a:ea typeface="微软雅黑" panose="020B0503020204020204" pitchFamily="34" charset="-122"/>
                      </a:rPr>
                      <m:t>𝐍</m:t>
                    </m:r>
                  </m:oMath>
                </a14:m>
                <a:endParaRPr kumimoji="0" lang="en-US" altLang="zh-CN" sz="2400" dirty="0">
                  <a:solidFill>
                    <a:srgbClr val="000000"/>
                  </a:solidFill>
                  <a:ea typeface="华文楷体" panose="02010600040101010101" pitchFamily="2" charset="-122"/>
                  <a:cs typeface="Times New Roman" panose="02020603050405020304" pitchFamily="18" charset="0"/>
                </a:endParaRPr>
              </a:p>
            </p:txBody>
          </p:sp>
        </mc:Choice>
        <mc:Fallback xmlns="">
          <p:sp>
            <p:nvSpPr>
              <p:cNvPr id="27" name="AutoShape 29">
                <a:extLst>
                  <a:ext uri="{FF2B5EF4-FFF2-40B4-BE49-F238E27FC236}">
                    <a16:creationId xmlns:a16="http://schemas.microsoft.com/office/drawing/2014/main" id="{B97E25C4-956C-42B1-9ECC-011F96DB3D3A}"/>
                  </a:ext>
                </a:extLst>
              </p:cNvPr>
              <p:cNvSpPr>
                <a:spLocks noRot="1" noChangeAspect="1" noMove="1" noResize="1" noEditPoints="1" noAdjustHandles="1" noChangeArrowheads="1" noChangeShapeType="1" noTextEdit="1"/>
              </p:cNvSpPr>
              <p:nvPr/>
            </p:nvSpPr>
            <p:spPr bwMode="auto">
              <a:xfrm>
                <a:off x="2851441" y="2385354"/>
                <a:ext cx="1944042" cy="381000"/>
              </a:xfrm>
              <a:prstGeom prst="wedgeRectCallout">
                <a:avLst>
                  <a:gd name="adj1" fmla="val -20067"/>
                  <a:gd name="adj2" fmla="val 234502"/>
                </a:avLst>
              </a:prstGeom>
              <a:blipFill>
                <a:blip r:embed="rId5"/>
                <a:stretch>
                  <a:fillRect l="-1235" t="-5789"/>
                </a:stretch>
              </a:blipFill>
              <a:ln w="28575" cap="sq">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8" name="Text Box 30">
            <a:extLst>
              <a:ext uri="{FF2B5EF4-FFF2-40B4-BE49-F238E27FC236}">
                <a16:creationId xmlns:a16="http://schemas.microsoft.com/office/drawing/2014/main" id="{4DB54C5D-6EF3-4B78-86BA-27DC88F5C626}"/>
              </a:ext>
            </a:extLst>
          </p:cNvPr>
          <p:cNvSpPr txBox="1">
            <a:spLocks noChangeArrowheads="1"/>
          </p:cNvSpPr>
          <p:nvPr/>
        </p:nvSpPr>
        <p:spPr bwMode="auto">
          <a:xfrm>
            <a:off x="2927641" y="4061754"/>
            <a:ext cx="1143000"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400">
                <a:solidFill>
                  <a:srgbClr val="FF0000"/>
                </a:solidFill>
                <a:ea typeface="华文楷体" panose="02010600040101010101" pitchFamily="2" charset="-122"/>
                <a:cs typeface="Times New Roman" panose="02020603050405020304" pitchFamily="18" charset="0"/>
              </a:rPr>
              <a:t>凝聚力</a:t>
            </a:r>
            <a:endParaRPr kumimoji="0" lang="zh-CN" altLang="en-US" sz="2800">
              <a:solidFill>
                <a:srgbClr val="FF0000"/>
              </a:solidFill>
              <a:ea typeface="华文楷体" panose="02010600040101010101" pitchFamily="2" charset="-122"/>
              <a:cs typeface="Times New Roman" panose="02020603050405020304" pitchFamily="18" charset="0"/>
            </a:endParaRPr>
          </a:p>
        </p:txBody>
      </p:sp>
      <p:sp>
        <p:nvSpPr>
          <p:cNvPr id="29" name="Rectangle 31">
            <a:extLst>
              <a:ext uri="{FF2B5EF4-FFF2-40B4-BE49-F238E27FC236}">
                <a16:creationId xmlns:a16="http://schemas.microsoft.com/office/drawing/2014/main" id="{E6BEB5D6-6753-468E-B632-F61282D32FE0}"/>
              </a:ext>
            </a:extLst>
          </p:cNvPr>
          <p:cNvSpPr>
            <a:spLocks noChangeArrowheads="1"/>
          </p:cNvSpPr>
          <p:nvPr/>
        </p:nvSpPr>
        <p:spPr bwMode="auto">
          <a:xfrm>
            <a:off x="4299242" y="3680754"/>
            <a:ext cx="951199" cy="1017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6000">
                <a:solidFill>
                  <a:srgbClr val="FF0000"/>
                </a:solidFill>
                <a:ea typeface="华文楷体" panose="02010600040101010101" pitchFamily="2"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0" name="AutoShape 33">
                <a:extLst>
                  <a:ext uri="{FF2B5EF4-FFF2-40B4-BE49-F238E27FC236}">
                    <a16:creationId xmlns:a16="http://schemas.microsoft.com/office/drawing/2014/main" id="{B425D160-4278-4EB3-BB5E-9FD4696EA04A}"/>
                  </a:ext>
                </a:extLst>
              </p:cNvPr>
              <p:cNvSpPr>
                <a:spLocks noChangeArrowheads="1"/>
              </p:cNvSpPr>
              <p:nvPr/>
            </p:nvSpPr>
            <p:spPr bwMode="auto">
              <a:xfrm flipV="1">
                <a:off x="2699041" y="4137954"/>
                <a:ext cx="1600200" cy="609600"/>
              </a:xfrm>
              <a:prstGeom prst="wedgeRectCallout">
                <a:avLst>
                  <a:gd name="adj1" fmla="val -5755"/>
                  <a:gd name="adj2" fmla="val 133333"/>
                </a:avLst>
              </a:prstGeom>
              <a:solidFill>
                <a:schemeClr val="bg1"/>
              </a:solidFill>
              <a:ln w="28575" cap="sq">
                <a:solidFill>
                  <a:schemeClr val="tx1"/>
                </a:solidFill>
                <a:miter lim="800000"/>
                <a:headEnd/>
                <a:tailEnd/>
              </a:ln>
              <a:effectLst/>
              <a:extLst>
                <a:ext uri="{AF507438-7753-43E0-B8FC-AC1667EBCBE1}">
                  <a14:hiddenEffects>
                    <a:effectLst>
                      <a:outerShdw dist="35921" dir="2700000" algn="ctr" rotWithShape="0">
                        <a:schemeClr val="bg2"/>
                      </a:outerShdw>
                    </a:effectLst>
                  </a14:hiddenEffects>
                </a:ext>
              </a:extLst>
            </p:spPr>
            <p:txBody>
              <a:bodyPr rot="10800000" lIns="90000" tIns="46800" rIns="90000" bIns="46800"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400" dirty="0">
                    <a:solidFill>
                      <a:srgbClr val="FF0000"/>
                    </a:solidFill>
                    <a:ea typeface="华文楷体" panose="02010600040101010101" pitchFamily="2" charset="-122"/>
                    <a:cs typeface="Times New Roman" panose="02020603050405020304" pitchFamily="18" charset="0"/>
                  </a:rPr>
                  <a:t>强力</a:t>
                </a:r>
                <a14:m>
                  <m:oMath xmlns:m="http://schemas.openxmlformats.org/officeDocument/2006/math">
                    <m:r>
                      <a:rPr kumimoji="0" lang="en-US" altLang="zh-CN" sz="2400" dirty="0">
                        <a:solidFill>
                          <a:srgbClr val="FF0000"/>
                        </a:solidFill>
                        <a:latin typeface="Cambria Math" panose="02040503050406030204" pitchFamily="18" charset="0"/>
                        <a:ea typeface="微软雅黑" panose="020B0503020204020204" pitchFamily="34" charset="-122"/>
                      </a:rPr>
                      <m:t>𝟏𝟎</m:t>
                    </m:r>
                    <m:r>
                      <a:rPr kumimoji="0" lang="en-US" altLang="zh-CN" sz="2400" baseline="30000" dirty="0">
                        <a:solidFill>
                          <a:srgbClr val="FF0000"/>
                        </a:solidFill>
                        <a:latin typeface="Cambria Math" panose="02040503050406030204" pitchFamily="18" charset="0"/>
                        <a:ea typeface="微软雅黑" panose="020B0503020204020204" pitchFamily="34" charset="-122"/>
                      </a:rPr>
                      <m:t>𝟒</m:t>
                    </m:r>
                    <m:r>
                      <a:rPr kumimoji="0" lang="en-US" altLang="zh-CN" sz="2400" dirty="0">
                        <a:solidFill>
                          <a:srgbClr val="FF0000"/>
                        </a:solidFill>
                        <a:latin typeface="Cambria Math" panose="02040503050406030204" pitchFamily="18" charset="0"/>
                        <a:ea typeface="微软雅黑" panose="020B0503020204020204" pitchFamily="34" charset="-122"/>
                      </a:rPr>
                      <m:t>𝐍</m:t>
                    </m:r>
                  </m:oMath>
                </a14:m>
                <a:endParaRPr kumimoji="0" lang="en-US" altLang="zh-CN" sz="2400" dirty="0">
                  <a:solidFill>
                    <a:srgbClr val="FF0000"/>
                  </a:solidFill>
                  <a:ea typeface="华文楷体" panose="02010600040101010101" pitchFamily="2" charset="-122"/>
                  <a:cs typeface="Times New Roman" panose="02020603050405020304" pitchFamily="18" charset="0"/>
                </a:endParaRPr>
              </a:p>
            </p:txBody>
          </p:sp>
        </mc:Choice>
        <mc:Fallback xmlns="">
          <p:sp>
            <p:nvSpPr>
              <p:cNvPr id="30" name="AutoShape 33">
                <a:extLst>
                  <a:ext uri="{FF2B5EF4-FFF2-40B4-BE49-F238E27FC236}">
                    <a16:creationId xmlns:a16="http://schemas.microsoft.com/office/drawing/2014/main" id="{B425D160-4278-4EB3-BB5E-9FD4696EA04A}"/>
                  </a:ext>
                </a:extLst>
              </p:cNvPr>
              <p:cNvSpPr>
                <a:spLocks noRot="1" noChangeAspect="1" noMove="1" noResize="1" noEditPoints="1" noAdjustHandles="1" noChangeArrowheads="1" noChangeShapeType="1" noTextEdit="1"/>
              </p:cNvSpPr>
              <p:nvPr/>
            </p:nvSpPr>
            <p:spPr bwMode="auto">
              <a:xfrm flipV="1">
                <a:off x="2699041" y="4137954"/>
                <a:ext cx="1600200" cy="609600"/>
              </a:xfrm>
              <a:prstGeom prst="wedgeRectCallout">
                <a:avLst>
                  <a:gd name="adj1" fmla="val -5755"/>
                  <a:gd name="adj2" fmla="val 133333"/>
                </a:avLst>
              </a:prstGeom>
              <a:blipFill>
                <a:blip r:embed="rId6"/>
                <a:stretch>
                  <a:fillRect l="-2247" b="-4124"/>
                </a:stretch>
              </a:blipFill>
              <a:ln w="28575"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1" name="Rectangle 34">
            <a:extLst>
              <a:ext uri="{FF2B5EF4-FFF2-40B4-BE49-F238E27FC236}">
                <a16:creationId xmlns:a16="http://schemas.microsoft.com/office/drawing/2014/main" id="{AAE779CA-3F9D-4986-A91C-CD4354481D80}"/>
              </a:ext>
            </a:extLst>
          </p:cNvPr>
          <p:cNvSpPr>
            <a:spLocks noChangeArrowheads="1"/>
          </p:cNvSpPr>
          <p:nvPr/>
        </p:nvSpPr>
        <p:spPr bwMode="auto">
          <a:xfrm>
            <a:off x="4375441" y="3680754"/>
            <a:ext cx="838200" cy="101784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6000" dirty="0">
                <a:solidFill>
                  <a:srgbClr val="FF0000"/>
                </a:solidFill>
                <a:ea typeface="华文楷体" panose="02010600040101010101" pitchFamily="2" charset="-122"/>
                <a:cs typeface="Times New Roman" panose="02020603050405020304" pitchFamily="18" charset="0"/>
              </a:rPr>
              <a:t>！</a:t>
            </a:r>
          </a:p>
        </p:txBody>
      </p:sp>
      <p:sp>
        <p:nvSpPr>
          <p:cNvPr id="32" name="Text Box 35">
            <a:extLst>
              <a:ext uri="{FF2B5EF4-FFF2-40B4-BE49-F238E27FC236}">
                <a16:creationId xmlns:a16="http://schemas.microsoft.com/office/drawing/2014/main" id="{71A8FF9F-848A-4F1E-B0D1-DD04ABDCB85B}"/>
              </a:ext>
            </a:extLst>
          </p:cNvPr>
          <p:cNvSpPr txBox="1">
            <a:spLocks noChangeArrowheads="1"/>
          </p:cNvSpPr>
          <p:nvPr/>
        </p:nvSpPr>
        <p:spPr bwMode="auto">
          <a:xfrm>
            <a:off x="1835442" y="2867954"/>
            <a:ext cx="1385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400">
                <a:solidFill>
                  <a:srgbClr val="000000"/>
                </a:solidFill>
                <a:ea typeface="华文楷体" panose="02010600040101010101" pitchFamily="2" charset="-122"/>
                <a:cs typeface="Times New Roman" panose="02020603050405020304" pitchFamily="18" charset="0"/>
              </a:rPr>
              <a:t>原子核</a:t>
            </a:r>
          </a:p>
        </p:txBody>
      </p:sp>
    </p:spTree>
    <p:extLst>
      <p:ext uri="{BB962C8B-B14F-4D97-AF65-F5344CB8AC3E}">
        <p14:creationId xmlns:p14="http://schemas.microsoft.com/office/powerpoint/2010/main" val="313272722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100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childTnLst>
                          </p:cTn>
                        </p:par>
                        <p:par>
                          <p:cTn id="28" fill="hold">
                            <p:stCondLst>
                              <p:cond delay="0"/>
                            </p:stCondLst>
                            <p:childTnLst>
                              <p:par>
                                <p:cTn id="29" presetID="19" presetClass="entr" presetSubtype="1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p:cTn id="31" dur="5000" fill="hold"/>
                                        <p:tgtEl>
                                          <p:spTgt spid="29"/>
                                        </p:tgtEl>
                                        <p:attrNameLst>
                                          <p:attrName>ppt_w</p:attrName>
                                        </p:attrNameLst>
                                      </p:cBhvr>
                                      <p:tavLst>
                                        <p:tav tm="0" fmla="#ppt_w*sin(2.5*pi*$)">
                                          <p:val>
                                            <p:fltVal val="0"/>
                                          </p:val>
                                        </p:tav>
                                        <p:tav tm="100000">
                                          <p:val>
                                            <p:fltVal val="1"/>
                                          </p:val>
                                        </p:tav>
                                      </p:tavLst>
                                    </p:anim>
                                    <p:anim calcmode="lin" valueType="num">
                                      <p:cBhvr>
                                        <p:cTn id="32" dur="50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100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autoUpdateAnimBg="0"/>
      <p:bldP spid="26" grpId="0" autoUpdateAnimBg="0"/>
      <p:bldP spid="27" grpId="0" animBg="1" autoUpdateAnimBg="0"/>
      <p:bldP spid="28" grpId="0" autoUpdateAnimBg="0"/>
      <p:bldP spid="29" grpId="0" autoUpdateAnimBg="0"/>
      <p:bldP spid="30" grpId="0" animBg="1" autoUpdateAnimBg="0"/>
      <p:bldP spid="31" grpId="0" animBg="1" autoUpdateAnimBg="0"/>
      <p:bldP spid="3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636AE8E-2023-4CDF-89C9-930CBA381516}"/>
              </a:ext>
            </a:extLst>
          </p:cNvPr>
          <p:cNvSpPr txBox="1"/>
          <p:nvPr/>
        </p:nvSpPr>
        <p:spPr>
          <a:xfrm>
            <a:off x="2416629" y="2694214"/>
            <a:ext cx="6645729" cy="646331"/>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电荷之间是如何发生相互作用的？</a:t>
            </a:r>
            <a:endParaRPr lang="en-US" sz="36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2383560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1197740" y="2531116"/>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800" dirty="0">
              <a:latin typeface="华文楷体" panose="02010600040101010101" pitchFamily="2" charset="-122"/>
              <a:ea typeface="华文楷体" panose="02010600040101010101" pitchFamily="2" charset="-122"/>
            </a:endParaRPr>
          </a:p>
        </p:txBody>
      </p:sp>
      <p:sp>
        <p:nvSpPr>
          <p:cNvPr id="64" name="Text Box 18">
            <a:extLst>
              <a:ext uri="{FF2B5EF4-FFF2-40B4-BE49-F238E27FC236}">
                <a16:creationId xmlns:a16="http://schemas.microsoft.com/office/drawing/2014/main" id="{0958061F-06CF-4EC6-BC7B-461FB85E96D8}"/>
              </a:ext>
            </a:extLst>
          </p:cNvPr>
          <p:cNvSpPr txBox="1">
            <a:spLocks noChangeArrowheads="1"/>
          </p:cNvSpPr>
          <p:nvPr/>
        </p:nvSpPr>
        <p:spPr bwMode="auto">
          <a:xfrm>
            <a:off x="1443466" y="1742232"/>
            <a:ext cx="581059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早期：</a:t>
            </a:r>
            <a:r>
              <a:rPr lang="zh-CN" altLang="en-US" sz="2800" dirty="0">
                <a:solidFill>
                  <a:srgbClr val="FF0000"/>
                </a:solidFill>
                <a:latin typeface="华文楷体" panose="02010600040101010101" pitchFamily="2" charset="-122"/>
                <a:ea typeface="华文楷体" panose="02010600040101010101" pitchFamily="2" charset="-122"/>
              </a:rPr>
              <a:t>超距</a:t>
            </a:r>
            <a:r>
              <a:rPr lang="zh-CN" altLang="en-US" sz="2800" dirty="0">
                <a:solidFill>
                  <a:schemeClr val="tx1"/>
                </a:solidFill>
                <a:latin typeface="华文楷体" panose="02010600040101010101" pitchFamily="2" charset="-122"/>
                <a:ea typeface="华文楷体" panose="02010600040101010101" pitchFamily="2" charset="-122"/>
              </a:rPr>
              <a:t>作用</a:t>
            </a:r>
          </a:p>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后来</a:t>
            </a:r>
            <a:r>
              <a:rPr lang="en-US" altLang="zh-CN" sz="2800" dirty="0">
                <a:solidFill>
                  <a:schemeClr val="tx1"/>
                </a:solidFill>
                <a:latin typeface="华文楷体" panose="02010600040101010101" pitchFamily="2" charset="-122"/>
                <a:ea typeface="华文楷体" panose="02010600040101010101" pitchFamily="2" charset="-122"/>
              </a:rPr>
              <a:t>:  </a:t>
            </a:r>
            <a:r>
              <a:rPr lang="zh-CN" altLang="en-US" sz="2800" dirty="0">
                <a:solidFill>
                  <a:schemeClr val="tx1"/>
                </a:solidFill>
                <a:latin typeface="华文楷体" panose="02010600040101010101" pitchFamily="2" charset="-122"/>
                <a:ea typeface="华文楷体" panose="02010600040101010101" pitchFamily="2" charset="-122"/>
              </a:rPr>
              <a:t>法拉第提出</a:t>
            </a:r>
            <a:r>
              <a:rPr lang="zh-CN" altLang="en-US" sz="2800" dirty="0">
                <a:solidFill>
                  <a:srgbClr val="FF0000"/>
                </a:solidFill>
                <a:latin typeface="华文楷体" panose="02010600040101010101" pitchFamily="2" charset="-122"/>
                <a:ea typeface="华文楷体" panose="02010600040101010101" pitchFamily="2" charset="-122"/>
              </a:rPr>
              <a:t>近距</a:t>
            </a:r>
            <a:r>
              <a:rPr lang="zh-CN" altLang="en-US" sz="2800" dirty="0">
                <a:solidFill>
                  <a:schemeClr val="tx1"/>
                </a:solidFill>
                <a:latin typeface="华文楷体" panose="02010600040101010101" pitchFamily="2" charset="-122"/>
                <a:ea typeface="华文楷体" panose="02010600040101010101" pitchFamily="2" charset="-122"/>
              </a:rPr>
              <a:t>作用</a:t>
            </a:r>
          </a:p>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     并提出</a:t>
            </a:r>
            <a:r>
              <a:rPr lang="zh-CN" altLang="en-US" sz="2800" dirty="0">
                <a:solidFill>
                  <a:srgbClr val="0000CC"/>
                </a:solidFill>
                <a:latin typeface="华文楷体" panose="02010600040101010101" pitchFamily="2" charset="-122"/>
                <a:ea typeface="华文楷体" panose="02010600040101010101" pitchFamily="2" charset="-122"/>
              </a:rPr>
              <a:t>力线</a:t>
            </a:r>
            <a:r>
              <a:rPr lang="zh-CN" altLang="en-US" sz="2800" dirty="0">
                <a:solidFill>
                  <a:schemeClr val="tx1"/>
                </a:solidFill>
                <a:latin typeface="华文楷体" panose="02010600040101010101" pitchFamily="2" charset="-122"/>
                <a:ea typeface="华文楷体" panose="02010600040101010101" pitchFamily="2" charset="-122"/>
              </a:rPr>
              <a:t>和</a:t>
            </a:r>
            <a:r>
              <a:rPr lang="zh-CN" altLang="en-US" sz="2800" dirty="0">
                <a:solidFill>
                  <a:srgbClr val="0000CC"/>
                </a:solidFill>
                <a:latin typeface="华文楷体" panose="02010600040101010101" pitchFamily="2" charset="-122"/>
                <a:ea typeface="华文楷体" panose="02010600040101010101" pitchFamily="2" charset="-122"/>
              </a:rPr>
              <a:t>场</a:t>
            </a:r>
            <a:r>
              <a:rPr lang="zh-CN" altLang="en-US" sz="2800" dirty="0">
                <a:solidFill>
                  <a:schemeClr val="tx1"/>
                </a:solidFill>
                <a:latin typeface="华文楷体" panose="02010600040101010101" pitchFamily="2" charset="-122"/>
                <a:ea typeface="华文楷体" panose="02010600040101010101" pitchFamily="2" charset="-122"/>
              </a:rPr>
              <a:t>的概念</a:t>
            </a:r>
          </a:p>
        </p:txBody>
      </p:sp>
      <p:sp>
        <p:nvSpPr>
          <p:cNvPr id="65" name="Text Box 20">
            <a:extLst>
              <a:ext uri="{FF2B5EF4-FFF2-40B4-BE49-F238E27FC236}">
                <a16:creationId xmlns:a16="http://schemas.microsoft.com/office/drawing/2014/main" id="{E931B6B4-E5A4-4408-8C11-0FBF9474928D}"/>
              </a:ext>
            </a:extLst>
          </p:cNvPr>
          <p:cNvSpPr txBox="1">
            <a:spLocks noChangeArrowheads="1"/>
          </p:cNvSpPr>
          <p:nvPr/>
        </p:nvSpPr>
        <p:spPr bwMode="auto">
          <a:xfrm>
            <a:off x="7019335" y="3194959"/>
            <a:ext cx="4439331"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rPr>
              <a:t>电荷在其周围产生电场。</a:t>
            </a:r>
            <a:endParaRPr lang="zh-CN" altLang="en-US" sz="2800" dirty="0">
              <a:solidFill>
                <a:srgbClr val="0000CC"/>
              </a:solidFill>
              <a:latin typeface="华文楷体" panose="02010600040101010101" pitchFamily="2" charset="-122"/>
              <a:ea typeface="华文楷体" panose="02010600040101010101" pitchFamily="2" charset="-122"/>
            </a:endParaRPr>
          </a:p>
          <a:p>
            <a:pPr>
              <a:spcBef>
                <a:spcPct val="50000"/>
              </a:spcBef>
            </a:pPr>
            <a:r>
              <a:rPr lang="zh-CN" altLang="en-US" sz="2800" dirty="0">
                <a:solidFill>
                  <a:schemeClr val="tx1"/>
                </a:solidFill>
                <a:latin typeface="华文楷体" panose="02010600040101010101" pitchFamily="2" charset="-122"/>
                <a:ea typeface="华文楷体" panose="02010600040101010101" pitchFamily="2" charset="-122"/>
                <a:sym typeface="Monotype Sorts" pitchFamily="2" charset="2"/>
              </a:rPr>
              <a:t>电荷在电场中受力</a:t>
            </a:r>
          </a:p>
        </p:txBody>
      </p:sp>
      <p:pic>
        <p:nvPicPr>
          <p:cNvPr id="9" name="图片 8">
            <a:extLst>
              <a:ext uri="{FF2B5EF4-FFF2-40B4-BE49-F238E27FC236}">
                <a16:creationId xmlns:a16="http://schemas.microsoft.com/office/drawing/2014/main" id="{616922DC-458E-4A5D-AB29-4D2767F4E2FA}"/>
              </a:ext>
            </a:extLst>
          </p:cNvPr>
          <p:cNvPicPr>
            <a:picLocks noChangeAspect="1"/>
          </p:cNvPicPr>
          <p:nvPr/>
        </p:nvPicPr>
        <p:blipFill rotWithShape="1">
          <a:blip r:embed="rId3"/>
          <a:srcRect t="16255"/>
          <a:stretch/>
        </p:blipFill>
        <p:spPr>
          <a:xfrm>
            <a:off x="3578008" y="3856679"/>
            <a:ext cx="3309938" cy="886507"/>
          </a:xfrm>
          <a:prstGeom prst="rect">
            <a:avLst/>
          </a:prstGeom>
        </p:spPr>
      </p:pic>
      <p:grpSp>
        <p:nvGrpSpPr>
          <p:cNvPr id="10" name="Group 4">
            <a:extLst>
              <a:ext uri="{FF2B5EF4-FFF2-40B4-BE49-F238E27FC236}">
                <a16:creationId xmlns:a16="http://schemas.microsoft.com/office/drawing/2014/main" id="{1D5806B9-4D74-4ABB-839F-1264CDE5B46A}"/>
              </a:ext>
            </a:extLst>
          </p:cNvPr>
          <p:cNvGrpSpPr>
            <a:grpSpLocks/>
          </p:cNvGrpSpPr>
          <p:nvPr/>
        </p:nvGrpSpPr>
        <p:grpSpPr bwMode="auto">
          <a:xfrm>
            <a:off x="1719631" y="4848378"/>
            <a:ext cx="7273925" cy="914400"/>
            <a:chOff x="864" y="1248"/>
            <a:chExt cx="3984" cy="576"/>
          </a:xfrm>
        </p:grpSpPr>
        <p:sp>
          <p:nvSpPr>
            <p:cNvPr id="12" name="Text Box 5">
              <a:extLst>
                <a:ext uri="{FF2B5EF4-FFF2-40B4-BE49-F238E27FC236}">
                  <a16:creationId xmlns:a16="http://schemas.microsoft.com/office/drawing/2014/main" id="{785C9D9F-2795-4FFC-82F2-C5C5A371D303}"/>
                </a:ext>
              </a:extLst>
            </p:cNvPr>
            <p:cNvSpPr txBox="1">
              <a:spLocks noChangeArrowheads="1"/>
            </p:cNvSpPr>
            <p:nvPr/>
          </p:nvSpPr>
          <p:spPr bwMode="auto">
            <a:xfrm>
              <a:off x="864"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p:sp>
          <p:nvSpPr>
            <p:cNvPr id="13" name="AutoShape 6">
              <a:extLst>
                <a:ext uri="{FF2B5EF4-FFF2-40B4-BE49-F238E27FC236}">
                  <a16:creationId xmlns:a16="http://schemas.microsoft.com/office/drawing/2014/main" id="{8775318D-2886-48AB-ACEC-E1FC270BC242}"/>
                </a:ext>
              </a:extLst>
            </p:cNvPr>
            <p:cNvSpPr>
              <a:spLocks noChangeArrowheads="1"/>
            </p:cNvSpPr>
            <p:nvPr/>
          </p:nvSpPr>
          <p:spPr bwMode="auto">
            <a:xfrm>
              <a:off x="1776"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4" name="AutoShape 7">
              <a:extLst>
                <a:ext uri="{FF2B5EF4-FFF2-40B4-BE49-F238E27FC236}">
                  <a16:creationId xmlns:a16="http://schemas.microsoft.com/office/drawing/2014/main" id="{A6316F93-84E6-4251-8DE1-B7BBE9A18926}"/>
                </a:ext>
              </a:extLst>
            </p:cNvPr>
            <p:cNvSpPr>
              <a:spLocks noChangeArrowheads="1"/>
            </p:cNvSpPr>
            <p:nvPr/>
          </p:nvSpPr>
          <p:spPr bwMode="auto">
            <a:xfrm>
              <a:off x="1728"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5" name="AutoShape 8">
              <a:extLst>
                <a:ext uri="{FF2B5EF4-FFF2-40B4-BE49-F238E27FC236}">
                  <a16:creationId xmlns:a16="http://schemas.microsoft.com/office/drawing/2014/main" id="{A45890B8-F225-46A4-BF4D-E118BDC9740F}"/>
                </a:ext>
              </a:extLst>
            </p:cNvPr>
            <p:cNvSpPr>
              <a:spLocks noChangeArrowheads="1"/>
            </p:cNvSpPr>
            <p:nvPr/>
          </p:nvSpPr>
          <p:spPr bwMode="auto">
            <a:xfrm>
              <a:off x="3408"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6" name="AutoShape 9">
              <a:extLst>
                <a:ext uri="{FF2B5EF4-FFF2-40B4-BE49-F238E27FC236}">
                  <a16:creationId xmlns:a16="http://schemas.microsoft.com/office/drawing/2014/main" id="{D28ED046-0644-49B9-9081-8BCB54BF207D}"/>
                </a:ext>
              </a:extLst>
            </p:cNvPr>
            <p:cNvSpPr>
              <a:spLocks noChangeArrowheads="1"/>
            </p:cNvSpPr>
            <p:nvPr/>
          </p:nvSpPr>
          <p:spPr bwMode="auto">
            <a:xfrm>
              <a:off x="3360"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7" name="Oval 10">
              <a:extLst>
                <a:ext uri="{FF2B5EF4-FFF2-40B4-BE49-F238E27FC236}">
                  <a16:creationId xmlns:a16="http://schemas.microsoft.com/office/drawing/2014/main" id="{2902F1DB-17A2-4A8A-9E09-F1ED2F5A0295}"/>
                </a:ext>
              </a:extLst>
            </p:cNvPr>
            <p:cNvSpPr>
              <a:spLocks noChangeArrowheads="1"/>
            </p:cNvSpPr>
            <p:nvPr/>
          </p:nvSpPr>
          <p:spPr bwMode="auto">
            <a:xfrm>
              <a:off x="2448" y="1248"/>
              <a:ext cx="816" cy="576"/>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800" dirty="0">
                  <a:solidFill>
                    <a:srgbClr val="BD240F"/>
                  </a:solidFill>
                  <a:latin typeface="华文楷体" panose="02010600040101010101" pitchFamily="2" charset="-122"/>
                  <a:ea typeface="华文楷体" panose="02010600040101010101" pitchFamily="2" charset="-122"/>
                </a:rPr>
                <a:t>电 场</a:t>
              </a:r>
            </a:p>
          </p:txBody>
        </p:sp>
        <p:sp>
          <p:nvSpPr>
            <p:cNvPr id="18" name="Text Box 11">
              <a:extLst>
                <a:ext uri="{FF2B5EF4-FFF2-40B4-BE49-F238E27FC236}">
                  <a16:creationId xmlns:a16="http://schemas.microsoft.com/office/drawing/2014/main" id="{EB3B2FD7-6778-4A3C-AB22-543BF1E5EDA1}"/>
                </a:ext>
              </a:extLst>
            </p:cNvPr>
            <p:cNvSpPr txBox="1">
              <a:spLocks noChangeArrowheads="1"/>
            </p:cNvSpPr>
            <p:nvPr/>
          </p:nvSpPr>
          <p:spPr bwMode="auto">
            <a:xfrm>
              <a:off x="4080"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p:grpSp>
      <p:sp>
        <p:nvSpPr>
          <p:cNvPr id="2" name="标题 5">
            <a:extLst>
              <a:ext uri="{FF2B5EF4-FFF2-40B4-BE49-F238E27FC236}">
                <a16:creationId xmlns:a16="http://schemas.microsoft.com/office/drawing/2014/main" id="{DB0420A3-4C65-DCD9-1E5A-53D68F419989}"/>
              </a:ext>
            </a:extLst>
          </p:cNvPr>
          <p:cNvSpPr txBox="1">
            <a:spLocks/>
          </p:cNvSpPr>
          <p:nvPr/>
        </p:nvSpPr>
        <p:spPr>
          <a:xfrm>
            <a:off x="576943" y="762495"/>
            <a:ext cx="4117522" cy="569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电场</a:t>
            </a:r>
          </a:p>
        </p:txBody>
      </p:sp>
    </p:spTree>
    <p:extLst>
      <p:ext uri="{BB962C8B-B14F-4D97-AF65-F5344CB8AC3E}">
        <p14:creationId xmlns:p14="http://schemas.microsoft.com/office/powerpoint/2010/main" val="320631276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autoUpdateAnimBg="0"/>
      <p:bldP spid="6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616922DC-458E-4A5D-AB29-4D2767F4E2FA}"/>
              </a:ext>
            </a:extLst>
          </p:cNvPr>
          <p:cNvPicPr>
            <a:picLocks noChangeAspect="1"/>
          </p:cNvPicPr>
          <p:nvPr/>
        </p:nvPicPr>
        <p:blipFill rotWithShape="1">
          <a:blip r:embed="rId3"/>
          <a:srcRect t="16255"/>
          <a:stretch/>
        </p:blipFill>
        <p:spPr>
          <a:xfrm>
            <a:off x="3765767" y="1332165"/>
            <a:ext cx="3309938" cy="886507"/>
          </a:xfrm>
          <a:prstGeom prst="rect">
            <a:avLst/>
          </a:prstGeom>
        </p:spPr>
      </p:pic>
      <p:grpSp>
        <p:nvGrpSpPr>
          <p:cNvPr id="10" name="Group 4">
            <a:extLst>
              <a:ext uri="{FF2B5EF4-FFF2-40B4-BE49-F238E27FC236}">
                <a16:creationId xmlns:a16="http://schemas.microsoft.com/office/drawing/2014/main" id="{1D5806B9-4D74-4ABB-839F-1264CDE5B46A}"/>
              </a:ext>
            </a:extLst>
          </p:cNvPr>
          <p:cNvGrpSpPr>
            <a:grpSpLocks/>
          </p:cNvGrpSpPr>
          <p:nvPr/>
        </p:nvGrpSpPr>
        <p:grpSpPr bwMode="auto">
          <a:xfrm>
            <a:off x="1907390" y="2323864"/>
            <a:ext cx="7273925" cy="914400"/>
            <a:chOff x="864" y="1248"/>
            <a:chExt cx="3984" cy="576"/>
          </a:xfrm>
        </p:grpSpPr>
        <p:sp>
          <p:nvSpPr>
            <p:cNvPr id="12" name="Text Box 5">
              <a:extLst>
                <a:ext uri="{FF2B5EF4-FFF2-40B4-BE49-F238E27FC236}">
                  <a16:creationId xmlns:a16="http://schemas.microsoft.com/office/drawing/2014/main" id="{785C9D9F-2795-4FFC-82F2-C5C5A371D303}"/>
                </a:ext>
              </a:extLst>
            </p:cNvPr>
            <p:cNvSpPr txBox="1">
              <a:spLocks noChangeArrowheads="1"/>
            </p:cNvSpPr>
            <p:nvPr/>
          </p:nvSpPr>
          <p:spPr bwMode="auto">
            <a:xfrm>
              <a:off x="864"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p:sp>
          <p:nvSpPr>
            <p:cNvPr id="13" name="AutoShape 6">
              <a:extLst>
                <a:ext uri="{FF2B5EF4-FFF2-40B4-BE49-F238E27FC236}">
                  <a16:creationId xmlns:a16="http://schemas.microsoft.com/office/drawing/2014/main" id="{8775318D-2886-48AB-ACEC-E1FC270BC242}"/>
                </a:ext>
              </a:extLst>
            </p:cNvPr>
            <p:cNvSpPr>
              <a:spLocks noChangeArrowheads="1"/>
            </p:cNvSpPr>
            <p:nvPr/>
          </p:nvSpPr>
          <p:spPr bwMode="auto">
            <a:xfrm>
              <a:off x="1776"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4" name="AutoShape 7">
              <a:extLst>
                <a:ext uri="{FF2B5EF4-FFF2-40B4-BE49-F238E27FC236}">
                  <a16:creationId xmlns:a16="http://schemas.microsoft.com/office/drawing/2014/main" id="{A6316F93-84E6-4251-8DE1-B7BBE9A18926}"/>
                </a:ext>
              </a:extLst>
            </p:cNvPr>
            <p:cNvSpPr>
              <a:spLocks noChangeArrowheads="1"/>
            </p:cNvSpPr>
            <p:nvPr/>
          </p:nvSpPr>
          <p:spPr bwMode="auto">
            <a:xfrm>
              <a:off x="1728"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5" name="AutoShape 8">
              <a:extLst>
                <a:ext uri="{FF2B5EF4-FFF2-40B4-BE49-F238E27FC236}">
                  <a16:creationId xmlns:a16="http://schemas.microsoft.com/office/drawing/2014/main" id="{A45890B8-F225-46A4-BF4D-E118BDC9740F}"/>
                </a:ext>
              </a:extLst>
            </p:cNvPr>
            <p:cNvSpPr>
              <a:spLocks noChangeArrowheads="1"/>
            </p:cNvSpPr>
            <p:nvPr/>
          </p:nvSpPr>
          <p:spPr bwMode="auto">
            <a:xfrm>
              <a:off x="3408" y="1344"/>
              <a:ext cx="576" cy="192"/>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6" name="AutoShape 9">
              <a:extLst>
                <a:ext uri="{FF2B5EF4-FFF2-40B4-BE49-F238E27FC236}">
                  <a16:creationId xmlns:a16="http://schemas.microsoft.com/office/drawing/2014/main" id="{D28ED046-0644-49B9-9081-8BCB54BF207D}"/>
                </a:ext>
              </a:extLst>
            </p:cNvPr>
            <p:cNvSpPr>
              <a:spLocks noChangeArrowheads="1"/>
            </p:cNvSpPr>
            <p:nvPr/>
          </p:nvSpPr>
          <p:spPr bwMode="auto">
            <a:xfrm>
              <a:off x="3360" y="1536"/>
              <a:ext cx="576" cy="192"/>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17" name="Oval 10">
              <a:extLst>
                <a:ext uri="{FF2B5EF4-FFF2-40B4-BE49-F238E27FC236}">
                  <a16:creationId xmlns:a16="http://schemas.microsoft.com/office/drawing/2014/main" id="{2902F1DB-17A2-4A8A-9E09-F1ED2F5A0295}"/>
                </a:ext>
              </a:extLst>
            </p:cNvPr>
            <p:cNvSpPr>
              <a:spLocks noChangeArrowheads="1"/>
            </p:cNvSpPr>
            <p:nvPr/>
          </p:nvSpPr>
          <p:spPr bwMode="auto">
            <a:xfrm>
              <a:off x="2448" y="1248"/>
              <a:ext cx="816" cy="576"/>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2800" dirty="0">
                  <a:solidFill>
                    <a:srgbClr val="BD240F"/>
                  </a:solidFill>
                  <a:latin typeface="华文楷体" panose="02010600040101010101" pitchFamily="2" charset="-122"/>
                  <a:ea typeface="华文楷体" panose="02010600040101010101" pitchFamily="2" charset="-122"/>
                </a:rPr>
                <a:t>电 场</a:t>
              </a:r>
            </a:p>
          </p:txBody>
        </p:sp>
        <p:sp>
          <p:nvSpPr>
            <p:cNvPr id="18" name="Text Box 11">
              <a:extLst>
                <a:ext uri="{FF2B5EF4-FFF2-40B4-BE49-F238E27FC236}">
                  <a16:creationId xmlns:a16="http://schemas.microsoft.com/office/drawing/2014/main" id="{EB3B2FD7-6778-4A3C-AB22-543BF1E5EDA1}"/>
                </a:ext>
              </a:extLst>
            </p:cNvPr>
            <p:cNvSpPr txBox="1">
              <a:spLocks noChangeArrowheads="1"/>
            </p:cNvSpPr>
            <p:nvPr/>
          </p:nvSpPr>
          <p:spPr bwMode="auto">
            <a:xfrm>
              <a:off x="4080" y="1344"/>
              <a:ext cx="768" cy="330"/>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华文楷体" panose="02010600040101010101" pitchFamily="2" charset="-122"/>
                  <a:ea typeface="华文楷体" panose="02010600040101010101" pitchFamily="2" charset="-122"/>
                </a:rPr>
                <a:t>电 荷</a:t>
              </a:r>
            </a:p>
          </p:txBody>
        </p:sp>
      </p:grpSp>
      <p:sp>
        <p:nvSpPr>
          <p:cNvPr id="3" name="文本框 2">
            <a:extLst>
              <a:ext uri="{FF2B5EF4-FFF2-40B4-BE49-F238E27FC236}">
                <a16:creationId xmlns:a16="http://schemas.microsoft.com/office/drawing/2014/main" id="{B115BA13-D8C4-4D64-8320-7DE6A0943FC7}"/>
              </a:ext>
            </a:extLst>
          </p:cNvPr>
          <p:cNvSpPr txBox="1"/>
          <p:nvPr/>
        </p:nvSpPr>
        <p:spPr>
          <a:xfrm>
            <a:off x="3882946" y="4921602"/>
            <a:ext cx="4249462" cy="1384995"/>
          </a:xfrm>
          <a:prstGeom prst="rect">
            <a:avLst/>
          </a:prstGeom>
          <a:noFill/>
        </p:spPr>
        <p:txBody>
          <a:bodyPr wrap="square" rtlCol="0">
            <a:spAutoFit/>
          </a:bodyPr>
          <a:lstStyle/>
          <a:p>
            <a:r>
              <a:rPr lang="zh-CN" altLang="en-US" sz="2800" dirty="0">
                <a:solidFill>
                  <a:srgbClr val="0066FF"/>
                </a:solidFill>
                <a:latin typeface="华文楷体" panose="02010600040101010101" pitchFamily="2" charset="-122"/>
                <a:ea typeface="华文楷体" panose="02010600040101010101" pitchFamily="2" charset="-122"/>
              </a:rPr>
              <a:t>电场是物质吗？</a:t>
            </a:r>
            <a:endParaRPr lang="en-US" altLang="zh-CN" sz="2800" dirty="0">
              <a:solidFill>
                <a:srgbClr val="0066FF"/>
              </a:solidFill>
              <a:latin typeface="华文楷体" panose="02010600040101010101" pitchFamily="2" charset="-122"/>
              <a:ea typeface="华文楷体" panose="02010600040101010101" pitchFamily="2" charset="-122"/>
            </a:endParaRPr>
          </a:p>
          <a:p>
            <a:endParaRPr lang="en-US" altLang="zh-CN" sz="2800" dirty="0">
              <a:solidFill>
                <a:srgbClr val="0066FF"/>
              </a:solidFill>
              <a:latin typeface="华文楷体" panose="02010600040101010101" pitchFamily="2" charset="-122"/>
              <a:ea typeface="华文楷体" panose="02010600040101010101" pitchFamily="2" charset="-122"/>
            </a:endParaRPr>
          </a:p>
          <a:p>
            <a:r>
              <a:rPr lang="zh-CN" altLang="en-US" sz="2800" dirty="0">
                <a:solidFill>
                  <a:srgbClr val="0066FF"/>
                </a:solidFill>
                <a:latin typeface="华文楷体" panose="02010600040101010101" pitchFamily="2" charset="-122"/>
                <a:ea typeface="华文楷体" panose="02010600040101010101" pitchFamily="2" charset="-122"/>
              </a:rPr>
              <a:t>电场有能量吗？</a:t>
            </a:r>
            <a:endParaRPr lang="en-US" sz="2800" dirty="0">
              <a:solidFill>
                <a:srgbClr val="0066FF"/>
              </a:solidFill>
              <a:latin typeface="华文楷体" panose="02010600040101010101" pitchFamily="2" charset="-122"/>
              <a:ea typeface="华文楷体" panose="02010600040101010101" pitchFamily="2" charset="-122"/>
            </a:endParaRPr>
          </a:p>
        </p:txBody>
      </p:sp>
      <p:sp>
        <p:nvSpPr>
          <p:cNvPr id="19" name="内容占位符 7">
            <a:extLst>
              <a:ext uri="{FF2B5EF4-FFF2-40B4-BE49-F238E27FC236}">
                <a16:creationId xmlns:a16="http://schemas.microsoft.com/office/drawing/2014/main" id="{C29E7E93-5BF0-4267-A1CB-9BD8A8155A07}"/>
              </a:ext>
            </a:extLst>
          </p:cNvPr>
          <p:cNvSpPr txBox="1">
            <a:spLocks/>
          </p:cNvSpPr>
          <p:nvPr/>
        </p:nvSpPr>
        <p:spPr>
          <a:xfrm>
            <a:off x="1535843" y="3742063"/>
            <a:ext cx="9506858" cy="960464"/>
          </a:xfrm>
          <a:prstGeom prst="rect">
            <a:avLst/>
          </a:prstGeom>
          <a:solidFill>
            <a:schemeClr val="bg1"/>
          </a:solidFill>
          <a:ln>
            <a:solidFill>
              <a:schemeClr val="bg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E48312"/>
              </a:buClr>
              <a:buNone/>
            </a:pPr>
            <a:r>
              <a:rPr lang="zh-CN" altLang="en-US" dirty="0">
                <a:solidFill>
                  <a:srgbClr val="FF0000"/>
                </a:solidFill>
                <a:latin typeface="华文楷体" panose="02010600040101010101" pitchFamily="2" charset="-122"/>
                <a:ea typeface="华文楷体" panose="02010600040101010101" pitchFamily="2" charset="-122"/>
              </a:rPr>
              <a:t>静电场</a:t>
            </a:r>
            <a:r>
              <a:rPr lang="zh-CN" altLang="en-US" dirty="0">
                <a:solidFill>
                  <a:srgbClr val="000000"/>
                </a:solidFill>
                <a:latin typeface="华文楷体" panose="02010600040101010101" pitchFamily="2" charset="-122"/>
                <a:ea typeface="华文楷体" panose="02010600040101010101" pitchFamily="2" charset="-122"/>
              </a:rPr>
              <a:t>：静止电荷在其周围所激发的电场，是电磁场的一种特殊情况。</a:t>
            </a:r>
            <a:endParaRPr lang="zh-CN" altLang="en-US" dirty="0">
              <a:latin typeface="华文楷体" panose="02010600040101010101" pitchFamily="2" charset="-122"/>
              <a:ea typeface="华文楷体" panose="02010600040101010101" pitchFamily="2" charset="-122"/>
            </a:endParaRPr>
          </a:p>
        </p:txBody>
      </p:sp>
      <p:sp>
        <p:nvSpPr>
          <p:cNvPr id="2" name="标题 5">
            <a:extLst>
              <a:ext uri="{FF2B5EF4-FFF2-40B4-BE49-F238E27FC236}">
                <a16:creationId xmlns:a16="http://schemas.microsoft.com/office/drawing/2014/main" id="{DB0420A3-4C65-DCD9-1E5A-53D68F419989}"/>
              </a:ext>
            </a:extLst>
          </p:cNvPr>
          <p:cNvSpPr txBox="1">
            <a:spLocks/>
          </p:cNvSpPr>
          <p:nvPr/>
        </p:nvSpPr>
        <p:spPr>
          <a:xfrm>
            <a:off x="576943" y="762495"/>
            <a:ext cx="4117522" cy="569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电场</a:t>
            </a:r>
          </a:p>
        </p:txBody>
      </p:sp>
      <p:pic>
        <p:nvPicPr>
          <p:cNvPr id="1026" name="Picture 2" descr="enter image description here">
            <a:extLst>
              <a:ext uri="{FF2B5EF4-FFF2-40B4-BE49-F238E27FC236}">
                <a16:creationId xmlns:a16="http://schemas.microsoft.com/office/drawing/2014/main" id="{000931AF-8BAB-B57A-8AB9-065984692E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4668" y="4302656"/>
            <a:ext cx="2892043" cy="2503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8625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576943" y="244633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pic>
        <p:nvPicPr>
          <p:cNvPr id="18" name="图片 17">
            <a:extLst>
              <a:ext uri="{FF2B5EF4-FFF2-40B4-BE49-F238E27FC236}">
                <a16:creationId xmlns:a16="http://schemas.microsoft.com/office/drawing/2014/main" id="{D438E7E0-7317-4543-B4A2-BCE74F8709AB}"/>
              </a:ext>
            </a:extLst>
          </p:cNvPr>
          <p:cNvPicPr>
            <a:picLocks noChangeAspect="1"/>
          </p:cNvPicPr>
          <p:nvPr/>
        </p:nvPicPr>
        <p:blipFill rotWithShape="1">
          <a:blip r:embed="rId3"/>
          <a:srcRect l="38170" r="6922" b="67707"/>
          <a:stretch/>
        </p:blipFill>
        <p:spPr>
          <a:xfrm>
            <a:off x="527681" y="1954788"/>
            <a:ext cx="2637168" cy="2587449"/>
          </a:xfrm>
          <a:prstGeom prst="rect">
            <a:avLst/>
          </a:prstGeom>
          <a:ln>
            <a:noFill/>
          </a:ln>
          <a:effectLst>
            <a:softEdge rad="112500"/>
          </a:effectLst>
        </p:spPr>
      </p:pic>
      <p:sp>
        <p:nvSpPr>
          <p:cNvPr id="19" name="标题 5">
            <a:extLst>
              <a:ext uri="{FF2B5EF4-FFF2-40B4-BE49-F238E27FC236}">
                <a16:creationId xmlns:a16="http://schemas.microsoft.com/office/drawing/2014/main" id="{1EC81F4C-B434-4B6F-AE3F-0DE36534F8AB}"/>
              </a:ext>
            </a:extLst>
          </p:cNvPr>
          <p:cNvSpPr txBox="1">
            <a:spLocks/>
          </p:cNvSpPr>
          <p:nvPr/>
        </p:nvSpPr>
        <p:spPr>
          <a:xfrm>
            <a:off x="576943" y="762495"/>
            <a:ext cx="4117522" cy="569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电场强度</a:t>
            </a:r>
          </a:p>
        </p:txBody>
      </p:sp>
      <mc:AlternateContent xmlns:mc="http://schemas.openxmlformats.org/markup-compatibility/2006" xmlns:a14="http://schemas.microsoft.com/office/drawing/2010/main">
        <mc:Choice Requires="a14">
          <p:sp>
            <p:nvSpPr>
              <p:cNvPr id="20" name="内容占位符 6">
                <a:extLst>
                  <a:ext uri="{FF2B5EF4-FFF2-40B4-BE49-F238E27FC236}">
                    <a16:creationId xmlns:a16="http://schemas.microsoft.com/office/drawing/2014/main" id="{643D6694-7D0B-4D67-91E1-8C826585305E}"/>
                  </a:ext>
                </a:extLst>
              </p:cNvPr>
              <p:cNvSpPr txBox="1">
                <a:spLocks/>
              </p:cNvSpPr>
              <p:nvPr/>
            </p:nvSpPr>
            <p:spPr>
              <a:xfrm>
                <a:off x="3305720" y="1307875"/>
                <a:ext cx="8446225" cy="18738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solidFill>
                      <a:srgbClr val="FF0000"/>
                    </a:solidFill>
                    <a:latin typeface="华文楷体" panose="02010600040101010101" pitchFamily="2" charset="-122"/>
                    <a:ea typeface="华文楷体" panose="02010600040101010101" pitchFamily="2" charset="-122"/>
                  </a:rPr>
                  <a:t>试验表明：</a:t>
                </a:r>
                <a:r>
                  <a:rPr lang="zh-CN" altLang="en-US" dirty="0">
                    <a:latin typeface="华文楷体" panose="02010600040101010101" pitchFamily="2" charset="-122"/>
                    <a:ea typeface="华文楷体" panose="02010600040101010101" pitchFamily="2" charset="-122"/>
                  </a:rPr>
                  <a:t>对于任一确定场点比值</a:t>
                </a:r>
                <a14:m>
                  <m:oMath xmlns:m="http://schemas.openxmlformats.org/officeDocument/2006/math">
                    <m:f>
                      <m:fPr>
                        <m:type m:val="lin"/>
                        <m:ctrlPr>
                          <a:rPr lang="zh-CN" altLang="en-US" i="1">
                            <a:latin typeface="Cambria Math" panose="02040503050406030204" pitchFamily="18" charset="0"/>
                            <a:ea typeface="华文新魏" panose="02010800040101010101" pitchFamily="2" charset="-122"/>
                          </a:rPr>
                        </m:ctrlPr>
                      </m:fPr>
                      <m:num>
                        <m:acc>
                          <m:accPr>
                            <m:chr m:val="⃗"/>
                            <m:ctrlPr>
                              <a:rPr lang="zh-CN" altLang="en-US" i="1">
                                <a:solidFill>
                                  <a:srgbClr val="000000"/>
                                </a:solidFill>
                                <a:latin typeface="Cambria Math" panose="02040503050406030204" pitchFamily="18" charset="0"/>
                                <a:ea typeface="华文新魏" panose="02010800040101010101" pitchFamily="2" charset="-122"/>
                              </a:rPr>
                            </m:ctrlPr>
                          </m:accPr>
                          <m:e>
                            <m:r>
                              <a:rPr lang="en-US" altLang="zh-CN" i="1">
                                <a:solidFill>
                                  <a:srgbClr val="000000"/>
                                </a:solidFill>
                                <a:latin typeface="Cambria Math" panose="02040503050406030204" pitchFamily="18" charset="0"/>
                                <a:ea typeface="华文新魏" panose="02010800040101010101" pitchFamily="2" charset="-122"/>
                              </a:rPr>
                              <m:t>𝑭</m:t>
                            </m:r>
                          </m:e>
                        </m:acc>
                      </m:num>
                      <m:den>
                        <m:r>
                          <a:rPr lang="en-US" altLang="zh-CN" i="1">
                            <a:latin typeface="Cambria Math" panose="02040503050406030204" pitchFamily="18" charset="0"/>
                            <a:ea typeface="华文新魏" panose="02010800040101010101" pitchFamily="2" charset="-122"/>
                          </a:rPr>
                          <m:t>𝒒</m:t>
                        </m:r>
                      </m:den>
                    </m:f>
                  </m:oMath>
                </a14:m>
                <a:r>
                  <a:rPr lang="zh-CN" altLang="en-US" dirty="0">
                    <a:latin typeface="华文楷体" panose="02010600040101010101" pitchFamily="2" charset="-122"/>
                    <a:ea typeface="华文楷体" panose="02010600040101010101" pitchFamily="2" charset="-122"/>
                  </a:rPr>
                  <a:t>，与检验电荷无关，反映了电场本身的性质，称之为</a:t>
                </a:r>
                <a:r>
                  <a:rPr lang="zh-CN" altLang="en-US" dirty="0">
                    <a:solidFill>
                      <a:srgbClr val="0066FF"/>
                    </a:solidFill>
                    <a:latin typeface="华文楷体" panose="02010600040101010101" pitchFamily="2" charset="-122"/>
                    <a:ea typeface="华文楷体" panose="02010600040101010101" pitchFamily="2" charset="-122"/>
                  </a:rPr>
                  <a:t>电场强度。</a:t>
                </a:r>
              </a:p>
            </p:txBody>
          </p:sp>
        </mc:Choice>
        <mc:Fallback xmlns="">
          <p:sp>
            <p:nvSpPr>
              <p:cNvPr id="20" name="内容占位符 6">
                <a:extLst>
                  <a:ext uri="{FF2B5EF4-FFF2-40B4-BE49-F238E27FC236}">
                    <a16:creationId xmlns:a16="http://schemas.microsoft.com/office/drawing/2014/main" id="{643D6694-7D0B-4D67-91E1-8C826585305E}"/>
                  </a:ext>
                </a:extLst>
              </p:cNvPr>
              <p:cNvSpPr txBox="1">
                <a:spLocks noRot="1" noChangeAspect="1" noMove="1" noResize="1" noEditPoints="1" noAdjustHandles="1" noChangeArrowheads="1" noChangeShapeType="1" noTextEdit="1"/>
              </p:cNvSpPr>
              <p:nvPr/>
            </p:nvSpPr>
            <p:spPr>
              <a:xfrm>
                <a:off x="3305720" y="1307875"/>
                <a:ext cx="8446225" cy="1873806"/>
              </a:xfrm>
              <a:prstGeom prst="rect">
                <a:avLst/>
              </a:prstGeom>
              <a:blipFill>
                <a:blip r:embed="rId4"/>
                <a:stretch>
                  <a:fillRect l="-1443" t="-2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 Box 32">
                <a:extLst>
                  <a:ext uri="{FF2B5EF4-FFF2-40B4-BE49-F238E27FC236}">
                    <a16:creationId xmlns:a16="http://schemas.microsoft.com/office/drawing/2014/main" id="{688B41C6-5F2C-4669-A627-03453E7198CE}"/>
                  </a:ext>
                </a:extLst>
              </p:cNvPr>
              <p:cNvSpPr txBox="1">
                <a:spLocks noChangeArrowheads="1"/>
              </p:cNvSpPr>
              <p:nvPr/>
            </p:nvSpPr>
            <p:spPr bwMode="auto">
              <a:xfrm>
                <a:off x="3453885" y="2373400"/>
                <a:ext cx="4347489" cy="3440942"/>
              </a:xfrm>
              <a:prstGeom prst="rect">
                <a:avLst/>
              </a:prstGeom>
              <a:noFill/>
              <a:ln>
                <a:noFill/>
              </a:ln>
              <a:effectLst/>
              <a:extLst>
                <a:ext uri="{909E8E84-426E-40DD-AFC4-6F175D3DCCD1}">
                  <a14:hiddenFill>
                    <a:solidFill>
                      <a:srgbClr val="FFFFFF"/>
                    </a:solidFill>
                  </a14:hiddenFill>
                </a:ext>
                <a:ext uri="{91240B29-F687-4F45-9708-019B960494DF}">
                  <a14:hiddenLine w="25400">
                    <a:solidFill>
                      <a:srgbClr val="80008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acc>
                        <m:accPr>
                          <m:chr m:val="⃗"/>
                          <m:ctrlPr>
                            <a:rPr lang="en-US" altLang="zh-CN" sz="3200" i="1">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200" i="1">
                              <a:latin typeface="Cambria Math" panose="02040503050406030204" pitchFamily="18" charset="0"/>
                              <a:ea typeface="华文新魏" panose="02010800040101010101" pitchFamily="2" charset="-122"/>
                              <a:cs typeface="Times New Roman" panose="02020603050405020304" pitchFamily="18" charset="0"/>
                            </a:rPr>
                            <m:t>𝑬</m:t>
                          </m:r>
                        </m:e>
                      </m:acc>
                      <m:r>
                        <a:rPr lang="en-US" altLang="zh-CN" sz="3200" i="1">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3200" i="1">
                              <a:latin typeface="Cambria Math" panose="02040503050406030204" pitchFamily="18" charset="0"/>
                              <a:ea typeface="华文新魏" panose="02010800040101010101" pitchFamily="2" charset="-122"/>
                              <a:cs typeface="Times New Roman" panose="02020603050405020304" pitchFamily="18" charset="0"/>
                            </a:rPr>
                          </m:ctrlPr>
                        </m:fPr>
                        <m:num>
                          <m:acc>
                            <m:accPr>
                              <m:chr m:val="⃗"/>
                              <m:ctrlPr>
                                <a:rPr lang="en-US" altLang="zh-CN" sz="32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2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𝑭</m:t>
                              </m:r>
                            </m:e>
                          </m:acc>
                        </m:num>
                        <m:den>
                          <m:r>
                            <a:rPr lang="en-US" altLang="zh-CN" sz="3200" i="1">
                              <a:latin typeface="Cambria Math" panose="02040503050406030204" pitchFamily="18" charset="0"/>
                              <a:ea typeface="华文新魏" panose="02010800040101010101" pitchFamily="2" charset="-122"/>
                              <a:cs typeface="Times New Roman" panose="02020603050405020304" pitchFamily="18" charset="0"/>
                            </a:rPr>
                            <m:t>𝒒</m:t>
                          </m:r>
                        </m:den>
                      </m:f>
                    </m:oMath>
                  </m:oMathPara>
                </a14:m>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algn="ctr" eaLnBrk="1" hangingPunct="1">
                  <a:spcBef>
                    <a:spcPct val="50000"/>
                  </a:spcBef>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algn="ctr" eaLnBrk="1" hangingPunct="1">
                  <a:spcBef>
                    <a:spcPct val="50000"/>
                  </a:spcBef>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algn="ctr" eaLnBrk="1" hangingPunct="1">
                  <a:spcBef>
                    <a:spcPct val="50000"/>
                  </a:spcBef>
                </a:pPr>
                <a:r>
                  <a:rPr lang="zh-CN" altLang="en-US" sz="3200" b="0" dirty="0">
                    <a:latin typeface="华文楷体" panose="02010600040101010101" pitchFamily="2" charset="-122"/>
                    <a:ea typeface="华文楷体" panose="02010600040101010101" pitchFamily="2" charset="-122"/>
                    <a:cs typeface="Times New Roman" panose="02020603050405020304" pitchFamily="18" charset="0"/>
                  </a:rPr>
                  <a:t>单位：</a:t>
                </a:r>
                <a14:m>
                  <m:oMath xmlns:m="http://schemas.openxmlformats.org/officeDocument/2006/math">
                    <m:r>
                      <m:rPr>
                        <m:sty m:val="p"/>
                      </m:rPr>
                      <a:rPr lang="en-US" altLang="zh-CN" sz="3200" b="0" i="1" dirty="0">
                        <a:latin typeface="Cambria Math" panose="02040503050406030204" pitchFamily="18" charset="0"/>
                      </a:rPr>
                      <m:t>N</m:t>
                    </m:r>
                    <m:r>
                      <a:rPr lang="en-US" altLang="zh-CN" sz="3200" b="0" dirty="0">
                        <a:latin typeface="Cambria Math" panose="02040503050406030204" pitchFamily="18" charset="0"/>
                      </a:rPr>
                      <m:t>/</m:t>
                    </m:r>
                    <m:r>
                      <m:rPr>
                        <m:sty m:val="p"/>
                      </m:rPr>
                      <a:rPr lang="en-US" altLang="zh-CN" sz="3200" b="0" i="1" dirty="0">
                        <a:latin typeface="Cambria Math" panose="02040503050406030204" pitchFamily="18" charset="0"/>
                      </a:rPr>
                      <m:t>C</m:t>
                    </m:r>
                  </m:oMath>
                </a14:m>
                <a:r>
                  <a:rPr lang="zh-CN" altLang="en-US" sz="3200" b="0" dirty="0">
                    <a:latin typeface="华文楷体" panose="02010600040101010101" pitchFamily="2" charset="-122"/>
                    <a:ea typeface="华文楷体" panose="02010600040101010101" pitchFamily="2" charset="-122"/>
                  </a:rPr>
                  <a:t>或</a:t>
                </a:r>
                <a:r>
                  <a:rPr lang="en-US" altLang="zh-CN" sz="3200" b="0" dirty="0">
                    <a:latin typeface="华文楷体" panose="02010600040101010101" pitchFamily="2" charset="-122"/>
                    <a:ea typeface="华文楷体" panose="02010600040101010101" pitchFamily="2" charset="-122"/>
                  </a:rPr>
                  <a:t>V/m</a:t>
                </a:r>
              </a:p>
            </p:txBody>
          </p:sp>
        </mc:Choice>
        <mc:Fallback xmlns="">
          <p:sp>
            <p:nvSpPr>
              <p:cNvPr id="21" name="Text Box 32">
                <a:extLst>
                  <a:ext uri="{FF2B5EF4-FFF2-40B4-BE49-F238E27FC236}">
                    <a16:creationId xmlns:a16="http://schemas.microsoft.com/office/drawing/2014/main" id="{688B41C6-5F2C-4669-A627-03453E7198CE}"/>
                  </a:ext>
                </a:extLst>
              </p:cNvPr>
              <p:cNvSpPr txBox="1">
                <a:spLocks noRot="1" noChangeAspect="1" noMove="1" noResize="1" noEditPoints="1" noAdjustHandles="1" noChangeArrowheads="1" noChangeShapeType="1" noTextEdit="1"/>
              </p:cNvSpPr>
              <p:nvPr/>
            </p:nvSpPr>
            <p:spPr bwMode="auto">
              <a:xfrm>
                <a:off x="3453885" y="2373400"/>
                <a:ext cx="4347489" cy="3440942"/>
              </a:xfrm>
              <a:prstGeom prst="rect">
                <a:avLst/>
              </a:prstGeom>
              <a:blipFill>
                <a:blip r:embed="rId5"/>
                <a:stretch>
                  <a:fillRect b="-4779"/>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p:graphicFrame>
        <p:nvGraphicFramePr>
          <p:cNvPr id="22" name="Object 35">
            <a:extLst>
              <a:ext uri="{FF2B5EF4-FFF2-40B4-BE49-F238E27FC236}">
                <a16:creationId xmlns:a16="http://schemas.microsoft.com/office/drawing/2014/main" id="{BA019B93-C1EB-4D2F-9A34-2F9F710C7403}"/>
              </a:ext>
            </a:extLst>
          </p:cNvPr>
          <p:cNvGraphicFramePr>
            <a:graphicFrameLocks/>
          </p:cNvGraphicFramePr>
          <p:nvPr>
            <p:extLst>
              <p:ext uri="{D42A27DB-BD31-4B8C-83A1-F6EECF244321}">
                <p14:modId xmlns:p14="http://schemas.microsoft.com/office/powerpoint/2010/main" val="373442687"/>
              </p:ext>
            </p:extLst>
          </p:nvPr>
        </p:nvGraphicFramePr>
        <p:xfrm>
          <a:off x="3858986" y="3939137"/>
          <a:ext cx="3101975" cy="762000"/>
        </p:xfrm>
        <a:graphic>
          <a:graphicData uri="http://schemas.openxmlformats.org/presentationml/2006/ole">
            <mc:AlternateContent xmlns:mc="http://schemas.openxmlformats.org/markup-compatibility/2006">
              <mc:Choice xmlns:v="urn:schemas-microsoft-com:vml" Requires="v">
                <p:oleObj spid="_x0000_s3082" name="Equation" r:id="rId6" imgW="1053643" imgH="266584" progId="Equation.DSMT4">
                  <p:embed/>
                </p:oleObj>
              </mc:Choice>
              <mc:Fallback>
                <p:oleObj name="Equation" r:id="rId6" imgW="1053643" imgH="266584" progId="Equation.DSMT4">
                  <p:embed/>
                  <p:pic>
                    <p:nvPicPr>
                      <p:cNvPr id="22" name="Object 35">
                        <a:extLst>
                          <a:ext uri="{FF2B5EF4-FFF2-40B4-BE49-F238E27FC236}">
                            <a16:creationId xmlns:a16="http://schemas.microsoft.com/office/drawing/2014/main" id="{BA019B93-C1EB-4D2F-9A34-2F9F710C740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8986" y="3939137"/>
                        <a:ext cx="3101975" cy="762000"/>
                      </a:xfrm>
                      <a:prstGeom prst="rect">
                        <a:avLst/>
                      </a:prstGeom>
                      <a:noFill/>
                      <a:ln w="12699">
                        <a:noFill/>
                        <a:miter lim="800000"/>
                        <a:headEnd/>
                        <a:tailEnd/>
                      </a:ln>
                      <a:effectLst/>
                    </p:spPr>
                  </p:pic>
                </p:oleObj>
              </mc:Fallback>
            </mc:AlternateContent>
          </a:graphicData>
        </a:graphic>
      </p:graphicFrame>
      <mc:AlternateContent xmlns:mc="http://schemas.openxmlformats.org/markup-compatibility/2006" xmlns:a14="http://schemas.microsoft.com/office/drawing/2010/main">
        <mc:Choice Requires="a14">
          <p:sp>
            <p:nvSpPr>
              <p:cNvPr id="23" name="标题 2">
                <a:extLst>
                  <a:ext uri="{FF2B5EF4-FFF2-40B4-BE49-F238E27FC236}">
                    <a16:creationId xmlns:a16="http://schemas.microsoft.com/office/drawing/2014/main" id="{FBB1A4D2-450C-4AE0-AFC6-C46BC29F6519}"/>
                  </a:ext>
                </a:extLst>
              </p:cNvPr>
              <p:cNvSpPr txBox="1">
                <a:spLocks/>
              </p:cNvSpPr>
              <p:nvPr/>
            </p:nvSpPr>
            <p:spPr>
              <a:xfrm>
                <a:off x="4818688" y="6211662"/>
                <a:ext cx="2982686" cy="7411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latin typeface="Cambria Math" panose="02040503050406030204" pitchFamily="18" charset="0"/>
                            </a:rPr>
                          </m:ctrlPr>
                        </m:accPr>
                        <m:e>
                          <m:r>
                            <a:rPr lang="en-US" altLang="zh-CN" sz="3200" i="1">
                              <a:latin typeface="Cambria Math" panose="02040503050406030204" pitchFamily="18" charset="0"/>
                            </a:rPr>
                            <m:t>𝑭</m:t>
                          </m:r>
                        </m:e>
                      </m:acc>
                      <m:r>
                        <a:rPr lang="en-US" altLang="zh-CN" sz="3200" i="1">
                          <a:latin typeface="Cambria Math" panose="02040503050406030204" pitchFamily="18" charset="0"/>
                        </a:rPr>
                        <m:t>=</m:t>
                      </m:r>
                      <m:r>
                        <a:rPr lang="en-US" altLang="zh-CN" sz="3200" i="1">
                          <a:latin typeface="Cambria Math" panose="02040503050406030204" pitchFamily="18" charset="0"/>
                        </a:rPr>
                        <m:t>𝒒</m:t>
                      </m:r>
                      <m:acc>
                        <m:accPr>
                          <m:chr m:val="⃗"/>
                          <m:ctrlPr>
                            <a:rPr lang="zh-CN" altLang="en-US" sz="3200" i="1">
                              <a:latin typeface="Cambria Math" panose="02040503050406030204" pitchFamily="18" charset="0"/>
                            </a:rPr>
                          </m:ctrlPr>
                        </m:accPr>
                        <m:e>
                          <m:r>
                            <a:rPr lang="en-US" altLang="zh-CN" sz="3200" i="1">
                              <a:latin typeface="Cambria Math" panose="02040503050406030204" pitchFamily="18" charset="0"/>
                            </a:rPr>
                            <m:t>𝑬</m:t>
                          </m:r>
                        </m:e>
                      </m:acc>
                    </m:oMath>
                  </m:oMathPara>
                </a14:m>
                <a:br>
                  <a:rPr lang="zh-CN" altLang="en-US" dirty="0">
                    <a:latin typeface="华文楷体" panose="02010600040101010101" pitchFamily="2" charset="-122"/>
                    <a:ea typeface="华文楷体" panose="02010600040101010101" pitchFamily="2" charset="-122"/>
                  </a:rPr>
                </a:br>
                <a:endParaRPr lang="zh-CN" altLang="en-US" dirty="0">
                  <a:latin typeface="华文楷体" panose="02010600040101010101" pitchFamily="2" charset="-122"/>
                  <a:ea typeface="华文楷体" panose="02010600040101010101" pitchFamily="2" charset="-122"/>
                </a:endParaRPr>
              </a:p>
            </p:txBody>
          </p:sp>
        </mc:Choice>
        <mc:Fallback xmlns="">
          <p:sp>
            <p:nvSpPr>
              <p:cNvPr id="23" name="标题 2">
                <a:extLst>
                  <a:ext uri="{FF2B5EF4-FFF2-40B4-BE49-F238E27FC236}">
                    <a16:creationId xmlns:a16="http://schemas.microsoft.com/office/drawing/2014/main" id="{FBB1A4D2-450C-4AE0-AFC6-C46BC29F6519}"/>
                  </a:ext>
                </a:extLst>
              </p:cNvPr>
              <p:cNvSpPr txBox="1">
                <a:spLocks noRot="1" noChangeAspect="1" noMove="1" noResize="1" noEditPoints="1" noAdjustHandles="1" noChangeArrowheads="1" noChangeShapeType="1" noTextEdit="1"/>
              </p:cNvSpPr>
              <p:nvPr/>
            </p:nvSpPr>
            <p:spPr>
              <a:xfrm>
                <a:off x="4818688" y="6211662"/>
                <a:ext cx="2982686" cy="741136"/>
              </a:xfrm>
              <a:prstGeom prst="rect">
                <a:avLst/>
              </a:prstGeom>
              <a:blipFill>
                <a:blip r:embed="rId8"/>
                <a:stretch>
                  <a:fillRect/>
                </a:stretch>
              </a:blipFill>
            </p:spPr>
            <p:txBody>
              <a:bodyPr/>
              <a:lstStyle/>
              <a:p>
                <a:r>
                  <a:rPr lang="en-US">
                    <a:noFill/>
                  </a:rPr>
                  <a:t> </a:t>
                </a:r>
              </a:p>
            </p:txBody>
          </p:sp>
        </mc:Fallback>
      </mc:AlternateContent>
      <p:sp>
        <p:nvSpPr>
          <p:cNvPr id="24" name="内容占位符 3">
            <a:extLst>
              <a:ext uri="{FF2B5EF4-FFF2-40B4-BE49-F238E27FC236}">
                <a16:creationId xmlns:a16="http://schemas.microsoft.com/office/drawing/2014/main" id="{E0E93E0D-F653-453F-BDCD-434AA16F3475}"/>
              </a:ext>
            </a:extLst>
          </p:cNvPr>
          <p:cNvSpPr txBox="1">
            <a:spLocks/>
          </p:cNvSpPr>
          <p:nvPr/>
        </p:nvSpPr>
        <p:spPr>
          <a:xfrm>
            <a:off x="1769865" y="6241336"/>
            <a:ext cx="3368041" cy="11979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华文楷体" panose="02010600040101010101" pitchFamily="2" charset="-122"/>
                <a:ea typeface="华文楷体" panose="02010600040101010101" pitchFamily="2" charset="-122"/>
              </a:rPr>
              <a:t>电场对电荷作用力：</a:t>
            </a:r>
          </a:p>
        </p:txBody>
      </p:sp>
      <p:pic>
        <p:nvPicPr>
          <p:cNvPr id="10" name="Picture 5" descr="电现象2">
            <a:extLst>
              <a:ext uri="{FF2B5EF4-FFF2-40B4-BE49-F238E27FC236}">
                <a16:creationId xmlns:a16="http://schemas.microsoft.com/office/drawing/2014/main" id="{983A5CE4-474B-4C5C-ABA6-C7E103A451B5}"/>
              </a:ext>
            </a:extLst>
          </p:cNvPr>
          <p:cNvPicPr>
            <a:picLocks noChangeAspect="1"/>
          </p:cNvPicPr>
          <p:nvPr/>
        </p:nvPicPr>
        <p:blipFill rotWithShape="1">
          <a:blip r:embed="rId9"/>
          <a:srcRect l="31584"/>
          <a:stretch/>
        </p:blipFill>
        <p:spPr>
          <a:xfrm>
            <a:off x="9612587" y="2403472"/>
            <a:ext cx="2321167" cy="2544880"/>
          </a:xfrm>
          <a:prstGeom prst="rect">
            <a:avLst/>
          </a:prstGeom>
          <a:noFill/>
          <a:ln w="9525">
            <a:noFill/>
          </a:ln>
        </p:spPr>
      </p:pic>
      <p:sp>
        <p:nvSpPr>
          <p:cNvPr id="11" name="Text Box 6">
            <a:extLst>
              <a:ext uri="{FF2B5EF4-FFF2-40B4-BE49-F238E27FC236}">
                <a16:creationId xmlns:a16="http://schemas.microsoft.com/office/drawing/2014/main" id="{9D87E68B-888D-4FC3-9CAD-1438B336A072}"/>
              </a:ext>
            </a:extLst>
          </p:cNvPr>
          <p:cNvSpPr txBox="1"/>
          <p:nvPr/>
        </p:nvSpPr>
        <p:spPr>
          <a:xfrm>
            <a:off x="8999966" y="5109592"/>
            <a:ext cx="2686954" cy="492443"/>
          </a:xfrm>
          <a:prstGeom prst="rect">
            <a:avLst/>
          </a:prstGeom>
          <a:noFill/>
          <a:ln w="9525">
            <a:noFill/>
          </a:ln>
        </p:spPr>
        <p:txBody>
          <a:bodyPr wrap="none">
            <a:spAutoFit/>
          </a:bodyPr>
          <a:lstStyle/>
          <a:p>
            <a:pPr eaLnBrk="0" hangingPunct="0"/>
            <a:r>
              <a:rPr lang="zh-CN" altLang="en-US" sz="2600" dirty="0">
                <a:solidFill>
                  <a:schemeClr val="tx1"/>
                </a:solidFill>
                <a:latin typeface="+mj-lt"/>
              </a:rPr>
              <a:t>空气的击穿场强 </a:t>
            </a:r>
          </a:p>
        </p:txBody>
      </p:sp>
      <p:sp>
        <p:nvSpPr>
          <p:cNvPr id="12" name="文本框 1">
            <a:extLst>
              <a:ext uri="{FF2B5EF4-FFF2-40B4-BE49-F238E27FC236}">
                <a16:creationId xmlns:a16="http://schemas.microsoft.com/office/drawing/2014/main" id="{58A47C3F-D638-4681-8590-A491925FBADD}"/>
              </a:ext>
            </a:extLst>
          </p:cNvPr>
          <p:cNvSpPr txBox="1"/>
          <p:nvPr/>
        </p:nvSpPr>
        <p:spPr>
          <a:xfrm>
            <a:off x="9489809" y="5661098"/>
            <a:ext cx="2063385" cy="492443"/>
          </a:xfrm>
          <a:prstGeom prst="rect">
            <a:avLst/>
          </a:prstGeom>
          <a:noFill/>
          <a:ln w="9525">
            <a:noFill/>
          </a:ln>
        </p:spPr>
        <p:txBody>
          <a:bodyPr wrap="none">
            <a:spAutoFit/>
          </a:bodyPr>
          <a:lstStyle/>
          <a:p>
            <a:pPr eaLnBrk="0" hangingPunct="0"/>
            <a:r>
              <a:rPr lang="en-US" altLang="zh-CN" sz="2600" dirty="0">
                <a:solidFill>
                  <a:schemeClr val="tx1"/>
                </a:solidFill>
                <a:latin typeface="+mj-lt"/>
              </a:rPr>
              <a:t>~ 3×10</a:t>
            </a:r>
            <a:r>
              <a:rPr lang="en-US" altLang="zh-CN" sz="2600" baseline="30000" dirty="0">
                <a:solidFill>
                  <a:schemeClr val="tx1"/>
                </a:solidFill>
                <a:latin typeface="+mj-lt"/>
              </a:rPr>
              <a:t>6</a:t>
            </a:r>
            <a:r>
              <a:rPr lang="en-US" altLang="zh-CN" sz="2600" dirty="0">
                <a:solidFill>
                  <a:schemeClr val="tx1"/>
                </a:solidFill>
                <a:latin typeface="+mj-lt"/>
              </a:rPr>
              <a:t> V/m</a:t>
            </a:r>
            <a:endParaRPr lang="zh-CN" altLang="en-US" sz="2600" dirty="0">
              <a:latin typeface="+mj-lt"/>
            </a:endParaRPr>
          </a:p>
        </p:txBody>
      </p:sp>
    </p:spTree>
    <p:extLst>
      <p:ext uri="{BB962C8B-B14F-4D97-AF65-F5344CB8AC3E}">
        <p14:creationId xmlns:p14="http://schemas.microsoft.com/office/powerpoint/2010/main" val="11267004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495301" y="198913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9" name="标题 5">
            <a:extLst>
              <a:ext uri="{FF2B5EF4-FFF2-40B4-BE49-F238E27FC236}">
                <a16:creationId xmlns:a16="http://schemas.microsoft.com/office/drawing/2014/main" id="{1EC81F4C-B434-4B6F-AE3F-0DE36534F8AB}"/>
              </a:ext>
            </a:extLst>
          </p:cNvPr>
          <p:cNvSpPr txBox="1">
            <a:spLocks/>
          </p:cNvSpPr>
          <p:nvPr/>
        </p:nvSpPr>
        <p:spPr>
          <a:xfrm>
            <a:off x="552451" y="1022366"/>
            <a:ext cx="4117522" cy="7370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静止点电荷的电场</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9F088A5-371E-4A3E-866A-BBA0D61E33AB}"/>
                  </a:ext>
                </a:extLst>
              </p:cNvPr>
              <p:cNvSpPr/>
              <p:nvPr/>
            </p:nvSpPr>
            <p:spPr>
              <a:xfrm>
                <a:off x="4598385" y="1563245"/>
                <a:ext cx="6720569" cy="2661178"/>
              </a:xfrm>
              <a:prstGeom prst="rect">
                <a:avLst/>
              </a:prstGeom>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acc>
                        <m:accPr>
                          <m:chr m:val="⃗"/>
                          <m:ctrlPr>
                            <a:rPr lang="en-US" altLang="zh-CN" sz="3200" i="1">
                              <a:latin typeface="Cambria Math" panose="02040503050406030204" pitchFamily="18" charset="0"/>
                            </a:rPr>
                          </m:ctrlPr>
                        </m:accPr>
                        <m:e>
                          <m:r>
                            <a:rPr lang="en-US" altLang="zh-CN" sz="3200" i="1">
                              <a:latin typeface="Cambria Math" panose="02040503050406030204" pitchFamily="18" charset="0"/>
                            </a:rPr>
                            <m:t>𝑭</m:t>
                          </m:r>
                        </m:e>
                      </m:acc>
                      <m:r>
                        <a:rPr lang="en-US" altLang="zh-CN" sz="3200" i="1">
                          <a:latin typeface="Cambria Math" panose="02040503050406030204" pitchFamily="18" charset="0"/>
                        </a:rPr>
                        <m:t>=</m:t>
                      </m:r>
                      <m:f>
                        <m:fPr>
                          <m:ctrlPr>
                            <a:rPr lang="en-US" altLang="zh-CN" sz="3200" i="1">
                              <a:latin typeface="Cambria Math" panose="02040503050406030204" pitchFamily="18" charset="0"/>
                            </a:rPr>
                          </m:ctrlPr>
                        </m:fPr>
                        <m:num>
                          <m:r>
                            <a:rPr lang="en-US" altLang="zh-CN" sz="3200" i="1">
                              <a:latin typeface="Cambria Math" panose="02040503050406030204" pitchFamily="18" charset="0"/>
                            </a:rPr>
                            <m:t>𝟏</m:t>
                          </m:r>
                        </m:num>
                        <m:den>
                          <m:r>
                            <a:rPr lang="en-US" altLang="zh-CN" sz="3200" i="1">
                              <a:latin typeface="Cambria Math" panose="02040503050406030204" pitchFamily="18" charset="0"/>
                            </a:rPr>
                            <m:t>𝟒</m:t>
                          </m:r>
                          <m:r>
                            <a:rPr lang="zh-CN" altLang="en-US" sz="3200" i="1">
                              <a:latin typeface="Cambria Math" panose="02040503050406030204" pitchFamily="18" charset="0"/>
                            </a:rPr>
                            <m:t>𝝅</m:t>
                          </m:r>
                          <m:sSub>
                            <m:sSubPr>
                              <m:ctrlPr>
                                <a:rPr lang="en-US" altLang="zh-CN" sz="3200" i="1">
                                  <a:latin typeface="Cambria Math" panose="02040503050406030204" pitchFamily="18" charset="0"/>
                                </a:rPr>
                              </m:ctrlPr>
                            </m:sSubPr>
                            <m:e>
                              <m:r>
                                <a:rPr lang="zh-CN" altLang="en-US" sz="3200" i="1">
                                  <a:latin typeface="Cambria Math" panose="02040503050406030204" pitchFamily="18" charset="0"/>
                                </a:rPr>
                                <m:t>𝜺</m:t>
                              </m:r>
                            </m:e>
                            <m:sub>
                              <m:r>
                                <a:rPr lang="en-US" altLang="zh-CN" sz="3200" i="1">
                                  <a:latin typeface="Cambria Math" panose="02040503050406030204" pitchFamily="18" charset="0"/>
                                </a:rPr>
                                <m:t>𝟎</m:t>
                              </m:r>
                            </m:sub>
                          </m:sSub>
                        </m:den>
                      </m:f>
                      <m:f>
                        <m:fPr>
                          <m:ctrlPr>
                            <a:rPr lang="en-US" altLang="zh-CN" sz="3200" i="1">
                              <a:latin typeface="Cambria Math" panose="02040503050406030204" pitchFamily="18" charset="0"/>
                            </a:rPr>
                          </m:ctrlPr>
                        </m:fPr>
                        <m:num>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𝒒</m:t>
                              </m:r>
                            </m:e>
                            <m:sub>
                              <m:r>
                                <a:rPr lang="en-US" altLang="zh-CN" sz="3200" i="1">
                                  <a:latin typeface="Cambria Math" panose="02040503050406030204" pitchFamily="18" charset="0"/>
                                </a:rPr>
                                <m:t>𝟎</m:t>
                              </m:r>
                            </m:sub>
                          </m:sSub>
                          <m:r>
                            <a:rPr lang="en-US" altLang="zh-CN" sz="3200" i="1">
                              <a:latin typeface="Cambria Math" panose="02040503050406030204" pitchFamily="18" charset="0"/>
                            </a:rPr>
                            <m:t>𝒒</m:t>
                          </m:r>
                        </m:num>
                        <m:den>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𝒓</m:t>
                              </m:r>
                            </m:e>
                            <m:sup>
                              <m:r>
                                <a:rPr lang="en-US" altLang="zh-CN" sz="3200" i="1">
                                  <a:latin typeface="Cambria Math" panose="02040503050406030204" pitchFamily="18" charset="0"/>
                                </a:rPr>
                                <m:t>𝟐</m:t>
                              </m:r>
                            </m:sup>
                          </m:sSup>
                        </m:den>
                      </m:f>
                      <m:sSub>
                        <m:sSubPr>
                          <m:ctrlPr>
                            <a:rPr lang="en-US" altLang="zh-CN" sz="3200" i="1">
                              <a:latin typeface="Cambria Math" panose="02040503050406030204" pitchFamily="18" charset="0"/>
                            </a:rPr>
                          </m:ctrlPr>
                        </m:sSubPr>
                        <m:e>
                          <m:acc>
                            <m:accPr>
                              <m:chr m:val="⃗"/>
                              <m:ctrlPr>
                                <a:rPr lang="en-US" altLang="zh-CN" sz="3200" i="1">
                                  <a:latin typeface="Cambria Math" panose="02040503050406030204" pitchFamily="18" charset="0"/>
                                </a:rPr>
                              </m:ctrlPr>
                            </m:accPr>
                            <m:e>
                              <m:r>
                                <a:rPr lang="en-US" altLang="zh-CN" sz="3200" i="1">
                                  <a:latin typeface="Cambria Math" panose="02040503050406030204" pitchFamily="18" charset="0"/>
                                </a:rPr>
                                <m:t>𝒆</m:t>
                              </m:r>
                            </m:e>
                          </m:acc>
                        </m:e>
                        <m:sub>
                          <m:r>
                            <a:rPr lang="en-US" altLang="zh-CN" sz="3200" i="1">
                              <a:latin typeface="Cambria Math" panose="02040503050406030204" pitchFamily="18" charset="0"/>
                            </a:rPr>
                            <m:t>𝒓</m:t>
                          </m:r>
                        </m:sub>
                      </m:sSub>
                    </m:oMath>
                  </m:oMathPara>
                </a14:m>
                <a:endParaRPr lang="en-US" altLang="zh-CN" sz="3200" i="1" dirty="0">
                  <a:latin typeface="华文楷体" panose="02010600040101010101" pitchFamily="2" charset="-122"/>
                  <a:ea typeface="华文楷体" panose="02010600040101010101" pitchFamily="2" charset="-122"/>
                </a:endParaRPr>
              </a:p>
              <a:p>
                <a:pPr>
                  <a:lnSpc>
                    <a:spcPct val="120000"/>
                  </a:lnSpc>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m:t>
                      </m:r>
                      <m:acc>
                        <m:accPr>
                          <m:chr m:val="⃗"/>
                          <m:ctrlPr>
                            <a:rPr lang="zh-CN" altLang="en-US" sz="3200" i="1" smtClean="0">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𝑬</m:t>
                          </m:r>
                        </m:e>
                      </m:acc>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𝑭</m:t>
                              </m:r>
                            </m:e>
                          </m:acc>
                        </m:num>
                        <m:den>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𝒒</m:t>
                              </m:r>
                            </m:e>
                            <m:sub>
                              <m:r>
                                <a:rPr lang="en-US" altLang="zh-CN" sz="3200" i="1">
                                  <a:solidFill>
                                    <a:srgbClr val="FF0000"/>
                                  </a:solidFill>
                                  <a:latin typeface="Cambria Math" panose="02040503050406030204" pitchFamily="18" charset="0"/>
                                </a:rPr>
                                <m:t>𝟎</m:t>
                              </m:r>
                            </m:sub>
                          </m:sSub>
                        </m:den>
                      </m:f>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𝟏</m:t>
                          </m:r>
                        </m:num>
                        <m:den>
                          <m:r>
                            <a:rPr lang="en-US" altLang="zh-CN" sz="3200" i="1">
                              <a:solidFill>
                                <a:srgbClr val="FF0000"/>
                              </a:solidFill>
                              <a:latin typeface="Cambria Math" panose="02040503050406030204" pitchFamily="18" charset="0"/>
                            </a:rPr>
                            <m:t>𝟒</m:t>
                          </m:r>
                          <m:r>
                            <a:rPr lang="zh-CN" altLang="en-US" sz="3200" i="1">
                              <a:solidFill>
                                <a:srgbClr val="FF0000"/>
                              </a:solidFill>
                              <a:latin typeface="Cambria Math" panose="02040503050406030204" pitchFamily="18" charset="0"/>
                            </a:rPr>
                            <m:t>𝝅</m:t>
                          </m:r>
                          <m:sSub>
                            <m:sSubPr>
                              <m:ctrlPr>
                                <a:rPr lang="en-US" altLang="zh-CN" sz="3200" i="1">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𝜺</m:t>
                              </m:r>
                            </m:e>
                            <m:sub>
                              <m:r>
                                <a:rPr lang="en-US" altLang="zh-CN" sz="3200" i="1">
                                  <a:solidFill>
                                    <a:srgbClr val="FF0000"/>
                                  </a:solidFill>
                                  <a:latin typeface="Cambria Math" panose="02040503050406030204" pitchFamily="18" charset="0"/>
                                </a:rPr>
                                <m:t>𝟎</m:t>
                              </m:r>
                            </m:sub>
                          </m:sSub>
                        </m:den>
                      </m:f>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𝒒</m:t>
                          </m:r>
                        </m:num>
                        <m:den>
                          <m:sSup>
                            <m:sSupPr>
                              <m:ctrlPr>
                                <a:rPr lang="en-US" altLang="zh-CN" sz="3200" i="1">
                                  <a:solidFill>
                                    <a:srgbClr val="FF0000"/>
                                  </a:solidFill>
                                  <a:latin typeface="Cambria Math" panose="02040503050406030204" pitchFamily="18" charset="0"/>
                                </a:rPr>
                              </m:ctrlPr>
                            </m:sSupPr>
                            <m:e>
                              <m:r>
                                <a:rPr lang="en-US" altLang="zh-CN" sz="3200" i="1">
                                  <a:solidFill>
                                    <a:srgbClr val="FF0000"/>
                                  </a:solidFill>
                                  <a:latin typeface="Cambria Math" panose="02040503050406030204" pitchFamily="18" charset="0"/>
                                </a:rPr>
                                <m:t>𝒓</m:t>
                              </m:r>
                            </m:e>
                            <m:sup>
                              <m:r>
                                <a:rPr lang="en-US" altLang="zh-CN" sz="3200" i="1">
                                  <a:solidFill>
                                    <a:srgbClr val="FF0000"/>
                                  </a:solidFill>
                                  <a:latin typeface="Cambria Math" panose="02040503050406030204" pitchFamily="18" charset="0"/>
                                </a:rPr>
                                <m:t>𝟐</m:t>
                              </m:r>
                            </m:sup>
                          </m:sSup>
                        </m:den>
                      </m:f>
                      <m:sSub>
                        <m:sSubPr>
                          <m:ctrlPr>
                            <a:rPr lang="en-US" altLang="zh-CN" sz="3200" i="1">
                              <a:solidFill>
                                <a:srgbClr val="FF0000"/>
                              </a:solidFill>
                              <a:latin typeface="Cambria Math" panose="02040503050406030204" pitchFamily="18" charset="0"/>
                            </a:rPr>
                          </m:ctrlPr>
                        </m:sSubPr>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𝒆</m:t>
                              </m:r>
                            </m:e>
                          </m:acc>
                        </m:e>
                        <m:sub>
                          <m:r>
                            <a:rPr lang="en-US" altLang="zh-CN" sz="3200" i="1">
                              <a:solidFill>
                                <a:srgbClr val="FF0000"/>
                              </a:solidFill>
                              <a:latin typeface="Cambria Math" panose="02040503050406030204" pitchFamily="18" charset="0"/>
                            </a:rPr>
                            <m:t>𝒓</m:t>
                          </m:r>
                        </m:sub>
                      </m:sSub>
                    </m:oMath>
                  </m:oMathPara>
                </a14:m>
                <a:endParaRPr lang="zh-CN" altLang="en-US" sz="3200" dirty="0">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59F088A5-371E-4A3E-866A-BBA0D61E33AB}"/>
                  </a:ext>
                </a:extLst>
              </p:cNvPr>
              <p:cNvSpPr>
                <a:spLocks noRot="1" noChangeAspect="1" noMove="1" noResize="1" noEditPoints="1" noAdjustHandles="1" noChangeArrowheads="1" noChangeShapeType="1" noTextEdit="1"/>
              </p:cNvSpPr>
              <p:nvPr/>
            </p:nvSpPr>
            <p:spPr>
              <a:xfrm>
                <a:off x="4598385" y="1563245"/>
                <a:ext cx="6720569" cy="2661178"/>
              </a:xfrm>
              <a:prstGeom prst="rect">
                <a:avLst/>
              </a:prstGeom>
              <a:blipFill>
                <a:blip r:embed="rId2"/>
                <a:stretch>
                  <a:fillRect/>
                </a:stretch>
              </a:blipFill>
            </p:spPr>
            <p:txBody>
              <a:bodyPr/>
              <a:lstStyle/>
              <a:p>
                <a:r>
                  <a:rPr lang="en-US">
                    <a:noFill/>
                  </a:rPr>
                  <a:t> </a:t>
                </a:r>
              </a:p>
            </p:txBody>
          </p:sp>
        </mc:Fallback>
      </mc:AlternateContent>
      <p:grpSp>
        <p:nvGrpSpPr>
          <p:cNvPr id="31" name="组合 30">
            <a:extLst>
              <a:ext uri="{FF2B5EF4-FFF2-40B4-BE49-F238E27FC236}">
                <a16:creationId xmlns:a16="http://schemas.microsoft.com/office/drawing/2014/main" id="{8AFF2269-0A81-4AB5-8056-393393D79CF2}"/>
              </a:ext>
            </a:extLst>
          </p:cNvPr>
          <p:cNvGrpSpPr/>
          <p:nvPr/>
        </p:nvGrpSpPr>
        <p:grpSpPr>
          <a:xfrm>
            <a:off x="1247252" y="2101850"/>
            <a:ext cx="3974300" cy="2654300"/>
            <a:chOff x="4121950" y="3984609"/>
            <a:chExt cx="3974300" cy="2654300"/>
          </a:xfrm>
        </p:grpSpPr>
        <p:sp>
          <p:nvSpPr>
            <p:cNvPr id="32" name="Oval 41">
              <a:extLst>
                <a:ext uri="{FF2B5EF4-FFF2-40B4-BE49-F238E27FC236}">
                  <a16:creationId xmlns:a16="http://schemas.microsoft.com/office/drawing/2014/main" id="{F622819F-8C18-415D-B613-830AA8EE2F06}"/>
                </a:ext>
              </a:extLst>
            </p:cNvPr>
            <p:cNvSpPr>
              <a:spLocks noChangeArrowheads="1"/>
            </p:cNvSpPr>
            <p:nvPr/>
          </p:nvSpPr>
          <p:spPr bwMode="auto">
            <a:xfrm>
              <a:off x="4121950" y="3984609"/>
              <a:ext cx="2700337" cy="2654300"/>
            </a:xfrm>
            <a:prstGeom prst="ellipse">
              <a:avLst/>
            </a:prstGeom>
            <a:solidFill>
              <a:srgbClr val="FFFFFF"/>
            </a:solidFill>
            <a:ln w="25400">
              <a:solidFill>
                <a:srgbClr val="0000CC"/>
              </a:solidFill>
              <a:prstDash val="dash"/>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solidFill>
                  <a:srgbClr val="000000"/>
                </a:solidFill>
                <a:latin typeface="华文楷体" panose="02010600040101010101" pitchFamily="2" charset="-122"/>
                <a:ea typeface="华文楷体" panose="02010600040101010101" pitchFamily="2" charset="-122"/>
              </a:endParaRPr>
            </a:p>
          </p:txBody>
        </p:sp>
        <p:sp>
          <p:nvSpPr>
            <p:cNvPr id="33" name="Line 3">
              <a:extLst>
                <a:ext uri="{FF2B5EF4-FFF2-40B4-BE49-F238E27FC236}">
                  <a16:creationId xmlns:a16="http://schemas.microsoft.com/office/drawing/2014/main" id="{BBCA7EF4-9341-4807-A979-C7353A257261}"/>
                </a:ext>
              </a:extLst>
            </p:cNvPr>
            <p:cNvSpPr>
              <a:spLocks noChangeShapeType="1"/>
            </p:cNvSpPr>
            <p:nvPr/>
          </p:nvSpPr>
          <p:spPr bwMode="auto">
            <a:xfrm flipV="1">
              <a:off x="6830884" y="4851140"/>
              <a:ext cx="846461" cy="212374"/>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00"/>
                </a:solidFill>
                <a:latin typeface="华文楷体" panose="02010600040101010101" pitchFamily="2" charset="-122"/>
                <a:ea typeface="华文楷体" panose="02010600040101010101" pitchFamily="2" charset="-122"/>
              </a:endParaRPr>
            </a:p>
          </p:txBody>
        </p:sp>
        <p:sp>
          <p:nvSpPr>
            <p:cNvPr id="34" name="Rectangle 4">
              <a:extLst>
                <a:ext uri="{FF2B5EF4-FFF2-40B4-BE49-F238E27FC236}">
                  <a16:creationId xmlns:a16="http://schemas.microsoft.com/office/drawing/2014/main" id="{B014B1C6-BDA2-4617-85E5-B27987992F5B}"/>
                </a:ext>
              </a:extLst>
            </p:cNvPr>
            <p:cNvSpPr>
              <a:spLocks noChangeArrowheads="1"/>
            </p:cNvSpPr>
            <p:nvPr/>
          </p:nvSpPr>
          <p:spPr bwMode="auto">
            <a:xfrm>
              <a:off x="6822287" y="5249943"/>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zh-CN" altLang="en-US" sz="2800" dirty="0">
                  <a:solidFill>
                    <a:srgbClr val="C00000"/>
                  </a:solidFill>
                  <a:latin typeface="华文楷体" panose="02010600040101010101" pitchFamily="2" charset="-122"/>
                  <a:ea typeface="华文楷体" panose="02010600040101010101" pitchFamily="2" charset="-122"/>
                </a:rPr>
                <a:t>场点</a:t>
              </a:r>
            </a:p>
          </p:txBody>
        </p:sp>
        <p:sp>
          <p:nvSpPr>
            <p:cNvPr id="35" name="Rectangle 5">
              <a:extLst>
                <a:ext uri="{FF2B5EF4-FFF2-40B4-BE49-F238E27FC236}">
                  <a16:creationId xmlns:a16="http://schemas.microsoft.com/office/drawing/2014/main" id="{5CE41A15-48B4-4328-9841-0074595E4113}"/>
                </a:ext>
              </a:extLst>
            </p:cNvPr>
            <p:cNvSpPr>
              <a:spLocks noChangeArrowheads="1"/>
            </p:cNvSpPr>
            <p:nvPr/>
          </p:nvSpPr>
          <p:spPr bwMode="auto">
            <a:xfrm>
              <a:off x="4920462" y="5464159"/>
              <a:ext cx="1143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kumimoji="1" lang="zh-CN" altLang="en-US" sz="2800" b="1" dirty="0">
                  <a:solidFill>
                    <a:srgbClr val="C00000"/>
                  </a:solidFill>
                  <a:latin typeface="华文楷体" panose="02010600040101010101" pitchFamily="2" charset="-122"/>
                  <a:ea typeface="华文楷体" panose="02010600040101010101" pitchFamily="2" charset="-122"/>
                </a:rPr>
                <a:t>源点</a:t>
              </a:r>
            </a:p>
          </p:txBody>
        </p:sp>
        <p:grpSp>
          <p:nvGrpSpPr>
            <p:cNvPr id="36" name="Group 7">
              <a:extLst>
                <a:ext uri="{FF2B5EF4-FFF2-40B4-BE49-F238E27FC236}">
                  <a16:creationId xmlns:a16="http://schemas.microsoft.com/office/drawing/2014/main" id="{561E4C55-DE18-40E5-A08C-F06D7D37FA69}"/>
                </a:ext>
              </a:extLst>
            </p:cNvPr>
            <p:cNvGrpSpPr>
              <a:grpSpLocks/>
            </p:cNvGrpSpPr>
            <p:nvPr/>
          </p:nvGrpSpPr>
          <p:grpSpPr bwMode="auto">
            <a:xfrm>
              <a:off x="4882376" y="4697399"/>
              <a:ext cx="760414" cy="766763"/>
              <a:chOff x="3912" y="1965"/>
              <a:chExt cx="479" cy="483"/>
            </a:xfrm>
          </p:grpSpPr>
          <mc:AlternateContent xmlns:mc="http://schemas.openxmlformats.org/markup-compatibility/2006" xmlns:a14="http://schemas.microsoft.com/office/drawing/2010/main">
            <mc:Choice Requires="a14">
              <p:sp>
                <p:nvSpPr>
                  <p:cNvPr id="42" name="Rectangle 8">
                    <a:extLst>
                      <a:ext uri="{FF2B5EF4-FFF2-40B4-BE49-F238E27FC236}">
                        <a16:creationId xmlns:a16="http://schemas.microsoft.com/office/drawing/2014/main" id="{43FFCF45-FCBC-4175-B718-B363B7A94229}"/>
                      </a:ext>
                    </a:extLst>
                  </p:cNvPr>
                  <p:cNvSpPr>
                    <a:spLocks noChangeArrowheads="1"/>
                  </p:cNvSpPr>
                  <p:nvPr/>
                </p:nvSpPr>
                <p:spPr bwMode="auto">
                  <a:xfrm>
                    <a:off x="3912" y="1965"/>
                    <a:ext cx="479" cy="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solidFill>
                                <a:srgbClr val="000000"/>
                              </a:solidFill>
                              <a:latin typeface="Cambria Math" panose="02040503050406030204" pitchFamily="18" charset="0"/>
                              <a:ea typeface="黑体" panose="02010609060101010101" pitchFamily="49" charset="-122"/>
                            </a:rPr>
                            <m:t>+</m:t>
                          </m:r>
                          <m:r>
                            <a:rPr lang="en-US" altLang="zh-CN" sz="2800" i="1" dirty="0">
                              <a:solidFill>
                                <a:srgbClr val="000000"/>
                              </a:solidFill>
                              <a:latin typeface="Cambria Math" panose="02040503050406030204" pitchFamily="18" charset="0"/>
                              <a:ea typeface="黑体" panose="02010609060101010101" pitchFamily="49" charset="-122"/>
                            </a:rPr>
                            <m:t>𝒒</m:t>
                          </m:r>
                        </m:oMath>
                      </m:oMathPara>
                    </a14:m>
                    <a:endParaRPr lang="en-US" altLang="zh-CN" sz="2800" i="1" dirty="0">
                      <a:solidFill>
                        <a:srgbClr val="000000"/>
                      </a:solidFill>
                      <a:latin typeface="华文楷体" panose="02010600040101010101" pitchFamily="2" charset="-122"/>
                      <a:ea typeface="华文楷体" panose="02010600040101010101" pitchFamily="2" charset="-122"/>
                    </a:endParaRPr>
                  </a:p>
                </p:txBody>
              </p:sp>
            </mc:Choice>
            <mc:Fallback xmlns="">
              <p:sp>
                <p:nvSpPr>
                  <p:cNvPr id="42" name="Rectangle 8">
                    <a:extLst>
                      <a:ext uri="{FF2B5EF4-FFF2-40B4-BE49-F238E27FC236}">
                        <a16:creationId xmlns:a16="http://schemas.microsoft.com/office/drawing/2014/main" id="{43FFCF45-FCBC-4175-B718-B363B7A94229}"/>
                      </a:ext>
                    </a:extLst>
                  </p:cNvPr>
                  <p:cNvSpPr>
                    <a:spLocks noRot="1" noChangeAspect="1" noMove="1" noResize="1" noEditPoints="1" noAdjustHandles="1" noChangeArrowheads="1" noChangeShapeType="1" noTextEdit="1"/>
                  </p:cNvSpPr>
                  <p:nvPr/>
                </p:nvSpPr>
                <p:spPr bwMode="auto">
                  <a:xfrm>
                    <a:off x="3912" y="1965"/>
                    <a:ext cx="479" cy="330"/>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3" name="Oval 9">
                <a:extLst>
                  <a:ext uri="{FF2B5EF4-FFF2-40B4-BE49-F238E27FC236}">
                    <a16:creationId xmlns:a16="http://schemas.microsoft.com/office/drawing/2014/main" id="{0D2F1D03-B02D-486C-A7D2-6C6F525BA550}"/>
                  </a:ext>
                </a:extLst>
              </p:cNvPr>
              <p:cNvSpPr>
                <a:spLocks noChangeArrowheads="1"/>
              </p:cNvSpPr>
              <p:nvPr/>
            </p:nvSpPr>
            <p:spPr bwMode="auto">
              <a:xfrm>
                <a:off x="4180" y="2322"/>
                <a:ext cx="140" cy="126"/>
              </a:xfrm>
              <a:prstGeom prst="ellipse">
                <a:avLst/>
              </a:prstGeom>
              <a:solidFill>
                <a:srgbClr val="FF3300"/>
              </a:solidFill>
              <a:ln w="127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solidFill>
                    <a:srgbClr val="000000"/>
                  </a:solidFill>
                  <a:latin typeface="华文楷体" panose="02010600040101010101" pitchFamily="2" charset="-122"/>
                  <a:ea typeface="华文楷体" panose="02010600040101010101" pitchFamily="2" charset="-122"/>
                </a:endParaRPr>
              </a:p>
            </p:txBody>
          </p:sp>
        </p:grpSp>
        <p:sp>
          <p:nvSpPr>
            <p:cNvPr id="37" name="Oval 10">
              <a:extLst>
                <a:ext uri="{FF2B5EF4-FFF2-40B4-BE49-F238E27FC236}">
                  <a16:creationId xmlns:a16="http://schemas.microsoft.com/office/drawing/2014/main" id="{3F9DF54C-98CB-469F-B5F1-5B6AD6B55AA9}"/>
                </a:ext>
              </a:extLst>
            </p:cNvPr>
            <p:cNvSpPr>
              <a:spLocks noChangeArrowheads="1"/>
            </p:cNvSpPr>
            <p:nvPr/>
          </p:nvSpPr>
          <p:spPr bwMode="auto">
            <a:xfrm>
              <a:off x="6696475" y="4952984"/>
              <a:ext cx="215900" cy="215900"/>
            </a:xfrm>
            <a:prstGeom prst="ellipse">
              <a:avLst/>
            </a:prstGeom>
            <a:solidFill>
              <a:srgbClr val="CC3300"/>
            </a:solidFill>
            <a:ln w="12700">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8" name="Object 17">
                  <a:extLst>
                    <a:ext uri="{FF2B5EF4-FFF2-40B4-BE49-F238E27FC236}">
                      <a16:creationId xmlns:a16="http://schemas.microsoft.com/office/drawing/2014/main" id="{9CC0CCBB-6544-4B02-9741-90F046CA0951}"/>
                    </a:ext>
                  </a:extLst>
                </p:cNvPr>
                <p:cNvSpPr txBox="1"/>
                <p:nvPr/>
              </p:nvSpPr>
              <p:spPr bwMode="auto">
                <a:xfrm>
                  <a:off x="7715250" y="4629017"/>
                  <a:ext cx="3810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600" b="1" i="1">
                                <a:solidFill>
                                  <a:srgbClr val="000000"/>
                                </a:solidFill>
                                <a:latin typeface="Cambria Math" panose="02040503050406030204" pitchFamily="18" charset="0"/>
                              </a:rPr>
                            </m:ctrlPr>
                          </m:accPr>
                          <m:e>
                            <m:r>
                              <a:rPr lang="zh-CN" altLang="en-US" sz="2600" b="1" i="1">
                                <a:solidFill>
                                  <a:srgbClr val="000000"/>
                                </a:solidFill>
                                <a:latin typeface="Cambria Math" panose="02040503050406030204" pitchFamily="18" charset="0"/>
                              </a:rPr>
                              <m:t>𝑬</m:t>
                            </m:r>
                          </m:e>
                        </m:acc>
                      </m:oMath>
                    </m:oMathPara>
                  </a14:m>
                  <a:endParaRPr lang="zh-CN" altLang="en-US" sz="2600" b="1" dirty="0">
                    <a:latin typeface="华文楷体" panose="02010600040101010101" pitchFamily="2" charset="-122"/>
                    <a:ea typeface="华文楷体" panose="02010600040101010101" pitchFamily="2" charset="-122"/>
                  </a:endParaRPr>
                </a:p>
              </p:txBody>
            </p:sp>
          </mc:Choice>
          <mc:Fallback xmlns="">
            <p:sp>
              <p:nvSpPr>
                <p:cNvPr id="38" name="Object 17">
                  <a:extLst>
                    <a:ext uri="{FF2B5EF4-FFF2-40B4-BE49-F238E27FC236}">
                      <a16:creationId xmlns:a16="http://schemas.microsoft.com/office/drawing/2014/main" id="{9CC0CCBB-6544-4B02-9741-90F046CA0951}"/>
                    </a:ext>
                  </a:extLst>
                </p:cNvPr>
                <p:cNvSpPr txBox="1">
                  <a:spLocks noRot="1" noChangeAspect="1" noMove="1" noResize="1" noEditPoints="1" noAdjustHandles="1" noChangeArrowheads="1" noChangeShapeType="1" noTextEdit="1"/>
                </p:cNvSpPr>
                <p:nvPr/>
              </p:nvSpPr>
              <p:spPr bwMode="auto">
                <a:xfrm>
                  <a:off x="7715250" y="4629017"/>
                  <a:ext cx="381000" cy="406400"/>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Object 36">
                  <a:extLst>
                    <a:ext uri="{FF2B5EF4-FFF2-40B4-BE49-F238E27FC236}">
                      <a16:creationId xmlns:a16="http://schemas.microsoft.com/office/drawing/2014/main" id="{BCFC62B5-9248-4A1E-A81B-532A1D633CA6}"/>
                    </a:ext>
                  </a:extLst>
                </p:cNvPr>
                <p:cNvSpPr txBox="1"/>
                <p:nvPr/>
              </p:nvSpPr>
              <p:spPr bwMode="auto">
                <a:xfrm>
                  <a:off x="6063462" y="4778359"/>
                  <a:ext cx="266700" cy="317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600" b="1" i="1">
                                <a:solidFill>
                                  <a:srgbClr val="000000"/>
                                </a:solidFill>
                                <a:latin typeface="Cambria Math" panose="02040503050406030204" pitchFamily="18" charset="0"/>
                              </a:rPr>
                            </m:ctrlPr>
                          </m:accPr>
                          <m:e>
                            <m:r>
                              <a:rPr lang="zh-CN" altLang="en-US" sz="2600" b="1" i="1">
                                <a:solidFill>
                                  <a:srgbClr val="000000"/>
                                </a:solidFill>
                                <a:latin typeface="Cambria Math" panose="02040503050406030204" pitchFamily="18" charset="0"/>
                              </a:rPr>
                              <m:t>𝒓</m:t>
                            </m:r>
                          </m:e>
                        </m:acc>
                      </m:oMath>
                    </m:oMathPara>
                  </a14:m>
                  <a:endParaRPr lang="zh-CN" altLang="en-US" sz="2600" b="1" dirty="0">
                    <a:latin typeface="华文楷体" panose="02010600040101010101" pitchFamily="2" charset="-122"/>
                    <a:ea typeface="华文楷体" panose="02010600040101010101" pitchFamily="2" charset="-122"/>
                  </a:endParaRPr>
                </a:p>
              </p:txBody>
            </p:sp>
          </mc:Choice>
          <mc:Fallback xmlns="">
            <p:sp>
              <p:nvSpPr>
                <p:cNvPr id="39" name="Object 36">
                  <a:extLst>
                    <a:ext uri="{FF2B5EF4-FFF2-40B4-BE49-F238E27FC236}">
                      <a16:creationId xmlns:a16="http://schemas.microsoft.com/office/drawing/2014/main" id="{BCFC62B5-9248-4A1E-A81B-532A1D633CA6}"/>
                    </a:ext>
                  </a:extLst>
                </p:cNvPr>
                <p:cNvSpPr txBox="1">
                  <a:spLocks noRot="1" noChangeAspect="1" noMove="1" noResize="1" noEditPoints="1" noAdjustHandles="1" noChangeArrowheads="1" noChangeShapeType="1" noTextEdit="1"/>
                </p:cNvSpPr>
                <p:nvPr/>
              </p:nvSpPr>
              <p:spPr bwMode="auto">
                <a:xfrm>
                  <a:off x="6063462" y="4778359"/>
                  <a:ext cx="266700" cy="317500"/>
                </a:xfrm>
                <a:prstGeom prst="rect">
                  <a:avLst/>
                </a:prstGeom>
                <a:blipFill>
                  <a:blip r:embed="rId5"/>
                  <a:stretch>
                    <a:fillRect b="-1153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Object 37">
                  <a:extLst>
                    <a:ext uri="{FF2B5EF4-FFF2-40B4-BE49-F238E27FC236}">
                      <a16:creationId xmlns:a16="http://schemas.microsoft.com/office/drawing/2014/main" id="{460B7D1A-A62B-479F-8F9F-1477F117894D}"/>
                    </a:ext>
                  </a:extLst>
                </p:cNvPr>
                <p:cNvSpPr txBox="1"/>
                <p:nvPr/>
              </p:nvSpPr>
              <p:spPr bwMode="auto">
                <a:xfrm>
                  <a:off x="6749262" y="4336537"/>
                  <a:ext cx="38100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𝒒</m:t>
                            </m:r>
                          </m:e>
                          <m:sub>
                            <m:r>
                              <a:rPr lang="zh-CN" altLang="en-US" sz="2800" b="1" i="1">
                                <a:solidFill>
                                  <a:srgbClr val="000000"/>
                                </a:solidFill>
                                <a:latin typeface="Cambria Math" panose="02040503050406030204" pitchFamily="18" charset="0"/>
                              </a:rPr>
                              <m:t>𝟎</m:t>
                            </m:r>
                          </m:sub>
                        </m:sSub>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12" name="Object 37"/>
                <p:cNvSpPr txBox="1">
                  <a:spLocks noRot="1" noChangeAspect="1" noMove="1" noResize="1" noEditPoints="1" noAdjustHandles="1" noChangeArrowheads="1" noChangeShapeType="1" noTextEdit="1"/>
                </p:cNvSpPr>
                <p:nvPr/>
              </p:nvSpPr>
              <p:spPr bwMode="auto">
                <a:xfrm>
                  <a:off x="6749262" y="4336537"/>
                  <a:ext cx="381000" cy="520700"/>
                </a:xfrm>
                <a:prstGeom prst="rect">
                  <a:avLst/>
                </a:prstGeom>
                <a:blipFill>
                  <a:blip r:embed="rId6"/>
                  <a:stretch>
                    <a:fillRect r="-17742"/>
                  </a:stretch>
                </a:blipFill>
                <a:ln>
                  <a:noFill/>
                </a:ln>
                <a:effectLst/>
              </p:spPr>
              <p:txBody>
                <a:bodyPr/>
                <a:lstStyle/>
                <a:p>
                  <a:r>
                    <a:rPr lang="zh-CN" altLang="en-US">
                      <a:noFill/>
                    </a:rPr>
                    <a:t> </a:t>
                  </a:r>
                </a:p>
              </p:txBody>
            </p:sp>
          </mc:Fallback>
        </mc:AlternateContent>
        <p:sp>
          <p:nvSpPr>
            <p:cNvPr id="41" name="Line 2">
              <a:extLst>
                <a:ext uri="{FF2B5EF4-FFF2-40B4-BE49-F238E27FC236}">
                  <a16:creationId xmlns:a16="http://schemas.microsoft.com/office/drawing/2014/main" id="{598ED3A8-865C-4380-807D-004C8ECFF5BC}"/>
                </a:ext>
              </a:extLst>
            </p:cNvPr>
            <p:cNvSpPr>
              <a:spLocks noChangeShapeType="1"/>
            </p:cNvSpPr>
            <p:nvPr/>
          </p:nvSpPr>
          <p:spPr bwMode="auto">
            <a:xfrm flipV="1">
              <a:off x="5433147" y="5070459"/>
              <a:ext cx="1389140" cy="294461"/>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00"/>
                </a:solidFill>
                <a:latin typeface="华文楷体" panose="02010600040101010101" pitchFamily="2" charset="-122"/>
                <a:ea typeface="华文楷体" panose="02010600040101010101" pitchFamily="2" charset="-122"/>
              </a:endParaRPr>
            </a:p>
          </p:txBody>
        </p:sp>
      </p:grpSp>
      <p:sp>
        <p:nvSpPr>
          <p:cNvPr id="44" name="矩形 43">
            <a:extLst>
              <a:ext uri="{FF2B5EF4-FFF2-40B4-BE49-F238E27FC236}">
                <a16:creationId xmlns:a16="http://schemas.microsoft.com/office/drawing/2014/main" id="{0CD1F15A-EA4E-4C35-985B-5D2CC436E830}"/>
              </a:ext>
            </a:extLst>
          </p:cNvPr>
          <p:cNvSpPr/>
          <p:nvPr/>
        </p:nvSpPr>
        <p:spPr>
          <a:xfrm>
            <a:off x="3455464" y="4981550"/>
            <a:ext cx="7754486" cy="1323439"/>
          </a:xfrm>
          <a:prstGeom prst="rect">
            <a:avLst/>
          </a:prstGeom>
        </p:spPr>
        <p:txBody>
          <a:bodyPr wrap="square">
            <a:spAutoFit/>
          </a:bodyPr>
          <a:lstStyle/>
          <a:p>
            <a:pPr>
              <a:lnSpc>
                <a:spcPct val="150000"/>
              </a:lnSpc>
            </a:pPr>
            <a:r>
              <a:rPr lang="en-US" altLang="zh-CN" sz="2800" b="1" dirty="0">
                <a:solidFill>
                  <a:srgbClr val="C00000"/>
                </a:solidFill>
                <a:latin typeface="华文楷体" panose="02010600040101010101" pitchFamily="2" charset="-122"/>
                <a:ea typeface="华文楷体" panose="02010600040101010101" pitchFamily="2" charset="-122"/>
              </a:rPr>
              <a:t>- </a:t>
            </a:r>
            <a:r>
              <a:rPr lang="zh-CN" altLang="en-US" sz="2800" b="1" dirty="0">
                <a:latin typeface="华文楷体" panose="02010600040101010101" pitchFamily="2" charset="-122"/>
                <a:ea typeface="华文楷体" panose="02010600040101010101" pitchFamily="2" charset="-122"/>
              </a:rPr>
              <a:t>以点电荷为球心的球面上各点的电场强度大小相等，方向沿着位矢的方向。</a:t>
            </a:r>
            <a:endParaRPr lang="zh-CN" altLang="en-US" sz="1600" b="1"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05708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548368" y="248715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9" name="标题 5">
            <a:extLst>
              <a:ext uri="{FF2B5EF4-FFF2-40B4-BE49-F238E27FC236}">
                <a16:creationId xmlns:a16="http://schemas.microsoft.com/office/drawing/2014/main" id="{1EC81F4C-B434-4B6F-AE3F-0DE36534F8AB}"/>
              </a:ext>
            </a:extLst>
          </p:cNvPr>
          <p:cNvSpPr txBox="1">
            <a:spLocks/>
          </p:cNvSpPr>
          <p:nvPr/>
        </p:nvSpPr>
        <p:spPr>
          <a:xfrm>
            <a:off x="646339" y="863379"/>
            <a:ext cx="4117522" cy="7370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电场叠加原理</a:t>
            </a:r>
          </a:p>
        </p:txBody>
      </p:sp>
      <p:sp>
        <p:nvSpPr>
          <p:cNvPr id="22" name="Text Box 18">
            <a:extLst>
              <a:ext uri="{FF2B5EF4-FFF2-40B4-BE49-F238E27FC236}">
                <a16:creationId xmlns:a16="http://schemas.microsoft.com/office/drawing/2014/main" id="{7F03C8FE-A516-4690-9DF1-3CBF97BE3F6A}"/>
              </a:ext>
            </a:extLst>
          </p:cNvPr>
          <p:cNvSpPr txBox="1">
            <a:spLocks noChangeArrowheads="1"/>
          </p:cNvSpPr>
          <p:nvPr/>
        </p:nvSpPr>
        <p:spPr bwMode="auto">
          <a:xfrm>
            <a:off x="1077573" y="1604722"/>
            <a:ext cx="5999162" cy="579438"/>
          </a:xfrm>
          <a:prstGeom prst="rect">
            <a:avLst/>
          </a:prstGeom>
          <a:noFill/>
          <a:ln w="12699">
            <a:noFill/>
            <a:miter lim="800000"/>
            <a:headEnd type="none" w="sm" len="sm"/>
            <a:tailEnd type="none" w="sm" len="sm"/>
          </a:ln>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如果带电体由 </a:t>
            </a:r>
            <a:r>
              <a:rPr lang="en-US" altLang="zh-CN" sz="3200" i="1" dirty="0">
                <a:solidFill>
                  <a:schemeClr val="tx1"/>
                </a:solidFill>
                <a:latin typeface="华文楷体" panose="02010600040101010101" pitchFamily="2" charset="-122"/>
                <a:ea typeface="华文楷体" panose="02010600040101010101" pitchFamily="2" charset="-122"/>
              </a:rPr>
              <a:t>n</a:t>
            </a:r>
            <a:r>
              <a:rPr lang="en-US" altLang="zh-CN" sz="3200" dirty="0">
                <a:solidFill>
                  <a:schemeClr val="tx1"/>
                </a:solidFill>
                <a:latin typeface="华文楷体" panose="02010600040101010101" pitchFamily="2" charset="-122"/>
                <a:ea typeface="华文楷体" panose="02010600040101010101" pitchFamily="2" charset="-122"/>
              </a:rPr>
              <a:t> </a:t>
            </a:r>
            <a:r>
              <a:rPr lang="zh-CN" altLang="en-US" sz="3200" dirty="0">
                <a:solidFill>
                  <a:schemeClr val="tx1"/>
                </a:solidFill>
                <a:latin typeface="华文楷体" panose="02010600040101010101" pitchFamily="2" charset="-122"/>
                <a:ea typeface="华文楷体" panose="02010600040101010101" pitchFamily="2" charset="-122"/>
              </a:rPr>
              <a:t>个点电荷组成</a:t>
            </a:r>
          </a:p>
        </p:txBody>
      </p:sp>
      <p:grpSp>
        <p:nvGrpSpPr>
          <p:cNvPr id="23" name="Group 25">
            <a:extLst>
              <a:ext uri="{FF2B5EF4-FFF2-40B4-BE49-F238E27FC236}">
                <a16:creationId xmlns:a16="http://schemas.microsoft.com/office/drawing/2014/main" id="{918AB90A-4AFD-400D-B899-EB17B38AA2D6}"/>
              </a:ext>
            </a:extLst>
          </p:cNvPr>
          <p:cNvGrpSpPr>
            <a:grpSpLocks/>
          </p:cNvGrpSpPr>
          <p:nvPr/>
        </p:nvGrpSpPr>
        <p:grpSpPr bwMode="auto">
          <a:xfrm>
            <a:off x="8596539" y="1143675"/>
            <a:ext cx="1676400" cy="1219200"/>
            <a:chOff x="4368" y="1104"/>
            <a:chExt cx="1056" cy="768"/>
          </a:xfrm>
        </p:grpSpPr>
        <p:sp>
          <p:nvSpPr>
            <p:cNvPr id="24" name="Freeform 19">
              <a:extLst>
                <a:ext uri="{FF2B5EF4-FFF2-40B4-BE49-F238E27FC236}">
                  <a16:creationId xmlns:a16="http://schemas.microsoft.com/office/drawing/2014/main" id="{35AEFD55-BF53-474B-B2C3-EC5417FFB234}"/>
                </a:ext>
              </a:extLst>
            </p:cNvPr>
            <p:cNvSpPr>
              <a:spLocks/>
            </p:cNvSpPr>
            <p:nvPr/>
          </p:nvSpPr>
          <p:spPr bwMode="auto">
            <a:xfrm>
              <a:off x="4368" y="1104"/>
              <a:ext cx="1056" cy="768"/>
            </a:xfrm>
            <a:custGeom>
              <a:avLst/>
              <a:gdLst>
                <a:gd name="T0" fmla="*/ 847041100 w 406"/>
                <a:gd name="T1" fmla="*/ 33229129 h 336"/>
                <a:gd name="T2" fmla="*/ 1342464676 w 406"/>
                <a:gd name="T3" fmla="*/ 12872846 h 336"/>
                <a:gd name="T4" fmla="*/ 1781545314 w 406"/>
                <a:gd name="T5" fmla="*/ 95944679 h 336"/>
                <a:gd name="T6" fmla="*/ 1723718650 w 406"/>
                <a:gd name="T7" fmla="*/ 144280978 h 336"/>
                <a:gd name="T8" fmla="*/ 1066187094 w 406"/>
                <a:gd name="T9" fmla="*/ 186006475 h 336"/>
                <a:gd name="T10" fmla="*/ 684950187 w 406"/>
                <a:gd name="T11" fmla="*/ 179238667 h 336"/>
                <a:gd name="T12" fmla="*/ 627817178 w 406"/>
                <a:gd name="T13" fmla="*/ 158089922 h 336"/>
                <a:gd name="T14" fmla="*/ 246393081 w 406"/>
                <a:gd name="T15" fmla="*/ 109977182 h 336"/>
                <a:gd name="T16" fmla="*/ 407889886 w 406"/>
                <a:gd name="T17" fmla="*/ 26683303 h 336"/>
                <a:gd name="T18" fmla="*/ 847041100 w 406"/>
                <a:gd name="T19" fmla="*/ 33229129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6"/>
                <a:gd name="T31" fmla="*/ 0 h 336"/>
                <a:gd name="T32" fmla="*/ 406 w 406"/>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6" h="336">
                  <a:moveTo>
                    <a:pt x="193" y="60"/>
                  </a:moveTo>
                  <a:cubicBezTo>
                    <a:pt x="279" y="3"/>
                    <a:pt x="240" y="0"/>
                    <a:pt x="306" y="23"/>
                  </a:cubicBezTo>
                  <a:cubicBezTo>
                    <a:pt x="351" y="68"/>
                    <a:pt x="386" y="113"/>
                    <a:pt x="406" y="173"/>
                  </a:cubicBezTo>
                  <a:cubicBezTo>
                    <a:pt x="402" y="202"/>
                    <a:pt x="406" y="234"/>
                    <a:pt x="393" y="260"/>
                  </a:cubicBezTo>
                  <a:cubicBezTo>
                    <a:pt x="371" y="304"/>
                    <a:pt x="286" y="325"/>
                    <a:pt x="243" y="335"/>
                  </a:cubicBezTo>
                  <a:cubicBezTo>
                    <a:pt x="214" y="331"/>
                    <a:pt x="182" y="336"/>
                    <a:pt x="156" y="323"/>
                  </a:cubicBezTo>
                  <a:cubicBezTo>
                    <a:pt x="144" y="317"/>
                    <a:pt x="151" y="295"/>
                    <a:pt x="143" y="285"/>
                  </a:cubicBezTo>
                  <a:cubicBezTo>
                    <a:pt x="117" y="253"/>
                    <a:pt x="85" y="227"/>
                    <a:pt x="56" y="198"/>
                  </a:cubicBezTo>
                  <a:cubicBezTo>
                    <a:pt x="33" y="108"/>
                    <a:pt x="0" y="78"/>
                    <a:pt x="93" y="48"/>
                  </a:cubicBezTo>
                  <a:cubicBezTo>
                    <a:pt x="135" y="61"/>
                    <a:pt x="152" y="81"/>
                    <a:pt x="193" y="60"/>
                  </a:cubicBezTo>
                  <a:close/>
                </a:path>
              </a:pathLst>
            </a:custGeom>
            <a:noFill/>
            <a:ln w="38100" cap="rnd" cmpd="sng">
              <a:solidFill>
                <a:schemeClr val="tx1"/>
              </a:solidFill>
              <a:prstDash val="sysDot"/>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latin typeface="华文楷体" panose="02010600040101010101" pitchFamily="2" charset="-122"/>
                <a:ea typeface="华文楷体" panose="02010600040101010101" pitchFamily="2" charset="-122"/>
              </a:endParaRPr>
            </a:p>
          </p:txBody>
        </p:sp>
        <p:sp>
          <p:nvSpPr>
            <p:cNvPr id="25" name="Oval 20">
              <a:extLst>
                <a:ext uri="{FF2B5EF4-FFF2-40B4-BE49-F238E27FC236}">
                  <a16:creationId xmlns:a16="http://schemas.microsoft.com/office/drawing/2014/main" id="{A2265393-ABA4-4F6C-9E69-AD4218C30A90}"/>
                </a:ext>
              </a:extLst>
            </p:cNvPr>
            <p:cNvSpPr>
              <a:spLocks noChangeArrowheads="1"/>
            </p:cNvSpPr>
            <p:nvPr/>
          </p:nvSpPr>
          <p:spPr bwMode="auto">
            <a:xfrm>
              <a:off x="4608" y="1392"/>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6" name="Oval 21">
              <a:extLst>
                <a:ext uri="{FF2B5EF4-FFF2-40B4-BE49-F238E27FC236}">
                  <a16:creationId xmlns:a16="http://schemas.microsoft.com/office/drawing/2014/main" id="{32310F6E-67CA-461C-B619-9AE54FAD2E5F}"/>
                </a:ext>
              </a:extLst>
            </p:cNvPr>
            <p:cNvSpPr>
              <a:spLocks noChangeArrowheads="1"/>
            </p:cNvSpPr>
            <p:nvPr/>
          </p:nvSpPr>
          <p:spPr bwMode="auto">
            <a:xfrm>
              <a:off x="4896" y="1344"/>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7" name="Oval 22">
              <a:extLst>
                <a:ext uri="{FF2B5EF4-FFF2-40B4-BE49-F238E27FC236}">
                  <a16:creationId xmlns:a16="http://schemas.microsoft.com/office/drawing/2014/main" id="{91D4400D-C8D0-4FDB-A8CC-CF6EFFA6260B}"/>
                </a:ext>
              </a:extLst>
            </p:cNvPr>
            <p:cNvSpPr>
              <a:spLocks noChangeArrowheads="1"/>
            </p:cNvSpPr>
            <p:nvPr/>
          </p:nvSpPr>
          <p:spPr bwMode="auto">
            <a:xfrm>
              <a:off x="5232" y="1440"/>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8" name="Oval 23">
              <a:extLst>
                <a:ext uri="{FF2B5EF4-FFF2-40B4-BE49-F238E27FC236}">
                  <a16:creationId xmlns:a16="http://schemas.microsoft.com/office/drawing/2014/main" id="{7C4E3BC2-C728-4B40-957E-B5C2FC41C536}"/>
                </a:ext>
              </a:extLst>
            </p:cNvPr>
            <p:cNvSpPr>
              <a:spLocks noChangeArrowheads="1"/>
            </p:cNvSpPr>
            <p:nvPr/>
          </p:nvSpPr>
          <p:spPr bwMode="auto">
            <a:xfrm>
              <a:off x="4848" y="1536"/>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9" name="Oval 24">
              <a:extLst>
                <a:ext uri="{FF2B5EF4-FFF2-40B4-BE49-F238E27FC236}">
                  <a16:creationId xmlns:a16="http://schemas.microsoft.com/office/drawing/2014/main" id="{39895F74-8423-4F41-8D59-5689DC9D4786}"/>
                </a:ext>
              </a:extLst>
            </p:cNvPr>
            <p:cNvSpPr>
              <a:spLocks noChangeArrowheads="1"/>
            </p:cNvSpPr>
            <p:nvPr/>
          </p:nvSpPr>
          <p:spPr bwMode="auto">
            <a:xfrm>
              <a:off x="5040" y="1632"/>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p:graphicFrame>
        <p:nvGraphicFramePr>
          <p:cNvPr id="30" name="Object 26">
            <a:extLst>
              <a:ext uri="{FF2B5EF4-FFF2-40B4-BE49-F238E27FC236}">
                <a16:creationId xmlns:a16="http://schemas.microsoft.com/office/drawing/2014/main" id="{3077A0AC-89B3-4657-8A74-B47AAA7E9DCA}"/>
              </a:ext>
            </a:extLst>
          </p:cNvPr>
          <p:cNvGraphicFramePr>
            <a:graphicFrameLocks noChangeAspect="1"/>
          </p:cNvGraphicFramePr>
          <p:nvPr/>
        </p:nvGraphicFramePr>
        <p:xfrm>
          <a:off x="9434739" y="991275"/>
          <a:ext cx="477838" cy="723900"/>
        </p:xfrm>
        <a:graphic>
          <a:graphicData uri="http://schemas.openxmlformats.org/presentationml/2006/ole">
            <mc:AlternateContent xmlns:mc="http://schemas.openxmlformats.org/markup-compatibility/2006">
              <mc:Choice xmlns:v="urn:schemas-microsoft-com:vml" Requires="v">
                <p:oleObj spid="_x0000_s4133" name="公式" r:id="rId3" imgW="152334" imgH="228501" progId="Equation.3">
                  <p:embed/>
                </p:oleObj>
              </mc:Choice>
              <mc:Fallback>
                <p:oleObj name="公式" r:id="rId3" imgW="152334" imgH="228501" progId="Equation.3">
                  <p:embed/>
                  <p:pic>
                    <p:nvPicPr>
                      <p:cNvPr id="30" name="Object 26">
                        <a:extLst>
                          <a:ext uri="{FF2B5EF4-FFF2-40B4-BE49-F238E27FC236}">
                            <a16:creationId xmlns:a16="http://schemas.microsoft.com/office/drawing/2014/main" id="{3077A0AC-89B3-4657-8A74-B47AAA7E9D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4739" y="991275"/>
                        <a:ext cx="477838"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28">
            <a:extLst>
              <a:ext uri="{FF2B5EF4-FFF2-40B4-BE49-F238E27FC236}">
                <a16:creationId xmlns:a16="http://schemas.microsoft.com/office/drawing/2014/main" id="{EE22CA12-E26B-4BC0-BE4B-7287378C6E4B}"/>
              </a:ext>
            </a:extLst>
          </p:cNvPr>
          <p:cNvGraphicFramePr>
            <a:graphicFrameLocks noChangeAspect="1"/>
          </p:cNvGraphicFramePr>
          <p:nvPr/>
        </p:nvGraphicFramePr>
        <p:xfrm>
          <a:off x="7605940" y="1829475"/>
          <a:ext cx="409575" cy="533400"/>
        </p:xfrm>
        <a:graphic>
          <a:graphicData uri="http://schemas.openxmlformats.org/presentationml/2006/ole">
            <mc:AlternateContent xmlns:mc="http://schemas.openxmlformats.org/markup-compatibility/2006">
              <mc:Choice xmlns:v="urn:schemas-microsoft-com:vml" Requires="v">
                <p:oleObj spid="_x0000_s4134" name="公式" r:id="rId5" imgW="126780" imgH="164814" progId="Equation.3">
                  <p:embed/>
                </p:oleObj>
              </mc:Choice>
              <mc:Fallback>
                <p:oleObj name="公式" r:id="rId5" imgW="126780" imgH="164814" progId="Equation.3">
                  <p:embed/>
                  <p:pic>
                    <p:nvPicPr>
                      <p:cNvPr id="45" name="Object 28">
                        <a:extLst>
                          <a:ext uri="{FF2B5EF4-FFF2-40B4-BE49-F238E27FC236}">
                            <a16:creationId xmlns:a16="http://schemas.microsoft.com/office/drawing/2014/main" id="{EE22CA12-E26B-4BC0-BE4B-7287378C6E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5940" y="1829475"/>
                        <a:ext cx="4095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Oval 29">
            <a:extLst>
              <a:ext uri="{FF2B5EF4-FFF2-40B4-BE49-F238E27FC236}">
                <a16:creationId xmlns:a16="http://schemas.microsoft.com/office/drawing/2014/main" id="{53A03F6D-2F9B-421E-8D3C-4D942408F167}"/>
              </a:ext>
            </a:extLst>
          </p:cNvPr>
          <p:cNvSpPr>
            <a:spLocks noChangeArrowheads="1"/>
          </p:cNvSpPr>
          <p:nvPr/>
        </p:nvSpPr>
        <p:spPr bwMode="auto">
          <a:xfrm>
            <a:off x="8063139" y="2286675"/>
            <a:ext cx="76200" cy="76200"/>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p:nvGrpSpPr>
          <p:cNvPr id="47" name="Group 33">
            <a:extLst>
              <a:ext uri="{FF2B5EF4-FFF2-40B4-BE49-F238E27FC236}">
                <a16:creationId xmlns:a16="http://schemas.microsoft.com/office/drawing/2014/main" id="{6D5B132D-39CF-4D2B-AEF1-3D511125004D}"/>
              </a:ext>
            </a:extLst>
          </p:cNvPr>
          <p:cNvGrpSpPr>
            <a:grpSpLocks/>
          </p:cNvGrpSpPr>
          <p:nvPr/>
        </p:nvGrpSpPr>
        <p:grpSpPr bwMode="auto">
          <a:xfrm>
            <a:off x="8139339" y="1600875"/>
            <a:ext cx="1219200" cy="1143000"/>
            <a:chOff x="4176" y="1392"/>
            <a:chExt cx="768" cy="720"/>
          </a:xfrm>
        </p:grpSpPr>
        <p:sp>
          <p:nvSpPr>
            <p:cNvPr id="48" name="Line 31">
              <a:extLst>
                <a:ext uri="{FF2B5EF4-FFF2-40B4-BE49-F238E27FC236}">
                  <a16:creationId xmlns:a16="http://schemas.microsoft.com/office/drawing/2014/main" id="{3E397D6C-2772-4C24-B5D2-D0B4BD89A432}"/>
                </a:ext>
              </a:extLst>
            </p:cNvPr>
            <p:cNvSpPr>
              <a:spLocks noChangeShapeType="1"/>
            </p:cNvSpPr>
            <p:nvPr/>
          </p:nvSpPr>
          <p:spPr bwMode="auto">
            <a:xfrm flipH="1">
              <a:off x="4176" y="1392"/>
              <a:ext cx="768" cy="43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华文楷体" panose="02010600040101010101" pitchFamily="2" charset="-122"/>
                <a:ea typeface="华文楷体" panose="02010600040101010101" pitchFamily="2" charset="-122"/>
              </a:endParaRPr>
            </a:p>
          </p:txBody>
        </p:sp>
        <p:graphicFrame>
          <p:nvGraphicFramePr>
            <p:cNvPr id="49" name="Object 32">
              <a:extLst>
                <a:ext uri="{FF2B5EF4-FFF2-40B4-BE49-F238E27FC236}">
                  <a16:creationId xmlns:a16="http://schemas.microsoft.com/office/drawing/2014/main" id="{C1753680-A330-4BDF-AD27-D4B991214E32}"/>
                </a:ext>
              </a:extLst>
            </p:cNvPr>
            <p:cNvGraphicFramePr>
              <a:graphicFrameLocks noChangeAspect="1"/>
            </p:cNvGraphicFramePr>
            <p:nvPr/>
          </p:nvGraphicFramePr>
          <p:xfrm>
            <a:off x="4416" y="1632"/>
            <a:ext cx="263" cy="480"/>
          </p:xfrm>
          <a:graphic>
            <a:graphicData uri="http://schemas.openxmlformats.org/presentationml/2006/ole">
              <mc:AlternateContent xmlns:mc="http://schemas.openxmlformats.org/markup-compatibility/2006">
                <mc:Choice xmlns:v="urn:schemas-microsoft-com:vml" Requires="v">
                  <p:oleObj spid="_x0000_s4135" name="公式" r:id="rId7" imgW="126890" imgH="228402" progId="Equation.3">
                    <p:embed/>
                  </p:oleObj>
                </mc:Choice>
                <mc:Fallback>
                  <p:oleObj name="公式" r:id="rId7" imgW="126890" imgH="228402" progId="Equation.3">
                    <p:embed/>
                    <p:pic>
                      <p:nvPicPr>
                        <p:cNvPr id="49" name="Object 32">
                          <a:extLst>
                            <a:ext uri="{FF2B5EF4-FFF2-40B4-BE49-F238E27FC236}">
                              <a16:creationId xmlns:a16="http://schemas.microsoft.com/office/drawing/2014/main" id="{C1753680-A330-4BDF-AD27-D4B991214E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6" y="1632"/>
                          <a:ext cx="26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50" name="Object 27">
                <a:extLst>
                  <a:ext uri="{FF2B5EF4-FFF2-40B4-BE49-F238E27FC236}">
                    <a16:creationId xmlns:a16="http://schemas.microsoft.com/office/drawing/2014/main" id="{2BBFD6A7-C2CA-4389-8504-A4A1D6121BDB}"/>
                  </a:ext>
                </a:extLst>
              </p:cNvPr>
              <p:cNvSpPr txBox="1"/>
              <p:nvPr/>
            </p:nvSpPr>
            <p:spPr bwMode="auto">
              <a:xfrm>
                <a:off x="4040868" y="2825063"/>
                <a:ext cx="2438400" cy="1219200"/>
              </a:xfrm>
              <a:prstGeom prst="rect">
                <a:avLst/>
              </a:prstGeom>
              <a:noFill/>
              <a:ln w="9525">
                <a:noFill/>
                <a:miter lim="800000"/>
                <a:headEnd/>
                <a:tailEnd/>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𝐹</m:t>
                          </m:r>
                        </m:e>
                      </m:acc>
                      <m:r>
                        <a:rPr lang="en-US" sz="2800" b="0" i="1">
                          <a:solidFill>
                            <a:srgbClr val="000000"/>
                          </a:solidFill>
                          <a:latin typeface="Cambria Math" panose="02040503050406030204" pitchFamily="18" charset="0"/>
                        </a:rPr>
                        <m:t>=</m:t>
                      </m:r>
                      <m:nary>
                        <m:naryPr>
                          <m:chr m:val="∑"/>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=1</m:t>
                          </m:r>
                        </m:sub>
                        <m:sup>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sup>
                        <m:e>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𝐹</m:t>
                                  </m:r>
                                </m:e>
                              </m:acc>
                            </m:e>
                            <m:sub>
                              <m:r>
                                <a:rPr lang="en-US" sz="2800" b="0" i="1">
                                  <a:solidFill>
                                    <a:srgbClr val="000000"/>
                                  </a:solidFill>
                                  <a:latin typeface="Cambria Math" panose="02040503050406030204" pitchFamily="18" charset="0"/>
                                </a:rPr>
                                <m:t>𝑖</m:t>
                              </m:r>
                            </m:sub>
                          </m:sSub>
                        </m:e>
                      </m:nary>
                    </m:oMath>
                  </m:oMathPara>
                </a14:m>
                <a:endParaRPr lang="en-US" sz="2800" dirty="0">
                  <a:latin typeface="华文楷体" panose="02010600040101010101" pitchFamily="2" charset="-122"/>
                  <a:ea typeface="华文楷体" panose="02010600040101010101" pitchFamily="2" charset="-122"/>
                </a:endParaRPr>
              </a:p>
            </p:txBody>
          </p:sp>
        </mc:Choice>
        <mc:Fallback xmlns="">
          <p:sp>
            <p:nvSpPr>
              <p:cNvPr id="50" name="Object 27">
                <a:extLst>
                  <a:ext uri="{FF2B5EF4-FFF2-40B4-BE49-F238E27FC236}">
                    <a16:creationId xmlns:a16="http://schemas.microsoft.com/office/drawing/2014/main" id="{2BBFD6A7-C2CA-4389-8504-A4A1D6121BDB}"/>
                  </a:ext>
                </a:extLst>
              </p:cNvPr>
              <p:cNvSpPr txBox="1">
                <a:spLocks noRot="1" noChangeAspect="1" noMove="1" noResize="1" noEditPoints="1" noAdjustHandles="1" noChangeArrowheads="1" noChangeShapeType="1" noTextEdit="1"/>
              </p:cNvSpPr>
              <p:nvPr/>
            </p:nvSpPr>
            <p:spPr bwMode="auto">
              <a:xfrm>
                <a:off x="4040868" y="2825063"/>
                <a:ext cx="2438400" cy="1219200"/>
              </a:xfrm>
              <a:prstGeom prst="rect">
                <a:avLst/>
              </a:prstGeom>
              <a:blipFill>
                <a:blip r:embed="rId9"/>
                <a:stretch>
                  <a:fillRect b="-4000"/>
                </a:stretch>
              </a:blipFill>
              <a:ln w="9525">
                <a:noFill/>
                <a:miter lim="800000"/>
                <a:headEnd/>
                <a:tailEnd/>
              </a:ln>
              <a:effectLst/>
            </p:spPr>
            <p:txBody>
              <a:bodyPr/>
              <a:lstStyle/>
              <a:p>
                <a:r>
                  <a:rPr lang="zh-CN" altLang="en-US">
                    <a:noFill/>
                  </a:rPr>
                  <a:t> </a:t>
                </a:r>
              </a:p>
            </p:txBody>
          </p:sp>
        </mc:Fallback>
      </mc:AlternateContent>
      <p:grpSp>
        <p:nvGrpSpPr>
          <p:cNvPr id="51" name="Group 48">
            <a:extLst>
              <a:ext uri="{FF2B5EF4-FFF2-40B4-BE49-F238E27FC236}">
                <a16:creationId xmlns:a16="http://schemas.microsoft.com/office/drawing/2014/main" id="{31D3BAA8-0FE3-41A2-8ECF-F74DA5DDE5E7}"/>
              </a:ext>
            </a:extLst>
          </p:cNvPr>
          <p:cNvGrpSpPr>
            <a:grpSpLocks/>
          </p:cNvGrpSpPr>
          <p:nvPr/>
        </p:nvGrpSpPr>
        <p:grpSpPr bwMode="auto">
          <a:xfrm>
            <a:off x="1917247" y="2883800"/>
            <a:ext cx="2209800" cy="1160463"/>
            <a:chOff x="480" y="1776"/>
            <a:chExt cx="1392" cy="731"/>
          </a:xfrm>
        </p:grpSpPr>
        <p:sp>
          <p:nvSpPr>
            <p:cNvPr id="52" name="Text Box 34">
              <a:extLst>
                <a:ext uri="{FF2B5EF4-FFF2-40B4-BE49-F238E27FC236}">
                  <a16:creationId xmlns:a16="http://schemas.microsoft.com/office/drawing/2014/main" id="{9ED7DA4A-09F0-4051-BA90-8D0439733C59}"/>
                </a:ext>
              </a:extLst>
            </p:cNvPr>
            <p:cNvSpPr txBox="1">
              <a:spLocks noChangeArrowheads="1"/>
            </p:cNvSpPr>
            <p:nvPr/>
          </p:nvSpPr>
          <p:spPr bwMode="auto">
            <a:xfrm>
              <a:off x="480" y="1776"/>
              <a:ext cx="1392"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latin typeface="华文楷体" panose="02010600040101010101" pitchFamily="2" charset="-122"/>
                  <a:ea typeface="华文楷体" panose="02010600040101010101" pitchFamily="2" charset="-122"/>
                </a:rPr>
                <a:t>由电力叠</a:t>
              </a:r>
            </a:p>
            <a:p>
              <a:pPr>
                <a:spcBef>
                  <a:spcPct val="50000"/>
                </a:spcBef>
              </a:pPr>
              <a:r>
                <a:rPr lang="zh-CN" altLang="en-US" sz="2800" dirty="0">
                  <a:latin typeface="华文楷体" panose="02010600040101010101" pitchFamily="2" charset="-122"/>
                  <a:ea typeface="华文楷体" panose="02010600040101010101" pitchFamily="2" charset="-122"/>
                </a:rPr>
                <a:t>加原理</a:t>
              </a:r>
            </a:p>
          </p:txBody>
        </p:sp>
        <p:sp>
          <p:nvSpPr>
            <p:cNvPr id="53" name="AutoShape 35">
              <a:extLst>
                <a:ext uri="{FF2B5EF4-FFF2-40B4-BE49-F238E27FC236}">
                  <a16:creationId xmlns:a16="http://schemas.microsoft.com/office/drawing/2014/main" id="{112B83E5-3101-407E-AAA7-1A59ECDEBBA5}"/>
                </a:ext>
              </a:extLst>
            </p:cNvPr>
            <p:cNvSpPr>
              <a:spLocks noChangeArrowheads="1"/>
            </p:cNvSpPr>
            <p:nvPr/>
          </p:nvSpPr>
          <p:spPr bwMode="auto">
            <a:xfrm>
              <a:off x="608" y="2112"/>
              <a:ext cx="950" cy="96"/>
            </a:xfrm>
            <a:prstGeom prst="rightArrow">
              <a:avLst>
                <a:gd name="adj1" fmla="val 50000"/>
                <a:gd name="adj2" fmla="val 247396"/>
              </a:avLst>
            </a:prstGeom>
            <a:solidFill>
              <a:schemeClr val="accent1"/>
            </a:solidFill>
            <a:ln w="12699">
              <a:solidFill>
                <a:schemeClr val="tx1"/>
              </a:solidFill>
              <a:miter lim="800000"/>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mc:AlternateContent xmlns:mc="http://schemas.openxmlformats.org/markup-compatibility/2006" xmlns:a14="http://schemas.microsoft.com/office/drawing/2010/main">
        <mc:Choice Requires="a14">
          <p:sp>
            <p:nvSpPr>
              <p:cNvPr id="55" name="Object 4">
                <a:extLst>
                  <a:ext uri="{FF2B5EF4-FFF2-40B4-BE49-F238E27FC236}">
                    <a16:creationId xmlns:a16="http://schemas.microsoft.com/office/drawing/2014/main" id="{9610E83E-9A2D-490D-AE3F-C226963EF4EA}"/>
                  </a:ext>
                </a:extLst>
              </p:cNvPr>
              <p:cNvSpPr txBox="1"/>
              <p:nvPr/>
            </p:nvSpPr>
            <p:spPr bwMode="auto">
              <a:xfrm>
                <a:off x="4002201" y="4103000"/>
                <a:ext cx="4490471" cy="18288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000000"/>
                              </a:solidFill>
                              <a:latin typeface="Cambria Math" panose="02040503050406030204" pitchFamily="18" charset="0"/>
                            </a:rPr>
                          </m:ctrlPr>
                        </m:accPr>
                        <m:e>
                          <m:r>
                            <a:rPr lang="en-US" altLang="zh-CN" sz="2800" b="0" i="1">
                              <a:solidFill>
                                <a:srgbClr val="000000"/>
                              </a:solidFill>
                              <a:latin typeface="Cambria Math" panose="02040503050406030204" pitchFamily="18" charset="0"/>
                            </a:rPr>
                            <m:t>𝐸</m:t>
                          </m:r>
                        </m:e>
                      </m:acc>
                      <m:r>
                        <a:rPr lang="en-US" sz="2800" b="0" i="1" smtClean="0">
                          <a:solidFill>
                            <a:srgbClr val="000000"/>
                          </a:solidFill>
                          <a:latin typeface="Cambria Math" panose="02040503050406030204" pitchFamily="18" charset="0"/>
                        </a:rPr>
                        <m:t>=</m:t>
                      </m:r>
                      <m:f>
                        <m:fPr>
                          <m:ctrlPr>
                            <a:rPr lang="en-US" sz="2800" i="1" smtClean="0">
                              <a:solidFill>
                                <a:srgbClr val="000000"/>
                              </a:solidFill>
                              <a:latin typeface="Cambria Math" panose="02040503050406030204" pitchFamily="18" charset="0"/>
                            </a:rPr>
                          </m:ctrlPr>
                        </m:fPr>
                        <m:num>
                          <m:acc>
                            <m:accPr>
                              <m:chr m:val="⃗"/>
                              <m:ctrlPr>
                                <a:rPr lang="en-US" sz="2800" i="1" smtClean="0">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𝐹</m:t>
                              </m:r>
                            </m:e>
                          </m:acc>
                        </m:num>
                        <m:den>
                          <m:r>
                            <a:rPr lang="en-US" sz="2800" b="0" i="1" smtClean="0">
                              <a:solidFill>
                                <a:srgbClr val="000000"/>
                              </a:solidFill>
                              <a:latin typeface="Cambria Math" panose="02040503050406030204" pitchFamily="18" charset="0"/>
                            </a:rPr>
                            <m:t>𝑞</m:t>
                          </m:r>
                        </m:den>
                      </m:f>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nary>
                            <m:naryPr>
                              <m:chr m:val="∑"/>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=1</m:t>
                              </m:r>
                            </m:sub>
                            <m:sup>
                              <m:r>
                                <a:rPr lang="en-US" sz="2800" b="0" i="1">
                                  <a:solidFill>
                                    <a:srgbClr val="000000"/>
                                  </a:solidFill>
                                  <a:latin typeface="Cambria Math" panose="02040503050406030204" pitchFamily="18" charset="0"/>
                                </a:rPr>
                                <m:t>𝑛</m:t>
                              </m:r>
                            </m:sup>
                            <m:e>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𝐹</m:t>
                                      </m:r>
                                    </m:e>
                                  </m:acc>
                                </m:e>
                                <m:sub>
                                  <m:r>
                                    <a:rPr lang="en-US" sz="2800" b="0" i="1">
                                      <a:solidFill>
                                        <a:srgbClr val="000000"/>
                                      </a:solidFill>
                                      <a:latin typeface="Cambria Math" panose="02040503050406030204" pitchFamily="18" charset="0"/>
                                    </a:rPr>
                                    <m:t>𝑖</m:t>
                                  </m:r>
                                </m:sub>
                              </m:sSub>
                            </m:e>
                          </m:nary>
                        </m:num>
                        <m:den>
                          <m:r>
                            <a:rPr lang="en-US" sz="2800" b="0" i="1">
                              <a:solidFill>
                                <a:srgbClr val="000000"/>
                              </a:solidFill>
                              <a:latin typeface="Cambria Math" panose="02040503050406030204" pitchFamily="18" charset="0"/>
                            </a:rPr>
                            <m:t>𝑞</m:t>
                          </m:r>
                        </m:den>
                      </m:f>
                      <m:r>
                        <a:rPr lang="en-US" sz="2800" b="0" i="1">
                          <a:solidFill>
                            <a:srgbClr val="000000"/>
                          </a:solidFill>
                          <a:latin typeface="Cambria Math" panose="02040503050406030204" pitchFamily="18" charset="0"/>
                        </a:rPr>
                        <m:t>=</m:t>
                      </m:r>
                      <m:nary>
                        <m:naryPr>
                          <m:chr m:val="∑"/>
                          <m:ctrlPr>
                            <a:rPr lang="en-US" sz="280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𝑖</m:t>
                          </m:r>
                          <m:r>
                            <a:rPr lang="en-US" sz="2800" b="0" i="1">
                              <a:solidFill>
                                <a:srgbClr val="000000"/>
                              </a:solidFill>
                              <a:latin typeface="Cambria Math" panose="02040503050406030204" pitchFamily="18" charset="0"/>
                            </a:rPr>
                            <m:t>=1</m:t>
                          </m:r>
                        </m:sub>
                        <m:sup>
                          <m:r>
                            <a:rPr lang="en-US" sz="2800" b="0" i="1">
                              <a:solidFill>
                                <a:srgbClr val="000000"/>
                              </a:solidFill>
                              <a:latin typeface="Cambria Math" panose="02040503050406030204" pitchFamily="18" charset="0"/>
                            </a:rPr>
                            <m:t>𝑛</m:t>
                          </m:r>
                        </m:sup>
                        <m:e>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𝐹</m:t>
                                      </m:r>
                                    </m:e>
                                  </m:acc>
                                </m:e>
                                <m:sub>
                                  <m:r>
                                    <a:rPr lang="en-US" sz="2800" b="0" i="1">
                                      <a:solidFill>
                                        <a:srgbClr val="000000"/>
                                      </a:solidFill>
                                      <a:latin typeface="Cambria Math" panose="02040503050406030204" pitchFamily="18" charset="0"/>
                                    </a:rPr>
                                    <m:t>𝑖</m:t>
                                  </m:r>
                                </m:sub>
                              </m:sSub>
                            </m:num>
                            <m:den>
                              <m:r>
                                <a:rPr lang="en-US" sz="2800" b="0" i="1">
                                  <a:solidFill>
                                    <a:srgbClr val="000000"/>
                                  </a:solidFill>
                                  <a:latin typeface="Cambria Math" panose="02040503050406030204" pitchFamily="18" charset="0"/>
                                </a:rPr>
                                <m:t>𝑞</m:t>
                              </m:r>
                            </m:den>
                          </m:f>
                        </m:e>
                      </m:nary>
                    </m:oMath>
                  </m:oMathPara>
                </a14:m>
                <a:endParaRPr lang="en-US" sz="2800" dirty="0">
                  <a:latin typeface="华文楷体" panose="02010600040101010101" pitchFamily="2" charset="-122"/>
                  <a:ea typeface="华文楷体" panose="02010600040101010101" pitchFamily="2" charset="-122"/>
                </a:endParaRPr>
              </a:p>
            </p:txBody>
          </p:sp>
        </mc:Choice>
        <mc:Fallback xmlns="">
          <p:sp>
            <p:nvSpPr>
              <p:cNvPr id="55" name="Object 4">
                <a:extLst>
                  <a:ext uri="{FF2B5EF4-FFF2-40B4-BE49-F238E27FC236}">
                    <a16:creationId xmlns:a16="http://schemas.microsoft.com/office/drawing/2014/main" id="{9610E83E-9A2D-490D-AE3F-C226963EF4EA}"/>
                  </a:ext>
                </a:extLst>
              </p:cNvPr>
              <p:cNvSpPr txBox="1">
                <a:spLocks noRot="1" noChangeAspect="1" noMove="1" noResize="1" noEditPoints="1" noAdjustHandles="1" noChangeArrowheads="1" noChangeShapeType="1" noTextEdit="1"/>
              </p:cNvSpPr>
              <p:nvPr/>
            </p:nvSpPr>
            <p:spPr bwMode="auto">
              <a:xfrm>
                <a:off x="4002201" y="4103000"/>
                <a:ext cx="4490471" cy="1828800"/>
              </a:xfrm>
              <a:prstGeom prst="rect">
                <a:avLst/>
              </a:prstGeom>
              <a:blipFill>
                <a:blip r:embed="rId10"/>
                <a:stretch>
                  <a:fillRect/>
                </a:stretch>
              </a:blipFill>
              <a:ln>
                <a:noFill/>
              </a:ln>
              <a:effectLst/>
            </p:spPr>
            <p:txBody>
              <a:bodyPr/>
              <a:lstStyle/>
              <a:p>
                <a:r>
                  <a:rPr lang="zh-CN" altLang="en-US">
                    <a:noFill/>
                  </a:rPr>
                  <a:t> </a:t>
                </a:r>
              </a:p>
            </p:txBody>
          </p:sp>
        </mc:Fallback>
      </mc:AlternateContent>
      <p:grpSp>
        <p:nvGrpSpPr>
          <p:cNvPr id="56" name="Group 39">
            <a:extLst>
              <a:ext uri="{FF2B5EF4-FFF2-40B4-BE49-F238E27FC236}">
                <a16:creationId xmlns:a16="http://schemas.microsoft.com/office/drawing/2014/main" id="{4F9439A3-E4DC-4AB1-AD9C-950EC16F73E3}"/>
              </a:ext>
            </a:extLst>
          </p:cNvPr>
          <p:cNvGrpSpPr>
            <a:grpSpLocks/>
          </p:cNvGrpSpPr>
          <p:nvPr/>
        </p:nvGrpSpPr>
        <p:grpSpPr bwMode="auto">
          <a:xfrm>
            <a:off x="1922238" y="4407800"/>
            <a:ext cx="2209800" cy="762000"/>
            <a:chOff x="336" y="2592"/>
            <a:chExt cx="1392" cy="480"/>
          </a:xfrm>
        </p:grpSpPr>
        <p:sp>
          <p:nvSpPr>
            <p:cNvPr id="57" name="Text Box 37">
              <a:extLst>
                <a:ext uri="{FF2B5EF4-FFF2-40B4-BE49-F238E27FC236}">
                  <a16:creationId xmlns:a16="http://schemas.microsoft.com/office/drawing/2014/main" id="{DED91D94-652E-4122-8628-CF15F1D26EE8}"/>
                </a:ext>
              </a:extLst>
            </p:cNvPr>
            <p:cNvSpPr txBox="1">
              <a:spLocks noChangeArrowheads="1"/>
            </p:cNvSpPr>
            <p:nvPr/>
          </p:nvSpPr>
          <p:spPr bwMode="auto">
            <a:xfrm>
              <a:off x="336" y="2592"/>
              <a:ext cx="13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latin typeface="华文楷体" panose="02010600040101010101" pitchFamily="2" charset="-122"/>
                  <a:ea typeface="华文楷体" panose="02010600040101010101" pitchFamily="2" charset="-122"/>
                </a:rPr>
                <a:t>由场强定义</a:t>
              </a:r>
            </a:p>
          </p:txBody>
        </p:sp>
        <p:sp>
          <p:nvSpPr>
            <p:cNvPr id="58" name="AutoShape 38">
              <a:extLst>
                <a:ext uri="{FF2B5EF4-FFF2-40B4-BE49-F238E27FC236}">
                  <a16:creationId xmlns:a16="http://schemas.microsoft.com/office/drawing/2014/main" id="{32A8C7F9-8834-4970-B015-2D7A6C84CAC7}"/>
                </a:ext>
              </a:extLst>
            </p:cNvPr>
            <p:cNvSpPr>
              <a:spLocks noChangeArrowheads="1"/>
            </p:cNvSpPr>
            <p:nvPr/>
          </p:nvSpPr>
          <p:spPr bwMode="auto">
            <a:xfrm>
              <a:off x="480" y="2976"/>
              <a:ext cx="912" cy="96"/>
            </a:xfrm>
            <a:prstGeom prst="rightArrow">
              <a:avLst>
                <a:gd name="adj1" fmla="val 50000"/>
                <a:gd name="adj2" fmla="val 237500"/>
              </a:avLst>
            </a:prstGeom>
            <a:solidFill>
              <a:schemeClr val="accent1"/>
            </a:solidFill>
            <a:ln w="12699">
              <a:solidFill>
                <a:schemeClr val="tx1"/>
              </a:solidFill>
              <a:miter lim="800000"/>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p:graphicFrame>
        <p:nvGraphicFramePr>
          <p:cNvPr id="59" name="Object 5">
            <a:extLst>
              <a:ext uri="{FF2B5EF4-FFF2-40B4-BE49-F238E27FC236}">
                <a16:creationId xmlns:a16="http://schemas.microsoft.com/office/drawing/2014/main" id="{C7AA19B4-0295-42AA-999D-2F15CEF9FA16}"/>
              </a:ext>
            </a:extLst>
          </p:cNvPr>
          <p:cNvGraphicFramePr>
            <a:graphicFrameLocks/>
          </p:cNvGraphicFramePr>
          <p:nvPr/>
        </p:nvGraphicFramePr>
        <p:xfrm>
          <a:off x="3448277" y="5453960"/>
          <a:ext cx="2120900" cy="1066800"/>
        </p:xfrm>
        <a:graphic>
          <a:graphicData uri="http://schemas.openxmlformats.org/presentationml/2006/ole">
            <mc:AlternateContent xmlns:mc="http://schemas.openxmlformats.org/markup-compatibility/2006">
              <mc:Choice xmlns:v="urn:schemas-microsoft-com:vml" Requires="v">
                <p:oleObj spid="_x0000_s4136" name="公式" r:id="rId11" imgW="672808" imgH="342751" progId="Equation.3">
                  <p:embed/>
                </p:oleObj>
              </mc:Choice>
              <mc:Fallback>
                <p:oleObj name="公式" r:id="rId11" imgW="672808" imgH="342751" progId="Equation.3">
                  <p:embed/>
                  <p:pic>
                    <p:nvPicPr>
                      <p:cNvPr id="59" name="Object 5">
                        <a:extLst>
                          <a:ext uri="{FF2B5EF4-FFF2-40B4-BE49-F238E27FC236}">
                            <a16:creationId xmlns:a16="http://schemas.microsoft.com/office/drawing/2014/main" id="{C7AA19B4-0295-42AA-999D-2F15CEF9FA16}"/>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8277" y="5453960"/>
                        <a:ext cx="2120900" cy="1066800"/>
                      </a:xfrm>
                      <a:prstGeom prst="rect">
                        <a:avLst/>
                      </a:prstGeom>
                      <a:noFill/>
                      <a:ln w="12699">
                        <a:solidFill>
                          <a:schemeClr val="bg1"/>
                        </a:solidFill>
                        <a:miter lim="800000"/>
                        <a:headEnd/>
                        <a:tailEnd/>
                      </a:ln>
                      <a:effectLst/>
                    </p:spPr>
                  </p:pic>
                </p:oleObj>
              </mc:Fallback>
            </mc:AlternateContent>
          </a:graphicData>
        </a:graphic>
      </p:graphicFrame>
      <p:graphicFrame>
        <p:nvGraphicFramePr>
          <p:cNvPr id="60" name="Object 42">
            <a:extLst>
              <a:ext uri="{FF2B5EF4-FFF2-40B4-BE49-F238E27FC236}">
                <a16:creationId xmlns:a16="http://schemas.microsoft.com/office/drawing/2014/main" id="{E318872F-589F-468F-A9F4-E073EB8FD9F4}"/>
              </a:ext>
            </a:extLst>
          </p:cNvPr>
          <p:cNvGraphicFramePr>
            <a:graphicFrameLocks noChangeAspect="1"/>
          </p:cNvGraphicFramePr>
          <p:nvPr/>
        </p:nvGraphicFramePr>
        <p:xfrm>
          <a:off x="6565675" y="5292037"/>
          <a:ext cx="2849563" cy="1279525"/>
        </p:xfrm>
        <a:graphic>
          <a:graphicData uri="http://schemas.openxmlformats.org/presentationml/2006/ole">
            <mc:AlternateContent xmlns:mc="http://schemas.openxmlformats.org/markup-compatibility/2006">
              <mc:Choice xmlns:v="urn:schemas-microsoft-com:vml" Requires="v">
                <p:oleObj spid="_x0000_s4137" name="Equation" r:id="rId13" imgW="990170" imgH="444307" progId="Equation.DSMT4">
                  <p:embed/>
                </p:oleObj>
              </mc:Choice>
              <mc:Fallback>
                <p:oleObj name="Equation" r:id="rId13" imgW="990170" imgH="444307" progId="Equation.DSMT4">
                  <p:embed/>
                  <p:pic>
                    <p:nvPicPr>
                      <p:cNvPr id="60" name="Object 42">
                        <a:extLst>
                          <a:ext uri="{FF2B5EF4-FFF2-40B4-BE49-F238E27FC236}">
                            <a16:creationId xmlns:a16="http://schemas.microsoft.com/office/drawing/2014/main" id="{E318872F-589F-468F-A9F4-E073EB8FD9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65675" y="5292037"/>
                        <a:ext cx="2849563" cy="1279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文本框 17">
            <a:extLst>
              <a:ext uri="{FF2B5EF4-FFF2-40B4-BE49-F238E27FC236}">
                <a16:creationId xmlns:a16="http://schemas.microsoft.com/office/drawing/2014/main" id="{A3A1C0E5-D633-4289-9970-01AD21F2C275}"/>
              </a:ext>
            </a:extLst>
          </p:cNvPr>
          <p:cNvSpPr txBox="1"/>
          <p:nvPr/>
        </p:nvSpPr>
        <p:spPr>
          <a:xfrm>
            <a:off x="5663591" y="5618028"/>
            <a:ext cx="518091" cy="492443"/>
          </a:xfrm>
          <a:prstGeom prst="rect">
            <a:avLst/>
          </a:prstGeom>
          <a:noFill/>
        </p:spPr>
        <p:txBody>
          <a:bodyPr wrap="none" rtlCol="0">
            <a:spAutoFit/>
          </a:bodyPr>
          <a:lstStyle/>
          <a:p>
            <a:r>
              <a:rPr lang="zh-CN" altLang="en-US" sz="2600" dirty="0">
                <a:latin typeface="华文楷体" panose="02010600040101010101" pitchFamily="2" charset="-122"/>
                <a:ea typeface="华文楷体" panose="02010600040101010101" pitchFamily="2" charset="-122"/>
              </a:rPr>
              <a:t>或</a:t>
            </a:r>
            <a:endParaRPr lang="en-US" sz="2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9991997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6" grpId="0" animBg="1"/>
      <p:bldP spid="50" grpId="0"/>
      <p:bldP spid="55"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8">
            <a:extLst>
              <a:ext uri="{FF2B5EF4-FFF2-40B4-BE49-F238E27FC236}">
                <a16:creationId xmlns:a16="http://schemas.microsoft.com/office/drawing/2014/main" id="{C25F9E17-12F7-F27F-7D55-B14DCA417AC2}"/>
              </a:ext>
            </a:extLst>
          </p:cNvPr>
          <p:cNvSpPr/>
          <p:nvPr/>
        </p:nvSpPr>
        <p:spPr>
          <a:xfrm>
            <a:off x="6424105" y="2740298"/>
            <a:ext cx="3962400" cy="2392362"/>
          </a:xfrm>
          <a:prstGeom prst="rect">
            <a:avLst/>
          </a:prstGeom>
          <a:solidFill>
            <a:srgbClr val="FFFFFF"/>
          </a:solidFill>
          <a:ln w="9525" cap="flat" cmpd="sng">
            <a:solidFill>
              <a:schemeClr val="bg1"/>
            </a:solidFill>
            <a:prstDash val="solid"/>
            <a:miter/>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sp>
        <p:nvSpPr>
          <p:cNvPr id="28" name="Freeform 9">
            <a:extLst>
              <a:ext uri="{FF2B5EF4-FFF2-40B4-BE49-F238E27FC236}">
                <a16:creationId xmlns:a16="http://schemas.microsoft.com/office/drawing/2014/main" id="{54F6B4C0-D88C-85CA-A3DF-77FD86871F98}"/>
              </a:ext>
            </a:extLst>
          </p:cNvPr>
          <p:cNvSpPr/>
          <p:nvPr/>
        </p:nvSpPr>
        <p:spPr>
          <a:xfrm>
            <a:off x="6957505" y="2999060"/>
            <a:ext cx="1524000" cy="2000250"/>
          </a:xfrm>
          <a:custGeom>
            <a:avLst/>
            <a:gdLst/>
            <a:ahLst/>
            <a:cxnLst>
              <a:cxn ang="0">
                <a:pos x="407327" y="212725"/>
              </a:cxn>
              <a:cxn ang="0">
                <a:pos x="65570" y="639763"/>
              </a:cxn>
              <a:cxn ang="0">
                <a:pos x="19870" y="1341438"/>
              </a:cxn>
              <a:cxn ang="0">
                <a:pos x="139087" y="1708150"/>
              </a:cxn>
              <a:cxn ang="0">
                <a:pos x="689476" y="1970088"/>
              </a:cxn>
              <a:cxn ang="0">
                <a:pos x="1090842" y="1887538"/>
              </a:cxn>
              <a:cxn ang="0">
                <a:pos x="1253773" y="1649413"/>
              </a:cxn>
              <a:cxn ang="0">
                <a:pos x="1134555" y="1222375"/>
              </a:cxn>
              <a:cxn ang="0">
                <a:pos x="1164360" y="830263"/>
              </a:cxn>
              <a:cxn ang="0">
                <a:pos x="1432600" y="485775"/>
              </a:cxn>
              <a:cxn ang="0">
                <a:pos x="1432600" y="141288"/>
              </a:cxn>
              <a:cxn ang="0">
                <a:pos x="882211" y="11113"/>
              </a:cxn>
              <a:cxn ang="0">
                <a:pos x="407327" y="212725"/>
              </a:cxn>
            </a:cxnLst>
            <a:rect l="0" t="0" r="0" b="0"/>
            <a:pathLst>
              <a:path w="767" h="1260">
                <a:moveTo>
                  <a:pt x="205" y="134"/>
                </a:moveTo>
                <a:cubicBezTo>
                  <a:pt x="137" y="200"/>
                  <a:pt x="66" y="284"/>
                  <a:pt x="33" y="403"/>
                </a:cubicBezTo>
                <a:cubicBezTo>
                  <a:pt x="0" y="522"/>
                  <a:pt x="4" y="733"/>
                  <a:pt x="10" y="845"/>
                </a:cubicBezTo>
                <a:cubicBezTo>
                  <a:pt x="16" y="957"/>
                  <a:pt x="14" y="1010"/>
                  <a:pt x="70" y="1076"/>
                </a:cubicBezTo>
                <a:cubicBezTo>
                  <a:pt x="126" y="1142"/>
                  <a:pt x="267" y="1222"/>
                  <a:pt x="347" y="1241"/>
                </a:cubicBezTo>
                <a:cubicBezTo>
                  <a:pt x="427" y="1260"/>
                  <a:pt x="502" y="1223"/>
                  <a:pt x="549" y="1189"/>
                </a:cubicBezTo>
                <a:cubicBezTo>
                  <a:pt x="596" y="1155"/>
                  <a:pt x="627" y="1109"/>
                  <a:pt x="631" y="1039"/>
                </a:cubicBezTo>
                <a:cubicBezTo>
                  <a:pt x="635" y="969"/>
                  <a:pt x="578" y="856"/>
                  <a:pt x="571" y="770"/>
                </a:cubicBezTo>
                <a:cubicBezTo>
                  <a:pt x="564" y="684"/>
                  <a:pt x="561" y="600"/>
                  <a:pt x="586" y="523"/>
                </a:cubicBezTo>
                <a:cubicBezTo>
                  <a:pt x="611" y="446"/>
                  <a:pt x="699" y="378"/>
                  <a:pt x="721" y="306"/>
                </a:cubicBezTo>
                <a:cubicBezTo>
                  <a:pt x="743" y="234"/>
                  <a:pt x="767" y="139"/>
                  <a:pt x="721" y="89"/>
                </a:cubicBezTo>
                <a:cubicBezTo>
                  <a:pt x="675" y="39"/>
                  <a:pt x="530" y="0"/>
                  <a:pt x="444" y="7"/>
                </a:cubicBezTo>
                <a:cubicBezTo>
                  <a:pt x="358" y="14"/>
                  <a:pt x="273" y="68"/>
                  <a:pt x="205" y="134"/>
                </a:cubicBezTo>
                <a:close/>
              </a:path>
            </a:pathLst>
          </a:custGeom>
          <a:gradFill rotWithShape="0">
            <a:gsLst>
              <a:gs pos="0">
                <a:srgbClr val="A4D6DA">
                  <a:alpha val="100000"/>
                </a:srgbClr>
              </a:gs>
              <a:gs pos="100000">
                <a:srgbClr val="FFFFFF">
                  <a:alpha val="100000"/>
                </a:srgbClr>
              </a:gs>
            </a:gsLst>
            <a:lin ang="18900000" scaled="1"/>
            <a:tileRect/>
          </a:gradFill>
          <a:ln w="19050" cap="flat" cmpd="sng">
            <a:solidFill>
              <a:srgbClr val="3366FF">
                <a:alpha val="100000"/>
              </a:srgbClr>
            </a:solidFill>
            <a:prstDash val="solid"/>
            <a:round/>
            <a:headEnd type="none" w="med" len="med"/>
            <a:tailEnd type="none" w="med" len="med"/>
          </a:ln>
        </p:spPr>
        <p:txBody>
          <a:bodyPr/>
          <a:lstStyle/>
          <a:p>
            <a:endParaRPr lang="zh-CN" altLang="en-US"/>
          </a:p>
        </p:txBody>
      </p:sp>
      <p:sp>
        <p:nvSpPr>
          <p:cNvPr id="29" name="Oval 10">
            <a:extLst>
              <a:ext uri="{FF2B5EF4-FFF2-40B4-BE49-F238E27FC236}">
                <a16:creationId xmlns:a16="http://schemas.microsoft.com/office/drawing/2014/main" id="{FB649CEB-47C4-2CD3-8CC5-6199203D2BA4}"/>
              </a:ext>
            </a:extLst>
          </p:cNvPr>
          <p:cNvSpPr/>
          <p:nvPr/>
        </p:nvSpPr>
        <p:spPr>
          <a:xfrm>
            <a:off x="7490905" y="3672160"/>
            <a:ext cx="317500" cy="317500"/>
          </a:xfrm>
          <a:prstGeom prst="ellipse">
            <a:avLst/>
          </a:prstGeom>
          <a:gradFill rotWithShape="0">
            <a:gsLst>
              <a:gs pos="0">
                <a:srgbClr val="FFFFFF"/>
              </a:gs>
              <a:gs pos="100000">
                <a:srgbClr val="51B2B9"/>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p>
            <a:pPr algn="ctr"/>
            <a:r>
              <a:rPr lang="en-US" altLang="zh-CN" dirty="0">
                <a:solidFill>
                  <a:srgbClr val="FF0000"/>
                </a:solidFill>
                <a:latin typeface="Arial" panose="020B0604020202020204" pitchFamily="34" charset="0"/>
              </a:rPr>
              <a:t>+</a:t>
            </a:r>
          </a:p>
        </p:txBody>
      </p:sp>
      <p:sp>
        <p:nvSpPr>
          <p:cNvPr id="30" name="Line 11">
            <a:extLst>
              <a:ext uri="{FF2B5EF4-FFF2-40B4-BE49-F238E27FC236}">
                <a16:creationId xmlns:a16="http://schemas.microsoft.com/office/drawing/2014/main" id="{0A82FEFB-6278-258C-5BBE-37AFD1910A50}"/>
              </a:ext>
            </a:extLst>
          </p:cNvPr>
          <p:cNvSpPr/>
          <p:nvPr/>
        </p:nvSpPr>
        <p:spPr>
          <a:xfrm>
            <a:off x="7109905" y="3303860"/>
            <a:ext cx="381000" cy="381000"/>
          </a:xfrm>
          <a:prstGeom prst="line">
            <a:avLst/>
          </a:prstGeom>
          <a:ln w="9525" cap="flat" cmpd="sng">
            <a:solidFill>
              <a:schemeClr val="tx1"/>
            </a:solidFill>
            <a:prstDash val="solid"/>
            <a:headEnd type="none" w="med" len="med"/>
            <a:tailEnd type="triangle" w="sm" len="lg"/>
          </a:ln>
        </p:spPr>
      </p:sp>
      <p:sp>
        <p:nvSpPr>
          <p:cNvPr id="31" name="Oval 12">
            <a:extLst>
              <a:ext uri="{FF2B5EF4-FFF2-40B4-BE49-F238E27FC236}">
                <a16:creationId xmlns:a16="http://schemas.microsoft.com/office/drawing/2014/main" id="{8F10EA06-30CC-4059-3837-0369BEC74F79}"/>
              </a:ext>
            </a:extLst>
          </p:cNvPr>
          <p:cNvSpPr/>
          <p:nvPr/>
        </p:nvSpPr>
        <p:spPr>
          <a:xfrm>
            <a:off x="9327643" y="4142060"/>
            <a:ext cx="144462" cy="152400"/>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graphicFrame>
        <p:nvGraphicFramePr>
          <p:cNvPr id="32" name="Object 13">
            <a:extLst>
              <a:ext uri="{FF2B5EF4-FFF2-40B4-BE49-F238E27FC236}">
                <a16:creationId xmlns:a16="http://schemas.microsoft.com/office/drawing/2014/main" id="{8D8E3EC5-C621-320A-DDCD-0E4FECA24CC3}"/>
              </a:ext>
            </a:extLst>
          </p:cNvPr>
          <p:cNvGraphicFramePr>
            <a:graphicFrameLocks noChangeAspect="1"/>
          </p:cNvGraphicFramePr>
          <p:nvPr>
            <p:extLst/>
          </p:nvPr>
        </p:nvGraphicFramePr>
        <p:xfrm>
          <a:off x="9167305" y="4294460"/>
          <a:ext cx="381000" cy="374650"/>
        </p:xfrm>
        <a:graphic>
          <a:graphicData uri="http://schemas.openxmlformats.org/presentationml/2006/ole">
            <mc:AlternateContent xmlns:mc="http://schemas.openxmlformats.org/markup-compatibility/2006">
              <mc:Choice xmlns:v="urn:schemas-microsoft-com:vml" Requires="v">
                <p:oleObj spid="_x0000_s6170" r:id="rId3" imgW="241300" imgH="254000" progId="Equation.3">
                  <p:embed/>
                </p:oleObj>
              </mc:Choice>
              <mc:Fallback>
                <p:oleObj r:id="rId3" imgW="241300" imgH="254000" progId="Equation.3">
                  <p:embed/>
                  <p:pic>
                    <p:nvPicPr>
                      <p:cNvPr id="32" name="Object 13">
                        <a:extLst>
                          <a:ext uri="{FF2B5EF4-FFF2-40B4-BE49-F238E27FC236}">
                            <a16:creationId xmlns:a16="http://schemas.microsoft.com/office/drawing/2014/main" id="{8D8E3EC5-C621-320A-DDCD-0E4FECA24CC3}"/>
                          </a:ext>
                        </a:extLst>
                      </p:cNvPr>
                      <p:cNvPicPr/>
                      <p:nvPr/>
                    </p:nvPicPr>
                    <p:blipFill>
                      <a:blip r:embed="rId4">
                        <a:clrChange>
                          <a:clrFrom>
                            <a:srgbClr val="000000"/>
                          </a:clrFrom>
                          <a:clrTo>
                            <a:srgbClr val="FF0000"/>
                          </a:clrTo>
                        </a:clrChange>
                      </a:blip>
                      <a:stretch>
                        <a:fillRect/>
                      </a:stretch>
                    </p:blipFill>
                    <p:spPr>
                      <a:xfrm>
                        <a:off x="9167305" y="4294460"/>
                        <a:ext cx="381000" cy="374650"/>
                      </a:xfrm>
                      <a:prstGeom prst="rect">
                        <a:avLst/>
                      </a:prstGeom>
                      <a:noFill/>
                      <a:ln w="38100">
                        <a:noFill/>
                        <a:miter/>
                      </a:ln>
                    </p:spPr>
                  </p:pic>
                </p:oleObj>
              </mc:Fallback>
            </mc:AlternateContent>
          </a:graphicData>
        </a:graphic>
      </p:graphicFrame>
      <p:graphicFrame>
        <p:nvGraphicFramePr>
          <p:cNvPr id="33" name="Object 14">
            <a:extLst>
              <a:ext uri="{FF2B5EF4-FFF2-40B4-BE49-F238E27FC236}">
                <a16:creationId xmlns:a16="http://schemas.microsoft.com/office/drawing/2014/main" id="{BFFDFB05-62E6-7DA3-0B97-90745E4D7BF4}"/>
              </a:ext>
            </a:extLst>
          </p:cNvPr>
          <p:cNvGraphicFramePr>
            <a:graphicFrameLocks noChangeAspect="1"/>
          </p:cNvGraphicFramePr>
          <p:nvPr>
            <p:extLst/>
          </p:nvPr>
        </p:nvGraphicFramePr>
        <p:xfrm>
          <a:off x="6651119" y="2922860"/>
          <a:ext cx="454025" cy="457200"/>
        </p:xfrm>
        <a:graphic>
          <a:graphicData uri="http://schemas.openxmlformats.org/presentationml/2006/ole">
            <mc:AlternateContent xmlns:mc="http://schemas.openxmlformats.org/markup-compatibility/2006">
              <mc:Choice xmlns:v="urn:schemas-microsoft-com:vml" Requires="v">
                <p:oleObj spid="_x0000_s6171" r:id="rId5" imgW="317500" imgH="317500" progId="Equation.3">
                  <p:embed/>
                </p:oleObj>
              </mc:Choice>
              <mc:Fallback>
                <p:oleObj r:id="rId5" imgW="317500" imgH="317500" progId="Equation.3">
                  <p:embed/>
                  <p:pic>
                    <p:nvPicPr>
                      <p:cNvPr id="33" name="Object 14">
                        <a:extLst>
                          <a:ext uri="{FF2B5EF4-FFF2-40B4-BE49-F238E27FC236}">
                            <a16:creationId xmlns:a16="http://schemas.microsoft.com/office/drawing/2014/main" id="{BFFDFB05-62E6-7DA3-0B97-90745E4D7BF4}"/>
                          </a:ext>
                        </a:extLst>
                      </p:cNvPr>
                      <p:cNvPicPr/>
                      <p:nvPr/>
                    </p:nvPicPr>
                    <p:blipFill>
                      <a:blip r:embed="rId6">
                        <a:clrChange>
                          <a:clrFrom>
                            <a:srgbClr val="000000"/>
                          </a:clrFrom>
                          <a:clrTo>
                            <a:srgbClr val="FF0000"/>
                          </a:clrTo>
                        </a:clrChange>
                      </a:blip>
                      <a:stretch>
                        <a:fillRect/>
                      </a:stretch>
                    </p:blipFill>
                    <p:spPr>
                      <a:xfrm>
                        <a:off x="6651119" y="2922860"/>
                        <a:ext cx="454025" cy="457200"/>
                      </a:xfrm>
                      <a:prstGeom prst="rect">
                        <a:avLst/>
                      </a:prstGeom>
                      <a:noFill/>
                      <a:ln w="38100">
                        <a:noFill/>
                        <a:miter/>
                      </a:ln>
                    </p:spPr>
                  </p:pic>
                </p:oleObj>
              </mc:Fallback>
            </mc:AlternateContent>
          </a:graphicData>
        </a:graphic>
      </p:graphicFrame>
      <p:grpSp>
        <p:nvGrpSpPr>
          <p:cNvPr id="34" name="Group 15">
            <a:extLst>
              <a:ext uri="{FF2B5EF4-FFF2-40B4-BE49-F238E27FC236}">
                <a16:creationId xmlns:a16="http://schemas.microsoft.com/office/drawing/2014/main" id="{096C0B69-922B-E437-E5A0-B409C676C9DB}"/>
              </a:ext>
            </a:extLst>
          </p:cNvPr>
          <p:cNvGrpSpPr/>
          <p:nvPr/>
        </p:nvGrpSpPr>
        <p:grpSpPr>
          <a:xfrm>
            <a:off x="7795705" y="3608661"/>
            <a:ext cx="2514600" cy="860425"/>
            <a:chOff x="3744" y="2784"/>
            <a:chExt cx="1584" cy="542"/>
          </a:xfrm>
        </p:grpSpPr>
        <p:grpSp>
          <p:nvGrpSpPr>
            <p:cNvPr id="35" name="Group 16">
              <a:extLst>
                <a:ext uri="{FF2B5EF4-FFF2-40B4-BE49-F238E27FC236}">
                  <a16:creationId xmlns:a16="http://schemas.microsoft.com/office/drawing/2014/main" id="{B736DAAE-332B-C430-57D8-097B0F9441DE}"/>
                </a:ext>
              </a:extLst>
            </p:cNvPr>
            <p:cNvGrpSpPr/>
            <p:nvPr/>
          </p:nvGrpSpPr>
          <p:grpSpPr>
            <a:xfrm>
              <a:off x="4800" y="2936"/>
              <a:ext cx="528" cy="390"/>
              <a:chOff x="4752" y="2922"/>
              <a:chExt cx="528" cy="390"/>
            </a:xfrm>
          </p:grpSpPr>
          <p:sp>
            <p:nvSpPr>
              <p:cNvPr id="39" name="Line 17">
                <a:extLst>
                  <a:ext uri="{FF2B5EF4-FFF2-40B4-BE49-F238E27FC236}">
                    <a16:creationId xmlns:a16="http://schemas.microsoft.com/office/drawing/2014/main" id="{C5709683-2063-9D0F-0113-661265CC2078}"/>
                  </a:ext>
                </a:extLst>
              </p:cNvPr>
              <p:cNvSpPr/>
              <p:nvPr/>
            </p:nvSpPr>
            <p:spPr>
              <a:xfrm>
                <a:off x="4752" y="3168"/>
                <a:ext cx="528" cy="144"/>
              </a:xfrm>
              <a:prstGeom prst="line">
                <a:avLst/>
              </a:prstGeom>
              <a:ln w="38100" cap="flat" cmpd="sng">
                <a:solidFill>
                  <a:srgbClr val="0000FF"/>
                </a:solidFill>
                <a:prstDash val="solid"/>
                <a:headEnd type="none" w="med" len="med"/>
                <a:tailEnd type="triangle" w="sm" len="lg"/>
              </a:ln>
            </p:spPr>
          </p:sp>
          <p:graphicFrame>
            <p:nvGraphicFramePr>
              <p:cNvPr id="40" name="Object 18">
                <a:extLst>
                  <a:ext uri="{FF2B5EF4-FFF2-40B4-BE49-F238E27FC236}">
                    <a16:creationId xmlns:a16="http://schemas.microsoft.com/office/drawing/2014/main" id="{F03EF1D1-2CFD-9C09-A2D1-C06F13D3B34E}"/>
                  </a:ext>
                </a:extLst>
              </p:cNvPr>
              <p:cNvGraphicFramePr>
                <a:graphicFrameLocks noChangeAspect="1"/>
              </p:cNvGraphicFramePr>
              <p:nvPr/>
            </p:nvGraphicFramePr>
            <p:xfrm>
              <a:off x="4896" y="2922"/>
              <a:ext cx="336" cy="297"/>
            </p:xfrm>
            <a:graphic>
              <a:graphicData uri="http://schemas.openxmlformats.org/presentationml/2006/ole">
                <mc:AlternateContent xmlns:mc="http://schemas.openxmlformats.org/markup-compatibility/2006">
                  <mc:Choice xmlns:v="urn:schemas-microsoft-com:vml" Requires="v">
                    <p:oleObj spid="_x0000_s6172" r:id="rId7" imgW="368300" imgH="317500" progId="Equation.3">
                      <p:embed/>
                    </p:oleObj>
                  </mc:Choice>
                  <mc:Fallback>
                    <p:oleObj r:id="rId7" imgW="368300" imgH="317500" progId="Equation.3">
                      <p:embed/>
                      <p:pic>
                        <p:nvPicPr>
                          <p:cNvPr id="40" name="Object 18">
                            <a:extLst>
                              <a:ext uri="{FF2B5EF4-FFF2-40B4-BE49-F238E27FC236}">
                                <a16:creationId xmlns:a16="http://schemas.microsoft.com/office/drawing/2014/main" id="{F03EF1D1-2CFD-9C09-A2D1-C06F13D3B34E}"/>
                              </a:ext>
                            </a:extLst>
                          </p:cNvPr>
                          <p:cNvPicPr/>
                          <p:nvPr/>
                        </p:nvPicPr>
                        <p:blipFill>
                          <a:blip r:embed="rId8">
                            <a:clrChange>
                              <a:clrFrom>
                                <a:srgbClr val="000000"/>
                              </a:clrFrom>
                              <a:clrTo>
                                <a:srgbClr val="0000FF"/>
                              </a:clrTo>
                            </a:clrChange>
                          </a:blip>
                          <a:stretch>
                            <a:fillRect/>
                          </a:stretch>
                        </p:blipFill>
                        <p:spPr>
                          <a:xfrm>
                            <a:off x="4896" y="2922"/>
                            <a:ext cx="336" cy="297"/>
                          </a:xfrm>
                          <a:prstGeom prst="rect">
                            <a:avLst/>
                          </a:prstGeom>
                          <a:noFill/>
                          <a:ln w="38100">
                            <a:noFill/>
                            <a:miter/>
                          </a:ln>
                        </p:spPr>
                      </p:pic>
                    </p:oleObj>
                  </mc:Fallback>
                </mc:AlternateContent>
              </a:graphicData>
            </a:graphic>
          </p:graphicFrame>
        </p:grpSp>
        <p:grpSp>
          <p:nvGrpSpPr>
            <p:cNvPr id="36" name="Group 19">
              <a:extLst>
                <a:ext uri="{FF2B5EF4-FFF2-40B4-BE49-F238E27FC236}">
                  <a16:creationId xmlns:a16="http://schemas.microsoft.com/office/drawing/2014/main" id="{3FBFCEC6-18FB-959E-6670-7784E4767E7B}"/>
                </a:ext>
              </a:extLst>
            </p:cNvPr>
            <p:cNvGrpSpPr/>
            <p:nvPr/>
          </p:nvGrpSpPr>
          <p:grpSpPr>
            <a:xfrm>
              <a:off x="3744" y="2784"/>
              <a:ext cx="960" cy="384"/>
              <a:chOff x="3744" y="2784"/>
              <a:chExt cx="960" cy="384"/>
            </a:xfrm>
          </p:grpSpPr>
          <p:graphicFrame>
            <p:nvGraphicFramePr>
              <p:cNvPr id="37" name="Object 20">
                <a:extLst>
                  <a:ext uri="{FF2B5EF4-FFF2-40B4-BE49-F238E27FC236}">
                    <a16:creationId xmlns:a16="http://schemas.microsoft.com/office/drawing/2014/main" id="{74635FDA-777E-5F13-E803-4C2EF0B04708}"/>
                  </a:ext>
                </a:extLst>
              </p:cNvPr>
              <p:cNvGraphicFramePr>
                <a:graphicFrameLocks noChangeAspect="1"/>
              </p:cNvGraphicFramePr>
              <p:nvPr/>
            </p:nvGraphicFramePr>
            <p:xfrm>
              <a:off x="4320" y="2784"/>
              <a:ext cx="214" cy="258"/>
            </p:xfrm>
            <a:graphic>
              <a:graphicData uri="http://schemas.openxmlformats.org/presentationml/2006/ole">
                <mc:AlternateContent xmlns:mc="http://schemas.openxmlformats.org/markup-compatibility/2006">
                  <mc:Choice xmlns:v="urn:schemas-microsoft-com:vml" Requires="v">
                    <p:oleObj spid="_x0000_s6173" r:id="rId9" imgW="127000" imgH="152400" progId="Equation.3">
                      <p:embed/>
                    </p:oleObj>
                  </mc:Choice>
                  <mc:Fallback>
                    <p:oleObj r:id="rId9" imgW="127000" imgH="152400" progId="Equation.3">
                      <p:embed/>
                      <p:pic>
                        <p:nvPicPr>
                          <p:cNvPr id="37" name="Object 20">
                            <a:extLst>
                              <a:ext uri="{FF2B5EF4-FFF2-40B4-BE49-F238E27FC236}">
                                <a16:creationId xmlns:a16="http://schemas.microsoft.com/office/drawing/2014/main" id="{74635FDA-777E-5F13-E803-4C2EF0B04708}"/>
                              </a:ext>
                            </a:extLst>
                          </p:cNvPr>
                          <p:cNvPicPr/>
                          <p:nvPr/>
                        </p:nvPicPr>
                        <p:blipFill>
                          <a:blip r:embed="rId10"/>
                          <a:stretch>
                            <a:fillRect/>
                          </a:stretch>
                        </p:blipFill>
                        <p:spPr>
                          <a:xfrm>
                            <a:off x="4320" y="2784"/>
                            <a:ext cx="214" cy="258"/>
                          </a:xfrm>
                          <a:prstGeom prst="rect">
                            <a:avLst/>
                          </a:prstGeom>
                          <a:noFill/>
                          <a:ln w="38100">
                            <a:noFill/>
                            <a:miter/>
                          </a:ln>
                        </p:spPr>
                      </p:pic>
                    </p:oleObj>
                  </mc:Fallback>
                </mc:AlternateContent>
              </a:graphicData>
            </a:graphic>
          </p:graphicFrame>
          <p:sp>
            <p:nvSpPr>
              <p:cNvPr id="38" name="Line 21">
                <a:extLst>
                  <a:ext uri="{FF2B5EF4-FFF2-40B4-BE49-F238E27FC236}">
                    <a16:creationId xmlns:a16="http://schemas.microsoft.com/office/drawing/2014/main" id="{40E2C0A9-AC5A-072A-3D9F-856EFF8AB143}"/>
                  </a:ext>
                </a:extLst>
              </p:cNvPr>
              <p:cNvSpPr/>
              <p:nvPr/>
            </p:nvSpPr>
            <p:spPr>
              <a:xfrm>
                <a:off x="3744" y="2928"/>
                <a:ext cx="960" cy="240"/>
              </a:xfrm>
              <a:prstGeom prst="line">
                <a:avLst/>
              </a:prstGeom>
              <a:ln w="9525" cap="flat" cmpd="sng">
                <a:solidFill>
                  <a:schemeClr val="tx1"/>
                </a:solidFill>
                <a:prstDash val="solid"/>
                <a:headEnd type="none" w="med" len="med"/>
                <a:tailEnd type="triangle" w="sm" len="lg"/>
              </a:ln>
            </p:spPr>
          </p:sp>
        </p:grpSp>
      </p:grpSp>
      <p:grpSp>
        <p:nvGrpSpPr>
          <p:cNvPr id="33800" name="Group 8"/>
          <p:cNvGrpSpPr/>
          <p:nvPr/>
        </p:nvGrpSpPr>
        <p:grpSpPr>
          <a:xfrm>
            <a:off x="433895" y="2481536"/>
            <a:ext cx="3962400" cy="2392362"/>
            <a:chOff x="2880" y="2237"/>
            <a:chExt cx="2496" cy="1507"/>
          </a:xfrm>
        </p:grpSpPr>
        <p:sp>
          <p:nvSpPr>
            <p:cNvPr id="33812" name="Rectangle 9"/>
            <p:cNvSpPr/>
            <p:nvPr/>
          </p:nvSpPr>
          <p:spPr>
            <a:xfrm>
              <a:off x="2880" y="2237"/>
              <a:ext cx="2496" cy="1507"/>
            </a:xfrm>
            <a:prstGeom prst="rect">
              <a:avLst/>
            </a:prstGeom>
            <a:solidFill>
              <a:srgbClr val="FFFFFF"/>
            </a:solidFill>
            <a:ln w="9525" cap="flat" cmpd="sng">
              <a:solidFill>
                <a:schemeClr val="bg1"/>
              </a:solidFill>
              <a:prstDash val="solid"/>
              <a:miter/>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sp>
          <p:nvSpPr>
            <p:cNvPr id="33813" name="Freeform 10"/>
            <p:cNvSpPr/>
            <p:nvPr/>
          </p:nvSpPr>
          <p:spPr>
            <a:xfrm>
              <a:off x="3216" y="2400"/>
              <a:ext cx="960" cy="1260"/>
            </a:xfrm>
            <a:custGeom>
              <a:avLst/>
              <a:gdLst/>
              <a:ahLst/>
              <a:cxnLst>
                <a:cxn ang="0">
                  <a:pos x="257" y="134"/>
                </a:cxn>
                <a:cxn ang="0">
                  <a:pos x="41" y="403"/>
                </a:cxn>
                <a:cxn ang="0">
                  <a:pos x="13" y="845"/>
                </a:cxn>
                <a:cxn ang="0">
                  <a:pos x="88" y="1076"/>
                </a:cxn>
                <a:cxn ang="0">
                  <a:pos x="434" y="1241"/>
                </a:cxn>
                <a:cxn ang="0">
                  <a:pos x="687" y="1189"/>
                </a:cxn>
                <a:cxn ang="0">
                  <a:pos x="790" y="1039"/>
                </a:cxn>
                <a:cxn ang="0">
                  <a:pos x="715" y="770"/>
                </a:cxn>
                <a:cxn ang="0">
                  <a:pos x="733" y="523"/>
                </a:cxn>
                <a:cxn ang="0">
                  <a:pos x="902" y="306"/>
                </a:cxn>
                <a:cxn ang="0">
                  <a:pos x="902" y="89"/>
                </a:cxn>
                <a:cxn ang="0">
                  <a:pos x="556" y="7"/>
                </a:cxn>
                <a:cxn ang="0">
                  <a:pos x="257" y="134"/>
                </a:cxn>
              </a:cxnLst>
              <a:rect l="0" t="0" r="0" b="0"/>
              <a:pathLst>
                <a:path w="767" h="1260">
                  <a:moveTo>
                    <a:pt x="205" y="134"/>
                  </a:moveTo>
                  <a:cubicBezTo>
                    <a:pt x="137" y="200"/>
                    <a:pt x="66" y="284"/>
                    <a:pt x="33" y="403"/>
                  </a:cubicBezTo>
                  <a:cubicBezTo>
                    <a:pt x="0" y="522"/>
                    <a:pt x="4" y="733"/>
                    <a:pt x="10" y="845"/>
                  </a:cubicBezTo>
                  <a:cubicBezTo>
                    <a:pt x="16" y="957"/>
                    <a:pt x="14" y="1010"/>
                    <a:pt x="70" y="1076"/>
                  </a:cubicBezTo>
                  <a:cubicBezTo>
                    <a:pt x="126" y="1142"/>
                    <a:pt x="267" y="1222"/>
                    <a:pt x="347" y="1241"/>
                  </a:cubicBezTo>
                  <a:cubicBezTo>
                    <a:pt x="427" y="1260"/>
                    <a:pt x="502" y="1223"/>
                    <a:pt x="549" y="1189"/>
                  </a:cubicBezTo>
                  <a:cubicBezTo>
                    <a:pt x="596" y="1155"/>
                    <a:pt x="627" y="1109"/>
                    <a:pt x="631" y="1039"/>
                  </a:cubicBezTo>
                  <a:cubicBezTo>
                    <a:pt x="635" y="969"/>
                    <a:pt x="578" y="856"/>
                    <a:pt x="571" y="770"/>
                  </a:cubicBezTo>
                  <a:cubicBezTo>
                    <a:pt x="564" y="684"/>
                    <a:pt x="561" y="600"/>
                    <a:pt x="586" y="523"/>
                  </a:cubicBezTo>
                  <a:cubicBezTo>
                    <a:pt x="611" y="446"/>
                    <a:pt x="699" y="378"/>
                    <a:pt x="721" y="306"/>
                  </a:cubicBezTo>
                  <a:cubicBezTo>
                    <a:pt x="743" y="234"/>
                    <a:pt x="767" y="139"/>
                    <a:pt x="721" y="89"/>
                  </a:cubicBezTo>
                  <a:cubicBezTo>
                    <a:pt x="675" y="39"/>
                    <a:pt x="530" y="0"/>
                    <a:pt x="444" y="7"/>
                  </a:cubicBezTo>
                  <a:cubicBezTo>
                    <a:pt x="358" y="14"/>
                    <a:pt x="273" y="68"/>
                    <a:pt x="205" y="134"/>
                  </a:cubicBezTo>
                  <a:close/>
                </a:path>
              </a:pathLst>
            </a:custGeom>
            <a:gradFill rotWithShape="0">
              <a:gsLst>
                <a:gs pos="0">
                  <a:srgbClr val="6699FF">
                    <a:alpha val="100000"/>
                  </a:srgbClr>
                </a:gs>
                <a:gs pos="100000">
                  <a:srgbClr val="6666FF">
                    <a:alpha val="100000"/>
                  </a:srgbClr>
                </a:gs>
              </a:gsLst>
              <a:path path="rect">
                <a:fillToRect l="50000" t="50000" r="50000" b="50000"/>
              </a:path>
              <a:tileRect/>
            </a:gradFill>
            <a:ln w="19050" cap="flat" cmpd="sng">
              <a:solidFill>
                <a:srgbClr val="3366FF">
                  <a:alpha val="100000"/>
                </a:srgbClr>
              </a:solidFill>
              <a:prstDash val="solid"/>
              <a:round/>
              <a:headEnd type="none" w="med" len="med"/>
              <a:tailEnd type="none" w="med" len="med"/>
            </a:ln>
          </p:spPr>
          <p:txBody>
            <a:bodyPr/>
            <a:lstStyle/>
            <a:p>
              <a:endParaRPr lang="zh-CN" altLang="en-US"/>
            </a:p>
          </p:txBody>
        </p:sp>
        <p:sp>
          <p:nvSpPr>
            <p:cNvPr id="33814" name="Oval 11"/>
            <p:cNvSpPr/>
            <p:nvPr/>
          </p:nvSpPr>
          <p:spPr>
            <a:xfrm>
              <a:off x="4701" y="3120"/>
              <a:ext cx="91"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graphicFrame>
          <p:nvGraphicFramePr>
            <p:cNvPr id="33815" name="Object 12"/>
            <p:cNvGraphicFramePr>
              <a:graphicFrameLocks noChangeAspect="1"/>
            </p:cNvGraphicFramePr>
            <p:nvPr/>
          </p:nvGraphicFramePr>
          <p:xfrm>
            <a:off x="4600" y="3216"/>
            <a:ext cx="240" cy="236"/>
          </p:xfrm>
          <a:graphic>
            <a:graphicData uri="http://schemas.openxmlformats.org/presentationml/2006/ole">
              <mc:AlternateContent xmlns:mc="http://schemas.openxmlformats.org/markup-compatibility/2006">
                <mc:Choice xmlns:v="urn:schemas-microsoft-com:vml" Requires="v">
                  <p:oleObj spid="_x0000_s6174" r:id="rId11" imgW="241300" imgH="254000" progId="Equation.3">
                    <p:embed/>
                  </p:oleObj>
                </mc:Choice>
                <mc:Fallback>
                  <p:oleObj r:id="rId11" imgW="241300" imgH="254000" progId="Equation.3">
                    <p:embed/>
                    <p:pic>
                      <p:nvPicPr>
                        <p:cNvPr id="33815" name="Object 12"/>
                        <p:cNvPicPr/>
                        <p:nvPr/>
                      </p:nvPicPr>
                      <p:blipFill>
                        <a:blip r:embed="rId12">
                          <a:clrChange>
                            <a:clrFrom>
                              <a:srgbClr val="000000"/>
                            </a:clrFrom>
                            <a:clrTo>
                              <a:srgbClr val="FF0000"/>
                            </a:clrTo>
                          </a:clrChange>
                        </a:blip>
                        <a:stretch>
                          <a:fillRect/>
                        </a:stretch>
                      </p:blipFill>
                      <p:spPr>
                        <a:xfrm>
                          <a:off x="4600" y="3216"/>
                          <a:ext cx="240" cy="236"/>
                        </a:xfrm>
                        <a:prstGeom prst="rect">
                          <a:avLst/>
                        </a:prstGeom>
                        <a:noFill/>
                        <a:ln w="38100">
                          <a:noFill/>
                          <a:miter/>
                        </a:ln>
                      </p:spPr>
                    </p:pic>
                  </p:oleObj>
                </mc:Fallback>
              </mc:AlternateContent>
            </a:graphicData>
          </a:graphic>
        </p:graphicFrame>
      </p:grpSp>
      <p:graphicFrame>
        <p:nvGraphicFramePr>
          <p:cNvPr id="600066" name="Object 2"/>
          <p:cNvGraphicFramePr>
            <a:graphicFrameLocks noChangeAspect="1"/>
          </p:cNvGraphicFramePr>
          <p:nvPr/>
        </p:nvGraphicFramePr>
        <p:xfrm>
          <a:off x="2822575" y="1538288"/>
          <a:ext cx="2540000" cy="1084262"/>
        </p:xfrm>
        <a:graphic>
          <a:graphicData uri="http://schemas.openxmlformats.org/presentationml/2006/ole">
            <mc:AlternateContent xmlns:mc="http://schemas.openxmlformats.org/markup-compatibility/2006">
              <mc:Choice xmlns:v="urn:schemas-microsoft-com:vml" Requires="v">
                <p:oleObj spid="_x0000_s6175" r:id="rId13" imgW="1002665" imgH="431800" progId="Equation.3">
                  <p:embed/>
                </p:oleObj>
              </mc:Choice>
              <mc:Fallback>
                <p:oleObj r:id="rId13" imgW="1002665" imgH="431800" progId="Equation.3">
                  <p:embed/>
                  <p:pic>
                    <p:nvPicPr>
                      <p:cNvPr id="600066" name="Object 2"/>
                      <p:cNvPicPr/>
                      <p:nvPr/>
                    </p:nvPicPr>
                    <p:blipFill>
                      <a:blip r:embed="rId14"/>
                      <a:stretch>
                        <a:fillRect/>
                      </a:stretch>
                    </p:blipFill>
                    <p:spPr>
                      <a:xfrm>
                        <a:off x="2822575" y="1538288"/>
                        <a:ext cx="2540000" cy="1084262"/>
                      </a:xfrm>
                      <a:prstGeom prst="rect">
                        <a:avLst/>
                      </a:prstGeom>
                      <a:noFill/>
                      <a:ln w="38100">
                        <a:noFill/>
                        <a:miter/>
                      </a:ln>
                    </p:spPr>
                  </p:pic>
                </p:oleObj>
              </mc:Fallback>
            </mc:AlternateContent>
          </a:graphicData>
        </a:graphic>
      </p:graphicFrame>
      <p:graphicFrame>
        <p:nvGraphicFramePr>
          <p:cNvPr id="600068" name="Object 4"/>
          <p:cNvGraphicFramePr>
            <a:graphicFrameLocks noChangeAspect="1"/>
          </p:cNvGraphicFramePr>
          <p:nvPr/>
        </p:nvGraphicFramePr>
        <p:xfrm>
          <a:off x="6156326" y="1538288"/>
          <a:ext cx="3370263" cy="1096962"/>
        </p:xfrm>
        <a:graphic>
          <a:graphicData uri="http://schemas.openxmlformats.org/presentationml/2006/ole">
            <mc:AlternateContent xmlns:mc="http://schemas.openxmlformats.org/markup-compatibility/2006">
              <mc:Choice xmlns:v="urn:schemas-microsoft-com:vml" Requires="v">
                <p:oleObj spid="_x0000_s6176" r:id="rId15" imgW="1473200" imgH="431800" progId="Equation.3">
                  <p:embed/>
                </p:oleObj>
              </mc:Choice>
              <mc:Fallback>
                <p:oleObj r:id="rId15" imgW="1473200" imgH="431800" progId="Equation.3">
                  <p:embed/>
                  <p:pic>
                    <p:nvPicPr>
                      <p:cNvPr id="600068" name="Object 4"/>
                      <p:cNvPicPr/>
                      <p:nvPr/>
                    </p:nvPicPr>
                    <p:blipFill>
                      <a:blip r:embed="rId16"/>
                      <a:stretch>
                        <a:fillRect/>
                      </a:stretch>
                    </p:blipFill>
                    <p:spPr>
                      <a:xfrm>
                        <a:off x="6156326" y="1538288"/>
                        <a:ext cx="3370263" cy="1096962"/>
                      </a:xfrm>
                      <a:prstGeom prst="rect">
                        <a:avLst/>
                      </a:prstGeom>
                      <a:noFill/>
                      <a:ln w="38100">
                        <a:noFill/>
                        <a:miter/>
                      </a:ln>
                    </p:spPr>
                  </p:pic>
                </p:oleObj>
              </mc:Fallback>
            </mc:AlternateContent>
          </a:graphicData>
        </a:graphic>
      </p:graphicFrame>
      <p:graphicFrame>
        <p:nvGraphicFramePr>
          <p:cNvPr id="600070" name="Object 6"/>
          <p:cNvGraphicFramePr>
            <a:graphicFrameLocks noChangeAspect="1"/>
          </p:cNvGraphicFramePr>
          <p:nvPr>
            <p:extLst/>
          </p:nvPr>
        </p:nvGraphicFramePr>
        <p:xfrm>
          <a:off x="3129324" y="5091246"/>
          <a:ext cx="1663700" cy="528638"/>
        </p:xfrm>
        <a:graphic>
          <a:graphicData uri="http://schemas.openxmlformats.org/presentationml/2006/ole">
            <mc:AlternateContent xmlns:mc="http://schemas.openxmlformats.org/markup-compatibility/2006">
              <mc:Choice xmlns:v="urn:schemas-microsoft-com:vml" Requires="v">
                <p:oleObj spid="_x0000_s6177" r:id="rId17" imgW="635000" imgH="203200" progId="Equation.3">
                  <p:embed/>
                </p:oleObj>
              </mc:Choice>
              <mc:Fallback>
                <p:oleObj r:id="rId17" imgW="635000" imgH="203200" progId="Equation.3">
                  <p:embed/>
                  <p:pic>
                    <p:nvPicPr>
                      <p:cNvPr id="600070" name="Object 6"/>
                      <p:cNvPicPr/>
                      <p:nvPr/>
                    </p:nvPicPr>
                    <p:blipFill>
                      <a:blip r:embed="rId18"/>
                      <a:stretch>
                        <a:fillRect/>
                      </a:stretch>
                    </p:blipFill>
                    <p:spPr>
                      <a:xfrm>
                        <a:off x="3129324" y="5091246"/>
                        <a:ext cx="1663700" cy="528638"/>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600071" name="Object 7"/>
              <p:cNvSpPr txBox="1"/>
              <p:nvPr/>
            </p:nvSpPr>
            <p:spPr>
              <a:xfrm>
                <a:off x="1840923" y="5792322"/>
                <a:ext cx="3619212" cy="1076325"/>
              </a:xfrm>
              <a:prstGeom prst="rect">
                <a:avLst/>
              </a:prstGeom>
              <a:noFill/>
              <a:ln w="12700" cap="flat" cmpd="sng">
                <a:solidFill>
                  <a:schemeClr val="bg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𝑉</m:t>
                          </m:r>
                        </m:sub>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4</m:t>
                              </m:r>
                              <m:r>
                                <m:rPr>
                                  <m:sty m:val="p"/>
                                </m:rPr>
                                <a:rPr lang="zh-CN" altLang="en-US" sz="2800" i="0">
                                  <a:solidFill>
                                    <a:srgbClr val="000000"/>
                                  </a:solidFill>
                                  <a:latin typeface="Cambria Math" panose="02040503050406030204" pitchFamily="18" charset="0"/>
                                </a:rPr>
                                <m:t>π</m:t>
                              </m:r>
                              <m:sSub>
                                <m:sSubPr>
                                  <m:ctrlPr>
                                    <a:rPr lang="zh-CN" altLang="en-US" sz="2800" i="1">
                                      <a:solidFill>
                                        <a:srgbClr val="000000"/>
                                      </a:solidFill>
                                      <a:latin typeface="Cambria Math" panose="02040503050406030204" pitchFamily="18" charset="0"/>
                                    </a:rPr>
                                  </m:ctrlPr>
                                </m:sSubPr>
                                <m:e>
                                  <m:r>
                                    <m:rPr>
                                      <m:sty m:val="p"/>
                                    </m:rPr>
                                    <a:rPr lang="zh-CN" altLang="en-US" sz="2800" i="1">
                                      <a:solidFill>
                                        <a:srgbClr val="000000"/>
                                      </a:solidFill>
                                      <a:latin typeface="Cambria Math" panose="02040503050406030204" pitchFamily="18" charset="0"/>
                                    </a:rPr>
                                    <m:t>ε</m:t>
                                  </m:r>
                                </m:e>
                                <m:sub>
                                  <m:r>
                                    <a:rPr lang="zh-CN" altLang="en-US" sz="2800" i="1">
                                      <a:solidFill>
                                        <a:srgbClr val="000000"/>
                                      </a:solidFill>
                                      <a:latin typeface="Cambria Math" panose="02040503050406030204" pitchFamily="18" charset="0"/>
                                    </a:rPr>
                                    <m:t>0</m:t>
                                  </m:r>
                                </m:sub>
                              </m:sSub>
                            </m:den>
                          </m:f>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ρ</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𝑒</m:t>
                                      </m:r>
                                    </m:e>
                                  </m:acc>
                                </m:e>
                                <m:sub>
                                  <m:r>
                                    <a:rPr lang="zh-CN" altLang="en-US" sz="2800" i="1">
                                      <a:solidFill>
                                        <a:srgbClr val="000000"/>
                                      </a:solidFill>
                                      <a:latin typeface="Cambria Math" panose="02040503050406030204" pitchFamily="18" charset="0"/>
                                    </a:rPr>
                                    <m:t>𝑟</m:t>
                                  </m:r>
                                </m:sub>
                              </m:sSub>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𝑉</m:t>
                          </m:r>
                        </m:e>
                      </m:nary>
                    </m:oMath>
                  </m:oMathPara>
                </a14:m>
                <a:endParaRPr lang="zh-CN" altLang="en-US" sz="2800" dirty="0"/>
              </a:p>
            </p:txBody>
          </p:sp>
        </mc:Choice>
        <mc:Fallback xmlns="">
          <p:sp>
            <p:nvSpPr>
              <p:cNvPr id="600071" name="Object 7"/>
              <p:cNvSpPr txBox="1">
                <a:spLocks noRot="1" noChangeAspect="1" noMove="1" noResize="1" noEditPoints="1" noAdjustHandles="1" noChangeArrowheads="1" noChangeShapeType="1" noTextEdit="1"/>
              </p:cNvSpPr>
              <p:nvPr/>
            </p:nvSpPr>
            <p:spPr>
              <a:xfrm>
                <a:off x="1840923" y="5792322"/>
                <a:ext cx="3619212" cy="1076325"/>
              </a:xfrm>
              <a:prstGeom prst="rect">
                <a:avLst/>
              </a:prstGeom>
              <a:blipFill>
                <a:blip r:embed="rId19"/>
                <a:stretch>
                  <a:fillRect/>
                </a:stretch>
              </a:blipFill>
              <a:ln w="12700" cap="flat" cmpd="sng">
                <a:solidFill>
                  <a:schemeClr val="bg1"/>
                </a:solidFill>
                <a:prstDash val="solid"/>
                <a:miter/>
                <a:headEnd type="none" w="med" len="med"/>
                <a:tailEnd type="none" w="med" len="med"/>
              </a:ln>
            </p:spPr>
            <p:txBody>
              <a:bodyPr/>
              <a:lstStyle/>
              <a:p>
                <a:r>
                  <a:rPr lang="zh-CN" altLang="en-US">
                    <a:noFill/>
                  </a:rPr>
                  <a:t> </a:t>
                </a:r>
              </a:p>
            </p:txBody>
          </p:sp>
        </mc:Fallback>
      </mc:AlternateContent>
      <p:grpSp>
        <p:nvGrpSpPr>
          <p:cNvPr id="3" name="Group 13"/>
          <p:cNvGrpSpPr/>
          <p:nvPr/>
        </p:nvGrpSpPr>
        <p:grpSpPr>
          <a:xfrm>
            <a:off x="1805495" y="3349899"/>
            <a:ext cx="2514600" cy="860425"/>
            <a:chOff x="3744" y="2784"/>
            <a:chExt cx="1584" cy="542"/>
          </a:xfrm>
        </p:grpSpPr>
        <p:grpSp>
          <p:nvGrpSpPr>
            <p:cNvPr id="33806" name="Group 14"/>
            <p:cNvGrpSpPr/>
            <p:nvPr/>
          </p:nvGrpSpPr>
          <p:grpSpPr>
            <a:xfrm>
              <a:off x="4800" y="2936"/>
              <a:ext cx="528" cy="390"/>
              <a:chOff x="4752" y="2922"/>
              <a:chExt cx="528" cy="390"/>
            </a:xfrm>
          </p:grpSpPr>
          <p:sp>
            <p:nvSpPr>
              <p:cNvPr id="33810" name="Line 15"/>
              <p:cNvSpPr/>
              <p:nvPr/>
            </p:nvSpPr>
            <p:spPr>
              <a:xfrm>
                <a:off x="4752" y="3168"/>
                <a:ext cx="528" cy="144"/>
              </a:xfrm>
              <a:prstGeom prst="line">
                <a:avLst/>
              </a:prstGeom>
              <a:ln w="38100" cap="flat" cmpd="sng">
                <a:solidFill>
                  <a:srgbClr val="0000FF"/>
                </a:solidFill>
                <a:prstDash val="solid"/>
                <a:headEnd type="none" w="med" len="med"/>
                <a:tailEnd type="triangle" w="sm" len="lg"/>
              </a:ln>
            </p:spPr>
          </p:sp>
          <p:graphicFrame>
            <p:nvGraphicFramePr>
              <p:cNvPr id="33811" name="Object 16"/>
              <p:cNvGraphicFramePr>
                <a:graphicFrameLocks noChangeAspect="1"/>
              </p:cNvGraphicFramePr>
              <p:nvPr/>
            </p:nvGraphicFramePr>
            <p:xfrm>
              <a:off x="4896" y="2922"/>
              <a:ext cx="336" cy="297"/>
            </p:xfrm>
            <a:graphic>
              <a:graphicData uri="http://schemas.openxmlformats.org/presentationml/2006/ole">
                <mc:AlternateContent xmlns:mc="http://schemas.openxmlformats.org/markup-compatibility/2006">
                  <mc:Choice xmlns:v="urn:schemas-microsoft-com:vml" Requires="v">
                    <p:oleObj spid="_x0000_s6178" r:id="rId20" imgW="368300" imgH="317500" progId="Equation.3">
                      <p:embed/>
                    </p:oleObj>
                  </mc:Choice>
                  <mc:Fallback>
                    <p:oleObj r:id="rId20" imgW="368300" imgH="317500" progId="Equation.3">
                      <p:embed/>
                      <p:pic>
                        <p:nvPicPr>
                          <p:cNvPr id="33811" name="Object 16"/>
                          <p:cNvPicPr/>
                          <p:nvPr/>
                        </p:nvPicPr>
                        <p:blipFill>
                          <a:blip r:embed="rId21">
                            <a:clrChange>
                              <a:clrFrom>
                                <a:srgbClr val="000000"/>
                              </a:clrFrom>
                              <a:clrTo>
                                <a:srgbClr val="0000FF"/>
                              </a:clrTo>
                            </a:clrChange>
                          </a:blip>
                          <a:stretch>
                            <a:fillRect/>
                          </a:stretch>
                        </p:blipFill>
                        <p:spPr>
                          <a:xfrm>
                            <a:off x="4896" y="2922"/>
                            <a:ext cx="336" cy="297"/>
                          </a:xfrm>
                          <a:prstGeom prst="rect">
                            <a:avLst/>
                          </a:prstGeom>
                          <a:noFill/>
                          <a:ln w="38100">
                            <a:noFill/>
                            <a:miter/>
                          </a:ln>
                        </p:spPr>
                      </p:pic>
                    </p:oleObj>
                  </mc:Fallback>
                </mc:AlternateContent>
              </a:graphicData>
            </a:graphic>
          </p:graphicFrame>
        </p:grpSp>
        <p:grpSp>
          <p:nvGrpSpPr>
            <p:cNvPr id="33807" name="Group 17"/>
            <p:cNvGrpSpPr/>
            <p:nvPr/>
          </p:nvGrpSpPr>
          <p:grpSpPr>
            <a:xfrm>
              <a:off x="3744" y="2784"/>
              <a:ext cx="960" cy="384"/>
              <a:chOff x="3744" y="2784"/>
              <a:chExt cx="960" cy="384"/>
            </a:xfrm>
          </p:grpSpPr>
          <p:graphicFrame>
            <p:nvGraphicFramePr>
              <p:cNvPr id="33808" name="Object 18"/>
              <p:cNvGraphicFramePr>
                <a:graphicFrameLocks noChangeAspect="1"/>
              </p:cNvGraphicFramePr>
              <p:nvPr/>
            </p:nvGraphicFramePr>
            <p:xfrm>
              <a:off x="4320" y="2784"/>
              <a:ext cx="214" cy="258"/>
            </p:xfrm>
            <a:graphic>
              <a:graphicData uri="http://schemas.openxmlformats.org/presentationml/2006/ole">
                <mc:AlternateContent xmlns:mc="http://schemas.openxmlformats.org/markup-compatibility/2006">
                  <mc:Choice xmlns:v="urn:schemas-microsoft-com:vml" Requires="v">
                    <p:oleObj spid="_x0000_s6179" r:id="rId22" imgW="127000" imgH="152400" progId="Equation.3">
                      <p:embed/>
                    </p:oleObj>
                  </mc:Choice>
                  <mc:Fallback>
                    <p:oleObj r:id="rId22" imgW="127000" imgH="152400" progId="Equation.3">
                      <p:embed/>
                      <p:pic>
                        <p:nvPicPr>
                          <p:cNvPr id="33808" name="Object 18"/>
                          <p:cNvPicPr/>
                          <p:nvPr/>
                        </p:nvPicPr>
                        <p:blipFill>
                          <a:blip r:embed="rId10"/>
                          <a:stretch>
                            <a:fillRect/>
                          </a:stretch>
                        </p:blipFill>
                        <p:spPr>
                          <a:xfrm>
                            <a:off x="4320" y="2784"/>
                            <a:ext cx="214" cy="258"/>
                          </a:xfrm>
                          <a:prstGeom prst="rect">
                            <a:avLst/>
                          </a:prstGeom>
                          <a:noFill/>
                          <a:ln w="38100">
                            <a:noFill/>
                            <a:miter/>
                          </a:ln>
                        </p:spPr>
                      </p:pic>
                    </p:oleObj>
                  </mc:Fallback>
                </mc:AlternateContent>
              </a:graphicData>
            </a:graphic>
          </p:graphicFrame>
          <p:sp>
            <p:nvSpPr>
              <p:cNvPr id="33809" name="Line 19"/>
              <p:cNvSpPr/>
              <p:nvPr/>
            </p:nvSpPr>
            <p:spPr>
              <a:xfrm>
                <a:off x="3744" y="2928"/>
                <a:ext cx="960" cy="240"/>
              </a:xfrm>
              <a:prstGeom prst="line">
                <a:avLst/>
              </a:prstGeom>
              <a:ln w="9525" cap="flat" cmpd="sng">
                <a:solidFill>
                  <a:schemeClr val="tx1"/>
                </a:solidFill>
                <a:prstDash val="solid"/>
                <a:headEnd type="none" w="med" len="med"/>
                <a:tailEnd type="triangle" w="sm" len="lg"/>
              </a:ln>
            </p:spPr>
          </p:sp>
        </p:grpSp>
      </p:grpSp>
      <p:grpSp>
        <p:nvGrpSpPr>
          <p:cNvPr id="6" name="Group 20"/>
          <p:cNvGrpSpPr/>
          <p:nvPr/>
        </p:nvGrpSpPr>
        <p:grpSpPr>
          <a:xfrm>
            <a:off x="662495" y="2651398"/>
            <a:ext cx="1144588" cy="1066800"/>
            <a:chOff x="3023" y="1392"/>
            <a:chExt cx="721" cy="672"/>
          </a:xfrm>
        </p:grpSpPr>
        <p:graphicFrame>
          <p:nvGraphicFramePr>
            <p:cNvPr id="33803" name="Object 21"/>
            <p:cNvGraphicFramePr>
              <a:graphicFrameLocks noChangeAspect="1"/>
            </p:cNvGraphicFramePr>
            <p:nvPr/>
          </p:nvGraphicFramePr>
          <p:xfrm>
            <a:off x="3023" y="1392"/>
            <a:ext cx="286" cy="288"/>
          </p:xfrm>
          <a:graphic>
            <a:graphicData uri="http://schemas.openxmlformats.org/presentationml/2006/ole">
              <mc:AlternateContent xmlns:mc="http://schemas.openxmlformats.org/markup-compatibility/2006">
                <mc:Choice xmlns:v="urn:schemas-microsoft-com:vml" Requires="v">
                  <p:oleObj spid="_x0000_s6180" r:id="rId23" imgW="317500" imgH="317500" progId="Equation.3">
                    <p:embed/>
                  </p:oleObj>
                </mc:Choice>
                <mc:Fallback>
                  <p:oleObj r:id="rId23" imgW="317500" imgH="317500" progId="Equation.3">
                    <p:embed/>
                    <p:pic>
                      <p:nvPicPr>
                        <p:cNvPr id="33803" name="Object 21"/>
                        <p:cNvPicPr/>
                        <p:nvPr/>
                      </p:nvPicPr>
                      <p:blipFill>
                        <a:blip r:embed="rId24">
                          <a:clrChange>
                            <a:clrFrom>
                              <a:srgbClr val="000000"/>
                            </a:clrFrom>
                            <a:clrTo>
                              <a:srgbClr val="FF0000"/>
                            </a:clrTo>
                          </a:clrChange>
                        </a:blip>
                        <a:stretch>
                          <a:fillRect/>
                        </a:stretch>
                      </p:blipFill>
                      <p:spPr>
                        <a:xfrm>
                          <a:off x="3023" y="1392"/>
                          <a:ext cx="286" cy="288"/>
                        </a:xfrm>
                        <a:prstGeom prst="rect">
                          <a:avLst/>
                        </a:prstGeom>
                        <a:noFill/>
                        <a:ln w="38100">
                          <a:noFill/>
                          <a:miter/>
                        </a:ln>
                      </p:spPr>
                    </p:pic>
                  </p:oleObj>
                </mc:Fallback>
              </mc:AlternateContent>
            </a:graphicData>
          </a:graphic>
        </p:graphicFrame>
        <p:sp>
          <p:nvSpPr>
            <p:cNvPr id="33804" name="Oval 22"/>
            <p:cNvSpPr/>
            <p:nvPr/>
          </p:nvSpPr>
          <p:spPr>
            <a:xfrm>
              <a:off x="3546" y="1864"/>
              <a:ext cx="198" cy="200"/>
            </a:xfrm>
            <a:prstGeom prst="ellipse">
              <a:avLst/>
            </a:prstGeom>
            <a:gradFill rotWithShape="0">
              <a:gsLst>
                <a:gs pos="0">
                  <a:srgbClr val="FFFFFF"/>
                </a:gs>
                <a:gs pos="100000">
                  <a:srgbClr val="4545C1"/>
                </a:gs>
              </a:gsLst>
              <a:path path="shape">
                <a:fillToRect l="50000" t="50000" r="50000" b="50000"/>
              </a:path>
              <a:tileRect/>
            </a:gradFill>
            <a:ln w="38100">
              <a:noFill/>
            </a:ln>
          </p:spPr>
          <p:txBody>
            <a:bodyPr wrap="none" anchor="ctr" anchorCtr="0"/>
            <a:lstStyle/>
            <a:p>
              <a:pPr algn="ctr"/>
              <a:r>
                <a:rPr lang="en-US" altLang="zh-CN" sz="2800" dirty="0">
                  <a:solidFill>
                    <a:srgbClr val="FF0000"/>
                  </a:solidFill>
                  <a:latin typeface="Arial" panose="020B0604020202020204" pitchFamily="34" charset="0"/>
                </a:rPr>
                <a:t>+</a:t>
              </a:r>
            </a:p>
          </p:txBody>
        </p:sp>
        <p:sp>
          <p:nvSpPr>
            <p:cNvPr id="33805" name="Line 23"/>
            <p:cNvSpPr/>
            <p:nvPr/>
          </p:nvSpPr>
          <p:spPr>
            <a:xfrm>
              <a:off x="3309" y="1632"/>
              <a:ext cx="237" cy="240"/>
            </a:xfrm>
            <a:prstGeom prst="line">
              <a:avLst/>
            </a:prstGeom>
            <a:ln w="9525" cap="flat" cmpd="sng">
              <a:solidFill>
                <a:schemeClr val="tx1"/>
              </a:solidFill>
              <a:prstDash val="solid"/>
              <a:headEnd type="none" w="med" len="med"/>
              <a:tailEnd type="triangle" w="sm" len="lg"/>
            </a:ln>
          </p:spPr>
        </p:sp>
      </p:grpSp>
      <p:sp>
        <p:nvSpPr>
          <p:cNvPr id="2" name="标题 5">
            <a:extLst>
              <a:ext uri="{FF2B5EF4-FFF2-40B4-BE49-F238E27FC236}">
                <a16:creationId xmlns:a16="http://schemas.microsoft.com/office/drawing/2014/main" id="{8F6D1E51-FE3A-B7D2-7E4E-A5F194FA5080}"/>
              </a:ext>
            </a:extLst>
          </p:cNvPr>
          <p:cNvSpPr txBox="1">
            <a:spLocks/>
          </p:cNvSpPr>
          <p:nvPr/>
        </p:nvSpPr>
        <p:spPr>
          <a:xfrm>
            <a:off x="646339" y="863379"/>
            <a:ext cx="5588206" cy="7370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 电荷连续分布的电场</a:t>
            </a:r>
          </a:p>
        </p:txBody>
      </p:sp>
      <p:graphicFrame>
        <p:nvGraphicFramePr>
          <p:cNvPr id="24" name="Object 2">
            <a:extLst>
              <a:ext uri="{FF2B5EF4-FFF2-40B4-BE49-F238E27FC236}">
                <a16:creationId xmlns:a16="http://schemas.microsoft.com/office/drawing/2014/main" id="{47E856BC-0439-30F8-3D8B-3FE8F405CAF5}"/>
              </a:ext>
            </a:extLst>
          </p:cNvPr>
          <p:cNvGraphicFramePr>
            <a:graphicFrameLocks noChangeAspect="1"/>
          </p:cNvGraphicFramePr>
          <p:nvPr>
            <p:extLst/>
          </p:nvPr>
        </p:nvGraphicFramePr>
        <p:xfrm>
          <a:off x="9348453" y="5165020"/>
          <a:ext cx="1524000" cy="514350"/>
        </p:xfrm>
        <a:graphic>
          <a:graphicData uri="http://schemas.openxmlformats.org/presentationml/2006/ole">
            <mc:AlternateContent xmlns:mc="http://schemas.openxmlformats.org/markup-compatibility/2006">
              <mc:Choice xmlns:v="urn:schemas-microsoft-com:vml" Requires="v">
                <p:oleObj spid="_x0000_s6181" r:id="rId25" imgW="596900" imgH="203200" progId="Equation.3">
                  <p:embed/>
                </p:oleObj>
              </mc:Choice>
              <mc:Fallback>
                <p:oleObj r:id="rId25" imgW="596900" imgH="203200" progId="Equation.3">
                  <p:embed/>
                  <p:pic>
                    <p:nvPicPr>
                      <p:cNvPr id="24" name="Object 2">
                        <a:extLst>
                          <a:ext uri="{FF2B5EF4-FFF2-40B4-BE49-F238E27FC236}">
                            <a16:creationId xmlns:a16="http://schemas.microsoft.com/office/drawing/2014/main" id="{47E856BC-0439-30F8-3D8B-3FE8F405CAF5}"/>
                          </a:ext>
                        </a:extLst>
                      </p:cNvPr>
                      <p:cNvPicPr/>
                      <p:nvPr/>
                    </p:nvPicPr>
                    <p:blipFill>
                      <a:blip r:embed="rId26"/>
                      <a:stretch>
                        <a:fillRect/>
                      </a:stretch>
                    </p:blipFill>
                    <p:spPr>
                      <a:xfrm>
                        <a:off x="9348453" y="5165020"/>
                        <a:ext cx="1524000" cy="514350"/>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25" name="Object 3">
                <a:extLst>
                  <a:ext uri="{FF2B5EF4-FFF2-40B4-BE49-F238E27FC236}">
                    <a16:creationId xmlns:a16="http://schemas.microsoft.com/office/drawing/2014/main" id="{583A2194-9883-249F-D442-A7200EC54918}"/>
                  </a:ext>
                </a:extLst>
              </p:cNvPr>
              <p:cNvSpPr txBox="1"/>
              <p:nvPr/>
            </p:nvSpPr>
            <p:spPr>
              <a:xfrm>
                <a:off x="7485349" y="5790864"/>
                <a:ext cx="3684587" cy="1073150"/>
              </a:xfrm>
              <a:prstGeom prst="rect">
                <a:avLst/>
              </a:prstGeom>
              <a:noFill/>
              <a:ln w="12700" cap="flat" cmpd="sng">
                <a:solidFill>
                  <a:schemeClr val="bg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𝑆</m:t>
                          </m:r>
                        </m:sub>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4</m:t>
                              </m:r>
                              <m:r>
                                <m:rPr>
                                  <m:sty m:val="p"/>
                                </m:rPr>
                                <a:rPr lang="zh-CN" altLang="en-US" sz="2800" i="0">
                                  <a:solidFill>
                                    <a:srgbClr val="000000"/>
                                  </a:solidFill>
                                  <a:latin typeface="Cambria Math" panose="02040503050406030204" pitchFamily="18" charset="0"/>
                                </a:rPr>
                                <m:t>π</m:t>
                              </m:r>
                              <m:sSub>
                                <m:sSubPr>
                                  <m:ctrlPr>
                                    <a:rPr lang="zh-CN" altLang="en-US" sz="2800" i="1">
                                      <a:solidFill>
                                        <a:srgbClr val="000000"/>
                                      </a:solidFill>
                                      <a:latin typeface="Cambria Math" panose="02040503050406030204" pitchFamily="18" charset="0"/>
                                    </a:rPr>
                                  </m:ctrlPr>
                                </m:sSubPr>
                                <m:e>
                                  <m:r>
                                    <m:rPr>
                                      <m:sty m:val="p"/>
                                    </m:rPr>
                                    <a:rPr lang="zh-CN" altLang="en-US" sz="2800" i="1">
                                      <a:solidFill>
                                        <a:srgbClr val="000000"/>
                                      </a:solidFill>
                                      <a:latin typeface="Cambria Math" panose="02040503050406030204" pitchFamily="18" charset="0"/>
                                    </a:rPr>
                                    <m:t>ε</m:t>
                                  </m:r>
                                </m:e>
                                <m:sub>
                                  <m:r>
                                    <a:rPr lang="zh-CN" altLang="en-US" sz="2800" i="1">
                                      <a:solidFill>
                                        <a:srgbClr val="000000"/>
                                      </a:solidFill>
                                      <a:latin typeface="Cambria Math" panose="02040503050406030204" pitchFamily="18" charset="0"/>
                                    </a:rPr>
                                    <m:t>0</m:t>
                                  </m:r>
                                </m:sub>
                              </m:sSub>
                            </m:den>
                          </m:f>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σ</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𝑒</m:t>
                                      </m:r>
                                    </m:e>
                                  </m:acc>
                                </m:e>
                                <m:sub>
                                  <m:r>
                                    <a:rPr lang="zh-CN" altLang="en-US" sz="2800" i="1">
                                      <a:solidFill>
                                        <a:srgbClr val="000000"/>
                                      </a:solidFill>
                                      <a:latin typeface="Cambria Math" panose="02040503050406030204" pitchFamily="18" charset="0"/>
                                    </a:rPr>
                                    <m:t>𝑟</m:t>
                                  </m:r>
                                </m:sub>
                              </m:sSub>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𝑆</m:t>
                          </m:r>
                        </m:e>
                      </m:nary>
                    </m:oMath>
                  </m:oMathPara>
                </a14:m>
                <a:endParaRPr lang="zh-CN" altLang="en-US" sz="2800" dirty="0"/>
              </a:p>
            </p:txBody>
          </p:sp>
        </mc:Choice>
        <mc:Fallback xmlns="">
          <p:sp>
            <p:nvSpPr>
              <p:cNvPr id="25" name="Object 3">
                <a:extLst>
                  <a:ext uri="{FF2B5EF4-FFF2-40B4-BE49-F238E27FC236}">
                    <a16:creationId xmlns:a16="http://schemas.microsoft.com/office/drawing/2014/main" id="{583A2194-9883-249F-D442-A7200EC54918}"/>
                  </a:ext>
                </a:extLst>
              </p:cNvPr>
              <p:cNvSpPr txBox="1">
                <a:spLocks noRot="1" noChangeAspect="1" noMove="1" noResize="1" noEditPoints="1" noAdjustHandles="1" noChangeArrowheads="1" noChangeShapeType="1" noTextEdit="1"/>
              </p:cNvSpPr>
              <p:nvPr/>
            </p:nvSpPr>
            <p:spPr>
              <a:xfrm>
                <a:off x="7485349" y="5790864"/>
                <a:ext cx="3684587" cy="1073150"/>
              </a:xfrm>
              <a:prstGeom prst="rect">
                <a:avLst/>
              </a:prstGeom>
              <a:blipFill>
                <a:blip r:embed="rId27"/>
                <a:stretch>
                  <a:fillRect/>
                </a:stretch>
              </a:blipFill>
              <a:ln w="12700" cap="flat" cmpd="sng">
                <a:solidFill>
                  <a:schemeClr val="bg1"/>
                </a:solidFill>
                <a:prstDash val="solid"/>
                <a:miter/>
                <a:headEnd type="none" w="med" len="med"/>
                <a:tailEnd type="none" w="med" len="med"/>
              </a:ln>
            </p:spPr>
            <p:txBody>
              <a:bodyPr/>
              <a:lstStyle/>
              <a:p>
                <a:r>
                  <a:rPr lang="zh-CN" altLang="en-US">
                    <a:noFill/>
                  </a:rPr>
                  <a:t> </a:t>
                </a:r>
              </a:p>
            </p:txBody>
          </p:sp>
        </mc:Fallback>
      </mc:AlternateContent>
      <p:sp>
        <p:nvSpPr>
          <p:cNvPr id="26" name="Text Box 4">
            <a:extLst>
              <a:ext uri="{FF2B5EF4-FFF2-40B4-BE49-F238E27FC236}">
                <a16:creationId xmlns:a16="http://schemas.microsoft.com/office/drawing/2014/main" id="{DB0D6F1E-D52F-5965-28B4-8FD7293A4877}"/>
              </a:ext>
            </a:extLst>
          </p:cNvPr>
          <p:cNvSpPr txBox="1"/>
          <p:nvPr/>
        </p:nvSpPr>
        <p:spPr>
          <a:xfrm>
            <a:off x="6440153" y="5049501"/>
            <a:ext cx="2819400" cy="579438"/>
          </a:xfrm>
          <a:prstGeom prst="rect">
            <a:avLst/>
          </a:prstGeom>
          <a:noFill/>
          <a:ln w="9525">
            <a:noFill/>
          </a:ln>
        </p:spPr>
        <p:txBody>
          <a:bodyPr>
            <a:spAutoFit/>
          </a:bodyPr>
          <a:lstStyle/>
          <a:p>
            <a:pPr>
              <a:spcBef>
                <a:spcPct val="50000"/>
              </a:spcBef>
            </a:pPr>
            <a:r>
              <a:rPr lang="zh-CN" altLang="en-US" sz="3200" b="1" dirty="0">
                <a:solidFill>
                  <a:srgbClr val="0066FF"/>
                </a:solidFill>
                <a:latin typeface="Times New Roman" panose="02020603050405020304" pitchFamily="18" charset="0"/>
              </a:rPr>
              <a:t>电荷面密度 </a:t>
            </a:r>
            <a:r>
              <a:rPr lang="zh-CN" altLang="en-US" sz="3200" i="1" dirty="0">
                <a:solidFill>
                  <a:srgbClr val="0066FF"/>
                </a:solidFill>
                <a:latin typeface="Times New Roman" panose="02020603050405020304" pitchFamily="18" charset="0"/>
                <a:sym typeface="Symbol" panose="05050102010706020507" pitchFamily="18" charset="2"/>
              </a:rPr>
              <a:t></a:t>
            </a:r>
          </a:p>
        </p:txBody>
      </p:sp>
      <p:sp>
        <p:nvSpPr>
          <p:cNvPr id="41" name="Text Box 5">
            <a:extLst>
              <a:ext uri="{FF2B5EF4-FFF2-40B4-BE49-F238E27FC236}">
                <a16:creationId xmlns:a16="http://schemas.microsoft.com/office/drawing/2014/main" id="{B53CBD76-3461-E390-8CD1-797FD8015685}"/>
              </a:ext>
            </a:extLst>
          </p:cNvPr>
          <p:cNvSpPr txBox="1"/>
          <p:nvPr/>
        </p:nvSpPr>
        <p:spPr>
          <a:xfrm>
            <a:off x="411524" y="5001206"/>
            <a:ext cx="2819400" cy="579438"/>
          </a:xfrm>
          <a:prstGeom prst="rect">
            <a:avLst/>
          </a:prstGeom>
          <a:noFill/>
          <a:ln w="9525">
            <a:noFill/>
          </a:ln>
        </p:spPr>
        <p:txBody>
          <a:bodyPr>
            <a:spAutoFit/>
          </a:bodyPr>
          <a:lstStyle/>
          <a:p>
            <a:pPr>
              <a:spcBef>
                <a:spcPct val="50000"/>
              </a:spcBef>
            </a:pPr>
            <a:r>
              <a:rPr lang="zh-CN" altLang="en-US" sz="3200" b="1" dirty="0">
                <a:solidFill>
                  <a:srgbClr val="0066FF"/>
                </a:solidFill>
                <a:latin typeface="Times New Roman" panose="02020603050405020304" pitchFamily="18" charset="0"/>
              </a:rPr>
              <a:t>电荷体密度 </a:t>
            </a:r>
            <a:r>
              <a:rPr lang="zh-CN" altLang="en-US" sz="3200" i="1" dirty="0">
                <a:solidFill>
                  <a:srgbClr val="0066FF"/>
                </a:solidFill>
                <a:latin typeface="Times New Roman" panose="02020603050405020304" pitchFamily="18" charset="0"/>
                <a:sym typeface="Symbol" panose="05050102010706020507" pitchFamily="18" charset="2"/>
              </a:rPr>
              <a:t></a:t>
            </a:r>
            <a:endParaRPr lang="zh-CN" altLang="en-US" sz="3200" i="1" dirty="0">
              <a:solidFill>
                <a:srgbClr val="0066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00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00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00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007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1" grpId="0" animBg="1"/>
      <p:bldP spid="600071" grpId="0" animBg="1"/>
      <p:bldP spid="25" grpId="0" animBg="1"/>
      <p:bldP spid="26" grpId="0"/>
      <p:bldP spid="4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a:extLst>
              <a:ext uri="{FF2B5EF4-FFF2-40B4-BE49-F238E27FC236}">
                <a16:creationId xmlns:a16="http://schemas.microsoft.com/office/drawing/2014/main" id="{4CD03125-1A59-468D-502E-4AEFB410BE2C}"/>
              </a:ext>
            </a:extLst>
          </p:cNvPr>
          <p:cNvSpPr/>
          <p:nvPr/>
        </p:nvSpPr>
        <p:spPr>
          <a:xfrm>
            <a:off x="2365376" y="3966930"/>
            <a:ext cx="3962400" cy="2392362"/>
          </a:xfrm>
          <a:prstGeom prst="rect">
            <a:avLst/>
          </a:prstGeom>
          <a:solidFill>
            <a:srgbClr val="FFFFFF"/>
          </a:solidFill>
          <a:ln w="9525" cap="flat" cmpd="sng">
            <a:solidFill>
              <a:schemeClr val="bg1"/>
            </a:solidFill>
            <a:prstDash val="solid"/>
            <a:miter/>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sp>
        <p:nvSpPr>
          <p:cNvPr id="9" name="Freeform 6">
            <a:extLst>
              <a:ext uri="{FF2B5EF4-FFF2-40B4-BE49-F238E27FC236}">
                <a16:creationId xmlns:a16="http://schemas.microsoft.com/office/drawing/2014/main" id="{73F80934-2D9B-AEAD-CDA4-735CC676E080}"/>
              </a:ext>
            </a:extLst>
          </p:cNvPr>
          <p:cNvSpPr/>
          <p:nvPr/>
        </p:nvSpPr>
        <p:spPr>
          <a:xfrm>
            <a:off x="2803526" y="3049128"/>
            <a:ext cx="2362200" cy="1524000"/>
          </a:xfrm>
          <a:custGeom>
            <a:avLst/>
            <a:gdLst/>
            <a:ahLst/>
            <a:cxnLst>
              <a:cxn ang="0">
                <a:pos x="0" y="1499016"/>
              </a:cxn>
              <a:cxn ang="0">
                <a:pos x="533400" y="1424066"/>
              </a:cxn>
              <a:cxn ang="0">
                <a:pos x="685800" y="899410"/>
              </a:cxn>
              <a:cxn ang="0">
                <a:pos x="990600" y="524656"/>
              </a:cxn>
              <a:cxn ang="0">
                <a:pos x="1371600" y="374754"/>
              </a:cxn>
              <a:cxn ang="0">
                <a:pos x="1905000" y="299803"/>
              </a:cxn>
              <a:cxn ang="0">
                <a:pos x="2362200" y="0"/>
              </a:cxn>
            </a:cxnLst>
            <a:rect l="0" t="0" r="0" b="0"/>
            <a:pathLst>
              <a:path w="1488" h="976">
                <a:moveTo>
                  <a:pt x="0" y="960"/>
                </a:moveTo>
                <a:cubicBezTo>
                  <a:pt x="132" y="968"/>
                  <a:pt x="264" y="976"/>
                  <a:pt x="336" y="912"/>
                </a:cubicBezTo>
                <a:cubicBezTo>
                  <a:pt x="408" y="848"/>
                  <a:pt x="384" y="672"/>
                  <a:pt x="432" y="576"/>
                </a:cubicBezTo>
                <a:cubicBezTo>
                  <a:pt x="480" y="480"/>
                  <a:pt x="552" y="392"/>
                  <a:pt x="624" y="336"/>
                </a:cubicBezTo>
                <a:cubicBezTo>
                  <a:pt x="696" y="280"/>
                  <a:pt x="768" y="264"/>
                  <a:pt x="864" y="240"/>
                </a:cubicBezTo>
                <a:cubicBezTo>
                  <a:pt x="960" y="216"/>
                  <a:pt x="1096" y="232"/>
                  <a:pt x="1200" y="192"/>
                </a:cubicBezTo>
                <a:cubicBezTo>
                  <a:pt x="1304" y="152"/>
                  <a:pt x="1396" y="76"/>
                  <a:pt x="1488" y="0"/>
                </a:cubicBezTo>
              </a:path>
            </a:pathLst>
          </a:custGeom>
          <a:noFill/>
          <a:ln w="76200" cap="flat" cmpd="sng">
            <a:solidFill>
              <a:srgbClr val="71C6FF">
                <a:alpha val="100000"/>
              </a:srgbClr>
            </a:solidFill>
            <a:prstDash val="solid"/>
            <a:round/>
            <a:headEnd type="none" w="med" len="med"/>
            <a:tailEnd type="none" w="med" len="med"/>
          </a:ln>
        </p:spPr>
        <p:txBody>
          <a:bodyPr/>
          <a:lstStyle/>
          <a:p>
            <a:endParaRPr lang="zh-CN" altLang="en-US"/>
          </a:p>
        </p:txBody>
      </p:sp>
      <p:sp>
        <p:nvSpPr>
          <p:cNvPr id="10" name="Oval 10">
            <a:extLst>
              <a:ext uri="{FF2B5EF4-FFF2-40B4-BE49-F238E27FC236}">
                <a16:creationId xmlns:a16="http://schemas.microsoft.com/office/drawing/2014/main" id="{78033187-AE5C-B63B-ED68-488407239DD1}"/>
              </a:ext>
            </a:extLst>
          </p:cNvPr>
          <p:cNvSpPr/>
          <p:nvPr/>
        </p:nvSpPr>
        <p:spPr>
          <a:xfrm>
            <a:off x="5173664" y="4115928"/>
            <a:ext cx="144462" cy="152400"/>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pPr eaLnBrk="0" hangingPunct="0"/>
            <a:endParaRPr lang="zh-CN" altLang="en-US" dirty="0">
              <a:latin typeface="Bookman Old Style" panose="02050604050505020204" pitchFamily="18" charset="0"/>
            </a:endParaRPr>
          </a:p>
        </p:txBody>
      </p:sp>
      <p:graphicFrame>
        <p:nvGraphicFramePr>
          <p:cNvPr id="11" name="Object 11">
            <a:extLst>
              <a:ext uri="{FF2B5EF4-FFF2-40B4-BE49-F238E27FC236}">
                <a16:creationId xmlns:a16="http://schemas.microsoft.com/office/drawing/2014/main" id="{D8AE76B0-8320-1116-FE78-44DCF109D907}"/>
              </a:ext>
            </a:extLst>
          </p:cNvPr>
          <p:cNvGraphicFramePr>
            <a:graphicFrameLocks noChangeAspect="1"/>
          </p:cNvGraphicFramePr>
          <p:nvPr>
            <p:extLst/>
          </p:nvPr>
        </p:nvGraphicFramePr>
        <p:xfrm>
          <a:off x="5013326" y="4268328"/>
          <a:ext cx="381000" cy="374650"/>
        </p:xfrm>
        <a:graphic>
          <a:graphicData uri="http://schemas.openxmlformats.org/presentationml/2006/ole">
            <mc:AlternateContent xmlns:mc="http://schemas.openxmlformats.org/markup-compatibility/2006">
              <mc:Choice xmlns:v="urn:schemas-microsoft-com:vml" Requires="v">
                <p:oleObj spid="_x0000_s7184" r:id="rId3" imgW="241300" imgH="254000" progId="Equation.3">
                  <p:embed/>
                </p:oleObj>
              </mc:Choice>
              <mc:Fallback>
                <p:oleObj r:id="rId3" imgW="241300" imgH="254000" progId="Equation.3">
                  <p:embed/>
                  <p:pic>
                    <p:nvPicPr>
                      <p:cNvPr id="11" name="Object 11">
                        <a:extLst>
                          <a:ext uri="{FF2B5EF4-FFF2-40B4-BE49-F238E27FC236}">
                            <a16:creationId xmlns:a16="http://schemas.microsoft.com/office/drawing/2014/main" id="{D8AE76B0-8320-1116-FE78-44DCF109D907}"/>
                          </a:ext>
                        </a:extLst>
                      </p:cNvPr>
                      <p:cNvPicPr/>
                      <p:nvPr/>
                    </p:nvPicPr>
                    <p:blipFill>
                      <a:blip r:embed="rId4">
                        <a:clrChange>
                          <a:clrFrom>
                            <a:srgbClr val="000000"/>
                          </a:clrFrom>
                          <a:clrTo>
                            <a:srgbClr val="FF0000"/>
                          </a:clrTo>
                        </a:clrChange>
                      </a:blip>
                      <a:stretch>
                        <a:fillRect/>
                      </a:stretch>
                    </p:blipFill>
                    <p:spPr>
                      <a:xfrm>
                        <a:off x="5013326" y="4268328"/>
                        <a:ext cx="381000" cy="374650"/>
                      </a:xfrm>
                      <a:prstGeom prst="rect">
                        <a:avLst/>
                      </a:prstGeom>
                      <a:noFill/>
                      <a:ln w="38100">
                        <a:noFill/>
                        <a:miter/>
                      </a:ln>
                    </p:spPr>
                  </p:pic>
                </p:oleObj>
              </mc:Fallback>
            </mc:AlternateContent>
          </a:graphicData>
        </a:graphic>
      </p:graphicFrame>
      <p:grpSp>
        <p:nvGrpSpPr>
          <p:cNvPr id="12" name="Group 12">
            <a:extLst>
              <a:ext uri="{FF2B5EF4-FFF2-40B4-BE49-F238E27FC236}">
                <a16:creationId xmlns:a16="http://schemas.microsoft.com/office/drawing/2014/main" id="{AEDE4635-0D16-1C7E-97BE-A4CEDFEE8D18}"/>
              </a:ext>
            </a:extLst>
          </p:cNvPr>
          <p:cNvGrpSpPr/>
          <p:nvPr/>
        </p:nvGrpSpPr>
        <p:grpSpPr>
          <a:xfrm>
            <a:off x="2574926" y="2972929"/>
            <a:ext cx="3581400" cy="1470025"/>
            <a:chOff x="3072" y="2400"/>
            <a:chExt cx="2256" cy="926"/>
          </a:xfrm>
        </p:grpSpPr>
        <p:sp>
          <p:nvSpPr>
            <p:cNvPr id="13" name="Line 13">
              <a:extLst>
                <a:ext uri="{FF2B5EF4-FFF2-40B4-BE49-F238E27FC236}">
                  <a16:creationId xmlns:a16="http://schemas.microsoft.com/office/drawing/2014/main" id="{40C51CCE-7C3D-E06B-69FF-154F16D8E0EF}"/>
                </a:ext>
              </a:extLst>
            </p:cNvPr>
            <p:cNvSpPr/>
            <p:nvPr/>
          </p:nvSpPr>
          <p:spPr>
            <a:xfrm>
              <a:off x="3312" y="2592"/>
              <a:ext cx="336" cy="288"/>
            </a:xfrm>
            <a:prstGeom prst="line">
              <a:avLst/>
            </a:prstGeom>
            <a:ln w="9525" cap="flat" cmpd="sng">
              <a:solidFill>
                <a:schemeClr val="tx1"/>
              </a:solidFill>
              <a:prstDash val="solid"/>
              <a:headEnd type="none" w="med" len="med"/>
              <a:tailEnd type="triangle" w="sm" len="lg"/>
            </a:ln>
          </p:spPr>
        </p:sp>
        <p:graphicFrame>
          <p:nvGraphicFramePr>
            <p:cNvPr id="14" name="Object 14">
              <a:extLst>
                <a:ext uri="{FF2B5EF4-FFF2-40B4-BE49-F238E27FC236}">
                  <a16:creationId xmlns:a16="http://schemas.microsoft.com/office/drawing/2014/main" id="{F0BF0EE9-6CFE-BAE8-D75E-F83147825DFC}"/>
                </a:ext>
              </a:extLst>
            </p:cNvPr>
            <p:cNvGraphicFramePr>
              <a:graphicFrameLocks noChangeAspect="1"/>
            </p:cNvGraphicFramePr>
            <p:nvPr/>
          </p:nvGraphicFramePr>
          <p:xfrm>
            <a:off x="3072" y="2400"/>
            <a:ext cx="250" cy="252"/>
          </p:xfrm>
          <a:graphic>
            <a:graphicData uri="http://schemas.openxmlformats.org/presentationml/2006/ole">
              <mc:AlternateContent xmlns:mc="http://schemas.openxmlformats.org/markup-compatibility/2006">
                <mc:Choice xmlns:v="urn:schemas-microsoft-com:vml" Requires="v">
                  <p:oleObj spid="_x0000_s7185" r:id="rId5" imgW="292100" imgH="292100" progId="Equation.3">
                    <p:embed/>
                  </p:oleObj>
                </mc:Choice>
                <mc:Fallback>
                  <p:oleObj r:id="rId5" imgW="292100" imgH="292100" progId="Equation.3">
                    <p:embed/>
                    <p:pic>
                      <p:nvPicPr>
                        <p:cNvPr id="14" name="Object 14">
                          <a:extLst>
                            <a:ext uri="{FF2B5EF4-FFF2-40B4-BE49-F238E27FC236}">
                              <a16:creationId xmlns:a16="http://schemas.microsoft.com/office/drawing/2014/main" id="{F0BF0EE9-6CFE-BAE8-D75E-F83147825DFC}"/>
                            </a:ext>
                          </a:extLst>
                        </p:cNvPr>
                        <p:cNvPicPr/>
                        <p:nvPr/>
                      </p:nvPicPr>
                      <p:blipFill>
                        <a:blip r:embed="rId6">
                          <a:clrChange>
                            <a:clrFrom>
                              <a:srgbClr val="000000"/>
                            </a:clrFrom>
                            <a:clrTo>
                              <a:srgbClr val="FF0000"/>
                            </a:clrTo>
                          </a:clrChange>
                        </a:blip>
                        <a:stretch>
                          <a:fillRect/>
                        </a:stretch>
                      </p:blipFill>
                      <p:spPr>
                        <a:xfrm>
                          <a:off x="3072" y="2400"/>
                          <a:ext cx="250" cy="252"/>
                        </a:xfrm>
                        <a:prstGeom prst="rect">
                          <a:avLst/>
                        </a:prstGeom>
                        <a:noFill/>
                        <a:ln w="38100">
                          <a:noFill/>
                          <a:miter/>
                        </a:ln>
                      </p:spPr>
                    </p:pic>
                  </p:oleObj>
                </mc:Fallback>
              </mc:AlternateContent>
            </a:graphicData>
          </a:graphic>
        </p:graphicFrame>
        <p:sp>
          <p:nvSpPr>
            <p:cNvPr id="15" name="Line 15">
              <a:extLst>
                <a:ext uri="{FF2B5EF4-FFF2-40B4-BE49-F238E27FC236}">
                  <a16:creationId xmlns:a16="http://schemas.microsoft.com/office/drawing/2014/main" id="{C4DBC74A-2260-78B0-B2F0-AAE0231D4E46}"/>
                </a:ext>
              </a:extLst>
            </p:cNvPr>
            <p:cNvSpPr/>
            <p:nvPr/>
          </p:nvSpPr>
          <p:spPr>
            <a:xfrm flipH="1">
              <a:off x="3648" y="2880"/>
              <a:ext cx="96" cy="96"/>
            </a:xfrm>
            <a:prstGeom prst="line">
              <a:avLst/>
            </a:prstGeom>
            <a:ln w="76200" cap="flat" cmpd="sng">
              <a:solidFill>
                <a:srgbClr val="FF0000"/>
              </a:solidFill>
              <a:prstDash val="solid"/>
              <a:headEnd type="none" w="med" len="med"/>
              <a:tailEnd type="none" w="med" len="med"/>
            </a:ln>
          </p:spPr>
        </p:sp>
        <p:grpSp>
          <p:nvGrpSpPr>
            <p:cNvPr id="16" name="Group 16">
              <a:extLst>
                <a:ext uri="{FF2B5EF4-FFF2-40B4-BE49-F238E27FC236}">
                  <a16:creationId xmlns:a16="http://schemas.microsoft.com/office/drawing/2014/main" id="{5254E936-5892-DA49-9146-66F6B75B105F}"/>
                </a:ext>
              </a:extLst>
            </p:cNvPr>
            <p:cNvGrpSpPr/>
            <p:nvPr/>
          </p:nvGrpSpPr>
          <p:grpSpPr>
            <a:xfrm>
              <a:off x="4800" y="2936"/>
              <a:ext cx="528" cy="390"/>
              <a:chOff x="4752" y="2922"/>
              <a:chExt cx="528" cy="390"/>
            </a:xfrm>
          </p:grpSpPr>
          <p:sp>
            <p:nvSpPr>
              <p:cNvPr id="20" name="Line 17">
                <a:extLst>
                  <a:ext uri="{FF2B5EF4-FFF2-40B4-BE49-F238E27FC236}">
                    <a16:creationId xmlns:a16="http://schemas.microsoft.com/office/drawing/2014/main" id="{D5EE7D6C-F5A5-2006-812F-71E63ACF7445}"/>
                  </a:ext>
                </a:extLst>
              </p:cNvPr>
              <p:cNvSpPr/>
              <p:nvPr/>
            </p:nvSpPr>
            <p:spPr>
              <a:xfrm>
                <a:off x="4752" y="3168"/>
                <a:ext cx="528" cy="144"/>
              </a:xfrm>
              <a:prstGeom prst="line">
                <a:avLst/>
              </a:prstGeom>
              <a:ln w="38100" cap="flat" cmpd="sng">
                <a:solidFill>
                  <a:srgbClr val="0000FF"/>
                </a:solidFill>
                <a:prstDash val="solid"/>
                <a:headEnd type="none" w="med" len="med"/>
                <a:tailEnd type="triangle" w="sm" len="lg"/>
              </a:ln>
            </p:spPr>
          </p:sp>
          <p:graphicFrame>
            <p:nvGraphicFramePr>
              <p:cNvPr id="21" name="Object 18">
                <a:extLst>
                  <a:ext uri="{FF2B5EF4-FFF2-40B4-BE49-F238E27FC236}">
                    <a16:creationId xmlns:a16="http://schemas.microsoft.com/office/drawing/2014/main" id="{6DB48E6D-45C6-3347-122A-7049873C80C4}"/>
                  </a:ext>
                </a:extLst>
              </p:cNvPr>
              <p:cNvGraphicFramePr>
                <a:graphicFrameLocks noChangeAspect="1"/>
              </p:cNvGraphicFramePr>
              <p:nvPr/>
            </p:nvGraphicFramePr>
            <p:xfrm>
              <a:off x="4896" y="2922"/>
              <a:ext cx="336" cy="297"/>
            </p:xfrm>
            <a:graphic>
              <a:graphicData uri="http://schemas.openxmlformats.org/presentationml/2006/ole">
                <mc:AlternateContent xmlns:mc="http://schemas.openxmlformats.org/markup-compatibility/2006">
                  <mc:Choice xmlns:v="urn:schemas-microsoft-com:vml" Requires="v">
                    <p:oleObj spid="_x0000_s7186" r:id="rId7" imgW="368300" imgH="317500" progId="Equation.3">
                      <p:embed/>
                    </p:oleObj>
                  </mc:Choice>
                  <mc:Fallback>
                    <p:oleObj r:id="rId7" imgW="368300" imgH="317500" progId="Equation.3">
                      <p:embed/>
                      <p:pic>
                        <p:nvPicPr>
                          <p:cNvPr id="21" name="Object 18">
                            <a:extLst>
                              <a:ext uri="{FF2B5EF4-FFF2-40B4-BE49-F238E27FC236}">
                                <a16:creationId xmlns:a16="http://schemas.microsoft.com/office/drawing/2014/main" id="{6DB48E6D-45C6-3347-122A-7049873C80C4}"/>
                              </a:ext>
                            </a:extLst>
                          </p:cNvPr>
                          <p:cNvPicPr/>
                          <p:nvPr/>
                        </p:nvPicPr>
                        <p:blipFill>
                          <a:blip r:embed="rId8">
                            <a:clrChange>
                              <a:clrFrom>
                                <a:srgbClr val="000000"/>
                              </a:clrFrom>
                              <a:clrTo>
                                <a:srgbClr val="0000FF"/>
                              </a:clrTo>
                            </a:clrChange>
                          </a:blip>
                          <a:stretch>
                            <a:fillRect/>
                          </a:stretch>
                        </p:blipFill>
                        <p:spPr>
                          <a:xfrm>
                            <a:off x="4896" y="2922"/>
                            <a:ext cx="336" cy="297"/>
                          </a:xfrm>
                          <a:prstGeom prst="rect">
                            <a:avLst/>
                          </a:prstGeom>
                          <a:noFill/>
                          <a:ln w="38100">
                            <a:noFill/>
                            <a:miter/>
                          </a:ln>
                        </p:spPr>
                      </p:pic>
                    </p:oleObj>
                  </mc:Fallback>
                </mc:AlternateContent>
              </a:graphicData>
            </a:graphic>
          </p:graphicFrame>
        </p:grpSp>
        <p:grpSp>
          <p:nvGrpSpPr>
            <p:cNvPr id="17" name="Group 19">
              <a:extLst>
                <a:ext uri="{FF2B5EF4-FFF2-40B4-BE49-F238E27FC236}">
                  <a16:creationId xmlns:a16="http://schemas.microsoft.com/office/drawing/2014/main" id="{24B43FE8-F160-AD60-E2DF-E12FEC8A5E4B}"/>
                </a:ext>
              </a:extLst>
            </p:cNvPr>
            <p:cNvGrpSpPr/>
            <p:nvPr/>
          </p:nvGrpSpPr>
          <p:grpSpPr>
            <a:xfrm>
              <a:off x="3744" y="2784"/>
              <a:ext cx="960" cy="384"/>
              <a:chOff x="3744" y="2784"/>
              <a:chExt cx="960" cy="384"/>
            </a:xfrm>
          </p:grpSpPr>
          <p:graphicFrame>
            <p:nvGraphicFramePr>
              <p:cNvPr id="18" name="Object 20">
                <a:extLst>
                  <a:ext uri="{FF2B5EF4-FFF2-40B4-BE49-F238E27FC236}">
                    <a16:creationId xmlns:a16="http://schemas.microsoft.com/office/drawing/2014/main" id="{0CD5DA9A-22F1-3742-3A72-F92181A440D4}"/>
                  </a:ext>
                </a:extLst>
              </p:cNvPr>
              <p:cNvGraphicFramePr>
                <a:graphicFrameLocks noChangeAspect="1"/>
              </p:cNvGraphicFramePr>
              <p:nvPr/>
            </p:nvGraphicFramePr>
            <p:xfrm>
              <a:off x="4320" y="2784"/>
              <a:ext cx="214" cy="258"/>
            </p:xfrm>
            <a:graphic>
              <a:graphicData uri="http://schemas.openxmlformats.org/presentationml/2006/ole">
                <mc:AlternateContent xmlns:mc="http://schemas.openxmlformats.org/markup-compatibility/2006">
                  <mc:Choice xmlns:v="urn:schemas-microsoft-com:vml" Requires="v">
                    <p:oleObj spid="_x0000_s7187" r:id="rId9" imgW="127000" imgH="152400" progId="Equation.3">
                      <p:embed/>
                    </p:oleObj>
                  </mc:Choice>
                  <mc:Fallback>
                    <p:oleObj r:id="rId9" imgW="127000" imgH="152400" progId="Equation.3">
                      <p:embed/>
                      <p:pic>
                        <p:nvPicPr>
                          <p:cNvPr id="18" name="Object 20">
                            <a:extLst>
                              <a:ext uri="{FF2B5EF4-FFF2-40B4-BE49-F238E27FC236}">
                                <a16:creationId xmlns:a16="http://schemas.microsoft.com/office/drawing/2014/main" id="{0CD5DA9A-22F1-3742-3A72-F92181A440D4}"/>
                              </a:ext>
                            </a:extLst>
                          </p:cNvPr>
                          <p:cNvPicPr/>
                          <p:nvPr/>
                        </p:nvPicPr>
                        <p:blipFill>
                          <a:blip r:embed="rId10"/>
                          <a:stretch>
                            <a:fillRect/>
                          </a:stretch>
                        </p:blipFill>
                        <p:spPr>
                          <a:xfrm>
                            <a:off x="4320" y="2784"/>
                            <a:ext cx="214" cy="258"/>
                          </a:xfrm>
                          <a:prstGeom prst="rect">
                            <a:avLst/>
                          </a:prstGeom>
                          <a:noFill/>
                          <a:ln w="38100">
                            <a:noFill/>
                            <a:miter/>
                          </a:ln>
                        </p:spPr>
                      </p:pic>
                    </p:oleObj>
                  </mc:Fallback>
                </mc:AlternateContent>
              </a:graphicData>
            </a:graphic>
          </p:graphicFrame>
          <p:sp>
            <p:nvSpPr>
              <p:cNvPr id="19" name="Line 21">
                <a:extLst>
                  <a:ext uri="{FF2B5EF4-FFF2-40B4-BE49-F238E27FC236}">
                    <a16:creationId xmlns:a16="http://schemas.microsoft.com/office/drawing/2014/main" id="{B3E7BC73-6381-7A54-7480-0763821DE2F1}"/>
                  </a:ext>
                </a:extLst>
              </p:cNvPr>
              <p:cNvSpPr/>
              <p:nvPr/>
            </p:nvSpPr>
            <p:spPr>
              <a:xfrm>
                <a:off x="3744" y="2928"/>
                <a:ext cx="960" cy="240"/>
              </a:xfrm>
              <a:prstGeom prst="line">
                <a:avLst/>
              </a:prstGeom>
              <a:ln w="9525" cap="flat" cmpd="sng">
                <a:solidFill>
                  <a:schemeClr val="tx1"/>
                </a:solidFill>
                <a:prstDash val="solid"/>
                <a:headEnd type="none" w="med" len="med"/>
                <a:tailEnd type="triangle" w="sm" len="lg"/>
              </a:ln>
            </p:spPr>
          </p:sp>
        </p:grpSp>
      </p:grpSp>
      <p:graphicFrame>
        <p:nvGraphicFramePr>
          <p:cNvPr id="600066" name="Object 2"/>
          <p:cNvGraphicFramePr>
            <a:graphicFrameLocks noChangeAspect="1"/>
          </p:cNvGraphicFramePr>
          <p:nvPr/>
        </p:nvGraphicFramePr>
        <p:xfrm>
          <a:off x="2822575" y="1538288"/>
          <a:ext cx="2540000" cy="1084262"/>
        </p:xfrm>
        <a:graphic>
          <a:graphicData uri="http://schemas.openxmlformats.org/presentationml/2006/ole">
            <mc:AlternateContent xmlns:mc="http://schemas.openxmlformats.org/markup-compatibility/2006">
              <mc:Choice xmlns:v="urn:schemas-microsoft-com:vml" Requires="v">
                <p:oleObj spid="_x0000_s7188" r:id="rId11" imgW="1002665" imgH="431800" progId="Equation.3">
                  <p:embed/>
                </p:oleObj>
              </mc:Choice>
              <mc:Fallback>
                <p:oleObj r:id="rId11" imgW="1002665" imgH="431800" progId="Equation.3">
                  <p:embed/>
                  <p:pic>
                    <p:nvPicPr>
                      <p:cNvPr id="600066" name="Object 2"/>
                      <p:cNvPicPr/>
                      <p:nvPr/>
                    </p:nvPicPr>
                    <p:blipFill>
                      <a:blip r:embed="rId12"/>
                      <a:stretch>
                        <a:fillRect/>
                      </a:stretch>
                    </p:blipFill>
                    <p:spPr>
                      <a:xfrm>
                        <a:off x="2822575" y="1538288"/>
                        <a:ext cx="2540000" cy="1084262"/>
                      </a:xfrm>
                      <a:prstGeom prst="rect">
                        <a:avLst/>
                      </a:prstGeom>
                      <a:noFill/>
                      <a:ln w="38100">
                        <a:noFill/>
                        <a:miter/>
                      </a:ln>
                    </p:spPr>
                  </p:pic>
                </p:oleObj>
              </mc:Fallback>
            </mc:AlternateContent>
          </a:graphicData>
        </a:graphic>
      </p:graphicFrame>
      <p:graphicFrame>
        <p:nvGraphicFramePr>
          <p:cNvPr id="600068" name="Object 4"/>
          <p:cNvGraphicFramePr>
            <a:graphicFrameLocks noChangeAspect="1"/>
          </p:cNvGraphicFramePr>
          <p:nvPr/>
        </p:nvGraphicFramePr>
        <p:xfrm>
          <a:off x="6156326" y="1538288"/>
          <a:ext cx="3370263" cy="1096962"/>
        </p:xfrm>
        <a:graphic>
          <a:graphicData uri="http://schemas.openxmlformats.org/presentationml/2006/ole">
            <mc:AlternateContent xmlns:mc="http://schemas.openxmlformats.org/markup-compatibility/2006">
              <mc:Choice xmlns:v="urn:schemas-microsoft-com:vml" Requires="v">
                <p:oleObj spid="_x0000_s7189" r:id="rId13" imgW="1473200" imgH="431800" progId="Equation.3">
                  <p:embed/>
                </p:oleObj>
              </mc:Choice>
              <mc:Fallback>
                <p:oleObj r:id="rId13" imgW="1473200" imgH="431800" progId="Equation.3">
                  <p:embed/>
                  <p:pic>
                    <p:nvPicPr>
                      <p:cNvPr id="600068" name="Object 4"/>
                      <p:cNvPicPr/>
                      <p:nvPr/>
                    </p:nvPicPr>
                    <p:blipFill>
                      <a:blip r:embed="rId14"/>
                      <a:stretch>
                        <a:fillRect/>
                      </a:stretch>
                    </p:blipFill>
                    <p:spPr>
                      <a:xfrm>
                        <a:off x="6156326" y="1538288"/>
                        <a:ext cx="3370263" cy="1096962"/>
                      </a:xfrm>
                      <a:prstGeom prst="rect">
                        <a:avLst/>
                      </a:prstGeom>
                      <a:noFill/>
                      <a:ln w="38100">
                        <a:noFill/>
                        <a:miter/>
                      </a:ln>
                    </p:spPr>
                  </p:pic>
                </p:oleObj>
              </mc:Fallback>
            </mc:AlternateContent>
          </a:graphicData>
        </a:graphic>
      </p:graphicFrame>
      <p:sp>
        <p:nvSpPr>
          <p:cNvPr id="2" name="标题 5">
            <a:extLst>
              <a:ext uri="{FF2B5EF4-FFF2-40B4-BE49-F238E27FC236}">
                <a16:creationId xmlns:a16="http://schemas.microsoft.com/office/drawing/2014/main" id="{8F6D1E51-FE3A-B7D2-7E4E-A5F194FA5080}"/>
              </a:ext>
            </a:extLst>
          </p:cNvPr>
          <p:cNvSpPr txBox="1">
            <a:spLocks/>
          </p:cNvSpPr>
          <p:nvPr/>
        </p:nvSpPr>
        <p:spPr>
          <a:xfrm>
            <a:off x="646339" y="863379"/>
            <a:ext cx="5588206" cy="7370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 电荷连续分布的电场</a:t>
            </a:r>
          </a:p>
        </p:txBody>
      </p:sp>
      <p:sp>
        <p:nvSpPr>
          <p:cNvPr id="4" name="Text Box 2">
            <a:extLst>
              <a:ext uri="{FF2B5EF4-FFF2-40B4-BE49-F238E27FC236}">
                <a16:creationId xmlns:a16="http://schemas.microsoft.com/office/drawing/2014/main" id="{E9E0AD8C-A6AB-7881-3113-ED731FB0BD15}"/>
              </a:ext>
            </a:extLst>
          </p:cNvPr>
          <p:cNvSpPr txBox="1"/>
          <p:nvPr/>
        </p:nvSpPr>
        <p:spPr>
          <a:xfrm>
            <a:off x="1949451" y="5566206"/>
            <a:ext cx="2819400" cy="579438"/>
          </a:xfrm>
          <a:prstGeom prst="rect">
            <a:avLst/>
          </a:prstGeom>
          <a:noFill/>
          <a:ln w="9525">
            <a:noFill/>
          </a:ln>
        </p:spPr>
        <p:txBody>
          <a:bodyPr>
            <a:spAutoFit/>
          </a:bodyPr>
          <a:lstStyle/>
          <a:p>
            <a:pPr>
              <a:spcBef>
                <a:spcPct val="50000"/>
              </a:spcBef>
            </a:pPr>
            <a:r>
              <a:rPr lang="zh-CN" altLang="en-US" sz="3200" b="1" dirty="0">
                <a:solidFill>
                  <a:srgbClr val="0066FF"/>
                </a:solidFill>
                <a:latin typeface="Times New Roman" panose="02020603050405020304" pitchFamily="18" charset="0"/>
              </a:rPr>
              <a:t>电荷线密度 </a:t>
            </a:r>
            <a:r>
              <a:rPr lang="zh-CN" altLang="en-US" sz="3200" b="1" i="1" dirty="0">
                <a:solidFill>
                  <a:srgbClr val="0066FF"/>
                </a:solidFill>
                <a:latin typeface="Times New Roman" panose="02020603050405020304" pitchFamily="18" charset="0"/>
                <a:sym typeface="Symbol" panose="05050102010706020507" pitchFamily="18" charset="2"/>
              </a:rPr>
              <a:t></a:t>
            </a:r>
          </a:p>
        </p:txBody>
      </p:sp>
      <p:graphicFrame>
        <p:nvGraphicFramePr>
          <p:cNvPr id="5" name="Object 3">
            <a:extLst>
              <a:ext uri="{FF2B5EF4-FFF2-40B4-BE49-F238E27FC236}">
                <a16:creationId xmlns:a16="http://schemas.microsoft.com/office/drawing/2014/main" id="{B15738EF-10A4-4CEC-5D95-CBDA0C8A28D7}"/>
              </a:ext>
            </a:extLst>
          </p:cNvPr>
          <p:cNvGraphicFramePr>
            <a:graphicFrameLocks noChangeAspect="1"/>
          </p:cNvGraphicFramePr>
          <p:nvPr>
            <p:extLst/>
          </p:nvPr>
        </p:nvGraphicFramePr>
        <p:xfrm>
          <a:off x="5318126" y="5581288"/>
          <a:ext cx="1498599" cy="541397"/>
        </p:xfrm>
        <a:graphic>
          <a:graphicData uri="http://schemas.openxmlformats.org/presentationml/2006/ole">
            <mc:AlternateContent xmlns:mc="http://schemas.openxmlformats.org/markup-compatibility/2006">
              <mc:Choice xmlns:v="urn:schemas-microsoft-com:vml" Requires="v">
                <p:oleObj spid="_x0000_s7190" r:id="rId15" imgW="558800" imgH="203200" progId="Equation.3">
                  <p:embed/>
                </p:oleObj>
              </mc:Choice>
              <mc:Fallback>
                <p:oleObj r:id="rId15" imgW="558800" imgH="203200" progId="Equation.3">
                  <p:embed/>
                  <p:pic>
                    <p:nvPicPr>
                      <p:cNvPr id="5" name="Object 3">
                        <a:extLst>
                          <a:ext uri="{FF2B5EF4-FFF2-40B4-BE49-F238E27FC236}">
                            <a16:creationId xmlns:a16="http://schemas.microsoft.com/office/drawing/2014/main" id="{B15738EF-10A4-4CEC-5D95-CBDA0C8A28D7}"/>
                          </a:ext>
                        </a:extLst>
                      </p:cNvPr>
                      <p:cNvPicPr/>
                      <p:nvPr/>
                    </p:nvPicPr>
                    <p:blipFill>
                      <a:blip r:embed="rId16"/>
                      <a:stretch>
                        <a:fillRect/>
                      </a:stretch>
                    </p:blipFill>
                    <p:spPr>
                      <a:xfrm>
                        <a:off x="5318126" y="5581288"/>
                        <a:ext cx="1498599" cy="541397"/>
                      </a:xfrm>
                      <a:prstGeom prst="rect">
                        <a:avLst/>
                      </a:prstGeom>
                      <a:noFill/>
                      <a:ln w="38100">
                        <a:noFill/>
                        <a:miter/>
                      </a:ln>
                    </p:spPr>
                  </p:pic>
                </p:oleObj>
              </mc:Fallback>
            </mc:AlternateContent>
          </a:graphicData>
        </a:graphic>
      </p:graphicFrame>
      <mc:AlternateContent xmlns:mc="http://schemas.openxmlformats.org/markup-compatibility/2006" xmlns:a14="http://schemas.microsoft.com/office/drawing/2010/main">
        <mc:Choice Requires="a14">
          <p:sp>
            <p:nvSpPr>
              <p:cNvPr id="7" name="Object 4">
                <a:extLst>
                  <a:ext uri="{FF2B5EF4-FFF2-40B4-BE49-F238E27FC236}">
                    <a16:creationId xmlns:a16="http://schemas.microsoft.com/office/drawing/2014/main" id="{27FCFE8A-3791-36DA-2B22-50F77D1CD02C}"/>
                  </a:ext>
                </a:extLst>
              </p:cNvPr>
              <p:cNvSpPr txBox="1"/>
              <p:nvPr/>
            </p:nvSpPr>
            <p:spPr>
              <a:xfrm>
                <a:off x="7604126" y="4283069"/>
                <a:ext cx="4173537" cy="1095375"/>
              </a:xfrm>
              <a:prstGeom prst="rect">
                <a:avLst/>
              </a:prstGeom>
              <a:noFill/>
              <a:ln w="12700" cap="flat" cmpd="sng">
                <a:solidFill>
                  <a:schemeClr val="bg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𝑙</m:t>
                          </m:r>
                        </m:sub>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1</m:t>
                              </m:r>
                            </m:num>
                            <m:den>
                              <m:r>
                                <a:rPr lang="zh-CN" altLang="en-US" sz="2800" i="1">
                                  <a:solidFill>
                                    <a:srgbClr val="000000"/>
                                  </a:solidFill>
                                  <a:latin typeface="Cambria Math" panose="02040503050406030204" pitchFamily="18" charset="0"/>
                                </a:rPr>
                                <m:t>4</m:t>
                              </m:r>
                              <m:r>
                                <m:rPr>
                                  <m:nor/>
                                </m:rPr>
                                <a:rPr lang="zh-CN" altLang="en-US" sz="2800" i="0">
                                  <a:solidFill>
                                    <a:srgbClr val="000000"/>
                                  </a:solidFill>
                                  <a:latin typeface="Cambria Math" panose="02040503050406030204" pitchFamily="18" charset="0"/>
                                </a:rPr>
                                <m:t> </m:t>
                              </m:r>
                              <m:r>
                                <m:rPr>
                                  <m:nor/>
                                </m:rPr>
                                <a:rPr lang="zh-CN" altLang="en-US" sz="2800" i="0">
                                  <a:solidFill>
                                    <a:srgbClr val="000000"/>
                                  </a:solidFill>
                                  <a:latin typeface="Cambria Math" panose="02040503050406030204" pitchFamily="18" charset="0"/>
                                </a:rPr>
                                <m:t>π</m:t>
                              </m:r>
                              <m:sSub>
                                <m:sSubPr>
                                  <m:ctrlPr>
                                    <a:rPr lang="zh-CN" altLang="en-US" sz="2800" i="1">
                                      <a:solidFill>
                                        <a:srgbClr val="000000"/>
                                      </a:solidFill>
                                      <a:latin typeface="Cambria Math" panose="02040503050406030204" pitchFamily="18" charset="0"/>
                                    </a:rPr>
                                  </m:ctrlPr>
                                </m:sSubPr>
                                <m:e>
                                  <m:r>
                                    <m:rPr>
                                      <m:sty m:val="p"/>
                                    </m:rPr>
                                    <a:rPr lang="zh-CN" altLang="en-US" sz="2800" i="1">
                                      <a:solidFill>
                                        <a:srgbClr val="000000"/>
                                      </a:solidFill>
                                      <a:latin typeface="Cambria Math" panose="02040503050406030204" pitchFamily="18" charset="0"/>
                                    </a:rPr>
                                    <m:t>ε</m:t>
                                  </m:r>
                                </m:e>
                                <m:sub>
                                  <m:r>
                                    <a:rPr lang="zh-CN" altLang="en-US" sz="2800" i="1">
                                      <a:solidFill>
                                        <a:srgbClr val="000000"/>
                                      </a:solidFill>
                                      <a:latin typeface="Cambria Math" panose="02040503050406030204" pitchFamily="18" charset="0"/>
                                    </a:rPr>
                                    <m:t>0</m:t>
                                  </m:r>
                                </m:sub>
                              </m:sSub>
                            </m:den>
                          </m:f>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λ</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𝑒</m:t>
                                      </m:r>
                                    </m:e>
                                  </m:acc>
                                </m:e>
                                <m:sub>
                                  <m:r>
                                    <a:rPr lang="zh-CN" altLang="en-US" sz="2800" i="1">
                                      <a:solidFill>
                                        <a:srgbClr val="000000"/>
                                      </a:solidFill>
                                      <a:latin typeface="Cambria Math" panose="02040503050406030204" pitchFamily="18" charset="0"/>
                                    </a:rPr>
                                    <m:t>𝑟</m:t>
                                  </m:r>
                                </m:sub>
                              </m:sSub>
                            </m:num>
                            <m:den>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𝑟</m:t>
                                  </m:r>
                                </m:e>
                                <m:sup>
                                  <m:r>
                                    <a:rPr lang="zh-CN" altLang="en-US" sz="2800" i="1">
                                      <a:solidFill>
                                        <a:srgbClr val="000000"/>
                                      </a:solidFill>
                                      <a:latin typeface="Cambria Math" panose="02040503050406030204" pitchFamily="18" charset="0"/>
                                    </a:rPr>
                                    <m:t>2</m:t>
                                  </m:r>
                                </m:sup>
                              </m:sSup>
                            </m:den>
                          </m:f>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𝑙</m:t>
                          </m:r>
                        </m:e>
                      </m:nary>
                    </m:oMath>
                  </m:oMathPara>
                </a14:m>
                <a:endParaRPr lang="zh-CN" altLang="en-US" sz="2800" dirty="0"/>
              </a:p>
            </p:txBody>
          </p:sp>
        </mc:Choice>
        <mc:Fallback xmlns="">
          <p:sp>
            <p:nvSpPr>
              <p:cNvPr id="7" name="Object 4">
                <a:extLst>
                  <a:ext uri="{FF2B5EF4-FFF2-40B4-BE49-F238E27FC236}">
                    <a16:creationId xmlns:a16="http://schemas.microsoft.com/office/drawing/2014/main" id="{27FCFE8A-3791-36DA-2B22-50F77D1CD02C}"/>
                  </a:ext>
                </a:extLst>
              </p:cNvPr>
              <p:cNvSpPr txBox="1">
                <a:spLocks noRot="1" noChangeAspect="1" noMove="1" noResize="1" noEditPoints="1" noAdjustHandles="1" noChangeArrowheads="1" noChangeShapeType="1" noTextEdit="1"/>
              </p:cNvSpPr>
              <p:nvPr/>
            </p:nvSpPr>
            <p:spPr>
              <a:xfrm>
                <a:off x="7604126" y="4283069"/>
                <a:ext cx="4173537" cy="1095375"/>
              </a:xfrm>
              <a:prstGeom prst="rect">
                <a:avLst/>
              </a:prstGeom>
              <a:blipFill>
                <a:blip r:embed="rId17"/>
                <a:stretch>
                  <a:fillRect/>
                </a:stretch>
              </a:blipFill>
              <a:ln w="12700" cap="flat" cmpd="sng">
                <a:solidFill>
                  <a:schemeClr val="bg1"/>
                </a:solidFill>
                <a:prstDash val="solid"/>
                <a:miter/>
                <a:headEnd type="none" w="med" len="med"/>
                <a:tailEnd type="none" w="med" len="med"/>
              </a:ln>
            </p:spPr>
            <p:txBody>
              <a:bodyPr/>
              <a:lstStyle/>
              <a:p>
                <a:r>
                  <a:rPr lang="zh-CN" altLang="en-US">
                    <a:noFill/>
                  </a:rPr>
                  <a:t> </a:t>
                </a:r>
              </a:p>
            </p:txBody>
          </p:sp>
        </mc:Fallback>
      </mc:AlternateContent>
    </p:spTree>
    <p:extLst>
      <p:ext uri="{BB962C8B-B14F-4D97-AF65-F5344CB8AC3E}">
        <p14:creationId xmlns:p14="http://schemas.microsoft.com/office/powerpoint/2010/main" val="139797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4" grpId="0"/>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36">
            <a:extLst>
              <a:ext uri="{FF2B5EF4-FFF2-40B4-BE49-F238E27FC236}">
                <a16:creationId xmlns:a16="http://schemas.microsoft.com/office/drawing/2014/main" id="{0D3A8638-2775-4649-829F-3A74AAE0A761}"/>
              </a:ext>
            </a:extLst>
          </p:cNvPr>
          <p:cNvSpPr>
            <a:spLocks noChangeArrowheads="1"/>
          </p:cNvSpPr>
          <p:nvPr/>
        </p:nvSpPr>
        <p:spPr bwMode="auto">
          <a:xfrm>
            <a:off x="313601" y="450689"/>
            <a:ext cx="10696435" cy="677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例</a:t>
            </a:r>
            <a:r>
              <a:rPr lang="en-US" altLang="zh-CN" sz="2800" b="0" dirty="0">
                <a:latin typeface="华文楷体" panose="02010600040101010101" pitchFamily="2" charset="-122"/>
                <a:ea typeface="华文楷体" panose="02010600040101010101" pitchFamily="2" charset="-122"/>
              </a:rPr>
              <a:t>12.3]</a:t>
            </a:r>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求电偶极子轴线的延长线上和中垂线上任一点的电场。</a:t>
            </a:r>
            <a:endParaRPr lang="zh-CN" altLang="en-US" sz="2400" b="0" dirty="0">
              <a:latin typeface="华文楷体" panose="02010600040101010101" pitchFamily="2" charset="-122"/>
              <a:ea typeface="华文楷体" panose="02010600040101010101" pitchFamily="2" charset="-122"/>
              <a:cs typeface="Times New Roman" panose="02020603050405020304" pitchFamily="18" charset="0"/>
            </a:endParaRPr>
          </a:p>
        </p:txBody>
      </p:sp>
      <p:grpSp>
        <p:nvGrpSpPr>
          <p:cNvPr id="47" name="Group 131">
            <a:extLst>
              <a:ext uri="{FF2B5EF4-FFF2-40B4-BE49-F238E27FC236}">
                <a16:creationId xmlns:a16="http://schemas.microsoft.com/office/drawing/2014/main" id="{D43A13F5-5594-4CC0-877F-57E80D737F04}"/>
              </a:ext>
            </a:extLst>
          </p:cNvPr>
          <p:cNvGrpSpPr>
            <a:grpSpLocks/>
          </p:cNvGrpSpPr>
          <p:nvPr/>
        </p:nvGrpSpPr>
        <p:grpSpPr bwMode="auto">
          <a:xfrm>
            <a:off x="2397324" y="2015386"/>
            <a:ext cx="5389270" cy="4003560"/>
            <a:chOff x="2839" y="1322"/>
            <a:chExt cx="2672" cy="2151"/>
          </a:xfrm>
        </p:grpSpPr>
        <p:sp>
          <p:nvSpPr>
            <p:cNvPr id="49" name="Text Box 3">
              <a:extLst>
                <a:ext uri="{FF2B5EF4-FFF2-40B4-BE49-F238E27FC236}">
                  <a16:creationId xmlns:a16="http://schemas.microsoft.com/office/drawing/2014/main" id="{C3624FC4-6ECB-48BB-8C5E-9A4C4ACE8BB9}"/>
                </a:ext>
              </a:extLst>
            </p:cNvPr>
            <p:cNvSpPr txBox="1">
              <a:spLocks noChangeArrowheads="1"/>
            </p:cNvSpPr>
            <p:nvPr/>
          </p:nvSpPr>
          <p:spPr bwMode="auto">
            <a:xfrm>
              <a:off x="3470" y="1322"/>
              <a:ext cx="181"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i="1">
                  <a:solidFill>
                    <a:srgbClr val="0000CC"/>
                  </a:solidFill>
                  <a:latin typeface="华文楷体" panose="02010600040101010101" pitchFamily="2" charset="-122"/>
                  <a:ea typeface="华文楷体" panose="02010600040101010101" pitchFamily="2" charset="-122"/>
                </a:rPr>
                <a:t>y</a:t>
              </a:r>
            </a:p>
          </p:txBody>
        </p:sp>
        <p:sp>
          <p:nvSpPr>
            <p:cNvPr id="94" name="Text Box 6">
              <a:extLst>
                <a:ext uri="{FF2B5EF4-FFF2-40B4-BE49-F238E27FC236}">
                  <a16:creationId xmlns:a16="http://schemas.microsoft.com/office/drawing/2014/main" id="{A5DE08FD-16E6-408C-BBD9-32814D5E7EA0}"/>
                </a:ext>
              </a:extLst>
            </p:cNvPr>
            <p:cNvSpPr txBox="1">
              <a:spLocks noChangeArrowheads="1"/>
            </p:cNvSpPr>
            <p:nvPr/>
          </p:nvSpPr>
          <p:spPr bwMode="auto">
            <a:xfrm>
              <a:off x="5375" y="2795"/>
              <a:ext cx="13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i="1">
                  <a:solidFill>
                    <a:srgbClr val="0000CC"/>
                  </a:solidFill>
                  <a:latin typeface="华文楷体" panose="02010600040101010101" pitchFamily="2" charset="-122"/>
                  <a:ea typeface="华文楷体" panose="02010600040101010101" pitchFamily="2" charset="-122"/>
                </a:rPr>
                <a:t>x</a:t>
              </a:r>
            </a:p>
          </p:txBody>
        </p:sp>
        <p:sp>
          <p:nvSpPr>
            <p:cNvPr id="51" name="Oval 14">
              <a:extLst>
                <a:ext uri="{FF2B5EF4-FFF2-40B4-BE49-F238E27FC236}">
                  <a16:creationId xmlns:a16="http://schemas.microsoft.com/office/drawing/2014/main" id="{3B3E4316-81CF-4DC9-B280-8A49A92443FB}"/>
                </a:ext>
              </a:extLst>
            </p:cNvPr>
            <p:cNvSpPr>
              <a:spLocks noChangeArrowheads="1"/>
            </p:cNvSpPr>
            <p:nvPr/>
          </p:nvSpPr>
          <p:spPr bwMode="auto">
            <a:xfrm>
              <a:off x="4127" y="2798"/>
              <a:ext cx="169" cy="188"/>
            </a:xfrm>
            <a:prstGeom prst="ellipse">
              <a:avLst/>
            </a:prstGeom>
            <a:gradFill rotWithShape="0">
              <a:gsLst>
                <a:gs pos="0">
                  <a:srgbClr val="FF0066"/>
                </a:gs>
                <a:gs pos="100000">
                  <a:srgbClr val="76002F"/>
                </a:gs>
              </a:gsLst>
              <a:path path="shape">
                <a:fillToRect l="50000" t="50000" r="50000" b="50000"/>
              </a:path>
            </a:gradFill>
            <a:ln>
              <a:noFill/>
            </a:ln>
            <a:effectLst/>
            <a:extLst>
              <a:ext uri="{91240B29-F687-4F45-9708-019B960494DF}">
                <a14:hiddenLine xmlns:a14="http://schemas.microsoft.com/office/drawing/2010/main" w="1270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600" dirty="0">
                <a:solidFill>
                  <a:srgbClr val="0000CC"/>
                </a:solidFill>
                <a:latin typeface="华文楷体" panose="02010600040101010101" pitchFamily="2" charset="-122"/>
                <a:ea typeface="华文楷体" panose="02010600040101010101" pitchFamily="2" charset="-122"/>
              </a:endParaRPr>
            </a:p>
          </p:txBody>
        </p:sp>
        <p:sp>
          <p:nvSpPr>
            <p:cNvPr id="52" name="Rectangle 15">
              <a:extLst>
                <a:ext uri="{FF2B5EF4-FFF2-40B4-BE49-F238E27FC236}">
                  <a16:creationId xmlns:a16="http://schemas.microsoft.com/office/drawing/2014/main" id="{CCD6ECCB-0E3F-4300-9461-2E31B314BFCC}"/>
                </a:ext>
              </a:extLst>
            </p:cNvPr>
            <p:cNvSpPr>
              <a:spLocks noChangeArrowheads="1"/>
            </p:cNvSpPr>
            <p:nvPr/>
          </p:nvSpPr>
          <p:spPr bwMode="auto">
            <a:xfrm>
              <a:off x="4156" y="2765"/>
              <a:ext cx="17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en-US" altLang="zh-CN" sz="2800" dirty="0">
                  <a:solidFill>
                    <a:srgbClr val="0000CC"/>
                  </a:solidFill>
                  <a:latin typeface="华文楷体" panose="02010600040101010101" pitchFamily="2" charset="-122"/>
                  <a:ea typeface="华文楷体" panose="02010600040101010101" pitchFamily="2" charset="-122"/>
                </a:rPr>
                <a:t>+</a:t>
              </a:r>
            </a:p>
          </p:txBody>
        </p:sp>
        <p:sp>
          <p:nvSpPr>
            <p:cNvPr id="53" name="Line 16">
              <a:extLst>
                <a:ext uri="{FF2B5EF4-FFF2-40B4-BE49-F238E27FC236}">
                  <a16:creationId xmlns:a16="http://schemas.microsoft.com/office/drawing/2014/main" id="{E64FDB51-6C9F-45C2-80C0-9F93A88EFFF1}"/>
                </a:ext>
              </a:extLst>
            </p:cNvPr>
            <p:cNvSpPr>
              <a:spLocks noChangeShapeType="1"/>
            </p:cNvSpPr>
            <p:nvPr/>
          </p:nvSpPr>
          <p:spPr bwMode="auto">
            <a:xfrm>
              <a:off x="4181" y="3037"/>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55" name="Line 17">
              <a:extLst>
                <a:ext uri="{FF2B5EF4-FFF2-40B4-BE49-F238E27FC236}">
                  <a16:creationId xmlns:a16="http://schemas.microsoft.com/office/drawing/2014/main" id="{C02012EC-5FC3-450E-BAE3-177D45E33570}"/>
                </a:ext>
              </a:extLst>
            </p:cNvPr>
            <p:cNvSpPr>
              <a:spLocks noChangeShapeType="1"/>
            </p:cNvSpPr>
            <p:nvPr/>
          </p:nvSpPr>
          <p:spPr bwMode="auto">
            <a:xfrm>
              <a:off x="3718" y="2990"/>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56" name="Line 18">
              <a:extLst>
                <a:ext uri="{FF2B5EF4-FFF2-40B4-BE49-F238E27FC236}">
                  <a16:creationId xmlns:a16="http://schemas.microsoft.com/office/drawing/2014/main" id="{F1855EDE-2B52-433F-9996-61F1FEEB24DF}"/>
                </a:ext>
              </a:extLst>
            </p:cNvPr>
            <p:cNvSpPr>
              <a:spLocks noChangeShapeType="1"/>
            </p:cNvSpPr>
            <p:nvPr/>
          </p:nvSpPr>
          <p:spPr bwMode="auto">
            <a:xfrm>
              <a:off x="3255" y="3037"/>
              <a:ext cx="0"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57" name="Line 19">
              <a:extLst>
                <a:ext uri="{FF2B5EF4-FFF2-40B4-BE49-F238E27FC236}">
                  <a16:creationId xmlns:a16="http://schemas.microsoft.com/office/drawing/2014/main" id="{2AFFA7CF-0CEB-4BEA-922E-0B8D88F25E36}"/>
                </a:ext>
              </a:extLst>
            </p:cNvPr>
            <p:cNvSpPr>
              <a:spLocks noChangeShapeType="1"/>
            </p:cNvSpPr>
            <p:nvPr/>
          </p:nvSpPr>
          <p:spPr bwMode="auto">
            <a:xfrm>
              <a:off x="3288" y="3085"/>
              <a:ext cx="430" cy="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58" name="Line 20">
              <a:extLst>
                <a:ext uri="{FF2B5EF4-FFF2-40B4-BE49-F238E27FC236}">
                  <a16:creationId xmlns:a16="http://schemas.microsoft.com/office/drawing/2014/main" id="{B90FFFF1-3D81-410F-968D-7FAD516F1609}"/>
                </a:ext>
              </a:extLst>
            </p:cNvPr>
            <p:cNvSpPr>
              <a:spLocks noChangeShapeType="1"/>
            </p:cNvSpPr>
            <p:nvPr/>
          </p:nvSpPr>
          <p:spPr bwMode="auto">
            <a:xfrm>
              <a:off x="3718" y="3085"/>
              <a:ext cx="463" cy="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grpSp>
          <p:nvGrpSpPr>
            <p:cNvPr id="59" name="Group 21">
              <a:extLst>
                <a:ext uri="{FF2B5EF4-FFF2-40B4-BE49-F238E27FC236}">
                  <a16:creationId xmlns:a16="http://schemas.microsoft.com/office/drawing/2014/main" id="{224A27D3-C891-4221-9CFD-36A8887568C8}"/>
                </a:ext>
              </a:extLst>
            </p:cNvPr>
            <p:cNvGrpSpPr>
              <a:grpSpLocks/>
            </p:cNvGrpSpPr>
            <p:nvPr/>
          </p:nvGrpSpPr>
          <p:grpSpPr bwMode="auto">
            <a:xfrm>
              <a:off x="3163" y="2797"/>
              <a:ext cx="174" cy="192"/>
              <a:chOff x="3752" y="3696"/>
              <a:chExt cx="251" cy="192"/>
            </a:xfrm>
          </p:grpSpPr>
          <p:sp>
            <p:nvSpPr>
              <p:cNvPr id="92" name="Oval 22">
                <a:extLst>
                  <a:ext uri="{FF2B5EF4-FFF2-40B4-BE49-F238E27FC236}">
                    <a16:creationId xmlns:a16="http://schemas.microsoft.com/office/drawing/2014/main" id="{B7092E20-252B-4D5D-A8ED-CCE2CD09B248}"/>
                  </a:ext>
                </a:extLst>
              </p:cNvPr>
              <p:cNvSpPr>
                <a:spLocks noChangeArrowheads="1"/>
              </p:cNvSpPr>
              <p:nvPr/>
            </p:nvSpPr>
            <p:spPr bwMode="auto">
              <a:xfrm>
                <a:off x="3752" y="3696"/>
                <a:ext cx="251" cy="192"/>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1270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en-US" sz="2400">
                  <a:solidFill>
                    <a:srgbClr val="0000CC"/>
                  </a:solidFill>
                  <a:latin typeface="华文楷体" panose="02010600040101010101" pitchFamily="2" charset="-122"/>
                  <a:ea typeface="华文楷体" panose="02010600040101010101" pitchFamily="2" charset="-122"/>
                </a:endParaRPr>
              </a:p>
            </p:txBody>
          </p:sp>
          <p:sp>
            <p:nvSpPr>
              <p:cNvPr id="93" name="Line 23">
                <a:extLst>
                  <a:ext uri="{FF2B5EF4-FFF2-40B4-BE49-F238E27FC236}">
                    <a16:creationId xmlns:a16="http://schemas.microsoft.com/office/drawing/2014/main" id="{83683123-16CE-4DFF-84EE-589C67D43D75}"/>
                  </a:ext>
                </a:extLst>
              </p:cNvPr>
              <p:cNvSpPr>
                <a:spLocks noChangeShapeType="1"/>
              </p:cNvSpPr>
              <p:nvPr/>
            </p:nvSpPr>
            <p:spPr bwMode="auto">
              <a:xfrm>
                <a:off x="3840" y="3792"/>
                <a:ext cx="96"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50800">
                    <a:solidFill>
                      <a:srgbClr val="FFFF00"/>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grpSp>
        <p:sp>
          <p:nvSpPr>
            <p:cNvPr id="60" name="Line 24">
              <a:extLst>
                <a:ext uri="{FF2B5EF4-FFF2-40B4-BE49-F238E27FC236}">
                  <a16:creationId xmlns:a16="http://schemas.microsoft.com/office/drawing/2014/main" id="{82141A96-E644-4B60-9A7C-3D8EFA77BD42}"/>
                </a:ext>
              </a:extLst>
            </p:cNvPr>
            <p:cNvSpPr>
              <a:spLocks noChangeShapeType="1"/>
            </p:cNvSpPr>
            <p:nvPr/>
          </p:nvSpPr>
          <p:spPr bwMode="auto">
            <a:xfrm>
              <a:off x="3222" y="2893"/>
              <a:ext cx="66" cy="0"/>
            </a:xfrm>
            <a:prstGeom prst="line">
              <a:avLst/>
            </a:prstGeom>
            <a:noFill/>
            <a:ln w="34925">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1" name="Object 25">
                  <a:extLst>
                    <a:ext uri="{FF2B5EF4-FFF2-40B4-BE49-F238E27FC236}">
                      <a16:creationId xmlns:a16="http://schemas.microsoft.com/office/drawing/2014/main" id="{1C1887CF-39A7-4BDF-B114-374E8CC42551}"/>
                    </a:ext>
                  </a:extLst>
                </p:cNvPr>
                <p:cNvSpPr txBox="1"/>
                <p:nvPr/>
              </p:nvSpPr>
              <p:spPr bwMode="auto">
                <a:xfrm>
                  <a:off x="4302" y="2916"/>
                  <a:ext cx="365" cy="2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9958" name="Object 25"/>
                <p:cNvSpPr txBox="1">
                  <a:spLocks noRot="1" noChangeAspect="1" noMove="1" noResize="1" noEditPoints="1" noAdjustHandles="1" noChangeArrowheads="1" noChangeShapeType="1" noTextEdit="1"/>
                </p:cNvSpPr>
                <p:nvPr/>
              </p:nvSpPr>
              <p:spPr bwMode="auto">
                <a:xfrm>
                  <a:off x="4302" y="2916"/>
                  <a:ext cx="365" cy="244"/>
                </a:xfrm>
                <a:prstGeom prst="rect">
                  <a:avLst/>
                </a:prstGeom>
                <a:blipFill>
                  <a:blip r:embed="rId6"/>
                  <a:stretch>
                    <a:fillRect l="-826" b="-120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Object 26">
                  <a:extLst>
                    <a:ext uri="{FF2B5EF4-FFF2-40B4-BE49-F238E27FC236}">
                      <a16:creationId xmlns:a16="http://schemas.microsoft.com/office/drawing/2014/main" id="{5B0DA5D9-31AA-401C-A5B3-7D4C018CD364}"/>
                    </a:ext>
                  </a:extLst>
                </p:cNvPr>
                <p:cNvSpPr txBox="1"/>
                <p:nvPr/>
              </p:nvSpPr>
              <p:spPr bwMode="auto">
                <a:xfrm>
                  <a:off x="2839" y="2885"/>
                  <a:ext cx="324" cy="2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9959" name="Object 26"/>
                <p:cNvSpPr txBox="1">
                  <a:spLocks noRot="1" noChangeAspect="1" noMove="1" noResize="1" noEditPoints="1" noAdjustHandles="1" noChangeArrowheads="1" noChangeShapeType="1" noTextEdit="1"/>
                </p:cNvSpPr>
                <p:nvPr/>
              </p:nvSpPr>
              <p:spPr bwMode="auto">
                <a:xfrm>
                  <a:off x="2839" y="2885"/>
                  <a:ext cx="324" cy="250"/>
                </a:xfrm>
                <a:prstGeom prst="rect">
                  <a:avLst/>
                </a:prstGeom>
                <a:blipFill>
                  <a:blip r:embed="rId7"/>
                  <a:stretch>
                    <a:fillRect b="-10526"/>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Object 27">
                  <a:extLst>
                    <a:ext uri="{FF2B5EF4-FFF2-40B4-BE49-F238E27FC236}">
                      <a16:creationId xmlns:a16="http://schemas.microsoft.com/office/drawing/2014/main" id="{E072BF1C-2892-43CA-8887-11ACC9004B1A}"/>
                    </a:ext>
                  </a:extLst>
                </p:cNvPr>
                <p:cNvSpPr txBox="1"/>
                <p:nvPr/>
              </p:nvSpPr>
              <p:spPr bwMode="auto">
                <a:xfrm>
                  <a:off x="3410" y="3089"/>
                  <a:ext cx="151" cy="38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𝒍</m:t>
                            </m:r>
                          </m:num>
                          <m:den>
                            <m:r>
                              <a:rPr lang="zh-CN" altLang="en-US" sz="2000" b="1" i="1">
                                <a:solidFill>
                                  <a:srgbClr val="000000"/>
                                </a:solidFill>
                                <a:latin typeface="Cambria Math" panose="02040503050406030204" pitchFamily="18" charset="0"/>
                              </a:rPr>
                              <m:t>𝟐</m:t>
                            </m:r>
                          </m:den>
                        </m:f>
                      </m:oMath>
                    </m:oMathPara>
                  </a14:m>
                  <a:endParaRPr lang="zh-CN" altLang="en-US" sz="2000" b="1">
                    <a:latin typeface="华文楷体" panose="02010600040101010101" pitchFamily="2" charset="-122"/>
                    <a:ea typeface="华文楷体" panose="02010600040101010101" pitchFamily="2" charset="-122"/>
                  </a:endParaRPr>
                </a:p>
              </p:txBody>
            </p:sp>
          </mc:Choice>
          <mc:Fallback xmlns="">
            <p:sp>
              <p:nvSpPr>
                <p:cNvPr id="39960" name="Object 27"/>
                <p:cNvSpPr txBox="1">
                  <a:spLocks noRot="1" noChangeAspect="1" noMove="1" noResize="1" noEditPoints="1" noAdjustHandles="1" noChangeArrowheads="1" noChangeShapeType="1" noTextEdit="1"/>
                </p:cNvSpPr>
                <p:nvPr/>
              </p:nvSpPr>
              <p:spPr bwMode="auto">
                <a:xfrm>
                  <a:off x="3410" y="3089"/>
                  <a:ext cx="151" cy="384"/>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Object 28">
                  <a:extLst>
                    <a:ext uri="{FF2B5EF4-FFF2-40B4-BE49-F238E27FC236}">
                      <a16:creationId xmlns:a16="http://schemas.microsoft.com/office/drawing/2014/main" id="{2E21980D-6570-4053-8024-460B35293973}"/>
                    </a:ext>
                  </a:extLst>
                </p:cNvPr>
                <p:cNvSpPr txBox="1"/>
                <p:nvPr/>
              </p:nvSpPr>
              <p:spPr bwMode="auto">
                <a:xfrm>
                  <a:off x="3909" y="3120"/>
                  <a:ext cx="156" cy="34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𝒍</m:t>
                            </m:r>
                          </m:num>
                          <m:den>
                            <m:r>
                              <a:rPr lang="zh-CN" altLang="en-US" sz="2000" b="1" i="1">
                                <a:solidFill>
                                  <a:srgbClr val="000000"/>
                                </a:solidFill>
                                <a:latin typeface="Cambria Math" panose="02040503050406030204" pitchFamily="18" charset="0"/>
                              </a:rPr>
                              <m:t>𝟐</m:t>
                            </m:r>
                          </m:den>
                        </m:f>
                      </m:oMath>
                    </m:oMathPara>
                  </a14:m>
                  <a:endParaRPr lang="zh-CN" altLang="en-US" sz="2000" b="1">
                    <a:latin typeface="华文楷体" panose="02010600040101010101" pitchFamily="2" charset="-122"/>
                    <a:ea typeface="华文楷体" panose="02010600040101010101" pitchFamily="2" charset="-122"/>
                  </a:endParaRPr>
                </a:p>
              </p:txBody>
            </p:sp>
          </mc:Choice>
          <mc:Fallback xmlns="">
            <p:sp>
              <p:nvSpPr>
                <p:cNvPr id="39961" name="Object 28"/>
                <p:cNvSpPr txBox="1">
                  <a:spLocks noRot="1" noChangeAspect="1" noMove="1" noResize="1" noEditPoints="1" noAdjustHandles="1" noChangeArrowheads="1" noChangeShapeType="1" noTextEdit="1"/>
                </p:cNvSpPr>
                <p:nvPr/>
              </p:nvSpPr>
              <p:spPr bwMode="auto">
                <a:xfrm>
                  <a:off x="3909" y="3120"/>
                  <a:ext cx="156" cy="345"/>
                </a:xfrm>
                <a:prstGeom prst="rect">
                  <a:avLst/>
                </a:prstGeom>
                <a:blipFill>
                  <a:blip r:embed="rId9"/>
                  <a:stretch>
                    <a:fillRect/>
                  </a:stretch>
                </a:blipFill>
                <a:ln>
                  <a:noFill/>
                </a:ln>
                <a:effectLst/>
              </p:spPr>
              <p:txBody>
                <a:bodyPr/>
                <a:lstStyle/>
                <a:p>
                  <a:r>
                    <a:rPr lang="zh-CN" altLang="en-US">
                      <a:noFill/>
                    </a:rPr>
                    <a:t> </a:t>
                  </a:r>
                </a:p>
              </p:txBody>
            </p:sp>
          </mc:Fallback>
        </mc:AlternateContent>
        <p:sp>
          <p:nvSpPr>
            <p:cNvPr id="85" name="Line 30">
              <a:extLst>
                <a:ext uri="{FF2B5EF4-FFF2-40B4-BE49-F238E27FC236}">
                  <a16:creationId xmlns:a16="http://schemas.microsoft.com/office/drawing/2014/main" id="{C3FC5914-1EB4-4654-A75B-CD95B2785779}"/>
                </a:ext>
              </a:extLst>
            </p:cNvPr>
            <p:cNvSpPr>
              <a:spLocks noChangeShapeType="1"/>
            </p:cNvSpPr>
            <p:nvPr/>
          </p:nvSpPr>
          <p:spPr bwMode="auto">
            <a:xfrm flipV="1">
              <a:off x="3696" y="1434"/>
              <a:ext cx="0" cy="145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89" name="Line 32">
              <a:extLst>
                <a:ext uri="{FF2B5EF4-FFF2-40B4-BE49-F238E27FC236}">
                  <a16:creationId xmlns:a16="http://schemas.microsoft.com/office/drawing/2014/main" id="{B163A64B-1AFE-4F43-929E-B175B0ABB509}"/>
                </a:ext>
              </a:extLst>
            </p:cNvPr>
            <p:cNvSpPr>
              <a:spLocks noChangeShapeType="1"/>
            </p:cNvSpPr>
            <p:nvPr/>
          </p:nvSpPr>
          <p:spPr bwMode="auto">
            <a:xfrm flipV="1">
              <a:off x="3334" y="2886"/>
              <a:ext cx="217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87" name="Line 35">
              <a:extLst>
                <a:ext uri="{FF2B5EF4-FFF2-40B4-BE49-F238E27FC236}">
                  <a16:creationId xmlns:a16="http://schemas.microsoft.com/office/drawing/2014/main" id="{17912D15-011D-472C-94D8-431DBF52D549}"/>
                </a:ext>
              </a:extLst>
            </p:cNvPr>
            <p:cNvSpPr>
              <a:spLocks noChangeShapeType="1"/>
            </p:cNvSpPr>
            <p:nvPr/>
          </p:nvSpPr>
          <p:spPr bwMode="auto">
            <a:xfrm>
              <a:off x="3334" y="2886"/>
              <a:ext cx="816" cy="1"/>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a:latin typeface="华文楷体" panose="02010600040101010101" pitchFamily="2" charset="-122"/>
                <a:ea typeface="华文楷体" panose="02010600040101010101" pitchFamily="2" charset="-122"/>
              </a:endParaRPr>
            </a:p>
          </p:txBody>
        </p:sp>
        <p:sp>
          <p:nvSpPr>
            <p:cNvPr id="88" name="Text Box 3">
              <a:extLst>
                <a:ext uri="{FF2B5EF4-FFF2-40B4-BE49-F238E27FC236}">
                  <a16:creationId xmlns:a16="http://schemas.microsoft.com/office/drawing/2014/main" id="{9211A55B-E4BD-4234-A486-3D98E279C5F5}"/>
                </a:ext>
              </a:extLst>
            </p:cNvPr>
            <p:cNvSpPr txBox="1">
              <a:spLocks noChangeArrowheads="1"/>
            </p:cNvSpPr>
            <p:nvPr/>
          </p:nvSpPr>
          <p:spPr bwMode="auto">
            <a:xfrm>
              <a:off x="3470" y="2568"/>
              <a:ext cx="181"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i="1">
                  <a:solidFill>
                    <a:srgbClr val="0000CC"/>
                  </a:solidFill>
                  <a:latin typeface="华文楷体" panose="02010600040101010101" pitchFamily="2" charset="-122"/>
                  <a:ea typeface="华文楷体" panose="02010600040101010101" pitchFamily="2" charset="-122"/>
                </a:rPr>
                <a:t>o</a:t>
              </a:r>
            </a:p>
          </p:txBody>
        </p:sp>
      </p:grpSp>
      <p:pic>
        <p:nvPicPr>
          <p:cNvPr id="100" name="图片 99">
            <a:extLst>
              <a:ext uri="{FF2B5EF4-FFF2-40B4-BE49-F238E27FC236}">
                <a16:creationId xmlns:a16="http://schemas.microsoft.com/office/drawing/2014/main" id="{513265A3-CC8A-4F44-971E-124393863501}"/>
              </a:ext>
            </a:extLst>
          </p:cNvPr>
          <p:cNvPicPr>
            <a:picLocks noChangeAspect="1"/>
          </p:cNvPicPr>
          <p:nvPr/>
        </p:nvPicPr>
        <p:blipFill>
          <a:blip r:embed="rId10"/>
          <a:stretch>
            <a:fillRect/>
          </a:stretch>
        </p:blipFill>
        <p:spPr>
          <a:xfrm>
            <a:off x="4849929" y="2016928"/>
            <a:ext cx="2714226" cy="2393577"/>
          </a:xfrm>
          <a:prstGeom prst="rect">
            <a:avLst/>
          </a:prstGeom>
          <a:ln>
            <a:noFill/>
          </a:ln>
          <a:effectLst>
            <a:softEdge rad="112500"/>
          </a:effectLst>
        </p:spPr>
      </p:pic>
    </p:spTree>
    <p:extLst>
      <p:ext uri="{BB962C8B-B14F-4D97-AF65-F5344CB8AC3E}">
        <p14:creationId xmlns:p14="http://schemas.microsoft.com/office/powerpoint/2010/main" val="33252958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1" name="Text Box 38">
                <a:extLst>
                  <a:ext uri="{FF2B5EF4-FFF2-40B4-BE49-F238E27FC236}">
                    <a16:creationId xmlns:a16="http://schemas.microsoft.com/office/drawing/2014/main" id="{C594CC40-566F-4028-89EE-C18C7DECB293}"/>
                  </a:ext>
                </a:extLst>
              </p:cNvPr>
              <p:cNvSpPr txBox="1">
                <a:spLocks noChangeArrowheads="1"/>
              </p:cNvSpPr>
              <p:nvPr/>
            </p:nvSpPr>
            <p:spPr bwMode="auto">
              <a:xfrm>
                <a:off x="783208" y="1563628"/>
                <a:ext cx="5443990" cy="523220"/>
              </a:xfrm>
              <a:prstGeom prst="rect">
                <a:avLst/>
              </a:prstGeom>
              <a:noFill/>
              <a:ln>
                <a:noFill/>
              </a:ln>
              <a:effectLst/>
              <a:extLst>
                <a:ext uri="{909E8E84-426E-40DD-AFC4-6F175D3DCCD1}">
                  <a14:hiddenFill>
                    <a:solidFill>
                      <a:srgbClr val="FFFFFF"/>
                    </a:solidFill>
                  </a14:hiddenFill>
                </a:ext>
                <a:ext uri="{91240B29-F687-4F45-9708-019B960494DF}">
                  <a14:hiddenLine w="31750">
                    <a:solidFill>
                      <a:srgbClr val="FF000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lvl="0">
                  <a:spcBef>
                    <a:spcPct val="50000"/>
                  </a:spcBef>
                </a:pPr>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轴线的延长线上任一点</a:t>
                </a:r>
                <a14:m>
                  <m:oMath xmlns:m="http://schemas.openxmlformats.org/officeDocument/2006/math">
                    <m:r>
                      <a:rPr lang="en-US" altLang="zh-CN" sz="2800" b="0" i="1" dirty="0">
                        <a:latin typeface="Cambria Math" panose="02040503050406030204" pitchFamily="18" charset="0"/>
                        <a:ea typeface="华文新魏" panose="02010800040101010101" pitchFamily="2" charset="-122"/>
                        <a:cs typeface="Times New Roman" panose="02020603050405020304" pitchFamily="18" charset="0"/>
                      </a:rPr>
                      <m:t>𝐴</m:t>
                    </m:r>
                  </m:oMath>
                </a14:m>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的电场</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2800" b="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101" name="Text Box 38">
                <a:extLst>
                  <a:ext uri="{FF2B5EF4-FFF2-40B4-BE49-F238E27FC236}">
                    <a16:creationId xmlns:a16="http://schemas.microsoft.com/office/drawing/2014/main" id="{C594CC40-566F-4028-89EE-C18C7DECB293}"/>
                  </a:ext>
                </a:extLst>
              </p:cNvPr>
              <p:cNvSpPr txBox="1">
                <a:spLocks noRot="1" noChangeAspect="1" noMove="1" noResize="1" noEditPoints="1" noAdjustHandles="1" noChangeArrowheads="1" noChangeShapeType="1" noTextEdit="1"/>
              </p:cNvSpPr>
              <p:nvPr/>
            </p:nvSpPr>
            <p:spPr bwMode="auto">
              <a:xfrm>
                <a:off x="783208" y="1563628"/>
                <a:ext cx="5443990" cy="523220"/>
              </a:xfrm>
              <a:prstGeom prst="rect">
                <a:avLst/>
              </a:prstGeom>
              <a:blipFill>
                <a:blip r:embed="rId2"/>
                <a:stretch>
                  <a:fillRect l="-2237" t="-12941" b="-3176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矩形 101">
                <a:extLst>
                  <a:ext uri="{FF2B5EF4-FFF2-40B4-BE49-F238E27FC236}">
                    <a16:creationId xmlns:a16="http://schemas.microsoft.com/office/drawing/2014/main" id="{21BB0464-E4FC-48E4-A9E9-3E2BC04C2DB6}"/>
                  </a:ext>
                </a:extLst>
              </p:cNvPr>
              <p:cNvSpPr/>
              <p:nvPr/>
            </p:nvSpPr>
            <p:spPr>
              <a:xfrm>
                <a:off x="6911997" y="1353314"/>
                <a:ext cx="4583957" cy="14670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acc>
                            <m:accPr>
                              <m:chr m:val="⃗"/>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𝐸</m:t>
                              </m:r>
                            </m:e>
                          </m:acc>
                        </m:e>
                        <m: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𝑞</m:t>
                          </m:r>
                        </m:num>
                        <m:den>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𝑥</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𝑙</m:t>
                                  </m:r>
                                </m:num>
                                <m:den>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2</m:t>
                                  </m:r>
                                </m:den>
                              </m:f>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e>
                            <m:sup>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2</m:t>
                              </m:r>
                            </m:sup>
                          </m:sSup>
                        </m:den>
                      </m:f>
                      <m:acc>
                        <m:accPr>
                          <m:chr m:val="⃗"/>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𝑖</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 </m:t>
                          </m:r>
                        </m:e>
                      </m:acc>
                    </m:oMath>
                  </m:oMathPara>
                </a14:m>
                <a:endParaRPr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endParaRPr lang="zh-CN" altLang="en-US"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02" name="矩形 101">
                <a:extLst>
                  <a:ext uri="{FF2B5EF4-FFF2-40B4-BE49-F238E27FC236}">
                    <a16:creationId xmlns:a16="http://schemas.microsoft.com/office/drawing/2014/main" id="{21BB0464-E4FC-48E4-A9E9-3E2BC04C2DB6}"/>
                  </a:ext>
                </a:extLst>
              </p:cNvPr>
              <p:cNvSpPr>
                <a:spLocks noRot="1" noChangeAspect="1" noMove="1" noResize="1" noEditPoints="1" noAdjustHandles="1" noChangeArrowheads="1" noChangeShapeType="1" noTextEdit="1"/>
              </p:cNvSpPr>
              <p:nvPr/>
            </p:nvSpPr>
            <p:spPr>
              <a:xfrm>
                <a:off x="6911997" y="1353314"/>
                <a:ext cx="4583957" cy="146706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矩形 102">
                <a:extLst>
                  <a:ext uri="{FF2B5EF4-FFF2-40B4-BE49-F238E27FC236}">
                    <a16:creationId xmlns:a16="http://schemas.microsoft.com/office/drawing/2014/main" id="{B7735499-3F7D-4E88-A373-B91B733056F9}"/>
                  </a:ext>
                </a:extLst>
              </p:cNvPr>
              <p:cNvSpPr/>
              <p:nvPr/>
            </p:nvSpPr>
            <p:spPr>
              <a:xfrm>
                <a:off x="7197642" y="2837717"/>
                <a:ext cx="4012667" cy="11900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acc>
                            <m:accPr>
                              <m:chr m:val="⃗"/>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𝐸</m:t>
                              </m:r>
                            </m:e>
                          </m:acc>
                        </m:e>
                        <m: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𝑞</m:t>
                          </m:r>
                        </m:num>
                        <m:den>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𝑥</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𝑙</m:t>
                                  </m:r>
                                </m:num>
                                <m:den>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2</m:t>
                                  </m:r>
                                </m:den>
                              </m:f>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e>
                            <m:sup>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2</m:t>
                              </m:r>
                            </m:sup>
                          </m:sSup>
                        </m:den>
                      </m:f>
                      <m:acc>
                        <m:accPr>
                          <m:chr m:val="⃗"/>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𝑖</m:t>
                          </m:r>
                          <m:r>
                            <a:rPr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 </m:t>
                          </m:r>
                        </m:e>
                      </m:acc>
                    </m:oMath>
                  </m:oMathPara>
                </a14:m>
                <a:endParaRPr lang="zh-CN" altLang="en-US"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03" name="矩形 102">
                <a:extLst>
                  <a:ext uri="{FF2B5EF4-FFF2-40B4-BE49-F238E27FC236}">
                    <a16:creationId xmlns:a16="http://schemas.microsoft.com/office/drawing/2014/main" id="{B7735499-3F7D-4E88-A373-B91B733056F9}"/>
                  </a:ext>
                </a:extLst>
              </p:cNvPr>
              <p:cNvSpPr>
                <a:spLocks noRot="1" noChangeAspect="1" noMove="1" noResize="1" noEditPoints="1" noAdjustHandles="1" noChangeArrowheads="1" noChangeShapeType="1" noTextEdit="1"/>
              </p:cNvSpPr>
              <p:nvPr/>
            </p:nvSpPr>
            <p:spPr>
              <a:xfrm>
                <a:off x="7197642" y="2837717"/>
                <a:ext cx="4012667" cy="1190069"/>
              </a:xfrm>
              <a:prstGeom prst="rect">
                <a:avLst/>
              </a:prstGeom>
              <a:blipFill>
                <a:blip r:embed="rId4"/>
                <a:stretch>
                  <a:fillRect/>
                </a:stretch>
              </a:blipFill>
            </p:spPr>
            <p:txBody>
              <a:bodyPr/>
              <a:lstStyle/>
              <a:p>
                <a:r>
                  <a:rPr lang="en-US">
                    <a:noFill/>
                  </a:rPr>
                  <a:t> </a:t>
                </a:r>
              </a:p>
            </p:txBody>
          </p:sp>
        </mc:Fallback>
      </mc:AlternateContent>
      <p:pic>
        <p:nvPicPr>
          <p:cNvPr id="104" name="图片 103">
            <a:extLst>
              <a:ext uri="{FF2B5EF4-FFF2-40B4-BE49-F238E27FC236}">
                <a16:creationId xmlns:a16="http://schemas.microsoft.com/office/drawing/2014/main" id="{732CFC75-2DCB-444A-95FF-F02180F84B9E}"/>
              </a:ext>
            </a:extLst>
          </p:cNvPr>
          <p:cNvPicPr>
            <a:picLocks noChangeAspect="1"/>
          </p:cNvPicPr>
          <p:nvPr/>
        </p:nvPicPr>
        <p:blipFill>
          <a:blip r:embed="rId5"/>
          <a:stretch>
            <a:fillRect/>
          </a:stretch>
        </p:blipFill>
        <p:spPr>
          <a:xfrm>
            <a:off x="1558110" y="2255387"/>
            <a:ext cx="4865030" cy="1670449"/>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43" name="标题 4">
                <a:extLst>
                  <a:ext uri="{FF2B5EF4-FFF2-40B4-BE49-F238E27FC236}">
                    <a16:creationId xmlns:a16="http://schemas.microsoft.com/office/drawing/2014/main" id="{7366B479-5E98-4819-B8AC-B86E183C00F8}"/>
                  </a:ext>
                </a:extLst>
              </p:cNvPr>
              <p:cNvSpPr txBox="1">
                <a:spLocks/>
              </p:cNvSpPr>
              <p:nvPr/>
            </p:nvSpPr>
            <p:spPr>
              <a:xfrm>
                <a:off x="179616" y="4771153"/>
                <a:ext cx="6308899"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𝐸</m:t>
                          </m:r>
                        </m:e>
                      </m:acc>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sSub>
                        <m:sSub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bPr>
                        <m:e>
                          <m:acc>
                            <m:accPr>
                              <m:chr m:val="⃗"/>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𝐸</m:t>
                              </m:r>
                            </m:e>
                          </m:acc>
                        </m:e>
                        <m: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sSub>
                        <m:sSub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bPr>
                        <m:e>
                          <m:acc>
                            <m:accPr>
                              <m:chr m:val="⃗"/>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𝐸</m:t>
                              </m:r>
                            </m:e>
                          </m:acc>
                        </m:e>
                        <m: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𝑞𝑥𝑙</m:t>
                          </m:r>
                        </m:num>
                        <m:den>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𝑥</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4</m:t>
                              </m:r>
                            </m:sup>
                          </m:sSup>
                          <m:sSup>
                            <m:sSup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(1−</m:t>
                              </m:r>
                              <m:f>
                                <m:f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fPr>
                                <m:num>
                                  <m:sSup>
                                    <m:sSup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𝑙</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sup>
                                  </m:sSup>
                                </m:num>
                                <m:den>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4</m:t>
                                  </m:r>
                                  <m:sSup>
                                    <m:sSup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𝑥</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sup>
                                  </m:sSup>
                                </m:den>
                              </m:f>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sup>
                          </m:sSup>
                        </m:den>
                      </m:f>
                      <m:acc>
                        <m:accPr>
                          <m:chr m:val="⃗"/>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𝑖</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 </m:t>
                          </m:r>
                        </m:e>
                      </m:acc>
                    </m:oMath>
                  </m:oMathPara>
                </a14:m>
                <a:endParaRPr lang="zh-CN" altLang="en-US" sz="3200" dirty="0"/>
              </a:p>
            </p:txBody>
          </p:sp>
        </mc:Choice>
        <mc:Fallback xmlns="">
          <p:sp>
            <p:nvSpPr>
              <p:cNvPr id="43" name="标题 4">
                <a:extLst>
                  <a:ext uri="{FF2B5EF4-FFF2-40B4-BE49-F238E27FC236}">
                    <a16:creationId xmlns:a16="http://schemas.microsoft.com/office/drawing/2014/main" id="{7366B479-5E98-4819-B8AC-B86E183C00F8}"/>
                  </a:ext>
                </a:extLst>
              </p:cNvPr>
              <p:cNvSpPr txBox="1">
                <a:spLocks noRot="1" noChangeAspect="1" noMove="1" noResize="1" noEditPoints="1" noAdjustHandles="1" noChangeArrowheads="1" noChangeShapeType="1" noTextEdit="1"/>
              </p:cNvSpPr>
              <p:nvPr/>
            </p:nvSpPr>
            <p:spPr>
              <a:xfrm>
                <a:off x="179616" y="4771153"/>
                <a:ext cx="6308899" cy="132556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内容占位符 5">
                <a:extLst>
                  <a:ext uri="{FF2B5EF4-FFF2-40B4-BE49-F238E27FC236}">
                    <a16:creationId xmlns:a16="http://schemas.microsoft.com/office/drawing/2014/main" id="{2FD01027-68B0-42DA-83C2-CCD4FAB9B5C8}"/>
                  </a:ext>
                </a:extLst>
              </p:cNvPr>
              <p:cNvSpPr txBox="1">
                <a:spLocks/>
              </p:cNvSpPr>
              <p:nvPr/>
            </p:nvSpPr>
            <p:spPr>
              <a:xfrm>
                <a:off x="6488515" y="3866736"/>
                <a:ext cx="5642572" cy="31343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zh-CN" altLang="en-US" b="0" i="1" dirty="0" smtClean="0">
                          <a:latin typeface="Cambria Math" panose="02040503050406030204" pitchFamily="18" charset="0"/>
                          <a:cs typeface="Times New Roman" panose="02020603050405020304" pitchFamily="18" charset="0"/>
                        </a:rPr>
                        <m:t>若</m:t>
                      </m:r>
                      <m:r>
                        <a:rPr lang="en-US" altLang="zh-CN" b="0" i="1" dirty="0">
                          <a:latin typeface="Cambria Math" panose="02040503050406030204" pitchFamily="18" charset="0"/>
                          <a:ea typeface="微软雅黑" panose="020B0503020204020204" pitchFamily="34" charset="-122"/>
                        </a:rPr>
                        <m:t>𝑥</m:t>
                      </m:r>
                      <m:r>
                        <a:rPr lang="en-US" altLang="zh-CN" b="0" i="1" dirty="0">
                          <a:latin typeface="Cambria Math" panose="02040503050406030204" pitchFamily="18" charset="0"/>
                          <a:ea typeface="微软雅黑" panose="020B0503020204020204" pitchFamily="34" charset="-122"/>
                        </a:rPr>
                        <m:t>&gt;&gt;</m:t>
                      </m:r>
                      <m:r>
                        <a:rPr lang="en-US" altLang="zh-CN" b="0" i="1" dirty="0">
                          <a:latin typeface="Cambria Math" panose="02040503050406030204" pitchFamily="18" charset="0"/>
                          <a:ea typeface="微软雅黑" panose="020B0503020204020204" pitchFamily="34" charset="-122"/>
                        </a:rPr>
                        <m:t>𝑙</m:t>
                      </m:r>
                      <m:r>
                        <a:rPr lang="zh-CN" altLang="en-US" b="0" i="1" dirty="0">
                          <a:latin typeface="Cambria Math" panose="02040503050406030204" pitchFamily="18" charset="0"/>
                          <a:cs typeface="Times New Roman" panose="02020603050405020304" pitchFamily="18" charset="0"/>
                        </a:rPr>
                        <m:t>，则</m:t>
                      </m:r>
                      <m:f>
                        <m:fPr>
                          <m:ctrlPr>
                            <a:rPr lang="en-US" altLang="zh-CN" i="1" dirty="0">
                              <a:latin typeface="Cambria Math" panose="02040503050406030204" pitchFamily="18" charset="0"/>
                              <a:ea typeface="微软雅黑" panose="020B0503020204020204" pitchFamily="34" charset="-122"/>
                            </a:rPr>
                          </m:ctrlPr>
                        </m:fPr>
                        <m:num>
                          <m:r>
                            <a:rPr lang="en-US" altLang="zh-CN" b="0" i="1" dirty="0">
                              <a:latin typeface="Cambria Math" panose="02040503050406030204" pitchFamily="18" charset="0"/>
                              <a:ea typeface="微软雅黑" panose="020B0503020204020204" pitchFamily="34" charset="-122"/>
                            </a:rPr>
                            <m:t>𝑙</m:t>
                          </m:r>
                          <m:r>
                            <a:rPr lang="en-US" altLang="zh-CN" b="0" i="1" baseline="30000" dirty="0">
                              <a:latin typeface="Cambria Math" panose="02040503050406030204" pitchFamily="18" charset="0"/>
                              <a:ea typeface="微软雅黑" panose="020B0503020204020204" pitchFamily="34" charset="-122"/>
                            </a:rPr>
                            <m:t>2</m:t>
                          </m:r>
                        </m:num>
                        <m:den>
                          <m:r>
                            <a:rPr lang="en-US" altLang="zh-CN" b="0" i="1" dirty="0">
                              <a:latin typeface="Cambria Math" panose="02040503050406030204" pitchFamily="18" charset="0"/>
                              <a:ea typeface="微软雅黑" panose="020B0503020204020204" pitchFamily="34" charset="-122"/>
                            </a:rPr>
                            <m:t>4</m:t>
                          </m:r>
                          <m:r>
                            <a:rPr lang="en-US" altLang="zh-CN" b="0" i="1" dirty="0">
                              <a:latin typeface="Cambria Math" panose="02040503050406030204" pitchFamily="18" charset="0"/>
                              <a:ea typeface="微软雅黑" panose="020B0503020204020204" pitchFamily="34" charset="-122"/>
                            </a:rPr>
                            <m:t>𝑥</m:t>
                          </m:r>
                          <m:r>
                            <a:rPr lang="en-US" altLang="zh-CN" b="0" i="1" baseline="30000" dirty="0">
                              <a:latin typeface="Cambria Math" panose="02040503050406030204" pitchFamily="18" charset="0"/>
                              <a:ea typeface="微软雅黑" panose="020B0503020204020204" pitchFamily="34" charset="-122"/>
                            </a:rPr>
                            <m:t>2</m:t>
                          </m:r>
                        </m:den>
                      </m:f>
                      <m:r>
                        <a:rPr lang="en-US" altLang="zh-CN" b="0" i="1" dirty="0">
                          <a:latin typeface="Cambria Math" panose="02040503050406030204" pitchFamily="18" charset="0"/>
                          <a:ea typeface="微软雅黑" panose="020B0503020204020204" pitchFamily="34" charset="-122"/>
                        </a:rPr>
                        <m:t>&lt;&lt;1</m:t>
                      </m:r>
                    </m:oMath>
                  </m:oMathPara>
                </a14:m>
                <a:endParaRPr lang="en-US" altLang="zh-CN" i="1" dirty="0">
                  <a:latin typeface="Cambria Math" panose="02040503050406030204" pitchFamily="18" charset="0"/>
                  <a:ea typeface="微软雅黑" panose="020B0503020204020204" pitchFamily="34" charset="-122"/>
                </a:endParaRPr>
              </a:p>
              <a:p>
                <a:pPr marL="0" indent="0" algn="ctr">
                  <a:lnSpc>
                    <a:spcPct val="15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3200" b="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3200" i="1" smtClean="0">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𝐸</m:t>
                          </m:r>
                        </m:e>
                      </m:acc>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2</m:t>
                          </m:r>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𝑞𝑙</m:t>
                          </m:r>
                        </m:num>
                        <m:den>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𝑥</m:t>
                              </m:r>
                            </m:e>
                            <m:sup>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3</m:t>
                              </m:r>
                            </m:sup>
                          </m:sSup>
                        </m:den>
                      </m:f>
                      <m:acc>
                        <m:accPr>
                          <m:chr m:val="⃗"/>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𝑖</m:t>
                          </m:r>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 </m:t>
                          </m:r>
                        </m:e>
                      </m:acc>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2</m:t>
                          </m:r>
                          <m:acc>
                            <m:accPr>
                              <m:chr m:val="⃗"/>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𝑝</m:t>
                              </m:r>
                            </m:e>
                          </m:acc>
                        </m:num>
                        <m:den>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32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𝑥</m:t>
                              </m:r>
                            </m:e>
                            <m:sup>
                              <m:r>
                                <a:rPr lang="en-US" altLang="zh-CN" sz="3200" b="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3</m:t>
                              </m:r>
                            </m:sup>
                          </m:sSup>
                        </m:den>
                      </m:f>
                    </m:oMath>
                  </m:oMathPara>
                </a14:m>
                <a:endParaRPr lang="zh-CN" altLang="en-US" dirty="0"/>
              </a:p>
            </p:txBody>
          </p:sp>
        </mc:Choice>
        <mc:Fallback xmlns="">
          <p:sp>
            <p:nvSpPr>
              <p:cNvPr id="44" name="内容占位符 5">
                <a:extLst>
                  <a:ext uri="{FF2B5EF4-FFF2-40B4-BE49-F238E27FC236}">
                    <a16:creationId xmlns:a16="http://schemas.microsoft.com/office/drawing/2014/main" id="{2FD01027-68B0-42DA-83C2-CCD4FAB9B5C8}"/>
                  </a:ext>
                </a:extLst>
              </p:cNvPr>
              <p:cNvSpPr txBox="1">
                <a:spLocks noRot="1" noChangeAspect="1" noMove="1" noResize="1" noEditPoints="1" noAdjustHandles="1" noChangeArrowheads="1" noChangeShapeType="1" noTextEdit="1"/>
              </p:cNvSpPr>
              <p:nvPr/>
            </p:nvSpPr>
            <p:spPr>
              <a:xfrm>
                <a:off x="6488515" y="3866736"/>
                <a:ext cx="5642572" cy="3134396"/>
              </a:xfrm>
              <a:prstGeom prst="rect">
                <a:avLst/>
              </a:prstGeom>
              <a:blipFill>
                <a:blip r:embed="rId7"/>
                <a:stretch>
                  <a:fillRect/>
                </a:stretch>
              </a:blipFill>
            </p:spPr>
            <p:txBody>
              <a:bodyPr/>
              <a:lstStyle/>
              <a:p>
                <a:r>
                  <a:rPr lang="en-US">
                    <a:noFill/>
                  </a:rPr>
                  <a:t> </a:t>
                </a:r>
              </a:p>
            </p:txBody>
          </p:sp>
        </mc:Fallback>
      </mc:AlternateContent>
      <p:sp>
        <p:nvSpPr>
          <p:cNvPr id="9" name="Rectangle 36">
            <a:extLst>
              <a:ext uri="{FF2B5EF4-FFF2-40B4-BE49-F238E27FC236}">
                <a16:creationId xmlns:a16="http://schemas.microsoft.com/office/drawing/2014/main" id="{502D2F45-C0A4-4D1E-B071-1FDD33A1F8E7}"/>
              </a:ext>
            </a:extLst>
          </p:cNvPr>
          <p:cNvSpPr>
            <a:spLocks noChangeArrowheads="1"/>
          </p:cNvSpPr>
          <p:nvPr/>
        </p:nvSpPr>
        <p:spPr bwMode="auto">
          <a:xfrm>
            <a:off x="313601" y="450689"/>
            <a:ext cx="10696435" cy="677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例</a:t>
            </a:r>
            <a:r>
              <a:rPr lang="en-US" altLang="zh-CN" sz="2800" b="0" dirty="0">
                <a:latin typeface="华文楷体" panose="02010600040101010101" pitchFamily="2" charset="-122"/>
                <a:ea typeface="华文楷体" panose="02010600040101010101" pitchFamily="2" charset="-122"/>
              </a:rPr>
              <a:t>12.3]</a:t>
            </a:r>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求电偶极子轴线的延长线上和中垂线上任一点的电场。</a:t>
            </a:r>
            <a:endParaRPr lang="zh-CN" altLang="en-US" sz="2400" b="0" dirty="0">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3784358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43" grpId="0"/>
      <p:bldP spid="4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6B7CB61-CA5F-4FD8-8DCD-DA944B37DCFB}"/>
                  </a:ext>
                </a:extLst>
              </p:cNvPr>
              <p:cNvSpPr/>
              <p:nvPr/>
            </p:nvSpPr>
            <p:spPr>
              <a:xfrm>
                <a:off x="4772664" y="2956061"/>
                <a:ext cx="280454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𝑬</m:t>
                      </m:r>
                      <m: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1"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sSub>
                        <m:sSub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𝑬</m:t>
                          </m:r>
                        </m:e>
                        <m:sub>
                          <m: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sub>
                      </m:sSub>
                      <m:func>
                        <m:funcPr>
                          <m:ctrlPr>
                            <a:rPr lang="en-US" altLang="zh-CN"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uncPr>
                        <m:fName>
                          <m:r>
                            <m:rPr>
                              <m:sty m:val="p"/>
                            </m:rPr>
                            <a:rPr lang="en-US" altLang="zh-CN" sz="280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cos</m:t>
                          </m:r>
                        </m:fName>
                        <m:e>
                          <m:r>
                            <a:rPr lang="zh-CN" altLang="en-US" sz="28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𝜶</m:t>
                          </m:r>
                        </m:e>
                      </m:func>
                    </m:oMath>
                  </m:oMathPara>
                </a14:m>
                <a:endParaRPr lang="zh-CN" altLang="en-US" sz="1600" dirty="0">
                  <a:solidFill>
                    <a:schemeClr val="tx1"/>
                  </a:solidFill>
                </a:endParaRPr>
              </a:p>
            </p:txBody>
          </p:sp>
        </mc:Choice>
        <mc:Fallback xmlns="">
          <p:sp>
            <p:nvSpPr>
              <p:cNvPr id="9" name="矩形 8">
                <a:extLst>
                  <a:ext uri="{FF2B5EF4-FFF2-40B4-BE49-F238E27FC236}">
                    <a16:creationId xmlns:a16="http://schemas.microsoft.com/office/drawing/2014/main" id="{E6B7CB61-CA5F-4FD8-8DCD-DA944B37DCFB}"/>
                  </a:ext>
                </a:extLst>
              </p:cNvPr>
              <p:cNvSpPr>
                <a:spLocks noRot="1" noChangeAspect="1" noMove="1" noResize="1" noEditPoints="1" noAdjustHandles="1" noChangeArrowheads="1" noChangeShapeType="1" noTextEdit="1"/>
              </p:cNvSpPr>
              <p:nvPr/>
            </p:nvSpPr>
            <p:spPr>
              <a:xfrm>
                <a:off x="4772664" y="2956061"/>
                <a:ext cx="2804547" cy="523220"/>
              </a:xfrm>
              <a:prstGeom prst="rect">
                <a:avLst/>
              </a:prstGeom>
              <a:blipFill>
                <a:blip r:embed="rId2"/>
                <a:stretch>
                  <a:fillRect/>
                </a:stretch>
              </a:blipFill>
            </p:spPr>
            <p:txBody>
              <a:bodyPr/>
              <a:lstStyle/>
              <a:p>
                <a:r>
                  <a:rPr lang="en-US">
                    <a:noFill/>
                  </a:rPr>
                  <a:t> </a:t>
                </a:r>
              </a:p>
            </p:txBody>
          </p:sp>
        </mc:Fallback>
      </mc:AlternateContent>
      <p:pic>
        <p:nvPicPr>
          <p:cNvPr id="10" name="图片 9">
            <a:extLst>
              <a:ext uri="{FF2B5EF4-FFF2-40B4-BE49-F238E27FC236}">
                <a16:creationId xmlns:a16="http://schemas.microsoft.com/office/drawing/2014/main" id="{E0C96337-291F-495E-87AA-3E0BF2E240FD}"/>
              </a:ext>
            </a:extLst>
          </p:cNvPr>
          <p:cNvPicPr>
            <a:picLocks noChangeAspect="1"/>
          </p:cNvPicPr>
          <p:nvPr/>
        </p:nvPicPr>
        <p:blipFill rotWithShape="1">
          <a:blip r:embed="rId3"/>
          <a:srcRect t="12111"/>
          <a:stretch/>
        </p:blipFill>
        <p:spPr>
          <a:xfrm>
            <a:off x="1335997" y="1938709"/>
            <a:ext cx="3351003" cy="3813892"/>
          </a:xfrm>
          <a:prstGeom prst="rect">
            <a:avLst/>
          </a:prstGeom>
          <a:ln>
            <a:noFill/>
          </a:ln>
          <a:effectLst>
            <a:outerShdw blurRad="292100" dist="139700" dir="2700000" algn="tl" rotWithShape="0">
              <a:srgbClr val="333333">
                <a:alpha val="65000"/>
              </a:srgbClr>
            </a:outerShdw>
          </a:effectLst>
        </p:spPr>
      </p:pic>
      <p:sp>
        <p:nvSpPr>
          <p:cNvPr id="11" name="标题 1">
            <a:extLst>
              <a:ext uri="{FF2B5EF4-FFF2-40B4-BE49-F238E27FC236}">
                <a16:creationId xmlns:a16="http://schemas.microsoft.com/office/drawing/2014/main" id="{AF3BB0F2-F138-4E59-96BC-B99701B39EA0}"/>
              </a:ext>
            </a:extLst>
          </p:cNvPr>
          <p:cNvSpPr txBox="1">
            <a:spLocks/>
          </p:cNvSpPr>
          <p:nvPr/>
        </p:nvSpPr>
        <p:spPr>
          <a:xfrm>
            <a:off x="790077" y="1412307"/>
            <a:ext cx="4588373" cy="66610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华文楷体" panose="02010600040101010101" pitchFamily="2" charset="-122"/>
                <a:ea typeface="华文楷体" panose="02010600040101010101" pitchFamily="2" charset="-122"/>
              </a:rPr>
              <a:t>中垂线上任一点的电场</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CFF8FFC0-DCE1-4D0E-BDBE-3F2AF03BC287}"/>
                  </a:ext>
                </a:extLst>
              </p:cNvPr>
              <p:cNvSpPr/>
              <p:nvPr/>
            </p:nvSpPr>
            <p:spPr>
              <a:xfrm>
                <a:off x="4916005" y="1878552"/>
                <a:ext cx="3128741" cy="850617"/>
              </a:xfrm>
              <a:prstGeom prst="rect">
                <a:avLst/>
              </a:prstGeom>
            </p:spPr>
            <p:txBody>
              <a:bodyPr wrap="none">
                <a:spAutoFit/>
              </a:bodyPr>
              <a:lstStyle/>
              <a:p>
                <a:pPr lvl="0">
                  <a:defRPr/>
                </a:pPr>
                <a14:m>
                  <m:oMathPara xmlns:m="http://schemas.openxmlformats.org/officeDocument/2006/math">
                    <m:oMathParaPr>
                      <m:jc m:val="centerGroup"/>
                    </m:oMathParaPr>
                    <m:oMath xmlns:m="http://schemas.openxmlformats.org/officeDocument/2006/math">
                      <m:sSub>
                        <m:sSubPr>
                          <m:ctrlP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𝑬</m:t>
                          </m:r>
                        </m:e>
                        <m:sub>
                          <m: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sSub>
                        <m:sSubPr>
                          <m:ctrlP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𝑬</m:t>
                          </m:r>
                        </m:e>
                        <m:sub>
                          <m: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sub>
                      </m:sSub>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𝒒</m:t>
                          </m:r>
                        </m:num>
                        <m:den>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𝟒</m:t>
                          </m:r>
                          <m:r>
                            <a:rPr lang="zh-CN" altLang="en-US"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𝝅</m:t>
                          </m:r>
                          <m:sSub>
                            <m:sSubPr>
                              <m:ctrlP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𝜺</m:t>
                              </m:r>
                            </m:e>
                            <m:sub>
                              <m:r>
                                <a:rPr lang="en-US" altLang="zh-CN" sz="26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𝟎</m:t>
                              </m:r>
                            </m:sub>
                          </m:sSub>
                          <m:sSup>
                            <m:sSupPr>
                              <m:ctrlP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𝒓</m:t>
                              </m:r>
                            </m:e>
                            <m:sup>
                              <m: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r>
                                <a:rPr lang="en-US" altLang="zh-CN" sz="26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𝟐</m:t>
                              </m:r>
                            </m:sup>
                          </m:sSup>
                        </m:den>
                      </m:f>
                    </m:oMath>
                  </m:oMathPara>
                </a14:m>
                <a:endParaRPr lang="zh-CN" altLang="en-US" sz="2600" dirty="0">
                  <a:solidFill>
                    <a:srgbClr val="000000"/>
                  </a:solidFill>
                  <a:latin typeface="Calibri" panose="020F0502020204030204"/>
                  <a:ea typeface="宋体" panose="02010600030101010101" pitchFamily="2" charset="-122"/>
                </a:endParaRPr>
              </a:p>
            </p:txBody>
          </p:sp>
        </mc:Choice>
        <mc:Fallback xmlns="">
          <p:sp>
            <p:nvSpPr>
              <p:cNvPr id="12" name="矩形 11">
                <a:extLst>
                  <a:ext uri="{FF2B5EF4-FFF2-40B4-BE49-F238E27FC236}">
                    <a16:creationId xmlns:a16="http://schemas.microsoft.com/office/drawing/2014/main" id="{CFF8FFC0-DCE1-4D0E-BDBE-3F2AF03BC287}"/>
                  </a:ext>
                </a:extLst>
              </p:cNvPr>
              <p:cNvSpPr>
                <a:spLocks noRot="1" noChangeAspect="1" noMove="1" noResize="1" noEditPoints="1" noAdjustHandles="1" noChangeArrowheads="1" noChangeShapeType="1" noTextEdit="1"/>
              </p:cNvSpPr>
              <p:nvPr/>
            </p:nvSpPr>
            <p:spPr>
              <a:xfrm>
                <a:off x="4916005" y="1878552"/>
                <a:ext cx="3128741" cy="85061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DA270B69-8B1C-47CB-B90C-16D96D66FBAB}"/>
                  </a:ext>
                </a:extLst>
              </p:cNvPr>
              <p:cNvSpPr/>
              <p:nvPr/>
            </p:nvSpPr>
            <p:spPr>
              <a:xfrm>
                <a:off x="3960557" y="3429000"/>
                <a:ext cx="7560840" cy="2167645"/>
              </a:xfrm>
              <a:prstGeom prst="rect">
                <a:avLst/>
              </a:prstGeom>
            </p:spPr>
            <p:txBody>
              <a:bodyPr wrap="square">
                <a:spAutoFit/>
              </a:bodyPr>
              <a:lstStyle/>
              <a:p>
                <a:pPr lvl="0" algn="ctr">
                  <a:lnSpc>
                    <a:spcPct val="120000"/>
                  </a:lnSpc>
                </a:pPr>
                <a14:m>
                  <m:oMathPara xmlns:m="http://schemas.openxmlformats.org/officeDocument/2006/math">
                    <m:oMathParaPr>
                      <m:jc m:val="center"/>
                    </m:oMathParaPr>
                    <m:oMath xmlns:m="http://schemas.openxmlformats.org/officeDocument/2006/math">
                      <m:r>
                        <a:rPr lang="en-US" altLang="zh-CN" sz="2600" b="1" i="1" smtClean="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r>
                        <a:rPr lang="en-US" altLang="zh-CN" sz="2600" b="1" i="1" smtClean="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𝒒</m:t>
                          </m:r>
                        </m:num>
                        <m:den>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𝟒</m:t>
                          </m:r>
                          <m:r>
                            <a:rPr lang="zh-CN" altLang="en-US"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𝝅</m:t>
                          </m:r>
                          <m:sSub>
                            <m:sSub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𝜺</m:t>
                              </m:r>
                            </m:e>
                            <m:sub>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𝟎</m:t>
                              </m:r>
                            </m:sub>
                          </m:sSub>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 </m:t>
                          </m:r>
                          <m:d>
                            <m:d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dPr>
                            <m:e>
                              <m:sSup>
                                <m:sSup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𝒓</m:t>
                                  </m:r>
                                </m:e>
                                <m:sup>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sup>
                              </m:sSup>
                              <m:r>
                                <a:rPr lang="en-US" altLang="zh-CN" sz="2600" b="1"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sSup>
                                    <m:sSup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𝒍</m:t>
                                      </m:r>
                                    </m:e>
                                    <m:sup>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sup>
                                  </m:sSup>
                                </m:num>
                                <m:den>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𝟒</m:t>
                                  </m:r>
                                </m:den>
                              </m:f>
                            </m:e>
                          </m:d>
                        </m:den>
                      </m:f>
                      <m:r>
                        <a:rPr lang="en-US" altLang="zh-CN" sz="26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f>
                            <m:fPr>
                              <m:type m:val="lin"/>
                              <m:ctrlP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𝒍</m:t>
                              </m:r>
                            </m:num>
                            <m:den>
                              <m: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𝟐</m:t>
                              </m:r>
                            </m:den>
                          </m:f>
                        </m:num>
                        <m:den>
                          <m:rad>
                            <m:radPr>
                              <m:degHide m:val="on"/>
                              <m:ctrlPr>
                                <a:rPr lang="en-US" altLang="zh-CN" sz="2600" b="1"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𝒓</m:t>
                                  </m:r>
                                </m:e>
                                <m:sup>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sup>
                              </m:sSup>
                              <m:r>
                                <a:rPr lang="en-US" altLang="zh-CN" sz="2600" b="1"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fPr>
                                <m:num>
                                  <m:sSup>
                                    <m:sSupPr>
                                      <m:ctrlP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𝒍</m:t>
                                      </m:r>
                                    </m:e>
                                    <m:sup>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𝟐</m:t>
                                      </m:r>
                                    </m:sup>
                                  </m:sSup>
                                </m:num>
                                <m:den>
                                  <m:r>
                                    <a:rPr lang="en-US" altLang="zh-CN" sz="260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𝟒</m:t>
                                  </m:r>
                                </m:den>
                              </m:f>
                            </m:e>
                          </m:rad>
                        </m:den>
                      </m:f>
                    </m:oMath>
                  </m:oMathPara>
                </a14:m>
                <a:endParaRPr lang="en-US" altLang="zh-CN" sz="2600" dirty="0">
                  <a:solidFill>
                    <a:schemeClr val="tx1"/>
                  </a:solidFill>
                  <a:latin typeface="Calibri" panose="020F0502020204030204"/>
                  <a:ea typeface="Cambria Math" panose="02040503050406030204" pitchFamily="18" charset="0"/>
                  <a:cs typeface="Times New Roman" panose="02020603050405020304" pitchFamily="18" charset="0"/>
                </a:endParaRPr>
              </a:p>
              <a:p>
                <a:pPr algn="ctr" defTabSz="457200">
                  <a:lnSpc>
                    <a:spcPct val="120000"/>
                  </a:lnSpc>
                  <a:defRPr/>
                </a:pPr>
                <a:endParaRPr lang="en-US" altLang="zh-CN" sz="2600" dirty="0">
                  <a:solidFill>
                    <a:schemeClr val="tx1"/>
                  </a:solidFill>
                  <a:latin typeface="Calibri" panose="020F0502020204030204"/>
                  <a:ea typeface="宋体" panose="02010600030101010101" pitchFamily="2" charset="-122"/>
                </a:endParaRPr>
              </a:p>
            </p:txBody>
          </p:sp>
        </mc:Choice>
        <mc:Fallback xmlns="">
          <p:sp>
            <p:nvSpPr>
              <p:cNvPr id="14" name="矩形 13">
                <a:extLst>
                  <a:ext uri="{FF2B5EF4-FFF2-40B4-BE49-F238E27FC236}">
                    <a16:creationId xmlns:a16="http://schemas.microsoft.com/office/drawing/2014/main" id="{DA270B69-8B1C-47CB-B90C-16D96D66FBAB}"/>
                  </a:ext>
                </a:extLst>
              </p:cNvPr>
              <p:cNvSpPr>
                <a:spLocks noRot="1" noChangeAspect="1" noMove="1" noResize="1" noEditPoints="1" noAdjustHandles="1" noChangeArrowheads="1" noChangeShapeType="1" noTextEdit="1"/>
              </p:cNvSpPr>
              <p:nvPr/>
            </p:nvSpPr>
            <p:spPr>
              <a:xfrm>
                <a:off x="3960557" y="3429000"/>
                <a:ext cx="7560840" cy="21676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4">
                <a:extLst>
                  <a:ext uri="{FF2B5EF4-FFF2-40B4-BE49-F238E27FC236}">
                    <a16:creationId xmlns:a16="http://schemas.microsoft.com/office/drawing/2014/main" id="{AD3A197E-9B19-4F50-9D18-52B4803D5DE2}"/>
                  </a:ext>
                </a:extLst>
              </p:cNvPr>
              <p:cNvSpPr>
                <a:spLocks noChangeArrowheads="1"/>
              </p:cNvSpPr>
              <p:nvPr/>
            </p:nvSpPr>
            <p:spPr bwMode="auto">
              <a:xfrm>
                <a:off x="5232920" y="5269487"/>
                <a:ext cx="5333480" cy="9662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r>
                  <a:rPr lang="zh-CN" altLang="en-US" sz="2800" dirty="0">
                    <a:latin typeface="黑体" panose="02010609060101010101" pitchFamily="49" charset="-122"/>
                    <a:ea typeface="黑体" panose="02010609060101010101" pitchFamily="49" charset="-122"/>
                  </a:rPr>
                  <a:t>若</a:t>
                </a:r>
                <a14:m>
                  <m:oMath xmlns:m="http://schemas.openxmlformats.org/officeDocument/2006/math">
                    <m:r>
                      <a:rPr lang="en-US" altLang="zh-CN" sz="2800" i="1">
                        <a:latin typeface="Cambria Math" panose="02040503050406030204" pitchFamily="18" charset="0"/>
                        <a:ea typeface="华文新魏" panose="02010800040101010101" pitchFamily="2" charset="-122"/>
                      </a:rPr>
                      <m:t>𝒓</m:t>
                    </m:r>
                    <m:r>
                      <a:rPr lang="zh-CN" altLang="en-US" sz="2800" i="1">
                        <a:latin typeface="Cambria Math" panose="02040503050406030204" pitchFamily="18" charset="0"/>
                        <a:ea typeface="华文新魏" panose="02010800040101010101" pitchFamily="2" charset="-122"/>
                      </a:rPr>
                      <m:t>≫</m:t>
                    </m:r>
                    <m:r>
                      <a:rPr lang="en-US" altLang="zh-CN" sz="2800" i="1">
                        <a:latin typeface="Cambria Math" panose="02040503050406030204" pitchFamily="18" charset="0"/>
                        <a:ea typeface="华文新魏" panose="02010800040101010101" pitchFamily="2" charset="-122"/>
                      </a:rPr>
                      <m:t>𝒍</m:t>
                    </m:r>
                  </m:oMath>
                </a14:m>
                <a:r>
                  <a:rPr lang="zh-CN" altLang="en-US" sz="2800" dirty="0">
                    <a:latin typeface="黑体" panose="02010609060101010101" pitchFamily="49" charset="-122"/>
                    <a:ea typeface="黑体" panose="02010609060101010101" pitchFamily="49" charset="-122"/>
                  </a:rPr>
                  <a:t>，则</a:t>
                </a:r>
                <a14:m>
                  <m:oMath xmlns:m="http://schemas.openxmlformats.org/officeDocument/2006/math">
                    <m:r>
                      <a:rPr lang="en-US" altLang="zh-CN" sz="3200" b="1" i="0" smtClean="0">
                        <a:solidFill>
                          <a:srgbClr val="0000FF"/>
                        </a:solidFill>
                        <a:latin typeface="Cambria Math" panose="02040503050406030204" pitchFamily="18" charset="0"/>
                        <a:ea typeface="黑体" panose="02010609060101010101" pitchFamily="49" charset="-122"/>
                      </a:rPr>
                      <m:t>    </m:t>
                    </m:r>
                    <m:acc>
                      <m:accPr>
                        <m:chr m:val="⃗"/>
                        <m:ctrlPr>
                          <a:rPr lang="zh-CN" altLang="en-US" sz="3200" i="1" smtClean="0">
                            <a:solidFill>
                              <a:srgbClr val="FF0000"/>
                            </a:solidFill>
                            <a:latin typeface="Cambria Math" panose="02040503050406030204" pitchFamily="18" charset="0"/>
                            <a:ea typeface="黑体" panose="02010609060101010101" pitchFamily="49" charset="-122"/>
                          </a:rPr>
                        </m:ctrlPr>
                      </m:accPr>
                      <m:e>
                        <m:r>
                          <a:rPr lang="en-US" altLang="zh-CN" sz="3200" i="1">
                            <a:solidFill>
                              <a:srgbClr val="FF0000"/>
                            </a:solidFill>
                            <a:latin typeface="Cambria Math" panose="02040503050406030204" pitchFamily="18" charset="0"/>
                            <a:ea typeface="黑体" panose="02010609060101010101" pitchFamily="49" charset="-122"/>
                          </a:rPr>
                          <m:t>𝑬</m:t>
                        </m:r>
                      </m:e>
                    </m:acc>
                    <m:r>
                      <a:rPr lang="en-US" altLang="zh-CN" sz="3200" i="1">
                        <a:solidFill>
                          <a:srgbClr val="FF0000"/>
                        </a:solidFill>
                        <a:latin typeface="Cambria Math" panose="02040503050406030204" pitchFamily="18" charset="0"/>
                        <a:ea typeface="黑体" panose="02010609060101010101" pitchFamily="49" charset="-122"/>
                      </a:rPr>
                      <m:t>=−</m:t>
                    </m:r>
                    <m:f>
                      <m:fPr>
                        <m:ctrlP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fPr>
                      <m:num>
                        <m:acc>
                          <m:accPr>
                            <m:chr m:val="⃗"/>
                            <m:ctrlP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𝒑</m:t>
                            </m:r>
                          </m:e>
                        </m:acc>
                      </m:num>
                      <m:den>
                        <m: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𝟒</m:t>
                        </m:r>
                        <m:r>
                          <a:rPr lang="zh-CN" altLang="en-US"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𝝅</m:t>
                        </m:r>
                        <m:sSub>
                          <m:sSubPr>
                            <m:ctrlP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𝜺</m:t>
                            </m:r>
                          </m:e>
                          <m:sub>
                            <m: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𝟎</m:t>
                            </m:r>
                          </m:sub>
                        </m:sSub>
                        <m:sSup>
                          <m:sSupPr>
                            <m:ctrlP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𝒓</m:t>
                            </m:r>
                          </m:e>
                          <m:sup>
                            <m:r>
                              <a:rPr lang="en-US" altLang="zh-CN" sz="3600"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𝟑</m:t>
                            </m:r>
                          </m:sup>
                        </m:sSup>
                      </m:den>
                    </m:f>
                  </m:oMath>
                </a14:m>
                <a:endParaRPr lang="zh-CN" altLang="en-US" sz="2800" dirty="0">
                  <a:solidFill>
                    <a:srgbClr val="0000FF"/>
                  </a:solidFill>
                  <a:latin typeface="黑体" panose="02010609060101010101" pitchFamily="49" charset="-122"/>
                  <a:ea typeface="黑体" panose="02010609060101010101" pitchFamily="49" charset="-122"/>
                </a:endParaRPr>
              </a:p>
            </p:txBody>
          </p:sp>
        </mc:Choice>
        <mc:Fallback xmlns="">
          <p:sp>
            <p:nvSpPr>
              <p:cNvPr id="15" name="Rectangle 4">
                <a:extLst>
                  <a:ext uri="{FF2B5EF4-FFF2-40B4-BE49-F238E27FC236}">
                    <a16:creationId xmlns:a16="http://schemas.microsoft.com/office/drawing/2014/main" id="{AD3A197E-9B19-4F50-9D18-52B4803D5DE2}"/>
                  </a:ext>
                </a:extLst>
              </p:cNvPr>
              <p:cNvSpPr>
                <a:spLocks noRot="1" noChangeAspect="1" noMove="1" noResize="1" noEditPoints="1" noAdjustHandles="1" noChangeArrowheads="1" noChangeShapeType="1" noTextEdit="1"/>
              </p:cNvSpPr>
              <p:nvPr/>
            </p:nvSpPr>
            <p:spPr bwMode="auto">
              <a:xfrm>
                <a:off x="5232920" y="5269487"/>
                <a:ext cx="5333480" cy="966228"/>
              </a:xfrm>
              <a:prstGeom prst="rect">
                <a:avLst/>
              </a:prstGeom>
              <a:blipFill>
                <a:blip r:embed="rId6"/>
                <a:stretch>
                  <a:fillRect l="-2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3" name="Rectangle 36">
            <a:extLst>
              <a:ext uri="{FF2B5EF4-FFF2-40B4-BE49-F238E27FC236}">
                <a16:creationId xmlns:a16="http://schemas.microsoft.com/office/drawing/2014/main" id="{9D042F43-1081-4AE6-86E4-A118EF8B0D62}"/>
              </a:ext>
            </a:extLst>
          </p:cNvPr>
          <p:cNvSpPr>
            <a:spLocks noChangeArrowheads="1"/>
          </p:cNvSpPr>
          <p:nvPr/>
        </p:nvSpPr>
        <p:spPr bwMode="auto">
          <a:xfrm>
            <a:off x="313601" y="450689"/>
            <a:ext cx="10696435" cy="677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例</a:t>
            </a:r>
            <a:r>
              <a:rPr lang="en-US" altLang="zh-CN" sz="2800" b="0" dirty="0">
                <a:latin typeface="华文楷体" panose="02010600040101010101" pitchFamily="2" charset="-122"/>
                <a:ea typeface="华文楷体" panose="02010600040101010101" pitchFamily="2" charset="-122"/>
              </a:rPr>
              <a:t>12.3]</a:t>
            </a:r>
            <a:r>
              <a:rPr lang="zh-CN" altLang="en-US" sz="2800" b="0" dirty="0">
                <a:latin typeface="华文楷体" panose="02010600040101010101" pitchFamily="2" charset="-122"/>
                <a:ea typeface="华文楷体" panose="02010600040101010101" pitchFamily="2" charset="-122"/>
                <a:cs typeface="Times New Roman" panose="02020603050405020304" pitchFamily="18" charset="0"/>
              </a:rPr>
              <a:t>求电偶极子轴线的延长线上和中垂线上任一点的电场。</a:t>
            </a:r>
            <a:endParaRPr lang="zh-CN" altLang="en-US" sz="2400" b="0" dirty="0">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7477907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ectangle 2">
                <a:extLst>
                  <a:ext uri="{FF2B5EF4-FFF2-40B4-BE49-F238E27FC236}">
                    <a16:creationId xmlns:a16="http://schemas.microsoft.com/office/drawing/2014/main" id="{B78554A4-3AC8-4984-8E4F-DE22E1589283}"/>
                  </a:ext>
                </a:extLst>
              </p:cNvPr>
              <p:cNvSpPr>
                <a:spLocks noChangeArrowheads="1"/>
              </p:cNvSpPr>
              <p:nvPr/>
            </p:nvSpPr>
            <p:spPr bwMode="auto">
              <a:xfrm>
                <a:off x="3471662" y="1776433"/>
                <a:ext cx="7572779" cy="9849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取线元</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𝑑𝑥</m:t>
                      </m:r>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𝑑𝑞</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r>
                        <a:rPr lang="zh-CN" altLang="en-US" sz="2800" b="0"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，则</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𝑑𝐸</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𝑑𝑥</m:t>
                          </m:r>
                        </m:num>
                        <m:den>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sup>
                          </m:sSup>
                        </m:den>
                      </m:f>
                    </m:oMath>
                  </m:oMathPara>
                </a14:m>
                <a:endParaRPr lang="zh-CN" altLang="en-US" sz="2800" b="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12" name="Rectangle 2">
                <a:extLst>
                  <a:ext uri="{FF2B5EF4-FFF2-40B4-BE49-F238E27FC236}">
                    <a16:creationId xmlns:a16="http://schemas.microsoft.com/office/drawing/2014/main" id="{B78554A4-3AC8-4984-8E4F-DE22E1589283}"/>
                  </a:ext>
                </a:extLst>
              </p:cNvPr>
              <p:cNvSpPr>
                <a:spLocks noRot="1" noChangeAspect="1" noMove="1" noResize="1" noEditPoints="1" noAdjustHandles="1" noChangeArrowheads="1" noChangeShapeType="1" noTextEdit="1"/>
              </p:cNvSpPr>
              <p:nvPr/>
            </p:nvSpPr>
            <p:spPr bwMode="auto">
              <a:xfrm>
                <a:off x="3471662" y="1776433"/>
                <a:ext cx="7572779" cy="984951"/>
              </a:xfrm>
              <a:prstGeom prst="rect">
                <a:avLst/>
              </a:prstGeom>
              <a:blipFill>
                <a:blip r:embed="rId2"/>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37">
                <a:extLst>
                  <a:ext uri="{FF2B5EF4-FFF2-40B4-BE49-F238E27FC236}">
                    <a16:creationId xmlns:a16="http://schemas.microsoft.com/office/drawing/2014/main" id="{8F823D22-1F28-4782-9BFE-88B5839B985C}"/>
                  </a:ext>
                </a:extLst>
              </p:cNvPr>
              <p:cNvSpPr txBox="1">
                <a:spLocks noChangeArrowheads="1"/>
              </p:cNvSpPr>
              <p:nvPr/>
            </p:nvSpPr>
            <p:spPr bwMode="auto">
              <a:xfrm>
                <a:off x="245862" y="681581"/>
                <a:ext cx="10263388" cy="1094852"/>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0" lang="en-US" altLang="zh-CN" sz="2800" b="0" spc="300" dirty="0">
                    <a:solidFill>
                      <a:srgbClr val="0000FF"/>
                    </a:solidFill>
                    <a:ea typeface="华文楷体" panose="02010600040101010101" pitchFamily="2" charset="-122"/>
                    <a:cs typeface="Times New Roman" panose="02020603050405020304" pitchFamily="18" charset="0"/>
                  </a:rPr>
                  <a:t>[</a:t>
                </a:r>
                <a:r>
                  <a:rPr kumimoji="0" lang="zh-CN" altLang="en-US" sz="2800" b="0" spc="300" dirty="0">
                    <a:solidFill>
                      <a:srgbClr val="0000FF"/>
                    </a:solidFill>
                    <a:ea typeface="华文楷体" panose="02010600040101010101" pitchFamily="2" charset="-122"/>
                    <a:cs typeface="Times New Roman" panose="02020603050405020304" pitchFamily="18" charset="0"/>
                  </a:rPr>
                  <a:t>例</a:t>
                </a:r>
                <a:r>
                  <a:rPr kumimoji="0" lang="en-US" altLang="zh-CN" sz="2800" b="0" spc="300" dirty="0">
                    <a:solidFill>
                      <a:srgbClr val="0000FF"/>
                    </a:solidFill>
                    <a:ea typeface="华文楷体" panose="02010600040101010101" pitchFamily="2" charset="-122"/>
                    <a:cs typeface="Times New Roman" panose="02020603050405020304" pitchFamily="18" charset="0"/>
                  </a:rPr>
                  <a:t>12.4]</a:t>
                </a:r>
                <a:r>
                  <a:rPr lang="zh-CN" altLang="en-US" sz="2800" b="0" spc="300" dirty="0">
                    <a:ea typeface="华文楷体" panose="02010600040101010101" pitchFamily="2" charset="-122"/>
                    <a:cs typeface="Times New Roman" panose="02020603050405020304" pitchFamily="18" charset="0"/>
                  </a:rPr>
                  <a:t>求距离均匀带电细棒为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𝑎</m:t>
                    </m:r>
                  </m:oMath>
                </a14:m>
                <a:r>
                  <a:rPr lang="zh-CN" altLang="en-US" sz="2800" b="0" spc="300" dirty="0">
                    <a:ea typeface="华文楷体" panose="02010600040101010101" pitchFamily="2" charset="-122"/>
                    <a:cs typeface="Times New Roman" panose="02020603050405020304" pitchFamily="18" charset="0"/>
                  </a:rPr>
                  <a:t>的</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𝑝</m:t>
                    </m:r>
                  </m:oMath>
                </a14:m>
                <a:r>
                  <a:rPr lang="zh-CN" altLang="en-US" sz="2800" b="0" spc="300" dirty="0">
                    <a:ea typeface="华文楷体" panose="02010600040101010101" pitchFamily="2" charset="-122"/>
                    <a:cs typeface="Times New Roman" panose="02020603050405020304" pitchFamily="18" charset="0"/>
                  </a:rPr>
                  <a:t>点处电场强度</a:t>
                </a:r>
                <a:r>
                  <a:rPr lang="en-US" altLang="zh-CN" sz="2800" b="0" spc="300" dirty="0">
                    <a:ea typeface="华文楷体" panose="02010600040101010101" pitchFamily="2" charset="-122"/>
                    <a:cs typeface="Times New Roman" panose="02020603050405020304" pitchFamily="18" charset="0"/>
                  </a:rPr>
                  <a:t>.</a:t>
                </a:r>
                <a:r>
                  <a:rPr lang="zh-CN" altLang="en-US" sz="2800" b="0" spc="300" dirty="0">
                    <a:ea typeface="华文楷体" panose="02010600040101010101" pitchFamily="2" charset="-122"/>
                    <a:cs typeface="Times New Roman" panose="02020603050405020304" pitchFamily="18" charset="0"/>
                  </a:rPr>
                  <a:t>设棒长为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oMath>
                </a14:m>
                <a:r>
                  <a:rPr lang="zh-CN" altLang="en-US" sz="2800" b="0" spc="300" dirty="0">
                    <a:ea typeface="华文楷体" panose="02010600040101010101" pitchFamily="2" charset="-122"/>
                    <a:cs typeface="Times New Roman" panose="02020603050405020304" pitchFamily="18" charset="0"/>
                  </a:rPr>
                  <a:t>，带电量</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oMath>
                </a14:m>
                <a:r>
                  <a:rPr lang="zh-CN" altLang="en-US" sz="2800" b="0" spc="300" dirty="0">
                    <a:ea typeface="华文楷体" panose="02010600040101010101" pitchFamily="2" charset="-122"/>
                    <a:cs typeface="Times New Roman" panose="02020603050405020304" pitchFamily="18" charset="0"/>
                  </a:rPr>
                  <a:t>，电荷线密度为</a:t>
                </a:r>
                <a14:m>
                  <m:oMath xmlns:m="http://schemas.openxmlformats.org/officeDocument/2006/math">
                    <m:r>
                      <a:rPr lang="zh-CN" altLang="en-US" sz="2800" b="0" i="1" spc="300" dirty="0">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oMath>
                </a14:m>
                <a:endParaRPr lang="zh-CN" altLang="en-US" sz="2800" b="0" spc="300" dirty="0">
                  <a:ea typeface="华文楷体" panose="02010600040101010101" pitchFamily="2" charset="-122"/>
                  <a:cs typeface="Times New Roman" panose="02020603050405020304" pitchFamily="18" charset="0"/>
                </a:endParaRPr>
              </a:p>
            </p:txBody>
          </p:sp>
        </mc:Choice>
        <mc:Fallback xmlns="">
          <p:sp>
            <p:nvSpPr>
              <p:cNvPr id="13" name="Text Box 37">
                <a:extLst>
                  <a:ext uri="{FF2B5EF4-FFF2-40B4-BE49-F238E27FC236}">
                    <a16:creationId xmlns:a16="http://schemas.microsoft.com/office/drawing/2014/main" id="{8F823D22-1F28-4782-9BFE-88B5839B985C}"/>
                  </a:ext>
                </a:extLst>
              </p:cNvPr>
              <p:cNvSpPr txBox="1">
                <a:spLocks noRot="1" noChangeAspect="1" noMove="1" noResize="1" noEditPoints="1" noAdjustHandles="1" noChangeArrowheads="1" noChangeShapeType="1" noTextEdit="1"/>
              </p:cNvSpPr>
              <p:nvPr/>
            </p:nvSpPr>
            <p:spPr bwMode="auto">
              <a:xfrm>
                <a:off x="245862" y="681581"/>
                <a:ext cx="10263388" cy="1094852"/>
              </a:xfrm>
              <a:prstGeom prst="rect">
                <a:avLst/>
              </a:prstGeom>
              <a:blipFill>
                <a:blip r:embed="rId3"/>
                <a:stretch>
                  <a:fillRect l="-1188" t="-2235" b="-150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4" name="图片 13">
            <a:extLst>
              <a:ext uri="{FF2B5EF4-FFF2-40B4-BE49-F238E27FC236}">
                <a16:creationId xmlns:a16="http://schemas.microsoft.com/office/drawing/2014/main" id="{A340377C-D7E7-4FBB-83A6-7ECD4172F864}"/>
              </a:ext>
            </a:extLst>
          </p:cNvPr>
          <p:cNvPicPr>
            <a:picLocks noChangeAspect="1"/>
          </p:cNvPicPr>
          <p:nvPr/>
        </p:nvPicPr>
        <p:blipFill>
          <a:blip r:embed="rId4"/>
          <a:stretch>
            <a:fillRect/>
          </a:stretch>
        </p:blipFill>
        <p:spPr>
          <a:xfrm>
            <a:off x="531916" y="1871993"/>
            <a:ext cx="3987130" cy="3420152"/>
          </a:xfrm>
          <a:prstGeom prst="rect">
            <a:avLst/>
          </a:prstGeom>
          <a:ln>
            <a:noFill/>
          </a:ln>
          <a:effectLst>
            <a:outerShdw blurRad="190500" algn="tl" rotWithShape="0">
              <a:srgbClr val="000000">
                <a:alpha val="70000"/>
              </a:srgbClr>
            </a:outerShdw>
          </a:effectLst>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F52D90B3-5B31-4948-AA16-8DDCD432B03A}"/>
                  </a:ext>
                </a:extLst>
              </p:cNvPr>
              <p:cNvSpPr/>
              <p:nvPr/>
            </p:nvSpPr>
            <p:spPr>
              <a:xfrm>
                <a:off x="4519046" y="2823105"/>
                <a:ext cx="6795755" cy="1222514"/>
              </a:xfrm>
              <a:prstGeom prst="rect">
                <a:avLst/>
              </a:prstGeom>
            </p:spPr>
            <p:txBody>
              <a:bodyPr wrap="square">
                <a:spAutoFit/>
              </a:bodyPr>
              <a:lstStyle/>
              <a:p>
                <a:pPr defTabSz="457200">
                  <a:defRPr/>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𝐸</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𝑥</m:t>
                          </m:r>
                        </m:sub>
                      </m:s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num>
                        <m:den>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2</m:t>
                              </m:r>
                            </m:sup>
                          </m:sSup>
                        </m:den>
                      </m:f>
                      <m:func>
                        <m:func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uncPr>
                        <m:fNa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𝑐𝑜𝑠</m:t>
                          </m:r>
                        </m:fName>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𝜃</m:t>
                          </m:r>
                        </m:e>
                      </m:func>
                      <m:r>
                        <a:rPr lang="en-US" altLang="zh-CN" sz="2800"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𝐸</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𝑥</m:t>
                          </m:r>
                        </m:sub>
                      </m:s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nary>
                        <m:naryPr>
                          <m:limLoc m:val="undOvr"/>
                          <m:subHide m:val="on"/>
                          <m:supHide m:val="on"/>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naryPr>
                        <m:sub/>
                        <m:sup/>
                        <m:e>
                          <m:f>
                            <m:f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func>
                                <m:func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uncPr>
                                <m:fNa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𝑐𝑜𝑠</m:t>
                                  </m:r>
                                </m:fName>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𝜃</m:t>
                                  </m:r>
                                </m:e>
                              </m:func>
                            </m:num>
                            <m:den>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2</m:t>
                                  </m:r>
                                </m:sup>
                              </m:sSup>
                            </m:den>
                          </m:f>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e>
                      </m:nary>
                    </m:oMath>
                  </m:oMathPara>
                </a14:m>
                <a:endParaRPr lang="zh-CN" altLang="en-US" dirty="0">
                  <a:solidFill>
                    <a:srgbClr val="000000"/>
                  </a:solidFill>
                  <a:latin typeface="Calibri" panose="020F0502020204030204"/>
                  <a:ea typeface="宋体" panose="02010600030101010101" pitchFamily="2" charset="-122"/>
                </a:endParaRPr>
              </a:p>
            </p:txBody>
          </p:sp>
        </mc:Choice>
        <mc:Fallback xmlns="">
          <p:sp>
            <p:nvSpPr>
              <p:cNvPr id="7" name="矩形 6">
                <a:extLst>
                  <a:ext uri="{FF2B5EF4-FFF2-40B4-BE49-F238E27FC236}">
                    <a16:creationId xmlns:a16="http://schemas.microsoft.com/office/drawing/2014/main" id="{F52D90B3-5B31-4948-AA16-8DDCD432B03A}"/>
                  </a:ext>
                </a:extLst>
              </p:cNvPr>
              <p:cNvSpPr>
                <a:spLocks noRot="1" noChangeAspect="1" noMove="1" noResize="1" noEditPoints="1" noAdjustHandles="1" noChangeArrowheads="1" noChangeShapeType="1" noTextEdit="1"/>
              </p:cNvSpPr>
              <p:nvPr/>
            </p:nvSpPr>
            <p:spPr>
              <a:xfrm>
                <a:off x="4519046" y="2823105"/>
                <a:ext cx="6795755" cy="122251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标题 1">
                <a:extLst>
                  <a:ext uri="{FF2B5EF4-FFF2-40B4-BE49-F238E27FC236}">
                    <a16:creationId xmlns:a16="http://schemas.microsoft.com/office/drawing/2014/main" id="{3FE8731A-F68F-454F-976B-C21F0C8B6826}"/>
                  </a:ext>
                </a:extLst>
              </p:cNvPr>
              <p:cNvSpPr txBox="1">
                <a:spLocks/>
              </p:cNvSpPr>
              <p:nvPr/>
            </p:nvSpPr>
            <p:spPr>
              <a:xfrm>
                <a:off x="4721170" y="4175278"/>
                <a:ext cx="7470830" cy="145075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华文新魏" panose="02010800040101010101" pitchFamily="2" charset="-122"/>
                        </a:rPr>
                        <m:t>𝑟</m:t>
                      </m:r>
                      <m:r>
                        <a:rPr lang="en-US" altLang="zh-CN" sz="2800" b="0" i="1" smtClean="0">
                          <a:latin typeface="Cambria Math" panose="02040503050406030204" pitchFamily="18" charset="0"/>
                          <a:ea typeface="华文新魏" panose="02010800040101010101" pitchFamily="2" charset="-122"/>
                        </a:rPr>
                        <m:t>=</m:t>
                      </m:r>
                      <m:f>
                        <m:fPr>
                          <m:type m:val="lin"/>
                          <m:ctrlPr>
                            <a:rPr lang="en-US" altLang="zh-CN" sz="2800" i="1">
                              <a:latin typeface="Cambria Math" panose="02040503050406030204" pitchFamily="18" charset="0"/>
                              <a:ea typeface="华文新魏" panose="02010800040101010101" pitchFamily="2" charset="-122"/>
                            </a:rPr>
                          </m:ctrlPr>
                        </m:fPr>
                        <m:num>
                          <m:r>
                            <a:rPr lang="en-US" altLang="zh-CN" sz="2800" b="0" i="1">
                              <a:latin typeface="Cambria Math" panose="02040503050406030204" pitchFamily="18" charset="0"/>
                              <a:ea typeface="华文新魏" panose="02010800040101010101" pitchFamily="2" charset="-122"/>
                            </a:rPr>
                            <m:t>𝑎</m:t>
                          </m:r>
                        </m:num>
                        <m:den>
                          <m:func>
                            <m:funcPr>
                              <m:ctrlPr>
                                <a:rPr lang="en-US" altLang="zh-CN" sz="2800" i="1">
                                  <a:latin typeface="Cambria Math" panose="02040503050406030204" pitchFamily="18" charset="0"/>
                                  <a:ea typeface="华文新魏" panose="02010800040101010101" pitchFamily="2" charset="-122"/>
                                </a:rPr>
                              </m:ctrlPr>
                            </m:funcPr>
                            <m:fName>
                              <m:r>
                                <a:rPr lang="en-US" altLang="zh-CN" sz="2800" b="0" i="1">
                                  <a:latin typeface="Cambria Math" panose="02040503050406030204" pitchFamily="18" charset="0"/>
                                  <a:ea typeface="华文新魏" panose="02010800040101010101" pitchFamily="2" charset="-122"/>
                                </a:rPr>
                                <m:t>𝑠𝑖𝑛</m:t>
                              </m:r>
                            </m:fName>
                            <m:e>
                              <m:r>
                                <a:rPr lang="zh-CN" altLang="en-US" sz="2800" b="0" i="1">
                                  <a:latin typeface="Cambria Math" panose="02040503050406030204" pitchFamily="18" charset="0"/>
                                  <a:ea typeface="华文新魏" panose="02010800040101010101" pitchFamily="2" charset="-122"/>
                                </a:rPr>
                                <m:t>𝜃</m:t>
                              </m:r>
                            </m:e>
                          </m:func>
                        </m:den>
                      </m:f>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𝑥</m:t>
                      </m:r>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𝑎</m:t>
                      </m:r>
                      <m:func>
                        <m:funcPr>
                          <m:ctrlPr>
                            <a:rPr lang="en-US" altLang="zh-CN" sz="2800" i="1">
                              <a:latin typeface="Cambria Math" panose="02040503050406030204" pitchFamily="18" charset="0"/>
                              <a:ea typeface="华文新魏" panose="02010800040101010101" pitchFamily="2" charset="-122"/>
                            </a:rPr>
                          </m:ctrlPr>
                        </m:funcPr>
                        <m:fName>
                          <m:r>
                            <a:rPr lang="en-US" altLang="zh-CN" sz="2800" b="0" i="1">
                              <a:latin typeface="Cambria Math" panose="02040503050406030204" pitchFamily="18" charset="0"/>
                              <a:ea typeface="华文新魏" panose="02010800040101010101" pitchFamily="2" charset="-122"/>
                            </a:rPr>
                            <m:t>𝑐𝑜𝑡</m:t>
                          </m:r>
                        </m:fName>
                        <m:e>
                          <m:r>
                            <a:rPr lang="zh-CN" altLang="en-US" sz="2800" b="0" i="1">
                              <a:latin typeface="Cambria Math" panose="02040503050406030204" pitchFamily="18" charset="0"/>
                              <a:ea typeface="华文新魏" panose="02010800040101010101" pitchFamily="2" charset="-122"/>
                            </a:rPr>
                            <m:t>𝜃</m:t>
                          </m:r>
                        </m:e>
                      </m:func>
                      <m:r>
                        <a:rPr lang="en-US" altLang="zh-CN" sz="2800" b="0" i="1">
                          <a:latin typeface="Cambria Math" panose="02040503050406030204" pitchFamily="18" charset="0"/>
                          <a:ea typeface="华文新魏" panose="02010800040101010101" pitchFamily="2" charset="-122"/>
                        </a:rPr>
                        <m:t>, </m:t>
                      </m:r>
                      <m:r>
                        <a:rPr lang="en-US" altLang="zh-CN" sz="2800" b="0" i="1">
                          <a:latin typeface="Cambria Math" panose="02040503050406030204" pitchFamily="18" charset="0"/>
                          <a:ea typeface="华文新魏" panose="02010800040101010101" pitchFamily="2" charset="-122"/>
                        </a:rPr>
                        <m:t>𝑑𝑥</m:t>
                      </m:r>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𝑎</m:t>
                      </m:r>
                      <m:func>
                        <m:funcPr>
                          <m:ctrlPr>
                            <a:rPr lang="en-US" altLang="zh-CN" sz="2800" i="1">
                              <a:latin typeface="Cambria Math" panose="02040503050406030204" pitchFamily="18" charset="0"/>
                              <a:ea typeface="华文新魏" panose="02010800040101010101" pitchFamily="2" charset="-122"/>
                            </a:rPr>
                          </m:ctrlPr>
                        </m:funcPr>
                        <m:fName>
                          <m:sSup>
                            <m:sSupPr>
                              <m:ctrlPr>
                                <a:rPr lang="en-US" altLang="zh-CN" sz="2800" i="1">
                                  <a:latin typeface="Cambria Math" panose="02040503050406030204" pitchFamily="18" charset="0"/>
                                  <a:ea typeface="华文新魏" panose="02010800040101010101" pitchFamily="2" charset="-122"/>
                                </a:rPr>
                              </m:ctrlPr>
                            </m:sSupPr>
                            <m:e>
                              <m:r>
                                <a:rPr lang="en-US" altLang="zh-CN" sz="2800" b="0" i="1">
                                  <a:latin typeface="Cambria Math" panose="02040503050406030204" pitchFamily="18" charset="0"/>
                                  <a:ea typeface="华文新魏" panose="02010800040101010101" pitchFamily="2" charset="-122"/>
                                </a:rPr>
                                <m:t>𝑐𝑠𝑐</m:t>
                              </m:r>
                            </m:e>
                            <m:sup>
                              <m:r>
                                <a:rPr lang="en-US" altLang="zh-CN" sz="2800" b="0" i="1">
                                  <a:latin typeface="Cambria Math" panose="02040503050406030204" pitchFamily="18" charset="0"/>
                                  <a:ea typeface="华文新魏" panose="02010800040101010101" pitchFamily="2" charset="-122"/>
                                </a:rPr>
                                <m:t>2</m:t>
                              </m:r>
                            </m:sup>
                          </m:sSup>
                        </m:fName>
                        <m:e>
                          <m:r>
                            <a:rPr lang="zh-CN" altLang="en-US" sz="2800" b="0" i="1">
                              <a:latin typeface="Cambria Math" panose="02040503050406030204" pitchFamily="18" charset="0"/>
                              <a:ea typeface="华文新魏" panose="02010800040101010101" pitchFamily="2" charset="-122"/>
                            </a:rPr>
                            <m:t>𝜃</m:t>
                          </m:r>
                        </m:e>
                      </m:func>
                      <m:r>
                        <a:rPr lang="en-US" altLang="zh-CN" sz="2800" b="0" i="1">
                          <a:latin typeface="Cambria Math" panose="02040503050406030204" pitchFamily="18" charset="0"/>
                          <a:ea typeface="华文新魏" panose="02010800040101010101" pitchFamily="2" charset="-122"/>
                        </a:rPr>
                        <m:t>𝑑</m:t>
                      </m:r>
                      <m:r>
                        <a:rPr lang="zh-CN" altLang="en-US" sz="2800" b="0" i="1">
                          <a:latin typeface="Cambria Math" panose="02040503050406030204" pitchFamily="18" charset="0"/>
                          <a:ea typeface="华文新魏" panose="02010800040101010101" pitchFamily="2" charset="-122"/>
                        </a:rPr>
                        <m:t>𝜃</m:t>
                      </m:r>
                    </m:oMath>
                  </m:oMathPara>
                </a14:m>
                <a:endParaRPr lang="zh-CN" altLang="en-US" sz="2800" dirty="0"/>
              </a:p>
            </p:txBody>
          </p:sp>
        </mc:Choice>
        <mc:Fallback xmlns="">
          <p:sp>
            <p:nvSpPr>
              <p:cNvPr id="8" name="标题 1">
                <a:extLst>
                  <a:ext uri="{FF2B5EF4-FFF2-40B4-BE49-F238E27FC236}">
                    <a16:creationId xmlns:a16="http://schemas.microsoft.com/office/drawing/2014/main" id="{3FE8731A-F68F-454F-976B-C21F0C8B6826}"/>
                  </a:ext>
                </a:extLst>
              </p:cNvPr>
              <p:cNvSpPr txBox="1">
                <a:spLocks noRot="1" noChangeAspect="1" noMove="1" noResize="1" noEditPoints="1" noAdjustHandles="1" noChangeArrowheads="1" noChangeShapeType="1" noTextEdit="1"/>
              </p:cNvSpPr>
              <p:nvPr/>
            </p:nvSpPr>
            <p:spPr>
              <a:xfrm>
                <a:off x="4721170" y="4175278"/>
                <a:ext cx="7470830" cy="1450757"/>
              </a:xfrm>
              <a:prstGeom prst="rect">
                <a:avLst/>
              </a:prstGeom>
              <a:blipFill>
                <a:blip r:embed="rId6"/>
                <a:stretch>
                  <a:fillRect t="-47899" b="-2521"/>
                </a:stretch>
              </a:blipFill>
            </p:spPr>
            <p:txBody>
              <a:bodyPr/>
              <a:lstStyle/>
              <a:p>
                <a:r>
                  <a:rPr lang="en-US">
                    <a:noFill/>
                  </a:rPr>
                  <a:t> </a:t>
                </a:r>
              </a:p>
            </p:txBody>
          </p:sp>
        </mc:Fallback>
      </mc:AlternateContent>
    </p:spTree>
    <p:extLst>
      <p:ext uri="{BB962C8B-B14F-4D97-AF65-F5344CB8AC3E}">
        <p14:creationId xmlns:p14="http://schemas.microsoft.com/office/powerpoint/2010/main" val="99006658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 Box 37">
                <a:extLst>
                  <a:ext uri="{FF2B5EF4-FFF2-40B4-BE49-F238E27FC236}">
                    <a16:creationId xmlns:a16="http://schemas.microsoft.com/office/drawing/2014/main" id="{8F823D22-1F28-4782-9BFE-88B5839B985C}"/>
                  </a:ext>
                </a:extLst>
              </p:cNvPr>
              <p:cNvSpPr txBox="1">
                <a:spLocks noChangeArrowheads="1"/>
              </p:cNvSpPr>
              <p:nvPr/>
            </p:nvSpPr>
            <p:spPr bwMode="auto">
              <a:xfrm>
                <a:off x="245862" y="681581"/>
                <a:ext cx="10263388" cy="1094852"/>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0" lang="en-US" altLang="zh-CN" sz="2800" b="0" spc="300" dirty="0">
                    <a:solidFill>
                      <a:srgbClr val="0000FF"/>
                    </a:solidFill>
                    <a:ea typeface="华文楷体" panose="02010600040101010101" pitchFamily="2" charset="-122"/>
                    <a:cs typeface="Times New Roman" panose="02020603050405020304" pitchFamily="18" charset="0"/>
                  </a:rPr>
                  <a:t>[</a:t>
                </a:r>
                <a:r>
                  <a:rPr kumimoji="0" lang="zh-CN" altLang="en-US" sz="2800" b="0" spc="300" dirty="0">
                    <a:solidFill>
                      <a:srgbClr val="0000FF"/>
                    </a:solidFill>
                    <a:ea typeface="华文楷体" panose="02010600040101010101" pitchFamily="2" charset="-122"/>
                    <a:cs typeface="Times New Roman" panose="02020603050405020304" pitchFamily="18" charset="0"/>
                  </a:rPr>
                  <a:t>例</a:t>
                </a:r>
                <a:r>
                  <a:rPr kumimoji="0" lang="en-US" altLang="zh-CN" sz="2800" b="0" spc="300" dirty="0">
                    <a:solidFill>
                      <a:srgbClr val="0000FF"/>
                    </a:solidFill>
                    <a:ea typeface="华文楷体" panose="02010600040101010101" pitchFamily="2" charset="-122"/>
                    <a:cs typeface="Times New Roman" panose="02020603050405020304" pitchFamily="18" charset="0"/>
                  </a:rPr>
                  <a:t>12.4]</a:t>
                </a:r>
                <a:r>
                  <a:rPr lang="zh-CN" altLang="en-US" sz="2800" b="0" spc="300" dirty="0">
                    <a:ea typeface="华文楷体" panose="02010600040101010101" pitchFamily="2" charset="-122"/>
                    <a:cs typeface="Times New Roman" panose="02020603050405020304" pitchFamily="18" charset="0"/>
                  </a:rPr>
                  <a:t>求距离均匀带电细棒为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𝑎</m:t>
                    </m:r>
                  </m:oMath>
                </a14:m>
                <a:r>
                  <a:rPr lang="zh-CN" altLang="en-US" sz="2800" b="0" spc="300" dirty="0">
                    <a:ea typeface="华文楷体" panose="02010600040101010101" pitchFamily="2" charset="-122"/>
                    <a:cs typeface="Times New Roman" panose="02020603050405020304" pitchFamily="18" charset="0"/>
                  </a:rPr>
                  <a:t>的</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𝑝</m:t>
                    </m:r>
                  </m:oMath>
                </a14:m>
                <a:r>
                  <a:rPr lang="zh-CN" altLang="en-US" sz="2800" b="0" spc="300" dirty="0">
                    <a:ea typeface="华文楷体" panose="02010600040101010101" pitchFamily="2" charset="-122"/>
                    <a:cs typeface="Times New Roman" panose="02020603050405020304" pitchFamily="18" charset="0"/>
                  </a:rPr>
                  <a:t>点处电场强度</a:t>
                </a:r>
                <a:r>
                  <a:rPr lang="en-US" altLang="zh-CN" sz="2800" b="0" spc="300" dirty="0">
                    <a:ea typeface="华文楷体" panose="02010600040101010101" pitchFamily="2" charset="-122"/>
                    <a:cs typeface="Times New Roman" panose="02020603050405020304" pitchFamily="18" charset="0"/>
                  </a:rPr>
                  <a:t>.</a:t>
                </a:r>
                <a:r>
                  <a:rPr lang="zh-CN" altLang="en-US" sz="2800" b="0" spc="300" dirty="0">
                    <a:ea typeface="华文楷体" panose="02010600040101010101" pitchFamily="2" charset="-122"/>
                    <a:cs typeface="Times New Roman" panose="02020603050405020304" pitchFamily="18" charset="0"/>
                  </a:rPr>
                  <a:t>设棒长为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oMath>
                </a14:m>
                <a:r>
                  <a:rPr lang="zh-CN" altLang="en-US" sz="2800" b="0" spc="300" dirty="0">
                    <a:ea typeface="华文楷体" panose="02010600040101010101" pitchFamily="2" charset="-122"/>
                    <a:cs typeface="Times New Roman" panose="02020603050405020304" pitchFamily="18" charset="0"/>
                  </a:rPr>
                  <a:t>，带电量</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oMath>
                </a14:m>
                <a:r>
                  <a:rPr lang="zh-CN" altLang="en-US" sz="2800" b="0" spc="300" dirty="0">
                    <a:ea typeface="华文楷体" panose="02010600040101010101" pitchFamily="2" charset="-122"/>
                    <a:cs typeface="Times New Roman" panose="02020603050405020304" pitchFamily="18" charset="0"/>
                  </a:rPr>
                  <a:t>，电荷线密度为</a:t>
                </a:r>
                <a14:m>
                  <m:oMath xmlns:m="http://schemas.openxmlformats.org/officeDocument/2006/math">
                    <m:r>
                      <a:rPr lang="zh-CN" altLang="en-US" sz="2800" b="0" i="1" spc="300" dirty="0">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oMath>
                </a14:m>
                <a:endParaRPr lang="zh-CN" altLang="en-US" sz="2800" b="0" spc="300" dirty="0">
                  <a:ea typeface="华文楷体" panose="02010600040101010101" pitchFamily="2" charset="-122"/>
                  <a:cs typeface="Times New Roman" panose="02020603050405020304" pitchFamily="18" charset="0"/>
                </a:endParaRPr>
              </a:p>
            </p:txBody>
          </p:sp>
        </mc:Choice>
        <mc:Fallback xmlns="">
          <p:sp>
            <p:nvSpPr>
              <p:cNvPr id="13" name="Text Box 37">
                <a:extLst>
                  <a:ext uri="{FF2B5EF4-FFF2-40B4-BE49-F238E27FC236}">
                    <a16:creationId xmlns:a16="http://schemas.microsoft.com/office/drawing/2014/main" id="{8F823D22-1F28-4782-9BFE-88B5839B985C}"/>
                  </a:ext>
                </a:extLst>
              </p:cNvPr>
              <p:cNvSpPr txBox="1">
                <a:spLocks noRot="1" noChangeAspect="1" noMove="1" noResize="1" noEditPoints="1" noAdjustHandles="1" noChangeArrowheads="1" noChangeShapeType="1" noTextEdit="1"/>
              </p:cNvSpPr>
              <p:nvPr/>
            </p:nvSpPr>
            <p:spPr bwMode="auto">
              <a:xfrm>
                <a:off x="245862" y="681581"/>
                <a:ext cx="10263388" cy="1094852"/>
              </a:xfrm>
              <a:prstGeom prst="rect">
                <a:avLst/>
              </a:prstGeom>
              <a:blipFill>
                <a:blip r:embed="rId2"/>
                <a:stretch>
                  <a:fillRect l="-1188" t="-2235" b="-150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图片 8">
            <a:extLst>
              <a:ext uri="{FF2B5EF4-FFF2-40B4-BE49-F238E27FC236}">
                <a16:creationId xmlns:a16="http://schemas.microsoft.com/office/drawing/2014/main" id="{B7CF0A3A-7914-4310-BB1A-8D1C90452F50}"/>
              </a:ext>
            </a:extLst>
          </p:cNvPr>
          <p:cNvPicPr>
            <a:picLocks noChangeAspect="1"/>
          </p:cNvPicPr>
          <p:nvPr/>
        </p:nvPicPr>
        <p:blipFill>
          <a:blip r:embed="rId3"/>
          <a:stretch>
            <a:fillRect/>
          </a:stretch>
        </p:blipFill>
        <p:spPr>
          <a:xfrm>
            <a:off x="465793" y="1896499"/>
            <a:ext cx="4255377" cy="3377477"/>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10" name="Rectangle 2">
                <a:extLst>
                  <a:ext uri="{FF2B5EF4-FFF2-40B4-BE49-F238E27FC236}">
                    <a16:creationId xmlns:a16="http://schemas.microsoft.com/office/drawing/2014/main" id="{852AD303-0456-494E-8D8D-00D5775B22A1}"/>
                  </a:ext>
                </a:extLst>
              </p:cNvPr>
              <p:cNvSpPr>
                <a:spLocks noChangeArrowheads="1"/>
              </p:cNvSpPr>
              <p:nvPr/>
            </p:nvSpPr>
            <p:spPr bwMode="auto">
              <a:xfrm>
                <a:off x="3471662" y="1776433"/>
                <a:ext cx="7572779" cy="98495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取线元</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𝑑𝑥</m:t>
                      </m:r>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𝑑𝑞</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r>
                        <a:rPr lang="zh-CN" altLang="en-US" sz="2800" b="0"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r>
                        <a:rPr lang="zh-CN" altLang="en-US" sz="2800" b="0" i="1" dirty="0">
                          <a:latin typeface="Cambria Math" panose="02040503050406030204" pitchFamily="18" charset="0"/>
                          <a:ea typeface="黑体" panose="02010609060101010101" pitchFamily="49" charset="-122"/>
                          <a:cs typeface="Times New Roman" panose="02020603050405020304" pitchFamily="18" charset="0"/>
                        </a:rPr>
                        <m:t>，则</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𝑑𝐸</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𝑑𝑥</m:t>
                          </m:r>
                        </m:num>
                        <m:den>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b="0" i="1">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latin typeface="Cambria Math" panose="02040503050406030204" pitchFamily="18" charset="0"/>
                                  <a:ea typeface="华文新魏" panose="02010800040101010101" pitchFamily="2" charset="-122"/>
                                  <a:cs typeface="Times New Roman" panose="02020603050405020304" pitchFamily="18" charset="0"/>
                                </a:rPr>
                                <m:t>2</m:t>
                              </m:r>
                            </m:sup>
                          </m:sSup>
                        </m:den>
                      </m:f>
                    </m:oMath>
                  </m:oMathPara>
                </a14:m>
                <a:endParaRPr lang="zh-CN" altLang="en-US" sz="2800" b="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10" name="Rectangle 2">
                <a:extLst>
                  <a:ext uri="{FF2B5EF4-FFF2-40B4-BE49-F238E27FC236}">
                    <a16:creationId xmlns:a16="http://schemas.microsoft.com/office/drawing/2014/main" id="{852AD303-0456-494E-8D8D-00D5775B22A1}"/>
                  </a:ext>
                </a:extLst>
              </p:cNvPr>
              <p:cNvSpPr>
                <a:spLocks noRot="1" noChangeAspect="1" noMove="1" noResize="1" noEditPoints="1" noAdjustHandles="1" noChangeArrowheads="1" noChangeShapeType="1" noTextEdit="1"/>
              </p:cNvSpPr>
              <p:nvPr/>
            </p:nvSpPr>
            <p:spPr bwMode="auto">
              <a:xfrm>
                <a:off x="3471662" y="1776433"/>
                <a:ext cx="7572779" cy="984951"/>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10BD59D-1255-4C3F-A494-8812A1AF2348}"/>
                  </a:ext>
                </a:extLst>
              </p:cNvPr>
              <p:cNvSpPr/>
              <p:nvPr/>
            </p:nvSpPr>
            <p:spPr>
              <a:xfrm>
                <a:off x="4519046" y="2823105"/>
                <a:ext cx="6795755" cy="1222514"/>
              </a:xfrm>
              <a:prstGeom prst="rect">
                <a:avLst/>
              </a:prstGeom>
            </p:spPr>
            <p:txBody>
              <a:bodyPr wrap="square">
                <a:spAutoFit/>
              </a:bodyPr>
              <a:lstStyle/>
              <a:p>
                <a:pPr defTabSz="457200">
                  <a:defRPr/>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𝐸</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𝑥</m:t>
                          </m:r>
                        </m:sub>
                      </m:s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num>
                        <m:den>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2</m:t>
                              </m:r>
                            </m:sup>
                          </m:sSup>
                        </m:den>
                      </m:f>
                      <m:func>
                        <m:func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uncPr>
                        <m:fNa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𝑐𝑜𝑠</m:t>
                          </m:r>
                        </m:fName>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𝜃</m:t>
                          </m:r>
                        </m:e>
                      </m:func>
                      <m:r>
                        <a:rPr lang="en-US" altLang="zh-CN" sz="2800" b="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𝐸</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𝑥</m:t>
                          </m:r>
                        </m:sub>
                      </m:s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nary>
                        <m:naryPr>
                          <m:limLoc m:val="undOvr"/>
                          <m:subHide m:val="on"/>
                          <m:supHide m:val="on"/>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naryPr>
                        <m:sub/>
                        <m:sup/>
                        <m:e>
                          <m:f>
                            <m:f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func>
                                <m:func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uncPr>
                                <m:fNa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𝑐𝑜𝑠</m:t>
                                  </m:r>
                                </m:fName>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𝜃</m:t>
                                  </m:r>
                                </m:e>
                              </m:func>
                            </m:num>
                            <m:den>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2</m:t>
                                  </m:r>
                                </m:sup>
                              </m:sSup>
                            </m:den>
                          </m:f>
                          <m:r>
                            <a:rPr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e>
                      </m:nary>
                    </m:oMath>
                  </m:oMathPara>
                </a14:m>
                <a:endParaRPr lang="zh-CN" altLang="en-US" dirty="0">
                  <a:solidFill>
                    <a:srgbClr val="000000"/>
                  </a:solidFill>
                  <a:latin typeface="Calibri" panose="020F0502020204030204"/>
                  <a:ea typeface="宋体" panose="02010600030101010101" pitchFamily="2" charset="-122"/>
                </a:endParaRPr>
              </a:p>
            </p:txBody>
          </p:sp>
        </mc:Choice>
        <mc:Fallback xmlns="">
          <p:sp>
            <p:nvSpPr>
              <p:cNvPr id="11" name="矩形 10">
                <a:extLst>
                  <a:ext uri="{FF2B5EF4-FFF2-40B4-BE49-F238E27FC236}">
                    <a16:creationId xmlns:a16="http://schemas.microsoft.com/office/drawing/2014/main" id="{710BD59D-1255-4C3F-A494-8812A1AF2348}"/>
                  </a:ext>
                </a:extLst>
              </p:cNvPr>
              <p:cNvSpPr>
                <a:spLocks noRot="1" noChangeAspect="1" noMove="1" noResize="1" noEditPoints="1" noAdjustHandles="1" noChangeArrowheads="1" noChangeShapeType="1" noTextEdit="1"/>
              </p:cNvSpPr>
              <p:nvPr/>
            </p:nvSpPr>
            <p:spPr>
              <a:xfrm>
                <a:off x="4519046" y="2823105"/>
                <a:ext cx="6795755" cy="122251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标题 1">
                <a:extLst>
                  <a:ext uri="{FF2B5EF4-FFF2-40B4-BE49-F238E27FC236}">
                    <a16:creationId xmlns:a16="http://schemas.microsoft.com/office/drawing/2014/main" id="{92A5C9C6-82A3-41DB-9F0E-6F4ED8B7ADC0}"/>
                  </a:ext>
                </a:extLst>
              </p:cNvPr>
              <p:cNvSpPr txBox="1">
                <a:spLocks/>
              </p:cNvSpPr>
              <p:nvPr/>
            </p:nvSpPr>
            <p:spPr>
              <a:xfrm>
                <a:off x="4721170" y="4175278"/>
                <a:ext cx="7470830" cy="145075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华文新魏" panose="02010800040101010101" pitchFamily="2" charset="-122"/>
                        </a:rPr>
                        <m:t>𝑟</m:t>
                      </m:r>
                      <m:r>
                        <a:rPr lang="en-US" altLang="zh-CN" sz="2800" b="0" i="1" smtClean="0">
                          <a:latin typeface="Cambria Math" panose="02040503050406030204" pitchFamily="18" charset="0"/>
                          <a:ea typeface="华文新魏" panose="02010800040101010101" pitchFamily="2" charset="-122"/>
                        </a:rPr>
                        <m:t>=</m:t>
                      </m:r>
                      <m:f>
                        <m:fPr>
                          <m:type m:val="lin"/>
                          <m:ctrlPr>
                            <a:rPr lang="en-US" altLang="zh-CN" sz="2800" i="1">
                              <a:latin typeface="Cambria Math" panose="02040503050406030204" pitchFamily="18" charset="0"/>
                              <a:ea typeface="华文新魏" panose="02010800040101010101" pitchFamily="2" charset="-122"/>
                            </a:rPr>
                          </m:ctrlPr>
                        </m:fPr>
                        <m:num>
                          <m:r>
                            <a:rPr lang="en-US" altLang="zh-CN" sz="2800" b="0" i="1">
                              <a:latin typeface="Cambria Math" panose="02040503050406030204" pitchFamily="18" charset="0"/>
                              <a:ea typeface="华文新魏" panose="02010800040101010101" pitchFamily="2" charset="-122"/>
                            </a:rPr>
                            <m:t>𝑎</m:t>
                          </m:r>
                        </m:num>
                        <m:den>
                          <m:func>
                            <m:funcPr>
                              <m:ctrlPr>
                                <a:rPr lang="en-US" altLang="zh-CN" sz="2800" i="1">
                                  <a:latin typeface="Cambria Math" panose="02040503050406030204" pitchFamily="18" charset="0"/>
                                  <a:ea typeface="华文新魏" panose="02010800040101010101" pitchFamily="2" charset="-122"/>
                                </a:rPr>
                              </m:ctrlPr>
                            </m:funcPr>
                            <m:fName>
                              <m:r>
                                <a:rPr lang="en-US" altLang="zh-CN" sz="2800" b="0" i="1">
                                  <a:latin typeface="Cambria Math" panose="02040503050406030204" pitchFamily="18" charset="0"/>
                                  <a:ea typeface="华文新魏" panose="02010800040101010101" pitchFamily="2" charset="-122"/>
                                </a:rPr>
                                <m:t>𝑠𝑖𝑛</m:t>
                              </m:r>
                            </m:fName>
                            <m:e>
                              <m:r>
                                <a:rPr lang="zh-CN" altLang="en-US" sz="2800" b="0" i="1">
                                  <a:latin typeface="Cambria Math" panose="02040503050406030204" pitchFamily="18" charset="0"/>
                                  <a:ea typeface="华文新魏" panose="02010800040101010101" pitchFamily="2" charset="-122"/>
                                </a:rPr>
                                <m:t>𝜃</m:t>
                              </m:r>
                            </m:e>
                          </m:func>
                        </m:den>
                      </m:f>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𝑥</m:t>
                      </m:r>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𝑎</m:t>
                      </m:r>
                      <m:func>
                        <m:funcPr>
                          <m:ctrlPr>
                            <a:rPr lang="en-US" altLang="zh-CN" sz="2800" i="1">
                              <a:latin typeface="Cambria Math" panose="02040503050406030204" pitchFamily="18" charset="0"/>
                              <a:ea typeface="华文新魏" panose="02010800040101010101" pitchFamily="2" charset="-122"/>
                            </a:rPr>
                          </m:ctrlPr>
                        </m:funcPr>
                        <m:fName>
                          <m:r>
                            <a:rPr lang="en-US" altLang="zh-CN" sz="2800" b="0" i="1">
                              <a:latin typeface="Cambria Math" panose="02040503050406030204" pitchFamily="18" charset="0"/>
                              <a:ea typeface="华文新魏" panose="02010800040101010101" pitchFamily="2" charset="-122"/>
                            </a:rPr>
                            <m:t>𝑐𝑜𝑡</m:t>
                          </m:r>
                        </m:fName>
                        <m:e>
                          <m:r>
                            <a:rPr lang="zh-CN" altLang="en-US" sz="2800" b="0" i="1">
                              <a:latin typeface="Cambria Math" panose="02040503050406030204" pitchFamily="18" charset="0"/>
                              <a:ea typeface="华文新魏" panose="02010800040101010101" pitchFamily="2" charset="-122"/>
                            </a:rPr>
                            <m:t>𝜃</m:t>
                          </m:r>
                        </m:e>
                      </m:func>
                      <m:r>
                        <a:rPr lang="en-US" altLang="zh-CN" sz="2800" b="0" i="1">
                          <a:latin typeface="Cambria Math" panose="02040503050406030204" pitchFamily="18" charset="0"/>
                          <a:ea typeface="华文新魏" panose="02010800040101010101" pitchFamily="2" charset="-122"/>
                        </a:rPr>
                        <m:t>, </m:t>
                      </m:r>
                      <m:r>
                        <a:rPr lang="en-US" altLang="zh-CN" sz="2800" b="0" i="1">
                          <a:latin typeface="Cambria Math" panose="02040503050406030204" pitchFamily="18" charset="0"/>
                          <a:ea typeface="华文新魏" panose="02010800040101010101" pitchFamily="2" charset="-122"/>
                        </a:rPr>
                        <m:t>𝑑𝑥</m:t>
                      </m:r>
                      <m:r>
                        <a:rPr lang="en-US" altLang="zh-CN" sz="2800" b="0" i="1">
                          <a:latin typeface="Cambria Math" panose="02040503050406030204" pitchFamily="18" charset="0"/>
                          <a:ea typeface="华文新魏" panose="02010800040101010101" pitchFamily="2" charset="-122"/>
                        </a:rPr>
                        <m:t>=</m:t>
                      </m:r>
                      <m:r>
                        <a:rPr lang="en-US" altLang="zh-CN" sz="2800" b="0" i="1">
                          <a:latin typeface="Cambria Math" panose="02040503050406030204" pitchFamily="18" charset="0"/>
                          <a:ea typeface="华文新魏" panose="02010800040101010101" pitchFamily="2" charset="-122"/>
                        </a:rPr>
                        <m:t>𝑎</m:t>
                      </m:r>
                      <m:func>
                        <m:funcPr>
                          <m:ctrlPr>
                            <a:rPr lang="en-US" altLang="zh-CN" sz="2800" i="1">
                              <a:latin typeface="Cambria Math" panose="02040503050406030204" pitchFamily="18" charset="0"/>
                              <a:ea typeface="华文新魏" panose="02010800040101010101" pitchFamily="2" charset="-122"/>
                            </a:rPr>
                          </m:ctrlPr>
                        </m:funcPr>
                        <m:fName>
                          <m:sSup>
                            <m:sSupPr>
                              <m:ctrlPr>
                                <a:rPr lang="en-US" altLang="zh-CN" sz="2800" i="1">
                                  <a:latin typeface="Cambria Math" panose="02040503050406030204" pitchFamily="18" charset="0"/>
                                  <a:ea typeface="华文新魏" panose="02010800040101010101" pitchFamily="2" charset="-122"/>
                                </a:rPr>
                              </m:ctrlPr>
                            </m:sSupPr>
                            <m:e>
                              <m:r>
                                <a:rPr lang="en-US" altLang="zh-CN" sz="2800" b="0" i="1">
                                  <a:latin typeface="Cambria Math" panose="02040503050406030204" pitchFamily="18" charset="0"/>
                                  <a:ea typeface="华文新魏" panose="02010800040101010101" pitchFamily="2" charset="-122"/>
                                </a:rPr>
                                <m:t>𝑐𝑠𝑐</m:t>
                              </m:r>
                            </m:e>
                            <m:sup>
                              <m:r>
                                <a:rPr lang="en-US" altLang="zh-CN" sz="2800" b="0" i="1">
                                  <a:latin typeface="Cambria Math" panose="02040503050406030204" pitchFamily="18" charset="0"/>
                                  <a:ea typeface="华文新魏" panose="02010800040101010101" pitchFamily="2" charset="-122"/>
                                </a:rPr>
                                <m:t>2</m:t>
                              </m:r>
                            </m:sup>
                          </m:sSup>
                        </m:fName>
                        <m:e>
                          <m:r>
                            <a:rPr lang="zh-CN" altLang="en-US" sz="2800" b="0" i="1">
                              <a:latin typeface="Cambria Math" panose="02040503050406030204" pitchFamily="18" charset="0"/>
                              <a:ea typeface="华文新魏" panose="02010800040101010101" pitchFamily="2" charset="-122"/>
                            </a:rPr>
                            <m:t>𝜃</m:t>
                          </m:r>
                        </m:e>
                      </m:func>
                      <m:r>
                        <a:rPr lang="en-US" altLang="zh-CN" sz="2800" b="0" i="1">
                          <a:latin typeface="Cambria Math" panose="02040503050406030204" pitchFamily="18" charset="0"/>
                          <a:ea typeface="华文新魏" panose="02010800040101010101" pitchFamily="2" charset="-122"/>
                        </a:rPr>
                        <m:t>𝑑</m:t>
                      </m:r>
                      <m:r>
                        <a:rPr lang="zh-CN" altLang="en-US" sz="2800" b="0" i="1">
                          <a:latin typeface="Cambria Math" panose="02040503050406030204" pitchFamily="18" charset="0"/>
                          <a:ea typeface="华文新魏" panose="02010800040101010101" pitchFamily="2" charset="-122"/>
                        </a:rPr>
                        <m:t>𝜃</m:t>
                      </m:r>
                    </m:oMath>
                  </m:oMathPara>
                </a14:m>
                <a:endParaRPr lang="zh-CN" altLang="en-US" sz="2800" dirty="0"/>
              </a:p>
            </p:txBody>
          </p:sp>
        </mc:Choice>
        <mc:Fallback xmlns="">
          <p:sp>
            <p:nvSpPr>
              <p:cNvPr id="15" name="标题 1">
                <a:extLst>
                  <a:ext uri="{FF2B5EF4-FFF2-40B4-BE49-F238E27FC236}">
                    <a16:creationId xmlns:a16="http://schemas.microsoft.com/office/drawing/2014/main" id="{92A5C9C6-82A3-41DB-9F0E-6F4ED8B7ADC0}"/>
                  </a:ext>
                </a:extLst>
              </p:cNvPr>
              <p:cNvSpPr txBox="1">
                <a:spLocks noRot="1" noChangeAspect="1" noMove="1" noResize="1" noEditPoints="1" noAdjustHandles="1" noChangeArrowheads="1" noChangeShapeType="1" noTextEdit="1"/>
              </p:cNvSpPr>
              <p:nvPr/>
            </p:nvSpPr>
            <p:spPr>
              <a:xfrm>
                <a:off x="4721170" y="4175278"/>
                <a:ext cx="7470830" cy="1450757"/>
              </a:xfrm>
              <a:prstGeom prst="rect">
                <a:avLst/>
              </a:prstGeom>
              <a:blipFill>
                <a:blip r:embed="rId6"/>
                <a:stretch>
                  <a:fillRect t="-47899" b="-2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31E1E63F-472D-4F61-A06A-AB09733392BF}"/>
                  </a:ext>
                </a:extLst>
              </p:cNvPr>
              <p:cNvSpPr txBox="1">
                <a:spLocks/>
              </p:cNvSpPr>
              <p:nvPr/>
            </p:nvSpPr>
            <p:spPr>
              <a:xfrm>
                <a:off x="1496930" y="5273976"/>
                <a:ext cx="10491870" cy="14507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𝐸</m:t>
                          </m:r>
                        </m:e>
                        <m:sub>
                          <m:r>
                            <a:rPr lang="en-US" altLang="zh-CN" b="0" i="1" smtClean="0">
                              <a:latin typeface="Cambria Math" panose="02040503050406030204" pitchFamily="18" charset="0"/>
                              <a:ea typeface="华文新魏" panose="02010800040101010101" pitchFamily="2" charset="-122"/>
                            </a:rPr>
                            <m:t>𝑥</m:t>
                          </m:r>
                        </m:sub>
                      </m:sSub>
                      <m:r>
                        <a:rPr lang="en-US" altLang="zh-CN" b="0" i="1" smtClean="0">
                          <a:latin typeface="Cambria Math" panose="02040503050406030204" pitchFamily="18" charset="0"/>
                          <a:ea typeface="华文新魏" panose="02010800040101010101" pitchFamily="2" charset="-122"/>
                        </a:rPr>
                        <m:t>=</m:t>
                      </m:r>
                      <m:nary>
                        <m:naryPr>
                          <m:limLoc m:val="undOvr"/>
                          <m:subHide m:val="on"/>
                          <m:supHide m:val="on"/>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naryPr>
                        <m:sub/>
                        <m:sup/>
                        <m:e>
                          <m:f>
                            <m:fPr>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Pr>
                            <m:num>
                              <m:r>
                                <a:rPr lang="zh-CN" altLang="en-US"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𝜆</m:t>
                              </m:r>
                              <m:func>
                                <m:funcPr>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funcPr>
                                <m:fName>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𝑐𝑜𝑠</m:t>
                                  </m:r>
                                </m:fName>
                                <m:e>
                                  <m:r>
                                    <a:rPr lang="zh-CN" altLang="en-US"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𝜃</m:t>
                                  </m:r>
                                </m:e>
                              </m:func>
                            </m:num>
                            <m:den>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4</m:t>
                              </m:r>
                              <m:r>
                                <a:rPr lang="zh-CN" altLang="en-US"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𝜋</m:t>
                              </m:r>
                              <m:sSub>
                                <m:sSubPr>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0</m:t>
                                  </m:r>
                                </m:sub>
                              </m:sSub>
                              <m:sSup>
                                <m:sSupPr>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pPr>
                                <m:e>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𝑟</m:t>
                                  </m:r>
                                </m:e>
                                <m:sup>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2</m:t>
                                  </m:r>
                                </m:sup>
                              </m:sSup>
                            </m:den>
                          </m:f>
                          <m:r>
                            <a:rPr lang="en-US" altLang="zh-CN" b="0" i="1" smtClean="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𝑑𝑥</m:t>
                          </m:r>
                        </m:e>
                      </m:nary>
                      <m:r>
                        <a:rPr lang="en-US" altLang="zh-CN" b="0" i="1" smtClean="0">
                          <a:solidFill>
                            <a:srgbClr val="000000"/>
                          </a:solidFill>
                          <a:latin typeface="Cambria Math" panose="02040503050406030204" pitchFamily="18" charset="0"/>
                          <a:ea typeface="华文新魏" panose="02010800040101010101" pitchFamily="2" charset="-122"/>
                        </a:rPr>
                        <m:t>=</m:t>
                      </m:r>
                      <m:f>
                        <m:fPr>
                          <m:ctrlPr>
                            <a:rPr lang="en-US" altLang="zh-CN" i="1">
                              <a:solidFill>
                                <a:srgbClr val="000000"/>
                              </a:solidFill>
                              <a:latin typeface="Cambria Math" panose="02040503050406030204" pitchFamily="18" charset="0"/>
                              <a:ea typeface="华文新魏" panose="02010800040101010101" pitchFamily="2" charset="-122"/>
                            </a:rPr>
                          </m:ctrlPr>
                        </m:fPr>
                        <m:num>
                          <m:r>
                            <a:rPr lang="zh-CN" altLang="en-US" b="0" i="1" smtClean="0">
                              <a:solidFill>
                                <a:srgbClr val="000000"/>
                              </a:solidFill>
                              <a:latin typeface="Cambria Math" panose="02040503050406030204" pitchFamily="18" charset="0"/>
                              <a:ea typeface="华文新魏" panose="02010800040101010101" pitchFamily="2" charset="-122"/>
                            </a:rPr>
                            <m:t>𝜆</m:t>
                          </m:r>
                        </m:num>
                        <m:den>
                          <m:r>
                            <a:rPr lang="en-US" altLang="zh-CN" b="0" i="1" smtClean="0">
                              <a:solidFill>
                                <a:srgbClr val="000000"/>
                              </a:solidFill>
                              <a:latin typeface="Cambria Math" panose="02040503050406030204" pitchFamily="18" charset="0"/>
                              <a:ea typeface="华文新魏" panose="02010800040101010101" pitchFamily="2" charset="-122"/>
                            </a:rPr>
                            <m:t>4</m:t>
                          </m:r>
                          <m:r>
                            <a:rPr lang="zh-CN" altLang="en-US" b="0" i="1" smtClean="0">
                              <a:solidFill>
                                <a:srgbClr val="000000"/>
                              </a:solidFill>
                              <a:latin typeface="Cambria Math" panose="02040503050406030204" pitchFamily="18" charset="0"/>
                              <a:ea typeface="华文新魏" panose="02010800040101010101" pitchFamily="2" charset="-122"/>
                            </a:rPr>
                            <m:t>𝜋</m:t>
                          </m:r>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𝜀</m:t>
                              </m:r>
                            </m:e>
                            <m:sub>
                              <m:r>
                                <a:rPr lang="en-US" altLang="zh-CN" b="0" i="1" smtClean="0">
                                  <a:solidFill>
                                    <a:srgbClr val="000000"/>
                                  </a:solidFill>
                                  <a:latin typeface="Cambria Math" panose="02040503050406030204" pitchFamily="18" charset="0"/>
                                  <a:ea typeface="华文新魏" panose="02010800040101010101" pitchFamily="2" charset="-122"/>
                                </a:rPr>
                                <m:t>0</m:t>
                              </m:r>
                            </m:sub>
                          </m:sSub>
                          <m:r>
                            <a:rPr lang="en-US" altLang="zh-CN" b="0" i="1" smtClean="0">
                              <a:solidFill>
                                <a:srgbClr val="000000"/>
                              </a:solidFill>
                              <a:latin typeface="Cambria Math" panose="02040503050406030204" pitchFamily="18" charset="0"/>
                              <a:ea typeface="华文新魏" panose="02010800040101010101" pitchFamily="2" charset="-122"/>
                            </a:rPr>
                            <m:t>𝑎</m:t>
                          </m:r>
                        </m:den>
                      </m:f>
                      <m:nary>
                        <m:naryPr>
                          <m:ctrlPr>
                            <a:rPr lang="en-US" altLang="zh-CN" i="1" smtClean="0">
                              <a:solidFill>
                                <a:srgbClr val="000000"/>
                              </a:solidFill>
                              <a:latin typeface="Cambria Math" panose="02040503050406030204" pitchFamily="18" charset="0"/>
                              <a:ea typeface="华文新魏" panose="02010800040101010101" pitchFamily="2" charset="-122"/>
                            </a:rPr>
                          </m:ctrlPr>
                        </m:naryPr>
                        <m:sub>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1</m:t>
                              </m:r>
                            </m:sub>
                          </m:sSub>
                        </m:sub>
                        <m:sup>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2</m:t>
                              </m:r>
                            </m:sub>
                          </m:sSub>
                        </m:sup>
                        <m:e>
                          <m:func>
                            <m:funcPr>
                              <m:ctrlPr>
                                <a:rPr lang="en-US" altLang="zh-CN" i="1">
                                  <a:solidFill>
                                    <a:srgbClr val="000000"/>
                                  </a:solidFill>
                                  <a:latin typeface="Cambria Math" panose="02040503050406030204" pitchFamily="18" charset="0"/>
                                  <a:ea typeface="华文新魏" panose="02010800040101010101" pitchFamily="2" charset="-122"/>
                                </a:rPr>
                              </m:ctrlPr>
                            </m:funcPr>
                            <m:fName>
                              <m:r>
                                <a:rPr lang="en-US" altLang="zh-CN" b="0" i="1" smtClean="0">
                                  <a:solidFill>
                                    <a:srgbClr val="000000"/>
                                  </a:solidFill>
                                  <a:latin typeface="Cambria Math" panose="02040503050406030204" pitchFamily="18" charset="0"/>
                                  <a:ea typeface="华文新魏" panose="02010800040101010101" pitchFamily="2" charset="-122"/>
                                </a:rPr>
                                <m:t>𝑐𝑜𝑠</m:t>
                              </m:r>
                            </m:fName>
                            <m:e>
                              <m:r>
                                <a:rPr lang="zh-CN" altLang="en-US" b="0" i="1" smtClean="0">
                                  <a:solidFill>
                                    <a:srgbClr val="000000"/>
                                  </a:solidFill>
                                  <a:latin typeface="Cambria Math" panose="02040503050406030204" pitchFamily="18" charset="0"/>
                                  <a:ea typeface="华文新魏" panose="02010800040101010101" pitchFamily="2" charset="-122"/>
                                </a:rPr>
                                <m:t>𝜃</m:t>
                              </m:r>
                            </m:e>
                          </m:func>
                          <m:r>
                            <a:rPr lang="en-US" altLang="zh-CN" b="0" i="1" smtClean="0">
                              <a:solidFill>
                                <a:srgbClr val="000000"/>
                              </a:solidFill>
                              <a:latin typeface="Cambria Math" panose="02040503050406030204" pitchFamily="18" charset="0"/>
                              <a:ea typeface="华文新魏" panose="02010800040101010101" pitchFamily="2" charset="-122"/>
                            </a:rPr>
                            <m:t>𝑑</m:t>
                          </m:r>
                          <m:r>
                            <a:rPr lang="zh-CN" altLang="en-US" b="0" i="1" smtClean="0">
                              <a:solidFill>
                                <a:srgbClr val="000000"/>
                              </a:solidFill>
                              <a:latin typeface="Cambria Math" panose="02040503050406030204" pitchFamily="18" charset="0"/>
                              <a:ea typeface="华文新魏" panose="02010800040101010101" pitchFamily="2" charset="-122"/>
                            </a:rPr>
                            <m:t>𝜃</m:t>
                          </m:r>
                        </m:e>
                      </m:nary>
                      <m:r>
                        <a:rPr lang="en-US" altLang="zh-CN" b="0" i="1" smtClean="0">
                          <a:solidFill>
                            <a:srgbClr val="000000"/>
                          </a:solidFill>
                          <a:latin typeface="Cambria Math" panose="02040503050406030204" pitchFamily="18" charset="0"/>
                          <a:ea typeface="华文新魏" panose="02010800040101010101" pitchFamily="2" charset="-122"/>
                        </a:rPr>
                        <m:t>=</m:t>
                      </m:r>
                      <m:f>
                        <m:fPr>
                          <m:ctrlPr>
                            <a:rPr lang="en-US" altLang="zh-CN" i="1">
                              <a:solidFill>
                                <a:srgbClr val="000000"/>
                              </a:solidFill>
                              <a:latin typeface="Cambria Math" panose="02040503050406030204" pitchFamily="18" charset="0"/>
                              <a:ea typeface="华文新魏" panose="02010800040101010101" pitchFamily="2" charset="-122"/>
                            </a:rPr>
                          </m:ctrlPr>
                        </m:fPr>
                        <m:num>
                          <m:r>
                            <a:rPr lang="zh-CN" altLang="en-US" b="0" i="1" smtClean="0">
                              <a:solidFill>
                                <a:srgbClr val="000000"/>
                              </a:solidFill>
                              <a:latin typeface="Cambria Math" panose="02040503050406030204" pitchFamily="18" charset="0"/>
                              <a:ea typeface="华文新魏" panose="02010800040101010101" pitchFamily="2" charset="-122"/>
                            </a:rPr>
                            <m:t>𝜆</m:t>
                          </m:r>
                        </m:num>
                        <m:den>
                          <m:r>
                            <a:rPr lang="en-US" altLang="zh-CN" b="0" i="1" smtClean="0">
                              <a:solidFill>
                                <a:srgbClr val="000000"/>
                              </a:solidFill>
                              <a:latin typeface="Cambria Math" panose="02040503050406030204" pitchFamily="18" charset="0"/>
                              <a:ea typeface="华文新魏" panose="02010800040101010101" pitchFamily="2" charset="-122"/>
                            </a:rPr>
                            <m:t>4</m:t>
                          </m:r>
                          <m:r>
                            <a:rPr lang="zh-CN" altLang="en-US" b="0" i="1" smtClean="0">
                              <a:solidFill>
                                <a:srgbClr val="000000"/>
                              </a:solidFill>
                              <a:latin typeface="Cambria Math" panose="02040503050406030204" pitchFamily="18" charset="0"/>
                              <a:ea typeface="华文新魏" panose="02010800040101010101" pitchFamily="2" charset="-122"/>
                            </a:rPr>
                            <m:t>𝜋</m:t>
                          </m:r>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𝜀</m:t>
                              </m:r>
                            </m:e>
                            <m:sub>
                              <m:r>
                                <a:rPr lang="en-US" altLang="zh-CN" b="0" i="1" smtClean="0">
                                  <a:solidFill>
                                    <a:srgbClr val="000000"/>
                                  </a:solidFill>
                                  <a:latin typeface="Cambria Math" panose="02040503050406030204" pitchFamily="18" charset="0"/>
                                  <a:ea typeface="华文新魏" panose="02010800040101010101" pitchFamily="2" charset="-122"/>
                                </a:rPr>
                                <m:t>0</m:t>
                              </m:r>
                            </m:sub>
                          </m:sSub>
                          <m:r>
                            <a:rPr lang="en-US" altLang="zh-CN" b="0" i="1" smtClean="0">
                              <a:solidFill>
                                <a:srgbClr val="000000"/>
                              </a:solidFill>
                              <a:latin typeface="Cambria Math" panose="02040503050406030204" pitchFamily="18" charset="0"/>
                              <a:ea typeface="华文新魏" panose="02010800040101010101" pitchFamily="2" charset="-122"/>
                            </a:rPr>
                            <m:t>𝑎</m:t>
                          </m:r>
                        </m:den>
                      </m:f>
                      <m:r>
                        <a:rPr lang="en-US" altLang="zh-CN" b="0" i="1" smtClean="0">
                          <a:solidFill>
                            <a:srgbClr val="000000"/>
                          </a:solidFill>
                          <a:latin typeface="Cambria Math" panose="02040503050406030204" pitchFamily="18" charset="0"/>
                          <a:ea typeface="华文新魏" panose="02010800040101010101" pitchFamily="2" charset="-122"/>
                        </a:rPr>
                        <m:t>(</m:t>
                      </m:r>
                      <m:func>
                        <m:funcPr>
                          <m:ctrlPr>
                            <a:rPr lang="en-US" altLang="zh-CN" i="1">
                              <a:solidFill>
                                <a:srgbClr val="000000"/>
                              </a:solidFill>
                              <a:latin typeface="Cambria Math" panose="02040503050406030204" pitchFamily="18" charset="0"/>
                              <a:ea typeface="华文新魏" panose="02010800040101010101" pitchFamily="2" charset="-122"/>
                            </a:rPr>
                          </m:ctrlPr>
                        </m:funcPr>
                        <m:fName>
                          <m:r>
                            <m:rPr>
                              <m:sty m:val="p"/>
                            </m:rPr>
                            <a:rPr lang="en-US" altLang="zh-CN" b="0" i="1" smtClean="0">
                              <a:solidFill>
                                <a:srgbClr val="000000"/>
                              </a:solidFill>
                              <a:latin typeface="Cambria Math" panose="02040503050406030204" pitchFamily="18" charset="0"/>
                              <a:ea typeface="华文新魏" panose="02010800040101010101" pitchFamily="2" charset="-122"/>
                            </a:rPr>
                            <m:t>sin</m:t>
                          </m:r>
                        </m:fName>
                        <m:e>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2</m:t>
                              </m:r>
                            </m:sub>
                          </m:sSub>
                        </m:e>
                      </m:func>
                      <m:r>
                        <a:rPr lang="en-US" altLang="zh-CN" b="0" i="1" smtClean="0">
                          <a:solidFill>
                            <a:srgbClr val="000000"/>
                          </a:solidFill>
                          <a:latin typeface="Cambria Math" panose="02040503050406030204" pitchFamily="18" charset="0"/>
                          <a:ea typeface="华文新魏" panose="02010800040101010101" pitchFamily="2" charset="-122"/>
                        </a:rPr>
                        <m:t>−</m:t>
                      </m:r>
                      <m:func>
                        <m:funcPr>
                          <m:ctrlPr>
                            <a:rPr lang="en-US" altLang="zh-CN" i="1">
                              <a:solidFill>
                                <a:srgbClr val="000000"/>
                              </a:solidFill>
                              <a:latin typeface="Cambria Math" panose="02040503050406030204" pitchFamily="18" charset="0"/>
                              <a:ea typeface="华文新魏" panose="02010800040101010101" pitchFamily="2" charset="-122"/>
                            </a:rPr>
                          </m:ctrlPr>
                        </m:funcPr>
                        <m:fName>
                          <m:r>
                            <m:rPr>
                              <m:sty m:val="p"/>
                            </m:rPr>
                            <a:rPr lang="en-US" altLang="zh-CN" b="0" i="1" smtClean="0">
                              <a:solidFill>
                                <a:srgbClr val="000000"/>
                              </a:solidFill>
                              <a:latin typeface="Cambria Math" panose="02040503050406030204" pitchFamily="18" charset="0"/>
                              <a:ea typeface="华文新魏" panose="02010800040101010101" pitchFamily="2" charset="-122"/>
                            </a:rPr>
                            <m:t>sin</m:t>
                          </m:r>
                        </m:fName>
                        <m:e>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1</m:t>
                              </m:r>
                            </m:sub>
                          </m:sSub>
                        </m:e>
                      </m:func>
                      <m:r>
                        <a:rPr lang="en-US" altLang="zh-CN" b="0" i="1" smtClean="0">
                          <a:solidFill>
                            <a:srgbClr val="000000"/>
                          </a:solidFill>
                          <a:latin typeface="Cambria Math" panose="02040503050406030204" pitchFamily="18" charset="0"/>
                          <a:ea typeface="华文新魏" panose="02010800040101010101" pitchFamily="2" charset="-122"/>
                        </a:rPr>
                        <m:t>)</m:t>
                      </m:r>
                    </m:oMath>
                  </m:oMathPara>
                </a14:m>
                <a:endParaRPr lang="zh-CN" altLang="en-US" dirty="0"/>
              </a:p>
            </p:txBody>
          </p:sp>
        </mc:Choice>
        <mc:Fallback xmlns="">
          <p:sp>
            <p:nvSpPr>
              <p:cNvPr id="19" name="内容占位符 2">
                <a:extLst>
                  <a:ext uri="{FF2B5EF4-FFF2-40B4-BE49-F238E27FC236}">
                    <a16:creationId xmlns:a16="http://schemas.microsoft.com/office/drawing/2014/main" id="{31E1E63F-472D-4F61-A06A-AB09733392BF}"/>
                  </a:ext>
                </a:extLst>
              </p:cNvPr>
              <p:cNvSpPr txBox="1">
                <a:spLocks noRot="1" noChangeAspect="1" noMove="1" noResize="1" noEditPoints="1" noAdjustHandles="1" noChangeArrowheads="1" noChangeShapeType="1" noTextEdit="1"/>
              </p:cNvSpPr>
              <p:nvPr/>
            </p:nvSpPr>
            <p:spPr>
              <a:xfrm>
                <a:off x="1496930" y="5273976"/>
                <a:ext cx="10491870" cy="1450757"/>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9920392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 Box 37">
                <a:extLst>
                  <a:ext uri="{FF2B5EF4-FFF2-40B4-BE49-F238E27FC236}">
                    <a16:creationId xmlns:a16="http://schemas.microsoft.com/office/drawing/2014/main" id="{8F823D22-1F28-4782-9BFE-88B5839B985C}"/>
                  </a:ext>
                </a:extLst>
              </p:cNvPr>
              <p:cNvSpPr txBox="1">
                <a:spLocks noChangeArrowheads="1"/>
              </p:cNvSpPr>
              <p:nvPr/>
            </p:nvSpPr>
            <p:spPr bwMode="auto">
              <a:xfrm>
                <a:off x="245862" y="681581"/>
                <a:ext cx="10263388" cy="1094852"/>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0" lang="en-US" altLang="zh-CN" sz="2800" b="0" spc="300" dirty="0">
                    <a:solidFill>
                      <a:srgbClr val="0000FF"/>
                    </a:solidFill>
                    <a:ea typeface="华文楷体" panose="02010600040101010101" pitchFamily="2" charset="-122"/>
                    <a:cs typeface="Times New Roman" panose="02020603050405020304" pitchFamily="18" charset="0"/>
                  </a:rPr>
                  <a:t>[</a:t>
                </a:r>
                <a:r>
                  <a:rPr kumimoji="0" lang="zh-CN" altLang="en-US" sz="2800" b="0" spc="300" dirty="0">
                    <a:solidFill>
                      <a:srgbClr val="0000FF"/>
                    </a:solidFill>
                    <a:ea typeface="华文楷体" panose="02010600040101010101" pitchFamily="2" charset="-122"/>
                    <a:cs typeface="Times New Roman" panose="02020603050405020304" pitchFamily="18" charset="0"/>
                  </a:rPr>
                  <a:t>例</a:t>
                </a:r>
                <a:r>
                  <a:rPr kumimoji="0" lang="en-US" altLang="zh-CN" sz="2800" b="0" spc="300" dirty="0">
                    <a:solidFill>
                      <a:srgbClr val="0000FF"/>
                    </a:solidFill>
                    <a:ea typeface="华文楷体" panose="02010600040101010101" pitchFamily="2" charset="-122"/>
                    <a:cs typeface="Times New Roman" panose="02020603050405020304" pitchFamily="18" charset="0"/>
                  </a:rPr>
                  <a:t>12.4]</a:t>
                </a:r>
                <a:r>
                  <a:rPr lang="zh-CN" altLang="en-US" sz="2800" b="0" spc="300" dirty="0">
                    <a:ea typeface="华文楷体" panose="02010600040101010101" pitchFamily="2" charset="-122"/>
                    <a:cs typeface="Times New Roman" panose="02020603050405020304" pitchFamily="18" charset="0"/>
                  </a:rPr>
                  <a:t>求距离均匀带电细棒为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𝑎</m:t>
                    </m:r>
                  </m:oMath>
                </a14:m>
                <a:r>
                  <a:rPr lang="zh-CN" altLang="en-US" sz="2800" b="0" spc="300" dirty="0">
                    <a:ea typeface="华文楷体" panose="02010600040101010101" pitchFamily="2" charset="-122"/>
                    <a:cs typeface="Times New Roman" panose="02020603050405020304" pitchFamily="18" charset="0"/>
                  </a:rPr>
                  <a:t>的</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𝑝</m:t>
                    </m:r>
                  </m:oMath>
                </a14:m>
                <a:r>
                  <a:rPr lang="zh-CN" altLang="en-US" sz="2800" b="0" spc="300" dirty="0">
                    <a:ea typeface="华文楷体" panose="02010600040101010101" pitchFamily="2" charset="-122"/>
                    <a:cs typeface="Times New Roman" panose="02020603050405020304" pitchFamily="18" charset="0"/>
                  </a:rPr>
                  <a:t>点处电场强度</a:t>
                </a:r>
                <a:r>
                  <a:rPr lang="en-US" altLang="zh-CN" sz="2800" b="0" spc="300" dirty="0">
                    <a:ea typeface="华文楷体" panose="02010600040101010101" pitchFamily="2" charset="-122"/>
                    <a:cs typeface="Times New Roman" panose="02020603050405020304" pitchFamily="18" charset="0"/>
                  </a:rPr>
                  <a:t>.</a:t>
                </a:r>
                <a:r>
                  <a:rPr lang="zh-CN" altLang="en-US" sz="2800" b="0" spc="300" dirty="0">
                    <a:ea typeface="华文楷体" panose="02010600040101010101" pitchFamily="2" charset="-122"/>
                    <a:cs typeface="Times New Roman" panose="02020603050405020304" pitchFamily="18" charset="0"/>
                  </a:rPr>
                  <a:t>设棒长为</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oMath>
                </a14:m>
                <a:r>
                  <a:rPr lang="zh-CN" altLang="en-US" sz="2800" b="0" spc="300" dirty="0">
                    <a:ea typeface="华文楷体" panose="02010600040101010101" pitchFamily="2" charset="-122"/>
                    <a:cs typeface="Times New Roman" panose="02020603050405020304" pitchFamily="18" charset="0"/>
                  </a:rPr>
                  <a:t>，带电量</a:t>
                </a:r>
                <a14:m>
                  <m:oMath xmlns:m="http://schemas.openxmlformats.org/officeDocument/2006/math">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oMath>
                </a14:m>
                <a:r>
                  <a:rPr lang="zh-CN" altLang="en-US" sz="2800" b="0" spc="300" dirty="0">
                    <a:ea typeface="华文楷体" panose="02010600040101010101" pitchFamily="2" charset="-122"/>
                    <a:cs typeface="Times New Roman" panose="02020603050405020304" pitchFamily="18" charset="0"/>
                  </a:rPr>
                  <a:t>，电荷线密度为</a:t>
                </a:r>
                <a14:m>
                  <m:oMath xmlns:m="http://schemas.openxmlformats.org/officeDocument/2006/math">
                    <m:r>
                      <a:rPr lang="zh-CN" altLang="en-US" sz="2800" b="0" i="1" spc="300" dirty="0">
                        <a:latin typeface="Cambria Math" panose="02040503050406030204" pitchFamily="18" charset="0"/>
                        <a:ea typeface="华文新魏" panose="02010800040101010101" pitchFamily="2" charset="-122"/>
                        <a:cs typeface="Times New Roman" panose="02020603050405020304" pitchFamily="18" charset="0"/>
                      </a:rPr>
                      <m:t>𝜆</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𝑞</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𝐿</m:t>
                    </m:r>
                    <m:r>
                      <a:rPr lang="en-US" altLang="zh-CN" sz="2800" b="0" i="1" spc="300" dirty="0">
                        <a:latin typeface="Cambria Math" panose="02040503050406030204" pitchFamily="18" charset="0"/>
                        <a:ea typeface="华文新魏" panose="02010800040101010101" pitchFamily="2" charset="-122"/>
                        <a:cs typeface="Times New Roman" panose="02020603050405020304" pitchFamily="18" charset="0"/>
                      </a:rPr>
                      <m:t>.</m:t>
                    </m:r>
                  </m:oMath>
                </a14:m>
                <a:endParaRPr lang="zh-CN" altLang="en-US" sz="2800" b="0" spc="300" dirty="0">
                  <a:ea typeface="华文楷体" panose="02010600040101010101" pitchFamily="2" charset="-122"/>
                  <a:cs typeface="Times New Roman" panose="02020603050405020304" pitchFamily="18" charset="0"/>
                </a:endParaRPr>
              </a:p>
            </p:txBody>
          </p:sp>
        </mc:Choice>
        <mc:Fallback xmlns="">
          <p:sp>
            <p:nvSpPr>
              <p:cNvPr id="13" name="Text Box 37">
                <a:extLst>
                  <a:ext uri="{FF2B5EF4-FFF2-40B4-BE49-F238E27FC236}">
                    <a16:creationId xmlns:a16="http://schemas.microsoft.com/office/drawing/2014/main" id="{8F823D22-1F28-4782-9BFE-88B5839B985C}"/>
                  </a:ext>
                </a:extLst>
              </p:cNvPr>
              <p:cNvSpPr txBox="1">
                <a:spLocks noRot="1" noChangeAspect="1" noMove="1" noResize="1" noEditPoints="1" noAdjustHandles="1" noChangeArrowheads="1" noChangeShapeType="1" noTextEdit="1"/>
              </p:cNvSpPr>
              <p:nvPr/>
            </p:nvSpPr>
            <p:spPr bwMode="auto">
              <a:xfrm>
                <a:off x="245862" y="681581"/>
                <a:ext cx="10263388" cy="1094852"/>
              </a:xfrm>
              <a:prstGeom prst="rect">
                <a:avLst/>
              </a:prstGeom>
              <a:blipFill>
                <a:blip r:embed="rId2"/>
                <a:stretch>
                  <a:fillRect l="-1188" t="-2235" b="-150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图片 8">
            <a:extLst>
              <a:ext uri="{FF2B5EF4-FFF2-40B4-BE49-F238E27FC236}">
                <a16:creationId xmlns:a16="http://schemas.microsoft.com/office/drawing/2014/main" id="{B7CF0A3A-7914-4310-BB1A-8D1C90452F50}"/>
              </a:ext>
            </a:extLst>
          </p:cNvPr>
          <p:cNvPicPr>
            <a:picLocks noChangeAspect="1"/>
          </p:cNvPicPr>
          <p:nvPr/>
        </p:nvPicPr>
        <p:blipFill>
          <a:blip r:embed="rId3"/>
          <a:stretch>
            <a:fillRect/>
          </a:stretch>
        </p:blipFill>
        <p:spPr>
          <a:xfrm>
            <a:off x="465793" y="1896499"/>
            <a:ext cx="4255377" cy="3377477"/>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31E1E63F-472D-4F61-A06A-AB09733392BF}"/>
                  </a:ext>
                </a:extLst>
              </p:cNvPr>
              <p:cNvSpPr txBox="1">
                <a:spLocks/>
              </p:cNvSpPr>
              <p:nvPr/>
            </p:nvSpPr>
            <p:spPr>
              <a:xfrm>
                <a:off x="4557366" y="1896465"/>
                <a:ext cx="5367420" cy="13364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华文新魏" panose="02010800040101010101" pitchFamily="2" charset="-122"/>
                            </a:rPr>
                          </m:ctrlPr>
                        </m:sSubPr>
                        <m:e>
                          <m:r>
                            <a:rPr lang="en-US" altLang="zh-CN" b="0" i="1" smtClean="0">
                              <a:latin typeface="Cambria Math" panose="02040503050406030204" pitchFamily="18" charset="0"/>
                              <a:ea typeface="华文新魏" panose="02010800040101010101" pitchFamily="2" charset="-122"/>
                            </a:rPr>
                            <m:t>𝐸</m:t>
                          </m:r>
                        </m:e>
                        <m:sub>
                          <m:r>
                            <a:rPr lang="en-US" altLang="zh-CN" b="0" i="1" smtClean="0">
                              <a:latin typeface="Cambria Math" panose="02040503050406030204" pitchFamily="18" charset="0"/>
                              <a:ea typeface="华文新魏" panose="02010800040101010101" pitchFamily="2" charset="-122"/>
                            </a:rPr>
                            <m:t>𝑥</m:t>
                          </m:r>
                        </m:sub>
                      </m:sSub>
                      <m:r>
                        <a:rPr lang="en-US" altLang="zh-CN" b="0" i="1" smtClean="0">
                          <a:latin typeface="Cambria Math" panose="02040503050406030204" pitchFamily="18" charset="0"/>
                          <a:ea typeface="华文新魏" panose="02010800040101010101" pitchFamily="2" charset="-122"/>
                        </a:rPr>
                        <m:t>=</m:t>
                      </m:r>
                      <m:f>
                        <m:fPr>
                          <m:ctrlPr>
                            <a:rPr lang="en-US" altLang="zh-CN" i="1">
                              <a:solidFill>
                                <a:srgbClr val="000000"/>
                              </a:solidFill>
                              <a:latin typeface="Cambria Math" panose="02040503050406030204" pitchFamily="18" charset="0"/>
                              <a:ea typeface="华文新魏" panose="02010800040101010101" pitchFamily="2" charset="-122"/>
                            </a:rPr>
                          </m:ctrlPr>
                        </m:fPr>
                        <m:num>
                          <m:r>
                            <a:rPr lang="zh-CN" altLang="en-US" b="0" i="1" smtClean="0">
                              <a:solidFill>
                                <a:srgbClr val="000000"/>
                              </a:solidFill>
                              <a:latin typeface="Cambria Math" panose="02040503050406030204" pitchFamily="18" charset="0"/>
                              <a:ea typeface="华文新魏" panose="02010800040101010101" pitchFamily="2" charset="-122"/>
                            </a:rPr>
                            <m:t>𝜆</m:t>
                          </m:r>
                        </m:num>
                        <m:den>
                          <m:r>
                            <a:rPr lang="en-US" altLang="zh-CN" b="0" i="1" smtClean="0">
                              <a:solidFill>
                                <a:srgbClr val="000000"/>
                              </a:solidFill>
                              <a:latin typeface="Cambria Math" panose="02040503050406030204" pitchFamily="18" charset="0"/>
                              <a:ea typeface="华文新魏" panose="02010800040101010101" pitchFamily="2" charset="-122"/>
                            </a:rPr>
                            <m:t>4</m:t>
                          </m:r>
                          <m:r>
                            <a:rPr lang="zh-CN" altLang="en-US" b="0" i="1" smtClean="0">
                              <a:solidFill>
                                <a:srgbClr val="000000"/>
                              </a:solidFill>
                              <a:latin typeface="Cambria Math" panose="02040503050406030204" pitchFamily="18" charset="0"/>
                              <a:ea typeface="华文新魏" panose="02010800040101010101" pitchFamily="2" charset="-122"/>
                            </a:rPr>
                            <m:t>𝜋</m:t>
                          </m:r>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𝜀</m:t>
                              </m:r>
                            </m:e>
                            <m:sub>
                              <m:r>
                                <a:rPr lang="en-US" altLang="zh-CN" b="0" i="1" smtClean="0">
                                  <a:solidFill>
                                    <a:srgbClr val="000000"/>
                                  </a:solidFill>
                                  <a:latin typeface="Cambria Math" panose="02040503050406030204" pitchFamily="18" charset="0"/>
                                  <a:ea typeface="华文新魏" panose="02010800040101010101" pitchFamily="2" charset="-122"/>
                                </a:rPr>
                                <m:t>0</m:t>
                              </m:r>
                            </m:sub>
                          </m:sSub>
                          <m:r>
                            <a:rPr lang="en-US" altLang="zh-CN" b="0" i="1" smtClean="0">
                              <a:solidFill>
                                <a:srgbClr val="000000"/>
                              </a:solidFill>
                              <a:latin typeface="Cambria Math" panose="02040503050406030204" pitchFamily="18" charset="0"/>
                              <a:ea typeface="华文新魏" panose="02010800040101010101" pitchFamily="2" charset="-122"/>
                            </a:rPr>
                            <m:t>𝑎</m:t>
                          </m:r>
                        </m:den>
                      </m:f>
                      <m:r>
                        <a:rPr lang="en-US" altLang="zh-CN" b="0" i="1" smtClean="0">
                          <a:solidFill>
                            <a:srgbClr val="000000"/>
                          </a:solidFill>
                          <a:latin typeface="Cambria Math" panose="02040503050406030204" pitchFamily="18" charset="0"/>
                          <a:ea typeface="华文新魏" panose="02010800040101010101" pitchFamily="2" charset="-122"/>
                        </a:rPr>
                        <m:t>(</m:t>
                      </m:r>
                      <m:func>
                        <m:funcPr>
                          <m:ctrlPr>
                            <a:rPr lang="en-US" altLang="zh-CN" i="1">
                              <a:solidFill>
                                <a:srgbClr val="000000"/>
                              </a:solidFill>
                              <a:latin typeface="Cambria Math" panose="02040503050406030204" pitchFamily="18" charset="0"/>
                              <a:ea typeface="华文新魏" panose="02010800040101010101" pitchFamily="2" charset="-122"/>
                            </a:rPr>
                          </m:ctrlPr>
                        </m:funcPr>
                        <m:fName>
                          <m:r>
                            <m:rPr>
                              <m:sty m:val="p"/>
                            </m:rPr>
                            <a:rPr lang="en-US" altLang="zh-CN" b="0" i="1" smtClean="0">
                              <a:solidFill>
                                <a:srgbClr val="000000"/>
                              </a:solidFill>
                              <a:latin typeface="Cambria Math" panose="02040503050406030204" pitchFamily="18" charset="0"/>
                              <a:ea typeface="华文新魏" panose="02010800040101010101" pitchFamily="2" charset="-122"/>
                            </a:rPr>
                            <m:t>sin</m:t>
                          </m:r>
                        </m:fName>
                        <m:e>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2</m:t>
                              </m:r>
                            </m:sub>
                          </m:sSub>
                        </m:e>
                      </m:func>
                      <m:r>
                        <a:rPr lang="en-US" altLang="zh-CN" b="0" i="1" smtClean="0">
                          <a:solidFill>
                            <a:srgbClr val="000000"/>
                          </a:solidFill>
                          <a:latin typeface="Cambria Math" panose="02040503050406030204" pitchFamily="18" charset="0"/>
                          <a:ea typeface="华文新魏" panose="02010800040101010101" pitchFamily="2" charset="-122"/>
                        </a:rPr>
                        <m:t>−</m:t>
                      </m:r>
                      <m:func>
                        <m:funcPr>
                          <m:ctrlPr>
                            <a:rPr lang="en-US" altLang="zh-CN" i="1">
                              <a:solidFill>
                                <a:srgbClr val="000000"/>
                              </a:solidFill>
                              <a:latin typeface="Cambria Math" panose="02040503050406030204" pitchFamily="18" charset="0"/>
                              <a:ea typeface="华文新魏" panose="02010800040101010101" pitchFamily="2" charset="-122"/>
                            </a:rPr>
                          </m:ctrlPr>
                        </m:funcPr>
                        <m:fName>
                          <m:r>
                            <m:rPr>
                              <m:sty m:val="p"/>
                            </m:rPr>
                            <a:rPr lang="en-US" altLang="zh-CN" b="0" i="1" smtClean="0">
                              <a:solidFill>
                                <a:srgbClr val="000000"/>
                              </a:solidFill>
                              <a:latin typeface="Cambria Math" panose="02040503050406030204" pitchFamily="18" charset="0"/>
                              <a:ea typeface="华文新魏" panose="02010800040101010101" pitchFamily="2" charset="-122"/>
                            </a:rPr>
                            <m:t>sin</m:t>
                          </m:r>
                        </m:fName>
                        <m:e>
                          <m:sSub>
                            <m:sSubPr>
                              <m:ctrlPr>
                                <a:rPr lang="en-US" altLang="zh-CN" i="1">
                                  <a:solidFill>
                                    <a:srgbClr val="000000"/>
                                  </a:solidFill>
                                  <a:latin typeface="Cambria Math" panose="02040503050406030204" pitchFamily="18" charset="0"/>
                                  <a:ea typeface="华文新魏" panose="02010800040101010101" pitchFamily="2" charset="-122"/>
                                </a:rPr>
                              </m:ctrlPr>
                            </m:sSubPr>
                            <m:e>
                              <m:r>
                                <a:rPr lang="zh-CN" altLang="en-US" b="0" i="1" smtClean="0">
                                  <a:solidFill>
                                    <a:srgbClr val="000000"/>
                                  </a:solidFill>
                                  <a:latin typeface="Cambria Math" panose="02040503050406030204" pitchFamily="18" charset="0"/>
                                  <a:ea typeface="华文新魏" panose="02010800040101010101" pitchFamily="2" charset="-122"/>
                                </a:rPr>
                                <m:t>𝜃</m:t>
                              </m:r>
                            </m:e>
                            <m:sub>
                              <m:r>
                                <a:rPr lang="en-US" altLang="zh-CN" b="0" i="1" smtClean="0">
                                  <a:solidFill>
                                    <a:srgbClr val="000000"/>
                                  </a:solidFill>
                                  <a:latin typeface="Cambria Math" panose="02040503050406030204" pitchFamily="18" charset="0"/>
                                  <a:ea typeface="华文新魏" panose="02010800040101010101" pitchFamily="2" charset="-122"/>
                                </a:rPr>
                                <m:t>1</m:t>
                              </m:r>
                            </m:sub>
                          </m:sSub>
                        </m:e>
                      </m:func>
                      <m:r>
                        <a:rPr lang="en-US" altLang="zh-CN" b="0" i="1" smtClean="0">
                          <a:solidFill>
                            <a:srgbClr val="000000"/>
                          </a:solidFill>
                          <a:latin typeface="Cambria Math" panose="02040503050406030204" pitchFamily="18" charset="0"/>
                          <a:ea typeface="华文新魏" panose="02010800040101010101" pitchFamily="2" charset="-122"/>
                        </a:rPr>
                        <m:t>)</m:t>
                      </m:r>
                    </m:oMath>
                  </m:oMathPara>
                </a14:m>
                <a:endParaRPr lang="zh-CN" altLang="en-US" dirty="0"/>
              </a:p>
            </p:txBody>
          </p:sp>
        </mc:Choice>
        <mc:Fallback xmlns="">
          <p:sp>
            <p:nvSpPr>
              <p:cNvPr id="19" name="内容占位符 2">
                <a:extLst>
                  <a:ext uri="{FF2B5EF4-FFF2-40B4-BE49-F238E27FC236}">
                    <a16:creationId xmlns:a16="http://schemas.microsoft.com/office/drawing/2014/main" id="{31E1E63F-472D-4F61-A06A-AB09733392BF}"/>
                  </a:ext>
                </a:extLst>
              </p:cNvPr>
              <p:cNvSpPr txBox="1">
                <a:spLocks noRot="1" noChangeAspect="1" noMove="1" noResize="1" noEditPoints="1" noAdjustHandles="1" noChangeArrowheads="1" noChangeShapeType="1" noTextEdit="1"/>
              </p:cNvSpPr>
              <p:nvPr/>
            </p:nvSpPr>
            <p:spPr>
              <a:xfrm>
                <a:off x="4557366" y="1896465"/>
                <a:ext cx="5367420" cy="133645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标题 1">
                <a:extLst>
                  <a:ext uri="{FF2B5EF4-FFF2-40B4-BE49-F238E27FC236}">
                    <a16:creationId xmlns:a16="http://schemas.microsoft.com/office/drawing/2014/main" id="{C97FAFC5-055E-444E-B437-42023F540A00}"/>
                  </a:ext>
                </a:extLst>
              </p:cNvPr>
              <p:cNvSpPr txBox="1">
                <a:spLocks/>
              </p:cNvSpPr>
              <p:nvPr/>
            </p:nvSpPr>
            <p:spPr>
              <a:xfrm>
                <a:off x="3288260" y="3352988"/>
                <a:ext cx="74295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000000"/>
                              </a:solidFill>
                              <a:latin typeface="Cambria Math" panose="02040503050406030204" pitchFamily="18" charset="0"/>
                              <a:ea typeface="华文新魏" panose="02010800040101010101" pitchFamily="2" charset="-122"/>
                            </a:rPr>
                          </m:ctrlPr>
                        </m:sSubPr>
                        <m:e>
                          <m:r>
                            <m:rPr>
                              <m:nor/>
                            </m:rPr>
                            <a:rPr lang="zh-CN" altLang="en-US" sz="3200" dirty="0">
                              <a:latin typeface="华文楷体" panose="02010600040101010101" pitchFamily="2" charset="-122"/>
                              <a:ea typeface="华文楷体" panose="02010600040101010101" pitchFamily="2" charset="-122"/>
                            </a:rPr>
                            <m:t>同理：</m:t>
                          </m:r>
                          <m:r>
                            <a:rPr lang="en-US" altLang="zh-CN" sz="3200" b="0" i="1">
                              <a:solidFill>
                                <a:srgbClr val="000000"/>
                              </a:solidFill>
                              <a:latin typeface="Cambria Math" panose="02040503050406030204" pitchFamily="18" charset="0"/>
                              <a:ea typeface="华文新魏" panose="02010800040101010101" pitchFamily="2" charset="-122"/>
                            </a:rPr>
                            <m:t>𝐸</m:t>
                          </m:r>
                        </m:e>
                        <m:sub>
                          <m:r>
                            <a:rPr lang="en-US" altLang="zh-CN" sz="3200" b="0" i="1">
                              <a:solidFill>
                                <a:srgbClr val="000000"/>
                              </a:solidFill>
                              <a:latin typeface="Cambria Math" panose="02040503050406030204" pitchFamily="18" charset="0"/>
                              <a:ea typeface="华文新魏" panose="02010800040101010101" pitchFamily="2" charset="-122"/>
                            </a:rPr>
                            <m:t>𝑦</m:t>
                          </m:r>
                        </m:sub>
                      </m:sSub>
                      <m:r>
                        <a:rPr lang="en-US" altLang="zh-CN" sz="3200" b="0" i="1">
                          <a:solidFill>
                            <a:srgbClr val="000000"/>
                          </a:solidFill>
                          <a:latin typeface="Cambria Math" panose="02040503050406030204" pitchFamily="18" charset="0"/>
                          <a:ea typeface="华文新魏" panose="02010800040101010101" pitchFamily="2" charset="-122"/>
                        </a:rPr>
                        <m:t>=</m:t>
                      </m:r>
                      <m:f>
                        <m:fPr>
                          <m:ctrlPr>
                            <a:rPr lang="en-US" altLang="zh-CN" sz="3200" i="1">
                              <a:solidFill>
                                <a:srgbClr val="000000"/>
                              </a:solidFill>
                              <a:latin typeface="Cambria Math" panose="02040503050406030204" pitchFamily="18" charset="0"/>
                              <a:ea typeface="华文新魏" panose="02010800040101010101" pitchFamily="2" charset="-122"/>
                            </a:rPr>
                          </m:ctrlPr>
                        </m:fPr>
                        <m:num>
                          <m:r>
                            <a:rPr lang="zh-CN" altLang="en-US" sz="3200" b="0" i="1">
                              <a:solidFill>
                                <a:srgbClr val="000000"/>
                              </a:solidFill>
                              <a:latin typeface="Cambria Math" panose="02040503050406030204" pitchFamily="18" charset="0"/>
                              <a:ea typeface="华文新魏" panose="02010800040101010101" pitchFamily="2" charset="-122"/>
                            </a:rPr>
                            <m:t>𝜆</m:t>
                          </m:r>
                        </m:num>
                        <m:den>
                          <m:r>
                            <a:rPr lang="en-US" altLang="zh-CN" sz="3200" b="0" i="1">
                              <a:solidFill>
                                <a:srgbClr val="000000"/>
                              </a:solidFill>
                              <a:latin typeface="Cambria Math" panose="02040503050406030204" pitchFamily="18" charset="0"/>
                              <a:ea typeface="华文新魏" panose="02010800040101010101" pitchFamily="2" charset="-122"/>
                            </a:rPr>
                            <m:t>4</m:t>
                          </m:r>
                          <m:r>
                            <a:rPr lang="zh-CN" altLang="en-US" sz="3200" b="0" i="1">
                              <a:solidFill>
                                <a:srgbClr val="000000"/>
                              </a:solidFill>
                              <a:latin typeface="Cambria Math" panose="02040503050406030204" pitchFamily="18" charset="0"/>
                              <a:ea typeface="华文新魏" panose="02010800040101010101" pitchFamily="2" charset="-122"/>
                            </a:rPr>
                            <m:t>𝜋</m:t>
                          </m:r>
                          <m:sSub>
                            <m:sSubPr>
                              <m:ctrlPr>
                                <a:rPr lang="en-US" altLang="zh-CN" sz="3200" i="1">
                                  <a:solidFill>
                                    <a:srgbClr val="000000"/>
                                  </a:solidFill>
                                  <a:latin typeface="Cambria Math" panose="02040503050406030204" pitchFamily="18" charset="0"/>
                                  <a:ea typeface="华文新魏" panose="02010800040101010101" pitchFamily="2" charset="-122"/>
                                </a:rPr>
                              </m:ctrlPr>
                            </m:sSubPr>
                            <m:e>
                              <m:r>
                                <a:rPr lang="zh-CN" altLang="en-US" sz="3200" b="0" i="1">
                                  <a:solidFill>
                                    <a:srgbClr val="000000"/>
                                  </a:solidFill>
                                  <a:latin typeface="Cambria Math" panose="02040503050406030204" pitchFamily="18" charset="0"/>
                                  <a:ea typeface="华文新魏" panose="02010800040101010101" pitchFamily="2" charset="-122"/>
                                </a:rPr>
                                <m:t>𝜀</m:t>
                              </m:r>
                            </m:e>
                            <m:sub>
                              <m:r>
                                <a:rPr lang="en-US" altLang="zh-CN" sz="3200" b="0" i="1">
                                  <a:solidFill>
                                    <a:srgbClr val="000000"/>
                                  </a:solidFill>
                                  <a:latin typeface="Cambria Math" panose="02040503050406030204" pitchFamily="18" charset="0"/>
                                  <a:ea typeface="华文新魏" panose="02010800040101010101" pitchFamily="2" charset="-122"/>
                                </a:rPr>
                                <m:t>0</m:t>
                              </m:r>
                            </m:sub>
                          </m:sSub>
                          <m:r>
                            <a:rPr lang="en-US" altLang="zh-CN" sz="3200" b="0" i="1">
                              <a:solidFill>
                                <a:srgbClr val="000000"/>
                              </a:solidFill>
                              <a:latin typeface="Cambria Math" panose="02040503050406030204" pitchFamily="18" charset="0"/>
                              <a:ea typeface="华文新魏" panose="02010800040101010101" pitchFamily="2" charset="-122"/>
                            </a:rPr>
                            <m:t>𝑎</m:t>
                          </m:r>
                        </m:den>
                      </m:f>
                      <m:r>
                        <a:rPr lang="en-US" altLang="zh-CN" sz="3200" b="0" i="1">
                          <a:solidFill>
                            <a:srgbClr val="000000"/>
                          </a:solidFill>
                          <a:latin typeface="Cambria Math" panose="02040503050406030204" pitchFamily="18" charset="0"/>
                          <a:ea typeface="华文新魏" panose="02010800040101010101" pitchFamily="2" charset="-122"/>
                        </a:rPr>
                        <m:t>(</m:t>
                      </m:r>
                      <m:func>
                        <m:funcPr>
                          <m:ctrlPr>
                            <a:rPr lang="en-US" altLang="zh-CN" sz="3200" i="1">
                              <a:solidFill>
                                <a:srgbClr val="000000"/>
                              </a:solidFill>
                              <a:latin typeface="Cambria Math" panose="02040503050406030204" pitchFamily="18" charset="0"/>
                              <a:ea typeface="华文新魏" panose="02010800040101010101" pitchFamily="2" charset="-122"/>
                            </a:rPr>
                          </m:ctrlPr>
                        </m:funcPr>
                        <m:fName>
                          <m:r>
                            <a:rPr lang="en-US" altLang="zh-CN" sz="3200" b="0" i="1">
                              <a:solidFill>
                                <a:srgbClr val="000000"/>
                              </a:solidFill>
                              <a:latin typeface="Cambria Math" panose="02040503050406030204" pitchFamily="18" charset="0"/>
                              <a:ea typeface="华文新魏" panose="02010800040101010101" pitchFamily="2" charset="-122"/>
                            </a:rPr>
                            <m:t>𝑐𝑜𝑠</m:t>
                          </m:r>
                        </m:fName>
                        <m:e>
                          <m:sSub>
                            <m:sSubPr>
                              <m:ctrlPr>
                                <a:rPr lang="en-US" altLang="zh-CN" sz="3200" i="1">
                                  <a:solidFill>
                                    <a:srgbClr val="000000"/>
                                  </a:solidFill>
                                  <a:latin typeface="Cambria Math" panose="02040503050406030204" pitchFamily="18" charset="0"/>
                                  <a:ea typeface="华文新魏" panose="02010800040101010101" pitchFamily="2" charset="-122"/>
                                </a:rPr>
                              </m:ctrlPr>
                            </m:sSubPr>
                            <m:e>
                              <m:r>
                                <a:rPr lang="zh-CN" altLang="en-US" sz="3200" b="0" i="1">
                                  <a:solidFill>
                                    <a:srgbClr val="000000"/>
                                  </a:solidFill>
                                  <a:latin typeface="Cambria Math" panose="02040503050406030204" pitchFamily="18" charset="0"/>
                                  <a:ea typeface="华文新魏" panose="02010800040101010101" pitchFamily="2" charset="-122"/>
                                </a:rPr>
                                <m:t>𝜃</m:t>
                              </m:r>
                            </m:e>
                            <m:sub>
                              <m:r>
                                <a:rPr lang="en-US" altLang="zh-CN" sz="3200" b="0" i="1">
                                  <a:solidFill>
                                    <a:srgbClr val="000000"/>
                                  </a:solidFill>
                                  <a:latin typeface="Cambria Math" panose="02040503050406030204" pitchFamily="18" charset="0"/>
                                  <a:ea typeface="华文新魏" panose="02010800040101010101" pitchFamily="2" charset="-122"/>
                                </a:rPr>
                                <m:t>1</m:t>
                              </m:r>
                            </m:sub>
                          </m:sSub>
                        </m:e>
                      </m:func>
                      <m:r>
                        <a:rPr lang="en-US" altLang="zh-CN" sz="3200" b="0" i="1">
                          <a:solidFill>
                            <a:srgbClr val="000000"/>
                          </a:solidFill>
                          <a:latin typeface="Cambria Math" panose="02040503050406030204" pitchFamily="18" charset="0"/>
                          <a:ea typeface="华文新魏" panose="02010800040101010101" pitchFamily="2" charset="-122"/>
                        </a:rPr>
                        <m:t>−</m:t>
                      </m:r>
                      <m:func>
                        <m:funcPr>
                          <m:ctrlPr>
                            <a:rPr lang="en-US" altLang="zh-CN" sz="3200" i="1">
                              <a:solidFill>
                                <a:srgbClr val="000000"/>
                              </a:solidFill>
                              <a:latin typeface="Cambria Math" panose="02040503050406030204" pitchFamily="18" charset="0"/>
                              <a:ea typeface="华文新魏" panose="02010800040101010101" pitchFamily="2" charset="-122"/>
                            </a:rPr>
                          </m:ctrlPr>
                        </m:funcPr>
                        <m:fName>
                          <m:r>
                            <a:rPr lang="en-US" altLang="zh-CN" sz="3200" b="0" i="1">
                              <a:solidFill>
                                <a:srgbClr val="000000"/>
                              </a:solidFill>
                              <a:latin typeface="Cambria Math" panose="02040503050406030204" pitchFamily="18" charset="0"/>
                              <a:ea typeface="华文新魏" panose="02010800040101010101" pitchFamily="2" charset="-122"/>
                            </a:rPr>
                            <m:t>𝑐𝑜𝑠</m:t>
                          </m:r>
                        </m:fName>
                        <m:e>
                          <m:sSub>
                            <m:sSubPr>
                              <m:ctrlPr>
                                <a:rPr lang="en-US" altLang="zh-CN" sz="3200" i="1">
                                  <a:solidFill>
                                    <a:srgbClr val="000000"/>
                                  </a:solidFill>
                                  <a:latin typeface="Cambria Math" panose="02040503050406030204" pitchFamily="18" charset="0"/>
                                  <a:ea typeface="华文新魏" panose="02010800040101010101" pitchFamily="2" charset="-122"/>
                                </a:rPr>
                              </m:ctrlPr>
                            </m:sSubPr>
                            <m:e>
                              <m:r>
                                <a:rPr lang="zh-CN" altLang="en-US" sz="3200" b="0" i="1">
                                  <a:solidFill>
                                    <a:srgbClr val="000000"/>
                                  </a:solidFill>
                                  <a:latin typeface="Cambria Math" panose="02040503050406030204" pitchFamily="18" charset="0"/>
                                  <a:ea typeface="华文新魏" panose="02010800040101010101" pitchFamily="2" charset="-122"/>
                                </a:rPr>
                                <m:t>𝜃</m:t>
                              </m:r>
                            </m:e>
                            <m:sub>
                              <m:r>
                                <a:rPr lang="en-US" altLang="zh-CN" sz="3200" b="0" i="1">
                                  <a:solidFill>
                                    <a:srgbClr val="000000"/>
                                  </a:solidFill>
                                  <a:latin typeface="Cambria Math" panose="02040503050406030204" pitchFamily="18" charset="0"/>
                                  <a:ea typeface="华文新魏" panose="02010800040101010101" pitchFamily="2" charset="-122"/>
                                </a:rPr>
                                <m:t>2</m:t>
                              </m:r>
                            </m:sub>
                          </m:sSub>
                        </m:e>
                      </m:func>
                      <m:r>
                        <a:rPr lang="en-US" altLang="zh-CN" sz="3200" b="0" i="1">
                          <a:solidFill>
                            <a:srgbClr val="000000"/>
                          </a:solidFill>
                          <a:latin typeface="Cambria Math" panose="02040503050406030204" pitchFamily="18" charset="0"/>
                          <a:ea typeface="华文新魏" panose="02010800040101010101" pitchFamily="2" charset="-122"/>
                        </a:rPr>
                        <m:t>)</m:t>
                      </m:r>
                    </m:oMath>
                  </m:oMathPara>
                </a14:m>
                <a:endParaRPr lang="zh-CN" altLang="en-US" sz="3200" dirty="0">
                  <a:latin typeface="华文楷体" panose="02010600040101010101" pitchFamily="2" charset="-122"/>
                  <a:ea typeface="华文楷体" panose="02010600040101010101" pitchFamily="2" charset="-122"/>
                </a:endParaRPr>
              </a:p>
            </p:txBody>
          </p:sp>
        </mc:Choice>
        <mc:Fallback xmlns="">
          <p:sp>
            <p:nvSpPr>
              <p:cNvPr id="8" name="标题 1">
                <a:extLst>
                  <a:ext uri="{FF2B5EF4-FFF2-40B4-BE49-F238E27FC236}">
                    <a16:creationId xmlns:a16="http://schemas.microsoft.com/office/drawing/2014/main" id="{C97FAFC5-055E-444E-B437-42023F540A00}"/>
                  </a:ext>
                </a:extLst>
              </p:cNvPr>
              <p:cNvSpPr txBox="1">
                <a:spLocks noRot="1" noChangeAspect="1" noMove="1" noResize="1" noEditPoints="1" noAdjustHandles="1" noChangeArrowheads="1" noChangeShapeType="1" noTextEdit="1"/>
              </p:cNvSpPr>
              <p:nvPr/>
            </p:nvSpPr>
            <p:spPr>
              <a:xfrm>
                <a:off x="3288260" y="3352988"/>
                <a:ext cx="7429500" cy="132556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内容占位符 3">
                <a:extLst>
                  <a:ext uri="{FF2B5EF4-FFF2-40B4-BE49-F238E27FC236}">
                    <a16:creationId xmlns:a16="http://schemas.microsoft.com/office/drawing/2014/main" id="{03BF204A-5CD0-4154-920E-8BD51D496791}"/>
                  </a:ext>
                </a:extLst>
              </p:cNvPr>
              <p:cNvSpPr txBox="1">
                <a:spLocks/>
              </p:cNvSpPr>
              <p:nvPr/>
            </p:nvSpPr>
            <p:spPr>
              <a:xfrm>
                <a:off x="4578889" y="4636510"/>
                <a:ext cx="6433920" cy="227860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zh-CN" altLang="en-US" i="1" dirty="0" smtClean="0">
                        <a:latin typeface="Cambria Math" panose="02040503050406030204" pitchFamily="18" charset="0"/>
                        <a:cs typeface="Times New Roman" panose="02020603050405020304" pitchFamily="18" charset="0"/>
                      </a:rPr>
                      <m:t>当直线长度</m:t>
                    </m:r>
                    <m:r>
                      <a:rPr lang="en-US" altLang="zh-CN" b="1" i="1" dirty="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dirty="0">
                    <a:latin typeface="华文楷体" panose="02010600040101010101" pitchFamily="2" charset="-122"/>
                    <a:ea typeface="华文楷体" panose="02010600040101010101" pitchFamily="2" charset="-122"/>
                  </a:rPr>
                  <a:t>，</a:t>
                </a:r>
                <a14:m>
                  <m:oMath xmlns:m="http://schemas.openxmlformats.org/officeDocument/2006/math">
                    <m:sSub>
                      <m:sSubPr>
                        <m:ctrlPr>
                          <a:rPr lang="en-US" altLang="zh-CN"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i="1">
                            <a:latin typeface="Cambria Math" panose="02040503050406030204" pitchFamily="18" charset="0"/>
                            <a:ea typeface="华文新魏" panose="02010800040101010101" pitchFamily="2" charset="-122"/>
                            <a:cs typeface="Times New Roman" panose="02020603050405020304" pitchFamily="18" charset="0"/>
                          </a:rPr>
                          <m:t>𝜽</m:t>
                        </m:r>
                      </m:e>
                      <m:sub>
                        <m:r>
                          <a:rPr lang="en-US" altLang="zh-CN" i="1">
                            <a:latin typeface="Cambria Math" panose="02040503050406030204" pitchFamily="18" charset="0"/>
                            <a:ea typeface="华文新魏" panose="02010800040101010101" pitchFamily="2" charset="-122"/>
                            <a:cs typeface="Times New Roman" panose="02020603050405020304" pitchFamily="18" charset="0"/>
                          </a:rPr>
                          <m:t>𝟏</m:t>
                        </m:r>
                      </m:sub>
                    </m:sSub>
                    <m:r>
                      <a:rPr lang="en-US" altLang="zh-CN" i="1">
                        <a:latin typeface="Cambria Math" panose="02040503050406030204" pitchFamily="18" charset="0"/>
                        <a:ea typeface="Cambria Math" panose="02040503050406030204" pitchFamily="18" charset="0"/>
                        <a:cs typeface="Times New Roman" panose="02020603050405020304" pitchFamily="18" charset="0"/>
                      </a:rPr>
                      <m:t>→</m:t>
                    </m:r>
                    <m:r>
                      <a:rPr lang="en-US" altLang="zh-CN" i="1">
                        <a:latin typeface="Cambria Math" panose="02040503050406030204" pitchFamily="18" charset="0"/>
                        <a:ea typeface="Cambria Math" panose="02040503050406030204" pitchFamily="18" charset="0"/>
                        <a:cs typeface="Times New Roman" panose="02020603050405020304" pitchFamily="18" charset="0"/>
                      </a:rPr>
                      <m:t>𝟎</m:t>
                    </m:r>
                    <m:r>
                      <a:rPr lang="zh-CN" altLang="en-US" b="1"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n-US"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𝜽</m:t>
                        </m:r>
                      </m:e>
                      <m:sub>
                        <m:r>
                          <a:rPr lang="en-US" altLang="zh-CN"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𝟐</m:t>
                        </m:r>
                      </m:sub>
                    </m:sSub>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zh-CN" altLang="en-US"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𝝅</m:t>
                    </m:r>
                  </m:oMath>
                </a14:m>
                <a:r>
                  <a:rPr lang="en-US" altLang="zh-CN" i="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𝑬</m:t>
                          </m:r>
                        </m:e>
                        <m:sub>
                          <m:r>
                            <a:rPr lang="en-US" altLang="zh-CN" i="1">
                              <a:latin typeface="Cambria Math" panose="02040503050406030204" pitchFamily="18" charset="0"/>
                              <a:ea typeface="华文新魏" panose="02010800040101010101" pitchFamily="2" charset="-122"/>
                            </a:rPr>
                            <m:t>𝒙</m:t>
                          </m:r>
                        </m:sub>
                      </m:sSub>
                      <m:r>
                        <a:rPr lang="en-US" altLang="zh-CN" i="1">
                          <a:latin typeface="Cambria Math" panose="02040503050406030204" pitchFamily="18" charset="0"/>
                          <a:ea typeface="华文新魏" panose="02010800040101010101" pitchFamily="2" charset="-122"/>
                        </a:rPr>
                        <m:t>=</m:t>
                      </m:r>
                      <m:r>
                        <a:rPr lang="en-US" altLang="zh-CN" i="1">
                          <a:latin typeface="Cambria Math" panose="02040503050406030204" pitchFamily="18" charset="0"/>
                          <a:ea typeface="华文新魏" panose="02010800040101010101" pitchFamily="2" charset="-122"/>
                        </a:rPr>
                        <m:t>𝟎</m:t>
                      </m:r>
                      <m:r>
                        <a:rPr lang="zh-CN" altLang="en-US" i="1">
                          <a:latin typeface="Cambria Math" panose="02040503050406030204" pitchFamily="18" charset="0"/>
                          <a:ea typeface="华文新魏" panose="02010800040101010101" pitchFamily="2" charset="-122"/>
                        </a:rPr>
                        <m:t>，</m:t>
                      </m:r>
                      <m:sSub>
                        <m:sSubPr>
                          <m:ctrlPr>
                            <a:rPr lang="en-US" altLang="zh-CN" i="1">
                              <a:latin typeface="Cambria Math" panose="02040503050406030204" pitchFamily="18" charset="0"/>
                              <a:ea typeface="华文新魏" panose="02010800040101010101" pitchFamily="2" charset="-122"/>
                            </a:rPr>
                          </m:ctrlPr>
                        </m:sSubPr>
                        <m:e>
                          <m:r>
                            <a:rPr lang="en-US" altLang="zh-CN" i="1">
                              <a:latin typeface="Cambria Math" panose="02040503050406030204" pitchFamily="18" charset="0"/>
                              <a:ea typeface="华文新魏" panose="02010800040101010101" pitchFamily="2" charset="-122"/>
                            </a:rPr>
                            <m:t>𝑬</m:t>
                          </m:r>
                        </m:e>
                        <m:sub>
                          <m:r>
                            <a:rPr lang="en-US" altLang="zh-CN" i="1">
                              <a:latin typeface="Cambria Math" panose="02040503050406030204" pitchFamily="18" charset="0"/>
                              <a:ea typeface="华文新魏" panose="02010800040101010101" pitchFamily="2" charset="-122"/>
                            </a:rPr>
                            <m:t>𝒚</m:t>
                          </m:r>
                        </m:sub>
                      </m:sSub>
                      <m:r>
                        <a:rPr lang="en-US" altLang="zh-CN" i="1">
                          <a:latin typeface="Cambria Math" panose="02040503050406030204" pitchFamily="18" charset="0"/>
                          <a:ea typeface="华文新魏" panose="02010800040101010101" pitchFamily="2" charset="-122"/>
                        </a:rPr>
                        <m:t>=</m:t>
                      </m:r>
                      <m:f>
                        <m:fPr>
                          <m:ctrlPr>
                            <a:rPr lang="en-US" altLang="zh-CN" i="1">
                              <a:latin typeface="Cambria Math" panose="02040503050406030204" pitchFamily="18" charset="0"/>
                              <a:ea typeface="华文新魏" panose="02010800040101010101" pitchFamily="2" charset="-122"/>
                            </a:rPr>
                          </m:ctrlPr>
                        </m:fPr>
                        <m:num>
                          <m:r>
                            <a:rPr lang="zh-CN" altLang="en-US" i="1">
                              <a:latin typeface="Cambria Math" panose="02040503050406030204" pitchFamily="18" charset="0"/>
                              <a:ea typeface="华文新魏" panose="02010800040101010101" pitchFamily="2" charset="-122"/>
                            </a:rPr>
                            <m:t>𝝀</m:t>
                          </m:r>
                        </m:num>
                        <m:den>
                          <m:r>
                            <a:rPr lang="en-US" altLang="zh-CN" i="1">
                              <a:latin typeface="Cambria Math" panose="02040503050406030204" pitchFamily="18" charset="0"/>
                              <a:ea typeface="华文新魏" panose="02010800040101010101" pitchFamily="2" charset="-122"/>
                            </a:rPr>
                            <m:t>𝟐</m:t>
                          </m:r>
                          <m:r>
                            <a:rPr lang="zh-CN" altLang="en-US" i="1">
                              <a:latin typeface="Cambria Math" panose="02040503050406030204" pitchFamily="18" charset="0"/>
                              <a:ea typeface="华文新魏" panose="02010800040101010101" pitchFamily="2" charset="-122"/>
                            </a:rPr>
                            <m:t>𝝅</m:t>
                          </m:r>
                          <m:sSub>
                            <m:sSubPr>
                              <m:ctrlPr>
                                <a:rPr lang="en-US" altLang="zh-CN" i="1">
                                  <a:latin typeface="Cambria Math" panose="02040503050406030204" pitchFamily="18" charset="0"/>
                                  <a:ea typeface="华文新魏" panose="02010800040101010101" pitchFamily="2" charset="-122"/>
                                </a:rPr>
                              </m:ctrlPr>
                            </m:sSubPr>
                            <m:e>
                              <m:r>
                                <a:rPr lang="zh-CN" altLang="en-US" i="1">
                                  <a:latin typeface="Cambria Math" panose="02040503050406030204" pitchFamily="18" charset="0"/>
                                  <a:ea typeface="华文新魏" panose="02010800040101010101" pitchFamily="2" charset="-122"/>
                                </a:rPr>
                                <m:t>𝜺</m:t>
                              </m:r>
                            </m:e>
                            <m:sub>
                              <m:r>
                                <a:rPr lang="en-US" altLang="zh-CN" i="1">
                                  <a:latin typeface="Cambria Math" panose="02040503050406030204" pitchFamily="18" charset="0"/>
                                  <a:ea typeface="华文新魏" panose="02010800040101010101" pitchFamily="2" charset="-122"/>
                                </a:rPr>
                                <m:t>𝟎</m:t>
                              </m:r>
                            </m:sub>
                          </m:sSub>
                          <m:r>
                            <a:rPr lang="en-US" altLang="zh-CN" i="1">
                              <a:latin typeface="Cambria Math" panose="02040503050406030204" pitchFamily="18" charset="0"/>
                              <a:ea typeface="华文新魏" panose="02010800040101010101" pitchFamily="2" charset="-122"/>
                            </a:rPr>
                            <m:t>𝒂</m:t>
                          </m:r>
                        </m:den>
                      </m:f>
                    </m:oMath>
                  </m:oMathPara>
                </a14:m>
                <a:endParaRPr lang="en-US" altLang="zh-CN"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p>
                <a:pPr marL="0" indent="0">
                  <a:buFont typeface="Arial" panose="020B0604020202020204" pitchFamily="34" charset="0"/>
                  <a:buNone/>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无限长均匀带电直线：</a:t>
                </a:r>
                <a14:m>
                  <m:oMath xmlns:m="http://schemas.openxmlformats.org/officeDocument/2006/math">
                    <m:r>
                      <a:rPr lang="en-US" altLang="zh-CN" i="1">
                        <a:solidFill>
                          <a:srgbClr val="0000FF"/>
                        </a:solidFill>
                        <a:latin typeface="Cambria Math" panose="02040503050406030204" pitchFamily="18" charset="0"/>
                        <a:ea typeface="华文新魏" panose="02010800040101010101" pitchFamily="2" charset="-122"/>
                      </a:rPr>
                      <m:t>𝑬</m:t>
                    </m:r>
                    <m:r>
                      <a:rPr lang="en-US" altLang="zh-CN" i="1">
                        <a:solidFill>
                          <a:srgbClr val="0000FF"/>
                        </a:solidFill>
                        <a:latin typeface="Cambria Math" panose="02040503050406030204" pitchFamily="18" charset="0"/>
                        <a:ea typeface="华文新魏" panose="02010800040101010101" pitchFamily="2" charset="-122"/>
                      </a:rPr>
                      <m:t>=</m:t>
                    </m:r>
                    <m:f>
                      <m:fPr>
                        <m:ctrlPr>
                          <a:rPr lang="en-US" altLang="zh-CN" i="1">
                            <a:solidFill>
                              <a:srgbClr val="0000FF"/>
                            </a:solidFill>
                            <a:latin typeface="Cambria Math" panose="02040503050406030204" pitchFamily="18" charset="0"/>
                            <a:ea typeface="华文新魏" panose="02010800040101010101" pitchFamily="2" charset="-122"/>
                          </a:rPr>
                        </m:ctrlPr>
                      </m:fPr>
                      <m:num>
                        <m:r>
                          <a:rPr lang="zh-CN" altLang="en-US" i="1">
                            <a:solidFill>
                              <a:srgbClr val="0000FF"/>
                            </a:solidFill>
                            <a:latin typeface="Cambria Math" panose="02040503050406030204" pitchFamily="18" charset="0"/>
                            <a:ea typeface="华文新魏" panose="02010800040101010101" pitchFamily="2" charset="-122"/>
                          </a:rPr>
                          <m:t>𝝀</m:t>
                        </m:r>
                      </m:num>
                      <m:den>
                        <m:r>
                          <a:rPr lang="en-US" altLang="zh-CN" i="1">
                            <a:solidFill>
                              <a:srgbClr val="0000FF"/>
                            </a:solidFill>
                            <a:latin typeface="Cambria Math" panose="02040503050406030204" pitchFamily="18" charset="0"/>
                            <a:ea typeface="华文新魏" panose="02010800040101010101" pitchFamily="2" charset="-122"/>
                          </a:rPr>
                          <m:t>𝟐</m:t>
                        </m:r>
                        <m:r>
                          <a:rPr lang="zh-CN" altLang="en-US" i="1">
                            <a:solidFill>
                              <a:srgbClr val="0000FF"/>
                            </a:solidFill>
                            <a:latin typeface="Cambria Math" panose="02040503050406030204" pitchFamily="18" charset="0"/>
                            <a:ea typeface="华文新魏" panose="02010800040101010101" pitchFamily="2" charset="-122"/>
                          </a:rPr>
                          <m:t>𝝅</m:t>
                        </m:r>
                        <m:sSub>
                          <m:sSubPr>
                            <m:ctrlPr>
                              <a:rPr lang="en-US" altLang="zh-CN" i="1">
                                <a:solidFill>
                                  <a:srgbClr val="0000FF"/>
                                </a:solidFill>
                                <a:latin typeface="Cambria Math" panose="02040503050406030204" pitchFamily="18" charset="0"/>
                                <a:ea typeface="华文新魏" panose="02010800040101010101" pitchFamily="2" charset="-122"/>
                              </a:rPr>
                            </m:ctrlPr>
                          </m:sSubPr>
                          <m:e>
                            <m:r>
                              <a:rPr lang="zh-CN" altLang="en-US" i="1">
                                <a:solidFill>
                                  <a:srgbClr val="0000FF"/>
                                </a:solidFill>
                                <a:latin typeface="Cambria Math" panose="02040503050406030204" pitchFamily="18" charset="0"/>
                                <a:ea typeface="华文新魏" panose="02010800040101010101" pitchFamily="2" charset="-122"/>
                              </a:rPr>
                              <m:t>𝜺</m:t>
                            </m:r>
                          </m:e>
                          <m:sub>
                            <m:r>
                              <a:rPr lang="en-US" altLang="zh-CN" i="1">
                                <a:solidFill>
                                  <a:srgbClr val="0000FF"/>
                                </a:solidFill>
                                <a:latin typeface="Cambria Math" panose="02040503050406030204" pitchFamily="18" charset="0"/>
                                <a:ea typeface="华文新魏" panose="02010800040101010101" pitchFamily="2" charset="-122"/>
                              </a:rPr>
                              <m:t>𝟎</m:t>
                            </m:r>
                          </m:sub>
                        </m:sSub>
                        <m:r>
                          <a:rPr lang="en-US" altLang="zh-CN" i="1">
                            <a:solidFill>
                              <a:srgbClr val="0000FF"/>
                            </a:solidFill>
                            <a:latin typeface="Cambria Math" panose="02040503050406030204" pitchFamily="18" charset="0"/>
                            <a:ea typeface="华文新魏" panose="02010800040101010101" pitchFamily="2" charset="-122"/>
                          </a:rPr>
                          <m:t>𝒂</m:t>
                        </m:r>
                      </m:den>
                    </m:f>
                  </m:oMath>
                </a14:m>
                <a:endParaRPr lang="zh-CN" altLang="en-US" dirty="0">
                  <a:latin typeface="华文楷体" panose="02010600040101010101" pitchFamily="2" charset="-122"/>
                  <a:ea typeface="华文楷体" panose="02010600040101010101" pitchFamily="2" charset="-122"/>
                </a:endParaRPr>
              </a:p>
            </p:txBody>
          </p:sp>
        </mc:Choice>
        <mc:Fallback xmlns="">
          <p:sp>
            <p:nvSpPr>
              <p:cNvPr id="12" name="内容占位符 3">
                <a:extLst>
                  <a:ext uri="{FF2B5EF4-FFF2-40B4-BE49-F238E27FC236}">
                    <a16:creationId xmlns:a16="http://schemas.microsoft.com/office/drawing/2014/main" id="{03BF204A-5CD0-4154-920E-8BD51D496791}"/>
                  </a:ext>
                </a:extLst>
              </p:cNvPr>
              <p:cNvSpPr txBox="1">
                <a:spLocks noRot="1" noChangeAspect="1" noMove="1" noResize="1" noEditPoints="1" noAdjustHandles="1" noChangeArrowheads="1" noChangeShapeType="1" noTextEdit="1"/>
              </p:cNvSpPr>
              <p:nvPr/>
            </p:nvSpPr>
            <p:spPr>
              <a:xfrm>
                <a:off x="4578889" y="4636510"/>
                <a:ext cx="6433920" cy="2278606"/>
              </a:xfrm>
              <a:prstGeom prst="rect">
                <a:avLst/>
              </a:prstGeom>
              <a:blipFill>
                <a:blip r:embed="rId6"/>
                <a:stretch>
                  <a:fillRect l="-1894" t="-4826"/>
                </a:stretch>
              </a:blipFill>
            </p:spPr>
            <p:txBody>
              <a:bodyPr/>
              <a:lstStyle/>
              <a:p>
                <a:r>
                  <a:rPr lang="en-US">
                    <a:noFill/>
                  </a:rPr>
                  <a:t> </a:t>
                </a:r>
              </a:p>
            </p:txBody>
          </p:sp>
        </mc:Fallback>
      </mc:AlternateContent>
      <p:grpSp>
        <p:nvGrpSpPr>
          <p:cNvPr id="14" name="组合 13">
            <a:extLst>
              <a:ext uri="{FF2B5EF4-FFF2-40B4-BE49-F238E27FC236}">
                <a16:creationId xmlns:a16="http://schemas.microsoft.com/office/drawing/2014/main" id="{C69B6E8C-F93B-4DDB-841C-B0CCF06F8A7B}"/>
              </a:ext>
            </a:extLst>
          </p:cNvPr>
          <p:cNvGrpSpPr/>
          <p:nvPr/>
        </p:nvGrpSpPr>
        <p:grpSpPr>
          <a:xfrm>
            <a:off x="10301015" y="1871253"/>
            <a:ext cx="1828800" cy="3961746"/>
            <a:chOff x="6793650" y="2362854"/>
            <a:chExt cx="1828800" cy="3961746"/>
          </a:xfrm>
        </p:grpSpPr>
        <p:sp>
          <p:nvSpPr>
            <p:cNvPr id="16" name="Line 5">
              <a:extLst>
                <a:ext uri="{FF2B5EF4-FFF2-40B4-BE49-F238E27FC236}">
                  <a16:creationId xmlns:a16="http://schemas.microsoft.com/office/drawing/2014/main" id="{BFB53F75-61F7-42D3-8472-364C1EB2DF63}"/>
                </a:ext>
              </a:extLst>
            </p:cNvPr>
            <p:cNvSpPr>
              <a:spLocks noChangeShapeType="1"/>
            </p:cNvSpPr>
            <p:nvPr/>
          </p:nvSpPr>
          <p:spPr bwMode="auto">
            <a:xfrm flipH="1">
              <a:off x="7708050" y="2362854"/>
              <a:ext cx="13550" cy="3961746"/>
            </a:xfrm>
            <a:prstGeom prst="line">
              <a:avLst/>
            </a:prstGeom>
            <a:noFill/>
            <a:ln w="50800">
              <a:solidFill>
                <a:srgbClr val="FF00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nvGrpSpPr>
            <p:cNvPr id="17" name="Group 6">
              <a:extLst>
                <a:ext uri="{FF2B5EF4-FFF2-40B4-BE49-F238E27FC236}">
                  <a16:creationId xmlns:a16="http://schemas.microsoft.com/office/drawing/2014/main" id="{FBDDDF5B-6438-4ECE-9967-EA25FC19C753}"/>
                </a:ext>
              </a:extLst>
            </p:cNvPr>
            <p:cNvGrpSpPr>
              <a:grpSpLocks/>
            </p:cNvGrpSpPr>
            <p:nvPr/>
          </p:nvGrpSpPr>
          <p:grpSpPr bwMode="auto">
            <a:xfrm>
              <a:off x="6793650" y="2895600"/>
              <a:ext cx="1828800" cy="2895600"/>
              <a:chOff x="4368" y="1824"/>
              <a:chExt cx="1152" cy="1824"/>
            </a:xfrm>
          </p:grpSpPr>
          <p:sp>
            <p:nvSpPr>
              <p:cNvPr id="18" name="Line 7">
                <a:extLst>
                  <a:ext uri="{FF2B5EF4-FFF2-40B4-BE49-F238E27FC236}">
                    <a16:creationId xmlns:a16="http://schemas.microsoft.com/office/drawing/2014/main" id="{17C88719-F784-46C8-8037-F4D88EF9D05F}"/>
                  </a:ext>
                </a:extLst>
              </p:cNvPr>
              <p:cNvSpPr>
                <a:spLocks noChangeShapeType="1"/>
              </p:cNvSpPr>
              <p:nvPr/>
            </p:nvSpPr>
            <p:spPr bwMode="auto">
              <a:xfrm flipH="1">
                <a:off x="4896" y="1824"/>
                <a:ext cx="9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nvGrpSpPr>
              <p:cNvPr id="20" name="Group 8">
                <a:extLst>
                  <a:ext uri="{FF2B5EF4-FFF2-40B4-BE49-F238E27FC236}">
                    <a16:creationId xmlns:a16="http://schemas.microsoft.com/office/drawing/2014/main" id="{887664DB-296A-4D77-B7BB-4892C69B2A21}"/>
                  </a:ext>
                </a:extLst>
              </p:cNvPr>
              <p:cNvGrpSpPr>
                <a:grpSpLocks/>
              </p:cNvGrpSpPr>
              <p:nvPr/>
            </p:nvGrpSpPr>
            <p:grpSpPr bwMode="auto">
              <a:xfrm>
                <a:off x="4368" y="1824"/>
                <a:ext cx="1152" cy="1824"/>
                <a:chOff x="4368" y="1824"/>
                <a:chExt cx="1152" cy="1824"/>
              </a:xfrm>
            </p:grpSpPr>
            <p:grpSp>
              <p:nvGrpSpPr>
                <p:cNvPr id="21" name="Group 9">
                  <a:extLst>
                    <a:ext uri="{FF2B5EF4-FFF2-40B4-BE49-F238E27FC236}">
                      <a16:creationId xmlns:a16="http://schemas.microsoft.com/office/drawing/2014/main" id="{42CA720B-6D45-4F1E-B2BB-2A3B6F9F9F5F}"/>
                    </a:ext>
                  </a:extLst>
                </p:cNvPr>
                <p:cNvGrpSpPr>
                  <a:grpSpLocks/>
                </p:cNvGrpSpPr>
                <p:nvPr/>
              </p:nvGrpSpPr>
              <p:grpSpPr bwMode="auto">
                <a:xfrm>
                  <a:off x="4368" y="1824"/>
                  <a:ext cx="1152" cy="1296"/>
                  <a:chOff x="4368" y="1824"/>
                  <a:chExt cx="1152" cy="1296"/>
                </a:xfrm>
              </p:grpSpPr>
              <p:grpSp>
                <p:nvGrpSpPr>
                  <p:cNvPr id="31" name="Group 10">
                    <a:extLst>
                      <a:ext uri="{FF2B5EF4-FFF2-40B4-BE49-F238E27FC236}">
                        <a16:creationId xmlns:a16="http://schemas.microsoft.com/office/drawing/2014/main" id="{7B387035-7872-48DA-8FAE-B710847CCC9A}"/>
                      </a:ext>
                    </a:extLst>
                  </p:cNvPr>
                  <p:cNvGrpSpPr>
                    <a:grpSpLocks/>
                  </p:cNvGrpSpPr>
                  <p:nvPr/>
                </p:nvGrpSpPr>
                <p:grpSpPr bwMode="auto">
                  <a:xfrm>
                    <a:off x="4368" y="1824"/>
                    <a:ext cx="1152" cy="816"/>
                    <a:chOff x="4368" y="1824"/>
                    <a:chExt cx="1152" cy="816"/>
                  </a:xfrm>
                </p:grpSpPr>
                <p:grpSp>
                  <p:nvGrpSpPr>
                    <p:cNvPr id="41" name="Group 11">
                      <a:extLst>
                        <a:ext uri="{FF2B5EF4-FFF2-40B4-BE49-F238E27FC236}">
                          <a16:creationId xmlns:a16="http://schemas.microsoft.com/office/drawing/2014/main" id="{F4F73D7D-8879-437C-B453-2E95B6D1F4B0}"/>
                        </a:ext>
                      </a:extLst>
                    </p:cNvPr>
                    <p:cNvGrpSpPr>
                      <a:grpSpLocks/>
                    </p:cNvGrpSpPr>
                    <p:nvPr/>
                  </p:nvGrpSpPr>
                  <p:grpSpPr bwMode="auto">
                    <a:xfrm>
                      <a:off x="4368" y="1824"/>
                      <a:ext cx="1152" cy="384"/>
                      <a:chOff x="4368" y="1824"/>
                      <a:chExt cx="1152" cy="384"/>
                    </a:xfrm>
                  </p:grpSpPr>
                  <p:sp>
                    <p:nvSpPr>
                      <p:cNvPr id="51" name="Line 12">
                        <a:extLst>
                          <a:ext uri="{FF2B5EF4-FFF2-40B4-BE49-F238E27FC236}">
                            <a16:creationId xmlns:a16="http://schemas.microsoft.com/office/drawing/2014/main" id="{9A933D53-9B45-4B1D-842B-6B530A05DC9E}"/>
                          </a:ext>
                        </a:extLst>
                      </p:cNvPr>
                      <p:cNvSpPr>
                        <a:spLocks noChangeShapeType="1"/>
                      </p:cNvSpPr>
                      <p:nvPr/>
                    </p:nvSpPr>
                    <p:spPr bwMode="auto">
                      <a:xfrm>
                        <a:off x="4368" y="2016"/>
                        <a:ext cx="1152" cy="0"/>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2" name="Line 13">
                        <a:extLst>
                          <a:ext uri="{FF2B5EF4-FFF2-40B4-BE49-F238E27FC236}">
                            <a16:creationId xmlns:a16="http://schemas.microsoft.com/office/drawing/2014/main" id="{873C39AB-F03B-4D0B-AD00-1A17A86B715C}"/>
                          </a:ext>
                        </a:extLst>
                      </p:cNvPr>
                      <p:cNvSpPr>
                        <a:spLocks noChangeShapeType="1"/>
                      </p:cNvSpPr>
                      <p:nvPr/>
                    </p:nvSpPr>
                    <p:spPr bwMode="auto">
                      <a:xfrm>
                        <a:off x="4848" y="1824"/>
                        <a:ext cx="192"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3" name="Line 14">
                        <a:extLst>
                          <a:ext uri="{FF2B5EF4-FFF2-40B4-BE49-F238E27FC236}">
                            <a16:creationId xmlns:a16="http://schemas.microsoft.com/office/drawing/2014/main" id="{1053BB05-AE68-4865-A914-EACD206C41EA}"/>
                          </a:ext>
                        </a:extLst>
                      </p:cNvPr>
                      <p:cNvSpPr>
                        <a:spLocks noChangeShapeType="1"/>
                      </p:cNvSpPr>
                      <p:nvPr/>
                    </p:nvSpPr>
                    <p:spPr bwMode="auto">
                      <a:xfrm flipV="1">
                        <a:off x="4608" y="1872"/>
                        <a:ext cx="672"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4" name="Line 15">
                        <a:extLst>
                          <a:ext uri="{FF2B5EF4-FFF2-40B4-BE49-F238E27FC236}">
                            <a16:creationId xmlns:a16="http://schemas.microsoft.com/office/drawing/2014/main" id="{63D1503A-E5BD-45E7-962E-55CC844DEA56}"/>
                          </a:ext>
                        </a:extLst>
                      </p:cNvPr>
                      <p:cNvSpPr>
                        <a:spLocks noChangeShapeType="1"/>
                      </p:cNvSpPr>
                      <p:nvPr/>
                    </p:nvSpPr>
                    <p:spPr bwMode="auto">
                      <a:xfrm>
                        <a:off x="4560" y="1872"/>
                        <a:ext cx="768"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5" name="Line 16">
                        <a:extLst>
                          <a:ext uri="{FF2B5EF4-FFF2-40B4-BE49-F238E27FC236}">
                            <a16:creationId xmlns:a16="http://schemas.microsoft.com/office/drawing/2014/main" id="{00813637-E979-44A7-A3A4-D933ED5F4F61}"/>
                          </a:ext>
                        </a:extLst>
                      </p:cNvPr>
                      <p:cNvSpPr>
                        <a:spLocks noChangeShapeType="1"/>
                      </p:cNvSpPr>
                      <p:nvPr/>
                    </p:nvSpPr>
                    <p:spPr bwMode="auto">
                      <a:xfrm flipV="1">
                        <a:off x="4416" y="1920"/>
                        <a:ext cx="1056"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6" name="Line 17">
                        <a:extLst>
                          <a:ext uri="{FF2B5EF4-FFF2-40B4-BE49-F238E27FC236}">
                            <a16:creationId xmlns:a16="http://schemas.microsoft.com/office/drawing/2014/main" id="{7409A3FB-98C2-45A4-9DE9-9F7CCB62152D}"/>
                          </a:ext>
                        </a:extLst>
                      </p:cNvPr>
                      <p:cNvSpPr>
                        <a:spLocks noChangeShapeType="1"/>
                      </p:cNvSpPr>
                      <p:nvPr/>
                    </p:nvSpPr>
                    <p:spPr bwMode="auto">
                      <a:xfrm>
                        <a:off x="4464" y="1920"/>
                        <a:ext cx="1008"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7" name="Line 18">
                        <a:extLst>
                          <a:ext uri="{FF2B5EF4-FFF2-40B4-BE49-F238E27FC236}">
                            <a16:creationId xmlns:a16="http://schemas.microsoft.com/office/drawing/2014/main" id="{519A6810-0AAD-43CB-82FA-35BC06B88017}"/>
                          </a:ext>
                        </a:extLst>
                      </p:cNvPr>
                      <p:cNvSpPr>
                        <a:spLocks noChangeShapeType="1"/>
                      </p:cNvSpPr>
                      <p:nvPr/>
                    </p:nvSpPr>
                    <p:spPr bwMode="auto">
                      <a:xfrm flipV="1">
                        <a:off x="4752" y="1824"/>
                        <a:ext cx="33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8" name="Line 19">
                        <a:extLst>
                          <a:ext uri="{FF2B5EF4-FFF2-40B4-BE49-F238E27FC236}">
                            <a16:creationId xmlns:a16="http://schemas.microsoft.com/office/drawing/2014/main" id="{78C36B94-ECB4-4036-B970-45874F2530C4}"/>
                          </a:ext>
                        </a:extLst>
                      </p:cNvPr>
                      <p:cNvSpPr>
                        <a:spLocks noChangeShapeType="1"/>
                      </p:cNvSpPr>
                      <p:nvPr/>
                    </p:nvSpPr>
                    <p:spPr bwMode="auto">
                      <a:xfrm>
                        <a:off x="4656" y="1824"/>
                        <a:ext cx="528" cy="336"/>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sp>
                  <p:nvSpPr>
                    <p:cNvPr id="42" name="Line 20">
                      <a:extLst>
                        <a:ext uri="{FF2B5EF4-FFF2-40B4-BE49-F238E27FC236}">
                          <a16:creationId xmlns:a16="http://schemas.microsoft.com/office/drawing/2014/main" id="{8A7A18DF-49C9-4F15-82CE-6D91932A6DC8}"/>
                        </a:ext>
                      </a:extLst>
                    </p:cNvPr>
                    <p:cNvSpPr>
                      <a:spLocks noChangeShapeType="1"/>
                    </p:cNvSpPr>
                    <p:nvPr/>
                  </p:nvSpPr>
                  <p:spPr bwMode="auto">
                    <a:xfrm>
                      <a:off x="4368" y="2448"/>
                      <a:ext cx="1152" cy="0"/>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3" name="Line 21">
                      <a:extLst>
                        <a:ext uri="{FF2B5EF4-FFF2-40B4-BE49-F238E27FC236}">
                          <a16:creationId xmlns:a16="http://schemas.microsoft.com/office/drawing/2014/main" id="{04785AD6-5092-44CD-9AFC-F8127E806EF2}"/>
                        </a:ext>
                      </a:extLst>
                    </p:cNvPr>
                    <p:cNvSpPr>
                      <a:spLocks noChangeShapeType="1"/>
                    </p:cNvSpPr>
                    <p:nvPr/>
                  </p:nvSpPr>
                  <p:spPr bwMode="auto">
                    <a:xfrm>
                      <a:off x="4848" y="2256"/>
                      <a:ext cx="192"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4" name="Line 22">
                      <a:extLst>
                        <a:ext uri="{FF2B5EF4-FFF2-40B4-BE49-F238E27FC236}">
                          <a16:creationId xmlns:a16="http://schemas.microsoft.com/office/drawing/2014/main" id="{66558E17-A227-4E0C-938F-2FF4B2B29BB3}"/>
                        </a:ext>
                      </a:extLst>
                    </p:cNvPr>
                    <p:cNvSpPr>
                      <a:spLocks noChangeShapeType="1"/>
                    </p:cNvSpPr>
                    <p:nvPr/>
                  </p:nvSpPr>
                  <p:spPr bwMode="auto">
                    <a:xfrm flipV="1">
                      <a:off x="4608" y="2304"/>
                      <a:ext cx="672"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5" name="Line 23">
                      <a:extLst>
                        <a:ext uri="{FF2B5EF4-FFF2-40B4-BE49-F238E27FC236}">
                          <a16:creationId xmlns:a16="http://schemas.microsoft.com/office/drawing/2014/main" id="{A81D259C-A8D2-41B7-BF41-82272C8DBB3E}"/>
                        </a:ext>
                      </a:extLst>
                    </p:cNvPr>
                    <p:cNvSpPr>
                      <a:spLocks noChangeShapeType="1"/>
                    </p:cNvSpPr>
                    <p:nvPr/>
                  </p:nvSpPr>
                  <p:spPr bwMode="auto">
                    <a:xfrm>
                      <a:off x="4560" y="2304"/>
                      <a:ext cx="768"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6" name="Line 24">
                      <a:extLst>
                        <a:ext uri="{FF2B5EF4-FFF2-40B4-BE49-F238E27FC236}">
                          <a16:creationId xmlns:a16="http://schemas.microsoft.com/office/drawing/2014/main" id="{F58BEC15-AA05-449A-ADFF-72A4FDC44C3F}"/>
                        </a:ext>
                      </a:extLst>
                    </p:cNvPr>
                    <p:cNvSpPr>
                      <a:spLocks noChangeShapeType="1"/>
                    </p:cNvSpPr>
                    <p:nvPr/>
                  </p:nvSpPr>
                  <p:spPr bwMode="auto">
                    <a:xfrm flipV="1">
                      <a:off x="4416" y="2352"/>
                      <a:ext cx="1056"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7" name="Line 25">
                      <a:extLst>
                        <a:ext uri="{FF2B5EF4-FFF2-40B4-BE49-F238E27FC236}">
                          <a16:creationId xmlns:a16="http://schemas.microsoft.com/office/drawing/2014/main" id="{A010A6A3-4332-40C2-BCBB-D3FBF38F825B}"/>
                        </a:ext>
                      </a:extLst>
                    </p:cNvPr>
                    <p:cNvSpPr>
                      <a:spLocks noChangeShapeType="1"/>
                    </p:cNvSpPr>
                    <p:nvPr/>
                  </p:nvSpPr>
                  <p:spPr bwMode="auto">
                    <a:xfrm>
                      <a:off x="4464" y="2352"/>
                      <a:ext cx="1008"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8" name="Line 26">
                      <a:extLst>
                        <a:ext uri="{FF2B5EF4-FFF2-40B4-BE49-F238E27FC236}">
                          <a16:creationId xmlns:a16="http://schemas.microsoft.com/office/drawing/2014/main" id="{3D90805E-C589-403D-A2C4-E19656A0C6C0}"/>
                        </a:ext>
                      </a:extLst>
                    </p:cNvPr>
                    <p:cNvSpPr>
                      <a:spLocks noChangeShapeType="1"/>
                    </p:cNvSpPr>
                    <p:nvPr/>
                  </p:nvSpPr>
                  <p:spPr bwMode="auto">
                    <a:xfrm flipV="1">
                      <a:off x="4752" y="2256"/>
                      <a:ext cx="33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9" name="Line 27">
                      <a:extLst>
                        <a:ext uri="{FF2B5EF4-FFF2-40B4-BE49-F238E27FC236}">
                          <a16:creationId xmlns:a16="http://schemas.microsoft.com/office/drawing/2014/main" id="{C64FE319-F01F-4007-BC03-FCFA6CDBED7C}"/>
                        </a:ext>
                      </a:extLst>
                    </p:cNvPr>
                    <p:cNvSpPr>
                      <a:spLocks noChangeShapeType="1"/>
                    </p:cNvSpPr>
                    <p:nvPr/>
                  </p:nvSpPr>
                  <p:spPr bwMode="auto">
                    <a:xfrm>
                      <a:off x="4656" y="2256"/>
                      <a:ext cx="528" cy="336"/>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50" name="Line 28">
                      <a:extLst>
                        <a:ext uri="{FF2B5EF4-FFF2-40B4-BE49-F238E27FC236}">
                          <a16:creationId xmlns:a16="http://schemas.microsoft.com/office/drawing/2014/main" id="{960CE82E-0301-465C-B298-30377F87EBB2}"/>
                        </a:ext>
                      </a:extLst>
                    </p:cNvPr>
                    <p:cNvSpPr>
                      <a:spLocks noChangeShapeType="1"/>
                    </p:cNvSpPr>
                    <p:nvPr/>
                  </p:nvSpPr>
                  <p:spPr bwMode="auto">
                    <a:xfrm flipH="1">
                      <a:off x="4896" y="2256"/>
                      <a:ext cx="9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sp>
                <p:nvSpPr>
                  <p:cNvPr id="32" name="Line 29">
                    <a:extLst>
                      <a:ext uri="{FF2B5EF4-FFF2-40B4-BE49-F238E27FC236}">
                        <a16:creationId xmlns:a16="http://schemas.microsoft.com/office/drawing/2014/main" id="{599EFCA5-4AE8-4031-A266-3D52194C14C6}"/>
                      </a:ext>
                    </a:extLst>
                  </p:cNvPr>
                  <p:cNvSpPr>
                    <a:spLocks noChangeShapeType="1"/>
                  </p:cNvSpPr>
                  <p:nvPr/>
                </p:nvSpPr>
                <p:spPr bwMode="auto">
                  <a:xfrm>
                    <a:off x="4368" y="2928"/>
                    <a:ext cx="1152" cy="0"/>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3" name="Line 30">
                    <a:extLst>
                      <a:ext uri="{FF2B5EF4-FFF2-40B4-BE49-F238E27FC236}">
                        <a16:creationId xmlns:a16="http://schemas.microsoft.com/office/drawing/2014/main" id="{A7F5E130-EB44-4997-88EE-E488421DC8D0}"/>
                      </a:ext>
                    </a:extLst>
                  </p:cNvPr>
                  <p:cNvSpPr>
                    <a:spLocks noChangeShapeType="1"/>
                  </p:cNvSpPr>
                  <p:nvPr/>
                </p:nvSpPr>
                <p:spPr bwMode="auto">
                  <a:xfrm>
                    <a:off x="4848" y="2736"/>
                    <a:ext cx="192"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4" name="Line 31">
                    <a:extLst>
                      <a:ext uri="{FF2B5EF4-FFF2-40B4-BE49-F238E27FC236}">
                        <a16:creationId xmlns:a16="http://schemas.microsoft.com/office/drawing/2014/main" id="{99420440-0FF4-463C-861B-770CD227C271}"/>
                      </a:ext>
                    </a:extLst>
                  </p:cNvPr>
                  <p:cNvSpPr>
                    <a:spLocks noChangeShapeType="1"/>
                  </p:cNvSpPr>
                  <p:nvPr/>
                </p:nvSpPr>
                <p:spPr bwMode="auto">
                  <a:xfrm flipV="1">
                    <a:off x="4608" y="2784"/>
                    <a:ext cx="672"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5" name="Line 32">
                    <a:extLst>
                      <a:ext uri="{FF2B5EF4-FFF2-40B4-BE49-F238E27FC236}">
                        <a16:creationId xmlns:a16="http://schemas.microsoft.com/office/drawing/2014/main" id="{47A6770A-DAE9-4255-9C9B-89F3CB1BC908}"/>
                      </a:ext>
                    </a:extLst>
                  </p:cNvPr>
                  <p:cNvSpPr>
                    <a:spLocks noChangeShapeType="1"/>
                  </p:cNvSpPr>
                  <p:nvPr/>
                </p:nvSpPr>
                <p:spPr bwMode="auto">
                  <a:xfrm>
                    <a:off x="4560" y="2784"/>
                    <a:ext cx="768"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6" name="Line 33">
                    <a:extLst>
                      <a:ext uri="{FF2B5EF4-FFF2-40B4-BE49-F238E27FC236}">
                        <a16:creationId xmlns:a16="http://schemas.microsoft.com/office/drawing/2014/main" id="{8D2AA4EA-C6E2-4BCE-832A-AAC39BCFB3A6}"/>
                      </a:ext>
                    </a:extLst>
                  </p:cNvPr>
                  <p:cNvSpPr>
                    <a:spLocks noChangeShapeType="1"/>
                  </p:cNvSpPr>
                  <p:nvPr/>
                </p:nvSpPr>
                <p:spPr bwMode="auto">
                  <a:xfrm flipV="1">
                    <a:off x="4416" y="2832"/>
                    <a:ext cx="1056"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7" name="Line 34">
                    <a:extLst>
                      <a:ext uri="{FF2B5EF4-FFF2-40B4-BE49-F238E27FC236}">
                        <a16:creationId xmlns:a16="http://schemas.microsoft.com/office/drawing/2014/main" id="{BD263413-BDC0-4A10-BC71-3754E8738D55}"/>
                      </a:ext>
                    </a:extLst>
                  </p:cNvPr>
                  <p:cNvSpPr>
                    <a:spLocks noChangeShapeType="1"/>
                  </p:cNvSpPr>
                  <p:nvPr/>
                </p:nvSpPr>
                <p:spPr bwMode="auto">
                  <a:xfrm>
                    <a:off x="4464" y="2832"/>
                    <a:ext cx="1008"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8" name="Line 35">
                    <a:extLst>
                      <a:ext uri="{FF2B5EF4-FFF2-40B4-BE49-F238E27FC236}">
                        <a16:creationId xmlns:a16="http://schemas.microsoft.com/office/drawing/2014/main" id="{0A7B713F-DA6C-4A26-BCB7-72F30FE564F4}"/>
                      </a:ext>
                    </a:extLst>
                  </p:cNvPr>
                  <p:cNvSpPr>
                    <a:spLocks noChangeShapeType="1"/>
                  </p:cNvSpPr>
                  <p:nvPr/>
                </p:nvSpPr>
                <p:spPr bwMode="auto">
                  <a:xfrm flipV="1">
                    <a:off x="4752" y="2736"/>
                    <a:ext cx="33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9" name="Line 36">
                    <a:extLst>
                      <a:ext uri="{FF2B5EF4-FFF2-40B4-BE49-F238E27FC236}">
                        <a16:creationId xmlns:a16="http://schemas.microsoft.com/office/drawing/2014/main" id="{774D3CB1-01A9-4FED-BCA8-97F7E8202A06}"/>
                      </a:ext>
                    </a:extLst>
                  </p:cNvPr>
                  <p:cNvSpPr>
                    <a:spLocks noChangeShapeType="1"/>
                  </p:cNvSpPr>
                  <p:nvPr/>
                </p:nvSpPr>
                <p:spPr bwMode="auto">
                  <a:xfrm>
                    <a:off x="4656" y="2736"/>
                    <a:ext cx="528" cy="336"/>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40" name="Line 37">
                    <a:extLst>
                      <a:ext uri="{FF2B5EF4-FFF2-40B4-BE49-F238E27FC236}">
                        <a16:creationId xmlns:a16="http://schemas.microsoft.com/office/drawing/2014/main" id="{91500A2C-6B03-4AFE-8D45-E6FB24F29537}"/>
                      </a:ext>
                    </a:extLst>
                  </p:cNvPr>
                  <p:cNvSpPr>
                    <a:spLocks noChangeShapeType="1"/>
                  </p:cNvSpPr>
                  <p:nvPr/>
                </p:nvSpPr>
                <p:spPr bwMode="auto">
                  <a:xfrm flipH="1">
                    <a:off x="4896" y="2736"/>
                    <a:ext cx="9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sp>
              <p:nvSpPr>
                <p:cNvPr id="22" name="Line 38">
                  <a:extLst>
                    <a:ext uri="{FF2B5EF4-FFF2-40B4-BE49-F238E27FC236}">
                      <a16:creationId xmlns:a16="http://schemas.microsoft.com/office/drawing/2014/main" id="{2870C02F-F9D9-4D40-BE46-F10FD161B689}"/>
                    </a:ext>
                  </a:extLst>
                </p:cNvPr>
                <p:cNvSpPr>
                  <a:spLocks noChangeShapeType="1"/>
                </p:cNvSpPr>
                <p:nvPr/>
              </p:nvSpPr>
              <p:spPr bwMode="auto">
                <a:xfrm>
                  <a:off x="4368" y="3456"/>
                  <a:ext cx="1152" cy="0"/>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3" name="Line 39">
                  <a:extLst>
                    <a:ext uri="{FF2B5EF4-FFF2-40B4-BE49-F238E27FC236}">
                      <a16:creationId xmlns:a16="http://schemas.microsoft.com/office/drawing/2014/main" id="{FEA4FBD6-4B48-4CDB-AF03-D94A5E08E708}"/>
                    </a:ext>
                  </a:extLst>
                </p:cNvPr>
                <p:cNvSpPr>
                  <a:spLocks noChangeShapeType="1"/>
                </p:cNvSpPr>
                <p:nvPr/>
              </p:nvSpPr>
              <p:spPr bwMode="auto">
                <a:xfrm>
                  <a:off x="4848" y="3264"/>
                  <a:ext cx="192"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4" name="Line 40">
                  <a:extLst>
                    <a:ext uri="{FF2B5EF4-FFF2-40B4-BE49-F238E27FC236}">
                      <a16:creationId xmlns:a16="http://schemas.microsoft.com/office/drawing/2014/main" id="{5D85A69B-BB33-4EE9-8AB9-8E77E02D49AC}"/>
                    </a:ext>
                  </a:extLst>
                </p:cNvPr>
                <p:cNvSpPr>
                  <a:spLocks noChangeShapeType="1"/>
                </p:cNvSpPr>
                <p:nvPr/>
              </p:nvSpPr>
              <p:spPr bwMode="auto">
                <a:xfrm flipV="1">
                  <a:off x="4608" y="3312"/>
                  <a:ext cx="672"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5" name="Line 41">
                  <a:extLst>
                    <a:ext uri="{FF2B5EF4-FFF2-40B4-BE49-F238E27FC236}">
                      <a16:creationId xmlns:a16="http://schemas.microsoft.com/office/drawing/2014/main" id="{B32B6D32-EDF4-4D78-8C77-E3A1B39E5904}"/>
                    </a:ext>
                  </a:extLst>
                </p:cNvPr>
                <p:cNvSpPr>
                  <a:spLocks noChangeShapeType="1"/>
                </p:cNvSpPr>
                <p:nvPr/>
              </p:nvSpPr>
              <p:spPr bwMode="auto">
                <a:xfrm>
                  <a:off x="4560" y="3312"/>
                  <a:ext cx="768" cy="288"/>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6" name="Line 42">
                  <a:extLst>
                    <a:ext uri="{FF2B5EF4-FFF2-40B4-BE49-F238E27FC236}">
                      <a16:creationId xmlns:a16="http://schemas.microsoft.com/office/drawing/2014/main" id="{19A8BF31-4A30-4594-BBB5-E9E12046AD1C}"/>
                    </a:ext>
                  </a:extLst>
                </p:cNvPr>
                <p:cNvSpPr>
                  <a:spLocks noChangeShapeType="1"/>
                </p:cNvSpPr>
                <p:nvPr/>
              </p:nvSpPr>
              <p:spPr bwMode="auto">
                <a:xfrm flipV="1">
                  <a:off x="4416" y="3360"/>
                  <a:ext cx="1056"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7" name="Line 43">
                  <a:extLst>
                    <a:ext uri="{FF2B5EF4-FFF2-40B4-BE49-F238E27FC236}">
                      <a16:creationId xmlns:a16="http://schemas.microsoft.com/office/drawing/2014/main" id="{9C6140D4-BFD7-4879-B2EF-A950606DECD1}"/>
                    </a:ext>
                  </a:extLst>
                </p:cNvPr>
                <p:cNvSpPr>
                  <a:spLocks noChangeShapeType="1"/>
                </p:cNvSpPr>
                <p:nvPr/>
              </p:nvSpPr>
              <p:spPr bwMode="auto">
                <a:xfrm>
                  <a:off x="4464" y="3360"/>
                  <a:ext cx="1008" cy="192"/>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8" name="Line 44">
                  <a:extLst>
                    <a:ext uri="{FF2B5EF4-FFF2-40B4-BE49-F238E27FC236}">
                      <a16:creationId xmlns:a16="http://schemas.microsoft.com/office/drawing/2014/main" id="{1600C53C-2368-42C8-A06F-8379593358E1}"/>
                    </a:ext>
                  </a:extLst>
                </p:cNvPr>
                <p:cNvSpPr>
                  <a:spLocks noChangeShapeType="1"/>
                </p:cNvSpPr>
                <p:nvPr/>
              </p:nvSpPr>
              <p:spPr bwMode="auto">
                <a:xfrm flipV="1">
                  <a:off x="4752" y="3264"/>
                  <a:ext cx="33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29" name="Line 45">
                  <a:extLst>
                    <a:ext uri="{FF2B5EF4-FFF2-40B4-BE49-F238E27FC236}">
                      <a16:creationId xmlns:a16="http://schemas.microsoft.com/office/drawing/2014/main" id="{83311468-BABF-4C7A-8E41-A5E168599F9A}"/>
                    </a:ext>
                  </a:extLst>
                </p:cNvPr>
                <p:cNvSpPr>
                  <a:spLocks noChangeShapeType="1"/>
                </p:cNvSpPr>
                <p:nvPr/>
              </p:nvSpPr>
              <p:spPr bwMode="auto">
                <a:xfrm>
                  <a:off x="4656" y="3264"/>
                  <a:ext cx="528" cy="336"/>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sp>
              <p:nvSpPr>
                <p:cNvPr id="30" name="Line 46">
                  <a:extLst>
                    <a:ext uri="{FF2B5EF4-FFF2-40B4-BE49-F238E27FC236}">
                      <a16:creationId xmlns:a16="http://schemas.microsoft.com/office/drawing/2014/main" id="{9229FED8-7896-4C97-BDE8-50E2EF223BB3}"/>
                    </a:ext>
                  </a:extLst>
                </p:cNvPr>
                <p:cNvSpPr>
                  <a:spLocks noChangeShapeType="1"/>
                </p:cNvSpPr>
                <p:nvPr/>
              </p:nvSpPr>
              <p:spPr bwMode="auto">
                <a:xfrm flipH="1">
                  <a:off x="4896" y="3264"/>
                  <a:ext cx="96" cy="384"/>
                </a:xfrm>
                <a:prstGeom prst="line">
                  <a:avLst/>
                </a:prstGeom>
                <a:noFill/>
                <a:ln w="12700">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华文新魏" panose="02010800040101010101" pitchFamily="2" charset="-122"/>
                    <a:cs typeface="Times New Roman" panose="02020603050405020304" pitchFamily="18" charset="0"/>
                  </a:endParaRPr>
                </a:p>
              </p:txBody>
            </p:sp>
          </p:grpSp>
        </p:grpSp>
      </p:grpSp>
    </p:spTree>
    <p:extLst>
      <p:ext uri="{BB962C8B-B14F-4D97-AF65-F5344CB8AC3E}">
        <p14:creationId xmlns:p14="http://schemas.microsoft.com/office/powerpoint/2010/main" val="41104759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p:cNvSpPr>
                <a:spLocks noGrp="1"/>
              </p:cNvSpPr>
              <p:nvPr>
                <p:ph type="title"/>
              </p:nvPr>
            </p:nvSpPr>
            <p:spPr>
              <a:xfrm>
                <a:off x="789152" y="598564"/>
                <a:ext cx="8190910" cy="615921"/>
              </a:xfrm>
            </p:spPr>
            <p:txBody>
              <a:bodyPr>
                <a:noAutofit/>
              </a:bodyPr>
              <a:lstStyle/>
              <a:p>
                <a:r>
                  <a:rPr lang="en-US" altLang="zh-CN" sz="2800" dirty="0">
                    <a:solidFill>
                      <a:srgbClr val="0000FF"/>
                    </a:solidFill>
                    <a:latin typeface="华文楷体" panose="02010600040101010101" pitchFamily="2" charset="-122"/>
                    <a:ea typeface="华文楷体" panose="02010600040101010101" pitchFamily="2" charset="-122"/>
                  </a:rPr>
                  <a:t>[</a:t>
                </a:r>
                <a:r>
                  <a:rPr lang="zh-CN" altLang="en-US" sz="2800" dirty="0">
                    <a:solidFill>
                      <a:srgbClr val="0000FF"/>
                    </a:solidFill>
                    <a:latin typeface="华文楷体" panose="02010600040101010101" pitchFamily="2" charset="-122"/>
                    <a:ea typeface="华文楷体" panose="02010600040101010101" pitchFamily="2" charset="-122"/>
                  </a:rPr>
                  <a:t>例</a:t>
                </a:r>
                <a:r>
                  <a:rPr lang="en-US" altLang="zh-CN" sz="2800" dirty="0">
                    <a:solidFill>
                      <a:srgbClr val="0000FF"/>
                    </a:solidFill>
                    <a:latin typeface="华文楷体" panose="02010600040101010101" pitchFamily="2" charset="-122"/>
                    <a:ea typeface="华文楷体" panose="02010600040101010101" pitchFamily="2" charset="-122"/>
                  </a:rPr>
                  <a:t>12.5]</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求一均匀带电圆环轴线上任一点</a:t>
                </a:r>
                <a14:m>
                  <m:oMath xmlns:m="http://schemas.openxmlformats.org/officeDocument/2006/math">
                    <m:r>
                      <a:rPr lang="en-US" altLang="zh-CN" sz="2800" i="1" dirty="0">
                        <a:latin typeface="Cambria Math" panose="02040503050406030204" pitchFamily="18" charset="0"/>
                        <a:ea typeface="华文新魏" panose="02010800040101010101" pitchFamily="2" charset="-122"/>
                        <a:cs typeface="Times New Roman" panose="02020603050405020304" pitchFamily="18" charset="0"/>
                      </a:rPr>
                      <m:t>𝒙</m:t>
                    </m:r>
                  </m:oMath>
                </a14:m>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处的电场</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dirty="0">
                  <a:latin typeface="华文楷体" panose="02010600040101010101" pitchFamily="2" charset="-122"/>
                  <a:ea typeface="华文楷体" panose="02010600040101010101" pitchFamily="2" charset="-122"/>
                </a:endParaRPr>
              </a:p>
            </p:txBody>
          </p:sp>
        </mc:Choice>
        <mc:Fallback xmlns="">
          <p:sp>
            <p:nvSpPr>
              <p:cNvPr id="3" name="标题 2"/>
              <p:cNvSpPr>
                <a:spLocks noGrp="1" noRot="1" noChangeAspect="1" noMove="1" noResize="1" noEditPoints="1" noAdjustHandles="1" noChangeArrowheads="1" noChangeShapeType="1" noTextEdit="1"/>
              </p:cNvSpPr>
              <p:nvPr>
                <p:ph type="title"/>
              </p:nvPr>
            </p:nvSpPr>
            <p:spPr>
              <a:xfrm>
                <a:off x="789152" y="598564"/>
                <a:ext cx="8190910" cy="615921"/>
              </a:xfrm>
              <a:blipFill>
                <a:blip r:embed="rId2"/>
                <a:stretch>
                  <a:fillRect l="-1488" t="-5941" b="-16832"/>
                </a:stretch>
              </a:blipFill>
            </p:spPr>
            <p:txBody>
              <a:bodyPr/>
              <a:lstStyle/>
              <a:p>
                <a:r>
                  <a:rPr lang="en-US">
                    <a:noFill/>
                  </a:rPr>
                  <a:t> </a:t>
                </a:r>
              </a:p>
            </p:txBody>
          </p:sp>
        </mc:Fallback>
      </mc:AlternateContent>
      <p:sp>
        <p:nvSpPr>
          <p:cNvPr id="6" name="内容占位符 5"/>
          <p:cNvSpPr>
            <a:spLocks noGrp="1"/>
          </p:cNvSpPr>
          <p:nvPr>
            <p:ph idx="1"/>
          </p:nvPr>
        </p:nvSpPr>
        <p:spPr>
          <a:xfrm>
            <a:off x="1968369" y="5275149"/>
            <a:ext cx="9614031" cy="704497"/>
          </a:xfrm>
        </p:spPr>
        <p:txBody>
          <a:bodyPr>
            <a:normAutofit/>
          </a:bodyPr>
          <a:lstStyle/>
          <a:p>
            <a:pPr marL="0" indent="0">
              <a:buNone/>
            </a:pPr>
            <a:r>
              <a:rPr lang="zh-CN" altLang="en-US" dirty="0">
                <a:solidFill>
                  <a:srgbClr val="000000"/>
                </a:solidFill>
                <a:latin typeface="华文楷体" panose="02010600040101010101" pitchFamily="2" charset="-122"/>
                <a:ea typeface="华文楷体" panose="02010600040101010101" pitchFamily="2" charset="-122"/>
              </a:rPr>
              <a:t>如图建立坐标系。</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对称性可知垂直方向电场强度为</a:t>
            </a:r>
            <a:r>
              <a:rPr lang="en-US" altLang="zh-CN" dirty="0">
                <a:latin typeface="华文楷体" panose="02010600040101010101" pitchFamily="2" charset="-122"/>
                <a:ea typeface="华文楷体" panose="02010600040101010101" pitchFamily="2" charset="-122"/>
                <a:cs typeface="Times New Roman" panose="02020603050405020304" pitchFamily="18" charset="0"/>
              </a:rPr>
              <a:t>0</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7405" name="Rectangle 4"/>
              <p:cNvSpPr>
                <a:spLocks noChangeArrowheads="1"/>
              </p:cNvSpPr>
              <p:nvPr/>
            </p:nvSpPr>
            <p:spPr bwMode="auto">
              <a:xfrm>
                <a:off x="6311770" y="2571638"/>
                <a:ext cx="498534"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𝒑</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05" name="Rectangle 4"/>
              <p:cNvSpPr>
                <a:spLocks noRot="1" noChangeAspect="1" noMove="1" noResize="1" noEditPoints="1" noAdjustHandles="1" noChangeArrowheads="1" noChangeShapeType="1" noTextEdit="1"/>
              </p:cNvSpPr>
              <p:nvPr/>
            </p:nvSpPr>
            <p:spPr bwMode="auto">
              <a:xfrm>
                <a:off x="6311770" y="2571638"/>
                <a:ext cx="498534" cy="523862"/>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7407" name="Oval 6"/>
          <p:cNvSpPr>
            <a:spLocks noChangeArrowheads="1"/>
          </p:cNvSpPr>
          <p:nvPr/>
        </p:nvSpPr>
        <p:spPr bwMode="auto">
          <a:xfrm>
            <a:off x="3303457" y="1895362"/>
            <a:ext cx="1143000" cy="2438400"/>
          </a:xfrm>
          <a:prstGeom prst="ellipse">
            <a:avLst/>
          </a:prstGeom>
          <a:noFill/>
          <a:ln w="762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57408" name="Line 7"/>
          <p:cNvSpPr>
            <a:spLocks noChangeShapeType="1"/>
          </p:cNvSpPr>
          <p:nvPr/>
        </p:nvSpPr>
        <p:spPr bwMode="auto">
          <a:xfrm>
            <a:off x="3874957" y="3152662"/>
            <a:ext cx="24765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09" name="Line 8"/>
          <p:cNvSpPr>
            <a:spLocks noChangeShapeType="1"/>
          </p:cNvSpPr>
          <p:nvPr/>
        </p:nvSpPr>
        <p:spPr bwMode="auto">
          <a:xfrm>
            <a:off x="3874957" y="1871551"/>
            <a:ext cx="2514600" cy="1281113"/>
          </a:xfrm>
          <a:prstGeom prst="line">
            <a:avLst/>
          </a:prstGeom>
          <a:noFill/>
          <a:ln w="28575">
            <a:solidFill>
              <a:srgbClr val="FF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10" name="Line 9"/>
          <p:cNvSpPr>
            <a:spLocks noChangeShapeType="1"/>
          </p:cNvSpPr>
          <p:nvPr/>
        </p:nvSpPr>
        <p:spPr bwMode="auto">
          <a:xfrm>
            <a:off x="3874957" y="1857262"/>
            <a:ext cx="0" cy="1295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7412" name="Rectangle 11"/>
              <p:cNvSpPr>
                <a:spLocks noChangeArrowheads="1"/>
              </p:cNvSpPr>
              <p:nvPr/>
            </p:nvSpPr>
            <p:spPr bwMode="auto">
              <a:xfrm>
                <a:off x="3493957" y="2358913"/>
                <a:ext cx="357188"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𝑹</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12" name="Rectangle 11"/>
              <p:cNvSpPr>
                <a:spLocks noRot="1" noChangeAspect="1" noMove="1" noResize="1" noEditPoints="1" noAdjustHandles="1" noChangeArrowheads="1" noChangeShapeType="1" noTextEdit="1"/>
              </p:cNvSpPr>
              <p:nvPr/>
            </p:nvSpPr>
            <p:spPr bwMode="auto">
              <a:xfrm>
                <a:off x="3493957" y="2358913"/>
                <a:ext cx="357188" cy="519113"/>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416" name="Rectangle 15"/>
              <p:cNvSpPr>
                <a:spLocks noChangeArrowheads="1"/>
              </p:cNvSpPr>
              <p:nvPr/>
            </p:nvSpPr>
            <p:spPr bwMode="auto">
              <a:xfrm>
                <a:off x="5094158" y="2023951"/>
                <a:ext cx="468313" cy="523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𝒓</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16" name="Rectangle 15"/>
              <p:cNvSpPr>
                <a:spLocks noRot="1" noChangeAspect="1" noMove="1" noResize="1" noEditPoints="1" noAdjustHandles="1" noChangeArrowheads="1" noChangeShapeType="1" noTextEdit="1"/>
              </p:cNvSpPr>
              <p:nvPr/>
            </p:nvSpPr>
            <p:spPr bwMode="auto">
              <a:xfrm>
                <a:off x="5094158" y="2023951"/>
                <a:ext cx="468313" cy="523875"/>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7393" name="Line 28"/>
          <p:cNvSpPr>
            <a:spLocks noChangeShapeType="1"/>
          </p:cNvSpPr>
          <p:nvPr/>
        </p:nvSpPr>
        <p:spPr bwMode="auto">
          <a:xfrm>
            <a:off x="6368919" y="3152662"/>
            <a:ext cx="1041283" cy="533401"/>
          </a:xfrm>
          <a:prstGeom prst="line">
            <a:avLst/>
          </a:prstGeom>
          <a:noFill/>
          <a:ln w="381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354" name="Object 45"/>
          <p:cNvSpPr txBox="1"/>
          <p:nvPr/>
        </p:nvSpPr>
        <p:spPr bwMode="auto">
          <a:xfrm>
            <a:off x="5333869" y="3765437"/>
            <a:ext cx="114300" cy="215900"/>
          </a:xfrm>
          <a:prstGeom prst="rect">
            <a:avLst/>
          </a:prstGeom>
          <a:noFill/>
          <a:ln>
            <a:noFill/>
          </a:ln>
          <a:effectLst/>
        </p:spPr>
        <p:txBody>
          <a:bodyPr>
            <a:normAutofit fontScale="47500" lnSpcReduction="20000"/>
          </a:bodyPr>
          <a:lstStyle/>
          <a:p>
            <a:endParaRPr lang="zh-CN" altLang="en-US">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 name="文本框 1"/>
              <p:cNvSpPr txBox="1"/>
              <p:nvPr/>
            </p:nvSpPr>
            <p:spPr>
              <a:xfrm>
                <a:off x="3523602" y="1379988"/>
                <a:ext cx="5370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𝒅𝒒</m:t>
                      </m:r>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523602" y="1379988"/>
                <a:ext cx="537006" cy="430887"/>
              </a:xfrm>
              <a:prstGeom prst="rect">
                <a:avLst/>
              </a:prstGeom>
              <a:blipFill>
                <a:blip r:embed="rId6"/>
                <a:stretch>
                  <a:fillRect/>
                </a:stretch>
              </a:blipFill>
            </p:spPr>
            <p:txBody>
              <a:bodyPr/>
              <a:lstStyle/>
              <a:p>
                <a:r>
                  <a:rPr lang="en-US">
                    <a:noFill/>
                  </a:rPr>
                  <a:t> </a:t>
                </a:r>
              </a:p>
            </p:txBody>
          </p:sp>
        </mc:Fallback>
      </mc:AlternateContent>
      <p:sp>
        <p:nvSpPr>
          <p:cNvPr id="4" name="任意多边形 3"/>
          <p:cNvSpPr/>
          <p:nvPr/>
        </p:nvSpPr>
        <p:spPr bwMode="auto">
          <a:xfrm rot="21058951">
            <a:off x="3750513" y="1874276"/>
            <a:ext cx="240953" cy="45719"/>
          </a:xfrm>
          <a:custGeom>
            <a:avLst/>
            <a:gdLst>
              <a:gd name="connsiteX0" fmla="*/ 0 w 518475"/>
              <a:gd name="connsiteY0" fmla="*/ 114739 h 190153"/>
              <a:gd name="connsiteX1" fmla="*/ 245097 w 518475"/>
              <a:gd name="connsiteY1" fmla="*/ 1617 h 190153"/>
              <a:gd name="connsiteX2" fmla="*/ 518475 w 518475"/>
              <a:gd name="connsiteY2" fmla="*/ 190153 h 190153"/>
            </a:gdLst>
            <a:ahLst/>
            <a:cxnLst>
              <a:cxn ang="0">
                <a:pos x="connsiteX0" y="connsiteY0"/>
              </a:cxn>
              <a:cxn ang="0">
                <a:pos x="connsiteX1" y="connsiteY1"/>
              </a:cxn>
              <a:cxn ang="0">
                <a:pos x="connsiteX2" y="connsiteY2"/>
              </a:cxn>
            </a:cxnLst>
            <a:rect l="l" t="t" r="r" b="b"/>
            <a:pathLst>
              <a:path w="518475" h="190153">
                <a:moveTo>
                  <a:pt x="0" y="114739"/>
                </a:moveTo>
                <a:cubicBezTo>
                  <a:pt x="79342" y="51893"/>
                  <a:pt x="158685" y="-10952"/>
                  <a:pt x="245097" y="1617"/>
                </a:cubicBezTo>
                <a:cubicBezTo>
                  <a:pt x="331509" y="14186"/>
                  <a:pt x="424992" y="102169"/>
                  <a:pt x="518475" y="190153"/>
                </a:cubicBezTo>
              </a:path>
            </a:pathLst>
          </a:custGeom>
          <a:no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kumimoji="1" lang="zh-CN" altLang="en-US" b="1">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1" name="文本框 80"/>
              <p:cNvSpPr txBox="1"/>
              <p:nvPr/>
            </p:nvSpPr>
            <p:spPr>
              <a:xfrm>
                <a:off x="7273868" y="3631413"/>
                <a:ext cx="632636" cy="483146"/>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2A7315"/>
                          </a:solidFill>
                          <a:latin typeface="Cambria Math" panose="02040503050406030204" pitchFamily="18" charset="0"/>
                        </a:rPr>
                        <m:t>𝒅</m:t>
                      </m:r>
                      <m:acc>
                        <m:accPr>
                          <m:chr m:val="⃗"/>
                          <m:ctrlPr>
                            <a:rPr lang="en-US" altLang="zh-CN" sz="2800" b="1" i="1">
                              <a:solidFill>
                                <a:srgbClr val="2A7315"/>
                              </a:solidFill>
                              <a:latin typeface="Cambria Math" panose="02040503050406030204" pitchFamily="18" charset="0"/>
                            </a:rPr>
                          </m:ctrlPr>
                        </m:accPr>
                        <m:e>
                          <m:r>
                            <a:rPr lang="en-US" altLang="zh-CN" sz="2800" b="1" i="1">
                              <a:solidFill>
                                <a:srgbClr val="2A7315"/>
                              </a:solidFill>
                              <a:latin typeface="Cambria Math" panose="02040503050406030204" pitchFamily="18" charset="0"/>
                            </a:rPr>
                            <m:t>𝑬</m:t>
                          </m:r>
                        </m:e>
                      </m:acc>
                    </m:oMath>
                  </m:oMathPara>
                </a14:m>
                <a:endParaRPr lang="zh-CN" altLang="en-US" sz="2800" dirty="0">
                  <a:solidFill>
                    <a:srgbClr val="2A7315"/>
                  </a:solidFill>
                  <a:latin typeface="华文楷体" panose="02010600040101010101" pitchFamily="2" charset="-122"/>
                  <a:ea typeface="华文楷体" panose="02010600040101010101" pitchFamily="2" charset="-122"/>
                </a:endParaRPr>
              </a:p>
            </p:txBody>
          </p:sp>
        </mc:Choice>
        <mc:Fallback xmlns="">
          <p:sp>
            <p:nvSpPr>
              <p:cNvPr id="81" name="文本框 80"/>
              <p:cNvSpPr txBox="1">
                <a:spLocks noRot="1" noChangeAspect="1" noMove="1" noResize="1" noEditPoints="1" noAdjustHandles="1" noChangeArrowheads="1" noChangeShapeType="1" noTextEdit="1"/>
              </p:cNvSpPr>
              <p:nvPr/>
            </p:nvSpPr>
            <p:spPr>
              <a:xfrm>
                <a:off x="7273868" y="3631413"/>
                <a:ext cx="632636" cy="483146"/>
              </a:xfrm>
              <a:prstGeom prst="rect">
                <a:avLst/>
              </a:prstGeom>
              <a:blipFill>
                <a:blip r:embed="rId7"/>
                <a:stretch>
                  <a:fillRect/>
                </a:stretch>
              </a:blipFill>
              <a:ln>
                <a:noFill/>
              </a:ln>
            </p:spPr>
            <p:txBody>
              <a:bodyPr/>
              <a:lstStyle/>
              <a:p>
                <a:r>
                  <a:rPr lang="en-US">
                    <a:noFill/>
                  </a:rPr>
                  <a:t> </a:t>
                </a:r>
              </a:p>
            </p:txBody>
          </p:sp>
        </mc:Fallback>
      </mc:AlternateContent>
      <p:grpSp>
        <p:nvGrpSpPr>
          <p:cNvPr id="5" name="组合 4"/>
          <p:cNvGrpSpPr/>
          <p:nvPr/>
        </p:nvGrpSpPr>
        <p:grpSpPr>
          <a:xfrm>
            <a:off x="3587620" y="2076338"/>
            <a:ext cx="4591550" cy="1545768"/>
            <a:chOff x="2768601" y="1316038"/>
            <a:chExt cx="4591550" cy="1545768"/>
          </a:xfrm>
        </p:grpSpPr>
        <mc:AlternateContent xmlns:mc="http://schemas.openxmlformats.org/markup-compatibility/2006" xmlns:a14="http://schemas.microsoft.com/office/drawing/2010/main">
          <mc:Choice Requires="a14">
            <p:sp>
              <p:nvSpPr>
                <p:cNvPr id="57411" name="Rectangle 10"/>
                <p:cNvSpPr>
                  <a:spLocks noChangeArrowheads="1"/>
                </p:cNvSpPr>
                <p:nvPr/>
              </p:nvSpPr>
              <p:spPr bwMode="auto">
                <a:xfrm>
                  <a:off x="2768601" y="2325688"/>
                  <a:ext cx="538163" cy="523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solidFill>
                              <a:srgbClr val="0000FF"/>
                            </a:solidFill>
                            <a:latin typeface="Cambria Math" panose="02040503050406030204" pitchFamily="18" charset="0"/>
                          </a:rPr>
                          <m:t>𝑶</m:t>
                        </m:r>
                      </m:oMath>
                    </m:oMathPara>
                  </a14:m>
                  <a:endParaRPr lang="en-US" altLang="zh-CN" sz="2800" i="1" dirty="0">
                    <a:solidFill>
                      <a:srgbClr val="0000FF"/>
                    </a:solidFill>
                    <a:latin typeface="华文楷体" panose="02010600040101010101" pitchFamily="2" charset="-122"/>
                    <a:ea typeface="华文楷体" panose="02010600040101010101" pitchFamily="2" charset="-122"/>
                  </a:endParaRPr>
                </a:p>
              </p:txBody>
            </p:sp>
          </mc:Choice>
          <mc:Fallback xmlns="">
            <p:sp>
              <p:nvSpPr>
                <p:cNvPr id="57411" name="Rectangle 10"/>
                <p:cNvSpPr>
                  <a:spLocks noRot="1" noChangeAspect="1" noMove="1" noResize="1" noEditPoints="1" noAdjustHandles="1" noChangeArrowheads="1" noChangeShapeType="1" noTextEdit="1"/>
                </p:cNvSpPr>
                <p:nvPr/>
              </p:nvSpPr>
              <p:spPr bwMode="auto">
                <a:xfrm>
                  <a:off x="2768601" y="2325688"/>
                  <a:ext cx="538163" cy="523875"/>
                </a:xfrm>
                <a:prstGeom prst="rect">
                  <a:avLst/>
                </a:prstGeom>
                <a:blipFill rotWithShape="0">
                  <a:blip r:embed="rId1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7398" name="Line 19"/>
            <p:cNvSpPr>
              <a:spLocks noChangeShapeType="1"/>
            </p:cNvSpPr>
            <p:nvPr/>
          </p:nvSpPr>
          <p:spPr bwMode="auto">
            <a:xfrm>
              <a:off x="5387976" y="2393951"/>
              <a:ext cx="1624013" cy="11113"/>
            </a:xfrm>
            <a:prstGeom prst="line">
              <a:avLst/>
            </a:prstGeom>
            <a:noFill/>
            <a:ln w="28575">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00" name="Line 21"/>
            <p:cNvSpPr>
              <a:spLocks noChangeShapeType="1"/>
            </p:cNvSpPr>
            <p:nvPr/>
          </p:nvSpPr>
          <p:spPr bwMode="auto">
            <a:xfrm flipV="1">
              <a:off x="5540376" y="1316038"/>
              <a:ext cx="0" cy="1066800"/>
            </a:xfrm>
            <a:prstGeom prst="line">
              <a:avLst/>
            </a:prstGeom>
            <a:noFill/>
            <a:ln w="28575">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0" name="文本框 79"/>
                <p:cNvSpPr txBox="1"/>
                <p:nvPr/>
              </p:nvSpPr>
              <p:spPr>
                <a:xfrm>
                  <a:off x="7087485" y="2430919"/>
                  <a:ext cx="27266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0000FF"/>
                            </a:solidFill>
                            <a:latin typeface="Cambria Math" panose="02040503050406030204" pitchFamily="18" charset="0"/>
                          </a:rPr>
                          <m:t>𝒙</m:t>
                        </m:r>
                      </m:oMath>
                    </m:oMathPara>
                  </a14:m>
                  <a:endParaRPr lang="zh-CN" altLang="en-US" sz="2800" dirty="0">
                    <a:solidFill>
                      <a:srgbClr val="0000FF"/>
                    </a:solidFill>
                    <a:latin typeface="华文楷体" panose="02010600040101010101" pitchFamily="2" charset="-122"/>
                    <a:ea typeface="华文楷体" panose="02010600040101010101" pitchFamily="2" charset="-122"/>
                  </a:endParaRPr>
                </a:p>
              </p:txBody>
            </p:sp>
          </mc:Choice>
          <mc:Fallback xmlns="">
            <p:sp>
              <p:nvSpPr>
                <p:cNvPr id="80" name="文本框 79"/>
                <p:cNvSpPr txBox="1">
                  <a:spLocks noRot="1" noChangeAspect="1" noMove="1" noResize="1" noEditPoints="1" noAdjustHandles="1" noChangeArrowheads="1" noChangeShapeType="1" noTextEdit="1"/>
                </p:cNvSpPr>
                <p:nvPr/>
              </p:nvSpPr>
              <p:spPr>
                <a:xfrm>
                  <a:off x="7087485" y="2430919"/>
                  <a:ext cx="272666" cy="430887"/>
                </a:xfrm>
                <a:prstGeom prst="rect">
                  <a:avLst/>
                </a:prstGeom>
                <a:blipFill rotWithShape="0">
                  <a:blip r:embed="rId22"/>
                  <a:stretch>
                    <a:fillRect/>
                  </a:stretch>
                </a:blipFill>
                <a:ln>
                  <a:noFill/>
                </a:ln>
              </p:spPr>
              <p:txBody>
                <a:bodyPr/>
                <a:lstStyle/>
                <a:p>
                  <a:r>
                    <a:rPr lang="zh-CN" altLang="en-US">
                      <a:noFill/>
                    </a:rPr>
                    <a:t> </a:t>
                  </a:r>
                </a:p>
              </p:txBody>
            </p:sp>
          </mc:Fallback>
        </mc:AlternateContent>
      </p:grpSp>
      <p:sp>
        <p:nvSpPr>
          <p:cNvPr id="84" name="任意多边形 83"/>
          <p:cNvSpPr/>
          <p:nvPr/>
        </p:nvSpPr>
        <p:spPr bwMode="auto">
          <a:xfrm rot="10560000">
            <a:off x="3776399" y="4297104"/>
            <a:ext cx="240953" cy="45719"/>
          </a:xfrm>
          <a:custGeom>
            <a:avLst/>
            <a:gdLst>
              <a:gd name="connsiteX0" fmla="*/ 0 w 518475"/>
              <a:gd name="connsiteY0" fmla="*/ 114739 h 190153"/>
              <a:gd name="connsiteX1" fmla="*/ 245097 w 518475"/>
              <a:gd name="connsiteY1" fmla="*/ 1617 h 190153"/>
              <a:gd name="connsiteX2" fmla="*/ 518475 w 518475"/>
              <a:gd name="connsiteY2" fmla="*/ 190153 h 190153"/>
            </a:gdLst>
            <a:ahLst/>
            <a:cxnLst>
              <a:cxn ang="0">
                <a:pos x="connsiteX0" y="connsiteY0"/>
              </a:cxn>
              <a:cxn ang="0">
                <a:pos x="connsiteX1" y="connsiteY1"/>
              </a:cxn>
              <a:cxn ang="0">
                <a:pos x="connsiteX2" y="connsiteY2"/>
              </a:cxn>
            </a:cxnLst>
            <a:rect l="l" t="t" r="r" b="b"/>
            <a:pathLst>
              <a:path w="518475" h="190153">
                <a:moveTo>
                  <a:pt x="0" y="114739"/>
                </a:moveTo>
                <a:cubicBezTo>
                  <a:pt x="79342" y="51893"/>
                  <a:pt x="158685" y="-10952"/>
                  <a:pt x="245097" y="1617"/>
                </a:cubicBezTo>
                <a:cubicBezTo>
                  <a:pt x="331509" y="14186"/>
                  <a:pt x="424992" y="102169"/>
                  <a:pt x="518475" y="190153"/>
                </a:cubicBezTo>
              </a:path>
            </a:pathLst>
          </a:custGeom>
          <a:no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kumimoji="1" lang="zh-CN" altLang="en-US" b="1">
              <a:latin typeface="华文楷体" panose="02010600040101010101" pitchFamily="2" charset="-122"/>
              <a:ea typeface="华文楷体" panose="02010600040101010101" pitchFamily="2" charset="-122"/>
            </a:endParaRPr>
          </a:p>
        </p:txBody>
      </p:sp>
      <p:sp>
        <p:nvSpPr>
          <p:cNvPr id="85" name="Line 8"/>
          <p:cNvSpPr>
            <a:spLocks noChangeShapeType="1"/>
          </p:cNvSpPr>
          <p:nvPr/>
        </p:nvSpPr>
        <p:spPr bwMode="auto">
          <a:xfrm flipV="1">
            <a:off x="3874958" y="3164448"/>
            <a:ext cx="2506663" cy="1170902"/>
          </a:xfrm>
          <a:prstGeom prst="line">
            <a:avLst/>
          </a:prstGeom>
          <a:noFill/>
          <a:ln w="28575">
            <a:solidFill>
              <a:srgbClr val="FF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86" name="Line 28"/>
          <p:cNvSpPr>
            <a:spLocks noChangeShapeType="1"/>
          </p:cNvSpPr>
          <p:nvPr/>
        </p:nvSpPr>
        <p:spPr bwMode="auto">
          <a:xfrm flipV="1">
            <a:off x="6369992" y="2626806"/>
            <a:ext cx="981803" cy="537398"/>
          </a:xfrm>
          <a:prstGeom prst="line">
            <a:avLst/>
          </a:prstGeom>
          <a:noFill/>
          <a:ln w="381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7" name="文本框 86"/>
              <p:cNvSpPr txBox="1"/>
              <p:nvPr/>
            </p:nvSpPr>
            <p:spPr>
              <a:xfrm>
                <a:off x="7273868" y="2332182"/>
                <a:ext cx="632636" cy="483146"/>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2A7315"/>
                          </a:solidFill>
                          <a:latin typeface="Cambria Math" panose="02040503050406030204" pitchFamily="18" charset="0"/>
                        </a:rPr>
                        <m:t>𝒅</m:t>
                      </m:r>
                      <m:sSup>
                        <m:sSupPr>
                          <m:ctrlPr>
                            <a:rPr lang="en-US" altLang="zh-CN" sz="2800" b="1" i="1">
                              <a:solidFill>
                                <a:srgbClr val="2A7315"/>
                              </a:solidFill>
                              <a:latin typeface="Cambria Math" panose="02040503050406030204" pitchFamily="18" charset="0"/>
                            </a:rPr>
                          </m:ctrlPr>
                        </m:sSupPr>
                        <m:e>
                          <m:acc>
                            <m:accPr>
                              <m:chr m:val="⃗"/>
                              <m:ctrlPr>
                                <a:rPr lang="en-US" altLang="zh-CN" sz="2800" i="1">
                                  <a:solidFill>
                                    <a:srgbClr val="2A7315"/>
                                  </a:solidFill>
                                  <a:latin typeface="Cambria Math" panose="02040503050406030204" pitchFamily="18" charset="0"/>
                                </a:rPr>
                              </m:ctrlPr>
                            </m:accPr>
                            <m:e>
                              <m:r>
                                <a:rPr lang="en-US" altLang="zh-CN" sz="2800" i="1">
                                  <a:solidFill>
                                    <a:srgbClr val="2A7315"/>
                                  </a:solidFill>
                                  <a:latin typeface="Cambria Math" panose="02040503050406030204" pitchFamily="18" charset="0"/>
                                </a:rPr>
                                <m:t>𝑬</m:t>
                              </m:r>
                            </m:e>
                          </m:acc>
                        </m:e>
                        <m:sup>
                          <m:r>
                            <a:rPr lang="en-US" altLang="zh-CN" sz="2800" b="1" i="1">
                              <a:solidFill>
                                <a:srgbClr val="2A7315"/>
                              </a:solidFill>
                              <a:latin typeface="Cambria Math" panose="02040503050406030204" pitchFamily="18" charset="0"/>
                            </a:rPr>
                            <m:t>′</m:t>
                          </m:r>
                        </m:sup>
                      </m:sSup>
                    </m:oMath>
                  </m:oMathPara>
                </a14:m>
                <a:endParaRPr lang="zh-CN" altLang="en-US" sz="2800" dirty="0">
                  <a:solidFill>
                    <a:srgbClr val="2A7315"/>
                  </a:solidFill>
                  <a:latin typeface="华文楷体" panose="02010600040101010101" pitchFamily="2" charset="-122"/>
                  <a:ea typeface="华文楷体" panose="02010600040101010101" pitchFamily="2" charset="-122"/>
                </a:endParaRPr>
              </a:p>
            </p:txBody>
          </p:sp>
        </mc:Choice>
        <mc:Fallback xmlns="">
          <p:sp>
            <p:nvSpPr>
              <p:cNvPr id="87" name="文本框 86"/>
              <p:cNvSpPr txBox="1">
                <a:spLocks noRot="1" noChangeAspect="1" noMove="1" noResize="1" noEditPoints="1" noAdjustHandles="1" noChangeArrowheads="1" noChangeShapeType="1" noTextEdit="1"/>
              </p:cNvSpPr>
              <p:nvPr/>
            </p:nvSpPr>
            <p:spPr>
              <a:xfrm>
                <a:off x="7273868" y="2332182"/>
                <a:ext cx="632636" cy="483146"/>
              </a:xfrm>
              <a:prstGeom prst="rect">
                <a:avLst/>
              </a:prstGeom>
              <a:blipFill>
                <a:blip r:embed="rId2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文本框 87"/>
              <p:cNvSpPr txBox="1"/>
              <p:nvPr/>
            </p:nvSpPr>
            <p:spPr>
              <a:xfrm>
                <a:off x="3604646" y="4475144"/>
                <a:ext cx="6448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𝒅</m:t>
                      </m:r>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𝒒</m:t>
                          </m:r>
                        </m:e>
                        <m:sup>
                          <m:r>
                            <a:rPr lang="en-US" altLang="zh-CN" sz="2800" b="1" i="1">
                              <a:latin typeface="Cambria Math" panose="02040503050406030204" pitchFamily="18" charset="0"/>
                            </a:rPr>
                            <m:t>′</m:t>
                          </m:r>
                        </m:sup>
                      </m:sSup>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88" name="文本框 87"/>
              <p:cNvSpPr txBox="1">
                <a:spLocks noRot="1" noChangeAspect="1" noMove="1" noResize="1" noEditPoints="1" noAdjustHandles="1" noChangeArrowheads="1" noChangeShapeType="1" noTextEdit="1"/>
              </p:cNvSpPr>
              <p:nvPr/>
            </p:nvSpPr>
            <p:spPr>
              <a:xfrm>
                <a:off x="3604646" y="4475144"/>
                <a:ext cx="644857" cy="430887"/>
              </a:xfrm>
              <a:prstGeom prst="rect">
                <a:avLst/>
              </a:prstGeom>
              <a:blipFill>
                <a:blip r:embed="rId2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 name="矩形 34"/>
              <p:cNvSpPr/>
              <p:nvPr/>
            </p:nvSpPr>
            <p:spPr>
              <a:xfrm>
                <a:off x="-1133287" y="3644284"/>
                <a:ext cx="8892384" cy="31692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𝑬</m:t>
                      </m:r>
                      <m:r>
                        <a:rPr lang="en-US" altLang="zh-CN" sz="2800" b="1" i="1">
                          <a:latin typeface="Cambria Math" panose="02040503050406030204" pitchFamily="18" charset="0"/>
                        </a:rPr>
                        <m:t>=</m:t>
                      </m:r>
                      <m:nary>
                        <m:naryPr>
                          <m:limLoc m:val="undOvr"/>
                          <m:subHide m:val="on"/>
                          <m:supHide m:val="on"/>
                          <m:ctrlPr>
                            <a:rPr lang="en-US" altLang="zh-CN" sz="2800" b="1" i="1">
                              <a:latin typeface="Cambria Math" panose="02040503050406030204" pitchFamily="18" charset="0"/>
                            </a:rPr>
                          </m:ctrlPr>
                        </m:naryPr>
                        <m:sub/>
                        <m:sup/>
                        <m:e>
                          <m:r>
                            <a:rPr lang="en-US" altLang="zh-CN" sz="2800" b="1" i="1">
                              <a:latin typeface="Cambria Math" panose="02040503050406030204" pitchFamily="18" charset="0"/>
                            </a:rPr>
                            <m:t>𝒅𝑬</m:t>
                          </m:r>
                          <m:func>
                            <m:funcPr>
                              <m:ctrlPr>
                                <a:rPr lang="en-US" altLang="zh-CN" sz="2800" b="1" i="1">
                                  <a:latin typeface="Cambria Math" panose="02040503050406030204" pitchFamily="18" charset="0"/>
                                </a:rPr>
                              </m:ctrlPr>
                            </m:funcPr>
                            <m:fName>
                              <m:r>
                                <m:rPr>
                                  <m:sty m:val="p"/>
                                </m:rPr>
                                <a:rPr lang="en-US" altLang="zh-CN" sz="2800">
                                  <a:latin typeface="Cambria Math" panose="02040503050406030204" pitchFamily="18" charset="0"/>
                                </a:rPr>
                                <m:t>cos</m:t>
                              </m:r>
                            </m:fName>
                            <m:e>
                              <m:r>
                                <a:rPr lang="zh-CN" altLang="en-US" sz="2800" i="1">
                                  <a:latin typeface="Cambria Math" panose="02040503050406030204" pitchFamily="18" charset="0"/>
                                </a:rPr>
                                <m:t>𝜽</m:t>
                              </m:r>
                            </m:e>
                          </m:func>
                        </m:e>
                      </m:nary>
                      <m:r>
                        <a:rPr lang="en-US" altLang="zh-CN" sz="2800" b="1">
                          <a:latin typeface="Cambria Math" panose="02040503050406030204" pitchFamily="18" charset="0"/>
                        </a:rPr>
                        <m:t>=</m:t>
                      </m:r>
                      <m:nary>
                        <m:naryPr>
                          <m:limLoc m:val="undOvr"/>
                          <m:subHide m:val="on"/>
                          <m:supHide m:val="on"/>
                          <m:ctrlPr>
                            <a:rPr lang="en-US" altLang="zh-CN" sz="2800" i="1">
                              <a:solidFill>
                                <a:srgbClr val="000000"/>
                              </a:solidFill>
                              <a:latin typeface="Cambria Math" panose="02040503050406030204" pitchFamily="18" charset="0"/>
                            </a:rPr>
                          </m:ctrlPr>
                        </m:naryPr>
                        <m:sub/>
                        <m:sup/>
                        <m:e>
                          <m:f>
                            <m:fPr>
                              <m:ctrlPr>
                                <a:rPr lang="en-US" altLang="zh-CN" sz="2800" i="1">
                                  <a:solidFill>
                                    <a:srgbClr val="000000"/>
                                  </a:solidFill>
                                  <a:latin typeface="Cambria Math" panose="02040503050406030204" pitchFamily="18" charset="0"/>
                                </a:rPr>
                              </m:ctrlPr>
                            </m:fPr>
                            <m:num>
                              <m:r>
                                <a:rPr lang="en-US" altLang="zh-CN" sz="2800" b="1" i="1">
                                  <a:solidFill>
                                    <a:srgbClr val="000000"/>
                                  </a:solidFill>
                                  <a:latin typeface="Cambria Math" panose="02040503050406030204" pitchFamily="18" charset="0"/>
                                </a:rPr>
                                <m:t>𝒅𝒒</m:t>
                              </m:r>
                            </m:num>
                            <m:den>
                              <m:r>
                                <a:rPr lang="en-US" altLang="zh-CN" sz="2800" b="1" i="1">
                                  <a:solidFill>
                                    <a:srgbClr val="000000"/>
                                  </a:solidFill>
                                  <a:latin typeface="Cambria Math" panose="02040503050406030204" pitchFamily="18" charset="0"/>
                                </a:rPr>
                                <m:t>𝟒</m:t>
                              </m:r>
                              <m:r>
                                <a:rPr lang="zh-CN" altLang="en-US" sz="2800" b="1" i="1">
                                  <a:solidFill>
                                    <a:srgbClr val="000000"/>
                                  </a:solidFill>
                                  <a:latin typeface="Cambria Math" panose="02040503050406030204" pitchFamily="18" charset="0"/>
                                </a:rPr>
                                <m:t>𝝅</m:t>
                              </m:r>
                              <m:sSub>
                                <m:sSubPr>
                                  <m:ctrlPr>
                                    <a:rPr lang="en-US" altLang="zh-CN"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𝜺</m:t>
                                  </m:r>
                                </m:e>
                                <m:sub>
                                  <m:r>
                                    <a:rPr lang="en-US" altLang="zh-CN" sz="2800" b="1" i="1">
                                      <a:solidFill>
                                        <a:srgbClr val="000000"/>
                                      </a:solidFill>
                                      <a:latin typeface="Cambria Math" panose="02040503050406030204" pitchFamily="18" charset="0"/>
                                    </a:rPr>
                                    <m:t>𝟎</m:t>
                                  </m:r>
                                </m:sub>
                              </m:sSub>
                              <m:sSup>
                                <m:sSupPr>
                                  <m:ctrlPr>
                                    <a:rPr lang="en-US" altLang="zh-CN" sz="2800" b="1" i="1">
                                      <a:solidFill>
                                        <a:srgbClr val="000000"/>
                                      </a:solidFill>
                                      <a:latin typeface="Cambria Math" panose="02040503050406030204" pitchFamily="18" charset="0"/>
                                    </a:rPr>
                                  </m:ctrlPr>
                                </m:sSupPr>
                                <m:e>
                                  <m:r>
                                    <a:rPr lang="en-US" altLang="zh-CN" sz="2800" b="1" i="1">
                                      <a:solidFill>
                                        <a:srgbClr val="000000"/>
                                      </a:solidFill>
                                      <a:latin typeface="Cambria Math" panose="02040503050406030204" pitchFamily="18" charset="0"/>
                                    </a:rPr>
                                    <m:t>𝒓</m:t>
                                  </m:r>
                                </m:e>
                                <m:sup>
                                  <m:r>
                                    <a:rPr lang="en-US" altLang="zh-CN" sz="2800" b="1" i="1">
                                      <a:solidFill>
                                        <a:srgbClr val="000000"/>
                                      </a:solidFill>
                                      <a:latin typeface="Cambria Math" panose="02040503050406030204" pitchFamily="18" charset="0"/>
                                    </a:rPr>
                                    <m:t>𝟐</m:t>
                                  </m:r>
                                </m:sup>
                              </m:sSup>
                            </m:den>
                          </m:f>
                          <m:func>
                            <m:funcPr>
                              <m:ctrlPr>
                                <a:rPr lang="en-US" altLang="zh-CN" sz="2800" i="1">
                                  <a:solidFill>
                                    <a:srgbClr val="000000"/>
                                  </a:solidFill>
                                  <a:latin typeface="Cambria Math" panose="02040503050406030204" pitchFamily="18" charset="0"/>
                                </a:rPr>
                              </m:ctrlPr>
                            </m:funcPr>
                            <m:fName>
                              <m:r>
                                <m:rPr>
                                  <m:sty m:val="p"/>
                                </m:rPr>
                                <a:rPr lang="en-US" altLang="zh-CN" sz="2800">
                                  <a:solidFill>
                                    <a:srgbClr val="000000"/>
                                  </a:solidFill>
                                  <a:latin typeface="Cambria Math" panose="02040503050406030204" pitchFamily="18" charset="0"/>
                                </a:rPr>
                                <m:t>cos</m:t>
                              </m:r>
                            </m:fName>
                            <m:e>
                              <m:r>
                                <a:rPr lang="zh-CN" altLang="en-US" sz="2800" i="1">
                                  <a:solidFill>
                                    <a:srgbClr val="000000"/>
                                  </a:solidFill>
                                  <a:latin typeface="Cambria Math" panose="02040503050406030204" pitchFamily="18" charset="0"/>
                                </a:rPr>
                                <m:t>𝜽</m:t>
                              </m:r>
                            </m:e>
                          </m:func>
                        </m:e>
                      </m:nary>
                    </m:oMath>
                  </m:oMathPara>
                </a14:m>
                <a:endParaRPr lang="en-US" altLang="zh-CN" sz="2800" i="1"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800" b="1"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func>
                            <m:funcPr>
                              <m:ctrlPr>
                                <a:rPr lang="en-US" altLang="zh-CN" sz="2800" i="1">
                                  <a:solidFill>
                                    <a:srgbClr val="000000"/>
                                  </a:solidFill>
                                  <a:latin typeface="Cambria Math" panose="02040503050406030204" pitchFamily="18" charset="0"/>
                                </a:rPr>
                              </m:ctrlPr>
                            </m:funcPr>
                            <m:fName>
                              <m:r>
                                <m:rPr>
                                  <m:sty m:val="p"/>
                                </m:rPr>
                                <a:rPr lang="en-US" altLang="zh-CN" sz="2800">
                                  <a:solidFill>
                                    <a:srgbClr val="000000"/>
                                  </a:solidFill>
                                  <a:latin typeface="Cambria Math" panose="02040503050406030204" pitchFamily="18" charset="0"/>
                                </a:rPr>
                                <m:t>cos</m:t>
                              </m:r>
                            </m:fName>
                            <m:e>
                              <m:r>
                                <a:rPr lang="zh-CN" altLang="en-US" sz="2800" i="1">
                                  <a:solidFill>
                                    <a:srgbClr val="000000"/>
                                  </a:solidFill>
                                  <a:latin typeface="Cambria Math" panose="02040503050406030204" pitchFamily="18" charset="0"/>
                                </a:rPr>
                                <m:t>𝜽</m:t>
                              </m:r>
                            </m:e>
                          </m:func>
                        </m:num>
                        <m:den>
                          <m:r>
                            <a:rPr lang="en-US" altLang="zh-CN" sz="2800" i="1">
                              <a:solidFill>
                                <a:srgbClr val="000000"/>
                              </a:solidFill>
                              <a:latin typeface="Cambria Math" panose="02040503050406030204" pitchFamily="18" charset="0"/>
                            </a:rPr>
                            <m:t>𝟒</m:t>
                          </m:r>
                          <m:r>
                            <a:rPr lang="zh-CN" altLang="en-US" sz="2800" i="1">
                              <a:solidFill>
                                <a:srgbClr val="000000"/>
                              </a:solidFill>
                              <a:latin typeface="Cambria Math" panose="02040503050406030204" pitchFamily="18" charset="0"/>
                            </a:rPr>
                            <m:t>𝝅</m:t>
                          </m:r>
                          <m:sSub>
                            <m:sSubPr>
                              <m:ctrlPr>
                                <a:rPr lang="en-US" altLang="zh-CN"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𝜺</m:t>
                              </m:r>
                            </m:e>
                            <m:sub>
                              <m:r>
                                <a:rPr lang="en-US" altLang="zh-CN" sz="2800" i="1">
                                  <a:solidFill>
                                    <a:srgbClr val="000000"/>
                                  </a:solidFill>
                                  <a:latin typeface="Cambria Math" panose="02040503050406030204" pitchFamily="18" charset="0"/>
                                </a:rPr>
                                <m:t>𝟎</m:t>
                              </m:r>
                            </m:sub>
                          </m:sSub>
                          <m:sSup>
                            <m:sSupPr>
                              <m:ctrlPr>
                                <a:rPr lang="en-US" altLang="zh-CN"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𝒓</m:t>
                              </m:r>
                            </m:e>
                            <m:sup>
                              <m:r>
                                <a:rPr lang="en-US" altLang="zh-CN" sz="2800" i="1">
                                  <a:solidFill>
                                    <a:srgbClr val="000000"/>
                                  </a:solidFill>
                                  <a:latin typeface="Cambria Math" panose="02040503050406030204" pitchFamily="18" charset="0"/>
                                </a:rPr>
                                <m:t>𝟐</m:t>
                              </m:r>
                            </m:sup>
                          </m:sSup>
                        </m:den>
                      </m:f>
                      <m:nary>
                        <m:naryPr>
                          <m:limLoc m:val="undOvr"/>
                          <m:subHide m:val="on"/>
                          <m:supHide m:val="on"/>
                          <m:ctrlPr>
                            <a:rPr lang="en-US" altLang="zh-CN" sz="2800" i="1">
                              <a:solidFill>
                                <a:srgbClr val="000000"/>
                              </a:solidFill>
                              <a:latin typeface="Cambria Math" panose="02040503050406030204" pitchFamily="18" charset="0"/>
                            </a:rPr>
                          </m:ctrlPr>
                        </m:naryPr>
                        <m:sub/>
                        <m:sup/>
                        <m:e>
                          <m:r>
                            <a:rPr lang="en-US" altLang="zh-CN" sz="2800" i="1">
                              <a:solidFill>
                                <a:srgbClr val="000000"/>
                              </a:solidFill>
                              <a:latin typeface="Cambria Math" panose="02040503050406030204" pitchFamily="18" charset="0"/>
                            </a:rPr>
                            <m:t>𝒅𝒒</m:t>
                          </m:r>
                        </m:e>
                      </m:nary>
                      <m:r>
                        <a:rPr lang="en-US" altLang="zh-CN" sz="2800" b="1"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i="1">
                              <a:solidFill>
                                <a:srgbClr val="000000"/>
                              </a:solidFill>
                              <a:latin typeface="Cambria Math" panose="02040503050406030204" pitchFamily="18" charset="0"/>
                            </a:rPr>
                            <m:t>𝒒</m:t>
                          </m:r>
                          <m:r>
                            <a:rPr lang="en-US" altLang="zh-CN" sz="2800" b="1" i="1">
                              <a:solidFill>
                                <a:srgbClr val="0000CC"/>
                              </a:solidFill>
                              <a:latin typeface="Cambria Math" panose="02040503050406030204" pitchFamily="18" charset="0"/>
                            </a:rPr>
                            <m:t>(</m:t>
                          </m:r>
                          <m:f>
                            <m:fPr>
                              <m:type m:val="lin"/>
                              <m:ctrlPr>
                                <a:rPr lang="en-US" altLang="zh-CN" sz="2800" i="1">
                                  <a:solidFill>
                                    <a:srgbClr val="0000CC"/>
                                  </a:solidFill>
                                  <a:latin typeface="Cambria Math" panose="02040503050406030204" pitchFamily="18" charset="0"/>
                                </a:rPr>
                              </m:ctrlPr>
                            </m:fPr>
                            <m:num>
                              <m:r>
                                <a:rPr lang="en-US" altLang="zh-CN" sz="2800" b="1" i="1">
                                  <a:solidFill>
                                    <a:srgbClr val="0000CC"/>
                                  </a:solidFill>
                                  <a:latin typeface="Cambria Math" panose="02040503050406030204" pitchFamily="18" charset="0"/>
                                </a:rPr>
                                <m:t>𝒙</m:t>
                              </m:r>
                            </m:num>
                            <m:den>
                              <m:r>
                                <a:rPr lang="en-US" altLang="zh-CN" sz="2800" b="1" i="1">
                                  <a:solidFill>
                                    <a:srgbClr val="0000CC"/>
                                  </a:solidFill>
                                  <a:latin typeface="Cambria Math" panose="02040503050406030204" pitchFamily="18" charset="0"/>
                                </a:rPr>
                                <m:t>𝒓</m:t>
                              </m:r>
                            </m:den>
                          </m:f>
                          <m:r>
                            <a:rPr lang="en-US" altLang="zh-CN" sz="2800" b="1" i="1">
                              <a:solidFill>
                                <a:srgbClr val="0000CC"/>
                              </a:solidFill>
                              <a:latin typeface="Cambria Math" panose="02040503050406030204" pitchFamily="18" charset="0"/>
                            </a:rPr>
                            <m:t>)</m:t>
                          </m:r>
                        </m:num>
                        <m:den>
                          <m:r>
                            <a:rPr lang="en-US" altLang="zh-CN" sz="2800" i="1">
                              <a:solidFill>
                                <a:srgbClr val="000000"/>
                              </a:solidFill>
                              <a:latin typeface="Cambria Math" panose="02040503050406030204" pitchFamily="18" charset="0"/>
                            </a:rPr>
                            <m:t>𝟒</m:t>
                          </m:r>
                          <m:r>
                            <a:rPr lang="zh-CN" altLang="en-US" sz="2800" i="1">
                              <a:solidFill>
                                <a:srgbClr val="000000"/>
                              </a:solidFill>
                              <a:latin typeface="Cambria Math" panose="02040503050406030204" pitchFamily="18" charset="0"/>
                            </a:rPr>
                            <m:t>𝝅</m:t>
                          </m:r>
                          <m:sSub>
                            <m:sSubPr>
                              <m:ctrlPr>
                                <a:rPr lang="en-US" altLang="zh-CN"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𝜺</m:t>
                              </m:r>
                            </m:e>
                            <m:sub>
                              <m:r>
                                <a:rPr lang="en-US" altLang="zh-CN" sz="2800" i="1">
                                  <a:solidFill>
                                    <a:srgbClr val="000000"/>
                                  </a:solidFill>
                                  <a:latin typeface="Cambria Math" panose="02040503050406030204" pitchFamily="18" charset="0"/>
                                </a:rPr>
                                <m:t>𝟎</m:t>
                              </m:r>
                            </m:sub>
                          </m:sSub>
                          <m:sSup>
                            <m:sSupPr>
                              <m:ctrlPr>
                                <a:rPr lang="en-US" altLang="zh-CN" sz="2800" i="1">
                                  <a:solidFill>
                                    <a:srgbClr val="000000"/>
                                  </a:solidFill>
                                  <a:latin typeface="Cambria Math" panose="02040503050406030204" pitchFamily="18" charset="0"/>
                                </a:rPr>
                              </m:ctrlPr>
                            </m:sSupPr>
                            <m:e>
                              <m:r>
                                <a:rPr lang="en-US" altLang="zh-CN" sz="2800" i="1">
                                  <a:solidFill>
                                    <a:srgbClr val="000000"/>
                                  </a:solidFill>
                                  <a:latin typeface="Cambria Math" panose="02040503050406030204" pitchFamily="18" charset="0"/>
                                </a:rPr>
                                <m:t>𝒓</m:t>
                              </m:r>
                            </m:e>
                            <m:sup>
                              <m:r>
                                <a:rPr lang="en-US" altLang="zh-CN" sz="2800" i="1">
                                  <a:solidFill>
                                    <a:srgbClr val="000000"/>
                                  </a:solidFill>
                                  <a:latin typeface="Cambria Math" panose="02040503050406030204" pitchFamily="18" charset="0"/>
                                </a:rPr>
                                <m:t>𝟐</m:t>
                              </m:r>
                            </m:sup>
                          </m:sSup>
                        </m:den>
                      </m:f>
                    </m:oMath>
                  </m:oMathPara>
                </a14:m>
                <a:endParaRPr lang="en-US" altLang="zh-CN" sz="2800" i="1"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800" i="1">
                          <a:solidFill>
                            <a:srgbClr val="000000"/>
                          </a:solidFill>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𝒒</m:t>
                          </m:r>
                          <m:r>
                            <a:rPr lang="en-US" altLang="zh-CN" sz="2800" b="1" i="1">
                              <a:latin typeface="Cambria Math" panose="02040503050406030204" pitchFamily="18" charset="0"/>
                            </a:rPr>
                            <m:t>𝒙</m:t>
                          </m:r>
                        </m:num>
                        <m:den>
                          <m:r>
                            <a:rPr lang="en-US" altLang="zh-CN" sz="2800" i="1">
                              <a:latin typeface="Cambria Math" panose="02040503050406030204" pitchFamily="18" charset="0"/>
                            </a:rPr>
                            <m:t>𝟒</m:t>
                          </m:r>
                          <m:r>
                            <a:rPr lang="zh-CN" altLang="en-US" sz="2800" i="1">
                              <a:latin typeface="Cambria Math" panose="02040503050406030204" pitchFamily="18" charset="0"/>
                            </a:rPr>
                            <m:t>𝝅</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𝜺</m:t>
                              </m:r>
                            </m:e>
                            <m:sub>
                              <m:r>
                                <a:rPr lang="en-US" altLang="zh-CN" sz="2800" i="1">
                                  <a:latin typeface="Cambria Math" panose="02040503050406030204" pitchFamily="18" charset="0"/>
                                </a:rPr>
                                <m:t>𝟎</m:t>
                              </m:r>
                            </m:sub>
                          </m:sSub>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𝒓</m:t>
                              </m:r>
                            </m:e>
                            <m:sup>
                              <m:r>
                                <a:rPr lang="en-US" altLang="zh-CN" sz="2800" b="1" i="1">
                                  <a:latin typeface="Cambria Math" panose="02040503050406030204" pitchFamily="18" charset="0"/>
                                </a:rPr>
                                <m:t>𝟑</m:t>
                              </m:r>
                            </m:sup>
                          </m:sSup>
                        </m:den>
                      </m:f>
                    </m:oMath>
                  </m:oMathPara>
                </a14:m>
                <a:endParaRPr lang="en-US" altLang="zh-CN" sz="2800" i="1" dirty="0">
                  <a:solidFill>
                    <a:srgbClr val="000000"/>
                  </a:solidFill>
                  <a:latin typeface="Cambria Math" panose="02040503050406030204" pitchFamily="18" charset="0"/>
                </a:endParaRPr>
              </a:p>
            </p:txBody>
          </p:sp>
        </mc:Choice>
        <mc:Fallback xmlns="">
          <p:sp>
            <p:nvSpPr>
              <p:cNvPr id="35" name="矩形 34"/>
              <p:cNvSpPr>
                <a:spLocks noRot="1" noChangeAspect="1" noMove="1" noResize="1" noEditPoints="1" noAdjustHandles="1" noChangeArrowheads="1" noChangeShapeType="1" noTextEdit="1"/>
              </p:cNvSpPr>
              <p:nvPr/>
            </p:nvSpPr>
            <p:spPr>
              <a:xfrm>
                <a:off x="-1133287" y="3644284"/>
                <a:ext cx="8892384" cy="3169266"/>
              </a:xfrm>
              <a:prstGeom prst="rect">
                <a:avLst/>
              </a:prstGeom>
              <a:blipFill>
                <a:blip r:embed="rId2"/>
                <a:stretch>
                  <a:fillRect/>
                </a:stretch>
              </a:blipFill>
            </p:spPr>
            <p:txBody>
              <a:bodyPr/>
              <a:lstStyle/>
              <a:p>
                <a:r>
                  <a:rPr lang="en-US">
                    <a:noFill/>
                  </a:rPr>
                  <a:t> </a:t>
                </a:r>
              </a:p>
            </p:txBody>
          </p:sp>
        </mc:Fallback>
      </mc:AlternateContent>
      <p:pic>
        <p:nvPicPr>
          <p:cNvPr id="36" name="图片 35"/>
          <p:cNvPicPr>
            <a:picLocks noChangeAspect="1"/>
          </p:cNvPicPr>
          <p:nvPr/>
        </p:nvPicPr>
        <p:blipFill>
          <a:blip r:embed="rId3"/>
          <a:stretch>
            <a:fillRect/>
          </a:stretch>
        </p:blipFill>
        <p:spPr>
          <a:xfrm>
            <a:off x="911648" y="833574"/>
            <a:ext cx="4907705" cy="2999492"/>
          </a:xfrm>
          <a:prstGeom prst="rect">
            <a:avLst/>
          </a:prstGeom>
          <a:ln>
            <a:noFill/>
          </a:ln>
          <a:effectLst>
            <a:outerShdw blurRad="190500" algn="tl" rotWithShape="0">
              <a:srgbClr val="000000">
                <a:alpha val="70000"/>
              </a:srgbClr>
            </a:outerShdw>
          </a:effectLst>
          <a:scene3d>
            <a:camera prst="perspectiveLeft"/>
            <a:lightRig rig="threePt" dir="t"/>
          </a:scene3d>
        </p:spPr>
      </p:pic>
      <mc:AlternateContent xmlns:mc="http://schemas.openxmlformats.org/markup-compatibility/2006" xmlns:a14="http://schemas.microsoft.com/office/drawing/2010/main">
        <mc:Choice Requires="a14">
          <p:sp>
            <p:nvSpPr>
              <p:cNvPr id="5" name="标题 2">
                <a:extLst>
                  <a:ext uri="{FF2B5EF4-FFF2-40B4-BE49-F238E27FC236}">
                    <a16:creationId xmlns:a16="http://schemas.microsoft.com/office/drawing/2014/main" id="{E998F37E-9055-43CF-956F-1A70484DE52B}"/>
                  </a:ext>
                </a:extLst>
              </p:cNvPr>
              <p:cNvSpPr txBox="1">
                <a:spLocks/>
              </p:cNvSpPr>
              <p:nvPr/>
            </p:nvSpPr>
            <p:spPr>
              <a:xfrm>
                <a:off x="789152" y="598564"/>
                <a:ext cx="8190910" cy="6159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0000FF"/>
                    </a:solidFill>
                    <a:latin typeface="华文楷体" panose="02010600040101010101" pitchFamily="2" charset="-122"/>
                    <a:ea typeface="华文楷体" panose="02010600040101010101" pitchFamily="2" charset="-122"/>
                  </a:rPr>
                  <a:t>[</a:t>
                </a:r>
                <a:r>
                  <a:rPr lang="zh-CN" altLang="en-US" sz="2800" dirty="0">
                    <a:solidFill>
                      <a:srgbClr val="0000FF"/>
                    </a:solidFill>
                    <a:latin typeface="华文楷体" panose="02010600040101010101" pitchFamily="2" charset="-122"/>
                    <a:ea typeface="华文楷体" panose="02010600040101010101" pitchFamily="2" charset="-122"/>
                  </a:rPr>
                  <a:t>例</a:t>
                </a:r>
                <a:r>
                  <a:rPr lang="en-US" altLang="zh-CN" sz="2800" dirty="0">
                    <a:solidFill>
                      <a:srgbClr val="0000FF"/>
                    </a:solidFill>
                    <a:latin typeface="华文楷体" panose="02010600040101010101" pitchFamily="2" charset="-122"/>
                    <a:ea typeface="华文楷体" panose="02010600040101010101" pitchFamily="2" charset="-122"/>
                  </a:rPr>
                  <a:t>12.5]</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求一均匀带电圆环轴线上任一点</a:t>
                </a:r>
                <a14:m>
                  <m:oMath xmlns:m="http://schemas.openxmlformats.org/officeDocument/2006/math">
                    <m:r>
                      <a:rPr lang="en-US" altLang="zh-CN" sz="2800" i="1" dirty="0">
                        <a:latin typeface="Cambria Math" panose="02040503050406030204" pitchFamily="18" charset="0"/>
                        <a:ea typeface="华文新魏" panose="02010800040101010101" pitchFamily="2" charset="-122"/>
                        <a:cs typeface="Times New Roman" panose="02020603050405020304" pitchFamily="18" charset="0"/>
                      </a:rPr>
                      <m:t>𝒙</m:t>
                    </m:r>
                  </m:oMath>
                </a14:m>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处的电场</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dirty="0">
                  <a:latin typeface="华文楷体" panose="02010600040101010101" pitchFamily="2" charset="-122"/>
                  <a:ea typeface="华文楷体" panose="02010600040101010101" pitchFamily="2" charset="-122"/>
                </a:endParaRPr>
              </a:p>
            </p:txBody>
          </p:sp>
        </mc:Choice>
        <mc:Fallback xmlns="">
          <p:sp>
            <p:nvSpPr>
              <p:cNvPr id="5" name="标题 2">
                <a:extLst>
                  <a:ext uri="{FF2B5EF4-FFF2-40B4-BE49-F238E27FC236}">
                    <a16:creationId xmlns:a16="http://schemas.microsoft.com/office/drawing/2014/main" id="{E998F37E-9055-43CF-956F-1A70484DE52B}"/>
                  </a:ext>
                </a:extLst>
              </p:cNvPr>
              <p:cNvSpPr txBox="1">
                <a:spLocks noRot="1" noChangeAspect="1" noMove="1" noResize="1" noEditPoints="1" noAdjustHandles="1" noChangeArrowheads="1" noChangeShapeType="1" noTextEdit="1"/>
              </p:cNvSpPr>
              <p:nvPr/>
            </p:nvSpPr>
            <p:spPr>
              <a:xfrm>
                <a:off x="789152" y="598564"/>
                <a:ext cx="8190910" cy="615921"/>
              </a:xfrm>
              <a:prstGeom prst="rect">
                <a:avLst/>
              </a:prstGeom>
              <a:blipFill>
                <a:blip r:embed="rId4"/>
                <a:stretch>
                  <a:fillRect l="-1488" t="-16832" b="-49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标题 3">
                <a:extLst>
                  <a:ext uri="{FF2B5EF4-FFF2-40B4-BE49-F238E27FC236}">
                    <a16:creationId xmlns:a16="http://schemas.microsoft.com/office/drawing/2014/main" id="{AED58E7E-7A22-4110-8DB0-308482F021CF}"/>
                  </a:ext>
                </a:extLst>
              </p:cNvPr>
              <p:cNvSpPr txBox="1">
                <a:spLocks/>
              </p:cNvSpPr>
              <p:nvPr/>
            </p:nvSpPr>
            <p:spPr>
              <a:xfrm>
                <a:off x="5941849" y="1816775"/>
                <a:ext cx="7543800" cy="125218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CN" sz="3200" i="1" smtClean="0">
                          <a:solidFill>
                            <a:srgbClr val="0000FF"/>
                          </a:solidFill>
                          <a:latin typeface="Cambria Math" panose="02040503050406030204" pitchFamily="18" charset="0"/>
                        </a:rPr>
                        <m:t>𝑬</m:t>
                      </m:r>
                      <m:r>
                        <a:rPr lang="en-US" altLang="zh-CN" sz="3200" i="1" smtClean="0">
                          <a:solidFill>
                            <a:srgbClr val="0000FF"/>
                          </a:solidFill>
                          <a:latin typeface="Cambria Math" panose="02040503050406030204" pitchFamily="18" charset="0"/>
                        </a:rPr>
                        <m:t>=</m:t>
                      </m:r>
                      <m:f>
                        <m:fPr>
                          <m:ctrlPr>
                            <a:rPr lang="en-US" altLang="zh-CN" sz="3200" i="1">
                              <a:solidFill>
                                <a:srgbClr val="0000FF"/>
                              </a:solidFill>
                              <a:latin typeface="Cambria Math" panose="02040503050406030204" pitchFamily="18" charset="0"/>
                            </a:rPr>
                          </m:ctrlPr>
                        </m:fPr>
                        <m:num>
                          <m:r>
                            <a:rPr lang="en-US" altLang="zh-CN" sz="3200" i="1">
                              <a:solidFill>
                                <a:srgbClr val="0000FF"/>
                              </a:solidFill>
                              <a:latin typeface="Cambria Math" panose="02040503050406030204" pitchFamily="18" charset="0"/>
                            </a:rPr>
                            <m:t>𝒒𝒙</m:t>
                          </m:r>
                        </m:num>
                        <m:den>
                          <m:r>
                            <a:rPr lang="en-US" altLang="zh-CN" sz="3200" i="1">
                              <a:solidFill>
                                <a:srgbClr val="0000FF"/>
                              </a:solidFill>
                              <a:latin typeface="Cambria Math" panose="02040503050406030204" pitchFamily="18" charset="0"/>
                            </a:rPr>
                            <m:t>𝟒</m:t>
                          </m:r>
                          <m:r>
                            <a:rPr lang="zh-CN" altLang="en-US" sz="3200" i="1">
                              <a:solidFill>
                                <a:srgbClr val="0000FF"/>
                              </a:solidFill>
                              <a:latin typeface="Cambria Math" panose="02040503050406030204" pitchFamily="18" charset="0"/>
                            </a:rPr>
                            <m:t>𝝅</m:t>
                          </m:r>
                          <m:sSub>
                            <m:sSubPr>
                              <m:ctrlPr>
                                <a:rPr lang="en-US" altLang="zh-CN" sz="3200" i="1">
                                  <a:solidFill>
                                    <a:srgbClr val="0000FF"/>
                                  </a:solidFill>
                                  <a:latin typeface="Cambria Math" panose="02040503050406030204" pitchFamily="18" charset="0"/>
                                </a:rPr>
                              </m:ctrlPr>
                            </m:sSubPr>
                            <m:e>
                              <m:r>
                                <a:rPr lang="zh-CN" altLang="en-US" sz="3200" i="1">
                                  <a:solidFill>
                                    <a:srgbClr val="0000FF"/>
                                  </a:solidFill>
                                  <a:latin typeface="Cambria Math" panose="02040503050406030204" pitchFamily="18" charset="0"/>
                                </a:rPr>
                                <m:t>𝜺</m:t>
                              </m:r>
                            </m:e>
                            <m:sub>
                              <m:r>
                                <a:rPr lang="en-US" altLang="zh-CN" sz="3200" i="1">
                                  <a:solidFill>
                                    <a:srgbClr val="0000FF"/>
                                  </a:solidFill>
                                  <a:latin typeface="Cambria Math" panose="02040503050406030204" pitchFamily="18" charset="0"/>
                                </a:rPr>
                                <m:t>𝟎</m:t>
                              </m:r>
                            </m:sub>
                          </m:sSub>
                          <m:sSup>
                            <m:sSupPr>
                              <m:ctrlPr>
                                <a:rPr lang="en-US" altLang="zh-CN" sz="3200" i="1">
                                  <a:solidFill>
                                    <a:srgbClr val="0000FF"/>
                                  </a:solidFill>
                                  <a:latin typeface="Cambria Math" panose="02040503050406030204" pitchFamily="18" charset="0"/>
                                </a:rPr>
                              </m:ctrlPr>
                            </m:sSupPr>
                            <m:e>
                              <m:r>
                                <a:rPr lang="en-US" altLang="zh-CN" sz="3200" i="1">
                                  <a:solidFill>
                                    <a:srgbClr val="0000FF"/>
                                  </a:solidFill>
                                  <a:latin typeface="Cambria Math" panose="02040503050406030204" pitchFamily="18" charset="0"/>
                                </a:rPr>
                                <m:t>(</m:t>
                              </m:r>
                              <m:sSup>
                                <m:sSupPr>
                                  <m:ctrlPr>
                                    <a:rPr lang="en-US" altLang="zh-CN" sz="3200" i="1">
                                      <a:solidFill>
                                        <a:srgbClr val="0000FF"/>
                                      </a:solidFill>
                                      <a:latin typeface="Cambria Math" panose="02040503050406030204" pitchFamily="18" charset="0"/>
                                    </a:rPr>
                                  </m:ctrlPr>
                                </m:sSupPr>
                                <m:e>
                                  <m:r>
                                    <a:rPr lang="en-US" altLang="zh-CN" sz="3200" i="1">
                                      <a:solidFill>
                                        <a:srgbClr val="0000FF"/>
                                      </a:solidFill>
                                      <a:latin typeface="Cambria Math" panose="02040503050406030204" pitchFamily="18" charset="0"/>
                                    </a:rPr>
                                    <m:t>𝑹</m:t>
                                  </m:r>
                                </m:e>
                                <m:sup>
                                  <m:r>
                                    <a:rPr lang="en-US" altLang="zh-CN" sz="3200" i="1">
                                      <a:solidFill>
                                        <a:srgbClr val="0000FF"/>
                                      </a:solidFill>
                                      <a:latin typeface="Cambria Math" panose="02040503050406030204" pitchFamily="18" charset="0"/>
                                    </a:rPr>
                                    <m:t>𝟐</m:t>
                                  </m:r>
                                </m:sup>
                              </m:sSup>
                              <m:r>
                                <a:rPr lang="en-US" altLang="zh-CN" sz="3200" i="1">
                                  <a:solidFill>
                                    <a:srgbClr val="0000FF"/>
                                  </a:solidFill>
                                  <a:latin typeface="Cambria Math" panose="02040503050406030204" pitchFamily="18" charset="0"/>
                                </a:rPr>
                                <m:t>+</m:t>
                              </m:r>
                              <m:sSup>
                                <m:sSupPr>
                                  <m:ctrlPr>
                                    <a:rPr lang="en-US" altLang="zh-CN" sz="3200" i="1">
                                      <a:solidFill>
                                        <a:srgbClr val="0000FF"/>
                                      </a:solidFill>
                                      <a:latin typeface="Cambria Math" panose="02040503050406030204" pitchFamily="18" charset="0"/>
                                    </a:rPr>
                                  </m:ctrlPr>
                                </m:sSupPr>
                                <m:e>
                                  <m:r>
                                    <a:rPr lang="en-US" altLang="zh-CN" sz="3200" i="1">
                                      <a:solidFill>
                                        <a:srgbClr val="0000FF"/>
                                      </a:solidFill>
                                      <a:latin typeface="Cambria Math" panose="02040503050406030204" pitchFamily="18" charset="0"/>
                                    </a:rPr>
                                    <m:t>𝒙</m:t>
                                  </m:r>
                                </m:e>
                                <m:sup>
                                  <m:r>
                                    <a:rPr lang="en-US" altLang="zh-CN" sz="3200" i="1">
                                      <a:solidFill>
                                        <a:srgbClr val="0000FF"/>
                                      </a:solidFill>
                                      <a:latin typeface="Cambria Math" panose="02040503050406030204" pitchFamily="18" charset="0"/>
                                    </a:rPr>
                                    <m:t>𝟐</m:t>
                                  </m:r>
                                </m:sup>
                              </m:sSup>
                              <m:r>
                                <a:rPr lang="en-US" altLang="zh-CN" sz="3200" i="1">
                                  <a:solidFill>
                                    <a:srgbClr val="0000FF"/>
                                  </a:solidFill>
                                  <a:latin typeface="Cambria Math" panose="02040503050406030204" pitchFamily="18" charset="0"/>
                                </a:rPr>
                                <m:t>)</m:t>
                              </m:r>
                            </m:e>
                            <m:sup>
                              <m:f>
                                <m:fPr>
                                  <m:type m:val="lin"/>
                                  <m:ctrlPr>
                                    <a:rPr lang="en-US" altLang="zh-CN" sz="3200" i="1">
                                      <a:solidFill>
                                        <a:srgbClr val="0000FF"/>
                                      </a:solidFill>
                                      <a:latin typeface="Cambria Math" panose="02040503050406030204" pitchFamily="18" charset="0"/>
                                    </a:rPr>
                                  </m:ctrlPr>
                                </m:fPr>
                                <m:num>
                                  <m:r>
                                    <a:rPr lang="en-US" altLang="zh-CN" sz="3200" i="1">
                                      <a:solidFill>
                                        <a:srgbClr val="0000FF"/>
                                      </a:solidFill>
                                      <a:latin typeface="Cambria Math" panose="02040503050406030204" pitchFamily="18" charset="0"/>
                                    </a:rPr>
                                    <m:t>𝟑</m:t>
                                  </m:r>
                                </m:num>
                                <m:den>
                                  <m:r>
                                    <a:rPr lang="en-US" altLang="zh-CN" sz="3200" i="1">
                                      <a:solidFill>
                                        <a:srgbClr val="0000FF"/>
                                      </a:solidFill>
                                      <a:latin typeface="Cambria Math" panose="02040503050406030204" pitchFamily="18" charset="0"/>
                                    </a:rPr>
                                    <m:t>𝟐</m:t>
                                  </m:r>
                                </m:den>
                              </m:f>
                            </m:sup>
                          </m:sSup>
                        </m:den>
                      </m:f>
                    </m:oMath>
                  </m:oMathPara>
                </a14:m>
                <a:endParaRPr lang="zh-CN" altLang="en-US" sz="3200" dirty="0">
                  <a:solidFill>
                    <a:srgbClr val="0000FF"/>
                  </a:solidFill>
                </a:endParaRPr>
              </a:p>
            </p:txBody>
          </p:sp>
        </mc:Choice>
        <mc:Fallback xmlns="">
          <p:sp>
            <p:nvSpPr>
              <p:cNvPr id="6" name="标题 3">
                <a:extLst>
                  <a:ext uri="{FF2B5EF4-FFF2-40B4-BE49-F238E27FC236}">
                    <a16:creationId xmlns:a16="http://schemas.microsoft.com/office/drawing/2014/main" id="{AED58E7E-7A22-4110-8DB0-308482F021CF}"/>
                  </a:ext>
                </a:extLst>
              </p:cNvPr>
              <p:cNvSpPr txBox="1">
                <a:spLocks noRot="1" noChangeAspect="1" noMove="1" noResize="1" noEditPoints="1" noAdjustHandles="1" noChangeArrowheads="1" noChangeShapeType="1" noTextEdit="1"/>
              </p:cNvSpPr>
              <p:nvPr/>
            </p:nvSpPr>
            <p:spPr>
              <a:xfrm>
                <a:off x="5941849" y="1816775"/>
                <a:ext cx="7543800" cy="12521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134A8465-071E-41C9-B3E0-BEF4C1BE6884}"/>
                  </a:ext>
                </a:extLst>
              </p:cNvPr>
              <p:cNvSpPr txBox="1">
                <a:spLocks/>
              </p:cNvSpPr>
              <p:nvPr/>
            </p:nvSpPr>
            <p:spPr>
              <a:xfrm>
                <a:off x="5567551" y="3789040"/>
                <a:ext cx="7543801" cy="39702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ct val="50000"/>
                  </a:spcBef>
                  <a:buFont typeface="Arial" panose="020B0604020202020204" pitchFamily="34" charset="0"/>
                  <a:buNone/>
                </a:pPr>
                <a:r>
                  <a:rPr lang="zh-CN" altLang="en-US" dirty="0">
                    <a:solidFill>
                      <a:srgbClr val="0000CC"/>
                    </a:solidFill>
                  </a:rPr>
                  <a:t>当</a:t>
                </a:r>
                <a14:m>
                  <m:oMath xmlns:m="http://schemas.openxmlformats.org/officeDocument/2006/math">
                    <m:r>
                      <a:rPr lang="en-US" altLang="zh-CN" i="1">
                        <a:solidFill>
                          <a:srgbClr val="0000CC"/>
                        </a:solidFill>
                        <a:latin typeface="Cambria Math" panose="02040503050406030204" pitchFamily="18" charset="0"/>
                      </a:rPr>
                      <m:t>𝒙</m:t>
                    </m:r>
                    <m:r>
                      <a:rPr lang="en-US" altLang="zh-CN" i="1">
                        <a:solidFill>
                          <a:srgbClr val="0000CC"/>
                        </a:solidFill>
                        <a:latin typeface="Cambria Math" panose="02040503050406030204" pitchFamily="18" charset="0"/>
                      </a:rPr>
                      <m:t>≫</m:t>
                    </m:r>
                    <m:r>
                      <a:rPr lang="en-US" altLang="zh-CN" i="1">
                        <a:solidFill>
                          <a:srgbClr val="0000CC"/>
                        </a:solidFill>
                        <a:latin typeface="Cambria Math" panose="02040503050406030204" pitchFamily="18" charset="0"/>
                      </a:rPr>
                      <m:t>𝑹</m:t>
                    </m:r>
                  </m:oMath>
                </a14:m>
                <a:r>
                  <a:rPr lang="zh-CN" altLang="en-US" dirty="0">
                    <a:solidFill>
                      <a:srgbClr val="0000CC"/>
                    </a:solidFill>
                  </a:rPr>
                  <a:t>时，即</a:t>
                </a:r>
                <a14:m>
                  <m:oMath xmlns:m="http://schemas.openxmlformats.org/officeDocument/2006/math">
                    <m:r>
                      <a:rPr lang="en-US" altLang="zh-CN" dirty="0">
                        <a:solidFill>
                          <a:srgbClr val="0000CC"/>
                        </a:solidFill>
                        <a:latin typeface="Cambria Math" panose="02040503050406030204" pitchFamily="18" charset="0"/>
                        <a:ea typeface="华文新魏" panose="02010800040101010101" pitchFamily="2" charset="-122"/>
                      </a:rPr>
                      <m:t>𝐩</m:t>
                    </m:r>
                  </m:oMath>
                </a14:m>
                <a:r>
                  <a:rPr lang="zh-CN" altLang="en-US" dirty="0">
                    <a:solidFill>
                      <a:srgbClr val="0000CC"/>
                    </a:solidFill>
                  </a:rPr>
                  <a:t>点远离圆环时：</a:t>
                </a:r>
                <a:endParaRPr lang="en-US" altLang="zh-CN" dirty="0">
                  <a:solidFill>
                    <a:srgbClr val="0000CC"/>
                  </a:solidFill>
                </a:endParaRPr>
              </a:p>
              <a:p>
                <a:pPr marL="0" indent="0" algn="ctr">
                  <a:lnSpc>
                    <a:spcPct val="120000"/>
                  </a:lnSpc>
                  <a:spcBef>
                    <a:spcPct val="500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𝑹</m:t>
                              </m:r>
                            </m:e>
                            <m:sup>
                              <m:r>
                                <a:rPr lang="en-US" altLang="zh-CN" i="1">
                                  <a:solidFill>
                                    <a:srgbClr val="000000"/>
                                  </a:solidFill>
                                  <a:latin typeface="Cambria Math" panose="02040503050406030204" pitchFamily="18" charset="0"/>
                                </a:rPr>
                                <m:t>𝟐</m:t>
                              </m:r>
                            </m:sup>
                          </m:sSup>
                          <m:r>
                            <a:rPr lang="en-US" altLang="zh-CN" i="1">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𝒙</m:t>
                              </m:r>
                            </m:e>
                            <m:sup>
                              <m:r>
                                <a:rPr lang="en-US" altLang="zh-CN" i="1">
                                  <a:solidFill>
                                    <a:srgbClr val="000000"/>
                                  </a:solidFill>
                                  <a:latin typeface="Cambria Math" panose="02040503050406030204" pitchFamily="18" charset="0"/>
                                </a:rPr>
                                <m:t>𝟐</m:t>
                              </m:r>
                            </m:sup>
                          </m:sSup>
                          <m:r>
                            <a:rPr lang="en-US" altLang="zh-CN" i="1">
                              <a:solidFill>
                                <a:srgbClr val="000000"/>
                              </a:solidFill>
                              <a:latin typeface="Cambria Math" panose="02040503050406030204" pitchFamily="18" charset="0"/>
                            </a:rPr>
                            <m:t>)</m:t>
                          </m:r>
                        </m:e>
                        <m:sup>
                          <m:f>
                            <m:fPr>
                              <m:type m:val="lin"/>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𝟑</m:t>
                              </m:r>
                            </m:num>
                            <m:den>
                              <m:r>
                                <a:rPr lang="en-US" altLang="zh-CN" i="1">
                                  <a:solidFill>
                                    <a:srgbClr val="000000"/>
                                  </a:solidFill>
                                  <a:latin typeface="Cambria Math" panose="02040503050406030204" pitchFamily="18" charset="0"/>
                                </a:rPr>
                                <m:t>𝟐</m:t>
                              </m:r>
                            </m:den>
                          </m:f>
                        </m:sup>
                      </m:sSup>
                      <m:r>
                        <a:rPr lang="en-US" altLang="zh-CN" i="1">
                          <a:solidFill>
                            <a:srgbClr val="000000"/>
                          </a:solidFill>
                          <a:latin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𝒙</m:t>
                              </m:r>
                            </m:e>
                            <m:sup>
                              <m:r>
                                <a:rPr lang="en-US" altLang="zh-CN" i="1">
                                  <a:solidFill>
                                    <a:srgbClr val="000000"/>
                                  </a:solidFill>
                                  <a:latin typeface="Cambria Math" panose="02040503050406030204" pitchFamily="18" charset="0"/>
                                </a:rPr>
                                <m:t>𝟑</m:t>
                              </m:r>
                            </m:sup>
                          </m:sSup>
                          <m:r>
                            <a:rPr lang="en-US" altLang="zh-CN" i="1">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𝑹</m:t>
                                  </m:r>
                                </m:e>
                                <m:sup>
                                  <m:r>
                                    <a:rPr lang="en-US" altLang="zh-CN" i="1">
                                      <a:solidFill>
                                        <a:srgbClr val="000000"/>
                                      </a:solidFill>
                                      <a:latin typeface="Cambria Math" panose="02040503050406030204" pitchFamily="18" charset="0"/>
                                    </a:rPr>
                                    <m:t>𝟐</m:t>
                                  </m:r>
                                </m:sup>
                              </m:sSup>
                            </m:num>
                            <m:den>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𝒙</m:t>
                                  </m:r>
                                </m:e>
                                <m:sup>
                                  <m:r>
                                    <a:rPr lang="en-US" altLang="zh-CN" i="1">
                                      <a:solidFill>
                                        <a:srgbClr val="000000"/>
                                      </a:solidFill>
                                      <a:latin typeface="Cambria Math" panose="02040503050406030204" pitchFamily="18" charset="0"/>
                                    </a:rPr>
                                    <m:t>𝟐</m:t>
                                  </m:r>
                                </m:sup>
                              </m:sSup>
                            </m:den>
                          </m:f>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𝟏</m:t>
                          </m:r>
                          <m:r>
                            <a:rPr lang="en-US" altLang="zh-CN" i="1">
                              <a:solidFill>
                                <a:srgbClr val="000000"/>
                              </a:solidFill>
                              <a:latin typeface="Cambria Math" panose="02040503050406030204" pitchFamily="18" charset="0"/>
                            </a:rPr>
                            <m:t>)</m:t>
                          </m:r>
                        </m:e>
                        <m:sup>
                          <m:f>
                            <m:fPr>
                              <m:type m:val="lin"/>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𝟑</m:t>
                              </m:r>
                            </m:num>
                            <m:den>
                              <m:r>
                                <a:rPr lang="en-US" altLang="zh-CN" i="1">
                                  <a:solidFill>
                                    <a:srgbClr val="000000"/>
                                  </a:solidFill>
                                  <a:latin typeface="Cambria Math" panose="02040503050406030204" pitchFamily="18" charset="0"/>
                                </a:rPr>
                                <m:t>𝟐</m:t>
                              </m:r>
                            </m:den>
                          </m:f>
                        </m:sup>
                      </m:sSup>
                      <m:r>
                        <a:rPr lang="en-US" altLang="zh-CN" i="1">
                          <a:solidFill>
                            <a:srgbClr val="000000"/>
                          </a:solidFill>
                          <a:latin typeface="Cambria Math" panose="02040503050406030204" pitchFamily="18" charset="0"/>
                          <a:ea typeface="Cambria Math" panose="02040503050406030204" pitchFamily="18" charset="0"/>
                        </a:rPr>
                        <m:t>→</m:t>
                      </m:r>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𝒙</m:t>
                          </m:r>
                        </m:e>
                        <m:sup>
                          <m:r>
                            <a:rPr lang="en-US" altLang="zh-CN" i="1">
                              <a:solidFill>
                                <a:srgbClr val="000000"/>
                              </a:solidFill>
                              <a:latin typeface="Cambria Math" panose="02040503050406030204" pitchFamily="18" charset="0"/>
                            </a:rPr>
                            <m:t>𝟑</m:t>
                          </m:r>
                        </m:sup>
                      </m:sSup>
                    </m:oMath>
                  </m:oMathPara>
                </a14:m>
                <a:endParaRPr lang="en-US" altLang="zh-CN" dirty="0">
                  <a:solidFill>
                    <a:srgbClr val="000000"/>
                  </a:solidFill>
                </a:endParaRPr>
              </a:p>
              <a:p>
                <a:pPr marL="0" indent="0" algn="ctr">
                  <a:lnSpc>
                    <a:spcPct val="120000"/>
                  </a:lnSpc>
                  <a:spcBef>
                    <a:spcPct val="500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rPr>
                        <m:t>⇒</m:t>
                      </m:r>
                      <m:r>
                        <a:rPr lang="en-US" altLang="zh-CN" i="1">
                          <a:solidFill>
                            <a:srgbClr val="000000"/>
                          </a:solidFill>
                          <a:latin typeface="Cambria Math" panose="02040503050406030204" pitchFamily="18" charset="0"/>
                        </a:rPr>
                        <m:t>𝑬</m:t>
                      </m:r>
                      <m:r>
                        <a:rPr lang="en-US" altLang="zh-CN" i="1">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𝒒</m:t>
                          </m:r>
                        </m:num>
                        <m:den>
                          <m:r>
                            <a:rPr lang="en-US" altLang="zh-CN" i="1">
                              <a:solidFill>
                                <a:srgbClr val="000000"/>
                              </a:solidFill>
                              <a:latin typeface="Cambria Math" panose="02040503050406030204" pitchFamily="18" charset="0"/>
                            </a:rPr>
                            <m:t>𝟒</m:t>
                          </m:r>
                          <m:r>
                            <a:rPr lang="zh-CN" altLang="en-US" i="1">
                              <a:solidFill>
                                <a:srgbClr val="000000"/>
                              </a:solidFill>
                              <a:latin typeface="Cambria Math" panose="02040503050406030204" pitchFamily="18" charset="0"/>
                            </a:rPr>
                            <m:t>𝝅</m:t>
                          </m:r>
                          <m:sSub>
                            <m:sSubPr>
                              <m:ctrlPr>
                                <a:rPr lang="en-US" altLang="zh-CN"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𝜺</m:t>
                              </m:r>
                            </m:e>
                            <m:sub>
                              <m:r>
                                <a:rPr lang="en-US" altLang="zh-CN" i="1">
                                  <a:solidFill>
                                    <a:srgbClr val="000000"/>
                                  </a:solidFill>
                                  <a:latin typeface="Cambria Math" panose="02040503050406030204" pitchFamily="18" charset="0"/>
                                </a:rPr>
                                <m:t>𝟎</m:t>
                              </m:r>
                            </m:sub>
                          </m:sSub>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𝒙</m:t>
                              </m:r>
                            </m:e>
                            <m:sup>
                              <m:r>
                                <a:rPr lang="en-US" altLang="zh-CN" i="1">
                                  <a:solidFill>
                                    <a:srgbClr val="000000"/>
                                  </a:solidFill>
                                  <a:latin typeface="Cambria Math" panose="02040503050406030204" pitchFamily="18" charset="0"/>
                                </a:rPr>
                                <m:t>𝟐</m:t>
                              </m:r>
                            </m:sup>
                          </m:sSup>
                        </m:den>
                      </m:f>
                    </m:oMath>
                  </m:oMathPara>
                </a14:m>
                <a:endParaRPr lang="zh-CN" altLang="en-US" dirty="0"/>
              </a:p>
            </p:txBody>
          </p:sp>
        </mc:Choice>
        <mc:Fallback xmlns="">
          <p:sp>
            <p:nvSpPr>
              <p:cNvPr id="7" name="内容占位符 4">
                <a:extLst>
                  <a:ext uri="{FF2B5EF4-FFF2-40B4-BE49-F238E27FC236}">
                    <a16:creationId xmlns:a16="http://schemas.microsoft.com/office/drawing/2014/main" id="{134A8465-071E-41C9-B3E0-BEF4C1BE6884}"/>
                  </a:ext>
                </a:extLst>
              </p:cNvPr>
              <p:cNvSpPr txBox="1">
                <a:spLocks noRot="1" noChangeAspect="1" noMove="1" noResize="1" noEditPoints="1" noAdjustHandles="1" noChangeArrowheads="1" noChangeShapeType="1" noTextEdit="1"/>
              </p:cNvSpPr>
              <p:nvPr/>
            </p:nvSpPr>
            <p:spPr>
              <a:xfrm>
                <a:off x="5567551" y="3789040"/>
                <a:ext cx="7543801" cy="3970264"/>
              </a:xfrm>
              <a:prstGeom prst="rect">
                <a:avLst/>
              </a:prstGeom>
              <a:blipFill>
                <a:blip r:embed="rId6"/>
                <a:stretch>
                  <a:fillRect t="-461"/>
                </a:stretch>
              </a:blipFill>
            </p:spPr>
            <p:txBody>
              <a:bodyPr/>
              <a:lstStyle/>
              <a:p>
                <a:r>
                  <a:rPr lang="en-US">
                    <a:noFill/>
                  </a:rPr>
                  <a:t> </a:t>
                </a:r>
              </a:p>
            </p:txBody>
          </p:sp>
        </mc:Fallback>
      </mc:AlternateContent>
    </p:spTree>
    <p:extLst>
      <p:ext uri="{BB962C8B-B14F-4D97-AF65-F5344CB8AC3E}">
        <p14:creationId xmlns:p14="http://schemas.microsoft.com/office/powerpoint/2010/main" val="106390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4"/>
          <p:cNvSpPr txBox="1">
            <a:spLocks/>
          </p:cNvSpPr>
          <p:nvPr/>
        </p:nvSpPr>
        <p:spPr>
          <a:xfrm>
            <a:off x="911860" y="449672"/>
            <a:ext cx="7543800" cy="564488"/>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280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80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例</a:t>
            </a:r>
            <a:r>
              <a:rPr lang="en-US" altLang="zh-CN" sz="280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12.6]</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求均匀带电圆盘轴线上任一点的电场</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sz="2800" dirty="0">
              <a:latin typeface="华文楷体" panose="02010600040101010101" pitchFamily="2" charset="-122"/>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8" name="内容占位符 5"/>
              <p:cNvSpPr txBox="1">
                <a:spLocks/>
              </p:cNvSpPr>
              <p:nvPr/>
            </p:nvSpPr>
            <p:spPr>
              <a:xfrm>
                <a:off x="225116" y="4708661"/>
                <a:ext cx="7639667" cy="19187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2400"/>
                  </a:spcAft>
                </a:pP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由</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例</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12.5]</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得带电圆环轴线上一点的电场</a:t>
                </a:r>
                <a:endParaRPr lang="en-US" altLang="zh-CN" sz="280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spcAft>
                    <a:spcPts val="2400"/>
                  </a:spcAft>
                  <a:buNone/>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𝑑𝐸</m:t>
                      </m:r>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𝑥𝑑𝑞</m:t>
                          </m:r>
                        </m:num>
                        <m:den>
                          <m:r>
                            <a:rPr lang="en-US" altLang="zh-CN"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r>
                            <a:rPr lang="en-US" altLang="zh-CN" sz="2800" b="0" i="1">
                              <a:solidFill>
                                <a:srgbClr val="000000"/>
                              </a:solidFill>
                              <a:latin typeface="Cambria Math" panose="02040503050406030204" pitchFamily="18" charset="0"/>
                              <a:ea typeface="Cambria Math" panose="02040503050406030204" pitchFamily="18" charset="0"/>
                            </a:rPr>
                            <m:t>∙</m:t>
                          </m:r>
                          <m:r>
                            <a:rPr lang="zh-CN" altLang="en-US" sz="2800" b="0" i="1">
                              <a:solidFill>
                                <a:srgbClr val="000000"/>
                              </a:solidFill>
                              <a:latin typeface="Cambria Math" panose="02040503050406030204" pitchFamily="18" charset="0"/>
                              <a:ea typeface="Cambria Math" panose="02040503050406030204" pitchFamily="18" charset="0"/>
                            </a:rPr>
                            <m:t>𝜎</m:t>
                          </m:r>
                          <m:r>
                            <a:rPr lang="en-US" altLang="zh-CN" sz="2800" b="0" i="1">
                              <a:solidFill>
                                <a:srgbClr val="000000"/>
                              </a:solidFill>
                              <a:latin typeface="Cambria Math" panose="02040503050406030204" pitchFamily="18" charset="0"/>
                              <a:ea typeface="Cambria Math" panose="02040503050406030204" pitchFamily="18" charset="0"/>
                            </a:rPr>
                            <m:t>∙2</m:t>
                          </m:r>
                          <m:r>
                            <a:rPr lang="zh-CN" altLang="en-US" sz="2800" b="0" i="1">
                              <a:solidFill>
                                <a:srgbClr val="000000"/>
                              </a:solidFill>
                              <a:latin typeface="Cambria Math" panose="02040503050406030204" pitchFamily="18" charset="0"/>
                              <a:ea typeface="Cambria Math" panose="02040503050406030204" pitchFamily="18" charset="0"/>
                            </a:rPr>
                            <m:t>𝜋</m:t>
                          </m:r>
                          <m:r>
                            <a:rPr lang="en-US" altLang="zh-CN" sz="2800" b="0" i="1">
                              <a:solidFill>
                                <a:srgbClr val="000000"/>
                              </a:solidFill>
                              <a:latin typeface="Cambria Math" panose="02040503050406030204" pitchFamily="18" charset="0"/>
                              <a:ea typeface="Cambria Math" panose="02040503050406030204" pitchFamily="18" charset="0"/>
                            </a:rPr>
                            <m:t>𝑟𝑑𝑟</m:t>
                          </m:r>
                        </m:num>
                        <m:den>
                          <m:r>
                            <a:rPr lang="en-US" altLang="zh-CN"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oMath>
                  </m:oMathPara>
                </a14:m>
                <a:endParaRPr lang="zh-CN" altLang="en-US" sz="280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38" name="内容占位符 5"/>
              <p:cNvSpPr txBox="1">
                <a:spLocks noRot="1" noChangeAspect="1" noMove="1" noResize="1" noEditPoints="1" noAdjustHandles="1" noChangeArrowheads="1" noChangeShapeType="1" noTextEdit="1"/>
              </p:cNvSpPr>
              <p:nvPr/>
            </p:nvSpPr>
            <p:spPr>
              <a:xfrm>
                <a:off x="225116" y="4708661"/>
                <a:ext cx="7639667" cy="1918714"/>
              </a:xfrm>
              <a:prstGeom prst="rect">
                <a:avLst/>
              </a:prstGeom>
              <a:blipFill>
                <a:blip r:embed="rId3"/>
                <a:stretch>
                  <a:fillRect l="-479" t="-5397"/>
                </a:stretch>
              </a:blipFill>
            </p:spPr>
            <p:txBody>
              <a:bodyPr/>
              <a:lstStyle/>
              <a:p>
                <a:r>
                  <a:rPr lang="en-US">
                    <a:noFill/>
                  </a:rPr>
                  <a:t> </a:t>
                </a:r>
              </a:p>
            </p:txBody>
          </p:sp>
        </mc:Fallback>
      </mc:AlternateContent>
      <p:pic>
        <p:nvPicPr>
          <p:cNvPr id="10" name="图片 9"/>
          <p:cNvPicPr>
            <a:picLocks noChangeAspect="1"/>
          </p:cNvPicPr>
          <p:nvPr/>
        </p:nvPicPr>
        <p:blipFill>
          <a:blip r:embed="rId4"/>
          <a:stretch>
            <a:fillRect/>
          </a:stretch>
        </p:blipFill>
        <p:spPr>
          <a:xfrm>
            <a:off x="2289150" y="1142069"/>
            <a:ext cx="3511600" cy="327993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9E0F27C-E93E-4D93-876D-DAACAFF304FE}"/>
                  </a:ext>
                </a:extLst>
              </p:cNvPr>
              <p:cNvSpPr/>
              <p:nvPr/>
            </p:nvSpPr>
            <p:spPr>
              <a:xfrm>
                <a:off x="7740984" y="651172"/>
                <a:ext cx="4225900" cy="2996333"/>
              </a:xfrm>
              <a:prstGeom prst="rect">
                <a:avLst/>
              </a:prstGeom>
            </p:spPr>
            <p:txBody>
              <a:bodyPr wrap="square">
                <a:spAutoFit/>
              </a:bodyPr>
              <a:lstStyle/>
              <a:p>
                <a:pPr lvl="0">
                  <a:lnSpc>
                    <a:spcPct val="150000"/>
                  </a:lnSpc>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𝐸</m:t>
                      </m:r>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r>
                            <a:rPr lang="zh-CN" altLang="en-US" sz="2800" b="0" i="1">
                              <a:solidFill>
                                <a:srgbClr val="000000"/>
                              </a:solidFill>
                              <a:latin typeface="Cambria Math" panose="02040503050406030204" pitchFamily="18" charset="0"/>
                            </a:rPr>
                            <m:t>𝜎</m:t>
                          </m:r>
                        </m:num>
                        <m:den>
                          <m:r>
                            <a:rPr lang="en-US" altLang="zh-CN" sz="2800" b="0" i="1">
                              <a:solidFill>
                                <a:srgbClr val="000000"/>
                              </a:solidFill>
                              <a:latin typeface="Cambria Math" panose="02040503050406030204" pitchFamily="18" charset="0"/>
                            </a:rPr>
                            <m:t>2</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den>
                      </m:f>
                      <m:nary>
                        <m:naryPr>
                          <m:ctrlPr>
                            <a:rPr lang="en-US" altLang="zh-CN" sz="2800" i="1">
                              <a:solidFill>
                                <a:srgbClr val="000000"/>
                              </a:solidFill>
                              <a:latin typeface="Cambria Math" panose="02040503050406030204" pitchFamily="18" charset="0"/>
                            </a:rPr>
                          </m:ctrlPr>
                        </m:naryPr>
                        <m:sub>
                          <m:r>
                            <m:rPr>
                              <m:brk m:alnAt="23"/>
                            </m:rPr>
                            <a:rPr lang="en-US" altLang="zh-CN" sz="2800" b="0" i="1">
                              <a:solidFill>
                                <a:srgbClr val="000000"/>
                              </a:solidFill>
                              <a:latin typeface="Cambria Math" panose="02040503050406030204" pitchFamily="18" charset="0"/>
                            </a:rPr>
                            <m:t>0</m:t>
                          </m:r>
                        </m:sub>
                        <m:sup>
                          <m:r>
                            <a:rPr lang="en-US" altLang="zh-CN" sz="2800" b="0" i="1">
                              <a:solidFill>
                                <a:srgbClr val="000000"/>
                              </a:solidFill>
                              <a:latin typeface="Cambria Math" panose="02040503050406030204" pitchFamily="18" charset="0"/>
                            </a:rPr>
                            <m:t>𝑅</m:t>
                          </m:r>
                        </m:sup>
                        <m:e>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ea typeface="Cambria Math" panose="02040503050406030204" pitchFamily="18" charset="0"/>
                                </a:rPr>
                                <m:t>𝑟𝑑𝑟</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e>
                      </m:nary>
                    </m:oMath>
                  </m:oMathPara>
                </a14:m>
                <a:endParaRPr lang="en-US" altLang="zh-CN" sz="2800" i="1" dirty="0">
                  <a:solidFill>
                    <a:srgbClr val="000000"/>
                  </a:solidFill>
                  <a:latin typeface="Cambria Math" panose="02040503050406030204" pitchFamily="18" charset="0"/>
                </a:endParaRPr>
              </a:p>
              <a:p>
                <a:pPr lvl="0">
                  <a:lnSpc>
                    <a:spcPct val="150000"/>
                  </a:lnSpc>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𝜎</m:t>
                          </m:r>
                        </m:num>
                        <m:den>
                          <m:r>
                            <a:rPr lang="en-US" altLang="zh-CN" sz="2800" b="0" i="1">
                              <a:solidFill>
                                <a:srgbClr val="000000"/>
                              </a:solidFill>
                              <a:latin typeface="Cambria Math" panose="02040503050406030204" pitchFamily="18" charset="0"/>
                            </a:rPr>
                            <m:t>2</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den>
                      </m:f>
                      <m:d>
                        <m:dPr>
                          <m:begChr m:val="["/>
                          <m:endChr m:val="]"/>
                          <m:ctrlPr>
                            <a:rPr lang="en-US" altLang="zh-CN" sz="2800" i="1">
                              <a:solidFill>
                                <a:srgbClr val="000000"/>
                              </a:solidFill>
                              <a:latin typeface="Cambria Math" panose="02040503050406030204" pitchFamily="18" charset="0"/>
                            </a:rPr>
                          </m:ctrlPr>
                        </m:dPr>
                        <m:e>
                          <m:r>
                            <a:rPr lang="en-US" altLang="zh-CN" sz="2800" b="0" i="1">
                              <a:solidFill>
                                <a:srgbClr val="000000"/>
                              </a:solidFill>
                              <a:latin typeface="Cambria Math" panose="02040503050406030204" pitchFamily="18" charset="0"/>
                            </a:rPr>
                            <m:t>1−</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𝑅</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1</m:t>
                                      </m:r>
                                    </m:num>
                                    <m:den>
                                      <m:r>
                                        <a:rPr lang="en-US" altLang="zh-CN" sz="2800" b="0" i="1">
                                          <a:solidFill>
                                            <a:srgbClr val="000000"/>
                                          </a:solidFill>
                                          <a:latin typeface="Cambria Math" panose="02040503050406030204" pitchFamily="18" charset="0"/>
                                        </a:rPr>
                                        <m:t>2</m:t>
                                      </m:r>
                                    </m:den>
                                  </m:f>
                                </m:sup>
                              </m:sSup>
                            </m:den>
                          </m:f>
                        </m:e>
                      </m:d>
                    </m:oMath>
                  </m:oMathPara>
                </a14:m>
                <a:endParaRPr lang="zh-CN" altLang="en-US" dirty="0"/>
              </a:p>
            </p:txBody>
          </p:sp>
        </mc:Choice>
        <mc:Fallback xmlns="">
          <p:sp>
            <p:nvSpPr>
              <p:cNvPr id="6" name="矩形 5">
                <a:extLst>
                  <a:ext uri="{FF2B5EF4-FFF2-40B4-BE49-F238E27FC236}">
                    <a16:creationId xmlns:a16="http://schemas.microsoft.com/office/drawing/2014/main" id="{A9E0F27C-E93E-4D93-876D-DAACAFF304FE}"/>
                  </a:ext>
                </a:extLst>
              </p:cNvPr>
              <p:cNvSpPr>
                <a:spLocks noRot="1" noChangeAspect="1" noMove="1" noResize="1" noEditPoints="1" noAdjustHandles="1" noChangeArrowheads="1" noChangeShapeType="1" noTextEdit="1"/>
              </p:cNvSpPr>
              <p:nvPr/>
            </p:nvSpPr>
            <p:spPr>
              <a:xfrm>
                <a:off x="7740984" y="651172"/>
                <a:ext cx="4225900" cy="29963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21">
                <a:extLst>
                  <a:ext uri="{FF2B5EF4-FFF2-40B4-BE49-F238E27FC236}">
                    <a16:creationId xmlns:a16="http://schemas.microsoft.com/office/drawing/2014/main" id="{6BDFB28F-93E0-4B24-A90F-A09A7AD9A3E2}"/>
                  </a:ext>
                </a:extLst>
              </p:cNvPr>
              <p:cNvSpPr>
                <a:spLocks noChangeArrowheads="1"/>
              </p:cNvSpPr>
              <p:nvPr/>
            </p:nvSpPr>
            <p:spPr bwMode="auto">
              <a:xfrm>
                <a:off x="7864783" y="3999236"/>
                <a:ext cx="4225900" cy="278082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zh-CN" altLang="en-US" sz="2800" b="0" dirty="0">
                    <a:latin typeface="黑体" panose="02010609060101010101" pitchFamily="49" charset="-122"/>
                    <a:ea typeface="黑体" panose="02010609060101010101" pitchFamily="49" charset="-122"/>
                  </a:rPr>
                  <a:t>当</a:t>
                </a:r>
                <a14:m>
                  <m:oMath xmlns:m="http://schemas.openxmlformats.org/officeDocument/2006/math">
                    <m:r>
                      <a:rPr lang="en-US" altLang="zh-CN" sz="2800" b="0" i="1">
                        <a:latin typeface="Cambria Math" panose="02040503050406030204" pitchFamily="18" charset="0"/>
                        <a:ea typeface="黑体" panose="02010609060101010101" pitchFamily="49" charset="-122"/>
                      </a:rPr>
                      <m:t>𝑅</m:t>
                    </m:r>
                    <m:r>
                      <a:rPr lang="en-US" altLang="zh-CN" sz="2800" b="0" i="1">
                        <a:latin typeface="Cambria Math" panose="02040503050406030204" pitchFamily="18" charset="0"/>
                        <a:ea typeface="黑体" panose="02010609060101010101" pitchFamily="49" charset="-122"/>
                      </a:rPr>
                      <m:t>≫</m:t>
                    </m:r>
                    <m:r>
                      <a:rPr lang="en-US" altLang="zh-CN" sz="2800" b="0" i="1">
                        <a:latin typeface="Cambria Math" panose="02040503050406030204" pitchFamily="18" charset="0"/>
                        <a:ea typeface="黑体" panose="02010609060101010101" pitchFamily="49" charset="-122"/>
                      </a:rPr>
                      <m:t>𝑥</m:t>
                    </m:r>
                  </m:oMath>
                </a14:m>
                <a:r>
                  <a:rPr lang="zh-CN" altLang="en-US" sz="2800" b="0" dirty="0">
                    <a:latin typeface="黑体" panose="02010609060101010101" pitchFamily="49" charset="-122"/>
                    <a:ea typeface="黑体" panose="02010609060101010101" pitchFamily="49" charset="-122"/>
                  </a:rPr>
                  <a:t>时，即无限大均匀带电平面的场强为</a:t>
                </a:r>
                <a:endParaRPr lang="en-US" altLang="zh-CN" sz="2800" b="0" dirty="0">
                  <a:latin typeface="黑体" panose="02010609060101010101" pitchFamily="49" charset="-122"/>
                  <a:ea typeface="黑体" panose="02010609060101010101" pitchFamily="49"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3200" b="0" i="1">
                          <a:solidFill>
                            <a:srgbClr val="C00000"/>
                          </a:solidFill>
                          <a:latin typeface="Cambria Math" panose="02040503050406030204" pitchFamily="18" charset="0"/>
                        </a:rPr>
                        <m:t>𝐸</m:t>
                      </m:r>
                      <m:r>
                        <a:rPr lang="en-US" altLang="zh-CN" sz="3200" b="0" i="1">
                          <a:solidFill>
                            <a:srgbClr val="C00000"/>
                          </a:solidFill>
                          <a:latin typeface="Cambria Math" panose="02040503050406030204" pitchFamily="18" charset="0"/>
                        </a:rPr>
                        <m:t>=</m:t>
                      </m:r>
                      <m:f>
                        <m:fPr>
                          <m:ctrlPr>
                            <a:rPr lang="en-US" altLang="zh-CN" sz="3200" b="0" i="1">
                              <a:solidFill>
                                <a:srgbClr val="C00000"/>
                              </a:solidFill>
                              <a:latin typeface="Cambria Math" panose="02040503050406030204" pitchFamily="18" charset="0"/>
                            </a:rPr>
                          </m:ctrlPr>
                        </m:fPr>
                        <m:num>
                          <m:r>
                            <a:rPr lang="zh-CN" altLang="en-US" sz="3200" b="0" i="1">
                              <a:solidFill>
                                <a:srgbClr val="C00000"/>
                              </a:solidFill>
                              <a:latin typeface="Cambria Math" panose="02040503050406030204" pitchFamily="18" charset="0"/>
                            </a:rPr>
                            <m:t>𝜎</m:t>
                          </m:r>
                        </m:num>
                        <m:den>
                          <m:r>
                            <a:rPr lang="en-US" altLang="zh-CN" sz="3200" b="0" i="1">
                              <a:solidFill>
                                <a:srgbClr val="C00000"/>
                              </a:solidFill>
                              <a:latin typeface="Cambria Math" panose="02040503050406030204" pitchFamily="18" charset="0"/>
                            </a:rPr>
                            <m:t>2</m:t>
                          </m:r>
                          <m:sSub>
                            <m:sSubPr>
                              <m:ctrlPr>
                                <a:rPr lang="en-US" altLang="zh-CN" sz="3200" b="0" i="1">
                                  <a:solidFill>
                                    <a:srgbClr val="C00000"/>
                                  </a:solidFill>
                                  <a:latin typeface="Cambria Math" panose="02040503050406030204" pitchFamily="18" charset="0"/>
                                </a:rPr>
                              </m:ctrlPr>
                            </m:sSubPr>
                            <m:e>
                              <m:r>
                                <a:rPr lang="zh-CN" altLang="en-US" sz="3200" b="0" i="1">
                                  <a:solidFill>
                                    <a:srgbClr val="C00000"/>
                                  </a:solidFill>
                                  <a:latin typeface="Cambria Math" panose="02040503050406030204" pitchFamily="18" charset="0"/>
                                </a:rPr>
                                <m:t>𝜀</m:t>
                              </m:r>
                            </m:e>
                            <m:sub>
                              <m:r>
                                <a:rPr lang="en-US" altLang="zh-CN" sz="3200" b="0" i="1">
                                  <a:solidFill>
                                    <a:srgbClr val="C00000"/>
                                  </a:solidFill>
                                  <a:latin typeface="Cambria Math" panose="02040503050406030204" pitchFamily="18" charset="0"/>
                                </a:rPr>
                                <m:t>0</m:t>
                              </m:r>
                            </m:sub>
                          </m:sSub>
                        </m:den>
                      </m:f>
                    </m:oMath>
                  </m:oMathPara>
                </a14:m>
                <a:endParaRPr lang="zh-CN" altLang="en-US" sz="2800" b="0" dirty="0">
                  <a:solidFill>
                    <a:srgbClr val="FF0000"/>
                  </a:solidFill>
                  <a:latin typeface="黑体" panose="02010609060101010101" pitchFamily="49" charset="-122"/>
                  <a:ea typeface="黑体" panose="02010609060101010101" pitchFamily="49" charset="-122"/>
                </a:endParaRPr>
              </a:p>
            </p:txBody>
          </p:sp>
        </mc:Choice>
        <mc:Fallback xmlns="">
          <p:sp>
            <p:nvSpPr>
              <p:cNvPr id="7" name="Rectangle 21">
                <a:extLst>
                  <a:ext uri="{FF2B5EF4-FFF2-40B4-BE49-F238E27FC236}">
                    <a16:creationId xmlns:a16="http://schemas.microsoft.com/office/drawing/2014/main" id="{6BDFB28F-93E0-4B24-A90F-A09A7AD9A3E2}"/>
                  </a:ext>
                </a:extLst>
              </p:cNvPr>
              <p:cNvSpPr>
                <a:spLocks noRot="1" noChangeAspect="1" noMove="1" noResize="1" noEditPoints="1" noAdjustHandles="1" noChangeArrowheads="1" noChangeShapeType="1" noTextEdit="1"/>
              </p:cNvSpPr>
              <p:nvPr/>
            </p:nvSpPr>
            <p:spPr bwMode="auto">
              <a:xfrm>
                <a:off x="7864783" y="3999236"/>
                <a:ext cx="4225900" cy="2780827"/>
              </a:xfrm>
              <a:prstGeom prst="rect">
                <a:avLst/>
              </a:prstGeom>
              <a:blipFill>
                <a:blip r:embed="rId6"/>
                <a:stretch>
                  <a:fillRect l="-28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left)">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left)">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6" grpId="0"/>
      <p:bldP spid="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638432"/>
            <a:ext cx="10515600" cy="1325563"/>
          </a:xfrm>
        </p:spPr>
        <p:txBody>
          <a:bodyPr>
            <a:normAutofit/>
          </a:bodyPr>
          <a:lstStyle/>
          <a:p>
            <a:r>
              <a:rPr lang="zh-CN" altLang="en-US" sz="3200" dirty="0">
                <a:solidFill>
                  <a:srgbClr val="000000"/>
                </a:solidFill>
                <a:latin typeface="华文楷体" panose="02010600040101010101" pitchFamily="2" charset="-122"/>
                <a:ea typeface="华文楷体" panose="02010600040101010101" pitchFamily="2" charset="-122"/>
                <a:cs typeface="+mn-cs"/>
              </a:rPr>
              <a:t>无限大均匀带电平面：</a:t>
            </a:r>
            <a:endParaRPr lang="zh-CN" altLang="en-US" sz="4000" dirty="0">
              <a:latin typeface="华文楷体" panose="02010600040101010101" pitchFamily="2" charset="-122"/>
              <a:ea typeface="华文楷体" panose="02010600040101010101" pitchFamily="2" charset="-122"/>
            </a:endParaRPr>
          </a:p>
        </p:txBody>
      </p:sp>
      <p:grpSp>
        <p:nvGrpSpPr>
          <p:cNvPr id="40044" name="Group 108"/>
          <p:cNvGrpSpPr>
            <a:grpSpLocks/>
          </p:cNvGrpSpPr>
          <p:nvPr/>
        </p:nvGrpSpPr>
        <p:grpSpPr bwMode="auto">
          <a:xfrm>
            <a:off x="2720625" y="2033846"/>
            <a:ext cx="2451100" cy="2555875"/>
            <a:chOff x="612" y="2292"/>
            <a:chExt cx="1544" cy="1610"/>
          </a:xfrm>
        </p:grpSpPr>
        <p:sp>
          <p:nvSpPr>
            <p:cNvPr id="63519" name="Text Box 60"/>
            <p:cNvSpPr txBox="1">
              <a:spLocks noChangeArrowheads="1"/>
            </p:cNvSpPr>
            <p:nvPr/>
          </p:nvSpPr>
          <p:spPr bwMode="auto">
            <a:xfrm>
              <a:off x="1149" y="2292"/>
              <a:ext cx="48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σ&gt;0</a:t>
              </a:r>
            </a:p>
          </p:txBody>
        </p:sp>
        <p:sp>
          <p:nvSpPr>
            <p:cNvPr id="63520" name="Line 61"/>
            <p:cNvSpPr>
              <a:spLocks noChangeShapeType="1"/>
            </p:cNvSpPr>
            <p:nvPr/>
          </p:nvSpPr>
          <p:spPr bwMode="auto">
            <a:xfrm>
              <a:off x="1384" y="2768"/>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1" name="Line 62"/>
            <p:cNvSpPr>
              <a:spLocks noChangeShapeType="1"/>
            </p:cNvSpPr>
            <p:nvPr/>
          </p:nvSpPr>
          <p:spPr bwMode="auto">
            <a:xfrm>
              <a:off x="1384" y="2904"/>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2" name="Line 63"/>
            <p:cNvSpPr>
              <a:spLocks noChangeShapeType="1"/>
            </p:cNvSpPr>
            <p:nvPr/>
          </p:nvSpPr>
          <p:spPr bwMode="auto">
            <a:xfrm>
              <a:off x="1384" y="304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3" name="Line 64"/>
            <p:cNvSpPr>
              <a:spLocks noChangeShapeType="1"/>
            </p:cNvSpPr>
            <p:nvPr/>
          </p:nvSpPr>
          <p:spPr bwMode="auto">
            <a:xfrm>
              <a:off x="1384" y="317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4" name="Line 65"/>
            <p:cNvSpPr>
              <a:spLocks noChangeShapeType="1"/>
            </p:cNvSpPr>
            <p:nvPr/>
          </p:nvSpPr>
          <p:spPr bwMode="auto">
            <a:xfrm>
              <a:off x="1384" y="3313"/>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5" name="Line 66"/>
            <p:cNvSpPr>
              <a:spLocks noChangeShapeType="1"/>
            </p:cNvSpPr>
            <p:nvPr/>
          </p:nvSpPr>
          <p:spPr bwMode="auto">
            <a:xfrm>
              <a:off x="1384" y="3449"/>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6" name="Line 67"/>
            <p:cNvSpPr>
              <a:spLocks noChangeShapeType="1"/>
            </p:cNvSpPr>
            <p:nvPr/>
          </p:nvSpPr>
          <p:spPr bwMode="auto">
            <a:xfrm>
              <a:off x="1384" y="3585"/>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7" name="Line 68"/>
            <p:cNvSpPr>
              <a:spLocks noChangeShapeType="1"/>
            </p:cNvSpPr>
            <p:nvPr/>
          </p:nvSpPr>
          <p:spPr bwMode="auto">
            <a:xfrm>
              <a:off x="1384" y="372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8" name="Line 69"/>
            <p:cNvSpPr>
              <a:spLocks noChangeShapeType="1"/>
            </p:cNvSpPr>
            <p:nvPr/>
          </p:nvSpPr>
          <p:spPr bwMode="auto">
            <a:xfrm>
              <a:off x="1384" y="385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9" name="Line 70"/>
            <p:cNvSpPr>
              <a:spLocks noChangeShapeType="1"/>
            </p:cNvSpPr>
            <p:nvPr/>
          </p:nvSpPr>
          <p:spPr bwMode="auto">
            <a:xfrm>
              <a:off x="1384" y="2632"/>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0" name="Line 74"/>
            <p:cNvSpPr>
              <a:spLocks noChangeShapeType="1"/>
            </p:cNvSpPr>
            <p:nvPr/>
          </p:nvSpPr>
          <p:spPr bwMode="auto">
            <a:xfrm flipH="1">
              <a:off x="612" y="2768"/>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1" name="Line 75"/>
            <p:cNvSpPr>
              <a:spLocks noChangeShapeType="1"/>
            </p:cNvSpPr>
            <p:nvPr/>
          </p:nvSpPr>
          <p:spPr bwMode="auto">
            <a:xfrm flipH="1">
              <a:off x="612" y="2904"/>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2" name="Line 76"/>
            <p:cNvSpPr>
              <a:spLocks noChangeShapeType="1"/>
            </p:cNvSpPr>
            <p:nvPr/>
          </p:nvSpPr>
          <p:spPr bwMode="auto">
            <a:xfrm flipH="1">
              <a:off x="612" y="304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3" name="Line 77"/>
            <p:cNvSpPr>
              <a:spLocks noChangeShapeType="1"/>
            </p:cNvSpPr>
            <p:nvPr/>
          </p:nvSpPr>
          <p:spPr bwMode="auto">
            <a:xfrm flipH="1">
              <a:off x="612" y="317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4" name="Line 78"/>
            <p:cNvSpPr>
              <a:spLocks noChangeShapeType="1"/>
            </p:cNvSpPr>
            <p:nvPr/>
          </p:nvSpPr>
          <p:spPr bwMode="auto">
            <a:xfrm flipH="1">
              <a:off x="612" y="3313"/>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5" name="Line 79"/>
            <p:cNvSpPr>
              <a:spLocks noChangeShapeType="1"/>
            </p:cNvSpPr>
            <p:nvPr/>
          </p:nvSpPr>
          <p:spPr bwMode="auto">
            <a:xfrm flipH="1">
              <a:off x="612" y="3449"/>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6" name="Line 80"/>
            <p:cNvSpPr>
              <a:spLocks noChangeShapeType="1"/>
            </p:cNvSpPr>
            <p:nvPr/>
          </p:nvSpPr>
          <p:spPr bwMode="auto">
            <a:xfrm flipH="1">
              <a:off x="612" y="3585"/>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7" name="Line 81"/>
            <p:cNvSpPr>
              <a:spLocks noChangeShapeType="1"/>
            </p:cNvSpPr>
            <p:nvPr/>
          </p:nvSpPr>
          <p:spPr bwMode="auto">
            <a:xfrm flipH="1">
              <a:off x="612" y="372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8" name="Line 82"/>
            <p:cNvSpPr>
              <a:spLocks noChangeShapeType="1"/>
            </p:cNvSpPr>
            <p:nvPr/>
          </p:nvSpPr>
          <p:spPr bwMode="auto">
            <a:xfrm flipH="1">
              <a:off x="612" y="385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9" name="Line 83"/>
            <p:cNvSpPr>
              <a:spLocks noChangeShapeType="1"/>
            </p:cNvSpPr>
            <p:nvPr/>
          </p:nvSpPr>
          <p:spPr bwMode="auto">
            <a:xfrm flipH="1">
              <a:off x="612" y="2632"/>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40" name="Line 59"/>
            <p:cNvSpPr>
              <a:spLocks noChangeShapeType="1"/>
            </p:cNvSpPr>
            <p:nvPr/>
          </p:nvSpPr>
          <p:spPr bwMode="auto">
            <a:xfrm>
              <a:off x="1384" y="2587"/>
              <a:ext cx="0" cy="131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045" name="Group 109"/>
          <p:cNvGrpSpPr>
            <a:grpSpLocks/>
          </p:cNvGrpSpPr>
          <p:nvPr/>
        </p:nvGrpSpPr>
        <p:grpSpPr bwMode="auto">
          <a:xfrm>
            <a:off x="6411563" y="2062420"/>
            <a:ext cx="2520950" cy="2508250"/>
            <a:chOff x="2925" y="2320"/>
            <a:chExt cx="1588" cy="1580"/>
          </a:xfrm>
        </p:grpSpPr>
        <p:sp>
          <p:nvSpPr>
            <p:cNvPr id="63497" name="Text Box 86"/>
            <p:cNvSpPr txBox="1">
              <a:spLocks noChangeArrowheads="1"/>
            </p:cNvSpPr>
            <p:nvPr/>
          </p:nvSpPr>
          <p:spPr bwMode="auto">
            <a:xfrm>
              <a:off x="3478" y="2320"/>
              <a:ext cx="48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σ&lt;0</a:t>
              </a:r>
            </a:p>
          </p:txBody>
        </p:sp>
        <p:sp>
          <p:nvSpPr>
            <p:cNvPr id="63498" name="Line 87"/>
            <p:cNvSpPr>
              <a:spLocks noChangeShapeType="1"/>
            </p:cNvSpPr>
            <p:nvPr/>
          </p:nvSpPr>
          <p:spPr bwMode="auto">
            <a:xfrm>
              <a:off x="3741" y="2774"/>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499" name="Line 88"/>
            <p:cNvSpPr>
              <a:spLocks noChangeShapeType="1"/>
            </p:cNvSpPr>
            <p:nvPr/>
          </p:nvSpPr>
          <p:spPr bwMode="auto">
            <a:xfrm>
              <a:off x="3741" y="2910"/>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0" name="Line 89"/>
            <p:cNvSpPr>
              <a:spLocks noChangeShapeType="1"/>
            </p:cNvSpPr>
            <p:nvPr/>
          </p:nvSpPr>
          <p:spPr bwMode="auto">
            <a:xfrm>
              <a:off x="3741" y="304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1" name="Line 90"/>
            <p:cNvSpPr>
              <a:spLocks noChangeShapeType="1"/>
            </p:cNvSpPr>
            <p:nvPr/>
          </p:nvSpPr>
          <p:spPr bwMode="auto">
            <a:xfrm>
              <a:off x="3741" y="318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2" name="Line 91"/>
            <p:cNvSpPr>
              <a:spLocks noChangeShapeType="1"/>
            </p:cNvSpPr>
            <p:nvPr/>
          </p:nvSpPr>
          <p:spPr bwMode="auto">
            <a:xfrm>
              <a:off x="3741" y="3319"/>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3" name="Line 92"/>
            <p:cNvSpPr>
              <a:spLocks noChangeShapeType="1"/>
            </p:cNvSpPr>
            <p:nvPr/>
          </p:nvSpPr>
          <p:spPr bwMode="auto">
            <a:xfrm>
              <a:off x="3741" y="3455"/>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4" name="Line 93"/>
            <p:cNvSpPr>
              <a:spLocks noChangeShapeType="1"/>
            </p:cNvSpPr>
            <p:nvPr/>
          </p:nvSpPr>
          <p:spPr bwMode="auto">
            <a:xfrm>
              <a:off x="3741" y="3591"/>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5" name="Line 94"/>
            <p:cNvSpPr>
              <a:spLocks noChangeShapeType="1"/>
            </p:cNvSpPr>
            <p:nvPr/>
          </p:nvSpPr>
          <p:spPr bwMode="auto">
            <a:xfrm>
              <a:off x="3741" y="372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6" name="Line 95"/>
            <p:cNvSpPr>
              <a:spLocks noChangeShapeType="1"/>
            </p:cNvSpPr>
            <p:nvPr/>
          </p:nvSpPr>
          <p:spPr bwMode="auto">
            <a:xfrm>
              <a:off x="3741" y="386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7" name="Line 96"/>
            <p:cNvSpPr>
              <a:spLocks noChangeShapeType="1"/>
            </p:cNvSpPr>
            <p:nvPr/>
          </p:nvSpPr>
          <p:spPr bwMode="auto">
            <a:xfrm>
              <a:off x="3741" y="2638"/>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8" name="Line 97"/>
            <p:cNvSpPr>
              <a:spLocks noChangeShapeType="1"/>
            </p:cNvSpPr>
            <p:nvPr/>
          </p:nvSpPr>
          <p:spPr bwMode="auto">
            <a:xfrm flipH="1">
              <a:off x="2925" y="2774"/>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9" name="Line 98"/>
            <p:cNvSpPr>
              <a:spLocks noChangeShapeType="1"/>
            </p:cNvSpPr>
            <p:nvPr/>
          </p:nvSpPr>
          <p:spPr bwMode="auto">
            <a:xfrm flipH="1">
              <a:off x="2925" y="2910"/>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0" name="Line 99"/>
            <p:cNvSpPr>
              <a:spLocks noChangeShapeType="1"/>
            </p:cNvSpPr>
            <p:nvPr/>
          </p:nvSpPr>
          <p:spPr bwMode="auto">
            <a:xfrm flipH="1">
              <a:off x="2925" y="304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1" name="Line 100"/>
            <p:cNvSpPr>
              <a:spLocks noChangeShapeType="1"/>
            </p:cNvSpPr>
            <p:nvPr/>
          </p:nvSpPr>
          <p:spPr bwMode="auto">
            <a:xfrm flipH="1">
              <a:off x="2925" y="318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2" name="Line 101"/>
            <p:cNvSpPr>
              <a:spLocks noChangeShapeType="1"/>
            </p:cNvSpPr>
            <p:nvPr/>
          </p:nvSpPr>
          <p:spPr bwMode="auto">
            <a:xfrm flipH="1">
              <a:off x="2925" y="3319"/>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3" name="Line 102"/>
            <p:cNvSpPr>
              <a:spLocks noChangeShapeType="1"/>
            </p:cNvSpPr>
            <p:nvPr/>
          </p:nvSpPr>
          <p:spPr bwMode="auto">
            <a:xfrm flipH="1">
              <a:off x="2925" y="3455"/>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4" name="Line 103"/>
            <p:cNvSpPr>
              <a:spLocks noChangeShapeType="1"/>
            </p:cNvSpPr>
            <p:nvPr/>
          </p:nvSpPr>
          <p:spPr bwMode="auto">
            <a:xfrm flipH="1">
              <a:off x="2925" y="3591"/>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5" name="Line 104"/>
            <p:cNvSpPr>
              <a:spLocks noChangeShapeType="1"/>
            </p:cNvSpPr>
            <p:nvPr/>
          </p:nvSpPr>
          <p:spPr bwMode="auto">
            <a:xfrm flipH="1">
              <a:off x="2925" y="372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6" name="Line 105"/>
            <p:cNvSpPr>
              <a:spLocks noChangeShapeType="1"/>
            </p:cNvSpPr>
            <p:nvPr/>
          </p:nvSpPr>
          <p:spPr bwMode="auto">
            <a:xfrm flipH="1">
              <a:off x="2925" y="386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7" name="Line 106"/>
            <p:cNvSpPr>
              <a:spLocks noChangeShapeType="1"/>
            </p:cNvSpPr>
            <p:nvPr/>
          </p:nvSpPr>
          <p:spPr bwMode="auto">
            <a:xfrm flipH="1">
              <a:off x="2925" y="2638"/>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8" name="Line 107"/>
            <p:cNvSpPr>
              <a:spLocks noChangeShapeType="1"/>
            </p:cNvSpPr>
            <p:nvPr/>
          </p:nvSpPr>
          <p:spPr bwMode="auto">
            <a:xfrm>
              <a:off x="3720" y="2585"/>
              <a:ext cx="0" cy="1315"/>
            </a:xfrm>
            <a:prstGeom prst="line">
              <a:avLst/>
            </a:prstGeom>
            <a:noFill/>
            <a:ln w="762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6950" y="395140"/>
            <a:ext cx="7889500" cy="1207181"/>
          </a:xfrm>
        </p:spPr>
        <p:txBody>
          <a:bodyPr>
            <a:normAutofit/>
          </a:bodyPr>
          <a:lstStyle/>
          <a:p>
            <a:r>
              <a:rPr lang="en-US" altLang="zh-CN" sz="2800" dirty="0">
                <a:solidFill>
                  <a:srgbClr val="0000FF"/>
                </a:solidFill>
                <a:latin typeface="华文楷体" panose="02010600040101010101" pitchFamily="2" charset="-122"/>
                <a:ea typeface="华文楷体" panose="02010600040101010101" pitchFamily="2" charset="-122"/>
              </a:rPr>
              <a:t>[</a:t>
            </a:r>
            <a:r>
              <a:rPr lang="zh-CN" altLang="en-US" sz="2800" dirty="0">
                <a:solidFill>
                  <a:srgbClr val="0000FF"/>
                </a:solidFill>
                <a:latin typeface="华文楷体" panose="02010600040101010101" pitchFamily="2" charset="-122"/>
                <a:ea typeface="华文楷体" panose="02010600040101010101" pitchFamily="2" charset="-122"/>
              </a:rPr>
              <a:t>例</a:t>
            </a:r>
            <a:r>
              <a:rPr lang="en-US" altLang="zh-CN" sz="2800" dirty="0">
                <a:solidFill>
                  <a:srgbClr val="0000FF"/>
                </a:solidFill>
                <a:latin typeface="华文楷体" panose="02010600040101010101" pitchFamily="2" charset="-122"/>
                <a:ea typeface="华文楷体" panose="02010600040101010101" pitchFamily="2" charset="-122"/>
              </a:rPr>
              <a:t>12.7]</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试求电偶极子在均匀外电场中所受的力矩。</a:t>
            </a:r>
            <a:endParaRPr lang="zh-CN" altLang="en-US"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4560" y="1459460"/>
                <a:ext cx="8922688" cy="4372449"/>
              </a:xfrm>
            </p:spPr>
            <p:txBody>
              <a:bodyPr>
                <a:noAutofit/>
              </a:bodyPr>
              <a:lstStyle/>
              <a:p>
                <a:pPr marL="0" indent="0">
                  <a:spcBef>
                    <a:spcPts val="0"/>
                  </a:spcBef>
                  <a:spcAft>
                    <a:spcPts val="2400"/>
                  </a:spcAft>
                  <a:buClr>
                    <a:srgbClr val="E48312"/>
                  </a:buClr>
                  <a:buNone/>
                </a:pPr>
                <a:r>
                  <a:rPr lang="zh-CN" altLang="en-US" spc="300" dirty="0">
                    <a:solidFill>
                      <a:srgbClr val="C00000"/>
                    </a:solidFill>
                    <a:latin typeface="华文楷体" panose="02010600040101010101" pitchFamily="2" charset="-122"/>
                    <a:ea typeface="华文楷体" panose="02010600040101010101" pitchFamily="2" charset="-122"/>
                  </a:rPr>
                  <a:t>电偶极子</a:t>
                </a:r>
                <a:r>
                  <a:rPr lang="en-US" altLang="zh-CN" spc="300" dirty="0">
                    <a:solidFill>
                      <a:srgbClr val="000000"/>
                    </a:solidFill>
                    <a:latin typeface="华文楷体" panose="02010600040101010101" pitchFamily="2" charset="-122"/>
                    <a:ea typeface="华文楷体" panose="02010600040101010101" pitchFamily="2" charset="-122"/>
                  </a:rPr>
                  <a:t>: </a:t>
                </a:r>
                <a:r>
                  <a:rPr lang="zh-CN" altLang="en-US" spc="300" dirty="0">
                    <a:solidFill>
                      <a:srgbClr val="000000"/>
                    </a:solidFill>
                    <a:latin typeface="华文楷体" panose="02010600040101010101" pitchFamily="2" charset="-122"/>
                    <a:ea typeface="华文楷体" panose="02010600040101010101" pitchFamily="2" charset="-122"/>
                  </a:rPr>
                  <a:t>一对电量相同</a:t>
                </a:r>
                <a:r>
                  <a:rPr lang="en-US" altLang="zh-CN" spc="300" dirty="0">
                    <a:solidFill>
                      <a:srgbClr val="000000"/>
                    </a:solidFill>
                    <a:latin typeface="华文楷体" panose="02010600040101010101" pitchFamily="2" charset="-122"/>
                    <a:ea typeface="华文楷体" panose="02010600040101010101" pitchFamily="2" charset="-122"/>
                  </a:rPr>
                  <a:t>,</a:t>
                </a:r>
                <a:r>
                  <a:rPr lang="zh-CN" altLang="en-US" spc="300" dirty="0">
                    <a:solidFill>
                      <a:srgbClr val="000000"/>
                    </a:solidFill>
                    <a:latin typeface="华文楷体" panose="02010600040101010101" pitchFamily="2" charset="-122"/>
                    <a:ea typeface="华文楷体" panose="02010600040101010101" pitchFamily="2" charset="-122"/>
                  </a:rPr>
                  <a:t>电性相反的点电荷系统</a:t>
                </a:r>
                <a:endParaRPr lang="en-US" altLang="zh-CN" spc="300" dirty="0">
                  <a:solidFill>
                    <a:srgbClr val="000000"/>
                  </a:solidFill>
                  <a:latin typeface="华文楷体" panose="02010600040101010101" pitchFamily="2" charset="-122"/>
                  <a:ea typeface="华文楷体" panose="02010600040101010101" pitchFamily="2" charset="-122"/>
                </a:endParaRPr>
              </a:p>
              <a:p>
                <a:pPr marL="0" indent="0">
                  <a:spcBef>
                    <a:spcPts val="0"/>
                  </a:spcBef>
                  <a:buClr>
                    <a:srgbClr val="E48312"/>
                  </a:buClr>
                  <a:buNone/>
                </a:pPr>
                <a:r>
                  <a:rPr lang="zh-CN" altLang="en-US" spc="300" dirty="0">
                    <a:solidFill>
                      <a:srgbClr val="C00000"/>
                    </a:solidFill>
                    <a:latin typeface="华文楷体" panose="02010600040101010101" pitchFamily="2" charset="-122"/>
                    <a:ea typeface="华文楷体" panose="02010600040101010101" pitchFamily="2" charset="-122"/>
                  </a:rPr>
                  <a:t>电偶极矩</a:t>
                </a:r>
                <a:r>
                  <a:rPr lang="en-US" altLang="zh-CN" spc="300"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acc>
                      <m:accPr>
                        <m:chr m:val="⃗"/>
                        <m:ctrlPr>
                          <a:rPr lang="en-US" altLang="zh-CN" i="1" spc="300">
                            <a:solidFill>
                              <a:srgbClr val="000000"/>
                            </a:solidFill>
                            <a:latin typeface="Cambria Math" panose="02040503050406030204" pitchFamily="18" charset="0"/>
                            <a:ea typeface="华文新魏" panose="02010800040101010101" pitchFamily="2" charset="-122"/>
                          </a:rPr>
                        </m:ctrlPr>
                      </m:accPr>
                      <m:e>
                        <m:r>
                          <a:rPr lang="en-US" altLang="zh-CN" i="1" spc="300">
                            <a:solidFill>
                              <a:srgbClr val="000000"/>
                            </a:solidFill>
                            <a:latin typeface="Cambria Math" panose="02040503050406030204" pitchFamily="18" charset="0"/>
                            <a:ea typeface="华文新魏" panose="02010800040101010101" pitchFamily="2" charset="-122"/>
                          </a:rPr>
                          <m:t>𝒑</m:t>
                        </m:r>
                      </m:e>
                    </m:acc>
                    <m:r>
                      <a:rPr lang="en-US" altLang="zh-CN" i="1" spc="300">
                        <a:solidFill>
                          <a:srgbClr val="000000"/>
                        </a:solidFill>
                        <a:latin typeface="Cambria Math" panose="02040503050406030204" pitchFamily="18" charset="0"/>
                        <a:ea typeface="华文新魏" panose="02010800040101010101" pitchFamily="2" charset="-122"/>
                      </a:rPr>
                      <m:t>=</m:t>
                    </m:r>
                    <m:r>
                      <a:rPr lang="en-US" altLang="zh-CN" i="1" spc="300">
                        <a:solidFill>
                          <a:srgbClr val="000000"/>
                        </a:solidFill>
                        <a:latin typeface="Cambria Math" panose="02040503050406030204" pitchFamily="18" charset="0"/>
                        <a:ea typeface="华文新魏" panose="02010800040101010101" pitchFamily="2" charset="-122"/>
                      </a:rPr>
                      <m:t>𝒒</m:t>
                    </m:r>
                    <m:acc>
                      <m:accPr>
                        <m:chr m:val="⃗"/>
                        <m:ctrlPr>
                          <a:rPr lang="en-US" altLang="zh-CN" i="1" spc="300">
                            <a:solidFill>
                              <a:srgbClr val="000000"/>
                            </a:solidFill>
                            <a:latin typeface="Cambria Math" panose="02040503050406030204" pitchFamily="18" charset="0"/>
                            <a:ea typeface="华文新魏" panose="02010800040101010101" pitchFamily="2" charset="-122"/>
                          </a:rPr>
                        </m:ctrlPr>
                      </m:accPr>
                      <m:e>
                        <m:r>
                          <a:rPr lang="en-US" altLang="zh-CN" i="1" spc="300">
                            <a:solidFill>
                              <a:srgbClr val="000000"/>
                            </a:solidFill>
                            <a:latin typeface="Cambria Math" panose="02040503050406030204" pitchFamily="18" charset="0"/>
                            <a:ea typeface="华文新魏" panose="02010800040101010101" pitchFamily="2" charset="-122"/>
                          </a:rPr>
                          <m:t>𝒍</m:t>
                        </m:r>
                      </m:e>
                    </m:acc>
                  </m:oMath>
                </a14:m>
                <a:endParaRPr lang="en-US" altLang="zh-CN" i="1" spc="300" dirty="0">
                  <a:solidFill>
                    <a:srgbClr val="000000"/>
                  </a:solidFill>
                  <a:latin typeface="华文楷体" panose="02010600040101010101" pitchFamily="2" charset="-122"/>
                  <a:ea typeface="华文楷体" panose="0201060004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4560" y="1459460"/>
                <a:ext cx="8922688" cy="4372449"/>
              </a:xfrm>
              <a:blipFill>
                <a:blip r:embed="rId2"/>
                <a:stretch>
                  <a:fillRect l="-1366" t="-2368"/>
                </a:stretch>
              </a:blipFill>
            </p:spPr>
            <p:txBody>
              <a:bodyPr/>
              <a:lstStyle/>
              <a:p>
                <a:r>
                  <a:rPr lang="en-US">
                    <a:noFill/>
                  </a:rPr>
                  <a:t> </a:t>
                </a:r>
              </a:p>
            </p:txBody>
          </p:sp>
        </mc:Fallback>
      </mc:AlternateContent>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6450" y="1262165"/>
            <a:ext cx="3500004" cy="3645405"/>
          </a:xfrm>
          <a:prstGeom prst="ellipse">
            <a:avLst/>
          </a:prstGeom>
          <a:ln>
            <a:noFill/>
          </a:ln>
          <a:effectLst>
            <a:softEdge rad="112500"/>
          </a:effectLst>
        </p:spPr>
      </p:pic>
      <p:grpSp>
        <p:nvGrpSpPr>
          <p:cNvPr id="10" name="组合 9"/>
          <p:cNvGrpSpPr/>
          <p:nvPr/>
        </p:nvGrpSpPr>
        <p:grpSpPr>
          <a:xfrm>
            <a:off x="10456651" y="2792335"/>
            <a:ext cx="629697" cy="720000"/>
            <a:chOff x="6822250" y="3293985"/>
            <a:chExt cx="629697" cy="720000"/>
          </a:xfrm>
        </p:grpSpPr>
        <p:cxnSp>
          <p:nvCxnSpPr>
            <p:cNvPr id="8" name="直接箭头连接符 7"/>
            <p:cNvCxnSpPr/>
            <p:nvPr/>
          </p:nvCxnSpPr>
          <p:spPr>
            <a:xfrm flipV="1">
              <a:off x="6822250" y="3293985"/>
              <a:ext cx="0" cy="7200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矩形 8"/>
                <p:cNvSpPr/>
                <p:nvPr/>
              </p:nvSpPr>
              <p:spPr>
                <a:xfrm>
                  <a:off x="7005991" y="3360346"/>
                  <a:ext cx="445956" cy="587277"/>
                </a:xfrm>
                <a:prstGeom prst="rect">
                  <a:avLst/>
                </a:prstGeom>
                <a:solidFill>
                  <a:schemeClr val="bg1"/>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b="1" i="1" spc="300">
                                <a:solidFill>
                                  <a:srgbClr val="0000FF"/>
                                </a:solidFill>
                                <a:latin typeface="Cambria Math" panose="02040503050406030204" pitchFamily="18" charset="0"/>
                                <a:ea typeface="华文新魏" panose="02010800040101010101" pitchFamily="2" charset="-122"/>
                              </a:rPr>
                            </m:ctrlPr>
                          </m:accPr>
                          <m:e>
                            <m:r>
                              <a:rPr lang="en-US" altLang="zh-CN" sz="2800" b="1" i="1" spc="300">
                                <a:solidFill>
                                  <a:srgbClr val="0000FF"/>
                                </a:solidFill>
                                <a:latin typeface="Cambria Math" panose="02040503050406030204" pitchFamily="18" charset="0"/>
                                <a:ea typeface="华文新魏" panose="02010800040101010101" pitchFamily="2" charset="-122"/>
                              </a:rPr>
                              <m:t>𝒍</m:t>
                            </m:r>
                          </m:e>
                        </m:acc>
                      </m:oMath>
                    </m:oMathPara>
                  </a14:m>
                  <a:endParaRPr lang="zh-CN" altLang="en-US" dirty="0">
                    <a:solidFill>
                      <a:srgbClr val="0000FF"/>
                    </a:solidFill>
                    <a:latin typeface="华文楷体" panose="02010600040101010101" pitchFamily="2" charset="-122"/>
                    <a:ea typeface="华文楷体" panose="0201060004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7005991" y="3360346"/>
                  <a:ext cx="445956" cy="587277"/>
                </a:xfrm>
                <a:prstGeom prst="rect">
                  <a:avLst/>
                </a:prstGeom>
                <a:blipFill>
                  <a:blip r:embed="rId4"/>
                  <a:stretch>
                    <a:fillRect/>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EE94936-7C9F-4B20-928B-8DB2CCD2C20E}"/>
                  </a:ext>
                </a:extLst>
              </p:cNvPr>
              <p:cNvSpPr/>
              <p:nvPr/>
            </p:nvSpPr>
            <p:spPr>
              <a:xfrm>
                <a:off x="4535038" y="3152334"/>
                <a:ext cx="4453405" cy="1384995"/>
              </a:xfrm>
              <a:prstGeom prst="rect">
                <a:avLst/>
              </a:prstGeom>
            </p:spPr>
            <p:txBody>
              <a:bodyPr wrap="square">
                <a:spAutoFit/>
              </a:bodyPr>
              <a:lstStyle/>
              <a:p>
                <a:pPr>
                  <a:lnSpc>
                    <a:spcPct val="150000"/>
                  </a:lnSpc>
                  <a:spcBef>
                    <a:spcPct val="50000"/>
                  </a:spcBef>
                </a:pPr>
                <a:r>
                  <a:rPr lang="zh-CN" altLang="en-US" sz="2800" dirty="0">
                    <a:latin typeface="华文楷体" panose="02010600040101010101" pitchFamily="2" charset="-122"/>
                    <a:ea typeface="华文楷体" panose="02010600040101010101" pitchFamily="2" charset="-122"/>
                  </a:rPr>
                  <a:t>电场力的大小为</a:t>
                </a:r>
                <a:endParaRPr lang="en-US" altLang="zh-CN" sz="2800" dirty="0">
                  <a:latin typeface="华文楷体" panose="02010600040101010101" pitchFamily="2" charset="-122"/>
                  <a:ea typeface="华文楷体" panose="02010600040101010101" pitchFamily="2" charset="-122"/>
                </a:endParaRPr>
              </a:p>
              <a:p>
                <a:pPr>
                  <a:lnSpc>
                    <a:spcPct val="150000"/>
                  </a:lnSpc>
                  <a:spcBef>
                    <a:spcPct val="50000"/>
                  </a:spcBef>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华文新魏" panose="02010800040101010101" pitchFamily="2" charset="-122"/>
                        </a:rPr>
                        <m:t>𝑭</m:t>
                      </m:r>
                      <m:r>
                        <a:rPr lang="en-US" altLang="zh-CN" sz="2800" i="1">
                          <a:latin typeface="Cambria Math" panose="02040503050406030204" pitchFamily="18" charset="0"/>
                          <a:ea typeface="华文新魏" panose="02010800040101010101" pitchFamily="2" charset="-122"/>
                        </a:rPr>
                        <m:t>=</m:t>
                      </m:r>
                      <m:sSub>
                        <m:sSubPr>
                          <m:ctrlPr>
                            <a:rPr lang="en-US" altLang="zh-CN" sz="2800" i="1">
                              <a:latin typeface="Cambria Math" panose="02040503050406030204" pitchFamily="18" charset="0"/>
                              <a:ea typeface="华文新魏" panose="02010800040101010101" pitchFamily="2" charset="-122"/>
                            </a:rPr>
                          </m:ctrlPr>
                        </m:sSubPr>
                        <m:e>
                          <m:r>
                            <a:rPr lang="en-US" altLang="zh-CN" sz="2800" i="1">
                              <a:latin typeface="Cambria Math" panose="02040503050406030204" pitchFamily="18" charset="0"/>
                              <a:ea typeface="华文新魏" panose="02010800040101010101" pitchFamily="2" charset="-122"/>
                            </a:rPr>
                            <m:t>𝑭</m:t>
                          </m:r>
                        </m:e>
                        <m:sub>
                          <m:r>
                            <a:rPr lang="en-US" altLang="zh-CN" sz="2800" i="1">
                              <a:latin typeface="Cambria Math" panose="02040503050406030204" pitchFamily="18" charset="0"/>
                              <a:ea typeface="华文新魏" panose="02010800040101010101" pitchFamily="2" charset="-122"/>
                            </a:rPr>
                            <m:t>𝟏</m:t>
                          </m:r>
                        </m:sub>
                      </m:sSub>
                      <m:r>
                        <a:rPr lang="en-US" altLang="zh-CN" sz="2800" i="1">
                          <a:latin typeface="Cambria Math" panose="02040503050406030204" pitchFamily="18" charset="0"/>
                          <a:ea typeface="华文新魏" panose="02010800040101010101" pitchFamily="2" charset="-122"/>
                        </a:rPr>
                        <m:t>=</m:t>
                      </m:r>
                      <m:sSub>
                        <m:sSubPr>
                          <m:ctrlPr>
                            <a:rPr lang="en-US" altLang="zh-CN" sz="2800" i="1">
                              <a:latin typeface="Cambria Math" panose="02040503050406030204" pitchFamily="18" charset="0"/>
                              <a:ea typeface="华文新魏" panose="02010800040101010101" pitchFamily="2" charset="-122"/>
                            </a:rPr>
                          </m:ctrlPr>
                        </m:sSubPr>
                        <m:e>
                          <m:r>
                            <a:rPr lang="en-US" altLang="zh-CN" sz="2800" i="1">
                              <a:latin typeface="Cambria Math" panose="02040503050406030204" pitchFamily="18" charset="0"/>
                              <a:ea typeface="华文新魏" panose="02010800040101010101" pitchFamily="2" charset="-122"/>
                            </a:rPr>
                            <m:t>𝑭</m:t>
                          </m:r>
                        </m:e>
                        <m:sub>
                          <m:r>
                            <a:rPr lang="en-US" altLang="zh-CN" sz="2800" i="1">
                              <a:latin typeface="Cambria Math" panose="02040503050406030204" pitchFamily="18" charset="0"/>
                              <a:ea typeface="华文新魏" panose="02010800040101010101" pitchFamily="2" charset="-122"/>
                            </a:rPr>
                            <m:t>𝟐</m:t>
                          </m:r>
                        </m:sub>
                      </m:sSub>
                      <m:r>
                        <a:rPr lang="en-US" altLang="zh-CN" sz="2800" i="1">
                          <a:latin typeface="Cambria Math" panose="02040503050406030204" pitchFamily="18" charset="0"/>
                          <a:ea typeface="华文新魏" panose="02010800040101010101" pitchFamily="2" charset="-122"/>
                        </a:rPr>
                        <m:t>=</m:t>
                      </m:r>
                      <m:r>
                        <a:rPr lang="en-US" altLang="zh-CN" sz="2800" i="1">
                          <a:latin typeface="Cambria Math" panose="02040503050406030204" pitchFamily="18" charset="0"/>
                          <a:ea typeface="华文新魏" panose="02010800040101010101" pitchFamily="2" charset="-122"/>
                        </a:rPr>
                        <m:t>𝒒𝑬</m:t>
                      </m:r>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7" name="矩形 6">
                <a:extLst>
                  <a:ext uri="{FF2B5EF4-FFF2-40B4-BE49-F238E27FC236}">
                    <a16:creationId xmlns:a16="http://schemas.microsoft.com/office/drawing/2014/main" id="{9EE94936-7C9F-4B20-928B-8DB2CCD2C20E}"/>
                  </a:ext>
                </a:extLst>
              </p:cNvPr>
              <p:cNvSpPr>
                <a:spLocks noRot="1" noChangeAspect="1" noMove="1" noResize="1" noEditPoints="1" noAdjustHandles="1" noChangeArrowheads="1" noChangeShapeType="1" noTextEdit="1"/>
              </p:cNvSpPr>
              <p:nvPr/>
            </p:nvSpPr>
            <p:spPr>
              <a:xfrm>
                <a:off x="4535038" y="3152334"/>
                <a:ext cx="4453405" cy="1384995"/>
              </a:xfrm>
              <a:prstGeom prst="rect">
                <a:avLst/>
              </a:prstGeom>
              <a:blipFill>
                <a:blip r:embed="rId5"/>
                <a:stretch>
                  <a:fillRect l="-2877"/>
                </a:stretch>
              </a:blipFill>
            </p:spPr>
            <p:txBody>
              <a:bodyPr/>
              <a:lstStyle/>
              <a:p>
                <a:r>
                  <a:rPr lang="en-US">
                    <a:noFill/>
                  </a:rPr>
                  <a:t> </a:t>
                </a:r>
              </a:p>
            </p:txBody>
          </p:sp>
        </mc:Fallback>
      </mc:AlternateContent>
      <p:grpSp>
        <p:nvGrpSpPr>
          <p:cNvPr id="11" name="Group 3">
            <a:extLst>
              <a:ext uri="{FF2B5EF4-FFF2-40B4-BE49-F238E27FC236}">
                <a16:creationId xmlns:a16="http://schemas.microsoft.com/office/drawing/2014/main" id="{279B7D5A-0E3D-4325-A374-417425DECB89}"/>
              </a:ext>
            </a:extLst>
          </p:cNvPr>
          <p:cNvGrpSpPr>
            <a:grpSpLocks/>
          </p:cNvGrpSpPr>
          <p:nvPr/>
        </p:nvGrpSpPr>
        <p:grpSpPr bwMode="auto">
          <a:xfrm>
            <a:off x="591687" y="3216882"/>
            <a:ext cx="3308351" cy="1728788"/>
            <a:chOff x="3415" y="2296"/>
            <a:chExt cx="2084" cy="1089"/>
          </a:xfrm>
        </p:grpSpPr>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CDDE02F6-F110-4E41-A9A7-81D97025DFC4}"/>
                    </a:ext>
                  </a:extLst>
                </p:cNvPr>
                <p:cNvSpPr txBox="1"/>
                <p:nvPr/>
              </p:nvSpPr>
              <p:spPr bwMode="auto">
                <a:xfrm>
                  <a:off x="4195" y="2535"/>
                  <a:ext cx="187" cy="33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en-US" altLang="zh-CN" sz="2800" b="1" i="1">
                                <a:solidFill>
                                  <a:srgbClr val="000000"/>
                                </a:solidFill>
                                <a:latin typeface="Cambria Math" panose="02040503050406030204" pitchFamily="18" charset="0"/>
                              </a:rPr>
                              <m:t>𝒍</m:t>
                            </m:r>
                          </m:e>
                        </m:acc>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31762" name="Object 4"/>
                <p:cNvSpPr txBox="1">
                  <a:spLocks noRot="1" noChangeAspect="1" noMove="1" noResize="1" noEditPoints="1" noAdjustHandles="1" noChangeArrowheads="1" noChangeShapeType="1" noTextEdit="1"/>
                </p:cNvSpPr>
                <p:nvPr/>
              </p:nvSpPr>
              <p:spPr bwMode="auto">
                <a:xfrm>
                  <a:off x="4195" y="2535"/>
                  <a:ext cx="187" cy="332"/>
                </a:xfrm>
                <a:prstGeom prst="rect">
                  <a:avLst/>
                </a:prstGeom>
                <a:blipFill>
                  <a:blip r:embed="rId6"/>
                  <a:stretch>
                    <a:fillRect/>
                  </a:stretch>
                </a:blipFill>
                <a:ln>
                  <a:noFill/>
                </a:ln>
                <a:effectLst/>
              </p:spPr>
              <p:txBody>
                <a:bodyPr/>
                <a:lstStyle/>
                <a:p>
                  <a:r>
                    <a:rPr lang="zh-CN" altLang="en-US">
                      <a:noFill/>
                    </a:rPr>
                    <a:t> </a:t>
                  </a:r>
                </a:p>
              </p:txBody>
            </p:sp>
          </mc:Fallback>
        </mc:AlternateContent>
        <p:grpSp>
          <p:nvGrpSpPr>
            <p:cNvPr id="13" name="Group 5">
              <a:extLst>
                <a:ext uri="{FF2B5EF4-FFF2-40B4-BE49-F238E27FC236}">
                  <a16:creationId xmlns:a16="http://schemas.microsoft.com/office/drawing/2014/main" id="{982DB2DD-F69C-4514-9394-D822B7C57771}"/>
                </a:ext>
              </a:extLst>
            </p:cNvPr>
            <p:cNvGrpSpPr>
              <a:grpSpLocks/>
            </p:cNvGrpSpPr>
            <p:nvPr/>
          </p:nvGrpSpPr>
          <p:grpSpPr bwMode="auto">
            <a:xfrm>
              <a:off x="3415" y="2296"/>
              <a:ext cx="2084" cy="1089"/>
              <a:chOff x="3415" y="2296"/>
              <a:chExt cx="2084" cy="1089"/>
            </a:xfrm>
          </p:grpSpPr>
          <p:grpSp>
            <p:nvGrpSpPr>
              <p:cNvPr id="14" name="Group 6">
                <a:extLst>
                  <a:ext uri="{FF2B5EF4-FFF2-40B4-BE49-F238E27FC236}">
                    <a16:creationId xmlns:a16="http://schemas.microsoft.com/office/drawing/2014/main" id="{05F2AAE4-B372-49C3-A39B-42441C11DD0A}"/>
                  </a:ext>
                </a:extLst>
              </p:cNvPr>
              <p:cNvGrpSpPr>
                <a:grpSpLocks/>
              </p:cNvGrpSpPr>
              <p:nvPr/>
            </p:nvGrpSpPr>
            <p:grpSpPr bwMode="auto">
              <a:xfrm>
                <a:off x="3696" y="2387"/>
                <a:ext cx="1588" cy="998"/>
                <a:chOff x="3696" y="2387"/>
                <a:chExt cx="1588" cy="998"/>
              </a:xfrm>
            </p:grpSpPr>
            <p:sp>
              <p:nvSpPr>
                <p:cNvPr id="27" name="Oval 7">
                  <a:extLst>
                    <a:ext uri="{FF2B5EF4-FFF2-40B4-BE49-F238E27FC236}">
                      <a16:creationId xmlns:a16="http://schemas.microsoft.com/office/drawing/2014/main" id="{8111625D-05F0-4DF5-BE79-A0E3EE1BEF26}"/>
                    </a:ext>
                  </a:extLst>
                </p:cNvPr>
                <p:cNvSpPr>
                  <a:spLocks noChangeArrowheads="1"/>
                </p:cNvSpPr>
                <p:nvPr/>
              </p:nvSpPr>
              <p:spPr bwMode="auto">
                <a:xfrm>
                  <a:off x="4648" y="2433"/>
                  <a:ext cx="92" cy="90"/>
                </a:xfrm>
                <a:prstGeom prst="ellipse">
                  <a:avLst/>
                </a:prstGeom>
                <a:gradFill rotWithShape="1">
                  <a:gsLst>
                    <a:gs pos="0">
                      <a:srgbClr val="0000FF"/>
                    </a:gs>
                    <a:gs pos="100000">
                      <a:srgbClr val="000076"/>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grpSp>
              <p:nvGrpSpPr>
                <p:cNvPr id="28" name="Group 8">
                  <a:extLst>
                    <a:ext uri="{FF2B5EF4-FFF2-40B4-BE49-F238E27FC236}">
                      <a16:creationId xmlns:a16="http://schemas.microsoft.com/office/drawing/2014/main" id="{9E1F5577-8064-4C77-9474-B4EE9A18665C}"/>
                    </a:ext>
                  </a:extLst>
                </p:cNvPr>
                <p:cNvGrpSpPr>
                  <a:grpSpLocks/>
                </p:cNvGrpSpPr>
                <p:nvPr/>
              </p:nvGrpSpPr>
              <p:grpSpPr bwMode="auto">
                <a:xfrm>
                  <a:off x="3696" y="2387"/>
                  <a:ext cx="1588" cy="998"/>
                  <a:chOff x="3696" y="2387"/>
                  <a:chExt cx="1588" cy="998"/>
                </a:xfrm>
              </p:grpSpPr>
              <p:sp>
                <p:nvSpPr>
                  <p:cNvPr id="29" name="Line 9">
                    <a:extLst>
                      <a:ext uri="{FF2B5EF4-FFF2-40B4-BE49-F238E27FC236}">
                        <a16:creationId xmlns:a16="http://schemas.microsoft.com/office/drawing/2014/main" id="{B75B554C-92CE-436F-A648-52254F2A1C8F}"/>
                      </a:ext>
                    </a:extLst>
                  </p:cNvPr>
                  <p:cNvSpPr>
                    <a:spLocks noChangeShapeType="1"/>
                  </p:cNvSpPr>
                  <p:nvPr/>
                </p:nvSpPr>
                <p:spPr bwMode="auto">
                  <a:xfrm flipV="1">
                    <a:off x="4164" y="2509"/>
                    <a:ext cx="504" cy="725"/>
                  </a:xfrm>
                  <a:prstGeom prst="line">
                    <a:avLst/>
                  </a:prstGeom>
                  <a:noFill/>
                  <a:ln w="38100">
                    <a:solidFill>
                      <a:srgbClr val="33CC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nvGrpSpPr>
                  <p:cNvPr id="30" name="Group 10">
                    <a:extLst>
                      <a:ext uri="{FF2B5EF4-FFF2-40B4-BE49-F238E27FC236}">
                        <a16:creationId xmlns:a16="http://schemas.microsoft.com/office/drawing/2014/main" id="{2F4DA4C0-0718-49A6-9B1D-7308B4AEEDFB}"/>
                      </a:ext>
                    </a:extLst>
                  </p:cNvPr>
                  <p:cNvGrpSpPr>
                    <a:grpSpLocks/>
                  </p:cNvGrpSpPr>
                  <p:nvPr/>
                </p:nvGrpSpPr>
                <p:grpSpPr bwMode="auto">
                  <a:xfrm>
                    <a:off x="3696" y="2387"/>
                    <a:ext cx="1588" cy="998"/>
                    <a:chOff x="3696" y="2387"/>
                    <a:chExt cx="1588" cy="998"/>
                  </a:xfrm>
                </p:grpSpPr>
                <p:grpSp>
                  <p:nvGrpSpPr>
                    <p:cNvPr id="33" name="Group 11">
                      <a:extLst>
                        <a:ext uri="{FF2B5EF4-FFF2-40B4-BE49-F238E27FC236}">
                          <a16:creationId xmlns:a16="http://schemas.microsoft.com/office/drawing/2014/main" id="{66C5742E-432A-47A8-8750-710464BF57F2}"/>
                        </a:ext>
                      </a:extLst>
                    </p:cNvPr>
                    <p:cNvGrpSpPr>
                      <a:grpSpLocks/>
                    </p:cNvGrpSpPr>
                    <p:nvPr/>
                  </p:nvGrpSpPr>
                  <p:grpSpPr bwMode="auto">
                    <a:xfrm>
                      <a:off x="3696" y="2387"/>
                      <a:ext cx="1588" cy="499"/>
                      <a:chOff x="3696" y="2387"/>
                      <a:chExt cx="1588" cy="499"/>
                    </a:xfrm>
                  </p:grpSpPr>
                  <p:sp>
                    <p:nvSpPr>
                      <p:cNvPr id="35" name="Line 12">
                        <a:extLst>
                          <a:ext uri="{FF2B5EF4-FFF2-40B4-BE49-F238E27FC236}">
                            <a16:creationId xmlns:a16="http://schemas.microsoft.com/office/drawing/2014/main" id="{1D501675-A230-4325-A119-3E75DB66EC6B}"/>
                          </a:ext>
                        </a:extLst>
                      </p:cNvPr>
                      <p:cNvSpPr>
                        <a:spLocks noChangeShapeType="1"/>
                      </p:cNvSpPr>
                      <p:nvPr/>
                    </p:nvSpPr>
                    <p:spPr bwMode="auto">
                      <a:xfrm>
                        <a:off x="3696" y="2387"/>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36" name="Line 13">
                        <a:extLst>
                          <a:ext uri="{FF2B5EF4-FFF2-40B4-BE49-F238E27FC236}">
                            <a16:creationId xmlns:a16="http://schemas.microsoft.com/office/drawing/2014/main" id="{9B6FAD09-0F05-4018-B0E4-EDA66B3FD50A}"/>
                          </a:ext>
                        </a:extLst>
                      </p:cNvPr>
                      <p:cNvSpPr>
                        <a:spLocks noChangeShapeType="1"/>
                      </p:cNvSpPr>
                      <p:nvPr/>
                    </p:nvSpPr>
                    <p:spPr bwMode="auto">
                      <a:xfrm>
                        <a:off x="3696" y="2886"/>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sp>
                  <p:nvSpPr>
                    <p:cNvPr id="34" name="Line 14">
                      <a:extLst>
                        <a:ext uri="{FF2B5EF4-FFF2-40B4-BE49-F238E27FC236}">
                          <a16:creationId xmlns:a16="http://schemas.microsoft.com/office/drawing/2014/main" id="{7730B974-BA18-44B5-A439-D2F32D34C2EF}"/>
                        </a:ext>
                      </a:extLst>
                    </p:cNvPr>
                    <p:cNvSpPr>
                      <a:spLocks noChangeShapeType="1"/>
                    </p:cNvSpPr>
                    <p:nvPr/>
                  </p:nvSpPr>
                  <p:spPr bwMode="auto">
                    <a:xfrm>
                      <a:off x="3696" y="3385"/>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sp>
                <p:nvSpPr>
                  <p:cNvPr id="31" name="Oval 15">
                    <a:extLst>
                      <a:ext uri="{FF2B5EF4-FFF2-40B4-BE49-F238E27FC236}">
                        <a16:creationId xmlns:a16="http://schemas.microsoft.com/office/drawing/2014/main" id="{8C29D99E-ACFF-4798-BBD1-36466EB12FE9}"/>
                      </a:ext>
                    </a:extLst>
                  </p:cNvPr>
                  <p:cNvSpPr>
                    <a:spLocks noChangeArrowheads="1"/>
                  </p:cNvSpPr>
                  <p:nvPr/>
                </p:nvSpPr>
                <p:spPr bwMode="auto">
                  <a:xfrm>
                    <a:off x="4105" y="3203"/>
                    <a:ext cx="90" cy="91"/>
                  </a:xfrm>
                  <a:prstGeom prst="ellipse">
                    <a:avLst/>
                  </a:prstGeom>
                  <a:gradFill rotWithShape="1">
                    <a:gsLst>
                      <a:gs pos="0">
                        <a:srgbClr val="0000FF"/>
                      </a:gs>
                      <a:gs pos="100000">
                        <a:srgbClr val="000076"/>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32" name="Line 16">
                    <a:extLst>
                      <a:ext uri="{FF2B5EF4-FFF2-40B4-BE49-F238E27FC236}">
                        <a16:creationId xmlns:a16="http://schemas.microsoft.com/office/drawing/2014/main" id="{E61CC528-F3A9-4C97-9D20-E45D0804E8B8}"/>
                      </a:ext>
                    </a:extLst>
                  </p:cNvPr>
                  <p:cNvSpPr>
                    <a:spLocks noChangeShapeType="1"/>
                  </p:cNvSpPr>
                  <p:nvPr/>
                </p:nvSpPr>
                <p:spPr bwMode="auto">
                  <a:xfrm>
                    <a:off x="4468" y="2795"/>
                    <a:ext cx="45" cy="91"/>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grpSp>
          <p:sp>
            <p:nvSpPr>
              <p:cNvPr id="15" name="Line 17">
                <a:extLst>
                  <a:ext uri="{FF2B5EF4-FFF2-40B4-BE49-F238E27FC236}">
                    <a16:creationId xmlns:a16="http://schemas.microsoft.com/office/drawing/2014/main" id="{56A933B8-1515-469E-B692-3FA79323B837}"/>
                  </a:ext>
                </a:extLst>
              </p:cNvPr>
              <p:cNvSpPr>
                <a:spLocks noChangeShapeType="1"/>
              </p:cNvSpPr>
              <p:nvPr/>
            </p:nvSpPr>
            <p:spPr bwMode="auto">
              <a:xfrm>
                <a:off x="4740" y="2478"/>
                <a:ext cx="227" cy="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nvGrpSpPr>
              <p:cNvPr id="16" name="Group 18">
                <a:extLst>
                  <a:ext uri="{FF2B5EF4-FFF2-40B4-BE49-F238E27FC236}">
                    <a16:creationId xmlns:a16="http://schemas.microsoft.com/office/drawing/2014/main" id="{7199E193-B3D5-4D88-A6B8-2FD5CF22FAF8}"/>
                  </a:ext>
                </a:extLst>
              </p:cNvPr>
              <p:cNvGrpSpPr>
                <a:grpSpLocks/>
              </p:cNvGrpSpPr>
              <p:nvPr/>
            </p:nvGrpSpPr>
            <p:grpSpPr bwMode="auto">
              <a:xfrm>
                <a:off x="3833" y="2704"/>
                <a:ext cx="1010" cy="545"/>
                <a:chOff x="3833" y="2704"/>
                <a:chExt cx="1010" cy="545"/>
              </a:xfrm>
            </p:grpSpPr>
            <p:sp>
              <p:nvSpPr>
                <p:cNvPr id="25" name="Arc 19">
                  <a:extLst>
                    <a:ext uri="{FF2B5EF4-FFF2-40B4-BE49-F238E27FC236}">
                      <a16:creationId xmlns:a16="http://schemas.microsoft.com/office/drawing/2014/main" id="{E12B20A3-9644-4559-8053-98DEAFBD46CA}"/>
                    </a:ext>
                  </a:extLst>
                </p:cNvPr>
                <p:cNvSpPr>
                  <a:spLocks/>
                </p:cNvSpPr>
                <p:nvPr/>
              </p:nvSpPr>
              <p:spPr bwMode="auto">
                <a:xfrm rot="8451361">
                  <a:off x="4513" y="2704"/>
                  <a:ext cx="330" cy="334"/>
                </a:xfrm>
                <a:custGeom>
                  <a:avLst/>
                  <a:gdLst>
                    <a:gd name="T0" fmla="*/ 0 w 21231"/>
                    <a:gd name="T1" fmla="*/ 0 h 21483"/>
                    <a:gd name="T2" fmla="*/ 0 w 21231"/>
                    <a:gd name="T3" fmla="*/ 0 h 21483"/>
                    <a:gd name="T4" fmla="*/ 0 w 21231"/>
                    <a:gd name="T5" fmla="*/ 0 h 21483"/>
                    <a:gd name="T6" fmla="*/ 0 60000 65536"/>
                    <a:gd name="T7" fmla="*/ 0 60000 65536"/>
                    <a:gd name="T8" fmla="*/ 0 60000 65536"/>
                  </a:gdLst>
                  <a:ahLst/>
                  <a:cxnLst>
                    <a:cxn ang="T6">
                      <a:pos x="T0" y="T1"/>
                    </a:cxn>
                    <a:cxn ang="T7">
                      <a:pos x="T2" y="T3"/>
                    </a:cxn>
                    <a:cxn ang="T8">
                      <a:pos x="T4" y="T5"/>
                    </a:cxn>
                  </a:cxnLst>
                  <a:rect l="0" t="0" r="r" b="b"/>
                  <a:pathLst>
                    <a:path w="21231" h="21483" fill="none" extrusionOk="0">
                      <a:moveTo>
                        <a:pt x="0" y="17506"/>
                      </a:moveTo>
                      <a:cubicBezTo>
                        <a:pt x="1759" y="8114"/>
                        <a:pt x="9479" y="995"/>
                        <a:pt x="18982" y="0"/>
                      </a:cubicBezTo>
                    </a:path>
                    <a:path w="21231" h="21483" stroke="0" extrusionOk="0">
                      <a:moveTo>
                        <a:pt x="0" y="17506"/>
                      </a:moveTo>
                      <a:cubicBezTo>
                        <a:pt x="1759" y="8114"/>
                        <a:pt x="9479" y="995"/>
                        <a:pt x="18982" y="0"/>
                      </a:cubicBezTo>
                      <a:lnTo>
                        <a:pt x="21231" y="21483"/>
                      </a:lnTo>
                      <a:lnTo>
                        <a:pt x="0" y="17506"/>
                      </a:lnTo>
                      <a:close/>
                    </a:path>
                  </a:pathLst>
                </a:custGeom>
                <a:noFill/>
                <a:ln w="25400" cap="rnd">
                  <a:solidFill>
                    <a:srgbClr val="FF6600"/>
                  </a:solidFill>
                  <a:round/>
                  <a:headEnd type="none"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26" name="Line 20">
                  <a:extLst>
                    <a:ext uri="{FF2B5EF4-FFF2-40B4-BE49-F238E27FC236}">
                      <a16:creationId xmlns:a16="http://schemas.microsoft.com/office/drawing/2014/main" id="{5A26CB3D-7903-4A3B-BDEC-3F120E6A3BDE}"/>
                    </a:ext>
                  </a:extLst>
                </p:cNvPr>
                <p:cNvSpPr>
                  <a:spLocks noChangeShapeType="1"/>
                </p:cNvSpPr>
                <p:nvPr/>
              </p:nvSpPr>
              <p:spPr bwMode="auto">
                <a:xfrm flipH="1">
                  <a:off x="3833" y="3249"/>
                  <a:ext cx="272" cy="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grpSp>
            <p:nvGrpSpPr>
              <p:cNvPr id="17" name="Group 21">
                <a:extLst>
                  <a:ext uri="{FF2B5EF4-FFF2-40B4-BE49-F238E27FC236}">
                    <a16:creationId xmlns:a16="http://schemas.microsoft.com/office/drawing/2014/main" id="{05A60876-F78D-4519-9D44-662A98269049}"/>
                  </a:ext>
                </a:extLst>
              </p:cNvPr>
              <p:cNvGrpSpPr>
                <a:grpSpLocks/>
              </p:cNvGrpSpPr>
              <p:nvPr/>
            </p:nvGrpSpPr>
            <p:grpSpPr bwMode="auto">
              <a:xfrm>
                <a:off x="3415" y="2296"/>
                <a:ext cx="2084" cy="1043"/>
                <a:chOff x="3415" y="2296"/>
                <a:chExt cx="2084" cy="1043"/>
              </a:xfrm>
            </p:grpSpPr>
            <mc:AlternateContent xmlns:mc="http://schemas.openxmlformats.org/markup-compatibility/2006" xmlns:a14="http://schemas.microsoft.com/office/drawing/2010/main">
              <mc:Choice Requires="a14">
                <p:sp>
                  <p:nvSpPr>
                    <p:cNvPr id="18" name="Object 22">
                      <a:extLst>
                        <a:ext uri="{FF2B5EF4-FFF2-40B4-BE49-F238E27FC236}">
                          <a16:creationId xmlns:a16="http://schemas.microsoft.com/office/drawing/2014/main" id="{0DC9C558-8816-443E-BF68-8AA004564E28}"/>
                        </a:ext>
                      </a:extLst>
                    </p:cNvPr>
                    <p:cNvSpPr txBox="1"/>
                    <p:nvPr/>
                  </p:nvSpPr>
                  <p:spPr bwMode="auto">
                    <a:xfrm>
                      <a:off x="4311" y="2296"/>
                      <a:ext cx="267" cy="22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68" name="Object 22"/>
                    <p:cNvSpPr txBox="1">
                      <a:spLocks noRot="1" noChangeAspect="1" noMove="1" noResize="1" noEditPoints="1" noAdjustHandles="1" noChangeArrowheads="1" noChangeShapeType="1" noTextEdit="1"/>
                    </p:cNvSpPr>
                    <p:nvPr/>
                  </p:nvSpPr>
                  <p:spPr bwMode="auto">
                    <a:xfrm>
                      <a:off x="4311" y="2296"/>
                      <a:ext cx="267" cy="222"/>
                    </a:xfrm>
                    <a:prstGeom prst="rect">
                      <a:avLst/>
                    </a:prstGeom>
                    <a:blipFill>
                      <a:blip r:embed="rId7"/>
                      <a:stretch>
                        <a:fillRect l="-1429" r="-42857" b="-4482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23">
                      <a:extLst>
                        <a:ext uri="{FF2B5EF4-FFF2-40B4-BE49-F238E27FC236}">
                          <a16:creationId xmlns:a16="http://schemas.microsoft.com/office/drawing/2014/main" id="{D3D1FF37-D552-4EB5-BFA1-CAFF358B76F8}"/>
                        </a:ext>
                      </a:extLst>
                    </p:cNvPr>
                    <p:cNvSpPr txBox="1"/>
                    <p:nvPr/>
                  </p:nvSpPr>
                  <p:spPr bwMode="auto">
                    <a:xfrm>
                      <a:off x="5329" y="2750"/>
                      <a:ext cx="170" cy="22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zh-CN" altLang="en-US" sz="2800" b="1" i="1">
                                    <a:solidFill>
                                      <a:srgbClr val="000000"/>
                                    </a:solidFill>
                                    <a:latin typeface="Cambria Math" panose="02040503050406030204" pitchFamily="18" charset="0"/>
                                  </a:rPr>
                                  <m:t>𝑬</m:t>
                                </m:r>
                              </m:e>
                            </m:acc>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31769" name="Object 23"/>
                    <p:cNvSpPr txBox="1">
                      <a:spLocks noRot="1" noChangeAspect="1" noMove="1" noResize="1" noEditPoints="1" noAdjustHandles="1" noChangeArrowheads="1" noChangeShapeType="1" noTextEdit="1"/>
                    </p:cNvSpPr>
                    <p:nvPr/>
                  </p:nvSpPr>
                  <p:spPr bwMode="auto">
                    <a:xfrm>
                      <a:off x="5329" y="2750"/>
                      <a:ext cx="170" cy="227"/>
                    </a:xfrm>
                    <a:prstGeom prst="rect">
                      <a:avLst/>
                    </a:prstGeom>
                    <a:blipFill>
                      <a:blip r:embed="rId8"/>
                      <a:stretch>
                        <a:fillRect r="-22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24">
                      <a:extLst>
                        <a:ext uri="{FF2B5EF4-FFF2-40B4-BE49-F238E27FC236}">
                          <a16:creationId xmlns:a16="http://schemas.microsoft.com/office/drawing/2014/main" id="{91E864DB-DFC1-43F9-86C6-73FF4500659C}"/>
                        </a:ext>
                      </a:extLst>
                    </p:cNvPr>
                    <p:cNvSpPr txBox="1"/>
                    <p:nvPr/>
                  </p:nvSpPr>
                  <p:spPr bwMode="auto">
                    <a:xfrm>
                      <a:off x="4531" y="2610"/>
                      <a:ext cx="287" cy="22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𝜽</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0" name="Object 24"/>
                    <p:cNvSpPr txBox="1">
                      <a:spLocks noRot="1" noChangeAspect="1" noMove="1" noResize="1" noEditPoints="1" noAdjustHandles="1" noChangeArrowheads="1" noChangeShapeType="1" noTextEdit="1"/>
                    </p:cNvSpPr>
                    <p:nvPr/>
                  </p:nvSpPr>
                  <p:spPr bwMode="auto">
                    <a:xfrm>
                      <a:off x="4531" y="2610"/>
                      <a:ext cx="287" cy="227"/>
                    </a:xfrm>
                    <a:prstGeom prst="rect">
                      <a:avLst/>
                    </a:prstGeom>
                    <a:blipFill>
                      <a:blip r:embed="rId9"/>
                      <a:stretch>
                        <a:fillRect l="-2667" b="-2203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25">
                      <a:extLst>
                        <a:ext uri="{FF2B5EF4-FFF2-40B4-BE49-F238E27FC236}">
                          <a16:creationId xmlns:a16="http://schemas.microsoft.com/office/drawing/2014/main" id="{709607F9-850D-4593-B73B-042799CB4D3C}"/>
                        </a:ext>
                      </a:extLst>
                    </p:cNvPr>
                    <p:cNvSpPr txBox="1"/>
                    <p:nvPr/>
                  </p:nvSpPr>
                  <p:spPr bwMode="auto">
                    <a:xfrm>
                      <a:off x="4967" y="2349"/>
                      <a:ext cx="376" cy="45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𝑭</m:t>
                                    </m:r>
                                  </m:e>
                                </m:acc>
                              </m:e>
                              <m:sub>
                                <m:r>
                                  <a:rPr lang="zh-CN" altLang="en-US" sz="2400" b="1" i="1">
                                    <a:solidFill>
                                      <a:srgbClr val="000000"/>
                                    </a:solidFill>
                                    <a:latin typeface="Cambria Math" panose="02040503050406030204" pitchFamily="18" charset="0"/>
                                  </a:rPr>
                                  <m:t>𝟏</m:t>
                                </m:r>
                              </m:sub>
                            </m:sSub>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1" name="Object 25"/>
                    <p:cNvSpPr txBox="1">
                      <a:spLocks noRot="1" noChangeAspect="1" noMove="1" noResize="1" noEditPoints="1" noAdjustHandles="1" noChangeArrowheads="1" noChangeShapeType="1" noTextEdit="1"/>
                    </p:cNvSpPr>
                    <p:nvPr/>
                  </p:nvSpPr>
                  <p:spPr bwMode="auto">
                    <a:xfrm>
                      <a:off x="4967" y="2349"/>
                      <a:ext cx="376" cy="457"/>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6">
                      <a:extLst>
                        <a:ext uri="{FF2B5EF4-FFF2-40B4-BE49-F238E27FC236}">
                          <a16:creationId xmlns:a16="http://schemas.microsoft.com/office/drawing/2014/main" id="{08E6BFF7-4DFF-4E26-8DEE-A2BDA086126A}"/>
                        </a:ext>
                      </a:extLst>
                    </p:cNvPr>
                    <p:cNvSpPr txBox="1"/>
                    <p:nvPr/>
                  </p:nvSpPr>
                  <p:spPr bwMode="auto">
                    <a:xfrm>
                      <a:off x="3415" y="2995"/>
                      <a:ext cx="391" cy="3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𝑭</m:t>
                                    </m:r>
                                  </m:e>
                                </m:acc>
                              </m:e>
                              <m:sub>
                                <m:r>
                                  <a:rPr lang="zh-CN" altLang="en-US" sz="2400" b="1" i="1">
                                    <a:solidFill>
                                      <a:srgbClr val="000000"/>
                                    </a:solidFill>
                                    <a:latin typeface="Cambria Math" panose="02040503050406030204" pitchFamily="18" charset="0"/>
                                  </a:rPr>
                                  <m:t>𝟐</m:t>
                                </m:r>
                              </m:sub>
                            </m:sSub>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2" name="Object 26"/>
                    <p:cNvSpPr txBox="1">
                      <a:spLocks noRot="1" noChangeAspect="1" noMove="1" noResize="1" noEditPoints="1" noAdjustHandles="1" noChangeArrowheads="1" noChangeShapeType="1" noTextEdit="1"/>
                    </p:cNvSpPr>
                    <p:nvPr/>
                  </p:nvSpPr>
                  <p:spPr bwMode="auto">
                    <a:xfrm>
                      <a:off x="3415" y="2995"/>
                      <a:ext cx="391" cy="344"/>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7">
                      <a:extLst>
                        <a:ext uri="{FF2B5EF4-FFF2-40B4-BE49-F238E27FC236}">
                          <a16:creationId xmlns:a16="http://schemas.microsoft.com/office/drawing/2014/main" id="{825DD592-3E40-45BB-AA9E-A605D4B63159}"/>
                        </a:ext>
                      </a:extLst>
                    </p:cNvPr>
                    <p:cNvSpPr txBox="1"/>
                    <p:nvPr/>
                  </p:nvSpPr>
                  <p:spPr bwMode="auto">
                    <a:xfrm>
                      <a:off x="3806" y="2946"/>
                      <a:ext cx="313" cy="30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3" name="Object 27"/>
                    <p:cNvSpPr txBox="1">
                      <a:spLocks noRot="1" noChangeAspect="1" noMove="1" noResize="1" noEditPoints="1" noAdjustHandles="1" noChangeArrowheads="1" noChangeShapeType="1" noTextEdit="1"/>
                    </p:cNvSpPr>
                    <p:nvPr/>
                  </p:nvSpPr>
                  <p:spPr bwMode="auto">
                    <a:xfrm>
                      <a:off x="3806" y="2946"/>
                      <a:ext cx="313" cy="305"/>
                    </a:xfrm>
                    <a:prstGeom prst="rect">
                      <a:avLst/>
                    </a:prstGeom>
                    <a:blipFill>
                      <a:blip r:embed="rId12"/>
                      <a:stretch>
                        <a:fillRect r="-23171" b="-50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28">
                      <a:extLst>
                        <a:ext uri="{FF2B5EF4-FFF2-40B4-BE49-F238E27FC236}">
                          <a16:creationId xmlns:a16="http://schemas.microsoft.com/office/drawing/2014/main" id="{CD750538-8B42-4ECD-80E8-EFE67B93E46D}"/>
                        </a:ext>
                      </a:extLst>
                    </p:cNvPr>
                    <p:cNvSpPr txBox="1"/>
                    <p:nvPr/>
                  </p:nvSpPr>
                  <p:spPr bwMode="auto">
                    <a:xfrm>
                      <a:off x="4754" y="2905"/>
                      <a:ext cx="245" cy="24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zh-CN" altLang="en-US" sz="2800" b="1" i="1">
                                    <a:solidFill>
                                      <a:srgbClr val="000000"/>
                                    </a:solidFill>
                                    <a:latin typeface="Cambria Math" panose="02040503050406030204" pitchFamily="18" charset="0"/>
                                  </a:rPr>
                                  <m:t>𝑴</m:t>
                                </m:r>
                              </m:e>
                            </m:acc>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31774" name="Object 28"/>
                    <p:cNvSpPr txBox="1">
                      <a:spLocks noRot="1" noChangeAspect="1" noMove="1" noResize="1" noEditPoints="1" noAdjustHandles="1" noChangeArrowheads="1" noChangeShapeType="1" noTextEdit="1"/>
                    </p:cNvSpPr>
                    <p:nvPr/>
                  </p:nvSpPr>
                  <p:spPr bwMode="auto">
                    <a:xfrm>
                      <a:off x="4754" y="2905"/>
                      <a:ext cx="245" cy="245"/>
                    </a:xfrm>
                    <a:prstGeom prst="rect">
                      <a:avLst/>
                    </a:prstGeom>
                    <a:blipFill>
                      <a:blip r:embed="rId13"/>
                      <a:stretch>
                        <a:fillRect r="-7813" b="-12500"/>
                      </a:stretch>
                    </a:blipFill>
                    <a:ln>
                      <a:noFill/>
                    </a:ln>
                    <a:effectLst/>
                  </p:spPr>
                  <p:txBody>
                    <a:bodyPr/>
                    <a:lstStyle/>
                    <a:p>
                      <a:r>
                        <a:rPr lang="zh-CN" altLang="en-US">
                          <a:noFill/>
                        </a:rPr>
                        <a:t> </a:t>
                      </a:r>
                    </a:p>
                  </p:txBody>
                </p:sp>
              </mc:Fallback>
            </mc:AlternateContent>
          </p:grpSp>
        </p:grpSp>
      </p:grpSp>
      <mc:AlternateContent xmlns:mc="http://schemas.openxmlformats.org/markup-compatibility/2006" xmlns:a14="http://schemas.microsoft.com/office/drawing/2010/main">
        <mc:Choice Requires="a14">
          <p:sp>
            <p:nvSpPr>
              <p:cNvPr id="37" name="Text Box 36">
                <a:extLst>
                  <a:ext uri="{FF2B5EF4-FFF2-40B4-BE49-F238E27FC236}">
                    <a16:creationId xmlns:a16="http://schemas.microsoft.com/office/drawing/2014/main" id="{E72021E4-B563-4AE1-926E-9D43F85C1592}"/>
                  </a:ext>
                </a:extLst>
              </p:cNvPr>
              <p:cNvSpPr txBox="1">
                <a:spLocks noChangeArrowheads="1"/>
              </p:cNvSpPr>
              <p:nvPr/>
            </p:nvSpPr>
            <p:spPr bwMode="auto">
              <a:xfrm>
                <a:off x="4391767" y="4985498"/>
                <a:ext cx="8004966" cy="1481111"/>
              </a:xfrm>
              <a:prstGeom prst="rect">
                <a:avLst/>
              </a:prstGeom>
              <a:noFill/>
              <a:ln>
                <a:noFill/>
              </a:ln>
              <a:effectLst/>
              <a:extLst>
                <a:ext uri="{909E8E84-426E-40DD-AFC4-6F175D3DCCD1}">
                  <a14:hiddenFill>
                    <a:solidFill>
                      <a:srgbClr val="FFFFFF"/>
                    </a:solidFill>
                  </a14:hiddenFill>
                </a:ext>
                <a:ext uri="{91240B29-F687-4F45-9708-019B960494DF}">
                  <a14:hiddenLine w="25400">
                    <a:solidFill>
                      <a:srgbClr val="80008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zh-CN" altLang="en-US" sz="2800" dirty="0">
                    <a:solidFill>
                      <a:srgbClr val="0000CC"/>
                    </a:solidFill>
                    <a:latin typeface="华文楷体" panose="02010600040101010101" pitchFamily="2" charset="-122"/>
                    <a:ea typeface="华文楷体" panose="02010600040101010101" pitchFamily="2" charset="-122"/>
                  </a:rPr>
                  <a:t>合力为零</a:t>
                </a:r>
                <a:r>
                  <a:rPr lang="zh-CN" altLang="en-US" sz="2800" dirty="0">
                    <a:latin typeface="华文楷体" panose="02010600040101010101" pitchFamily="2" charset="-122"/>
                    <a:ea typeface="华文楷体" panose="02010600040101010101" pitchFamily="2" charset="-122"/>
                  </a:rPr>
                  <a:t>，产生的</a:t>
                </a:r>
                <a:r>
                  <a:rPr lang="zh-CN" altLang="en-US" sz="2800" dirty="0">
                    <a:solidFill>
                      <a:srgbClr val="C00000"/>
                    </a:solidFill>
                    <a:latin typeface="华文楷体" panose="02010600040101010101" pitchFamily="2" charset="-122"/>
                    <a:ea typeface="华文楷体" panose="02010600040101010101" pitchFamily="2" charset="-122"/>
                  </a:rPr>
                  <a:t>力偶矩</a:t>
                </a:r>
                <a:r>
                  <a:rPr lang="zh-CN" altLang="en-US" sz="2800" dirty="0">
                    <a:latin typeface="华文楷体" panose="02010600040101010101" pitchFamily="2" charset="-122"/>
                    <a:ea typeface="华文楷体" panose="02010600040101010101" pitchFamily="2" charset="-122"/>
                  </a:rPr>
                  <a:t>为</a:t>
                </a:r>
                <a:endParaRPr lang="en-US" altLang="zh-CN" sz="2800" dirty="0">
                  <a:latin typeface="华文楷体" panose="02010600040101010101" pitchFamily="2" charset="-122"/>
                  <a:ea typeface="华文楷体" panose="02010600040101010101" pitchFamily="2" charset="-122"/>
                </a:endParaRPr>
              </a:p>
              <a:p>
                <a:pPr eaLnBrk="1" hangingPunct="1">
                  <a:lnSpc>
                    <a:spcPct val="150000"/>
                  </a:lnSpc>
                  <a:spcBef>
                    <a:spcPct val="50000"/>
                  </a:spcBef>
                </a:pPr>
                <a14:m>
                  <m:oMathPara xmlns:m="http://schemas.openxmlformats.org/officeDocument/2006/math">
                    <m:oMathParaPr>
                      <m:jc m:val="centerGroup"/>
                    </m:oMathParaPr>
                    <m:oMath xmlns:m="http://schemas.openxmlformats.org/officeDocument/2006/math">
                      <m:acc>
                        <m:accPr>
                          <m:chr m:val="⃗"/>
                          <m:ctrlPr>
                            <a:rPr lang="zh-CN" altLang="en-US"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𝑴</m:t>
                          </m:r>
                        </m:e>
                      </m:acc>
                      <m:r>
                        <a:rPr lang="en-US" altLang="zh-CN" sz="2800" i="1">
                          <a:latin typeface="Cambria Math" panose="02040503050406030204" pitchFamily="18" charset="0"/>
                          <a:ea typeface="华文新魏" panose="02010800040101010101" pitchFamily="2" charset="-122"/>
                        </a:rPr>
                        <m:t>=</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𝒍</m:t>
                          </m:r>
                        </m:e>
                      </m:acc>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华文新魏" panose="02010800040101010101" pitchFamily="2" charset="-122"/>
                            </a:rPr>
                          </m:ctrlPr>
                        </m:sSubPr>
                        <m:e>
                          <m:acc>
                            <m:accPr>
                              <m:chr m:val="⃗"/>
                              <m:ctrlPr>
                                <a:rPr lang="en-US"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Cambria Math" panose="02040503050406030204" pitchFamily="18" charset="0"/>
                                </a:rPr>
                                <m:t>𝑭</m:t>
                              </m:r>
                            </m:e>
                          </m:acc>
                        </m:e>
                        <m:sub>
                          <m:r>
                            <a:rPr lang="en-US" altLang="zh-CN" sz="2800" i="1">
                              <a:latin typeface="Cambria Math" panose="02040503050406030204" pitchFamily="18" charset="0"/>
                              <a:ea typeface="华文新魏" panose="02010800040101010101" pitchFamily="2" charset="-122"/>
                            </a:rPr>
                            <m:t>𝟏</m:t>
                          </m:r>
                        </m:sub>
                      </m:sSub>
                      <m:r>
                        <a:rPr lang="en-US" altLang="zh-CN" sz="2800" i="1">
                          <a:latin typeface="Cambria Math" panose="02040503050406030204" pitchFamily="18" charset="0"/>
                          <a:ea typeface="华文新魏" panose="02010800040101010101" pitchFamily="2" charset="-122"/>
                        </a:rPr>
                        <m:t>=</m:t>
                      </m:r>
                      <m:r>
                        <a:rPr lang="en-US" altLang="zh-CN" sz="2800" i="1">
                          <a:latin typeface="Cambria Math" panose="02040503050406030204" pitchFamily="18" charset="0"/>
                          <a:ea typeface="华文新魏" panose="02010800040101010101" pitchFamily="2" charset="-122"/>
                        </a:rPr>
                        <m:t>𝒒</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𝒍</m:t>
                          </m:r>
                        </m:e>
                      </m:acc>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Cambria Math" panose="02040503050406030204" pitchFamily="18" charset="0"/>
                            </a:rPr>
                            <m:t>𝑬</m:t>
                          </m:r>
                        </m:e>
                      </m:acc>
                      <m:r>
                        <a:rPr lang="en-US" altLang="zh-CN" sz="2800" i="1">
                          <a:latin typeface="Cambria Math" panose="02040503050406030204" pitchFamily="18" charset="0"/>
                          <a:ea typeface="华文新魏" panose="02010800040101010101" pitchFamily="2" charset="-122"/>
                        </a:rPr>
                        <m:t>=</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𝒑</m:t>
                          </m:r>
                        </m:e>
                      </m:acc>
                      <m:r>
                        <a:rPr lang="en-US" altLang="zh-CN" sz="2800" i="1">
                          <a:latin typeface="Cambria Math" panose="02040503050406030204" pitchFamily="18" charset="0"/>
                          <a:ea typeface="Cambria Math" panose="02040503050406030204" pitchFamily="18" charset="0"/>
                        </a:rPr>
                        <m:t>×</m:t>
                      </m:r>
                      <m:acc>
                        <m:accPr>
                          <m:chr m:val="⃗"/>
                          <m:ctrlPr>
                            <a:rPr lang="zh-CN" altLang="en-US"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𝑬</m:t>
                          </m:r>
                        </m:e>
                      </m:acc>
                    </m:oMath>
                  </m:oMathPara>
                </a14:m>
                <a:endParaRPr lang="zh-CN" altLang="en-US" sz="2800" dirty="0">
                  <a:solidFill>
                    <a:srgbClr val="C00000"/>
                  </a:solidFill>
                  <a:latin typeface="华文楷体" panose="02010600040101010101" pitchFamily="2" charset="-122"/>
                  <a:ea typeface="华文楷体" panose="02010600040101010101" pitchFamily="2" charset="-122"/>
                </a:endParaRPr>
              </a:p>
            </p:txBody>
          </p:sp>
        </mc:Choice>
        <mc:Fallback xmlns="">
          <p:sp>
            <p:nvSpPr>
              <p:cNvPr id="37" name="Text Box 36">
                <a:extLst>
                  <a:ext uri="{FF2B5EF4-FFF2-40B4-BE49-F238E27FC236}">
                    <a16:creationId xmlns:a16="http://schemas.microsoft.com/office/drawing/2014/main" id="{E72021E4-B563-4AE1-926E-9D43F85C1592}"/>
                  </a:ext>
                </a:extLst>
              </p:cNvPr>
              <p:cNvSpPr txBox="1">
                <a:spLocks noRot="1" noChangeAspect="1" noMove="1" noResize="1" noEditPoints="1" noAdjustHandles="1" noChangeArrowheads="1" noChangeShapeType="1" noTextEdit="1"/>
              </p:cNvSpPr>
              <p:nvPr/>
            </p:nvSpPr>
            <p:spPr bwMode="auto">
              <a:xfrm>
                <a:off x="4391767" y="4985498"/>
                <a:ext cx="8004966" cy="1481111"/>
              </a:xfrm>
              <a:prstGeom prst="rect">
                <a:avLst/>
              </a:prstGeom>
              <a:blipFill>
                <a:blip r:embed="rId14"/>
                <a:stretch>
                  <a:fillRect l="-152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4697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9" presetClass="entr" presetSubtype="1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0" fill="hold"/>
                                        <p:tgtEl>
                                          <p:spTgt spid="10"/>
                                        </p:tgtEl>
                                        <p:attrNameLst>
                                          <p:attrName>ppt_w</p:attrName>
                                        </p:attrNameLst>
                                      </p:cBhvr>
                                      <p:tavLst>
                                        <p:tav tm="0" fmla="#ppt_w*sin(2.5*pi*$)">
                                          <p:val>
                                            <p:fltVal val="0"/>
                                          </p:val>
                                        </p:tav>
                                        <p:tav tm="100000">
                                          <p:val>
                                            <p:fltVal val="1"/>
                                          </p:val>
                                        </p:tav>
                                      </p:tavLst>
                                    </p:anim>
                                    <p:anim calcmode="lin" valueType="num">
                                      <p:cBhvr>
                                        <p:cTn id="16" dur="5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7"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9687</TotalTime>
  <Words>2719</Words>
  <Application>Microsoft Office PowerPoint</Application>
  <PresentationFormat>宽屏</PresentationFormat>
  <Paragraphs>425</Paragraphs>
  <Slides>47</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47</vt:i4>
      </vt:variant>
    </vt:vector>
  </HeadingPairs>
  <TitlesOfParts>
    <vt:vector size="68" baseType="lpstr">
      <vt:lpstr>Helvetica Neue</vt:lpstr>
      <vt:lpstr>Monotype Sorts</vt:lpstr>
      <vt:lpstr>等线</vt:lpstr>
      <vt:lpstr>黑体</vt:lpstr>
      <vt:lpstr>华文楷体</vt:lpstr>
      <vt:lpstr>华文新魏</vt:lpstr>
      <vt:lpstr>楷体</vt:lpstr>
      <vt:lpstr>楷体_GB2312</vt:lpstr>
      <vt:lpstr>宋体</vt:lpstr>
      <vt:lpstr>微软雅黑</vt:lpstr>
      <vt:lpstr>Arial</vt:lpstr>
      <vt:lpstr>Bookman Old Style</vt:lpstr>
      <vt:lpstr>Calibri</vt:lpstr>
      <vt:lpstr>Cambria Math</vt:lpstr>
      <vt:lpstr>Symbol</vt:lpstr>
      <vt:lpstr>Times New Roman</vt:lpstr>
      <vt:lpstr>Wingdings</vt:lpstr>
      <vt:lpstr>Office 主题​​</vt:lpstr>
      <vt:lpstr>Equation.3</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[例12.5]求一均匀带电圆环轴线上任一点x处的电场.</vt:lpstr>
      <vt:lpstr>PowerPoint 演示文稿</vt:lpstr>
      <vt:lpstr>PowerPoint 演示文稿</vt:lpstr>
      <vt:lpstr>无限大均匀带电平面：</vt:lpstr>
      <vt:lpstr>[例12.7]试求电偶极子在均匀外电场中所受的力矩。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196</cp:revision>
  <dcterms:created xsi:type="dcterms:W3CDTF">2023-02-17T03:39:54Z</dcterms:created>
  <dcterms:modified xsi:type="dcterms:W3CDTF">2024-03-12T01:33:34Z</dcterms:modified>
</cp:coreProperties>
</file>