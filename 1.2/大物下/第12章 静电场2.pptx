
<file path=[Content_Types].xml><?xml version="1.0" encoding="utf-8"?>
<Types xmlns="http://schemas.openxmlformats.org/package/2006/content-types">
  <Default Extension="png" ContentType="image/png"/>
  <Default Extension="tmp"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35.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330.xml" ContentType="application/vnd.openxmlformats-officedocument.presentationml.tags+xml"/>
  <Override PartName="/ppt/tags/tag340.xml" ContentType="application/vnd.openxmlformats-officedocument.presentationml.tags+xml"/>
  <Override PartName="/ppt/tags/tag36.xml" ContentType="application/vnd.openxmlformats-officedocument.presentationml.tags+xml"/>
  <Override PartName="/ppt/tags/tag390.xml" ContentType="application/vnd.openxmlformats-officedocument.presentationml.tags+xml"/>
  <Override PartName="/ppt/tags/tag400.xml" ContentType="application/vnd.openxmlformats-officedocument.presentationml.tags+xml"/>
  <Override PartName="/ppt/tags/tag410.xml" ContentType="application/vnd.openxmlformats-officedocument.presentationml.tags+xml"/>
  <Override PartName="/ppt/tags/tag540.xml" ContentType="application/vnd.openxmlformats-officedocument.presentationml.tags+xml"/>
  <Override PartName="/ppt/tags/tag550.xml" ContentType="application/vnd.openxmlformats-officedocument.presentationml.tags+xml"/>
  <Override PartName="/ppt/tags/tag560.xml" ContentType="application/vnd.openxmlformats-officedocument.presentationml.tags+xml"/>
  <Override PartName="/ppt/tags/tag570.xml" ContentType="application/vnd.openxmlformats-officedocument.presentationml.tags+xml"/>
  <Override PartName="/ppt/tags/tag580.xml" ContentType="application/vnd.openxmlformats-officedocument.presentationml.tags+xml"/>
  <Override PartName="/ppt/tags/tag720.xml" ContentType="application/vnd.openxmlformats-officedocument.presentationml.tags+xml"/>
  <Override PartName="/ppt/tags/tag790.xml" ContentType="application/vnd.openxmlformats-officedocument.presentationml.tags+xml"/>
  <Override PartName="/ppt/tags/tag800.xml" ContentType="application/vnd.openxmlformats-officedocument.presentationml.tags+xml"/>
  <Override PartName="/ppt/tags/tag810.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7"/>
  </p:notesMasterIdLst>
  <p:sldIdLst>
    <p:sldId id="874" r:id="rId2"/>
    <p:sldId id="1124" r:id="rId3"/>
    <p:sldId id="1192" r:id="rId4"/>
    <p:sldId id="1193" r:id="rId5"/>
    <p:sldId id="468" r:id="rId6"/>
    <p:sldId id="808" r:id="rId7"/>
    <p:sldId id="554" r:id="rId8"/>
    <p:sldId id="472" r:id="rId9"/>
    <p:sldId id="1115" r:id="rId10"/>
    <p:sldId id="811" r:id="rId11"/>
    <p:sldId id="1125" r:id="rId12"/>
    <p:sldId id="868" r:id="rId13"/>
    <p:sldId id="872" r:id="rId14"/>
    <p:sldId id="477" r:id="rId15"/>
    <p:sldId id="478" r:id="rId16"/>
    <p:sldId id="479" r:id="rId17"/>
    <p:sldId id="507" r:id="rId18"/>
    <p:sldId id="877" r:id="rId19"/>
    <p:sldId id="871" r:id="rId20"/>
    <p:sldId id="813" r:id="rId21"/>
    <p:sldId id="705" r:id="rId22"/>
    <p:sldId id="1126" r:id="rId23"/>
    <p:sldId id="517" r:id="rId24"/>
    <p:sldId id="817" r:id="rId25"/>
    <p:sldId id="819" r:id="rId26"/>
    <p:sldId id="1127" r:id="rId27"/>
    <p:sldId id="1132" r:id="rId28"/>
    <p:sldId id="706" r:id="rId29"/>
    <p:sldId id="1131" r:id="rId30"/>
    <p:sldId id="708" r:id="rId31"/>
    <p:sldId id="488" r:id="rId32"/>
    <p:sldId id="1133" r:id="rId33"/>
    <p:sldId id="1134" r:id="rId34"/>
    <p:sldId id="1139" r:id="rId35"/>
    <p:sldId id="545" r:id="rId36"/>
    <p:sldId id="800" r:id="rId37"/>
    <p:sldId id="1138" r:id="rId38"/>
    <p:sldId id="1144" r:id="rId39"/>
    <p:sldId id="1140" r:id="rId40"/>
    <p:sldId id="1136" r:id="rId41"/>
    <p:sldId id="1141" r:id="rId42"/>
    <p:sldId id="1145" r:id="rId43"/>
    <p:sldId id="1146" r:id="rId44"/>
    <p:sldId id="1147" r:id="rId45"/>
    <p:sldId id="1143" r:id="rId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38" autoAdjust="0"/>
    <p:restoredTop sz="94662" autoAdjust="0"/>
  </p:normalViewPr>
  <p:slideViewPr>
    <p:cSldViewPr snapToGrid="0">
      <p:cViewPr varScale="1">
        <p:scale>
          <a:sx n="158" d="100"/>
          <a:sy n="158" d="100"/>
        </p:scale>
        <p:origin x="96" y="2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B5733EA-8E6D-4666-B9D4-9ACE27AD59EA}" type="datetimeFigureOut">
              <a:rPr lang="en-US" smtClean="0"/>
              <a:t>3/14/2024</a:t>
            </a:fld>
            <a:endParaRPr 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61FE689-547E-4EC7-A7DE-41A4901E6B75}" type="slidenum">
              <a:rPr lang="en-US" smtClean="0"/>
              <a:t>‹#›</a:t>
            </a:fld>
            <a:endParaRPr lang="en-US"/>
          </a:p>
        </p:txBody>
      </p:sp>
    </p:spTree>
    <p:extLst>
      <p:ext uri="{BB962C8B-B14F-4D97-AF65-F5344CB8AC3E}">
        <p14:creationId xmlns:p14="http://schemas.microsoft.com/office/powerpoint/2010/main" val="40723261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3C506484-4EB8-4C0E-8D2B-69B4D1268550}" type="slidenum">
              <a:rPr lang="en-US" altLang="zh-CN" smtClean="0"/>
              <a:pPr>
                <a:spcBef>
                  <a:spcPct val="0"/>
                </a:spcBef>
              </a:pPr>
              <a:t>8</a:t>
            </a:fld>
            <a:endParaRPr lang="en-US" altLang="zh-CN"/>
          </a:p>
        </p:txBody>
      </p:sp>
      <p:sp>
        <p:nvSpPr>
          <p:cNvPr id="62467" name="Rectangle 2"/>
          <p:cNvSpPr>
            <a:spLocks noGrp="1" noRot="1" noChangeAspect="1" noChangeArrowheads="1" noTextEdit="1"/>
          </p:cNvSpPr>
          <p:nvPr>
            <p:ph type="sldImg"/>
          </p:nvPr>
        </p:nvSpPr>
        <p:spPr bwMode="auto">
          <a:xfrm>
            <a:off x="26988" y="744538"/>
            <a:ext cx="6615112" cy="37226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2468"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976427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7"/>
          <p:cNvSpPr>
            <a:spLocks noGrp="1" noChangeArrowheads="1"/>
          </p:cNvSpPr>
          <p:nvPr>
            <p:ph type="sldNum" sz="quarter" idx="5"/>
          </p:nvPr>
        </p:nvSpPr>
        <p:spPr>
          <a:noFill/>
        </p:spPr>
        <p:txBody>
          <a:bodyPr/>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spcBef>
                <a:spcPct val="0"/>
              </a:spcBef>
            </a:pPr>
            <a:fld id="{802EB796-427A-4A62-B09D-6A58B12211F3}" type="slidenum">
              <a:rPr lang="en-US" altLang="zh-CN" smtClean="0"/>
              <a:pPr>
                <a:spcBef>
                  <a:spcPct val="0"/>
                </a:spcBef>
              </a:pPr>
              <a:t>9</a:t>
            </a:fld>
            <a:endParaRPr lang="en-US" altLang="zh-CN"/>
          </a:p>
        </p:txBody>
      </p:sp>
      <p:sp>
        <p:nvSpPr>
          <p:cNvPr id="64515" name="Rectangle 2"/>
          <p:cNvSpPr>
            <a:spLocks noGrp="1" noRot="1" noChangeAspect="1" noChangeArrowheads="1" noTextEdit="1"/>
          </p:cNvSpPr>
          <p:nvPr>
            <p:ph type="sldImg"/>
          </p:nvPr>
        </p:nvSpPr>
        <p:spPr bwMode="auto">
          <a:xfrm>
            <a:off x="26988" y="744538"/>
            <a:ext cx="6615112" cy="37226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64516" name="Rectangle 3"/>
          <p:cNvSpPr>
            <a:spLocks noGrp="1" noChangeArrowheads="1"/>
          </p:cNvSpPr>
          <p:nvPr>
            <p:ph type="body" idx="1"/>
          </p:nvPr>
        </p:nvSpPr>
        <p:spPr>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1" hangingPunct="1"/>
            <a:endParaRPr lang="zh-CN" altLang="zh-CN"/>
          </a:p>
        </p:txBody>
      </p:sp>
    </p:spTree>
    <p:extLst>
      <p:ext uri="{BB962C8B-B14F-4D97-AF65-F5344CB8AC3E}">
        <p14:creationId xmlns:p14="http://schemas.microsoft.com/office/powerpoint/2010/main" val="16304569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p:cNvSpPr txBox="1">
            <a:spLocks noGrp="1" noChangeArrowheads="1"/>
          </p:cNvSpPr>
          <p:nvPr/>
        </p:nvSpPr>
        <p:spPr bwMode="auto">
          <a:xfrm>
            <a:off x="3778250" y="9431338"/>
            <a:ext cx="288925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8131EE93-AC77-4EDB-AC9B-30D81E08D759}" type="slidenum">
              <a:rPr lang="en-US" altLang="zh-CN" b="0"/>
              <a:pPr algn="r" eaLnBrk="1" hangingPunct="1">
                <a:spcBef>
                  <a:spcPct val="0"/>
                </a:spcBef>
              </a:pPr>
              <a:t>20</a:t>
            </a:fld>
            <a:endParaRPr lang="en-US" altLang="zh-CN" b="0"/>
          </a:p>
        </p:txBody>
      </p:sp>
      <p:sp>
        <p:nvSpPr>
          <p:cNvPr id="77827" name="Rectangle 2"/>
          <p:cNvSpPr>
            <a:spLocks noGrp="1" noRot="1" noChangeAspect="1" noChangeArrowheads="1" noTextEdit="1"/>
          </p:cNvSpPr>
          <p:nvPr>
            <p:ph type="sldImg"/>
          </p:nvPr>
        </p:nvSpPr>
        <p:spPr bwMode="auto">
          <a:xfrm>
            <a:off x="36513" y="750888"/>
            <a:ext cx="6594475" cy="37099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77828" name="Rectangle 3"/>
          <p:cNvSpPr>
            <a:spLocks noGrp="1" noChangeArrowheads="1"/>
          </p:cNvSpPr>
          <p:nvPr>
            <p:ph type="body" idx="1"/>
          </p:nvPr>
        </p:nvSpPr>
        <p:spPr>
          <a:noFill/>
        </p:spPr>
        <p:txBody>
          <a:bodyPr/>
          <a:lstStyle/>
          <a:p>
            <a:pPr eaLnBrk="1" hangingPunct="1"/>
            <a:endParaRPr lang="zh-CN" altLang="zh-CN" dirty="0"/>
          </a:p>
        </p:txBody>
      </p:sp>
      <p:sp>
        <p:nvSpPr>
          <p:cNvPr id="77829" name="灯片编号占位符 1"/>
          <p:cNvSpPr>
            <a:spLocks noGrp="1"/>
          </p:cNvSpPr>
          <p:nvPr>
            <p:ph type="sldNum" sz="quarter" idx="5"/>
          </p:nvPr>
        </p:nvSpPr>
        <p:spPr>
          <a:noFill/>
        </p:spPr>
        <p:txBody>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fld id="{1A0453DD-5EF3-40F4-B748-331270FCB895}" type="slidenum">
              <a:rPr lang="en-US" altLang="zh-CN" smtClean="0">
                <a:solidFill>
                  <a:srgbClr val="7030A0"/>
                </a:solidFill>
              </a:rPr>
              <a:pPr/>
              <a:t>20</a:t>
            </a:fld>
            <a:endParaRPr lang="en-US" altLang="zh-CN">
              <a:solidFill>
                <a:srgbClr val="7030A0"/>
              </a:solidFill>
            </a:endParaRPr>
          </a:p>
        </p:txBody>
      </p:sp>
    </p:spTree>
    <p:extLst>
      <p:ext uri="{BB962C8B-B14F-4D97-AF65-F5344CB8AC3E}">
        <p14:creationId xmlns:p14="http://schemas.microsoft.com/office/powerpoint/2010/main" val="13786028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778250" y="9431338"/>
            <a:ext cx="288925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4BDCC0D6-DFEB-42A2-8F61-CC6640EB5E4C}" type="slidenum">
              <a:rPr lang="en-US" altLang="zh-CN" b="0"/>
              <a:pPr algn="r" eaLnBrk="1" hangingPunct="1">
                <a:spcBef>
                  <a:spcPct val="0"/>
                </a:spcBef>
              </a:pPr>
              <a:t>22</a:t>
            </a:fld>
            <a:endParaRPr lang="en-US" altLang="zh-CN" b="0"/>
          </a:p>
        </p:txBody>
      </p:sp>
      <p:sp>
        <p:nvSpPr>
          <p:cNvPr id="80899" name="Rectangle 2"/>
          <p:cNvSpPr>
            <a:spLocks noGrp="1" noRot="1" noChangeAspect="1" noChangeArrowheads="1" noTextEdit="1"/>
          </p:cNvSpPr>
          <p:nvPr>
            <p:ph type="sldImg"/>
          </p:nvPr>
        </p:nvSpPr>
        <p:spPr bwMode="auto">
          <a:xfrm>
            <a:off x="36513" y="750888"/>
            <a:ext cx="6594475" cy="37099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80900" name="Rectangle 3"/>
          <p:cNvSpPr>
            <a:spLocks noGrp="1" noChangeArrowheads="1"/>
          </p:cNvSpPr>
          <p:nvPr>
            <p:ph type="body" idx="1"/>
          </p:nvPr>
        </p:nvSpPr>
        <p:spPr>
          <a:noFill/>
        </p:spPr>
        <p:txBody>
          <a:bodyPr/>
          <a:lstStyle/>
          <a:p>
            <a:pPr eaLnBrk="1" hangingPunct="1"/>
            <a:r>
              <a:rPr lang="zh-CN" altLang="en-US" sz="2800" b="1">
                <a:latin typeface="宋体" panose="02010600030101010101" pitchFamily="2" charset="-122"/>
              </a:rPr>
              <a:t>其中</a:t>
            </a:r>
            <a:r>
              <a:rPr lang="en-US" altLang="zh-CN" sz="2800" b="1">
                <a:latin typeface="宋体" panose="02010600030101010101" pitchFamily="2" charset="-122"/>
              </a:rPr>
              <a:t>V</a:t>
            </a:r>
            <a:r>
              <a:rPr lang="zh-CN" altLang="en-US" sz="2800" b="1">
                <a:latin typeface="宋体" panose="02010600030101010101" pitchFamily="2" charset="-122"/>
              </a:rPr>
              <a:t>是闭合曲面</a:t>
            </a:r>
            <a:r>
              <a:rPr lang="en-US" altLang="zh-CN" sz="2800" b="1">
                <a:latin typeface="宋体" panose="02010600030101010101" pitchFamily="2" charset="-122"/>
              </a:rPr>
              <a:t>S</a:t>
            </a:r>
            <a:r>
              <a:rPr lang="zh-CN" altLang="en-US" sz="2800" b="1">
                <a:latin typeface="宋体" panose="02010600030101010101" pitchFamily="2" charset="-122"/>
              </a:rPr>
              <a:t>所包围的体积。</a:t>
            </a:r>
            <a:r>
              <a:rPr lang="en-US" altLang="zh-CN" sz="2800" b="1">
                <a:latin typeface="宋体" panose="02010600030101010101" pitchFamily="2" charset="-122"/>
              </a:rPr>
              <a:t>S</a:t>
            </a:r>
            <a:r>
              <a:rPr lang="zh-CN" altLang="en-US" sz="2800" b="1">
                <a:latin typeface="宋体" panose="02010600030101010101" pitchFamily="2" charset="-122"/>
              </a:rPr>
              <a:t>称为高斯面。</a:t>
            </a:r>
          </a:p>
        </p:txBody>
      </p:sp>
      <p:sp>
        <p:nvSpPr>
          <p:cNvPr id="80901" name="灯片编号占位符 1"/>
          <p:cNvSpPr>
            <a:spLocks noGrp="1"/>
          </p:cNvSpPr>
          <p:nvPr>
            <p:ph type="sldNum" sz="quarter" idx="5"/>
          </p:nvPr>
        </p:nvSpPr>
        <p:spPr>
          <a:noFill/>
        </p:spPr>
        <p:txBody>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fld id="{18790353-526C-46AE-ACF6-15D1A809E42F}" type="slidenum">
              <a:rPr lang="en-US" altLang="zh-CN" smtClean="0">
                <a:solidFill>
                  <a:srgbClr val="7030A0"/>
                </a:solidFill>
              </a:rPr>
              <a:pPr/>
              <a:t>22</a:t>
            </a:fld>
            <a:endParaRPr lang="en-US" altLang="zh-CN">
              <a:solidFill>
                <a:srgbClr val="7030A0"/>
              </a:solidFill>
            </a:endParaRPr>
          </a:p>
        </p:txBody>
      </p:sp>
    </p:spTree>
    <p:extLst>
      <p:ext uri="{BB962C8B-B14F-4D97-AF65-F5344CB8AC3E}">
        <p14:creationId xmlns:p14="http://schemas.microsoft.com/office/powerpoint/2010/main" val="250158009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778250" y="9431338"/>
            <a:ext cx="288925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4BDCC0D6-DFEB-42A2-8F61-CC6640EB5E4C}" type="slidenum">
              <a:rPr lang="en-US" altLang="zh-CN" b="0"/>
              <a:pPr algn="r" eaLnBrk="1" hangingPunct="1">
                <a:spcBef>
                  <a:spcPct val="0"/>
                </a:spcBef>
              </a:pPr>
              <a:t>26</a:t>
            </a:fld>
            <a:endParaRPr lang="en-US" altLang="zh-CN" b="0"/>
          </a:p>
        </p:txBody>
      </p:sp>
      <p:sp>
        <p:nvSpPr>
          <p:cNvPr id="80899" name="Rectangle 2"/>
          <p:cNvSpPr>
            <a:spLocks noGrp="1" noRot="1" noChangeAspect="1" noChangeArrowheads="1" noTextEdit="1"/>
          </p:cNvSpPr>
          <p:nvPr>
            <p:ph type="sldImg"/>
          </p:nvPr>
        </p:nvSpPr>
        <p:spPr bwMode="auto">
          <a:xfrm>
            <a:off x="36513" y="750888"/>
            <a:ext cx="6594475" cy="37099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80900" name="Rectangle 3"/>
          <p:cNvSpPr>
            <a:spLocks noGrp="1" noChangeArrowheads="1"/>
          </p:cNvSpPr>
          <p:nvPr>
            <p:ph type="body" idx="1"/>
          </p:nvPr>
        </p:nvSpPr>
        <p:spPr>
          <a:noFill/>
        </p:spPr>
        <p:txBody>
          <a:bodyPr/>
          <a:lstStyle/>
          <a:p>
            <a:pPr eaLnBrk="1" hangingPunct="1"/>
            <a:r>
              <a:rPr lang="zh-CN" altLang="en-US" sz="2800" b="1">
                <a:latin typeface="宋体" panose="02010600030101010101" pitchFamily="2" charset="-122"/>
              </a:rPr>
              <a:t>其中</a:t>
            </a:r>
            <a:r>
              <a:rPr lang="en-US" altLang="zh-CN" sz="2800" b="1">
                <a:latin typeface="宋体" panose="02010600030101010101" pitchFamily="2" charset="-122"/>
              </a:rPr>
              <a:t>V</a:t>
            </a:r>
            <a:r>
              <a:rPr lang="zh-CN" altLang="en-US" sz="2800" b="1">
                <a:latin typeface="宋体" panose="02010600030101010101" pitchFamily="2" charset="-122"/>
              </a:rPr>
              <a:t>是闭合曲面</a:t>
            </a:r>
            <a:r>
              <a:rPr lang="en-US" altLang="zh-CN" sz="2800" b="1">
                <a:latin typeface="宋体" panose="02010600030101010101" pitchFamily="2" charset="-122"/>
              </a:rPr>
              <a:t>S</a:t>
            </a:r>
            <a:r>
              <a:rPr lang="zh-CN" altLang="en-US" sz="2800" b="1">
                <a:latin typeface="宋体" panose="02010600030101010101" pitchFamily="2" charset="-122"/>
              </a:rPr>
              <a:t>所包围的体积。</a:t>
            </a:r>
            <a:r>
              <a:rPr lang="en-US" altLang="zh-CN" sz="2800" b="1">
                <a:latin typeface="宋体" panose="02010600030101010101" pitchFamily="2" charset="-122"/>
              </a:rPr>
              <a:t>S</a:t>
            </a:r>
            <a:r>
              <a:rPr lang="zh-CN" altLang="en-US" sz="2800" b="1">
                <a:latin typeface="宋体" panose="02010600030101010101" pitchFamily="2" charset="-122"/>
              </a:rPr>
              <a:t>称为高斯面。</a:t>
            </a:r>
          </a:p>
        </p:txBody>
      </p:sp>
      <p:sp>
        <p:nvSpPr>
          <p:cNvPr id="80901" name="灯片编号占位符 1"/>
          <p:cNvSpPr>
            <a:spLocks noGrp="1"/>
          </p:cNvSpPr>
          <p:nvPr>
            <p:ph type="sldNum" sz="quarter" idx="5"/>
          </p:nvPr>
        </p:nvSpPr>
        <p:spPr>
          <a:noFill/>
        </p:spPr>
        <p:txBody>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fld id="{18790353-526C-46AE-ACF6-15D1A809E42F}" type="slidenum">
              <a:rPr lang="en-US" altLang="zh-CN" smtClean="0">
                <a:solidFill>
                  <a:srgbClr val="7030A0"/>
                </a:solidFill>
              </a:rPr>
              <a:pPr/>
              <a:t>26</a:t>
            </a:fld>
            <a:endParaRPr lang="en-US" altLang="zh-CN">
              <a:solidFill>
                <a:srgbClr val="7030A0"/>
              </a:solidFill>
            </a:endParaRPr>
          </a:p>
        </p:txBody>
      </p:sp>
    </p:spTree>
    <p:extLst>
      <p:ext uri="{BB962C8B-B14F-4D97-AF65-F5344CB8AC3E}">
        <p14:creationId xmlns:p14="http://schemas.microsoft.com/office/powerpoint/2010/main" val="33259801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778250" y="9431338"/>
            <a:ext cx="288925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4BDCC0D6-DFEB-42A2-8F61-CC6640EB5E4C}" type="slidenum">
              <a:rPr lang="en-US" altLang="zh-CN" b="0"/>
              <a:pPr algn="r" eaLnBrk="1" hangingPunct="1">
                <a:spcBef>
                  <a:spcPct val="0"/>
                </a:spcBef>
              </a:pPr>
              <a:t>27</a:t>
            </a:fld>
            <a:endParaRPr lang="en-US" altLang="zh-CN" b="0"/>
          </a:p>
        </p:txBody>
      </p:sp>
      <p:sp>
        <p:nvSpPr>
          <p:cNvPr id="80899" name="Rectangle 2"/>
          <p:cNvSpPr>
            <a:spLocks noGrp="1" noRot="1" noChangeAspect="1" noChangeArrowheads="1" noTextEdit="1"/>
          </p:cNvSpPr>
          <p:nvPr>
            <p:ph type="sldImg"/>
          </p:nvPr>
        </p:nvSpPr>
        <p:spPr bwMode="auto">
          <a:xfrm>
            <a:off x="36513" y="750888"/>
            <a:ext cx="6594475" cy="37099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80900" name="Rectangle 3"/>
          <p:cNvSpPr>
            <a:spLocks noGrp="1" noChangeArrowheads="1"/>
          </p:cNvSpPr>
          <p:nvPr>
            <p:ph type="body" idx="1"/>
          </p:nvPr>
        </p:nvSpPr>
        <p:spPr>
          <a:noFill/>
        </p:spPr>
        <p:txBody>
          <a:bodyPr/>
          <a:lstStyle/>
          <a:p>
            <a:pPr eaLnBrk="1" hangingPunct="1"/>
            <a:r>
              <a:rPr lang="zh-CN" altLang="en-US" sz="2800" b="1">
                <a:latin typeface="宋体" panose="02010600030101010101" pitchFamily="2" charset="-122"/>
              </a:rPr>
              <a:t>其中</a:t>
            </a:r>
            <a:r>
              <a:rPr lang="en-US" altLang="zh-CN" sz="2800" b="1">
                <a:latin typeface="宋体" panose="02010600030101010101" pitchFamily="2" charset="-122"/>
              </a:rPr>
              <a:t>V</a:t>
            </a:r>
            <a:r>
              <a:rPr lang="zh-CN" altLang="en-US" sz="2800" b="1">
                <a:latin typeface="宋体" panose="02010600030101010101" pitchFamily="2" charset="-122"/>
              </a:rPr>
              <a:t>是闭合曲面</a:t>
            </a:r>
            <a:r>
              <a:rPr lang="en-US" altLang="zh-CN" sz="2800" b="1">
                <a:latin typeface="宋体" panose="02010600030101010101" pitchFamily="2" charset="-122"/>
              </a:rPr>
              <a:t>S</a:t>
            </a:r>
            <a:r>
              <a:rPr lang="zh-CN" altLang="en-US" sz="2800" b="1">
                <a:latin typeface="宋体" panose="02010600030101010101" pitchFamily="2" charset="-122"/>
              </a:rPr>
              <a:t>所包围的体积。</a:t>
            </a:r>
            <a:r>
              <a:rPr lang="en-US" altLang="zh-CN" sz="2800" b="1">
                <a:latin typeface="宋体" panose="02010600030101010101" pitchFamily="2" charset="-122"/>
              </a:rPr>
              <a:t>S</a:t>
            </a:r>
            <a:r>
              <a:rPr lang="zh-CN" altLang="en-US" sz="2800" b="1">
                <a:latin typeface="宋体" panose="02010600030101010101" pitchFamily="2" charset="-122"/>
              </a:rPr>
              <a:t>称为高斯面。</a:t>
            </a:r>
          </a:p>
        </p:txBody>
      </p:sp>
      <p:sp>
        <p:nvSpPr>
          <p:cNvPr id="80901" name="灯片编号占位符 1"/>
          <p:cNvSpPr>
            <a:spLocks noGrp="1"/>
          </p:cNvSpPr>
          <p:nvPr>
            <p:ph type="sldNum" sz="quarter" idx="5"/>
          </p:nvPr>
        </p:nvSpPr>
        <p:spPr>
          <a:noFill/>
        </p:spPr>
        <p:txBody>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fld id="{18790353-526C-46AE-ACF6-15D1A809E42F}" type="slidenum">
              <a:rPr lang="en-US" altLang="zh-CN" smtClean="0">
                <a:solidFill>
                  <a:srgbClr val="7030A0"/>
                </a:solidFill>
              </a:rPr>
              <a:pPr/>
              <a:t>27</a:t>
            </a:fld>
            <a:endParaRPr lang="en-US" altLang="zh-CN">
              <a:solidFill>
                <a:srgbClr val="7030A0"/>
              </a:solidFill>
            </a:endParaRPr>
          </a:p>
        </p:txBody>
      </p:sp>
    </p:spTree>
    <p:extLst>
      <p:ext uri="{BB962C8B-B14F-4D97-AF65-F5344CB8AC3E}">
        <p14:creationId xmlns:p14="http://schemas.microsoft.com/office/powerpoint/2010/main" val="7014947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7"/>
          <p:cNvSpPr txBox="1">
            <a:spLocks noGrp="1" noChangeArrowheads="1"/>
          </p:cNvSpPr>
          <p:nvPr/>
        </p:nvSpPr>
        <p:spPr bwMode="auto">
          <a:xfrm>
            <a:off x="3778250" y="9431338"/>
            <a:ext cx="2889250" cy="4968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b"/>
          <a:lstStyle>
            <a:lvl1pPr>
              <a:spcBef>
                <a:spcPct val="30000"/>
              </a:spcBef>
              <a:defRPr kumimoji="1" sz="1200">
                <a:solidFill>
                  <a:schemeClr val="tx1"/>
                </a:solidFill>
                <a:latin typeface="Times New Roman" panose="02020603050405020304" pitchFamily="18" charset="0"/>
                <a:ea typeface="宋体" panose="02010600030101010101" pitchFamily="2" charset="-122"/>
              </a:defRPr>
            </a:lvl1pPr>
            <a:lvl2pPr marL="742950" indent="-285750">
              <a:spcBef>
                <a:spcPct val="30000"/>
              </a:spcBef>
              <a:defRPr kumimoji="1" sz="1200">
                <a:solidFill>
                  <a:schemeClr val="tx1"/>
                </a:solidFill>
                <a:latin typeface="Times New Roman" panose="02020603050405020304" pitchFamily="18" charset="0"/>
                <a:ea typeface="宋体" panose="02010600030101010101" pitchFamily="2" charset="-122"/>
              </a:defRPr>
            </a:lvl2pPr>
            <a:lvl3pPr marL="1143000" indent="-228600">
              <a:spcBef>
                <a:spcPct val="30000"/>
              </a:spcBef>
              <a:defRPr kumimoji="1" sz="1200">
                <a:solidFill>
                  <a:schemeClr val="tx1"/>
                </a:solidFill>
                <a:latin typeface="Times New Roman" panose="02020603050405020304" pitchFamily="18" charset="0"/>
                <a:ea typeface="宋体" panose="02010600030101010101" pitchFamily="2" charset="-122"/>
              </a:defRPr>
            </a:lvl3pPr>
            <a:lvl4pPr marL="1600200" indent="-228600">
              <a:spcBef>
                <a:spcPct val="30000"/>
              </a:spcBef>
              <a:defRPr kumimoji="1" sz="1200">
                <a:solidFill>
                  <a:schemeClr val="tx1"/>
                </a:solidFill>
                <a:latin typeface="Times New Roman" panose="02020603050405020304" pitchFamily="18" charset="0"/>
                <a:ea typeface="宋体" panose="02010600030101010101" pitchFamily="2" charset="-122"/>
              </a:defRPr>
            </a:lvl4pPr>
            <a:lvl5pPr marL="2057400" indent="-228600">
              <a:spcBef>
                <a:spcPct val="30000"/>
              </a:spcBef>
              <a:defRPr kumimoji="1" sz="12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30000"/>
              </a:spcBef>
              <a:spcAft>
                <a:spcPct val="0"/>
              </a:spcAft>
              <a:defRPr kumimoji="1" sz="1200">
                <a:solidFill>
                  <a:schemeClr val="tx1"/>
                </a:solidFill>
                <a:latin typeface="Times New Roman" panose="02020603050405020304" pitchFamily="18" charset="0"/>
                <a:ea typeface="宋体" panose="02010600030101010101" pitchFamily="2" charset="-122"/>
              </a:defRPr>
            </a:lvl9pPr>
          </a:lstStyle>
          <a:p>
            <a:pPr algn="r" eaLnBrk="1" hangingPunct="1">
              <a:spcBef>
                <a:spcPct val="0"/>
              </a:spcBef>
            </a:pPr>
            <a:fld id="{4BDCC0D6-DFEB-42A2-8F61-CC6640EB5E4C}" type="slidenum">
              <a:rPr lang="en-US" altLang="zh-CN" b="0"/>
              <a:pPr algn="r" eaLnBrk="1" hangingPunct="1">
                <a:spcBef>
                  <a:spcPct val="0"/>
                </a:spcBef>
              </a:pPr>
              <a:t>28</a:t>
            </a:fld>
            <a:endParaRPr lang="en-US" altLang="zh-CN" b="0"/>
          </a:p>
        </p:txBody>
      </p:sp>
      <p:sp>
        <p:nvSpPr>
          <p:cNvPr id="80899" name="Rectangle 2"/>
          <p:cNvSpPr>
            <a:spLocks noGrp="1" noRot="1" noChangeAspect="1" noChangeArrowheads="1" noTextEdit="1"/>
          </p:cNvSpPr>
          <p:nvPr>
            <p:ph type="sldImg"/>
          </p:nvPr>
        </p:nvSpPr>
        <p:spPr bwMode="auto">
          <a:xfrm>
            <a:off x="36513" y="750888"/>
            <a:ext cx="6594475" cy="3709987"/>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80900" name="Rectangle 3"/>
          <p:cNvSpPr>
            <a:spLocks noGrp="1" noChangeArrowheads="1"/>
          </p:cNvSpPr>
          <p:nvPr>
            <p:ph type="body" idx="1"/>
          </p:nvPr>
        </p:nvSpPr>
        <p:spPr>
          <a:noFill/>
        </p:spPr>
        <p:txBody>
          <a:bodyPr/>
          <a:lstStyle/>
          <a:p>
            <a:pPr eaLnBrk="1" hangingPunct="1"/>
            <a:r>
              <a:rPr lang="zh-CN" altLang="en-US" sz="2800" b="1">
                <a:latin typeface="宋体" panose="02010600030101010101" pitchFamily="2" charset="-122"/>
              </a:rPr>
              <a:t>其中</a:t>
            </a:r>
            <a:r>
              <a:rPr lang="en-US" altLang="zh-CN" sz="2800" b="1">
                <a:latin typeface="宋体" panose="02010600030101010101" pitchFamily="2" charset="-122"/>
              </a:rPr>
              <a:t>V</a:t>
            </a:r>
            <a:r>
              <a:rPr lang="zh-CN" altLang="en-US" sz="2800" b="1">
                <a:latin typeface="宋体" panose="02010600030101010101" pitchFamily="2" charset="-122"/>
              </a:rPr>
              <a:t>是闭合曲面</a:t>
            </a:r>
            <a:r>
              <a:rPr lang="en-US" altLang="zh-CN" sz="2800" b="1">
                <a:latin typeface="宋体" panose="02010600030101010101" pitchFamily="2" charset="-122"/>
              </a:rPr>
              <a:t>S</a:t>
            </a:r>
            <a:r>
              <a:rPr lang="zh-CN" altLang="en-US" sz="2800" b="1">
                <a:latin typeface="宋体" panose="02010600030101010101" pitchFamily="2" charset="-122"/>
              </a:rPr>
              <a:t>所包围的体积。</a:t>
            </a:r>
            <a:r>
              <a:rPr lang="en-US" altLang="zh-CN" sz="2800" b="1">
                <a:latin typeface="宋体" panose="02010600030101010101" pitchFamily="2" charset="-122"/>
              </a:rPr>
              <a:t>S</a:t>
            </a:r>
            <a:r>
              <a:rPr lang="zh-CN" altLang="en-US" sz="2800" b="1">
                <a:latin typeface="宋体" panose="02010600030101010101" pitchFamily="2" charset="-122"/>
              </a:rPr>
              <a:t>称为高斯面。</a:t>
            </a:r>
          </a:p>
        </p:txBody>
      </p:sp>
      <p:sp>
        <p:nvSpPr>
          <p:cNvPr id="80901" name="灯片编号占位符 1"/>
          <p:cNvSpPr>
            <a:spLocks noGrp="1"/>
          </p:cNvSpPr>
          <p:nvPr>
            <p:ph type="sldNum" sz="quarter" idx="5"/>
          </p:nvPr>
        </p:nvSpPr>
        <p:spPr>
          <a:noFill/>
        </p:spPr>
        <p:txBody>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fld id="{18790353-526C-46AE-ACF6-15D1A809E42F}" type="slidenum">
              <a:rPr lang="en-US" altLang="zh-CN" smtClean="0">
                <a:solidFill>
                  <a:srgbClr val="7030A0"/>
                </a:solidFill>
              </a:rPr>
              <a:pPr/>
              <a:t>28</a:t>
            </a:fld>
            <a:endParaRPr lang="en-US" altLang="zh-CN">
              <a:solidFill>
                <a:srgbClr val="7030A0"/>
              </a:solidFill>
            </a:endParaRPr>
          </a:p>
        </p:txBody>
      </p:sp>
    </p:spTree>
    <p:extLst>
      <p:ext uri="{BB962C8B-B14F-4D97-AF65-F5344CB8AC3E}">
        <p14:creationId xmlns:p14="http://schemas.microsoft.com/office/powerpoint/2010/main" val="979706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F075D9-9C0A-4907-9E0A-2E1C5E387812}"/>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en-US"/>
          </a:p>
        </p:txBody>
      </p:sp>
      <p:sp>
        <p:nvSpPr>
          <p:cNvPr id="3" name="副标题 2">
            <a:extLst>
              <a:ext uri="{FF2B5EF4-FFF2-40B4-BE49-F238E27FC236}">
                <a16:creationId xmlns:a16="http://schemas.microsoft.com/office/drawing/2014/main" id="{B63CDB30-CF70-4C98-8777-71D0DE60173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sp>
        <p:nvSpPr>
          <p:cNvPr id="4" name="日期占位符 3">
            <a:extLst>
              <a:ext uri="{FF2B5EF4-FFF2-40B4-BE49-F238E27FC236}">
                <a16:creationId xmlns:a16="http://schemas.microsoft.com/office/drawing/2014/main" id="{C8455DCF-EA4C-4853-BD99-7C8B11522995}"/>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5" name="页脚占位符 4">
            <a:extLst>
              <a:ext uri="{FF2B5EF4-FFF2-40B4-BE49-F238E27FC236}">
                <a16:creationId xmlns:a16="http://schemas.microsoft.com/office/drawing/2014/main" id="{A057D055-1BEA-4835-BCF3-DA518BC71717}"/>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12424949-9B6D-4ABE-81D0-3E80161027A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10006834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D03ECBA-8D3D-44FD-8451-1C68376A6475}"/>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0D32FE7C-6E4F-4D24-8713-B2191E02029D}"/>
              </a:ext>
            </a:extLst>
          </p:cNvPr>
          <p:cNvSpPr>
            <a:spLocks noGrp="1"/>
          </p:cNvSpPr>
          <p:nvPr>
            <p:ph idx="1"/>
          </p:nvPr>
        </p:nvSpPr>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C24F968E-F782-49B7-8CFB-D5AD5205873F}"/>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5" name="页脚占位符 4">
            <a:extLst>
              <a:ext uri="{FF2B5EF4-FFF2-40B4-BE49-F238E27FC236}">
                <a16:creationId xmlns:a16="http://schemas.microsoft.com/office/drawing/2014/main" id="{16733CAE-7B6D-4B2F-A356-51AA8A9B789E}"/>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2DBC30F0-28D6-4C9B-AEE5-03D12DB8B436}"/>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842732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89E53B1-9079-49D9-9131-26E0E03C6F15}"/>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C8F01D29-1A52-4551-9AAD-87EDF9D76E3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编辑母版文本样式</a:t>
            </a:r>
          </a:p>
        </p:txBody>
      </p:sp>
      <p:sp>
        <p:nvSpPr>
          <p:cNvPr id="4" name="日期占位符 3">
            <a:extLst>
              <a:ext uri="{FF2B5EF4-FFF2-40B4-BE49-F238E27FC236}">
                <a16:creationId xmlns:a16="http://schemas.microsoft.com/office/drawing/2014/main" id="{51D2B19E-2D1A-4065-8E51-732596D10154}"/>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5" name="页脚占位符 4">
            <a:extLst>
              <a:ext uri="{FF2B5EF4-FFF2-40B4-BE49-F238E27FC236}">
                <a16:creationId xmlns:a16="http://schemas.microsoft.com/office/drawing/2014/main" id="{D370643E-4976-4353-A93C-94547389C024}"/>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EF3E8924-C3CD-4AD0-8D20-BDBCD27DF27D}"/>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2952881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94BD28B-F5E7-4DEF-A7ED-85E67C83F559}"/>
              </a:ext>
            </a:extLst>
          </p:cNvPr>
          <p:cNvSpPr>
            <a:spLocks noGrp="1"/>
          </p:cNvSpPr>
          <p:nvPr>
            <p:ph type="title"/>
          </p:nvPr>
        </p:nvSpPr>
        <p:spPr/>
        <p:txBody>
          <a:body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BDB5A803-634D-4E5A-8215-1F45D12CCD83}"/>
              </a:ext>
            </a:extLst>
          </p:cNvPr>
          <p:cNvSpPr>
            <a:spLocks noGrp="1"/>
          </p:cNvSpPr>
          <p:nvPr>
            <p:ph sz="half" idx="1"/>
          </p:nvPr>
        </p:nvSpPr>
        <p:spPr>
          <a:xfrm>
            <a:off x="838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内容占位符 3">
            <a:extLst>
              <a:ext uri="{FF2B5EF4-FFF2-40B4-BE49-F238E27FC236}">
                <a16:creationId xmlns:a16="http://schemas.microsoft.com/office/drawing/2014/main" id="{8245702B-45D0-4EB5-AAA5-C47494C79821}"/>
              </a:ext>
            </a:extLst>
          </p:cNvPr>
          <p:cNvSpPr>
            <a:spLocks noGrp="1"/>
          </p:cNvSpPr>
          <p:nvPr>
            <p:ph sz="half" idx="2"/>
          </p:nvPr>
        </p:nvSpPr>
        <p:spPr>
          <a:xfrm>
            <a:off x="6172200" y="1825625"/>
            <a:ext cx="5181600" cy="435133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日期占位符 4">
            <a:extLst>
              <a:ext uri="{FF2B5EF4-FFF2-40B4-BE49-F238E27FC236}">
                <a16:creationId xmlns:a16="http://schemas.microsoft.com/office/drawing/2014/main" id="{32713FAE-28EA-4DD1-B781-345A797EEA62}"/>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6" name="页脚占位符 5">
            <a:extLst>
              <a:ext uri="{FF2B5EF4-FFF2-40B4-BE49-F238E27FC236}">
                <a16:creationId xmlns:a16="http://schemas.microsoft.com/office/drawing/2014/main" id="{D6B78BAD-ABD9-461C-A7F6-83BEE5EA72C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1DAFC4C7-93A9-4642-A356-4D4E2BD383C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601579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A74F436-0EA1-486E-BFA5-AEFC10B549E5}"/>
              </a:ext>
            </a:extLst>
          </p:cNvPr>
          <p:cNvSpPr>
            <a:spLocks noGrp="1"/>
          </p:cNvSpPr>
          <p:nvPr>
            <p:ph type="title"/>
          </p:nvPr>
        </p:nvSpPr>
        <p:spPr>
          <a:xfrm>
            <a:off x="839788" y="365125"/>
            <a:ext cx="10515600" cy="1325563"/>
          </a:xfrm>
        </p:spPr>
        <p:txBody>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DACE3DD6-1221-4B2B-A081-C438B4EA13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4" name="内容占位符 3">
            <a:extLst>
              <a:ext uri="{FF2B5EF4-FFF2-40B4-BE49-F238E27FC236}">
                <a16:creationId xmlns:a16="http://schemas.microsoft.com/office/drawing/2014/main" id="{57A0C97E-5BD2-4E0E-B6D8-06BA9CC07EAC}"/>
              </a:ext>
            </a:extLst>
          </p:cNvPr>
          <p:cNvSpPr>
            <a:spLocks noGrp="1"/>
          </p:cNvSpPr>
          <p:nvPr>
            <p:ph sz="half" idx="2"/>
          </p:nvPr>
        </p:nvSpPr>
        <p:spPr>
          <a:xfrm>
            <a:off x="839788" y="2505075"/>
            <a:ext cx="5157787"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5" name="文本占位符 4">
            <a:extLst>
              <a:ext uri="{FF2B5EF4-FFF2-40B4-BE49-F238E27FC236}">
                <a16:creationId xmlns:a16="http://schemas.microsoft.com/office/drawing/2014/main" id="{F0A250BC-6CDA-4F55-9122-E95732154CE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编辑母版文本样式</a:t>
            </a:r>
          </a:p>
        </p:txBody>
      </p:sp>
      <p:sp>
        <p:nvSpPr>
          <p:cNvPr id="6" name="内容占位符 5">
            <a:extLst>
              <a:ext uri="{FF2B5EF4-FFF2-40B4-BE49-F238E27FC236}">
                <a16:creationId xmlns:a16="http://schemas.microsoft.com/office/drawing/2014/main" id="{E49A7F6C-B16D-4596-8C2E-4B3AAA59920B}"/>
              </a:ext>
            </a:extLst>
          </p:cNvPr>
          <p:cNvSpPr>
            <a:spLocks noGrp="1"/>
          </p:cNvSpPr>
          <p:nvPr>
            <p:ph sz="quarter" idx="4"/>
          </p:nvPr>
        </p:nvSpPr>
        <p:spPr>
          <a:xfrm>
            <a:off x="6172200" y="2505075"/>
            <a:ext cx="5183188" cy="3684588"/>
          </a:xfrm>
        </p:spPr>
        <p:txBody>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7" name="日期占位符 6">
            <a:extLst>
              <a:ext uri="{FF2B5EF4-FFF2-40B4-BE49-F238E27FC236}">
                <a16:creationId xmlns:a16="http://schemas.microsoft.com/office/drawing/2014/main" id="{086CDA96-F74A-4624-A701-06BB40E85578}"/>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8" name="页脚占位符 7">
            <a:extLst>
              <a:ext uri="{FF2B5EF4-FFF2-40B4-BE49-F238E27FC236}">
                <a16:creationId xmlns:a16="http://schemas.microsoft.com/office/drawing/2014/main" id="{1C82C964-0DCE-4251-A2D2-8B40BD442161}"/>
              </a:ext>
            </a:extLst>
          </p:cNvPr>
          <p:cNvSpPr>
            <a:spLocks noGrp="1"/>
          </p:cNvSpPr>
          <p:nvPr>
            <p:ph type="ftr" sz="quarter" idx="11"/>
          </p:nvPr>
        </p:nvSpPr>
        <p:spPr/>
        <p:txBody>
          <a:bodyPr/>
          <a:lstStyle/>
          <a:p>
            <a:endParaRPr lang="en-US"/>
          </a:p>
        </p:txBody>
      </p:sp>
      <p:sp>
        <p:nvSpPr>
          <p:cNvPr id="9" name="灯片编号占位符 8">
            <a:extLst>
              <a:ext uri="{FF2B5EF4-FFF2-40B4-BE49-F238E27FC236}">
                <a16:creationId xmlns:a16="http://schemas.microsoft.com/office/drawing/2014/main" id="{4CF80643-74A0-4D0A-B3AE-FDFCC00373BC}"/>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684343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621D687-2952-433A-A486-099C48C4B667}"/>
              </a:ext>
            </a:extLst>
          </p:cNvPr>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F84DCF08-EA4B-4E0C-B9DA-AF780B867655}"/>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4" name="页脚占位符 3">
            <a:extLst>
              <a:ext uri="{FF2B5EF4-FFF2-40B4-BE49-F238E27FC236}">
                <a16:creationId xmlns:a16="http://schemas.microsoft.com/office/drawing/2014/main" id="{F4DF4D79-43A3-4D15-AADB-49E2A00CDBAD}"/>
              </a:ext>
            </a:extLst>
          </p:cNvPr>
          <p:cNvSpPr>
            <a:spLocks noGrp="1"/>
          </p:cNvSpPr>
          <p:nvPr>
            <p:ph type="ftr" sz="quarter" idx="11"/>
          </p:nvPr>
        </p:nvSpPr>
        <p:spPr/>
        <p:txBody>
          <a:bodyPr/>
          <a:lstStyle/>
          <a:p>
            <a:endParaRPr lang="en-US"/>
          </a:p>
        </p:txBody>
      </p:sp>
      <p:sp>
        <p:nvSpPr>
          <p:cNvPr id="5" name="灯片编号占位符 4">
            <a:extLst>
              <a:ext uri="{FF2B5EF4-FFF2-40B4-BE49-F238E27FC236}">
                <a16:creationId xmlns:a16="http://schemas.microsoft.com/office/drawing/2014/main" id="{897F9052-09FA-4D04-AB45-329EED24907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1170645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CE4DD36-7F96-444A-A9B7-5FBBE9CE746F}"/>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3" name="页脚占位符 2">
            <a:extLst>
              <a:ext uri="{FF2B5EF4-FFF2-40B4-BE49-F238E27FC236}">
                <a16:creationId xmlns:a16="http://schemas.microsoft.com/office/drawing/2014/main" id="{EC8F5D18-B09A-4096-AFDA-96A804D6D451}"/>
              </a:ext>
            </a:extLst>
          </p:cNvPr>
          <p:cNvSpPr>
            <a:spLocks noGrp="1"/>
          </p:cNvSpPr>
          <p:nvPr>
            <p:ph type="ftr" sz="quarter" idx="11"/>
          </p:nvPr>
        </p:nvSpPr>
        <p:spPr/>
        <p:txBody>
          <a:bodyPr/>
          <a:lstStyle/>
          <a:p>
            <a:endParaRPr lang="en-US"/>
          </a:p>
        </p:txBody>
      </p:sp>
      <p:sp>
        <p:nvSpPr>
          <p:cNvPr id="4" name="灯片编号占位符 3">
            <a:extLst>
              <a:ext uri="{FF2B5EF4-FFF2-40B4-BE49-F238E27FC236}">
                <a16:creationId xmlns:a16="http://schemas.microsoft.com/office/drawing/2014/main" id="{1ACC0151-1B68-4B32-AB2F-4A65BE2AD14F}"/>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97626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3FBC3E4-C582-4A91-A7AE-1D79621891DA}"/>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内容占位符 2">
            <a:extLst>
              <a:ext uri="{FF2B5EF4-FFF2-40B4-BE49-F238E27FC236}">
                <a16:creationId xmlns:a16="http://schemas.microsoft.com/office/drawing/2014/main" id="{A942F964-0EB5-4901-BC24-85E3354331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文本占位符 3">
            <a:extLst>
              <a:ext uri="{FF2B5EF4-FFF2-40B4-BE49-F238E27FC236}">
                <a16:creationId xmlns:a16="http://schemas.microsoft.com/office/drawing/2014/main" id="{366385E8-484A-4DCD-B049-3172288A76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70569B17-EB32-4F6A-9B7C-5B597E7CC0ED}"/>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6" name="页脚占位符 5">
            <a:extLst>
              <a:ext uri="{FF2B5EF4-FFF2-40B4-BE49-F238E27FC236}">
                <a16:creationId xmlns:a16="http://schemas.microsoft.com/office/drawing/2014/main" id="{524C8B3B-8E4D-4EBB-8A2B-D5C7322C2396}"/>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63762D6F-D0D3-4812-B6E8-731E7AFBF937}"/>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4054661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84EBE16-E626-4C00-8722-0F82B3A32BF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en-US"/>
          </a:p>
        </p:txBody>
      </p:sp>
      <p:sp>
        <p:nvSpPr>
          <p:cNvPr id="3" name="图片占位符 2">
            <a:extLst>
              <a:ext uri="{FF2B5EF4-FFF2-40B4-BE49-F238E27FC236}">
                <a16:creationId xmlns:a16="http://schemas.microsoft.com/office/drawing/2014/main" id="{7C5C2DE1-D969-4D9C-B72F-3E40B96720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文本占位符 3">
            <a:extLst>
              <a:ext uri="{FF2B5EF4-FFF2-40B4-BE49-F238E27FC236}">
                <a16:creationId xmlns:a16="http://schemas.microsoft.com/office/drawing/2014/main" id="{060D0D84-9E46-41CD-A472-B1029A0FC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编辑母版文本样式</a:t>
            </a:r>
          </a:p>
        </p:txBody>
      </p:sp>
      <p:sp>
        <p:nvSpPr>
          <p:cNvPr id="5" name="日期占位符 4">
            <a:extLst>
              <a:ext uri="{FF2B5EF4-FFF2-40B4-BE49-F238E27FC236}">
                <a16:creationId xmlns:a16="http://schemas.microsoft.com/office/drawing/2014/main" id="{C7C908C6-21BD-4D14-B9E5-67673794C1B6}"/>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6" name="页脚占位符 5">
            <a:extLst>
              <a:ext uri="{FF2B5EF4-FFF2-40B4-BE49-F238E27FC236}">
                <a16:creationId xmlns:a16="http://schemas.microsoft.com/office/drawing/2014/main" id="{BC237D1E-BE48-42AB-BF84-696F9BA0CD31}"/>
              </a:ext>
            </a:extLst>
          </p:cNvPr>
          <p:cNvSpPr>
            <a:spLocks noGrp="1"/>
          </p:cNvSpPr>
          <p:nvPr>
            <p:ph type="ftr" sz="quarter" idx="11"/>
          </p:nvPr>
        </p:nvSpPr>
        <p:spPr/>
        <p:txBody>
          <a:bodyPr/>
          <a:lstStyle/>
          <a:p>
            <a:endParaRPr lang="en-US"/>
          </a:p>
        </p:txBody>
      </p:sp>
      <p:sp>
        <p:nvSpPr>
          <p:cNvPr id="7" name="灯片编号占位符 6">
            <a:extLst>
              <a:ext uri="{FF2B5EF4-FFF2-40B4-BE49-F238E27FC236}">
                <a16:creationId xmlns:a16="http://schemas.microsoft.com/office/drawing/2014/main" id="{A25CDD9A-D6DD-4908-A730-2867C0197665}"/>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7910832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ECF7F10-CD63-4FB1-A171-A7DAAE8883A6}"/>
              </a:ext>
            </a:extLst>
          </p:cNvPr>
          <p:cNvSpPr>
            <a:spLocks noGrp="1"/>
          </p:cNvSpPr>
          <p:nvPr>
            <p:ph type="title"/>
          </p:nvPr>
        </p:nvSpPr>
        <p:spPr/>
        <p:txBody>
          <a:bodyPr/>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4FF1AB79-8425-466E-A8A5-DADBC36F29A3}"/>
              </a:ext>
            </a:extLst>
          </p:cNvPr>
          <p:cNvSpPr>
            <a:spLocks noGrp="1"/>
          </p:cNvSpPr>
          <p:nvPr>
            <p:ph type="body" orient="vert" idx="1"/>
          </p:nvPr>
        </p:nvSpPr>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189E2F66-1492-47A7-BCD3-BF219BAE6E74}"/>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5" name="页脚占位符 4">
            <a:extLst>
              <a:ext uri="{FF2B5EF4-FFF2-40B4-BE49-F238E27FC236}">
                <a16:creationId xmlns:a16="http://schemas.microsoft.com/office/drawing/2014/main" id="{2142A3AF-5C92-49DE-B7CE-F57501C229CA}"/>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CFE16F9F-8375-4DF1-A57B-BDA6BF36C648}"/>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7682099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79CEAE66-692B-4D65-A7C3-1680609F0074}"/>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en-US"/>
          </a:p>
        </p:txBody>
      </p:sp>
      <p:sp>
        <p:nvSpPr>
          <p:cNvPr id="3" name="竖排文字占位符 2">
            <a:extLst>
              <a:ext uri="{FF2B5EF4-FFF2-40B4-BE49-F238E27FC236}">
                <a16:creationId xmlns:a16="http://schemas.microsoft.com/office/drawing/2014/main" id="{5F818DC3-D68F-47FD-9934-DB88063C3F44}"/>
              </a:ext>
            </a:extLst>
          </p:cNvPr>
          <p:cNvSpPr>
            <a:spLocks noGrp="1"/>
          </p:cNvSpPr>
          <p:nvPr>
            <p:ph type="body" orient="vert" idx="1"/>
          </p:nvPr>
        </p:nvSpPr>
        <p:spPr>
          <a:xfrm>
            <a:off x="838200" y="365125"/>
            <a:ext cx="7734300" cy="5811838"/>
          </a:xfrm>
        </p:spPr>
        <p:txBody>
          <a:bodyPr vert="eaVert"/>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2E197317-A46D-420C-A392-2D9B93AC409E}"/>
              </a:ext>
            </a:extLst>
          </p:cNvPr>
          <p:cNvSpPr>
            <a:spLocks noGrp="1"/>
          </p:cNvSpPr>
          <p:nvPr>
            <p:ph type="dt" sz="half" idx="10"/>
          </p:nvPr>
        </p:nvSpPr>
        <p:spPr/>
        <p:txBody>
          <a:bodyPr/>
          <a:lstStyle/>
          <a:p>
            <a:fld id="{8569C8CB-8203-4113-BC19-5C96839CBD45}" type="datetimeFigureOut">
              <a:rPr lang="en-US" smtClean="0"/>
              <a:t>3/14/2024</a:t>
            </a:fld>
            <a:endParaRPr lang="en-US"/>
          </a:p>
        </p:txBody>
      </p:sp>
      <p:sp>
        <p:nvSpPr>
          <p:cNvPr id="5" name="页脚占位符 4">
            <a:extLst>
              <a:ext uri="{FF2B5EF4-FFF2-40B4-BE49-F238E27FC236}">
                <a16:creationId xmlns:a16="http://schemas.microsoft.com/office/drawing/2014/main" id="{46B454CD-23C0-496D-BC54-03322B1D903F}"/>
              </a:ext>
            </a:extLst>
          </p:cNvPr>
          <p:cNvSpPr>
            <a:spLocks noGrp="1"/>
          </p:cNvSpPr>
          <p:nvPr>
            <p:ph type="ftr" sz="quarter" idx="11"/>
          </p:nvPr>
        </p:nvSpPr>
        <p:spPr/>
        <p:txBody>
          <a:bodyPr/>
          <a:lstStyle/>
          <a:p>
            <a:endParaRPr lang="en-US"/>
          </a:p>
        </p:txBody>
      </p:sp>
      <p:sp>
        <p:nvSpPr>
          <p:cNvPr id="6" name="灯片编号占位符 5">
            <a:extLst>
              <a:ext uri="{FF2B5EF4-FFF2-40B4-BE49-F238E27FC236}">
                <a16:creationId xmlns:a16="http://schemas.microsoft.com/office/drawing/2014/main" id="{9257EF11-F507-4D48-9B8C-E8680A05EBD3}"/>
              </a:ext>
            </a:extLst>
          </p:cNvPr>
          <p:cNvSpPr>
            <a:spLocks noGrp="1"/>
          </p:cNvSpPr>
          <p:nvPr>
            <p:ph type="sldNum" sz="quarter" idx="12"/>
          </p:nvPr>
        </p:nvSpPr>
        <p:spPr/>
        <p:txBody>
          <a:bodyPr/>
          <a:lstStyle/>
          <a:p>
            <a:fld id="{2D16C4D0-362D-4F07-9D17-9A93F97D0861}" type="slidenum">
              <a:rPr lang="en-US" smtClean="0"/>
              <a:t>‹#›</a:t>
            </a:fld>
            <a:endParaRPr lang="en-US"/>
          </a:p>
        </p:txBody>
      </p:sp>
    </p:spTree>
    <p:extLst>
      <p:ext uri="{BB962C8B-B14F-4D97-AF65-F5344CB8AC3E}">
        <p14:creationId xmlns:p14="http://schemas.microsoft.com/office/powerpoint/2010/main" val="36878283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48EF7D3-5A27-4B57-8A33-E7C0DD1B0AD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文本占位符 2">
            <a:extLst>
              <a:ext uri="{FF2B5EF4-FFF2-40B4-BE49-F238E27FC236}">
                <a16:creationId xmlns:a16="http://schemas.microsoft.com/office/drawing/2014/main" id="{9CE378D8-CAD9-4EDA-B737-D089103748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a:p>
        </p:txBody>
      </p:sp>
      <p:sp>
        <p:nvSpPr>
          <p:cNvPr id="4" name="日期占位符 3">
            <a:extLst>
              <a:ext uri="{FF2B5EF4-FFF2-40B4-BE49-F238E27FC236}">
                <a16:creationId xmlns:a16="http://schemas.microsoft.com/office/drawing/2014/main" id="{4B61C7E5-DED7-4901-BEA1-361A290133E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569C8CB-8203-4113-BC19-5C96839CBD45}" type="datetimeFigureOut">
              <a:rPr lang="en-US" smtClean="0"/>
              <a:t>3/14/2024</a:t>
            </a:fld>
            <a:endParaRPr lang="en-US"/>
          </a:p>
        </p:txBody>
      </p:sp>
      <p:sp>
        <p:nvSpPr>
          <p:cNvPr id="5" name="页脚占位符 4">
            <a:extLst>
              <a:ext uri="{FF2B5EF4-FFF2-40B4-BE49-F238E27FC236}">
                <a16:creationId xmlns:a16="http://schemas.microsoft.com/office/drawing/2014/main" id="{EDBCA12B-ADFA-4389-8BED-E30DC2D6069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灯片编号占位符 5">
            <a:extLst>
              <a:ext uri="{FF2B5EF4-FFF2-40B4-BE49-F238E27FC236}">
                <a16:creationId xmlns:a16="http://schemas.microsoft.com/office/drawing/2014/main" id="{5D7DB51E-6AD4-4AAC-BD8A-505C38223CB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16C4D0-362D-4F07-9D17-9A93F97D0861}" type="slidenum">
              <a:rPr lang="en-US" smtClean="0"/>
              <a:t>‹#›</a:t>
            </a:fld>
            <a:endParaRPr lang="en-US"/>
          </a:p>
        </p:txBody>
      </p:sp>
    </p:spTree>
    <p:extLst>
      <p:ext uri="{BB962C8B-B14F-4D97-AF65-F5344CB8AC3E}">
        <p14:creationId xmlns:p14="http://schemas.microsoft.com/office/powerpoint/2010/main" val="21904382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jpeg"/><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920.png"/><Relationship Id="rId7" Type="http://schemas.openxmlformats.org/officeDocument/2006/relationships/image" Target="../media/image960.png"/><Relationship Id="rId2" Type="http://schemas.openxmlformats.org/officeDocument/2006/relationships/image" Target="../media/image14.png"/><Relationship Id="rId1" Type="http://schemas.openxmlformats.org/officeDocument/2006/relationships/slideLayout" Target="../slideLayouts/slideLayout2.xml"/><Relationship Id="rId6" Type="http://schemas.openxmlformats.org/officeDocument/2006/relationships/image" Target="../media/image950.png"/><Relationship Id="rId24" Type="http://schemas.openxmlformats.org/officeDocument/2006/relationships/image" Target="../media/image980.png"/><Relationship Id="rId5" Type="http://schemas.openxmlformats.org/officeDocument/2006/relationships/image" Target="../media/image940.png"/><Relationship Id="rId23" Type="http://schemas.openxmlformats.org/officeDocument/2006/relationships/image" Target="../media/image970.png"/><Relationship Id="rId19" Type="http://schemas.openxmlformats.org/officeDocument/2006/relationships/image" Target="../media/image1010.png"/><Relationship Id="rId4" Type="http://schemas.openxmlformats.org/officeDocument/2006/relationships/image" Target="../media/image930.png"/><Relationship Id="rId22" Type="http://schemas.openxmlformats.org/officeDocument/2006/relationships/image" Target="../media/image1040.png"/></Relationships>
</file>

<file path=ppt/slides/_rels/slide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53.png"/><Relationship Id="rId1" Type="http://schemas.openxmlformats.org/officeDocument/2006/relationships/slideLayout" Target="../slideLayouts/slideLayout7.xml"/><Relationship Id="rId5" Type="http://schemas.openxmlformats.org/officeDocument/2006/relationships/image" Target="../media/image56.png"/><Relationship Id="rId4" Type="http://schemas.openxmlformats.org/officeDocument/2006/relationships/image" Target="../media/image55.png"/></Relationships>
</file>

<file path=ppt/slides/_rels/slide7.xml.rels><?xml version="1.0" encoding="UTF-8" standalone="yes"?>
<Relationships xmlns="http://schemas.openxmlformats.org/package/2006/relationships"><Relationship Id="rId13" Type="http://schemas.openxmlformats.org/officeDocument/2006/relationships/image" Target="../media/image57.png"/><Relationship Id="rId18" Type="http://schemas.openxmlformats.org/officeDocument/2006/relationships/image" Target="../media/image68.png"/><Relationship Id="rId3" Type="http://schemas.openxmlformats.org/officeDocument/2006/relationships/image" Target="../media/image17.png"/><Relationship Id="rId17" Type="http://schemas.openxmlformats.org/officeDocument/2006/relationships/image" Target="../media/image67.png"/><Relationship Id="rId2" Type="http://schemas.openxmlformats.org/officeDocument/2006/relationships/image" Target="../media/image16.png"/><Relationship Id="rId16" Type="http://schemas.openxmlformats.org/officeDocument/2006/relationships/image" Target="../media/image55.png"/><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15" Type="http://schemas.openxmlformats.org/officeDocument/2006/relationships/image" Target="../media/image66.png"/><Relationship Id="rId19" Type="http://schemas.openxmlformats.org/officeDocument/2006/relationships/image" Target="../media/image69.png"/><Relationship Id="rId4" Type="http://schemas.openxmlformats.org/officeDocument/2006/relationships/image" Target="../media/image18.png"/><Relationship Id="rId14" Type="http://schemas.openxmlformats.org/officeDocument/2006/relationships/image" Target="../media/image65.png"/></Relationships>
</file>

<file path=ppt/slides/_rels/slide8.xml.rels><?xml version="1.0" encoding="UTF-8" standalone="yes"?>
<Relationships xmlns="http://schemas.openxmlformats.org/package/2006/relationships"><Relationship Id="rId3" Type="http://schemas.openxmlformats.org/officeDocument/2006/relationships/image" Target="../media/image1050.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2.png"/><Relationship Id="rId5" Type="http://schemas.openxmlformats.org/officeDocument/2006/relationships/image" Target="../media/image1070.png"/><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image" Target="../media/image1210.png"/><Relationship Id="rId3" Type="http://schemas.openxmlformats.org/officeDocument/2006/relationships/image" Target="../media/image23.png"/><Relationship Id="rId7" Type="http://schemas.openxmlformats.org/officeDocument/2006/relationships/image" Target="../media/image1100.png"/><Relationship Id="rId12" Type="http://schemas.openxmlformats.org/officeDocument/2006/relationships/image" Target="../media/image1150.png"/><Relationship Id="rId2" Type="http://schemas.openxmlformats.org/officeDocument/2006/relationships/image" Target="../media/image220.png"/><Relationship Id="rId1" Type="http://schemas.openxmlformats.org/officeDocument/2006/relationships/slideLayout" Target="../slideLayouts/slideLayout2.xml"/><Relationship Id="rId6" Type="http://schemas.openxmlformats.org/officeDocument/2006/relationships/image" Target="../media/image1090.png"/><Relationship Id="rId11" Type="http://schemas.openxmlformats.org/officeDocument/2006/relationships/image" Target="../media/image1140.png"/><Relationship Id="rId5" Type="http://schemas.openxmlformats.org/officeDocument/2006/relationships/image" Target="../media/image1120.png"/><Relationship Id="rId10" Type="http://schemas.openxmlformats.org/officeDocument/2006/relationships/image" Target="../media/image1130.png"/><Relationship Id="rId4" Type="http://schemas.openxmlformats.org/officeDocument/2006/relationships/image" Target="../media/image1111.png"/><Relationship Id="rId9" Type="http://schemas.openxmlformats.org/officeDocument/2006/relationships/image" Target="../media/image1110.png"/><Relationship Id="rId14" Type="http://schemas.openxmlformats.org/officeDocument/2006/relationships/image" Target="../media/image2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25.jpeg"/></Relationships>
</file>

<file path=ppt/slides/_rels/slide13.xml.rels><?xml version="1.0" encoding="UTF-8" standalone="yes"?>
<Relationships xmlns="http://schemas.openxmlformats.org/package/2006/relationships"><Relationship Id="rId2" Type="http://schemas.openxmlformats.org/officeDocument/2006/relationships/image" Target="../media/image26.gi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image" Target="../media/image80.png"/><Relationship Id="rId1" Type="http://schemas.openxmlformats.org/officeDocument/2006/relationships/slideLayout" Target="../slideLayouts/slideLayout2.xml"/><Relationship Id="rId4" Type="http://schemas.openxmlformats.org/officeDocument/2006/relationships/image" Target="../media/image28.jpeg"/></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1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image" Target="../media/image31.png"/><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8" Type="http://schemas.openxmlformats.org/officeDocument/2006/relationships/image" Target="../media/image44.png"/><Relationship Id="rId13" Type="http://schemas.openxmlformats.org/officeDocument/2006/relationships/image" Target="../media/image49.png"/><Relationship Id="rId18" Type="http://schemas.openxmlformats.org/officeDocument/2006/relationships/image" Target="../media/image58.png"/><Relationship Id="rId3" Type="http://schemas.openxmlformats.org/officeDocument/2006/relationships/image" Target="../media/image39.png"/><Relationship Id="rId21" Type="http://schemas.openxmlformats.org/officeDocument/2006/relationships/image" Target="../media/image30.png"/><Relationship Id="rId7" Type="http://schemas.openxmlformats.org/officeDocument/2006/relationships/image" Target="../media/image43.png"/><Relationship Id="rId12" Type="http://schemas.openxmlformats.org/officeDocument/2006/relationships/image" Target="../media/image48.png"/><Relationship Id="rId2" Type="http://schemas.openxmlformats.org/officeDocument/2006/relationships/image" Target="../media/image38.png"/><Relationship Id="rId16" Type="http://schemas.openxmlformats.org/officeDocument/2006/relationships/image" Target="../media/image52.png"/><Relationship Id="rId20"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42.png"/><Relationship Id="rId11" Type="http://schemas.openxmlformats.org/officeDocument/2006/relationships/image" Target="../media/image47.png"/><Relationship Id="rId5" Type="http://schemas.openxmlformats.org/officeDocument/2006/relationships/image" Target="../media/image41.png"/><Relationship Id="rId15" Type="http://schemas.openxmlformats.org/officeDocument/2006/relationships/image" Target="../media/image51.png"/><Relationship Id="rId10" Type="http://schemas.openxmlformats.org/officeDocument/2006/relationships/image" Target="../media/image46.png"/><Relationship Id="rId19" Type="http://schemas.openxmlformats.org/officeDocument/2006/relationships/image" Target="../media/image59.png"/><Relationship Id="rId4" Type="http://schemas.openxmlformats.org/officeDocument/2006/relationships/image" Target="../media/image40.png"/><Relationship Id="rId9" Type="http://schemas.openxmlformats.org/officeDocument/2006/relationships/image" Target="../media/image45.png"/><Relationship Id="rId14" Type="http://schemas.openxmlformats.org/officeDocument/2006/relationships/image" Target="../media/image50.png"/></Relationships>
</file>

<file path=ppt/slides/_rels/slide1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62.png"/></Relationships>
</file>

<file path=ppt/slides/_rels/slide21.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5.jpeg"/><Relationship Id="rId4" Type="http://schemas.openxmlformats.org/officeDocument/2006/relationships/image" Target="../media/image114.png"/></Relationships>
</file>

<file path=ppt/slides/_rels/slide23.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slideLayout" Target="../slideLayouts/slideLayout7.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image" Target="../media/image71.tmp"/><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19" Type="http://schemas.openxmlformats.org/officeDocument/2006/relationships/image" Target="../media/image70.png"/><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25.xml.rels><?xml version="1.0" encoding="UTF-8" standalone="yes"?>
<Relationships xmlns="http://schemas.openxmlformats.org/package/2006/relationships"><Relationship Id="rId8" Type="http://schemas.openxmlformats.org/officeDocument/2006/relationships/tags" Target="../tags/tag25.xml"/><Relationship Id="rId13" Type="http://schemas.openxmlformats.org/officeDocument/2006/relationships/tags" Target="../tags/tag30.xml"/><Relationship Id="rId18" Type="http://schemas.openxmlformats.org/officeDocument/2006/relationships/slideLayout" Target="../slideLayouts/slideLayout7.xml"/><Relationship Id="rId3" Type="http://schemas.openxmlformats.org/officeDocument/2006/relationships/tags" Target="../tags/tag20.xml"/><Relationship Id="rId21" Type="http://schemas.openxmlformats.org/officeDocument/2006/relationships/tags" Target="../tags/tag340.xml"/><Relationship Id="rId7" Type="http://schemas.openxmlformats.org/officeDocument/2006/relationships/tags" Target="../tags/tag24.xml"/><Relationship Id="rId12" Type="http://schemas.openxmlformats.org/officeDocument/2006/relationships/tags" Target="../tags/tag29.xml"/><Relationship Id="rId17" Type="http://schemas.openxmlformats.org/officeDocument/2006/relationships/tags" Target="../tags/tag34.xml"/><Relationship Id="rId25" Type="http://schemas.openxmlformats.org/officeDocument/2006/relationships/image" Target="../media/image71.tmp"/><Relationship Id="rId2" Type="http://schemas.openxmlformats.org/officeDocument/2006/relationships/tags" Target="../tags/tag19.xml"/><Relationship Id="rId16" Type="http://schemas.openxmlformats.org/officeDocument/2006/relationships/tags" Target="../tags/tag33.xml"/><Relationship Id="rId20" Type="http://schemas.openxmlformats.org/officeDocument/2006/relationships/image" Target="../media/image143.png"/><Relationship Id="rId1" Type="http://schemas.openxmlformats.org/officeDocument/2006/relationships/tags" Target="../tags/tag18.xml"/><Relationship Id="rId6" Type="http://schemas.openxmlformats.org/officeDocument/2006/relationships/tags" Target="../tags/tag23.xml"/><Relationship Id="rId11" Type="http://schemas.openxmlformats.org/officeDocument/2006/relationships/tags" Target="../tags/tag28.xml"/><Relationship Id="rId24" Type="http://schemas.openxmlformats.org/officeDocument/2006/relationships/image" Target="../media/image145.png"/><Relationship Id="rId5" Type="http://schemas.openxmlformats.org/officeDocument/2006/relationships/tags" Target="../tags/tag22.xml"/><Relationship Id="rId15" Type="http://schemas.openxmlformats.org/officeDocument/2006/relationships/tags" Target="../tags/tag32.xml"/><Relationship Id="rId23" Type="http://schemas.openxmlformats.org/officeDocument/2006/relationships/tags" Target="../tags/tag36.xml"/><Relationship Id="rId10" Type="http://schemas.openxmlformats.org/officeDocument/2006/relationships/tags" Target="../tags/tag27.xml"/><Relationship Id="rId19" Type="http://schemas.openxmlformats.org/officeDocument/2006/relationships/tags" Target="../tags/tag330.xml"/><Relationship Id="rId4" Type="http://schemas.openxmlformats.org/officeDocument/2006/relationships/tags" Target="../tags/tag21.xml"/><Relationship Id="rId9" Type="http://schemas.openxmlformats.org/officeDocument/2006/relationships/tags" Target="../tags/tag26.xml"/><Relationship Id="rId14" Type="http://schemas.openxmlformats.org/officeDocument/2006/relationships/tags" Target="../tags/tag31.xml"/><Relationship Id="rId22" Type="http://schemas.openxmlformats.org/officeDocument/2006/relationships/image" Target="../media/image144.png"/></Relationships>
</file>

<file path=ppt/slides/_rels/slide26.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27.xml.rels><?xml version="1.0" encoding="UTF-8" standalone="yes"?>
<Relationships xmlns="http://schemas.openxmlformats.org/package/2006/relationships"><Relationship Id="rId18" Type="http://schemas.openxmlformats.org/officeDocument/2006/relationships/image" Target="../media/image130.png"/><Relationship Id="rId3" Type="http://schemas.openxmlformats.org/officeDocument/2006/relationships/image" Target="../media/image78.png"/><Relationship Id="rId7" Type="http://schemas.openxmlformats.org/officeDocument/2006/relationships/image" Target="../media/image83.png"/><Relationship Id="rId17" Type="http://schemas.openxmlformats.org/officeDocument/2006/relationships/image" Target="../media/image129.png"/><Relationship Id="rId2" Type="http://schemas.openxmlformats.org/officeDocument/2006/relationships/notesSlide" Target="../notesSlides/notesSlide6.xml"/><Relationship Id="rId16" Type="http://schemas.openxmlformats.org/officeDocument/2006/relationships/image" Target="../media/image128.png"/><Relationship Id="rId1" Type="http://schemas.openxmlformats.org/officeDocument/2006/relationships/slideLayout" Target="../slideLayouts/slideLayout2.xml"/><Relationship Id="rId6" Type="http://schemas.openxmlformats.org/officeDocument/2006/relationships/image" Target="../media/image82.png"/><Relationship Id="rId5" Type="http://schemas.openxmlformats.org/officeDocument/2006/relationships/image" Target="../media/image81.png"/><Relationship Id="rId15" Type="http://schemas.openxmlformats.org/officeDocument/2006/relationships/image" Target="../media/image127.png"/><Relationship Id="rId4" Type="http://schemas.openxmlformats.org/officeDocument/2006/relationships/image" Target="../media/image79.png"/><Relationship Id="rId14" Type="http://schemas.openxmlformats.org/officeDocument/2006/relationships/image" Target="../media/image10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 Id="rId5" Type="http://schemas.openxmlformats.org/officeDocument/2006/relationships/image" Target="../media/image88.png"/><Relationship Id="rId4" Type="http://schemas.openxmlformats.org/officeDocument/2006/relationships/image" Target="../media/image87.png"/></Relationships>
</file>

<file path=ppt/slides/_rels/slide33.xml.rels><?xml version="1.0" encoding="UTF-8" standalone="yes"?>
<Relationships xmlns="http://schemas.openxmlformats.org/package/2006/relationships"><Relationship Id="rId3" Type="http://schemas.openxmlformats.org/officeDocument/2006/relationships/image" Target="../media/image86.png"/><Relationship Id="rId7" Type="http://schemas.openxmlformats.org/officeDocument/2006/relationships/image" Target="../media/image92.png"/><Relationship Id="rId2" Type="http://schemas.openxmlformats.org/officeDocument/2006/relationships/image" Target="../media/image85.png"/><Relationship Id="rId1" Type="http://schemas.openxmlformats.org/officeDocument/2006/relationships/slideLayout" Target="../slideLayouts/slideLayout2.xml"/><Relationship Id="rId6" Type="http://schemas.openxmlformats.org/officeDocument/2006/relationships/image" Target="../media/image91.png"/><Relationship Id="rId5" Type="http://schemas.openxmlformats.org/officeDocument/2006/relationships/image" Target="../media/image90.png"/><Relationship Id="rId4" Type="http://schemas.openxmlformats.org/officeDocument/2006/relationships/image" Target="../media/image87.png"/></Relationships>
</file>

<file path=ppt/slides/_rels/slide34.xml.rels><?xml version="1.0" encoding="UTF-8" standalone="yes"?>
<Relationships xmlns="http://schemas.openxmlformats.org/package/2006/relationships"><Relationship Id="rId8" Type="http://schemas.openxmlformats.org/officeDocument/2006/relationships/image" Target="../media/image240.png"/><Relationship Id="rId3" Type="http://schemas.openxmlformats.org/officeDocument/2006/relationships/image" Target="../media/image330.png"/><Relationship Id="rId7" Type="http://schemas.openxmlformats.org/officeDocument/2006/relationships/image" Target="../media/image370.png"/><Relationship Id="rId12" Type="http://schemas.openxmlformats.org/officeDocument/2006/relationships/image" Target="../media/image400.png"/><Relationship Id="rId2" Type="http://schemas.openxmlformats.org/officeDocument/2006/relationships/image" Target="../media/image72.png"/><Relationship Id="rId1" Type="http://schemas.openxmlformats.org/officeDocument/2006/relationships/slideLayout" Target="../slideLayouts/slideLayout7.xml"/><Relationship Id="rId6" Type="http://schemas.openxmlformats.org/officeDocument/2006/relationships/image" Target="../media/image360.png"/><Relationship Id="rId11" Type="http://schemas.openxmlformats.org/officeDocument/2006/relationships/image" Target="../media/image390.png"/><Relationship Id="rId5" Type="http://schemas.openxmlformats.org/officeDocument/2006/relationships/image" Target="../media/image350.png"/><Relationship Id="rId10" Type="http://schemas.openxmlformats.org/officeDocument/2006/relationships/image" Target="../media/image380.png"/><Relationship Id="rId4" Type="http://schemas.openxmlformats.org/officeDocument/2006/relationships/image" Target="../media/image73.jpeg"/><Relationship Id="rId9" Type="http://schemas.openxmlformats.org/officeDocument/2006/relationships/image" Target="../media/image250.png"/></Relationships>
</file>

<file path=ppt/slides/_rels/slide35.xml.rels><?xml version="1.0" encoding="UTF-8" standalone="yes"?>
<Relationships xmlns="http://schemas.openxmlformats.org/package/2006/relationships"><Relationship Id="rId8" Type="http://schemas.openxmlformats.org/officeDocument/2006/relationships/image" Target="../media/image460.png"/><Relationship Id="rId3" Type="http://schemas.openxmlformats.org/officeDocument/2006/relationships/image" Target="../media/image410.png"/><Relationship Id="rId7" Type="http://schemas.openxmlformats.org/officeDocument/2006/relationships/image" Target="../media/image440.png"/><Relationship Id="rId2" Type="http://schemas.openxmlformats.org/officeDocument/2006/relationships/image" Target="../media/image340.png"/><Relationship Id="rId1" Type="http://schemas.openxmlformats.org/officeDocument/2006/relationships/slideLayout" Target="../slideLayouts/slideLayout7.xml"/><Relationship Id="rId6" Type="http://schemas.openxmlformats.org/officeDocument/2006/relationships/image" Target="../media/image450.png"/><Relationship Id="rId11" Type="http://schemas.openxmlformats.org/officeDocument/2006/relationships/image" Target="../media/image490.png"/><Relationship Id="rId5" Type="http://schemas.openxmlformats.org/officeDocument/2006/relationships/image" Target="../media/image74.png"/><Relationship Id="rId10" Type="http://schemas.openxmlformats.org/officeDocument/2006/relationships/image" Target="../media/image480.png"/><Relationship Id="rId4" Type="http://schemas.openxmlformats.org/officeDocument/2006/relationships/image" Target="../media/image420.png"/><Relationship Id="rId9" Type="http://schemas.openxmlformats.org/officeDocument/2006/relationships/image" Target="../media/image470.png"/></Relationships>
</file>

<file path=ppt/slides/_rels/slide36.xml.rels><?xml version="1.0" encoding="UTF-8" standalone="yes"?>
<Relationships xmlns="http://schemas.openxmlformats.org/package/2006/relationships"><Relationship Id="rId8" Type="http://schemas.openxmlformats.org/officeDocument/2006/relationships/image" Target="../media/image570.png"/><Relationship Id="rId13" Type="http://schemas.openxmlformats.org/officeDocument/2006/relationships/image" Target="../media/image620.png"/><Relationship Id="rId18" Type="http://schemas.openxmlformats.org/officeDocument/2006/relationships/image" Target="../media/image670.png"/><Relationship Id="rId3" Type="http://schemas.openxmlformats.org/officeDocument/2006/relationships/image" Target="../media/image520.png"/><Relationship Id="rId7" Type="http://schemas.openxmlformats.org/officeDocument/2006/relationships/image" Target="../media/image560.png"/><Relationship Id="rId12" Type="http://schemas.openxmlformats.org/officeDocument/2006/relationships/image" Target="../media/image610.png"/><Relationship Id="rId17" Type="http://schemas.openxmlformats.org/officeDocument/2006/relationships/image" Target="../media/image660.png"/><Relationship Id="rId2" Type="http://schemas.openxmlformats.org/officeDocument/2006/relationships/image" Target="../media/image510.png"/><Relationship Id="rId16" Type="http://schemas.openxmlformats.org/officeDocument/2006/relationships/image" Target="../media/image650.png"/><Relationship Id="rId1" Type="http://schemas.openxmlformats.org/officeDocument/2006/relationships/slideLayout" Target="../slideLayouts/slideLayout7.xml"/><Relationship Id="rId6" Type="http://schemas.openxmlformats.org/officeDocument/2006/relationships/image" Target="../media/image550.png"/><Relationship Id="rId11" Type="http://schemas.openxmlformats.org/officeDocument/2006/relationships/image" Target="../media/image600.png"/><Relationship Id="rId5" Type="http://schemas.openxmlformats.org/officeDocument/2006/relationships/image" Target="../media/image540.png"/><Relationship Id="rId15" Type="http://schemas.openxmlformats.org/officeDocument/2006/relationships/image" Target="../media/image640.png"/><Relationship Id="rId10" Type="http://schemas.openxmlformats.org/officeDocument/2006/relationships/image" Target="../media/image590.png"/><Relationship Id="rId4" Type="http://schemas.openxmlformats.org/officeDocument/2006/relationships/image" Target="../media/image530.png"/><Relationship Id="rId9" Type="http://schemas.openxmlformats.org/officeDocument/2006/relationships/image" Target="../media/image580.png"/><Relationship Id="rId14" Type="http://schemas.openxmlformats.org/officeDocument/2006/relationships/image" Target="../media/image630.png"/></Relationships>
</file>

<file path=ppt/slides/_rels/slide37.xml.rels><?xml version="1.0" encoding="UTF-8" standalone="yes"?>
<Relationships xmlns="http://schemas.openxmlformats.org/package/2006/relationships"><Relationship Id="rId8" Type="http://schemas.openxmlformats.org/officeDocument/2006/relationships/tags" Target="../tags/tag43.xml"/><Relationship Id="rId13" Type="http://schemas.openxmlformats.org/officeDocument/2006/relationships/tags" Target="../tags/tag48.xml"/><Relationship Id="rId18" Type="http://schemas.openxmlformats.org/officeDocument/2006/relationships/slideLayout" Target="../slideLayouts/slideLayout7.xml"/><Relationship Id="rId26" Type="http://schemas.openxmlformats.org/officeDocument/2006/relationships/image" Target="../media/image71.tmp"/><Relationship Id="rId3" Type="http://schemas.openxmlformats.org/officeDocument/2006/relationships/tags" Target="../tags/tag38.xml"/><Relationship Id="rId21" Type="http://schemas.openxmlformats.org/officeDocument/2006/relationships/tags" Target="../tags/tag400.xml"/><Relationship Id="rId7" Type="http://schemas.openxmlformats.org/officeDocument/2006/relationships/tags" Target="../tags/tag42.xml"/><Relationship Id="rId12" Type="http://schemas.openxmlformats.org/officeDocument/2006/relationships/tags" Target="../tags/tag47.xml"/><Relationship Id="rId17" Type="http://schemas.openxmlformats.org/officeDocument/2006/relationships/tags" Target="../tags/tag52.xml"/><Relationship Id="rId25" Type="http://schemas.openxmlformats.org/officeDocument/2006/relationships/image" Target="../media/image75.png"/><Relationship Id="rId2" Type="http://schemas.openxmlformats.org/officeDocument/2006/relationships/tags" Target="../tags/tag37.xml"/><Relationship Id="rId16" Type="http://schemas.openxmlformats.org/officeDocument/2006/relationships/tags" Target="../tags/tag51.xml"/><Relationship Id="rId20" Type="http://schemas.openxmlformats.org/officeDocument/2006/relationships/image" Target="../media/image680.png"/><Relationship Id="rId1" Type="http://schemas.openxmlformats.org/officeDocument/2006/relationships/tags" Target="../tags/tag35.xml"/><Relationship Id="rId6" Type="http://schemas.openxmlformats.org/officeDocument/2006/relationships/tags" Target="../tags/tag41.xml"/><Relationship Id="rId11" Type="http://schemas.openxmlformats.org/officeDocument/2006/relationships/tags" Target="../tags/tag46.xml"/><Relationship Id="rId24" Type="http://schemas.openxmlformats.org/officeDocument/2006/relationships/image" Target="../media/image700.png"/><Relationship Id="rId5" Type="http://schemas.openxmlformats.org/officeDocument/2006/relationships/tags" Target="../tags/tag40.xml"/><Relationship Id="rId15" Type="http://schemas.openxmlformats.org/officeDocument/2006/relationships/tags" Target="../tags/tag50.xml"/><Relationship Id="rId23" Type="http://schemas.openxmlformats.org/officeDocument/2006/relationships/tags" Target="../tags/tag410.xml"/><Relationship Id="rId10" Type="http://schemas.openxmlformats.org/officeDocument/2006/relationships/tags" Target="../tags/tag45.xml"/><Relationship Id="rId19" Type="http://schemas.openxmlformats.org/officeDocument/2006/relationships/tags" Target="../tags/tag390.xml"/><Relationship Id="rId4" Type="http://schemas.openxmlformats.org/officeDocument/2006/relationships/tags" Target="../tags/tag39.xml"/><Relationship Id="rId9" Type="http://schemas.openxmlformats.org/officeDocument/2006/relationships/tags" Target="../tags/tag44.xml"/><Relationship Id="rId14" Type="http://schemas.openxmlformats.org/officeDocument/2006/relationships/tags" Target="../tags/tag49.xml"/><Relationship Id="rId22" Type="http://schemas.openxmlformats.org/officeDocument/2006/relationships/image" Target="../media/image690.png"/></Relationships>
</file>

<file path=ppt/slides/_rels/slide38.xml.rels><?xml version="1.0" encoding="UTF-8" standalone="yes"?>
<Relationships xmlns="http://schemas.openxmlformats.org/package/2006/relationships"><Relationship Id="rId8" Type="http://schemas.openxmlformats.org/officeDocument/2006/relationships/image" Target="../media/image780.png"/><Relationship Id="rId3" Type="http://schemas.openxmlformats.org/officeDocument/2006/relationships/image" Target="../media/image730.png"/><Relationship Id="rId7" Type="http://schemas.openxmlformats.org/officeDocument/2006/relationships/image" Target="../media/image770.png"/><Relationship Id="rId2" Type="http://schemas.openxmlformats.org/officeDocument/2006/relationships/image" Target="../media/image720.png"/><Relationship Id="rId1" Type="http://schemas.openxmlformats.org/officeDocument/2006/relationships/slideLayout" Target="../slideLayouts/slideLayout7.xml"/><Relationship Id="rId6" Type="http://schemas.openxmlformats.org/officeDocument/2006/relationships/image" Target="../media/image760.png"/><Relationship Id="rId11" Type="http://schemas.openxmlformats.org/officeDocument/2006/relationships/image" Target="../media/image800.png"/><Relationship Id="rId5" Type="http://schemas.openxmlformats.org/officeDocument/2006/relationships/image" Target="../media/image750.png"/><Relationship Id="rId4" Type="http://schemas.openxmlformats.org/officeDocument/2006/relationships/image" Target="../media/image740.png"/><Relationship Id="rId9" Type="http://schemas.openxmlformats.org/officeDocument/2006/relationships/image" Target="../media/image790.png"/></Relationships>
</file>

<file path=ppt/slides/_rels/slide39.xml.rels><?xml version="1.0" encoding="UTF-8" standalone="yes"?>
<Relationships xmlns="http://schemas.openxmlformats.org/package/2006/relationships"><Relationship Id="rId8" Type="http://schemas.openxmlformats.org/officeDocument/2006/relationships/tags" Target="../tags/tag60.xml"/><Relationship Id="rId13" Type="http://schemas.openxmlformats.org/officeDocument/2006/relationships/tags" Target="../tags/tag65.xml"/><Relationship Id="rId18" Type="http://schemas.openxmlformats.org/officeDocument/2006/relationships/slideLayout" Target="../slideLayouts/slideLayout7.xml"/><Relationship Id="rId26" Type="http://schemas.openxmlformats.org/officeDocument/2006/relationships/image" Target="../media/image840.png"/><Relationship Id="rId3" Type="http://schemas.openxmlformats.org/officeDocument/2006/relationships/tags" Target="../tags/tag55.xml"/><Relationship Id="rId21" Type="http://schemas.openxmlformats.org/officeDocument/2006/relationships/tags" Target="../tags/tag550.xml"/><Relationship Id="rId7" Type="http://schemas.openxmlformats.org/officeDocument/2006/relationships/tags" Target="../tags/tag59.xml"/><Relationship Id="rId12" Type="http://schemas.openxmlformats.org/officeDocument/2006/relationships/tags" Target="../tags/tag64.xml"/><Relationship Id="rId17" Type="http://schemas.openxmlformats.org/officeDocument/2006/relationships/tags" Target="../tags/tag69.xml"/><Relationship Id="rId25" Type="http://schemas.openxmlformats.org/officeDocument/2006/relationships/tags" Target="../tags/tag570.xml"/><Relationship Id="rId2" Type="http://schemas.openxmlformats.org/officeDocument/2006/relationships/tags" Target="../tags/tag54.xml"/><Relationship Id="rId16" Type="http://schemas.openxmlformats.org/officeDocument/2006/relationships/tags" Target="../tags/tag68.xml"/><Relationship Id="rId20" Type="http://schemas.openxmlformats.org/officeDocument/2006/relationships/image" Target="../media/image810.png"/><Relationship Id="rId29" Type="http://schemas.openxmlformats.org/officeDocument/2006/relationships/image" Target="../media/image71.tmp"/><Relationship Id="rId1" Type="http://schemas.openxmlformats.org/officeDocument/2006/relationships/tags" Target="../tags/tag53.xml"/><Relationship Id="rId6" Type="http://schemas.openxmlformats.org/officeDocument/2006/relationships/tags" Target="../tags/tag58.xml"/><Relationship Id="rId11" Type="http://schemas.openxmlformats.org/officeDocument/2006/relationships/tags" Target="../tags/tag63.xml"/><Relationship Id="rId24" Type="http://schemas.openxmlformats.org/officeDocument/2006/relationships/image" Target="../media/image830.png"/><Relationship Id="rId5" Type="http://schemas.openxmlformats.org/officeDocument/2006/relationships/tags" Target="../tags/tag57.xml"/><Relationship Id="rId15" Type="http://schemas.openxmlformats.org/officeDocument/2006/relationships/tags" Target="../tags/tag67.xml"/><Relationship Id="rId23" Type="http://schemas.openxmlformats.org/officeDocument/2006/relationships/tags" Target="../tags/tag560.xml"/><Relationship Id="rId28" Type="http://schemas.openxmlformats.org/officeDocument/2006/relationships/image" Target="../media/image850.png"/><Relationship Id="rId10" Type="http://schemas.openxmlformats.org/officeDocument/2006/relationships/tags" Target="../tags/tag62.xml"/><Relationship Id="rId19" Type="http://schemas.openxmlformats.org/officeDocument/2006/relationships/tags" Target="../tags/tag540.xml"/><Relationship Id="rId4" Type="http://schemas.openxmlformats.org/officeDocument/2006/relationships/tags" Target="../tags/tag56.xml"/><Relationship Id="rId9" Type="http://schemas.openxmlformats.org/officeDocument/2006/relationships/tags" Target="../tags/tag61.xml"/><Relationship Id="rId14" Type="http://schemas.openxmlformats.org/officeDocument/2006/relationships/tags" Target="../tags/tag66.xml"/><Relationship Id="rId22" Type="http://schemas.openxmlformats.org/officeDocument/2006/relationships/image" Target="../media/image820.png"/><Relationship Id="rId27" Type="http://schemas.openxmlformats.org/officeDocument/2006/relationships/tags" Target="../tags/tag580.xml"/></Relationships>
</file>

<file path=ppt/slides/_rels/slide40.xml.rels><?xml version="1.0" encoding="UTF-8" standalone="yes"?>
<Relationships xmlns="http://schemas.openxmlformats.org/package/2006/relationships"><Relationship Id="rId2" Type="http://schemas.openxmlformats.org/officeDocument/2006/relationships/image" Target="../media/image86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870.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tags" Target="../tags/tag87.xml"/><Relationship Id="rId26" Type="http://schemas.openxmlformats.org/officeDocument/2006/relationships/image" Target="../media/image841.png"/><Relationship Id="rId3" Type="http://schemas.openxmlformats.org/officeDocument/2006/relationships/tags" Target="../tags/tag72.xml"/><Relationship Id="rId21" Type="http://schemas.openxmlformats.org/officeDocument/2006/relationships/image" Target="../media/image710.png"/><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5" Type="http://schemas.openxmlformats.org/officeDocument/2006/relationships/tags" Target="../tags/tag790.xml"/><Relationship Id="rId2" Type="http://schemas.openxmlformats.org/officeDocument/2006/relationships/tags" Target="../tags/tag71.xml"/><Relationship Id="rId16" Type="http://schemas.openxmlformats.org/officeDocument/2006/relationships/tags" Target="../tags/tag85.xml"/><Relationship Id="rId20" Type="http://schemas.openxmlformats.org/officeDocument/2006/relationships/tags" Target="../tags/tag720.xml"/><Relationship Id="rId29" Type="http://schemas.openxmlformats.org/officeDocument/2006/relationships/tags" Target="../tags/tag810.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24" Type="http://schemas.openxmlformats.org/officeDocument/2006/relationships/image" Target="../media/image95.png"/><Relationship Id="rId5" Type="http://schemas.openxmlformats.org/officeDocument/2006/relationships/tags" Target="../tags/tag74.xml"/><Relationship Id="rId15" Type="http://schemas.openxmlformats.org/officeDocument/2006/relationships/tags" Target="../tags/tag84.xml"/><Relationship Id="rId23" Type="http://schemas.openxmlformats.org/officeDocument/2006/relationships/image" Target="../media/image94.png"/><Relationship Id="rId28" Type="http://schemas.openxmlformats.org/officeDocument/2006/relationships/image" Target="../media/image880.png"/><Relationship Id="rId10" Type="http://schemas.openxmlformats.org/officeDocument/2006/relationships/tags" Target="../tags/tag79.xml"/><Relationship Id="rId19" Type="http://schemas.openxmlformats.org/officeDocument/2006/relationships/slideLayout" Target="../slideLayouts/slideLayout7.xml"/><Relationship Id="rId31" Type="http://schemas.openxmlformats.org/officeDocument/2006/relationships/image" Target="../media/image71.tmp"/><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 Id="rId22" Type="http://schemas.openxmlformats.org/officeDocument/2006/relationships/image" Target="../media/image93.png"/><Relationship Id="rId27" Type="http://schemas.openxmlformats.org/officeDocument/2006/relationships/tags" Target="../tags/tag800.xml"/><Relationship Id="rId30" Type="http://schemas.openxmlformats.org/officeDocument/2006/relationships/image" Target="../media/image890.png"/></Relationships>
</file>

<file path=ppt/slides/_rels/slide43.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6.png"/><Relationship Id="rId1" Type="http://schemas.openxmlformats.org/officeDocument/2006/relationships/slideLayout" Target="../slideLayouts/slideLayout7.xml"/><Relationship Id="rId4" Type="http://schemas.openxmlformats.org/officeDocument/2006/relationships/image" Target="../media/image98.png"/></Relationships>
</file>

<file path=ppt/slides/_rels/slide4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6.png"/><Relationship Id="rId1" Type="http://schemas.openxmlformats.org/officeDocument/2006/relationships/slideLayout" Target="../slideLayouts/slideLayout7.xml"/><Relationship Id="rId4" Type="http://schemas.openxmlformats.org/officeDocument/2006/relationships/image" Target="../media/image9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6" name="Text Box 13">
            <a:extLst>
              <a:ext uri="{FF2B5EF4-FFF2-40B4-BE49-F238E27FC236}">
                <a16:creationId xmlns:a16="http://schemas.microsoft.com/office/drawing/2014/main" id="{B1D77FAA-C6EC-4AC5-A3F5-4CC64C94B2C7}"/>
              </a:ext>
            </a:extLst>
          </p:cNvPr>
          <p:cNvSpPr txBox="1">
            <a:spLocks noChangeArrowheads="1"/>
          </p:cNvSpPr>
          <p:nvPr/>
        </p:nvSpPr>
        <p:spPr bwMode="auto">
          <a:xfrm>
            <a:off x="2170115" y="263316"/>
            <a:ext cx="7652444"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第</a:t>
            </a:r>
            <a:r>
              <a:rPr lang="en-US" altLang="zh-CN"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12</a:t>
            </a:r>
            <a:r>
              <a:rPr lang="zh-CN" altLang="en-US" sz="3600" b="1" dirty="0">
                <a:solidFill>
                  <a:srgbClr val="0066FF"/>
                </a:solidFill>
                <a:latin typeface="Arial" panose="020B0604020202020204" pitchFamily="34" charset="0"/>
                <a:ea typeface="华文楷体" panose="02010600040101010101" pitchFamily="2" charset="-122"/>
                <a:cs typeface="Arial" panose="020B0604020202020204" pitchFamily="34" charset="0"/>
              </a:rPr>
              <a:t>章 静电场 </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a:t>
            </a:r>
            <a:r>
              <a:rPr lang="en-US" altLang="zh-CN"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 Electrostatic  field</a:t>
            </a:r>
            <a:r>
              <a:rPr lang="zh-CN" altLang="en-US" sz="3200" b="1" dirty="0">
                <a:solidFill>
                  <a:srgbClr val="0066FF"/>
                </a:solidFill>
                <a:latin typeface="Arial" panose="020B0604020202020204" pitchFamily="34" charset="0"/>
                <a:ea typeface="华文楷体" panose="02010600040101010101" pitchFamily="2" charset="-122"/>
                <a:cs typeface="Arial" panose="020B0604020202020204" pitchFamily="34" charset="0"/>
              </a:rPr>
              <a:t>）</a:t>
            </a:r>
          </a:p>
        </p:txBody>
      </p:sp>
      <p:sp>
        <p:nvSpPr>
          <p:cNvPr id="4112" name="Rectangle 16">
            <a:hlinkClick r:id="" action="ppaction://noaction"/>
            <a:extLst>
              <a:ext uri="{FF2B5EF4-FFF2-40B4-BE49-F238E27FC236}">
                <a16:creationId xmlns:a16="http://schemas.microsoft.com/office/drawing/2014/main" id="{E4498F14-2B16-44E2-8121-1F90B80155C0}"/>
              </a:ext>
            </a:extLst>
          </p:cNvPr>
          <p:cNvSpPr>
            <a:spLocks noChangeArrowheads="1"/>
          </p:cNvSpPr>
          <p:nvPr/>
        </p:nvSpPr>
        <p:spPr bwMode="auto">
          <a:xfrm>
            <a:off x="1756229" y="1467533"/>
            <a:ext cx="396240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12.1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电荷</a:t>
            </a:r>
          </a:p>
        </p:txBody>
      </p:sp>
      <p:sp>
        <p:nvSpPr>
          <p:cNvPr id="4114" name="Text Box 18">
            <a:hlinkClick r:id="" action="ppaction://noaction"/>
            <a:extLst>
              <a:ext uri="{FF2B5EF4-FFF2-40B4-BE49-F238E27FC236}">
                <a16:creationId xmlns:a16="http://schemas.microsoft.com/office/drawing/2014/main" id="{6FD6935D-21DB-4E0A-A113-0012E404D3AE}"/>
              </a:ext>
            </a:extLst>
          </p:cNvPr>
          <p:cNvSpPr txBox="1">
            <a:spLocks noChangeArrowheads="1"/>
          </p:cNvSpPr>
          <p:nvPr/>
        </p:nvSpPr>
        <p:spPr bwMode="auto">
          <a:xfrm>
            <a:off x="1756229" y="2762933"/>
            <a:ext cx="41148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12.3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电场 电场强度</a:t>
            </a:r>
          </a:p>
        </p:txBody>
      </p:sp>
      <p:sp>
        <p:nvSpPr>
          <p:cNvPr id="4115" name="Text Box 19">
            <a:hlinkClick r:id="" action="ppaction://noaction"/>
            <a:extLst>
              <a:ext uri="{FF2B5EF4-FFF2-40B4-BE49-F238E27FC236}">
                <a16:creationId xmlns:a16="http://schemas.microsoft.com/office/drawing/2014/main" id="{2E74E40B-D4E9-420C-843A-63B8B00C8FD2}"/>
              </a:ext>
            </a:extLst>
          </p:cNvPr>
          <p:cNvSpPr txBox="1">
            <a:spLocks noChangeArrowheads="1"/>
          </p:cNvSpPr>
          <p:nvPr/>
        </p:nvSpPr>
        <p:spPr bwMode="auto">
          <a:xfrm>
            <a:off x="1746705" y="3412219"/>
            <a:ext cx="5312673"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non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12.4</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  点电荷电场及叠加原理</a:t>
            </a:r>
          </a:p>
        </p:txBody>
      </p:sp>
      <p:sp>
        <p:nvSpPr>
          <p:cNvPr id="4116" name="Rectangle 20">
            <a:hlinkClick r:id="" action="ppaction://noaction"/>
            <a:extLst>
              <a:ext uri="{FF2B5EF4-FFF2-40B4-BE49-F238E27FC236}">
                <a16:creationId xmlns:a16="http://schemas.microsoft.com/office/drawing/2014/main" id="{163FEB06-B244-41DC-9745-09D2B510C55A}"/>
              </a:ext>
            </a:extLst>
          </p:cNvPr>
          <p:cNvSpPr>
            <a:spLocks noChangeArrowheads="1"/>
          </p:cNvSpPr>
          <p:nvPr/>
        </p:nvSpPr>
        <p:spPr bwMode="auto">
          <a:xfrm>
            <a:off x="1756229" y="4131358"/>
            <a:ext cx="7206342" cy="206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12.5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电场线和电通量</a:t>
            </a:r>
            <a:endPar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endParaRP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12.6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高斯定理</a:t>
            </a:r>
            <a:endPar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endParaRPr>
          </a:p>
          <a:p>
            <a:pPr>
              <a:spcBef>
                <a:spcPct val="50000"/>
              </a:spcBef>
            </a:pPr>
            <a:r>
              <a:rPr lang="en-US" altLang="zh-CN" sz="3200" dirty="0">
                <a:solidFill>
                  <a:srgbClr val="0066FF"/>
                </a:solidFill>
                <a:latin typeface="Arial" panose="020B0604020202020204" pitchFamily="34" charset="0"/>
                <a:ea typeface="华文楷体" panose="02010600040101010101" pitchFamily="2" charset="-122"/>
                <a:cs typeface="Arial" panose="020B0604020202020204" pitchFamily="34" charset="0"/>
              </a:rPr>
              <a:t>12.7  </a:t>
            </a:r>
            <a:r>
              <a:rPr lang="zh-CN" altLang="en-US" sz="3200" dirty="0">
                <a:solidFill>
                  <a:srgbClr val="0066FF"/>
                </a:solidFill>
                <a:latin typeface="Arial" panose="020B0604020202020204" pitchFamily="34" charset="0"/>
                <a:ea typeface="华文楷体" panose="02010600040101010101" pitchFamily="2" charset="-122"/>
                <a:cs typeface="Arial" panose="020B0604020202020204" pitchFamily="34" charset="0"/>
              </a:rPr>
              <a:t>利用高斯定理求静电场的分布</a:t>
            </a:r>
          </a:p>
        </p:txBody>
      </p:sp>
      <p:sp>
        <p:nvSpPr>
          <p:cNvPr id="9" name="Rectangle 16">
            <a:hlinkClick r:id="" action="ppaction://noaction"/>
            <a:extLst>
              <a:ext uri="{FF2B5EF4-FFF2-40B4-BE49-F238E27FC236}">
                <a16:creationId xmlns:a16="http://schemas.microsoft.com/office/drawing/2014/main" id="{33F5298E-54F0-4E10-A769-B55A508ED7D8}"/>
              </a:ext>
            </a:extLst>
          </p:cNvPr>
          <p:cNvSpPr>
            <a:spLocks noChangeArrowheads="1"/>
          </p:cNvSpPr>
          <p:nvPr/>
        </p:nvSpPr>
        <p:spPr bwMode="auto">
          <a:xfrm>
            <a:off x="1756230" y="2115233"/>
            <a:ext cx="3097213"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latin typeface="Arial" panose="020B0604020202020204" pitchFamily="34" charset="0"/>
                <a:ea typeface="华文楷体" panose="02010600040101010101" pitchFamily="2" charset="-122"/>
                <a:cs typeface="Arial" panose="020B0604020202020204" pitchFamily="34" charset="0"/>
              </a:rPr>
              <a:t>12.2  </a:t>
            </a:r>
            <a:r>
              <a:rPr lang="zh-CN" altLang="en-US" sz="3200" dirty="0">
                <a:solidFill>
                  <a:schemeClr val="tx1"/>
                </a:solidFill>
                <a:latin typeface="Arial" panose="020B0604020202020204" pitchFamily="34" charset="0"/>
                <a:ea typeface="华文楷体" panose="02010600040101010101" pitchFamily="2" charset="-122"/>
                <a:cs typeface="Arial" panose="020B0604020202020204" pitchFamily="34" charset="0"/>
              </a:rPr>
              <a:t>库仑定律</a:t>
            </a:r>
          </a:p>
        </p:txBody>
      </p:sp>
      <p:sp>
        <p:nvSpPr>
          <p:cNvPr id="11" name="矩形 10">
            <a:extLst>
              <a:ext uri="{FF2B5EF4-FFF2-40B4-BE49-F238E27FC236}">
                <a16:creationId xmlns:a16="http://schemas.microsoft.com/office/drawing/2014/main" id="{BBDB04A1-0ED6-47DB-AB21-B6B2EFE1D30C}"/>
              </a:ext>
            </a:extLst>
          </p:cNvPr>
          <p:cNvSpPr/>
          <p:nvPr/>
        </p:nvSpPr>
        <p:spPr>
          <a:xfrm>
            <a:off x="58049" y="974966"/>
            <a:ext cx="12075902" cy="60442"/>
          </a:xfrm>
          <a:prstGeom prst="rect">
            <a:avLst/>
          </a:prstGeom>
          <a:gradFill flip="none" rotWithShape="1">
            <a:gsLst>
              <a:gs pos="0">
                <a:schemeClr val="bg1">
                  <a:lumMod val="65000"/>
                </a:schemeClr>
              </a:gs>
              <a:gs pos="0">
                <a:srgbClr val="98D109"/>
              </a:gs>
              <a:gs pos="52000">
                <a:srgbClr val="498D3B"/>
              </a:gs>
              <a:gs pos="97000">
                <a:srgbClr val="005825"/>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189">
              <a:defRPr/>
            </a:pPr>
            <a:endParaRPr lang="zh-CN" altLang="en-US">
              <a:solidFill>
                <a:prstClr val="white"/>
              </a:solidFill>
              <a:latin typeface="Arial" panose="020B0604020202020204" pitchFamily="34" charset="0"/>
              <a:ea typeface="华文楷体" panose="02010600040101010101" pitchFamily="2" charset="-122"/>
              <a:cs typeface="Arial" panose="020B0604020202020204" pitchFamily="34" charset="0"/>
            </a:endParaRPr>
          </a:p>
        </p:txBody>
      </p:sp>
      <p:pic>
        <p:nvPicPr>
          <p:cNvPr id="2" name="Picture 2">
            <a:extLst>
              <a:ext uri="{FF2B5EF4-FFF2-40B4-BE49-F238E27FC236}">
                <a16:creationId xmlns:a16="http://schemas.microsoft.com/office/drawing/2014/main" id="{CAA48BD2-257E-17F5-2DD6-9A2FC459B5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8119" y="1928495"/>
            <a:ext cx="4808365" cy="29674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241829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4CFCE091-1559-46D9-BC6E-F92AA00E34E1}"/>
                  </a:ext>
                </a:extLst>
              </p:cNvPr>
              <p:cNvSpPr txBox="1"/>
              <p:nvPr/>
            </p:nvSpPr>
            <p:spPr>
              <a:xfrm>
                <a:off x="1286402" y="1456032"/>
                <a:ext cx="10496396" cy="4855625"/>
              </a:xfrm>
              <a:prstGeom prst="rect">
                <a:avLst/>
              </a:prstGeom>
              <a:noFill/>
            </p:spPr>
            <p:txBody>
              <a:bodyPr wrap="square" rtlCol="0">
                <a:spAutoFit/>
              </a:bodyPr>
              <a:lstStyle/>
              <a:p>
                <a:pPr marL="285750" indent="-285750">
                  <a:lnSpc>
                    <a:spcPct val="150000"/>
                  </a:lnSpc>
                  <a:buFontTx/>
                  <a:buChar char="-"/>
                </a:pPr>
                <a:r>
                  <a:rPr lang="zh-CN" altLang="en-US" sz="3600" dirty="0">
                    <a:ea typeface="华文楷体" panose="02010600040101010101" pitchFamily="2" charset="-122"/>
                    <a:cs typeface="Times New Roman" panose="02020603050405020304" pitchFamily="18" charset="0"/>
                  </a:rPr>
                  <a:t>电荷量子化 </a:t>
                </a:r>
                <a14:m>
                  <m:oMath xmlns:m="http://schemas.openxmlformats.org/officeDocument/2006/math">
                    <m:r>
                      <a:rPr lang="zh-CN" altLang="zh-CN" sz="3600" b="0" i="1" dirty="0">
                        <a:latin typeface="Cambria Math" panose="02040503050406030204" pitchFamily="18" charset="0"/>
                        <a:ea typeface="华文新魏" panose="02010800040101010101" pitchFamily="2" charset="-122"/>
                      </a:rPr>
                      <m:t>𝑒</m:t>
                    </m:r>
                    <m:r>
                      <a:rPr lang="zh-CN" altLang="zh-CN" sz="3600" b="0" i="1" dirty="0">
                        <a:latin typeface="Cambria Math" panose="02040503050406030204" pitchFamily="18" charset="0"/>
                        <a:ea typeface="华文新魏" panose="02010800040101010101" pitchFamily="2" charset="-122"/>
                      </a:rPr>
                      <m:t>=1.6×</m:t>
                    </m:r>
                    <m:sSup>
                      <m:sSupPr>
                        <m:ctrlPr>
                          <a:rPr lang="en-US" altLang="zh-CN" sz="3600" i="1" dirty="0">
                            <a:latin typeface="Cambria Math" panose="02040503050406030204" pitchFamily="18" charset="0"/>
                            <a:ea typeface="华文新魏" panose="02010800040101010101" pitchFamily="2" charset="-122"/>
                            <a:sym typeface="Symbol" panose="05050102010706020507" pitchFamily="18" charset="2"/>
                          </a:rPr>
                        </m:ctrlPr>
                      </m:sSupPr>
                      <m:e>
                        <m:r>
                          <a:rPr lang="en-US" altLang="zh-CN" sz="3600" b="0" i="1" dirty="0">
                            <a:latin typeface="Cambria Math" panose="02040503050406030204" pitchFamily="18" charset="0"/>
                            <a:ea typeface="华文新魏" panose="02010800040101010101" pitchFamily="2" charset="-122"/>
                            <a:sym typeface="Symbol" panose="05050102010706020507" pitchFamily="18" charset="2"/>
                          </a:rPr>
                          <m:t>10</m:t>
                        </m:r>
                      </m:e>
                      <m:sup>
                        <m:r>
                          <a:rPr lang="en-US" altLang="zh-CN" sz="3600" b="0" i="1" dirty="0">
                            <a:latin typeface="Cambria Math" panose="02040503050406030204" pitchFamily="18" charset="0"/>
                            <a:ea typeface="华文新魏" panose="02010800040101010101" pitchFamily="2" charset="-122"/>
                            <a:sym typeface="Symbol" panose="05050102010706020507" pitchFamily="18" charset="2"/>
                          </a:rPr>
                          <m:t>−19</m:t>
                        </m:r>
                      </m:sup>
                    </m:sSup>
                    <m:r>
                      <a:rPr lang="en-US" altLang="zh-CN" sz="3600" b="0" i="1" dirty="0">
                        <a:latin typeface="Cambria Math" panose="02040503050406030204" pitchFamily="18" charset="0"/>
                        <a:ea typeface="华文新魏" panose="02010800040101010101" pitchFamily="2" charset="-122"/>
                        <a:sym typeface="Symbol" panose="05050102010706020507" pitchFamily="18" charset="2"/>
                      </a:rPr>
                      <m:t> </m:t>
                    </m:r>
                    <m:r>
                      <m:rPr>
                        <m:sty m:val="p"/>
                      </m:rPr>
                      <a:rPr lang="en-US" altLang="zh-CN" sz="3600" b="0" i="1" dirty="0">
                        <a:latin typeface="Cambria Math" panose="02040503050406030204" pitchFamily="18" charset="0"/>
                        <a:ea typeface="华文新魏" panose="02010800040101010101" pitchFamily="2" charset="-122"/>
                        <a:sym typeface="Symbol" panose="05050102010706020507" pitchFamily="18" charset="2"/>
                      </a:rPr>
                      <m:t>C</m:t>
                    </m:r>
                  </m:oMath>
                </a14:m>
                <a:endParaRPr lang="en-US" altLang="zh-CN" sz="3600" baseline="30000" dirty="0">
                  <a:ea typeface="华文楷体" panose="02010600040101010101" pitchFamily="2" charset="-122"/>
                  <a:cs typeface="Times New Roman" panose="02020603050405020304" pitchFamily="18" charset="0"/>
                </a:endParaRPr>
              </a:p>
              <a:p>
                <a:pPr marL="285750" indent="-285750">
                  <a:lnSpc>
                    <a:spcPct val="150000"/>
                  </a:lnSpc>
                  <a:buFontTx/>
                  <a:buChar char="-"/>
                </a:pPr>
                <a:r>
                  <a:rPr lang="zh-CN" altLang="en-US" sz="3600" dirty="0">
                    <a:ea typeface="华文楷体" panose="02010600040101010101" pitchFamily="2" charset="-122"/>
                    <a:cs typeface="Times New Roman" panose="02020603050405020304" pitchFamily="18" charset="0"/>
                  </a:rPr>
                  <a:t>正电荷、负电荷</a:t>
                </a:r>
                <a:endParaRPr lang="en-US" altLang="zh-CN" sz="3600" dirty="0">
                  <a:ea typeface="华文楷体" panose="02010600040101010101" pitchFamily="2" charset="-122"/>
                  <a:cs typeface="Times New Roman" panose="02020603050405020304" pitchFamily="18" charset="0"/>
                </a:endParaRPr>
              </a:p>
              <a:p>
                <a:pPr marL="285750" indent="-285750">
                  <a:buFontTx/>
                  <a:buChar char="-"/>
                </a:pPr>
                <a:r>
                  <a:rPr lang="zh-CN" altLang="en-US" sz="3600" dirty="0">
                    <a:ea typeface="华文楷体" panose="02010600040101010101" pitchFamily="2" charset="-122"/>
                    <a:cs typeface="Times New Roman" panose="02020603050405020304" pitchFamily="18" charset="0"/>
                  </a:rPr>
                  <a:t>孤立系统电荷守恒</a:t>
                </a:r>
                <a:r>
                  <a:rPr lang="en-US" altLang="zh-CN" sz="3600" dirty="0">
                    <a:ea typeface="华文楷体" panose="02010600040101010101" pitchFamily="2" charset="-122"/>
                    <a:cs typeface="Times New Roman" panose="02020603050405020304" pitchFamily="18" charset="0"/>
                  </a:rPr>
                  <a:t>: </a:t>
                </a:r>
                <a:br>
                  <a:rPr lang="en-US" altLang="zh-CN" sz="3600" dirty="0">
                    <a:ea typeface="华文楷体" panose="02010600040101010101" pitchFamily="2" charset="-122"/>
                    <a:cs typeface="Times New Roman" panose="02020603050405020304" pitchFamily="18" charset="0"/>
                  </a:rPr>
                </a:br>
                <a:r>
                  <a:rPr lang="zh-CN" altLang="en-US" sz="3200" dirty="0">
                    <a:ea typeface="华文楷体" panose="02010600040101010101" pitchFamily="2" charset="-122"/>
                    <a:cs typeface="Times New Roman" panose="02020603050405020304" pitchFamily="18" charset="0"/>
                  </a:rPr>
                  <a:t>在一个与外界没有电荷交换的系统内，无论经过怎样的物理过程，系统正、负电荷量的代数和总是保持不变</a:t>
                </a:r>
                <a:endParaRPr lang="en-US" altLang="zh-CN" sz="3200" dirty="0">
                  <a:ea typeface="华文楷体" panose="02010600040101010101" pitchFamily="2" charset="-122"/>
                  <a:cs typeface="Times New Roman" panose="02020603050405020304" pitchFamily="18" charset="0"/>
                </a:endParaRPr>
              </a:p>
              <a:p>
                <a:pPr marL="285750" indent="-285750">
                  <a:lnSpc>
                    <a:spcPct val="150000"/>
                  </a:lnSpc>
                  <a:buFontTx/>
                  <a:buChar char="-"/>
                </a:pPr>
                <a:r>
                  <a:rPr lang="zh-CN" altLang="en-US" sz="3600" dirty="0">
                    <a:ea typeface="华文楷体" panose="02010600040101010101" pitchFamily="2" charset="-122"/>
                    <a:cs typeface="Times New Roman" panose="02020603050405020304" pitchFamily="18" charset="0"/>
                  </a:rPr>
                  <a:t>相对论不变性</a:t>
                </a:r>
                <a:r>
                  <a:rPr lang="en-US" altLang="zh-CN" sz="3600" dirty="0">
                    <a:ea typeface="华文楷体" panose="02010600040101010101" pitchFamily="2" charset="-122"/>
                    <a:cs typeface="Times New Roman" panose="02020603050405020304" pitchFamily="18" charset="0"/>
                  </a:rPr>
                  <a:t>:</a:t>
                </a:r>
                <a:r>
                  <a:rPr lang="zh-CN" altLang="en-US" sz="3600" dirty="0"/>
                  <a:t> </a:t>
                </a:r>
                <a:r>
                  <a:rPr lang="zh-CN" altLang="en-US" sz="3200" dirty="0"/>
                  <a:t>电荷的电量与其运动状态无关</a:t>
                </a:r>
              </a:p>
              <a:p>
                <a:pPr>
                  <a:lnSpc>
                    <a:spcPct val="150000"/>
                  </a:lnSpc>
                </a:pPr>
                <a:endParaRPr lang="en-US" sz="3600" dirty="0"/>
              </a:p>
            </p:txBody>
          </p:sp>
        </mc:Choice>
        <mc:Fallback xmlns="">
          <p:sp>
            <p:nvSpPr>
              <p:cNvPr id="10" name="文本框 9">
                <a:extLst>
                  <a:ext uri="{FF2B5EF4-FFF2-40B4-BE49-F238E27FC236}">
                    <a16:creationId xmlns:a16="http://schemas.microsoft.com/office/drawing/2014/main" id="{4CFCE091-1559-46D9-BC6E-F92AA00E34E1}"/>
                  </a:ext>
                </a:extLst>
              </p:cNvPr>
              <p:cNvSpPr txBox="1">
                <a:spLocks noRot="1" noChangeAspect="1" noMove="1" noResize="1" noEditPoints="1" noAdjustHandles="1" noChangeArrowheads="1" noChangeShapeType="1" noTextEdit="1"/>
              </p:cNvSpPr>
              <p:nvPr/>
            </p:nvSpPr>
            <p:spPr>
              <a:xfrm>
                <a:off x="1286402" y="1456032"/>
                <a:ext cx="10496396" cy="4855625"/>
              </a:xfrm>
              <a:prstGeom prst="rect">
                <a:avLst/>
              </a:prstGeom>
              <a:blipFill>
                <a:blip r:embed="rId2"/>
                <a:stretch>
                  <a:fillRect l="-1568"/>
                </a:stretch>
              </a:blipFill>
            </p:spPr>
            <p:txBody>
              <a:bodyPr/>
              <a:lstStyle/>
              <a:p>
                <a:r>
                  <a:rPr lang="zh-CN" altLang="en-US">
                    <a:noFill/>
                  </a:rPr>
                  <a:t> </a:t>
                </a:r>
              </a:p>
            </p:txBody>
          </p:sp>
        </mc:Fallback>
      </mc:AlternateContent>
      <p:sp>
        <p:nvSpPr>
          <p:cNvPr id="18" name="Rectangle 3">
            <a:extLst>
              <a:ext uri="{FF2B5EF4-FFF2-40B4-BE49-F238E27FC236}">
                <a16:creationId xmlns:a16="http://schemas.microsoft.com/office/drawing/2014/main" id="{CF4040CA-DA7E-4EE3-A9A4-D81ED3065DA3}"/>
              </a:ext>
            </a:extLst>
          </p:cNvPr>
          <p:cNvSpPr>
            <a:spLocks noChangeArrowheads="1"/>
          </p:cNvSpPr>
          <p:nvPr/>
        </p:nvSpPr>
        <p:spPr bwMode="auto">
          <a:xfrm>
            <a:off x="246291" y="733882"/>
            <a:ext cx="6819898"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rPr>
              <a:t>电荷</a:t>
            </a:r>
            <a:endParaRPr lang="en-US" altLang="zh-CN" sz="3200" b="1" dirty="0">
              <a:solidFill>
                <a:srgbClr val="0066FF"/>
              </a:solidFill>
              <a:ea typeface="华文楷体" panose="02010600040101010101" pitchFamily="2" charset="-122"/>
              <a:cs typeface="Times New Roman" panose="02020603050405020304" pitchFamily="18" charset="0"/>
            </a:endParaRPr>
          </a:p>
        </p:txBody>
      </p:sp>
    </p:spTree>
    <p:extLst>
      <p:ext uri="{BB962C8B-B14F-4D97-AF65-F5344CB8AC3E}">
        <p14:creationId xmlns:p14="http://schemas.microsoft.com/office/powerpoint/2010/main" val="80246753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736147" y="835233"/>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sp>
        <p:nvSpPr>
          <p:cNvPr id="11" name="矩形 10">
            <a:extLst>
              <a:ext uri="{FF2B5EF4-FFF2-40B4-BE49-F238E27FC236}">
                <a16:creationId xmlns:a16="http://schemas.microsoft.com/office/drawing/2014/main" id="{17C24174-15F1-419C-A44B-B9730C11CF20}"/>
              </a:ext>
            </a:extLst>
          </p:cNvPr>
          <p:cNvSpPr/>
          <p:nvPr/>
        </p:nvSpPr>
        <p:spPr>
          <a:xfrm>
            <a:off x="807818" y="1394294"/>
            <a:ext cx="10844448" cy="1384995"/>
          </a:xfrm>
          <a:prstGeom prst="rect">
            <a:avLst/>
          </a:prstGeom>
        </p:spPr>
        <p:txBody>
          <a:bodyPr wrap="square">
            <a:spAutoFit/>
          </a:bodyPr>
          <a:lstStyle/>
          <a:p>
            <a:r>
              <a:rPr lang="zh-CN" altLang="en-US" sz="2800" dirty="0">
                <a:latin typeface="华文楷体" panose="02010600040101010101" pitchFamily="2" charset="-122"/>
                <a:ea typeface="华文楷体" panose="02010600040101010101" pitchFamily="2" charset="-122"/>
              </a:rPr>
              <a:t>在</a:t>
            </a:r>
            <a:r>
              <a:rPr lang="zh-CN" altLang="en-US" sz="2800" b="1" dirty="0">
                <a:solidFill>
                  <a:srgbClr val="FF0000"/>
                </a:solidFill>
                <a:latin typeface="华文楷体" panose="02010600040101010101" pitchFamily="2" charset="-122"/>
                <a:ea typeface="华文楷体" panose="02010600040101010101" pitchFamily="2" charset="-122"/>
              </a:rPr>
              <a:t>真空</a:t>
            </a:r>
            <a:r>
              <a:rPr lang="zh-CN" altLang="en-US" sz="2800" dirty="0">
                <a:latin typeface="华文楷体" panose="02010600040101010101" pitchFamily="2" charset="-122"/>
                <a:ea typeface="华文楷体" panose="02010600040101010101" pitchFamily="2" charset="-122"/>
              </a:rPr>
              <a:t>中， 两个</a:t>
            </a:r>
            <a:r>
              <a:rPr lang="zh-CN" altLang="en-US" sz="2800" b="1" dirty="0">
                <a:solidFill>
                  <a:srgbClr val="FF0000"/>
                </a:solidFill>
                <a:latin typeface="华文楷体" panose="02010600040101010101" pitchFamily="2" charset="-122"/>
                <a:ea typeface="华文楷体" panose="02010600040101010101" pitchFamily="2" charset="-122"/>
              </a:rPr>
              <a:t>静止</a:t>
            </a:r>
            <a:r>
              <a:rPr lang="zh-CN" altLang="en-US" sz="2800" dirty="0">
                <a:latin typeface="华文楷体" panose="02010600040101010101" pitchFamily="2" charset="-122"/>
                <a:ea typeface="华文楷体" panose="02010600040101010101" pitchFamily="2" charset="-122"/>
              </a:rPr>
              <a:t>点电荷之间的相互作用力大小，与它们的电量的乘积成正比，与它们之间距离的平方成反比；作用力的方向沿着它们的联线，同号电荷相斥，异号电荷相吸。</a:t>
            </a:r>
            <a:endParaRPr lang="en-US" sz="2800" dirty="0">
              <a:latin typeface="华文楷体" panose="02010600040101010101" pitchFamily="2" charset="-122"/>
              <a:ea typeface="华文楷体" panose="02010600040101010101" pitchFamily="2" charset="-122"/>
            </a:endParaRPr>
          </a:p>
        </p:txBody>
      </p:sp>
      <p:pic>
        <p:nvPicPr>
          <p:cNvPr id="12" name="Picture 6" descr="Coulomb&amp;#39;s Law Electric Charge Force Electrostatics, PNG, 1280x1024px,  Coulomb, Area, Blue, Charlesaugustin De Coulomb, Diagram Download">
            <a:extLst>
              <a:ext uri="{FF2B5EF4-FFF2-40B4-BE49-F238E27FC236}">
                <a16:creationId xmlns:a16="http://schemas.microsoft.com/office/drawing/2014/main" id="{09D88AE1-9F9E-4748-9041-AD8E666FCA8A}"/>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23716"/>
          <a:stretch/>
        </p:blipFill>
        <p:spPr bwMode="auto">
          <a:xfrm>
            <a:off x="1046967" y="3013032"/>
            <a:ext cx="5049033" cy="3081283"/>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3">
            <a:extLst>
              <a:ext uri="{FF2B5EF4-FFF2-40B4-BE49-F238E27FC236}">
                <a16:creationId xmlns:a16="http://schemas.microsoft.com/office/drawing/2014/main" id="{7FE9296B-936E-792B-76B0-8B54FE53AA26}"/>
              </a:ext>
            </a:extLst>
          </p:cNvPr>
          <p:cNvSpPr>
            <a:spLocks noChangeArrowheads="1"/>
          </p:cNvSpPr>
          <p:nvPr/>
        </p:nvSpPr>
        <p:spPr bwMode="auto">
          <a:xfrm>
            <a:off x="421008" y="763685"/>
            <a:ext cx="6061437" cy="5854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marL="457200" indent="-457200">
              <a:spcBef>
                <a:spcPct val="50000"/>
              </a:spcBef>
              <a:buFont typeface="Wingdings" panose="05000000000000000000" pitchFamily="2" charset="2"/>
              <a:buChar char="q"/>
            </a:pPr>
            <a:r>
              <a:rPr lang="zh-CN" altLang="en-US" sz="3200" b="1" dirty="0">
                <a:solidFill>
                  <a:srgbClr val="0066FF"/>
                </a:solidFill>
                <a:ea typeface="华文楷体" panose="02010600040101010101" pitchFamily="2" charset="-122"/>
                <a:cs typeface="Times New Roman" panose="02020603050405020304" pitchFamily="18" charset="0"/>
                <a:sym typeface="Monotype Sorts" pitchFamily="2" charset="2"/>
              </a:rPr>
              <a:t>库伦定律</a:t>
            </a:r>
            <a:endParaRPr lang="en-US" altLang="zh-CN" sz="3200" b="1" dirty="0">
              <a:solidFill>
                <a:srgbClr val="0066FF"/>
              </a:solidFill>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9701F659-9DA6-1409-4607-0BB17B10E805}"/>
                  </a:ext>
                </a:extLst>
              </p:cNvPr>
              <p:cNvSpPr/>
              <p:nvPr/>
            </p:nvSpPr>
            <p:spPr>
              <a:xfrm>
                <a:off x="6559932" y="2686034"/>
                <a:ext cx="2986395" cy="97430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i="1" smtClean="0">
                              <a:latin typeface="Cambria Math" panose="02040503050406030204" pitchFamily="18" charset="0"/>
                            </a:rPr>
                          </m:ctrlPr>
                        </m:accPr>
                        <m:e>
                          <m:r>
                            <a:rPr lang="en-US" altLang="zh-CN" sz="2800" i="1">
                              <a:latin typeface="Cambria Math" panose="02040503050406030204" pitchFamily="18" charset="0"/>
                            </a:rPr>
                            <m:t>𝑭</m:t>
                          </m:r>
                        </m:e>
                      </m:acc>
                      <m:r>
                        <a:rPr lang="en-US" altLang="zh-CN" sz="2800" i="1">
                          <a:latin typeface="Cambria Math" panose="02040503050406030204" pitchFamily="18" charset="0"/>
                        </a:rPr>
                        <m:t>=</m:t>
                      </m:r>
                      <m:f>
                        <m:fPr>
                          <m:ctrlPr>
                            <a:rPr lang="en-US" altLang="zh-CN" sz="2800" i="1">
                              <a:latin typeface="Cambria Math" panose="02040503050406030204" pitchFamily="18" charset="0"/>
                            </a:rPr>
                          </m:ctrlPr>
                        </m:fPr>
                        <m:num>
                          <m:r>
                            <a:rPr lang="en-US" altLang="zh-CN" sz="2800" i="1">
                              <a:latin typeface="Cambria Math" panose="02040503050406030204" pitchFamily="18" charset="0"/>
                            </a:rPr>
                            <m:t>𝟏</m:t>
                          </m:r>
                        </m:num>
                        <m:den>
                          <m:r>
                            <a:rPr lang="en-US" altLang="zh-CN" sz="2800" i="1">
                              <a:latin typeface="Cambria Math" panose="02040503050406030204" pitchFamily="18" charset="0"/>
                            </a:rPr>
                            <m:t>𝟒</m:t>
                          </m:r>
                          <m:r>
                            <a:rPr lang="zh-CN" altLang="en-US" sz="2800" i="1">
                              <a:latin typeface="Cambria Math" panose="02040503050406030204" pitchFamily="18" charset="0"/>
                            </a:rPr>
                            <m:t>𝝅</m:t>
                          </m:r>
                          <m:sSub>
                            <m:sSubPr>
                              <m:ctrlPr>
                                <a:rPr lang="en-US" altLang="zh-CN" sz="2800" i="1">
                                  <a:latin typeface="Cambria Math" panose="02040503050406030204" pitchFamily="18" charset="0"/>
                                </a:rPr>
                              </m:ctrlPr>
                            </m:sSubPr>
                            <m:e>
                              <m:r>
                                <a:rPr lang="zh-CN" altLang="en-US" sz="2800" i="1">
                                  <a:latin typeface="Cambria Math" panose="02040503050406030204" pitchFamily="18" charset="0"/>
                                </a:rPr>
                                <m:t>𝜺</m:t>
                              </m:r>
                            </m:e>
                            <m:sub>
                              <m:r>
                                <a:rPr lang="en-US" altLang="zh-CN" sz="2800" i="1">
                                  <a:latin typeface="Cambria Math" panose="02040503050406030204" pitchFamily="18" charset="0"/>
                                </a:rPr>
                                <m:t>𝟎</m:t>
                              </m:r>
                            </m:sub>
                          </m:sSub>
                        </m:den>
                      </m:f>
                      <m:f>
                        <m:fPr>
                          <m:ctrlPr>
                            <a:rPr lang="en-US" altLang="zh-CN" sz="2800" i="1">
                              <a:latin typeface="Cambria Math" panose="02040503050406030204" pitchFamily="18" charset="0"/>
                            </a:rPr>
                          </m:ctrlPr>
                        </m:fPr>
                        <m:num>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𝒒</m:t>
                              </m:r>
                            </m:e>
                            <m:sub>
                              <m:r>
                                <a:rPr lang="en-US" altLang="zh-CN" sz="2800" b="0" i="1" smtClean="0">
                                  <a:latin typeface="Cambria Math" panose="02040503050406030204" pitchFamily="18" charset="0"/>
                                </a:rPr>
                                <m:t>1</m:t>
                              </m:r>
                            </m:sub>
                          </m:sSub>
                          <m:r>
                            <a:rPr lang="en-US" altLang="zh-CN" sz="2800" i="1">
                              <a:latin typeface="Cambria Math" panose="02040503050406030204" pitchFamily="18" charset="0"/>
                            </a:rPr>
                            <m:t>𝒒</m:t>
                          </m:r>
                          <m:r>
                            <a:rPr lang="en-US" altLang="zh-CN" sz="2800" b="0" i="1" baseline="-25000" smtClean="0">
                              <a:latin typeface="Cambria Math" panose="02040503050406030204" pitchFamily="18" charset="0"/>
                            </a:rPr>
                            <m:t>2</m:t>
                          </m:r>
                        </m:num>
                        <m:den>
                          <m:sSup>
                            <m:sSupPr>
                              <m:ctrlPr>
                                <a:rPr lang="en-US" altLang="zh-CN" sz="2800" i="1">
                                  <a:latin typeface="Cambria Math" panose="02040503050406030204" pitchFamily="18" charset="0"/>
                                </a:rPr>
                              </m:ctrlPr>
                            </m:sSupPr>
                            <m:e>
                              <m:r>
                                <a:rPr lang="en-US" altLang="zh-CN" sz="2800" i="1">
                                  <a:latin typeface="Cambria Math" panose="02040503050406030204" pitchFamily="18" charset="0"/>
                                </a:rPr>
                                <m:t>𝒓</m:t>
                              </m:r>
                            </m:e>
                            <m:sup>
                              <m:r>
                                <a:rPr lang="en-US" altLang="zh-CN" sz="2800" i="1">
                                  <a:latin typeface="Cambria Math" panose="02040503050406030204" pitchFamily="18" charset="0"/>
                                </a:rPr>
                                <m:t>𝟐</m:t>
                              </m:r>
                            </m:sup>
                          </m:sSup>
                        </m:den>
                      </m:f>
                      <m:sSub>
                        <m:sSubPr>
                          <m:ctrlPr>
                            <a:rPr lang="en-US" altLang="zh-CN" sz="2800" i="1">
                              <a:latin typeface="Cambria Math" panose="02040503050406030204" pitchFamily="18" charset="0"/>
                            </a:rPr>
                          </m:ctrlPr>
                        </m:sSubPr>
                        <m:e>
                          <m:acc>
                            <m:accPr>
                              <m:chr m:val="⃗"/>
                              <m:ctrlPr>
                                <a:rPr lang="en-US" altLang="zh-CN" sz="2800" i="1">
                                  <a:latin typeface="Cambria Math" panose="02040503050406030204" pitchFamily="18" charset="0"/>
                                </a:rPr>
                              </m:ctrlPr>
                            </m:accPr>
                            <m:e>
                              <m:r>
                                <a:rPr lang="en-US" altLang="zh-CN" sz="2800" i="1">
                                  <a:latin typeface="Cambria Math" panose="02040503050406030204" pitchFamily="18" charset="0"/>
                                </a:rPr>
                                <m:t>𝒆</m:t>
                              </m:r>
                            </m:e>
                          </m:acc>
                        </m:e>
                        <m:sub>
                          <m:r>
                            <a:rPr lang="en-US" altLang="zh-CN" sz="2800" i="1">
                              <a:latin typeface="Cambria Math" panose="02040503050406030204" pitchFamily="18" charset="0"/>
                            </a:rPr>
                            <m:t>𝒓</m:t>
                          </m:r>
                        </m:sub>
                      </m:sSub>
                    </m:oMath>
                  </m:oMathPara>
                </a14:m>
                <a:endParaRPr lang="en-US" sz="2800" dirty="0"/>
              </a:p>
            </p:txBody>
          </p:sp>
        </mc:Choice>
        <mc:Fallback xmlns="">
          <p:sp>
            <p:nvSpPr>
              <p:cNvPr id="8" name="矩形 7">
                <a:extLst>
                  <a:ext uri="{FF2B5EF4-FFF2-40B4-BE49-F238E27FC236}">
                    <a16:creationId xmlns:a16="http://schemas.microsoft.com/office/drawing/2014/main" id="{9701F659-9DA6-1409-4607-0BB17B10E805}"/>
                  </a:ext>
                </a:extLst>
              </p:cNvPr>
              <p:cNvSpPr>
                <a:spLocks noRot="1" noChangeAspect="1" noMove="1" noResize="1" noEditPoints="1" noAdjustHandles="1" noChangeArrowheads="1" noChangeShapeType="1" noTextEdit="1"/>
              </p:cNvSpPr>
              <p:nvPr/>
            </p:nvSpPr>
            <p:spPr>
              <a:xfrm>
                <a:off x="6559932" y="2686034"/>
                <a:ext cx="2986395" cy="974306"/>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内容占位符 4">
                <a:extLst>
                  <a:ext uri="{FF2B5EF4-FFF2-40B4-BE49-F238E27FC236}">
                    <a16:creationId xmlns:a16="http://schemas.microsoft.com/office/drawing/2014/main" id="{CBB2E7D4-3ECE-7DC0-A64A-F9A78A65CD7E}"/>
                  </a:ext>
                </a:extLst>
              </p:cNvPr>
              <p:cNvSpPr txBox="1">
                <a:spLocks/>
              </p:cNvSpPr>
              <p:nvPr/>
            </p:nvSpPr>
            <p:spPr>
              <a:xfrm>
                <a:off x="5703199" y="3461061"/>
                <a:ext cx="5548548" cy="1643161"/>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00000"/>
                  </a:lnSpc>
                  <a:spcBef>
                    <a:spcPct val="50000"/>
                  </a:spcBef>
                  <a:buNone/>
                </a:pPr>
                <a14:m>
                  <m:oMathPara xmlns:m="http://schemas.openxmlformats.org/officeDocument/2006/math">
                    <m:oMathParaPr>
                      <m:jc m:val="centerGroup"/>
                    </m:oMathParaPr>
                    <m:oMath xmlns:m="http://schemas.openxmlformats.org/officeDocument/2006/math">
                      <m:sSub>
                        <m:sSubPr>
                          <m:ctrlPr>
                            <a:rPr lang="el-GR" altLang="zh-CN" sz="2600" i="1">
                              <a:latin typeface="Cambria Math" panose="02040503050406030204" pitchFamily="18" charset="0"/>
                              <a:ea typeface="华文新魏" panose="02010800040101010101" pitchFamily="2" charset="-122"/>
                              <a:cs typeface="Times New Roman" panose="02020603050405020304" pitchFamily="18" charset="0"/>
                            </a:rPr>
                          </m:ctrlPr>
                        </m:sSubPr>
                        <m:e>
                          <m:r>
                            <a:rPr lang="zh-CN" altLang="el-GR" sz="2600" b="0" i="1">
                              <a:latin typeface="Cambria Math" panose="02040503050406030204" pitchFamily="18" charset="0"/>
                              <a:ea typeface="华文新魏" panose="02010800040101010101" pitchFamily="2" charset="-122"/>
                              <a:cs typeface="Times New Roman" panose="02020603050405020304" pitchFamily="18" charset="0"/>
                            </a:rPr>
                            <m:t>𝜀</m:t>
                          </m:r>
                        </m:e>
                        <m:sub>
                          <m:r>
                            <a:rPr lang="en-US" altLang="zh-CN" sz="2600" b="0" i="1">
                              <a:latin typeface="Cambria Math" panose="02040503050406030204" pitchFamily="18" charset="0"/>
                              <a:ea typeface="华文新魏" panose="02010800040101010101" pitchFamily="2" charset="-122"/>
                              <a:cs typeface="Times New Roman" panose="02020603050405020304" pitchFamily="18" charset="0"/>
                            </a:rPr>
                            <m:t>0</m:t>
                          </m:r>
                        </m:sub>
                      </m:sSub>
                      <m:r>
                        <a:rPr lang="en-US" altLang="zh-CN" sz="2600" b="0" i="1">
                          <a:latin typeface="Cambria Math" panose="02040503050406030204" pitchFamily="18" charset="0"/>
                          <a:ea typeface="华文新魏" panose="02010800040101010101" pitchFamily="2" charset="-122"/>
                          <a:cs typeface="Times New Roman" panose="02020603050405020304" pitchFamily="18" charset="0"/>
                        </a:rPr>
                        <m:t>=8.8542</m:t>
                      </m:r>
                      <m:r>
                        <a:rPr lang="en-US" altLang="zh-CN" sz="2600" b="0" i="1">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600" b="0" i="1">
                              <a:latin typeface="Cambria Math" panose="02040503050406030204" pitchFamily="18" charset="0"/>
                              <a:ea typeface="Cambria Math" panose="02040503050406030204" pitchFamily="18" charset="0"/>
                              <a:cs typeface="Times New Roman" panose="02020603050405020304" pitchFamily="18" charset="0"/>
                            </a:rPr>
                            <m:t>10</m:t>
                          </m:r>
                        </m:e>
                        <m:sup>
                          <m:r>
                            <a:rPr lang="en-US" altLang="zh-CN" sz="2600" b="0" i="1">
                              <a:latin typeface="Cambria Math" panose="02040503050406030204" pitchFamily="18" charset="0"/>
                              <a:ea typeface="Cambria Math" panose="02040503050406030204" pitchFamily="18" charset="0"/>
                              <a:cs typeface="Times New Roman" panose="02020603050405020304" pitchFamily="18" charset="0"/>
                            </a:rPr>
                            <m:t>−12</m:t>
                          </m:r>
                        </m:sup>
                      </m:sSup>
                      <m:r>
                        <a:rPr lang="en-US" altLang="zh-CN" sz="2600" b="0" i="1">
                          <a:latin typeface="Cambria Math" panose="02040503050406030204" pitchFamily="18" charset="0"/>
                          <a:ea typeface="Cambria Math" panose="02040503050406030204" pitchFamily="18" charset="0"/>
                          <a:cs typeface="Times New Roman" panose="02020603050405020304" pitchFamily="18" charset="0"/>
                        </a:rPr>
                        <m:t> </m:t>
                      </m:r>
                      <m:f>
                        <m:f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600" b="0" i="1">
                                  <a:latin typeface="Cambria Math" panose="02040503050406030204" pitchFamily="18" charset="0"/>
                                  <a:ea typeface="Cambria Math" panose="02040503050406030204" pitchFamily="18" charset="0"/>
                                  <a:cs typeface="Times New Roman" panose="02020603050405020304" pitchFamily="18" charset="0"/>
                                </a:rPr>
                                <m:t>C</m:t>
                              </m:r>
                            </m:e>
                            <m:sup>
                              <m:r>
                                <a:rPr lang="en-US" altLang="zh-CN" sz="2600" b="0" i="1">
                                  <a:latin typeface="Cambria Math" panose="02040503050406030204" pitchFamily="18" charset="0"/>
                                  <a:ea typeface="Cambria Math" panose="02040503050406030204" pitchFamily="18" charset="0"/>
                                  <a:cs typeface="Times New Roman" panose="02020603050405020304" pitchFamily="18" charset="0"/>
                                </a:rPr>
                                <m:t>2</m:t>
                              </m:r>
                            </m:sup>
                          </m:sSup>
                        </m:num>
                        <m:den>
                          <m:r>
                            <m:rPr>
                              <m:sty m:val="p"/>
                            </m:rPr>
                            <a:rPr lang="en-US" altLang="zh-CN" sz="2600" b="0" i="1">
                              <a:latin typeface="Cambria Math" panose="02040503050406030204" pitchFamily="18" charset="0"/>
                              <a:ea typeface="Cambria Math" panose="02040503050406030204" pitchFamily="18" charset="0"/>
                              <a:cs typeface="Times New Roman" panose="02020603050405020304" pitchFamily="18" charset="0"/>
                            </a:rPr>
                            <m:t>N</m:t>
                          </m:r>
                          <m:r>
                            <a:rPr lang="en-US" altLang="zh-CN" sz="2600" b="0">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600" i="1">
                                  <a:latin typeface="Cambria Math" panose="02040503050406030204" pitchFamily="18" charset="0"/>
                                  <a:ea typeface="Cambria Math" panose="02040503050406030204" pitchFamily="18" charset="0"/>
                                  <a:cs typeface="Times New Roman" panose="02020603050405020304" pitchFamily="18" charset="0"/>
                                </a:rPr>
                              </m:ctrlPr>
                            </m:sSupPr>
                            <m:e>
                              <m:r>
                                <m:rPr>
                                  <m:sty m:val="p"/>
                                </m:rPr>
                                <a:rPr lang="en-US" altLang="zh-CN" sz="2600" b="0" i="1">
                                  <a:latin typeface="Cambria Math" panose="02040503050406030204" pitchFamily="18" charset="0"/>
                                  <a:ea typeface="Cambria Math" panose="02040503050406030204" pitchFamily="18" charset="0"/>
                                  <a:cs typeface="Times New Roman" panose="02020603050405020304" pitchFamily="18" charset="0"/>
                                </a:rPr>
                                <m:t>m</m:t>
                              </m:r>
                            </m:e>
                            <m:sup>
                              <m:r>
                                <a:rPr lang="en-US" altLang="zh-CN" sz="2600" b="0" i="1">
                                  <a:latin typeface="Cambria Math" panose="02040503050406030204" pitchFamily="18" charset="0"/>
                                  <a:ea typeface="Cambria Math" panose="02040503050406030204" pitchFamily="18" charset="0"/>
                                  <a:cs typeface="Times New Roman" panose="02020603050405020304" pitchFamily="18" charset="0"/>
                                </a:rPr>
                                <m:t>2</m:t>
                              </m:r>
                            </m:sup>
                          </m:sSup>
                        </m:den>
                      </m:f>
                    </m:oMath>
                  </m:oMathPara>
                </a14:m>
                <a:b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br>
                <a:r>
                  <a:rPr lang="en-US" altLang="zh-CN" sz="2600" dirty="0">
                    <a:latin typeface="Times New Roman" panose="02020603050405020304" pitchFamily="18" charset="0"/>
                    <a:ea typeface="华文楷体" panose="02010600040101010101" pitchFamily="2" charset="-122"/>
                    <a:cs typeface="Times New Roman" panose="02020603050405020304" pitchFamily="18" charset="0"/>
                  </a:rPr>
                  <a:t> </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真空电容率</a:t>
                </a:r>
                <a:r>
                  <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a:t>
                </a:r>
                <a:r>
                  <a:rPr lang="zh-CN" altLang="en-US"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rPr>
                  <a:t>介电常数</a:t>
                </a:r>
                <a:endParaRPr lang="en-US" altLang="zh-CN" sz="2600" dirty="0">
                  <a:solidFill>
                    <a:srgbClr val="000000"/>
                  </a:solidFill>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0" name="内容占位符 4">
                <a:extLst>
                  <a:ext uri="{FF2B5EF4-FFF2-40B4-BE49-F238E27FC236}">
                    <a16:creationId xmlns:a16="http://schemas.microsoft.com/office/drawing/2014/main" id="{CBB2E7D4-3ECE-7DC0-A64A-F9A78A65CD7E}"/>
                  </a:ext>
                </a:extLst>
              </p:cNvPr>
              <p:cNvSpPr txBox="1">
                <a:spLocks noRot="1" noChangeAspect="1" noMove="1" noResize="1" noEditPoints="1" noAdjustHandles="1" noChangeArrowheads="1" noChangeShapeType="1" noTextEdit="1"/>
              </p:cNvSpPr>
              <p:nvPr/>
            </p:nvSpPr>
            <p:spPr>
              <a:xfrm>
                <a:off x="5703199" y="3461061"/>
                <a:ext cx="5548548" cy="1643161"/>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33158288-D154-40D0-ABA2-171D8A296FC1}"/>
                  </a:ext>
                </a:extLst>
              </p:cNvPr>
              <p:cNvSpPr/>
              <p:nvPr/>
            </p:nvSpPr>
            <p:spPr>
              <a:xfrm>
                <a:off x="5459697" y="4924869"/>
                <a:ext cx="6814025" cy="731932"/>
              </a:xfrm>
              <a:prstGeom prst="rect">
                <a:avLst/>
              </a:prstGeom>
            </p:spPr>
            <p:txBody>
              <a:bodyPr wrap="square">
                <a:spAutoFit/>
              </a:bodyPr>
              <a:lstStyle/>
              <a:p>
                <a:pPr algn="ctr">
                  <a:lnSpc>
                    <a:spcPct val="150000"/>
                  </a:lnSpc>
                </a:pPr>
                <a:r>
                  <a:rPr lang="en-US" altLang="zh-CN" sz="2800" dirty="0">
                    <a:solidFill>
                      <a:schemeClr val="tx1"/>
                    </a:solidFill>
                    <a:latin typeface="+mn-ea"/>
                    <a:cs typeface="Times New Roman" panose="02020603050405020304" pitchFamily="18" charset="0"/>
                  </a:rPr>
                  <a:t>- </a:t>
                </a:r>
                <a:r>
                  <a:rPr lang="zh-CN" altLang="en-US" sz="2800" dirty="0">
                    <a:solidFill>
                      <a:schemeClr val="tx1"/>
                    </a:solidFill>
                    <a:latin typeface="+mn-ea"/>
                    <a:cs typeface="Times New Roman" panose="02020603050405020304" pitchFamily="18" charset="0"/>
                  </a:rPr>
                  <a:t>遵守牛顿第三定律：</a:t>
                </a:r>
                <a14:m>
                  <m:oMath xmlns:m="http://schemas.openxmlformats.org/officeDocument/2006/math">
                    <m:sSub>
                      <m:sSubPr>
                        <m:ctrlPr>
                          <a:rPr lang="en-US" altLang="zh-CN" sz="2800" i="1" kern="0" smtClean="0">
                            <a:solidFill>
                              <a:schemeClr val="tx1"/>
                            </a:solidFill>
                            <a:latin typeface="Cambria Math" panose="02040503050406030204" pitchFamily="18" charset="0"/>
                          </a:rPr>
                        </m:ctrlPr>
                      </m:sSubPr>
                      <m:e>
                        <m:acc>
                          <m:accPr>
                            <m:chr m:val="⃗"/>
                            <m:ctrlPr>
                              <a:rPr lang="en-US" altLang="zh-CN" sz="2800" i="1" kern="0">
                                <a:solidFill>
                                  <a:schemeClr val="tx1"/>
                                </a:solidFill>
                                <a:latin typeface="Cambria Math" panose="02040503050406030204" pitchFamily="18" charset="0"/>
                              </a:rPr>
                            </m:ctrlPr>
                          </m:accPr>
                          <m:e>
                            <m:r>
                              <a:rPr lang="en-US" altLang="zh-CN" sz="2800" i="1" kern="0">
                                <a:solidFill>
                                  <a:schemeClr val="tx1"/>
                                </a:solidFill>
                                <a:latin typeface="Cambria Math" panose="02040503050406030204" pitchFamily="18" charset="0"/>
                              </a:rPr>
                              <m:t>𝑭</m:t>
                            </m:r>
                          </m:e>
                        </m:acc>
                      </m:e>
                      <m:sub>
                        <m:r>
                          <a:rPr lang="en-US" altLang="zh-CN" sz="2800" i="1" kern="0">
                            <a:solidFill>
                              <a:schemeClr val="tx1"/>
                            </a:solidFill>
                            <a:latin typeface="Cambria Math" panose="02040503050406030204" pitchFamily="18" charset="0"/>
                          </a:rPr>
                          <m:t>𝟏𝟐</m:t>
                        </m:r>
                      </m:sub>
                    </m:sSub>
                    <m:r>
                      <a:rPr lang="en-US" altLang="zh-CN" sz="2800" i="1" kern="0">
                        <a:solidFill>
                          <a:schemeClr val="tx1"/>
                        </a:solidFill>
                        <a:latin typeface="Cambria Math" panose="02040503050406030204" pitchFamily="18" charset="0"/>
                      </a:rPr>
                      <m:t>=−</m:t>
                    </m:r>
                    <m:sSub>
                      <m:sSubPr>
                        <m:ctrlPr>
                          <a:rPr lang="en-US" altLang="zh-CN" sz="2800" i="1" kern="0">
                            <a:solidFill>
                              <a:schemeClr val="tx1"/>
                            </a:solidFill>
                            <a:latin typeface="Cambria Math" panose="02040503050406030204" pitchFamily="18" charset="0"/>
                          </a:rPr>
                        </m:ctrlPr>
                      </m:sSubPr>
                      <m:e>
                        <m:acc>
                          <m:accPr>
                            <m:chr m:val="⃗"/>
                            <m:ctrlPr>
                              <a:rPr lang="en-US" altLang="zh-CN" sz="2800" i="1" kern="0">
                                <a:solidFill>
                                  <a:schemeClr val="tx1"/>
                                </a:solidFill>
                                <a:latin typeface="Cambria Math" panose="02040503050406030204" pitchFamily="18" charset="0"/>
                              </a:rPr>
                            </m:ctrlPr>
                          </m:accPr>
                          <m:e>
                            <m:r>
                              <a:rPr lang="en-US" altLang="zh-CN" sz="2800" i="1" kern="0">
                                <a:solidFill>
                                  <a:schemeClr val="tx1"/>
                                </a:solidFill>
                                <a:latin typeface="Cambria Math" panose="02040503050406030204" pitchFamily="18" charset="0"/>
                              </a:rPr>
                              <m:t>𝑭</m:t>
                            </m:r>
                          </m:e>
                        </m:acc>
                      </m:e>
                      <m:sub>
                        <m:r>
                          <a:rPr lang="en-US" altLang="zh-CN" sz="2800" i="1" kern="0">
                            <a:solidFill>
                              <a:schemeClr val="tx1"/>
                            </a:solidFill>
                            <a:latin typeface="Cambria Math" panose="02040503050406030204" pitchFamily="18" charset="0"/>
                          </a:rPr>
                          <m:t>𝟐𝟏</m:t>
                        </m:r>
                      </m:sub>
                    </m:sSub>
                  </m:oMath>
                </a14:m>
                <a:endParaRPr lang="en-US" sz="2800" dirty="0">
                  <a:solidFill>
                    <a:schemeClr val="tx1"/>
                  </a:solidFill>
                  <a:latin typeface="+mn-ea"/>
                </a:endParaRPr>
              </a:p>
            </p:txBody>
          </p:sp>
        </mc:Choice>
        <mc:Fallback xmlns="">
          <p:sp>
            <p:nvSpPr>
              <p:cNvPr id="13" name="矩形 12">
                <a:extLst>
                  <a:ext uri="{FF2B5EF4-FFF2-40B4-BE49-F238E27FC236}">
                    <a16:creationId xmlns:a16="http://schemas.microsoft.com/office/drawing/2014/main" id="{33158288-D154-40D0-ABA2-171D8A296FC1}"/>
                  </a:ext>
                </a:extLst>
              </p:cNvPr>
              <p:cNvSpPr>
                <a:spLocks noRot="1" noChangeAspect="1" noMove="1" noResize="1" noEditPoints="1" noAdjustHandles="1" noChangeArrowheads="1" noChangeShapeType="1" noTextEdit="1"/>
              </p:cNvSpPr>
              <p:nvPr/>
            </p:nvSpPr>
            <p:spPr>
              <a:xfrm>
                <a:off x="5459697" y="4924869"/>
                <a:ext cx="6814025" cy="731932"/>
              </a:xfrm>
              <a:prstGeom prst="rect">
                <a:avLst/>
              </a:prstGeom>
              <a:blipFill>
                <a:blip r:embed="rId5"/>
                <a:stretch>
                  <a:fillRect b="-225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33F554EC-7126-4664-B65F-C830A283C660}"/>
                  </a:ext>
                </a:extLst>
              </p:cNvPr>
              <p:cNvSpPr/>
              <p:nvPr/>
            </p:nvSpPr>
            <p:spPr>
              <a:xfrm>
                <a:off x="5459696" y="5670892"/>
                <a:ext cx="6814025" cy="1401859"/>
              </a:xfrm>
              <a:prstGeom prst="rect">
                <a:avLst/>
              </a:prstGeom>
            </p:spPr>
            <p:txBody>
              <a:bodyPr wrap="square">
                <a:spAutoFit/>
              </a:bodyPr>
              <a:lstStyle/>
              <a:p>
                <a:pPr algn="ctr">
                  <a:lnSpc>
                    <a:spcPct val="150000"/>
                  </a:lnSpc>
                </a:pPr>
                <a:r>
                  <a:rPr lang="en-US" altLang="zh-CN" sz="2800" dirty="0">
                    <a:solidFill>
                      <a:schemeClr val="tx1"/>
                    </a:solidFill>
                    <a:latin typeface="+mn-ea"/>
                    <a:cs typeface="Times New Roman" panose="02020603050405020304" pitchFamily="18" charset="0"/>
                  </a:rPr>
                  <a:t>- </a:t>
                </a:r>
                <a:r>
                  <a:rPr lang="zh-CN" altLang="en-US" sz="2800" dirty="0">
                    <a:solidFill>
                      <a:schemeClr val="tx1"/>
                    </a:solidFill>
                    <a:latin typeface="+mn-ea"/>
                    <a:cs typeface="Times New Roman" panose="02020603050405020304" pitchFamily="18" charset="0"/>
                  </a:rPr>
                  <a:t>叠加原理：</a:t>
                </a:r>
                <a14:m>
                  <m:oMath xmlns:m="http://schemas.openxmlformats.org/officeDocument/2006/math">
                    <m:acc>
                      <m:accPr>
                        <m:chr m:val="⃗"/>
                        <m:ctrlPr>
                          <a:rPr lang="zh-CN" altLang="en-US" sz="2800" i="1" smtClean="0">
                            <a:solidFill>
                              <a:schemeClr val="tx1"/>
                            </a:solidFill>
                            <a:latin typeface="Cambria Math" panose="02040503050406030204" pitchFamily="18" charset="0"/>
                            <a:ea typeface="华文新魏" panose="02010800040101010101" pitchFamily="2" charset="-122"/>
                          </a:rPr>
                        </m:ctrlPr>
                      </m:accPr>
                      <m:e>
                        <m:r>
                          <a:rPr lang="en-US" altLang="zh-CN" sz="2800" b="1" i="1">
                            <a:solidFill>
                              <a:schemeClr val="tx1"/>
                            </a:solidFill>
                            <a:latin typeface="Cambria Math" panose="02040503050406030204" pitchFamily="18" charset="0"/>
                            <a:ea typeface="华文新魏" panose="02010800040101010101" pitchFamily="2" charset="-122"/>
                          </a:rPr>
                          <m:t>𝑭</m:t>
                        </m:r>
                      </m:e>
                    </m:acc>
                    <m:r>
                      <a:rPr lang="en-US" altLang="zh-CN" sz="2800" b="1" i="1">
                        <a:solidFill>
                          <a:schemeClr val="tx1"/>
                        </a:solidFill>
                        <a:latin typeface="Cambria Math" panose="02040503050406030204" pitchFamily="18" charset="0"/>
                        <a:ea typeface="华文新魏" panose="02010800040101010101" pitchFamily="2" charset="-122"/>
                      </a:rPr>
                      <m:t>=</m:t>
                    </m:r>
                    <m:nary>
                      <m:naryPr>
                        <m:chr m:val="∑"/>
                        <m:subHide m:val="on"/>
                        <m:supHide m:val="on"/>
                        <m:ctrlPr>
                          <a:rPr lang="en-US" altLang="zh-CN" sz="2800" i="1">
                            <a:solidFill>
                              <a:schemeClr val="tx1"/>
                            </a:solidFill>
                            <a:latin typeface="Cambria Math" panose="02040503050406030204" pitchFamily="18" charset="0"/>
                            <a:ea typeface="华文新魏" panose="02010800040101010101" pitchFamily="2" charset="-122"/>
                          </a:rPr>
                        </m:ctrlPr>
                      </m:naryPr>
                      <m:sub/>
                      <m:sup/>
                      <m:e>
                        <m:sSub>
                          <m:sSubPr>
                            <m:ctrlPr>
                              <a:rPr lang="en-US" altLang="zh-CN" sz="2800" i="1">
                                <a:solidFill>
                                  <a:schemeClr val="tx1"/>
                                </a:solidFill>
                                <a:latin typeface="Cambria Math" panose="02040503050406030204" pitchFamily="18" charset="0"/>
                                <a:ea typeface="华文新魏" panose="02010800040101010101" pitchFamily="2" charset="-122"/>
                              </a:rPr>
                            </m:ctrlPr>
                          </m:sSubPr>
                          <m:e>
                            <m:acc>
                              <m:accPr>
                                <m:chr m:val="⃗"/>
                                <m:ctrlPr>
                                  <a:rPr lang="en-US" altLang="zh-CN" sz="2800" i="1">
                                    <a:solidFill>
                                      <a:schemeClr val="tx1"/>
                                    </a:solidFill>
                                    <a:latin typeface="Cambria Math" panose="02040503050406030204" pitchFamily="18" charset="0"/>
                                    <a:ea typeface="华文新魏" panose="02010800040101010101" pitchFamily="2" charset="-122"/>
                                  </a:rPr>
                                </m:ctrlPr>
                              </m:accPr>
                              <m:e>
                                <m:r>
                                  <a:rPr lang="en-US" altLang="zh-CN" sz="2800" b="1" i="1">
                                    <a:solidFill>
                                      <a:schemeClr val="tx1"/>
                                    </a:solidFill>
                                    <a:latin typeface="Cambria Math" panose="02040503050406030204" pitchFamily="18" charset="0"/>
                                    <a:ea typeface="华文新魏" panose="02010800040101010101" pitchFamily="2" charset="-122"/>
                                  </a:rPr>
                                  <m:t>𝑭</m:t>
                                </m:r>
                              </m:e>
                            </m:acc>
                          </m:e>
                          <m:sub>
                            <m:r>
                              <a:rPr lang="en-US" altLang="zh-CN" sz="2800" b="1" i="1">
                                <a:solidFill>
                                  <a:schemeClr val="tx1"/>
                                </a:solidFill>
                                <a:latin typeface="Cambria Math" panose="02040503050406030204" pitchFamily="18" charset="0"/>
                                <a:ea typeface="华文新魏" panose="02010800040101010101" pitchFamily="2" charset="-122"/>
                              </a:rPr>
                              <m:t>𝒊</m:t>
                            </m:r>
                          </m:sub>
                        </m:sSub>
                      </m:e>
                    </m:nary>
                  </m:oMath>
                </a14:m>
                <a:endParaRPr lang="zh-CN" altLang="en-US" sz="2800" dirty="0">
                  <a:solidFill>
                    <a:schemeClr val="tx1"/>
                  </a:solidFill>
                  <a:latin typeface="华文楷体" panose="02010600040101010101" pitchFamily="2" charset="-122"/>
                  <a:ea typeface="华文楷体" panose="02010600040101010101" pitchFamily="2" charset="-122"/>
                </a:endParaRPr>
              </a:p>
              <a:p>
                <a:pPr algn="ctr">
                  <a:lnSpc>
                    <a:spcPct val="150000"/>
                  </a:lnSpc>
                </a:pPr>
                <a:endParaRPr lang="en-US" sz="2800" dirty="0">
                  <a:solidFill>
                    <a:schemeClr val="tx1"/>
                  </a:solidFill>
                  <a:latin typeface="+mn-ea"/>
                </a:endParaRPr>
              </a:p>
            </p:txBody>
          </p:sp>
        </mc:Choice>
        <mc:Fallback xmlns="">
          <p:sp>
            <p:nvSpPr>
              <p:cNvPr id="9" name="矩形 8">
                <a:extLst>
                  <a:ext uri="{FF2B5EF4-FFF2-40B4-BE49-F238E27FC236}">
                    <a16:creationId xmlns:a16="http://schemas.microsoft.com/office/drawing/2014/main" id="{33F554EC-7126-4664-B65F-C830A283C660}"/>
                  </a:ext>
                </a:extLst>
              </p:cNvPr>
              <p:cNvSpPr>
                <a:spLocks noRot="1" noChangeAspect="1" noMove="1" noResize="1" noEditPoints="1" noAdjustHandles="1" noChangeArrowheads="1" noChangeShapeType="1" noTextEdit="1"/>
              </p:cNvSpPr>
              <p:nvPr/>
            </p:nvSpPr>
            <p:spPr>
              <a:xfrm>
                <a:off x="5459696" y="5670892"/>
                <a:ext cx="6814025" cy="1401859"/>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89987099"/>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标题 10">
            <a:extLst>
              <a:ext uri="{FF2B5EF4-FFF2-40B4-BE49-F238E27FC236}">
                <a16:creationId xmlns:a16="http://schemas.microsoft.com/office/drawing/2014/main" id="{8F031982-838D-485B-9E8B-008F43B7AEAA}"/>
              </a:ext>
            </a:extLst>
          </p:cNvPr>
          <p:cNvSpPr txBox="1">
            <a:spLocks/>
          </p:cNvSpPr>
          <p:nvPr/>
        </p:nvSpPr>
        <p:spPr>
          <a:xfrm>
            <a:off x="548368" y="2487152"/>
            <a:ext cx="10515600" cy="1325563"/>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zh-CN" altLang="en-US" dirty="0">
              <a:latin typeface="华文楷体" panose="02010600040101010101" pitchFamily="2" charset="-122"/>
              <a:ea typeface="华文楷体" panose="02010600040101010101" pitchFamily="2" charset="-122"/>
            </a:endParaRPr>
          </a:p>
        </p:txBody>
      </p:sp>
      <p:sp>
        <p:nvSpPr>
          <p:cNvPr id="19" name="标题 5">
            <a:extLst>
              <a:ext uri="{FF2B5EF4-FFF2-40B4-BE49-F238E27FC236}">
                <a16:creationId xmlns:a16="http://schemas.microsoft.com/office/drawing/2014/main" id="{1EC81F4C-B434-4B6F-AE3F-0DE36534F8AB}"/>
              </a:ext>
            </a:extLst>
          </p:cNvPr>
          <p:cNvSpPr txBox="1">
            <a:spLocks/>
          </p:cNvSpPr>
          <p:nvPr/>
        </p:nvSpPr>
        <p:spPr>
          <a:xfrm>
            <a:off x="646339" y="863379"/>
            <a:ext cx="4117522" cy="737054"/>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电场</a:t>
            </a:r>
          </a:p>
        </p:txBody>
      </p:sp>
      <p:sp>
        <p:nvSpPr>
          <p:cNvPr id="22" name="Text Box 18">
            <a:extLst>
              <a:ext uri="{FF2B5EF4-FFF2-40B4-BE49-F238E27FC236}">
                <a16:creationId xmlns:a16="http://schemas.microsoft.com/office/drawing/2014/main" id="{7F03C8FE-A516-4690-9DF1-3CBF97BE3F6A}"/>
              </a:ext>
            </a:extLst>
          </p:cNvPr>
          <p:cNvSpPr txBox="1">
            <a:spLocks noChangeArrowheads="1"/>
          </p:cNvSpPr>
          <p:nvPr/>
        </p:nvSpPr>
        <p:spPr bwMode="auto">
          <a:xfrm>
            <a:off x="451959" y="4013192"/>
            <a:ext cx="5999162" cy="553998"/>
          </a:xfrm>
          <a:prstGeom prst="rect">
            <a:avLst/>
          </a:prstGeom>
          <a:noFill/>
          <a:ln w="12699">
            <a:noFill/>
            <a:miter lim="800000"/>
            <a:headEnd type="none" w="sm" len="sm"/>
            <a:tailEnd type="none" w="sm" len="sm"/>
          </a:ln>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000" dirty="0">
                <a:solidFill>
                  <a:schemeClr val="tx1"/>
                </a:solidFill>
                <a:latin typeface="华文楷体" panose="02010600040101010101" pitchFamily="2" charset="-122"/>
                <a:ea typeface="华文楷体" panose="02010600040101010101" pitchFamily="2" charset="-122"/>
              </a:rPr>
              <a:t>- </a:t>
            </a:r>
            <a:r>
              <a:rPr lang="zh-CN" altLang="en-US" sz="3000" dirty="0">
                <a:solidFill>
                  <a:schemeClr val="tx1"/>
                </a:solidFill>
                <a:latin typeface="华文楷体" panose="02010600040101010101" pitchFamily="2" charset="-122"/>
                <a:ea typeface="华文楷体" panose="02010600040101010101" pitchFamily="2" charset="-122"/>
              </a:rPr>
              <a:t>如果带电体由 </a:t>
            </a:r>
            <a:r>
              <a:rPr lang="en-US" altLang="zh-CN" sz="3000" i="1" dirty="0">
                <a:solidFill>
                  <a:schemeClr val="tx1"/>
                </a:solidFill>
                <a:latin typeface="华文楷体" panose="02010600040101010101" pitchFamily="2" charset="-122"/>
                <a:ea typeface="华文楷体" panose="02010600040101010101" pitchFamily="2" charset="-122"/>
              </a:rPr>
              <a:t>n</a:t>
            </a:r>
            <a:r>
              <a:rPr lang="en-US" altLang="zh-CN" sz="3000" dirty="0">
                <a:solidFill>
                  <a:schemeClr val="tx1"/>
                </a:solidFill>
                <a:latin typeface="华文楷体" panose="02010600040101010101" pitchFamily="2" charset="-122"/>
                <a:ea typeface="华文楷体" panose="02010600040101010101" pitchFamily="2" charset="-122"/>
              </a:rPr>
              <a:t> </a:t>
            </a:r>
            <a:r>
              <a:rPr lang="zh-CN" altLang="en-US" sz="3000" dirty="0">
                <a:solidFill>
                  <a:schemeClr val="tx1"/>
                </a:solidFill>
                <a:latin typeface="华文楷体" panose="02010600040101010101" pitchFamily="2" charset="-122"/>
                <a:ea typeface="华文楷体" panose="02010600040101010101" pitchFamily="2" charset="-122"/>
              </a:rPr>
              <a:t>个点电荷组成</a:t>
            </a:r>
          </a:p>
        </p:txBody>
      </p:sp>
      <p:grpSp>
        <p:nvGrpSpPr>
          <p:cNvPr id="23" name="Group 25">
            <a:extLst>
              <a:ext uri="{FF2B5EF4-FFF2-40B4-BE49-F238E27FC236}">
                <a16:creationId xmlns:a16="http://schemas.microsoft.com/office/drawing/2014/main" id="{918AB90A-4AFD-400D-B899-EB17B38AA2D6}"/>
              </a:ext>
            </a:extLst>
          </p:cNvPr>
          <p:cNvGrpSpPr>
            <a:grpSpLocks/>
          </p:cNvGrpSpPr>
          <p:nvPr/>
        </p:nvGrpSpPr>
        <p:grpSpPr bwMode="auto">
          <a:xfrm>
            <a:off x="1555701" y="4912159"/>
            <a:ext cx="1676400" cy="1219200"/>
            <a:chOff x="4368" y="1104"/>
            <a:chExt cx="1056" cy="768"/>
          </a:xfrm>
        </p:grpSpPr>
        <p:sp>
          <p:nvSpPr>
            <p:cNvPr id="24" name="Freeform 19">
              <a:extLst>
                <a:ext uri="{FF2B5EF4-FFF2-40B4-BE49-F238E27FC236}">
                  <a16:creationId xmlns:a16="http://schemas.microsoft.com/office/drawing/2014/main" id="{35AEFD55-BF53-474B-B2C3-EC5417FFB234}"/>
                </a:ext>
              </a:extLst>
            </p:cNvPr>
            <p:cNvSpPr>
              <a:spLocks/>
            </p:cNvSpPr>
            <p:nvPr/>
          </p:nvSpPr>
          <p:spPr bwMode="auto">
            <a:xfrm>
              <a:off x="4368" y="1104"/>
              <a:ext cx="1056" cy="768"/>
            </a:xfrm>
            <a:custGeom>
              <a:avLst/>
              <a:gdLst>
                <a:gd name="T0" fmla="*/ 847041100 w 406"/>
                <a:gd name="T1" fmla="*/ 33229129 h 336"/>
                <a:gd name="T2" fmla="*/ 1342464676 w 406"/>
                <a:gd name="T3" fmla="*/ 12872846 h 336"/>
                <a:gd name="T4" fmla="*/ 1781545314 w 406"/>
                <a:gd name="T5" fmla="*/ 95944679 h 336"/>
                <a:gd name="T6" fmla="*/ 1723718650 w 406"/>
                <a:gd name="T7" fmla="*/ 144280978 h 336"/>
                <a:gd name="T8" fmla="*/ 1066187094 w 406"/>
                <a:gd name="T9" fmla="*/ 186006475 h 336"/>
                <a:gd name="T10" fmla="*/ 684950187 w 406"/>
                <a:gd name="T11" fmla="*/ 179238667 h 336"/>
                <a:gd name="T12" fmla="*/ 627817178 w 406"/>
                <a:gd name="T13" fmla="*/ 158089922 h 336"/>
                <a:gd name="T14" fmla="*/ 246393081 w 406"/>
                <a:gd name="T15" fmla="*/ 109977182 h 336"/>
                <a:gd name="T16" fmla="*/ 407889886 w 406"/>
                <a:gd name="T17" fmla="*/ 26683303 h 336"/>
                <a:gd name="T18" fmla="*/ 847041100 w 406"/>
                <a:gd name="T19" fmla="*/ 33229129 h 33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406"/>
                <a:gd name="T31" fmla="*/ 0 h 336"/>
                <a:gd name="T32" fmla="*/ 406 w 406"/>
                <a:gd name="T33" fmla="*/ 336 h 33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406" h="336">
                  <a:moveTo>
                    <a:pt x="193" y="60"/>
                  </a:moveTo>
                  <a:cubicBezTo>
                    <a:pt x="279" y="3"/>
                    <a:pt x="240" y="0"/>
                    <a:pt x="306" y="23"/>
                  </a:cubicBezTo>
                  <a:cubicBezTo>
                    <a:pt x="351" y="68"/>
                    <a:pt x="386" y="113"/>
                    <a:pt x="406" y="173"/>
                  </a:cubicBezTo>
                  <a:cubicBezTo>
                    <a:pt x="402" y="202"/>
                    <a:pt x="406" y="234"/>
                    <a:pt x="393" y="260"/>
                  </a:cubicBezTo>
                  <a:cubicBezTo>
                    <a:pt x="371" y="304"/>
                    <a:pt x="286" y="325"/>
                    <a:pt x="243" y="335"/>
                  </a:cubicBezTo>
                  <a:cubicBezTo>
                    <a:pt x="214" y="331"/>
                    <a:pt x="182" y="336"/>
                    <a:pt x="156" y="323"/>
                  </a:cubicBezTo>
                  <a:cubicBezTo>
                    <a:pt x="144" y="317"/>
                    <a:pt x="151" y="295"/>
                    <a:pt x="143" y="285"/>
                  </a:cubicBezTo>
                  <a:cubicBezTo>
                    <a:pt x="117" y="253"/>
                    <a:pt x="85" y="227"/>
                    <a:pt x="56" y="198"/>
                  </a:cubicBezTo>
                  <a:cubicBezTo>
                    <a:pt x="33" y="108"/>
                    <a:pt x="0" y="78"/>
                    <a:pt x="93" y="48"/>
                  </a:cubicBezTo>
                  <a:cubicBezTo>
                    <a:pt x="135" y="61"/>
                    <a:pt x="152" y="81"/>
                    <a:pt x="193" y="60"/>
                  </a:cubicBezTo>
                  <a:close/>
                </a:path>
              </a:pathLst>
            </a:custGeom>
            <a:noFill/>
            <a:ln w="38100" cap="rnd" cmpd="sng">
              <a:solidFill>
                <a:schemeClr val="tx1"/>
              </a:solidFill>
              <a:prstDash val="sysDot"/>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p>
              <a:endParaRPr lang="en-US">
                <a:latin typeface="华文楷体" panose="02010600040101010101" pitchFamily="2" charset="-122"/>
                <a:ea typeface="华文楷体" panose="02010600040101010101" pitchFamily="2" charset="-122"/>
              </a:endParaRPr>
            </a:p>
          </p:txBody>
        </p:sp>
        <p:sp>
          <p:nvSpPr>
            <p:cNvPr id="25" name="Oval 20">
              <a:extLst>
                <a:ext uri="{FF2B5EF4-FFF2-40B4-BE49-F238E27FC236}">
                  <a16:creationId xmlns:a16="http://schemas.microsoft.com/office/drawing/2014/main" id="{A2265393-ABA4-4F6C-9E69-AD4218C30A90}"/>
                </a:ext>
              </a:extLst>
            </p:cNvPr>
            <p:cNvSpPr>
              <a:spLocks noChangeArrowheads="1"/>
            </p:cNvSpPr>
            <p:nvPr/>
          </p:nvSpPr>
          <p:spPr bwMode="auto">
            <a:xfrm>
              <a:off x="4608" y="1392"/>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6" name="Oval 21">
              <a:extLst>
                <a:ext uri="{FF2B5EF4-FFF2-40B4-BE49-F238E27FC236}">
                  <a16:creationId xmlns:a16="http://schemas.microsoft.com/office/drawing/2014/main" id="{32310F6E-67CA-461C-B619-9AE54FAD2E5F}"/>
                </a:ext>
              </a:extLst>
            </p:cNvPr>
            <p:cNvSpPr>
              <a:spLocks noChangeArrowheads="1"/>
            </p:cNvSpPr>
            <p:nvPr/>
          </p:nvSpPr>
          <p:spPr bwMode="auto">
            <a:xfrm>
              <a:off x="4896" y="1344"/>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7" name="Oval 22">
              <a:extLst>
                <a:ext uri="{FF2B5EF4-FFF2-40B4-BE49-F238E27FC236}">
                  <a16:creationId xmlns:a16="http://schemas.microsoft.com/office/drawing/2014/main" id="{91D4400D-C8D0-4FDB-A8CC-CF6EFFA6260B}"/>
                </a:ext>
              </a:extLst>
            </p:cNvPr>
            <p:cNvSpPr>
              <a:spLocks noChangeArrowheads="1"/>
            </p:cNvSpPr>
            <p:nvPr/>
          </p:nvSpPr>
          <p:spPr bwMode="auto">
            <a:xfrm>
              <a:off x="5232" y="1440"/>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8" name="Oval 23">
              <a:extLst>
                <a:ext uri="{FF2B5EF4-FFF2-40B4-BE49-F238E27FC236}">
                  <a16:creationId xmlns:a16="http://schemas.microsoft.com/office/drawing/2014/main" id="{7C4E3BC2-C728-4B40-957E-B5C2FC41C536}"/>
                </a:ext>
              </a:extLst>
            </p:cNvPr>
            <p:cNvSpPr>
              <a:spLocks noChangeArrowheads="1"/>
            </p:cNvSpPr>
            <p:nvPr/>
          </p:nvSpPr>
          <p:spPr bwMode="auto">
            <a:xfrm>
              <a:off x="4848" y="1536"/>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sp>
          <p:nvSpPr>
            <p:cNvPr id="29" name="Oval 24">
              <a:extLst>
                <a:ext uri="{FF2B5EF4-FFF2-40B4-BE49-F238E27FC236}">
                  <a16:creationId xmlns:a16="http://schemas.microsoft.com/office/drawing/2014/main" id="{39895F74-8423-4F41-8D59-5689DC9D4786}"/>
                </a:ext>
              </a:extLst>
            </p:cNvPr>
            <p:cNvSpPr>
              <a:spLocks noChangeArrowheads="1"/>
            </p:cNvSpPr>
            <p:nvPr/>
          </p:nvSpPr>
          <p:spPr bwMode="auto">
            <a:xfrm>
              <a:off x="5040" y="1632"/>
              <a:ext cx="48" cy="48"/>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grpSp>
      <mc:AlternateContent xmlns:mc="http://schemas.openxmlformats.org/markup-compatibility/2006">
        <mc:Choice xmlns:a14="http://schemas.microsoft.com/office/drawing/2010/main" Requires="a14">
          <p:sp>
            <p:nvSpPr>
              <p:cNvPr id="30" name="Object 26">
                <a:extLst>
                  <a:ext uri="{FF2B5EF4-FFF2-40B4-BE49-F238E27FC236}">
                    <a16:creationId xmlns:a16="http://schemas.microsoft.com/office/drawing/2014/main" id="{3077A0AC-89B3-4657-8A74-B47AAA7E9DCA}"/>
                  </a:ext>
                </a:extLst>
              </p:cNvPr>
              <p:cNvSpPr txBox="1"/>
              <p:nvPr/>
            </p:nvSpPr>
            <p:spPr bwMode="auto">
              <a:xfrm>
                <a:off x="2317701" y="4512109"/>
                <a:ext cx="477838" cy="7239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𝑞</m:t>
                          </m:r>
                        </m:e>
                        <m:sub>
                          <m:r>
                            <a:rPr lang="en-US" sz="2400" i="1">
                              <a:solidFill>
                                <a:srgbClr val="000000"/>
                              </a:solidFill>
                              <a:latin typeface="Cambria Math" panose="02040503050406030204" pitchFamily="18" charset="0"/>
                            </a:rPr>
                            <m:t>𝑖</m:t>
                          </m:r>
                        </m:sub>
                      </m:sSub>
                    </m:oMath>
                  </m:oMathPara>
                </a14:m>
                <a:endParaRPr lang="en-US" sz="2400" dirty="0"/>
              </a:p>
            </p:txBody>
          </p:sp>
        </mc:Choice>
        <mc:Fallback>
          <p:sp>
            <p:nvSpPr>
              <p:cNvPr id="30" name="Object 26">
                <a:extLst>
                  <a:ext uri="{FF2B5EF4-FFF2-40B4-BE49-F238E27FC236}">
                    <a16:creationId xmlns:a16="http://schemas.microsoft.com/office/drawing/2014/main" id="{3077A0AC-89B3-4657-8A74-B47AAA7E9DCA}"/>
                  </a:ext>
                </a:extLst>
              </p:cNvPr>
              <p:cNvSpPr txBox="1">
                <a:spLocks noRot="1" noChangeAspect="1" noMove="1" noResize="1" noEditPoints="1" noAdjustHandles="1" noChangeArrowheads="1" noChangeShapeType="1" noTextEdit="1"/>
              </p:cNvSpPr>
              <p:nvPr/>
            </p:nvSpPr>
            <p:spPr bwMode="auto">
              <a:xfrm>
                <a:off x="2317701" y="4512109"/>
                <a:ext cx="477838" cy="723900"/>
              </a:xfrm>
              <a:prstGeom prst="rect">
                <a:avLst/>
              </a:prstGeom>
              <a:blipFill>
                <a:blip r:embed="rId2"/>
                <a:stretch>
                  <a:fillRect/>
                </a:stretch>
              </a:blipFill>
              <a:ln>
                <a:noFill/>
              </a:ln>
              <a:effectLst/>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5" name="Object 28">
                <a:extLst>
                  <a:ext uri="{FF2B5EF4-FFF2-40B4-BE49-F238E27FC236}">
                    <a16:creationId xmlns:a16="http://schemas.microsoft.com/office/drawing/2014/main" id="{EE22CA12-E26B-4BC0-BE4B-7287378C6E4B}"/>
                  </a:ext>
                </a:extLst>
              </p:cNvPr>
              <p:cNvSpPr txBox="1"/>
              <p:nvPr/>
            </p:nvSpPr>
            <p:spPr bwMode="auto">
              <a:xfrm>
                <a:off x="565102" y="5597959"/>
                <a:ext cx="409575" cy="53340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𝑞</m:t>
                      </m:r>
                    </m:oMath>
                  </m:oMathPara>
                </a14:m>
                <a:endParaRPr lang="en-US" sz="2400" dirty="0"/>
              </a:p>
            </p:txBody>
          </p:sp>
        </mc:Choice>
        <mc:Fallback>
          <p:sp>
            <p:nvSpPr>
              <p:cNvPr id="45" name="Object 28">
                <a:extLst>
                  <a:ext uri="{FF2B5EF4-FFF2-40B4-BE49-F238E27FC236}">
                    <a16:creationId xmlns:a16="http://schemas.microsoft.com/office/drawing/2014/main" id="{EE22CA12-E26B-4BC0-BE4B-7287378C6E4B}"/>
                  </a:ext>
                </a:extLst>
              </p:cNvPr>
              <p:cNvSpPr txBox="1">
                <a:spLocks noRot="1" noChangeAspect="1" noMove="1" noResize="1" noEditPoints="1" noAdjustHandles="1" noChangeArrowheads="1" noChangeShapeType="1" noTextEdit="1"/>
              </p:cNvSpPr>
              <p:nvPr/>
            </p:nvSpPr>
            <p:spPr bwMode="auto">
              <a:xfrm>
                <a:off x="565102" y="5597959"/>
                <a:ext cx="409575" cy="533400"/>
              </a:xfrm>
              <a:prstGeom prst="rect">
                <a:avLst/>
              </a:prstGeom>
              <a:blipFill>
                <a:blip r:embed="rId3"/>
                <a:stretch>
                  <a:fillRect/>
                </a:stretch>
              </a:blipFill>
              <a:ln>
                <a:noFill/>
              </a:ln>
              <a:effectLst/>
            </p:spPr>
            <p:txBody>
              <a:bodyPr/>
              <a:lstStyle/>
              <a:p>
                <a:r>
                  <a:rPr lang="en-US">
                    <a:noFill/>
                  </a:rPr>
                  <a:t> </a:t>
                </a:r>
              </a:p>
            </p:txBody>
          </p:sp>
        </mc:Fallback>
      </mc:AlternateContent>
      <p:sp>
        <p:nvSpPr>
          <p:cNvPr id="46" name="Oval 29">
            <a:extLst>
              <a:ext uri="{FF2B5EF4-FFF2-40B4-BE49-F238E27FC236}">
                <a16:creationId xmlns:a16="http://schemas.microsoft.com/office/drawing/2014/main" id="{53A03F6D-2F9B-421E-8D3C-4D942408F167}"/>
              </a:ext>
            </a:extLst>
          </p:cNvPr>
          <p:cNvSpPr>
            <a:spLocks noChangeArrowheads="1"/>
          </p:cNvSpPr>
          <p:nvPr/>
        </p:nvSpPr>
        <p:spPr bwMode="auto">
          <a:xfrm>
            <a:off x="1022301" y="6055159"/>
            <a:ext cx="76200" cy="76200"/>
          </a:xfrm>
          <a:prstGeom prst="ellipse">
            <a:avLst/>
          </a:prstGeom>
          <a:solidFill>
            <a:schemeClr val="tx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latin typeface="华文楷体" panose="02010600040101010101" pitchFamily="2" charset="-122"/>
              <a:ea typeface="华文楷体" panose="02010600040101010101" pitchFamily="2" charset="-122"/>
            </a:endParaRPr>
          </a:p>
        </p:txBody>
      </p:sp>
      <p:grpSp>
        <p:nvGrpSpPr>
          <p:cNvPr id="47" name="Group 33">
            <a:extLst>
              <a:ext uri="{FF2B5EF4-FFF2-40B4-BE49-F238E27FC236}">
                <a16:creationId xmlns:a16="http://schemas.microsoft.com/office/drawing/2014/main" id="{6D5B132D-39CF-4D2B-AEF1-3D511125004D}"/>
              </a:ext>
            </a:extLst>
          </p:cNvPr>
          <p:cNvGrpSpPr>
            <a:grpSpLocks/>
          </p:cNvGrpSpPr>
          <p:nvPr/>
        </p:nvGrpSpPr>
        <p:grpSpPr bwMode="auto">
          <a:xfrm>
            <a:off x="1098501" y="5369359"/>
            <a:ext cx="1219200" cy="1143000"/>
            <a:chOff x="4176" y="1392"/>
            <a:chExt cx="768" cy="720"/>
          </a:xfrm>
        </p:grpSpPr>
        <p:sp>
          <p:nvSpPr>
            <p:cNvPr id="48" name="Line 31">
              <a:extLst>
                <a:ext uri="{FF2B5EF4-FFF2-40B4-BE49-F238E27FC236}">
                  <a16:creationId xmlns:a16="http://schemas.microsoft.com/office/drawing/2014/main" id="{3E397D6C-2772-4C24-B5D2-D0B4BD89A432}"/>
                </a:ext>
              </a:extLst>
            </p:cNvPr>
            <p:cNvSpPr>
              <a:spLocks noChangeShapeType="1"/>
            </p:cNvSpPr>
            <p:nvPr/>
          </p:nvSpPr>
          <p:spPr bwMode="auto">
            <a:xfrm flipH="1">
              <a:off x="4176" y="1392"/>
              <a:ext cx="768" cy="432"/>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49" name="Object 32">
                  <a:extLst>
                    <a:ext uri="{FF2B5EF4-FFF2-40B4-BE49-F238E27FC236}">
                      <a16:creationId xmlns:a16="http://schemas.microsoft.com/office/drawing/2014/main" id="{C1753680-A330-4BDF-AD27-D4B991214E32}"/>
                    </a:ext>
                  </a:extLst>
                </p:cNvPr>
                <p:cNvSpPr txBox="1"/>
                <p:nvPr/>
              </p:nvSpPr>
              <p:spPr bwMode="auto">
                <a:xfrm>
                  <a:off x="4416" y="1632"/>
                  <a:ext cx="263" cy="480"/>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i="1">
                                <a:solidFill>
                                  <a:srgbClr val="000000"/>
                                </a:solidFill>
                                <a:latin typeface="Cambria Math" panose="02040503050406030204" pitchFamily="18" charset="0"/>
                              </a:rPr>
                            </m:ctrlPr>
                          </m:sSubPr>
                          <m:e>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𝑟</m:t>
                                </m:r>
                              </m:e>
                            </m:acc>
                          </m:e>
                          <m:sub>
                            <m:r>
                              <a:rPr lang="en-US" i="1">
                                <a:solidFill>
                                  <a:srgbClr val="000000"/>
                                </a:solidFill>
                                <a:latin typeface="Cambria Math" panose="02040503050406030204" pitchFamily="18" charset="0"/>
                              </a:rPr>
                              <m:t>𝑖</m:t>
                            </m:r>
                          </m:sub>
                        </m:sSub>
                      </m:oMath>
                    </m:oMathPara>
                  </a14:m>
                  <a:endParaRPr lang="en-US"/>
                </a:p>
              </p:txBody>
            </p:sp>
          </mc:Choice>
          <mc:Fallback xmlns="">
            <p:sp>
              <p:nvSpPr>
                <p:cNvPr id="49" name="Object 32">
                  <a:extLst>
                    <a:ext uri="{FF2B5EF4-FFF2-40B4-BE49-F238E27FC236}">
                      <a16:creationId xmlns:a16="http://schemas.microsoft.com/office/drawing/2014/main" id="{C1753680-A330-4BDF-AD27-D4B991214E32}"/>
                    </a:ext>
                  </a:extLst>
                </p:cNvPr>
                <p:cNvSpPr txBox="1">
                  <a:spLocks noRot="1" noChangeAspect="1" noMove="1" noResize="1" noEditPoints="1" noAdjustHandles="1" noChangeArrowheads="1" noChangeShapeType="1" noTextEdit="1"/>
                </p:cNvSpPr>
                <p:nvPr/>
              </p:nvSpPr>
              <p:spPr bwMode="auto">
                <a:xfrm>
                  <a:off x="4416" y="1632"/>
                  <a:ext cx="263" cy="480"/>
                </a:xfrm>
                <a:prstGeom prst="rect">
                  <a:avLst/>
                </a:prstGeom>
                <a:blipFill>
                  <a:blip r:embed="rId4"/>
                  <a:stretch>
                    <a:fillRect t="-2400" r="-11765"/>
                  </a:stretch>
                </a:blipFill>
                <a:ln>
                  <a:noFill/>
                </a:ln>
                <a:effectLs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60" name="Object 42">
                <a:extLst>
                  <a:ext uri="{FF2B5EF4-FFF2-40B4-BE49-F238E27FC236}">
                    <a16:creationId xmlns:a16="http://schemas.microsoft.com/office/drawing/2014/main" id="{E318872F-589F-468F-A9F4-E073EB8FD9F4}"/>
                  </a:ext>
                </a:extLst>
              </p:cNvPr>
              <p:cNvSpPr txBox="1"/>
              <p:nvPr/>
            </p:nvSpPr>
            <p:spPr bwMode="auto">
              <a:xfrm>
                <a:off x="3536901" y="5186796"/>
                <a:ext cx="3249979" cy="1279525"/>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𝐸</m:t>
                          </m:r>
                        </m:e>
                      </m:acc>
                      <m:r>
                        <a:rPr lang="en-US" sz="3200" i="1">
                          <a:solidFill>
                            <a:srgbClr val="000000"/>
                          </a:solidFill>
                          <a:latin typeface="Cambria Math" panose="02040503050406030204" pitchFamily="18" charset="0"/>
                        </a:rPr>
                        <m:t>=</m:t>
                      </m:r>
                      <m:nary>
                        <m:naryPr>
                          <m:chr m:val="∑"/>
                          <m:ctrlPr>
                            <a:rPr lang="en-US" sz="3200" i="1">
                              <a:solidFill>
                                <a:srgbClr val="000000"/>
                              </a:solidFill>
                              <a:latin typeface="Cambria Math" panose="02040503050406030204" pitchFamily="18" charset="0"/>
                            </a:rPr>
                          </m:ctrlPr>
                        </m:naryPr>
                        <m:sub>
                          <m:r>
                            <a:rPr lang="en-US" sz="3200" i="1">
                              <a:solidFill>
                                <a:srgbClr val="000000"/>
                              </a:solidFill>
                              <a:latin typeface="Cambria Math" panose="02040503050406030204" pitchFamily="18" charset="0"/>
                            </a:rPr>
                            <m:t>𝑖</m:t>
                          </m:r>
                          <m:r>
                            <a:rPr lang="en-US" sz="3200" i="1">
                              <a:solidFill>
                                <a:srgbClr val="000000"/>
                              </a:solidFill>
                              <a:latin typeface="Cambria Math" panose="02040503050406030204" pitchFamily="18" charset="0"/>
                            </a:rPr>
                            <m:t>=1</m:t>
                          </m:r>
                        </m:sub>
                        <m:sup>
                          <m:r>
                            <a:rPr lang="en-US" sz="3200" i="1">
                              <a:solidFill>
                                <a:srgbClr val="000000"/>
                              </a:solidFill>
                              <a:latin typeface="Cambria Math" panose="02040503050406030204" pitchFamily="18" charset="0"/>
                            </a:rPr>
                            <m:t>𝑛</m:t>
                          </m:r>
                        </m:sup>
                        <m:e>
                          <m:f>
                            <m:fPr>
                              <m:ctrlPr>
                                <a:rPr lang="en-US" sz="3200" i="1">
                                  <a:solidFill>
                                    <a:srgbClr val="000000"/>
                                  </a:solidFill>
                                  <a:latin typeface="Cambria Math" panose="02040503050406030204" pitchFamily="18" charset="0"/>
                                </a:rPr>
                              </m:ctrlPr>
                            </m:fPr>
                            <m:num>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𝑞</m:t>
                                  </m:r>
                                </m:e>
                                <m:sub>
                                  <m:r>
                                    <a:rPr lang="en-US" sz="3200" i="1">
                                      <a:solidFill>
                                        <a:srgbClr val="000000"/>
                                      </a:solidFill>
                                      <a:latin typeface="Cambria Math" panose="02040503050406030204" pitchFamily="18" charset="0"/>
                                    </a:rPr>
                                    <m:t>𝑖</m:t>
                                  </m:r>
                                </m:sub>
                              </m:sSub>
                            </m:num>
                            <m:den>
                              <m:r>
                                <a:rPr lang="en-US" sz="3200" i="1">
                                  <a:solidFill>
                                    <a:srgbClr val="000000"/>
                                  </a:solidFill>
                                  <a:latin typeface="Cambria Math" panose="02040503050406030204" pitchFamily="18" charset="0"/>
                                </a:rPr>
                                <m:t>4</m:t>
                              </m:r>
                              <m:r>
                                <a:rPr lang="en-US" sz="3200" i="1">
                                  <a:solidFill>
                                    <a:srgbClr val="000000"/>
                                  </a:solidFill>
                                  <a:latin typeface="Cambria Math" panose="02040503050406030204" pitchFamily="18" charset="0"/>
                                </a:rPr>
                                <m:t>𝜋</m:t>
                              </m:r>
                              <m:sSub>
                                <m:sSubPr>
                                  <m:ctrlPr>
                                    <a:rPr lang="en-US"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𝜀</m:t>
                                  </m:r>
                                </m:e>
                                <m:sub>
                                  <m:r>
                                    <a:rPr lang="en-US" sz="3200" i="1">
                                      <a:solidFill>
                                        <a:srgbClr val="000000"/>
                                      </a:solidFill>
                                      <a:latin typeface="Cambria Math" panose="02040503050406030204" pitchFamily="18" charset="0"/>
                                    </a:rPr>
                                    <m:t>0</m:t>
                                  </m:r>
                                </m:sub>
                              </m:sSub>
                              <m:sSubSup>
                                <m:sSubSupPr>
                                  <m:ctrlPr>
                                    <a:rPr lang="en-US" sz="3200" i="1">
                                      <a:solidFill>
                                        <a:srgbClr val="000000"/>
                                      </a:solidFill>
                                      <a:latin typeface="Cambria Math" panose="02040503050406030204" pitchFamily="18" charset="0"/>
                                    </a:rPr>
                                  </m:ctrlPr>
                                </m:sSubSupPr>
                                <m:e>
                                  <m:r>
                                    <a:rPr lang="en-US" sz="3200" i="1">
                                      <a:solidFill>
                                        <a:srgbClr val="000000"/>
                                      </a:solidFill>
                                      <a:latin typeface="Cambria Math" panose="02040503050406030204" pitchFamily="18" charset="0"/>
                                    </a:rPr>
                                    <m:t>𝑟</m:t>
                                  </m:r>
                                </m:e>
                                <m:sub>
                                  <m:r>
                                    <a:rPr lang="en-US" sz="3200" i="1">
                                      <a:solidFill>
                                        <a:srgbClr val="000000"/>
                                      </a:solidFill>
                                      <a:latin typeface="Cambria Math" panose="02040503050406030204" pitchFamily="18" charset="0"/>
                                    </a:rPr>
                                    <m:t>𝑖</m:t>
                                  </m:r>
                                </m:sub>
                                <m:sup>
                                  <m:r>
                                    <a:rPr lang="en-US" sz="3200" i="1">
                                      <a:solidFill>
                                        <a:srgbClr val="000000"/>
                                      </a:solidFill>
                                      <a:latin typeface="Cambria Math" panose="02040503050406030204" pitchFamily="18" charset="0"/>
                                    </a:rPr>
                                    <m:t>2</m:t>
                                  </m:r>
                                </m:sup>
                              </m:sSubSup>
                            </m:den>
                          </m:f>
                        </m:e>
                      </m:nary>
                      <m:sSub>
                        <m:sSubPr>
                          <m:ctrlPr>
                            <a:rPr lang="en-US" sz="3200" i="1">
                              <a:solidFill>
                                <a:srgbClr val="000000"/>
                              </a:solidFill>
                              <a:latin typeface="Cambria Math" panose="02040503050406030204" pitchFamily="18" charset="0"/>
                            </a:rPr>
                          </m:ctrlPr>
                        </m:sSubPr>
                        <m:e>
                          <m:acc>
                            <m:accPr>
                              <m:chr m:val="̂"/>
                              <m:ctrlPr>
                                <a:rPr lang="en-US" sz="3200" i="1">
                                  <a:solidFill>
                                    <a:srgbClr val="000000"/>
                                  </a:solidFill>
                                  <a:latin typeface="Cambria Math" panose="02040503050406030204" pitchFamily="18" charset="0"/>
                                </a:rPr>
                              </m:ctrlPr>
                            </m:accPr>
                            <m:e>
                              <m:r>
                                <a:rPr lang="en-US" sz="3200" i="1">
                                  <a:solidFill>
                                    <a:srgbClr val="000000"/>
                                  </a:solidFill>
                                  <a:latin typeface="Cambria Math" panose="02040503050406030204" pitchFamily="18" charset="0"/>
                                </a:rPr>
                                <m:t>𝑟</m:t>
                              </m:r>
                            </m:e>
                          </m:acc>
                        </m:e>
                        <m:sub>
                          <m:r>
                            <a:rPr lang="en-US" sz="3200" i="1">
                              <a:solidFill>
                                <a:srgbClr val="000000"/>
                              </a:solidFill>
                              <a:latin typeface="Cambria Math" panose="02040503050406030204" pitchFamily="18" charset="0"/>
                            </a:rPr>
                            <m:t>𝑖</m:t>
                          </m:r>
                        </m:sub>
                      </m:sSub>
                    </m:oMath>
                  </m:oMathPara>
                </a14:m>
                <a:endParaRPr lang="en-US" sz="3200" dirty="0"/>
              </a:p>
            </p:txBody>
          </p:sp>
        </mc:Choice>
        <mc:Fallback xmlns="">
          <p:sp>
            <p:nvSpPr>
              <p:cNvPr id="60" name="Object 42">
                <a:extLst>
                  <a:ext uri="{FF2B5EF4-FFF2-40B4-BE49-F238E27FC236}">
                    <a16:creationId xmlns:a16="http://schemas.microsoft.com/office/drawing/2014/main" id="{E318872F-589F-468F-A9F4-E073EB8FD9F4}"/>
                  </a:ext>
                </a:extLst>
              </p:cNvPr>
              <p:cNvSpPr txBox="1">
                <a:spLocks noRot="1" noChangeAspect="1" noMove="1" noResize="1" noEditPoints="1" noAdjustHandles="1" noChangeArrowheads="1" noChangeShapeType="1" noTextEdit="1"/>
              </p:cNvSpPr>
              <p:nvPr/>
            </p:nvSpPr>
            <p:spPr bwMode="auto">
              <a:xfrm>
                <a:off x="3536901" y="5186796"/>
                <a:ext cx="3249979" cy="1279525"/>
              </a:xfrm>
              <a:prstGeom prst="rect">
                <a:avLst/>
              </a:prstGeom>
              <a:blipFill>
                <a:blip r:embed="rId5"/>
                <a:stretch>
                  <a:fillRect b="-8095"/>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2" name="Text Box 32">
                <a:extLst>
                  <a:ext uri="{FF2B5EF4-FFF2-40B4-BE49-F238E27FC236}">
                    <a16:creationId xmlns:a16="http://schemas.microsoft.com/office/drawing/2014/main" id="{D3983070-1617-4F38-A28E-BA26E8351D43}"/>
                  </a:ext>
                </a:extLst>
              </p:cNvPr>
              <p:cNvSpPr txBox="1">
                <a:spLocks noChangeArrowheads="1"/>
              </p:cNvSpPr>
              <p:nvPr/>
            </p:nvSpPr>
            <p:spPr bwMode="auto">
              <a:xfrm>
                <a:off x="6283181" y="1695983"/>
                <a:ext cx="4347489" cy="847411"/>
              </a:xfrm>
              <a:prstGeom prst="rect">
                <a:avLst/>
              </a:prstGeom>
              <a:noFill/>
              <a:ln>
                <a:noFill/>
              </a:ln>
              <a:effectLst/>
              <a:extLst>
                <a:ext uri="{909E8E84-426E-40DD-AFC4-6F175D3DCCD1}">
                  <a14:hiddenFill>
                    <a:solidFill>
                      <a:srgbClr val="FFFFFF"/>
                    </a:solidFill>
                  </a14:hiddenFill>
                </a:ext>
                <a:ext uri="{91240B29-F687-4F45-9708-019B960494DF}">
                  <a14:hiddenLine w="25400">
                    <a:solidFill>
                      <a:srgbClr val="80008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14:m>
                  <m:oMath xmlns:m="http://schemas.openxmlformats.org/officeDocument/2006/math">
                    <m:acc>
                      <m:accPr>
                        <m:chr m:val="⃗"/>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i="1">
                            <a:latin typeface="Cambria Math" panose="02040503050406030204" pitchFamily="18" charset="0"/>
                            <a:ea typeface="华文新魏" panose="02010800040101010101" pitchFamily="2" charset="-122"/>
                            <a:cs typeface="Times New Roman" panose="02020603050405020304" pitchFamily="18" charset="0"/>
                          </a:rPr>
                          <m:t>𝑬</m:t>
                        </m:r>
                      </m:e>
                    </m:acc>
                    <m:r>
                      <a:rPr lang="en-US" altLang="zh-CN" sz="2800" i="1">
                        <a:latin typeface="Cambria Math" panose="02040503050406030204" pitchFamily="18" charset="0"/>
                        <a:ea typeface="华文新魏" panose="02010800040101010101" pitchFamily="2" charset="-122"/>
                        <a:cs typeface="Times New Roman" panose="02020603050405020304" pitchFamily="18" charset="0"/>
                      </a:rPr>
                      <m:t>=</m:t>
                    </m:r>
                    <m:f>
                      <m:fPr>
                        <m:ctrlPr>
                          <a:rPr lang="en-US" altLang="zh-CN" sz="2800" i="1">
                            <a:latin typeface="Cambria Math" panose="02040503050406030204" pitchFamily="18" charset="0"/>
                            <a:ea typeface="华文新魏" panose="02010800040101010101" pitchFamily="2" charset="-122"/>
                            <a:cs typeface="Times New Roman" panose="02020603050405020304" pitchFamily="18" charset="0"/>
                          </a:rPr>
                        </m:ctrlPr>
                      </m:fPr>
                      <m:num>
                        <m:acc>
                          <m:accPr>
                            <m:chr m:val="⃗"/>
                            <m:ctrlP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ctrlPr>
                          </m:accPr>
                          <m:e>
                            <m:r>
                              <a:rPr lang="en-US" altLang="zh-CN" sz="2800" i="1">
                                <a:solidFill>
                                  <a:srgbClr val="000000"/>
                                </a:solidFill>
                                <a:latin typeface="Cambria Math" panose="02040503050406030204" pitchFamily="18" charset="0"/>
                                <a:ea typeface="华文新魏" panose="02010800040101010101" pitchFamily="2" charset="-122"/>
                                <a:cs typeface="Times New Roman" panose="02020603050405020304" pitchFamily="18" charset="0"/>
                              </a:rPr>
                              <m:t>𝑭</m:t>
                            </m:r>
                          </m:e>
                        </m:acc>
                      </m:num>
                      <m:den>
                        <m:r>
                          <a:rPr lang="en-US" altLang="zh-CN" sz="2800" i="1">
                            <a:latin typeface="Cambria Math" panose="02040503050406030204" pitchFamily="18" charset="0"/>
                            <a:ea typeface="华文新魏" panose="02010800040101010101" pitchFamily="2" charset="-122"/>
                            <a:cs typeface="Times New Roman" panose="02020603050405020304" pitchFamily="18" charset="0"/>
                          </a:rPr>
                          <m:t>𝒒</m:t>
                        </m:r>
                      </m:den>
                    </m:f>
                  </m:oMath>
                </a14:m>
                <a:r>
                  <a:rPr lang="en-US" altLang="zh-CN" sz="2800" dirty="0">
                    <a:latin typeface="+mn-lt"/>
                    <a:ea typeface="华文楷体" panose="02010600040101010101" pitchFamily="2" charset="-122"/>
                    <a:cs typeface="Times New Roman" panose="02020603050405020304" pitchFamily="18" charset="0"/>
                  </a:rPr>
                  <a:t>     </a:t>
                </a:r>
                <a:r>
                  <a:rPr lang="zh-CN" altLang="en-US" sz="2800" b="0" dirty="0">
                    <a:latin typeface="+mn-lt"/>
                    <a:ea typeface="华文楷体" panose="02010600040101010101" pitchFamily="2" charset="-122"/>
                    <a:cs typeface="Times New Roman" panose="02020603050405020304" pitchFamily="18" charset="0"/>
                  </a:rPr>
                  <a:t>单位：</a:t>
                </a:r>
                <a14:m>
                  <m:oMath xmlns:m="http://schemas.openxmlformats.org/officeDocument/2006/math">
                    <m:r>
                      <m:rPr>
                        <m:sty m:val="p"/>
                      </m:rPr>
                      <a:rPr lang="en-US" altLang="zh-CN" sz="2800" b="0" i="1" dirty="0">
                        <a:latin typeface="Cambria Math" panose="02040503050406030204" pitchFamily="18" charset="0"/>
                      </a:rPr>
                      <m:t>N</m:t>
                    </m:r>
                    <m:r>
                      <a:rPr lang="en-US" altLang="zh-CN" sz="2800" b="0" dirty="0">
                        <a:latin typeface="Cambria Math" panose="02040503050406030204" pitchFamily="18" charset="0"/>
                      </a:rPr>
                      <m:t>/</m:t>
                    </m:r>
                    <m:r>
                      <m:rPr>
                        <m:sty m:val="p"/>
                      </m:rPr>
                      <a:rPr lang="en-US" altLang="zh-CN" sz="2800" b="0" i="1" dirty="0">
                        <a:latin typeface="Cambria Math" panose="02040503050406030204" pitchFamily="18" charset="0"/>
                      </a:rPr>
                      <m:t>C</m:t>
                    </m:r>
                  </m:oMath>
                </a14:m>
                <a:r>
                  <a:rPr lang="zh-CN" altLang="en-US" sz="2800" b="0" dirty="0">
                    <a:latin typeface="+mn-lt"/>
                    <a:ea typeface="华文楷体" panose="02010600040101010101" pitchFamily="2" charset="-122"/>
                  </a:rPr>
                  <a:t>或</a:t>
                </a:r>
                <a:r>
                  <a:rPr lang="en-US" altLang="zh-CN" sz="2800" b="0" dirty="0">
                    <a:latin typeface="+mn-lt"/>
                    <a:ea typeface="华文楷体" panose="02010600040101010101" pitchFamily="2" charset="-122"/>
                  </a:rPr>
                  <a:t>V/m</a:t>
                </a:r>
              </a:p>
            </p:txBody>
          </p:sp>
        </mc:Choice>
        <mc:Fallback xmlns="">
          <p:sp>
            <p:nvSpPr>
              <p:cNvPr id="32" name="Text Box 32">
                <a:extLst>
                  <a:ext uri="{FF2B5EF4-FFF2-40B4-BE49-F238E27FC236}">
                    <a16:creationId xmlns:a16="http://schemas.microsoft.com/office/drawing/2014/main" id="{D3983070-1617-4F38-A28E-BA26E8351D43}"/>
                  </a:ext>
                </a:extLst>
              </p:cNvPr>
              <p:cNvSpPr txBox="1">
                <a:spLocks noRot="1" noChangeAspect="1" noMove="1" noResize="1" noEditPoints="1" noAdjustHandles="1" noChangeArrowheads="1" noChangeShapeType="1" noTextEdit="1"/>
              </p:cNvSpPr>
              <p:nvPr/>
            </p:nvSpPr>
            <p:spPr bwMode="auto">
              <a:xfrm>
                <a:off x="6283181" y="1695983"/>
                <a:ext cx="4347489" cy="847411"/>
              </a:xfrm>
              <a:prstGeom prst="rect">
                <a:avLst/>
              </a:prstGeom>
              <a:blipFill>
                <a:blip r:embed="rId6"/>
                <a:stretch>
                  <a:fillRect b="-2878"/>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noFill/>
                  </a:rPr>
                  <a:t> </a:t>
                </a:r>
              </a:p>
            </p:txBody>
          </p:sp>
        </mc:Fallback>
      </mc:AlternateContent>
      <p:sp>
        <p:nvSpPr>
          <p:cNvPr id="33" name="Text Box 20">
            <a:extLst>
              <a:ext uri="{FF2B5EF4-FFF2-40B4-BE49-F238E27FC236}">
                <a16:creationId xmlns:a16="http://schemas.microsoft.com/office/drawing/2014/main" id="{03CEC212-B4C9-4D0D-BF65-A7F82F1C04D3}"/>
              </a:ext>
            </a:extLst>
          </p:cNvPr>
          <p:cNvSpPr txBox="1">
            <a:spLocks noChangeArrowheads="1"/>
          </p:cNvSpPr>
          <p:nvPr/>
        </p:nvSpPr>
        <p:spPr bwMode="auto">
          <a:xfrm>
            <a:off x="919138" y="1655861"/>
            <a:ext cx="4439331" cy="1169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699">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2800" dirty="0">
                <a:solidFill>
                  <a:schemeClr val="tx1"/>
                </a:solidFill>
                <a:latin typeface="华文楷体" panose="02010600040101010101" pitchFamily="2" charset="-122"/>
                <a:ea typeface="华文楷体" panose="02010600040101010101" pitchFamily="2" charset="-122"/>
              </a:rPr>
              <a:t>- </a:t>
            </a:r>
            <a:r>
              <a:rPr lang="zh-CN" altLang="en-US" sz="2800" dirty="0">
                <a:solidFill>
                  <a:schemeClr val="tx1"/>
                </a:solidFill>
                <a:latin typeface="华文楷体" panose="02010600040101010101" pitchFamily="2" charset="-122"/>
                <a:ea typeface="华文楷体" panose="02010600040101010101" pitchFamily="2" charset="-122"/>
              </a:rPr>
              <a:t>电荷在其周围产生电场。</a:t>
            </a:r>
            <a:endParaRPr lang="zh-CN" altLang="en-US" sz="2800" dirty="0">
              <a:solidFill>
                <a:srgbClr val="0000CC"/>
              </a:solidFill>
              <a:latin typeface="华文楷体" panose="02010600040101010101" pitchFamily="2" charset="-122"/>
              <a:ea typeface="华文楷体" panose="02010600040101010101" pitchFamily="2" charset="-122"/>
            </a:endParaRPr>
          </a:p>
          <a:p>
            <a:pPr>
              <a:spcBef>
                <a:spcPct val="50000"/>
              </a:spcBef>
            </a:pPr>
            <a:r>
              <a:rPr lang="en-US" altLang="zh-CN" sz="2800" dirty="0">
                <a:solidFill>
                  <a:schemeClr val="tx1"/>
                </a:solidFill>
                <a:latin typeface="华文楷体" panose="02010600040101010101" pitchFamily="2" charset="-122"/>
                <a:ea typeface="华文楷体" panose="02010600040101010101" pitchFamily="2" charset="-122"/>
                <a:sym typeface="Monotype Sorts" pitchFamily="2" charset="2"/>
              </a:rPr>
              <a:t>- </a:t>
            </a:r>
            <a:r>
              <a:rPr lang="zh-CN" altLang="en-US" sz="2800" dirty="0">
                <a:solidFill>
                  <a:schemeClr val="tx1"/>
                </a:solidFill>
                <a:latin typeface="华文楷体" panose="02010600040101010101" pitchFamily="2" charset="-122"/>
                <a:ea typeface="华文楷体" panose="02010600040101010101" pitchFamily="2" charset="-122"/>
                <a:sym typeface="Monotype Sorts" pitchFamily="2" charset="2"/>
              </a:rPr>
              <a:t>电荷在电场中受力</a:t>
            </a:r>
          </a:p>
        </p:txBody>
      </p:sp>
      <p:sp>
        <p:nvSpPr>
          <p:cNvPr id="34" name="Rectangle 3">
            <a:extLst>
              <a:ext uri="{FF2B5EF4-FFF2-40B4-BE49-F238E27FC236}">
                <a16:creationId xmlns:a16="http://schemas.microsoft.com/office/drawing/2014/main" id="{A0FA210E-F069-41E1-9F1B-DA8C9FF215C4}"/>
              </a:ext>
            </a:extLst>
          </p:cNvPr>
          <p:cNvSpPr/>
          <p:nvPr/>
        </p:nvSpPr>
        <p:spPr>
          <a:xfrm>
            <a:off x="930941" y="2959040"/>
            <a:ext cx="7483041" cy="523220"/>
          </a:xfrm>
          <a:prstGeom prst="rect">
            <a:avLst/>
          </a:prstGeom>
          <a:noFill/>
          <a:ln w="9525">
            <a:noFill/>
          </a:ln>
        </p:spPr>
        <p:txBody>
          <a:bodyPr wrap="square">
            <a:spAutoFit/>
          </a:bodyPr>
          <a:lstStyle/>
          <a:p>
            <a:pPr>
              <a:spcBef>
                <a:spcPct val="50000"/>
              </a:spcBef>
            </a:pPr>
            <a:r>
              <a:rPr lang="en-US" altLang="zh-CN" sz="2800" dirty="0">
                <a:latin typeface="Times New Roman" panose="02020603050405020304" pitchFamily="18" charset="0"/>
              </a:rPr>
              <a:t>- </a:t>
            </a:r>
            <a:r>
              <a:rPr lang="zh-CN" altLang="en-US" sz="2800" dirty="0">
                <a:latin typeface="Times New Roman" panose="02020603050405020304" pitchFamily="18" charset="0"/>
              </a:rPr>
              <a:t>电场是客观存在的，有质量、动量、能量</a:t>
            </a:r>
          </a:p>
        </p:txBody>
      </p:sp>
      <mc:AlternateContent xmlns:mc="http://schemas.openxmlformats.org/markup-compatibility/2006" xmlns:a14="http://schemas.microsoft.com/office/drawing/2010/main">
        <mc:Choice Requires="a14">
          <p:sp>
            <p:nvSpPr>
              <p:cNvPr id="31" name="Object 2">
                <a:extLst>
                  <a:ext uri="{FF2B5EF4-FFF2-40B4-BE49-F238E27FC236}">
                    <a16:creationId xmlns:a16="http://schemas.microsoft.com/office/drawing/2014/main" id="{950D46BE-41B0-4212-AB19-7868E7EE0EE3}"/>
                  </a:ext>
                </a:extLst>
              </p:cNvPr>
              <p:cNvSpPr txBox="1"/>
              <p:nvPr/>
            </p:nvSpPr>
            <p:spPr>
              <a:xfrm>
                <a:off x="7736438" y="4395038"/>
                <a:ext cx="3520292" cy="1325563"/>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m:rPr>
                          <m:sty m:val="p"/>
                        </m:rPr>
                        <a:rPr lang="en-US" sz="3000" i="0">
                          <a:solidFill>
                            <a:srgbClr val="000000"/>
                          </a:solidFill>
                          <a:latin typeface="Cambria Math" panose="02040503050406030204" pitchFamily="18" charset="0"/>
                        </a:rPr>
                        <m:t>d</m:t>
                      </m:r>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𝐸</m:t>
                          </m:r>
                        </m:e>
                      </m:acc>
                      <m:r>
                        <a:rPr lang="en-US" sz="3000" i="1">
                          <a:solidFill>
                            <a:srgbClr val="000000"/>
                          </a:solidFill>
                          <a:latin typeface="Cambria Math" panose="02040503050406030204" pitchFamily="18" charset="0"/>
                        </a:rPr>
                        <m:t>=</m:t>
                      </m:r>
                      <m:f>
                        <m:fPr>
                          <m:ctrlPr>
                            <a:rPr lang="en-US" sz="3000" i="1">
                              <a:solidFill>
                                <a:srgbClr val="000000"/>
                              </a:solidFill>
                              <a:latin typeface="Cambria Math" panose="02040503050406030204" pitchFamily="18" charset="0"/>
                            </a:rPr>
                          </m:ctrlPr>
                        </m:fPr>
                        <m:num>
                          <m:r>
                            <a:rPr lang="en-US" sz="3000" i="1">
                              <a:solidFill>
                                <a:srgbClr val="000000"/>
                              </a:solidFill>
                              <a:latin typeface="Cambria Math" panose="02040503050406030204" pitchFamily="18" charset="0"/>
                            </a:rPr>
                            <m:t>1</m:t>
                          </m:r>
                        </m:num>
                        <m:den>
                          <m:r>
                            <a:rPr lang="en-US" sz="3000" i="1">
                              <a:solidFill>
                                <a:srgbClr val="000000"/>
                              </a:solidFill>
                              <a:latin typeface="Cambria Math" panose="02040503050406030204" pitchFamily="18" charset="0"/>
                            </a:rPr>
                            <m:t>4</m:t>
                          </m:r>
                          <m:r>
                            <m:rPr>
                              <m:sty m:val="p"/>
                            </m:rPr>
                            <a:rPr lang="en-US" sz="3000" i="0">
                              <a:solidFill>
                                <a:srgbClr val="000000"/>
                              </a:solidFill>
                              <a:latin typeface="Cambria Math" panose="02040503050406030204" pitchFamily="18" charset="0"/>
                            </a:rPr>
                            <m:t>π</m:t>
                          </m:r>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ε</m:t>
                              </m:r>
                            </m:e>
                            <m:sub>
                              <m:r>
                                <a:rPr lang="en-US" sz="3000" i="1">
                                  <a:solidFill>
                                    <a:srgbClr val="000000"/>
                                  </a:solidFill>
                                  <a:latin typeface="Cambria Math" panose="02040503050406030204" pitchFamily="18" charset="0"/>
                                </a:rPr>
                                <m:t>0</m:t>
                              </m:r>
                            </m:sub>
                          </m:sSub>
                        </m:den>
                      </m:f>
                      <m:f>
                        <m:fPr>
                          <m:ctrlPr>
                            <a:rPr lang="en-US" sz="3000" i="1">
                              <a:solidFill>
                                <a:srgbClr val="000000"/>
                              </a:solidFill>
                              <a:latin typeface="Cambria Math" panose="02040503050406030204" pitchFamily="18" charset="0"/>
                            </a:rPr>
                          </m:ctrlPr>
                        </m:fPr>
                        <m:num>
                          <m:r>
                            <m:rPr>
                              <m:sty m:val="p"/>
                            </m:rPr>
                            <a:rPr lang="en-US" sz="3000" i="0">
                              <a:solidFill>
                                <a:srgbClr val="000000"/>
                              </a:solidFill>
                              <a:latin typeface="Cambria Math" panose="02040503050406030204" pitchFamily="18" charset="0"/>
                            </a:rPr>
                            <m:t>d</m:t>
                          </m:r>
                          <m:r>
                            <a:rPr lang="en-US" sz="3000" i="1">
                              <a:solidFill>
                                <a:srgbClr val="000000"/>
                              </a:solidFill>
                              <a:latin typeface="Cambria Math" panose="02040503050406030204" pitchFamily="18" charset="0"/>
                            </a:rPr>
                            <m:t>𝑞</m:t>
                          </m:r>
                        </m:num>
                        <m:den>
                          <m:sSup>
                            <m:sSupPr>
                              <m:ctrlPr>
                                <a:rPr lang="en-US" sz="3000" i="1">
                                  <a:solidFill>
                                    <a:srgbClr val="000000"/>
                                  </a:solidFill>
                                  <a:latin typeface="Cambria Math" panose="02040503050406030204" pitchFamily="18" charset="0"/>
                                </a:rPr>
                              </m:ctrlPr>
                            </m:sSupPr>
                            <m:e>
                              <m:r>
                                <a:rPr lang="en-US" sz="3000" i="1">
                                  <a:solidFill>
                                    <a:srgbClr val="000000"/>
                                  </a:solidFill>
                                  <a:latin typeface="Cambria Math" panose="02040503050406030204" pitchFamily="18" charset="0"/>
                                </a:rPr>
                                <m:t>𝑟</m:t>
                              </m:r>
                            </m:e>
                            <m:sup>
                              <m:r>
                                <a:rPr lang="en-US" sz="3000" i="1">
                                  <a:solidFill>
                                    <a:srgbClr val="000000"/>
                                  </a:solidFill>
                                  <a:latin typeface="Cambria Math" panose="02040503050406030204" pitchFamily="18" charset="0"/>
                                </a:rPr>
                                <m:t>2</m:t>
                              </m:r>
                            </m:sup>
                          </m:sSup>
                        </m:den>
                      </m:f>
                      <m:sSub>
                        <m:sSubPr>
                          <m:ctrlPr>
                            <a:rPr lang="en-US" sz="3000" i="1">
                              <a:solidFill>
                                <a:srgbClr val="000000"/>
                              </a:solidFill>
                              <a:latin typeface="Cambria Math" panose="02040503050406030204" pitchFamily="18" charset="0"/>
                            </a:rPr>
                          </m:ctrlPr>
                        </m:sSubPr>
                        <m:e>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𝑒</m:t>
                              </m:r>
                            </m:e>
                          </m:acc>
                        </m:e>
                        <m:sub>
                          <m:r>
                            <a:rPr lang="en-US" sz="3000" i="1">
                              <a:solidFill>
                                <a:srgbClr val="000000"/>
                              </a:solidFill>
                              <a:latin typeface="Cambria Math" panose="02040503050406030204" pitchFamily="18" charset="0"/>
                            </a:rPr>
                            <m:t>𝑟</m:t>
                          </m:r>
                        </m:sub>
                      </m:sSub>
                    </m:oMath>
                  </m:oMathPara>
                </a14:m>
                <a:endParaRPr lang="en-US" sz="3000" dirty="0"/>
              </a:p>
            </p:txBody>
          </p:sp>
        </mc:Choice>
        <mc:Fallback xmlns="">
          <p:sp>
            <p:nvSpPr>
              <p:cNvPr id="31" name="Object 2">
                <a:extLst>
                  <a:ext uri="{FF2B5EF4-FFF2-40B4-BE49-F238E27FC236}">
                    <a16:creationId xmlns:a16="http://schemas.microsoft.com/office/drawing/2014/main" id="{950D46BE-41B0-4212-AB19-7868E7EE0EE3}"/>
                  </a:ext>
                </a:extLst>
              </p:cNvPr>
              <p:cNvSpPr txBox="1">
                <a:spLocks noRot="1" noChangeAspect="1" noMove="1" noResize="1" noEditPoints="1" noAdjustHandles="1" noChangeArrowheads="1" noChangeShapeType="1" noTextEdit="1"/>
              </p:cNvSpPr>
              <p:nvPr/>
            </p:nvSpPr>
            <p:spPr>
              <a:xfrm>
                <a:off x="7736438" y="4395038"/>
                <a:ext cx="3520292" cy="1325563"/>
              </a:xfrm>
              <a:prstGeom prst="rect">
                <a:avLst/>
              </a:prstGeom>
              <a:blipFill>
                <a:blip r:embed="rId7"/>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bject 4">
                <a:extLst>
                  <a:ext uri="{FF2B5EF4-FFF2-40B4-BE49-F238E27FC236}">
                    <a16:creationId xmlns:a16="http://schemas.microsoft.com/office/drawing/2014/main" id="{BE1CAEF1-EDCD-4E50-97A3-1CA9AEE71226}"/>
                  </a:ext>
                </a:extLst>
              </p:cNvPr>
              <p:cNvSpPr txBox="1"/>
              <p:nvPr/>
            </p:nvSpPr>
            <p:spPr>
              <a:xfrm>
                <a:off x="7462605" y="5566498"/>
                <a:ext cx="4670988" cy="1341091"/>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𝐸</m:t>
                          </m:r>
                        </m:e>
                      </m:acc>
                      <m:r>
                        <a:rPr lang="en-US" sz="3000" i="1">
                          <a:solidFill>
                            <a:srgbClr val="000000"/>
                          </a:solidFill>
                          <a:latin typeface="Cambria Math" panose="02040503050406030204" pitchFamily="18" charset="0"/>
                        </a:rPr>
                        <m:t>=</m:t>
                      </m:r>
                      <m:nary>
                        <m:naryPr>
                          <m:subHide m:val="on"/>
                          <m:supHide m:val="on"/>
                          <m:ctrlPr>
                            <a:rPr lang="en-US" sz="3000" i="1">
                              <a:solidFill>
                                <a:srgbClr val="000000"/>
                              </a:solidFill>
                              <a:latin typeface="Cambria Math" panose="02040503050406030204" pitchFamily="18" charset="0"/>
                            </a:rPr>
                          </m:ctrlPr>
                        </m:naryPr>
                        <m:sub/>
                        <m:sup/>
                        <m:e>
                          <m:r>
                            <m:rPr>
                              <m:sty m:val="p"/>
                            </m:rPr>
                            <a:rPr lang="en-US" sz="3000" i="0">
                              <a:solidFill>
                                <a:srgbClr val="000000"/>
                              </a:solidFill>
                              <a:latin typeface="Cambria Math" panose="02040503050406030204" pitchFamily="18" charset="0"/>
                            </a:rPr>
                            <m:t>d</m:t>
                          </m:r>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𝐸</m:t>
                              </m:r>
                            </m:e>
                          </m:acc>
                        </m:e>
                      </m:nary>
                      <m:r>
                        <a:rPr lang="en-US" sz="3000" i="1">
                          <a:solidFill>
                            <a:srgbClr val="000000"/>
                          </a:solidFill>
                          <a:latin typeface="Cambria Math" panose="02040503050406030204" pitchFamily="18" charset="0"/>
                        </a:rPr>
                        <m:t>=</m:t>
                      </m:r>
                      <m:nary>
                        <m:naryPr>
                          <m:subHide m:val="on"/>
                          <m:supHide m:val="on"/>
                          <m:ctrlPr>
                            <a:rPr lang="en-US" sz="3000" i="1">
                              <a:solidFill>
                                <a:srgbClr val="000000"/>
                              </a:solidFill>
                              <a:latin typeface="Cambria Math" panose="02040503050406030204" pitchFamily="18" charset="0"/>
                            </a:rPr>
                          </m:ctrlPr>
                        </m:naryPr>
                        <m:sub/>
                        <m:sup/>
                        <m:e>
                          <m:f>
                            <m:fPr>
                              <m:ctrlPr>
                                <a:rPr lang="en-US" sz="3000" i="1">
                                  <a:solidFill>
                                    <a:srgbClr val="000000"/>
                                  </a:solidFill>
                                  <a:latin typeface="Cambria Math" panose="02040503050406030204" pitchFamily="18" charset="0"/>
                                </a:rPr>
                              </m:ctrlPr>
                            </m:fPr>
                            <m:num>
                              <m:r>
                                <a:rPr lang="en-US" sz="3000" i="1">
                                  <a:solidFill>
                                    <a:srgbClr val="000000"/>
                                  </a:solidFill>
                                  <a:latin typeface="Cambria Math" panose="02040503050406030204" pitchFamily="18" charset="0"/>
                                </a:rPr>
                                <m:t>1</m:t>
                              </m:r>
                            </m:num>
                            <m:den>
                              <m:r>
                                <a:rPr lang="en-US" sz="3000" i="1">
                                  <a:solidFill>
                                    <a:srgbClr val="000000"/>
                                  </a:solidFill>
                                  <a:latin typeface="Cambria Math" panose="02040503050406030204" pitchFamily="18" charset="0"/>
                                </a:rPr>
                                <m:t>4</m:t>
                              </m:r>
                              <m:r>
                                <m:rPr>
                                  <m:sty m:val="p"/>
                                </m:rPr>
                                <a:rPr lang="en-US" sz="3000" i="0">
                                  <a:solidFill>
                                    <a:srgbClr val="000000"/>
                                  </a:solidFill>
                                  <a:latin typeface="Cambria Math" panose="02040503050406030204" pitchFamily="18" charset="0"/>
                                </a:rPr>
                                <m:t>π</m:t>
                              </m:r>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ε</m:t>
                                  </m:r>
                                </m:e>
                                <m:sub>
                                  <m:r>
                                    <a:rPr lang="en-US" sz="3000" i="1">
                                      <a:solidFill>
                                        <a:srgbClr val="000000"/>
                                      </a:solidFill>
                                      <a:latin typeface="Cambria Math" panose="02040503050406030204" pitchFamily="18" charset="0"/>
                                    </a:rPr>
                                    <m:t>0</m:t>
                                  </m:r>
                                </m:sub>
                              </m:sSub>
                            </m:den>
                          </m:f>
                        </m:e>
                      </m:nary>
                      <m:f>
                        <m:fPr>
                          <m:ctrlPr>
                            <a:rPr lang="en-US" sz="3000" i="1">
                              <a:solidFill>
                                <a:srgbClr val="000000"/>
                              </a:solidFill>
                              <a:latin typeface="Cambria Math" panose="02040503050406030204" pitchFamily="18" charset="0"/>
                            </a:rPr>
                          </m:ctrlPr>
                        </m:fPr>
                        <m:num>
                          <m:sSub>
                            <m:sSubPr>
                              <m:ctrlPr>
                                <a:rPr lang="en-US" sz="3000" i="1">
                                  <a:solidFill>
                                    <a:srgbClr val="000000"/>
                                  </a:solidFill>
                                  <a:latin typeface="Cambria Math" panose="02040503050406030204" pitchFamily="18" charset="0"/>
                                </a:rPr>
                              </m:ctrlPr>
                            </m:sSubPr>
                            <m:e>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𝑒</m:t>
                                  </m:r>
                                </m:e>
                              </m:acc>
                            </m:e>
                            <m:sub>
                              <m:r>
                                <a:rPr lang="en-US" sz="3000" i="1">
                                  <a:solidFill>
                                    <a:srgbClr val="000000"/>
                                  </a:solidFill>
                                  <a:latin typeface="Cambria Math" panose="02040503050406030204" pitchFamily="18" charset="0"/>
                                </a:rPr>
                                <m:t>𝑟</m:t>
                              </m:r>
                            </m:sub>
                          </m:sSub>
                        </m:num>
                        <m:den>
                          <m:sSup>
                            <m:sSupPr>
                              <m:ctrlPr>
                                <a:rPr lang="en-US" sz="3000" i="1">
                                  <a:solidFill>
                                    <a:srgbClr val="000000"/>
                                  </a:solidFill>
                                  <a:latin typeface="Cambria Math" panose="02040503050406030204" pitchFamily="18" charset="0"/>
                                </a:rPr>
                              </m:ctrlPr>
                            </m:sSupPr>
                            <m:e>
                              <m:r>
                                <a:rPr lang="en-US" sz="3000" i="1">
                                  <a:solidFill>
                                    <a:srgbClr val="000000"/>
                                  </a:solidFill>
                                  <a:latin typeface="Cambria Math" panose="02040503050406030204" pitchFamily="18" charset="0"/>
                                </a:rPr>
                                <m:t>𝑟</m:t>
                              </m:r>
                            </m:e>
                            <m:sup>
                              <m:r>
                                <a:rPr lang="en-US" sz="3000" i="1">
                                  <a:solidFill>
                                    <a:srgbClr val="000000"/>
                                  </a:solidFill>
                                  <a:latin typeface="Cambria Math" panose="02040503050406030204" pitchFamily="18" charset="0"/>
                                </a:rPr>
                                <m:t>2</m:t>
                              </m:r>
                            </m:sup>
                          </m:sSup>
                        </m:den>
                      </m:f>
                      <m:r>
                        <m:rPr>
                          <m:sty m:val="p"/>
                        </m:rPr>
                        <a:rPr lang="en-US" sz="3000" i="0">
                          <a:solidFill>
                            <a:srgbClr val="000000"/>
                          </a:solidFill>
                          <a:latin typeface="Cambria Math" panose="02040503050406030204" pitchFamily="18" charset="0"/>
                        </a:rPr>
                        <m:t>d</m:t>
                      </m:r>
                      <m:r>
                        <a:rPr lang="en-US" sz="3000" i="1">
                          <a:solidFill>
                            <a:srgbClr val="000000"/>
                          </a:solidFill>
                          <a:latin typeface="Cambria Math" panose="02040503050406030204" pitchFamily="18" charset="0"/>
                        </a:rPr>
                        <m:t>𝑞</m:t>
                      </m:r>
                    </m:oMath>
                  </m:oMathPara>
                </a14:m>
                <a:endParaRPr lang="en-US" sz="3000" dirty="0"/>
              </a:p>
            </p:txBody>
          </p:sp>
        </mc:Choice>
        <mc:Fallback xmlns="">
          <p:sp>
            <p:nvSpPr>
              <p:cNvPr id="35" name="Object 4">
                <a:extLst>
                  <a:ext uri="{FF2B5EF4-FFF2-40B4-BE49-F238E27FC236}">
                    <a16:creationId xmlns:a16="http://schemas.microsoft.com/office/drawing/2014/main" id="{BE1CAEF1-EDCD-4E50-97A3-1CA9AEE71226}"/>
                  </a:ext>
                </a:extLst>
              </p:cNvPr>
              <p:cNvSpPr txBox="1">
                <a:spLocks noRot="1" noChangeAspect="1" noMove="1" noResize="1" noEditPoints="1" noAdjustHandles="1" noChangeArrowheads="1" noChangeShapeType="1" noTextEdit="1"/>
              </p:cNvSpPr>
              <p:nvPr/>
            </p:nvSpPr>
            <p:spPr>
              <a:xfrm>
                <a:off x="7462605" y="5566498"/>
                <a:ext cx="4670988" cy="1341091"/>
              </a:xfrm>
              <a:prstGeom prst="rect">
                <a:avLst/>
              </a:prstGeom>
              <a:blipFill>
                <a:blip r:embed="rId8"/>
                <a:stretch>
                  <a:fillRect/>
                </a:stretch>
              </a:blipFill>
              <a:ln w="38100">
                <a:noFill/>
                <a:miter/>
              </a:ln>
            </p:spPr>
            <p:txBody>
              <a:bodyPr/>
              <a:lstStyle/>
              <a:p>
                <a:r>
                  <a:rPr lang="en-US">
                    <a:noFill/>
                  </a:rPr>
                  <a:t> </a:t>
                </a:r>
              </a:p>
            </p:txBody>
          </p:sp>
        </mc:Fallback>
      </mc:AlternateContent>
      <p:sp>
        <p:nvSpPr>
          <p:cNvPr id="36" name="Text Box 18">
            <a:extLst>
              <a:ext uri="{FF2B5EF4-FFF2-40B4-BE49-F238E27FC236}">
                <a16:creationId xmlns:a16="http://schemas.microsoft.com/office/drawing/2014/main" id="{85BC36C8-0FBE-4FE1-9EEB-7309C207AD37}"/>
              </a:ext>
            </a:extLst>
          </p:cNvPr>
          <p:cNvSpPr txBox="1">
            <a:spLocks noChangeArrowheads="1"/>
          </p:cNvSpPr>
          <p:nvPr/>
        </p:nvSpPr>
        <p:spPr bwMode="auto">
          <a:xfrm>
            <a:off x="7021179" y="3745956"/>
            <a:ext cx="3758568" cy="553998"/>
          </a:xfrm>
          <a:prstGeom prst="rect">
            <a:avLst/>
          </a:prstGeom>
          <a:noFill/>
          <a:ln w="12699">
            <a:noFill/>
            <a:miter lim="800000"/>
            <a:headEnd type="none" w="sm" len="sm"/>
            <a:tailEnd type="none" w="sm" len="sm"/>
          </a:ln>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000" dirty="0">
                <a:solidFill>
                  <a:schemeClr val="tx1"/>
                </a:solidFill>
                <a:latin typeface="华文楷体" panose="02010600040101010101" pitchFamily="2" charset="-122"/>
                <a:ea typeface="华文楷体" panose="02010600040101010101" pitchFamily="2" charset="-122"/>
              </a:rPr>
              <a:t>- </a:t>
            </a:r>
            <a:r>
              <a:rPr lang="zh-CN" altLang="en-US" sz="3000" dirty="0">
                <a:solidFill>
                  <a:schemeClr val="tx1"/>
                </a:solidFill>
                <a:latin typeface="华文楷体" panose="02010600040101010101" pitchFamily="2" charset="-122"/>
                <a:ea typeface="华文楷体" panose="02010600040101010101" pitchFamily="2" charset="-122"/>
              </a:rPr>
              <a:t>连续分布带电体</a:t>
            </a:r>
          </a:p>
        </p:txBody>
      </p:sp>
    </p:spTree>
    <p:extLst>
      <p:ext uri="{BB962C8B-B14F-4D97-AF65-F5344CB8AC3E}">
        <p14:creationId xmlns:p14="http://schemas.microsoft.com/office/powerpoint/2010/main" val="143645812"/>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3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4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4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6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1"/>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30" grpId="0"/>
      <p:bldP spid="45" grpId="0"/>
      <p:bldP spid="46" grpId="0" animBg="1"/>
      <p:bldP spid="60" grpId="0"/>
      <p:bldP spid="32" grpId="0"/>
      <p:bldP spid="34" grpId="0"/>
      <p:bldP spid="31" grpId="0"/>
      <p:bldP spid="35" grpId="0"/>
      <p:bldP spid="36"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标题 2"/>
              <p:cNvSpPr>
                <a:spLocks noGrp="1"/>
              </p:cNvSpPr>
              <p:nvPr>
                <p:ph type="title"/>
              </p:nvPr>
            </p:nvSpPr>
            <p:spPr>
              <a:xfrm>
                <a:off x="789152" y="598564"/>
                <a:ext cx="8190910" cy="615921"/>
              </a:xfrm>
            </p:spPr>
            <p:txBody>
              <a:bodyPr>
                <a:noAutofit/>
              </a:bodyPr>
              <a:lstStyle/>
              <a:p>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例</a:t>
                </a:r>
                <a:r>
                  <a:rPr lang="en-US" altLang="zh-CN" sz="2800" dirty="0">
                    <a:solidFill>
                      <a:schemeClr val="tx1"/>
                    </a:solidFill>
                    <a:latin typeface="华文楷体" panose="02010600040101010101" pitchFamily="2" charset="-122"/>
                    <a:ea typeface="华文楷体" panose="02010600040101010101" pitchFamily="2" charset="-122"/>
                  </a:rPr>
                  <a:t>12.5]</a:t>
                </a:r>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求一均匀带电圆环轴线上任一点</a:t>
                </a:r>
                <a14:m>
                  <m:oMath xmlns:m="http://schemas.openxmlformats.org/officeDocument/2006/math">
                    <m:r>
                      <a:rPr lang="en-US" altLang="zh-CN" sz="2800" i="1" dirty="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𝒙</m:t>
                    </m:r>
                  </m:oMath>
                </a14:m>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处的电场</a:t>
                </a:r>
                <a:r>
                  <a:rPr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dirty="0">
                  <a:solidFill>
                    <a:schemeClr val="tx1"/>
                  </a:solidFill>
                  <a:latin typeface="华文楷体" panose="02010600040101010101" pitchFamily="2" charset="-122"/>
                  <a:ea typeface="华文楷体" panose="02010600040101010101" pitchFamily="2" charset="-122"/>
                </a:endParaRPr>
              </a:p>
            </p:txBody>
          </p:sp>
        </mc:Choice>
        <mc:Fallback xmlns="">
          <p:sp>
            <p:nvSpPr>
              <p:cNvPr id="3" name="标题 2"/>
              <p:cNvSpPr>
                <a:spLocks noGrp="1" noRot="1" noChangeAspect="1" noMove="1" noResize="1" noEditPoints="1" noAdjustHandles="1" noChangeArrowheads="1" noChangeShapeType="1" noTextEdit="1"/>
              </p:cNvSpPr>
              <p:nvPr>
                <p:ph type="title"/>
              </p:nvPr>
            </p:nvSpPr>
            <p:spPr>
              <a:xfrm>
                <a:off x="789152" y="598564"/>
                <a:ext cx="8190910" cy="615921"/>
              </a:xfrm>
              <a:blipFill>
                <a:blip r:embed="rId2"/>
                <a:stretch>
                  <a:fillRect l="-1488" t="-5941" b="-16832"/>
                </a:stretch>
              </a:blipFill>
            </p:spPr>
            <p:txBody>
              <a:bodyPr/>
              <a:lstStyle/>
              <a:p>
                <a:r>
                  <a:rPr lang="en-US">
                    <a:noFill/>
                  </a:rPr>
                  <a:t> </a:t>
                </a:r>
              </a:p>
            </p:txBody>
          </p:sp>
        </mc:Fallback>
      </mc:AlternateContent>
      <p:sp>
        <p:nvSpPr>
          <p:cNvPr id="6" name="内容占位符 5"/>
          <p:cNvSpPr>
            <a:spLocks noGrp="1"/>
          </p:cNvSpPr>
          <p:nvPr>
            <p:ph idx="1"/>
          </p:nvPr>
        </p:nvSpPr>
        <p:spPr>
          <a:xfrm>
            <a:off x="1968369" y="5275149"/>
            <a:ext cx="9614031" cy="704497"/>
          </a:xfrm>
        </p:spPr>
        <p:txBody>
          <a:bodyPr>
            <a:normAutofit/>
          </a:bodyPr>
          <a:lstStyle/>
          <a:p>
            <a:pPr marL="0" indent="0">
              <a:buNone/>
            </a:pPr>
            <a:r>
              <a:rPr lang="zh-CN" altLang="en-US" dirty="0">
                <a:solidFill>
                  <a:srgbClr val="000000"/>
                </a:solidFill>
                <a:latin typeface="华文楷体" panose="02010600040101010101" pitchFamily="2" charset="-122"/>
                <a:ea typeface="华文楷体" panose="02010600040101010101" pitchFamily="2" charset="-122"/>
              </a:rPr>
              <a:t>如图建立坐标系。</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对称性可知垂直方向电场强度为</a:t>
            </a:r>
            <a:r>
              <a:rPr lang="en-US" altLang="zh-CN" dirty="0">
                <a:latin typeface="华文楷体" panose="02010600040101010101" pitchFamily="2" charset="-122"/>
                <a:ea typeface="华文楷体" panose="02010600040101010101" pitchFamily="2" charset="-122"/>
                <a:cs typeface="Times New Roman" panose="02020603050405020304" pitchFamily="18" charset="0"/>
              </a:rPr>
              <a:t>0</a:t>
            </a:r>
            <a:r>
              <a:rPr lang="zh-CN" altLang="en-US" dirty="0">
                <a:latin typeface="华文楷体" panose="02010600040101010101" pitchFamily="2" charset="-122"/>
                <a:ea typeface="华文楷体" panose="02010600040101010101" pitchFamily="2" charset="-122"/>
                <a:cs typeface="Times New Roman" panose="02020603050405020304" pitchFamily="18" charset="0"/>
              </a:rPr>
              <a:t>。</a:t>
            </a:r>
            <a:endParaRPr lang="zh-CN" altLang="en-US"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57405" name="Rectangle 4"/>
              <p:cNvSpPr>
                <a:spLocks noChangeArrowheads="1"/>
              </p:cNvSpPr>
              <p:nvPr/>
            </p:nvSpPr>
            <p:spPr bwMode="auto">
              <a:xfrm>
                <a:off x="6311770" y="2571638"/>
                <a:ext cx="498534" cy="52386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𝒑</m:t>
                      </m:r>
                    </m:oMath>
                  </m:oMathPara>
                </a14:m>
                <a:endParaRPr lang="en-US" altLang="zh-CN" sz="2800" i="1" dirty="0">
                  <a:latin typeface="华文楷体" panose="02010600040101010101" pitchFamily="2" charset="-122"/>
                  <a:ea typeface="华文楷体" panose="02010600040101010101" pitchFamily="2" charset="-122"/>
                </a:endParaRPr>
              </a:p>
            </p:txBody>
          </p:sp>
        </mc:Choice>
        <mc:Fallback xmlns="">
          <p:sp>
            <p:nvSpPr>
              <p:cNvPr id="57405" name="Rectangle 4"/>
              <p:cNvSpPr>
                <a:spLocks noRot="1" noChangeAspect="1" noMove="1" noResize="1" noEditPoints="1" noAdjustHandles="1" noChangeArrowheads="1" noChangeShapeType="1" noTextEdit="1"/>
              </p:cNvSpPr>
              <p:nvPr/>
            </p:nvSpPr>
            <p:spPr bwMode="auto">
              <a:xfrm>
                <a:off x="6311770" y="2571638"/>
                <a:ext cx="498534" cy="523862"/>
              </a:xfrm>
              <a:prstGeom prst="rect">
                <a:avLst/>
              </a:prstGeom>
              <a:blipFill>
                <a:blip r:embed="rId3"/>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57407" name="Oval 6"/>
          <p:cNvSpPr>
            <a:spLocks noChangeArrowheads="1"/>
          </p:cNvSpPr>
          <p:nvPr/>
        </p:nvSpPr>
        <p:spPr bwMode="auto">
          <a:xfrm>
            <a:off x="3303457" y="1895362"/>
            <a:ext cx="1143000" cy="2438400"/>
          </a:xfrm>
          <a:prstGeom prst="ellipse">
            <a:avLst/>
          </a:prstGeom>
          <a:noFill/>
          <a:ln w="76200">
            <a:solidFill>
              <a:schemeClr val="accent2"/>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57408" name="Line 7"/>
          <p:cNvSpPr>
            <a:spLocks noChangeShapeType="1"/>
          </p:cNvSpPr>
          <p:nvPr/>
        </p:nvSpPr>
        <p:spPr bwMode="auto">
          <a:xfrm>
            <a:off x="3874957" y="3152662"/>
            <a:ext cx="2476500" cy="1588"/>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409" name="Line 8"/>
          <p:cNvSpPr>
            <a:spLocks noChangeShapeType="1"/>
          </p:cNvSpPr>
          <p:nvPr/>
        </p:nvSpPr>
        <p:spPr bwMode="auto">
          <a:xfrm>
            <a:off x="3874957" y="1871551"/>
            <a:ext cx="2514600" cy="1281113"/>
          </a:xfrm>
          <a:prstGeom prst="line">
            <a:avLst/>
          </a:prstGeom>
          <a:noFill/>
          <a:ln w="28575">
            <a:solidFill>
              <a:srgbClr val="FF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410" name="Line 9"/>
          <p:cNvSpPr>
            <a:spLocks noChangeShapeType="1"/>
          </p:cNvSpPr>
          <p:nvPr/>
        </p:nvSpPr>
        <p:spPr bwMode="auto">
          <a:xfrm>
            <a:off x="3874957" y="1857262"/>
            <a:ext cx="0" cy="1295400"/>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57412" name="Rectangle 11"/>
              <p:cNvSpPr>
                <a:spLocks noChangeArrowheads="1"/>
              </p:cNvSpPr>
              <p:nvPr/>
            </p:nvSpPr>
            <p:spPr bwMode="auto">
              <a:xfrm>
                <a:off x="3493957" y="2358913"/>
                <a:ext cx="357188" cy="51911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𝑹</m:t>
                      </m:r>
                    </m:oMath>
                  </m:oMathPara>
                </a14:m>
                <a:endParaRPr lang="en-US" altLang="zh-CN" sz="2800" i="1" dirty="0">
                  <a:latin typeface="华文楷体" panose="02010600040101010101" pitchFamily="2" charset="-122"/>
                  <a:ea typeface="华文楷体" panose="02010600040101010101" pitchFamily="2" charset="-122"/>
                </a:endParaRPr>
              </a:p>
            </p:txBody>
          </p:sp>
        </mc:Choice>
        <mc:Fallback xmlns="">
          <p:sp>
            <p:nvSpPr>
              <p:cNvPr id="57412" name="Rectangle 11"/>
              <p:cNvSpPr>
                <a:spLocks noRot="1" noChangeAspect="1" noMove="1" noResize="1" noEditPoints="1" noAdjustHandles="1" noChangeArrowheads="1" noChangeShapeType="1" noTextEdit="1"/>
              </p:cNvSpPr>
              <p:nvPr/>
            </p:nvSpPr>
            <p:spPr bwMode="auto">
              <a:xfrm>
                <a:off x="3493957" y="2358913"/>
                <a:ext cx="357188" cy="519113"/>
              </a:xfrm>
              <a:prstGeom prst="rect">
                <a:avLst/>
              </a:prstGeom>
              <a:blipFill>
                <a:blip r:embed="rId4"/>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7416" name="Rectangle 15"/>
              <p:cNvSpPr>
                <a:spLocks noChangeArrowheads="1"/>
              </p:cNvSpPr>
              <p:nvPr/>
            </p:nvSpPr>
            <p:spPr bwMode="auto">
              <a:xfrm>
                <a:off x="5094158" y="2023951"/>
                <a:ext cx="468313" cy="5238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latin typeface="Cambria Math" panose="02040503050406030204" pitchFamily="18" charset="0"/>
                        </a:rPr>
                        <m:t>𝒓</m:t>
                      </m:r>
                    </m:oMath>
                  </m:oMathPara>
                </a14:m>
                <a:endParaRPr lang="en-US" altLang="zh-CN" sz="2800" i="1" dirty="0">
                  <a:latin typeface="华文楷体" panose="02010600040101010101" pitchFamily="2" charset="-122"/>
                  <a:ea typeface="华文楷体" panose="02010600040101010101" pitchFamily="2" charset="-122"/>
                </a:endParaRPr>
              </a:p>
            </p:txBody>
          </p:sp>
        </mc:Choice>
        <mc:Fallback xmlns="">
          <p:sp>
            <p:nvSpPr>
              <p:cNvPr id="57416" name="Rectangle 15"/>
              <p:cNvSpPr>
                <a:spLocks noRot="1" noChangeAspect="1" noMove="1" noResize="1" noEditPoints="1" noAdjustHandles="1" noChangeArrowheads="1" noChangeShapeType="1" noTextEdit="1"/>
              </p:cNvSpPr>
              <p:nvPr/>
            </p:nvSpPr>
            <p:spPr bwMode="auto">
              <a:xfrm>
                <a:off x="5094158" y="2023951"/>
                <a:ext cx="468313" cy="523875"/>
              </a:xfrm>
              <a:prstGeom prst="rect">
                <a:avLst/>
              </a:prstGeom>
              <a:blipFill>
                <a:blip r:embed="rId5"/>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57393" name="Line 28"/>
          <p:cNvSpPr>
            <a:spLocks noChangeShapeType="1"/>
          </p:cNvSpPr>
          <p:nvPr/>
        </p:nvSpPr>
        <p:spPr bwMode="auto">
          <a:xfrm>
            <a:off x="6368919" y="3152662"/>
            <a:ext cx="1041283" cy="533401"/>
          </a:xfrm>
          <a:prstGeom prst="line">
            <a:avLst/>
          </a:prstGeom>
          <a:noFill/>
          <a:ln w="38100">
            <a:solidFill>
              <a:srgbClr val="00B05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354" name="Object 45"/>
          <p:cNvSpPr txBox="1"/>
          <p:nvPr/>
        </p:nvSpPr>
        <p:spPr bwMode="auto">
          <a:xfrm>
            <a:off x="5333869" y="3765437"/>
            <a:ext cx="114300" cy="215900"/>
          </a:xfrm>
          <a:prstGeom prst="rect">
            <a:avLst/>
          </a:prstGeom>
          <a:noFill/>
          <a:ln>
            <a:noFill/>
          </a:ln>
          <a:effectLst/>
        </p:spPr>
        <p:txBody>
          <a:bodyPr>
            <a:normAutofit fontScale="47500" lnSpcReduction="20000"/>
          </a:bodyPr>
          <a:lstStyle/>
          <a:p>
            <a:endParaRPr lang="zh-CN" altLang="en-US">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2" name="文本框 1"/>
              <p:cNvSpPr txBox="1"/>
              <p:nvPr/>
            </p:nvSpPr>
            <p:spPr>
              <a:xfrm>
                <a:off x="3523602" y="1379988"/>
                <a:ext cx="537006"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𝒅𝒒</m:t>
                      </m:r>
                    </m:oMath>
                  </m:oMathPara>
                </a14:m>
                <a:endParaRPr lang="zh-CN" altLang="en-US" sz="2800" dirty="0">
                  <a:latin typeface="华文楷体" panose="02010600040101010101" pitchFamily="2" charset="-122"/>
                  <a:ea typeface="华文楷体" panose="02010600040101010101" pitchFamily="2" charset="-122"/>
                </a:endParaRPr>
              </a:p>
            </p:txBody>
          </p:sp>
        </mc:Choice>
        <mc:Fallback xmlns="">
          <p:sp>
            <p:nvSpPr>
              <p:cNvPr id="2" name="文本框 1"/>
              <p:cNvSpPr txBox="1">
                <a:spLocks noRot="1" noChangeAspect="1" noMove="1" noResize="1" noEditPoints="1" noAdjustHandles="1" noChangeArrowheads="1" noChangeShapeType="1" noTextEdit="1"/>
              </p:cNvSpPr>
              <p:nvPr/>
            </p:nvSpPr>
            <p:spPr>
              <a:xfrm>
                <a:off x="3523602" y="1379988"/>
                <a:ext cx="537006" cy="430887"/>
              </a:xfrm>
              <a:prstGeom prst="rect">
                <a:avLst/>
              </a:prstGeom>
              <a:blipFill>
                <a:blip r:embed="rId6"/>
                <a:stretch>
                  <a:fillRect/>
                </a:stretch>
              </a:blipFill>
            </p:spPr>
            <p:txBody>
              <a:bodyPr/>
              <a:lstStyle/>
              <a:p>
                <a:r>
                  <a:rPr lang="en-US">
                    <a:noFill/>
                  </a:rPr>
                  <a:t> </a:t>
                </a:r>
              </a:p>
            </p:txBody>
          </p:sp>
        </mc:Fallback>
      </mc:AlternateContent>
      <p:sp>
        <p:nvSpPr>
          <p:cNvPr id="4" name="任意多边形 3"/>
          <p:cNvSpPr/>
          <p:nvPr/>
        </p:nvSpPr>
        <p:spPr bwMode="auto">
          <a:xfrm rot="21058951">
            <a:off x="3750513" y="1874276"/>
            <a:ext cx="240953" cy="45719"/>
          </a:xfrm>
          <a:custGeom>
            <a:avLst/>
            <a:gdLst>
              <a:gd name="connsiteX0" fmla="*/ 0 w 518475"/>
              <a:gd name="connsiteY0" fmla="*/ 114739 h 190153"/>
              <a:gd name="connsiteX1" fmla="*/ 245097 w 518475"/>
              <a:gd name="connsiteY1" fmla="*/ 1617 h 190153"/>
              <a:gd name="connsiteX2" fmla="*/ 518475 w 518475"/>
              <a:gd name="connsiteY2" fmla="*/ 190153 h 190153"/>
            </a:gdLst>
            <a:ahLst/>
            <a:cxnLst>
              <a:cxn ang="0">
                <a:pos x="connsiteX0" y="connsiteY0"/>
              </a:cxn>
              <a:cxn ang="0">
                <a:pos x="connsiteX1" y="connsiteY1"/>
              </a:cxn>
              <a:cxn ang="0">
                <a:pos x="connsiteX2" y="connsiteY2"/>
              </a:cxn>
            </a:cxnLst>
            <a:rect l="l" t="t" r="r" b="b"/>
            <a:pathLst>
              <a:path w="518475" h="190153">
                <a:moveTo>
                  <a:pt x="0" y="114739"/>
                </a:moveTo>
                <a:cubicBezTo>
                  <a:pt x="79342" y="51893"/>
                  <a:pt x="158685" y="-10952"/>
                  <a:pt x="245097" y="1617"/>
                </a:cubicBezTo>
                <a:cubicBezTo>
                  <a:pt x="331509" y="14186"/>
                  <a:pt x="424992" y="102169"/>
                  <a:pt x="518475" y="190153"/>
                </a:cubicBezTo>
              </a:path>
            </a:pathLst>
          </a:custGeom>
          <a:no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kumimoji="1" lang="zh-CN" altLang="en-US" b="1">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81" name="文本框 80"/>
              <p:cNvSpPr txBox="1"/>
              <p:nvPr/>
            </p:nvSpPr>
            <p:spPr>
              <a:xfrm>
                <a:off x="7273868" y="3631413"/>
                <a:ext cx="632636" cy="483146"/>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solidFill>
                            <a:srgbClr val="2A7315"/>
                          </a:solidFill>
                          <a:latin typeface="Cambria Math" panose="02040503050406030204" pitchFamily="18" charset="0"/>
                        </a:rPr>
                        <m:t>𝒅</m:t>
                      </m:r>
                      <m:acc>
                        <m:accPr>
                          <m:chr m:val="⃗"/>
                          <m:ctrlPr>
                            <a:rPr lang="en-US" altLang="zh-CN" sz="2800" b="1" i="1">
                              <a:solidFill>
                                <a:srgbClr val="2A7315"/>
                              </a:solidFill>
                              <a:latin typeface="Cambria Math" panose="02040503050406030204" pitchFamily="18" charset="0"/>
                            </a:rPr>
                          </m:ctrlPr>
                        </m:accPr>
                        <m:e>
                          <m:r>
                            <a:rPr lang="en-US" altLang="zh-CN" sz="2800" b="1" i="1">
                              <a:solidFill>
                                <a:srgbClr val="2A7315"/>
                              </a:solidFill>
                              <a:latin typeface="Cambria Math" panose="02040503050406030204" pitchFamily="18" charset="0"/>
                            </a:rPr>
                            <m:t>𝑬</m:t>
                          </m:r>
                        </m:e>
                      </m:acc>
                    </m:oMath>
                  </m:oMathPara>
                </a14:m>
                <a:endParaRPr lang="zh-CN" altLang="en-US" sz="2800" dirty="0">
                  <a:solidFill>
                    <a:srgbClr val="2A7315"/>
                  </a:solidFill>
                  <a:latin typeface="华文楷体" panose="02010600040101010101" pitchFamily="2" charset="-122"/>
                  <a:ea typeface="华文楷体" panose="02010600040101010101" pitchFamily="2" charset="-122"/>
                </a:endParaRPr>
              </a:p>
            </p:txBody>
          </p:sp>
        </mc:Choice>
        <mc:Fallback xmlns="">
          <p:sp>
            <p:nvSpPr>
              <p:cNvPr id="81" name="文本框 80"/>
              <p:cNvSpPr txBox="1">
                <a:spLocks noRot="1" noChangeAspect="1" noMove="1" noResize="1" noEditPoints="1" noAdjustHandles="1" noChangeArrowheads="1" noChangeShapeType="1" noTextEdit="1"/>
              </p:cNvSpPr>
              <p:nvPr/>
            </p:nvSpPr>
            <p:spPr>
              <a:xfrm>
                <a:off x="7273868" y="3631413"/>
                <a:ext cx="632636" cy="483146"/>
              </a:xfrm>
              <a:prstGeom prst="rect">
                <a:avLst/>
              </a:prstGeom>
              <a:blipFill>
                <a:blip r:embed="rId7"/>
                <a:stretch>
                  <a:fillRect/>
                </a:stretch>
              </a:blipFill>
              <a:ln>
                <a:noFill/>
              </a:ln>
            </p:spPr>
            <p:txBody>
              <a:bodyPr/>
              <a:lstStyle/>
              <a:p>
                <a:r>
                  <a:rPr lang="en-US">
                    <a:noFill/>
                  </a:rPr>
                  <a:t> </a:t>
                </a:r>
              </a:p>
            </p:txBody>
          </p:sp>
        </mc:Fallback>
      </mc:AlternateContent>
      <p:grpSp>
        <p:nvGrpSpPr>
          <p:cNvPr id="5" name="组合 4"/>
          <p:cNvGrpSpPr/>
          <p:nvPr/>
        </p:nvGrpSpPr>
        <p:grpSpPr>
          <a:xfrm>
            <a:off x="3587620" y="2076338"/>
            <a:ext cx="4591550" cy="1545768"/>
            <a:chOff x="2768601" y="1316038"/>
            <a:chExt cx="4591550" cy="1545768"/>
          </a:xfrm>
        </p:grpSpPr>
        <mc:AlternateContent xmlns:mc="http://schemas.openxmlformats.org/markup-compatibility/2006" xmlns:a14="http://schemas.microsoft.com/office/drawing/2010/main">
          <mc:Choice Requires="a14">
            <p:sp>
              <p:nvSpPr>
                <p:cNvPr id="57411" name="Rectangle 10"/>
                <p:cNvSpPr>
                  <a:spLocks noChangeArrowheads="1"/>
                </p:cNvSpPr>
                <p:nvPr/>
              </p:nvSpPr>
              <p:spPr bwMode="auto">
                <a:xfrm>
                  <a:off x="2768601" y="2325688"/>
                  <a:ext cx="538163" cy="52387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non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14:m>
                    <m:oMathPara xmlns:m="http://schemas.openxmlformats.org/officeDocument/2006/math">
                      <m:oMathParaPr>
                        <m:jc m:val="centerGroup"/>
                      </m:oMathParaPr>
                      <m:oMath xmlns:m="http://schemas.openxmlformats.org/officeDocument/2006/math">
                        <m:r>
                          <a:rPr lang="en-US" altLang="zh-CN" sz="2800" i="1" dirty="0">
                            <a:solidFill>
                              <a:srgbClr val="0000FF"/>
                            </a:solidFill>
                            <a:latin typeface="Cambria Math" panose="02040503050406030204" pitchFamily="18" charset="0"/>
                          </a:rPr>
                          <m:t>𝑶</m:t>
                        </m:r>
                      </m:oMath>
                    </m:oMathPara>
                  </a14:m>
                  <a:endParaRPr lang="en-US" altLang="zh-CN" sz="2800" i="1" dirty="0">
                    <a:solidFill>
                      <a:srgbClr val="0000FF"/>
                    </a:solidFill>
                    <a:latin typeface="华文楷体" panose="02010600040101010101" pitchFamily="2" charset="-122"/>
                    <a:ea typeface="华文楷体" panose="02010600040101010101" pitchFamily="2" charset="-122"/>
                  </a:endParaRPr>
                </a:p>
              </p:txBody>
            </p:sp>
          </mc:Choice>
          <mc:Fallback xmlns="">
            <p:sp>
              <p:nvSpPr>
                <p:cNvPr id="57411" name="Rectangle 10"/>
                <p:cNvSpPr>
                  <a:spLocks noRot="1" noChangeAspect="1" noMove="1" noResize="1" noEditPoints="1" noAdjustHandles="1" noChangeArrowheads="1" noChangeShapeType="1" noTextEdit="1"/>
                </p:cNvSpPr>
                <p:nvPr/>
              </p:nvSpPr>
              <p:spPr bwMode="auto">
                <a:xfrm>
                  <a:off x="2768601" y="2325688"/>
                  <a:ext cx="538163" cy="523875"/>
                </a:xfrm>
                <a:prstGeom prst="rect">
                  <a:avLst/>
                </a:prstGeom>
                <a:blipFill rotWithShape="0">
                  <a:blip r:embed="rId19"/>
                  <a:stretch>
                    <a:fillRect/>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zh-CN" altLang="en-US">
                      <a:noFill/>
                    </a:rPr>
                    <a:t> </a:t>
                  </a:r>
                </a:p>
              </p:txBody>
            </p:sp>
          </mc:Fallback>
        </mc:AlternateContent>
        <p:sp>
          <p:nvSpPr>
            <p:cNvPr id="57398" name="Line 19"/>
            <p:cNvSpPr>
              <a:spLocks noChangeShapeType="1"/>
            </p:cNvSpPr>
            <p:nvPr/>
          </p:nvSpPr>
          <p:spPr bwMode="auto">
            <a:xfrm>
              <a:off x="5387976" y="2393951"/>
              <a:ext cx="1624013" cy="11113"/>
            </a:xfrm>
            <a:prstGeom prst="line">
              <a:avLst/>
            </a:prstGeom>
            <a:noFill/>
            <a:ln w="28575">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57400" name="Line 21"/>
            <p:cNvSpPr>
              <a:spLocks noChangeShapeType="1"/>
            </p:cNvSpPr>
            <p:nvPr/>
          </p:nvSpPr>
          <p:spPr bwMode="auto">
            <a:xfrm flipV="1">
              <a:off x="5540376" y="1316038"/>
              <a:ext cx="0" cy="1066800"/>
            </a:xfrm>
            <a:prstGeom prst="line">
              <a:avLst/>
            </a:prstGeom>
            <a:noFill/>
            <a:ln w="28575">
              <a:solidFill>
                <a:srgbClr val="0000FF"/>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80" name="文本框 79"/>
                <p:cNvSpPr txBox="1"/>
                <p:nvPr/>
              </p:nvSpPr>
              <p:spPr>
                <a:xfrm>
                  <a:off x="7087485" y="2430919"/>
                  <a:ext cx="272666" cy="430887"/>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solidFill>
                              <a:srgbClr val="0000FF"/>
                            </a:solidFill>
                            <a:latin typeface="Cambria Math" panose="02040503050406030204" pitchFamily="18" charset="0"/>
                          </a:rPr>
                          <m:t>𝒙</m:t>
                        </m:r>
                      </m:oMath>
                    </m:oMathPara>
                  </a14:m>
                  <a:endParaRPr lang="zh-CN" altLang="en-US" sz="2800" dirty="0">
                    <a:solidFill>
                      <a:srgbClr val="0000FF"/>
                    </a:solidFill>
                    <a:latin typeface="华文楷体" panose="02010600040101010101" pitchFamily="2" charset="-122"/>
                    <a:ea typeface="华文楷体" panose="02010600040101010101" pitchFamily="2" charset="-122"/>
                  </a:endParaRPr>
                </a:p>
              </p:txBody>
            </p:sp>
          </mc:Choice>
          <mc:Fallback xmlns="">
            <p:sp>
              <p:nvSpPr>
                <p:cNvPr id="80" name="文本框 79"/>
                <p:cNvSpPr txBox="1">
                  <a:spLocks noRot="1" noChangeAspect="1" noMove="1" noResize="1" noEditPoints="1" noAdjustHandles="1" noChangeArrowheads="1" noChangeShapeType="1" noTextEdit="1"/>
                </p:cNvSpPr>
                <p:nvPr/>
              </p:nvSpPr>
              <p:spPr>
                <a:xfrm>
                  <a:off x="7087485" y="2430919"/>
                  <a:ext cx="272666" cy="430887"/>
                </a:xfrm>
                <a:prstGeom prst="rect">
                  <a:avLst/>
                </a:prstGeom>
                <a:blipFill rotWithShape="0">
                  <a:blip r:embed="rId22"/>
                  <a:stretch>
                    <a:fillRect/>
                  </a:stretch>
                </a:blipFill>
                <a:ln>
                  <a:noFill/>
                </a:ln>
              </p:spPr>
              <p:txBody>
                <a:bodyPr/>
                <a:lstStyle/>
                <a:p>
                  <a:r>
                    <a:rPr lang="zh-CN" altLang="en-US">
                      <a:noFill/>
                    </a:rPr>
                    <a:t> </a:t>
                  </a:r>
                </a:p>
              </p:txBody>
            </p:sp>
          </mc:Fallback>
        </mc:AlternateContent>
      </p:grpSp>
      <p:sp>
        <p:nvSpPr>
          <p:cNvPr id="84" name="任意多边形 83"/>
          <p:cNvSpPr/>
          <p:nvPr/>
        </p:nvSpPr>
        <p:spPr bwMode="auto">
          <a:xfrm rot="10560000">
            <a:off x="3776399" y="4297104"/>
            <a:ext cx="240953" cy="45719"/>
          </a:xfrm>
          <a:custGeom>
            <a:avLst/>
            <a:gdLst>
              <a:gd name="connsiteX0" fmla="*/ 0 w 518475"/>
              <a:gd name="connsiteY0" fmla="*/ 114739 h 190153"/>
              <a:gd name="connsiteX1" fmla="*/ 245097 w 518475"/>
              <a:gd name="connsiteY1" fmla="*/ 1617 h 190153"/>
              <a:gd name="connsiteX2" fmla="*/ 518475 w 518475"/>
              <a:gd name="connsiteY2" fmla="*/ 190153 h 190153"/>
            </a:gdLst>
            <a:ahLst/>
            <a:cxnLst>
              <a:cxn ang="0">
                <a:pos x="connsiteX0" y="connsiteY0"/>
              </a:cxn>
              <a:cxn ang="0">
                <a:pos x="connsiteX1" y="connsiteY1"/>
              </a:cxn>
              <a:cxn ang="0">
                <a:pos x="connsiteX2" y="connsiteY2"/>
              </a:cxn>
            </a:cxnLst>
            <a:rect l="l" t="t" r="r" b="b"/>
            <a:pathLst>
              <a:path w="518475" h="190153">
                <a:moveTo>
                  <a:pt x="0" y="114739"/>
                </a:moveTo>
                <a:cubicBezTo>
                  <a:pt x="79342" y="51893"/>
                  <a:pt x="158685" y="-10952"/>
                  <a:pt x="245097" y="1617"/>
                </a:cubicBezTo>
                <a:cubicBezTo>
                  <a:pt x="331509" y="14186"/>
                  <a:pt x="424992" y="102169"/>
                  <a:pt x="518475" y="190153"/>
                </a:cubicBezTo>
              </a:path>
            </a:pathLst>
          </a:custGeom>
          <a:noFill/>
          <a:ln w="762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bodyPr>
          <a:lstStyle/>
          <a:p>
            <a:pPr algn="ctr" fontAlgn="base">
              <a:spcBef>
                <a:spcPct val="0"/>
              </a:spcBef>
              <a:spcAft>
                <a:spcPct val="0"/>
              </a:spcAft>
            </a:pPr>
            <a:endParaRPr kumimoji="1" lang="zh-CN" altLang="en-US" b="1">
              <a:latin typeface="华文楷体" panose="02010600040101010101" pitchFamily="2" charset="-122"/>
              <a:ea typeface="华文楷体" panose="02010600040101010101" pitchFamily="2" charset="-122"/>
            </a:endParaRPr>
          </a:p>
        </p:txBody>
      </p:sp>
      <p:sp>
        <p:nvSpPr>
          <p:cNvPr id="85" name="Line 8"/>
          <p:cNvSpPr>
            <a:spLocks noChangeShapeType="1"/>
          </p:cNvSpPr>
          <p:nvPr/>
        </p:nvSpPr>
        <p:spPr bwMode="auto">
          <a:xfrm flipV="1">
            <a:off x="3874958" y="3164448"/>
            <a:ext cx="2506663" cy="1170902"/>
          </a:xfrm>
          <a:prstGeom prst="line">
            <a:avLst/>
          </a:prstGeom>
          <a:noFill/>
          <a:ln w="28575">
            <a:solidFill>
              <a:srgbClr val="FF0000"/>
            </a:solidFill>
            <a:round/>
            <a:headEnd type="none" w="med" len="me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p:sp>
        <p:nvSpPr>
          <p:cNvPr id="86" name="Line 28"/>
          <p:cNvSpPr>
            <a:spLocks noChangeShapeType="1"/>
          </p:cNvSpPr>
          <p:nvPr/>
        </p:nvSpPr>
        <p:spPr bwMode="auto">
          <a:xfrm flipV="1">
            <a:off x="6369992" y="2626806"/>
            <a:ext cx="981803" cy="537398"/>
          </a:xfrm>
          <a:prstGeom prst="line">
            <a:avLst/>
          </a:prstGeom>
          <a:noFill/>
          <a:ln w="38100">
            <a:solidFill>
              <a:srgbClr val="00B050"/>
            </a:solidFill>
            <a:round/>
            <a:headEnd type="none" w="sm" len="sm"/>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87" name="文本框 86"/>
              <p:cNvSpPr txBox="1"/>
              <p:nvPr/>
            </p:nvSpPr>
            <p:spPr>
              <a:xfrm>
                <a:off x="7273868" y="2332182"/>
                <a:ext cx="632636" cy="483146"/>
              </a:xfrm>
              <a:prstGeom prst="rect">
                <a:avLst/>
              </a:prstGeom>
              <a:no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solidFill>
                            <a:srgbClr val="2A7315"/>
                          </a:solidFill>
                          <a:latin typeface="Cambria Math" panose="02040503050406030204" pitchFamily="18" charset="0"/>
                        </a:rPr>
                        <m:t>𝒅</m:t>
                      </m:r>
                      <m:sSup>
                        <m:sSupPr>
                          <m:ctrlPr>
                            <a:rPr lang="en-US" altLang="zh-CN" sz="2800" b="1" i="1">
                              <a:solidFill>
                                <a:srgbClr val="2A7315"/>
                              </a:solidFill>
                              <a:latin typeface="Cambria Math" panose="02040503050406030204" pitchFamily="18" charset="0"/>
                            </a:rPr>
                          </m:ctrlPr>
                        </m:sSupPr>
                        <m:e>
                          <m:acc>
                            <m:accPr>
                              <m:chr m:val="⃗"/>
                              <m:ctrlPr>
                                <a:rPr lang="en-US" altLang="zh-CN" sz="2800" i="1">
                                  <a:solidFill>
                                    <a:srgbClr val="2A7315"/>
                                  </a:solidFill>
                                  <a:latin typeface="Cambria Math" panose="02040503050406030204" pitchFamily="18" charset="0"/>
                                </a:rPr>
                              </m:ctrlPr>
                            </m:accPr>
                            <m:e>
                              <m:r>
                                <a:rPr lang="en-US" altLang="zh-CN" sz="2800" i="1">
                                  <a:solidFill>
                                    <a:srgbClr val="2A7315"/>
                                  </a:solidFill>
                                  <a:latin typeface="Cambria Math" panose="02040503050406030204" pitchFamily="18" charset="0"/>
                                </a:rPr>
                                <m:t>𝑬</m:t>
                              </m:r>
                            </m:e>
                          </m:acc>
                        </m:e>
                        <m:sup>
                          <m:r>
                            <a:rPr lang="en-US" altLang="zh-CN" sz="2800" b="1" i="1">
                              <a:solidFill>
                                <a:srgbClr val="2A7315"/>
                              </a:solidFill>
                              <a:latin typeface="Cambria Math" panose="02040503050406030204" pitchFamily="18" charset="0"/>
                            </a:rPr>
                            <m:t>′</m:t>
                          </m:r>
                        </m:sup>
                      </m:sSup>
                    </m:oMath>
                  </m:oMathPara>
                </a14:m>
                <a:endParaRPr lang="zh-CN" altLang="en-US" sz="2800" dirty="0">
                  <a:solidFill>
                    <a:srgbClr val="2A7315"/>
                  </a:solidFill>
                  <a:latin typeface="华文楷体" panose="02010600040101010101" pitchFamily="2" charset="-122"/>
                  <a:ea typeface="华文楷体" panose="02010600040101010101" pitchFamily="2" charset="-122"/>
                </a:endParaRPr>
              </a:p>
            </p:txBody>
          </p:sp>
        </mc:Choice>
        <mc:Fallback xmlns="">
          <p:sp>
            <p:nvSpPr>
              <p:cNvPr id="87" name="文本框 86"/>
              <p:cNvSpPr txBox="1">
                <a:spLocks noRot="1" noChangeAspect="1" noMove="1" noResize="1" noEditPoints="1" noAdjustHandles="1" noChangeArrowheads="1" noChangeShapeType="1" noTextEdit="1"/>
              </p:cNvSpPr>
              <p:nvPr/>
            </p:nvSpPr>
            <p:spPr>
              <a:xfrm>
                <a:off x="7273868" y="2332182"/>
                <a:ext cx="632636" cy="483146"/>
              </a:xfrm>
              <a:prstGeom prst="rect">
                <a:avLst/>
              </a:prstGeom>
              <a:blipFill>
                <a:blip r:embed="rId23"/>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8" name="文本框 87"/>
              <p:cNvSpPr txBox="1"/>
              <p:nvPr/>
            </p:nvSpPr>
            <p:spPr>
              <a:xfrm>
                <a:off x="3604646" y="4475144"/>
                <a:ext cx="644857" cy="43088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US" altLang="zh-CN" sz="2800" b="1" i="1">
                          <a:latin typeface="Cambria Math" panose="02040503050406030204" pitchFamily="18" charset="0"/>
                        </a:rPr>
                        <m:t>𝒅</m:t>
                      </m:r>
                      <m:sSup>
                        <m:sSupPr>
                          <m:ctrlPr>
                            <a:rPr lang="en-US" altLang="zh-CN" sz="2800" b="1" i="1">
                              <a:latin typeface="Cambria Math" panose="02040503050406030204" pitchFamily="18" charset="0"/>
                            </a:rPr>
                          </m:ctrlPr>
                        </m:sSupPr>
                        <m:e>
                          <m:r>
                            <a:rPr lang="en-US" altLang="zh-CN" sz="2800" i="1">
                              <a:latin typeface="Cambria Math" panose="02040503050406030204" pitchFamily="18" charset="0"/>
                            </a:rPr>
                            <m:t>𝒒</m:t>
                          </m:r>
                        </m:e>
                        <m:sup>
                          <m:r>
                            <a:rPr lang="en-US" altLang="zh-CN" sz="2800" b="1" i="1">
                              <a:latin typeface="Cambria Math" panose="02040503050406030204" pitchFamily="18" charset="0"/>
                            </a:rPr>
                            <m:t>′</m:t>
                          </m:r>
                        </m:sup>
                      </m:sSup>
                    </m:oMath>
                  </m:oMathPara>
                </a14:m>
                <a:endParaRPr lang="zh-CN" altLang="en-US" sz="2800" dirty="0">
                  <a:latin typeface="华文楷体" panose="02010600040101010101" pitchFamily="2" charset="-122"/>
                  <a:ea typeface="华文楷体" panose="02010600040101010101" pitchFamily="2" charset="-122"/>
                </a:endParaRPr>
              </a:p>
            </p:txBody>
          </p:sp>
        </mc:Choice>
        <mc:Fallback xmlns="">
          <p:sp>
            <p:nvSpPr>
              <p:cNvPr id="88" name="文本框 87"/>
              <p:cNvSpPr txBox="1">
                <a:spLocks noRot="1" noChangeAspect="1" noMove="1" noResize="1" noEditPoints="1" noAdjustHandles="1" noChangeArrowheads="1" noChangeShapeType="1" noTextEdit="1"/>
              </p:cNvSpPr>
              <p:nvPr/>
            </p:nvSpPr>
            <p:spPr>
              <a:xfrm>
                <a:off x="3604646" y="4475144"/>
                <a:ext cx="644857" cy="430887"/>
              </a:xfrm>
              <a:prstGeom prst="rect">
                <a:avLst/>
              </a:prstGeom>
              <a:blipFill>
                <a:blip r:embed="rId24"/>
                <a:stretch>
                  <a:fillRect/>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5" name="矩形 34"/>
              <p:cNvSpPr/>
              <p:nvPr/>
            </p:nvSpPr>
            <p:spPr>
              <a:xfrm>
                <a:off x="4106371" y="1626798"/>
                <a:ext cx="8892384" cy="3169266"/>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m:rPr>
                          <m:sty m:val="p"/>
                        </m:rPr>
                        <a:rPr lang="en-US" altLang="zh-CN" sz="2800" b="0" i="0">
                          <a:latin typeface="Cambria Math" panose="02040503050406030204" pitchFamily="18" charset="0"/>
                        </a:rPr>
                        <m:t>E</m:t>
                      </m:r>
                      <m:r>
                        <a:rPr lang="en-US" altLang="zh-CN" sz="2800" b="0" i="0">
                          <a:latin typeface="Cambria Math" panose="02040503050406030204" pitchFamily="18" charset="0"/>
                        </a:rPr>
                        <m:t>=</m:t>
                      </m:r>
                      <m:nary>
                        <m:naryPr>
                          <m:limLoc m:val="undOvr"/>
                          <m:subHide m:val="on"/>
                          <m:supHide m:val="on"/>
                          <m:ctrlPr>
                            <a:rPr lang="en-US" altLang="zh-CN" sz="2800" i="1">
                              <a:latin typeface="Cambria Math" panose="02040503050406030204" pitchFamily="18" charset="0"/>
                            </a:rPr>
                          </m:ctrlPr>
                        </m:naryPr>
                        <m:sub/>
                        <m:sup/>
                        <m:e>
                          <m:r>
                            <m:rPr>
                              <m:sty m:val="p"/>
                            </m:rPr>
                            <a:rPr lang="en-US" altLang="zh-CN" sz="2800" b="0" i="0">
                              <a:latin typeface="Cambria Math" panose="02040503050406030204" pitchFamily="18" charset="0"/>
                            </a:rPr>
                            <m:t>dE</m:t>
                          </m:r>
                          <m:func>
                            <m:funcPr>
                              <m:ctrlPr>
                                <a:rPr lang="en-US" altLang="zh-CN" sz="2800" i="1">
                                  <a:latin typeface="Cambria Math" panose="02040503050406030204" pitchFamily="18" charset="0"/>
                                </a:rPr>
                              </m:ctrlPr>
                            </m:funcPr>
                            <m:fName>
                              <m:r>
                                <m:rPr>
                                  <m:sty m:val="p"/>
                                </m:rPr>
                                <a:rPr lang="en-US" altLang="zh-CN" sz="2800" b="0" i="0">
                                  <a:latin typeface="Cambria Math" panose="02040503050406030204" pitchFamily="18" charset="0"/>
                                </a:rPr>
                                <m:t>cos</m:t>
                              </m:r>
                            </m:fName>
                            <m:e>
                              <m:r>
                                <m:rPr>
                                  <m:sty m:val="p"/>
                                </m:rPr>
                                <a:rPr lang="zh-CN" altLang="en-US" sz="2800" b="0" i="0">
                                  <a:latin typeface="Cambria Math" panose="02040503050406030204" pitchFamily="18" charset="0"/>
                                </a:rPr>
                                <m:t>θ</m:t>
                              </m:r>
                            </m:e>
                          </m:func>
                        </m:e>
                      </m:nary>
                      <m:r>
                        <a:rPr lang="en-US" altLang="zh-CN" sz="2800" b="0" i="0">
                          <a:latin typeface="Cambria Math" panose="02040503050406030204" pitchFamily="18" charset="0"/>
                        </a:rPr>
                        <m:t>=</m:t>
                      </m:r>
                      <m:nary>
                        <m:naryPr>
                          <m:limLoc m:val="undOvr"/>
                          <m:subHide m:val="on"/>
                          <m:supHide m:val="on"/>
                          <m:ctrlPr>
                            <a:rPr lang="en-US" altLang="zh-CN" sz="2800" i="1">
                              <a:solidFill>
                                <a:srgbClr val="000000"/>
                              </a:solidFill>
                              <a:latin typeface="Cambria Math" panose="02040503050406030204" pitchFamily="18" charset="0"/>
                            </a:rPr>
                          </m:ctrlPr>
                        </m:naryPr>
                        <m:sub/>
                        <m:sup/>
                        <m:e>
                          <m:f>
                            <m:fPr>
                              <m:ctrlPr>
                                <a:rPr lang="en-US" altLang="zh-CN" sz="2800" i="1">
                                  <a:solidFill>
                                    <a:srgbClr val="000000"/>
                                  </a:solidFill>
                                  <a:latin typeface="Cambria Math" panose="02040503050406030204" pitchFamily="18" charset="0"/>
                                </a:rPr>
                              </m:ctrlPr>
                            </m:fPr>
                            <m:num>
                              <m:r>
                                <m:rPr>
                                  <m:sty m:val="p"/>
                                </m:rPr>
                                <a:rPr lang="en-US" altLang="zh-CN" sz="2800" b="0" i="0">
                                  <a:solidFill>
                                    <a:srgbClr val="000000"/>
                                  </a:solidFill>
                                  <a:latin typeface="Cambria Math" panose="02040503050406030204" pitchFamily="18" charset="0"/>
                                </a:rPr>
                                <m:t>dq</m:t>
                              </m:r>
                            </m:num>
                            <m:den>
                              <m:r>
                                <a:rPr lang="en-US" altLang="zh-CN" sz="2800" b="0" i="0">
                                  <a:solidFill>
                                    <a:srgbClr val="000000"/>
                                  </a:solidFill>
                                  <a:latin typeface="Cambria Math" panose="02040503050406030204" pitchFamily="18" charset="0"/>
                                </a:rPr>
                                <m:t>4</m:t>
                              </m:r>
                              <m:r>
                                <m:rPr>
                                  <m:sty m:val="p"/>
                                </m:rPr>
                                <a:rPr lang="zh-CN" altLang="en-US" sz="2800" b="0" i="0">
                                  <a:solidFill>
                                    <a:srgbClr val="000000"/>
                                  </a:solidFill>
                                  <a:latin typeface="Cambria Math" panose="02040503050406030204" pitchFamily="18" charset="0"/>
                                </a:rPr>
                                <m:t>π</m:t>
                              </m:r>
                              <m:sSub>
                                <m:sSubPr>
                                  <m:ctrlPr>
                                    <a:rPr lang="en-US" altLang="zh-CN" sz="2800" i="1">
                                      <a:solidFill>
                                        <a:srgbClr val="000000"/>
                                      </a:solidFill>
                                      <a:latin typeface="Cambria Math" panose="02040503050406030204" pitchFamily="18" charset="0"/>
                                    </a:rPr>
                                  </m:ctrlPr>
                                </m:sSubPr>
                                <m:e>
                                  <m:r>
                                    <m:rPr>
                                      <m:sty m:val="p"/>
                                    </m:rPr>
                                    <a:rPr lang="zh-CN" altLang="en-US" sz="2800" b="0" i="0">
                                      <a:solidFill>
                                        <a:srgbClr val="000000"/>
                                      </a:solidFill>
                                      <a:latin typeface="Cambria Math" panose="02040503050406030204" pitchFamily="18" charset="0"/>
                                    </a:rPr>
                                    <m:t>ε</m:t>
                                  </m:r>
                                </m:e>
                                <m:sub>
                                  <m:r>
                                    <a:rPr lang="en-US" altLang="zh-CN" sz="2800" b="0" i="0">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m:rPr>
                                      <m:sty m:val="p"/>
                                    </m:rPr>
                                    <a:rPr lang="en-US" altLang="zh-CN" sz="2800" b="0" i="0">
                                      <a:solidFill>
                                        <a:srgbClr val="000000"/>
                                      </a:solidFill>
                                      <a:latin typeface="Cambria Math" panose="02040503050406030204" pitchFamily="18" charset="0"/>
                                    </a:rPr>
                                    <m:t>r</m:t>
                                  </m:r>
                                </m:e>
                                <m:sup>
                                  <m:r>
                                    <a:rPr lang="en-US" altLang="zh-CN" sz="2800" b="0" i="0">
                                      <a:solidFill>
                                        <a:srgbClr val="000000"/>
                                      </a:solidFill>
                                      <a:latin typeface="Cambria Math" panose="02040503050406030204" pitchFamily="18" charset="0"/>
                                    </a:rPr>
                                    <m:t>2</m:t>
                                  </m:r>
                                </m:sup>
                              </m:sSup>
                            </m:den>
                          </m:f>
                          <m:func>
                            <m:funcPr>
                              <m:ctrlPr>
                                <a:rPr lang="en-US" altLang="zh-CN" sz="2800" i="1">
                                  <a:solidFill>
                                    <a:srgbClr val="000000"/>
                                  </a:solidFill>
                                  <a:latin typeface="Cambria Math" panose="02040503050406030204" pitchFamily="18" charset="0"/>
                                </a:rPr>
                              </m:ctrlPr>
                            </m:funcPr>
                            <m:fName>
                              <m:r>
                                <m:rPr>
                                  <m:sty m:val="p"/>
                                </m:rPr>
                                <a:rPr lang="en-US" altLang="zh-CN" sz="2800" b="0" i="0">
                                  <a:solidFill>
                                    <a:srgbClr val="000000"/>
                                  </a:solidFill>
                                  <a:latin typeface="Cambria Math" panose="02040503050406030204" pitchFamily="18" charset="0"/>
                                </a:rPr>
                                <m:t>cos</m:t>
                              </m:r>
                            </m:fName>
                            <m:e>
                              <m:r>
                                <m:rPr>
                                  <m:sty m:val="p"/>
                                </m:rPr>
                                <a:rPr lang="zh-CN" altLang="en-US" sz="2800" b="0" i="0">
                                  <a:solidFill>
                                    <a:srgbClr val="000000"/>
                                  </a:solidFill>
                                  <a:latin typeface="Cambria Math" panose="02040503050406030204" pitchFamily="18" charset="0"/>
                                </a:rPr>
                                <m:t>θ</m:t>
                              </m:r>
                            </m:e>
                          </m:func>
                        </m:e>
                      </m:nary>
                    </m:oMath>
                  </m:oMathPara>
                </a14:m>
                <a:endParaRPr lang="en-US" altLang="zh-CN" sz="2800" dirty="0">
                  <a:solidFill>
                    <a:srgbClr val="0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800" b="0" i="0">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func>
                            <m:funcPr>
                              <m:ctrlPr>
                                <a:rPr lang="en-US" altLang="zh-CN" sz="2800" i="1">
                                  <a:solidFill>
                                    <a:srgbClr val="000000"/>
                                  </a:solidFill>
                                  <a:latin typeface="Cambria Math" panose="02040503050406030204" pitchFamily="18" charset="0"/>
                                </a:rPr>
                              </m:ctrlPr>
                            </m:funcPr>
                            <m:fName>
                              <m:r>
                                <m:rPr>
                                  <m:sty m:val="p"/>
                                </m:rPr>
                                <a:rPr lang="en-US" altLang="zh-CN" sz="2800" b="0" i="0">
                                  <a:solidFill>
                                    <a:srgbClr val="000000"/>
                                  </a:solidFill>
                                  <a:latin typeface="Cambria Math" panose="02040503050406030204" pitchFamily="18" charset="0"/>
                                </a:rPr>
                                <m:t>cos</m:t>
                              </m:r>
                            </m:fName>
                            <m:e>
                              <m:r>
                                <m:rPr>
                                  <m:sty m:val="p"/>
                                </m:rPr>
                                <a:rPr lang="zh-CN" altLang="en-US" sz="2800" b="0" i="0">
                                  <a:solidFill>
                                    <a:srgbClr val="000000"/>
                                  </a:solidFill>
                                  <a:latin typeface="Cambria Math" panose="02040503050406030204" pitchFamily="18" charset="0"/>
                                </a:rPr>
                                <m:t>θ</m:t>
                              </m:r>
                            </m:e>
                          </m:func>
                        </m:num>
                        <m:den>
                          <m:r>
                            <a:rPr lang="en-US" altLang="zh-CN" sz="2800" b="0" i="0">
                              <a:solidFill>
                                <a:srgbClr val="000000"/>
                              </a:solidFill>
                              <a:latin typeface="Cambria Math" panose="02040503050406030204" pitchFamily="18" charset="0"/>
                            </a:rPr>
                            <m:t>4</m:t>
                          </m:r>
                          <m:r>
                            <m:rPr>
                              <m:sty m:val="p"/>
                            </m:rPr>
                            <a:rPr lang="zh-CN" altLang="en-US" sz="2800" b="0" i="0">
                              <a:solidFill>
                                <a:srgbClr val="000000"/>
                              </a:solidFill>
                              <a:latin typeface="Cambria Math" panose="02040503050406030204" pitchFamily="18" charset="0"/>
                            </a:rPr>
                            <m:t>π</m:t>
                          </m:r>
                          <m:sSub>
                            <m:sSubPr>
                              <m:ctrlPr>
                                <a:rPr lang="en-US" altLang="zh-CN" sz="2800" i="1">
                                  <a:solidFill>
                                    <a:srgbClr val="000000"/>
                                  </a:solidFill>
                                  <a:latin typeface="Cambria Math" panose="02040503050406030204" pitchFamily="18" charset="0"/>
                                </a:rPr>
                              </m:ctrlPr>
                            </m:sSubPr>
                            <m:e>
                              <m:r>
                                <m:rPr>
                                  <m:sty m:val="p"/>
                                </m:rPr>
                                <a:rPr lang="zh-CN" altLang="en-US" sz="2800" b="0" i="0">
                                  <a:solidFill>
                                    <a:srgbClr val="000000"/>
                                  </a:solidFill>
                                  <a:latin typeface="Cambria Math" panose="02040503050406030204" pitchFamily="18" charset="0"/>
                                </a:rPr>
                                <m:t>ε</m:t>
                              </m:r>
                            </m:e>
                            <m:sub>
                              <m:r>
                                <a:rPr lang="en-US" altLang="zh-CN" sz="2800" b="0" i="0">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m:rPr>
                                  <m:sty m:val="p"/>
                                </m:rPr>
                                <a:rPr lang="en-US" altLang="zh-CN" sz="2800" b="0" i="0">
                                  <a:solidFill>
                                    <a:srgbClr val="000000"/>
                                  </a:solidFill>
                                  <a:latin typeface="Cambria Math" panose="02040503050406030204" pitchFamily="18" charset="0"/>
                                </a:rPr>
                                <m:t>r</m:t>
                              </m:r>
                            </m:e>
                            <m:sup>
                              <m:r>
                                <a:rPr lang="en-US" altLang="zh-CN" sz="2800" b="0" i="0">
                                  <a:solidFill>
                                    <a:srgbClr val="000000"/>
                                  </a:solidFill>
                                  <a:latin typeface="Cambria Math" panose="02040503050406030204" pitchFamily="18" charset="0"/>
                                </a:rPr>
                                <m:t>2</m:t>
                              </m:r>
                            </m:sup>
                          </m:sSup>
                        </m:den>
                      </m:f>
                      <m:nary>
                        <m:naryPr>
                          <m:limLoc m:val="undOvr"/>
                          <m:subHide m:val="on"/>
                          <m:supHide m:val="on"/>
                          <m:ctrlPr>
                            <a:rPr lang="en-US" altLang="zh-CN" sz="2800" i="1" smtClean="0">
                              <a:solidFill>
                                <a:schemeClr val="tx1"/>
                              </a:solidFill>
                              <a:latin typeface="Cambria Math" panose="02040503050406030204" pitchFamily="18" charset="0"/>
                            </a:rPr>
                          </m:ctrlPr>
                        </m:naryPr>
                        <m:sub/>
                        <m:sup/>
                        <m:e>
                          <m:r>
                            <m:rPr>
                              <m:sty m:val="p"/>
                            </m:rPr>
                            <a:rPr lang="en-US" altLang="zh-CN" sz="2800" b="0" i="0">
                              <a:solidFill>
                                <a:schemeClr val="tx1"/>
                              </a:solidFill>
                              <a:latin typeface="Cambria Math" panose="02040503050406030204" pitchFamily="18" charset="0"/>
                            </a:rPr>
                            <m:t>dq</m:t>
                          </m:r>
                        </m:e>
                      </m:nary>
                      <m:r>
                        <a:rPr lang="en-US" altLang="zh-CN" sz="2800" b="0" i="0">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m:rPr>
                              <m:sty m:val="p"/>
                            </m:rPr>
                            <a:rPr lang="en-US" altLang="zh-CN" sz="2800" b="0" i="0">
                              <a:solidFill>
                                <a:schemeClr val="tx1"/>
                              </a:solidFill>
                              <a:latin typeface="Cambria Math" panose="02040503050406030204" pitchFamily="18" charset="0"/>
                            </a:rPr>
                            <m:t>q</m:t>
                          </m:r>
                          <m:r>
                            <a:rPr lang="en-US" altLang="zh-CN" sz="2800" b="0" i="0">
                              <a:solidFill>
                                <a:schemeClr val="tx1"/>
                              </a:solidFill>
                              <a:latin typeface="Cambria Math" panose="02040503050406030204" pitchFamily="18" charset="0"/>
                            </a:rPr>
                            <m:t>(</m:t>
                          </m:r>
                          <m:f>
                            <m:fPr>
                              <m:type m:val="lin"/>
                              <m:ctrlPr>
                                <a:rPr lang="en-US" altLang="zh-CN" sz="2800" i="1">
                                  <a:solidFill>
                                    <a:schemeClr val="tx1"/>
                                  </a:solidFill>
                                  <a:latin typeface="Cambria Math" panose="02040503050406030204" pitchFamily="18" charset="0"/>
                                </a:rPr>
                              </m:ctrlPr>
                            </m:fPr>
                            <m:num>
                              <m:r>
                                <m:rPr>
                                  <m:sty m:val="p"/>
                                </m:rPr>
                                <a:rPr lang="en-US" altLang="zh-CN" sz="2800" b="0" i="0">
                                  <a:solidFill>
                                    <a:schemeClr val="tx1"/>
                                  </a:solidFill>
                                  <a:latin typeface="Cambria Math" panose="02040503050406030204" pitchFamily="18" charset="0"/>
                                </a:rPr>
                                <m:t>x</m:t>
                              </m:r>
                            </m:num>
                            <m:den>
                              <m:r>
                                <m:rPr>
                                  <m:sty m:val="p"/>
                                </m:rPr>
                                <a:rPr lang="en-US" altLang="zh-CN" sz="2800" b="0" i="0">
                                  <a:solidFill>
                                    <a:schemeClr val="tx1"/>
                                  </a:solidFill>
                                  <a:latin typeface="Cambria Math" panose="02040503050406030204" pitchFamily="18" charset="0"/>
                                </a:rPr>
                                <m:t>r</m:t>
                              </m:r>
                            </m:den>
                          </m:f>
                          <m:r>
                            <a:rPr lang="en-US" altLang="zh-CN" sz="2800" b="0" i="0">
                              <a:solidFill>
                                <a:schemeClr val="tx1"/>
                              </a:solidFill>
                              <a:latin typeface="Cambria Math" panose="02040503050406030204" pitchFamily="18" charset="0"/>
                            </a:rPr>
                            <m:t>)</m:t>
                          </m:r>
                        </m:num>
                        <m:den>
                          <m:r>
                            <a:rPr lang="en-US" altLang="zh-CN" sz="2800" b="0" i="0">
                              <a:solidFill>
                                <a:schemeClr val="tx1"/>
                              </a:solidFill>
                              <a:latin typeface="Cambria Math" panose="02040503050406030204" pitchFamily="18" charset="0"/>
                            </a:rPr>
                            <m:t>4</m:t>
                          </m:r>
                          <m:r>
                            <m:rPr>
                              <m:sty m:val="p"/>
                            </m:rPr>
                            <a:rPr lang="zh-CN" altLang="en-US" sz="2800" b="0" i="0">
                              <a:solidFill>
                                <a:schemeClr val="tx1"/>
                              </a:solidFill>
                              <a:latin typeface="Cambria Math" panose="02040503050406030204" pitchFamily="18" charset="0"/>
                            </a:rPr>
                            <m:t>π</m:t>
                          </m:r>
                          <m:sSub>
                            <m:sSubPr>
                              <m:ctrlPr>
                                <a:rPr lang="en-US" altLang="zh-CN" sz="2800" i="1">
                                  <a:solidFill>
                                    <a:schemeClr val="tx1"/>
                                  </a:solidFill>
                                  <a:latin typeface="Cambria Math" panose="02040503050406030204" pitchFamily="18" charset="0"/>
                                </a:rPr>
                              </m:ctrlPr>
                            </m:sSubPr>
                            <m:e>
                              <m:r>
                                <m:rPr>
                                  <m:sty m:val="p"/>
                                </m:rPr>
                                <a:rPr lang="zh-CN" altLang="en-US" sz="2800" b="0" i="0">
                                  <a:solidFill>
                                    <a:schemeClr val="tx1"/>
                                  </a:solidFill>
                                  <a:latin typeface="Cambria Math" panose="02040503050406030204" pitchFamily="18" charset="0"/>
                                </a:rPr>
                                <m:t>ε</m:t>
                              </m:r>
                            </m:e>
                            <m:sub>
                              <m:r>
                                <a:rPr lang="en-US" altLang="zh-CN" sz="2800" b="0" i="0">
                                  <a:solidFill>
                                    <a:schemeClr val="tx1"/>
                                  </a:solidFill>
                                  <a:latin typeface="Cambria Math" panose="02040503050406030204" pitchFamily="18" charset="0"/>
                                </a:rPr>
                                <m:t>0</m:t>
                              </m:r>
                            </m:sub>
                          </m:sSub>
                          <m:sSup>
                            <m:sSupPr>
                              <m:ctrlPr>
                                <a:rPr lang="en-US" altLang="zh-CN" sz="2800" i="1">
                                  <a:solidFill>
                                    <a:schemeClr val="tx1"/>
                                  </a:solidFill>
                                  <a:latin typeface="Cambria Math" panose="02040503050406030204" pitchFamily="18" charset="0"/>
                                </a:rPr>
                              </m:ctrlPr>
                            </m:sSupPr>
                            <m:e>
                              <m:r>
                                <m:rPr>
                                  <m:sty m:val="p"/>
                                </m:rPr>
                                <a:rPr lang="en-US" altLang="zh-CN" sz="2800" b="0" i="0">
                                  <a:solidFill>
                                    <a:schemeClr val="tx1"/>
                                  </a:solidFill>
                                  <a:latin typeface="Cambria Math" panose="02040503050406030204" pitchFamily="18" charset="0"/>
                                </a:rPr>
                                <m:t>r</m:t>
                              </m:r>
                            </m:e>
                            <m:sup>
                              <m:r>
                                <a:rPr lang="en-US" altLang="zh-CN" sz="2800" b="0" i="0">
                                  <a:solidFill>
                                    <a:schemeClr val="tx1"/>
                                  </a:solidFill>
                                  <a:latin typeface="Cambria Math" panose="02040503050406030204" pitchFamily="18" charset="0"/>
                                </a:rPr>
                                <m:t>2</m:t>
                              </m:r>
                            </m:sup>
                          </m:sSup>
                        </m:den>
                      </m:f>
                    </m:oMath>
                  </m:oMathPara>
                </a14:m>
                <a:endParaRPr lang="en-US" altLang="zh-CN" sz="2800" dirty="0">
                  <a:solidFill>
                    <a:srgbClr val="000000"/>
                  </a:solidFill>
                  <a:latin typeface="Cambria Math" panose="02040503050406030204" pitchFamily="18" charset="0"/>
                </a:endParaRPr>
              </a:p>
              <a:p>
                <a:pPr/>
                <a14:m>
                  <m:oMathPara xmlns:m="http://schemas.openxmlformats.org/officeDocument/2006/math">
                    <m:oMathParaPr>
                      <m:jc m:val="centerGroup"/>
                    </m:oMathParaPr>
                    <m:oMath xmlns:m="http://schemas.openxmlformats.org/officeDocument/2006/math">
                      <m:r>
                        <a:rPr lang="en-US" altLang="zh-CN" sz="2800" b="0" i="0">
                          <a:solidFill>
                            <a:srgbClr val="000000"/>
                          </a:solidFill>
                          <a:latin typeface="Cambria Math" panose="02040503050406030204" pitchFamily="18" charset="0"/>
                        </a:rPr>
                        <m:t>=</m:t>
                      </m:r>
                      <m:f>
                        <m:fPr>
                          <m:ctrlPr>
                            <a:rPr lang="en-US" altLang="zh-CN" sz="2800" i="1">
                              <a:latin typeface="Cambria Math" panose="02040503050406030204" pitchFamily="18" charset="0"/>
                            </a:rPr>
                          </m:ctrlPr>
                        </m:fPr>
                        <m:num>
                          <m:r>
                            <m:rPr>
                              <m:sty m:val="p"/>
                            </m:rPr>
                            <a:rPr lang="en-US" altLang="zh-CN" sz="2800" b="0" i="0">
                              <a:latin typeface="Cambria Math" panose="02040503050406030204" pitchFamily="18" charset="0"/>
                            </a:rPr>
                            <m:t>qx</m:t>
                          </m:r>
                        </m:num>
                        <m:den>
                          <m:r>
                            <a:rPr lang="en-US" altLang="zh-CN" sz="2800" b="0" i="0">
                              <a:latin typeface="Cambria Math" panose="02040503050406030204" pitchFamily="18" charset="0"/>
                            </a:rPr>
                            <m:t>4</m:t>
                          </m:r>
                          <m:r>
                            <m:rPr>
                              <m:sty m:val="p"/>
                            </m:rPr>
                            <a:rPr lang="zh-CN" altLang="en-US" sz="2800" b="0" i="0">
                              <a:latin typeface="Cambria Math" panose="02040503050406030204" pitchFamily="18" charset="0"/>
                            </a:rPr>
                            <m:t>π</m:t>
                          </m:r>
                          <m:sSub>
                            <m:sSubPr>
                              <m:ctrlPr>
                                <a:rPr lang="en-US" altLang="zh-CN" sz="2800" i="1">
                                  <a:latin typeface="Cambria Math" panose="02040503050406030204" pitchFamily="18" charset="0"/>
                                </a:rPr>
                              </m:ctrlPr>
                            </m:sSubPr>
                            <m:e>
                              <m:r>
                                <m:rPr>
                                  <m:sty m:val="p"/>
                                </m:rPr>
                                <a:rPr lang="zh-CN" altLang="en-US" sz="2800" b="0" i="0">
                                  <a:latin typeface="Cambria Math" panose="02040503050406030204" pitchFamily="18" charset="0"/>
                                </a:rPr>
                                <m:t>ε</m:t>
                              </m:r>
                            </m:e>
                            <m:sub>
                              <m:r>
                                <a:rPr lang="en-US" altLang="zh-CN" sz="2800" b="0" i="0">
                                  <a:latin typeface="Cambria Math" panose="02040503050406030204" pitchFamily="18" charset="0"/>
                                </a:rPr>
                                <m:t>0</m:t>
                              </m:r>
                            </m:sub>
                          </m:sSub>
                          <m:sSup>
                            <m:sSupPr>
                              <m:ctrlPr>
                                <a:rPr lang="en-US" altLang="zh-CN" sz="2800" i="1">
                                  <a:latin typeface="Cambria Math" panose="02040503050406030204" pitchFamily="18" charset="0"/>
                                </a:rPr>
                              </m:ctrlPr>
                            </m:sSupPr>
                            <m:e>
                              <m:r>
                                <m:rPr>
                                  <m:sty m:val="p"/>
                                </m:rPr>
                                <a:rPr lang="en-US" altLang="zh-CN" sz="2800" b="0" i="0">
                                  <a:latin typeface="Cambria Math" panose="02040503050406030204" pitchFamily="18" charset="0"/>
                                </a:rPr>
                                <m:t>r</m:t>
                              </m:r>
                            </m:e>
                            <m:sup>
                              <m:r>
                                <a:rPr lang="en-US" altLang="zh-CN" sz="2800" b="0" i="0">
                                  <a:latin typeface="Cambria Math" panose="02040503050406030204" pitchFamily="18" charset="0"/>
                                </a:rPr>
                                <m:t>3</m:t>
                              </m:r>
                            </m:sup>
                          </m:sSup>
                        </m:den>
                      </m:f>
                    </m:oMath>
                  </m:oMathPara>
                </a14:m>
                <a:endParaRPr lang="en-US" altLang="zh-CN" sz="2800" dirty="0">
                  <a:solidFill>
                    <a:srgbClr val="000000"/>
                  </a:solidFill>
                  <a:latin typeface="Cambria Math" panose="02040503050406030204" pitchFamily="18" charset="0"/>
                </a:endParaRPr>
              </a:p>
            </p:txBody>
          </p:sp>
        </mc:Choice>
        <mc:Fallback xmlns="">
          <p:sp>
            <p:nvSpPr>
              <p:cNvPr id="35" name="矩形 34"/>
              <p:cNvSpPr>
                <a:spLocks noRot="1" noChangeAspect="1" noMove="1" noResize="1" noEditPoints="1" noAdjustHandles="1" noChangeArrowheads="1" noChangeShapeType="1" noTextEdit="1"/>
              </p:cNvSpPr>
              <p:nvPr/>
            </p:nvSpPr>
            <p:spPr>
              <a:xfrm>
                <a:off x="4106371" y="1626798"/>
                <a:ext cx="8892384" cy="3169266"/>
              </a:xfrm>
              <a:prstGeom prst="rect">
                <a:avLst/>
              </a:prstGeom>
              <a:blipFill>
                <a:blip r:embed="rId2"/>
                <a:stretch>
                  <a:fillRect/>
                </a:stretch>
              </a:blipFill>
            </p:spPr>
            <p:txBody>
              <a:bodyPr/>
              <a:lstStyle/>
              <a:p>
                <a:r>
                  <a:rPr lang="zh-CN" altLang="en-US">
                    <a:noFill/>
                  </a:rPr>
                  <a:t> </a:t>
                </a:r>
              </a:p>
            </p:txBody>
          </p:sp>
        </mc:Fallback>
      </mc:AlternateContent>
      <p:pic>
        <p:nvPicPr>
          <p:cNvPr id="36" name="图片 35"/>
          <p:cNvPicPr>
            <a:picLocks noChangeAspect="1"/>
          </p:cNvPicPr>
          <p:nvPr/>
        </p:nvPicPr>
        <p:blipFill>
          <a:blip r:embed="rId3"/>
          <a:stretch>
            <a:fillRect/>
          </a:stretch>
        </p:blipFill>
        <p:spPr>
          <a:xfrm>
            <a:off x="789152" y="2160785"/>
            <a:ext cx="4907705" cy="2999492"/>
          </a:xfrm>
          <a:prstGeom prst="rect">
            <a:avLst/>
          </a:prstGeom>
          <a:ln>
            <a:noFill/>
          </a:ln>
          <a:effectLst>
            <a:outerShdw blurRad="190500" algn="tl" rotWithShape="0">
              <a:srgbClr val="000000">
                <a:alpha val="70000"/>
              </a:srgbClr>
            </a:outerShdw>
          </a:effectLst>
          <a:scene3d>
            <a:camera prst="perspectiveLeft"/>
            <a:lightRig rig="threePt" dir="t"/>
          </a:scene3d>
        </p:spPr>
      </p:pic>
      <mc:AlternateContent xmlns:mc="http://schemas.openxmlformats.org/markup-compatibility/2006" xmlns:a14="http://schemas.microsoft.com/office/drawing/2010/main">
        <mc:Choice Requires="a14">
          <p:sp>
            <p:nvSpPr>
              <p:cNvPr id="5" name="标题 2">
                <a:extLst>
                  <a:ext uri="{FF2B5EF4-FFF2-40B4-BE49-F238E27FC236}">
                    <a16:creationId xmlns:a16="http://schemas.microsoft.com/office/drawing/2014/main" id="{E998F37E-9055-43CF-956F-1A70484DE52B}"/>
                  </a:ext>
                </a:extLst>
              </p:cNvPr>
              <p:cNvSpPr txBox="1">
                <a:spLocks/>
              </p:cNvSpPr>
              <p:nvPr/>
            </p:nvSpPr>
            <p:spPr>
              <a:xfrm>
                <a:off x="789152" y="598564"/>
                <a:ext cx="8190910" cy="61592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例</a:t>
                </a:r>
                <a:r>
                  <a:rPr lang="en-US" altLang="zh-CN" sz="2800" dirty="0">
                    <a:solidFill>
                      <a:schemeClr val="tx1"/>
                    </a:solidFill>
                    <a:latin typeface="华文楷体" panose="02010600040101010101" pitchFamily="2" charset="-122"/>
                    <a:ea typeface="华文楷体" panose="02010600040101010101" pitchFamily="2" charset="-122"/>
                  </a:rPr>
                  <a:t>12.5]</a:t>
                </a:r>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求一均匀带电圆环轴线上任一点</a:t>
                </a:r>
                <a14:m>
                  <m:oMath xmlns:m="http://schemas.openxmlformats.org/officeDocument/2006/math">
                    <m:r>
                      <a:rPr lang="en-US" altLang="zh-CN" sz="2800" i="1" dirty="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𝒙</m:t>
                    </m:r>
                  </m:oMath>
                </a14:m>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处的电场</a:t>
                </a:r>
                <a:endParaRPr lang="zh-CN" altLang="en-US" dirty="0">
                  <a:solidFill>
                    <a:schemeClr val="tx1"/>
                  </a:solidFill>
                  <a:latin typeface="华文楷体" panose="02010600040101010101" pitchFamily="2" charset="-122"/>
                  <a:ea typeface="华文楷体" panose="02010600040101010101" pitchFamily="2" charset="-122"/>
                </a:endParaRPr>
              </a:p>
            </p:txBody>
          </p:sp>
        </mc:Choice>
        <mc:Fallback xmlns="">
          <p:sp>
            <p:nvSpPr>
              <p:cNvPr id="5" name="标题 2">
                <a:extLst>
                  <a:ext uri="{FF2B5EF4-FFF2-40B4-BE49-F238E27FC236}">
                    <a16:creationId xmlns:a16="http://schemas.microsoft.com/office/drawing/2014/main" id="{E998F37E-9055-43CF-956F-1A70484DE52B}"/>
                  </a:ext>
                </a:extLst>
              </p:cNvPr>
              <p:cNvSpPr txBox="1">
                <a:spLocks noRot="1" noChangeAspect="1" noMove="1" noResize="1" noEditPoints="1" noAdjustHandles="1" noChangeArrowheads="1" noChangeShapeType="1" noTextEdit="1"/>
              </p:cNvSpPr>
              <p:nvPr/>
            </p:nvSpPr>
            <p:spPr>
              <a:xfrm>
                <a:off x="789152" y="598564"/>
                <a:ext cx="8190910" cy="615921"/>
              </a:xfrm>
              <a:prstGeom prst="rect">
                <a:avLst/>
              </a:prstGeom>
              <a:blipFill>
                <a:blip r:embed="rId4"/>
                <a:stretch>
                  <a:fillRect l="-1488" t="-16832" b="-49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标题 3">
                <a:extLst>
                  <a:ext uri="{FF2B5EF4-FFF2-40B4-BE49-F238E27FC236}">
                    <a16:creationId xmlns:a16="http://schemas.microsoft.com/office/drawing/2014/main" id="{AED58E7E-7A22-4110-8DB0-308482F021CF}"/>
                  </a:ext>
                </a:extLst>
              </p:cNvPr>
              <p:cNvSpPr txBox="1">
                <a:spLocks/>
              </p:cNvSpPr>
              <p:nvPr/>
            </p:nvSpPr>
            <p:spPr>
              <a:xfrm>
                <a:off x="4718113" y="5330051"/>
                <a:ext cx="7543800" cy="125218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altLang="zh-CN" sz="3200" i="1" smtClean="0">
                          <a:solidFill>
                            <a:srgbClr val="0066FF"/>
                          </a:solidFill>
                          <a:latin typeface="Cambria Math" panose="02040503050406030204" pitchFamily="18" charset="0"/>
                        </a:rPr>
                        <m:t>𝑬</m:t>
                      </m:r>
                      <m:r>
                        <a:rPr lang="en-US" altLang="zh-CN" sz="3200" i="1" smtClean="0">
                          <a:solidFill>
                            <a:srgbClr val="0066FF"/>
                          </a:solidFill>
                          <a:latin typeface="Cambria Math" panose="02040503050406030204" pitchFamily="18" charset="0"/>
                        </a:rPr>
                        <m:t>=</m:t>
                      </m:r>
                      <m:f>
                        <m:fPr>
                          <m:ctrlPr>
                            <a:rPr lang="en-US" altLang="zh-CN" sz="3200" i="1">
                              <a:solidFill>
                                <a:srgbClr val="0066FF"/>
                              </a:solidFill>
                              <a:latin typeface="Cambria Math" panose="02040503050406030204" pitchFamily="18" charset="0"/>
                            </a:rPr>
                          </m:ctrlPr>
                        </m:fPr>
                        <m:num>
                          <m:r>
                            <a:rPr lang="en-US" altLang="zh-CN" sz="3200" i="1">
                              <a:solidFill>
                                <a:srgbClr val="0066FF"/>
                              </a:solidFill>
                              <a:latin typeface="Cambria Math" panose="02040503050406030204" pitchFamily="18" charset="0"/>
                            </a:rPr>
                            <m:t>𝒒𝒙</m:t>
                          </m:r>
                        </m:num>
                        <m:den>
                          <m:r>
                            <a:rPr lang="en-US" altLang="zh-CN" sz="3200" i="1">
                              <a:solidFill>
                                <a:srgbClr val="0066FF"/>
                              </a:solidFill>
                              <a:latin typeface="Cambria Math" panose="02040503050406030204" pitchFamily="18" charset="0"/>
                            </a:rPr>
                            <m:t>𝟒</m:t>
                          </m:r>
                          <m:r>
                            <a:rPr lang="zh-CN" altLang="en-US" sz="3200" i="1">
                              <a:solidFill>
                                <a:srgbClr val="0066FF"/>
                              </a:solidFill>
                              <a:latin typeface="Cambria Math" panose="02040503050406030204" pitchFamily="18" charset="0"/>
                            </a:rPr>
                            <m:t>𝝅</m:t>
                          </m:r>
                          <m:sSub>
                            <m:sSubPr>
                              <m:ctrlPr>
                                <a:rPr lang="en-US" altLang="zh-CN" sz="3200" i="1">
                                  <a:solidFill>
                                    <a:srgbClr val="0066FF"/>
                                  </a:solidFill>
                                  <a:latin typeface="Cambria Math" panose="02040503050406030204" pitchFamily="18" charset="0"/>
                                </a:rPr>
                              </m:ctrlPr>
                            </m:sSubPr>
                            <m:e>
                              <m:r>
                                <a:rPr lang="zh-CN" altLang="en-US" sz="3200" i="1">
                                  <a:solidFill>
                                    <a:srgbClr val="0066FF"/>
                                  </a:solidFill>
                                  <a:latin typeface="Cambria Math" panose="02040503050406030204" pitchFamily="18" charset="0"/>
                                </a:rPr>
                                <m:t>𝜺</m:t>
                              </m:r>
                            </m:e>
                            <m:sub>
                              <m:r>
                                <a:rPr lang="en-US" altLang="zh-CN" sz="3200" i="1">
                                  <a:solidFill>
                                    <a:srgbClr val="0066FF"/>
                                  </a:solidFill>
                                  <a:latin typeface="Cambria Math" panose="02040503050406030204" pitchFamily="18" charset="0"/>
                                </a:rPr>
                                <m:t>𝟎</m:t>
                              </m:r>
                            </m:sub>
                          </m:sSub>
                          <m:sSup>
                            <m:sSupPr>
                              <m:ctrlPr>
                                <a:rPr lang="en-US" altLang="zh-CN" sz="3200" i="1">
                                  <a:solidFill>
                                    <a:srgbClr val="0066FF"/>
                                  </a:solidFill>
                                  <a:latin typeface="Cambria Math" panose="02040503050406030204" pitchFamily="18" charset="0"/>
                                </a:rPr>
                              </m:ctrlPr>
                            </m:sSupPr>
                            <m:e>
                              <m:r>
                                <a:rPr lang="en-US" altLang="zh-CN" sz="3200" i="1">
                                  <a:solidFill>
                                    <a:srgbClr val="0066FF"/>
                                  </a:solidFill>
                                  <a:latin typeface="Cambria Math" panose="02040503050406030204" pitchFamily="18" charset="0"/>
                                </a:rPr>
                                <m:t>(</m:t>
                              </m:r>
                              <m:sSup>
                                <m:sSupPr>
                                  <m:ctrlPr>
                                    <a:rPr lang="en-US" altLang="zh-CN" sz="3200" i="1">
                                      <a:solidFill>
                                        <a:srgbClr val="0066FF"/>
                                      </a:solidFill>
                                      <a:latin typeface="Cambria Math" panose="02040503050406030204" pitchFamily="18" charset="0"/>
                                    </a:rPr>
                                  </m:ctrlPr>
                                </m:sSupPr>
                                <m:e>
                                  <m:r>
                                    <a:rPr lang="en-US" altLang="zh-CN" sz="3200" i="1">
                                      <a:solidFill>
                                        <a:srgbClr val="0066FF"/>
                                      </a:solidFill>
                                      <a:latin typeface="Cambria Math" panose="02040503050406030204" pitchFamily="18" charset="0"/>
                                    </a:rPr>
                                    <m:t>𝑹</m:t>
                                  </m:r>
                                </m:e>
                                <m:sup>
                                  <m:r>
                                    <a:rPr lang="en-US" altLang="zh-CN" sz="3200" i="1">
                                      <a:solidFill>
                                        <a:srgbClr val="0066FF"/>
                                      </a:solidFill>
                                      <a:latin typeface="Cambria Math" panose="02040503050406030204" pitchFamily="18" charset="0"/>
                                    </a:rPr>
                                    <m:t>𝟐</m:t>
                                  </m:r>
                                </m:sup>
                              </m:sSup>
                              <m:r>
                                <a:rPr lang="en-US" altLang="zh-CN" sz="3200" i="1">
                                  <a:solidFill>
                                    <a:srgbClr val="0066FF"/>
                                  </a:solidFill>
                                  <a:latin typeface="Cambria Math" panose="02040503050406030204" pitchFamily="18" charset="0"/>
                                </a:rPr>
                                <m:t>+</m:t>
                              </m:r>
                              <m:sSup>
                                <m:sSupPr>
                                  <m:ctrlPr>
                                    <a:rPr lang="en-US" altLang="zh-CN" sz="3200" i="1">
                                      <a:solidFill>
                                        <a:srgbClr val="0066FF"/>
                                      </a:solidFill>
                                      <a:latin typeface="Cambria Math" panose="02040503050406030204" pitchFamily="18" charset="0"/>
                                    </a:rPr>
                                  </m:ctrlPr>
                                </m:sSupPr>
                                <m:e>
                                  <m:r>
                                    <a:rPr lang="en-US" altLang="zh-CN" sz="3200" i="1">
                                      <a:solidFill>
                                        <a:srgbClr val="0066FF"/>
                                      </a:solidFill>
                                      <a:latin typeface="Cambria Math" panose="02040503050406030204" pitchFamily="18" charset="0"/>
                                    </a:rPr>
                                    <m:t>𝒙</m:t>
                                  </m:r>
                                </m:e>
                                <m:sup>
                                  <m:r>
                                    <a:rPr lang="en-US" altLang="zh-CN" sz="3200" i="1">
                                      <a:solidFill>
                                        <a:srgbClr val="0066FF"/>
                                      </a:solidFill>
                                      <a:latin typeface="Cambria Math" panose="02040503050406030204" pitchFamily="18" charset="0"/>
                                    </a:rPr>
                                    <m:t>𝟐</m:t>
                                  </m:r>
                                </m:sup>
                              </m:sSup>
                              <m:r>
                                <a:rPr lang="en-US" altLang="zh-CN" sz="3200" i="1">
                                  <a:solidFill>
                                    <a:srgbClr val="0066FF"/>
                                  </a:solidFill>
                                  <a:latin typeface="Cambria Math" panose="02040503050406030204" pitchFamily="18" charset="0"/>
                                </a:rPr>
                                <m:t>)</m:t>
                              </m:r>
                            </m:e>
                            <m:sup>
                              <m:f>
                                <m:fPr>
                                  <m:type m:val="lin"/>
                                  <m:ctrlPr>
                                    <a:rPr lang="en-US" altLang="zh-CN" sz="3200" i="1">
                                      <a:solidFill>
                                        <a:srgbClr val="0066FF"/>
                                      </a:solidFill>
                                      <a:latin typeface="Cambria Math" panose="02040503050406030204" pitchFamily="18" charset="0"/>
                                    </a:rPr>
                                  </m:ctrlPr>
                                </m:fPr>
                                <m:num>
                                  <m:r>
                                    <a:rPr lang="en-US" altLang="zh-CN" sz="3200" i="1">
                                      <a:solidFill>
                                        <a:srgbClr val="0066FF"/>
                                      </a:solidFill>
                                      <a:latin typeface="Cambria Math" panose="02040503050406030204" pitchFamily="18" charset="0"/>
                                    </a:rPr>
                                    <m:t>𝟑</m:t>
                                  </m:r>
                                </m:num>
                                <m:den>
                                  <m:r>
                                    <a:rPr lang="en-US" altLang="zh-CN" sz="3200" i="1">
                                      <a:solidFill>
                                        <a:srgbClr val="0066FF"/>
                                      </a:solidFill>
                                      <a:latin typeface="Cambria Math" panose="02040503050406030204" pitchFamily="18" charset="0"/>
                                    </a:rPr>
                                    <m:t>𝟐</m:t>
                                  </m:r>
                                </m:den>
                              </m:f>
                            </m:sup>
                          </m:sSup>
                        </m:den>
                      </m:f>
                    </m:oMath>
                  </m:oMathPara>
                </a14:m>
                <a:endParaRPr lang="zh-CN" altLang="en-US" sz="3200" dirty="0">
                  <a:solidFill>
                    <a:srgbClr val="0066FF"/>
                  </a:solidFill>
                </a:endParaRPr>
              </a:p>
            </p:txBody>
          </p:sp>
        </mc:Choice>
        <mc:Fallback xmlns="">
          <p:sp>
            <p:nvSpPr>
              <p:cNvPr id="6" name="标题 3">
                <a:extLst>
                  <a:ext uri="{FF2B5EF4-FFF2-40B4-BE49-F238E27FC236}">
                    <a16:creationId xmlns:a16="http://schemas.microsoft.com/office/drawing/2014/main" id="{AED58E7E-7A22-4110-8DB0-308482F021CF}"/>
                  </a:ext>
                </a:extLst>
              </p:cNvPr>
              <p:cNvSpPr txBox="1">
                <a:spLocks noRot="1" noChangeAspect="1" noMove="1" noResize="1" noEditPoints="1" noAdjustHandles="1" noChangeArrowheads="1" noChangeShapeType="1" noTextEdit="1"/>
              </p:cNvSpPr>
              <p:nvPr/>
            </p:nvSpPr>
            <p:spPr>
              <a:xfrm>
                <a:off x="4718113" y="5330051"/>
                <a:ext cx="7543800" cy="1252186"/>
              </a:xfrm>
              <a:prstGeom prst="rect">
                <a:avLst/>
              </a:prstGeom>
              <a:blipFill>
                <a:blip r:embed="rId5"/>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0639030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oup 15"/>
          <p:cNvGrpSpPr/>
          <p:nvPr/>
        </p:nvGrpSpPr>
        <p:grpSpPr>
          <a:xfrm>
            <a:off x="6776105" y="4345103"/>
            <a:ext cx="5029200" cy="2286000"/>
            <a:chOff x="3312" y="576"/>
            <a:chExt cx="3168" cy="1440"/>
          </a:xfrm>
        </p:grpSpPr>
        <p:sp>
          <p:nvSpPr>
            <p:cNvPr id="38933" name="Rectangle 16"/>
            <p:cNvSpPr/>
            <p:nvPr/>
          </p:nvSpPr>
          <p:spPr>
            <a:xfrm>
              <a:off x="3312" y="576"/>
              <a:ext cx="3168" cy="1440"/>
            </a:xfrm>
            <a:prstGeom prst="rect">
              <a:avLst/>
            </a:prstGeom>
            <a:solidFill>
              <a:schemeClr val="bg1"/>
            </a:solidFill>
            <a:ln w="9525">
              <a:noFill/>
            </a:ln>
          </p:spPr>
          <p:txBody>
            <a:bodyPr wrap="none" anchor="ctr" anchorCtr="0"/>
            <a:lstStyle/>
            <a:p>
              <a:pPr eaLnBrk="0" hangingPunct="0"/>
              <a:endParaRPr lang="zh-CN" altLang="en-US" dirty="0">
                <a:latin typeface="Bookman Old Style" panose="02050604050505020204" pitchFamily="18" charset="0"/>
              </a:endParaRPr>
            </a:p>
          </p:txBody>
        </p:sp>
        <p:grpSp>
          <p:nvGrpSpPr>
            <p:cNvPr id="38934" name="Group 17"/>
            <p:cNvGrpSpPr/>
            <p:nvPr/>
          </p:nvGrpSpPr>
          <p:grpSpPr>
            <a:xfrm>
              <a:off x="3840" y="762"/>
              <a:ext cx="2417" cy="1070"/>
              <a:chOff x="3120" y="2784"/>
              <a:chExt cx="2417" cy="1248"/>
            </a:xfrm>
          </p:grpSpPr>
          <p:sp>
            <p:nvSpPr>
              <p:cNvPr id="38935" name="Line 18"/>
              <p:cNvSpPr/>
              <p:nvPr/>
            </p:nvSpPr>
            <p:spPr>
              <a:xfrm>
                <a:off x="3120" y="3408"/>
                <a:ext cx="2352" cy="0"/>
              </a:xfrm>
              <a:prstGeom prst="line">
                <a:avLst/>
              </a:prstGeom>
              <a:ln w="12700" cap="flat" cmpd="sng">
                <a:solidFill>
                  <a:schemeClr val="tx1"/>
                </a:solidFill>
                <a:prstDash val="solid"/>
                <a:headEnd type="none" w="med" len="med"/>
                <a:tailEnd type="triangle" w="sm" len="lg"/>
              </a:ln>
            </p:spPr>
          </p:sp>
          <p:sp>
            <p:nvSpPr>
              <p:cNvPr id="38936" name="Line 19"/>
              <p:cNvSpPr/>
              <p:nvPr/>
            </p:nvSpPr>
            <p:spPr>
              <a:xfrm flipV="1">
                <a:off x="4224" y="2784"/>
                <a:ext cx="0" cy="1248"/>
              </a:xfrm>
              <a:prstGeom prst="line">
                <a:avLst/>
              </a:prstGeom>
              <a:ln w="12700" cap="flat" cmpd="sng">
                <a:solidFill>
                  <a:schemeClr val="tx1"/>
                </a:solidFill>
                <a:prstDash val="solid"/>
                <a:headEnd type="none" w="med" len="med"/>
                <a:tailEnd type="triangle" w="sm" len="lg"/>
              </a:ln>
            </p:spPr>
          </p:sp>
          <p:sp>
            <p:nvSpPr>
              <p:cNvPr id="38937" name="Line 20"/>
              <p:cNvSpPr/>
              <p:nvPr/>
            </p:nvSpPr>
            <p:spPr>
              <a:xfrm>
                <a:off x="3840" y="3408"/>
                <a:ext cx="0" cy="480"/>
              </a:xfrm>
              <a:prstGeom prst="line">
                <a:avLst/>
              </a:prstGeom>
              <a:ln w="12700" cap="flat" cmpd="sng">
                <a:solidFill>
                  <a:srgbClr val="0000FF"/>
                </a:solidFill>
                <a:prstDash val="dash"/>
                <a:headEnd type="none" w="med" len="med"/>
                <a:tailEnd type="none" w="med" len="med"/>
              </a:ln>
            </p:spPr>
          </p:sp>
          <p:sp>
            <p:nvSpPr>
              <p:cNvPr id="38938" name="Line 21"/>
              <p:cNvSpPr/>
              <p:nvPr/>
            </p:nvSpPr>
            <p:spPr>
              <a:xfrm>
                <a:off x="4608" y="2928"/>
                <a:ext cx="0" cy="480"/>
              </a:xfrm>
              <a:prstGeom prst="line">
                <a:avLst/>
              </a:prstGeom>
              <a:ln w="12700" cap="flat" cmpd="sng">
                <a:solidFill>
                  <a:srgbClr val="0000FF"/>
                </a:solidFill>
                <a:prstDash val="dash"/>
                <a:headEnd type="none" w="med" len="med"/>
                <a:tailEnd type="none" w="med" len="med"/>
              </a:ln>
            </p:spPr>
          </p:sp>
          <p:sp>
            <p:nvSpPr>
              <p:cNvPr id="38939" name="Freeform 22"/>
              <p:cNvSpPr/>
              <p:nvPr/>
            </p:nvSpPr>
            <p:spPr>
              <a:xfrm>
                <a:off x="3216" y="2904"/>
                <a:ext cx="1920" cy="1008"/>
              </a:xfrm>
              <a:custGeom>
                <a:avLst/>
                <a:gdLst/>
                <a:ahLst/>
                <a:cxnLst>
                  <a:cxn ang="0">
                    <a:pos x="0" y="600"/>
                  </a:cxn>
                  <a:cxn ang="0">
                    <a:pos x="288" y="648"/>
                  </a:cxn>
                  <a:cxn ang="0">
                    <a:pos x="624" y="984"/>
                  </a:cxn>
                  <a:cxn ang="0">
                    <a:pos x="1008" y="504"/>
                  </a:cxn>
                  <a:cxn ang="0">
                    <a:pos x="1392" y="24"/>
                  </a:cxn>
                  <a:cxn ang="0">
                    <a:pos x="1728" y="360"/>
                  </a:cxn>
                  <a:cxn ang="0">
                    <a:pos x="1920" y="408"/>
                  </a:cxn>
                </a:cxnLst>
                <a:rect l="0" t="0" r="0" b="0"/>
                <a:pathLst>
                  <a:path w="1920" h="1008">
                    <a:moveTo>
                      <a:pt x="0" y="600"/>
                    </a:moveTo>
                    <a:cubicBezTo>
                      <a:pt x="92" y="592"/>
                      <a:pt x="184" y="584"/>
                      <a:pt x="288" y="648"/>
                    </a:cubicBezTo>
                    <a:cubicBezTo>
                      <a:pt x="392" y="712"/>
                      <a:pt x="504" y="1008"/>
                      <a:pt x="624" y="984"/>
                    </a:cubicBezTo>
                    <a:cubicBezTo>
                      <a:pt x="744" y="960"/>
                      <a:pt x="880" y="664"/>
                      <a:pt x="1008" y="504"/>
                    </a:cubicBezTo>
                    <a:cubicBezTo>
                      <a:pt x="1136" y="344"/>
                      <a:pt x="1272" y="48"/>
                      <a:pt x="1392" y="24"/>
                    </a:cubicBezTo>
                    <a:cubicBezTo>
                      <a:pt x="1512" y="0"/>
                      <a:pt x="1640" y="296"/>
                      <a:pt x="1728" y="360"/>
                    </a:cubicBezTo>
                    <a:cubicBezTo>
                      <a:pt x="1816" y="424"/>
                      <a:pt x="1888" y="400"/>
                      <a:pt x="1920" y="408"/>
                    </a:cubicBezTo>
                  </a:path>
                </a:pathLst>
              </a:custGeom>
              <a:noFill/>
              <a:ln w="38100" cap="flat" cmpd="sng">
                <a:solidFill>
                  <a:srgbClr val="FF0000">
                    <a:alpha val="100000"/>
                  </a:srgbClr>
                </a:solidFill>
                <a:prstDash val="solid"/>
                <a:round/>
                <a:headEnd type="none" w="med" len="med"/>
                <a:tailEnd type="none" w="med" len="med"/>
              </a:ln>
            </p:spPr>
            <p:txBody>
              <a:bodyPr/>
              <a:lstStyle/>
              <a:p>
                <a:endParaRPr lang="zh-CN" altLang="en-US"/>
              </a:p>
            </p:txBody>
          </p:sp>
          <p:sp>
            <p:nvSpPr>
              <p:cNvPr id="38940" name="Rectangle 23"/>
              <p:cNvSpPr/>
              <p:nvPr/>
            </p:nvSpPr>
            <p:spPr>
              <a:xfrm>
                <a:off x="3120" y="3456"/>
                <a:ext cx="192" cy="96"/>
              </a:xfrm>
              <a:prstGeom prst="rect">
                <a:avLst/>
              </a:prstGeom>
              <a:solidFill>
                <a:schemeClr val="bg1"/>
              </a:solidFill>
              <a:ln w="9525">
                <a:noFill/>
              </a:ln>
            </p:spPr>
            <p:txBody>
              <a:bodyPr wrap="none" anchor="ctr" anchorCtr="0"/>
              <a:lstStyle/>
              <a:p>
                <a:pPr eaLnBrk="0" hangingPunct="0"/>
                <a:endParaRPr lang="zh-CN" altLang="en-US" dirty="0">
                  <a:latin typeface="Bookman Old Style" panose="02050604050505020204" pitchFamily="18" charset="0"/>
                </a:endParaRPr>
              </a:p>
            </p:txBody>
          </p:sp>
          <mc:AlternateContent xmlns:mc="http://schemas.openxmlformats.org/markup-compatibility/2006" xmlns:a14="http://schemas.microsoft.com/office/drawing/2010/main">
            <mc:Choice Requires="a14">
              <p:sp>
                <p:nvSpPr>
                  <p:cNvPr id="38941" name="Object 24"/>
                  <p:cNvSpPr txBox="1"/>
                  <p:nvPr/>
                </p:nvSpPr>
                <p:spPr>
                  <a:xfrm>
                    <a:off x="4464" y="3456"/>
                    <a:ext cx="440" cy="57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f>
                            <m:fPr>
                              <m:ctrlPr>
                                <a:rPr lang="en-US" i="1">
                                  <a:solidFill>
                                    <a:srgbClr val="000000"/>
                                  </a:solidFill>
                                  <a:latin typeface="Cambria Math" panose="02040503050406030204" pitchFamily="18" charset="0"/>
                                </a:rPr>
                              </m:ctrlPr>
                            </m:fPr>
                            <m:num>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2</m:t>
                                  </m:r>
                                </m:e>
                              </m:rad>
                            </m:num>
                            <m:den>
                              <m:r>
                                <a:rPr lang="en-US" i="1">
                                  <a:solidFill>
                                    <a:srgbClr val="000000"/>
                                  </a:solidFill>
                                  <a:latin typeface="Cambria Math" panose="02040503050406030204" pitchFamily="18" charset="0"/>
                                </a:rPr>
                                <m:t>2</m:t>
                              </m:r>
                            </m:den>
                          </m:f>
                          <m:r>
                            <a:rPr lang="en-US" i="1">
                              <a:solidFill>
                                <a:srgbClr val="000000"/>
                              </a:solidFill>
                              <a:latin typeface="Cambria Math" panose="02040503050406030204" pitchFamily="18" charset="0"/>
                            </a:rPr>
                            <m:t>𝑅</m:t>
                          </m:r>
                        </m:oMath>
                      </m:oMathPara>
                    </a14:m>
                    <a:endParaRPr lang="en-US"/>
                  </a:p>
                </p:txBody>
              </p:sp>
            </mc:Choice>
            <mc:Fallback xmlns="">
              <p:sp>
                <p:nvSpPr>
                  <p:cNvPr id="38941" name="Object 24"/>
                  <p:cNvSpPr txBox="1">
                    <a:spLocks noRot="1" noChangeAspect="1" noMove="1" noResize="1" noEditPoints="1" noAdjustHandles="1" noChangeArrowheads="1" noChangeShapeType="1" noTextEdit="1"/>
                  </p:cNvSpPr>
                  <p:nvPr/>
                </p:nvSpPr>
                <p:spPr>
                  <a:xfrm>
                    <a:off x="4464" y="3456"/>
                    <a:ext cx="440" cy="576"/>
                  </a:xfrm>
                  <a:prstGeom prst="rect">
                    <a:avLst/>
                  </a:prstGeom>
                  <a:blipFill>
                    <a:blip r:embed="rId2"/>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42" name="Object 25"/>
                  <p:cNvSpPr txBox="1"/>
                  <p:nvPr/>
                </p:nvSpPr>
                <p:spPr>
                  <a:xfrm>
                    <a:off x="3503" y="2784"/>
                    <a:ext cx="577" cy="567"/>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m:t>
                          </m:r>
                          <m:f>
                            <m:fPr>
                              <m:ctrlPr>
                                <a:rPr lang="en-US" i="1">
                                  <a:solidFill>
                                    <a:srgbClr val="000000"/>
                                  </a:solidFill>
                                  <a:latin typeface="Cambria Math" panose="02040503050406030204" pitchFamily="18" charset="0"/>
                                </a:rPr>
                              </m:ctrlPr>
                            </m:fPr>
                            <m:num>
                              <m:rad>
                                <m:radPr>
                                  <m:degHide m:val="on"/>
                                  <m:ctrlPr>
                                    <a:rPr lang="en-US" i="1">
                                      <a:solidFill>
                                        <a:srgbClr val="000000"/>
                                      </a:solidFill>
                                      <a:latin typeface="Cambria Math" panose="02040503050406030204" pitchFamily="18" charset="0"/>
                                    </a:rPr>
                                  </m:ctrlPr>
                                </m:radPr>
                                <m:deg/>
                                <m:e>
                                  <m:r>
                                    <a:rPr lang="en-US" i="1">
                                      <a:solidFill>
                                        <a:srgbClr val="000000"/>
                                      </a:solidFill>
                                      <a:latin typeface="Cambria Math" panose="02040503050406030204" pitchFamily="18" charset="0"/>
                                    </a:rPr>
                                    <m:t>2</m:t>
                                  </m:r>
                                </m:e>
                              </m:rad>
                            </m:num>
                            <m:den>
                              <m:r>
                                <a:rPr lang="en-US" i="1">
                                  <a:solidFill>
                                    <a:srgbClr val="000000"/>
                                  </a:solidFill>
                                  <a:latin typeface="Cambria Math" panose="02040503050406030204" pitchFamily="18" charset="0"/>
                                </a:rPr>
                                <m:t>2</m:t>
                              </m:r>
                            </m:den>
                          </m:f>
                          <m:r>
                            <a:rPr lang="en-US" i="1">
                              <a:solidFill>
                                <a:srgbClr val="000000"/>
                              </a:solidFill>
                              <a:latin typeface="Cambria Math" panose="02040503050406030204" pitchFamily="18" charset="0"/>
                            </a:rPr>
                            <m:t>𝑅</m:t>
                          </m:r>
                        </m:oMath>
                      </m:oMathPara>
                    </a14:m>
                    <a:endParaRPr lang="en-US"/>
                  </a:p>
                </p:txBody>
              </p:sp>
            </mc:Choice>
            <mc:Fallback xmlns="">
              <p:sp>
                <p:nvSpPr>
                  <p:cNvPr id="38942" name="Object 25"/>
                  <p:cNvSpPr txBox="1">
                    <a:spLocks noRot="1" noChangeAspect="1" noMove="1" noResize="1" noEditPoints="1" noAdjustHandles="1" noChangeArrowheads="1" noChangeShapeType="1" noTextEdit="1"/>
                  </p:cNvSpPr>
                  <p:nvPr/>
                </p:nvSpPr>
                <p:spPr>
                  <a:xfrm>
                    <a:off x="3503" y="2784"/>
                    <a:ext cx="577" cy="567"/>
                  </a:xfrm>
                  <a:prstGeom prst="rect">
                    <a:avLst/>
                  </a:prstGeom>
                  <a:blipFill>
                    <a:blip r:embed="rId3"/>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43" name="Object 26"/>
                  <p:cNvSpPr txBox="1"/>
                  <p:nvPr/>
                </p:nvSpPr>
                <p:spPr>
                  <a:xfrm>
                    <a:off x="4224" y="2784"/>
                    <a:ext cx="195" cy="240"/>
                  </a:xfrm>
                  <a:prstGeom prst="rect">
                    <a:avLst/>
                  </a:prstGeom>
                  <a:noFill/>
                  <a:ln w="38100">
                    <a:noFill/>
                    <a:miter/>
                  </a:ln>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𝐸</m:t>
                          </m:r>
                        </m:oMath>
                      </m:oMathPara>
                    </a14:m>
                    <a:endParaRPr lang="en-US"/>
                  </a:p>
                </p:txBody>
              </p:sp>
            </mc:Choice>
            <mc:Fallback xmlns="">
              <p:sp>
                <p:nvSpPr>
                  <p:cNvPr id="38943" name="Object 26"/>
                  <p:cNvSpPr txBox="1">
                    <a:spLocks noRot="1" noChangeAspect="1" noMove="1" noResize="1" noEditPoints="1" noAdjustHandles="1" noChangeArrowheads="1" noChangeShapeType="1" noTextEdit="1"/>
                  </p:cNvSpPr>
                  <p:nvPr/>
                </p:nvSpPr>
                <p:spPr>
                  <a:xfrm>
                    <a:off x="4224" y="2784"/>
                    <a:ext cx="195" cy="240"/>
                  </a:xfrm>
                  <a:prstGeom prst="rect">
                    <a:avLst/>
                  </a:prstGeom>
                  <a:blipFill>
                    <a:blip r:embed="rId4"/>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44" name="Object 27"/>
                  <p:cNvSpPr txBox="1"/>
                  <p:nvPr/>
                </p:nvSpPr>
                <p:spPr>
                  <a:xfrm>
                    <a:off x="4210" y="3364"/>
                    <a:ext cx="302" cy="332"/>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𝑜</m:t>
                          </m:r>
                        </m:oMath>
                      </m:oMathPara>
                    </a14:m>
                    <a:endParaRPr lang="en-US"/>
                  </a:p>
                </p:txBody>
              </p:sp>
            </mc:Choice>
            <mc:Fallback xmlns="">
              <p:sp>
                <p:nvSpPr>
                  <p:cNvPr id="38944" name="Object 27"/>
                  <p:cNvSpPr txBox="1">
                    <a:spLocks noRot="1" noChangeAspect="1" noMove="1" noResize="1" noEditPoints="1" noAdjustHandles="1" noChangeArrowheads="1" noChangeShapeType="1" noTextEdit="1"/>
                  </p:cNvSpPr>
                  <p:nvPr/>
                </p:nvSpPr>
                <p:spPr>
                  <a:xfrm>
                    <a:off x="4210" y="3364"/>
                    <a:ext cx="302" cy="332"/>
                  </a:xfrm>
                  <a:prstGeom prst="rect">
                    <a:avLst/>
                  </a:prstGeom>
                  <a:blipFill>
                    <a:blip r:embed="rId5"/>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8946" name="Object 29"/>
                  <p:cNvSpPr txBox="1"/>
                  <p:nvPr/>
                </p:nvSpPr>
                <p:spPr>
                  <a:xfrm>
                    <a:off x="5232" y="3456"/>
                    <a:ext cx="305" cy="33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𝑥</m:t>
                          </m:r>
                        </m:oMath>
                      </m:oMathPara>
                    </a14:m>
                    <a:endParaRPr lang="en-US"/>
                  </a:p>
                </p:txBody>
              </p:sp>
            </mc:Choice>
            <mc:Fallback xmlns="">
              <p:sp>
                <p:nvSpPr>
                  <p:cNvPr id="38946" name="Object 29"/>
                  <p:cNvSpPr txBox="1">
                    <a:spLocks noRot="1" noChangeAspect="1" noMove="1" noResize="1" noEditPoints="1" noAdjustHandles="1" noChangeArrowheads="1" noChangeShapeType="1" noTextEdit="1"/>
                  </p:cNvSpPr>
                  <p:nvPr/>
                </p:nvSpPr>
                <p:spPr>
                  <a:xfrm>
                    <a:off x="5232" y="3456"/>
                    <a:ext cx="305" cy="336"/>
                  </a:xfrm>
                  <a:prstGeom prst="rect">
                    <a:avLst/>
                  </a:prstGeom>
                  <a:blipFill>
                    <a:blip r:embed="rId6"/>
                    <a:stretch>
                      <a:fillRect/>
                    </a:stretch>
                  </a:blipFill>
                  <a:ln w="38100">
                    <a:noFill/>
                    <a:miter/>
                  </a:ln>
                </p:spPr>
                <p:txBody>
                  <a:bodyPr/>
                  <a:lstStyle/>
                  <a:p>
                    <a:r>
                      <a:rPr lang="en-US">
                        <a:noFill/>
                      </a:rPr>
                      <a:t> </a:t>
                    </a:r>
                  </a:p>
                </p:txBody>
              </p:sp>
            </mc:Fallback>
          </mc:AlternateContent>
        </p:grpSp>
      </p:gr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FDA1C09A-661B-DAD5-0102-DA88C41EC73B}"/>
                  </a:ext>
                </a:extLst>
              </p:cNvPr>
              <p:cNvSpPr txBox="1">
                <a:spLocks/>
              </p:cNvSpPr>
              <p:nvPr/>
            </p:nvSpPr>
            <p:spPr>
              <a:xfrm>
                <a:off x="1306287" y="2516368"/>
                <a:ext cx="9350828" cy="30098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20000"/>
                  </a:lnSpc>
                  <a:spcBef>
                    <a:spcPct val="50000"/>
                  </a:spcBef>
                  <a:buFont typeface="Arial" panose="020B0604020202020204" pitchFamily="34" charset="0"/>
                  <a:buNone/>
                </a:pPr>
                <a:r>
                  <a:rPr lang="en-US" altLang="zh-CN" dirty="0">
                    <a:solidFill>
                      <a:schemeClr val="tx1"/>
                    </a:solidFill>
                  </a:rPr>
                  <a:t>- </a:t>
                </a:r>
                <a:r>
                  <a:rPr lang="zh-CN" altLang="en-US" dirty="0">
                    <a:solidFill>
                      <a:schemeClr val="tx1"/>
                    </a:solidFill>
                  </a:rPr>
                  <a:t>当</a:t>
                </a:r>
                <a14:m>
                  <m:oMath xmlns:m="http://schemas.openxmlformats.org/officeDocument/2006/math">
                    <m:r>
                      <a:rPr lang="en-US" altLang="zh-CN" b="0" i="1">
                        <a:solidFill>
                          <a:schemeClr val="tx1"/>
                        </a:solidFill>
                        <a:latin typeface="Cambria Math" panose="02040503050406030204" pitchFamily="18" charset="0"/>
                      </a:rPr>
                      <m:t>𝑥</m:t>
                    </m:r>
                    <m:r>
                      <a:rPr lang="en-US" altLang="zh-CN" b="0" i="1">
                        <a:solidFill>
                          <a:schemeClr val="tx1"/>
                        </a:solidFill>
                        <a:latin typeface="Cambria Math" panose="02040503050406030204" pitchFamily="18" charset="0"/>
                      </a:rPr>
                      <m:t>≫</m:t>
                    </m:r>
                    <m:r>
                      <a:rPr lang="en-US" altLang="zh-CN" b="0" i="1">
                        <a:solidFill>
                          <a:schemeClr val="tx1"/>
                        </a:solidFill>
                        <a:latin typeface="Cambria Math" panose="02040503050406030204" pitchFamily="18" charset="0"/>
                      </a:rPr>
                      <m:t>𝑅</m:t>
                    </m:r>
                  </m:oMath>
                </a14:m>
                <a:r>
                  <a:rPr lang="zh-CN" altLang="en-US" dirty="0">
                    <a:solidFill>
                      <a:schemeClr val="tx1"/>
                    </a:solidFill>
                  </a:rPr>
                  <a:t>时：</a:t>
                </a:r>
                <a:endParaRPr lang="en-US" altLang="zh-CN" dirty="0">
                  <a:solidFill>
                    <a:schemeClr val="tx1"/>
                  </a:solidFill>
                </a:endParaRPr>
              </a:p>
              <a:p>
                <a:pPr marL="0" indent="0">
                  <a:lnSpc>
                    <a:spcPct val="120000"/>
                  </a:lnSpc>
                  <a:spcBef>
                    <a:spcPct val="50000"/>
                  </a:spcBef>
                  <a:buFont typeface="Arial" panose="020B0604020202020204" pitchFamily="34" charset="0"/>
                  <a:buNone/>
                </a:pPr>
                <a14:m>
                  <m:oMathPara xmlns:m="http://schemas.openxmlformats.org/officeDocument/2006/math">
                    <m:oMathParaPr>
                      <m:jc m:val="left"/>
                    </m:oMathParaPr>
                    <m:oMath xmlns:m="http://schemas.openxmlformats.org/officeDocument/2006/math">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m:t>
                          </m:r>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𝑅</m:t>
                              </m:r>
                            </m:e>
                            <m:sup>
                              <m:r>
                                <a:rPr lang="en-US" altLang="zh-CN" b="0" i="1">
                                  <a:solidFill>
                                    <a:schemeClr val="tx1"/>
                                  </a:solidFill>
                                  <a:latin typeface="Cambria Math" panose="02040503050406030204" pitchFamily="18" charset="0"/>
                                </a:rPr>
                                <m:t>2</m:t>
                              </m:r>
                            </m:sup>
                          </m:sSup>
                          <m:r>
                            <a:rPr lang="en-US" altLang="zh-CN" b="0" i="1">
                              <a:solidFill>
                                <a:schemeClr val="tx1"/>
                              </a:solidFill>
                              <a:latin typeface="Cambria Math" panose="02040503050406030204" pitchFamily="18" charset="0"/>
                            </a:rPr>
                            <m:t>+</m:t>
                          </m:r>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𝑥</m:t>
                              </m:r>
                            </m:e>
                            <m:sup>
                              <m:r>
                                <a:rPr lang="en-US" altLang="zh-CN" b="0" i="1">
                                  <a:solidFill>
                                    <a:schemeClr val="tx1"/>
                                  </a:solidFill>
                                  <a:latin typeface="Cambria Math" panose="02040503050406030204" pitchFamily="18" charset="0"/>
                                </a:rPr>
                                <m:t>2</m:t>
                              </m:r>
                            </m:sup>
                          </m:sSup>
                          <m:r>
                            <a:rPr lang="en-US" altLang="zh-CN" b="0" i="1">
                              <a:solidFill>
                                <a:schemeClr val="tx1"/>
                              </a:solidFill>
                              <a:latin typeface="Cambria Math" panose="02040503050406030204" pitchFamily="18" charset="0"/>
                            </a:rPr>
                            <m:t>)</m:t>
                          </m:r>
                        </m:e>
                        <m:sup>
                          <m:f>
                            <m:fPr>
                              <m:type m:val="lin"/>
                              <m:ctrlPr>
                                <a:rPr lang="en-US" altLang="zh-CN" i="1">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3</m:t>
                              </m:r>
                            </m:num>
                            <m:den>
                              <m:r>
                                <a:rPr lang="en-US" altLang="zh-CN" b="0" i="1">
                                  <a:solidFill>
                                    <a:schemeClr val="tx1"/>
                                  </a:solidFill>
                                  <a:latin typeface="Cambria Math" panose="02040503050406030204" pitchFamily="18" charset="0"/>
                                </a:rPr>
                                <m:t>2</m:t>
                              </m:r>
                            </m:den>
                          </m:f>
                        </m:sup>
                      </m:sSup>
                      <m:r>
                        <a:rPr lang="en-US" altLang="zh-CN" b="0" i="1">
                          <a:solidFill>
                            <a:schemeClr val="tx1"/>
                          </a:solidFill>
                          <a:latin typeface="Cambria Math" panose="02040503050406030204" pitchFamily="18" charset="0"/>
                        </a:rPr>
                        <m:t>=</m:t>
                      </m:r>
                      <m:sSup>
                        <m:sSupPr>
                          <m:ctrlPr>
                            <a:rPr lang="en-US" altLang="zh-CN" i="1">
                              <a:solidFill>
                                <a:schemeClr val="tx1"/>
                              </a:solidFill>
                              <a:latin typeface="Cambria Math" panose="02040503050406030204" pitchFamily="18" charset="0"/>
                            </a:rPr>
                          </m:ctrlPr>
                        </m:sSupPr>
                        <m:e>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𝑥</m:t>
                              </m:r>
                            </m:e>
                            <m:sup>
                              <m:r>
                                <a:rPr lang="en-US" altLang="zh-CN" b="0" i="1">
                                  <a:solidFill>
                                    <a:schemeClr val="tx1"/>
                                  </a:solidFill>
                                  <a:latin typeface="Cambria Math" panose="02040503050406030204" pitchFamily="18" charset="0"/>
                                </a:rPr>
                                <m:t>3</m:t>
                              </m:r>
                            </m:sup>
                          </m:sSup>
                          <m:r>
                            <a:rPr lang="en-US" altLang="zh-CN" b="0" i="1">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𝑅</m:t>
                                  </m:r>
                                </m:e>
                                <m:sup>
                                  <m:r>
                                    <a:rPr lang="en-US" altLang="zh-CN" b="0" i="1">
                                      <a:solidFill>
                                        <a:schemeClr val="tx1"/>
                                      </a:solidFill>
                                      <a:latin typeface="Cambria Math" panose="02040503050406030204" pitchFamily="18" charset="0"/>
                                    </a:rPr>
                                    <m:t>2</m:t>
                                  </m:r>
                                </m:sup>
                              </m:sSup>
                            </m:num>
                            <m:den>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𝑥</m:t>
                                  </m:r>
                                </m:e>
                                <m:sup>
                                  <m:r>
                                    <a:rPr lang="en-US" altLang="zh-CN" b="0" i="1">
                                      <a:solidFill>
                                        <a:schemeClr val="tx1"/>
                                      </a:solidFill>
                                      <a:latin typeface="Cambria Math" panose="02040503050406030204" pitchFamily="18" charset="0"/>
                                    </a:rPr>
                                    <m:t>2</m:t>
                                  </m:r>
                                </m:sup>
                              </m:sSup>
                            </m:den>
                          </m:f>
                          <m:r>
                            <a:rPr lang="en-US" altLang="zh-CN" b="0" i="1">
                              <a:solidFill>
                                <a:schemeClr val="tx1"/>
                              </a:solidFill>
                              <a:latin typeface="Cambria Math" panose="02040503050406030204" pitchFamily="18" charset="0"/>
                            </a:rPr>
                            <m:t>+1)</m:t>
                          </m:r>
                        </m:e>
                        <m:sup>
                          <m:f>
                            <m:fPr>
                              <m:type m:val="lin"/>
                              <m:ctrlPr>
                                <a:rPr lang="en-US" altLang="zh-CN" i="1">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3</m:t>
                              </m:r>
                            </m:num>
                            <m:den>
                              <m:r>
                                <a:rPr lang="en-US" altLang="zh-CN" b="0" i="1">
                                  <a:solidFill>
                                    <a:schemeClr val="tx1"/>
                                  </a:solidFill>
                                  <a:latin typeface="Cambria Math" panose="02040503050406030204" pitchFamily="18" charset="0"/>
                                </a:rPr>
                                <m:t>2</m:t>
                              </m:r>
                            </m:den>
                          </m:f>
                        </m:sup>
                      </m:sSup>
                      <m:r>
                        <a:rPr lang="en-US" altLang="zh-CN" b="0" i="1">
                          <a:solidFill>
                            <a:schemeClr val="tx1"/>
                          </a:solidFill>
                          <a:latin typeface="Cambria Math" panose="02040503050406030204" pitchFamily="18" charset="0"/>
                          <a:ea typeface="Cambria Math" panose="02040503050406030204" pitchFamily="18" charset="0"/>
                        </a:rPr>
                        <m:t>→</m:t>
                      </m:r>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𝑥</m:t>
                          </m:r>
                        </m:e>
                        <m:sup>
                          <m:r>
                            <a:rPr lang="en-US" altLang="zh-CN" b="0" i="1">
                              <a:solidFill>
                                <a:schemeClr val="tx1"/>
                              </a:solidFill>
                              <a:latin typeface="Cambria Math" panose="02040503050406030204" pitchFamily="18" charset="0"/>
                            </a:rPr>
                            <m:t>3</m:t>
                          </m:r>
                        </m:sup>
                      </m:sSup>
                      <m:r>
                        <a:rPr lang="en-US" altLang="zh-CN" b="0" i="1" smtClean="0">
                          <a:solidFill>
                            <a:schemeClr val="tx1"/>
                          </a:solidFill>
                          <a:latin typeface="Cambria Math" panose="02040503050406030204" pitchFamily="18" charset="0"/>
                        </a:rPr>
                        <m:t>              </m:t>
                      </m:r>
                      <m:r>
                        <a:rPr lang="en-US" altLang="zh-CN" b="0" i="1">
                          <a:solidFill>
                            <a:schemeClr val="tx1"/>
                          </a:solidFill>
                          <a:latin typeface="Cambria Math" panose="02040503050406030204" pitchFamily="18" charset="0"/>
                          <a:ea typeface="Cambria Math" panose="02040503050406030204" pitchFamily="18" charset="0"/>
                        </a:rPr>
                        <m:t>⇒</m:t>
                      </m:r>
                      <m:r>
                        <a:rPr lang="en-US" altLang="zh-CN" b="0" i="1">
                          <a:solidFill>
                            <a:schemeClr val="tx1"/>
                          </a:solidFill>
                          <a:latin typeface="Cambria Math" panose="02040503050406030204" pitchFamily="18" charset="0"/>
                        </a:rPr>
                        <m:t>𝐸</m:t>
                      </m:r>
                      <m:r>
                        <a:rPr lang="en-US" altLang="zh-CN" b="0" i="1">
                          <a:solidFill>
                            <a:schemeClr val="tx1"/>
                          </a:solidFill>
                          <a:latin typeface="Cambria Math" panose="02040503050406030204" pitchFamily="18" charset="0"/>
                        </a:rPr>
                        <m:t>=</m:t>
                      </m:r>
                      <m:f>
                        <m:fPr>
                          <m:ctrlPr>
                            <a:rPr lang="en-US" altLang="zh-CN" i="1">
                              <a:solidFill>
                                <a:schemeClr val="tx1"/>
                              </a:solidFill>
                              <a:latin typeface="Cambria Math" panose="02040503050406030204" pitchFamily="18" charset="0"/>
                            </a:rPr>
                          </m:ctrlPr>
                        </m:fPr>
                        <m:num>
                          <m:r>
                            <a:rPr lang="en-US" altLang="zh-CN" b="0" i="1">
                              <a:solidFill>
                                <a:schemeClr val="tx1"/>
                              </a:solidFill>
                              <a:latin typeface="Cambria Math" panose="02040503050406030204" pitchFamily="18" charset="0"/>
                            </a:rPr>
                            <m:t>𝑞</m:t>
                          </m:r>
                        </m:num>
                        <m:den>
                          <m:r>
                            <a:rPr lang="en-US" altLang="zh-CN" b="0" i="1">
                              <a:solidFill>
                                <a:schemeClr val="tx1"/>
                              </a:solidFill>
                              <a:latin typeface="Cambria Math" panose="02040503050406030204" pitchFamily="18" charset="0"/>
                            </a:rPr>
                            <m:t>4</m:t>
                          </m:r>
                          <m:r>
                            <a:rPr lang="zh-CN" altLang="en-US" b="0" i="1">
                              <a:solidFill>
                                <a:schemeClr val="tx1"/>
                              </a:solidFill>
                              <a:latin typeface="Cambria Math" panose="02040503050406030204" pitchFamily="18" charset="0"/>
                            </a:rPr>
                            <m:t>𝜋</m:t>
                          </m:r>
                          <m:sSub>
                            <m:sSubPr>
                              <m:ctrlPr>
                                <a:rPr lang="en-US" altLang="zh-CN" i="1">
                                  <a:solidFill>
                                    <a:schemeClr val="tx1"/>
                                  </a:solidFill>
                                  <a:latin typeface="Cambria Math" panose="02040503050406030204" pitchFamily="18" charset="0"/>
                                </a:rPr>
                              </m:ctrlPr>
                            </m:sSubPr>
                            <m:e>
                              <m:r>
                                <a:rPr lang="zh-CN" altLang="en-US" b="0" i="1">
                                  <a:solidFill>
                                    <a:schemeClr val="tx1"/>
                                  </a:solidFill>
                                  <a:latin typeface="Cambria Math" panose="02040503050406030204" pitchFamily="18" charset="0"/>
                                </a:rPr>
                                <m:t>𝜀</m:t>
                              </m:r>
                            </m:e>
                            <m:sub>
                              <m:r>
                                <a:rPr lang="en-US" altLang="zh-CN" b="0" i="1">
                                  <a:solidFill>
                                    <a:schemeClr val="tx1"/>
                                  </a:solidFill>
                                  <a:latin typeface="Cambria Math" panose="02040503050406030204" pitchFamily="18" charset="0"/>
                                </a:rPr>
                                <m:t>0</m:t>
                              </m:r>
                            </m:sub>
                          </m:sSub>
                          <m:sSup>
                            <m:sSupPr>
                              <m:ctrlPr>
                                <a:rPr lang="en-US" altLang="zh-CN" i="1">
                                  <a:solidFill>
                                    <a:schemeClr val="tx1"/>
                                  </a:solidFill>
                                  <a:latin typeface="Cambria Math" panose="02040503050406030204" pitchFamily="18" charset="0"/>
                                </a:rPr>
                              </m:ctrlPr>
                            </m:sSupPr>
                            <m:e>
                              <m:r>
                                <a:rPr lang="en-US" altLang="zh-CN" b="0" i="1">
                                  <a:solidFill>
                                    <a:schemeClr val="tx1"/>
                                  </a:solidFill>
                                  <a:latin typeface="Cambria Math" panose="02040503050406030204" pitchFamily="18" charset="0"/>
                                </a:rPr>
                                <m:t>𝑥</m:t>
                              </m:r>
                            </m:e>
                            <m:sup>
                              <m:r>
                                <a:rPr lang="en-US" altLang="zh-CN" b="0" i="1">
                                  <a:solidFill>
                                    <a:schemeClr val="tx1"/>
                                  </a:solidFill>
                                  <a:latin typeface="Cambria Math" panose="02040503050406030204" pitchFamily="18" charset="0"/>
                                </a:rPr>
                                <m:t>2</m:t>
                              </m:r>
                            </m:sup>
                          </m:sSup>
                        </m:den>
                      </m:f>
                    </m:oMath>
                  </m:oMathPara>
                </a14:m>
                <a:endParaRPr lang="zh-CN" altLang="en-US" dirty="0">
                  <a:solidFill>
                    <a:schemeClr val="tx1"/>
                  </a:solidFill>
                </a:endParaRPr>
              </a:p>
            </p:txBody>
          </p:sp>
        </mc:Choice>
        <mc:Fallback xmlns="">
          <p:sp>
            <p:nvSpPr>
              <p:cNvPr id="6" name="内容占位符 4">
                <a:extLst>
                  <a:ext uri="{FF2B5EF4-FFF2-40B4-BE49-F238E27FC236}">
                    <a16:creationId xmlns:a16="http://schemas.microsoft.com/office/drawing/2014/main" id="{FDA1C09A-661B-DAD5-0102-DA88C41EC73B}"/>
                  </a:ext>
                </a:extLst>
              </p:cNvPr>
              <p:cNvSpPr txBox="1">
                <a:spLocks noRot="1" noChangeAspect="1" noMove="1" noResize="1" noEditPoints="1" noAdjustHandles="1" noChangeArrowheads="1" noChangeShapeType="1" noTextEdit="1"/>
              </p:cNvSpPr>
              <p:nvPr/>
            </p:nvSpPr>
            <p:spPr>
              <a:xfrm>
                <a:off x="1306287" y="2516368"/>
                <a:ext cx="9350828" cy="3009825"/>
              </a:xfrm>
              <a:prstGeom prst="rect">
                <a:avLst/>
              </a:prstGeom>
              <a:blipFill>
                <a:blip r:embed="rId13"/>
                <a:stretch>
                  <a:fillRect l="-1304" t="-81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4">
                <a:extLst>
                  <a:ext uri="{FF2B5EF4-FFF2-40B4-BE49-F238E27FC236}">
                    <a16:creationId xmlns:a16="http://schemas.microsoft.com/office/drawing/2014/main" id="{F214D99F-67B7-2AF6-E5B0-BDD90422EE58}"/>
                  </a:ext>
                </a:extLst>
              </p:cNvPr>
              <p:cNvSpPr txBox="1">
                <a:spLocks/>
              </p:cNvSpPr>
              <p:nvPr/>
            </p:nvSpPr>
            <p:spPr>
              <a:xfrm>
                <a:off x="-1372847" y="4433618"/>
                <a:ext cx="8905762" cy="7207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ct val="50000"/>
                  </a:spcBef>
                  <a:buFont typeface="Arial" panose="020B0604020202020204" pitchFamily="34" charset="0"/>
                  <a:buNone/>
                </a:pPr>
                <a:r>
                  <a:rPr lang="en-US" altLang="zh-CN" dirty="0">
                    <a:solidFill>
                      <a:schemeClr val="tx1"/>
                    </a:solidFill>
                  </a:rPr>
                  <a:t>- </a:t>
                </a:r>
                <a:r>
                  <a:rPr lang="zh-CN" altLang="en-US" dirty="0">
                    <a:solidFill>
                      <a:schemeClr val="tx1"/>
                    </a:solidFill>
                  </a:rPr>
                  <a:t>当</a:t>
                </a:r>
                <a14:m>
                  <m:oMath xmlns:m="http://schemas.openxmlformats.org/officeDocument/2006/math">
                    <m:r>
                      <a:rPr lang="en-US" altLang="zh-CN" b="0" i="1">
                        <a:solidFill>
                          <a:schemeClr val="tx1"/>
                        </a:solidFill>
                        <a:latin typeface="Cambria Math" panose="02040503050406030204" pitchFamily="18" charset="0"/>
                      </a:rPr>
                      <m:t>𝑥</m:t>
                    </m:r>
                    <m:r>
                      <a:rPr lang="en-US" altLang="zh-CN" b="0" i="1" smtClean="0">
                        <a:solidFill>
                          <a:schemeClr val="tx1"/>
                        </a:solidFill>
                        <a:latin typeface="Cambria Math" panose="02040503050406030204" pitchFamily="18" charset="0"/>
                      </a:rPr>
                      <m:t>=0</m:t>
                    </m:r>
                  </m:oMath>
                </a14:m>
                <a:r>
                  <a:rPr lang="zh-CN" altLang="en-US" dirty="0">
                    <a:solidFill>
                      <a:schemeClr val="tx1"/>
                    </a:solidFill>
                  </a:rPr>
                  <a:t>时，</a:t>
                </a:r>
                <a14:m>
                  <m:oMath xmlns:m="http://schemas.openxmlformats.org/officeDocument/2006/math">
                    <m:r>
                      <a:rPr lang="en-US" altLang="zh-CN" b="0" i="0" smtClean="0">
                        <a:solidFill>
                          <a:schemeClr val="tx1"/>
                        </a:solidFill>
                        <a:latin typeface="Cambria Math" panose="02040503050406030204" pitchFamily="18" charset="0"/>
                      </a:rPr>
                      <m:t>  </m:t>
                    </m:r>
                    <m:r>
                      <a:rPr lang="en-US" altLang="zh-CN" b="0" i="1">
                        <a:solidFill>
                          <a:schemeClr val="tx1"/>
                        </a:solidFill>
                        <a:latin typeface="Cambria Math" panose="02040503050406030204" pitchFamily="18" charset="0"/>
                      </a:rPr>
                      <m:t>𝐸</m:t>
                    </m:r>
                    <m:r>
                      <a:rPr lang="en-US" altLang="zh-CN" b="0" i="1">
                        <a:solidFill>
                          <a:schemeClr val="tx1"/>
                        </a:solidFill>
                        <a:latin typeface="Cambria Math" panose="02040503050406030204" pitchFamily="18" charset="0"/>
                      </a:rPr>
                      <m:t>=0</m:t>
                    </m:r>
                  </m:oMath>
                </a14:m>
                <a:endParaRPr lang="zh-CN" altLang="en-US" dirty="0">
                  <a:solidFill>
                    <a:schemeClr val="tx1"/>
                  </a:solidFill>
                </a:endParaRPr>
              </a:p>
            </p:txBody>
          </p:sp>
        </mc:Choice>
        <mc:Fallback xmlns="">
          <p:sp>
            <p:nvSpPr>
              <p:cNvPr id="7" name="内容占位符 4">
                <a:extLst>
                  <a:ext uri="{FF2B5EF4-FFF2-40B4-BE49-F238E27FC236}">
                    <a16:creationId xmlns:a16="http://schemas.microsoft.com/office/drawing/2014/main" id="{F214D99F-67B7-2AF6-E5B0-BDD90422EE58}"/>
                  </a:ext>
                </a:extLst>
              </p:cNvPr>
              <p:cNvSpPr txBox="1">
                <a:spLocks noRot="1" noChangeAspect="1" noMove="1" noResize="1" noEditPoints="1" noAdjustHandles="1" noChangeArrowheads="1" noChangeShapeType="1" noTextEdit="1"/>
              </p:cNvSpPr>
              <p:nvPr/>
            </p:nvSpPr>
            <p:spPr>
              <a:xfrm>
                <a:off x="-1372847" y="4433618"/>
                <a:ext cx="8905762" cy="720725"/>
              </a:xfrm>
              <a:prstGeom prst="rect">
                <a:avLst/>
              </a:prstGeom>
              <a:blipFill>
                <a:blip r:embed="rId14"/>
                <a:stretch>
                  <a:fillRect t="-2521" b="-25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5" name="标题 3">
                <a:extLst>
                  <a:ext uri="{FF2B5EF4-FFF2-40B4-BE49-F238E27FC236}">
                    <a16:creationId xmlns:a16="http://schemas.microsoft.com/office/drawing/2014/main" id="{EF41A068-2EC5-A7E6-4B60-ADEE3B38A5A0}"/>
                  </a:ext>
                </a:extLst>
              </p:cNvPr>
              <p:cNvSpPr txBox="1">
                <a:spLocks/>
              </p:cNvSpPr>
              <p:nvPr/>
            </p:nvSpPr>
            <p:spPr>
              <a:xfrm>
                <a:off x="2209801" y="1331807"/>
                <a:ext cx="7543800" cy="1252186"/>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r>
                        <a:rPr lang="en-US" altLang="zh-CN" sz="3200" i="1" smtClean="0">
                          <a:solidFill>
                            <a:srgbClr val="0066FF"/>
                          </a:solidFill>
                          <a:latin typeface="Cambria Math" panose="02040503050406030204" pitchFamily="18" charset="0"/>
                        </a:rPr>
                        <m:t>𝑬</m:t>
                      </m:r>
                      <m:r>
                        <a:rPr lang="en-US" altLang="zh-CN" sz="3200" i="1" smtClean="0">
                          <a:solidFill>
                            <a:srgbClr val="0066FF"/>
                          </a:solidFill>
                          <a:latin typeface="Cambria Math" panose="02040503050406030204" pitchFamily="18" charset="0"/>
                        </a:rPr>
                        <m:t>=</m:t>
                      </m:r>
                      <m:f>
                        <m:fPr>
                          <m:ctrlPr>
                            <a:rPr lang="en-US" altLang="zh-CN" sz="3200" i="1">
                              <a:solidFill>
                                <a:srgbClr val="0066FF"/>
                              </a:solidFill>
                              <a:latin typeface="Cambria Math" panose="02040503050406030204" pitchFamily="18" charset="0"/>
                            </a:rPr>
                          </m:ctrlPr>
                        </m:fPr>
                        <m:num>
                          <m:r>
                            <a:rPr lang="en-US" altLang="zh-CN" sz="3200" i="1">
                              <a:solidFill>
                                <a:srgbClr val="0066FF"/>
                              </a:solidFill>
                              <a:latin typeface="Cambria Math" panose="02040503050406030204" pitchFamily="18" charset="0"/>
                            </a:rPr>
                            <m:t>𝒒𝒙</m:t>
                          </m:r>
                        </m:num>
                        <m:den>
                          <m:r>
                            <a:rPr lang="en-US" altLang="zh-CN" sz="3200" i="1">
                              <a:solidFill>
                                <a:srgbClr val="0066FF"/>
                              </a:solidFill>
                              <a:latin typeface="Cambria Math" panose="02040503050406030204" pitchFamily="18" charset="0"/>
                            </a:rPr>
                            <m:t>𝟒</m:t>
                          </m:r>
                          <m:r>
                            <a:rPr lang="zh-CN" altLang="en-US" sz="3200" i="1">
                              <a:solidFill>
                                <a:srgbClr val="0066FF"/>
                              </a:solidFill>
                              <a:latin typeface="Cambria Math" panose="02040503050406030204" pitchFamily="18" charset="0"/>
                            </a:rPr>
                            <m:t>𝝅</m:t>
                          </m:r>
                          <m:sSub>
                            <m:sSubPr>
                              <m:ctrlPr>
                                <a:rPr lang="en-US" altLang="zh-CN" sz="3200" i="1">
                                  <a:solidFill>
                                    <a:srgbClr val="0066FF"/>
                                  </a:solidFill>
                                  <a:latin typeface="Cambria Math" panose="02040503050406030204" pitchFamily="18" charset="0"/>
                                </a:rPr>
                              </m:ctrlPr>
                            </m:sSubPr>
                            <m:e>
                              <m:r>
                                <a:rPr lang="zh-CN" altLang="en-US" sz="3200" i="1">
                                  <a:solidFill>
                                    <a:srgbClr val="0066FF"/>
                                  </a:solidFill>
                                  <a:latin typeface="Cambria Math" panose="02040503050406030204" pitchFamily="18" charset="0"/>
                                </a:rPr>
                                <m:t>𝜺</m:t>
                              </m:r>
                            </m:e>
                            <m:sub>
                              <m:r>
                                <a:rPr lang="en-US" altLang="zh-CN" sz="3200" i="1">
                                  <a:solidFill>
                                    <a:srgbClr val="0066FF"/>
                                  </a:solidFill>
                                  <a:latin typeface="Cambria Math" panose="02040503050406030204" pitchFamily="18" charset="0"/>
                                </a:rPr>
                                <m:t>𝟎</m:t>
                              </m:r>
                            </m:sub>
                          </m:sSub>
                          <m:sSup>
                            <m:sSupPr>
                              <m:ctrlPr>
                                <a:rPr lang="en-US" altLang="zh-CN" sz="3200" i="1">
                                  <a:solidFill>
                                    <a:srgbClr val="0066FF"/>
                                  </a:solidFill>
                                  <a:latin typeface="Cambria Math" panose="02040503050406030204" pitchFamily="18" charset="0"/>
                                </a:rPr>
                              </m:ctrlPr>
                            </m:sSupPr>
                            <m:e>
                              <m:r>
                                <a:rPr lang="en-US" altLang="zh-CN" sz="3200" i="1">
                                  <a:solidFill>
                                    <a:srgbClr val="0066FF"/>
                                  </a:solidFill>
                                  <a:latin typeface="Cambria Math" panose="02040503050406030204" pitchFamily="18" charset="0"/>
                                </a:rPr>
                                <m:t>(</m:t>
                              </m:r>
                              <m:sSup>
                                <m:sSupPr>
                                  <m:ctrlPr>
                                    <a:rPr lang="en-US" altLang="zh-CN" sz="3200" i="1">
                                      <a:solidFill>
                                        <a:srgbClr val="0066FF"/>
                                      </a:solidFill>
                                      <a:latin typeface="Cambria Math" panose="02040503050406030204" pitchFamily="18" charset="0"/>
                                    </a:rPr>
                                  </m:ctrlPr>
                                </m:sSupPr>
                                <m:e>
                                  <m:r>
                                    <a:rPr lang="en-US" altLang="zh-CN" sz="3200" i="1">
                                      <a:solidFill>
                                        <a:srgbClr val="0066FF"/>
                                      </a:solidFill>
                                      <a:latin typeface="Cambria Math" panose="02040503050406030204" pitchFamily="18" charset="0"/>
                                    </a:rPr>
                                    <m:t>𝑹</m:t>
                                  </m:r>
                                </m:e>
                                <m:sup>
                                  <m:r>
                                    <a:rPr lang="en-US" altLang="zh-CN" sz="3200" i="1">
                                      <a:solidFill>
                                        <a:srgbClr val="0066FF"/>
                                      </a:solidFill>
                                      <a:latin typeface="Cambria Math" panose="02040503050406030204" pitchFamily="18" charset="0"/>
                                    </a:rPr>
                                    <m:t>𝟐</m:t>
                                  </m:r>
                                </m:sup>
                              </m:sSup>
                              <m:r>
                                <a:rPr lang="en-US" altLang="zh-CN" sz="3200" i="1">
                                  <a:solidFill>
                                    <a:srgbClr val="0066FF"/>
                                  </a:solidFill>
                                  <a:latin typeface="Cambria Math" panose="02040503050406030204" pitchFamily="18" charset="0"/>
                                </a:rPr>
                                <m:t>+</m:t>
                              </m:r>
                              <m:sSup>
                                <m:sSupPr>
                                  <m:ctrlPr>
                                    <a:rPr lang="en-US" altLang="zh-CN" sz="3200" i="1">
                                      <a:solidFill>
                                        <a:srgbClr val="0066FF"/>
                                      </a:solidFill>
                                      <a:latin typeface="Cambria Math" panose="02040503050406030204" pitchFamily="18" charset="0"/>
                                    </a:rPr>
                                  </m:ctrlPr>
                                </m:sSupPr>
                                <m:e>
                                  <m:r>
                                    <a:rPr lang="en-US" altLang="zh-CN" sz="3200" i="1">
                                      <a:solidFill>
                                        <a:srgbClr val="0066FF"/>
                                      </a:solidFill>
                                      <a:latin typeface="Cambria Math" panose="02040503050406030204" pitchFamily="18" charset="0"/>
                                    </a:rPr>
                                    <m:t>𝒙</m:t>
                                  </m:r>
                                </m:e>
                                <m:sup>
                                  <m:r>
                                    <a:rPr lang="en-US" altLang="zh-CN" sz="3200" i="1">
                                      <a:solidFill>
                                        <a:srgbClr val="0066FF"/>
                                      </a:solidFill>
                                      <a:latin typeface="Cambria Math" panose="02040503050406030204" pitchFamily="18" charset="0"/>
                                    </a:rPr>
                                    <m:t>𝟐</m:t>
                                  </m:r>
                                </m:sup>
                              </m:sSup>
                              <m:r>
                                <a:rPr lang="en-US" altLang="zh-CN" sz="3200" i="1">
                                  <a:solidFill>
                                    <a:srgbClr val="0066FF"/>
                                  </a:solidFill>
                                  <a:latin typeface="Cambria Math" panose="02040503050406030204" pitchFamily="18" charset="0"/>
                                </a:rPr>
                                <m:t>)</m:t>
                              </m:r>
                            </m:e>
                            <m:sup>
                              <m:f>
                                <m:fPr>
                                  <m:type m:val="lin"/>
                                  <m:ctrlPr>
                                    <a:rPr lang="en-US" altLang="zh-CN" sz="3200" i="1">
                                      <a:solidFill>
                                        <a:srgbClr val="0066FF"/>
                                      </a:solidFill>
                                      <a:latin typeface="Cambria Math" panose="02040503050406030204" pitchFamily="18" charset="0"/>
                                    </a:rPr>
                                  </m:ctrlPr>
                                </m:fPr>
                                <m:num>
                                  <m:r>
                                    <a:rPr lang="en-US" altLang="zh-CN" sz="3200" i="1">
                                      <a:solidFill>
                                        <a:srgbClr val="0066FF"/>
                                      </a:solidFill>
                                      <a:latin typeface="Cambria Math" panose="02040503050406030204" pitchFamily="18" charset="0"/>
                                    </a:rPr>
                                    <m:t>𝟑</m:t>
                                  </m:r>
                                </m:num>
                                <m:den>
                                  <m:r>
                                    <a:rPr lang="en-US" altLang="zh-CN" sz="3200" i="1">
                                      <a:solidFill>
                                        <a:srgbClr val="0066FF"/>
                                      </a:solidFill>
                                      <a:latin typeface="Cambria Math" panose="02040503050406030204" pitchFamily="18" charset="0"/>
                                    </a:rPr>
                                    <m:t>𝟐</m:t>
                                  </m:r>
                                </m:den>
                              </m:f>
                            </m:sup>
                          </m:sSup>
                        </m:den>
                      </m:f>
                    </m:oMath>
                  </m:oMathPara>
                </a14:m>
                <a:endParaRPr lang="zh-CN" altLang="en-US" sz="3200" dirty="0">
                  <a:solidFill>
                    <a:srgbClr val="0066FF"/>
                  </a:solidFill>
                </a:endParaRPr>
              </a:p>
            </p:txBody>
          </p:sp>
        </mc:Choice>
        <mc:Fallback xmlns="">
          <p:sp>
            <p:nvSpPr>
              <p:cNvPr id="25" name="标题 3">
                <a:extLst>
                  <a:ext uri="{FF2B5EF4-FFF2-40B4-BE49-F238E27FC236}">
                    <a16:creationId xmlns:a16="http://schemas.microsoft.com/office/drawing/2014/main" id="{EF41A068-2EC5-A7E6-4B60-ADEE3B38A5A0}"/>
                  </a:ext>
                </a:extLst>
              </p:cNvPr>
              <p:cNvSpPr txBox="1">
                <a:spLocks noRot="1" noChangeAspect="1" noMove="1" noResize="1" noEditPoints="1" noAdjustHandles="1" noChangeArrowheads="1" noChangeShapeType="1" noTextEdit="1"/>
              </p:cNvSpPr>
              <p:nvPr/>
            </p:nvSpPr>
            <p:spPr>
              <a:xfrm>
                <a:off x="2209801" y="1331807"/>
                <a:ext cx="7543800" cy="1252186"/>
              </a:xfrm>
              <a:prstGeom prst="rect">
                <a:avLst/>
              </a:prstGeom>
              <a:blipFill>
                <a:blip r:embed="rId1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标题 2">
                <a:extLst>
                  <a:ext uri="{FF2B5EF4-FFF2-40B4-BE49-F238E27FC236}">
                    <a16:creationId xmlns:a16="http://schemas.microsoft.com/office/drawing/2014/main" id="{7EEB26F2-1F4D-6C51-7497-94BACA886817}"/>
                  </a:ext>
                </a:extLst>
              </p:cNvPr>
              <p:cNvSpPr txBox="1">
                <a:spLocks/>
              </p:cNvSpPr>
              <p:nvPr/>
            </p:nvSpPr>
            <p:spPr>
              <a:xfrm>
                <a:off x="789152" y="598564"/>
                <a:ext cx="8190910" cy="615921"/>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altLang="zh-CN" sz="2800" dirty="0">
                    <a:solidFill>
                      <a:schemeClr val="tx1"/>
                    </a:solidFill>
                    <a:latin typeface="华文楷体" panose="02010600040101010101" pitchFamily="2" charset="-122"/>
                    <a:ea typeface="华文楷体" panose="02010600040101010101" pitchFamily="2" charset="-122"/>
                  </a:rPr>
                  <a:t>[</a:t>
                </a:r>
                <a:r>
                  <a:rPr lang="zh-CN" altLang="en-US" sz="2800" dirty="0">
                    <a:solidFill>
                      <a:schemeClr val="tx1"/>
                    </a:solidFill>
                    <a:latin typeface="华文楷体" panose="02010600040101010101" pitchFamily="2" charset="-122"/>
                    <a:ea typeface="华文楷体" panose="02010600040101010101" pitchFamily="2" charset="-122"/>
                  </a:rPr>
                  <a:t>例</a:t>
                </a:r>
                <a:r>
                  <a:rPr lang="en-US" altLang="zh-CN" sz="2800" dirty="0">
                    <a:solidFill>
                      <a:schemeClr val="tx1"/>
                    </a:solidFill>
                    <a:latin typeface="华文楷体" panose="02010600040101010101" pitchFamily="2" charset="-122"/>
                    <a:ea typeface="华文楷体" panose="02010600040101010101" pitchFamily="2" charset="-122"/>
                  </a:rPr>
                  <a:t>12.5]</a:t>
                </a:r>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求一均匀带电圆环轴线上任一点</a:t>
                </a:r>
                <a14:m>
                  <m:oMath xmlns:m="http://schemas.openxmlformats.org/officeDocument/2006/math">
                    <m:r>
                      <a:rPr lang="en-US" altLang="zh-CN" sz="2800" i="1" dirty="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𝒙</m:t>
                    </m:r>
                  </m:oMath>
                </a14:m>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处的电场</a:t>
                </a:r>
                <a:endParaRPr lang="zh-CN" altLang="en-US" dirty="0">
                  <a:solidFill>
                    <a:schemeClr val="tx1"/>
                  </a:solidFill>
                  <a:latin typeface="华文楷体" panose="02010600040101010101" pitchFamily="2" charset="-122"/>
                  <a:ea typeface="华文楷体" panose="02010600040101010101" pitchFamily="2" charset="-122"/>
                </a:endParaRPr>
              </a:p>
            </p:txBody>
          </p:sp>
        </mc:Choice>
        <mc:Fallback xmlns="">
          <p:sp>
            <p:nvSpPr>
              <p:cNvPr id="26" name="标题 2">
                <a:extLst>
                  <a:ext uri="{FF2B5EF4-FFF2-40B4-BE49-F238E27FC236}">
                    <a16:creationId xmlns:a16="http://schemas.microsoft.com/office/drawing/2014/main" id="{7EEB26F2-1F4D-6C51-7497-94BACA886817}"/>
                  </a:ext>
                </a:extLst>
              </p:cNvPr>
              <p:cNvSpPr txBox="1">
                <a:spLocks noRot="1" noChangeAspect="1" noMove="1" noResize="1" noEditPoints="1" noAdjustHandles="1" noChangeArrowheads="1" noChangeShapeType="1" noTextEdit="1"/>
              </p:cNvSpPr>
              <p:nvPr/>
            </p:nvSpPr>
            <p:spPr>
              <a:xfrm>
                <a:off x="789152" y="598564"/>
                <a:ext cx="8190910" cy="615921"/>
              </a:xfrm>
              <a:prstGeom prst="rect">
                <a:avLst/>
              </a:prstGeom>
              <a:blipFill>
                <a:blip r:embed="rId16"/>
                <a:stretch>
                  <a:fillRect l="-1488" t="-16832" b="-4950"/>
                </a:stretch>
              </a:blipFill>
            </p:spPr>
            <p:txBody>
              <a:bodyPr/>
              <a:lstStyle/>
              <a:p>
                <a:r>
                  <a:rPr lang="zh-CN" altLang="en-US">
                    <a:noFill/>
                  </a:rPr>
                  <a:t> </a:t>
                </a:r>
              </a:p>
            </p:txBody>
          </p:sp>
        </mc:Fallback>
      </mc:AlternateContent>
      <p:grpSp>
        <p:nvGrpSpPr>
          <p:cNvPr id="34" name="组合 33">
            <a:extLst>
              <a:ext uri="{FF2B5EF4-FFF2-40B4-BE49-F238E27FC236}">
                <a16:creationId xmlns:a16="http://schemas.microsoft.com/office/drawing/2014/main" id="{ACC730BC-AAA9-F809-F7AD-2236BF7E88B2}"/>
              </a:ext>
            </a:extLst>
          </p:cNvPr>
          <p:cNvGrpSpPr/>
          <p:nvPr/>
        </p:nvGrpSpPr>
        <p:grpSpPr>
          <a:xfrm>
            <a:off x="0" y="5253851"/>
            <a:ext cx="8905762" cy="1098550"/>
            <a:chOff x="-1027050" y="5208511"/>
            <a:chExt cx="8905762" cy="1098550"/>
          </a:xfrm>
        </p:grpSpPr>
        <mc:AlternateContent xmlns:mc="http://schemas.openxmlformats.org/markup-compatibility/2006" xmlns:a14="http://schemas.microsoft.com/office/drawing/2010/main">
          <mc:Choice Requires="a14">
            <p:sp>
              <p:nvSpPr>
                <p:cNvPr id="38947" name="Object 12"/>
                <p:cNvSpPr txBox="1"/>
                <p:nvPr/>
              </p:nvSpPr>
              <p:spPr>
                <a:xfrm>
                  <a:off x="3425831" y="5268042"/>
                  <a:ext cx="3682996" cy="979488"/>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f>
                          <m:fPr>
                            <m:ctrlPr>
                              <a:rPr lang="zh-CN" altLang="en-US" sz="2800" i="1">
                                <a:solidFill>
                                  <a:srgbClr val="000000"/>
                                </a:solidFill>
                                <a:latin typeface="Cambria Math" panose="02040503050406030204" pitchFamily="18" charset="0"/>
                              </a:rPr>
                            </m:ctrlPr>
                          </m:fPr>
                          <m:num>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𝐸</m:t>
                            </m:r>
                          </m:num>
                          <m:den>
                            <m:r>
                              <m:rPr>
                                <m:sty m:val="p"/>
                              </m:rPr>
                              <a:rPr lang="zh-CN" altLang="en-US" sz="2800" i="0">
                                <a:solidFill>
                                  <a:srgbClr val="000000"/>
                                </a:solidFill>
                                <a:latin typeface="Cambria Math" panose="02040503050406030204" pitchFamily="18" charset="0"/>
                              </a:rPr>
                              <m:t>d</m:t>
                            </m:r>
                            <m:r>
                              <a:rPr lang="zh-CN" altLang="en-US" sz="2800" i="1">
                                <a:solidFill>
                                  <a:srgbClr val="000000"/>
                                </a:solidFill>
                                <a:latin typeface="Cambria Math" panose="02040503050406030204" pitchFamily="18" charset="0"/>
                              </a:rPr>
                              <m:t>𝑥</m:t>
                            </m:r>
                          </m:den>
                        </m:f>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38947" name="Object 12"/>
                <p:cNvSpPr txBox="1">
                  <a:spLocks noRot="1" noChangeAspect="1" noMove="1" noResize="1" noEditPoints="1" noAdjustHandles="1" noChangeArrowheads="1" noChangeShapeType="1" noTextEdit="1"/>
                </p:cNvSpPr>
                <p:nvPr/>
              </p:nvSpPr>
              <p:spPr>
                <a:xfrm>
                  <a:off x="3425831" y="5268042"/>
                  <a:ext cx="3682996" cy="979488"/>
                </a:xfrm>
                <a:prstGeom prst="rect">
                  <a:avLst/>
                </a:prstGeom>
                <a:blipFill>
                  <a:blip r:embed="rId17"/>
                  <a:stretch>
                    <a:fillRect/>
                  </a:stretch>
                </a:blipFill>
                <a:ln w="38100">
                  <a:noFill/>
                  <a:miter/>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7" name="内容占位符 4">
                  <a:extLst>
                    <a:ext uri="{FF2B5EF4-FFF2-40B4-BE49-F238E27FC236}">
                      <a16:creationId xmlns:a16="http://schemas.microsoft.com/office/drawing/2014/main" id="{5CC1C490-3519-9C24-AAC3-012FC56F3348}"/>
                    </a:ext>
                  </a:extLst>
                </p:cNvPr>
                <p:cNvSpPr txBox="1">
                  <a:spLocks/>
                </p:cNvSpPr>
                <p:nvPr/>
              </p:nvSpPr>
              <p:spPr>
                <a:xfrm>
                  <a:off x="-1027050" y="5442763"/>
                  <a:ext cx="8905762" cy="7207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20000"/>
                    </a:lnSpc>
                    <a:spcBef>
                      <a:spcPct val="50000"/>
                    </a:spcBef>
                    <a:buFont typeface="Arial" panose="020B0604020202020204" pitchFamily="34" charset="0"/>
                    <a:buNone/>
                  </a:pPr>
                  <a:r>
                    <a:rPr lang="en-US" altLang="zh-CN" dirty="0">
                      <a:solidFill>
                        <a:schemeClr val="tx1"/>
                      </a:solidFill>
                    </a:rPr>
                    <a:t>- </a:t>
                  </a:r>
                  <a:r>
                    <a:rPr lang="zh-CN" altLang="en-US" dirty="0">
                      <a:solidFill>
                        <a:schemeClr val="tx1"/>
                      </a:solidFill>
                    </a:rPr>
                    <a:t>当                    时，</a:t>
                  </a:r>
                  <a14:m>
                    <m:oMath xmlns:m="http://schemas.openxmlformats.org/officeDocument/2006/math">
                      <m:r>
                        <a:rPr lang="en-US" altLang="zh-CN" b="0" i="0" smtClean="0">
                          <a:solidFill>
                            <a:schemeClr val="tx1"/>
                          </a:solidFill>
                          <a:latin typeface="Cambria Math" panose="02040503050406030204" pitchFamily="18" charset="0"/>
                        </a:rPr>
                        <m:t>  </m:t>
                      </m:r>
                      <m:r>
                        <a:rPr lang="en-US" altLang="zh-CN" b="0" i="1" smtClean="0">
                          <a:solidFill>
                            <a:schemeClr val="tx1"/>
                          </a:solidFill>
                          <a:latin typeface="Cambria Math" panose="02040503050406030204" pitchFamily="18" charset="0"/>
                        </a:rPr>
                        <m:t>                </m:t>
                      </m:r>
                      <m:r>
                        <a:rPr lang="en-US" altLang="zh-CN" b="0" i="1">
                          <a:solidFill>
                            <a:schemeClr val="tx1"/>
                          </a:solidFill>
                          <a:latin typeface="Cambria Math" panose="02040503050406030204" pitchFamily="18" charset="0"/>
                        </a:rPr>
                        <m:t>𝐸</m:t>
                      </m:r>
                      <m:r>
                        <a:rPr lang="zh-CN" altLang="en-US" i="1">
                          <a:latin typeface="Cambria Math" panose="02040503050406030204" pitchFamily="18" charset="0"/>
                        </a:rPr>
                        <m:t>取</m:t>
                      </m:r>
                    </m:oMath>
                  </a14:m>
                  <a:r>
                    <a:rPr lang="zh-CN" altLang="en-US" dirty="0">
                      <a:solidFill>
                        <a:schemeClr val="tx1"/>
                      </a:solidFill>
                    </a:rPr>
                    <a:t>最大值</a:t>
                  </a:r>
                </a:p>
              </p:txBody>
            </p:sp>
          </mc:Choice>
          <mc:Fallback xmlns="">
            <p:sp>
              <p:nvSpPr>
                <p:cNvPr id="27" name="内容占位符 4">
                  <a:extLst>
                    <a:ext uri="{FF2B5EF4-FFF2-40B4-BE49-F238E27FC236}">
                      <a16:creationId xmlns:a16="http://schemas.microsoft.com/office/drawing/2014/main" id="{5CC1C490-3519-9C24-AAC3-012FC56F3348}"/>
                    </a:ext>
                  </a:extLst>
                </p:cNvPr>
                <p:cNvSpPr txBox="1">
                  <a:spLocks noRot="1" noChangeAspect="1" noMove="1" noResize="1" noEditPoints="1" noAdjustHandles="1" noChangeArrowheads="1" noChangeShapeType="1" noTextEdit="1"/>
                </p:cNvSpPr>
                <p:nvPr/>
              </p:nvSpPr>
              <p:spPr>
                <a:xfrm>
                  <a:off x="-1027050" y="5442763"/>
                  <a:ext cx="8905762" cy="720725"/>
                </a:xfrm>
                <a:prstGeom prst="rect">
                  <a:avLst/>
                </a:prstGeom>
                <a:blipFill>
                  <a:blip r:embed="rId18"/>
                  <a:stretch>
                    <a:fillRect t="-2521" b="-252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3" name="Object 14">
                  <a:extLst>
                    <a:ext uri="{FF2B5EF4-FFF2-40B4-BE49-F238E27FC236}">
                      <a16:creationId xmlns:a16="http://schemas.microsoft.com/office/drawing/2014/main" id="{7E30E194-32FC-F9E8-3E5F-7FCD912CC044}"/>
                    </a:ext>
                  </a:extLst>
                </p:cNvPr>
                <p:cNvSpPr txBox="1"/>
                <p:nvPr/>
              </p:nvSpPr>
              <p:spPr>
                <a:xfrm>
                  <a:off x="925288" y="5208511"/>
                  <a:ext cx="2635251" cy="1098550"/>
                </a:xfrm>
                <a:prstGeom prst="rect">
                  <a:avLst/>
                </a:prstGeom>
                <a:noFill/>
                <a:ln w="38100">
                  <a:noFill/>
                  <a:miter/>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𝑥</m:t>
                        </m:r>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ad>
                              <m:radPr>
                                <m:degHide m:val="on"/>
                                <m:ctrlPr>
                                  <a:rPr lang="zh-CN" altLang="en-US" sz="2800" i="1">
                                    <a:solidFill>
                                      <a:srgbClr val="000000"/>
                                    </a:solidFill>
                                    <a:latin typeface="Cambria Math" panose="02040503050406030204" pitchFamily="18" charset="0"/>
                                  </a:rPr>
                                </m:ctrlPr>
                              </m:radPr>
                              <m:deg/>
                              <m:e>
                                <m:r>
                                  <a:rPr lang="zh-CN" altLang="en-US" sz="2800" i="1">
                                    <a:solidFill>
                                      <a:srgbClr val="000000"/>
                                    </a:solidFill>
                                    <a:latin typeface="Cambria Math" panose="02040503050406030204" pitchFamily="18" charset="0"/>
                                  </a:rPr>
                                  <m:t>2</m:t>
                                </m:r>
                              </m:e>
                            </m:rad>
                          </m:num>
                          <m:den>
                            <m:r>
                              <a:rPr lang="zh-CN" altLang="en-US" sz="2800" i="1">
                                <a:solidFill>
                                  <a:srgbClr val="000000"/>
                                </a:solidFill>
                                <a:latin typeface="Cambria Math" panose="02040503050406030204" pitchFamily="18" charset="0"/>
                              </a:rPr>
                              <m:t>2</m:t>
                            </m:r>
                          </m:den>
                        </m:f>
                        <m:r>
                          <a:rPr lang="zh-CN" altLang="en-US" sz="2800" i="1">
                            <a:solidFill>
                              <a:srgbClr val="000000"/>
                            </a:solidFill>
                            <a:latin typeface="Cambria Math" panose="02040503050406030204" pitchFamily="18" charset="0"/>
                          </a:rPr>
                          <m:t>𝑅</m:t>
                        </m:r>
                      </m:oMath>
                    </m:oMathPara>
                  </a14:m>
                  <a:endParaRPr lang="zh-CN" altLang="en-US" sz="2800" dirty="0"/>
                </a:p>
              </p:txBody>
            </p:sp>
          </mc:Choice>
          <mc:Fallback xmlns="">
            <p:sp>
              <p:nvSpPr>
                <p:cNvPr id="33" name="Object 14">
                  <a:extLst>
                    <a:ext uri="{FF2B5EF4-FFF2-40B4-BE49-F238E27FC236}">
                      <a16:creationId xmlns:a16="http://schemas.microsoft.com/office/drawing/2014/main" id="{7E30E194-32FC-F9E8-3E5F-7FCD912CC044}"/>
                    </a:ext>
                  </a:extLst>
                </p:cNvPr>
                <p:cNvSpPr txBox="1">
                  <a:spLocks noRot="1" noChangeAspect="1" noMove="1" noResize="1" noEditPoints="1" noAdjustHandles="1" noChangeArrowheads="1" noChangeShapeType="1" noTextEdit="1"/>
                </p:cNvSpPr>
                <p:nvPr/>
              </p:nvSpPr>
              <p:spPr>
                <a:xfrm>
                  <a:off x="925288" y="5208511"/>
                  <a:ext cx="2635251" cy="1098550"/>
                </a:xfrm>
                <a:prstGeom prst="rect">
                  <a:avLst/>
                </a:prstGeom>
                <a:blipFill>
                  <a:blip r:embed="rId19"/>
                  <a:stretch>
                    <a:fillRect/>
                  </a:stretch>
                </a:blipFill>
                <a:ln w="38100">
                  <a:noFill/>
                  <a:miter/>
                </a:ln>
              </p:spPr>
              <p:txBody>
                <a:bodyPr/>
                <a:lstStyle/>
                <a:p>
                  <a:r>
                    <a:rPr lang="zh-CN" altLang="en-US">
                      <a:noFill/>
                    </a:rPr>
                    <a:t> </a:t>
                  </a:r>
                </a:p>
              </p:txBody>
            </p:sp>
          </mc:Fallback>
        </mc:AlternateContent>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标题 4"/>
          <p:cNvSpPr txBox="1">
            <a:spLocks/>
          </p:cNvSpPr>
          <p:nvPr/>
        </p:nvSpPr>
        <p:spPr>
          <a:xfrm>
            <a:off x="911860" y="449672"/>
            <a:ext cx="7543800" cy="564488"/>
          </a:xfrm>
          <a:prstGeom prst="rect">
            <a:avLst/>
          </a:prstGeom>
        </p:spPr>
        <p:txBody>
          <a:bodyP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r>
              <a:rPr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例</a:t>
            </a:r>
            <a:r>
              <a:rPr lang="en-US" altLang="zh-CN"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12.6]</a:t>
            </a:r>
            <a:r>
              <a:rPr lang="zh-CN" altLang="en-US" sz="2800" dirty="0">
                <a:solidFill>
                  <a:schemeClr val="tx1"/>
                </a:solidFill>
                <a:latin typeface="华文楷体" panose="02010600040101010101" pitchFamily="2" charset="-122"/>
                <a:ea typeface="华文楷体" panose="02010600040101010101" pitchFamily="2" charset="-122"/>
                <a:cs typeface="Times New Roman" panose="02020603050405020304" pitchFamily="18" charset="0"/>
              </a:rPr>
              <a:t>求均匀带电圆盘轴线上任一点的电场</a:t>
            </a:r>
          </a:p>
        </p:txBody>
      </p:sp>
      <mc:AlternateContent xmlns:mc="http://schemas.openxmlformats.org/markup-compatibility/2006" xmlns:a14="http://schemas.microsoft.com/office/drawing/2010/main">
        <mc:Choice Requires="a14">
          <p:sp>
            <p:nvSpPr>
              <p:cNvPr id="38" name="内容占位符 5"/>
              <p:cNvSpPr txBox="1">
                <a:spLocks/>
              </p:cNvSpPr>
              <p:nvPr/>
            </p:nvSpPr>
            <p:spPr>
              <a:xfrm>
                <a:off x="225116" y="4708661"/>
                <a:ext cx="7639667" cy="1918714"/>
              </a:xfrm>
              <a:prstGeom prst="rect">
                <a:avLst/>
              </a:prstGeom>
            </p:spPr>
            <p:txBody>
              <a:bodyPr>
                <a:normAutofit/>
              </a:bodyPr>
              <a:lst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a:spcAft>
                    <a:spcPts val="2400"/>
                  </a:spcAft>
                </a:pP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由</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例</a:t>
                </a:r>
                <a:r>
                  <a:rPr lang="en-US" altLang="zh-CN" sz="2800" dirty="0">
                    <a:latin typeface="华文楷体" panose="02010600040101010101" pitchFamily="2" charset="-122"/>
                    <a:ea typeface="华文楷体" panose="02010600040101010101" pitchFamily="2" charset="-122"/>
                    <a:cs typeface="Times New Roman" panose="02020603050405020304" pitchFamily="18" charset="0"/>
                  </a:rPr>
                  <a:t>12.5]</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得带电圆环轴线上一点的电场</a:t>
                </a:r>
                <a:endParaRPr lang="en-US" altLang="zh-CN" sz="2800" dirty="0">
                  <a:latin typeface="华文楷体" panose="02010600040101010101" pitchFamily="2" charset="-122"/>
                  <a:ea typeface="华文楷体" panose="02010600040101010101" pitchFamily="2" charset="-122"/>
                  <a:cs typeface="Times New Roman" panose="02020603050405020304" pitchFamily="18" charset="0"/>
                </a:endParaRPr>
              </a:p>
              <a:p>
                <a:pPr marL="0" indent="0">
                  <a:spcAft>
                    <a:spcPts val="2400"/>
                  </a:spcAft>
                  <a:buNone/>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rPr>
                        <m:t>𝑑𝐸</m:t>
                      </m:r>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𝑥𝑑𝑞</m:t>
                          </m:r>
                        </m:num>
                        <m:den>
                          <m:r>
                            <a:rPr lang="en-US" altLang="zh-CN"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3</m:t>
                                  </m:r>
                                </m:num>
                                <m:den>
                                  <m:r>
                                    <a:rPr lang="en-US" altLang="zh-CN" sz="2800" b="0" i="1">
                                      <a:solidFill>
                                        <a:srgbClr val="000000"/>
                                      </a:solidFill>
                                      <a:latin typeface="Cambria Math" panose="02040503050406030204" pitchFamily="18" charset="0"/>
                                    </a:rPr>
                                    <m:t>2</m:t>
                                  </m:r>
                                </m:den>
                              </m:f>
                            </m:sup>
                          </m:sSup>
                        </m:den>
                      </m:f>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m:t>
                          </m:r>
                          <m:r>
                            <a:rPr lang="en-US" altLang="zh-CN" sz="2800" b="0" i="1">
                              <a:solidFill>
                                <a:srgbClr val="000000"/>
                              </a:solidFill>
                              <a:latin typeface="Cambria Math" panose="02040503050406030204" pitchFamily="18" charset="0"/>
                              <a:ea typeface="Cambria Math" panose="02040503050406030204" pitchFamily="18" charset="0"/>
                            </a:rPr>
                            <m:t>∙</m:t>
                          </m:r>
                          <m:r>
                            <a:rPr lang="zh-CN" altLang="en-US" sz="2800" b="0" i="1">
                              <a:solidFill>
                                <a:srgbClr val="000000"/>
                              </a:solidFill>
                              <a:latin typeface="Cambria Math" panose="02040503050406030204" pitchFamily="18" charset="0"/>
                              <a:ea typeface="Cambria Math" panose="02040503050406030204" pitchFamily="18" charset="0"/>
                            </a:rPr>
                            <m:t>𝜎</m:t>
                          </m:r>
                          <m:r>
                            <a:rPr lang="en-US" altLang="zh-CN" sz="2800" b="0" i="1">
                              <a:solidFill>
                                <a:srgbClr val="000000"/>
                              </a:solidFill>
                              <a:latin typeface="Cambria Math" panose="02040503050406030204" pitchFamily="18" charset="0"/>
                              <a:ea typeface="Cambria Math" panose="02040503050406030204" pitchFamily="18" charset="0"/>
                            </a:rPr>
                            <m:t>∙2</m:t>
                          </m:r>
                          <m:r>
                            <a:rPr lang="zh-CN" altLang="en-US" sz="2800" b="0" i="1">
                              <a:solidFill>
                                <a:srgbClr val="000000"/>
                              </a:solidFill>
                              <a:latin typeface="Cambria Math" panose="02040503050406030204" pitchFamily="18" charset="0"/>
                              <a:ea typeface="Cambria Math" panose="02040503050406030204" pitchFamily="18" charset="0"/>
                            </a:rPr>
                            <m:t>𝜋</m:t>
                          </m:r>
                          <m:r>
                            <a:rPr lang="en-US" altLang="zh-CN" sz="2800" b="0" i="1">
                              <a:solidFill>
                                <a:srgbClr val="000000"/>
                              </a:solidFill>
                              <a:latin typeface="Cambria Math" panose="02040503050406030204" pitchFamily="18" charset="0"/>
                              <a:ea typeface="Cambria Math" panose="02040503050406030204" pitchFamily="18" charset="0"/>
                            </a:rPr>
                            <m:t>𝑟𝑑𝑟</m:t>
                          </m:r>
                        </m:num>
                        <m:den>
                          <m:r>
                            <a:rPr lang="en-US" altLang="zh-CN" sz="2800" b="0" i="1">
                              <a:solidFill>
                                <a:srgbClr val="000000"/>
                              </a:solidFill>
                              <a:latin typeface="Cambria Math" panose="02040503050406030204" pitchFamily="18" charset="0"/>
                            </a:rPr>
                            <m:t>4</m:t>
                          </m:r>
                          <m:r>
                            <a:rPr lang="zh-CN" altLang="en-US" sz="2800" b="0" i="1">
                              <a:solidFill>
                                <a:srgbClr val="000000"/>
                              </a:solidFill>
                              <a:latin typeface="Cambria Math" panose="02040503050406030204" pitchFamily="18" charset="0"/>
                            </a:rPr>
                            <m:t>𝜋</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3</m:t>
                                  </m:r>
                                </m:num>
                                <m:den>
                                  <m:r>
                                    <a:rPr lang="en-US" altLang="zh-CN" sz="2800" b="0" i="1">
                                      <a:solidFill>
                                        <a:srgbClr val="000000"/>
                                      </a:solidFill>
                                      <a:latin typeface="Cambria Math" panose="02040503050406030204" pitchFamily="18" charset="0"/>
                                    </a:rPr>
                                    <m:t>2</m:t>
                                  </m:r>
                                </m:den>
                              </m:f>
                            </m:sup>
                          </m:sSup>
                        </m:den>
                      </m:f>
                    </m:oMath>
                  </m:oMathPara>
                </a14:m>
                <a:endParaRPr lang="zh-CN" altLang="en-US" sz="2800" dirty="0">
                  <a:latin typeface="华文楷体" panose="02010600040101010101" pitchFamily="2" charset="-122"/>
                  <a:ea typeface="华文楷体" panose="02010600040101010101" pitchFamily="2" charset="-122"/>
                  <a:cs typeface="Times New Roman" panose="02020603050405020304" pitchFamily="18" charset="0"/>
                </a:endParaRPr>
              </a:p>
            </p:txBody>
          </p:sp>
        </mc:Choice>
        <mc:Fallback xmlns="">
          <p:sp>
            <p:nvSpPr>
              <p:cNvPr id="38" name="内容占位符 5"/>
              <p:cNvSpPr txBox="1">
                <a:spLocks noRot="1" noChangeAspect="1" noMove="1" noResize="1" noEditPoints="1" noAdjustHandles="1" noChangeArrowheads="1" noChangeShapeType="1" noTextEdit="1"/>
              </p:cNvSpPr>
              <p:nvPr/>
            </p:nvSpPr>
            <p:spPr>
              <a:xfrm>
                <a:off x="225116" y="4708661"/>
                <a:ext cx="7639667" cy="1918714"/>
              </a:xfrm>
              <a:prstGeom prst="rect">
                <a:avLst/>
              </a:prstGeom>
              <a:blipFill>
                <a:blip r:embed="rId3"/>
                <a:stretch>
                  <a:fillRect l="-479" t="-5397"/>
                </a:stretch>
              </a:blipFill>
            </p:spPr>
            <p:txBody>
              <a:bodyPr/>
              <a:lstStyle/>
              <a:p>
                <a:r>
                  <a:rPr lang="en-US">
                    <a:noFill/>
                  </a:rPr>
                  <a:t> </a:t>
                </a:r>
              </a:p>
            </p:txBody>
          </p:sp>
        </mc:Fallback>
      </mc:AlternateContent>
      <p:pic>
        <p:nvPicPr>
          <p:cNvPr id="10" name="图片 9"/>
          <p:cNvPicPr>
            <a:picLocks noChangeAspect="1"/>
          </p:cNvPicPr>
          <p:nvPr/>
        </p:nvPicPr>
        <p:blipFill>
          <a:blip r:embed="rId4"/>
          <a:stretch>
            <a:fillRect/>
          </a:stretch>
        </p:blipFill>
        <p:spPr>
          <a:xfrm>
            <a:off x="2289150" y="1142069"/>
            <a:ext cx="3511600" cy="3279932"/>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A9E0F27C-E93E-4D93-876D-DAACAFF304FE}"/>
                  </a:ext>
                </a:extLst>
              </p:cNvPr>
              <p:cNvSpPr/>
              <p:nvPr/>
            </p:nvSpPr>
            <p:spPr>
              <a:xfrm>
                <a:off x="7740984" y="651172"/>
                <a:ext cx="4225900" cy="2996333"/>
              </a:xfrm>
              <a:prstGeom prst="rect">
                <a:avLst/>
              </a:prstGeom>
            </p:spPr>
            <p:txBody>
              <a:bodyPr wrap="square">
                <a:spAutoFit/>
              </a:bodyPr>
              <a:lstStyle/>
              <a:p>
                <a:pPr lvl="0">
                  <a:lnSpc>
                    <a:spcPct val="150000"/>
                  </a:lnSpc>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rPr>
                        <m:t>𝐸</m:t>
                      </m:r>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m:t>
                          </m:r>
                          <m:r>
                            <a:rPr lang="zh-CN" altLang="en-US" sz="2800" b="0" i="1">
                              <a:solidFill>
                                <a:srgbClr val="000000"/>
                              </a:solidFill>
                              <a:latin typeface="Cambria Math" panose="02040503050406030204" pitchFamily="18" charset="0"/>
                            </a:rPr>
                            <m:t>𝜎</m:t>
                          </m:r>
                        </m:num>
                        <m:den>
                          <m:r>
                            <a:rPr lang="en-US" altLang="zh-CN" sz="2800" b="0" i="1">
                              <a:solidFill>
                                <a:srgbClr val="000000"/>
                              </a:solidFill>
                              <a:latin typeface="Cambria Math" panose="02040503050406030204" pitchFamily="18" charset="0"/>
                            </a:rPr>
                            <m:t>2</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den>
                      </m:f>
                      <m:nary>
                        <m:naryPr>
                          <m:ctrlPr>
                            <a:rPr lang="en-US" altLang="zh-CN" sz="2800" i="1">
                              <a:solidFill>
                                <a:srgbClr val="000000"/>
                              </a:solidFill>
                              <a:latin typeface="Cambria Math" panose="02040503050406030204" pitchFamily="18" charset="0"/>
                            </a:rPr>
                          </m:ctrlPr>
                        </m:naryPr>
                        <m:sub>
                          <m:r>
                            <m:rPr>
                              <m:brk m:alnAt="23"/>
                            </m:rPr>
                            <a:rPr lang="en-US" altLang="zh-CN" sz="2800" b="0" i="1">
                              <a:solidFill>
                                <a:srgbClr val="000000"/>
                              </a:solidFill>
                              <a:latin typeface="Cambria Math" panose="02040503050406030204" pitchFamily="18" charset="0"/>
                            </a:rPr>
                            <m:t>0</m:t>
                          </m:r>
                        </m:sub>
                        <m:sup>
                          <m:r>
                            <a:rPr lang="en-US" altLang="zh-CN" sz="2800" b="0" i="1">
                              <a:solidFill>
                                <a:srgbClr val="000000"/>
                              </a:solidFill>
                              <a:latin typeface="Cambria Math" panose="02040503050406030204" pitchFamily="18" charset="0"/>
                            </a:rPr>
                            <m:t>𝑅</m:t>
                          </m:r>
                        </m:sup>
                        <m:e>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ea typeface="Cambria Math" panose="02040503050406030204" pitchFamily="18" charset="0"/>
                                </a:rPr>
                                <m:t>𝑟𝑑𝑟</m:t>
                              </m:r>
                            </m:num>
                            <m:den>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𝑟</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3</m:t>
                                      </m:r>
                                    </m:num>
                                    <m:den>
                                      <m:r>
                                        <a:rPr lang="en-US" altLang="zh-CN" sz="2800" b="0" i="1">
                                          <a:solidFill>
                                            <a:srgbClr val="000000"/>
                                          </a:solidFill>
                                          <a:latin typeface="Cambria Math" panose="02040503050406030204" pitchFamily="18" charset="0"/>
                                        </a:rPr>
                                        <m:t>2</m:t>
                                      </m:r>
                                    </m:den>
                                  </m:f>
                                </m:sup>
                              </m:sSup>
                            </m:den>
                          </m:f>
                        </m:e>
                      </m:nary>
                    </m:oMath>
                  </m:oMathPara>
                </a14:m>
                <a:endParaRPr lang="en-US" altLang="zh-CN" sz="2800" i="1" dirty="0">
                  <a:solidFill>
                    <a:srgbClr val="000000"/>
                  </a:solidFill>
                  <a:latin typeface="Cambria Math" panose="02040503050406030204" pitchFamily="18" charset="0"/>
                </a:endParaRPr>
              </a:p>
              <a:p>
                <a:pPr lvl="0">
                  <a:lnSpc>
                    <a:spcPct val="150000"/>
                  </a:lnSpc>
                </a:pPr>
                <a14:m>
                  <m:oMathPara xmlns:m="http://schemas.openxmlformats.org/officeDocument/2006/math">
                    <m:oMathParaPr>
                      <m:jc m:val="centerGroup"/>
                    </m:oMathParaPr>
                    <m:oMath xmlns:m="http://schemas.openxmlformats.org/officeDocument/2006/math">
                      <m:r>
                        <a:rPr lang="en-US" altLang="zh-CN" sz="2800" b="0" i="1">
                          <a:solidFill>
                            <a:srgbClr val="000000"/>
                          </a:solidFill>
                          <a:latin typeface="Cambria Math" panose="02040503050406030204" pitchFamily="18" charset="0"/>
                        </a:rPr>
                        <m:t>=</m:t>
                      </m:r>
                      <m:f>
                        <m:fPr>
                          <m:ctrlPr>
                            <a:rPr lang="en-US" altLang="zh-CN" sz="2800" i="1">
                              <a:solidFill>
                                <a:srgbClr val="000000"/>
                              </a:solidFill>
                              <a:latin typeface="Cambria Math" panose="02040503050406030204" pitchFamily="18" charset="0"/>
                            </a:rPr>
                          </m:ctrlPr>
                        </m:fPr>
                        <m:num>
                          <m:r>
                            <a:rPr lang="zh-CN" altLang="en-US" sz="2800" b="0" i="1">
                              <a:solidFill>
                                <a:srgbClr val="000000"/>
                              </a:solidFill>
                              <a:latin typeface="Cambria Math" panose="02040503050406030204" pitchFamily="18" charset="0"/>
                            </a:rPr>
                            <m:t>𝜎</m:t>
                          </m:r>
                        </m:num>
                        <m:den>
                          <m:r>
                            <a:rPr lang="en-US" altLang="zh-CN" sz="2800" b="0" i="1">
                              <a:solidFill>
                                <a:srgbClr val="000000"/>
                              </a:solidFill>
                              <a:latin typeface="Cambria Math" panose="02040503050406030204" pitchFamily="18" charset="0"/>
                            </a:rPr>
                            <m:t>2</m:t>
                          </m:r>
                          <m:sSub>
                            <m:sSubPr>
                              <m:ctrlPr>
                                <a:rPr lang="en-US" altLang="zh-CN"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en-US" altLang="zh-CN" sz="2800" b="0" i="1">
                                  <a:solidFill>
                                    <a:srgbClr val="000000"/>
                                  </a:solidFill>
                                  <a:latin typeface="Cambria Math" panose="02040503050406030204" pitchFamily="18" charset="0"/>
                                </a:rPr>
                                <m:t>0</m:t>
                              </m:r>
                            </m:sub>
                          </m:sSub>
                        </m:den>
                      </m:f>
                      <m:d>
                        <m:dPr>
                          <m:begChr m:val="["/>
                          <m:endChr m:val="]"/>
                          <m:ctrlPr>
                            <a:rPr lang="en-US" altLang="zh-CN" sz="2800" i="1">
                              <a:solidFill>
                                <a:srgbClr val="000000"/>
                              </a:solidFill>
                              <a:latin typeface="Cambria Math" panose="02040503050406030204" pitchFamily="18" charset="0"/>
                            </a:rPr>
                          </m:ctrlPr>
                        </m:dPr>
                        <m:e>
                          <m:r>
                            <a:rPr lang="en-US" altLang="zh-CN" sz="2800" b="0" i="1">
                              <a:solidFill>
                                <a:srgbClr val="000000"/>
                              </a:solidFill>
                              <a:latin typeface="Cambria Math" panose="02040503050406030204" pitchFamily="18" charset="0"/>
                            </a:rPr>
                            <m:t>1−</m:t>
                          </m:r>
                          <m:f>
                            <m:fPr>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𝑥</m:t>
                              </m:r>
                            </m:num>
                            <m:den>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𝑅</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sSup>
                                    <m:sSupPr>
                                      <m:ctrlPr>
                                        <a:rPr lang="en-US" altLang="zh-CN" sz="2800" i="1">
                                          <a:solidFill>
                                            <a:srgbClr val="000000"/>
                                          </a:solidFill>
                                          <a:latin typeface="Cambria Math" panose="02040503050406030204" pitchFamily="18" charset="0"/>
                                        </a:rPr>
                                      </m:ctrlPr>
                                    </m:sSupPr>
                                    <m:e>
                                      <m:r>
                                        <a:rPr lang="en-US" altLang="zh-CN" sz="2800" b="0" i="1">
                                          <a:solidFill>
                                            <a:srgbClr val="000000"/>
                                          </a:solidFill>
                                          <a:latin typeface="Cambria Math" panose="02040503050406030204" pitchFamily="18" charset="0"/>
                                        </a:rPr>
                                        <m:t>𝑥</m:t>
                                      </m:r>
                                    </m:e>
                                    <m:sup>
                                      <m:r>
                                        <a:rPr lang="en-US" altLang="zh-CN" sz="2800" b="0" i="1">
                                          <a:solidFill>
                                            <a:srgbClr val="000000"/>
                                          </a:solidFill>
                                          <a:latin typeface="Cambria Math" panose="02040503050406030204" pitchFamily="18" charset="0"/>
                                        </a:rPr>
                                        <m:t>2</m:t>
                                      </m:r>
                                    </m:sup>
                                  </m:sSup>
                                  <m:r>
                                    <a:rPr lang="en-US" altLang="zh-CN" sz="2800" b="0" i="1">
                                      <a:solidFill>
                                        <a:srgbClr val="000000"/>
                                      </a:solidFill>
                                      <a:latin typeface="Cambria Math" panose="02040503050406030204" pitchFamily="18" charset="0"/>
                                    </a:rPr>
                                    <m:t>)</m:t>
                                  </m:r>
                                </m:e>
                                <m:sup>
                                  <m:f>
                                    <m:fPr>
                                      <m:type m:val="lin"/>
                                      <m:ctrlPr>
                                        <a:rPr lang="en-US" altLang="zh-CN" sz="2800" i="1">
                                          <a:solidFill>
                                            <a:srgbClr val="000000"/>
                                          </a:solidFill>
                                          <a:latin typeface="Cambria Math" panose="02040503050406030204" pitchFamily="18" charset="0"/>
                                        </a:rPr>
                                      </m:ctrlPr>
                                    </m:fPr>
                                    <m:num>
                                      <m:r>
                                        <a:rPr lang="en-US" altLang="zh-CN" sz="2800" b="0" i="1">
                                          <a:solidFill>
                                            <a:srgbClr val="000000"/>
                                          </a:solidFill>
                                          <a:latin typeface="Cambria Math" panose="02040503050406030204" pitchFamily="18" charset="0"/>
                                        </a:rPr>
                                        <m:t>1</m:t>
                                      </m:r>
                                    </m:num>
                                    <m:den>
                                      <m:r>
                                        <a:rPr lang="en-US" altLang="zh-CN" sz="2800" b="0" i="1">
                                          <a:solidFill>
                                            <a:srgbClr val="000000"/>
                                          </a:solidFill>
                                          <a:latin typeface="Cambria Math" panose="02040503050406030204" pitchFamily="18" charset="0"/>
                                        </a:rPr>
                                        <m:t>2</m:t>
                                      </m:r>
                                    </m:den>
                                  </m:f>
                                </m:sup>
                              </m:sSup>
                            </m:den>
                          </m:f>
                        </m:e>
                      </m:d>
                    </m:oMath>
                  </m:oMathPara>
                </a14:m>
                <a:endParaRPr lang="zh-CN" altLang="en-US" dirty="0"/>
              </a:p>
            </p:txBody>
          </p:sp>
        </mc:Choice>
        <mc:Fallback xmlns="">
          <p:sp>
            <p:nvSpPr>
              <p:cNvPr id="6" name="矩形 5">
                <a:extLst>
                  <a:ext uri="{FF2B5EF4-FFF2-40B4-BE49-F238E27FC236}">
                    <a16:creationId xmlns:a16="http://schemas.microsoft.com/office/drawing/2014/main" id="{A9E0F27C-E93E-4D93-876D-DAACAFF304FE}"/>
                  </a:ext>
                </a:extLst>
              </p:cNvPr>
              <p:cNvSpPr>
                <a:spLocks noRot="1" noChangeAspect="1" noMove="1" noResize="1" noEditPoints="1" noAdjustHandles="1" noChangeArrowheads="1" noChangeShapeType="1" noTextEdit="1"/>
              </p:cNvSpPr>
              <p:nvPr/>
            </p:nvSpPr>
            <p:spPr>
              <a:xfrm>
                <a:off x="7740984" y="651172"/>
                <a:ext cx="4225900" cy="2996333"/>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7" name="Rectangle 21">
                <a:extLst>
                  <a:ext uri="{FF2B5EF4-FFF2-40B4-BE49-F238E27FC236}">
                    <a16:creationId xmlns:a16="http://schemas.microsoft.com/office/drawing/2014/main" id="{6BDFB28F-93E0-4B24-A90F-A09A7AD9A3E2}"/>
                  </a:ext>
                </a:extLst>
              </p:cNvPr>
              <p:cNvSpPr>
                <a:spLocks noChangeArrowheads="1"/>
              </p:cNvSpPr>
              <p:nvPr/>
            </p:nvSpPr>
            <p:spPr bwMode="auto">
              <a:xfrm>
                <a:off x="7864783" y="3999236"/>
                <a:ext cx="4225900" cy="2780827"/>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92075" tIns="46038" rIns="92075" bIns="46038">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50000"/>
                  </a:lnSpc>
                </a:pPr>
                <a:r>
                  <a:rPr lang="zh-CN" altLang="en-US" sz="2800" b="0" dirty="0">
                    <a:latin typeface="+mn-ea"/>
                    <a:ea typeface="+mn-ea"/>
                  </a:rPr>
                  <a:t>当</a:t>
                </a:r>
                <a14:m>
                  <m:oMath xmlns:m="http://schemas.openxmlformats.org/officeDocument/2006/math">
                    <m:r>
                      <a:rPr lang="en-US" altLang="zh-CN" sz="2800" b="0" i="1">
                        <a:latin typeface="Cambria Math" panose="02040503050406030204" pitchFamily="18" charset="0"/>
                        <a:ea typeface="+mn-ea"/>
                      </a:rPr>
                      <m:t>𝑅</m:t>
                    </m:r>
                    <m:r>
                      <a:rPr lang="en-US" altLang="zh-CN" sz="2800" b="0" i="1">
                        <a:latin typeface="Cambria Math" panose="02040503050406030204" pitchFamily="18" charset="0"/>
                        <a:ea typeface="+mn-ea"/>
                      </a:rPr>
                      <m:t>≫</m:t>
                    </m:r>
                    <m:r>
                      <a:rPr lang="en-US" altLang="zh-CN" sz="2800" b="0" i="1">
                        <a:latin typeface="Cambria Math" panose="02040503050406030204" pitchFamily="18" charset="0"/>
                        <a:ea typeface="+mn-ea"/>
                      </a:rPr>
                      <m:t>𝑥</m:t>
                    </m:r>
                  </m:oMath>
                </a14:m>
                <a:r>
                  <a:rPr lang="zh-CN" altLang="en-US" sz="2800" b="0" dirty="0">
                    <a:latin typeface="+mn-ea"/>
                    <a:ea typeface="+mn-ea"/>
                  </a:rPr>
                  <a:t>时，即无限大均匀带电平面的场强为</a:t>
                </a:r>
                <a:endParaRPr lang="en-US" altLang="zh-CN" sz="2800" b="0" dirty="0">
                  <a:latin typeface="+mn-ea"/>
                  <a:ea typeface="+mn-ea"/>
                </a:endParaRPr>
              </a:p>
              <a:p>
                <a:pPr>
                  <a:lnSpc>
                    <a:spcPct val="150000"/>
                  </a:lnSpc>
                </a:pPr>
                <a14:m>
                  <m:oMathPara xmlns:m="http://schemas.openxmlformats.org/officeDocument/2006/math">
                    <m:oMathParaPr>
                      <m:jc m:val="centerGroup"/>
                    </m:oMathParaPr>
                    <m:oMath xmlns:m="http://schemas.openxmlformats.org/officeDocument/2006/math">
                      <m:r>
                        <a:rPr lang="en-US" altLang="zh-CN" sz="3200" b="0" i="1" smtClean="0">
                          <a:solidFill>
                            <a:srgbClr val="FF0000"/>
                          </a:solidFill>
                          <a:latin typeface="Cambria Math" panose="02040503050406030204" pitchFamily="18" charset="0"/>
                          <a:ea typeface="+mn-ea"/>
                        </a:rPr>
                        <m:t>𝐸</m:t>
                      </m:r>
                      <m:r>
                        <a:rPr lang="en-US" altLang="zh-CN" sz="3200" b="0" i="1" smtClean="0">
                          <a:solidFill>
                            <a:srgbClr val="FF0000"/>
                          </a:solidFill>
                          <a:latin typeface="Cambria Math" panose="02040503050406030204" pitchFamily="18" charset="0"/>
                          <a:ea typeface="+mn-ea"/>
                        </a:rPr>
                        <m:t>=</m:t>
                      </m:r>
                      <m:f>
                        <m:fPr>
                          <m:ctrlPr>
                            <a:rPr lang="en-US" altLang="zh-CN" sz="3200" b="0" i="1">
                              <a:solidFill>
                                <a:srgbClr val="FF0000"/>
                              </a:solidFill>
                              <a:latin typeface="Cambria Math" panose="02040503050406030204" pitchFamily="18" charset="0"/>
                              <a:ea typeface="+mn-ea"/>
                            </a:rPr>
                          </m:ctrlPr>
                        </m:fPr>
                        <m:num>
                          <m:r>
                            <a:rPr lang="zh-CN" altLang="en-US" sz="3200" b="0" i="1">
                              <a:solidFill>
                                <a:srgbClr val="FF0000"/>
                              </a:solidFill>
                              <a:latin typeface="Cambria Math" panose="02040503050406030204" pitchFamily="18" charset="0"/>
                              <a:ea typeface="+mn-ea"/>
                            </a:rPr>
                            <m:t>𝜎</m:t>
                          </m:r>
                        </m:num>
                        <m:den>
                          <m:r>
                            <a:rPr lang="en-US" altLang="zh-CN" sz="3200" b="0" i="1">
                              <a:solidFill>
                                <a:srgbClr val="FF0000"/>
                              </a:solidFill>
                              <a:latin typeface="Cambria Math" panose="02040503050406030204" pitchFamily="18" charset="0"/>
                              <a:ea typeface="+mn-ea"/>
                            </a:rPr>
                            <m:t>2</m:t>
                          </m:r>
                          <m:sSub>
                            <m:sSubPr>
                              <m:ctrlPr>
                                <a:rPr lang="en-US" altLang="zh-CN" sz="3200" b="0" i="1">
                                  <a:solidFill>
                                    <a:srgbClr val="FF0000"/>
                                  </a:solidFill>
                                  <a:latin typeface="Cambria Math" panose="02040503050406030204" pitchFamily="18" charset="0"/>
                                  <a:ea typeface="+mn-ea"/>
                                </a:rPr>
                              </m:ctrlPr>
                            </m:sSubPr>
                            <m:e>
                              <m:r>
                                <a:rPr lang="zh-CN" altLang="en-US" sz="3200" b="0" i="1">
                                  <a:solidFill>
                                    <a:srgbClr val="FF0000"/>
                                  </a:solidFill>
                                  <a:latin typeface="Cambria Math" panose="02040503050406030204" pitchFamily="18" charset="0"/>
                                  <a:ea typeface="+mn-ea"/>
                                </a:rPr>
                                <m:t>𝜀</m:t>
                              </m:r>
                            </m:e>
                            <m:sub>
                              <m:r>
                                <a:rPr lang="en-US" altLang="zh-CN" sz="3200" b="0" i="1">
                                  <a:solidFill>
                                    <a:srgbClr val="FF0000"/>
                                  </a:solidFill>
                                  <a:latin typeface="Cambria Math" panose="02040503050406030204" pitchFamily="18" charset="0"/>
                                  <a:ea typeface="+mn-ea"/>
                                </a:rPr>
                                <m:t>0</m:t>
                              </m:r>
                            </m:sub>
                          </m:sSub>
                        </m:den>
                      </m:f>
                    </m:oMath>
                  </m:oMathPara>
                </a14:m>
                <a:endParaRPr lang="zh-CN" altLang="en-US" sz="2800" b="0" dirty="0">
                  <a:solidFill>
                    <a:srgbClr val="FF0000"/>
                  </a:solidFill>
                  <a:latin typeface="+mn-ea"/>
                  <a:ea typeface="+mn-ea"/>
                </a:endParaRPr>
              </a:p>
            </p:txBody>
          </p:sp>
        </mc:Choice>
        <mc:Fallback>
          <p:sp>
            <p:nvSpPr>
              <p:cNvPr id="7" name="Rectangle 21">
                <a:extLst>
                  <a:ext uri="{FF2B5EF4-FFF2-40B4-BE49-F238E27FC236}">
                    <a16:creationId xmlns:a16="http://schemas.microsoft.com/office/drawing/2014/main" id="{6BDFB28F-93E0-4B24-A90F-A09A7AD9A3E2}"/>
                  </a:ext>
                </a:extLst>
              </p:cNvPr>
              <p:cNvSpPr>
                <a:spLocks noRot="1" noChangeAspect="1" noMove="1" noResize="1" noEditPoints="1" noAdjustHandles="1" noChangeArrowheads="1" noChangeShapeType="1" noTextEdit="1"/>
              </p:cNvSpPr>
              <p:nvPr/>
            </p:nvSpPr>
            <p:spPr bwMode="auto">
              <a:xfrm>
                <a:off x="7864783" y="3999236"/>
                <a:ext cx="4225900" cy="2780827"/>
              </a:xfrm>
              <a:prstGeom prst="rect">
                <a:avLst/>
              </a:prstGeom>
              <a:blipFill>
                <a:blip r:embed="rId6"/>
                <a:stretch>
                  <a:fillRect l="-2886"/>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8" grpId="0"/>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838200" y="638432"/>
            <a:ext cx="10515600" cy="1325563"/>
          </a:xfrm>
        </p:spPr>
        <p:txBody>
          <a:bodyPr>
            <a:normAutofit/>
          </a:bodyPr>
          <a:lstStyle/>
          <a:p>
            <a:r>
              <a:rPr lang="zh-CN" altLang="en-US" sz="3200" dirty="0">
                <a:solidFill>
                  <a:srgbClr val="000000"/>
                </a:solidFill>
                <a:latin typeface="华文楷体" panose="02010600040101010101" pitchFamily="2" charset="-122"/>
                <a:ea typeface="华文楷体" panose="02010600040101010101" pitchFamily="2" charset="-122"/>
                <a:cs typeface="+mn-cs"/>
              </a:rPr>
              <a:t>无限大均匀带电平面：</a:t>
            </a:r>
            <a:endParaRPr lang="zh-CN" altLang="en-US" sz="4000" dirty="0">
              <a:latin typeface="华文楷体" panose="02010600040101010101" pitchFamily="2" charset="-122"/>
              <a:ea typeface="华文楷体" panose="02010600040101010101" pitchFamily="2" charset="-122"/>
            </a:endParaRPr>
          </a:p>
        </p:txBody>
      </p:sp>
      <p:grpSp>
        <p:nvGrpSpPr>
          <p:cNvPr id="40044" name="Group 108"/>
          <p:cNvGrpSpPr>
            <a:grpSpLocks/>
          </p:cNvGrpSpPr>
          <p:nvPr/>
        </p:nvGrpSpPr>
        <p:grpSpPr bwMode="auto">
          <a:xfrm>
            <a:off x="2720625" y="2033846"/>
            <a:ext cx="2451100" cy="2555875"/>
            <a:chOff x="612" y="2292"/>
            <a:chExt cx="1544" cy="1610"/>
          </a:xfrm>
        </p:grpSpPr>
        <p:sp>
          <p:nvSpPr>
            <p:cNvPr id="63519" name="Text Box 60"/>
            <p:cNvSpPr txBox="1">
              <a:spLocks noChangeArrowheads="1"/>
            </p:cNvSpPr>
            <p:nvPr/>
          </p:nvSpPr>
          <p:spPr bwMode="auto">
            <a:xfrm>
              <a:off x="1149" y="2292"/>
              <a:ext cx="48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t>σ&gt;0</a:t>
              </a:r>
            </a:p>
          </p:txBody>
        </p:sp>
        <p:sp>
          <p:nvSpPr>
            <p:cNvPr id="63520" name="Line 61"/>
            <p:cNvSpPr>
              <a:spLocks noChangeShapeType="1"/>
            </p:cNvSpPr>
            <p:nvPr/>
          </p:nvSpPr>
          <p:spPr bwMode="auto">
            <a:xfrm>
              <a:off x="1384" y="2768"/>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1" name="Line 62"/>
            <p:cNvSpPr>
              <a:spLocks noChangeShapeType="1"/>
            </p:cNvSpPr>
            <p:nvPr/>
          </p:nvSpPr>
          <p:spPr bwMode="auto">
            <a:xfrm>
              <a:off x="1384" y="2904"/>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2" name="Line 63"/>
            <p:cNvSpPr>
              <a:spLocks noChangeShapeType="1"/>
            </p:cNvSpPr>
            <p:nvPr/>
          </p:nvSpPr>
          <p:spPr bwMode="auto">
            <a:xfrm>
              <a:off x="1384" y="304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3" name="Line 64"/>
            <p:cNvSpPr>
              <a:spLocks noChangeShapeType="1"/>
            </p:cNvSpPr>
            <p:nvPr/>
          </p:nvSpPr>
          <p:spPr bwMode="auto">
            <a:xfrm>
              <a:off x="1384" y="317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4" name="Line 65"/>
            <p:cNvSpPr>
              <a:spLocks noChangeShapeType="1"/>
            </p:cNvSpPr>
            <p:nvPr/>
          </p:nvSpPr>
          <p:spPr bwMode="auto">
            <a:xfrm>
              <a:off x="1384" y="3313"/>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5" name="Line 66"/>
            <p:cNvSpPr>
              <a:spLocks noChangeShapeType="1"/>
            </p:cNvSpPr>
            <p:nvPr/>
          </p:nvSpPr>
          <p:spPr bwMode="auto">
            <a:xfrm>
              <a:off x="1384" y="3449"/>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6" name="Line 67"/>
            <p:cNvSpPr>
              <a:spLocks noChangeShapeType="1"/>
            </p:cNvSpPr>
            <p:nvPr/>
          </p:nvSpPr>
          <p:spPr bwMode="auto">
            <a:xfrm>
              <a:off x="1384" y="3585"/>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7" name="Line 68"/>
            <p:cNvSpPr>
              <a:spLocks noChangeShapeType="1"/>
            </p:cNvSpPr>
            <p:nvPr/>
          </p:nvSpPr>
          <p:spPr bwMode="auto">
            <a:xfrm>
              <a:off x="1384" y="372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8" name="Line 69"/>
            <p:cNvSpPr>
              <a:spLocks noChangeShapeType="1"/>
            </p:cNvSpPr>
            <p:nvPr/>
          </p:nvSpPr>
          <p:spPr bwMode="auto">
            <a:xfrm>
              <a:off x="1384" y="385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29" name="Line 70"/>
            <p:cNvSpPr>
              <a:spLocks noChangeShapeType="1"/>
            </p:cNvSpPr>
            <p:nvPr/>
          </p:nvSpPr>
          <p:spPr bwMode="auto">
            <a:xfrm>
              <a:off x="1384" y="2632"/>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0" name="Line 74"/>
            <p:cNvSpPr>
              <a:spLocks noChangeShapeType="1"/>
            </p:cNvSpPr>
            <p:nvPr/>
          </p:nvSpPr>
          <p:spPr bwMode="auto">
            <a:xfrm flipH="1">
              <a:off x="612" y="2768"/>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1" name="Line 75"/>
            <p:cNvSpPr>
              <a:spLocks noChangeShapeType="1"/>
            </p:cNvSpPr>
            <p:nvPr/>
          </p:nvSpPr>
          <p:spPr bwMode="auto">
            <a:xfrm flipH="1">
              <a:off x="612" y="2904"/>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2" name="Line 76"/>
            <p:cNvSpPr>
              <a:spLocks noChangeShapeType="1"/>
            </p:cNvSpPr>
            <p:nvPr/>
          </p:nvSpPr>
          <p:spPr bwMode="auto">
            <a:xfrm flipH="1">
              <a:off x="612" y="304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3" name="Line 77"/>
            <p:cNvSpPr>
              <a:spLocks noChangeShapeType="1"/>
            </p:cNvSpPr>
            <p:nvPr/>
          </p:nvSpPr>
          <p:spPr bwMode="auto">
            <a:xfrm flipH="1">
              <a:off x="612" y="317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4" name="Line 78"/>
            <p:cNvSpPr>
              <a:spLocks noChangeShapeType="1"/>
            </p:cNvSpPr>
            <p:nvPr/>
          </p:nvSpPr>
          <p:spPr bwMode="auto">
            <a:xfrm flipH="1">
              <a:off x="612" y="3313"/>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5" name="Line 79"/>
            <p:cNvSpPr>
              <a:spLocks noChangeShapeType="1"/>
            </p:cNvSpPr>
            <p:nvPr/>
          </p:nvSpPr>
          <p:spPr bwMode="auto">
            <a:xfrm flipH="1">
              <a:off x="612" y="3449"/>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6" name="Line 80"/>
            <p:cNvSpPr>
              <a:spLocks noChangeShapeType="1"/>
            </p:cNvSpPr>
            <p:nvPr/>
          </p:nvSpPr>
          <p:spPr bwMode="auto">
            <a:xfrm flipH="1">
              <a:off x="612" y="3585"/>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7" name="Line 81"/>
            <p:cNvSpPr>
              <a:spLocks noChangeShapeType="1"/>
            </p:cNvSpPr>
            <p:nvPr/>
          </p:nvSpPr>
          <p:spPr bwMode="auto">
            <a:xfrm flipH="1">
              <a:off x="612" y="3721"/>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8" name="Line 82"/>
            <p:cNvSpPr>
              <a:spLocks noChangeShapeType="1"/>
            </p:cNvSpPr>
            <p:nvPr/>
          </p:nvSpPr>
          <p:spPr bwMode="auto">
            <a:xfrm flipH="1">
              <a:off x="612" y="3857"/>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39" name="Line 83"/>
            <p:cNvSpPr>
              <a:spLocks noChangeShapeType="1"/>
            </p:cNvSpPr>
            <p:nvPr/>
          </p:nvSpPr>
          <p:spPr bwMode="auto">
            <a:xfrm flipH="1">
              <a:off x="612" y="2632"/>
              <a:ext cx="772" cy="0"/>
            </a:xfrm>
            <a:prstGeom prst="line">
              <a:avLst/>
            </a:prstGeom>
            <a:noFill/>
            <a:ln w="38100">
              <a:solidFill>
                <a:srgbClr val="000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40" name="Line 59"/>
            <p:cNvSpPr>
              <a:spLocks noChangeShapeType="1"/>
            </p:cNvSpPr>
            <p:nvPr/>
          </p:nvSpPr>
          <p:spPr bwMode="auto">
            <a:xfrm>
              <a:off x="1384" y="2587"/>
              <a:ext cx="0" cy="1315"/>
            </a:xfrm>
            <a:prstGeom prst="line">
              <a:avLst/>
            </a:prstGeom>
            <a:noFill/>
            <a:ln w="76200">
              <a:solidFill>
                <a:srgbClr val="FF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40045" name="Group 109"/>
          <p:cNvGrpSpPr>
            <a:grpSpLocks/>
          </p:cNvGrpSpPr>
          <p:nvPr/>
        </p:nvGrpSpPr>
        <p:grpSpPr bwMode="auto">
          <a:xfrm>
            <a:off x="6411563" y="2062420"/>
            <a:ext cx="2520950" cy="2508250"/>
            <a:chOff x="2925" y="2320"/>
            <a:chExt cx="1588" cy="1580"/>
          </a:xfrm>
        </p:grpSpPr>
        <p:sp>
          <p:nvSpPr>
            <p:cNvPr id="63497" name="Text Box 86"/>
            <p:cNvSpPr txBox="1">
              <a:spLocks noChangeArrowheads="1"/>
            </p:cNvSpPr>
            <p:nvPr/>
          </p:nvSpPr>
          <p:spPr bwMode="auto">
            <a:xfrm>
              <a:off x="3478" y="2320"/>
              <a:ext cx="482"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r>
                <a:rPr lang="en-US" altLang="zh-CN" sz="2800"/>
                <a:t>σ&lt;0</a:t>
              </a:r>
            </a:p>
          </p:txBody>
        </p:sp>
        <p:sp>
          <p:nvSpPr>
            <p:cNvPr id="63498" name="Line 87"/>
            <p:cNvSpPr>
              <a:spLocks noChangeShapeType="1"/>
            </p:cNvSpPr>
            <p:nvPr/>
          </p:nvSpPr>
          <p:spPr bwMode="auto">
            <a:xfrm>
              <a:off x="3741" y="2774"/>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499" name="Line 88"/>
            <p:cNvSpPr>
              <a:spLocks noChangeShapeType="1"/>
            </p:cNvSpPr>
            <p:nvPr/>
          </p:nvSpPr>
          <p:spPr bwMode="auto">
            <a:xfrm>
              <a:off x="3741" y="2910"/>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0" name="Line 89"/>
            <p:cNvSpPr>
              <a:spLocks noChangeShapeType="1"/>
            </p:cNvSpPr>
            <p:nvPr/>
          </p:nvSpPr>
          <p:spPr bwMode="auto">
            <a:xfrm>
              <a:off x="3741" y="304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1" name="Line 90"/>
            <p:cNvSpPr>
              <a:spLocks noChangeShapeType="1"/>
            </p:cNvSpPr>
            <p:nvPr/>
          </p:nvSpPr>
          <p:spPr bwMode="auto">
            <a:xfrm>
              <a:off x="3741" y="318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2" name="Line 91"/>
            <p:cNvSpPr>
              <a:spLocks noChangeShapeType="1"/>
            </p:cNvSpPr>
            <p:nvPr/>
          </p:nvSpPr>
          <p:spPr bwMode="auto">
            <a:xfrm>
              <a:off x="3741" y="3319"/>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3" name="Line 92"/>
            <p:cNvSpPr>
              <a:spLocks noChangeShapeType="1"/>
            </p:cNvSpPr>
            <p:nvPr/>
          </p:nvSpPr>
          <p:spPr bwMode="auto">
            <a:xfrm>
              <a:off x="3741" y="3455"/>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4" name="Line 93"/>
            <p:cNvSpPr>
              <a:spLocks noChangeShapeType="1"/>
            </p:cNvSpPr>
            <p:nvPr/>
          </p:nvSpPr>
          <p:spPr bwMode="auto">
            <a:xfrm>
              <a:off x="3741" y="3591"/>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5" name="Line 94"/>
            <p:cNvSpPr>
              <a:spLocks noChangeShapeType="1"/>
            </p:cNvSpPr>
            <p:nvPr/>
          </p:nvSpPr>
          <p:spPr bwMode="auto">
            <a:xfrm>
              <a:off x="3741" y="372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6" name="Line 95"/>
            <p:cNvSpPr>
              <a:spLocks noChangeShapeType="1"/>
            </p:cNvSpPr>
            <p:nvPr/>
          </p:nvSpPr>
          <p:spPr bwMode="auto">
            <a:xfrm>
              <a:off x="3741" y="386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7" name="Line 96"/>
            <p:cNvSpPr>
              <a:spLocks noChangeShapeType="1"/>
            </p:cNvSpPr>
            <p:nvPr/>
          </p:nvSpPr>
          <p:spPr bwMode="auto">
            <a:xfrm>
              <a:off x="3741" y="2638"/>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8" name="Line 97"/>
            <p:cNvSpPr>
              <a:spLocks noChangeShapeType="1"/>
            </p:cNvSpPr>
            <p:nvPr/>
          </p:nvSpPr>
          <p:spPr bwMode="auto">
            <a:xfrm flipH="1">
              <a:off x="2925" y="2774"/>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09" name="Line 98"/>
            <p:cNvSpPr>
              <a:spLocks noChangeShapeType="1"/>
            </p:cNvSpPr>
            <p:nvPr/>
          </p:nvSpPr>
          <p:spPr bwMode="auto">
            <a:xfrm flipH="1">
              <a:off x="2925" y="2910"/>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0" name="Line 99"/>
            <p:cNvSpPr>
              <a:spLocks noChangeShapeType="1"/>
            </p:cNvSpPr>
            <p:nvPr/>
          </p:nvSpPr>
          <p:spPr bwMode="auto">
            <a:xfrm flipH="1">
              <a:off x="2925" y="304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1" name="Line 100"/>
            <p:cNvSpPr>
              <a:spLocks noChangeShapeType="1"/>
            </p:cNvSpPr>
            <p:nvPr/>
          </p:nvSpPr>
          <p:spPr bwMode="auto">
            <a:xfrm flipH="1">
              <a:off x="2925" y="318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2" name="Line 101"/>
            <p:cNvSpPr>
              <a:spLocks noChangeShapeType="1"/>
            </p:cNvSpPr>
            <p:nvPr/>
          </p:nvSpPr>
          <p:spPr bwMode="auto">
            <a:xfrm flipH="1">
              <a:off x="2925" y="3319"/>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3" name="Line 102"/>
            <p:cNvSpPr>
              <a:spLocks noChangeShapeType="1"/>
            </p:cNvSpPr>
            <p:nvPr/>
          </p:nvSpPr>
          <p:spPr bwMode="auto">
            <a:xfrm flipH="1">
              <a:off x="2925" y="3455"/>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4" name="Line 103"/>
            <p:cNvSpPr>
              <a:spLocks noChangeShapeType="1"/>
            </p:cNvSpPr>
            <p:nvPr/>
          </p:nvSpPr>
          <p:spPr bwMode="auto">
            <a:xfrm flipH="1">
              <a:off x="2925" y="3591"/>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5" name="Line 104"/>
            <p:cNvSpPr>
              <a:spLocks noChangeShapeType="1"/>
            </p:cNvSpPr>
            <p:nvPr/>
          </p:nvSpPr>
          <p:spPr bwMode="auto">
            <a:xfrm flipH="1">
              <a:off x="2925" y="3727"/>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6" name="Line 105"/>
            <p:cNvSpPr>
              <a:spLocks noChangeShapeType="1"/>
            </p:cNvSpPr>
            <p:nvPr/>
          </p:nvSpPr>
          <p:spPr bwMode="auto">
            <a:xfrm flipH="1">
              <a:off x="2925" y="3863"/>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7" name="Line 106"/>
            <p:cNvSpPr>
              <a:spLocks noChangeShapeType="1"/>
            </p:cNvSpPr>
            <p:nvPr/>
          </p:nvSpPr>
          <p:spPr bwMode="auto">
            <a:xfrm flipH="1">
              <a:off x="2925" y="2638"/>
              <a:ext cx="772" cy="0"/>
            </a:xfrm>
            <a:prstGeom prst="line">
              <a:avLst/>
            </a:prstGeom>
            <a:noFill/>
            <a:ln w="38100">
              <a:solidFill>
                <a:srgbClr val="000000"/>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3518" name="Line 107"/>
            <p:cNvSpPr>
              <a:spLocks noChangeShapeType="1"/>
            </p:cNvSpPr>
            <p:nvPr/>
          </p:nvSpPr>
          <p:spPr bwMode="auto">
            <a:xfrm>
              <a:off x="3720" y="2585"/>
              <a:ext cx="0" cy="1315"/>
            </a:xfrm>
            <a:prstGeom prst="line">
              <a:avLst/>
            </a:prstGeom>
            <a:noFill/>
            <a:ln w="76200">
              <a:solidFill>
                <a:srgbClr val="0000CC"/>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766950" y="395140"/>
            <a:ext cx="7889500" cy="1207181"/>
          </a:xfrm>
        </p:spPr>
        <p:txBody>
          <a:bodyPr>
            <a:normAutofit/>
          </a:bodyPr>
          <a:lstStyle/>
          <a:p>
            <a:r>
              <a:rPr lang="en-US" altLang="zh-CN" sz="2800" dirty="0">
                <a:latin typeface="华文楷体" panose="02010600040101010101" pitchFamily="2" charset="-122"/>
                <a:ea typeface="华文楷体" panose="02010600040101010101" pitchFamily="2" charset="-122"/>
              </a:rPr>
              <a:t>[</a:t>
            </a:r>
            <a:r>
              <a:rPr lang="zh-CN" altLang="en-US" sz="2800" dirty="0">
                <a:latin typeface="华文楷体" panose="02010600040101010101" pitchFamily="2" charset="-122"/>
                <a:ea typeface="华文楷体" panose="02010600040101010101" pitchFamily="2" charset="-122"/>
              </a:rPr>
              <a:t>例</a:t>
            </a:r>
            <a:r>
              <a:rPr lang="en-US" altLang="zh-CN" sz="2800" dirty="0">
                <a:latin typeface="华文楷体" panose="02010600040101010101" pitchFamily="2" charset="-122"/>
                <a:ea typeface="华文楷体" panose="02010600040101010101" pitchFamily="2" charset="-122"/>
              </a:rPr>
              <a:t>12.7]</a:t>
            </a:r>
            <a:r>
              <a:rPr lang="zh-CN" altLang="en-US" sz="2800" dirty="0">
                <a:latin typeface="华文楷体" panose="02010600040101010101" pitchFamily="2" charset="-122"/>
                <a:ea typeface="华文楷体" panose="02010600040101010101" pitchFamily="2" charset="-122"/>
                <a:cs typeface="Times New Roman" panose="02020603050405020304" pitchFamily="18" charset="0"/>
              </a:rPr>
              <a:t>试求电偶极子在均匀外电场中所受的力矩。</a:t>
            </a:r>
            <a:endParaRPr lang="zh-CN" altLang="en-US" sz="280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3" name="内容占位符 2"/>
              <p:cNvSpPr>
                <a:spLocks noGrp="1"/>
              </p:cNvSpPr>
              <p:nvPr>
                <p:ph idx="1"/>
              </p:nvPr>
            </p:nvSpPr>
            <p:spPr>
              <a:xfrm>
                <a:off x="824560" y="1459460"/>
                <a:ext cx="8922688" cy="4372449"/>
              </a:xfrm>
            </p:spPr>
            <p:txBody>
              <a:bodyPr>
                <a:noAutofit/>
              </a:bodyPr>
              <a:lstStyle/>
              <a:p>
                <a:pPr marL="0" indent="0">
                  <a:spcBef>
                    <a:spcPts val="0"/>
                  </a:spcBef>
                  <a:spcAft>
                    <a:spcPts val="2400"/>
                  </a:spcAft>
                  <a:buClr>
                    <a:srgbClr val="E48312"/>
                  </a:buClr>
                  <a:buNone/>
                </a:pPr>
                <a:r>
                  <a:rPr lang="zh-CN" altLang="en-US" spc="300" dirty="0">
                    <a:solidFill>
                      <a:schemeClr val="tx1"/>
                    </a:solidFill>
                    <a:latin typeface="华文楷体" panose="02010600040101010101" pitchFamily="2" charset="-122"/>
                    <a:ea typeface="华文楷体" panose="02010600040101010101" pitchFamily="2" charset="-122"/>
                  </a:rPr>
                  <a:t>电偶极子</a:t>
                </a:r>
                <a:r>
                  <a:rPr lang="en-US" altLang="zh-CN" spc="300" dirty="0">
                    <a:solidFill>
                      <a:schemeClr val="tx1"/>
                    </a:solidFill>
                    <a:latin typeface="华文楷体" panose="02010600040101010101" pitchFamily="2" charset="-122"/>
                    <a:ea typeface="华文楷体" panose="02010600040101010101" pitchFamily="2" charset="-122"/>
                  </a:rPr>
                  <a:t>: </a:t>
                </a:r>
                <a:r>
                  <a:rPr lang="zh-CN" altLang="en-US" spc="300" dirty="0">
                    <a:solidFill>
                      <a:schemeClr val="tx1"/>
                    </a:solidFill>
                    <a:latin typeface="华文楷体" panose="02010600040101010101" pitchFamily="2" charset="-122"/>
                    <a:ea typeface="华文楷体" panose="02010600040101010101" pitchFamily="2" charset="-122"/>
                  </a:rPr>
                  <a:t>一对电量相同</a:t>
                </a:r>
                <a:r>
                  <a:rPr lang="en-US" altLang="zh-CN" spc="300" dirty="0">
                    <a:solidFill>
                      <a:schemeClr val="tx1"/>
                    </a:solidFill>
                    <a:latin typeface="华文楷体" panose="02010600040101010101" pitchFamily="2" charset="-122"/>
                    <a:ea typeface="华文楷体" panose="02010600040101010101" pitchFamily="2" charset="-122"/>
                  </a:rPr>
                  <a:t>,</a:t>
                </a:r>
                <a:r>
                  <a:rPr lang="zh-CN" altLang="en-US" spc="300" dirty="0">
                    <a:solidFill>
                      <a:schemeClr val="tx1"/>
                    </a:solidFill>
                    <a:latin typeface="华文楷体" panose="02010600040101010101" pitchFamily="2" charset="-122"/>
                    <a:ea typeface="华文楷体" panose="02010600040101010101" pitchFamily="2" charset="-122"/>
                  </a:rPr>
                  <a:t>电性相反的点电荷系统</a:t>
                </a:r>
                <a:endParaRPr lang="en-US" altLang="zh-CN" spc="300" dirty="0">
                  <a:solidFill>
                    <a:schemeClr val="tx1"/>
                  </a:solidFill>
                  <a:latin typeface="华文楷体" panose="02010600040101010101" pitchFamily="2" charset="-122"/>
                  <a:ea typeface="华文楷体" panose="02010600040101010101" pitchFamily="2" charset="-122"/>
                </a:endParaRPr>
              </a:p>
              <a:p>
                <a:pPr marL="0" indent="0">
                  <a:spcBef>
                    <a:spcPts val="0"/>
                  </a:spcBef>
                  <a:buClr>
                    <a:srgbClr val="E48312"/>
                  </a:buClr>
                  <a:buNone/>
                </a:pPr>
                <a:r>
                  <a:rPr lang="zh-CN" altLang="en-US" spc="300" dirty="0">
                    <a:solidFill>
                      <a:schemeClr val="tx1"/>
                    </a:solidFill>
                    <a:latin typeface="华文楷体" panose="02010600040101010101" pitchFamily="2" charset="-122"/>
                    <a:ea typeface="华文楷体" panose="02010600040101010101" pitchFamily="2" charset="-122"/>
                  </a:rPr>
                  <a:t>电偶极矩</a:t>
                </a:r>
                <a:r>
                  <a:rPr lang="en-US" altLang="zh-CN" spc="300" dirty="0">
                    <a:solidFill>
                      <a:schemeClr val="tx1"/>
                    </a:solidFill>
                    <a:latin typeface="华文楷体" panose="02010600040101010101" pitchFamily="2" charset="-122"/>
                    <a:ea typeface="华文楷体" panose="02010600040101010101" pitchFamily="2" charset="-122"/>
                  </a:rPr>
                  <a:t>: </a:t>
                </a:r>
                <a14:m>
                  <m:oMath xmlns:m="http://schemas.openxmlformats.org/officeDocument/2006/math">
                    <m:acc>
                      <m:accPr>
                        <m:chr m:val="⃗"/>
                        <m:ctrlPr>
                          <a:rPr lang="en-US" altLang="zh-CN" i="1" spc="300">
                            <a:solidFill>
                              <a:schemeClr val="tx1"/>
                            </a:solidFill>
                            <a:latin typeface="Cambria Math" panose="02040503050406030204" pitchFamily="18" charset="0"/>
                            <a:ea typeface="华文新魏" panose="02010800040101010101" pitchFamily="2" charset="-122"/>
                          </a:rPr>
                        </m:ctrlPr>
                      </m:accPr>
                      <m:e>
                        <m:r>
                          <a:rPr lang="en-US" altLang="zh-CN" i="1" spc="300">
                            <a:solidFill>
                              <a:schemeClr val="tx1"/>
                            </a:solidFill>
                            <a:latin typeface="Cambria Math" panose="02040503050406030204" pitchFamily="18" charset="0"/>
                            <a:ea typeface="华文新魏" panose="02010800040101010101" pitchFamily="2" charset="-122"/>
                          </a:rPr>
                          <m:t>𝒑</m:t>
                        </m:r>
                      </m:e>
                    </m:acc>
                    <m:r>
                      <a:rPr lang="en-US" altLang="zh-CN" i="1" spc="300">
                        <a:solidFill>
                          <a:schemeClr val="tx1"/>
                        </a:solidFill>
                        <a:latin typeface="Cambria Math" panose="02040503050406030204" pitchFamily="18" charset="0"/>
                        <a:ea typeface="华文新魏" panose="02010800040101010101" pitchFamily="2" charset="-122"/>
                      </a:rPr>
                      <m:t>=</m:t>
                    </m:r>
                    <m:r>
                      <a:rPr lang="en-US" altLang="zh-CN" i="1" spc="300">
                        <a:solidFill>
                          <a:schemeClr val="tx1"/>
                        </a:solidFill>
                        <a:latin typeface="Cambria Math" panose="02040503050406030204" pitchFamily="18" charset="0"/>
                        <a:ea typeface="华文新魏" panose="02010800040101010101" pitchFamily="2" charset="-122"/>
                      </a:rPr>
                      <m:t>𝒒</m:t>
                    </m:r>
                    <m:acc>
                      <m:accPr>
                        <m:chr m:val="⃗"/>
                        <m:ctrlPr>
                          <a:rPr lang="en-US" altLang="zh-CN" i="1" spc="300">
                            <a:solidFill>
                              <a:schemeClr val="tx1"/>
                            </a:solidFill>
                            <a:latin typeface="Cambria Math" panose="02040503050406030204" pitchFamily="18" charset="0"/>
                            <a:ea typeface="华文新魏" panose="02010800040101010101" pitchFamily="2" charset="-122"/>
                          </a:rPr>
                        </m:ctrlPr>
                      </m:accPr>
                      <m:e>
                        <m:r>
                          <a:rPr lang="en-US" altLang="zh-CN" i="1" spc="300">
                            <a:solidFill>
                              <a:schemeClr val="tx1"/>
                            </a:solidFill>
                            <a:latin typeface="Cambria Math" panose="02040503050406030204" pitchFamily="18" charset="0"/>
                            <a:ea typeface="华文新魏" panose="02010800040101010101" pitchFamily="2" charset="-122"/>
                          </a:rPr>
                          <m:t>𝒍</m:t>
                        </m:r>
                      </m:e>
                    </m:acc>
                  </m:oMath>
                </a14:m>
                <a:endParaRPr lang="en-US" altLang="zh-CN" i="1" spc="300" dirty="0">
                  <a:solidFill>
                    <a:schemeClr val="tx1"/>
                  </a:solidFill>
                  <a:latin typeface="华文楷体" panose="02010600040101010101" pitchFamily="2" charset="-122"/>
                  <a:ea typeface="华文楷体" panose="02010600040101010101" pitchFamily="2" charset="-122"/>
                </a:endParaRPr>
              </a:p>
            </p:txBody>
          </p:sp>
        </mc:Choice>
        <mc:Fallback xmlns="">
          <p:sp>
            <p:nvSpPr>
              <p:cNvPr id="3" name="内容占位符 2"/>
              <p:cNvSpPr>
                <a:spLocks noGrp="1" noRot="1" noChangeAspect="1" noMove="1" noResize="1" noEditPoints="1" noAdjustHandles="1" noChangeArrowheads="1" noChangeShapeType="1" noTextEdit="1"/>
              </p:cNvSpPr>
              <p:nvPr>
                <p:ph idx="1"/>
              </p:nvPr>
            </p:nvSpPr>
            <p:spPr>
              <a:xfrm>
                <a:off x="824560" y="1459460"/>
                <a:ext cx="8922688" cy="4372449"/>
              </a:xfrm>
              <a:blipFill>
                <a:blip r:embed="rId2"/>
                <a:stretch>
                  <a:fillRect l="-1366" t="-2368"/>
                </a:stretch>
              </a:blipFill>
            </p:spPr>
            <p:txBody>
              <a:bodyPr/>
              <a:lstStyle/>
              <a:p>
                <a:r>
                  <a:rPr lang="en-US">
                    <a:noFill/>
                  </a:rPr>
                  <a:t> </a:t>
                </a:r>
              </a:p>
            </p:txBody>
          </p:sp>
        </mc:Fallback>
      </mc:AlternateContent>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6450" y="1262165"/>
            <a:ext cx="3500004" cy="3645405"/>
          </a:xfrm>
          <a:prstGeom prst="ellipse">
            <a:avLst/>
          </a:prstGeom>
          <a:ln>
            <a:noFill/>
          </a:ln>
          <a:effectLst>
            <a:softEdge rad="112500"/>
          </a:effectLst>
        </p:spPr>
      </p:pic>
      <p:grpSp>
        <p:nvGrpSpPr>
          <p:cNvPr id="10" name="组合 9"/>
          <p:cNvGrpSpPr/>
          <p:nvPr/>
        </p:nvGrpSpPr>
        <p:grpSpPr>
          <a:xfrm>
            <a:off x="10456651" y="2792335"/>
            <a:ext cx="629697" cy="720000"/>
            <a:chOff x="6822250" y="3293985"/>
            <a:chExt cx="629697" cy="720000"/>
          </a:xfrm>
        </p:grpSpPr>
        <p:cxnSp>
          <p:nvCxnSpPr>
            <p:cNvPr id="8" name="直接箭头连接符 7"/>
            <p:cNvCxnSpPr/>
            <p:nvPr/>
          </p:nvCxnSpPr>
          <p:spPr>
            <a:xfrm flipV="1">
              <a:off x="6822250" y="3293985"/>
              <a:ext cx="0" cy="720000"/>
            </a:xfrm>
            <a:prstGeom prst="straightConnector1">
              <a:avLst/>
            </a:prstGeom>
            <a:ln w="57150">
              <a:solidFill>
                <a:srgbClr val="0000FF"/>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矩形 8"/>
                <p:cNvSpPr/>
                <p:nvPr/>
              </p:nvSpPr>
              <p:spPr>
                <a:xfrm>
                  <a:off x="7005991" y="3360346"/>
                  <a:ext cx="445956" cy="587277"/>
                </a:xfrm>
                <a:prstGeom prst="rect">
                  <a:avLst/>
                </a:prstGeom>
                <a:solidFill>
                  <a:schemeClr val="bg1"/>
                </a:solidFill>
                <a:ln>
                  <a:noFill/>
                </a:ln>
              </p:spPr>
              <p:txBody>
                <a:bodyPr wrap="none">
                  <a:spAutoFit/>
                </a:bodyPr>
                <a:lstStyle/>
                <a:p>
                  <a:pPr/>
                  <a14:m>
                    <m:oMathPara xmlns:m="http://schemas.openxmlformats.org/officeDocument/2006/math">
                      <m:oMathParaPr>
                        <m:jc m:val="centerGroup"/>
                      </m:oMathParaPr>
                      <m:oMath xmlns:m="http://schemas.openxmlformats.org/officeDocument/2006/math">
                        <m:acc>
                          <m:accPr>
                            <m:chr m:val="⃗"/>
                            <m:ctrlPr>
                              <a:rPr lang="en-US" altLang="zh-CN" sz="2800" b="1" i="1" spc="300">
                                <a:solidFill>
                                  <a:srgbClr val="0000FF"/>
                                </a:solidFill>
                                <a:latin typeface="Cambria Math" panose="02040503050406030204" pitchFamily="18" charset="0"/>
                                <a:ea typeface="华文新魏" panose="02010800040101010101" pitchFamily="2" charset="-122"/>
                              </a:rPr>
                            </m:ctrlPr>
                          </m:accPr>
                          <m:e>
                            <m:r>
                              <a:rPr lang="en-US" altLang="zh-CN" sz="2800" b="1" i="1" spc="300">
                                <a:solidFill>
                                  <a:srgbClr val="0000FF"/>
                                </a:solidFill>
                                <a:latin typeface="Cambria Math" panose="02040503050406030204" pitchFamily="18" charset="0"/>
                                <a:ea typeface="华文新魏" panose="02010800040101010101" pitchFamily="2" charset="-122"/>
                              </a:rPr>
                              <m:t>𝒍</m:t>
                            </m:r>
                          </m:e>
                        </m:acc>
                      </m:oMath>
                    </m:oMathPara>
                  </a14:m>
                  <a:endParaRPr lang="zh-CN" altLang="en-US" dirty="0">
                    <a:solidFill>
                      <a:srgbClr val="0000FF"/>
                    </a:solidFill>
                    <a:latin typeface="华文楷体" panose="02010600040101010101" pitchFamily="2" charset="-122"/>
                    <a:ea typeface="华文楷体" panose="02010600040101010101" pitchFamily="2" charset="-122"/>
                  </a:endParaRPr>
                </a:p>
              </p:txBody>
            </p:sp>
          </mc:Choice>
          <mc:Fallback xmlns="">
            <p:sp>
              <p:nvSpPr>
                <p:cNvPr id="9" name="矩形 8"/>
                <p:cNvSpPr>
                  <a:spLocks noRot="1" noChangeAspect="1" noMove="1" noResize="1" noEditPoints="1" noAdjustHandles="1" noChangeArrowheads="1" noChangeShapeType="1" noTextEdit="1"/>
                </p:cNvSpPr>
                <p:nvPr/>
              </p:nvSpPr>
              <p:spPr>
                <a:xfrm>
                  <a:off x="7005991" y="3360346"/>
                  <a:ext cx="445956" cy="587277"/>
                </a:xfrm>
                <a:prstGeom prst="rect">
                  <a:avLst/>
                </a:prstGeom>
                <a:blipFill>
                  <a:blip r:embed="rId4"/>
                  <a:stretch>
                    <a:fillRect/>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9EE94936-7C9F-4B20-928B-8DB2CCD2C20E}"/>
                  </a:ext>
                </a:extLst>
              </p:cNvPr>
              <p:cNvSpPr/>
              <p:nvPr/>
            </p:nvSpPr>
            <p:spPr>
              <a:xfrm>
                <a:off x="4535038" y="3152334"/>
                <a:ext cx="4453405" cy="1384995"/>
              </a:xfrm>
              <a:prstGeom prst="rect">
                <a:avLst/>
              </a:prstGeom>
            </p:spPr>
            <p:txBody>
              <a:bodyPr wrap="square">
                <a:spAutoFit/>
              </a:bodyPr>
              <a:lstStyle/>
              <a:p>
                <a:pPr>
                  <a:lnSpc>
                    <a:spcPct val="150000"/>
                  </a:lnSpc>
                  <a:spcBef>
                    <a:spcPct val="50000"/>
                  </a:spcBef>
                </a:pPr>
                <a:r>
                  <a:rPr lang="zh-CN" altLang="en-US" sz="2800" dirty="0">
                    <a:latin typeface="华文楷体" panose="02010600040101010101" pitchFamily="2" charset="-122"/>
                    <a:ea typeface="华文楷体" panose="02010600040101010101" pitchFamily="2" charset="-122"/>
                  </a:rPr>
                  <a:t>电场力的大小为</a:t>
                </a:r>
                <a:endParaRPr lang="en-US" altLang="zh-CN" sz="2800" dirty="0">
                  <a:latin typeface="华文楷体" panose="02010600040101010101" pitchFamily="2" charset="-122"/>
                  <a:ea typeface="华文楷体" panose="02010600040101010101" pitchFamily="2" charset="-122"/>
                </a:endParaRPr>
              </a:p>
              <a:p>
                <a:pPr>
                  <a:lnSpc>
                    <a:spcPct val="150000"/>
                  </a:lnSpc>
                  <a:spcBef>
                    <a:spcPct val="50000"/>
                  </a:spcBef>
                </a:pPr>
                <a14:m>
                  <m:oMathPara xmlns:m="http://schemas.openxmlformats.org/officeDocument/2006/math">
                    <m:oMathParaPr>
                      <m:jc m:val="centerGroup"/>
                    </m:oMathParaPr>
                    <m:oMath xmlns:m="http://schemas.openxmlformats.org/officeDocument/2006/math">
                      <m:r>
                        <a:rPr lang="en-US" altLang="zh-CN" sz="2800" i="1">
                          <a:latin typeface="Cambria Math" panose="02040503050406030204" pitchFamily="18" charset="0"/>
                          <a:ea typeface="华文新魏" panose="02010800040101010101" pitchFamily="2" charset="-122"/>
                        </a:rPr>
                        <m:t>𝑭</m:t>
                      </m:r>
                      <m:r>
                        <a:rPr lang="en-US" altLang="zh-CN" sz="2800" i="1">
                          <a:latin typeface="Cambria Math" panose="02040503050406030204" pitchFamily="18" charset="0"/>
                          <a:ea typeface="华文新魏" panose="02010800040101010101" pitchFamily="2" charset="-122"/>
                        </a:rPr>
                        <m:t>=</m:t>
                      </m:r>
                      <m:sSub>
                        <m:sSubPr>
                          <m:ctrlPr>
                            <a:rPr lang="en-US" altLang="zh-CN" sz="2800" i="1">
                              <a:latin typeface="Cambria Math" panose="02040503050406030204" pitchFamily="18" charset="0"/>
                              <a:ea typeface="华文新魏" panose="02010800040101010101" pitchFamily="2" charset="-122"/>
                            </a:rPr>
                          </m:ctrlPr>
                        </m:sSubPr>
                        <m:e>
                          <m:r>
                            <a:rPr lang="en-US" altLang="zh-CN" sz="2800" i="1">
                              <a:latin typeface="Cambria Math" panose="02040503050406030204" pitchFamily="18" charset="0"/>
                              <a:ea typeface="华文新魏" panose="02010800040101010101" pitchFamily="2" charset="-122"/>
                            </a:rPr>
                            <m:t>𝑭</m:t>
                          </m:r>
                        </m:e>
                        <m:sub>
                          <m:r>
                            <a:rPr lang="en-US" altLang="zh-CN" sz="2800" i="1">
                              <a:latin typeface="Cambria Math" panose="02040503050406030204" pitchFamily="18" charset="0"/>
                              <a:ea typeface="华文新魏" panose="02010800040101010101" pitchFamily="2" charset="-122"/>
                            </a:rPr>
                            <m:t>𝟏</m:t>
                          </m:r>
                        </m:sub>
                      </m:sSub>
                      <m:r>
                        <a:rPr lang="en-US" altLang="zh-CN" sz="2800" i="1">
                          <a:latin typeface="Cambria Math" panose="02040503050406030204" pitchFamily="18" charset="0"/>
                          <a:ea typeface="华文新魏" panose="02010800040101010101" pitchFamily="2" charset="-122"/>
                        </a:rPr>
                        <m:t>=</m:t>
                      </m:r>
                      <m:sSub>
                        <m:sSubPr>
                          <m:ctrlPr>
                            <a:rPr lang="en-US" altLang="zh-CN" sz="2800" i="1">
                              <a:latin typeface="Cambria Math" panose="02040503050406030204" pitchFamily="18" charset="0"/>
                              <a:ea typeface="华文新魏" panose="02010800040101010101" pitchFamily="2" charset="-122"/>
                            </a:rPr>
                          </m:ctrlPr>
                        </m:sSubPr>
                        <m:e>
                          <m:r>
                            <a:rPr lang="en-US" altLang="zh-CN" sz="2800" i="1">
                              <a:latin typeface="Cambria Math" panose="02040503050406030204" pitchFamily="18" charset="0"/>
                              <a:ea typeface="华文新魏" panose="02010800040101010101" pitchFamily="2" charset="-122"/>
                            </a:rPr>
                            <m:t>𝑭</m:t>
                          </m:r>
                        </m:e>
                        <m:sub>
                          <m:r>
                            <a:rPr lang="en-US" altLang="zh-CN" sz="2800" i="1">
                              <a:latin typeface="Cambria Math" panose="02040503050406030204" pitchFamily="18" charset="0"/>
                              <a:ea typeface="华文新魏" panose="02010800040101010101" pitchFamily="2" charset="-122"/>
                            </a:rPr>
                            <m:t>𝟐</m:t>
                          </m:r>
                        </m:sub>
                      </m:sSub>
                      <m:r>
                        <a:rPr lang="en-US" altLang="zh-CN" sz="2800" i="1">
                          <a:latin typeface="Cambria Math" panose="02040503050406030204" pitchFamily="18" charset="0"/>
                          <a:ea typeface="华文新魏" panose="02010800040101010101" pitchFamily="2" charset="-122"/>
                        </a:rPr>
                        <m:t>=</m:t>
                      </m:r>
                      <m:r>
                        <a:rPr lang="en-US" altLang="zh-CN" sz="2800" i="1">
                          <a:latin typeface="Cambria Math" panose="02040503050406030204" pitchFamily="18" charset="0"/>
                          <a:ea typeface="华文新魏" panose="02010800040101010101" pitchFamily="2" charset="-122"/>
                        </a:rPr>
                        <m:t>𝒒𝑬</m:t>
                      </m:r>
                    </m:oMath>
                  </m:oMathPara>
                </a14:m>
                <a:endParaRPr lang="zh-CN" altLang="en-US" sz="2800" dirty="0">
                  <a:latin typeface="华文楷体" panose="02010600040101010101" pitchFamily="2" charset="-122"/>
                  <a:ea typeface="华文楷体" panose="02010600040101010101" pitchFamily="2" charset="-122"/>
                </a:endParaRPr>
              </a:p>
            </p:txBody>
          </p:sp>
        </mc:Choice>
        <mc:Fallback xmlns="">
          <p:sp>
            <p:nvSpPr>
              <p:cNvPr id="7" name="矩形 6">
                <a:extLst>
                  <a:ext uri="{FF2B5EF4-FFF2-40B4-BE49-F238E27FC236}">
                    <a16:creationId xmlns:a16="http://schemas.microsoft.com/office/drawing/2014/main" id="{9EE94936-7C9F-4B20-928B-8DB2CCD2C20E}"/>
                  </a:ext>
                </a:extLst>
              </p:cNvPr>
              <p:cNvSpPr>
                <a:spLocks noRot="1" noChangeAspect="1" noMove="1" noResize="1" noEditPoints="1" noAdjustHandles="1" noChangeArrowheads="1" noChangeShapeType="1" noTextEdit="1"/>
              </p:cNvSpPr>
              <p:nvPr/>
            </p:nvSpPr>
            <p:spPr>
              <a:xfrm>
                <a:off x="4535038" y="3152334"/>
                <a:ext cx="4453405" cy="1384995"/>
              </a:xfrm>
              <a:prstGeom prst="rect">
                <a:avLst/>
              </a:prstGeom>
              <a:blipFill>
                <a:blip r:embed="rId5"/>
                <a:stretch>
                  <a:fillRect l="-2877"/>
                </a:stretch>
              </a:blipFill>
            </p:spPr>
            <p:txBody>
              <a:bodyPr/>
              <a:lstStyle/>
              <a:p>
                <a:r>
                  <a:rPr lang="en-US">
                    <a:noFill/>
                  </a:rPr>
                  <a:t> </a:t>
                </a:r>
              </a:p>
            </p:txBody>
          </p:sp>
        </mc:Fallback>
      </mc:AlternateContent>
      <p:grpSp>
        <p:nvGrpSpPr>
          <p:cNvPr id="11" name="Group 3">
            <a:extLst>
              <a:ext uri="{FF2B5EF4-FFF2-40B4-BE49-F238E27FC236}">
                <a16:creationId xmlns:a16="http://schemas.microsoft.com/office/drawing/2014/main" id="{279B7D5A-0E3D-4325-A374-417425DECB89}"/>
              </a:ext>
            </a:extLst>
          </p:cNvPr>
          <p:cNvGrpSpPr>
            <a:grpSpLocks/>
          </p:cNvGrpSpPr>
          <p:nvPr/>
        </p:nvGrpSpPr>
        <p:grpSpPr bwMode="auto">
          <a:xfrm>
            <a:off x="591687" y="3216882"/>
            <a:ext cx="3308351" cy="1728788"/>
            <a:chOff x="3415" y="2296"/>
            <a:chExt cx="2084" cy="1089"/>
          </a:xfrm>
        </p:grpSpPr>
        <mc:AlternateContent xmlns:mc="http://schemas.openxmlformats.org/markup-compatibility/2006" xmlns:a14="http://schemas.microsoft.com/office/drawing/2010/main">
          <mc:Choice Requires="a14">
            <p:sp>
              <p:nvSpPr>
                <p:cNvPr id="12" name="Object 4">
                  <a:extLst>
                    <a:ext uri="{FF2B5EF4-FFF2-40B4-BE49-F238E27FC236}">
                      <a16:creationId xmlns:a16="http://schemas.microsoft.com/office/drawing/2014/main" id="{CDDE02F6-F110-4E41-A9A7-81D97025DFC4}"/>
                    </a:ext>
                  </a:extLst>
                </p:cNvPr>
                <p:cNvSpPr txBox="1"/>
                <p:nvPr/>
              </p:nvSpPr>
              <p:spPr bwMode="auto">
                <a:xfrm>
                  <a:off x="4195" y="2535"/>
                  <a:ext cx="187" cy="33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b="1" i="1">
                                <a:solidFill>
                                  <a:srgbClr val="000000"/>
                                </a:solidFill>
                                <a:latin typeface="Cambria Math" panose="02040503050406030204" pitchFamily="18" charset="0"/>
                              </a:rPr>
                            </m:ctrlPr>
                          </m:accPr>
                          <m:e>
                            <m:r>
                              <a:rPr lang="en-US" altLang="zh-CN" sz="2800" b="1" i="1">
                                <a:solidFill>
                                  <a:srgbClr val="000000"/>
                                </a:solidFill>
                                <a:latin typeface="Cambria Math" panose="02040503050406030204" pitchFamily="18" charset="0"/>
                              </a:rPr>
                              <m:t>𝒍</m:t>
                            </m:r>
                          </m:e>
                        </m:acc>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31762" name="Object 4"/>
                <p:cNvSpPr txBox="1">
                  <a:spLocks noRot="1" noChangeAspect="1" noMove="1" noResize="1" noEditPoints="1" noAdjustHandles="1" noChangeArrowheads="1" noChangeShapeType="1" noTextEdit="1"/>
                </p:cNvSpPr>
                <p:nvPr/>
              </p:nvSpPr>
              <p:spPr bwMode="auto">
                <a:xfrm>
                  <a:off x="4195" y="2535"/>
                  <a:ext cx="187" cy="332"/>
                </a:xfrm>
                <a:prstGeom prst="rect">
                  <a:avLst/>
                </a:prstGeom>
                <a:blipFill>
                  <a:blip r:embed="rId6"/>
                  <a:stretch>
                    <a:fillRect/>
                  </a:stretch>
                </a:blipFill>
                <a:ln>
                  <a:noFill/>
                </a:ln>
                <a:effectLst/>
              </p:spPr>
              <p:txBody>
                <a:bodyPr/>
                <a:lstStyle/>
                <a:p>
                  <a:r>
                    <a:rPr lang="zh-CN" altLang="en-US">
                      <a:noFill/>
                    </a:rPr>
                    <a:t> </a:t>
                  </a:r>
                </a:p>
              </p:txBody>
            </p:sp>
          </mc:Fallback>
        </mc:AlternateContent>
        <p:grpSp>
          <p:nvGrpSpPr>
            <p:cNvPr id="13" name="Group 5">
              <a:extLst>
                <a:ext uri="{FF2B5EF4-FFF2-40B4-BE49-F238E27FC236}">
                  <a16:creationId xmlns:a16="http://schemas.microsoft.com/office/drawing/2014/main" id="{982DB2DD-F69C-4514-9394-D822B7C57771}"/>
                </a:ext>
              </a:extLst>
            </p:cNvPr>
            <p:cNvGrpSpPr>
              <a:grpSpLocks/>
            </p:cNvGrpSpPr>
            <p:nvPr/>
          </p:nvGrpSpPr>
          <p:grpSpPr bwMode="auto">
            <a:xfrm>
              <a:off x="3415" y="2296"/>
              <a:ext cx="2084" cy="1089"/>
              <a:chOff x="3415" y="2296"/>
              <a:chExt cx="2084" cy="1089"/>
            </a:xfrm>
          </p:grpSpPr>
          <p:grpSp>
            <p:nvGrpSpPr>
              <p:cNvPr id="14" name="Group 6">
                <a:extLst>
                  <a:ext uri="{FF2B5EF4-FFF2-40B4-BE49-F238E27FC236}">
                    <a16:creationId xmlns:a16="http://schemas.microsoft.com/office/drawing/2014/main" id="{05F2AAE4-B372-49C3-A39B-42441C11DD0A}"/>
                  </a:ext>
                </a:extLst>
              </p:cNvPr>
              <p:cNvGrpSpPr>
                <a:grpSpLocks/>
              </p:cNvGrpSpPr>
              <p:nvPr/>
            </p:nvGrpSpPr>
            <p:grpSpPr bwMode="auto">
              <a:xfrm>
                <a:off x="3696" y="2387"/>
                <a:ext cx="1588" cy="998"/>
                <a:chOff x="3696" y="2387"/>
                <a:chExt cx="1588" cy="998"/>
              </a:xfrm>
            </p:grpSpPr>
            <p:sp>
              <p:nvSpPr>
                <p:cNvPr id="27" name="Oval 7">
                  <a:extLst>
                    <a:ext uri="{FF2B5EF4-FFF2-40B4-BE49-F238E27FC236}">
                      <a16:creationId xmlns:a16="http://schemas.microsoft.com/office/drawing/2014/main" id="{8111625D-05F0-4DF5-BE79-A0E3EE1BEF26}"/>
                    </a:ext>
                  </a:extLst>
                </p:cNvPr>
                <p:cNvSpPr>
                  <a:spLocks noChangeArrowheads="1"/>
                </p:cNvSpPr>
                <p:nvPr/>
              </p:nvSpPr>
              <p:spPr bwMode="auto">
                <a:xfrm>
                  <a:off x="4648" y="2433"/>
                  <a:ext cx="92" cy="90"/>
                </a:xfrm>
                <a:prstGeom prst="ellipse">
                  <a:avLst/>
                </a:prstGeom>
                <a:gradFill rotWithShape="1">
                  <a:gsLst>
                    <a:gs pos="0">
                      <a:srgbClr val="0000FF"/>
                    </a:gs>
                    <a:gs pos="100000">
                      <a:srgbClr val="000076"/>
                    </a:gs>
                  </a:gsLst>
                  <a:path path="shape">
                    <a:fillToRect l="50000" t="50000" r="50000" b="50000"/>
                  </a:path>
                </a:gradFill>
                <a:ln>
                  <a:noFill/>
                </a:ln>
                <a:effectLst/>
                <a:extLst>
                  <a:ext uri="{91240B29-F687-4F45-9708-019B960494DF}">
                    <a14:hiddenLine xmlns:a14="http://schemas.microsoft.com/office/drawing/2010/main" w="25400">
                      <a:solidFill>
                        <a:srgbClr val="800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grpSp>
              <p:nvGrpSpPr>
                <p:cNvPr id="28" name="Group 8">
                  <a:extLst>
                    <a:ext uri="{FF2B5EF4-FFF2-40B4-BE49-F238E27FC236}">
                      <a16:creationId xmlns:a16="http://schemas.microsoft.com/office/drawing/2014/main" id="{9E1F5577-8064-4C77-9474-B4EE9A18665C}"/>
                    </a:ext>
                  </a:extLst>
                </p:cNvPr>
                <p:cNvGrpSpPr>
                  <a:grpSpLocks/>
                </p:cNvGrpSpPr>
                <p:nvPr/>
              </p:nvGrpSpPr>
              <p:grpSpPr bwMode="auto">
                <a:xfrm>
                  <a:off x="3696" y="2387"/>
                  <a:ext cx="1588" cy="998"/>
                  <a:chOff x="3696" y="2387"/>
                  <a:chExt cx="1588" cy="998"/>
                </a:xfrm>
              </p:grpSpPr>
              <p:sp>
                <p:nvSpPr>
                  <p:cNvPr id="29" name="Line 9">
                    <a:extLst>
                      <a:ext uri="{FF2B5EF4-FFF2-40B4-BE49-F238E27FC236}">
                        <a16:creationId xmlns:a16="http://schemas.microsoft.com/office/drawing/2014/main" id="{B75B554C-92CE-436F-A648-52254F2A1C8F}"/>
                      </a:ext>
                    </a:extLst>
                  </p:cNvPr>
                  <p:cNvSpPr>
                    <a:spLocks noChangeShapeType="1"/>
                  </p:cNvSpPr>
                  <p:nvPr/>
                </p:nvSpPr>
                <p:spPr bwMode="auto">
                  <a:xfrm flipV="1">
                    <a:off x="4164" y="2509"/>
                    <a:ext cx="504" cy="725"/>
                  </a:xfrm>
                  <a:prstGeom prst="line">
                    <a:avLst/>
                  </a:prstGeom>
                  <a:noFill/>
                  <a:ln w="38100">
                    <a:solidFill>
                      <a:srgbClr val="33CCCC"/>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nvGrpSpPr>
                  <p:cNvPr id="30" name="Group 10">
                    <a:extLst>
                      <a:ext uri="{FF2B5EF4-FFF2-40B4-BE49-F238E27FC236}">
                        <a16:creationId xmlns:a16="http://schemas.microsoft.com/office/drawing/2014/main" id="{2F4DA4C0-0718-49A6-9B1D-7308B4AEEDFB}"/>
                      </a:ext>
                    </a:extLst>
                  </p:cNvPr>
                  <p:cNvGrpSpPr>
                    <a:grpSpLocks/>
                  </p:cNvGrpSpPr>
                  <p:nvPr/>
                </p:nvGrpSpPr>
                <p:grpSpPr bwMode="auto">
                  <a:xfrm>
                    <a:off x="3696" y="2387"/>
                    <a:ext cx="1588" cy="998"/>
                    <a:chOff x="3696" y="2387"/>
                    <a:chExt cx="1588" cy="998"/>
                  </a:xfrm>
                </p:grpSpPr>
                <p:grpSp>
                  <p:nvGrpSpPr>
                    <p:cNvPr id="33" name="Group 11">
                      <a:extLst>
                        <a:ext uri="{FF2B5EF4-FFF2-40B4-BE49-F238E27FC236}">
                          <a16:creationId xmlns:a16="http://schemas.microsoft.com/office/drawing/2014/main" id="{66C5742E-432A-47A8-8750-710464BF57F2}"/>
                        </a:ext>
                      </a:extLst>
                    </p:cNvPr>
                    <p:cNvGrpSpPr>
                      <a:grpSpLocks/>
                    </p:cNvGrpSpPr>
                    <p:nvPr/>
                  </p:nvGrpSpPr>
                  <p:grpSpPr bwMode="auto">
                    <a:xfrm>
                      <a:off x="3696" y="2387"/>
                      <a:ext cx="1588" cy="499"/>
                      <a:chOff x="3696" y="2387"/>
                      <a:chExt cx="1588" cy="499"/>
                    </a:xfrm>
                  </p:grpSpPr>
                  <p:sp>
                    <p:nvSpPr>
                      <p:cNvPr id="35" name="Line 12">
                        <a:extLst>
                          <a:ext uri="{FF2B5EF4-FFF2-40B4-BE49-F238E27FC236}">
                            <a16:creationId xmlns:a16="http://schemas.microsoft.com/office/drawing/2014/main" id="{1D501675-A230-4325-A119-3E75DB66EC6B}"/>
                          </a:ext>
                        </a:extLst>
                      </p:cNvPr>
                      <p:cNvSpPr>
                        <a:spLocks noChangeShapeType="1"/>
                      </p:cNvSpPr>
                      <p:nvPr/>
                    </p:nvSpPr>
                    <p:spPr bwMode="auto">
                      <a:xfrm>
                        <a:off x="3696" y="2387"/>
                        <a:ext cx="1588" cy="0"/>
                      </a:xfrm>
                      <a:prstGeom prst="line">
                        <a:avLst/>
                      </a:prstGeom>
                      <a:noFill/>
                      <a:ln w="38100">
                        <a:solidFill>
                          <a:srgbClr val="99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sp>
                    <p:nvSpPr>
                      <p:cNvPr id="36" name="Line 13">
                        <a:extLst>
                          <a:ext uri="{FF2B5EF4-FFF2-40B4-BE49-F238E27FC236}">
                            <a16:creationId xmlns:a16="http://schemas.microsoft.com/office/drawing/2014/main" id="{9B6FAD09-0F05-4018-B0E4-EDA66B3FD50A}"/>
                          </a:ext>
                        </a:extLst>
                      </p:cNvPr>
                      <p:cNvSpPr>
                        <a:spLocks noChangeShapeType="1"/>
                      </p:cNvSpPr>
                      <p:nvPr/>
                    </p:nvSpPr>
                    <p:spPr bwMode="auto">
                      <a:xfrm>
                        <a:off x="3696" y="2886"/>
                        <a:ext cx="1588" cy="0"/>
                      </a:xfrm>
                      <a:prstGeom prst="line">
                        <a:avLst/>
                      </a:prstGeom>
                      <a:noFill/>
                      <a:ln w="38100">
                        <a:solidFill>
                          <a:srgbClr val="99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sp>
                  <p:nvSpPr>
                    <p:cNvPr id="34" name="Line 14">
                      <a:extLst>
                        <a:ext uri="{FF2B5EF4-FFF2-40B4-BE49-F238E27FC236}">
                          <a16:creationId xmlns:a16="http://schemas.microsoft.com/office/drawing/2014/main" id="{7730B974-BA18-44B5-A439-D2F32D34C2EF}"/>
                        </a:ext>
                      </a:extLst>
                    </p:cNvPr>
                    <p:cNvSpPr>
                      <a:spLocks noChangeShapeType="1"/>
                    </p:cNvSpPr>
                    <p:nvPr/>
                  </p:nvSpPr>
                  <p:spPr bwMode="auto">
                    <a:xfrm>
                      <a:off x="3696" y="3385"/>
                      <a:ext cx="1588" cy="0"/>
                    </a:xfrm>
                    <a:prstGeom prst="line">
                      <a:avLst/>
                    </a:prstGeom>
                    <a:noFill/>
                    <a:ln w="38100">
                      <a:solidFill>
                        <a:srgbClr val="993366"/>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sp>
                <p:nvSpPr>
                  <p:cNvPr id="31" name="Oval 15">
                    <a:extLst>
                      <a:ext uri="{FF2B5EF4-FFF2-40B4-BE49-F238E27FC236}">
                        <a16:creationId xmlns:a16="http://schemas.microsoft.com/office/drawing/2014/main" id="{8C29D99E-ACFF-4798-BBD1-36466EB12FE9}"/>
                      </a:ext>
                    </a:extLst>
                  </p:cNvPr>
                  <p:cNvSpPr>
                    <a:spLocks noChangeArrowheads="1"/>
                  </p:cNvSpPr>
                  <p:nvPr/>
                </p:nvSpPr>
                <p:spPr bwMode="auto">
                  <a:xfrm>
                    <a:off x="4105" y="3203"/>
                    <a:ext cx="90" cy="91"/>
                  </a:xfrm>
                  <a:prstGeom prst="ellipse">
                    <a:avLst/>
                  </a:prstGeom>
                  <a:gradFill rotWithShape="1">
                    <a:gsLst>
                      <a:gs pos="0">
                        <a:srgbClr val="0000FF"/>
                      </a:gs>
                      <a:gs pos="100000">
                        <a:srgbClr val="000076"/>
                      </a:gs>
                    </a:gsLst>
                    <a:path path="shape">
                      <a:fillToRect l="50000" t="50000" r="50000" b="50000"/>
                    </a:path>
                  </a:gradFill>
                  <a:ln>
                    <a:noFill/>
                  </a:ln>
                  <a:effectLst/>
                  <a:extLst>
                    <a:ext uri="{91240B29-F687-4F45-9708-019B960494DF}">
                      <a14:hiddenLine xmlns:a14="http://schemas.microsoft.com/office/drawing/2010/main" w="25400">
                        <a:solidFill>
                          <a:srgbClr val="800080"/>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latin typeface="华文楷体" panose="02010600040101010101" pitchFamily="2" charset="-122"/>
                      <a:ea typeface="华文楷体" panose="02010600040101010101" pitchFamily="2" charset="-122"/>
                    </a:endParaRPr>
                  </a:p>
                </p:txBody>
              </p:sp>
              <p:sp>
                <p:nvSpPr>
                  <p:cNvPr id="32" name="Line 16">
                    <a:extLst>
                      <a:ext uri="{FF2B5EF4-FFF2-40B4-BE49-F238E27FC236}">
                        <a16:creationId xmlns:a16="http://schemas.microsoft.com/office/drawing/2014/main" id="{E61CC528-F3A9-4C97-9D20-E45D0804E8B8}"/>
                      </a:ext>
                    </a:extLst>
                  </p:cNvPr>
                  <p:cNvSpPr>
                    <a:spLocks noChangeShapeType="1"/>
                  </p:cNvSpPr>
                  <p:nvPr/>
                </p:nvSpPr>
                <p:spPr bwMode="auto">
                  <a:xfrm>
                    <a:off x="4468" y="2795"/>
                    <a:ext cx="45" cy="91"/>
                  </a:xfrm>
                  <a:prstGeom prst="line">
                    <a:avLst/>
                  </a:prstGeom>
                  <a:noFill/>
                  <a:ln w="25400">
                    <a:solidFill>
                      <a:srgbClr val="008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grpSp>
          <p:sp>
            <p:nvSpPr>
              <p:cNvPr id="15" name="Line 17">
                <a:extLst>
                  <a:ext uri="{FF2B5EF4-FFF2-40B4-BE49-F238E27FC236}">
                    <a16:creationId xmlns:a16="http://schemas.microsoft.com/office/drawing/2014/main" id="{56A933B8-1515-469E-B692-3FA79323B837}"/>
                  </a:ext>
                </a:extLst>
              </p:cNvPr>
              <p:cNvSpPr>
                <a:spLocks noChangeShapeType="1"/>
              </p:cNvSpPr>
              <p:nvPr/>
            </p:nvSpPr>
            <p:spPr bwMode="auto">
              <a:xfrm>
                <a:off x="4740" y="2478"/>
                <a:ext cx="227" cy="0"/>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sp>
            <p:nvSpPr>
              <p:cNvPr id="26" name="Line 20">
                <a:extLst>
                  <a:ext uri="{FF2B5EF4-FFF2-40B4-BE49-F238E27FC236}">
                    <a16:creationId xmlns:a16="http://schemas.microsoft.com/office/drawing/2014/main" id="{5A26CB3D-7903-4A3B-BDEC-3F120E6A3BDE}"/>
                  </a:ext>
                </a:extLst>
              </p:cNvPr>
              <p:cNvSpPr>
                <a:spLocks noChangeShapeType="1"/>
              </p:cNvSpPr>
              <p:nvPr/>
            </p:nvSpPr>
            <p:spPr bwMode="auto">
              <a:xfrm flipH="1">
                <a:off x="3833" y="3249"/>
                <a:ext cx="272" cy="0"/>
              </a:xfrm>
              <a:prstGeom prst="line">
                <a:avLst/>
              </a:prstGeom>
              <a:noFill/>
              <a:ln w="38100">
                <a:solidFill>
                  <a:srgbClr val="008000"/>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sz="2800" b="1">
                  <a:latin typeface="华文楷体" panose="02010600040101010101" pitchFamily="2" charset="-122"/>
                  <a:ea typeface="华文楷体" panose="02010600040101010101" pitchFamily="2" charset="-122"/>
                </a:endParaRPr>
              </a:p>
            </p:txBody>
          </p:sp>
          <p:grpSp>
            <p:nvGrpSpPr>
              <p:cNvPr id="17" name="Group 21">
                <a:extLst>
                  <a:ext uri="{FF2B5EF4-FFF2-40B4-BE49-F238E27FC236}">
                    <a16:creationId xmlns:a16="http://schemas.microsoft.com/office/drawing/2014/main" id="{05A60876-F78D-4519-9D44-662A98269049}"/>
                  </a:ext>
                </a:extLst>
              </p:cNvPr>
              <p:cNvGrpSpPr>
                <a:grpSpLocks/>
              </p:cNvGrpSpPr>
              <p:nvPr/>
            </p:nvGrpSpPr>
            <p:grpSpPr bwMode="auto">
              <a:xfrm>
                <a:off x="3415" y="2296"/>
                <a:ext cx="2084" cy="1043"/>
                <a:chOff x="3415" y="2296"/>
                <a:chExt cx="2084" cy="1043"/>
              </a:xfrm>
            </p:grpSpPr>
            <mc:AlternateContent xmlns:mc="http://schemas.openxmlformats.org/markup-compatibility/2006" xmlns:a14="http://schemas.microsoft.com/office/drawing/2010/main">
              <mc:Choice Requires="a14">
                <p:sp>
                  <p:nvSpPr>
                    <p:cNvPr id="18" name="Object 22">
                      <a:extLst>
                        <a:ext uri="{FF2B5EF4-FFF2-40B4-BE49-F238E27FC236}">
                          <a16:creationId xmlns:a16="http://schemas.microsoft.com/office/drawing/2014/main" id="{0DC9C558-8816-443E-BF68-8AA004564E28}"/>
                        </a:ext>
                      </a:extLst>
                    </p:cNvPr>
                    <p:cNvSpPr txBox="1"/>
                    <p:nvPr/>
                  </p:nvSpPr>
                  <p:spPr bwMode="auto">
                    <a:xfrm>
                      <a:off x="4311" y="2296"/>
                      <a:ext cx="267" cy="222"/>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𝒒</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68" name="Object 22"/>
                    <p:cNvSpPr txBox="1">
                      <a:spLocks noRot="1" noChangeAspect="1" noMove="1" noResize="1" noEditPoints="1" noAdjustHandles="1" noChangeArrowheads="1" noChangeShapeType="1" noTextEdit="1"/>
                    </p:cNvSpPr>
                    <p:nvPr/>
                  </p:nvSpPr>
                  <p:spPr bwMode="auto">
                    <a:xfrm>
                      <a:off x="4311" y="2296"/>
                      <a:ext cx="267" cy="222"/>
                    </a:xfrm>
                    <a:prstGeom prst="rect">
                      <a:avLst/>
                    </a:prstGeom>
                    <a:blipFill>
                      <a:blip r:embed="rId7"/>
                      <a:stretch>
                        <a:fillRect l="-1429" r="-42857" b="-44828"/>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Object 23">
                      <a:extLst>
                        <a:ext uri="{FF2B5EF4-FFF2-40B4-BE49-F238E27FC236}">
                          <a16:creationId xmlns:a16="http://schemas.microsoft.com/office/drawing/2014/main" id="{D3D1FF37-D552-4EB5-BFA1-CAFF358B76F8}"/>
                        </a:ext>
                      </a:extLst>
                    </p:cNvPr>
                    <p:cNvSpPr txBox="1"/>
                    <p:nvPr/>
                  </p:nvSpPr>
                  <p:spPr bwMode="auto">
                    <a:xfrm>
                      <a:off x="5329" y="2750"/>
                      <a:ext cx="170" cy="22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2800" b="1" i="1">
                                    <a:solidFill>
                                      <a:srgbClr val="000000"/>
                                    </a:solidFill>
                                    <a:latin typeface="Cambria Math" panose="02040503050406030204" pitchFamily="18" charset="0"/>
                                  </a:rPr>
                                </m:ctrlPr>
                              </m:accPr>
                              <m:e>
                                <m:r>
                                  <a:rPr lang="zh-CN" altLang="en-US" sz="2800" b="1" i="1">
                                    <a:solidFill>
                                      <a:srgbClr val="000000"/>
                                    </a:solidFill>
                                    <a:latin typeface="Cambria Math" panose="02040503050406030204" pitchFamily="18" charset="0"/>
                                  </a:rPr>
                                  <m:t>𝑬</m:t>
                                </m:r>
                              </m:e>
                            </m:acc>
                          </m:oMath>
                        </m:oMathPara>
                      </a14:m>
                      <a:endParaRPr lang="zh-CN" altLang="en-US" sz="2800" b="1" dirty="0">
                        <a:latin typeface="华文楷体" panose="02010600040101010101" pitchFamily="2" charset="-122"/>
                        <a:ea typeface="华文楷体" panose="02010600040101010101" pitchFamily="2" charset="-122"/>
                      </a:endParaRPr>
                    </a:p>
                  </p:txBody>
                </p:sp>
              </mc:Choice>
              <mc:Fallback xmlns="">
                <p:sp>
                  <p:nvSpPr>
                    <p:cNvPr id="31769" name="Object 23"/>
                    <p:cNvSpPr txBox="1">
                      <a:spLocks noRot="1" noChangeAspect="1" noMove="1" noResize="1" noEditPoints="1" noAdjustHandles="1" noChangeArrowheads="1" noChangeShapeType="1" noTextEdit="1"/>
                    </p:cNvSpPr>
                    <p:nvPr/>
                  </p:nvSpPr>
                  <p:spPr bwMode="auto">
                    <a:xfrm>
                      <a:off x="5329" y="2750"/>
                      <a:ext cx="170" cy="227"/>
                    </a:xfrm>
                    <a:prstGeom prst="rect">
                      <a:avLst/>
                    </a:prstGeom>
                    <a:blipFill>
                      <a:blip r:embed="rId8"/>
                      <a:stretch>
                        <a:fillRect r="-2273"/>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Object 24">
                      <a:extLst>
                        <a:ext uri="{FF2B5EF4-FFF2-40B4-BE49-F238E27FC236}">
                          <a16:creationId xmlns:a16="http://schemas.microsoft.com/office/drawing/2014/main" id="{91E864DB-DFC1-43F9-86C6-73FF4500659C}"/>
                        </a:ext>
                      </a:extLst>
                    </p:cNvPr>
                    <p:cNvSpPr txBox="1"/>
                    <p:nvPr/>
                  </p:nvSpPr>
                  <p:spPr bwMode="auto">
                    <a:xfrm>
                      <a:off x="4531" y="2610"/>
                      <a:ext cx="287" cy="227"/>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𝜽</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0" name="Object 24"/>
                    <p:cNvSpPr txBox="1">
                      <a:spLocks noRot="1" noChangeAspect="1" noMove="1" noResize="1" noEditPoints="1" noAdjustHandles="1" noChangeArrowheads="1" noChangeShapeType="1" noTextEdit="1"/>
                    </p:cNvSpPr>
                    <p:nvPr/>
                  </p:nvSpPr>
                  <p:spPr bwMode="auto">
                    <a:xfrm>
                      <a:off x="4531" y="2610"/>
                      <a:ext cx="287" cy="227"/>
                    </a:xfrm>
                    <a:prstGeom prst="rect">
                      <a:avLst/>
                    </a:prstGeom>
                    <a:blipFill>
                      <a:blip r:embed="rId9"/>
                      <a:stretch>
                        <a:fillRect l="-2667" b="-22034"/>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1" name="Object 25">
                      <a:extLst>
                        <a:ext uri="{FF2B5EF4-FFF2-40B4-BE49-F238E27FC236}">
                          <a16:creationId xmlns:a16="http://schemas.microsoft.com/office/drawing/2014/main" id="{709607F9-850D-4593-B73B-042799CB4D3C}"/>
                        </a:ext>
                      </a:extLst>
                    </p:cNvPr>
                    <p:cNvSpPr txBox="1"/>
                    <p:nvPr/>
                  </p:nvSpPr>
                  <p:spPr bwMode="auto">
                    <a:xfrm>
                      <a:off x="4967" y="2349"/>
                      <a:ext cx="376" cy="457"/>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𝑭</m:t>
                                    </m:r>
                                  </m:e>
                                </m:acc>
                              </m:e>
                              <m:sub>
                                <m:r>
                                  <a:rPr lang="zh-CN" altLang="en-US" sz="2400" b="1" i="1">
                                    <a:solidFill>
                                      <a:srgbClr val="000000"/>
                                    </a:solidFill>
                                    <a:latin typeface="Cambria Math" panose="02040503050406030204" pitchFamily="18" charset="0"/>
                                  </a:rPr>
                                  <m:t>𝟏</m:t>
                                </m:r>
                              </m:sub>
                            </m:sSub>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1" name="Object 25"/>
                    <p:cNvSpPr txBox="1">
                      <a:spLocks noRot="1" noChangeAspect="1" noMove="1" noResize="1" noEditPoints="1" noAdjustHandles="1" noChangeArrowheads="1" noChangeShapeType="1" noTextEdit="1"/>
                    </p:cNvSpPr>
                    <p:nvPr/>
                  </p:nvSpPr>
                  <p:spPr bwMode="auto">
                    <a:xfrm>
                      <a:off x="4967" y="2349"/>
                      <a:ext cx="376" cy="457"/>
                    </a:xfrm>
                    <a:prstGeom prst="rect">
                      <a:avLst/>
                    </a:prstGeom>
                    <a:blipFill>
                      <a:blip r:embed="rId10"/>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Object 26">
                      <a:extLst>
                        <a:ext uri="{FF2B5EF4-FFF2-40B4-BE49-F238E27FC236}">
                          <a16:creationId xmlns:a16="http://schemas.microsoft.com/office/drawing/2014/main" id="{08E6BFF7-4DFF-4E26-8DEE-A2BDA086126A}"/>
                        </a:ext>
                      </a:extLst>
                    </p:cNvPr>
                    <p:cNvSpPr txBox="1"/>
                    <p:nvPr/>
                  </p:nvSpPr>
                  <p:spPr bwMode="auto">
                    <a:xfrm>
                      <a:off x="3415" y="2995"/>
                      <a:ext cx="391" cy="344"/>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400" b="1" i="1">
                                    <a:solidFill>
                                      <a:srgbClr val="000000"/>
                                    </a:solidFill>
                                    <a:latin typeface="Cambria Math" panose="02040503050406030204" pitchFamily="18" charset="0"/>
                                  </a:rPr>
                                </m:ctrlPr>
                              </m:sSubPr>
                              <m:e>
                                <m:acc>
                                  <m:accPr>
                                    <m:chr m:val="⃗"/>
                                    <m:ctrlPr>
                                      <a:rPr lang="zh-CN" altLang="en-US" sz="2400" b="1" i="1">
                                        <a:solidFill>
                                          <a:srgbClr val="000000"/>
                                        </a:solidFill>
                                        <a:latin typeface="Cambria Math" panose="02040503050406030204" pitchFamily="18" charset="0"/>
                                      </a:rPr>
                                    </m:ctrlPr>
                                  </m:accPr>
                                  <m:e>
                                    <m:r>
                                      <a:rPr lang="zh-CN" altLang="en-US" sz="2400" b="1" i="1">
                                        <a:solidFill>
                                          <a:srgbClr val="000000"/>
                                        </a:solidFill>
                                        <a:latin typeface="Cambria Math" panose="02040503050406030204" pitchFamily="18" charset="0"/>
                                      </a:rPr>
                                      <m:t>𝑭</m:t>
                                    </m:r>
                                  </m:e>
                                </m:acc>
                              </m:e>
                              <m:sub>
                                <m:r>
                                  <a:rPr lang="zh-CN" altLang="en-US" sz="2400" b="1" i="1">
                                    <a:solidFill>
                                      <a:srgbClr val="000000"/>
                                    </a:solidFill>
                                    <a:latin typeface="Cambria Math" panose="02040503050406030204" pitchFamily="18" charset="0"/>
                                  </a:rPr>
                                  <m:t>𝟐</m:t>
                                </m:r>
                              </m:sub>
                            </m:sSub>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2" name="Object 26"/>
                    <p:cNvSpPr txBox="1">
                      <a:spLocks noRot="1" noChangeAspect="1" noMove="1" noResize="1" noEditPoints="1" noAdjustHandles="1" noChangeArrowheads="1" noChangeShapeType="1" noTextEdit="1"/>
                    </p:cNvSpPr>
                    <p:nvPr/>
                  </p:nvSpPr>
                  <p:spPr bwMode="auto">
                    <a:xfrm>
                      <a:off x="3415" y="2995"/>
                      <a:ext cx="391" cy="344"/>
                    </a:xfrm>
                    <a:prstGeom prst="rect">
                      <a:avLst/>
                    </a:prstGeom>
                    <a:blipFill>
                      <a:blip r:embed="rId11"/>
                      <a:stretch>
                        <a:fillRect/>
                      </a:stretch>
                    </a:blipFill>
                    <a:ln>
                      <a:noFill/>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3" name="Object 27">
                      <a:extLst>
                        <a:ext uri="{FF2B5EF4-FFF2-40B4-BE49-F238E27FC236}">
                          <a16:creationId xmlns:a16="http://schemas.microsoft.com/office/drawing/2014/main" id="{825DD592-3E40-45BB-AA9E-A605D4B63159}"/>
                        </a:ext>
                      </a:extLst>
                    </p:cNvPr>
                    <p:cNvSpPr txBox="1"/>
                    <p:nvPr/>
                  </p:nvSpPr>
                  <p:spPr bwMode="auto">
                    <a:xfrm>
                      <a:off x="3806" y="2946"/>
                      <a:ext cx="313" cy="30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400" b="1" i="1">
                                <a:solidFill>
                                  <a:srgbClr val="000000"/>
                                </a:solidFill>
                                <a:latin typeface="Cambria Math" panose="02040503050406030204" pitchFamily="18" charset="0"/>
                              </a:rPr>
                              <m:t>−</m:t>
                            </m:r>
                            <m:r>
                              <a:rPr lang="zh-CN" altLang="en-US" sz="2400" b="1" i="1">
                                <a:solidFill>
                                  <a:srgbClr val="000000"/>
                                </a:solidFill>
                                <a:latin typeface="Cambria Math" panose="02040503050406030204" pitchFamily="18" charset="0"/>
                              </a:rPr>
                              <m:t>𝒒</m:t>
                            </m:r>
                          </m:oMath>
                        </m:oMathPara>
                      </a14:m>
                      <a:endParaRPr lang="zh-CN" altLang="en-US" sz="2400" b="1" dirty="0">
                        <a:latin typeface="华文楷体" panose="02010600040101010101" pitchFamily="2" charset="-122"/>
                        <a:ea typeface="华文楷体" panose="02010600040101010101" pitchFamily="2" charset="-122"/>
                      </a:endParaRPr>
                    </a:p>
                  </p:txBody>
                </p:sp>
              </mc:Choice>
              <mc:Fallback xmlns="">
                <p:sp>
                  <p:nvSpPr>
                    <p:cNvPr id="31773" name="Object 27"/>
                    <p:cNvSpPr txBox="1">
                      <a:spLocks noRot="1" noChangeAspect="1" noMove="1" noResize="1" noEditPoints="1" noAdjustHandles="1" noChangeArrowheads="1" noChangeShapeType="1" noTextEdit="1"/>
                    </p:cNvSpPr>
                    <p:nvPr/>
                  </p:nvSpPr>
                  <p:spPr bwMode="auto">
                    <a:xfrm>
                      <a:off x="3806" y="2946"/>
                      <a:ext cx="313" cy="305"/>
                    </a:xfrm>
                    <a:prstGeom prst="rect">
                      <a:avLst/>
                    </a:prstGeom>
                    <a:blipFill>
                      <a:blip r:embed="rId12"/>
                      <a:stretch>
                        <a:fillRect r="-23171" b="-5000"/>
                      </a:stretch>
                    </a:blipFill>
                    <a:ln>
                      <a:noFill/>
                    </a:ln>
                    <a:effectLst/>
                  </p:spPr>
                  <p:txBody>
                    <a:bodyPr/>
                    <a:lstStyle/>
                    <a:p>
                      <a:r>
                        <a:rPr lang="zh-CN" altLang="en-US">
                          <a:noFill/>
                        </a:rPr>
                        <a:t> </a:t>
                      </a:r>
                    </a:p>
                  </p:txBody>
                </p:sp>
              </mc:Fallback>
            </mc:AlternateContent>
          </p:grpSp>
        </p:grpSp>
      </p:grpSp>
      <mc:AlternateContent xmlns:mc="http://schemas.openxmlformats.org/markup-compatibility/2006" xmlns:a14="http://schemas.microsoft.com/office/drawing/2010/main">
        <mc:Choice Requires="a14">
          <p:sp>
            <p:nvSpPr>
              <p:cNvPr id="37" name="Text Box 36">
                <a:extLst>
                  <a:ext uri="{FF2B5EF4-FFF2-40B4-BE49-F238E27FC236}">
                    <a16:creationId xmlns:a16="http://schemas.microsoft.com/office/drawing/2014/main" id="{E72021E4-B563-4AE1-926E-9D43F85C1592}"/>
                  </a:ext>
                </a:extLst>
              </p:cNvPr>
              <p:cNvSpPr txBox="1">
                <a:spLocks noChangeArrowheads="1"/>
              </p:cNvSpPr>
              <p:nvPr/>
            </p:nvSpPr>
            <p:spPr bwMode="auto">
              <a:xfrm>
                <a:off x="4391767" y="4985498"/>
                <a:ext cx="8004966" cy="1481111"/>
              </a:xfrm>
              <a:prstGeom prst="rect">
                <a:avLst/>
              </a:prstGeom>
              <a:noFill/>
              <a:ln>
                <a:noFill/>
              </a:ln>
              <a:effectLst/>
              <a:extLst>
                <a:ext uri="{909E8E84-426E-40DD-AFC4-6F175D3DCCD1}">
                  <a14:hiddenFill>
                    <a:solidFill>
                      <a:srgbClr val="FFFFFF"/>
                    </a:solidFill>
                  </a14:hiddenFill>
                </a:ext>
                <a:ext uri="{91240B29-F687-4F45-9708-019B960494DF}">
                  <a14:hiddenLine w="25400">
                    <a:solidFill>
                      <a:srgbClr val="800080"/>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wrap="square">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eaLnBrk="1" hangingPunct="1">
                  <a:lnSpc>
                    <a:spcPct val="150000"/>
                  </a:lnSpc>
                  <a:spcBef>
                    <a:spcPct val="50000"/>
                  </a:spcBef>
                </a:pPr>
                <a:r>
                  <a:rPr lang="zh-CN" altLang="en-US" sz="2800" b="0" dirty="0">
                    <a:latin typeface="华文楷体" panose="02010600040101010101" pitchFamily="2" charset="-122"/>
                    <a:ea typeface="华文楷体" panose="02010600040101010101" pitchFamily="2" charset="-122"/>
                  </a:rPr>
                  <a:t>合力为零，产生的力偶矩为</a:t>
                </a:r>
                <a:endParaRPr lang="en-US" altLang="zh-CN" sz="2800" b="0" dirty="0">
                  <a:latin typeface="华文楷体" panose="02010600040101010101" pitchFamily="2" charset="-122"/>
                  <a:ea typeface="华文楷体" panose="02010600040101010101" pitchFamily="2" charset="-122"/>
                </a:endParaRPr>
              </a:p>
              <a:p>
                <a:pPr eaLnBrk="1" hangingPunct="1">
                  <a:lnSpc>
                    <a:spcPct val="150000"/>
                  </a:lnSpc>
                  <a:spcBef>
                    <a:spcPct val="50000"/>
                  </a:spcBef>
                </a:pPr>
                <a14:m>
                  <m:oMathPara xmlns:m="http://schemas.openxmlformats.org/officeDocument/2006/math">
                    <m:oMathParaPr>
                      <m:jc m:val="centerGroup"/>
                    </m:oMathParaPr>
                    <m:oMath xmlns:m="http://schemas.openxmlformats.org/officeDocument/2006/math">
                      <m:acc>
                        <m:accPr>
                          <m:chr m:val="⃗"/>
                          <m:ctrlPr>
                            <a:rPr lang="zh-CN" altLang="en-US"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𝑴</m:t>
                          </m:r>
                        </m:e>
                      </m:acc>
                      <m:r>
                        <a:rPr lang="en-US" altLang="zh-CN" sz="2800" i="1">
                          <a:latin typeface="Cambria Math" panose="02040503050406030204" pitchFamily="18" charset="0"/>
                          <a:ea typeface="华文新魏" panose="02010800040101010101" pitchFamily="2" charset="-122"/>
                        </a:rPr>
                        <m:t>=</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𝒍</m:t>
                          </m:r>
                        </m:e>
                      </m:acc>
                      <m:r>
                        <a:rPr lang="en-US" altLang="zh-CN" sz="2800" i="1">
                          <a:latin typeface="Cambria Math" panose="02040503050406030204" pitchFamily="18" charset="0"/>
                          <a:ea typeface="Cambria Math" panose="02040503050406030204" pitchFamily="18" charset="0"/>
                        </a:rPr>
                        <m:t>×</m:t>
                      </m:r>
                      <m:sSub>
                        <m:sSubPr>
                          <m:ctrlPr>
                            <a:rPr lang="en-US" altLang="zh-CN" sz="2800" i="1">
                              <a:latin typeface="Cambria Math" panose="02040503050406030204" pitchFamily="18" charset="0"/>
                              <a:ea typeface="华文新魏" panose="02010800040101010101" pitchFamily="2" charset="-122"/>
                            </a:rPr>
                          </m:ctrlPr>
                        </m:sSubPr>
                        <m:e>
                          <m:acc>
                            <m:accPr>
                              <m:chr m:val="⃗"/>
                              <m:ctrlPr>
                                <a:rPr lang="en-US" altLang="zh-CN" sz="2800" i="1">
                                  <a:latin typeface="Cambria Math" panose="02040503050406030204" pitchFamily="18" charset="0"/>
                                  <a:ea typeface="Cambria Math" panose="02040503050406030204" pitchFamily="18" charset="0"/>
                                </a:rPr>
                              </m:ctrlPr>
                            </m:accPr>
                            <m:e>
                              <m:r>
                                <a:rPr lang="en-US" altLang="zh-CN" sz="2800" i="1">
                                  <a:latin typeface="Cambria Math" panose="02040503050406030204" pitchFamily="18" charset="0"/>
                                  <a:ea typeface="Cambria Math" panose="02040503050406030204" pitchFamily="18" charset="0"/>
                                </a:rPr>
                                <m:t>𝑭</m:t>
                              </m:r>
                            </m:e>
                          </m:acc>
                        </m:e>
                        <m:sub>
                          <m:r>
                            <a:rPr lang="en-US" altLang="zh-CN" sz="2800" i="1">
                              <a:latin typeface="Cambria Math" panose="02040503050406030204" pitchFamily="18" charset="0"/>
                              <a:ea typeface="华文新魏" panose="02010800040101010101" pitchFamily="2" charset="-122"/>
                            </a:rPr>
                            <m:t>𝟏</m:t>
                          </m:r>
                        </m:sub>
                      </m:sSub>
                      <m:r>
                        <a:rPr lang="en-US" altLang="zh-CN" sz="2800" i="1">
                          <a:latin typeface="Cambria Math" panose="02040503050406030204" pitchFamily="18" charset="0"/>
                          <a:ea typeface="华文新魏" panose="02010800040101010101" pitchFamily="2" charset="-122"/>
                        </a:rPr>
                        <m:t>=</m:t>
                      </m:r>
                      <m:r>
                        <a:rPr lang="en-US" altLang="zh-CN" sz="2800" i="1">
                          <a:latin typeface="Cambria Math" panose="02040503050406030204" pitchFamily="18" charset="0"/>
                          <a:ea typeface="华文新魏" panose="02010800040101010101" pitchFamily="2" charset="-122"/>
                        </a:rPr>
                        <m:t>𝒒</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𝒍</m:t>
                          </m:r>
                        </m:e>
                      </m:acc>
                      <m:r>
                        <a:rPr lang="en-US" altLang="zh-CN" sz="2800" i="1">
                          <a:latin typeface="Cambria Math" panose="02040503050406030204" pitchFamily="18" charset="0"/>
                          <a:ea typeface="Cambria Math" panose="02040503050406030204" pitchFamily="18" charset="0"/>
                        </a:rPr>
                        <m:t>×</m:t>
                      </m:r>
                      <m:acc>
                        <m:accPr>
                          <m:chr m:val="⃗"/>
                          <m:ctrlPr>
                            <a:rPr lang="en-US" altLang="zh-CN" sz="2800" i="1">
                              <a:latin typeface="Cambria Math" panose="02040503050406030204" pitchFamily="18" charset="0"/>
                              <a:ea typeface="Cambria Math" panose="02040503050406030204" pitchFamily="18" charset="0"/>
                            </a:rPr>
                          </m:ctrlPr>
                        </m:accPr>
                        <m:e>
                          <m:r>
                            <a:rPr lang="en-US" altLang="zh-CN" sz="2800" i="1">
                              <a:latin typeface="Cambria Math" panose="02040503050406030204" pitchFamily="18" charset="0"/>
                              <a:ea typeface="Cambria Math" panose="02040503050406030204" pitchFamily="18" charset="0"/>
                            </a:rPr>
                            <m:t>𝑬</m:t>
                          </m:r>
                        </m:e>
                      </m:acc>
                      <m:r>
                        <a:rPr lang="en-US" altLang="zh-CN" sz="2800" i="1">
                          <a:latin typeface="Cambria Math" panose="02040503050406030204" pitchFamily="18" charset="0"/>
                          <a:ea typeface="华文新魏" panose="02010800040101010101" pitchFamily="2" charset="-122"/>
                        </a:rPr>
                        <m:t>=</m:t>
                      </m:r>
                      <m:acc>
                        <m:accPr>
                          <m:chr m:val="⃗"/>
                          <m:ctrlPr>
                            <a:rPr lang="en-US" altLang="zh-CN"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𝒑</m:t>
                          </m:r>
                        </m:e>
                      </m:acc>
                      <m:r>
                        <a:rPr lang="en-US" altLang="zh-CN" sz="2800" i="1">
                          <a:latin typeface="Cambria Math" panose="02040503050406030204" pitchFamily="18" charset="0"/>
                          <a:ea typeface="Cambria Math" panose="02040503050406030204" pitchFamily="18" charset="0"/>
                        </a:rPr>
                        <m:t>×</m:t>
                      </m:r>
                      <m:acc>
                        <m:accPr>
                          <m:chr m:val="⃗"/>
                          <m:ctrlPr>
                            <a:rPr lang="zh-CN" altLang="en-US" sz="2800" i="1">
                              <a:latin typeface="Cambria Math" panose="02040503050406030204" pitchFamily="18" charset="0"/>
                              <a:ea typeface="华文新魏" panose="02010800040101010101" pitchFamily="2" charset="-122"/>
                            </a:rPr>
                          </m:ctrlPr>
                        </m:accPr>
                        <m:e>
                          <m:r>
                            <a:rPr lang="en-US" altLang="zh-CN" sz="2800" i="1">
                              <a:latin typeface="Cambria Math" panose="02040503050406030204" pitchFamily="18" charset="0"/>
                              <a:ea typeface="华文新魏" panose="02010800040101010101" pitchFamily="2" charset="-122"/>
                            </a:rPr>
                            <m:t>𝑬</m:t>
                          </m:r>
                        </m:e>
                      </m:acc>
                    </m:oMath>
                  </m:oMathPara>
                </a14:m>
                <a:endParaRPr lang="zh-CN" altLang="en-US" sz="2800" dirty="0">
                  <a:solidFill>
                    <a:srgbClr val="C00000"/>
                  </a:solidFill>
                  <a:latin typeface="华文楷体" panose="02010600040101010101" pitchFamily="2" charset="-122"/>
                  <a:ea typeface="华文楷体" panose="02010600040101010101" pitchFamily="2" charset="-122"/>
                </a:endParaRPr>
              </a:p>
            </p:txBody>
          </p:sp>
        </mc:Choice>
        <mc:Fallback xmlns="">
          <p:sp>
            <p:nvSpPr>
              <p:cNvPr id="37" name="Text Box 36">
                <a:extLst>
                  <a:ext uri="{FF2B5EF4-FFF2-40B4-BE49-F238E27FC236}">
                    <a16:creationId xmlns:a16="http://schemas.microsoft.com/office/drawing/2014/main" id="{E72021E4-B563-4AE1-926E-9D43F85C1592}"/>
                  </a:ext>
                </a:extLst>
              </p:cNvPr>
              <p:cNvSpPr txBox="1">
                <a:spLocks noRot="1" noChangeAspect="1" noMove="1" noResize="1" noEditPoints="1" noAdjustHandles="1" noChangeArrowheads="1" noChangeShapeType="1" noTextEdit="1"/>
              </p:cNvSpPr>
              <p:nvPr/>
            </p:nvSpPr>
            <p:spPr bwMode="auto">
              <a:xfrm>
                <a:off x="4391767" y="4985498"/>
                <a:ext cx="8004966" cy="1481111"/>
              </a:xfrm>
              <a:prstGeom prst="rect">
                <a:avLst/>
              </a:prstGeom>
              <a:blipFill>
                <a:blip r:embed="rId14"/>
                <a:stretch>
                  <a:fillRect l="-1522"/>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en-US">
                    <a:noFill/>
                  </a:rPr>
                  <a:t> </a:t>
                </a:r>
              </a:p>
            </p:txBody>
          </p:sp>
        </mc:Fallback>
      </mc:AlternateContent>
    </p:spTree>
    <p:extLst>
      <p:ext uri="{BB962C8B-B14F-4D97-AF65-F5344CB8AC3E}">
        <p14:creationId xmlns:p14="http://schemas.microsoft.com/office/powerpoint/2010/main" val="2469736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9" presetClass="entr" presetSubtype="1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anim calcmode="lin" valueType="num">
                                      <p:cBhvr>
                                        <p:cTn id="15" dur="5000" fill="hold"/>
                                        <p:tgtEl>
                                          <p:spTgt spid="10"/>
                                        </p:tgtEl>
                                        <p:attrNameLst>
                                          <p:attrName>ppt_w</p:attrName>
                                        </p:attrNameLst>
                                      </p:cBhvr>
                                      <p:tavLst>
                                        <p:tav tm="0" fmla="#ppt_w*sin(2.5*pi*$)">
                                          <p:val>
                                            <p:fltVal val="0"/>
                                          </p:val>
                                        </p:tav>
                                        <p:tav tm="100000">
                                          <p:val>
                                            <p:fltVal val="1"/>
                                          </p:val>
                                        </p:tav>
                                      </p:tavLst>
                                    </p:anim>
                                    <p:anim calcmode="lin" valueType="num">
                                      <p:cBhvr>
                                        <p:cTn id="16" dur="5000" fill="hold"/>
                                        <p:tgtEl>
                                          <p:spTgt spid="10"/>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7"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42B9498B-160E-41DA-A787-F03237EE86D8}"/>
              </a:ext>
            </a:extLst>
          </p:cNvPr>
          <p:cNvSpPr txBox="1"/>
          <p:nvPr/>
        </p:nvSpPr>
        <p:spPr>
          <a:xfrm>
            <a:off x="3528093" y="2955121"/>
            <a:ext cx="5419684" cy="646331"/>
          </a:xfrm>
          <a:prstGeom prst="rect">
            <a:avLst/>
          </a:prstGeom>
          <a:noFill/>
        </p:spPr>
        <p:txBody>
          <a:bodyPr wrap="square" rtlCol="0">
            <a:spAutoFit/>
          </a:bodyPr>
          <a:lstStyle/>
          <a:p>
            <a:r>
              <a:rPr lang="zh-CN" altLang="en-US" sz="3600" dirty="0">
                <a:latin typeface="华文楷体" panose="02010600040101010101" pitchFamily="2" charset="-122"/>
                <a:ea typeface="华文楷体" panose="02010600040101010101" pitchFamily="2" charset="-122"/>
              </a:rPr>
              <a:t>电场具有什么样的性质？</a:t>
            </a:r>
            <a:endParaRPr lang="en-US" sz="3600" dirty="0">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34333743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F38F65CB-D4B5-43F2-A559-E5B55A1DC5CC}"/>
              </a:ext>
            </a:extLst>
          </p:cNvPr>
          <p:cNvSpPr txBox="1"/>
          <p:nvPr/>
        </p:nvSpPr>
        <p:spPr>
          <a:xfrm>
            <a:off x="1082759" y="594774"/>
            <a:ext cx="1874231" cy="584775"/>
          </a:xfrm>
          <a:prstGeom prst="rect">
            <a:avLst/>
          </a:prstGeom>
          <a:noFill/>
        </p:spPr>
        <p:txBody>
          <a:bodyPr wrap="none" rtlCol="0">
            <a:spAutoFit/>
          </a:bodyPr>
          <a:lstStyle/>
          <a:p>
            <a:pPr marL="285750" indent="-285750">
              <a:buFont typeface="Wingdings" panose="05000000000000000000" pitchFamily="2" charset="2"/>
              <a:buChar char="q"/>
            </a:pPr>
            <a:r>
              <a:rPr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 电场线</a:t>
            </a:r>
            <a:endParaRPr lang="en-US" sz="3200" dirty="0">
              <a:solidFill>
                <a:srgbClr val="0066FF"/>
              </a:solidFill>
              <a:latin typeface="华文楷体" panose="02010600040101010101" pitchFamily="2" charset="-122"/>
              <a:ea typeface="华文楷体" panose="02010600040101010101" pitchFamily="2" charset="-122"/>
            </a:endParaRPr>
          </a:p>
        </p:txBody>
      </p:sp>
      <p:sp>
        <p:nvSpPr>
          <p:cNvPr id="3" name="矩形 2">
            <a:extLst>
              <a:ext uri="{FF2B5EF4-FFF2-40B4-BE49-F238E27FC236}">
                <a16:creationId xmlns:a16="http://schemas.microsoft.com/office/drawing/2014/main" id="{681E3975-3D04-4361-A6B9-245037E3CF40}"/>
              </a:ext>
            </a:extLst>
          </p:cNvPr>
          <p:cNvSpPr/>
          <p:nvPr/>
        </p:nvSpPr>
        <p:spPr>
          <a:xfrm>
            <a:off x="914135" y="1561279"/>
            <a:ext cx="5525872" cy="523220"/>
          </a:xfrm>
          <a:prstGeom prst="rect">
            <a:avLst/>
          </a:prstGeom>
        </p:spPr>
        <p:txBody>
          <a:bodyPr wrap="none">
            <a:spAutoFit/>
          </a:bodyPr>
          <a:lstStyle/>
          <a:p>
            <a:r>
              <a:rPr lang="en-US" altLang="zh-CN" sz="2800" dirty="0">
                <a:solidFill>
                  <a:srgbClr val="202122"/>
                </a:solidFill>
                <a:latin typeface="华文楷体" panose="02010600040101010101" pitchFamily="2" charset="-122"/>
                <a:ea typeface="华文楷体" panose="02010600040101010101" pitchFamily="2" charset="-122"/>
              </a:rPr>
              <a:t>1851</a:t>
            </a:r>
            <a:r>
              <a:rPr lang="zh-CN" altLang="en-US" sz="2800" dirty="0">
                <a:solidFill>
                  <a:srgbClr val="202122"/>
                </a:solidFill>
                <a:latin typeface="华文楷体" panose="02010600040101010101" pitchFamily="2" charset="-122"/>
                <a:ea typeface="华文楷体" panose="02010600040101010101" pitchFamily="2" charset="-122"/>
              </a:rPr>
              <a:t>年，法拉第提出了场线的概念</a:t>
            </a:r>
            <a:endParaRPr lang="en-US" sz="2800" dirty="0">
              <a:latin typeface="华文楷体" panose="02010600040101010101" pitchFamily="2" charset="-122"/>
              <a:ea typeface="华文楷体" panose="02010600040101010101" pitchFamily="2" charset="-122"/>
            </a:endParaRPr>
          </a:p>
        </p:txBody>
      </p:sp>
      <p:pic>
        <p:nvPicPr>
          <p:cNvPr id="3074" name="Picture 2">
            <a:extLst>
              <a:ext uri="{FF2B5EF4-FFF2-40B4-BE49-F238E27FC236}">
                <a16:creationId xmlns:a16="http://schemas.microsoft.com/office/drawing/2014/main" id="{83C167B8-F59F-4EAA-BED7-764BE51CC40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3150" y="2355903"/>
            <a:ext cx="4065838" cy="250920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a:extLst>
              <a:ext uri="{FF2B5EF4-FFF2-40B4-BE49-F238E27FC236}">
                <a16:creationId xmlns:a16="http://schemas.microsoft.com/office/drawing/2014/main" id="{E25C76D9-45D0-448D-8573-0D14079A24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49520" y="2323553"/>
            <a:ext cx="2931387" cy="2573901"/>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0EA45314-7902-495C-807C-584AD9489A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45417" y="1982693"/>
            <a:ext cx="2905125"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6172200"/>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07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07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38" name="Picture 14" descr="http://physicsay.com/assets/images/2020-04-06-electric-field-simulation-1/dynamic.gif">
            <a:extLst>
              <a:ext uri="{FF2B5EF4-FFF2-40B4-BE49-F238E27FC236}">
                <a16:creationId xmlns:a16="http://schemas.microsoft.com/office/drawing/2014/main" id="{607FA31D-5DDF-41A9-8A0A-48C353D472E1}"/>
              </a:ext>
            </a:extLst>
          </p:cNvPr>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546183" y="443463"/>
            <a:ext cx="5178810" cy="6041711"/>
          </a:xfrm>
          <a:prstGeom prst="rect">
            <a:avLst/>
          </a:prstGeom>
          <a:noFill/>
          <a:extLst>
            <a:ext uri="{909E8E84-426E-40DD-AFC4-6F175D3DCCD1}">
              <a14:hiddenFill xmlns:a14="http://schemas.microsoft.com/office/drawing/2010/main">
                <a:solidFill>
                  <a:srgbClr val="FFFFFF"/>
                </a:solidFill>
              </a14:hiddenFill>
            </a:ext>
          </a:extLst>
        </p:spPr>
      </p:pic>
      <p:sp>
        <p:nvSpPr>
          <p:cNvPr id="3" name="内容占位符 4">
            <a:extLst>
              <a:ext uri="{FF2B5EF4-FFF2-40B4-BE49-F238E27FC236}">
                <a16:creationId xmlns:a16="http://schemas.microsoft.com/office/drawing/2014/main" id="{39521115-9A68-434F-82CF-691905EE8478}"/>
              </a:ext>
            </a:extLst>
          </p:cNvPr>
          <p:cNvSpPr txBox="1">
            <a:spLocks/>
          </p:cNvSpPr>
          <p:nvPr/>
        </p:nvSpPr>
        <p:spPr>
          <a:xfrm>
            <a:off x="5761112" y="1135928"/>
            <a:ext cx="6071145" cy="465265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Tx/>
              <a:buChar char="-"/>
            </a:pP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为形象描述电场分布，</a:t>
            </a:r>
            <a:r>
              <a:rPr lang="zh-CN" altLang="en-US" sz="2600" b="1" dirty="0">
                <a:solidFill>
                  <a:srgbClr val="FF0000"/>
                </a:solidFill>
                <a:latin typeface="华文楷体" panose="02010600040101010101" pitchFamily="2" charset="-122"/>
                <a:ea typeface="华文楷体" panose="02010600040101010101" pitchFamily="2" charset="-122"/>
                <a:cs typeface="Times New Roman" panose="02020603050405020304" pitchFamily="18" charset="0"/>
              </a:rPr>
              <a:t>假想的</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有方向的曲线</a:t>
            </a:r>
            <a:endParaRPr lang="en-US" altLang="zh-CN" sz="2600" dirty="0">
              <a:latin typeface="华文楷体" panose="02010600040101010101" pitchFamily="2" charset="-122"/>
              <a:ea typeface="华文楷体" panose="02010600040101010101" pitchFamily="2" charset="-122"/>
              <a:cs typeface="Times New Roman" panose="02020603050405020304" pitchFamily="18" charset="0"/>
            </a:endParaRPr>
          </a:p>
          <a:p>
            <a:pPr>
              <a:lnSpc>
                <a:spcPct val="100000"/>
              </a:lnSpc>
              <a:buFontTx/>
              <a:buChar char="-"/>
            </a:pP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电场线</a:t>
            </a:r>
            <a:r>
              <a:rPr lang="zh-CN" altLang="en-US" sz="2600" dirty="0">
                <a:latin typeface="华文楷体" panose="02010600040101010101" pitchFamily="2" charset="-122"/>
                <a:ea typeface="华文楷体" panose="02010600040101010101" pitchFamily="2" charset="-122"/>
              </a:rPr>
              <a:t>上任一点的</a:t>
            </a:r>
            <a:r>
              <a:rPr lang="zh-CN" altLang="en-US" sz="2600" dirty="0">
                <a:solidFill>
                  <a:srgbClr val="FF0000"/>
                </a:solidFill>
                <a:latin typeface="华文楷体" panose="02010600040101010101" pitchFamily="2" charset="-122"/>
                <a:ea typeface="华文楷体" panose="02010600040101010101" pitchFamily="2" charset="-122"/>
              </a:rPr>
              <a:t>切线方向</a:t>
            </a:r>
            <a:r>
              <a:rPr lang="zh-CN" altLang="en-US" sz="2600" dirty="0">
                <a:latin typeface="华文楷体" panose="02010600040101010101" pitchFamily="2" charset="-122"/>
                <a:ea typeface="华文楷体" panose="02010600040101010101" pitchFamily="2" charset="-122"/>
              </a:rPr>
              <a:t>代表该点的</a:t>
            </a:r>
            <a:r>
              <a:rPr lang="zh-CN" altLang="en-US" sz="2600" dirty="0">
                <a:solidFill>
                  <a:srgbClr val="FF0000"/>
                </a:solidFill>
                <a:latin typeface="华文楷体" panose="02010600040101010101" pitchFamily="2" charset="-122"/>
                <a:ea typeface="华文楷体" panose="02010600040101010101" pitchFamily="2" charset="-122"/>
              </a:rPr>
              <a:t>场强方向</a:t>
            </a:r>
            <a:endParaRPr lang="en-US" altLang="zh-CN" sz="2600" dirty="0">
              <a:solidFill>
                <a:srgbClr val="FF0000"/>
              </a:solidFill>
              <a:latin typeface="华文楷体" panose="02010600040101010101" pitchFamily="2" charset="-122"/>
              <a:ea typeface="华文楷体" panose="02010600040101010101" pitchFamily="2" charset="-122"/>
            </a:endParaRPr>
          </a:p>
          <a:p>
            <a:pPr>
              <a:lnSpc>
                <a:spcPct val="100000"/>
              </a:lnSpc>
              <a:buFontTx/>
              <a:buChar char="-"/>
            </a:pPr>
            <a:r>
              <a:rPr lang="zh-CN" altLang="en-US" sz="2600" dirty="0">
                <a:latin typeface="华文楷体" panose="02010600040101010101" pitchFamily="2" charset="-122"/>
                <a:ea typeface="华文楷体" panose="02010600040101010101" pitchFamily="2" charset="-122"/>
              </a:rPr>
              <a:t>通过垂直场强方向的单位面积的电场线的条数等于该点处场的大小</a:t>
            </a:r>
            <a:endParaRPr lang="en-US" altLang="zh-CN" sz="2600" dirty="0">
              <a:solidFill>
                <a:srgbClr val="FF0000"/>
              </a:solidFill>
              <a:latin typeface="华文楷体" panose="02010600040101010101" pitchFamily="2" charset="-122"/>
              <a:ea typeface="华文楷体" panose="02010600040101010101" pitchFamily="2" charset="-122"/>
            </a:endParaRPr>
          </a:p>
          <a:p>
            <a:pPr>
              <a:lnSpc>
                <a:spcPct val="100000"/>
              </a:lnSpc>
              <a:buFontTx/>
              <a:buChar char="-"/>
            </a:pPr>
            <a:r>
              <a:rPr lang="zh-CN" altLang="en-US" sz="2600" dirty="0">
                <a:latin typeface="华文楷体" panose="02010600040101010101" pitchFamily="2" charset="-122"/>
                <a:ea typeface="华文楷体" panose="02010600040101010101" pitchFamily="2" charset="-122"/>
              </a:rPr>
              <a:t>起于正电荷（或无限远处），终于负电荷（或无限远处），无电荷处不中断</a:t>
            </a:r>
            <a:endParaRPr lang="en-US" altLang="zh-CN" sz="2600" dirty="0">
              <a:latin typeface="华文楷体" panose="02010600040101010101" pitchFamily="2" charset="-122"/>
              <a:ea typeface="华文楷体" panose="02010600040101010101" pitchFamily="2" charset="-122"/>
            </a:endParaRPr>
          </a:p>
          <a:p>
            <a:pPr>
              <a:lnSpc>
                <a:spcPct val="100000"/>
              </a:lnSpc>
              <a:buFontTx/>
              <a:buChar char="-"/>
            </a:pPr>
            <a:r>
              <a:rPr lang="zh-CN" altLang="en-US" sz="2600" dirty="0">
                <a:latin typeface="华文楷体" panose="02010600040101010101" pitchFamily="2" charset="-122"/>
                <a:ea typeface="华文楷体" panose="02010600040101010101" pitchFamily="2" charset="-122"/>
              </a:rPr>
              <a:t>任何两条电场线不会相交</a:t>
            </a:r>
            <a:endParaRPr lang="en-US" altLang="zh-CN" sz="2600" dirty="0">
              <a:latin typeface="华文楷体" panose="02010600040101010101" pitchFamily="2" charset="-122"/>
              <a:ea typeface="华文楷体" panose="02010600040101010101" pitchFamily="2" charset="-122"/>
            </a:endParaRPr>
          </a:p>
          <a:p>
            <a:pPr>
              <a:lnSpc>
                <a:spcPct val="100000"/>
              </a:lnSpc>
              <a:buFontTx/>
              <a:buChar char="-"/>
            </a:pPr>
            <a:r>
              <a:rPr lang="zh-CN" altLang="en-US" sz="2600" dirty="0">
                <a:latin typeface="华文楷体" panose="02010600040101010101" pitchFamily="2" charset="-122"/>
                <a:ea typeface="华文楷体" panose="02010600040101010101" pitchFamily="2" charset="-122"/>
              </a:rPr>
              <a:t>静电场的电力线不会形成闭合曲线</a:t>
            </a:r>
          </a:p>
        </p:txBody>
      </p:sp>
    </p:spTree>
    <p:extLst>
      <p:ext uri="{BB962C8B-B14F-4D97-AF65-F5344CB8AC3E}">
        <p14:creationId xmlns:p14="http://schemas.microsoft.com/office/powerpoint/2010/main" val="337605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p:nvPr>
        </p:nvSpPr>
        <p:spPr>
          <a:xfrm>
            <a:off x="559386" y="589921"/>
            <a:ext cx="7543800" cy="1117171"/>
          </a:xfrm>
        </p:spPr>
        <p:txBody>
          <a:bodyPr>
            <a:normAutofit/>
          </a:bodyPr>
          <a:lstStyle/>
          <a:p>
            <a:pPr marL="571500" indent="-571500">
              <a:buFont typeface="Wingdings" panose="05000000000000000000" pitchFamily="2" charset="2"/>
              <a:buChar char="p"/>
            </a:pPr>
            <a:r>
              <a:rPr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电通量：</a:t>
            </a:r>
            <a:r>
              <a:rPr lang="zh-CN" altLang="en-US" sz="3200" dirty="0">
                <a:latin typeface="华文楷体" panose="02010600040101010101" pitchFamily="2" charset="-122"/>
                <a:ea typeface="华文楷体" panose="02010600040101010101" pitchFamily="2" charset="-122"/>
              </a:rPr>
              <a:t>通过某一曲面的电场线条数</a:t>
            </a:r>
          </a:p>
        </p:txBody>
      </p:sp>
      <mc:AlternateContent xmlns:mc="http://schemas.openxmlformats.org/markup-compatibility/2006" xmlns:a14="http://schemas.microsoft.com/office/drawing/2010/main">
        <mc:Choice Requires="a14">
          <p:sp>
            <p:nvSpPr>
              <p:cNvPr id="6" name="内容占位符 5"/>
              <p:cNvSpPr>
                <a:spLocks noGrp="1"/>
              </p:cNvSpPr>
              <p:nvPr>
                <p:ph idx="1"/>
              </p:nvPr>
            </p:nvSpPr>
            <p:spPr>
              <a:xfrm>
                <a:off x="2809683" y="4847363"/>
                <a:ext cx="5347207" cy="1636512"/>
              </a:xfrm>
            </p:spPr>
            <p:txBody>
              <a:bodyPr>
                <a:normAutofit fontScale="92500"/>
              </a:bodyPr>
              <a:lstStyle/>
              <a:p>
                <a:pPr marL="0" indent="0" algn="ctr">
                  <a:lnSpc>
                    <a:spcPct val="150000"/>
                  </a:lnSpc>
                  <a:buNone/>
                </a:pPr>
                <a:r>
                  <a:rPr lang="zh-CN" altLang="en-US" dirty="0">
                    <a:latin typeface="华文楷体" panose="02010600040101010101" pitchFamily="2" charset="-122"/>
                    <a:ea typeface="华文楷体" panose="02010600040101010101" pitchFamily="2" charset="-122"/>
                  </a:rPr>
                  <a:t>均匀电场中平面 </a:t>
                </a:r>
                <a14:m>
                  <m:oMath xmlns:m="http://schemas.openxmlformats.org/officeDocument/2006/math">
                    <m:acc>
                      <m:accPr>
                        <m:chr m:val="⃗"/>
                        <m:ctrlPr>
                          <a:rPr lang="en-US" altLang="zh-CN" i="1" dirty="0">
                            <a:latin typeface="Cambria Math" panose="02040503050406030204" pitchFamily="18" charset="0"/>
                            <a:ea typeface="华文新魏" panose="02010800040101010101" pitchFamily="2" charset="-122"/>
                          </a:rPr>
                        </m:ctrlPr>
                      </m:accPr>
                      <m:e>
                        <m:r>
                          <a:rPr lang="en-US" altLang="zh-CN" i="1" dirty="0">
                            <a:latin typeface="Cambria Math" panose="02040503050406030204" pitchFamily="18" charset="0"/>
                            <a:ea typeface="华文新魏" panose="02010800040101010101" pitchFamily="2" charset="-122"/>
                          </a:rPr>
                          <m:t>𝑺</m:t>
                        </m:r>
                      </m:e>
                    </m:acc>
                  </m:oMath>
                </a14:m>
                <a:r>
                  <a:rPr lang="en-US" altLang="zh-CN" dirty="0">
                    <a:latin typeface="华文楷体" panose="02010600040101010101" pitchFamily="2" charset="-122"/>
                    <a:ea typeface="华文楷体" panose="02010600040101010101" pitchFamily="2" charset="-122"/>
                  </a:rPr>
                  <a:t> </a:t>
                </a:r>
                <a:r>
                  <a:rPr lang="zh-CN" altLang="en-US" dirty="0">
                    <a:latin typeface="华文楷体" panose="02010600040101010101" pitchFamily="2" charset="-122"/>
                    <a:ea typeface="华文楷体" panose="02010600040101010101" pitchFamily="2" charset="-122"/>
                  </a:rPr>
                  <a:t>的电场强度通量</a:t>
                </a:r>
                <a:r>
                  <a:rPr lang="en-US" altLang="zh-CN" dirty="0">
                    <a:latin typeface="华文楷体" panose="02010600040101010101" pitchFamily="2" charset="-122"/>
                    <a:ea typeface="华文楷体" panose="02010600040101010101" pitchFamily="2" charset="-122"/>
                  </a:rPr>
                  <a:t>:</a:t>
                </a:r>
              </a:p>
              <a:p>
                <a:pPr marL="0" indent="0" algn="ctr">
                  <a:lnSpc>
                    <a:spcPct val="150000"/>
                  </a:lnSpc>
                  <a:buNone/>
                </a:pPr>
                <a14:m>
                  <m:oMath xmlns:m="http://schemas.openxmlformats.org/officeDocument/2006/math">
                    <m:sSub>
                      <m:sSubPr>
                        <m:ctrlPr>
                          <a:rPr lang="en-US" altLang="zh-CN" i="1">
                            <a:latin typeface="Cambria Math" panose="02040503050406030204" pitchFamily="18" charset="0"/>
                            <a:ea typeface="Cambria Math" panose="02040503050406030204" pitchFamily="18" charset="0"/>
                          </a:rPr>
                        </m:ctrlPr>
                      </m:sSubPr>
                      <m:e>
                        <m:r>
                          <m:rPr>
                            <m:sty m:val="p"/>
                          </m:rPr>
                          <a:rPr lang="en-US" altLang="zh-CN" i="1">
                            <a:latin typeface="Cambria Math" panose="02040503050406030204" pitchFamily="18" charset="0"/>
                            <a:ea typeface="Cambria Math" panose="02040503050406030204" pitchFamily="18" charset="0"/>
                          </a:rPr>
                          <m:t>d</m:t>
                        </m:r>
                        <m:r>
                          <a:rPr lang="zh-CN" altLang="en-US" i="1">
                            <a:latin typeface="Cambria Math" panose="02040503050406030204" pitchFamily="18" charset="0"/>
                            <a:ea typeface="Cambria Math" panose="02040503050406030204" pitchFamily="18" charset="0"/>
                          </a:rPr>
                          <m:t>𝜱</m:t>
                        </m:r>
                      </m:e>
                      <m:sub>
                        <m:r>
                          <a:rPr lang="en-US" altLang="zh-CN" i="1">
                            <a:latin typeface="Cambria Math" panose="02040503050406030204" pitchFamily="18" charset="0"/>
                            <a:ea typeface="Cambria Math" panose="02040503050406030204" pitchFamily="18" charset="0"/>
                          </a:rPr>
                          <m:t>𝒆</m:t>
                        </m:r>
                      </m:sub>
                    </m:sSub>
                    <m:r>
                      <a:rPr lang="en-US" altLang="zh-CN" i="1">
                        <a:latin typeface="Cambria Math" panose="02040503050406030204" pitchFamily="18" charset="0"/>
                        <a:ea typeface="Cambria Math" panose="02040503050406030204" pitchFamily="18" charset="0"/>
                      </a:rPr>
                      <m:t>=</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𝑬</m:t>
                        </m:r>
                      </m:e>
                    </m:acc>
                    <m:r>
                      <a:rPr lang="en-US" altLang="zh-CN" i="1">
                        <a:latin typeface="Cambria Math" panose="02040503050406030204" pitchFamily="18" charset="0"/>
                        <a:ea typeface="Cambria Math" panose="02040503050406030204" pitchFamily="18" charset="0"/>
                      </a:rPr>
                      <m:t>∙</m:t>
                    </m:r>
                    <m:r>
                      <a:rPr lang="en-US" altLang="zh-CN" b="0" i="1" smtClean="0">
                        <a:latin typeface="Cambria Math" panose="02040503050406030204" pitchFamily="18" charset="0"/>
                        <a:ea typeface="Cambria Math" panose="02040503050406030204" pitchFamily="18" charset="0"/>
                      </a:rPr>
                      <m:t>𝑑</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𝑺</m:t>
                        </m:r>
                      </m:e>
                    </m:acc>
                  </m:oMath>
                </a14:m>
                <a:r>
                  <a:rPr lang="en-US" altLang="zh-CN" dirty="0">
                    <a:ea typeface="Cambria Math" panose="02040503050406030204" pitchFamily="18" charset="0"/>
                  </a:rPr>
                  <a:t> </a:t>
                </a:r>
                <a14:m>
                  <m:oMath xmlns:m="http://schemas.openxmlformats.org/officeDocument/2006/math">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𝑬</m:t>
                    </m:r>
                    <m:r>
                      <a:rPr lang="en-US" altLang="zh-CN" i="1">
                        <a:latin typeface="Cambria Math" panose="02040503050406030204" pitchFamily="18" charset="0"/>
                        <a:ea typeface="Cambria Math" panose="02040503050406030204" pitchFamily="18" charset="0"/>
                      </a:rPr>
                      <m:t>𝑑</m:t>
                    </m:r>
                    <m:r>
                      <a:rPr lang="en-US" altLang="zh-CN" i="1">
                        <a:latin typeface="Cambria Math" panose="02040503050406030204" pitchFamily="18" charset="0"/>
                        <a:ea typeface="Cambria Math" panose="02040503050406030204" pitchFamily="18" charset="0"/>
                      </a:rPr>
                      <m:t>𝑺</m:t>
                    </m:r>
                    <m:func>
                      <m:funcPr>
                        <m:ctrlPr>
                          <a:rPr lang="en-US" altLang="zh-CN" i="1">
                            <a:latin typeface="Cambria Math" panose="02040503050406030204" pitchFamily="18" charset="0"/>
                            <a:ea typeface="Cambria Math" panose="02040503050406030204" pitchFamily="18" charset="0"/>
                          </a:rPr>
                        </m:ctrlPr>
                      </m:funcPr>
                      <m:fName>
                        <m:r>
                          <a:rPr lang="en-US" altLang="zh-CN">
                            <a:latin typeface="Cambria Math" panose="02040503050406030204" pitchFamily="18" charset="0"/>
                            <a:ea typeface="Cambria Math" panose="02040503050406030204" pitchFamily="18" charset="0"/>
                          </a:rPr>
                          <m:t>𝐜𝐨𝐬</m:t>
                        </m:r>
                      </m:fName>
                      <m:e>
                        <m:r>
                          <a:rPr lang="zh-CN" altLang="en-US" i="1">
                            <a:latin typeface="Cambria Math" panose="02040503050406030204" pitchFamily="18" charset="0"/>
                            <a:ea typeface="Cambria Math" panose="02040503050406030204" pitchFamily="18" charset="0"/>
                          </a:rPr>
                          <m:t>𝜽</m:t>
                        </m:r>
                      </m:e>
                    </m:func>
                  </m:oMath>
                </a14:m>
                <a:endParaRPr lang="zh-CN" altLang="en-US" dirty="0">
                  <a:latin typeface="华文楷体" panose="02010600040101010101" pitchFamily="2" charset="-122"/>
                  <a:ea typeface="华文楷体" panose="02010600040101010101" pitchFamily="2" charset="-122"/>
                </a:endParaRPr>
              </a:p>
            </p:txBody>
          </p:sp>
        </mc:Choice>
        <mc:Fallback xmlns="">
          <p:sp>
            <p:nvSpPr>
              <p:cNvPr id="6" name="内容占位符 5"/>
              <p:cNvSpPr>
                <a:spLocks noGrp="1" noRot="1" noChangeAspect="1" noMove="1" noResize="1" noEditPoints="1" noAdjustHandles="1" noChangeArrowheads="1" noChangeShapeType="1" noTextEdit="1"/>
              </p:cNvSpPr>
              <p:nvPr>
                <p:ph idx="1"/>
              </p:nvPr>
            </p:nvSpPr>
            <p:spPr>
              <a:xfrm>
                <a:off x="2809683" y="4847363"/>
                <a:ext cx="5347207" cy="1636512"/>
              </a:xfrm>
              <a:blipFill>
                <a:blip r:embed="rId2"/>
                <a:stretch>
                  <a:fillRect l="-912" r="-912"/>
                </a:stretch>
              </a:blipFill>
            </p:spPr>
            <p:txBody>
              <a:bodyPr/>
              <a:lstStyle/>
              <a:p>
                <a:r>
                  <a:rPr lang="en-US">
                    <a:noFill/>
                  </a:rPr>
                  <a:t> </a:t>
                </a:r>
              </a:p>
            </p:txBody>
          </p:sp>
        </mc:Fallback>
      </mc:AlternateContent>
      <p:pic>
        <p:nvPicPr>
          <p:cNvPr id="10" name="图片 6">
            <a:extLst>
              <a:ext uri="{FF2B5EF4-FFF2-40B4-BE49-F238E27FC236}">
                <a16:creationId xmlns:a16="http://schemas.microsoft.com/office/drawing/2014/main" id="{F0960624-DC04-4718-9F43-3A945EA24CB7}"/>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143408" y="1444203"/>
            <a:ext cx="4782088" cy="29940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图片 5">
            <a:extLst>
              <a:ext uri="{FF2B5EF4-FFF2-40B4-BE49-F238E27FC236}">
                <a16:creationId xmlns:a16="http://schemas.microsoft.com/office/drawing/2014/main" id="{E9DC140D-7AC4-4E69-A2F3-743579E3C65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528477" y="1908211"/>
            <a:ext cx="3769549" cy="27380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内容占位符 3"/>
              <p:cNvSpPr>
                <a:spLocks noGrp="1"/>
              </p:cNvSpPr>
              <p:nvPr>
                <p:ph idx="1"/>
              </p:nvPr>
            </p:nvSpPr>
            <p:spPr>
              <a:xfrm>
                <a:off x="2021229" y="4819599"/>
                <a:ext cx="7543801" cy="1673276"/>
              </a:xfrm>
            </p:spPr>
            <p:txBody>
              <a:bodyPr/>
              <a:lstStyle/>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i="1">
                          <a:latin typeface="Cambria Math" panose="02040503050406030204" pitchFamily="18" charset="0"/>
                          <a:ea typeface="Cambria Math" panose="02040503050406030204" pitchFamily="18" charset="0"/>
                        </a:rPr>
                        <m:t>𝒅</m:t>
                      </m:r>
                      <m:sSub>
                        <m:sSubPr>
                          <m:ctrlPr>
                            <a:rPr lang="en-US" altLang="zh-CN" i="1">
                              <a:latin typeface="Cambria Math" panose="02040503050406030204" pitchFamily="18" charset="0"/>
                              <a:ea typeface="Cambria Math" panose="02040503050406030204" pitchFamily="18" charset="0"/>
                            </a:rPr>
                          </m:ctrlPr>
                        </m:sSubPr>
                        <m:e>
                          <m:r>
                            <a:rPr lang="zh-CN" altLang="en-US" i="1">
                              <a:latin typeface="Cambria Math" panose="02040503050406030204" pitchFamily="18" charset="0"/>
                              <a:ea typeface="Cambria Math" panose="02040503050406030204" pitchFamily="18" charset="0"/>
                            </a:rPr>
                            <m:t>𝜱</m:t>
                          </m:r>
                        </m:e>
                        <m:sub>
                          <m:r>
                            <a:rPr lang="en-US" altLang="zh-CN" i="1">
                              <a:latin typeface="Cambria Math" panose="02040503050406030204" pitchFamily="18" charset="0"/>
                              <a:ea typeface="Cambria Math" panose="02040503050406030204" pitchFamily="18" charset="0"/>
                            </a:rPr>
                            <m:t>𝒆</m:t>
                          </m:r>
                        </m:sub>
                      </m:sSub>
                      <m:r>
                        <a:rPr lang="en-US" altLang="zh-CN" i="1">
                          <a:latin typeface="Cambria Math" panose="02040503050406030204" pitchFamily="18" charset="0"/>
                          <a:ea typeface="Cambria Math" panose="02040503050406030204" pitchFamily="18" charset="0"/>
                        </a:rPr>
                        <m:t>=</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𝑬</m:t>
                          </m:r>
                        </m:e>
                      </m:acc>
                      <m:r>
                        <a:rPr lang="en-US" altLang="zh-CN" i="1">
                          <a:latin typeface="Cambria Math" panose="02040503050406030204" pitchFamily="18" charset="0"/>
                          <a:ea typeface="Cambria Math" panose="02040503050406030204" pitchFamily="18" charset="0"/>
                        </a:rPr>
                        <m:t>∙</m:t>
                      </m:r>
                      <m:r>
                        <a:rPr lang="en-US" altLang="zh-CN" i="1">
                          <a:latin typeface="Cambria Math" panose="02040503050406030204" pitchFamily="18" charset="0"/>
                          <a:ea typeface="Cambria Math" panose="02040503050406030204" pitchFamily="18" charset="0"/>
                        </a:rPr>
                        <m:t>𝒅</m:t>
                      </m:r>
                      <m:acc>
                        <m:accPr>
                          <m:chr m:val="⃗"/>
                          <m:ctrlPr>
                            <a:rPr lang="en-US" altLang="zh-CN" i="1">
                              <a:latin typeface="Cambria Math" panose="02040503050406030204" pitchFamily="18" charset="0"/>
                              <a:ea typeface="Cambria Math" panose="02040503050406030204" pitchFamily="18" charset="0"/>
                            </a:rPr>
                          </m:ctrlPr>
                        </m:accPr>
                        <m:e>
                          <m:r>
                            <a:rPr lang="en-US" altLang="zh-CN" i="1">
                              <a:latin typeface="Cambria Math" panose="02040503050406030204" pitchFamily="18" charset="0"/>
                              <a:ea typeface="Cambria Math" panose="02040503050406030204" pitchFamily="18" charset="0"/>
                            </a:rPr>
                            <m:t>𝑺</m:t>
                          </m:r>
                        </m:e>
                      </m:acc>
                    </m:oMath>
                  </m:oMathPara>
                </a14:m>
                <a:endParaRPr lang="en-US" altLang="zh-CN" dirty="0">
                  <a:latin typeface="华文楷体" panose="02010600040101010101" pitchFamily="2" charset="-122"/>
                  <a:ea typeface="华文楷体" panose="02010600040101010101" pitchFamily="2" charset="-122"/>
                </a:endParaRPr>
              </a:p>
              <a:p>
                <a:pPr marL="0" indent="0">
                  <a:lnSpc>
                    <a:spcPct val="100000"/>
                  </a:lnSpc>
                  <a:buNone/>
                </a:pPr>
                <a14:m>
                  <m:oMathPara xmlns:m="http://schemas.openxmlformats.org/officeDocument/2006/math">
                    <m:oMathParaPr>
                      <m:jc m:val="centerGroup"/>
                    </m:oMathParaPr>
                    <m:oMath xmlns:m="http://schemas.openxmlformats.org/officeDocument/2006/math">
                      <m:r>
                        <a:rPr lang="en-US" altLang="zh-CN" i="1" smtClean="0">
                          <a:latin typeface="Cambria Math" panose="02040503050406030204" pitchFamily="18" charset="0"/>
                          <a:ea typeface="Cambria Math" panose="02040503050406030204" pitchFamily="18" charset="0"/>
                        </a:rPr>
                        <m:t>→</m:t>
                      </m:r>
                      <m:sSub>
                        <m:sSubPr>
                          <m:ctrlPr>
                            <a:rPr lang="en-US" altLang="zh-CN" i="1" smtClean="0">
                              <a:solidFill>
                                <a:srgbClr val="0000FF"/>
                              </a:solidFill>
                              <a:latin typeface="Cambria Math" panose="02040503050406030204" pitchFamily="18" charset="0"/>
                              <a:ea typeface="Cambria Math" panose="02040503050406030204" pitchFamily="18" charset="0"/>
                            </a:rPr>
                          </m:ctrlPr>
                        </m:sSubPr>
                        <m:e>
                          <m:r>
                            <a:rPr lang="zh-CN" altLang="en-US" i="1">
                              <a:solidFill>
                                <a:srgbClr val="0000FF"/>
                              </a:solidFill>
                              <a:latin typeface="Cambria Math" panose="02040503050406030204" pitchFamily="18" charset="0"/>
                              <a:ea typeface="Cambria Math" panose="02040503050406030204" pitchFamily="18" charset="0"/>
                            </a:rPr>
                            <m:t>𝜱</m:t>
                          </m:r>
                        </m:e>
                        <m:sub>
                          <m:r>
                            <a:rPr lang="en-US" altLang="zh-CN" i="1">
                              <a:solidFill>
                                <a:srgbClr val="0000FF"/>
                              </a:solidFill>
                              <a:latin typeface="Cambria Math" panose="02040503050406030204" pitchFamily="18" charset="0"/>
                              <a:ea typeface="Cambria Math" panose="02040503050406030204" pitchFamily="18" charset="0"/>
                            </a:rPr>
                            <m:t>𝒆</m:t>
                          </m:r>
                        </m:sub>
                      </m:sSub>
                      <m:r>
                        <a:rPr lang="en-US" altLang="zh-CN" i="1">
                          <a:solidFill>
                            <a:srgbClr val="0000FF"/>
                          </a:solidFill>
                          <a:latin typeface="Cambria Math" panose="02040503050406030204" pitchFamily="18" charset="0"/>
                          <a:ea typeface="Cambria Math" panose="02040503050406030204" pitchFamily="18" charset="0"/>
                        </a:rPr>
                        <m:t>=</m:t>
                      </m:r>
                      <m:nary>
                        <m:naryPr>
                          <m:chr m:val="∬"/>
                          <m:ctrlPr>
                            <a:rPr lang="en-US" altLang="zh-CN" i="1">
                              <a:solidFill>
                                <a:srgbClr val="0000FF"/>
                              </a:solidFill>
                              <a:latin typeface="Cambria Math" panose="02040503050406030204" pitchFamily="18" charset="0"/>
                              <a:ea typeface="Cambria Math" panose="02040503050406030204" pitchFamily="18" charset="0"/>
                            </a:rPr>
                          </m:ctrlPr>
                        </m:naryPr>
                        <m:sub>
                          <m:r>
                            <m:rPr>
                              <m:brk m:alnAt="23"/>
                            </m:rPr>
                            <a:rPr lang="en-US" altLang="zh-CN" i="1">
                              <a:solidFill>
                                <a:srgbClr val="0000FF"/>
                              </a:solidFill>
                              <a:latin typeface="Cambria Math" panose="02040503050406030204" pitchFamily="18" charset="0"/>
                              <a:ea typeface="Cambria Math" panose="02040503050406030204" pitchFamily="18" charset="0"/>
                            </a:rPr>
                            <m:t>𝑺</m:t>
                          </m:r>
                        </m:sub>
                        <m:sup/>
                        <m:e>
                          <m:acc>
                            <m:accPr>
                              <m:chr m:val="⃗"/>
                              <m:ctrlPr>
                                <a:rPr lang="en-US" altLang="zh-CN" i="1">
                                  <a:solidFill>
                                    <a:srgbClr val="0000FF"/>
                                  </a:solidFill>
                                  <a:latin typeface="Cambria Math" panose="02040503050406030204" pitchFamily="18" charset="0"/>
                                  <a:ea typeface="Cambria Math" panose="02040503050406030204" pitchFamily="18" charset="0"/>
                                </a:rPr>
                              </m:ctrlPr>
                            </m:accPr>
                            <m:e>
                              <m:r>
                                <a:rPr lang="en-US" altLang="zh-CN" i="1">
                                  <a:solidFill>
                                    <a:srgbClr val="0000FF"/>
                                  </a:solidFill>
                                  <a:latin typeface="Cambria Math" panose="02040503050406030204" pitchFamily="18" charset="0"/>
                                  <a:ea typeface="Cambria Math" panose="02040503050406030204" pitchFamily="18" charset="0"/>
                                </a:rPr>
                                <m:t>𝑬</m:t>
                              </m:r>
                            </m:e>
                          </m:acc>
                          <m:r>
                            <a:rPr lang="en-US" altLang="zh-CN" i="1">
                              <a:solidFill>
                                <a:srgbClr val="0000FF"/>
                              </a:solidFill>
                              <a:latin typeface="Cambria Math" panose="02040503050406030204" pitchFamily="18" charset="0"/>
                              <a:ea typeface="Cambria Math" panose="02040503050406030204" pitchFamily="18" charset="0"/>
                            </a:rPr>
                            <m:t>∙</m:t>
                          </m:r>
                          <m:r>
                            <a:rPr lang="en-US" altLang="zh-CN" i="1">
                              <a:solidFill>
                                <a:srgbClr val="0000FF"/>
                              </a:solidFill>
                              <a:latin typeface="Cambria Math" panose="02040503050406030204" pitchFamily="18" charset="0"/>
                              <a:ea typeface="Cambria Math" panose="02040503050406030204" pitchFamily="18" charset="0"/>
                            </a:rPr>
                            <m:t>𝒅</m:t>
                          </m:r>
                          <m:acc>
                            <m:accPr>
                              <m:chr m:val="⃗"/>
                              <m:ctrlPr>
                                <a:rPr lang="en-US" altLang="zh-CN" i="1">
                                  <a:solidFill>
                                    <a:srgbClr val="0000FF"/>
                                  </a:solidFill>
                                  <a:latin typeface="Cambria Math" panose="02040503050406030204" pitchFamily="18" charset="0"/>
                                  <a:ea typeface="Cambria Math" panose="02040503050406030204" pitchFamily="18" charset="0"/>
                                </a:rPr>
                              </m:ctrlPr>
                            </m:accPr>
                            <m:e>
                              <m:r>
                                <a:rPr lang="en-US" altLang="zh-CN" i="1">
                                  <a:solidFill>
                                    <a:srgbClr val="0000FF"/>
                                  </a:solidFill>
                                  <a:latin typeface="Cambria Math" panose="02040503050406030204" pitchFamily="18" charset="0"/>
                                  <a:ea typeface="Cambria Math" panose="02040503050406030204" pitchFamily="18" charset="0"/>
                                </a:rPr>
                                <m:t>𝑺</m:t>
                              </m:r>
                            </m:e>
                          </m:acc>
                        </m:e>
                      </m:nary>
                    </m:oMath>
                  </m:oMathPara>
                </a14:m>
                <a:endParaRPr lang="zh-CN" altLang="en-US" dirty="0">
                  <a:latin typeface="华文楷体" panose="02010600040101010101" pitchFamily="2" charset="-122"/>
                  <a:ea typeface="华文楷体" panose="02010600040101010101" pitchFamily="2" charset="-122"/>
                </a:endParaRPr>
              </a:p>
            </p:txBody>
          </p:sp>
        </mc:Choice>
        <mc:Fallback xmlns="">
          <p:sp>
            <p:nvSpPr>
              <p:cNvPr id="4" name="内容占位符 3"/>
              <p:cNvSpPr>
                <a:spLocks noGrp="1" noRot="1" noChangeAspect="1" noMove="1" noResize="1" noEditPoints="1" noAdjustHandles="1" noChangeArrowheads="1" noChangeShapeType="1" noTextEdit="1"/>
              </p:cNvSpPr>
              <p:nvPr>
                <p:ph idx="1"/>
              </p:nvPr>
            </p:nvSpPr>
            <p:spPr>
              <a:xfrm>
                <a:off x="2021229" y="4819599"/>
                <a:ext cx="7543801" cy="1673276"/>
              </a:xfrm>
              <a:blipFill>
                <a:blip r:embed="rId2"/>
                <a:stretch>
                  <a:fillRect/>
                </a:stretch>
              </a:blipFill>
            </p:spPr>
            <p:txBody>
              <a:bodyPr/>
              <a:lstStyle/>
              <a:p>
                <a:r>
                  <a:rPr lang="en-US">
                    <a:noFill/>
                  </a:rPr>
                  <a:t> </a:t>
                </a:r>
              </a:p>
            </p:txBody>
          </p:sp>
        </mc:Fallback>
      </mc:AlternateContent>
      <p:pic>
        <p:nvPicPr>
          <p:cNvPr id="5" name="图片 4"/>
          <p:cNvPicPr>
            <a:picLocks noChangeAspect="1"/>
          </p:cNvPicPr>
          <p:nvPr/>
        </p:nvPicPr>
        <p:blipFill>
          <a:blip r:embed="rId3"/>
          <a:stretch>
            <a:fillRect/>
          </a:stretch>
        </p:blipFill>
        <p:spPr>
          <a:xfrm>
            <a:off x="3223991" y="1788799"/>
            <a:ext cx="4365114" cy="2554445"/>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sp>
        <p:nvSpPr>
          <p:cNvPr id="8" name="标题 4">
            <a:extLst>
              <a:ext uri="{FF2B5EF4-FFF2-40B4-BE49-F238E27FC236}">
                <a16:creationId xmlns:a16="http://schemas.microsoft.com/office/drawing/2014/main" id="{61F83BA0-5CDC-4D3C-94DE-FAF0D415533D}"/>
              </a:ext>
            </a:extLst>
          </p:cNvPr>
          <p:cNvSpPr txBox="1">
            <a:spLocks/>
          </p:cNvSpPr>
          <p:nvPr/>
        </p:nvSpPr>
        <p:spPr>
          <a:xfrm>
            <a:off x="559386" y="589921"/>
            <a:ext cx="7543800" cy="111717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p"/>
            </a:pPr>
            <a:r>
              <a:rPr lang="zh-CN" altLang="en-US" sz="3200" dirty="0">
                <a:solidFill>
                  <a:srgbClr val="0066FF"/>
                </a:solidFill>
                <a:latin typeface="华文楷体" panose="02010600040101010101" pitchFamily="2" charset="-122"/>
                <a:ea typeface="华文楷体" panose="02010600040101010101" pitchFamily="2" charset="-122"/>
                <a:cs typeface="Times New Roman" panose="02020603050405020304" pitchFamily="18" charset="0"/>
              </a:rPr>
              <a:t>电通量：</a:t>
            </a:r>
            <a:r>
              <a:rPr lang="zh-CN" altLang="en-US" sz="3200" dirty="0">
                <a:latin typeface="华文楷体" panose="02010600040101010101" pitchFamily="2" charset="-122"/>
                <a:ea typeface="华文楷体" panose="02010600040101010101" pitchFamily="2" charset="-122"/>
              </a:rPr>
              <a:t>通过某一曲面的电场线条数</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标题 3"/>
              <p:cNvSpPr>
                <a:spLocks noGrp="1"/>
              </p:cNvSpPr>
              <p:nvPr>
                <p:ph type="title"/>
              </p:nvPr>
            </p:nvSpPr>
            <p:spPr>
              <a:xfrm>
                <a:off x="683592" y="379261"/>
                <a:ext cx="5148690" cy="1325563"/>
              </a:xfrm>
            </p:spPr>
            <p:txBody>
              <a:bodyPr/>
              <a:lstStyle/>
              <a:p>
                <a:pPr marL="514350" indent="-514350">
                  <a:buFont typeface="Wingdings" panose="05000000000000000000" pitchFamily="2" charset="2"/>
                  <a:buChar char="q"/>
                </a:pPr>
                <a:r>
                  <a:rPr lang="zh-CN" altLang="en-US" sz="3200" dirty="0">
                    <a:solidFill>
                      <a:srgbClr val="0066FF"/>
                    </a:solidFill>
                    <a:latin typeface="华文楷体" panose="02010600040101010101" pitchFamily="2" charset="-122"/>
                    <a:ea typeface="华文楷体" panose="02010600040101010101" pitchFamily="2" charset="-122"/>
                  </a:rPr>
                  <a:t>封闭曲面</a:t>
                </a:r>
                <a14:m>
                  <m:oMath xmlns:m="http://schemas.openxmlformats.org/officeDocument/2006/math">
                    <m:r>
                      <a:rPr lang="zh-CN" altLang="en-US" sz="3200" b="0" i="1" dirty="0">
                        <a:solidFill>
                          <a:srgbClr val="0066FF"/>
                        </a:solidFill>
                        <a:latin typeface="Cambria Math" panose="02040503050406030204" pitchFamily="18" charset="0"/>
                        <a:ea typeface="华文新魏" panose="02010800040101010101" pitchFamily="2" charset="-122"/>
                      </a:rPr>
                      <m:t> </m:t>
                    </m:r>
                    <m:r>
                      <a:rPr lang="en-US" altLang="zh-CN" sz="3200" b="0" i="1" dirty="0">
                        <a:solidFill>
                          <a:srgbClr val="0066FF"/>
                        </a:solidFill>
                        <a:latin typeface="Cambria Math" panose="02040503050406030204" pitchFamily="18" charset="0"/>
                        <a:ea typeface="华文新魏" panose="02010800040101010101" pitchFamily="2" charset="-122"/>
                      </a:rPr>
                      <m:t>𝑆</m:t>
                    </m:r>
                    <m:r>
                      <a:rPr lang="en-US" altLang="zh-CN" sz="3200" b="0" i="1" dirty="0">
                        <a:solidFill>
                          <a:srgbClr val="0066FF"/>
                        </a:solidFill>
                        <a:latin typeface="Cambria Math" panose="02040503050406030204" pitchFamily="18" charset="0"/>
                        <a:ea typeface="华文新魏" panose="02010800040101010101" pitchFamily="2" charset="-122"/>
                      </a:rPr>
                      <m:t> </m:t>
                    </m:r>
                  </m:oMath>
                </a14:m>
                <a:r>
                  <a:rPr lang="zh-CN" altLang="en-US" sz="3200" dirty="0">
                    <a:solidFill>
                      <a:srgbClr val="0066FF"/>
                    </a:solidFill>
                    <a:latin typeface="华文楷体" panose="02010600040101010101" pitchFamily="2" charset="-122"/>
                    <a:ea typeface="华文楷体" panose="02010600040101010101" pitchFamily="2" charset="-122"/>
                  </a:rPr>
                  <a:t>的电通量</a:t>
                </a:r>
                <a:endParaRPr lang="zh-CN" altLang="en-US" dirty="0">
                  <a:solidFill>
                    <a:srgbClr val="0066FF"/>
                  </a:solidFill>
                  <a:latin typeface="华文楷体" panose="02010600040101010101" pitchFamily="2" charset="-122"/>
                  <a:ea typeface="华文楷体" panose="02010600040101010101" pitchFamily="2" charset="-122"/>
                </a:endParaRPr>
              </a:p>
            </p:txBody>
          </p:sp>
        </mc:Choice>
        <mc:Fallback xmlns="">
          <p:sp>
            <p:nvSpPr>
              <p:cNvPr id="4" name="标题 3"/>
              <p:cNvSpPr>
                <a:spLocks noGrp="1" noRot="1" noChangeAspect="1" noMove="1" noResize="1" noEditPoints="1" noAdjustHandles="1" noChangeArrowheads="1" noChangeShapeType="1" noTextEdit="1"/>
              </p:cNvSpPr>
              <p:nvPr>
                <p:ph type="title"/>
              </p:nvPr>
            </p:nvSpPr>
            <p:spPr>
              <a:xfrm>
                <a:off x="683592" y="379261"/>
                <a:ext cx="5148690" cy="1325563"/>
              </a:xfrm>
              <a:blipFill>
                <a:blip r:embed="rId2"/>
                <a:stretch>
                  <a:fillRect l="-260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矩形 1"/>
              <p:cNvSpPr/>
              <p:nvPr/>
            </p:nvSpPr>
            <p:spPr>
              <a:xfrm>
                <a:off x="2054433" y="4402021"/>
                <a:ext cx="3175677" cy="124008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rgbClr val="FF0000"/>
                              </a:solidFill>
                              <a:latin typeface="Cambria Math" panose="02040503050406030204" pitchFamily="18" charset="0"/>
                              <a:ea typeface="Cambria Math" panose="02040503050406030204" pitchFamily="18" charset="0"/>
                            </a:rPr>
                          </m:ctrlPr>
                        </m:sSubPr>
                        <m:e>
                          <m:r>
                            <a:rPr lang="zh-CN" altLang="en-US" sz="3200" i="1">
                              <a:solidFill>
                                <a:srgbClr val="FF0000"/>
                              </a:solidFill>
                              <a:latin typeface="Cambria Math" panose="02040503050406030204" pitchFamily="18" charset="0"/>
                              <a:ea typeface="Cambria Math" panose="02040503050406030204" pitchFamily="18" charset="0"/>
                            </a:rPr>
                            <m:t>𝜱</m:t>
                          </m:r>
                        </m:e>
                        <m:sub>
                          <m:r>
                            <a:rPr lang="en-US" altLang="zh-CN" sz="3200" i="1">
                              <a:solidFill>
                                <a:srgbClr val="FF0000"/>
                              </a:solidFill>
                              <a:latin typeface="Cambria Math" panose="02040503050406030204" pitchFamily="18" charset="0"/>
                              <a:ea typeface="Cambria Math" panose="02040503050406030204" pitchFamily="18" charset="0"/>
                            </a:rPr>
                            <m:t>𝒆</m:t>
                          </m:r>
                        </m:sub>
                      </m:sSub>
                      <m:r>
                        <a:rPr lang="en-US" altLang="zh-CN" sz="3200" i="1">
                          <a:solidFill>
                            <a:srgbClr val="FF0000"/>
                          </a:solidFill>
                          <a:latin typeface="Cambria Math" panose="02040503050406030204" pitchFamily="18" charset="0"/>
                          <a:ea typeface="Cambria Math" panose="02040503050406030204" pitchFamily="18" charset="0"/>
                        </a:rPr>
                        <m:t>=</m:t>
                      </m:r>
                      <m:nary>
                        <m:naryPr>
                          <m:chr m:val="∯"/>
                          <m:ctrlPr>
                            <a:rPr lang="en-US" altLang="zh-CN" sz="3200" i="1">
                              <a:solidFill>
                                <a:srgbClr val="FF0000"/>
                              </a:solidFill>
                              <a:latin typeface="Cambria Math" panose="02040503050406030204" pitchFamily="18" charset="0"/>
                              <a:ea typeface="Cambria Math" panose="02040503050406030204" pitchFamily="18" charset="0"/>
                            </a:rPr>
                          </m:ctrlPr>
                        </m:naryPr>
                        <m:sub>
                          <m:r>
                            <m:rPr>
                              <m:brk m:alnAt="23"/>
                            </m:rPr>
                            <a:rPr lang="en-US" altLang="zh-CN" sz="3200" b="1" i="1">
                              <a:solidFill>
                                <a:srgbClr val="FF0000"/>
                              </a:solidFill>
                              <a:latin typeface="Cambria Math" panose="02040503050406030204" pitchFamily="18" charset="0"/>
                              <a:ea typeface="Cambria Math" panose="02040503050406030204" pitchFamily="18" charset="0"/>
                            </a:rPr>
                            <m:t>𝑺</m:t>
                          </m:r>
                        </m:sub>
                        <m:sup/>
                        <m:e>
                          <m:acc>
                            <m:accPr>
                              <m:chr m:val="⃗"/>
                              <m:ctrlPr>
                                <a:rPr lang="en-US" altLang="zh-CN" sz="3200" i="1">
                                  <a:solidFill>
                                    <a:srgbClr val="FF0000"/>
                                  </a:solidFill>
                                  <a:latin typeface="Cambria Math" panose="02040503050406030204" pitchFamily="18" charset="0"/>
                                  <a:ea typeface="Cambria Math" panose="02040503050406030204" pitchFamily="18" charset="0"/>
                                </a:rPr>
                              </m:ctrlPr>
                            </m:accPr>
                            <m:e>
                              <m:r>
                                <a:rPr lang="en-US" altLang="zh-CN" sz="3200" i="1">
                                  <a:solidFill>
                                    <a:srgbClr val="FF0000"/>
                                  </a:solidFill>
                                  <a:latin typeface="Cambria Math" panose="02040503050406030204" pitchFamily="18" charset="0"/>
                                  <a:ea typeface="Cambria Math" panose="02040503050406030204" pitchFamily="18" charset="0"/>
                                </a:rPr>
                                <m:t>𝑬</m:t>
                              </m:r>
                            </m:e>
                          </m:acc>
                          <m:r>
                            <a:rPr lang="en-US" altLang="zh-CN" sz="3200" i="1">
                              <a:solidFill>
                                <a:srgbClr val="FF0000"/>
                              </a:solidFill>
                              <a:latin typeface="Cambria Math" panose="02040503050406030204" pitchFamily="18" charset="0"/>
                              <a:ea typeface="Cambria Math" panose="02040503050406030204" pitchFamily="18" charset="0"/>
                            </a:rPr>
                            <m:t>∙</m:t>
                          </m:r>
                          <m:r>
                            <a:rPr lang="en-US" altLang="zh-CN" sz="3200" i="1">
                              <a:solidFill>
                                <a:srgbClr val="FF0000"/>
                              </a:solidFill>
                              <a:latin typeface="Cambria Math" panose="02040503050406030204" pitchFamily="18" charset="0"/>
                              <a:ea typeface="Cambria Math" panose="02040503050406030204" pitchFamily="18" charset="0"/>
                            </a:rPr>
                            <m:t>𝒅</m:t>
                          </m:r>
                          <m:acc>
                            <m:accPr>
                              <m:chr m:val="⃗"/>
                              <m:ctrlPr>
                                <a:rPr lang="en-US" altLang="zh-CN" sz="3200" i="1">
                                  <a:solidFill>
                                    <a:srgbClr val="FF0000"/>
                                  </a:solidFill>
                                  <a:latin typeface="Cambria Math" panose="02040503050406030204" pitchFamily="18" charset="0"/>
                                  <a:ea typeface="Cambria Math" panose="02040503050406030204" pitchFamily="18" charset="0"/>
                                </a:rPr>
                              </m:ctrlPr>
                            </m:accPr>
                            <m:e>
                              <m:r>
                                <a:rPr lang="en-US" altLang="zh-CN" sz="3200" i="1">
                                  <a:solidFill>
                                    <a:srgbClr val="FF0000"/>
                                  </a:solidFill>
                                  <a:latin typeface="Cambria Math" panose="02040503050406030204" pitchFamily="18" charset="0"/>
                                  <a:ea typeface="Cambria Math" panose="02040503050406030204" pitchFamily="18" charset="0"/>
                                </a:rPr>
                                <m:t>𝑺</m:t>
                              </m:r>
                            </m:e>
                          </m:acc>
                        </m:e>
                      </m:nary>
                    </m:oMath>
                  </m:oMathPara>
                </a14:m>
                <a:endParaRPr lang="zh-CN" altLang="en-US" dirty="0">
                  <a:latin typeface="华文楷体" panose="02010600040101010101" pitchFamily="2" charset="-122"/>
                  <a:ea typeface="华文楷体" panose="02010600040101010101" pitchFamily="2" charset="-122"/>
                </a:endParaRPr>
              </a:p>
            </p:txBody>
          </p:sp>
        </mc:Choice>
        <mc:Fallback xmlns="">
          <p:sp>
            <p:nvSpPr>
              <p:cNvPr id="2" name="矩形 1"/>
              <p:cNvSpPr>
                <a:spLocks noRot="1" noChangeAspect="1" noMove="1" noResize="1" noEditPoints="1" noAdjustHandles="1" noChangeArrowheads="1" noChangeShapeType="1" noTextEdit="1"/>
              </p:cNvSpPr>
              <p:nvPr/>
            </p:nvSpPr>
            <p:spPr>
              <a:xfrm>
                <a:off x="2054433" y="4402021"/>
                <a:ext cx="3175677" cy="1240083"/>
              </a:xfrm>
              <a:prstGeom prst="rect">
                <a:avLst/>
              </a:prstGeom>
              <a:blipFill>
                <a:blip r:embed="rId3"/>
                <a:stretch>
                  <a:fillRect/>
                </a:stretch>
              </a:blipFill>
            </p:spPr>
            <p:txBody>
              <a:bodyPr/>
              <a:lstStyle/>
              <a:p>
                <a:r>
                  <a:rPr lang="en-US">
                    <a:noFill/>
                  </a:rPr>
                  <a:t> </a:t>
                </a:r>
              </a:p>
            </p:txBody>
          </p:sp>
        </mc:Fallback>
      </mc:AlternateContent>
      <p:sp>
        <p:nvSpPr>
          <p:cNvPr id="10" name="标题 3"/>
          <p:cNvSpPr txBox="1">
            <a:spLocks/>
          </p:cNvSpPr>
          <p:nvPr/>
        </p:nvSpPr>
        <p:spPr>
          <a:xfrm>
            <a:off x="1110975" y="5595956"/>
            <a:ext cx="7543800" cy="1143676"/>
          </a:xfrm>
          <a:prstGeom prst="rect">
            <a:avLst/>
          </a:prstGeom>
        </p:spPr>
        <p:txBody>
          <a:bodyPr vert="horz" lIns="91440" tIns="45720" rIns="91440" bIns="45720" rtlCol="0" anchor="b">
            <a:normAutofit fontScale="97500"/>
          </a:bodyPr>
          <a:lstStyle>
            <a:lvl1pPr algn="l" defTabSz="914400" rtl="0" eaLnBrk="1" latinLnBrk="0" hangingPunct="1">
              <a:lnSpc>
                <a:spcPct val="85000"/>
              </a:lnSpc>
              <a:spcBef>
                <a:spcPct val="0"/>
              </a:spcBef>
              <a:buNone/>
              <a:defRPr sz="3600" b="1" kern="1200" spc="-50" baseline="0">
                <a:solidFill>
                  <a:schemeClr val="tx1"/>
                </a:solidFill>
                <a:latin typeface="黑体" panose="02010609060101010101" pitchFamily="49" charset="-122"/>
                <a:ea typeface="黑体" panose="02010609060101010101" pitchFamily="49" charset="-122"/>
                <a:cs typeface="+mj-cs"/>
              </a:defRPr>
            </a:lvl1pPr>
          </a:lstStyle>
          <a:p>
            <a:r>
              <a:rPr lang="zh-CN" altLang="en-US" sz="2600" b="0" dirty="0">
                <a:latin typeface="华文楷体" panose="02010600040101010101" pitchFamily="2" charset="-122"/>
                <a:ea typeface="华文楷体" panose="02010600040101010101" pitchFamily="2" charset="-122"/>
              </a:rPr>
              <a:t>法线方向：从封闭曲面的内侧指向外侧</a:t>
            </a:r>
            <a:br>
              <a:rPr lang="en-US" altLang="zh-CN" sz="2600" b="0" dirty="0">
                <a:latin typeface="华文楷体" panose="02010600040101010101" pitchFamily="2" charset="-122"/>
                <a:ea typeface="华文楷体" panose="02010600040101010101" pitchFamily="2" charset="-122"/>
              </a:rPr>
            </a:br>
            <a:endParaRPr lang="zh-CN" altLang="en-US" sz="2600" b="0" dirty="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9" name="Text Box 4">
                <a:extLst>
                  <a:ext uri="{FF2B5EF4-FFF2-40B4-BE49-F238E27FC236}">
                    <a16:creationId xmlns:a16="http://schemas.microsoft.com/office/drawing/2014/main" id="{0B4B2CDF-D0E2-4B8A-921E-14BC9B1AE0FD}"/>
                  </a:ext>
                </a:extLst>
              </p:cNvPr>
              <p:cNvSpPr txBox="1">
                <a:spLocks noChangeArrowheads="1"/>
              </p:cNvSpPr>
              <p:nvPr/>
            </p:nvSpPr>
            <p:spPr bwMode="auto">
              <a:xfrm>
                <a:off x="7422152" y="1291344"/>
                <a:ext cx="4352162" cy="4533549"/>
              </a:xfrm>
              <a:prstGeom prst="rect">
                <a:avLst/>
              </a:prstGeom>
              <a:noFill/>
              <a:ln>
                <a:noFill/>
              </a:ln>
              <a:effectLst/>
              <a:extLst>
                <a:ext uri="{909E8E84-426E-40DD-AFC4-6F175D3DCCD1}">
                  <a14:hiddenFill>
                    <a:solidFill>
                      <a:srgbClr val="FFFFFF"/>
                    </a:solidFill>
                  </a14:hiddenFill>
                </a:ext>
                <a:ext uri="{91240B29-F687-4F45-9708-019B960494DF}">
                  <a14:hiddenLine w="38100">
                    <a:solidFill>
                      <a:schemeClr val="tx1"/>
                    </a:solidFill>
                    <a:miter lim="800000"/>
                    <a:headEnd/>
                    <a:tailEnd type="none" w="sm" len="lg"/>
                  </a14:hiddenLine>
                </a:ext>
                <a:ext uri="{AF507438-7753-43E0-B8FC-AC1667EBCBE1}">
                  <a14:hiddenEffects>
                    <a:effectLst>
                      <a:outerShdw dist="35921" dir="2700000" algn="ctr" rotWithShape="0">
                        <a:schemeClr val="bg2"/>
                      </a:outerShdw>
                    </a:effectLst>
                  </a14:hiddenEffects>
                </a:ext>
              </a:extLst>
            </p:spPr>
            <p:txBody>
              <a:bodyPr wrap="square" anchor="ct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nSpc>
                    <a:spcPct val="130000"/>
                  </a:lnSpc>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电场线穿出的地方，</a:t>
                </a:r>
                <a:br>
                  <a:rPr lang="en-US" altLang="zh-CN" sz="2800" b="0" dirty="0">
                    <a:latin typeface="华文楷体" panose="02010600040101010101" pitchFamily="2" charset="-122"/>
                    <a:ea typeface="华文楷体" panose="02010600040101010101" pitchFamily="2" charset="-122"/>
                  </a:rPr>
                </a:br>
                <a14:m>
                  <m:oMath xmlns:m="http://schemas.openxmlformats.org/officeDocument/2006/math">
                    <m:r>
                      <a:rPr lang="en-US" altLang="zh-CN" sz="2800" b="0" i="1" dirty="0">
                        <a:latin typeface="Cambria Math" panose="02040503050406030204" pitchFamily="18" charset="0"/>
                      </a:rPr>
                      <m:t>𝜃</m:t>
                    </m:r>
                    <m:r>
                      <a:rPr lang="en-US" altLang="zh-CN" sz="2800" b="0" i="1" dirty="0">
                        <a:latin typeface="Cambria Math" panose="02040503050406030204" pitchFamily="18" charset="0"/>
                      </a:rPr>
                      <m:t>&lt;</m:t>
                    </m:r>
                    <m:f>
                      <m:fPr>
                        <m:type m:val="lin"/>
                        <m:ctrlPr>
                          <a:rPr lang="en-US" altLang="zh-CN" sz="2800" b="0" i="1" dirty="0">
                            <a:latin typeface="Cambria Math" panose="02040503050406030204" pitchFamily="18" charset="0"/>
                          </a:rPr>
                        </m:ctrlPr>
                      </m:fPr>
                      <m:num>
                        <m:r>
                          <a:rPr lang="zh-CN" altLang="en-US" sz="2800" b="0" i="1" dirty="0">
                            <a:latin typeface="Cambria Math" panose="02040503050406030204" pitchFamily="18" charset="0"/>
                          </a:rPr>
                          <m:t>𝜋</m:t>
                        </m:r>
                      </m:num>
                      <m:den>
                        <m:r>
                          <a:rPr lang="en-US" altLang="zh-CN" sz="2800" b="0" i="1" dirty="0">
                            <a:latin typeface="Cambria Math" panose="02040503050406030204" pitchFamily="18" charset="0"/>
                          </a:rPr>
                          <m:t>2</m:t>
                        </m:r>
                      </m:den>
                    </m:f>
                  </m:oMath>
                </a14:m>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电通量为正值</a:t>
                </a:r>
                <a:endParaRPr lang="en-US" altLang="zh-CN" sz="2800" b="0" dirty="0">
                  <a:latin typeface="华文楷体" panose="02010600040101010101" pitchFamily="2" charset="-122"/>
                  <a:ea typeface="华文楷体" panose="02010600040101010101" pitchFamily="2" charset="-122"/>
                </a:endParaRPr>
              </a:p>
              <a:p>
                <a:pPr>
                  <a:lnSpc>
                    <a:spcPct val="130000"/>
                  </a:lnSpc>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电场线进入的地方，</a:t>
                </a:r>
                <a:br>
                  <a:rPr lang="en-US" altLang="zh-CN" sz="2800" b="0" dirty="0">
                    <a:latin typeface="华文楷体" panose="02010600040101010101" pitchFamily="2" charset="-122"/>
                    <a:ea typeface="华文楷体" panose="02010600040101010101" pitchFamily="2" charset="-122"/>
                  </a:rPr>
                </a:br>
                <a14:m>
                  <m:oMath xmlns:m="http://schemas.openxmlformats.org/officeDocument/2006/math">
                    <m:r>
                      <a:rPr lang="en-US" altLang="zh-CN" sz="2800" b="0" i="1" dirty="0">
                        <a:latin typeface="Cambria Math" panose="02040503050406030204" pitchFamily="18" charset="0"/>
                      </a:rPr>
                      <m:t>𝜃</m:t>
                    </m:r>
                    <m:r>
                      <a:rPr lang="en-US" altLang="zh-CN" sz="2800" b="0" i="1" dirty="0">
                        <a:latin typeface="Cambria Math" panose="02040503050406030204" pitchFamily="18" charset="0"/>
                      </a:rPr>
                      <m:t>&gt;</m:t>
                    </m:r>
                    <m:f>
                      <m:fPr>
                        <m:type m:val="lin"/>
                        <m:ctrlPr>
                          <a:rPr lang="en-US" altLang="zh-CN" sz="2800" b="0" i="1" dirty="0">
                            <a:latin typeface="Cambria Math" panose="02040503050406030204" pitchFamily="18" charset="0"/>
                          </a:rPr>
                        </m:ctrlPr>
                      </m:fPr>
                      <m:num>
                        <m:r>
                          <a:rPr lang="zh-CN" altLang="en-US" sz="2800" b="0" i="1" dirty="0">
                            <a:latin typeface="Cambria Math" panose="02040503050406030204" pitchFamily="18" charset="0"/>
                          </a:rPr>
                          <m:t>𝜋</m:t>
                        </m:r>
                      </m:num>
                      <m:den>
                        <m:r>
                          <a:rPr lang="en-US" altLang="zh-CN" sz="2800" b="0" i="1" dirty="0">
                            <a:latin typeface="Cambria Math" panose="02040503050406030204" pitchFamily="18" charset="0"/>
                          </a:rPr>
                          <m:t>2</m:t>
                        </m:r>
                      </m:den>
                    </m:f>
                  </m:oMath>
                </a14:m>
                <a:r>
                  <a:rPr lang="en-US" altLang="zh-CN" sz="2800" b="0" dirty="0">
                    <a:latin typeface="华文楷体" panose="02010600040101010101" pitchFamily="2" charset="-122"/>
                    <a:ea typeface="华文楷体" panose="02010600040101010101" pitchFamily="2" charset="-122"/>
                  </a:rPr>
                  <a:t>,</a:t>
                </a:r>
                <a:r>
                  <a:rPr lang="zh-CN" altLang="en-US" sz="2800" b="0" dirty="0">
                    <a:latin typeface="华文楷体" panose="02010600040101010101" pitchFamily="2" charset="-122"/>
                    <a:ea typeface="华文楷体" panose="02010600040101010101" pitchFamily="2" charset="-122"/>
                  </a:rPr>
                  <a:t>电通量为负值</a:t>
                </a:r>
                <a:endParaRPr lang="en-US" altLang="zh-CN" sz="2800" b="0" dirty="0">
                  <a:latin typeface="华文楷体" panose="02010600040101010101" pitchFamily="2" charset="-122"/>
                  <a:ea typeface="华文楷体" panose="02010600040101010101" pitchFamily="2" charset="-122"/>
                </a:endParaRPr>
              </a:p>
              <a:p>
                <a:pPr>
                  <a:lnSpc>
                    <a:spcPct val="130000"/>
                  </a:lnSpc>
                </a:pPr>
                <a:endParaRPr lang="en-US" altLang="zh-CN" sz="2800" b="0" dirty="0">
                  <a:latin typeface="华文楷体" panose="02010600040101010101" pitchFamily="2" charset="-122"/>
                  <a:ea typeface="华文楷体" panose="02010600040101010101" pitchFamily="2" charset="-122"/>
                </a:endParaRPr>
              </a:p>
              <a:p>
                <a:pPr lvl="0">
                  <a:lnSpc>
                    <a:spcPct val="130000"/>
                  </a:lnSpc>
                </a:pPr>
                <a:r>
                  <a:rPr lang="en-US" altLang="zh-CN" sz="2800" b="0" dirty="0">
                    <a:latin typeface="华文楷体" panose="02010600040101010101" pitchFamily="2" charset="-122"/>
                    <a:ea typeface="华文楷体" panose="02010600040101010101" pitchFamily="2" charset="-122"/>
                  </a:rPr>
                  <a:t>- </a:t>
                </a:r>
                <a:r>
                  <a:rPr lang="zh-CN" altLang="en-US" sz="2800" b="0" dirty="0">
                    <a:latin typeface="华文楷体" panose="02010600040101010101" pitchFamily="2" charset="-122"/>
                    <a:ea typeface="华文楷体" panose="02010600040101010101" pitchFamily="2" charset="-122"/>
                  </a:rPr>
                  <a:t>通过封闭曲面的电通量等于净穿出该封闭曲面的电场线总条数</a:t>
                </a:r>
                <a:endParaRPr lang="en-US" altLang="zh-CN" sz="2800" b="0" dirty="0">
                  <a:latin typeface="华文楷体" panose="02010600040101010101" pitchFamily="2" charset="-122"/>
                  <a:ea typeface="华文楷体" panose="02010600040101010101" pitchFamily="2" charset="-122"/>
                </a:endParaRPr>
              </a:p>
            </p:txBody>
          </p:sp>
        </mc:Choice>
        <mc:Fallback xmlns="">
          <p:sp>
            <p:nvSpPr>
              <p:cNvPr id="9" name="Text Box 4">
                <a:extLst>
                  <a:ext uri="{FF2B5EF4-FFF2-40B4-BE49-F238E27FC236}">
                    <a16:creationId xmlns:a16="http://schemas.microsoft.com/office/drawing/2014/main" id="{0B4B2CDF-D0E2-4B8A-921E-14BC9B1AE0FD}"/>
                  </a:ext>
                </a:extLst>
              </p:cNvPr>
              <p:cNvSpPr txBox="1">
                <a:spLocks noRot="1" noChangeAspect="1" noMove="1" noResize="1" noEditPoints="1" noAdjustHandles="1" noChangeArrowheads="1" noChangeShapeType="1" noTextEdit="1"/>
              </p:cNvSpPr>
              <p:nvPr/>
            </p:nvSpPr>
            <p:spPr bwMode="auto">
              <a:xfrm>
                <a:off x="7422152" y="1291344"/>
                <a:ext cx="4352162" cy="4533549"/>
              </a:xfrm>
              <a:prstGeom prst="rect">
                <a:avLst/>
              </a:prstGeom>
              <a:blipFill>
                <a:blip r:embed="rId4"/>
                <a:stretch>
                  <a:fillRect l="-2945" r="-1122" b="-3091"/>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chemeClr val="tx1"/>
                    </a:solidFill>
                    <a:miter lim="800000"/>
                    <a:headEnd/>
                    <a:tailEnd type="none" w="sm" len="lg"/>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grpSp>
        <p:nvGrpSpPr>
          <p:cNvPr id="11" name="Group 52">
            <a:extLst>
              <a:ext uri="{FF2B5EF4-FFF2-40B4-BE49-F238E27FC236}">
                <a16:creationId xmlns:a16="http://schemas.microsoft.com/office/drawing/2014/main" id="{0A90E044-34D3-4DF2-B9CB-CD681A2F491F}"/>
              </a:ext>
            </a:extLst>
          </p:cNvPr>
          <p:cNvGrpSpPr>
            <a:grpSpLocks/>
          </p:cNvGrpSpPr>
          <p:nvPr/>
        </p:nvGrpSpPr>
        <p:grpSpPr bwMode="auto">
          <a:xfrm>
            <a:off x="1825833" y="1543581"/>
            <a:ext cx="3363912" cy="2663825"/>
            <a:chOff x="3168" y="770"/>
            <a:chExt cx="2119" cy="1678"/>
          </a:xfrm>
        </p:grpSpPr>
        <p:sp>
          <p:nvSpPr>
            <p:cNvPr id="12" name="Oval 53">
              <a:extLst>
                <a:ext uri="{FF2B5EF4-FFF2-40B4-BE49-F238E27FC236}">
                  <a16:creationId xmlns:a16="http://schemas.microsoft.com/office/drawing/2014/main" id="{856ABE16-FF31-4AC8-A2A3-70516E448A4C}"/>
                </a:ext>
              </a:extLst>
            </p:cNvPr>
            <p:cNvSpPr>
              <a:spLocks noChangeArrowheads="1"/>
            </p:cNvSpPr>
            <p:nvPr/>
          </p:nvSpPr>
          <p:spPr bwMode="auto">
            <a:xfrm rot="-3084131">
              <a:off x="3838" y="1758"/>
              <a:ext cx="48" cy="144"/>
            </a:xfrm>
            <a:prstGeom prst="ellipse">
              <a:avLst/>
            </a:prstGeom>
            <a:solidFill>
              <a:srgbClr val="CC9900"/>
            </a:solidFill>
            <a:ln>
              <a:noFill/>
            </a:ln>
            <a:effectLst/>
            <a:extLst>
              <a:ext uri="{91240B29-F687-4F45-9708-019B960494DF}">
                <a14:hiddenLine xmlns:a14="http://schemas.microsoft.com/office/drawing/2010/main" w="31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solidFill>
                  <a:srgbClr val="000000"/>
                </a:solidFill>
              </a:endParaRPr>
            </a:p>
          </p:txBody>
        </p:sp>
        <p:sp>
          <p:nvSpPr>
            <p:cNvPr id="13" name="Oval 54">
              <a:extLst>
                <a:ext uri="{FF2B5EF4-FFF2-40B4-BE49-F238E27FC236}">
                  <a16:creationId xmlns:a16="http://schemas.microsoft.com/office/drawing/2014/main" id="{0E14F932-6366-4A3A-B518-F94B5E03BE03}"/>
                </a:ext>
              </a:extLst>
            </p:cNvPr>
            <p:cNvSpPr>
              <a:spLocks noChangeArrowheads="1"/>
            </p:cNvSpPr>
            <p:nvPr/>
          </p:nvSpPr>
          <p:spPr bwMode="auto">
            <a:xfrm rot="-8086263">
              <a:off x="4572" y="1756"/>
              <a:ext cx="48" cy="144"/>
            </a:xfrm>
            <a:prstGeom prst="ellipse">
              <a:avLst/>
            </a:prstGeom>
            <a:solidFill>
              <a:srgbClr val="CC9900"/>
            </a:solidFill>
            <a:ln>
              <a:noFill/>
            </a:ln>
            <a:effectLst/>
            <a:extLst>
              <a:ext uri="{91240B29-F687-4F45-9708-019B960494DF}">
                <a14:hiddenLine xmlns:a14="http://schemas.microsoft.com/office/drawing/2010/main" w="317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solidFill>
                  <a:srgbClr val="000000"/>
                </a:solidFill>
              </a:endParaRPr>
            </a:p>
          </p:txBody>
        </p:sp>
        <p:sp>
          <p:nvSpPr>
            <p:cNvPr id="14" name="Line 55">
              <a:extLst>
                <a:ext uri="{FF2B5EF4-FFF2-40B4-BE49-F238E27FC236}">
                  <a16:creationId xmlns:a16="http://schemas.microsoft.com/office/drawing/2014/main" id="{3F599D0F-1AB9-4BB8-A31A-866193DEB038}"/>
                </a:ext>
              </a:extLst>
            </p:cNvPr>
            <p:cNvSpPr>
              <a:spLocks noChangeShapeType="1"/>
            </p:cNvSpPr>
            <p:nvPr/>
          </p:nvSpPr>
          <p:spPr bwMode="auto">
            <a:xfrm>
              <a:off x="4588" y="1832"/>
              <a:ext cx="336" cy="240"/>
            </a:xfrm>
            <a:prstGeom prst="line">
              <a:avLst/>
            </a:prstGeom>
            <a:noFill/>
            <a:ln w="381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nvGrpSpPr>
            <p:cNvPr id="15" name="Group 56">
              <a:extLst>
                <a:ext uri="{FF2B5EF4-FFF2-40B4-BE49-F238E27FC236}">
                  <a16:creationId xmlns:a16="http://schemas.microsoft.com/office/drawing/2014/main" id="{03A3875E-4BDB-4F97-9E37-B8140ED66FA6}"/>
                </a:ext>
              </a:extLst>
            </p:cNvPr>
            <p:cNvGrpSpPr>
              <a:grpSpLocks/>
            </p:cNvGrpSpPr>
            <p:nvPr/>
          </p:nvGrpSpPr>
          <p:grpSpPr bwMode="auto">
            <a:xfrm>
              <a:off x="3648" y="1008"/>
              <a:ext cx="1152" cy="960"/>
              <a:chOff x="3648" y="2832"/>
              <a:chExt cx="1152" cy="1008"/>
            </a:xfrm>
          </p:grpSpPr>
          <p:sp>
            <p:nvSpPr>
              <p:cNvPr id="34" name="Oval 57">
                <a:extLst>
                  <a:ext uri="{FF2B5EF4-FFF2-40B4-BE49-F238E27FC236}">
                    <a16:creationId xmlns:a16="http://schemas.microsoft.com/office/drawing/2014/main" id="{BB9BBB8E-1A4F-4FBF-9B5F-D1638A8980E6}"/>
                  </a:ext>
                </a:extLst>
              </p:cNvPr>
              <p:cNvSpPr>
                <a:spLocks noChangeArrowheads="1"/>
              </p:cNvSpPr>
              <p:nvPr/>
            </p:nvSpPr>
            <p:spPr bwMode="auto">
              <a:xfrm>
                <a:off x="3648" y="2832"/>
                <a:ext cx="1152" cy="1008"/>
              </a:xfrm>
              <a:prstGeom prst="ellipse">
                <a:avLst/>
              </a:prstGeom>
              <a:noFill/>
              <a:ln w="1905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400">
                  <a:solidFill>
                    <a:srgbClr val="000000"/>
                  </a:solidFill>
                </a:endParaRPr>
              </a:p>
            </p:txBody>
          </p:sp>
          <p:sp>
            <p:nvSpPr>
              <p:cNvPr id="35" name="Arc 58">
                <a:extLst>
                  <a:ext uri="{FF2B5EF4-FFF2-40B4-BE49-F238E27FC236}">
                    <a16:creationId xmlns:a16="http://schemas.microsoft.com/office/drawing/2014/main" id="{9461F2F8-FCE7-4219-8B14-862CA216747A}"/>
                  </a:ext>
                </a:extLst>
              </p:cNvPr>
              <p:cNvSpPr>
                <a:spLocks/>
              </p:cNvSpPr>
              <p:nvPr/>
            </p:nvSpPr>
            <p:spPr bwMode="auto">
              <a:xfrm flipH="1">
                <a:off x="4032" y="2832"/>
                <a:ext cx="339" cy="1008"/>
              </a:xfrm>
              <a:custGeom>
                <a:avLst/>
                <a:gdLst>
                  <a:gd name="T0" fmla="*/ 0 w 21600"/>
                  <a:gd name="T1" fmla="*/ 0 h 36772"/>
                  <a:gd name="T2" fmla="*/ 0 w 21600"/>
                  <a:gd name="T3" fmla="*/ 0 h 36772"/>
                  <a:gd name="T4" fmla="*/ 0 w 21600"/>
                  <a:gd name="T5" fmla="*/ 0 h 36772"/>
                  <a:gd name="T6" fmla="*/ 0 60000 65536"/>
                  <a:gd name="T7" fmla="*/ 0 60000 65536"/>
                  <a:gd name="T8" fmla="*/ 0 60000 65536"/>
                </a:gdLst>
                <a:ahLst/>
                <a:cxnLst>
                  <a:cxn ang="T6">
                    <a:pos x="T0" y="T1"/>
                  </a:cxn>
                  <a:cxn ang="T7">
                    <a:pos x="T2" y="T3"/>
                  </a:cxn>
                  <a:cxn ang="T8">
                    <a:pos x="T4" y="T5"/>
                  </a:cxn>
                </a:cxnLst>
                <a:rect l="0" t="0" r="r" b="b"/>
                <a:pathLst>
                  <a:path w="21600" h="36772" fill="none" extrusionOk="0">
                    <a:moveTo>
                      <a:pt x="10867" y="-1"/>
                    </a:moveTo>
                    <a:cubicBezTo>
                      <a:pt x="17512" y="3868"/>
                      <a:pt x="21600" y="10977"/>
                      <a:pt x="21600" y="18667"/>
                    </a:cubicBezTo>
                    <a:cubicBezTo>
                      <a:pt x="21600" y="25974"/>
                      <a:pt x="17905" y="32786"/>
                      <a:pt x="11780" y="36772"/>
                    </a:cubicBezTo>
                  </a:path>
                  <a:path w="21600" h="36772" stroke="0" extrusionOk="0">
                    <a:moveTo>
                      <a:pt x="10867" y="-1"/>
                    </a:moveTo>
                    <a:cubicBezTo>
                      <a:pt x="17512" y="3868"/>
                      <a:pt x="21600" y="10977"/>
                      <a:pt x="21600" y="18667"/>
                    </a:cubicBezTo>
                    <a:cubicBezTo>
                      <a:pt x="21600" y="25974"/>
                      <a:pt x="17905" y="32786"/>
                      <a:pt x="11780" y="36772"/>
                    </a:cubicBezTo>
                    <a:lnTo>
                      <a:pt x="0" y="18667"/>
                    </a:lnTo>
                    <a:lnTo>
                      <a:pt x="10867" y="-1"/>
                    </a:lnTo>
                    <a:close/>
                  </a:path>
                </a:pathLst>
              </a:custGeom>
              <a:noFill/>
              <a:ln w="19050">
                <a:solidFill>
                  <a:schemeClr val="tx1"/>
                </a:solidFill>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6" name="Arc 59">
                <a:extLst>
                  <a:ext uri="{FF2B5EF4-FFF2-40B4-BE49-F238E27FC236}">
                    <a16:creationId xmlns:a16="http://schemas.microsoft.com/office/drawing/2014/main" id="{2A255710-05D0-423F-8F6F-649EE90511B7}"/>
                  </a:ext>
                </a:extLst>
              </p:cNvPr>
              <p:cNvSpPr>
                <a:spLocks/>
              </p:cNvSpPr>
              <p:nvPr/>
            </p:nvSpPr>
            <p:spPr bwMode="auto">
              <a:xfrm>
                <a:off x="4080" y="2832"/>
                <a:ext cx="336" cy="1008"/>
              </a:xfrm>
              <a:custGeom>
                <a:avLst/>
                <a:gdLst>
                  <a:gd name="T0" fmla="*/ 0 w 21600"/>
                  <a:gd name="T1" fmla="*/ 0 h 36772"/>
                  <a:gd name="T2" fmla="*/ 0 w 21600"/>
                  <a:gd name="T3" fmla="*/ 0 h 36772"/>
                  <a:gd name="T4" fmla="*/ 0 w 21600"/>
                  <a:gd name="T5" fmla="*/ 0 h 36772"/>
                  <a:gd name="T6" fmla="*/ 0 60000 65536"/>
                  <a:gd name="T7" fmla="*/ 0 60000 65536"/>
                  <a:gd name="T8" fmla="*/ 0 60000 65536"/>
                </a:gdLst>
                <a:ahLst/>
                <a:cxnLst>
                  <a:cxn ang="T6">
                    <a:pos x="T0" y="T1"/>
                  </a:cxn>
                  <a:cxn ang="T7">
                    <a:pos x="T2" y="T3"/>
                  </a:cxn>
                  <a:cxn ang="T8">
                    <a:pos x="T4" y="T5"/>
                  </a:cxn>
                </a:cxnLst>
                <a:rect l="0" t="0" r="r" b="b"/>
                <a:pathLst>
                  <a:path w="21600" h="36772" fill="none" extrusionOk="0">
                    <a:moveTo>
                      <a:pt x="10867" y="-1"/>
                    </a:moveTo>
                    <a:cubicBezTo>
                      <a:pt x="17512" y="3868"/>
                      <a:pt x="21600" y="10977"/>
                      <a:pt x="21600" y="18667"/>
                    </a:cubicBezTo>
                    <a:cubicBezTo>
                      <a:pt x="21600" y="25974"/>
                      <a:pt x="17905" y="32786"/>
                      <a:pt x="11780" y="36772"/>
                    </a:cubicBezTo>
                  </a:path>
                  <a:path w="21600" h="36772" stroke="0" extrusionOk="0">
                    <a:moveTo>
                      <a:pt x="10867" y="-1"/>
                    </a:moveTo>
                    <a:cubicBezTo>
                      <a:pt x="17512" y="3868"/>
                      <a:pt x="21600" y="10977"/>
                      <a:pt x="21600" y="18667"/>
                    </a:cubicBezTo>
                    <a:cubicBezTo>
                      <a:pt x="21600" y="25974"/>
                      <a:pt x="17905" y="32786"/>
                      <a:pt x="11780" y="36772"/>
                    </a:cubicBezTo>
                    <a:lnTo>
                      <a:pt x="0" y="18667"/>
                    </a:lnTo>
                    <a:lnTo>
                      <a:pt x="10867" y="-1"/>
                    </a:lnTo>
                    <a:close/>
                  </a:path>
                </a:pathLst>
              </a:custGeom>
              <a:noFill/>
              <a:ln w="19050" cap="rnd">
                <a:solidFill>
                  <a:schemeClr val="tx1"/>
                </a:solidFill>
                <a:prstDash val="sysDot"/>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grpSp>
        <p:sp>
          <p:nvSpPr>
            <p:cNvPr id="16" name="Line 60">
              <a:extLst>
                <a:ext uri="{FF2B5EF4-FFF2-40B4-BE49-F238E27FC236}">
                  <a16:creationId xmlns:a16="http://schemas.microsoft.com/office/drawing/2014/main" id="{DBD12901-8952-420C-9074-3A943E711C4D}"/>
                </a:ext>
              </a:extLst>
            </p:cNvPr>
            <p:cNvSpPr>
              <a:spLocks noChangeShapeType="1"/>
            </p:cNvSpPr>
            <p:nvPr/>
          </p:nvSpPr>
          <p:spPr bwMode="auto">
            <a:xfrm>
              <a:off x="3792" y="1200"/>
              <a:ext cx="144" cy="0"/>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7" name="Line 61">
              <a:extLst>
                <a:ext uri="{FF2B5EF4-FFF2-40B4-BE49-F238E27FC236}">
                  <a16:creationId xmlns:a16="http://schemas.microsoft.com/office/drawing/2014/main" id="{A976A1F2-4B72-4D0C-BAD1-F098B707DBA7}"/>
                </a:ext>
              </a:extLst>
            </p:cNvPr>
            <p:cNvSpPr>
              <a:spLocks noChangeShapeType="1"/>
            </p:cNvSpPr>
            <p:nvPr/>
          </p:nvSpPr>
          <p:spPr bwMode="auto">
            <a:xfrm>
              <a:off x="3936" y="1200"/>
              <a:ext cx="768" cy="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 name="Line 62">
              <a:extLst>
                <a:ext uri="{FF2B5EF4-FFF2-40B4-BE49-F238E27FC236}">
                  <a16:creationId xmlns:a16="http://schemas.microsoft.com/office/drawing/2014/main" id="{709D8459-52E8-4327-A387-E68E391EA7BB}"/>
                </a:ext>
              </a:extLst>
            </p:cNvPr>
            <p:cNvSpPr>
              <a:spLocks noChangeShapeType="1"/>
            </p:cNvSpPr>
            <p:nvPr/>
          </p:nvSpPr>
          <p:spPr bwMode="auto">
            <a:xfrm>
              <a:off x="3696" y="1536"/>
              <a:ext cx="288" cy="0"/>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9" name="Line 63">
              <a:extLst>
                <a:ext uri="{FF2B5EF4-FFF2-40B4-BE49-F238E27FC236}">
                  <a16:creationId xmlns:a16="http://schemas.microsoft.com/office/drawing/2014/main" id="{90B76545-F717-4645-9A58-BDF5BEE8D7F9}"/>
                </a:ext>
              </a:extLst>
            </p:cNvPr>
            <p:cNvSpPr>
              <a:spLocks noChangeShapeType="1"/>
            </p:cNvSpPr>
            <p:nvPr/>
          </p:nvSpPr>
          <p:spPr bwMode="auto">
            <a:xfrm>
              <a:off x="4032" y="1536"/>
              <a:ext cx="720" cy="0"/>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 name="Line 64">
              <a:extLst>
                <a:ext uri="{FF2B5EF4-FFF2-40B4-BE49-F238E27FC236}">
                  <a16:creationId xmlns:a16="http://schemas.microsoft.com/office/drawing/2014/main" id="{DC61B208-7D07-420E-AFC2-2AA403DAE699}"/>
                </a:ext>
              </a:extLst>
            </p:cNvPr>
            <p:cNvSpPr>
              <a:spLocks noChangeShapeType="1"/>
            </p:cNvSpPr>
            <p:nvPr/>
          </p:nvSpPr>
          <p:spPr bwMode="auto">
            <a:xfrm>
              <a:off x="3792" y="1824"/>
              <a:ext cx="288" cy="0"/>
            </a:xfrm>
            <a:prstGeom prst="line">
              <a:avLst/>
            </a:prstGeom>
            <a:noFill/>
            <a:ln w="12700">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1" name="Line 65">
              <a:extLst>
                <a:ext uri="{FF2B5EF4-FFF2-40B4-BE49-F238E27FC236}">
                  <a16:creationId xmlns:a16="http://schemas.microsoft.com/office/drawing/2014/main" id="{8F256287-AA5D-4540-A16C-6F44B862B29F}"/>
                </a:ext>
              </a:extLst>
            </p:cNvPr>
            <p:cNvSpPr>
              <a:spLocks noChangeShapeType="1"/>
            </p:cNvSpPr>
            <p:nvPr/>
          </p:nvSpPr>
          <p:spPr bwMode="auto">
            <a:xfrm>
              <a:off x="4128" y="1824"/>
              <a:ext cx="528" cy="0"/>
            </a:xfrm>
            <a:prstGeom prst="line">
              <a:avLst/>
            </a:prstGeom>
            <a:noFill/>
            <a:ln w="12700" cap="rnd">
              <a:solidFill>
                <a:schemeClr val="tx1"/>
              </a:solidFill>
              <a:prstDash val="sysDot"/>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22" name="Object 66">
                  <a:extLst>
                    <a:ext uri="{FF2B5EF4-FFF2-40B4-BE49-F238E27FC236}">
                      <a16:creationId xmlns:a16="http://schemas.microsoft.com/office/drawing/2014/main" id="{B0157B16-61BC-4686-90E7-BF2D48F70EB8}"/>
                    </a:ext>
                  </a:extLst>
                </p:cNvPr>
                <p:cNvSpPr txBox="1"/>
                <p:nvPr/>
              </p:nvSpPr>
              <p:spPr bwMode="auto">
                <a:xfrm>
                  <a:off x="3216" y="2112"/>
                  <a:ext cx="336" cy="33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𝑑</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𝑆</m:t>
                            </m:r>
                          </m:e>
                        </m:acc>
                      </m:oMath>
                    </m:oMathPara>
                  </a14:m>
                  <a:endParaRPr lang="en-US"/>
                </a:p>
              </p:txBody>
            </p:sp>
          </mc:Choice>
          <mc:Fallback xmlns="">
            <p:sp>
              <p:nvSpPr>
                <p:cNvPr id="22" name="Object 66">
                  <a:extLst>
                    <a:ext uri="{FF2B5EF4-FFF2-40B4-BE49-F238E27FC236}">
                      <a16:creationId xmlns:a16="http://schemas.microsoft.com/office/drawing/2014/main" id="{B0157B16-61BC-4686-90E7-BF2D48F70EB8}"/>
                    </a:ext>
                  </a:extLst>
                </p:cNvPr>
                <p:cNvSpPr txBox="1">
                  <a:spLocks noRot="1" noChangeAspect="1" noMove="1" noResize="1" noEditPoints="1" noAdjustHandles="1" noChangeArrowheads="1" noChangeShapeType="1" noTextEdit="1"/>
                </p:cNvSpPr>
                <p:nvPr/>
              </p:nvSpPr>
              <p:spPr bwMode="auto">
                <a:xfrm>
                  <a:off x="3216" y="2112"/>
                  <a:ext cx="336" cy="336"/>
                </a:xfrm>
                <a:prstGeom prst="rect">
                  <a:avLst/>
                </a:prstGeom>
                <a:blipFill>
                  <a:blip r:embed="rId5"/>
                  <a:stretch>
                    <a:fillRect t="-16092" r="-47727"/>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Object 67">
                  <a:extLst>
                    <a:ext uri="{FF2B5EF4-FFF2-40B4-BE49-F238E27FC236}">
                      <a16:creationId xmlns:a16="http://schemas.microsoft.com/office/drawing/2014/main" id="{B4487688-EE8A-4BD0-987B-AE0D2B3BF954}"/>
                    </a:ext>
                  </a:extLst>
                </p:cNvPr>
                <p:cNvSpPr txBox="1"/>
                <p:nvPr/>
              </p:nvSpPr>
              <p:spPr bwMode="auto">
                <a:xfrm>
                  <a:off x="4848" y="2039"/>
                  <a:ext cx="336" cy="31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𝑑</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𝑆</m:t>
                            </m:r>
                          </m:e>
                        </m:acc>
                      </m:oMath>
                    </m:oMathPara>
                  </a14:m>
                  <a:endParaRPr lang="en-US"/>
                </a:p>
              </p:txBody>
            </p:sp>
          </mc:Choice>
          <mc:Fallback xmlns="">
            <p:sp>
              <p:nvSpPr>
                <p:cNvPr id="23" name="Object 67">
                  <a:extLst>
                    <a:ext uri="{FF2B5EF4-FFF2-40B4-BE49-F238E27FC236}">
                      <a16:creationId xmlns:a16="http://schemas.microsoft.com/office/drawing/2014/main" id="{B4487688-EE8A-4BD0-987B-AE0D2B3BF954}"/>
                    </a:ext>
                  </a:extLst>
                </p:cNvPr>
                <p:cNvSpPr txBox="1">
                  <a:spLocks noRot="1" noChangeAspect="1" noMove="1" noResize="1" noEditPoints="1" noAdjustHandles="1" noChangeArrowheads="1" noChangeShapeType="1" noTextEdit="1"/>
                </p:cNvSpPr>
                <p:nvPr/>
              </p:nvSpPr>
              <p:spPr bwMode="auto">
                <a:xfrm>
                  <a:off x="4848" y="2039"/>
                  <a:ext cx="336" cy="313"/>
                </a:xfrm>
                <a:prstGeom prst="rect">
                  <a:avLst/>
                </a:prstGeom>
                <a:blipFill>
                  <a:blip r:embed="rId6"/>
                  <a:stretch>
                    <a:fillRect t="-17284" r="-47727"/>
                  </a:stretch>
                </a:blipFill>
                <a:ln>
                  <a:noFill/>
                </a:ln>
                <a:effectLst/>
                <a:extLst/>
              </p:spPr>
              <p:txBody>
                <a:bodyPr/>
                <a:lstStyle/>
                <a:p>
                  <a:r>
                    <a:rPr lang="en-US">
                      <a:noFill/>
                    </a:rPr>
                    <a:t> </a:t>
                  </a:r>
                </a:p>
              </p:txBody>
            </p:sp>
          </mc:Fallback>
        </mc:AlternateContent>
        <p:sp>
          <p:nvSpPr>
            <p:cNvPr id="24" name="Line 68">
              <a:extLst>
                <a:ext uri="{FF2B5EF4-FFF2-40B4-BE49-F238E27FC236}">
                  <a16:creationId xmlns:a16="http://schemas.microsoft.com/office/drawing/2014/main" id="{A2FC0874-4098-4C95-A88E-82D86A14E2C5}"/>
                </a:ext>
              </a:extLst>
            </p:cNvPr>
            <p:cNvSpPr>
              <a:spLocks noChangeShapeType="1"/>
            </p:cNvSpPr>
            <p:nvPr/>
          </p:nvSpPr>
          <p:spPr bwMode="auto">
            <a:xfrm flipH="1">
              <a:off x="3438" y="1832"/>
              <a:ext cx="432" cy="288"/>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mc:AlternateContent xmlns:mc="http://schemas.openxmlformats.org/markup-compatibility/2006" xmlns:a14="http://schemas.microsoft.com/office/drawing/2010/main">
          <mc:Choice Requires="a14">
            <p:sp>
              <p:nvSpPr>
                <p:cNvPr id="25" name="Object 69">
                  <a:extLst>
                    <a:ext uri="{FF2B5EF4-FFF2-40B4-BE49-F238E27FC236}">
                      <a16:creationId xmlns:a16="http://schemas.microsoft.com/office/drawing/2014/main" id="{3B7776E7-54DD-4229-B274-4AB934E70560}"/>
                    </a:ext>
                  </a:extLst>
                </p:cNvPr>
                <p:cNvSpPr txBox="1"/>
                <p:nvPr/>
              </p:nvSpPr>
              <p:spPr bwMode="auto">
                <a:xfrm>
                  <a:off x="5040" y="816"/>
                  <a:ext cx="247" cy="304"/>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𝐸</m:t>
                            </m:r>
                          </m:e>
                        </m:acc>
                      </m:oMath>
                    </m:oMathPara>
                  </a14:m>
                  <a:endParaRPr lang="en-US"/>
                </a:p>
              </p:txBody>
            </p:sp>
          </mc:Choice>
          <mc:Fallback xmlns="">
            <p:sp>
              <p:nvSpPr>
                <p:cNvPr id="25" name="Object 69">
                  <a:extLst>
                    <a:ext uri="{FF2B5EF4-FFF2-40B4-BE49-F238E27FC236}">
                      <a16:creationId xmlns:a16="http://schemas.microsoft.com/office/drawing/2014/main" id="{3B7776E7-54DD-4229-B274-4AB934E70560}"/>
                    </a:ext>
                  </a:extLst>
                </p:cNvPr>
                <p:cNvSpPr txBox="1">
                  <a:spLocks noRot="1" noChangeAspect="1" noMove="1" noResize="1" noEditPoints="1" noAdjustHandles="1" noChangeArrowheads="1" noChangeShapeType="1" noTextEdit="1"/>
                </p:cNvSpPr>
                <p:nvPr/>
              </p:nvSpPr>
              <p:spPr bwMode="auto">
                <a:xfrm>
                  <a:off x="5040" y="816"/>
                  <a:ext cx="247" cy="304"/>
                </a:xfrm>
                <a:prstGeom prst="rect">
                  <a:avLst/>
                </a:prstGeom>
                <a:blipFill>
                  <a:blip r:embed="rId7"/>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Object 70">
                  <a:extLst>
                    <a:ext uri="{FF2B5EF4-FFF2-40B4-BE49-F238E27FC236}">
                      <a16:creationId xmlns:a16="http://schemas.microsoft.com/office/drawing/2014/main" id="{5A3EA1F1-BD7E-4490-8AF1-DD27D5C66A43}"/>
                    </a:ext>
                  </a:extLst>
                </p:cNvPr>
                <p:cNvSpPr txBox="1"/>
                <p:nvPr/>
              </p:nvSpPr>
              <p:spPr bwMode="auto">
                <a:xfrm>
                  <a:off x="3914" y="770"/>
                  <a:ext cx="247" cy="28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a:p>
              </p:txBody>
            </p:sp>
          </mc:Choice>
          <mc:Fallback xmlns="">
            <p:sp>
              <p:nvSpPr>
                <p:cNvPr id="26" name="Object 70">
                  <a:extLst>
                    <a:ext uri="{FF2B5EF4-FFF2-40B4-BE49-F238E27FC236}">
                      <a16:creationId xmlns:a16="http://schemas.microsoft.com/office/drawing/2014/main" id="{5A3EA1F1-BD7E-4490-8AF1-DD27D5C66A43}"/>
                    </a:ext>
                  </a:extLst>
                </p:cNvPr>
                <p:cNvSpPr txBox="1">
                  <a:spLocks noRot="1" noChangeAspect="1" noMove="1" noResize="1" noEditPoints="1" noAdjustHandles="1" noChangeArrowheads="1" noChangeShapeType="1" noTextEdit="1"/>
                </p:cNvSpPr>
                <p:nvPr/>
              </p:nvSpPr>
              <p:spPr bwMode="auto">
                <a:xfrm>
                  <a:off x="3914" y="770"/>
                  <a:ext cx="247" cy="288"/>
                </a:xfrm>
                <a:prstGeom prst="rect">
                  <a:avLst/>
                </a:prstGeom>
                <a:blipFill>
                  <a:blip r:embed="rId8"/>
                  <a:stretch>
                    <a:fillRect/>
                  </a:stretch>
                </a:blipFill>
                <a:ln>
                  <a:noFill/>
                </a:ln>
                <a:effectLst/>
                <a:extLst/>
              </p:spPr>
              <p:txBody>
                <a:bodyPr/>
                <a:lstStyle/>
                <a:p>
                  <a:r>
                    <a:rPr lang="en-US">
                      <a:noFill/>
                    </a:rPr>
                    <a:t> </a:t>
                  </a:r>
                </a:p>
              </p:txBody>
            </p:sp>
          </mc:Fallback>
        </mc:AlternateContent>
        <p:sp>
          <p:nvSpPr>
            <p:cNvPr id="27" name="Line 71">
              <a:extLst>
                <a:ext uri="{FF2B5EF4-FFF2-40B4-BE49-F238E27FC236}">
                  <a16:creationId xmlns:a16="http://schemas.microsoft.com/office/drawing/2014/main" id="{2C517F7B-844A-449B-BD2D-EC408F7CB07B}"/>
                </a:ext>
              </a:extLst>
            </p:cNvPr>
            <p:cNvSpPr>
              <a:spLocks noChangeShapeType="1"/>
            </p:cNvSpPr>
            <p:nvPr/>
          </p:nvSpPr>
          <p:spPr bwMode="auto">
            <a:xfrm>
              <a:off x="3312" y="1824"/>
              <a:ext cx="725"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28" name="Line 72">
              <a:extLst>
                <a:ext uri="{FF2B5EF4-FFF2-40B4-BE49-F238E27FC236}">
                  <a16:creationId xmlns:a16="http://schemas.microsoft.com/office/drawing/2014/main" id="{330BC753-58D0-4E16-9D69-562BEF87B576}"/>
                </a:ext>
              </a:extLst>
            </p:cNvPr>
            <p:cNvSpPr>
              <a:spLocks noChangeShapeType="1"/>
            </p:cNvSpPr>
            <p:nvPr/>
          </p:nvSpPr>
          <p:spPr bwMode="auto">
            <a:xfrm>
              <a:off x="3226" y="1544"/>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29" name="Line 73">
              <a:extLst>
                <a:ext uri="{FF2B5EF4-FFF2-40B4-BE49-F238E27FC236}">
                  <a16:creationId xmlns:a16="http://schemas.microsoft.com/office/drawing/2014/main" id="{93E2C564-3379-4924-85EB-7FE8DDEFF62F}"/>
                </a:ext>
              </a:extLst>
            </p:cNvPr>
            <p:cNvSpPr>
              <a:spLocks noChangeShapeType="1"/>
            </p:cNvSpPr>
            <p:nvPr/>
          </p:nvSpPr>
          <p:spPr bwMode="auto">
            <a:xfrm>
              <a:off x="3168" y="1200"/>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31" name="Line 75">
              <a:extLst>
                <a:ext uri="{FF2B5EF4-FFF2-40B4-BE49-F238E27FC236}">
                  <a16:creationId xmlns:a16="http://schemas.microsoft.com/office/drawing/2014/main" id="{C2025A28-1129-4FF4-AFA2-CFDE56ED1F22}"/>
                </a:ext>
              </a:extLst>
            </p:cNvPr>
            <p:cNvSpPr>
              <a:spLocks noChangeShapeType="1"/>
            </p:cNvSpPr>
            <p:nvPr/>
          </p:nvSpPr>
          <p:spPr bwMode="auto">
            <a:xfrm>
              <a:off x="4464" y="1210"/>
              <a:ext cx="720"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32" name="Line 76">
              <a:extLst>
                <a:ext uri="{FF2B5EF4-FFF2-40B4-BE49-F238E27FC236}">
                  <a16:creationId xmlns:a16="http://schemas.microsoft.com/office/drawing/2014/main" id="{CB013241-4174-4431-8E9E-F2EF42AAF021}"/>
                </a:ext>
              </a:extLst>
            </p:cNvPr>
            <p:cNvSpPr>
              <a:spLocks noChangeShapeType="1"/>
            </p:cNvSpPr>
            <p:nvPr/>
          </p:nvSpPr>
          <p:spPr bwMode="auto">
            <a:xfrm>
              <a:off x="4560" y="1536"/>
              <a:ext cx="624"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sp>
          <p:nvSpPr>
            <p:cNvPr id="33" name="Line 77">
              <a:extLst>
                <a:ext uri="{FF2B5EF4-FFF2-40B4-BE49-F238E27FC236}">
                  <a16:creationId xmlns:a16="http://schemas.microsoft.com/office/drawing/2014/main" id="{353FDB01-AD02-4578-96C7-1176BF745DAC}"/>
                </a:ext>
              </a:extLst>
            </p:cNvPr>
            <p:cNvSpPr>
              <a:spLocks noChangeShapeType="1"/>
            </p:cNvSpPr>
            <p:nvPr/>
          </p:nvSpPr>
          <p:spPr bwMode="auto">
            <a:xfrm>
              <a:off x="4608" y="1824"/>
              <a:ext cx="576" cy="0"/>
            </a:xfrm>
            <a:prstGeom prst="line">
              <a:avLst/>
            </a:prstGeom>
            <a:noFill/>
            <a:ln w="2857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a:p>
          </p:txBody>
        </p: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 Box 2"/>
          <p:cNvSpPr txBox="1"/>
          <p:nvPr/>
        </p:nvSpPr>
        <p:spPr>
          <a:xfrm>
            <a:off x="1355725" y="404812"/>
            <a:ext cx="9702800" cy="1260475"/>
          </a:xfrm>
          <a:prstGeom prst="rect">
            <a:avLst/>
          </a:prstGeom>
          <a:noFill/>
          <a:ln w="9525">
            <a:noFill/>
          </a:ln>
        </p:spPr>
        <p:txBody>
          <a:bodyPr wrap="square">
            <a:spAutoFit/>
          </a:bodyPr>
          <a:lstStyle/>
          <a:p>
            <a:pPr>
              <a:lnSpc>
                <a:spcPct val="120000"/>
              </a:lnSpc>
            </a:pPr>
            <a:r>
              <a:rPr lang="en-US" altLang="zh-CN" sz="2800" dirty="0">
                <a:latin typeface="Times New Roman" panose="02020603050405020304" pitchFamily="18" charset="0"/>
              </a:rPr>
              <a:t>      </a:t>
            </a:r>
            <a:r>
              <a:rPr lang="zh-CN" altLang="en-US" sz="3200" dirty="0">
                <a:latin typeface="Times New Roman" panose="02020603050405020304" pitchFamily="18" charset="0"/>
              </a:rPr>
              <a:t>例</a:t>
            </a:r>
            <a:r>
              <a:rPr lang="en-US" altLang="zh-CN" sz="3200" dirty="0">
                <a:latin typeface="Times New Roman" panose="02020603050405020304" pitchFamily="18" charset="0"/>
              </a:rPr>
              <a:t>   </a:t>
            </a:r>
            <a:r>
              <a:rPr lang="zh-CN" altLang="en-US" sz="3200" dirty="0">
                <a:latin typeface="Times New Roman" panose="02020603050405020304" pitchFamily="18" charset="0"/>
              </a:rPr>
              <a:t>三棱柱体放置在如图所示的匀强电场中。</a:t>
            </a:r>
            <a:r>
              <a:rPr lang="en-US" altLang="zh-CN" sz="3200" dirty="0">
                <a:latin typeface="Times New Roman" panose="02020603050405020304" pitchFamily="18" charset="0"/>
              </a:rPr>
              <a:t>  </a:t>
            </a:r>
            <a:r>
              <a:rPr lang="zh-CN" altLang="en-US" sz="3200" dirty="0">
                <a:latin typeface="Times New Roman" panose="02020603050405020304" pitchFamily="18" charset="0"/>
              </a:rPr>
              <a:t>求通过此三棱柱体的电场强度通量。</a:t>
            </a:r>
            <a:endParaRPr lang="en-US" altLang="zh-CN" sz="3200" dirty="0">
              <a:latin typeface="Times New Roman" panose="02020603050405020304" pitchFamily="18" charset="0"/>
            </a:endParaRPr>
          </a:p>
        </p:txBody>
      </p:sp>
      <mc:AlternateContent xmlns:mc="http://schemas.openxmlformats.org/markup-compatibility/2006" xmlns:a14="http://schemas.microsoft.com/office/drawing/2010/main">
        <mc:Choice Requires="a14">
          <p:sp>
            <p:nvSpPr>
              <p:cNvPr id="619524" name="Object 4"/>
              <p:cNvSpPr txBox="1"/>
              <p:nvPr/>
            </p:nvSpPr>
            <p:spPr>
              <a:xfrm>
                <a:off x="1672951" y="2616200"/>
                <a:ext cx="2419350" cy="12303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m:rPr>
                              <m:sty m:val="p"/>
                            </m:rPr>
                            <a:rPr lang="en-US" sz="3000" i="0">
                              <a:solidFill>
                                <a:srgbClr val="000000"/>
                              </a:solidFill>
                              <a:latin typeface="Cambria Math" panose="02040503050406030204" pitchFamily="18" charset="0"/>
                            </a:rPr>
                            <m:t>e</m:t>
                          </m:r>
                        </m:sub>
                      </m:sSub>
                      <m:r>
                        <a:rPr lang="en-US" sz="3000" i="1">
                          <a:solidFill>
                            <a:srgbClr val="000000"/>
                          </a:solidFill>
                          <a:latin typeface="Cambria Math" panose="02040503050406030204" pitchFamily="18" charset="0"/>
                        </a:rPr>
                        <m:t>=</m:t>
                      </m:r>
                      <m:nary>
                        <m:naryPr>
                          <m:chr m:val="∑"/>
                          <m:ctrlPr>
                            <a:rPr lang="en-US" sz="3000" i="1">
                              <a:solidFill>
                                <a:srgbClr val="000000"/>
                              </a:solidFill>
                              <a:latin typeface="Cambria Math" panose="02040503050406030204" pitchFamily="18" charset="0"/>
                            </a:rPr>
                          </m:ctrlPr>
                        </m:naryPr>
                        <m:sub>
                          <m:r>
                            <a:rPr lang="en-US" sz="3000" i="1">
                              <a:solidFill>
                                <a:srgbClr val="000000"/>
                              </a:solidFill>
                              <a:latin typeface="Cambria Math" panose="02040503050406030204" pitchFamily="18" charset="0"/>
                            </a:rPr>
                            <m:t>𝑖</m:t>
                          </m:r>
                          <m:r>
                            <a:rPr lang="en-US" sz="3000" i="1">
                              <a:solidFill>
                                <a:srgbClr val="000000"/>
                              </a:solidFill>
                              <a:latin typeface="Cambria Math" panose="02040503050406030204" pitchFamily="18" charset="0"/>
                            </a:rPr>
                            <m:t>=1</m:t>
                          </m:r>
                        </m:sub>
                        <m:sup>
                          <m:r>
                            <a:rPr lang="en-US" sz="3000" i="1">
                              <a:solidFill>
                                <a:srgbClr val="000000"/>
                              </a:solidFill>
                              <a:latin typeface="Cambria Math" panose="02040503050406030204" pitchFamily="18" charset="0"/>
                            </a:rPr>
                            <m:t>5</m:t>
                          </m:r>
                        </m:sup>
                        <m:e>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m:rPr>
                                  <m:sty m:val="p"/>
                                </m:rPr>
                                <a:rPr lang="en-US" sz="3000" i="0">
                                  <a:solidFill>
                                    <a:srgbClr val="000000"/>
                                  </a:solidFill>
                                  <a:latin typeface="Cambria Math" panose="02040503050406030204" pitchFamily="18" charset="0"/>
                                </a:rPr>
                                <m:t>e</m:t>
                              </m:r>
                              <m:r>
                                <a:rPr lang="en-US" sz="3000" i="1">
                                  <a:solidFill>
                                    <a:srgbClr val="000000"/>
                                  </a:solidFill>
                                  <a:latin typeface="Cambria Math" panose="02040503050406030204" pitchFamily="18" charset="0"/>
                                </a:rPr>
                                <m:t>𝑖</m:t>
                              </m:r>
                            </m:sub>
                          </m:sSub>
                        </m:e>
                      </m:nary>
                    </m:oMath>
                  </m:oMathPara>
                </a14:m>
                <a:endParaRPr lang="en-US" sz="3000" dirty="0"/>
              </a:p>
            </p:txBody>
          </p:sp>
        </mc:Choice>
        <mc:Fallback xmlns="">
          <p:sp>
            <p:nvSpPr>
              <p:cNvPr id="619524" name="Object 4"/>
              <p:cNvSpPr txBox="1">
                <a:spLocks noRot="1" noChangeAspect="1" noMove="1" noResize="1" noEditPoints="1" noAdjustHandles="1" noChangeArrowheads="1" noChangeShapeType="1" noTextEdit="1"/>
              </p:cNvSpPr>
              <p:nvPr/>
            </p:nvSpPr>
            <p:spPr>
              <a:xfrm>
                <a:off x="1672951" y="2616200"/>
                <a:ext cx="2419350" cy="1230313"/>
              </a:xfrm>
              <a:prstGeom prst="rect">
                <a:avLst/>
              </a:prstGeom>
              <a:blipFill>
                <a:blip r:embed="rId2"/>
                <a:stretch>
                  <a:fillRect b="-8911"/>
                </a:stretch>
              </a:blipFill>
              <a:ln w="38100">
                <a:noFill/>
                <a:miter/>
              </a:ln>
            </p:spPr>
            <p:txBody>
              <a:bodyPr/>
              <a:lstStyle/>
              <a:p>
                <a:r>
                  <a:rPr lang="en-US">
                    <a:noFill/>
                  </a:rPr>
                  <a:t> </a:t>
                </a:r>
              </a:p>
            </p:txBody>
          </p:sp>
        </mc:Fallback>
      </mc:AlternateContent>
      <p:sp>
        <p:nvSpPr>
          <p:cNvPr id="53253" name="Rectangle 5"/>
          <p:cNvSpPr/>
          <p:nvPr/>
        </p:nvSpPr>
        <p:spPr>
          <a:xfrm>
            <a:off x="7264400" y="1828800"/>
            <a:ext cx="4191000" cy="3048000"/>
          </a:xfrm>
          <a:prstGeom prst="rect">
            <a:avLst/>
          </a:prstGeom>
          <a:solidFill>
            <a:schemeClr val="bg1"/>
          </a:solidFill>
          <a:ln w="9525" cap="flat" cmpd="sng">
            <a:noFill/>
            <a:prstDash val="solid"/>
            <a:miter/>
            <a:headEnd type="none" w="med" len="med"/>
            <a:tailEnd type="none" w="sm" len="lg"/>
          </a:ln>
        </p:spPr>
        <p:txBody>
          <a:bodyPr wrap="none" anchor="ctr" anchorCtr="0"/>
          <a:lstStyle/>
          <a:p>
            <a:pPr eaLnBrk="0" hangingPunct="0"/>
            <a:endParaRPr lang="zh-CN" altLang="en-US" sz="2400" dirty="0">
              <a:latin typeface="Bookman Old Style" panose="02050604050505020204" pitchFamily="18" charset="0"/>
            </a:endParaRPr>
          </a:p>
        </p:txBody>
      </p:sp>
      <p:sp>
        <p:nvSpPr>
          <p:cNvPr id="53254" name="Line 6"/>
          <p:cNvSpPr/>
          <p:nvPr/>
        </p:nvSpPr>
        <p:spPr>
          <a:xfrm flipV="1">
            <a:off x="8623300" y="3795714"/>
            <a:ext cx="2514600" cy="14287"/>
          </a:xfrm>
          <a:prstGeom prst="line">
            <a:avLst/>
          </a:prstGeom>
          <a:ln w="19050" cap="flat" cmpd="sng">
            <a:solidFill>
              <a:schemeClr val="tx1"/>
            </a:solidFill>
            <a:prstDash val="dash"/>
            <a:headEnd type="none" w="med" len="med"/>
            <a:tailEnd type="triangle" w="sm" len="lg"/>
          </a:ln>
        </p:spPr>
      </p:sp>
      <p:sp>
        <p:nvSpPr>
          <p:cNvPr id="53255" name="Line 7"/>
          <p:cNvSpPr/>
          <p:nvPr/>
        </p:nvSpPr>
        <p:spPr>
          <a:xfrm flipV="1">
            <a:off x="8609013" y="1981200"/>
            <a:ext cx="0" cy="1828800"/>
          </a:xfrm>
          <a:prstGeom prst="line">
            <a:avLst/>
          </a:prstGeom>
          <a:ln w="19050" cap="flat" cmpd="sng">
            <a:solidFill>
              <a:schemeClr val="tx1"/>
            </a:solidFill>
            <a:prstDash val="dash"/>
            <a:headEnd type="none" w="med" len="med"/>
            <a:tailEnd type="triangle" w="sm" len="lg"/>
          </a:ln>
        </p:spPr>
      </p:sp>
      <p:sp>
        <p:nvSpPr>
          <p:cNvPr id="53256" name="Line 8"/>
          <p:cNvSpPr/>
          <p:nvPr/>
        </p:nvSpPr>
        <p:spPr>
          <a:xfrm flipH="1">
            <a:off x="7708901" y="3810000"/>
            <a:ext cx="900113" cy="762000"/>
          </a:xfrm>
          <a:prstGeom prst="line">
            <a:avLst/>
          </a:prstGeom>
          <a:ln w="19050" cap="flat" cmpd="sng">
            <a:solidFill>
              <a:schemeClr val="tx1"/>
            </a:solidFill>
            <a:prstDash val="dash"/>
            <a:headEnd type="none" w="med" len="med"/>
            <a:tailEnd type="triangle" w="sm" len="lg"/>
          </a:ln>
        </p:spPr>
      </p:sp>
      <mc:AlternateContent xmlns:mc="http://schemas.openxmlformats.org/markup-compatibility/2006" xmlns:a14="http://schemas.microsoft.com/office/drawing/2010/main">
        <mc:Choice Requires="a14">
          <p:sp>
            <p:nvSpPr>
              <p:cNvPr id="53257" name="Object 9"/>
              <p:cNvSpPr txBox="1"/>
              <p:nvPr/>
            </p:nvSpPr>
            <p:spPr>
              <a:xfrm>
                <a:off x="10909300" y="3810000"/>
                <a:ext cx="414338" cy="4572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𝑥</m:t>
                      </m:r>
                    </m:oMath>
                  </m:oMathPara>
                </a14:m>
                <a:endParaRPr lang="en-US" sz="2400"/>
              </a:p>
            </p:txBody>
          </p:sp>
        </mc:Choice>
        <mc:Fallback xmlns="">
          <p:sp>
            <p:nvSpPr>
              <p:cNvPr id="53257" name="Object 9"/>
              <p:cNvSpPr txBox="1">
                <a:spLocks noRot="1" noChangeAspect="1" noMove="1" noResize="1" noEditPoints="1" noAdjustHandles="1" noChangeArrowheads="1" noChangeShapeType="1" noTextEdit="1"/>
              </p:cNvSpPr>
              <p:nvPr/>
            </p:nvSpPr>
            <p:spPr>
              <a:xfrm>
                <a:off x="10909300" y="3810000"/>
                <a:ext cx="414338" cy="457200"/>
              </a:xfrm>
              <a:prstGeom prst="rect">
                <a:avLst/>
              </a:prstGeom>
              <a:blipFill>
                <a:blip r:embed="rId3"/>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258" name="Object 10"/>
              <p:cNvSpPr txBox="1"/>
              <p:nvPr/>
            </p:nvSpPr>
            <p:spPr>
              <a:xfrm>
                <a:off x="8166100" y="1981200"/>
                <a:ext cx="387350" cy="4572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𝑦</m:t>
                      </m:r>
                    </m:oMath>
                  </m:oMathPara>
                </a14:m>
                <a:endParaRPr lang="en-US" sz="2400"/>
              </a:p>
            </p:txBody>
          </p:sp>
        </mc:Choice>
        <mc:Fallback xmlns="">
          <p:sp>
            <p:nvSpPr>
              <p:cNvPr id="53258" name="Object 10"/>
              <p:cNvSpPr txBox="1">
                <a:spLocks noRot="1" noChangeAspect="1" noMove="1" noResize="1" noEditPoints="1" noAdjustHandles="1" noChangeArrowheads="1" noChangeShapeType="1" noTextEdit="1"/>
              </p:cNvSpPr>
              <p:nvPr/>
            </p:nvSpPr>
            <p:spPr>
              <a:xfrm>
                <a:off x="8166100" y="1981200"/>
                <a:ext cx="387350" cy="457200"/>
              </a:xfrm>
              <a:prstGeom prst="rect">
                <a:avLst/>
              </a:prstGeom>
              <a:blipFill>
                <a:blip r:embed="rId4"/>
                <a:stretch>
                  <a:fillRect l="-1587" b="-1200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259" name="Object 11"/>
              <p:cNvSpPr txBox="1"/>
              <p:nvPr/>
            </p:nvSpPr>
            <p:spPr>
              <a:xfrm>
                <a:off x="7327900" y="4419600"/>
                <a:ext cx="381000" cy="381000"/>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𝑧</m:t>
                      </m:r>
                    </m:oMath>
                  </m:oMathPara>
                </a14:m>
                <a:endParaRPr lang="en-US" sz="2400"/>
              </a:p>
            </p:txBody>
          </p:sp>
        </mc:Choice>
        <mc:Fallback xmlns="">
          <p:sp>
            <p:nvSpPr>
              <p:cNvPr id="53259" name="Object 11"/>
              <p:cNvSpPr txBox="1">
                <a:spLocks noRot="1" noChangeAspect="1" noMove="1" noResize="1" noEditPoints="1" noAdjustHandles="1" noChangeArrowheads="1" noChangeShapeType="1" noTextEdit="1"/>
              </p:cNvSpPr>
              <p:nvPr/>
            </p:nvSpPr>
            <p:spPr>
              <a:xfrm>
                <a:off x="7327900" y="4419600"/>
                <a:ext cx="381000" cy="381000"/>
              </a:xfrm>
              <a:prstGeom prst="rect">
                <a:avLst/>
              </a:prstGeom>
              <a:blipFill>
                <a:blip r:embed="rId5"/>
                <a:stretch>
                  <a:fillRect b="-7937"/>
                </a:stretch>
              </a:blipFill>
              <a:ln w="38100">
                <a:noFill/>
                <a:miter/>
              </a:ln>
            </p:spPr>
            <p:txBody>
              <a:bodyPr/>
              <a:lstStyle/>
              <a:p>
                <a:r>
                  <a:rPr lang="en-US">
                    <a:noFill/>
                  </a:rPr>
                  <a:t> </a:t>
                </a:r>
              </a:p>
            </p:txBody>
          </p:sp>
        </mc:Fallback>
      </mc:AlternateContent>
      <p:sp>
        <p:nvSpPr>
          <p:cNvPr id="53260" name="Line 12"/>
          <p:cNvSpPr/>
          <p:nvPr/>
        </p:nvSpPr>
        <p:spPr>
          <a:xfrm>
            <a:off x="7708900" y="2971800"/>
            <a:ext cx="533400" cy="0"/>
          </a:xfrm>
          <a:prstGeom prst="line">
            <a:avLst/>
          </a:prstGeom>
          <a:ln w="28575" cap="flat" cmpd="sng">
            <a:solidFill>
              <a:srgbClr val="FF0000"/>
            </a:solidFill>
            <a:prstDash val="solid"/>
            <a:headEnd type="none" w="med" len="med"/>
            <a:tailEnd type="none" w="sm" len="lg"/>
          </a:ln>
        </p:spPr>
      </p:sp>
      <p:sp>
        <p:nvSpPr>
          <p:cNvPr id="53261" name="Line 13"/>
          <p:cNvSpPr/>
          <p:nvPr/>
        </p:nvSpPr>
        <p:spPr>
          <a:xfrm>
            <a:off x="7708900" y="3505200"/>
            <a:ext cx="533400" cy="0"/>
          </a:xfrm>
          <a:prstGeom prst="line">
            <a:avLst/>
          </a:prstGeom>
          <a:ln w="28575" cap="flat" cmpd="sng">
            <a:solidFill>
              <a:srgbClr val="FF0000"/>
            </a:solidFill>
            <a:prstDash val="solid"/>
            <a:headEnd type="none" w="med" len="med"/>
            <a:tailEnd type="none" w="sm" len="lg"/>
          </a:ln>
        </p:spPr>
      </p:sp>
      <p:sp>
        <p:nvSpPr>
          <p:cNvPr id="53262" name="Line 14"/>
          <p:cNvSpPr/>
          <p:nvPr/>
        </p:nvSpPr>
        <p:spPr>
          <a:xfrm>
            <a:off x="7708900" y="4038600"/>
            <a:ext cx="533400" cy="0"/>
          </a:xfrm>
          <a:prstGeom prst="line">
            <a:avLst/>
          </a:prstGeom>
          <a:ln w="28575" cap="flat" cmpd="sng">
            <a:solidFill>
              <a:srgbClr val="FF0000"/>
            </a:solidFill>
            <a:prstDash val="solid"/>
            <a:headEnd type="none" w="med" len="med"/>
            <a:tailEnd type="none" w="sm" len="lg"/>
          </a:ln>
        </p:spPr>
      </p:sp>
      <p:sp>
        <p:nvSpPr>
          <p:cNvPr id="53263" name="Line 15"/>
          <p:cNvSpPr/>
          <p:nvPr/>
        </p:nvSpPr>
        <p:spPr>
          <a:xfrm>
            <a:off x="8318500" y="2971800"/>
            <a:ext cx="762000" cy="0"/>
          </a:xfrm>
          <a:prstGeom prst="line">
            <a:avLst/>
          </a:prstGeom>
          <a:ln w="28575" cap="flat" cmpd="sng">
            <a:solidFill>
              <a:srgbClr val="FF0000"/>
            </a:solidFill>
            <a:prstDash val="dash"/>
            <a:headEnd type="none" w="med" len="med"/>
            <a:tailEnd type="none" w="sm" len="lg"/>
          </a:ln>
        </p:spPr>
      </p:sp>
      <p:sp>
        <p:nvSpPr>
          <p:cNvPr id="53264" name="Line 16"/>
          <p:cNvSpPr/>
          <p:nvPr/>
        </p:nvSpPr>
        <p:spPr>
          <a:xfrm>
            <a:off x="8394700" y="4038600"/>
            <a:ext cx="1524000" cy="0"/>
          </a:xfrm>
          <a:prstGeom prst="line">
            <a:avLst/>
          </a:prstGeom>
          <a:ln w="28575" cap="flat" cmpd="sng">
            <a:solidFill>
              <a:srgbClr val="FF0000"/>
            </a:solidFill>
            <a:prstDash val="dash"/>
            <a:headEnd type="none" w="med" len="med"/>
            <a:tailEnd type="none" w="sm" len="lg"/>
          </a:ln>
        </p:spPr>
      </p:sp>
      <p:sp>
        <p:nvSpPr>
          <p:cNvPr id="53265" name="Line 17"/>
          <p:cNvSpPr/>
          <p:nvPr/>
        </p:nvSpPr>
        <p:spPr>
          <a:xfrm>
            <a:off x="8394700" y="3505200"/>
            <a:ext cx="990600" cy="0"/>
          </a:xfrm>
          <a:prstGeom prst="line">
            <a:avLst/>
          </a:prstGeom>
          <a:ln w="28575" cap="flat" cmpd="sng">
            <a:solidFill>
              <a:srgbClr val="FF0000"/>
            </a:solidFill>
            <a:prstDash val="dash"/>
            <a:headEnd type="none" w="med" len="med"/>
            <a:tailEnd type="none" w="sm" len="lg"/>
          </a:ln>
        </p:spPr>
      </p:sp>
      <mc:AlternateContent xmlns:mc="http://schemas.openxmlformats.org/markup-compatibility/2006" xmlns:a14="http://schemas.microsoft.com/office/drawing/2010/main">
        <mc:Choice Requires="a14">
          <p:sp>
            <p:nvSpPr>
              <p:cNvPr id="53266" name="Object 18"/>
              <p:cNvSpPr txBox="1"/>
              <p:nvPr/>
            </p:nvSpPr>
            <p:spPr>
              <a:xfrm>
                <a:off x="10604500" y="2362200"/>
                <a:ext cx="425450" cy="533400"/>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𝐸</m:t>
                          </m:r>
                        </m:e>
                      </m:acc>
                    </m:oMath>
                  </m:oMathPara>
                </a14:m>
                <a:endParaRPr lang="en-US" sz="2400"/>
              </a:p>
            </p:txBody>
          </p:sp>
        </mc:Choice>
        <mc:Fallback xmlns="">
          <p:sp>
            <p:nvSpPr>
              <p:cNvPr id="53266" name="Object 18"/>
              <p:cNvSpPr txBox="1">
                <a:spLocks noRot="1" noChangeAspect="1" noMove="1" noResize="1" noEditPoints="1" noAdjustHandles="1" noChangeArrowheads="1" noChangeShapeType="1" noTextEdit="1"/>
              </p:cNvSpPr>
              <p:nvPr/>
            </p:nvSpPr>
            <p:spPr>
              <a:xfrm>
                <a:off x="10604500" y="2362200"/>
                <a:ext cx="425450" cy="533400"/>
              </a:xfrm>
              <a:prstGeom prst="rect">
                <a:avLst/>
              </a:prstGeom>
              <a:blipFill>
                <a:blip r:embed="rId6"/>
                <a:stretch>
                  <a:fillRect/>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267" name="Object 19"/>
              <p:cNvSpPr txBox="1"/>
              <p:nvPr/>
            </p:nvSpPr>
            <p:spPr>
              <a:xfrm>
                <a:off x="8623301" y="3505200"/>
                <a:ext cx="347663" cy="381000"/>
              </a:xfrm>
              <a:prstGeom prst="rect">
                <a:avLst/>
              </a:prstGeom>
              <a:solidFill>
                <a:schemeClr val="bg1">
                  <a:alpha val="50195"/>
                </a:schemeClr>
              </a:solid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𝑜</m:t>
                      </m:r>
                    </m:oMath>
                  </m:oMathPara>
                </a14:m>
                <a:endParaRPr lang="en-US" sz="2400"/>
              </a:p>
            </p:txBody>
          </p:sp>
        </mc:Choice>
        <mc:Fallback xmlns="">
          <p:sp>
            <p:nvSpPr>
              <p:cNvPr id="53267" name="Object 19"/>
              <p:cNvSpPr txBox="1">
                <a:spLocks noRot="1" noChangeAspect="1" noMove="1" noResize="1" noEditPoints="1" noAdjustHandles="1" noChangeArrowheads="1" noChangeShapeType="1" noTextEdit="1"/>
              </p:cNvSpPr>
              <p:nvPr/>
            </p:nvSpPr>
            <p:spPr>
              <a:xfrm>
                <a:off x="8623301" y="3505200"/>
                <a:ext cx="347663" cy="381000"/>
              </a:xfrm>
              <a:prstGeom prst="rect">
                <a:avLst/>
              </a:prstGeom>
              <a:blipFill>
                <a:blip r:embed="rId7"/>
                <a:stretch>
                  <a:fillRect b="-7937"/>
                </a:stretch>
              </a:blipFill>
              <a:ln w="38100">
                <a:noFill/>
                <a:miter/>
              </a:ln>
            </p:spPr>
            <p:txBody>
              <a:bodyPr/>
              <a:lstStyle/>
              <a:p>
                <a:r>
                  <a:rPr lang="en-US">
                    <a:noFill/>
                  </a:rPr>
                  <a:t> </a:t>
                </a:r>
              </a:p>
            </p:txBody>
          </p:sp>
        </mc:Fallback>
      </mc:AlternateContent>
      <p:sp>
        <p:nvSpPr>
          <p:cNvPr id="53268" name="Line 20"/>
          <p:cNvSpPr/>
          <p:nvPr/>
        </p:nvSpPr>
        <p:spPr>
          <a:xfrm flipH="1">
            <a:off x="8104188" y="4267200"/>
            <a:ext cx="1981200" cy="0"/>
          </a:xfrm>
          <a:prstGeom prst="line">
            <a:avLst/>
          </a:prstGeom>
          <a:ln w="28575" cap="flat" cmpd="sng">
            <a:solidFill>
              <a:schemeClr val="tx1"/>
            </a:solidFill>
            <a:prstDash val="solid"/>
            <a:headEnd type="none" w="med" len="med"/>
            <a:tailEnd type="none" w="med" len="med"/>
          </a:ln>
        </p:spPr>
      </p:sp>
      <p:sp>
        <p:nvSpPr>
          <p:cNvPr id="53269" name="AutoShape 21"/>
          <p:cNvSpPr/>
          <p:nvPr/>
        </p:nvSpPr>
        <p:spPr>
          <a:xfrm rot="1958638">
            <a:off x="8088313" y="3048000"/>
            <a:ext cx="2514600" cy="666750"/>
          </a:xfrm>
          <a:prstGeom prst="parallelogram">
            <a:avLst>
              <a:gd name="adj" fmla="val 21825"/>
            </a:avLst>
          </a:prstGeom>
          <a:solidFill>
            <a:schemeClr val="accent1">
              <a:alpha val="50195"/>
            </a:schemeClr>
          </a:solidFill>
          <a:ln w="28575" cap="flat" cmpd="sng">
            <a:solidFill>
              <a:schemeClr val="tx1"/>
            </a:solidFill>
            <a:prstDash val="solid"/>
            <a:miter/>
            <a:headEnd type="none" w="med" len="med"/>
            <a:tailEnd type="none" w="med" len="med"/>
          </a:ln>
        </p:spPr>
        <p:txBody>
          <a:bodyPr wrap="none" anchor="ctr" anchorCtr="0"/>
          <a:lstStyle/>
          <a:p>
            <a:pPr eaLnBrk="0" hangingPunct="0"/>
            <a:endParaRPr lang="zh-CN" altLang="en-US" sz="2400" dirty="0">
              <a:latin typeface="Bookman Old Style" panose="02050604050505020204" pitchFamily="18" charset="0"/>
            </a:endParaRPr>
          </a:p>
        </p:txBody>
      </p:sp>
      <p:sp>
        <p:nvSpPr>
          <p:cNvPr id="53270" name="Line 22"/>
          <p:cNvSpPr/>
          <p:nvPr/>
        </p:nvSpPr>
        <p:spPr>
          <a:xfrm>
            <a:off x="9385300" y="3505200"/>
            <a:ext cx="1447800" cy="0"/>
          </a:xfrm>
          <a:prstGeom prst="line">
            <a:avLst/>
          </a:prstGeom>
          <a:ln w="28575" cap="flat" cmpd="sng">
            <a:solidFill>
              <a:srgbClr val="FF0000"/>
            </a:solidFill>
            <a:prstDash val="solid"/>
            <a:headEnd type="none" w="med" len="med"/>
            <a:tailEnd type="triangle" w="sm" len="lg"/>
          </a:ln>
        </p:spPr>
      </p:sp>
      <p:sp>
        <p:nvSpPr>
          <p:cNvPr id="53271" name="Line 23"/>
          <p:cNvSpPr/>
          <p:nvPr/>
        </p:nvSpPr>
        <p:spPr>
          <a:xfrm>
            <a:off x="10147300" y="4038600"/>
            <a:ext cx="685800" cy="0"/>
          </a:xfrm>
          <a:prstGeom prst="line">
            <a:avLst/>
          </a:prstGeom>
          <a:ln w="28575" cap="flat" cmpd="sng">
            <a:solidFill>
              <a:srgbClr val="FF0000"/>
            </a:solidFill>
            <a:prstDash val="solid"/>
            <a:headEnd type="none" w="med" len="med"/>
            <a:tailEnd type="triangle" w="sm" len="lg"/>
          </a:ln>
        </p:spPr>
      </p:sp>
      <p:sp>
        <p:nvSpPr>
          <p:cNvPr id="53272" name="Line 24"/>
          <p:cNvSpPr/>
          <p:nvPr/>
        </p:nvSpPr>
        <p:spPr>
          <a:xfrm>
            <a:off x="8623300" y="2971800"/>
            <a:ext cx="2209800" cy="0"/>
          </a:xfrm>
          <a:prstGeom prst="line">
            <a:avLst/>
          </a:prstGeom>
          <a:ln w="28575" cap="flat" cmpd="sng">
            <a:solidFill>
              <a:srgbClr val="FF0000"/>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53273" name="Object 25"/>
              <p:cNvSpPr txBox="1"/>
              <p:nvPr/>
            </p:nvSpPr>
            <p:spPr>
              <a:xfrm>
                <a:off x="7937501" y="4267200"/>
                <a:ext cx="409575" cy="3317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𝑀</m:t>
                      </m:r>
                    </m:oMath>
                  </m:oMathPara>
                </a14:m>
                <a:endParaRPr lang="en-US" sz="2400"/>
              </a:p>
            </p:txBody>
          </p:sp>
        </mc:Choice>
        <mc:Fallback xmlns="">
          <p:sp>
            <p:nvSpPr>
              <p:cNvPr id="53273" name="Object 25"/>
              <p:cNvSpPr txBox="1">
                <a:spLocks noRot="1" noChangeAspect="1" noMove="1" noResize="1" noEditPoints="1" noAdjustHandles="1" noChangeArrowheads="1" noChangeShapeType="1" noTextEdit="1"/>
              </p:cNvSpPr>
              <p:nvPr/>
            </p:nvSpPr>
            <p:spPr>
              <a:xfrm>
                <a:off x="7937501" y="4267200"/>
                <a:ext cx="409575" cy="331788"/>
              </a:xfrm>
              <a:prstGeom prst="rect">
                <a:avLst/>
              </a:prstGeom>
              <a:blipFill>
                <a:blip r:embed="rId8"/>
                <a:stretch>
                  <a:fillRect l="-2985" r="-13433" b="-35185"/>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274" name="Object 26"/>
              <p:cNvSpPr txBox="1"/>
              <p:nvPr/>
            </p:nvSpPr>
            <p:spPr>
              <a:xfrm>
                <a:off x="7861301" y="2590800"/>
                <a:ext cx="358775" cy="3571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𝑁</m:t>
                      </m:r>
                    </m:oMath>
                  </m:oMathPara>
                </a14:m>
                <a:endParaRPr lang="en-US" sz="2400"/>
              </a:p>
            </p:txBody>
          </p:sp>
        </mc:Choice>
        <mc:Fallback xmlns="">
          <p:sp>
            <p:nvSpPr>
              <p:cNvPr id="53274" name="Object 26"/>
              <p:cNvSpPr txBox="1">
                <a:spLocks noRot="1" noChangeAspect="1" noMove="1" noResize="1" noEditPoints="1" noAdjustHandles="1" noChangeArrowheads="1" noChangeShapeType="1" noTextEdit="1"/>
              </p:cNvSpPr>
              <p:nvPr/>
            </p:nvSpPr>
            <p:spPr>
              <a:xfrm>
                <a:off x="7861301" y="2590800"/>
                <a:ext cx="358775" cy="357188"/>
              </a:xfrm>
              <a:prstGeom prst="rect">
                <a:avLst/>
              </a:prstGeom>
              <a:blipFill>
                <a:blip r:embed="rId9"/>
                <a:stretch>
                  <a:fillRect l="-5172" r="-18966" b="-23729"/>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275" name="Object 27"/>
              <p:cNvSpPr txBox="1"/>
              <p:nvPr/>
            </p:nvSpPr>
            <p:spPr>
              <a:xfrm>
                <a:off x="8623301" y="2209800"/>
                <a:ext cx="307975" cy="3317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𝑃</m:t>
                      </m:r>
                    </m:oMath>
                  </m:oMathPara>
                </a14:m>
                <a:endParaRPr lang="en-US" sz="2400"/>
              </a:p>
            </p:txBody>
          </p:sp>
        </mc:Choice>
        <mc:Fallback xmlns="">
          <p:sp>
            <p:nvSpPr>
              <p:cNvPr id="53275" name="Object 27"/>
              <p:cNvSpPr txBox="1">
                <a:spLocks noRot="1" noChangeAspect="1" noMove="1" noResize="1" noEditPoints="1" noAdjustHandles="1" noChangeArrowheads="1" noChangeShapeType="1" noTextEdit="1"/>
              </p:cNvSpPr>
              <p:nvPr/>
            </p:nvSpPr>
            <p:spPr>
              <a:xfrm>
                <a:off x="8623301" y="2209800"/>
                <a:ext cx="307975" cy="331788"/>
              </a:xfrm>
              <a:prstGeom prst="rect">
                <a:avLst/>
              </a:prstGeom>
              <a:blipFill>
                <a:blip r:embed="rId10"/>
                <a:stretch>
                  <a:fillRect l="-6000" r="-26000" b="-33333"/>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276" name="Object 28"/>
              <p:cNvSpPr txBox="1"/>
              <p:nvPr/>
            </p:nvSpPr>
            <p:spPr>
              <a:xfrm>
                <a:off x="10604501" y="3505200"/>
                <a:ext cx="307975" cy="331788"/>
              </a:xfrm>
              <a:prstGeom prst="rect">
                <a:avLst/>
              </a:prstGeom>
              <a:solidFill>
                <a:schemeClr val="bg1">
                  <a:alpha val="50195"/>
                </a:schemeClr>
              </a:solid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𝑅</m:t>
                      </m:r>
                    </m:oMath>
                  </m:oMathPara>
                </a14:m>
                <a:endParaRPr lang="en-US" sz="2400"/>
              </a:p>
            </p:txBody>
          </p:sp>
        </mc:Choice>
        <mc:Fallback xmlns="">
          <p:sp>
            <p:nvSpPr>
              <p:cNvPr id="53276" name="Object 28"/>
              <p:cNvSpPr txBox="1">
                <a:spLocks noRot="1" noChangeAspect="1" noMove="1" noResize="1" noEditPoints="1" noAdjustHandles="1" noChangeArrowheads="1" noChangeShapeType="1" noTextEdit="1"/>
              </p:cNvSpPr>
              <p:nvPr/>
            </p:nvSpPr>
            <p:spPr>
              <a:xfrm>
                <a:off x="10604501" y="3505200"/>
                <a:ext cx="307975" cy="331788"/>
              </a:xfrm>
              <a:prstGeom prst="rect">
                <a:avLst/>
              </a:prstGeom>
              <a:blipFill>
                <a:blip r:embed="rId11"/>
                <a:stretch>
                  <a:fillRect l="-6000" r="-28000" b="-35185"/>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3277" name="Object 29"/>
              <p:cNvSpPr txBox="1"/>
              <p:nvPr/>
            </p:nvSpPr>
            <p:spPr>
              <a:xfrm>
                <a:off x="9994901" y="4267200"/>
                <a:ext cx="307975" cy="407988"/>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𝑄</m:t>
                      </m:r>
                    </m:oMath>
                  </m:oMathPara>
                </a14:m>
                <a:endParaRPr lang="en-US" sz="2400"/>
              </a:p>
            </p:txBody>
          </p:sp>
        </mc:Choice>
        <mc:Fallback xmlns="">
          <p:sp>
            <p:nvSpPr>
              <p:cNvPr id="53277" name="Object 29"/>
              <p:cNvSpPr txBox="1">
                <a:spLocks noRot="1" noChangeAspect="1" noMove="1" noResize="1" noEditPoints="1" noAdjustHandles="1" noChangeArrowheads="1" noChangeShapeType="1" noTextEdit="1"/>
              </p:cNvSpPr>
              <p:nvPr/>
            </p:nvSpPr>
            <p:spPr>
              <a:xfrm>
                <a:off x="9994901" y="4267200"/>
                <a:ext cx="307975" cy="407988"/>
              </a:xfrm>
              <a:prstGeom prst="rect">
                <a:avLst/>
              </a:prstGeom>
              <a:blipFill>
                <a:blip r:embed="rId12"/>
                <a:stretch>
                  <a:fillRect l="-14000" r="-42000" b="-28358"/>
                </a:stretch>
              </a:blipFill>
              <a:ln w="38100">
                <a:noFill/>
                <a:miter/>
              </a:ln>
            </p:spPr>
            <p:txBody>
              <a:bodyPr/>
              <a:lstStyle/>
              <a:p>
                <a:r>
                  <a:rPr lang="en-US">
                    <a:noFill/>
                  </a:rPr>
                  <a:t> </a:t>
                </a:r>
              </a:p>
            </p:txBody>
          </p:sp>
        </mc:Fallback>
      </mc:AlternateContent>
      <p:grpSp>
        <p:nvGrpSpPr>
          <p:cNvPr id="2" name="Group 30"/>
          <p:cNvGrpSpPr/>
          <p:nvPr/>
        </p:nvGrpSpPr>
        <p:grpSpPr>
          <a:xfrm>
            <a:off x="7327900" y="2362200"/>
            <a:ext cx="3149600" cy="2438400"/>
            <a:chOff x="2832" y="2256"/>
            <a:chExt cx="1984" cy="1536"/>
          </a:xfrm>
        </p:grpSpPr>
        <p:sp>
          <p:nvSpPr>
            <p:cNvPr id="53287" name="Line 31"/>
            <p:cNvSpPr/>
            <p:nvPr/>
          </p:nvSpPr>
          <p:spPr>
            <a:xfrm flipV="1">
              <a:off x="3978" y="3312"/>
              <a:ext cx="0" cy="192"/>
            </a:xfrm>
            <a:prstGeom prst="line">
              <a:avLst/>
            </a:prstGeom>
            <a:ln w="28575" cap="flat" cmpd="sng">
              <a:solidFill>
                <a:srgbClr val="0000FF"/>
              </a:solidFill>
              <a:prstDash val="sysDot"/>
              <a:headEnd type="none" w="med" len="med"/>
              <a:tailEnd type="none" w="sm" len="lg"/>
            </a:ln>
          </p:spPr>
        </p:sp>
        <p:grpSp>
          <p:nvGrpSpPr>
            <p:cNvPr id="53288" name="Group 32"/>
            <p:cNvGrpSpPr/>
            <p:nvPr/>
          </p:nvGrpSpPr>
          <p:grpSpPr>
            <a:xfrm>
              <a:off x="2832" y="2256"/>
              <a:ext cx="1984" cy="1536"/>
              <a:chOff x="2832" y="2256"/>
              <a:chExt cx="1984" cy="1536"/>
            </a:xfrm>
          </p:grpSpPr>
          <p:sp>
            <p:nvSpPr>
              <p:cNvPr id="53289" name="Line 33"/>
              <p:cNvSpPr/>
              <p:nvPr/>
            </p:nvSpPr>
            <p:spPr>
              <a:xfrm>
                <a:off x="3978" y="3504"/>
                <a:ext cx="0" cy="288"/>
              </a:xfrm>
              <a:prstGeom prst="line">
                <a:avLst/>
              </a:prstGeom>
              <a:ln w="28575"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53290" name="Object 34"/>
                  <p:cNvSpPr txBox="1"/>
                  <p:nvPr/>
                </p:nvSpPr>
                <p:spPr>
                  <a:xfrm>
                    <a:off x="4026" y="3408"/>
                    <a:ext cx="224" cy="336"/>
                  </a:xfrm>
                  <a:prstGeom prst="rect">
                    <a:avLst/>
                  </a:prstGeom>
                  <a:noFill/>
                  <a:ln w="38100">
                    <a:noFill/>
                    <a:miter/>
                  </a:ln>
                </p:spPr>
                <p:txBody>
                  <a:bodyPr>
                    <a:normAutofit fontScale="92500"/>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𝑒</m:t>
                                  </m:r>
                                </m:e>
                              </m:acc>
                            </m:e>
                            <m:sub>
                              <m:r>
                                <m:rPr>
                                  <m:sty m:val="p"/>
                                </m:rPr>
                                <a:rPr lang="en-US" sz="2400" i="0">
                                  <a:solidFill>
                                    <a:srgbClr val="000000"/>
                                  </a:solidFill>
                                  <a:latin typeface="Cambria Math" panose="02040503050406030204" pitchFamily="18" charset="0"/>
                                </a:rPr>
                                <m:t>n</m:t>
                              </m:r>
                            </m:sub>
                          </m:sSub>
                        </m:oMath>
                      </m:oMathPara>
                    </a14:m>
                    <a:endParaRPr lang="en-US" sz="2400"/>
                  </a:p>
                </p:txBody>
              </p:sp>
            </mc:Choice>
            <mc:Fallback xmlns="">
              <p:sp>
                <p:nvSpPr>
                  <p:cNvPr id="53290" name="Object 34"/>
                  <p:cNvSpPr txBox="1">
                    <a:spLocks noRot="1" noChangeAspect="1" noMove="1" noResize="1" noEditPoints="1" noAdjustHandles="1" noChangeArrowheads="1" noChangeShapeType="1" noTextEdit="1"/>
                  </p:cNvSpPr>
                  <p:nvPr/>
                </p:nvSpPr>
                <p:spPr>
                  <a:xfrm>
                    <a:off x="4026" y="3408"/>
                    <a:ext cx="224" cy="336"/>
                  </a:xfrm>
                  <a:prstGeom prst="rect">
                    <a:avLst/>
                  </a:prstGeom>
                  <a:blipFill>
                    <a:blip r:embed="rId13"/>
                    <a:stretch>
                      <a:fillRect r="-15517"/>
                    </a:stretch>
                  </a:blipFill>
                  <a:ln w="38100">
                    <a:noFill/>
                    <a:miter/>
                  </a:ln>
                </p:spPr>
                <p:txBody>
                  <a:bodyPr/>
                  <a:lstStyle/>
                  <a:p>
                    <a:r>
                      <a:rPr lang="en-US">
                        <a:noFill/>
                      </a:rPr>
                      <a:t> </a:t>
                    </a:r>
                  </a:p>
                </p:txBody>
              </p:sp>
            </mc:Fallback>
          </mc:AlternateContent>
          <p:sp>
            <p:nvSpPr>
              <p:cNvPr id="53291" name="Line 35"/>
              <p:cNvSpPr/>
              <p:nvPr/>
            </p:nvSpPr>
            <p:spPr>
              <a:xfrm flipH="1">
                <a:off x="2922" y="2976"/>
                <a:ext cx="384" cy="0"/>
              </a:xfrm>
              <a:prstGeom prst="line">
                <a:avLst/>
              </a:prstGeom>
              <a:ln w="28575" cap="flat" cmpd="sng">
                <a:solidFill>
                  <a:srgbClr val="0000FF"/>
                </a:solidFill>
                <a:prstDash val="solid"/>
                <a:headEnd type="none" w="med" len="med"/>
                <a:tailEnd type="triangle" w="sm" len="lg"/>
              </a:ln>
            </p:spPr>
          </p:sp>
          <p:sp>
            <p:nvSpPr>
              <p:cNvPr id="53292" name="Line 36"/>
              <p:cNvSpPr/>
              <p:nvPr/>
            </p:nvSpPr>
            <p:spPr>
              <a:xfrm flipV="1">
                <a:off x="3306" y="2976"/>
                <a:ext cx="192" cy="0"/>
              </a:xfrm>
              <a:prstGeom prst="line">
                <a:avLst/>
              </a:prstGeom>
              <a:ln w="28575" cap="flat" cmpd="sng">
                <a:solidFill>
                  <a:srgbClr val="0000FF"/>
                </a:solidFill>
                <a:prstDash val="sysDot"/>
                <a:headEnd type="none" w="med" len="med"/>
                <a:tailEnd type="none" w="sm" len="lg"/>
              </a:ln>
            </p:spPr>
          </p:sp>
          <mc:AlternateContent xmlns:mc="http://schemas.openxmlformats.org/markup-compatibility/2006" xmlns:a14="http://schemas.microsoft.com/office/drawing/2010/main">
            <mc:Choice Requires="a14">
              <p:sp>
                <p:nvSpPr>
                  <p:cNvPr id="53293" name="Object 37"/>
                  <p:cNvSpPr txBox="1"/>
                  <p:nvPr/>
                </p:nvSpPr>
                <p:spPr>
                  <a:xfrm>
                    <a:off x="2832" y="2976"/>
                    <a:ext cx="257" cy="33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𝑒</m:t>
                                  </m:r>
                                </m:e>
                              </m:acc>
                            </m:e>
                            <m:sub>
                              <m:r>
                                <m:rPr>
                                  <m:sty m:val="p"/>
                                </m:rPr>
                                <a:rPr lang="en-US" sz="2400" i="0">
                                  <a:solidFill>
                                    <a:srgbClr val="000000"/>
                                  </a:solidFill>
                                  <a:latin typeface="Cambria Math" panose="02040503050406030204" pitchFamily="18" charset="0"/>
                                </a:rPr>
                                <m:t>n</m:t>
                              </m:r>
                            </m:sub>
                          </m:sSub>
                        </m:oMath>
                      </m:oMathPara>
                    </a14:m>
                    <a:endParaRPr lang="en-US" sz="2400"/>
                  </a:p>
                </p:txBody>
              </p:sp>
            </mc:Choice>
            <mc:Fallback xmlns="">
              <p:sp>
                <p:nvSpPr>
                  <p:cNvPr id="53293" name="Object 37"/>
                  <p:cNvSpPr txBox="1">
                    <a:spLocks noRot="1" noChangeAspect="1" noMove="1" noResize="1" noEditPoints="1" noAdjustHandles="1" noChangeArrowheads="1" noChangeShapeType="1" noTextEdit="1"/>
                  </p:cNvSpPr>
                  <p:nvPr/>
                </p:nvSpPr>
                <p:spPr>
                  <a:xfrm>
                    <a:off x="2832" y="2976"/>
                    <a:ext cx="257" cy="336"/>
                  </a:xfrm>
                  <a:prstGeom prst="rect">
                    <a:avLst/>
                  </a:prstGeom>
                  <a:blipFill>
                    <a:blip r:embed="rId14"/>
                    <a:stretch>
                      <a:fillRect t="-1136" r="-11940"/>
                    </a:stretch>
                  </a:blipFill>
                  <a:ln w="38100">
                    <a:noFill/>
                    <a:miter/>
                  </a:ln>
                </p:spPr>
                <p:txBody>
                  <a:bodyPr/>
                  <a:lstStyle/>
                  <a:p>
                    <a:r>
                      <a:rPr lang="en-US">
                        <a:noFill/>
                      </a:rPr>
                      <a:t> </a:t>
                    </a:r>
                  </a:p>
                </p:txBody>
              </p:sp>
            </mc:Fallback>
          </mc:AlternateContent>
          <p:sp>
            <p:nvSpPr>
              <p:cNvPr id="53294" name="Line 38"/>
              <p:cNvSpPr/>
              <p:nvPr/>
            </p:nvSpPr>
            <p:spPr>
              <a:xfrm flipV="1">
                <a:off x="4122" y="2400"/>
                <a:ext cx="432" cy="576"/>
              </a:xfrm>
              <a:prstGeom prst="line">
                <a:avLst/>
              </a:prstGeom>
              <a:ln w="28575" cap="flat" cmpd="sng">
                <a:solidFill>
                  <a:srgbClr val="0000FF"/>
                </a:solidFill>
                <a:prstDash val="solid"/>
                <a:headEnd type="none" w="med" len="med"/>
                <a:tailEnd type="triangle" w="sm" len="lg"/>
              </a:ln>
            </p:spPr>
          </p:sp>
          <mc:AlternateContent xmlns:mc="http://schemas.openxmlformats.org/markup-compatibility/2006" xmlns:a14="http://schemas.microsoft.com/office/drawing/2010/main">
            <mc:Choice Requires="a14">
              <p:sp>
                <p:nvSpPr>
                  <p:cNvPr id="53295" name="Object 39"/>
                  <p:cNvSpPr txBox="1"/>
                  <p:nvPr/>
                </p:nvSpPr>
                <p:spPr>
                  <a:xfrm>
                    <a:off x="4560" y="2256"/>
                    <a:ext cx="256" cy="336"/>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sSub>
                            <m:sSubPr>
                              <m:ctrlPr>
                                <a:rPr lang="en-US" sz="2400" i="1">
                                  <a:solidFill>
                                    <a:srgbClr val="000000"/>
                                  </a:solidFill>
                                  <a:latin typeface="Cambria Math" panose="02040503050406030204" pitchFamily="18" charset="0"/>
                                </a:rPr>
                              </m:ctrlPr>
                            </m:sSubPr>
                            <m:e>
                              <m:acc>
                                <m:accPr>
                                  <m:chr m:val="⃑"/>
                                  <m:ctrlPr>
                                    <a:rPr lang="en-US" sz="2400" i="1">
                                      <a:solidFill>
                                        <a:srgbClr val="000000"/>
                                      </a:solidFill>
                                      <a:latin typeface="Cambria Math" panose="02040503050406030204" pitchFamily="18" charset="0"/>
                                    </a:rPr>
                                  </m:ctrlPr>
                                </m:accPr>
                                <m:e>
                                  <m:r>
                                    <a:rPr lang="en-US" sz="2400" i="1">
                                      <a:solidFill>
                                        <a:srgbClr val="000000"/>
                                      </a:solidFill>
                                      <a:latin typeface="Cambria Math" panose="02040503050406030204" pitchFamily="18" charset="0"/>
                                    </a:rPr>
                                    <m:t>𝑒</m:t>
                                  </m:r>
                                </m:e>
                              </m:acc>
                            </m:e>
                            <m:sub>
                              <m:r>
                                <m:rPr>
                                  <m:sty m:val="p"/>
                                </m:rPr>
                                <a:rPr lang="en-US" sz="2400" i="0">
                                  <a:solidFill>
                                    <a:srgbClr val="000000"/>
                                  </a:solidFill>
                                  <a:latin typeface="Cambria Math" panose="02040503050406030204" pitchFamily="18" charset="0"/>
                                </a:rPr>
                                <m:t>n</m:t>
                              </m:r>
                            </m:sub>
                          </m:sSub>
                        </m:oMath>
                      </m:oMathPara>
                    </a14:m>
                    <a:endParaRPr lang="en-US" sz="2400"/>
                  </a:p>
                </p:txBody>
              </p:sp>
            </mc:Choice>
            <mc:Fallback xmlns="">
              <p:sp>
                <p:nvSpPr>
                  <p:cNvPr id="53295" name="Object 39"/>
                  <p:cNvSpPr txBox="1">
                    <a:spLocks noRot="1" noChangeAspect="1" noMove="1" noResize="1" noEditPoints="1" noAdjustHandles="1" noChangeArrowheads="1" noChangeShapeType="1" noTextEdit="1"/>
                  </p:cNvSpPr>
                  <p:nvPr/>
                </p:nvSpPr>
                <p:spPr>
                  <a:xfrm>
                    <a:off x="4560" y="2256"/>
                    <a:ext cx="256" cy="336"/>
                  </a:xfrm>
                  <a:prstGeom prst="rect">
                    <a:avLst/>
                  </a:prstGeom>
                  <a:blipFill>
                    <a:blip r:embed="rId15"/>
                    <a:stretch>
                      <a:fillRect t="-1149" r="-10448"/>
                    </a:stretch>
                  </a:blipFill>
                  <a:ln w="38100">
                    <a:noFill/>
                    <a:miter/>
                  </a:ln>
                </p:spPr>
                <p:txBody>
                  <a:bodyPr/>
                  <a:lstStyle/>
                  <a:p>
                    <a:r>
                      <a:rPr lang="en-US">
                        <a:noFill/>
                      </a:rPr>
                      <a:t> </a:t>
                    </a:r>
                  </a:p>
                </p:txBody>
              </p:sp>
            </mc:Fallback>
          </mc:AlternateContent>
          <p:sp>
            <p:nvSpPr>
              <p:cNvPr id="53296" name="Freeform 40"/>
              <p:cNvSpPr/>
              <p:nvPr/>
            </p:nvSpPr>
            <p:spPr>
              <a:xfrm>
                <a:off x="4314" y="2736"/>
                <a:ext cx="144" cy="240"/>
              </a:xfrm>
              <a:custGeom>
                <a:avLst/>
                <a:gdLst/>
                <a:ahLst/>
                <a:cxnLst>
                  <a:cxn ang="0">
                    <a:pos x="0" y="0"/>
                  </a:cxn>
                  <a:cxn ang="0">
                    <a:pos x="96" y="96"/>
                  </a:cxn>
                  <a:cxn ang="0">
                    <a:pos x="144" y="240"/>
                  </a:cxn>
                </a:cxnLst>
                <a:rect l="0" t="0" r="0" b="0"/>
                <a:pathLst>
                  <a:path w="144" h="240">
                    <a:moveTo>
                      <a:pt x="0" y="0"/>
                    </a:moveTo>
                    <a:cubicBezTo>
                      <a:pt x="36" y="28"/>
                      <a:pt x="72" y="56"/>
                      <a:pt x="96" y="96"/>
                    </a:cubicBezTo>
                    <a:cubicBezTo>
                      <a:pt x="120" y="136"/>
                      <a:pt x="132" y="188"/>
                      <a:pt x="144" y="240"/>
                    </a:cubicBezTo>
                  </a:path>
                </a:pathLst>
              </a:custGeom>
              <a:noFill/>
              <a:ln w="28575" cap="flat" cmpd="sng">
                <a:solidFill>
                  <a:srgbClr val="FF0000">
                    <a:alpha val="100000"/>
                  </a:srgbClr>
                </a:solidFill>
                <a:prstDash val="solid"/>
                <a:round/>
                <a:headEnd type="none" w="med" len="med"/>
                <a:tailEnd type="none" w="sm" len="lg"/>
              </a:ln>
            </p:spPr>
            <p:txBody>
              <a:bodyPr/>
              <a:lstStyle/>
              <a:p>
                <a:endParaRPr lang="zh-CN" altLang="en-US" sz="2400"/>
              </a:p>
            </p:txBody>
          </p:sp>
          <mc:AlternateContent xmlns:mc="http://schemas.openxmlformats.org/markup-compatibility/2006" xmlns:a14="http://schemas.microsoft.com/office/drawing/2010/main">
            <mc:Choice Requires="a14">
              <p:sp>
                <p:nvSpPr>
                  <p:cNvPr id="53297" name="Object 41"/>
                  <p:cNvSpPr txBox="1"/>
                  <p:nvPr/>
                </p:nvSpPr>
                <p:spPr>
                  <a:xfrm>
                    <a:off x="4410" y="2592"/>
                    <a:ext cx="206" cy="288"/>
                  </a:xfrm>
                  <a:prstGeom prst="rect">
                    <a:avLst/>
                  </a:prstGeom>
                  <a:noFill/>
                  <a:ln w="38100">
                    <a:noFill/>
                    <a:miter/>
                  </a:ln>
                </p:spPr>
                <p:txBody>
                  <a:bodyPr>
                    <a:normAutofit/>
                  </a:bodyPr>
                  <a:lstStyle/>
                  <a:p>
                    <a:pPr/>
                    <a14:m>
                      <m:oMathPara xmlns:m="http://schemas.openxmlformats.org/officeDocument/2006/math">
                        <m:oMathParaPr>
                          <m:jc m:val="centerGroup"/>
                        </m:oMathParaPr>
                        <m:oMath xmlns:m="http://schemas.openxmlformats.org/officeDocument/2006/math">
                          <m:r>
                            <a:rPr lang="en-US" sz="2400" i="1">
                              <a:solidFill>
                                <a:srgbClr val="000000"/>
                              </a:solidFill>
                              <a:latin typeface="Cambria Math" panose="02040503050406030204" pitchFamily="18" charset="0"/>
                            </a:rPr>
                            <m:t>𝜃</m:t>
                          </m:r>
                        </m:oMath>
                      </m:oMathPara>
                    </a14:m>
                    <a:endParaRPr lang="en-US" sz="2400"/>
                  </a:p>
                </p:txBody>
              </p:sp>
            </mc:Choice>
            <mc:Fallback xmlns="">
              <p:sp>
                <p:nvSpPr>
                  <p:cNvPr id="53297" name="Object 41"/>
                  <p:cNvSpPr txBox="1">
                    <a:spLocks noRot="1" noChangeAspect="1" noMove="1" noResize="1" noEditPoints="1" noAdjustHandles="1" noChangeArrowheads="1" noChangeShapeType="1" noTextEdit="1"/>
                  </p:cNvSpPr>
                  <p:nvPr/>
                </p:nvSpPr>
                <p:spPr>
                  <a:xfrm>
                    <a:off x="4410" y="2592"/>
                    <a:ext cx="206" cy="288"/>
                  </a:xfrm>
                  <a:prstGeom prst="rect">
                    <a:avLst/>
                  </a:prstGeom>
                  <a:blipFill>
                    <a:blip r:embed="rId16"/>
                    <a:stretch>
                      <a:fillRect l="-3704" r="-12963"/>
                    </a:stretch>
                  </a:blipFill>
                  <a:ln w="38100">
                    <a:noFill/>
                    <a:miter/>
                  </a:ln>
                </p:spPr>
                <p:txBody>
                  <a:bodyPr/>
                  <a:lstStyle/>
                  <a:p>
                    <a:r>
                      <a:rPr lang="en-US">
                        <a:noFill/>
                      </a:rPr>
                      <a:t> </a:t>
                    </a:r>
                  </a:p>
                </p:txBody>
              </p:sp>
            </mc:Fallback>
          </mc:AlternateContent>
        </p:grpSp>
      </p:grpSp>
      <p:grpSp>
        <p:nvGrpSpPr>
          <p:cNvPr id="4" name="Group 42"/>
          <p:cNvGrpSpPr/>
          <p:nvPr/>
        </p:nvGrpSpPr>
        <p:grpSpPr>
          <a:xfrm>
            <a:off x="7327901" y="1981200"/>
            <a:ext cx="2590800" cy="1371600"/>
            <a:chOff x="2832" y="2016"/>
            <a:chExt cx="1632" cy="864"/>
          </a:xfrm>
        </p:grpSpPr>
        <p:sp>
          <p:nvSpPr>
            <p:cNvPr id="53285" name="AutoShape 44"/>
            <p:cNvSpPr/>
            <p:nvPr/>
          </p:nvSpPr>
          <p:spPr>
            <a:xfrm flipH="1">
              <a:off x="2832" y="2544"/>
              <a:ext cx="336" cy="336"/>
            </a:xfrm>
            <a:prstGeom prst="wedgeEllipseCallout">
              <a:avLst>
                <a:gd name="adj1" fmla="val -126491"/>
                <a:gd name="adj2" fmla="val 63690"/>
              </a:avLst>
            </a:prstGeom>
            <a:solidFill>
              <a:srgbClr val="CCFFFF"/>
            </a:solidFill>
            <a:ln w="9525" cap="flat" cmpd="sng">
              <a:solidFill>
                <a:schemeClr val="tx1"/>
              </a:solidFill>
              <a:prstDash val="solid"/>
              <a:miter/>
              <a:headEnd type="none" w="med" len="med"/>
              <a:tailEnd type="none" w="med" len="med"/>
            </a:ln>
          </p:spPr>
          <p:txBody>
            <a:bodyPr/>
            <a:lstStyle/>
            <a:p>
              <a:pPr algn="ctr"/>
              <a:r>
                <a:rPr lang="en-US" altLang="zh-CN" sz="3000" i="1" dirty="0">
                  <a:latin typeface="Times New Roman" panose="02020603050405020304" pitchFamily="18" charset="0"/>
                </a:rPr>
                <a:t>S</a:t>
              </a:r>
              <a:r>
                <a:rPr lang="en-US" altLang="zh-CN" sz="3000" baseline="-25000" dirty="0">
                  <a:latin typeface="Times New Roman" panose="02020603050405020304" pitchFamily="18" charset="0"/>
                </a:rPr>
                <a:t>1</a:t>
              </a:r>
            </a:p>
          </p:txBody>
        </p:sp>
        <p:sp>
          <p:nvSpPr>
            <p:cNvPr id="53286" name="AutoShape 45"/>
            <p:cNvSpPr/>
            <p:nvPr/>
          </p:nvSpPr>
          <p:spPr>
            <a:xfrm flipH="1">
              <a:off x="4128" y="2016"/>
              <a:ext cx="336" cy="288"/>
            </a:xfrm>
            <a:prstGeom prst="wedgeEllipseCallout">
              <a:avLst>
                <a:gd name="adj1" fmla="val 84523"/>
                <a:gd name="adj2" fmla="val 222565"/>
              </a:avLst>
            </a:prstGeom>
            <a:solidFill>
              <a:srgbClr val="CCFFFF"/>
            </a:solidFill>
            <a:ln w="9525" cap="flat" cmpd="sng">
              <a:solidFill>
                <a:schemeClr val="tx1"/>
              </a:solidFill>
              <a:prstDash val="solid"/>
              <a:miter/>
              <a:headEnd type="none" w="med" len="med"/>
              <a:tailEnd type="none" w="med" len="med"/>
            </a:ln>
          </p:spPr>
          <p:txBody>
            <a:bodyPr/>
            <a:lstStyle/>
            <a:p>
              <a:pPr algn="ctr"/>
              <a:r>
                <a:rPr lang="en-US" altLang="zh-CN" sz="3000" i="1" dirty="0">
                  <a:latin typeface="Times New Roman" panose="02020603050405020304" pitchFamily="18" charset="0"/>
                </a:rPr>
                <a:t>S</a:t>
              </a:r>
              <a:r>
                <a:rPr lang="en-US" altLang="zh-CN" sz="3000" baseline="-25000" dirty="0">
                  <a:latin typeface="Times New Roman" panose="02020603050405020304" pitchFamily="18" charset="0"/>
                </a:rPr>
                <a:t>2</a:t>
              </a:r>
            </a:p>
            <a:p>
              <a:pPr algn="ctr"/>
              <a:endParaRPr lang="en-US" altLang="zh-CN" sz="3000" b="1" dirty="0">
                <a:latin typeface="Times New Roman" panose="02020603050405020304" pitchFamily="18" charset="0"/>
              </a:endParaRPr>
            </a:p>
          </p:txBody>
        </p:sp>
      </p:grpSp>
      <p:sp>
        <p:nvSpPr>
          <p:cNvPr id="53280" name="Line 46"/>
          <p:cNvSpPr/>
          <p:nvPr/>
        </p:nvSpPr>
        <p:spPr>
          <a:xfrm flipV="1">
            <a:off x="8104188" y="2971800"/>
            <a:ext cx="0" cy="1295400"/>
          </a:xfrm>
          <a:prstGeom prst="line">
            <a:avLst/>
          </a:prstGeom>
          <a:ln w="28575" cap="flat" cmpd="sng">
            <a:solidFill>
              <a:schemeClr val="tx1"/>
            </a:solidFill>
            <a:prstDash val="solid"/>
            <a:headEnd type="none" w="med" len="med"/>
            <a:tailEnd type="none" w="med" len="med"/>
          </a:ln>
        </p:spPr>
      </p:sp>
      <p:sp>
        <p:nvSpPr>
          <p:cNvPr id="53281" name="Line 47"/>
          <p:cNvSpPr/>
          <p:nvPr/>
        </p:nvSpPr>
        <p:spPr>
          <a:xfrm flipH="1">
            <a:off x="7785101" y="4267200"/>
            <a:ext cx="290513" cy="228600"/>
          </a:xfrm>
          <a:prstGeom prst="line">
            <a:avLst/>
          </a:prstGeom>
          <a:ln w="19050" cap="flat" cmpd="sng">
            <a:solidFill>
              <a:schemeClr val="tx1"/>
            </a:solidFill>
            <a:prstDash val="solid"/>
            <a:headEnd type="none" w="med" len="med"/>
            <a:tailEnd type="none" w="sm" len="lg"/>
          </a:ln>
        </p:spPr>
      </p:sp>
      <p:sp>
        <p:nvSpPr>
          <p:cNvPr id="53282" name="Line 48"/>
          <p:cNvSpPr/>
          <p:nvPr/>
        </p:nvSpPr>
        <p:spPr>
          <a:xfrm flipV="1">
            <a:off x="8609013" y="2133600"/>
            <a:ext cx="0" cy="381000"/>
          </a:xfrm>
          <a:prstGeom prst="line">
            <a:avLst/>
          </a:prstGeom>
          <a:ln w="19050" cap="flat" cmpd="sng">
            <a:solidFill>
              <a:schemeClr val="tx1"/>
            </a:solidFill>
            <a:prstDash val="solid"/>
            <a:headEnd type="none" w="med" len="med"/>
            <a:tailEnd type="none" w="med" len="med"/>
          </a:ln>
        </p:spPr>
      </p:sp>
      <p:sp>
        <p:nvSpPr>
          <p:cNvPr id="53283" name="Line 49"/>
          <p:cNvSpPr/>
          <p:nvPr/>
        </p:nvSpPr>
        <p:spPr>
          <a:xfrm>
            <a:off x="10575925" y="3795713"/>
            <a:ext cx="381000" cy="0"/>
          </a:xfrm>
          <a:prstGeom prst="line">
            <a:avLst/>
          </a:prstGeom>
          <a:ln w="19050" cap="flat" cmpd="sng">
            <a:solidFill>
              <a:schemeClr val="tx1"/>
            </a:solidFill>
            <a:prstDash val="solid"/>
            <a:headEnd type="none" w="med" len="med"/>
            <a:tailEnd type="none" w="med" len="med"/>
          </a:ln>
        </p:spPr>
      </p:sp>
      <mc:AlternateContent xmlns:mc="http://schemas.openxmlformats.org/markup-compatibility/2006" xmlns:a14="http://schemas.microsoft.com/office/drawing/2010/main">
        <mc:Choice Requires="a14">
          <p:sp>
            <p:nvSpPr>
              <p:cNvPr id="3" name="Object 2">
                <a:extLst>
                  <a:ext uri="{FF2B5EF4-FFF2-40B4-BE49-F238E27FC236}">
                    <a16:creationId xmlns:a16="http://schemas.microsoft.com/office/drawing/2014/main" id="{DEE2FB0D-4120-EF59-743D-C1F340C4C302}"/>
                  </a:ext>
                </a:extLst>
              </p:cNvPr>
              <p:cNvSpPr txBox="1"/>
              <p:nvPr/>
            </p:nvSpPr>
            <p:spPr>
              <a:xfrm>
                <a:off x="482600" y="4419600"/>
                <a:ext cx="6446045" cy="9429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m:rPr>
                              <m:sty m:val="p"/>
                            </m:rPr>
                            <a:rPr lang="en-US" sz="3000" i="0">
                              <a:solidFill>
                                <a:srgbClr val="000000"/>
                              </a:solidFill>
                              <a:latin typeface="Cambria Math" panose="02040503050406030204" pitchFamily="18" charset="0"/>
                            </a:rPr>
                            <m:t>e</m:t>
                          </m:r>
                          <m:r>
                            <a:rPr lang="en-US" sz="3000" i="1">
                              <a:solidFill>
                                <a:srgbClr val="000000"/>
                              </a:solidFill>
                              <a:latin typeface="Cambria Math" panose="02040503050406030204" pitchFamily="18" charset="0"/>
                            </a:rPr>
                            <m:t>1</m:t>
                          </m:r>
                        </m:sub>
                      </m:sSub>
                      <m:r>
                        <a:rPr lang="en-US" sz="3000" i="1">
                          <a:solidFill>
                            <a:srgbClr val="000000"/>
                          </a:solidFill>
                          <a:latin typeface="Cambria Math" panose="02040503050406030204" pitchFamily="18" charset="0"/>
                        </a:rPr>
                        <m:t>=</m:t>
                      </m:r>
                      <m:nary>
                        <m:naryPr>
                          <m:supHide m:val="on"/>
                          <m:ctrlPr>
                            <a:rPr lang="en-US" sz="3000" i="1">
                              <a:solidFill>
                                <a:srgbClr val="000000"/>
                              </a:solidFill>
                              <a:latin typeface="Cambria Math" panose="02040503050406030204" pitchFamily="18" charset="0"/>
                            </a:rPr>
                          </m:ctrlPr>
                        </m:naryPr>
                        <m:sub>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𝑠</m:t>
                              </m:r>
                            </m:e>
                            <m:sub>
                              <m:r>
                                <a:rPr lang="en-US" sz="3000" i="1">
                                  <a:solidFill>
                                    <a:srgbClr val="000000"/>
                                  </a:solidFill>
                                  <a:latin typeface="Cambria Math" panose="02040503050406030204" pitchFamily="18" charset="0"/>
                                </a:rPr>
                                <m:t>1</m:t>
                              </m:r>
                            </m:sub>
                          </m:sSub>
                        </m:sub>
                        <m:sup/>
                        <m:e>
                          <m:r>
                            <m:rPr>
                              <m:nor/>
                            </m:rPr>
                            <a:rPr lang="en-US" sz="3000" i="0">
                              <a:solidFill>
                                <a:srgbClr val="000000"/>
                              </a:solidFill>
                              <a:latin typeface="Cambria Math" panose="02040503050406030204" pitchFamily="18" charset="0"/>
                            </a:rPr>
                            <m:t>   </m:t>
                          </m:r>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𝐸</m:t>
                              </m:r>
                            </m:e>
                          </m:acc>
                          <m:r>
                            <a:rPr lang="en-US" sz="3000" i="1">
                              <a:solidFill>
                                <a:srgbClr val="000000"/>
                              </a:solidFill>
                              <a:latin typeface="Cambria Math" panose="02040503050406030204" pitchFamily="18" charset="0"/>
                            </a:rPr>
                            <m:t>⋅</m:t>
                          </m:r>
                          <m:r>
                            <m:rPr>
                              <m:sty m:val="p"/>
                            </m:rPr>
                            <a:rPr lang="en-US" sz="3000" i="0">
                              <a:solidFill>
                                <a:srgbClr val="000000"/>
                              </a:solidFill>
                              <a:latin typeface="Cambria Math" panose="02040503050406030204" pitchFamily="18" charset="0"/>
                            </a:rPr>
                            <m:t>d</m:t>
                          </m:r>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𝑆</m:t>
                              </m:r>
                            </m:e>
                          </m:acc>
                        </m:e>
                      </m:nary>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𝐸</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𝑆</m:t>
                          </m:r>
                        </m:e>
                        <m:sub>
                          <m:r>
                            <a:rPr lang="en-US" sz="3000" i="1">
                              <a:solidFill>
                                <a:srgbClr val="000000"/>
                              </a:solidFill>
                              <a:latin typeface="Cambria Math" panose="02040503050406030204" pitchFamily="18" charset="0"/>
                            </a:rPr>
                            <m:t>1</m:t>
                          </m:r>
                        </m:sub>
                      </m:sSub>
                      <m:func>
                        <m:funcPr>
                          <m:ctrlPr>
                            <a:rPr lang="en-US" sz="3000" i="1">
                              <a:solidFill>
                                <a:srgbClr val="000000"/>
                              </a:solidFill>
                              <a:latin typeface="Cambria Math" panose="02040503050406030204" pitchFamily="18" charset="0"/>
                            </a:rPr>
                          </m:ctrlPr>
                        </m:funcPr>
                        <m:fName>
                          <m:r>
                            <m:rPr>
                              <m:sty m:val="p"/>
                            </m:rPr>
                            <a:rPr lang="en-US" sz="3000" i="0">
                              <a:solidFill>
                                <a:srgbClr val="000000"/>
                              </a:solidFill>
                              <a:latin typeface="Cambria Math" panose="02040503050406030204" pitchFamily="18" charset="0"/>
                            </a:rPr>
                            <m:t>cos</m:t>
                          </m:r>
                        </m:fName>
                        <m:e>
                          <m:r>
                            <m:rPr>
                              <m:sty m:val="p"/>
                            </m:rPr>
                            <a:rPr lang="en-US" sz="3000" i="1">
                              <a:solidFill>
                                <a:srgbClr val="000000"/>
                              </a:solidFill>
                              <a:latin typeface="Cambria Math" panose="02040503050406030204" pitchFamily="18" charset="0"/>
                            </a:rPr>
                            <m:t>π</m:t>
                          </m:r>
                        </m:e>
                      </m:func>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𝐸</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𝑆</m:t>
                          </m:r>
                        </m:e>
                        <m:sub>
                          <m:r>
                            <a:rPr lang="en-US" sz="3000" i="1">
                              <a:solidFill>
                                <a:srgbClr val="000000"/>
                              </a:solidFill>
                              <a:latin typeface="Cambria Math" panose="02040503050406030204" pitchFamily="18" charset="0"/>
                            </a:rPr>
                            <m:t>1</m:t>
                          </m:r>
                        </m:sub>
                      </m:sSub>
                    </m:oMath>
                  </m:oMathPara>
                </a14:m>
                <a:endParaRPr lang="en-US" sz="3000" dirty="0"/>
              </a:p>
            </p:txBody>
          </p:sp>
        </mc:Choice>
        <mc:Fallback xmlns="">
          <p:sp>
            <p:nvSpPr>
              <p:cNvPr id="3" name="Object 2">
                <a:extLst>
                  <a:ext uri="{FF2B5EF4-FFF2-40B4-BE49-F238E27FC236}">
                    <a16:creationId xmlns:a16="http://schemas.microsoft.com/office/drawing/2014/main" id="{DEE2FB0D-4120-EF59-743D-C1F340C4C302}"/>
                  </a:ext>
                </a:extLst>
              </p:cNvPr>
              <p:cNvSpPr txBox="1">
                <a:spLocks noRot="1" noChangeAspect="1" noMove="1" noResize="1" noEditPoints="1" noAdjustHandles="1" noChangeArrowheads="1" noChangeShapeType="1" noTextEdit="1"/>
              </p:cNvSpPr>
              <p:nvPr/>
            </p:nvSpPr>
            <p:spPr>
              <a:xfrm>
                <a:off x="482600" y="4419600"/>
                <a:ext cx="6446045" cy="942975"/>
              </a:xfrm>
              <a:prstGeom prst="rect">
                <a:avLst/>
              </a:prstGeom>
              <a:blipFill>
                <a:blip r:embed="rId18"/>
                <a:stretch>
                  <a:fillRect b="-9677"/>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Object 3">
                <a:extLst>
                  <a:ext uri="{FF2B5EF4-FFF2-40B4-BE49-F238E27FC236}">
                    <a16:creationId xmlns:a16="http://schemas.microsoft.com/office/drawing/2014/main" id="{2E8303A8-FA93-1133-8838-8F0ED388B12F}"/>
                  </a:ext>
                </a:extLst>
              </p:cNvPr>
              <p:cNvSpPr txBox="1"/>
              <p:nvPr/>
            </p:nvSpPr>
            <p:spPr>
              <a:xfrm>
                <a:off x="203200" y="5568950"/>
                <a:ext cx="6820695" cy="942975"/>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m:rPr>
                              <m:sty m:val="p"/>
                            </m:rPr>
                            <a:rPr lang="en-US" sz="3000" i="0">
                              <a:solidFill>
                                <a:srgbClr val="000000"/>
                              </a:solidFill>
                              <a:latin typeface="Cambria Math" panose="02040503050406030204" pitchFamily="18" charset="0"/>
                            </a:rPr>
                            <m:t>e</m:t>
                          </m:r>
                          <m:r>
                            <a:rPr lang="en-US" sz="3000" i="1">
                              <a:solidFill>
                                <a:srgbClr val="000000"/>
                              </a:solidFill>
                              <a:latin typeface="Cambria Math" panose="02040503050406030204" pitchFamily="18" charset="0"/>
                            </a:rPr>
                            <m:t>2</m:t>
                          </m:r>
                        </m:sub>
                      </m:sSub>
                      <m:r>
                        <a:rPr lang="en-US" sz="3000" i="1">
                          <a:solidFill>
                            <a:srgbClr val="000000"/>
                          </a:solidFill>
                          <a:latin typeface="Cambria Math" panose="02040503050406030204" pitchFamily="18" charset="0"/>
                        </a:rPr>
                        <m:t>=</m:t>
                      </m:r>
                      <m:nary>
                        <m:naryPr>
                          <m:supHide m:val="on"/>
                          <m:ctrlPr>
                            <a:rPr lang="en-US" sz="3000" i="1">
                              <a:solidFill>
                                <a:srgbClr val="000000"/>
                              </a:solidFill>
                              <a:latin typeface="Cambria Math" panose="02040503050406030204" pitchFamily="18" charset="0"/>
                            </a:rPr>
                          </m:ctrlPr>
                        </m:naryPr>
                        <m:sub>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𝑠</m:t>
                              </m:r>
                            </m:e>
                            <m:sub>
                              <m:r>
                                <a:rPr lang="en-US" sz="3000" i="1">
                                  <a:solidFill>
                                    <a:srgbClr val="000000"/>
                                  </a:solidFill>
                                  <a:latin typeface="Cambria Math" panose="02040503050406030204" pitchFamily="18" charset="0"/>
                                </a:rPr>
                                <m:t>1</m:t>
                              </m:r>
                            </m:sub>
                          </m:sSub>
                        </m:sub>
                        <m:sup/>
                        <m:e>
                          <m:r>
                            <m:rPr>
                              <m:nor/>
                            </m:rPr>
                            <a:rPr lang="en-US" sz="3000" i="0">
                              <a:solidFill>
                                <a:srgbClr val="000000"/>
                              </a:solidFill>
                              <a:latin typeface="Cambria Math" panose="02040503050406030204" pitchFamily="18" charset="0"/>
                            </a:rPr>
                            <m:t>   </m:t>
                          </m:r>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𝐸</m:t>
                              </m:r>
                            </m:e>
                          </m:acc>
                          <m:r>
                            <a:rPr lang="en-US" sz="3000" i="1">
                              <a:solidFill>
                                <a:srgbClr val="000000"/>
                              </a:solidFill>
                              <a:latin typeface="Cambria Math" panose="02040503050406030204" pitchFamily="18" charset="0"/>
                            </a:rPr>
                            <m:t>⋅</m:t>
                          </m:r>
                          <m:r>
                            <m:rPr>
                              <m:sty m:val="p"/>
                            </m:rPr>
                            <a:rPr lang="en-US" sz="3000" i="0">
                              <a:solidFill>
                                <a:srgbClr val="000000"/>
                              </a:solidFill>
                              <a:latin typeface="Cambria Math" panose="02040503050406030204" pitchFamily="18" charset="0"/>
                            </a:rPr>
                            <m:t>d</m:t>
                          </m:r>
                          <m:acc>
                            <m:accPr>
                              <m:chr m:val="⃑"/>
                              <m:ctrlPr>
                                <a:rPr lang="en-US" sz="3000" i="1">
                                  <a:solidFill>
                                    <a:srgbClr val="000000"/>
                                  </a:solidFill>
                                  <a:latin typeface="Cambria Math" panose="02040503050406030204" pitchFamily="18" charset="0"/>
                                </a:rPr>
                              </m:ctrlPr>
                            </m:accPr>
                            <m:e>
                              <m:r>
                                <a:rPr lang="en-US" sz="3000" i="1">
                                  <a:solidFill>
                                    <a:srgbClr val="000000"/>
                                  </a:solidFill>
                                  <a:latin typeface="Cambria Math" panose="02040503050406030204" pitchFamily="18" charset="0"/>
                                </a:rPr>
                                <m:t>𝑆</m:t>
                              </m:r>
                            </m:e>
                          </m:acc>
                        </m:e>
                      </m:nary>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𝐸</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𝑆</m:t>
                          </m:r>
                        </m:e>
                        <m:sub>
                          <m:r>
                            <a:rPr lang="en-US" sz="3000" i="1">
                              <a:solidFill>
                                <a:srgbClr val="000000"/>
                              </a:solidFill>
                              <a:latin typeface="Cambria Math" panose="02040503050406030204" pitchFamily="18" charset="0"/>
                            </a:rPr>
                            <m:t>2</m:t>
                          </m:r>
                        </m:sub>
                      </m:sSub>
                      <m:func>
                        <m:funcPr>
                          <m:ctrlPr>
                            <a:rPr lang="en-US" sz="3000" i="1">
                              <a:solidFill>
                                <a:srgbClr val="000000"/>
                              </a:solidFill>
                              <a:latin typeface="Cambria Math" panose="02040503050406030204" pitchFamily="18" charset="0"/>
                            </a:rPr>
                          </m:ctrlPr>
                        </m:funcPr>
                        <m:fName>
                          <m:r>
                            <m:rPr>
                              <m:sty m:val="p"/>
                            </m:rPr>
                            <a:rPr lang="en-US" sz="3000" i="0">
                              <a:solidFill>
                                <a:srgbClr val="000000"/>
                              </a:solidFill>
                              <a:latin typeface="Cambria Math" panose="02040503050406030204" pitchFamily="18" charset="0"/>
                            </a:rPr>
                            <m:t>cos</m:t>
                          </m:r>
                        </m:fName>
                        <m:e>
                          <m:r>
                            <m:rPr>
                              <m:sty m:val="p"/>
                            </m:rPr>
                            <a:rPr lang="en-US" sz="3000" i="1">
                              <a:solidFill>
                                <a:srgbClr val="000000"/>
                              </a:solidFill>
                              <a:latin typeface="Cambria Math" panose="02040503050406030204" pitchFamily="18" charset="0"/>
                            </a:rPr>
                            <m:t>θ</m:t>
                          </m:r>
                        </m:e>
                      </m:func>
                      <m:r>
                        <a:rPr lang="en-US" sz="3000" i="1">
                          <a:solidFill>
                            <a:srgbClr val="000000"/>
                          </a:solidFill>
                          <a:latin typeface="Cambria Math" panose="02040503050406030204" pitchFamily="18" charset="0"/>
                        </a:rPr>
                        <m:t>=</m:t>
                      </m:r>
                      <m:r>
                        <a:rPr lang="en-US" sz="3000" i="1">
                          <a:solidFill>
                            <a:srgbClr val="000000"/>
                          </a:solidFill>
                          <a:latin typeface="Cambria Math" panose="02040503050406030204" pitchFamily="18" charset="0"/>
                        </a:rPr>
                        <m:t>𝐸</m:t>
                      </m:r>
                      <m:sSub>
                        <m:sSubPr>
                          <m:ctrlPr>
                            <a:rPr lang="en-US" sz="3000" i="1">
                              <a:solidFill>
                                <a:srgbClr val="000000"/>
                              </a:solidFill>
                              <a:latin typeface="Cambria Math" panose="02040503050406030204" pitchFamily="18" charset="0"/>
                            </a:rPr>
                          </m:ctrlPr>
                        </m:sSubPr>
                        <m:e>
                          <m:r>
                            <a:rPr lang="en-US" sz="3000" i="1">
                              <a:solidFill>
                                <a:srgbClr val="000000"/>
                              </a:solidFill>
                              <a:latin typeface="Cambria Math" panose="02040503050406030204" pitchFamily="18" charset="0"/>
                            </a:rPr>
                            <m:t>𝑆</m:t>
                          </m:r>
                        </m:e>
                        <m:sub>
                          <m:r>
                            <a:rPr lang="en-US" sz="3000" i="1">
                              <a:solidFill>
                                <a:srgbClr val="000000"/>
                              </a:solidFill>
                              <a:latin typeface="Cambria Math" panose="02040503050406030204" pitchFamily="18" charset="0"/>
                            </a:rPr>
                            <m:t>1</m:t>
                          </m:r>
                        </m:sub>
                      </m:sSub>
                    </m:oMath>
                  </m:oMathPara>
                </a14:m>
                <a:endParaRPr lang="en-US" sz="3000" dirty="0"/>
              </a:p>
            </p:txBody>
          </p:sp>
        </mc:Choice>
        <mc:Fallback xmlns="">
          <p:sp>
            <p:nvSpPr>
              <p:cNvPr id="5" name="Object 3">
                <a:extLst>
                  <a:ext uri="{FF2B5EF4-FFF2-40B4-BE49-F238E27FC236}">
                    <a16:creationId xmlns:a16="http://schemas.microsoft.com/office/drawing/2014/main" id="{2E8303A8-FA93-1133-8838-8F0ED388B12F}"/>
                  </a:ext>
                </a:extLst>
              </p:cNvPr>
              <p:cNvSpPr txBox="1">
                <a:spLocks noRot="1" noChangeAspect="1" noMove="1" noResize="1" noEditPoints="1" noAdjustHandles="1" noChangeArrowheads="1" noChangeShapeType="1" noTextEdit="1"/>
              </p:cNvSpPr>
              <p:nvPr/>
            </p:nvSpPr>
            <p:spPr>
              <a:xfrm>
                <a:off x="203200" y="5568950"/>
                <a:ext cx="6820695" cy="942975"/>
              </a:xfrm>
              <a:prstGeom prst="rect">
                <a:avLst/>
              </a:prstGeom>
              <a:blipFill>
                <a:blip r:embed="rId19"/>
                <a:stretch>
                  <a:fillRect b="-10390"/>
                </a:stretch>
              </a:blipFill>
              <a:ln w="38100">
                <a:noFill/>
                <a:miter/>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Object 4">
                <a:extLst>
                  <a:ext uri="{FF2B5EF4-FFF2-40B4-BE49-F238E27FC236}">
                    <a16:creationId xmlns:a16="http://schemas.microsoft.com/office/drawing/2014/main" id="{8F2AC72C-1A53-5950-ED2B-AB5572686F66}"/>
                  </a:ext>
                </a:extLst>
              </p:cNvPr>
              <p:cNvSpPr txBox="1"/>
              <p:nvPr/>
            </p:nvSpPr>
            <p:spPr>
              <a:xfrm>
                <a:off x="7706518" y="5368926"/>
                <a:ext cx="3657441" cy="123031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m:rPr>
                              <m:sty m:val="p"/>
                            </m:rPr>
                            <a:rPr lang="en-US" sz="3000" i="0">
                              <a:solidFill>
                                <a:srgbClr val="000000"/>
                              </a:solidFill>
                              <a:latin typeface="Cambria Math" panose="02040503050406030204" pitchFamily="18" charset="0"/>
                            </a:rPr>
                            <m:t>e</m:t>
                          </m:r>
                        </m:sub>
                      </m:sSub>
                      <m:r>
                        <a:rPr lang="en-US" sz="3000" i="1">
                          <a:solidFill>
                            <a:srgbClr val="000000"/>
                          </a:solidFill>
                          <a:latin typeface="Cambria Math" panose="02040503050406030204" pitchFamily="18" charset="0"/>
                        </a:rPr>
                        <m:t>=</m:t>
                      </m:r>
                      <m:nary>
                        <m:naryPr>
                          <m:chr m:val="∑"/>
                          <m:ctrlPr>
                            <a:rPr lang="en-US" sz="3000" i="1">
                              <a:solidFill>
                                <a:srgbClr val="000000"/>
                              </a:solidFill>
                              <a:latin typeface="Cambria Math" panose="02040503050406030204" pitchFamily="18" charset="0"/>
                            </a:rPr>
                          </m:ctrlPr>
                        </m:naryPr>
                        <m:sub>
                          <m:r>
                            <a:rPr lang="en-US" sz="3000" i="1">
                              <a:solidFill>
                                <a:srgbClr val="000000"/>
                              </a:solidFill>
                              <a:latin typeface="Cambria Math" panose="02040503050406030204" pitchFamily="18" charset="0"/>
                            </a:rPr>
                            <m:t>𝑖</m:t>
                          </m:r>
                          <m:r>
                            <a:rPr lang="en-US" sz="3000" i="1">
                              <a:solidFill>
                                <a:srgbClr val="000000"/>
                              </a:solidFill>
                              <a:latin typeface="Cambria Math" panose="02040503050406030204" pitchFamily="18" charset="0"/>
                            </a:rPr>
                            <m:t>=1</m:t>
                          </m:r>
                        </m:sub>
                        <m:sup>
                          <m:r>
                            <a:rPr lang="en-US" sz="3000" i="1">
                              <a:solidFill>
                                <a:srgbClr val="000000"/>
                              </a:solidFill>
                              <a:latin typeface="Cambria Math" panose="02040503050406030204" pitchFamily="18" charset="0"/>
                            </a:rPr>
                            <m:t>5</m:t>
                          </m:r>
                        </m:sup>
                        <m:e>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m:rPr>
                                  <m:sty m:val="p"/>
                                </m:rPr>
                                <a:rPr lang="en-US" sz="3000" i="0">
                                  <a:solidFill>
                                    <a:srgbClr val="000000"/>
                                  </a:solidFill>
                                  <a:latin typeface="Cambria Math" panose="02040503050406030204" pitchFamily="18" charset="0"/>
                                </a:rPr>
                                <m:t>e</m:t>
                              </m:r>
                              <m:r>
                                <a:rPr lang="en-US" sz="3000" i="1">
                                  <a:solidFill>
                                    <a:srgbClr val="000000"/>
                                  </a:solidFill>
                                  <a:latin typeface="Cambria Math" panose="02040503050406030204" pitchFamily="18" charset="0"/>
                                </a:rPr>
                                <m:t>𝑖</m:t>
                              </m:r>
                            </m:sub>
                          </m:sSub>
                        </m:e>
                      </m:nary>
                      <m:r>
                        <a:rPr lang="en-US" sz="3000" i="1">
                          <a:solidFill>
                            <a:srgbClr val="000000"/>
                          </a:solidFill>
                          <a:latin typeface="Cambria Math" panose="02040503050406030204" pitchFamily="18" charset="0"/>
                        </a:rPr>
                        <m:t>=0</m:t>
                      </m:r>
                    </m:oMath>
                  </m:oMathPara>
                </a14:m>
                <a:endParaRPr lang="en-US" sz="3000" dirty="0"/>
              </a:p>
            </p:txBody>
          </p:sp>
        </mc:Choice>
        <mc:Fallback xmlns="">
          <p:sp>
            <p:nvSpPr>
              <p:cNvPr id="6" name="Object 4">
                <a:extLst>
                  <a:ext uri="{FF2B5EF4-FFF2-40B4-BE49-F238E27FC236}">
                    <a16:creationId xmlns:a16="http://schemas.microsoft.com/office/drawing/2014/main" id="{8F2AC72C-1A53-5950-ED2B-AB5572686F66}"/>
                  </a:ext>
                </a:extLst>
              </p:cNvPr>
              <p:cNvSpPr txBox="1">
                <a:spLocks noRot="1" noChangeAspect="1" noMove="1" noResize="1" noEditPoints="1" noAdjustHandles="1" noChangeArrowheads="1" noChangeShapeType="1" noTextEdit="1"/>
              </p:cNvSpPr>
              <p:nvPr/>
            </p:nvSpPr>
            <p:spPr>
              <a:xfrm>
                <a:off x="7706518" y="5368926"/>
                <a:ext cx="3657441" cy="1230313"/>
              </a:xfrm>
              <a:prstGeom prst="rect">
                <a:avLst/>
              </a:prstGeom>
              <a:blipFill>
                <a:blip r:embed="rId20"/>
                <a:stretch>
                  <a:fillRect b="-8416"/>
                </a:stretch>
              </a:blipFill>
              <a:ln w="38100">
                <a:noFill/>
                <a:miter/>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52" name="Object 43">
                <a:extLst>
                  <a:ext uri="{FF2B5EF4-FFF2-40B4-BE49-F238E27FC236}">
                    <a16:creationId xmlns:a16="http://schemas.microsoft.com/office/drawing/2014/main" id="{F58DD12F-4AD8-4EE5-BBCD-2A1C8EC6592B}"/>
                  </a:ext>
                </a:extLst>
              </p:cNvPr>
              <p:cNvSpPr txBox="1"/>
              <p:nvPr/>
            </p:nvSpPr>
            <p:spPr>
              <a:xfrm>
                <a:off x="4071938" y="2971801"/>
                <a:ext cx="2419350" cy="652463"/>
              </a:xfrm>
              <a:prstGeom prst="rect">
                <a:avLst/>
              </a:prstGeom>
              <a:noFill/>
              <a:ln w="38100">
                <a:noFill/>
                <a:miter/>
              </a:ln>
            </p:spPr>
            <p:txBody>
              <a:bodyPr>
                <a:noAutofit/>
              </a:bodyPr>
              <a:lstStyle/>
              <a:p>
                <a:pPr/>
                <a14:m>
                  <m:oMathPara xmlns:m="http://schemas.openxmlformats.org/officeDocument/2006/math">
                    <m:oMathParaPr>
                      <m:jc m:val="centerGroup"/>
                    </m:oMathParaPr>
                    <m:oMath xmlns:m="http://schemas.openxmlformats.org/officeDocument/2006/math">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a:rPr lang="en-US" sz="3000" i="1">
                              <a:solidFill>
                                <a:srgbClr val="000000"/>
                              </a:solidFill>
                              <a:latin typeface="Cambria Math" panose="02040503050406030204" pitchFamily="18" charset="0"/>
                            </a:rPr>
                            <m:t>𝑒</m:t>
                          </m:r>
                          <m:r>
                            <a:rPr lang="en-US" sz="3000" i="1">
                              <a:solidFill>
                                <a:srgbClr val="000000"/>
                              </a:solidFill>
                              <a:latin typeface="Cambria Math" panose="02040503050406030204" pitchFamily="18" charset="0"/>
                            </a:rPr>
                            <m:t>1</m:t>
                          </m:r>
                        </m:sub>
                      </m:sSub>
                      <m:r>
                        <a:rPr lang="en-US" sz="3000" i="1">
                          <a:solidFill>
                            <a:srgbClr val="000000"/>
                          </a:solidFill>
                          <a:latin typeface="Cambria Math" panose="02040503050406030204" pitchFamily="18" charset="0"/>
                        </a:rPr>
                        <m:t>+</m:t>
                      </m:r>
                      <m:sSub>
                        <m:sSubPr>
                          <m:ctrlPr>
                            <a:rPr lang="en-US" sz="3000" i="1">
                              <a:solidFill>
                                <a:srgbClr val="000000"/>
                              </a:solidFill>
                              <a:latin typeface="Cambria Math" panose="02040503050406030204" pitchFamily="18" charset="0"/>
                            </a:rPr>
                          </m:ctrlPr>
                        </m:sSubPr>
                        <m:e>
                          <m:r>
                            <m:rPr>
                              <m:sty m:val="p"/>
                            </m:rPr>
                            <a:rPr lang="en-US" sz="3000" i="1">
                              <a:solidFill>
                                <a:srgbClr val="000000"/>
                              </a:solidFill>
                              <a:latin typeface="Cambria Math" panose="02040503050406030204" pitchFamily="18" charset="0"/>
                            </a:rPr>
                            <m:t>Φ</m:t>
                          </m:r>
                        </m:e>
                        <m:sub>
                          <m:r>
                            <a:rPr lang="en-US" sz="3000" i="1">
                              <a:solidFill>
                                <a:srgbClr val="000000"/>
                              </a:solidFill>
                              <a:latin typeface="Cambria Math" panose="02040503050406030204" pitchFamily="18" charset="0"/>
                            </a:rPr>
                            <m:t>𝑒</m:t>
                          </m:r>
                          <m:r>
                            <a:rPr lang="en-US" sz="3000" i="1">
                              <a:solidFill>
                                <a:srgbClr val="000000"/>
                              </a:solidFill>
                              <a:latin typeface="Cambria Math" panose="02040503050406030204" pitchFamily="18" charset="0"/>
                            </a:rPr>
                            <m:t>2</m:t>
                          </m:r>
                        </m:sub>
                      </m:sSub>
                    </m:oMath>
                  </m:oMathPara>
                </a14:m>
                <a:endParaRPr lang="en-US" sz="3000" dirty="0"/>
              </a:p>
            </p:txBody>
          </p:sp>
        </mc:Choice>
        <mc:Fallback>
          <p:sp>
            <p:nvSpPr>
              <p:cNvPr id="52" name="Object 43">
                <a:extLst>
                  <a:ext uri="{FF2B5EF4-FFF2-40B4-BE49-F238E27FC236}">
                    <a16:creationId xmlns:a16="http://schemas.microsoft.com/office/drawing/2014/main" id="{F58DD12F-4AD8-4EE5-BBCD-2A1C8EC6592B}"/>
                  </a:ext>
                </a:extLst>
              </p:cNvPr>
              <p:cNvSpPr txBox="1">
                <a:spLocks noRot="1" noChangeAspect="1" noMove="1" noResize="1" noEditPoints="1" noAdjustHandles="1" noChangeArrowheads="1" noChangeShapeType="1" noTextEdit="1"/>
              </p:cNvSpPr>
              <p:nvPr/>
            </p:nvSpPr>
            <p:spPr>
              <a:xfrm>
                <a:off x="4071938" y="2971801"/>
                <a:ext cx="2419350" cy="652463"/>
              </a:xfrm>
              <a:prstGeom prst="rect">
                <a:avLst/>
              </a:prstGeom>
              <a:blipFill>
                <a:blip r:embed="rId21"/>
                <a:stretch>
                  <a:fillRect/>
                </a:stretch>
              </a:blipFill>
              <a:ln w="38100">
                <a:noFill/>
                <a:miter/>
              </a:ln>
            </p:spPr>
            <p:txBody>
              <a:bodyPr/>
              <a:lstStyle/>
              <a:p>
                <a:r>
                  <a:rPr lang="en-US">
                    <a:noFill/>
                  </a:rPr>
                  <a:t> </a:t>
                </a:r>
              </a:p>
            </p:txBody>
          </p:sp>
        </mc:Fallback>
      </mc:AlternateContent>
    </p:spTree>
    <p:extLst>
      <p:ext uri="{BB962C8B-B14F-4D97-AF65-F5344CB8AC3E}">
        <p14:creationId xmlns:p14="http://schemas.microsoft.com/office/powerpoint/2010/main" val="3826331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1952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5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9524" grpId="0"/>
      <p:bldP spid="3" grpId="0"/>
      <p:bldP spid="5" grpId="0"/>
      <p:bldP spid="6" grpId="0"/>
      <p:bldP spid="5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f24_06">
            <a:extLst>
              <a:ext uri="{FF2B5EF4-FFF2-40B4-BE49-F238E27FC236}">
                <a16:creationId xmlns:a16="http://schemas.microsoft.com/office/drawing/2014/main" id="{05F0ED1B-4AEC-4DFE-B78F-AF337D528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4536" y="481689"/>
            <a:ext cx="3427413" cy="575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内容占位符 4">
            <a:extLst>
              <a:ext uri="{FF2B5EF4-FFF2-40B4-BE49-F238E27FC236}">
                <a16:creationId xmlns:a16="http://schemas.microsoft.com/office/drawing/2014/main" id="{C20F1368-7427-4EB9-9A24-61FF813C3AAC}"/>
              </a:ext>
            </a:extLst>
          </p:cNvPr>
          <p:cNvSpPr txBox="1">
            <a:spLocks/>
          </p:cNvSpPr>
          <p:nvPr/>
        </p:nvSpPr>
        <p:spPr>
          <a:xfrm>
            <a:off x="4818883" y="1151830"/>
            <a:ext cx="6071145" cy="4652656"/>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buFontTx/>
              <a:buChar char="-"/>
            </a:pP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600" baseline="-25000" dirty="0">
                <a:latin typeface="华文楷体" panose="02010600040101010101" pitchFamily="2" charset="-122"/>
                <a:ea typeface="华文楷体" panose="02010600040101010101" pitchFamily="2" charset="-122"/>
                <a:cs typeface="Times New Roman" panose="02020603050405020304" pitchFamily="18" charset="0"/>
              </a:rPr>
              <a:t>1</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面：有正电荷，电场线穿出</a:t>
            </a: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600" baseline="-25000" dirty="0">
                <a:latin typeface="华文楷体" panose="02010600040101010101" pitchFamily="2" charset="-122"/>
                <a:ea typeface="华文楷体" panose="02010600040101010101" pitchFamily="2" charset="-122"/>
                <a:cs typeface="Times New Roman" panose="02020603050405020304" pitchFamily="18" charset="0"/>
              </a:rPr>
              <a:t>1</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面，电通量为正</a:t>
            </a:r>
            <a:endParaRPr lang="en-US" altLang="zh-CN" sz="2600" dirty="0">
              <a:latin typeface="华文楷体" panose="02010600040101010101" pitchFamily="2" charset="-122"/>
              <a:ea typeface="华文楷体" panose="02010600040101010101" pitchFamily="2" charset="-122"/>
              <a:cs typeface="Times New Roman" panose="02020603050405020304" pitchFamily="18" charset="0"/>
            </a:endParaRPr>
          </a:p>
          <a:p>
            <a:pPr>
              <a:lnSpc>
                <a:spcPct val="100000"/>
              </a:lnSpc>
              <a:buFontTx/>
              <a:buChar char="-"/>
            </a:pP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600" baseline="-25000" dirty="0">
                <a:latin typeface="华文楷体" panose="02010600040101010101" pitchFamily="2" charset="-122"/>
                <a:ea typeface="华文楷体" panose="02010600040101010101" pitchFamily="2" charset="-122"/>
                <a:cs typeface="Times New Roman" panose="02020603050405020304" pitchFamily="18" charset="0"/>
              </a:rPr>
              <a:t>2</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面：有负电荷，电场线穿入</a:t>
            </a: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600" baseline="-25000" dirty="0">
                <a:latin typeface="华文楷体" panose="02010600040101010101" pitchFamily="2" charset="-122"/>
                <a:ea typeface="华文楷体" panose="02010600040101010101" pitchFamily="2" charset="-122"/>
                <a:cs typeface="Times New Roman" panose="02020603050405020304" pitchFamily="18" charset="0"/>
              </a:rPr>
              <a:t>2</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面，电通量为负</a:t>
            </a:r>
            <a:endParaRPr lang="en-US" altLang="zh-CN" sz="2600" dirty="0">
              <a:latin typeface="华文楷体" panose="02010600040101010101" pitchFamily="2" charset="-122"/>
              <a:ea typeface="华文楷体" panose="02010600040101010101" pitchFamily="2" charset="-122"/>
              <a:cs typeface="Times New Roman" panose="02020603050405020304" pitchFamily="18" charset="0"/>
            </a:endParaRPr>
          </a:p>
          <a:p>
            <a:pPr>
              <a:lnSpc>
                <a:spcPct val="100000"/>
              </a:lnSpc>
              <a:buFontTx/>
              <a:buChar char="-"/>
            </a:pP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600" baseline="-25000" dirty="0">
                <a:latin typeface="华文楷体" panose="02010600040101010101" pitchFamily="2" charset="-122"/>
                <a:ea typeface="华文楷体" panose="02010600040101010101" pitchFamily="2" charset="-122"/>
                <a:cs typeface="Times New Roman" panose="02020603050405020304" pitchFamily="18" charset="0"/>
              </a:rPr>
              <a:t>3</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面：无电荷，电通量为</a:t>
            </a: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0</a:t>
            </a:r>
          </a:p>
          <a:p>
            <a:pPr>
              <a:lnSpc>
                <a:spcPct val="100000"/>
              </a:lnSpc>
              <a:buFontTx/>
              <a:buChar char="-"/>
            </a:pP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S</a:t>
            </a:r>
            <a:r>
              <a:rPr lang="en-US" altLang="zh-CN" sz="2600" baseline="-25000" dirty="0">
                <a:latin typeface="华文楷体" panose="02010600040101010101" pitchFamily="2" charset="-122"/>
                <a:ea typeface="华文楷体" panose="02010600040101010101" pitchFamily="2" charset="-122"/>
                <a:cs typeface="Times New Roman" panose="02020603050405020304" pitchFamily="18" charset="0"/>
              </a:rPr>
              <a:t>4</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面：有正、负电荷，总电量为</a:t>
            </a:r>
            <a:r>
              <a:rPr lang="en-US" altLang="zh-CN" sz="2600" dirty="0">
                <a:latin typeface="华文楷体" panose="02010600040101010101" pitchFamily="2" charset="-122"/>
                <a:ea typeface="华文楷体" panose="02010600040101010101" pitchFamily="2" charset="-122"/>
                <a:cs typeface="Times New Roman" panose="02020603050405020304" pitchFamily="18" charset="0"/>
              </a:rPr>
              <a:t>0</a:t>
            </a:r>
            <a:r>
              <a:rPr lang="zh-CN" altLang="en-US" sz="2600" dirty="0">
                <a:latin typeface="华文楷体" panose="02010600040101010101" pitchFamily="2" charset="-122"/>
                <a:ea typeface="华文楷体" panose="02010600040101010101" pitchFamily="2" charset="-122"/>
                <a:cs typeface="Times New Roman" panose="02020603050405020304" pitchFamily="18" charset="0"/>
              </a:rPr>
              <a:t>，电通量待定</a:t>
            </a:r>
            <a:endParaRPr lang="en-US" altLang="zh-CN" sz="2600" dirty="0">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6BAE58CF-9E94-42AE-8024-AC7FF72DCD05}"/>
              </a:ext>
            </a:extLst>
          </p:cNvPr>
          <p:cNvSpPr txBox="1"/>
          <p:nvPr/>
        </p:nvSpPr>
        <p:spPr>
          <a:xfrm>
            <a:off x="5536649" y="5144494"/>
            <a:ext cx="4847754" cy="492443"/>
          </a:xfrm>
          <a:prstGeom prst="rect">
            <a:avLst/>
          </a:prstGeom>
          <a:noFill/>
        </p:spPr>
        <p:txBody>
          <a:bodyPr wrap="square" rtlCol="0">
            <a:spAutoFit/>
          </a:bodyPr>
          <a:lstStyle/>
          <a:p>
            <a:r>
              <a:rPr lang="zh-CN" altLang="en-US" sz="2600" dirty="0">
                <a:solidFill>
                  <a:srgbClr val="FF0000"/>
                </a:solidFill>
                <a:latin typeface="华文楷体" panose="02010600040101010101" pitchFamily="2" charset="-122"/>
                <a:ea typeface="华文楷体" panose="02010600040101010101" pitchFamily="2" charset="-122"/>
              </a:rPr>
              <a:t>电通量反映了电场的一些性质</a:t>
            </a:r>
            <a:endParaRPr lang="en-US" sz="2600" dirty="0">
              <a:solidFill>
                <a:srgbClr val="FF0000"/>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109767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2" name="内容占位符 2">
                <a:extLst>
                  <a:ext uri="{FF2B5EF4-FFF2-40B4-BE49-F238E27FC236}">
                    <a16:creationId xmlns:a16="http://schemas.microsoft.com/office/drawing/2014/main" id="{C73DA87C-F7AD-4532-9453-3D3EA45E9DE0}"/>
                  </a:ext>
                </a:extLst>
              </p:cNvPr>
              <p:cNvSpPr>
                <a:spLocks noGrp="1"/>
              </p:cNvSpPr>
              <p:nvPr>
                <p:ph idx="1"/>
              </p:nvPr>
            </p:nvSpPr>
            <p:spPr>
              <a:xfrm>
                <a:off x="6254855" y="987468"/>
                <a:ext cx="5369220" cy="4023360"/>
              </a:xfrm>
            </p:spPr>
            <p:txBody>
              <a:bodyPr>
                <a:noAutofit/>
              </a:bodyPr>
              <a:lstStyle/>
              <a:p>
                <a:pPr marL="0" indent="0">
                  <a:lnSpc>
                    <a:spcPct val="120000"/>
                  </a:lnSpc>
                  <a:buNone/>
                </a:pPr>
                <a14:m>
                  <m:oMathPara xmlns:m="http://schemas.openxmlformats.org/officeDocument/2006/math">
                    <m:oMathParaPr>
                      <m:jc m:val="centerGroup"/>
                    </m:oMathParaPr>
                    <m:oMath xmlns:m="http://schemas.openxmlformats.org/officeDocument/2006/math">
                      <m:sSub>
                        <m:sSubPr>
                          <m:ctrlPr>
                            <a:rPr lang="en-US" altLang="zh-CN" i="1" smtClean="0">
                              <a:latin typeface="Cambria Math" panose="02040503050406030204" pitchFamily="18" charset="0"/>
                            </a:rPr>
                          </m:ctrlPr>
                        </m:sSubPr>
                        <m:e>
                          <m:r>
                            <a:rPr lang="zh-CN" altLang="en-US" b="0" i="1">
                              <a:latin typeface="Cambria Math" panose="02040503050406030204" pitchFamily="18" charset="0"/>
                            </a:rPr>
                            <m:t>𝛷</m:t>
                          </m:r>
                        </m:e>
                        <m:sub>
                          <m:r>
                            <a:rPr lang="en-US" altLang="zh-CN" b="0" i="1">
                              <a:latin typeface="Cambria Math" panose="02040503050406030204" pitchFamily="18" charset="0"/>
                            </a:rPr>
                            <m:t>𝑒</m:t>
                          </m:r>
                        </m:sub>
                      </m:sSub>
                      <m:r>
                        <a:rPr lang="en-US" altLang="zh-CN" b="0"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b="0" i="1">
                              <a:latin typeface="Cambria Math" panose="02040503050406030204" pitchFamily="18" charset="0"/>
                            </a:rPr>
                            <m:t>𝑆</m:t>
                          </m:r>
                        </m:sub>
                        <m:sup/>
                        <m:e>
                          <m:acc>
                            <m:accPr>
                              <m:chr m:val="⃗"/>
                              <m:ctrlPr>
                                <a:rPr lang="en-US" altLang="zh-CN" i="1">
                                  <a:latin typeface="Cambria Math" panose="02040503050406030204" pitchFamily="18" charset="0"/>
                                </a:rPr>
                              </m:ctrlPr>
                            </m:accPr>
                            <m:e>
                              <m:r>
                                <a:rPr lang="en-US" altLang="zh-CN" b="0" i="1">
                                  <a:latin typeface="Cambria Math" panose="02040503050406030204" pitchFamily="18" charset="0"/>
                                </a:rPr>
                                <m:t>𝐸</m:t>
                              </m:r>
                            </m:e>
                          </m:acc>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𝑑</m:t>
                          </m:r>
                          <m:acc>
                            <m:accPr>
                              <m:chr m:val="⃗"/>
                              <m:ctrlPr>
                                <a:rPr lang="en-US" altLang="zh-CN" i="1">
                                  <a:latin typeface="Cambria Math" panose="02040503050406030204" pitchFamily="18" charset="0"/>
                                </a:rPr>
                              </m:ctrlPr>
                            </m:accPr>
                            <m:e>
                              <m:r>
                                <a:rPr lang="en-US" altLang="zh-CN" b="0" i="1">
                                  <a:latin typeface="Cambria Math" panose="02040503050406030204" pitchFamily="18" charset="0"/>
                                </a:rPr>
                                <m:t>𝑆</m:t>
                              </m:r>
                            </m:e>
                          </m:acc>
                        </m:e>
                      </m:nary>
                    </m:oMath>
                  </m:oMathPara>
                </a14:m>
                <a:endParaRPr lang="en-US" altLang="zh-CN" i="1" dirty="0">
                  <a:latin typeface="华文楷体" panose="02010600040101010101" pitchFamily="2" charset="-122"/>
                  <a:ea typeface="华文楷体" panose="02010600040101010101" pitchFamily="2" charset="-122"/>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b="0"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b="0" i="1">
                              <a:latin typeface="Cambria Math" panose="02040503050406030204" pitchFamily="18" charset="0"/>
                            </a:rPr>
                            <m:t>𝑆</m:t>
                          </m:r>
                        </m:sub>
                        <m:sup/>
                        <m:e>
                          <m:f>
                            <m:fPr>
                              <m:ctrlPr>
                                <a:rPr lang="en-US" altLang="zh-CN" i="1">
                                  <a:latin typeface="Cambria Math" panose="02040503050406030204" pitchFamily="18" charset="0"/>
                                </a:rPr>
                              </m:ctrlPr>
                            </m:fPr>
                            <m:num>
                              <m:r>
                                <a:rPr lang="en-US" altLang="zh-CN" b="0" i="1">
                                  <a:latin typeface="Cambria Math" panose="02040503050406030204" pitchFamily="18" charset="0"/>
                                </a:rPr>
                                <m:t>𝑞</m:t>
                              </m:r>
                            </m:num>
                            <m:den>
                              <m:r>
                                <a:rPr lang="en-US" altLang="zh-CN" b="0" i="1">
                                  <a:latin typeface="Cambria Math" panose="02040503050406030204" pitchFamily="18" charset="0"/>
                                </a:rPr>
                                <m:t>4</m:t>
                              </m:r>
                              <m:r>
                                <a:rPr lang="zh-CN" altLang="en-US" b="0" i="1">
                                  <a:latin typeface="Cambria Math" panose="02040503050406030204" pitchFamily="18" charset="0"/>
                                </a:rPr>
                                <m:t>𝜋</m:t>
                              </m:r>
                              <m:sSub>
                                <m:sSubPr>
                                  <m:ctrlPr>
                                    <a:rPr lang="en-US" altLang="zh-CN" i="1">
                                      <a:latin typeface="Cambria Math" panose="02040503050406030204" pitchFamily="18" charset="0"/>
                                    </a:rPr>
                                  </m:ctrlPr>
                                </m:sSubPr>
                                <m:e>
                                  <m:r>
                                    <a:rPr lang="zh-CN" altLang="en-US" b="0" i="1">
                                      <a:latin typeface="Cambria Math" panose="02040503050406030204" pitchFamily="18" charset="0"/>
                                    </a:rPr>
                                    <m:t>𝜀</m:t>
                                  </m:r>
                                </m:e>
                                <m:sub>
                                  <m:r>
                                    <a:rPr lang="en-US" altLang="zh-CN" b="0" i="1">
                                      <a:latin typeface="Cambria Math" panose="02040503050406030204" pitchFamily="18" charset="0"/>
                                    </a:rPr>
                                    <m:t>0</m:t>
                                  </m:r>
                                </m:sub>
                              </m:sSub>
                              <m:sSup>
                                <m:sSupPr>
                                  <m:ctrlPr>
                                    <a:rPr lang="en-US" altLang="zh-CN" i="1">
                                      <a:latin typeface="Cambria Math" panose="02040503050406030204" pitchFamily="18" charset="0"/>
                                    </a:rPr>
                                  </m:ctrlPr>
                                </m:sSupPr>
                                <m:e>
                                  <m:r>
                                    <a:rPr lang="en-US" altLang="zh-CN" b="0" i="1">
                                      <a:latin typeface="Cambria Math" panose="02040503050406030204" pitchFamily="18" charset="0"/>
                                    </a:rPr>
                                    <m:t>𝑟</m:t>
                                  </m:r>
                                </m:e>
                                <m:sup>
                                  <m:r>
                                    <a:rPr lang="en-US" altLang="zh-CN" b="0" i="1">
                                      <a:latin typeface="Cambria Math" panose="02040503050406030204" pitchFamily="18" charset="0"/>
                                    </a:rPr>
                                    <m:t>3</m:t>
                                  </m:r>
                                </m:sup>
                              </m:sSup>
                            </m:den>
                          </m:f>
                          <m:acc>
                            <m:accPr>
                              <m:chr m:val="⃗"/>
                              <m:ctrlPr>
                                <a:rPr lang="en-US" altLang="zh-CN" i="1">
                                  <a:latin typeface="Cambria Math" panose="02040503050406030204" pitchFamily="18" charset="0"/>
                                </a:rPr>
                              </m:ctrlPr>
                            </m:accPr>
                            <m:e>
                              <m:r>
                                <a:rPr lang="en-US" altLang="zh-CN" b="0" i="1">
                                  <a:latin typeface="Cambria Math" panose="02040503050406030204" pitchFamily="18" charset="0"/>
                                </a:rPr>
                                <m:t>𝑟</m:t>
                              </m:r>
                            </m:e>
                          </m:acc>
                          <m:r>
                            <a:rPr lang="en-US" altLang="zh-CN" b="0" i="1">
                              <a:latin typeface="Cambria Math" panose="02040503050406030204" pitchFamily="18" charset="0"/>
                              <a:ea typeface="Cambria Math" panose="02040503050406030204" pitchFamily="18" charset="0"/>
                            </a:rPr>
                            <m:t>∙</m:t>
                          </m:r>
                          <m:r>
                            <a:rPr lang="en-US" altLang="zh-CN" b="0" i="1">
                              <a:latin typeface="Cambria Math" panose="02040503050406030204" pitchFamily="18" charset="0"/>
                              <a:ea typeface="Cambria Math" panose="02040503050406030204" pitchFamily="18" charset="0"/>
                            </a:rPr>
                            <m:t>𝑑</m:t>
                          </m:r>
                          <m:acc>
                            <m:accPr>
                              <m:chr m:val="⃗"/>
                              <m:ctrlPr>
                                <a:rPr lang="en-US" altLang="zh-CN" i="1">
                                  <a:latin typeface="Cambria Math" panose="02040503050406030204" pitchFamily="18" charset="0"/>
                                </a:rPr>
                              </m:ctrlPr>
                            </m:accPr>
                            <m:e>
                              <m:r>
                                <a:rPr lang="en-US" altLang="zh-CN" b="0" i="1">
                                  <a:latin typeface="Cambria Math" panose="02040503050406030204" pitchFamily="18" charset="0"/>
                                </a:rPr>
                                <m:t>𝑆</m:t>
                              </m:r>
                            </m:e>
                          </m:acc>
                        </m:e>
                      </m:nary>
                    </m:oMath>
                  </m:oMathPara>
                </a14:m>
                <a:endParaRPr lang="en-US" altLang="zh-CN" dirty="0">
                  <a:latin typeface="华文楷体" panose="02010600040101010101" pitchFamily="2" charset="-122"/>
                  <a:ea typeface="华文楷体" panose="02010600040101010101" pitchFamily="2" charset="-122"/>
                </a:endParaRPr>
              </a:p>
              <a:p>
                <a:pPr marL="0" indent="0">
                  <a:lnSpc>
                    <a:spcPct val="120000"/>
                  </a:lnSpc>
                  <a:buNone/>
                </a:pPr>
                <a:r>
                  <a:rPr lang="en-US" altLang="zh-CN" dirty="0"/>
                  <a:t>               </a:t>
                </a:r>
                <a14:m>
                  <m:oMath xmlns:m="http://schemas.openxmlformats.org/officeDocument/2006/math">
                    <m:r>
                      <a:rPr lang="en-US" altLang="zh-CN" b="0" i="1">
                        <a:latin typeface="Cambria Math" panose="02040503050406030204" pitchFamily="18" charset="0"/>
                      </a:rPr>
                      <m:t>=</m:t>
                    </m:r>
                    <m:nary>
                      <m:naryPr>
                        <m:chr m:val="∯"/>
                        <m:ctrlPr>
                          <a:rPr lang="en-US" altLang="zh-CN" i="1">
                            <a:latin typeface="Cambria Math" panose="02040503050406030204" pitchFamily="18" charset="0"/>
                          </a:rPr>
                        </m:ctrlPr>
                      </m:naryPr>
                      <m:sub>
                        <m:r>
                          <m:rPr>
                            <m:brk m:alnAt="23"/>
                          </m:rPr>
                          <a:rPr lang="en-US" altLang="zh-CN" b="0" i="1">
                            <a:latin typeface="Cambria Math" panose="02040503050406030204" pitchFamily="18" charset="0"/>
                          </a:rPr>
                          <m:t>𝑆</m:t>
                        </m:r>
                      </m:sub>
                      <m:sup/>
                      <m:e>
                        <m:f>
                          <m:fPr>
                            <m:ctrlPr>
                              <a:rPr lang="en-US" altLang="zh-CN" i="1">
                                <a:latin typeface="Cambria Math" panose="02040503050406030204" pitchFamily="18" charset="0"/>
                              </a:rPr>
                            </m:ctrlPr>
                          </m:fPr>
                          <m:num>
                            <m:r>
                              <a:rPr lang="en-US" altLang="zh-CN" b="0" i="1">
                                <a:latin typeface="Cambria Math" panose="02040503050406030204" pitchFamily="18" charset="0"/>
                              </a:rPr>
                              <m:t>𝑞</m:t>
                            </m:r>
                          </m:num>
                          <m:den>
                            <m:r>
                              <a:rPr lang="en-US" altLang="zh-CN" b="0" i="1">
                                <a:latin typeface="Cambria Math" panose="02040503050406030204" pitchFamily="18" charset="0"/>
                              </a:rPr>
                              <m:t>4</m:t>
                            </m:r>
                            <m:r>
                              <a:rPr lang="zh-CN" altLang="en-US" b="0" i="1">
                                <a:latin typeface="Cambria Math" panose="02040503050406030204" pitchFamily="18" charset="0"/>
                              </a:rPr>
                              <m:t>𝜋</m:t>
                            </m:r>
                            <m:sSub>
                              <m:sSubPr>
                                <m:ctrlPr>
                                  <a:rPr lang="en-US" altLang="zh-CN" i="1">
                                    <a:latin typeface="Cambria Math" panose="02040503050406030204" pitchFamily="18" charset="0"/>
                                  </a:rPr>
                                </m:ctrlPr>
                              </m:sSubPr>
                              <m:e>
                                <m:r>
                                  <a:rPr lang="zh-CN" altLang="en-US" b="0" i="1">
                                    <a:latin typeface="Cambria Math" panose="02040503050406030204" pitchFamily="18" charset="0"/>
                                  </a:rPr>
                                  <m:t>𝜀</m:t>
                                </m:r>
                              </m:e>
                              <m:sub>
                                <m:r>
                                  <a:rPr lang="en-US" altLang="zh-CN" b="0" i="1">
                                    <a:latin typeface="Cambria Math" panose="02040503050406030204" pitchFamily="18" charset="0"/>
                                  </a:rPr>
                                  <m:t>0</m:t>
                                </m:r>
                              </m:sub>
                            </m:sSub>
                            <m:sSup>
                              <m:sSupPr>
                                <m:ctrlPr>
                                  <a:rPr lang="en-US" altLang="zh-CN" i="1">
                                    <a:latin typeface="Cambria Math" panose="02040503050406030204" pitchFamily="18" charset="0"/>
                                  </a:rPr>
                                </m:ctrlPr>
                              </m:sSupPr>
                              <m:e>
                                <m:r>
                                  <a:rPr lang="en-US" altLang="zh-CN" b="0" i="1">
                                    <a:latin typeface="Cambria Math" panose="02040503050406030204" pitchFamily="18" charset="0"/>
                                  </a:rPr>
                                  <m:t>𝑟</m:t>
                                </m:r>
                              </m:e>
                              <m:sup>
                                <m:r>
                                  <a:rPr lang="en-US" altLang="zh-CN" b="0" i="1">
                                    <a:latin typeface="Cambria Math" panose="02040503050406030204" pitchFamily="18" charset="0"/>
                                  </a:rPr>
                                  <m:t>2</m:t>
                                </m:r>
                              </m:sup>
                            </m:sSup>
                          </m:den>
                        </m:f>
                        <m:r>
                          <a:rPr lang="en-US" altLang="zh-CN" b="0" i="1">
                            <a:latin typeface="Cambria Math" panose="02040503050406030204" pitchFamily="18" charset="0"/>
                          </a:rPr>
                          <m:t>𝑑𝑆</m:t>
                        </m:r>
                      </m:e>
                    </m:nary>
                  </m:oMath>
                </a14:m>
                <a:endParaRPr lang="en-US" altLang="zh-CN" i="1" dirty="0">
                  <a:latin typeface="Cambria Math" panose="02040503050406030204" pitchFamily="18" charset="0"/>
                </a:endParaRPr>
              </a:p>
              <a:p>
                <a:pPr marL="0" indent="0">
                  <a:lnSpc>
                    <a:spcPct val="120000"/>
                  </a:lnSpc>
                  <a:buNone/>
                </a:pPr>
                <a14:m>
                  <m:oMathPara xmlns:m="http://schemas.openxmlformats.org/officeDocument/2006/math">
                    <m:oMathParaPr>
                      <m:jc m:val="centerGroup"/>
                    </m:oMathParaPr>
                    <m:oMath xmlns:m="http://schemas.openxmlformats.org/officeDocument/2006/math">
                      <m:r>
                        <a:rPr lang="en-US" altLang="zh-CN" b="0" i="1">
                          <a:latin typeface="Cambria Math" panose="02040503050406030204" pitchFamily="18" charset="0"/>
                        </a:rPr>
                        <m:t>=</m:t>
                      </m:r>
                      <m:f>
                        <m:fPr>
                          <m:ctrlPr>
                            <a:rPr lang="en-US" altLang="zh-CN" i="1">
                              <a:latin typeface="Cambria Math" panose="02040503050406030204" pitchFamily="18" charset="0"/>
                            </a:rPr>
                          </m:ctrlPr>
                        </m:fPr>
                        <m:num>
                          <m:r>
                            <a:rPr lang="en-US" altLang="zh-CN" b="0" i="1">
                              <a:latin typeface="Cambria Math" panose="02040503050406030204" pitchFamily="18" charset="0"/>
                            </a:rPr>
                            <m:t>𝑞</m:t>
                          </m:r>
                        </m:num>
                        <m:den>
                          <m:sSub>
                            <m:sSubPr>
                              <m:ctrlPr>
                                <a:rPr lang="en-US" altLang="zh-CN" i="1">
                                  <a:latin typeface="Cambria Math" panose="02040503050406030204" pitchFamily="18" charset="0"/>
                                </a:rPr>
                              </m:ctrlPr>
                            </m:sSubPr>
                            <m:e>
                              <m:r>
                                <a:rPr lang="zh-CN" altLang="en-US" b="0" i="1">
                                  <a:latin typeface="Cambria Math" panose="02040503050406030204" pitchFamily="18" charset="0"/>
                                </a:rPr>
                                <m:t>𝜀</m:t>
                              </m:r>
                            </m:e>
                            <m:sub>
                              <m:r>
                                <a:rPr lang="en-US" altLang="zh-CN" b="0" i="1">
                                  <a:latin typeface="Cambria Math" panose="02040503050406030204" pitchFamily="18" charset="0"/>
                                </a:rPr>
                                <m:t>0</m:t>
                              </m:r>
                            </m:sub>
                          </m:sSub>
                        </m:den>
                      </m:f>
                    </m:oMath>
                  </m:oMathPara>
                </a14:m>
                <a:endParaRPr lang="zh-CN" altLang="en-US" dirty="0">
                  <a:latin typeface="华文楷体" panose="02010600040101010101" pitchFamily="2" charset="-122"/>
                  <a:ea typeface="华文楷体" panose="02010600040101010101" pitchFamily="2" charset="-122"/>
                </a:endParaRPr>
              </a:p>
              <a:p>
                <a:pPr marL="0" indent="0">
                  <a:lnSpc>
                    <a:spcPct val="120000"/>
                  </a:lnSpc>
                  <a:buNone/>
                </a:pPr>
                <a:endParaRPr lang="en-US" altLang="zh-CN" i="1" dirty="0">
                  <a:latin typeface="Cambria Math" panose="02040503050406030204" pitchFamily="18" charset="0"/>
                </a:endParaRPr>
              </a:p>
            </p:txBody>
          </p:sp>
        </mc:Choice>
        <mc:Fallback xmlns="">
          <p:sp>
            <p:nvSpPr>
              <p:cNvPr id="12" name="内容占位符 2">
                <a:extLst>
                  <a:ext uri="{FF2B5EF4-FFF2-40B4-BE49-F238E27FC236}">
                    <a16:creationId xmlns:a16="http://schemas.microsoft.com/office/drawing/2014/main" id="{C73DA87C-F7AD-4532-9453-3D3EA45E9DE0}"/>
                  </a:ext>
                </a:extLst>
              </p:cNvPr>
              <p:cNvSpPr>
                <a:spLocks noGrp="1" noRot="1" noChangeAspect="1" noMove="1" noResize="1" noEditPoints="1" noAdjustHandles="1" noChangeArrowheads="1" noChangeShapeType="1" noTextEdit="1"/>
              </p:cNvSpPr>
              <p:nvPr>
                <p:ph idx="1"/>
              </p:nvPr>
            </p:nvSpPr>
            <p:spPr>
              <a:xfrm>
                <a:off x="6254855" y="987468"/>
                <a:ext cx="5369220" cy="4023360"/>
              </a:xfrm>
              <a:blipFill>
                <a:blip r:embed="rId2"/>
                <a:stretch>
                  <a:fillRect b="-8636"/>
                </a:stretch>
              </a:blipFill>
            </p:spPr>
            <p:txBody>
              <a:bodyPr/>
              <a:lstStyle/>
              <a:p>
                <a:r>
                  <a:rPr lang="zh-CN" altLang="en-US">
                    <a:noFill/>
                  </a:rPr>
                  <a:t> </a:t>
                </a:r>
              </a:p>
            </p:txBody>
          </p:sp>
        </mc:Fallback>
      </mc:AlternateContent>
      <p:pic>
        <p:nvPicPr>
          <p:cNvPr id="13" name="图片 12">
            <a:extLst>
              <a:ext uri="{FF2B5EF4-FFF2-40B4-BE49-F238E27FC236}">
                <a16:creationId xmlns:a16="http://schemas.microsoft.com/office/drawing/2014/main" id="{E68590C5-6125-4427-AC33-09B839DE22C9}"/>
              </a:ext>
            </a:extLst>
          </p:cNvPr>
          <p:cNvPicPr>
            <a:picLocks noChangeAspect="1"/>
          </p:cNvPicPr>
          <p:nvPr/>
        </p:nvPicPr>
        <p:blipFill>
          <a:blip r:embed="rId3"/>
          <a:stretch>
            <a:fillRect/>
          </a:stretch>
        </p:blipFill>
        <p:spPr>
          <a:xfrm>
            <a:off x="3096118" y="1254413"/>
            <a:ext cx="3286029" cy="3686445"/>
          </a:xfrm>
          <a:prstGeom prst="rect">
            <a:avLst/>
          </a:prstGeom>
          <a:ln>
            <a:noFill/>
          </a:ln>
          <a:effectLst>
            <a:outerShdw blurRad="292100" dist="139700" dir="2700000" algn="tl" rotWithShape="0">
              <a:srgbClr val="333333">
                <a:alpha val="65000"/>
              </a:srgbClr>
            </a:outerShdw>
          </a:effectLst>
        </p:spPr>
      </p:pic>
      <p:sp>
        <p:nvSpPr>
          <p:cNvPr id="11" name="矩形 10">
            <a:extLst>
              <a:ext uri="{FF2B5EF4-FFF2-40B4-BE49-F238E27FC236}">
                <a16:creationId xmlns:a16="http://schemas.microsoft.com/office/drawing/2014/main" id="{1B292114-DC2D-407A-92DE-4DF4E8416218}"/>
              </a:ext>
            </a:extLst>
          </p:cNvPr>
          <p:cNvSpPr/>
          <p:nvPr/>
        </p:nvSpPr>
        <p:spPr>
          <a:xfrm>
            <a:off x="748756" y="634709"/>
            <a:ext cx="3833101" cy="649858"/>
          </a:xfrm>
          <a:prstGeom prst="rect">
            <a:avLst/>
          </a:prstGeom>
        </p:spPr>
        <p:txBody>
          <a:bodyPr wrap="none">
            <a:spAutoFit/>
          </a:bodyPr>
          <a:lstStyle/>
          <a:p>
            <a:pPr>
              <a:lnSpc>
                <a:spcPct val="120000"/>
              </a:lnSpc>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点电荷的电通量：</a:t>
            </a:r>
            <a:endParaRPr lang="en-US" altLang="zh-CN" sz="3200" b="1" dirty="0">
              <a:solidFill>
                <a:srgbClr val="0066FF"/>
              </a:solidFill>
              <a:latin typeface="华文楷体" panose="02010600040101010101" pitchFamily="2" charset="-122"/>
              <a:ea typeface="华文楷体" panose="02010600040101010101" pitchFamily="2" charset="-122"/>
            </a:endParaRPr>
          </a:p>
        </p:txBody>
      </p:sp>
      <p:grpSp>
        <p:nvGrpSpPr>
          <p:cNvPr id="14" name="组合 13">
            <a:extLst>
              <a:ext uri="{FF2B5EF4-FFF2-40B4-BE49-F238E27FC236}">
                <a16:creationId xmlns:a16="http://schemas.microsoft.com/office/drawing/2014/main" id="{B7D644B1-C24E-4F61-BF35-193377ED9C38}"/>
              </a:ext>
            </a:extLst>
          </p:cNvPr>
          <p:cNvGrpSpPr/>
          <p:nvPr/>
        </p:nvGrpSpPr>
        <p:grpSpPr>
          <a:xfrm>
            <a:off x="418395" y="1728605"/>
            <a:ext cx="2677723" cy="2871225"/>
            <a:chOff x="8265215" y="1326943"/>
            <a:chExt cx="3868736" cy="4243388"/>
          </a:xfrm>
        </p:grpSpPr>
        <p:sp>
          <p:nvSpPr>
            <p:cNvPr id="33" name="Freeform 4">
              <a:extLst>
                <a:ext uri="{FF2B5EF4-FFF2-40B4-BE49-F238E27FC236}">
                  <a16:creationId xmlns:a16="http://schemas.microsoft.com/office/drawing/2014/main" id="{0AF6202B-EE1E-400C-BAF1-C8E3E979023D}"/>
                </a:ext>
              </a:extLst>
            </p:cNvPr>
            <p:cNvSpPr>
              <a:spLocks/>
            </p:cNvSpPr>
            <p:nvPr/>
          </p:nvSpPr>
          <p:spPr bwMode="auto">
            <a:xfrm>
              <a:off x="8616051" y="1714294"/>
              <a:ext cx="3517900" cy="3856037"/>
            </a:xfrm>
            <a:custGeom>
              <a:avLst/>
              <a:gdLst>
                <a:gd name="T0" fmla="*/ 2147483646 w 2216"/>
                <a:gd name="T1" fmla="*/ 2147483646 h 2429"/>
                <a:gd name="T2" fmla="*/ 2147483646 w 2216"/>
                <a:gd name="T3" fmla="*/ 2147483646 h 2429"/>
                <a:gd name="T4" fmla="*/ 2147483646 w 2216"/>
                <a:gd name="T5" fmla="*/ 2147483646 h 2429"/>
                <a:gd name="T6" fmla="*/ 2147483646 w 2216"/>
                <a:gd name="T7" fmla="*/ 2147483646 h 2429"/>
                <a:gd name="T8" fmla="*/ 2147483646 w 2216"/>
                <a:gd name="T9" fmla="*/ 2147483646 h 2429"/>
                <a:gd name="T10" fmla="*/ 2147483646 w 2216"/>
                <a:gd name="T11" fmla="*/ 2147483646 h 2429"/>
                <a:gd name="T12" fmla="*/ 2147483646 w 2216"/>
                <a:gd name="T13" fmla="*/ 2147483646 h 2429"/>
                <a:gd name="T14" fmla="*/ 2147483646 w 2216"/>
                <a:gd name="T15" fmla="*/ 2147483646 h 2429"/>
                <a:gd name="T16" fmla="*/ 2147483646 w 2216"/>
                <a:gd name="T17" fmla="*/ 2147483646 h 2429"/>
                <a:gd name="T18" fmla="*/ 2147483646 w 2216"/>
                <a:gd name="T19" fmla="*/ 2147483646 h 2429"/>
                <a:gd name="T20" fmla="*/ 2147483646 w 2216"/>
                <a:gd name="T21" fmla="*/ 2147483646 h 2429"/>
                <a:gd name="T22" fmla="*/ 2147483646 w 2216"/>
                <a:gd name="T23" fmla="*/ 2147483646 h 2429"/>
                <a:gd name="T24" fmla="*/ 2147483646 w 2216"/>
                <a:gd name="T25" fmla="*/ 2147483646 h 2429"/>
                <a:gd name="T26" fmla="*/ 2147483646 w 2216"/>
                <a:gd name="T27" fmla="*/ 2147483646 h 2429"/>
                <a:gd name="T28" fmla="*/ 2147483646 w 2216"/>
                <a:gd name="T29" fmla="*/ 2147483646 h 2429"/>
                <a:gd name="T30" fmla="*/ 2147483646 w 2216"/>
                <a:gd name="T31" fmla="*/ 2147483646 h 2429"/>
                <a:gd name="T32" fmla="*/ 2147483646 w 2216"/>
                <a:gd name="T33" fmla="*/ 2147483646 h 2429"/>
                <a:gd name="T34" fmla="*/ 2147483646 w 2216"/>
                <a:gd name="T35" fmla="*/ 2147483646 h 2429"/>
                <a:gd name="T36" fmla="*/ 2147483646 w 2216"/>
                <a:gd name="T37" fmla="*/ 2147483646 h 2429"/>
                <a:gd name="T38" fmla="*/ 2147483646 w 2216"/>
                <a:gd name="T39" fmla="*/ 2147483646 h 2429"/>
                <a:gd name="T40" fmla="*/ 2147483646 w 2216"/>
                <a:gd name="T41" fmla="*/ 2147483646 h 2429"/>
                <a:gd name="T42" fmla="*/ 2147483646 w 2216"/>
                <a:gd name="T43" fmla="*/ 2147483646 h 2429"/>
                <a:gd name="T44" fmla="*/ 2147483646 w 2216"/>
                <a:gd name="T45" fmla="*/ 2147483646 h 2429"/>
                <a:gd name="T46" fmla="*/ 2147483646 w 2216"/>
                <a:gd name="T47" fmla="*/ 2147483646 h 2429"/>
                <a:gd name="T48" fmla="*/ 2147483646 w 2216"/>
                <a:gd name="T49" fmla="*/ 2147483646 h 2429"/>
                <a:gd name="T50" fmla="*/ 2147483646 w 2216"/>
                <a:gd name="T51" fmla="*/ 2147483646 h 2429"/>
                <a:gd name="T52" fmla="*/ 2147483646 w 2216"/>
                <a:gd name="T53" fmla="*/ 2147483646 h 2429"/>
                <a:gd name="T54" fmla="*/ 2147483646 w 2216"/>
                <a:gd name="T55" fmla="*/ 2147483646 h 2429"/>
                <a:gd name="T56" fmla="*/ 2147483646 w 2216"/>
                <a:gd name="T57" fmla="*/ 2147483646 h 2429"/>
                <a:gd name="T58" fmla="*/ 2147483646 w 2216"/>
                <a:gd name="T59" fmla="*/ 2147483646 h 2429"/>
                <a:gd name="T60" fmla="*/ 2147483646 w 2216"/>
                <a:gd name="T61" fmla="*/ 2147483646 h 2429"/>
                <a:gd name="T62" fmla="*/ 2147483646 w 2216"/>
                <a:gd name="T63" fmla="*/ 2147483646 h 2429"/>
                <a:gd name="T64" fmla="*/ 2147483646 w 2216"/>
                <a:gd name="T65" fmla="*/ 2147483646 h 2429"/>
                <a:gd name="T66" fmla="*/ 2147483646 w 2216"/>
                <a:gd name="T67" fmla="*/ 2147483646 h 2429"/>
                <a:gd name="T68" fmla="*/ 2147483646 w 2216"/>
                <a:gd name="T69" fmla="*/ 2147483646 h 2429"/>
                <a:gd name="T70" fmla="*/ 2147483646 w 2216"/>
                <a:gd name="T71" fmla="*/ 2147483646 h 2429"/>
                <a:gd name="T72" fmla="*/ 2147483646 w 2216"/>
                <a:gd name="T73" fmla="*/ 2147483646 h 2429"/>
                <a:gd name="T74" fmla="*/ 2147483646 w 2216"/>
                <a:gd name="T75" fmla="*/ 2147483646 h 2429"/>
                <a:gd name="T76" fmla="*/ 2147483646 w 2216"/>
                <a:gd name="T77" fmla="*/ 2147483646 h 2429"/>
                <a:gd name="T78" fmla="*/ 2147483646 w 2216"/>
                <a:gd name="T79" fmla="*/ 2147483646 h 2429"/>
                <a:gd name="T80" fmla="*/ 2147483646 w 2216"/>
                <a:gd name="T81" fmla="*/ 2147483646 h 2429"/>
                <a:gd name="T82" fmla="*/ 2147483646 w 2216"/>
                <a:gd name="T83" fmla="*/ 2147483646 h 2429"/>
                <a:gd name="T84" fmla="*/ 2147483646 w 2216"/>
                <a:gd name="T85" fmla="*/ 2147483646 h 2429"/>
                <a:gd name="T86" fmla="*/ 2147483646 w 2216"/>
                <a:gd name="T87" fmla="*/ 2147483646 h 2429"/>
                <a:gd name="T88" fmla="*/ 2147483646 w 2216"/>
                <a:gd name="T89" fmla="*/ 2147483646 h 2429"/>
                <a:gd name="T90" fmla="*/ 2147483646 w 2216"/>
                <a:gd name="T91" fmla="*/ 2147483646 h 2429"/>
                <a:gd name="T92" fmla="*/ 2147483646 w 2216"/>
                <a:gd name="T93" fmla="*/ 2147483646 h 2429"/>
                <a:gd name="T94" fmla="*/ 2147483646 w 2216"/>
                <a:gd name="T95" fmla="*/ 2147483646 h 2429"/>
                <a:gd name="T96" fmla="*/ 2147483646 w 2216"/>
                <a:gd name="T97" fmla="*/ 2147483646 h 2429"/>
                <a:gd name="T98" fmla="*/ 2147483646 w 2216"/>
                <a:gd name="T99" fmla="*/ 2147483646 h 2429"/>
                <a:gd name="T100" fmla="*/ 2147483646 w 2216"/>
                <a:gd name="T101" fmla="*/ 2147483646 h 2429"/>
                <a:gd name="T102" fmla="*/ 2147483646 w 2216"/>
                <a:gd name="T103" fmla="*/ 2147483646 h 2429"/>
                <a:gd name="T104" fmla="*/ 2147483646 w 2216"/>
                <a:gd name="T105" fmla="*/ 2147483646 h 2429"/>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0" t="0" r="r" b="b"/>
              <a:pathLst>
                <a:path w="2216" h="2429">
                  <a:moveTo>
                    <a:pt x="523" y="61"/>
                  </a:moveTo>
                  <a:cubicBezTo>
                    <a:pt x="451" y="97"/>
                    <a:pt x="441" y="166"/>
                    <a:pt x="377" y="207"/>
                  </a:cubicBezTo>
                  <a:cubicBezTo>
                    <a:pt x="309" y="309"/>
                    <a:pt x="200" y="372"/>
                    <a:pt x="130" y="472"/>
                  </a:cubicBezTo>
                  <a:cubicBezTo>
                    <a:pt x="109" y="536"/>
                    <a:pt x="139" y="459"/>
                    <a:pt x="94" y="527"/>
                  </a:cubicBezTo>
                  <a:cubicBezTo>
                    <a:pt x="85" y="541"/>
                    <a:pt x="76" y="604"/>
                    <a:pt x="75" y="609"/>
                  </a:cubicBezTo>
                  <a:cubicBezTo>
                    <a:pt x="102" y="686"/>
                    <a:pt x="85" y="769"/>
                    <a:pt x="66" y="847"/>
                  </a:cubicBezTo>
                  <a:cubicBezTo>
                    <a:pt x="85" y="999"/>
                    <a:pt x="68" y="1171"/>
                    <a:pt x="30" y="1322"/>
                  </a:cubicBezTo>
                  <a:cubicBezTo>
                    <a:pt x="33" y="1340"/>
                    <a:pt x="35" y="1359"/>
                    <a:pt x="39" y="1377"/>
                  </a:cubicBezTo>
                  <a:cubicBezTo>
                    <a:pt x="41" y="1387"/>
                    <a:pt x="55" y="1398"/>
                    <a:pt x="48" y="1405"/>
                  </a:cubicBezTo>
                  <a:cubicBezTo>
                    <a:pt x="42" y="1411"/>
                    <a:pt x="36" y="1392"/>
                    <a:pt x="30" y="1386"/>
                  </a:cubicBezTo>
                  <a:cubicBezTo>
                    <a:pt x="24" y="1380"/>
                    <a:pt x="17" y="1374"/>
                    <a:pt x="11" y="1368"/>
                  </a:cubicBezTo>
                  <a:cubicBezTo>
                    <a:pt x="8" y="1377"/>
                    <a:pt x="0" y="1386"/>
                    <a:pt x="2" y="1395"/>
                  </a:cubicBezTo>
                  <a:cubicBezTo>
                    <a:pt x="4" y="1406"/>
                    <a:pt x="16" y="1413"/>
                    <a:pt x="21" y="1423"/>
                  </a:cubicBezTo>
                  <a:cubicBezTo>
                    <a:pt x="35" y="1451"/>
                    <a:pt x="48" y="1478"/>
                    <a:pt x="66" y="1505"/>
                  </a:cubicBezTo>
                  <a:cubicBezTo>
                    <a:pt x="115" y="1577"/>
                    <a:pt x="55" y="1469"/>
                    <a:pt x="103" y="1542"/>
                  </a:cubicBezTo>
                  <a:cubicBezTo>
                    <a:pt x="147" y="1609"/>
                    <a:pt x="98" y="1553"/>
                    <a:pt x="139" y="1597"/>
                  </a:cubicBezTo>
                  <a:cubicBezTo>
                    <a:pt x="154" y="1650"/>
                    <a:pt x="204" y="1743"/>
                    <a:pt x="258" y="1761"/>
                  </a:cubicBezTo>
                  <a:cubicBezTo>
                    <a:pt x="303" y="1806"/>
                    <a:pt x="383" y="1888"/>
                    <a:pt x="441" y="1907"/>
                  </a:cubicBezTo>
                  <a:cubicBezTo>
                    <a:pt x="466" y="1934"/>
                    <a:pt x="484" y="1942"/>
                    <a:pt x="514" y="1962"/>
                  </a:cubicBezTo>
                  <a:cubicBezTo>
                    <a:pt x="555" y="1990"/>
                    <a:pt x="592" y="2025"/>
                    <a:pt x="633" y="2054"/>
                  </a:cubicBezTo>
                  <a:cubicBezTo>
                    <a:pt x="664" y="2101"/>
                    <a:pt x="725" y="2131"/>
                    <a:pt x="779" y="2145"/>
                  </a:cubicBezTo>
                  <a:cubicBezTo>
                    <a:pt x="821" y="2177"/>
                    <a:pt x="838" y="2181"/>
                    <a:pt x="889" y="2191"/>
                  </a:cubicBezTo>
                  <a:cubicBezTo>
                    <a:pt x="956" y="2234"/>
                    <a:pt x="1027" y="2263"/>
                    <a:pt x="1099" y="2301"/>
                  </a:cubicBezTo>
                  <a:cubicBezTo>
                    <a:pt x="1166" y="2336"/>
                    <a:pt x="1082" y="2275"/>
                    <a:pt x="1163" y="2328"/>
                  </a:cubicBezTo>
                  <a:cubicBezTo>
                    <a:pt x="1170" y="2333"/>
                    <a:pt x="1174" y="2342"/>
                    <a:pt x="1182" y="2346"/>
                  </a:cubicBezTo>
                  <a:cubicBezTo>
                    <a:pt x="1212" y="2364"/>
                    <a:pt x="1248" y="2365"/>
                    <a:pt x="1282" y="2374"/>
                  </a:cubicBezTo>
                  <a:cubicBezTo>
                    <a:pt x="1368" y="2396"/>
                    <a:pt x="1449" y="2418"/>
                    <a:pt x="1538" y="2429"/>
                  </a:cubicBezTo>
                  <a:cubicBezTo>
                    <a:pt x="1642" y="2426"/>
                    <a:pt x="1745" y="2425"/>
                    <a:pt x="1849" y="2419"/>
                  </a:cubicBezTo>
                  <a:cubicBezTo>
                    <a:pt x="1858" y="2419"/>
                    <a:pt x="1902" y="2406"/>
                    <a:pt x="1913" y="2401"/>
                  </a:cubicBezTo>
                  <a:cubicBezTo>
                    <a:pt x="1938" y="2390"/>
                    <a:pt x="1986" y="2365"/>
                    <a:pt x="1986" y="2365"/>
                  </a:cubicBezTo>
                  <a:cubicBezTo>
                    <a:pt x="2029" y="2280"/>
                    <a:pt x="2016" y="2318"/>
                    <a:pt x="2032" y="2255"/>
                  </a:cubicBezTo>
                  <a:cubicBezTo>
                    <a:pt x="2030" y="2239"/>
                    <a:pt x="2026" y="2164"/>
                    <a:pt x="2014" y="2136"/>
                  </a:cubicBezTo>
                  <a:cubicBezTo>
                    <a:pt x="2003" y="2111"/>
                    <a:pt x="1977" y="2063"/>
                    <a:pt x="1977" y="2063"/>
                  </a:cubicBezTo>
                  <a:cubicBezTo>
                    <a:pt x="1974" y="2051"/>
                    <a:pt x="1973" y="2038"/>
                    <a:pt x="1968" y="2026"/>
                  </a:cubicBezTo>
                  <a:cubicBezTo>
                    <a:pt x="1957" y="2001"/>
                    <a:pt x="1931" y="1953"/>
                    <a:pt x="1931" y="1953"/>
                  </a:cubicBezTo>
                  <a:cubicBezTo>
                    <a:pt x="1911" y="1873"/>
                    <a:pt x="1894" y="1710"/>
                    <a:pt x="1968" y="1661"/>
                  </a:cubicBezTo>
                  <a:cubicBezTo>
                    <a:pt x="1980" y="1611"/>
                    <a:pt x="1999" y="1588"/>
                    <a:pt x="2041" y="1560"/>
                  </a:cubicBezTo>
                  <a:cubicBezTo>
                    <a:pt x="2067" y="1521"/>
                    <a:pt x="2095" y="1487"/>
                    <a:pt x="2133" y="1459"/>
                  </a:cubicBezTo>
                  <a:cubicBezTo>
                    <a:pt x="2136" y="1447"/>
                    <a:pt x="2138" y="1435"/>
                    <a:pt x="2142" y="1423"/>
                  </a:cubicBezTo>
                  <a:cubicBezTo>
                    <a:pt x="2147" y="1405"/>
                    <a:pt x="2160" y="1368"/>
                    <a:pt x="2160" y="1368"/>
                  </a:cubicBezTo>
                  <a:cubicBezTo>
                    <a:pt x="2135" y="1268"/>
                    <a:pt x="2096" y="1185"/>
                    <a:pt x="2178" y="1103"/>
                  </a:cubicBezTo>
                  <a:cubicBezTo>
                    <a:pt x="2203" y="998"/>
                    <a:pt x="2216" y="800"/>
                    <a:pt x="2105" y="728"/>
                  </a:cubicBezTo>
                  <a:cubicBezTo>
                    <a:pt x="2092" y="689"/>
                    <a:pt x="2066" y="660"/>
                    <a:pt x="2032" y="637"/>
                  </a:cubicBezTo>
                  <a:cubicBezTo>
                    <a:pt x="2026" y="619"/>
                    <a:pt x="2028" y="596"/>
                    <a:pt x="2014" y="582"/>
                  </a:cubicBezTo>
                  <a:cubicBezTo>
                    <a:pt x="1988" y="556"/>
                    <a:pt x="1962" y="555"/>
                    <a:pt x="1931" y="536"/>
                  </a:cubicBezTo>
                  <a:cubicBezTo>
                    <a:pt x="1884" y="508"/>
                    <a:pt x="1887" y="509"/>
                    <a:pt x="1858" y="481"/>
                  </a:cubicBezTo>
                  <a:cubicBezTo>
                    <a:pt x="1828" y="421"/>
                    <a:pt x="1829" y="458"/>
                    <a:pt x="1794" y="417"/>
                  </a:cubicBezTo>
                  <a:cubicBezTo>
                    <a:pt x="1784" y="406"/>
                    <a:pt x="1776" y="393"/>
                    <a:pt x="1767" y="381"/>
                  </a:cubicBezTo>
                  <a:cubicBezTo>
                    <a:pt x="1761" y="372"/>
                    <a:pt x="1756" y="362"/>
                    <a:pt x="1749" y="353"/>
                  </a:cubicBezTo>
                  <a:cubicBezTo>
                    <a:pt x="1720" y="317"/>
                    <a:pt x="1673" y="292"/>
                    <a:pt x="1639" y="262"/>
                  </a:cubicBezTo>
                  <a:cubicBezTo>
                    <a:pt x="1593" y="221"/>
                    <a:pt x="1554" y="172"/>
                    <a:pt x="1493" y="152"/>
                  </a:cubicBezTo>
                  <a:cubicBezTo>
                    <a:pt x="1466" y="143"/>
                    <a:pt x="1438" y="141"/>
                    <a:pt x="1410" y="134"/>
                  </a:cubicBezTo>
                  <a:cubicBezTo>
                    <a:pt x="1146" y="0"/>
                    <a:pt x="790" y="65"/>
                    <a:pt x="523" y="61"/>
                  </a:cubicBezTo>
                  <a:close/>
                </a:path>
              </a:pathLst>
            </a:custGeom>
            <a:gradFill rotWithShape="1">
              <a:gsLst>
                <a:gs pos="0">
                  <a:srgbClr val="B6B6FF"/>
                </a:gs>
                <a:gs pos="100000">
                  <a:srgbClr val="0000FF"/>
                </a:gs>
              </a:gsLst>
              <a:path path="rect">
                <a:fillToRect l="50000" t="50000" r="50000" b="50000"/>
              </a:path>
            </a:gradFill>
            <a:ln w="25400" cap="flat" cmpd="sng">
              <a:solidFill>
                <a:srgbClr val="008000"/>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dirty="0">
                <a:latin typeface="华文楷体" panose="02010600040101010101" pitchFamily="2" charset="-122"/>
                <a:ea typeface="华文楷体" panose="02010600040101010101" pitchFamily="2" charset="-122"/>
              </a:endParaRPr>
            </a:p>
          </p:txBody>
        </p:sp>
        <p:sp>
          <p:nvSpPr>
            <p:cNvPr id="34" name="Oval 5">
              <a:extLst>
                <a:ext uri="{FF2B5EF4-FFF2-40B4-BE49-F238E27FC236}">
                  <a16:creationId xmlns:a16="http://schemas.microsoft.com/office/drawing/2014/main" id="{A65EFBD2-9F15-4863-94BD-BED26F809D4B}"/>
                </a:ext>
              </a:extLst>
            </p:cNvPr>
            <p:cNvSpPr>
              <a:spLocks noChangeArrowheads="1"/>
            </p:cNvSpPr>
            <p:nvPr/>
          </p:nvSpPr>
          <p:spPr bwMode="auto">
            <a:xfrm flipV="1">
              <a:off x="8763690" y="1987343"/>
              <a:ext cx="2867025" cy="2824162"/>
            </a:xfrm>
            <a:prstGeom prst="ellipse">
              <a:avLst/>
            </a:prstGeom>
            <a:gradFill rotWithShape="1">
              <a:gsLst>
                <a:gs pos="0">
                  <a:srgbClr val="FFFFFF"/>
                </a:gs>
                <a:gs pos="100000">
                  <a:srgbClr val="CC99FF"/>
                </a:gs>
              </a:gsLst>
              <a:path path="shape">
                <a:fillToRect l="50000" t="50000" r="50000" b="50000"/>
              </a:path>
            </a:gradFill>
            <a:ln w="12700">
              <a:solidFill>
                <a:srgbClr val="000000"/>
              </a:solidFill>
              <a:round/>
              <a:headEnd/>
              <a:tailEnd/>
            </a:ln>
          </p:spPr>
          <p:txBody>
            <a:bodyPr rot="10800000"/>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latin typeface="华文楷体" panose="02010600040101010101" pitchFamily="2" charset="-122"/>
                <a:ea typeface="华文楷体" panose="02010600040101010101" pitchFamily="2" charset="-122"/>
              </a:endParaRPr>
            </a:p>
          </p:txBody>
        </p:sp>
        <p:sp>
          <p:nvSpPr>
            <p:cNvPr id="35" name="Oval 6">
              <a:extLst>
                <a:ext uri="{FF2B5EF4-FFF2-40B4-BE49-F238E27FC236}">
                  <a16:creationId xmlns:a16="http://schemas.microsoft.com/office/drawing/2014/main" id="{EDDCB7FF-BD69-42EF-B56E-664A54CECDE5}"/>
                </a:ext>
              </a:extLst>
            </p:cNvPr>
            <p:cNvSpPr>
              <a:spLocks noChangeArrowheads="1"/>
            </p:cNvSpPr>
            <p:nvPr/>
          </p:nvSpPr>
          <p:spPr bwMode="auto">
            <a:xfrm flipV="1">
              <a:off x="9238351" y="2449305"/>
              <a:ext cx="1892300" cy="1917700"/>
            </a:xfrm>
            <a:prstGeom prst="ellipse">
              <a:avLst/>
            </a:prstGeom>
            <a:gradFill rotWithShape="1">
              <a:gsLst>
                <a:gs pos="0">
                  <a:srgbClr val="FFFFFF"/>
                </a:gs>
                <a:gs pos="100000">
                  <a:srgbClr val="99CC0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rot="10800000"/>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latin typeface="华文楷体" panose="02010600040101010101" pitchFamily="2" charset="-122"/>
                <a:ea typeface="华文楷体" panose="02010600040101010101" pitchFamily="2" charset="-122"/>
              </a:endParaRPr>
            </a:p>
          </p:txBody>
        </p:sp>
        <p:sp>
          <p:nvSpPr>
            <p:cNvPr id="36" name="Oval 7">
              <a:extLst>
                <a:ext uri="{FF2B5EF4-FFF2-40B4-BE49-F238E27FC236}">
                  <a16:creationId xmlns:a16="http://schemas.microsoft.com/office/drawing/2014/main" id="{556236E7-5794-4D1E-A067-89D60424D1A1}"/>
                </a:ext>
              </a:extLst>
            </p:cNvPr>
            <p:cNvSpPr>
              <a:spLocks noChangeArrowheads="1"/>
            </p:cNvSpPr>
            <p:nvPr/>
          </p:nvSpPr>
          <p:spPr bwMode="auto">
            <a:xfrm flipV="1">
              <a:off x="9695551" y="2889041"/>
              <a:ext cx="1072788" cy="1058414"/>
            </a:xfrm>
            <a:prstGeom prst="ellipse">
              <a:avLst/>
            </a:prstGeom>
            <a:gradFill rotWithShape="0">
              <a:gsLst>
                <a:gs pos="0">
                  <a:srgbClr val="CCFFFF"/>
                </a:gs>
                <a:gs pos="100000">
                  <a:srgbClr val="FF0000"/>
                </a:gs>
              </a:gsLst>
              <a:path path="shape">
                <a:fillToRect l="50000" t="50000" r="50000" b="50000"/>
              </a:path>
            </a:gradFill>
            <a:ln>
              <a:noFill/>
            </a:ln>
            <a:extLst>
              <a:ext uri="{91240B29-F687-4F45-9708-019B960494DF}">
                <a14:hiddenLine xmlns:a14="http://schemas.microsoft.com/office/drawing/2010/main" w="9525">
                  <a:solidFill>
                    <a:srgbClr val="000000"/>
                  </a:solidFill>
                  <a:round/>
                  <a:headEnd/>
                  <a:tailEnd/>
                </a14:hiddenLine>
              </a:ext>
            </a:extLst>
          </p:spPr>
          <p:txBody>
            <a:bodyPr rot="10800000"/>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latin typeface="华文楷体" panose="02010600040101010101" pitchFamily="2" charset="-122"/>
                <a:ea typeface="华文楷体" panose="02010600040101010101" pitchFamily="2" charset="-122"/>
              </a:endParaRPr>
            </a:p>
          </p:txBody>
        </p:sp>
        <p:grpSp>
          <p:nvGrpSpPr>
            <p:cNvPr id="37" name="Group 10">
              <a:extLst>
                <a:ext uri="{FF2B5EF4-FFF2-40B4-BE49-F238E27FC236}">
                  <a16:creationId xmlns:a16="http://schemas.microsoft.com/office/drawing/2014/main" id="{341DD022-9D03-41E4-81D2-4B7C61D12851}"/>
                </a:ext>
              </a:extLst>
            </p:cNvPr>
            <p:cNvGrpSpPr>
              <a:grpSpLocks/>
            </p:cNvGrpSpPr>
            <p:nvPr/>
          </p:nvGrpSpPr>
          <p:grpSpPr bwMode="auto">
            <a:xfrm>
              <a:off x="8265215" y="1326943"/>
              <a:ext cx="3851275" cy="4049712"/>
              <a:chOff x="432" y="2036"/>
              <a:chExt cx="2592" cy="2592"/>
            </a:xfrm>
          </p:grpSpPr>
          <p:sp>
            <p:nvSpPr>
              <p:cNvPr id="38" name="Line 11">
                <a:extLst>
                  <a:ext uri="{FF2B5EF4-FFF2-40B4-BE49-F238E27FC236}">
                    <a16:creationId xmlns:a16="http://schemas.microsoft.com/office/drawing/2014/main" id="{537212A9-D358-4C18-B535-AD2A66C0FF5E}"/>
                  </a:ext>
                </a:extLst>
              </p:cNvPr>
              <p:cNvSpPr>
                <a:spLocks noChangeShapeType="1"/>
              </p:cNvSpPr>
              <p:nvPr/>
            </p:nvSpPr>
            <p:spPr bwMode="auto">
              <a:xfrm>
                <a:off x="432" y="3379"/>
                <a:ext cx="2592" cy="0"/>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39" name="Line 12">
                <a:extLst>
                  <a:ext uri="{FF2B5EF4-FFF2-40B4-BE49-F238E27FC236}">
                    <a16:creationId xmlns:a16="http://schemas.microsoft.com/office/drawing/2014/main" id="{C7F3A986-B9B8-4F0B-B41E-44E2BE40D3A7}"/>
                  </a:ext>
                </a:extLst>
              </p:cNvPr>
              <p:cNvSpPr>
                <a:spLocks noChangeShapeType="1"/>
              </p:cNvSpPr>
              <p:nvPr/>
            </p:nvSpPr>
            <p:spPr bwMode="auto">
              <a:xfrm flipV="1">
                <a:off x="765" y="2512"/>
                <a:ext cx="1926" cy="1734"/>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40" name="Line 13">
                <a:extLst>
                  <a:ext uri="{FF2B5EF4-FFF2-40B4-BE49-F238E27FC236}">
                    <a16:creationId xmlns:a16="http://schemas.microsoft.com/office/drawing/2014/main" id="{796BD209-3332-4199-B52E-507EACAAD9E6}"/>
                  </a:ext>
                </a:extLst>
              </p:cNvPr>
              <p:cNvSpPr>
                <a:spLocks noChangeShapeType="1"/>
              </p:cNvSpPr>
              <p:nvPr/>
            </p:nvSpPr>
            <p:spPr bwMode="auto">
              <a:xfrm flipV="1">
                <a:off x="462" y="2936"/>
                <a:ext cx="2436" cy="886"/>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41" name="Line 14">
                <a:extLst>
                  <a:ext uri="{FF2B5EF4-FFF2-40B4-BE49-F238E27FC236}">
                    <a16:creationId xmlns:a16="http://schemas.microsoft.com/office/drawing/2014/main" id="{446A1792-B162-4C15-9E5F-CCB2120D9555}"/>
                  </a:ext>
                </a:extLst>
              </p:cNvPr>
              <p:cNvSpPr>
                <a:spLocks noChangeShapeType="1"/>
              </p:cNvSpPr>
              <p:nvPr/>
            </p:nvSpPr>
            <p:spPr bwMode="auto">
              <a:xfrm flipV="1">
                <a:off x="1201" y="2147"/>
                <a:ext cx="1054" cy="2368"/>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42" name="Line 15">
                <a:extLst>
                  <a:ext uri="{FF2B5EF4-FFF2-40B4-BE49-F238E27FC236}">
                    <a16:creationId xmlns:a16="http://schemas.microsoft.com/office/drawing/2014/main" id="{D053CA9A-10B8-4915-AF52-7DDA415FAC44}"/>
                  </a:ext>
                </a:extLst>
              </p:cNvPr>
              <p:cNvSpPr>
                <a:spLocks noChangeShapeType="1"/>
              </p:cNvSpPr>
              <p:nvPr/>
            </p:nvSpPr>
            <p:spPr bwMode="auto">
              <a:xfrm>
                <a:off x="1728" y="2036"/>
                <a:ext cx="0" cy="2592"/>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43" name="Line 16">
                <a:extLst>
                  <a:ext uri="{FF2B5EF4-FFF2-40B4-BE49-F238E27FC236}">
                    <a16:creationId xmlns:a16="http://schemas.microsoft.com/office/drawing/2014/main" id="{436A8E8F-022D-4799-85EA-B2B689820285}"/>
                  </a:ext>
                </a:extLst>
              </p:cNvPr>
              <p:cNvSpPr>
                <a:spLocks noChangeShapeType="1"/>
              </p:cNvSpPr>
              <p:nvPr/>
            </p:nvSpPr>
            <p:spPr bwMode="auto">
              <a:xfrm flipH="1" flipV="1">
                <a:off x="717" y="2464"/>
                <a:ext cx="1926" cy="1734"/>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44" name="Line 17">
                <a:extLst>
                  <a:ext uri="{FF2B5EF4-FFF2-40B4-BE49-F238E27FC236}">
                    <a16:creationId xmlns:a16="http://schemas.microsoft.com/office/drawing/2014/main" id="{DC8CDC64-DCFC-4995-A2D4-CB0588E6B46A}"/>
                  </a:ext>
                </a:extLst>
              </p:cNvPr>
              <p:cNvSpPr>
                <a:spLocks noChangeShapeType="1"/>
              </p:cNvSpPr>
              <p:nvPr/>
            </p:nvSpPr>
            <p:spPr bwMode="auto">
              <a:xfrm flipH="1" flipV="1">
                <a:off x="588" y="2948"/>
                <a:ext cx="2436" cy="886"/>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sp>
            <p:nvSpPr>
              <p:cNvPr id="45" name="Line 18">
                <a:extLst>
                  <a:ext uri="{FF2B5EF4-FFF2-40B4-BE49-F238E27FC236}">
                    <a16:creationId xmlns:a16="http://schemas.microsoft.com/office/drawing/2014/main" id="{1842BBD3-9FE7-4493-8478-6B487A7F19BE}"/>
                  </a:ext>
                </a:extLst>
              </p:cNvPr>
              <p:cNvSpPr>
                <a:spLocks noChangeShapeType="1"/>
              </p:cNvSpPr>
              <p:nvPr/>
            </p:nvSpPr>
            <p:spPr bwMode="auto">
              <a:xfrm flipH="1" flipV="1">
                <a:off x="1153" y="2147"/>
                <a:ext cx="1054" cy="2368"/>
              </a:xfrm>
              <a:prstGeom prst="line">
                <a:avLst/>
              </a:prstGeom>
              <a:noFill/>
              <a:ln w="19050">
                <a:solidFill>
                  <a:srgbClr val="00FF00"/>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latin typeface="华文楷体" panose="02010600040101010101" pitchFamily="2" charset="-122"/>
                  <a:ea typeface="华文楷体" panose="02010600040101010101" pitchFamily="2" charset="-122"/>
                </a:endParaRPr>
              </a:p>
            </p:txBody>
          </p:sp>
        </p:grpSp>
        <p:grpSp>
          <p:nvGrpSpPr>
            <p:cNvPr id="46" name="Group 19">
              <a:extLst>
                <a:ext uri="{FF2B5EF4-FFF2-40B4-BE49-F238E27FC236}">
                  <a16:creationId xmlns:a16="http://schemas.microsoft.com/office/drawing/2014/main" id="{4A085287-08E2-4C43-907E-0560109155BF}"/>
                </a:ext>
              </a:extLst>
            </p:cNvPr>
            <p:cNvGrpSpPr>
              <a:grpSpLocks/>
            </p:cNvGrpSpPr>
            <p:nvPr/>
          </p:nvGrpSpPr>
          <p:grpSpPr bwMode="auto">
            <a:xfrm>
              <a:off x="9954714" y="3102945"/>
              <a:ext cx="552570" cy="619732"/>
              <a:chOff x="3076" y="3068"/>
              <a:chExt cx="306" cy="344"/>
            </a:xfrm>
          </p:grpSpPr>
          <p:sp>
            <p:nvSpPr>
              <p:cNvPr id="47" name="Oval 20">
                <a:extLst>
                  <a:ext uri="{FF2B5EF4-FFF2-40B4-BE49-F238E27FC236}">
                    <a16:creationId xmlns:a16="http://schemas.microsoft.com/office/drawing/2014/main" id="{0EB3DBE4-7C93-4C1B-8E63-C6EF3A575199}"/>
                  </a:ext>
                </a:extLst>
              </p:cNvPr>
              <p:cNvSpPr>
                <a:spLocks noChangeArrowheads="1"/>
              </p:cNvSpPr>
              <p:nvPr/>
            </p:nvSpPr>
            <p:spPr bwMode="auto">
              <a:xfrm>
                <a:off x="3076" y="3068"/>
                <a:ext cx="306" cy="344"/>
              </a:xfrm>
              <a:prstGeom prst="ellipse">
                <a:avLst/>
              </a:prstGeom>
              <a:gradFill rotWithShape="0">
                <a:gsLst>
                  <a:gs pos="0">
                    <a:srgbClr val="FF3300"/>
                  </a:gs>
                  <a:gs pos="100000">
                    <a:srgbClr val="000000"/>
                  </a:gs>
                </a:gsLst>
                <a:path path="shape">
                  <a:fillToRect l="50000" t="50000" r="50000" b="50000"/>
                </a:path>
              </a:gradFill>
              <a:ln>
                <a:noFill/>
              </a:ln>
              <a:effectLst/>
              <a:extLst>
                <a:ext uri="{91240B29-F687-4F45-9708-019B960494DF}">
                  <a14:hiddenLine xmlns:a14="http://schemas.microsoft.com/office/drawing/2010/main" w="38100">
                    <a:solidFill>
                      <a:srgbClr val="FFFF00"/>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nchor="ct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latin typeface="华文楷体" panose="02010600040101010101" pitchFamily="2" charset="-122"/>
                  <a:ea typeface="华文楷体" panose="02010600040101010101" pitchFamily="2" charset="-122"/>
                </a:endParaRPr>
              </a:p>
            </p:txBody>
          </p:sp>
          <p:grpSp>
            <p:nvGrpSpPr>
              <p:cNvPr id="48" name="Group 21">
                <a:extLst>
                  <a:ext uri="{FF2B5EF4-FFF2-40B4-BE49-F238E27FC236}">
                    <a16:creationId xmlns:a16="http://schemas.microsoft.com/office/drawing/2014/main" id="{FA1886F5-B40F-4BAC-9074-B335FC56844D}"/>
                  </a:ext>
                </a:extLst>
              </p:cNvPr>
              <p:cNvGrpSpPr>
                <a:grpSpLocks/>
              </p:cNvGrpSpPr>
              <p:nvPr/>
            </p:nvGrpSpPr>
            <p:grpSpPr bwMode="auto">
              <a:xfrm>
                <a:off x="3168" y="3168"/>
                <a:ext cx="96" cy="96"/>
                <a:chOff x="3168" y="1680"/>
                <a:chExt cx="96" cy="96"/>
              </a:xfrm>
            </p:grpSpPr>
            <p:sp>
              <p:nvSpPr>
                <p:cNvPr id="49" name="Line 22">
                  <a:extLst>
                    <a:ext uri="{FF2B5EF4-FFF2-40B4-BE49-F238E27FC236}">
                      <a16:creationId xmlns:a16="http://schemas.microsoft.com/office/drawing/2014/main" id="{B83186AA-9A1C-4435-AFB3-237C0BDCC6EC}"/>
                    </a:ext>
                  </a:extLst>
                </p:cNvPr>
                <p:cNvSpPr>
                  <a:spLocks noChangeShapeType="1"/>
                </p:cNvSpPr>
                <p:nvPr/>
              </p:nvSpPr>
              <p:spPr bwMode="auto">
                <a:xfrm>
                  <a:off x="3168" y="1728"/>
                  <a:ext cx="96" cy="0"/>
                </a:xfrm>
                <a:prstGeom prst="line">
                  <a:avLst/>
                </a:prstGeom>
                <a:noFill/>
                <a:ln w="381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endParaRPr lang="zh-CN" altLang="en-US">
                    <a:latin typeface="华文楷体" panose="02010600040101010101" pitchFamily="2" charset="-122"/>
                    <a:ea typeface="华文楷体" panose="02010600040101010101" pitchFamily="2" charset="-122"/>
                  </a:endParaRPr>
                </a:p>
              </p:txBody>
            </p:sp>
            <p:sp>
              <p:nvSpPr>
                <p:cNvPr id="50" name="Line 23">
                  <a:extLst>
                    <a:ext uri="{FF2B5EF4-FFF2-40B4-BE49-F238E27FC236}">
                      <a16:creationId xmlns:a16="http://schemas.microsoft.com/office/drawing/2014/main" id="{A220DF9F-4451-43C4-B8D8-8CF785A0C1DA}"/>
                    </a:ext>
                  </a:extLst>
                </p:cNvPr>
                <p:cNvSpPr>
                  <a:spLocks noChangeShapeType="1"/>
                </p:cNvSpPr>
                <p:nvPr/>
              </p:nvSpPr>
              <p:spPr bwMode="auto">
                <a:xfrm>
                  <a:off x="3216" y="1680"/>
                  <a:ext cx="0" cy="96"/>
                </a:xfrm>
                <a:prstGeom prst="line">
                  <a:avLst/>
                </a:prstGeom>
                <a:noFill/>
                <a:ln w="38100">
                  <a:solidFill>
                    <a:srgbClr val="66FFFF"/>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p>
                  <a:endParaRPr lang="zh-CN" altLang="en-US">
                    <a:latin typeface="华文楷体" panose="02010600040101010101" pitchFamily="2" charset="-122"/>
                    <a:ea typeface="华文楷体" panose="02010600040101010101" pitchFamily="2" charset="-122"/>
                  </a:endParaRPr>
                </a:p>
              </p:txBody>
            </p:sp>
          </p:grpSp>
        </p:grpSp>
      </p:grpSp>
    </p:spTree>
    <p:extLst>
      <p:ext uri="{BB962C8B-B14F-4D97-AF65-F5344CB8AC3E}">
        <p14:creationId xmlns:p14="http://schemas.microsoft.com/office/powerpoint/2010/main" val="4221428115"/>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B0C40C17-C088-4666-AD9E-299366180116}"/>
              </a:ext>
            </a:extLst>
          </p:cNvPr>
          <p:cNvSpPr>
            <a:spLocks noGrp="1"/>
          </p:cNvSpPr>
          <p:nvPr>
            <p:ph type="title"/>
          </p:nvPr>
        </p:nvSpPr>
        <p:spPr>
          <a:xfrm>
            <a:off x="564101" y="804477"/>
            <a:ext cx="5045544" cy="972639"/>
          </a:xfrm>
        </p:spPr>
        <p:txBody>
          <a:body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闭合面内为点电荷系：</a:t>
            </a:r>
            <a:endParaRPr lang="zh-CN" altLang="en-US" b="1"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6" name="内容占位符 5">
                <a:extLst>
                  <a:ext uri="{FF2B5EF4-FFF2-40B4-BE49-F238E27FC236}">
                    <a16:creationId xmlns:a16="http://schemas.microsoft.com/office/drawing/2014/main" id="{6CBC083A-A0D7-431D-867C-DE685900025C}"/>
                  </a:ext>
                </a:extLst>
              </p:cNvPr>
              <p:cNvSpPr>
                <a:spLocks noGrp="1"/>
              </p:cNvSpPr>
              <p:nvPr>
                <p:ph idx="1"/>
              </p:nvPr>
            </p:nvSpPr>
            <p:spPr>
              <a:xfrm>
                <a:off x="4585680" y="1464461"/>
                <a:ext cx="7259430" cy="4589062"/>
              </a:xfrm>
            </p:spPr>
            <p:txBody>
              <a:bodyPr>
                <a:noAutofit/>
              </a:bodyPr>
              <a:lstStyle/>
              <a:p>
                <a:pPr marL="0" indent="0">
                  <a:lnSpc>
                    <a:spcPct val="100000"/>
                  </a:lnSpc>
                  <a:buNone/>
                </a:pPr>
                <a14:m>
                  <m:oMathPara xmlns:m="http://schemas.openxmlformats.org/officeDocument/2006/math">
                    <m:oMathParaPr>
                      <m:jc m:val="left"/>
                    </m:oMathParaPr>
                    <m:oMath xmlns:m="http://schemas.openxmlformats.org/officeDocument/2006/math">
                      <m:sSub>
                        <m:sSubPr>
                          <m:ctrlPr>
                            <a:rPr lang="zh-CN" altLang="en-US" i="1" smtClean="0">
                              <a:solidFill>
                                <a:srgbClr val="000000"/>
                              </a:solidFill>
                              <a:latin typeface="Cambria Math" panose="02040503050406030204" pitchFamily="18" charset="0"/>
                            </a:rPr>
                          </m:ctrlPr>
                        </m:sSubPr>
                        <m:e>
                          <m:r>
                            <a:rPr lang="zh-CN" altLang="en-US" b="0" i="1">
                              <a:solidFill>
                                <a:srgbClr val="000000"/>
                              </a:solidFill>
                              <a:latin typeface="Cambria Math" panose="02040503050406030204" pitchFamily="18" charset="0"/>
                            </a:rPr>
                            <m:t>𝛷</m:t>
                          </m:r>
                        </m:e>
                        <m:sub>
                          <m:r>
                            <a:rPr lang="zh-CN" altLang="en-US" b="0" i="1">
                              <a:solidFill>
                                <a:srgbClr val="000000"/>
                              </a:solidFill>
                              <a:latin typeface="Cambria Math" panose="02040503050406030204" pitchFamily="18" charset="0"/>
                            </a:rPr>
                            <m:t>𝑒</m:t>
                          </m:r>
                        </m:sub>
                      </m:sSub>
                      <m:r>
                        <a:rPr lang="zh-CN" altLang="en-US" b="0" i="1">
                          <a:solidFill>
                            <a:srgbClr val="000000"/>
                          </a:solidFill>
                          <a:latin typeface="Cambria Math" panose="02040503050406030204" pitchFamily="18" charset="0"/>
                        </a:rPr>
                        <m:t>=</m:t>
                      </m:r>
                      <m:nary>
                        <m:naryPr>
                          <m:chr m:val="∯"/>
                          <m:limLoc m:val="undOvr"/>
                          <m:supHide m:val="on"/>
                          <m:ctrlPr>
                            <a:rPr lang="zh-CN" altLang="en-US" i="1">
                              <a:solidFill>
                                <a:srgbClr val="000000"/>
                              </a:solidFill>
                              <a:latin typeface="Cambria Math" panose="02040503050406030204" pitchFamily="18" charset="0"/>
                            </a:rPr>
                          </m:ctrlPr>
                        </m:naryPr>
                        <m:sub>
                          <m:r>
                            <a:rPr lang="zh-CN" altLang="en-US" b="0" i="1">
                              <a:solidFill>
                                <a:srgbClr val="000000"/>
                              </a:solidFill>
                              <a:latin typeface="Cambria Math" panose="02040503050406030204" pitchFamily="18" charset="0"/>
                            </a:rPr>
                            <m:t>𝑆</m:t>
                          </m:r>
                        </m:sub>
                        <m:sup/>
                        <m:e>
                          <m:acc>
                            <m:accPr>
                              <m:chr m:val="⃑"/>
                              <m:ctrlPr>
                                <a:rPr lang="zh-CN" altLang="en-US" i="1">
                                  <a:solidFill>
                                    <a:srgbClr val="000000"/>
                                  </a:solidFill>
                                  <a:latin typeface="Cambria Math" panose="02040503050406030204" pitchFamily="18" charset="0"/>
                                </a:rPr>
                              </m:ctrlPr>
                            </m:accPr>
                            <m:e>
                              <m:r>
                                <a:rPr lang="zh-CN" altLang="en-US" b="0" i="1">
                                  <a:solidFill>
                                    <a:srgbClr val="000000"/>
                                  </a:solidFill>
                                  <a:latin typeface="Cambria Math" panose="02040503050406030204" pitchFamily="18" charset="0"/>
                                </a:rPr>
                                <m:t>𝐸</m:t>
                              </m:r>
                            </m:e>
                          </m:acc>
                        </m:e>
                      </m:nary>
                      <m:r>
                        <a:rPr lang="zh-CN" altLang="en-US" b="0" i="1">
                          <a:solidFill>
                            <a:srgbClr val="000000"/>
                          </a:solidFill>
                          <a:latin typeface="Cambria Math" panose="02040503050406030204" pitchFamily="18" charset="0"/>
                        </a:rPr>
                        <m:t>⋅</m:t>
                      </m:r>
                      <m:r>
                        <a:rPr lang="zh-CN" altLang="en-US" b="0"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b="0" i="1">
                              <a:solidFill>
                                <a:srgbClr val="000000"/>
                              </a:solidFill>
                              <a:latin typeface="Cambria Math" panose="02040503050406030204" pitchFamily="18" charset="0"/>
                            </a:rPr>
                            <m:t>𝑆</m:t>
                          </m:r>
                        </m:e>
                      </m:acc>
                    </m:oMath>
                  </m:oMathPara>
                </a14:m>
                <a:endParaRPr lang="en-US" altLang="zh-CN" i="1" dirty="0">
                  <a:solidFill>
                    <a:srgbClr val="000000"/>
                  </a:solidFill>
                  <a:latin typeface="Cambria Math" panose="02040503050406030204" pitchFamily="18" charset="0"/>
                </a:endParaRPr>
              </a:p>
              <a:p>
                <a:pPr marL="475488" lvl="2" indent="0">
                  <a:lnSpc>
                    <a:spcPct val="100000"/>
                  </a:lnSpc>
                  <a:buNone/>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𝑆</m:t>
                          </m:r>
                        </m:sub>
                        <m:sup/>
                        <m:e>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e>
                            <m:sub>
                              <m:r>
                                <a:rPr lang="zh-CN" altLang="en-US" sz="2800" b="0" i="1">
                                  <a:solidFill>
                                    <a:srgbClr val="000000"/>
                                  </a:solidFill>
                                  <a:latin typeface="Cambria Math" panose="02040503050406030204" pitchFamily="18" charset="0"/>
                                </a:rPr>
                                <m:t>1</m:t>
                              </m:r>
                            </m:sub>
                          </m:sSub>
                          <m:r>
                            <a:rPr lang="zh-CN" altLang="en-US" sz="2800" b="0" i="1">
                              <a:solidFill>
                                <a:srgbClr val="000000"/>
                              </a:solidFill>
                              <a:latin typeface="Cambria Math" panose="02040503050406030204" pitchFamily="18" charset="0"/>
                            </a:rPr>
                            <m:t>+</m:t>
                          </m:r>
                        </m:e>
                      </m:nary>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e>
                        <m:sub>
                          <m:r>
                            <a:rPr lang="zh-CN" altLang="en-US" sz="2800" b="0" i="1">
                              <a:solidFill>
                                <a:srgbClr val="000000"/>
                              </a:solidFill>
                              <a:latin typeface="Cambria Math" panose="02040503050406030204" pitchFamily="18" charset="0"/>
                            </a:rPr>
                            <m:t>2</m:t>
                          </m:r>
                        </m:sub>
                      </m:sSub>
                      <m:r>
                        <a:rPr lang="zh-CN" altLang="en-US" sz="2800" b="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e>
                        <m:sub>
                          <m:r>
                            <m:rPr>
                              <m:sty m:val="p"/>
                            </m:rPr>
                            <a:rPr lang="zh-CN" altLang="en-US" sz="2800" b="0" i="1">
                              <a:solidFill>
                                <a:srgbClr val="000000"/>
                              </a:solidFill>
                              <a:latin typeface="Cambria Math" panose="02040503050406030204" pitchFamily="18" charset="0"/>
                            </a:rPr>
                            <m:t>n</m:t>
                          </m:r>
                        </m:sub>
                      </m:sSub>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𝑆</m:t>
                          </m:r>
                        </m:e>
                      </m:acc>
                    </m:oMath>
                  </m:oMathPara>
                </a14:m>
                <a:endParaRPr lang="en-US" altLang="zh-CN" sz="2800" i="1" dirty="0">
                  <a:solidFill>
                    <a:srgbClr val="000000"/>
                  </a:solidFill>
                  <a:latin typeface="Cambria Math" panose="02040503050406030204" pitchFamily="18" charset="0"/>
                </a:endParaRPr>
              </a:p>
              <a:p>
                <a:pPr marL="475488" lvl="2" indent="0">
                  <a:lnSpc>
                    <a:spcPct val="100000"/>
                  </a:lnSpc>
                  <a:buNone/>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𝑆</m:t>
                          </m:r>
                        </m:sub>
                        <m:sup/>
                        <m:e>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e>
                            <m:sub>
                              <m:r>
                                <a:rPr lang="zh-CN" altLang="en-US" sz="2800" b="0" i="1">
                                  <a:solidFill>
                                    <a:srgbClr val="000000"/>
                                  </a:solidFill>
                                  <a:latin typeface="Cambria Math" panose="02040503050406030204" pitchFamily="18" charset="0"/>
                                </a:rPr>
                                <m:t>1</m:t>
                              </m:r>
                            </m:sub>
                          </m:sSub>
                        </m:e>
                      </m:nary>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𝑆</m:t>
                          </m:r>
                        </m:e>
                      </m:acc>
                      <m:r>
                        <a:rPr lang="zh-CN" altLang="en-US" sz="2800" b="0" i="1">
                          <a:solidFill>
                            <a:srgbClr val="000000"/>
                          </a:solidFill>
                          <a:latin typeface="Cambria Math" panose="02040503050406030204" pitchFamily="18" charset="0"/>
                        </a:rPr>
                        <m:t>+</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𝑆</m:t>
                          </m:r>
                        </m:sub>
                        <m:sup/>
                        <m:e>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e>
                            <m:sub>
                              <m:r>
                                <a:rPr lang="zh-CN" altLang="en-US" sz="2800" b="0" i="1">
                                  <a:solidFill>
                                    <a:srgbClr val="000000"/>
                                  </a:solidFill>
                                  <a:latin typeface="Cambria Math" panose="02040503050406030204" pitchFamily="18" charset="0"/>
                                </a:rPr>
                                <m:t>2</m:t>
                              </m:r>
                            </m:sub>
                          </m:sSub>
                        </m:e>
                      </m:nary>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𝑆</m:t>
                          </m:r>
                        </m:e>
                      </m:acc>
                      <m:r>
                        <a:rPr lang="zh-CN" altLang="en-US" sz="2800" b="0" i="1">
                          <a:solidFill>
                            <a:srgbClr val="000000"/>
                          </a:solidFill>
                          <a:latin typeface="Cambria Math" panose="02040503050406030204" pitchFamily="18" charset="0"/>
                        </a:rPr>
                        <m:t>+⋅⋅⋅+</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b="0" i="1">
                              <a:solidFill>
                                <a:srgbClr val="000000"/>
                              </a:solidFill>
                              <a:latin typeface="Cambria Math" panose="02040503050406030204" pitchFamily="18" charset="0"/>
                            </a:rPr>
                            <m:t>𝑆</m:t>
                          </m:r>
                        </m:sub>
                        <m:sup/>
                        <m:e>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𝐸</m:t>
                                  </m:r>
                                </m:e>
                              </m:acc>
                            </m:e>
                            <m:sub>
                              <m:r>
                                <a:rPr lang="zh-CN" altLang="en-US" sz="2800" b="0" i="1">
                                  <a:solidFill>
                                    <a:srgbClr val="000000"/>
                                  </a:solidFill>
                                  <a:latin typeface="Cambria Math" panose="02040503050406030204" pitchFamily="18" charset="0"/>
                                </a:rPr>
                                <m:t>𝑛</m:t>
                              </m:r>
                            </m:sub>
                          </m:sSub>
                        </m:e>
                      </m:nary>
                      <m:r>
                        <a:rPr lang="zh-CN" altLang="en-US" sz="2800" b="0" i="1">
                          <a:solidFill>
                            <a:srgbClr val="000000"/>
                          </a:solidFill>
                          <a:latin typeface="Cambria Math" panose="02040503050406030204" pitchFamily="18" charset="0"/>
                        </a:rPr>
                        <m:t>⋅</m:t>
                      </m:r>
                      <m:r>
                        <a:rPr lang="zh-CN" altLang="en-US" sz="2800" b="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b="0" i="1">
                              <a:solidFill>
                                <a:srgbClr val="000000"/>
                              </a:solidFill>
                              <a:latin typeface="Cambria Math" panose="02040503050406030204" pitchFamily="18" charset="0"/>
                            </a:rPr>
                            <m:t>𝑆</m:t>
                          </m:r>
                        </m:e>
                      </m:acc>
                    </m:oMath>
                  </m:oMathPara>
                </a14:m>
                <a:endParaRPr lang="en-US" altLang="zh-CN" sz="2800" i="1" dirty="0">
                  <a:solidFill>
                    <a:srgbClr val="000000"/>
                  </a:solidFill>
                  <a:latin typeface="Cambria Math" panose="02040503050406030204" pitchFamily="18" charset="0"/>
                </a:endParaRPr>
              </a:p>
              <a:p>
                <a:pPr marL="475488" lvl="2" indent="0">
                  <a:lnSpc>
                    <a:spcPct val="100000"/>
                  </a:lnSpc>
                  <a:buNone/>
                </a:pPr>
                <a14:m>
                  <m:oMathPara xmlns:m="http://schemas.openxmlformats.org/officeDocument/2006/math">
                    <m:oMathParaPr>
                      <m:jc m:val="left"/>
                    </m:oMathParaPr>
                    <m:oMath xmlns:m="http://schemas.openxmlformats.org/officeDocument/2006/math">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𝑞</m:t>
                              </m:r>
                            </m:e>
                            <m:sub>
                              <m:r>
                                <a:rPr lang="zh-CN" altLang="en-US" sz="2800" b="0" i="1">
                                  <a:solidFill>
                                    <a:srgbClr val="000000"/>
                                  </a:solidFill>
                                  <a:latin typeface="Cambria Math" panose="02040503050406030204" pitchFamily="18" charset="0"/>
                                </a:rPr>
                                <m:t>1</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𝑞</m:t>
                              </m:r>
                            </m:e>
                            <m:sub>
                              <m:r>
                                <a:rPr lang="en-US" altLang="zh-CN" sz="2800" b="0" i="1" smtClean="0">
                                  <a:solidFill>
                                    <a:srgbClr val="000000"/>
                                  </a:solidFill>
                                  <a:latin typeface="Cambria Math" panose="02040503050406030204" pitchFamily="18" charset="0"/>
                                </a:rPr>
                                <m:t>2</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r>
                        <a:rPr lang="zh-CN" altLang="en-US" sz="2800" b="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𝑞</m:t>
                              </m:r>
                            </m:e>
                            <m:sub>
                              <m:r>
                                <a:rPr lang="zh-CN" altLang="en-US" sz="2800" b="0" i="1">
                                  <a:solidFill>
                                    <a:srgbClr val="000000"/>
                                  </a:solidFill>
                                  <a:latin typeface="Cambria Math" panose="02040503050406030204" pitchFamily="18" charset="0"/>
                                </a:rPr>
                                <m:t>𝑛</m:t>
                              </m:r>
                            </m:sub>
                          </m:sSub>
                        </m:num>
                        <m:den>
                          <m:sSub>
                            <m:sSubPr>
                              <m:ctrlPr>
                                <a:rPr lang="zh-CN" altLang="en-US" sz="2800" i="1">
                                  <a:solidFill>
                                    <a:srgbClr val="000000"/>
                                  </a:solidFill>
                                  <a:latin typeface="Cambria Math" panose="02040503050406030204" pitchFamily="18" charset="0"/>
                                </a:rPr>
                              </m:ctrlPr>
                            </m:sSubPr>
                            <m:e>
                              <m:r>
                                <a:rPr lang="zh-CN" altLang="en-US" sz="2800" b="0" i="1">
                                  <a:solidFill>
                                    <a:srgbClr val="000000"/>
                                  </a:solidFill>
                                  <a:latin typeface="Cambria Math" panose="02040503050406030204" pitchFamily="18" charset="0"/>
                                </a:rPr>
                                <m:t>𝜀</m:t>
                              </m:r>
                            </m:e>
                            <m:sub>
                              <m:r>
                                <a:rPr lang="zh-CN" altLang="en-US" sz="2800" b="0" i="1">
                                  <a:solidFill>
                                    <a:srgbClr val="000000"/>
                                  </a:solidFill>
                                  <a:latin typeface="Cambria Math" panose="02040503050406030204" pitchFamily="18" charset="0"/>
                                </a:rPr>
                                <m:t>0</m:t>
                              </m:r>
                            </m:sub>
                          </m:sSub>
                        </m:den>
                      </m:f>
                      <m:r>
                        <a:rPr lang="zh-CN" altLang="en-US" sz="2800" b="0" i="1" smtClean="0">
                          <a:solidFill>
                            <a:srgbClr val="FF0000"/>
                          </a:solidFill>
                          <a:latin typeface="Cambria Math" panose="02040503050406030204" pitchFamily="18" charset="0"/>
                        </a:rPr>
                        <m:t>=</m:t>
                      </m:r>
                      <m:f>
                        <m:fPr>
                          <m:ctrlPr>
                            <a:rPr lang="en-US" altLang="zh-CN" sz="2800" i="1" smtClean="0">
                              <a:solidFill>
                                <a:srgbClr val="FF0000"/>
                              </a:solidFill>
                              <a:latin typeface="Cambria Math" panose="02040503050406030204" pitchFamily="18" charset="0"/>
                            </a:rPr>
                          </m:ctrlPr>
                        </m:fPr>
                        <m:num>
                          <m:nary>
                            <m:naryPr>
                              <m:chr m:val="∑"/>
                              <m:subHide m:val="on"/>
                              <m:supHide m:val="on"/>
                              <m:ctrlPr>
                                <a:rPr lang="en-US" altLang="zh-CN" sz="2800" i="1" smtClean="0">
                                  <a:solidFill>
                                    <a:srgbClr val="FF0000"/>
                                  </a:solidFill>
                                  <a:latin typeface="Cambria Math" panose="02040503050406030204" pitchFamily="18" charset="0"/>
                                </a:rPr>
                              </m:ctrlPr>
                            </m:naryPr>
                            <m:sub/>
                            <m:sup/>
                            <m:e>
                              <m:sSub>
                                <m:sSubPr>
                                  <m:ctrlPr>
                                    <a:rPr lang="en-US" altLang="zh-CN" sz="2800" i="1" smtClean="0">
                                      <a:solidFill>
                                        <a:srgbClr val="FF0000"/>
                                      </a:solidFill>
                                      <a:latin typeface="Cambria Math" panose="02040503050406030204" pitchFamily="18" charset="0"/>
                                    </a:rPr>
                                  </m:ctrlPr>
                                </m:sSubPr>
                                <m:e>
                                  <m:r>
                                    <a:rPr lang="en-US" altLang="zh-CN" sz="2800" b="0" i="1" smtClean="0">
                                      <a:solidFill>
                                        <a:srgbClr val="FF0000"/>
                                      </a:solidFill>
                                      <a:latin typeface="Cambria Math" panose="02040503050406030204" pitchFamily="18" charset="0"/>
                                    </a:rPr>
                                    <m:t>𝑞</m:t>
                                  </m:r>
                                </m:e>
                                <m:sub>
                                  <m:r>
                                    <a:rPr lang="en-US" altLang="zh-CN" sz="2800" b="0" i="1" smtClean="0">
                                      <a:solidFill>
                                        <a:srgbClr val="FF0000"/>
                                      </a:solidFill>
                                      <a:latin typeface="Cambria Math" panose="02040503050406030204" pitchFamily="18" charset="0"/>
                                    </a:rPr>
                                    <m:t>𝑖</m:t>
                                  </m:r>
                                </m:sub>
                              </m:sSub>
                            </m:e>
                          </m:nary>
                        </m:num>
                        <m:den>
                          <m:sSub>
                            <m:sSubPr>
                              <m:ctrlPr>
                                <a:rPr lang="zh-CN" altLang="en-US" sz="2800" i="1">
                                  <a:solidFill>
                                    <a:srgbClr val="FF0000"/>
                                  </a:solidFill>
                                  <a:latin typeface="Cambria Math" panose="02040503050406030204" pitchFamily="18" charset="0"/>
                                </a:rPr>
                              </m:ctrlPr>
                            </m:sSubPr>
                            <m:e>
                              <m:r>
                                <a:rPr lang="zh-CN" altLang="en-US" sz="2800" b="0" i="1">
                                  <a:solidFill>
                                    <a:srgbClr val="FF0000"/>
                                  </a:solidFill>
                                  <a:latin typeface="Cambria Math" panose="02040503050406030204" pitchFamily="18" charset="0"/>
                                </a:rPr>
                                <m:t>𝜀</m:t>
                              </m:r>
                            </m:e>
                            <m:sub>
                              <m:r>
                                <a:rPr lang="zh-CN" altLang="en-US" sz="2800" b="0" i="1">
                                  <a:solidFill>
                                    <a:srgbClr val="FF0000"/>
                                  </a:solidFill>
                                  <a:latin typeface="Cambria Math" panose="02040503050406030204" pitchFamily="18" charset="0"/>
                                </a:rPr>
                                <m:t>0</m:t>
                              </m:r>
                            </m:sub>
                          </m:sSub>
                        </m:den>
                      </m:f>
                    </m:oMath>
                  </m:oMathPara>
                </a14:m>
                <a:endParaRPr lang="zh-CN" altLang="en-US" sz="2800" dirty="0"/>
              </a:p>
            </p:txBody>
          </p:sp>
        </mc:Choice>
        <mc:Fallback xmlns="">
          <p:sp>
            <p:nvSpPr>
              <p:cNvPr id="6" name="内容占位符 5">
                <a:extLst>
                  <a:ext uri="{FF2B5EF4-FFF2-40B4-BE49-F238E27FC236}">
                    <a16:creationId xmlns:a16="http://schemas.microsoft.com/office/drawing/2014/main" id="{6CBC083A-A0D7-431D-867C-DE685900025C}"/>
                  </a:ext>
                </a:extLst>
              </p:cNvPr>
              <p:cNvSpPr>
                <a:spLocks noGrp="1" noRot="1" noChangeAspect="1" noMove="1" noResize="1" noEditPoints="1" noAdjustHandles="1" noChangeArrowheads="1" noChangeShapeType="1" noTextEdit="1"/>
              </p:cNvSpPr>
              <p:nvPr>
                <p:ph idx="1"/>
              </p:nvPr>
            </p:nvSpPr>
            <p:spPr>
              <a:xfrm>
                <a:off x="4585680" y="1464461"/>
                <a:ext cx="7259430" cy="4589062"/>
              </a:xfrm>
              <a:blipFill>
                <a:blip r:embed="rId3"/>
                <a:stretch>
                  <a:fillRect/>
                </a:stretch>
              </a:blipFill>
            </p:spPr>
            <p:txBody>
              <a:bodyPr/>
              <a:lstStyle/>
              <a:p>
                <a:r>
                  <a:rPr lang="en-US">
                    <a:noFill/>
                  </a:rPr>
                  <a:t> </a:t>
                </a:r>
              </a:p>
            </p:txBody>
          </p:sp>
        </mc:Fallback>
      </mc:AlternateContent>
      <p:pic>
        <p:nvPicPr>
          <p:cNvPr id="10" name="图片 9">
            <a:extLst>
              <a:ext uri="{FF2B5EF4-FFF2-40B4-BE49-F238E27FC236}">
                <a16:creationId xmlns:a16="http://schemas.microsoft.com/office/drawing/2014/main" id="{B3BE5384-FE41-4714-B2C5-F2EBF58F883A}"/>
              </a:ext>
            </a:extLst>
          </p:cNvPr>
          <p:cNvPicPr>
            <a:picLocks noChangeAspect="1"/>
          </p:cNvPicPr>
          <p:nvPr/>
        </p:nvPicPr>
        <p:blipFill>
          <a:blip r:embed="rId4"/>
          <a:stretch>
            <a:fillRect/>
          </a:stretch>
        </p:blipFill>
        <p:spPr>
          <a:xfrm>
            <a:off x="1311113" y="2346667"/>
            <a:ext cx="2990787" cy="1935215"/>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7783848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DFAD010-92BC-45A9-89E5-9E3E43BD0CF5}"/>
                  </a:ext>
                </a:extLst>
              </p:cNvPr>
              <p:cNvSpPr>
                <a:spLocks noGrp="1"/>
              </p:cNvSpPr>
              <p:nvPr>
                <p:ph idx="1"/>
              </p:nvPr>
            </p:nvSpPr>
            <p:spPr>
              <a:xfrm>
                <a:off x="4910580" y="2839230"/>
                <a:ext cx="7808777" cy="1775273"/>
              </a:xfrm>
            </p:spPr>
            <p:txBody>
              <a:bodyPr>
                <a:noAutofit/>
              </a:bodyPr>
              <a:lstStyle/>
              <a:p>
                <a:pPr marL="0" indent="0">
                  <a:buNone/>
                </a:pPr>
                <a14:m>
                  <m:oMathPara xmlns:m="http://schemas.openxmlformats.org/officeDocument/2006/math">
                    <m:oMathParaPr>
                      <m:jc m:val="centerGroup"/>
                    </m:oMathParaPr>
                    <m:oMath xmlns:m="http://schemas.openxmlformats.org/officeDocument/2006/math">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𝜱</m:t>
                          </m:r>
                        </m:e>
                        <m:sub>
                          <m:r>
                            <a:rPr lang="zh-CN" altLang="en-US" sz="3200" i="1">
                              <a:solidFill>
                                <a:srgbClr val="000000"/>
                              </a:solidFill>
                              <a:latin typeface="Cambria Math" panose="02040503050406030204" pitchFamily="18" charset="0"/>
                            </a:rPr>
                            <m:t>𝒆</m:t>
                          </m:r>
                        </m:sub>
                      </m:sSub>
                      <m:r>
                        <a:rPr lang="zh-CN" altLang="en-US" sz="3200" i="1">
                          <a:solidFill>
                            <a:srgbClr val="000000"/>
                          </a:solidFill>
                          <a:latin typeface="Cambria Math" panose="02040503050406030204" pitchFamily="18" charset="0"/>
                        </a:rPr>
                        <m:t>=</m:t>
                      </m:r>
                      <m:nary>
                        <m:naryPr>
                          <m:chr m:val="∯"/>
                          <m:limLoc m:val="undOvr"/>
                          <m:supHide m:val="on"/>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𝑺</m:t>
                          </m:r>
                        </m:sub>
                        <m:sup/>
                        <m:e>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𝑬</m:t>
                              </m:r>
                            </m:e>
                          </m:acc>
                        </m:e>
                      </m:nary>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𝒅</m:t>
                      </m:r>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𝑺</m:t>
                          </m:r>
                        </m:e>
                      </m:acc>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𝟎</m:t>
                      </m:r>
                    </m:oMath>
                  </m:oMathPara>
                </a14:m>
                <a:endParaRPr lang="zh-CN" altLang="en-US" sz="3200" dirty="0"/>
              </a:p>
            </p:txBody>
          </p:sp>
        </mc:Choice>
        <mc:Fallback xmlns="">
          <p:sp>
            <p:nvSpPr>
              <p:cNvPr id="3" name="内容占位符 2">
                <a:extLst>
                  <a:ext uri="{FF2B5EF4-FFF2-40B4-BE49-F238E27FC236}">
                    <a16:creationId xmlns:a16="http://schemas.microsoft.com/office/drawing/2014/main" id="{5DFAD010-92BC-45A9-89E5-9E3E43BD0CF5}"/>
                  </a:ext>
                </a:extLst>
              </p:cNvPr>
              <p:cNvSpPr>
                <a:spLocks noGrp="1" noRot="1" noChangeAspect="1" noMove="1" noResize="1" noEditPoints="1" noAdjustHandles="1" noChangeArrowheads="1" noChangeShapeType="1" noTextEdit="1"/>
              </p:cNvSpPr>
              <p:nvPr>
                <p:ph idx="1"/>
              </p:nvPr>
            </p:nvSpPr>
            <p:spPr>
              <a:xfrm>
                <a:off x="4910580" y="2839230"/>
                <a:ext cx="7808777" cy="1775273"/>
              </a:xfrm>
              <a:blipFill>
                <a:blip r:embed="rId2"/>
                <a:stretch>
                  <a:fillRect/>
                </a:stretch>
              </a:blipFill>
            </p:spPr>
            <p:txBody>
              <a:bodyPr/>
              <a:lstStyle/>
              <a:p>
                <a:r>
                  <a:rPr lang="zh-CN" altLang="en-US">
                    <a:noFill/>
                  </a:rPr>
                  <a:t> </a:t>
                </a:r>
              </a:p>
            </p:txBody>
          </p:sp>
        </mc:Fallback>
      </mc:AlternateContent>
      <p:pic>
        <p:nvPicPr>
          <p:cNvPr id="6" name="图片 5">
            <a:extLst>
              <a:ext uri="{FF2B5EF4-FFF2-40B4-BE49-F238E27FC236}">
                <a16:creationId xmlns:a16="http://schemas.microsoft.com/office/drawing/2014/main" id="{4C1315E0-0D95-4ED0-B1E7-044217CE842D}"/>
              </a:ext>
            </a:extLst>
          </p:cNvPr>
          <p:cNvPicPr>
            <a:picLocks noChangeAspect="1"/>
          </p:cNvPicPr>
          <p:nvPr/>
        </p:nvPicPr>
        <p:blipFill>
          <a:blip r:embed="rId3"/>
          <a:stretch>
            <a:fillRect/>
          </a:stretch>
        </p:blipFill>
        <p:spPr>
          <a:xfrm>
            <a:off x="663372" y="1888386"/>
            <a:ext cx="4438273" cy="2664183"/>
          </a:xfrm>
          <a:prstGeom prst="rect">
            <a:avLst/>
          </a:prstGeom>
          <a:ln>
            <a:noFill/>
          </a:ln>
          <a:effectLst>
            <a:outerShdw blurRad="292100" dist="139700" dir="2700000" algn="tl" rotWithShape="0">
              <a:srgbClr val="333333">
                <a:alpha val="65000"/>
              </a:srgbClr>
            </a:outerShdw>
          </a:effectLst>
        </p:spPr>
      </p:pic>
      <p:sp>
        <p:nvSpPr>
          <p:cNvPr id="9" name="标题 4">
            <a:extLst>
              <a:ext uri="{FF2B5EF4-FFF2-40B4-BE49-F238E27FC236}">
                <a16:creationId xmlns:a16="http://schemas.microsoft.com/office/drawing/2014/main" id="{7E9F1C24-CCE8-41F7-986D-67F8EDB58F12}"/>
              </a:ext>
            </a:extLst>
          </p:cNvPr>
          <p:cNvSpPr txBox="1">
            <a:spLocks/>
          </p:cNvSpPr>
          <p:nvPr/>
        </p:nvSpPr>
        <p:spPr>
          <a:xfrm>
            <a:off x="564101" y="804477"/>
            <a:ext cx="5045544" cy="9726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闭合面内无电荷：</a:t>
            </a:r>
            <a:endParaRPr lang="zh-CN" altLang="en-US" b="1" dirty="0">
              <a:solidFill>
                <a:srgbClr val="0066FF"/>
              </a:solidFill>
              <a:latin typeface="华文楷体" panose="02010600040101010101" pitchFamily="2" charset="-122"/>
              <a:ea typeface="华文楷体" panose="02010600040101010101" pitchFamily="2" charset="-122"/>
            </a:endParaRPr>
          </a:p>
        </p:txBody>
      </p:sp>
      <p:sp>
        <p:nvSpPr>
          <p:cNvPr id="10" name="矩形 9">
            <a:extLst>
              <a:ext uri="{FF2B5EF4-FFF2-40B4-BE49-F238E27FC236}">
                <a16:creationId xmlns:a16="http://schemas.microsoft.com/office/drawing/2014/main" id="{A0C0548C-5803-4D51-9F23-C6D0B362406A}"/>
              </a:ext>
            </a:extLst>
          </p:cNvPr>
          <p:cNvSpPr/>
          <p:nvPr/>
        </p:nvSpPr>
        <p:spPr>
          <a:xfrm>
            <a:off x="1281646" y="5080885"/>
            <a:ext cx="6096000" cy="892552"/>
          </a:xfrm>
          <a:prstGeom prst="rect">
            <a:avLst/>
          </a:prstGeom>
        </p:spPr>
        <p:txBody>
          <a:bodyPr>
            <a:spAutoFit/>
          </a:bodyPr>
          <a:lstStyle/>
          <a:p>
            <a:pPr>
              <a:lnSpc>
                <a:spcPct val="100000"/>
              </a:lnSpc>
              <a:buFontTx/>
              <a:buChar char="-"/>
            </a:pPr>
            <a:r>
              <a:rPr lang="zh-CN" altLang="en-US" sz="2600" dirty="0">
                <a:latin typeface="华文楷体" panose="02010600040101010101" pitchFamily="2" charset="-122"/>
                <a:ea typeface="华文楷体" panose="02010600040101010101" pitchFamily="2" charset="-122"/>
              </a:rPr>
              <a:t> 起于正电荷（或无限远处），终于负电荷（或无限远处），无电荷处不中断</a:t>
            </a:r>
            <a:endParaRPr lang="en-US" altLang="zh-CN" sz="2600" dirty="0">
              <a:latin typeface="华文楷体" panose="02010600040101010101" pitchFamily="2" charset="-122"/>
              <a:ea typeface="华文楷体" panose="0201060004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85288FED-80E8-4D24-B15E-D324A826DBA2}"/>
                  </a:ext>
                </a:extLst>
              </p:cNvPr>
              <p:cNvSpPr>
                <a:spLocks noGrp="1"/>
              </p:cNvSpPr>
              <p:nvPr>
                <p:ph type="title"/>
              </p:nvPr>
            </p:nvSpPr>
            <p:spPr>
              <a:xfrm>
                <a:off x="1291439" y="3054719"/>
                <a:ext cx="5301753" cy="1325563"/>
              </a:xfr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𝚽</m:t>
                          </m:r>
                        </m:e>
                        <m:sub>
                          <m:r>
                            <a:rPr lang="en-US" altLang="zh-CN" sz="3200" i="1">
                              <a:solidFill>
                                <a:srgbClr val="FF0000"/>
                              </a:solidFill>
                              <a:latin typeface="Cambria Math" panose="02040503050406030204" pitchFamily="18" charset="0"/>
                            </a:rPr>
                            <m:t>𝒆</m:t>
                          </m:r>
                        </m:sub>
                      </m:sSub>
                      <m:r>
                        <a:rPr lang="en-US" altLang="zh-CN" sz="3200" i="1">
                          <a:solidFill>
                            <a:srgbClr val="FF0000"/>
                          </a:solidFill>
                          <a:latin typeface="Cambria Math" panose="02040503050406030204" pitchFamily="18" charset="0"/>
                        </a:rPr>
                        <m:t>=</m:t>
                      </m:r>
                      <m:nary>
                        <m:naryPr>
                          <m:chr m:val="∯"/>
                          <m:ctrlPr>
                            <a:rPr lang="en-US" altLang="zh-CN" sz="3200" i="1">
                              <a:solidFill>
                                <a:srgbClr val="FF0000"/>
                              </a:solidFill>
                              <a:latin typeface="Cambria Math" panose="02040503050406030204" pitchFamily="18" charset="0"/>
                            </a:rPr>
                          </m:ctrlPr>
                        </m:naryPr>
                        <m:sub>
                          <m:r>
                            <m:rPr>
                              <m:brk m:alnAt="23"/>
                            </m:rPr>
                            <a:rPr lang="en-US" altLang="zh-CN" sz="3200" i="1">
                              <a:solidFill>
                                <a:srgbClr val="FF0000"/>
                              </a:solidFill>
                              <a:latin typeface="Cambria Math" panose="02040503050406030204" pitchFamily="18" charset="0"/>
                            </a:rPr>
                            <m:t>𝑺</m:t>
                          </m:r>
                        </m:sub>
                        <m:sup/>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𝑬</m:t>
                              </m:r>
                            </m:e>
                          </m:acc>
                          <m:r>
                            <a:rPr lang="en-US" altLang="zh-CN" sz="3200" i="1">
                              <a:solidFill>
                                <a:srgbClr val="FF0000"/>
                              </a:solidFill>
                              <a:latin typeface="Cambria Math" panose="02040503050406030204" pitchFamily="18" charset="0"/>
                              <a:ea typeface="Cambria Math" panose="02040503050406030204" pitchFamily="18" charset="0"/>
                            </a:rPr>
                            <m:t>∙</m:t>
                          </m:r>
                          <m:r>
                            <a:rPr lang="en-US" altLang="zh-CN" sz="3200" i="1">
                              <a:solidFill>
                                <a:srgbClr val="FF0000"/>
                              </a:solidFill>
                              <a:latin typeface="Cambria Math" panose="02040503050406030204" pitchFamily="18" charset="0"/>
                              <a:ea typeface="Cambria Math" panose="02040503050406030204" pitchFamily="18" charset="0"/>
                            </a:rPr>
                            <m:t>𝒅</m:t>
                          </m:r>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𝑺</m:t>
                              </m:r>
                            </m:e>
                          </m:acc>
                          <m:r>
                            <a:rPr lang="en-US" altLang="zh-CN" sz="3200" i="1">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r>
                                <a:rPr lang="en-US" altLang="zh-CN" sz="3200" i="1">
                                  <a:solidFill>
                                    <a:srgbClr val="FF0000"/>
                                  </a:solidFill>
                                  <a:latin typeface="Cambria Math" panose="02040503050406030204" pitchFamily="18" charset="0"/>
                                </a:rPr>
                                <m:t>𝟏</m:t>
                              </m:r>
                            </m:num>
                            <m:den>
                              <m:sSub>
                                <m:sSubPr>
                                  <m:ctrlPr>
                                    <a:rPr lang="en-US" altLang="zh-CN" sz="3200" i="1">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𝜺</m:t>
                                  </m:r>
                                </m:e>
                                <m:sub>
                                  <m:r>
                                    <a:rPr lang="en-US" altLang="zh-CN" sz="3200" i="1">
                                      <a:solidFill>
                                        <a:srgbClr val="FF0000"/>
                                      </a:solidFill>
                                      <a:latin typeface="Cambria Math" panose="02040503050406030204" pitchFamily="18" charset="0"/>
                                    </a:rPr>
                                    <m:t>𝟎</m:t>
                                  </m:r>
                                </m:sub>
                              </m:sSub>
                            </m:den>
                          </m:f>
                          <m:nary>
                            <m:naryPr>
                              <m:chr m:val="∑"/>
                              <m:supHide m:val="on"/>
                              <m:ctrlPr>
                                <a:rPr lang="en-US" altLang="zh-CN" sz="3200" i="1">
                                  <a:solidFill>
                                    <a:srgbClr val="FF0000"/>
                                  </a:solidFill>
                                  <a:latin typeface="Cambria Math" panose="02040503050406030204" pitchFamily="18" charset="0"/>
                                </a:rPr>
                              </m:ctrlPr>
                            </m:naryPr>
                            <m:sub>
                              <m:r>
                                <m:rPr>
                                  <m:brk m:alnAt="7"/>
                                </m:rPr>
                                <a:rPr lang="en-US" altLang="zh-CN" sz="3200" i="1">
                                  <a:solidFill>
                                    <a:srgbClr val="FF0000"/>
                                  </a:solidFill>
                                  <a:latin typeface="Cambria Math" panose="02040503050406030204" pitchFamily="18" charset="0"/>
                                </a:rPr>
                                <m:t>𝑺</m:t>
                              </m:r>
                              <m:r>
                                <m:rPr>
                                  <m:brk m:alnAt="7"/>
                                </m:rPr>
                                <a:rPr lang="zh-CN" altLang="en-US" sz="3200" i="1">
                                  <a:solidFill>
                                    <a:srgbClr val="FF0000"/>
                                  </a:solidFill>
                                  <a:latin typeface="Cambria Math" panose="02040503050406030204" pitchFamily="18" charset="0"/>
                                </a:rPr>
                                <m:t>内</m:t>
                              </m:r>
                            </m:sub>
                            <m:sup/>
                            <m:e>
                              <m:sSub>
                                <m:sSubPr>
                                  <m:ctrlPr>
                                    <a:rPr lang="en-US" altLang="zh-CN" sz="3200" i="1">
                                      <a:solidFill>
                                        <a:srgbClr val="FF0000"/>
                                      </a:solidFill>
                                      <a:latin typeface="Cambria Math" panose="02040503050406030204" pitchFamily="18" charset="0"/>
                                    </a:rPr>
                                  </m:ctrlPr>
                                </m:sSubPr>
                                <m:e>
                                  <m:r>
                                    <a:rPr lang="en-US" altLang="zh-CN" sz="3200" i="1">
                                      <a:solidFill>
                                        <a:srgbClr val="FF0000"/>
                                      </a:solidFill>
                                      <a:latin typeface="Cambria Math" panose="02040503050406030204" pitchFamily="18" charset="0"/>
                                    </a:rPr>
                                    <m:t>𝒒</m:t>
                                  </m:r>
                                </m:e>
                                <m:sub>
                                  <m:r>
                                    <a:rPr lang="en-US" altLang="zh-CN" sz="3200" i="1">
                                      <a:solidFill>
                                        <a:srgbClr val="FF0000"/>
                                      </a:solidFill>
                                      <a:latin typeface="Cambria Math" panose="02040503050406030204" pitchFamily="18" charset="0"/>
                                    </a:rPr>
                                    <m:t>𝒊</m:t>
                                  </m:r>
                                </m:sub>
                              </m:sSub>
                            </m:e>
                          </m:nary>
                        </m:e>
                      </m:nary>
                    </m:oMath>
                  </m:oMathPara>
                </a14:m>
                <a:endParaRPr lang="zh-CN" altLang="en-US" sz="3200" dirty="0">
                  <a:solidFill>
                    <a:srgbClr val="FF0000"/>
                  </a:solidFill>
                </a:endParaRPr>
              </a:p>
            </p:txBody>
          </p:sp>
        </mc:Choice>
        <mc:Fallback xmlns="">
          <p:sp>
            <p:nvSpPr>
              <p:cNvPr id="2" name="标题 1">
                <a:extLst>
                  <a:ext uri="{FF2B5EF4-FFF2-40B4-BE49-F238E27FC236}">
                    <a16:creationId xmlns:a16="http://schemas.microsoft.com/office/drawing/2014/main" id="{85288FED-80E8-4D24-B15E-D324A826DBA2}"/>
                  </a:ext>
                </a:extLst>
              </p:cNvPr>
              <p:cNvSpPr>
                <a:spLocks noGrp="1" noRot="1" noChangeAspect="1" noMove="1" noResize="1" noEditPoints="1" noAdjustHandles="1" noChangeArrowheads="1" noChangeShapeType="1" noTextEdit="1"/>
              </p:cNvSpPr>
              <p:nvPr>
                <p:ph type="title"/>
              </p:nvPr>
            </p:nvSpPr>
            <p:spPr>
              <a:xfrm>
                <a:off x="1291439" y="3054719"/>
                <a:ext cx="5301753" cy="1325563"/>
              </a:xfr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55E12E5C-4F58-437D-A97A-D38B9BEB4B6B}"/>
                  </a:ext>
                </a:extLst>
              </p:cNvPr>
              <p:cNvSpPr>
                <a:spLocks noGrp="1"/>
              </p:cNvSpPr>
              <p:nvPr>
                <p:ph idx="1"/>
              </p:nvPr>
            </p:nvSpPr>
            <p:spPr>
              <a:xfrm>
                <a:off x="719978" y="1138073"/>
                <a:ext cx="6065285" cy="1670722"/>
              </a:xfrm>
            </p:spPr>
            <p:txBody>
              <a:bodyPr>
                <a:noAutofit/>
              </a:bodyPr>
              <a:lstStyle/>
              <a:p>
                <a:pPr marL="0" indent="0">
                  <a:lnSpc>
                    <a:spcPct val="100000"/>
                  </a:lnSpc>
                  <a:buNone/>
                </a:pPr>
                <a:r>
                  <a:rPr lang="zh-CN" altLang="en-US" dirty="0">
                    <a:latin typeface="Times New Roman" panose="02020603050405020304" pitchFamily="18" charset="0"/>
                    <a:ea typeface="华文楷体" panose="02010600040101010101" pitchFamily="2" charset="-122"/>
                    <a:cs typeface="Times New Roman" panose="02020603050405020304" pitchFamily="18" charset="0"/>
                  </a:rPr>
                  <a:t>在真空中的静电场中，通过任意闭合曲面的电通量等于该曲面内电荷量的代数和除以真空中的介电常数</a:t>
                </a:r>
                <a14:m>
                  <m:oMath xmlns:m="http://schemas.openxmlformats.org/officeDocument/2006/math">
                    <m:r>
                      <a:rPr lang="en-US" altLang="zh-CN" i="1" dirty="0">
                        <a:latin typeface="Cambria Math" panose="02040503050406030204" pitchFamily="18" charset="0"/>
                        <a:ea typeface="华文中宋" panose="02010600040101010101" pitchFamily="2" charset="-122"/>
                      </a:rPr>
                      <m:t>𝜺</m:t>
                    </m:r>
                    <m:r>
                      <a:rPr lang="en-US" altLang="zh-CN" i="1" baseline="-25000" dirty="0">
                        <a:latin typeface="Cambria Math" panose="02040503050406030204" pitchFamily="18" charset="0"/>
                        <a:ea typeface="华文中宋" panose="02010600040101010101" pitchFamily="2" charset="-122"/>
                      </a:rPr>
                      <m:t>𝟎</m:t>
                    </m:r>
                  </m:oMath>
                </a14:m>
                <a:endParaRPr lang="en-US" altLang="zh-CN" dirty="0">
                  <a:latin typeface="Times New Roman" panose="02020603050405020304" pitchFamily="18" charset="0"/>
                  <a:ea typeface="华文楷体" panose="02010600040101010101" pitchFamily="2" charset="-122"/>
                  <a:cs typeface="Times New Roman" panose="02020603050405020304" pitchFamily="18" charset="0"/>
                </a:endParaRPr>
              </a:p>
              <a:p>
                <a:pPr>
                  <a:lnSpc>
                    <a:spcPct val="100000"/>
                  </a:lnSpc>
                </a:pPr>
                <a:endParaRPr lang="zh-CN" altLang="en-US" dirty="0">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内容占位符 2">
                <a:extLst>
                  <a:ext uri="{FF2B5EF4-FFF2-40B4-BE49-F238E27FC236}">
                    <a16:creationId xmlns:a16="http://schemas.microsoft.com/office/drawing/2014/main" id="{55E12E5C-4F58-437D-A97A-D38B9BEB4B6B}"/>
                  </a:ext>
                </a:extLst>
              </p:cNvPr>
              <p:cNvSpPr>
                <a:spLocks noGrp="1" noRot="1" noChangeAspect="1" noMove="1" noResize="1" noEditPoints="1" noAdjustHandles="1" noChangeArrowheads="1" noChangeShapeType="1" noTextEdit="1"/>
              </p:cNvSpPr>
              <p:nvPr>
                <p:ph idx="1"/>
              </p:nvPr>
            </p:nvSpPr>
            <p:spPr>
              <a:xfrm>
                <a:off x="719978" y="1138073"/>
                <a:ext cx="6065285" cy="1670722"/>
              </a:xfrm>
              <a:blipFill>
                <a:blip r:embed="rId4"/>
                <a:stretch>
                  <a:fillRect l="-2010" t="-4015"/>
                </a:stretch>
              </a:blipFill>
            </p:spPr>
            <p:txBody>
              <a:bodyPr/>
              <a:lstStyle/>
              <a:p>
                <a:r>
                  <a:rPr lang="zh-CN" altLang="en-US">
                    <a:noFill/>
                  </a:rPr>
                  <a:t> </a:t>
                </a:r>
              </a:p>
            </p:txBody>
          </p:sp>
        </mc:Fallback>
      </mc:AlternateContent>
      <p:sp>
        <p:nvSpPr>
          <p:cNvPr id="686082" name="Rectangle 2"/>
          <p:cNvSpPr>
            <a:spLocks noChangeArrowheads="1"/>
          </p:cNvSpPr>
          <p:nvPr/>
        </p:nvSpPr>
        <p:spPr bwMode="auto">
          <a:xfrm>
            <a:off x="3863975" y="1700214"/>
            <a:ext cx="4319588" cy="129698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0" name="标题 4">
            <a:extLst>
              <a:ext uri="{FF2B5EF4-FFF2-40B4-BE49-F238E27FC236}">
                <a16:creationId xmlns:a16="http://schemas.microsoft.com/office/drawing/2014/main" id="{3C22E402-E979-4BEB-BCF1-D777288D53A0}"/>
              </a:ext>
            </a:extLst>
          </p:cNvPr>
          <p:cNvSpPr txBox="1">
            <a:spLocks/>
          </p:cNvSpPr>
          <p:nvPr/>
        </p:nvSpPr>
        <p:spPr>
          <a:xfrm>
            <a:off x="564101" y="184272"/>
            <a:ext cx="5045544" cy="9726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高斯定律：</a:t>
            </a:r>
            <a:endParaRPr lang="zh-CN" altLang="en-US" b="1" dirty="0">
              <a:solidFill>
                <a:srgbClr val="0066FF"/>
              </a:solidFill>
              <a:latin typeface="华文楷体" panose="02010600040101010101" pitchFamily="2" charset="-122"/>
              <a:ea typeface="华文楷体" panose="02010600040101010101" pitchFamily="2" charset="-122"/>
            </a:endParaRPr>
          </a:p>
        </p:txBody>
      </p:sp>
      <p:pic>
        <p:nvPicPr>
          <p:cNvPr id="17" name="Picture 2" descr="https://upload.wikimedia.org/wikipedia/commons/thumb/9/9b/Carl_Friedrich_Gauss.jpg/200px-Carl_Friedrich_Gauss.jpg">
            <a:extLst>
              <a:ext uri="{FF2B5EF4-FFF2-40B4-BE49-F238E27FC236}">
                <a16:creationId xmlns:a16="http://schemas.microsoft.com/office/drawing/2014/main" id="{6A02AAC5-ADE1-4ADD-BCDD-DFA42F92EEB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17431" y="314601"/>
            <a:ext cx="2423657" cy="3114399"/>
          </a:xfrm>
          <a:prstGeom prst="rect">
            <a:avLst/>
          </a:prstGeom>
          <a:noFill/>
          <a:extLst>
            <a:ext uri="{909E8E84-426E-40DD-AFC4-6F175D3DCCD1}">
              <a14:hiddenFill xmlns:a14="http://schemas.microsoft.com/office/drawing/2010/main">
                <a:solidFill>
                  <a:srgbClr val="FFFFFF"/>
                </a:solidFill>
              </a14:hiddenFill>
            </a:ext>
          </a:extLst>
        </p:spPr>
      </p:pic>
      <p:sp>
        <p:nvSpPr>
          <p:cNvPr id="18" name="矩形 17">
            <a:extLst>
              <a:ext uri="{FF2B5EF4-FFF2-40B4-BE49-F238E27FC236}">
                <a16:creationId xmlns:a16="http://schemas.microsoft.com/office/drawing/2014/main" id="{75EB81D4-B8D3-478D-88B5-8F49903B52EA}"/>
              </a:ext>
            </a:extLst>
          </p:cNvPr>
          <p:cNvSpPr/>
          <p:nvPr/>
        </p:nvSpPr>
        <p:spPr>
          <a:xfrm>
            <a:off x="870665" y="4850803"/>
            <a:ext cx="5567520" cy="1384995"/>
          </a:xfrm>
          <a:prstGeom prst="rect">
            <a:avLst/>
          </a:prstGeom>
        </p:spPr>
        <p:txBody>
          <a:bodyPr wrap="square">
            <a:spAutoFit/>
          </a:bodyPr>
          <a:lstStyle/>
          <a:p>
            <a:pPr algn="ctr"/>
            <a:r>
              <a:rPr lang="zh-CN" altLang="en-US" sz="2800" dirty="0"/>
              <a:t>卡尔</a:t>
            </a:r>
            <a:r>
              <a:rPr lang="en-US" altLang="zh-CN" sz="2800" dirty="0"/>
              <a:t>·</a:t>
            </a:r>
            <a:r>
              <a:rPr lang="zh-CN" altLang="en-US" sz="2800" dirty="0"/>
              <a:t>高斯在</a:t>
            </a:r>
            <a:r>
              <a:rPr lang="en-US" altLang="zh-CN" sz="2800" dirty="0"/>
              <a:t>1835</a:t>
            </a:r>
            <a:r>
              <a:rPr lang="zh-CN" altLang="en-US" sz="2800" dirty="0"/>
              <a:t>年提出的，但直到</a:t>
            </a:r>
            <a:r>
              <a:rPr lang="en-US" altLang="zh-CN" sz="2800" dirty="0"/>
              <a:t>1867</a:t>
            </a:r>
            <a:r>
              <a:rPr lang="zh-CN" altLang="en-US" sz="2800" dirty="0"/>
              <a:t>年才发布</a:t>
            </a:r>
          </a:p>
          <a:p>
            <a:pPr algn="ctr"/>
            <a:endParaRPr lang="en-US" sz="2800" dirty="0"/>
          </a:p>
        </p:txBody>
      </p:sp>
      <p:sp>
        <p:nvSpPr>
          <p:cNvPr id="4" name="Text Box 5">
            <a:extLst>
              <a:ext uri="{FF2B5EF4-FFF2-40B4-BE49-F238E27FC236}">
                <a16:creationId xmlns:a16="http://schemas.microsoft.com/office/drawing/2014/main" id="{2BD2A848-B90B-74AA-EFBF-3A704E2FE638}"/>
              </a:ext>
            </a:extLst>
          </p:cNvPr>
          <p:cNvSpPr txBox="1"/>
          <p:nvPr/>
        </p:nvSpPr>
        <p:spPr>
          <a:xfrm>
            <a:off x="7840964" y="3537808"/>
            <a:ext cx="5334000" cy="537519"/>
          </a:xfrm>
          <a:prstGeom prst="rect">
            <a:avLst/>
          </a:prstGeom>
          <a:noFill/>
          <a:ln w="9525">
            <a:noFill/>
          </a:ln>
        </p:spPr>
        <p:txBody>
          <a:bodyPr>
            <a:spAutoFit/>
          </a:bodyPr>
          <a:lstStyle/>
          <a:p>
            <a:pPr>
              <a:lnSpc>
                <a:spcPct val="120000"/>
              </a:lnSpc>
            </a:pPr>
            <a:r>
              <a:rPr lang="zh-CN" altLang="en-US" sz="2600" dirty="0"/>
              <a:t>高斯 </a:t>
            </a:r>
            <a:r>
              <a:rPr lang="en-US" altLang="zh-CN" sz="2600" dirty="0"/>
              <a:t>(</a:t>
            </a:r>
            <a:r>
              <a:rPr lang="en-US" altLang="zh-CN" sz="2600" i="1" dirty="0"/>
              <a:t>C.F.Gauss  1777</a:t>
            </a:r>
            <a:r>
              <a:rPr lang="en-US" altLang="zh-CN" sz="2600" i="1" dirty="0">
                <a:sym typeface="Symbol" panose="05050102010706020507" pitchFamily="18" charset="2"/>
              </a:rPr>
              <a:t></a:t>
            </a:r>
            <a:r>
              <a:rPr lang="en-US" altLang="zh-CN" sz="2600" i="1" dirty="0"/>
              <a:t>1855</a:t>
            </a:r>
            <a:r>
              <a:rPr lang="zh-CN" altLang="en-US" sz="2600" dirty="0"/>
              <a:t>）</a:t>
            </a:r>
          </a:p>
        </p:txBody>
      </p:sp>
      <p:sp>
        <p:nvSpPr>
          <p:cNvPr id="9" name="文本框 8">
            <a:extLst>
              <a:ext uri="{FF2B5EF4-FFF2-40B4-BE49-F238E27FC236}">
                <a16:creationId xmlns:a16="http://schemas.microsoft.com/office/drawing/2014/main" id="{38EA3B6B-4281-F8DB-5A09-370305BF2FF6}"/>
              </a:ext>
            </a:extLst>
          </p:cNvPr>
          <p:cNvSpPr txBox="1"/>
          <p:nvPr/>
        </p:nvSpPr>
        <p:spPr>
          <a:xfrm>
            <a:off x="7864407" y="4184135"/>
            <a:ext cx="4195004" cy="2492990"/>
          </a:xfrm>
          <a:prstGeom prst="rect">
            <a:avLst/>
          </a:prstGeom>
          <a:noFill/>
        </p:spPr>
        <p:txBody>
          <a:bodyPr wrap="square">
            <a:spAutoFit/>
          </a:bodyPr>
          <a:lstStyle/>
          <a:p>
            <a:r>
              <a:rPr lang="zh-CN" altLang="en-US" sz="2600" dirty="0"/>
              <a:t> 德国数学家、天文学家和物理学家，有“数学王子”美称，他与韦伯制成了第一台有线电报机和建立了地磁观测台，高斯还创立了电磁量的绝对单位制。</a:t>
            </a:r>
          </a:p>
        </p:txBody>
      </p:sp>
    </p:spTree>
    <p:extLst>
      <p:ext uri="{BB962C8B-B14F-4D97-AF65-F5344CB8AC3E}">
        <p14:creationId xmlns:p14="http://schemas.microsoft.com/office/powerpoint/2010/main" val="3397203841"/>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4" presetClass="entr" presetSubtype="10" fill="hold" grpId="0" nodeType="withEffect" nodePh="1">
                                  <p:stCondLst>
                                    <p:cond delay="0"/>
                                  </p:stCondLst>
                                  <p:endCondLst>
                                    <p:cond evt="begin" delay="0">
                                      <p:tn val="5"/>
                                    </p:cond>
                                  </p:endCondLst>
                                  <p:childTnLst>
                                    <p:set>
                                      <p:cBhvr>
                                        <p:cTn id="6" dur="1" fill="hold">
                                          <p:stCondLst>
                                            <p:cond delay="0"/>
                                          </p:stCondLst>
                                        </p:cTn>
                                        <p:tgtEl>
                                          <p:spTgt spid="686082"/>
                                        </p:tgtEl>
                                        <p:attrNameLst>
                                          <p:attrName>style.visibility</p:attrName>
                                        </p:attrNameLst>
                                      </p:cBhvr>
                                      <p:to>
                                        <p:strVal val="visible"/>
                                      </p:to>
                                    </p:set>
                                    <p:animEffect transition="in" filter="randombar(horizontal)">
                                      <p:cBhvr>
                                        <p:cTn id="7" dur="500"/>
                                        <p:tgtEl>
                                          <p:spTgt spid="68608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4"/>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686082" grpId="0" animBg="1"/>
      <p:bldP spid="18" grpId="0"/>
      <p:bldP spid="4" grpId="0"/>
      <p:bldP spid="9"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0787" name="Rectangle 3"/>
          <p:cNvSpPr/>
          <p:nvPr/>
        </p:nvSpPr>
        <p:spPr>
          <a:xfrm>
            <a:off x="1828800" y="2881024"/>
            <a:ext cx="7315200" cy="579438"/>
          </a:xfrm>
          <a:prstGeom prst="rect">
            <a:avLst/>
          </a:prstGeom>
          <a:noFill/>
          <a:ln w="9525">
            <a:noFill/>
          </a:ln>
        </p:spPr>
        <p:txBody>
          <a:bodyPr>
            <a:spAutoFit/>
          </a:bodyPr>
          <a:lstStyle/>
          <a:p>
            <a:pPr>
              <a:spcBef>
                <a:spcPct val="50000"/>
              </a:spcBef>
            </a:pPr>
            <a:r>
              <a:rPr lang="en-US" altLang="zh-CN" sz="3200" b="1" dirty="0">
                <a:latin typeface="宋体" panose="02010600030101010101" pitchFamily="2" charset="-122"/>
              </a:rPr>
              <a:t>- </a:t>
            </a:r>
            <a:r>
              <a:rPr lang="zh-CN" altLang="en-US" sz="3200" b="1" dirty="0">
                <a:latin typeface="宋体" panose="02010600030101010101" pitchFamily="2" charset="-122"/>
              </a:rPr>
              <a:t>高斯面：闭合曲面</a:t>
            </a:r>
            <a:endParaRPr lang="en-US" altLang="zh-CN" sz="3200" b="1" dirty="0">
              <a:latin typeface="宋体" panose="02010600030101010101" pitchFamily="2" charset="-122"/>
            </a:endParaRPr>
          </a:p>
        </p:txBody>
      </p:sp>
      <p:sp>
        <p:nvSpPr>
          <p:cNvPr id="630788" name="Text Box 4"/>
          <p:cNvSpPr txBox="1"/>
          <p:nvPr/>
        </p:nvSpPr>
        <p:spPr>
          <a:xfrm>
            <a:off x="1765824" y="4648866"/>
            <a:ext cx="9391650" cy="640240"/>
          </a:xfrm>
          <a:prstGeom prst="rect">
            <a:avLst/>
          </a:prstGeom>
          <a:noFill/>
          <a:ln w="9525">
            <a:noFill/>
          </a:ln>
        </p:spPr>
        <p:txBody>
          <a:bodyPr wrap="square">
            <a:spAutoFit/>
          </a:bodyPr>
          <a:lstStyle/>
          <a:p>
            <a:pPr>
              <a:lnSpc>
                <a:spcPct val="120000"/>
              </a:lnSpc>
            </a:pPr>
            <a:r>
              <a:rPr lang="en-US" altLang="zh-CN" sz="3200" b="1" dirty="0">
                <a:latin typeface="宋体" panose="02010600030101010101" pitchFamily="2" charset="-122"/>
              </a:rPr>
              <a:t>- </a:t>
            </a:r>
            <a:r>
              <a:rPr lang="zh-CN" altLang="en-US" sz="3200" b="1" dirty="0">
                <a:latin typeface="宋体" panose="02010600030101010101" pitchFamily="2" charset="-122"/>
              </a:rPr>
              <a:t>电场强度为</a:t>
            </a:r>
            <a:r>
              <a:rPr lang="zh-CN" altLang="en-US" sz="3200" b="1" dirty="0">
                <a:solidFill>
                  <a:srgbClr val="FF0000"/>
                </a:solidFill>
                <a:latin typeface="宋体" panose="02010600030101010101" pitchFamily="2" charset="-122"/>
              </a:rPr>
              <a:t>所有</a:t>
            </a:r>
            <a:r>
              <a:rPr lang="zh-CN" altLang="en-US" sz="3200" b="1" dirty="0">
                <a:latin typeface="宋体" panose="02010600030101010101" pitchFamily="2" charset="-122"/>
              </a:rPr>
              <a:t>电荷在高斯面上的总电场强度</a:t>
            </a:r>
            <a:endParaRPr lang="en-US" altLang="zh-CN" sz="3200" b="1" dirty="0">
              <a:latin typeface="宋体" panose="02010600030101010101" pitchFamily="2" charset="-122"/>
            </a:endParaRPr>
          </a:p>
        </p:txBody>
      </p:sp>
      <p:sp>
        <p:nvSpPr>
          <p:cNvPr id="630789" name="Rectangle 5"/>
          <p:cNvSpPr/>
          <p:nvPr/>
        </p:nvSpPr>
        <p:spPr>
          <a:xfrm>
            <a:off x="1765824" y="3734544"/>
            <a:ext cx="7924800" cy="640240"/>
          </a:xfrm>
          <a:prstGeom prst="rect">
            <a:avLst/>
          </a:prstGeom>
          <a:noFill/>
          <a:ln w="9525">
            <a:noFill/>
          </a:ln>
        </p:spPr>
        <p:txBody>
          <a:bodyPr>
            <a:spAutoFit/>
          </a:bodyPr>
          <a:lstStyle/>
          <a:p>
            <a:pPr>
              <a:lnSpc>
                <a:spcPct val="120000"/>
              </a:lnSpc>
            </a:pPr>
            <a:r>
              <a:rPr lang="en-US" altLang="zh-CN" sz="3200" b="1" dirty="0">
                <a:latin typeface="宋体" panose="02010600030101010101" pitchFamily="2" charset="-122"/>
              </a:rPr>
              <a:t>- </a:t>
            </a:r>
            <a:r>
              <a:rPr lang="zh-CN" altLang="en-US" sz="3200" b="1" dirty="0">
                <a:latin typeface="宋体" panose="02010600030101010101" pitchFamily="2" charset="-122"/>
              </a:rPr>
              <a:t>电场强度通量：穿出为正，穿进为负</a:t>
            </a:r>
            <a:endParaRPr lang="en-US" altLang="zh-CN" sz="3200" b="1" dirty="0">
              <a:latin typeface="宋体" panose="02010600030101010101" pitchFamily="2" charset="-122"/>
            </a:endParaRPr>
          </a:p>
        </p:txBody>
      </p:sp>
      <p:sp>
        <p:nvSpPr>
          <p:cNvPr id="630790" name="Rectangle 6"/>
          <p:cNvSpPr/>
          <p:nvPr/>
        </p:nvSpPr>
        <p:spPr>
          <a:xfrm>
            <a:off x="1765824" y="5643274"/>
            <a:ext cx="8077200" cy="640240"/>
          </a:xfrm>
          <a:prstGeom prst="rect">
            <a:avLst/>
          </a:prstGeom>
          <a:noFill/>
          <a:ln w="9525">
            <a:noFill/>
          </a:ln>
        </p:spPr>
        <p:txBody>
          <a:bodyPr>
            <a:spAutoFit/>
          </a:bodyPr>
          <a:lstStyle/>
          <a:p>
            <a:pPr>
              <a:lnSpc>
                <a:spcPct val="120000"/>
              </a:lnSpc>
            </a:pPr>
            <a:r>
              <a:rPr lang="en-US" altLang="zh-CN" sz="3200" b="1" dirty="0">
                <a:latin typeface="宋体" panose="02010600030101010101" pitchFamily="2" charset="-122"/>
              </a:rPr>
              <a:t>- </a:t>
            </a:r>
            <a:r>
              <a:rPr lang="zh-CN" altLang="en-US" sz="3200" b="1" dirty="0">
                <a:latin typeface="宋体" panose="02010600030101010101" pitchFamily="2" charset="-122"/>
              </a:rPr>
              <a:t>仅高斯</a:t>
            </a:r>
            <a:r>
              <a:rPr lang="zh-CN" altLang="en-US" sz="3200" b="1" dirty="0">
                <a:solidFill>
                  <a:srgbClr val="FF0000"/>
                </a:solidFill>
                <a:latin typeface="宋体" panose="02010600030101010101" pitchFamily="2" charset="-122"/>
              </a:rPr>
              <a:t>面内</a:t>
            </a:r>
            <a:r>
              <a:rPr lang="zh-CN" altLang="en-US" sz="3200" b="1" dirty="0">
                <a:latin typeface="宋体" panose="02010600030101010101" pitchFamily="2" charset="-122"/>
              </a:rPr>
              <a:t>电荷对电场强度</a:t>
            </a:r>
            <a:r>
              <a:rPr lang="zh-CN" altLang="en-US" sz="3200" b="1" dirty="0">
                <a:solidFill>
                  <a:srgbClr val="FF0000"/>
                </a:solidFill>
                <a:latin typeface="宋体" panose="02010600030101010101" pitchFamily="2" charset="-122"/>
              </a:rPr>
              <a:t>通量</a:t>
            </a:r>
            <a:r>
              <a:rPr lang="zh-CN" altLang="en-US" sz="3200" b="1" dirty="0">
                <a:latin typeface="宋体" panose="02010600030101010101" pitchFamily="2" charset="-122"/>
              </a:rPr>
              <a:t>有贡献</a:t>
            </a:r>
            <a:endParaRPr lang="en-US" altLang="zh-CN" sz="3200" b="1" dirty="0">
              <a:latin typeface="宋体" panose="02010600030101010101" pitchFamily="2" charset="-122"/>
            </a:endParaRPr>
          </a:p>
        </p:txBody>
      </p:sp>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6DBA315C-2FA8-0DC9-3795-77955845C8C4}"/>
                  </a:ext>
                </a:extLst>
              </p:cNvPr>
              <p:cNvSpPr txBox="1">
                <a:spLocks/>
              </p:cNvSpPr>
              <p:nvPr/>
            </p:nvSpPr>
            <p:spPr>
              <a:xfrm>
                <a:off x="3077348" y="965011"/>
                <a:ext cx="5301753"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𝚽</m:t>
                          </m:r>
                        </m:e>
                        <m:sub>
                          <m:r>
                            <a:rPr lang="en-US" altLang="zh-CN" sz="3200" i="1">
                              <a:solidFill>
                                <a:srgbClr val="FF0000"/>
                              </a:solidFill>
                              <a:latin typeface="Cambria Math" panose="02040503050406030204" pitchFamily="18" charset="0"/>
                            </a:rPr>
                            <m:t>𝒆</m:t>
                          </m:r>
                        </m:sub>
                      </m:sSub>
                      <m:r>
                        <a:rPr lang="en-US" altLang="zh-CN" sz="3200" i="1">
                          <a:solidFill>
                            <a:srgbClr val="FF0000"/>
                          </a:solidFill>
                          <a:latin typeface="Cambria Math" panose="02040503050406030204" pitchFamily="18" charset="0"/>
                        </a:rPr>
                        <m:t>=</m:t>
                      </m:r>
                      <m:nary>
                        <m:naryPr>
                          <m:chr m:val="∯"/>
                          <m:ctrlPr>
                            <a:rPr lang="en-US" altLang="zh-CN" sz="3200" i="1">
                              <a:solidFill>
                                <a:srgbClr val="FF0000"/>
                              </a:solidFill>
                              <a:latin typeface="Cambria Math" panose="02040503050406030204" pitchFamily="18" charset="0"/>
                            </a:rPr>
                          </m:ctrlPr>
                        </m:naryPr>
                        <m:sub>
                          <m:r>
                            <m:rPr>
                              <m:brk m:alnAt="23"/>
                            </m:rPr>
                            <a:rPr lang="en-US" altLang="zh-CN" sz="3200" i="1">
                              <a:solidFill>
                                <a:srgbClr val="FF0000"/>
                              </a:solidFill>
                              <a:latin typeface="Cambria Math" panose="02040503050406030204" pitchFamily="18" charset="0"/>
                            </a:rPr>
                            <m:t>𝑺</m:t>
                          </m:r>
                        </m:sub>
                        <m:sup/>
                        <m:e>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𝑬</m:t>
                              </m:r>
                            </m:e>
                          </m:acc>
                          <m:r>
                            <a:rPr lang="en-US" altLang="zh-CN" sz="3200" i="1">
                              <a:solidFill>
                                <a:srgbClr val="FF0000"/>
                              </a:solidFill>
                              <a:latin typeface="Cambria Math" panose="02040503050406030204" pitchFamily="18" charset="0"/>
                              <a:ea typeface="Cambria Math" panose="02040503050406030204" pitchFamily="18" charset="0"/>
                            </a:rPr>
                            <m:t>∙</m:t>
                          </m:r>
                          <m:r>
                            <a:rPr lang="en-US" altLang="zh-CN" sz="3200" i="1">
                              <a:solidFill>
                                <a:srgbClr val="FF0000"/>
                              </a:solidFill>
                              <a:latin typeface="Cambria Math" panose="02040503050406030204" pitchFamily="18" charset="0"/>
                              <a:ea typeface="Cambria Math" panose="02040503050406030204" pitchFamily="18" charset="0"/>
                            </a:rPr>
                            <m:t>𝒅</m:t>
                          </m:r>
                          <m:acc>
                            <m:accPr>
                              <m:chr m:val="⃗"/>
                              <m:ctrlPr>
                                <a:rPr lang="en-US" altLang="zh-CN" sz="3200" i="1">
                                  <a:solidFill>
                                    <a:srgbClr val="FF0000"/>
                                  </a:solidFill>
                                  <a:latin typeface="Cambria Math" panose="02040503050406030204" pitchFamily="18" charset="0"/>
                                </a:rPr>
                              </m:ctrlPr>
                            </m:accPr>
                            <m:e>
                              <m:r>
                                <a:rPr lang="en-US" altLang="zh-CN" sz="3200" i="1">
                                  <a:solidFill>
                                    <a:srgbClr val="FF0000"/>
                                  </a:solidFill>
                                  <a:latin typeface="Cambria Math" panose="02040503050406030204" pitchFamily="18" charset="0"/>
                                </a:rPr>
                                <m:t>𝑺</m:t>
                              </m:r>
                            </m:e>
                          </m:acc>
                          <m:r>
                            <a:rPr lang="en-US" altLang="zh-CN" sz="3200" i="1">
                              <a:solidFill>
                                <a:srgbClr val="FF0000"/>
                              </a:solidFill>
                              <a:latin typeface="Cambria Math" panose="02040503050406030204" pitchFamily="18" charset="0"/>
                            </a:rPr>
                            <m:t>=</m:t>
                          </m:r>
                          <m:f>
                            <m:fPr>
                              <m:ctrlPr>
                                <a:rPr lang="en-US" altLang="zh-CN" sz="3200" i="1">
                                  <a:solidFill>
                                    <a:srgbClr val="FF0000"/>
                                  </a:solidFill>
                                  <a:latin typeface="Cambria Math" panose="02040503050406030204" pitchFamily="18" charset="0"/>
                                </a:rPr>
                              </m:ctrlPr>
                            </m:fPr>
                            <m:num>
                              <m:r>
                                <a:rPr lang="en-US" altLang="zh-CN" sz="3200" i="1">
                                  <a:solidFill>
                                    <a:srgbClr val="FF0000"/>
                                  </a:solidFill>
                                  <a:latin typeface="Cambria Math" panose="02040503050406030204" pitchFamily="18" charset="0"/>
                                </a:rPr>
                                <m:t>𝟏</m:t>
                              </m:r>
                            </m:num>
                            <m:den>
                              <m:sSub>
                                <m:sSubPr>
                                  <m:ctrlPr>
                                    <a:rPr lang="en-US" altLang="zh-CN" sz="3200" i="1">
                                      <a:solidFill>
                                        <a:srgbClr val="FF0000"/>
                                      </a:solidFill>
                                      <a:latin typeface="Cambria Math" panose="02040503050406030204" pitchFamily="18" charset="0"/>
                                    </a:rPr>
                                  </m:ctrlPr>
                                </m:sSubPr>
                                <m:e>
                                  <m:r>
                                    <a:rPr lang="zh-CN" altLang="en-US" sz="3200" i="1">
                                      <a:solidFill>
                                        <a:srgbClr val="FF0000"/>
                                      </a:solidFill>
                                      <a:latin typeface="Cambria Math" panose="02040503050406030204" pitchFamily="18" charset="0"/>
                                    </a:rPr>
                                    <m:t>𝜺</m:t>
                                  </m:r>
                                </m:e>
                                <m:sub>
                                  <m:r>
                                    <a:rPr lang="en-US" altLang="zh-CN" sz="3200" i="1">
                                      <a:solidFill>
                                        <a:srgbClr val="FF0000"/>
                                      </a:solidFill>
                                      <a:latin typeface="Cambria Math" panose="02040503050406030204" pitchFamily="18" charset="0"/>
                                    </a:rPr>
                                    <m:t>𝟎</m:t>
                                  </m:r>
                                </m:sub>
                              </m:sSub>
                            </m:den>
                          </m:f>
                          <m:nary>
                            <m:naryPr>
                              <m:chr m:val="∑"/>
                              <m:supHide m:val="on"/>
                              <m:ctrlPr>
                                <a:rPr lang="en-US" altLang="zh-CN" sz="3200" i="1">
                                  <a:solidFill>
                                    <a:srgbClr val="FF0000"/>
                                  </a:solidFill>
                                  <a:latin typeface="Cambria Math" panose="02040503050406030204" pitchFamily="18" charset="0"/>
                                </a:rPr>
                              </m:ctrlPr>
                            </m:naryPr>
                            <m:sub>
                              <m:r>
                                <m:rPr>
                                  <m:brk m:alnAt="7"/>
                                </m:rPr>
                                <a:rPr lang="en-US" altLang="zh-CN" sz="3200" i="1">
                                  <a:solidFill>
                                    <a:srgbClr val="FF0000"/>
                                  </a:solidFill>
                                  <a:latin typeface="Cambria Math" panose="02040503050406030204" pitchFamily="18" charset="0"/>
                                </a:rPr>
                                <m:t>𝑺</m:t>
                              </m:r>
                              <m:r>
                                <m:rPr>
                                  <m:brk m:alnAt="7"/>
                                </m:rPr>
                                <a:rPr lang="zh-CN" altLang="en-US" sz="3200" i="1">
                                  <a:solidFill>
                                    <a:srgbClr val="FF0000"/>
                                  </a:solidFill>
                                  <a:latin typeface="Cambria Math" panose="02040503050406030204" pitchFamily="18" charset="0"/>
                                </a:rPr>
                                <m:t>内</m:t>
                              </m:r>
                            </m:sub>
                            <m:sup/>
                            <m:e>
                              <m:sSub>
                                <m:sSubPr>
                                  <m:ctrlPr>
                                    <a:rPr lang="en-US" altLang="zh-CN" sz="3200" i="1">
                                      <a:solidFill>
                                        <a:srgbClr val="FF0000"/>
                                      </a:solidFill>
                                      <a:latin typeface="Cambria Math" panose="02040503050406030204" pitchFamily="18" charset="0"/>
                                    </a:rPr>
                                  </m:ctrlPr>
                                </m:sSubPr>
                                <m:e>
                                  <m:r>
                                    <a:rPr lang="en-US" altLang="zh-CN" sz="3200" i="1">
                                      <a:solidFill>
                                        <a:srgbClr val="FF0000"/>
                                      </a:solidFill>
                                      <a:latin typeface="Cambria Math" panose="02040503050406030204" pitchFamily="18" charset="0"/>
                                    </a:rPr>
                                    <m:t>𝒒</m:t>
                                  </m:r>
                                </m:e>
                                <m:sub>
                                  <m:r>
                                    <a:rPr lang="en-US" altLang="zh-CN" sz="3200" i="1">
                                      <a:solidFill>
                                        <a:srgbClr val="FF0000"/>
                                      </a:solidFill>
                                      <a:latin typeface="Cambria Math" panose="02040503050406030204" pitchFamily="18" charset="0"/>
                                    </a:rPr>
                                    <m:t>𝒊</m:t>
                                  </m:r>
                                </m:sub>
                              </m:sSub>
                            </m:e>
                          </m:nary>
                        </m:e>
                      </m:nary>
                    </m:oMath>
                  </m:oMathPara>
                </a14:m>
                <a:endParaRPr lang="zh-CN" altLang="en-US" sz="3200" dirty="0">
                  <a:solidFill>
                    <a:srgbClr val="FF0000"/>
                  </a:solidFill>
                </a:endParaRPr>
              </a:p>
            </p:txBody>
          </p:sp>
        </mc:Choice>
        <mc:Fallback xmlns="">
          <p:sp>
            <p:nvSpPr>
              <p:cNvPr id="2" name="标题 1">
                <a:extLst>
                  <a:ext uri="{FF2B5EF4-FFF2-40B4-BE49-F238E27FC236}">
                    <a16:creationId xmlns:a16="http://schemas.microsoft.com/office/drawing/2014/main" id="{6DBA315C-2FA8-0DC9-3795-77955845C8C4}"/>
                  </a:ext>
                </a:extLst>
              </p:cNvPr>
              <p:cNvSpPr txBox="1">
                <a:spLocks noRot="1" noChangeAspect="1" noMove="1" noResize="1" noEditPoints="1" noAdjustHandles="1" noChangeArrowheads="1" noChangeShapeType="1" noTextEdit="1"/>
              </p:cNvSpPr>
              <p:nvPr/>
            </p:nvSpPr>
            <p:spPr>
              <a:xfrm>
                <a:off x="3077348" y="965011"/>
                <a:ext cx="5301753" cy="1325563"/>
              </a:xfrm>
              <a:prstGeom prst="rect">
                <a:avLst/>
              </a:prstGeom>
              <a:blipFill>
                <a:blip r:embed="rId2"/>
                <a:stretch>
                  <a:fillRect b="-917"/>
                </a:stretch>
              </a:blipFill>
            </p:spPr>
            <p:txBody>
              <a:bodyPr/>
              <a:lstStyle/>
              <a:p>
                <a:r>
                  <a:rPr lang="en-US">
                    <a:noFill/>
                  </a:rPr>
                  <a:t> </a:t>
                </a:r>
              </a:p>
            </p:txBody>
          </p:sp>
        </mc:Fallback>
      </mc:AlternateContent>
      <p:sp>
        <p:nvSpPr>
          <p:cNvPr id="3" name="标题 4">
            <a:extLst>
              <a:ext uri="{FF2B5EF4-FFF2-40B4-BE49-F238E27FC236}">
                <a16:creationId xmlns:a16="http://schemas.microsoft.com/office/drawing/2014/main" id="{E5560077-60C8-D134-D0C7-965E54323D25}"/>
              </a:ext>
            </a:extLst>
          </p:cNvPr>
          <p:cNvSpPr txBox="1">
            <a:spLocks/>
          </p:cNvSpPr>
          <p:nvPr/>
        </p:nvSpPr>
        <p:spPr>
          <a:xfrm>
            <a:off x="564101" y="184272"/>
            <a:ext cx="5045544" cy="9726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b="1" dirty="0">
                <a:solidFill>
                  <a:srgbClr val="0066FF"/>
                </a:solidFill>
                <a:latin typeface="华文楷体" panose="02010600040101010101" pitchFamily="2" charset="-122"/>
                <a:ea typeface="华文楷体" panose="02010600040101010101" pitchFamily="2" charset="-122"/>
              </a:rPr>
              <a:t>高斯定律：</a:t>
            </a:r>
            <a:endParaRPr lang="zh-CN" altLang="en-US" b="1" dirty="0">
              <a:solidFill>
                <a:srgbClr val="0066FF"/>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534102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078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3078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3078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307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0787" grpId="0"/>
      <p:bldP spid="630788" grpId="0"/>
      <p:bldP spid="630789" grpId="0"/>
      <p:bldP spid="630790" grpId="0"/>
    </p:bldLst>
  </p:timing>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pPr defTabSz="457200">
              <a:defRPr/>
            </a:pPr>
            <a:fld id="{D1CB1EF4-F9E8-4A46-AC32-D282552380ED}" type="slidenum">
              <a:rPr lang="en-US" altLang="zh-CN" b="1">
                <a:solidFill>
                  <a:srgbClr val="FFFFFF"/>
                </a:solidFill>
                <a:latin typeface="Calibri" panose="020F0502020204030204"/>
                <a:ea typeface="宋体" panose="02010600030101010101" pitchFamily="2" charset="-122"/>
              </a:rPr>
              <a:pPr defTabSz="457200">
                <a:defRPr/>
              </a:pPr>
              <a:t>24</a:t>
            </a:fld>
            <a:endParaRPr lang="en-US" altLang="zh-CN" b="1">
              <a:solidFill>
                <a:srgbClr val="FFFFFF"/>
              </a:solidFill>
              <a:latin typeface="Calibri" panose="020F0502020204030204"/>
              <a:ea typeface="宋体" panose="02010600030101010101" pitchFamily="2" charset="-122"/>
            </a:endParaRPr>
          </a:p>
        </p:txBody>
      </p:sp>
      <p:sp>
        <p:nvSpPr>
          <p:cNvPr id="6" name="文本框 5"/>
          <p:cNvSpPr txBox="1"/>
          <p:nvPr>
            <p:custDataLst>
              <p:tags r:id="rId2"/>
            </p:custDataLst>
          </p:nvPr>
        </p:nvSpPr>
        <p:spPr>
          <a:xfrm>
            <a:off x="2438400" y="874251"/>
            <a:ext cx="5547810" cy="1488855"/>
          </a:xfrm>
          <a:prstGeom prst="rect">
            <a:avLst/>
          </a:prstGeom>
          <a:noFill/>
        </p:spPr>
        <p:txBody>
          <a:bodyPr vert="horz" wrap="square" rtlCol="0" anchor="ctr" anchorCtr="0">
            <a:noAutofit/>
          </a:bodyPr>
          <a:lstStyle/>
          <a:p>
            <a:pPr defTabSz="457200">
              <a:lnSpc>
                <a:spcPct val="150000"/>
              </a:lnSpc>
              <a:defRPr/>
            </a:pP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如图所示，任一闭合曲面</a:t>
            </a:r>
            <a:r>
              <a:rPr lang="en-US" altLang="zh-CN" sz="24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S</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内有一点电荷</a:t>
            </a:r>
            <a:r>
              <a:rPr lang="en-US" altLang="zh-CN" sz="24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q</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a:t>
            </a:r>
            <a:r>
              <a:rPr lang="en-US" altLang="zh-CN"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O</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为</a:t>
            </a:r>
            <a:r>
              <a:rPr lang="en-US" altLang="zh-CN" sz="24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S</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面上任一点，若将</a:t>
            </a:r>
            <a:r>
              <a:rPr lang="en-US" altLang="zh-CN" sz="2400" i="1"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q</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由闭合曲面内的</a:t>
            </a:r>
            <a:r>
              <a:rPr lang="en-US" altLang="zh-CN"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P</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点移到</a:t>
            </a:r>
            <a:r>
              <a:rPr lang="en-US" altLang="zh-CN"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T</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点，且</a:t>
            </a:r>
            <a:r>
              <a:rPr lang="en-US" altLang="zh-CN"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OP=OT</a:t>
            </a:r>
            <a:r>
              <a:rPr lang="zh-CN" altLang="en-US" sz="2400" dirty="0">
                <a:solidFill>
                  <a:srgbClr val="000000"/>
                </a:solidFill>
                <a:latin typeface="Times New Roman" panose="02020603050405020304" pitchFamily="18" charset="0"/>
                <a:ea typeface="Microsoft Yahei" panose="020B0503020204020204" pitchFamily="34" charset="-122"/>
                <a:cs typeface="Times New Roman" panose="02020603050405020304" pitchFamily="18" charset="0"/>
                <a:sym typeface="Microsoft Yahei" panose="020B0503020204020204" pitchFamily="34" charset="-122"/>
              </a:rPr>
              <a:t>，那么</a:t>
            </a:r>
          </a:p>
        </p:txBody>
      </p:sp>
      <p:sp>
        <p:nvSpPr>
          <p:cNvPr id="7" name="文本框 6"/>
          <p:cNvSpPr txBox="1"/>
          <p:nvPr>
            <p:custDataLst>
              <p:tags r:id="rId3"/>
            </p:custDataLst>
          </p:nvPr>
        </p:nvSpPr>
        <p:spPr>
          <a:xfrm>
            <a:off x="3352800" y="2786063"/>
            <a:ext cx="6400800" cy="642938"/>
          </a:xfrm>
          <a:prstGeom prst="rect">
            <a:avLst/>
          </a:prstGeom>
          <a:noFill/>
        </p:spPr>
        <p:txBody>
          <a:bodyPr vert="horz" rtlCol="0" anchor="ctr" anchorCtr="0">
            <a:noAutofit/>
          </a:bodyPr>
          <a:lstStyle/>
          <a:p>
            <a:pPr defTabSz="457200">
              <a:defRPr/>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穿过</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面的电通量改变，</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点的场强大小不变；</a:t>
            </a:r>
          </a:p>
        </p:txBody>
      </p:sp>
      <p:sp>
        <p:nvSpPr>
          <p:cNvPr id="8" name="文本框 7"/>
          <p:cNvSpPr txBox="1"/>
          <p:nvPr>
            <p:custDataLst>
              <p:tags r:id="rId4"/>
            </p:custDataLst>
          </p:nvPr>
        </p:nvSpPr>
        <p:spPr>
          <a:xfrm>
            <a:off x="3352800" y="3471863"/>
            <a:ext cx="6400800" cy="642938"/>
          </a:xfrm>
          <a:prstGeom prst="rect">
            <a:avLst/>
          </a:prstGeom>
          <a:noFill/>
        </p:spPr>
        <p:txBody>
          <a:bodyPr vert="horz" rtlCol="0" anchor="ctr" anchorCtr="0">
            <a:noAutofit/>
          </a:bodyPr>
          <a:lstStyle/>
          <a:p>
            <a:pPr defTabSz="457200">
              <a:defRPr/>
            </a:pPr>
            <a:r>
              <a:rPr lang="zh-CN" altLang="zh-CN" sz="2400" dirty="0">
                <a:solidFill>
                  <a:srgbClr val="000000"/>
                </a:solidFill>
                <a:latin typeface="Microsoft Yahei" panose="020B0503020204020204" pitchFamily="34" charset="-122"/>
                <a:ea typeface="Microsoft Yahei" panose="020B0503020204020204" pitchFamily="34" charset="-122"/>
              </a:rPr>
              <a:t>穿过</a:t>
            </a:r>
            <a:r>
              <a:rPr lang="en-US" altLang="zh-CN" sz="2400" dirty="0">
                <a:solidFill>
                  <a:srgbClr val="000000"/>
                </a:solidFill>
                <a:latin typeface="Microsoft Yahei" panose="020B0503020204020204" pitchFamily="34" charset="-122"/>
                <a:ea typeface="Microsoft Yahei" panose="020B0503020204020204" pitchFamily="34" charset="-122"/>
              </a:rPr>
              <a:t>S</a:t>
            </a:r>
            <a:r>
              <a:rPr lang="zh-CN" altLang="zh-CN" sz="2400" dirty="0">
                <a:solidFill>
                  <a:srgbClr val="000000"/>
                </a:solidFill>
                <a:latin typeface="Microsoft Yahei" panose="020B0503020204020204" pitchFamily="34" charset="-122"/>
                <a:ea typeface="Microsoft Yahei" panose="020B0503020204020204" pitchFamily="34" charset="-122"/>
              </a:rPr>
              <a:t>面的电通量改变，</a:t>
            </a:r>
            <a:r>
              <a:rPr lang="en-US" altLang="zh-CN" sz="2400" dirty="0">
                <a:solidFill>
                  <a:srgbClr val="000000"/>
                </a:solidFill>
                <a:latin typeface="Microsoft Yahei" panose="020B0503020204020204" pitchFamily="34" charset="-122"/>
                <a:ea typeface="Microsoft Yahei" panose="020B0503020204020204" pitchFamily="34" charset="-122"/>
              </a:rPr>
              <a:t>O</a:t>
            </a:r>
            <a:r>
              <a:rPr lang="zh-CN" altLang="zh-CN" sz="2400" dirty="0">
                <a:solidFill>
                  <a:srgbClr val="000000"/>
                </a:solidFill>
                <a:latin typeface="Microsoft Yahei" panose="020B0503020204020204" pitchFamily="34" charset="-122"/>
                <a:ea typeface="Microsoft Yahei" panose="020B0503020204020204" pitchFamily="34" charset="-122"/>
              </a:rPr>
              <a:t>点的场强大小改变；</a:t>
            </a:r>
            <a:endPar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文本框 8"/>
          <p:cNvSpPr txBox="1"/>
          <p:nvPr>
            <p:custDataLst>
              <p:tags r:id="rId5"/>
            </p:custDataLst>
          </p:nvPr>
        </p:nvSpPr>
        <p:spPr>
          <a:xfrm>
            <a:off x="3352800" y="4157663"/>
            <a:ext cx="6400800" cy="642938"/>
          </a:xfrm>
          <a:prstGeom prst="rect">
            <a:avLst/>
          </a:prstGeom>
          <a:noFill/>
        </p:spPr>
        <p:txBody>
          <a:bodyPr vert="horz" rtlCol="0" anchor="ctr" anchorCtr="0">
            <a:noAutofit/>
          </a:bodyPr>
          <a:lstStyle/>
          <a:p>
            <a:pPr defTabSz="457200">
              <a:defRPr/>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穿过</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面的电通量不变，</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点的场强大小改变；</a:t>
            </a:r>
          </a:p>
        </p:txBody>
      </p:sp>
      <p:sp>
        <p:nvSpPr>
          <p:cNvPr id="10" name="文本框 9"/>
          <p:cNvSpPr txBox="1"/>
          <p:nvPr>
            <p:custDataLst>
              <p:tags r:id="rId6"/>
            </p:custDataLst>
          </p:nvPr>
        </p:nvSpPr>
        <p:spPr>
          <a:xfrm>
            <a:off x="3352800" y="4843463"/>
            <a:ext cx="6400800" cy="642938"/>
          </a:xfrm>
          <a:prstGeom prst="rect">
            <a:avLst/>
          </a:prstGeom>
          <a:noFill/>
        </p:spPr>
        <p:txBody>
          <a:bodyPr vert="horz" rtlCol="0" anchor="ctr" anchorCtr="0">
            <a:noAutofit/>
          </a:bodyPr>
          <a:lstStyle/>
          <a:p>
            <a:pPr defTabSz="457200">
              <a:defRPr/>
            </a:pP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穿过</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S</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面的电通量不变，</a:t>
            </a:r>
            <a:r>
              <a:rPr lang="en-US" altLang="zh-CN"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O</a:t>
            </a:r>
            <a:r>
              <a:rPr lang="zh-CN" altLang="en-US" sz="24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点的场强大小不变。</a:t>
            </a:r>
          </a:p>
        </p:txBody>
      </p:sp>
      <p:sp>
        <p:nvSpPr>
          <p:cNvPr id="11" name="椭圆 10"/>
          <p:cNvSpPr>
            <a:spLocks noChangeAspect="1"/>
          </p:cNvSpPr>
          <p:nvPr>
            <p:custDataLst>
              <p:tags r:id="rId7"/>
            </p:custDataLst>
          </p:nvPr>
        </p:nvSpPr>
        <p:spPr>
          <a:xfrm>
            <a:off x="2638425" y="28503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defTabSz="457200">
              <a:defRPr/>
            </a:pP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8"/>
            </p:custDataLst>
          </p:nvPr>
        </p:nvSpPr>
        <p:spPr>
          <a:xfrm>
            <a:off x="2638425" y="35361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defTabSz="457200">
              <a:defRPr/>
            </a:pP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椭圆 12"/>
          <p:cNvSpPr>
            <a:spLocks noChangeAspect="1"/>
          </p:cNvSpPr>
          <p:nvPr>
            <p:custDataLst>
              <p:tags r:id="rId9"/>
            </p:custDataLst>
          </p:nvPr>
        </p:nvSpPr>
        <p:spPr>
          <a:xfrm>
            <a:off x="2638425" y="4221956"/>
            <a:ext cx="51435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defTabSz="457200">
              <a:defRPr/>
            </a:pP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4" name="椭圆 13"/>
          <p:cNvSpPr>
            <a:spLocks noChangeAspect="1"/>
          </p:cNvSpPr>
          <p:nvPr>
            <p:custDataLst>
              <p:tags r:id="rId10"/>
            </p:custDataLst>
          </p:nvPr>
        </p:nvSpPr>
        <p:spPr>
          <a:xfrm>
            <a:off x="2638425" y="49077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defTabSz="457200">
              <a:defRPr/>
            </a:pP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5" name="圆角矩形 14"/>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defTabSz="457200">
              <a:defRPr/>
            </a:pP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pic>
        <p:nvPicPr>
          <p:cNvPr id="23" name="图片 22"/>
          <p:cNvPicPr>
            <a:picLocks noChangeAspect="1"/>
          </p:cNvPicPr>
          <p:nvPr/>
        </p:nvPicPr>
        <p:blipFill>
          <a:blip r:embed="rId19"/>
          <a:stretch>
            <a:fillRect/>
          </a:stretch>
        </p:blipFill>
        <p:spPr>
          <a:xfrm>
            <a:off x="7986211" y="676618"/>
            <a:ext cx="2477761" cy="2109445"/>
          </a:xfrm>
          <a:prstGeom prst="rect">
            <a:avLst/>
          </a:prstGeom>
          <a:ln>
            <a:noFill/>
          </a:ln>
          <a:effectLst>
            <a:outerShdw blurRad="292100" dist="139700" dir="2700000" algn="tl" rotWithShape="0">
              <a:srgbClr val="333333">
                <a:alpha val="65000"/>
              </a:srgbClr>
            </a:outerShdw>
          </a:effectLst>
        </p:spPr>
      </p:pic>
      <p:grpSp>
        <p:nvGrpSpPr>
          <p:cNvPr id="20" name="组合 19"/>
          <p:cNvGrpSpPr/>
          <p:nvPr>
            <p:custDataLst>
              <p:tags r:id="rId12"/>
            </p:custDataLst>
          </p:nvPr>
        </p:nvGrpSpPr>
        <p:grpSpPr>
          <a:xfrm>
            <a:off x="0" y="0"/>
            <a:ext cx="9144000" cy="635000"/>
            <a:chOff x="-1524000" y="0"/>
            <a:chExt cx="9144000" cy="635000"/>
          </a:xfrm>
        </p:grpSpPr>
        <p:sp>
          <p:nvSpPr>
            <p:cNvPr id="16" name="TitleBackground"/>
            <p:cNvSpPr/>
            <p:nvPr>
              <p:custDataLst>
                <p:tags r:id="rId14"/>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zh-CN" altLang="en-US">
                <a:solidFill>
                  <a:prstClr val="white"/>
                </a:solidFill>
                <a:latin typeface="Calibri" panose="020F0502020204030204"/>
                <a:ea typeface="宋体" panose="02010600030101010101" pitchFamily="2" charset="-122"/>
              </a:endParaRPr>
            </a:p>
          </p:txBody>
        </p:sp>
        <p:sp>
          <p:nvSpPr>
            <p:cNvPr id="17" name="ColorBlock"/>
            <p:cNvSpPr/>
            <p:nvPr>
              <p:custDataLst>
                <p:tags r:id="rId15"/>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defRPr/>
              </a:pPr>
              <a:endParaRPr lang="zh-CN" altLang="en-US">
                <a:solidFill>
                  <a:prstClr val="white"/>
                </a:solidFill>
                <a:latin typeface="Calibri" panose="020F0502020204030204"/>
                <a:ea typeface="宋体" panose="02010600030101010101" pitchFamily="2" charset="-122"/>
              </a:endParaRPr>
            </a:p>
          </p:txBody>
        </p:sp>
        <p:sp>
          <p:nvSpPr>
            <p:cNvPr id="18"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pPr defTabSz="457200">
                <a:defRPr/>
              </a:pPr>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9"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pPr defTabSz="457200">
                <a:defRPr/>
              </a:pPr>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zh-CN" altLang="en-US" sz="2000" dirty="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5" name="图片 4"/>
          <p:cNvPicPr>
            <a:picLocks/>
          </p:cNvPicPr>
          <p:nvPr>
            <p:custDataLst>
              <p:tags r:id="rId13"/>
            </p:custDataLst>
          </p:nvPr>
        </p:nvPicPr>
        <p:blipFill>
          <a:blip r:embed="rId20">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4636443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custDataLst>
              <p:tags r:id="rId2"/>
            </p:custDataLst>
          </p:nvPr>
        </p:nvSpPr>
        <p:spPr>
          <a:xfrm>
            <a:off x="2438400" y="635001"/>
            <a:ext cx="7315200" cy="1000760"/>
          </a:xfrm>
          <a:prstGeom prst="rect">
            <a:avLst/>
          </a:prstGeom>
          <a:noFill/>
        </p:spPr>
        <p:txBody>
          <a:bodyPr vert="horz" wrap="square" rtlCol="0" anchor="ctr" anchorCtr="0">
            <a:noAutofit/>
          </a:bodyPr>
          <a:lstStyle/>
          <a:p>
            <a:pPr>
              <a:lnSpc>
                <a:spcPct val="150000"/>
              </a:lnSpc>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关于高斯定理的说法，正确的是（）</a:t>
            </a:r>
          </a:p>
        </p:txBody>
      </p:sp>
      <mc:AlternateContent xmlns:mc="http://schemas.openxmlformats.org/markup-compatibility/2006" xmlns:a14="http://schemas.microsoft.com/office/drawing/2010/main">
        <mc:Choice Requires="a14">
          <p:sp>
            <p:nvSpPr>
              <p:cNvPr id="5" name="文本框 4"/>
              <p:cNvSpPr txBox="1"/>
              <p:nvPr>
                <p:custDataLst>
                  <p:tags r:id="rId3"/>
                </p:custDataLst>
              </p:nvPr>
            </p:nvSpPr>
            <p:spPr>
              <a:xfrm>
                <a:off x="3119965" y="1673805"/>
                <a:ext cx="7149704" cy="642938"/>
              </a:xfrm>
              <a:prstGeom prst="rect">
                <a:avLst/>
              </a:prstGeom>
              <a:noFill/>
            </p:spPr>
            <p:txBody>
              <a:bodyPr vert="horz" rtlCol="0" anchor="ctr" anchorCtr="0">
                <a:noAutofit/>
              </a:bodyPr>
              <a:lstStyle/>
              <a:p>
                <a:pPr>
                  <a:lnSpc>
                    <a:spcPct val="150000"/>
                  </a:lnSpc>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如果高斯面内无电荷，则高斯面上</a:t>
                </a:r>
                <a14:m>
                  <m:oMath xmlns:m="http://schemas.openxmlformats.org/officeDocument/2006/math">
                    <m:acc>
                      <m:accPr>
                        <m:chr m:val="⃗"/>
                        <m:ctrlPr>
                          <a:rPr lang="zh-CN" altLang="en-US" sz="26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accPr>
                      <m:e>
                        <m:r>
                          <a:rPr lang="en-US" altLang="zh-CN" sz="26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𝐸</m:t>
                        </m:r>
                      </m:e>
                    </m:acc>
                  </m:oMath>
                </a14:m>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处处为零；</a:t>
                </a:r>
              </a:p>
            </p:txBody>
          </p:sp>
        </mc:Choice>
        <mc:Fallback xmlns="">
          <p:sp>
            <p:nvSpPr>
              <p:cNvPr id="5" name="文本框 4"/>
              <p:cNvSpPr txBox="1">
                <a:spLocks noRot="1" noChangeAspect="1" noMove="1" noResize="1" noEditPoints="1" noAdjustHandles="1" noChangeArrowheads="1" noChangeShapeType="1" noTextEdit="1"/>
              </p:cNvSpPr>
              <p:nvPr>
                <p:custDataLst>
                  <p:tags r:id="rId19"/>
                </p:custDataLst>
              </p:nvPr>
            </p:nvSpPr>
            <p:spPr>
              <a:xfrm>
                <a:off x="3119965" y="1673805"/>
                <a:ext cx="7149704" cy="642938"/>
              </a:xfrm>
              <a:prstGeom prst="rect">
                <a:avLst/>
              </a:prstGeom>
              <a:blipFill>
                <a:blip r:embed="rId20"/>
                <a:stretch>
                  <a:fillRect l="-1535"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p:cNvSpPr txBox="1"/>
              <p:nvPr>
                <p:custDataLst>
                  <p:tags r:id="rId4"/>
                </p:custDataLst>
              </p:nvPr>
            </p:nvSpPr>
            <p:spPr>
              <a:xfrm>
                <a:off x="3119965" y="2531055"/>
                <a:ext cx="7149704" cy="642938"/>
              </a:xfrm>
              <a:prstGeom prst="rect">
                <a:avLst/>
              </a:prstGeom>
              <a:noFill/>
            </p:spPr>
            <p:txBody>
              <a:bodyPr vert="horz" rtlCol="0" anchor="ctr" anchorCtr="0">
                <a:noAutofit/>
              </a:bodyPr>
              <a:lstStyle/>
              <a:p>
                <a:pPr>
                  <a:lnSpc>
                    <a:spcPct val="150000"/>
                  </a:lnSpc>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 如果高斯面上</a:t>
                </a:r>
                <a14:m>
                  <m:oMath xmlns:m="http://schemas.openxmlformats.org/officeDocument/2006/math">
                    <m:acc>
                      <m:accPr>
                        <m:chr m:val="⃗"/>
                        <m:ctrlPr>
                          <a:rPr lang="zh-CN" altLang="en-US" sz="26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accPr>
                      <m:e>
                        <m:r>
                          <a:rPr lang="en-US" altLang="zh-CN" sz="26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𝐸</m:t>
                        </m:r>
                      </m:e>
                    </m:acc>
                  </m:oMath>
                </a14:m>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处处不为零，则该面内必无电荷；</a:t>
                </a:r>
              </a:p>
            </p:txBody>
          </p:sp>
        </mc:Choice>
        <mc:Fallback xmlns="">
          <p:sp>
            <p:nvSpPr>
              <p:cNvPr id="6" name="文本框 5"/>
              <p:cNvSpPr txBox="1">
                <a:spLocks noRot="1" noChangeAspect="1" noMove="1" noResize="1" noEditPoints="1" noAdjustHandles="1" noChangeArrowheads="1" noChangeShapeType="1" noTextEdit="1"/>
              </p:cNvSpPr>
              <p:nvPr>
                <p:custDataLst>
                  <p:tags r:id="rId21"/>
                </p:custDataLst>
              </p:nvPr>
            </p:nvSpPr>
            <p:spPr>
              <a:xfrm>
                <a:off x="3119965" y="2531055"/>
                <a:ext cx="7149704" cy="642938"/>
              </a:xfrm>
              <a:prstGeom prst="rect">
                <a:avLst/>
              </a:prstGeom>
              <a:blipFill>
                <a:blip r:embed="rId22"/>
                <a:stretch>
                  <a:fillRect l="-171" r="-6138" b="-26415"/>
                </a:stretch>
              </a:blipFill>
            </p:spPr>
            <p:txBody>
              <a:bodyPr/>
              <a:lstStyle/>
              <a:p>
                <a:r>
                  <a:rPr lang="en-US">
                    <a:noFill/>
                  </a:rPr>
                  <a:t> </a:t>
                </a:r>
              </a:p>
            </p:txBody>
          </p:sp>
        </mc:Fallback>
      </mc:AlternateContent>
      <p:sp>
        <p:nvSpPr>
          <p:cNvPr id="7" name="文本框 6"/>
          <p:cNvSpPr txBox="1"/>
          <p:nvPr>
            <p:custDataLst>
              <p:tags r:id="rId5"/>
            </p:custDataLst>
          </p:nvPr>
        </p:nvSpPr>
        <p:spPr>
          <a:xfrm>
            <a:off x="3119965" y="3388305"/>
            <a:ext cx="7149704" cy="1185153"/>
          </a:xfrm>
          <a:prstGeom prst="rect">
            <a:avLst/>
          </a:prstGeom>
          <a:noFill/>
        </p:spPr>
        <p:txBody>
          <a:bodyPr vert="horz" rtlCol="0" anchor="ctr" anchorCtr="0">
            <a:noAutofit/>
          </a:bodyPr>
          <a:lstStyle/>
          <a:p>
            <a:pPr>
              <a:lnSpc>
                <a:spcPct val="150000"/>
              </a:lnSpc>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如果高斯面内有净电荷，则通过该面的电通量必不为零；</a:t>
            </a:r>
          </a:p>
        </p:txBody>
      </p:sp>
      <mc:AlternateContent xmlns:mc="http://schemas.openxmlformats.org/markup-compatibility/2006" xmlns:a14="http://schemas.microsoft.com/office/drawing/2010/main">
        <mc:Choice Requires="a14">
          <p:sp>
            <p:nvSpPr>
              <p:cNvPr id="8" name="文本框 7"/>
              <p:cNvSpPr txBox="1"/>
              <p:nvPr>
                <p:custDataLst>
                  <p:tags r:id="rId6"/>
                </p:custDataLst>
              </p:nvPr>
            </p:nvSpPr>
            <p:spPr>
              <a:xfrm>
                <a:off x="3119965" y="4528453"/>
                <a:ext cx="7149704" cy="642938"/>
              </a:xfrm>
              <a:prstGeom prst="rect">
                <a:avLst/>
              </a:prstGeom>
              <a:noFill/>
            </p:spPr>
            <p:txBody>
              <a:bodyPr vert="horz" rtlCol="0" anchor="ctr" anchorCtr="0">
                <a:noAutofit/>
              </a:bodyPr>
              <a:lstStyle/>
              <a:p>
                <a:pPr>
                  <a:lnSpc>
                    <a:spcPct val="150000"/>
                  </a:lnSpc>
                </a:pP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如果高斯面上</a:t>
                </a:r>
                <a14:m>
                  <m:oMath xmlns:m="http://schemas.openxmlformats.org/officeDocument/2006/math">
                    <m:acc>
                      <m:accPr>
                        <m:chr m:val="⃗"/>
                        <m:ctrlPr>
                          <a:rPr lang="zh-CN" altLang="en-US" sz="26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accPr>
                      <m:e>
                        <m:r>
                          <a:rPr lang="en-US" altLang="zh-CN" sz="2600" i="1">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𝐸</m:t>
                        </m:r>
                      </m:e>
                    </m:acc>
                  </m:oMath>
                </a14:m>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处处为零，则该面内必无电荷。</a:t>
                </a:r>
              </a:p>
            </p:txBody>
          </p:sp>
        </mc:Choice>
        <mc:Fallback xmlns="">
          <p:sp>
            <p:nvSpPr>
              <p:cNvPr id="8" name="文本框 7"/>
              <p:cNvSpPr txBox="1">
                <a:spLocks noRot="1" noChangeAspect="1" noMove="1" noResize="1" noEditPoints="1" noAdjustHandles="1" noChangeArrowheads="1" noChangeShapeType="1" noTextEdit="1"/>
              </p:cNvSpPr>
              <p:nvPr>
                <p:custDataLst>
                  <p:tags r:id="rId23"/>
                </p:custDataLst>
              </p:nvPr>
            </p:nvSpPr>
            <p:spPr>
              <a:xfrm>
                <a:off x="3119965" y="4528453"/>
                <a:ext cx="7149704" cy="642938"/>
              </a:xfrm>
              <a:prstGeom prst="rect">
                <a:avLst/>
              </a:prstGeom>
              <a:blipFill>
                <a:blip r:embed="rId24"/>
                <a:stretch>
                  <a:fillRect l="-1535" b="-26667"/>
                </a:stretch>
              </a:blipFill>
            </p:spPr>
            <p:txBody>
              <a:bodyPr/>
              <a:lstStyle/>
              <a:p>
                <a:r>
                  <a:rPr lang="en-US">
                    <a:noFill/>
                  </a:rPr>
                  <a:t> </a:t>
                </a:r>
              </a:p>
            </p:txBody>
          </p:sp>
        </mc:Fallback>
      </mc:AlternateContent>
      <p:sp>
        <p:nvSpPr>
          <p:cNvPr id="9" name="椭圆 8"/>
          <p:cNvSpPr>
            <a:spLocks noChangeAspect="1"/>
          </p:cNvSpPr>
          <p:nvPr>
            <p:custDataLst>
              <p:tags r:id="rId7"/>
            </p:custDataLst>
          </p:nvPr>
        </p:nvSpPr>
        <p:spPr>
          <a:xfrm>
            <a:off x="2405590" y="1738098"/>
            <a:ext cx="57453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50000"/>
              </a:lnSpc>
            </a:pP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p:cNvSpPr>
            <a:spLocks noChangeAspect="1"/>
          </p:cNvSpPr>
          <p:nvPr>
            <p:custDataLst>
              <p:tags r:id="rId8"/>
            </p:custDataLst>
          </p:nvPr>
        </p:nvSpPr>
        <p:spPr>
          <a:xfrm>
            <a:off x="2405590" y="2595348"/>
            <a:ext cx="57453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50000"/>
              </a:lnSpc>
            </a:pP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p:cNvSpPr>
            <a:spLocks noChangeAspect="1"/>
          </p:cNvSpPr>
          <p:nvPr>
            <p:custDataLst>
              <p:tags r:id="rId9"/>
            </p:custDataLst>
          </p:nvPr>
        </p:nvSpPr>
        <p:spPr>
          <a:xfrm>
            <a:off x="2405590" y="3452598"/>
            <a:ext cx="57453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50000"/>
              </a:lnSpc>
            </a:pPr>
            <a:r>
              <a:rPr lang="en-US" altLang="zh-CN"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p:cNvSpPr>
            <a:spLocks noChangeAspect="1"/>
          </p:cNvSpPr>
          <p:nvPr>
            <p:custDataLst>
              <p:tags r:id="rId10"/>
            </p:custDataLst>
          </p:nvPr>
        </p:nvSpPr>
        <p:spPr>
          <a:xfrm>
            <a:off x="2405590" y="4592746"/>
            <a:ext cx="574530" cy="514350"/>
          </a:xfrm>
          <a:prstGeom prst="ellipse">
            <a:avLst/>
          </a:prstGeom>
          <a:solidFill>
            <a:srgbClr val="808080"/>
          </a:solidFill>
          <a:ln w="127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lnSpc>
                <a:spcPct val="150000"/>
              </a:lnSpc>
            </a:pP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圆角矩形 12"/>
          <p:cNvSpPr/>
          <p:nvPr>
            <p:custDataLst>
              <p:tags r:id="rId11"/>
            </p:custDataLst>
          </p:nvPr>
        </p:nvSpPr>
        <p:spPr>
          <a:xfrm>
            <a:off x="76962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nchorCtr="1"/>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18" name="组合 17"/>
          <p:cNvGrpSpPr/>
          <p:nvPr>
            <p:custDataLst>
              <p:tags r:id="rId12"/>
            </p:custDataLst>
          </p:nvPr>
        </p:nvGrpSpPr>
        <p:grpSpPr>
          <a:xfrm>
            <a:off x="0" y="0"/>
            <a:ext cx="9144000" cy="635000"/>
            <a:chOff x="-1524000" y="0"/>
            <a:chExt cx="9144000" cy="635000"/>
          </a:xfrm>
        </p:grpSpPr>
        <p:sp>
          <p:nvSpPr>
            <p:cNvPr id="14" name="TitleBackground"/>
            <p:cNvSpPr/>
            <p:nvPr>
              <p:custDataLst>
                <p:tags r:id="rId14"/>
              </p:custDataLst>
            </p:nvPr>
          </p:nvSpPr>
          <p:spPr>
            <a:xfrm>
              <a:off x="-1524000" y="0"/>
              <a:ext cx="9144000" cy="635000"/>
            </a:xfrm>
            <a:prstGeom prst="rect">
              <a:avLst/>
            </a:prstGeom>
            <a:solidFill>
              <a:srgbClr val="F6F7F8"/>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p:cNvSpPr/>
            <p:nvPr>
              <p:custDataLst>
                <p:tags r:id="rId15"/>
              </p:custDataLst>
            </p:nvPr>
          </p:nvSpPr>
          <p:spPr>
            <a:xfrm>
              <a:off x="-1524000" y="0"/>
              <a:ext cx="190500" cy="635000"/>
            </a:xfrm>
            <a:prstGeom prst="rect">
              <a:avLst/>
            </a:prstGeom>
            <a:solidFill>
              <a:srgbClr val="639EF4"/>
            </a:solidFill>
            <a:ln w="15875" cap="flat" cmpd="sng" algn="ctr">
              <a:noFill/>
              <a:prstDash val="solid"/>
            </a:ln>
            <a:effectLst/>
            <a:extLst>
              <a:ext uri="{91240B29-F687-4F45-9708-019B960494DF}">
                <a14:hiddenLine xmlns:a14="http://schemas.microsoft.com/office/drawing/2010/main" w="15875"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p:cNvSpPr txBox="1"/>
            <p:nvPr>
              <p:custDataLst>
                <p:tags r:id="rId16"/>
              </p:custDataLst>
            </p:nvPr>
          </p:nvSpPr>
          <p:spPr>
            <a:xfrm>
              <a:off x="-1270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p:cNvSpPr txBox="1"/>
            <p:nvPr>
              <p:custDataLst>
                <p:tags r:id="rId17"/>
              </p:custDataLst>
            </p:nvPr>
          </p:nvSpPr>
          <p:spPr>
            <a:xfrm>
              <a:off x="1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p:cNvPicPr>
            <a:picLocks/>
          </p:cNvPicPr>
          <p:nvPr>
            <p:custDataLst>
              <p:tags r:id="rId13"/>
            </p:custDataLst>
          </p:nvPr>
        </p:nvPicPr>
        <p:blipFill>
          <a:blip r:embed="rId25">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28114720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标题 1">
                <a:extLst>
                  <a:ext uri="{FF2B5EF4-FFF2-40B4-BE49-F238E27FC236}">
                    <a16:creationId xmlns:a16="http://schemas.microsoft.com/office/drawing/2014/main" id="{85288FED-80E8-4D24-B15E-D324A826DBA2}"/>
                  </a:ext>
                </a:extLst>
              </p:cNvPr>
              <p:cNvSpPr>
                <a:spLocks noGrp="1"/>
              </p:cNvSpPr>
              <p:nvPr>
                <p:ph type="title"/>
              </p:nvPr>
            </p:nvSpPr>
            <p:spPr>
              <a:xfrm>
                <a:off x="1034381" y="1974472"/>
                <a:ext cx="5385821" cy="925731"/>
              </a:xfrm>
            </p:spPr>
            <p:txBody>
              <a:bodyPr>
                <a:noAutofit/>
              </a:body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chemeClr val="tx1"/>
                              </a:solidFill>
                              <a:latin typeface="Cambria Math" panose="02040503050406030204" pitchFamily="18" charset="0"/>
                            </a:rPr>
                          </m:ctrlPr>
                        </m:sSubPr>
                        <m:e>
                          <m:r>
                            <a:rPr lang="zh-CN" altLang="en-US" sz="3200" b="0" i="1">
                              <a:solidFill>
                                <a:schemeClr val="tx1"/>
                              </a:solidFill>
                              <a:latin typeface="Cambria Math" panose="02040503050406030204" pitchFamily="18" charset="0"/>
                            </a:rPr>
                            <m:t>𝛷</m:t>
                          </m:r>
                        </m:e>
                        <m:sub>
                          <m:r>
                            <a:rPr lang="en-US" altLang="zh-CN" sz="3200" b="0" i="1">
                              <a:solidFill>
                                <a:schemeClr val="tx1"/>
                              </a:solidFill>
                              <a:latin typeface="Cambria Math" panose="02040503050406030204" pitchFamily="18" charset="0"/>
                            </a:rPr>
                            <m:t>𝑒</m:t>
                          </m:r>
                        </m:sub>
                      </m:sSub>
                      <m:r>
                        <a:rPr lang="en-US" altLang="zh-CN" sz="3200" b="0" i="1">
                          <a:solidFill>
                            <a:schemeClr val="tx1"/>
                          </a:solidFill>
                          <a:latin typeface="Cambria Math" panose="02040503050406030204" pitchFamily="18" charset="0"/>
                        </a:rPr>
                        <m:t>=</m:t>
                      </m:r>
                      <m:nary>
                        <m:naryPr>
                          <m:chr m:val="∯"/>
                          <m:ctrlPr>
                            <a:rPr lang="en-US" altLang="zh-CN" sz="3200" i="1">
                              <a:solidFill>
                                <a:schemeClr val="tx1"/>
                              </a:solidFill>
                              <a:latin typeface="Cambria Math" panose="02040503050406030204" pitchFamily="18" charset="0"/>
                            </a:rPr>
                          </m:ctrlPr>
                        </m:naryPr>
                        <m:sub>
                          <m:r>
                            <m:rPr>
                              <m:brk m:alnAt="23"/>
                            </m:rPr>
                            <a:rPr lang="en-US" altLang="zh-CN" sz="3200" b="0" i="1">
                              <a:solidFill>
                                <a:schemeClr val="tx1"/>
                              </a:solidFill>
                              <a:latin typeface="Cambria Math" panose="02040503050406030204" pitchFamily="18" charset="0"/>
                            </a:rPr>
                            <m:t>𝑆</m:t>
                          </m:r>
                        </m:sub>
                        <m:sup/>
                        <m:e>
                          <m:acc>
                            <m:accPr>
                              <m:chr m:val="⃗"/>
                              <m:ctrlPr>
                                <a:rPr lang="en-US" altLang="zh-CN" sz="3200" i="1">
                                  <a:solidFill>
                                    <a:schemeClr val="tx1"/>
                                  </a:solidFill>
                                  <a:latin typeface="Cambria Math" panose="02040503050406030204" pitchFamily="18" charset="0"/>
                                </a:rPr>
                              </m:ctrlPr>
                            </m:accPr>
                            <m:e>
                              <m:r>
                                <a:rPr lang="en-US" altLang="zh-CN" sz="3200" b="0" i="1">
                                  <a:solidFill>
                                    <a:schemeClr val="tx1"/>
                                  </a:solidFill>
                                  <a:latin typeface="Cambria Math" panose="02040503050406030204" pitchFamily="18" charset="0"/>
                                </a:rPr>
                                <m:t>𝐸</m:t>
                              </m:r>
                            </m:e>
                          </m:acc>
                          <m:r>
                            <a:rPr lang="en-US" altLang="zh-CN" sz="3200" b="0" i="1">
                              <a:solidFill>
                                <a:schemeClr val="tx1"/>
                              </a:solidFill>
                              <a:latin typeface="Cambria Math" panose="02040503050406030204" pitchFamily="18" charset="0"/>
                              <a:ea typeface="Cambria Math" panose="02040503050406030204" pitchFamily="18" charset="0"/>
                            </a:rPr>
                            <m:t>∙</m:t>
                          </m:r>
                          <m:r>
                            <a:rPr lang="en-US" altLang="zh-CN" sz="3200" b="0" i="1">
                              <a:solidFill>
                                <a:schemeClr val="tx1"/>
                              </a:solidFill>
                              <a:latin typeface="Cambria Math" panose="02040503050406030204" pitchFamily="18" charset="0"/>
                              <a:ea typeface="Cambria Math" panose="02040503050406030204" pitchFamily="18" charset="0"/>
                            </a:rPr>
                            <m:t>𝑑</m:t>
                          </m:r>
                          <m:acc>
                            <m:accPr>
                              <m:chr m:val="⃗"/>
                              <m:ctrlPr>
                                <a:rPr lang="en-US" altLang="zh-CN" sz="3200" i="1">
                                  <a:solidFill>
                                    <a:schemeClr val="tx1"/>
                                  </a:solidFill>
                                  <a:latin typeface="Cambria Math" panose="02040503050406030204" pitchFamily="18" charset="0"/>
                                </a:rPr>
                              </m:ctrlPr>
                            </m:accPr>
                            <m:e>
                              <m:r>
                                <a:rPr lang="en-US" altLang="zh-CN" sz="3200" b="0" i="1">
                                  <a:solidFill>
                                    <a:schemeClr val="tx1"/>
                                  </a:solidFill>
                                  <a:latin typeface="Cambria Math" panose="02040503050406030204" pitchFamily="18" charset="0"/>
                                </a:rPr>
                                <m:t>𝑆</m:t>
                              </m:r>
                            </m:e>
                          </m:acc>
                          <m:r>
                            <a:rPr lang="en-US" altLang="zh-CN" sz="3200" b="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b="0" i="1">
                                  <a:solidFill>
                                    <a:schemeClr val="tx1"/>
                                  </a:solidFill>
                                  <a:latin typeface="Cambria Math" panose="02040503050406030204" pitchFamily="18" charset="0"/>
                                </a:rPr>
                                <m:t>1</m:t>
                              </m:r>
                            </m:num>
                            <m:den>
                              <m:sSub>
                                <m:sSubPr>
                                  <m:ctrlPr>
                                    <a:rPr lang="en-US" altLang="zh-CN" sz="3200" i="1">
                                      <a:solidFill>
                                        <a:schemeClr val="tx1"/>
                                      </a:solidFill>
                                      <a:latin typeface="Cambria Math" panose="02040503050406030204" pitchFamily="18" charset="0"/>
                                    </a:rPr>
                                  </m:ctrlPr>
                                </m:sSubPr>
                                <m:e>
                                  <m:r>
                                    <a:rPr lang="zh-CN" altLang="en-US" sz="3200" b="0" i="1">
                                      <a:solidFill>
                                        <a:schemeClr val="tx1"/>
                                      </a:solidFill>
                                      <a:latin typeface="Cambria Math" panose="02040503050406030204" pitchFamily="18" charset="0"/>
                                    </a:rPr>
                                    <m:t>𝜀</m:t>
                                  </m:r>
                                </m:e>
                                <m:sub>
                                  <m:r>
                                    <a:rPr lang="en-US" altLang="zh-CN" sz="3200" b="0" i="1">
                                      <a:solidFill>
                                        <a:schemeClr val="tx1"/>
                                      </a:solidFill>
                                      <a:latin typeface="Cambria Math" panose="02040503050406030204" pitchFamily="18" charset="0"/>
                                    </a:rPr>
                                    <m:t>0</m:t>
                                  </m:r>
                                </m:sub>
                              </m:sSub>
                            </m:den>
                          </m:f>
                          <m:nary>
                            <m:naryPr>
                              <m:chr m:val="∑"/>
                              <m:supHide m:val="on"/>
                              <m:ctrlPr>
                                <a:rPr lang="en-US" altLang="zh-CN" sz="3200" i="1">
                                  <a:solidFill>
                                    <a:schemeClr val="tx1"/>
                                  </a:solidFill>
                                  <a:latin typeface="Cambria Math" panose="02040503050406030204" pitchFamily="18" charset="0"/>
                                </a:rPr>
                              </m:ctrlPr>
                            </m:naryPr>
                            <m:sub>
                              <m:r>
                                <m:rPr>
                                  <m:brk m:alnAt="7"/>
                                </m:rPr>
                                <a:rPr lang="en-US" altLang="zh-CN" sz="3200" b="0" i="1">
                                  <a:solidFill>
                                    <a:schemeClr val="tx1"/>
                                  </a:solidFill>
                                  <a:latin typeface="Cambria Math" panose="02040503050406030204" pitchFamily="18" charset="0"/>
                                </a:rPr>
                                <m:t>𝑆</m:t>
                              </m:r>
                              <m:r>
                                <m:rPr>
                                  <m:brk m:alnAt="7"/>
                                </m:rPr>
                                <a:rPr lang="zh-CN" altLang="en-US" sz="3200" b="0" i="1">
                                  <a:solidFill>
                                    <a:schemeClr val="tx1"/>
                                  </a:solidFill>
                                  <a:latin typeface="Cambria Math" panose="02040503050406030204" pitchFamily="18" charset="0"/>
                                </a:rPr>
                                <m:t>内</m:t>
                              </m:r>
                            </m:sub>
                            <m:sup/>
                            <m:e>
                              <m:sSub>
                                <m:sSubPr>
                                  <m:ctrlPr>
                                    <a:rPr lang="en-US" altLang="zh-CN" sz="3200" i="1">
                                      <a:solidFill>
                                        <a:schemeClr val="tx1"/>
                                      </a:solidFill>
                                      <a:latin typeface="Cambria Math" panose="02040503050406030204" pitchFamily="18" charset="0"/>
                                    </a:rPr>
                                  </m:ctrlPr>
                                </m:sSubPr>
                                <m:e>
                                  <m:r>
                                    <a:rPr lang="en-US" altLang="zh-CN" sz="3200" b="0" i="1">
                                      <a:solidFill>
                                        <a:schemeClr val="tx1"/>
                                      </a:solidFill>
                                      <a:latin typeface="Cambria Math" panose="02040503050406030204" pitchFamily="18" charset="0"/>
                                    </a:rPr>
                                    <m:t>𝑞</m:t>
                                  </m:r>
                                </m:e>
                                <m:sub>
                                  <m:r>
                                    <a:rPr lang="en-US" altLang="zh-CN" sz="3200" b="0" i="1">
                                      <a:solidFill>
                                        <a:schemeClr val="tx1"/>
                                      </a:solidFill>
                                      <a:latin typeface="Cambria Math" panose="02040503050406030204" pitchFamily="18" charset="0"/>
                                    </a:rPr>
                                    <m:t>𝑖</m:t>
                                  </m:r>
                                </m:sub>
                              </m:sSub>
                            </m:e>
                          </m:nary>
                        </m:e>
                      </m:nary>
                    </m:oMath>
                  </m:oMathPara>
                </a14:m>
                <a:endParaRPr lang="zh-CN" altLang="en-US" sz="3200" dirty="0">
                  <a:solidFill>
                    <a:schemeClr val="tx1"/>
                  </a:solidFill>
                </a:endParaRPr>
              </a:p>
            </p:txBody>
          </p:sp>
        </mc:Choice>
        <mc:Fallback xmlns="">
          <p:sp>
            <p:nvSpPr>
              <p:cNvPr id="2" name="标题 1">
                <a:extLst>
                  <a:ext uri="{FF2B5EF4-FFF2-40B4-BE49-F238E27FC236}">
                    <a16:creationId xmlns:a16="http://schemas.microsoft.com/office/drawing/2014/main" id="{85288FED-80E8-4D24-B15E-D324A826DBA2}"/>
                  </a:ext>
                </a:extLst>
              </p:cNvPr>
              <p:cNvSpPr>
                <a:spLocks noGrp="1" noRot="1" noChangeAspect="1" noMove="1" noResize="1" noEditPoints="1" noAdjustHandles="1" noChangeArrowheads="1" noChangeShapeType="1" noTextEdit="1"/>
              </p:cNvSpPr>
              <p:nvPr>
                <p:ph type="title"/>
              </p:nvPr>
            </p:nvSpPr>
            <p:spPr>
              <a:xfrm>
                <a:off x="1034381" y="1974472"/>
                <a:ext cx="5385821" cy="925731"/>
              </a:xfrm>
              <a:blipFill>
                <a:blip r:embed="rId3"/>
                <a:stretch>
                  <a:fillRect t="-11842" b="-21711"/>
                </a:stretch>
              </a:blipFill>
            </p:spPr>
            <p:txBody>
              <a:bodyPr/>
              <a:lstStyle/>
              <a:p>
                <a:r>
                  <a:rPr lang="en-US">
                    <a:noFill/>
                  </a:rPr>
                  <a:t> </a:t>
                </a:r>
              </a:p>
            </p:txBody>
          </p:sp>
        </mc:Fallback>
      </mc:AlternateContent>
      <p:sp>
        <p:nvSpPr>
          <p:cNvPr id="10" name="标题 4">
            <a:extLst>
              <a:ext uri="{FF2B5EF4-FFF2-40B4-BE49-F238E27FC236}">
                <a16:creationId xmlns:a16="http://schemas.microsoft.com/office/drawing/2014/main" id="{3C22E402-E979-4BEB-BCF1-D777288D53A0}"/>
              </a:ext>
            </a:extLst>
          </p:cNvPr>
          <p:cNvSpPr txBox="1">
            <a:spLocks/>
          </p:cNvSpPr>
          <p:nvPr/>
        </p:nvSpPr>
        <p:spPr>
          <a:xfrm>
            <a:off x="1428854" y="617959"/>
            <a:ext cx="5045544" cy="9726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dirty="0">
                <a:solidFill>
                  <a:srgbClr val="0066FF"/>
                </a:solidFill>
                <a:latin typeface="华文楷体" panose="02010600040101010101" pitchFamily="2" charset="-122"/>
                <a:ea typeface="华文楷体" panose="02010600040101010101" pitchFamily="2" charset="-122"/>
              </a:rPr>
              <a:t>高斯定律：</a:t>
            </a:r>
            <a:endParaRPr lang="zh-CN" altLang="en-US" dirty="0">
              <a:solidFill>
                <a:srgbClr val="0066FF"/>
              </a:solidFill>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3" name="Object 42">
                <a:extLst>
                  <a:ext uri="{FF2B5EF4-FFF2-40B4-BE49-F238E27FC236}">
                    <a16:creationId xmlns:a16="http://schemas.microsoft.com/office/drawing/2014/main" id="{6930E684-4E87-4D7C-BDC0-C25F06457625}"/>
                  </a:ext>
                </a:extLst>
              </p:cNvPr>
              <p:cNvSpPr txBox="1"/>
              <p:nvPr/>
            </p:nvSpPr>
            <p:spPr bwMode="auto">
              <a:xfrm>
                <a:off x="7338060" y="1761856"/>
                <a:ext cx="3421380" cy="135096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acc>
                        <m:accPr>
                          <m:chr m:val="⃑"/>
                          <m:ctrlPr>
                            <a:rPr lang="en-US" sz="3200" i="1" smtClean="0">
                              <a:solidFill>
                                <a:schemeClr val="tx1"/>
                              </a:solidFill>
                              <a:latin typeface="Cambria Math" panose="02040503050406030204" pitchFamily="18" charset="0"/>
                            </a:rPr>
                          </m:ctrlPr>
                        </m:accPr>
                        <m:e>
                          <m:r>
                            <a:rPr lang="en-US" sz="3200" i="1">
                              <a:solidFill>
                                <a:schemeClr val="tx1"/>
                              </a:solidFill>
                              <a:latin typeface="Cambria Math" panose="02040503050406030204" pitchFamily="18" charset="0"/>
                            </a:rPr>
                            <m:t>𝐸</m:t>
                          </m:r>
                        </m:e>
                      </m:acc>
                      <m:r>
                        <a:rPr lang="en-US" sz="3200" i="1">
                          <a:solidFill>
                            <a:schemeClr val="tx1"/>
                          </a:solidFill>
                          <a:latin typeface="Cambria Math" panose="02040503050406030204" pitchFamily="18" charset="0"/>
                        </a:rPr>
                        <m:t>=</m:t>
                      </m:r>
                      <m:nary>
                        <m:naryPr>
                          <m:chr m:val="∑"/>
                          <m:ctrlPr>
                            <a:rPr lang="en-US" sz="3200" i="1">
                              <a:solidFill>
                                <a:schemeClr val="tx1"/>
                              </a:solidFill>
                              <a:latin typeface="Cambria Math" panose="02040503050406030204" pitchFamily="18" charset="0"/>
                            </a:rPr>
                          </m:ctrlPr>
                        </m:naryPr>
                        <m:sub>
                          <m:r>
                            <a:rPr lang="en-US" sz="3200" i="1">
                              <a:solidFill>
                                <a:schemeClr val="tx1"/>
                              </a:solidFill>
                              <a:latin typeface="Cambria Math" panose="02040503050406030204" pitchFamily="18" charset="0"/>
                            </a:rPr>
                            <m:t>𝑖</m:t>
                          </m:r>
                          <m:r>
                            <a:rPr lang="en-US" sz="3200" i="1">
                              <a:solidFill>
                                <a:schemeClr val="tx1"/>
                              </a:solidFill>
                              <a:latin typeface="Cambria Math" panose="02040503050406030204" pitchFamily="18" charset="0"/>
                            </a:rPr>
                            <m:t>=1</m:t>
                          </m:r>
                        </m:sub>
                        <m:sup>
                          <m:r>
                            <a:rPr lang="en-US" sz="3200" i="1">
                              <a:solidFill>
                                <a:schemeClr val="tx1"/>
                              </a:solidFill>
                              <a:latin typeface="Cambria Math" panose="02040503050406030204" pitchFamily="18" charset="0"/>
                            </a:rPr>
                            <m:t>𝑛</m:t>
                          </m:r>
                        </m:sup>
                        <m:e>
                          <m:f>
                            <m:fPr>
                              <m:ctrlPr>
                                <a:rPr lang="en-US" sz="3200" i="1">
                                  <a:solidFill>
                                    <a:schemeClr val="tx1"/>
                                  </a:solidFill>
                                  <a:latin typeface="Cambria Math" panose="02040503050406030204" pitchFamily="18" charset="0"/>
                                </a:rPr>
                              </m:ctrlPr>
                            </m:fPr>
                            <m:num>
                              <m:sSub>
                                <m:sSubPr>
                                  <m:ctrlPr>
                                    <a:rPr lang="en-US" sz="3200" i="1">
                                      <a:solidFill>
                                        <a:schemeClr val="tx1"/>
                                      </a:solidFill>
                                      <a:latin typeface="Cambria Math" panose="02040503050406030204" pitchFamily="18" charset="0"/>
                                    </a:rPr>
                                  </m:ctrlPr>
                                </m:sSubPr>
                                <m:e>
                                  <m:r>
                                    <a:rPr lang="en-US" sz="3200" i="1">
                                      <a:solidFill>
                                        <a:schemeClr val="tx1"/>
                                      </a:solidFill>
                                      <a:latin typeface="Cambria Math" panose="02040503050406030204" pitchFamily="18" charset="0"/>
                                    </a:rPr>
                                    <m:t>𝑞</m:t>
                                  </m:r>
                                </m:e>
                                <m:sub>
                                  <m:r>
                                    <a:rPr lang="en-US" sz="3200" i="1">
                                      <a:solidFill>
                                        <a:schemeClr val="tx1"/>
                                      </a:solidFill>
                                      <a:latin typeface="Cambria Math" panose="02040503050406030204" pitchFamily="18" charset="0"/>
                                    </a:rPr>
                                    <m:t>𝑖</m:t>
                                  </m:r>
                                </m:sub>
                              </m:sSub>
                            </m:num>
                            <m:den>
                              <m:r>
                                <a:rPr lang="en-US" sz="3200" i="1">
                                  <a:solidFill>
                                    <a:schemeClr val="tx1"/>
                                  </a:solidFill>
                                  <a:latin typeface="Cambria Math" panose="02040503050406030204" pitchFamily="18" charset="0"/>
                                </a:rPr>
                                <m:t>4</m:t>
                              </m:r>
                              <m:r>
                                <a:rPr lang="en-US" sz="3200" i="1">
                                  <a:solidFill>
                                    <a:schemeClr val="tx1"/>
                                  </a:solidFill>
                                  <a:latin typeface="Cambria Math" panose="02040503050406030204" pitchFamily="18" charset="0"/>
                                </a:rPr>
                                <m:t>𝜋</m:t>
                              </m:r>
                              <m:sSub>
                                <m:sSubPr>
                                  <m:ctrlPr>
                                    <a:rPr lang="en-US" sz="3200" i="1">
                                      <a:solidFill>
                                        <a:schemeClr val="tx1"/>
                                      </a:solidFill>
                                      <a:latin typeface="Cambria Math" panose="02040503050406030204" pitchFamily="18" charset="0"/>
                                    </a:rPr>
                                  </m:ctrlPr>
                                </m:sSubPr>
                                <m:e>
                                  <m:r>
                                    <a:rPr lang="en-US" sz="3200" i="1">
                                      <a:solidFill>
                                        <a:schemeClr val="tx1"/>
                                      </a:solidFill>
                                      <a:latin typeface="Cambria Math" panose="02040503050406030204" pitchFamily="18" charset="0"/>
                                    </a:rPr>
                                    <m:t>𝜀</m:t>
                                  </m:r>
                                </m:e>
                                <m:sub>
                                  <m:r>
                                    <a:rPr lang="en-US" sz="3200" i="1">
                                      <a:solidFill>
                                        <a:schemeClr val="tx1"/>
                                      </a:solidFill>
                                      <a:latin typeface="Cambria Math" panose="02040503050406030204" pitchFamily="18" charset="0"/>
                                    </a:rPr>
                                    <m:t>0</m:t>
                                  </m:r>
                                </m:sub>
                              </m:sSub>
                              <m:sSubSup>
                                <m:sSubSupPr>
                                  <m:ctrlPr>
                                    <a:rPr lang="en-US" sz="3200" i="1">
                                      <a:solidFill>
                                        <a:schemeClr val="tx1"/>
                                      </a:solidFill>
                                      <a:latin typeface="Cambria Math" panose="02040503050406030204" pitchFamily="18" charset="0"/>
                                    </a:rPr>
                                  </m:ctrlPr>
                                </m:sSubSupPr>
                                <m:e>
                                  <m:r>
                                    <a:rPr lang="en-US" sz="3200" i="1">
                                      <a:solidFill>
                                        <a:schemeClr val="tx1"/>
                                      </a:solidFill>
                                      <a:latin typeface="Cambria Math" panose="02040503050406030204" pitchFamily="18" charset="0"/>
                                    </a:rPr>
                                    <m:t>𝑟</m:t>
                                  </m:r>
                                </m:e>
                                <m:sub>
                                  <m:r>
                                    <a:rPr lang="en-US" sz="3200" i="1">
                                      <a:solidFill>
                                        <a:schemeClr val="tx1"/>
                                      </a:solidFill>
                                      <a:latin typeface="Cambria Math" panose="02040503050406030204" pitchFamily="18" charset="0"/>
                                    </a:rPr>
                                    <m:t>𝑖</m:t>
                                  </m:r>
                                </m:sub>
                                <m:sup>
                                  <m:r>
                                    <a:rPr lang="en-US" sz="3200" i="1">
                                      <a:solidFill>
                                        <a:schemeClr val="tx1"/>
                                      </a:solidFill>
                                      <a:latin typeface="Cambria Math" panose="02040503050406030204" pitchFamily="18" charset="0"/>
                                    </a:rPr>
                                    <m:t>2</m:t>
                                  </m:r>
                                </m:sup>
                              </m:sSubSup>
                            </m:den>
                          </m:f>
                        </m:e>
                      </m:nary>
                      <m:sSub>
                        <m:sSubPr>
                          <m:ctrlPr>
                            <a:rPr lang="en-US" sz="3200" i="1">
                              <a:solidFill>
                                <a:schemeClr val="tx1"/>
                              </a:solidFill>
                              <a:latin typeface="Cambria Math" panose="02040503050406030204" pitchFamily="18" charset="0"/>
                            </a:rPr>
                          </m:ctrlPr>
                        </m:sSubPr>
                        <m:e>
                          <m:acc>
                            <m:accPr>
                              <m:chr m:val="̂"/>
                              <m:ctrlPr>
                                <a:rPr lang="en-US" sz="3200" i="1">
                                  <a:solidFill>
                                    <a:schemeClr val="tx1"/>
                                  </a:solidFill>
                                  <a:latin typeface="Cambria Math" panose="02040503050406030204" pitchFamily="18" charset="0"/>
                                </a:rPr>
                              </m:ctrlPr>
                            </m:accPr>
                            <m:e>
                              <m:r>
                                <a:rPr lang="en-US" sz="3200" i="1">
                                  <a:solidFill>
                                    <a:schemeClr val="tx1"/>
                                  </a:solidFill>
                                  <a:latin typeface="Cambria Math" panose="02040503050406030204" pitchFamily="18" charset="0"/>
                                </a:rPr>
                                <m:t>𝑟</m:t>
                              </m:r>
                            </m:e>
                          </m:acc>
                        </m:e>
                        <m:sub>
                          <m:r>
                            <a:rPr lang="en-US" sz="3200" i="1">
                              <a:solidFill>
                                <a:schemeClr val="tx1"/>
                              </a:solidFill>
                              <a:latin typeface="Cambria Math" panose="02040503050406030204" pitchFamily="18" charset="0"/>
                            </a:rPr>
                            <m:t>𝑖</m:t>
                          </m:r>
                        </m:sub>
                      </m:sSub>
                    </m:oMath>
                  </m:oMathPara>
                </a14:m>
                <a:endParaRPr lang="en-US" sz="3200" dirty="0">
                  <a:solidFill>
                    <a:schemeClr val="tx1"/>
                  </a:solidFill>
                </a:endParaRPr>
              </a:p>
            </p:txBody>
          </p:sp>
        </mc:Choice>
        <mc:Fallback xmlns="">
          <p:sp>
            <p:nvSpPr>
              <p:cNvPr id="13" name="Object 42">
                <a:extLst>
                  <a:ext uri="{FF2B5EF4-FFF2-40B4-BE49-F238E27FC236}">
                    <a16:creationId xmlns:a16="http://schemas.microsoft.com/office/drawing/2014/main" id="{6930E684-4E87-4D7C-BDC0-C25F06457625}"/>
                  </a:ext>
                </a:extLst>
              </p:cNvPr>
              <p:cNvSpPr txBox="1">
                <a:spLocks noRot="1" noChangeAspect="1" noMove="1" noResize="1" noEditPoints="1" noAdjustHandles="1" noChangeArrowheads="1" noChangeShapeType="1" noTextEdit="1"/>
              </p:cNvSpPr>
              <p:nvPr/>
            </p:nvSpPr>
            <p:spPr bwMode="auto">
              <a:xfrm>
                <a:off x="7338060" y="1761856"/>
                <a:ext cx="3421380" cy="1350962"/>
              </a:xfrm>
              <a:prstGeom prst="rect">
                <a:avLst/>
              </a:prstGeom>
              <a:blipFill>
                <a:blip r:embed="rId4"/>
                <a:stretch>
                  <a:fillRect b="-2252"/>
                </a:stretch>
              </a:blipFill>
              <a:ln>
                <a:noFill/>
              </a:ln>
              <a:effectLst/>
            </p:spPr>
            <p:txBody>
              <a:bodyPr/>
              <a:lstStyle/>
              <a:p>
                <a:r>
                  <a:rPr lang="en-US">
                    <a:noFill/>
                  </a:rPr>
                  <a:t> </a:t>
                </a:r>
              </a:p>
            </p:txBody>
          </p:sp>
        </mc:Fallback>
      </mc:AlternateContent>
      <p:sp>
        <p:nvSpPr>
          <p:cNvPr id="14" name="标题 4">
            <a:extLst>
              <a:ext uri="{FF2B5EF4-FFF2-40B4-BE49-F238E27FC236}">
                <a16:creationId xmlns:a16="http://schemas.microsoft.com/office/drawing/2014/main" id="{72F36F79-FD96-4784-9C8C-E3101E1F97AE}"/>
              </a:ext>
            </a:extLst>
          </p:cNvPr>
          <p:cNvSpPr txBox="1">
            <a:spLocks/>
          </p:cNvSpPr>
          <p:nvPr/>
        </p:nvSpPr>
        <p:spPr>
          <a:xfrm>
            <a:off x="7584522" y="736768"/>
            <a:ext cx="5045544" cy="972639"/>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457200" indent="-457200">
              <a:buFont typeface="Wingdings" panose="05000000000000000000" pitchFamily="2" charset="2"/>
              <a:buChar char="q"/>
            </a:pPr>
            <a:r>
              <a:rPr lang="zh-CN" altLang="en-US" sz="3200" dirty="0">
                <a:solidFill>
                  <a:srgbClr val="0066FF"/>
                </a:solidFill>
                <a:latin typeface="华文楷体" panose="02010600040101010101" pitchFamily="2" charset="-122"/>
                <a:ea typeface="华文楷体" panose="02010600040101010101" pitchFamily="2" charset="-122"/>
              </a:rPr>
              <a:t>库伦定律：</a:t>
            </a:r>
            <a:endParaRPr lang="zh-CN" altLang="en-US" dirty="0">
              <a:solidFill>
                <a:srgbClr val="0066FF"/>
              </a:solidFill>
              <a:latin typeface="华文楷体" panose="02010600040101010101" pitchFamily="2" charset="-122"/>
              <a:ea typeface="华文楷体" panose="02010600040101010101" pitchFamily="2" charset="-122"/>
            </a:endParaRPr>
          </a:p>
        </p:txBody>
      </p:sp>
      <p:sp>
        <p:nvSpPr>
          <p:cNvPr id="20" name="Text Box 5">
            <a:extLst>
              <a:ext uri="{FF2B5EF4-FFF2-40B4-BE49-F238E27FC236}">
                <a16:creationId xmlns:a16="http://schemas.microsoft.com/office/drawing/2014/main" id="{2F29B24A-E409-4D94-BF1D-54135C0E163B}"/>
              </a:ext>
            </a:extLst>
          </p:cNvPr>
          <p:cNvSpPr txBox="1">
            <a:spLocks noChangeArrowheads="1"/>
          </p:cNvSpPr>
          <p:nvPr/>
        </p:nvSpPr>
        <p:spPr bwMode="auto">
          <a:xfrm>
            <a:off x="3386271" y="4389457"/>
            <a:ext cx="1402202" cy="584775"/>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dirty="0">
                <a:latin typeface="华文楷体" panose="02010600040101010101" pitchFamily="2" charset="-122"/>
                <a:ea typeface="华文楷体" panose="02010600040101010101" pitchFamily="2" charset="-122"/>
              </a:rPr>
              <a:t>电 荷</a:t>
            </a:r>
          </a:p>
        </p:txBody>
      </p:sp>
      <p:sp>
        <p:nvSpPr>
          <p:cNvPr id="21" name="AutoShape 6">
            <a:extLst>
              <a:ext uri="{FF2B5EF4-FFF2-40B4-BE49-F238E27FC236}">
                <a16:creationId xmlns:a16="http://schemas.microsoft.com/office/drawing/2014/main" id="{E39A1890-9E0E-4070-A99F-7F8054B2F4BD}"/>
              </a:ext>
            </a:extLst>
          </p:cNvPr>
          <p:cNvSpPr>
            <a:spLocks noChangeArrowheads="1"/>
          </p:cNvSpPr>
          <p:nvPr/>
        </p:nvSpPr>
        <p:spPr bwMode="auto">
          <a:xfrm>
            <a:off x="5051386" y="4389457"/>
            <a:ext cx="1275908" cy="279975"/>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a:latin typeface="华文楷体" panose="02010600040101010101" pitchFamily="2" charset="-122"/>
              <a:ea typeface="华文楷体" panose="02010600040101010101" pitchFamily="2" charset="-122"/>
            </a:endParaRPr>
          </a:p>
        </p:txBody>
      </p:sp>
      <p:sp>
        <p:nvSpPr>
          <p:cNvPr id="22" name="AutoShape 7">
            <a:extLst>
              <a:ext uri="{FF2B5EF4-FFF2-40B4-BE49-F238E27FC236}">
                <a16:creationId xmlns:a16="http://schemas.microsoft.com/office/drawing/2014/main" id="{941A427A-C3C7-4167-AD98-BC91B41FED95}"/>
              </a:ext>
            </a:extLst>
          </p:cNvPr>
          <p:cNvSpPr>
            <a:spLocks noChangeArrowheads="1"/>
          </p:cNvSpPr>
          <p:nvPr/>
        </p:nvSpPr>
        <p:spPr bwMode="auto">
          <a:xfrm>
            <a:off x="4963749" y="4694257"/>
            <a:ext cx="1275908" cy="279975"/>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a:latin typeface="华文楷体" panose="02010600040101010101" pitchFamily="2" charset="-122"/>
              <a:ea typeface="华文楷体" panose="02010600040101010101" pitchFamily="2" charset="-122"/>
            </a:endParaRPr>
          </a:p>
        </p:txBody>
      </p:sp>
      <p:sp>
        <p:nvSpPr>
          <p:cNvPr id="23" name="Oval 10">
            <a:extLst>
              <a:ext uri="{FF2B5EF4-FFF2-40B4-BE49-F238E27FC236}">
                <a16:creationId xmlns:a16="http://schemas.microsoft.com/office/drawing/2014/main" id="{A1B2C5A6-3886-4AA7-BBD8-0277E4E4519B}"/>
              </a:ext>
            </a:extLst>
          </p:cNvPr>
          <p:cNvSpPr>
            <a:spLocks noChangeArrowheads="1"/>
          </p:cNvSpPr>
          <p:nvPr/>
        </p:nvSpPr>
        <p:spPr bwMode="auto">
          <a:xfrm>
            <a:off x="6474398" y="4237057"/>
            <a:ext cx="1489840" cy="914400"/>
          </a:xfrm>
          <a:prstGeom prst="ellipse">
            <a:avLst/>
          </a:prstGeom>
          <a:gradFill rotWithShape="0">
            <a:gsLst>
              <a:gs pos="0">
                <a:srgbClr val="FFCCFF"/>
              </a:gs>
              <a:gs pos="50000">
                <a:schemeClr val="bg1"/>
              </a:gs>
              <a:gs pos="100000">
                <a:srgbClr val="FFCCFF"/>
              </a:gs>
            </a:gsLst>
            <a:lin ang="5400000" scaled="1"/>
          </a:grad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3200" dirty="0">
                <a:solidFill>
                  <a:srgbClr val="BD240F"/>
                </a:solidFill>
                <a:latin typeface="华文楷体" panose="02010600040101010101" pitchFamily="2" charset="-122"/>
                <a:ea typeface="华文楷体" panose="02010600040101010101" pitchFamily="2" charset="-122"/>
              </a:rPr>
              <a:t>电 场</a:t>
            </a:r>
          </a:p>
        </p:txBody>
      </p:sp>
      <p:sp>
        <p:nvSpPr>
          <p:cNvPr id="19" name="矩形 18">
            <a:extLst>
              <a:ext uri="{FF2B5EF4-FFF2-40B4-BE49-F238E27FC236}">
                <a16:creationId xmlns:a16="http://schemas.microsoft.com/office/drawing/2014/main" id="{693A0C6A-7A5F-4073-8E4E-E763ABCBAA8A}"/>
              </a:ext>
            </a:extLst>
          </p:cNvPr>
          <p:cNvSpPr/>
          <p:nvPr/>
        </p:nvSpPr>
        <p:spPr>
          <a:xfrm>
            <a:off x="4648257" y="3736886"/>
            <a:ext cx="1826141" cy="584775"/>
          </a:xfrm>
          <a:prstGeom prst="rect">
            <a:avLst/>
          </a:prstGeom>
        </p:spPr>
        <p:txBody>
          <a:bodyPr wrap="none">
            <a:spAutoFit/>
          </a:bodyPr>
          <a:lstStyle/>
          <a:p>
            <a:r>
              <a:rPr lang="zh-CN" altLang="en-US" sz="3200" dirty="0">
                <a:solidFill>
                  <a:srgbClr val="FF0000"/>
                </a:solidFill>
                <a:latin typeface="华文楷体" panose="02010600040101010101" pitchFamily="2" charset="-122"/>
                <a:ea typeface="华文楷体" panose="02010600040101010101" pitchFamily="2" charset="-122"/>
              </a:rPr>
              <a:t>库伦定律</a:t>
            </a:r>
            <a:endParaRPr lang="en-US" sz="3200" dirty="0"/>
          </a:p>
        </p:txBody>
      </p:sp>
      <p:sp>
        <p:nvSpPr>
          <p:cNvPr id="24" name="矩形 23">
            <a:extLst>
              <a:ext uri="{FF2B5EF4-FFF2-40B4-BE49-F238E27FC236}">
                <a16:creationId xmlns:a16="http://schemas.microsoft.com/office/drawing/2014/main" id="{2288C34E-A063-4A25-AF42-F5B60F08E4B1}"/>
              </a:ext>
            </a:extLst>
          </p:cNvPr>
          <p:cNvSpPr/>
          <p:nvPr/>
        </p:nvSpPr>
        <p:spPr>
          <a:xfrm>
            <a:off x="4804532" y="5022019"/>
            <a:ext cx="1826141" cy="584775"/>
          </a:xfrm>
          <a:prstGeom prst="rect">
            <a:avLst/>
          </a:prstGeom>
        </p:spPr>
        <p:txBody>
          <a:bodyPr wrap="none">
            <a:spAutoFit/>
          </a:bodyPr>
          <a:lstStyle/>
          <a:p>
            <a:r>
              <a:rPr lang="zh-CN" altLang="en-US" sz="3200" dirty="0">
                <a:solidFill>
                  <a:srgbClr val="FF0000"/>
                </a:solidFill>
                <a:latin typeface="华文楷体" panose="02010600040101010101" pitchFamily="2" charset="-122"/>
                <a:ea typeface="华文楷体" panose="02010600040101010101" pitchFamily="2" charset="-122"/>
              </a:rPr>
              <a:t>高斯定律</a:t>
            </a:r>
            <a:endParaRPr lang="en-US" sz="3200" dirty="0"/>
          </a:p>
        </p:txBody>
      </p:sp>
    </p:spTree>
    <p:extLst>
      <p:ext uri="{BB962C8B-B14F-4D97-AF65-F5344CB8AC3E}">
        <p14:creationId xmlns:p14="http://schemas.microsoft.com/office/powerpoint/2010/main" val="348924833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1" grpId="0" animBg="1"/>
      <p:bldP spid="22" grpId="0" animBg="1"/>
      <p:bldP spid="23" grpId="0" animBg="1"/>
      <p:bldP spid="19" grpId="0"/>
      <p:bldP spid="24"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a:extLst>
              <a:ext uri="{FF2B5EF4-FFF2-40B4-BE49-F238E27FC236}">
                <a16:creationId xmlns:a16="http://schemas.microsoft.com/office/drawing/2014/main" id="{3B25A284-1808-479D-80B9-B074973884C9}"/>
              </a:ext>
            </a:extLst>
          </p:cNvPr>
          <p:cNvSpPr txBox="1"/>
          <p:nvPr/>
        </p:nvSpPr>
        <p:spPr>
          <a:xfrm>
            <a:off x="775103" y="683726"/>
            <a:ext cx="7978372"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rPr>
              <a:t>静电场： 高斯定律和库伦定律等价</a:t>
            </a:r>
            <a:endParaRPr lang="en-US" altLang="zh-CN" sz="3200" b="1" dirty="0">
              <a:solidFill>
                <a:srgbClr val="0066FF"/>
              </a:solidFill>
            </a:endParaRPr>
          </a:p>
        </p:txBody>
      </p:sp>
      <p:grpSp>
        <p:nvGrpSpPr>
          <p:cNvPr id="17" name="Group 12">
            <a:extLst>
              <a:ext uri="{FF2B5EF4-FFF2-40B4-BE49-F238E27FC236}">
                <a16:creationId xmlns:a16="http://schemas.microsoft.com/office/drawing/2014/main" id="{1C09F006-12A4-430A-8997-7D35829E9D5A}"/>
              </a:ext>
            </a:extLst>
          </p:cNvPr>
          <p:cNvGrpSpPr>
            <a:grpSpLocks/>
          </p:cNvGrpSpPr>
          <p:nvPr/>
        </p:nvGrpSpPr>
        <p:grpSpPr bwMode="auto">
          <a:xfrm>
            <a:off x="950655" y="1609974"/>
            <a:ext cx="2579877" cy="2554783"/>
            <a:chOff x="4128" y="960"/>
            <a:chExt cx="1462" cy="1440"/>
          </a:xfrm>
        </p:grpSpPr>
        <p:grpSp>
          <p:nvGrpSpPr>
            <p:cNvPr id="18" name="Group 13">
              <a:extLst>
                <a:ext uri="{FF2B5EF4-FFF2-40B4-BE49-F238E27FC236}">
                  <a16:creationId xmlns:a16="http://schemas.microsoft.com/office/drawing/2014/main" id="{9CFA8231-1616-4F28-B80C-E1824164F9D3}"/>
                </a:ext>
              </a:extLst>
            </p:cNvPr>
            <p:cNvGrpSpPr>
              <a:grpSpLocks/>
            </p:cNvGrpSpPr>
            <p:nvPr/>
          </p:nvGrpSpPr>
          <p:grpSpPr bwMode="auto">
            <a:xfrm>
              <a:off x="4128" y="960"/>
              <a:ext cx="1440" cy="1248"/>
              <a:chOff x="4128" y="960"/>
              <a:chExt cx="1440" cy="1248"/>
            </a:xfrm>
          </p:grpSpPr>
          <p:sp>
            <p:nvSpPr>
              <p:cNvPr id="30" name="Oval 14">
                <a:extLst>
                  <a:ext uri="{FF2B5EF4-FFF2-40B4-BE49-F238E27FC236}">
                    <a16:creationId xmlns:a16="http://schemas.microsoft.com/office/drawing/2014/main" id="{BBEC7BE3-30BA-4FCF-95AE-0799BFFD1304}"/>
                  </a:ext>
                </a:extLst>
              </p:cNvPr>
              <p:cNvSpPr>
                <a:spLocks noChangeArrowheads="1"/>
              </p:cNvSpPr>
              <p:nvPr/>
            </p:nvSpPr>
            <p:spPr bwMode="auto">
              <a:xfrm>
                <a:off x="4128" y="960"/>
                <a:ext cx="1296" cy="1248"/>
              </a:xfrm>
              <a:prstGeom prst="ellipse">
                <a:avLst/>
              </a:prstGeom>
              <a:solidFill>
                <a:srgbClr val="FEFEF0">
                  <a:alpha val="50195"/>
                </a:srgbClr>
              </a:solidFill>
              <a:ln w="381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solidFill>
                    <a:srgbClr val="000000"/>
                  </a:solidFill>
                </a:endParaRPr>
              </a:p>
            </p:txBody>
          </p:sp>
          <p:sp>
            <p:nvSpPr>
              <p:cNvPr id="31" name="Oval 15">
                <a:extLst>
                  <a:ext uri="{FF2B5EF4-FFF2-40B4-BE49-F238E27FC236}">
                    <a16:creationId xmlns:a16="http://schemas.microsoft.com/office/drawing/2014/main" id="{238E2AAF-5B89-4BE8-8D7B-AD50D9E4F40A}"/>
                  </a:ext>
                </a:extLst>
              </p:cNvPr>
              <p:cNvSpPr>
                <a:spLocks noChangeArrowheads="1"/>
              </p:cNvSpPr>
              <p:nvPr/>
            </p:nvSpPr>
            <p:spPr bwMode="auto">
              <a:xfrm>
                <a:off x="4752" y="1584"/>
                <a:ext cx="48" cy="48"/>
              </a:xfrm>
              <a:prstGeom prst="ellipse">
                <a:avLst/>
              </a:prstGeom>
              <a:solidFill>
                <a:schemeClr val="tx1"/>
              </a:solidFill>
              <a:ln w="3175">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solidFill>
                    <a:srgbClr val="000000"/>
                  </a:solidFill>
                </a:endParaRPr>
              </a:p>
            </p:txBody>
          </p:sp>
          <p:sp>
            <p:nvSpPr>
              <p:cNvPr id="32" name="Line 16">
                <a:extLst>
                  <a:ext uri="{FF2B5EF4-FFF2-40B4-BE49-F238E27FC236}">
                    <a16:creationId xmlns:a16="http://schemas.microsoft.com/office/drawing/2014/main" id="{90E7BF9A-C098-4A7F-9C46-5213397887BA}"/>
                  </a:ext>
                </a:extLst>
              </p:cNvPr>
              <p:cNvSpPr>
                <a:spLocks noChangeShapeType="1"/>
              </p:cNvSpPr>
              <p:nvPr/>
            </p:nvSpPr>
            <p:spPr bwMode="auto">
              <a:xfrm>
                <a:off x="4800" y="1632"/>
                <a:ext cx="384" cy="432"/>
              </a:xfrm>
              <a:prstGeom prst="line">
                <a:avLst/>
              </a:prstGeom>
              <a:noFill/>
              <a:ln w="2857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nchor="ctr"/>
              <a:lstStyle/>
              <a:p>
                <a:endParaRPr lang="en-US" sz="2800"/>
              </a:p>
            </p:txBody>
          </p:sp>
          <mc:AlternateContent xmlns:mc="http://schemas.openxmlformats.org/markup-compatibility/2006" xmlns:a14="http://schemas.microsoft.com/office/drawing/2010/main">
            <mc:Choice Requires="a14">
              <p:sp>
                <p:nvSpPr>
                  <p:cNvPr id="33" name="Object 17">
                    <a:extLst>
                      <a:ext uri="{FF2B5EF4-FFF2-40B4-BE49-F238E27FC236}">
                        <a16:creationId xmlns:a16="http://schemas.microsoft.com/office/drawing/2014/main" id="{FB01D05C-994F-42B7-A833-7266F1D5389A}"/>
                      </a:ext>
                    </a:extLst>
                  </p:cNvPr>
                  <p:cNvSpPr txBox="1"/>
                  <p:nvPr/>
                </p:nvSpPr>
                <p:spPr bwMode="auto">
                  <a:xfrm>
                    <a:off x="5355" y="1104"/>
                    <a:ext cx="213" cy="248"/>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𝑆</m:t>
                          </m:r>
                        </m:oMath>
                      </m:oMathPara>
                    </a14:m>
                    <a:endParaRPr lang="en-US"/>
                  </a:p>
                </p:txBody>
              </p:sp>
            </mc:Choice>
            <mc:Fallback xmlns="">
              <p:sp>
                <p:nvSpPr>
                  <p:cNvPr id="33" name="Object 17">
                    <a:extLst>
                      <a:ext uri="{FF2B5EF4-FFF2-40B4-BE49-F238E27FC236}">
                        <a16:creationId xmlns:a16="http://schemas.microsoft.com/office/drawing/2014/main" id="{FB01D05C-994F-42B7-A833-7266F1D5389A}"/>
                      </a:ext>
                    </a:extLst>
                  </p:cNvPr>
                  <p:cNvSpPr txBox="1">
                    <a:spLocks noRot="1" noChangeAspect="1" noMove="1" noResize="1" noEditPoints="1" noAdjustHandles="1" noChangeArrowheads="1" noChangeShapeType="1" noTextEdit="1"/>
                  </p:cNvSpPr>
                  <p:nvPr/>
                </p:nvSpPr>
                <p:spPr bwMode="auto">
                  <a:xfrm>
                    <a:off x="5355" y="1104"/>
                    <a:ext cx="213" cy="248"/>
                  </a:xfrm>
                  <a:prstGeom prst="rect">
                    <a:avLst/>
                  </a:prstGeom>
                  <a:blipFill>
                    <a:blip r:embed="rId3"/>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4" name="Object 18">
                    <a:extLst>
                      <a:ext uri="{FF2B5EF4-FFF2-40B4-BE49-F238E27FC236}">
                        <a16:creationId xmlns:a16="http://schemas.microsoft.com/office/drawing/2014/main" id="{44F24C95-86C4-40C2-9E27-0B5679DB74BE}"/>
                      </a:ext>
                    </a:extLst>
                  </p:cNvPr>
                  <p:cNvSpPr txBox="1"/>
                  <p:nvPr/>
                </p:nvSpPr>
                <p:spPr bwMode="auto">
                  <a:xfrm>
                    <a:off x="4978" y="1688"/>
                    <a:ext cx="166" cy="184"/>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𝑟</m:t>
                          </m:r>
                        </m:oMath>
                      </m:oMathPara>
                    </a14:m>
                    <a:endParaRPr lang="en-US"/>
                  </a:p>
                </p:txBody>
              </p:sp>
            </mc:Choice>
            <mc:Fallback xmlns="">
              <p:sp>
                <p:nvSpPr>
                  <p:cNvPr id="34" name="Object 18">
                    <a:extLst>
                      <a:ext uri="{FF2B5EF4-FFF2-40B4-BE49-F238E27FC236}">
                        <a16:creationId xmlns:a16="http://schemas.microsoft.com/office/drawing/2014/main" id="{44F24C95-86C4-40C2-9E27-0B5679DB74BE}"/>
                      </a:ext>
                    </a:extLst>
                  </p:cNvPr>
                  <p:cNvSpPr txBox="1">
                    <a:spLocks noRot="1" noChangeAspect="1" noMove="1" noResize="1" noEditPoints="1" noAdjustHandles="1" noChangeArrowheads="1" noChangeShapeType="1" noTextEdit="1"/>
                  </p:cNvSpPr>
                  <p:nvPr/>
                </p:nvSpPr>
                <p:spPr bwMode="auto">
                  <a:xfrm>
                    <a:off x="4978" y="1688"/>
                    <a:ext cx="166" cy="184"/>
                  </a:xfrm>
                  <a:prstGeom prst="rect">
                    <a:avLst/>
                  </a:prstGeom>
                  <a:blipFill>
                    <a:blip r:embed="rId4"/>
                    <a:stretch>
                      <a:fillRect/>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Object 19">
                    <a:extLst>
                      <a:ext uri="{FF2B5EF4-FFF2-40B4-BE49-F238E27FC236}">
                        <a16:creationId xmlns:a16="http://schemas.microsoft.com/office/drawing/2014/main" id="{87FD911C-F1E6-4920-8D40-76137AE13FFC}"/>
                      </a:ext>
                    </a:extLst>
                  </p:cNvPr>
                  <p:cNvSpPr txBox="1"/>
                  <p:nvPr/>
                </p:nvSpPr>
                <p:spPr bwMode="auto">
                  <a:xfrm>
                    <a:off x="4585" y="1496"/>
                    <a:ext cx="167" cy="216"/>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𝑞</m:t>
                          </m:r>
                        </m:oMath>
                      </m:oMathPara>
                    </a14:m>
                    <a:endParaRPr lang="en-US"/>
                  </a:p>
                </p:txBody>
              </p:sp>
            </mc:Choice>
            <mc:Fallback xmlns="">
              <p:sp>
                <p:nvSpPr>
                  <p:cNvPr id="35" name="Object 19">
                    <a:extLst>
                      <a:ext uri="{FF2B5EF4-FFF2-40B4-BE49-F238E27FC236}">
                        <a16:creationId xmlns:a16="http://schemas.microsoft.com/office/drawing/2014/main" id="{87FD911C-F1E6-4920-8D40-76137AE13FFC}"/>
                      </a:ext>
                    </a:extLst>
                  </p:cNvPr>
                  <p:cNvSpPr txBox="1">
                    <a:spLocks noRot="1" noChangeAspect="1" noMove="1" noResize="1" noEditPoints="1" noAdjustHandles="1" noChangeArrowheads="1" noChangeShapeType="1" noTextEdit="1"/>
                  </p:cNvSpPr>
                  <p:nvPr/>
                </p:nvSpPr>
                <p:spPr bwMode="auto">
                  <a:xfrm>
                    <a:off x="4585" y="1496"/>
                    <a:ext cx="167" cy="216"/>
                  </a:xfrm>
                  <a:prstGeom prst="rect">
                    <a:avLst/>
                  </a:prstGeom>
                  <a:blipFill>
                    <a:blip r:embed="rId5"/>
                    <a:stretch>
                      <a:fillRect b="-4762"/>
                    </a:stretch>
                  </a:blipFill>
                  <a:ln>
                    <a:noFill/>
                  </a:ln>
                  <a:effectLst/>
                  <a:extLst/>
                </p:spPr>
                <p:txBody>
                  <a:bodyPr/>
                  <a:lstStyle/>
                  <a:p>
                    <a:r>
                      <a:rPr lang="en-US">
                        <a:noFill/>
                      </a:rPr>
                      <a:t> </a:t>
                    </a:r>
                  </a:p>
                </p:txBody>
              </p:sp>
            </mc:Fallback>
          </mc:AlternateContent>
        </p:grpSp>
        <p:sp>
          <p:nvSpPr>
            <p:cNvPr id="25" name="Oval 20">
              <a:extLst>
                <a:ext uri="{FF2B5EF4-FFF2-40B4-BE49-F238E27FC236}">
                  <a16:creationId xmlns:a16="http://schemas.microsoft.com/office/drawing/2014/main" id="{FC022069-EA9E-4826-8B86-EDEEAD9EC64F}"/>
                </a:ext>
              </a:extLst>
            </p:cNvPr>
            <p:cNvSpPr>
              <a:spLocks noChangeArrowheads="1"/>
            </p:cNvSpPr>
            <p:nvPr/>
          </p:nvSpPr>
          <p:spPr bwMode="auto">
            <a:xfrm rot="-2124412">
              <a:off x="5088" y="2057"/>
              <a:ext cx="192" cy="48"/>
            </a:xfrm>
            <a:prstGeom prst="ellipse">
              <a:avLst/>
            </a:prstGeom>
            <a:solidFill>
              <a:srgbClr val="757648"/>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endParaRPr lang="zh-CN" altLang="en-US" sz="2800">
                <a:solidFill>
                  <a:srgbClr val="000000"/>
                </a:solidFill>
              </a:endParaRPr>
            </a:p>
          </p:txBody>
        </p:sp>
        <p:sp>
          <p:nvSpPr>
            <p:cNvPr id="27" name="Line 21">
              <a:extLst>
                <a:ext uri="{FF2B5EF4-FFF2-40B4-BE49-F238E27FC236}">
                  <a16:creationId xmlns:a16="http://schemas.microsoft.com/office/drawing/2014/main" id="{DEC521A2-4DDB-475F-A870-2577821F529E}"/>
                </a:ext>
              </a:extLst>
            </p:cNvPr>
            <p:cNvSpPr>
              <a:spLocks noChangeShapeType="1"/>
            </p:cNvSpPr>
            <p:nvPr/>
          </p:nvSpPr>
          <p:spPr bwMode="auto">
            <a:xfrm rot="197571">
              <a:off x="5191" y="2104"/>
              <a:ext cx="144" cy="144"/>
            </a:xfrm>
            <a:prstGeom prst="line">
              <a:avLst/>
            </a:prstGeom>
            <a:noFill/>
            <a:ln w="28575">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mc:AlternateContent xmlns:mc="http://schemas.openxmlformats.org/markup-compatibility/2006" xmlns:a14="http://schemas.microsoft.com/office/drawing/2010/main">
          <mc:Choice Requires="a14">
            <p:sp>
              <p:nvSpPr>
                <p:cNvPr id="28" name="Object 22">
                  <a:extLst>
                    <a:ext uri="{FF2B5EF4-FFF2-40B4-BE49-F238E27FC236}">
                      <a16:creationId xmlns:a16="http://schemas.microsoft.com/office/drawing/2014/main" id="{F5CCFA4F-5C5A-42F5-9C17-5294CE8603CE}"/>
                    </a:ext>
                  </a:extLst>
                </p:cNvPr>
                <p:cNvSpPr txBox="1"/>
                <p:nvPr/>
              </p:nvSpPr>
              <p:spPr bwMode="auto">
                <a:xfrm>
                  <a:off x="5295" y="1931"/>
                  <a:ext cx="295" cy="295"/>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r>
                          <a:rPr lang="en-US" i="1">
                            <a:solidFill>
                              <a:srgbClr val="000000"/>
                            </a:solidFill>
                            <a:latin typeface="Cambria Math" panose="02040503050406030204" pitchFamily="18" charset="0"/>
                          </a:rPr>
                          <m:t>𝑑</m:t>
                        </m:r>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𝑆</m:t>
                            </m:r>
                          </m:e>
                        </m:acc>
                      </m:oMath>
                    </m:oMathPara>
                  </a14:m>
                  <a:endParaRPr lang="en-US"/>
                </a:p>
              </p:txBody>
            </p:sp>
          </mc:Choice>
          <mc:Fallback xmlns="">
            <p:sp>
              <p:nvSpPr>
                <p:cNvPr id="28" name="Object 22">
                  <a:extLst>
                    <a:ext uri="{FF2B5EF4-FFF2-40B4-BE49-F238E27FC236}">
                      <a16:creationId xmlns:a16="http://schemas.microsoft.com/office/drawing/2014/main" id="{F5CCFA4F-5C5A-42F5-9C17-5294CE8603CE}"/>
                    </a:ext>
                  </a:extLst>
                </p:cNvPr>
                <p:cNvSpPr txBox="1">
                  <a:spLocks noRot="1" noChangeAspect="1" noMove="1" noResize="1" noEditPoints="1" noAdjustHandles="1" noChangeArrowheads="1" noChangeShapeType="1" noTextEdit="1"/>
                </p:cNvSpPr>
                <p:nvPr/>
              </p:nvSpPr>
              <p:spPr bwMode="auto">
                <a:xfrm>
                  <a:off x="5295" y="1931"/>
                  <a:ext cx="295" cy="295"/>
                </a:xfrm>
                <a:prstGeom prst="rect">
                  <a:avLst/>
                </a:prstGeom>
                <a:blipFill>
                  <a:blip r:embed="rId6"/>
                  <a:stretch>
                    <a:fillRect t="-16279" r="-49412"/>
                  </a:stretch>
                </a:blipFill>
                <a:ln>
                  <a:noFill/>
                </a:ln>
                <a:effectLst/>
                <a:ex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23">
                  <a:extLst>
                    <a:ext uri="{FF2B5EF4-FFF2-40B4-BE49-F238E27FC236}">
                      <a16:creationId xmlns:a16="http://schemas.microsoft.com/office/drawing/2014/main" id="{8C56BC0F-CD82-4A62-BEBF-F5CB1A36B28A}"/>
                    </a:ext>
                  </a:extLst>
                </p:cNvPr>
                <p:cNvSpPr txBox="1"/>
                <p:nvPr/>
              </p:nvSpPr>
              <p:spPr bwMode="auto">
                <a:xfrm>
                  <a:off x="5025" y="2149"/>
                  <a:ext cx="204" cy="251"/>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i="1">
                                <a:solidFill>
                                  <a:srgbClr val="000000"/>
                                </a:solidFill>
                                <a:latin typeface="Cambria Math" panose="02040503050406030204" pitchFamily="18" charset="0"/>
                              </a:rPr>
                            </m:ctrlPr>
                          </m:accPr>
                          <m:e>
                            <m:r>
                              <a:rPr lang="en-US" i="1">
                                <a:solidFill>
                                  <a:srgbClr val="000000"/>
                                </a:solidFill>
                                <a:latin typeface="Cambria Math" panose="02040503050406030204" pitchFamily="18" charset="0"/>
                              </a:rPr>
                              <m:t>𝐸</m:t>
                            </m:r>
                          </m:e>
                        </m:acc>
                      </m:oMath>
                    </m:oMathPara>
                  </a14:m>
                  <a:endParaRPr lang="en-US"/>
                </a:p>
              </p:txBody>
            </p:sp>
          </mc:Choice>
          <mc:Fallback xmlns="">
            <p:sp>
              <p:nvSpPr>
                <p:cNvPr id="29" name="Object 23">
                  <a:extLst>
                    <a:ext uri="{FF2B5EF4-FFF2-40B4-BE49-F238E27FC236}">
                      <a16:creationId xmlns:a16="http://schemas.microsoft.com/office/drawing/2014/main" id="{8C56BC0F-CD82-4A62-BEBF-F5CB1A36B28A}"/>
                    </a:ext>
                  </a:extLst>
                </p:cNvPr>
                <p:cNvSpPr txBox="1">
                  <a:spLocks noRot="1" noChangeAspect="1" noMove="1" noResize="1" noEditPoints="1" noAdjustHandles="1" noChangeArrowheads="1" noChangeShapeType="1" noTextEdit="1"/>
                </p:cNvSpPr>
                <p:nvPr/>
              </p:nvSpPr>
              <p:spPr bwMode="auto">
                <a:xfrm>
                  <a:off x="5025" y="2149"/>
                  <a:ext cx="204" cy="251"/>
                </a:xfrm>
                <a:prstGeom prst="rect">
                  <a:avLst/>
                </a:prstGeom>
                <a:blipFill>
                  <a:blip r:embed="rId7"/>
                  <a:stretch>
                    <a:fillRect/>
                  </a:stretch>
                </a:blipFill>
                <a:ln>
                  <a:noFill/>
                </a:ln>
                <a:effectLst/>
                <a:ex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6" name="Object 2">
                <a:extLst>
                  <a:ext uri="{FF2B5EF4-FFF2-40B4-BE49-F238E27FC236}">
                    <a16:creationId xmlns:a16="http://schemas.microsoft.com/office/drawing/2014/main" id="{72BFF094-7A15-453D-8B9E-B146911C4C50}"/>
                  </a:ext>
                </a:extLst>
              </p:cNvPr>
              <p:cNvSpPr txBox="1"/>
              <p:nvPr/>
            </p:nvSpPr>
            <p:spPr bwMode="auto">
              <a:xfrm>
                <a:off x="4211745" y="1507095"/>
                <a:ext cx="4566067" cy="80327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nary>
                        <m:naryPr>
                          <m:chr m:val="∮"/>
                          <m:supHide m:val="on"/>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𝑆</m:t>
                          </m:r>
                        </m:sub>
                        <m:sup/>
                        <m:e>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𝐸</m:t>
                              </m:r>
                            </m:e>
                          </m:acc>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𝑑</m:t>
                          </m:r>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𝑆</m:t>
                              </m:r>
                            </m:e>
                          </m:acc>
                        </m:e>
                      </m:nary>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𝑞</m:t>
                              </m:r>
                            </m:e>
                            <m:sub>
                              <m:r>
                                <a:rPr lang="zh-CN" altLang="en-US" sz="3200" i="1">
                                  <a:solidFill>
                                    <a:srgbClr val="000000"/>
                                  </a:solidFill>
                                  <a:latin typeface="Cambria Math" panose="02040503050406030204" pitchFamily="18" charset="0"/>
                                </a:rPr>
                                <m:t>𝑛𝑒𝑡</m:t>
                              </m:r>
                            </m:sub>
                          </m:sSub>
                        </m:num>
                        <m:den>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oMath>
                  </m:oMathPara>
                </a14:m>
                <a:endParaRPr lang="zh-CN" altLang="en-US" sz="3200" dirty="0"/>
              </a:p>
            </p:txBody>
          </p:sp>
        </mc:Choice>
        <mc:Fallback xmlns="">
          <p:sp>
            <p:nvSpPr>
              <p:cNvPr id="36" name="Object 2">
                <a:extLst>
                  <a:ext uri="{FF2B5EF4-FFF2-40B4-BE49-F238E27FC236}">
                    <a16:creationId xmlns:a16="http://schemas.microsoft.com/office/drawing/2014/main" id="{72BFF094-7A15-453D-8B9E-B146911C4C50}"/>
                  </a:ext>
                </a:extLst>
              </p:cNvPr>
              <p:cNvSpPr txBox="1">
                <a:spLocks noRot="1" noChangeAspect="1" noMove="1" noResize="1" noEditPoints="1" noAdjustHandles="1" noChangeArrowheads="1" noChangeShapeType="1" noTextEdit="1"/>
              </p:cNvSpPr>
              <p:nvPr/>
            </p:nvSpPr>
            <p:spPr bwMode="auto">
              <a:xfrm>
                <a:off x="4211745" y="1507095"/>
                <a:ext cx="4566067" cy="803275"/>
              </a:xfrm>
              <a:prstGeom prst="rect">
                <a:avLst/>
              </a:prstGeom>
              <a:blipFill>
                <a:blip r:embed="rId14"/>
                <a:stretch>
                  <a:fillRect b="-31061"/>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Object 3">
                <a:extLst>
                  <a:ext uri="{FF2B5EF4-FFF2-40B4-BE49-F238E27FC236}">
                    <a16:creationId xmlns:a16="http://schemas.microsoft.com/office/drawing/2014/main" id="{1EBC02E5-4CF2-4ECF-B541-99A3E5671DFD}"/>
                  </a:ext>
                </a:extLst>
              </p:cNvPr>
              <p:cNvSpPr txBox="1"/>
              <p:nvPr/>
            </p:nvSpPr>
            <p:spPr bwMode="auto">
              <a:xfrm>
                <a:off x="6197000" y="2652653"/>
                <a:ext cx="2692151" cy="91598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𝑆</m:t>
                          </m:r>
                        </m:sub>
                        <m:sup/>
                        <m:e>
                          <m:r>
                            <a:rPr lang="zh-CN" altLang="en-US" sz="3200" i="1">
                              <a:solidFill>
                                <a:srgbClr val="000000"/>
                              </a:solidFill>
                              <a:latin typeface="Cambria Math" panose="02040503050406030204" pitchFamily="18" charset="0"/>
                            </a:rPr>
                            <m:t>𝐸</m:t>
                          </m:r>
                        </m:e>
                      </m:nary>
                      <m:r>
                        <a:rPr lang="zh-CN" altLang="en-US" sz="3200" i="1">
                          <a:solidFill>
                            <a:srgbClr val="000000"/>
                          </a:solidFill>
                          <a:latin typeface="Cambria Math" panose="02040503050406030204" pitchFamily="18" charset="0"/>
                        </a:rPr>
                        <m:t>𝑑𝑆</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𝑞</m:t>
                              </m:r>
                            </m:e>
                            <m:sub>
                              <m:r>
                                <a:rPr lang="zh-CN" altLang="en-US" sz="3200" i="1">
                                  <a:solidFill>
                                    <a:srgbClr val="000000"/>
                                  </a:solidFill>
                                  <a:latin typeface="Cambria Math" panose="02040503050406030204" pitchFamily="18" charset="0"/>
                                </a:rPr>
                                <m:t>𝑛𝑒𝑡</m:t>
                              </m:r>
                            </m:sub>
                          </m:sSub>
                        </m:num>
                        <m:den>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oMath>
                  </m:oMathPara>
                </a14:m>
                <a:endParaRPr lang="zh-CN" altLang="en-US" sz="3200" dirty="0"/>
              </a:p>
            </p:txBody>
          </p:sp>
        </mc:Choice>
        <mc:Fallback xmlns="">
          <p:sp>
            <p:nvSpPr>
              <p:cNvPr id="37" name="Object 3">
                <a:extLst>
                  <a:ext uri="{FF2B5EF4-FFF2-40B4-BE49-F238E27FC236}">
                    <a16:creationId xmlns:a16="http://schemas.microsoft.com/office/drawing/2014/main" id="{1EBC02E5-4CF2-4ECF-B541-99A3E5671DFD}"/>
                  </a:ext>
                </a:extLst>
              </p:cNvPr>
              <p:cNvSpPr txBox="1">
                <a:spLocks noRot="1" noChangeAspect="1" noMove="1" noResize="1" noEditPoints="1" noAdjustHandles="1" noChangeArrowheads="1" noChangeShapeType="1" noTextEdit="1"/>
              </p:cNvSpPr>
              <p:nvPr/>
            </p:nvSpPr>
            <p:spPr bwMode="auto">
              <a:xfrm>
                <a:off x="6197000" y="2652653"/>
                <a:ext cx="2692151" cy="915988"/>
              </a:xfrm>
              <a:prstGeom prst="rect">
                <a:avLst/>
              </a:prstGeom>
              <a:blipFill>
                <a:blip r:embed="rId15"/>
                <a:stretch>
                  <a:fillRect b="-4666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8" name="Object 6">
                <a:extLst>
                  <a:ext uri="{FF2B5EF4-FFF2-40B4-BE49-F238E27FC236}">
                    <a16:creationId xmlns:a16="http://schemas.microsoft.com/office/drawing/2014/main" id="{BCCE7A8F-C871-4AAA-9F3B-80F9DE710FB1}"/>
                  </a:ext>
                </a:extLst>
              </p:cNvPr>
              <p:cNvSpPr txBox="1"/>
              <p:nvPr/>
            </p:nvSpPr>
            <p:spPr bwMode="auto">
              <a:xfrm>
                <a:off x="6087962" y="3942100"/>
                <a:ext cx="2689850" cy="91281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𝐸</m:t>
                      </m:r>
                      <m:nary>
                        <m:naryPr>
                          <m:chr m:val="∮"/>
                          <m:limLoc m:val="undOvr"/>
                          <m:supHide m:val="on"/>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𝑆</m:t>
                          </m:r>
                        </m:sub>
                        <m:sup/>
                        <m:e>
                          <m:r>
                            <a:rPr lang="zh-CN" altLang="en-US" sz="3200" i="1">
                              <a:solidFill>
                                <a:srgbClr val="000000"/>
                              </a:solidFill>
                              <a:latin typeface="Cambria Math" panose="02040503050406030204" pitchFamily="18" charset="0"/>
                            </a:rPr>
                            <m:t>𝑑𝑆</m:t>
                          </m:r>
                        </m:e>
                      </m:nary>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𝑞</m:t>
                              </m:r>
                            </m:e>
                            <m:sub>
                              <m:r>
                                <a:rPr lang="zh-CN" altLang="en-US" sz="3200" i="1">
                                  <a:solidFill>
                                    <a:srgbClr val="000000"/>
                                  </a:solidFill>
                                  <a:latin typeface="Cambria Math" panose="02040503050406030204" pitchFamily="18" charset="0"/>
                                </a:rPr>
                                <m:t>𝑛𝑒𝑡</m:t>
                              </m:r>
                            </m:sub>
                          </m:sSub>
                        </m:num>
                        <m:den>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oMath>
                  </m:oMathPara>
                </a14:m>
                <a:endParaRPr lang="zh-CN" altLang="en-US" sz="3200" dirty="0"/>
              </a:p>
            </p:txBody>
          </p:sp>
        </mc:Choice>
        <mc:Fallback xmlns="">
          <p:sp>
            <p:nvSpPr>
              <p:cNvPr id="38" name="Object 6">
                <a:extLst>
                  <a:ext uri="{FF2B5EF4-FFF2-40B4-BE49-F238E27FC236}">
                    <a16:creationId xmlns:a16="http://schemas.microsoft.com/office/drawing/2014/main" id="{BCCE7A8F-C871-4AAA-9F3B-80F9DE710FB1}"/>
                  </a:ext>
                </a:extLst>
              </p:cNvPr>
              <p:cNvSpPr txBox="1">
                <a:spLocks noRot="1" noChangeAspect="1" noMove="1" noResize="1" noEditPoints="1" noAdjustHandles="1" noChangeArrowheads="1" noChangeShapeType="1" noTextEdit="1"/>
              </p:cNvSpPr>
              <p:nvPr/>
            </p:nvSpPr>
            <p:spPr bwMode="auto">
              <a:xfrm>
                <a:off x="6087962" y="3942100"/>
                <a:ext cx="2689850" cy="912813"/>
              </a:xfrm>
              <a:prstGeom prst="rect">
                <a:avLst/>
              </a:prstGeom>
              <a:blipFill>
                <a:blip r:embed="rId16"/>
                <a:stretch>
                  <a:fillRect b="-46980"/>
                </a:stretch>
              </a:blipFill>
              <a:ln>
                <a:noFill/>
              </a:ln>
            </p:spPr>
            <p:txBody>
              <a:bodyPr/>
              <a:lstStyle/>
              <a:p>
                <a:r>
                  <a:rPr lang="zh-CN" altLang="en-US">
                    <a:noFill/>
                  </a:rPr>
                  <a:t> </a:t>
                </a:r>
              </a:p>
            </p:txBody>
          </p:sp>
        </mc:Fallback>
      </mc:AlternateContent>
      <p:sp>
        <p:nvSpPr>
          <p:cNvPr id="39" name="文本框 38">
            <a:extLst>
              <a:ext uri="{FF2B5EF4-FFF2-40B4-BE49-F238E27FC236}">
                <a16:creationId xmlns:a16="http://schemas.microsoft.com/office/drawing/2014/main" id="{8B321AE0-CFAC-40F2-A550-8F9905A0D038}"/>
              </a:ext>
            </a:extLst>
          </p:cNvPr>
          <p:cNvSpPr txBox="1"/>
          <p:nvPr/>
        </p:nvSpPr>
        <p:spPr>
          <a:xfrm>
            <a:off x="3969861" y="3066756"/>
            <a:ext cx="3346844" cy="584775"/>
          </a:xfrm>
          <a:prstGeom prst="rect">
            <a:avLst/>
          </a:prstGeom>
          <a:noFill/>
        </p:spPr>
        <p:txBody>
          <a:bodyPr wrap="square" rtlCol="0">
            <a:spAutoFit/>
          </a:bodyPr>
          <a:lstStyle/>
          <a:p>
            <a:r>
              <a:rPr lang="zh-CN" altLang="en-US" sz="3200" dirty="0"/>
              <a:t>方向一致：</a:t>
            </a:r>
            <a:endParaRPr lang="en-US" sz="3200" dirty="0"/>
          </a:p>
        </p:txBody>
      </p:sp>
      <p:sp>
        <p:nvSpPr>
          <p:cNvPr id="40" name="文本框 39">
            <a:extLst>
              <a:ext uri="{FF2B5EF4-FFF2-40B4-BE49-F238E27FC236}">
                <a16:creationId xmlns:a16="http://schemas.microsoft.com/office/drawing/2014/main" id="{4211DA64-CC17-4D28-8AC5-C5F6D38411AE}"/>
              </a:ext>
            </a:extLst>
          </p:cNvPr>
          <p:cNvSpPr txBox="1"/>
          <p:nvPr/>
        </p:nvSpPr>
        <p:spPr>
          <a:xfrm>
            <a:off x="4035720" y="4226450"/>
            <a:ext cx="2263528" cy="584775"/>
          </a:xfrm>
          <a:prstGeom prst="rect">
            <a:avLst/>
          </a:prstGeom>
          <a:noFill/>
        </p:spPr>
        <p:txBody>
          <a:bodyPr wrap="square" rtlCol="0">
            <a:spAutoFit/>
          </a:bodyPr>
          <a:lstStyle/>
          <a:p>
            <a:r>
              <a:rPr lang="zh-CN" altLang="en-US" sz="3200" dirty="0"/>
              <a:t>对称性：</a:t>
            </a:r>
            <a:endParaRPr lang="en-US" sz="3200" dirty="0"/>
          </a:p>
        </p:txBody>
      </p:sp>
      <mc:AlternateContent xmlns:mc="http://schemas.openxmlformats.org/markup-compatibility/2006" xmlns:a14="http://schemas.microsoft.com/office/drawing/2010/main">
        <mc:Choice Requires="a14">
          <p:sp>
            <p:nvSpPr>
              <p:cNvPr id="41" name="Object 4">
                <a:extLst>
                  <a:ext uri="{FF2B5EF4-FFF2-40B4-BE49-F238E27FC236}">
                    <a16:creationId xmlns:a16="http://schemas.microsoft.com/office/drawing/2014/main" id="{A24C2908-7E3E-4472-98E7-B3D868750A54}"/>
                  </a:ext>
                </a:extLst>
              </p:cNvPr>
              <p:cNvSpPr txBox="1"/>
              <p:nvPr/>
            </p:nvSpPr>
            <p:spPr bwMode="auto">
              <a:xfrm>
                <a:off x="2391046" y="5368970"/>
                <a:ext cx="2508072" cy="121285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𝐸</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𝑞</m:t>
                              </m:r>
                            </m:e>
                            <m:sub>
                              <m:r>
                                <a:rPr lang="zh-CN" altLang="en-US" sz="3200" i="1">
                                  <a:solidFill>
                                    <a:srgbClr val="000000"/>
                                  </a:solidFill>
                                  <a:latin typeface="Cambria Math" panose="02040503050406030204" pitchFamily="18" charset="0"/>
                                </a:rPr>
                                <m:t>𝑛𝑒𝑡</m:t>
                              </m:r>
                            </m:sub>
                          </m:sSub>
                        </m:num>
                        <m:den>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nary>
                            <m:naryPr>
                              <m:chr m:val="∮"/>
                              <m:limLoc m:val="undOvr"/>
                              <m:supHide m:val="on"/>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𝑆</m:t>
                              </m:r>
                            </m:sub>
                            <m:sup/>
                            <m:e>
                              <m:r>
                                <a:rPr lang="zh-CN" altLang="en-US" sz="3200" i="1">
                                  <a:solidFill>
                                    <a:srgbClr val="000000"/>
                                  </a:solidFill>
                                  <a:latin typeface="Cambria Math" panose="02040503050406030204" pitchFamily="18" charset="0"/>
                                </a:rPr>
                                <m:t>𝑑𝑆</m:t>
                              </m:r>
                            </m:e>
                          </m:nary>
                        </m:den>
                      </m:f>
                    </m:oMath>
                  </m:oMathPara>
                </a14:m>
                <a:endParaRPr lang="zh-CN" altLang="en-US" sz="3200" dirty="0"/>
              </a:p>
            </p:txBody>
          </p:sp>
        </mc:Choice>
        <mc:Fallback xmlns="">
          <p:sp>
            <p:nvSpPr>
              <p:cNvPr id="41" name="Object 4">
                <a:extLst>
                  <a:ext uri="{FF2B5EF4-FFF2-40B4-BE49-F238E27FC236}">
                    <a16:creationId xmlns:a16="http://schemas.microsoft.com/office/drawing/2014/main" id="{A24C2908-7E3E-4472-98E7-B3D868750A54}"/>
                  </a:ext>
                </a:extLst>
              </p:cNvPr>
              <p:cNvSpPr txBox="1">
                <a:spLocks noRot="1" noChangeAspect="1" noMove="1" noResize="1" noEditPoints="1" noAdjustHandles="1" noChangeArrowheads="1" noChangeShapeType="1" noTextEdit="1"/>
              </p:cNvSpPr>
              <p:nvPr/>
            </p:nvSpPr>
            <p:spPr bwMode="auto">
              <a:xfrm>
                <a:off x="2391046" y="5368970"/>
                <a:ext cx="2508072" cy="1212850"/>
              </a:xfrm>
              <a:prstGeom prst="rect">
                <a:avLst/>
              </a:prstGeom>
              <a:blipFill>
                <a:blip r:embed="rId17"/>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2" name="Object 2">
                <a:extLst>
                  <a:ext uri="{FF2B5EF4-FFF2-40B4-BE49-F238E27FC236}">
                    <a16:creationId xmlns:a16="http://schemas.microsoft.com/office/drawing/2014/main" id="{85A286FC-684F-44AE-AFFD-6BE8AE00E922}"/>
                  </a:ext>
                </a:extLst>
              </p:cNvPr>
              <p:cNvSpPr txBox="1"/>
              <p:nvPr/>
            </p:nvSpPr>
            <p:spPr bwMode="auto">
              <a:xfrm>
                <a:off x="5212501" y="5426205"/>
                <a:ext cx="3676650" cy="8128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𝐄</m:t>
                          </m:r>
                        </m:e>
                      </m:acc>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1</m:t>
                          </m:r>
                        </m:num>
                        <m:den>
                          <m:r>
                            <a:rPr lang="zh-CN" altLang="en-US" sz="3200" i="1">
                              <a:solidFill>
                                <a:srgbClr val="000000"/>
                              </a:solidFill>
                              <a:latin typeface="Cambria Math" panose="02040503050406030204" pitchFamily="18" charset="0"/>
                            </a:rPr>
                            <m:t>4</m:t>
                          </m:r>
                          <m:r>
                            <m:rPr>
                              <m:sty m:val="p"/>
                            </m:rPr>
                            <a:rPr lang="zh-CN" altLang="en-US" sz="3200" i="1">
                              <a:solidFill>
                                <a:srgbClr val="000000"/>
                              </a:solidFill>
                              <a:latin typeface="Cambria Math" panose="02040503050406030204" pitchFamily="18" charset="0"/>
                            </a:rPr>
                            <m:t>π</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𝑞</m:t>
                          </m:r>
                        </m:num>
                        <m:den>
                          <m:sSup>
                            <m:sSupPr>
                              <m:ctrlPr>
                                <a:rPr lang="zh-CN" altLang="en-US" sz="3200" i="1">
                                  <a:solidFill>
                                    <a:srgbClr val="000000"/>
                                  </a:solidFill>
                                  <a:latin typeface="Cambria Math" panose="02040503050406030204" pitchFamily="18" charset="0"/>
                                </a:rPr>
                              </m:ctrlPr>
                            </m:sSupPr>
                            <m:e>
                              <m:r>
                                <a:rPr lang="zh-CN" altLang="en-US" sz="3200" i="1">
                                  <a:solidFill>
                                    <a:srgbClr val="000000"/>
                                  </a:solidFill>
                                  <a:latin typeface="Cambria Math" panose="02040503050406030204" pitchFamily="18" charset="0"/>
                                </a:rPr>
                                <m:t>𝑟</m:t>
                              </m:r>
                            </m:e>
                            <m:sup>
                              <m:r>
                                <a:rPr lang="zh-CN" altLang="en-US" sz="3200" i="1">
                                  <a:solidFill>
                                    <a:srgbClr val="000000"/>
                                  </a:solidFill>
                                  <a:latin typeface="Cambria Math" panose="02040503050406030204" pitchFamily="18" charset="0"/>
                                </a:rPr>
                                <m:t>2</m:t>
                              </m:r>
                            </m:sup>
                          </m:sSup>
                        </m:den>
                      </m:f>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𝑟</m:t>
                          </m:r>
                        </m:e>
                      </m:acc>
                      <m:r>
                        <m:rPr>
                          <m:nor/>
                        </m:rPr>
                        <a:rPr lang="zh-CN" altLang="en-US" sz="3200" i="0">
                          <a:solidFill>
                            <a:srgbClr val="000000"/>
                          </a:solidFill>
                          <a:latin typeface="Cambria Math" panose="02040503050406030204" pitchFamily="18" charset="0"/>
                        </a:rPr>
                        <m:t>  </m:t>
                      </m:r>
                    </m:oMath>
                  </m:oMathPara>
                </a14:m>
                <a:endParaRPr lang="zh-CN" altLang="en-US" sz="3200" dirty="0"/>
              </a:p>
            </p:txBody>
          </p:sp>
        </mc:Choice>
        <mc:Fallback xmlns="">
          <p:sp>
            <p:nvSpPr>
              <p:cNvPr id="42" name="Object 2">
                <a:extLst>
                  <a:ext uri="{FF2B5EF4-FFF2-40B4-BE49-F238E27FC236}">
                    <a16:creationId xmlns:a16="http://schemas.microsoft.com/office/drawing/2014/main" id="{85A286FC-684F-44AE-AFFD-6BE8AE00E922}"/>
                  </a:ext>
                </a:extLst>
              </p:cNvPr>
              <p:cNvSpPr txBox="1">
                <a:spLocks noRot="1" noChangeAspect="1" noMove="1" noResize="1" noEditPoints="1" noAdjustHandles="1" noChangeArrowheads="1" noChangeShapeType="1" noTextEdit="1"/>
              </p:cNvSpPr>
              <p:nvPr/>
            </p:nvSpPr>
            <p:spPr bwMode="auto">
              <a:xfrm>
                <a:off x="5212501" y="5426205"/>
                <a:ext cx="3676650" cy="812800"/>
              </a:xfrm>
              <a:prstGeom prst="rect">
                <a:avLst/>
              </a:prstGeom>
              <a:blipFill>
                <a:blip r:embed="rId18"/>
                <a:stretch>
                  <a:fillRect b="-30075"/>
                </a:stretch>
              </a:blipFill>
              <a:ln>
                <a:noFill/>
              </a:ln>
            </p:spPr>
            <p:txBody>
              <a:bodyPr/>
              <a:lstStyle/>
              <a:p>
                <a:r>
                  <a:rPr lang="zh-CN" altLang="en-US">
                    <a:noFill/>
                  </a:rPr>
                  <a:t> </a:t>
                </a:r>
              </a:p>
            </p:txBody>
          </p:sp>
        </mc:Fallback>
      </mc:AlternateContent>
    </p:spTree>
    <p:extLst>
      <p:ext uri="{BB962C8B-B14F-4D97-AF65-F5344CB8AC3E}">
        <p14:creationId xmlns:p14="http://schemas.microsoft.com/office/powerpoint/2010/main" val="313883513"/>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4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7" grpId="0"/>
      <p:bldP spid="38" grpId="0"/>
      <p:bldP spid="39" grpId="0"/>
      <p:bldP spid="40" grpId="0"/>
      <p:bldP spid="41" grpId="0"/>
      <p:bldP spid="4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ChangeArrowheads="1"/>
          </p:cNvSpPr>
          <p:nvPr/>
        </p:nvSpPr>
        <p:spPr bwMode="auto">
          <a:xfrm>
            <a:off x="3863975" y="1700214"/>
            <a:ext cx="4319588" cy="1296987"/>
          </a:xfrm>
          <a:prstGeom prst="rect">
            <a:avLst/>
          </a:prstGeom>
          <a:noFill/>
          <a:ln>
            <a:noFill/>
          </a:ln>
          <a:effectLst/>
          <a:extLst>
            <a:ext uri="{909E8E84-426E-40DD-AFC4-6F175D3DCCD1}">
              <a14:hiddenFill xmlns:a14="http://schemas.microsoft.com/office/drawing/2010/main">
                <a:solidFill>
                  <a:srgbClr val="00FF00"/>
                </a:solidFill>
              </a14:hiddenFill>
            </a:ext>
            <a:ext uri="{91240B29-F687-4F45-9708-019B960494DF}">
              <a14:hiddenLine xmlns:a14="http://schemas.microsoft.com/office/drawing/2010/main" w="25400">
                <a:solidFill>
                  <a:srgbClr val="80008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a:p>
        </p:txBody>
      </p:sp>
      <p:sp>
        <p:nvSpPr>
          <p:cNvPr id="15" name="文本框 14">
            <a:extLst>
              <a:ext uri="{FF2B5EF4-FFF2-40B4-BE49-F238E27FC236}">
                <a16:creationId xmlns:a16="http://schemas.microsoft.com/office/drawing/2014/main" id="{3E72D261-5C0E-40EF-8F79-58AE0EE8B27A}"/>
              </a:ext>
            </a:extLst>
          </p:cNvPr>
          <p:cNvSpPr txBox="1"/>
          <p:nvPr/>
        </p:nvSpPr>
        <p:spPr>
          <a:xfrm>
            <a:off x="1834279" y="4430941"/>
            <a:ext cx="5555308"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FF0000"/>
                </a:solidFill>
                <a:latin typeface="华文楷体" panose="02010600040101010101" pitchFamily="2" charset="-122"/>
                <a:ea typeface="华文楷体" panose="02010600040101010101" pitchFamily="2" charset="-122"/>
              </a:rPr>
              <a:t>非静电场： 高斯定律 </a:t>
            </a:r>
            <a:endParaRPr lang="en-US" sz="3200" b="1" dirty="0">
              <a:solidFill>
                <a:srgbClr val="FF0000"/>
              </a:solidFill>
              <a:latin typeface="华文楷体" panose="02010600040101010101" pitchFamily="2" charset="-122"/>
              <a:ea typeface="华文楷体" panose="02010600040101010101" pitchFamily="2" charset="-122"/>
            </a:endParaRPr>
          </a:p>
        </p:txBody>
      </p:sp>
      <p:sp>
        <p:nvSpPr>
          <p:cNvPr id="16" name="文本框 15">
            <a:extLst>
              <a:ext uri="{FF2B5EF4-FFF2-40B4-BE49-F238E27FC236}">
                <a16:creationId xmlns:a16="http://schemas.microsoft.com/office/drawing/2014/main" id="{351E8F95-883F-4275-8ABC-197C51CA779B}"/>
              </a:ext>
            </a:extLst>
          </p:cNvPr>
          <p:cNvSpPr txBox="1"/>
          <p:nvPr/>
        </p:nvSpPr>
        <p:spPr>
          <a:xfrm>
            <a:off x="1861201" y="5324825"/>
            <a:ext cx="7139924" cy="584775"/>
          </a:xfrm>
          <a:prstGeom prst="rect">
            <a:avLst/>
          </a:prstGeom>
          <a:noFill/>
        </p:spPr>
        <p:txBody>
          <a:bodyPr wrap="square" rtlCol="0">
            <a:spAutoFit/>
          </a:bodyPr>
          <a:lstStyle/>
          <a:p>
            <a:r>
              <a:rPr lang="zh-CN" altLang="en-US" sz="3200" b="1" dirty="0">
                <a:solidFill>
                  <a:srgbClr val="FF0000"/>
                </a:solidFill>
                <a:latin typeface="华文楷体" panose="02010600040101010101" pitchFamily="2" charset="-122"/>
                <a:ea typeface="华文楷体" panose="02010600040101010101" pitchFamily="2" charset="-122"/>
              </a:rPr>
              <a:t>高斯定律是关于电场的基本规律</a:t>
            </a:r>
            <a:endParaRPr lang="en-US" sz="3200" b="1" dirty="0">
              <a:solidFill>
                <a:srgbClr val="FF0000"/>
              </a:solidFill>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a16="http://schemas.microsoft.com/office/drawing/2014/main" id="{25B46800-FC8D-5E51-D8C0-1A610FE0A1A3}"/>
              </a:ext>
            </a:extLst>
          </p:cNvPr>
          <p:cNvSpPr txBox="1"/>
          <p:nvPr/>
        </p:nvSpPr>
        <p:spPr>
          <a:xfrm>
            <a:off x="775103" y="683726"/>
            <a:ext cx="7978372" cy="584775"/>
          </a:xfrm>
          <a:prstGeom prst="rect">
            <a:avLst/>
          </a:prstGeom>
          <a:noFill/>
        </p:spPr>
        <p:txBody>
          <a:bodyPr wrap="square" rtlCol="0">
            <a:spAutoFit/>
          </a:bodyPr>
          <a:lstStyle/>
          <a:p>
            <a:pPr marL="285750" indent="-285750">
              <a:buFont typeface="Wingdings" panose="05000000000000000000" pitchFamily="2" charset="2"/>
              <a:buChar char="q"/>
            </a:pPr>
            <a:r>
              <a:rPr lang="zh-CN" altLang="en-US" sz="3200" b="1" dirty="0">
                <a:solidFill>
                  <a:srgbClr val="0066FF"/>
                </a:solidFill>
              </a:rPr>
              <a:t>静电场： 高斯定律和库伦定律等价</a:t>
            </a:r>
            <a:endParaRPr lang="en-US" altLang="zh-CN" sz="3200" b="1" dirty="0">
              <a:solidFill>
                <a:srgbClr val="0066FF"/>
              </a:solidFill>
            </a:endParaRPr>
          </a:p>
        </p:txBody>
      </p:sp>
      <p:sp>
        <p:nvSpPr>
          <p:cNvPr id="7" name="Text Box 5">
            <a:extLst>
              <a:ext uri="{FF2B5EF4-FFF2-40B4-BE49-F238E27FC236}">
                <a16:creationId xmlns:a16="http://schemas.microsoft.com/office/drawing/2014/main" id="{099BC367-87AF-D9F8-CAC8-2B5028C0584C}"/>
              </a:ext>
            </a:extLst>
          </p:cNvPr>
          <p:cNvSpPr txBox="1">
            <a:spLocks noChangeArrowheads="1"/>
          </p:cNvSpPr>
          <p:nvPr/>
        </p:nvSpPr>
        <p:spPr bwMode="auto">
          <a:xfrm>
            <a:off x="3119571" y="2468721"/>
            <a:ext cx="1402202" cy="584775"/>
          </a:xfrm>
          <a:prstGeom prst="rect">
            <a:avLst/>
          </a:prstGeom>
          <a:gradFill rotWithShape="0">
            <a:gsLst>
              <a:gs pos="0">
                <a:srgbClr val="EBEBEB"/>
              </a:gs>
              <a:gs pos="50000">
                <a:srgbClr val="FFFFFF"/>
              </a:gs>
              <a:gs pos="100000">
                <a:srgbClr val="EBEBEB"/>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zh-CN" altLang="en-US" sz="3200" dirty="0">
                <a:latin typeface="华文楷体" panose="02010600040101010101" pitchFamily="2" charset="-122"/>
                <a:ea typeface="华文楷体" panose="02010600040101010101" pitchFamily="2" charset="-122"/>
              </a:rPr>
              <a:t>电 荷</a:t>
            </a:r>
          </a:p>
        </p:txBody>
      </p:sp>
      <p:sp>
        <p:nvSpPr>
          <p:cNvPr id="8" name="AutoShape 6">
            <a:extLst>
              <a:ext uri="{FF2B5EF4-FFF2-40B4-BE49-F238E27FC236}">
                <a16:creationId xmlns:a16="http://schemas.microsoft.com/office/drawing/2014/main" id="{EF5F0823-77B1-7ADC-58FB-BE3B6E59AC29}"/>
              </a:ext>
            </a:extLst>
          </p:cNvPr>
          <p:cNvSpPr>
            <a:spLocks noChangeArrowheads="1"/>
          </p:cNvSpPr>
          <p:nvPr/>
        </p:nvSpPr>
        <p:spPr bwMode="auto">
          <a:xfrm>
            <a:off x="4784686" y="2468721"/>
            <a:ext cx="1275908" cy="279975"/>
          </a:xfrm>
          <a:prstGeom prst="rightArrow">
            <a:avLst>
              <a:gd name="adj1" fmla="val 50000"/>
              <a:gd name="adj2" fmla="val 75000"/>
            </a:avLst>
          </a:prstGeom>
          <a:gradFill rotWithShape="0">
            <a:gsLst>
              <a:gs pos="0">
                <a:srgbClr val="A4D6DA"/>
              </a:gs>
              <a:gs pos="50000">
                <a:srgbClr val="FFFFFF"/>
              </a:gs>
              <a:gs pos="100000">
                <a:srgbClr val="A4D6DA"/>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a:latin typeface="华文楷体" panose="02010600040101010101" pitchFamily="2" charset="-122"/>
              <a:ea typeface="华文楷体" panose="02010600040101010101" pitchFamily="2" charset="-122"/>
            </a:endParaRPr>
          </a:p>
        </p:txBody>
      </p:sp>
      <p:sp>
        <p:nvSpPr>
          <p:cNvPr id="9" name="AutoShape 7">
            <a:extLst>
              <a:ext uri="{FF2B5EF4-FFF2-40B4-BE49-F238E27FC236}">
                <a16:creationId xmlns:a16="http://schemas.microsoft.com/office/drawing/2014/main" id="{9FC46401-B252-42F0-1910-805EA220887B}"/>
              </a:ext>
            </a:extLst>
          </p:cNvPr>
          <p:cNvSpPr>
            <a:spLocks noChangeArrowheads="1"/>
          </p:cNvSpPr>
          <p:nvPr/>
        </p:nvSpPr>
        <p:spPr bwMode="auto">
          <a:xfrm>
            <a:off x="4697049" y="2773521"/>
            <a:ext cx="1275908" cy="279975"/>
          </a:xfrm>
          <a:prstGeom prst="leftArrow">
            <a:avLst>
              <a:gd name="adj1" fmla="val 50000"/>
              <a:gd name="adj2" fmla="val 75000"/>
            </a:avLst>
          </a:prstGeom>
          <a:gradFill rotWithShape="0">
            <a:gsLst>
              <a:gs pos="0">
                <a:srgbClr val="6464CC"/>
              </a:gs>
              <a:gs pos="50000">
                <a:srgbClr val="FFFFFF"/>
              </a:gs>
              <a:gs pos="100000">
                <a:srgbClr val="6464CC"/>
              </a:gs>
            </a:gsLst>
            <a:lin ang="5400000" scaled="1"/>
          </a:gra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3200">
              <a:latin typeface="华文楷体" panose="02010600040101010101" pitchFamily="2" charset="-122"/>
              <a:ea typeface="华文楷体" panose="02010600040101010101" pitchFamily="2" charset="-122"/>
            </a:endParaRPr>
          </a:p>
        </p:txBody>
      </p:sp>
      <p:sp>
        <p:nvSpPr>
          <p:cNvPr id="10" name="Oval 10">
            <a:extLst>
              <a:ext uri="{FF2B5EF4-FFF2-40B4-BE49-F238E27FC236}">
                <a16:creationId xmlns:a16="http://schemas.microsoft.com/office/drawing/2014/main" id="{65709115-5582-093A-9823-C35FB8D25D8C}"/>
              </a:ext>
            </a:extLst>
          </p:cNvPr>
          <p:cNvSpPr>
            <a:spLocks noChangeArrowheads="1"/>
          </p:cNvSpPr>
          <p:nvPr/>
        </p:nvSpPr>
        <p:spPr bwMode="auto">
          <a:xfrm>
            <a:off x="6207698" y="2316321"/>
            <a:ext cx="1489840" cy="914400"/>
          </a:xfrm>
          <a:prstGeom prst="ellipse">
            <a:avLst/>
          </a:prstGeom>
          <a:gradFill rotWithShape="0">
            <a:gsLst>
              <a:gs pos="0">
                <a:srgbClr val="FFCCFF"/>
              </a:gs>
              <a:gs pos="50000">
                <a:schemeClr val="bg1"/>
              </a:gs>
              <a:gs pos="100000">
                <a:srgbClr val="FFCCFF"/>
              </a:gs>
            </a:gsLst>
            <a:lin ang="5400000" scaled="1"/>
          </a:gradFill>
          <a:ln w="9525">
            <a:solidFill>
              <a:schemeClr val="tx1"/>
            </a:solidFill>
            <a:round/>
            <a:headEnd type="none" w="sm" len="lg"/>
            <a:tailEnd type="none" w="sm"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eaLnBrk="0" hangingPunct="0">
              <a:defRPr kumimoji="1" b="1">
                <a:solidFill>
                  <a:schemeClr val="tx1"/>
                </a:solidFill>
                <a:latin typeface="Times New Roman" panose="02020603050405020304" pitchFamily="18" charset="0"/>
                <a:ea typeface="宋体" panose="02010600030101010101" pitchFamily="2" charset="-122"/>
              </a:defRPr>
            </a:lvl1pPr>
            <a:lvl2pPr marL="742950" indent="-285750" eaLnBrk="0" hangingPunct="0">
              <a:defRPr kumimoji="1" b="1">
                <a:solidFill>
                  <a:schemeClr val="tx1"/>
                </a:solidFill>
                <a:latin typeface="Times New Roman" panose="02020603050405020304" pitchFamily="18" charset="0"/>
                <a:ea typeface="宋体" panose="02010600030101010101" pitchFamily="2" charset="-122"/>
              </a:defRPr>
            </a:lvl2pPr>
            <a:lvl3pPr marL="1143000" indent="-228600" eaLnBrk="0" hangingPunct="0">
              <a:defRPr kumimoji="1" b="1">
                <a:solidFill>
                  <a:schemeClr val="tx1"/>
                </a:solidFill>
                <a:latin typeface="Times New Roman" panose="02020603050405020304" pitchFamily="18" charset="0"/>
                <a:ea typeface="宋体" panose="02010600030101010101" pitchFamily="2" charset="-122"/>
              </a:defRPr>
            </a:lvl3pPr>
            <a:lvl4pPr marL="1600200" indent="-228600" eaLnBrk="0" hangingPunct="0">
              <a:defRPr kumimoji="1" b="1">
                <a:solidFill>
                  <a:schemeClr val="tx1"/>
                </a:solidFill>
                <a:latin typeface="Times New Roman" panose="02020603050405020304" pitchFamily="18" charset="0"/>
                <a:ea typeface="宋体" panose="02010600030101010101" pitchFamily="2" charset="-122"/>
              </a:defRPr>
            </a:lvl4pPr>
            <a:lvl5pPr marL="2057400" indent="-228600" eaLnBrk="0" hangingPunct="0">
              <a:defRPr kumimoji="1" b="1">
                <a:solidFill>
                  <a:schemeClr val="tx1"/>
                </a:solidFill>
                <a:latin typeface="Times New Roman" panose="02020603050405020304" pitchFamily="18" charset="0"/>
                <a:ea typeface="宋体" panose="02010600030101010101" pitchFamily="2" charset="-122"/>
              </a:defRPr>
            </a:lvl5pPr>
            <a:lvl6pPr marL="25146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algn="ctr"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defRPr/>
            </a:pPr>
            <a:r>
              <a:rPr lang="zh-CN" altLang="en-US" sz="3200" dirty="0">
                <a:solidFill>
                  <a:srgbClr val="BD240F"/>
                </a:solidFill>
                <a:latin typeface="华文楷体" panose="02010600040101010101" pitchFamily="2" charset="-122"/>
                <a:ea typeface="华文楷体" panose="02010600040101010101" pitchFamily="2" charset="-122"/>
              </a:rPr>
              <a:t>电 场</a:t>
            </a:r>
          </a:p>
        </p:txBody>
      </p:sp>
      <p:sp>
        <p:nvSpPr>
          <p:cNvPr id="11" name="矩形 10">
            <a:extLst>
              <a:ext uri="{FF2B5EF4-FFF2-40B4-BE49-F238E27FC236}">
                <a16:creationId xmlns:a16="http://schemas.microsoft.com/office/drawing/2014/main" id="{CE71BAF5-DAE8-76CF-6BF1-8CF50E441B90}"/>
              </a:ext>
            </a:extLst>
          </p:cNvPr>
          <p:cNvSpPr/>
          <p:nvPr/>
        </p:nvSpPr>
        <p:spPr>
          <a:xfrm>
            <a:off x="4381557" y="1816150"/>
            <a:ext cx="1826141" cy="584775"/>
          </a:xfrm>
          <a:prstGeom prst="rect">
            <a:avLst/>
          </a:prstGeom>
        </p:spPr>
        <p:txBody>
          <a:bodyPr wrap="none">
            <a:spAutoFit/>
          </a:bodyPr>
          <a:lstStyle/>
          <a:p>
            <a:r>
              <a:rPr lang="zh-CN" altLang="en-US" sz="3200" dirty="0">
                <a:solidFill>
                  <a:srgbClr val="FF0000"/>
                </a:solidFill>
                <a:latin typeface="华文楷体" panose="02010600040101010101" pitchFamily="2" charset="-122"/>
                <a:ea typeface="华文楷体" panose="02010600040101010101" pitchFamily="2" charset="-122"/>
              </a:rPr>
              <a:t>库伦定律</a:t>
            </a:r>
            <a:endParaRPr lang="en-US" sz="3200" dirty="0"/>
          </a:p>
        </p:txBody>
      </p:sp>
      <p:sp>
        <p:nvSpPr>
          <p:cNvPr id="12" name="矩形 11">
            <a:extLst>
              <a:ext uri="{FF2B5EF4-FFF2-40B4-BE49-F238E27FC236}">
                <a16:creationId xmlns:a16="http://schemas.microsoft.com/office/drawing/2014/main" id="{47C43F66-D61C-637F-92F7-A5DC089F0C96}"/>
              </a:ext>
            </a:extLst>
          </p:cNvPr>
          <p:cNvSpPr/>
          <p:nvPr/>
        </p:nvSpPr>
        <p:spPr>
          <a:xfrm>
            <a:off x="4537832" y="3101283"/>
            <a:ext cx="1826141" cy="584775"/>
          </a:xfrm>
          <a:prstGeom prst="rect">
            <a:avLst/>
          </a:prstGeom>
        </p:spPr>
        <p:txBody>
          <a:bodyPr wrap="none">
            <a:spAutoFit/>
          </a:bodyPr>
          <a:lstStyle/>
          <a:p>
            <a:r>
              <a:rPr lang="zh-CN" altLang="en-US" sz="3200" dirty="0">
                <a:solidFill>
                  <a:srgbClr val="FF0000"/>
                </a:solidFill>
                <a:latin typeface="华文楷体" panose="02010600040101010101" pitchFamily="2" charset="-122"/>
                <a:ea typeface="华文楷体" panose="02010600040101010101" pitchFamily="2" charset="-122"/>
              </a:rPr>
              <a:t>高斯定律</a:t>
            </a:r>
            <a:endParaRPr lang="en-US" sz="3200" dirty="0"/>
          </a:p>
        </p:txBody>
      </p:sp>
    </p:spTree>
    <p:extLst>
      <p:ext uri="{BB962C8B-B14F-4D97-AF65-F5344CB8AC3E}">
        <p14:creationId xmlns:p14="http://schemas.microsoft.com/office/powerpoint/2010/main" val="15492066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Box 4">
            <a:extLst>
              <a:ext uri="{FF2B5EF4-FFF2-40B4-BE49-F238E27FC236}">
                <a16:creationId xmlns:a16="http://schemas.microsoft.com/office/drawing/2014/main" id="{5AC8204C-CC3E-180A-F447-935EBCEF415B}"/>
              </a:ext>
            </a:extLst>
          </p:cNvPr>
          <p:cNvSpPr txBox="1"/>
          <p:nvPr/>
        </p:nvSpPr>
        <p:spPr>
          <a:xfrm>
            <a:off x="1552575" y="3071313"/>
            <a:ext cx="7772400" cy="2428875"/>
          </a:xfrm>
          <a:prstGeom prst="rect">
            <a:avLst/>
          </a:prstGeom>
          <a:noFill/>
          <a:ln w="9525">
            <a:noFill/>
          </a:ln>
        </p:spPr>
        <p:txBody>
          <a:bodyPr>
            <a:spAutoFit/>
          </a:bodyPr>
          <a:lstStyle/>
          <a:p>
            <a:pPr>
              <a:lnSpc>
                <a:spcPct val="120000"/>
              </a:lnSpc>
              <a:buNone/>
            </a:pPr>
            <a:r>
              <a:rPr lang="en-US" altLang="zh-CN" sz="3200" b="1" dirty="0">
                <a:solidFill>
                  <a:schemeClr val="tx1"/>
                </a:solidFill>
                <a:latin typeface="宋体" panose="02010600030101010101" pitchFamily="2" charset="-122"/>
              </a:rPr>
              <a:t>   </a:t>
            </a:r>
          </a:p>
          <a:p>
            <a:pPr>
              <a:lnSpc>
                <a:spcPct val="120000"/>
              </a:lnSpc>
            </a:pPr>
            <a:r>
              <a:rPr lang="en-US" altLang="zh-CN" sz="3200" b="1" dirty="0">
                <a:solidFill>
                  <a:schemeClr val="tx1"/>
                </a:solidFill>
                <a:latin typeface="宋体" panose="02010600030101010101" pitchFamily="2" charset="-122"/>
              </a:rPr>
              <a:t>- </a:t>
            </a:r>
            <a:r>
              <a:rPr lang="zh-CN" altLang="en-US" sz="3200" b="1" dirty="0">
                <a:solidFill>
                  <a:schemeClr val="tx1"/>
                </a:solidFill>
                <a:latin typeface="宋体" panose="02010600030101010101" pitchFamily="2" charset="-122"/>
              </a:rPr>
              <a:t>对称性分析</a:t>
            </a:r>
          </a:p>
          <a:p>
            <a:pPr>
              <a:lnSpc>
                <a:spcPct val="120000"/>
              </a:lnSpc>
            </a:pPr>
            <a:r>
              <a:rPr lang="en-US" altLang="zh-CN" sz="3200" b="1" dirty="0">
                <a:solidFill>
                  <a:schemeClr val="tx1"/>
                </a:solidFill>
                <a:latin typeface="宋体" panose="02010600030101010101" pitchFamily="2" charset="-122"/>
              </a:rPr>
              <a:t>- </a:t>
            </a:r>
            <a:r>
              <a:rPr lang="zh-CN" altLang="en-US" sz="3200" b="1" dirty="0">
                <a:solidFill>
                  <a:schemeClr val="tx1"/>
                </a:solidFill>
                <a:latin typeface="宋体" panose="02010600030101010101" pitchFamily="2" charset="-122"/>
              </a:rPr>
              <a:t>根据对称性选择合适的高斯面</a:t>
            </a:r>
          </a:p>
          <a:p>
            <a:pPr>
              <a:lnSpc>
                <a:spcPct val="120000"/>
              </a:lnSpc>
            </a:pPr>
            <a:r>
              <a:rPr lang="en-US" altLang="zh-CN" sz="3200" b="1" dirty="0">
                <a:solidFill>
                  <a:schemeClr val="tx1"/>
                </a:solidFill>
                <a:latin typeface="宋体" panose="02010600030101010101" pitchFamily="2" charset="-122"/>
              </a:rPr>
              <a:t>- </a:t>
            </a:r>
            <a:r>
              <a:rPr lang="zh-CN" altLang="en-US" sz="3200" b="1" dirty="0">
                <a:solidFill>
                  <a:schemeClr val="tx1"/>
                </a:solidFill>
                <a:latin typeface="宋体" panose="02010600030101010101" pitchFamily="2" charset="-122"/>
              </a:rPr>
              <a:t>应用高斯定理计算</a:t>
            </a:r>
            <a:endParaRPr lang="en-US" altLang="zh-CN" sz="3200" b="1" dirty="0">
              <a:solidFill>
                <a:schemeClr val="tx1"/>
              </a:solidFill>
              <a:latin typeface="宋体" panose="02010600030101010101" pitchFamily="2" charset="-122"/>
            </a:endParaRPr>
          </a:p>
        </p:txBody>
      </p:sp>
      <p:sp>
        <p:nvSpPr>
          <p:cNvPr id="6" name="Text Box 3">
            <a:extLst>
              <a:ext uri="{FF2B5EF4-FFF2-40B4-BE49-F238E27FC236}">
                <a16:creationId xmlns:a16="http://schemas.microsoft.com/office/drawing/2014/main" id="{0C583E83-73B6-4D74-5CBD-4F4063FC5B3A}"/>
              </a:ext>
            </a:extLst>
          </p:cNvPr>
          <p:cNvSpPr txBox="1"/>
          <p:nvPr/>
        </p:nvSpPr>
        <p:spPr>
          <a:xfrm>
            <a:off x="1066800" y="2733176"/>
            <a:ext cx="7772400" cy="676275"/>
          </a:xfrm>
          <a:prstGeom prst="rect">
            <a:avLst/>
          </a:prstGeom>
          <a:noFill/>
          <a:ln w="9525">
            <a:noFill/>
          </a:ln>
        </p:spPr>
        <p:txBody>
          <a:bodyPr>
            <a:spAutoFit/>
          </a:bodyPr>
          <a:lstStyle/>
          <a:p>
            <a:pPr>
              <a:lnSpc>
                <a:spcPct val="120000"/>
              </a:lnSpc>
            </a:pPr>
            <a:r>
              <a:rPr lang="en-US" altLang="zh-CN" sz="3200" b="1" dirty="0">
                <a:solidFill>
                  <a:schemeClr val="tx1"/>
                </a:solidFill>
                <a:latin typeface="宋体" panose="02010600030101010101" pitchFamily="2" charset="-122"/>
              </a:rPr>
              <a:t>   </a:t>
            </a:r>
            <a:r>
              <a:rPr lang="zh-CN" altLang="en-US" sz="3200" b="1" dirty="0">
                <a:solidFill>
                  <a:schemeClr val="tx1"/>
                </a:solidFill>
                <a:latin typeface="宋体" panose="02010600030101010101" pitchFamily="2" charset="-122"/>
              </a:rPr>
              <a:t>用高斯定理求电场强度的一般步骤为：</a:t>
            </a:r>
          </a:p>
        </p:txBody>
      </p:sp>
      <p:sp>
        <p:nvSpPr>
          <p:cNvPr id="7" name="标题 3">
            <a:extLst>
              <a:ext uri="{FF2B5EF4-FFF2-40B4-BE49-F238E27FC236}">
                <a16:creationId xmlns:a16="http://schemas.microsoft.com/office/drawing/2014/main" id="{D84A8E18-EE46-53D6-5894-32C442BB1219}"/>
              </a:ext>
            </a:extLst>
          </p:cNvPr>
          <p:cNvSpPr txBox="1">
            <a:spLocks/>
          </p:cNvSpPr>
          <p:nvPr/>
        </p:nvSpPr>
        <p:spPr>
          <a:xfrm>
            <a:off x="417224" y="538261"/>
            <a:ext cx="9339370" cy="1452268"/>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571500" indent="-571500">
              <a:buFont typeface="Wingdings" panose="05000000000000000000" pitchFamily="2" charset="2"/>
              <a:buChar char="q"/>
            </a:pPr>
            <a:r>
              <a:rPr lang="zh-CN" altLang="en-US" sz="3600" b="1" dirty="0">
                <a:solidFill>
                  <a:srgbClr val="0066FF"/>
                </a:solidFill>
                <a:latin typeface="华文楷体" panose="02010600040101010101" pitchFamily="2" charset="-122"/>
                <a:ea typeface="华文楷体" panose="02010600040101010101" pitchFamily="2" charset="-122"/>
              </a:rPr>
              <a:t>利用高斯定律求静电场的分布</a:t>
            </a:r>
          </a:p>
        </p:txBody>
      </p:sp>
      <mc:AlternateContent xmlns:mc="http://schemas.openxmlformats.org/markup-compatibility/2006" xmlns:a14="http://schemas.microsoft.com/office/drawing/2010/main">
        <mc:Choice Requires="a14">
          <p:sp>
            <p:nvSpPr>
              <p:cNvPr id="8" name="标题 1">
                <a:extLst>
                  <a:ext uri="{FF2B5EF4-FFF2-40B4-BE49-F238E27FC236}">
                    <a16:creationId xmlns:a16="http://schemas.microsoft.com/office/drawing/2014/main" id="{C66CA951-D579-615F-87D3-995F67BE10A7}"/>
                  </a:ext>
                </a:extLst>
              </p:cNvPr>
              <p:cNvSpPr txBox="1">
                <a:spLocks/>
              </p:cNvSpPr>
              <p:nvPr/>
            </p:nvSpPr>
            <p:spPr>
              <a:xfrm>
                <a:off x="3048773" y="1374586"/>
                <a:ext cx="5301753"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chemeClr val="tx1"/>
                              </a:solidFill>
                              <a:latin typeface="Cambria Math" panose="02040503050406030204" pitchFamily="18" charset="0"/>
                            </a:rPr>
                          </m:ctrlPr>
                        </m:sSubPr>
                        <m:e>
                          <m:r>
                            <a:rPr lang="zh-CN" altLang="en-US" sz="3200" i="1">
                              <a:solidFill>
                                <a:schemeClr val="tx1"/>
                              </a:solidFill>
                              <a:latin typeface="Cambria Math" panose="02040503050406030204" pitchFamily="18" charset="0"/>
                            </a:rPr>
                            <m:t>𝚽</m:t>
                          </m:r>
                        </m:e>
                        <m:sub>
                          <m:r>
                            <a:rPr lang="en-US" altLang="zh-CN" sz="3200" i="1">
                              <a:solidFill>
                                <a:schemeClr val="tx1"/>
                              </a:solidFill>
                              <a:latin typeface="Cambria Math" panose="02040503050406030204" pitchFamily="18" charset="0"/>
                            </a:rPr>
                            <m:t>𝒆</m:t>
                          </m:r>
                        </m:sub>
                      </m:sSub>
                      <m:r>
                        <a:rPr lang="en-US" altLang="zh-CN" sz="3200" i="1">
                          <a:solidFill>
                            <a:schemeClr val="tx1"/>
                          </a:solidFill>
                          <a:latin typeface="Cambria Math" panose="02040503050406030204" pitchFamily="18" charset="0"/>
                        </a:rPr>
                        <m:t>=</m:t>
                      </m:r>
                      <m:nary>
                        <m:naryPr>
                          <m:chr m:val="∯"/>
                          <m:ctrlPr>
                            <a:rPr lang="en-US" altLang="zh-CN" sz="3200" i="1">
                              <a:solidFill>
                                <a:schemeClr val="tx1"/>
                              </a:solidFill>
                              <a:latin typeface="Cambria Math" panose="02040503050406030204" pitchFamily="18" charset="0"/>
                            </a:rPr>
                          </m:ctrlPr>
                        </m:naryPr>
                        <m:sub>
                          <m:r>
                            <m:rPr>
                              <m:brk m:alnAt="23"/>
                            </m:rPr>
                            <a:rPr lang="en-US" altLang="zh-CN" sz="3200" i="1">
                              <a:solidFill>
                                <a:schemeClr val="tx1"/>
                              </a:solidFill>
                              <a:latin typeface="Cambria Math" panose="02040503050406030204" pitchFamily="18" charset="0"/>
                            </a:rPr>
                            <m:t>𝑺</m:t>
                          </m:r>
                        </m:sub>
                        <m:sup/>
                        <m:e>
                          <m:acc>
                            <m:accPr>
                              <m:chr m:val="⃗"/>
                              <m:ctrlPr>
                                <a:rPr lang="en-US" altLang="zh-CN" sz="3200" i="1">
                                  <a:solidFill>
                                    <a:schemeClr val="tx1"/>
                                  </a:solidFill>
                                  <a:latin typeface="Cambria Math" panose="02040503050406030204" pitchFamily="18" charset="0"/>
                                </a:rPr>
                              </m:ctrlPr>
                            </m:accPr>
                            <m:e>
                              <m:r>
                                <a:rPr lang="en-US" altLang="zh-CN" sz="3200" i="1">
                                  <a:solidFill>
                                    <a:schemeClr val="tx1"/>
                                  </a:solidFill>
                                  <a:latin typeface="Cambria Math" panose="02040503050406030204" pitchFamily="18" charset="0"/>
                                </a:rPr>
                                <m:t>𝑬</m:t>
                              </m:r>
                            </m:e>
                          </m:acc>
                          <m:r>
                            <a:rPr lang="en-US" altLang="zh-CN" sz="3200" i="1">
                              <a:solidFill>
                                <a:schemeClr val="tx1"/>
                              </a:solidFill>
                              <a:latin typeface="Cambria Math" panose="02040503050406030204" pitchFamily="18" charset="0"/>
                              <a:ea typeface="Cambria Math" panose="02040503050406030204" pitchFamily="18" charset="0"/>
                            </a:rPr>
                            <m:t>∙</m:t>
                          </m:r>
                          <m:r>
                            <a:rPr lang="en-US" altLang="zh-CN" sz="3200" i="1">
                              <a:solidFill>
                                <a:schemeClr val="tx1"/>
                              </a:solidFill>
                              <a:latin typeface="Cambria Math" panose="02040503050406030204" pitchFamily="18" charset="0"/>
                              <a:ea typeface="Cambria Math" panose="02040503050406030204" pitchFamily="18" charset="0"/>
                            </a:rPr>
                            <m:t>𝒅</m:t>
                          </m:r>
                          <m:acc>
                            <m:accPr>
                              <m:chr m:val="⃗"/>
                              <m:ctrlPr>
                                <a:rPr lang="en-US" altLang="zh-CN" sz="3200" i="1">
                                  <a:solidFill>
                                    <a:schemeClr val="tx1"/>
                                  </a:solidFill>
                                  <a:latin typeface="Cambria Math" panose="02040503050406030204" pitchFamily="18" charset="0"/>
                                </a:rPr>
                              </m:ctrlPr>
                            </m:accPr>
                            <m:e>
                              <m:r>
                                <a:rPr lang="en-US" altLang="zh-CN" sz="3200" i="1">
                                  <a:solidFill>
                                    <a:schemeClr val="tx1"/>
                                  </a:solidFill>
                                  <a:latin typeface="Cambria Math" panose="02040503050406030204" pitchFamily="18" charset="0"/>
                                </a:rPr>
                                <m:t>𝑺</m:t>
                              </m:r>
                            </m:e>
                          </m:acc>
                          <m:r>
                            <a:rPr lang="en-US" altLang="zh-CN" sz="320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i="1">
                                  <a:solidFill>
                                    <a:schemeClr val="tx1"/>
                                  </a:solidFill>
                                  <a:latin typeface="Cambria Math" panose="02040503050406030204" pitchFamily="18" charset="0"/>
                                </a:rPr>
                                <m:t>𝟏</m:t>
                              </m:r>
                            </m:num>
                            <m:den>
                              <m:sSub>
                                <m:sSubPr>
                                  <m:ctrlPr>
                                    <a:rPr lang="en-US" altLang="zh-CN" sz="3200" i="1">
                                      <a:solidFill>
                                        <a:schemeClr val="tx1"/>
                                      </a:solidFill>
                                      <a:latin typeface="Cambria Math" panose="02040503050406030204" pitchFamily="18" charset="0"/>
                                    </a:rPr>
                                  </m:ctrlPr>
                                </m:sSubPr>
                                <m:e>
                                  <m:r>
                                    <a:rPr lang="zh-CN" altLang="en-US" sz="3200" i="1">
                                      <a:solidFill>
                                        <a:schemeClr val="tx1"/>
                                      </a:solidFill>
                                      <a:latin typeface="Cambria Math" panose="02040503050406030204" pitchFamily="18" charset="0"/>
                                    </a:rPr>
                                    <m:t>𝜺</m:t>
                                  </m:r>
                                </m:e>
                                <m:sub>
                                  <m:r>
                                    <a:rPr lang="en-US" altLang="zh-CN" sz="3200" i="1">
                                      <a:solidFill>
                                        <a:schemeClr val="tx1"/>
                                      </a:solidFill>
                                      <a:latin typeface="Cambria Math" panose="02040503050406030204" pitchFamily="18" charset="0"/>
                                    </a:rPr>
                                    <m:t>𝟎</m:t>
                                  </m:r>
                                </m:sub>
                              </m:sSub>
                            </m:den>
                          </m:f>
                          <m:nary>
                            <m:naryPr>
                              <m:chr m:val="∑"/>
                              <m:supHide m:val="on"/>
                              <m:ctrlPr>
                                <a:rPr lang="en-US" altLang="zh-CN" sz="3200" i="1">
                                  <a:solidFill>
                                    <a:schemeClr val="tx1"/>
                                  </a:solidFill>
                                  <a:latin typeface="Cambria Math" panose="02040503050406030204" pitchFamily="18" charset="0"/>
                                </a:rPr>
                              </m:ctrlPr>
                            </m:naryPr>
                            <m:sub>
                              <m:r>
                                <m:rPr>
                                  <m:brk m:alnAt="7"/>
                                </m:rPr>
                                <a:rPr lang="en-US" altLang="zh-CN" sz="3200" i="1">
                                  <a:solidFill>
                                    <a:schemeClr val="tx1"/>
                                  </a:solidFill>
                                  <a:latin typeface="Cambria Math" panose="02040503050406030204" pitchFamily="18" charset="0"/>
                                </a:rPr>
                                <m:t>𝑺</m:t>
                              </m:r>
                              <m:r>
                                <m:rPr>
                                  <m:brk m:alnAt="7"/>
                                </m:rPr>
                                <a:rPr lang="zh-CN" altLang="en-US" sz="3200" i="1">
                                  <a:solidFill>
                                    <a:schemeClr val="tx1"/>
                                  </a:solidFill>
                                  <a:latin typeface="Cambria Math" panose="02040503050406030204" pitchFamily="18" charset="0"/>
                                </a:rPr>
                                <m:t>内</m:t>
                              </m:r>
                            </m:sub>
                            <m:sup/>
                            <m:e>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𝒒</m:t>
                                  </m:r>
                                </m:e>
                                <m:sub>
                                  <m:r>
                                    <a:rPr lang="en-US" altLang="zh-CN" sz="3200" i="1">
                                      <a:solidFill>
                                        <a:schemeClr val="tx1"/>
                                      </a:solidFill>
                                      <a:latin typeface="Cambria Math" panose="02040503050406030204" pitchFamily="18" charset="0"/>
                                    </a:rPr>
                                    <m:t>𝒊</m:t>
                                  </m:r>
                                </m:sub>
                              </m:sSub>
                            </m:e>
                          </m:nary>
                        </m:e>
                      </m:nary>
                    </m:oMath>
                  </m:oMathPara>
                </a14:m>
                <a:endParaRPr lang="zh-CN" altLang="en-US" sz="3200" dirty="0">
                  <a:solidFill>
                    <a:schemeClr val="tx1"/>
                  </a:solidFill>
                </a:endParaRPr>
              </a:p>
            </p:txBody>
          </p:sp>
        </mc:Choice>
        <mc:Fallback xmlns="">
          <p:sp>
            <p:nvSpPr>
              <p:cNvPr id="8" name="标题 1">
                <a:extLst>
                  <a:ext uri="{FF2B5EF4-FFF2-40B4-BE49-F238E27FC236}">
                    <a16:creationId xmlns:a16="http://schemas.microsoft.com/office/drawing/2014/main" id="{C66CA951-D579-615F-87D3-995F67BE10A7}"/>
                  </a:ext>
                </a:extLst>
              </p:cNvPr>
              <p:cNvSpPr txBox="1">
                <a:spLocks noRot="1" noChangeAspect="1" noMove="1" noResize="1" noEditPoints="1" noAdjustHandles="1" noChangeArrowheads="1" noChangeShapeType="1" noTextEdit="1"/>
              </p:cNvSpPr>
              <p:nvPr/>
            </p:nvSpPr>
            <p:spPr>
              <a:xfrm>
                <a:off x="3048773" y="1374586"/>
                <a:ext cx="5301753" cy="1325563"/>
              </a:xfrm>
              <a:prstGeom prst="rect">
                <a:avLst/>
              </a:prstGeom>
              <a:blipFill>
                <a:blip r:embed="rId2"/>
                <a:stretch>
                  <a:fillRect b="-1376"/>
                </a:stretch>
              </a:blipFill>
            </p:spPr>
            <p:txBody>
              <a:bodyPr/>
              <a:lstStyle/>
              <a:p>
                <a:r>
                  <a:rPr lang="en-US">
                    <a:noFill/>
                  </a:rPr>
                  <a:t> </a:t>
                </a:r>
              </a:p>
            </p:txBody>
          </p:sp>
        </mc:Fallback>
      </mc:AlternateContent>
    </p:spTree>
    <p:extLst>
      <p:ext uri="{BB962C8B-B14F-4D97-AF65-F5344CB8AC3E}">
        <p14:creationId xmlns:p14="http://schemas.microsoft.com/office/powerpoint/2010/main" val="2101559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4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out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3">
            <a:extLst>
              <a:ext uri="{FF2B5EF4-FFF2-40B4-BE49-F238E27FC236}">
                <a16:creationId xmlns:a16="http://schemas.microsoft.com/office/drawing/2014/main" id="{A1DA2F2B-A8C3-4296-A996-81A63ED3D6D2}"/>
              </a:ext>
            </a:extLst>
          </p:cNvPr>
          <p:cNvSpPr>
            <a:spLocks noGrp="1"/>
          </p:cNvSpPr>
          <p:nvPr>
            <p:ph type="title"/>
          </p:nvPr>
        </p:nvSpPr>
        <p:spPr>
          <a:xfrm>
            <a:off x="554384" y="134018"/>
            <a:ext cx="9339370" cy="1452268"/>
          </a:xfrm>
        </p:spPr>
        <p:txBody>
          <a:bodyPr>
            <a:normAutofit/>
          </a:bodyPr>
          <a:lstStyle/>
          <a:p>
            <a:pPr marL="571500" indent="-571500">
              <a:buFont typeface="Wingdings" panose="05000000000000000000" pitchFamily="2" charset="2"/>
              <a:buChar char="q"/>
            </a:pPr>
            <a:r>
              <a:rPr lang="zh-CN" altLang="en-US" sz="3600" b="1" dirty="0">
                <a:solidFill>
                  <a:srgbClr val="0066FF"/>
                </a:solidFill>
                <a:latin typeface="华文楷体" panose="02010600040101010101" pitchFamily="2" charset="-122"/>
                <a:ea typeface="华文楷体" panose="02010600040101010101" pitchFamily="2" charset="-122"/>
              </a:rPr>
              <a:t>利用高斯定律求静电场的分布</a:t>
            </a:r>
          </a:p>
        </p:txBody>
      </p:sp>
      <p:graphicFrame>
        <p:nvGraphicFramePr>
          <p:cNvPr id="2" name="表格 1"/>
          <p:cNvGraphicFramePr>
            <a:graphicFrameLocks noGrp="1"/>
          </p:cNvGraphicFramePr>
          <p:nvPr>
            <p:extLst>
              <p:ext uri="{D42A27DB-BD31-4B8C-83A1-F6EECF244321}">
                <p14:modId xmlns:p14="http://schemas.microsoft.com/office/powerpoint/2010/main" val="4128308695"/>
              </p:ext>
            </p:extLst>
          </p:nvPr>
        </p:nvGraphicFramePr>
        <p:xfrm>
          <a:off x="2052807" y="3065921"/>
          <a:ext cx="7560840" cy="3443021"/>
        </p:xfrm>
        <a:graphic>
          <a:graphicData uri="http://schemas.openxmlformats.org/drawingml/2006/table">
            <a:tbl>
              <a:tblPr firstRow="1" bandRow="1">
                <a:tableStyleId>{5C22544A-7EE6-4342-B048-85BDC9FD1C3A}</a:tableStyleId>
              </a:tblPr>
              <a:tblGrid>
                <a:gridCol w="2520280">
                  <a:extLst>
                    <a:ext uri="{9D8B030D-6E8A-4147-A177-3AD203B41FA5}">
                      <a16:colId xmlns:a16="http://schemas.microsoft.com/office/drawing/2014/main" val="508996438"/>
                    </a:ext>
                  </a:extLst>
                </a:gridCol>
                <a:gridCol w="2520280">
                  <a:extLst>
                    <a:ext uri="{9D8B030D-6E8A-4147-A177-3AD203B41FA5}">
                      <a16:colId xmlns:a16="http://schemas.microsoft.com/office/drawing/2014/main" val="1439510101"/>
                    </a:ext>
                  </a:extLst>
                </a:gridCol>
                <a:gridCol w="2520280">
                  <a:extLst>
                    <a:ext uri="{9D8B030D-6E8A-4147-A177-3AD203B41FA5}">
                      <a16:colId xmlns:a16="http://schemas.microsoft.com/office/drawing/2014/main" val="3575640936"/>
                    </a:ext>
                  </a:extLst>
                </a:gridCol>
              </a:tblGrid>
              <a:tr h="655836">
                <a:tc gridSpan="3">
                  <a:txBody>
                    <a:bodyPr/>
                    <a:lstStyle/>
                    <a:p>
                      <a:pPr algn="ctr"/>
                      <a:r>
                        <a:rPr kumimoji="0" lang="zh-CN" altLang="en-US" sz="2800" b="0" i="0" u="none" strike="noStrike" kern="1200" cap="none" spc="0" normalizeH="0" baseline="0" noProof="0" dirty="0">
                          <a:ln>
                            <a:noFill/>
                          </a:ln>
                          <a:solidFill>
                            <a:srgbClr val="000000"/>
                          </a:solidFill>
                          <a:effectLst/>
                          <a:uLnTx/>
                          <a:uFillTx/>
                          <a:latin typeface="+mn-ea"/>
                          <a:ea typeface="+mn-ea"/>
                          <a:cs typeface="Times New Roman" panose="02020603050405020304" pitchFamily="18" charset="0"/>
                        </a:rPr>
                        <a:t>电荷的对称分布</a:t>
                      </a:r>
                      <a:endParaRPr lang="zh-CN" altLang="en-US" sz="2800" b="0"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endParaRPr lang="zh-CN" altLang="en-US" dirty="0"/>
                    </a:p>
                  </a:txBody>
                  <a:tcPr/>
                </a:tc>
                <a:tc hMerge="1">
                  <a:txBody>
                    <a:bodyPr/>
                    <a:lstStyle/>
                    <a:p>
                      <a:endParaRPr lang="zh-CN" altLang="en-US" dirty="0"/>
                    </a:p>
                  </a:txBody>
                  <a:tcPr/>
                </a:tc>
                <a:extLst>
                  <a:ext uri="{0D108BD9-81ED-4DB2-BD59-A6C34878D82A}">
                    <a16:rowId xmlns:a16="http://schemas.microsoft.com/office/drawing/2014/main" val="3116503345"/>
                  </a:ext>
                </a:extLst>
              </a:tr>
              <a:tr h="562145">
                <a:tc>
                  <a:txBody>
                    <a:bodyPr/>
                    <a:lstStyle/>
                    <a:p>
                      <a:pPr algn="ctr"/>
                      <a:r>
                        <a:rPr kumimoji="0" lang="zh-CN" altLang="en-US" sz="2800" b="0" i="0" u="none" strike="noStrike" kern="1200" cap="none" spc="0" normalizeH="0" baseline="0" noProof="0" dirty="0">
                          <a:ln>
                            <a:noFill/>
                          </a:ln>
                          <a:solidFill>
                            <a:srgbClr val="000000"/>
                          </a:solidFill>
                          <a:effectLst/>
                          <a:uLnTx/>
                          <a:uFillTx/>
                          <a:latin typeface="+mn-ea"/>
                          <a:ea typeface="+mn-ea"/>
                          <a:cs typeface="Times New Roman" panose="02020603050405020304" pitchFamily="18" charset="0"/>
                        </a:rPr>
                        <a:t> 球对称 </a:t>
                      </a:r>
                      <a:endParaRPr lang="zh-CN" altLang="en-US" sz="2800" b="0"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800" b="0" dirty="0">
                          <a:latin typeface="+mn-ea"/>
                          <a:ea typeface="+mn-ea"/>
                          <a:cs typeface="Times New Roman" panose="02020603050405020304" pitchFamily="18" charset="0"/>
                        </a:rPr>
                        <a:t>柱对称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zh-CN" altLang="en-US" sz="2800" b="0" dirty="0">
                          <a:latin typeface="+mn-ea"/>
                          <a:ea typeface="+mn-ea"/>
                          <a:cs typeface="Times New Roman" panose="02020603050405020304" pitchFamily="18" charset="0"/>
                        </a:rPr>
                        <a:t>面对称</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98344672"/>
                  </a:ext>
                </a:extLst>
              </a:tr>
              <a:tr h="2157396">
                <a:tc>
                  <a:txBody>
                    <a:bodyPr/>
                    <a:lstStyle/>
                    <a:p>
                      <a:pPr algn="ctr">
                        <a:spcBef>
                          <a:spcPct val="50000"/>
                        </a:spcBef>
                      </a:pPr>
                      <a:r>
                        <a:rPr lang="zh-CN" altLang="en-US" sz="2800" b="0" dirty="0">
                          <a:solidFill>
                            <a:srgbClr val="FF0000"/>
                          </a:solidFill>
                          <a:latin typeface="+mn-ea"/>
                          <a:ea typeface="+mn-ea"/>
                          <a:cs typeface="Times New Roman" panose="02020603050405020304" pitchFamily="18" charset="0"/>
                        </a:rPr>
                        <a:t>点电荷</a:t>
                      </a:r>
                      <a:endParaRPr lang="en-US" altLang="zh-CN" sz="2800" b="0" dirty="0">
                        <a:solidFill>
                          <a:srgbClr val="FF0000"/>
                        </a:solidFill>
                        <a:latin typeface="+mn-ea"/>
                        <a:ea typeface="+mn-ea"/>
                        <a:cs typeface="Times New Roman" panose="02020603050405020304" pitchFamily="18" charset="0"/>
                      </a:endParaRPr>
                    </a:p>
                    <a:p>
                      <a:pPr algn="ctr">
                        <a:spcBef>
                          <a:spcPct val="50000"/>
                        </a:spcBef>
                      </a:pPr>
                      <a:r>
                        <a:rPr lang="zh-CN" altLang="en-US" sz="2800" b="0" dirty="0">
                          <a:solidFill>
                            <a:srgbClr val="FF0000"/>
                          </a:solidFill>
                          <a:latin typeface="+mn-ea"/>
                          <a:ea typeface="+mn-ea"/>
                          <a:cs typeface="Times New Roman" panose="02020603050405020304" pitchFamily="18" charset="0"/>
                        </a:rPr>
                        <a:t>球体</a:t>
                      </a:r>
                    </a:p>
                    <a:p>
                      <a:pPr algn="ctr">
                        <a:spcBef>
                          <a:spcPct val="50000"/>
                        </a:spcBef>
                      </a:pPr>
                      <a:r>
                        <a:rPr lang="zh-CN" altLang="en-US" sz="2800" b="0" dirty="0">
                          <a:solidFill>
                            <a:srgbClr val="FF0000"/>
                          </a:solidFill>
                          <a:latin typeface="+mn-ea"/>
                          <a:ea typeface="+mn-ea"/>
                          <a:cs typeface="Times New Roman" panose="02020603050405020304" pitchFamily="18" charset="0"/>
                        </a:rPr>
                        <a:t>球面</a:t>
                      </a:r>
                      <a:endParaRPr lang="en-US" altLang="zh-CN" sz="2800" b="0" dirty="0">
                        <a:solidFill>
                          <a:srgbClr val="FF0000"/>
                        </a:solidFill>
                        <a:latin typeface="+mn-ea"/>
                        <a:ea typeface="+mn-ea"/>
                        <a:cs typeface="Times New Roman" panose="02020603050405020304" pitchFamily="18" charset="0"/>
                      </a:endParaRPr>
                    </a:p>
                    <a:p>
                      <a:pPr algn="ctr"/>
                      <a:endParaRPr lang="zh-CN" altLang="en-US" sz="2800" b="0"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ct val="50000"/>
                        </a:spcBef>
                      </a:pPr>
                      <a:r>
                        <a:rPr lang="zh-CN" altLang="en-US" sz="2800" b="0" dirty="0">
                          <a:latin typeface="+mn-ea"/>
                          <a:ea typeface="+mn-ea"/>
                          <a:cs typeface="Times New Roman" panose="02020603050405020304" pitchFamily="18" charset="0"/>
                        </a:rPr>
                        <a:t>无限长：</a:t>
                      </a:r>
                    </a:p>
                    <a:p>
                      <a:pPr algn="ctr">
                        <a:spcBef>
                          <a:spcPct val="50000"/>
                        </a:spcBef>
                      </a:pPr>
                      <a:r>
                        <a:rPr lang="zh-CN" altLang="en-US" sz="2800" b="0" dirty="0">
                          <a:solidFill>
                            <a:srgbClr val="FF0000"/>
                          </a:solidFill>
                          <a:latin typeface="+mn-ea"/>
                          <a:ea typeface="+mn-ea"/>
                          <a:cs typeface="Times New Roman" panose="02020603050405020304" pitchFamily="18" charset="0"/>
                        </a:rPr>
                        <a:t>柱体</a:t>
                      </a:r>
                    </a:p>
                    <a:p>
                      <a:pPr algn="ctr">
                        <a:spcBef>
                          <a:spcPct val="50000"/>
                        </a:spcBef>
                      </a:pPr>
                      <a:r>
                        <a:rPr lang="zh-CN" altLang="en-US" sz="2800" b="0" dirty="0">
                          <a:solidFill>
                            <a:srgbClr val="FF0000"/>
                          </a:solidFill>
                          <a:latin typeface="+mn-ea"/>
                          <a:ea typeface="+mn-ea"/>
                          <a:cs typeface="Times New Roman" panose="02020603050405020304" pitchFamily="18" charset="0"/>
                        </a:rPr>
                        <a:t>柱面</a:t>
                      </a:r>
                    </a:p>
                    <a:p>
                      <a:pPr algn="ctr"/>
                      <a:endParaRPr lang="zh-CN" altLang="en-US" sz="2800" b="0" dirty="0">
                        <a:latin typeface="+mn-ea"/>
                        <a:ea typeface="+mn-ea"/>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spcBef>
                          <a:spcPct val="50000"/>
                        </a:spcBef>
                      </a:pPr>
                      <a:r>
                        <a:rPr lang="zh-CN" altLang="en-US" sz="2800" b="0" dirty="0">
                          <a:latin typeface="+mn-ea"/>
                          <a:ea typeface="+mn-ea"/>
                          <a:cs typeface="Times New Roman" panose="02020603050405020304" pitchFamily="18" charset="0"/>
                        </a:rPr>
                        <a:t>无限大：</a:t>
                      </a:r>
                    </a:p>
                    <a:p>
                      <a:pPr algn="ctr">
                        <a:spcBef>
                          <a:spcPct val="50000"/>
                        </a:spcBef>
                      </a:pPr>
                      <a:r>
                        <a:rPr lang="zh-CN" altLang="en-US" sz="2800" b="0" dirty="0">
                          <a:solidFill>
                            <a:srgbClr val="FF0000"/>
                          </a:solidFill>
                          <a:latin typeface="+mn-ea"/>
                          <a:ea typeface="+mn-ea"/>
                          <a:cs typeface="Times New Roman" panose="02020603050405020304" pitchFamily="18" charset="0"/>
                        </a:rPr>
                        <a:t>平板</a:t>
                      </a:r>
                    </a:p>
                    <a:p>
                      <a:pPr algn="ctr">
                        <a:spcBef>
                          <a:spcPct val="50000"/>
                        </a:spcBef>
                      </a:pPr>
                      <a:r>
                        <a:rPr lang="zh-CN" altLang="en-US" sz="2800" b="0" dirty="0">
                          <a:solidFill>
                            <a:srgbClr val="FF0000"/>
                          </a:solidFill>
                          <a:latin typeface="+mn-ea"/>
                          <a:ea typeface="+mn-ea"/>
                          <a:cs typeface="Times New Roman" panose="02020603050405020304" pitchFamily="18" charset="0"/>
                        </a:rPr>
                        <a:t>平面</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70722863"/>
                  </a:ext>
                </a:extLst>
              </a:tr>
            </a:tbl>
          </a:graphicData>
        </a:graphic>
      </p:graphicFrame>
      <mc:AlternateContent xmlns:mc="http://schemas.openxmlformats.org/markup-compatibility/2006" xmlns:a14="http://schemas.microsoft.com/office/drawing/2010/main">
        <mc:Choice Requires="a14">
          <p:sp>
            <p:nvSpPr>
              <p:cNvPr id="3" name="标题 1">
                <a:extLst>
                  <a:ext uri="{FF2B5EF4-FFF2-40B4-BE49-F238E27FC236}">
                    <a16:creationId xmlns:a16="http://schemas.microsoft.com/office/drawing/2014/main" id="{F5A2D16C-24A0-DDF3-37A6-48A6AD89978A}"/>
                  </a:ext>
                </a:extLst>
              </p:cNvPr>
              <p:cNvSpPr txBox="1">
                <a:spLocks/>
              </p:cNvSpPr>
              <p:nvPr/>
            </p:nvSpPr>
            <p:spPr>
              <a:xfrm>
                <a:off x="3048773" y="1374586"/>
                <a:ext cx="5301753" cy="1325563"/>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14:m>
                  <m:oMathPara xmlns:m="http://schemas.openxmlformats.org/officeDocument/2006/math">
                    <m:oMathParaPr>
                      <m:jc m:val="centerGroup"/>
                    </m:oMathParaPr>
                    <m:oMath xmlns:m="http://schemas.openxmlformats.org/officeDocument/2006/math">
                      <m:sSub>
                        <m:sSubPr>
                          <m:ctrlPr>
                            <a:rPr lang="en-US" altLang="zh-CN" sz="3200" i="1" smtClean="0">
                              <a:solidFill>
                                <a:schemeClr val="tx1"/>
                              </a:solidFill>
                              <a:latin typeface="Cambria Math" panose="02040503050406030204" pitchFamily="18" charset="0"/>
                            </a:rPr>
                          </m:ctrlPr>
                        </m:sSubPr>
                        <m:e>
                          <m:r>
                            <a:rPr lang="zh-CN" altLang="en-US" sz="3200" i="1">
                              <a:solidFill>
                                <a:schemeClr val="tx1"/>
                              </a:solidFill>
                              <a:latin typeface="Cambria Math" panose="02040503050406030204" pitchFamily="18" charset="0"/>
                            </a:rPr>
                            <m:t>𝚽</m:t>
                          </m:r>
                        </m:e>
                        <m:sub>
                          <m:r>
                            <a:rPr lang="en-US" altLang="zh-CN" sz="3200" i="1">
                              <a:solidFill>
                                <a:schemeClr val="tx1"/>
                              </a:solidFill>
                              <a:latin typeface="Cambria Math" panose="02040503050406030204" pitchFamily="18" charset="0"/>
                            </a:rPr>
                            <m:t>𝒆</m:t>
                          </m:r>
                        </m:sub>
                      </m:sSub>
                      <m:r>
                        <a:rPr lang="en-US" altLang="zh-CN" sz="3200" i="1">
                          <a:solidFill>
                            <a:schemeClr val="tx1"/>
                          </a:solidFill>
                          <a:latin typeface="Cambria Math" panose="02040503050406030204" pitchFamily="18" charset="0"/>
                        </a:rPr>
                        <m:t>=</m:t>
                      </m:r>
                      <m:nary>
                        <m:naryPr>
                          <m:chr m:val="∯"/>
                          <m:ctrlPr>
                            <a:rPr lang="en-US" altLang="zh-CN" sz="3200" i="1">
                              <a:solidFill>
                                <a:schemeClr val="tx1"/>
                              </a:solidFill>
                              <a:latin typeface="Cambria Math" panose="02040503050406030204" pitchFamily="18" charset="0"/>
                            </a:rPr>
                          </m:ctrlPr>
                        </m:naryPr>
                        <m:sub>
                          <m:r>
                            <m:rPr>
                              <m:brk m:alnAt="23"/>
                            </m:rPr>
                            <a:rPr lang="en-US" altLang="zh-CN" sz="3200" i="1">
                              <a:solidFill>
                                <a:schemeClr val="tx1"/>
                              </a:solidFill>
                              <a:latin typeface="Cambria Math" panose="02040503050406030204" pitchFamily="18" charset="0"/>
                            </a:rPr>
                            <m:t>𝑺</m:t>
                          </m:r>
                        </m:sub>
                        <m:sup/>
                        <m:e>
                          <m:acc>
                            <m:accPr>
                              <m:chr m:val="⃗"/>
                              <m:ctrlPr>
                                <a:rPr lang="en-US" altLang="zh-CN" sz="3200" i="1">
                                  <a:solidFill>
                                    <a:schemeClr val="tx1"/>
                                  </a:solidFill>
                                  <a:latin typeface="Cambria Math" panose="02040503050406030204" pitchFamily="18" charset="0"/>
                                </a:rPr>
                              </m:ctrlPr>
                            </m:accPr>
                            <m:e>
                              <m:r>
                                <a:rPr lang="en-US" altLang="zh-CN" sz="3200" i="1">
                                  <a:solidFill>
                                    <a:schemeClr val="tx1"/>
                                  </a:solidFill>
                                  <a:latin typeface="Cambria Math" panose="02040503050406030204" pitchFamily="18" charset="0"/>
                                </a:rPr>
                                <m:t>𝑬</m:t>
                              </m:r>
                            </m:e>
                          </m:acc>
                          <m:r>
                            <a:rPr lang="en-US" altLang="zh-CN" sz="3200" i="1">
                              <a:solidFill>
                                <a:schemeClr val="tx1"/>
                              </a:solidFill>
                              <a:latin typeface="Cambria Math" panose="02040503050406030204" pitchFamily="18" charset="0"/>
                              <a:ea typeface="Cambria Math" panose="02040503050406030204" pitchFamily="18" charset="0"/>
                            </a:rPr>
                            <m:t>∙</m:t>
                          </m:r>
                          <m:r>
                            <a:rPr lang="en-US" altLang="zh-CN" sz="3200" i="1">
                              <a:solidFill>
                                <a:schemeClr val="tx1"/>
                              </a:solidFill>
                              <a:latin typeface="Cambria Math" panose="02040503050406030204" pitchFamily="18" charset="0"/>
                              <a:ea typeface="Cambria Math" panose="02040503050406030204" pitchFamily="18" charset="0"/>
                            </a:rPr>
                            <m:t>𝒅</m:t>
                          </m:r>
                          <m:acc>
                            <m:accPr>
                              <m:chr m:val="⃗"/>
                              <m:ctrlPr>
                                <a:rPr lang="en-US" altLang="zh-CN" sz="3200" i="1">
                                  <a:solidFill>
                                    <a:schemeClr val="tx1"/>
                                  </a:solidFill>
                                  <a:latin typeface="Cambria Math" panose="02040503050406030204" pitchFamily="18" charset="0"/>
                                </a:rPr>
                              </m:ctrlPr>
                            </m:accPr>
                            <m:e>
                              <m:r>
                                <a:rPr lang="en-US" altLang="zh-CN" sz="3200" i="1">
                                  <a:solidFill>
                                    <a:schemeClr val="tx1"/>
                                  </a:solidFill>
                                  <a:latin typeface="Cambria Math" panose="02040503050406030204" pitchFamily="18" charset="0"/>
                                </a:rPr>
                                <m:t>𝑺</m:t>
                              </m:r>
                            </m:e>
                          </m:acc>
                          <m:r>
                            <a:rPr lang="en-US" altLang="zh-CN" sz="3200" i="1">
                              <a:solidFill>
                                <a:schemeClr val="tx1"/>
                              </a:solidFill>
                              <a:latin typeface="Cambria Math" panose="02040503050406030204" pitchFamily="18" charset="0"/>
                            </a:rPr>
                            <m:t>=</m:t>
                          </m:r>
                          <m:f>
                            <m:fPr>
                              <m:ctrlPr>
                                <a:rPr lang="en-US" altLang="zh-CN" sz="3200" i="1">
                                  <a:solidFill>
                                    <a:schemeClr val="tx1"/>
                                  </a:solidFill>
                                  <a:latin typeface="Cambria Math" panose="02040503050406030204" pitchFamily="18" charset="0"/>
                                </a:rPr>
                              </m:ctrlPr>
                            </m:fPr>
                            <m:num>
                              <m:r>
                                <a:rPr lang="en-US" altLang="zh-CN" sz="3200" i="1">
                                  <a:solidFill>
                                    <a:schemeClr val="tx1"/>
                                  </a:solidFill>
                                  <a:latin typeface="Cambria Math" panose="02040503050406030204" pitchFamily="18" charset="0"/>
                                </a:rPr>
                                <m:t>𝟏</m:t>
                              </m:r>
                            </m:num>
                            <m:den>
                              <m:sSub>
                                <m:sSubPr>
                                  <m:ctrlPr>
                                    <a:rPr lang="en-US" altLang="zh-CN" sz="3200" i="1">
                                      <a:solidFill>
                                        <a:schemeClr val="tx1"/>
                                      </a:solidFill>
                                      <a:latin typeface="Cambria Math" panose="02040503050406030204" pitchFamily="18" charset="0"/>
                                    </a:rPr>
                                  </m:ctrlPr>
                                </m:sSubPr>
                                <m:e>
                                  <m:r>
                                    <a:rPr lang="zh-CN" altLang="en-US" sz="3200" i="1">
                                      <a:solidFill>
                                        <a:schemeClr val="tx1"/>
                                      </a:solidFill>
                                      <a:latin typeface="Cambria Math" panose="02040503050406030204" pitchFamily="18" charset="0"/>
                                    </a:rPr>
                                    <m:t>𝜺</m:t>
                                  </m:r>
                                </m:e>
                                <m:sub>
                                  <m:r>
                                    <a:rPr lang="en-US" altLang="zh-CN" sz="3200" i="1">
                                      <a:solidFill>
                                        <a:schemeClr val="tx1"/>
                                      </a:solidFill>
                                      <a:latin typeface="Cambria Math" panose="02040503050406030204" pitchFamily="18" charset="0"/>
                                    </a:rPr>
                                    <m:t>𝟎</m:t>
                                  </m:r>
                                </m:sub>
                              </m:sSub>
                            </m:den>
                          </m:f>
                          <m:nary>
                            <m:naryPr>
                              <m:chr m:val="∑"/>
                              <m:supHide m:val="on"/>
                              <m:ctrlPr>
                                <a:rPr lang="en-US" altLang="zh-CN" sz="3200" i="1">
                                  <a:solidFill>
                                    <a:schemeClr val="tx1"/>
                                  </a:solidFill>
                                  <a:latin typeface="Cambria Math" panose="02040503050406030204" pitchFamily="18" charset="0"/>
                                </a:rPr>
                              </m:ctrlPr>
                            </m:naryPr>
                            <m:sub>
                              <m:r>
                                <m:rPr>
                                  <m:brk m:alnAt="7"/>
                                </m:rPr>
                                <a:rPr lang="en-US" altLang="zh-CN" sz="3200" i="1">
                                  <a:solidFill>
                                    <a:schemeClr val="tx1"/>
                                  </a:solidFill>
                                  <a:latin typeface="Cambria Math" panose="02040503050406030204" pitchFamily="18" charset="0"/>
                                </a:rPr>
                                <m:t>𝑺</m:t>
                              </m:r>
                              <m:r>
                                <m:rPr>
                                  <m:brk m:alnAt="7"/>
                                </m:rPr>
                                <a:rPr lang="zh-CN" altLang="en-US" sz="3200" i="1">
                                  <a:solidFill>
                                    <a:schemeClr val="tx1"/>
                                  </a:solidFill>
                                  <a:latin typeface="Cambria Math" panose="02040503050406030204" pitchFamily="18" charset="0"/>
                                </a:rPr>
                                <m:t>内</m:t>
                              </m:r>
                            </m:sub>
                            <m:sup/>
                            <m:e>
                              <m:sSub>
                                <m:sSubPr>
                                  <m:ctrlPr>
                                    <a:rPr lang="en-US" altLang="zh-CN" sz="3200" i="1">
                                      <a:solidFill>
                                        <a:schemeClr val="tx1"/>
                                      </a:solidFill>
                                      <a:latin typeface="Cambria Math" panose="02040503050406030204" pitchFamily="18" charset="0"/>
                                    </a:rPr>
                                  </m:ctrlPr>
                                </m:sSubPr>
                                <m:e>
                                  <m:r>
                                    <a:rPr lang="en-US" altLang="zh-CN" sz="3200" i="1">
                                      <a:solidFill>
                                        <a:schemeClr val="tx1"/>
                                      </a:solidFill>
                                      <a:latin typeface="Cambria Math" panose="02040503050406030204" pitchFamily="18" charset="0"/>
                                    </a:rPr>
                                    <m:t>𝒒</m:t>
                                  </m:r>
                                </m:e>
                                <m:sub>
                                  <m:r>
                                    <a:rPr lang="en-US" altLang="zh-CN" sz="3200" i="1">
                                      <a:solidFill>
                                        <a:schemeClr val="tx1"/>
                                      </a:solidFill>
                                      <a:latin typeface="Cambria Math" panose="02040503050406030204" pitchFamily="18" charset="0"/>
                                    </a:rPr>
                                    <m:t>𝒊</m:t>
                                  </m:r>
                                </m:sub>
                              </m:sSub>
                            </m:e>
                          </m:nary>
                        </m:e>
                      </m:nary>
                    </m:oMath>
                  </m:oMathPara>
                </a14:m>
                <a:endParaRPr lang="zh-CN" altLang="en-US" sz="3200" dirty="0">
                  <a:solidFill>
                    <a:schemeClr val="tx1"/>
                  </a:solidFill>
                </a:endParaRPr>
              </a:p>
            </p:txBody>
          </p:sp>
        </mc:Choice>
        <mc:Fallback xmlns="">
          <p:sp>
            <p:nvSpPr>
              <p:cNvPr id="3" name="标题 1">
                <a:extLst>
                  <a:ext uri="{FF2B5EF4-FFF2-40B4-BE49-F238E27FC236}">
                    <a16:creationId xmlns:a16="http://schemas.microsoft.com/office/drawing/2014/main" id="{F5A2D16C-24A0-DDF3-37A6-48A6AD89978A}"/>
                  </a:ext>
                </a:extLst>
              </p:cNvPr>
              <p:cNvSpPr txBox="1">
                <a:spLocks noRot="1" noChangeAspect="1" noMove="1" noResize="1" noEditPoints="1" noAdjustHandles="1" noChangeArrowheads="1" noChangeShapeType="1" noTextEdit="1"/>
              </p:cNvSpPr>
              <p:nvPr/>
            </p:nvSpPr>
            <p:spPr>
              <a:xfrm>
                <a:off x="3048773" y="1374586"/>
                <a:ext cx="5301753" cy="1325563"/>
              </a:xfrm>
              <a:prstGeom prst="rect">
                <a:avLst/>
              </a:prstGeom>
              <a:blipFill>
                <a:blip r:embed="rId2"/>
                <a:stretch>
                  <a:fillRect b="-1376"/>
                </a:stretch>
              </a:blipFill>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A077EEE-A5D0-4833-AB6C-15393EA8DC84}"/>
              </a:ext>
            </a:extLst>
          </p:cNvPr>
          <p:cNvSpPr>
            <a:spLocks noGrp="1"/>
          </p:cNvSpPr>
          <p:nvPr>
            <p:ph type="title"/>
          </p:nvPr>
        </p:nvSpPr>
        <p:spPr>
          <a:xfrm>
            <a:off x="862939" y="274740"/>
            <a:ext cx="8280920" cy="1177042"/>
          </a:xfrm>
        </p:spPr>
        <p:txBody>
          <a:bodyPr>
            <a:normAutofit/>
          </a:bodyPr>
          <a:lstStyle/>
          <a:p>
            <a:pPr>
              <a:lnSpc>
                <a:spcPct val="100000"/>
              </a:lnSpc>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例：电荷呈球对称分布时所激发的电场强度</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球面半径为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R</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，总带电量为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q)</a:t>
            </a:r>
            <a:endParaRPr lang="zh-CN" altLang="en-US" sz="4000" dirty="0">
              <a:latin typeface="华文楷体" panose="02010600040101010101" pitchFamily="2" charset="-122"/>
              <a:ea typeface="华文楷体" panose="02010600040101010101" pitchFamily="2" charset="-122"/>
            </a:endParaRPr>
          </a:p>
        </p:txBody>
      </p:sp>
      <p:sp>
        <p:nvSpPr>
          <p:cNvPr id="6" name="内容占位符 5">
            <a:extLst>
              <a:ext uri="{FF2B5EF4-FFF2-40B4-BE49-F238E27FC236}">
                <a16:creationId xmlns:a16="http://schemas.microsoft.com/office/drawing/2014/main" id="{3D38DD61-89A4-49F1-B277-0456FD85A280}"/>
              </a:ext>
            </a:extLst>
          </p:cNvPr>
          <p:cNvSpPr>
            <a:spLocks noGrp="1"/>
          </p:cNvSpPr>
          <p:nvPr>
            <p:ph idx="1"/>
          </p:nvPr>
        </p:nvSpPr>
        <p:spPr>
          <a:xfrm>
            <a:off x="374038" y="2491523"/>
            <a:ext cx="8128708" cy="3167474"/>
          </a:xfrm>
        </p:spPr>
        <p:txBody>
          <a:bodyPr>
            <a:noAutofit/>
          </a:bodyPr>
          <a:lstStyle/>
          <a:p>
            <a:pPr marL="0" indent="0">
              <a:spcBef>
                <a:spcPts val="600"/>
              </a:spcBef>
              <a:buNone/>
            </a:pPr>
            <a:r>
              <a:rPr lang="en-US" altLang="zh-CN" sz="3200" spc="300" dirty="0">
                <a:solidFill>
                  <a:srgbClr val="FF0000"/>
                </a:solidFill>
                <a:latin typeface="华文楷体" panose="02010600040101010101" pitchFamily="2" charset="-122"/>
                <a:ea typeface="华文楷体" panose="02010600040101010101" pitchFamily="2" charset="-122"/>
              </a:rPr>
              <a:t>- </a:t>
            </a:r>
            <a:r>
              <a:rPr lang="zh-CN" altLang="en-US" sz="3200" spc="300" dirty="0">
                <a:solidFill>
                  <a:srgbClr val="FF0000"/>
                </a:solidFill>
                <a:latin typeface="华文楷体" panose="02010600040101010101" pitchFamily="2" charset="-122"/>
                <a:ea typeface="华文楷体" panose="02010600040101010101" pitchFamily="2" charset="-122"/>
              </a:rPr>
              <a:t>高斯面</a:t>
            </a:r>
            <a:r>
              <a:rPr lang="en-US" altLang="zh-CN" sz="3200" spc="300" dirty="0">
                <a:solidFill>
                  <a:srgbClr val="FF0000"/>
                </a:solidFill>
                <a:latin typeface="华文楷体" panose="02010600040101010101" pitchFamily="2" charset="-122"/>
                <a:ea typeface="华文楷体" panose="02010600040101010101" pitchFamily="2" charset="-122"/>
              </a:rPr>
              <a:t>:  </a:t>
            </a:r>
            <a:r>
              <a:rPr lang="zh-CN" altLang="en-US" sz="3200" spc="300" dirty="0">
                <a:latin typeface="华文楷体" panose="02010600040101010101" pitchFamily="2" charset="-122"/>
                <a:ea typeface="华文楷体" panose="02010600040101010101" pitchFamily="2" charset="-122"/>
              </a:rPr>
              <a:t>同心球面</a:t>
            </a:r>
            <a:endParaRPr lang="en-US" altLang="zh-CN" sz="3200" i="1" spc="300" dirty="0">
              <a:latin typeface="华文楷体" panose="02010600040101010101" pitchFamily="2" charset="-122"/>
              <a:ea typeface="华文楷体" panose="02010600040101010101" pitchFamily="2" charset="-122"/>
            </a:endParaRPr>
          </a:p>
          <a:p>
            <a:pPr marL="0" indent="0">
              <a:spcBef>
                <a:spcPts val="600"/>
              </a:spcBef>
              <a:buNone/>
            </a:pPr>
            <a:r>
              <a:rPr lang="en-US" altLang="zh-CN" sz="3200" spc="300" dirty="0">
                <a:solidFill>
                  <a:srgbClr val="FF0000"/>
                </a:solidFill>
                <a:latin typeface="华文楷体" panose="02010600040101010101" pitchFamily="2" charset="-122"/>
                <a:ea typeface="华文楷体" panose="02010600040101010101" pitchFamily="2" charset="-122"/>
              </a:rPr>
              <a:t>- </a:t>
            </a:r>
            <a:r>
              <a:rPr lang="zh-CN" altLang="en-US" sz="3200" spc="300" dirty="0">
                <a:solidFill>
                  <a:srgbClr val="FF0000"/>
                </a:solidFill>
                <a:latin typeface="华文楷体" panose="02010600040101010101" pitchFamily="2" charset="-122"/>
                <a:ea typeface="华文楷体" panose="02010600040101010101" pitchFamily="2" charset="-122"/>
              </a:rPr>
              <a:t>特点：</a:t>
            </a:r>
          </a:p>
          <a:p>
            <a:pPr marL="0" indent="0">
              <a:spcBef>
                <a:spcPts val="600"/>
              </a:spcBef>
              <a:buNone/>
            </a:pPr>
            <a:r>
              <a:rPr lang="en-US" altLang="zh-CN" sz="3200" spc="300" dirty="0">
                <a:latin typeface="华文楷体" panose="02010600040101010101" pitchFamily="2" charset="-122"/>
                <a:ea typeface="华文楷体" panose="02010600040101010101" pitchFamily="2" charset="-122"/>
              </a:rPr>
              <a:t>-</a:t>
            </a:r>
            <a:r>
              <a:rPr lang="zh-CN" altLang="en-US" sz="3200" spc="300" dirty="0">
                <a:latin typeface="华文楷体" panose="02010600040101010101" pitchFamily="2" charset="-122"/>
                <a:ea typeface="华文楷体" panose="02010600040101010101" pitchFamily="2" charset="-122"/>
              </a:rPr>
              <a:t>电场强度大小处处相同</a:t>
            </a:r>
            <a:endParaRPr lang="en-US" altLang="zh-CN" sz="3200" spc="300" dirty="0">
              <a:latin typeface="华文楷体" panose="02010600040101010101" pitchFamily="2" charset="-122"/>
              <a:ea typeface="华文楷体" panose="02010600040101010101" pitchFamily="2" charset="-122"/>
            </a:endParaRPr>
          </a:p>
          <a:p>
            <a:pPr marL="0" indent="0">
              <a:spcBef>
                <a:spcPts val="600"/>
              </a:spcBef>
              <a:buNone/>
            </a:pPr>
            <a:r>
              <a:rPr lang="en-US" altLang="zh-CN" sz="3200" spc="300" dirty="0">
                <a:latin typeface="华文楷体" panose="02010600040101010101" pitchFamily="2" charset="-122"/>
                <a:ea typeface="华文楷体" panose="02010600040101010101" pitchFamily="2" charset="-122"/>
              </a:rPr>
              <a:t>-</a:t>
            </a:r>
            <a:r>
              <a:rPr lang="zh-CN" altLang="en-US" sz="3200" spc="300" dirty="0">
                <a:latin typeface="华文楷体" panose="02010600040101010101" pitchFamily="2" charset="-122"/>
                <a:ea typeface="华文楷体" panose="02010600040101010101" pitchFamily="2" charset="-122"/>
              </a:rPr>
              <a:t>电场强度方向与高斯面法线方向一致</a:t>
            </a:r>
            <a:r>
              <a:rPr lang="en-US" altLang="zh-CN" sz="3200" i="1" spc="300" dirty="0">
                <a:latin typeface="华文楷体" panose="02010600040101010101" pitchFamily="2" charset="-122"/>
                <a:ea typeface="华文楷体" panose="02010600040101010101" pitchFamily="2" charset="-122"/>
              </a:rPr>
              <a:t>.</a:t>
            </a:r>
            <a:endParaRPr lang="zh-CN" altLang="en-US" sz="3200" spc="300" dirty="0">
              <a:latin typeface="华文楷体" panose="02010600040101010101" pitchFamily="2" charset="-122"/>
              <a:ea typeface="华文楷体" panose="02010600040101010101" pitchFamily="2" charset="-122"/>
            </a:endParaRPr>
          </a:p>
        </p:txBody>
      </p:sp>
      <p:grpSp>
        <p:nvGrpSpPr>
          <p:cNvPr id="690178" name="Group 2"/>
          <p:cNvGrpSpPr>
            <a:grpSpLocks/>
          </p:cNvGrpSpPr>
          <p:nvPr/>
        </p:nvGrpSpPr>
        <p:grpSpPr bwMode="auto">
          <a:xfrm>
            <a:off x="7648511" y="1061402"/>
            <a:ext cx="3492500" cy="3467100"/>
            <a:chOff x="3168" y="240"/>
            <a:chExt cx="2592" cy="2592"/>
          </a:xfrm>
        </p:grpSpPr>
        <p:sp>
          <p:nvSpPr>
            <p:cNvPr id="86083" name="Line 3"/>
            <p:cNvSpPr>
              <a:spLocks noChangeShapeType="1"/>
            </p:cNvSpPr>
            <p:nvPr/>
          </p:nvSpPr>
          <p:spPr bwMode="auto">
            <a:xfrm>
              <a:off x="3168" y="1583"/>
              <a:ext cx="2592" cy="0"/>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4" name="Line 4"/>
            <p:cNvSpPr>
              <a:spLocks noChangeShapeType="1"/>
            </p:cNvSpPr>
            <p:nvPr/>
          </p:nvSpPr>
          <p:spPr bwMode="auto">
            <a:xfrm flipV="1">
              <a:off x="3501" y="720"/>
              <a:ext cx="1926" cy="1734"/>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5" name="Line 5"/>
            <p:cNvSpPr>
              <a:spLocks noChangeShapeType="1"/>
            </p:cNvSpPr>
            <p:nvPr/>
          </p:nvSpPr>
          <p:spPr bwMode="auto">
            <a:xfrm flipV="1">
              <a:off x="3246" y="1140"/>
              <a:ext cx="2436" cy="886"/>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6" name="Line 6"/>
            <p:cNvSpPr>
              <a:spLocks noChangeShapeType="1"/>
            </p:cNvSpPr>
            <p:nvPr/>
          </p:nvSpPr>
          <p:spPr bwMode="auto">
            <a:xfrm flipV="1">
              <a:off x="3933" y="428"/>
              <a:ext cx="1054" cy="2368"/>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7" name="Line 7"/>
            <p:cNvSpPr>
              <a:spLocks noChangeShapeType="1"/>
            </p:cNvSpPr>
            <p:nvPr/>
          </p:nvSpPr>
          <p:spPr bwMode="auto">
            <a:xfrm>
              <a:off x="4464" y="240"/>
              <a:ext cx="0" cy="2592"/>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8" name="Line 8"/>
            <p:cNvSpPr>
              <a:spLocks noChangeShapeType="1"/>
            </p:cNvSpPr>
            <p:nvPr/>
          </p:nvSpPr>
          <p:spPr bwMode="auto">
            <a:xfrm flipH="1" flipV="1">
              <a:off x="3456" y="668"/>
              <a:ext cx="1926" cy="1734"/>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9" name="Line 9"/>
            <p:cNvSpPr>
              <a:spLocks noChangeShapeType="1"/>
            </p:cNvSpPr>
            <p:nvPr/>
          </p:nvSpPr>
          <p:spPr bwMode="auto">
            <a:xfrm flipH="1" flipV="1">
              <a:off x="3246" y="1140"/>
              <a:ext cx="2436" cy="886"/>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90" name="Line 10"/>
            <p:cNvSpPr>
              <a:spLocks noChangeShapeType="1"/>
            </p:cNvSpPr>
            <p:nvPr/>
          </p:nvSpPr>
          <p:spPr bwMode="auto">
            <a:xfrm flipH="1" flipV="1">
              <a:off x="3928" y="351"/>
              <a:ext cx="1054" cy="2368"/>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690187" name="Oval 11"/>
          <p:cNvSpPr>
            <a:spLocks noChangeArrowheads="1"/>
          </p:cNvSpPr>
          <p:nvPr/>
        </p:nvSpPr>
        <p:spPr bwMode="auto">
          <a:xfrm>
            <a:off x="7881874" y="1421766"/>
            <a:ext cx="2952750" cy="2809875"/>
          </a:xfrm>
          <a:prstGeom prst="ellipse">
            <a:avLst/>
          </a:prstGeom>
          <a:noFill/>
          <a:ln w="38100">
            <a:solidFill>
              <a:srgbClr val="0000FF"/>
            </a:solidFill>
            <a:prstDash val="dash"/>
            <a:round/>
            <a:headEnd/>
            <a:tailEnd/>
          </a:ln>
          <a:effectLst/>
          <a:extLst>
            <a:ext uri="{909E8E84-426E-40DD-AFC4-6F175D3DCCD1}">
              <a14:hiddenFill xmlns:a14="http://schemas.microsoft.com/office/drawing/2010/main">
                <a:solidFill>
                  <a:srgbClr val="FFCC66">
                    <a:alpha val="63136"/>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ea typeface="华文新魏" panose="02010800040101010101" pitchFamily="2" charset="-122"/>
            </a:endParaRPr>
          </a:p>
        </p:txBody>
      </p:sp>
      <p:sp>
        <p:nvSpPr>
          <p:cNvPr id="690188" name="Oval 12"/>
          <p:cNvSpPr>
            <a:spLocks noChangeArrowheads="1"/>
          </p:cNvSpPr>
          <p:nvPr/>
        </p:nvSpPr>
        <p:spPr bwMode="auto">
          <a:xfrm>
            <a:off x="8242237" y="1782127"/>
            <a:ext cx="2232025" cy="2173288"/>
          </a:xfrm>
          <a:prstGeom prst="ellipse">
            <a:avLst/>
          </a:prstGeom>
          <a:gradFill rotWithShape="1">
            <a:gsLst>
              <a:gs pos="0">
                <a:srgbClr val="339966"/>
              </a:gs>
              <a:gs pos="100000">
                <a:srgbClr val="226644"/>
              </a:gs>
            </a:gsLst>
            <a:path path="shape">
              <a:fillToRect l="50000" t="50000" r="50000" b="50000"/>
            </a:path>
          </a:gradFill>
          <a:ln w="25400">
            <a:solidFill>
              <a:srgbClr val="339966"/>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ea typeface="华文新魏" panose="02010800040101010101" pitchFamily="2" charset="-122"/>
            </a:endParaRPr>
          </a:p>
        </p:txBody>
      </p:sp>
      <p:sp>
        <p:nvSpPr>
          <p:cNvPr id="690214" name="Oval 38"/>
          <p:cNvSpPr>
            <a:spLocks noChangeArrowheads="1"/>
          </p:cNvSpPr>
          <p:nvPr/>
        </p:nvSpPr>
        <p:spPr bwMode="auto">
          <a:xfrm>
            <a:off x="8674036" y="2213928"/>
            <a:ext cx="1322388" cy="1357313"/>
          </a:xfrm>
          <a:prstGeom prst="ellipse">
            <a:avLst/>
          </a:prstGeom>
          <a:noFill/>
          <a:ln w="38100">
            <a:solidFill>
              <a:srgbClr val="FF0000"/>
            </a:solidFill>
            <a:prstDash val="dash"/>
            <a:round/>
            <a:headEnd/>
            <a:tailEnd/>
          </a:ln>
          <a:effectLst/>
          <a:extLst>
            <a:ext uri="{909E8E84-426E-40DD-AFC4-6F175D3DCCD1}">
              <a14:hiddenFill xmlns:a14="http://schemas.microsoft.com/office/drawing/2010/main">
                <a:solidFill>
                  <a:srgbClr val="993366">
                    <a:alpha val="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ea typeface="华文新魏" panose="02010800040101010101" pitchFamily="2" charset="-122"/>
            </a:endParaRPr>
          </a:p>
        </p:txBody>
      </p:sp>
      <p:grpSp>
        <p:nvGrpSpPr>
          <p:cNvPr id="690222" name="Group 46"/>
          <p:cNvGrpSpPr>
            <a:grpSpLocks/>
          </p:cNvGrpSpPr>
          <p:nvPr/>
        </p:nvGrpSpPr>
        <p:grpSpPr bwMode="auto">
          <a:xfrm>
            <a:off x="8386699" y="1853565"/>
            <a:ext cx="1871662" cy="2108199"/>
            <a:chOff x="3969" y="2069"/>
            <a:chExt cx="1179" cy="1328"/>
          </a:xfrm>
        </p:grpSpPr>
        <p:grpSp>
          <p:nvGrpSpPr>
            <p:cNvPr id="86059" name="Group 47"/>
            <p:cNvGrpSpPr>
              <a:grpSpLocks/>
            </p:cNvGrpSpPr>
            <p:nvPr/>
          </p:nvGrpSpPr>
          <p:grpSpPr bwMode="auto">
            <a:xfrm>
              <a:off x="4468" y="2069"/>
              <a:ext cx="680" cy="1328"/>
              <a:chOff x="4468" y="2069"/>
              <a:chExt cx="680" cy="1328"/>
            </a:xfrm>
          </p:grpSpPr>
          <p:sp>
            <p:nvSpPr>
              <p:cNvPr id="86062" name="Text Box 49"/>
              <p:cNvSpPr txBox="1">
                <a:spLocks noChangeArrowheads="1"/>
              </p:cNvSpPr>
              <p:nvPr/>
            </p:nvSpPr>
            <p:spPr bwMode="auto">
              <a:xfrm>
                <a:off x="4468" y="2069"/>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sp>
            <p:nvSpPr>
              <p:cNvPr id="86063" name="Text Box 50"/>
              <p:cNvSpPr txBox="1">
                <a:spLocks noChangeArrowheads="1"/>
              </p:cNvSpPr>
              <p:nvPr/>
            </p:nvSpPr>
            <p:spPr bwMode="auto">
              <a:xfrm>
                <a:off x="4468" y="3067"/>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sp>
            <p:nvSpPr>
              <p:cNvPr id="86064" name="Text Box 51"/>
              <p:cNvSpPr txBox="1">
                <a:spLocks noChangeArrowheads="1"/>
              </p:cNvSpPr>
              <p:nvPr/>
            </p:nvSpPr>
            <p:spPr bwMode="auto">
              <a:xfrm>
                <a:off x="4921" y="2523"/>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grpSp>
        <p:sp>
          <p:nvSpPr>
            <p:cNvPr id="86060" name="Text Box 52"/>
            <p:cNvSpPr txBox="1">
              <a:spLocks noChangeArrowheads="1"/>
            </p:cNvSpPr>
            <p:nvPr/>
          </p:nvSpPr>
          <p:spPr bwMode="auto">
            <a:xfrm>
              <a:off x="3969" y="2568"/>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grpSp>
      <p:sp>
        <p:nvSpPr>
          <p:cNvPr id="2" name="椭圆 1">
            <a:extLst>
              <a:ext uri="{FF2B5EF4-FFF2-40B4-BE49-F238E27FC236}">
                <a16:creationId xmlns:a16="http://schemas.microsoft.com/office/drawing/2014/main" id="{3CACAA79-3C66-4BC2-B166-0693058D43B6}"/>
              </a:ext>
            </a:extLst>
          </p:cNvPr>
          <p:cNvSpPr/>
          <p:nvPr/>
        </p:nvSpPr>
        <p:spPr>
          <a:xfrm>
            <a:off x="10394047" y="1814636"/>
            <a:ext cx="164908" cy="1697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15692728-5094-443D-9462-CEFC39A3D182}"/>
              </a:ext>
            </a:extLst>
          </p:cNvPr>
          <p:cNvSpPr/>
          <p:nvPr/>
        </p:nvSpPr>
        <p:spPr>
          <a:xfrm>
            <a:off x="8197327" y="1775778"/>
            <a:ext cx="164908" cy="1697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uiExpand="1"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A077EEE-A5D0-4833-AB6C-15393EA8DC84}"/>
              </a:ext>
            </a:extLst>
          </p:cNvPr>
          <p:cNvSpPr>
            <a:spLocks noGrp="1"/>
          </p:cNvSpPr>
          <p:nvPr>
            <p:ph type="title"/>
          </p:nvPr>
        </p:nvSpPr>
        <p:spPr>
          <a:xfrm>
            <a:off x="862939" y="274740"/>
            <a:ext cx="8280920" cy="1177042"/>
          </a:xfrm>
        </p:spPr>
        <p:txBody>
          <a:bodyPr>
            <a:normAutofit/>
          </a:bodyPr>
          <a:lstStyle/>
          <a:p>
            <a:pPr>
              <a:lnSpc>
                <a:spcPct val="100000"/>
              </a:lnSpc>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例：电荷呈球对称分布时所激发的电场强度</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球面半径为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R</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，总带电量为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q)</a:t>
            </a:r>
            <a:endParaRPr lang="zh-CN" altLang="en-US" sz="4000" dirty="0">
              <a:latin typeface="华文楷体" panose="02010600040101010101" pitchFamily="2" charset="-122"/>
              <a:ea typeface="华文楷体" panose="02010600040101010101" pitchFamily="2" charset="-122"/>
            </a:endParaRPr>
          </a:p>
        </p:txBody>
      </p:sp>
      <p:grpSp>
        <p:nvGrpSpPr>
          <p:cNvPr id="690178" name="Group 2"/>
          <p:cNvGrpSpPr>
            <a:grpSpLocks/>
          </p:cNvGrpSpPr>
          <p:nvPr/>
        </p:nvGrpSpPr>
        <p:grpSpPr bwMode="auto">
          <a:xfrm>
            <a:off x="7648511" y="1061402"/>
            <a:ext cx="3492500" cy="3467100"/>
            <a:chOff x="3168" y="240"/>
            <a:chExt cx="2592" cy="2592"/>
          </a:xfrm>
        </p:grpSpPr>
        <p:sp>
          <p:nvSpPr>
            <p:cNvPr id="86083" name="Line 3"/>
            <p:cNvSpPr>
              <a:spLocks noChangeShapeType="1"/>
            </p:cNvSpPr>
            <p:nvPr/>
          </p:nvSpPr>
          <p:spPr bwMode="auto">
            <a:xfrm>
              <a:off x="3168" y="1583"/>
              <a:ext cx="2592" cy="0"/>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4" name="Line 4"/>
            <p:cNvSpPr>
              <a:spLocks noChangeShapeType="1"/>
            </p:cNvSpPr>
            <p:nvPr/>
          </p:nvSpPr>
          <p:spPr bwMode="auto">
            <a:xfrm flipV="1">
              <a:off x="3501" y="720"/>
              <a:ext cx="1926" cy="1734"/>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5" name="Line 5"/>
            <p:cNvSpPr>
              <a:spLocks noChangeShapeType="1"/>
            </p:cNvSpPr>
            <p:nvPr/>
          </p:nvSpPr>
          <p:spPr bwMode="auto">
            <a:xfrm flipV="1">
              <a:off x="3246" y="1140"/>
              <a:ext cx="2436" cy="886"/>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6" name="Line 6"/>
            <p:cNvSpPr>
              <a:spLocks noChangeShapeType="1"/>
            </p:cNvSpPr>
            <p:nvPr/>
          </p:nvSpPr>
          <p:spPr bwMode="auto">
            <a:xfrm flipV="1">
              <a:off x="3933" y="428"/>
              <a:ext cx="1054" cy="2368"/>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7" name="Line 7"/>
            <p:cNvSpPr>
              <a:spLocks noChangeShapeType="1"/>
            </p:cNvSpPr>
            <p:nvPr/>
          </p:nvSpPr>
          <p:spPr bwMode="auto">
            <a:xfrm>
              <a:off x="4464" y="240"/>
              <a:ext cx="0" cy="2592"/>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8" name="Line 8"/>
            <p:cNvSpPr>
              <a:spLocks noChangeShapeType="1"/>
            </p:cNvSpPr>
            <p:nvPr/>
          </p:nvSpPr>
          <p:spPr bwMode="auto">
            <a:xfrm flipH="1" flipV="1">
              <a:off x="3456" y="668"/>
              <a:ext cx="1926" cy="1734"/>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9" name="Line 9"/>
            <p:cNvSpPr>
              <a:spLocks noChangeShapeType="1"/>
            </p:cNvSpPr>
            <p:nvPr/>
          </p:nvSpPr>
          <p:spPr bwMode="auto">
            <a:xfrm flipH="1" flipV="1">
              <a:off x="3246" y="1140"/>
              <a:ext cx="2436" cy="886"/>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90" name="Line 10"/>
            <p:cNvSpPr>
              <a:spLocks noChangeShapeType="1"/>
            </p:cNvSpPr>
            <p:nvPr/>
          </p:nvSpPr>
          <p:spPr bwMode="auto">
            <a:xfrm flipH="1" flipV="1">
              <a:off x="3928" y="351"/>
              <a:ext cx="1054" cy="2368"/>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690187" name="Oval 11"/>
          <p:cNvSpPr>
            <a:spLocks noChangeArrowheads="1"/>
          </p:cNvSpPr>
          <p:nvPr/>
        </p:nvSpPr>
        <p:spPr bwMode="auto">
          <a:xfrm>
            <a:off x="7881874" y="1421766"/>
            <a:ext cx="2952750" cy="2809875"/>
          </a:xfrm>
          <a:prstGeom prst="ellipse">
            <a:avLst/>
          </a:prstGeom>
          <a:noFill/>
          <a:ln w="38100">
            <a:solidFill>
              <a:srgbClr val="0000FF"/>
            </a:solidFill>
            <a:prstDash val="dash"/>
            <a:round/>
            <a:headEnd/>
            <a:tailEnd/>
          </a:ln>
          <a:effectLst/>
          <a:extLst>
            <a:ext uri="{909E8E84-426E-40DD-AFC4-6F175D3DCCD1}">
              <a14:hiddenFill xmlns:a14="http://schemas.microsoft.com/office/drawing/2010/main">
                <a:solidFill>
                  <a:srgbClr val="FFCC66">
                    <a:alpha val="63136"/>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ea typeface="华文新魏" panose="02010800040101010101" pitchFamily="2" charset="-122"/>
            </a:endParaRPr>
          </a:p>
        </p:txBody>
      </p:sp>
      <p:sp>
        <p:nvSpPr>
          <p:cNvPr id="690188" name="Oval 12"/>
          <p:cNvSpPr>
            <a:spLocks noChangeArrowheads="1"/>
          </p:cNvSpPr>
          <p:nvPr/>
        </p:nvSpPr>
        <p:spPr bwMode="auto">
          <a:xfrm>
            <a:off x="8242237" y="1782127"/>
            <a:ext cx="2232025" cy="2173288"/>
          </a:xfrm>
          <a:prstGeom prst="ellipse">
            <a:avLst/>
          </a:prstGeom>
          <a:gradFill rotWithShape="1">
            <a:gsLst>
              <a:gs pos="0">
                <a:srgbClr val="339966"/>
              </a:gs>
              <a:gs pos="100000">
                <a:srgbClr val="226644"/>
              </a:gs>
            </a:gsLst>
            <a:path path="shape">
              <a:fillToRect l="50000" t="50000" r="50000" b="50000"/>
            </a:path>
          </a:gradFill>
          <a:ln w="25400">
            <a:solidFill>
              <a:srgbClr val="339966"/>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ea typeface="华文新魏" panose="02010800040101010101" pitchFamily="2" charset="-122"/>
            </a:endParaRPr>
          </a:p>
        </p:txBody>
      </p:sp>
      <p:sp>
        <p:nvSpPr>
          <p:cNvPr id="690214" name="Oval 38"/>
          <p:cNvSpPr>
            <a:spLocks noChangeArrowheads="1"/>
          </p:cNvSpPr>
          <p:nvPr/>
        </p:nvSpPr>
        <p:spPr bwMode="auto">
          <a:xfrm>
            <a:off x="8674036" y="2213928"/>
            <a:ext cx="1322388" cy="1357313"/>
          </a:xfrm>
          <a:prstGeom prst="ellipse">
            <a:avLst/>
          </a:prstGeom>
          <a:noFill/>
          <a:ln w="38100">
            <a:solidFill>
              <a:srgbClr val="FF0000"/>
            </a:solidFill>
            <a:prstDash val="dash"/>
            <a:round/>
            <a:headEnd/>
            <a:tailEnd/>
          </a:ln>
          <a:effectLst/>
          <a:extLst>
            <a:ext uri="{909E8E84-426E-40DD-AFC4-6F175D3DCCD1}">
              <a14:hiddenFill xmlns:a14="http://schemas.microsoft.com/office/drawing/2010/main">
                <a:solidFill>
                  <a:srgbClr val="993366">
                    <a:alpha val="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a:ea typeface="华文新魏" panose="02010800040101010101" pitchFamily="2" charset="-122"/>
            </a:endParaRPr>
          </a:p>
        </p:txBody>
      </p:sp>
      <p:grpSp>
        <p:nvGrpSpPr>
          <p:cNvPr id="690222" name="Group 46"/>
          <p:cNvGrpSpPr>
            <a:grpSpLocks/>
          </p:cNvGrpSpPr>
          <p:nvPr/>
        </p:nvGrpSpPr>
        <p:grpSpPr bwMode="auto">
          <a:xfrm>
            <a:off x="8386699" y="1853565"/>
            <a:ext cx="1871662" cy="2108199"/>
            <a:chOff x="3969" y="2069"/>
            <a:chExt cx="1179" cy="1328"/>
          </a:xfrm>
        </p:grpSpPr>
        <p:grpSp>
          <p:nvGrpSpPr>
            <p:cNvPr id="86059" name="Group 47"/>
            <p:cNvGrpSpPr>
              <a:grpSpLocks/>
            </p:cNvGrpSpPr>
            <p:nvPr/>
          </p:nvGrpSpPr>
          <p:grpSpPr bwMode="auto">
            <a:xfrm>
              <a:off x="4468" y="2069"/>
              <a:ext cx="680" cy="1328"/>
              <a:chOff x="4468" y="2069"/>
              <a:chExt cx="680" cy="1328"/>
            </a:xfrm>
          </p:grpSpPr>
          <p:sp>
            <p:nvSpPr>
              <p:cNvPr id="86062" name="Text Box 49"/>
              <p:cNvSpPr txBox="1">
                <a:spLocks noChangeArrowheads="1"/>
              </p:cNvSpPr>
              <p:nvPr/>
            </p:nvSpPr>
            <p:spPr bwMode="auto">
              <a:xfrm>
                <a:off x="4468" y="2069"/>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sp>
            <p:nvSpPr>
              <p:cNvPr id="86063" name="Text Box 50"/>
              <p:cNvSpPr txBox="1">
                <a:spLocks noChangeArrowheads="1"/>
              </p:cNvSpPr>
              <p:nvPr/>
            </p:nvSpPr>
            <p:spPr bwMode="auto">
              <a:xfrm>
                <a:off x="4468" y="3067"/>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sp>
            <p:nvSpPr>
              <p:cNvPr id="86064" name="Text Box 51"/>
              <p:cNvSpPr txBox="1">
                <a:spLocks noChangeArrowheads="1"/>
              </p:cNvSpPr>
              <p:nvPr/>
            </p:nvSpPr>
            <p:spPr bwMode="auto">
              <a:xfrm>
                <a:off x="4921" y="2523"/>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grpSp>
        <p:sp>
          <p:nvSpPr>
            <p:cNvPr id="86060" name="Text Box 52"/>
            <p:cNvSpPr txBox="1">
              <a:spLocks noChangeArrowheads="1"/>
            </p:cNvSpPr>
            <p:nvPr/>
          </p:nvSpPr>
          <p:spPr bwMode="auto">
            <a:xfrm>
              <a:off x="3969" y="2568"/>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grpSp>
      <p:sp>
        <p:nvSpPr>
          <p:cNvPr id="2" name="椭圆 1">
            <a:extLst>
              <a:ext uri="{FF2B5EF4-FFF2-40B4-BE49-F238E27FC236}">
                <a16:creationId xmlns:a16="http://schemas.microsoft.com/office/drawing/2014/main" id="{3CACAA79-3C66-4BC2-B166-0693058D43B6}"/>
              </a:ext>
            </a:extLst>
          </p:cNvPr>
          <p:cNvSpPr/>
          <p:nvPr/>
        </p:nvSpPr>
        <p:spPr>
          <a:xfrm>
            <a:off x="10394047" y="1814636"/>
            <a:ext cx="164908" cy="1697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椭圆 24">
            <a:extLst>
              <a:ext uri="{FF2B5EF4-FFF2-40B4-BE49-F238E27FC236}">
                <a16:creationId xmlns:a16="http://schemas.microsoft.com/office/drawing/2014/main" id="{15692728-5094-443D-9462-CEFC39A3D182}"/>
              </a:ext>
            </a:extLst>
          </p:cNvPr>
          <p:cNvSpPr/>
          <p:nvPr/>
        </p:nvSpPr>
        <p:spPr>
          <a:xfrm>
            <a:off x="8197327" y="1775778"/>
            <a:ext cx="164908" cy="1697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EFCE3F1-A8A0-4320-9E29-C5FAAC67F05F}"/>
                  </a:ext>
                </a:extLst>
              </p:cNvPr>
              <p:cNvSpPr/>
              <p:nvPr/>
            </p:nvSpPr>
            <p:spPr>
              <a:xfrm>
                <a:off x="1019985" y="1668692"/>
                <a:ext cx="3747757" cy="10986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altLang="zh-CN" sz="2800" i="1" smtClean="0">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𝑆</m:t>
                          </m:r>
                        </m:sub>
                        <m:sup/>
                        <m:e>
                          <m:acc>
                            <m:accPr>
                              <m:chr m:val="⃗"/>
                              <m:ctrlPr>
                                <a:rPr lang="en-US" altLang="zh-CN" sz="2800" i="1">
                                  <a:solidFill>
                                    <a:schemeClr val="tx1"/>
                                  </a:solidFill>
                                  <a:latin typeface="Cambria Math" panose="02040503050406030204" pitchFamily="18" charset="0"/>
                                  <a:ea typeface="黑体" panose="02010609060101010101" pitchFamily="49" charset="-122"/>
                                </a:rPr>
                              </m:ctrlPr>
                            </m:accPr>
                            <m:e>
                              <m:r>
                                <a:rPr lang="en-US" altLang="zh-CN" sz="2800" b="0" i="1">
                                  <a:solidFill>
                                    <a:schemeClr val="tx1"/>
                                  </a:solidFill>
                                  <a:latin typeface="Cambria Math" panose="02040503050406030204" pitchFamily="18" charset="0"/>
                                  <a:ea typeface="黑体" panose="02010609060101010101" pitchFamily="49" charset="-122"/>
                                </a:rPr>
                                <m:t>𝐸</m:t>
                              </m:r>
                            </m:e>
                          </m:acc>
                          <m:r>
                            <a:rPr lang="en-US" altLang="zh-CN" sz="2800" b="0" i="1">
                              <a:solidFill>
                                <a:schemeClr val="tx1"/>
                              </a:solidFill>
                              <a:latin typeface="Cambria Math" panose="02040503050406030204" pitchFamily="18" charset="0"/>
                              <a:ea typeface="Cambria Math" panose="02040503050406030204" pitchFamily="18" charset="0"/>
                            </a:rPr>
                            <m:t>∙</m:t>
                          </m:r>
                          <m:r>
                            <a:rPr lang="en-US" altLang="zh-CN" sz="2800" b="0" i="1">
                              <a:solidFill>
                                <a:schemeClr val="tx1"/>
                              </a:solidFill>
                              <a:latin typeface="Cambria Math" panose="02040503050406030204" pitchFamily="18" charset="0"/>
                              <a:ea typeface="Cambria Math" panose="02040503050406030204" pitchFamily="18" charset="0"/>
                            </a:rPr>
                            <m:t>𝑑</m:t>
                          </m:r>
                          <m:acc>
                            <m:accPr>
                              <m:chr m:val="⃗"/>
                              <m:ctrlPr>
                                <a:rPr lang="en-US" altLang="zh-CN" sz="2800" i="1">
                                  <a:solidFill>
                                    <a:schemeClr val="tx1"/>
                                  </a:solidFill>
                                  <a:latin typeface="Cambria Math" panose="02040503050406030204" pitchFamily="18" charset="0"/>
                                  <a:ea typeface="黑体" panose="02010609060101010101" pitchFamily="49" charset="-122"/>
                                </a:rPr>
                              </m:ctrlPr>
                            </m:accPr>
                            <m:e>
                              <m:r>
                                <a:rPr lang="en-US" altLang="zh-CN" sz="2800" b="0" i="1">
                                  <a:solidFill>
                                    <a:schemeClr val="tx1"/>
                                  </a:solidFill>
                                  <a:latin typeface="Cambria Math" panose="02040503050406030204" pitchFamily="18" charset="0"/>
                                  <a:ea typeface="黑体" panose="02010609060101010101" pitchFamily="49" charset="-122"/>
                                </a:rPr>
                                <m:t>𝑆</m:t>
                              </m:r>
                            </m:e>
                          </m:acc>
                        </m:e>
                      </m:nary>
                      <m:r>
                        <a:rPr lang="en-US" altLang="zh-CN" sz="2800" b="0" i="1">
                          <a:solidFill>
                            <a:schemeClr val="tx1"/>
                          </a:solidFill>
                          <a:latin typeface="Cambria Math" panose="02040503050406030204" pitchFamily="18" charset="0"/>
                          <a:ea typeface="黑体" panose="02010609060101010101" pitchFamily="49" charset="-122"/>
                        </a:rPr>
                        <m:t>=</m:t>
                      </m:r>
                      <m:r>
                        <a:rPr lang="en-US" altLang="zh-CN" sz="2800" b="0" i="1">
                          <a:solidFill>
                            <a:schemeClr val="tx1"/>
                          </a:solidFill>
                          <a:latin typeface="Cambria Math" panose="02040503050406030204" pitchFamily="18" charset="0"/>
                          <a:ea typeface="黑体" panose="02010609060101010101" pitchFamily="49" charset="-122"/>
                        </a:rPr>
                        <m:t>𝐸</m:t>
                      </m:r>
                      <m:nary>
                        <m:naryPr>
                          <m:chr m:val="∯"/>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𝑆</m:t>
                          </m:r>
                        </m:sub>
                        <m:sup/>
                        <m:e>
                          <m:r>
                            <a:rPr lang="en-US" altLang="zh-CN" sz="2800" b="0" i="1">
                              <a:solidFill>
                                <a:schemeClr val="tx1"/>
                              </a:solidFill>
                              <a:latin typeface="Cambria Math" panose="02040503050406030204" pitchFamily="18" charset="0"/>
                              <a:ea typeface="Cambria Math" panose="02040503050406030204" pitchFamily="18" charset="0"/>
                            </a:rPr>
                            <m:t>𝑑𝑆</m:t>
                          </m:r>
                        </m:e>
                      </m:nary>
                    </m:oMath>
                  </m:oMathPara>
                </a14:m>
                <a:endParaRPr lang="en-US" altLang="zh-CN" sz="2800" i="1" dirty="0">
                  <a:solidFill>
                    <a:schemeClr val="tx1"/>
                  </a:solidFill>
                  <a:ea typeface="黑体" panose="02010609060101010101" pitchFamily="49"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2EFCE3F1-A8A0-4320-9E29-C5FAAC67F05F}"/>
                  </a:ext>
                </a:extLst>
              </p:cNvPr>
              <p:cNvSpPr>
                <a:spLocks noRot="1" noChangeAspect="1" noMove="1" noResize="1" noEditPoints="1" noAdjustHandles="1" noChangeArrowheads="1" noChangeShapeType="1" noTextEdit="1"/>
              </p:cNvSpPr>
              <p:nvPr/>
            </p:nvSpPr>
            <p:spPr>
              <a:xfrm>
                <a:off x="1019985" y="1668692"/>
                <a:ext cx="3747757" cy="109863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C66F901-CEF3-4894-B7D2-C1ED91180F10}"/>
                  </a:ext>
                </a:extLst>
              </p:cNvPr>
              <p:cNvSpPr/>
              <p:nvPr/>
            </p:nvSpPr>
            <p:spPr>
              <a:xfrm>
                <a:off x="2652776" y="3007009"/>
                <a:ext cx="2560766" cy="9089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0" i="1" dirty="0" smtClean="0">
                          <a:solidFill>
                            <a:schemeClr val="tx1"/>
                          </a:solidFill>
                          <a:latin typeface="Cambria Math" panose="02040503050406030204" pitchFamily="18" charset="0"/>
                          <a:ea typeface="华文新魏" panose="02010800040101010101" pitchFamily="2" charset="-122"/>
                        </a:rPr>
                        <m:t>→</m:t>
                      </m:r>
                      <m:r>
                        <a:rPr lang="en-US" altLang="zh-CN" sz="2800" b="0" i="1" dirty="0">
                          <a:solidFill>
                            <a:schemeClr val="tx1"/>
                          </a:solidFill>
                          <a:latin typeface="Cambria Math" panose="02040503050406030204" pitchFamily="18" charset="0"/>
                          <a:ea typeface="华文新魏" panose="02010800040101010101" pitchFamily="2" charset="-122"/>
                        </a:rPr>
                        <m:t>𝐸</m:t>
                      </m:r>
                      <m:r>
                        <a:rPr lang="en-US" altLang="zh-CN" sz="2800" b="0" i="1" dirty="0">
                          <a:solidFill>
                            <a:schemeClr val="tx1"/>
                          </a:solidFill>
                          <a:latin typeface="Cambria Math" panose="02040503050406030204" pitchFamily="18" charset="0"/>
                          <a:ea typeface="华文新魏" panose="02010800040101010101" pitchFamily="2" charset="-122"/>
                        </a:rPr>
                        <m:t>=</m:t>
                      </m:r>
                      <m:f>
                        <m:fPr>
                          <m:ctrlPr>
                            <a:rPr lang="en-US" altLang="zh-CN" sz="2800" i="1" dirty="0">
                              <a:solidFill>
                                <a:schemeClr val="tx1"/>
                              </a:solidFill>
                              <a:latin typeface="Cambria Math" panose="02040503050406030204" pitchFamily="18" charset="0"/>
                              <a:ea typeface="华文新魏" panose="02010800040101010101" pitchFamily="2" charset="-122"/>
                            </a:rPr>
                          </m:ctrlPr>
                        </m:fPr>
                        <m:num>
                          <m:sSub>
                            <m:sSubPr>
                              <m:ctrlPr>
                                <a:rPr lang="en-US" altLang="zh-CN" sz="2800" i="1" dirty="0">
                                  <a:solidFill>
                                    <a:schemeClr val="tx1"/>
                                  </a:solidFill>
                                  <a:latin typeface="Cambria Math" panose="02040503050406030204" pitchFamily="18" charset="0"/>
                                  <a:ea typeface="华文新魏" panose="02010800040101010101" pitchFamily="2" charset="-122"/>
                                </a:rPr>
                              </m:ctrlPr>
                            </m:sSubPr>
                            <m:e>
                              <m:r>
                                <a:rPr lang="en-US" altLang="zh-CN" sz="2800" b="0" i="1" dirty="0">
                                  <a:solidFill>
                                    <a:schemeClr val="tx1"/>
                                  </a:solidFill>
                                  <a:latin typeface="Cambria Math" panose="02040503050406030204" pitchFamily="18" charset="0"/>
                                  <a:ea typeface="华文新魏" panose="02010800040101010101" pitchFamily="2" charset="-122"/>
                                </a:rPr>
                                <m:t>𝑞</m:t>
                              </m:r>
                            </m:e>
                            <m:sub>
                              <m:r>
                                <a:rPr lang="en-US" altLang="zh-CN" sz="2800" b="0" i="1" dirty="0">
                                  <a:solidFill>
                                    <a:schemeClr val="tx1"/>
                                  </a:solidFill>
                                  <a:latin typeface="Cambria Math" panose="02040503050406030204" pitchFamily="18" charset="0"/>
                                  <a:ea typeface="华文新魏" panose="02010800040101010101" pitchFamily="2" charset="-122"/>
                                </a:rPr>
                                <m:t>𝑖𝑛</m:t>
                              </m:r>
                            </m:sub>
                          </m:sSub>
                        </m:num>
                        <m:den>
                          <m:r>
                            <a:rPr lang="en-US" altLang="zh-CN" sz="2800" b="0" i="1" dirty="0">
                              <a:solidFill>
                                <a:schemeClr val="tx1"/>
                              </a:solidFill>
                              <a:latin typeface="Cambria Math" panose="02040503050406030204" pitchFamily="18" charset="0"/>
                              <a:ea typeface="华文新魏" panose="02010800040101010101" pitchFamily="2" charset="-122"/>
                            </a:rPr>
                            <m:t>4</m:t>
                          </m:r>
                          <m:r>
                            <a:rPr lang="zh-CN" altLang="en-US" sz="2800" b="0" i="1" dirty="0">
                              <a:solidFill>
                                <a:schemeClr val="tx1"/>
                              </a:solidFill>
                              <a:latin typeface="Cambria Math" panose="02040503050406030204" pitchFamily="18" charset="0"/>
                              <a:ea typeface="华文新魏" panose="02010800040101010101" pitchFamily="2" charset="-122"/>
                            </a:rPr>
                            <m:t>𝜋</m:t>
                          </m:r>
                          <m:sSub>
                            <m:sSubPr>
                              <m:ctrlPr>
                                <a:rPr lang="en-US" altLang="zh-CN" sz="2800" i="1" dirty="0">
                                  <a:solidFill>
                                    <a:schemeClr val="tx1"/>
                                  </a:solidFill>
                                  <a:latin typeface="Cambria Math" panose="02040503050406030204" pitchFamily="18" charset="0"/>
                                  <a:ea typeface="华文新魏" panose="02010800040101010101" pitchFamily="2" charset="-122"/>
                                </a:rPr>
                              </m:ctrlPr>
                            </m:sSubPr>
                            <m:e>
                              <m:r>
                                <a:rPr lang="zh-CN" altLang="en-US" sz="2800" b="0" i="1" dirty="0">
                                  <a:solidFill>
                                    <a:schemeClr val="tx1"/>
                                  </a:solidFill>
                                  <a:latin typeface="Cambria Math" panose="02040503050406030204" pitchFamily="18" charset="0"/>
                                  <a:ea typeface="华文新魏" panose="02010800040101010101" pitchFamily="2" charset="-122"/>
                                </a:rPr>
                                <m:t>𝜀</m:t>
                              </m:r>
                            </m:e>
                            <m:sub>
                              <m:r>
                                <a:rPr lang="en-US" altLang="zh-CN" sz="2800" b="0" i="1" dirty="0">
                                  <a:solidFill>
                                    <a:schemeClr val="tx1"/>
                                  </a:solidFill>
                                  <a:latin typeface="Cambria Math" panose="02040503050406030204" pitchFamily="18" charset="0"/>
                                  <a:ea typeface="华文新魏" panose="02010800040101010101" pitchFamily="2" charset="-122"/>
                                </a:rPr>
                                <m:t>0</m:t>
                              </m:r>
                            </m:sub>
                          </m:sSub>
                          <m:sSup>
                            <m:sSupPr>
                              <m:ctrlPr>
                                <a:rPr lang="en-US" altLang="zh-CN" sz="2800" i="1" dirty="0">
                                  <a:solidFill>
                                    <a:schemeClr val="tx1"/>
                                  </a:solidFill>
                                  <a:latin typeface="Cambria Math" panose="02040503050406030204" pitchFamily="18" charset="0"/>
                                  <a:ea typeface="华文新魏" panose="02010800040101010101" pitchFamily="2" charset="-122"/>
                                </a:rPr>
                              </m:ctrlPr>
                            </m:sSupPr>
                            <m:e>
                              <m:r>
                                <a:rPr lang="en-US" altLang="zh-CN" sz="2800" b="0" i="1" dirty="0">
                                  <a:solidFill>
                                    <a:schemeClr val="tx1"/>
                                  </a:solidFill>
                                  <a:latin typeface="Cambria Math" panose="02040503050406030204" pitchFamily="18" charset="0"/>
                                  <a:ea typeface="华文新魏" panose="02010800040101010101" pitchFamily="2" charset="-122"/>
                                </a:rPr>
                                <m:t>𝑟</m:t>
                              </m:r>
                            </m:e>
                            <m:sup>
                              <m:r>
                                <a:rPr lang="en-US" altLang="zh-CN" sz="2800" b="0" i="1" dirty="0">
                                  <a:solidFill>
                                    <a:schemeClr val="tx1"/>
                                  </a:solidFill>
                                  <a:latin typeface="Cambria Math" panose="02040503050406030204" pitchFamily="18" charset="0"/>
                                  <a:ea typeface="华文新魏" panose="02010800040101010101" pitchFamily="2" charset="-122"/>
                                </a:rPr>
                                <m:t>2</m:t>
                              </m:r>
                            </m:sup>
                          </m:sSup>
                        </m:den>
                      </m:f>
                    </m:oMath>
                  </m:oMathPara>
                </a14:m>
                <a:endParaRPr lang="en-US" sz="2800" dirty="0">
                  <a:solidFill>
                    <a:schemeClr val="tx1"/>
                  </a:solidFill>
                </a:endParaRPr>
              </a:p>
            </p:txBody>
          </p:sp>
        </mc:Choice>
        <mc:Fallback xmlns="">
          <p:sp>
            <p:nvSpPr>
              <p:cNvPr id="7" name="矩形 6">
                <a:extLst>
                  <a:ext uri="{FF2B5EF4-FFF2-40B4-BE49-F238E27FC236}">
                    <a16:creationId xmlns:a16="http://schemas.microsoft.com/office/drawing/2014/main" id="{AC66F901-CEF3-4894-B7D2-C1ED91180F10}"/>
                  </a:ext>
                </a:extLst>
              </p:cNvPr>
              <p:cNvSpPr>
                <a:spLocks noRot="1" noChangeAspect="1" noMove="1" noResize="1" noEditPoints="1" noAdjustHandles="1" noChangeArrowheads="1" noChangeShapeType="1" noTextEdit="1"/>
              </p:cNvSpPr>
              <p:nvPr/>
            </p:nvSpPr>
            <p:spPr>
              <a:xfrm>
                <a:off x="2652776" y="3007009"/>
                <a:ext cx="2560766" cy="90890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1DCACB8-843D-4874-8EB0-39E67B49B125}"/>
                  </a:ext>
                </a:extLst>
              </p:cNvPr>
              <p:cNvSpPr/>
              <p:nvPr/>
            </p:nvSpPr>
            <p:spPr>
              <a:xfrm>
                <a:off x="4709711" y="1822034"/>
                <a:ext cx="2930289" cy="9089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黑体" panose="02010609060101010101" pitchFamily="49" charset="-122"/>
                        </a:rPr>
                        <m:t>=</m:t>
                      </m:r>
                      <m:r>
                        <a:rPr lang="en-US" altLang="zh-CN" sz="2800" b="0" i="1" smtClean="0">
                          <a:solidFill>
                            <a:schemeClr val="tx1"/>
                          </a:solidFill>
                          <a:latin typeface="Cambria Math" panose="02040503050406030204" pitchFamily="18" charset="0"/>
                          <a:ea typeface="黑体" panose="02010609060101010101" pitchFamily="49" charset="-122"/>
                        </a:rPr>
                        <m:t>𝐸</m:t>
                      </m:r>
                      <m:r>
                        <a:rPr lang="en-US" altLang="zh-CN" sz="2800" b="0" i="1">
                          <a:solidFill>
                            <a:schemeClr val="tx1"/>
                          </a:solidFill>
                          <a:latin typeface="Cambria Math" panose="02040503050406030204" pitchFamily="18" charset="0"/>
                          <a:ea typeface="Cambria Math" panose="02040503050406030204" pitchFamily="18" charset="0"/>
                        </a:rPr>
                        <m:t>∙</m:t>
                      </m:r>
                      <m:r>
                        <a:rPr lang="en-US" altLang="zh-CN" sz="2800" b="0" i="1" dirty="0">
                          <a:solidFill>
                            <a:schemeClr val="tx1"/>
                          </a:solidFill>
                          <a:latin typeface="Cambria Math" panose="02040503050406030204" pitchFamily="18" charset="0"/>
                          <a:ea typeface="华文新魏" panose="02010800040101010101" pitchFamily="2" charset="-122"/>
                        </a:rPr>
                        <m:t>4</m:t>
                      </m:r>
                      <m:r>
                        <a:rPr lang="zh-CN" altLang="en-US" sz="2800" b="0" i="1" dirty="0">
                          <a:solidFill>
                            <a:schemeClr val="tx1"/>
                          </a:solidFill>
                          <a:latin typeface="Cambria Math" panose="02040503050406030204" pitchFamily="18" charset="0"/>
                          <a:ea typeface="华文新魏" panose="02010800040101010101" pitchFamily="2" charset="-122"/>
                        </a:rPr>
                        <m:t>𝜋</m:t>
                      </m:r>
                      <m:sSup>
                        <m:sSupPr>
                          <m:ctrlPr>
                            <a:rPr lang="en-US" altLang="zh-CN" sz="2800" i="1" dirty="0">
                              <a:solidFill>
                                <a:schemeClr val="tx1"/>
                              </a:solidFill>
                              <a:latin typeface="Cambria Math" panose="02040503050406030204" pitchFamily="18" charset="0"/>
                              <a:ea typeface="华文新魏" panose="02010800040101010101" pitchFamily="2" charset="-122"/>
                            </a:rPr>
                          </m:ctrlPr>
                        </m:sSupPr>
                        <m:e>
                          <m:r>
                            <a:rPr lang="en-US" altLang="zh-CN" sz="2800" b="0" i="1" dirty="0">
                              <a:solidFill>
                                <a:schemeClr val="tx1"/>
                              </a:solidFill>
                              <a:latin typeface="Cambria Math" panose="02040503050406030204" pitchFamily="18" charset="0"/>
                              <a:ea typeface="华文新魏" panose="02010800040101010101" pitchFamily="2" charset="-122"/>
                            </a:rPr>
                            <m:t>𝑟</m:t>
                          </m:r>
                        </m:e>
                        <m:sup>
                          <m:r>
                            <a:rPr lang="en-US" altLang="zh-CN" sz="2800" b="0" i="1" dirty="0">
                              <a:solidFill>
                                <a:schemeClr val="tx1"/>
                              </a:solidFill>
                              <a:latin typeface="Cambria Math" panose="02040503050406030204" pitchFamily="18" charset="0"/>
                              <a:ea typeface="华文新魏" panose="02010800040101010101" pitchFamily="2" charset="-122"/>
                            </a:rPr>
                            <m:t>2</m:t>
                          </m:r>
                        </m:sup>
                      </m:sSup>
                      <m:r>
                        <a:rPr lang="en-US" altLang="zh-CN" sz="2800" b="0" i="1">
                          <a:solidFill>
                            <a:schemeClr val="tx1"/>
                          </a:solidFill>
                          <a:latin typeface="Cambria Math" panose="02040503050406030204" pitchFamily="18" charset="0"/>
                          <a:ea typeface="黑体" panose="02010609060101010101" pitchFamily="49" charset="-122"/>
                        </a:rPr>
                        <m:t>=</m:t>
                      </m:r>
                      <m:f>
                        <m:fPr>
                          <m:ctrlPr>
                            <a:rPr lang="en-US" altLang="zh-CN" sz="2800" i="1">
                              <a:solidFill>
                                <a:schemeClr val="tx1"/>
                              </a:solidFill>
                              <a:latin typeface="Cambria Math" panose="02040503050406030204" pitchFamily="18" charset="0"/>
                              <a:ea typeface="黑体" panose="02010609060101010101" pitchFamily="49" charset="-122"/>
                            </a:rPr>
                          </m:ctrlPr>
                        </m:fPr>
                        <m:num>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𝑞</m:t>
                              </m:r>
                            </m:e>
                            <m:sub>
                              <m:r>
                                <a:rPr lang="en-US" altLang="zh-CN" sz="2800" b="0" i="1">
                                  <a:solidFill>
                                    <a:schemeClr val="tx1"/>
                                  </a:solidFill>
                                  <a:latin typeface="Cambria Math" panose="02040503050406030204" pitchFamily="18" charset="0"/>
                                  <a:ea typeface="黑体" panose="02010609060101010101" pitchFamily="49" charset="-122"/>
                                </a:rPr>
                                <m:t>𝑖𝑛</m:t>
                              </m:r>
                            </m:sub>
                          </m:sSub>
                        </m:num>
                        <m:den>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zh-CN" altLang="en-US" sz="2800" b="0" i="1">
                                  <a:solidFill>
                                    <a:schemeClr val="tx1"/>
                                  </a:solidFill>
                                  <a:latin typeface="Cambria Math" panose="02040503050406030204" pitchFamily="18" charset="0"/>
                                  <a:ea typeface="黑体" panose="02010609060101010101" pitchFamily="49" charset="-122"/>
                                </a:rPr>
                                <m:t>𝜀</m:t>
                              </m:r>
                            </m:e>
                            <m:sub>
                              <m:r>
                                <a:rPr lang="en-US" altLang="zh-CN" sz="2800" b="0" i="1">
                                  <a:solidFill>
                                    <a:schemeClr val="tx1"/>
                                  </a:solidFill>
                                  <a:latin typeface="Cambria Math" panose="02040503050406030204" pitchFamily="18" charset="0"/>
                                  <a:ea typeface="黑体" panose="02010609060101010101" pitchFamily="49" charset="-122"/>
                                </a:rPr>
                                <m:t>0</m:t>
                              </m:r>
                            </m:sub>
                          </m:sSub>
                        </m:den>
                      </m:f>
                    </m:oMath>
                  </m:oMathPara>
                </a14:m>
                <a:endParaRPr lang="en-US" sz="2800" dirty="0">
                  <a:solidFill>
                    <a:schemeClr val="tx1"/>
                  </a:solidFill>
                </a:endParaRPr>
              </a:p>
            </p:txBody>
          </p:sp>
        </mc:Choice>
        <mc:Fallback xmlns="">
          <p:sp>
            <p:nvSpPr>
              <p:cNvPr id="8" name="矩形 7">
                <a:extLst>
                  <a:ext uri="{FF2B5EF4-FFF2-40B4-BE49-F238E27FC236}">
                    <a16:creationId xmlns:a16="http://schemas.microsoft.com/office/drawing/2014/main" id="{81DCACB8-843D-4874-8EB0-39E67B49B125}"/>
                  </a:ext>
                </a:extLst>
              </p:cNvPr>
              <p:cNvSpPr>
                <a:spLocks noRot="1" noChangeAspect="1" noMove="1" noResize="1" noEditPoints="1" noAdjustHandles="1" noChangeArrowheads="1" noChangeShapeType="1" noTextEdit="1"/>
              </p:cNvSpPr>
              <p:nvPr/>
            </p:nvSpPr>
            <p:spPr>
              <a:xfrm>
                <a:off x="4709711" y="1822034"/>
                <a:ext cx="2930289" cy="908903"/>
              </a:xfrm>
              <a:prstGeom prst="rect">
                <a:avLst/>
              </a:prstGeom>
              <a:blipFill>
                <a:blip r:embed="rId4"/>
                <a:stretch>
                  <a:fillRect/>
                </a:stretch>
              </a:blipFill>
            </p:spPr>
            <p:txBody>
              <a:bodyPr/>
              <a:lstStyle/>
              <a:p>
                <a:r>
                  <a:rPr lang="en-US">
                    <a:noFill/>
                  </a:rPr>
                  <a:t> </a:t>
                </a:r>
              </a:p>
            </p:txBody>
          </p:sp>
        </mc:Fallback>
      </mc:AlternateContent>
      <p:sp>
        <p:nvSpPr>
          <p:cNvPr id="20" name="矩形 19">
            <a:extLst>
              <a:ext uri="{FF2B5EF4-FFF2-40B4-BE49-F238E27FC236}">
                <a16:creationId xmlns:a16="http://schemas.microsoft.com/office/drawing/2014/main" id="{19012B32-31F8-4167-9222-A8C895E07788}"/>
              </a:ext>
            </a:extLst>
          </p:cNvPr>
          <p:cNvSpPr/>
          <p:nvPr/>
        </p:nvSpPr>
        <p:spPr>
          <a:xfrm>
            <a:off x="805389" y="4223576"/>
            <a:ext cx="6288901" cy="523220"/>
          </a:xfrm>
          <a:prstGeom prst="rect">
            <a:avLst/>
          </a:prstGeom>
        </p:spPr>
        <p:txBody>
          <a:bodyPr wrap="none">
            <a:spAutoFit/>
          </a:bodyPr>
          <a:lstStyle/>
          <a:p>
            <a:r>
              <a:rPr lang="zh-CN" altLang="en-US" sz="2800" dirty="0">
                <a:latin typeface="Times New Roman" panose="02020603050405020304" pitchFamily="18" charset="0"/>
                <a:cs typeface="Times New Roman" panose="02020603050405020304" pitchFamily="18" charset="0"/>
              </a:rPr>
              <a:t>电荷均匀只分布在球面，内部无电荷时</a:t>
            </a:r>
            <a:endParaRPr lang="en-US" sz="2800" dirty="0"/>
          </a:p>
        </p:txBody>
      </p:sp>
      <mc:AlternateContent xmlns:mc="http://schemas.openxmlformats.org/markup-compatibility/2006" xmlns:a14="http://schemas.microsoft.com/office/drawing/2010/main">
        <mc:Choice Requires="a14">
          <p:sp>
            <p:nvSpPr>
              <p:cNvPr id="21" name="矩形 20">
                <a:extLst>
                  <a:ext uri="{FF2B5EF4-FFF2-40B4-BE49-F238E27FC236}">
                    <a16:creationId xmlns:a16="http://schemas.microsoft.com/office/drawing/2014/main" id="{374D3908-F04F-46C2-A882-CA7C701F5528}"/>
                  </a:ext>
                </a:extLst>
              </p:cNvPr>
              <p:cNvSpPr/>
              <p:nvPr/>
            </p:nvSpPr>
            <p:spPr>
              <a:xfrm>
                <a:off x="1623543" y="5188804"/>
                <a:ext cx="7950701" cy="1536318"/>
              </a:xfrm>
              <a:prstGeom prst="rect">
                <a:avLst/>
              </a:prstGeom>
            </p:spPr>
            <p:txBody>
              <a:bodyPr wrap="square">
                <a:spAutoFit/>
              </a:bodyPr>
              <a:lstStyle/>
              <a:p>
                <a:r>
                  <a:rPr lang="en-US" altLang="zh-CN" sz="2800" dirty="0">
                    <a:solidFill>
                      <a:schemeClr val="tx1"/>
                    </a:solidFill>
                    <a:ea typeface="华文新魏" panose="02010800040101010101" pitchFamily="2" charset="-122"/>
                  </a:rPr>
                  <a:t>- </a:t>
                </a:r>
                <a14:m>
                  <m:oMath xmlns:m="http://schemas.openxmlformats.org/officeDocument/2006/math">
                    <m:r>
                      <a:rPr lang="en-US" altLang="zh-CN" sz="2800" b="0" i="1" dirty="0" smtClean="0">
                        <a:solidFill>
                          <a:schemeClr val="tx1"/>
                        </a:solidFill>
                        <a:latin typeface="Cambria Math" panose="02040503050406030204" pitchFamily="18" charset="0"/>
                        <a:ea typeface="华文新魏" panose="02010800040101010101" pitchFamily="2" charset="-122"/>
                      </a:rPr>
                      <m:t>𝑟</m:t>
                    </m:r>
                    <m:r>
                      <a:rPr lang="en-US" altLang="zh-CN" sz="2800" b="0" i="1" dirty="0">
                        <a:solidFill>
                          <a:schemeClr val="tx1"/>
                        </a:solidFill>
                        <a:latin typeface="Cambria Math" panose="02040503050406030204" pitchFamily="18" charset="0"/>
                        <a:ea typeface="Cambria Math" panose="02040503050406030204" pitchFamily="18" charset="0"/>
                      </a:rPr>
                      <m:t>&lt;</m:t>
                    </m:r>
                    <m:r>
                      <a:rPr lang="en-US" altLang="zh-CN" sz="2800" b="0" i="1" dirty="0">
                        <a:solidFill>
                          <a:schemeClr val="tx1"/>
                        </a:solidFill>
                        <a:latin typeface="Cambria Math" panose="02040503050406030204" pitchFamily="18" charset="0"/>
                        <a:ea typeface="Cambria Math" panose="02040503050406030204" pitchFamily="18" charset="0"/>
                      </a:rPr>
                      <m:t>𝑅</m:t>
                    </m:r>
                  </m:oMath>
                </a14:m>
                <a:r>
                  <a:rPr lang="zh-CN" altLang="en-US" sz="2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时，</a:t>
                </a:r>
                <a14:m>
                  <m:oMath xmlns:m="http://schemas.openxmlformats.org/officeDocument/2006/math">
                    <m:sSub>
                      <m:sSubPr>
                        <m:ctrlPr>
                          <a:rPr lang="en-US" altLang="zh-CN" sz="2800" i="1" dirty="0">
                            <a:solidFill>
                              <a:schemeClr val="tx1"/>
                            </a:solidFill>
                            <a:latin typeface="Cambria Math" panose="02040503050406030204" pitchFamily="18" charset="0"/>
                            <a:ea typeface="Cambria Math" panose="02040503050406030204" pitchFamily="18" charset="0"/>
                          </a:rPr>
                        </m:ctrlPr>
                      </m:sSubPr>
                      <m:e>
                        <m:r>
                          <a:rPr lang="en-US" altLang="zh-CN" sz="2800" b="0" i="1" dirty="0">
                            <a:solidFill>
                              <a:schemeClr val="tx1"/>
                            </a:solidFill>
                            <a:latin typeface="Cambria Math" panose="02040503050406030204" pitchFamily="18" charset="0"/>
                            <a:ea typeface="Cambria Math" panose="02040503050406030204" pitchFamily="18" charset="0"/>
                          </a:rPr>
                          <m:t>𝑞</m:t>
                        </m:r>
                      </m:e>
                      <m:sub>
                        <m:r>
                          <a:rPr lang="en-US" altLang="zh-CN" sz="2800" b="0" i="1" dirty="0">
                            <a:solidFill>
                              <a:schemeClr val="tx1"/>
                            </a:solidFill>
                            <a:latin typeface="Cambria Math" panose="02040503050406030204" pitchFamily="18" charset="0"/>
                            <a:ea typeface="Cambria Math" panose="02040503050406030204" pitchFamily="18" charset="0"/>
                          </a:rPr>
                          <m:t>𝑖𝑛</m:t>
                        </m:r>
                      </m:sub>
                    </m:sSub>
                    <m:r>
                      <a:rPr lang="en-US" altLang="zh-CN" sz="2800" b="0" i="1" dirty="0">
                        <a:solidFill>
                          <a:schemeClr val="tx1"/>
                        </a:solidFill>
                        <a:latin typeface="Cambria Math" panose="02040503050406030204" pitchFamily="18" charset="0"/>
                        <a:ea typeface="Cambria Math" panose="02040503050406030204" pitchFamily="18" charset="0"/>
                      </a:rPr>
                      <m:t>=0</m:t>
                    </m:r>
                    <m:r>
                      <a:rPr lang="en-US" altLang="zh-CN" sz="2800" b="0" i="1" dirty="0" smtClean="0">
                        <a:solidFill>
                          <a:schemeClr val="tx1"/>
                        </a:solidFill>
                        <a:latin typeface="Cambria Math" panose="02040503050406030204" pitchFamily="18" charset="0"/>
                        <a:ea typeface="Cambria Math" panose="02040503050406030204" pitchFamily="18" charset="0"/>
                      </a:rPr>
                      <m:t>  </m:t>
                    </m:r>
                    <m:r>
                      <a:rPr lang="en-US" altLang="zh-CN" sz="2800" b="0" i="1" dirty="0">
                        <a:solidFill>
                          <a:schemeClr val="tx1"/>
                        </a:solidFill>
                        <a:latin typeface="Cambria Math" panose="02040503050406030204" pitchFamily="18" charset="0"/>
                        <a:ea typeface="Cambria Math" panose="02040503050406030204" pitchFamily="18" charset="0"/>
                      </a:rPr>
                      <m:t>→</m:t>
                    </m:r>
                    <m:r>
                      <a:rPr lang="en-US" altLang="zh-CN" sz="2800" b="0" i="1" dirty="0">
                        <a:solidFill>
                          <a:schemeClr val="tx1"/>
                        </a:solidFill>
                        <a:latin typeface="Cambria Math" panose="02040503050406030204" pitchFamily="18" charset="0"/>
                        <a:ea typeface="华文新魏" panose="02010800040101010101" pitchFamily="2" charset="-122"/>
                      </a:rPr>
                      <m:t>𝐸</m:t>
                    </m:r>
                    <m:r>
                      <a:rPr lang="en-US" altLang="zh-CN" sz="2800" b="0" i="1" dirty="0">
                        <a:solidFill>
                          <a:schemeClr val="tx1"/>
                        </a:solidFill>
                        <a:latin typeface="Cambria Math" panose="02040503050406030204" pitchFamily="18" charset="0"/>
                        <a:ea typeface="华文新魏" panose="02010800040101010101" pitchFamily="2" charset="-122"/>
                      </a:rPr>
                      <m:t>=0</m:t>
                    </m:r>
                  </m:oMath>
                </a14:m>
                <a:endParaRPr lang="en-US" altLang="zh-CN" sz="2800" dirty="0">
                  <a:solidFill>
                    <a:schemeClr val="tx1"/>
                  </a:solidFill>
                  <a:latin typeface="Times New Roman" panose="02020603050405020304" pitchFamily="18" charset="0"/>
                  <a:cs typeface="Times New Roman" panose="02020603050405020304" pitchFamily="18" charset="0"/>
                </a:endParaRPr>
              </a:p>
              <a:p>
                <a:pPr>
                  <a:spcBef>
                    <a:spcPct val="50000"/>
                  </a:spcBef>
                </a:pPr>
                <a:r>
                  <a:rPr lang="en-US" altLang="zh-CN" sz="2800" dirty="0">
                    <a:solidFill>
                      <a:schemeClr val="tx1"/>
                    </a:solidFill>
                    <a:ea typeface="华文新魏" panose="02010800040101010101" pitchFamily="2" charset="-122"/>
                  </a:rPr>
                  <a:t>- </a:t>
                </a:r>
                <a14:m>
                  <m:oMath xmlns:m="http://schemas.openxmlformats.org/officeDocument/2006/math">
                    <m:r>
                      <a:rPr lang="en-US" altLang="zh-CN" sz="2800" b="0" i="1" dirty="0">
                        <a:solidFill>
                          <a:schemeClr val="tx1"/>
                        </a:solidFill>
                        <a:latin typeface="Cambria Math" panose="02040503050406030204" pitchFamily="18" charset="0"/>
                        <a:ea typeface="华文新魏" panose="02010800040101010101" pitchFamily="2" charset="-122"/>
                      </a:rPr>
                      <m:t>𝑟</m:t>
                    </m:r>
                    <m:r>
                      <a:rPr lang="en-US" altLang="zh-CN" sz="2800" b="0" i="1" dirty="0">
                        <a:solidFill>
                          <a:schemeClr val="tx1"/>
                        </a:solidFill>
                        <a:latin typeface="Cambria Math" panose="02040503050406030204" pitchFamily="18" charset="0"/>
                        <a:ea typeface="华文新魏" panose="02010800040101010101" pitchFamily="2" charset="-122"/>
                        <a:sym typeface="Symbol" panose="05050102010706020507" pitchFamily="18" charset="2"/>
                      </a:rPr>
                      <m:t>&gt;</m:t>
                    </m:r>
                    <m:r>
                      <a:rPr lang="en-US" altLang="zh-CN" sz="2800" b="0" i="1" dirty="0">
                        <a:solidFill>
                          <a:schemeClr val="tx1"/>
                        </a:solidFill>
                        <a:latin typeface="Cambria Math" panose="02040503050406030204" pitchFamily="18" charset="0"/>
                        <a:ea typeface="华文新魏" panose="02010800040101010101" pitchFamily="2" charset="-122"/>
                        <a:sym typeface="Symbol" panose="05050102010706020507" pitchFamily="18" charset="2"/>
                      </a:rPr>
                      <m:t>𝑅</m:t>
                    </m:r>
                  </m:oMath>
                </a14:m>
                <a:r>
                  <a:rPr lang="zh-CN" altLang="en-US" sz="2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时，</a:t>
                </a:r>
                <a14:m>
                  <m:oMath xmlns:m="http://schemas.openxmlformats.org/officeDocument/2006/math">
                    <m:sSub>
                      <m:sSubPr>
                        <m:ctrlPr>
                          <a:rPr lang="en-US" altLang="zh-CN" sz="2800" i="1" dirty="0">
                            <a:solidFill>
                              <a:schemeClr val="tx1"/>
                            </a:solidFill>
                            <a:latin typeface="Cambria Math" panose="02040503050406030204" pitchFamily="18" charset="0"/>
                            <a:ea typeface="Cambria Math" panose="02040503050406030204" pitchFamily="18" charset="0"/>
                          </a:rPr>
                        </m:ctrlPr>
                      </m:sSubPr>
                      <m:e>
                        <m:r>
                          <a:rPr lang="en-US" altLang="zh-CN" sz="2800" b="0" i="1" dirty="0">
                            <a:solidFill>
                              <a:schemeClr val="tx1"/>
                            </a:solidFill>
                            <a:latin typeface="Cambria Math" panose="02040503050406030204" pitchFamily="18" charset="0"/>
                            <a:ea typeface="Cambria Math" panose="02040503050406030204" pitchFamily="18" charset="0"/>
                          </a:rPr>
                          <m:t>𝑞</m:t>
                        </m:r>
                      </m:e>
                      <m:sub>
                        <m:r>
                          <a:rPr lang="en-US" altLang="zh-CN" sz="2800" b="0" i="1" dirty="0">
                            <a:solidFill>
                              <a:schemeClr val="tx1"/>
                            </a:solidFill>
                            <a:latin typeface="Cambria Math" panose="02040503050406030204" pitchFamily="18" charset="0"/>
                            <a:ea typeface="Cambria Math" panose="02040503050406030204" pitchFamily="18" charset="0"/>
                          </a:rPr>
                          <m:t>𝑖𝑛</m:t>
                        </m:r>
                      </m:sub>
                    </m:sSub>
                    <m:r>
                      <a:rPr lang="en-US" altLang="zh-CN" sz="2800" b="0" i="1" dirty="0">
                        <a:solidFill>
                          <a:schemeClr val="tx1"/>
                        </a:solidFill>
                        <a:latin typeface="Cambria Math" panose="02040503050406030204" pitchFamily="18" charset="0"/>
                        <a:ea typeface="Cambria Math" panose="02040503050406030204" pitchFamily="18" charset="0"/>
                      </a:rPr>
                      <m:t>=</m:t>
                    </m:r>
                    <m:r>
                      <a:rPr lang="en-US" altLang="zh-CN" sz="2800" b="0" i="1" dirty="0">
                        <a:solidFill>
                          <a:schemeClr val="tx1"/>
                        </a:solidFill>
                        <a:latin typeface="Cambria Math" panose="02040503050406030204" pitchFamily="18" charset="0"/>
                        <a:ea typeface="Cambria Math" panose="02040503050406030204" pitchFamily="18" charset="0"/>
                      </a:rPr>
                      <m:t>𝑞</m:t>
                    </m:r>
                  </m:oMath>
                </a14:m>
                <a:r>
                  <a:rPr lang="en-US" altLang="zh-CN" sz="2800" dirty="0">
                    <a:solidFill>
                      <a:schemeClr val="tx1"/>
                    </a:solidFill>
                    <a:latin typeface="Times New Roman" panose="02020603050405020304" pitchFamily="18" charset="0"/>
                    <a:cs typeface="Times New Roman" panose="02020603050405020304" pitchFamily="18" charset="0"/>
                    <a:sym typeface="Symbol" panose="05050102010706020507" pitchFamily="18" charset="2"/>
                  </a:rPr>
                  <a:t> </a:t>
                </a:r>
                <a14:m>
                  <m:oMath xmlns:m="http://schemas.openxmlformats.org/officeDocument/2006/math">
                    <m:r>
                      <a:rPr lang="en-US" altLang="zh-CN" sz="2800" b="0" i="0" smtClean="0">
                        <a:solidFill>
                          <a:schemeClr val="tx1"/>
                        </a:solidFill>
                        <a:latin typeface="Cambria Math" panose="02040503050406030204" pitchFamily="18" charset="0"/>
                        <a:ea typeface="Cambria Math" panose="02040503050406030204" pitchFamily="18" charset="0"/>
                      </a:rPr>
                      <m:t>  </m:t>
                    </m:r>
                    <m:r>
                      <a:rPr lang="en-US" altLang="zh-CN" sz="2800" b="0" i="1">
                        <a:solidFill>
                          <a:schemeClr val="tx1"/>
                        </a:solidFill>
                        <a:latin typeface="Cambria Math" panose="02040503050406030204" pitchFamily="18" charset="0"/>
                        <a:ea typeface="Cambria Math" panose="02040503050406030204" pitchFamily="18" charset="0"/>
                      </a:rPr>
                      <m:t>→</m:t>
                    </m:r>
                    <m:r>
                      <a:rPr lang="en-US" altLang="zh-CN" sz="2800" b="0" i="1">
                        <a:solidFill>
                          <a:schemeClr val="tx1"/>
                        </a:solidFill>
                        <a:latin typeface="Cambria Math" panose="02040503050406030204" pitchFamily="18" charset="0"/>
                      </a:rPr>
                      <m:t>𝐸</m:t>
                    </m:r>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1</m:t>
                        </m:r>
                      </m:num>
                      <m:den>
                        <m:r>
                          <a:rPr lang="en-US" altLang="zh-CN" sz="2800" b="0" i="1">
                            <a:solidFill>
                              <a:schemeClr val="tx1"/>
                            </a:solidFill>
                            <a:latin typeface="Cambria Math" panose="02040503050406030204" pitchFamily="18" charset="0"/>
                          </a:rPr>
                          <m:t>4</m:t>
                        </m:r>
                        <m:r>
                          <a:rPr lang="zh-CN" altLang="en-US" sz="2800" b="0" i="1">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𝜀</m:t>
                            </m:r>
                          </m:e>
                          <m:sub>
                            <m:r>
                              <a:rPr lang="en-US" altLang="zh-CN" sz="2800" b="0" i="1">
                                <a:solidFill>
                                  <a:schemeClr val="tx1"/>
                                </a:solidFill>
                                <a:latin typeface="Cambria Math" panose="02040503050406030204" pitchFamily="18" charset="0"/>
                              </a:rPr>
                              <m:t>0</m:t>
                            </m:r>
                          </m:sub>
                        </m:sSub>
                      </m:den>
                    </m:f>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𝑞</m:t>
                        </m:r>
                      </m:num>
                      <m:den>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𝑟</m:t>
                            </m:r>
                          </m:e>
                          <m:sup>
                            <m:r>
                              <a:rPr lang="en-US" altLang="zh-CN" sz="2800" b="0" i="1">
                                <a:solidFill>
                                  <a:schemeClr val="tx1"/>
                                </a:solidFill>
                                <a:latin typeface="Cambria Math" panose="02040503050406030204" pitchFamily="18" charset="0"/>
                              </a:rPr>
                              <m:t>2</m:t>
                            </m:r>
                          </m:sup>
                        </m:sSup>
                      </m:den>
                    </m:f>
                  </m:oMath>
                </a14:m>
                <a:endParaRPr lang="en-US" sz="2800" dirty="0">
                  <a:solidFill>
                    <a:schemeClr val="tx1"/>
                  </a:solidFill>
                </a:endParaRPr>
              </a:p>
            </p:txBody>
          </p:sp>
        </mc:Choice>
        <mc:Fallback xmlns="">
          <p:sp>
            <p:nvSpPr>
              <p:cNvPr id="21" name="矩形 20">
                <a:extLst>
                  <a:ext uri="{FF2B5EF4-FFF2-40B4-BE49-F238E27FC236}">
                    <a16:creationId xmlns:a16="http://schemas.microsoft.com/office/drawing/2014/main" id="{374D3908-F04F-46C2-A882-CA7C701F5528}"/>
                  </a:ext>
                </a:extLst>
              </p:cNvPr>
              <p:cNvSpPr>
                <a:spLocks noRot="1" noChangeAspect="1" noMove="1" noResize="1" noEditPoints="1" noAdjustHandles="1" noChangeArrowheads="1" noChangeShapeType="1" noTextEdit="1"/>
              </p:cNvSpPr>
              <p:nvPr/>
            </p:nvSpPr>
            <p:spPr>
              <a:xfrm>
                <a:off x="1623543" y="5188804"/>
                <a:ext cx="7950701" cy="1536318"/>
              </a:xfrm>
              <a:prstGeom prst="rect">
                <a:avLst/>
              </a:prstGeom>
              <a:blipFill>
                <a:blip r:embed="rId5"/>
                <a:stretch>
                  <a:fillRect l="-1533" t="-4762"/>
                </a:stretch>
              </a:blipFill>
            </p:spPr>
            <p:txBody>
              <a:bodyPr/>
              <a:lstStyle/>
              <a:p>
                <a:r>
                  <a:rPr lang="en-US">
                    <a:noFill/>
                  </a:rPr>
                  <a:t> </a:t>
                </a:r>
              </a:p>
            </p:txBody>
          </p:sp>
        </mc:Fallback>
      </mc:AlternateContent>
    </p:spTree>
    <p:extLst>
      <p:ext uri="{BB962C8B-B14F-4D97-AF65-F5344CB8AC3E}">
        <p14:creationId xmlns:p14="http://schemas.microsoft.com/office/powerpoint/2010/main" val="1845429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1">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a:extLst>
              <a:ext uri="{FF2B5EF4-FFF2-40B4-BE49-F238E27FC236}">
                <a16:creationId xmlns:a16="http://schemas.microsoft.com/office/drawing/2014/main" id="{2A077EEE-A5D0-4833-AB6C-15393EA8DC84}"/>
              </a:ext>
            </a:extLst>
          </p:cNvPr>
          <p:cNvSpPr>
            <a:spLocks noGrp="1"/>
          </p:cNvSpPr>
          <p:nvPr>
            <p:ph type="title"/>
          </p:nvPr>
        </p:nvSpPr>
        <p:spPr>
          <a:xfrm>
            <a:off x="862939" y="274740"/>
            <a:ext cx="8280920" cy="1177042"/>
          </a:xfrm>
        </p:spPr>
        <p:txBody>
          <a:bodyPr>
            <a:normAutofit/>
          </a:bodyPr>
          <a:lstStyle/>
          <a:p>
            <a:pPr>
              <a:lnSpc>
                <a:spcPct val="100000"/>
              </a:lnSpc>
            </a:pP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例：电荷呈球对称分布时所激发的电场强度</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球面半径为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R</a:t>
            </a:r>
            <a:r>
              <a:rPr lang="zh-CN" altLang="en-US" sz="3200" dirty="0">
                <a:latin typeface="华文楷体" panose="02010600040101010101" pitchFamily="2" charset="-122"/>
                <a:ea typeface="华文楷体" panose="02010600040101010101" pitchFamily="2" charset="-122"/>
                <a:cs typeface="Times New Roman" panose="02020603050405020304" pitchFamily="18" charset="0"/>
              </a:rPr>
              <a:t>，总带电量为</a:t>
            </a:r>
            <a:r>
              <a:rPr lang="en-US" altLang="zh-CN" sz="3200" dirty="0">
                <a:latin typeface="华文楷体" panose="02010600040101010101" pitchFamily="2" charset="-122"/>
                <a:ea typeface="华文楷体" panose="02010600040101010101" pitchFamily="2" charset="-122"/>
                <a:cs typeface="Times New Roman" panose="02020603050405020304" pitchFamily="18" charset="0"/>
              </a:rPr>
              <a:t>q)</a:t>
            </a:r>
            <a:endParaRPr lang="zh-CN" altLang="en-US" sz="4000" dirty="0">
              <a:latin typeface="华文楷体" panose="02010600040101010101" pitchFamily="2" charset="-122"/>
              <a:ea typeface="华文楷体" panose="02010600040101010101" pitchFamily="2" charset="-122"/>
            </a:endParaRPr>
          </a:p>
        </p:txBody>
      </p:sp>
      <p:grpSp>
        <p:nvGrpSpPr>
          <p:cNvPr id="690178" name="Group 2"/>
          <p:cNvGrpSpPr>
            <a:grpSpLocks/>
          </p:cNvGrpSpPr>
          <p:nvPr/>
        </p:nvGrpSpPr>
        <p:grpSpPr bwMode="auto">
          <a:xfrm>
            <a:off x="7648511" y="1061402"/>
            <a:ext cx="3492500" cy="3467100"/>
            <a:chOff x="3168" y="240"/>
            <a:chExt cx="2592" cy="2592"/>
          </a:xfrm>
        </p:grpSpPr>
        <p:sp>
          <p:nvSpPr>
            <p:cNvPr id="86083" name="Line 3"/>
            <p:cNvSpPr>
              <a:spLocks noChangeShapeType="1"/>
            </p:cNvSpPr>
            <p:nvPr/>
          </p:nvSpPr>
          <p:spPr bwMode="auto">
            <a:xfrm>
              <a:off x="3168" y="1583"/>
              <a:ext cx="2592" cy="0"/>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4" name="Line 4"/>
            <p:cNvSpPr>
              <a:spLocks noChangeShapeType="1"/>
            </p:cNvSpPr>
            <p:nvPr/>
          </p:nvSpPr>
          <p:spPr bwMode="auto">
            <a:xfrm flipV="1">
              <a:off x="3501" y="720"/>
              <a:ext cx="1926" cy="1734"/>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5" name="Line 5"/>
            <p:cNvSpPr>
              <a:spLocks noChangeShapeType="1"/>
            </p:cNvSpPr>
            <p:nvPr/>
          </p:nvSpPr>
          <p:spPr bwMode="auto">
            <a:xfrm flipV="1">
              <a:off x="3246" y="1140"/>
              <a:ext cx="2436" cy="886"/>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6" name="Line 6"/>
            <p:cNvSpPr>
              <a:spLocks noChangeShapeType="1"/>
            </p:cNvSpPr>
            <p:nvPr/>
          </p:nvSpPr>
          <p:spPr bwMode="auto">
            <a:xfrm flipV="1">
              <a:off x="3933" y="428"/>
              <a:ext cx="1054" cy="2368"/>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7" name="Line 7"/>
            <p:cNvSpPr>
              <a:spLocks noChangeShapeType="1"/>
            </p:cNvSpPr>
            <p:nvPr/>
          </p:nvSpPr>
          <p:spPr bwMode="auto">
            <a:xfrm>
              <a:off x="4464" y="240"/>
              <a:ext cx="0" cy="2592"/>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8" name="Line 8"/>
            <p:cNvSpPr>
              <a:spLocks noChangeShapeType="1"/>
            </p:cNvSpPr>
            <p:nvPr/>
          </p:nvSpPr>
          <p:spPr bwMode="auto">
            <a:xfrm flipH="1" flipV="1">
              <a:off x="3456" y="668"/>
              <a:ext cx="1926" cy="1734"/>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89" name="Line 9"/>
            <p:cNvSpPr>
              <a:spLocks noChangeShapeType="1"/>
            </p:cNvSpPr>
            <p:nvPr/>
          </p:nvSpPr>
          <p:spPr bwMode="auto">
            <a:xfrm flipH="1" flipV="1">
              <a:off x="3246" y="1140"/>
              <a:ext cx="2436" cy="886"/>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sp>
          <p:nvSpPr>
            <p:cNvPr id="86090" name="Line 10"/>
            <p:cNvSpPr>
              <a:spLocks noChangeShapeType="1"/>
            </p:cNvSpPr>
            <p:nvPr/>
          </p:nvSpPr>
          <p:spPr bwMode="auto">
            <a:xfrm flipH="1" flipV="1">
              <a:off x="3928" y="351"/>
              <a:ext cx="1054" cy="2368"/>
            </a:xfrm>
            <a:prstGeom prst="line">
              <a:avLst/>
            </a:prstGeom>
            <a:noFill/>
            <a:ln w="28575">
              <a:solidFill>
                <a:schemeClr val="tx1"/>
              </a:solidFill>
              <a:round/>
              <a:headEnd type="stealth" w="med" len="lg"/>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zh-CN" altLang="en-US" sz="2800"/>
            </a:p>
          </p:txBody>
        </p:sp>
      </p:grpSp>
      <p:sp>
        <p:nvSpPr>
          <p:cNvPr id="690187" name="Oval 11"/>
          <p:cNvSpPr>
            <a:spLocks noChangeArrowheads="1"/>
          </p:cNvSpPr>
          <p:nvPr/>
        </p:nvSpPr>
        <p:spPr bwMode="auto">
          <a:xfrm>
            <a:off x="7881874" y="1421766"/>
            <a:ext cx="2952750" cy="2809875"/>
          </a:xfrm>
          <a:prstGeom prst="ellipse">
            <a:avLst/>
          </a:prstGeom>
          <a:noFill/>
          <a:ln w="38100">
            <a:solidFill>
              <a:srgbClr val="0000FF"/>
            </a:solidFill>
            <a:prstDash val="dash"/>
            <a:round/>
            <a:headEnd/>
            <a:tailEnd/>
          </a:ln>
          <a:effectLst/>
          <a:extLst>
            <a:ext uri="{909E8E84-426E-40DD-AFC4-6F175D3DCCD1}">
              <a14:hiddenFill xmlns:a14="http://schemas.microsoft.com/office/drawing/2010/main">
                <a:solidFill>
                  <a:srgbClr val="FFCC66">
                    <a:alpha val="63136"/>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b="0">
              <a:ea typeface="华文新魏" panose="02010800040101010101" pitchFamily="2" charset="-122"/>
            </a:endParaRPr>
          </a:p>
        </p:txBody>
      </p:sp>
      <p:sp>
        <p:nvSpPr>
          <p:cNvPr id="690188" name="Oval 12"/>
          <p:cNvSpPr>
            <a:spLocks noChangeArrowheads="1"/>
          </p:cNvSpPr>
          <p:nvPr/>
        </p:nvSpPr>
        <p:spPr bwMode="auto">
          <a:xfrm>
            <a:off x="8242237" y="1782127"/>
            <a:ext cx="2232025" cy="2173288"/>
          </a:xfrm>
          <a:prstGeom prst="ellipse">
            <a:avLst/>
          </a:prstGeom>
          <a:gradFill rotWithShape="1">
            <a:gsLst>
              <a:gs pos="0">
                <a:srgbClr val="339966"/>
              </a:gs>
              <a:gs pos="100000">
                <a:srgbClr val="226644"/>
              </a:gs>
            </a:gsLst>
            <a:path path="shape">
              <a:fillToRect l="50000" t="50000" r="50000" b="50000"/>
            </a:path>
          </a:gradFill>
          <a:ln w="25400">
            <a:solidFill>
              <a:srgbClr val="339966"/>
            </a:solidFill>
            <a:round/>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b="0">
              <a:ea typeface="华文新魏" panose="02010800040101010101" pitchFamily="2" charset="-122"/>
            </a:endParaRPr>
          </a:p>
        </p:txBody>
      </p:sp>
      <p:sp>
        <p:nvSpPr>
          <p:cNvPr id="690214" name="Oval 38"/>
          <p:cNvSpPr>
            <a:spLocks noChangeArrowheads="1"/>
          </p:cNvSpPr>
          <p:nvPr/>
        </p:nvSpPr>
        <p:spPr bwMode="auto">
          <a:xfrm>
            <a:off x="8674036" y="2213928"/>
            <a:ext cx="1322388" cy="1357313"/>
          </a:xfrm>
          <a:prstGeom prst="ellipse">
            <a:avLst/>
          </a:prstGeom>
          <a:noFill/>
          <a:ln w="38100">
            <a:solidFill>
              <a:srgbClr val="FF0000"/>
            </a:solidFill>
            <a:prstDash val="dash"/>
            <a:round/>
            <a:headEnd/>
            <a:tailEnd/>
          </a:ln>
          <a:effectLst/>
          <a:extLst>
            <a:ext uri="{909E8E84-426E-40DD-AFC4-6F175D3DCCD1}">
              <a14:hiddenFill xmlns:a14="http://schemas.microsoft.com/office/drawing/2010/main">
                <a:solidFill>
                  <a:srgbClr val="993366">
                    <a:alpha val="0"/>
                  </a:srgbClr>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endParaRPr lang="zh-CN" altLang="en-US" sz="2800" b="0">
              <a:ea typeface="华文新魏" panose="02010800040101010101" pitchFamily="2" charset="-122"/>
            </a:endParaRPr>
          </a:p>
        </p:txBody>
      </p:sp>
      <p:grpSp>
        <p:nvGrpSpPr>
          <p:cNvPr id="690222" name="Group 46"/>
          <p:cNvGrpSpPr>
            <a:grpSpLocks/>
          </p:cNvGrpSpPr>
          <p:nvPr/>
        </p:nvGrpSpPr>
        <p:grpSpPr bwMode="auto">
          <a:xfrm>
            <a:off x="8386699" y="1853565"/>
            <a:ext cx="1871662" cy="2108199"/>
            <a:chOff x="3969" y="2069"/>
            <a:chExt cx="1179" cy="1328"/>
          </a:xfrm>
        </p:grpSpPr>
        <p:grpSp>
          <p:nvGrpSpPr>
            <p:cNvPr id="86059" name="Group 47"/>
            <p:cNvGrpSpPr>
              <a:grpSpLocks/>
            </p:cNvGrpSpPr>
            <p:nvPr/>
          </p:nvGrpSpPr>
          <p:grpSpPr bwMode="auto">
            <a:xfrm>
              <a:off x="4468" y="2069"/>
              <a:ext cx="680" cy="1328"/>
              <a:chOff x="4468" y="2069"/>
              <a:chExt cx="680" cy="1328"/>
            </a:xfrm>
          </p:grpSpPr>
          <p:sp>
            <p:nvSpPr>
              <p:cNvPr id="86062" name="Text Box 49"/>
              <p:cNvSpPr txBox="1">
                <a:spLocks noChangeArrowheads="1"/>
              </p:cNvSpPr>
              <p:nvPr/>
            </p:nvSpPr>
            <p:spPr bwMode="auto">
              <a:xfrm>
                <a:off x="4468" y="2069"/>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sp>
            <p:nvSpPr>
              <p:cNvPr id="86063" name="Text Box 50"/>
              <p:cNvSpPr txBox="1">
                <a:spLocks noChangeArrowheads="1"/>
              </p:cNvSpPr>
              <p:nvPr/>
            </p:nvSpPr>
            <p:spPr bwMode="auto">
              <a:xfrm>
                <a:off x="4468" y="3067"/>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sp>
            <p:nvSpPr>
              <p:cNvPr id="86064" name="Text Box 51"/>
              <p:cNvSpPr txBox="1">
                <a:spLocks noChangeArrowheads="1"/>
              </p:cNvSpPr>
              <p:nvPr/>
            </p:nvSpPr>
            <p:spPr bwMode="auto">
              <a:xfrm>
                <a:off x="4921" y="2523"/>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grpSp>
        <p:sp>
          <p:nvSpPr>
            <p:cNvPr id="86060" name="Text Box 52"/>
            <p:cNvSpPr txBox="1">
              <a:spLocks noChangeArrowheads="1"/>
            </p:cNvSpPr>
            <p:nvPr/>
          </p:nvSpPr>
          <p:spPr bwMode="auto">
            <a:xfrm>
              <a:off x="3969" y="2568"/>
              <a:ext cx="227" cy="3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kumimoji="1" b="1">
                  <a:solidFill>
                    <a:schemeClr val="tx1"/>
                  </a:solidFill>
                  <a:latin typeface="Times New Roman" panose="02020603050405020304" pitchFamily="18" charset="0"/>
                  <a:ea typeface="宋体" panose="02010600030101010101" pitchFamily="2" charset="-122"/>
                </a:defRPr>
              </a:lvl1pPr>
              <a:lvl2pPr marL="742950" indent="-285750">
                <a:defRPr kumimoji="1" b="1">
                  <a:solidFill>
                    <a:schemeClr val="tx1"/>
                  </a:solidFill>
                  <a:latin typeface="Times New Roman" panose="02020603050405020304" pitchFamily="18" charset="0"/>
                  <a:ea typeface="宋体" panose="02010600030101010101" pitchFamily="2" charset="-122"/>
                </a:defRPr>
              </a:lvl2pPr>
              <a:lvl3pPr marL="1143000" indent="-228600">
                <a:defRPr kumimoji="1" b="1">
                  <a:solidFill>
                    <a:schemeClr val="tx1"/>
                  </a:solidFill>
                  <a:latin typeface="Times New Roman" panose="02020603050405020304" pitchFamily="18" charset="0"/>
                  <a:ea typeface="宋体" panose="02010600030101010101" pitchFamily="2" charset="-122"/>
                </a:defRPr>
              </a:lvl3pPr>
              <a:lvl4pPr marL="1600200" indent="-228600">
                <a:defRPr kumimoji="1" b="1">
                  <a:solidFill>
                    <a:schemeClr val="tx1"/>
                  </a:solidFill>
                  <a:latin typeface="Times New Roman" panose="02020603050405020304" pitchFamily="18" charset="0"/>
                  <a:ea typeface="宋体" panose="02010600030101010101" pitchFamily="2" charset="-122"/>
                </a:defRPr>
              </a:lvl4pPr>
              <a:lvl5pPr marL="2057400" indent="-228600">
                <a:defRPr kumimoji="1"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b="1">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endParaRPr lang="en-US" altLang="zh-CN" sz="2800" b="0" dirty="0">
                <a:ea typeface="华文新魏" panose="02010800040101010101" pitchFamily="2" charset="-122"/>
              </a:endParaRPr>
            </a:p>
          </p:txBody>
        </p:sp>
      </p:grpSp>
      <p:sp>
        <p:nvSpPr>
          <p:cNvPr id="2" name="椭圆 1">
            <a:extLst>
              <a:ext uri="{FF2B5EF4-FFF2-40B4-BE49-F238E27FC236}">
                <a16:creationId xmlns:a16="http://schemas.microsoft.com/office/drawing/2014/main" id="{3CACAA79-3C66-4BC2-B166-0693058D43B6}"/>
              </a:ext>
            </a:extLst>
          </p:cNvPr>
          <p:cNvSpPr/>
          <p:nvPr/>
        </p:nvSpPr>
        <p:spPr>
          <a:xfrm>
            <a:off x="10394047" y="1814636"/>
            <a:ext cx="164908" cy="1697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椭圆 24">
            <a:extLst>
              <a:ext uri="{FF2B5EF4-FFF2-40B4-BE49-F238E27FC236}">
                <a16:creationId xmlns:a16="http://schemas.microsoft.com/office/drawing/2014/main" id="{15692728-5094-443D-9462-CEFC39A3D182}"/>
              </a:ext>
            </a:extLst>
          </p:cNvPr>
          <p:cNvSpPr/>
          <p:nvPr/>
        </p:nvSpPr>
        <p:spPr>
          <a:xfrm>
            <a:off x="8197327" y="1775778"/>
            <a:ext cx="164908" cy="169721"/>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mc:AlternateContent xmlns:mc="http://schemas.openxmlformats.org/markup-compatibility/2006" xmlns:a14="http://schemas.microsoft.com/office/drawing/2010/main">
        <mc:Choice Requires="a14">
          <p:sp>
            <p:nvSpPr>
              <p:cNvPr id="4" name="矩形 3">
                <a:extLst>
                  <a:ext uri="{FF2B5EF4-FFF2-40B4-BE49-F238E27FC236}">
                    <a16:creationId xmlns:a16="http://schemas.microsoft.com/office/drawing/2014/main" id="{2EFCE3F1-A8A0-4320-9E29-C5FAAC67F05F}"/>
                  </a:ext>
                </a:extLst>
              </p:cNvPr>
              <p:cNvSpPr/>
              <p:nvPr/>
            </p:nvSpPr>
            <p:spPr>
              <a:xfrm>
                <a:off x="1019985" y="1668692"/>
                <a:ext cx="3747757" cy="109863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nary>
                        <m:naryPr>
                          <m:chr m:val="∯"/>
                          <m:ctrlPr>
                            <a:rPr lang="en-US" altLang="zh-CN" sz="2800" i="1" smtClean="0">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𝑆</m:t>
                          </m:r>
                        </m:sub>
                        <m:sup/>
                        <m:e>
                          <m:acc>
                            <m:accPr>
                              <m:chr m:val="⃗"/>
                              <m:ctrlPr>
                                <a:rPr lang="en-US" altLang="zh-CN" sz="2800" i="1">
                                  <a:solidFill>
                                    <a:schemeClr val="tx1"/>
                                  </a:solidFill>
                                  <a:latin typeface="Cambria Math" panose="02040503050406030204" pitchFamily="18" charset="0"/>
                                  <a:ea typeface="黑体" panose="02010609060101010101" pitchFamily="49" charset="-122"/>
                                </a:rPr>
                              </m:ctrlPr>
                            </m:accPr>
                            <m:e>
                              <m:r>
                                <a:rPr lang="en-US" altLang="zh-CN" sz="2800" b="0" i="1">
                                  <a:solidFill>
                                    <a:schemeClr val="tx1"/>
                                  </a:solidFill>
                                  <a:latin typeface="Cambria Math" panose="02040503050406030204" pitchFamily="18" charset="0"/>
                                  <a:ea typeface="黑体" panose="02010609060101010101" pitchFamily="49" charset="-122"/>
                                </a:rPr>
                                <m:t>𝐸</m:t>
                              </m:r>
                            </m:e>
                          </m:acc>
                          <m:r>
                            <a:rPr lang="en-US" altLang="zh-CN" sz="2800" b="0" i="1">
                              <a:solidFill>
                                <a:schemeClr val="tx1"/>
                              </a:solidFill>
                              <a:latin typeface="Cambria Math" panose="02040503050406030204" pitchFamily="18" charset="0"/>
                              <a:ea typeface="Cambria Math" panose="02040503050406030204" pitchFamily="18" charset="0"/>
                            </a:rPr>
                            <m:t>∙</m:t>
                          </m:r>
                          <m:r>
                            <a:rPr lang="en-US" altLang="zh-CN" sz="2800" b="0" i="1">
                              <a:solidFill>
                                <a:schemeClr val="tx1"/>
                              </a:solidFill>
                              <a:latin typeface="Cambria Math" panose="02040503050406030204" pitchFamily="18" charset="0"/>
                              <a:ea typeface="Cambria Math" panose="02040503050406030204" pitchFamily="18" charset="0"/>
                            </a:rPr>
                            <m:t>𝑑</m:t>
                          </m:r>
                          <m:acc>
                            <m:accPr>
                              <m:chr m:val="⃗"/>
                              <m:ctrlPr>
                                <a:rPr lang="en-US" altLang="zh-CN" sz="2800" i="1">
                                  <a:solidFill>
                                    <a:schemeClr val="tx1"/>
                                  </a:solidFill>
                                  <a:latin typeface="Cambria Math" panose="02040503050406030204" pitchFamily="18" charset="0"/>
                                  <a:ea typeface="黑体" panose="02010609060101010101" pitchFamily="49" charset="-122"/>
                                </a:rPr>
                              </m:ctrlPr>
                            </m:accPr>
                            <m:e>
                              <m:r>
                                <a:rPr lang="en-US" altLang="zh-CN" sz="2800" b="0" i="1">
                                  <a:solidFill>
                                    <a:schemeClr val="tx1"/>
                                  </a:solidFill>
                                  <a:latin typeface="Cambria Math" panose="02040503050406030204" pitchFamily="18" charset="0"/>
                                  <a:ea typeface="黑体" panose="02010609060101010101" pitchFamily="49" charset="-122"/>
                                </a:rPr>
                                <m:t>𝑆</m:t>
                              </m:r>
                            </m:e>
                          </m:acc>
                        </m:e>
                      </m:nary>
                      <m:r>
                        <a:rPr lang="en-US" altLang="zh-CN" sz="2800" b="0" i="1">
                          <a:solidFill>
                            <a:schemeClr val="tx1"/>
                          </a:solidFill>
                          <a:latin typeface="Cambria Math" panose="02040503050406030204" pitchFamily="18" charset="0"/>
                          <a:ea typeface="黑体" panose="02010609060101010101" pitchFamily="49" charset="-122"/>
                        </a:rPr>
                        <m:t>=</m:t>
                      </m:r>
                      <m:r>
                        <a:rPr lang="en-US" altLang="zh-CN" sz="2800" b="0" i="1">
                          <a:solidFill>
                            <a:schemeClr val="tx1"/>
                          </a:solidFill>
                          <a:latin typeface="Cambria Math" panose="02040503050406030204" pitchFamily="18" charset="0"/>
                          <a:ea typeface="黑体" panose="02010609060101010101" pitchFamily="49" charset="-122"/>
                        </a:rPr>
                        <m:t>𝐸</m:t>
                      </m:r>
                      <m:nary>
                        <m:naryPr>
                          <m:chr m:val="∯"/>
                          <m:ctrlPr>
                            <a:rPr lang="en-US" altLang="zh-CN" sz="2800" i="1">
                              <a:solidFill>
                                <a:schemeClr val="tx1"/>
                              </a:solidFill>
                              <a:latin typeface="Cambria Math" panose="02040503050406030204" pitchFamily="18" charset="0"/>
                              <a:ea typeface="黑体" panose="02010609060101010101" pitchFamily="49" charset="-122"/>
                            </a:rPr>
                          </m:ctrlPr>
                        </m:naryPr>
                        <m:sub>
                          <m:r>
                            <m:rPr>
                              <m:brk m:alnAt="23"/>
                            </m:rPr>
                            <a:rPr lang="en-US" altLang="zh-CN" sz="2800" b="0" i="1">
                              <a:solidFill>
                                <a:schemeClr val="tx1"/>
                              </a:solidFill>
                              <a:latin typeface="Cambria Math" panose="02040503050406030204" pitchFamily="18" charset="0"/>
                              <a:ea typeface="黑体" panose="02010609060101010101" pitchFamily="49" charset="-122"/>
                            </a:rPr>
                            <m:t>𝑆</m:t>
                          </m:r>
                        </m:sub>
                        <m:sup/>
                        <m:e>
                          <m:r>
                            <a:rPr lang="en-US" altLang="zh-CN" sz="2800" b="0" i="1">
                              <a:solidFill>
                                <a:schemeClr val="tx1"/>
                              </a:solidFill>
                              <a:latin typeface="Cambria Math" panose="02040503050406030204" pitchFamily="18" charset="0"/>
                              <a:ea typeface="Cambria Math" panose="02040503050406030204" pitchFamily="18" charset="0"/>
                            </a:rPr>
                            <m:t>𝑑𝑆</m:t>
                          </m:r>
                        </m:e>
                      </m:nary>
                    </m:oMath>
                  </m:oMathPara>
                </a14:m>
                <a:endParaRPr lang="en-US" altLang="zh-CN" sz="2800" i="1" dirty="0">
                  <a:solidFill>
                    <a:schemeClr val="tx1"/>
                  </a:solidFill>
                  <a:ea typeface="黑体" panose="02010609060101010101" pitchFamily="49" charset="-122"/>
                  <a:cs typeface="Times New Roman" panose="02020603050405020304" pitchFamily="18" charset="0"/>
                </a:endParaRPr>
              </a:p>
            </p:txBody>
          </p:sp>
        </mc:Choice>
        <mc:Fallback xmlns="">
          <p:sp>
            <p:nvSpPr>
              <p:cNvPr id="4" name="矩形 3">
                <a:extLst>
                  <a:ext uri="{FF2B5EF4-FFF2-40B4-BE49-F238E27FC236}">
                    <a16:creationId xmlns:a16="http://schemas.microsoft.com/office/drawing/2014/main" id="{2EFCE3F1-A8A0-4320-9E29-C5FAAC67F05F}"/>
                  </a:ext>
                </a:extLst>
              </p:cNvPr>
              <p:cNvSpPr>
                <a:spLocks noRot="1" noChangeAspect="1" noMove="1" noResize="1" noEditPoints="1" noAdjustHandles="1" noChangeArrowheads="1" noChangeShapeType="1" noTextEdit="1"/>
              </p:cNvSpPr>
              <p:nvPr/>
            </p:nvSpPr>
            <p:spPr>
              <a:xfrm>
                <a:off x="1019985" y="1668692"/>
                <a:ext cx="3747757" cy="109863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AC66F901-CEF3-4894-B7D2-C1ED91180F10}"/>
                  </a:ext>
                </a:extLst>
              </p:cNvPr>
              <p:cNvSpPr/>
              <p:nvPr/>
            </p:nvSpPr>
            <p:spPr>
              <a:xfrm>
                <a:off x="2652776" y="3007009"/>
                <a:ext cx="2560766" cy="9089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zh-CN" altLang="en-US" sz="2800" b="0" i="1" dirty="0" smtClean="0">
                          <a:solidFill>
                            <a:schemeClr val="tx1"/>
                          </a:solidFill>
                          <a:latin typeface="Cambria Math" panose="02040503050406030204" pitchFamily="18" charset="0"/>
                          <a:ea typeface="华文新魏" panose="02010800040101010101" pitchFamily="2" charset="-122"/>
                        </a:rPr>
                        <m:t>→</m:t>
                      </m:r>
                      <m:r>
                        <a:rPr lang="en-US" altLang="zh-CN" sz="2800" b="0" i="1" dirty="0">
                          <a:solidFill>
                            <a:schemeClr val="tx1"/>
                          </a:solidFill>
                          <a:latin typeface="Cambria Math" panose="02040503050406030204" pitchFamily="18" charset="0"/>
                          <a:ea typeface="华文新魏" panose="02010800040101010101" pitchFamily="2" charset="-122"/>
                        </a:rPr>
                        <m:t>𝐸</m:t>
                      </m:r>
                      <m:r>
                        <a:rPr lang="en-US" altLang="zh-CN" sz="2800" b="0" i="1" dirty="0">
                          <a:solidFill>
                            <a:schemeClr val="tx1"/>
                          </a:solidFill>
                          <a:latin typeface="Cambria Math" panose="02040503050406030204" pitchFamily="18" charset="0"/>
                          <a:ea typeface="华文新魏" panose="02010800040101010101" pitchFamily="2" charset="-122"/>
                        </a:rPr>
                        <m:t>=</m:t>
                      </m:r>
                      <m:f>
                        <m:fPr>
                          <m:ctrlPr>
                            <a:rPr lang="en-US" altLang="zh-CN" sz="2800" i="1" dirty="0">
                              <a:solidFill>
                                <a:schemeClr val="tx1"/>
                              </a:solidFill>
                              <a:latin typeface="Cambria Math" panose="02040503050406030204" pitchFamily="18" charset="0"/>
                              <a:ea typeface="华文新魏" panose="02010800040101010101" pitchFamily="2" charset="-122"/>
                            </a:rPr>
                          </m:ctrlPr>
                        </m:fPr>
                        <m:num>
                          <m:sSub>
                            <m:sSubPr>
                              <m:ctrlPr>
                                <a:rPr lang="en-US" altLang="zh-CN" sz="2800" i="1" dirty="0">
                                  <a:solidFill>
                                    <a:schemeClr val="tx1"/>
                                  </a:solidFill>
                                  <a:latin typeface="Cambria Math" panose="02040503050406030204" pitchFamily="18" charset="0"/>
                                  <a:ea typeface="华文新魏" panose="02010800040101010101" pitchFamily="2" charset="-122"/>
                                </a:rPr>
                              </m:ctrlPr>
                            </m:sSubPr>
                            <m:e>
                              <m:r>
                                <a:rPr lang="en-US" altLang="zh-CN" sz="2800" b="0" i="1" dirty="0">
                                  <a:solidFill>
                                    <a:schemeClr val="tx1"/>
                                  </a:solidFill>
                                  <a:latin typeface="Cambria Math" panose="02040503050406030204" pitchFamily="18" charset="0"/>
                                  <a:ea typeface="华文新魏" panose="02010800040101010101" pitchFamily="2" charset="-122"/>
                                </a:rPr>
                                <m:t>𝑞</m:t>
                              </m:r>
                            </m:e>
                            <m:sub>
                              <m:r>
                                <a:rPr lang="en-US" altLang="zh-CN" sz="2800" b="0" i="1" dirty="0">
                                  <a:solidFill>
                                    <a:schemeClr val="tx1"/>
                                  </a:solidFill>
                                  <a:latin typeface="Cambria Math" panose="02040503050406030204" pitchFamily="18" charset="0"/>
                                  <a:ea typeface="华文新魏" panose="02010800040101010101" pitchFamily="2" charset="-122"/>
                                </a:rPr>
                                <m:t>𝑖𝑛</m:t>
                              </m:r>
                            </m:sub>
                          </m:sSub>
                        </m:num>
                        <m:den>
                          <m:r>
                            <a:rPr lang="en-US" altLang="zh-CN" sz="2800" b="0" i="1" dirty="0">
                              <a:solidFill>
                                <a:schemeClr val="tx1"/>
                              </a:solidFill>
                              <a:latin typeface="Cambria Math" panose="02040503050406030204" pitchFamily="18" charset="0"/>
                              <a:ea typeface="华文新魏" panose="02010800040101010101" pitchFamily="2" charset="-122"/>
                            </a:rPr>
                            <m:t>4</m:t>
                          </m:r>
                          <m:r>
                            <a:rPr lang="zh-CN" altLang="en-US" sz="2800" b="0" i="1" dirty="0">
                              <a:solidFill>
                                <a:schemeClr val="tx1"/>
                              </a:solidFill>
                              <a:latin typeface="Cambria Math" panose="02040503050406030204" pitchFamily="18" charset="0"/>
                              <a:ea typeface="华文新魏" panose="02010800040101010101" pitchFamily="2" charset="-122"/>
                            </a:rPr>
                            <m:t>𝜋</m:t>
                          </m:r>
                          <m:sSub>
                            <m:sSubPr>
                              <m:ctrlPr>
                                <a:rPr lang="en-US" altLang="zh-CN" sz="2800" i="1" dirty="0">
                                  <a:solidFill>
                                    <a:schemeClr val="tx1"/>
                                  </a:solidFill>
                                  <a:latin typeface="Cambria Math" panose="02040503050406030204" pitchFamily="18" charset="0"/>
                                  <a:ea typeface="华文新魏" panose="02010800040101010101" pitchFamily="2" charset="-122"/>
                                </a:rPr>
                              </m:ctrlPr>
                            </m:sSubPr>
                            <m:e>
                              <m:r>
                                <a:rPr lang="zh-CN" altLang="en-US" sz="2800" b="0" i="1" dirty="0">
                                  <a:solidFill>
                                    <a:schemeClr val="tx1"/>
                                  </a:solidFill>
                                  <a:latin typeface="Cambria Math" panose="02040503050406030204" pitchFamily="18" charset="0"/>
                                  <a:ea typeface="华文新魏" panose="02010800040101010101" pitchFamily="2" charset="-122"/>
                                </a:rPr>
                                <m:t>𝜀</m:t>
                              </m:r>
                            </m:e>
                            <m:sub>
                              <m:r>
                                <a:rPr lang="en-US" altLang="zh-CN" sz="2800" b="0" i="1" dirty="0">
                                  <a:solidFill>
                                    <a:schemeClr val="tx1"/>
                                  </a:solidFill>
                                  <a:latin typeface="Cambria Math" panose="02040503050406030204" pitchFamily="18" charset="0"/>
                                  <a:ea typeface="华文新魏" panose="02010800040101010101" pitchFamily="2" charset="-122"/>
                                </a:rPr>
                                <m:t>0</m:t>
                              </m:r>
                            </m:sub>
                          </m:sSub>
                          <m:sSup>
                            <m:sSupPr>
                              <m:ctrlPr>
                                <a:rPr lang="en-US" altLang="zh-CN" sz="2800" i="1" dirty="0">
                                  <a:solidFill>
                                    <a:schemeClr val="tx1"/>
                                  </a:solidFill>
                                  <a:latin typeface="Cambria Math" panose="02040503050406030204" pitchFamily="18" charset="0"/>
                                  <a:ea typeface="华文新魏" panose="02010800040101010101" pitchFamily="2" charset="-122"/>
                                </a:rPr>
                              </m:ctrlPr>
                            </m:sSupPr>
                            <m:e>
                              <m:r>
                                <a:rPr lang="en-US" altLang="zh-CN" sz="2800" b="0" i="1" dirty="0">
                                  <a:solidFill>
                                    <a:schemeClr val="tx1"/>
                                  </a:solidFill>
                                  <a:latin typeface="Cambria Math" panose="02040503050406030204" pitchFamily="18" charset="0"/>
                                  <a:ea typeface="华文新魏" panose="02010800040101010101" pitchFamily="2" charset="-122"/>
                                </a:rPr>
                                <m:t>𝑟</m:t>
                              </m:r>
                            </m:e>
                            <m:sup>
                              <m:r>
                                <a:rPr lang="en-US" altLang="zh-CN" sz="2800" b="0" i="1" dirty="0">
                                  <a:solidFill>
                                    <a:schemeClr val="tx1"/>
                                  </a:solidFill>
                                  <a:latin typeface="Cambria Math" panose="02040503050406030204" pitchFamily="18" charset="0"/>
                                  <a:ea typeface="华文新魏" panose="02010800040101010101" pitchFamily="2" charset="-122"/>
                                </a:rPr>
                                <m:t>2</m:t>
                              </m:r>
                            </m:sup>
                          </m:sSup>
                        </m:den>
                      </m:f>
                    </m:oMath>
                  </m:oMathPara>
                </a14:m>
                <a:endParaRPr lang="en-US" sz="2800" dirty="0">
                  <a:solidFill>
                    <a:schemeClr val="tx1"/>
                  </a:solidFill>
                </a:endParaRPr>
              </a:p>
            </p:txBody>
          </p:sp>
        </mc:Choice>
        <mc:Fallback xmlns="">
          <p:sp>
            <p:nvSpPr>
              <p:cNvPr id="7" name="矩形 6">
                <a:extLst>
                  <a:ext uri="{FF2B5EF4-FFF2-40B4-BE49-F238E27FC236}">
                    <a16:creationId xmlns:a16="http://schemas.microsoft.com/office/drawing/2014/main" id="{AC66F901-CEF3-4894-B7D2-C1ED91180F10}"/>
                  </a:ext>
                </a:extLst>
              </p:cNvPr>
              <p:cNvSpPr>
                <a:spLocks noRot="1" noChangeAspect="1" noMove="1" noResize="1" noEditPoints="1" noAdjustHandles="1" noChangeArrowheads="1" noChangeShapeType="1" noTextEdit="1"/>
              </p:cNvSpPr>
              <p:nvPr/>
            </p:nvSpPr>
            <p:spPr>
              <a:xfrm>
                <a:off x="2652776" y="3007009"/>
                <a:ext cx="2560766" cy="908903"/>
              </a:xfrm>
              <a:prstGeom prst="rect">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81DCACB8-843D-4874-8EB0-39E67B49B125}"/>
                  </a:ext>
                </a:extLst>
              </p:cNvPr>
              <p:cNvSpPr/>
              <p:nvPr/>
            </p:nvSpPr>
            <p:spPr>
              <a:xfrm>
                <a:off x="4709711" y="1822034"/>
                <a:ext cx="2930289" cy="90890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黑体" panose="02010609060101010101" pitchFamily="49" charset="-122"/>
                        </a:rPr>
                        <m:t>=</m:t>
                      </m:r>
                      <m:r>
                        <a:rPr lang="en-US" altLang="zh-CN" sz="2800" b="0" i="1" smtClean="0">
                          <a:solidFill>
                            <a:schemeClr val="tx1"/>
                          </a:solidFill>
                          <a:latin typeface="Cambria Math" panose="02040503050406030204" pitchFamily="18" charset="0"/>
                          <a:ea typeface="黑体" panose="02010609060101010101" pitchFamily="49" charset="-122"/>
                        </a:rPr>
                        <m:t>𝐸</m:t>
                      </m:r>
                      <m:r>
                        <a:rPr lang="en-US" altLang="zh-CN" sz="2800" b="0" i="1">
                          <a:solidFill>
                            <a:schemeClr val="tx1"/>
                          </a:solidFill>
                          <a:latin typeface="Cambria Math" panose="02040503050406030204" pitchFamily="18" charset="0"/>
                          <a:ea typeface="Cambria Math" panose="02040503050406030204" pitchFamily="18" charset="0"/>
                        </a:rPr>
                        <m:t>∙</m:t>
                      </m:r>
                      <m:r>
                        <a:rPr lang="en-US" altLang="zh-CN" sz="2800" b="0" i="1" dirty="0">
                          <a:solidFill>
                            <a:schemeClr val="tx1"/>
                          </a:solidFill>
                          <a:latin typeface="Cambria Math" panose="02040503050406030204" pitchFamily="18" charset="0"/>
                          <a:ea typeface="华文新魏" panose="02010800040101010101" pitchFamily="2" charset="-122"/>
                        </a:rPr>
                        <m:t>4</m:t>
                      </m:r>
                      <m:r>
                        <a:rPr lang="zh-CN" altLang="en-US" sz="2800" b="0" i="1" dirty="0">
                          <a:solidFill>
                            <a:schemeClr val="tx1"/>
                          </a:solidFill>
                          <a:latin typeface="Cambria Math" panose="02040503050406030204" pitchFamily="18" charset="0"/>
                          <a:ea typeface="华文新魏" panose="02010800040101010101" pitchFamily="2" charset="-122"/>
                        </a:rPr>
                        <m:t>𝜋</m:t>
                      </m:r>
                      <m:sSup>
                        <m:sSupPr>
                          <m:ctrlPr>
                            <a:rPr lang="en-US" altLang="zh-CN" sz="2800" i="1" dirty="0">
                              <a:solidFill>
                                <a:schemeClr val="tx1"/>
                              </a:solidFill>
                              <a:latin typeface="Cambria Math" panose="02040503050406030204" pitchFamily="18" charset="0"/>
                              <a:ea typeface="华文新魏" panose="02010800040101010101" pitchFamily="2" charset="-122"/>
                            </a:rPr>
                          </m:ctrlPr>
                        </m:sSupPr>
                        <m:e>
                          <m:r>
                            <a:rPr lang="en-US" altLang="zh-CN" sz="2800" b="0" i="1" dirty="0">
                              <a:solidFill>
                                <a:schemeClr val="tx1"/>
                              </a:solidFill>
                              <a:latin typeface="Cambria Math" panose="02040503050406030204" pitchFamily="18" charset="0"/>
                              <a:ea typeface="华文新魏" panose="02010800040101010101" pitchFamily="2" charset="-122"/>
                            </a:rPr>
                            <m:t>𝑟</m:t>
                          </m:r>
                        </m:e>
                        <m:sup>
                          <m:r>
                            <a:rPr lang="en-US" altLang="zh-CN" sz="2800" b="0" i="1" dirty="0">
                              <a:solidFill>
                                <a:schemeClr val="tx1"/>
                              </a:solidFill>
                              <a:latin typeface="Cambria Math" panose="02040503050406030204" pitchFamily="18" charset="0"/>
                              <a:ea typeface="华文新魏" panose="02010800040101010101" pitchFamily="2" charset="-122"/>
                            </a:rPr>
                            <m:t>2</m:t>
                          </m:r>
                        </m:sup>
                      </m:sSup>
                      <m:r>
                        <a:rPr lang="en-US" altLang="zh-CN" sz="2800" b="0" i="1">
                          <a:solidFill>
                            <a:schemeClr val="tx1"/>
                          </a:solidFill>
                          <a:latin typeface="Cambria Math" panose="02040503050406030204" pitchFamily="18" charset="0"/>
                          <a:ea typeface="黑体" panose="02010609060101010101" pitchFamily="49" charset="-122"/>
                        </a:rPr>
                        <m:t>=</m:t>
                      </m:r>
                      <m:f>
                        <m:fPr>
                          <m:ctrlPr>
                            <a:rPr lang="en-US" altLang="zh-CN" sz="2800" i="1">
                              <a:solidFill>
                                <a:schemeClr val="tx1"/>
                              </a:solidFill>
                              <a:latin typeface="Cambria Math" panose="02040503050406030204" pitchFamily="18" charset="0"/>
                              <a:ea typeface="黑体" panose="02010609060101010101" pitchFamily="49" charset="-122"/>
                            </a:rPr>
                          </m:ctrlPr>
                        </m:fPr>
                        <m:num>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en-US" altLang="zh-CN" sz="2800" b="0" i="1">
                                  <a:solidFill>
                                    <a:schemeClr val="tx1"/>
                                  </a:solidFill>
                                  <a:latin typeface="Cambria Math" panose="02040503050406030204" pitchFamily="18" charset="0"/>
                                  <a:ea typeface="黑体" panose="02010609060101010101" pitchFamily="49" charset="-122"/>
                                </a:rPr>
                                <m:t>𝑞</m:t>
                              </m:r>
                            </m:e>
                            <m:sub>
                              <m:r>
                                <a:rPr lang="en-US" altLang="zh-CN" sz="2800" b="0" i="1">
                                  <a:solidFill>
                                    <a:schemeClr val="tx1"/>
                                  </a:solidFill>
                                  <a:latin typeface="Cambria Math" panose="02040503050406030204" pitchFamily="18" charset="0"/>
                                  <a:ea typeface="黑体" panose="02010609060101010101" pitchFamily="49" charset="-122"/>
                                </a:rPr>
                                <m:t>𝑖𝑛</m:t>
                              </m:r>
                            </m:sub>
                          </m:sSub>
                        </m:num>
                        <m:den>
                          <m:sSub>
                            <m:sSubPr>
                              <m:ctrlPr>
                                <a:rPr lang="en-US" altLang="zh-CN" sz="2800" i="1">
                                  <a:solidFill>
                                    <a:schemeClr val="tx1"/>
                                  </a:solidFill>
                                  <a:latin typeface="Cambria Math" panose="02040503050406030204" pitchFamily="18" charset="0"/>
                                  <a:ea typeface="黑体" panose="02010609060101010101" pitchFamily="49" charset="-122"/>
                                </a:rPr>
                              </m:ctrlPr>
                            </m:sSubPr>
                            <m:e>
                              <m:r>
                                <a:rPr lang="zh-CN" altLang="en-US" sz="2800" b="0" i="1">
                                  <a:solidFill>
                                    <a:schemeClr val="tx1"/>
                                  </a:solidFill>
                                  <a:latin typeface="Cambria Math" panose="02040503050406030204" pitchFamily="18" charset="0"/>
                                  <a:ea typeface="黑体" panose="02010609060101010101" pitchFamily="49" charset="-122"/>
                                </a:rPr>
                                <m:t>𝜀</m:t>
                              </m:r>
                            </m:e>
                            <m:sub>
                              <m:r>
                                <a:rPr lang="en-US" altLang="zh-CN" sz="2800" b="0" i="1">
                                  <a:solidFill>
                                    <a:schemeClr val="tx1"/>
                                  </a:solidFill>
                                  <a:latin typeface="Cambria Math" panose="02040503050406030204" pitchFamily="18" charset="0"/>
                                  <a:ea typeface="黑体" panose="02010609060101010101" pitchFamily="49" charset="-122"/>
                                </a:rPr>
                                <m:t>0</m:t>
                              </m:r>
                            </m:sub>
                          </m:sSub>
                        </m:den>
                      </m:f>
                    </m:oMath>
                  </m:oMathPara>
                </a14:m>
                <a:endParaRPr lang="en-US" sz="2800" dirty="0">
                  <a:solidFill>
                    <a:schemeClr val="tx1"/>
                  </a:solidFill>
                </a:endParaRPr>
              </a:p>
            </p:txBody>
          </p:sp>
        </mc:Choice>
        <mc:Fallback xmlns="">
          <p:sp>
            <p:nvSpPr>
              <p:cNvPr id="8" name="矩形 7">
                <a:extLst>
                  <a:ext uri="{FF2B5EF4-FFF2-40B4-BE49-F238E27FC236}">
                    <a16:creationId xmlns:a16="http://schemas.microsoft.com/office/drawing/2014/main" id="{81DCACB8-843D-4874-8EB0-39E67B49B125}"/>
                  </a:ext>
                </a:extLst>
              </p:cNvPr>
              <p:cNvSpPr>
                <a:spLocks noRot="1" noChangeAspect="1" noMove="1" noResize="1" noEditPoints="1" noAdjustHandles="1" noChangeArrowheads="1" noChangeShapeType="1" noTextEdit="1"/>
              </p:cNvSpPr>
              <p:nvPr/>
            </p:nvSpPr>
            <p:spPr>
              <a:xfrm>
                <a:off x="4709711" y="1822034"/>
                <a:ext cx="2930289" cy="908903"/>
              </a:xfrm>
              <a:prstGeom prst="rect">
                <a:avLst/>
              </a:prstGeom>
              <a:blipFill>
                <a:blip r:embed="rId4"/>
                <a:stretch>
                  <a:fillRect/>
                </a:stretch>
              </a:blipFill>
            </p:spPr>
            <p:txBody>
              <a:bodyPr/>
              <a:lstStyle/>
              <a:p>
                <a:r>
                  <a:rPr lang="en-US">
                    <a:noFill/>
                  </a:rPr>
                  <a:t> </a:t>
                </a:r>
              </a:p>
            </p:txBody>
          </p:sp>
        </mc:Fallback>
      </mc:AlternateContent>
      <p:sp>
        <p:nvSpPr>
          <p:cNvPr id="22" name="矩形 21">
            <a:extLst>
              <a:ext uri="{FF2B5EF4-FFF2-40B4-BE49-F238E27FC236}">
                <a16:creationId xmlns:a16="http://schemas.microsoft.com/office/drawing/2014/main" id="{F9342AB8-BE87-411D-B05E-08CB9E726170}"/>
              </a:ext>
            </a:extLst>
          </p:cNvPr>
          <p:cNvSpPr/>
          <p:nvPr/>
        </p:nvSpPr>
        <p:spPr>
          <a:xfrm>
            <a:off x="1228006" y="4189546"/>
            <a:ext cx="3775393" cy="523220"/>
          </a:xfrm>
          <a:prstGeom prst="rect">
            <a:avLst/>
          </a:prstGeom>
        </p:spPr>
        <p:txBody>
          <a:bodyPr wrap="none">
            <a:spAutoFit/>
          </a:bodyPr>
          <a:lstStyle/>
          <a:p>
            <a:r>
              <a:rPr lang="zh-CN" altLang="en-US" sz="2800" dirty="0"/>
              <a:t>电荷均匀分布在球体内</a:t>
            </a:r>
            <a:endParaRPr lang="en-US" sz="2800" dirty="0"/>
          </a:p>
        </p:txBody>
      </p: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AF169F3D-1A4D-48A7-B28D-FC83FEC352C6}"/>
                  </a:ext>
                </a:extLst>
              </p:cNvPr>
              <p:cNvSpPr/>
              <p:nvPr/>
            </p:nvSpPr>
            <p:spPr>
              <a:xfrm>
                <a:off x="1154678" y="4639438"/>
                <a:ext cx="6215076" cy="1313949"/>
              </a:xfrm>
              <a:prstGeom prst="rect">
                <a:avLst/>
              </a:prstGeom>
            </p:spPr>
            <p:txBody>
              <a:bodyPr wrap="square">
                <a:spAutoFit/>
              </a:bodyPr>
              <a:lstStyle/>
              <a:p>
                <a:pPr>
                  <a:spcBef>
                    <a:spcPct val="50000"/>
                  </a:spcBef>
                </a:pPr>
                <a14:m>
                  <m:oMathPara xmlns:m="http://schemas.openxmlformats.org/officeDocument/2006/math">
                    <m:oMathParaPr>
                      <m:jc m:val="left"/>
                    </m:oMathParaPr>
                    <m:oMath xmlns:m="http://schemas.openxmlformats.org/officeDocument/2006/math">
                      <m:r>
                        <a:rPr lang="en-US" altLang="zh-CN" sz="2800" b="0" i="1" dirty="0" smtClean="0">
                          <a:solidFill>
                            <a:schemeClr val="tx1"/>
                          </a:solidFill>
                          <a:latin typeface="Cambria Math" panose="02040503050406030204" pitchFamily="18" charset="0"/>
                          <a:ea typeface="华文新魏" panose="02010800040101010101" pitchFamily="2" charset="-122"/>
                        </a:rPr>
                        <m:t>− </m:t>
                      </m:r>
                      <m:r>
                        <a:rPr lang="en-US" altLang="zh-CN" sz="2800" b="0" i="1" dirty="0" smtClean="0">
                          <a:solidFill>
                            <a:schemeClr val="tx1"/>
                          </a:solidFill>
                          <a:latin typeface="Cambria Math" panose="02040503050406030204" pitchFamily="18" charset="0"/>
                          <a:ea typeface="华文新魏" panose="02010800040101010101" pitchFamily="2" charset="-122"/>
                        </a:rPr>
                        <m:t>𝑟</m:t>
                      </m:r>
                      <m:r>
                        <a:rPr lang="en-US" altLang="zh-CN" sz="2800" b="0" i="1" dirty="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&lt;</m:t>
                      </m:r>
                      <m:r>
                        <a:rPr lang="en-US" altLang="zh-CN" sz="2800" b="0" i="1" dirty="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𝑅</m:t>
                      </m:r>
                      <m:r>
                        <a:rPr lang="zh-CN" altLang="en-US" sz="2800" b="0" i="1" dirty="0">
                          <a:solidFill>
                            <a:schemeClr val="tx1"/>
                          </a:solidFill>
                          <a:latin typeface="Cambria Math" panose="02040503050406030204" pitchFamily="18" charset="0"/>
                          <a:ea typeface="华文新魏" panose="02010800040101010101" pitchFamily="2" charset="-122"/>
                          <a:cs typeface="Times New Roman" panose="02020603050405020304" pitchFamily="18" charset="0"/>
                        </a:rPr>
                        <m:t>，</m:t>
                      </m:r>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a:solidFill>
                                <a:schemeClr val="tx1"/>
                              </a:solidFill>
                              <a:latin typeface="Cambria Math" panose="02040503050406030204" pitchFamily="18" charset="0"/>
                              <a:ea typeface="华文新魏" panose="02010800040101010101" pitchFamily="2" charset="-122"/>
                            </a:rPr>
                            <m:t>𝑞</m:t>
                          </m:r>
                        </m:e>
                        <m:sub>
                          <m:r>
                            <a:rPr lang="en-US" altLang="zh-CN" sz="2800" b="0" i="1">
                              <a:solidFill>
                                <a:schemeClr val="tx1"/>
                              </a:solidFill>
                              <a:latin typeface="Cambria Math" panose="02040503050406030204" pitchFamily="18" charset="0"/>
                              <a:ea typeface="华文新魏" panose="02010800040101010101" pitchFamily="2" charset="-122"/>
                            </a:rPr>
                            <m:t>𝑖𝑛</m:t>
                          </m:r>
                        </m:sub>
                      </m:sSub>
                      <m:r>
                        <a:rPr lang="en-US" altLang="zh-CN" sz="2800" b="0" i="1">
                          <a:solidFill>
                            <a:schemeClr val="tx1"/>
                          </a:solidFill>
                          <a:latin typeface="Cambria Math" panose="02040503050406030204" pitchFamily="18" charset="0"/>
                          <a:ea typeface="华文新魏" panose="02010800040101010101" pitchFamily="2" charset="-122"/>
                        </a:rPr>
                        <m:t>=</m:t>
                      </m:r>
                      <m:f>
                        <m:fPr>
                          <m:ctrlPr>
                            <a:rPr lang="en-US" altLang="zh-CN" sz="2800" i="1">
                              <a:solidFill>
                                <a:schemeClr val="tx1"/>
                              </a:solidFill>
                              <a:latin typeface="Cambria Math" panose="02040503050406030204" pitchFamily="18" charset="0"/>
                              <a:ea typeface="华文新魏" panose="02010800040101010101" pitchFamily="2" charset="-122"/>
                            </a:rPr>
                          </m:ctrlPr>
                        </m:fPr>
                        <m:num>
                          <m:r>
                            <a:rPr lang="en-US" altLang="zh-CN" sz="2800" b="0" i="1">
                              <a:solidFill>
                                <a:schemeClr val="tx1"/>
                              </a:solidFill>
                              <a:latin typeface="Cambria Math" panose="02040503050406030204" pitchFamily="18" charset="0"/>
                              <a:ea typeface="华文新魏" panose="02010800040101010101" pitchFamily="2" charset="-122"/>
                            </a:rPr>
                            <m:t>𝑞</m:t>
                          </m:r>
                        </m:num>
                        <m:den>
                          <m:f>
                            <m:fPr>
                              <m:ctrlPr>
                                <a:rPr lang="en-US" altLang="zh-CN" sz="2800" i="1">
                                  <a:solidFill>
                                    <a:schemeClr val="tx1"/>
                                  </a:solidFill>
                                  <a:latin typeface="Cambria Math" panose="02040503050406030204" pitchFamily="18" charset="0"/>
                                  <a:ea typeface="华文新魏" panose="02010800040101010101" pitchFamily="2" charset="-122"/>
                                </a:rPr>
                              </m:ctrlPr>
                            </m:fPr>
                            <m:num>
                              <m:r>
                                <a:rPr lang="en-US" altLang="zh-CN" sz="2800" b="0" i="1">
                                  <a:solidFill>
                                    <a:schemeClr val="tx1"/>
                                  </a:solidFill>
                                  <a:latin typeface="Cambria Math" panose="02040503050406030204" pitchFamily="18" charset="0"/>
                                  <a:ea typeface="华文新魏" panose="02010800040101010101" pitchFamily="2" charset="-122"/>
                                </a:rPr>
                                <m:t>4</m:t>
                              </m:r>
                            </m:num>
                            <m:den>
                              <m:r>
                                <a:rPr lang="en-US" altLang="zh-CN" sz="2800" b="0" i="1">
                                  <a:solidFill>
                                    <a:schemeClr val="tx1"/>
                                  </a:solidFill>
                                  <a:latin typeface="Cambria Math" panose="02040503050406030204" pitchFamily="18" charset="0"/>
                                  <a:ea typeface="华文新魏" panose="02010800040101010101" pitchFamily="2" charset="-122"/>
                                </a:rPr>
                                <m:t>3</m:t>
                              </m:r>
                            </m:den>
                          </m:f>
                          <m:r>
                            <a:rPr lang="zh-CN" altLang="en-US" sz="2800" b="0" i="1">
                              <a:solidFill>
                                <a:schemeClr val="tx1"/>
                              </a:solidFill>
                              <a:latin typeface="Cambria Math" panose="02040503050406030204" pitchFamily="18" charset="0"/>
                              <a:ea typeface="华文新魏" panose="02010800040101010101" pitchFamily="2" charset="-122"/>
                            </a:rPr>
                            <m:t>𝜋</m:t>
                          </m:r>
                          <m:sSup>
                            <m:sSupPr>
                              <m:ctrlPr>
                                <a:rPr lang="en-US" altLang="zh-CN" sz="2800" i="1">
                                  <a:solidFill>
                                    <a:schemeClr val="tx1"/>
                                  </a:solidFill>
                                  <a:latin typeface="Cambria Math" panose="02040503050406030204" pitchFamily="18" charset="0"/>
                                  <a:ea typeface="华文新魏" panose="02010800040101010101" pitchFamily="2" charset="-122"/>
                                </a:rPr>
                              </m:ctrlPr>
                            </m:sSupPr>
                            <m:e>
                              <m:r>
                                <a:rPr lang="en-US" altLang="zh-CN" sz="2800" b="0" i="1">
                                  <a:solidFill>
                                    <a:schemeClr val="tx1"/>
                                  </a:solidFill>
                                  <a:latin typeface="Cambria Math" panose="02040503050406030204" pitchFamily="18" charset="0"/>
                                  <a:ea typeface="华文新魏" panose="02010800040101010101" pitchFamily="2" charset="-122"/>
                                </a:rPr>
                                <m:t>𝑅</m:t>
                              </m:r>
                            </m:e>
                            <m:sup>
                              <m:r>
                                <a:rPr lang="en-US" altLang="zh-CN" sz="2800" b="0" i="1">
                                  <a:solidFill>
                                    <a:schemeClr val="tx1"/>
                                  </a:solidFill>
                                  <a:latin typeface="Cambria Math" panose="02040503050406030204" pitchFamily="18" charset="0"/>
                                  <a:ea typeface="华文新魏" panose="02010800040101010101" pitchFamily="2" charset="-122"/>
                                </a:rPr>
                                <m:t>3</m:t>
                              </m:r>
                            </m:sup>
                          </m:sSup>
                        </m:den>
                      </m:f>
                      <m:r>
                        <a:rPr lang="zh-CN" altLang="en-US" sz="2800" b="0" i="1">
                          <a:solidFill>
                            <a:schemeClr val="tx1"/>
                          </a:solidFill>
                          <a:latin typeface="Cambria Math" panose="02040503050406030204" pitchFamily="18" charset="0"/>
                          <a:ea typeface="华文新魏" panose="02010800040101010101" pitchFamily="2" charset="-122"/>
                        </a:rPr>
                        <m:t>∙</m:t>
                      </m:r>
                      <m:f>
                        <m:fPr>
                          <m:ctrlPr>
                            <a:rPr lang="en-US" altLang="zh-CN" sz="2800" i="1">
                              <a:solidFill>
                                <a:schemeClr val="tx1"/>
                              </a:solidFill>
                              <a:latin typeface="Cambria Math" panose="02040503050406030204" pitchFamily="18" charset="0"/>
                              <a:ea typeface="华文新魏" panose="02010800040101010101" pitchFamily="2" charset="-122"/>
                            </a:rPr>
                          </m:ctrlPr>
                        </m:fPr>
                        <m:num>
                          <m:r>
                            <a:rPr lang="en-US" altLang="zh-CN" sz="2800" b="0" i="1">
                              <a:solidFill>
                                <a:schemeClr val="tx1"/>
                              </a:solidFill>
                              <a:latin typeface="Cambria Math" panose="02040503050406030204" pitchFamily="18" charset="0"/>
                              <a:ea typeface="华文新魏" panose="02010800040101010101" pitchFamily="2" charset="-122"/>
                            </a:rPr>
                            <m:t>4</m:t>
                          </m:r>
                        </m:num>
                        <m:den>
                          <m:r>
                            <a:rPr lang="en-US" altLang="zh-CN" sz="2800" b="0" i="1">
                              <a:solidFill>
                                <a:schemeClr val="tx1"/>
                              </a:solidFill>
                              <a:latin typeface="Cambria Math" panose="02040503050406030204" pitchFamily="18" charset="0"/>
                              <a:ea typeface="华文新魏" panose="02010800040101010101" pitchFamily="2" charset="-122"/>
                            </a:rPr>
                            <m:t>3</m:t>
                          </m:r>
                        </m:den>
                      </m:f>
                      <m:r>
                        <a:rPr lang="zh-CN" altLang="en-US" sz="2800" b="0" i="1">
                          <a:solidFill>
                            <a:schemeClr val="tx1"/>
                          </a:solidFill>
                          <a:latin typeface="Cambria Math" panose="02040503050406030204" pitchFamily="18" charset="0"/>
                          <a:ea typeface="华文新魏" panose="02010800040101010101" pitchFamily="2" charset="-122"/>
                        </a:rPr>
                        <m:t>𝜋</m:t>
                      </m:r>
                      <m:sSup>
                        <m:sSupPr>
                          <m:ctrlPr>
                            <a:rPr lang="en-US" altLang="zh-CN" sz="2800" i="1">
                              <a:solidFill>
                                <a:schemeClr val="tx1"/>
                              </a:solidFill>
                              <a:latin typeface="Cambria Math" panose="02040503050406030204" pitchFamily="18" charset="0"/>
                              <a:ea typeface="华文新魏" panose="02010800040101010101" pitchFamily="2" charset="-122"/>
                            </a:rPr>
                          </m:ctrlPr>
                        </m:sSupPr>
                        <m:e>
                          <m:r>
                            <a:rPr lang="en-US" altLang="zh-CN" sz="2800" b="0" i="1">
                              <a:solidFill>
                                <a:schemeClr val="tx1"/>
                              </a:solidFill>
                              <a:latin typeface="Cambria Math" panose="02040503050406030204" pitchFamily="18" charset="0"/>
                              <a:ea typeface="华文新魏" panose="02010800040101010101" pitchFamily="2" charset="-122"/>
                            </a:rPr>
                            <m:t>𝑟</m:t>
                          </m:r>
                        </m:e>
                        <m:sup>
                          <m:r>
                            <a:rPr lang="en-US" altLang="zh-CN" sz="2800" b="0" i="1">
                              <a:solidFill>
                                <a:schemeClr val="tx1"/>
                              </a:solidFill>
                              <a:latin typeface="Cambria Math" panose="02040503050406030204" pitchFamily="18" charset="0"/>
                              <a:ea typeface="华文新魏" panose="02010800040101010101" pitchFamily="2" charset="-122"/>
                            </a:rPr>
                            <m:t>3</m:t>
                          </m:r>
                        </m:sup>
                      </m:sSup>
                      <m:r>
                        <a:rPr lang="en-US" altLang="zh-CN" sz="2800" b="0" i="1">
                          <a:solidFill>
                            <a:schemeClr val="tx1"/>
                          </a:solidFill>
                          <a:latin typeface="Cambria Math" panose="02040503050406030204" pitchFamily="18" charset="0"/>
                          <a:ea typeface="华文新魏" panose="02010800040101010101" pitchFamily="2" charset="-122"/>
                        </a:rPr>
                        <m:t>=</m:t>
                      </m:r>
                      <m:r>
                        <a:rPr lang="en-US" altLang="zh-CN" sz="2800" b="0" i="1">
                          <a:solidFill>
                            <a:schemeClr val="tx1"/>
                          </a:solidFill>
                          <a:latin typeface="Cambria Math" panose="02040503050406030204" pitchFamily="18" charset="0"/>
                          <a:ea typeface="华文新魏" panose="02010800040101010101" pitchFamily="2" charset="-122"/>
                        </a:rPr>
                        <m:t>𝑞</m:t>
                      </m:r>
                      <m:f>
                        <m:fPr>
                          <m:ctrlPr>
                            <a:rPr lang="en-US" altLang="zh-CN" sz="2800" i="1">
                              <a:solidFill>
                                <a:schemeClr val="tx1"/>
                              </a:solidFill>
                              <a:latin typeface="Cambria Math" panose="02040503050406030204" pitchFamily="18" charset="0"/>
                              <a:ea typeface="华文新魏" panose="02010800040101010101" pitchFamily="2" charset="-122"/>
                            </a:rPr>
                          </m:ctrlPr>
                        </m:fPr>
                        <m:num>
                          <m:sSup>
                            <m:sSupPr>
                              <m:ctrlPr>
                                <a:rPr lang="en-US" altLang="zh-CN" sz="2800" i="1">
                                  <a:solidFill>
                                    <a:schemeClr val="tx1"/>
                                  </a:solidFill>
                                  <a:latin typeface="Cambria Math" panose="02040503050406030204" pitchFamily="18" charset="0"/>
                                  <a:ea typeface="华文新魏" panose="02010800040101010101" pitchFamily="2" charset="-122"/>
                                </a:rPr>
                              </m:ctrlPr>
                            </m:sSupPr>
                            <m:e>
                              <m:r>
                                <a:rPr lang="en-US" altLang="zh-CN" sz="2800" b="0" i="1">
                                  <a:solidFill>
                                    <a:schemeClr val="tx1"/>
                                  </a:solidFill>
                                  <a:latin typeface="Cambria Math" panose="02040503050406030204" pitchFamily="18" charset="0"/>
                                  <a:ea typeface="华文新魏" panose="02010800040101010101" pitchFamily="2" charset="-122"/>
                                </a:rPr>
                                <m:t>𝑟</m:t>
                              </m:r>
                            </m:e>
                            <m:sup>
                              <m:r>
                                <a:rPr lang="en-US" altLang="zh-CN" sz="2800" b="0" i="1">
                                  <a:solidFill>
                                    <a:schemeClr val="tx1"/>
                                  </a:solidFill>
                                  <a:latin typeface="Cambria Math" panose="02040503050406030204" pitchFamily="18" charset="0"/>
                                  <a:ea typeface="华文新魏" panose="02010800040101010101" pitchFamily="2" charset="-122"/>
                                </a:rPr>
                                <m:t>3</m:t>
                              </m:r>
                            </m:sup>
                          </m:sSup>
                        </m:num>
                        <m:den>
                          <m:sSup>
                            <m:sSupPr>
                              <m:ctrlPr>
                                <a:rPr lang="en-US" altLang="zh-CN" sz="2800" i="1">
                                  <a:solidFill>
                                    <a:schemeClr val="tx1"/>
                                  </a:solidFill>
                                  <a:latin typeface="Cambria Math" panose="02040503050406030204" pitchFamily="18" charset="0"/>
                                  <a:ea typeface="华文新魏" panose="02010800040101010101" pitchFamily="2" charset="-122"/>
                                </a:rPr>
                              </m:ctrlPr>
                            </m:sSupPr>
                            <m:e>
                              <m:r>
                                <a:rPr lang="en-US" altLang="zh-CN" sz="2800" b="0" i="1">
                                  <a:solidFill>
                                    <a:schemeClr val="tx1"/>
                                  </a:solidFill>
                                  <a:latin typeface="Cambria Math" panose="02040503050406030204" pitchFamily="18" charset="0"/>
                                  <a:ea typeface="华文新魏" panose="02010800040101010101" pitchFamily="2" charset="-122"/>
                                </a:rPr>
                                <m:t>𝑅</m:t>
                              </m:r>
                            </m:e>
                            <m:sup>
                              <m:r>
                                <a:rPr lang="en-US" altLang="zh-CN" sz="2800" b="0" i="1">
                                  <a:solidFill>
                                    <a:schemeClr val="tx1"/>
                                  </a:solidFill>
                                  <a:latin typeface="Cambria Math" panose="02040503050406030204" pitchFamily="18" charset="0"/>
                                  <a:ea typeface="华文新魏" panose="02010800040101010101" pitchFamily="2" charset="-122"/>
                                </a:rPr>
                                <m:t>3</m:t>
                              </m:r>
                            </m:sup>
                          </m:sSup>
                        </m:den>
                      </m:f>
                    </m:oMath>
                  </m:oMathPara>
                </a14:m>
                <a:endParaRPr lang="en-US" altLang="zh-CN" sz="2800" i="1" dirty="0">
                  <a:solidFill>
                    <a:schemeClr val="tx1"/>
                  </a:solidFill>
                  <a:latin typeface="Cambria Math" panose="02040503050406030204" pitchFamily="18" charset="0"/>
                  <a:ea typeface="华文新魏" panose="02010800040101010101" pitchFamily="2" charset="-122"/>
                </a:endParaRPr>
              </a:p>
            </p:txBody>
          </p:sp>
        </mc:Choice>
        <mc:Fallback xmlns="">
          <p:sp>
            <p:nvSpPr>
              <p:cNvPr id="23" name="矩形 22">
                <a:extLst>
                  <a:ext uri="{FF2B5EF4-FFF2-40B4-BE49-F238E27FC236}">
                    <a16:creationId xmlns:a16="http://schemas.microsoft.com/office/drawing/2014/main" id="{AF169F3D-1A4D-48A7-B28D-FC83FEC352C6}"/>
                  </a:ext>
                </a:extLst>
              </p:cNvPr>
              <p:cNvSpPr>
                <a:spLocks noRot="1" noChangeAspect="1" noMove="1" noResize="1" noEditPoints="1" noAdjustHandles="1" noChangeArrowheads="1" noChangeShapeType="1" noTextEdit="1"/>
              </p:cNvSpPr>
              <p:nvPr/>
            </p:nvSpPr>
            <p:spPr>
              <a:xfrm>
                <a:off x="1154678" y="4639438"/>
                <a:ext cx="6215076" cy="1313949"/>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4D16EE58-BF31-4984-9492-2CA34EC60C12}"/>
                  </a:ext>
                </a:extLst>
              </p:cNvPr>
              <p:cNvSpPr/>
              <p:nvPr/>
            </p:nvSpPr>
            <p:spPr>
              <a:xfrm>
                <a:off x="7443082" y="4711137"/>
                <a:ext cx="4270976" cy="97494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altLang="zh-CN" sz="2800" b="0" i="1" smtClean="0">
                          <a:solidFill>
                            <a:schemeClr val="tx1"/>
                          </a:solidFill>
                          <a:latin typeface="Cambria Math" panose="02040503050406030204" pitchFamily="18" charset="0"/>
                          <a:ea typeface="Cambria Math" panose="02040503050406030204" pitchFamily="18" charset="0"/>
                        </a:rPr>
                        <m:t>→</m:t>
                      </m:r>
                      <m:r>
                        <a:rPr lang="en-US" altLang="zh-CN" sz="2800" b="0" i="1" smtClean="0">
                          <a:solidFill>
                            <a:schemeClr val="tx1"/>
                          </a:solidFill>
                          <a:latin typeface="Cambria Math" panose="02040503050406030204" pitchFamily="18" charset="0"/>
                          <a:ea typeface="Cambria Math" panose="02040503050406030204" pitchFamily="18" charset="0"/>
                        </a:rPr>
                        <m:t>𝐸</m:t>
                      </m:r>
                      <m:r>
                        <a:rPr lang="en-US" altLang="zh-CN" sz="2800" b="0" i="1" smtClean="0">
                          <a:solidFill>
                            <a:schemeClr val="tx1"/>
                          </a:solidFill>
                          <a:latin typeface="Cambria Math" panose="02040503050406030204" pitchFamily="18" charset="0"/>
                          <a:ea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1</m:t>
                          </m:r>
                        </m:num>
                        <m:den>
                          <m:r>
                            <a:rPr lang="en-US" altLang="zh-CN" sz="2800" b="0" i="1">
                              <a:solidFill>
                                <a:schemeClr val="tx1"/>
                              </a:solidFill>
                              <a:latin typeface="Cambria Math" panose="02040503050406030204" pitchFamily="18" charset="0"/>
                            </a:rPr>
                            <m:t>4</m:t>
                          </m:r>
                          <m:r>
                            <a:rPr lang="zh-CN" altLang="en-US" sz="2800" b="0" i="1">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𝜀</m:t>
                              </m:r>
                            </m:e>
                            <m:sub>
                              <m:r>
                                <a:rPr lang="en-US" altLang="zh-CN" sz="2800" b="0" i="1">
                                  <a:solidFill>
                                    <a:schemeClr val="tx1"/>
                                  </a:solidFill>
                                  <a:latin typeface="Cambria Math" panose="02040503050406030204" pitchFamily="18" charset="0"/>
                                </a:rPr>
                                <m:t>0</m:t>
                              </m:r>
                            </m:sub>
                          </m:sSub>
                        </m:den>
                      </m:f>
                      <m:f>
                        <m:fPr>
                          <m:ctrlPr>
                            <a:rPr lang="en-US" altLang="zh-CN" sz="2800" i="1">
                              <a:solidFill>
                                <a:schemeClr val="tx1"/>
                              </a:solidFill>
                              <a:latin typeface="Cambria Math" panose="02040503050406030204" pitchFamily="18" charset="0"/>
                            </a:rPr>
                          </m:ctrlPr>
                        </m:fPr>
                        <m:num>
                          <m:sSub>
                            <m:sSubPr>
                              <m:ctrlPr>
                                <a:rPr lang="en-US" altLang="zh-CN" sz="2800" i="1">
                                  <a:solidFill>
                                    <a:schemeClr val="tx1"/>
                                  </a:solidFill>
                                  <a:latin typeface="Cambria Math" panose="02040503050406030204" pitchFamily="18" charset="0"/>
                                  <a:ea typeface="华文新魏" panose="02010800040101010101" pitchFamily="2" charset="-122"/>
                                </a:rPr>
                              </m:ctrlPr>
                            </m:sSubPr>
                            <m:e>
                              <m:r>
                                <a:rPr lang="en-US" altLang="zh-CN" sz="2800" b="0" i="1">
                                  <a:solidFill>
                                    <a:schemeClr val="tx1"/>
                                  </a:solidFill>
                                  <a:latin typeface="Cambria Math" panose="02040503050406030204" pitchFamily="18" charset="0"/>
                                  <a:ea typeface="华文新魏" panose="02010800040101010101" pitchFamily="2" charset="-122"/>
                                </a:rPr>
                                <m:t>𝑞</m:t>
                              </m:r>
                            </m:e>
                            <m:sub>
                              <m:r>
                                <a:rPr lang="en-US" altLang="zh-CN" sz="2800" b="0" i="1">
                                  <a:solidFill>
                                    <a:schemeClr val="tx1"/>
                                  </a:solidFill>
                                  <a:latin typeface="Cambria Math" panose="02040503050406030204" pitchFamily="18" charset="0"/>
                                  <a:ea typeface="华文新魏" panose="02010800040101010101" pitchFamily="2" charset="-122"/>
                                </a:rPr>
                                <m:t>𝑖𝑛</m:t>
                              </m:r>
                            </m:sub>
                          </m:sSub>
                        </m:num>
                        <m:den>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𝑟</m:t>
                              </m:r>
                            </m:e>
                            <m:sup>
                              <m:r>
                                <a:rPr lang="en-US" altLang="zh-CN" sz="2800" b="0" i="1">
                                  <a:solidFill>
                                    <a:schemeClr val="tx1"/>
                                  </a:solidFill>
                                  <a:latin typeface="Cambria Math" panose="02040503050406030204" pitchFamily="18" charset="0"/>
                                </a:rPr>
                                <m:t>2</m:t>
                              </m:r>
                            </m:sup>
                          </m:sSup>
                        </m:den>
                      </m:f>
                      <m:r>
                        <a:rPr lang="en-US" altLang="zh-CN" sz="2800" b="0" i="1">
                          <a:solidFill>
                            <a:schemeClr val="tx1"/>
                          </a:solidFill>
                          <a:latin typeface="Cambria Math" panose="02040503050406030204" pitchFamily="18" charset="0"/>
                          <a:ea typeface="华文新魏" panose="02010800040101010101" pitchFamily="2" charset="-122"/>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𝑞𝑟</m:t>
                          </m:r>
                        </m:num>
                        <m:den>
                          <m:r>
                            <a:rPr lang="en-US" altLang="zh-CN" sz="2800" b="0" i="1">
                              <a:solidFill>
                                <a:schemeClr val="tx1"/>
                              </a:solidFill>
                              <a:latin typeface="Cambria Math" panose="02040503050406030204" pitchFamily="18" charset="0"/>
                            </a:rPr>
                            <m:t>4</m:t>
                          </m:r>
                          <m:r>
                            <a:rPr lang="zh-CN" altLang="en-US" sz="2800" b="0" i="1">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𝜀</m:t>
                              </m:r>
                            </m:e>
                            <m:sub>
                              <m:r>
                                <a:rPr lang="en-US" altLang="zh-CN" sz="2800" b="0" i="1">
                                  <a:solidFill>
                                    <a:schemeClr val="tx1"/>
                                  </a:solidFill>
                                  <a:latin typeface="Cambria Math" panose="02040503050406030204" pitchFamily="18" charset="0"/>
                                </a:rPr>
                                <m:t>0</m:t>
                              </m:r>
                            </m:sub>
                          </m:sSub>
                          <m:sSup>
                            <m:sSupPr>
                              <m:ctrlPr>
                                <a:rPr lang="en-US" altLang="zh-CN" sz="2800" i="1">
                                  <a:solidFill>
                                    <a:schemeClr val="tx1"/>
                                  </a:solidFill>
                                  <a:latin typeface="Cambria Math" panose="02040503050406030204" pitchFamily="18" charset="0"/>
                                  <a:ea typeface="华文新魏" panose="02010800040101010101" pitchFamily="2" charset="-122"/>
                                </a:rPr>
                              </m:ctrlPr>
                            </m:sSupPr>
                            <m:e>
                              <m:r>
                                <a:rPr lang="en-US" altLang="zh-CN" sz="2800" b="0" i="1">
                                  <a:solidFill>
                                    <a:schemeClr val="tx1"/>
                                  </a:solidFill>
                                  <a:latin typeface="Cambria Math" panose="02040503050406030204" pitchFamily="18" charset="0"/>
                                  <a:ea typeface="华文新魏" panose="02010800040101010101" pitchFamily="2" charset="-122"/>
                                </a:rPr>
                                <m:t>𝑅</m:t>
                              </m:r>
                            </m:e>
                            <m:sup>
                              <m:r>
                                <a:rPr lang="en-US" altLang="zh-CN" sz="2800" b="0" i="1">
                                  <a:solidFill>
                                    <a:schemeClr val="tx1"/>
                                  </a:solidFill>
                                  <a:latin typeface="Cambria Math" panose="02040503050406030204" pitchFamily="18" charset="0"/>
                                  <a:ea typeface="华文新魏" panose="02010800040101010101" pitchFamily="2" charset="-122"/>
                                </a:rPr>
                                <m:t>3</m:t>
                              </m:r>
                            </m:sup>
                          </m:sSup>
                        </m:den>
                      </m:f>
                    </m:oMath>
                  </m:oMathPara>
                </a14:m>
                <a:endParaRPr lang="en-US" sz="2800" dirty="0">
                  <a:solidFill>
                    <a:schemeClr val="tx1"/>
                  </a:solidFill>
                </a:endParaRPr>
              </a:p>
            </p:txBody>
          </p:sp>
        </mc:Choice>
        <mc:Fallback xmlns="">
          <p:sp>
            <p:nvSpPr>
              <p:cNvPr id="24" name="矩形 23">
                <a:extLst>
                  <a:ext uri="{FF2B5EF4-FFF2-40B4-BE49-F238E27FC236}">
                    <a16:creationId xmlns:a16="http://schemas.microsoft.com/office/drawing/2014/main" id="{4D16EE58-BF31-4984-9492-2CA34EC60C12}"/>
                  </a:ext>
                </a:extLst>
              </p:cNvPr>
              <p:cNvSpPr>
                <a:spLocks noRot="1" noChangeAspect="1" noMove="1" noResize="1" noEditPoints="1" noAdjustHandles="1" noChangeArrowheads="1" noChangeShapeType="1" noTextEdit="1"/>
              </p:cNvSpPr>
              <p:nvPr/>
            </p:nvSpPr>
            <p:spPr>
              <a:xfrm>
                <a:off x="7443082" y="4711137"/>
                <a:ext cx="4270976" cy="974947"/>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A3444983-0806-44BB-AB30-F1316707A55D}"/>
                  </a:ext>
                </a:extLst>
              </p:cNvPr>
              <p:cNvSpPr/>
              <p:nvPr/>
            </p:nvSpPr>
            <p:spPr>
              <a:xfrm>
                <a:off x="1154678" y="5953387"/>
                <a:ext cx="3977884" cy="974306"/>
              </a:xfrm>
              <a:prstGeom prst="rect">
                <a:avLst/>
              </a:prstGeom>
            </p:spPr>
            <p:txBody>
              <a:bodyPr wrap="none">
                <a:spAutoFit/>
              </a:bodyPr>
              <a:lstStyle/>
              <a:p>
                <a:pPr>
                  <a:spcBef>
                    <a:spcPct val="50000"/>
                  </a:spcBef>
                </a:pPr>
                <a14:m>
                  <m:oMathPara xmlns:m="http://schemas.openxmlformats.org/officeDocument/2006/math">
                    <m:oMathParaPr>
                      <m:jc m:val="left"/>
                    </m:oMathParaPr>
                    <m:oMath xmlns:m="http://schemas.openxmlformats.org/officeDocument/2006/math">
                      <m:r>
                        <a:rPr lang="en-US" altLang="zh-CN" sz="2800" b="0" i="1" dirty="0" smtClean="0">
                          <a:solidFill>
                            <a:schemeClr val="tx1"/>
                          </a:solidFill>
                          <a:latin typeface="Cambria Math" panose="02040503050406030204" pitchFamily="18" charset="0"/>
                          <a:ea typeface="华文新魏" panose="02010800040101010101" pitchFamily="2" charset="-122"/>
                        </a:rPr>
                        <m:t>−</m:t>
                      </m:r>
                      <m:r>
                        <a:rPr lang="en-US" altLang="zh-CN" sz="2800" b="0" i="1" dirty="0">
                          <a:solidFill>
                            <a:schemeClr val="tx1"/>
                          </a:solidFill>
                          <a:latin typeface="Cambria Math" panose="02040503050406030204" pitchFamily="18" charset="0"/>
                          <a:ea typeface="华文新魏" panose="02010800040101010101" pitchFamily="2" charset="-122"/>
                        </a:rPr>
                        <m:t> </m:t>
                      </m:r>
                      <m:r>
                        <a:rPr lang="en-US" altLang="zh-CN" sz="2800" b="0" i="1" dirty="0">
                          <a:solidFill>
                            <a:schemeClr val="tx1"/>
                          </a:solidFill>
                          <a:latin typeface="Cambria Math" panose="02040503050406030204" pitchFamily="18" charset="0"/>
                          <a:ea typeface="华文新魏" panose="02010800040101010101" pitchFamily="2" charset="-122"/>
                        </a:rPr>
                        <m:t>𝑟</m:t>
                      </m:r>
                      <m:r>
                        <a:rPr lang="en-US" altLang="zh-CN" sz="2800" b="0" i="1" dirty="0">
                          <a:solidFill>
                            <a:schemeClr val="tx1"/>
                          </a:solidFill>
                          <a:latin typeface="Cambria Math" panose="02040503050406030204" pitchFamily="18" charset="0"/>
                          <a:ea typeface="华文新魏" panose="02010800040101010101" pitchFamily="2" charset="-122"/>
                          <a:sym typeface="Symbol" panose="05050102010706020507" pitchFamily="18" charset="2"/>
                        </a:rPr>
                        <m:t>&gt;</m:t>
                      </m:r>
                      <m:r>
                        <a:rPr lang="en-US" altLang="zh-CN" sz="2800" b="0" i="1" dirty="0">
                          <a:solidFill>
                            <a:schemeClr val="tx1"/>
                          </a:solidFill>
                          <a:latin typeface="Cambria Math" panose="02040503050406030204" pitchFamily="18" charset="0"/>
                          <a:ea typeface="华文新魏" panose="02010800040101010101" pitchFamily="2" charset="-122"/>
                          <a:sym typeface="Symbol" panose="05050102010706020507" pitchFamily="18" charset="2"/>
                        </a:rPr>
                        <m:t>𝑅</m:t>
                      </m:r>
                      <m:r>
                        <a:rPr lang="en-US" altLang="zh-CN" sz="2800" b="0" i="1" dirty="0">
                          <a:solidFill>
                            <a:schemeClr val="tx1"/>
                          </a:solidFill>
                          <a:latin typeface="Cambria Math" panose="02040503050406030204" pitchFamily="18" charset="0"/>
                          <a:ea typeface="Cambria Math" panose="02040503050406030204" pitchFamily="18" charset="0"/>
                          <a:sym typeface="Symbol" panose="05050102010706020507" pitchFamily="18" charset="2"/>
                        </a:rPr>
                        <m:t>→</m:t>
                      </m:r>
                      <m:r>
                        <a:rPr lang="en-US" altLang="zh-CN" sz="2800" b="0" i="1">
                          <a:solidFill>
                            <a:schemeClr val="tx1"/>
                          </a:solidFill>
                          <a:latin typeface="Cambria Math" panose="02040503050406030204" pitchFamily="18" charset="0"/>
                        </a:rPr>
                        <m:t>𝐸</m:t>
                      </m:r>
                      <m:r>
                        <a:rPr lang="en-US" altLang="zh-CN" sz="2800" b="0" i="1">
                          <a:solidFill>
                            <a:schemeClr val="tx1"/>
                          </a:solidFill>
                          <a:latin typeface="Cambria Math" panose="02040503050406030204" pitchFamily="18" charset="0"/>
                        </a:rPr>
                        <m:t>=</m:t>
                      </m:r>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1</m:t>
                          </m:r>
                        </m:num>
                        <m:den>
                          <m:r>
                            <a:rPr lang="en-US" altLang="zh-CN" sz="2800" b="0" i="1">
                              <a:solidFill>
                                <a:schemeClr val="tx1"/>
                              </a:solidFill>
                              <a:latin typeface="Cambria Math" panose="02040503050406030204" pitchFamily="18" charset="0"/>
                            </a:rPr>
                            <m:t>4</m:t>
                          </m:r>
                          <m:r>
                            <a:rPr lang="zh-CN" altLang="en-US" sz="2800" b="0" i="1">
                              <a:solidFill>
                                <a:schemeClr val="tx1"/>
                              </a:solidFill>
                              <a:latin typeface="Cambria Math" panose="02040503050406030204" pitchFamily="18" charset="0"/>
                            </a:rPr>
                            <m:t>𝜋</m:t>
                          </m:r>
                          <m:sSub>
                            <m:sSubPr>
                              <m:ctrlPr>
                                <a:rPr lang="en-US" altLang="zh-CN" sz="2800" i="1">
                                  <a:solidFill>
                                    <a:schemeClr val="tx1"/>
                                  </a:solidFill>
                                  <a:latin typeface="Cambria Math" panose="02040503050406030204" pitchFamily="18" charset="0"/>
                                </a:rPr>
                              </m:ctrlPr>
                            </m:sSubPr>
                            <m:e>
                              <m:r>
                                <a:rPr lang="zh-CN" altLang="en-US" sz="2800" b="0" i="1">
                                  <a:solidFill>
                                    <a:schemeClr val="tx1"/>
                                  </a:solidFill>
                                  <a:latin typeface="Cambria Math" panose="02040503050406030204" pitchFamily="18" charset="0"/>
                                </a:rPr>
                                <m:t>𝜀</m:t>
                              </m:r>
                            </m:e>
                            <m:sub>
                              <m:r>
                                <a:rPr lang="en-US" altLang="zh-CN" sz="2800" b="0" i="1">
                                  <a:solidFill>
                                    <a:schemeClr val="tx1"/>
                                  </a:solidFill>
                                  <a:latin typeface="Cambria Math" panose="02040503050406030204" pitchFamily="18" charset="0"/>
                                </a:rPr>
                                <m:t>0</m:t>
                              </m:r>
                            </m:sub>
                          </m:sSub>
                        </m:den>
                      </m:f>
                      <m:f>
                        <m:fPr>
                          <m:ctrlPr>
                            <a:rPr lang="en-US" altLang="zh-CN" sz="2800" i="1">
                              <a:solidFill>
                                <a:schemeClr val="tx1"/>
                              </a:solidFill>
                              <a:latin typeface="Cambria Math" panose="02040503050406030204" pitchFamily="18" charset="0"/>
                            </a:rPr>
                          </m:ctrlPr>
                        </m:fPr>
                        <m:num>
                          <m:r>
                            <a:rPr lang="en-US" altLang="zh-CN" sz="2800" b="0" i="1">
                              <a:solidFill>
                                <a:schemeClr val="tx1"/>
                              </a:solidFill>
                              <a:latin typeface="Cambria Math" panose="02040503050406030204" pitchFamily="18" charset="0"/>
                            </a:rPr>
                            <m:t>𝑞</m:t>
                          </m:r>
                        </m:num>
                        <m:den>
                          <m:sSup>
                            <m:sSupPr>
                              <m:ctrlPr>
                                <a:rPr lang="en-US" altLang="zh-CN" sz="2800" i="1">
                                  <a:solidFill>
                                    <a:schemeClr val="tx1"/>
                                  </a:solidFill>
                                  <a:latin typeface="Cambria Math" panose="02040503050406030204" pitchFamily="18" charset="0"/>
                                </a:rPr>
                              </m:ctrlPr>
                            </m:sSupPr>
                            <m:e>
                              <m:r>
                                <a:rPr lang="en-US" altLang="zh-CN" sz="2800" b="0" i="1">
                                  <a:solidFill>
                                    <a:schemeClr val="tx1"/>
                                  </a:solidFill>
                                  <a:latin typeface="Cambria Math" panose="02040503050406030204" pitchFamily="18" charset="0"/>
                                </a:rPr>
                                <m:t>𝑟</m:t>
                              </m:r>
                            </m:e>
                            <m:sup>
                              <m:r>
                                <a:rPr lang="en-US" altLang="zh-CN" sz="2800" b="0" i="1">
                                  <a:solidFill>
                                    <a:schemeClr val="tx1"/>
                                  </a:solidFill>
                                  <a:latin typeface="Cambria Math" panose="02040503050406030204" pitchFamily="18" charset="0"/>
                                </a:rPr>
                                <m:t>2</m:t>
                              </m:r>
                            </m:sup>
                          </m:sSup>
                        </m:den>
                      </m:f>
                    </m:oMath>
                  </m:oMathPara>
                </a14:m>
                <a:endParaRPr lang="en-US" sz="2800" dirty="0">
                  <a:solidFill>
                    <a:schemeClr val="tx1"/>
                  </a:solidFill>
                </a:endParaRPr>
              </a:p>
            </p:txBody>
          </p:sp>
        </mc:Choice>
        <mc:Fallback xmlns="">
          <p:sp>
            <p:nvSpPr>
              <p:cNvPr id="26" name="矩形 25">
                <a:extLst>
                  <a:ext uri="{FF2B5EF4-FFF2-40B4-BE49-F238E27FC236}">
                    <a16:creationId xmlns:a16="http://schemas.microsoft.com/office/drawing/2014/main" id="{A3444983-0806-44BB-AB30-F1316707A55D}"/>
                  </a:ext>
                </a:extLst>
              </p:cNvPr>
              <p:cNvSpPr>
                <a:spLocks noRot="1" noChangeAspect="1" noMove="1" noResize="1" noEditPoints="1" noAdjustHandles="1" noChangeArrowheads="1" noChangeShapeType="1" noTextEdit="1"/>
              </p:cNvSpPr>
              <p:nvPr/>
            </p:nvSpPr>
            <p:spPr>
              <a:xfrm>
                <a:off x="1154678" y="5953387"/>
                <a:ext cx="3977884" cy="974306"/>
              </a:xfrm>
              <a:prstGeom prst="rect">
                <a:avLst/>
              </a:prstGeom>
              <a:blipFill>
                <a:blip r:embed="rId7"/>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838383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3">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P spid="22" grpId="0"/>
      <p:bldP spid="24" grpId="0"/>
      <p:bldP spid="2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092E2444-1FA8-4CE4-88C4-3E8B20FB31F5}"/>
              </a:ext>
            </a:extLst>
          </p:cNvPr>
          <p:cNvPicPr>
            <a:picLocks noChangeAspect="1"/>
          </p:cNvPicPr>
          <p:nvPr/>
        </p:nvPicPr>
        <p:blipFill>
          <a:blip r:embed="rId2"/>
          <a:stretch>
            <a:fillRect/>
          </a:stretch>
        </p:blipFill>
        <p:spPr>
          <a:xfrm>
            <a:off x="508000" y="1226870"/>
            <a:ext cx="4255377" cy="3377477"/>
          </a:xfrm>
          <a:prstGeom prst="rect">
            <a:avLst/>
          </a:prstGeom>
          <a:ln>
            <a:noFill/>
          </a:ln>
          <a:effectLst>
            <a:outerShdw blurRad="292100" dist="139700" dir="2700000" algn="tl" rotWithShape="0">
              <a:srgbClr val="333333">
                <a:alpha val="65000"/>
              </a:srgbClr>
            </a:outerShdw>
          </a:effectLst>
        </p:spPr>
      </p:pic>
      <p:sp>
        <p:nvSpPr>
          <p:cNvPr id="3" name="Text Box 2">
            <a:extLst>
              <a:ext uri="{FF2B5EF4-FFF2-40B4-BE49-F238E27FC236}">
                <a16:creationId xmlns:a16="http://schemas.microsoft.com/office/drawing/2014/main" id="{8F1D3591-60BA-4F7E-ACEA-644B279CCC7F}"/>
              </a:ext>
            </a:extLst>
          </p:cNvPr>
          <p:cNvSpPr txBox="1">
            <a:spLocks noChangeArrowheads="1"/>
          </p:cNvSpPr>
          <p:nvPr/>
        </p:nvSpPr>
        <p:spPr bwMode="auto">
          <a:xfrm>
            <a:off x="902472" y="304800"/>
            <a:ext cx="60198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200" dirty="0">
                <a:solidFill>
                  <a:schemeClr val="tx1"/>
                </a:solidFill>
                <a:ea typeface="华文楷体" panose="02010600040101010101" pitchFamily="2" charset="-122"/>
                <a:cs typeface="Times New Roman" panose="02020603050405020304" pitchFamily="18" charset="0"/>
              </a:rPr>
              <a:t>例</a:t>
            </a:r>
            <a:r>
              <a:rPr lang="en-US" altLang="zh-CN" sz="3200" dirty="0">
                <a:solidFill>
                  <a:schemeClr val="tx1"/>
                </a:solidFill>
                <a:ea typeface="华文楷体" panose="02010600040101010101" pitchFamily="2" charset="-122"/>
                <a:cs typeface="Times New Roman" panose="02020603050405020304" pitchFamily="18" charset="0"/>
              </a:rPr>
              <a:t> </a:t>
            </a:r>
            <a:r>
              <a:rPr lang="zh-CN" altLang="en-US" sz="3200" dirty="0">
                <a:solidFill>
                  <a:schemeClr val="tx1"/>
                </a:solidFill>
                <a:ea typeface="华文楷体" panose="02010600040101010101" pitchFamily="2" charset="-122"/>
                <a:cs typeface="Times New Roman" panose="02020603050405020304" pitchFamily="18" charset="0"/>
              </a:rPr>
              <a:t>均匀带电的无限长的导线</a:t>
            </a:r>
          </a:p>
        </p:txBody>
      </p:sp>
      <p:grpSp>
        <p:nvGrpSpPr>
          <p:cNvPr id="4" name="Group 7">
            <a:extLst>
              <a:ext uri="{FF2B5EF4-FFF2-40B4-BE49-F238E27FC236}">
                <a16:creationId xmlns:a16="http://schemas.microsoft.com/office/drawing/2014/main" id="{8EDC9FD9-1F6B-492E-BBC0-16D3616399EB}"/>
              </a:ext>
            </a:extLst>
          </p:cNvPr>
          <p:cNvGrpSpPr>
            <a:grpSpLocks/>
          </p:cNvGrpSpPr>
          <p:nvPr/>
        </p:nvGrpSpPr>
        <p:grpSpPr bwMode="auto">
          <a:xfrm>
            <a:off x="6489678" y="304800"/>
            <a:ext cx="1931988" cy="609600"/>
            <a:chOff x="3696" y="192"/>
            <a:chExt cx="1217" cy="384"/>
          </a:xfrm>
        </p:grpSpPr>
        <p:sp>
          <p:nvSpPr>
            <p:cNvPr id="5" name="Text Box 8">
              <a:extLst>
                <a:ext uri="{FF2B5EF4-FFF2-40B4-BE49-F238E27FC236}">
                  <a16:creationId xmlns:a16="http://schemas.microsoft.com/office/drawing/2014/main" id="{F39ACFF6-9826-48C6-A2E9-74F5DFEB74B4}"/>
                </a:ext>
              </a:extLst>
            </p:cNvPr>
            <p:cNvSpPr txBox="1">
              <a:spLocks noChangeArrowheads="1"/>
            </p:cNvSpPr>
            <p:nvPr/>
          </p:nvSpPr>
          <p:spPr bwMode="auto">
            <a:xfrm>
              <a:off x="3696" y="192"/>
              <a:ext cx="1104" cy="3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200">
                  <a:solidFill>
                    <a:schemeClr val="tx1"/>
                  </a:solidFill>
                  <a:ea typeface="华文楷体" panose="02010600040101010101" pitchFamily="2" charset="-122"/>
                  <a:cs typeface="Times New Roman" panose="02020603050405020304" pitchFamily="18" charset="0"/>
                </a:rPr>
                <a:t>线密度</a:t>
              </a:r>
            </a:p>
          </p:txBody>
        </p:sp>
        <mc:AlternateContent xmlns:mc="http://schemas.openxmlformats.org/markup-compatibility/2006" xmlns:a14="http://schemas.microsoft.com/office/drawing/2010/main">
          <mc:Choice Requires="a14">
            <p:sp>
              <p:nvSpPr>
                <p:cNvPr id="6" name="Object 9">
                  <a:extLst>
                    <a:ext uri="{FF2B5EF4-FFF2-40B4-BE49-F238E27FC236}">
                      <a16:creationId xmlns:a16="http://schemas.microsoft.com/office/drawing/2014/main" id="{40FCF357-6AB8-4AB0-B964-9D06235E8BFF}"/>
                    </a:ext>
                  </a:extLst>
                </p:cNvPr>
                <p:cNvSpPr txBox="1"/>
                <p:nvPr/>
              </p:nvSpPr>
              <p:spPr bwMode="auto">
                <a:xfrm>
                  <a:off x="4608" y="192"/>
                  <a:ext cx="305" cy="38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3200" b="0" i="1">
                            <a:solidFill>
                              <a:srgbClr val="000000"/>
                            </a:solidFill>
                            <a:latin typeface="Cambria Math" panose="02040503050406030204" pitchFamily="18" charset="0"/>
                          </a:rPr>
                          <m:t>𝜆</m:t>
                        </m:r>
                      </m:oMath>
                    </m:oMathPara>
                  </a14:m>
                  <a:endParaRPr lang="zh-CN" altLang="en-US" sz="3200" dirty="0"/>
                </a:p>
              </p:txBody>
            </p:sp>
          </mc:Choice>
          <mc:Fallback xmlns="">
            <p:sp>
              <p:nvSpPr>
                <p:cNvPr id="6" name="Object 9">
                  <a:extLst>
                    <a:ext uri="{FF2B5EF4-FFF2-40B4-BE49-F238E27FC236}">
                      <a16:creationId xmlns:a16="http://schemas.microsoft.com/office/drawing/2014/main" id="{40FCF357-6AB8-4AB0-B964-9D06235E8BFF}"/>
                    </a:ext>
                  </a:extLst>
                </p:cNvPr>
                <p:cNvSpPr txBox="1">
                  <a:spLocks noRot="1" noChangeAspect="1" noMove="1" noResize="1" noEditPoints="1" noAdjustHandles="1" noChangeArrowheads="1" noChangeShapeType="1" noTextEdit="1"/>
                </p:cNvSpPr>
                <p:nvPr/>
              </p:nvSpPr>
              <p:spPr bwMode="auto">
                <a:xfrm>
                  <a:off x="4608" y="192"/>
                  <a:ext cx="305" cy="384"/>
                </a:xfrm>
                <a:prstGeom prst="rect">
                  <a:avLst/>
                </a:prstGeom>
                <a:blipFill>
                  <a:blip r:embed="rId3"/>
                  <a:stretch>
                    <a:fillRect/>
                  </a:stretch>
                </a:blipFill>
                <a:ln>
                  <a:noFill/>
                </a:ln>
                <a:effectLst/>
              </p:spPr>
              <p:txBody>
                <a:bodyPr/>
                <a:lstStyle/>
                <a:p>
                  <a:r>
                    <a:rPr lang="en-US">
                      <a:noFill/>
                    </a:rPr>
                    <a:t> </a:t>
                  </a:r>
                </a:p>
              </p:txBody>
            </p:sp>
          </mc:Fallback>
        </mc:AlternateContent>
      </p:grpSp>
      <p:pic>
        <p:nvPicPr>
          <p:cNvPr id="7" name="Picture 2" descr="f24_12">
            <a:extLst>
              <a:ext uri="{FF2B5EF4-FFF2-40B4-BE49-F238E27FC236}">
                <a16:creationId xmlns:a16="http://schemas.microsoft.com/office/drawing/2014/main" id="{4DB87CAD-2872-4F83-8A6C-4B932673B2B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23022" y="1202454"/>
            <a:ext cx="2784475" cy="3600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10">
            <a:extLst>
              <a:ext uri="{FF2B5EF4-FFF2-40B4-BE49-F238E27FC236}">
                <a16:creationId xmlns:a16="http://schemas.microsoft.com/office/drawing/2014/main" id="{0D19CF64-34A9-4AE9-AD87-01E75EB0C62C}"/>
              </a:ext>
            </a:extLst>
          </p:cNvPr>
          <p:cNvSpPr txBox="1">
            <a:spLocks noChangeArrowheads="1"/>
          </p:cNvSpPr>
          <p:nvPr/>
        </p:nvSpPr>
        <p:spPr bwMode="auto">
          <a:xfrm>
            <a:off x="4763377" y="1454150"/>
            <a:ext cx="31242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ea typeface="华文楷体" panose="02010600040101010101" pitchFamily="2" charset="-122"/>
                <a:cs typeface="Times New Roman" panose="02020603050405020304" pitchFamily="18" charset="0"/>
                <a:sym typeface="Monotype Sorts" pitchFamily="2" charset="2"/>
              </a:rPr>
              <a:t>- </a:t>
            </a:r>
            <a:r>
              <a:rPr lang="zh-CN" altLang="en-US" sz="3200" dirty="0">
                <a:solidFill>
                  <a:schemeClr val="tx1"/>
                </a:solidFill>
                <a:ea typeface="华文楷体" panose="02010600040101010101" pitchFamily="2" charset="-122"/>
                <a:cs typeface="Times New Roman" panose="02020603050405020304" pitchFamily="18" charset="0"/>
                <a:sym typeface="Monotype Sorts" pitchFamily="2" charset="2"/>
              </a:rPr>
              <a:t>柱对称</a:t>
            </a:r>
            <a:endParaRPr lang="zh-CN" altLang="en-US" sz="3200" dirty="0">
              <a:solidFill>
                <a:schemeClr val="tx1"/>
              </a:solidFill>
              <a:ea typeface="华文楷体" panose="02010600040101010101" pitchFamily="2" charset="-122"/>
              <a:cs typeface="Times New Roman" panose="02020603050405020304" pitchFamily="18" charset="0"/>
            </a:endParaRPr>
          </a:p>
        </p:txBody>
      </p:sp>
      <p:sp>
        <p:nvSpPr>
          <p:cNvPr id="9" name="Text Box 35">
            <a:extLst>
              <a:ext uri="{FF2B5EF4-FFF2-40B4-BE49-F238E27FC236}">
                <a16:creationId xmlns:a16="http://schemas.microsoft.com/office/drawing/2014/main" id="{F25263A5-4D01-4534-BEEB-2BD521CE2C97}"/>
              </a:ext>
            </a:extLst>
          </p:cNvPr>
          <p:cNvSpPr txBox="1">
            <a:spLocks noChangeArrowheads="1"/>
          </p:cNvSpPr>
          <p:nvPr/>
        </p:nvSpPr>
        <p:spPr bwMode="auto">
          <a:xfrm>
            <a:off x="4763377" y="2216150"/>
            <a:ext cx="4800600"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wrap="square">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ea typeface="华文楷体" panose="02010600040101010101" pitchFamily="2" charset="-122"/>
                <a:cs typeface="Times New Roman" panose="02020603050405020304" pitchFamily="18" charset="0"/>
                <a:sym typeface="Monotype Sorts" pitchFamily="2" charset="2"/>
              </a:rPr>
              <a:t>- </a:t>
            </a:r>
            <a:r>
              <a:rPr lang="zh-CN" altLang="en-US" sz="3200" dirty="0">
                <a:solidFill>
                  <a:schemeClr val="tx1"/>
                </a:solidFill>
                <a:ea typeface="华文楷体" panose="02010600040101010101" pitchFamily="2" charset="-122"/>
                <a:cs typeface="Times New Roman" panose="02020603050405020304" pitchFamily="18" charset="0"/>
                <a:sym typeface="Monotype Sorts" pitchFamily="2" charset="2"/>
              </a:rPr>
              <a:t>取圆柱体为高斯面</a:t>
            </a:r>
            <a:endParaRPr lang="zh-CN" altLang="en-US" sz="3200" dirty="0">
              <a:solidFill>
                <a:schemeClr val="tx1"/>
              </a:solidFill>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Object 41">
                <a:extLst>
                  <a:ext uri="{FF2B5EF4-FFF2-40B4-BE49-F238E27FC236}">
                    <a16:creationId xmlns:a16="http://schemas.microsoft.com/office/drawing/2014/main" id="{FE73AE65-B2D3-4BEB-A17D-1929D427F233}"/>
                  </a:ext>
                </a:extLst>
              </p:cNvPr>
              <p:cNvSpPr txBox="1"/>
              <p:nvPr/>
            </p:nvSpPr>
            <p:spPr bwMode="auto">
              <a:xfrm>
                <a:off x="4556445" y="2856870"/>
                <a:ext cx="3912367" cy="1127125"/>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𝑆</m:t>
                          </m:r>
                        </m:sub>
                        <m:sup/>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𝑆</m:t>
                              </m:r>
                            </m:e>
                          </m:acc>
                        </m:e>
                      </m:nary>
                      <m:r>
                        <a:rPr lang="zh-CN" altLang="en-US" sz="2800" i="1">
                          <a:solidFill>
                            <a:srgbClr val="000000"/>
                          </a:solidFill>
                          <a:latin typeface="Cambria Math" panose="02040503050406030204" pitchFamily="18" charset="0"/>
                        </a:rPr>
                        <m:t>=</m:t>
                      </m:r>
                    </m:oMath>
                  </m:oMathPara>
                </a14:m>
                <a:endParaRPr lang="zh-CN" altLang="en-US" sz="2800" dirty="0"/>
              </a:p>
            </p:txBody>
          </p:sp>
        </mc:Choice>
        <mc:Fallback xmlns="">
          <p:sp>
            <p:nvSpPr>
              <p:cNvPr id="10" name="Object 41">
                <a:extLst>
                  <a:ext uri="{FF2B5EF4-FFF2-40B4-BE49-F238E27FC236}">
                    <a16:creationId xmlns:a16="http://schemas.microsoft.com/office/drawing/2014/main" id="{FE73AE65-B2D3-4BEB-A17D-1929D427F233}"/>
                  </a:ext>
                </a:extLst>
              </p:cNvPr>
              <p:cNvSpPr txBox="1">
                <a:spLocks noRot="1" noChangeAspect="1" noMove="1" noResize="1" noEditPoints="1" noAdjustHandles="1" noChangeArrowheads="1" noChangeShapeType="1" noTextEdit="1"/>
              </p:cNvSpPr>
              <p:nvPr/>
            </p:nvSpPr>
            <p:spPr bwMode="auto">
              <a:xfrm>
                <a:off x="4556445" y="2856870"/>
                <a:ext cx="3912367" cy="1127125"/>
              </a:xfrm>
              <a:prstGeom prst="rect">
                <a:avLst/>
              </a:prstGeom>
              <a:blipFill>
                <a:blip r:embed="rId5"/>
                <a:stretch>
                  <a:fillRect b="-3243"/>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42">
                <a:extLst>
                  <a:ext uri="{FF2B5EF4-FFF2-40B4-BE49-F238E27FC236}">
                    <a16:creationId xmlns:a16="http://schemas.microsoft.com/office/drawing/2014/main" id="{FAAE562D-E70F-4031-ADF4-CE80D98659E8}"/>
                  </a:ext>
                </a:extLst>
              </p:cNvPr>
              <p:cNvSpPr txBox="1"/>
              <p:nvPr/>
            </p:nvSpPr>
            <p:spPr bwMode="auto">
              <a:xfrm>
                <a:off x="6087652" y="2850080"/>
                <a:ext cx="5327943" cy="1079500"/>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侧面</m:t>
                          </m:r>
                        </m:sub>
                        <m:sup/>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𝑆</m:t>
                              </m:r>
                            </m:e>
                          </m:acc>
                        </m:e>
                      </m:nary>
                      <m:r>
                        <a:rPr lang="zh-CN" altLang="en-US" sz="2800" i="1">
                          <a:solidFill>
                            <a:srgbClr val="000000"/>
                          </a:solidFill>
                          <a:latin typeface="Cambria Math" panose="02040503050406030204" pitchFamily="18" charset="0"/>
                        </a:rPr>
                        <m:t>+</m:t>
                      </m:r>
                      <m:nary>
                        <m:naryPr>
                          <m:chr m:val="∬"/>
                          <m:limLoc m:val="undOvr"/>
                          <m:supHide m:val="on"/>
                          <m:ctrlPr>
                            <a:rPr lang="zh-CN" altLang="en-US" sz="2800" i="1">
                              <a:solidFill>
                                <a:srgbClr val="000000"/>
                              </a:solidFill>
                              <a:latin typeface="Cambria Math" panose="02040503050406030204" pitchFamily="18" charset="0"/>
                            </a:rPr>
                          </m:ctrlPr>
                        </m:naryPr>
                        <m:sub>
                          <m:r>
                            <a:rPr lang="zh-CN" altLang="en-US" sz="2800" i="1">
                              <a:solidFill>
                                <a:srgbClr val="000000"/>
                              </a:solidFill>
                              <a:latin typeface="Cambria Math" panose="02040503050406030204" pitchFamily="18" charset="0"/>
                            </a:rPr>
                            <m:t>两底面</m:t>
                          </m:r>
                        </m:sub>
                        <m:sup/>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𝑑</m:t>
                          </m:r>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𝑆</m:t>
                              </m:r>
                            </m:e>
                          </m:acc>
                        </m:e>
                      </m:nary>
                    </m:oMath>
                  </m:oMathPara>
                </a14:m>
                <a:endParaRPr lang="zh-CN" altLang="en-US" sz="2800" dirty="0"/>
              </a:p>
            </p:txBody>
          </p:sp>
        </mc:Choice>
        <mc:Fallback xmlns="">
          <p:sp>
            <p:nvSpPr>
              <p:cNvPr id="11" name="Object 42">
                <a:extLst>
                  <a:ext uri="{FF2B5EF4-FFF2-40B4-BE49-F238E27FC236}">
                    <a16:creationId xmlns:a16="http://schemas.microsoft.com/office/drawing/2014/main" id="{FAAE562D-E70F-4031-ADF4-CE80D98659E8}"/>
                  </a:ext>
                </a:extLst>
              </p:cNvPr>
              <p:cNvSpPr txBox="1">
                <a:spLocks noRot="1" noChangeAspect="1" noMove="1" noResize="1" noEditPoints="1" noAdjustHandles="1" noChangeArrowheads="1" noChangeShapeType="1" noTextEdit="1"/>
              </p:cNvSpPr>
              <p:nvPr/>
            </p:nvSpPr>
            <p:spPr bwMode="auto">
              <a:xfrm>
                <a:off x="6087652" y="2850080"/>
                <a:ext cx="5327943" cy="1079500"/>
              </a:xfrm>
              <a:prstGeom prst="rect">
                <a:avLst/>
              </a:prstGeom>
              <a:blipFill>
                <a:blip r:embed="rId6"/>
                <a:stretch>
                  <a:fillRect b="-18644"/>
                </a:stretch>
              </a:blipFill>
              <a:ln>
                <a:noFill/>
              </a:ln>
              <a:effectLst/>
            </p:spPr>
            <p:txBody>
              <a:bodyPr/>
              <a:lstStyle/>
              <a:p>
                <a:r>
                  <a:rPr lang="en-US">
                    <a:noFill/>
                  </a:rPr>
                  <a:t> </a:t>
                </a:r>
              </a:p>
            </p:txBody>
          </p:sp>
        </mc:Fallback>
      </mc:AlternateContent>
      <p:grpSp>
        <p:nvGrpSpPr>
          <p:cNvPr id="58" name="Group 3">
            <a:extLst>
              <a:ext uri="{FF2B5EF4-FFF2-40B4-BE49-F238E27FC236}">
                <a16:creationId xmlns:a16="http://schemas.microsoft.com/office/drawing/2014/main" id="{28255019-5A45-446C-8766-5A925AD5545C}"/>
              </a:ext>
            </a:extLst>
          </p:cNvPr>
          <p:cNvGrpSpPr>
            <a:grpSpLocks/>
          </p:cNvGrpSpPr>
          <p:nvPr/>
        </p:nvGrpSpPr>
        <p:grpSpPr bwMode="auto">
          <a:xfrm>
            <a:off x="10996495" y="1134433"/>
            <a:ext cx="0" cy="2362200"/>
            <a:chOff x="4368" y="432"/>
            <a:chExt cx="0" cy="1488"/>
          </a:xfrm>
        </p:grpSpPr>
        <p:sp>
          <p:nvSpPr>
            <p:cNvPr id="59" name="Line 4">
              <a:extLst>
                <a:ext uri="{FF2B5EF4-FFF2-40B4-BE49-F238E27FC236}">
                  <a16:creationId xmlns:a16="http://schemas.microsoft.com/office/drawing/2014/main" id="{308AA974-9D05-4548-9B67-91567BCFD27F}"/>
                </a:ext>
              </a:extLst>
            </p:cNvPr>
            <p:cNvSpPr>
              <a:spLocks noChangeShapeType="1"/>
            </p:cNvSpPr>
            <p:nvPr/>
          </p:nvSpPr>
          <p:spPr bwMode="auto">
            <a:xfrm>
              <a:off x="4368" y="720"/>
              <a:ext cx="0" cy="816"/>
            </a:xfrm>
            <a:prstGeom prst="line">
              <a:avLst/>
            </a:prstGeom>
            <a:noFill/>
            <a:ln w="38100">
              <a:solidFill>
                <a:srgbClr val="CC0000"/>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0" name="Line 5">
              <a:extLst>
                <a:ext uri="{FF2B5EF4-FFF2-40B4-BE49-F238E27FC236}">
                  <a16:creationId xmlns:a16="http://schemas.microsoft.com/office/drawing/2014/main" id="{8DA4CAB9-D58C-48FE-AAAE-9DF917D56BDD}"/>
                </a:ext>
              </a:extLst>
            </p:cNvPr>
            <p:cNvSpPr>
              <a:spLocks noChangeShapeType="1"/>
            </p:cNvSpPr>
            <p:nvPr/>
          </p:nvSpPr>
          <p:spPr bwMode="auto">
            <a:xfrm flipV="1">
              <a:off x="4368" y="432"/>
              <a:ext cx="0" cy="288"/>
            </a:xfrm>
            <a:prstGeom prst="line">
              <a:avLst/>
            </a:prstGeom>
            <a:noFill/>
            <a:ln w="38100">
              <a:solidFill>
                <a:srgbClr val="CC0000"/>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1" name="Line 6">
              <a:extLst>
                <a:ext uri="{FF2B5EF4-FFF2-40B4-BE49-F238E27FC236}">
                  <a16:creationId xmlns:a16="http://schemas.microsoft.com/office/drawing/2014/main" id="{B9C3BF60-1B5D-4AB7-B0A0-26661C9A3B16}"/>
                </a:ext>
              </a:extLst>
            </p:cNvPr>
            <p:cNvSpPr>
              <a:spLocks noChangeShapeType="1"/>
            </p:cNvSpPr>
            <p:nvPr/>
          </p:nvSpPr>
          <p:spPr bwMode="auto">
            <a:xfrm>
              <a:off x="4368" y="1488"/>
              <a:ext cx="0" cy="432"/>
            </a:xfrm>
            <a:prstGeom prst="line">
              <a:avLst/>
            </a:prstGeom>
            <a:noFill/>
            <a:ln w="38100">
              <a:solidFill>
                <a:srgbClr val="CC0000"/>
              </a:solidFill>
              <a:prstDash val="dash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62" name="Object 11">
                <a:extLst>
                  <a:ext uri="{FF2B5EF4-FFF2-40B4-BE49-F238E27FC236}">
                    <a16:creationId xmlns:a16="http://schemas.microsoft.com/office/drawing/2014/main" id="{E45D7E5D-6E7E-4F50-B1B8-6B2D1163E85F}"/>
                  </a:ext>
                </a:extLst>
              </p:cNvPr>
              <p:cNvSpPr txBox="1"/>
              <p:nvPr/>
            </p:nvSpPr>
            <p:spPr bwMode="auto">
              <a:xfrm>
                <a:off x="10920296" y="1972634"/>
                <a:ext cx="430213" cy="4794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𝑟</m:t>
                      </m:r>
                    </m:oMath>
                  </m:oMathPara>
                </a14:m>
                <a:endParaRPr lang="zh-CN" altLang="en-US" dirty="0"/>
              </a:p>
            </p:txBody>
          </p:sp>
        </mc:Choice>
        <mc:Fallback xmlns="">
          <p:sp>
            <p:nvSpPr>
              <p:cNvPr id="62" name="Object 11">
                <a:extLst>
                  <a:ext uri="{FF2B5EF4-FFF2-40B4-BE49-F238E27FC236}">
                    <a16:creationId xmlns:a16="http://schemas.microsoft.com/office/drawing/2014/main" id="{E45D7E5D-6E7E-4F50-B1B8-6B2D1163E85F}"/>
                  </a:ext>
                </a:extLst>
              </p:cNvPr>
              <p:cNvSpPr txBox="1">
                <a:spLocks noRot="1" noChangeAspect="1" noMove="1" noResize="1" noEditPoints="1" noAdjustHandles="1" noChangeArrowheads="1" noChangeShapeType="1" noTextEdit="1"/>
              </p:cNvSpPr>
              <p:nvPr/>
            </p:nvSpPr>
            <p:spPr bwMode="auto">
              <a:xfrm>
                <a:off x="10920296" y="1972634"/>
                <a:ext cx="430213" cy="479425"/>
              </a:xfrm>
              <a:prstGeom prst="rect">
                <a:avLst/>
              </a:prstGeom>
              <a:blipFill>
                <a:blip r:embed="rId7"/>
                <a:stretch>
                  <a:fillRect/>
                </a:stretch>
              </a:blipFill>
              <a:ln>
                <a:noFill/>
              </a:ln>
              <a:effectLst/>
            </p:spPr>
            <p:txBody>
              <a:bodyPr/>
              <a:lstStyle/>
              <a:p>
                <a:r>
                  <a:rPr lang="en-US">
                    <a:noFill/>
                  </a:rPr>
                  <a:t> </a:t>
                </a:r>
              </a:p>
            </p:txBody>
          </p:sp>
        </mc:Fallback>
      </mc:AlternateContent>
      <p:grpSp>
        <p:nvGrpSpPr>
          <p:cNvPr id="63" name="Group 12">
            <a:extLst>
              <a:ext uri="{FF2B5EF4-FFF2-40B4-BE49-F238E27FC236}">
                <a16:creationId xmlns:a16="http://schemas.microsoft.com/office/drawing/2014/main" id="{EA13377F-EED0-40B1-911E-C3F7DE33C9E6}"/>
              </a:ext>
            </a:extLst>
          </p:cNvPr>
          <p:cNvGrpSpPr>
            <a:grpSpLocks/>
          </p:cNvGrpSpPr>
          <p:nvPr/>
        </p:nvGrpSpPr>
        <p:grpSpPr bwMode="auto">
          <a:xfrm>
            <a:off x="10996495" y="1667833"/>
            <a:ext cx="1009650" cy="609600"/>
            <a:chOff x="4368" y="1104"/>
            <a:chExt cx="636" cy="384"/>
          </a:xfrm>
        </p:grpSpPr>
        <p:sp>
          <p:nvSpPr>
            <p:cNvPr id="64" name="Line 13">
              <a:extLst>
                <a:ext uri="{FF2B5EF4-FFF2-40B4-BE49-F238E27FC236}">
                  <a16:creationId xmlns:a16="http://schemas.microsoft.com/office/drawing/2014/main" id="{7A357771-0728-4501-A8E3-509EF67E6CFB}"/>
                </a:ext>
              </a:extLst>
            </p:cNvPr>
            <p:cNvSpPr>
              <a:spLocks noChangeShapeType="1"/>
            </p:cNvSpPr>
            <p:nvPr/>
          </p:nvSpPr>
          <p:spPr bwMode="auto">
            <a:xfrm>
              <a:off x="4368" y="1488"/>
              <a:ext cx="288" cy="0"/>
            </a:xfrm>
            <a:prstGeom prst="line">
              <a:avLst/>
            </a:prstGeom>
            <a:noFill/>
            <a:ln w="381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5" name="Oval 14">
              <a:extLst>
                <a:ext uri="{FF2B5EF4-FFF2-40B4-BE49-F238E27FC236}">
                  <a16:creationId xmlns:a16="http://schemas.microsoft.com/office/drawing/2014/main" id="{BE296B9F-B3E2-49E8-82A0-D3FF7E02A22F}"/>
                </a:ext>
              </a:extLst>
            </p:cNvPr>
            <p:cNvSpPr>
              <a:spLocks noChangeArrowheads="1"/>
            </p:cNvSpPr>
            <p:nvPr/>
          </p:nvSpPr>
          <p:spPr bwMode="auto">
            <a:xfrm>
              <a:off x="4608" y="1440"/>
              <a:ext cx="48" cy="48"/>
            </a:xfrm>
            <a:prstGeom prst="ellipse">
              <a:avLst/>
            </a:prstGeom>
            <a:solidFill>
              <a:schemeClr val="tx1"/>
            </a:solidFill>
            <a:ln w="12700">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solidFill>
                  <a:schemeClr val="tx1"/>
                </a:solidFill>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66" name="Object 15">
                  <a:extLst>
                    <a:ext uri="{FF2B5EF4-FFF2-40B4-BE49-F238E27FC236}">
                      <a16:creationId xmlns:a16="http://schemas.microsoft.com/office/drawing/2014/main" id="{4404E7ED-E339-43A4-8516-61FD9917DC86}"/>
                    </a:ext>
                  </a:extLst>
                </p:cNvPr>
                <p:cNvSpPr txBox="1"/>
                <p:nvPr/>
              </p:nvSpPr>
              <p:spPr bwMode="auto">
                <a:xfrm>
                  <a:off x="4704" y="1104"/>
                  <a:ext cx="300" cy="325"/>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𝑃</m:t>
                        </m:r>
                      </m:oMath>
                    </m:oMathPara>
                  </a14:m>
                  <a:endParaRPr lang="zh-CN" altLang="en-US"/>
                </a:p>
              </p:txBody>
            </p:sp>
          </mc:Choice>
          <mc:Fallback xmlns="">
            <p:sp>
              <p:nvSpPr>
                <p:cNvPr id="56374" name="Object 15">
                  <a:extLst>
                    <a:ext uri="{FF2B5EF4-FFF2-40B4-BE49-F238E27FC236}">
                      <a16:creationId xmlns:a16="http://schemas.microsoft.com/office/drawing/2014/main" id="{3C895F0C-5780-49EB-9D24-AE6E8C182D23}"/>
                    </a:ext>
                  </a:extLst>
                </p:cNvPr>
                <p:cNvSpPr txBox="1">
                  <a:spLocks noRot="1" noChangeAspect="1" noMove="1" noResize="1" noEditPoints="1" noAdjustHandles="1" noChangeArrowheads="1" noChangeShapeType="1" noTextEdit="1"/>
                </p:cNvSpPr>
                <p:nvPr/>
              </p:nvSpPr>
              <p:spPr bwMode="auto">
                <a:xfrm>
                  <a:off x="4704" y="1104"/>
                  <a:ext cx="300" cy="325"/>
                </a:xfrm>
                <a:prstGeom prst="rect">
                  <a:avLst/>
                </a:prstGeom>
                <a:blipFill>
                  <a:blip r:embed="rId8"/>
                  <a:stretch>
                    <a:fillRect/>
                  </a:stretch>
                </a:blipFill>
                <a:ln>
                  <a:noFill/>
                </a:ln>
                <a:effectLst/>
              </p:spPr>
              <p:txBody>
                <a:bodyPr/>
                <a:lstStyle/>
                <a:p>
                  <a:r>
                    <a:rPr lang="zh-CN" altLang="en-US">
                      <a:noFill/>
                    </a:rPr>
                    <a:t> </a:t>
                  </a:r>
                </a:p>
              </p:txBody>
            </p:sp>
          </mc:Fallback>
        </mc:AlternateContent>
      </p:grpSp>
      <p:sp>
        <p:nvSpPr>
          <p:cNvPr id="67" name="Line 16">
            <a:extLst>
              <a:ext uri="{FF2B5EF4-FFF2-40B4-BE49-F238E27FC236}">
                <a16:creationId xmlns:a16="http://schemas.microsoft.com/office/drawing/2014/main" id="{C6FB9A4F-F143-41FD-8218-F3AFA1A12140}"/>
              </a:ext>
            </a:extLst>
          </p:cNvPr>
          <p:cNvSpPr>
            <a:spLocks noChangeShapeType="1"/>
          </p:cNvSpPr>
          <p:nvPr/>
        </p:nvSpPr>
        <p:spPr bwMode="auto">
          <a:xfrm flipH="1">
            <a:off x="10996495" y="1515433"/>
            <a:ext cx="0" cy="2286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68" name="Line 17">
            <a:extLst>
              <a:ext uri="{FF2B5EF4-FFF2-40B4-BE49-F238E27FC236}">
                <a16:creationId xmlns:a16="http://schemas.microsoft.com/office/drawing/2014/main" id="{C324B9F2-57B5-4974-BB34-146A0B5063F5}"/>
              </a:ext>
            </a:extLst>
          </p:cNvPr>
          <p:cNvSpPr>
            <a:spLocks noChangeShapeType="1"/>
          </p:cNvSpPr>
          <p:nvPr/>
        </p:nvSpPr>
        <p:spPr bwMode="auto">
          <a:xfrm>
            <a:off x="10996495" y="1591633"/>
            <a:ext cx="457200" cy="6858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69" name="Group 18">
            <a:extLst>
              <a:ext uri="{FF2B5EF4-FFF2-40B4-BE49-F238E27FC236}">
                <a16:creationId xmlns:a16="http://schemas.microsoft.com/office/drawing/2014/main" id="{18065B87-A964-446A-A2EB-C14654790551}"/>
              </a:ext>
            </a:extLst>
          </p:cNvPr>
          <p:cNvGrpSpPr>
            <a:grpSpLocks/>
          </p:cNvGrpSpPr>
          <p:nvPr/>
        </p:nvGrpSpPr>
        <p:grpSpPr bwMode="auto">
          <a:xfrm>
            <a:off x="11377496" y="2201234"/>
            <a:ext cx="955675" cy="684213"/>
            <a:chOff x="4608" y="1440"/>
            <a:chExt cx="602" cy="431"/>
          </a:xfrm>
        </p:grpSpPr>
        <p:sp>
          <p:nvSpPr>
            <p:cNvPr id="70" name="Line 19">
              <a:extLst>
                <a:ext uri="{FF2B5EF4-FFF2-40B4-BE49-F238E27FC236}">
                  <a16:creationId xmlns:a16="http://schemas.microsoft.com/office/drawing/2014/main" id="{EB968C64-AAD5-49F0-AD74-8C3FC99A7D9E}"/>
                </a:ext>
              </a:extLst>
            </p:cNvPr>
            <p:cNvSpPr>
              <a:spLocks noChangeShapeType="1"/>
            </p:cNvSpPr>
            <p:nvPr/>
          </p:nvSpPr>
          <p:spPr bwMode="auto">
            <a:xfrm>
              <a:off x="4608" y="1440"/>
              <a:ext cx="192" cy="288"/>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1" name="Object 20">
                  <a:extLst>
                    <a:ext uri="{FF2B5EF4-FFF2-40B4-BE49-F238E27FC236}">
                      <a16:creationId xmlns:a16="http://schemas.microsoft.com/office/drawing/2014/main" id="{4ED027D4-E473-4560-AD12-8C9F66C7C356}"/>
                    </a:ext>
                  </a:extLst>
                </p:cNvPr>
                <p:cNvSpPr txBox="1"/>
                <p:nvPr/>
              </p:nvSpPr>
              <p:spPr bwMode="auto">
                <a:xfrm>
                  <a:off x="4800" y="1488"/>
                  <a:ext cx="410" cy="383"/>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i="1">
                            <a:solidFill>
                              <a:srgbClr val="000000"/>
                            </a:solidFill>
                            <a:latin typeface="Cambria Math" panose="02040503050406030204" pitchFamily="18" charset="0"/>
                          </a:rPr>
                          <m:t>𝑑</m:t>
                        </m:r>
                        <m:acc>
                          <m:accPr>
                            <m:chr m:val="⃗"/>
                            <m:ctrlPr>
                              <a:rPr lang="zh-CN" altLang="en-US" i="1">
                                <a:solidFill>
                                  <a:srgbClr val="000000"/>
                                </a:solidFill>
                                <a:latin typeface="Cambria Math" panose="02040503050406030204" pitchFamily="18" charset="0"/>
                              </a:rPr>
                            </m:ctrlPr>
                          </m:accPr>
                          <m:e>
                            <m:r>
                              <a:rPr lang="zh-CN" altLang="en-US" i="1">
                                <a:solidFill>
                                  <a:srgbClr val="000000"/>
                                </a:solidFill>
                                <a:latin typeface="Cambria Math" panose="02040503050406030204" pitchFamily="18" charset="0"/>
                              </a:rPr>
                              <m:t>𝐸</m:t>
                            </m:r>
                          </m:e>
                        </m:acc>
                      </m:oMath>
                    </m:oMathPara>
                  </a14:m>
                  <a:endParaRPr lang="zh-CN" altLang="en-US"/>
                </a:p>
              </p:txBody>
            </p:sp>
          </mc:Choice>
          <mc:Fallback xmlns="">
            <p:sp>
              <p:nvSpPr>
                <p:cNvPr id="56371" name="Object 20">
                  <a:extLst>
                    <a:ext uri="{FF2B5EF4-FFF2-40B4-BE49-F238E27FC236}">
                      <a16:creationId xmlns:a16="http://schemas.microsoft.com/office/drawing/2014/main" id="{67334BCB-280D-4135-B499-2700D2961AAD}"/>
                    </a:ext>
                  </a:extLst>
                </p:cNvPr>
                <p:cNvSpPr txBox="1">
                  <a:spLocks noRot="1" noChangeAspect="1" noMove="1" noResize="1" noEditPoints="1" noAdjustHandles="1" noChangeArrowheads="1" noChangeShapeType="1" noTextEdit="1"/>
                </p:cNvSpPr>
                <p:nvPr/>
              </p:nvSpPr>
              <p:spPr bwMode="auto">
                <a:xfrm>
                  <a:off x="4800" y="1488"/>
                  <a:ext cx="410" cy="383"/>
                </a:xfrm>
                <a:prstGeom prst="rect">
                  <a:avLst/>
                </a:prstGeom>
                <a:blipFill>
                  <a:blip r:embed="rId9"/>
                  <a:stretch>
                    <a:fillRect/>
                  </a:stretch>
                </a:blipFill>
                <a:ln>
                  <a:noFill/>
                </a:ln>
                <a:effectLst/>
              </p:spPr>
              <p:txBody>
                <a:bodyPr/>
                <a:lstStyle/>
                <a:p>
                  <a:r>
                    <a:rPr lang="zh-CN" altLang="en-US">
                      <a:noFill/>
                    </a:rPr>
                    <a:t> </a:t>
                  </a:r>
                </a:p>
              </p:txBody>
            </p:sp>
          </mc:Fallback>
        </mc:AlternateContent>
      </p:grpSp>
      <p:sp>
        <p:nvSpPr>
          <p:cNvPr id="72" name="Line 21">
            <a:extLst>
              <a:ext uri="{FF2B5EF4-FFF2-40B4-BE49-F238E27FC236}">
                <a16:creationId xmlns:a16="http://schemas.microsoft.com/office/drawing/2014/main" id="{B3A68482-5422-4454-B221-D3D5ED5FB84C}"/>
              </a:ext>
            </a:extLst>
          </p:cNvPr>
          <p:cNvSpPr>
            <a:spLocks noChangeShapeType="1"/>
          </p:cNvSpPr>
          <p:nvPr/>
        </p:nvSpPr>
        <p:spPr bwMode="auto">
          <a:xfrm flipV="1">
            <a:off x="10996495" y="2201233"/>
            <a:ext cx="457200" cy="762000"/>
          </a:xfrm>
          <a:prstGeom prst="line">
            <a:avLst/>
          </a:prstGeom>
          <a:noFill/>
          <a:ln w="127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3" name="Line 22">
            <a:extLst>
              <a:ext uri="{FF2B5EF4-FFF2-40B4-BE49-F238E27FC236}">
                <a16:creationId xmlns:a16="http://schemas.microsoft.com/office/drawing/2014/main" id="{F080A89F-76A4-4C39-A0FC-D4FC11B34E7B}"/>
              </a:ext>
            </a:extLst>
          </p:cNvPr>
          <p:cNvSpPr>
            <a:spLocks noChangeShapeType="1"/>
          </p:cNvSpPr>
          <p:nvPr/>
        </p:nvSpPr>
        <p:spPr bwMode="auto">
          <a:xfrm flipV="1">
            <a:off x="11453695" y="1820233"/>
            <a:ext cx="228600" cy="38100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4" name="Line 23">
            <a:extLst>
              <a:ext uri="{FF2B5EF4-FFF2-40B4-BE49-F238E27FC236}">
                <a16:creationId xmlns:a16="http://schemas.microsoft.com/office/drawing/2014/main" id="{3E1F999D-CC84-4B00-A5DB-25D87E763F26}"/>
              </a:ext>
            </a:extLst>
          </p:cNvPr>
          <p:cNvSpPr>
            <a:spLocks noChangeShapeType="1"/>
          </p:cNvSpPr>
          <p:nvPr/>
        </p:nvSpPr>
        <p:spPr bwMode="auto">
          <a:xfrm>
            <a:off x="11377495" y="2277433"/>
            <a:ext cx="609600"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5" name="Line 24">
            <a:extLst>
              <a:ext uri="{FF2B5EF4-FFF2-40B4-BE49-F238E27FC236}">
                <a16:creationId xmlns:a16="http://schemas.microsoft.com/office/drawing/2014/main" id="{E352BA74-FFFD-4AC4-866B-7B1A8DCDDC5E}"/>
              </a:ext>
            </a:extLst>
          </p:cNvPr>
          <p:cNvSpPr>
            <a:spLocks noChangeShapeType="1"/>
          </p:cNvSpPr>
          <p:nvPr/>
        </p:nvSpPr>
        <p:spPr bwMode="auto">
          <a:xfrm>
            <a:off x="10539295" y="2277433"/>
            <a:ext cx="457200" cy="0"/>
          </a:xfrm>
          <a:prstGeom prst="line">
            <a:avLst/>
          </a:prstGeom>
          <a:noFill/>
          <a:ln w="38100">
            <a:solidFill>
              <a:schemeClr val="tx1"/>
            </a:solidFill>
            <a:prstDash val="sysDot"/>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6" name="Line 25">
            <a:extLst>
              <a:ext uri="{FF2B5EF4-FFF2-40B4-BE49-F238E27FC236}">
                <a16:creationId xmlns:a16="http://schemas.microsoft.com/office/drawing/2014/main" id="{AB986106-0A12-4C33-9566-0310297DACB1}"/>
              </a:ext>
            </a:extLst>
          </p:cNvPr>
          <p:cNvSpPr>
            <a:spLocks noChangeShapeType="1"/>
          </p:cNvSpPr>
          <p:nvPr/>
        </p:nvSpPr>
        <p:spPr bwMode="auto">
          <a:xfrm>
            <a:off x="10158295" y="2277433"/>
            <a:ext cx="533400" cy="0"/>
          </a:xfrm>
          <a:prstGeom prst="line">
            <a:avLst/>
          </a:prstGeom>
          <a:noFill/>
          <a:ln w="3810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7" name="Line 26">
            <a:extLst>
              <a:ext uri="{FF2B5EF4-FFF2-40B4-BE49-F238E27FC236}">
                <a16:creationId xmlns:a16="http://schemas.microsoft.com/office/drawing/2014/main" id="{212A4D7E-388F-4748-9F22-83A00568DA6D}"/>
              </a:ext>
            </a:extLst>
          </p:cNvPr>
          <p:cNvSpPr>
            <a:spLocks noChangeShapeType="1"/>
          </p:cNvSpPr>
          <p:nvPr/>
        </p:nvSpPr>
        <p:spPr bwMode="auto">
          <a:xfrm>
            <a:off x="10158295" y="2506033"/>
            <a:ext cx="609600" cy="0"/>
          </a:xfrm>
          <a:prstGeom prst="line">
            <a:avLst/>
          </a:prstGeom>
          <a:noFill/>
          <a:ln w="3810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78" name="Line 27">
            <a:extLst>
              <a:ext uri="{FF2B5EF4-FFF2-40B4-BE49-F238E27FC236}">
                <a16:creationId xmlns:a16="http://schemas.microsoft.com/office/drawing/2014/main" id="{E3AAE503-6AAC-4B29-9D4C-5F81D6140752}"/>
              </a:ext>
            </a:extLst>
          </p:cNvPr>
          <p:cNvSpPr>
            <a:spLocks noChangeShapeType="1"/>
          </p:cNvSpPr>
          <p:nvPr/>
        </p:nvSpPr>
        <p:spPr bwMode="auto">
          <a:xfrm>
            <a:off x="10996495" y="2810833"/>
            <a:ext cx="0" cy="228600"/>
          </a:xfrm>
          <a:prstGeom prst="line">
            <a:avLst/>
          </a:prstGeom>
          <a:noFill/>
          <a:ln w="38100">
            <a:solidFill>
              <a:schemeClr val="tx1"/>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grpSp>
        <p:nvGrpSpPr>
          <p:cNvPr id="79" name="Group 61">
            <a:extLst>
              <a:ext uri="{FF2B5EF4-FFF2-40B4-BE49-F238E27FC236}">
                <a16:creationId xmlns:a16="http://schemas.microsoft.com/office/drawing/2014/main" id="{287C5FBE-5E2E-41A7-80E9-1825DD88B161}"/>
              </a:ext>
            </a:extLst>
          </p:cNvPr>
          <p:cNvGrpSpPr>
            <a:grpSpLocks/>
          </p:cNvGrpSpPr>
          <p:nvPr/>
        </p:nvGrpSpPr>
        <p:grpSpPr bwMode="auto">
          <a:xfrm>
            <a:off x="10158295" y="3191833"/>
            <a:ext cx="1676400" cy="1524000"/>
            <a:chOff x="3840" y="2064"/>
            <a:chExt cx="1056" cy="960"/>
          </a:xfrm>
        </p:grpSpPr>
        <p:grpSp>
          <p:nvGrpSpPr>
            <p:cNvPr id="80" name="Group 28">
              <a:extLst>
                <a:ext uri="{FF2B5EF4-FFF2-40B4-BE49-F238E27FC236}">
                  <a16:creationId xmlns:a16="http://schemas.microsoft.com/office/drawing/2014/main" id="{5396F5A0-2798-46AC-872B-2FA7B386F86B}"/>
                </a:ext>
              </a:extLst>
            </p:cNvPr>
            <p:cNvGrpSpPr>
              <a:grpSpLocks/>
            </p:cNvGrpSpPr>
            <p:nvPr/>
          </p:nvGrpSpPr>
          <p:grpSpPr bwMode="auto">
            <a:xfrm>
              <a:off x="3840" y="2064"/>
              <a:ext cx="1056" cy="960"/>
              <a:chOff x="3840" y="2064"/>
              <a:chExt cx="1056" cy="960"/>
            </a:xfrm>
          </p:grpSpPr>
          <p:sp>
            <p:nvSpPr>
              <p:cNvPr id="82" name="Oval 29">
                <a:extLst>
                  <a:ext uri="{FF2B5EF4-FFF2-40B4-BE49-F238E27FC236}">
                    <a16:creationId xmlns:a16="http://schemas.microsoft.com/office/drawing/2014/main" id="{3E893A0C-1D72-4E19-9B68-8B1B8FBA59F4}"/>
                  </a:ext>
                </a:extLst>
              </p:cNvPr>
              <p:cNvSpPr>
                <a:spLocks noChangeArrowheads="1"/>
              </p:cNvSpPr>
              <p:nvPr/>
            </p:nvSpPr>
            <p:spPr bwMode="auto">
              <a:xfrm>
                <a:off x="4128" y="2352"/>
                <a:ext cx="480" cy="432"/>
              </a:xfrm>
              <a:prstGeom prst="ellipse">
                <a:avLst/>
              </a:prstGeom>
              <a:noFill/>
              <a:ln w="38100">
                <a:solidFill>
                  <a:schemeClr val="tx1"/>
                </a:solidFill>
                <a:prstDash val="sysDot"/>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solidFill>
                    <a:schemeClr val="tx1"/>
                  </a:solidFill>
                  <a:ea typeface="华文楷体" panose="02010600040101010101" pitchFamily="2" charset="-122"/>
                  <a:cs typeface="Times New Roman" panose="02020603050405020304" pitchFamily="18" charset="0"/>
                </a:endParaRPr>
              </a:p>
            </p:txBody>
          </p:sp>
          <p:sp>
            <p:nvSpPr>
              <p:cNvPr id="83" name="Line 30">
                <a:extLst>
                  <a:ext uri="{FF2B5EF4-FFF2-40B4-BE49-F238E27FC236}">
                    <a16:creationId xmlns:a16="http://schemas.microsoft.com/office/drawing/2014/main" id="{B0F3B03D-90A2-4B4C-9CA8-0114547D2E0E}"/>
                  </a:ext>
                </a:extLst>
              </p:cNvPr>
              <p:cNvSpPr>
                <a:spLocks noChangeShapeType="1"/>
              </p:cNvSpPr>
              <p:nvPr/>
            </p:nvSpPr>
            <p:spPr bwMode="auto">
              <a:xfrm>
                <a:off x="4608" y="2544"/>
                <a:ext cx="288" cy="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4" name="Line 31">
                <a:extLst>
                  <a:ext uri="{FF2B5EF4-FFF2-40B4-BE49-F238E27FC236}">
                    <a16:creationId xmlns:a16="http://schemas.microsoft.com/office/drawing/2014/main" id="{9CCA79B4-BF2F-4E44-9DEE-DC8A51F9165D}"/>
                  </a:ext>
                </a:extLst>
              </p:cNvPr>
              <p:cNvSpPr>
                <a:spLocks noChangeShapeType="1"/>
              </p:cNvSpPr>
              <p:nvPr/>
            </p:nvSpPr>
            <p:spPr bwMode="auto">
              <a:xfrm>
                <a:off x="3840" y="2592"/>
                <a:ext cx="288" cy="0"/>
              </a:xfrm>
              <a:prstGeom prst="line">
                <a:avLst/>
              </a:prstGeom>
              <a:noFill/>
              <a:ln w="3810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5" name="Line 32">
                <a:extLst>
                  <a:ext uri="{FF2B5EF4-FFF2-40B4-BE49-F238E27FC236}">
                    <a16:creationId xmlns:a16="http://schemas.microsoft.com/office/drawing/2014/main" id="{101F81A5-F455-4D64-A7A9-24373D24FE10}"/>
                  </a:ext>
                </a:extLst>
              </p:cNvPr>
              <p:cNvSpPr>
                <a:spLocks noChangeShapeType="1"/>
              </p:cNvSpPr>
              <p:nvPr/>
            </p:nvSpPr>
            <p:spPr bwMode="auto">
              <a:xfrm>
                <a:off x="4368" y="2784"/>
                <a:ext cx="0" cy="240"/>
              </a:xfrm>
              <a:prstGeom prst="line">
                <a:avLst/>
              </a:prstGeom>
              <a:noFill/>
              <a:ln w="38100">
                <a:solidFill>
                  <a:schemeClr val="tx1"/>
                </a:solidFill>
                <a:round/>
                <a:headEnd type="none" w="sm" len="sm"/>
                <a:tailEnd type="triangle" w="med" len="med"/>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sp>
            <p:nvSpPr>
              <p:cNvPr id="86" name="Line 33">
                <a:extLst>
                  <a:ext uri="{FF2B5EF4-FFF2-40B4-BE49-F238E27FC236}">
                    <a16:creationId xmlns:a16="http://schemas.microsoft.com/office/drawing/2014/main" id="{6384A0D2-B324-45E3-B8F3-24976CD8BA3C}"/>
                  </a:ext>
                </a:extLst>
              </p:cNvPr>
              <p:cNvSpPr>
                <a:spLocks noChangeShapeType="1"/>
              </p:cNvSpPr>
              <p:nvPr/>
            </p:nvSpPr>
            <p:spPr bwMode="auto">
              <a:xfrm>
                <a:off x="4368" y="2064"/>
                <a:ext cx="0" cy="288"/>
              </a:xfrm>
              <a:prstGeom prst="line">
                <a:avLst/>
              </a:prstGeom>
              <a:noFill/>
              <a:ln w="38100">
                <a:solidFill>
                  <a:schemeClr val="tx1"/>
                </a:solidFill>
                <a:round/>
                <a:headEnd type="triangle" w="med" len="med"/>
                <a:tailEnd type="none" w="sm" len="sm"/>
              </a:ln>
              <a:extLst>
                <a:ext uri="{909E8E84-426E-40DD-AFC4-6F175D3DCCD1}">
                  <a14:hiddenFill xmlns:a14="http://schemas.microsoft.com/office/drawing/2010/main">
                    <a:noFill/>
                  </a14:hiddenFill>
                </a:ext>
              </a:extLst>
            </p:spPr>
            <p:txBody>
              <a:bodyPr wrap="none" anchor="ctr"/>
              <a:lstStyle/>
              <a:p>
                <a:endParaRPr lang="en-US">
                  <a:latin typeface="Times New Roman" panose="02020603050405020304" pitchFamily="18" charset="0"/>
                  <a:ea typeface="华文楷体" panose="02010600040101010101" pitchFamily="2" charset="-122"/>
                  <a:cs typeface="Times New Roman" panose="02020603050405020304" pitchFamily="18" charset="0"/>
                </a:endParaRPr>
              </a:p>
            </p:txBody>
          </p:sp>
        </p:grpSp>
        <p:sp>
          <p:nvSpPr>
            <p:cNvPr id="81" name="Oval 60">
              <a:extLst>
                <a:ext uri="{FF2B5EF4-FFF2-40B4-BE49-F238E27FC236}">
                  <a16:creationId xmlns:a16="http://schemas.microsoft.com/office/drawing/2014/main" id="{0B8932CD-E823-481A-B577-F8038CACC967}"/>
                </a:ext>
              </a:extLst>
            </p:cNvPr>
            <p:cNvSpPr>
              <a:spLocks noChangeArrowheads="1"/>
            </p:cNvSpPr>
            <p:nvPr/>
          </p:nvSpPr>
          <p:spPr bwMode="auto">
            <a:xfrm>
              <a:off x="4341" y="2544"/>
              <a:ext cx="48" cy="48"/>
            </a:xfrm>
            <a:prstGeom prst="ellipse">
              <a:avLst/>
            </a:prstGeom>
            <a:solidFill>
              <a:schemeClr val="accent1"/>
            </a:solidFill>
            <a:ln w="12699">
              <a:solidFill>
                <a:schemeClr val="tx1"/>
              </a:solidFill>
              <a:round/>
              <a:headEnd type="none" w="sm" len="sm"/>
              <a:tailEnd type="none" w="sm" len="sm"/>
            </a:ln>
          </p:spPr>
          <p:txBody>
            <a:bodyPr wrap="none" anchor="ct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a:solidFill>
                  <a:schemeClr val="tx1"/>
                </a:solidFill>
                <a:ea typeface="华文楷体" panose="02010600040101010101" pitchFamily="2" charset="-122"/>
                <a:cs typeface="Times New Roman" panose="02020603050405020304" pitchFamily="18" charset="0"/>
              </a:endParaRPr>
            </a:p>
          </p:txBody>
        </p:sp>
      </p:grpSp>
      <mc:AlternateContent xmlns:mc="http://schemas.openxmlformats.org/markup-compatibility/2006" xmlns:a14="http://schemas.microsoft.com/office/drawing/2010/main">
        <mc:Choice Requires="a14">
          <p:sp>
            <p:nvSpPr>
              <p:cNvPr id="87" name="Object 43">
                <a:extLst>
                  <a:ext uri="{FF2B5EF4-FFF2-40B4-BE49-F238E27FC236}">
                    <a16:creationId xmlns:a16="http://schemas.microsoft.com/office/drawing/2014/main" id="{E761D729-5DA6-43DB-88BF-D734658BD120}"/>
                  </a:ext>
                </a:extLst>
              </p:cNvPr>
              <p:cNvSpPr txBox="1"/>
              <p:nvPr/>
            </p:nvSpPr>
            <p:spPr bwMode="auto">
              <a:xfrm>
                <a:off x="5777894" y="4502226"/>
                <a:ext cx="1676400" cy="554038"/>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2</m:t>
                      </m:r>
                      <m:r>
                        <a:rPr lang="zh-CN" altLang="en-US" sz="2800" i="1">
                          <a:solidFill>
                            <a:srgbClr val="000000"/>
                          </a:solidFill>
                          <a:latin typeface="Cambria Math" panose="02040503050406030204" pitchFamily="18" charset="0"/>
                        </a:rPr>
                        <m:t>𝜋</m:t>
                      </m:r>
                      <m:r>
                        <a:rPr lang="zh-CN" altLang="en-US" sz="2800" i="1">
                          <a:solidFill>
                            <a:srgbClr val="000000"/>
                          </a:solidFill>
                          <a:latin typeface="Cambria Math" panose="02040503050406030204" pitchFamily="18" charset="0"/>
                        </a:rPr>
                        <m:t>𝑟𝑙</m:t>
                      </m:r>
                    </m:oMath>
                  </m:oMathPara>
                </a14:m>
                <a:endParaRPr lang="zh-CN" altLang="en-US" sz="2800" dirty="0"/>
              </a:p>
            </p:txBody>
          </p:sp>
        </mc:Choice>
        <mc:Fallback xmlns="">
          <p:sp>
            <p:nvSpPr>
              <p:cNvPr id="87" name="Object 43">
                <a:extLst>
                  <a:ext uri="{FF2B5EF4-FFF2-40B4-BE49-F238E27FC236}">
                    <a16:creationId xmlns:a16="http://schemas.microsoft.com/office/drawing/2014/main" id="{E761D729-5DA6-43DB-88BF-D734658BD120}"/>
                  </a:ext>
                </a:extLst>
              </p:cNvPr>
              <p:cNvSpPr txBox="1">
                <a:spLocks noRot="1" noChangeAspect="1" noMove="1" noResize="1" noEditPoints="1" noAdjustHandles="1" noChangeArrowheads="1" noChangeShapeType="1" noTextEdit="1"/>
              </p:cNvSpPr>
              <p:nvPr/>
            </p:nvSpPr>
            <p:spPr bwMode="auto">
              <a:xfrm>
                <a:off x="5777894" y="4502226"/>
                <a:ext cx="1676400" cy="554038"/>
              </a:xfrm>
              <a:prstGeom prst="rect">
                <a:avLst/>
              </a:prstGeom>
              <a:blipFill>
                <a:blip r:embed="rId10"/>
                <a:stretch>
                  <a:fillRect/>
                </a:stretch>
              </a:blipFill>
              <a:ln>
                <a:noFill/>
              </a:ln>
              <a:effectLst/>
            </p:spPr>
            <p:txBody>
              <a:bodyPr/>
              <a:lstStyle/>
              <a:p>
                <a:r>
                  <a:rPr lang="en-US">
                    <a:noFill/>
                  </a:rPr>
                  <a:t> </a:t>
                </a:r>
              </a:p>
            </p:txBody>
          </p:sp>
        </mc:Fallback>
      </mc:AlternateContent>
      <p:sp>
        <p:nvSpPr>
          <p:cNvPr id="88" name="矩形 87">
            <a:extLst>
              <a:ext uri="{FF2B5EF4-FFF2-40B4-BE49-F238E27FC236}">
                <a16:creationId xmlns:a16="http://schemas.microsoft.com/office/drawing/2014/main" id="{827963F2-0FF7-45BE-8A86-A5BD5B8AB53D}"/>
              </a:ext>
            </a:extLst>
          </p:cNvPr>
          <p:cNvSpPr/>
          <p:nvPr/>
        </p:nvSpPr>
        <p:spPr>
          <a:xfrm>
            <a:off x="8166850" y="5020633"/>
            <a:ext cx="4043678" cy="1369606"/>
          </a:xfrm>
          <a:prstGeom prst="rect">
            <a:avLst/>
          </a:prstGeom>
        </p:spPr>
        <p:txBody>
          <a:bodyPr wrap="square">
            <a:spAutoFit/>
          </a:bodyPr>
          <a:lstStyle/>
          <a:p>
            <a:pPr>
              <a:spcBef>
                <a:spcPts val="600"/>
              </a:spcBef>
            </a:pPr>
            <a:r>
              <a:rPr lang="en-US" altLang="zh-CN" sz="2600" spc="300" dirty="0">
                <a:latin typeface="华文楷体" panose="02010600040101010101" pitchFamily="2" charset="-122"/>
                <a:ea typeface="华文楷体" panose="02010600040101010101" pitchFamily="2" charset="-122"/>
              </a:rPr>
              <a:t>-</a:t>
            </a:r>
            <a:r>
              <a:rPr lang="zh-CN" altLang="en-US" sz="2600" spc="300" dirty="0">
                <a:latin typeface="华文楷体" panose="02010600040101010101" pitchFamily="2" charset="-122"/>
                <a:ea typeface="华文楷体" panose="02010600040101010101" pitchFamily="2" charset="-122"/>
              </a:rPr>
              <a:t>电场强度大小处处相同</a:t>
            </a:r>
            <a:endParaRPr lang="en-US" altLang="zh-CN" sz="2600" spc="300" dirty="0">
              <a:latin typeface="华文楷体" panose="02010600040101010101" pitchFamily="2" charset="-122"/>
              <a:ea typeface="华文楷体" panose="02010600040101010101" pitchFamily="2" charset="-122"/>
            </a:endParaRPr>
          </a:p>
          <a:p>
            <a:pPr>
              <a:spcBef>
                <a:spcPts val="600"/>
              </a:spcBef>
            </a:pPr>
            <a:r>
              <a:rPr lang="en-US" altLang="zh-CN" sz="2600" spc="300" dirty="0">
                <a:latin typeface="华文楷体" panose="02010600040101010101" pitchFamily="2" charset="-122"/>
                <a:ea typeface="华文楷体" panose="02010600040101010101" pitchFamily="2" charset="-122"/>
              </a:rPr>
              <a:t>-</a:t>
            </a:r>
            <a:r>
              <a:rPr lang="zh-CN" altLang="en-US" sz="2600" spc="300" dirty="0">
                <a:latin typeface="华文楷体" panose="02010600040101010101" pitchFamily="2" charset="-122"/>
                <a:ea typeface="华文楷体" panose="02010600040101010101" pitchFamily="2" charset="-122"/>
              </a:rPr>
              <a:t>电场强度方向与高斯面法线方向一致</a:t>
            </a:r>
          </a:p>
        </p:txBody>
      </p:sp>
      <p:sp>
        <p:nvSpPr>
          <p:cNvPr id="90" name="Text Box 45">
            <a:extLst>
              <a:ext uri="{FF2B5EF4-FFF2-40B4-BE49-F238E27FC236}">
                <a16:creationId xmlns:a16="http://schemas.microsoft.com/office/drawing/2014/main" id="{7B80A55F-0D00-4530-87F2-40AAEA36EC32}"/>
              </a:ext>
            </a:extLst>
          </p:cNvPr>
          <p:cNvSpPr txBox="1">
            <a:spLocks noChangeArrowheads="1"/>
          </p:cNvSpPr>
          <p:nvPr/>
        </p:nvSpPr>
        <p:spPr bwMode="auto">
          <a:xfrm>
            <a:off x="2578872" y="5269861"/>
            <a:ext cx="4343400"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type="none" w="sm" len="sm"/>
                <a:tailEnd type="none" w="sm" len="sm"/>
              </a14:hiddenLine>
            </a:ext>
          </a:extLst>
        </p:spPr>
        <p:txBody>
          <a:bodyPr>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en-US" altLang="zh-CN" sz="3200" dirty="0">
                <a:solidFill>
                  <a:schemeClr val="tx1"/>
                </a:solidFill>
                <a:ea typeface="华文楷体" panose="02010600040101010101" pitchFamily="2" charset="-122"/>
                <a:cs typeface="Times New Roman" panose="02020603050405020304" pitchFamily="18" charset="0"/>
                <a:sym typeface="Monotype Sorts" pitchFamily="2" charset="2"/>
              </a:rPr>
              <a:t>- </a:t>
            </a:r>
            <a:r>
              <a:rPr lang="zh-CN" altLang="en-US" sz="3200" dirty="0">
                <a:solidFill>
                  <a:schemeClr val="tx1"/>
                </a:solidFill>
                <a:ea typeface="华文楷体" panose="02010600040101010101" pitchFamily="2" charset="-122"/>
                <a:cs typeface="Times New Roman" panose="02020603050405020304" pitchFamily="18" charset="0"/>
                <a:sym typeface="Monotype Sorts" pitchFamily="2" charset="2"/>
              </a:rPr>
              <a:t>利用高斯定理：</a:t>
            </a:r>
            <a:endParaRPr lang="zh-CN" altLang="en-US" sz="3200" dirty="0">
              <a:solidFill>
                <a:schemeClr val="tx1"/>
              </a:solidFill>
              <a:ea typeface="华文楷体" panose="02010600040101010101" pitchFamily="2"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2" name="Object 47">
                <a:extLst>
                  <a:ext uri="{FF2B5EF4-FFF2-40B4-BE49-F238E27FC236}">
                    <a16:creationId xmlns:a16="http://schemas.microsoft.com/office/drawing/2014/main" id="{E96F5FFF-0E56-4BDE-9C0E-A49963330236}"/>
                  </a:ext>
                </a:extLst>
              </p:cNvPr>
              <p:cNvSpPr txBox="1"/>
              <p:nvPr/>
            </p:nvSpPr>
            <p:spPr bwMode="auto">
              <a:xfrm>
                <a:off x="5777894" y="5020633"/>
                <a:ext cx="2590800" cy="1244600"/>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𝜆</m:t>
                          </m:r>
                          <m:r>
                            <a:rPr lang="zh-CN" altLang="en-US" sz="2800" i="1">
                              <a:solidFill>
                                <a:srgbClr val="000000"/>
                              </a:solidFill>
                              <a:latin typeface="Cambria Math" panose="02040503050406030204" pitchFamily="18" charset="0"/>
                            </a:rPr>
                            <m:t>𝑙</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oMath>
                  </m:oMathPara>
                </a14:m>
                <a:endParaRPr lang="zh-CN" altLang="en-US" sz="2800" dirty="0"/>
              </a:p>
            </p:txBody>
          </p:sp>
        </mc:Choice>
        <mc:Fallback xmlns="">
          <p:sp>
            <p:nvSpPr>
              <p:cNvPr id="92" name="Object 47">
                <a:extLst>
                  <a:ext uri="{FF2B5EF4-FFF2-40B4-BE49-F238E27FC236}">
                    <a16:creationId xmlns:a16="http://schemas.microsoft.com/office/drawing/2014/main" id="{E96F5FFF-0E56-4BDE-9C0E-A49963330236}"/>
                  </a:ext>
                </a:extLst>
              </p:cNvPr>
              <p:cNvSpPr txBox="1">
                <a:spLocks noRot="1" noChangeAspect="1" noMove="1" noResize="1" noEditPoints="1" noAdjustHandles="1" noChangeArrowheads="1" noChangeShapeType="1" noTextEdit="1"/>
              </p:cNvSpPr>
              <p:nvPr/>
            </p:nvSpPr>
            <p:spPr bwMode="auto">
              <a:xfrm>
                <a:off x="5777894" y="5020633"/>
                <a:ext cx="2590800" cy="1244600"/>
              </a:xfrm>
              <a:prstGeom prst="rect">
                <a:avLst/>
              </a:prstGeom>
              <a:blipFill>
                <a:blip r:embed="rId11"/>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3" name="Object 48">
                <a:extLst>
                  <a:ext uri="{FF2B5EF4-FFF2-40B4-BE49-F238E27FC236}">
                    <a16:creationId xmlns:a16="http://schemas.microsoft.com/office/drawing/2014/main" id="{639651F6-2284-46F3-A17E-8ED1540CDE20}"/>
                  </a:ext>
                </a:extLst>
              </p:cNvPr>
              <p:cNvSpPr txBox="1"/>
              <p:nvPr/>
            </p:nvSpPr>
            <p:spPr bwMode="auto">
              <a:xfrm>
                <a:off x="4260140" y="5849299"/>
                <a:ext cx="2065337" cy="1219200"/>
              </a:xfrm>
              <a:prstGeom prst="rect">
                <a:avLst/>
              </a:prstGeom>
              <a:noFill/>
              <a:ln w="9525">
                <a:noFill/>
                <a:miter lim="800000"/>
                <a:headEnd/>
                <a:tailEnd/>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800" b="1" i="1" smtClean="0">
                          <a:solidFill>
                            <a:srgbClr val="0066FF"/>
                          </a:solidFill>
                          <a:latin typeface="Cambria Math" panose="02040503050406030204" pitchFamily="18" charset="0"/>
                        </a:rPr>
                        <m:t>𝑬</m:t>
                      </m:r>
                      <m:r>
                        <a:rPr lang="zh-CN" altLang="en-US" sz="2800" b="1" i="1" smtClean="0">
                          <a:solidFill>
                            <a:srgbClr val="0066FF"/>
                          </a:solidFill>
                          <a:latin typeface="Cambria Math" panose="02040503050406030204" pitchFamily="18" charset="0"/>
                        </a:rPr>
                        <m:t>=</m:t>
                      </m:r>
                      <m:f>
                        <m:fPr>
                          <m:ctrlPr>
                            <a:rPr lang="zh-CN" altLang="en-US" sz="2800" b="1" i="1">
                              <a:solidFill>
                                <a:srgbClr val="0066FF"/>
                              </a:solidFill>
                              <a:latin typeface="Cambria Math" panose="02040503050406030204" pitchFamily="18" charset="0"/>
                            </a:rPr>
                          </m:ctrlPr>
                        </m:fPr>
                        <m:num>
                          <m:r>
                            <a:rPr lang="zh-CN" altLang="en-US" sz="2800" b="1" i="1">
                              <a:solidFill>
                                <a:srgbClr val="0066FF"/>
                              </a:solidFill>
                              <a:latin typeface="Cambria Math" panose="02040503050406030204" pitchFamily="18" charset="0"/>
                            </a:rPr>
                            <m:t>𝝀</m:t>
                          </m:r>
                        </m:num>
                        <m:den>
                          <m:r>
                            <a:rPr lang="zh-CN" altLang="en-US" sz="2800" b="1" i="1">
                              <a:solidFill>
                                <a:srgbClr val="0066FF"/>
                              </a:solidFill>
                              <a:latin typeface="Cambria Math" panose="02040503050406030204" pitchFamily="18" charset="0"/>
                            </a:rPr>
                            <m:t>𝟐</m:t>
                          </m:r>
                          <m:r>
                            <a:rPr lang="zh-CN" altLang="en-US" sz="2800" b="1" i="1">
                              <a:solidFill>
                                <a:srgbClr val="0066FF"/>
                              </a:solidFill>
                              <a:latin typeface="Cambria Math" panose="02040503050406030204" pitchFamily="18" charset="0"/>
                            </a:rPr>
                            <m:t>𝝅</m:t>
                          </m:r>
                          <m:sSub>
                            <m:sSubPr>
                              <m:ctrlPr>
                                <a:rPr lang="zh-CN" altLang="en-US" sz="2800" b="1" i="1">
                                  <a:solidFill>
                                    <a:srgbClr val="0066FF"/>
                                  </a:solidFill>
                                  <a:latin typeface="Cambria Math" panose="02040503050406030204" pitchFamily="18" charset="0"/>
                                </a:rPr>
                              </m:ctrlPr>
                            </m:sSubPr>
                            <m:e>
                              <m:r>
                                <a:rPr lang="zh-CN" altLang="en-US" sz="2800" b="1" i="1">
                                  <a:solidFill>
                                    <a:srgbClr val="0066FF"/>
                                  </a:solidFill>
                                  <a:latin typeface="Cambria Math" panose="02040503050406030204" pitchFamily="18" charset="0"/>
                                </a:rPr>
                                <m:t>𝜺</m:t>
                              </m:r>
                            </m:e>
                            <m:sub>
                              <m:r>
                                <a:rPr lang="zh-CN" altLang="en-US" sz="2800" b="1" i="1">
                                  <a:solidFill>
                                    <a:srgbClr val="0066FF"/>
                                  </a:solidFill>
                                  <a:latin typeface="Cambria Math" panose="02040503050406030204" pitchFamily="18" charset="0"/>
                                </a:rPr>
                                <m:t>𝟎</m:t>
                              </m:r>
                            </m:sub>
                          </m:sSub>
                          <m:r>
                            <a:rPr lang="zh-CN" altLang="en-US" sz="2800" b="1" i="1">
                              <a:solidFill>
                                <a:srgbClr val="0066FF"/>
                              </a:solidFill>
                              <a:latin typeface="Cambria Math" panose="02040503050406030204" pitchFamily="18" charset="0"/>
                            </a:rPr>
                            <m:t>𝒓</m:t>
                          </m:r>
                        </m:den>
                      </m:f>
                    </m:oMath>
                  </m:oMathPara>
                </a14:m>
                <a:endParaRPr lang="zh-CN" altLang="en-US" sz="2800" b="1" dirty="0">
                  <a:solidFill>
                    <a:srgbClr val="0066FF"/>
                  </a:solidFill>
                </a:endParaRPr>
              </a:p>
            </p:txBody>
          </p:sp>
        </mc:Choice>
        <mc:Fallback xmlns="">
          <p:sp>
            <p:nvSpPr>
              <p:cNvPr id="93" name="Object 48">
                <a:extLst>
                  <a:ext uri="{FF2B5EF4-FFF2-40B4-BE49-F238E27FC236}">
                    <a16:creationId xmlns:a16="http://schemas.microsoft.com/office/drawing/2014/main" id="{639651F6-2284-46F3-A17E-8ED1540CDE20}"/>
                  </a:ext>
                </a:extLst>
              </p:cNvPr>
              <p:cNvSpPr txBox="1">
                <a:spLocks noRot="1" noChangeAspect="1" noMove="1" noResize="1" noEditPoints="1" noAdjustHandles="1" noChangeArrowheads="1" noChangeShapeType="1" noTextEdit="1"/>
              </p:cNvSpPr>
              <p:nvPr/>
            </p:nvSpPr>
            <p:spPr bwMode="auto">
              <a:xfrm>
                <a:off x="4260140" y="5849299"/>
                <a:ext cx="2065337" cy="1219200"/>
              </a:xfrm>
              <a:prstGeom prst="rect">
                <a:avLst/>
              </a:prstGeom>
              <a:blipFill>
                <a:blip r:embed="rId12"/>
                <a:stretch>
                  <a:fillRect/>
                </a:stretch>
              </a:blipFill>
              <a:ln w="9525">
                <a:noFill/>
                <a:miter lim="800000"/>
                <a:headEnd/>
                <a:tailEnd/>
              </a:ln>
              <a:effectLst/>
            </p:spPr>
            <p:txBody>
              <a:bodyPr/>
              <a:lstStyle/>
              <a:p>
                <a:r>
                  <a:rPr lang="en-US">
                    <a:noFill/>
                  </a:rPr>
                  <a:t> </a:t>
                </a:r>
              </a:p>
            </p:txBody>
          </p:sp>
        </mc:Fallback>
      </mc:AlternateContent>
    </p:spTree>
    <p:extLst>
      <p:ext uri="{BB962C8B-B14F-4D97-AF65-F5344CB8AC3E}">
        <p14:creationId xmlns:p14="http://schemas.microsoft.com/office/powerpoint/2010/main" val="1422305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nodeType="clickEffect">
                                  <p:stCondLst>
                                    <p:cond delay="0"/>
                                  </p:stCondLst>
                                  <p:childTnLst>
                                    <p:set>
                                      <p:cBhvr>
                                        <p:cTn id="18" dur="1" fill="hold">
                                          <p:stCondLst>
                                            <p:cond delay="0"/>
                                          </p:stCondLst>
                                        </p:cTn>
                                        <p:tgtEl>
                                          <p:spTgt spid="2"/>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3" presetClass="entr" presetSubtype="5" fill="hold" nodeType="clickEffect">
                                  <p:stCondLst>
                                    <p:cond delay="0"/>
                                  </p:stCondLst>
                                  <p:childTnLst>
                                    <p:set>
                                      <p:cBhvr>
                                        <p:cTn id="34" dur="1" fill="hold">
                                          <p:stCondLst>
                                            <p:cond delay="0"/>
                                          </p:stCondLst>
                                        </p:cTn>
                                        <p:tgtEl>
                                          <p:spTgt spid="58"/>
                                        </p:tgtEl>
                                        <p:attrNameLst>
                                          <p:attrName>style.visibility</p:attrName>
                                        </p:attrNameLst>
                                      </p:cBhvr>
                                      <p:to>
                                        <p:strVal val="visible"/>
                                      </p:to>
                                    </p:set>
                                    <p:animEffect transition="in" filter="blinds(vertical)">
                                      <p:cBhvr>
                                        <p:cTn id="35" dur="500"/>
                                        <p:tgtEl>
                                          <p:spTgt spid="58"/>
                                        </p:tgtEl>
                                      </p:cBhvr>
                                    </p:animEffect>
                                  </p:childTnLst>
                                </p:cTn>
                              </p:par>
                            </p:childTnLst>
                          </p:cTn>
                        </p:par>
                      </p:childTnLst>
                    </p:cTn>
                  </p:par>
                  <p:par>
                    <p:cTn id="36" fill="hold">
                      <p:stCondLst>
                        <p:cond delay="indefinite"/>
                      </p:stCondLst>
                      <p:childTnLst>
                        <p:par>
                          <p:cTn id="37" fill="hold">
                            <p:stCondLst>
                              <p:cond delay="0"/>
                            </p:stCondLst>
                            <p:childTnLst>
                              <p:par>
                                <p:cTn id="38" presetID="3" presetClass="entr" presetSubtype="10" fill="hold" nodeType="click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blinds(horizontal)">
                                      <p:cBhvr>
                                        <p:cTn id="40" dur="500"/>
                                        <p:tgtEl>
                                          <p:spTgt spid="63"/>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62"/>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3" presetClass="entr" presetSubtype="5" fill="hold" nodeType="clickEffect">
                                  <p:stCondLst>
                                    <p:cond delay="0"/>
                                  </p:stCondLst>
                                  <p:childTnLst>
                                    <p:set>
                                      <p:cBhvr>
                                        <p:cTn id="48" dur="1" fill="hold">
                                          <p:stCondLst>
                                            <p:cond delay="0"/>
                                          </p:stCondLst>
                                        </p:cTn>
                                        <p:tgtEl>
                                          <p:spTgt spid="67"/>
                                        </p:tgtEl>
                                        <p:attrNameLst>
                                          <p:attrName>style.visibility</p:attrName>
                                        </p:attrNameLst>
                                      </p:cBhvr>
                                      <p:to>
                                        <p:strVal val="visible"/>
                                      </p:to>
                                    </p:set>
                                    <p:animEffect transition="in" filter="blinds(vertical)">
                                      <p:cBhvr>
                                        <p:cTn id="49" dur="500"/>
                                        <p:tgtEl>
                                          <p:spTgt spid="67"/>
                                        </p:tgtEl>
                                      </p:cBhvr>
                                    </p:animEffect>
                                  </p:childTnLst>
                                </p:cTn>
                              </p:par>
                            </p:childTnLst>
                          </p:cTn>
                        </p:par>
                      </p:childTnLst>
                    </p:cTn>
                  </p:par>
                  <p:par>
                    <p:cTn id="50" fill="hold">
                      <p:stCondLst>
                        <p:cond delay="indefinite"/>
                      </p:stCondLst>
                      <p:childTnLst>
                        <p:par>
                          <p:cTn id="51" fill="hold">
                            <p:stCondLst>
                              <p:cond delay="0"/>
                            </p:stCondLst>
                            <p:childTnLst>
                              <p:par>
                                <p:cTn id="52" presetID="3" presetClass="entr" presetSubtype="5" fill="hold" nodeType="clickEffect">
                                  <p:stCondLst>
                                    <p:cond delay="0"/>
                                  </p:stCondLst>
                                  <p:childTnLst>
                                    <p:set>
                                      <p:cBhvr>
                                        <p:cTn id="53" dur="1" fill="hold">
                                          <p:stCondLst>
                                            <p:cond delay="0"/>
                                          </p:stCondLst>
                                        </p:cTn>
                                        <p:tgtEl>
                                          <p:spTgt spid="68"/>
                                        </p:tgtEl>
                                        <p:attrNameLst>
                                          <p:attrName>style.visibility</p:attrName>
                                        </p:attrNameLst>
                                      </p:cBhvr>
                                      <p:to>
                                        <p:strVal val="visible"/>
                                      </p:to>
                                    </p:set>
                                    <p:animEffect transition="in" filter="blinds(vertical)">
                                      <p:cBhvr>
                                        <p:cTn id="54" dur="500"/>
                                        <p:tgtEl>
                                          <p:spTgt spid="68"/>
                                        </p:tgtEl>
                                      </p:cBhvr>
                                    </p:animEffect>
                                  </p:childTnLst>
                                </p:cTn>
                              </p:par>
                            </p:childTnLst>
                          </p:cTn>
                        </p:par>
                      </p:childTnLst>
                    </p:cTn>
                  </p:par>
                  <p:par>
                    <p:cTn id="55" fill="hold">
                      <p:stCondLst>
                        <p:cond delay="indefinite"/>
                      </p:stCondLst>
                      <p:childTnLst>
                        <p:par>
                          <p:cTn id="56" fill="hold">
                            <p:stCondLst>
                              <p:cond delay="0"/>
                            </p:stCondLst>
                            <p:childTnLst>
                              <p:par>
                                <p:cTn id="57" presetID="3" presetClass="entr" presetSubtype="5" fill="hold" nodeType="clickEffect">
                                  <p:stCondLst>
                                    <p:cond delay="0"/>
                                  </p:stCondLst>
                                  <p:childTnLst>
                                    <p:set>
                                      <p:cBhvr>
                                        <p:cTn id="58" dur="1" fill="hold">
                                          <p:stCondLst>
                                            <p:cond delay="0"/>
                                          </p:stCondLst>
                                        </p:cTn>
                                        <p:tgtEl>
                                          <p:spTgt spid="69"/>
                                        </p:tgtEl>
                                        <p:attrNameLst>
                                          <p:attrName>style.visibility</p:attrName>
                                        </p:attrNameLst>
                                      </p:cBhvr>
                                      <p:to>
                                        <p:strVal val="visible"/>
                                      </p:to>
                                    </p:set>
                                    <p:animEffect transition="in" filter="blinds(vertical)">
                                      <p:cBhvr>
                                        <p:cTn id="59" dur="500"/>
                                        <p:tgtEl>
                                          <p:spTgt spid="69"/>
                                        </p:tgtEl>
                                      </p:cBhvr>
                                    </p:animEffect>
                                  </p:childTnLst>
                                </p:cTn>
                              </p:par>
                            </p:childTnLst>
                          </p:cTn>
                        </p:par>
                      </p:childTnLst>
                    </p:cTn>
                  </p:par>
                  <p:par>
                    <p:cTn id="60" fill="hold">
                      <p:stCondLst>
                        <p:cond delay="indefinite"/>
                      </p:stCondLst>
                      <p:childTnLst>
                        <p:par>
                          <p:cTn id="61" fill="hold">
                            <p:stCondLst>
                              <p:cond delay="0"/>
                            </p:stCondLst>
                            <p:childTnLst>
                              <p:par>
                                <p:cTn id="62" presetID="3" presetClass="entr" presetSubtype="5" fill="hold" nodeType="clickEffect">
                                  <p:stCondLst>
                                    <p:cond delay="0"/>
                                  </p:stCondLst>
                                  <p:childTnLst>
                                    <p:set>
                                      <p:cBhvr>
                                        <p:cTn id="63" dur="1" fill="hold">
                                          <p:stCondLst>
                                            <p:cond delay="0"/>
                                          </p:stCondLst>
                                        </p:cTn>
                                        <p:tgtEl>
                                          <p:spTgt spid="78"/>
                                        </p:tgtEl>
                                        <p:attrNameLst>
                                          <p:attrName>style.visibility</p:attrName>
                                        </p:attrNameLst>
                                      </p:cBhvr>
                                      <p:to>
                                        <p:strVal val="visible"/>
                                      </p:to>
                                    </p:set>
                                    <p:animEffect transition="in" filter="blinds(vertical)">
                                      <p:cBhvr>
                                        <p:cTn id="64" dur="500"/>
                                        <p:tgtEl>
                                          <p:spTgt spid="78"/>
                                        </p:tgtEl>
                                      </p:cBhvr>
                                    </p:animEffect>
                                  </p:childTnLst>
                                </p:cTn>
                              </p:par>
                            </p:childTnLst>
                          </p:cTn>
                        </p:par>
                      </p:childTnLst>
                    </p:cTn>
                  </p:par>
                  <p:par>
                    <p:cTn id="65" fill="hold">
                      <p:stCondLst>
                        <p:cond delay="indefinite"/>
                      </p:stCondLst>
                      <p:childTnLst>
                        <p:par>
                          <p:cTn id="66" fill="hold">
                            <p:stCondLst>
                              <p:cond delay="0"/>
                            </p:stCondLst>
                            <p:childTnLst>
                              <p:par>
                                <p:cTn id="67" presetID="3" presetClass="entr" presetSubtype="5" fill="hold" nodeType="clickEffect">
                                  <p:stCondLst>
                                    <p:cond delay="0"/>
                                  </p:stCondLst>
                                  <p:childTnLst>
                                    <p:set>
                                      <p:cBhvr>
                                        <p:cTn id="68" dur="1" fill="hold">
                                          <p:stCondLst>
                                            <p:cond delay="0"/>
                                          </p:stCondLst>
                                        </p:cTn>
                                        <p:tgtEl>
                                          <p:spTgt spid="72"/>
                                        </p:tgtEl>
                                        <p:attrNameLst>
                                          <p:attrName>style.visibility</p:attrName>
                                        </p:attrNameLst>
                                      </p:cBhvr>
                                      <p:to>
                                        <p:strVal val="visible"/>
                                      </p:to>
                                    </p:set>
                                    <p:animEffect transition="in" filter="blinds(vertical)">
                                      <p:cBhvr>
                                        <p:cTn id="69" dur="500"/>
                                        <p:tgtEl>
                                          <p:spTgt spid="72"/>
                                        </p:tgtEl>
                                      </p:cBhvr>
                                    </p:animEffect>
                                  </p:childTnLst>
                                </p:cTn>
                              </p:par>
                            </p:childTnLst>
                          </p:cTn>
                        </p:par>
                      </p:childTnLst>
                    </p:cTn>
                  </p:par>
                  <p:par>
                    <p:cTn id="70" fill="hold">
                      <p:stCondLst>
                        <p:cond delay="indefinite"/>
                      </p:stCondLst>
                      <p:childTnLst>
                        <p:par>
                          <p:cTn id="71" fill="hold">
                            <p:stCondLst>
                              <p:cond delay="0"/>
                            </p:stCondLst>
                            <p:childTnLst>
                              <p:par>
                                <p:cTn id="72" presetID="3" presetClass="entr" presetSubtype="5" fill="hold" nodeType="clickEffect">
                                  <p:stCondLst>
                                    <p:cond delay="0"/>
                                  </p:stCondLst>
                                  <p:childTnLst>
                                    <p:set>
                                      <p:cBhvr>
                                        <p:cTn id="73" dur="1" fill="hold">
                                          <p:stCondLst>
                                            <p:cond delay="0"/>
                                          </p:stCondLst>
                                        </p:cTn>
                                        <p:tgtEl>
                                          <p:spTgt spid="73"/>
                                        </p:tgtEl>
                                        <p:attrNameLst>
                                          <p:attrName>style.visibility</p:attrName>
                                        </p:attrNameLst>
                                      </p:cBhvr>
                                      <p:to>
                                        <p:strVal val="visible"/>
                                      </p:to>
                                    </p:set>
                                    <p:animEffect transition="in" filter="blinds(vertical)">
                                      <p:cBhvr>
                                        <p:cTn id="74" dur="500"/>
                                        <p:tgtEl>
                                          <p:spTgt spid="73"/>
                                        </p:tgtEl>
                                      </p:cBhvr>
                                    </p:animEffect>
                                  </p:childTnLst>
                                </p:cTn>
                              </p:par>
                            </p:childTnLst>
                          </p:cTn>
                        </p:par>
                      </p:childTnLst>
                    </p:cTn>
                  </p:par>
                  <p:par>
                    <p:cTn id="75" fill="hold">
                      <p:stCondLst>
                        <p:cond delay="indefinite"/>
                      </p:stCondLst>
                      <p:childTnLst>
                        <p:par>
                          <p:cTn id="76" fill="hold">
                            <p:stCondLst>
                              <p:cond delay="0"/>
                            </p:stCondLst>
                            <p:childTnLst>
                              <p:par>
                                <p:cTn id="77" presetID="3" presetClass="entr" presetSubtype="10" fill="hold" nodeType="clickEffect">
                                  <p:stCondLst>
                                    <p:cond delay="0"/>
                                  </p:stCondLst>
                                  <p:childTnLst>
                                    <p:set>
                                      <p:cBhvr>
                                        <p:cTn id="78" dur="1" fill="hold">
                                          <p:stCondLst>
                                            <p:cond delay="0"/>
                                          </p:stCondLst>
                                        </p:cTn>
                                        <p:tgtEl>
                                          <p:spTgt spid="74"/>
                                        </p:tgtEl>
                                        <p:attrNameLst>
                                          <p:attrName>style.visibility</p:attrName>
                                        </p:attrNameLst>
                                      </p:cBhvr>
                                      <p:to>
                                        <p:strVal val="visible"/>
                                      </p:to>
                                    </p:set>
                                    <p:animEffect transition="in" filter="blinds(horizontal)">
                                      <p:cBhvr>
                                        <p:cTn id="79" dur="500"/>
                                        <p:tgtEl>
                                          <p:spTgt spid="74"/>
                                        </p:tgtEl>
                                      </p:cBhvr>
                                    </p:animEffect>
                                  </p:childTnLst>
                                </p:cTn>
                              </p:par>
                            </p:childTnLst>
                          </p:cTn>
                        </p:par>
                      </p:childTnLst>
                    </p:cTn>
                  </p:par>
                  <p:par>
                    <p:cTn id="80" fill="hold">
                      <p:stCondLst>
                        <p:cond delay="indefinite"/>
                      </p:stCondLst>
                      <p:childTnLst>
                        <p:par>
                          <p:cTn id="81" fill="hold">
                            <p:stCondLst>
                              <p:cond delay="0"/>
                            </p:stCondLst>
                            <p:childTnLst>
                              <p:par>
                                <p:cTn id="82" presetID="3" presetClass="entr" presetSubtype="5" fill="hold" nodeType="clickEffect">
                                  <p:stCondLst>
                                    <p:cond delay="0"/>
                                  </p:stCondLst>
                                  <p:childTnLst>
                                    <p:set>
                                      <p:cBhvr>
                                        <p:cTn id="83" dur="1" fill="hold">
                                          <p:stCondLst>
                                            <p:cond delay="0"/>
                                          </p:stCondLst>
                                        </p:cTn>
                                        <p:tgtEl>
                                          <p:spTgt spid="75"/>
                                        </p:tgtEl>
                                        <p:attrNameLst>
                                          <p:attrName>style.visibility</p:attrName>
                                        </p:attrNameLst>
                                      </p:cBhvr>
                                      <p:to>
                                        <p:strVal val="visible"/>
                                      </p:to>
                                    </p:set>
                                    <p:animEffect transition="in" filter="blinds(vertical)">
                                      <p:cBhvr>
                                        <p:cTn id="84" dur="500"/>
                                        <p:tgtEl>
                                          <p:spTgt spid="75"/>
                                        </p:tgtEl>
                                      </p:cBhvr>
                                    </p:animEffect>
                                  </p:childTnLst>
                                </p:cTn>
                              </p:par>
                            </p:childTnLst>
                          </p:cTn>
                        </p:par>
                      </p:childTnLst>
                    </p:cTn>
                  </p:par>
                  <p:par>
                    <p:cTn id="85" fill="hold">
                      <p:stCondLst>
                        <p:cond delay="indefinite"/>
                      </p:stCondLst>
                      <p:childTnLst>
                        <p:par>
                          <p:cTn id="86" fill="hold">
                            <p:stCondLst>
                              <p:cond delay="0"/>
                            </p:stCondLst>
                            <p:childTnLst>
                              <p:par>
                                <p:cTn id="87" presetID="3" presetClass="entr" presetSubtype="10" fill="hold" nodeType="clickEffect">
                                  <p:stCondLst>
                                    <p:cond delay="0"/>
                                  </p:stCondLst>
                                  <p:childTnLst>
                                    <p:set>
                                      <p:cBhvr>
                                        <p:cTn id="88" dur="1" fill="hold">
                                          <p:stCondLst>
                                            <p:cond delay="0"/>
                                          </p:stCondLst>
                                        </p:cTn>
                                        <p:tgtEl>
                                          <p:spTgt spid="76"/>
                                        </p:tgtEl>
                                        <p:attrNameLst>
                                          <p:attrName>style.visibility</p:attrName>
                                        </p:attrNameLst>
                                      </p:cBhvr>
                                      <p:to>
                                        <p:strVal val="visible"/>
                                      </p:to>
                                    </p:set>
                                    <p:animEffect transition="in" filter="blinds(horizontal)">
                                      <p:cBhvr>
                                        <p:cTn id="89" dur="500"/>
                                        <p:tgtEl>
                                          <p:spTgt spid="76"/>
                                        </p:tgtEl>
                                      </p:cBhvr>
                                    </p:animEffect>
                                  </p:childTnLst>
                                </p:cTn>
                              </p:par>
                            </p:childTnLst>
                          </p:cTn>
                        </p:par>
                      </p:childTnLst>
                    </p:cTn>
                  </p:par>
                  <p:par>
                    <p:cTn id="90" fill="hold">
                      <p:stCondLst>
                        <p:cond delay="indefinite"/>
                      </p:stCondLst>
                      <p:childTnLst>
                        <p:par>
                          <p:cTn id="91" fill="hold">
                            <p:stCondLst>
                              <p:cond delay="0"/>
                            </p:stCondLst>
                            <p:childTnLst>
                              <p:par>
                                <p:cTn id="92" presetID="3" presetClass="entr" presetSubtype="10" fill="hold" nodeType="clickEffect">
                                  <p:stCondLst>
                                    <p:cond delay="0"/>
                                  </p:stCondLst>
                                  <p:childTnLst>
                                    <p:set>
                                      <p:cBhvr>
                                        <p:cTn id="93" dur="1" fill="hold">
                                          <p:stCondLst>
                                            <p:cond delay="0"/>
                                          </p:stCondLst>
                                        </p:cTn>
                                        <p:tgtEl>
                                          <p:spTgt spid="77"/>
                                        </p:tgtEl>
                                        <p:attrNameLst>
                                          <p:attrName>style.visibility</p:attrName>
                                        </p:attrNameLst>
                                      </p:cBhvr>
                                      <p:to>
                                        <p:strVal val="visible"/>
                                      </p:to>
                                    </p:set>
                                    <p:animEffect transition="in" filter="blinds(horizontal)">
                                      <p:cBhvr>
                                        <p:cTn id="94" dur="500"/>
                                        <p:tgtEl>
                                          <p:spTgt spid="77"/>
                                        </p:tgtEl>
                                      </p:cBhvr>
                                    </p:animEffec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79"/>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grpId="0" nodeType="clickEffect">
                                  <p:stCondLst>
                                    <p:cond delay="0"/>
                                  </p:stCondLst>
                                  <p:childTnLst>
                                    <p:set>
                                      <p:cBhvr>
                                        <p:cTn id="102" dur="1" fill="hold">
                                          <p:stCondLst>
                                            <p:cond delay="0"/>
                                          </p:stCondLst>
                                        </p:cTn>
                                        <p:tgtEl>
                                          <p:spTgt spid="88"/>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grpId="0" nodeType="clickEffect">
                                  <p:stCondLst>
                                    <p:cond delay="0"/>
                                  </p:stCondLst>
                                  <p:childTnLst>
                                    <p:set>
                                      <p:cBhvr>
                                        <p:cTn id="106" dur="1" fill="hold">
                                          <p:stCondLst>
                                            <p:cond delay="0"/>
                                          </p:stCondLst>
                                        </p:cTn>
                                        <p:tgtEl>
                                          <p:spTgt spid="87"/>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grpId="0" nodeType="clickEffect">
                                  <p:stCondLst>
                                    <p:cond delay="0"/>
                                  </p:stCondLst>
                                  <p:childTnLst>
                                    <p:set>
                                      <p:cBhvr>
                                        <p:cTn id="110" dur="1" fill="hold">
                                          <p:stCondLst>
                                            <p:cond delay="0"/>
                                          </p:stCondLst>
                                        </p:cTn>
                                        <p:tgtEl>
                                          <p:spTgt spid="90"/>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grpId="0" nodeType="clickEffect">
                                  <p:stCondLst>
                                    <p:cond delay="0"/>
                                  </p:stCondLst>
                                  <p:childTnLst>
                                    <p:set>
                                      <p:cBhvr>
                                        <p:cTn id="114" dur="1" fill="hold">
                                          <p:stCondLst>
                                            <p:cond delay="0"/>
                                          </p:stCondLst>
                                        </p:cTn>
                                        <p:tgtEl>
                                          <p:spTgt spid="92"/>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grpId="0" nodeType="clickEffect">
                                  <p:stCondLst>
                                    <p:cond delay="0"/>
                                  </p:stCondLst>
                                  <p:childTnLst>
                                    <p:set>
                                      <p:cBhvr>
                                        <p:cTn id="118" dur="1" fill="hold">
                                          <p:stCondLst>
                                            <p:cond delay="0"/>
                                          </p:stCondLst>
                                        </p:cTn>
                                        <p:tgtEl>
                                          <p:spTgt spid="9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P spid="11" grpId="0"/>
      <p:bldP spid="62" grpId="0"/>
      <p:bldP spid="87" grpId="0"/>
      <p:bldP spid="88" grpId="0"/>
      <p:bldP spid="90" grpId="0"/>
      <p:bldP spid="92" grpId="0"/>
      <p:bldP spid="93"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07215" name="Object 15">
                <a:extLst>
                  <a:ext uri="{FF2B5EF4-FFF2-40B4-BE49-F238E27FC236}">
                    <a16:creationId xmlns:a16="http://schemas.microsoft.com/office/drawing/2014/main" id="{5DFE3A8C-3DAC-0447-16B7-392B530253A7}"/>
                  </a:ext>
                </a:extLst>
              </p:cNvPr>
              <p:cNvSpPr txBox="1"/>
              <p:nvPr/>
            </p:nvSpPr>
            <p:spPr bwMode="auto">
              <a:xfrm>
                <a:off x="5549901" y="1731964"/>
                <a:ext cx="3369309" cy="106203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nary>
                        <m:naryPr>
                          <m:chr m:val="∯"/>
                          <m:limLoc m:val="undOvr"/>
                          <m:supHide m:val="on"/>
                          <m:ctrlPr>
                            <a:rPr lang="zh-CN" altLang="en-US" sz="3200" i="1">
                              <a:solidFill>
                                <a:srgbClr val="000000"/>
                              </a:solidFill>
                              <a:latin typeface="Cambria Math" panose="02040503050406030204" pitchFamily="18" charset="0"/>
                            </a:rPr>
                          </m:ctrlPr>
                        </m:naryPr>
                        <m:sub>
                          <m:r>
                            <a:rPr lang="zh-CN" altLang="en-US" sz="3200" i="1">
                              <a:solidFill>
                                <a:srgbClr val="000000"/>
                              </a:solidFill>
                              <a:latin typeface="Cambria Math" panose="02040503050406030204" pitchFamily="18" charset="0"/>
                            </a:rPr>
                            <m:t>𝑆</m:t>
                          </m:r>
                        </m:sub>
                        <m:sup/>
                        <m:e>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𝐸</m:t>
                              </m:r>
                            </m:e>
                          </m:acc>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𝑑</m:t>
                          </m:r>
                          <m:acc>
                            <m:accPr>
                              <m:chr m:val="⃗"/>
                              <m:ctrlPr>
                                <a:rPr lang="zh-CN" altLang="en-US" sz="3200" i="1">
                                  <a:solidFill>
                                    <a:srgbClr val="000000"/>
                                  </a:solidFill>
                                  <a:latin typeface="Cambria Math" panose="02040503050406030204" pitchFamily="18" charset="0"/>
                                </a:rPr>
                              </m:ctrlPr>
                            </m:accPr>
                            <m:e>
                              <m:r>
                                <a:rPr lang="zh-CN" altLang="en-US" sz="3200" i="1">
                                  <a:solidFill>
                                    <a:srgbClr val="000000"/>
                                  </a:solidFill>
                                  <a:latin typeface="Cambria Math" panose="02040503050406030204" pitchFamily="18" charset="0"/>
                                </a:rPr>
                                <m:t>𝑆</m:t>
                              </m:r>
                            </m:e>
                          </m:acc>
                        </m:e>
                      </m:nary>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𝜎</m:t>
                          </m:r>
                          <m:r>
                            <a:rPr lang="zh-CN" altLang="en-US" sz="3200" i="1">
                              <a:solidFill>
                                <a:srgbClr val="000000"/>
                              </a:solidFill>
                              <a:latin typeface="Cambria Math" panose="02040503050406030204" pitchFamily="18" charset="0"/>
                            </a:rPr>
                            <m:t>𝑆</m:t>
                          </m:r>
                        </m:num>
                        <m:den>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oMath>
                  </m:oMathPara>
                </a14:m>
                <a:endParaRPr lang="zh-CN" altLang="en-US" sz="3200" dirty="0"/>
              </a:p>
            </p:txBody>
          </p:sp>
        </mc:Choice>
        <mc:Fallback xmlns="">
          <p:sp>
            <p:nvSpPr>
              <p:cNvPr id="307215" name="Object 15">
                <a:extLst>
                  <a:ext uri="{FF2B5EF4-FFF2-40B4-BE49-F238E27FC236}">
                    <a16:creationId xmlns:a16="http://schemas.microsoft.com/office/drawing/2014/main" id="{5DFE3A8C-3DAC-0447-16B7-392B530253A7}"/>
                  </a:ext>
                </a:extLst>
              </p:cNvPr>
              <p:cNvSpPr txBox="1">
                <a:spLocks noRot="1" noChangeAspect="1" noMove="1" noResize="1" noEditPoints="1" noAdjustHandles="1" noChangeArrowheads="1" noChangeShapeType="1" noTextEdit="1"/>
              </p:cNvSpPr>
              <p:nvPr/>
            </p:nvSpPr>
            <p:spPr bwMode="auto">
              <a:xfrm>
                <a:off x="5549901" y="1731964"/>
                <a:ext cx="3369309" cy="1062037"/>
              </a:xfrm>
              <a:prstGeom prst="rect">
                <a:avLst/>
              </a:prstGeom>
              <a:blipFill>
                <a:blip r:embed="rId2"/>
                <a:stretch>
                  <a:fillRect b="-2643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7220" name="Object 20">
                <a:extLst>
                  <a:ext uri="{FF2B5EF4-FFF2-40B4-BE49-F238E27FC236}">
                    <a16:creationId xmlns:a16="http://schemas.microsoft.com/office/drawing/2014/main" id="{423B338B-C1FA-16FF-93B5-703B1A2DABDD}"/>
                  </a:ext>
                </a:extLst>
              </p:cNvPr>
              <p:cNvSpPr txBox="1"/>
              <p:nvPr/>
            </p:nvSpPr>
            <p:spPr bwMode="auto">
              <a:xfrm>
                <a:off x="5635914" y="3323792"/>
                <a:ext cx="4178300" cy="1027112"/>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𝐸𝑆</m:t>
                      </m:r>
                      <m:r>
                        <a:rPr lang="zh-CN" altLang="en-US" sz="3200" i="1">
                          <a:solidFill>
                            <a:srgbClr val="000000"/>
                          </a:solidFill>
                          <a:latin typeface="Cambria Math" panose="02040503050406030204" pitchFamily="18" charset="0"/>
                        </a:rPr>
                        <m:t>+</m:t>
                      </m:r>
                      <m:r>
                        <a:rPr lang="zh-CN" altLang="en-US" sz="3200" i="1">
                          <a:solidFill>
                            <a:srgbClr val="000000"/>
                          </a:solidFill>
                          <a:latin typeface="Cambria Math" panose="02040503050406030204" pitchFamily="18" charset="0"/>
                        </a:rPr>
                        <m:t>𝐸𝑆</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𝜎</m:t>
                          </m:r>
                          <m:r>
                            <a:rPr lang="zh-CN" altLang="en-US" sz="3200" i="1">
                              <a:solidFill>
                                <a:srgbClr val="000000"/>
                              </a:solidFill>
                              <a:latin typeface="Cambria Math" panose="02040503050406030204" pitchFamily="18" charset="0"/>
                            </a:rPr>
                            <m:t>𝑆</m:t>
                          </m:r>
                        </m:num>
                        <m:den>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oMath>
                  </m:oMathPara>
                </a14:m>
                <a:endParaRPr lang="zh-CN" altLang="en-US" sz="3200" dirty="0"/>
              </a:p>
            </p:txBody>
          </p:sp>
        </mc:Choice>
        <mc:Fallback xmlns="">
          <p:sp>
            <p:nvSpPr>
              <p:cNvPr id="307220" name="Object 20">
                <a:extLst>
                  <a:ext uri="{FF2B5EF4-FFF2-40B4-BE49-F238E27FC236}">
                    <a16:creationId xmlns:a16="http://schemas.microsoft.com/office/drawing/2014/main" id="{423B338B-C1FA-16FF-93B5-703B1A2DABDD}"/>
                  </a:ext>
                </a:extLst>
              </p:cNvPr>
              <p:cNvSpPr txBox="1">
                <a:spLocks noRot="1" noChangeAspect="1" noMove="1" noResize="1" noEditPoints="1" noAdjustHandles="1" noChangeArrowheads="1" noChangeShapeType="1" noTextEdit="1"/>
              </p:cNvSpPr>
              <p:nvPr/>
            </p:nvSpPr>
            <p:spPr bwMode="auto">
              <a:xfrm>
                <a:off x="5635914" y="3323792"/>
                <a:ext cx="4178300" cy="1027112"/>
              </a:xfrm>
              <a:prstGeom prst="rect">
                <a:avLst/>
              </a:prstGeom>
              <a:blipFill>
                <a:blip r:embed="rId3"/>
                <a:stretch>
                  <a:fillRect b="-2367"/>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7221" name="Object 21">
                <a:extLst>
                  <a:ext uri="{FF2B5EF4-FFF2-40B4-BE49-F238E27FC236}">
                    <a16:creationId xmlns:a16="http://schemas.microsoft.com/office/drawing/2014/main" id="{60088B9E-6520-31BF-4648-E2E1321E4350}"/>
                  </a:ext>
                </a:extLst>
              </p:cNvPr>
              <p:cNvSpPr txBox="1"/>
              <p:nvPr/>
            </p:nvSpPr>
            <p:spPr bwMode="auto">
              <a:xfrm>
                <a:off x="6159500" y="4911006"/>
                <a:ext cx="1639888" cy="1143000"/>
              </a:xfrm>
              <a:prstGeom prst="rect">
                <a:avLst/>
              </a:prstGeom>
              <a:noFill/>
              <a:ln>
                <a:noFill/>
              </a:ln>
            </p:spPr>
            <p:txBody>
              <a:bodyPr>
                <a:normAutofit/>
              </a:bodyPr>
              <a:lstStyle/>
              <a:p>
                <a:pPr/>
                <a14:m>
                  <m:oMathPara xmlns:m="http://schemas.openxmlformats.org/officeDocument/2006/math">
                    <m:oMathParaPr>
                      <m:jc m:val="left"/>
                    </m:oMathParaPr>
                    <m:oMath xmlns:m="http://schemas.openxmlformats.org/officeDocument/2006/math">
                      <m:r>
                        <a:rPr lang="zh-CN" altLang="en-US" sz="3200" i="1">
                          <a:solidFill>
                            <a:srgbClr val="000000"/>
                          </a:solidFill>
                          <a:latin typeface="Cambria Math" panose="02040503050406030204" pitchFamily="18" charset="0"/>
                        </a:rPr>
                        <m:t>𝐸</m:t>
                      </m:r>
                      <m:r>
                        <a:rPr lang="zh-CN" altLang="en-US" sz="3200" i="1">
                          <a:solidFill>
                            <a:srgbClr val="000000"/>
                          </a:solidFill>
                          <a:latin typeface="Cambria Math" panose="02040503050406030204" pitchFamily="18" charset="0"/>
                        </a:rPr>
                        <m:t>=</m:t>
                      </m:r>
                      <m:f>
                        <m:fPr>
                          <m:ctrlPr>
                            <a:rPr lang="zh-CN" altLang="en-US" sz="3200" i="1">
                              <a:solidFill>
                                <a:srgbClr val="000000"/>
                              </a:solidFill>
                              <a:latin typeface="Cambria Math" panose="02040503050406030204" pitchFamily="18" charset="0"/>
                            </a:rPr>
                          </m:ctrlPr>
                        </m:fPr>
                        <m:num>
                          <m:r>
                            <a:rPr lang="zh-CN" altLang="en-US" sz="3200" i="1">
                              <a:solidFill>
                                <a:srgbClr val="000000"/>
                              </a:solidFill>
                              <a:latin typeface="Cambria Math" panose="02040503050406030204" pitchFamily="18" charset="0"/>
                            </a:rPr>
                            <m:t>𝜎</m:t>
                          </m:r>
                        </m:num>
                        <m:den>
                          <m:r>
                            <a:rPr lang="zh-CN" altLang="en-US" sz="3200" i="1">
                              <a:solidFill>
                                <a:srgbClr val="000000"/>
                              </a:solidFill>
                              <a:latin typeface="Cambria Math" panose="02040503050406030204" pitchFamily="18" charset="0"/>
                            </a:rPr>
                            <m:t>2</m:t>
                          </m:r>
                          <m:sSub>
                            <m:sSubPr>
                              <m:ctrlPr>
                                <a:rPr lang="zh-CN" altLang="en-US" sz="3200" i="1">
                                  <a:solidFill>
                                    <a:srgbClr val="000000"/>
                                  </a:solidFill>
                                  <a:latin typeface="Cambria Math" panose="02040503050406030204" pitchFamily="18" charset="0"/>
                                </a:rPr>
                              </m:ctrlPr>
                            </m:sSubPr>
                            <m:e>
                              <m:r>
                                <a:rPr lang="zh-CN" altLang="en-US" sz="3200" i="1">
                                  <a:solidFill>
                                    <a:srgbClr val="000000"/>
                                  </a:solidFill>
                                  <a:latin typeface="Cambria Math" panose="02040503050406030204" pitchFamily="18" charset="0"/>
                                </a:rPr>
                                <m:t>𝜀</m:t>
                              </m:r>
                            </m:e>
                            <m:sub>
                              <m:r>
                                <a:rPr lang="zh-CN" altLang="en-US" sz="3200" i="1">
                                  <a:solidFill>
                                    <a:srgbClr val="000000"/>
                                  </a:solidFill>
                                  <a:latin typeface="Cambria Math" panose="02040503050406030204" pitchFamily="18" charset="0"/>
                                </a:rPr>
                                <m:t>0</m:t>
                              </m:r>
                            </m:sub>
                          </m:sSub>
                        </m:den>
                      </m:f>
                    </m:oMath>
                  </m:oMathPara>
                </a14:m>
                <a:endParaRPr lang="zh-CN" altLang="en-US" sz="3200" dirty="0"/>
              </a:p>
            </p:txBody>
          </p:sp>
        </mc:Choice>
        <mc:Fallback xmlns="">
          <p:sp>
            <p:nvSpPr>
              <p:cNvPr id="307221" name="Object 21">
                <a:extLst>
                  <a:ext uri="{FF2B5EF4-FFF2-40B4-BE49-F238E27FC236}">
                    <a16:creationId xmlns:a16="http://schemas.microsoft.com/office/drawing/2014/main" id="{60088B9E-6520-31BF-4648-E2E1321E4350}"/>
                  </a:ext>
                </a:extLst>
              </p:cNvPr>
              <p:cNvSpPr txBox="1">
                <a:spLocks noRot="1" noChangeAspect="1" noMove="1" noResize="1" noEditPoints="1" noAdjustHandles="1" noChangeArrowheads="1" noChangeShapeType="1" noTextEdit="1"/>
              </p:cNvSpPr>
              <p:nvPr/>
            </p:nvSpPr>
            <p:spPr bwMode="auto">
              <a:xfrm>
                <a:off x="6159500" y="4911006"/>
                <a:ext cx="1639888" cy="1143000"/>
              </a:xfrm>
              <a:prstGeom prst="rect">
                <a:avLst/>
              </a:prstGeom>
              <a:blipFill>
                <a:blip r:embed="rId4"/>
                <a:stretch>
                  <a:fillRect/>
                </a:stretch>
              </a:blipFill>
              <a:ln>
                <a:noFill/>
              </a:ln>
            </p:spPr>
            <p:txBody>
              <a:bodyPr/>
              <a:lstStyle/>
              <a:p>
                <a:r>
                  <a:rPr lang="zh-CN" altLang="en-US">
                    <a:noFill/>
                  </a:rPr>
                  <a:t> </a:t>
                </a:r>
              </a:p>
            </p:txBody>
          </p:sp>
        </mc:Fallback>
      </mc:AlternateContent>
      <p:pic>
        <p:nvPicPr>
          <p:cNvPr id="78" name="图片 77">
            <a:extLst>
              <a:ext uri="{FF2B5EF4-FFF2-40B4-BE49-F238E27FC236}">
                <a16:creationId xmlns:a16="http://schemas.microsoft.com/office/drawing/2014/main" id="{F4F30841-5AC6-FD78-4B64-6CCB87D4E0CB}"/>
              </a:ext>
            </a:extLst>
          </p:cNvPr>
          <p:cNvPicPr>
            <a:picLocks noChangeAspect="1"/>
          </p:cNvPicPr>
          <p:nvPr/>
        </p:nvPicPr>
        <p:blipFill>
          <a:blip r:embed="rId5"/>
          <a:stretch>
            <a:fillRect/>
          </a:stretch>
        </p:blipFill>
        <p:spPr>
          <a:xfrm>
            <a:off x="1362027" y="1000844"/>
            <a:ext cx="2969009" cy="3401863"/>
          </a:xfrm>
          <a:prstGeom prst="rect">
            <a:avLst/>
          </a:prstGeom>
        </p:spPr>
      </p:pic>
      <mc:AlternateContent xmlns:mc="http://schemas.openxmlformats.org/markup-compatibility/2006" xmlns:a14="http://schemas.microsoft.com/office/drawing/2010/main">
        <mc:Choice Requires="a14">
          <p:sp>
            <p:nvSpPr>
              <p:cNvPr id="79" name="Rectangle 2">
                <a:extLst>
                  <a:ext uri="{FF2B5EF4-FFF2-40B4-BE49-F238E27FC236}">
                    <a16:creationId xmlns:a16="http://schemas.microsoft.com/office/drawing/2014/main" id="{08577C4A-A628-518A-F5F1-FFAD38D8A9C3}"/>
                  </a:ext>
                </a:extLst>
              </p:cNvPr>
              <p:cNvSpPr>
                <a:spLocks noChangeArrowheads="1"/>
              </p:cNvSpPr>
              <p:nvPr/>
            </p:nvSpPr>
            <p:spPr bwMode="auto">
              <a:xfrm>
                <a:off x="1034332" y="261069"/>
                <a:ext cx="9824167" cy="5854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92075" tIns="46038" rIns="92075" bIns="46038">
                <a:spAutoFit/>
              </a:bodyPr>
              <a:lstStyle>
                <a:lvl1pPr defTabSz="762000">
                  <a:defRPr kumimoji="1" sz="2400">
                    <a:solidFill>
                      <a:srgbClr val="FF3300"/>
                    </a:solidFill>
                    <a:latin typeface="Times New Roman" panose="02020603050405020304" pitchFamily="18" charset="0"/>
                    <a:ea typeface="宋体" panose="02010600030101010101" pitchFamily="2" charset="-122"/>
                  </a:defRPr>
                </a:lvl1pPr>
                <a:lvl2pPr marL="742950" indent="-285750" defTabSz="762000">
                  <a:defRPr kumimoji="1" sz="2400">
                    <a:solidFill>
                      <a:srgbClr val="FF3300"/>
                    </a:solidFill>
                    <a:latin typeface="Times New Roman" panose="02020603050405020304" pitchFamily="18" charset="0"/>
                    <a:ea typeface="宋体" panose="02010600030101010101" pitchFamily="2" charset="-122"/>
                  </a:defRPr>
                </a:lvl2pPr>
                <a:lvl3pPr marL="1143000" indent="-228600" defTabSz="762000">
                  <a:defRPr kumimoji="1" sz="2400">
                    <a:solidFill>
                      <a:srgbClr val="FF3300"/>
                    </a:solidFill>
                    <a:latin typeface="Times New Roman" panose="02020603050405020304" pitchFamily="18" charset="0"/>
                    <a:ea typeface="宋体" panose="02010600030101010101" pitchFamily="2" charset="-122"/>
                  </a:defRPr>
                </a:lvl3pPr>
                <a:lvl4pPr marL="1600200" indent="-228600" defTabSz="762000">
                  <a:defRPr kumimoji="1" sz="2400">
                    <a:solidFill>
                      <a:srgbClr val="FF3300"/>
                    </a:solidFill>
                    <a:latin typeface="Times New Roman" panose="02020603050405020304" pitchFamily="18" charset="0"/>
                    <a:ea typeface="宋体" panose="02010600030101010101" pitchFamily="2" charset="-122"/>
                  </a:defRPr>
                </a:lvl4pPr>
                <a:lvl5pPr marL="2057400" indent="-228600" defTabSz="762000">
                  <a:defRPr kumimoji="1" sz="2400">
                    <a:solidFill>
                      <a:srgbClr val="FF3300"/>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pPr>
                  <a:spcBef>
                    <a:spcPct val="50000"/>
                  </a:spcBef>
                </a:pPr>
                <a:r>
                  <a:rPr lang="zh-CN" altLang="en-US" sz="3200" dirty="0">
                    <a:solidFill>
                      <a:schemeClr val="tx1"/>
                    </a:solidFill>
                    <a:latin typeface="华文楷体" panose="02010600040101010101" pitchFamily="2" charset="-122"/>
                    <a:ea typeface="华文楷体" panose="02010600040101010101" pitchFamily="2" charset="-122"/>
                  </a:rPr>
                  <a:t>例 无限大平板均匀带电</a:t>
                </a:r>
                <a:r>
                  <a:rPr lang="en-US" altLang="zh-CN" sz="3200" dirty="0">
                    <a:solidFill>
                      <a:schemeClr val="tx1"/>
                    </a:solidFill>
                    <a:latin typeface="华文楷体" panose="02010600040101010101" pitchFamily="2" charset="-122"/>
                    <a:ea typeface="华文楷体" panose="02010600040101010101" pitchFamily="2" charset="-122"/>
                  </a:rPr>
                  <a:t>,</a:t>
                </a:r>
                <a:r>
                  <a:rPr lang="zh-CN" altLang="en-US" sz="3200" dirty="0">
                    <a:solidFill>
                      <a:schemeClr val="tx1"/>
                    </a:solidFill>
                    <a:latin typeface="华文楷体" panose="02010600040101010101" pitchFamily="2" charset="-122"/>
                    <a:ea typeface="华文楷体" panose="02010600040101010101" pitchFamily="2" charset="-122"/>
                  </a:rPr>
                  <a:t> 面电荷密度</a:t>
                </a:r>
                <a14:m>
                  <m:oMath xmlns:m="http://schemas.openxmlformats.org/officeDocument/2006/math">
                    <m:r>
                      <a:rPr lang="zh-CN" altLang="en-US" sz="3200" b="0" i="1">
                        <a:solidFill>
                          <a:schemeClr val="tx1"/>
                        </a:solidFill>
                        <a:latin typeface="Cambria Math" panose="02040503050406030204" pitchFamily="18" charset="0"/>
                      </a:rPr>
                      <m:t>𝜎</m:t>
                    </m:r>
                  </m:oMath>
                </a14:m>
                <a:r>
                  <a:rPr lang="zh-CN" altLang="en-US" sz="3200" dirty="0">
                    <a:solidFill>
                      <a:schemeClr val="tx1"/>
                    </a:solidFill>
                    <a:latin typeface="华文楷体" panose="02010600040101010101" pitchFamily="2" charset="-122"/>
                    <a:ea typeface="华文楷体" panose="02010600040101010101" pitchFamily="2" charset="-122"/>
                  </a:rPr>
                  <a:t>，求周围电场</a:t>
                </a:r>
              </a:p>
            </p:txBody>
          </p:sp>
        </mc:Choice>
        <mc:Fallback xmlns="">
          <p:sp>
            <p:nvSpPr>
              <p:cNvPr id="79" name="Rectangle 2">
                <a:extLst>
                  <a:ext uri="{FF2B5EF4-FFF2-40B4-BE49-F238E27FC236}">
                    <a16:creationId xmlns:a16="http://schemas.microsoft.com/office/drawing/2014/main" id="{08577C4A-A628-518A-F5F1-FFAD38D8A9C3}"/>
                  </a:ext>
                </a:extLst>
              </p:cNvPr>
              <p:cNvSpPr>
                <a:spLocks noRot="1" noChangeAspect="1" noMove="1" noResize="1" noEditPoints="1" noAdjustHandles="1" noChangeArrowheads="1" noChangeShapeType="1" noTextEdit="1"/>
              </p:cNvSpPr>
              <p:nvPr/>
            </p:nvSpPr>
            <p:spPr bwMode="auto">
              <a:xfrm>
                <a:off x="1034332" y="261069"/>
                <a:ext cx="9824167" cy="585418"/>
              </a:xfrm>
              <a:prstGeom prst="rect">
                <a:avLst/>
              </a:prstGeom>
              <a:blipFill>
                <a:blip r:embed="rId6"/>
                <a:stretch>
                  <a:fillRect l="-1614" t="-13542" b="-3333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noFill/>
                  </a:rPr>
                  <a:t> </a:t>
                </a:r>
              </a:p>
            </p:txBody>
          </p:sp>
        </mc:Fallback>
      </mc:AlternateContent>
      <p:cxnSp>
        <p:nvCxnSpPr>
          <p:cNvPr id="7" name="Straight Connector 12">
            <a:extLst>
              <a:ext uri="{FF2B5EF4-FFF2-40B4-BE49-F238E27FC236}">
                <a16:creationId xmlns:a16="http://schemas.microsoft.com/office/drawing/2014/main" id="{B1163046-8EBC-45C6-A2DF-7D53A194059D}"/>
              </a:ext>
            </a:extLst>
          </p:cNvPr>
          <p:cNvCxnSpPr>
            <a:cxnSpLocks noChangeShapeType="1"/>
          </p:cNvCxnSpPr>
          <p:nvPr/>
        </p:nvCxnSpPr>
        <p:spPr bwMode="auto">
          <a:xfrm>
            <a:off x="2800517" y="4642720"/>
            <a:ext cx="0" cy="2016125"/>
          </a:xfrm>
          <a:prstGeom prst="line">
            <a:avLst/>
          </a:prstGeom>
          <a:noFill/>
          <a:ln w="12699" algn="ctr">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8" name="Straight Arrow Connector 14">
            <a:extLst>
              <a:ext uri="{FF2B5EF4-FFF2-40B4-BE49-F238E27FC236}">
                <a16:creationId xmlns:a16="http://schemas.microsoft.com/office/drawing/2014/main" id="{46CD1809-C5FE-47AE-B63B-79D815C3C16B}"/>
              </a:ext>
            </a:extLst>
          </p:cNvPr>
          <p:cNvCxnSpPr>
            <a:cxnSpLocks noChangeShapeType="1"/>
          </p:cNvCxnSpPr>
          <p:nvPr/>
        </p:nvCxnSpPr>
        <p:spPr bwMode="auto">
          <a:xfrm>
            <a:off x="3592681" y="5650781"/>
            <a:ext cx="720725" cy="0"/>
          </a:xfrm>
          <a:prstGeom prst="straightConnector1">
            <a:avLst/>
          </a:prstGeom>
          <a:noFill/>
          <a:ln w="12699" algn="ctr">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9" name="Straight Arrow Connector 16">
            <a:extLst>
              <a:ext uri="{FF2B5EF4-FFF2-40B4-BE49-F238E27FC236}">
                <a16:creationId xmlns:a16="http://schemas.microsoft.com/office/drawing/2014/main" id="{5E20AB13-1E01-44F7-96C1-E52D3DC5B647}"/>
              </a:ext>
            </a:extLst>
          </p:cNvPr>
          <p:cNvCxnSpPr>
            <a:cxnSpLocks noChangeShapeType="1"/>
          </p:cNvCxnSpPr>
          <p:nvPr/>
        </p:nvCxnSpPr>
        <p:spPr bwMode="auto">
          <a:xfrm flipH="1">
            <a:off x="1216193" y="5722219"/>
            <a:ext cx="720725" cy="0"/>
          </a:xfrm>
          <a:prstGeom prst="straightConnector1">
            <a:avLst/>
          </a:prstGeom>
          <a:noFill/>
          <a:ln w="12699" algn="ctr">
            <a:solidFill>
              <a:schemeClr val="tx1"/>
            </a:solidFill>
            <a:round/>
            <a:headEnd type="none" w="sm" len="sm"/>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10" name="Object 18">
                <a:extLst>
                  <a:ext uri="{FF2B5EF4-FFF2-40B4-BE49-F238E27FC236}">
                    <a16:creationId xmlns:a16="http://schemas.microsoft.com/office/drawing/2014/main" id="{7A161FDF-FB03-402E-981A-A83FFB731CF2}"/>
                  </a:ext>
                </a:extLst>
              </p:cNvPr>
              <p:cNvSpPr txBox="1"/>
              <p:nvPr/>
            </p:nvSpPr>
            <p:spPr bwMode="auto">
              <a:xfrm>
                <a:off x="2929106" y="4409357"/>
                <a:ext cx="509587" cy="468313"/>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𝜎</m:t>
                      </m:r>
                    </m:oMath>
                  </m:oMathPara>
                </a14:m>
                <a:endParaRPr lang="en-US" sz="2800" dirty="0"/>
              </a:p>
            </p:txBody>
          </p:sp>
        </mc:Choice>
        <mc:Fallback xmlns="">
          <p:sp>
            <p:nvSpPr>
              <p:cNvPr id="10" name="Object 18">
                <a:extLst>
                  <a:ext uri="{FF2B5EF4-FFF2-40B4-BE49-F238E27FC236}">
                    <a16:creationId xmlns:a16="http://schemas.microsoft.com/office/drawing/2014/main" id="{7A161FDF-FB03-402E-981A-A83FFB731CF2}"/>
                  </a:ext>
                </a:extLst>
              </p:cNvPr>
              <p:cNvSpPr txBox="1">
                <a:spLocks noRot="1" noChangeAspect="1" noMove="1" noResize="1" noEditPoints="1" noAdjustHandles="1" noChangeArrowheads="1" noChangeShapeType="1" noTextEdit="1"/>
              </p:cNvSpPr>
              <p:nvPr/>
            </p:nvSpPr>
            <p:spPr bwMode="auto">
              <a:xfrm>
                <a:off x="2929106" y="4409357"/>
                <a:ext cx="509587" cy="468313"/>
              </a:xfrm>
              <a:prstGeom prst="rect">
                <a:avLst/>
              </a:prstGeom>
              <a:blipFill>
                <a:blip r:embed="rId7"/>
                <a:stretch>
                  <a:fillRect/>
                </a:stretch>
              </a:blipFill>
              <a:ln>
                <a:noFill/>
              </a:ln>
            </p:spPr>
            <p:txBody>
              <a:bodyPr/>
              <a:lstStyle/>
              <a:p>
                <a:r>
                  <a:rPr lang="zh-CN" altLang="en-US">
                    <a:noFill/>
                  </a:rPr>
                  <a:t> </a:t>
                </a:r>
              </a:p>
            </p:txBody>
          </p:sp>
        </mc:Fallback>
      </mc:AlternateContent>
      <p:sp>
        <p:nvSpPr>
          <p:cNvPr id="11" name="Rectangle 28">
            <a:extLst>
              <a:ext uri="{FF2B5EF4-FFF2-40B4-BE49-F238E27FC236}">
                <a16:creationId xmlns:a16="http://schemas.microsoft.com/office/drawing/2014/main" id="{D94A8C5E-43DA-45E6-B543-B127E12C263A}"/>
              </a:ext>
            </a:extLst>
          </p:cNvPr>
          <p:cNvSpPr>
            <a:spLocks noChangeArrowheads="1"/>
          </p:cNvSpPr>
          <p:nvPr/>
        </p:nvSpPr>
        <p:spPr bwMode="auto">
          <a:xfrm>
            <a:off x="2513181" y="5218982"/>
            <a:ext cx="574675" cy="792163"/>
          </a:xfrm>
          <a:prstGeom prst="rect">
            <a:avLst/>
          </a:prstGeom>
          <a:noFill/>
          <a:ln w="12699" algn="ctr">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a:lstStyle>
            <a:lvl1pPr>
              <a:defRPr kumimoji="1" sz="2400">
                <a:solidFill>
                  <a:srgbClr val="FF3300"/>
                </a:solidFill>
                <a:latin typeface="Times New Roman" panose="02020603050405020304" pitchFamily="18" charset="0"/>
                <a:ea typeface="宋体" panose="02010600030101010101" pitchFamily="2" charset="-122"/>
              </a:defRPr>
            </a:lvl1pPr>
            <a:lvl2pPr marL="742950" indent="-285750">
              <a:defRPr kumimoji="1" sz="2400">
                <a:solidFill>
                  <a:srgbClr val="FF3300"/>
                </a:solidFill>
                <a:latin typeface="Times New Roman" panose="02020603050405020304" pitchFamily="18" charset="0"/>
                <a:ea typeface="宋体" panose="02010600030101010101" pitchFamily="2" charset="-122"/>
              </a:defRPr>
            </a:lvl2pPr>
            <a:lvl3pPr marL="1143000" indent="-228600">
              <a:defRPr kumimoji="1" sz="2400">
                <a:solidFill>
                  <a:srgbClr val="FF3300"/>
                </a:solidFill>
                <a:latin typeface="Times New Roman" panose="02020603050405020304" pitchFamily="18" charset="0"/>
                <a:ea typeface="宋体" panose="02010600030101010101" pitchFamily="2" charset="-122"/>
              </a:defRPr>
            </a:lvl3pPr>
            <a:lvl4pPr marL="1600200" indent="-228600">
              <a:defRPr kumimoji="1" sz="2400">
                <a:solidFill>
                  <a:srgbClr val="FF3300"/>
                </a:solidFill>
                <a:latin typeface="Times New Roman" panose="02020603050405020304" pitchFamily="18" charset="0"/>
                <a:ea typeface="宋体" panose="02010600030101010101" pitchFamily="2" charset="-122"/>
              </a:defRPr>
            </a:lvl4pPr>
            <a:lvl5pPr marL="2057400" indent="-228600">
              <a:defRPr kumimoji="1" sz="2400">
                <a:solidFill>
                  <a:srgbClr val="FF3300"/>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rgbClr val="FF3300"/>
                </a:solidFill>
                <a:latin typeface="Times New Roman" panose="02020603050405020304" pitchFamily="18" charset="0"/>
                <a:ea typeface="宋体" panose="02010600030101010101" pitchFamily="2" charset="-122"/>
              </a:defRPr>
            </a:lvl9pPr>
          </a:lstStyle>
          <a:p>
            <a:endParaRPr lang="zh-CN" altLang="en-US" sz="2800">
              <a:latin typeface="华文楷体" panose="02010600040101010101" pitchFamily="2" charset="-122"/>
              <a:ea typeface="华文楷体" panose="02010600040101010101" pitchFamily="2" charset="-122"/>
            </a:endParaRPr>
          </a:p>
        </p:txBody>
      </p:sp>
      <mc:AlternateContent xmlns:mc="http://schemas.openxmlformats.org/markup-compatibility/2006" xmlns:a14="http://schemas.microsoft.com/office/drawing/2010/main">
        <mc:Choice Requires="a14">
          <p:sp>
            <p:nvSpPr>
              <p:cNvPr id="12" name="Object 29">
                <a:extLst>
                  <a:ext uri="{FF2B5EF4-FFF2-40B4-BE49-F238E27FC236}">
                    <a16:creationId xmlns:a16="http://schemas.microsoft.com/office/drawing/2014/main" id="{926A0A38-7975-4BE0-A948-94F7393B5CF4}"/>
                  </a:ext>
                </a:extLst>
              </p:cNvPr>
              <p:cNvSpPr txBox="1"/>
              <p:nvPr/>
            </p:nvSpPr>
            <p:spPr bwMode="auto">
              <a:xfrm>
                <a:off x="4072106" y="4787181"/>
                <a:ext cx="452437" cy="566738"/>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𝐸</m:t>
                          </m:r>
                        </m:e>
                      </m:acc>
                    </m:oMath>
                  </m:oMathPara>
                </a14:m>
                <a:endParaRPr lang="en-US" sz="2800"/>
              </a:p>
            </p:txBody>
          </p:sp>
        </mc:Choice>
        <mc:Fallback xmlns="">
          <p:sp>
            <p:nvSpPr>
              <p:cNvPr id="12" name="Object 29">
                <a:extLst>
                  <a:ext uri="{FF2B5EF4-FFF2-40B4-BE49-F238E27FC236}">
                    <a16:creationId xmlns:a16="http://schemas.microsoft.com/office/drawing/2014/main" id="{926A0A38-7975-4BE0-A948-94F7393B5CF4}"/>
                  </a:ext>
                </a:extLst>
              </p:cNvPr>
              <p:cNvSpPr txBox="1">
                <a:spLocks noRot="1" noChangeAspect="1" noMove="1" noResize="1" noEditPoints="1" noAdjustHandles="1" noChangeArrowheads="1" noChangeShapeType="1" noTextEdit="1"/>
              </p:cNvSpPr>
              <p:nvPr/>
            </p:nvSpPr>
            <p:spPr bwMode="auto">
              <a:xfrm>
                <a:off x="4072106" y="4787181"/>
                <a:ext cx="452437" cy="566738"/>
              </a:xfrm>
              <a:prstGeom prst="rect">
                <a:avLst/>
              </a:prstGeom>
              <a:blipFill>
                <a:blip r:embed="rId8"/>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Object 30">
                <a:extLst>
                  <a:ext uri="{FF2B5EF4-FFF2-40B4-BE49-F238E27FC236}">
                    <a16:creationId xmlns:a16="http://schemas.microsoft.com/office/drawing/2014/main" id="{E0189D9C-67E2-40AF-8AED-5D3BBE48A099}"/>
                  </a:ext>
                </a:extLst>
              </p:cNvPr>
              <p:cNvSpPr txBox="1"/>
              <p:nvPr/>
            </p:nvSpPr>
            <p:spPr bwMode="auto">
              <a:xfrm>
                <a:off x="1349542" y="4858620"/>
                <a:ext cx="452438" cy="566737"/>
              </a:xfrm>
              <a:prstGeom prst="rect">
                <a:avLst/>
              </a:prstGeom>
              <a:noFill/>
              <a:ln>
                <a:noFill/>
              </a:ln>
            </p:spPr>
            <p:txBody>
              <a:bodyPr>
                <a:normAutofit fontScale="92500"/>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i="1">
                              <a:solidFill>
                                <a:srgbClr val="000000"/>
                              </a:solidFill>
                              <a:latin typeface="Cambria Math" panose="02040503050406030204" pitchFamily="18" charset="0"/>
                            </a:rPr>
                            <m:t>𝐸</m:t>
                          </m:r>
                        </m:e>
                      </m:acc>
                    </m:oMath>
                  </m:oMathPara>
                </a14:m>
                <a:endParaRPr lang="en-US" sz="2800"/>
              </a:p>
            </p:txBody>
          </p:sp>
        </mc:Choice>
        <mc:Fallback xmlns="">
          <p:sp>
            <p:nvSpPr>
              <p:cNvPr id="13" name="Object 30">
                <a:extLst>
                  <a:ext uri="{FF2B5EF4-FFF2-40B4-BE49-F238E27FC236}">
                    <a16:creationId xmlns:a16="http://schemas.microsoft.com/office/drawing/2014/main" id="{E0189D9C-67E2-40AF-8AED-5D3BBE48A099}"/>
                  </a:ext>
                </a:extLst>
              </p:cNvPr>
              <p:cNvSpPr txBox="1">
                <a:spLocks noRot="1" noChangeAspect="1" noMove="1" noResize="1" noEditPoints="1" noAdjustHandles="1" noChangeArrowheads="1" noChangeShapeType="1" noTextEdit="1"/>
              </p:cNvSpPr>
              <p:nvPr/>
            </p:nvSpPr>
            <p:spPr bwMode="auto">
              <a:xfrm>
                <a:off x="1349542" y="4858620"/>
                <a:ext cx="452438" cy="566737"/>
              </a:xfrm>
              <a:prstGeom prst="rect">
                <a:avLst/>
              </a:prstGeom>
              <a:blipFill>
                <a:blip r:embed="rId9"/>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Object 32">
                <a:extLst>
                  <a:ext uri="{FF2B5EF4-FFF2-40B4-BE49-F238E27FC236}">
                    <a16:creationId xmlns:a16="http://schemas.microsoft.com/office/drawing/2014/main" id="{B8B054AC-A40A-40BC-B513-48E3973757FE}"/>
                  </a:ext>
                </a:extLst>
              </p:cNvPr>
              <p:cNvSpPr txBox="1"/>
              <p:nvPr/>
            </p:nvSpPr>
            <p:spPr bwMode="auto">
              <a:xfrm>
                <a:off x="2930694" y="5453213"/>
                <a:ext cx="528637" cy="411162"/>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𝑆</m:t>
                      </m:r>
                    </m:oMath>
                  </m:oMathPara>
                </a14:m>
                <a:endParaRPr lang="en-US" sz="2800" dirty="0"/>
              </a:p>
            </p:txBody>
          </p:sp>
        </mc:Choice>
        <mc:Fallback xmlns="">
          <p:sp>
            <p:nvSpPr>
              <p:cNvPr id="14" name="Object 32">
                <a:extLst>
                  <a:ext uri="{FF2B5EF4-FFF2-40B4-BE49-F238E27FC236}">
                    <a16:creationId xmlns:a16="http://schemas.microsoft.com/office/drawing/2014/main" id="{B8B054AC-A40A-40BC-B513-48E3973757FE}"/>
                  </a:ext>
                </a:extLst>
              </p:cNvPr>
              <p:cNvSpPr txBox="1">
                <a:spLocks noRot="1" noChangeAspect="1" noMove="1" noResize="1" noEditPoints="1" noAdjustHandles="1" noChangeArrowheads="1" noChangeShapeType="1" noTextEdit="1"/>
              </p:cNvSpPr>
              <p:nvPr/>
            </p:nvSpPr>
            <p:spPr bwMode="auto">
              <a:xfrm>
                <a:off x="2930694" y="5453213"/>
                <a:ext cx="528637" cy="411162"/>
              </a:xfrm>
              <a:prstGeom prst="rect">
                <a:avLst/>
              </a:prstGeom>
              <a:blipFill>
                <a:blip r:embed="rId10"/>
                <a:stretch>
                  <a:fillRect/>
                </a:stretch>
              </a:blipFill>
              <a:ln>
                <a:no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Object 33">
                <a:extLst>
                  <a:ext uri="{FF2B5EF4-FFF2-40B4-BE49-F238E27FC236}">
                    <a16:creationId xmlns:a16="http://schemas.microsoft.com/office/drawing/2014/main" id="{76C1E2E7-2CF5-4206-A7AE-9307AFEF8EEE}"/>
                  </a:ext>
                </a:extLst>
              </p:cNvPr>
              <p:cNvSpPr txBox="1"/>
              <p:nvPr/>
            </p:nvSpPr>
            <p:spPr bwMode="auto">
              <a:xfrm>
                <a:off x="2128212" y="5446713"/>
                <a:ext cx="528637" cy="411162"/>
              </a:xfrm>
              <a:prstGeom prst="rect">
                <a:avLst/>
              </a:prstGeom>
              <a:noFill/>
              <a:ln>
                <a:noFill/>
              </a:ln>
            </p:spPr>
            <p:txBody>
              <a:bodyPr>
                <a:noAutofit/>
              </a:bodyPr>
              <a:lstStyle/>
              <a:p>
                <a:pPr/>
                <a14:m>
                  <m:oMathPara xmlns:m="http://schemas.openxmlformats.org/officeDocument/2006/math">
                    <m:oMathParaPr>
                      <m:jc m:val="centerGroup"/>
                    </m:oMathParaPr>
                    <m:oMath xmlns:m="http://schemas.openxmlformats.org/officeDocument/2006/math">
                      <m:r>
                        <a:rPr lang="en-US" sz="2800" i="1">
                          <a:solidFill>
                            <a:srgbClr val="000000"/>
                          </a:solidFill>
                          <a:latin typeface="Cambria Math" panose="02040503050406030204" pitchFamily="18" charset="0"/>
                        </a:rPr>
                        <m:t>𝑆</m:t>
                      </m:r>
                    </m:oMath>
                  </m:oMathPara>
                </a14:m>
                <a:endParaRPr lang="en-US" sz="2800" dirty="0"/>
              </a:p>
            </p:txBody>
          </p:sp>
        </mc:Choice>
        <mc:Fallback xmlns="">
          <p:sp>
            <p:nvSpPr>
              <p:cNvPr id="15" name="Object 33">
                <a:extLst>
                  <a:ext uri="{FF2B5EF4-FFF2-40B4-BE49-F238E27FC236}">
                    <a16:creationId xmlns:a16="http://schemas.microsoft.com/office/drawing/2014/main" id="{76C1E2E7-2CF5-4206-A7AE-9307AFEF8EEE}"/>
                  </a:ext>
                </a:extLst>
              </p:cNvPr>
              <p:cNvSpPr txBox="1">
                <a:spLocks noRot="1" noChangeAspect="1" noMove="1" noResize="1" noEditPoints="1" noAdjustHandles="1" noChangeArrowheads="1" noChangeShapeType="1" noTextEdit="1"/>
              </p:cNvSpPr>
              <p:nvPr/>
            </p:nvSpPr>
            <p:spPr bwMode="auto">
              <a:xfrm>
                <a:off x="2128212" y="5446713"/>
                <a:ext cx="528637" cy="411162"/>
              </a:xfrm>
              <a:prstGeom prst="rect">
                <a:avLst/>
              </a:prstGeom>
              <a:blipFill>
                <a:blip r:embed="rId11"/>
                <a:stretch>
                  <a:fillRect/>
                </a:stretch>
              </a:blipFill>
              <a:ln>
                <a:noFill/>
              </a:ln>
            </p:spPr>
            <p:txBody>
              <a:bodyPr/>
              <a:lstStyle/>
              <a:p>
                <a:r>
                  <a:rPr lang="zh-CN" alt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072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72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072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15" grpId="0"/>
      <p:bldP spid="307220" grpId="0"/>
      <p:bldP spid="307221" grpId="0"/>
      <p:bldP spid="10" grpId="0"/>
      <p:bldP spid="11" grpId="0" animBg="1"/>
      <p:bldP spid="12" grpId="0"/>
      <p:bldP spid="13" grpId="0"/>
      <p:bldP spid="14" grpId="0"/>
      <p:bldP spid="15"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63">
            <a:extLst>
              <a:ext uri="{FF2B5EF4-FFF2-40B4-BE49-F238E27FC236}">
                <a16:creationId xmlns:a16="http://schemas.microsoft.com/office/drawing/2014/main" id="{F749EAB6-7132-4D15-8CCF-153D6860D74A}"/>
              </a:ext>
            </a:extLst>
          </p:cNvPr>
          <p:cNvGrpSpPr>
            <a:grpSpLocks/>
          </p:cNvGrpSpPr>
          <p:nvPr/>
        </p:nvGrpSpPr>
        <p:grpSpPr bwMode="auto">
          <a:xfrm>
            <a:off x="6912767" y="2624722"/>
            <a:ext cx="2286000" cy="0"/>
            <a:chOff x="3072" y="1746"/>
            <a:chExt cx="1440" cy="0"/>
          </a:xfrm>
        </p:grpSpPr>
        <p:sp>
          <p:nvSpPr>
            <p:cNvPr id="9" name="Line 12">
              <a:extLst>
                <a:ext uri="{FF2B5EF4-FFF2-40B4-BE49-F238E27FC236}">
                  <a16:creationId xmlns:a16="http://schemas.microsoft.com/office/drawing/2014/main" id="{D045A6A6-B123-4B22-BBB1-D365FE60434A}"/>
                </a:ext>
              </a:extLst>
            </p:cNvPr>
            <p:cNvSpPr>
              <a:spLocks noChangeShapeType="1"/>
            </p:cNvSpPr>
            <p:nvPr/>
          </p:nvSpPr>
          <p:spPr bwMode="auto">
            <a:xfrm flipH="1">
              <a:off x="3072" y="1746"/>
              <a:ext cx="3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0" name="Line 13">
              <a:extLst>
                <a:ext uri="{FF2B5EF4-FFF2-40B4-BE49-F238E27FC236}">
                  <a16:creationId xmlns:a16="http://schemas.microsoft.com/office/drawing/2014/main" id="{2DD9D9E8-AFBE-449F-AD52-74317B344D65}"/>
                </a:ext>
              </a:extLst>
            </p:cNvPr>
            <p:cNvSpPr>
              <a:spLocks noChangeShapeType="1"/>
            </p:cNvSpPr>
            <p:nvPr/>
          </p:nvSpPr>
          <p:spPr bwMode="auto">
            <a:xfrm>
              <a:off x="3600" y="1746"/>
              <a:ext cx="3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1" name="Line 14">
              <a:extLst>
                <a:ext uri="{FF2B5EF4-FFF2-40B4-BE49-F238E27FC236}">
                  <a16:creationId xmlns:a16="http://schemas.microsoft.com/office/drawing/2014/main" id="{7390F687-7DA4-48A9-9B86-FC731963E925}"/>
                </a:ext>
              </a:extLst>
            </p:cNvPr>
            <p:cNvSpPr>
              <a:spLocks noChangeShapeType="1"/>
            </p:cNvSpPr>
            <p:nvPr/>
          </p:nvSpPr>
          <p:spPr bwMode="auto">
            <a:xfrm>
              <a:off x="4128" y="1746"/>
              <a:ext cx="3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grpSp>
      <p:grpSp>
        <p:nvGrpSpPr>
          <p:cNvPr id="12" name="Group 64">
            <a:extLst>
              <a:ext uri="{FF2B5EF4-FFF2-40B4-BE49-F238E27FC236}">
                <a16:creationId xmlns:a16="http://schemas.microsoft.com/office/drawing/2014/main" id="{912F989F-1A2C-4176-9387-F03A6FA57370}"/>
              </a:ext>
            </a:extLst>
          </p:cNvPr>
          <p:cNvGrpSpPr>
            <a:grpSpLocks/>
          </p:cNvGrpSpPr>
          <p:nvPr/>
        </p:nvGrpSpPr>
        <p:grpSpPr bwMode="auto">
          <a:xfrm>
            <a:off x="6912767" y="3767722"/>
            <a:ext cx="2286000" cy="0"/>
            <a:chOff x="3072" y="2466"/>
            <a:chExt cx="1440" cy="0"/>
          </a:xfrm>
        </p:grpSpPr>
        <p:sp>
          <p:nvSpPr>
            <p:cNvPr id="13" name="Line 15">
              <a:extLst>
                <a:ext uri="{FF2B5EF4-FFF2-40B4-BE49-F238E27FC236}">
                  <a16:creationId xmlns:a16="http://schemas.microsoft.com/office/drawing/2014/main" id="{DB0731B5-0A60-4F62-B41F-B3315CDDF167}"/>
                </a:ext>
              </a:extLst>
            </p:cNvPr>
            <p:cNvSpPr>
              <a:spLocks noChangeShapeType="1"/>
            </p:cNvSpPr>
            <p:nvPr/>
          </p:nvSpPr>
          <p:spPr bwMode="auto">
            <a:xfrm flipH="1">
              <a:off x="4128" y="2466"/>
              <a:ext cx="384" cy="0"/>
            </a:xfrm>
            <a:prstGeom prst="line">
              <a:avLst/>
            </a:prstGeom>
            <a:noFill/>
            <a:ln w="38100">
              <a:solidFill>
                <a:srgbClr val="00AA7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4" name="Line 16">
              <a:extLst>
                <a:ext uri="{FF2B5EF4-FFF2-40B4-BE49-F238E27FC236}">
                  <a16:creationId xmlns:a16="http://schemas.microsoft.com/office/drawing/2014/main" id="{75261060-D0FC-4223-9A81-1A5ECCF3718B}"/>
                </a:ext>
              </a:extLst>
            </p:cNvPr>
            <p:cNvSpPr>
              <a:spLocks noChangeShapeType="1"/>
            </p:cNvSpPr>
            <p:nvPr/>
          </p:nvSpPr>
          <p:spPr bwMode="auto">
            <a:xfrm>
              <a:off x="3600" y="2466"/>
              <a:ext cx="384" cy="0"/>
            </a:xfrm>
            <a:prstGeom prst="line">
              <a:avLst/>
            </a:prstGeom>
            <a:noFill/>
            <a:ln w="38100">
              <a:solidFill>
                <a:srgbClr val="00AA7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5" name="Line 17">
              <a:extLst>
                <a:ext uri="{FF2B5EF4-FFF2-40B4-BE49-F238E27FC236}">
                  <a16:creationId xmlns:a16="http://schemas.microsoft.com/office/drawing/2014/main" id="{6B9E1A7D-23EA-4D0D-B501-280F495BA763}"/>
                </a:ext>
              </a:extLst>
            </p:cNvPr>
            <p:cNvSpPr>
              <a:spLocks noChangeShapeType="1"/>
            </p:cNvSpPr>
            <p:nvPr/>
          </p:nvSpPr>
          <p:spPr bwMode="auto">
            <a:xfrm>
              <a:off x="3072" y="2466"/>
              <a:ext cx="384" cy="0"/>
            </a:xfrm>
            <a:prstGeom prst="line">
              <a:avLst/>
            </a:prstGeom>
            <a:noFill/>
            <a:ln w="38100">
              <a:solidFill>
                <a:srgbClr val="00AA7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grpSp>
      <p:grpSp>
        <p:nvGrpSpPr>
          <p:cNvPr id="16" name="Group 62">
            <a:extLst>
              <a:ext uri="{FF2B5EF4-FFF2-40B4-BE49-F238E27FC236}">
                <a16:creationId xmlns:a16="http://schemas.microsoft.com/office/drawing/2014/main" id="{8E30D639-11E9-4C9B-BEBD-83D7EB45FCCB}"/>
              </a:ext>
            </a:extLst>
          </p:cNvPr>
          <p:cNvGrpSpPr>
            <a:grpSpLocks/>
          </p:cNvGrpSpPr>
          <p:nvPr/>
        </p:nvGrpSpPr>
        <p:grpSpPr bwMode="auto">
          <a:xfrm>
            <a:off x="7177880" y="1226123"/>
            <a:ext cx="1446212" cy="3684575"/>
            <a:chOff x="3239" y="865"/>
            <a:chExt cx="911" cy="2321"/>
          </a:xfrm>
        </p:grpSpPr>
        <p:sp>
          <p:nvSpPr>
            <p:cNvPr id="17" name="Line 10">
              <a:extLst>
                <a:ext uri="{FF2B5EF4-FFF2-40B4-BE49-F238E27FC236}">
                  <a16:creationId xmlns:a16="http://schemas.microsoft.com/office/drawing/2014/main" id="{B3F963FF-08A4-4C69-814C-894E41582B36}"/>
                </a:ext>
              </a:extLst>
            </p:cNvPr>
            <p:cNvSpPr>
              <a:spLocks noChangeShapeType="1"/>
            </p:cNvSpPr>
            <p:nvPr/>
          </p:nvSpPr>
          <p:spPr bwMode="auto">
            <a:xfrm>
              <a:off x="4032" y="1266"/>
              <a:ext cx="0" cy="1680"/>
            </a:xfrm>
            <a:prstGeom prst="line">
              <a:avLst/>
            </a:prstGeom>
            <a:noFill/>
            <a:ln w="38100">
              <a:solidFill>
                <a:srgbClr val="00AA7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18" name="Line 11">
              <a:extLst>
                <a:ext uri="{FF2B5EF4-FFF2-40B4-BE49-F238E27FC236}">
                  <a16:creationId xmlns:a16="http://schemas.microsoft.com/office/drawing/2014/main" id="{19EF6B68-AB39-4F7D-949C-7FBA37AAFAF9}"/>
                </a:ext>
              </a:extLst>
            </p:cNvPr>
            <p:cNvSpPr>
              <a:spLocks noChangeShapeType="1"/>
            </p:cNvSpPr>
            <p:nvPr/>
          </p:nvSpPr>
          <p:spPr bwMode="auto">
            <a:xfrm>
              <a:off x="3552" y="1266"/>
              <a:ext cx="0" cy="16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mc:AlternateContent xmlns:mc="http://schemas.openxmlformats.org/markup-compatibility/2006" xmlns:a14="http://schemas.microsoft.com/office/drawing/2010/main">
          <mc:Choice Requires="a14">
            <p:sp>
              <p:nvSpPr>
                <p:cNvPr id="19" name="Object 18">
                  <a:extLst>
                    <a:ext uri="{FF2B5EF4-FFF2-40B4-BE49-F238E27FC236}">
                      <a16:creationId xmlns:a16="http://schemas.microsoft.com/office/drawing/2014/main" id="{84E5AA78-8EBB-480E-A5B8-4693824E98FF}"/>
                    </a:ext>
                  </a:extLst>
                </p:cNvPr>
                <p:cNvSpPr txBox="1"/>
                <p:nvPr/>
              </p:nvSpPr>
              <p:spPr bwMode="auto">
                <a:xfrm>
                  <a:off x="3239" y="878"/>
                  <a:ext cx="362" cy="19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oMath>
                    </m:oMathPara>
                  </a14:m>
                  <a:endParaRPr lang="zh-CN" altLang="en-US" sz="2800" dirty="0"/>
                </a:p>
              </p:txBody>
            </p:sp>
          </mc:Choice>
          <mc:Fallback xmlns="">
            <p:sp>
              <p:nvSpPr>
                <p:cNvPr id="19" name="Object 18">
                  <a:extLst>
                    <a:ext uri="{FF2B5EF4-FFF2-40B4-BE49-F238E27FC236}">
                      <a16:creationId xmlns:a16="http://schemas.microsoft.com/office/drawing/2014/main" id="{84E5AA78-8EBB-480E-A5B8-4693824E98FF}"/>
                    </a:ext>
                  </a:extLst>
                </p:cNvPr>
                <p:cNvSpPr txBox="1">
                  <a:spLocks noRot="1" noChangeAspect="1" noMove="1" noResize="1" noEditPoints="1" noAdjustHandles="1" noChangeArrowheads="1" noChangeShapeType="1" noTextEdit="1"/>
                </p:cNvSpPr>
                <p:nvPr/>
              </p:nvSpPr>
              <p:spPr bwMode="auto">
                <a:xfrm>
                  <a:off x="3239" y="878"/>
                  <a:ext cx="362" cy="197"/>
                </a:xfrm>
                <a:prstGeom prst="rect">
                  <a:avLst/>
                </a:prstGeom>
                <a:blipFill>
                  <a:blip r:embed="rId2"/>
                  <a:stretch>
                    <a:fillRect b="-27451"/>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Object 19">
                  <a:extLst>
                    <a:ext uri="{FF2B5EF4-FFF2-40B4-BE49-F238E27FC236}">
                      <a16:creationId xmlns:a16="http://schemas.microsoft.com/office/drawing/2014/main" id="{455F136E-38B3-470D-9A72-640FE9D4860E}"/>
                    </a:ext>
                  </a:extLst>
                </p:cNvPr>
                <p:cNvSpPr txBox="1"/>
                <p:nvPr/>
              </p:nvSpPr>
              <p:spPr bwMode="auto">
                <a:xfrm>
                  <a:off x="3792" y="865"/>
                  <a:ext cx="358" cy="187"/>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oMath>
                    </m:oMathPara>
                  </a14:m>
                  <a:endParaRPr lang="zh-CN" altLang="en-US" sz="2800" dirty="0"/>
                </a:p>
              </p:txBody>
            </p:sp>
          </mc:Choice>
          <mc:Fallback xmlns="">
            <p:sp>
              <p:nvSpPr>
                <p:cNvPr id="20" name="Object 19">
                  <a:extLst>
                    <a:ext uri="{FF2B5EF4-FFF2-40B4-BE49-F238E27FC236}">
                      <a16:creationId xmlns:a16="http://schemas.microsoft.com/office/drawing/2014/main" id="{455F136E-38B3-470D-9A72-640FE9D4860E}"/>
                    </a:ext>
                  </a:extLst>
                </p:cNvPr>
                <p:cNvSpPr txBox="1">
                  <a:spLocks noRot="1" noChangeAspect="1" noMove="1" noResize="1" noEditPoints="1" noAdjustHandles="1" noChangeArrowheads="1" noChangeShapeType="1" noTextEdit="1"/>
                </p:cNvSpPr>
                <p:nvPr/>
              </p:nvSpPr>
              <p:spPr bwMode="auto">
                <a:xfrm>
                  <a:off x="3792" y="865"/>
                  <a:ext cx="358" cy="187"/>
                </a:xfrm>
                <a:prstGeom prst="rect">
                  <a:avLst/>
                </a:prstGeom>
                <a:blipFill>
                  <a:blip r:embed="rId3"/>
                  <a:stretch>
                    <a:fillRect b="-3265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Object 20">
                  <a:extLst>
                    <a:ext uri="{FF2B5EF4-FFF2-40B4-BE49-F238E27FC236}">
                      <a16:creationId xmlns:a16="http://schemas.microsoft.com/office/drawing/2014/main" id="{196AD41E-191F-41CA-A0F3-48E406C1F43F}"/>
                    </a:ext>
                  </a:extLst>
                </p:cNvPr>
                <p:cNvSpPr txBox="1"/>
                <p:nvPr/>
              </p:nvSpPr>
              <p:spPr bwMode="auto">
                <a:xfrm>
                  <a:off x="3408" y="2946"/>
                  <a:ext cx="240" cy="240"/>
                </a:xfrm>
                <a:prstGeom prst="rect">
                  <a:avLst/>
                </a:prstGeom>
                <a:noFill/>
                <a:ln>
                  <a:noFill/>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oMath>
                    </m:oMathPara>
                  </a14:m>
                  <a:endParaRPr lang="zh-CN" altLang="en-US" sz="2800"/>
                </a:p>
              </p:txBody>
            </p:sp>
          </mc:Choice>
          <mc:Fallback xmlns="">
            <p:sp>
              <p:nvSpPr>
                <p:cNvPr id="21" name="Object 20">
                  <a:extLst>
                    <a:ext uri="{FF2B5EF4-FFF2-40B4-BE49-F238E27FC236}">
                      <a16:creationId xmlns:a16="http://schemas.microsoft.com/office/drawing/2014/main" id="{196AD41E-191F-41CA-A0F3-48E406C1F43F}"/>
                    </a:ext>
                  </a:extLst>
                </p:cNvPr>
                <p:cNvSpPr txBox="1">
                  <a:spLocks noRot="1" noChangeAspect="1" noMove="1" noResize="1" noEditPoints="1" noAdjustHandles="1" noChangeArrowheads="1" noChangeShapeType="1" noTextEdit="1"/>
                </p:cNvSpPr>
                <p:nvPr/>
              </p:nvSpPr>
              <p:spPr bwMode="auto">
                <a:xfrm>
                  <a:off x="3408" y="2946"/>
                  <a:ext cx="240" cy="240"/>
                </a:xfrm>
                <a:prstGeom prst="rect">
                  <a:avLst/>
                </a:prstGeom>
                <a:blipFill>
                  <a:blip r:embed="rId4"/>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2" name="Object 21">
                  <a:extLst>
                    <a:ext uri="{FF2B5EF4-FFF2-40B4-BE49-F238E27FC236}">
                      <a16:creationId xmlns:a16="http://schemas.microsoft.com/office/drawing/2014/main" id="{8F12DF14-2BFE-4D2A-8A6E-0BD12C9A9EB2}"/>
                    </a:ext>
                  </a:extLst>
                </p:cNvPr>
                <p:cNvSpPr txBox="1"/>
                <p:nvPr/>
              </p:nvSpPr>
              <p:spPr bwMode="auto">
                <a:xfrm>
                  <a:off x="3888" y="2946"/>
                  <a:ext cx="240" cy="240"/>
                </a:xfrm>
                <a:prstGeom prst="rect">
                  <a:avLst/>
                </a:prstGeom>
                <a:noFill/>
                <a:ln>
                  <a:noFill/>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𝐵</m:t>
                        </m:r>
                      </m:oMath>
                    </m:oMathPara>
                  </a14:m>
                  <a:endParaRPr lang="zh-CN" altLang="en-US" sz="2800"/>
                </a:p>
              </p:txBody>
            </p:sp>
          </mc:Choice>
          <mc:Fallback xmlns="">
            <p:sp>
              <p:nvSpPr>
                <p:cNvPr id="22" name="Object 21">
                  <a:extLst>
                    <a:ext uri="{FF2B5EF4-FFF2-40B4-BE49-F238E27FC236}">
                      <a16:creationId xmlns:a16="http://schemas.microsoft.com/office/drawing/2014/main" id="{8F12DF14-2BFE-4D2A-8A6E-0BD12C9A9EB2}"/>
                    </a:ext>
                  </a:extLst>
                </p:cNvPr>
                <p:cNvSpPr txBox="1">
                  <a:spLocks noRot="1" noChangeAspect="1" noMove="1" noResize="1" noEditPoints="1" noAdjustHandles="1" noChangeArrowheads="1" noChangeShapeType="1" noTextEdit="1"/>
                </p:cNvSpPr>
                <p:nvPr/>
              </p:nvSpPr>
              <p:spPr bwMode="auto">
                <a:xfrm>
                  <a:off x="3888" y="2946"/>
                  <a:ext cx="240" cy="240"/>
                </a:xfrm>
                <a:prstGeom prst="rect">
                  <a:avLst/>
                </a:prstGeom>
                <a:blipFill>
                  <a:blip r:embed="rId5"/>
                  <a:stretch>
                    <a:fillRect/>
                  </a:stretch>
                </a:blipFill>
                <a:ln>
                  <a:noFill/>
                </a:ln>
              </p:spPr>
              <p:txBody>
                <a:bodyPr/>
                <a:lstStyle/>
                <a:p>
                  <a:r>
                    <a:rPr lang="en-US">
                      <a:noFill/>
                    </a:rPr>
                    <a:t> </a:t>
                  </a:r>
                </a:p>
              </p:txBody>
            </p:sp>
          </mc:Fallback>
        </mc:AlternateContent>
      </p:grpSp>
      <p:grpSp>
        <p:nvGrpSpPr>
          <p:cNvPr id="23" name="Group 22">
            <a:extLst>
              <a:ext uri="{FF2B5EF4-FFF2-40B4-BE49-F238E27FC236}">
                <a16:creationId xmlns:a16="http://schemas.microsoft.com/office/drawing/2014/main" id="{2700FFF2-AF58-4D5C-8CFF-E113FE6C897D}"/>
              </a:ext>
            </a:extLst>
          </p:cNvPr>
          <p:cNvGrpSpPr>
            <a:grpSpLocks/>
          </p:cNvGrpSpPr>
          <p:nvPr/>
        </p:nvGrpSpPr>
        <p:grpSpPr bwMode="auto">
          <a:xfrm>
            <a:off x="9966315" y="1275323"/>
            <a:ext cx="1524000" cy="3635375"/>
            <a:chOff x="4560" y="782"/>
            <a:chExt cx="960" cy="2290"/>
          </a:xfrm>
        </p:grpSpPr>
        <p:sp>
          <p:nvSpPr>
            <p:cNvPr id="24" name="Line 23">
              <a:extLst>
                <a:ext uri="{FF2B5EF4-FFF2-40B4-BE49-F238E27FC236}">
                  <a16:creationId xmlns:a16="http://schemas.microsoft.com/office/drawing/2014/main" id="{3B48BC4F-1A39-45DD-B00E-3C70E56D83E5}"/>
                </a:ext>
              </a:extLst>
            </p:cNvPr>
            <p:cNvSpPr>
              <a:spLocks noChangeShapeType="1"/>
            </p:cNvSpPr>
            <p:nvPr/>
          </p:nvSpPr>
          <p:spPr bwMode="auto">
            <a:xfrm>
              <a:off x="5376" y="1130"/>
              <a:ext cx="0" cy="1680"/>
            </a:xfrm>
            <a:prstGeom prst="line">
              <a:avLst/>
            </a:prstGeom>
            <a:noFill/>
            <a:ln w="38100">
              <a:solidFill>
                <a:srgbClr val="00AA7D"/>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25" name="Line 24">
              <a:extLst>
                <a:ext uri="{FF2B5EF4-FFF2-40B4-BE49-F238E27FC236}">
                  <a16:creationId xmlns:a16="http://schemas.microsoft.com/office/drawing/2014/main" id="{B842DC0E-9622-4AD1-B3C1-83938469370F}"/>
                </a:ext>
              </a:extLst>
            </p:cNvPr>
            <p:cNvSpPr>
              <a:spLocks noChangeShapeType="1"/>
            </p:cNvSpPr>
            <p:nvPr/>
          </p:nvSpPr>
          <p:spPr bwMode="auto">
            <a:xfrm>
              <a:off x="4896" y="1130"/>
              <a:ext cx="0" cy="1680"/>
            </a:xfrm>
            <a:prstGeom prst="line">
              <a:avLst/>
            </a:prstGeom>
            <a:noFill/>
            <a:ln w="381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26" name="Line 25">
              <a:extLst>
                <a:ext uri="{FF2B5EF4-FFF2-40B4-BE49-F238E27FC236}">
                  <a16:creationId xmlns:a16="http://schemas.microsoft.com/office/drawing/2014/main" id="{821AEDBE-D9C2-4F89-A909-B54AE6551458}"/>
                </a:ext>
              </a:extLst>
            </p:cNvPr>
            <p:cNvSpPr>
              <a:spLocks noChangeShapeType="1"/>
            </p:cNvSpPr>
            <p:nvPr/>
          </p:nvSpPr>
          <p:spPr bwMode="auto">
            <a:xfrm>
              <a:off x="4944" y="1610"/>
              <a:ext cx="384" cy="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27" name="Line 26">
              <a:extLst>
                <a:ext uri="{FF2B5EF4-FFF2-40B4-BE49-F238E27FC236}">
                  <a16:creationId xmlns:a16="http://schemas.microsoft.com/office/drawing/2014/main" id="{1C2F9C77-12AC-47DF-9A8B-599E2DD3B988}"/>
                </a:ext>
              </a:extLst>
            </p:cNvPr>
            <p:cNvSpPr>
              <a:spLocks noChangeShapeType="1"/>
            </p:cNvSpPr>
            <p:nvPr/>
          </p:nvSpPr>
          <p:spPr bwMode="auto">
            <a:xfrm>
              <a:off x="4944" y="2330"/>
              <a:ext cx="384" cy="0"/>
            </a:xfrm>
            <a:prstGeom prst="line">
              <a:avLst/>
            </a:prstGeom>
            <a:noFill/>
            <a:ln w="38100">
              <a:solidFill>
                <a:srgbClr val="00AA7D"/>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mc:AlternateContent xmlns:mc="http://schemas.openxmlformats.org/markup-compatibility/2006" xmlns:a14="http://schemas.microsoft.com/office/drawing/2010/main">
          <mc:Choice Requires="a14">
            <p:sp>
              <p:nvSpPr>
                <p:cNvPr id="28" name="Object 27">
                  <a:extLst>
                    <a:ext uri="{FF2B5EF4-FFF2-40B4-BE49-F238E27FC236}">
                      <a16:creationId xmlns:a16="http://schemas.microsoft.com/office/drawing/2014/main" id="{857CB074-D6C9-40C0-BEA0-6FBF25D453F3}"/>
                    </a:ext>
                  </a:extLst>
                </p:cNvPr>
                <p:cNvSpPr txBox="1"/>
                <p:nvPr/>
              </p:nvSpPr>
              <p:spPr bwMode="auto">
                <a:xfrm>
                  <a:off x="4560" y="782"/>
                  <a:ext cx="384" cy="209"/>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oMath>
                    </m:oMathPara>
                  </a14:m>
                  <a:endParaRPr lang="zh-CN" altLang="en-US" sz="2800" dirty="0"/>
                </a:p>
              </p:txBody>
            </p:sp>
          </mc:Choice>
          <mc:Fallback xmlns="">
            <p:sp>
              <p:nvSpPr>
                <p:cNvPr id="28" name="Object 27">
                  <a:extLst>
                    <a:ext uri="{FF2B5EF4-FFF2-40B4-BE49-F238E27FC236}">
                      <a16:creationId xmlns:a16="http://schemas.microsoft.com/office/drawing/2014/main" id="{857CB074-D6C9-40C0-BEA0-6FBF25D453F3}"/>
                    </a:ext>
                  </a:extLst>
                </p:cNvPr>
                <p:cNvSpPr txBox="1">
                  <a:spLocks noRot="1" noChangeAspect="1" noMove="1" noResize="1" noEditPoints="1" noAdjustHandles="1" noChangeArrowheads="1" noChangeShapeType="1" noTextEdit="1"/>
                </p:cNvSpPr>
                <p:nvPr/>
              </p:nvSpPr>
              <p:spPr bwMode="auto">
                <a:xfrm>
                  <a:off x="4560" y="782"/>
                  <a:ext cx="384" cy="209"/>
                </a:xfrm>
                <a:prstGeom prst="rect">
                  <a:avLst/>
                </a:prstGeom>
                <a:blipFill>
                  <a:blip r:embed="rId6"/>
                  <a:stretch>
                    <a:fillRect b="-20000"/>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Object 28">
                  <a:extLst>
                    <a:ext uri="{FF2B5EF4-FFF2-40B4-BE49-F238E27FC236}">
                      <a16:creationId xmlns:a16="http://schemas.microsoft.com/office/drawing/2014/main" id="{9D99BCD1-BADF-4C34-98F6-0AE173C4C97C}"/>
                    </a:ext>
                  </a:extLst>
                </p:cNvPr>
                <p:cNvSpPr txBox="1"/>
                <p:nvPr/>
              </p:nvSpPr>
              <p:spPr bwMode="auto">
                <a:xfrm>
                  <a:off x="5136" y="782"/>
                  <a:ext cx="336" cy="176"/>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oMath>
                    </m:oMathPara>
                  </a14:m>
                  <a:endParaRPr lang="zh-CN" altLang="en-US" sz="2800"/>
                </a:p>
              </p:txBody>
            </p:sp>
          </mc:Choice>
          <mc:Fallback xmlns="">
            <p:sp>
              <p:nvSpPr>
                <p:cNvPr id="29" name="Object 28">
                  <a:extLst>
                    <a:ext uri="{FF2B5EF4-FFF2-40B4-BE49-F238E27FC236}">
                      <a16:creationId xmlns:a16="http://schemas.microsoft.com/office/drawing/2014/main" id="{9D99BCD1-BADF-4C34-98F6-0AE173C4C97C}"/>
                    </a:ext>
                  </a:extLst>
                </p:cNvPr>
                <p:cNvSpPr txBox="1">
                  <a:spLocks noRot="1" noChangeAspect="1" noMove="1" noResize="1" noEditPoints="1" noAdjustHandles="1" noChangeArrowheads="1" noChangeShapeType="1" noTextEdit="1"/>
                </p:cNvSpPr>
                <p:nvPr/>
              </p:nvSpPr>
              <p:spPr bwMode="auto">
                <a:xfrm>
                  <a:off x="5136" y="782"/>
                  <a:ext cx="336" cy="176"/>
                </a:xfrm>
                <a:prstGeom prst="rect">
                  <a:avLst/>
                </a:prstGeom>
                <a:blipFill>
                  <a:blip r:embed="rId7"/>
                  <a:stretch>
                    <a:fillRect r="-5747" b="-41304"/>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Object 29">
                  <a:extLst>
                    <a:ext uri="{FF2B5EF4-FFF2-40B4-BE49-F238E27FC236}">
                      <a16:creationId xmlns:a16="http://schemas.microsoft.com/office/drawing/2014/main" id="{05E5B865-808E-4129-AF3F-92FF203C4530}"/>
                    </a:ext>
                  </a:extLst>
                </p:cNvPr>
                <p:cNvSpPr txBox="1"/>
                <p:nvPr/>
              </p:nvSpPr>
              <p:spPr bwMode="auto">
                <a:xfrm>
                  <a:off x="5280" y="2832"/>
                  <a:ext cx="240" cy="240"/>
                </a:xfrm>
                <a:prstGeom prst="rect">
                  <a:avLst/>
                </a:prstGeom>
                <a:noFill/>
                <a:ln>
                  <a:noFill/>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𝐵</m:t>
                        </m:r>
                      </m:oMath>
                    </m:oMathPara>
                  </a14:m>
                  <a:endParaRPr lang="zh-CN" altLang="en-US" sz="2800"/>
                </a:p>
              </p:txBody>
            </p:sp>
          </mc:Choice>
          <mc:Fallback xmlns="">
            <p:sp>
              <p:nvSpPr>
                <p:cNvPr id="30" name="Object 29">
                  <a:extLst>
                    <a:ext uri="{FF2B5EF4-FFF2-40B4-BE49-F238E27FC236}">
                      <a16:creationId xmlns:a16="http://schemas.microsoft.com/office/drawing/2014/main" id="{05E5B865-808E-4129-AF3F-92FF203C4530}"/>
                    </a:ext>
                  </a:extLst>
                </p:cNvPr>
                <p:cNvSpPr txBox="1">
                  <a:spLocks noRot="1" noChangeAspect="1" noMove="1" noResize="1" noEditPoints="1" noAdjustHandles="1" noChangeArrowheads="1" noChangeShapeType="1" noTextEdit="1"/>
                </p:cNvSpPr>
                <p:nvPr/>
              </p:nvSpPr>
              <p:spPr bwMode="auto">
                <a:xfrm>
                  <a:off x="5280" y="2832"/>
                  <a:ext cx="240" cy="240"/>
                </a:xfrm>
                <a:prstGeom prst="rect">
                  <a:avLst/>
                </a:prstGeom>
                <a:blipFill>
                  <a:blip r:embed="rId8"/>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Object 30">
                  <a:extLst>
                    <a:ext uri="{FF2B5EF4-FFF2-40B4-BE49-F238E27FC236}">
                      <a16:creationId xmlns:a16="http://schemas.microsoft.com/office/drawing/2014/main" id="{185541C1-DE2F-4474-A682-CC1A094DE2FF}"/>
                    </a:ext>
                  </a:extLst>
                </p:cNvPr>
                <p:cNvSpPr txBox="1"/>
                <p:nvPr/>
              </p:nvSpPr>
              <p:spPr bwMode="auto">
                <a:xfrm>
                  <a:off x="4752" y="2832"/>
                  <a:ext cx="240" cy="240"/>
                </a:xfrm>
                <a:prstGeom prst="rect">
                  <a:avLst/>
                </a:prstGeom>
                <a:noFill/>
                <a:ln>
                  <a:noFill/>
                </a:ln>
              </p:spPr>
              <p:txBody>
                <a:bodyPr>
                  <a:normAutofit fontScale="62500" lnSpcReduction="20000"/>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𝐴</m:t>
                        </m:r>
                      </m:oMath>
                    </m:oMathPara>
                  </a14:m>
                  <a:endParaRPr lang="zh-CN" altLang="en-US" sz="2800"/>
                </a:p>
              </p:txBody>
            </p:sp>
          </mc:Choice>
          <mc:Fallback xmlns="">
            <p:sp>
              <p:nvSpPr>
                <p:cNvPr id="31" name="Object 30">
                  <a:extLst>
                    <a:ext uri="{FF2B5EF4-FFF2-40B4-BE49-F238E27FC236}">
                      <a16:creationId xmlns:a16="http://schemas.microsoft.com/office/drawing/2014/main" id="{185541C1-DE2F-4474-A682-CC1A094DE2FF}"/>
                    </a:ext>
                  </a:extLst>
                </p:cNvPr>
                <p:cNvSpPr txBox="1">
                  <a:spLocks noRot="1" noChangeAspect="1" noMove="1" noResize="1" noEditPoints="1" noAdjustHandles="1" noChangeArrowheads="1" noChangeShapeType="1" noTextEdit="1"/>
                </p:cNvSpPr>
                <p:nvPr/>
              </p:nvSpPr>
              <p:spPr bwMode="auto">
                <a:xfrm>
                  <a:off x="4752" y="2832"/>
                  <a:ext cx="240" cy="240"/>
                </a:xfrm>
                <a:prstGeom prst="rect">
                  <a:avLst/>
                </a:prstGeom>
                <a:blipFill>
                  <a:blip r:embed="rId9"/>
                  <a:stretch>
                    <a:fillRect/>
                  </a:stretch>
                </a:blipFill>
                <a:ln>
                  <a:noFill/>
                </a:ln>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32" name="Object 31">
                <a:extLst>
                  <a:ext uri="{FF2B5EF4-FFF2-40B4-BE49-F238E27FC236}">
                    <a16:creationId xmlns:a16="http://schemas.microsoft.com/office/drawing/2014/main" id="{8FBDD05F-0B71-47B1-BE37-4EBA8B3ADA47}"/>
                  </a:ext>
                </a:extLst>
              </p:cNvPr>
              <p:cNvSpPr txBox="1"/>
              <p:nvPr/>
            </p:nvSpPr>
            <p:spPr bwMode="auto">
              <a:xfrm>
                <a:off x="1277945" y="2715228"/>
                <a:ext cx="2124067" cy="950913"/>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𝜎</m:t>
                          </m:r>
                        </m:num>
                        <m:den>
                          <m:r>
                            <a:rPr lang="zh-CN" altLang="en-US" sz="2800" i="1">
                              <a:solidFill>
                                <a:srgbClr val="000000"/>
                              </a:solidFill>
                              <a:latin typeface="Cambria Math" panose="02040503050406030204" pitchFamily="18" charset="0"/>
                            </a:rPr>
                            <m:t>2</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oMath>
                  </m:oMathPara>
                </a14:m>
                <a:endParaRPr lang="zh-CN" altLang="en-US" sz="2800" dirty="0"/>
              </a:p>
            </p:txBody>
          </p:sp>
        </mc:Choice>
        <mc:Fallback xmlns="">
          <p:sp>
            <p:nvSpPr>
              <p:cNvPr id="32" name="Object 31">
                <a:extLst>
                  <a:ext uri="{FF2B5EF4-FFF2-40B4-BE49-F238E27FC236}">
                    <a16:creationId xmlns:a16="http://schemas.microsoft.com/office/drawing/2014/main" id="{8FBDD05F-0B71-47B1-BE37-4EBA8B3ADA47}"/>
                  </a:ext>
                </a:extLst>
              </p:cNvPr>
              <p:cNvSpPr txBox="1">
                <a:spLocks noRot="1" noChangeAspect="1" noMove="1" noResize="1" noEditPoints="1" noAdjustHandles="1" noChangeArrowheads="1" noChangeShapeType="1" noTextEdit="1"/>
              </p:cNvSpPr>
              <p:nvPr/>
            </p:nvSpPr>
            <p:spPr bwMode="auto">
              <a:xfrm>
                <a:off x="1277945" y="2715228"/>
                <a:ext cx="2124067" cy="950913"/>
              </a:xfrm>
              <a:prstGeom prst="rect">
                <a:avLst/>
              </a:prstGeom>
              <a:blipFill>
                <a:blip r:embed="rId10"/>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Object 32">
                <a:extLst>
                  <a:ext uri="{FF2B5EF4-FFF2-40B4-BE49-F238E27FC236}">
                    <a16:creationId xmlns:a16="http://schemas.microsoft.com/office/drawing/2014/main" id="{6D072921-81D9-4B30-B217-90C8D071108D}"/>
                  </a:ext>
                </a:extLst>
              </p:cNvPr>
              <p:cNvSpPr txBox="1"/>
              <p:nvPr/>
            </p:nvSpPr>
            <p:spPr bwMode="auto">
              <a:xfrm>
                <a:off x="3575320" y="2700386"/>
                <a:ext cx="2124067" cy="9493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𝜎</m:t>
                          </m:r>
                        </m:num>
                        <m:den>
                          <m:r>
                            <a:rPr lang="zh-CN" altLang="en-US" sz="2800" i="1">
                              <a:solidFill>
                                <a:srgbClr val="000000"/>
                              </a:solidFill>
                              <a:latin typeface="Cambria Math" panose="02040503050406030204" pitchFamily="18" charset="0"/>
                            </a:rPr>
                            <m:t>2</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oMath>
                  </m:oMathPara>
                </a14:m>
                <a:endParaRPr lang="zh-CN" altLang="en-US" sz="2800" dirty="0"/>
              </a:p>
            </p:txBody>
          </p:sp>
        </mc:Choice>
        <mc:Fallback xmlns="">
          <p:sp>
            <p:nvSpPr>
              <p:cNvPr id="33" name="Object 32">
                <a:extLst>
                  <a:ext uri="{FF2B5EF4-FFF2-40B4-BE49-F238E27FC236}">
                    <a16:creationId xmlns:a16="http://schemas.microsoft.com/office/drawing/2014/main" id="{6D072921-81D9-4B30-B217-90C8D071108D}"/>
                  </a:ext>
                </a:extLst>
              </p:cNvPr>
              <p:cNvSpPr txBox="1">
                <a:spLocks noRot="1" noChangeAspect="1" noMove="1" noResize="1" noEditPoints="1" noAdjustHandles="1" noChangeArrowheads="1" noChangeShapeType="1" noTextEdit="1"/>
              </p:cNvSpPr>
              <p:nvPr/>
            </p:nvSpPr>
            <p:spPr bwMode="auto">
              <a:xfrm>
                <a:off x="3575320" y="2700386"/>
                <a:ext cx="2124067" cy="949325"/>
              </a:xfrm>
              <a:prstGeom prst="rect">
                <a:avLst/>
              </a:prstGeom>
              <a:blipFill>
                <a:blip r:embed="rId11"/>
                <a:stretch>
                  <a:fillRect/>
                </a:stretch>
              </a:blipFill>
              <a:ln>
                <a:noFill/>
              </a:ln>
            </p:spPr>
            <p:txBody>
              <a:bodyPr/>
              <a:lstStyle/>
              <a:p>
                <a:r>
                  <a:rPr lang="en-US">
                    <a:noFill/>
                  </a:rPr>
                  <a:t> </a:t>
                </a:r>
              </a:p>
            </p:txBody>
          </p:sp>
        </mc:Fallback>
      </mc:AlternateContent>
      <p:sp>
        <p:nvSpPr>
          <p:cNvPr id="34" name="Text Box 33">
            <a:extLst>
              <a:ext uri="{FF2B5EF4-FFF2-40B4-BE49-F238E27FC236}">
                <a16:creationId xmlns:a16="http://schemas.microsoft.com/office/drawing/2014/main" id="{7E79C306-5B68-44F1-B98A-29D964272949}"/>
              </a:ext>
            </a:extLst>
          </p:cNvPr>
          <p:cNvSpPr txBox="1">
            <a:spLocks noChangeArrowheads="1"/>
          </p:cNvSpPr>
          <p:nvPr/>
        </p:nvSpPr>
        <p:spPr bwMode="auto">
          <a:xfrm>
            <a:off x="561184" y="3779671"/>
            <a:ext cx="4437063"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00"/>
                </a:solidFill>
                <a:latin typeface="+mn-lt"/>
                <a:ea typeface="+mn-ea"/>
              </a:rPr>
              <a:t>平面版之间：</a:t>
            </a:r>
            <a:endParaRPr lang="en-US" altLang="zh-CN" sz="2800" dirty="0">
              <a:solidFill>
                <a:srgbClr val="000000"/>
              </a:solidFill>
              <a:latin typeface="+mn-lt"/>
              <a:ea typeface="+mn-ea"/>
            </a:endParaRPr>
          </a:p>
        </p:txBody>
      </p:sp>
      <mc:AlternateContent xmlns:mc="http://schemas.openxmlformats.org/markup-compatibility/2006" xmlns:a14="http://schemas.microsoft.com/office/drawing/2010/main">
        <mc:Choice Requires="a14">
          <p:sp>
            <p:nvSpPr>
              <p:cNvPr id="35" name="Object 34">
                <a:extLst>
                  <a:ext uri="{FF2B5EF4-FFF2-40B4-BE49-F238E27FC236}">
                    <a16:creationId xmlns:a16="http://schemas.microsoft.com/office/drawing/2014/main" id="{5C46695A-D75C-4E09-BDF9-7A0455CB6FC8}"/>
                  </a:ext>
                </a:extLst>
              </p:cNvPr>
              <p:cNvSpPr txBox="1"/>
              <p:nvPr/>
            </p:nvSpPr>
            <p:spPr bwMode="auto">
              <a:xfrm>
                <a:off x="2112961" y="4299535"/>
                <a:ext cx="4876006" cy="1012825"/>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𝜎</m:t>
                          </m:r>
                        </m:num>
                        <m:den>
                          <m:r>
                            <a:rPr lang="zh-CN" altLang="en-US" sz="2800" i="1">
                              <a:solidFill>
                                <a:srgbClr val="000000"/>
                              </a:solidFill>
                              <a:latin typeface="Cambria Math" panose="02040503050406030204" pitchFamily="18" charset="0"/>
                            </a:rPr>
                            <m:t>2</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𝜎</m:t>
                          </m:r>
                        </m:num>
                        <m:den>
                          <m:r>
                            <a:rPr lang="zh-CN" altLang="en-US" sz="2800" i="1">
                              <a:solidFill>
                                <a:srgbClr val="000000"/>
                              </a:solidFill>
                              <a:latin typeface="Cambria Math" panose="02040503050406030204" pitchFamily="18" charset="0"/>
                            </a:rPr>
                            <m:t>2</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𝜎</m:t>
                          </m:r>
                        </m:num>
                        <m:den>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oMath>
                  </m:oMathPara>
                </a14:m>
                <a:endParaRPr lang="zh-CN" altLang="en-US" sz="2800" dirty="0"/>
              </a:p>
            </p:txBody>
          </p:sp>
        </mc:Choice>
        <mc:Fallback xmlns="">
          <p:sp>
            <p:nvSpPr>
              <p:cNvPr id="35" name="Object 34">
                <a:extLst>
                  <a:ext uri="{FF2B5EF4-FFF2-40B4-BE49-F238E27FC236}">
                    <a16:creationId xmlns:a16="http://schemas.microsoft.com/office/drawing/2014/main" id="{5C46695A-D75C-4E09-BDF9-7A0455CB6FC8}"/>
                  </a:ext>
                </a:extLst>
              </p:cNvPr>
              <p:cNvSpPr txBox="1">
                <a:spLocks noRot="1" noChangeAspect="1" noMove="1" noResize="1" noEditPoints="1" noAdjustHandles="1" noChangeArrowheads="1" noChangeShapeType="1" noTextEdit="1"/>
              </p:cNvSpPr>
              <p:nvPr/>
            </p:nvSpPr>
            <p:spPr bwMode="auto">
              <a:xfrm>
                <a:off x="2112961" y="4299535"/>
                <a:ext cx="4876006" cy="1012825"/>
              </a:xfrm>
              <a:prstGeom prst="rect">
                <a:avLst/>
              </a:prstGeom>
              <a:blipFill>
                <a:blip r:embed="rId12"/>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Object 36">
                <a:extLst>
                  <a:ext uri="{FF2B5EF4-FFF2-40B4-BE49-F238E27FC236}">
                    <a16:creationId xmlns:a16="http://schemas.microsoft.com/office/drawing/2014/main" id="{91D3CE46-E72F-4B0C-9E06-287D9A37E434}"/>
                  </a:ext>
                </a:extLst>
              </p:cNvPr>
              <p:cNvSpPr txBox="1"/>
              <p:nvPr/>
            </p:nvSpPr>
            <p:spPr bwMode="auto">
              <a:xfrm>
                <a:off x="2186254" y="5863620"/>
                <a:ext cx="5080796" cy="1030288"/>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𝐸</m:t>
                      </m:r>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𝐸</m:t>
                          </m:r>
                        </m:e>
                        <m:sub>
                          <m:r>
                            <a:rPr lang="zh-CN" altLang="en-US" sz="2800" i="1">
                              <a:solidFill>
                                <a:srgbClr val="000000"/>
                              </a:solidFill>
                              <a:latin typeface="Cambria Math" panose="02040503050406030204" pitchFamily="18" charset="0"/>
                            </a:rPr>
                            <m:t>𝐵</m:t>
                          </m:r>
                        </m:sub>
                      </m:sSub>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𝜎</m:t>
                          </m:r>
                        </m:num>
                        <m:den>
                          <m:r>
                            <a:rPr lang="zh-CN" altLang="en-US" sz="2800" i="1">
                              <a:solidFill>
                                <a:srgbClr val="000000"/>
                              </a:solidFill>
                              <a:latin typeface="Cambria Math" panose="02040503050406030204" pitchFamily="18" charset="0"/>
                            </a:rPr>
                            <m:t>2</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r>
                        <a:rPr lang="zh-CN" altLang="en-US" sz="2800" i="1">
                          <a:solidFill>
                            <a:srgbClr val="000000"/>
                          </a:solidFill>
                          <a:latin typeface="Cambria Math" panose="02040503050406030204" pitchFamily="18" charset="0"/>
                        </a:rPr>
                        <m:t>−</m:t>
                      </m:r>
                      <m:f>
                        <m:fPr>
                          <m:ctrlPr>
                            <a:rPr lang="zh-CN" altLang="en-US" sz="2800" i="1">
                              <a:solidFill>
                                <a:srgbClr val="000000"/>
                              </a:solidFill>
                              <a:latin typeface="Cambria Math" panose="02040503050406030204" pitchFamily="18" charset="0"/>
                            </a:rPr>
                          </m:ctrlPr>
                        </m:fPr>
                        <m:num>
                          <m:r>
                            <a:rPr lang="zh-CN" altLang="en-US" sz="2800" i="1">
                              <a:solidFill>
                                <a:srgbClr val="000000"/>
                              </a:solidFill>
                              <a:latin typeface="Cambria Math" panose="02040503050406030204" pitchFamily="18" charset="0"/>
                            </a:rPr>
                            <m:t>𝜎</m:t>
                          </m:r>
                        </m:num>
                        <m:den>
                          <m:r>
                            <a:rPr lang="zh-CN" altLang="en-US" sz="2800" i="1">
                              <a:solidFill>
                                <a:srgbClr val="000000"/>
                              </a:solidFill>
                              <a:latin typeface="Cambria Math" panose="02040503050406030204" pitchFamily="18" charset="0"/>
                            </a:rPr>
                            <m:t>2</m:t>
                          </m:r>
                          <m:sSub>
                            <m:sSubPr>
                              <m:ctrlPr>
                                <a:rPr lang="zh-CN" altLang="en-US" sz="2800" i="1">
                                  <a:solidFill>
                                    <a:srgbClr val="000000"/>
                                  </a:solidFill>
                                  <a:latin typeface="Cambria Math" panose="02040503050406030204" pitchFamily="18" charset="0"/>
                                </a:rPr>
                              </m:ctrlPr>
                            </m:sSubPr>
                            <m:e>
                              <m:r>
                                <a:rPr lang="zh-CN" altLang="en-US" sz="2800" i="1">
                                  <a:solidFill>
                                    <a:srgbClr val="000000"/>
                                  </a:solidFill>
                                  <a:latin typeface="Cambria Math" panose="02040503050406030204" pitchFamily="18" charset="0"/>
                                </a:rPr>
                                <m:t>𝜀</m:t>
                              </m:r>
                            </m:e>
                            <m:sub>
                              <m:r>
                                <a:rPr lang="zh-CN" altLang="en-US" sz="2800" i="1">
                                  <a:solidFill>
                                    <a:srgbClr val="000000"/>
                                  </a:solidFill>
                                  <a:latin typeface="Cambria Math" panose="02040503050406030204" pitchFamily="18" charset="0"/>
                                </a:rPr>
                                <m:t>0</m:t>
                              </m:r>
                            </m:sub>
                          </m:sSub>
                        </m:den>
                      </m:f>
                      <m:r>
                        <a:rPr lang="zh-CN" altLang="en-US" sz="2800" i="1">
                          <a:solidFill>
                            <a:srgbClr val="000000"/>
                          </a:solidFill>
                          <a:latin typeface="Cambria Math" panose="02040503050406030204" pitchFamily="18" charset="0"/>
                        </a:rPr>
                        <m:t>=0</m:t>
                      </m:r>
                    </m:oMath>
                  </m:oMathPara>
                </a14:m>
                <a:endParaRPr lang="zh-CN" altLang="en-US" sz="2800" dirty="0"/>
              </a:p>
            </p:txBody>
          </p:sp>
        </mc:Choice>
        <mc:Fallback xmlns="">
          <p:sp>
            <p:nvSpPr>
              <p:cNvPr id="36" name="Object 36">
                <a:extLst>
                  <a:ext uri="{FF2B5EF4-FFF2-40B4-BE49-F238E27FC236}">
                    <a16:creationId xmlns:a16="http://schemas.microsoft.com/office/drawing/2014/main" id="{91D3CE46-E72F-4B0C-9E06-287D9A37E434}"/>
                  </a:ext>
                </a:extLst>
              </p:cNvPr>
              <p:cNvSpPr txBox="1">
                <a:spLocks noRot="1" noChangeAspect="1" noMove="1" noResize="1" noEditPoints="1" noAdjustHandles="1" noChangeArrowheads="1" noChangeShapeType="1" noTextEdit="1"/>
              </p:cNvSpPr>
              <p:nvPr/>
            </p:nvSpPr>
            <p:spPr bwMode="auto">
              <a:xfrm>
                <a:off x="2186254" y="5863620"/>
                <a:ext cx="5080796" cy="1030288"/>
              </a:xfrm>
              <a:prstGeom prst="rect">
                <a:avLst/>
              </a:prstGeom>
              <a:blipFill>
                <a:blip r:embed="rId13"/>
                <a:stretch>
                  <a:fillRect/>
                </a:stretch>
              </a:blipFill>
              <a:ln>
                <a:noFill/>
              </a:ln>
            </p:spPr>
            <p:txBody>
              <a:bodyPr/>
              <a:lstStyle/>
              <a:p>
                <a:r>
                  <a:rPr lang="en-US">
                    <a:noFill/>
                  </a:rPr>
                  <a:t> </a:t>
                </a:r>
              </a:p>
            </p:txBody>
          </p:sp>
        </mc:Fallback>
      </mc:AlternateContent>
      <p:sp>
        <p:nvSpPr>
          <p:cNvPr id="37" name="Text Box 38">
            <a:extLst>
              <a:ext uri="{FF2B5EF4-FFF2-40B4-BE49-F238E27FC236}">
                <a16:creationId xmlns:a16="http://schemas.microsoft.com/office/drawing/2014/main" id="{1A783039-8CA5-41F1-8BFB-1E7C27CE292B}"/>
              </a:ext>
            </a:extLst>
          </p:cNvPr>
          <p:cNvSpPr txBox="1">
            <a:spLocks noChangeArrowheads="1"/>
          </p:cNvSpPr>
          <p:nvPr/>
        </p:nvSpPr>
        <p:spPr bwMode="auto">
          <a:xfrm>
            <a:off x="674163" y="5274300"/>
            <a:ext cx="6948487"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zh-CN" altLang="en-US" sz="2800" dirty="0">
                <a:solidFill>
                  <a:srgbClr val="000000"/>
                </a:solidFill>
                <a:latin typeface="+mn-lt"/>
                <a:ea typeface="+mn-ea"/>
              </a:rPr>
              <a:t>平面版之外：</a:t>
            </a:r>
            <a:endParaRPr lang="en-US" altLang="zh-CN" sz="2800" dirty="0">
              <a:solidFill>
                <a:srgbClr val="000000"/>
              </a:solidFill>
              <a:latin typeface="+mn-lt"/>
              <a:ea typeface="+mn-ea"/>
            </a:endParaRPr>
          </a:p>
        </p:txBody>
      </p:sp>
      <p:grpSp>
        <p:nvGrpSpPr>
          <p:cNvPr id="38" name="Group 42">
            <a:extLst>
              <a:ext uri="{FF2B5EF4-FFF2-40B4-BE49-F238E27FC236}">
                <a16:creationId xmlns:a16="http://schemas.microsoft.com/office/drawing/2014/main" id="{0A8873C4-1075-422E-AB5E-D834B636113D}"/>
              </a:ext>
            </a:extLst>
          </p:cNvPr>
          <p:cNvGrpSpPr>
            <a:grpSpLocks/>
          </p:cNvGrpSpPr>
          <p:nvPr/>
        </p:nvGrpSpPr>
        <p:grpSpPr bwMode="auto">
          <a:xfrm>
            <a:off x="907526" y="65088"/>
            <a:ext cx="10853736" cy="1077912"/>
            <a:chOff x="95" y="132"/>
            <a:chExt cx="6837" cy="679"/>
          </a:xfrm>
        </p:grpSpPr>
        <p:sp>
          <p:nvSpPr>
            <p:cNvPr id="39" name="Text Box 43">
              <a:extLst>
                <a:ext uri="{FF2B5EF4-FFF2-40B4-BE49-F238E27FC236}">
                  <a16:creationId xmlns:a16="http://schemas.microsoft.com/office/drawing/2014/main" id="{DB0F6ED7-B132-4812-BBDC-ABF0CCBF7954}"/>
                </a:ext>
              </a:extLst>
            </p:cNvPr>
            <p:cNvSpPr txBox="1">
              <a:spLocks noChangeArrowheads="1"/>
            </p:cNvSpPr>
            <p:nvPr/>
          </p:nvSpPr>
          <p:spPr bwMode="auto">
            <a:xfrm>
              <a:off x="95" y="132"/>
              <a:ext cx="6837" cy="67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None/>
              </a:pPr>
              <a:r>
                <a:rPr lang="zh-CN" altLang="en-US" dirty="0">
                  <a:solidFill>
                    <a:srgbClr val="000000"/>
                  </a:solidFill>
                  <a:latin typeface="华文楷体" panose="02010600040101010101" pitchFamily="2" charset="-122"/>
                  <a:ea typeface="华文楷体" panose="02010600040101010101" pitchFamily="2" charset="-122"/>
                </a:rPr>
                <a:t>例：电场是由两块相互平行的无限大均匀带电平面产生的，</a:t>
              </a:r>
            </a:p>
            <a:p>
              <a:pPr eaLnBrk="1" hangingPunct="1">
                <a:spcBef>
                  <a:spcPct val="0"/>
                </a:spcBef>
                <a:buFontTx/>
                <a:buNone/>
              </a:pPr>
              <a:r>
                <a:rPr lang="zh-CN" altLang="en-US" dirty="0">
                  <a:solidFill>
                    <a:srgbClr val="000000"/>
                  </a:solidFill>
                  <a:latin typeface="华文楷体" panose="02010600040101010101" pitchFamily="2" charset="-122"/>
                  <a:ea typeface="华文楷体" panose="02010600040101010101" pitchFamily="2" charset="-122"/>
                </a:rPr>
                <a:t>两平面的面电荷密度分别为       和       ，求电场分布</a:t>
              </a:r>
            </a:p>
          </p:txBody>
        </p:sp>
        <mc:AlternateContent xmlns:mc="http://schemas.openxmlformats.org/markup-compatibility/2006" xmlns:a14="http://schemas.microsoft.com/office/drawing/2010/main">
          <mc:Choice Requires="a14">
            <p:sp>
              <p:nvSpPr>
                <p:cNvPr id="40" name="Object 44">
                  <a:extLst>
                    <a:ext uri="{FF2B5EF4-FFF2-40B4-BE49-F238E27FC236}">
                      <a16:creationId xmlns:a16="http://schemas.microsoft.com/office/drawing/2014/main" id="{6188378D-AF2E-43AD-B79C-00277E2B434B}"/>
                    </a:ext>
                  </a:extLst>
                </p:cNvPr>
                <p:cNvSpPr txBox="1"/>
                <p:nvPr/>
              </p:nvSpPr>
              <p:spPr bwMode="auto">
                <a:xfrm>
                  <a:off x="3221" y="439"/>
                  <a:ext cx="384" cy="209"/>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oMath>
                    </m:oMathPara>
                  </a14:m>
                  <a:endParaRPr lang="zh-CN" altLang="en-US" sz="2800" dirty="0"/>
                </a:p>
              </p:txBody>
            </p:sp>
          </mc:Choice>
          <mc:Fallback xmlns="">
            <p:sp>
              <p:nvSpPr>
                <p:cNvPr id="40" name="Object 44">
                  <a:extLst>
                    <a:ext uri="{FF2B5EF4-FFF2-40B4-BE49-F238E27FC236}">
                      <a16:creationId xmlns:a16="http://schemas.microsoft.com/office/drawing/2014/main" id="{6188378D-AF2E-43AD-B79C-00277E2B434B}"/>
                    </a:ext>
                  </a:extLst>
                </p:cNvPr>
                <p:cNvSpPr txBox="1">
                  <a:spLocks noRot="1" noChangeAspect="1" noMove="1" noResize="1" noEditPoints="1" noAdjustHandles="1" noChangeArrowheads="1" noChangeShapeType="1" noTextEdit="1"/>
                </p:cNvSpPr>
                <p:nvPr/>
              </p:nvSpPr>
              <p:spPr bwMode="auto">
                <a:xfrm>
                  <a:off x="3221" y="439"/>
                  <a:ext cx="384" cy="209"/>
                </a:xfrm>
                <a:prstGeom prst="rect">
                  <a:avLst/>
                </a:prstGeom>
                <a:blipFill>
                  <a:blip r:embed="rId14"/>
                  <a:stretch>
                    <a:fillRect b="-2037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1" name="Object 45">
                  <a:extLst>
                    <a:ext uri="{FF2B5EF4-FFF2-40B4-BE49-F238E27FC236}">
                      <a16:creationId xmlns:a16="http://schemas.microsoft.com/office/drawing/2014/main" id="{9155F5A0-F170-4974-BB8E-C575BE5329D6}"/>
                    </a:ext>
                  </a:extLst>
                </p:cNvPr>
                <p:cNvSpPr txBox="1"/>
                <p:nvPr/>
              </p:nvSpPr>
              <p:spPr bwMode="auto">
                <a:xfrm>
                  <a:off x="3941" y="466"/>
                  <a:ext cx="384" cy="201"/>
                </a:xfrm>
                <a:prstGeom prst="rect">
                  <a:avLst/>
                </a:prstGeom>
                <a:noFill/>
                <a:ln>
                  <a:noFill/>
                </a:ln>
                <a:effectLst/>
              </p:spPr>
              <p:txBody>
                <a:bodyPr>
                  <a:noAutofit/>
                </a:bodyPr>
                <a:lstStyle/>
                <a:p>
                  <a:pPr/>
                  <a14:m>
                    <m:oMathPara xmlns:m="http://schemas.openxmlformats.org/officeDocument/2006/math">
                      <m:oMathParaPr>
                        <m:jc m:val="left"/>
                      </m:oMathParaPr>
                      <m:oMath xmlns:m="http://schemas.openxmlformats.org/officeDocument/2006/math">
                        <m:r>
                          <a:rPr lang="zh-CN" altLang="en-US" sz="2800" i="1">
                            <a:solidFill>
                              <a:srgbClr val="000000"/>
                            </a:solidFill>
                            <a:latin typeface="Cambria Math" panose="02040503050406030204" pitchFamily="18" charset="0"/>
                          </a:rPr>
                          <m:t>−</m:t>
                        </m:r>
                        <m:r>
                          <a:rPr lang="zh-CN" altLang="en-US" sz="2800" i="1">
                            <a:solidFill>
                              <a:srgbClr val="000000"/>
                            </a:solidFill>
                            <a:latin typeface="Cambria Math" panose="02040503050406030204" pitchFamily="18" charset="0"/>
                          </a:rPr>
                          <m:t>𝜎</m:t>
                        </m:r>
                      </m:oMath>
                    </m:oMathPara>
                  </a14:m>
                  <a:endParaRPr lang="zh-CN" altLang="en-US" sz="2800" dirty="0"/>
                </a:p>
              </p:txBody>
            </p:sp>
          </mc:Choice>
          <mc:Fallback xmlns="">
            <p:sp>
              <p:nvSpPr>
                <p:cNvPr id="41" name="Object 45">
                  <a:extLst>
                    <a:ext uri="{FF2B5EF4-FFF2-40B4-BE49-F238E27FC236}">
                      <a16:creationId xmlns:a16="http://schemas.microsoft.com/office/drawing/2014/main" id="{9155F5A0-F170-4974-BB8E-C575BE5329D6}"/>
                    </a:ext>
                  </a:extLst>
                </p:cNvPr>
                <p:cNvSpPr txBox="1">
                  <a:spLocks noRot="1" noChangeAspect="1" noMove="1" noResize="1" noEditPoints="1" noAdjustHandles="1" noChangeArrowheads="1" noChangeShapeType="1" noTextEdit="1"/>
                </p:cNvSpPr>
                <p:nvPr/>
              </p:nvSpPr>
              <p:spPr bwMode="auto">
                <a:xfrm>
                  <a:off x="3941" y="466"/>
                  <a:ext cx="384" cy="201"/>
                </a:xfrm>
                <a:prstGeom prst="rect">
                  <a:avLst/>
                </a:prstGeom>
                <a:blipFill>
                  <a:blip r:embed="rId15"/>
                  <a:stretch>
                    <a:fillRect b="-23077"/>
                  </a:stretch>
                </a:blipFill>
                <a:ln>
                  <a:noFill/>
                </a:ln>
                <a:effectLst/>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6" name="Object 31">
                <a:extLst>
                  <a:ext uri="{FF2B5EF4-FFF2-40B4-BE49-F238E27FC236}">
                    <a16:creationId xmlns:a16="http://schemas.microsoft.com/office/drawing/2014/main" id="{B948D89E-A031-4757-8D6E-8AAC28E735E3}"/>
                  </a:ext>
                </a:extLst>
              </p:cNvPr>
              <p:cNvSpPr txBox="1"/>
              <p:nvPr/>
            </p:nvSpPr>
            <p:spPr bwMode="auto">
              <a:xfrm>
                <a:off x="6455567" y="2323097"/>
                <a:ext cx="500063" cy="5270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e>
                        <m:sub>
                          <m:r>
                            <a:rPr lang="zh-CN" altLang="en-US" sz="2800" i="1">
                              <a:solidFill>
                                <a:srgbClr val="000000"/>
                              </a:solidFill>
                              <a:latin typeface="Cambria Math" panose="02040503050406030204" pitchFamily="18" charset="0"/>
                            </a:rPr>
                            <m:t>𝐴</m:t>
                          </m:r>
                        </m:sub>
                      </m:sSub>
                    </m:oMath>
                  </m:oMathPara>
                </a14:m>
                <a:endParaRPr lang="zh-CN" altLang="en-US" sz="2800"/>
              </a:p>
            </p:txBody>
          </p:sp>
        </mc:Choice>
        <mc:Fallback xmlns="">
          <p:sp>
            <p:nvSpPr>
              <p:cNvPr id="46" name="Object 31">
                <a:extLst>
                  <a:ext uri="{FF2B5EF4-FFF2-40B4-BE49-F238E27FC236}">
                    <a16:creationId xmlns:a16="http://schemas.microsoft.com/office/drawing/2014/main" id="{B948D89E-A031-4757-8D6E-8AAC28E735E3}"/>
                  </a:ext>
                </a:extLst>
              </p:cNvPr>
              <p:cNvSpPr txBox="1">
                <a:spLocks noRot="1" noChangeAspect="1" noMove="1" noResize="1" noEditPoints="1" noAdjustHandles="1" noChangeArrowheads="1" noChangeShapeType="1" noTextEdit="1"/>
              </p:cNvSpPr>
              <p:nvPr/>
            </p:nvSpPr>
            <p:spPr bwMode="auto">
              <a:xfrm>
                <a:off x="6455567" y="2323097"/>
                <a:ext cx="500063" cy="527050"/>
              </a:xfrm>
              <a:prstGeom prst="rect">
                <a:avLst/>
              </a:prstGeom>
              <a:blipFill>
                <a:blip r:embed="rId16"/>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7" name="Object 31">
                <a:extLst>
                  <a:ext uri="{FF2B5EF4-FFF2-40B4-BE49-F238E27FC236}">
                    <a16:creationId xmlns:a16="http://schemas.microsoft.com/office/drawing/2014/main" id="{84C80F2D-18C5-4760-8F12-77DF6BDE55D0}"/>
                  </a:ext>
                </a:extLst>
              </p:cNvPr>
              <p:cNvSpPr txBox="1"/>
              <p:nvPr/>
            </p:nvSpPr>
            <p:spPr bwMode="auto">
              <a:xfrm>
                <a:off x="8963817" y="3772485"/>
                <a:ext cx="498475" cy="527050"/>
              </a:xfrm>
              <a:prstGeom prst="rect">
                <a:avLst/>
              </a:prstGeom>
              <a:noFill/>
              <a:ln>
                <a:noFill/>
              </a:ln>
            </p:spPr>
            <p:txBody>
              <a:bodyPr>
                <a:normAutofit fontScale="85000" lnSpcReduction="10000"/>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e>
                        <m:sub>
                          <m:r>
                            <a:rPr lang="zh-CN" altLang="en-US" sz="2800" i="1">
                              <a:solidFill>
                                <a:srgbClr val="000000"/>
                              </a:solidFill>
                              <a:latin typeface="Cambria Math" panose="02040503050406030204" pitchFamily="18" charset="0"/>
                            </a:rPr>
                            <m:t>𝐵</m:t>
                          </m:r>
                        </m:sub>
                      </m:sSub>
                    </m:oMath>
                  </m:oMathPara>
                </a14:m>
                <a:endParaRPr lang="zh-CN" altLang="en-US" sz="2800" dirty="0"/>
              </a:p>
            </p:txBody>
          </p:sp>
        </mc:Choice>
        <mc:Fallback xmlns="">
          <p:sp>
            <p:nvSpPr>
              <p:cNvPr id="47" name="Object 31">
                <a:extLst>
                  <a:ext uri="{FF2B5EF4-FFF2-40B4-BE49-F238E27FC236}">
                    <a16:creationId xmlns:a16="http://schemas.microsoft.com/office/drawing/2014/main" id="{84C80F2D-18C5-4760-8F12-77DF6BDE55D0}"/>
                  </a:ext>
                </a:extLst>
              </p:cNvPr>
              <p:cNvSpPr txBox="1">
                <a:spLocks noRot="1" noChangeAspect="1" noMove="1" noResize="1" noEditPoints="1" noAdjustHandles="1" noChangeArrowheads="1" noChangeShapeType="1" noTextEdit="1"/>
              </p:cNvSpPr>
              <p:nvPr/>
            </p:nvSpPr>
            <p:spPr bwMode="auto">
              <a:xfrm>
                <a:off x="8963817" y="3772485"/>
                <a:ext cx="498475" cy="527050"/>
              </a:xfrm>
              <a:prstGeom prst="rect">
                <a:avLst/>
              </a:prstGeom>
              <a:blipFill>
                <a:blip r:embed="rId17"/>
                <a:stretch>
                  <a:fillRect/>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8" name="Object 31">
                <a:extLst>
                  <a:ext uri="{FF2B5EF4-FFF2-40B4-BE49-F238E27FC236}">
                    <a16:creationId xmlns:a16="http://schemas.microsoft.com/office/drawing/2014/main" id="{B3FD0F38-C713-4C95-A6BF-0AFF8F2B256D}"/>
                  </a:ext>
                </a:extLst>
              </p:cNvPr>
              <p:cNvSpPr txBox="1"/>
              <p:nvPr/>
            </p:nvSpPr>
            <p:spPr bwMode="auto">
              <a:xfrm>
                <a:off x="10271115" y="4927133"/>
                <a:ext cx="1751003" cy="495300"/>
              </a:xfrm>
              <a:prstGeom prst="rect">
                <a:avLst/>
              </a:prstGeom>
              <a:noFill/>
              <a:ln>
                <a:noFill/>
              </a:ln>
            </p:spPr>
            <p:txBody>
              <a:bodyPr>
                <a:noAutofit/>
              </a:bodyPr>
              <a:lstStyle/>
              <a:p>
                <a:pPr/>
                <a14:m>
                  <m:oMathPara xmlns:m="http://schemas.openxmlformats.org/officeDocument/2006/math">
                    <m:oMathParaPr>
                      <m:jc m:val="left"/>
                    </m:oMathParaPr>
                    <m:oMath xmlns:m="http://schemas.openxmlformats.org/officeDocument/2006/math">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e>
                        <m:sub>
                          <m:r>
                            <a:rPr lang="zh-CN" altLang="en-US" sz="2800" i="1">
                              <a:solidFill>
                                <a:srgbClr val="000000"/>
                              </a:solidFill>
                              <a:latin typeface="Cambria Math" panose="02040503050406030204" pitchFamily="18" charset="0"/>
                            </a:rPr>
                            <m:t>𝐴</m:t>
                          </m:r>
                        </m:sub>
                      </m:sSub>
                      <m:r>
                        <a:rPr lang="zh-CN" altLang="en-US" sz="2800" i="1">
                          <a:solidFill>
                            <a:srgbClr val="000000"/>
                          </a:solidFill>
                          <a:latin typeface="Cambria Math" panose="02040503050406030204" pitchFamily="18" charset="0"/>
                        </a:rPr>
                        <m:t>+</m:t>
                      </m:r>
                      <m:sSub>
                        <m:sSubPr>
                          <m:ctrlPr>
                            <a:rPr lang="zh-CN" altLang="en-US" sz="2800" i="1">
                              <a:solidFill>
                                <a:srgbClr val="000000"/>
                              </a:solidFill>
                              <a:latin typeface="Cambria Math" panose="02040503050406030204" pitchFamily="18" charset="0"/>
                            </a:rPr>
                          </m:ctrlPr>
                        </m:sSubPr>
                        <m:e>
                          <m:acc>
                            <m:accPr>
                              <m:chr m:val="⃗"/>
                              <m:ctrlPr>
                                <a:rPr lang="zh-CN" altLang="en-US" sz="2800" i="1">
                                  <a:solidFill>
                                    <a:srgbClr val="000000"/>
                                  </a:solidFill>
                                  <a:latin typeface="Cambria Math" panose="02040503050406030204" pitchFamily="18" charset="0"/>
                                </a:rPr>
                              </m:ctrlPr>
                            </m:accPr>
                            <m:e>
                              <m:r>
                                <a:rPr lang="zh-CN" altLang="en-US" sz="2800" i="1">
                                  <a:solidFill>
                                    <a:srgbClr val="000000"/>
                                  </a:solidFill>
                                  <a:latin typeface="Cambria Math" panose="02040503050406030204" pitchFamily="18" charset="0"/>
                                </a:rPr>
                                <m:t>𝐸</m:t>
                              </m:r>
                            </m:e>
                          </m:acc>
                        </m:e>
                        <m:sub>
                          <m:r>
                            <a:rPr lang="zh-CN" altLang="en-US" sz="2800" i="1">
                              <a:solidFill>
                                <a:srgbClr val="000000"/>
                              </a:solidFill>
                              <a:latin typeface="Cambria Math" panose="02040503050406030204" pitchFamily="18" charset="0"/>
                            </a:rPr>
                            <m:t>𝐵</m:t>
                          </m:r>
                        </m:sub>
                      </m:sSub>
                    </m:oMath>
                  </m:oMathPara>
                </a14:m>
                <a:endParaRPr lang="zh-CN" altLang="en-US" sz="2800" dirty="0"/>
              </a:p>
            </p:txBody>
          </p:sp>
        </mc:Choice>
        <mc:Fallback xmlns="">
          <p:sp>
            <p:nvSpPr>
              <p:cNvPr id="48" name="Object 31">
                <a:extLst>
                  <a:ext uri="{FF2B5EF4-FFF2-40B4-BE49-F238E27FC236}">
                    <a16:creationId xmlns:a16="http://schemas.microsoft.com/office/drawing/2014/main" id="{B3FD0F38-C713-4C95-A6BF-0AFF8F2B256D}"/>
                  </a:ext>
                </a:extLst>
              </p:cNvPr>
              <p:cNvSpPr txBox="1">
                <a:spLocks noRot="1" noChangeAspect="1" noMove="1" noResize="1" noEditPoints="1" noAdjustHandles="1" noChangeArrowheads="1" noChangeShapeType="1" noTextEdit="1"/>
              </p:cNvSpPr>
              <p:nvPr/>
            </p:nvSpPr>
            <p:spPr bwMode="auto">
              <a:xfrm>
                <a:off x="10271115" y="4927133"/>
                <a:ext cx="1751003" cy="495300"/>
              </a:xfrm>
              <a:prstGeom prst="rect">
                <a:avLst/>
              </a:prstGeom>
              <a:blipFill>
                <a:blip r:embed="rId18"/>
                <a:stretch>
                  <a:fillRect b="-3659"/>
                </a:stretch>
              </a:blipFill>
              <a:ln>
                <a:noFill/>
              </a:ln>
            </p:spPr>
            <p:txBody>
              <a:bodyPr/>
              <a:lstStyle/>
              <a:p>
                <a:r>
                  <a:rPr lang="en-US">
                    <a:noFill/>
                  </a:rPr>
                  <a:t> </a:t>
                </a:r>
              </a:p>
            </p:txBody>
          </p:sp>
        </mc:Fallback>
      </mc:AlternateContent>
      <p:sp>
        <p:nvSpPr>
          <p:cNvPr id="42" name="Text Box 33">
            <a:extLst>
              <a:ext uri="{FF2B5EF4-FFF2-40B4-BE49-F238E27FC236}">
                <a16:creationId xmlns:a16="http://schemas.microsoft.com/office/drawing/2014/main" id="{3CD2A19D-9249-47D5-80B7-C8F7C9059B6C}"/>
              </a:ext>
            </a:extLst>
          </p:cNvPr>
          <p:cNvSpPr txBox="1">
            <a:spLocks noChangeArrowheads="1"/>
          </p:cNvSpPr>
          <p:nvPr/>
        </p:nvSpPr>
        <p:spPr bwMode="auto">
          <a:xfrm>
            <a:off x="895084" y="1322090"/>
            <a:ext cx="4251591" cy="13849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spcBef>
                <a:spcPct val="0"/>
              </a:spcBef>
              <a:buFontTx/>
              <a:buNone/>
            </a:pPr>
            <a:r>
              <a:rPr lang="en-US" altLang="zh-CN" sz="2800" dirty="0">
                <a:solidFill>
                  <a:srgbClr val="000000"/>
                </a:solidFill>
                <a:latin typeface="+mn-lt"/>
                <a:ea typeface="+mn-ea"/>
              </a:rPr>
              <a:t>- </a:t>
            </a:r>
            <a:r>
              <a:rPr lang="zh-CN" altLang="en-US" sz="2800" dirty="0">
                <a:solidFill>
                  <a:srgbClr val="000000"/>
                </a:solidFill>
                <a:latin typeface="+mn-lt"/>
                <a:ea typeface="+mn-ea"/>
              </a:rPr>
              <a:t>对称性降低</a:t>
            </a:r>
            <a:br>
              <a:rPr lang="en-US" altLang="zh-CN" sz="2800" dirty="0">
                <a:solidFill>
                  <a:srgbClr val="000000"/>
                </a:solidFill>
                <a:latin typeface="+mn-lt"/>
                <a:ea typeface="+mn-ea"/>
              </a:rPr>
            </a:br>
            <a:r>
              <a:rPr lang="en-US" altLang="zh-CN" sz="2800" dirty="0">
                <a:solidFill>
                  <a:srgbClr val="000000"/>
                </a:solidFill>
                <a:latin typeface="+mn-lt"/>
                <a:ea typeface="+mn-ea"/>
              </a:rPr>
              <a:t>- </a:t>
            </a:r>
            <a:r>
              <a:rPr lang="zh-CN" altLang="en-US" sz="2800" dirty="0">
                <a:solidFill>
                  <a:srgbClr val="000000"/>
                </a:solidFill>
                <a:latin typeface="+mn-lt"/>
                <a:ea typeface="+mn-ea"/>
              </a:rPr>
              <a:t>分别求每块平面的电场，然后矢量叠加</a:t>
            </a:r>
            <a:endParaRPr lang="en-US" altLang="zh-CN" sz="2800" dirty="0">
              <a:solidFill>
                <a:srgbClr val="000000"/>
              </a:solidFill>
              <a:latin typeface="+mn-lt"/>
              <a:ea typeface="+mn-ea"/>
            </a:endParaRPr>
          </a:p>
        </p:txBody>
      </p:sp>
    </p:spTree>
    <p:extLst>
      <p:ext uri="{BB962C8B-B14F-4D97-AF65-F5344CB8AC3E}">
        <p14:creationId xmlns:p14="http://schemas.microsoft.com/office/powerpoint/2010/main" val="2302386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22" presetClass="entr" presetSubtype="8" fill="hold" grpId="0" nodeType="clickEffect">
                                  <p:stCondLst>
                                    <p:cond delay="0"/>
                                  </p:stCondLst>
                                  <p:childTnLst>
                                    <p:set>
                                      <p:cBhvr>
                                        <p:cTn id="10" dur="1" fill="hold">
                                          <p:stCondLst>
                                            <p:cond delay="0"/>
                                          </p:stCondLst>
                                        </p:cTn>
                                        <p:tgtEl>
                                          <p:spTgt spid="42"/>
                                        </p:tgtEl>
                                        <p:attrNameLst>
                                          <p:attrName>style.visibility</p:attrName>
                                        </p:attrNameLst>
                                      </p:cBhvr>
                                      <p:to>
                                        <p:strVal val="visible"/>
                                      </p:to>
                                    </p:set>
                                    <p:animEffect transition="in" filter="wipe(left)">
                                      <p:cBhvr>
                                        <p:cTn id="11" dur="500"/>
                                        <p:tgtEl>
                                          <p:spTgt spid="42"/>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42">
                                            <p:txEl>
                                              <p:pRg st="0" end="0"/>
                                            </p:txEl>
                                          </p:spTgt>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2"/>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46"/>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grpId="0" nodeType="clickEffect">
                                  <p:stCondLst>
                                    <p:cond delay="0"/>
                                  </p:stCondLst>
                                  <p:childTnLst>
                                    <p:set>
                                      <p:cBhvr>
                                        <p:cTn id="29" dur="1" fill="hold">
                                          <p:stCondLst>
                                            <p:cond delay="0"/>
                                          </p:stCondLst>
                                        </p:cTn>
                                        <p:tgtEl>
                                          <p:spTgt spid="33"/>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12"/>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47"/>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34"/>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grpId="0" nodeType="clickEffect">
                                  <p:stCondLst>
                                    <p:cond delay="0"/>
                                  </p:stCondLst>
                                  <p:childTnLst>
                                    <p:set>
                                      <p:cBhvr>
                                        <p:cTn id="43" dur="1" fill="hold">
                                          <p:stCondLst>
                                            <p:cond delay="0"/>
                                          </p:stCondLst>
                                        </p:cTn>
                                        <p:tgtEl>
                                          <p:spTgt spid="35"/>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grpId="0" nodeType="clickEffect">
                                  <p:stCondLst>
                                    <p:cond delay="0"/>
                                  </p:stCondLst>
                                  <p:childTnLst>
                                    <p:set>
                                      <p:cBhvr>
                                        <p:cTn id="47" dur="1" fill="hold">
                                          <p:stCondLst>
                                            <p:cond delay="0"/>
                                          </p:stCondLst>
                                        </p:cTn>
                                        <p:tgtEl>
                                          <p:spTgt spid="37"/>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grpId="0" nodeType="clickEffect">
                                  <p:stCondLst>
                                    <p:cond delay="0"/>
                                  </p:stCondLst>
                                  <p:childTnLst>
                                    <p:set>
                                      <p:cBhvr>
                                        <p:cTn id="51" dur="1" fill="hold">
                                          <p:stCondLst>
                                            <p:cond delay="0"/>
                                          </p:stCondLst>
                                        </p:cTn>
                                        <p:tgtEl>
                                          <p:spTgt spid="36"/>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23"/>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 grpId="0"/>
      <p:bldP spid="33" grpId="0"/>
      <p:bldP spid="34" grpId="0"/>
      <p:bldP spid="35" grpId="0"/>
      <p:bldP spid="36" grpId="0"/>
      <p:bldP spid="37" grpId="0"/>
      <p:bldP spid="46" grpId="0"/>
      <p:bldP spid="47" grpId="0"/>
      <p:bldP spid="48" grpId="0"/>
      <p:bldP spid="42"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D9225921-78FE-4DE7-90B9-C888CEF5384E}"/>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800" dirty="0">
                <a:latin typeface="宋体" panose="02010600030101010101" pitchFamily="2" charset="-122"/>
                <a:ea typeface="宋体" panose="02010600030101010101" pitchFamily="2" charset="-122"/>
                <a:cs typeface="Times New Roman" panose="02020603050405020304" pitchFamily="18" charset="0"/>
              </a:rPr>
              <a:t>均匀带电球体，带电密度为</a:t>
            </a:r>
            <a:r>
              <a:rPr lang="zh-CN" altLang="en-US"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a:t>
            </a:r>
            <a:r>
              <a:rPr lang="zh-CN" altLang="en-US" sz="2800" dirty="0">
                <a:latin typeface="宋体" panose="02010600030101010101" pitchFamily="2" charset="-122"/>
                <a:ea typeface="宋体" panose="02010600030101010101" pitchFamily="2" charset="-122"/>
                <a:cs typeface="Times New Roman" panose="02020603050405020304" pitchFamily="18" charset="0"/>
              </a:rPr>
              <a:t>，半径为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1</a:t>
            </a:r>
            <a:r>
              <a:rPr lang="zh-CN" altLang="en-US" sz="2800" dirty="0">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。在距离带电球体圆心</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L</a:t>
            </a:r>
            <a:r>
              <a:rPr lang="zh-CN" altLang="en-US" sz="2800" dirty="0">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处挖一个半径为</a:t>
            </a:r>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R</a:t>
            </a:r>
            <a:r>
              <a:rPr lang="en-US" altLang="zh-CN" sz="2800" baseline="-300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2</a:t>
            </a:r>
            <a:r>
              <a:rPr lang="zh-CN" altLang="en-US" sz="2800" dirty="0">
                <a:latin typeface="宋体" panose="02010600030101010101" pitchFamily="2" charset="-122"/>
                <a:ea typeface="宋体" panose="02010600030101010101" pitchFamily="2" charset="-122"/>
                <a:cs typeface="Times New Roman" panose="02020603050405020304" pitchFamily="18" charset="0"/>
                <a:sym typeface="Symbol" panose="05050102010706020507" pitchFamily="18" charset="2"/>
              </a:rPr>
              <a:t>的空腔，这个过程不改变其余部分带电，则空腔中的电场强度为：</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5" name="文本框 4">
            <a:extLst>
              <a:ext uri="{FF2B5EF4-FFF2-40B4-BE49-F238E27FC236}">
                <a16:creationId xmlns:a16="http://schemas.microsoft.com/office/drawing/2014/main" id="{881602CE-C759-40C2-974D-DDDA125FC34D}"/>
              </a:ext>
            </a:extLst>
          </p:cNvPr>
          <p:cNvSpPr txBox="1"/>
          <p:nvPr>
            <p:custDataLst>
              <p:tags r:id="rId3"/>
            </p:custDataLst>
          </p:nvPr>
        </p:nvSpPr>
        <p:spPr>
          <a:xfrm>
            <a:off x="2438400" y="2786063"/>
            <a:ext cx="8534400" cy="642938"/>
          </a:xfrm>
          <a:prstGeom prst="rect">
            <a:avLst/>
          </a:prstGeom>
          <a:noFill/>
        </p:spPr>
        <p:txBody>
          <a:bodyPr vert="horz" rtlCol="0" anchor="ctr" anchorCtr="0">
            <a:noAutofit/>
          </a:bodyPr>
          <a:lstStyle/>
          <a:p>
            <a:r>
              <a:rPr lang="en-US" altLang="zh-CN" sz="2800" dirty="0">
                <a:latin typeface="Times New Roman" panose="02020603050405020304" pitchFamily="18" charset="0"/>
                <a:ea typeface="宋体" panose="02010600030101010101" pitchFamily="2" charset="-122"/>
                <a:cs typeface="Times New Roman" panose="02020603050405020304" pitchFamily="18" charset="0"/>
                <a:sym typeface="Symbol" panose="05050102010706020507" pitchFamily="18" charset="2"/>
              </a:rPr>
              <a:t>0</a:t>
            </a:r>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8DBE039B-CDC3-4006-8FB0-40F878DAC398}"/>
                  </a:ext>
                </a:extLst>
              </p:cNvPr>
              <p:cNvSpPr txBox="1"/>
              <p:nvPr>
                <p:custDataLst>
                  <p:tags r:id="rId4"/>
                </p:custDataLst>
              </p:nvPr>
            </p:nvSpPr>
            <p:spPr>
              <a:xfrm>
                <a:off x="2438400" y="3643313"/>
                <a:ext cx="805444"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𝜌</m:t>
                          </m:r>
                          <m:r>
                            <a:rPr lang="en-US" i="1">
                              <a:latin typeface="Cambria Math" panose="02040503050406030204" pitchFamily="18" charset="0"/>
                            </a:rPr>
                            <m:t>𝐿</m:t>
                          </m:r>
                        </m:num>
                        <m:den>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0</m:t>
                              </m:r>
                            </m:sub>
                          </m:sSub>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8DBE039B-CDC3-4006-8FB0-40F878DAC398}"/>
                  </a:ext>
                </a:extLst>
              </p:cNvPr>
              <p:cNvSpPr txBox="1">
                <a:spLocks noRot="1" noChangeAspect="1" noMove="1" noResize="1" noEditPoints="1" noAdjustHandles="1" noChangeArrowheads="1" noChangeShapeType="1" noTextEdit="1"/>
              </p:cNvSpPr>
              <p:nvPr>
                <p:custDataLst>
                  <p:tags r:id="rId19"/>
                </p:custDataLst>
              </p:nvPr>
            </p:nvSpPr>
            <p:spPr>
              <a:xfrm>
                <a:off x="2438400" y="3643313"/>
                <a:ext cx="805444" cy="642938"/>
              </a:xfrm>
              <a:prstGeom prst="rect">
                <a:avLst/>
              </a:prstGeom>
              <a:blipFill>
                <a:blip r:embed="rId2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AC10D1F-D140-4AD0-A711-7801CF1D9422}"/>
                  </a:ext>
                </a:extLst>
              </p:cNvPr>
              <p:cNvSpPr txBox="1"/>
              <p:nvPr>
                <p:custDataLst>
                  <p:tags r:id="rId5"/>
                </p:custDataLst>
              </p:nvPr>
            </p:nvSpPr>
            <p:spPr>
              <a:xfrm>
                <a:off x="2500463" y="4497557"/>
                <a:ext cx="714418"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𝜌</m:t>
                          </m:r>
                          <m:sSubSup>
                            <m:sSubSupPr>
                              <m:ctrlPr>
                                <a:rPr lang="en-US" i="1">
                                  <a:latin typeface="Cambria Math" panose="02040503050406030204" pitchFamily="18" charset="0"/>
                                </a:rPr>
                              </m:ctrlPr>
                            </m:sSubSupPr>
                            <m:e>
                              <m:r>
                                <a:rPr lang="en-US" i="1">
                                  <a:latin typeface="Cambria Math" panose="02040503050406030204" pitchFamily="18" charset="0"/>
                                </a:rPr>
                                <m:t>𝑅</m:t>
                              </m:r>
                            </m:e>
                            <m:sub>
                              <m:r>
                                <a:rPr lang="en-US" i="1">
                                  <a:latin typeface="Cambria Math" panose="02040503050406030204" pitchFamily="18" charset="0"/>
                                </a:rPr>
                                <m:t>1</m:t>
                              </m:r>
                            </m:sub>
                            <m:sup>
                              <m:r>
                                <a:rPr lang="en-US" i="1">
                                  <a:latin typeface="Cambria Math" panose="02040503050406030204" pitchFamily="18" charset="0"/>
                                </a:rPr>
                                <m:t>3</m:t>
                              </m:r>
                            </m:sup>
                          </m:sSubSup>
                        </m:num>
                        <m:den>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0</m:t>
                              </m:r>
                            </m:sub>
                          </m:sSub>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3AC10D1F-D140-4AD0-A711-7801CF1D9422}"/>
                  </a:ext>
                </a:extLst>
              </p:cNvPr>
              <p:cNvSpPr txBox="1">
                <a:spLocks noRot="1" noChangeAspect="1" noMove="1" noResize="1" noEditPoints="1" noAdjustHandles="1" noChangeArrowheads="1" noChangeShapeType="1" noTextEdit="1"/>
              </p:cNvSpPr>
              <p:nvPr>
                <p:custDataLst>
                  <p:tags r:id="rId21"/>
                </p:custDataLst>
              </p:nvPr>
            </p:nvSpPr>
            <p:spPr>
              <a:xfrm>
                <a:off x="2500463" y="4497557"/>
                <a:ext cx="714418" cy="642938"/>
              </a:xfrm>
              <a:prstGeom prst="rect">
                <a:avLst/>
              </a:prstGeom>
              <a:blipFill>
                <a:blip r:embed="rId2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AB69CA62-52AD-4379-9836-55C2B3B3B2DA}"/>
                  </a:ext>
                </a:extLst>
              </p:cNvPr>
              <p:cNvSpPr txBox="1"/>
              <p:nvPr>
                <p:custDataLst>
                  <p:tags r:id="rId6"/>
                </p:custDataLst>
              </p:nvPr>
            </p:nvSpPr>
            <p:spPr>
              <a:xfrm>
                <a:off x="2438400" y="5357813"/>
                <a:ext cx="867508"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i="1">
                              <a:latin typeface="Cambria Math" panose="02040503050406030204" pitchFamily="18" charset="0"/>
                            </a:rPr>
                            <m:t>𝜌</m:t>
                          </m:r>
                          <m:sSubSup>
                            <m:sSubSupPr>
                              <m:ctrlPr>
                                <a:rPr lang="en-US" i="1">
                                  <a:latin typeface="Cambria Math" panose="02040503050406030204" pitchFamily="18" charset="0"/>
                                </a:rPr>
                              </m:ctrlPr>
                            </m:sSubSupPr>
                            <m:e>
                              <m:r>
                                <a:rPr lang="en-US" i="1">
                                  <a:latin typeface="Cambria Math" panose="02040503050406030204" pitchFamily="18" charset="0"/>
                                </a:rPr>
                                <m:t>𝑅</m:t>
                              </m:r>
                            </m:e>
                            <m:sub>
                              <m:r>
                                <a:rPr lang="en-US" b="0" i="1" smtClean="0">
                                  <a:latin typeface="Cambria Math" panose="02040503050406030204" pitchFamily="18" charset="0"/>
                                </a:rPr>
                                <m:t>2</m:t>
                              </m:r>
                            </m:sub>
                            <m:sup>
                              <m:r>
                                <a:rPr lang="en-US" i="1">
                                  <a:latin typeface="Cambria Math" panose="02040503050406030204" pitchFamily="18" charset="0"/>
                                </a:rPr>
                                <m:t>3</m:t>
                              </m:r>
                            </m:sup>
                          </m:sSubSup>
                        </m:num>
                        <m:den>
                          <m:r>
                            <a:rPr lang="en-US" i="1">
                              <a:latin typeface="Cambria Math" panose="02040503050406030204" pitchFamily="18" charset="0"/>
                            </a:rPr>
                            <m:t>3</m:t>
                          </m:r>
                          <m:sSub>
                            <m:sSubPr>
                              <m:ctrlPr>
                                <a:rPr lang="en-US" i="1">
                                  <a:latin typeface="Cambria Math" panose="02040503050406030204" pitchFamily="18" charset="0"/>
                                </a:rPr>
                              </m:ctrlPr>
                            </m:sSubPr>
                            <m:e>
                              <m:r>
                                <a:rPr lang="en-US" i="1">
                                  <a:latin typeface="Cambria Math" panose="02040503050406030204" pitchFamily="18" charset="0"/>
                                </a:rPr>
                                <m:t>𝜀</m:t>
                              </m:r>
                            </m:e>
                            <m:sub>
                              <m:r>
                                <a:rPr lang="en-US" i="1">
                                  <a:latin typeface="Cambria Math" panose="02040503050406030204" pitchFamily="18" charset="0"/>
                                </a:rPr>
                                <m:t>0</m:t>
                              </m:r>
                            </m:sub>
                          </m:sSub>
                          <m:sSup>
                            <m:sSupPr>
                              <m:ctrlPr>
                                <a:rPr lang="en-US" i="1">
                                  <a:latin typeface="Cambria Math" panose="02040503050406030204" pitchFamily="18" charset="0"/>
                                </a:rPr>
                              </m:ctrlPr>
                            </m:sSupPr>
                            <m:e>
                              <m:r>
                                <a:rPr lang="en-US" i="1">
                                  <a:latin typeface="Cambria Math" panose="02040503050406030204" pitchFamily="18" charset="0"/>
                                </a:rPr>
                                <m:t>𝐿</m:t>
                              </m:r>
                            </m:e>
                            <m:sup>
                              <m:r>
                                <a:rPr lang="en-US" i="1">
                                  <a:latin typeface="Cambria Math" panose="02040503050406030204" pitchFamily="18" charset="0"/>
                                </a:rPr>
                                <m:t>2</m:t>
                              </m:r>
                            </m:sup>
                          </m:sSup>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a:extLst>
                  <a:ext uri="{FF2B5EF4-FFF2-40B4-BE49-F238E27FC236}">
                    <a16:creationId xmlns:a16="http://schemas.microsoft.com/office/drawing/2014/main" id="{AB69CA62-52AD-4379-9836-55C2B3B3B2DA}"/>
                  </a:ext>
                </a:extLst>
              </p:cNvPr>
              <p:cNvSpPr txBox="1">
                <a:spLocks noRot="1" noChangeAspect="1" noMove="1" noResize="1" noEditPoints="1" noAdjustHandles="1" noChangeArrowheads="1" noChangeShapeType="1" noTextEdit="1"/>
              </p:cNvSpPr>
              <p:nvPr>
                <p:custDataLst>
                  <p:tags r:id="rId23"/>
                </p:custDataLst>
              </p:nvPr>
            </p:nvSpPr>
            <p:spPr>
              <a:xfrm>
                <a:off x="2438400" y="5357813"/>
                <a:ext cx="867508" cy="642938"/>
              </a:xfrm>
              <a:prstGeom prst="rect">
                <a:avLst/>
              </a:prstGeom>
              <a:blipFill>
                <a:blip r:embed="rId24"/>
                <a:stretch>
                  <a:fillRect/>
                </a:stretch>
              </a:blipFill>
            </p:spPr>
            <p:txBody>
              <a:bodyPr/>
              <a:lstStyle/>
              <a:p>
                <a:r>
                  <a:rPr lang="en-US">
                    <a:noFill/>
                  </a:rPr>
                  <a:t> </a:t>
                </a:r>
              </a:p>
            </p:txBody>
          </p:sp>
        </mc:Fallback>
      </mc:AlternateContent>
      <p:sp>
        <p:nvSpPr>
          <p:cNvPr id="9" name="椭圆 8">
            <a:extLst>
              <a:ext uri="{FF2B5EF4-FFF2-40B4-BE49-F238E27FC236}">
                <a16:creationId xmlns:a16="http://schemas.microsoft.com/office/drawing/2014/main" id="{CD01121F-C38F-4688-AA66-D4BC319BC24C}"/>
              </a:ext>
            </a:extLst>
          </p:cNvPr>
          <p:cNvSpPr>
            <a:spLocks noChangeAspect="1"/>
          </p:cNvSpPr>
          <p:nvPr>
            <p:custDataLst>
              <p:tags r:id="rId7"/>
            </p:custDataLst>
          </p:nvPr>
        </p:nvSpPr>
        <p:spPr>
          <a:xfrm>
            <a:off x="1571625" y="28503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3DCBBDE4-9FB2-48F0-A2D0-A88A8F0931BE}"/>
              </a:ext>
            </a:extLst>
          </p:cNvPr>
          <p:cNvSpPr>
            <a:spLocks noChangeAspect="1"/>
          </p:cNvSpPr>
          <p:nvPr>
            <p:custDataLst>
              <p:tags r:id="rId8"/>
            </p:custDataLst>
          </p:nvPr>
        </p:nvSpPr>
        <p:spPr>
          <a:xfrm>
            <a:off x="1571625" y="370760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EFD48182-34E1-4F35-97AD-596893952D6F}"/>
              </a:ext>
            </a:extLst>
          </p:cNvPr>
          <p:cNvSpPr>
            <a:spLocks noChangeAspect="1"/>
          </p:cNvSpPr>
          <p:nvPr>
            <p:custDataLst>
              <p:tags r:id="rId9"/>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86240227-D67C-493D-BEF6-FD70CBB0E1AE}"/>
              </a:ext>
            </a:extLst>
          </p:cNvPr>
          <p:cNvSpPr>
            <a:spLocks noChangeAspect="1"/>
          </p:cNvSpPr>
          <p:nvPr>
            <p:custDataLst>
              <p:tags r:id="rId10"/>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9E6973F3-D976-4E9E-9ADC-42740A648FF5}"/>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pic>
        <p:nvPicPr>
          <p:cNvPr id="20" name="Picture 1" descr="A picture containing diagram&#10;&#10;Description automatically generated">
            <a:extLst>
              <a:ext uri="{FF2B5EF4-FFF2-40B4-BE49-F238E27FC236}">
                <a16:creationId xmlns:a16="http://schemas.microsoft.com/office/drawing/2014/main" id="{60CBEEF2-7A47-432E-A7B0-01BF185DB382}"/>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7779608" y="2224734"/>
            <a:ext cx="2898477" cy="262862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组合 17">
            <a:extLst>
              <a:ext uri="{FF2B5EF4-FFF2-40B4-BE49-F238E27FC236}">
                <a16:creationId xmlns:a16="http://schemas.microsoft.com/office/drawing/2014/main" id="{1A01151A-CAFF-4F72-B6FD-0988BD06B7C9}"/>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5A406601-95FF-494A-93E3-C9101120BB3B}"/>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F9A25153-6D7D-4D00-9632-A6B55E8B1AE0}"/>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AE79FDE9-57A0-4215-B594-EA0583ED339D}"/>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1F1EE7C2-F6CA-417C-8663-110E0D7F26A4}"/>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FCB831C0-F959-4813-A06F-8307375B6F5A}"/>
              </a:ext>
            </a:extLst>
          </p:cNvPr>
          <p:cNvPicPr>
            <a:picLocks/>
          </p:cNvPicPr>
          <p:nvPr>
            <p:custDataLst>
              <p:tags r:id="rId13"/>
            </p:custDataLst>
          </p:nvPr>
        </p:nvPicPr>
        <p:blipFill>
          <a:blip r:embed="rId26">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3454229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2">
            <a:extLst>
              <a:ext uri="{FF2B5EF4-FFF2-40B4-BE49-F238E27FC236}">
                <a16:creationId xmlns:a16="http://schemas.microsoft.com/office/drawing/2014/main" id="{2343F6C6-B0D8-4CEF-B18D-CC1F3A162431}"/>
              </a:ext>
            </a:extLst>
          </p:cNvPr>
          <p:cNvGrpSpPr>
            <a:grpSpLocks/>
          </p:cNvGrpSpPr>
          <p:nvPr/>
        </p:nvGrpSpPr>
        <p:grpSpPr bwMode="auto">
          <a:xfrm>
            <a:off x="1424517" y="1102519"/>
            <a:ext cx="4852988" cy="531813"/>
            <a:chOff x="486" y="859"/>
            <a:chExt cx="3057" cy="335"/>
          </a:xfrm>
        </p:grpSpPr>
        <p:sp>
          <p:nvSpPr>
            <p:cNvPr id="3" name="Rectangle 13">
              <a:extLst>
                <a:ext uri="{FF2B5EF4-FFF2-40B4-BE49-F238E27FC236}">
                  <a16:creationId xmlns:a16="http://schemas.microsoft.com/office/drawing/2014/main" id="{B35B4619-8A45-4C2D-AE7B-6065FCD939CD}"/>
                </a:ext>
              </a:extLst>
            </p:cNvPr>
            <p:cNvSpPr>
              <a:spLocks noChangeArrowheads="1"/>
            </p:cNvSpPr>
            <p:nvPr/>
          </p:nvSpPr>
          <p:spPr bwMode="auto">
            <a:xfrm>
              <a:off x="486" y="864"/>
              <a:ext cx="3057"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dirty="0">
                  <a:latin typeface="+mn-lt"/>
                  <a:ea typeface="华文楷体" panose="02010600040101010101" pitchFamily="2" charset="-122"/>
                </a:rPr>
                <a:t>在空腔处填补        的电荷分布</a:t>
              </a:r>
            </a:p>
          </p:txBody>
        </p:sp>
        <mc:AlternateContent xmlns:mc="http://schemas.openxmlformats.org/markup-compatibility/2006" xmlns:a14="http://schemas.microsoft.com/office/drawing/2010/main">
          <mc:Choice Requires="a14">
            <p:sp>
              <p:nvSpPr>
                <p:cNvPr id="4" name="Object 14">
                  <a:extLst>
                    <a:ext uri="{FF2B5EF4-FFF2-40B4-BE49-F238E27FC236}">
                      <a16:creationId xmlns:a16="http://schemas.microsoft.com/office/drawing/2014/main" id="{7B845C45-4884-4CED-986C-4020D76E1852}"/>
                    </a:ext>
                  </a:extLst>
                </p:cNvPr>
                <p:cNvSpPr txBox="1"/>
                <p:nvPr/>
              </p:nvSpPr>
              <p:spPr bwMode="auto">
                <a:xfrm>
                  <a:off x="1868" y="859"/>
                  <a:ext cx="563" cy="296"/>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𝜌</m:t>
                        </m:r>
                      </m:oMath>
                    </m:oMathPara>
                  </a14:m>
                  <a:endParaRPr lang="en-US" sz="2800" dirty="0">
                    <a:solidFill>
                      <a:schemeClr val="tx1"/>
                    </a:solidFill>
                  </a:endParaRPr>
                </a:p>
              </p:txBody>
            </p:sp>
          </mc:Choice>
          <mc:Fallback xmlns="">
            <p:sp>
              <p:nvSpPr>
                <p:cNvPr id="4" name="Object 14">
                  <a:extLst>
                    <a:ext uri="{FF2B5EF4-FFF2-40B4-BE49-F238E27FC236}">
                      <a16:creationId xmlns:a16="http://schemas.microsoft.com/office/drawing/2014/main" id="{7B845C45-4884-4CED-986C-4020D76E1852}"/>
                    </a:ext>
                  </a:extLst>
                </p:cNvPr>
                <p:cNvSpPr txBox="1">
                  <a:spLocks noRot="1" noChangeAspect="1" noMove="1" noResize="1" noEditPoints="1" noAdjustHandles="1" noChangeArrowheads="1" noChangeShapeType="1" noTextEdit="1"/>
                </p:cNvSpPr>
                <p:nvPr/>
              </p:nvSpPr>
              <p:spPr bwMode="auto">
                <a:xfrm>
                  <a:off x="1868" y="859"/>
                  <a:ext cx="563" cy="296"/>
                </a:xfrm>
                <a:prstGeom prst="rect">
                  <a:avLst/>
                </a:prstGeom>
                <a:blipFill>
                  <a:blip r:embed="rId2"/>
                  <a:stretch>
                    <a:fillRect/>
                  </a:stretch>
                </a:blipFill>
                <a:ln>
                  <a:noFill/>
                </a:ln>
                <a:effectLst/>
              </p:spPr>
              <p:txBody>
                <a:bodyPr/>
                <a:lstStyle/>
                <a:p>
                  <a:r>
                    <a:rPr lang="en-US">
                      <a:noFill/>
                    </a:rPr>
                    <a:t> </a:t>
                  </a:r>
                </a:p>
              </p:txBody>
            </p:sp>
          </mc:Fallback>
        </mc:AlternateContent>
      </p:grpSp>
      <p:sp>
        <p:nvSpPr>
          <p:cNvPr id="5" name="AutoShape 15">
            <a:extLst>
              <a:ext uri="{FF2B5EF4-FFF2-40B4-BE49-F238E27FC236}">
                <a16:creationId xmlns:a16="http://schemas.microsoft.com/office/drawing/2014/main" id="{2020574A-C607-4CF1-8F31-BAF64758CDEC}"/>
              </a:ext>
            </a:extLst>
          </p:cNvPr>
          <p:cNvSpPr>
            <a:spLocks noChangeArrowheads="1"/>
          </p:cNvSpPr>
          <p:nvPr/>
        </p:nvSpPr>
        <p:spPr bwMode="auto">
          <a:xfrm>
            <a:off x="3618442" y="2028031"/>
            <a:ext cx="647700" cy="288925"/>
          </a:xfrm>
          <a:prstGeom prst="rightArrow">
            <a:avLst>
              <a:gd name="adj1" fmla="val 50000"/>
              <a:gd name="adj2" fmla="val 56044"/>
            </a:avLst>
          </a:prstGeom>
          <a:solidFill>
            <a:srgbClr val="0066FF"/>
          </a:solidFill>
          <a:ln w="12699">
            <a:noFill/>
            <a:miter lim="800000"/>
            <a:headEnd type="none" w="sm" len="sm"/>
            <a:tailEnd type="none" w="sm" len="sm"/>
          </a:ln>
          <a:effectLst/>
        </p:spPr>
        <p:txBody>
          <a:bodyPr wrap="none" anchor="ctr"/>
          <a:lstStyle>
            <a:lvl1pPr>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eaLnBrk="1" hangingPunct="1">
              <a:lnSpc>
                <a:spcPct val="120000"/>
              </a:lnSpc>
              <a:spcBef>
                <a:spcPct val="50000"/>
              </a:spcBef>
              <a:buFontTx/>
              <a:buNone/>
            </a:pPr>
            <a:endParaRPr lang="zh-CN" altLang="en-US" sz="2800">
              <a:latin typeface="+mn-lt"/>
              <a:ea typeface="华文楷体" panose="02010600040101010101" pitchFamily="2" charset="-122"/>
            </a:endParaRPr>
          </a:p>
        </p:txBody>
      </p:sp>
      <p:grpSp>
        <p:nvGrpSpPr>
          <p:cNvPr id="6" name="Group 16">
            <a:extLst>
              <a:ext uri="{FF2B5EF4-FFF2-40B4-BE49-F238E27FC236}">
                <a16:creationId xmlns:a16="http://schemas.microsoft.com/office/drawing/2014/main" id="{EAC222C1-6D95-4998-BC70-48ECF1961889}"/>
              </a:ext>
            </a:extLst>
          </p:cNvPr>
          <p:cNvGrpSpPr>
            <a:grpSpLocks/>
          </p:cNvGrpSpPr>
          <p:nvPr/>
        </p:nvGrpSpPr>
        <p:grpSpPr bwMode="auto">
          <a:xfrm>
            <a:off x="4390496" y="1881584"/>
            <a:ext cx="3919538" cy="560388"/>
            <a:chOff x="1296" y="1248"/>
            <a:chExt cx="2469" cy="353"/>
          </a:xfrm>
        </p:grpSpPr>
        <mc:AlternateContent xmlns:mc="http://schemas.openxmlformats.org/markup-compatibility/2006" xmlns:a14="http://schemas.microsoft.com/office/drawing/2010/main">
          <mc:Choice Requires="a14">
            <p:sp>
              <p:nvSpPr>
                <p:cNvPr id="7" name="Object 17">
                  <a:extLst>
                    <a:ext uri="{FF2B5EF4-FFF2-40B4-BE49-F238E27FC236}">
                      <a16:creationId xmlns:a16="http://schemas.microsoft.com/office/drawing/2014/main" id="{8F9AF631-2D3A-4644-A55A-8BB5C1440351}"/>
                    </a:ext>
                  </a:extLst>
                </p:cNvPr>
                <p:cNvSpPr txBox="1"/>
                <p:nvPr/>
              </p:nvSpPr>
              <p:spPr bwMode="auto">
                <a:xfrm>
                  <a:off x="1296" y="1248"/>
                  <a:ext cx="425" cy="28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𝜌</m:t>
                        </m:r>
                      </m:oMath>
                    </m:oMathPara>
                  </a14:m>
                  <a:endParaRPr lang="en-US" sz="2800" dirty="0">
                    <a:solidFill>
                      <a:schemeClr val="tx1"/>
                    </a:solidFill>
                  </a:endParaRPr>
                </a:p>
              </p:txBody>
            </p:sp>
          </mc:Choice>
          <mc:Fallback xmlns="">
            <p:sp>
              <p:nvSpPr>
                <p:cNvPr id="7" name="Object 17">
                  <a:extLst>
                    <a:ext uri="{FF2B5EF4-FFF2-40B4-BE49-F238E27FC236}">
                      <a16:creationId xmlns:a16="http://schemas.microsoft.com/office/drawing/2014/main" id="{8F9AF631-2D3A-4644-A55A-8BB5C1440351}"/>
                    </a:ext>
                  </a:extLst>
                </p:cNvPr>
                <p:cNvSpPr txBox="1">
                  <a:spLocks noRot="1" noChangeAspect="1" noMove="1" noResize="1" noEditPoints="1" noAdjustHandles="1" noChangeArrowheads="1" noChangeShapeType="1" noTextEdit="1"/>
                </p:cNvSpPr>
                <p:nvPr/>
              </p:nvSpPr>
              <p:spPr bwMode="auto">
                <a:xfrm>
                  <a:off x="1296" y="1248"/>
                  <a:ext cx="425" cy="282"/>
                </a:xfrm>
                <a:prstGeom prst="rect">
                  <a:avLst/>
                </a:prstGeom>
                <a:blipFill>
                  <a:blip r:embed="rId3"/>
                  <a:stretch>
                    <a:fillRect b="-4110"/>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Object 18">
                  <a:extLst>
                    <a:ext uri="{FF2B5EF4-FFF2-40B4-BE49-F238E27FC236}">
                      <a16:creationId xmlns:a16="http://schemas.microsoft.com/office/drawing/2014/main" id="{57AC9750-5650-4269-A953-2580C35D692E}"/>
                    </a:ext>
                  </a:extLst>
                </p:cNvPr>
                <p:cNvSpPr txBox="1"/>
                <p:nvPr/>
              </p:nvSpPr>
              <p:spPr bwMode="auto">
                <a:xfrm>
                  <a:off x="2640" y="1248"/>
                  <a:ext cx="425" cy="262"/>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r>
                          <a:rPr lang="en-US" sz="2800" b="0" i="1" smtClean="0">
                            <a:solidFill>
                              <a:schemeClr val="tx1"/>
                            </a:solidFill>
                            <a:latin typeface="Cambria Math" panose="02040503050406030204" pitchFamily="18" charset="0"/>
                          </a:rPr>
                          <m:t>𝜌</m:t>
                        </m:r>
                      </m:oMath>
                    </m:oMathPara>
                  </a14:m>
                  <a:endParaRPr lang="en-US" sz="2800" dirty="0">
                    <a:solidFill>
                      <a:schemeClr val="tx1"/>
                    </a:solidFill>
                  </a:endParaRPr>
                </a:p>
              </p:txBody>
            </p:sp>
          </mc:Choice>
          <mc:Fallback xmlns="">
            <p:sp>
              <p:nvSpPr>
                <p:cNvPr id="8" name="Object 18">
                  <a:extLst>
                    <a:ext uri="{FF2B5EF4-FFF2-40B4-BE49-F238E27FC236}">
                      <a16:creationId xmlns:a16="http://schemas.microsoft.com/office/drawing/2014/main" id="{57AC9750-5650-4269-A953-2580C35D692E}"/>
                    </a:ext>
                  </a:extLst>
                </p:cNvPr>
                <p:cNvSpPr txBox="1">
                  <a:spLocks noRot="1" noChangeAspect="1" noMove="1" noResize="1" noEditPoints="1" noAdjustHandles="1" noChangeArrowheads="1" noChangeShapeType="1" noTextEdit="1"/>
                </p:cNvSpPr>
                <p:nvPr/>
              </p:nvSpPr>
              <p:spPr bwMode="auto">
                <a:xfrm>
                  <a:off x="2640" y="1248"/>
                  <a:ext cx="425" cy="262"/>
                </a:xfrm>
                <a:prstGeom prst="rect">
                  <a:avLst/>
                </a:prstGeom>
                <a:blipFill>
                  <a:blip r:embed="rId4"/>
                  <a:stretch>
                    <a:fillRect b="-11765"/>
                  </a:stretch>
                </a:blipFill>
                <a:ln>
                  <a:noFill/>
                </a:ln>
                <a:effectLst/>
              </p:spPr>
              <p:txBody>
                <a:bodyPr/>
                <a:lstStyle/>
                <a:p>
                  <a:r>
                    <a:rPr lang="en-US">
                      <a:noFill/>
                    </a:rPr>
                    <a:t> </a:t>
                  </a:r>
                </a:p>
              </p:txBody>
            </p:sp>
          </mc:Fallback>
        </mc:AlternateContent>
        <p:sp>
          <p:nvSpPr>
            <p:cNvPr id="9" name="Text Box 19">
              <a:extLst>
                <a:ext uri="{FF2B5EF4-FFF2-40B4-BE49-F238E27FC236}">
                  <a16:creationId xmlns:a16="http://schemas.microsoft.com/office/drawing/2014/main" id="{0A4AB436-1782-4182-97D2-FD5C2B50A032}"/>
                </a:ext>
              </a:extLst>
            </p:cNvPr>
            <p:cNvSpPr txBox="1">
              <a:spLocks noChangeArrowheads="1"/>
            </p:cNvSpPr>
            <p:nvPr/>
          </p:nvSpPr>
          <p:spPr bwMode="auto">
            <a:xfrm>
              <a:off x="1670" y="1271"/>
              <a:ext cx="2095" cy="3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dirty="0">
                  <a:latin typeface="+mn-lt"/>
                  <a:ea typeface="华文楷体" panose="02010600040101010101" pitchFamily="2" charset="-122"/>
                </a:rPr>
                <a:t>的大球和       的小球</a:t>
              </a:r>
            </a:p>
          </p:txBody>
        </p:sp>
      </p:grpSp>
      <mc:AlternateContent xmlns:mc="http://schemas.openxmlformats.org/markup-compatibility/2006" xmlns:a14="http://schemas.microsoft.com/office/drawing/2010/main">
        <mc:Choice Requires="a14">
          <p:sp>
            <p:nvSpPr>
              <p:cNvPr id="10" name="Object 28">
                <a:extLst>
                  <a:ext uri="{FF2B5EF4-FFF2-40B4-BE49-F238E27FC236}">
                    <a16:creationId xmlns:a16="http://schemas.microsoft.com/office/drawing/2014/main" id="{227C2429-6822-446A-9E09-66D0FAD3215F}"/>
                  </a:ext>
                </a:extLst>
              </p:cNvPr>
              <p:cNvSpPr txBox="1"/>
              <p:nvPr/>
            </p:nvSpPr>
            <p:spPr bwMode="auto">
              <a:xfrm>
                <a:off x="2301665" y="2835671"/>
                <a:ext cx="2159000" cy="601663"/>
              </a:xfrm>
              <a:prstGeom prst="rect">
                <a:avLst/>
              </a:prstGeom>
              <a:noFill/>
              <a:ln>
                <a:noFill/>
              </a:ln>
              <a:effectLst/>
            </p:spPr>
            <p:txBody>
              <a:bodyPr>
                <a:normAutofit/>
              </a:bodyPr>
              <a:lstStyle/>
              <a:p>
                <a:pPr/>
                <a14:m>
                  <m:oMathPara xmlns:m="http://schemas.openxmlformats.org/officeDocument/2006/math">
                    <m:oMathParaPr>
                      <m:jc m:val="centerGroup"/>
                    </m:oMathParaPr>
                    <m:oMath xmlns:m="http://schemas.openxmlformats.org/officeDocument/2006/math">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e>
                        <m:sub>
                          <m:r>
                            <a:rPr lang="en-US" sz="2800" b="0" i="1">
                              <a:solidFill>
                                <a:srgbClr val="000000"/>
                              </a:solidFill>
                              <a:latin typeface="Cambria Math" panose="02040503050406030204" pitchFamily="18" charset="0"/>
                            </a:rPr>
                            <m:t>+</m:t>
                          </m:r>
                        </m:sub>
                      </m:sSub>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𝐸</m:t>
                              </m:r>
                            </m:e>
                          </m:acc>
                        </m:e>
                        <m:sub>
                          <m:r>
                            <a:rPr lang="en-US" sz="2800" b="0" i="1">
                              <a:solidFill>
                                <a:srgbClr val="000000"/>
                              </a:solidFill>
                              <a:latin typeface="Cambria Math" panose="02040503050406030204" pitchFamily="18" charset="0"/>
                            </a:rPr>
                            <m:t>−</m:t>
                          </m:r>
                        </m:sub>
                      </m:sSub>
                    </m:oMath>
                  </m:oMathPara>
                </a14:m>
                <a:endParaRPr lang="en-US" sz="2800" dirty="0"/>
              </a:p>
            </p:txBody>
          </p:sp>
        </mc:Choice>
        <mc:Fallback xmlns="">
          <p:sp>
            <p:nvSpPr>
              <p:cNvPr id="10" name="Object 28">
                <a:extLst>
                  <a:ext uri="{FF2B5EF4-FFF2-40B4-BE49-F238E27FC236}">
                    <a16:creationId xmlns:a16="http://schemas.microsoft.com/office/drawing/2014/main" id="{227C2429-6822-446A-9E09-66D0FAD3215F}"/>
                  </a:ext>
                </a:extLst>
              </p:cNvPr>
              <p:cNvSpPr txBox="1">
                <a:spLocks noRot="1" noChangeAspect="1" noMove="1" noResize="1" noEditPoints="1" noAdjustHandles="1" noChangeArrowheads="1" noChangeShapeType="1" noTextEdit="1"/>
              </p:cNvSpPr>
              <p:nvPr/>
            </p:nvSpPr>
            <p:spPr bwMode="auto">
              <a:xfrm>
                <a:off x="2301665" y="2835671"/>
                <a:ext cx="2159000" cy="601663"/>
              </a:xfrm>
              <a:prstGeom prst="rect">
                <a:avLst/>
              </a:prstGeom>
              <a:blipFill>
                <a:blip r:embed="rId5"/>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Object 29">
                <a:extLst>
                  <a:ext uri="{FF2B5EF4-FFF2-40B4-BE49-F238E27FC236}">
                    <a16:creationId xmlns:a16="http://schemas.microsoft.com/office/drawing/2014/main" id="{DFCD72E9-2602-44E7-8EDF-43B3C54AB411}"/>
                  </a:ext>
                </a:extLst>
              </p:cNvPr>
              <p:cNvSpPr txBox="1"/>
              <p:nvPr/>
            </p:nvSpPr>
            <p:spPr bwMode="auto">
              <a:xfrm>
                <a:off x="2540054" y="3479868"/>
                <a:ext cx="1471613" cy="1030288"/>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𝜌</m:t>
                          </m:r>
                          <m:r>
                            <a:rPr lang="en-US" sz="2800" b="0" i="1">
                              <a:solidFill>
                                <a:schemeClr val="tx1"/>
                              </a:solidFill>
                              <a:latin typeface="Cambria Math" panose="02040503050406030204" pitchFamily="18" charset="0"/>
                            </a:rPr>
                            <m:t>)</m:t>
                          </m:r>
                        </m:num>
                        <m:den>
                          <m:r>
                            <a:rPr lang="en-US" sz="2800" b="0" i="1">
                              <a:solidFill>
                                <a:schemeClr val="tx1"/>
                              </a:solidFill>
                              <a:latin typeface="Cambria Math" panose="02040503050406030204" pitchFamily="18" charset="0"/>
                            </a:rPr>
                            <m:t>3</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𝜀</m:t>
                              </m:r>
                            </m:e>
                            <m:sub>
                              <m:r>
                                <a:rPr lang="en-US" sz="2800" b="0" i="1">
                                  <a:solidFill>
                                    <a:schemeClr val="tx1"/>
                                  </a:solidFill>
                                  <a:latin typeface="Cambria Math" panose="02040503050406030204" pitchFamily="18" charset="0"/>
                                </a:rPr>
                                <m:t>0</m:t>
                              </m:r>
                            </m:sub>
                          </m:sSub>
                        </m:den>
                      </m:f>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b="0" i="1">
                                  <a:solidFill>
                                    <a:schemeClr val="tx1"/>
                                  </a:solidFill>
                                  <a:latin typeface="Cambria Math" panose="02040503050406030204" pitchFamily="18" charset="0"/>
                                </a:rPr>
                                <m:t>𝑟</m:t>
                              </m:r>
                            </m:e>
                          </m:acc>
                        </m:e>
                        <m:sub>
                          <m:r>
                            <a:rPr lang="en-US" sz="2800" b="0" i="1">
                              <a:solidFill>
                                <a:schemeClr val="tx1"/>
                              </a:solidFill>
                              <a:latin typeface="Cambria Math" panose="02040503050406030204" pitchFamily="18" charset="0"/>
                            </a:rPr>
                            <m:t>1</m:t>
                          </m:r>
                        </m:sub>
                      </m:sSub>
                    </m:oMath>
                  </m:oMathPara>
                </a14:m>
                <a:endParaRPr lang="en-US" sz="2800" dirty="0">
                  <a:solidFill>
                    <a:schemeClr val="tx1"/>
                  </a:solidFill>
                </a:endParaRPr>
              </a:p>
            </p:txBody>
          </p:sp>
        </mc:Choice>
        <mc:Fallback xmlns="">
          <p:sp>
            <p:nvSpPr>
              <p:cNvPr id="11" name="Object 29">
                <a:extLst>
                  <a:ext uri="{FF2B5EF4-FFF2-40B4-BE49-F238E27FC236}">
                    <a16:creationId xmlns:a16="http://schemas.microsoft.com/office/drawing/2014/main" id="{DFCD72E9-2602-44E7-8EDF-43B3C54AB411}"/>
                  </a:ext>
                </a:extLst>
              </p:cNvPr>
              <p:cNvSpPr txBox="1">
                <a:spLocks noRot="1" noChangeAspect="1" noMove="1" noResize="1" noEditPoints="1" noAdjustHandles="1" noChangeArrowheads="1" noChangeShapeType="1" noTextEdit="1"/>
              </p:cNvSpPr>
              <p:nvPr/>
            </p:nvSpPr>
            <p:spPr bwMode="auto">
              <a:xfrm>
                <a:off x="2540054" y="3479868"/>
                <a:ext cx="1471613" cy="1030288"/>
              </a:xfrm>
              <a:prstGeom prst="rect">
                <a:avLst/>
              </a:prstGeom>
              <a:blipFill>
                <a:blip r:embed="rId6"/>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Object 30">
                <a:extLst>
                  <a:ext uri="{FF2B5EF4-FFF2-40B4-BE49-F238E27FC236}">
                    <a16:creationId xmlns:a16="http://schemas.microsoft.com/office/drawing/2014/main" id="{CBCC05CD-6042-4D5E-B4FE-F51B237C40F3}"/>
                  </a:ext>
                </a:extLst>
              </p:cNvPr>
              <p:cNvSpPr txBox="1"/>
              <p:nvPr/>
            </p:nvSpPr>
            <p:spPr bwMode="auto">
              <a:xfrm>
                <a:off x="4113267" y="3436079"/>
                <a:ext cx="1468437" cy="1027112"/>
              </a:xfrm>
              <a:prstGeom prst="rect">
                <a:avLst/>
              </a:prstGeom>
              <a:noFill/>
              <a:ln>
                <a:noFill/>
              </a:ln>
              <a:effectLst/>
            </p:spPr>
            <p:txBody>
              <a:bodyPr>
                <a:normAutofit fontScale="92500"/>
              </a:bodyPr>
              <a:lstStyle/>
              <a:p>
                <a:pPr/>
                <a14:m>
                  <m:oMathPara xmlns:m="http://schemas.openxmlformats.org/officeDocument/2006/math">
                    <m:oMathParaPr>
                      <m:jc m:val="centerGroup"/>
                    </m:oMathParaPr>
                    <m:oMath xmlns:m="http://schemas.openxmlformats.org/officeDocument/2006/math">
                      <m:r>
                        <a:rPr lang="en-US" sz="2800" b="0" i="1" smtClean="0">
                          <a:solidFill>
                            <a:schemeClr val="tx1"/>
                          </a:solidFill>
                          <a:latin typeface="Cambria Math" panose="02040503050406030204" pitchFamily="18" charset="0"/>
                        </a:rPr>
                        <m:t>+</m:t>
                      </m:r>
                      <m:f>
                        <m:fPr>
                          <m:ctrlPr>
                            <a:rPr lang="en-US" sz="2800" i="1">
                              <a:solidFill>
                                <a:schemeClr val="tx1"/>
                              </a:solidFill>
                              <a:latin typeface="Cambria Math" panose="02040503050406030204" pitchFamily="18" charset="0"/>
                            </a:rPr>
                          </m:ctrlPr>
                        </m:fPr>
                        <m:num>
                          <m:r>
                            <a:rPr lang="en-US" sz="2800" b="0" i="1">
                              <a:solidFill>
                                <a:schemeClr val="tx1"/>
                              </a:solidFill>
                              <a:latin typeface="Cambria Math" panose="02040503050406030204" pitchFamily="18" charset="0"/>
                            </a:rPr>
                            <m:t>(−</m:t>
                          </m:r>
                          <m:r>
                            <a:rPr lang="en-US" sz="2800" b="0" i="1">
                              <a:solidFill>
                                <a:schemeClr val="tx1"/>
                              </a:solidFill>
                              <a:latin typeface="Cambria Math" panose="02040503050406030204" pitchFamily="18" charset="0"/>
                            </a:rPr>
                            <m:t>𝜌</m:t>
                          </m:r>
                          <m:r>
                            <a:rPr lang="en-US" sz="2800" b="0" i="1">
                              <a:solidFill>
                                <a:schemeClr val="tx1"/>
                              </a:solidFill>
                              <a:latin typeface="Cambria Math" panose="02040503050406030204" pitchFamily="18" charset="0"/>
                            </a:rPr>
                            <m:t>)</m:t>
                          </m:r>
                        </m:num>
                        <m:den>
                          <m:r>
                            <a:rPr lang="en-US" sz="2800" b="0" i="1">
                              <a:solidFill>
                                <a:schemeClr val="tx1"/>
                              </a:solidFill>
                              <a:latin typeface="Cambria Math" panose="02040503050406030204" pitchFamily="18" charset="0"/>
                            </a:rPr>
                            <m:t>3</m:t>
                          </m:r>
                          <m:sSub>
                            <m:sSubPr>
                              <m:ctrlPr>
                                <a:rPr lang="en-US" sz="2800" i="1">
                                  <a:solidFill>
                                    <a:schemeClr val="tx1"/>
                                  </a:solidFill>
                                  <a:latin typeface="Cambria Math" panose="02040503050406030204" pitchFamily="18" charset="0"/>
                                </a:rPr>
                              </m:ctrlPr>
                            </m:sSubPr>
                            <m:e>
                              <m:r>
                                <a:rPr lang="en-US" sz="2800" b="0" i="1">
                                  <a:solidFill>
                                    <a:schemeClr val="tx1"/>
                                  </a:solidFill>
                                  <a:latin typeface="Cambria Math" panose="02040503050406030204" pitchFamily="18" charset="0"/>
                                </a:rPr>
                                <m:t>𝜀</m:t>
                              </m:r>
                            </m:e>
                            <m:sub>
                              <m:r>
                                <a:rPr lang="en-US" sz="2800" b="0" i="1">
                                  <a:solidFill>
                                    <a:schemeClr val="tx1"/>
                                  </a:solidFill>
                                  <a:latin typeface="Cambria Math" panose="02040503050406030204" pitchFamily="18" charset="0"/>
                                </a:rPr>
                                <m:t>0</m:t>
                              </m:r>
                            </m:sub>
                          </m:sSub>
                        </m:den>
                      </m:f>
                      <m:sSub>
                        <m:sSubPr>
                          <m:ctrlPr>
                            <a:rPr lang="en-US" sz="2800" i="1">
                              <a:solidFill>
                                <a:schemeClr val="tx1"/>
                              </a:solidFill>
                              <a:latin typeface="Cambria Math" panose="02040503050406030204" pitchFamily="18" charset="0"/>
                            </a:rPr>
                          </m:ctrlPr>
                        </m:sSubPr>
                        <m:e>
                          <m:acc>
                            <m:accPr>
                              <m:chr m:val="⃗"/>
                              <m:ctrlPr>
                                <a:rPr lang="en-US" sz="2800" i="1">
                                  <a:solidFill>
                                    <a:schemeClr val="tx1"/>
                                  </a:solidFill>
                                  <a:latin typeface="Cambria Math" panose="02040503050406030204" pitchFamily="18" charset="0"/>
                                </a:rPr>
                              </m:ctrlPr>
                            </m:accPr>
                            <m:e>
                              <m:r>
                                <a:rPr lang="en-US" sz="2800" b="0" i="1">
                                  <a:solidFill>
                                    <a:schemeClr val="tx1"/>
                                  </a:solidFill>
                                  <a:latin typeface="Cambria Math" panose="02040503050406030204" pitchFamily="18" charset="0"/>
                                </a:rPr>
                                <m:t>𝑟</m:t>
                              </m:r>
                            </m:e>
                          </m:acc>
                        </m:e>
                        <m:sub>
                          <m:r>
                            <a:rPr lang="en-US" sz="2800" b="0" i="1">
                              <a:solidFill>
                                <a:schemeClr val="tx1"/>
                              </a:solidFill>
                              <a:latin typeface="Cambria Math" panose="02040503050406030204" pitchFamily="18" charset="0"/>
                            </a:rPr>
                            <m:t>2</m:t>
                          </m:r>
                        </m:sub>
                      </m:sSub>
                    </m:oMath>
                  </m:oMathPara>
                </a14:m>
                <a:endParaRPr lang="en-US" sz="2800" dirty="0">
                  <a:solidFill>
                    <a:schemeClr val="tx1"/>
                  </a:solidFill>
                </a:endParaRPr>
              </a:p>
            </p:txBody>
          </p:sp>
        </mc:Choice>
        <mc:Fallback xmlns="">
          <p:sp>
            <p:nvSpPr>
              <p:cNvPr id="12" name="Object 30">
                <a:extLst>
                  <a:ext uri="{FF2B5EF4-FFF2-40B4-BE49-F238E27FC236}">
                    <a16:creationId xmlns:a16="http://schemas.microsoft.com/office/drawing/2014/main" id="{CBCC05CD-6042-4D5E-B4FE-F51B237C40F3}"/>
                  </a:ext>
                </a:extLst>
              </p:cNvPr>
              <p:cNvSpPr txBox="1">
                <a:spLocks noRot="1" noChangeAspect="1" noMove="1" noResize="1" noEditPoints="1" noAdjustHandles="1" noChangeArrowheads="1" noChangeShapeType="1" noTextEdit="1"/>
              </p:cNvSpPr>
              <p:nvPr/>
            </p:nvSpPr>
            <p:spPr bwMode="auto">
              <a:xfrm>
                <a:off x="4113267" y="3436079"/>
                <a:ext cx="1468437" cy="1027112"/>
              </a:xfrm>
              <a:prstGeom prst="rect">
                <a:avLst/>
              </a:prstGeom>
              <a:blipFill>
                <a:blip r:embed="rId7"/>
                <a:stretch>
                  <a:fillRect/>
                </a:stretch>
              </a:blipFill>
              <a:ln>
                <a:noFill/>
              </a:ln>
              <a:effectLst/>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Object 31">
                <a:extLst>
                  <a:ext uri="{FF2B5EF4-FFF2-40B4-BE49-F238E27FC236}">
                    <a16:creationId xmlns:a16="http://schemas.microsoft.com/office/drawing/2014/main" id="{3DD5A32B-EB27-41D0-A9C6-54DBD5CF6D5F}"/>
                  </a:ext>
                </a:extLst>
              </p:cNvPr>
              <p:cNvSpPr txBox="1"/>
              <p:nvPr/>
            </p:nvSpPr>
            <p:spPr bwMode="auto">
              <a:xfrm>
                <a:off x="2605142" y="4633981"/>
                <a:ext cx="2227262" cy="1065212"/>
              </a:xfrm>
              <a:prstGeom prst="rect">
                <a:avLst/>
              </a:prstGeom>
              <a:noFill/>
              <a:ln>
                <a:noFill/>
              </a:ln>
              <a:effectLst/>
            </p:spPr>
            <p:txBody>
              <a:bodyPr>
                <a:normAutofit fontScale="85000" lnSpcReduction="10000"/>
              </a:bodyPr>
              <a:lstStyle/>
              <a:p>
                <a:pPr/>
                <a14:m>
                  <m:oMathPara xmlns:m="http://schemas.openxmlformats.org/officeDocument/2006/math">
                    <m:oMathParaPr>
                      <m:jc m:val="centerGroup"/>
                    </m:oMathParaPr>
                    <m:oMath xmlns:m="http://schemas.openxmlformats.org/officeDocument/2006/math">
                      <m:r>
                        <a:rPr lang="en-US" sz="2800" b="0" i="1">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𝜌</m:t>
                          </m:r>
                        </m:num>
                        <m:den>
                          <m:r>
                            <a:rPr lang="en-US" sz="2800" b="0" i="1">
                              <a:solidFill>
                                <a:srgbClr val="000000"/>
                              </a:solidFill>
                              <a:latin typeface="Cambria Math" panose="02040503050406030204" pitchFamily="18" charset="0"/>
                            </a:rPr>
                            <m:t>3</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𝑟</m:t>
                              </m:r>
                            </m:e>
                          </m:acc>
                        </m:e>
                        <m:sub>
                          <m:r>
                            <a:rPr lang="en-US" sz="2800" b="0" i="1">
                              <a:solidFill>
                                <a:srgbClr val="000000"/>
                              </a:solidFill>
                              <a:latin typeface="Cambria Math" panose="02040503050406030204" pitchFamily="18" charset="0"/>
                            </a:rPr>
                            <m:t>1</m:t>
                          </m:r>
                        </m:sub>
                      </m:sSub>
                      <m:r>
                        <a:rPr lang="en-US" sz="2800" b="0" i="1">
                          <a:solidFill>
                            <a:srgbClr val="000000"/>
                          </a:solidFill>
                          <a:latin typeface="Cambria Math" panose="02040503050406030204" pitchFamily="18" charset="0"/>
                        </a:rPr>
                        <m:t>−</m:t>
                      </m:r>
                      <m:sSub>
                        <m:sSubPr>
                          <m:ctrlPr>
                            <a:rPr lang="en-US" sz="2800" i="1">
                              <a:solidFill>
                                <a:srgbClr val="000000"/>
                              </a:solidFill>
                              <a:latin typeface="Cambria Math" panose="02040503050406030204" pitchFamily="18" charset="0"/>
                            </a:rPr>
                          </m:ctrlPr>
                        </m:sSubPr>
                        <m:e>
                          <m:acc>
                            <m:accPr>
                              <m:chr m:val="⃗"/>
                              <m:ctrlPr>
                                <a:rPr lang="en-US" sz="2800" i="1">
                                  <a:solidFill>
                                    <a:srgbClr val="000000"/>
                                  </a:solidFill>
                                  <a:latin typeface="Cambria Math" panose="02040503050406030204" pitchFamily="18" charset="0"/>
                                </a:rPr>
                              </m:ctrlPr>
                            </m:accPr>
                            <m:e>
                              <m:r>
                                <a:rPr lang="en-US" sz="2800" b="0" i="1">
                                  <a:solidFill>
                                    <a:srgbClr val="000000"/>
                                  </a:solidFill>
                                  <a:latin typeface="Cambria Math" panose="02040503050406030204" pitchFamily="18" charset="0"/>
                                </a:rPr>
                                <m:t>𝑟</m:t>
                              </m:r>
                            </m:e>
                          </m:acc>
                        </m:e>
                        <m:sub>
                          <m:r>
                            <a:rPr lang="en-US" sz="2800" b="0" i="1">
                              <a:solidFill>
                                <a:srgbClr val="000000"/>
                              </a:solidFill>
                              <a:latin typeface="Cambria Math" panose="02040503050406030204" pitchFamily="18" charset="0"/>
                            </a:rPr>
                            <m:t>2</m:t>
                          </m:r>
                        </m:sub>
                      </m:sSub>
                      <m:r>
                        <a:rPr lang="en-US" sz="2800" b="0" i="1">
                          <a:solidFill>
                            <a:srgbClr val="000000"/>
                          </a:solidFill>
                          <a:latin typeface="Cambria Math" panose="02040503050406030204" pitchFamily="18" charset="0"/>
                        </a:rPr>
                        <m:t>)</m:t>
                      </m:r>
                    </m:oMath>
                  </m:oMathPara>
                </a14:m>
                <a:endParaRPr lang="en-US" sz="2800" dirty="0"/>
              </a:p>
            </p:txBody>
          </p:sp>
        </mc:Choice>
        <mc:Fallback xmlns="">
          <p:sp>
            <p:nvSpPr>
              <p:cNvPr id="13" name="Object 31">
                <a:extLst>
                  <a:ext uri="{FF2B5EF4-FFF2-40B4-BE49-F238E27FC236}">
                    <a16:creationId xmlns:a16="http://schemas.microsoft.com/office/drawing/2014/main" id="{3DD5A32B-EB27-41D0-A9C6-54DBD5CF6D5F}"/>
                  </a:ext>
                </a:extLst>
              </p:cNvPr>
              <p:cNvSpPr txBox="1">
                <a:spLocks noRot="1" noChangeAspect="1" noMove="1" noResize="1" noEditPoints="1" noAdjustHandles="1" noChangeArrowheads="1" noChangeShapeType="1" noTextEdit="1"/>
              </p:cNvSpPr>
              <p:nvPr/>
            </p:nvSpPr>
            <p:spPr bwMode="auto">
              <a:xfrm>
                <a:off x="2605142" y="4633981"/>
                <a:ext cx="2227262" cy="1065212"/>
              </a:xfrm>
              <a:prstGeom prst="rect">
                <a:avLst/>
              </a:prstGeom>
              <a:blipFill>
                <a:blip r:embed="rId8"/>
                <a:stretch>
                  <a:fillRect/>
                </a:stretch>
              </a:blipFill>
              <a:ln>
                <a:noFill/>
              </a:ln>
              <a:effectLst/>
            </p:spPr>
            <p:txBody>
              <a:bodyPr/>
              <a:lstStyle/>
              <a:p>
                <a:r>
                  <a:rPr lang="en-US">
                    <a:noFill/>
                  </a:rPr>
                  <a:t> </a:t>
                </a:r>
              </a:p>
            </p:txBody>
          </p:sp>
        </mc:Fallback>
      </mc:AlternateContent>
      <p:sp>
        <p:nvSpPr>
          <p:cNvPr id="14" name="Text Box 32">
            <a:extLst>
              <a:ext uri="{FF2B5EF4-FFF2-40B4-BE49-F238E27FC236}">
                <a16:creationId xmlns:a16="http://schemas.microsoft.com/office/drawing/2014/main" id="{508BA97F-94A4-408D-93D8-6279C86D0E32}"/>
              </a:ext>
            </a:extLst>
          </p:cNvPr>
          <p:cNvSpPr txBox="1">
            <a:spLocks noChangeArrowheads="1"/>
          </p:cNvSpPr>
          <p:nvPr/>
        </p:nvSpPr>
        <p:spPr bwMode="auto">
          <a:xfrm>
            <a:off x="4689529" y="6063391"/>
            <a:ext cx="2016125"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699">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defTabSz="762000">
              <a:spcBef>
                <a:spcPct val="20000"/>
              </a:spcBef>
              <a:buChar char="•"/>
              <a:defRPr kumimoji="1" sz="3200">
                <a:solidFill>
                  <a:schemeClr val="tx1"/>
                </a:solidFill>
                <a:latin typeface="Times New Roman" panose="02020603050405020304" pitchFamily="18" charset="0"/>
                <a:ea typeface="宋体" panose="02010600030101010101" pitchFamily="2" charset="-122"/>
              </a:defRPr>
            </a:lvl1pPr>
            <a:lvl2pPr marL="742950" indent="-285750" defTabSz="762000">
              <a:spcBef>
                <a:spcPct val="20000"/>
              </a:spcBef>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defTabSz="762000">
              <a:spcBef>
                <a:spcPct val="20000"/>
              </a:spcBef>
              <a:buChar char="•"/>
              <a:defRPr kumimoji="1" sz="2400">
                <a:solidFill>
                  <a:schemeClr val="tx1"/>
                </a:solidFill>
                <a:latin typeface="Times New Roman" panose="02020603050405020304" pitchFamily="18" charset="0"/>
                <a:ea typeface="宋体" panose="02010600030101010101" pitchFamily="2" charset="-122"/>
              </a:defRPr>
            </a:lvl3pPr>
            <a:lvl4pPr marL="16002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defTabSz="762000">
              <a:spcBef>
                <a:spcPct val="20000"/>
              </a:spcBef>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defTabSz="762000" eaLnBrk="0" fontAlgn="base" hangingPunct="0">
              <a:spcBef>
                <a:spcPct val="20000"/>
              </a:spcBef>
              <a:spcAft>
                <a:spcPct val="0"/>
              </a:spcAft>
              <a:buChar char="»"/>
              <a:defRPr kumimoji="1" sz="2000">
                <a:solidFill>
                  <a:schemeClr val="tx1"/>
                </a:solidFill>
                <a:latin typeface="Times New Roman" panose="02020603050405020304" pitchFamily="18" charset="0"/>
                <a:ea typeface="宋体" panose="02010600030101010101" pitchFamily="2" charset="-122"/>
              </a:defRPr>
            </a:lvl9pPr>
          </a:lstStyle>
          <a:p>
            <a:pPr>
              <a:spcBef>
                <a:spcPct val="0"/>
              </a:spcBef>
              <a:buFontTx/>
              <a:buNone/>
            </a:pPr>
            <a:r>
              <a:rPr lang="zh-CN" altLang="en-US" sz="2800" dirty="0">
                <a:solidFill>
                  <a:srgbClr val="000000"/>
                </a:solidFill>
                <a:latin typeface="+mn-lt"/>
                <a:ea typeface="华文楷体" panose="02010600040101010101" pitchFamily="2" charset="-122"/>
              </a:rPr>
              <a:t>均匀电场！</a:t>
            </a:r>
          </a:p>
        </p:txBody>
      </p:sp>
      <mc:AlternateContent xmlns:mc="http://schemas.openxmlformats.org/markup-compatibility/2006" xmlns:a14="http://schemas.microsoft.com/office/drawing/2010/main">
        <mc:Choice Requires="a14">
          <p:sp>
            <p:nvSpPr>
              <p:cNvPr id="15" name="Object 33">
                <a:extLst>
                  <a:ext uri="{FF2B5EF4-FFF2-40B4-BE49-F238E27FC236}">
                    <a16:creationId xmlns:a16="http://schemas.microsoft.com/office/drawing/2014/main" id="{30A92251-E9BC-4415-B549-047683DC6644}"/>
                  </a:ext>
                </a:extLst>
              </p:cNvPr>
              <p:cNvSpPr txBox="1"/>
              <p:nvPr/>
            </p:nvSpPr>
            <p:spPr bwMode="auto">
              <a:xfrm>
                <a:off x="2628954" y="5802381"/>
                <a:ext cx="1296988" cy="1104900"/>
              </a:xfrm>
              <a:prstGeom prst="rect">
                <a:avLst/>
              </a:prstGeom>
              <a:noFill/>
              <a:ln>
                <a:noFill/>
              </a:ln>
              <a:effectLst/>
            </p:spPr>
            <p:txBody>
              <a:bodyPr>
                <a:noAutofit/>
              </a:bodyPr>
              <a:lstStyle/>
              <a:p>
                <a:pPr/>
                <a14:m>
                  <m:oMathPara xmlns:m="http://schemas.openxmlformats.org/officeDocument/2006/math">
                    <m:oMathParaPr>
                      <m:jc m:val="centerGroup"/>
                    </m:oMathParaPr>
                    <m:oMath xmlns:m="http://schemas.openxmlformats.org/officeDocument/2006/math">
                      <m:r>
                        <a:rPr lang="en-US" sz="2800" b="0" i="1" smtClean="0">
                          <a:solidFill>
                            <a:srgbClr val="000000"/>
                          </a:solidFill>
                          <a:latin typeface="Cambria Math" panose="02040503050406030204" pitchFamily="18" charset="0"/>
                        </a:rPr>
                        <m:t>=</m:t>
                      </m:r>
                      <m:f>
                        <m:fPr>
                          <m:ctrlPr>
                            <a:rPr lang="en-US" sz="2800" i="1">
                              <a:solidFill>
                                <a:srgbClr val="000000"/>
                              </a:solidFill>
                              <a:latin typeface="Cambria Math" panose="02040503050406030204" pitchFamily="18" charset="0"/>
                            </a:rPr>
                          </m:ctrlPr>
                        </m:fPr>
                        <m:num>
                          <m:r>
                            <a:rPr lang="en-US" sz="2800" b="0" i="1">
                              <a:solidFill>
                                <a:srgbClr val="000000"/>
                              </a:solidFill>
                              <a:latin typeface="Cambria Math" panose="02040503050406030204" pitchFamily="18" charset="0"/>
                            </a:rPr>
                            <m:t>𝜌</m:t>
                          </m:r>
                        </m:num>
                        <m:den>
                          <m:r>
                            <a:rPr lang="en-US" sz="2800" b="0" i="1">
                              <a:solidFill>
                                <a:srgbClr val="000000"/>
                              </a:solidFill>
                              <a:latin typeface="Cambria Math" panose="02040503050406030204" pitchFamily="18" charset="0"/>
                            </a:rPr>
                            <m:t>3</m:t>
                          </m:r>
                          <m:sSub>
                            <m:sSubPr>
                              <m:ctrlPr>
                                <a:rPr lang="en-US" sz="2800" i="1">
                                  <a:solidFill>
                                    <a:srgbClr val="000000"/>
                                  </a:solidFill>
                                  <a:latin typeface="Cambria Math" panose="02040503050406030204" pitchFamily="18" charset="0"/>
                                </a:rPr>
                              </m:ctrlPr>
                            </m:sSubPr>
                            <m:e>
                              <m:r>
                                <a:rPr lang="en-US" sz="2800" b="0" i="1">
                                  <a:solidFill>
                                    <a:srgbClr val="000000"/>
                                  </a:solidFill>
                                  <a:latin typeface="Cambria Math" panose="02040503050406030204" pitchFamily="18" charset="0"/>
                                </a:rPr>
                                <m:t>𝜀</m:t>
                              </m:r>
                            </m:e>
                            <m:sub>
                              <m:r>
                                <a:rPr lang="en-US" sz="2800" b="0" i="1">
                                  <a:solidFill>
                                    <a:srgbClr val="000000"/>
                                  </a:solidFill>
                                  <a:latin typeface="Cambria Math" panose="02040503050406030204" pitchFamily="18" charset="0"/>
                                </a:rPr>
                                <m:t>0</m:t>
                              </m:r>
                            </m:sub>
                          </m:sSub>
                        </m:den>
                      </m:f>
                      <m:groupChr>
                        <m:groupChrPr>
                          <m:chr m:val="→"/>
                          <m:pos m:val="top"/>
                          <m:vertJc m:val="bot"/>
                          <m:ctrlPr>
                            <a:rPr lang="en-US" sz="2800" i="1">
                              <a:solidFill>
                                <a:srgbClr val="000000"/>
                              </a:solidFill>
                              <a:latin typeface="Cambria Math" panose="02040503050406030204" pitchFamily="18" charset="0"/>
                            </a:rPr>
                          </m:ctrlPr>
                        </m:groupChrPr>
                        <m:e>
                          <m:r>
                            <m:rPr>
                              <m:brk/>
                            </m:rPr>
                            <a:rPr lang="en-US" sz="2800" b="0" i="1" smtClean="0">
                              <a:solidFill>
                                <a:srgbClr val="000000"/>
                              </a:solidFill>
                              <a:latin typeface="Cambria Math" panose="02040503050406030204" pitchFamily="18" charset="0"/>
                            </a:rPr>
                            <m:t>𝐿</m:t>
                          </m:r>
                        </m:e>
                      </m:groupChr>
                    </m:oMath>
                  </m:oMathPara>
                </a14:m>
                <a:endParaRPr lang="en-US" sz="2800" dirty="0"/>
              </a:p>
            </p:txBody>
          </p:sp>
        </mc:Choice>
        <mc:Fallback xmlns="">
          <p:sp>
            <p:nvSpPr>
              <p:cNvPr id="15" name="Object 33">
                <a:extLst>
                  <a:ext uri="{FF2B5EF4-FFF2-40B4-BE49-F238E27FC236}">
                    <a16:creationId xmlns:a16="http://schemas.microsoft.com/office/drawing/2014/main" id="{30A92251-E9BC-4415-B549-047683DC6644}"/>
                  </a:ext>
                </a:extLst>
              </p:cNvPr>
              <p:cNvSpPr txBox="1">
                <a:spLocks noRot="1" noChangeAspect="1" noMove="1" noResize="1" noEditPoints="1" noAdjustHandles="1" noChangeArrowheads="1" noChangeShapeType="1" noTextEdit="1"/>
              </p:cNvSpPr>
              <p:nvPr/>
            </p:nvSpPr>
            <p:spPr bwMode="auto">
              <a:xfrm>
                <a:off x="2628954" y="5802381"/>
                <a:ext cx="1296988" cy="1104900"/>
              </a:xfrm>
              <a:prstGeom prst="rect">
                <a:avLst/>
              </a:prstGeom>
              <a:blipFill>
                <a:blip r:embed="rId9"/>
                <a:stretch>
                  <a:fillRect r="-939"/>
                </a:stretch>
              </a:blipFill>
              <a:ln>
                <a:noFill/>
              </a:ln>
              <a:effectLst/>
            </p:spPr>
            <p:txBody>
              <a:bodyPr/>
              <a:lstStyle/>
              <a:p>
                <a:r>
                  <a:rPr lang="en-US">
                    <a:noFill/>
                  </a:rPr>
                  <a:t> </a:t>
                </a:r>
              </a:p>
            </p:txBody>
          </p:sp>
        </mc:Fallback>
      </mc:AlternateContent>
      <p:pic>
        <p:nvPicPr>
          <p:cNvPr id="32" name="Picture 1" descr="A picture containing diagram&#10;&#10;Description automatically generated">
            <a:extLst>
              <a:ext uri="{FF2B5EF4-FFF2-40B4-BE49-F238E27FC236}">
                <a16:creationId xmlns:a16="http://schemas.microsoft.com/office/drawing/2014/main" id="{BD5E9022-4B5E-45E5-97F0-1CA2429327E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38447" y="2709729"/>
            <a:ext cx="3955193" cy="3586953"/>
          </a:xfrm>
          <a:prstGeom prst="rect">
            <a:avLst/>
          </a:prstGeom>
          <a:noFill/>
          <a:extLst>
            <a:ext uri="{909E8E84-426E-40DD-AFC4-6F175D3DCCD1}">
              <a14:hiddenFill xmlns:a14="http://schemas.microsoft.com/office/drawing/2010/main">
                <a:solidFill>
                  <a:srgbClr val="FFFFFF"/>
                </a:solidFill>
              </a14:hiddenFill>
            </a:ext>
          </a:extLst>
        </p:spPr>
      </p:pic>
      <p:cxnSp>
        <p:nvCxnSpPr>
          <p:cNvPr id="34" name="直接箭头连接符 33">
            <a:extLst>
              <a:ext uri="{FF2B5EF4-FFF2-40B4-BE49-F238E27FC236}">
                <a16:creationId xmlns:a16="http://schemas.microsoft.com/office/drawing/2014/main" id="{D68431FB-AC08-4896-9CBA-DACC612581C3}"/>
              </a:ext>
            </a:extLst>
          </p:cNvPr>
          <p:cNvCxnSpPr/>
          <p:nvPr/>
        </p:nvCxnSpPr>
        <p:spPr>
          <a:xfrm flipV="1">
            <a:off x="9016043" y="3937000"/>
            <a:ext cx="312107" cy="566205"/>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A32B2448-8D4A-4CA9-A69C-68CCE219D63E}"/>
              </a:ext>
            </a:extLst>
          </p:cNvPr>
          <p:cNvCxnSpPr>
            <a:cxnSpLocks/>
          </p:cNvCxnSpPr>
          <p:nvPr/>
        </p:nvCxnSpPr>
        <p:spPr>
          <a:xfrm>
            <a:off x="9328150" y="3937001"/>
            <a:ext cx="304800" cy="158749"/>
          </a:xfrm>
          <a:prstGeom prst="straightConnector1">
            <a:avLst/>
          </a:prstGeom>
          <a:ln w="38100">
            <a:solidFill>
              <a:srgbClr val="FF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矩形 36">
                <a:extLst>
                  <a:ext uri="{FF2B5EF4-FFF2-40B4-BE49-F238E27FC236}">
                    <a16:creationId xmlns:a16="http://schemas.microsoft.com/office/drawing/2014/main" id="{74A85A47-AEB5-435D-8511-638736DF91DA}"/>
                  </a:ext>
                </a:extLst>
              </p:cNvPr>
              <p:cNvSpPr/>
              <p:nvPr/>
            </p:nvSpPr>
            <p:spPr>
              <a:xfrm>
                <a:off x="8711243" y="3834140"/>
                <a:ext cx="565411"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US" sz="2800" i="1" smtClean="0">
                              <a:solidFill>
                                <a:srgbClr val="FF0000"/>
                              </a:solidFill>
                              <a:latin typeface="Cambria Math" panose="02040503050406030204" pitchFamily="18" charset="0"/>
                            </a:rPr>
                          </m:ctrlPr>
                        </m:sSubPr>
                        <m:e>
                          <m:acc>
                            <m:accPr>
                              <m:chr m:val="⃗"/>
                              <m:ctrlPr>
                                <a:rPr lang="en-US" sz="2800" i="1">
                                  <a:solidFill>
                                    <a:srgbClr val="FF0000"/>
                                  </a:solidFill>
                                  <a:latin typeface="Cambria Math" panose="02040503050406030204" pitchFamily="18" charset="0"/>
                                </a:rPr>
                              </m:ctrlPr>
                            </m:accPr>
                            <m:e>
                              <m:r>
                                <a:rPr lang="en-US" sz="2800" i="1">
                                  <a:solidFill>
                                    <a:srgbClr val="FF0000"/>
                                  </a:solidFill>
                                  <a:latin typeface="Cambria Math" panose="02040503050406030204" pitchFamily="18" charset="0"/>
                                </a:rPr>
                                <m:t>𝑟</m:t>
                              </m:r>
                            </m:e>
                          </m:acc>
                        </m:e>
                        <m:sub>
                          <m:r>
                            <a:rPr lang="en-US" sz="2800" i="1">
                              <a:solidFill>
                                <a:srgbClr val="FF0000"/>
                              </a:solidFill>
                              <a:latin typeface="Cambria Math" panose="02040503050406030204" pitchFamily="18" charset="0"/>
                            </a:rPr>
                            <m:t>1</m:t>
                          </m:r>
                        </m:sub>
                      </m:sSub>
                    </m:oMath>
                  </m:oMathPara>
                </a14:m>
                <a:endParaRPr lang="en-US" sz="2800" dirty="0">
                  <a:solidFill>
                    <a:srgbClr val="FF0000"/>
                  </a:solidFill>
                </a:endParaRPr>
              </a:p>
            </p:txBody>
          </p:sp>
        </mc:Choice>
        <mc:Fallback xmlns="">
          <p:sp>
            <p:nvSpPr>
              <p:cNvPr id="37" name="矩形 36">
                <a:extLst>
                  <a:ext uri="{FF2B5EF4-FFF2-40B4-BE49-F238E27FC236}">
                    <a16:creationId xmlns:a16="http://schemas.microsoft.com/office/drawing/2014/main" id="{74A85A47-AEB5-435D-8511-638736DF91DA}"/>
                  </a:ext>
                </a:extLst>
              </p:cNvPr>
              <p:cNvSpPr>
                <a:spLocks noRot="1" noChangeAspect="1" noMove="1" noResize="1" noEditPoints="1" noAdjustHandles="1" noChangeArrowheads="1" noChangeShapeType="1" noTextEdit="1"/>
              </p:cNvSpPr>
              <p:nvPr/>
            </p:nvSpPr>
            <p:spPr>
              <a:xfrm>
                <a:off x="8711243" y="3834140"/>
                <a:ext cx="565411" cy="523220"/>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1785885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4"/>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5"/>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3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3"/>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presetSubtype="0"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p:bldP spid="11" grpId="0"/>
      <p:bldP spid="12" grpId="0"/>
      <p:bldP spid="13" grpId="0"/>
      <p:bldP spid="14" grpId="0"/>
      <p:bldP spid="15" grpId="0"/>
      <p:bldP spid="37"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227DDF66-5181-4E4F-803A-7A20BC77E014}"/>
                  </a:ext>
                </a:extLst>
              </p:cNvPr>
              <p:cNvSpPr txBox="1"/>
              <p:nvPr>
                <p:custDataLst>
                  <p:tags r:id="rId2"/>
                </p:custDataLst>
              </p:nvPr>
            </p:nvSpPr>
            <p:spPr>
              <a:xfrm>
                <a:off x="1270000" y="878840"/>
                <a:ext cx="9753600" cy="2143125"/>
              </a:xfrm>
              <a:prstGeom prst="rect">
                <a:avLst/>
              </a:prstGeom>
              <a:noFill/>
            </p:spPr>
            <p:txBody>
              <a:bodyPr vert="horz" wrap="square" rtlCol="0" anchor="ctr" anchorCtr="0">
                <a:noAutofit/>
              </a:bodyPr>
              <a:lstStyle/>
              <a:p>
                <a:pPr algn="just">
                  <a:lnSpc>
                    <a:spcPct val="150000"/>
                  </a:lnSpc>
                </a:pPr>
                <a:r>
                  <a:rPr lang="zh-CN" altLang="zh-CN" sz="2800" kern="100" dirty="0">
                    <a:latin typeface="Times New Roman" panose="02020603050405020304" pitchFamily="18" charset="0"/>
                    <a:ea typeface="宋体" panose="02010600030101010101" pitchFamily="2" charset="-122"/>
                  </a:rPr>
                  <a:t>半径为</a:t>
                </a:r>
                <a:r>
                  <a:rPr lang="en-US" altLang="zh-CN" sz="2800" i="1" kern="100" dirty="0">
                    <a:latin typeface="Times New Roman" panose="02020603050405020304" pitchFamily="18" charset="0"/>
                    <a:ea typeface="宋体" panose="02010600030101010101" pitchFamily="2" charset="-122"/>
                  </a:rPr>
                  <a:t>R</a:t>
                </a:r>
                <a:r>
                  <a:rPr lang="zh-CN" altLang="zh-CN" sz="2800" kern="100" dirty="0">
                    <a:latin typeface="Times New Roman" panose="02020603050405020304" pitchFamily="18" charset="0"/>
                    <a:ea typeface="宋体" panose="02010600030101010101" pitchFamily="2" charset="-122"/>
                  </a:rPr>
                  <a:t>的无限长圆柱体，其内部电荷体密度为</a:t>
                </a:r>
                <a14:m>
                  <m:oMath xmlns:m="http://schemas.openxmlformats.org/officeDocument/2006/math">
                    <m:r>
                      <a:rPr lang="en-US" altLang="zh-CN" sz="2800" i="1" kern="100">
                        <a:latin typeface="Cambria Math" panose="02040503050406030204" pitchFamily="18" charset="0"/>
                        <a:ea typeface="宋体" panose="02010600030101010101" pitchFamily="2" charset="-122"/>
                      </a:rPr>
                      <m:t>𝜌</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𝑎𝑟</m:t>
                    </m:r>
                    <m:r>
                      <a:rPr lang="en-US" altLang="zh-CN" sz="2800" i="1" kern="100">
                        <a:latin typeface="Cambria Math" panose="02040503050406030204" pitchFamily="18" charset="0"/>
                        <a:ea typeface="宋体" panose="02010600030101010101" pitchFamily="2" charset="-122"/>
                      </a:rPr>
                      <m:t>−</m:t>
                    </m:r>
                    <m:r>
                      <a:rPr lang="en-US" altLang="zh-CN" sz="2800" i="1" kern="100">
                        <a:latin typeface="Cambria Math" panose="02040503050406030204" pitchFamily="18" charset="0"/>
                        <a:ea typeface="宋体" panose="02010600030101010101" pitchFamily="2" charset="-122"/>
                      </a:rPr>
                      <m:t>𝑏</m:t>
                    </m:r>
                    <m:sSup>
                      <m:sSupPr>
                        <m:ctrlPr>
                          <a:rPr lang="zh-CN" altLang="zh-CN" sz="2800" i="1" kern="100">
                            <a:latin typeface="Cambria Math" panose="02040503050406030204" pitchFamily="18" charset="0"/>
                            <a:ea typeface="Cambria Math" panose="02040503050406030204" pitchFamily="18" charset="0"/>
                          </a:rPr>
                        </m:ctrlPr>
                      </m:sSupPr>
                      <m:e>
                        <m:r>
                          <a:rPr lang="en-US" altLang="zh-CN" sz="2800" i="1" kern="100">
                            <a:latin typeface="Cambria Math" panose="02040503050406030204" pitchFamily="18" charset="0"/>
                            <a:ea typeface="宋体" panose="02010600030101010101" pitchFamily="2" charset="-122"/>
                          </a:rPr>
                          <m:t>𝑟</m:t>
                        </m:r>
                      </m:e>
                      <m:sup>
                        <m:r>
                          <a:rPr lang="en-US" altLang="zh-CN" sz="2800" i="1" kern="100">
                            <a:latin typeface="Cambria Math" panose="02040503050406030204" pitchFamily="18" charset="0"/>
                            <a:ea typeface="宋体" panose="02010600030101010101" pitchFamily="2" charset="-122"/>
                          </a:rPr>
                          <m:t>2</m:t>
                        </m:r>
                      </m:sup>
                    </m:sSup>
                  </m:oMath>
                </a14:m>
                <a:r>
                  <a:rPr lang="zh-CN" altLang="zh-CN" sz="2800" kern="100" dirty="0">
                    <a:latin typeface="Times New Roman" panose="02020603050405020304" pitchFamily="18" charset="0"/>
                    <a:ea typeface="宋体" panose="02010600030101010101" pitchFamily="2" charset="-122"/>
                  </a:rPr>
                  <a:t>，其中</a:t>
                </a:r>
                <a:r>
                  <a:rPr lang="en-US" altLang="zh-CN" sz="2800" i="1" kern="100" dirty="0">
                    <a:latin typeface="Times New Roman" panose="02020603050405020304" pitchFamily="18" charset="0"/>
                    <a:ea typeface="宋体" panose="02010600030101010101" pitchFamily="2" charset="-122"/>
                  </a:rPr>
                  <a:t>r</a:t>
                </a:r>
                <a:r>
                  <a:rPr lang="zh-CN" altLang="zh-CN" sz="2800" kern="100" dirty="0">
                    <a:latin typeface="Times New Roman" panose="02020603050405020304" pitchFamily="18" charset="0"/>
                    <a:ea typeface="宋体" panose="02010600030101010101" pitchFamily="2" charset="-122"/>
                  </a:rPr>
                  <a:t>为某点到圆柱体中轴线的距离，</a:t>
                </a:r>
                <a:r>
                  <a:rPr lang="en-US" altLang="zh-CN" sz="2800" i="1" kern="100" dirty="0">
                    <a:latin typeface="Times New Roman" panose="02020603050405020304" pitchFamily="18" charset="0"/>
                    <a:ea typeface="宋体" panose="02010600030101010101" pitchFamily="2" charset="-122"/>
                  </a:rPr>
                  <a:t>a</a:t>
                </a:r>
                <a:r>
                  <a:rPr lang="zh-CN" altLang="zh-CN" sz="2800" kern="100" dirty="0">
                    <a:latin typeface="Times New Roman" panose="02020603050405020304" pitchFamily="18" charset="0"/>
                    <a:ea typeface="宋体" panose="02010600030101010101" pitchFamily="2" charset="-122"/>
                  </a:rPr>
                  <a:t>和</a:t>
                </a:r>
                <a:r>
                  <a:rPr lang="en-US" altLang="zh-CN" sz="2800" i="1" kern="100" dirty="0">
                    <a:latin typeface="Times New Roman" panose="02020603050405020304" pitchFamily="18" charset="0"/>
                    <a:ea typeface="宋体" panose="02010600030101010101" pitchFamily="2" charset="-122"/>
                  </a:rPr>
                  <a:t>b</a:t>
                </a:r>
                <a:r>
                  <a:rPr lang="zh-CN" altLang="zh-CN" sz="2800" kern="100" dirty="0">
                    <a:latin typeface="Times New Roman" panose="02020603050405020304" pitchFamily="18" charset="0"/>
                    <a:ea typeface="宋体" panose="02010600030101010101" pitchFamily="2" charset="-122"/>
                  </a:rPr>
                  <a:t>为常量，求带电圆柱体</a:t>
                </a:r>
                <a:r>
                  <a:rPr lang="zh-CN" altLang="en-US" sz="2800" kern="100" dirty="0">
                    <a:latin typeface="Times New Roman" panose="02020603050405020304" pitchFamily="18" charset="0"/>
                    <a:ea typeface="宋体" panose="02010600030101010101" pitchFamily="2" charset="-122"/>
                  </a:rPr>
                  <a:t>外</a:t>
                </a:r>
                <a:r>
                  <a:rPr lang="zh-CN" altLang="zh-CN" sz="2800" kern="100" dirty="0">
                    <a:latin typeface="Times New Roman" panose="02020603050405020304" pitchFamily="18" charset="0"/>
                    <a:ea typeface="宋体" panose="02010600030101010101" pitchFamily="2" charset="-122"/>
                  </a:rPr>
                  <a:t>电场分布。</a:t>
                </a:r>
              </a:p>
            </p:txBody>
          </p:sp>
        </mc:Choice>
        <mc:Fallback xmlns="">
          <p:sp>
            <p:nvSpPr>
              <p:cNvPr id="4" name="文本框 3">
                <a:extLst>
                  <a:ext uri="{FF2B5EF4-FFF2-40B4-BE49-F238E27FC236}">
                    <a16:creationId xmlns:a16="http://schemas.microsoft.com/office/drawing/2014/main" id="{227DDF66-5181-4E4F-803A-7A20BC77E014}"/>
                  </a:ext>
                </a:extLst>
              </p:cNvPr>
              <p:cNvSpPr txBox="1">
                <a:spLocks noRot="1" noChangeAspect="1" noMove="1" noResize="1" noEditPoints="1" noAdjustHandles="1" noChangeArrowheads="1" noChangeShapeType="1" noTextEdit="1"/>
              </p:cNvSpPr>
              <p:nvPr>
                <p:custDataLst>
                  <p:tags r:id="rId19"/>
                </p:custDataLst>
              </p:nvPr>
            </p:nvSpPr>
            <p:spPr>
              <a:xfrm>
                <a:off x="1270000" y="878840"/>
                <a:ext cx="9753600" cy="2143125"/>
              </a:xfrm>
              <a:prstGeom prst="rect">
                <a:avLst/>
              </a:prstGeom>
              <a:blipFill>
                <a:blip r:embed="rId20"/>
                <a:stretch>
                  <a:fillRect l="-1250" r="-4938" b="-227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1CED5EE9-9E57-47BD-A504-BD9CAC858394}"/>
                  </a:ext>
                </a:extLst>
              </p:cNvPr>
              <p:cNvSpPr txBox="1"/>
              <p:nvPr>
                <p:custDataLst>
                  <p:tags r:id="rId3"/>
                </p:custDataLst>
              </p:nvPr>
            </p:nvSpPr>
            <p:spPr>
              <a:xfrm>
                <a:off x="2438400" y="3386296"/>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a:latin typeface="Cambria Math" panose="02040503050406030204" pitchFamily="18" charset="0"/>
                              <a:ea typeface="Cambria Math" panose="02040503050406030204" pitchFamily="18" charset="0"/>
                            </a:rPr>
                          </m:ctrlPr>
                        </m:fPr>
                        <m:num>
                          <m:r>
                            <a:rPr lang="en-US" altLang="zh-CN" sz="2600" i="1" kern="100">
                              <a:latin typeface="Cambria Math" panose="02040503050406030204" pitchFamily="18" charset="0"/>
                              <a:ea typeface="宋体" panose="02010600030101010101" pitchFamily="2" charset="-122"/>
                            </a:rPr>
                            <m:t>4</m:t>
                          </m:r>
                          <m:r>
                            <a:rPr lang="en-US" altLang="zh-CN" sz="2600" i="1" kern="100">
                              <a:latin typeface="Cambria Math" panose="02040503050406030204" pitchFamily="18" charset="0"/>
                              <a:ea typeface="宋体" panose="02010600030101010101" pitchFamily="2" charset="-122"/>
                            </a:rPr>
                            <m:t>𝑎</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r>
                            <a:rPr lang="en-US" altLang="zh-CN" sz="2600" i="1" kern="100">
                              <a:latin typeface="Cambria Math" panose="02040503050406030204" pitchFamily="18" charset="0"/>
                              <a:ea typeface="宋体" panose="02010600030101010101" pitchFamily="2" charset="-122"/>
                            </a:rPr>
                            <m:t>−3</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3</m:t>
                              </m:r>
                            </m:sup>
                          </m:sSup>
                        </m:num>
                        <m:den>
                          <m:r>
                            <a:rPr lang="en-US" altLang="zh-CN" sz="2600" i="1" kern="100">
                              <a:latin typeface="Cambria Math" panose="02040503050406030204" pitchFamily="18" charset="0"/>
                              <a:ea typeface="宋体" panose="02010600030101010101" pitchFamily="2" charset="-122"/>
                            </a:rPr>
                            <m:t>12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1CED5EE9-9E57-47BD-A504-BD9CAC858394}"/>
                  </a:ext>
                </a:extLst>
              </p:cNvPr>
              <p:cNvSpPr txBox="1">
                <a:spLocks noRot="1" noChangeAspect="1" noMove="1" noResize="1" noEditPoints="1" noAdjustHandles="1" noChangeArrowheads="1" noChangeShapeType="1" noTextEdit="1"/>
              </p:cNvSpPr>
              <p:nvPr>
                <p:custDataLst>
                  <p:tags r:id="rId21"/>
                </p:custDataLst>
              </p:nvPr>
            </p:nvSpPr>
            <p:spPr>
              <a:xfrm>
                <a:off x="2438400" y="3386296"/>
                <a:ext cx="3073400" cy="642938"/>
              </a:xfrm>
              <a:prstGeom prst="rect">
                <a:avLst/>
              </a:prstGeom>
              <a:blipFill>
                <a:blip r:embed="rId22"/>
                <a:stretch>
                  <a:fillRect t="-9434" b="-169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77EA5836-9C85-4E6D-99B6-A3825098AFB0}"/>
                  </a:ext>
                </a:extLst>
              </p:cNvPr>
              <p:cNvSpPr txBox="1"/>
              <p:nvPr>
                <p:custDataLst>
                  <p:tags r:id="rId4"/>
                </p:custDataLst>
              </p:nvPr>
            </p:nvSpPr>
            <p:spPr>
              <a:xfrm>
                <a:off x="2374900" y="5014119"/>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a:latin typeface="Cambria Math" panose="02040503050406030204" pitchFamily="18" charset="0"/>
                              <a:ea typeface="Cambria Math" panose="02040503050406030204" pitchFamily="18" charset="0"/>
                            </a:rPr>
                          </m:ctrlPr>
                        </m:fPr>
                        <m:num>
                          <m:r>
                            <a:rPr lang="en-US" altLang="zh-CN" sz="2600" i="1" kern="100">
                              <a:latin typeface="Cambria Math" panose="02040503050406030204" pitchFamily="18" charset="0"/>
                              <a:ea typeface="宋体" panose="02010600030101010101" pitchFamily="2" charset="-122"/>
                            </a:rPr>
                            <m:t>4</m:t>
                          </m:r>
                          <m:r>
                            <a:rPr lang="en-US" altLang="zh-CN" sz="2600" i="1" kern="100">
                              <a:latin typeface="Cambria Math" panose="02040503050406030204" pitchFamily="18" charset="0"/>
                              <a:ea typeface="宋体" panose="02010600030101010101" pitchFamily="2" charset="-122"/>
                            </a:rPr>
                            <m:t>𝑎</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𝑅</m:t>
                              </m:r>
                            </m:e>
                            <m:sup>
                              <m:r>
                                <a:rPr lang="en-US" altLang="zh-CN" sz="2600" i="1" kern="100">
                                  <a:latin typeface="Cambria Math" panose="02040503050406030204" pitchFamily="18" charset="0"/>
                                  <a:ea typeface="宋体" panose="02010600030101010101" pitchFamily="2" charset="-122"/>
                                </a:rPr>
                                <m:t>3</m:t>
                              </m:r>
                            </m:sup>
                          </m:sSup>
                          <m:r>
                            <a:rPr lang="en-US" altLang="zh-CN" sz="2600" i="1" kern="100">
                              <a:latin typeface="Cambria Math" panose="02040503050406030204" pitchFamily="18" charset="0"/>
                              <a:ea typeface="宋体" panose="02010600030101010101" pitchFamily="2" charset="-122"/>
                            </a:rPr>
                            <m:t>−3</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𝑅</m:t>
                              </m:r>
                            </m:e>
                            <m:sup>
                              <m:r>
                                <a:rPr lang="en-US" altLang="zh-CN" sz="2600" i="1" kern="100">
                                  <a:latin typeface="Cambria Math" panose="02040503050406030204" pitchFamily="18" charset="0"/>
                                  <a:ea typeface="宋体" panose="02010600030101010101" pitchFamily="2" charset="-122"/>
                                </a:rPr>
                                <m:t>4</m:t>
                              </m:r>
                            </m:sup>
                          </m:sSup>
                        </m:num>
                        <m:den>
                          <m:r>
                            <a:rPr lang="en-US" altLang="zh-CN" sz="2600" i="1" kern="100">
                              <a:latin typeface="Cambria Math" panose="02040503050406030204" pitchFamily="18" charset="0"/>
                              <a:ea typeface="宋体" panose="02010600030101010101" pitchFamily="2" charset="-122"/>
                            </a:rPr>
                            <m:t>12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r>
                            <a:rPr lang="en-US" altLang="zh-CN" sz="2600" i="1" kern="100">
                              <a:latin typeface="Cambria Math" panose="02040503050406030204" pitchFamily="18" charset="0"/>
                              <a:ea typeface="宋体" panose="02010600030101010101" pitchFamily="2" charset="-122"/>
                            </a:rPr>
                            <m:t>𝑟</m:t>
                          </m:r>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6" name="文本框 5">
                <a:extLst>
                  <a:ext uri="{FF2B5EF4-FFF2-40B4-BE49-F238E27FC236}">
                    <a16:creationId xmlns:a16="http://schemas.microsoft.com/office/drawing/2014/main" id="{77EA5836-9C85-4E6D-99B6-A3825098AFB0}"/>
                  </a:ext>
                </a:extLst>
              </p:cNvPr>
              <p:cNvSpPr txBox="1">
                <a:spLocks noRot="1" noChangeAspect="1" noMove="1" noResize="1" noEditPoints="1" noAdjustHandles="1" noChangeArrowheads="1" noChangeShapeType="1" noTextEdit="1"/>
              </p:cNvSpPr>
              <p:nvPr>
                <p:custDataLst>
                  <p:tags r:id="rId23"/>
                </p:custDataLst>
              </p:nvPr>
            </p:nvSpPr>
            <p:spPr>
              <a:xfrm>
                <a:off x="2374900" y="5014119"/>
                <a:ext cx="3073400" cy="642938"/>
              </a:xfrm>
              <a:prstGeom prst="rect">
                <a:avLst/>
              </a:prstGeom>
              <a:blipFill>
                <a:blip r:embed="rId24"/>
                <a:stretch>
                  <a:fillRect t="-10476" b="-1714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F65F78E-2DCE-4A24-BCCC-E37D68C970C8}"/>
                  </a:ext>
                </a:extLst>
              </p:cNvPr>
              <p:cNvSpPr txBox="1"/>
              <p:nvPr>
                <p:custDataLst>
                  <p:tags r:id="rId5"/>
                </p:custDataLst>
              </p:nvPr>
            </p:nvSpPr>
            <p:spPr>
              <a:xfrm>
                <a:off x="7378700" y="3386296"/>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smtClean="0">
                              <a:latin typeface="Cambria Math" panose="02040503050406030204" pitchFamily="18" charset="0"/>
                              <a:ea typeface="Cambria Math" panose="02040503050406030204" pitchFamily="18" charset="0"/>
                            </a:rPr>
                          </m:ctrlPr>
                        </m:fPr>
                        <m:num>
                          <m:r>
                            <a:rPr lang="en-US" altLang="zh-CN" sz="2600" b="0" i="1" kern="100" smtClean="0">
                              <a:latin typeface="Cambria Math" panose="02040503050406030204" pitchFamily="18" charset="0"/>
                              <a:ea typeface="Cambria Math" panose="02040503050406030204" pitchFamily="18" charset="0"/>
                            </a:rPr>
                            <m:t>(</m:t>
                          </m:r>
                          <m:r>
                            <a:rPr lang="en-US" altLang="zh-CN" sz="2600" i="1" kern="100">
                              <a:latin typeface="Cambria Math" panose="02040503050406030204" pitchFamily="18" charset="0"/>
                              <a:ea typeface="宋体" panose="02010600030101010101" pitchFamily="2" charset="-122"/>
                            </a:rPr>
                            <m:t>𝑎𝑟</m:t>
                          </m:r>
                          <m:r>
                            <a:rPr lang="en-US" altLang="zh-CN" sz="2600" i="1" kern="100">
                              <a:latin typeface="Cambria Math" panose="02040503050406030204" pitchFamily="18" charset="0"/>
                              <a:ea typeface="宋体" panose="02010600030101010101" pitchFamily="2" charset="-122"/>
                            </a:rPr>
                            <m:t>−</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r>
                            <a:rPr lang="en-US" altLang="zh-CN" sz="2600" b="0" i="1" kern="100" smtClean="0">
                              <a:latin typeface="Cambria Math" panose="02040503050406030204" pitchFamily="18" charset="0"/>
                              <a:ea typeface="宋体" panose="02010600030101010101" pitchFamily="2" charset="-122"/>
                            </a:rPr>
                            <m:t>)</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𝑅</m:t>
                              </m:r>
                            </m:e>
                            <m:sup>
                              <m:r>
                                <a:rPr lang="en-US" altLang="zh-CN" sz="2600" b="0" i="1" kern="100" smtClean="0">
                                  <a:latin typeface="Cambria Math" panose="02040503050406030204" pitchFamily="18" charset="0"/>
                                  <a:ea typeface="宋体" panose="02010600030101010101" pitchFamily="2" charset="-122"/>
                                </a:rPr>
                                <m:t>2</m:t>
                              </m:r>
                            </m:sup>
                          </m:sSup>
                        </m:num>
                        <m:den>
                          <m:r>
                            <a:rPr lang="en-US" altLang="zh-CN" sz="2600" i="1" kern="100">
                              <a:latin typeface="Cambria Math" panose="02040503050406030204" pitchFamily="18" charset="0"/>
                              <a:ea typeface="宋体" panose="02010600030101010101" pitchFamily="2" charset="-122"/>
                            </a:rPr>
                            <m:t>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r>
                            <a:rPr lang="en-US" altLang="zh-CN" sz="2600" i="1" kern="100">
                              <a:latin typeface="Cambria Math" panose="02040503050406030204" pitchFamily="18" charset="0"/>
                              <a:ea typeface="宋体" panose="02010600030101010101" pitchFamily="2" charset="-122"/>
                            </a:rPr>
                            <m:t>𝑟</m:t>
                          </m:r>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7" name="文本框 6">
                <a:extLst>
                  <a:ext uri="{FF2B5EF4-FFF2-40B4-BE49-F238E27FC236}">
                    <a16:creationId xmlns:a16="http://schemas.microsoft.com/office/drawing/2014/main" id="{7F65F78E-2DCE-4A24-BCCC-E37D68C970C8}"/>
                  </a:ext>
                </a:extLst>
              </p:cNvPr>
              <p:cNvSpPr txBox="1">
                <a:spLocks noRot="1" noChangeAspect="1" noMove="1" noResize="1" noEditPoints="1" noAdjustHandles="1" noChangeArrowheads="1" noChangeShapeType="1" noTextEdit="1"/>
              </p:cNvSpPr>
              <p:nvPr>
                <p:custDataLst>
                  <p:tags r:id="rId25"/>
                </p:custDataLst>
              </p:nvPr>
            </p:nvSpPr>
            <p:spPr>
              <a:xfrm>
                <a:off x="7378700" y="3386296"/>
                <a:ext cx="3073400" cy="642938"/>
              </a:xfrm>
              <a:prstGeom prst="rect">
                <a:avLst/>
              </a:prstGeom>
              <a:blipFill>
                <a:blip r:embed="rId26"/>
                <a:stretch>
                  <a:fillRect t="-9434" b="-169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453BA24-CD3D-4991-A0BA-DCC683A8E6C3}"/>
                  </a:ext>
                </a:extLst>
              </p:cNvPr>
              <p:cNvSpPr txBox="1"/>
              <p:nvPr>
                <p:custDataLst>
                  <p:tags r:id="rId6"/>
                </p:custDataLst>
              </p:nvPr>
            </p:nvSpPr>
            <p:spPr>
              <a:xfrm>
                <a:off x="7385050" y="4885689"/>
                <a:ext cx="3073400"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zh-CN" altLang="zh-CN" sz="2600" i="1" kern="100" smtClean="0">
                              <a:latin typeface="Cambria Math" panose="02040503050406030204" pitchFamily="18" charset="0"/>
                              <a:ea typeface="Cambria Math" panose="02040503050406030204" pitchFamily="18" charset="0"/>
                            </a:rPr>
                          </m:ctrlPr>
                        </m:fPr>
                        <m:num>
                          <m:r>
                            <a:rPr lang="en-US" altLang="zh-CN" sz="2600" i="1" kern="100">
                              <a:latin typeface="Cambria Math" panose="02040503050406030204" pitchFamily="18" charset="0"/>
                              <a:ea typeface="Cambria Math" panose="02040503050406030204" pitchFamily="18" charset="0"/>
                            </a:rPr>
                            <m:t>(</m:t>
                          </m:r>
                          <m:r>
                            <a:rPr lang="en-US" altLang="zh-CN" sz="2600" i="1" kern="100">
                              <a:latin typeface="Cambria Math" panose="02040503050406030204" pitchFamily="18" charset="0"/>
                              <a:ea typeface="宋体" panose="02010600030101010101" pitchFamily="2" charset="-122"/>
                            </a:rPr>
                            <m:t>𝑎𝑟</m:t>
                          </m:r>
                          <m:r>
                            <a:rPr lang="en-US" altLang="zh-CN" sz="2600" i="1" kern="100">
                              <a:latin typeface="Cambria Math" panose="02040503050406030204" pitchFamily="18" charset="0"/>
                              <a:ea typeface="宋体" panose="02010600030101010101" pitchFamily="2" charset="-122"/>
                            </a:rPr>
                            <m:t>−</m:t>
                          </m:r>
                          <m:r>
                            <a:rPr lang="en-US" altLang="zh-CN" sz="2600" i="1" kern="100">
                              <a:latin typeface="Cambria Math" panose="02040503050406030204" pitchFamily="18" charset="0"/>
                              <a:ea typeface="宋体" panose="02010600030101010101" pitchFamily="2" charset="-122"/>
                            </a:rPr>
                            <m:t>𝑏</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i="1" kern="10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r>
                            <a:rPr lang="en-US" altLang="zh-CN" sz="2600" i="1" kern="100">
                              <a:latin typeface="Cambria Math" panose="02040503050406030204" pitchFamily="18" charset="0"/>
                              <a:ea typeface="宋体" panose="02010600030101010101" pitchFamily="2" charset="-122"/>
                            </a:rPr>
                            <m:t>)</m:t>
                          </m:r>
                          <m:sSup>
                            <m:sSupPr>
                              <m:ctrlPr>
                                <a:rPr lang="zh-CN" altLang="zh-CN" sz="2600" i="1" kern="100">
                                  <a:latin typeface="Cambria Math" panose="02040503050406030204" pitchFamily="18" charset="0"/>
                                  <a:ea typeface="Cambria Math" panose="02040503050406030204" pitchFamily="18" charset="0"/>
                                </a:rPr>
                              </m:ctrlPr>
                            </m:sSupPr>
                            <m:e>
                              <m:r>
                                <a:rPr lang="en-US" altLang="zh-CN" sz="2600" b="0" i="1" kern="100" smtClean="0">
                                  <a:latin typeface="Cambria Math" panose="02040503050406030204" pitchFamily="18" charset="0"/>
                                  <a:ea typeface="宋体" panose="02010600030101010101" pitchFamily="2" charset="-122"/>
                                </a:rPr>
                                <m:t>𝑟</m:t>
                              </m:r>
                            </m:e>
                            <m:sup>
                              <m:r>
                                <a:rPr lang="en-US" altLang="zh-CN" sz="2600" i="1" kern="100">
                                  <a:latin typeface="Cambria Math" panose="02040503050406030204" pitchFamily="18" charset="0"/>
                                  <a:ea typeface="宋体" panose="02010600030101010101" pitchFamily="2" charset="-122"/>
                                </a:rPr>
                                <m:t>2</m:t>
                              </m:r>
                            </m:sup>
                          </m:sSup>
                        </m:num>
                        <m:den>
                          <m:r>
                            <a:rPr lang="en-US" altLang="zh-CN" sz="2600" i="1" kern="100">
                              <a:latin typeface="Cambria Math" panose="02040503050406030204" pitchFamily="18" charset="0"/>
                              <a:ea typeface="宋体" panose="02010600030101010101" pitchFamily="2" charset="-122"/>
                            </a:rPr>
                            <m:t>2</m:t>
                          </m:r>
                          <m:sSub>
                            <m:sSubPr>
                              <m:ctrlPr>
                                <a:rPr lang="zh-CN" altLang="zh-CN" sz="2600" i="1" kern="100">
                                  <a:latin typeface="Cambria Math" panose="02040503050406030204" pitchFamily="18" charset="0"/>
                                  <a:ea typeface="Cambria Math" panose="02040503050406030204" pitchFamily="18" charset="0"/>
                                </a:rPr>
                              </m:ctrlPr>
                            </m:sSubPr>
                            <m:e>
                              <m:r>
                                <a:rPr lang="en-US" altLang="zh-CN" sz="2600" i="1" kern="100">
                                  <a:latin typeface="Cambria Math" panose="02040503050406030204" pitchFamily="18" charset="0"/>
                                  <a:ea typeface="宋体" panose="02010600030101010101" pitchFamily="2" charset="-122"/>
                                </a:rPr>
                                <m:t>𝜀</m:t>
                              </m:r>
                            </m:e>
                            <m:sub>
                              <m:r>
                                <a:rPr lang="en-US" altLang="zh-CN" sz="2600" i="1" kern="100">
                                  <a:latin typeface="Cambria Math" panose="02040503050406030204" pitchFamily="18" charset="0"/>
                                  <a:ea typeface="宋体" panose="02010600030101010101" pitchFamily="2" charset="-122"/>
                                </a:rPr>
                                <m:t>0</m:t>
                              </m:r>
                            </m:sub>
                          </m:sSub>
                          <m:r>
                            <a:rPr lang="en-US" altLang="zh-CN" sz="2600" i="1" kern="100">
                              <a:latin typeface="Cambria Math" panose="02040503050406030204" pitchFamily="18" charset="0"/>
                              <a:ea typeface="宋体" panose="02010600030101010101" pitchFamily="2" charset="-122"/>
                            </a:rPr>
                            <m:t>𝑟</m:t>
                          </m:r>
                        </m:den>
                      </m:f>
                    </m:oMath>
                  </m:oMathPara>
                </a14:m>
                <a:endParaRPr 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8" name="文本框 7">
                <a:extLst>
                  <a:ext uri="{FF2B5EF4-FFF2-40B4-BE49-F238E27FC236}">
                    <a16:creationId xmlns:a16="http://schemas.microsoft.com/office/drawing/2014/main" id="{4453BA24-CD3D-4991-A0BA-DCC683A8E6C3}"/>
                  </a:ext>
                </a:extLst>
              </p:cNvPr>
              <p:cNvSpPr txBox="1">
                <a:spLocks noRot="1" noChangeAspect="1" noMove="1" noResize="1" noEditPoints="1" noAdjustHandles="1" noChangeArrowheads="1" noChangeShapeType="1" noTextEdit="1"/>
              </p:cNvSpPr>
              <p:nvPr>
                <p:custDataLst>
                  <p:tags r:id="rId27"/>
                </p:custDataLst>
              </p:nvPr>
            </p:nvSpPr>
            <p:spPr>
              <a:xfrm>
                <a:off x="7385050" y="4885689"/>
                <a:ext cx="3073400" cy="642938"/>
              </a:xfrm>
              <a:prstGeom prst="rect">
                <a:avLst/>
              </a:prstGeom>
              <a:blipFill>
                <a:blip r:embed="rId28"/>
                <a:stretch>
                  <a:fillRect t="-9434" b="-16981"/>
                </a:stretch>
              </a:blipFill>
            </p:spPr>
            <p:txBody>
              <a:bodyPr/>
              <a:lstStyle/>
              <a:p>
                <a:r>
                  <a:rPr lang="en-US">
                    <a:noFill/>
                  </a:rPr>
                  <a:t> </a:t>
                </a:r>
              </a:p>
            </p:txBody>
          </p:sp>
        </mc:Fallback>
      </mc:AlternateContent>
      <p:sp>
        <p:nvSpPr>
          <p:cNvPr id="9" name="椭圆 8">
            <a:extLst>
              <a:ext uri="{FF2B5EF4-FFF2-40B4-BE49-F238E27FC236}">
                <a16:creationId xmlns:a16="http://schemas.microsoft.com/office/drawing/2014/main" id="{B1593479-215D-458A-953C-C063CAA3C35B}"/>
              </a:ext>
            </a:extLst>
          </p:cNvPr>
          <p:cNvSpPr>
            <a:spLocks noChangeAspect="1"/>
          </p:cNvSpPr>
          <p:nvPr>
            <p:custDataLst>
              <p:tags r:id="rId7"/>
            </p:custDataLst>
          </p:nvPr>
        </p:nvSpPr>
        <p:spPr>
          <a:xfrm>
            <a:off x="1571625" y="345058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p>
        </p:txBody>
      </p:sp>
      <p:sp>
        <p:nvSpPr>
          <p:cNvPr id="10" name="椭圆 9">
            <a:extLst>
              <a:ext uri="{FF2B5EF4-FFF2-40B4-BE49-F238E27FC236}">
                <a16:creationId xmlns:a16="http://schemas.microsoft.com/office/drawing/2014/main" id="{401F60B8-7C20-4F86-89D9-15BC6AE465B5}"/>
              </a:ext>
            </a:extLst>
          </p:cNvPr>
          <p:cNvSpPr>
            <a:spLocks noChangeAspect="1"/>
          </p:cNvSpPr>
          <p:nvPr>
            <p:custDataLst>
              <p:tags r:id="rId8"/>
            </p:custDataLst>
          </p:nvPr>
        </p:nvSpPr>
        <p:spPr>
          <a:xfrm>
            <a:off x="1571625" y="4885689"/>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p>
        </p:txBody>
      </p:sp>
      <p:sp>
        <p:nvSpPr>
          <p:cNvPr id="11" name="椭圆 10">
            <a:extLst>
              <a:ext uri="{FF2B5EF4-FFF2-40B4-BE49-F238E27FC236}">
                <a16:creationId xmlns:a16="http://schemas.microsoft.com/office/drawing/2014/main" id="{87DEF121-BF7B-4B39-B817-19847DAB264B}"/>
              </a:ext>
            </a:extLst>
          </p:cNvPr>
          <p:cNvSpPr>
            <a:spLocks noChangeAspect="1"/>
          </p:cNvSpPr>
          <p:nvPr>
            <p:custDataLst>
              <p:tags r:id="rId9"/>
            </p:custDataLst>
          </p:nvPr>
        </p:nvSpPr>
        <p:spPr>
          <a:xfrm>
            <a:off x="6511925" y="3450589"/>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p>
        </p:txBody>
      </p:sp>
      <p:sp>
        <p:nvSpPr>
          <p:cNvPr id="12" name="椭圆 11">
            <a:extLst>
              <a:ext uri="{FF2B5EF4-FFF2-40B4-BE49-F238E27FC236}">
                <a16:creationId xmlns:a16="http://schemas.microsoft.com/office/drawing/2014/main" id="{B26BEC9F-E97B-4CD6-924A-6329E8F38EF5}"/>
              </a:ext>
            </a:extLst>
          </p:cNvPr>
          <p:cNvSpPr>
            <a:spLocks noChangeAspect="1"/>
          </p:cNvSpPr>
          <p:nvPr>
            <p:custDataLst>
              <p:tags r:id="rId10"/>
            </p:custDataLst>
          </p:nvPr>
        </p:nvSpPr>
        <p:spPr>
          <a:xfrm>
            <a:off x="6518275" y="4949982"/>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sz="1600" dirty="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p>
        </p:txBody>
      </p:sp>
      <p:sp>
        <p:nvSpPr>
          <p:cNvPr id="13" name="矩形: 圆角 12">
            <a:extLst>
              <a:ext uri="{FF2B5EF4-FFF2-40B4-BE49-F238E27FC236}">
                <a16:creationId xmlns:a16="http://schemas.microsoft.com/office/drawing/2014/main" id="{29859428-617A-41C1-B137-11CE74AF3CC4}"/>
              </a:ext>
            </a:extLst>
          </p:cNvPr>
          <p:cNvSpPr/>
          <p:nvPr>
            <p:custDataLst>
              <p:tags r:id="rId11"/>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endParaRPr 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nvGrpSpPr>
          <p:cNvPr id="18" name="组合 17">
            <a:extLst>
              <a:ext uri="{FF2B5EF4-FFF2-40B4-BE49-F238E27FC236}">
                <a16:creationId xmlns:a16="http://schemas.microsoft.com/office/drawing/2014/main" id="{73843AE1-0FA6-4B84-9CFA-99089B923E82}"/>
              </a:ext>
            </a:extLst>
          </p:cNvPr>
          <p:cNvGrpSpPr/>
          <p:nvPr>
            <p:custDataLst>
              <p:tags r:id="rId12"/>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CE7F0EE0-A91B-4402-9DD4-43AA504624F1}"/>
                </a:ext>
              </a:extLst>
            </p:cNvPr>
            <p:cNvSpPr/>
            <p:nvPr>
              <p:custDataLst>
                <p:tags r:id="rId14"/>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ColorBlock">
              <a:extLst>
                <a:ext uri="{FF2B5EF4-FFF2-40B4-BE49-F238E27FC236}">
                  <a16:creationId xmlns:a16="http://schemas.microsoft.com/office/drawing/2014/main" id="{70BDC5F4-80CA-43FD-8A9E-5B666ECC092F}"/>
                </a:ext>
              </a:extLst>
            </p:cNvPr>
            <p:cNvSpPr/>
            <p:nvPr>
              <p:custDataLst>
                <p:tags r:id="rId15"/>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ypeText">
              <a:extLst>
                <a:ext uri="{FF2B5EF4-FFF2-40B4-BE49-F238E27FC236}">
                  <a16:creationId xmlns:a16="http://schemas.microsoft.com/office/drawing/2014/main" id="{1E33D1E7-96C4-423E-97ED-85570401B24C}"/>
                </a:ext>
              </a:extLst>
            </p:cNvPr>
            <p:cNvSpPr txBox="1"/>
            <p:nvPr>
              <p:custDataLst>
                <p:tags r:id="rId16"/>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endParaRPr 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7" name="TipText">
              <a:extLst>
                <a:ext uri="{FF2B5EF4-FFF2-40B4-BE49-F238E27FC236}">
                  <a16:creationId xmlns:a16="http://schemas.microsoft.com/office/drawing/2014/main" id="{64DD846A-E5F3-4F76-A069-C0E940350078}"/>
                </a:ext>
              </a:extLst>
            </p:cNvPr>
            <p:cNvSpPr txBox="1"/>
            <p:nvPr>
              <p:custDataLst>
                <p:tags r:id="rId17"/>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endParaRPr 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grpSp>
      <p:pic>
        <p:nvPicPr>
          <p:cNvPr id="3" name="图片 2">
            <a:extLst>
              <a:ext uri="{FF2B5EF4-FFF2-40B4-BE49-F238E27FC236}">
                <a16:creationId xmlns:a16="http://schemas.microsoft.com/office/drawing/2014/main" id="{3058682A-F802-4F29-8CD2-8F9C0202957E}"/>
              </a:ext>
            </a:extLst>
          </p:cNvPr>
          <p:cNvPicPr>
            <a:picLocks/>
          </p:cNvPicPr>
          <p:nvPr>
            <p:custDataLst>
              <p:tags r:id="rId13"/>
            </p:custDataLst>
          </p:nvPr>
        </p:nvPicPr>
        <p:blipFill>
          <a:blip r:embed="rId29">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1554744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FCD90DE-0E1B-6983-DD27-3A7FFE2B31DB}"/>
                  </a:ext>
                </a:extLst>
              </p:cNvPr>
              <p:cNvSpPr txBox="1"/>
              <p:nvPr/>
            </p:nvSpPr>
            <p:spPr>
              <a:xfrm>
                <a:off x="874702" y="-263387"/>
                <a:ext cx="10137796" cy="6074805"/>
              </a:xfrm>
              <a:prstGeom prst="rect">
                <a:avLst/>
              </a:prstGeom>
              <a:noFill/>
            </p:spPr>
            <p:txBody>
              <a:bodyPr wrap="square">
                <a:spAutoFit/>
              </a:bodyPr>
              <a:lstStyle/>
              <a:p>
                <a:pPr algn="just"/>
                <a:r>
                  <a:rPr lang="en-US" altLang="zh-CN" sz="2800" kern="100" dirty="0">
                    <a:effectLst/>
                  </a:rPr>
                  <a:t> </a:t>
                </a:r>
                <a:endParaRPr lang="zh-CN" altLang="zh-CN" sz="2800" kern="100" dirty="0">
                  <a:effectLst/>
                </a:endParaRPr>
              </a:p>
              <a:p>
                <a:pPr algn="just"/>
                <a:r>
                  <a:rPr lang="zh-CN" altLang="zh-CN" sz="2800" kern="100" dirty="0">
                    <a:effectLst/>
                  </a:rPr>
                  <a:t>利用高斯定理，做长为</a:t>
                </a:r>
                <a:r>
                  <a:rPr lang="en-US" altLang="zh-CN" sz="2800" i="1" kern="100" dirty="0">
                    <a:effectLst/>
                  </a:rPr>
                  <a:t>l</a:t>
                </a:r>
                <a:r>
                  <a:rPr lang="zh-CN" altLang="zh-CN" sz="2800" kern="100" dirty="0">
                    <a:effectLst/>
                  </a:rPr>
                  <a:t>，半径为</a:t>
                </a:r>
                <a:r>
                  <a:rPr lang="en-US" altLang="zh-CN" sz="2800" i="1" kern="100" dirty="0">
                    <a:effectLst/>
                  </a:rPr>
                  <a:t>r</a:t>
                </a:r>
                <a:r>
                  <a:rPr lang="zh-CN" altLang="zh-CN" sz="2800" kern="100" dirty="0">
                    <a:effectLst/>
                  </a:rPr>
                  <a:t>，与带电圆柱体同轴的柱形高斯面</a:t>
                </a:r>
                <a:r>
                  <a:rPr lang="en-US" altLang="zh-CN" sz="2800" i="1" kern="100" dirty="0">
                    <a:effectLst/>
                  </a:rPr>
                  <a:t>S</a:t>
                </a:r>
                <a:r>
                  <a:rPr lang="zh-CN" altLang="zh-CN" sz="2800" kern="100" dirty="0">
                    <a:effectLst/>
                  </a:rPr>
                  <a:t>，则</a:t>
                </a:r>
              </a:p>
              <a:p>
                <a:pPr algn="just"/>
                <a14:m>
                  <m:oMathPara xmlns:m="http://schemas.openxmlformats.org/officeDocument/2006/math">
                    <m:oMathParaPr>
                      <m:jc m:val="centerGroup"/>
                    </m:oMathParaPr>
                    <m:oMath xmlns:m="http://schemas.openxmlformats.org/officeDocument/2006/math">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𝑟𝑙𝐸</m:t>
                      </m:r>
                      <m:r>
                        <a:rPr lang="en-US" altLang="zh-CN" sz="2800"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num>
                        <m:den>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𝜀</m:t>
                              </m:r>
                            </m:e>
                            <m:sub>
                              <m:r>
                                <a:rPr lang="en-US" altLang="zh-CN" sz="2800" i="1" kern="100">
                                  <a:effectLst/>
                                  <a:latin typeface="Cambria Math" panose="02040503050406030204" pitchFamily="18" charset="0"/>
                                </a:rPr>
                                <m:t>0</m:t>
                              </m:r>
                            </m:sub>
                          </m:sSub>
                        </m:den>
                      </m:f>
                    </m:oMath>
                  </m:oMathPara>
                </a14:m>
                <a:endParaRPr lang="zh-CN" altLang="zh-CN" sz="2800" kern="100" dirty="0">
                  <a:effectLst/>
                </a:endParaRPr>
              </a:p>
              <a:p>
                <a:pPr algn="just"/>
                <a:r>
                  <a:rPr lang="zh-CN" altLang="zh-CN" sz="2800" kern="100" dirty="0">
                    <a:effectLst/>
                  </a:rPr>
                  <a:t>（</a:t>
                </a:r>
                <a:r>
                  <a:rPr lang="en-US" altLang="zh-CN" sz="2800" kern="100" dirty="0">
                    <a:effectLst/>
                  </a:rPr>
                  <a:t>1</a:t>
                </a:r>
                <a:r>
                  <a:rPr lang="zh-CN" altLang="zh-CN" sz="2800" kern="100" dirty="0">
                    <a:effectLst/>
                  </a:rPr>
                  <a:t>）当</a:t>
                </a:r>
                <a14:m>
                  <m:oMath xmlns:m="http://schemas.openxmlformats.org/officeDocument/2006/math">
                    <m:r>
                      <a:rPr lang="en-US" altLang="zh-CN" sz="2800" i="1" kern="100">
                        <a:effectLst/>
                        <a:latin typeface="Cambria Math" panose="02040503050406030204" pitchFamily="18" charset="0"/>
                      </a:rPr>
                      <m:t>𝑟</m:t>
                    </m:r>
                    <m:r>
                      <a:rPr lang="en-US" altLang="zh-CN" sz="2800" i="1" kern="100">
                        <a:effectLst/>
                        <a:latin typeface="Cambria Math" panose="02040503050406030204" pitchFamily="18" charset="0"/>
                      </a:rPr>
                      <m:t>&lt;</m:t>
                    </m:r>
                    <m:r>
                      <a:rPr lang="en-US" altLang="zh-CN" sz="2800" i="1" kern="100">
                        <a:effectLst/>
                        <a:latin typeface="Cambria Math" panose="02040503050406030204" pitchFamily="18" charset="0"/>
                      </a:rPr>
                      <m:t>𝑅</m:t>
                    </m:r>
                  </m:oMath>
                </a14:m>
                <a:r>
                  <a:rPr lang="zh-CN" altLang="zh-CN" sz="2800" kern="100" dirty="0">
                    <a:effectLst/>
                  </a:rPr>
                  <a:t>时，高斯面内包围的电荷的代数和为</a:t>
                </a:r>
              </a:p>
              <a:p>
                <a:pPr algn="just"/>
                <a14:m>
                  <m:oMathPara xmlns:m="http://schemas.openxmlformats.org/officeDocument/2006/math">
                    <m:oMathParaPr>
                      <m:jc m:val="centerGroup"/>
                    </m:oMathParaPr>
                    <m:oMath xmlns:m="http://schemas.openxmlformats.org/officeDocument/2006/math">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𝑉</m:t>
                          </m:r>
                        </m:sub>
                        <m:sup/>
                        <m:e>
                          <m:r>
                            <a:rPr lang="en-US" altLang="zh-CN" sz="2800" i="1" kern="100">
                              <a:effectLst/>
                              <a:latin typeface="Cambria Math" panose="02040503050406030204" pitchFamily="18" charset="0"/>
                            </a:rPr>
                            <m:t>𝜌</m:t>
                          </m:r>
                          <m:r>
                            <a:rPr lang="en-US" altLang="zh-CN" sz="2800" i="1" kern="100">
                              <a:effectLst/>
                              <a:latin typeface="Cambria Math" panose="02040503050406030204" pitchFamily="18" charset="0"/>
                            </a:rPr>
                            <m:t>𝑑𝑉</m:t>
                          </m:r>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0</m:t>
                          </m:r>
                        </m:sub>
                        <m:sup>
                          <m:r>
                            <a:rPr lang="en-US" altLang="zh-CN" sz="2800" i="1" kern="100">
                              <a:effectLst/>
                              <a:latin typeface="Cambria Math" panose="02040503050406030204" pitchFamily="18" charset="0"/>
                            </a:rPr>
                            <m:t>𝑟</m:t>
                          </m:r>
                        </m:sup>
                        <m:e>
                          <m:d>
                            <m:dPr>
                              <m:ctrlPr>
                                <a:rPr lang="zh-CN" altLang="zh-CN" sz="2800" i="1" kern="100">
                                  <a:effectLst/>
                                  <a:latin typeface="Cambria Math" panose="02040503050406030204" pitchFamily="18" charset="0"/>
                                </a:rPr>
                              </m:ctrlPr>
                            </m:dPr>
                            <m:e>
                              <m:r>
                                <a:rPr lang="en-US" altLang="zh-CN" sz="2800" i="1" kern="100">
                                  <a:effectLst/>
                                  <a:latin typeface="Cambria Math" panose="02040503050406030204" pitchFamily="18" charset="0"/>
                                </a:rPr>
                                <m:t>𝑎𝑟</m:t>
                              </m:r>
                              <m:r>
                                <a:rPr lang="en-US" altLang="zh-CN" sz="2800" i="1" kern="100">
                                  <a:effectLst/>
                                  <a:latin typeface="Cambria Math" panose="02040503050406030204" pitchFamily="18" charset="0"/>
                                </a:rPr>
                                <m:t>−</m:t>
                              </m:r>
                              <m:r>
                                <a:rPr lang="en-US" altLang="zh-CN" sz="2800" i="1" kern="100">
                                  <a:effectLst/>
                                  <a:latin typeface="Cambria Math" panose="02040503050406030204" pitchFamily="18" charset="0"/>
                                </a:rPr>
                                <m:t>𝑏</m:t>
                              </m:r>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2</m:t>
                                  </m:r>
                                </m:sup>
                              </m:sSup>
                            </m:e>
                          </m:d>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𝑟𝑙𝑑𝑟</m:t>
                          </m:r>
                        </m:e>
                      </m:nary>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𝑙</m:t>
                      </m:r>
                      <m:d>
                        <m:dPr>
                          <m:ctrlPr>
                            <a:rPr lang="zh-CN" altLang="zh-CN" sz="2800" i="1" kern="100">
                              <a:effectLst/>
                              <a:latin typeface="Cambria Math" panose="02040503050406030204" pitchFamily="18" charset="0"/>
                            </a:rPr>
                          </m:ctrlPr>
                        </m:dPr>
                        <m:e>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𝑎</m:t>
                              </m:r>
                            </m:num>
                            <m:den>
                              <m:r>
                                <a:rPr lang="en-US" altLang="zh-CN" sz="2800" i="1" kern="100">
                                  <a:effectLst/>
                                  <a:latin typeface="Cambria Math" panose="02040503050406030204" pitchFamily="18" charset="0"/>
                                </a:rPr>
                                <m:t>3</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3</m:t>
                              </m:r>
                            </m:sup>
                          </m:sSup>
                          <m:r>
                            <a:rPr lang="en-US" altLang="zh-CN" sz="2800" i="1"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𝑏</m:t>
                              </m:r>
                            </m:num>
                            <m:den>
                              <m:r>
                                <a:rPr lang="en-US" altLang="zh-CN" sz="2800" i="1" kern="100">
                                  <a:effectLst/>
                                  <a:latin typeface="Cambria Math" panose="02040503050406030204" pitchFamily="18" charset="0"/>
                                </a:rPr>
                                <m:t>4</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4</m:t>
                              </m:r>
                            </m:sup>
                          </m:sSup>
                        </m:e>
                      </m:d>
                    </m:oMath>
                  </m:oMathPara>
                </a14:m>
                <a:endParaRPr lang="zh-CN" altLang="zh-CN" sz="2800" kern="100" dirty="0">
                  <a:effectLst/>
                </a:endParaRPr>
              </a:p>
              <a:p>
                <a:pPr algn="just"/>
                <a:r>
                  <a:rPr lang="en-US" altLang="zh-CN" sz="2800" kern="100" dirty="0">
                    <a:effectLst/>
                  </a:rPr>
                  <a:t>     </a:t>
                </a:r>
                <a:endParaRPr lang="zh-CN" altLang="zh-CN" sz="2800" kern="100" dirty="0"/>
              </a:p>
              <a:p>
                <a:pPr algn="just"/>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rPr>
                        <m:t>𝐸</m:t>
                      </m:r>
                      <m:r>
                        <a:rPr lang="en-US" altLang="zh-CN" sz="2800" i="1" kern="100">
                          <a:latin typeface="Cambria Math" panose="02040503050406030204" pitchFamily="18" charset="0"/>
                        </a:rPr>
                        <m:t>=</m:t>
                      </m:r>
                      <m:f>
                        <m:fPr>
                          <m:ctrlPr>
                            <a:rPr lang="zh-CN" altLang="zh-CN" sz="2800" i="1" kern="100">
                              <a:latin typeface="Cambria Math" panose="02040503050406030204" pitchFamily="18" charset="0"/>
                            </a:rPr>
                          </m:ctrlPr>
                        </m:fPr>
                        <m:num>
                          <m:r>
                            <a:rPr lang="en-US" altLang="zh-CN" sz="2800" i="1" kern="100">
                              <a:latin typeface="Cambria Math" panose="02040503050406030204" pitchFamily="18" charset="0"/>
                            </a:rPr>
                            <m:t>4</m:t>
                          </m:r>
                          <m:r>
                            <a:rPr lang="en-US" altLang="zh-CN" sz="2800" i="1" kern="100">
                              <a:latin typeface="Cambria Math" panose="02040503050406030204" pitchFamily="18" charset="0"/>
                            </a:rPr>
                            <m:t>𝑎</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𝑟</m:t>
                              </m:r>
                            </m:e>
                            <m:sup>
                              <m:r>
                                <a:rPr lang="en-US" altLang="zh-CN" sz="2800" i="1" kern="100">
                                  <a:latin typeface="Cambria Math" panose="02040503050406030204" pitchFamily="18" charset="0"/>
                                </a:rPr>
                                <m:t>2</m:t>
                              </m:r>
                            </m:sup>
                          </m:sSup>
                          <m:r>
                            <a:rPr lang="en-US" altLang="zh-CN" sz="2800" i="1" kern="100">
                              <a:latin typeface="Cambria Math" panose="02040503050406030204" pitchFamily="18" charset="0"/>
                            </a:rPr>
                            <m:t>−3</m:t>
                          </m:r>
                          <m:r>
                            <a:rPr lang="en-US" altLang="zh-CN" sz="2800" i="1" kern="100">
                              <a:latin typeface="Cambria Math" panose="02040503050406030204" pitchFamily="18" charset="0"/>
                            </a:rPr>
                            <m:t>𝑏</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𝑟</m:t>
                              </m:r>
                            </m:e>
                            <m:sup>
                              <m:r>
                                <a:rPr lang="en-US" altLang="zh-CN" sz="2800" i="1" kern="100">
                                  <a:latin typeface="Cambria Math" panose="02040503050406030204" pitchFamily="18" charset="0"/>
                                </a:rPr>
                                <m:t>3</m:t>
                              </m:r>
                            </m:sup>
                          </m:sSup>
                        </m:num>
                        <m:den>
                          <m:r>
                            <a:rPr lang="en-US" altLang="zh-CN" sz="2800" i="1" kern="100">
                              <a:latin typeface="Cambria Math" panose="02040503050406030204" pitchFamily="18" charset="0"/>
                            </a:rPr>
                            <m:t>12</m:t>
                          </m:r>
                          <m:sSub>
                            <m:sSubPr>
                              <m:ctrlPr>
                                <a:rPr lang="zh-CN" altLang="zh-CN" sz="2800" i="1" kern="100">
                                  <a:latin typeface="Cambria Math" panose="02040503050406030204" pitchFamily="18" charset="0"/>
                                </a:rPr>
                              </m:ctrlPr>
                            </m:sSubPr>
                            <m:e>
                              <m:r>
                                <a:rPr lang="en-US" altLang="zh-CN" sz="2800" i="1" kern="100">
                                  <a:latin typeface="Cambria Math" panose="02040503050406030204" pitchFamily="18" charset="0"/>
                                </a:rPr>
                                <m:t>𝜀</m:t>
                              </m:r>
                            </m:e>
                            <m:sub>
                              <m:r>
                                <a:rPr lang="en-US" altLang="zh-CN" sz="2800" i="1" kern="100">
                                  <a:latin typeface="Cambria Math" panose="02040503050406030204" pitchFamily="18" charset="0"/>
                                </a:rPr>
                                <m:t>0</m:t>
                              </m:r>
                            </m:sub>
                          </m:sSub>
                        </m:den>
                      </m:f>
                    </m:oMath>
                  </m:oMathPara>
                </a14:m>
                <a:endParaRPr lang="zh-CN" altLang="zh-CN" sz="2800" kern="100" dirty="0">
                  <a:effectLst/>
                </a:endParaRPr>
              </a:p>
              <a:p>
                <a:pPr algn="just"/>
                <a:r>
                  <a:rPr lang="zh-CN" altLang="zh-CN" sz="2800" kern="100" dirty="0">
                    <a:effectLst/>
                  </a:rPr>
                  <a:t>方向沿圆柱径向。</a:t>
                </a:r>
              </a:p>
              <a:p>
                <a:pPr algn="just"/>
                <a:endParaRPr lang="zh-CN" altLang="zh-CN" sz="2800" kern="100" dirty="0">
                  <a:effectLst/>
                </a:endParaRPr>
              </a:p>
            </p:txBody>
          </p:sp>
        </mc:Choice>
        <mc:Fallback xmlns="">
          <p:sp>
            <p:nvSpPr>
              <p:cNvPr id="3" name="文本框 2">
                <a:extLst>
                  <a:ext uri="{FF2B5EF4-FFF2-40B4-BE49-F238E27FC236}">
                    <a16:creationId xmlns:a16="http://schemas.microsoft.com/office/drawing/2014/main" id="{3FCD90DE-0E1B-6983-DD27-3A7FFE2B31DB}"/>
                  </a:ext>
                </a:extLst>
              </p:cNvPr>
              <p:cNvSpPr txBox="1">
                <a:spLocks noRot="1" noChangeAspect="1" noMove="1" noResize="1" noEditPoints="1" noAdjustHandles="1" noChangeArrowheads="1" noChangeShapeType="1" noTextEdit="1"/>
              </p:cNvSpPr>
              <p:nvPr/>
            </p:nvSpPr>
            <p:spPr>
              <a:xfrm>
                <a:off x="874702" y="-263387"/>
                <a:ext cx="10137796" cy="6074805"/>
              </a:xfrm>
              <a:prstGeom prst="rect">
                <a:avLst/>
              </a:prstGeom>
              <a:blipFill>
                <a:blip r:embed="rId2"/>
                <a:stretch>
                  <a:fillRect l="-1202" r="-1202"/>
                </a:stretch>
              </a:blipFill>
            </p:spPr>
            <p:txBody>
              <a:bodyPr/>
              <a:lstStyle/>
              <a:p>
                <a:r>
                  <a:rPr lang="en-US">
                    <a:noFill/>
                  </a:rPr>
                  <a:t> </a:t>
                </a:r>
              </a:p>
            </p:txBody>
          </p:sp>
        </mc:Fallback>
      </mc:AlternateContent>
    </p:spTree>
    <p:extLst>
      <p:ext uri="{BB962C8B-B14F-4D97-AF65-F5344CB8AC3E}">
        <p14:creationId xmlns:p14="http://schemas.microsoft.com/office/powerpoint/2010/main" val="1056030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3FCD90DE-0E1B-6983-DD27-3A7FFE2B31DB}"/>
                  </a:ext>
                </a:extLst>
              </p:cNvPr>
              <p:cNvSpPr txBox="1"/>
              <p:nvPr/>
            </p:nvSpPr>
            <p:spPr>
              <a:xfrm>
                <a:off x="874702" y="-263387"/>
                <a:ext cx="10137796" cy="5213030"/>
              </a:xfrm>
              <a:prstGeom prst="rect">
                <a:avLst/>
              </a:prstGeom>
              <a:noFill/>
            </p:spPr>
            <p:txBody>
              <a:bodyPr wrap="square">
                <a:spAutoFit/>
              </a:bodyPr>
              <a:lstStyle/>
              <a:p>
                <a:pPr algn="just"/>
                <a:r>
                  <a:rPr lang="en-US" altLang="zh-CN" sz="2800" kern="100" dirty="0">
                    <a:effectLst/>
                  </a:rPr>
                  <a:t> </a:t>
                </a:r>
                <a:endParaRPr lang="zh-CN" altLang="zh-CN" sz="2800" kern="100" dirty="0">
                  <a:effectLst/>
                </a:endParaRPr>
              </a:p>
              <a:p>
                <a:pPr algn="just"/>
                <a:r>
                  <a:rPr lang="zh-CN" altLang="zh-CN" sz="2800" kern="100" dirty="0">
                    <a:effectLst/>
                  </a:rPr>
                  <a:t>利用高斯定理，做长为</a:t>
                </a:r>
                <a:r>
                  <a:rPr lang="en-US" altLang="zh-CN" sz="2800" i="1" kern="100" dirty="0">
                    <a:effectLst/>
                  </a:rPr>
                  <a:t>l</a:t>
                </a:r>
                <a:r>
                  <a:rPr lang="zh-CN" altLang="zh-CN" sz="2800" kern="100" dirty="0">
                    <a:effectLst/>
                  </a:rPr>
                  <a:t>，半径为</a:t>
                </a:r>
                <a:r>
                  <a:rPr lang="en-US" altLang="zh-CN" sz="2800" i="1" kern="100" dirty="0">
                    <a:effectLst/>
                  </a:rPr>
                  <a:t>r</a:t>
                </a:r>
                <a:r>
                  <a:rPr lang="zh-CN" altLang="zh-CN" sz="2800" kern="100" dirty="0">
                    <a:effectLst/>
                  </a:rPr>
                  <a:t>，与带电圆柱体同轴的柱形高斯面</a:t>
                </a:r>
                <a:r>
                  <a:rPr lang="en-US" altLang="zh-CN" sz="2800" i="1" kern="100" dirty="0">
                    <a:effectLst/>
                  </a:rPr>
                  <a:t>S</a:t>
                </a:r>
                <a:r>
                  <a:rPr lang="zh-CN" altLang="zh-CN" sz="2800" kern="100" dirty="0">
                    <a:effectLst/>
                  </a:rPr>
                  <a:t>，则</a:t>
                </a:r>
              </a:p>
              <a:p>
                <a:pPr algn="just"/>
                <a14:m>
                  <m:oMathPara xmlns:m="http://schemas.openxmlformats.org/officeDocument/2006/math">
                    <m:oMathParaPr>
                      <m:jc m:val="centerGroup"/>
                    </m:oMathParaPr>
                    <m:oMath xmlns:m="http://schemas.openxmlformats.org/officeDocument/2006/math">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𝑟𝑙𝐸</m:t>
                      </m:r>
                      <m:r>
                        <a:rPr lang="en-US" altLang="zh-CN" sz="2800"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num>
                        <m:den>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𝜀</m:t>
                              </m:r>
                            </m:e>
                            <m:sub>
                              <m:r>
                                <a:rPr lang="en-US" altLang="zh-CN" sz="2800" i="1" kern="100">
                                  <a:effectLst/>
                                  <a:latin typeface="Cambria Math" panose="02040503050406030204" pitchFamily="18" charset="0"/>
                                </a:rPr>
                                <m:t>0</m:t>
                              </m:r>
                            </m:sub>
                          </m:sSub>
                        </m:den>
                      </m:f>
                    </m:oMath>
                  </m:oMathPara>
                </a14:m>
                <a:endParaRPr lang="zh-CN" altLang="zh-CN" sz="2800" kern="100" dirty="0">
                  <a:effectLst/>
                </a:endParaRPr>
              </a:p>
              <a:p>
                <a:pPr algn="just"/>
                <a:r>
                  <a:rPr lang="zh-CN" altLang="zh-CN" sz="2800" kern="100" dirty="0">
                    <a:effectLst/>
                  </a:rPr>
                  <a:t>（</a:t>
                </a:r>
                <a:r>
                  <a:rPr lang="en-US" altLang="zh-CN" sz="2800" kern="100" dirty="0">
                    <a:effectLst/>
                  </a:rPr>
                  <a:t>2</a:t>
                </a:r>
                <a:r>
                  <a:rPr lang="zh-CN" altLang="zh-CN" sz="2800" kern="100" dirty="0">
                    <a:effectLst/>
                  </a:rPr>
                  <a:t>）当</a:t>
                </a:r>
                <a14:m>
                  <m:oMath xmlns:m="http://schemas.openxmlformats.org/officeDocument/2006/math">
                    <m:r>
                      <a:rPr lang="en-US" altLang="zh-CN" sz="2800" i="1" kern="100">
                        <a:effectLst/>
                        <a:latin typeface="Cambria Math" panose="02040503050406030204" pitchFamily="18" charset="0"/>
                      </a:rPr>
                      <m:t>𝑟</m:t>
                    </m:r>
                    <m:r>
                      <a:rPr lang="en-US" altLang="zh-CN" sz="2800" i="1" kern="100">
                        <a:effectLst/>
                        <a:latin typeface="Cambria Math" panose="02040503050406030204" pitchFamily="18" charset="0"/>
                      </a:rPr>
                      <m:t>&gt;</m:t>
                    </m:r>
                    <m:r>
                      <a:rPr lang="en-US" altLang="zh-CN" sz="2800" i="1" kern="100">
                        <a:effectLst/>
                        <a:latin typeface="Cambria Math" panose="02040503050406030204" pitchFamily="18" charset="0"/>
                      </a:rPr>
                      <m:t>𝑅</m:t>
                    </m:r>
                  </m:oMath>
                </a14:m>
                <a:r>
                  <a:rPr lang="zh-CN" altLang="zh-CN" sz="2800" kern="100" dirty="0">
                    <a:effectLst/>
                  </a:rPr>
                  <a:t>时，高斯面内包围的电荷的代数和为</a:t>
                </a:r>
              </a:p>
              <a:p>
                <a:pPr algn="just"/>
                <a14:m>
                  <m:oMathPara xmlns:m="http://schemas.openxmlformats.org/officeDocument/2006/math">
                    <m:oMathParaPr>
                      <m:jc m:val="centerGroup"/>
                    </m:oMathParaPr>
                    <m:oMath xmlns:m="http://schemas.openxmlformats.org/officeDocument/2006/math">
                      <m:nary>
                        <m:naryPr>
                          <m:chr m:val="∑"/>
                          <m:limLoc m:val="undOvr"/>
                          <m:subHide m:val="on"/>
                          <m:supHide m:val="on"/>
                          <m:ctrlPr>
                            <a:rPr lang="zh-CN" altLang="zh-CN" sz="2800" i="1" kern="100">
                              <a:effectLst/>
                              <a:latin typeface="Cambria Math" panose="02040503050406030204" pitchFamily="18" charset="0"/>
                            </a:rPr>
                          </m:ctrlPr>
                        </m:naryPr>
                        <m:sub/>
                        <m:sup/>
                        <m:e>
                          <m:sSub>
                            <m:sSubPr>
                              <m:ctrlPr>
                                <a:rPr lang="zh-CN" altLang="zh-CN" sz="2800" i="1" kern="100">
                                  <a:effectLst/>
                                  <a:latin typeface="Cambria Math" panose="02040503050406030204" pitchFamily="18" charset="0"/>
                                </a:rPr>
                              </m:ctrlPr>
                            </m:sSubPr>
                            <m:e>
                              <m:r>
                                <a:rPr lang="en-US" altLang="zh-CN" sz="2800" i="1" kern="100">
                                  <a:effectLst/>
                                  <a:latin typeface="Cambria Math" panose="02040503050406030204" pitchFamily="18" charset="0"/>
                                </a:rPr>
                                <m:t>𝑞</m:t>
                              </m:r>
                            </m:e>
                            <m:sub>
                              <m:r>
                                <a:rPr lang="en-US" altLang="zh-CN" sz="2800" i="1" kern="100">
                                  <a:effectLst/>
                                  <a:latin typeface="Cambria Math" panose="02040503050406030204" pitchFamily="18" charset="0"/>
                                </a:rPr>
                                <m:t>𝑖</m:t>
                              </m:r>
                            </m:sub>
                          </m:sSub>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𝑉</m:t>
                          </m:r>
                        </m:sub>
                        <m:sup/>
                        <m:e>
                          <m:r>
                            <a:rPr lang="en-US" altLang="zh-CN" sz="2800" i="1" kern="100">
                              <a:effectLst/>
                              <a:latin typeface="Cambria Math" panose="02040503050406030204" pitchFamily="18" charset="0"/>
                            </a:rPr>
                            <m:t>𝜌</m:t>
                          </m:r>
                          <m:r>
                            <a:rPr lang="en-US" altLang="zh-CN" sz="2800" i="1" kern="100">
                              <a:effectLst/>
                              <a:latin typeface="Cambria Math" panose="02040503050406030204" pitchFamily="18" charset="0"/>
                            </a:rPr>
                            <m:t>𝑑𝑉</m:t>
                          </m:r>
                        </m:e>
                      </m:nary>
                      <m:r>
                        <a:rPr lang="en-US" altLang="zh-CN" sz="2800" i="1" kern="100">
                          <a:effectLst/>
                          <a:latin typeface="Cambria Math" panose="02040503050406030204" pitchFamily="18" charset="0"/>
                        </a:rPr>
                        <m:t>=</m:t>
                      </m:r>
                      <m:nary>
                        <m:naryPr>
                          <m:limLoc m:val="subSup"/>
                          <m:ctrlPr>
                            <a:rPr lang="zh-CN" altLang="zh-CN" sz="2800" i="1" kern="100">
                              <a:effectLst/>
                              <a:latin typeface="Cambria Math" panose="02040503050406030204" pitchFamily="18" charset="0"/>
                            </a:rPr>
                          </m:ctrlPr>
                        </m:naryPr>
                        <m:sub>
                          <m:r>
                            <a:rPr lang="en-US" altLang="zh-CN" sz="2800" i="1" kern="100">
                              <a:effectLst/>
                              <a:latin typeface="Cambria Math" panose="02040503050406030204" pitchFamily="18" charset="0"/>
                            </a:rPr>
                            <m:t>0</m:t>
                          </m:r>
                        </m:sub>
                        <m:sup>
                          <m:r>
                            <a:rPr lang="en-US" altLang="zh-CN" sz="2800" i="1" kern="100">
                              <a:effectLst/>
                              <a:latin typeface="Cambria Math" panose="02040503050406030204" pitchFamily="18" charset="0"/>
                            </a:rPr>
                            <m:t>𝑅</m:t>
                          </m:r>
                        </m:sup>
                        <m:e>
                          <m:d>
                            <m:dPr>
                              <m:ctrlPr>
                                <a:rPr lang="zh-CN" altLang="zh-CN" sz="2800" i="1" kern="100">
                                  <a:effectLst/>
                                  <a:latin typeface="Cambria Math" panose="02040503050406030204" pitchFamily="18" charset="0"/>
                                </a:rPr>
                              </m:ctrlPr>
                            </m:dPr>
                            <m:e>
                              <m:r>
                                <a:rPr lang="en-US" altLang="zh-CN" sz="2800" i="1" kern="100">
                                  <a:effectLst/>
                                  <a:latin typeface="Cambria Math" panose="02040503050406030204" pitchFamily="18" charset="0"/>
                                </a:rPr>
                                <m:t>𝑎𝑟</m:t>
                              </m:r>
                              <m:r>
                                <a:rPr lang="en-US" altLang="zh-CN" sz="2800" i="1" kern="100">
                                  <a:effectLst/>
                                  <a:latin typeface="Cambria Math" panose="02040503050406030204" pitchFamily="18" charset="0"/>
                                </a:rPr>
                                <m:t>−</m:t>
                              </m:r>
                              <m:r>
                                <a:rPr lang="en-US" altLang="zh-CN" sz="2800" i="1" kern="100">
                                  <a:effectLst/>
                                  <a:latin typeface="Cambria Math" panose="02040503050406030204" pitchFamily="18" charset="0"/>
                                </a:rPr>
                                <m:t>𝑏</m:t>
                              </m:r>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𝑟</m:t>
                                  </m:r>
                                </m:e>
                                <m:sup>
                                  <m:r>
                                    <a:rPr lang="en-US" altLang="zh-CN" sz="2800" i="1" kern="100">
                                      <a:effectLst/>
                                      <a:latin typeface="Cambria Math" panose="02040503050406030204" pitchFamily="18" charset="0"/>
                                    </a:rPr>
                                    <m:t>2</m:t>
                                  </m:r>
                                </m:sup>
                              </m:sSup>
                            </m:e>
                          </m:d>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𝑟𝑙𝑑𝑟</m:t>
                          </m:r>
                        </m:e>
                      </m:nary>
                      <m:r>
                        <a:rPr lang="en-US" altLang="zh-CN" sz="2800" i="1" kern="100">
                          <a:effectLst/>
                          <a:latin typeface="Cambria Math" panose="02040503050406030204" pitchFamily="18" charset="0"/>
                        </a:rPr>
                        <m:t>=2</m:t>
                      </m:r>
                      <m:r>
                        <a:rPr lang="en-US" altLang="zh-CN" sz="2800" i="1" kern="100">
                          <a:effectLst/>
                          <a:latin typeface="Cambria Math" panose="02040503050406030204" pitchFamily="18" charset="0"/>
                        </a:rPr>
                        <m:t>𝜋</m:t>
                      </m:r>
                      <m:r>
                        <a:rPr lang="en-US" altLang="zh-CN" sz="2800" i="1" kern="100">
                          <a:effectLst/>
                          <a:latin typeface="Cambria Math" panose="02040503050406030204" pitchFamily="18" charset="0"/>
                        </a:rPr>
                        <m:t>𝑙</m:t>
                      </m:r>
                      <m:d>
                        <m:dPr>
                          <m:ctrlPr>
                            <a:rPr lang="zh-CN" altLang="zh-CN" sz="2800" i="1" kern="100">
                              <a:effectLst/>
                              <a:latin typeface="Cambria Math" panose="02040503050406030204" pitchFamily="18" charset="0"/>
                            </a:rPr>
                          </m:ctrlPr>
                        </m:dPr>
                        <m:e>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𝑎</m:t>
                              </m:r>
                            </m:num>
                            <m:den>
                              <m:r>
                                <a:rPr lang="en-US" altLang="zh-CN" sz="2800" i="1" kern="100">
                                  <a:effectLst/>
                                  <a:latin typeface="Cambria Math" panose="02040503050406030204" pitchFamily="18" charset="0"/>
                                </a:rPr>
                                <m:t>3</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𝑅</m:t>
                              </m:r>
                            </m:e>
                            <m:sup>
                              <m:r>
                                <a:rPr lang="en-US" altLang="zh-CN" sz="2800" i="1" kern="100">
                                  <a:effectLst/>
                                  <a:latin typeface="Cambria Math" panose="02040503050406030204" pitchFamily="18" charset="0"/>
                                </a:rPr>
                                <m:t>3</m:t>
                              </m:r>
                            </m:sup>
                          </m:sSup>
                          <m:r>
                            <a:rPr lang="en-US" altLang="zh-CN" sz="2800" i="1" kern="100">
                              <a:effectLst/>
                              <a:latin typeface="Cambria Math" panose="02040503050406030204" pitchFamily="18" charset="0"/>
                            </a:rPr>
                            <m:t>−</m:t>
                          </m:r>
                          <m:f>
                            <m:fPr>
                              <m:ctrlPr>
                                <a:rPr lang="zh-CN" altLang="zh-CN" sz="2800" i="1" kern="100">
                                  <a:effectLst/>
                                  <a:latin typeface="Cambria Math" panose="02040503050406030204" pitchFamily="18" charset="0"/>
                                </a:rPr>
                              </m:ctrlPr>
                            </m:fPr>
                            <m:num>
                              <m:r>
                                <a:rPr lang="en-US" altLang="zh-CN" sz="2800" i="1" kern="100">
                                  <a:effectLst/>
                                  <a:latin typeface="Cambria Math" panose="02040503050406030204" pitchFamily="18" charset="0"/>
                                </a:rPr>
                                <m:t>𝑏</m:t>
                              </m:r>
                            </m:num>
                            <m:den>
                              <m:r>
                                <a:rPr lang="en-US" altLang="zh-CN" sz="2800" i="1" kern="100">
                                  <a:effectLst/>
                                  <a:latin typeface="Cambria Math" panose="02040503050406030204" pitchFamily="18" charset="0"/>
                                </a:rPr>
                                <m:t>4</m:t>
                              </m:r>
                            </m:den>
                          </m:f>
                          <m:sSup>
                            <m:sSupPr>
                              <m:ctrlPr>
                                <a:rPr lang="zh-CN" altLang="zh-CN" sz="2800" i="1" kern="100">
                                  <a:effectLst/>
                                  <a:latin typeface="Cambria Math" panose="02040503050406030204" pitchFamily="18" charset="0"/>
                                </a:rPr>
                              </m:ctrlPr>
                            </m:sSupPr>
                            <m:e>
                              <m:r>
                                <a:rPr lang="en-US" altLang="zh-CN" sz="2800" i="1" kern="100">
                                  <a:effectLst/>
                                  <a:latin typeface="Cambria Math" panose="02040503050406030204" pitchFamily="18" charset="0"/>
                                </a:rPr>
                                <m:t>𝑅</m:t>
                              </m:r>
                            </m:e>
                            <m:sup>
                              <m:r>
                                <a:rPr lang="en-US" altLang="zh-CN" sz="2800" i="1" kern="100">
                                  <a:effectLst/>
                                  <a:latin typeface="Cambria Math" panose="02040503050406030204" pitchFamily="18" charset="0"/>
                                </a:rPr>
                                <m:t>4</m:t>
                              </m:r>
                            </m:sup>
                          </m:sSup>
                        </m:e>
                      </m:d>
                    </m:oMath>
                  </m:oMathPara>
                </a14:m>
                <a:endParaRPr lang="zh-CN" altLang="zh-CN" sz="2800" kern="100" dirty="0">
                  <a:effectLst/>
                </a:endParaRPr>
              </a:p>
              <a:p>
                <a:pPr algn="just"/>
                <a14:m>
                  <m:oMathPara xmlns:m="http://schemas.openxmlformats.org/officeDocument/2006/math">
                    <m:oMathParaPr>
                      <m:jc m:val="centerGroup"/>
                    </m:oMathParaPr>
                    <m:oMath xmlns:m="http://schemas.openxmlformats.org/officeDocument/2006/math">
                      <m:r>
                        <a:rPr lang="en-US" altLang="zh-CN" sz="2800" i="1" kern="100">
                          <a:latin typeface="Cambria Math" panose="02040503050406030204" pitchFamily="18" charset="0"/>
                        </a:rPr>
                        <m:t>𝐸</m:t>
                      </m:r>
                      <m:r>
                        <a:rPr lang="en-US" altLang="zh-CN" sz="2800" i="1" kern="100">
                          <a:latin typeface="Cambria Math" panose="02040503050406030204" pitchFamily="18" charset="0"/>
                        </a:rPr>
                        <m:t>=</m:t>
                      </m:r>
                      <m:f>
                        <m:fPr>
                          <m:ctrlPr>
                            <a:rPr lang="zh-CN" altLang="zh-CN" sz="2800" i="1" kern="100">
                              <a:latin typeface="Cambria Math" panose="02040503050406030204" pitchFamily="18" charset="0"/>
                            </a:rPr>
                          </m:ctrlPr>
                        </m:fPr>
                        <m:num>
                          <m:r>
                            <a:rPr lang="en-US" altLang="zh-CN" sz="2800" i="1" kern="100">
                              <a:latin typeface="Cambria Math" panose="02040503050406030204" pitchFamily="18" charset="0"/>
                            </a:rPr>
                            <m:t>4</m:t>
                          </m:r>
                          <m:r>
                            <a:rPr lang="en-US" altLang="zh-CN" sz="2800" i="1" kern="100">
                              <a:latin typeface="Cambria Math" panose="02040503050406030204" pitchFamily="18" charset="0"/>
                            </a:rPr>
                            <m:t>𝑎</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𝑅</m:t>
                              </m:r>
                            </m:e>
                            <m:sup>
                              <m:r>
                                <a:rPr lang="en-US" altLang="zh-CN" sz="2800" i="1" kern="100">
                                  <a:latin typeface="Cambria Math" panose="02040503050406030204" pitchFamily="18" charset="0"/>
                                </a:rPr>
                                <m:t>3</m:t>
                              </m:r>
                            </m:sup>
                          </m:sSup>
                          <m:r>
                            <a:rPr lang="en-US" altLang="zh-CN" sz="2800" i="1" kern="100">
                              <a:latin typeface="Cambria Math" panose="02040503050406030204" pitchFamily="18" charset="0"/>
                            </a:rPr>
                            <m:t>−3</m:t>
                          </m:r>
                          <m:r>
                            <a:rPr lang="en-US" altLang="zh-CN" sz="2800" i="1" kern="100">
                              <a:latin typeface="Cambria Math" panose="02040503050406030204" pitchFamily="18" charset="0"/>
                            </a:rPr>
                            <m:t>𝑏</m:t>
                          </m:r>
                          <m:sSup>
                            <m:sSupPr>
                              <m:ctrlPr>
                                <a:rPr lang="zh-CN" altLang="zh-CN" sz="2800" i="1" kern="100">
                                  <a:latin typeface="Cambria Math" panose="02040503050406030204" pitchFamily="18" charset="0"/>
                                </a:rPr>
                              </m:ctrlPr>
                            </m:sSupPr>
                            <m:e>
                              <m:r>
                                <a:rPr lang="en-US" altLang="zh-CN" sz="2800" i="1" kern="100">
                                  <a:latin typeface="Cambria Math" panose="02040503050406030204" pitchFamily="18" charset="0"/>
                                </a:rPr>
                                <m:t>𝑅</m:t>
                              </m:r>
                            </m:e>
                            <m:sup>
                              <m:r>
                                <a:rPr lang="en-US" altLang="zh-CN" sz="2800" i="1" kern="100">
                                  <a:latin typeface="Cambria Math" panose="02040503050406030204" pitchFamily="18" charset="0"/>
                                </a:rPr>
                                <m:t>4</m:t>
                              </m:r>
                            </m:sup>
                          </m:sSup>
                        </m:num>
                        <m:den>
                          <m:r>
                            <a:rPr lang="en-US" altLang="zh-CN" sz="2800" i="1" kern="100">
                              <a:latin typeface="Cambria Math" panose="02040503050406030204" pitchFamily="18" charset="0"/>
                            </a:rPr>
                            <m:t>12</m:t>
                          </m:r>
                          <m:sSub>
                            <m:sSubPr>
                              <m:ctrlPr>
                                <a:rPr lang="zh-CN" altLang="zh-CN" sz="2800" i="1" kern="100">
                                  <a:latin typeface="Cambria Math" panose="02040503050406030204" pitchFamily="18" charset="0"/>
                                </a:rPr>
                              </m:ctrlPr>
                            </m:sSubPr>
                            <m:e>
                              <m:r>
                                <a:rPr lang="en-US" altLang="zh-CN" sz="2800" i="1" kern="100">
                                  <a:latin typeface="Cambria Math" panose="02040503050406030204" pitchFamily="18" charset="0"/>
                                </a:rPr>
                                <m:t>𝜀</m:t>
                              </m:r>
                            </m:e>
                            <m:sub>
                              <m:r>
                                <a:rPr lang="en-US" altLang="zh-CN" sz="2800" i="1" kern="100">
                                  <a:latin typeface="Cambria Math" panose="02040503050406030204" pitchFamily="18" charset="0"/>
                                </a:rPr>
                                <m:t>0</m:t>
                              </m:r>
                            </m:sub>
                          </m:sSub>
                          <m:r>
                            <a:rPr lang="en-US" altLang="zh-CN" sz="2800" i="1" kern="100">
                              <a:latin typeface="Cambria Math" panose="02040503050406030204" pitchFamily="18" charset="0"/>
                            </a:rPr>
                            <m:t>𝑟</m:t>
                          </m:r>
                        </m:den>
                      </m:f>
                    </m:oMath>
                  </m:oMathPara>
                </a14:m>
                <a:endParaRPr lang="zh-CN" altLang="zh-CN" sz="2800" kern="100" dirty="0">
                  <a:effectLst/>
                </a:endParaRPr>
              </a:p>
              <a:p>
                <a:pPr algn="just"/>
                <a:r>
                  <a:rPr lang="zh-CN" altLang="zh-CN" sz="2800" kern="100" dirty="0">
                    <a:effectLst/>
                  </a:rPr>
                  <a:t>方向沿圆柱径向。</a:t>
                </a:r>
              </a:p>
            </p:txBody>
          </p:sp>
        </mc:Choice>
        <mc:Fallback xmlns="">
          <p:sp>
            <p:nvSpPr>
              <p:cNvPr id="3" name="文本框 2">
                <a:extLst>
                  <a:ext uri="{FF2B5EF4-FFF2-40B4-BE49-F238E27FC236}">
                    <a16:creationId xmlns:a16="http://schemas.microsoft.com/office/drawing/2014/main" id="{3FCD90DE-0E1B-6983-DD27-3A7FFE2B31DB}"/>
                  </a:ext>
                </a:extLst>
              </p:cNvPr>
              <p:cNvSpPr txBox="1">
                <a:spLocks noRot="1" noChangeAspect="1" noMove="1" noResize="1" noEditPoints="1" noAdjustHandles="1" noChangeArrowheads="1" noChangeShapeType="1" noTextEdit="1"/>
              </p:cNvSpPr>
              <p:nvPr/>
            </p:nvSpPr>
            <p:spPr>
              <a:xfrm>
                <a:off x="874702" y="-263387"/>
                <a:ext cx="10137796" cy="5213030"/>
              </a:xfrm>
              <a:prstGeom prst="rect">
                <a:avLst/>
              </a:prstGeom>
              <a:blipFill>
                <a:blip r:embed="rId2"/>
                <a:stretch>
                  <a:fillRect l="-1202" r="-1202" b="-2339"/>
                </a:stretch>
              </a:blipFill>
            </p:spPr>
            <p:txBody>
              <a:bodyPr/>
              <a:lstStyle/>
              <a:p>
                <a:r>
                  <a:rPr lang="en-US">
                    <a:noFill/>
                  </a:rPr>
                  <a:t> </a:t>
                </a:r>
              </a:p>
            </p:txBody>
          </p:sp>
        </mc:Fallback>
      </mc:AlternateContent>
    </p:spTree>
    <p:extLst>
      <p:ext uri="{BB962C8B-B14F-4D97-AF65-F5344CB8AC3E}">
        <p14:creationId xmlns:p14="http://schemas.microsoft.com/office/powerpoint/2010/main" val="10585655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53DD464F-2545-386F-C162-E84C504B476F}"/>
              </a:ext>
            </a:extLst>
          </p:cNvPr>
          <p:cNvSpPr txBox="1"/>
          <p:nvPr>
            <p:custDataLst>
              <p:tags r:id="rId2"/>
            </p:custDataLst>
          </p:nvPr>
        </p:nvSpPr>
        <p:spPr>
          <a:xfrm>
            <a:off x="1219200" y="635000"/>
            <a:ext cx="9753600" cy="2143125"/>
          </a:xfrm>
          <a:prstGeom prst="rect">
            <a:avLst/>
          </a:prstGeom>
          <a:noFill/>
        </p:spPr>
        <p:txBody>
          <a:bodyPr vert="horz" wrap="square" rtlCol="0" anchor="ctr" anchorCtr="0">
            <a:noAutofit/>
          </a:bodyPr>
          <a:lstStyle/>
          <a:p>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一宽为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b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的无限长均匀带电平面薄板，其电荷密度为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σ</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，如图所示．试求平板所在平面内，距薄板边缘为</a:t>
            </a:r>
            <a:r>
              <a:rPr lang="en-US" altLang="zh-CN"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a </a:t>
            </a:r>
            <a:r>
              <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处的场强大小</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BF9D5175-0A57-30ED-7185-86BD14AB2224}"/>
                  </a:ext>
                </a:extLst>
              </p:cNvPr>
              <p:cNvSpPr txBox="1"/>
              <p:nvPr>
                <p:custDataLst>
                  <p:tags r:id="rId3"/>
                </p:custDataLst>
              </p:nvPr>
            </p:nvSpPr>
            <p:spPr>
              <a:xfrm>
                <a:off x="2379764" y="2778125"/>
                <a:ext cx="2886941"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altLang="zh-CN" sz="260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zh-CN" altLang="en-US" sz="2600"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𝜎</m:t>
                          </m:r>
                        </m:num>
                        <m:den>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𝜋</m:t>
                          </m:r>
                          <m:sSub>
                            <m:sSub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𝜀</m:t>
                              </m:r>
                            </m:e>
                            <m:sub>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sub>
                          </m:sSub>
                        </m:den>
                      </m:f>
                      <m:r>
                        <m:rPr>
                          <m:sty m:val="p"/>
                        </m:rPr>
                        <a:rPr lang="en-US" altLang="zh-CN" sz="2600" b="0" i="0"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ln</m:t>
                      </m:r>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f>
                        <m:f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num>
                        <m:den>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𝑎</m:t>
                          </m:r>
                        </m:den>
                      </m:f>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5" name="文本框 4">
                <a:extLst>
                  <a:ext uri="{FF2B5EF4-FFF2-40B4-BE49-F238E27FC236}">
                    <a16:creationId xmlns:a16="http://schemas.microsoft.com/office/drawing/2014/main" id="{BF9D5175-0A57-30ED-7185-86BD14AB2224}"/>
                  </a:ext>
                </a:extLst>
              </p:cNvPr>
              <p:cNvSpPr txBox="1">
                <a:spLocks noRot="1" noChangeAspect="1" noMove="1" noResize="1" noEditPoints="1" noAdjustHandles="1" noChangeArrowheads="1" noChangeShapeType="1" noTextEdit="1"/>
              </p:cNvSpPr>
              <p:nvPr>
                <p:custDataLst>
                  <p:tags r:id="rId20"/>
                </p:custDataLst>
              </p:nvPr>
            </p:nvSpPr>
            <p:spPr>
              <a:xfrm>
                <a:off x="2379764" y="2778125"/>
                <a:ext cx="2886941" cy="642938"/>
              </a:xfrm>
              <a:prstGeom prst="rect">
                <a:avLst/>
              </a:prstGeom>
              <a:blipFill>
                <a:blip r:embed="rId21"/>
                <a:stretch>
                  <a:fillRect t="-6667" b="-14286"/>
                </a:stretch>
              </a:blipFill>
            </p:spPr>
            <p:txBody>
              <a:bodyPr/>
              <a:lstStyle/>
              <a:p>
                <a:r>
                  <a:rPr lang="zh-CN" altLang="en-US">
                    <a:noFill/>
                  </a:rPr>
                  <a:t> </a:t>
                </a:r>
              </a:p>
            </p:txBody>
          </p:sp>
        </mc:Fallback>
      </mc:AlternateContent>
      <p:sp>
        <p:nvSpPr>
          <p:cNvPr id="6" name="文本框 5">
            <a:extLst>
              <a:ext uri="{FF2B5EF4-FFF2-40B4-BE49-F238E27FC236}">
                <a16:creationId xmlns:a16="http://schemas.microsoft.com/office/drawing/2014/main" id="{289F2B21-B310-7944-C7DA-250D7C090422}"/>
              </a:ext>
            </a:extLst>
          </p:cNvPr>
          <p:cNvSpPr txBox="1"/>
          <p:nvPr>
            <p:custDataLst>
              <p:tags r:id="rId4"/>
            </p:custDataLst>
          </p:nvPr>
        </p:nvSpPr>
        <p:spPr>
          <a:xfrm>
            <a:off x="2438400" y="3643313"/>
            <a:ext cx="8534400" cy="642938"/>
          </a:xfrm>
          <a:prstGeom prst="rect">
            <a:avLst/>
          </a:prstGeom>
          <a:noFill/>
        </p:spPr>
        <p:txBody>
          <a:bodyPr vert="horz" rtlCol="0" anchor="ctr" anchorCtr="0">
            <a:noAutofit/>
          </a:bodyPr>
          <a:lstStyle/>
          <a:p>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9" name="椭圆 8">
            <a:extLst>
              <a:ext uri="{FF2B5EF4-FFF2-40B4-BE49-F238E27FC236}">
                <a16:creationId xmlns:a16="http://schemas.microsoft.com/office/drawing/2014/main" id="{C14F7418-FF4E-F482-8C97-8641300AE963}"/>
              </a:ext>
            </a:extLst>
          </p:cNvPr>
          <p:cNvSpPr>
            <a:spLocks noChangeAspect="1"/>
          </p:cNvSpPr>
          <p:nvPr>
            <p:custDataLst>
              <p:tags r:id="rId5"/>
            </p:custDataLst>
          </p:nvPr>
        </p:nvSpPr>
        <p:spPr>
          <a:xfrm>
            <a:off x="1571625" y="2850356"/>
            <a:ext cx="514350" cy="514350"/>
          </a:xfrm>
          <a:prstGeom prst="ellipse">
            <a:avLst/>
          </a:prstGeom>
          <a:solidFill>
            <a:srgbClr val="00FF00"/>
          </a:solidFill>
          <a:ln w="254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A</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0" name="椭圆 9">
            <a:extLst>
              <a:ext uri="{FF2B5EF4-FFF2-40B4-BE49-F238E27FC236}">
                <a16:creationId xmlns:a16="http://schemas.microsoft.com/office/drawing/2014/main" id="{1B019171-08F8-859C-416B-774FC8DC4817}"/>
              </a:ext>
            </a:extLst>
          </p:cNvPr>
          <p:cNvSpPr>
            <a:spLocks noChangeAspect="1"/>
          </p:cNvSpPr>
          <p:nvPr>
            <p:custDataLst>
              <p:tags r:id="rId6"/>
            </p:custDataLst>
          </p:nvPr>
        </p:nvSpPr>
        <p:spPr>
          <a:xfrm>
            <a:off x="1571625" y="37076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B</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1" name="椭圆 10">
            <a:extLst>
              <a:ext uri="{FF2B5EF4-FFF2-40B4-BE49-F238E27FC236}">
                <a16:creationId xmlns:a16="http://schemas.microsoft.com/office/drawing/2014/main" id="{50AD3508-5703-CB5B-0883-412657DD4D14}"/>
              </a:ext>
            </a:extLst>
          </p:cNvPr>
          <p:cNvSpPr>
            <a:spLocks noChangeAspect="1"/>
          </p:cNvSpPr>
          <p:nvPr>
            <p:custDataLst>
              <p:tags r:id="rId7"/>
            </p:custDataLst>
          </p:nvPr>
        </p:nvSpPr>
        <p:spPr>
          <a:xfrm>
            <a:off x="1571625" y="456485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C</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2" name="椭圆 11">
            <a:extLst>
              <a:ext uri="{FF2B5EF4-FFF2-40B4-BE49-F238E27FC236}">
                <a16:creationId xmlns:a16="http://schemas.microsoft.com/office/drawing/2014/main" id="{24BAF2ED-EC23-4C56-22BD-7A20A0DDD661}"/>
              </a:ext>
            </a:extLst>
          </p:cNvPr>
          <p:cNvSpPr>
            <a:spLocks noChangeAspect="1"/>
          </p:cNvSpPr>
          <p:nvPr>
            <p:custDataLst>
              <p:tags r:id="rId8"/>
            </p:custDataLst>
          </p:nvPr>
        </p:nvSpPr>
        <p:spPr>
          <a:xfrm>
            <a:off x="1571625" y="5422106"/>
            <a:ext cx="514350" cy="514350"/>
          </a:xfrm>
          <a:prstGeom prst="ellipse">
            <a:avLst/>
          </a:prstGeom>
          <a:solidFill>
            <a:srgbClr val="808080"/>
          </a:solidFill>
          <a:ln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en-US" altLang="zh-CN"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D</a:t>
            </a:r>
            <a:endPar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p:sp>
        <p:nvSpPr>
          <p:cNvPr id="13" name="矩形: 圆角 12">
            <a:extLst>
              <a:ext uri="{FF2B5EF4-FFF2-40B4-BE49-F238E27FC236}">
                <a16:creationId xmlns:a16="http://schemas.microsoft.com/office/drawing/2014/main" id="{ABD26EBD-5EEA-3D1E-3602-CDC73608E7D8}"/>
              </a:ext>
            </a:extLst>
          </p:cNvPr>
          <p:cNvSpPr/>
          <p:nvPr>
            <p:custDataLst>
              <p:tags r:id="rId9"/>
            </p:custDataLst>
          </p:nvPr>
        </p:nvSpPr>
        <p:spPr>
          <a:xfrm>
            <a:off x="8915400" y="6215063"/>
            <a:ext cx="1543050" cy="411480"/>
          </a:xfrm>
          <a:prstGeom prst="roundRect">
            <a:avLst/>
          </a:prstGeom>
          <a:solidFill>
            <a:srgbClr val="808080"/>
          </a:solidFill>
          <a:ln w="38100" cmpd="sng">
            <a:solidFill>
              <a:srgbClr val="000000"/>
            </a:solidFill>
            <a:prstDash val="solid"/>
          </a:ln>
        </p:spPr>
        <p:style>
          <a:lnRef idx="2">
            <a:schemeClr val="accent1">
              <a:shade val="50000"/>
            </a:schemeClr>
          </a:lnRef>
          <a:fillRef idx="1">
            <a:schemeClr val="accent1"/>
          </a:fillRef>
          <a:effectRef idx="0">
            <a:schemeClr val="accent1"/>
          </a:effectRef>
          <a:fontRef idx="minor">
            <a:schemeClr val="lt1"/>
          </a:fontRef>
        </p:style>
        <p:txBody>
          <a:bodyPr vert="horz" rtlCol="0" anchor="ctr" anchorCtr="1">
            <a:noAutofit/>
          </a:bodyPr>
          <a:lstStyle/>
          <a:p>
            <a:pPr algn="ctr"/>
            <a:r>
              <a:rPr lang="zh-CN" altLang="en-US" sz="1600">
                <a:solidFill>
                  <a:srgbClr val="FFFFFF"/>
                </a:solidFill>
                <a:latin typeface="Microsoft Yahei" panose="020B0503020204020204" pitchFamily="34" charset="-122"/>
                <a:ea typeface="Microsoft Yahei" panose="020B0503020204020204" pitchFamily="34" charset="-122"/>
                <a:sym typeface="Microsoft Yahei" panose="020B0503020204020204" pitchFamily="34" charset="-122"/>
              </a:rPr>
              <a:t>提交</a:t>
            </a:r>
          </a:p>
        </p:txBody>
      </p:sp>
      <p:grpSp>
        <p:nvGrpSpPr>
          <p:cNvPr id="28" name="组合 27">
            <a:extLst>
              <a:ext uri="{FF2B5EF4-FFF2-40B4-BE49-F238E27FC236}">
                <a16:creationId xmlns:a16="http://schemas.microsoft.com/office/drawing/2014/main" id="{2C792D30-F9BB-5A98-3DE1-E2F6A06F0E6A}"/>
              </a:ext>
            </a:extLst>
          </p:cNvPr>
          <p:cNvGrpSpPr/>
          <p:nvPr/>
        </p:nvGrpSpPr>
        <p:grpSpPr>
          <a:xfrm>
            <a:off x="7319775" y="2387936"/>
            <a:ext cx="3027737" cy="3374129"/>
            <a:chOff x="7300913" y="1983413"/>
            <a:chExt cx="3191249" cy="3859857"/>
          </a:xfrm>
        </p:grpSpPr>
        <p:grpSp>
          <p:nvGrpSpPr>
            <p:cNvPr id="25" name="组合 24">
              <a:extLst>
                <a:ext uri="{FF2B5EF4-FFF2-40B4-BE49-F238E27FC236}">
                  <a16:creationId xmlns:a16="http://schemas.microsoft.com/office/drawing/2014/main" id="{78DD393C-110E-9334-FD54-AD9FEA1D1413}"/>
                </a:ext>
              </a:extLst>
            </p:cNvPr>
            <p:cNvGrpSpPr/>
            <p:nvPr/>
          </p:nvGrpSpPr>
          <p:grpSpPr>
            <a:xfrm>
              <a:off x="7300913" y="1983413"/>
              <a:ext cx="3191249" cy="3859857"/>
              <a:chOff x="7300913" y="1983413"/>
              <a:chExt cx="3191249" cy="3859857"/>
            </a:xfrm>
          </p:grpSpPr>
          <p:pic>
            <p:nvPicPr>
              <p:cNvPr id="21" name="图片 20">
                <a:extLst>
                  <a:ext uri="{FF2B5EF4-FFF2-40B4-BE49-F238E27FC236}">
                    <a16:creationId xmlns:a16="http://schemas.microsoft.com/office/drawing/2014/main" id="{351D6FFA-BF98-4F21-7FF2-D9A8DBE67709}"/>
                  </a:ext>
                </a:extLst>
              </p:cNvPr>
              <p:cNvPicPr>
                <a:picLocks noChangeAspect="1"/>
              </p:cNvPicPr>
              <p:nvPr/>
            </p:nvPicPr>
            <p:blipFill>
              <a:blip r:embed="rId22"/>
              <a:stretch>
                <a:fillRect/>
              </a:stretch>
            </p:blipFill>
            <p:spPr>
              <a:xfrm>
                <a:off x="7300913" y="1983413"/>
                <a:ext cx="3191249" cy="3704693"/>
              </a:xfrm>
              <a:prstGeom prst="rect">
                <a:avLst/>
              </a:prstGeom>
            </p:spPr>
          </p:pic>
          <p:pic>
            <p:nvPicPr>
              <p:cNvPr id="23" name="图片 22">
                <a:extLst>
                  <a:ext uri="{FF2B5EF4-FFF2-40B4-BE49-F238E27FC236}">
                    <a16:creationId xmlns:a16="http://schemas.microsoft.com/office/drawing/2014/main" id="{8792C0B8-9C02-7FFF-D86E-4772F13A72ED}"/>
                  </a:ext>
                </a:extLst>
              </p:cNvPr>
              <p:cNvPicPr>
                <a:picLocks noChangeAspect="1"/>
              </p:cNvPicPr>
              <p:nvPr/>
            </p:nvPicPr>
            <p:blipFill>
              <a:blip r:embed="rId23"/>
              <a:stretch>
                <a:fillRect/>
              </a:stretch>
            </p:blipFill>
            <p:spPr>
              <a:xfrm>
                <a:off x="8401050" y="3023870"/>
                <a:ext cx="837079" cy="2819400"/>
              </a:xfrm>
              <a:prstGeom prst="rect">
                <a:avLst/>
              </a:prstGeom>
            </p:spPr>
          </p:pic>
          <p:pic>
            <p:nvPicPr>
              <p:cNvPr id="24" name="图片 23">
                <a:extLst>
                  <a:ext uri="{FF2B5EF4-FFF2-40B4-BE49-F238E27FC236}">
                    <a16:creationId xmlns:a16="http://schemas.microsoft.com/office/drawing/2014/main" id="{C670E930-2734-0B03-E8F3-F4CA643E2738}"/>
                  </a:ext>
                </a:extLst>
              </p:cNvPr>
              <p:cNvPicPr>
                <a:picLocks noChangeAspect="1"/>
              </p:cNvPicPr>
              <p:nvPr/>
            </p:nvPicPr>
            <p:blipFill>
              <a:blip r:embed="rId23"/>
              <a:stretch>
                <a:fillRect/>
              </a:stretch>
            </p:blipFill>
            <p:spPr>
              <a:xfrm>
                <a:off x="9291918" y="3039316"/>
                <a:ext cx="1122829" cy="2568108"/>
              </a:xfrm>
              <a:prstGeom prst="rect">
                <a:avLst/>
              </a:prstGeom>
            </p:spPr>
          </p:pic>
        </p:grpSp>
        <p:pic>
          <p:nvPicPr>
            <p:cNvPr id="26" name="图片 25">
              <a:extLst>
                <a:ext uri="{FF2B5EF4-FFF2-40B4-BE49-F238E27FC236}">
                  <a16:creationId xmlns:a16="http://schemas.microsoft.com/office/drawing/2014/main" id="{62E36A94-8128-C025-DA81-C188B670E0D8}"/>
                </a:ext>
              </a:extLst>
            </p:cNvPr>
            <p:cNvPicPr>
              <a:picLocks noChangeAspect="1"/>
            </p:cNvPicPr>
            <p:nvPr/>
          </p:nvPicPr>
          <p:blipFill>
            <a:blip r:embed="rId23"/>
            <a:stretch>
              <a:fillRect/>
            </a:stretch>
          </p:blipFill>
          <p:spPr>
            <a:xfrm>
              <a:off x="8229554" y="2507876"/>
              <a:ext cx="911188" cy="3099547"/>
            </a:xfrm>
            <a:prstGeom prst="rect">
              <a:avLst/>
            </a:prstGeom>
          </p:spPr>
        </p:pic>
        <p:pic>
          <p:nvPicPr>
            <p:cNvPr id="27" name="图片 26">
              <a:extLst>
                <a:ext uri="{FF2B5EF4-FFF2-40B4-BE49-F238E27FC236}">
                  <a16:creationId xmlns:a16="http://schemas.microsoft.com/office/drawing/2014/main" id="{031A7352-D87D-8F47-97B3-006393D63703}"/>
                </a:ext>
              </a:extLst>
            </p:cNvPr>
            <p:cNvPicPr>
              <a:picLocks noChangeAspect="1"/>
            </p:cNvPicPr>
            <p:nvPr/>
          </p:nvPicPr>
          <p:blipFill>
            <a:blip r:embed="rId23"/>
            <a:stretch>
              <a:fillRect/>
            </a:stretch>
          </p:blipFill>
          <p:spPr>
            <a:xfrm>
              <a:off x="8004212" y="2020569"/>
              <a:ext cx="911188" cy="452232"/>
            </a:xfrm>
            <a:prstGeom prst="rect">
              <a:avLst/>
            </a:prstGeom>
          </p:spPr>
        </p:pic>
      </p:grpSp>
      <p:pic>
        <p:nvPicPr>
          <p:cNvPr id="32" name="图片 31">
            <a:extLst>
              <a:ext uri="{FF2B5EF4-FFF2-40B4-BE49-F238E27FC236}">
                <a16:creationId xmlns:a16="http://schemas.microsoft.com/office/drawing/2014/main" id="{724EE662-7E66-661C-EB52-4AB3D82AAA81}"/>
              </a:ext>
            </a:extLst>
          </p:cNvPr>
          <p:cNvPicPr>
            <a:picLocks noChangeAspect="1"/>
          </p:cNvPicPr>
          <p:nvPr/>
        </p:nvPicPr>
        <p:blipFill>
          <a:blip r:embed="rId24"/>
          <a:stretch>
            <a:fillRect/>
          </a:stretch>
        </p:blipFill>
        <p:spPr>
          <a:xfrm>
            <a:off x="7052474" y="5003757"/>
            <a:ext cx="4301326" cy="972620"/>
          </a:xfrm>
          <a:prstGeom prst="rect">
            <a:avLst/>
          </a:prstGeom>
        </p:spPr>
      </p:pic>
      <mc:AlternateContent xmlns:mc="http://schemas.openxmlformats.org/markup-compatibility/2006" xmlns:a14="http://schemas.microsoft.com/office/drawing/2010/main">
        <mc:Choice Requires="a14">
          <p:sp>
            <p:nvSpPr>
              <p:cNvPr id="33" name="文本框 32">
                <a:extLst>
                  <a:ext uri="{FF2B5EF4-FFF2-40B4-BE49-F238E27FC236}">
                    <a16:creationId xmlns:a16="http://schemas.microsoft.com/office/drawing/2014/main" id="{D03668B4-B540-5204-E76E-8D81DBBFF3A0}"/>
                  </a:ext>
                </a:extLst>
              </p:cNvPr>
              <p:cNvSpPr txBox="1"/>
              <p:nvPr>
                <p:custDataLst>
                  <p:tags r:id="rId10"/>
                </p:custDataLst>
              </p:nvPr>
            </p:nvSpPr>
            <p:spPr>
              <a:xfrm>
                <a:off x="2368434" y="3703123"/>
                <a:ext cx="2886941"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altLang="zh-CN" sz="260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zh-CN" altLang="en-US" sz="2600"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𝜎</m:t>
                          </m:r>
                        </m:num>
                        <m:den>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2</m:t>
                          </m:r>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𝜋</m:t>
                          </m:r>
                          <m:sSub>
                            <m:sSub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𝜀</m:t>
                              </m:r>
                            </m:e>
                            <m:sub>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sub>
                          </m:sSub>
                        </m:den>
                      </m:f>
                      <m:r>
                        <m:rPr>
                          <m:sty m:val="p"/>
                        </m:rPr>
                        <a:rPr lang="en-US" altLang="zh-CN" sz="2600" b="0" i="0"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ln</m:t>
                      </m:r>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f>
                        <m:f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num>
                        <m:den>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𝑎</m:t>
                          </m:r>
                        </m:den>
                      </m:f>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33" name="文本框 32">
                <a:extLst>
                  <a:ext uri="{FF2B5EF4-FFF2-40B4-BE49-F238E27FC236}">
                    <a16:creationId xmlns:a16="http://schemas.microsoft.com/office/drawing/2014/main" id="{D03668B4-B540-5204-E76E-8D81DBBFF3A0}"/>
                  </a:ext>
                </a:extLst>
              </p:cNvPr>
              <p:cNvSpPr txBox="1">
                <a:spLocks noRot="1" noChangeAspect="1" noMove="1" noResize="1" noEditPoints="1" noAdjustHandles="1" noChangeArrowheads="1" noChangeShapeType="1" noTextEdit="1"/>
              </p:cNvSpPr>
              <p:nvPr>
                <p:custDataLst>
                  <p:tags r:id="rId25"/>
                </p:custDataLst>
              </p:nvPr>
            </p:nvSpPr>
            <p:spPr>
              <a:xfrm>
                <a:off x="2368434" y="3703123"/>
                <a:ext cx="2886941" cy="642938"/>
              </a:xfrm>
              <a:prstGeom prst="rect">
                <a:avLst/>
              </a:prstGeom>
              <a:blipFill>
                <a:blip r:embed="rId26"/>
                <a:stretch>
                  <a:fillRect t="-5660"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4" name="文本框 33">
                <a:extLst>
                  <a:ext uri="{FF2B5EF4-FFF2-40B4-BE49-F238E27FC236}">
                    <a16:creationId xmlns:a16="http://schemas.microsoft.com/office/drawing/2014/main" id="{9FD2716A-D26A-3715-FFCC-4FA22239B0A5}"/>
                  </a:ext>
                </a:extLst>
              </p:cNvPr>
              <p:cNvSpPr txBox="1"/>
              <p:nvPr>
                <p:custDataLst>
                  <p:tags r:id="rId11"/>
                </p:custDataLst>
              </p:nvPr>
            </p:nvSpPr>
            <p:spPr>
              <a:xfrm>
                <a:off x="2351213" y="4628120"/>
                <a:ext cx="2886941"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altLang="zh-CN" sz="260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zh-CN" altLang="en-US" sz="2600"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𝜎</m:t>
                          </m:r>
                        </m:num>
                        <m:den>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𝜋</m:t>
                          </m:r>
                          <m:sSub>
                            <m:sSub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𝜀</m:t>
                              </m:r>
                            </m:e>
                            <m:sub>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sub>
                          </m:sSub>
                        </m:den>
                      </m:f>
                      <m:r>
                        <m:rPr>
                          <m:sty m:val="p"/>
                        </m:rPr>
                        <a:rPr lang="en-US" altLang="zh-CN" sz="2600" b="0" i="0"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ln</m:t>
                      </m:r>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f>
                        <m:f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num>
                        <m:den>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𝑎</m:t>
                          </m:r>
                        </m:den>
                      </m:f>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34" name="文本框 33">
                <a:extLst>
                  <a:ext uri="{FF2B5EF4-FFF2-40B4-BE49-F238E27FC236}">
                    <a16:creationId xmlns:a16="http://schemas.microsoft.com/office/drawing/2014/main" id="{9FD2716A-D26A-3715-FFCC-4FA22239B0A5}"/>
                  </a:ext>
                </a:extLst>
              </p:cNvPr>
              <p:cNvSpPr txBox="1">
                <a:spLocks noRot="1" noChangeAspect="1" noMove="1" noResize="1" noEditPoints="1" noAdjustHandles="1" noChangeArrowheads="1" noChangeShapeType="1" noTextEdit="1"/>
              </p:cNvSpPr>
              <p:nvPr>
                <p:custDataLst>
                  <p:tags r:id="rId27"/>
                </p:custDataLst>
              </p:nvPr>
            </p:nvSpPr>
            <p:spPr>
              <a:xfrm>
                <a:off x="2351213" y="4628120"/>
                <a:ext cx="2886941" cy="642938"/>
              </a:xfrm>
              <a:prstGeom prst="rect">
                <a:avLst/>
              </a:prstGeom>
              <a:blipFill>
                <a:blip r:embed="rId28"/>
                <a:stretch>
                  <a:fillRect t="-5660" b="-141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5" name="文本框 34">
                <a:extLst>
                  <a:ext uri="{FF2B5EF4-FFF2-40B4-BE49-F238E27FC236}">
                    <a16:creationId xmlns:a16="http://schemas.microsoft.com/office/drawing/2014/main" id="{3B1C8E6F-6815-353B-33DF-1E7F3E20C887}"/>
                  </a:ext>
                </a:extLst>
              </p:cNvPr>
              <p:cNvSpPr txBox="1"/>
              <p:nvPr>
                <p:custDataLst>
                  <p:tags r:id="rId12"/>
                </p:custDataLst>
              </p:nvPr>
            </p:nvSpPr>
            <p:spPr>
              <a:xfrm>
                <a:off x="2333829" y="5614987"/>
                <a:ext cx="2886941" cy="642938"/>
              </a:xfrm>
              <a:prstGeom prst="rect">
                <a:avLst/>
              </a:prstGeom>
              <a:noFill/>
            </p:spPr>
            <p:txBody>
              <a:bodyPr vert="horz" rtlCol="0" anchor="ctr" anchorCtr="0">
                <a:noAutofit/>
              </a:bodyPr>
              <a:lstStyle/>
              <a:p>
                <a:pPr/>
                <a14:m>
                  <m:oMathPara xmlns:m="http://schemas.openxmlformats.org/officeDocument/2006/math">
                    <m:oMathParaPr>
                      <m:jc m:val="centerGroup"/>
                    </m:oMathParaPr>
                    <m:oMath xmlns:m="http://schemas.openxmlformats.org/officeDocument/2006/math">
                      <m:f>
                        <m:fPr>
                          <m:ctrlPr>
                            <a:rPr lang="en-US" altLang="zh-CN" sz="260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zh-CN" altLang="en-US" sz="2600" i="1" dirty="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𝜎</m:t>
                          </m:r>
                        </m:num>
                        <m:den>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 </m:t>
                          </m:r>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𝜋</m:t>
                          </m:r>
                          <m:sSub>
                            <m:sSub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sSubPr>
                            <m:e>
                              <m:r>
                                <a:rPr lang="zh-CN" altLang="en-US"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𝜀</m:t>
                              </m:r>
                            </m:e>
                            <m:sub>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0</m:t>
                              </m:r>
                            </m:sub>
                          </m:sSub>
                        </m:den>
                      </m:f>
                      <m:r>
                        <m:rPr>
                          <m:sty m:val="p"/>
                        </m:rPr>
                        <a:rPr lang="en-US" altLang="zh-CN" sz="2600" b="0" i="0"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ln</m:t>
                      </m:r>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⁡(1−</m:t>
                      </m:r>
                      <m:f>
                        <m:fPr>
                          <m:ctrlP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ctrlPr>
                        </m:fPr>
                        <m:num>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𝑏</m:t>
                          </m:r>
                        </m:num>
                        <m:den>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𝑎</m:t>
                          </m:r>
                        </m:den>
                      </m:f>
                      <m:r>
                        <a:rPr lang="en-US" altLang="zh-CN" sz="2600" b="0" i="1" dirty="0" smtClean="0">
                          <a:solidFill>
                            <a:srgbClr val="000000"/>
                          </a:solidFill>
                          <a:latin typeface="Cambria Math" panose="02040503050406030204" pitchFamily="18" charset="0"/>
                          <a:ea typeface="Microsoft Yahei" panose="020B0503020204020204" pitchFamily="34" charset="-122"/>
                          <a:sym typeface="Microsoft Yahei" panose="020B0503020204020204" pitchFamily="34" charset="-122"/>
                        </a:rPr>
                        <m:t>)</m:t>
                      </m:r>
                    </m:oMath>
                  </m:oMathPara>
                </a14:m>
                <a:endParaRPr lang="zh-CN" altLang="en-US" sz="2600" dirty="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endParaRPr>
              </a:p>
            </p:txBody>
          </p:sp>
        </mc:Choice>
        <mc:Fallback xmlns="">
          <p:sp>
            <p:nvSpPr>
              <p:cNvPr id="35" name="文本框 34">
                <a:extLst>
                  <a:ext uri="{FF2B5EF4-FFF2-40B4-BE49-F238E27FC236}">
                    <a16:creationId xmlns:a16="http://schemas.microsoft.com/office/drawing/2014/main" id="{3B1C8E6F-6815-353B-33DF-1E7F3E20C887}"/>
                  </a:ext>
                </a:extLst>
              </p:cNvPr>
              <p:cNvSpPr txBox="1">
                <a:spLocks noRot="1" noChangeAspect="1" noMove="1" noResize="1" noEditPoints="1" noAdjustHandles="1" noChangeArrowheads="1" noChangeShapeType="1" noTextEdit="1"/>
              </p:cNvSpPr>
              <p:nvPr>
                <p:custDataLst>
                  <p:tags r:id="rId29"/>
                </p:custDataLst>
              </p:nvPr>
            </p:nvSpPr>
            <p:spPr>
              <a:xfrm>
                <a:off x="2333829" y="5614987"/>
                <a:ext cx="2886941" cy="642938"/>
              </a:xfrm>
              <a:prstGeom prst="rect">
                <a:avLst/>
              </a:prstGeom>
              <a:blipFill>
                <a:blip r:embed="rId30"/>
                <a:stretch>
                  <a:fillRect t="-6604" b="-13208"/>
                </a:stretch>
              </a:blipFill>
            </p:spPr>
            <p:txBody>
              <a:bodyPr/>
              <a:lstStyle/>
              <a:p>
                <a:r>
                  <a:rPr lang="zh-CN" altLang="en-US">
                    <a:noFill/>
                  </a:rPr>
                  <a:t> </a:t>
                </a:r>
              </a:p>
            </p:txBody>
          </p:sp>
        </mc:Fallback>
      </mc:AlternateContent>
      <p:grpSp>
        <p:nvGrpSpPr>
          <p:cNvPr id="18" name="组合 17">
            <a:extLst>
              <a:ext uri="{FF2B5EF4-FFF2-40B4-BE49-F238E27FC236}">
                <a16:creationId xmlns:a16="http://schemas.microsoft.com/office/drawing/2014/main" id="{F87F0076-291E-449D-999F-EBD786F98DAD}"/>
              </a:ext>
            </a:extLst>
          </p:cNvPr>
          <p:cNvGrpSpPr/>
          <p:nvPr>
            <p:custDataLst>
              <p:tags r:id="rId13"/>
            </p:custDataLst>
          </p:nvPr>
        </p:nvGrpSpPr>
        <p:grpSpPr>
          <a:xfrm>
            <a:off x="0" y="0"/>
            <a:ext cx="12192000" cy="635000"/>
            <a:chOff x="0" y="0"/>
            <a:chExt cx="12192000" cy="635000"/>
          </a:xfrm>
        </p:grpSpPr>
        <p:sp>
          <p:nvSpPr>
            <p:cNvPr id="14" name="TitleBackground">
              <a:extLst>
                <a:ext uri="{FF2B5EF4-FFF2-40B4-BE49-F238E27FC236}">
                  <a16:creationId xmlns:a16="http://schemas.microsoft.com/office/drawing/2014/main" id="{1AB434D9-DBA1-DA51-81B0-0610192B46FD}"/>
                </a:ext>
              </a:extLst>
            </p:cNvPr>
            <p:cNvSpPr/>
            <p:nvPr>
              <p:custDataLst>
                <p:tags r:id="rId15"/>
              </p:custDataLst>
            </p:nvPr>
          </p:nvSpPr>
          <p:spPr>
            <a:xfrm>
              <a:off x="0" y="0"/>
              <a:ext cx="12192000" cy="635000"/>
            </a:xfrm>
            <a:prstGeom prst="rect">
              <a:avLst/>
            </a:prstGeom>
            <a:solidFill>
              <a:srgbClr val="F6F7F8"/>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ColorBlock">
              <a:extLst>
                <a:ext uri="{FF2B5EF4-FFF2-40B4-BE49-F238E27FC236}">
                  <a16:creationId xmlns:a16="http://schemas.microsoft.com/office/drawing/2014/main" id="{3AE5B908-C767-6EDA-5E91-BC75E7C36FFE}"/>
                </a:ext>
              </a:extLst>
            </p:cNvPr>
            <p:cNvSpPr/>
            <p:nvPr>
              <p:custDataLst>
                <p:tags r:id="rId16"/>
              </p:custDataLst>
            </p:nvPr>
          </p:nvSpPr>
          <p:spPr>
            <a:xfrm>
              <a:off x="0" y="0"/>
              <a:ext cx="190500" cy="635000"/>
            </a:xfrm>
            <a:prstGeom prst="rect">
              <a:avLst/>
            </a:prstGeom>
            <a:solidFill>
              <a:srgbClr val="639EF4"/>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TypeText">
              <a:extLst>
                <a:ext uri="{FF2B5EF4-FFF2-40B4-BE49-F238E27FC236}">
                  <a16:creationId xmlns:a16="http://schemas.microsoft.com/office/drawing/2014/main" id="{6CA5B47C-9E29-6CF1-B478-9BA7ECFD6C7E}"/>
                </a:ext>
              </a:extLst>
            </p:cNvPr>
            <p:cNvSpPr txBox="1"/>
            <p:nvPr>
              <p:custDataLst>
                <p:tags r:id="rId17"/>
              </p:custDataLst>
            </p:nvPr>
          </p:nvSpPr>
          <p:spPr>
            <a:xfrm>
              <a:off x="254000" y="0"/>
              <a:ext cx="1905000" cy="635000"/>
            </a:xfrm>
            <a:prstGeom prst="rect">
              <a:avLst/>
            </a:prstGeom>
            <a:noFill/>
          </p:spPr>
          <p:txBody>
            <a:bodyPr vert="horz" wrap="none" rtlCol="0" anchor="ctr" anchorCtr="0">
              <a:noAutofit/>
            </a:bodyPr>
            <a:lstStyle/>
            <a:p>
              <a:r>
                <a:rPr lang="zh-CN" altLang="en-US" sz="2600">
                  <a:solidFill>
                    <a:srgbClr val="000000"/>
                  </a:solidFill>
                  <a:latin typeface="Microsoft Yahei" panose="020B0503020204020204" pitchFamily="34" charset="-122"/>
                  <a:ea typeface="Microsoft Yahei" panose="020B0503020204020204" pitchFamily="34" charset="-122"/>
                  <a:sym typeface="Microsoft Yahei" panose="020B0503020204020204" pitchFamily="34" charset="-122"/>
                </a:rPr>
                <a:t>单选题</a:t>
              </a:r>
            </a:p>
          </p:txBody>
        </p:sp>
        <p:sp>
          <p:nvSpPr>
            <p:cNvPr id="17" name="TipText">
              <a:extLst>
                <a:ext uri="{FF2B5EF4-FFF2-40B4-BE49-F238E27FC236}">
                  <a16:creationId xmlns:a16="http://schemas.microsoft.com/office/drawing/2014/main" id="{F0267E04-28F2-3616-4970-BFD70F3A5F87}"/>
                </a:ext>
              </a:extLst>
            </p:cNvPr>
            <p:cNvSpPr txBox="1"/>
            <p:nvPr>
              <p:custDataLst>
                <p:tags r:id="rId18"/>
              </p:custDataLst>
            </p:nvPr>
          </p:nvSpPr>
          <p:spPr>
            <a:xfrm>
              <a:off x="1525905" y="109220"/>
              <a:ext cx="2286000" cy="508000"/>
            </a:xfrm>
            <a:prstGeom prst="rect">
              <a:avLst/>
            </a:prstGeom>
            <a:noFill/>
          </p:spPr>
          <p:txBody>
            <a:bodyPr vert="horz" wrap="none" rtlCol="0" anchor="ctr" anchorCtr="0">
              <a:noAutofit/>
            </a:bodyPr>
            <a:lstStyle/>
            <a:p>
              <a:r>
                <a:rPr lang="en-US" altLang="zh-CN"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1</a:t>
              </a:r>
              <a:r>
                <a:rPr lang="zh-CN" altLang="en-US" sz="2000">
                  <a:solidFill>
                    <a:srgbClr val="808080"/>
                  </a:solidFill>
                  <a:latin typeface="Microsoft Yahei" panose="020B0503020204020204" pitchFamily="34" charset="-122"/>
                  <a:ea typeface="Microsoft Yahei" panose="020B0503020204020204" pitchFamily="34" charset="-122"/>
                  <a:sym typeface="Microsoft Yahei" panose="020B0503020204020204" pitchFamily="34" charset="-122"/>
                </a:rPr>
                <a:t>分</a:t>
              </a:r>
            </a:p>
          </p:txBody>
        </p:sp>
      </p:grpSp>
      <p:pic>
        <p:nvPicPr>
          <p:cNvPr id="3" name="图片 2">
            <a:extLst>
              <a:ext uri="{FF2B5EF4-FFF2-40B4-BE49-F238E27FC236}">
                <a16:creationId xmlns:a16="http://schemas.microsoft.com/office/drawing/2014/main" id="{1C94673E-9EB5-B3DB-8FF7-249A31EA45AB}"/>
              </a:ext>
            </a:extLst>
          </p:cNvPr>
          <p:cNvPicPr>
            <a:picLocks/>
          </p:cNvPicPr>
          <p:nvPr>
            <p:custDataLst>
              <p:tags r:id="rId14"/>
            </p:custDataLst>
          </p:nvPr>
        </p:nvPicPr>
        <p:blipFill>
          <a:blip r:embed="rId31">
            <a:extLst>
              <a:ext uri="{28A0092B-C50C-407E-A947-70E740481C1C}">
                <a14:useLocalDpi xmlns:a14="http://schemas.microsoft.com/office/drawing/2010/main" val="0"/>
              </a:ext>
            </a:extLst>
          </a:blip>
          <a:stretch>
            <a:fillRect/>
          </a:stretch>
        </p:blipFill>
        <p:spPr>
          <a:xfrm>
            <a:off x="10642600" y="63500"/>
            <a:ext cx="1422400" cy="508000"/>
          </a:xfrm>
          <a:prstGeom prst="rect">
            <a:avLst/>
          </a:prstGeom>
        </p:spPr>
      </p:pic>
    </p:spTree>
    <p:custDataLst>
      <p:tags r:id="rId1"/>
    </p:custDataLst>
    <p:extLst>
      <p:ext uri="{BB962C8B-B14F-4D97-AF65-F5344CB8AC3E}">
        <p14:creationId xmlns:p14="http://schemas.microsoft.com/office/powerpoint/2010/main" val="76641719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D457566-4A90-FCA5-A1FB-EDEA01ACD97A}"/>
              </a:ext>
            </a:extLst>
          </p:cNvPr>
          <p:cNvPicPr>
            <a:picLocks noChangeAspect="1"/>
          </p:cNvPicPr>
          <p:nvPr/>
        </p:nvPicPr>
        <p:blipFill>
          <a:blip r:embed="rId2"/>
          <a:stretch>
            <a:fillRect/>
          </a:stretch>
        </p:blipFill>
        <p:spPr>
          <a:xfrm>
            <a:off x="8084993" y="1693285"/>
            <a:ext cx="3619474" cy="3626861"/>
          </a:xfrm>
          <a:prstGeom prst="rect">
            <a:avLst/>
          </a:prstGeom>
        </p:spPr>
      </p:pic>
      <p:sp>
        <p:nvSpPr>
          <p:cNvPr id="9" name="文本框 8">
            <a:extLst>
              <a:ext uri="{FF2B5EF4-FFF2-40B4-BE49-F238E27FC236}">
                <a16:creationId xmlns:a16="http://schemas.microsoft.com/office/drawing/2014/main" id="{F20D4BF3-6B8F-9174-C224-033517E2113C}"/>
              </a:ext>
            </a:extLst>
          </p:cNvPr>
          <p:cNvSpPr txBox="1"/>
          <p:nvPr/>
        </p:nvSpPr>
        <p:spPr>
          <a:xfrm>
            <a:off x="465425" y="583747"/>
            <a:ext cx="9752632" cy="954107"/>
          </a:xfrm>
          <a:prstGeom prst="rect">
            <a:avLst/>
          </a:prstGeom>
          <a:noFill/>
        </p:spPr>
        <p:txBody>
          <a:bodyPr wrap="square">
            <a:spAutoFit/>
          </a:bodyPr>
          <a:lstStyle/>
          <a:p>
            <a:pPr algn="l"/>
            <a:r>
              <a:rPr lang="zh-CN" altLang="en-US" sz="2800" b="0" i="0" u="none" strike="noStrike" baseline="0" dirty="0"/>
              <a:t>建立坐标系。在平面薄板上取一宽度为</a:t>
            </a:r>
            <a:r>
              <a:rPr lang="en-US" altLang="zh-CN" sz="2800" b="0" i="0" u="none" strike="noStrike" baseline="0" dirty="0"/>
              <a:t>d</a:t>
            </a:r>
            <a:r>
              <a:rPr lang="en-US" altLang="zh-CN" sz="2800" b="0" i="1" u="none" strike="noStrike" baseline="0" dirty="0"/>
              <a:t>x </a:t>
            </a:r>
            <a:r>
              <a:rPr lang="zh-CN" altLang="en-US" sz="2800" b="0" i="0" u="none" strike="noStrike" baseline="0" dirty="0"/>
              <a:t>的带电直线，电荷的线密度为</a:t>
            </a:r>
            <a:r>
              <a:rPr lang="en-US" altLang="zh-CN" sz="2800" b="0" i="0" u="none" strike="noStrike" baseline="0" dirty="0"/>
              <a:t>d</a:t>
            </a:r>
            <a:r>
              <a:rPr lang="el-GR" altLang="zh-CN" sz="2800" b="0" i="1" u="none" strike="noStrike" baseline="0" dirty="0"/>
              <a:t>λ </a:t>
            </a:r>
            <a:r>
              <a:rPr lang="el-GR" altLang="zh-CN" sz="2800" b="0" i="0" u="none" strike="noStrike" baseline="0" dirty="0"/>
              <a:t>= </a:t>
            </a:r>
            <a:r>
              <a:rPr lang="el-GR" altLang="zh-CN" sz="2800" b="0" i="1" u="none" strike="noStrike" baseline="0" dirty="0"/>
              <a:t>σ</a:t>
            </a:r>
            <a:r>
              <a:rPr lang="en-US" altLang="zh-CN" sz="2800" b="0" i="0" u="none" strike="noStrike" baseline="0" dirty="0"/>
              <a:t>d </a:t>
            </a:r>
            <a:r>
              <a:rPr lang="en-US" altLang="zh-CN" sz="2800" b="0" i="1" u="none" strike="noStrike" baseline="0" dirty="0"/>
              <a:t>x</a:t>
            </a:r>
            <a:endParaRPr lang="zh-CN" altLang="en-US" sz="2800" dirty="0"/>
          </a:p>
        </p:txBody>
      </p:sp>
      <p:sp>
        <p:nvSpPr>
          <p:cNvPr id="10" name="文本框 9">
            <a:extLst>
              <a:ext uri="{FF2B5EF4-FFF2-40B4-BE49-F238E27FC236}">
                <a16:creationId xmlns:a16="http://schemas.microsoft.com/office/drawing/2014/main" id="{2F699730-D27D-FF05-3A59-57EB6973C6C5}"/>
              </a:ext>
            </a:extLst>
          </p:cNvPr>
          <p:cNvSpPr txBox="1"/>
          <p:nvPr/>
        </p:nvSpPr>
        <p:spPr>
          <a:xfrm>
            <a:off x="326572" y="2044005"/>
            <a:ext cx="6509225" cy="1384995"/>
          </a:xfrm>
          <a:prstGeom prst="rect">
            <a:avLst/>
          </a:prstGeom>
          <a:noFill/>
        </p:spPr>
        <p:txBody>
          <a:bodyPr wrap="square">
            <a:spAutoFit/>
          </a:bodyPr>
          <a:lstStyle/>
          <a:p>
            <a:pPr algn="l"/>
            <a:r>
              <a:rPr lang="zh-CN" altLang="en-US" sz="2800" b="0" i="0" u="none" strike="noStrike" baseline="0" dirty="0"/>
              <a:t>根据直线带电线的场强公式</a:t>
            </a:r>
            <a:endParaRPr lang="en-US" altLang="zh-CN" sz="2800" b="0" i="0" u="none" strike="noStrike" baseline="0" dirty="0"/>
          </a:p>
          <a:p>
            <a:pPr algn="l"/>
            <a:endParaRPr lang="zh-CN" altLang="en-US" sz="2800" b="0" i="0" u="none" strike="noStrike" baseline="0" dirty="0"/>
          </a:p>
          <a:p>
            <a:pPr algn="l"/>
            <a:r>
              <a:rPr lang="zh-CN" altLang="en-US" sz="2800" b="0" i="0" u="none" strike="noStrike" baseline="0" dirty="0"/>
              <a:t>得带电直线在</a:t>
            </a:r>
            <a:r>
              <a:rPr lang="en-US" altLang="zh-CN" sz="2800" b="0" i="1" u="none" strike="noStrike" baseline="0" dirty="0"/>
              <a:t>P </a:t>
            </a:r>
            <a:r>
              <a:rPr lang="zh-CN" altLang="en-US" sz="2800" b="0" i="0" u="none" strike="noStrike" baseline="0" dirty="0"/>
              <a:t>点产生的场强为</a:t>
            </a:r>
            <a:endParaRPr lang="zh-CN" altLang="en-US" sz="2800" dirty="0"/>
          </a:p>
        </p:txBody>
      </p:sp>
      <p:sp>
        <p:nvSpPr>
          <p:cNvPr id="11" name="文本框 10">
            <a:extLst>
              <a:ext uri="{FF2B5EF4-FFF2-40B4-BE49-F238E27FC236}">
                <a16:creationId xmlns:a16="http://schemas.microsoft.com/office/drawing/2014/main" id="{5824D436-0A30-3D77-4430-A37011E4FC98}"/>
              </a:ext>
            </a:extLst>
          </p:cNvPr>
          <p:cNvSpPr txBox="1"/>
          <p:nvPr/>
        </p:nvSpPr>
        <p:spPr>
          <a:xfrm>
            <a:off x="2672883" y="4966480"/>
            <a:ext cx="4748177" cy="523220"/>
          </a:xfrm>
          <a:prstGeom prst="rect">
            <a:avLst/>
          </a:prstGeom>
          <a:noFill/>
        </p:spPr>
        <p:txBody>
          <a:bodyPr wrap="square">
            <a:spAutoFit/>
          </a:bodyPr>
          <a:lstStyle/>
          <a:p>
            <a:pPr algn="l"/>
            <a:r>
              <a:rPr lang="zh-CN" altLang="en-US" sz="2800" b="0" i="0" u="none" strike="noStrike" baseline="0" dirty="0"/>
              <a:t>其方向沿</a:t>
            </a:r>
            <a:r>
              <a:rPr lang="en-US" altLang="zh-CN" sz="2800" b="0" i="1" u="none" strike="noStrike" baseline="0" dirty="0"/>
              <a:t>x </a:t>
            </a:r>
            <a:r>
              <a:rPr lang="zh-CN" altLang="en-US" sz="2800" b="0" i="0" u="none" strike="noStrike" baseline="0" dirty="0"/>
              <a:t>轴正向</a:t>
            </a:r>
            <a:endParaRPr lang="zh-CN" altLang="en-US" sz="2800" dirty="0"/>
          </a:p>
        </p:txBody>
      </p:sp>
      <p:pic>
        <p:nvPicPr>
          <p:cNvPr id="13" name="图片 12">
            <a:extLst>
              <a:ext uri="{FF2B5EF4-FFF2-40B4-BE49-F238E27FC236}">
                <a16:creationId xmlns:a16="http://schemas.microsoft.com/office/drawing/2014/main" id="{1623A4DB-E292-020C-85B0-DC26331F2B00}"/>
              </a:ext>
            </a:extLst>
          </p:cNvPr>
          <p:cNvPicPr>
            <a:picLocks noChangeAspect="1"/>
          </p:cNvPicPr>
          <p:nvPr/>
        </p:nvPicPr>
        <p:blipFill>
          <a:blip r:embed="rId3"/>
          <a:stretch>
            <a:fillRect/>
          </a:stretch>
        </p:blipFill>
        <p:spPr>
          <a:xfrm>
            <a:off x="5000657" y="1629910"/>
            <a:ext cx="1756470" cy="1164092"/>
          </a:xfrm>
          <a:prstGeom prst="rect">
            <a:avLst/>
          </a:prstGeom>
        </p:spPr>
      </p:pic>
      <p:pic>
        <p:nvPicPr>
          <p:cNvPr id="15" name="图片 14">
            <a:extLst>
              <a:ext uri="{FF2B5EF4-FFF2-40B4-BE49-F238E27FC236}">
                <a16:creationId xmlns:a16="http://schemas.microsoft.com/office/drawing/2014/main" id="{740C0F70-63CD-03D9-E7B6-79CC700D6810}"/>
              </a:ext>
            </a:extLst>
          </p:cNvPr>
          <p:cNvPicPr>
            <a:picLocks noChangeAspect="1"/>
          </p:cNvPicPr>
          <p:nvPr/>
        </p:nvPicPr>
        <p:blipFill>
          <a:blip r:embed="rId4"/>
          <a:stretch>
            <a:fillRect/>
          </a:stretch>
        </p:blipFill>
        <p:spPr>
          <a:xfrm>
            <a:off x="1765573" y="3533631"/>
            <a:ext cx="4991554" cy="1039355"/>
          </a:xfrm>
          <a:prstGeom prst="rect">
            <a:avLst/>
          </a:prstGeom>
        </p:spPr>
      </p:pic>
    </p:spTree>
    <p:extLst>
      <p:ext uri="{BB962C8B-B14F-4D97-AF65-F5344CB8AC3E}">
        <p14:creationId xmlns:p14="http://schemas.microsoft.com/office/powerpoint/2010/main" val="4193292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7D457566-4A90-FCA5-A1FB-EDEA01ACD97A}"/>
              </a:ext>
            </a:extLst>
          </p:cNvPr>
          <p:cNvPicPr>
            <a:picLocks noChangeAspect="1"/>
          </p:cNvPicPr>
          <p:nvPr/>
        </p:nvPicPr>
        <p:blipFill>
          <a:blip r:embed="rId2"/>
          <a:stretch>
            <a:fillRect/>
          </a:stretch>
        </p:blipFill>
        <p:spPr>
          <a:xfrm>
            <a:off x="7977440" y="399531"/>
            <a:ext cx="3619474" cy="3626861"/>
          </a:xfrm>
          <a:prstGeom prst="rect">
            <a:avLst/>
          </a:prstGeom>
        </p:spPr>
      </p:pic>
      <p:pic>
        <p:nvPicPr>
          <p:cNvPr id="15" name="图片 14">
            <a:extLst>
              <a:ext uri="{FF2B5EF4-FFF2-40B4-BE49-F238E27FC236}">
                <a16:creationId xmlns:a16="http://schemas.microsoft.com/office/drawing/2014/main" id="{740C0F70-63CD-03D9-E7B6-79CC700D6810}"/>
              </a:ext>
            </a:extLst>
          </p:cNvPr>
          <p:cNvPicPr>
            <a:picLocks noChangeAspect="1"/>
          </p:cNvPicPr>
          <p:nvPr/>
        </p:nvPicPr>
        <p:blipFill>
          <a:blip r:embed="rId3"/>
          <a:stretch>
            <a:fillRect/>
          </a:stretch>
        </p:blipFill>
        <p:spPr>
          <a:xfrm>
            <a:off x="1844242" y="1173607"/>
            <a:ext cx="4991554" cy="1039355"/>
          </a:xfrm>
          <a:prstGeom prst="rect">
            <a:avLst/>
          </a:prstGeom>
        </p:spPr>
      </p:pic>
      <p:sp>
        <p:nvSpPr>
          <p:cNvPr id="16" name="文本框 15">
            <a:extLst>
              <a:ext uri="{FF2B5EF4-FFF2-40B4-BE49-F238E27FC236}">
                <a16:creationId xmlns:a16="http://schemas.microsoft.com/office/drawing/2014/main" id="{994008C2-B216-C349-3D04-A535FC8757F2}"/>
              </a:ext>
            </a:extLst>
          </p:cNvPr>
          <p:cNvSpPr txBox="1"/>
          <p:nvPr/>
        </p:nvSpPr>
        <p:spPr>
          <a:xfrm>
            <a:off x="667657" y="2690014"/>
            <a:ext cx="6509225" cy="954107"/>
          </a:xfrm>
          <a:prstGeom prst="rect">
            <a:avLst/>
          </a:prstGeom>
          <a:noFill/>
        </p:spPr>
        <p:txBody>
          <a:bodyPr wrap="square">
            <a:spAutoFit/>
          </a:bodyPr>
          <a:lstStyle/>
          <a:p>
            <a:pPr algn="l"/>
            <a:r>
              <a:rPr lang="zh-CN" altLang="en-US" sz="2800" b="0" i="0" u="none" strike="noStrike" baseline="0" dirty="0"/>
              <a:t>由于每条无限长直线在</a:t>
            </a:r>
            <a:r>
              <a:rPr lang="en-US" altLang="zh-CN" sz="2800" b="0" i="1" u="none" strike="noStrike" baseline="0" dirty="0"/>
              <a:t>P </a:t>
            </a:r>
            <a:r>
              <a:rPr lang="zh-CN" altLang="en-US" sz="2800" b="0" i="0" u="none" strike="noStrike" baseline="0" dirty="0"/>
              <a:t>点的产生的场强方向相同，所以总场强为</a:t>
            </a:r>
            <a:endParaRPr lang="zh-CN" altLang="en-US" sz="2800" dirty="0"/>
          </a:p>
        </p:txBody>
      </p:sp>
      <p:pic>
        <p:nvPicPr>
          <p:cNvPr id="18" name="图片 17">
            <a:extLst>
              <a:ext uri="{FF2B5EF4-FFF2-40B4-BE49-F238E27FC236}">
                <a16:creationId xmlns:a16="http://schemas.microsoft.com/office/drawing/2014/main" id="{F79780C2-97BF-02E1-D297-633162EBDCEC}"/>
              </a:ext>
            </a:extLst>
          </p:cNvPr>
          <p:cNvPicPr>
            <a:picLocks noChangeAspect="1"/>
          </p:cNvPicPr>
          <p:nvPr/>
        </p:nvPicPr>
        <p:blipFill>
          <a:blip r:embed="rId4"/>
          <a:stretch>
            <a:fillRect/>
          </a:stretch>
        </p:blipFill>
        <p:spPr>
          <a:xfrm>
            <a:off x="667658" y="4198323"/>
            <a:ext cx="9144000" cy="2139506"/>
          </a:xfrm>
          <a:prstGeom prst="rect">
            <a:avLst/>
          </a:prstGeom>
        </p:spPr>
      </p:pic>
      <p:sp>
        <p:nvSpPr>
          <p:cNvPr id="2" name="矩形: 圆角 1">
            <a:extLst>
              <a:ext uri="{FF2B5EF4-FFF2-40B4-BE49-F238E27FC236}">
                <a16:creationId xmlns:a16="http://schemas.microsoft.com/office/drawing/2014/main" id="{129EA5B4-BE48-6E89-10AC-26FFC10D41D9}"/>
              </a:ext>
            </a:extLst>
          </p:cNvPr>
          <p:cNvSpPr/>
          <p:nvPr/>
        </p:nvSpPr>
        <p:spPr>
          <a:xfrm>
            <a:off x="3643087" y="5522686"/>
            <a:ext cx="1690914" cy="696685"/>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3893002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1EE6B56-DBAD-4460-85C8-B9D868FF6142}"/>
              </a:ext>
            </a:extLst>
          </p:cNvPr>
          <p:cNvSpPr/>
          <p:nvPr/>
        </p:nvSpPr>
        <p:spPr>
          <a:xfrm>
            <a:off x="2391265" y="2363801"/>
            <a:ext cx="7879080"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作业 ：课后习题</a:t>
            </a:r>
            <a:r>
              <a:rPr lang="en-US" sz="3200" kern="0" dirty="0">
                <a:solidFill>
                  <a:srgbClr val="000000"/>
                </a:solidFill>
                <a:latin typeface="+mj-lt"/>
                <a:ea typeface="+mj-ea"/>
                <a:cs typeface="宋体" panose="02010600030101010101" pitchFamily="2" charset="-122"/>
              </a:rPr>
              <a:t>12.1</a:t>
            </a:r>
            <a:r>
              <a:rPr lang="zh-CN" altLang="en-US" sz="3200" kern="0" dirty="0">
                <a:solidFill>
                  <a:srgbClr val="000000"/>
                </a:solidFill>
                <a:latin typeface="+mj-lt"/>
                <a:ea typeface="+mj-ea"/>
                <a:cs typeface="宋体" panose="02010600030101010101" pitchFamily="2" charset="-122"/>
              </a:rPr>
              <a:t>，</a:t>
            </a:r>
            <a:r>
              <a:rPr lang="en-US" sz="3200" kern="0" dirty="0">
                <a:solidFill>
                  <a:srgbClr val="000000"/>
                </a:solidFill>
                <a:latin typeface="+mj-lt"/>
                <a:ea typeface="+mj-ea"/>
                <a:cs typeface="宋体" panose="02010600030101010101" pitchFamily="2" charset="-122"/>
              </a:rPr>
              <a:t>12.10</a:t>
            </a:r>
            <a:r>
              <a:rPr lang="zh-CN" altLang="en-US" sz="3200" kern="0" dirty="0">
                <a:solidFill>
                  <a:srgbClr val="000000"/>
                </a:solidFill>
                <a:latin typeface="+mj-lt"/>
                <a:ea typeface="+mj-ea"/>
                <a:cs typeface="宋体" panose="02010600030101010101" pitchFamily="2" charset="-122"/>
              </a:rPr>
              <a:t>，</a:t>
            </a:r>
            <a:r>
              <a:rPr lang="en-US" sz="3200" kern="0" dirty="0">
                <a:solidFill>
                  <a:srgbClr val="000000"/>
                </a:solidFill>
                <a:latin typeface="+mj-lt"/>
                <a:ea typeface="+mj-ea"/>
                <a:cs typeface="宋体" panose="02010600030101010101" pitchFamily="2" charset="-122"/>
              </a:rPr>
              <a:t>12.17</a:t>
            </a:r>
            <a:r>
              <a:rPr lang="zh-CN" altLang="en-US" sz="3200" kern="0" dirty="0">
                <a:solidFill>
                  <a:srgbClr val="000000"/>
                </a:solidFill>
                <a:latin typeface="+mj-lt"/>
                <a:ea typeface="+mj-ea"/>
                <a:cs typeface="宋体" panose="02010600030101010101" pitchFamily="2" charset="-122"/>
              </a:rPr>
              <a:t>，</a:t>
            </a:r>
            <a:r>
              <a:rPr lang="en-US" sz="3200" kern="0" dirty="0">
                <a:solidFill>
                  <a:srgbClr val="000000"/>
                </a:solidFill>
                <a:latin typeface="+mj-lt"/>
                <a:ea typeface="+mj-ea"/>
                <a:cs typeface="宋体" panose="02010600030101010101" pitchFamily="2" charset="-122"/>
              </a:rPr>
              <a:t>12.29</a:t>
            </a:r>
            <a:endParaRPr lang="en-US" sz="3200" kern="100" dirty="0">
              <a:effectLst/>
              <a:latin typeface="+mj-lt"/>
              <a:ea typeface="+mj-ea"/>
              <a:cs typeface="Times New Roman" panose="02020603050405020304" pitchFamily="18" charset="0"/>
            </a:endParaRPr>
          </a:p>
        </p:txBody>
      </p:sp>
      <p:sp>
        <p:nvSpPr>
          <p:cNvPr id="3" name="矩形 2">
            <a:extLst>
              <a:ext uri="{FF2B5EF4-FFF2-40B4-BE49-F238E27FC236}">
                <a16:creationId xmlns:a16="http://schemas.microsoft.com/office/drawing/2014/main" id="{557FC185-3475-403F-A50E-0427321BF6DE}"/>
              </a:ext>
            </a:extLst>
          </p:cNvPr>
          <p:cNvSpPr/>
          <p:nvPr/>
        </p:nvSpPr>
        <p:spPr>
          <a:xfrm>
            <a:off x="2746864" y="3620070"/>
            <a:ext cx="5006499" cy="584775"/>
          </a:xfrm>
          <a:prstGeom prst="rect">
            <a:avLst/>
          </a:prstGeom>
        </p:spPr>
        <p:txBody>
          <a:bodyPr wrap="none">
            <a:spAutoFit/>
          </a:bodyPr>
          <a:lstStyle/>
          <a:p>
            <a:r>
              <a:rPr lang="zh-CN" altLang="en-US" sz="3200" kern="0" dirty="0">
                <a:solidFill>
                  <a:srgbClr val="000000"/>
                </a:solidFill>
                <a:latin typeface="+mj-lt"/>
                <a:ea typeface="+mj-ea"/>
                <a:cs typeface="宋体" panose="02010600030101010101" pitchFamily="2" charset="-122"/>
              </a:rPr>
              <a:t>截止时间： </a:t>
            </a:r>
            <a:r>
              <a:rPr lang="en-US" altLang="zh-CN" sz="3200" kern="0" dirty="0">
                <a:solidFill>
                  <a:srgbClr val="000000"/>
                </a:solidFill>
                <a:latin typeface="+mj-lt"/>
                <a:ea typeface="+mj-ea"/>
                <a:cs typeface="宋体" panose="02010600030101010101" pitchFamily="2" charset="-122"/>
              </a:rPr>
              <a:t>3</a:t>
            </a:r>
            <a:r>
              <a:rPr lang="zh-CN" altLang="en-US" sz="3200" kern="0" dirty="0">
                <a:solidFill>
                  <a:srgbClr val="000000"/>
                </a:solidFill>
                <a:latin typeface="+mj-lt"/>
                <a:ea typeface="+mj-ea"/>
                <a:cs typeface="宋体" panose="02010600030101010101" pitchFamily="2" charset="-122"/>
              </a:rPr>
              <a:t>月</a:t>
            </a:r>
            <a:r>
              <a:rPr lang="en-US" altLang="zh-CN" sz="3200" kern="0" dirty="0">
                <a:solidFill>
                  <a:srgbClr val="000000"/>
                </a:solidFill>
                <a:latin typeface="+mj-lt"/>
                <a:ea typeface="+mj-ea"/>
                <a:cs typeface="宋体" panose="02010600030101010101" pitchFamily="2" charset="-122"/>
              </a:rPr>
              <a:t>21</a:t>
            </a:r>
            <a:r>
              <a:rPr lang="zh-CN" altLang="en-US" sz="3200" kern="0" dirty="0">
                <a:solidFill>
                  <a:srgbClr val="000000"/>
                </a:solidFill>
                <a:latin typeface="+mj-lt"/>
                <a:ea typeface="+mj-ea"/>
                <a:cs typeface="宋体" panose="02010600030101010101" pitchFamily="2" charset="-122"/>
              </a:rPr>
              <a:t>日</a:t>
            </a:r>
            <a:r>
              <a:rPr lang="en-US" altLang="zh-CN" sz="3200" kern="0" dirty="0">
                <a:solidFill>
                  <a:srgbClr val="000000"/>
                </a:solidFill>
                <a:latin typeface="+mj-lt"/>
                <a:ea typeface="+mj-ea"/>
                <a:cs typeface="宋体" panose="02010600030101010101" pitchFamily="2" charset="-122"/>
              </a:rPr>
              <a:t>10</a:t>
            </a:r>
            <a:r>
              <a:rPr lang="zh-CN" altLang="en-US" sz="3200" kern="0" dirty="0">
                <a:solidFill>
                  <a:srgbClr val="000000"/>
                </a:solidFill>
                <a:latin typeface="+mj-lt"/>
                <a:ea typeface="+mj-ea"/>
                <a:cs typeface="宋体" panose="02010600030101010101" pitchFamily="2" charset="-122"/>
              </a:rPr>
              <a:t>：</a:t>
            </a:r>
            <a:r>
              <a:rPr lang="en-US" altLang="zh-CN" sz="3200" kern="0" dirty="0">
                <a:solidFill>
                  <a:srgbClr val="000000"/>
                </a:solidFill>
                <a:latin typeface="+mj-lt"/>
                <a:ea typeface="+mj-ea"/>
                <a:cs typeface="宋体" panose="02010600030101010101" pitchFamily="2" charset="-122"/>
              </a:rPr>
              <a:t>10</a:t>
            </a:r>
            <a:endParaRPr lang="en-US" sz="3200" kern="100" dirty="0">
              <a:effectLst/>
              <a:latin typeface="+mj-lt"/>
              <a:ea typeface="+mj-ea"/>
              <a:cs typeface="Times New Roman" panose="02020603050405020304" pitchFamily="18" charset="0"/>
            </a:endParaRPr>
          </a:p>
        </p:txBody>
      </p:sp>
    </p:spTree>
    <p:extLst>
      <p:ext uri="{BB962C8B-B14F-4D97-AF65-F5344CB8AC3E}">
        <p14:creationId xmlns:p14="http://schemas.microsoft.com/office/powerpoint/2010/main" val="2974958184"/>
      </p:ext>
    </p:extLst>
  </p:cSld>
  <p:clrMapOvr>
    <a:masterClrMapping/>
  </p:clrMapOvr>
  <mc:AlternateContent xmlns:mc="http://schemas.openxmlformats.org/markup-compatibility/2006" xmlns:p14="http://schemas.microsoft.com/office/powerpoint/2010/main">
    <mc:Choice Requires="p14">
      <p:transition spd="slow" p14:dur="999"/>
    </mc:Choice>
    <mc:Fallback xmlns="">
      <p:transition spd="slow"/>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2.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8.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1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11.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1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1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18.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19.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2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2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2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2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0.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3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5.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3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7.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3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3.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4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46.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4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48.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4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0.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1.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53.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54.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9.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0.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61.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2.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63.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6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5.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6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8.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69.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70.xml><?xml version="1.0" encoding="utf-8"?>
<p:tagLst xmlns:a="http://schemas.openxmlformats.org/drawingml/2006/main" xmlns:r="http://schemas.openxmlformats.org/officeDocument/2006/relationships" xmlns:p="http://schemas.openxmlformats.org/presentationml/2006/main">
  <p:tag name="RAINPROBLEM" val="MultipleChoice"/>
  <p:tag name="PROBLEMSCORE" val="1.0"/>
</p:tagLst>
</file>

<file path=ppt/tags/tag71.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72.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3.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4.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Correct"/>
</p:tagLst>
</file>

<file path=ppt/tags/tag75.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6.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7.xml><?xml version="1.0" encoding="utf-8"?>
<p:tagLst xmlns:a="http://schemas.openxmlformats.org/drawingml/2006/main" xmlns:r="http://schemas.openxmlformats.org/officeDocument/2006/relationships" xmlns:p="http://schemas.openxmlformats.org/presentationml/2006/main">
  <p:tag name="RAINPROBLEM" val="ProblemBullet"/>
  <p:tag name="RAINPROBLEMTYPE" val="MultipleChoice"/>
  <p:tag name="RAINBULLET" val="Wrong"/>
</p:tagLst>
</file>

<file path=ppt/tags/tag78.xml><?xml version="1.0" encoding="utf-8"?>
<p:tagLst xmlns:a="http://schemas.openxmlformats.org/drawingml/2006/main" xmlns:r="http://schemas.openxmlformats.org/officeDocument/2006/relationships" xmlns:p="http://schemas.openxmlformats.org/presentationml/2006/main">
  <p:tag name="RAINPROBLEM" val="ProblemSubmit"/>
  <p:tag name="RAINPROBLEMTYPE" val="MultipleChoice"/>
</p:tagLst>
</file>

<file path=ppt/tags/tag79.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1.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2.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3.xml><?xml version="1.0" encoding="utf-8"?>
<p:tagLst xmlns:a="http://schemas.openxmlformats.org/drawingml/2006/main" xmlns:r="http://schemas.openxmlformats.org/officeDocument/2006/relationships" xmlns:p="http://schemas.openxmlformats.org/presentationml/2006/main">
  <p:tag name="RAINPROBLEM" val="ProblemSetting"/>
  <p:tag name="RAINPROBLEMTYPE" val="MultipleChoice"/>
</p:tagLst>
</file>

<file path=ppt/tags/tag84.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5.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6.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87.xml><?xml version="1.0" encoding="utf-8"?>
<p:tagLst xmlns:a="http://schemas.openxmlformats.org/drawingml/2006/main" xmlns:r="http://schemas.openxmlformats.org/officeDocument/2006/relationships" xmlns:p="http://schemas.openxmlformats.org/presentationml/2006/main">
  <p:tag name="RAINPROBLEMTYPE" val="ProblemTypeMarker"/>
</p:tagLst>
</file>

<file path=ppt/tags/tag33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4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3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41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40.xml><?xml version="1.0" encoding="utf-8"?>
<p:tagLst xmlns:a="http://schemas.openxmlformats.org/drawingml/2006/main" xmlns:r="http://schemas.openxmlformats.org/officeDocument/2006/relationships" xmlns:p="http://schemas.openxmlformats.org/presentationml/2006/main">
  <p:tag name="RAINPROBLEM" val="ProblemBody"/>
</p:tagLst>
</file>

<file path=ppt/tags/tag55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6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7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58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2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79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00.xml><?xml version="1.0" encoding="utf-8"?>
<p:tagLst xmlns:a="http://schemas.openxmlformats.org/drawingml/2006/main" xmlns:r="http://schemas.openxmlformats.org/officeDocument/2006/relationships" xmlns:p="http://schemas.openxmlformats.org/presentationml/2006/main">
  <p:tag name="RAINPROBLEM" val="ProblemItem"/>
</p:tagLst>
</file>

<file path=ppt/tags/tag810.xml><?xml version="1.0" encoding="utf-8"?>
<p:tagLst xmlns:a="http://schemas.openxmlformats.org/drawingml/2006/main" xmlns:r="http://schemas.openxmlformats.org/officeDocument/2006/relationships" xmlns:p="http://schemas.openxmlformats.org/presentationml/2006/main">
  <p:tag name="RAINPROBLEM" val="ProblemItem"/>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大学物理">
      <a:majorFont>
        <a:latin typeface="Times New Roman"/>
        <a:ea typeface="华文楷体"/>
        <a:cs typeface=""/>
      </a:majorFont>
      <a:minorFont>
        <a:latin typeface="Times New Roman"/>
        <a:ea typeface="华文楷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9824</TotalTime>
  <Words>2409</Words>
  <Application>Microsoft Office PowerPoint</Application>
  <PresentationFormat>宽屏</PresentationFormat>
  <Paragraphs>393</Paragraphs>
  <Slides>45</Slides>
  <Notes>7</Notes>
  <HiddenSlides>1</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45</vt:i4>
      </vt:variant>
    </vt:vector>
  </HeadingPairs>
  <TitlesOfParts>
    <vt:vector size="61" baseType="lpstr">
      <vt:lpstr>Microsoft Yahei</vt:lpstr>
      <vt:lpstr>Monotype Sorts</vt:lpstr>
      <vt:lpstr>等线</vt:lpstr>
      <vt:lpstr>黑体</vt:lpstr>
      <vt:lpstr>华文楷体</vt:lpstr>
      <vt:lpstr>华文新魏</vt:lpstr>
      <vt:lpstr>华文中宋</vt:lpstr>
      <vt:lpstr>宋体</vt:lpstr>
      <vt:lpstr>Arial</vt:lpstr>
      <vt:lpstr>Bookman Old Style</vt:lpstr>
      <vt:lpstr>Calibri</vt:lpstr>
      <vt:lpstr>Cambria Math</vt:lpstr>
      <vt:lpstr>Symbol</vt:lpstr>
      <vt:lpstr>Times New Roman</vt:lpstr>
      <vt:lpstr>Wingdings</vt:lpstr>
      <vt:lpstr>Office 主题​​</vt:lpstr>
      <vt:lpstr>PowerPoint 演示文稿</vt:lpstr>
      <vt:lpstr>PowerPoint 演示文稿</vt:lpstr>
      <vt:lpstr>PowerPoint 演示文稿</vt:lpstr>
      <vt:lpstr>PowerPoint 演示文稿</vt:lpstr>
      <vt:lpstr>[例12.5]求一均匀带电圆环轴线上任一点x处的电场.</vt:lpstr>
      <vt:lpstr>PowerPoint 演示文稿</vt:lpstr>
      <vt:lpstr>PowerPoint 演示文稿</vt:lpstr>
      <vt:lpstr>PowerPoint 演示文稿</vt:lpstr>
      <vt:lpstr>无限大均匀带电平面：</vt:lpstr>
      <vt:lpstr>[例12.7]试求电偶极子在均匀外电场中所受的力矩。</vt:lpstr>
      <vt:lpstr>PowerPoint 演示文稿</vt:lpstr>
      <vt:lpstr>PowerPoint 演示文稿</vt:lpstr>
      <vt:lpstr>PowerPoint 演示文稿</vt:lpstr>
      <vt:lpstr>电通量：通过某一曲面的电场线条数</vt:lpstr>
      <vt:lpstr>PowerPoint 演示文稿</vt:lpstr>
      <vt:lpstr>封闭曲面 S 的电通量</vt:lpstr>
      <vt:lpstr>PowerPoint 演示文稿</vt:lpstr>
      <vt:lpstr>PowerPoint 演示文稿</vt:lpstr>
      <vt:lpstr>PowerPoint 演示文稿</vt:lpstr>
      <vt:lpstr>闭合面内为点电荷系：</vt:lpstr>
      <vt:lpstr>PowerPoint 演示文稿</vt:lpstr>
      <vt:lpstr>Φ_e=∯16_S▒〖E ⃗∙dS ⃗=1/ε_0  ∑_S内▒q_i 〗</vt:lpstr>
      <vt:lpstr>PowerPoint 演示文稿</vt:lpstr>
      <vt:lpstr>PowerPoint 演示文稿</vt:lpstr>
      <vt:lpstr>PowerPoint 演示文稿</vt:lpstr>
      <vt:lpstr>Φ_e=∯16_S▒〖E ⃗∙dS ⃗=1/ε_0  ∑_S内▒q_i 〗</vt:lpstr>
      <vt:lpstr>PowerPoint 演示文稿</vt:lpstr>
      <vt:lpstr>PowerPoint 演示文稿</vt:lpstr>
      <vt:lpstr>PowerPoint 演示文稿</vt:lpstr>
      <vt:lpstr>利用高斯定律求静电场的分布</vt:lpstr>
      <vt:lpstr>例：电荷呈球对称分布时所激发的电场强度(球面半径为R，总带电量为q)</vt:lpstr>
      <vt:lpstr>例：电荷呈球对称分布时所激发的电场强度(球面半径为R，总带电量为q)</vt:lpstr>
      <vt:lpstr>例：电荷呈球对称分布时所激发的电场强度(球面半径为R，总带电量为q)</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Jingcheng  Li</dc:creator>
  <cp:lastModifiedBy>Jingcheng  Li</cp:lastModifiedBy>
  <cp:revision>209</cp:revision>
  <dcterms:created xsi:type="dcterms:W3CDTF">2023-02-17T03:39:54Z</dcterms:created>
  <dcterms:modified xsi:type="dcterms:W3CDTF">2024-03-14T01:43:39Z</dcterms:modified>
</cp:coreProperties>
</file>