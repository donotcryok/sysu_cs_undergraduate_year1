
<file path=[Content_Types].xml><?xml version="1.0" encoding="utf-8"?>
<Types xmlns="http://schemas.openxmlformats.org/package/2006/content-types">
  <Default Extension="png" ContentType="image/png"/>
  <Default Extension="tmp"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210.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2"/>
  </p:notesMasterIdLst>
  <p:sldIdLst>
    <p:sldId id="821" r:id="rId5"/>
    <p:sldId id="1153" r:id="rId6"/>
    <p:sldId id="1157" r:id="rId7"/>
    <p:sldId id="544" r:id="rId8"/>
    <p:sldId id="900" r:id="rId9"/>
    <p:sldId id="1164" r:id="rId10"/>
    <p:sldId id="892" r:id="rId11"/>
    <p:sldId id="815" r:id="rId12"/>
    <p:sldId id="906" r:id="rId13"/>
    <p:sldId id="786" r:id="rId14"/>
    <p:sldId id="1180" r:id="rId15"/>
    <p:sldId id="802" r:id="rId16"/>
    <p:sldId id="358" r:id="rId17"/>
    <p:sldId id="1172" r:id="rId18"/>
    <p:sldId id="1173" r:id="rId19"/>
    <p:sldId id="1174" r:id="rId20"/>
    <p:sldId id="354" r:id="rId21"/>
    <p:sldId id="805" r:id="rId22"/>
    <p:sldId id="822" r:id="rId23"/>
    <p:sldId id="1166" r:id="rId24"/>
    <p:sldId id="907" r:id="rId25"/>
    <p:sldId id="1168" r:id="rId26"/>
    <p:sldId id="794" r:id="rId27"/>
    <p:sldId id="1167" r:id="rId28"/>
    <p:sldId id="908" r:id="rId29"/>
    <p:sldId id="1143" r:id="rId30"/>
    <p:sldId id="1181" r:id="rId31"/>
    <p:sldId id="1179" r:id="rId32"/>
    <p:sldId id="1182" r:id="rId33"/>
    <p:sldId id="909" r:id="rId34"/>
    <p:sldId id="1183" r:id="rId35"/>
    <p:sldId id="1184" r:id="rId36"/>
    <p:sldId id="1185" r:id="rId37"/>
    <p:sldId id="1186" r:id="rId38"/>
    <p:sldId id="1187" r:id="rId39"/>
    <p:sldId id="261" r:id="rId40"/>
    <p:sldId id="910" r:id="rId41"/>
    <p:sldId id="912" r:id="rId42"/>
    <p:sldId id="1188" r:id="rId43"/>
    <p:sldId id="1189" r:id="rId44"/>
    <p:sldId id="914" r:id="rId45"/>
    <p:sldId id="1190" r:id="rId46"/>
    <p:sldId id="911" r:id="rId47"/>
    <p:sldId id="271" r:id="rId48"/>
    <p:sldId id="1191" r:id="rId49"/>
    <p:sldId id="919" r:id="rId50"/>
    <p:sldId id="1192"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138" autoAdjust="0"/>
    <p:restoredTop sz="94662" autoAdjust="0"/>
  </p:normalViewPr>
  <p:slideViewPr>
    <p:cSldViewPr snapToGrid="0">
      <p:cViewPr>
        <p:scale>
          <a:sx n="125" d="100"/>
          <a:sy n="125" d="100"/>
        </p:scale>
        <p:origin x="1348" y="9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4"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5733EA-8E6D-4666-B9D4-9ACE27AD59EA}" type="datetimeFigureOut">
              <a:rPr lang="en-US" smtClean="0"/>
              <a:t>3/21/2024</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1FE689-547E-4EC7-A7DE-41A4901E6B75}" type="slidenum">
              <a:rPr lang="en-US" smtClean="0"/>
              <a:t>‹#›</a:t>
            </a:fld>
            <a:endParaRPr lang="en-US"/>
          </a:p>
        </p:txBody>
      </p:sp>
    </p:spTree>
    <p:extLst>
      <p:ext uri="{BB962C8B-B14F-4D97-AF65-F5344CB8AC3E}">
        <p14:creationId xmlns:p14="http://schemas.microsoft.com/office/powerpoint/2010/main" val="4072326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a:extLst>
              <a:ext uri="{FF2B5EF4-FFF2-40B4-BE49-F238E27FC236}">
                <a16:creationId xmlns:a16="http://schemas.microsoft.com/office/drawing/2014/main" id="{DA3FC552-3999-421B-924B-43D8DAB4C7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EFEF0">
                    <a:alpha val="50195"/>
                  </a:srgbClr>
                </a:solidFill>
              </a14:hiddenFill>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C21BDEB-DCE8-4193-879D-E7B53D60AE74}" type="slidenum">
              <a:rPr lang="en-US" altLang="zh-CN" b="0" smtClean="0">
                <a:solidFill>
                  <a:srgbClr val="000000"/>
                </a:solidFill>
              </a:rPr>
              <a:pPr>
                <a:spcBef>
                  <a:spcPct val="0"/>
                </a:spcBef>
              </a:pPr>
              <a:t>2</a:t>
            </a:fld>
            <a:endParaRPr lang="en-US" altLang="zh-CN" b="0">
              <a:solidFill>
                <a:srgbClr val="000000"/>
              </a:solidFill>
            </a:endParaRPr>
          </a:p>
        </p:txBody>
      </p:sp>
      <p:sp>
        <p:nvSpPr>
          <p:cNvPr id="158723" name="Rectangle 2">
            <a:extLst>
              <a:ext uri="{FF2B5EF4-FFF2-40B4-BE49-F238E27FC236}">
                <a16:creationId xmlns:a16="http://schemas.microsoft.com/office/drawing/2014/main" id="{97C913E5-AF7D-4EF0-AE44-8F53F7DA2E9F}"/>
              </a:ext>
            </a:extLst>
          </p:cNvPr>
          <p:cNvSpPr>
            <a:spLocks noGrp="1" noRot="1" noChangeAspect="1" noChangeArrowheads="1" noTextEdit="1"/>
          </p:cNvSpPr>
          <p:nvPr>
            <p:ph type="sldImg"/>
          </p:nvPr>
        </p:nvSpPr>
        <p:spPr>
          <a:xfrm>
            <a:off x="139700" y="768350"/>
            <a:ext cx="6819900" cy="3836988"/>
          </a:xfrm>
          <a:solidFill>
            <a:srgbClr val="FFFFFF"/>
          </a:solidFill>
          <a:ln/>
        </p:spPr>
      </p:sp>
      <p:sp>
        <p:nvSpPr>
          <p:cNvPr id="158724" name="Rectangle 3">
            <a:extLst>
              <a:ext uri="{FF2B5EF4-FFF2-40B4-BE49-F238E27FC236}">
                <a16:creationId xmlns:a16="http://schemas.microsoft.com/office/drawing/2014/main" id="{0C4283A7-BA3A-4C49-84F6-7A44E00D83B7}"/>
              </a:ext>
            </a:extLst>
          </p:cNvPr>
          <p:cNvSpPr>
            <a:spLocks noGrp="1" noChangeArrowheads="1"/>
          </p:cNvSpPr>
          <p:nvPr>
            <p:ph type="body" idx="1"/>
          </p:nvPr>
        </p:nvSpPr>
        <p:spPr>
          <a:solidFill>
            <a:srgbClr val="FFFFFF"/>
          </a:solidFill>
          <a:ln w="6350">
            <a:solidFill>
              <a:srgbClr val="000000"/>
            </a:solidFill>
            <a:miter lim="800000"/>
            <a:headEnd/>
            <a:tailEnd/>
          </a:ln>
        </p:spPr>
        <p:txBody>
          <a:bodyPr/>
          <a:lstStyle/>
          <a:p>
            <a:pPr eaLnBrk="1" hangingPunct="1"/>
            <a:endParaRPr lang="zh-CN" altLang="zh-CN"/>
          </a:p>
        </p:txBody>
      </p:sp>
    </p:spTree>
    <p:extLst>
      <p:ext uri="{BB962C8B-B14F-4D97-AF65-F5344CB8AC3E}">
        <p14:creationId xmlns:p14="http://schemas.microsoft.com/office/powerpoint/2010/main" val="1248964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F075D9-9C0A-4907-9E0A-2E1C5E38781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B63CDB30-CF70-4C98-8777-71D0DE6017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C8455DCF-EA4C-4853-BD99-7C8B11522995}"/>
              </a:ext>
            </a:extLst>
          </p:cNvPr>
          <p:cNvSpPr>
            <a:spLocks noGrp="1"/>
          </p:cNvSpPr>
          <p:nvPr>
            <p:ph type="dt" sz="half" idx="10"/>
          </p:nvPr>
        </p:nvSpPr>
        <p:spPr/>
        <p:txBody>
          <a:bodyPr/>
          <a:lstStyle/>
          <a:p>
            <a:fld id="{8569C8CB-8203-4113-BC19-5C96839CBD45}" type="datetimeFigureOut">
              <a:rPr lang="en-US" smtClean="0"/>
              <a:t>3/21/2024</a:t>
            </a:fld>
            <a:endParaRPr lang="en-US"/>
          </a:p>
        </p:txBody>
      </p:sp>
      <p:sp>
        <p:nvSpPr>
          <p:cNvPr id="5" name="页脚占位符 4">
            <a:extLst>
              <a:ext uri="{FF2B5EF4-FFF2-40B4-BE49-F238E27FC236}">
                <a16:creationId xmlns:a16="http://schemas.microsoft.com/office/drawing/2014/main" id="{A057D055-1BEA-4835-BCF3-DA518BC71717}"/>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12424949-9B6D-4ABE-81D0-3E80161027A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1000683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03ECBA-8D3D-44FD-8451-1C68376A6475}"/>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0D32FE7C-6E4F-4D24-8713-B2191E02029D}"/>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C24F968E-F782-49B7-8CFB-D5AD5205873F}"/>
              </a:ext>
            </a:extLst>
          </p:cNvPr>
          <p:cNvSpPr>
            <a:spLocks noGrp="1"/>
          </p:cNvSpPr>
          <p:nvPr>
            <p:ph type="dt" sz="half" idx="10"/>
          </p:nvPr>
        </p:nvSpPr>
        <p:spPr/>
        <p:txBody>
          <a:bodyPr/>
          <a:lstStyle/>
          <a:p>
            <a:fld id="{8569C8CB-8203-4113-BC19-5C96839CBD45}" type="datetimeFigureOut">
              <a:rPr lang="en-US" smtClean="0"/>
              <a:t>3/21/2024</a:t>
            </a:fld>
            <a:endParaRPr lang="en-US"/>
          </a:p>
        </p:txBody>
      </p:sp>
      <p:sp>
        <p:nvSpPr>
          <p:cNvPr id="5" name="页脚占位符 4">
            <a:extLst>
              <a:ext uri="{FF2B5EF4-FFF2-40B4-BE49-F238E27FC236}">
                <a16:creationId xmlns:a16="http://schemas.microsoft.com/office/drawing/2014/main" id="{16733CAE-7B6D-4B2F-A356-51AA8A9B789E}"/>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2DBC30F0-28D6-4C9B-AEE5-03D12DB8B436}"/>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84273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9E53B1-9079-49D9-9131-26E0E03C6F1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C8F01D29-1A52-4551-9AAD-87EDF9D76E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51D2B19E-2D1A-4065-8E51-732596D10154}"/>
              </a:ext>
            </a:extLst>
          </p:cNvPr>
          <p:cNvSpPr>
            <a:spLocks noGrp="1"/>
          </p:cNvSpPr>
          <p:nvPr>
            <p:ph type="dt" sz="half" idx="10"/>
          </p:nvPr>
        </p:nvSpPr>
        <p:spPr/>
        <p:txBody>
          <a:bodyPr/>
          <a:lstStyle/>
          <a:p>
            <a:fld id="{8569C8CB-8203-4113-BC19-5C96839CBD45}" type="datetimeFigureOut">
              <a:rPr lang="en-US" smtClean="0"/>
              <a:t>3/21/2024</a:t>
            </a:fld>
            <a:endParaRPr lang="en-US"/>
          </a:p>
        </p:txBody>
      </p:sp>
      <p:sp>
        <p:nvSpPr>
          <p:cNvPr id="5" name="页脚占位符 4">
            <a:extLst>
              <a:ext uri="{FF2B5EF4-FFF2-40B4-BE49-F238E27FC236}">
                <a16:creationId xmlns:a16="http://schemas.microsoft.com/office/drawing/2014/main" id="{D370643E-4976-4353-A93C-94547389C024}"/>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EF3E8924-C3CD-4AD0-8D20-BDBCD27DF27D}"/>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295288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BD28B-F5E7-4DEF-A7ED-85E67C83F559}"/>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BDB5A803-634D-4E5A-8215-1F45D12CCD83}"/>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a:extLst>
              <a:ext uri="{FF2B5EF4-FFF2-40B4-BE49-F238E27FC236}">
                <a16:creationId xmlns:a16="http://schemas.microsoft.com/office/drawing/2014/main" id="{8245702B-45D0-4EB5-AAA5-C47494C79821}"/>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32713FAE-28EA-4DD1-B781-345A797EEA62}"/>
              </a:ext>
            </a:extLst>
          </p:cNvPr>
          <p:cNvSpPr>
            <a:spLocks noGrp="1"/>
          </p:cNvSpPr>
          <p:nvPr>
            <p:ph type="dt" sz="half" idx="10"/>
          </p:nvPr>
        </p:nvSpPr>
        <p:spPr/>
        <p:txBody>
          <a:bodyPr/>
          <a:lstStyle/>
          <a:p>
            <a:fld id="{8569C8CB-8203-4113-BC19-5C96839CBD45}" type="datetimeFigureOut">
              <a:rPr lang="en-US" smtClean="0"/>
              <a:t>3/21/2024</a:t>
            </a:fld>
            <a:endParaRPr lang="en-US"/>
          </a:p>
        </p:txBody>
      </p:sp>
      <p:sp>
        <p:nvSpPr>
          <p:cNvPr id="6" name="页脚占位符 5">
            <a:extLst>
              <a:ext uri="{FF2B5EF4-FFF2-40B4-BE49-F238E27FC236}">
                <a16:creationId xmlns:a16="http://schemas.microsoft.com/office/drawing/2014/main" id="{D6B78BAD-ABD9-461C-A7F6-83BEE5EA72C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1DAFC4C7-93A9-4642-A356-4D4E2BD383C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60157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74F436-0EA1-486E-BFA5-AEFC10B549E5}"/>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DACE3DD6-1221-4B2B-A081-C438B4EA13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57A0C97E-5BD2-4E0E-B6D8-06BA9CC07EAC}"/>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a:extLst>
              <a:ext uri="{FF2B5EF4-FFF2-40B4-BE49-F238E27FC236}">
                <a16:creationId xmlns:a16="http://schemas.microsoft.com/office/drawing/2014/main" id="{F0A250BC-6CDA-4F55-9122-E95732154C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E49A7F6C-B16D-4596-8C2E-4B3AAA59920B}"/>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6">
            <a:extLst>
              <a:ext uri="{FF2B5EF4-FFF2-40B4-BE49-F238E27FC236}">
                <a16:creationId xmlns:a16="http://schemas.microsoft.com/office/drawing/2014/main" id="{086CDA96-F74A-4624-A701-06BB40E85578}"/>
              </a:ext>
            </a:extLst>
          </p:cNvPr>
          <p:cNvSpPr>
            <a:spLocks noGrp="1"/>
          </p:cNvSpPr>
          <p:nvPr>
            <p:ph type="dt" sz="half" idx="10"/>
          </p:nvPr>
        </p:nvSpPr>
        <p:spPr/>
        <p:txBody>
          <a:bodyPr/>
          <a:lstStyle/>
          <a:p>
            <a:fld id="{8569C8CB-8203-4113-BC19-5C96839CBD45}" type="datetimeFigureOut">
              <a:rPr lang="en-US" smtClean="0"/>
              <a:t>3/21/2024</a:t>
            </a:fld>
            <a:endParaRPr lang="en-US"/>
          </a:p>
        </p:txBody>
      </p:sp>
      <p:sp>
        <p:nvSpPr>
          <p:cNvPr id="8" name="页脚占位符 7">
            <a:extLst>
              <a:ext uri="{FF2B5EF4-FFF2-40B4-BE49-F238E27FC236}">
                <a16:creationId xmlns:a16="http://schemas.microsoft.com/office/drawing/2014/main" id="{1C82C964-0DCE-4251-A2D2-8B40BD442161}"/>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4CF80643-74A0-4D0A-B3AE-FDFCC00373BC}"/>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684343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21D687-2952-433A-A486-099C48C4B667}"/>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F84DCF08-EA4B-4E0C-B9DA-AF780B867655}"/>
              </a:ext>
            </a:extLst>
          </p:cNvPr>
          <p:cNvSpPr>
            <a:spLocks noGrp="1"/>
          </p:cNvSpPr>
          <p:nvPr>
            <p:ph type="dt" sz="half" idx="10"/>
          </p:nvPr>
        </p:nvSpPr>
        <p:spPr/>
        <p:txBody>
          <a:bodyPr/>
          <a:lstStyle/>
          <a:p>
            <a:fld id="{8569C8CB-8203-4113-BC19-5C96839CBD45}" type="datetimeFigureOut">
              <a:rPr lang="en-US" smtClean="0"/>
              <a:t>3/21/2024</a:t>
            </a:fld>
            <a:endParaRPr lang="en-US"/>
          </a:p>
        </p:txBody>
      </p:sp>
      <p:sp>
        <p:nvSpPr>
          <p:cNvPr id="4" name="页脚占位符 3">
            <a:extLst>
              <a:ext uri="{FF2B5EF4-FFF2-40B4-BE49-F238E27FC236}">
                <a16:creationId xmlns:a16="http://schemas.microsoft.com/office/drawing/2014/main" id="{F4DF4D79-43A3-4D15-AADB-49E2A00CDBAD}"/>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897F9052-09FA-4D04-AB45-329EED24907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117064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CE4DD36-7F96-444A-A9B7-5FBBE9CE746F}"/>
              </a:ext>
            </a:extLst>
          </p:cNvPr>
          <p:cNvSpPr>
            <a:spLocks noGrp="1"/>
          </p:cNvSpPr>
          <p:nvPr>
            <p:ph type="dt" sz="half" idx="10"/>
          </p:nvPr>
        </p:nvSpPr>
        <p:spPr/>
        <p:txBody>
          <a:bodyPr/>
          <a:lstStyle/>
          <a:p>
            <a:fld id="{8569C8CB-8203-4113-BC19-5C96839CBD45}" type="datetimeFigureOut">
              <a:rPr lang="en-US" smtClean="0"/>
              <a:t>3/21/2024</a:t>
            </a:fld>
            <a:endParaRPr lang="en-US"/>
          </a:p>
        </p:txBody>
      </p:sp>
      <p:sp>
        <p:nvSpPr>
          <p:cNvPr id="3" name="页脚占位符 2">
            <a:extLst>
              <a:ext uri="{FF2B5EF4-FFF2-40B4-BE49-F238E27FC236}">
                <a16:creationId xmlns:a16="http://schemas.microsoft.com/office/drawing/2014/main" id="{EC8F5D18-B09A-4096-AFDA-96A804D6D451}"/>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1ACC0151-1B68-4B32-AB2F-4A65BE2AD14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97626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FBC3E4-C582-4A91-A7AE-1D79621891D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A942F964-0EB5-4901-BC24-85E3354331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a:extLst>
              <a:ext uri="{FF2B5EF4-FFF2-40B4-BE49-F238E27FC236}">
                <a16:creationId xmlns:a16="http://schemas.microsoft.com/office/drawing/2014/main" id="{366385E8-484A-4DCD-B049-3172288A76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0569B17-EB32-4F6A-9B7C-5B597E7CC0ED}"/>
              </a:ext>
            </a:extLst>
          </p:cNvPr>
          <p:cNvSpPr>
            <a:spLocks noGrp="1"/>
          </p:cNvSpPr>
          <p:nvPr>
            <p:ph type="dt" sz="half" idx="10"/>
          </p:nvPr>
        </p:nvSpPr>
        <p:spPr/>
        <p:txBody>
          <a:bodyPr/>
          <a:lstStyle/>
          <a:p>
            <a:fld id="{8569C8CB-8203-4113-BC19-5C96839CBD45}" type="datetimeFigureOut">
              <a:rPr lang="en-US" smtClean="0"/>
              <a:t>3/21/2024</a:t>
            </a:fld>
            <a:endParaRPr lang="en-US"/>
          </a:p>
        </p:txBody>
      </p:sp>
      <p:sp>
        <p:nvSpPr>
          <p:cNvPr id="6" name="页脚占位符 5">
            <a:extLst>
              <a:ext uri="{FF2B5EF4-FFF2-40B4-BE49-F238E27FC236}">
                <a16:creationId xmlns:a16="http://schemas.microsoft.com/office/drawing/2014/main" id="{524C8B3B-8E4D-4EBB-8A2B-D5C7322C2396}"/>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63762D6F-D0D3-4812-B6E8-731E7AFBF937}"/>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54661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4EBE16-E626-4C00-8722-0F82B3A32BF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7C5C2DE1-D969-4D9C-B72F-3E40B96720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060D0D84-9E46-41CD-A472-B1029A0FCE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7C908C6-21BD-4D14-B9E5-67673794C1B6}"/>
              </a:ext>
            </a:extLst>
          </p:cNvPr>
          <p:cNvSpPr>
            <a:spLocks noGrp="1"/>
          </p:cNvSpPr>
          <p:nvPr>
            <p:ph type="dt" sz="half" idx="10"/>
          </p:nvPr>
        </p:nvSpPr>
        <p:spPr/>
        <p:txBody>
          <a:bodyPr/>
          <a:lstStyle/>
          <a:p>
            <a:fld id="{8569C8CB-8203-4113-BC19-5C96839CBD45}" type="datetimeFigureOut">
              <a:rPr lang="en-US" smtClean="0"/>
              <a:t>3/21/2024</a:t>
            </a:fld>
            <a:endParaRPr lang="en-US"/>
          </a:p>
        </p:txBody>
      </p:sp>
      <p:sp>
        <p:nvSpPr>
          <p:cNvPr id="6" name="页脚占位符 5">
            <a:extLst>
              <a:ext uri="{FF2B5EF4-FFF2-40B4-BE49-F238E27FC236}">
                <a16:creationId xmlns:a16="http://schemas.microsoft.com/office/drawing/2014/main" id="{BC237D1E-BE48-42AB-BF84-696F9BA0CD3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A25CDD9A-D6DD-4908-A730-2867C0197665}"/>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791083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CF7F10-CD63-4FB1-A171-A7DAAE8883A6}"/>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4FF1AB79-8425-466E-A8A5-DADBC36F29A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189E2F66-1492-47A7-BCD3-BF219BAE6E74}"/>
              </a:ext>
            </a:extLst>
          </p:cNvPr>
          <p:cNvSpPr>
            <a:spLocks noGrp="1"/>
          </p:cNvSpPr>
          <p:nvPr>
            <p:ph type="dt" sz="half" idx="10"/>
          </p:nvPr>
        </p:nvSpPr>
        <p:spPr/>
        <p:txBody>
          <a:bodyPr/>
          <a:lstStyle/>
          <a:p>
            <a:fld id="{8569C8CB-8203-4113-BC19-5C96839CBD45}" type="datetimeFigureOut">
              <a:rPr lang="en-US" smtClean="0"/>
              <a:t>3/21/2024</a:t>
            </a:fld>
            <a:endParaRPr lang="en-US"/>
          </a:p>
        </p:txBody>
      </p:sp>
      <p:sp>
        <p:nvSpPr>
          <p:cNvPr id="5" name="页脚占位符 4">
            <a:extLst>
              <a:ext uri="{FF2B5EF4-FFF2-40B4-BE49-F238E27FC236}">
                <a16:creationId xmlns:a16="http://schemas.microsoft.com/office/drawing/2014/main" id="{2142A3AF-5C92-49DE-B7CE-F57501C229CA}"/>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CFE16F9F-8375-4DF1-A57B-BDA6BF36C64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768209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9CEAE66-692B-4D65-A7C3-1680609F007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5F818DC3-D68F-47FD-9934-DB88063C3F44}"/>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2E197317-A46D-420C-A392-2D9B93AC409E}"/>
              </a:ext>
            </a:extLst>
          </p:cNvPr>
          <p:cNvSpPr>
            <a:spLocks noGrp="1"/>
          </p:cNvSpPr>
          <p:nvPr>
            <p:ph type="dt" sz="half" idx="10"/>
          </p:nvPr>
        </p:nvSpPr>
        <p:spPr/>
        <p:txBody>
          <a:bodyPr/>
          <a:lstStyle/>
          <a:p>
            <a:fld id="{8569C8CB-8203-4113-BC19-5C96839CBD45}" type="datetimeFigureOut">
              <a:rPr lang="en-US" smtClean="0"/>
              <a:t>3/21/2024</a:t>
            </a:fld>
            <a:endParaRPr lang="en-US"/>
          </a:p>
        </p:txBody>
      </p:sp>
      <p:sp>
        <p:nvSpPr>
          <p:cNvPr id="5" name="页脚占位符 4">
            <a:extLst>
              <a:ext uri="{FF2B5EF4-FFF2-40B4-BE49-F238E27FC236}">
                <a16:creationId xmlns:a16="http://schemas.microsoft.com/office/drawing/2014/main" id="{46B454CD-23C0-496D-BC54-03322B1D903F}"/>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9257EF11-F507-4D48-9B8C-E8680A05EBD3}"/>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687828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8EF7D3-5A27-4B57-8A33-E7C0DD1B0A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9CE378D8-CAD9-4EDA-B737-D089103748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4B61C7E5-DED7-4901-BEA1-361A290133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69C8CB-8203-4113-BC19-5C96839CBD45}" type="datetimeFigureOut">
              <a:rPr lang="en-US" smtClean="0"/>
              <a:t>3/21/2024</a:t>
            </a:fld>
            <a:endParaRPr lang="en-US"/>
          </a:p>
        </p:txBody>
      </p:sp>
      <p:sp>
        <p:nvSpPr>
          <p:cNvPr id="5" name="页脚占位符 4">
            <a:extLst>
              <a:ext uri="{FF2B5EF4-FFF2-40B4-BE49-F238E27FC236}">
                <a16:creationId xmlns:a16="http://schemas.microsoft.com/office/drawing/2014/main" id="{EDBCA12B-ADFA-4389-8BED-E30DC2D606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5D7DB51E-6AD4-4AAC-BD8A-505C38223C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16C4D0-362D-4F07-9D17-9A93F97D0861}" type="slidenum">
              <a:rPr lang="en-US" smtClean="0"/>
              <a:t>‹#›</a:t>
            </a:fld>
            <a:endParaRPr lang="en-US"/>
          </a:p>
        </p:txBody>
      </p:sp>
    </p:spTree>
    <p:extLst>
      <p:ext uri="{BB962C8B-B14F-4D97-AF65-F5344CB8AC3E}">
        <p14:creationId xmlns:p14="http://schemas.microsoft.com/office/powerpoint/2010/main" val="2190438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246.png"/><Relationship Id="rId3" Type="http://schemas.openxmlformats.org/officeDocument/2006/relationships/image" Target="../media/image133.png"/><Relationship Id="rId7" Type="http://schemas.openxmlformats.org/officeDocument/2006/relationships/image" Target="../media/image13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90.png"/><Relationship Id="rId5" Type="http://schemas.openxmlformats.org/officeDocument/2006/relationships/image" Target="../media/image135.png"/><Relationship Id="rId10" Type="http://schemas.openxmlformats.org/officeDocument/2006/relationships/image" Target="../media/image16.png"/><Relationship Id="rId4" Type="http://schemas.openxmlformats.org/officeDocument/2006/relationships/image" Target="../media/image134.png"/><Relationship Id="rId9" Type="http://schemas.openxmlformats.org/officeDocument/2006/relationships/image" Target="../media/image13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7.jpeg"/><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image" Target="../media/image13.tmp"/><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146.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153.png"/><Relationship Id="rId3" Type="http://schemas.openxmlformats.org/officeDocument/2006/relationships/image" Target="../media/image148.png"/><Relationship Id="rId7" Type="http://schemas.openxmlformats.org/officeDocument/2006/relationships/image" Target="../media/image152.png"/><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image" Target="../media/image149.png"/></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0.png"/><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230.png"/><Relationship Id="rId5" Type="http://schemas.openxmlformats.org/officeDocument/2006/relationships/image" Target="../media/image220.png"/><Relationship Id="rId4" Type="http://schemas.openxmlformats.org/officeDocument/2006/relationships/image" Target="../media/image210.png"/><Relationship Id="rId9" Type="http://schemas.openxmlformats.org/officeDocument/2006/relationships/image" Target="../media/image29.png"/></Relationships>
</file>

<file path=ppt/slides/_rels/slide1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80.png"/><Relationship Id="rId7" Type="http://schemas.openxmlformats.org/officeDocument/2006/relationships/image" Target="../media/image1.jpe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0.png"/></Relationships>
</file>

<file path=ppt/slides/_rels/slide13.xml.rels><?xml version="1.0" encoding="UTF-8" standalone="yes"?>
<Relationships xmlns="http://schemas.openxmlformats.org/package/2006/relationships"><Relationship Id="rId8" Type="http://schemas.openxmlformats.org/officeDocument/2006/relationships/image" Target="../media/image173.png"/><Relationship Id="rId13" Type="http://schemas.openxmlformats.org/officeDocument/2006/relationships/image" Target="../media/image178.png"/><Relationship Id="rId18" Type="http://schemas.openxmlformats.org/officeDocument/2006/relationships/image" Target="../media/image183.png"/><Relationship Id="rId3" Type="http://schemas.openxmlformats.org/officeDocument/2006/relationships/image" Target="../media/image168.png"/><Relationship Id="rId7" Type="http://schemas.openxmlformats.org/officeDocument/2006/relationships/image" Target="../media/image172.png"/><Relationship Id="rId12" Type="http://schemas.openxmlformats.org/officeDocument/2006/relationships/image" Target="../media/image177.png"/><Relationship Id="rId17" Type="http://schemas.openxmlformats.org/officeDocument/2006/relationships/image" Target="../media/image182.png"/><Relationship Id="rId2" Type="http://schemas.openxmlformats.org/officeDocument/2006/relationships/image" Target="../media/image167.png"/><Relationship Id="rId16" Type="http://schemas.openxmlformats.org/officeDocument/2006/relationships/image" Target="../media/image181.png"/><Relationship Id="rId1" Type="http://schemas.openxmlformats.org/officeDocument/2006/relationships/slideLayout" Target="../slideLayouts/slideLayout7.xml"/><Relationship Id="rId6" Type="http://schemas.openxmlformats.org/officeDocument/2006/relationships/image" Target="../media/image171.png"/><Relationship Id="rId11" Type="http://schemas.openxmlformats.org/officeDocument/2006/relationships/image" Target="../media/image176.png"/><Relationship Id="rId5" Type="http://schemas.openxmlformats.org/officeDocument/2006/relationships/image" Target="../media/image170.png"/><Relationship Id="rId15" Type="http://schemas.openxmlformats.org/officeDocument/2006/relationships/image" Target="../media/image180.png"/><Relationship Id="rId10" Type="http://schemas.openxmlformats.org/officeDocument/2006/relationships/image" Target="../media/image175.png"/><Relationship Id="rId4" Type="http://schemas.openxmlformats.org/officeDocument/2006/relationships/image" Target="../media/image169.png"/><Relationship Id="rId9" Type="http://schemas.openxmlformats.org/officeDocument/2006/relationships/image" Target="../media/image174.png"/><Relationship Id="rId14" Type="http://schemas.openxmlformats.org/officeDocument/2006/relationships/image" Target="../media/image179.png"/></Relationships>
</file>

<file path=ppt/slides/_rels/slide14.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image" Target="../media/image33.png"/><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tags" Target="../tags/tag210.xml"/><Relationship Id="rId2" Type="http://schemas.openxmlformats.org/officeDocument/2006/relationships/tags" Target="../tags/tag21.xml"/><Relationship Id="rId16" Type="http://schemas.openxmlformats.org/officeDocument/2006/relationships/slideLayout" Target="../slideLayouts/slideLayout7.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tags" Target="../tags/tag34.xml"/><Relationship Id="rId10" Type="http://schemas.openxmlformats.org/officeDocument/2006/relationships/tags" Target="../tags/tag29.xml"/><Relationship Id="rId19" Type="http://schemas.openxmlformats.org/officeDocument/2006/relationships/image" Target="../media/image13.tmp"/><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bin"/><Relationship Id="rId13" Type="http://schemas.openxmlformats.org/officeDocument/2006/relationships/image" Target="../media/image16.wmf"/><Relationship Id="rId18" Type="http://schemas.openxmlformats.org/officeDocument/2006/relationships/image" Target="../media/image34.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oleObject" Target="../embeddings/oleObject2.bin"/><Relationship Id="rId17" Type="http://schemas.openxmlformats.org/officeDocument/2006/relationships/image" Target="../media/image18.wmf"/><Relationship Id="rId2" Type="http://schemas.openxmlformats.org/officeDocument/2006/relationships/slideLayout" Target="../slideLayouts/slideLayout2.xml"/><Relationship Id="rId16" Type="http://schemas.openxmlformats.org/officeDocument/2006/relationships/oleObject" Target="../embeddings/oleObject4.bin"/><Relationship Id="rId1" Type="http://schemas.openxmlformats.org/officeDocument/2006/relationships/vmlDrawing" Target="../drawings/vmlDrawing1.vml"/><Relationship Id="rId6" Type="http://schemas.openxmlformats.org/officeDocument/2006/relationships/image" Target="../media/image41.png"/><Relationship Id="rId11" Type="http://schemas.openxmlformats.org/officeDocument/2006/relationships/image" Target="../media/image44.png"/><Relationship Id="rId5" Type="http://schemas.openxmlformats.org/officeDocument/2006/relationships/image" Target="../media/image40.png"/><Relationship Id="rId15" Type="http://schemas.openxmlformats.org/officeDocument/2006/relationships/image" Target="../media/image17.wmf"/><Relationship Id="rId10" Type="http://schemas.openxmlformats.org/officeDocument/2006/relationships/image" Target="../media/image43.png"/><Relationship Id="rId4" Type="http://schemas.openxmlformats.org/officeDocument/2006/relationships/image" Target="../media/image39.png"/><Relationship Id="rId9" Type="http://schemas.openxmlformats.org/officeDocument/2006/relationships/image" Target="../media/image15.wmf"/><Relationship Id="rId14"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5.png"/><Relationship Id="rId7" Type="http://schemas.openxmlformats.org/officeDocument/2006/relationships/image" Target="../media/image44.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3.png"/><Relationship Id="rId5" Type="http://schemas.openxmlformats.org/officeDocument/2006/relationships/image" Target="../media/image15.wmf"/><Relationship Id="rId10" Type="http://schemas.openxmlformats.org/officeDocument/2006/relationships/image" Target="../media/image45.png"/><Relationship Id="rId4" Type="http://schemas.openxmlformats.org/officeDocument/2006/relationships/oleObject" Target="../embeddings/oleObject1.bin"/><Relationship Id="rId9" Type="http://schemas.openxmlformats.org/officeDocument/2006/relationships/image" Target="../media/image37.png"/></Relationships>
</file>

<file path=ppt/slides/_rels/slide17.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53.png"/><Relationship Id="rId7" Type="http://schemas.openxmlformats.org/officeDocument/2006/relationships/image" Target="../media/image19.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55.png"/><Relationship Id="rId4" Type="http://schemas.openxmlformats.org/officeDocument/2006/relationships/image" Target="../media/image54.png"/></Relationships>
</file>

<file path=ppt/slides/_rels/slide19.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1790.png"/><Relationship Id="rId7" Type="http://schemas.openxmlformats.org/officeDocument/2006/relationships/image" Target="../media/image61.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s>
</file>

<file path=ppt/slides/_rels/slide20.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image" Target="../media/image1780.pn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2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178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2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2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2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1780.png"/><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56.png"/><Relationship Id="rId1" Type="http://schemas.openxmlformats.org/officeDocument/2006/relationships/slideLayout" Target="../slideLayouts/slideLayout7.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gif"/><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3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4.gif"/><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image" Target="../media/image95.jpeg"/><Relationship Id="rId1" Type="http://schemas.openxmlformats.org/officeDocument/2006/relationships/slideLayout" Target="../slideLayouts/slideLayout7.xml"/><Relationship Id="rId4" Type="http://schemas.openxmlformats.org/officeDocument/2006/relationships/image" Target="../media/image97.png"/></Relationships>
</file>

<file path=ppt/slides/_rels/slide3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98.gi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4.png"/><Relationship Id="rId1" Type="http://schemas.openxmlformats.org/officeDocument/2006/relationships/slideLayout" Target="../slideLayouts/slideLayout7.xml"/><Relationship Id="rId4" Type="http://schemas.openxmlformats.org/officeDocument/2006/relationships/image" Target="../media/image200.png"/></Relationships>
</file>

<file path=ppt/slides/_rels/slide38.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image" Target="../media/image21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image" Target="../media/image231.png"/><Relationship Id="rId1" Type="http://schemas.openxmlformats.org/officeDocument/2006/relationships/slideLayout" Target="../slideLayouts/slideLayout7.xml"/><Relationship Id="rId5" Type="http://schemas.openxmlformats.org/officeDocument/2006/relationships/image" Target="../media/image105.png"/><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281.png"/><Relationship Id="rId7" Type="http://schemas.openxmlformats.org/officeDocument/2006/relationships/image" Target="../media/image320.png"/><Relationship Id="rId2" Type="http://schemas.openxmlformats.org/officeDocument/2006/relationships/image" Target="../media/image250.png"/><Relationship Id="rId1" Type="http://schemas.openxmlformats.org/officeDocument/2006/relationships/slideLayout" Target="../slideLayouts/slideLayout7.xml"/><Relationship Id="rId6" Type="http://schemas.openxmlformats.org/officeDocument/2006/relationships/image" Target="../media/image310.png"/><Relationship Id="rId11" Type="http://schemas.openxmlformats.org/officeDocument/2006/relationships/image" Target="../media/image26.png"/><Relationship Id="rId5" Type="http://schemas.openxmlformats.org/officeDocument/2006/relationships/image" Target="../media/image300.png"/><Relationship Id="rId10" Type="http://schemas.openxmlformats.org/officeDocument/2006/relationships/image" Target="../media/image350.png"/><Relationship Id="rId4" Type="http://schemas.openxmlformats.org/officeDocument/2006/relationships/image" Target="../media/image291.png"/><Relationship Id="rId9" Type="http://schemas.openxmlformats.org/officeDocument/2006/relationships/image" Target="../media/image340.png"/></Relationships>
</file>

<file path=ppt/slides/_rels/slide42.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00.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71.png"/><Relationship Id="rId7" Type="http://schemas.openxmlformats.org/officeDocument/2006/relationships/image" Target="../media/image400.png"/><Relationship Id="rId2" Type="http://schemas.openxmlformats.org/officeDocument/2006/relationships/image" Target="../media/image360.png"/><Relationship Id="rId1" Type="http://schemas.openxmlformats.org/officeDocument/2006/relationships/slideLayout" Target="../slideLayouts/slideLayout7.xml"/><Relationship Id="rId6" Type="http://schemas.openxmlformats.org/officeDocument/2006/relationships/image" Target="../media/image390.png"/><Relationship Id="rId5" Type="http://schemas.openxmlformats.org/officeDocument/2006/relationships/image" Target="../media/image380.png"/><Relationship Id="rId4" Type="http://schemas.openxmlformats.org/officeDocument/2006/relationships/image" Target="../media/image370.png"/></Relationships>
</file>

<file path=ppt/slides/_rels/slide45.xml.rels><?xml version="1.0" encoding="UTF-8" standalone="yes"?>
<Relationships xmlns="http://schemas.openxmlformats.org/package/2006/relationships"><Relationship Id="rId8" Type="http://schemas.openxmlformats.org/officeDocument/2006/relationships/image" Target="../media/image100.jpg"/><Relationship Id="rId7" Type="http://schemas.openxmlformats.org/officeDocument/2006/relationships/image" Target="../media/image400.png"/><Relationship Id="rId2" Type="http://schemas.openxmlformats.org/officeDocument/2006/relationships/image" Target="../media/image360.png"/><Relationship Id="rId1" Type="http://schemas.openxmlformats.org/officeDocument/2006/relationships/slideLayout" Target="../slideLayouts/slideLayout7.xml"/><Relationship Id="rId6" Type="http://schemas.openxmlformats.org/officeDocument/2006/relationships/image" Target="../media/image390.png"/><Relationship Id="rId5" Type="http://schemas.openxmlformats.org/officeDocument/2006/relationships/image" Target="../media/image380.png"/></Relationships>
</file>

<file path=ppt/slides/_rels/slide46.xml.rels><?xml version="1.0" encoding="UTF-8" standalone="yes"?>
<Relationships xmlns="http://schemas.openxmlformats.org/package/2006/relationships"><Relationship Id="rId8" Type="http://schemas.openxmlformats.org/officeDocument/2006/relationships/image" Target="../media/image410.png"/><Relationship Id="rId13" Type="http://schemas.openxmlformats.org/officeDocument/2006/relationships/image" Target="../media/image101.jpeg"/><Relationship Id="rId3" Type="http://schemas.openxmlformats.org/officeDocument/2006/relationships/image" Target="../media/image2400.png"/><Relationship Id="rId7" Type="http://schemas.openxmlformats.org/officeDocument/2006/relationships/image" Target="../media/image2800.png"/><Relationship Id="rId12" Type="http://schemas.openxmlformats.org/officeDocument/2006/relationships/image" Target="../media/image450.png"/><Relationship Id="rId2" Type="http://schemas.openxmlformats.org/officeDocument/2006/relationships/image" Target="../media/image2300.png"/><Relationship Id="rId1" Type="http://schemas.openxmlformats.org/officeDocument/2006/relationships/slideLayout" Target="../slideLayouts/slideLayout7.xml"/><Relationship Id="rId6" Type="http://schemas.openxmlformats.org/officeDocument/2006/relationships/image" Target="../media/image2700.png"/><Relationship Id="rId11" Type="http://schemas.openxmlformats.org/officeDocument/2006/relationships/image" Target="../media/image440.png"/><Relationship Id="rId5" Type="http://schemas.openxmlformats.org/officeDocument/2006/relationships/image" Target="../media/image260.png"/><Relationship Id="rId10" Type="http://schemas.openxmlformats.org/officeDocument/2006/relationships/image" Target="../media/image430.png"/><Relationship Id="rId4" Type="http://schemas.openxmlformats.org/officeDocument/2006/relationships/image" Target="../media/image2500.png"/><Relationship Id="rId9" Type="http://schemas.openxmlformats.org/officeDocument/2006/relationships/image" Target="../media/image420.png"/></Relationships>
</file>

<file path=ppt/slides/_rels/slide4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 Box 13">
            <a:extLst>
              <a:ext uri="{FF2B5EF4-FFF2-40B4-BE49-F238E27FC236}">
                <a16:creationId xmlns:a16="http://schemas.microsoft.com/office/drawing/2014/main" id="{B1D77FAA-C6EC-4AC5-A3F5-4CC64C94B2C7}"/>
              </a:ext>
            </a:extLst>
          </p:cNvPr>
          <p:cNvSpPr txBox="1">
            <a:spLocks noChangeArrowheads="1"/>
          </p:cNvSpPr>
          <p:nvPr/>
        </p:nvSpPr>
        <p:spPr bwMode="auto">
          <a:xfrm>
            <a:off x="3586847" y="258786"/>
            <a:ext cx="709712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600" b="1" dirty="0">
                <a:solidFill>
                  <a:srgbClr val="0066FF"/>
                </a:solidFill>
                <a:latin typeface="Arial" panose="020B0604020202020204" pitchFamily="34" charset="0"/>
                <a:ea typeface="华文楷体" panose="02010600040101010101" pitchFamily="2" charset="-122"/>
                <a:cs typeface="Arial" panose="020B0604020202020204" pitchFamily="34" charset="0"/>
              </a:rPr>
              <a:t>第</a:t>
            </a:r>
            <a:r>
              <a:rPr lang="en-US" altLang="zh-CN" sz="3600" b="1" dirty="0">
                <a:solidFill>
                  <a:srgbClr val="0066FF"/>
                </a:solidFill>
                <a:latin typeface="Arial" panose="020B0604020202020204" pitchFamily="34" charset="0"/>
                <a:ea typeface="华文楷体" panose="02010600040101010101" pitchFamily="2" charset="-122"/>
                <a:cs typeface="Arial" panose="020B0604020202020204" pitchFamily="34" charset="0"/>
              </a:rPr>
              <a:t>13</a:t>
            </a:r>
            <a:r>
              <a:rPr lang="zh-CN" altLang="en-US" sz="3600" b="1" dirty="0">
                <a:solidFill>
                  <a:srgbClr val="0066FF"/>
                </a:solidFill>
                <a:latin typeface="Arial" panose="020B0604020202020204" pitchFamily="34" charset="0"/>
                <a:ea typeface="华文楷体" panose="02010600040101010101" pitchFamily="2" charset="-122"/>
                <a:cs typeface="Arial" panose="020B0604020202020204" pitchFamily="34" charset="0"/>
              </a:rPr>
              <a:t>章     电 势</a:t>
            </a:r>
            <a:endParaRPr lang="zh-CN" altLang="en-US" sz="3200" b="1" dirty="0">
              <a:solidFill>
                <a:srgbClr val="0066FF"/>
              </a:solidFill>
              <a:latin typeface="Arial" panose="020B0604020202020204" pitchFamily="34" charset="0"/>
              <a:ea typeface="华文楷体" panose="02010600040101010101" pitchFamily="2" charset="-122"/>
              <a:cs typeface="Arial" panose="020B0604020202020204" pitchFamily="34" charset="0"/>
            </a:endParaRPr>
          </a:p>
        </p:txBody>
      </p:sp>
      <p:sp>
        <p:nvSpPr>
          <p:cNvPr id="4112" name="Rectangle 16">
            <a:hlinkClick r:id="" action="ppaction://noaction"/>
            <a:extLst>
              <a:ext uri="{FF2B5EF4-FFF2-40B4-BE49-F238E27FC236}">
                <a16:creationId xmlns:a16="http://schemas.microsoft.com/office/drawing/2014/main" id="{E4498F14-2B16-44E2-8121-1F90B80155C0}"/>
              </a:ext>
            </a:extLst>
          </p:cNvPr>
          <p:cNvSpPr>
            <a:spLocks noChangeArrowheads="1"/>
          </p:cNvSpPr>
          <p:nvPr/>
        </p:nvSpPr>
        <p:spPr bwMode="auto">
          <a:xfrm>
            <a:off x="3423374" y="1189490"/>
            <a:ext cx="5234762" cy="64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600" dirty="0">
                <a:solidFill>
                  <a:schemeClr val="tx1"/>
                </a:solidFill>
                <a:latin typeface="Arial" panose="020B0604020202020204" pitchFamily="34" charset="0"/>
                <a:ea typeface="华文楷体" panose="02010600040101010101" pitchFamily="2" charset="-122"/>
                <a:cs typeface="Arial" panose="020B0604020202020204" pitchFamily="34" charset="0"/>
              </a:rPr>
              <a:t>13.1  </a:t>
            </a:r>
            <a:r>
              <a:rPr lang="zh-CN" altLang="en-US" sz="3600" dirty="0">
                <a:solidFill>
                  <a:schemeClr val="tx1"/>
                </a:solidFill>
                <a:latin typeface="Arial" panose="020B0604020202020204" pitchFamily="34" charset="0"/>
                <a:ea typeface="华文楷体" panose="02010600040101010101" pitchFamily="2" charset="-122"/>
                <a:cs typeface="Arial" panose="020B0604020202020204" pitchFamily="34" charset="0"/>
              </a:rPr>
              <a:t>静电场的保守性</a:t>
            </a:r>
          </a:p>
        </p:txBody>
      </p:sp>
      <p:sp>
        <p:nvSpPr>
          <p:cNvPr id="4114" name="Text Box 18">
            <a:hlinkClick r:id="" action="ppaction://noaction"/>
            <a:extLst>
              <a:ext uri="{FF2B5EF4-FFF2-40B4-BE49-F238E27FC236}">
                <a16:creationId xmlns:a16="http://schemas.microsoft.com/office/drawing/2014/main" id="{6FD6935D-21DB-4E0A-A113-0012E404D3AE}"/>
              </a:ext>
            </a:extLst>
          </p:cNvPr>
          <p:cNvSpPr txBox="1">
            <a:spLocks noChangeArrowheads="1"/>
          </p:cNvSpPr>
          <p:nvPr/>
        </p:nvSpPr>
        <p:spPr bwMode="auto">
          <a:xfrm>
            <a:off x="3423374" y="3108452"/>
            <a:ext cx="54360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600" dirty="0">
                <a:solidFill>
                  <a:srgbClr val="0066FF"/>
                </a:solidFill>
                <a:latin typeface="Arial" panose="020B0604020202020204" pitchFamily="34" charset="0"/>
                <a:ea typeface="华文楷体" panose="02010600040101010101" pitchFamily="2" charset="-122"/>
                <a:cs typeface="Arial" panose="020B0604020202020204" pitchFamily="34" charset="0"/>
              </a:rPr>
              <a:t>13.4  </a:t>
            </a:r>
            <a:r>
              <a:rPr lang="zh-CN" altLang="en-US" sz="3600" dirty="0">
                <a:solidFill>
                  <a:srgbClr val="0066FF"/>
                </a:solidFill>
                <a:latin typeface="Arial" panose="020B0604020202020204" pitchFamily="34" charset="0"/>
                <a:ea typeface="华文楷体" panose="02010600040101010101" pitchFamily="2" charset="-122"/>
                <a:cs typeface="Arial" panose="020B0604020202020204" pitchFamily="34" charset="0"/>
              </a:rPr>
              <a:t>电势梯度</a:t>
            </a:r>
          </a:p>
        </p:txBody>
      </p:sp>
      <p:sp>
        <p:nvSpPr>
          <p:cNvPr id="9" name="Rectangle 16">
            <a:hlinkClick r:id="" action="ppaction://noaction"/>
            <a:extLst>
              <a:ext uri="{FF2B5EF4-FFF2-40B4-BE49-F238E27FC236}">
                <a16:creationId xmlns:a16="http://schemas.microsoft.com/office/drawing/2014/main" id="{33F5298E-54F0-4E10-A769-B55A508ED7D8}"/>
              </a:ext>
            </a:extLst>
          </p:cNvPr>
          <p:cNvSpPr>
            <a:spLocks noChangeArrowheads="1"/>
          </p:cNvSpPr>
          <p:nvPr/>
        </p:nvSpPr>
        <p:spPr bwMode="auto">
          <a:xfrm>
            <a:off x="3423374" y="2456885"/>
            <a:ext cx="4091756" cy="64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600" dirty="0">
                <a:solidFill>
                  <a:schemeClr val="tx1"/>
                </a:solidFill>
                <a:latin typeface="Arial" panose="020B0604020202020204" pitchFamily="34" charset="0"/>
                <a:ea typeface="华文楷体" panose="02010600040101010101" pitchFamily="2" charset="-122"/>
                <a:cs typeface="Arial" panose="020B0604020202020204" pitchFamily="34" charset="0"/>
              </a:rPr>
              <a:t>13.3  </a:t>
            </a:r>
            <a:r>
              <a:rPr lang="zh-CN" altLang="en-US" sz="3600" dirty="0">
                <a:solidFill>
                  <a:schemeClr val="tx1"/>
                </a:solidFill>
                <a:latin typeface="Arial" panose="020B0604020202020204" pitchFamily="34" charset="0"/>
                <a:ea typeface="华文楷体" panose="02010600040101010101" pitchFamily="2" charset="-122"/>
                <a:cs typeface="Arial" panose="020B0604020202020204" pitchFamily="34" charset="0"/>
              </a:rPr>
              <a:t>电势叠加原理</a:t>
            </a:r>
          </a:p>
        </p:txBody>
      </p:sp>
      <p:sp>
        <p:nvSpPr>
          <p:cNvPr id="11" name="矩形 10">
            <a:extLst>
              <a:ext uri="{FF2B5EF4-FFF2-40B4-BE49-F238E27FC236}">
                <a16:creationId xmlns:a16="http://schemas.microsoft.com/office/drawing/2014/main" id="{BBDB04A1-0ED6-47DB-AB21-B6B2EFE1D30C}"/>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a:solidFill>
                <a:prstClr val="white"/>
              </a:solidFill>
              <a:latin typeface="Arial" panose="020B0604020202020204" pitchFamily="34" charset="0"/>
              <a:ea typeface="华文楷体" panose="02010600040101010101" pitchFamily="2" charset="-122"/>
              <a:cs typeface="Arial" panose="020B0604020202020204" pitchFamily="34" charset="0"/>
            </a:endParaRPr>
          </a:p>
        </p:txBody>
      </p:sp>
      <p:sp>
        <p:nvSpPr>
          <p:cNvPr id="10" name="Rectangle 16">
            <a:hlinkClick r:id="" action="ppaction://noaction"/>
            <a:extLst>
              <a:ext uri="{FF2B5EF4-FFF2-40B4-BE49-F238E27FC236}">
                <a16:creationId xmlns:a16="http://schemas.microsoft.com/office/drawing/2014/main" id="{0773EC54-8856-4D93-9604-D2AEEEA9279A}"/>
              </a:ext>
            </a:extLst>
          </p:cNvPr>
          <p:cNvSpPr>
            <a:spLocks noChangeArrowheads="1"/>
          </p:cNvSpPr>
          <p:nvPr/>
        </p:nvSpPr>
        <p:spPr bwMode="auto">
          <a:xfrm>
            <a:off x="3423374" y="1835648"/>
            <a:ext cx="5234762" cy="64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600" dirty="0">
                <a:solidFill>
                  <a:schemeClr val="tx1"/>
                </a:solidFill>
                <a:latin typeface="Arial" panose="020B0604020202020204" pitchFamily="34" charset="0"/>
                <a:ea typeface="华文楷体" panose="02010600040101010101" pitchFamily="2" charset="-122"/>
                <a:cs typeface="Arial" panose="020B0604020202020204" pitchFamily="34" charset="0"/>
              </a:rPr>
              <a:t>13.2  </a:t>
            </a:r>
            <a:r>
              <a:rPr lang="zh-CN" altLang="en-US" sz="3600" dirty="0">
                <a:solidFill>
                  <a:schemeClr val="tx1"/>
                </a:solidFill>
                <a:latin typeface="Arial" panose="020B0604020202020204" pitchFamily="34" charset="0"/>
                <a:ea typeface="华文楷体" panose="02010600040101010101" pitchFamily="2" charset="-122"/>
                <a:cs typeface="Arial" panose="020B0604020202020204" pitchFamily="34" charset="0"/>
              </a:rPr>
              <a:t>电势差和电势</a:t>
            </a:r>
          </a:p>
        </p:txBody>
      </p:sp>
      <p:sp>
        <p:nvSpPr>
          <p:cNvPr id="12" name="Text Box 18">
            <a:hlinkClick r:id="" action="ppaction://noaction"/>
            <a:extLst>
              <a:ext uri="{FF2B5EF4-FFF2-40B4-BE49-F238E27FC236}">
                <a16:creationId xmlns:a16="http://schemas.microsoft.com/office/drawing/2014/main" id="{60715EC9-B2FF-4DB7-A03E-EDCD0CA39C29}"/>
              </a:ext>
            </a:extLst>
          </p:cNvPr>
          <p:cNvSpPr txBox="1">
            <a:spLocks noChangeArrowheads="1"/>
          </p:cNvSpPr>
          <p:nvPr/>
        </p:nvSpPr>
        <p:spPr bwMode="auto">
          <a:xfrm>
            <a:off x="3423374" y="3793788"/>
            <a:ext cx="753418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600" dirty="0">
                <a:solidFill>
                  <a:srgbClr val="0066FF"/>
                </a:solidFill>
                <a:latin typeface="Arial" panose="020B0604020202020204" pitchFamily="34" charset="0"/>
                <a:ea typeface="华文楷体" panose="02010600040101010101" pitchFamily="2" charset="-122"/>
                <a:cs typeface="Arial" panose="020B0604020202020204" pitchFamily="34" charset="0"/>
              </a:rPr>
              <a:t>13.5  </a:t>
            </a:r>
            <a:r>
              <a:rPr lang="zh-CN" altLang="en-US" sz="3600" dirty="0">
                <a:solidFill>
                  <a:srgbClr val="0066FF"/>
                </a:solidFill>
                <a:latin typeface="Arial" panose="020B0604020202020204" pitchFamily="34" charset="0"/>
                <a:ea typeface="华文楷体" panose="02010600040101010101" pitchFamily="2" charset="-122"/>
                <a:cs typeface="Arial" panose="020B0604020202020204" pitchFamily="34" charset="0"/>
              </a:rPr>
              <a:t>电荷在外电场中的静电势能</a:t>
            </a:r>
          </a:p>
        </p:txBody>
      </p:sp>
      <p:sp>
        <p:nvSpPr>
          <p:cNvPr id="13" name="Text Box 18">
            <a:hlinkClick r:id="" action="ppaction://noaction"/>
            <a:extLst>
              <a:ext uri="{FF2B5EF4-FFF2-40B4-BE49-F238E27FC236}">
                <a16:creationId xmlns:a16="http://schemas.microsoft.com/office/drawing/2014/main" id="{DF96F7F3-5669-4914-AF2C-9A63C1C2BE4C}"/>
              </a:ext>
            </a:extLst>
          </p:cNvPr>
          <p:cNvSpPr txBox="1">
            <a:spLocks noChangeArrowheads="1"/>
          </p:cNvSpPr>
          <p:nvPr/>
        </p:nvSpPr>
        <p:spPr bwMode="auto">
          <a:xfrm>
            <a:off x="3423374" y="4496160"/>
            <a:ext cx="54360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600" dirty="0">
                <a:solidFill>
                  <a:srgbClr val="0066FF"/>
                </a:solidFill>
                <a:latin typeface="Arial" panose="020B0604020202020204" pitchFamily="34" charset="0"/>
                <a:ea typeface="华文楷体" panose="02010600040101010101" pitchFamily="2" charset="-122"/>
                <a:cs typeface="Arial" panose="020B0604020202020204" pitchFamily="34" charset="0"/>
              </a:rPr>
              <a:t>13.6*  </a:t>
            </a:r>
            <a:r>
              <a:rPr lang="zh-CN" altLang="en-US" sz="3600" dirty="0">
                <a:solidFill>
                  <a:srgbClr val="0066FF"/>
                </a:solidFill>
                <a:latin typeface="Arial" panose="020B0604020202020204" pitchFamily="34" charset="0"/>
                <a:ea typeface="华文楷体" panose="02010600040101010101" pitchFamily="2" charset="-122"/>
                <a:cs typeface="Arial" panose="020B0604020202020204" pitchFamily="34" charset="0"/>
              </a:rPr>
              <a:t>电荷系的静电能</a:t>
            </a:r>
          </a:p>
        </p:txBody>
      </p:sp>
      <p:sp>
        <p:nvSpPr>
          <p:cNvPr id="14" name="Text Box 18">
            <a:hlinkClick r:id="" action="ppaction://noaction"/>
            <a:extLst>
              <a:ext uri="{FF2B5EF4-FFF2-40B4-BE49-F238E27FC236}">
                <a16:creationId xmlns:a16="http://schemas.microsoft.com/office/drawing/2014/main" id="{6CF9DDFA-7258-4BD6-8F87-CF3E65A2B8F0}"/>
              </a:ext>
            </a:extLst>
          </p:cNvPr>
          <p:cNvSpPr txBox="1">
            <a:spLocks noChangeArrowheads="1"/>
          </p:cNvSpPr>
          <p:nvPr/>
        </p:nvSpPr>
        <p:spPr bwMode="auto">
          <a:xfrm>
            <a:off x="3423374" y="5181496"/>
            <a:ext cx="753418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600" dirty="0">
                <a:solidFill>
                  <a:srgbClr val="0066FF"/>
                </a:solidFill>
                <a:latin typeface="Arial" panose="020B0604020202020204" pitchFamily="34" charset="0"/>
                <a:ea typeface="华文楷体" panose="02010600040101010101" pitchFamily="2" charset="-122"/>
                <a:cs typeface="Arial" panose="020B0604020202020204" pitchFamily="34" charset="0"/>
              </a:rPr>
              <a:t>13.7  </a:t>
            </a:r>
            <a:r>
              <a:rPr lang="zh-CN" altLang="en-US" sz="3600" dirty="0">
                <a:solidFill>
                  <a:srgbClr val="0066FF"/>
                </a:solidFill>
                <a:latin typeface="Arial" panose="020B0604020202020204" pitchFamily="34" charset="0"/>
                <a:ea typeface="华文楷体" panose="02010600040101010101" pitchFamily="2" charset="-122"/>
                <a:cs typeface="Arial" panose="020B0604020202020204" pitchFamily="34" charset="0"/>
              </a:rPr>
              <a:t>静电场的能量</a:t>
            </a:r>
          </a:p>
        </p:txBody>
      </p:sp>
    </p:spTree>
    <p:extLst>
      <p:ext uri="{BB962C8B-B14F-4D97-AF65-F5344CB8AC3E}">
        <p14:creationId xmlns:p14="http://schemas.microsoft.com/office/powerpoint/2010/main" val="77909194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5" name="Text Box 27">
            <a:extLst>
              <a:ext uri="{FF2B5EF4-FFF2-40B4-BE49-F238E27FC236}">
                <a16:creationId xmlns:a16="http://schemas.microsoft.com/office/drawing/2014/main" id="{C5D5699B-ADDE-4CD0-A564-9686ED98FB29}"/>
              </a:ext>
            </a:extLst>
          </p:cNvPr>
          <p:cNvSpPr txBox="1">
            <a:spLocks noChangeArrowheads="1"/>
          </p:cNvSpPr>
          <p:nvPr/>
        </p:nvSpPr>
        <p:spPr bwMode="auto">
          <a:xfrm>
            <a:off x="697425" y="4827284"/>
            <a:ext cx="84248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dirty="0">
                <a:solidFill>
                  <a:srgbClr val="000000"/>
                </a:solidFill>
                <a:latin typeface="华文楷体" panose="02010600040101010101" pitchFamily="2" charset="-122"/>
                <a:ea typeface="华文楷体" panose="02010600040101010101" pitchFamily="2" charset="-122"/>
              </a:rPr>
              <a:t>- </a:t>
            </a:r>
            <a:r>
              <a:rPr lang="zh-CN" altLang="en-US" sz="2800" dirty="0">
                <a:solidFill>
                  <a:srgbClr val="000000"/>
                </a:solidFill>
                <a:latin typeface="华文楷体" panose="02010600040101010101" pitchFamily="2" charset="-122"/>
                <a:ea typeface="华文楷体" panose="02010600040101010101" pitchFamily="2" charset="-122"/>
              </a:rPr>
              <a:t>在静电场中，电场强度沿任意闭合路径的环流为零。</a:t>
            </a:r>
          </a:p>
        </p:txBody>
      </p:sp>
      <p:sp>
        <p:nvSpPr>
          <p:cNvPr id="157704" name="Rectangle 35">
            <a:extLst>
              <a:ext uri="{FF2B5EF4-FFF2-40B4-BE49-F238E27FC236}">
                <a16:creationId xmlns:a16="http://schemas.microsoft.com/office/drawing/2014/main" id="{CD545F7C-0EED-4B7E-886E-44F9347AB278}"/>
              </a:ext>
            </a:extLst>
          </p:cNvPr>
          <p:cNvSpPr>
            <a:spLocks noChangeArrowheads="1"/>
          </p:cNvSpPr>
          <p:nvPr/>
        </p:nvSpPr>
        <p:spPr bwMode="auto">
          <a:xfrm>
            <a:off x="480219" y="425450"/>
            <a:ext cx="396081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buFont typeface="Wingdings" panose="05000000000000000000" pitchFamily="2" charset="2"/>
              <a:buChar char="q"/>
            </a:pPr>
            <a:r>
              <a:rPr lang="zh-CN" altLang="en-US" b="1" dirty="0">
                <a:solidFill>
                  <a:srgbClr val="0066FF"/>
                </a:solidFill>
                <a:latin typeface="华文楷体" panose="02010600040101010101" pitchFamily="2" charset="-122"/>
                <a:ea typeface="华文楷体" panose="02010600040101010101" pitchFamily="2" charset="-122"/>
              </a:rPr>
              <a:t>静电场的环路定理</a:t>
            </a:r>
          </a:p>
        </p:txBody>
      </p:sp>
      <mc:AlternateContent xmlns:mc="http://schemas.openxmlformats.org/markup-compatibility/2006" xmlns:a14="http://schemas.microsoft.com/office/drawing/2010/main">
        <mc:Choice Requires="a14">
          <p:sp>
            <p:nvSpPr>
              <p:cNvPr id="10" name="Object 36">
                <a:extLst>
                  <a:ext uri="{FF2B5EF4-FFF2-40B4-BE49-F238E27FC236}">
                    <a16:creationId xmlns:a16="http://schemas.microsoft.com/office/drawing/2014/main" id="{50E34220-033F-441D-8467-90AD109378D9}"/>
                  </a:ext>
                </a:extLst>
              </p:cNvPr>
              <p:cNvSpPr txBox="1"/>
              <p:nvPr/>
            </p:nvSpPr>
            <p:spPr bwMode="auto">
              <a:xfrm>
                <a:off x="3412332" y="5510212"/>
                <a:ext cx="2057400" cy="9223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nary>
                        <m:naryPr>
                          <m:chr m:val="∮"/>
                          <m:limLoc m:val="undOvr"/>
                          <m:supHide m:val="on"/>
                          <m:ctrlPr>
                            <a:rPr lang="zh-CN" altLang="en-US" sz="3200" b="1" i="1" smtClean="0">
                              <a:solidFill>
                                <a:srgbClr val="FF0000"/>
                              </a:solidFill>
                              <a:latin typeface="Cambria Math" panose="02040503050406030204" pitchFamily="18" charset="0"/>
                            </a:rPr>
                          </m:ctrlPr>
                        </m:naryPr>
                        <m:sub>
                          <m:r>
                            <a:rPr lang="zh-CN" altLang="en-US" sz="3200" b="1" i="1">
                              <a:solidFill>
                                <a:srgbClr val="FF0000"/>
                              </a:solidFill>
                              <a:latin typeface="Cambria Math" panose="02040503050406030204" pitchFamily="18" charset="0"/>
                            </a:rPr>
                            <m:t>𝑳</m:t>
                          </m:r>
                        </m:sub>
                        <m:sup/>
                        <m:e>
                          <m:sSub>
                            <m:sSubPr>
                              <m:ctrlPr>
                                <a:rPr lang="zh-CN" altLang="en-US" sz="3200" b="1" i="1">
                                  <a:solidFill>
                                    <a:srgbClr val="FF0000"/>
                                  </a:solidFill>
                                  <a:latin typeface="Cambria Math" panose="02040503050406030204" pitchFamily="18" charset="0"/>
                                </a:rPr>
                              </m:ctrlPr>
                            </m:sSubPr>
                            <m:e>
                              <m:r>
                                <a:rPr lang="zh-CN" altLang="en-US" sz="3200" b="1" i="1">
                                  <a:solidFill>
                                    <a:srgbClr val="FF0000"/>
                                  </a:solidFill>
                                  <a:latin typeface="Cambria Math" panose="02040503050406030204" pitchFamily="18" charset="0"/>
                                </a:rPr>
                                <m:t>𝒒</m:t>
                              </m:r>
                            </m:e>
                            <m:sub>
                              <m:r>
                                <a:rPr lang="zh-CN" altLang="en-US" sz="3200" b="1" i="1">
                                  <a:solidFill>
                                    <a:srgbClr val="FF0000"/>
                                  </a:solidFill>
                                  <a:latin typeface="Cambria Math" panose="02040503050406030204" pitchFamily="18" charset="0"/>
                                </a:rPr>
                                <m:t>𝟎</m:t>
                              </m:r>
                            </m:sub>
                          </m:sSub>
                          <m:acc>
                            <m:accPr>
                              <m:chr m:val="⃗"/>
                              <m:ctrlPr>
                                <a:rPr lang="zh-CN" altLang="en-US" sz="3200" b="1" i="1">
                                  <a:solidFill>
                                    <a:srgbClr val="FF0000"/>
                                  </a:solidFill>
                                  <a:latin typeface="Cambria Math" panose="02040503050406030204" pitchFamily="18" charset="0"/>
                                </a:rPr>
                              </m:ctrlPr>
                            </m:accPr>
                            <m:e>
                              <m:r>
                                <a:rPr lang="zh-CN" altLang="en-US" sz="3200" b="1" i="1">
                                  <a:solidFill>
                                    <a:srgbClr val="FF0000"/>
                                  </a:solidFill>
                                  <a:latin typeface="Cambria Math" panose="02040503050406030204" pitchFamily="18" charset="0"/>
                                </a:rPr>
                                <m:t>𝑬</m:t>
                              </m:r>
                            </m:e>
                          </m:acc>
                          <m:r>
                            <a:rPr lang="zh-CN" altLang="en-US" sz="3200" b="1" i="1">
                              <a:solidFill>
                                <a:srgbClr val="FF0000"/>
                              </a:solidFill>
                              <a:latin typeface="Cambria Math" panose="02040503050406030204" pitchFamily="18" charset="0"/>
                            </a:rPr>
                            <m:t>⋅</m:t>
                          </m:r>
                          <m:r>
                            <a:rPr lang="zh-CN" altLang="en-US" sz="3200" b="1" i="1">
                              <a:solidFill>
                                <a:srgbClr val="FF0000"/>
                              </a:solidFill>
                              <a:latin typeface="Cambria Math" panose="02040503050406030204" pitchFamily="18" charset="0"/>
                            </a:rPr>
                            <m:t>𝒅</m:t>
                          </m:r>
                          <m:acc>
                            <m:accPr>
                              <m:chr m:val="⃗"/>
                              <m:ctrlPr>
                                <a:rPr lang="zh-CN" altLang="en-US" sz="3200" b="1" i="1">
                                  <a:solidFill>
                                    <a:srgbClr val="FF0000"/>
                                  </a:solidFill>
                                  <a:latin typeface="Cambria Math" panose="02040503050406030204" pitchFamily="18" charset="0"/>
                                </a:rPr>
                              </m:ctrlPr>
                            </m:accPr>
                            <m:e>
                              <m:r>
                                <a:rPr lang="zh-CN" altLang="en-US" sz="3200" b="1" i="1">
                                  <a:solidFill>
                                    <a:srgbClr val="FF0000"/>
                                  </a:solidFill>
                                  <a:latin typeface="Cambria Math" panose="02040503050406030204" pitchFamily="18" charset="0"/>
                                </a:rPr>
                                <m:t>𝒍</m:t>
                              </m:r>
                            </m:e>
                          </m:acc>
                          <m:r>
                            <a:rPr lang="zh-CN" altLang="en-US" sz="3200" b="1" i="1">
                              <a:solidFill>
                                <a:srgbClr val="FF0000"/>
                              </a:solidFill>
                              <a:latin typeface="Cambria Math" panose="02040503050406030204" pitchFamily="18" charset="0"/>
                            </a:rPr>
                            <m:t>=</m:t>
                          </m:r>
                          <m:r>
                            <a:rPr lang="zh-CN" altLang="en-US" sz="3200" b="1" i="1">
                              <a:solidFill>
                                <a:srgbClr val="FF0000"/>
                              </a:solidFill>
                              <a:latin typeface="Cambria Math" panose="02040503050406030204" pitchFamily="18" charset="0"/>
                            </a:rPr>
                            <m:t>𝟎</m:t>
                          </m:r>
                        </m:e>
                      </m:nary>
                    </m:oMath>
                  </m:oMathPara>
                </a14:m>
                <a:endParaRPr lang="zh-CN" altLang="en-US" sz="3200" b="1" dirty="0">
                  <a:solidFill>
                    <a:srgbClr val="FF0000"/>
                  </a:solidFill>
                </a:endParaRPr>
              </a:p>
            </p:txBody>
          </p:sp>
        </mc:Choice>
        <mc:Fallback xmlns="">
          <p:sp>
            <p:nvSpPr>
              <p:cNvPr id="10" name="Object 36">
                <a:extLst>
                  <a:ext uri="{FF2B5EF4-FFF2-40B4-BE49-F238E27FC236}">
                    <a16:creationId xmlns:a16="http://schemas.microsoft.com/office/drawing/2014/main" id="{50E34220-033F-441D-8467-90AD109378D9}"/>
                  </a:ext>
                </a:extLst>
              </p:cNvPr>
              <p:cNvSpPr txBox="1">
                <a:spLocks noRot="1" noChangeAspect="1" noMove="1" noResize="1" noEditPoints="1" noAdjustHandles="1" noChangeArrowheads="1" noChangeShapeType="1" noTextEdit="1"/>
              </p:cNvSpPr>
              <p:nvPr/>
            </p:nvSpPr>
            <p:spPr bwMode="auto">
              <a:xfrm>
                <a:off x="3412332" y="5510212"/>
                <a:ext cx="2057400" cy="922338"/>
              </a:xfrm>
              <a:prstGeom prst="rect">
                <a:avLst/>
              </a:prstGeom>
              <a:blipFill>
                <a:blip r:embed="rId3"/>
                <a:stretch>
                  <a:fillRect r="-29080" b="-45033"/>
                </a:stretch>
              </a:blipFill>
              <a:ln>
                <a:noFill/>
              </a:ln>
              <a:effectLst/>
            </p:spPr>
            <p:txBody>
              <a:bodyPr/>
              <a:lstStyle/>
              <a:p>
                <a:r>
                  <a:rPr lang="zh-CN" altLang="en-US">
                    <a:noFill/>
                  </a:rPr>
                  <a:t> </a:t>
                </a:r>
              </a:p>
            </p:txBody>
          </p:sp>
        </mc:Fallback>
      </mc:AlternateContent>
      <p:sp>
        <p:nvSpPr>
          <p:cNvPr id="6" name="Text Box 37">
            <a:extLst>
              <a:ext uri="{FF2B5EF4-FFF2-40B4-BE49-F238E27FC236}">
                <a16:creationId xmlns:a16="http://schemas.microsoft.com/office/drawing/2014/main" id="{1CD70A2F-1FA3-4640-9DE8-38C55B579FEF}"/>
              </a:ext>
            </a:extLst>
          </p:cNvPr>
          <p:cNvSpPr txBox="1">
            <a:spLocks noChangeArrowheads="1"/>
          </p:cNvSpPr>
          <p:nvPr/>
        </p:nvSpPr>
        <p:spPr bwMode="auto">
          <a:xfrm>
            <a:off x="661495" y="1382667"/>
            <a:ext cx="7786314"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dirty="0">
                <a:solidFill>
                  <a:srgbClr val="3333CC"/>
                </a:solidFill>
                <a:latin typeface="华文楷体" panose="02010600040101010101" pitchFamily="2" charset="-122"/>
                <a:ea typeface="华文楷体" panose="02010600040101010101" pitchFamily="2" charset="-122"/>
              </a:rPr>
              <a:t>- </a:t>
            </a:r>
            <a:r>
              <a:rPr lang="zh-CN" altLang="en-US" sz="2800" dirty="0">
                <a:solidFill>
                  <a:srgbClr val="000000"/>
                </a:solidFill>
                <a:latin typeface="华文楷体" panose="02010600040101010101" pitchFamily="2" charset="-122"/>
                <a:ea typeface="华文楷体" panose="02010600040101010101" pitchFamily="2" charset="-122"/>
              </a:rPr>
              <a:t>试验电荷在静电场中移动时，电场力所作的功只与试验电荷的起点和终点的位置有关，与路径无关。</a:t>
            </a:r>
          </a:p>
        </p:txBody>
      </p:sp>
      <p:sp>
        <p:nvSpPr>
          <p:cNvPr id="7" name="Rectangle 42">
            <a:extLst>
              <a:ext uri="{FF2B5EF4-FFF2-40B4-BE49-F238E27FC236}">
                <a16:creationId xmlns:a16="http://schemas.microsoft.com/office/drawing/2014/main" id="{0BB364F1-2521-4F57-8F15-54F59BC87D76}"/>
              </a:ext>
            </a:extLst>
          </p:cNvPr>
          <p:cNvSpPr>
            <a:spLocks noChangeArrowheads="1"/>
          </p:cNvSpPr>
          <p:nvPr/>
        </p:nvSpPr>
        <p:spPr bwMode="auto">
          <a:xfrm>
            <a:off x="2381818" y="3914985"/>
            <a:ext cx="3240088" cy="580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lang="zh-CN" altLang="en-US" sz="2800" dirty="0">
                <a:solidFill>
                  <a:srgbClr val="FF0000"/>
                </a:solidFill>
                <a:latin typeface="华文楷体" panose="02010600040101010101" pitchFamily="2" charset="-122"/>
                <a:ea typeface="华文楷体" panose="02010600040101010101" pitchFamily="2" charset="-122"/>
              </a:rPr>
              <a:t>静电场力是保守力</a:t>
            </a:r>
          </a:p>
        </p:txBody>
      </p:sp>
      <p:pic>
        <p:nvPicPr>
          <p:cNvPr id="2" name="图片 2">
            <a:extLst>
              <a:ext uri="{FF2B5EF4-FFF2-40B4-BE49-F238E27FC236}">
                <a16:creationId xmlns:a16="http://schemas.microsoft.com/office/drawing/2014/main" id="{2531E518-EB5A-A0C4-CA4F-EA7A10228F9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577488" y="537436"/>
            <a:ext cx="2992437"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Object 48">
                <a:extLst>
                  <a:ext uri="{FF2B5EF4-FFF2-40B4-BE49-F238E27FC236}">
                    <a16:creationId xmlns:a16="http://schemas.microsoft.com/office/drawing/2014/main" id="{1A640835-F0AD-A521-5A5F-B927581592DC}"/>
                  </a:ext>
                </a:extLst>
              </p:cNvPr>
              <p:cNvSpPr txBox="1"/>
              <p:nvPr/>
            </p:nvSpPr>
            <p:spPr bwMode="auto">
              <a:xfrm>
                <a:off x="2047345" y="2290606"/>
                <a:ext cx="2992437" cy="11223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m:t>
                      </m:r>
                      <m:nary>
                        <m:naryPr>
                          <m:limLoc m:val="undOvr"/>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𝑎</m:t>
                          </m:r>
                        </m:sub>
                        <m:sup>
                          <m:r>
                            <a:rPr lang="zh-CN" altLang="en-US" sz="2800" i="1">
                              <a:solidFill>
                                <a:srgbClr val="000000"/>
                              </a:solidFill>
                              <a:latin typeface="Cambria Math" panose="02040503050406030204" pitchFamily="18" charset="0"/>
                            </a:rPr>
                            <m:t>𝑏</m:t>
                          </m:r>
                        </m:sup>
                        <m:e>
                          <m:r>
                            <a:rPr lang="zh-CN" altLang="en-US" sz="2800" i="1">
                              <a:solidFill>
                                <a:srgbClr val="000000"/>
                              </a:solidFill>
                              <a:latin typeface="Cambria Math" panose="02040503050406030204" pitchFamily="18" charset="0"/>
                            </a:rPr>
                            <m:t>𝑑𝐴</m:t>
                          </m:r>
                        </m:e>
                      </m:nary>
                    </m:oMath>
                  </m:oMathPara>
                </a14:m>
                <a:endParaRPr lang="zh-CN" altLang="en-US" sz="2800" dirty="0"/>
              </a:p>
            </p:txBody>
          </p:sp>
        </mc:Choice>
        <mc:Fallback xmlns="">
          <p:sp>
            <p:nvSpPr>
              <p:cNvPr id="3" name="Object 48">
                <a:extLst>
                  <a:ext uri="{FF2B5EF4-FFF2-40B4-BE49-F238E27FC236}">
                    <a16:creationId xmlns:a16="http://schemas.microsoft.com/office/drawing/2014/main" id="{1A640835-F0AD-A521-5A5F-B927581592DC}"/>
                  </a:ext>
                </a:extLst>
              </p:cNvPr>
              <p:cNvSpPr txBox="1">
                <a:spLocks noRot="1" noChangeAspect="1" noMove="1" noResize="1" noEditPoints="1" noAdjustHandles="1" noChangeArrowheads="1" noChangeShapeType="1" noTextEdit="1"/>
              </p:cNvSpPr>
              <p:nvPr/>
            </p:nvSpPr>
            <p:spPr bwMode="auto">
              <a:xfrm>
                <a:off x="2047345" y="2290606"/>
                <a:ext cx="2992437" cy="1122363"/>
              </a:xfrm>
              <a:prstGeom prst="rect">
                <a:avLst/>
              </a:prstGeom>
              <a:blipFill>
                <a:blip r:embed="rId5"/>
                <a:stretch>
                  <a:fillRect b="-1956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83">
                <a:extLst>
                  <a:ext uri="{FF2B5EF4-FFF2-40B4-BE49-F238E27FC236}">
                    <a16:creationId xmlns:a16="http://schemas.microsoft.com/office/drawing/2014/main" id="{BA2B6446-8954-26C6-5539-824B745DCA32}"/>
                  </a:ext>
                </a:extLst>
              </p:cNvPr>
              <p:cNvSpPr txBox="1"/>
              <p:nvPr/>
            </p:nvSpPr>
            <p:spPr bwMode="auto">
              <a:xfrm>
                <a:off x="3750451" y="2519220"/>
                <a:ext cx="3438562" cy="10636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0</m:t>
                              </m:r>
                            </m:sub>
                          </m:sSub>
                          <m:r>
                            <a:rPr lang="zh-CN" altLang="en-US" sz="2800" i="1">
                              <a:solidFill>
                                <a:srgbClr val="000000"/>
                              </a:solidFill>
                              <a:latin typeface="Cambria Math" panose="02040503050406030204" pitchFamily="18" charset="0"/>
                            </a:rPr>
                            <m:t>𝑞</m:t>
                          </m:r>
                        </m:num>
                        <m:den>
                          <m:r>
                            <a:rPr lang="zh-CN" altLang="en-US" sz="2800" i="1">
                              <a:solidFill>
                                <a:srgbClr val="000000"/>
                              </a:solidFill>
                              <a:latin typeface="Cambria Math" panose="02040503050406030204" pitchFamily="18" charset="0"/>
                            </a:rPr>
                            <m:t>4</m:t>
                          </m:r>
                          <m:r>
                            <a:rPr lang="zh-CN" altLang="en-US" sz="2800" i="1">
                              <a:solidFill>
                                <a:srgbClr val="000000"/>
                              </a:solidFill>
                              <a:latin typeface="Cambria Math" panose="02040503050406030204" pitchFamily="18" charset="0"/>
                            </a:rPr>
                            <m:t>𝜋</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a:rPr lang="zh-CN" altLang="en-US" sz="2800" i="1">
                                  <a:solidFill>
                                    <a:srgbClr val="000000"/>
                                  </a:solidFill>
                                  <a:latin typeface="Cambria Math" panose="02040503050406030204" pitchFamily="18" charset="0"/>
                                </a:rPr>
                                <m:t>0</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𝑟</m:t>
                              </m:r>
                            </m:e>
                            <m:sub>
                              <m:r>
                                <a:rPr lang="zh-CN" altLang="en-US" sz="2800" i="1">
                                  <a:solidFill>
                                    <a:srgbClr val="000000"/>
                                  </a:solidFill>
                                  <a:latin typeface="Cambria Math" panose="02040503050406030204" pitchFamily="18" charset="0"/>
                                </a:rPr>
                                <m:t>𝑎</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𝑟</m:t>
                              </m:r>
                            </m:e>
                            <m:sub>
                              <m:r>
                                <a:rPr lang="zh-CN" altLang="en-US" sz="2800" i="1">
                                  <a:solidFill>
                                    <a:srgbClr val="000000"/>
                                  </a:solidFill>
                                  <a:latin typeface="Cambria Math" panose="02040503050406030204" pitchFamily="18" charset="0"/>
                                </a:rPr>
                                <m:t>𝑏</m:t>
                              </m:r>
                            </m:sub>
                          </m:sSub>
                        </m:den>
                      </m:f>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4" name="Object 83">
                <a:extLst>
                  <a:ext uri="{FF2B5EF4-FFF2-40B4-BE49-F238E27FC236}">
                    <a16:creationId xmlns:a16="http://schemas.microsoft.com/office/drawing/2014/main" id="{BA2B6446-8954-26C6-5539-824B745DCA32}"/>
                  </a:ext>
                </a:extLst>
              </p:cNvPr>
              <p:cNvSpPr txBox="1">
                <a:spLocks noRot="1" noChangeAspect="1" noMove="1" noResize="1" noEditPoints="1" noAdjustHandles="1" noChangeArrowheads="1" noChangeShapeType="1" noTextEdit="1"/>
              </p:cNvSpPr>
              <p:nvPr/>
            </p:nvSpPr>
            <p:spPr bwMode="auto">
              <a:xfrm>
                <a:off x="3750451" y="2519220"/>
                <a:ext cx="3438562" cy="1063625"/>
              </a:xfrm>
              <a:prstGeom prst="rect">
                <a:avLst/>
              </a:prstGeom>
              <a:blipFill>
                <a:blip r:embed="rId6"/>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151087483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1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5" grpId="0"/>
      <p:bldP spid="10" grpId="0"/>
      <p:bldP spid="6" grpId="0"/>
      <p:bldP spid="7" grpId="0"/>
      <p:bldP spid="3"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F238FD3-C2BE-4231-B70B-56AD21FBADC1}"/>
              </a:ext>
            </a:extLst>
          </p:cNvPr>
          <p:cNvSpPr txBox="1"/>
          <p:nvPr/>
        </p:nvSpPr>
        <p:spPr>
          <a:xfrm>
            <a:off x="779734" y="431003"/>
            <a:ext cx="5458155" cy="584775"/>
          </a:xfrm>
          <a:prstGeom prst="rect">
            <a:avLst/>
          </a:prstGeom>
          <a:noFill/>
        </p:spPr>
        <p:txBody>
          <a:bodyPr wrap="square" rtlCol="0">
            <a:spAutoFit/>
          </a:bodyPr>
          <a:lstStyle/>
          <a:p>
            <a:pPr marL="285750" indent="-28575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电势</a:t>
            </a:r>
            <a:endParaRPr lang="en-US" altLang="zh-CN" sz="3200" b="1" dirty="0">
              <a:solidFill>
                <a:srgbClr val="0066FF"/>
              </a:solidFill>
              <a:latin typeface="华文楷体" panose="02010600040101010101" pitchFamily="2" charset="-122"/>
              <a:ea typeface="华文楷体" panose="02010600040101010101" pitchFamily="2" charset="-122"/>
            </a:endParaRPr>
          </a:p>
        </p:txBody>
      </p:sp>
      <p:pic>
        <p:nvPicPr>
          <p:cNvPr id="6" name="Picture 6" descr="電場- Wikiwand">
            <a:extLst>
              <a:ext uri="{FF2B5EF4-FFF2-40B4-BE49-F238E27FC236}">
                <a16:creationId xmlns:a16="http://schemas.microsoft.com/office/drawing/2014/main" id="{F68192CA-7E3F-4301-B02E-0363F2C3BA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0439" y="1274976"/>
            <a:ext cx="2580309" cy="2580309"/>
          </a:xfrm>
          <a:prstGeom prst="rect">
            <a:avLst/>
          </a:prstGeom>
          <a:noFill/>
          <a:extLst>
            <a:ext uri="{909E8E84-426E-40DD-AFC4-6F175D3DCCD1}">
              <a14:hiddenFill xmlns:a14="http://schemas.microsoft.com/office/drawing/2010/main">
                <a:solidFill>
                  <a:srgbClr val="FFFFFF"/>
                </a:solidFill>
              </a14:hiddenFill>
            </a:ext>
          </a:extLst>
        </p:spPr>
      </p:pic>
      <p:sp>
        <p:nvSpPr>
          <p:cNvPr id="7" name="椭圆 6">
            <a:extLst>
              <a:ext uri="{FF2B5EF4-FFF2-40B4-BE49-F238E27FC236}">
                <a16:creationId xmlns:a16="http://schemas.microsoft.com/office/drawing/2014/main" id="{89F4314F-AD4A-4CB0-801D-940F349B97EB}"/>
              </a:ext>
            </a:extLst>
          </p:cNvPr>
          <p:cNvSpPr>
            <a:spLocks noChangeAspect="1"/>
          </p:cNvSpPr>
          <p:nvPr/>
        </p:nvSpPr>
        <p:spPr>
          <a:xfrm>
            <a:off x="8742048" y="1509177"/>
            <a:ext cx="2197092" cy="2197092"/>
          </a:xfrm>
          <a:prstGeom prst="ellipse">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椭圆 7">
            <a:extLst>
              <a:ext uri="{FF2B5EF4-FFF2-40B4-BE49-F238E27FC236}">
                <a16:creationId xmlns:a16="http://schemas.microsoft.com/office/drawing/2014/main" id="{8A65D769-1F20-43EB-B522-64B4F7823389}"/>
              </a:ext>
            </a:extLst>
          </p:cNvPr>
          <p:cNvSpPr>
            <a:spLocks noChangeAspect="1"/>
          </p:cNvSpPr>
          <p:nvPr/>
        </p:nvSpPr>
        <p:spPr>
          <a:xfrm>
            <a:off x="8510746" y="1297722"/>
            <a:ext cx="2620002" cy="2620002"/>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椭圆 8">
            <a:extLst>
              <a:ext uri="{FF2B5EF4-FFF2-40B4-BE49-F238E27FC236}">
                <a16:creationId xmlns:a16="http://schemas.microsoft.com/office/drawing/2014/main" id="{51CA8C01-ADE0-437E-9B7E-9D5C96F89C1B}"/>
              </a:ext>
            </a:extLst>
          </p:cNvPr>
          <p:cNvSpPr/>
          <p:nvPr/>
        </p:nvSpPr>
        <p:spPr>
          <a:xfrm rot="19416383">
            <a:off x="10622404" y="1887169"/>
            <a:ext cx="176400" cy="17704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 name="椭圆 9">
            <a:extLst>
              <a:ext uri="{FF2B5EF4-FFF2-40B4-BE49-F238E27FC236}">
                <a16:creationId xmlns:a16="http://schemas.microsoft.com/office/drawing/2014/main" id="{5FCD73FC-90E6-4886-A6D0-7B1D65B8118D}"/>
              </a:ext>
            </a:extLst>
          </p:cNvPr>
          <p:cNvSpPr/>
          <p:nvPr/>
        </p:nvSpPr>
        <p:spPr>
          <a:xfrm rot="19416383">
            <a:off x="10823226" y="1752209"/>
            <a:ext cx="176400" cy="17704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A744524A-C678-48CD-9B14-99D834078069}"/>
              </a:ext>
            </a:extLst>
          </p:cNvPr>
          <p:cNvSpPr txBox="1"/>
          <p:nvPr/>
        </p:nvSpPr>
        <p:spPr>
          <a:xfrm>
            <a:off x="10358549" y="1703086"/>
            <a:ext cx="247038" cy="369332"/>
          </a:xfrm>
          <a:prstGeom prst="rect">
            <a:avLst/>
          </a:prstGeom>
          <a:noFill/>
        </p:spPr>
        <p:txBody>
          <a:bodyPr wrap="square" rtlCol="0">
            <a:spAutoFit/>
          </a:bodyPr>
          <a:lstStyle/>
          <a:p>
            <a:r>
              <a:rPr lang="en-US" altLang="zh-CN"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a</a:t>
            </a:r>
            <a:endParaRPr lang="en-US"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7D3F401A-3228-46F0-A0C7-225D71A8CCD5}"/>
              </a:ext>
            </a:extLst>
          </p:cNvPr>
          <p:cNvSpPr txBox="1"/>
          <p:nvPr/>
        </p:nvSpPr>
        <p:spPr>
          <a:xfrm>
            <a:off x="10740004" y="1358766"/>
            <a:ext cx="247038" cy="369332"/>
          </a:xfrm>
          <a:prstGeom prst="rect">
            <a:avLst/>
          </a:prstGeom>
          <a:noFill/>
        </p:spPr>
        <p:txBody>
          <a:bodyPr wrap="square" rtlCol="0">
            <a:spAutoFit/>
          </a:bodyPr>
          <a:lstStyle/>
          <a:p>
            <a:r>
              <a:rPr 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a:t>
            </a:r>
          </a:p>
        </p:txBody>
      </p:sp>
      <mc:AlternateContent xmlns:mc="http://schemas.openxmlformats.org/markup-compatibility/2006" xmlns:a14="http://schemas.microsoft.com/office/drawing/2010/main">
        <mc:Choice Requires="a14">
          <p:sp>
            <p:nvSpPr>
              <p:cNvPr id="13" name="内容占位符 5">
                <a:extLst>
                  <a:ext uri="{FF2B5EF4-FFF2-40B4-BE49-F238E27FC236}">
                    <a16:creationId xmlns:a16="http://schemas.microsoft.com/office/drawing/2014/main" id="{7A7897AC-A7D0-4F75-80B3-30F65BB7EFE0}"/>
                  </a:ext>
                </a:extLst>
              </p:cNvPr>
              <p:cNvSpPr txBox="1">
                <a:spLocks/>
              </p:cNvSpPr>
              <p:nvPr/>
            </p:nvSpPr>
            <p:spPr>
              <a:xfrm>
                <a:off x="489286" y="1274976"/>
                <a:ext cx="8398971" cy="402336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zh-CN" altLang="en-US" dirty="0">
                    <a:solidFill>
                      <a:srgbClr val="000000"/>
                    </a:solidFill>
                    <a:latin typeface="华文楷体" panose="02010600040101010101" pitchFamily="2" charset="-122"/>
                    <a:ea typeface="华文楷体" panose="02010600040101010101" pitchFamily="2" charset="-122"/>
                  </a:rPr>
                  <a:t>规定</a:t>
                </a:r>
                <a14:m>
                  <m:oMath xmlns:m="http://schemas.openxmlformats.org/officeDocument/2006/math">
                    <m:sSub>
                      <m:sSubPr>
                        <m:ctrlPr>
                          <a:rPr lang="en-US" altLang="zh-CN" i="1" smtClean="0">
                            <a:solidFill>
                              <a:srgbClr val="0066FF"/>
                            </a:solidFill>
                            <a:latin typeface="Cambria Math" panose="02040503050406030204" pitchFamily="18" charset="0"/>
                            <a:ea typeface="华文新魏" panose="02010800040101010101" pitchFamily="2" charset="-122"/>
                          </a:rPr>
                        </m:ctrlPr>
                      </m:sSubPr>
                      <m:e>
                        <m:r>
                          <a:rPr lang="en-US" altLang="zh-CN" b="0" i="1">
                            <a:solidFill>
                              <a:srgbClr val="0066FF"/>
                            </a:solidFill>
                            <a:latin typeface="Cambria Math" panose="02040503050406030204" pitchFamily="18" charset="0"/>
                            <a:ea typeface="华文新魏" panose="02010800040101010101" pitchFamily="2" charset="-122"/>
                          </a:rPr>
                          <m:t>𝑝</m:t>
                        </m:r>
                      </m:e>
                      <m:sub>
                        <m:r>
                          <a:rPr lang="en-US" altLang="zh-CN" b="0" i="1">
                            <a:solidFill>
                              <a:srgbClr val="0066FF"/>
                            </a:solidFill>
                            <a:latin typeface="Cambria Math" panose="02040503050406030204" pitchFamily="18" charset="0"/>
                            <a:ea typeface="华文新魏" panose="02010800040101010101" pitchFamily="2" charset="-122"/>
                          </a:rPr>
                          <m:t>2</m:t>
                        </m:r>
                      </m:sub>
                    </m:sSub>
                  </m:oMath>
                </a14:m>
                <a:r>
                  <a:rPr lang="zh-CN" altLang="en-US" dirty="0">
                    <a:solidFill>
                      <a:srgbClr val="000000"/>
                    </a:solidFill>
                    <a:latin typeface="华文楷体" panose="02010600040101010101" pitchFamily="2" charset="-122"/>
                    <a:ea typeface="华文楷体" panose="02010600040101010101" pitchFamily="2" charset="-122"/>
                  </a:rPr>
                  <a:t>为势能零点，则任一点</a:t>
                </a:r>
                <a14:m>
                  <m:oMath xmlns:m="http://schemas.openxmlformats.org/officeDocument/2006/math">
                    <m:r>
                      <a:rPr lang="en-US" altLang="zh-CN" b="0" i="1" smtClean="0">
                        <a:solidFill>
                          <a:srgbClr val="0066FF"/>
                        </a:solidFill>
                        <a:latin typeface="Cambria Math" panose="02040503050406030204" pitchFamily="18" charset="0"/>
                        <a:ea typeface="华文新魏" panose="02010800040101010101" pitchFamily="2" charset="-122"/>
                      </a:rPr>
                      <m:t>𝑝</m:t>
                    </m:r>
                  </m:oMath>
                </a14:m>
                <a:r>
                  <a:rPr lang="zh-CN" altLang="en-US" dirty="0">
                    <a:solidFill>
                      <a:srgbClr val="000000"/>
                    </a:solidFill>
                    <a:latin typeface="华文楷体" panose="02010600040101010101" pitchFamily="2" charset="-122"/>
                    <a:ea typeface="华文楷体" panose="02010600040101010101" pitchFamily="2" charset="-122"/>
                  </a:rPr>
                  <a:t>的电势为</a:t>
                </a:r>
                <a:endParaRPr lang="en-US" altLang="zh-CN" dirty="0">
                  <a:solidFill>
                    <a:srgbClr val="000000"/>
                  </a:solidFill>
                  <a:latin typeface="华文楷体" panose="02010600040101010101" pitchFamily="2" charset="-122"/>
                  <a:ea typeface="华文楷体" panose="02010600040101010101" pitchFamily="2" charset="-122"/>
                </a:endParaRPr>
              </a:p>
              <a:p>
                <a:pPr marL="0" indent="0">
                  <a:lnSpc>
                    <a:spcPct val="12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zh-CN" altLang="en-US" b="1" i="1" smtClean="0">
                          <a:solidFill>
                            <a:srgbClr val="0066FF"/>
                          </a:solidFill>
                          <a:latin typeface="Cambria Math" panose="02040503050406030204" pitchFamily="18" charset="0"/>
                        </a:rPr>
                        <m:t>𝝋</m:t>
                      </m:r>
                      <m:r>
                        <a:rPr lang="en-US" altLang="zh-CN" b="1" i="1">
                          <a:solidFill>
                            <a:srgbClr val="0066FF"/>
                          </a:solidFill>
                          <a:latin typeface="Cambria Math" panose="02040503050406030204" pitchFamily="18" charset="0"/>
                        </a:rPr>
                        <m:t>=</m:t>
                      </m:r>
                      <m:nary>
                        <m:naryPr>
                          <m:ctrlPr>
                            <a:rPr lang="en-US" altLang="zh-CN" b="1" i="1">
                              <a:solidFill>
                                <a:srgbClr val="0066FF"/>
                              </a:solidFill>
                              <a:latin typeface="Cambria Math" panose="02040503050406030204" pitchFamily="18" charset="0"/>
                              <a:ea typeface="华文新魏" panose="02010800040101010101" pitchFamily="2" charset="-122"/>
                            </a:rPr>
                          </m:ctrlPr>
                        </m:naryPr>
                        <m:sub>
                          <m:r>
                            <a:rPr lang="en-US" altLang="zh-CN" b="1" i="1">
                              <a:solidFill>
                                <a:srgbClr val="0066FF"/>
                              </a:solidFill>
                              <a:latin typeface="Cambria Math" panose="02040503050406030204" pitchFamily="18" charset="0"/>
                              <a:ea typeface="华文新魏" panose="02010800040101010101" pitchFamily="2" charset="-122"/>
                            </a:rPr>
                            <m:t>𝒑</m:t>
                          </m:r>
                        </m:sub>
                        <m:sup>
                          <m:r>
                            <a:rPr lang="en-US" altLang="zh-CN" b="1" i="1">
                              <a:solidFill>
                                <a:srgbClr val="0066FF"/>
                              </a:solidFill>
                              <a:latin typeface="Cambria Math" panose="02040503050406030204" pitchFamily="18" charset="0"/>
                              <a:ea typeface="华文新魏" panose="02010800040101010101" pitchFamily="2" charset="-122"/>
                            </a:rPr>
                            <m:t>"</m:t>
                          </m:r>
                          <m:r>
                            <a:rPr lang="en-US" altLang="zh-CN" b="1" i="1">
                              <a:solidFill>
                                <a:srgbClr val="0066FF"/>
                              </a:solidFill>
                              <a:latin typeface="Cambria Math" panose="02040503050406030204" pitchFamily="18" charset="0"/>
                              <a:ea typeface="华文新魏" panose="02010800040101010101" pitchFamily="2" charset="-122"/>
                            </a:rPr>
                            <m:t>𝟎</m:t>
                          </m:r>
                          <m:r>
                            <a:rPr lang="en-US" altLang="zh-CN" b="1" i="1">
                              <a:solidFill>
                                <a:srgbClr val="0066FF"/>
                              </a:solidFill>
                              <a:latin typeface="Cambria Math" panose="02040503050406030204" pitchFamily="18" charset="0"/>
                              <a:ea typeface="华文新魏" panose="02010800040101010101" pitchFamily="2" charset="-122"/>
                            </a:rPr>
                            <m:t>"</m:t>
                          </m:r>
                        </m:sup>
                        <m:e>
                          <m:acc>
                            <m:accPr>
                              <m:chr m:val="⃗"/>
                              <m:ctrlPr>
                                <a:rPr lang="en-US" altLang="zh-CN" b="1" i="1">
                                  <a:solidFill>
                                    <a:srgbClr val="0066FF"/>
                                  </a:solidFill>
                                  <a:latin typeface="Cambria Math" panose="02040503050406030204" pitchFamily="18" charset="0"/>
                                  <a:ea typeface="华文新魏" panose="02010800040101010101" pitchFamily="2" charset="-122"/>
                                </a:rPr>
                              </m:ctrlPr>
                            </m:accPr>
                            <m:e>
                              <m:r>
                                <a:rPr lang="en-US" altLang="zh-CN" b="1" i="1">
                                  <a:solidFill>
                                    <a:srgbClr val="0066FF"/>
                                  </a:solidFill>
                                  <a:latin typeface="Cambria Math" panose="02040503050406030204" pitchFamily="18" charset="0"/>
                                  <a:ea typeface="华文新魏" panose="02010800040101010101" pitchFamily="2" charset="-122"/>
                                </a:rPr>
                                <m:t>𝑬</m:t>
                              </m:r>
                            </m:e>
                          </m:acc>
                          <m:r>
                            <m:rPr>
                              <m:brk m:alnAt="23"/>
                            </m:rPr>
                            <a:rPr lang="en-US" altLang="zh-CN" b="1" i="1">
                              <a:solidFill>
                                <a:srgbClr val="0066FF"/>
                              </a:solidFill>
                              <a:latin typeface="Cambria Math" panose="02040503050406030204" pitchFamily="18" charset="0"/>
                              <a:ea typeface="Cambria Math" panose="02040503050406030204" pitchFamily="18" charset="0"/>
                            </a:rPr>
                            <m:t>∙</m:t>
                          </m:r>
                          <m:r>
                            <a:rPr lang="en-US" altLang="zh-CN" b="1" i="1">
                              <a:solidFill>
                                <a:srgbClr val="0066FF"/>
                              </a:solidFill>
                              <a:latin typeface="Cambria Math" panose="02040503050406030204" pitchFamily="18" charset="0"/>
                              <a:ea typeface="华文新魏" panose="02010800040101010101" pitchFamily="2" charset="-122"/>
                            </a:rPr>
                            <m:t>𝒅</m:t>
                          </m:r>
                          <m:acc>
                            <m:accPr>
                              <m:chr m:val="⃗"/>
                              <m:ctrlPr>
                                <a:rPr lang="en-US" altLang="zh-CN" b="1" i="1">
                                  <a:solidFill>
                                    <a:srgbClr val="0066FF"/>
                                  </a:solidFill>
                                  <a:latin typeface="Cambria Math" panose="02040503050406030204" pitchFamily="18" charset="0"/>
                                  <a:ea typeface="华文新魏" panose="02010800040101010101" pitchFamily="2" charset="-122"/>
                                </a:rPr>
                              </m:ctrlPr>
                            </m:accPr>
                            <m:e>
                              <m:r>
                                <a:rPr lang="en-US" altLang="zh-CN" b="1" i="1">
                                  <a:solidFill>
                                    <a:srgbClr val="0066FF"/>
                                  </a:solidFill>
                                  <a:latin typeface="Cambria Math" panose="02040503050406030204" pitchFamily="18" charset="0"/>
                                  <a:ea typeface="华文新魏" panose="02010800040101010101" pitchFamily="2" charset="-122"/>
                                </a:rPr>
                                <m:t>𝒍</m:t>
                              </m:r>
                            </m:e>
                          </m:acc>
                        </m:e>
                      </m:nary>
                    </m:oMath>
                  </m:oMathPara>
                </a14:m>
                <a:endParaRPr lang="en-US" altLang="zh-CN" b="1" dirty="0">
                  <a:latin typeface="华文楷体" panose="02010600040101010101" pitchFamily="2" charset="-122"/>
                  <a:ea typeface="华文楷体" panose="02010600040101010101" pitchFamily="2" charset="-122"/>
                </a:endParaRPr>
              </a:p>
              <a:p>
                <a:pPr marL="0" indent="0">
                  <a:lnSpc>
                    <a:spcPct val="120000"/>
                  </a:lnSpc>
                  <a:buFont typeface="Arial" panose="020B0604020202020204" pitchFamily="34" charset="0"/>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静电场中某点的电势在数值上等于单位正电荷从该点经任意路径到电势零点处时电场力所做的功。</a:t>
                </a:r>
              </a:p>
            </p:txBody>
          </p:sp>
        </mc:Choice>
        <mc:Fallback xmlns="">
          <p:sp>
            <p:nvSpPr>
              <p:cNvPr id="13" name="内容占位符 5">
                <a:extLst>
                  <a:ext uri="{FF2B5EF4-FFF2-40B4-BE49-F238E27FC236}">
                    <a16:creationId xmlns:a16="http://schemas.microsoft.com/office/drawing/2014/main" id="{7A7897AC-A7D0-4F75-80B3-30F65BB7EFE0}"/>
                  </a:ext>
                </a:extLst>
              </p:cNvPr>
              <p:cNvSpPr txBox="1">
                <a:spLocks noRot="1" noChangeAspect="1" noMove="1" noResize="1" noEditPoints="1" noAdjustHandles="1" noChangeArrowheads="1" noChangeShapeType="1" noTextEdit="1"/>
              </p:cNvSpPr>
              <p:nvPr/>
            </p:nvSpPr>
            <p:spPr>
              <a:xfrm>
                <a:off x="489286" y="1274976"/>
                <a:ext cx="8398971" cy="4023360"/>
              </a:xfrm>
              <a:prstGeom prst="rect">
                <a:avLst/>
              </a:prstGeom>
              <a:blipFill>
                <a:blip r:embed="rId3"/>
                <a:stretch>
                  <a:fillRect l="-1451" t="-152"/>
                </a:stretch>
              </a:blipFill>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5716F303-7AA5-6359-704D-0CE59C484421}"/>
              </a:ext>
            </a:extLst>
          </p:cNvPr>
          <p:cNvSpPr/>
          <p:nvPr/>
        </p:nvSpPr>
        <p:spPr>
          <a:xfrm>
            <a:off x="643975" y="4304354"/>
            <a:ext cx="8409409" cy="1535292"/>
          </a:xfrm>
          <a:prstGeom prst="rect">
            <a:avLst/>
          </a:prstGeom>
        </p:spPr>
        <p:txBody>
          <a:bodyPr wrap="square">
            <a:spAutoFit/>
          </a:bodyPr>
          <a:lstStyle/>
          <a:p>
            <a:pPr>
              <a:lnSpc>
                <a:spcPct val="150000"/>
              </a:lnSpc>
              <a:spcBef>
                <a:spcPct val="50000"/>
              </a:spcBef>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电势大小与电势零点的选择有关</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50000"/>
              </a:lnSpc>
              <a:spcBef>
                <a:spcPct val="50000"/>
              </a:spcBef>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电势零点选定后，电场中各点的电势值唯一的确定</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 name="Text Box 23">
            <a:extLst>
              <a:ext uri="{FF2B5EF4-FFF2-40B4-BE49-F238E27FC236}">
                <a16:creationId xmlns:a16="http://schemas.microsoft.com/office/drawing/2014/main" id="{388298B7-DBF8-4C1F-60EB-1DD494ADCD5C}"/>
              </a:ext>
            </a:extLst>
          </p:cNvPr>
          <p:cNvSpPr txBox="1">
            <a:spLocks noChangeArrowheads="1"/>
          </p:cNvSpPr>
          <p:nvPr/>
        </p:nvSpPr>
        <p:spPr bwMode="auto">
          <a:xfrm>
            <a:off x="8018734" y="6058495"/>
            <a:ext cx="8570912" cy="634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ts val="4600"/>
              </a:lnSpc>
              <a:spcBef>
                <a:spcPct val="50000"/>
              </a:spcBef>
              <a:buFontTx/>
              <a:buNone/>
            </a:pPr>
            <a:r>
              <a:rPr lang="zh-CN" altLang="en-US" sz="2800" dirty="0">
                <a:solidFill>
                  <a:srgbClr val="000000"/>
                </a:solidFill>
                <a:latin typeface="华文楷体" panose="02010600040101010101" pitchFamily="2" charset="-122"/>
                <a:ea typeface="华文楷体" panose="02010600040101010101" pitchFamily="2" charset="-122"/>
              </a:rPr>
              <a:t>电势差与零点的选取无关</a:t>
            </a:r>
          </a:p>
        </p:txBody>
      </p:sp>
      <mc:AlternateContent xmlns:mc="http://schemas.openxmlformats.org/markup-compatibility/2006" xmlns:a14="http://schemas.microsoft.com/office/drawing/2010/main">
        <mc:Choice Requires="a14">
          <p:sp>
            <p:nvSpPr>
              <p:cNvPr id="18" name="内容占位符 2">
                <a:extLst>
                  <a:ext uri="{FF2B5EF4-FFF2-40B4-BE49-F238E27FC236}">
                    <a16:creationId xmlns:a16="http://schemas.microsoft.com/office/drawing/2014/main" id="{16C65ACB-2B4E-85AC-8AFF-14EDD8EC94EA}"/>
                  </a:ext>
                </a:extLst>
              </p:cNvPr>
              <p:cNvSpPr txBox="1">
                <a:spLocks/>
              </p:cNvSpPr>
              <p:nvPr/>
            </p:nvSpPr>
            <p:spPr>
              <a:xfrm>
                <a:off x="501155" y="5834580"/>
                <a:ext cx="7857676" cy="12566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dirty="0">
                    <a:latin typeface="华文楷体" panose="02010600040101010101" pitchFamily="2" charset="-122"/>
                    <a:ea typeface="华文楷体" panose="02010600040101010101" pitchFamily="2" charset="-122"/>
                  </a:rPr>
                  <a:t>   电势差（电压）：</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𝑈</m:t>
                        </m:r>
                      </m:e>
                      <m:sub>
                        <m:r>
                          <a:rPr lang="en-US" altLang="zh-CN" b="0" i="1" smtClean="0">
                            <a:latin typeface="Cambria Math" panose="02040503050406030204" pitchFamily="18" charset="0"/>
                            <a:ea typeface="Cambria Math" panose="02040503050406030204" pitchFamily="18" charset="0"/>
                          </a:rPr>
                          <m:t>12</m:t>
                        </m:r>
                      </m:sub>
                    </m:sSub>
                    <m:r>
                      <a:rPr lang="en-US" altLang="zh-CN" b="0"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zh-CN" altLang="en-US" b="0" i="1" smtClean="0">
                            <a:latin typeface="Cambria Math" panose="02040503050406030204" pitchFamily="18" charset="0"/>
                          </a:rPr>
                          <m:t>𝜑</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zh-CN" altLang="en-US" b="0" i="1" smtClean="0">
                            <a:latin typeface="Cambria Math" panose="02040503050406030204" pitchFamily="18" charset="0"/>
                          </a:rPr>
                          <m:t>𝜑</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 </m:t>
                    </m:r>
                    <m:nary>
                      <m:naryPr>
                        <m:ctrlPr>
                          <a:rPr lang="en-US" altLang="zh-CN" i="1" smtClean="0">
                            <a:solidFill>
                              <a:srgbClr val="0066FF"/>
                            </a:solidFill>
                            <a:latin typeface="Cambria Math" panose="02040503050406030204" pitchFamily="18" charset="0"/>
                            <a:ea typeface="华文新魏" panose="02010800040101010101" pitchFamily="2" charset="-122"/>
                          </a:rPr>
                        </m:ctrlPr>
                      </m:naryPr>
                      <m:sub>
                        <m:sSub>
                          <m:sSubPr>
                            <m:ctrlPr>
                              <a:rPr lang="en-US" altLang="zh-CN" i="1">
                                <a:solidFill>
                                  <a:srgbClr val="0066FF"/>
                                </a:solidFill>
                                <a:latin typeface="Cambria Math" panose="02040503050406030204" pitchFamily="18" charset="0"/>
                                <a:ea typeface="华文新魏" panose="02010800040101010101" pitchFamily="2" charset="-122"/>
                              </a:rPr>
                            </m:ctrlPr>
                          </m:sSubPr>
                          <m:e>
                            <m:r>
                              <a:rPr lang="en-US" altLang="zh-CN" b="0" i="1" smtClean="0">
                                <a:solidFill>
                                  <a:srgbClr val="0066FF"/>
                                </a:solidFill>
                                <a:latin typeface="Cambria Math" panose="02040503050406030204" pitchFamily="18" charset="0"/>
                                <a:ea typeface="华文新魏" panose="02010800040101010101" pitchFamily="2" charset="-122"/>
                              </a:rPr>
                              <m:t>𝑝</m:t>
                            </m:r>
                          </m:e>
                          <m:sub>
                            <m:r>
                              <a:rPr lang="en-US" altLang="zh-CN" b="0" i="1" smtClean="0">
                                <a:solidFill>
                                  <a:srgbClr val="0066FF"/>
                                </a:solidFill>
                                <a:latin typeface="Cambria Math" panose="02040503050406030204" pitchFamily="18" charset="0"/>
                                <a:ea typeface="华文新魏" panose="02010800040101010101" pitchFamily="2" charset="-122"/>
                              </a:rPr>
                              <m:t>1</m:t>
                            </m:r>
                          </m:sub>
                        </m:sSub>
                      </m:sub>
                      <m:sup>
                        <m:sSub>
                          <m:sSubPr>
                            <m:ctrlPr>
                              <a:rPr lang="en-US" altLang="zh-CN" i="1">
                                <a:solidFill>
                                  <a:srgbClr val="0066FF"/>
                                </a:solidFill>
                                <a:latin typeface="Cambria Math" panose="02040503050406030204" pitchFamily="18" charset="0"/>
                                <a:ea typeface="华文新魏" panose="02010800040101010101" pitchFamily="2" charset="-122"/>
                              </a:rPr>
                            </m:ctrlPr>
                          </m:sSubPr>
                          <m:e>
                            <m:r>
                              <a:rPr lang="en-US" altLang="zh-CN" b="0" i="1" smtClean="0">
                                <a:solidFill>
                                  <a:srgbClr val="0066FF"/>
                                </a:solidFill>
                                <a:latin typeface="Cambria Math" panose="02040503050406030204" pitchFamily="18" charset="0"/>
                                <a:ea typeface="华文新魏" panose="02010800040101010101" pitchFamily="2" charset="-122"/>
                              </a:rPr>
                              <m:t>𝑝</m:t>
                            </m:r>
                          </m:e>
                          <m:sub>
                            <m:r>
                              <a:rPr lang="en-US" altLang="zh-CN" b="0" i="1" smtClean="0">
                                <a:solidFill>
                                  <a:srgbClr val="0066FF"/>
                                </a:solidFill>
                                <a:latin typeface="Cambria Math" panose="02040503050406030204" pitchFamily="18" charset="0"/>
                                <a:ea typeface="华文新魏" panose="02010800040101010101" pitchFamily="2" charset="-122"/>
                              </a:rPr>
                              <m:t>2</m:t>
                            </m:r>
                          </m:sub>
                        </m:sSub>
                      </m:sup>
                      <m:e>
                        <m:acc>
                          <m:accPr>
                            <m:chr m:val="⃗"/>
                            <m:ctrlPr>
                              <a:rPr lang="en-US" altLang="zh-CN" i="1">
                                <a:solidFill>
                                  <a:srgbClr val="0066FF"/>
                                </a:solidFill>
                                <a:latin typeface="Cambria Math" panose="02040503050406030204" pitchFamily="18" charset="0"/>
                                <a:ea typeface="华文新魏" panose="02010800040101010101" pitchFamily="2" charset="-122"/>
                              </a:rPr>
                            </m:ctrlPr>
                          </m:accPr>
                          <m:e>
                            <m:r>
                              <a:rPr lang="en-US" altLang="zh-CN" b="0" i="1" smtClean="0">
                                <a:solidFill>
                                  <a:srgbClr val="0066FF"/>
                                </a:solidFill>
                                <a:latin typeface="Cambria Math" panose="02040503050406030204" pitchFamily="18" charset="0"/>
                                <a:ea typeface="华文新魏" panose="02010800040101010101" pitchFamily="2" charset="-122"/>
                              </a:rPr>
                              <m:t>𝐸</m:t>
                            </m:r>
                          </m:e>
                        </m:acc>
                        <m:r>
                          <m:rPr>
                            <m:brk m:alnAt="23"/>
                          </m:rPr>
                          <a:rPr lang="en-US" altLang="zh-CN" b="0" i="1" smtClean="0">
                            <a:solidFill>
                              <a:srgbClr val="0066FF"/>
                            </a:solidFill>
                            <a:latin typeface="Cambria Math" panose="02040503050406030204" pitchFamily="18" charset="0"/>
                            <a:ea typeface="Cambria Math" panose="02040503050406030204" pitchFamily="18" charset="0"/>
                          </a:rPr>
                          <m:t>∙</m:t>
                        </m:r>
                        <m:r>
                          <a:rPr lang="en-US" altLang="zh-CN" b="0" i="1" smtClean="0">
                            <a:solidFill>
                              <a:srgbClr val="0066FF"/>
                            </a:solidFill>
                            <a:latin typeface="Cambria Math" panose="02040503050406030204" pitchFamily="18" charset="0"/>
                            <a:ea typeface="华文新魏" panose="02010800040101010101" pitchFamily="2" charset="-122"/>
                          </a:rPr>
                          <m:t>𝑑</m:t>
                        </m:r>
                        <m:acc>
                          <m:accPr>
                            <m:chr m:val="⃗"/>
                            <m:ctrlPr>
                              <a:rPr lang="en-US" altLang="zh-CN" i="1">
                                <a:solidFill>
                                  <a:srgbClr val="0066FF"/>
                                </a:solidFill>
                                <a:latin typeface="Cambria Math" panose="02040503050406030204" pitchFamily="18" charset="0"/>
                                <a:ea typeface="华文新魏" panose="02010800040101010101" pitchFamily="2" charset="-122"/>
                              </a:rPr>
                            </m:ctrlPr>
                          </m:accPr>
                          <m:e>
                            <m:r>
                              <a:rPr lang="en-US" altLang="zh-CN" b="0" i="1" smtClean="0">
                                <a:solidFill>
                                  <a:srgbClr val="0066FF"/>
                                </a:solidFill>
                                <a:latin typeface="Cambria Math" panose="02040503050406030204" pitchFamily="18" charset="0"/>
                                <a:ea typeface="华文新魏" panose="02010800040101010101" pitchFamily="2" charset="-122"/>
                              </a:rPr>
                              <m:t>𝑙</m:t>
                            </m:r>
                          </m:e>
                        </m:acc>
                      </m:e>
                    </m:nary>
                  </m:oMath>
                </a14:m>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zh-CN" altLang="en-US" dirty="0">
                    <a:latin typeface="华文楷体" panose="02010600040101010101" pitchFamily="2" charset="-122"/>
                    <a:ea typeface="华文楷体" panose="02010600040101010101" pitchFamily="2" charset="-122"/>
                  </a:rPr>
                  <a:t>      </a:t>
                </a:r>
                <a:endParaRPr lang="en-US" altLang="zh-CN" dirty="0">
                  <a:latin typeface="华文楷体" panose="02010600040101010101" pitchFamily="2" charset="-122"/>
                  <a:ea typeface="华文楷体" panose="02010600040101010101" pitchFamily="2" charset="-122"/>
                </a:endParaRPr>
              </a:p>
            </p:txBody>
          </p:sp>
        </mc:Choice>
        <mc:Fallback xmlns="">
          <p:sp>
            <p:nvSpPr>
              <p:cNvPr id="18" name="内容占位符 2">
                <a:extLst>
                  <a:ext uri="{FF2B5EF4-FFF2-40B4-BE49-F238E27FC236}">
                    <a16:creationId xmlns:a16="http://schemas.microsoft.com/office/drawing/2014/main" id="{16C65ACB-2B4E-85AC-8AFF-14EDD8EC94EA}"/>
                  </a:ext>
                </a:extLst>
              </p:cNvPr>
              <p:cNvSpPr txBox="1">
                <a:spLocks noRot="1" noChangeAspect="1" noMove="1" noResize="1" noEditPoints="1" noAdjustHandles="1" noChangeArrowheads="1" noChangeShapeType="1" noTextEdit="1"/>
              </p:cNvSpPr>
              <p:nvPr/>
            </p:nvSpPr>
            <p:spPr>
              <a:xfrm>
                <a:off x="501155" y="5834580"/>
                <a:ext cx="7857676" cy="1256624"/>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050782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5612" name="Group 12"/>
          <p:cNvGrpSpPr/>
          <p:nvPr/>
        </p:nvGrpSpPr>
        <p:grpSpPr>
          <a:xfrm>
            <a:off x="1395412" y="1567587"/>
            <a:ext cx="5772151" cy="604838"/>
            <a:chOff x="710" y="990"/>
            <a:chExt cx="3636" cy="381"/>
          </a:xfrm>
        </p:grpSpPr>
        <p:sp>
          <p:nvSpPr>
            <p:cNvPr id="33795" name="Rectangle 6"/>
            <p:cNvSpPr/>
            <p:nvPr/>
          </p:nvSpPr>
          <p:spPr>
            <a:xfrm>
              <a:off x="710" y="1041"/>
              <a:ext cx="3636" cy="330"/>
            </a:xfrm>
            <a:prstGeom prst="rect">
              <a:avLst/>
            </a:prstGeom>
            <a:noFill/>
            <a:ln w="9525">
              <a:noFill/>
            </a:ln>
          </p:spPr>
          <p:txBody>
            <a:bodyPr wrap="none" anchor="t" anchorCtr="0">
              <a:spAutoFit/>
            </a:bodyPr>
            <a:lstStyle/>
            <a:p>
              <a:pPr>
                <a:spcBef>
                  <a:spcPct val="50000"/>
                </a:spcBef>
              </a:pPr>
              <a:r>
                <a:rPr lang="en-US" altLang="zh-CN" sz="2800" dirty="0">
                  <a:latin typeface="+mn-ea"/>
                </a:rPr>
                <a:t>- </a:t>
              </a:r>
              <a:r>
                <a:rPr lang="zh-CN" altLang="en-US" sz="2800" dirty="0">
                  <a:latin typeface="+mn-ea"/>
                </a:rPr>
                <a:t>已知在积分路径上    的函数表达式</a:t>
              </a:r>
            </a:p>
          </p:txBody>
        </p:sp>
        <mc:AlternateContent xmlns:mc="http://schemas.openxmlformats.org/markup-compatibility/2006" xmlns:a14="http://schemas.microsoft.com/office/drawing/2010/main">
          <mc:Choice Requires="a14">
            <p:sp>
              <p:nvSpPr>
                <p:cNvPr id="33796" name="Object 5"/>
                <p:cNvSpPr txBox="1"/>
                <p:nvPr/>
              </p:nvSpPr>
              <p:spPr>
                <a:xfrm>
                  <a:off x="2661" y="990"/>
                  <a:ext cx="336" cy="33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oMath>
                    </m:oMathPara>
                  </a14:m>
                  <a:endParaRPr lang="zh-CN" altLang="en-US" sz="2800" dirty="0"/>
                </a:p>
              </p:txBody>
            </p:sp>
          </mc:Choice>
          <mc:Fallback xmlns="">
            <p:sp>
              <p:nvSpPr>
                <p:cNvPr id="33796" name="Object 5"/>
                <p:cNvSpPr txBox="1">
                  <a:spLocks noRot="1" noChangeAspect="1" noMove="1" noResize="1" noEditPoints="1" noAdjustHandles="1" noChangeArrowheads="1" noChangeShapeType="1" noTextEdit="1"/>
                </p:cNvSpPr>
                <p:nvPr/>
              </p:nvSpPr>
              <p:spPr>
                <a:xfrm>
                  <a:off x="2661" y="990"/>
                  <a:ext cx="336" cy="336"/>
                </a:xfrm>
                <a:prstGeom prst="rect">
                  <a:avLst/>
                </a:prstGeom>
                <a:blipFill>
                  <a:blip r:embed="rId2"/>
                  <a:stretch>
                    <a:fillRect/>
                  </a:stretch>
                </a:blipFill>
                <a:ln w="38100">
                  <a:noFill/>
                  <a:miter/>
                </a:ln>
              </p:spPr>
              <p:txBody>
                <a:bodyPr/>
                <a:lstStyle/>
                <a:p>
                  <a:r>
                    <a:rPr lang="zh-CN" altLang="en-US">
                      <a:noFill/>
                    </a:rPr>
                    <a:t> </a:t>
                  </a:r>
                </a:p>
              </p:txBody>
            </p:sp>
          </mc:Fallback>
        </mc:AlternateContent>
      </p:grpSp>
      <p:sp>
        <p:nvSpPr>
          <p:cNvPr id="665609" name="Text Box 9"/>
          <p:cNvSpPr txBox="1"/>
          <p:nvPr/>
        </p:nvSpPr>
        <p:spPr>
          <a:xfrm>
            <a:off x="1265836" y="4103792"/>
            <a:ext cx="6629400" cy="523220"/>
          </a:xfrm>
          <a:prstGeom prst="rect">
            <a:avLst/>
          </a:prstGeom>
          <a:noFill/>
          <a:ln w="9525">
            <a:noFill/>
          </a:ln>
        </p:spPr>
        <p:txBody>
          <a:bodyPr anchor="t" anchorCtr="0">
            <a:spAutoFit/>
          </a:bodyPr>
          <a:lstStyle/>
          <a:p>
            <a:pPr>
              <a:spcBef>
                <a:spcPct val="50000"/>
              </a:spcBef>
            </a:pPr>
            <a:r>
              <a:rPr lang="en-US" altLang="zh-CN" sz="2800" dirty="0">
                <a:latin typeface="+mn-ea"/>
              </a:rPr>
              <a:t>- </a:t>
            </a:r>
            <a:r>
              <a:rPr lang="zh-CN" altLang="en-US" sz="2800" dirty="0">
                <a:latin typeface="+mn-ea"/>
              </a:rPr>
              <a:t>利用点电荷电势的叠加原理</a:t>
            </a:r>
          </a:p>
        </p:txBody>
      </p:sp>
      <mc:AlternateContent xmlns:mc="http://schemas.openxmlformats.org/markup-compatibility/2006" xmlns:a14="http://schemas.microsoft.com/office/drawing/2010/main">
        <mc:Choice Requires="a14">
          <p:sp>
            <p:nvSpPr>
              <p:cNvPr id="665610" name="Object 10"/>
              <p:cNvSpPr txBox="1"/>
              <p:nvPr/>
            </p:nvSpPr>
            <p:spPr>
              <a:xfrm>
                <a:off x="2726399" y="4925956"/>
                <a:ext cx="4265179" cy="1096962"/>
              </a:xfrm>
              <a:prstGeom prst="rect">
                <a:avLst/>
              </a:prstGeom>
              <a:noFill/>
              <a:ln w="12700" cap="flat" cmpd="sng">
                <a:no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a:rPr lang="zh-CN" altLang="en-US" sz="3200" b="1" i="1" smtClean="0">
                          <a:solidFill>
                            <a:schemeClr val="tx1"/>
                          </a:solidFill>
                          <a:latin typeface="Cambria Math" panose="02040503050406030204" pitchFamily="18" charset="0"/>
                        </a:rPr>
                        <m:t>𝝋</m:t>
                      </m:r>
                      <m:r>
                        <a:rPr lang="zh-CN" altLang="en-US" sz="3200" i="1">
                          <a:solidFill>
                            <a:schemeClr val="tx1"/>
                          </a:solidFill>
                          <a:latin typeface="Cambria Math" panose="02040503050406030204" pitchFamily="18" charset="0"/>
                        </a:rPr>
                        <m:t>=</m:t>
                      </m:r>
                      <m:f>
                        <m:fPr>
                          <m:ctrlPr>
                            <a:rPr lang="zh-CN" altLang="en-US" sz="3200" i="1">
                              <a:solidFill>
                                <a:schemeClr val="tx1"/>
                              </a:solidFill>
                              <a:latin typeface="Cambria Math" panose="02040503050406030204" pitchFamily="18" charset="0"/>
                            </a:rPr>
                          </m:ctrlPr>
                        </m:fPr>
                        <m:num>
                          <m:r>
                            <a:rPr lang="zh-CN" altLang="en-US" sz="3200" i="1">
                              <a:solidFill>
                                <a:schemeClr val="tx1"/>
                              </a:solidFill>
                              <a:latin typeface="Cambria Math" panose="02040503050406030204" pitchFamily="18" charset="0"/>
                            </a:rPr>
                            <m:t>1</m:t>
                          </m:r>
                        </m:num>
                        <m:den>
                          <m:r>
                            <a:rPr lang="zh-CN" altLang="en-US" sz="3200" i="1">
                              <a:solidFill>
                                <a:schemeClr val="tx1"/>
                              </a:solidFill>
                              <a:latin typeface="Cambria Math" panose="02040503050406030204" pitchFamily="18" charset="0"/>
                            </a:rPr>
                            <m:t>4</m:t>
                          </m:r>
                          <m:r>
                            <m:rPr>
                              <m:sty m:val="p"/>
                            </m:rPr>
                            <a:rPr lang="zh-CN" altLang="en-US" sz="3200" i="0">
                              <a:solidFill>
                                <a:schemeClr val="tx1"/>
                              </a:solidFill>
                              <a:latin typeface="Cambria Math" panose="02040503050406030204" pitchFamily="18" charset="0"/>
                            </a:rPr>
                            <m:t>π</m:t>
                          </m:r>
                          <m:sSub>
                            <m:sSubPr>
                              <m:ctrlPr>
                                <a:rPr lang="zh-CN" altLang="en-US" sz="3200" i="1">
                                  <a:solidFill>
                                    <a:schemeClr val="tx1"/>
                                  </a:solidFill>
                                  <a:latin typeface="Cambria Math" panose="02040503050406030204" pitchFamily="18" charset="0"/>
                                </a:rPr>
                              </m:ctrlPr>
                            </m:sSubPr>
                            <m:e>
                              <m:r>
                                <m:rPr>
                                  <m:sty m:val="p"/>
                                </m:rPr>
                                <a:rPr lang="zh-CN" altLang="en-US" sz="3200" i="1">
                                  <a:solidFill>
                                    <a:schemeClr val="tx1"/>
                                  </a:solidFill>
                                  <a:latin typeface="Cambria Math" panose="02040503050406030204" pitchFamily="18" charset="0"/>
                                </a:rPr>
                                <m:t>ε</m:t>
                              </m:r>
                            </m:e>
                            <m:sub>
                              <m:r>
                                <a:rPr lang="zh-CN" altLang="en-US" sz="3200" i="1">
                                  <a:solidFill>
                                    <a:schemeClr val="tx1"/>
                                  </a:solidFill>
                                  <a:latin typeface="Cambria Math" panose="02040503050406030204" pitchFamily="18" charset="0"/>
                                </a:rPr>
                                <m:t>0</m:t>
                              </m:r>
                            </m:sub>
                          </m:sSub>
                        </m:den>
                      </m:f>
                      <m:nary>
                        <m:naryPr>
                          <m:subHide m:val="on"/>
                          <m:supHide m:val="on"/>
                          <m:ctrlPr>
                            <a:rPr lang="zh-CN" altLang="en-US" sz="3200" i="1">
                              <a:solidFill>
                                <a:schemeClr val="tx1"/>
                              </a:solidFill>
                              <a:latin typeface="Cambria Math" panose="02040503050406030204" pitchFamily="18" charset="0"/>
                            </a:rPr>
                          </m:ctrlPr>
                        </m:naryPr>
                        <m:sub/>
                        <m:sup/>
                        <m:e>
                          <m:f>
                            <m:fPr>
                              <m:ctrlPr>
                                <a:rPr lang="zh-CN" altLang="en-US" sz="3200" i="1">
                                  <a:solidFill>
                                    <a:schemeClr val="tx1"/>
                                  </a:solidFill>
                                  <a:latin typeface="Cambria Math" panose="02040503050406030204" pitchFamily="18" charset="0"/>
                                </a:rPr>
                              </m:ctrlPr>
                            </m:fPr>
                            <m:num>
                              <m:r>
                                <m:rPr>
                                  <m:sty m:val="p"/>
                                </m:rPr>
                                <a:rPr lang="zh-CN" altLang="en-US" sz="3200" i="0">
                                  <a:solidFill>
                                    <a:schemeClr val="tx1"/>
                                  </a:solidFill>
                                  <a:latin typeface="Cambria Math" panose="02040503050406030204" pitchFamily="18" charset="0"/>
                                </a:rPr>
                                <m:t>d</m:t>
                              </m:r>
                              <m:r>
                                <a:rPr lang="zh-CN" altLang="en-US" sz="3200" i="1">
                                  <a:solidFill>
                                    <a:schemeClr val="tx1"/>
                                  </a:solidFill>
                                  <a:latin typeface="Cambria Math" panose="02040503050406030204" pitchFamily="18" charset="0"/>
                                </a:rPr>
                                <m:t>𝑞</m:t>
                              </m:r>
                            </m:num>
                            <m:den>
                              <m:r>
                                <a:rPr lang="zh-CN" altLang="en-US" sz="3200" i="1">
                                  <a:solidFill>
                                    <a:schemeClr val="tx1"/>
                                  </a:solidFill>
                                  <a:latin typeface="Cambria Math" panose="02040503050406030204" pitchFamily="18" charset="0"/>
                                </a:rPr>
                                <m:t>𝑟</m:t>
                              </m:r>
                            </m:den>
                          </m:f>
                        </m:e>
                      </m:nary>
                    </m:oMath>
                  </m:oMathPara>
                </a14:m>
                <a:endParaRPr lang="zh-CN" altLang="en-US" sz="3200" dirty="0">
                  <a:solidFill>
                    <a:schemeClr val="tx1"/>
                  </a:solidFill>
                </a:endParaRPr>
              </a:p>
            </p:txBody>
          </p:sp>
        </mc:Choice>
        <mc:Fallback xmlns="">
          <p:sp>
            <p:nvSpPr>
              <p:cNvPr id="665610" name="Object 10"/>
              <p:cNvSpPr txBox="1">
                <a:spLocks noRot="1" noChangeAspect="1" noMove="1" noResize="1" noEditPoints="1" noAdjustHandles="1" noChangeArrowheads="1" noChangeShapeType="1" noTextEdit="1"/>
              </p:cNvSpPr>
              <p:nvPr/>
            </p:nvSpPr>
            <p:spPr>
              <a:xfrm>
                <a:off x="2726399" y="4925956"/>
                <a:ext cx="4265179" cy="1096962"/>
              </a:xfrm>
              <a:prstGeom prst="rect">
                <a:avLst/>
              </a:prstGeom>
              <a:blipFill>
                <a:blip r:embed="rId3"/>
                <a:stretch>
                  <a:fillRect/>
                </a:stretch>
              </a:blipFill>
              <a:ln w="12700" cap="flat" cmpd="sng">
                <a:noFill/>
                <a:prstDash val="solid"/>
                <a:miter/>
                <a:headEnd type="none" w="med" len="med"/>
                <a:tailEnd type="none" w="med" len="med"/>
              </a:ln>
            </p:spPr>
            <p:txBody>
              <a:bodyPr/>
              <a:lstStyle/>
              <a:p>
                <a:r>
                  <a:rPr lang="zh-CN" altLang="en-US">
                    <a:noFill/>
                  </a:rPr>
                  <a:t> </a:t>
                </a:r>
              </a:p>
            </p:txBody>
          </p:sp>
        </mc:Fallback>
      </mc:AlternateContent>
      <p:sp>
        <p:nvSpPr>
          <p:cNvPr id="2" name="标题 2">
            <a:extLst>
              <a:ext uri="{FF2B5EF4-FFF2-40B4-BE49-F238E27FC236}">
                <a16:creationId xmlns:a16="http://schemas.microsoft.com/office/drawing/2014/main" id="{3F72E8D0-6490-FADF-8374-667935711BC4}"/>
              </a:ext>
            </a:extLst>
          </p:cNvPr>
          <p:cNvSpPr txBox="1">
            <a:spLocks/>
          </p:cNvSpPr>
          <p:nvPr/>
        </p:nvSpPr>
        <p:spPr>
          <a:xfrm>
            <a:off x="821334" y="544043"/>
            <a:ext cx="4779879" cy="70839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lnSpc>
                <a:spcPct val="150000"/>
              </a:lnSpc>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带电体的电势</a:t>
            </a:r>
            <a:endParaRPr lang="en-US" altLang="zh-CN" sz="3200" b="1" dirty="0">
              <a:solidFill>
                <a:srgbClr val="0066FF"/>
              </a:solidFill>
              <a:latin typeface="华文楷体" panose="02010600040101010101" pitchFamily="2" charset="-122"/>
              <a:ea typeface="华文楷体" panose="02010600040101010101" pitchFamily="2" charset="-122"/>
            </a:endParaRPr>
          </a:p>
          <a:p>
            <a:pPr marL="571500" indent="-571500">
              <a:lnSpc>
                <a:spcPct val="150000"/>
              </a:lnSpc>
              <a:buFont typeface="Wingdings" panose="05000000000000000000" pitchFamily="2" charset="2"/>
              <a:buChar char="q"/>
            </a:pPr>
            <a:endParaRPr lang="zh-CN" altLang="en-US" sz="3200" b="1" dirty="0">
              <a:solidFill>
                <a:srgbClr val="0066FF"/>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1324C0E-A11F-40B6-FE4F-A572F776D418}"/>
                  </a:ext>
                </a:extLst>
              </p:cNvPr>
              <p:cNvSpPr txBox="1"/>
              <p:nvPr/>
            </p:nvSpPr>
            <p:spPr>
              <a:xfrm>
                <a:off x="601041" y="2411152"/>
                <a:ext cx="6096000" cy="12050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000" b="1" i="1" smtClean="0">
                          <a:solidFill>
                            <a:srgbClr val="FF0000"/>
                          </a:solidFill>
                          <a:latin typeface="Cambria Math" panose="02040503050406030204" pitchFamily="18" charset="0"/>
                        </a:rPr>
                        <m:t>𝝋</m:t>
                      </m:r>
                      <m:r>
                        <a:rPr lang="en-US" altLang="zh-CN" sz="3000" b="1" i="1">
                          <a:solidFill>
                            <a:srgbClr val="FF0000"/>
                          </a:solidFill>
                          <a:latin typeface="Cambria Math" panose="02040503050406030204" pitchFamily="18" charset="0"/>
                        </a:rPr>
                        <m:t>=</m:t>
                      </m:r>
                      <m:nary>
                        <m:naryPr>
                          <m:ctrlPr>
                            <a:rPr lang="en-US" altLang="zh-CN" sz="3000" b="1" i="1">
                              <a:solidFill>
                                <a:srgbClr val="FF0000"/>
                              </a:solidFill>
                              <a:latin typeface="Cambria Math" panose="02040503050406030204" pitchFamily="18" charset="0"/>
                              <a:ea typeface="华文新魏" panose="02010800040101010101" pitchFamily="2" charset="-122"/>
                            </a:rPr>
                          </m:ctrlPr>
                        </m:naryPr>
                        <m:sub>
                          <m:r>
                            <a:rPr lang="en-US" altLang="zh-CN" sz="3000" b="1" i="1">
                              <a:solidFill>
                                <a:srgbClr val="FF0000"/>
                              </a:solidFill>
                              <a:latin typeface="Cambria Math" panose="02040503050406030204" pitchFamily="18" charset="0"/>
                              <a:ea typeface="华文新魏" panose="02010800040101010101" pitchFamily="2" charset="-122"/>
                            </a:rPr>
                            <m:t>𝒑</m:t>
                          </m:r>
                        </m:sub>
                        <m:sup>
                          <m:r>
                            <a:rPr lang="en-US" altLang="zh-CN" sz="3000" b="1" i="1">
                              <a:solidFill>
                                <a:srgbClr val="FF0000"/>
                              </a:solidFill>
                              <a:latin typeface="Cambria Math" panose="02040503050406030204" pitchFamily="18" charset="0"/>
                              <a:ea typeface="华文新魏" panose="02010800040101010101" pitchFamily="2" charset="-122"/>
                            </a:rPr>
                            <m:t>"</m:t>
                          </m:r>
                          <m:r>
                            <a:rPr lang="en-US" altLang="zh-CN" sz="3000" b="1" i="1">
                              <a:solidFill>
                                <a:srgbClr val="FF0000"/>
                              </a:solidFill>
                              <a:latin typeface="Cambria Math" panose="02040503050406030204" pitchFamily="18" charset="0"/>
                              <a:ea typeface="华文新魏" panose="02010800040101010101" pitchFamily="2" charset="-122"/>
                            </a:rPr>
                            <m:t>𝟎</m:t>
                          </m:r>
                          <m:r>
                            <a:rPr lang="en-US" altLang="zh-CN" sz="3000" b="1" i="1">
                              <a:solidFill>
                                <a:srgbClr val="FF0000"/>
                              </a:solidFill>
                              <a:latin typeface="Cambria Math" panose="02040503050406030204" pitchFamily="18" charset="0"/>
                              <a:ea typeface="华文新魏" panose="02010800040101010101" pitchFamily="2" charset="-122"/>
                            </a:rPr>
                            <m:t>"</m:t>
                          </m:r>
                        </m:sup>
                        <m:e>
                          <m:acc>
                            <m:accPr>
                              <m:chr m:val="⃗"/>
                              <m:ctrlPr>
                                <a:rPr lang="en-US" altLang="zh-CN" sz="3000" b="1" i="1">
                                  <a:solidFill>
                                    <a:srgbClr val="FF0000"/>
                                  </a:solidFill>
                                  <a:latin typeface="Cambria Math" panose="02040503050406030204" pitchFamily="18" charset="0"/>
                                  <a:ea typeface="华文新魏" panose="02010800040101010101" pitchFamily="2" charset="-122"/>
                                </a:rPr>
                              </m:ctrlPr>
                            </m:accPr>
                            <m:e>
                              <m:r>
                                <a:rPr lang="en-US" altLang="zh-CN" sz="3000" b="1" i="1">
                                  <a:solidFill>
                                    <a:srgbClr val="FF0000"/>
                                  </a:solidFill>
                                  <a:latin typeface="Cambria Math" panose="02040503050406030204" pitchFamily="18" charset="0"/>
                                  <a:ea typeface="华文新魏" panose="02010800040101010101" pitchFamily="2" charset="-122"/>
                                </a:rPr>
                                <m:t>𝑬</m:t>
                              </m:r>
                            </m:e>
                          </m:acc>
                          <m:r>
                            <m:rPr>
                              <m:brk m:alnAt="23"/>
                            </m:rPr>
                            <a:rPr lang="en-US" altLang="zh-CN" sz="3000" b="1" i="1">
                              <a:solidFill>
                                <a:srgbClr val="FF0000"/>
                              </a:solidFill>
                              <a:latin typeface="Cambria Math" panose="02040503050406030204" pitchFamily="18" charset="0"/>
                              <a:ea typeface="Cambria Math" panose="02040503050406030204" pitchFamily="18" charset="0"/>
                            </a:rPr>
                            <m:t>∙</m:t>
                          </m:r>
                          <m:r>
                            <a:rPr lang="en-US" altLang="zh-CN" sz="3000" b="1" i="1">
                              <a:solidFill>
                                <a:srgbClr val="FF0000"/>
                              </a:solidFill>
                              <a:latin typeface="Cambria Math" panose="02040503050406030204" pitchFamily="18" charset="0"/>
                              <a:ea typeface="华文新魏" panose="02010800040101010101" pitchFamily="2" charset="-122"/>
                            </a:rPr>
                            <m:t>𝒅</m:t>
                          </m:r>
                          <m:acc>
                            <m:accPr>
                              <m:chr m:val="⃗"/>
                              <m:ctrlPr>
                                <a:rPr lang="en-US" altLang="zh-CN" sz="3000" b="1" i="1">
                                  <a:solidFill>
                                    <a:srgbClr val="FF0000"/>
                                  </a:solidFill>
                                  <a:latin typeface="Cambria Math" panose="02040503050406030204" pitchFamily="18" charset="0"/>
                                  <a:ea typeface="华文新魏" panose="02010800040101010101" pitchFamily="2" charset="-122"/>
                                </a:rPr>
                              </m:ctrlPr>
                            </m:accPr>
                            <m:e>
                              <m:r>
                                <a:rPr lang="en-US" altLang="zh-CN" sz="3000" b="1" i="1">
                                  <a:solidFill>
                                    <a:srgbClr val="FF0000"/>
                                  </a:solidFill>
                                  <a:latin typeface="Cambria Math" panose="02040503050406030204" pitchFamily="18" charset="0"/>
                                  <a:ea typeface="华文新魏" panose="02010800040101010101" pitchFamily="2" charset="-122"/>
                                </a:rPr>
                                <m:t>𝒍</m:t>
                              </m:r>
                            </m:e>
                          </m:acc>
                        </m:e>
                      </m:nary>
                    </m:oMath>
                  </m:oMathPara>
                </a14:m>
                <a:endParaRPr lang="zh-CN" altLang="en-US" sz="3000" dirty="0">
                  <a:solidFill>
                    <a:srgbClr val="FF0000"/>
                  </a:solidFill>
                </a:endParaRPr>
              </a:p>
            </p:txBody>
          </p:sp>
        </mc:Choice>
        <mc:Fallback xmlns="">
          <p:sp>
            <p:nvSpPr>
              <p:cNvPr id="6" name="文本框 5">
                <a:extLst>
                  <a:ext uri="{FF2B5EF4-FFF2-40B4-BE49-F238E27FC236}">
                    <a16:creationId xmlns:a16="http://schemas.microsoft.com/office/drawing/2014/main" id="{61324C0E-A11F-40B6-FE4F-A572F776D418}"/>
                  </a:ext>
                </a:extLst>
              </p:cNvPr>
              <p:cNvSpPr txBox="1">
                <a:spLocks noRot="1" noChangeAspect="1" noMove="1" noResize="1" noEditPoints="1" noAdjustHandles="1" noChangeArrowheads="1" noChangeShapeType="1" noTextEdit="1"/>
              </p:cNvSpPr>
              <p:nvPr/>
            </p:nvSpPr>
            <p:spPr>
              <a:xfrm>
                <a:off x="601041" y="2411152"/>
                <a:ext cx="6096000" cy="1205010"/>
              </a:xfrm>
              <a:prstGeom prst="rect">
                <a:avLst/>
              </a:prstGeom>
              <a:blipFill>
                <a:blip r:embed="rId4"/>
                <a:stretch>
                  <a:fillRect/>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389BFCA5-A479-C020-E704-EF7969F1E041}"/>
              </a:ext>
            </a:extLst>
          </p:cNvPr>
          <p:cNvSpPr txBox="1"/>
          <p:nvPr/>
        </p:nvSpPr>
        <p:spPr>
          <a:xfrm>
            <a:off x="7322457" y="1357546"/>
            <a:ext cx="4571999" cy="2677656"/>
          </a:xfrm>
          <a:prstGeom prst="rect">
            <a:avLst/>
          </a:prstGeom>
          <a:noFill/>
        </p:spPr>
        <p:txBody>
          <a:bodyPr wrap="square" rtlCol="0">
            <a:spAutoFit/>
          </a:bodyPr>
          <a:lstStyle/>
          <a:p>
            <a:pPr marL="285750" indent="-285750">
              <a:buFontTx/>
              <a:buChar char="-"/>
            </a:pPr>
            <a:r>
              <a:rPr lang="zh-CN" altLang="en-US" sz="2800" dirty="0"/>
              <a:t>注意电势零点的选择</a:t>
            </a:r>
            <a:endParaRPr lang="en-US" altLang="zh-CN" sz="2800" dirty="0"/>
          </a:p>
          <a:p>
            <a:pPr marL="285750" indent="-285750">
              <a:buFontTx/>
              <a:buChar char="-"/>
            </a:pPr>
            <a:r>
              <a:rPr lang="zh-CN" altLang="en-US" sz="2800" dirty="0"/>
              <a:t>电场强度不能用统一公式表示时，应沿积分路径分段积分</a:t>
            </a:r>
            <a:endParaRPr lang="en-US" altLang="zh-CN" sz="2800" dirty="0"/>
          </a:p>
          <a:p>
            <a:pPr marL="285750" indent="-285750">
              <a:buFontTx/>
              <a:buChar char="-"/>
            </a:pPr>
            <a:r>
              <a:rPr lang="zh-CN" altLang="en-US" sz="2800" dirty="0"/>
              <a:t>求电势差时直接带入两点位置即可</a:t>
            </a:r>
          </a:p>
        </p:txBody>
      </p:sp>
      <p:sp>
        <p:nvSpPr>
          <p:cNvPr id="5" name="文本框 4">
            <a:extLst>
              <a:ext uri="{FF2B5EF4-FFF2-40B4-BE49-F238E27FC236}">
                <a16:creationId xmlns:a16="http://schemas.microsoft.com/office/drawing/2014/main" id="{A300991F-14CA-CF57-9B2A-E180169767EB}"/>
              </a:ext>
            </a:extLst>
          </p:cNvPr>
          <p:cNvSpPr txBox="1"/>
          <p:nvPr/>
        </p:nvSpPr>
        <p:spPr>
          <a:xfrm>
            <a:off x="6991577" y="5106451"/>
            <a:ext cx="4902879" cy="523220"/>
          </a:xfrm>
          <a:prstGeom prst="rect">
            <a:avLst/>
          </a:prstGeom>
          <a:noFill/>
        </p:spPr>
        <p:txBody>
          <a:bodyPr wrap="square" rtlCol="0">
            <a:spAutoFit/>
          </a:bodyPr>
          <a:lstStyle/>
          <a:p>
            <a:pPr marL="285750" indent="-285750">
              <a:buFontTx/>
              <a:buChar char="-"/>
            </a:pPr>
            <a:r>
              <a:rPr lang="zh-CN" altLang="en-US" sz="2800" dirty="0"/>
              <a:t>叠加时取同一电势零点</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56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6560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656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09" grpId="0"/>
      <p:bldP spid="665610" grpId="0"/>
      <p:bldP spid="6"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電場- Wikiwand">
            <a:extLst>
              <a:ext uri="{FF2B5EF4-FFF2-40B4-BE49-F238E27FC236}">
                <a16:creationId xmlns:a16="http://schemas.microsoft.com/office/drawing/2014/main" id="{50F49F74-9D58-43AF-B0FA-844DB29D47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128" y="2142717"/>
            <a:ext cx="2580309" cy="2580309"/>
          </a:xfrm>
          <a:prstGeom prst="rect">
            <a:avLst/>
          </a:prstGeom>
          <a:noFill/>
          <a:extLst>
            <a:ext uri="{909E8E84-426E-40DD-AFC4-6F175D3DCCD1}">
              <a14:hiddenFill xmlns:a14="http://schemas.microsoft.com/office/drawing/2010/main">
                <a:solidFill>
                  <a:srgbClr val="FFFFFF"/>
                </a:solidFill>
              </a14:hiddenFill>
            </a:ext>
          </a:extLst>
        </p:spPr>
      </p:pic>
      <p:sp>
        <p:nvSpPr>
          <p:cNvPr id="3" name="椭圆 2">
            <a:extLst>
              <a:ext uri="{FF2B5EF4-FFF2-40B4-BE49-F238E27FC236}">
                <a16:creationId xmlns:a16="http://schemas.microsoft.com/office/drawing/2014/main" id="{3D2C9BE5-A7B0-4A7A-BE51-3DF062C0C113}"/>
              </a:ext>
            </a:extLst>
          </p:cNvPr>
          <p:cNvSpPr>
            <a:spLocks noChangeAspect="1"/>
          </p:cNvSpPr>
          <p:nvPr/>
        </p:nvSpPr>
        <p:spPr>
          <a:xfrm>
            <a:off x="880257" y="2466846"/>
            <a:ext cx="1932049" cy="1932049"/>
          </a:xfrm>
          <a:prstGeom prst="ellipse">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4" name="椭圆 3">
            <a:extLst>
              <a:ext uri="{FF2B5EF4-FFF2-40B4-BE49-F238E27FC236}">
                <a16:creationId xmlns:a16="http://schemas.microsoft.com/office/drawing/2014/main" id="{21242B56-9701-4229-A387-8B3BEC2C351F}"/>
              </a:ext>
            </a:extLst>
          </p:cNvPr>
          <p:cNvSpPr>
            <a:spLocks noChangeAspect="1"/>
          </p:cNvSpPr>
          <p:nvPr/>
        </p:nvSpPr>
        <p:spPr>
          <a:xfrm>
            <a:off x="516435" y="2165463"/>
            <a:ext cx="2620002" cy="2620002"/>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5" name="椭圆 4">
            <a:extLst>
              <a:ext uri="{FF2B5EF4-FFF2-40B4-BE49-F238E27FC236}">
                <a16:creationId xmlns:a16="http://schemas.microsoft.com/office/drawing/2014/main" id="{F8641583-9A2D-41AA-ABD6-B83E711D2D80}"/>
              </a:ext>
            </a:extLst>
          </p:cNvPr>
          <p:cNvSpPr/>
          <p:nvPr/>
        </p:nvSpPr>
        <p:spPr>
          <a:xfrm rot="19416383">
            <a:off x="2554112" y="2808702"/>
            <a:ext cx="176400" cy="17704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7" name="文本框 6">
            <a:extLst>
              <a:ext uri="{FF2B5EF4-FFF2-40B4-BE49-F238E27FC236}">
                <a16:creationId xmlns:a16="http://schemas.microsoft.com/office/drawing/2014/main" id="{F555571C-88D2-4A59-B0C9-5749688AD8EE}"/>
              </a:ext>
            </a:extLst>
          </p:cNvPr>
          <p:cNvSpPr txBox="1"/>
          <p:nvPr/>
        </p:nvSpPr>
        <p:spPr>
          <a:xfrm>
            <a:off x="2364238" y="2570827"/>
            <a:ext cx="247038" cy="523220"/>
          </a:xfrm>
          <a:prstGeom prst="rect">
            <a:avLst/>
          </a:prstGeom>
          <a:noFill/>
        </p:spPr>
        <p:txBody>
          <a:bodyPr wrap="square" rtlCol="0">
            <a:spAutoFit/>
          </a:bodyPr>
          <a:lstStyle/>
          <a:p>
            <a:r>
              <a:rPr lang="en-US" altLang="zh-CN" sz="2800" dirty="0">
                <a:solidFill>
                  <a:srgbClr val="00B050"/>
                </a:solidFill>
              </a:rPr>
              <a:t>a</a:t>
            </a:r>
            <a:endParaRPr lang="en-US" sz="2800" dirty="0">
              <a:solidFill>
                <a:srgbClr val="00B050"/>
              </a:solidFill>
            </a:endParaRPr>
          </a:p>
        </p:txBody>
      </p:sp>
      <p:sp>
        <p:nvSpPr>
          <p:cNvPr id="8" name="文本框 7">
            <a:extLst>
              <a:ext uri="{FF2B5EF4-FFF2-40B4-BE49-F238E27FC236}">
                <a16:creationId xmlns:a16="http://schemas.microsoft.com/office/drawing/2014/main" id="{59960460-A521-42A1-A65A-3FC972D55041}"/>
              </a:ext>
            </a:extLst>
          </p:cNvPr>
          <p:cNvSpPr txBox="1"/>
          <p:nvPr/>
        </p:nvSpPr>
        <p:spPr>
          <a:xfrm>
            <a:off x="2745693" y="2226507"/>
            <a:ext cx="247038" cy="523220"/>
          </a:xfrm>
          <a:prstGeom prst="rect">
            <a:avLst/>
          </a:prstGeom>
          <a:noFill/>
        </p:spPr>
        <p:txBody>
          <a:bodyPr wrap="square" rtlCol="0">
            <a:spAutoFit/>
          </a:bodyPr>
          <a:lstStyle/>
          <a:p>
            <a:r>
              <a:rPr lang="en-US" sz="2800" dirty="0">
                <a:solidFill>
                  <a:srgbClr val="FF0000"/>
                </a:solidFill>
              </a:rPr>
              <a:t>b</a:t>
            </a:r>
          </a:p>
        </p:txBody>
      </p:sp>
      <p:sp>
        <p:nvSpPr>
          <p:cNvPr id="9" name="矩形 8">
            <a:extLst>
              <a:ext uri="{FF2B5EF4-FFF2-40B4-BE49-F238E27FC236}">
                <a16:creationId xmlns:a16="http://schemas.microsoft.com/office/drawing/2014/main" id="{297BDDEF-947E-4C1A-9434-2F68160749E9}"/>
              </a:ext>
            </a:extLst>
          </p:cNvPr>
          <p:cNvSpPr/>
          <p:nvPr/>
        </p:nvSpPr>
        <p:spPr>
          <a:xfrm>
            <a:off x="3802891" y="958707"/>
            <a:ext cx="7096816" cy="1384995"/>
          </a:xfrm>
          <a:prstGeom prst="rect">
            <a:avLst/>
          </a:prstGeom>
        </p:spPr>
        <p:txBody>
          <a:bodyPr wrap="square">
            <a:spAutoFit/>
          </a:bodyPr>
          <a:lstStyle/>
          <a:p>
            <a:r>
              <a:rPr lang="zh-CN" altLang="en-US" sz="2800" dirty="0">
                <a:solidFill>
                  <a:srgbClr val="000000"/>
                </a:solidFill>
                <a:latin typeface="华文楷体" panose="02010600040101010101" pitchFamily="2" charset="-122"/>
                <a:ea typeface="华文楷体" panose="02010600040101010101" pitchFamily="2" charset="-122"/>
              </a:rPr>
              <a:t> 数学上，若某一标量函数对某一方向有最大变化率，则定义此方向上的导数为该标量函数的</a:t>
            </a:r>
            <a:r>
              <a:rPr lang="zh-CN" altLang="en-US" sz="2800" b="1" dirty="0">
                <a:solidFill>
                  <a:srgbClr val="0066FF"/>
                </a:solidFill>
                <a:latin typeface="华文楷体" panose="02010600040101010101" pitchFamily="2" charset="-122"/>
                <a:ea typeface="华文楷体" panose="02010600040101010101" pitchFamily="2" charset="-122"/>
              </a:rPr>
              <a:t>梯度</a:t>
            </a:r>
            <a:endParaRPr lang="en-US" sz="2800" b="1" dirty="0">
              <a:solidFill>
                <a:srgbClr val="0066FF"/>
              </a:solidFill>
              <a:latin typeface="华文楷体" panose="02010600040101010101" pitchFamily="2" charset="-122"/>
              <a:ea typeface="华文楷体" panose="02010600040101010101" pitchFamily="2" charset="-122"/>
            </a:endParaRPr>
          </a:p>
        </p:txBody>
      </p:sp>
      <p:sp>
        <p:nvSpPr>
          <p:cNvPr id="33" name="标题 27">
            <a:extLst>
              <a:ext uri="{FF2B5EF4-FFF2-40B4-BE49-F238E27FC236}">
                <a16:creationId xmlns:a16="http://schemas.microsoft.com/office/drawing/2014/main" id="{089AD43F-D6C9-4785-9C45-4AB20D17EE60}"/>
              </a:ext>
            </a:extLst>
          </p:cNvPr>
          <p:cNvSpPr txBox="1">
            <a:spLocks/>
          </p:cNvSpPr>
          <p:nvPr/>
        </p:nvSpPr>
        <p:spPr>
          <a:xfrm>
            <a:off x="847748" y="713311"/>
            <a:ext cx="7543800" cy="145075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电势梯度</a:t>
            </a:r>
          </a:p>
        </p:txBody>
      </p:sp>
      <mc:AlternateContent xmlns:mc="http://schemas.openxmlformats.org/markup-compatibility/2006" xmlns:a14="http://schemas.microsoft.com/office/drawing/2010/main">
        <mc:Choice Requires="a14">
          <p:sp>
            <p:nvSpPr>
              <p:cNvPr id="34" name="内容占位符 28">
                <a:extLst>
                  <a:ext uri="{FF2B5EF4-FFF2-40B4-BE49-F238E27FC236}">
                    <a16:creationId xmlns:a16="http://schemas.microsoft.com/office/drawing/2014/main" id="{5D25C992-5A90-4C12-A650-D8AFEF9F2E78}"/>
                  </a:ext>
                </a:extLst>
              </p:cNvPr>
              <p:cNvSpPr txBox="1">
                <a:spLocks/>
              </p:cNvSpPr>
              <p:nvPr/>
            </p:nvSpPr>
            <p:spPr>
              <a:xfrm>
                <a:off x="3662863" y="3169549"/>
                <a:ext cx="4342191" cy="40233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ct val="50000"/>
                  </a:spcBef>
                  <a:buNone/>
                </a:pPr>
                <a14:m>
                  <m:oMathPara xmlns:m="http://schemas.openxmlformats.org/officeDocument/2006/math">
                    <m:oMathParaPr>
                      <m:jc m:val="centerGroup"/>
                    </m:oMathParaPr>
                    <m:oMath xmlns:m="http://schemas.openxmlformats.org/officeDocument/2006/math">
                      <m:r>
                        <a:rPr lang="en-US" altLang="zh-CN" b="0" smtClean="0">
                          <a:latin typeface="Cambria Math" panose="02040503050406030204" pitchFamily="18" charset="0"/>
                        </a:rPr>
                        <m:t>−</m:t>
                      </m:r>
                      <m:r>
                        <a:rPr lang="en-US" altLang="zh-CN" b="0" i="1">
                          <a:latin typeface="Cambria Math" panose="02040503050406030204" pitchFamily="18" charset="0"/>
                        </a:rPr>
                        <m:t>𝑑</m:t>
                      </m:r>
                      <m:r>
                        <a:rPr lang="zh-CN" altLang="en-US" b="0" i="1" smtClean="0">
                          <a:solidFill>
                            <a:srgbClr val="000000"/>
                          </a:solidFill>
                          <a:latin typeface="Cambria Math" panose="02040503050406030204" pitchFamily="18" charset="0"/>
                        </a:rPr>
                        <m:t>𝜑</m:t>
                      </m:r>
                      <m:r>
                        <a:rPr lang="en-US" altLang="zh-CN" b="0" i="1">
                          <a:latin typeface="Cambria Math" panose="02040503050406030204" pitchFamily="18" charset="0"/>
                        </a:rPr>
                        <m:t>=</m:t>
                      </m:r>
                      <m:acc>
                        <m:accPr>
                          <m:chr m:val="⃗"/>
                          <m:ctrlPr>
                            <a:rPr lang="en-US" altLang="zh-CN" i="1">
                              <a:latin typeface="Cambria Math" panose="02040503050406030204" pitchFamily="18" charset="0"/>
                            </a:rPr>
                          </m:ctrlPr>
                        </m:accPr>
                        <m:e>
                          <m:r>
                            <a:rPr lang="en-US" altLang="zh-CN" b="0" i="1">
                              <a:latin typeface="Cambria Math" panose="02040503050406030204" pitchFamily="18" charset="0"/>
                            </a:rPr>
                            <m:t>𝐸</m:t>
                          </m:r>
                        </m:e>
                      </m:acc>
                      <m:r>
                        <a:rPr lang="en-US" altLang="zh-CN" b="0" i="1">
                          <a:latin typeface="Cambria Math" panose="02040503050406030204" pitchFamily="18" charset="0"/>
                          <a:ea typeface="Cambria Math" panose="02040503050406030204" pitchFamily="18" charset="0"/>
                        </a:rPr>
                        <m:t>∙</m:t>
                      </m:r>
                      <m:r>
                        <a:rPr lang="en-US" altLang="zh-CN" b="0" i="1">
                          <a:latin typeface="Cambria Math" panose="02040503050406030204" pitchFamily="18" charset="0"/>
                          <a:ea typeface="Cambria Math" panose="02040503050406030204" pitchFamily="18" charset="0"/>
                        </a:rPr>
                        <m:t>𝑑</m:t>
                      </m:r>
                      <m:acc>
                        <m:accPr>
                          <m:chr m:val="⃗"/>
                          <m:ctrlPr>
                            <a:rPr lang="en-US" altLang="zh-CN" i="1">
                              <a:latin typeface="Cambria Math" panose="02040503050406030204" pitchFamily="18" charset="0"/>
                              <a:ea typeface="Cambria Math" panose="02040503050406030204" pitchFamily="18" charset="0"/>
                            </a:rPr>
                          </m:ctrlPr>
                        </m:accPr>
                        <m:e>
                          <m:r>
                            <a:rPr lang="en-US" altLang="zh-CN" b="0" i="1">
                              <a:latin typeface="Cambria Math" panose="02040503050406030204" pitchFamily="18" charset="0"/>
                              <a:ea typeface="Cambria Math" panose="02040503050406030204" pitchFamily="18" charset="0"/>
                            </a:rPr>
                            <m:t>𝑙</m:t>
                          </m:r>
                        </m:e>
                      </m:acc>
                      <m:r>
                        <a:rPr lang="en-US" altLang="zh-CN" b="0" i="1">
                          <a:latin typeface="Cambria Math" panose="02040503050406030204" pitchFamily="18" charset="0"/>
                        </a:rPr>
                        <m:t>=</m:t>
                      </m:r>
                      <m:r>
                        <a:rPr lang="en-US" altLang="zh-CN" b="0" i="1">
                          <a:latin typeface="Cambria Math" panose="02040503050406030204" pitchFamily="18" charset="0"/>
                        </a:rPr>
                        <m:t>𝐸𝑑𝑙</m:t>
                      </m:r>
                      <m:func>
                        <m:funcPr>
                          <m:ctrlPr>
                            <a:rPr lang="en-US" altLang="zh-CN" i="1">
                              <a:latin typeface="Cambria Math" panose="02040503050406030204" pitchFamily="18" charset="0"/>
                            </a:rPr>
                          </m:ctrlPr>
                        </m:funcPr>
                        <m:fName>
                          <m:r>
                            <a:rPr lang="en-US" altLang="zh-CN" b="0" i="1">
                              <a:latin typeface="Cambria Math" panose="02040503050406030204" pitchFamily="18" charset="0"/>
                            </a:rPr>
                            <m:t>𝑐𝑜𝑠</m:t>
                          </m:r>
                        </m:fName>
                        <m:e>
                          <m:r>
                            <a:rPr lang="zh-CN" altLang="en-US" b="0" i="1" smtClean="0">
                              <a:latin typeface="Cambria Math" panose="02040503050406030204" pitchFamily="18" charset="0"/>
                            </a:rPr>
                            <m:t>𝞱</m:t>
                          </m:r>
                        </m:e>
                      </m:func>
                    </m:oMath>
                  </m:oMathPara>
                </a14:m>
                <a:endParaRPr lang="en-US" altLang="zh-CN" dirty="0">
                  <a:latin typeface="黑体" panose="02010609060101010101" pitchFamily="49" charset="-122"/>
                </a:endParaRPr>
              </a:p>
              <a:p>
                <a:pPr marL="0" indent="0">
                  <a:lnSpc>
                    <a:spcPct val="120000"/>
                  </a:lnSpc>
                  <a:spcBef>
                    <a:spcPct val="50000"/>
                  </a:spcBef>
                  <a:buNone/>
                </a:pPr>
                <a14:m>
                  <m:oMathPara xmlns:m="http://schemas.openxmlformats.org/officeDocument/2006/math">
                    <m:oMathParaPr>
                      <m:jc m:val="centerGroup"/>
                    </m:oMathParaPr>
                    <m:oMath xmlns:m="http://schemas.openxmlformats.org/officeDocument/2006/math">
                      <m:r>
                        <a:rPr lang="en-US" altLang="zh-CN" b="0" i="1">
                          <a:solidFill>
                            <a:srgbClr val="000000"/>
                          </a:solidFill>
                          <a:latin typeface="Cambria Math" panose="02040503050406030204" pitchFamily="18" charset="0"/>
                          <a:ea typeface="Cambria Math" panose="02040503050406030204" pitchFamily="18" charset="0"/>
                        </a:rPr>
                        <m:t>→</m:t>
                      </m:r>
                      <m:r>
                        <a:rPr lang="en-US" altLang="zh-CN" b="0" i="1">
                          <a:solidFill>
                            <a:srgbClr val="000000"/>
                          </a:solidFill>
                          <a:latin typeface="Cambria Math" panose="02040503050406030204" pitchFamily="18" charset="0"/>
                        </a:rPr>
                        <m:t>𝐸</m:t>
                      </m:r>
                      <m:func>
                        <m:funcPr>
                          <m:ctrlPr>
                            <a:rPr lang="en-US" altLang="zh-CN" i="1">
                              <a:solidFill>
                                <a:srgbClr val="000000"/>
                              </a:solidFill>
                              <a:latin typeface="Cambria Math" panose="02040503050406030204" pitchFamily="18" charset="0"/>
                            </a:rPr>
                          </m:ctrlPr>
                        </m:funcPr>
                        <m:fName>
                          <m:r>
                            <a:rPr lang="en-US" altLang="zh-CN" b="0" i="1">
                              <a:solidFill>
                                <a:srgbClr val="000000"/>
                              </a:solidFill>
                              <a:latin typeface="Cambria Math" panose="02040503050406030204" pitchFamily="18" charset="0"/>
                            </a:rPr>
                            <m:t>𝑐𝑜𝑠</m:t>
                          </m:r>
                        </m:fName>
                        <m:e>
                          <m:r>
                            <a:rPr lang="zh-CN" altLang="en-US" b="0" i="1" smtClean="0">
                              <a:solidFill>
                                <a:srgbClr val="000000"/>
                              </a:solidFill>
                              <a:latin typeface="Cambria Math" panose="02040503050406030204" pitchFamily="18" charset="0"/>
                            </a:rPr>
                            <m:t>𝞱</m:t>
                          </m:r>
                        </m:e>
                      </m:func>
                      <m:r>
                        <a:rPr lang="en-US" altLang="zh-CN" b="0" i="1">
                          <a:solidFill>
                            <a:srgbClr val="000000"/>
                          </a:solidFill>
                          <a:latin typeface="Cambria Math" panose="02040503050406030204" pitchFamily="18" charset="0"/>
                        </a:rPr>
                        <m:t>=−</m:t>
                      </m:r>
                      <m:f>
                        <m:fPr>
                          <m:ctrlPr>
                            <a:rPr lang="en-US" altLang="zh-CN" i="1">
                              <a:solidFill>
                                <a:srgbClr val="000000"/>
                              </a:solidFill>
                              <a:latin typeface="Cambria Math" panose="02040503050406030204" pitchFamily="18" charset="0"/>
                            </a:rPr>
                          </m:ctrlPr>
                        </m:fPr>
                        <m:num>
                          <m:r>
                            <a:rPr lang="en-US" altLang="zh-CN" b="0" i="1">
                              <a:solidFill>
                                <a:srgbClr val="000000"/>
                              </a:solidFill>
                              <a:latin typeface="Cambria Math" panose="02040503050406030204" pitchFamily="18" charset="0"/>
                            </a:rPr>
                            <m:t>𝑑</m:t>
                          </m:r>
                          <m:r>
                            <a:rPr lang="zh-CN" altLang="en-US" b="0" i="1" smtClean="0">
                              <a:solidFill>
                                <a:srgbClr val="000000"/>
                              </a:solidFill>
                              <a:latin typeface="Cambria Math" panose="02040503050406030204" pitchFamily="18" charset="0"/>
                            </a:rPr>
                            <m:t>𝜑</m:t>
                          </m:r>
                        </m:num>
                        <m:den>
                          <m:r>
                            <a:rPr lang="en-US" altLang="zh-CN" b="0" i="1">
                              <a:solidFill>
                                <a:srgbClr val="000000"/>
                              </a:solidFill>
                              <a:latin typeface="Cambria Math" panose="02040503050406030204" pitchFamily="18" charset="0"/>
                            </a:rPr>
                            <m:t>𝑑𝑙</m:t>
                          </m:r>
                        </m:den>
                      </m:f>
                    </m:oMath>
                  </m:oMathPara>
                </a14:m>
                <a:endParaRPr lang="en-US" altLang="zh-CN" i="1" dirty="0">
                  <a:solidFill>
                    <a:srgbClr val="000000"/>
                  </a:solidFill>
                  <a:latin typeface="Cambria Math" panose="02040503050406030204" pitchFamily="18" charset="0"/>
                </a:endParaRPr>
              </a:p>
              <a:p>
                <a:pPr marL="0" indent="0">
                  <a:lnSpc>
                    <a:spcPct val="120000"/>
                  </a:lnSpc>
                  <a:spcBef>
                    <a:spcPct val="50000"/>
                  </a:spcBef>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zh-CN" altLang="en-US" b="0" i="1">
                          <a:solidFill>
                            <a:srgbClr val="000000"/>
                          </a:solidFill>
                          <a:latin typeface="Cambria Math" panose="02040503050406030204" pitchFamily="18" charset="0"/>
                        </a:rPr>
                        <m:t>当</m:t>
                      </m:r>
                      <m:r>
                        <a:rPr lang="zh-CN" altLang="en-US" b="0" i="1" smtClean="0">
                          <a:solidFill>
                            <a:srgbClr val="000000"/>
                          </a:solidFill>
                          <a:latin typeface="Cambria Math" panose="02040503050406030204" pitchFamily="18" charset="0"/>
                        </a:rPr>
                        <m:t>𝞱</m:t>
                      </m:r>
                      <m:r>
                        <a:rPr lang="en-US" altLang="zh-CN" b="0" i="1">
                          <a:solidFill>
                            <a:srgbClr val="000000"/>
                          </a:solidFill>
                          <a:latin typeface="Cambria Math" panose="02040503050406030204" pitchFamily="18" charset="0"/>
                        </a:rPr>
                        <m:t>=</m:t>
                      </m:r>
                      <m:r>
                        <a:rPr lang="en-US" altLang="zh-CN" b="0" i="1">
                          <a:solidFill>
                            <a:srgbClr val="000000"/>
                          </a:solidFill>
                          <a:latin typeface="Cambria Math" panose="02040503050406030204" pitchFamily="18" charset="0"/>
                        </a:rPr>
                        <m:t>0</m:t>
                      </m:r>
                      <m:r>
                        <a:rPr lang="zh-CN" altLang="en-US" b="0" i="1">
                          <a:solidFill>
                            <a:srgbClr val="000000"/>
                          </a:solidFill>
                          <a:latin typeface="Cambria Math" panose="02040503050406030204" pitchFamily="18" charset="0"/>
                        </a:rPr>
                        <m:t>时</m:t>
                      </m:r>
                      <m:r>
                        <a:rPr lang="zh-CN" altLang="en-US" b="0" i="1">
                          <a:solidFill>
                            <a:srgbClr val="000000"/>
                          </a:solidFill>
                          <a:latin typeface="Cambria Math" panose="02040503050406030204" pitchFamily="18" charset="0"/>
                        </a:rPr>
                        <m:t>，</m:t>
                      </m:r>
                    </m:oMath>
                  </m:oMathPara>
                </a14:m>
                <a:endParaRPr lang="en-US" altLang="zh-CN" dirty="0">
                  <a:latin typeface="黑体" panose="02010609060101010101" pitchFamily="49" charset="-122"/>
                </a:endParaRPr>
              </a:p>
              <a:p>
                <a:pPr marL="0" indent="0">
                  <a:lnSpc>
                    <a:spcPct val="120000"/>
                  </a:lnSpc>
                  <a:spcBef>
                    <a:spcPct val="50000"/>
                  </a:spcBef>
                  <a:buNone/>
                </a:pPr>
                <a14:m>
                  <m:oMathPara xmlns:m="http://schemas.openxmlformats.org/officeDocument/2006/math">
                    <m:oMathParaPr>
                      <m:jc m:val="centerGroup"/>
                    </m:oMathParaPr>
                    <m:oMath xmlns:m="http://schemas.openxmlformats.org/officeDocument/2006/math">
                      <m:r>
                        <a:rPr lang="en-US" altLang="zh-CN" b="0" i="1" smtClean="0">
                          <a:solidFill>
                            <a:srgbClr val="C0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rPr>
                        <m:t>𝐸</m:t>
                      </m:r>
                      <m:r>
                        <a:rPr lang="en-US" altLang="zh-CN" b="0" i="1" smtClean="0">
                          <a:solidFill>
                            <a:srgbClr val="FF0000"/>
                          </a:solidFill>
                          <a:latin typeface="Cambria Math" panose="02040503050406030204" pitchFamily="18" charset="0"/>
                        </a:rPr>
                        <m:t>=−</m:t>
                      </m:r>
                      <m:f>
                        <m:fPr>
                          <m:ctrlPr>
                            <a:rPr lang="en-US" altLang="zh-CN" i="1">
                              <a:solidFill>
                                <a:srgbClr val="FF0000"/>
                              </a:solidFill>
                              <a:latin typeface="Cambria Math" panose="02040503050406030204" pitchFamily="18" charset="0"/>
                            </a:rPr>
                          </m:ctrlPr>
                        </m:fPr>
                        <m:num>
                          <m:r>
                            <a:rPr lang="en-US" altLang="zh-CN" b="0" i="1">
                              <a:solidFill>
                                <a:srgbClr val="FF0000"/>
                              </a:solidFill>
                              <a:latin typeface="Cambria Math" panose="02040503050406030204" pitchFamily="18" charset="0"/>
                            </a:rPr>
                            <m:t>𝑑</m:t>
                          </m:r>
                          <m:r>
                            <a:rPr lang="zh-CN" altLang="en-US" b="0" i="1" smtClean="0">
                              <a:solidFill>
                                <a:srgbClr val="FF0000"/>
                              </a:solidFill>
                              <a:latin typeface="Cambria Math" panose="02040503050406030204" pitchFamily="18" charset="0"/>
                            </a:rPr>
                            <m:t>𝜑</m:t>
                          </m:r>
                        </m:num>
                        <m:den>
                          <m:r>
                            <a:rPr lang="en-US" altLang="zh-CN" b="0" i="1">
                              <a:solidFill>
                                <a:srgbClr val="FF0000"/>
                              </a:solidFill>
                              <a:latin typeface="Cambria Math" panose="02040503050406030204" pitchFamily="18" charset="0"/>
                            </a:rPr>
                            <m:t>𝑑𝑙</m:t>
                          </m:r>
                        </m:den>
                      </m:f>
                      <m:sSub>
                        <m:sSubPr>
                          <m:ctrlPr>
                            <a:rPr lang="en-US" altLang="zh-CN" i="1">
                              <a:solidFill>
                                <a:srgbClr val="FF0000"/>
                              </a:solidFill>
                              <a:latin typeface="Cambria Math" panose="02040503050406030204" pitchFamily="18" charset="0"/>
                            </a:rPr>
                          </m:ctrlPr>
                        </m:sSubPr>
                        <m:e>
                          <m:r>
                            <a:rPr lang="en-US" altLang="zh-CN" b="0" i="1">
                              <a:solidFill>
                                <a:srgbClr val="FF0000"/>
                              </a:solidFill>
                              <a:latin typeface="Cambria Math" panose="02040503050406030204" pitchFamily="18" charset="0"/>
                            </a:rPr>
                            <m:t>|</m:t>
                          </m:r>
                        </m:e>
                        <m:sub>
                          <m:r>
                            <a:rPr lang="en-US" altLang="zh-CN" b="0" i="1">
                              <a:solidFill>
                                <a:srgbClr val="FF0000"/>
                              </a:solidFill>
                              <a:latin typeface="Cambria Math" panose="02040503050406030204" pitchFamily="18" charset="0"/>
                            </a:rPr>
                            <m:t>𝑚𝑎𝑥</m:t>
                          </m:r>
                        </m:sub>
                      </m:sSub>
                    </m:oMath>
                  </m:oMathPara>
                </a14:m>
                <a:endParaRPr lang="zh-CN" altLang="en-US" dirty="0"/>
              </a:p>
            </p:txBody>
          </p:sp>
        </mc:Choice>
        <mc:Fallback xmlns="">
          <p:sp>
            <p:nvSpPr>
              <p:cNvPr id="34" name="内容占位符 28">
                <a:extLst>
                  <a:ext uri="{FF2B5EF4-FFF2-40B4-BE49-F238E27FC236}">
                    <a16:creationId xmlns:a16="http://schemas.microsoft.com/office/drawing/2014/main" id="{5D25C992-5A90-4C12-A650-D8AFEF9F2E78}"/>
                  </a:ext>
                </a:extLst>
              </p:cNvPr>
              <p:cNvSpPr txBox="1">
                <a:spLocks noRot="1" noChangeAspect="1" noMove="1" noResize="1" noEditPoints="1" noAdjustHandles="1" noChangeArrowheads="1" noChangeShapeType="1" noTextEdit="1"/>
              </p:cNvSpPr>
              <p:nvPr/>
            </p:nvSpPr>
            <p:spPr>
              <a:xfrm>
                <a:off x="3662863" y="3169549"/>
                <a:ext cx="4342191" cy="402336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Text Box 14">
                <a:extLst>
                  <a:ext uri="{FF2B5EF4-FFF2-40B4-BE49-F238E27FC236}">
                    <a16:creationId xmlns:a16="http://schemas.microsoft.com/office/drawing/2014/main" id="{B3BE6ABC-7019-4AA4-9D8E-DFD507358F32}"/>
                  </a:ext>
                </a:extLst>
              </p:cNvPr>
              <p:cNvSpPr txBox="1">
                <a:spLocks noChangeArrowheads="1"/>
              </p:cNvSpPr>
              <p:nvPr/>
            </p:nvSpPr>
            <p:spPr bwMode="auto">
              <a:xfrm>
                <a:off x="4476712" y="2343702"/>
                <a:ext cx="3358505" cy="58727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14:m>
                  <m:oMath xmlns:m="http://schemas.openxmlformats.org/officeDocument/2006/math">
                    <m:r>
                      <a:rPr lang="zh-CN" altLang="en-US" sz="2800" b="0" i="1" smtClean="0">
                        <a:solidFill>
                          <a:srgbClr val="000000"/>
                        </a:solidFill>
                        <a:latin typeface="Cambria Math" panose="02040503050406030204" pitchFamily="18" charset="0"/>
                      </a:rPr>
                      <m:t>𝜑</m:t>
                    </m:r>
                    <m:r>
                      <a:rPr lang="en-US" altLang="zh-CN" sz="2800" b="0" i="1" baseline="-25000" smtClean="0">
                        <a:solidFill>
                          <a:srgbClr val="000000"/>
                        </a:solidFill>
                        <a:latin typeface="Cambria Math" panose="02040503050406030204" pitchFamily="18" charset="0"/>
                      </a:rPr>
                      <m:t>1</m:t>
                    </m:r>
                    <m:r>
                      <a:rPr lang="en-US" altLang="zh-CN" sz="2800" b="0" i="1" smtClean="0">
                        <a:solidFill>
                          <a:srgbClr val="000000"/>
                        </a:solidFill>
                        <a:latin typeface="Cambria Math" panose="02040503050406030204" pitchFamily="18" charset="0"/>
                      </a:rPr>
                      <m:t>−</m:t>
                    </m:r>
                    <m:r>
                      <a:rPr lang="zh-CN" altLang="en-US" sz="2800" b="0" i="1" smtClean="0">
                        <a:solidFill>
                          <a:srgbClr val="000000"/>
                        </a:solidFill>
                        <a:latin typeface="Cambria Math" panose="02040503050406030204" pitchFamily="18" charset="0"/>
                      </a:rPr>
                      <m:t>𝜑</m:t>
                    </m:r>
                    <m:r>
                      <a:rPr lang="en-US" altLang="zh-CN" sz="2800" b="0" i="1" baseline="-25000" smtClean="0">
                        <a:solidFill>
                          <a:srgbClr val="000000"/>
                        </a:solidFill>
                        <a:latin typeface="Cambria Math" panose="02040503050406030204" pitchFamily="18" charset="0"/>
                      </a:rPr>
                      <m:t>2</m:t>
                    </m:r>
                    <m:r>
                      <a:rPr lang="en-US" altLang="zh-CN" sz="2800" b="0" i="1" smtClean="0">
                        <a:solidFill>
                          <a:srgbClr val="000000"/>
                        </a:solidFill>
                        <a:latin typeface="Cambria Math" panose="02040503050406030204" pitchFamily="18" charset="0"/>
                      </a:rPr>
                      <m:t>=</m:t>
                    </m:r>
                  </m:oMath>
                </a14:m>
                <a:r>
                  <a:rPr lang="en-US" altLang="zh-CN" sz="2800" dirty="0"/>
                  <a:t> </a:t>
                </a:r>
                <a14:m>
                  <m:oMath xmlns:m="http://schemas.openxmlformats.org/officeDocument/2006/math">
                    <m:acc>
                      <m:accPr>
                        <m:chr m:val="⃗"/>
                        <m:ctrlPr>
                          <a:rPr lang="en-US" altLang="zh-CN" sz="2800" i="1">
                            <a:latin typeface="Cambria Math" panose="02040503050406030204" pitchFamily="18" charset="0"/>
                          </a:rPr>
                        </m:ctrlPr>
                      </m:accPr>
                      <m:e>
                        <m:r>
                          <a:rPr lang="en-US" altLang="zh-CN" sz="2800" b="0" i="1">
                            <a:latin typeface="Cambria Math" panose="02040503050406030204" pitchFamily="18" charset="0"/>
                          </a:rPr>
                          <m:t>𝐸</m:t>
                        </m:r>
                      </m:e>
                    </m:acc>
                    <m:r>
                      <a:rPr lang="en-US" altLang="zh-CN" sz="2800" b="0" i="1">
                        <a:latin typeface="Cambria Math" panose="02040503050406030204" pitchFamily="18" charset="0"/>
                        <a:ea typeface="Cambria Math" panose="02040503050406030204" pitchFamily="18" charset="0"/>
                      </a:rPr>
                      <m:t>∙</m:t>
                    </m:r>
                    <m:r>
                      <a:rPr lang="en-US" altLang="zh-CN" sz="2800" b="0" i="1">
                        <a:latin typeface="Cambria Math" panose="02040503050406030204" pitchFamily="18" charset="0"/>
                        <a:ea typeface="Cambria Math" panose="02040503050406030204" pitchFamily="18" charset="0"/>
                      </a:rPr>
                      <m:t>𝑑</m:t>
                    </m:r>
                    <m:acc>
                      <m:accPr>
                        <m:chr m:val="⃗"/>
                        <m:ctrlPr>
                          <a:rPr lang="en-US" altLang="zh-CN" sz="2800" i="1">
                            <a:latin typeface="Cambria Math" panose="02040503050406030204" pitchFamily="18" charset="0"/>
                            <a:ea typeface="Cambria Math" panose="02040503050406030204" pitchFamily="18" charset="0"/>
                          </a:rPr>
                        </m:ctrlPr>
                      </m:accPr>
                      <m:e>
                        <m:r>
                          <a:rPr lang="en-US" altLang="zh-CN" sz="2800" b="0" i="1">
                            <a:latin typeface="Cambria Math" panose="02040503050406030204" pitchFamily="18" charset="0"/>
                            <a:ea typeface="Cambria Math" panose="02040503050406030204" pitchFamily="18" charset="0"/>
                          </a:rPr>
                          <m:t>𝑙</m:t>
                        </m:r>
                      </m:e>
                    </m:acc>
                  </m:oMath>
                </a14:m>
                <a:endParaRPr lang="en-US" altLang="zh-CN" sz="2800" i="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56" name="Text Box 14">
                <a:extLst>
                  <a:ext uri="{FF2B5EF4-FFF2-40B4-BE49-F238E27FC236}">
                    <a16:creationId xmlns:a16="http://schemas.microsoft.com/office/drawing/2014/main" id="{B3BE6ABC-7019-4AA4-9D8E-DFD507358F32}"/>
                  </a:ext>
                </a:extLst>
              </p:cNvPr>
              <p:cNvSpPr txBox="1">
                <a:spLocks noRot="1" noChangeAspect="1" noMove="1" noResize="1" noEditPoints="1" noAdjustHandles="1" noChangeArrowheads="1" noChangeShapeType="1" noTextEdit="1"/>
              </p:cNvSpPr>
              <p:nvPr/>
            </p:nvSpPr>
            <p:spPr bwMode="auto">
              <a:xfrm>
                <a:off x="4476712" y="2343702"/>
                <a:ext cx="3358505" cy="587277"/>
              </a:xfrm>
              <a:prstGeom prst="rect">
                <a:avLst/>
              </a:prstGeom>
              <a:blipFill>
                <a:blip r:embed="rId4"/>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58" name="矩形 57">
            <a:extLst>
              <a:ext uri="{FF2B5EF4-FFF2-40B4-BE49-F238E27FC236}">
                <a16:creationId xmlns:a16="http://schemas.microsoft.com/office/drawing/2014/main" id="{E1CD5C51-DD86-4845-AFC9-1765CC5ACCB1}"/>
              </a:ext>
            </a:extLst>
          </p:cNvPr>
          <p:cNvSpPr/>
          <p:nvPr/>
        </p:nvSpPr>
        <p:spPr>
          <a:xfrm>
            <a:off x="1197545" y="6313009"/>
            <a:ext cx="7096815" cy="523220"/>
          </a:xfrm>
          <a:prstGeom prst="rect">
            <a:avLst/>
          </a:prstGeom>
        </p:spPr>
        <p:txBody>
          <a:bodyPr wrap="none">
            <a:spAutoFit/>
          </a:bodyPr>
          <a:lstStyle/>
          <a:p>
            <a:r>
              <a:rPr lang="zh-CN" altLang="en-US" sz="2800" dirty="0">
                <a:latin typeface="华文楷体" panose="02010600040101010101" pitchFamily="2" charset="-122"/>
                <a:ea typeface="华文楷体" panose="02010600040101010101" pitchFamily="2" charset="-122"/>
              </a:rPr>
              <a:t>矢量， 方向是该点附近电势升高最快的方向</a:t>
            </a:r>
            <a:endParaRPr lang="en-US" sz="2800" dirty="0"/>
          </a:p>
        </p:txBody>
      </p:sp>
      <mc:AlternateContent xmlns:mc="http://schemas.openxmlformats.org/markup-compatibility/2006" xmlns:a14="http://schemas.microsoft.com/office/drawing/2010/main">
        <mc:Choice Requires="a14">
          <p:sp>
            <p:nvSpPr>
              <p:cNvPr id="6" name="Text Box 14">
                <a:extLst>
                  <a:ext uri="{FF2B5EF4-FFF2-40B4-BE49-F238E27FC236}">
                    <a16:creationId xmlns:a16="http://schemas.microsoft.com/office/drawing/2014/main" id="{8EDC3C89-144C-7515-899B-C565776D7321}"/>
                  </a:ext>
                </a:extLst>
              </p:cNvPr>
              <p:cNvSpPr txBox="1">
                <a:spLocks noChangeArrowheads="1"/>
              </p:cNvSpPr>
              <p:nvPr/>
            </p:nvSpPr>
            <p:spPr bwMode="auto">
              <a:xfrm>
                <a:off x="9248844" y="4641161"/>
                <a:ext cx="158115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14:m>
                  <m:oMathPara xmlns:m="http://schemas.openxmlformats.org/officeDocument/2006/math">
                    <m:oMathParaPr>
                      <m:jc m:val="centerGroup"/>
                    </m:oMathParaPr>
                    <m:oMath xmlns:m="http://schemas.openxmlformats.org/officeDocument/2006/math">
                      <m:r>
                        <a:rPr lang="zh-CN" altLang="en-US" sz="2800" i="1" smtClean="0">
                          <a:solidFill>
                            <a:srgbClr val="000000"/>
                          </a:solidFill>
                          <a:latin typeface="Cambria Math" panose="02040503050406030204" pitchFamily="18" charset="0"/>
                        </a:rPr>
                        <m:t>𝝋</m:t>
                      </m:r>
                      <m:r>
                        <a:rPr lang="en-US" altLang="zh-CN" sz="2800" b="1" i="1" baseline="-25000" smtClean="0">
                          <a:solidFill>
                            <a:srgbClr val="000000"/>
                          </a:solidFill>
                          <a:latin typeface="Cambria Math" panose="02040503050406030204" pitchFamily="18" charset="0"/>
                        </a:rPr>
                        <m:t>𝟐</m:t>
                      </m:r>
                    </m:oMath>
                  </m:oMathPara>
                </a14:m>
                <a:endParaRPr lang="en-US" altLang="zh-CN" sz="2800" b="1" i="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6" name="Text Box 14">
                <a:extLst>
                  <a:ext uri="{FF2B5EF4-FFF2-40B4-BE49-F238E27FC236}">
                    <a16:creationId xmlns:a16="http://schemas.microsoft.com/office/drawing/2014/main" id="{8EDC3C89-144C-7515-899B-C565776D7321}"/>
                  </a:ext>
                </a:extLst>
              </p:cNvPr>
              <p:cNvSpPr txBox="1">
                <a:spLocks noRot="1" noChangeAspect="1" noMove="1" noResize="1" noEditPoints="1" noAdjustHandles="1" noChangeArrowheads="1" noChangeShapeType="1" noTextEdit="1"/>
              </p:cNvSpPr>
              <p:nvPr/>
            </p:nvSpPr>
            <p:spPr bwMode="auto">
              <a:xfrm>
                <a:off x="9248844" y="4641161"/>
                <a:ext cx="1581150" cy="523220"/>
              </a:xfrm>
              <a:prstGeom prst="rect">
                <a:avLst/>
              </a:prstGeom>
              <a:blipFill>
                <a:blip r:embed="rId5"/>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10" name="Group 18">
            <a:extLst>
              <a:ext uri="{FF2B5EF4-FFF2-40B4-BE49-F238E27FC236}">
                <a16:creationId xmlns:a16="http://schemas.microsoft.com/office/drawing/2014/main" id="{007EEC7A-6CB5-18C9-0128-9E4860D48998}"/>
              </a:ext>
            </a:extLst>
          </p:cNvPr>
          <p:cNvGrpSpPr>
            <a:grpSpLocks/>
          </p:cNvGrpSpPr>
          <p:nvPr/>
        </p:nvGrpSpPr>
        <p:grpSpPr bwMode="auto">
          <a:xfrm>
            <a:off x="8513003" y="3093349"/>
            <a:ext cx="3200400" cy="2119313"/>
            <a:chOff x="432" y="576"/>
            <a:chExt cx="2016" cy="1335"/>
          </a:xfrm>
        </p:grpSpPr>
        <p:sp>
          <p:nvSpPr>
            <p:cNvPr id="11" name="Line 19">
              <a:extLst>
                <a:ext uri="{FF2B5EF4-FFF2-40B4-BE49-F238E27FC236}">
                  <a16:creationId xmlns:a16="http://schemas.microsoft.com/office/drawing/2014/main" id="{AFBD6FE9-32F1-0C70-8BB8-98D7C3E5DEA7}"/>
                </a:ext>
              </a:extLst>
            </p:cNvPr>
            <p:cNvSpPr>
              <a:spLocks noChangeShapeType="1"/>
            </p:cNvSpPr>
            <p:nvPr/>
          </p:nvSpPr>
          <p:spPr bwMode="auto">
            <a:xfrm>
              <a:off x="617" y="1581"/>
              <a:ext cx="1680" cy="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Line 20">
              <a:extLst>
                <a:ext uri="{FF2B5EF4-FFF2-40B4-BE49-F238E27FC236}">
                  <a16:creationId xmlns:a16="http://schemas.microsoft.com/office/drawing/2014/main" id="{8851CFF6-D786-1E34-9E99-983EF7B52EB1}"/>
                </a:ext>
              </a:extLst>
            </p:cNvPr>
            <p:cNvSpPr>
              <a:spLocks noChangeShapeType="1"/>
            </p:cNvSpPr>
            <p:nvPr/>
          </p:nvSpPr>
          <p:spPr bwMode="auto">
            <a:xfrm flipV="1">
              <a:off x="624" y="864"/>
              <a:ext cx="1152" cy="720"/>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Text Box 22">
                  <a:extLst>
                    <a:ext uri="{FF2B5EF4-FFF2-40B4-BE49-F238E27FC236}">
                      <a16:creationId xmlns:a16="http://schemas.microsoft.com/office/drawing/2014/main" id="{4EAB9608-6958-159D-BF25-93AC790E9723}"/>
                    </a:ext>
                  </a:extLst>
                </p:cNvPr>
                <p:cNvSpPr txBox="1">
                  <a:spLocks noChangeArrowheads="1"/>
                </p:cNvSpPr>
                <p:nvPr/>
              </p:nvSpPr>
              <p:spPr bwMode="auto">
                <a:xfrm>
                  <a:off x="432" y="1572"/>
                  <a:ext cx="480" cy="3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14:m>
                    <m:oMathPara xmlns:m="http://schemas.openxmlformats.org/officeDocument/2006/math">
                      <m:oMathParaPr>
                        <m:jc m:val="centerGroup"/>
                      </m:oMathParaPr>
                      <m:oMath xmlns:m="http://schemas.openxmlformats.org/officeDocument/2006/math">
                        <m:r>
                          <a:rPr lang="zh-CN" altLang="en-US" sz="2800" i="1" smtClean="0">
                            <a:solidFill>
                              <a:srgbClr val="000000"/>
                            </a:solidFill>
                            <a:latin typeface="Cambria Math" panose="02040503050406030204" pitchFamily="18" charset="0"/>
                          </a:rPr>
                          <m:t>𝝋</m:t>
                        </m:r>
                        <m:r>
                          <a:rPr lang="en-US" altLang="zh-CN" sz="2800" b="0" i="1" baseline="-25000" smtClean="0">
                            <a:solidFill>
                              <a:srgbClr val="000000"/>
                            </a:solidFill>
                            <a:latin typeface="Cambria Math" panose="02040503050406030204" pitchFamily="18" charset="0"/>
                          </a:rPr>
                          <m:t>1</m:t>
                        </m:r>
                      </m:oMath>
                    </m:oMathPara>
                  </a14:m>
                  <a:endParaRPr lang="en-US" altLang="zh-CN" sz="2800" b="1" i="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40" name="Text Box 22">
                  <a:extLst>
                    <a:ext uri="{FF2B5EF4-FFF2-40B4-BE49-F238E27FC236}">
                      <a16:creationId xmlns:a16="http://schemas.microsoft.com/office/drawing/2014/main" id="{2BA6C161-FA10-410E-B207-C1FBA7E7E3DD}"/>
                    </a:ext>
                  </a:extLst>
                </p:cNvPr>
                <p:cNvSpPr txBox="1">
                  <a:spLocks noRot="1" noChangeAspect="1" noMove="1" noResize="1" noEditPoints="1" noAdjustHandles="1" noChangeArrowheads="1" noChangeShapeType="1" noTextEdit="1"/>
                </p:cNvSpPr>
                <p:nvPr/>
              </p:nvSpPr>
              <p:spPr bwMode="auto">
                <a:xfrm>
                  <a:off x="432" y="1572"/>
                  <a:ext cx="480" cy="330"/>
                </a:xfrm>
                <a:prstGeom prst="rect">
                  <a:avLst/>
                </a:prstGeom>
                <a:blipFill>
                  <a:blip r:embed="rId6"/>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nvGrpSpPr>
            <p:cNvPr id="14" name="Group 23">
              <a:extLst>
                <a:ext uri="{FF2B5EF4-FFF2-40B4-BE49-F238E27FC236}">
                  <a16:creationId xmlns:a16="http://schemas.microsoft.com/office/drawing/2014/main" id="{B544E724-C99F-9EAE-C36C-12D0A15B4F3E}"/>
                </a:ext>
              </a:extLst>
            </p:cNvPr>
            <p:cNvGrpSpPr>
              <a:grpSpLocks/>
            </p:cNvGrpSpPr>
            <p:nvPr/>
          </p:nvGrpSpPr>
          <p:grpSpPr bwMode="auto">
            <a:xfrm>
              <a:off x="1500" y="576"/>
              <a:ext cx="384" cy="327"/>
              <a:chOff x="1392" y="576"/>
              <a:chExt cx="384" cy="327"/>
            </a:xfrm>
          </p:grpSpPr>
          <p:sp>
            <p:nvSpPr>
              <p:cNvPr id="19" name="Text Box 24">
                <a:extLst>
                  <a:ext uri="{FF2B5EF4-FFF2-40B4-BE49-F238E27FC236}">
                    <a16:creationId xmlns:a16="http://schemas.microsoft.com/office/drawing/2014/main" id="{15CBC133-008A-B4BD-5441-12DCCFE5E5AA}"/>
                  </a:ext>
                </a:extLst>
              </p:cNvPr>
              <p:cNvSpPr txBox="1">
                <a:spLocks noChangeArrowheads="1"/>
              </p:cNvSpPr>
              <p:nvPr/>
            </p:nvSpPr>
            <p:spPr bwMode="auto">
              <a:xfrm>
                <a:off x="1392" y="576"/>
                <a:ext cx="38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E</a:t>
                </a:r>
              </a:p>
            </p:txBody>
          </p:sp>
          <p:sp>
            <p:nvSpPr>
              <p:cNvPr id="20" name="Line 25">
                <a:extLst>
                  <a:ext uri="{FF2B5EF4-FFF2-40B4-BE49-F238E27FC236}">
                    <a16:creationId xmlns:a16="http://schemas.microsoft.com/office/drawing/2014/main" id="{98D5EBC0-829D-4CD8-9EBF-2474035F4BE1}"/>
                  </a:ext>
                </a:extLst>
              </p:cNvPr>
              <p:cNvSpPr>
                <a:spLocks noChangeShapeType="1"/>
              </p:cNvSpPr>
              <p:nvPr/>
            </p:nvSpPr>
            <p:spPr bwMode="auto">
              <a:xfrm>
                <a:off x="1488" y="624"/>
                <a:ext cx="144" cy="0"/>
              </a:xfrm>
              <a:prstGeom prst="line">
                <a:avLst/>
              </a:prstGeom>
              <a:noFill/>
              <a:ln w="127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grpSp>
          <p:nvGrpSpPr>
            <p:cNvPr id="15" name="Group 26">
              <a:extLst>
                <a:ext uri="{FF2B5EF4-FFF2-40B4-BE49-F238E27FC236}">
                  <a16:creationId xmlns:a16="http://schemas.microsoft.com/office/drawing/2014/main" id="{B8F7B60A-75A0-2613-3485-F15BEBA8B37E}"/>
                </a:ext>
              </a:extLst>
            </p:cNvPr>
            <p:cNvGrpSpPr>
              <a:grpSpLocks/>
            </p:cNvGrpSpPr>
            <p:nvPr/>
          </p:nvGrpSpPr>
          <p:grpSpPr bwMode="auto">
            <a:xfrm>
              <a:off x="2160" y="1584"/>
              <a:ext cx="288" cy="327"/>
              <a:chOff x="2160" y="1584"/>
              <a:chExt cx="288" cy="327"/>
            </a:xfrm>
          </p:grpSpPr>
          <p:sp>
            <p:nvSpPr>
              <p:cNvPr id="17" name="Text Box 27">
                <a:extLst>
                  <a:ext uri="{FF2B5EF4-FFF2-40B4-BE49-F238E27FC236}">
                    <a16:creationId xmlns:a16="http://schemas.microsoft.com/office/drawing/2014/main" id="{30D9672A-B25E-EC7D-B740-791174ADFFF6}"/>
                  </a:ext>
                </a:extLst>
              </p:cNvPr>
              <p:cNvSpPr txBox="1">
                <a:spLocks noChangeArrowheads="1"/>
              </p:cNvSpPr>
              <p:nvPr/>
            </p:nvSpPr>
            <p:spPr bwMode="auto">
              <a:xfrm>
                <a:off x="2160" y="1584"/>
                <a:ext cx="2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a:latin typeface="Times New Roman" panose="02020603050405020304" pitchFamily="18" charset="0"/>
                    <a:ea typeface="黑体" panose="02010609060101010101" pitchFamily="49" charset="-122"/>
                    <a:cs typeface="Times New Roman" panose="02020603050405020304" pitchFamily="18" charset="0"/>
                  </a:rPr>
                  <a:t>l</a:t>
                </a:r>
              </a:p>
            </p:txBody>
          </p:sp>
          <p:sp>
            <p:nvSpPr>
              <p:cNvPr id="18" name="Line 28">
                <a:extLst>
                  <a:ext uri="{FF2B5EF4-FFF2-40B4-BE49-F238E27FC236}">
                    <a16:creationId xmlns:a16="http://schemas.microsoft.com/office/drawing/2014/main" id="{9B6EFB72-44E7-C658-211D-CF4A549C37AE}"/>
                  </a:ext>
                </a:extLst>
              </p:cNvPr>
              <p:cNvSpPr>
                <a:spLocks noChangeShapeType="1"/>
              </p:cNvSpPr>
              <p:nvPr/>
            </p:nvSpPr>
            <p:spPr bwMode="auto">
              <a:xfrm>
                <a:off x="2232" y="1644"/>
                <a:ext cx="96"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6" name="Text Box 21">
                  <a:extLst>
                    <a:ext uri="{FF2B5EF4-FFF2-40B4-BE49-F238E27FC236}">
                      <a16:creationId xmlns:a16="http://schemas.microsoft.com/office/drawing/2014/main" id="{2FBFB0BE-688C-7C2C-7CC7-23980ABF2C9F}"/>
                    </a:ext>
                  </a:extLst>
                </p:cNvPr>
                <p:cNvSpPr txBox="1">
                  <a:spLocks noChangeArrowheads="1"/>
                </p:cNvSpPr>
                <p:nvPr/>
              </p:nvSpPr>
              <p:spPr bwMode="auto">
                <a:xfrm>
                  <a:off x="486" y="1257"/>
                  <a:ext cx="288" cy="58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14:m>
                    <m:oMathPara xmlns:m="http://schemas.openxmlformats.org/officeDocument/2006/math">
                      <m:oMathParaPr>
                        <m:jc m:val="centerGroup"/>
                      </m:oMathParaPr>
                      <m:oMath xmlns:m="http://schemas.openxmlformats.org/officeDocument/2006/math">
                        <m:r>
                          <a:rPr lang="en-US" altLang="zh-CN" sz="5400" b="1" i="1" smtClean="0">
                            <a:solidFill>
                              <a:srgbClr val="37871B"/>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oMath>
                    </m:oMathPara>
                  </a14:m>
                  <a:endParaRPr lang="en-US" altLang="zh-CN" sz="5400" b="1" dirty="0">
                    <a:solidFill>
                      <a:srgbClr val="37871B"/>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43" name="Text Box 21">
                  <a:extLst>
                    <a:ext uri="{FF2B5EF4-FFF2-40B4-BE49-F238E27FC236}">
                      <a16:creationId xmlns:a16="http://schemas.microsoft.com/office/drawing/2014/main" id="{D368AED7-97DA-47F7-A7FB-2ED2C986A459}"/>
                    </a:ext>
                  </a:extLst>
                </p:cNvPr>
                <p:cNvSpPr txBox="1">
                  <a:spLocks noRot="1" noChangeAspect="1" noMove="1" noResize="1" noEditPoints="1" noAdjustHandles="1" noChangeArrowheads="1" noChangeShapeType="1" noTextEdit="1"/>
                </p:cNvSpPr>
                <p:nvPr/>
              </p:nvSpPr>
              <p:spPr bwMode="auto">
                <a:xfrm>
                  <a:off x="486" y="1257"/>
                  <a:ext cx="288" cy="582"/>
                </a:xfrm>
                <a:prstGeom prst="rect">
                  <a:avLst/>
                </a:prstGeom>
                <a:blipFill>
                  <a:blip r:embed="rId7"/>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grpSp>
        <p:nvGrpSpPr>
          <p:cNvPr id="21" name="Group 29">
            <a:extLst>
              <a:ext uri="{FF2B5EF4-FFF2-40B4-BE49-F238E27FC236}">
                <a16:creationId xmlns:a16="http://schemas.microsoft.com/office/drawing/2014/main" id="{F9A381DF-A9B3-5BFA-D80E-11DAF63DE2B2}"/>
              </a:ext>
            </a:extLst>
          </p:cNvPr>
          <p:cNvGrpSpPr>
            <a:grpSpLocks/>
          </p:cNvGrpSpPr>
          <p:nvPr/>
        </p:nvGrpSpPr>
        <p:grpSpPr bwMode="auto">
          <a:xfrm>
            <a:off x="8817803" y="4277624"/>
            <a:ext cx="1276350" cy="954088"/>
            <a:chOff x="624" y="1322"/>
            <a:chExt cx="804" cy="601"/>
          </a:xfrm>
        </p:grpSpPr>
        <p:sp>
          <p:nvSpPr>
            <p:cNvPr id="22" name="Line 30">
              <a:extLst>
                <a:ext uri="{FF2B5EF4-FFF2-40B4-BE49-F238E27FC236}">
                  <a16:creationId xmlns:a16="http://schemas.microsoft.com/office/drawing/2014/main" id="{E5724E0C-220F-2679-972F-6E03C570628E}"/>
                </a:ext>
              </a:extLst>
            </p:cNvPr>
            <p:cNvSpPr>
              <a:spLocks noChangeShapeType="1"/>
            </p:cNvSpPr>
            <p:nvPr/>
          </p:nvSpPr>
          <p:spPr bwMode="auto">
            <a:xfrm>
              <a:off x="624" y="1584"/>
              <a:ext cx="672" cy="0"/>
            </a:xfrm>
            <a:prstGeom prst="line">
              <a:avLst/>
            </a:prstGeom>
            <a:noFill/>
            <a:ln w="19050">
              <a:solidFill>
                <a:srgbClr val="FF33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Text Box 31">
                  <a:extLst>
                    <a:ext uri="{FF2B5EF4-FFF2-40B4-BE49-F238E27FC236}">
                      <a16:creationId xmlns:a16="http://schemas.microsoft.com/office/drawing/2014/main" id="{2AC937E5-CF5C-4E22-63D8-234F42B6F018}"/>
                    </a:ext>
                  </a:extLst>
                </p:cNvPr>
                <p:cNvSpPr txBox="1">
                  <a:spLocks noChangeArrowheads="1"/>
                </p:cNvSpPr>
                <p:nvPr/>
              </p:nvSpPr>
              <p:spPr bwMode="auto">
                <a:xfrm>
                  <a:off x="1140" y="1322"/>
                  <a:ext cx="288" cy="48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14:m>
                    <m:oMathPara xmlns:m="http://schemas.openxmlformats.org/officeDocument/2006/math">
                      <m:oMathParaPr>
                        <m:jc m:val="centerGroup"/>
                      </m:oMathParaPr>
                      <m:oMath xmlns:m="http://schemas.openxmlformats.org/officeDocument/2006/math">
                        <m:r>
                          <a:rPr lang="en-US" altLang="zh-CN" sz="4400" b="1" i="1" smtClean="0">
                            <a:solidFill>
                              <a:srgbClr val="37871B"/>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oMath>
                    </m:oMathPara>
                  </a14:m>
                  <a:endParaRPr lang="en-US" altLang="zh-CN" sz="4400" b="1" dirty="0">
                    <a:solidFill>
                      <a:srgbClr val="37871B"/>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22" name="Text Box 31"/>
                <p:cNvSpPr txBox="1">
                  <a:spLocks noRot="1" noChangeAspect="1" noMove="1" noResize="1" noEditPoints="1" noAdjustHandles="1" noChangeArrowheads="1" noChangeShapeType="1" noTextEdit="1"/>
                </p:cNvSpPr>
                <p:nvPr/>
              </p:nvSpPr>
              <p:spPr bwMode="auto">
                <a:xfrm>
                  <a:off x="1140" y="1322"/>
                  <a:ext cx="288" cy="485"/>
                </a:xfrm>
                <a:prstGeom prst="rect">
                  <a:avLst/>
                </a:prstGeom>
                <a:blipFill rotWithShape="0">
                  <a:blip r:embed="rId8"/>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24" name="Group 32">
              <a:extLst>
                <a:ext uri="{FF2B5EF4-FFF2-40B4-BE49-F238E27FC236}">
                  <a16:creationId xmlns:a16="http://schemas.microsoft.com/office/drawing/2014/main" id="{5708EF59-A767-56D1-9279-BB35F2605AF7}"/>
                </a:ext>
              </a:extLst>
            </p:cNvPr>
            <p:cNvGrpSpPr>
              <a:grpSpLocks/>
            </p:cNvGrpSpPr>
            <p:nvPr/>
          </p:nvGrpSpPr>
          <p:grpSpPr bwMode="auto">
            <a:xfrm>
              <a:off x="768" y="1596"/>
              <a:ext cx="480" cy="327"/>
              <a:chOff x="768" y="1596"/>
              <a:chExt cx="480" cy="327"/>
            </a:xfrm>
          </p:grpSpPr>
          <p:sp>
            <p:nvSpPr>
              <p:cNvPr id="25" name="Text Box 33">
                <a:extLst>
                  <a:ext uri="{FF2B5EF4-FFF2-40B4-BE49-F238E27FC236}">
                    <a16:creationId xmlns:a16="http://schemas.microsoft.com/office/drawing/2014/main" id="{6AE50DD3-FF5F-DB06-4C14-DDB555873B49}"/>
                  </a:ext>
                </a:extLst>
              </p:cNvPr>
              <p:cNvSpPr txBox="1">
                <a:spLocks noChangeArrowheads="1"/>
              </p:cNvSpPr>
              <p:nvPr/>
            </p:nvSpPr>
            <p:spPr bwMode="auto">
              <a:xfrm>
                <a:off x="768" y="1596"/>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solidFill>
                      <a:srgbClr val="FF3300"/>
                    </a:solidFill>
                    <a:latin typeface="Times New Roman" panose="02020603050405020304" pitchFamily="18" charset="0"/>
                    <a:ea typeface="黑体" panose="02010609060101010101" pitchFamily="49" charset="-122"/>
                    <a:cs typeface="Times New Roman" panose="02020603050405020304" pitchFamily="18" charset="0"/>
                  </a:rPr>
                  <a:t>d</a:t>
                </a:r>
                <a:r>
                  <a:rPr lang="en-US" altLang="zh-CN" sz="2800" b="1" i="1">
                    <a:solidFill>
                      <a:srgbClr val="FF3300"/>
                    </a:solidFill>
                    <a:latin typeface="Times New Roman" panose="02020603050405020304" pitchFamily="18" charset="0"/>
                    <a:ea typeface="黑体" panose="02010609060101010101" pitchFamily="49" charset="-122"/>
                    <a:cs typeface="Times New Roman" panose="02020603050405020304" pitchFamily="18" charset="0"/>
                  </a:rPr>
                  <a:t>l</a:t>
                </a:r>
              </a:p>
            </p:txBody>
          </p:sp>
          <p:sp>
            <p:nvSpPr>
              <p:cNvPr id="26" name="Line 34">
                <a:extLst>
                  <a:ext uri="{FF2B5EF4-FFF2-40B4-BE49-F238E27FC236}">
                    <a16:creationId xmlns:a16="http://schemas.microsoft.com/office/drawing/2014/main" id="{E69D10C6-79FE-0370-D9E4-DB7E0B4C839B}"/>
                  </a:ext>
                </a:extLst>
              </p:cNvPr>
              <p:cNvSpPr>
                <a:spLocks noChangeShapeType="1"/>
              </p:cNvSpPr>
              <p:nvPr/>
            </p:nvSpPr>
            <p:spPr bwMode="auto">
              <a:xfrm>
                <a:off x="960" y="1656"/>
                <a:ext cx="96" cy="0"/>
              </a:xfrm>
              <a:prstGeom prst="line">
                <a:avLst/>
              </a:prstGeom>
              <a:noFill/>
              <a:ln w="12700">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grpSp>
      <p:sp>
        <p:nvSpPr>
          <p:cNvPr id="27" name="弧形 26">
            <a:extLst>
              <a:ext uri="{FF2B5EF4-FFF2-40B4-BE49-F238E27FC236}">
                <a16:creationId xmlns:a16="http://schemas.microsoft.com/office/drawing/2014/main" id="{92CE88AA-8A6E-FE23-F793-7456CEBCE8FD}"/>
              </a:ext>
            </a:extLst>
          </p:cNvPr>
          <p:cNvSpPr/>
          <p:nvPr/>
        </p:nvSpPr>
        <p:spPr bwMode="auto">
          <a:xfrm>
            <a:off x="9313103" y="4318501"/>
            <a:ext cx="304800" cy="750094"/>
          </a:xfrm>
          <a:prstGeom prst="arc">
            <a:avLst/>
          </a:prstGeom>
          <a:no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4BBF7E69-0379-5E18-398D-DCAABC4BEFCD}"/>
                  </a:ext>
                </a:extLst>
              </p:cNvPr>
              <p:cNvSpPr/>
              <p:nvPr/>
            </p:nvSpPr>
            <p:spPr>
              <a:xfrm>
                <a:off x="9563877" y="4107321"/>
                <a:ext cx="48923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b="1" i="1" smtClean="0">
                          <a:solidFill>
                            <a:srgbClr val="0000FF"/>
                          </a:solidFill>
                          <a:latin typeface="Cambria Math" panose="02040503050406030204" pitchFamily="18" charset="0"/>
                        </a:rPr>
                        <m:t>𝝷</m:t>
                      </m:r>
                    </m:oMath>
                  </m:oMathPara>
                </a14:m>
                <a:endParaRPr lang="zh-CN" altLang="en-US" sz="1600" b="1"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28" name="矩形 27">
                <a:extLst>
                  <a:ext uri="{FF2B5EF4-FFF2-40B4-BE49-F238E27FC236}">
                    <a16:creationId xmlns:a16="http://schemas.microsoft.com/office/drawing/2014/main" id="{4BBF7E69-0379-5E18-398D-DCAABC4BEFCD}"/>
                  </a:ext>
                </a:extLst>
              </p:cNvPr>
              <p:cNvSpPr>
                <a:spLocks noRot="1" noChangeAspect="1" noMove="1" noResize="1" noEditPoints="1" noAdjustHandles="1" noChangeArrowheads="1" noChangeShapeType="1" noTextEdit="1"/>
              </p:cNvSpPr>
              <p:nvPr/>
            </p:nvSpPr>
            <p:spPr>
              <a:xfrm>
                <a:off x="9563877" y="4107321"/>
                <a:ext cx="489236" cy="52322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Text Box 14">
                <a:extLst>
                  <a:ext uri="{FF2B5EF4-FFF2-40B4-BE49-F238E27FC236}">
                    <a16:creationId xmlns:a16="http://schemas.microsoft.com/office/drawing/2014/main" id="{CE955B9D-4650-4D84-1DEF-9DCCD8F31B7B}"/>
                  </a:ext>
                </a:extLst>
              </p:cNvPr>
              <p:cNvSpPr txBox="1">
                <a:spLocks noChangeArrowheads="1"/>
              </p:cNvSpPr>
              <p:nvPr/>
            </p:nvSpPr>
            <p:spPr bwMode="auto">
              <a:xfrm>
                <a:off x="7367150" y="2393075"/>
                <a:ext cx="3358505" cy="51328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14:m>
                  <m:oMathPara xmlns:m="http://schemas.openxmlformats.org/officeDocument/2006/math">
                    <m:oMathParaPr>
                      <m:jc m:val="centerGroup"/>
                    </m:oMathParaPr>
                    <m:oMath xmlns:m="http://schemas.openxmlformats.org/officeDocument/2006/math">
                      <m:r>
                        <a:rPr lang="zh-CN" altLang="en-US" sz="2800" b="0" i="1" smtClean="0">
                          <a:solidFill>
                            <a:srgbClr val="000000"/>
                          </a:solidFill>
                          <a:latin typeface="Cambria Math" panose="02040503050406030204" pitchFamily="18" charset="0"/>
                        </a:rPr>
                        <m:t>𝜑</m:t>
                      </m:r>
                      <m:r>
                        <a:rPr lang="en-US" altLang="zh-CN" sz="2800" b="0" i="1" baseline="-25000" smtClean="0">
                          <a:solidFill>
                            <a:srgbClr val="000000"/>
                          </a:solidFill>
                          <a:latin typeface="Cambria Math" panose="02040503050406030204" pitchFamily="18" charset="0"/>
                        </a:rPr>
                        <m:t>2</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𝜑</m:t>
                      </m:r>
                      <m:r>
                        <a:rPr lang="en-US" altLang="zh-CN" sz="2800" i="1" baseline="-25000">
                          <a:solidFill>
                            <a:srgbClr val="000000"/>
                          </a:solidFill>
                          <a:latin typeface="Cambria Math" panose="02040503050406030204" pitchFamily="18" charset="0"/>
                        </a:rPr>
                        <m:t>1</m:t>
                      </m:r>
                      <m:r>
                        <a:rPr lang="en-US" altLang="zh-CN" sz="2800" b="0" i="1" smtClean="0">
                          <a:solidFill>
                            <a:srgbClr val="000000"/>
                          </a:solidFill>
                          <a:latin typeface="Cambria Math" panose="02040503050406030204" pitchFamily="18" charset="0"/>
                        </a:rPr>
                        <m:t>+</m:t>
                      </m:r>
                      <m:r>
                        <a:rPr lang="en-US" altLang="zh-CN" sz="2800" i="1">
                          <a:latin typeface="Cambria Math" panose="02040503050406030204" pitchFamily="18" charset="0"/>
                        </a:rPr>
                        <m:t>𝑑</m:t>
                      </m:r>
                      <m:r>
                        <a:rPr lang="zh-CN" altLang="en-US" sz="2800" i="1">
                          <a:solidFill>
                            <a:srgbClr val="000000"/>
                          </a:solidFill>
                          <a:latin typeface="Cambria Math" panose="02040503050406030204" pitchFamily="18" charset="0"/>
                        </a:rPr>
                        <m:t>𝜑</m:t>
                      </m:r>
                    </m:oMath>
                  </m:oMathPara>
                </a14:m>
                <a:endParaRPr lang="en-US" altLang="zh-CN" sz="2800" i="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29" name="Text Box 14">
                <a:extLst>
                  <a:ext uri="{FF2B5EF4-FFF2-40B4-BE49-F238E27FC236}">
                    <a16:creationId xmlns:a16="http://schemas.microsoft.com/office/drawing/2014/main" id="{CE955B9D-4650-4D84-1DEF-9DCCD8F31B7B}"/>
                  </a:ext>
                </a:extLst>
              </p:cNvPr>
              <p:cNvSpPr txBox="1">
                <a:spLocks noRot="1" noChangeAspect="1" noMove="1" noResize="1" noEditPoints="1" noAdjustHandles="1" noChangeArrowheads="1" noChangeShapeType="1" noTextEdit="1"/>
              </p:cNvSpPr>
              <p:nvPr/>
            </p:nvSpPr>
            <p:spPr bwMode="auto">
              <a:xfrm>
                <a:off x="7367150" y="2393075"/>
                <a:ext cx="3358505" cy="513282"/>
              </a:xfrm>
              <a:prstGeom prst="rect">
                <a:avLst/>
              </a:prstGeom>
              <a:blipFill>
                <a:blip r:embed="rId10"/>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0" name="矩形 29">
            <a:extLst>
              <a:ext uri="{FF2B5EF4-FFF2-40B4-BE49-F238E27FC236}">
                <a16:creationId xmlns:a16="http://schemas.microsoft.com/office/drawing/2014/main" id="{E36B603B-9855-D96A-B4F9-E29155BDAE0B}"/>
              </a:ext>
            </a:extLst>
          </p:cNvPr>
          <p:cNvSpPr/>
          <p:nvPr/>
        </p:nvSpPr>
        <p:spPr>
          <a:xfrm>
            <a:off x="8830424" y="5673353"/>
            <a:ext cx="2802776" cy="954107"/>
          </a:xfrm>
          <a:prstGeom prst="rect">
            <a:avLst/>
          </a:prstGeom>
        </p:spPr>
        <p:txBody>
          <a:bodyPr wrap="square">
            <a:spAutoFit/>
          </a:bodyPr>
          <a:lstStyle/>
          <a:p>
            <a:r>
              <a:rPr lang="zh-CN" altLang="en-US" sz="2800" dirty="0">
                <a:solidFill>
                  <a:srgbClr val="0066FF"/>
                </a:solidFill>
              </a:rPr>
              <a:t>场强方向与电势梯度方向相反</a:t>
            </a:r>
            <a:endParaRPr lang="en-US" sz="2800" dirty="0">
              <a:solidFill>
                <a:srgbClr val="0066FF"/>
              </a:solidFill>
            </a:endParaRPr>
          </a:p>
        </p:txBody>
      </p:sp>
    </p:spTree>
    <p:extLst>
      <p:ext uri="{BB962C8B-B14F-4D97-AF65-F5344CB8AC3E}">
        <p14:creationId xmlns:p14="http://schemas.microsoft.com/office/powerpoint/2010/main" val="159300878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4">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4">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4">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8" grpId="0"/>
      <p:bldP spid="6" grpId="0"/>
      <p:bldP spid="27" grpId="0" animBg="1"/>
      <p:bldP spid="28" grpId="0"/>
      <p:bldP spid="29"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97BDDEF-947E-4C1A-9434-2F68160749E9}"/>
              </a:ext>
            </a:extLst>
          </p:cNvPr>
          <p:cNvSpPr/>
          <p:nvPr/>
        </p:nvSpPr>
        <p:spPr>
          <a:xfrm>
            <a:off x="3802891" y="958707"/>
            <a:ext cx="7096816" cy="1384995"/>
          </a:xfrm>
          <a:prstGeom prst="rect">
            <a:avLst/>
          </a:prstGeom>
        </p:spPr>
        <p:txBody>
          <a:bodyPr wrap="square">
            <a:spAutoFit/>
          </a:bodyPr>
          <a:lstStyle/>
          <a:p>
            <a:r>
              <a:rPr lang="zh-CN" altLang="en-US" sz="2800" dirty="0">
                <a:solidFill>
                  <a:srgbClr val="000000"/>
                </a:solidFill>
                <a:latin typeface="华文楷体" panose="02010600040101010101" pitchFamily="2" charset="-122"/>
                <a:ea typeface="华文楷体" panose="02010600040101010101" pitchFamily="2" charset="-122"/>
              </a:rPr>
              <a:t> 数学上，若某一标量函数对某一方向有最大变化率，则定义此方向上的导数为该标量函数的</a:t>
            </a:r>
            <a:r>
              <a:rPr lang="zh-CN" altLang="en-US" sz="2800" b="1" dirty="0">
                <a:solidFill>
                  <a:srgbClr val="0066FF"/>
                </a:solidFill>
                <a:latin typeface="华文楷体" panose="02010600040101010101" pitchFamily="2" charset="-122"/>
                <a:ea typeface="华文楷体" panose="02010600040101010101" pitchFamily="2" charset="-122"/>
              </a:rPr>
              <a:t>梯度</a:t>
            </a:r>
            <a:endParaRPr lang="en-US" sz="2800" b="1" dirty="0">
              <a:solidFill>
                <a:srgbClr val="0066FF"/>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34" name="内容占位符 28">
                <a:extLst>
                  <a:ext uri="{FF2B5EF4-FFF2-40B4-BE49-F238E27FC236}">
                    <a16:creationId xmlns:a16="http://schemas.microsoft.com/office/drawing/2014/main" id="{5D25C992-5A90-4C12-A650-D8AFEF9F2E78}"/>
                  </a:ext>
                </a:extLst>
              </p:cNvPr>
              <p:cNvSpPr txBox="1">
                <a:spLocks/>
              </p:cNvSpPr>
              <p:nvPr/>
            </p:nvSpPr>
            <p:spPr>
              <a:xfrm>
                <a:off x="4228474" y="2074110"/>
                <a:ext cx="4342191" cy="13135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ct val="50000"/>
                  </a:spcBef>
                  <a:buNone/>
                </a:pPr>
                <a14:m>
                  <m:oMathPara xmlns:m="http://schemas.openxmlformats.org/officeDocument/2006/math">
                    <m:oMathParaPr>
                      <m:jc m:val="centerGroup"/>
                    </m:oMathParaPr>
                    <m:oMath xmlns:m="http://schemas.openxmlformats.org/officeDocument/2006/math">
                      <m:r>
                        <a:rPr lang="en-US" altLang="zh-CN" b="0" i="1" smtClean="0">
                          <a:solidFill>
                            <a:srgbClr val="FF0000"/>
                          </a:solidFill>
                          <a:latin typeface="Cambria Math" panose="02040503050406030204" pitchFamily="18" charset="0"/>
                        </a:rPr>
                        <m:t>𝐸</m:t>
                      </m:r>
                      <m:r>
                        <a:rPr lang="en-US" altLang="zh-CN" b="0" i="1" smtClean="0">
                          <a:solidFill>
                            <a:srgbClr val="FF0000"/>
                          </a:solidFill>
                          <a:latin typeface="Cambria Math" panose="02040503050406030204" pitchFamily="18" charset="0"/>
                        </a:rPr>
                        <m:t>=−</m:t>
                      </m:r>
                      <m:f>
                        <m:fPr>
                          <m:ctrlPr>
                            <a:rPr lang="en-US" altLang="zh-CN" i="1">
                              <a:solidFill>
                                <a:srgbClr val="FF0000"/>
                              </a:solidFill>
                              <a:latin typeface="Cambria Math" panose="02040503050406030204" pitchFamily="18" charset="0"/>
                            </a:rPr>
                          </m:ctrlPr>
                        </m:fPr>
                        <m:num>
                          <m:r>
                            <a:rPr lang="en-US" altLang="zh-CN" b="0" i="1">
                              <a:solidFill>
                                <a:srgbClr val="FF0000"/>
                              </a:solidFill>
                              <a:latin typeface="Cambria Math" panose="02040503050406030204" pitchFamily="18" charset="0"/>
                            </a:rPr>
                            <m:t>𝑑</m:t>
                          </m:r>
                          <m:r>
                            <a:rPr lang="zh-CN" altLang="en-US" b="0" i="1" smtClean="0">
                              <a:solidFill>
                                <a:srgbClr val="FF0000"/>
                              </a:solidFill>
                              <a:latin typeface="Cambria Math" panose="02040503050406030204" pitchFamily="18" charset="0"/>
                            </a:rPr>
                            <m:t>𝜑</m:t>
                          </m:r>
                        </m:num>
                        <m:den>
                          <m:r>
                            <a:rPr lang="en-US" altLang="zh-CN" b="0" i="1">
                              <a:solidFill>
                                <a:srgbClr val="FF0000"/>
                              </a:solidFill>
                              <a:latin typeface="Cambria Math" panose="02040503050406030204" pitchFamily="18" charset="0"/>
                            </a:rPr>
                            <m:t>𝑑𝑙</m:t>
                          </m:r>
                        </m:den>
                      </m:f>
                      <m:sSub>
                        <m:sSubPr>
                          <m:ctrlPr>
                            <a:rPr lang="en-US" altLang="zh-CN" i="1">
                              <a:solidFill>
                                <a:srgbClr val="FF0000"/>
                              </a:solidFill>
                              <a:latin typeface="Cambria Math" panose="02040503050406030204" pitchFamily="18" charset="0"/>
                            </a:rPr>
                          </m:ctrlPr>
                        </m:sSubPr>
                        <m:e>
                          <m:r>
                            <a:rPr lang="en-US" altLang="zh-CN" b="0" i="1">
                              <a:solidFill>
                                <a:srgbClr val="FF0000"/>
                              </a:solidFill>
                              <a:latin typeface="Cambria Math" panose="02040503050406030204" pitchFamily="18" charset="0"/>
                            </a:rPr>
                            <m:t>|</m:t>
                          </m:r>
                        </m:e>
                        <m:sub>
                          <m:r>
                            <a:rPr lang="en-US" altLang="zh-CN" b="0" i="1">
                              <a:solidFill>
                                <a:srgbClr val="FF0000"/>
                              </a:solidFill>
                              <a:latin typeface="Cambria Math" panose="02040503050406030204" pitchFamily="18" charset="0"/>
                            </a:rPr>
                            <m:t>𝑚𝑎𝑥</m:t>
                          </m:r>
                        </m:sub>
                      </m:sSub>
                    </m:oMath>
                  </m:oMathPara>
                </a14:m>
                <a:endParaRPr lang="zh-CN" altLang="en-US" dirty="0"/>
              </a:p>
            </p:txBody>
          </p:sp>
        </mc:Choice>
        <mc:Fallback xmlns="">
          <p:sp>
            <p:nvSpPr>
              <p:cNvPr id="34" name="内容占位符 28">
                <a:extLst>
                  <a:ext uri="{FF2B5EF4-FFF2-40B4-BE49-F238E27FC236}">
                    <a16:creationId xmlns:a16="http://schemas.microsoft.com/office/drawing/2014/main" id="{5D25C992-5A90-4C12-A650-D8AFEF9F2E78}"/>
                  </a:ext>
                </a:extLst>
              </p:cNvPr>
              <p:cNvSpPr txBox="1">
                <a:spLocks noRot="1" noChangeAspect="1" noMove="1" noResize="1" noEditPoints="1" noAdjustHandles="1" noChangeArrowheads="1" noChangeShapeType="1" noTextEdit="1"/>
              </p:cNvSpPr>
              <p:nvPr/>
            </p:nvSpPr>
            <p:spPr>
              <a:xfrm>
                <a:off x="4228474" y="2074110"/>
                <a:ext cx="4342191" cy="1313581"/>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标题 2">
                <a:extLst>
                  <a:ext uri="{FF2B5EF4-FFF2-40B4-BE49-F238E27FC236}">
                    <a16:creationId xmlns:a16="http://schemas.microsoft.com/office/drawing/2014/main" id="{C48A0B2B-BD9D-3479-23D8-66D8AED8F30E}"/>
                  </a:ext>
                </a:extLst>
              </p:cNvPr>
              <p:cNvSpPr txBox="1">
                <a:spLocks/>
              </p:cNvSpPr>
              <p:nvPr/>
            </p:nvSpPr>
            <p:spPr>
              <a:xfrm>
                <a:off x="1110435" y="4159602"/>
                <a:ext cx="5500384" cy="81475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spcBef>
                    <a:spcPct val="50000"/>
                  </a:spcBef>
                </a:pPr>
                <a14:m>
                  <m:oMathPara xmlns:m="http://schemas.openxmlformats.org/officeDocument/2006/math">
                    <m:oMathParaPr>
                      <m:jc m:val="centerGroup"/>
                    </m:oMathParaPr>
                    <m:oMath xmlns:m="http://schemas.openxmlformats.org/officeDocument/2006/math">
                      <m:acc>
                        <m:accPr>
                          <m:chr m:val="⃗"/>
                          <m:ctrlPr>
                            <a:rPr lang="en-US" altLang="zh-CN" sz="2800" i="1" smtClean="0">
                              <a:latin typeface="Cambria Math" panose="02040503050406030204" pitchFamily="18" charset="0"/>
                            </a:rPr>
                          </m:ctrlPr>
                        </m:accPr>
                        <m:e>
                          <m:r>
                            <m:rPr>
                              <m:sty m:val="p"/>
                            </m:rPr>
                            <a:rPr lang="en-US" altLang="zh-CN" sz="2800" b="0" i="0">
                              <a:latin typeface="Cambria Math" panose="02040503050406030204" pitchFamily="18" charset="0"/>
                            </a:rPr>
                            <m:t>E</m:t>
                          </m:r>
                        </m:e>
                      </m:acc>
                      <m:r>
                        <a:rPr lang="en-US" altLang="zh-CN" sz="2800" b="0" i="0">
                          <a:latin typeface="Cambria Math" panose="02040503050406030204" pitchFamily="18" charset="0"/>
                        </a:rPr>
                        <m:t>=−</m:t>
                      </m:r>
                      <m:r>
                        <m:rPr>
                          <m:sty m:val="p"/>
                        </m:rPr>
                        <a:rPr lang="en-US" altLang="zh-CN" sz="2800" b="0" i="0">
                          <a:latin typeface="Cambria Math" panose="02040503050406030204" pitchFamily="18" charset="0"/>
                        </a:rPr>
                        <m:t>gradφ</m:t>
                      </m:r>
                      <m:r>
                        <a:rPr lang="en-US" altLang="zh-CN" sz="2800" b="0" i="0">
                          <a:latin typeface="Cambria Math" panose="02040503050406030204" pitchFamily="18" charset="0"/>
                        </a:rPr>
                        <m:t>=−</m:t>
                      </m:r>
                      <m:r>
                        <m:rPr>
                          <m:sty m:val="p"/>
                        </m:rPr>
                        <a:rPr lang="zh-CN" altLang="en-US" sz="2800" b="0" i="0">
                          <a:latin typeface="Cambria Math" panose="02040503050406030204" pitchFamily="18" charset="0"/>
                        </a:rPr>
                        <m:t>∇φ</m:t>
                      </m:r>
                    </m:oMath>
                  </m:oMathPara>
                </a14:m>
                <a:br>
                  <a:rPr lang="en-US" altLang="zh-CN" sz="2800" dirty="0">
                    <a:latin typeface="黑体" panose="02010609060101010101" pitchFamily="49" charset="-122"/>
                  </a:rPr>
                </a:br>
                <a:endParaRPr lang="zh-CN" altLang="en-US" sz="2800" dirty="0"/>
              </a:p>
            </p:txBody>
          </p:sp>
        </mc:Choice>
        <mc:Fallback xmlns="">
          <p:sp>
            <p:nvSpPr>
              <p:cNvPr id="29" name="标题 2">
                <a:extLst>
                  <a:ext uri="{FF2B5EF4-FFF2-40B4-BE49-F238E27FC236}">
                    <a16:creationId xmlns:a16="http://schemas.microsoft.com/office/drawing/2014/main" id="{C48A0B2B-BD9D-3479-23D8-66D8AED8F30E}"/>
                  </a:ext>
                </a:extLst>
              </p:cNvPr>
              <p:cNvSpPr txBox="1">
                <a:spLocks noRot="1" noChangeAspect="1" noMove="1" noResize="1" noEditPoints="1" noAdjustHandles="1" noChangeArrowheads="1" noChangeShapeType="1" noTextEdit="1"/>
              </p:cNvSpPr>
              <p:nvPr/>
            </p:nvSpPr>
            <p:spPr>
              <a:xfrm>
                <a:off x="1110435" y="4159602"/>
                <a:ext cx="5500384" cy="81475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内容占位符 3">
                <a:extLst>
                  <a:ext uri="{FF2B5EF4-FFF2-40B4-BE49-F238E27FC236}">
                    <a16:creationId xmlns:a16="http://schemas.microsoft.com/office/drawing/2014/main" id="{4D6B7E95-250D-C3F3-1530-64D391A2233B}"/>
                  </a:ext>
                </a:extLst>
              </p:cNvPr>
              <p:cNvSpPr txBox="1">
                <a:spLocks/>
              </p:cNvSpPr>
              <p:nvPr/>
            </p:nvSpPr>
            <p:spPr>
              <a:xfrm>
                <a:off x="1142655" y="5177696"/>
                <a:ext cx="6942018" cy="11944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50000"/>
                  </a:spcBef>
                  <a:buFont typeface="Arial" panose="020B0604020202020204" pitchFamily="34" charset="0"/>
                  <a:buNone/>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电场强度等于该点电势梯度的负值</a:t>
                </a:r>
                <a:br>
                  <a:rPr lang="en-US" altLang="zh-CN" dirty="0">
                    <a:latin typeface="Times New Roman" panose="02020603050405020304" pitchFamily="18" charset="0"/>
                    <a:ea typeface="华文楷体" panose="02010600040101010101" pitchFamily="2" charset="-122"/>
                    <a:cs typeface="Times New Roman" panose="02020603050405020304" pitchFamily="18" charset="0"/>
                  </a:rPr>
                </a:b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单位：</a:t>
                </a:r>
                <a14:m>
                  <m:oMath xmlns:m="http://schemas.openxmlformats.org/officeDocument/2006/math">
                    <m:f>
                      <m:fPr>
                        <m:type m:val="lin"/>
                        <m:ctrlPr>
                          <a:rPr lang="zh-CN" altLang="en-US" i="1" smtClean="0">
                            <a:solidFill>
                              <a:srgbClr val="0066FF"/>
                            </a:solidFill>
                            <a:latin typeface="Cambria Math" panose="02040503050406030204" pitchFamily="18" charset="0"/>
                          </a:rPr>
                        </m:ctrlPr>
                      </m:fPr>
                      <m:num>
                        <m:r>
                          <m:rPr>
                            <m:sty m:val="p"/>
                          </m:rPr>
                          <a:rPr lang="en-US" altLang="zh-CN" b="0" i="0">
                            <a:solidFill>
                              <a:srgbClr val="0066FF"/>
                            </a:solidFill>
                            <a:latin typeface="Cambria Math" panose="02040503050406030204" pitchFamily="18" charset="0"/>
                          </a:rPr>
                          <m:t>V</m:t>
                        </m:r>
                      </m:num>
                      <m:den>
                        <m:r>
                          <m:rPr>
                            <m:sty m:val="p"/>
                          </m:rPr>
                          <a:rPr lang="en-US" altLang="zh-CN" b="0" i="0">
                            <a:solidFill>
                              <a:srgbClr val="0066FF"/>
                            </a:solidFill>
                            <a:latin typeface="Cambria Math" panose="02040503050406030204" pitchFamily="18" charset="0"/>
                          </a:rPr>
                          <m:t>m</m:t>
                        </m:r>
                      </m:den>
                    </m:f>
                  </m:oMath>
                </a14:m>
                <a:r>
                  <a:rPr lang="zh-CN" altLang="en-US"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，亦是场强的单位</a:t>
                </a:r>
                <a:endParaRPr lang="en-US" altLang="zh-CN"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0" name="内容占位符 3">
                <a:extLst>
                  <a:ext uri="{FF2B5EF4-FFF2-40B4-BE49-F238E27FC236}">
                    <a16:creationId xmlns:a16="http://schemas.microsoft.com/office/drawing/2014/main" id="{4D6B7E95-250D-C3F3-1530-64D391A2233B}"/>
                  </a:ext>
                </a:extLst>
              </p:cNvPr>
              <p:cNvSpPr txBox="1">
                <a:spLocks noRot="1" noChangeAspect="1" noMove="1" noResize="1" noEditPoints="1" noAdjustHandles="1" noChangeArrowheads="1" noChangeShapeType="1" noTextEdit="1"/>
              </p:cNvSpPr>
              <p:nvPr/>
            </p:nvSpPr>
            <p:spPr>
              <a:xfrm>
                <a:off x="1142655" y="5177696"/>
                <a:ext cx="6942018" cy="1194430"/>
              </a:xfrm>
              <a:prstGeom prst="rect">
                <a:avLst/>
              </a:prstGeom>
              <a:blipFill>
                <a:blip r:embed="rId4"/>
                <a:stretch>
                  <a:fillRect l="-1756" b="-239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8816F3CB-A8E3-3F7D-FC79-3E96A095E307}"/>
                  </a:ext>
                </a:extLst>
              </p:cNvPr>
              <p:cNvSpPr/>
              <p:nvPr/>
            </p:nvSpPr>
            <p:spPr>
              <a:xfrm>
                <a:off x="1142655" y="3318934"/>
                <a:ext cx="5468164" cy="775662"/>
              </a:xfrm>
              <a:prstGeom prst="rect">
                <a:avLst/>
              </a:prstGeom>
            </p:spPr>
            <p:txBody>
              <a:bodyPr wrap="none">
                <a:spAutoFit/>
              </a:bodyPr>
              <a:lstStyle/>
              <a:p>
                <a:r>
                  <a:rPr lang="zh-CN" altLang="en-US"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直角坐标系中：</a:t>
                </a:r>
                <a:r>
                  <a:rPr lang="en-US" altLang="zh-CN" sz="2800" dirty="0">
                    <a:solidFill>
                      <a:prstClr val="black"/>
                    </a:solidFill>
                    <a:ea typeface="华文新魏" panose="02010800040101010101" pitchFamily="2" charset="-122"/>
                  </a:rPr>
                  <a:t> </a:t>
                </a:r>
                <a14:m>
                  <m:oMath xmlns:m="http://schemas.openxmlformats.org/officeDocument/2006/math">
                    <m:f>
                      <m:fPr>
                        <m:ctrlPr>
                          <a:rPr lang="en-US" altLang="zh-CN" sz="2800" i="1">
                            <a:solidFill>
                              <a:prstClr val="black"/>
                            </a:solidFill>
                            <a:latin typeface="Cambria Math" panose="02040503050406030204" pitchFamily="18" charset="0"/>
                            <a:ea typeface="华文新魏" panose="02010800040101010101" pitchFamily="2" charset="-122"/>
                          </a:rPr>
                        </m:ctrlPr>
                      </m:fPr>
                      <m:num>
                        <m:r>
                          <a:rPr lang="en-US" altLang="zh-CN" sz="2800" b="0" i="0">
                            <a:solidFill>
                              <a:prstClr val="black"/>
                            </a:solidFill>
                            <a:latin typeface="Cambria Math" panose="02040503050406030204" pitchFamily="18" charset="0"/>
                            <a:ea typeface="华文新魏" panose="02010800040101010101" pitchFamily="2" charset="-122"/>
                          </a:rPr>
                          <m:t>𝜕</m:t>
                        </m:r>
                      </m:num>
                      <m:den>
                        <m:r>
                          <a:rPr lang="en-US" altLang="zh-CN" sz="2800" b="0" i="0">
                            <a:solidFill>
                              <a:prstClr val="black"/>
                            </a:solidFill>
                            <a:latin typeface="Cambria Math" panose="02040503050406030204" pitchFamily="18" charset="0"/>
                            <a:ea typeface="华文新魏" panose="02010800040101010101" pitchFamily="2" charset="-122"/>
                          </a:rPr>
                          <m:t>𝜕</m:t>
                        </m:r>
                        <m:r>
                          <m:rPr>
                            <m:sty m:val="p"/>
                          </m:rPr>
                          <a:rPr lang="en-US" altLang="zh-CN" sz="2800" b="0" i="0">
                            <a:solidFill>
                              <a:prstClr val="black"/>
                            </a:solidFill>
                            <a:latin typeface="Cambria Math" panose="02040503050406030204" pitchFamily="18" charset="0"/>
                            <a:ea typeface="华文新魏" panose="02010800040101010101" pitchFamily="2" charset="-122"/>
                          </a:rPr>
                          <m:t>x</m:t>
                        </m:r>
                      </m:den>
                    </m:f>
                    <m:acc>
                      <m:accPr>
                        <m:chr m:val="⃗"/>
                        <m:ctrlPr>
                          <a:rPr lang="en-US" altLang="zh-CN" sz="2800" i="1">
                            <a:solidFill>
                              <a:prstClr val="black"/>
                            </a:solidFill>
                            <a:latin typeface="Cambria Math" panose="02040503050406030204" pitchFamily="18" charset="0"/>
                            <a:ea typeface="华文新魏" panose="02010800040101010101" pitchFamily="2" charset="-122"/>
                          </a:rPr>
                        </m:ctrlPr>
                      </m:accPr>
                      <m:e>
                        <m:r>
                          <m:rPr>
                            <m:sty m:val="p"/>
                          </m:rPr>
                          <a:rPr lang="en-US" altLang="zh-CN" sz="2800" b="0" i="0">
                            <a:solidFill>
                              <a:prstClr val="black"/>
                            </a:solidFill>
                            <a:latin typeface="Cambria Math" panose="02040503050406030204" pitchFamily="18" charset="0"/>
                            <a:ea typeface="华文新魏" panose="02010800040101010101" pitchFamily="2" charset="-122"/>
                          </a:rPr>
                          <m:t>i</m:t>
                        </m:r>
                        <m:r>
                          <a:rPr lang="en-US" altLang="zh-CN" sz="2800" b="0" i="0">
                            <a:solidFill>
                              <a:prstClr val="black"/>
                            </a:solidFill>
                            <a:latin typeface="Cambria Math" panose="02040503050406030204" pitchFamily="18" charset="0"/>
                            <a:ea typeface="华文新魏" panose="02010800040101010101" pitchFamily="2" charset="-122"/>
                          </a:rPr>
                          <m:t> </m:t>
                        </m:r>
                      </m:e>
                    </m:acc>
                    <m:r>
                      <a:rPr lang="en-US" altLang="zh-CN" sz="2800" b="0" i="0">
                        <a:solidFill>
                          <a:prstClr val="black"/>
                        </a:solidFill>
                        <a:latin typeface="Cambria Math" panose="02040503050406030204" pitchFamily="18" charset="0"/>
                        <a:ea typeface="华文新魏" panose="02010800040101010101" pitchFamily="2" charset="-122"/>
                      </a:rPr>
                      <m:t>+</m:t>
                    </m:r>
                    <m:f>
                      <m:fPr>
                        <m:ctrlPr>
                          <a:rPr lang="en-US" altLang="zh-CN" sz="2800" i="1">
                            <a:solidFill>
                              <a:prstClr val="black"/>
                            </a:solidFill>
                            <a:latin typeface="Cambria Math" panose="02040503050406030204" pitchFamily="18" charset="0"/>
                            <a:ea typeface="华文新魏" panose="02010800040101010101" pitchFamily="2" charset="-122"/>
                          </a:rPr>
                        </m:ctrlPr>
                      </m:fPr>
                      <m:num>
                        <m:r>
                          <a:rPr lang="en-US" altLang="zh-CN" sz="2800" b="0" i="0">
                            <a:solidFill>
                              <a:prstClr val="black"/>
                            </a:solidFill>
                            <a:latin typeface="Cambria Math" panose="02040503050406030204" pitchFamily="18" charset="0"/>
                            <a:ea typeface="华文新魏" panose="02010800040101010101" pitchFamily="2" charset="-122"/>
                          </a:rPr>
                          <m:t>𝜕</m:t>
                        </m:r>
                      </m:num>
                      <m:den>
                        <m:r>
                          <a:rPr lang="en-US" altLang="zh-CN" sz="2800" b="0" i="0">
                            <a:solidFill>
                              <a:prstClr val="black"/>
                            </a:solidFill>
                            <a:latin typeface="Cambria Math" panose="02040503050406030204" pitchFamily="18" charset="0"/>
                            <a:ea typeface="华文新魏" panose="02010800040101010101" pitchFamily="2" charset="-122"/>
                          </a:rPr>
                          <m:t>𝜕</m:t>
                        </m:r>
                        <m:r>
                          <m:rPr>
                            <m:sty m:val="p"/>
                          </m:rPr>
                          <a:rPr lang="en-US" altLang="zh-CN" sz="2800" b="0" i="0">
                            <a:solidFill>
                              <a:prstClr val="black"/>
                            </a:solidFill>
                            <a:latin typeface="Cambria Math" panose="02040503050406030204" pitchFamily="18" charset="0"/>
                            <a:ea typeface="华文新魏" panose="02010800040101010101" pitchFamily="2" charset="-122"/>
                          </a:rPr>
                          <m:t>y</m:t>
                        </m:r>
                      </m:den>
                    </m:f>
                    <m:acc>
                      <m:accPr>
                        <m:chr m:val="⃗"/>
                        <m:ctrlPr>
                          <a:rPr lang="en-US" altLang="zh-CN" sz="2800" i="1">
                            <a:solidFill>
                              <a:prstClr val="black"/>
                            </a:solidFill>
                            <a:latin typeface="Cambria Math" panose="02040503050406030204" pitchFamily="18" charset="0"/>
                            <a:ea typeface="华文新魏" panose="02010800040101010101" pitchFamily="2" charset="-122"/>
                          </a:rPr>
                        </m:ctrlPr>
                      </m:accPr>
                      <m:e>
                        <m:r>
                          <m:rPr>
                            <m:sty m:val="p"/>
                          </m:rPr>
                          <a:rPr lang="en-US" altLang="zh-CN" sz="2800" b="0" i="0">
                            <a:solidFill>
                              <a:prstClr val="black"/>
                            </a:solidFill>
                            <a:latin typeface="Cambria Math" panose="02040503050406030204" pitchFamily="18" charset="0"/>
                            <a:ea typeface="华文新魏" panose="02010800040101010101" pitchFamily="2" charset="-122"/>
                          </a:rPr>
                          <m:t>j</m:t>
                        </m:r>
                        <m:r>
                          <a:rPr lang="en-US" altLang="zh-CN" sz="2800" b="0" i="0">
                            <a:solidFill>
                              <a:prstClr val="black"/>
                            </a:solidFill>
                            <a:latin typeface="Cambria Math" panose="02040503050406030204" pitchFamily="18" charset="0"/>
                            <a:ea typeface="华文新魏" panose="02010800040101010101" pitchFamily="2" charset="-122"/>
                          </a:rPr>
                          <m:t> </m:t>
                        </m:r>
                      </m:e>
                    </m:acc>
                    <m:r>
                      <a:rPr lang="en-US" altLang="zh-CN" sz="2800" b="0" i="0">
                        <a:solidFill>
                          <a:prstClr val="black"/>
                        </a:solidFill>
                        <a:latin typeface="Cambria Math" panose="02040503050406030204" pitchFamily="18" charset="0"/>
                        <a:ea typeface="华文新魏" panose="02010800040101010101" pitchFamily="2" charset="-122"/>
                      </a:rPr>
                      <m:t>+</m:t>
                    </m:r>
                    <m:f>
                      <m:fPr>
                        <m:ctrlPr>
                          <a:rPr lang="en-US" altLang="zh-CN" sz="2800" i="1">
                            <a:solidFill>
                              <a:prstClr val="black"/>
                            </a:solidFill>
                            <a:latin typeface="Cambria Math" panose="02040503050406030204" pitchFamily="18" charset="0"/>
                            <a:ea typeface="华文新魏" panose="02010800040101010101" pitchFamily="2" charset="-122"/>
                          </a:rPr>
                        </m:ctrlPr>
                      </m:fPr>
                      <m:num>
                        <m:r>
                          <a:rPr lang="en-US" altLang="zh-CN" sz="2800" b="0" i="0">
                            <a:solidFill>
                              <a:prstClr val="black"/>
                            </a:solidFill>
                            <a:latin typeface="Cambria Math" panose="02040503050406030204" pitchFamily="18" charset="0"/>
                            <a:ea typeface="华文新魏" panose="02010800040101010101" pitchFamily="2" charset="-122"/>
                          </a:rPr>
                          <m:t>𝜕</m:t>
                        </m:r>
                      </m:num>
                      <m:den>
                        <m:r>
                          <a:rPr lang="en-US" altLang="zh-CN" sz="2800" b="0" i="0">
                            <a:solidFill>
                              <a:prstClr val="black"/>
                            </a:solidFill>
                            <a:latin typeface="Cambria Math" panose="02040503050406030204" pitchFamily="18" charset="0"/>
                            <a:ea typeface="华文新魏" panose="02010800040101010101" pitchFamily="2" charset="-122"/>
                          </a:rPr>
                          <m:t>𝜕</m:t>
                        </m:r>
                        <m:r>
                          <m:rPr>
                            <m:sty m:val="p"/>
                          </m:rPr>
                          <a:rPr lang="en-US" altLang="zh-CN" sz="2800" b="0" i="0">
                            <a:solidFill>
                              <a:prstClr val="black"/>
                            </a:solidFill>
                            <a:latin typeface="Cambria Math" panose="02040503050406030204" pitchFamily="18" charset="0"/>
                            <a:ea typeface="华文新魏" panose="02010800040101010101" pitchFamily="2" charset="-122"/>
                          </a:rPr>
                          <m:t>z</m:t>
                        </m:r>
                      </m:den>
                    </m:f>
                    <m:acc>
                      <m:accPr>
                        <m:chr m:val="⃗"/>
                        <m:ctrlPr>
                          <a:rPr lang="en-US" altLang="zh-CN" sz="2800" i="1">
                            <a:solidFill>
                              <a:prstClr val="black"/>
                            </a:solidFill>
                            <a:latin typeface="Cambria Math" panose="02040503050406030204" pitchFamily="18" charset="0"/>
                            <a:ea typeface="华文新魏" panose="02010800040101010101" pitchFamily="2" charset="-122"/>
                          </a:rPr>
                        </m:ctrlPr>
                      </m:accPr>
                      <m:e>
                        <m:r>
                          <m:rPr>
                            <m:sty m:val="p"/>
                          </m:rPr>
                          <a:rPr lang="en-US" altLang="zh-CN" sz="2800" b="0" i="0">
                            <a:solidFill>
                              <a:prstClr val="black"/>
                            </a:solidFill>
                            <a:latin typeface="Cambria Math" panose="02040503050406030204" pitchFamily="18" charset="0"/>
                            <a:ea typeface="华文新魏" panose="02010800040101010101" pitchFamily="2" charset="-122"/>
                          </a:rPr>
                          <m:t>k</m:t>
                        </m:r>
                        <m:r>
                          <a:rPr lang="en-US" altLang="zh-CN" sz="2800" b="0" i="0">
                            <a:solidFill>
                              <a:prstClr val="black"/>
                            </a:solidFill>
                            <a:latin typeface="Cambria Math" panose="02040503050406030204" pitchFamily="18" charset="0"/>
                            <a:ea typeface="华文新魏" panose="02010800040101010101" pitchFamily="2" charset="-122"/>
                          </a:rPr>
                          <m:t> </m:t>
                        </m:r>
                      </m:e>
                    </m:acc>
                  </m:oMath>
                </a14:m>
                <a:endParaRPr lang="en-US" sz="2800" dirty="0"/>
              </a:p>
            </p:txBody>
          </p:sp>
        </mc:Choice>
        <mc:Fallback xmlns="">
          <p:sp>
            <p:nvSpPr>
              <p:cNvPr id="31" name="矩形 30">
                <a:extLst>
                  <a:ext uri="{FF2B5EF4-FFF2-40B4-BE49-F238E27FC236}">
                    <a16:creationId xmlns:a16="http://schemas.microsoft.com/office/drawing/2014/main" id="{8816F3CB-A8E3-3F7D-FC79-3E96A095E307}"/>
                  </a:ext>
                </a:extLst>
              </p:cNvPr>
              <p:cNvSpPr>
                <a:spLocks noRot="1" noChangeAspect="1" noMove="1" noResize="1" noEditPoints="1" noAdjustHandles="1" noChangeArrowheads="1" noChangeShapeType="1" noTextEdit="1"/>
              </p:cNvSpPr>
              <p:nvPr/>
            </p:nvSpPr>
            <p:spPr>
              <a:xfrm>
                <a:off x="1142655" y="3318934"/>
                <a:ext cx="5468164" cy="775662"/>
              </a:xfrm>
              <a:prstGeom prst="rect">
                <a:avLst/>
              </a:prstGeom>
              <a:blipFill>
                <a:blip r:embed="rId5"/>
                <a:stretch>
                  <a:fillRect l="-2230"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69965EB5-3984-BF16-85DF-FFBFF0077C6E}"/>
                  </a:ext>
                </a:extLst>
              </p:cNvPr>
              <p:cNvSpPr/>
              <p:nvPr/>
            </p:nvSpPr>
            <p:spPr>
              <a:xfrm>
                <a:off x="6231477" y="4127099"/>
                <a:ext cx="4780026" cy="985591"/>
              </a:xfrm>
              <a:prstGeom prst="rect">
                <a:avLst/>
              </a:prstGeom>
            </p:spPr>
            <p:txBody>
              <a:bodyPr wrap="none">
                <a:spAutoFit/>
              </a:bodyPr>
              <a:lstStyle/>
              <a:p>
                <a:pPr>
                  <a:spcBef>
                    <a:spcPct val="50000"/>
                  </a:spcBef>
                  <a:buClr>
                    <a:srgbClr val="99CB38"/>
                  </a:buClr>
                </a:pPr>
                <a14:m>
                  <m:oMathPara xmlns:m="http://schemas.openxmlformats.org/officeDocument/2006/math">
                    <m:oMathParaPr>
                      <m:jc m:val="centerGroup"/>
                    </m:oMathParaPr>
                    <m:oMath xmlns:m="http://schemas.openxmlformats.org/officeDocument/2006/math">
                      <m:r>
                        <m:rPr>
                          <m:sty m:val="p"/>
                        </m:rPr>
                        <a:rPr lang="zh-CN" altLang="en-US" sz="2800" b="0" i="0">
                          <a:solidFill>
                            <a:prstClr val="black"/>
                          </a:solidFill>
                          <a:latin typeface="Cambria Math" panose="02040503050406030204" pitchFamily="18" charset="0"/>
                          <a:ea typeface="华文新魏" panose="02010800040101010101" pitchFamily="2" charset="-122"/>
                        </a:rPr>
                        <m:t>∇</m:t>
                      </m:r>
                      <m:r>
                        <a:rPr lang="en-US" altLang="zh-CN" sz="2800" b="0" i="0">
                          <a:solidFill>
                            <a:prstClr val="black"/>
                          </a:solidFill>
                          <a:latin typeface="Cambria Math" panose="02040503050406030204" pitchFamily="18" charset="0"/>
                          <a:ea typeface="华文新魏" panose="02010800040101010101" pitchFamily="2" charset="-122"/>
                        </a:rPr>
                        <m:t>=</m:t>
                      </m:r>
                      <m:r>
                        <m:rPr>
                          <m:sty m:val="p"/>
                        </m:rPr>
                        <a:rPr lang="en-US" altLang="zh-CN" sz="2800" b="0" i="0">
                          <a:solidFill>
                            <a:prstClr val="black"/>
                          </a:solidFill>
                          <a:latin typeface="Cambria Math" panose="02040503050406030204" pitchFamily="18" charset="0"/>
                          <a:ea typeface="华文新魏" panose="02010800040101010101" pitchFamily="2" charset="-122"/>
                        </a:rPr>
                        <m:t>grad</m:t>
                      </m:r>
                      <m:r>
                        <a:rPr lang="en-US" altLang="zh-CN" sz="2800" b="0" i="0">
                          <a:solidFill>
                            <a:prstClr val="black"/>
                          </a:solidFill>
                          <a:latin typeface="Cambria Math" panose="02040503050406030204" pitchFamily="18" charset="0"/>
                          <a:ea typeface="华文新魏" panose="02010800040101010101" pitchFamily="2" charset="-122"/>
                        </a:rPr>
                        <m:t>=</m:t>
                      </m:r>
                      <m:f>
                        <m:fPr>
                          <m:ctrlPr>
                            <a:rPr lang="en-US" altLang="zh-CN" sz="2800" i="1">
                              <a:solidFill>
                                <a:prstClr val="black"/>
                              </a:solidFill>
                              <a:latin typeface="Cambria Math" panose="02040503050406030204" pitchFamily="18" charset="0"/>
                              <a:ea typeface="华文新魏" panose="02010800040101010101" pitchFamily="2" charset="-122"/>
                            </a:rPr>
                          </m:ctrlPr>
                        </m:fPr>
                        <m:num>
                          <m:r>
                            <a:rPr lang="en-US" altLang="zh-CN" sz="2800" b="0" i="0">
                              <a:solidFill>
                                <a:prstClr val="black"/>
                              </a:solidFill>
                              <a:latin typeface="Cambria Math" panose="02040503050406030204" pitchFamily="18" charset="0"/>
                              <a:ea typeface="华文新魏" panose="02010800040101010101" pitchFamily="2" charset="-122"/>
                            </a:rPr>
                            <m:t>𝜕</m:t>
                          </m:r>
                        </m:num>
                        <m:den>
                          <m:r>
                            <a:rPr lang="en-US" altLang="zh-CN" sz="2800" b="0" i="0">
                              <a:solidFill>
                                <a:prstClr val="black"/>
                              </a:solidFill>
                              <a:latin typeface="Cambria Math" panose="02040503050406030204" pitchFamily="18" charset="0"/>
                              <a:ea typeface="华文新魏" panose="02010800040101010101" pitchFamily="2" charset="-122"/>
                            </a:rPr>
                            <m:t>𝜕</m:t>
                          </m:r>
                          <m:r>
                            <m:rPr>
                              <m:sty m:val="p"/>
                            </m:rPr>
                            <a:rPr lang="en-US" altLang="zh-CN" sz="2800" b="0" i="0">
                              <a:solidFill>
                                <a:prstClr val="black"/>
                              </a:solidFill>
                              <a:latin typeface="Cambria Math" panose="02040503050406030204" pitchFamily="18" charset="0"/>
                              <a:ea typeface="华文新魏" panose="02010800040101010101" pitchFamily="2" charset="-122"/>
                            </a:rPr>
                            <m:t>x</m:t>
                          </m:r>
                        </m:den>
                      </m:f>
                      <m:acc>
                        <m:accPr>
                          <m:chr m:val="⃗"/>
                          <m:ctrlPr>
                            <a:rPr lang="en-US" altLang="zh-CN" sz="2800" i="1">
                              <a:solidFill>
                                <a:prstClr val="black"/>
                              </a:solidFill>
                              <a:latin typeface="Cambria Math" panose="02040503050406030204" pitchFamily="18" charset="0"/>
                              <a:ea typeface="华文新魏" panose="02010800040101010101" pitchFamily="2" charset="-122"/>
                            </a:rPr>
                          </m:ctrlPr>
                        </m:accPr>
                        <m:e>
                          <m:r>
                            <m:rPr>
                              <m:sty m:val="p"/>
                            </m:rPr>
                            <a:rPr lang="en-US" altLang="zh-CN" sz="2800" b="0" i="0">
                              <a:solidFill>
                                <a:prstClr val="black"/>
                              </a:solidFill>
                              <a:latin typeface="Cambria Math" panose="02040503050406030204" pitchFamily="18" charset="0"/>
                              <a:ea typeface="华文新魏" panose="02010800040101010101" pitchFamily="2" charset="-122"/>
                            </a:rPr>
                            <m:t>i</m:t>
                          </m:r>
                          <m:r>
                            <a:rPr lang="en-US" altLang="zh-CN" sz="2800" b="0" i="0">
                              <a:solidFill>
                                <a:prstClr val="black"/>
                              </a:solidFill>
                              <a:latin typeface="Cambria Math" panose="02040503050406030204" pitchFamily="18" charset="0"/>
                              <a:ea typeface="华文新魏" panose="02010800040101010101" pitchFamily="2" charset="-122"/>
                            </a:rPr>
                            <m:t> </m:t>
                          </m:r>
                        </m:e>
                      </m:acc>
                      <m:r>
                        <a:rPr lang="en-US" altLang="zh-CN" sz="2800" b="0" i="0">
                          <a:solidFill>
                            <a:prstClr val="black"/>
                          </a:solidFill>
                          <a:latin typeface="Cambria Math" panose="02040503050406030204" pitchFamily="18" charset="0"/>
                          <a:ea typeface="华文新魏" panose="02010800040101010101" pitchFamily="2" charset="-122"/>
                        </a:rPr>
                        <m:t>+</m:t>
                      </m:r>
                      <m:f>
                        <m:fPr>
                          <m:ctrlPr>
                            <a:rPr lang="en-US" altLang="zh-CN" sz="2800" i="1">
                              <a:solidFill>
                                <a:prstClr val="black"/>
                              </a:solidFill>
                              <a:latin typeface="Cambria Math" panose="02040503050406030204" pitchFamily="18" charset="0"/>
                              <a:ea typeface="华文新魏" panose="02010800040101010101" pitchFamily="2" charset="-122"/>
                            </a:rPr>
                          </m:ctrlPr>
                        </m:fPr>
                        <m:num>
                          <m:r>
                            <a:rPr lang="en-US" altLang="zh-CN" sz="2800" b="0" i="0">
                              <a:solidFill>
                                <a:prstClr val="black"/>
                              </a:solidFill>
                              <a:latin typeface="Cambria Math" panose="02040503050406030204" pitchFamily="18" charset="0"/>
                              <a:ea typeface="华文新魏" panose="02010800040101010101" pitchFamily="2" charset="-122"/>
                            </a:rPr>
                            <m:t>𝜕</m:t>
                          </m:r>
                        </m:num>
                        <m:den>
                          <m:r>
                            <a:rPr lang="en-US" altLang="zh-CN" sz="2800" b="0" i="0">
                              <a:solidFill>
                                <a:prstClr val="black"/>
                              </a:solidFill>
                              <a:latin typeface="Cambria Math" panose="02040503050406030204" pitchFamily="18" charset="0"/>
                              <a:ea typeface="华文新魏" panose="02010800040101010101" pitchFamily="2" charset="-122"/>
                            </a:rPr>
                            <m:t>𝜕</m:t>
                          </m:r>
                          <m:r>
                            <m:rPr>
                              <m:sty m:val="p"/>
                            </m:rPr>
                            <a:rPr lang="en-US" altLang="zh-CN" sz="2800" b="0" i="0">
                              <a:solidFill>
                                <a:prstClr val="black"/>
                              </a:solidFill>
                              <a:latin typeface="Cambria Math" panose="02040503050406030204" pitchFamily="18" charset="0"/>
                              <a:ea typeface="华文新魏" panose="02010800040101010101" pitchFamily="2" charset="-122"/>
                            </a:rPr>
                            <m:t>y</m:t>
                          </m:r>
                        </m:den>
                      </m:f>
                      <m:acc>
                        <m:accPr>
                          <m:chr m:val="⃗"/>
                          <m:ctrlPr>
                            <a:rPr lang="en-US" altLang="zh-CN" sz="2800" i="1">
                              <a:solidFill>
                                <a:prstClr val="black"/>
                              </a:solidFill>
                              <a:latin typeface="Cambria Math" panose="02040503050406030204" pitchFamily="18" charset="0"/>
                              <a:ea typeface="华文新魏" panose="02010800040101010101" pitchFamily="2" charset="-122"/>
                            </a:rPr>
                          </m:ctrlPr>
                        </m:accPr>
                        <m:e>
                          <m:r>
                            <m:rPr>
                              <m:sty m:val="p"/>
                            </m:rPr>
                            <a:rPr lang="en-US" altLang="zh-CN" sz="2800" b="0" i="0">
                              <a:solidFill>
                                <a:prstClr val="black"/>
                              </a:solidFill>
                              <a:latin typeface="Cambria Math" panose="02040503050406030204" pitchFamily="18" charset="0"/>
                              <a:ea typeface="华文新魏" panose="02010800040101010101" pitchFamily="2" charset="-122"/>
                            </a:rPr>
                            <m:t>j</m:t>
                          </m:r>
                          <m:r>
                            <a:rPr lang="en-US" altLang="zh-CN" sz="2800" b="0" i="0">
                              <a:solidFill>
                                <a:prstClr val="black"/>
                              </a:solidFill>
                              <a:latin typeface="Cambria Math" panose="02040503050406030204" pitchFamily="18" charset="0"/>
                              <a:ea typeface="华文新魏" panose="02010800040101010101" pitchFamily="2" charset="-122"/>
                            </a:rPr>
                            <m:t> </m:t>
                          </m:r>
                        </m:e>
                      </m:acc>
                      <m:r>
                        <a:rPr lang="en-US" altLang="zh-CN" sz="2800" b="0" i="0">
                          <a:solidFill>
                            <a:prstClr val="black"/>
                          </a:solidFill>
                          <a:latin typeface="Cambria Math" panose="02040503050406030204" pitchFamily="18" charset="0"/>
                          <a:ea typeface="华文新魏" panose="02010800040101010101" pitchFamily="2" charset="-122"/>
                        </a:rPr>
                        <m:t>+</m:t>
                      </m:r>
                      <m:f>
                        <m:fPr>
                          <m:ctrlPr>
                            <a:rPr lang="en-US" altLang="zh-CN" sz="2800" i="1">
                              <a:solidFill>
                                <a:prstClr val="black"/>
                              </a:solidFill>
                              <a:latin typeface="Cambria Math" panose="02040503050406030204" pitchFamily="18" charset="0"/>
                              <a:ea typeface="华文新魏" panose="02010800040101010101" pitchFamily="2" charset="-122"/>
                            </a:rPr>
                          </m:ctrlPr>
                        </m:fPr>
                        <m:num>
                          <m:r>
                            <a:rPr lang="en-US" altLang="zh-CN" sz="2800" b="0" i="0">
                              <a:solidFill>
                                <a:prstClr val="black"/>
                              </a:solidFill>
                              <a:latin typeface="Cambria Math" panose="02040503050406030204" pitchFamily="18" charset="0"/>
                              <a:ea typeface="华文新魏" panose="02010800040101010101" pitchFamily="2" charset="-122"/>
                            </a:rPr>
                            <m:t>𝜕</m:t>
                          </m:r>
                        </m:num>
                        <m:den>
                          <m:r>
                            <a:rPr lang="en-US" altLang="zh-CN" sz="2800" b="0" i="0">
                              <a:solidFill>
                                <a:prstClr val="black"/>
                              </a:solidFill>
                              <a:latin typeface="Cambria Math" panose="02040503050406030204" pitchFamily="18" charset="0"/>
                              <a:ea typeface="华文新魏" panose="02010800040101010101" pitchFamily="2" charset="-122"/>
                            </a:rPr>
                            <m:t>𝜕</m:t>
                          </m:r>
                          <m:r>
                            <m:rPr>
                              <m:sty m:val="p"/>
                            </m:rPr>
                            <a:rPr lang="en-US" altLang="zh-CN" sz="2800" b="0" i="0">
                              <a:solidFill>
                                <a:prstClr val="black"/>
                              </a:solidFill>
                              <a:latin typeface="Cambria Math" panose="02040503050406030204" pitchFamily="18" charset="0"/>
                              <a:ea typeface="华文新魏" panose="02010800040101010101" pitchFamily="2" charset="-122"/>
                            </a:rPr>
                            <m:t>z</m:t>
                          </m:r>
                        </m:den>
                      </m:f>
                      <m:acc>
                        <m:accPr>
                          <m:chr m:val="⃗"/>
                          <m:ctrlPr>
                            <a:rPr lang="en-US" altLang="zh-CN" sz="2800" i="1">
                              <a:solidFill>
                                <a:prstClr val="black"/>
                              </a:solidFill>
                              <a:latin typeface="Cambria Math" panose="02040503050406030204" pitchFamily="18" charset="0"/>
                              <a:ea typeface="华文新魏" panose="02010800040101010101" pitchFamily="2" charset="-122"/>
                            </a:rPr>
                          </m:ctrlPr>
                        </m:accPr>
                        <m:e>
                          <m:r>
                            <m:rPr>
                              <m:sty m:val="p"/>
                            </m:rPr>
                            <a:rPr lang="en-US" altLang="zh-CN" sz="2800" b="0" i="0">
                              <a:solidFill>
                                <a:prstClr val="black"/>
                              </a:solidFill>
                              <a:latin typeface="Cambria Math" panose="02040503050406030204" pitchFamily="18" charset="0"/>
                              <a:ea typeface="华文新魏" panose="02010800040101010101" pitchFamily="2" charset="-122"/>
                            </a:rPr>
                            <m:t>k</m:t>
                          </m:r>
                          <m:r>
                            <a:rPr lang="en-US" altLang="zh-CN" sz="2800" b="0" i="0">
                              <a:solidFill>
                                <a:prstClr val="black"/>
                              </a:solidFill>
                              <a:latin typeface="Cambria Math" panose="02040503050406030204" pitchFamily="18" charset="0"/>
                              <a:ea typeface="华文新魏" panose="02010800040101010101" pitchFamily="2" charset="-122"/>
                            </a:rPr>
                            <m:t> </m:t>
                          </m:r>
                        </m:e>
                      </m:acc>
                    </m:oMath>
                  </m:oMathPara>
                </a14:m>
                <a:endPar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2" name="矩形 31">
                <a:extLst>
                  <a:ext uri="{FF2B5EF4-FFF2-40B4-BE49-F238E27FC236}">
                    <a16:creationId xmlns:a16="http://schemas.microsoft.com/office/drawing/2014/main" id="{69965EB5-3984-BF16-85DF-FFBFF0077C6E}"/>
                  </a:ext>
                </a:extLst>
              </p:cNvPr>
              <p:cNvSpPr>
                <a:spLocks noRot="1" noChangeAspect="1" noMove="1" noResize="1" noEditPoints="1" noAdjustHandles="1" noChangeArrowheads="1" noChangeShapeType="1" noTextEdit="1"/>
              </p:cNvSpPr>
              <p:nvPr/>
            </p:nvSpPr>
            <p:spPr>
              <a:xfrm>
                <a:off x="6231477" y="4127099"/>
                <a:ext cx="4780026" cy="985591"/>
              </a:xfrm>
              <a:prstGeom prst="rect">
                <a:avLst/>
              </a:prstGeom>
              <a:blipFill>
                <a:blip r:embed="rId6"/>
                <a:stretch>
                  <a:fillRect/>
                </a:stretch>
              </a:blipFill>
            </p:spPr>
            <p:txBody>
              <a:bodyPr/>
              <a:lstStyle/>
              <a:p>
                <a:r>
                  <a:rPr lang="zh-CN" altLang="en-US">
                    <a:noFill/>
                  </a:rPr>
                  <a:t> </a:t>
                </a:r>
              </a:p>
            </p:txBody>
          </p:sp>
        </mc:Fallback>
      </mc:AlternateContent>
      <p:sp>
        <p:nvSpPr>
          <p:cNvPr id="2" name="标题 27">
            <a:extLst>
              <a:ext uri="{FF2B5EF4-FFF2-40B4-BE49-F238E27FC236}">
                <a16:creationId xmlns:a16="http://schemas.microsoft.com/office/drawing/2014/main" id="{9FA20E50-6C1B-D4A1-0215-A3CCA38286E3}"/>
              </a:ext>
            </a:extLst>
          </p:cNvPr>
          <p:cNvSpPr txBox="1">
            <a:spLocks/>
          </p:cNvSpPr>
          <p:nvPr/>
        </p:nvSpPr>
        <p:spPr>
          <a:xfrm>
            <a:off x="847748" y="713311"/>
            <a:ext cx="7543800" cy="145075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电势梯度</a:t>
            </a:r>
          </a:p>
        </p:txBody>
      </p:sp>
    </p:spTree>
    <p:extLst>
      <p:ext uri="{BB962C8B-B14F-4D97-AF65-F5344CB8AC3E}">
        <p14:creationId xmlns:p14="http://schemas.microsoft.com/office/powerpoint/2010/main" val="265010277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P spid="3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2E73EAA-8C24-4B4E-BD1D-8C8D07746C62}"/>
              </a:ext>
            </a:extLst>
          </p:cNvPr>
          <p:cNvSpPr txBox="1"/>
          <p:nvPr/>
        </p:nvSpPr>
        <p:spPr>
          <a:xfrm>
            <a:off x="1409148" y="371061"/>
            <a:ext cx="923235" cy="523220"/>
          </a:xfrm>
          <a:prstGeom prst="rect">
            <a:avLst/>
          </a:prstGeom>
          <a:noFill/>
        </p:spPr>
        <p:txBody>
          <a:bodyPr wrap="square" rtlCol="0">
            <a:spAutoFit/>
          </a:bodyPr>
          <a:lstStyle/>
          <a:p>
            <a:r>
              <a:rPr lang="zh-CN" altLang="en-US" sz="2800" b="1" dirty="0">
                <a:solidFill>
                  <a:srgbClr val="0066FF"/>
                </a:solidFill>
                <a:latin typeface="华文楷体" panose="02010600040101010101" pitchFamily="2" charset="-122"/>
                <a:ea typeface="华文楷体" panose="02010600040101010101" pitchFamily="2" charset="-122"/>
              </a:rPr>
              <a:t>梯度 </a:t>
            </a:r>
            <a:endParaRPr lang="en-US" sz="2800" b="1" dirty="0">
              <a:solidFill>
                <a:srgbClr val="0066FF"/>
              </a:solidFill>
              <a:latin typeface="华文楷体" panose="02010600040101010101" pitchFamily="2" charset="-122"/>
              <a:ea typeface="华文楷体" panose="02010600040101010101" pitchFamily="2" charset="-122"/>
            </a:endParaRPr>
          </a:p>
        </p:txBody>
      </p:sp>
      <p:sp>
        <p:nvSpPr>
          <p:cNvPr id="3" name="文本框 2">
            <a:extLst>
              <a:ext uri="{FF2B5EF4-FFF2-40B4-BE49-F238E27FC236}">
                <a16:creationId xmlns:a16="http://schemas.microsoft.com/office/drawing/2014/main" id="{89790F42-A868-4B01-8BA7-51E173908B26}"/>
              </a:ext>
            </a:extLst>
          </p:cNvPr>
          <p:cNvSpPr txBox="1"/>
          <p:nvPr/>
        </p:nvSpPr>
        <p:spPr>
          <a:xfrm>
            <a:off x="5680765" y="371061"/>
            <a:ext cx="923235" cy="523220"/>
          </a:xfrm>
          <a:prstGeom prst="rect">
            <a:avLst/>
          </a:prstGeom>
          <a:noFill/>
        </p:spPr>
        <p:txBody>
          <a:bodyPr wrap="square" rtlCol="0">
            <a:spAutoFit/>
          </a:bodyPr>
          <a:lstStyle/>
          <a:p>
            <a:r>
              <a:rPr lang="zh-CN" altLang="en-US" sz="2800" b="1" dirty="0">
                <a:solidFill>
                  <a:srgbClr val="0066FF"/>
                </a:solidFill>
                <a:latin typeface="华文楷体" panose="02010600040101010101" pitchFamily="2" charset="-122"/>
                <a:ea typeface="华文楷体" panose="02010600040101010101" pitchFamily="2" charset="-122"/>
              </a:rPr>
              <a:t>散度</a:t>
            </a:r>
            <a:endParaRPr lang="en-US" sz="2800" b="1" dirty="0">
              <a:solidFill>
                <a:srgbClr val="0066FF"/>
              </a:solidFill>
              <a:latin typeface="华文楷体" panose="02010600040101010101" pitchFamily="2" charset="-122"/>
              <a:ea typeface="华文楷体" panose="02010600040101010101" pitchFamily="2" charset="-122"/>
            </a:endParaRPr>
          </a:p>
        </p:txBody>
      </p:sp>
      <p:sp>
        <p:nvSpPr>
          <p:cNvPr id="4" name="文本框 3">
            <a:extLst>
              <a:ext uri="{FF2B5EF4-FFF2-40B4-BE49-F238E27FC236}">
                <a16:creationId xmlns:a16="http://schemas.microsoft.com/office/drawing/2014/main" id="{A14C3419-2998-4084-A655-E475AFFA7962}"/>
              </a:ext>
            </a:extLst>
          </p:cNvPr>
          <p:cNvSpPr txBox="1"/>
          <p:nvPr/>
        </p:nvSpPr>
        <p:spPr>
          <a:xfrm>
            <a:off x="9409044" y="371061"/>
            <a:ext cx="923235" cy="523220"/>
          </a:xfrm>
          <a:prstGeom prst="rect">
            <a:avLst/>
          </a:prstGeom>
          <a:noFill/>
        </p:spPr>
        <p:txBody>
          <a:bodyPr wrap="square" rtlCol="0">
            <a:spAutoFit/>
          </a:bodyPr>
          <a:lstStyle/>
          <a:p>
            <a:r>
              <a:rPr lang="zh-CN" altLang="en-US" sz="2800" b="1" dirty="0">
                <a:solidFill>
                  <a:srgbClr val="0066FF"/>
                </a:solidFill>
                <a:latin typeface="华文楷体" panose="02010600040101010101" pitchFamily="2" charset="-122"/>
                <a:ea typeface="华文楷体" panose="02010600040101010101" pitchFamily="2" charset="-122"/>
              </a:rPr>
              <a:t>旋度</a:t>
            </a:r>
            <a:endParaRPr lang="en-US" sz="2800" b="1" dirty="0">
              <a:solidFill>
                <a:srgbClr val="0066FF"/>
              </a:solidFill>
              <a:latin typeface="华文楷体" panose="02010600040101010101" pitchFamily="2" charset="-122"/>
              <a:ea typeface="华文楷体" panose="02010600040101010101" pitchFamily="2" charset="-122"/>
            </a:endParaRPr>
          </a:p>
        </p:txBody>
      </p:sp>
      <p:pic>
        <p:nvPicPr>
          <p:cNvPr id="1026" name="Picture 2" descr="大自然的景觀--云南元陽梯田- 设计之家">
            <a:extLst>
              <a:ext uri="{FF2B5EF4-FFF2-40B4-BE49-F238E27FC236}">
                <a16:creationId xmlns:a16="http://schemas.microsoft.com/office/drawing/2014/main" id="{47EC1362-4EBE-49EC-9ACE-3C2B40ACCC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291" y="1249821"/>
            <a:ext cx="3294822" cy="240039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函数的梯度，山的梯度，梯田，等高线_creator123123的博客-CSDN博客">
            <a:extLst>
              <a:ext uri="{FF2B5EF4-FFF2-40B4-BE49-F238E27FC236}">
                <a16:creationId xmlns:a16="http://schemas.microsoft.com/office/drawing/2014/main" id="{23D6DCB3-0E08-4D25-9E10-16570493FB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742" y="3944940"/>
            <a:ext cx="3417920" cy="195669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平均每年发生1239次龙卷风为啥这个国家的这3个月最危险_财经热门">
            <a:extLst>
              <a:ext uri="{FF2B5EF4-FFF2-40B4-BE49-F238E27FC236}">
                <a16:creationId xmlns:a16="http://schemas.microsoft.com/office/drawing/2014/main" id="{C0A3CDE7-6750-4885-B88E-D5E6E5A4D8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05166" y="913781"/>
            <a:ext cx="2353994" cy="316107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ttps://pic2.zhimg.com/80/v2-98e263a0c50464437c12ffcf83836695_1440w.jpg">
            <a:extLst>
              <a:ext uri="{FF2B5EF4-FFF2-40B4-BE49-F238E27FC236}">
                <a16:creationId xmlns:a16="http://schemas.microsoft.com/office/drawing/2014/main" id="{582F44B2-F5C8-4F58-AAEA-A9C729C7262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39567" y="4200671"/>
            <a:ext cx="3971691" cy="2066003"/>
          </a:xfrm>
          <a:prstGeom prst="rect">
            <a:avLst/>
          </a:prstGeom>
          <a:noFill/>
          <a:extLst>
            <a:ext uri="{909E8E84-426E-40DD-AFC4-6F175D3DCCD1}">
              <a14:hiddenFill xmlns:a14="http://schemas.microsoft.com/office/drawing/2010/main">
                <a:solidFill>
                  <a:srgbClr val="FFFFFF"/>
                </a:solidFill>
              </a14:hiddenFill>
            </a:ext>
          </a:extLst>
        </p:spPr>
      </p:pic>
      <p:sp>
        <p:nvSpPr>
          <p:cNvPr id="14" name="Oval 17">
            <a:extLst>
              <a:ext uri="{FF2B5EF4-FFF2-40B4-BE49-F238E27FC236}">
                <a16:creationId xmlns:a16="http://schemas.microsoft.com/office/drawing/2014/main" id="{3380AAFC-85B2-4DEE-BEFC-C50B35629F27}"/>
              </a:ext>
            </a:extLst>
          </p:cNvPr>
          <p:cNvSpPr>
            <a:spLocks noChangeArrowheads="1"/>
          </p:cNvSpPr>
          <p:nvPr/>
        </p:nvSpPr>
        <p:spPr bwMode="auto">
          <a:xfrm>
            <a:off x="4944111" y="1722317"/>
            <a:ext cx="2271928" cy="2193240"/>
          </a:xfrm>
          <a:prstGeom prst="ellipse">
            <a:avLst/>
          </a:prstGeom>
          <a:noFill/>
          <a:ln w="31750">
            <a:solidFill>
              <a:srgbClr val="CC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p>
        </p:txBody>
      </p:sp>
      <p:grpSp>
        <p:nvGrpSpPr>
          <p:cNvPr id="15" name="组合 14">
            <a:extLst>
              <a:ext uri="{FF2B5EF4-FFF2-40B4-BE49-F238E27FC236}">
                <a16:creationId xmlns:a16="http://schemas.microsoft.com/office/drawing/2014/main" id="{51CD966D-1631-4F43-9A08-CD39F1F88688}"/>
              </a:ext>
            </a:extLst>
          </p:cNvPr>
          <p:cNvGrpSpPr/>
          <p:nvPr/>
        </p:nvGrpSpPr>
        <p:grpSpPr>
          <a:xfrm>
            <a:off x="4465982" y="1001617"/>
            <a:ext cx="3352800" cy="3505200"/>
            <a:chOff x="8453965" y="1615281"/>
            <a:chExt cx="3352800" cy="3505200"/>
          </a:xfrm>
        </p:grpSpPr>
        <p:grpSp>
          <p:nvGrpSpPr>
            <p:cNvPr id="16" name="Group 4">
              <a:extLst>
                <a:ext uri="{FF2B5EF4-FFF2-40B4-BE49-F238E27FC236}">
                  <a16:creationId xmlns:a16="http://schemas.microsoft.com/office/drawing/2014/main" id="{6BA0B29B-65C9-46BE-846C-6680D0C7AC83}"/>
                </a:ext>
              </a:extLst>
            </p:cNvPr>
            <p:cNvGrpSpPr>
              <a:grpSpLocks/>
            </p:cNvGrpSpPr>
            <p:nvPr/>
          </p:nvGrpSpPr>
          <p:grpSpPr bwMode="auto">
            <a:xfrm>
              <a:off x="8453965" y="1615281"/>
              <a:ext cx="3352800" cy="3505200"/>
              <a:chOff x="1704" y="1537"/>
              <a:chExt cx="2448" cy="2448"/>
            </a:xfrm>
          </p:grpSpPr>
          <p:sp>
            <p:nvSpPr>
              <p:cNvPr id="19" name="Line 5">
                <a:extLst>
                  <a:ext uri="{FF2B5EF4-FFF2-40B4-BE49-F238E27FC236}">
                    <a16:creationId xmlns:a16="http://schemas.microsoft.com/office/drawing/2014/main" id="{7097A8B7-9AA4-4A0B-B69B-C9853F9146B3}"/>
                  </a:ext>
                </a:extLst>
              </p:cNvPr>
              <p:cNvSpPr>
                <a:spLocks noChangeShapeType="1"/>
              </p:cNvSpPr>
              <p:nvPr/>
            </p:nvSpPr>
            <p:spPr bwMode="auto">
              <a:xfrm flipH="1">
                <a:off x="1704" y="2808"/>
                <a:ext cx="2448" cy="0"/>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0" name="Line 6">
                <a:extLst>
                  <a:ext uri="{FF2B5EF4-FFF2-40B4-BE49-F238E27FC236}">
                    <a16:creationId xmlns:a16="http://schemas.microsoft.com/office/drawing/2014/main" id="{C51361E9-0C47-4860-A5D9-4C56E2C0FA76}"/>
                  </a:ext>
                </a:extLst>
              </p:cNvPr>
              <p:cNvSpPr>
                <a:spLocks noChangeShapeType="1"/>
              </p:cNvSpPr>
              <p:nvPr/>
            </p:nvSpPr>
            <p:spPr bwMode="auto">
              <a:xfrm flipH="1" flipV="1">
                <a:off x="1745" y="2349"/>
                <a:ext cx="2270" cy="918"/>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1" name="Line 7">
                <a:extLst>
                  <a:ext uri="{FF2B5EF4-FFF2-40B4-BE49-F238E27FC236}">
                    <a16:creationId xmlns:a16="http://schemas.microsoft.com/office/drawing/2014/main" id="{69BCE1EB-2089-48C0-A8BC-14573F60910C}"/>
                  </a:ext>
                </a:extLst>
              </p:cNvPr>
              <p:cNvSpPr>
                <a:spLocks noChangeShapeType="1"/>
              </p:cNvSpPr>
              <p:nvPr/>
            </p:nvSpPr>
            <p:spPr bwMode="auto">
              <a:xfrm flipH="1" flipV="1">
                <a:off x="2000" y="1959"/>
                <a:ext cx="1792" cy="1689"/>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2" name="Line 8">
                <a:extLst>
                  <a:ext uri="{FF2B5EF4-FFF2-40B4-BE49-F238E27FC236}">
                    <a16:creationId xmlns:a16="http://schemas.microsoft.com/office/drawing/2014/main" id="{8BCE599C-FF96-4509-9C9A-3675E98D1C21}"/>
                  </a:ext>
                </a:extLst>
              </p:cNvPr>
              <p:cNvSpPr>
                <a:spLocks noChangeShapeType="1"/>
              </p:cNvSpPr>
              <p:nvPr/>
            </p:nvSpPr>
            <p:spPr bwMode="auto">
              <a:xfrm flipH="1">
                <a:off x="2430" y="1653"/>
                <a:ext cx="968" cy="2225"/>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3" name="Line 9">
                <a:extLst>
                  <a:ext uri="{FF2B5EF4-FFF2-40B4-BE49-F238E27FC236}">
                    <a16:creationId xmlns:a16="http://schemas.microsoft.com/office/drawing/2014/main" id="{9093DBA9-69AD-4C42-917F-5996F203C240}"/>
                  </a:ext>
                </a:extLst>
              </p:cNvPr>
              <p:cNvSpPr>
                <a:spLocks noChangeShapeType="1"/>
              </p:cNvSpPr>
              <p:nvPr/>
            </p:nvSpPr>
            <p:spPr bwMode="auto">
              <a:xfrm flipH="1">
                <a:off x="1779" y="2390"/>
                <a:ext cx="2300" cy="836"/>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4" name="Line 10">
                <a:extLst>
                  <a:ext uri="{FF2B5EF4-FFF2-40B4-BE49-F238E27FC236}">
                    <a16:creationId xmlns:a16="http://schemas.microsoft.com/office/drawing/2014/main" id="{F395C982-1A7F-4B36-872B-E21D1F9EFEB1}"/>
                  </a:ext>
                </a:extLst>
              </p:cNvPr>
              <p:cNvSpPr>
                <a:spLocks noChangeShapeType="1"/>
              </p:cNvSpPr>
              <p:nvPr/>
            </p:nvSpPr>
            <p:spPr bwMode="auto">
              <a:xfrm flipV="1">
                <a:off x="2048" y="1910"/>
                <a:ext cx="1762" cy="1700"/>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5" name="Line 11">
                <a:extLst>
                  <a:ext uri="{FF2B5EF4-FFF2-40B4-BE49-F238E27FC236}">
                    <a16:creationId xmlns:a16="http://schemas.microsoft.com/office/drawing/2014/main" id="{44444918-7F66-48AE-92E1-8A663996CF57}"/>
                  </a:ext>
                </a:extLst>
              </p:cNvPr>
              <p:cNvSpPr>
                <a:spLocks noChangeShapeType="1"/>
              </p:cNvSpPr>
              <p:nvPr/>
            </p:nvSpPr>
            <p:spPr bwMode="auto">
              <a:xfrm flipV="1">
                <a:off x="2880" y="1537"/>
                <a:ext cx="0" cy="2448"/>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6" name="Line 12">
                <a:extLst>
                  <a:ext uri="{FF2B5EF4-FFF2-40B4-BE49-F238E27FC236}">
                    <a16:creationId xmlns:a16="http://schemas.microsoft.com/office/drawing/2014/main" id="{8EE761E5-82B0-4600-B3E8-3615AECED269}"/>
                  </a:ext>
                </a:extLst>
              </p:cNvPr>
              <p:cNvSpPr>
                <a:spLocks noChangeShapeType="1"/>
              </p:cNvSpPr>
              <p:nvPr/>
            </p:nvSpPr>
            <p:spPr bwMode="auto">
              <a:xfrm flipH="1" flipV="1">
                <a:off x="2383" y="1642"/>
                <a:ext cx="996" cy="2236"/>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17" name="Oval 13">
              <a:extLst>
                <a:ext uri="{FF2B5EF4-FFF2-40B4-BE49-F238E27FC236}">
                  <a16:creationId xmlns:a16="http://schemas.microsoft.com/office/drawing/2014/main" id="{77FBA988-2508-4FA8-8485-CD8D06DB54C0}"/>
                </a:ext>
              </a:extLst>
            </p:cNvPr>
            <p:cNvSpPr>
              <a:spLocks noChangeArrowheads="1"/>
            </p:cNvSpPr>
            <p:nvPr/>
          </p:nvSpPr>
          <p:spPr bwMode="auto">
            <a:xfrm>
              <a:off x="9909702" y="3247231"/>
              <a:ext cx="368300" cy="368300"/>
            </a:xfrm>
            <a:prstGeom prst="ellipse">
              <a:avLst/>
            </a:prstGeom>
            <a:gradFill rotWithShape="0">
              <a:gsLst>
                <a:gs pos="0">
                  <a:srgbClr val="FF3300"/>
                </a:gs>
                <a:gs pos="100000">
                  <a:srgbClr val="490F00"/>
                </a:gs>
              </a:gsLst>
              <a:path path="shape">
                <a:fillToRect l="50000" t="50000" r="50000" b="50000"/>
              </a:path>
            </a:gradFill>
            <a:ln>
              <a:noFill/>
            </a:ln>
            <a:effectLst/>
            <a:extLst>
              <a:ext uri="{91240B29-F687-4F45-9708-019B960494DF}">
                <a14:hiddenLine xmlns:a14="http://schemas.microsoft.com/office/drawing/2010/main" w="31750">
                  <a:solidFill>
                    <a:srgbClr val="FF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400"/>
            </a:p>
          </p:txBody>
        </p:sp>
      </p:grpSp>
      <p:grpSp>
        <p:nvGrpSpPr>
          <p:cNvPr id="5" name="组合 4">
            <a:extLst>
              <a:ext uri="{FF2B5EF4-FFF2-40B4-BE49-F238E27FC236}">
                <a16:creationId xmlns:a16="http://schemas.microsoft.com/office/drawing/2014/main" id="{1700DAFE-CFE6-D6D1-5DB8-019325A92B01}"/>
              </a:ext>
            </a:extLst>
          </p:cNvPr>
          <p:cNvGrpSpPr/>
          <p:nvPr/>
        </p:nvGrpSpPr>
        <p:grpSpPr>
          <a:xfrm rot="701659">
            <a:off x="4465981" y="1008059"/>
            <a:ext cx="3352800" cy="3505200"/>
            <a:chOff x="8453965" y="1615281"/>
            <a:chExt cx="3352800" cy="3505200"/>
          </a:xfrm>
        </p:grpSpPr>
        <p:grpSp>
          <p:nvGrpSpPr>
            <p:cNvPr id="6" name="Group 4">
              <a:extLst>
                <a:ext uri="{FF2B5EF4-FFF2-40B4-BE49-F238E27FC236}">
                  <a16:creationId xmlns:a16="http://schemas.microsoft.com/office/drawing/2014/main" id="{72C46B23-7388-2DC2-9260-2B259CA75AD0}"/>
                </a:ext>
              </a:extLst>
            </p:cNvPr>
            <p:cNvGrpSpPr>
              <a:grpSpLocks/>
            </p:cNvGrpSpPr>
            <p:nvPr/>
          </p:nvGrpSpPr>
          <p:grpSpPr bwMode="auto">
            <a:xfrm>
              <a:off x="8453965" y="1615281"/>
              <a:ext cx="3352800" cy="3505200"/>
              <a:chOff x="1704" y="1537"/>
              <a:chExt cx="2448" cy="2448"/>
            </a:xfrm>
          </p:grpSpPr>
          <p:sp>
            <p:nvSpPr>
              <p:cNvPr id="8" name="Line 5">
                <a:extLst>
                  <a:ext uri="{FF2B5EF4-FFF2-40B4-BE49-F238E27FC236}">
                    <a16:creationId xmlns:a16="http://schemas.microsoft.com/office/drawing/2014/main" id="{EBDA93DD-CC1F-C915-022F-870BB2C578A0}"/>
                  </a:ext>
                </a:extLst>
              </p:cNvPr>
              <p:cNvSpPr>
                <a:spLocks noChangeShapeType="1"/>
              </p:cNvSpPr>
              <p:nvPr/>
            </p:nvSpPr>
            <p:spPr bwMode="auto">
              <a:xfrm flipH="1">
                <a:off x="1704" y="2808"/>
                <a:ext cx="2448" cy="0"/>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9" name="Line 6">
                <a:extLst>
                  <a:ext uri="{FF2B5EF4-FFF2-40B4-BE49-F238E27FC236}">
                    <a16:creationId xmlns:a16="http://schemas.microsoft.com/office/drawing/2014/main" id="{64006883-5221-1ABD-8F6D-0AE4394C5C24}"/>
                  </a:ext>
                </a:extLst>
              </p:cNvPr>
              <p:cNvSpPr>
                <a:spLocks noChangeShapeType="1"/>
              </p:cNvSpPr>
              <p:nvPr/>
            </p:nvSpPr>
            <p:spPr bwMode="auto">
              <a:xfrm flipH="1" flipV="1">
                <a:off x="1745" y="2349"/>
                <a:ext cx="2270" cy="918"/>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0" name="Line 7">
                <a:extLst>
                  <a:ext uri="{FF2B5EF4-FFF2-40B4-BE49-F238E27FC236}">
                    <a16:creationId xmlns:a16="http://schemas.microsoft.com/office/drawing/2014/main" id="{46011BD5-3BB4-953D-CA17-BD21F5446ED1}"/>
                  </a:ext>
                </a:extLst>
              </p:cNvPr>
              <p:cNvSpPr>
                <a:spLocks noChangeShapeType="1"/>
              </p:cNvSpPr>
              <p:nvPr/>
            </p:nvSpPr>
            <p:spPr bwMode="auto">
              <a:xfrm flipH="1" flipV="1">
                <a:off x="2000" y="1959"/>
                <a:ext cx="1792" cy="1689"/>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8" name="Line 8">
                <a:extLst>
                  <a:ext uri="{FF2B5EF4-FFF2-40B4-BE49-F238E27FC236}">
                    <a16:creationId xmlns:a16="http://schemas.microsoft.com/office/drawing/2014/main" id="{3AB9F9EB-BF29-FC2B-25BA-F49115C1CBCA}"/>
                  </a:ext>
                </a:extLst>
              </p:cNvPr>
              <p:cNvSpPr>
                <a:spLocks noChangeShapeType="1"/>
              </p:cNvSpPr>
              <p:nvPr/>
            </p:nvSpPr>
            <p:spPr bwMode="auto">
              <a:xfrm flipH="1">
                <a:off x="2430" y="1653"/>
                <a:ext cx="968" cy="2225"/>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7" name="Line 9">
                <a:extLst>
                  <a:ext uri="{FF2B5EF4-FFF2-40B4-BE49-F238E27FC236}">
                    <a16:creationId xmlns:a16="http://schemas.microsoft.com/office/drawing/2014/main" id="{20EFAE0A-6573-0822-DC41-07AC66BD0192}"/>
                  </a:ext>
                </a:extLst>
              </p:cNvPr>
              <p:cNvSpPr>
                <a:spLocks noChangeShapeType="1"/>
              </p:cNvSpPr>
              <p:nvPr/>
            </p:nvSpPr>
            <p:spPr bwMode="auto">
              <a:xfrm flipH="1">
                <a:off x="1779" y="2390"/>
                <a:ext cx="2300" cy="836"/>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8" name="Line 10">
                <a:extLst>
                  <a:ext uri="{FF2B5EF4-FFF2-40B4-BE49-F238E27FC236}">
                    <a16:creationId xmlns:a16="http://schemas.microsoft.com/office/drawing/2014/main" id="{9A64041F-7B24-2A45-D414-956AE5795AA7}"/>
                  </a:ext>
                </a:extLst>
              </p:cNvPr>
              <p:cNvSpPr>
                <a:spLocks noChangeShapeType="1"/>
              </p:cNvSpPr>
              <p:nvPr/>
            </p:nvSpPr>
            <p:spPr bwMode="auto">
              <a:xfrm flipV="1">
                <a:off x="2048" y="1910"/>
                <a:ext cx="1762" cy="1700"/>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9" name="Line 11">
                <a:extLst>
                  <a:ext uri="{FF2B5EF4-FFF2-40B4-BE49-F238E27FC236}">
                    <a16:creationId xmlns:a16="http://schemas.microsoft.com/office/drawing/2014/main" id="{7FCFEA95-1171-A9C0-E3E7-0C5B09711561}"/>
                  </a:ext>
                </a:extLst>
              </p:cNvPr>
              <p:cNvSpPr>
                <a:spLocks noChangeShapeType="1"/>
              </p:cNvSpPr>
              <p:nvPr/>
            </p:nvSpPr>
            <p:spPr bwMode="auto">
              <a:xfrm flipV="1">
                <a:off x="2880" y="1537"/>
                <a:ext cx="0" cy="2448"/>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30" name="Line 12">
                <a:extLst>
                  <a:ext uri="{FF2B5EF4-FFF2-40B4-BE49-F238E27FC236}">
                    <a16:creationId xmlns:a16="http://schemas.microsoft.com/office/drawing/2014/main" id="{4632A70E-949F-3040-7633-11F483E7F762}"/>
                  </a:ext>
                </a:extLst>
              </p:cNvPr>
              <p:cNvSpPr>
                <a:spLocks noChangeShapeType="1"/>
              </p:cNvSpPr>
              <p:nvPr/>
            </p:nvSpPr>
            <p:spPr bwMode="auto">
              <a:xfrm flipH="1" flipV="1">
                <a:off x="2383" y="1642"/>
                <a:ext cx="996" cy="2236"/>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7" name="Oval 13">
              <a:extLst>
                <a:ext uri="{FF2B5EF4-FFF2-40B4-BE49-F238E27FC236}">
                  <a16:creationId xmlns:a16="http://schemas.microsoft.com/office/drawing/2014/main" id="{B5BAF3E3-28BC-36D3-2F29-685EBBECA0B8}"/>
                </a:ext>
              </a:extLst>
            </p:cNvPr>
            <p:cNvSpPr>
              <a:spLocks noChangeArrowheads="1"/>
            </p:cNvSpPr>
            <p:nvPr/>
          </p:nvSpPr>
          <p:spPr bwMode="auto">
            <a:xfrm>
              <a:off x="9909702" y="3247231"/>
              <a:ext cx="368300" cy="368300"/>
            </a:xfrm>
            <a:prstGeom prst="ellipse">
              <a:avLst/>
            </a:prstGeom>
            <a:gradFill rotWithShape="0">
              <a:gsLst>
                <a:gs pos="0">
                  <a:srgbClr val="FF3300"/>
                </a:gs>
                <a:gs pos="100000">
                  <a:srgbClr val="490F00"/>
                </a:gs>
              </a:gsLst>
              <a:path path="shape">
                <a:fillToRect l="50000" t="50000" r="50000" b="50000"/>
              </a:path>
            </a:gradFill>
            <a:ln>
              <a:noFill/>
            </a:ln>
            <a:effectLst/>
            <a:extLst>
              <a:ext uri="{91240B29-F687-4F45-9708-019B960494DF}">
                <a14:hiddenLine xmlns:a14="http://schemas.microsoft.com/office/drawing/2010/main" w="31750">
                  <a:solidFill>
                    <a:srgbClr val="FF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400"/>
            </a:p>
          </p:txBody>
        </p:sp>
      </p:grpSp>
      <p:pic>
        <p:nvPicPr>
          <p:cNvPr id="32" name="图片 31">
            <a:extLst>
              <a:ext uri="{FF2B5EF4-FFF2-40B4-BE49-F238E27FC236}">
                <a16:creationId xmlns:a16="http://schemas.microsoft.com/office/drawing/2014/main" id="{3AF38C22-BE82-B1FD-A4F3-8035818BD493}"/>
              </a:ext>
            </a:extLst>
          </p:cNvPr>
          <p:cNvPicPr>
            <a:picLocks noChangeAspect="1"/>
          </p:cNvPicPr>
          <p:nvPr/>
        </p:nvPicPr>
        <p:blipFill>
          <a:blip r:embed="rId6"/>
          <a:stretch>
            <a:fillRect/>
          </a:stretch>
        </p:blipFill>
        <p:spPr>
          <a:xfrm>
            <a:off x="4783937" y="4826967"/>
            <a:ext cx="2070354" cy="1207070"/>
          </a:xfrm>
          <a:prstGeom prst="rect">
            <a:avLst/>
          </a:prstGeom>
        </p:spPr>
      </p:pic>
      <p:pic>
        <p:nvPicPr>
          <p:cNvPr id="34" name="图片 33">
            <a:extLst>
              <a:ext uri="{FF2B5EF4-FFF2-40B4-BE49-F238E27FC236}">
                <a16:creationId xmlns:a16="http://schemas.microsoft.com/office/drawing/2014/main" id="{95EAB143-111C-1FC3-04AD-BCF51B810EA2}"/>
              </a:ext>
            </a:extLst>
          </p:cNvPr>
          <p:cNvPicPr>
            <a:picLocks noChangeAspect="1"/>
          </p:cNvPicPr>
          <p:nvPr/>
        </p:nvPicPr>
        <p:blipFill>
          <a:blip r:embed="rId7"/>
          <a:stretch>
            <a:fillRect/>
          </a:stretch>
        </p:blipFill>
        <p:spPr>
          <a:xfrm>
            <a:off x="7409996" y="5687562"/>
            <a:ext cx="2414439" cy="1050913"/>
          </a:xfrm>
          <a:prstGeom prst="rect">
            <a:avLst/>
          </a:prstGeom>
        </p:spPr>
      </p:pic>
    </p:spTree>
    <p:extLst>
      <p:ext uri="{BB962C8B-B14F-4D97-AF65-F5344CB8AC3E}">
        <p14:creationId xmlns:p14="http://schemas.microsoft.com/office/powerpoint/2010/main" val="104260191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42"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barn(outHorizontal)">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03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03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F3DACC1-F391-4B26-B7BF-C6A7568DB824}"/>
              </a:ext>
            </a:extLst>
          </p:cNvPr>
          <p:cNvSpPr txBox="1"/>
          <p:nvPr>
            <p:custDataLst>
              <p:tags r:id="rId2"/>
            </p:custDataLst>
          </p:nvPr>
        </p:nvSpPr>
        <p:spPr>
          <a:xfrm>
            <a:off x="2438400" y="635001"/>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根据场强与电势梯度的关系可知，下列说法中正确的是（      ）</a:t>
            </a:r>
          </a:p>
        </p:txBody>
      </p:sp>
      <p:sp>
        <p:nvSpPr>
          <p:cNvPr id="5" name="文本框 4">
            <a:extLst>
              <a:ext uri="{FF2B5EF4-FFF2-40B4-BE49-F238E27FC236}">
                <a16:creationId xmlns:a16="http://schemas.microsoft.com/office/drawing/2014/main" id="{14867010-6D16-4164-8514-12B30578E09E}"/>
              </a:ext>
            </a:extLst>
          </p:cNvPr>
          <p:cNvSpPr txBox="1"/>
          <p:nvPr>
            <p:custDataLst>
              <p:tags r:id="rId3"/>
            </p:custDataLst>
          </p:nvPr>
        </p:nvSpPr>
        <p:spPr>
          <a:xfrm>
            <a:off x="3452813" y="2371284"/>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在均匀电场中各点电势必相等</a:t>
            </a:r>
          </a:p>
        </p:txBody>
      </p:sp>
      <p:sp>
        <p:nvSpPr>
          <p:cNvPr id="6" name="文本框 5">
            <a:extLst>
              <a:ext uri="{FF2B5EF4-FFF2-40B4-BE49-F238E27FC236}">
                <a16:creationId xmlns:a16="http://schemas.microsoft.com/office/drawing/2014/main" id="{3CEBDBF6-F4CD-4987-9D24-4CEEB47EBFC7}"/>
              </a:ext>
            </a:extLst>
          </p:cNvPr>
          <p:cNvSpPr txBox="1"/>
          <p:nvPr>
            <p:custDataLst>
              <p:tags r:id="rId4"/>
            </p:custDataLst>
          </p:nvPr>
        </p:nvSpPr>
        <p:spPr>
          <a:xfrm>
            <a:off x="3452813" y="3057084"/>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电势为零处，场强必为零</a:t>
            </a:r>
          </a:p>
        </p:txBody>
      </p:sp>
      <p:sp>
        <p:nvSpPr>
          <p:cNvPr id="7" name="文本框 6">
            <a:extLst>
              <a:ext uri="{FF2B5EF4-FFF2-40B4-BE49-F238E27FC236}">
                <a16:creationId xmlns:a16="http://schemas.microsoft.com/office/drawing/2014/main" id="{3FAB8BE2-0B98-40D4-B1AC-8F038B6DA151}"/>
              </a:ext>
            </a:extLst>
          </p:cNvPr>
          <p:cNvSpPr txBox="1"/>
          <p:nvPr>
            <p:custDataLst>
              <p:tags r:id="rId5"/>
            </p:custDataLst>
          </p:nvPr>
        </p:nvSpPr>
        <p:spPr>
          <a:xfrm>
            <a:off x="3452813" y="3742884"/>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电场越强处，电势越高</a:t>
            </a:r>
          </a:p>
        </p:txBody>
      </p:sp>
      <p:sp>
        <p:nvSpPr>
          <p:cNvPr id="8" name="文本框 7">
            <a:extLst>
              <a:ext uri="{FF2B5EF4-FFF2-40B4-BE49-F238E27FC236}">
                <a16:creationId xmlns:a16="http://schemas.microsoft.com/office/drawing/2014/main" id="{69D3942C-1D28-428E-A9A1-22BBC71AA546}"/>
              </a:ext>
            </a:extLst>
          </p:cNvPr>
          <p:cNvSpPr txBox="1"/>
          <p:nvPr>
            <p:custDataLst>
              <p:tags r:id="rId6"/>
            </p:custDataLst>
          </p:nvPr>
        </p:nvSpPr>
        <p:spPr>
          <a:xfrm>
            <a:off x="3452813" y="4428684"/>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场强为零处，电势必为零</a:t>
            </a:r>
          </a:p>
        </p:txBody>
      </p:sp>
      <p:sp>
        <p:nvSpPr>
          <p:cNvPr id="9" name="椭圆 8">
            <a:extLst>
              <a:ext uri="{FF2B5EF4-FFF2-40B4-BE49-F238E27FC236}">
                <a16:creationId xmlns:a16="http://schemas.microsoft.com/office/drawing/2014/main" id="{548E5CE5-A486-4B1B-96BF-76CB017E8073}"/>
              </a:ext>
            </a:extLst>
          </p:cNvPr>
          <p:cNvSpPr>
            <a:spLocks noChangeAspect="1"/>
          </p:cNvSpPr>
          <p:nvPr>
            <p:custDataLst>
              <p:tags r:id="rId7"/>
            </p:custDataLst>
          </p:nvPr>
        </p:nvSpPr>
        <p:spPr>
          <a:xfrm>
            <a:off x="2738438" y="2435577"/>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DC9C34C9-FCC6-440C-9747-56DCACD56783}"/>
              </a:ext>
            </a:extLst>
          </p:cNvPr>
          <p:cNvSpPr>
            <a:spLocks noChangeAspect="1"/>
          </p:cNvSpPr>
          <p:nvPr>
            <p:custDataLst>
              <p:tags r:id="rId8"/>
            </p:custDataLst>
          </p:nvPr>
        </p:nvSpPr>
        <p:spPr>
          <a:xfrm>
            <a:off x="2738438" y="3121377"/>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9CA3406C-75C2-4ACA-9737-262C7BD4EE53}"/>
              </a:ext>
            </a:extLst>
          </p:cNvPr>
          <p:cNvSpPr>
            <a:spLocks noChangeAspect="1"/>
          </p:cNvSpPr>
          <p:nvPr>
            <p:custDataLst>
              <p:tags r:id="rId9"/>
            </p:custDataLst>
          </p:nvPr>
        </p:nvSpPr>
        <p:spPr>
          <a:xfrm>
            <a:off x="2738438" y="3807177"/>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7B0F10E4-8D32-48F6-8613-7B8D6F125A7C}"/>
              </a:ext>
            </a:extLst>
          </p:cNvPr>
          <p:cNvSpPr>
            <a:spLocks noChangeAspect="1"/>
          </p:cNvSpPr>
          <p:nvPr>
            <p:custDataLst>
              <p:tags r:id="rId10"/>
            </p:custDataLst>
          </p:nvPr>
        </p:nvSpPr>
        <p:spPr>
          <a:xfrm>
            <a:off x="2738438" y="4492977"/>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0087B776-A340-4DA5-BFAE-FFF072FB62D9}"/>
              </a:ext>
            </a:extLst>
          </p:cNvPr>
          <p:cNvSpPr/>
          <p:nvPr>
            <p:custDataLst>
              <p:tags r:id="rId11"/>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0" name="文本框 19">
            <a:extLst>
              <a:ext uri="{FF2B5EF4-FFF2-40B4-BE49-F238E27FC236}">
                <a16:creationId xmlns:a16="http://schemas.microsoft.com/office/drawing/2014/main" id="{B828D63B-91F7-400C-B5EE-7A4D72DB3234}"/>
              </a:ext>
            </a:extLst>
          </p:cNvPr>
          <p:cNvSpPr txBox="1"/>
          <p:nvPr>
            <p:custDataLst>
              <p:tags r:id="rId12"/>
            </p:custDataLst>
          </p:nvPr>
        </p:nvSpPr>
        <p:spPr>
          <a:xfrm>
            <a:off x="3452813" y="5114484"/>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场强处处为零的空间内，电势变化必为零</a:t>
            </a:r>
          </a:p>
        </p:txBody>
      </p:sp>
      <p:sp>
        <p:nvSpPr>
          <p:cNvPr id="21" name="椭圆 20">
            <a:extLst>
              <a:ext uri="{FF2B5EF4-FFF2-40B4-BE49-F238E27FC236}">
                <a16:creationId xmlns:a16="http://schemas.microsoft.com/office/drawing/2014/main" id="{BD7CB166-A3B6-4C3B-8003-6C5347C14532}"/>
              </a:ext>
            </a:extLst>
          </p:cNvPr>
          <p:cNvSpPr>
            <a:spLocks noChangeAspect="1"/>
          </p:cNvSpPr>
          <p:nvPr>
            <p:custDataLst>
              <p:tags r:id="rId13"/>
            </p:custDataLst>
          </p:nvPr>
        </p:nvSpPr>
        <p:spPr>
          <a:xfrm>
            <a:off x="2738438" y="5178777"/>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E</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a:extLst>
              <a:ext uri="{FF2B5EF4-FFF2-40B4-BE49-F238E27FC236}">
                <a16:creationId xmlns:a16="http://schemas.microsoft.com/office/drawing/2014/main" id="{3045B839-B641-4352-8621-B2668AAC576A}"/>
              </a:ext>
            </a:extLst>
          </p:cNvPr>
          <p:cNvGrpSpPr/>
          <p:nvPr>
            <p:custDataLst>
              <p:tags r:id="rId14"/>
            </p:custDataLst>
          </p:nvPr>
        </p:nvGrpSpPr>
        <p:grpSpPr>
          <a:xfrm>
            <a:off x="0" y="0"/>
            <a:ext cx="9144000" cy="635000"/>
            <a:chOff x="-1524000" y="0"/>
            <a:chExt cx="9144000" cy="635000"/>
          </a:xfrm>
        </p:grpSpPr>
        <p:sp>
          <p:nvSpPr>
            <p:cNvPr id="14" name="TitleBackground">
              <a:extLst>
                <a:ext uri="{FF2B5EF4-FFF2-40B4-BE49-F238E27FC236}">
                  <a16:creationId xmlns:a16="http://schemas.microsoft.com/office/drawing/2014/main" id="{3A7E0F7D-7416-4A67-BB0C-F20CE5F82C21}"/>
                </a:ext>
              </a:extLst>
            </p:cNvPr>
            <p:cNvSpPr/>
            <p:nvPr>
              <p:custDataLst>
                <p:tags r:id="rId16"/>
              </p:custDataLst>
            </p:nvPr>
          </p:nvSpPr>
          <p:spPr>
            <a:xfrm>
              <a:off x="-152400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C9EEEFCE-7C31-4896-AEE3-B137DFBB40C3}"/>
                </a:ext>
              </a:extLst>
            </p:cNvPr>
            <p:cNvSpPr/>
            <p:nvPr>
              <p:custDataLst>
                <p:tags r:id="rId17"/>
              </p:custDataLst>
            </p:nvPr>
          </p:nvSpPr>
          <p:spPr>
            <a:xfrm>
              <a:off x="-152400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81DEA8F5-FCF5-4F49-9A4C-C911D5B17361}"/>
                </a:ext>
              </a:extLst>
            </p:cNvPr>
            <p:cNvSpPr txBox="1"/>
            <p:nvPr>
              <p:custDataLst>
                <p:tags r:id="rId18"/>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A98B7B82-B861-4CFE-9778-ABC8C389E98D}"/>
                </a:ext>
              </a:extLst>
            </p:cNvPr>
            <p:cNvSpPr txBox="1"/>
            <p:nvPr>
              <p:custDataLst>
                <p:tags r:id="rId19"/>
              </p:custDataLst>
            </p:nvPr>
          </p:nvSpPr>
          <p:spPr>
            <a:xfrm>
              <a:off x="1969"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a:extLst>
              <a:ext uri="{FF2B5EF4-FFF2-40B4-BE49-F238E27FC236}">
                <a16:creationId xmlns:a16="http://schemas.microsoft.com/office/drawing/2014/main" id="{3FD7A73A-60D9-4F99-AC6D-C2694650C861}"/>
              </a:ext>
            </a:extLst>
          </p:cNvPr>
          <p:cNvPicPr>
            <a:picLocks/>
          </p:cNvPicPr>
          <p:nvPr>
            <p:custDataLst>
              <p:tags r:id="rId15"/>
            </p:custDataLst>
          </p:nvPr>
        </p:nvPicPr>
        <p:blipFill>
          <a:blip r:embed="rId21"/>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533061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4">
            <a:extLst>
              <a:ext uri="{FF2B5EF4-FFF2-40B4-BE49-F238E27FC236}">
                <a16:creationId xmlns:a16="http://schemas.microsoft.com/office/drawing/2014/main" id="{0C845434-E819-441D-9612-A06610FC67C0}"/>
              </a:ext>
            </a:extLst>
          </p:cNvPr>
          <p:cNvGrpSpPr>
            <a:grpSpLocks/>
          </p:cNvGrpSpPr>
          <p:nvPr/>
        </p:nvGrpSpPr>
        <p:grpSpPr bwMode="auto">
          <a:xfrm>
            <a:off x="2006331" y="1252499"/>
            <a:ext cx="7273925" cy="914400"/>
            <a:chOff x="864" y="1248"/>
            <a:chExt cx="3984" cy="576"/>
          </a:xfrm>
        </p:grpSpPr>
        <p:sp>
          <p:nvSpPr>
            <p:cNvPr id="4" name="Text Box 5">
              <a:extLst>
                <a:ext uri="{FF2B5EF4-FFF2-40B4-BE49-F238E27FC236}">
                  <a16:creationId xmlns:a16="http://schemas.microsoft.com/office/drawing/2014/main" id="{8B1CAC1E-46CE-4B97-9AA7-90B17442F540}"/>
                </a:ext>
              </a:extLst>
            </p:cNvPr>
            <p:cNvSpPr txBox="1">
              <a:spLocks noChangeArrowheads="1"/>
            </p:cNvSpPr>
            <p:nvPr/>
          </p:nvSpPr>
          <p:spPr bwMode="auto">
            <a:xfrm>
              <a:off x="864" y="1344"/>
              <a:ext cx="768" cy="330"/>
            </a:xfrm>
            <a:prstGeom prst="rect">
              <a:avLst/>
            </a:prstGeom>
            <a:gradFill rotWithShape="0">
              <a:gsLst>
                <a:gs pos="0">
                  <a:srgbClr val="EBEBEB"/>
                </a:gs>
                <a:gs pos="50000">
                  <a:srgbClr val="FFFFFF"/>
                </a:gs>
                <a:gs pos="100000">
                  <a:srgbClr val="EBEBEB"/>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华文楷体" panose="02010600040101010101" pitchFamily="2" charset="-122"/>
                  <a:ea typeface="华文楷体" panose="02010600040101010101" pitchFamily="2" charset="-122"/>
                </a:rPr>
                <a:t>电 荷</a:t>
              </a:r>
            </a:p>
          </p:txBody>
        </p:sp>
        <p:sp>
          <p:nvSpPr>
            <p:cNvPr id="5" name="AutoShape 6">
              <a:extLst>
                <a:ext uri="{FF2B5EF4-FFF2-40B4-BE49-F238E27FC236}">
                  <a16:creationId xmlns:a16="http://schemas.microsoft.com/office/drawing/2014/main" id="{ED85B904-9912-489E-89C0-ED6E7446CDD4}"/>
                </a:ext>
              </a:extLst>
            </p:cNvPr>
            <p:cNvSpPr>
              <a:spLocks noChangeArrowheads="1"/>
            </p:cNvSpPr>
            <p:nvPr/>
          </p:nvSpPr>
          <p:spPr bwMode="auto">
            <a:xfrm>
              <a:off x="1776" y="1344"/>
              <a:ext cx="576" cy="192"/>
            </a:xfrm>
            <a:prstGeom prst="rightArrow">
              <a:avLst>
                <a:gd name="adj1" fmla="val 50000"/>
                <a:gd name="adj2" fmla="val 75000"/>
              </a:avLst>
            </a:prstGeom>
            <a:gradFill rotWithShape="0">
              <a:gsLst>
                <a:gs pos="0">
                  <a:srgbClr val="A4D6DA"/>
                </a:gs>
                <a:gs pos="50000">
                  <a:srgbClr val="FFFFFF"/>
                </a:gs>
                <a:gs pos="100000">
                  <a:srgbClr val="A4D6DA"/>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6" name="AutoShape 7">
              <a:extLst>
                <a:ext uri="{FF2B5EF4-FFF2-40B4-BE49-F238E27FC236}">
                  <a16:creationId xmlns:a16="http://schemas.microsoft.com/office/drawing/2014/main" id="{8B6046BE-61DE-4639-AC19-E35EDD1813C4}"/>
                </a:ext>
              </a:extLst>
            </p:cNvPr>
            <p:cNvSpPr>
              <a:spLocks noChangeArrowheads="1"/>
            </p:cNvSpPr>
            <p:nvPr/>
          </p:nvSpPr>
          <p:spPr bwMode="auto">
            <a:xfrm>
              <a:off x="1728" y="1536"/>
              <a:ext cx="576" cy="192"/>
            </a:xfrm>
            <a:prstGeom prst="leftArrow">
              <a:avLst>
                <a:gd name="adj1" fmla="val 50000"/>
                <a:gd name="adj2" fmla="val 75000"/>
              </a:avLst>
            </a:prstGeom>
            <a:gradFill rotWithShape="0">
              <a:gsLst>
                <a:gs pos="0">
                  <a:srgbClr val="6464CC"/>
                </a:gs>
                <a:gs pos="50000">
                  <a:srgbClr val="FFFFFF"/>
                </a:gs>
                <a:gs pos="100000">
                  <a:srgbClr val="6464CC"/>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7" name="AutoShape 8">
              <a:extLst>
                <a:ext uri="{FF2B5EF4-FFF2-40B4-BE49-F238E27FC236}">
                  <a16:creationId xmlns:a16="http://schemas.microsoft.com/office/drawing/2014/main" id="{63621ECF-FD44-4D91-913D-7C81E9D20DEB}"/>
                </a:ext>
              </a:extLst>
            </p:cNvPr>
            <p:cNvSpPr>
              <a:spLocks noChangeArrowheads="1"/>
            </p:cNvSpPr>
            <p:nvPr/>
          </p:nvSpPr>
          <p:spPr bwMode="auto">
            <a:xfrm>
              <a:off x="3408" y="1344"/>
              <a:ext cx="576" cy="192"/>
            </a:xfrm>
            <a:prstGeom prst="rightArrow">
              <a:avLst>
                <a:gd name="adj1" fmla="val 50000"/>
                <a:gd name="adj2" fmla="val 75000"/>
              </a:avLst>
            </a:prstGeom>
            <a:gradFill rotWithShape="0">
              <a:gsLst>
                <a:gs pos="0">
                  <a:srgbClr val="A4D6DA"/>
                </a:gs>
                <a:gs pos="50000">
                  <a:srgbClr val="FFFFFF"/>
                </a:gs>
                <a:gs pos="100000">
                  <a:srgbClr val="A4D6DA"/>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8" name="AutoShape 9">
              <a:extLst>
                <a:ext uri="{FF2B5EF4-FFF2-40B4-BE49-F238E27FC236}">
                  <a16:creationId xmlns:a16="http://schemas.microsoft.com/office/drawing/2014/main" id="{082B6339-8004-40CE-8572-1041119C4383}"/>
                </a:ext>
              </a:extLst>
            </p:cNvPr>
            <p:cNvSpPr>
              <a:spLocks noChangeArrowheads="1"/>
            </p:cNvSpPr>
            <p:nvPr/>
          </p:nvSpPr>
          <p:spPr bwMode="auto">
            <a:xfrm>
              <a:off x="3360" y="1536"/>
              <a:ext cx="576" cy="192"/>
            </a:xfrm>
            <a:prstGeom prst="leftArrow">
              <a:avLst>
                <a:gd name="adj1" fmla="val 50000"/>
                <a:gd name="adj2" fmla="val 75000"/>
              </a:avLst>
            </a:prstGeom>
            <a:gradFill rotWithShape="0">
              <a:gsLst>
                <a:gs pos="0">
                  <a:srgbClr val="6464CC"/>
                </a:gs>
                <a:gs pos="50000">
                  <a:srgbClr val="FFFFFF"/>
                </a:gs>
                <a:gs pos="100000">
                  <a:srgbClr val="6464CC"/>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9" name="Oval 10">
              <a:extLst>
                <a:ext uri="{FF2B5EF4-FFF2-40B4-BE49-F238E27FC236}">
                  <a16:creationId xmlns:a16="http://schemas.microsoft.com/office/drawing/2014/main" id="{DD903531-4205-4CFF-887C-DF5A7D3CDE25}"/>
                </a:ext>
              </a:extLst>
            </p:cNvPr>
            <p:cNvSpPr>
              <a:spLocks noChangeArrowheads="1"/>
            </p:cNvSpPr>
            <p:nvPr/>
          </p:nvSpPr>
          <p:spPr bwMode="auto">
            <a:xfrm>
              <a:off x="2448" y="1248"/>
              <a:ext cx="816" cy="576"/>
            </a:xfrm>
            <a:prstGeom prst="ellipse">
              <a:avLst/>
            </a:prstGeom>
            <a:gradFill rotWithShape="0">
              <a:gsLst>
                <a:gs pos="0">
                  <a:srgbClr val="FFCCFF"/>
                </a:gs>
                <a:gs pos="50000">
                  <a:schemeClr val="bg1"/>
                </a:gs>
                <a:gs pos="100000">
                  <a:srgbClr val="FFCCFF"/>
                </a:gs>
              </a:gsLst>
              <a:lin ang="5400000" scaled="1"/>
            </a:grad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sz="2800" dirty="0">
                  <a:solidFill>
                    <a:srgbClr val="BD240F"/>
                  </a:solidFill>
                  <a:latin typeface="华文楷体" panose="02010600040101010101" pitchFamily="2" charset="-122"/>
                  <a:ea typeface="华文楷体" panose="02010600040101010101" pitchFamily="2" charset="-122"/>
                </a:rPr>
                <a:t>电 场</a:t>
              </a:r>
            </a:p>
          </p:txBody>
        </p:sp>
        <p:sp>
          <p:nvSpPr>
            <p:cNvPr id="10" name="Text Box 11">
              <a:extLst>
                <a:ext uri="{FF2B5EF4-FFF2-40B4-BE49-F238E27FC236}">
                  <a16:creationId xmlns:a16="http://schemas.microsoft.com/office/drawing/2014/main" id="{4080ECB3-DEE0-465C-8DB2-4391B2B1F6C2}"/>
                </a:ext>
              </a:extLst>
            </p:cNvPr>
            <p:cNvSpPr txBox="1">
              <a:spLocks noChangeArrowheads="1"/>
            </p:cNvSpPr>
            <p:nvPr/>
          </p:nvSpPr>
          <p:spPr bwMode="auto">
            <a:xfrm>
              <a:off x="4080" y="1344"/>
              <a:ext cx="768" cy="330"/>
            </a:xfrm>
            <a:prstGeom prst="rect">
              <a:avLst/>
            </a:prstGeom>
            <a:gradFill rotWithShape="0">
              <a:gsLst>
                <a:gs pos="0">
                  <a:srgbClr val="EBEBEB"/>
                </a:gs>
                <a:gs pos="50000">
                  <a:srgbClr val="FFFFFF"/>
                </a:gs>
                <a:gs pos="100000">
                  <a:srgbClr val="EBEBEB"/>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华文楷体" panose="02010600040101010101" pitchFamily="2" charset="-122"/>
                  <a:ea typeface="华文楷体" panose="02010600040101010101" pitchFamily="2" charset="-122"/>
                </a:rPr>
                <a:t>电 势</a:t>
              </a:r>
            </a:p>
          </p:txBody>
        </p:sp>
      </p:gr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B975C710-4707-4EEC-AC97-E12F8DC3BE2A}"/>
                  </a:ext>
                </a:extLst>
              </p:cNvPr>
              <p:cNvSpPr/>
              <p:nvPr/>
            </p:nvSpPr>
            <p:spPr>
              <a:xfrm>
                <a:off x="6492237" y="3682095"/>
                <a:ext cx="3398751" cy="5410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600" b="1" i="1" smtClean="0">
                              <a:solidFill>
                                <a:schemeClr val="tx1"/>
                              </a:solidFill>
                              <a:latin typeface="Cambria Math" panose="02040503050406030204" pitchFamily="18" charset="0"/>
                              <a:ea typeface="Cambria Math" panose="02040503050406030204" pitchFamily="18" charset="0"/>
                            </a:rPr>
                          </m:ctrlPr>
                        </m:accPr>
                        <m:e>
                          <m:r>
                            <a:rPr lang="en-US" altLang="zh-CN" sz="2600" b="1" i="1">
                              <a:solidFill>
                                <a:schemeClr val="tx1"/>
                              </a:solidFill>
                              <a:latin typeface="Cambria Math" panose="02040503050406030204" pitchFamily="18" charset="0"/>
                              <a:ea typeface="Cambria Math" panose="02040503050406030204" pitchFamily="18" charset="0"/>
                            </a:rPr>
                            <m:t>𝑬</m:t>
                          </m:r>
                        </m:e>
                      </m:acc>
                      <m:r>
                        <a:rPr lang="en-US" altLang="zh-CN" sz="2600" b="1" i="1">
                          <a:solidFill>
                            <a:schemeClr val="tx1"/>
                          </a:solidFill>
                          <a:latin typeface="Cambria Math" panose="02040503050406030204" pitchFamily="18" charset="0"/>
                          <a:ea typeface="Cambria Math" panose="02040503050406030204" pitchFamily="18" charset="0"/>
                        </a:rPr>
                        <m:t>=−</m:t>
                      </m:r>
                      <m:r>
                        <a:rPr lang="zh-CN" altLang="en-US" sz="2600" b="1" i="1">
                          <a:solidFill>
                            <a:schemeClr val="tx1"/>
                          </a:solidFill>
                          <a:latin typeface="Cambria Math" panose="02040503050406030204" pitchFamily="18" charset="0"/>
                          <a:ea typeface="Cambria Math" panose="02040503050406030204" pitchFamily="18" charset="0"/>
                        </a:rPr>
                        <m:t>𝜵</m:t>
                      </m:r>
                      <m:r>
                        <a:rPr lang="zh-CN" altLang="en-US" sz="2600" b="1" i="1">
                          <a:solidFill>
                            <a:schemeClr val="tx1"/>
                          </a:solidFill>
                          <a:latin typeface="Cambria Math" panose="02040503050406030204" pitchFamily="18" charset="0"/>
                        </a:rPr>
                        <m:t>𝝋</m:t>
                      </m:r>
                      <m:r>
                        <a:rPr lang="en-US" altLang="zh-CN" sz="2600" b="1" i="1">
                          <a:solidFill>
                            <a:schemeClr val="tx1"/>
                          </a:solidFill>
                          <a:latin typeface="Cambria Math" panose="02040503050406030204" pitchFamily="18" charset="0"/>
                          <a:ea typeface="Cambria Math" panose="02040503050406030204" pitchFamily="18" charset="0"/>
                        </a:rPr>
                        <m:t>=−</m:t>
                      </m:r>
                      <m:r>
                        <a:rPr lang="en-US" altLang="zh-CN" sz="2600" b="1" i="1">
                          <a:solidFill>
                            <a:schemeClr val="tx1"/>
                          </a:solidFill>
                          <a:latin typeface="Cambria Math" panose="02040503050406030204" pitchFamily="18" charset="0"/>
                          <a:ea typeface="Cambria Math" panose="02040503050406030204" pitchFamily="18" charset="0"/>
                        </a:rPr>
                        <m:t>𝒈𝒓𝒂𝒅</m:t>
                      </m:r>
                      <m:r>
                        <a:rPr lang="zh-CN" altLang="en-US" sz="2600" b="1" i="1">
                          <a:solidFill>
                            <a:schemeClr val="tx1"/>
                          </a:solidFill>
                          <a:latin typeface="Cambria Math" panose="02040503050406030204" pitchFamily="18" charset="0"/>
                        </a:rPr>
                        <m:t>𝝋</m:t>
                      </m:r>
                    </m:oMath>
                  </m:oMathPara>
                </a14:m>
                <a:endParaRPr lang="en-US" sz="2600" dirty="0">
                  <a:solidFill>
                    <a:schemeClr val="tx1"/>
                  </a:solidFill>
                </a:endParaRPr>
              </a:p>
            </p:txBody>
          </p:sp>
        </mc:Choice>
        <mc:Fallback xmlns="">
          <p:sp>
            <p:nvSpPr>
              <p:cNvPr id="11" name="矩形 10">
                <a:extLst>
                  <a:ext uri="{FF2B5EF4-FFF2-40B4-BE49-F238E27FC236}">
                    <a16:creationId xmlns:a16="http://schemas.microsoft.com/office/drawing/2014/main" id="{B975C710-4707-4EEC-AC97-E12F8DC3BE2A}"/>
                  </a:ext>
                </a:extLst>
              </p:cNvPr>
              <p:cNvSpPr>
                <a:spLocks noRot="1" noChangeAspect="1" noMove="1" noResize="1" noEditPoints="1" noAdjustHandles="1" noChangeArrowheads="1" noChangeShapeType="1" noTextEdit="1"/>
              </p:cNvSpPr>
              <p:nvPr/>
            </p:nvSpPr>
            <p:spPr>
              <a:xfrm>
                <a:off x="6492237" y="3682095"/>
                <a:ext cx="3398751" cy="541046"/>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FC8F297A-0047-41A7-83DD-A277EDD2667D}"/>
                  </a:ext>
                </a:extLst>
              </p:cNvPr>
              <p:cNvSpPr/>
              <p:nvPr/>
            </p:nvSpPr>
            <p:spPr>
              <a:xfrm>
                <a:off x="2366676" y="2382633"/>
                <a:ext cx="3850199" cy="2076338"/>
              </a:xfrm>
              <a:prstGeom prst="rect">
                <a:avLst/>
              </a:prstGeom>
            </p:spPr>
            <p:txBody>
              <a:bodyPr wrap="square">
                <a:spAutoFit/>
              </a:bodyPr>
              <a:lstStyle/>
              <a:p>
                <a:pPr>
                  <a:spcBef>
                    <a:spcPct val="50000"/>
                  </a:spcBef>
                  <a:defRPr/>
                </a:pPr>
                <a14:m>
                  <m:oMathPara xmlns:m="http://schemas.openxmlformats.org/officeDocument/2006/math">
                    <m:oMathParaPr>
                      <m:jc m:val="centerGroup"/>
                    </m:oMathParaPr>
                    <m:oMath xmlns:m="http://schemas.openxmlformats.org/officeDocument/2006/math">
                      <m:acc>
                        <m:accPr>
                          <m:chr m:val="⃗"/>
                          <m:ctrlPr>
                            <a:rPr lang="zh-CN" altLang="en-US" sz="2600" b="1" i="1" smtClean="0">
                              <a:solidFill>
                                <a:schemeClr val="tx1"/>
                              </a:solidFill>
                              <a:latin typeface="Cambria Math" panose="02040503050406030204" pitchFamily="18" charset="0"/>
                            </a:rPr>
                          </m:ctrlPr>
                        </m:accPr>
                        <m:e>
                          <m:r>
                            <a:rPr lang="en-US" altLang="zh-CN" sz="2600" b="1" i="1">
                              <a:solidFill>
                                <a:schemeClr val="tx1"/>
                              </a:solidFill>
                              <a:latin typeface="Cambria Math" panose="02040503050406030204" pitchFamily="18" charset="0"/>
                            </a:rPr>
                            <m:t>𝑬</m:t>
                          </m:r>
                        </m:e>
                      </m:acc>
                      <m:r>
                        <a:rPr lang="en-US" altLang="zh-CN" sz="2600" b="1" i="1">
                          <a:solidFill>
                            <a:schemeClr val="tx1"/>
                          </a:solidFill>
                          <a:latin typeface="Cambria Math" panose="02040503050406030204" pitchFamily="18" charset="0"/>
                        </a:rPr>
                        <m:t>=</m:t>
                      </m:r>
                      <m:f>
                        <m:fPr>
                          <m:ctrlPr>
                            <a:rPr lang="en-US" altLang="zh-CN" sz="2600" b="1" i="1">
                              <a:solidFill>
                                <a:schemeClr val="tx1"/>
                              </a:solidFill>
                              <a:latin typeface="Cambria Math" panose="02040503050406030204" pitchFamily="18" charset="0"/>
                            </a:rPr>
                          </m:ctrlPr>
                        </m:fPr>
                        <m:num>
                          <m:r>
                            <a:rPr lang="en-US" altLang="zh-CN" sz="2600" b="1" i="1">
                              <a:solidFill>
                                <a:schemeClr val="tx1"/>
                              </a:solidFill>
                              <a:latin typeface="Cambria Math" panose="02040503050406030204" pitchFamily="18" charset="0"/>
                            </a:rPr>
                            <m:t>𝟏</m:t>
                          </m:r>
                        </m:num>
                        <m:den>
                          <m:r>
                            <a:rPr lang="en-US" altLang="zh-CN" sz="2600" b="1" i="1">
                              <a:solidFill>
                                <a:schemeClr val="tx1"/>
                              </a:solidFill>
                              <a:latin typeface="Cambria Math" panose="02040503050406030204" pitchFamily="18" charset="0"/>
                            </a:rPr>
                            <m:t>𝟒</m:t>
                          </m:r>
                          <m:r>
                            <a:rPr lang="zh-CN" altLang="en-US" sz="2600" b="1" i="1">
                              <a:solidFill>
                                <a:schemeClr val="tx1"/>
                              </a:solidFill>
                              <a:latin typeface="Cambria Math" panose="02040503050406030204" pitchFamily="18" charset="0"/>
                            </a:rPr>
                            <m:t>𝝅</m:t>
                          </m:r>
                          <m:sSub>
                            <m:sSubPr>
                              <m:ctrlPr>
                                <a:rPr lang="en-US" altLang="zh-CN" sz="2600" b="1" i="1">
                                  <a:solidFill>
                                    <a:schemeClr val="tx1"/>
                                  </a:solidFill>
                                  <a:latin typeface="Cambria Math" panose="02040503050406030204" pitchFamily="18" charset="0"/>
                                </a:rPr>
                              </m:ctrlPr>
                            </m:sSubPr>
                            <m:e>
                              <m:r>
                                <a:rPr lang="zh-CN" altLang="en-US" sz="2600" b="1" i="1">
                                  <a:solidFill>
                                    <a:schemeClr val="tx1"/>
                                  </a:solidFill>
                                  <a:latin typeface="Cambria Math" panose="02040503050406030204" pitchFamily="18" charset="0"/>
                                </a:rPr>
                                <m:t>𝜺</m:t>
                              </m:r>
                            </m:e>
                            <m:sub>
                              <m:r>
                                <a:rPr lang="en-US" altLang="zh-CN" sz="2600" b="1" i="1">
                                  <a:solidFill>
                                    <a:schemeClr val="tx1"/>
                                  </a:solidFill>
                                  <a:latin typeface="Cambria Math" panose="02040503050406030204" pitchFamily="18" charset="0"/>
                                </a:rPr>
                                <m:t>𝟎</m:t>
                              </m:r>
                            </m:sub>
                          </m:sSub>
                        </m:den>
                      </m:f>
                      <m:nary>
                        <m:naryPr>
                          <m:limLoc m:val="undOvr"/>
                          <m:subHide m:val="on"/>
                          <m:supHide m:val="on"/>
                          <m:ctrlPr>
                            <a:rPr lang="en-US" altLang="zh-CN" sz="2600" b="1" i="1">
                              <a:solidFill>
                                <a:schemeClr val="tx1"/>
                              </a:solidFill>
                              <a:latin typeface="Cambria Math" panose="02040503050406030204" pitchFamily="18" charset="0"/>
                            </a:rPr>
                          </m:ctrlPr>
                        </m:naryPr>
                        <m:sub/>
                        <m:sup/>
                        <m:e>
                          <m:f>
                            <m:fPr>
                              <m:ctrlPr>
                                <a:rPr lang="en-US" altLang="zh-CN" sz="2600" b="1" i="1">
                                  <a:solidFill>
                                    <a:schemeClr val="tx1"/>
                                  </a:solidFill>
                                  <a:latin typeface="Cambria Math" panose="02040503050406030204" pitchFamily="18" charset="0"/>
                                </a:rPr>
                              </m:ctrlPr>
                            </m:fPr>
                            <m:num>
                              <m:r>
                                <a:rPr lang="en-US" altLang="zh-CN" sz="2600" b="1" i="1">
                                  <a:solidFill>
                                    <a:schemeClr val="tx1"/>
                                  </a:solidFill>
                                  <a:latin typeface="Cambria Math" panose="02040503050406030204" pitchFamily="18" charset="0"/>
                                </a:rPr>
                                <m:t>𝒅𝒒</m:t>
                              </m:r>
                            </m:num>
                            <m:den>
                              <m:sSup>
                                <m:sSupPr>
                                  <m:ctrlPr>
                                    <a:rPr lang="en-US" altLang="zh-CN" sz="2600" b="1" i="1">
                                      <a:solidFill>
                                        <a:schemeClr val="tx1"/>
                                      </a:solidFill>
                                      <a:latin typeface="Cambria Math" panose="02040503050406030204" pitchFamily="18" charset="0"/>
                                    </a:rPr>
                                  </m:ctrlPr>
                                </m:sSupPr>
                                <m:e>
                                  <m:r>
                                    <a:rPr lang="en-US" altLang="zh-CN" sz="2600" b="1" i="1">
                                      <a:solidFill>
                                        <a:schemeClr val="tx1"/>
                                      </a:solidFill>
                                      <a:latin typeface="Cambria Math" panose="02040503050406030204" pitchFamily="18" charset="0"/>
                                    </a:rPr>
                                    <m:t>𝒓</m:t>
                                  </m:r>
                                </m:e>
                                <m:sup>
                                  <m:r>
                                    <a:rPr lang="en-US" altLang="zh-CN" sz="2600" b="1" i="1">
                                      <a:solidFill>
                                        <a:schemeClr val="tx1"/>
                                      </a:solidFill>
                                      <a:latin typeface="Cambria Math" panose="02040503050406030204" pitchFamily="18" charset="0"/>
                                    </a:rPr>
                                    <m:t>𝟐</m:t>
                                  </m:r>
                                </m:sup>
                              </m:sSup>
                            </m:den>
                          </m:f>
                          <m:sSub>
                            <m:sSubPr>
                              <m:ctrlPr>
                                <a:rPr lang="en-US" altLang="zh-CN" sz="2600" b="1" i="1">
                                  <a:solidFill>
                                    <a:schemeClr val="tx1"/>
                                  </a:solidFill>
                                  <a:latin typeface="Cambria Math" panose="02040503050406030204" pitchFamily="18" charset="0"/>
                                </a:rPr>
                              </m:ctrlPr>
                            </m:sSubPr>
                            <m:e>
                              <m:acc>
                                <m:accPr>
                                  <m:chr m:val="⃗"/>
                                  <m:ctrlPr>
                                    <a:rPr lang="en-US" altLang="zh-CN" sz="2600" b="1" i="1">
                                      <a:solidFill>
                                        <a:schemeClr val="tx1"/>
                                      </a:solidFill>
                                      <a:latin typeface="Cambria Math" panose="02040503050406030204" pitchFamily="18" charset="0"/>
                                    </a:rPr>
                                  </m:ctrlPr>
                                </m:accPr>
                                <m:e>
                                  <m:r>
                                    <a:rPr lang="en-US" altLang="zh-CN" sz="2600" b="1" i="1">
                                      <a:solidFill>
                                        <a:schemeClr val="tx1"/>
                                      </a:solidFill>
                                      <a:latin typeface="Cambria Math" panose="02040503050406030204" pitchFamily="18" charset="0"/>
                                    </a:rPr>
                                    <m:t>𝒆</m:t>
                                  </m:r>
                                </m:e>
                              </m:acc>
                            </m:e>
                            <m:sub>
                              <m:r>
                                <a:rPr lang="en-US" altLang="zh-CN" sz="2600" b="1" i="1">
                                  <a:solidFill>
                                    <a:schemeClr val="tx1"/>
                                  </a:solidFill>
                                  <a:latin typeface="Cambria Math" panose="02040503050406030204" pitchFamily="18" charset="0"/>
                                </a:rPr>
                                <m:t>𝒓</m:t>
                              </m:r>
                            </m:sub>
                          </m:sSub>
                        </m:e>
                      </m:nary>
                    </m:oMath>
                  </m:oMathPara>
                </a14:m>
                <a:endParaRPr lang="zh-CN" altLang="en-US" sz="2600" b="1" kern="0" dirty="0">
                  <a:solidFill>
                    <a:schemeClr val="tx1"/>
                  </a:solidFill>
                </a:endParaRPr>
              </a:p>
              <a:p>
                <a:pPr>
                  <a:spcBef>
                    <a:spcPct val="50000"/>
                  </a:spcBef>
                </a:pPr>
                <a14:m>
                  <m:oMathPara xmlns:m="http://schemas.openxmlformats.org/officeDocument/2006/math">
                    <m:oMathParaPr>
                      <m:jc m:val="centerGroup"/>
                    </m:oMathParaPr>
                    <m:oMath xmlns:m="http://schemas.openxmlformats.org/officeDocument/2006/math">
                      <m:nary>
                        <m:naryPr>
                          <m:chr m:val="∯"/>
                          <m:ctrlPr>
                            <a:rPr lang="en-US" altLang="zh-CN" sz="2600" b="1" i="1">
                              <a:solidFill>
                                <a:schemeClr val="tx1"/>
                              </a:solidFill>
                              <a:latin typeface="Cambria Math" panose="02040503050406030204" pitchFamily="18" charset="0"/>
                              <a:ea typeface="Cambria Math" panose="02040503050406030204" pitchFamily="18" charset="0"/>
                            </a:rPr>
                          </m:ctrlPr>
                        </m:naryPr>
                        <m:sub>
                          <m:r>
                            <m:rPr>
                              <m:brk m:alnAt="23"/>
                            </m:rPr>
                            <a:rPr lang="en-US" altLang="zh-CN" sz="2600" b="1" i="1">
                              <a:solidFill>
                                <a:schemeClr val="tx1"/>
                              </a:solidFill>
                              <a:latin typeface="Cambria Math" panose="02040503050406030204" pitchFamily="18" charset="0"/>
                              <a:ea typeface="Cambria Math" panose="02040503050406030204" pitchFamily="18" charset="0"/>
                            </a:rPr>
                            <m:t>𝑺</m:t>
                          </m:r>
                        </m:sub>
                        <m:sup/>
                        <m:e>
                          <m:acc>
                            <m:accPr>
                              <m:chr m:val="⃗"/>
                              <m:ctrlPr>
                                <a:rPr lang="en-US" altLang="zh-CN" sz="2600" b="1" i="1">
                                  <a:solidFill>
                                    <a:schemeClr val="tx1"/>
                                  </a:solidFill>
                                  <a:latin typeface="Cambria Math" panose="02040503050406030204" pitchFamily="18" charset="0"/>
                                  <a:ea typeface="Cambria Math" panose="02040503050406030204" pitchFamily="18" charset="0"/>
                                </a:rPr>
                              </m:ctrlPr>
                            </m:accPr>
                            <m:e>
                              <m:r>
                                <a:rPr lang="en-US" altLang="zh-CN" sz="2600" b="1" i="1">
                                  <a:solidFill>
                                    <a:schemeClr val="tx1"/>
                                  </a:solidFill>
                                  <a:latin typeface="Cambria Math" panose="02040503050406030204" pitchFamily="18" charset="0"/>
                                  <a:ea typeface="Cambria Math" panose="02040503050406030204" pitchFamily="18" charset="0"/>
                                </a:rPr>
                                <m:t>𝑬</m:t>
                              </m:r>
                            </m:e>
                          </m:acc>
                          <m:r>
                            <a:rPr lang="en-US" altLang="zh-CN" sz="2600" b="1" i="1">
                              <a:solidFill>
                                <a:schemeClr val="tx1"/>
                              </a:solidFill>
                              <a:latin typeface="Cambria Math" panose="02040503050406030204" pitchFamily="18" charset="0"/>
                              <a:ea typeface="Cambria Math" panose="02040503050406030204" pitchFamily="18" charset="0"/>
                            </a:rPr>
                            <m:t>∙</m:t>
                          </m:r>
                          <m:r>
                            <a:rPr lang="en-US" altLang="zh-CN" sz="2600" b="1" i="1">
                              <a:solidFill>
                                <a:schemeClr val="tx1"/>
                              </a:solidFill>
                              <a:latin typeface="Cambria Math" panose="02040503050406030204" pitchFamily="18" charset="0"/>
                              <a:ea typeface="Cambria Math" panose="02040503050406030204" pitchFamily="18" charset="0"/>
                            </a:rPr>
                            <m:t>𝒅</m:t>
                          </m:r>
                          <m:acc>
                            <m:accPr>
                              <m:chr m:val="⃗"/>
                              <m:ctrlPr>
                                <a:rPr lang="en-US" altLang="zh-CN" sz="2600" b="1" i="1">
                                  <a:solidFill>
                                    <a:schemeClr val="tx1"/>
                                  </a:solidFill>
                                  <a:latin typeface="Cambria Math" panose="02040503050406030204" pitchFamily="18" charset="0"/>
                                  <a:ea typeface="Cambria Math" panose="02040503050406030204" pitchFamily="18" charset="0"/>
                                </a:rPr>
                              </m:ctrlPr>
                            </m:accPr>
                            <m:e>
                              <m:r>
                                <a:rPr lang="en-US" altLang="zh-CN" sz="2600" b="1" i="1">
                                  <a:solidFill>
                                    <a:schemeClr val="tx1"/>
                                  </a:solidFill>
                                  <a:latin typeface="Cambria Math" panose="02040503050406030204" pitchFamily="18" charset="0"/>
                                  <a:ea typeface="Cambria Math" panose="02040503050406030204" pitchFamily="18" charset="0"/>
                                </a:rPr>
                                <m:t>𝑺</m:t>
                              </m:r>
                            </m:e>
                          </m:acc>
                        </m:e>
                      </m:nary>
                      <m:r>
                        <a:rPr lang="en-US" altLang="zh-CN" sz="2600" b="1" i="1">
                          <a:solidFill>
                            <a:schemeClr val="tx1"/>
                          </a:solidFill>
                          <a:latin typeface="Cambria Math" panose="02040503050406030204" pitchFamily="18" charset="0"/>
                          <a:ea typeface="Cambria Math" panose="02040503050406030204" pitchFamily="18" charset="0"/>
                        </a:rPr>
                        <m:t>=</m:t>
                      </m:r>
                      <m:f>
                        <m:fPr>
                          <m:ctrlPr>
                            <a:rPr lang="en-US" altLang="zh-CN" sz="2600" b="1" i="1">
                              <a:solidFill>
                                <a:schemeClr val="tx1"/>
                              </a:solidFill>
                              <a:latin typeface="Cambria Math" panose="02040503050406030204" pitchFamily="18" charset="0"/>
                              <a:ea typeface="Cambria Math" panose="02040503050406030204" pitchFamily="18" charset="0"/>
                            </a:rPr>
                          </m:ctrlPr>
                        </m:fPr>
                        <m:num>
                          <m:nary>
                            <m:naryPr>
                              <m:chr m:val="∑"/>
                              <m:subHide m:val="on"/>
                              <m:supHide m:val="on"/>
                              <m:ctrlPr>
                                <a:rPr lang="en-US" altLang="zh-CN" sz="2600" b="1" i="1">
                                  <a:solidFill>
                                    <a:schemeClr val="tx1"/>
                                  </a:solidFill>
                                  <a:latin typeface="Cambria Math" panose="02040503050406030204" pitchFamily="18" charset="0"/>
                                  <a:ea typeface="Cambria Math" panose="02040503050406030204" pitchFamily="18" charset="0"/>
                                </a:rPr>
                              </m:ctrlPr>
                            </m:naryPr>
                            <m:sub/>
                            <m:sup/>
                            <m:e>
                              <m:sSub>
                                <m:sSubPr>
                                  <m:ctrlPr>
                                    <a:rPr lang="en-US" altLang="zh-CN" sz="2600" b="1" i="1">
                                      <a:solidFill>
                                        <a:schemeClr val="tx1"/>
                                      </a:solidFill>
                                      <a:latin typeface="Cambria Math" panose="02040503050406030204" pitchFamily="18" charset="0"/>
                                      <a:ea typeface="Cambria Math" panose="02040503050406030204" pitchFamily="18" charset="0"/>
                                    </a:rPr>
                                  </m:ctrlPr>
                                </m:sSubPr>
                                <m:e>
                                  <m:r>
                                    <a:rPr lang="en-US" altLang="zh-CN" sz="2600" b="1" i="1">
                                      <a:solidFill>
                                        <a:schemeClr val="tx1"/>
                                      </a:solidFill>
                                      <a:latin typeface="Cambria Math" panose="02040503050406030204" pitchFamily="18" charset="0"/>
                                      <a:ea typeface="Cambria Math" panose="02040503050406030204" pitchFamily="18" charset="0"/>
                                    </a:rPr>
                                    <m:t>𝒒</m:t>
                                  </m:r>
                                </m:e>
                                <m:sub>
                                  <m:r>
                                    <a:rPr lang="en-US" altLang="zh-CN" sz="2600" b="1" i="1">
                                      <a:solidFill>
                                        <a:schemeClr val="tx1"/>
                                      </a:solidFill>
                                      <a:latin typeface="Cambria Math" panose="02040503050406030204" pitchFamily="18" charset="0"/>
                                      <a:ea typeface="Cambria Math" panose="02040503050406030204" pitchFamily="18" charset="0"/>
                                    </a:rPr>
                                    <m:t>𝒊</m:t>
                                  </m:r>
                                </m:sub>
                              </m:sSub>
                            </m:e>
                          </m:nary>
                        </m:num>
                        <m:den>
                          <m:sSub>
                            <m:sSubPr>
                              <m:ctrlPr>
                                <a:rPr lang="en-US" altLang="zh-CN" sz="2600" b="1" i="1">
                                  <a:solidFill>
                                    <a:schemeClr val="tx1"/>
                                  </a:solidFill>
                                  <a:latin typeface="Cambria Math" panose="02040503050406030204" pitchFamily="18" charset="0"/>
                                  <a:ea typeface="Cambria Math" panose="02040503050406030204" pitchFamily="18" charset="0"/>
                                </a:rPr>
                              </m:ctrlPr>
                            </m:sSubPr>
                            <m:e>
                              <m:r>
                                <a:rPr lang="zh-CN" altLang="en-US" sz="2600" b="1" i="1">
                                  <a:solidFill>
                                    <a:schemeClr val="tx1"/>
                                  </a:solidFill>
                                  <a:latin typeface="Cambria Math" panose="02040503050406030204" pitchFamily="18" charset="0"/>
                                  <a:ea typeface="Cambria Math" panose="02040503050406030204" pitchFamily="18" charset="0"/>
                                </a:rPr>
                                <m:t>𝜺</m:t>
                              </m:r>
                            </m:e>
                            <m:sub>
                              <m:r>
                                <a:rPr lang="en-US" altLang="zh-CN" sz="2600" b="1" i="1">
                                  <a:solidFill>
                                    <a:schemeClr val="tx1"/>
                                  </a:solidFill>
                                  <a:latin typeface="Cambria Math" panose="02040503050406030204" pitchFamily="18" charset="0"/>
                                  <a:ea typeface="Cambria Math" panose="02040503050406030204" pitchFamily="18" charset="0"/>
                                </a:rPr>
                                <m:t>𝟎</m:t>
                              </m:r>
                            </m:sub>
                          </m:sSub>
                        </m:den>
                      </m:f>
                    </m:oMath>
                  </m:oMathPara>
                </a14:m>
                <a:endParaRPr lang="en-US" sz="2600" dirty="0">
                  <a:solidFill>
                    <a:schemeClr val="tx1"/>
                  </a:solidFill>
                </a:endParaRPr>
              </a:p>
            </p:txBody>
          </p:sp>
        </mc:Choice>
        <mc:Fallback xmlns="">
          <p:sp>
            <p:nvSpPr>
              <p:cNvPr id="12" name="矩形 11">
                <a:extLst>
                  <a:ext uri="{FF2B5EF4-FFF2-40B4-BE49-F238E27FC236}">
                    <a16:creationId xmlns:a16="http://schemas.microsoft.com/office/drawing/2014/main" id="{FC8F297A-0047-41A7-83DD-A277EDD2667D}"/>
                  </a:ext>
                </a:extLst>
              </p:cNvPr>
              <p:cNvSpPr>
                <a:spLocks noRot="1" noChangeAspect="1" noMove="1" noResize="1" noEditPoints="1" noAdjustHandles="1" noChangeArrowheads="1" noChangeShapeType="1" noTextEdit="1"/>
              </p:cNvSpPr>
              <p:nvPr/>
            </p:nvSpPr>
            <p:spPr>
              <a:xfrm>
                <a:off x="2366676" y="2382633"/>
                <a:ext cx="3850199" cy="207633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3F673AC6-B9DD-4415-8D10-57CF565EBCED}"/>
                  </a:ext>
                </a:extLst>
              </p:cNvPr>
              <p:cNvSpPr/>
              <p:nvPr/>
            </p:nvSpPr>
            <p:spPr>
              <a:xfrm>
                <a:off x="6651126" y="2365486"/>
                <a:ext cx="2245808" cy="10067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600" b="1" i="1" smtClean="0">
                          <a:solidFill>
                            <a:schemeClr val="tx1"/>
                          </a:solidFill>
                          <a:latin typeface="Cambria Math" panose="02040503050406030204" pitchFamily="18" charset="0"/>
                        </a:rPr>
                        <m:t>𝝋</m:t>
                      </m:r>
                      <m:r>
                        <a:rPr lang="en-US" altLang="zh-CN" sz="2600" b="1" i="1">
                          <a:solidFill>
                            <a:schemeClr val="tx1"/>
                          </a:solidFill>
                          <a:latin typeface="Cambria Math" panose="02040503050406030204" pitchFamily="18" charset="0"/>
                        </a:rPr>
                        <m:t>=</m:t>
                      </m:r>
                      <m:nary>
                        <m:naryPr>
                          <m:ctrlPr>
                            <a:rPr lang="en-US" altLang="zh-CN" sz="2600" b="1" i="1">
                              <a:solidFill>
                                <a:schemeClr val="tx1"/>
                              </a:solidFill>
                              <a:latin typeface="Cambria Math" panose="02040503050406030204" pitchFamily="18" charset="0"/>
                              <a:ea typeface="华文新魏" panose="02010800040101010101" pitchFamily="2" charset="-122"/>
                            </a:rPr>
                          </m:ctrlPr>
                        </m:naryPr>
                        <m:sub>
                          <m:r>
                            <a:rPr lang="en-US" altLang="zh-CN" sz="2600" b="1" i="1">
                              <a:solidFill>
                                <a:schemeClr val="tx1"/>
                              </a:solidFill>
                              <a:latin typeface="Cambria Math" panose="02040503050406030204" pitchFamily="18" charset="0"/>
                              <a:ea typeface="华文新魏" panose="02010800040101010101" pitchFamily="2" charset="-122"/>
                            </a:rPr>
                            <m:t>𝒑</m:t>
                          </m:r>
                        </m:sub>
                        <m:sup>
                          <m:r>
                            <a:rPr lang="en-US" altLang="zh-CN" sz="2600" b="1" i="1" smtClean="0">
                              <a:solidFill>
                                <a:schemeClr val="tx1"/>
                              </a:solidFill>
                              <a:latin typeface="Cambria Math" panose="02040503050406030204" pitchFamily="18" charset="0"/>
                              <a:ea typeface="华文新魏" panose="02010800040101010101" pitchFamily="2" charset="-122"/>
                            </a:rPr>
                            <m:t>∞</m:t>
                          </m:r>
                        </m:sup>
                        <m:e>
                          <m:acc>
                            <m:accPr>
                              <m:chr m:val="⃗"/>
                              <m:ctrlPr>
                                <a:rPr lang="en-US" altLang="zh-CN" sz="2600" b="1" i="1">
                                  <a:solidFill>
                                    <a:schemeClr val="tx1"/>
                                  </a:solidFill>
                                  <a:latin typeface="Cambria Math" panose="02040503050406030204" pitchFamily="18" charset="0"/>
                                  <a:ea typeface="华文新魏" panose="02010800040101010101" pitchFamily="2" charset="-122"/>
                                </a:rPr>
                              </m:ctrlPr>
                            </m:accPr>
                            <m:e>
                              <m:r>
                                <a:rPr lang="en-US" altLang="zh-CN" sz="2600" b="1" i="1">
                                  <a:solidFill>
                                    <a:schemeClr val="tx1"/>
                                  </a:solidFill>
                                  <a:latin typeface="Cambria Math" panose="02040503050406030204" pitchFamily="18" charset="0"/>
                                  <a:ea typeface="华文新魏" panose="02010800040101010101" pitchFamily="2" charset="-122"/>
                                </a:rPr>
                                <m:t>𝑬</m:t>
                              </m:r>
                            </m:e>
                          </m:acc>
                          <m:r>
                            <m:rPr>
                              <m:brk m:alnAt="23"/>
                            </m:rPr>
                            <a:rPr lang="en-US" altLang="zh-CN" sz="2600" b="1" i="1">
                              <a:solidFill>
                                <a:schemeClr val="tx1"/>
                              </a:solidFill>
                              <a:latin typeface="Cambria Math" panose="02040503050406030204" pitchFamily="18" charset="0"/>
                              <a:ea typeface="Cambria Math" panose="02040503050406030204" pitchFamily="18" charset="0"/>
                            </a:rPr>
                            <m:t>∙</m:t>
                          </m:r>
                          <m:r>
                            <a:rPr lang="en-US" altLang="zh-CN" sz="2600" b="1" i="1">
                              <a:solidFill>
                                <a:schemeClr val="tx1"/>
                              </a:solidFill>
                              <a:latin typeface="Cambria Math" panose="02040503050406030204" pitchFamily="18" charset="0"/>
                              <a:ea typeface="华文新魏" panose="02010800040101010101" pitchFamily="2" charset="-122"/>
                            </a:rPr>
                            <m:t>𝒅</m:t>
                          </m:r>
                          <m:acc>
                            <m:accPr>
                              <m:chr m:val="⃗"/>
                              <m:ctrlPr>
                                <a:rPr lang="en-US" altLang="zh-CN" sz="2600" b="1" i="1">
                                  <a:solidFill>
                                    <a:schemeClr val="tx1"/>
                                  </a:solidFill>
                                  <a:latin typeface="Cambria Math" panose="02040503050406030204" pitchFamily="18" charset="0"/>
                                  <a:ea typeface="华文新魏" panose="02010800040101010101" pitchFamily="2" charset="-122"/>
                                </a:rPr>
                              </m:ctrlPr>
                            </m:accPr>
                            <m:e>
                              <m:r>
                                <a:rPr lang="en-US" altLang="zh-CN" sz="2600" b="1" i="1">
                                  <a:solidFill>
                                    <a:schemeClr val="tx1"/>
                                  </a:solidFill>
                                  <a:latin typeface="Cambria Math" panose="02040503050406030204" pitchFamily="18" charset="0"/>
                                  <a:ea typeface="华文新魏" panose="02010800040101010101" pitchFamily="2" charset="-122"/>
                                </a:rPr>
                                <m:t>𝒍</m:t>
                              </m:r>
                            </m:e>
                          </m:acc>
                        </m:e>
                      </m:nary>
                    </m:oMath>
                  </m:oMathPara>
                </a14:m>
                <a:endParaRPr lang="en-US" sz="2600" dirty="0">
                  <a:solidFill>
                    <a:schemeClr val="tx1"/>
                  </a:solidFill>
                  <a:latin typeface="华文楷体" panose="02010600040101010101" pitchFamily="2" charset="-122"/>
                  <a:ea typeface="华文楷体" panose="02010600040101010101" pitchFamily="2" charset="-122"/>
                </a:endParaRPr>
              </a:p>
            </p:txBody>
          </p:sp>
        </mc:Choice>
        <mc:Fallback xmlns="">
          <p:sp>
            <p:nvSpPr>
              <p:cNvPr id="13" name="矩形 12">
                <a:extLst>
                  <a:ext uri="{FF2B5EF4-FFF2-40B4-BE49-F238E27FC236}">
                    <a16:creationId xmlns:a16="http://schemas.microsoft.com/office/drawing/2014/main" id="{3F673AC6-B9DD-4415-8D10-57CF565EBCED}"/>
                  </a:ext>
                </a:extLst>
              </p:cNvPr>
              <p:cNvSpPr>
                <a:spLocks noRot="1" noChangeAspect="1" noMove="1" noResize="1" noEditPoints="1" noAdjustHandles="1" noChangeArrowheads="1" noChangeShapeType="1" noTextEdit="1"/>
              </p:cNvSpPr>
              <p:nvPr/>
            </p:nvSpPr>
            <p:spPr>
              <a:xfrm>
                <a:off x="6651126" y="2365486"/>
                <a:ext cx="2245808" cy="1006750"/>
              </a:xfrm>
              <a:prstGeom prst="rect">
                <a:avLst/>
              </a:prstGeom>
              <a:blipFill>
                <a:blip r:embed="rId4"/>
                <a:stretch>
                  <a:fillRect/>
                </a:stretch>
              </a:blipFill>
            </p:spPr>
            <p:txBody>
              <a:bodyPr/>
              <a:lstStyle/>
              <a:p>
                <a:r>
                  <a:rPr lang="zh-CN" altLang="en-US">
                    <a:noFill/>
                  </a:rPr>
                  <a:t> </a:t>
                </a:r>
              </a:p>
            </p:txBody>
          </p:sp>
        </mc:Fallback>
      </mc:AlternateContent>
      <p:grpSp>
        <p:nvGrpSpPr>
          <p:cNvPr id="14" name="Group 11">
            <a:extLst>
              <a:ext uri="{FF2B5EF4-FFF2-40B4-BE49-F238E27FC236}">
                <a16:creationId xmlns:a16="http://schemas.microsoft.com/office/drawing/2014/main" id="{888EEF68-1212-4F6C-B2C5-5F5D912EF19E}"/>
              </a:ext>
            </a:extLst>
          </p:cNvPr>
          <p:cNvGrpSpPr/>
          <p:nvPr/>
        </p:nvGrpSpPr>
        <p:grpSpPr>
          <a:xfrm>
            <a:off x="2006331" y="4843007"/>
            <a:ext cx="3397250" cy="1066800"/>
            <a:chOff x="940" y="3321"/>
            <a:chExt cx="2140" cy="672"/>
          </a:xfrm>
        </p:grpSpPr>
        <p:grpSp>
          <p:nvGrpSpPr>
            <p:cNvPr id="15" name="Group 12">
              <a:extLst>
                <a:ext uri="{FF2B5EF4-FFF2-40B4-BE49-F238E27FC236}">
                  <a16:creationId xmlns:a16="http://schemas.microsoft.com/office/drawing/2014/main" id="{073D56CB-8F89-4DA5-A75B-298232166D5F}"/>
                </a:ext>
              </a:extLst>
            </p:cNvPr>
            <p:cNvGrpSpPr/>
            <p:nvPr/>
          </p:nvGrpSpPr>
          <p:grpSpPr>
            <a:xfrm>
              <a:off x="940" y="3445"/>
              <a:ext cx="2140" cy="384"/>
              <a:chOff x="432" y="3292"/>
              <a:chExt cx="2140" cy="384"/>
            </a:xfrm>
          </p:grpSpPr>
          <p:sp>
            <p:nvSpPr>
              <p:cNvPr id="18" name="Text Box 13">
                <a:extLst>
                  <a:ext uri="{FF2B5EF4-FFF2-40B4-BE49-F238E27FC236}">
                    <a16:creationId xmlns:a16="http://schemas.microsoft.com/office/drawing/2014/main" id="{72BF4B9F-61C3-49E3-91E1-FCD8A47D663B}"/>
                  </a:ext>
                </a:extLst>
              </p:cNvPr>
              <p:cNvSpPr txBox="1"/>
              <p:nvPr/>
            </p:nvSpPr>
            <p:spPr>
              <a:xfrm>
                <a:off x="432" y="3321"/>
                <a:ext cx="2140" cy="327"/>
              </a:xfrm>
              <a:prstGeom prst="rect">
                <a:avLst/>
              </a:prstGeom>
              <a:noFill/>
              <a:ln w="9525">
                <a:noFill/>
              </a:ln>
            </p:spPr>
            <p:txBody>
              <a:bodyPr anchor="t" anchorCtr="0">
                <a:spAutoFit/>
              </a:bodyPr>
              <a:lstStyle/>
              <a:p>
                <a:pPr>
                  <a:spcBef>
                    <a:spcPct val="50000"/>
                  </a:spcBef>
                </a:pPr>
                <a:r>
                  <a:rPr lang="zh-CN" altLang="en-US" sz="2800" b="1" dirty="0"/>
                  <a:t>求   的三种方法</a:t>
                </a:r>
              </a:p>
            </p:txBody>
          </p:sp>
          <mc:AlternateContent xmlns:mc="http://schemas.openxmlformats.org/markup-compatibility/2006" xmlns:a14="http://schemas.microsoft.com/office/drawing/2010/main">
            <mc:Choice Requires="a14">
              <p:sp>
                <p:nvSpPr>
                  <p:cNvPr id="19" name="Object 14">
                    <a:extLst>
                      <a:ext uri="{FF2B5EF4-FFF2-40B4-BE49-F238E27FC236}">
                        <a16:creationId xmlns:a16="http://schemas.microsoft.com/office/drawing/2014/main" id="{F04951C0-F8DD-423B-A49C-63B1A592A7F1}"/>
                      </a:ext>
                    </a:extLst>
                  </p:cNvPr>
                  <p:cNvSpPr txBox="1"/>
                  <p:nvPr/>
                </p:nvSpPr>
                <p:spPr>
                  <a:xfrm>
                    <a:off x="693" y="3292"/>
                    <a:ext cx="346" cy="384"/>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acc>
                            <m:accPr>
                              <m:chr m:val="⃑"/>
                              <m:ctrlPr>
                                <a:rPr lang="zh-CN" altLang="en-US" sz="2800" i="1" smtClean="0">
                                  <a:solidFill>
                                    <a:schemeClr val="tx1"/>
                                  </a:solidFill>
                                  <a:latin typeface="Cambria Math" panose="02040503050406030204" pitchFamily="18" charset="0"/>
                                </a:rPr>
                              </m:ctrlPr>
                            </m:accPr>
                            <m:e>
                              <m:r>
                                <a:rPr lang="zh-CN" altLang="en-US" sz="2800" i="1">
                                  <a:solidFill>
                                    <a:schemeClr val="tx1"/>
                                  </a:solidFill>
                                  <a:latin typeface="Cambria Math" panose="02040503050406030204" pitchFamily="18" charset="0"/>
                                </a:rPr>
                                <m:t>𝐸</m:t>
                              </m:r>
                            </m:e>
                          </m:acc>
                        </m:oMath>
                      </m:oMathPara>
                    </a14:m>
                    <a:endParaRPr lang="zh-CN" altLang="en-US" sz="2800" dirty="0">
                      <a:solidFill>
                        <a:schemeClr val="tx1"/>
                      </a:solidFill>
                    </a:endParaRPr>
                  </a:p>
                </p:txBody>
              </p:sp>
            </mc:Choice>
            <mc:Fallback xmlns="">
              <p:sp>
                <p:nvSpPr>
                  <p:cNvPr id="19" name="Object 14">
                    <a:extLst>
                      <a:ext uri="{FF2B5EF4-FFF2-40B4-BE49-F238E27FC236}">
                        <a16:creationId xmlns:a16="http://schemas.microsoft.com/office/drawing/2014/main" id="{F04951C0-F8DD-423B-A49C-63B1A592A7F1}"/>
                      </a:ext>
                    </a:extLst>
                  </p:cNvPr>
                  <p:cNvSpPr txBox="1">
                    <a:spLocks noRot="1" noChangeAspect="1" noMove="1" noResize="1" noEditPoints="1" noAdjustHandles="1" noChangeArrowheads="1" noChangeShapeType="1" noTextEdit="1"/>
                  </p:cNvSpPr>
                  <p:nvPr/>
                </p:nvSpPr>
                <p:spPr>
                  <a:xfrm>
                    <a:off x="693" y="3292"/>
                    <a:ext cx="346" cy="384"/>
                  </a:xfrm>
                  <a:prstGeom prst="rect">
                    <a:avLst/>
                  </a:prstGeom>
                  <a:blipFill>
                    <a:blip r:embed="rId6"/>
                    <a:stretch>
                      <a:fillRect/>
                    </a:stretch>
                  </a:blipFill>
                  <a:ln w="38100">
                    <a:noFill/>
                    <a:miter/>
                  </a:ln>
                </p:spPr>
                <p:txBody>
                  <a:bodyPr/>
                  <a:lstStyle/>
                  <a:p>
                    <a:r>
                      <a:rPr lang="zh-CN" altLang="en-US">
                        <a:noFill/>
                      </a:rPr>
                      <a:t> </a:t>
                    </a:r>
                  </a:p>
                </p:txBody>
              </p:sp>
            </mc:Fallback>
          </mc:AlternateContent>
        </p:grpSp>
        <p:sp>
          <p:nvSpPr>
            <p:cNvPr id="17" name="AutoShape 15">
              <a:extLst>
                <a:ext uri="{FF2B5EF4-FFF2-40B4-BE49-F238E27FC236}">
                  <a16:creationId xmlns:a16="http://schemas.microsoft.com/office/drawing/2014/main" id="{618978F9-B07D-459A-806A-9F4D9B909DCD}"/>
                </a:ext>
              </a:extLst>
            </p:cNvPr>
            <p:cNvSpPr/>
            <p:nvPr/>
          </p:nvSpPr>
          <p:spPr>
            <a:xfrm>
              <a:off x="2860" y="3321"/>
              <a:ext cx="192" cy="672"/>
            </a:xfrm>
            <a:prstGeom prst="leftBrace">
              <a:avLst>
                <a:gd name="adj1" fmla="val 29134"/>
                <a:gd name="adj2" fmla="val 50000"/>
              </a:avLst>
            </a:prstGeom>
            <a:noFill/>
            <a:ln w="38100" cap="flat" cmpd="sng">
              <a:solidFill>
                <a:srgbClr val="0066FF"/>
              </a:solidFill>
              <a:prstDash val="solid"/>
              <a:round/>
              <a:headEnd type="none" w="med" len="med"/>
              <a:tailEnd type="none" w="med" len="med"/>
            </a:ln>
          </p:spPr>
          <p:txBody>
            <a:bodyPr wrap="none" anchor="ctr" anchorCtr="0"/>
            <a:lstStyle/>
            <a:p>
              <a:pPr eaLnBrk="0" hangingPunct="0"/>
              <a:endParaRPr lang="zh-CN" altLang="en-US" sz="2800" dirty="0"/>
            </a:p>
          </p:txBody>
        </p:sp>
      </p:grpSp>
      <p:sp>
        <p:nvSpPr>
          <p:cNvPr id="20" name="Text Box 16">
            <a:extLst>
              <a:ext uri="{FF2B5EF4-FFF2-40B4-BE49-F238E27FC236}">
                <a16:creationId xmlns:a16="http://schemas.microsoft.com/office/drawing/2014/main" id="{DB854676-5B1F-4EB2-B14F-9883AB8735EF}"/>
              </a:ext>
            </a:extLst>
          </p:cNvPr>
          <p:cNvSpPr txBox="1"/>
          <p:nvPr/>
        </p:nvSpPr>
        <p:spPr>
          <a:xfrm>
            <a:off x="5359131" y="4599666"/>
            <a:ext cx="4419600" cy="519113"/>
          </a:xfrm>
          <a:prstGeom prst="rect">
            <a:avLst/>
          </a:prstGeom>
          <a:noFill/>
          <a:ln w="9525">
            <a:noFill/>
          </a:ln>
        </p:spPr>
        <p:txBody>
          <a:bodyPr anchor="t" anchorCtr="0">
            <a:spAutoFit/>
          </a:bodyPr>
          <a:lstStyle/>
          <a:p>
            <a:pPr>
              <a:spcBef>
                <a:spcPct val="50000"/>
              </a:spcBef>
            </a:pPr>
            <a:r>
              <a:rPr lang="zh-CN" altLang="en-US" sz="2800" b="1" dirty="0"/>
              <a:t>利用电场强度叠加原理</a:t>
            </a:r>
          </a:p>
        </p:txBody>
      </p:sp>
      <p:sp>
        <p:nvSpPr>
          <p:cNvPr id="21" name="Text Box 17">
            <a:extLst>
              <a:ext uri="{FF2B5EF4-FFF2-40B4-BE49-F238E27FC236}">
                <a16:creationId xmlns:a16="http://schemas.microsoft.com/office/drawing/2014/main" id="{1B5084E8-051F-4776-8E13-D19677E3A455}"/>
              </a:ext>
            </a:extLst>
          </p:cNvPr>
          <p:cNvSpPr txBox="1"/>
          <p:nvPr/>
        </p:nvSpPr>
        <p:spPr>
          <a:xfrm>
            <a:off x="5359131" y="5147807"/>
            <a:ext cx="3870325" cy="519112"/>
          </a:xfrm>
          <a:prstGeom prst="rect">
            <a:avLst/>
          </a:prstGeom>
          <a:noFill/>
          <a:ln w="9525">
            <a:noFill/>
          </a:ln>
        </p:spPr>
        <p:txBody>
          <a:bodyPr anchor="t" anchorCtr="0">
            <a:spAutoFit/>
          </a:bodyPr>
          <a:lstStyle/>
          <a:p>
            <a:pPr>
              <a:spcBef>
                <a:spcPct val="50000"/>
              </a:spcBef>
            </a:pPr>
            <a:r>
              <a:rPr lang="zh-CN" altLang="en-US" sz="2800" b="1" dirty="0"/>
              <a:t>利用高斯定律</a:t>
            </a:r>
          </a:p>
        </p:txBody>
      </p:sp>
      <p:sp>
        <p:nvSpPr>
          <p:cNvPr id="22" name="Text Box 18">
            <a:extLst>
              <a:ext uri="{FF2B5EF4-FFF2-40B4-BE49-F238E27FC236}">
                <a16:creationId xmlns:a16="http://schemas.microsoft.com/office/drawing/2014/main" id="{026A1216-8028-4D1D-A4CA-40CF339849C1}"/>
              </a:ext>
            </a:extLst>
          </p:cNvPr>
          <p:cNvSpPr txBox="1"/>
          <p:nvPr/>
        </p:nvSpPr>
        <p:spPr>
          <a:xfrm>
            <a:off x="5359131" y="5605007"/>
            <a:ext cx="5181600" cy="519112"/>
          </a:xfrm>
          <a:prstGeom prst="rect">
            <a:avLst/>
          </a:prstGeom>
          <a:noFill/>
          <a:ln w="9525">
            <a:noFill/>
          </a:ln>
        </p:spPr>
        <p:txBody>
          <a:bodyPr anchor="t" anchorCtr="0">
            <a:spAutoFit/>
          </a:bodyPr>
          <a:lstStyle/>
          <a:p>
            <a:pPr>
              <a:spcBef>
                <a:spcPct val="50000"/>
              </a:spcBef>
            </a:pPr>
            <a:r>
              <a:rPr lang="zh-CN" altLang="en-US" sz="2800" b="1" dirty="0"/>
              <a:t>利用电势与电场强度的关系</a:t>
            </a:r>
          </a:p>
        </p:txBody>
      </p:sp>
    </p:spTree>
    <p:extLst>
      <p:ext uri="{BB962C8B-B14F-4D97-AF65-F5344CB8AC3E}">
        <p14:creationId xmlns:p14="http://schemas.microsoft.com/office/powerpoint/2010/main" val="3785739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20" grpId="0"/>
      <p:bldP spid="21"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83D3B45A-F6A5-47C4-B1AF-E2DA45C82370}"/>
              </a:ext>
            </a:extLst>
          </p:cNvPr>
          <p:cNvSpPr>
            <a:spLocks noGrp="1"/>
          </p:cNvSpPr>
          <p:nvPr>
            <p:ph type="title"/>
          </p:nvPr>
        </p:nvSpPr>
        <p:spPr/>
        <p:txBody>
          <a:bodyPr>
            <a:normAutofit/>
          </a:bodyPr>
          <a:lstStyle/>
          <a:p>
            <a:r>
              <a:rPr lang="zh-CN" altLang="en-US" sz="3200" dirty="0">
                <a:latin typeface="华文楷体" panose="02010600040101010101" pitchFamily="2" charset="-122"/>
                <a:ea typeface="华文楷体" panose="02010600040101010101" pitchFamily="2" charset="-122"/>
              </a:rPr>
              <a:t>例：</a:t>
            </a:r>
            <a:r>
              <a:rPr lang="zh-CN" altLang="en-US" sz="3200" dirty="0">
                <a:solidFill>
                  <a:schemeClr val="tx1"/>
                </a:solidFill>
                <a:latin typeface="华文楷体" panose="02010600040101010101" pitchFamily="2" charset="-122"/>
                <a:ea typeface="华文楷体" panose="02010600040101010101" pitchFamily="2" charset="-122"/>
              </a:rPr>
              <a:t>由电偶极子的电势分布求其电场强度</a:t>
            </a:r>
          </a:p>
        </p:txBody>
      </p:sp>
      <p:sp>
        <p:nvSpPr>
          <p:cNvPr id="8" name="内容占位符 7">
            <a:extLst>
              <a:ext uri="{FF2B5EF4-FFF2-40B4-BE49-F238E27FC236}">
                <a16:creationId xmlns:a16="http://schemas.microsoft.com/office/drawing/2014/main" id="{033ACA2B-C251-48D2-9578-7BB4175E672B}"/>
              </a:ext>
            </a:extLst>
          </p:cNvPr>
          <p:cNvSpPr>
            <a:spLocks noGrp="1"/>
          </p:cNvSpPr>
          <p:nvPr>
            <p:ph sz="half" idx="1"/>
          </p:nvPr>
        </p:nvSpPr>
        <p:spPr>
          <a:xfrm>
            <a:off x="1136109" y="4307180"/>
            <a:ext cx="4697306" cy="535931"/>
          </a:xfrm>
        </p:spPr>
        <p:txBody>
          <a:bodyPr>
            <a:noAutofit/>
          </a:bodyPr>
          <a:lstStyle/>
          <a:p>
            <a:pPr marL="0" indent="0">
              <a:lnSpc>
                <a:spcPct val="120000"/>
              </a:lnSpc>
              <a:buNone/>
            </a:pPr>
            <a:endParaRPr lang="en-US" altLang="zh-CN" dirty="0">
              <a:latin typeface="华文楷体" panose="02010600040101010101" pitchFamily="2" charset="-122"/>
              <a:ea typeface="华文楷体" panose="02010600040101010101" pitchFamily="2" charset="-122"/>
            </a:endParaRPr>
          </a:p>
          <a:p>
            <a:pPr marL="0" indent="0">
              <a:lnSpc>
                <a:spcPct val="120000"/>
              </a:lnSpc>
              <a:buNone/>
            </a:pPr>
            <a:endParaRPr lang="en-US" altLang="zh-CN" i="1" dirty="0">
              <a:solidFill>
                <a:srgbClr val="000000"/>
              </a:solidFill>
              <a:latin typeface="华文楷体" panose="02010600040101010101" pitchFamily="2" charset="-122"/>
              <a:ea typeface="华文楷体" panose="02010600040101010101" pitchFamily="2" charset="-122"/>
            </a:endParaRPr>
          </a:p>
          <a:p>
            <a:pPr marL="0" indent="0">
              <a:lnSpc>
                <a:spcPct val="120000"/>
              </a:lnSpc>
              <a:buNone/>
            </a:pPr>
            <a:endParaRPr lang="en-US" altLang="zh-CN" dirty="0">
              <a:solidFill>
                <a:schemeClr val="accent2"/>
              </a:solidFill>
              <a:latin typeface="华文楷体" panose="02010600040101010101" pitchFamily="2" charset="-122"/>
              <a:ea typeface="华文楷体" panose="02010600040101010101" pitchFamily="2" charset="-122"/>
            </a:endParaRPr>
          </a:p>
        </p:txBody>
      </p:sp>
      <p:pic>
        <p:nvPicPr>
          <p:cNvPr id="11" name="内容占位符 10">
            <a:extLst>
              <a:ext uri="{FF2B5EF4-FFF2-40B4-BE49-F238E27FC236}">
                <a16:creationId xmlns:a16="http://schemas.microsoft.com/office/drawing/2014/main" id="{50391FE7-A942-4FC4-864C-ECDEEFCBF011}"/>
              </a:ext>
            </a:extLst>
          </p:cNvPr>
          <p:cNvPicPr>
            <a:picLocks noGrp="1" noChangeAspect="1"/>
          </p:cNvPicPr>
          <p:nvPr>
            <p:ph sz="half" idx="2"/>
          </p:nvPr>
        </p:nvPicPr>
        <p:blipFill>
          <a:blip r:embed="rId2"/>
          <a:stretch>
            <a:fillRect/>
          </a:stretch>
        </p:blipFill>
        <p:spPr>
          <a:xfrm>
            <a:off x="7966554" y="1127505"/>
            <a:ext cx="3287674" cy="3328600"/>
          </a:xfrm>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88B124AA-4198-4B19-B8FA-C7E44AB742C4}"/>
                  </a:ext>
                </a:extLst>
              </p:cNvPr>
              <p:cNvSpPr/>
              <p:nvPr/>
            </p:nvSpPr>
            <p:spPr>
              <a:xfrm>
                <a:off x="1105961" y="1405733"/>
                <a:ext cx="5785270" cy="1032462"/>
              </a:xfrm>
              <a:prstGeom prst="rect">
                <a:avLst/>
              </a:prstGeom>
            </p:spPr>
            <p:txBody>
              <a:bodyPr wrap="square">
                <a:spAutoFit/>
              </a:bodyPr>
              <a:lstStyle/>
              <a:p>
                <a:pPr>
                  <a:lnSpc>
                    <a:spcPct val="120000"/>
                  </a:lnSpc>
                </a:pPr>
                <a:r>
                  <a:rPr lang="zh-CN" altLang="en-US" sz="2800" dirty="0">
                    <a:latin typeface="华文楷体" panose="02010600040101010101" pitchFamily="2" charset="-122"/>
                    <a:ea typeface="华文楷体" panose="02010600040101010101" pitchFamily="2" charset="-122"/>
                  </a:rPr>
                  <a:t>电偶极子电势</a:t>
                </a:r>
                <a:r>
                  <a:rPr lang="zh-CN" altLang="en-US" sz="3200" dirty="0">
                    <a:latin typeface="华文楷体" panose="02010600040101010101" pitchFamily="2" charset="-122"/>
                    <a:ea typeface="华文楷体" panose="02010600040101010101" pitchFamily="2" charset="-122"/>
                  </a:rPr>
                  <a:t>：</a:t>
                </a:r>
                <a14:m>
                  <m:oMath xmlns:m="http://schemas.openxmlformats.org/officeDocument/2006/math">
                    <m:r>
                      <a:rPr lang="en-US" altLang="zh-CN" sz="3200" b="0" i="0" smtClean="0">
                        <a:solidFill>
                          <a:schemeClr val="tx1"/>
                        </a:solidFill>
                        <a:latin typeface="Cambria Math" panose="02040503050406030204" pitchFamily="18" charset="0"/>
                      </a:rPr>
                      <m:t> </m:t>
                    </m:r>
                    <m:sSub>
                      <m:sSubPr>
                        <m:ctrlPr>
                          <a:rPr lang="en-US" altLang="zh-CN" sz="3200" i="1">
                            <a:solidFill>
                              <a:schemeClr val="tx1"/>
                            </a:solidFill>
                            <a:latin typeface="Cambria Math" panose="02040503050406030204" pitchFamily="18" charset="0"/>
                          </a:rPr>
                        </m:ctrlPr>
                      </m:sSubPr>
                      <m:e>
                        <m:r>
                          <a:rPr lang="zh-CN" altLang="en-US" sz="3200" b="0" i="1">
                            <a:latin typeface="Cambria Math" panose="02040503050406030204" pitchFamily="18" charset="0"/>
                          </a:rPr>
                          <m:t>𝜑</m:t>
                        </m:r>
                      </m:e>
                      <m:sub>
                        <m:r>
                          <a:rPr lang="en-US" altLang="zh-CN" sz="3200" b="0" i="1">
                            <a:solidFill>
                              <a:schemeClr val="tx1"/>
                            </a:solidFill>
                            <a:latin typeface="Cambria Math" panose="02040503050406030204" pitchFamily="18" charset="0"/>
                          </a:rPr>
                          <m:t>𝑝</m:t>
                        </m:r>
                      </m:sub>
                    </m:sSub>
                    <m:r>
                      <a:rPr lang="en-US" altLang="zh-CN" sz="3200" b="0" i="1">
                        <a:solidFill>
                          <a:schemeClr val="tx1"/>
                        </a:solidFill>
                        <a:latin typeface="Cambria Math" panose="02040503050406030204" pitchFamily="18" charset="0"/>
                      </a:rPr>
                      <m:t>=</m:t>
                    </m:r>
                    <m:f>
                      <m:fPr>
                        <m:ctrlPr>
                          <a:rPr lang="en-US" altLang="zh-CN" sz="3200" i="1">
                            <a:solidFill>
                              <a:schemeClr val="tx1"/>
                            </a:solidFill>
                            <a:latin typeface="Cambria Math" panose="02040503050406030204" pitchFamily="18" charset="0"/>
                          </a:rPr>
                        </m:ctrlPr>
                      </m:fPr>
                      <m:num>
                        <m:r>
                          <a:rPr lang="en-US" altLang="zh-CN" sz="3200" b="0" i="1">
                            <a:solidFill>
                              <a:schemeClr val="tx1"/>
                            </a:solidFill>
                            <a:latin typeface="Cambria Math" panose="02040503050406030204" pitchFamily="18" charset="0"/>
                          </a:rPr>
                          <m:t>𝑝</m:t>
                        </m:r>
                        <m:func>
                          <m:funcPr>
                            <m:ctrlPr>
                              <a:rPr lang="en-US" altLang="zh-CN" sz="3200" i="1">
                                <a:solidFill>
                                  <a:schemeClr val="tx1"/>
                                </a:solidFill>
                                <a:latin typeface="Cambria Math" panose="02040503050406030204" pitchFamily="18" charset="0"/>
                                <a:ea typeface="Cambria Math" panose="02040503050406030204" pitchFamily="18" charset="0"/>
                              </a:rPr>
                            </m:ctrlPr>
                          </m:funcPr>
                          <m:fName>
                            <m:r>
                              <a:rPr lang="en-US" altLang="zh-CN" sz="3200" b="0" i="1">
                                <a:solidFill>
                                  <a:schemeClr val="tx1"/>
                                </a:solidFill>
                                <a:latin typeface="Cambria Math" panose="02040503050406030204" pitchFamily="18" charset="0"/>
                                <a:ea typeface="Cambria Math" panose="02040503050406030204" pitchFamily="18" charset="0"/>
                              </a:rPr>
                              <m:t>𝑐𝑜𝑠</m:t>
                            </m:r>
                          </m:fName>
                          <m:e>
                            <m:r>
                              <a:rPr lang="zh-CN" altLang="en-US" sz="3200" b="0" i="1">
                                <a:solidFill>
                                  <a:schemeClr val="tx1"/>
                                </a:solidFill>
                                <a:latin typeface="Cambria Math" panose="02040503050406030204" pitchFamily="18" charset="0"/>
                                <a:ea typeface="Cambria Math" panose="02040503050406030204" pitchFamily="18" charset="0"/>
                              </a:rPr>
                              <m:t>𝜃</m:t>
                            </m:r>
                          </m:e>
                        </m:func>
                      </m:num>
                      <m:den>
                        <m:r>
                          <a:rPr lang="en-US" altLang="zh-CN" sz="3200" b="0" i="1">
                            <a:solidFill>
                              <a:schemeClr val="tx1"/>
                            </a:solidFill>
                            <a:latin typeface="Cambria Math" panose="02040503050406030204" pitchFamily="18" charset="0"/>
                          </a:rPr>
                          <m:t>4</m:t>
                        </m:r>
                        <m:r>
                          <a:rPr lang="zh-CN" altLang="en-US" sz="3200" b="0" i="1">
                            <a:solidFill>
                              <a:schemeClr val="tx1"/>
                            </a:solidFill>
                            <a:latin typeface="Cambria Math" panose="02040503050406030204" pitchFamily="18" charset="0"/>
                          </a:rPr>
                          <m:t>𝜋</m:t>
                        </m:r>
                        <m:sSub>
                          <m:sSubPr>
                            <m:ctrlPr>
                              <a:rPr lang="en-US" altLang="zh-CN" sz="3200" i="1">
                                <a:solidFill>
                                  <a:schemeClr val="tx1"/>
                                </a:solidFill>
                                <a:latin typeface="Cambria Math" panose="02040503050406030204" pitchFamily="18" charset="0"/>
                              </a:rPr>
                            </m:ctrlPr>
                          </m:sSubPr>
                          <m:e>
                            <m:r>
                              <a:rPr lang="zh-CN" altLang="en-US" sz="3200" b="0" i="1">
                                <a:solidFill>
                                  <a:schemeClr val="tx1"/>
                                </a:solidFill>
                                <a:latin typeface="Cambria Math" panose="02040503050406030204" pitchFamily="18" charset="0"/>
                              </a:rPr>
                              <m:t>𝜀</m:t>
                            </m:r>
                          </m:e>
                          <m:sub>
                            <m:r>
                              <a:rPr lang="en-US" altLang="zh-CN" sz="3200" b="0" i="1">
                                <a:solidFill>
                                  <a:schemeClr val="tx1"/>
                                </a:solidFill>
                                <a:latin typeface="Cambria Math" panose="02040503050406030204" pitchFamily="18" charset="0"/>
                              </a:rPr>
                              <m:t>0</m:t>
                            </m:r>
                          </m:sub>
                        </m:sSub>
                        <m:sSup>
                          <m:sSupPr>
                            <m:ctrlPr>
                              <a:rPr lang="en-US" altLang="zh-CN" sz="3200" i="1">
                                <a:solidFill>
                                  <a:schemeClr val="tx1"/>
                                </a:solidFill>
                                <a:latin typeface="Cambria Math" panose="02040503050406030204" pitchFamily="18" charset="0"/>
                              </a:rPr>
                            </m:ctrlPr>
                          </m:sSupPr>
                          <m:e>
                            <m:r>
                              <a:rPr lang="en-US" altLang="zh-CN" sz="3200" b="0" i="1">
                                <a:solidFill>
                                  <a:schemeClr val="tx1"/>
                                </a:solidFill>
                                <a:latin typeface="Cambria Math" panose="02040503050406030204" pitchFamily="18" charset="0"/>
                              </a:rPr>
                              <m:t>𝑟</m:t>
                            </m:r>
                          </m:e>
                          <m:sup>
                            <m:r>
                              <a:rPr lang="en-US" altLang="zh-CN" sz="3200" b="0" i="1">
                                <a:solidFill>
                                  <a:schemeClr val="tx1"/>
                                </a:solidFill>
                                <a:latin typeface="Cambria Math" panose="02040503050406030204" pitchFamily="18" charset="0"/>
                              </a:rPr>
                              <m:t>2</m:t>
                            </m:r>
                          </m:sup>
                        </m:sSup>
                      </m:den>
                    </m:f>
                  </m:oMath>
                </a14:m>
                <a:endParaRPr lang="en-US" sz="3200" dirty="0"/>
              </a:p>
            </p:txBody>
          </p:sp>
        </mc:Choice>
        <mc:Fallback xmlns="">
          <p:sp>
            <p:nvSpPr>
              <p:cNvPr id="3" name="矩形 2">
                <a:extLst>
                  <a:ext uri="{FF2B5EF4-FFF2-40B4-BE49-F238E27FC236}">
                    <a16:creationId xmlns:a16="http://schemas.microsoft.com/office/drawing/2014/main" id="{88B124AA-4198-4B19-B8FA-C7E44AB742C4}"/>
                  </a:ext>
                </a:extLst>
              </p:cNvPr>
              <p:cNvSpPr>
                <a:spLocks noRot="1" noChangeAspect="1" noMove="1" noResize="1" noEditPoints="1" noAdjustHandles="1" noChangeArrowheads="1" noChangeShapeType="1" noTextEdit="1"/>
              </p:cNvSpPr>
              <p:nvPr/>
            </p:nvSpPr>
            <p:spPr>
              <a:xfrm>
                <a:off x="1105961" y="1405733"/>
                <a:ext cx="5785270" cy="1032462"/>
              </a:xfrm>
              <a:prstGeom prst="rect">
                <a:avLst/>
              </a:prstGeom>
              <a:blipFill>
                <a:blip r:embed="rId3"/>
                <a:stretch>
                  <a:fillRect l="-2107" b="-3550"/>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F1790E9A-B2F2-4BE0-8088-7DAFEC7E2A5C}"/>
              </a:ext>
            </a:extLst>
          </p:cNvPr>
          <p:cNvSpPr/>
          <p:nvPr/>
        </p:nvSpPr>
        <p:spPr>
          <a:xfrm>
            <a:off x="794657" y="2503676"/>
            <a:ext cx="2339102" cy="580159"/>
          </a:xfrm>
          <a:prstGeom prst="rect">
            <a:avLst/>
          </a:prstGeom>
        </p:spPr>
        <p:txBody>
          <a:bodyPr wrap="none">
            <a:spAutoFit/>
          </a:bodyPr>
          <a:lstStyle/>
          <a:p>
            <a:pPr>
              <a:lnSpc>
                <a:spcPct val="120000"/>
              </a:lnSpc>
            </a:pPr>
            <a:r>
              <a:rPr lang="zh-CN" altLang="en-US" sz="2800" dirty="0">
                <a:latin typeface="华文楷体" panose="02010600040101010101" pitchFamily="2" charset="-122"/>
                <a:ea typeface="华文楷体" panose="02010600040101010101" pitchFamily="2" charset="-122"/>
              </a:rPr>
              <a:t>直角坐标系中</a:t>
            </a:r>
            <a:endParaRPr lang="en-US" altLang="zh-CN" sz="2800" dirty="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0FDF9070-DFBE-4B8E-B4A2-89DC597D1B45}"/>
                  </a:ext>
                </a:extLst>
              </p:cNvPr>
              <p:cNvSpPr/>
              <p:nvPr/>
            </p:nvSpPr>
            <p:spPr>
              <a:xfrm>
                <a:off x="3326879" y="2543515"/>
                <a:ext cx="2298771" cy="5329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sz="2800" i="1" smtClean="0">
                              <a:solidFill>
                                <a:schemeClr val="tx1"/>
                              </a:solidFill>
                              <a:latin typeface="Cambria Math" panose="02040503050406030204" pitchFamily="18" charset="0"/>
                            </a:rPr>
                          </m:ctrlPr>
                        </m:sSupPr>
                        <m:e>
                          <m:r>
                            <a:rPr lang="en-US" altLang="zh-CN" sz="2800" b="0" i="1">
                              <a:solidFill>
                                <a:schemeClr val="tx1"/>
                              </a:solidFill>
                              <a:latin typeface="Cambria Math" panose="02040503050406030204" pitchFamily="18" charset="0"/>
                            </a:rPr>
                            <m:t>𝑟</m:t>
                          </m:r>
                        </m:e>
                        <m:sup>
                          <m:r>
                            <a:rPr lang="en-US" altLang="zh-CN" sz="2800" b="0" i="1">
                              <a:solidFill>
                                <a:schemeClr val="tx1"/>
                              </a:solidFill>
                              <a:latin typeface="Cambria Math" panose="02040503050406030204" pitchFamily="18" charset="0"/>
                            </a:rPr>
                            <m:t>2</m:t>
                          </m:r>
                        </m:sup>
                      </m:sSup>
                      <m:r>
                        <a:rPr lang="en-US" altLang="zh-CN" sz="2800" b="0" i="1">
                          <a:solidFill>
                            <a:schemeClr val="tx1"/>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𝑥</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𝑦</m:t>
                          </m:r>
                        </m:e>
                        <m:sup>
                          <m:r>
                            <a:rPr lang="en-US" altLang="zh-CN" sz="2800" b="0" i="1">
                              <a:solidFill>
                                <a:srgbClr val="000000"/>
                              </a:solidFill>
                              <a:latin typeface="Cambria Math" panose="02040503050406030204" pitchFamily="18" charset="0"/>
                            </a:rPr>
                            <m:t>2</m:t>
                          </m:r>
                        </m:sup>
                      </m:sSup>
                    </m:oMath>
                  </m:oMathPara>
                </a14:m>
                <a:endParaRPr lang="en-US" sz="2800" dirty="0"/>
              </a:p>
            </p:txBody>
          </p:sp>
        </mc:Choice>
        <mc:Fallback xmlns="">
          <p:sp>
            <p:nvSpPr>
              <p:cNvPr id="5" name="矩形 4">
                <a:extLst>
                  <a:ext uri="{FF2B5EF4-FFF2-40B4-BE49-F238E27FC236}">
                    <a16:creationId xmlns:a16="http://schemas.microsoft.com/office/drawing/2014/main" id="{0FDF9070-DFBE-4B8E-B4A2-89DC597D1B45}"/>
                  </a:ext>
                </a:extLst>
              </p:cNvPr>
              <p:cNvSpPr>
                <a:spLocks noRot="1" noChangeAspect="1" noMove="1" noResize="1" noEditPoints="1" noAdjustHandles="1" noChangeArrowheads="1" noChangeShapeType="1" noTextEdit="1"/>
              </p:cNvSpPr>
              <p:nvPr/>
            </p:nvSpPr>
            <p:spPr>
              <a:xfrm>
                <a:off x="3326879" y="2543515"/>
                <a:ext cx="2298771" cy="532966"/>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9CEA2526-E11F-4D2D-B64B-5D270A2EADCE}"/>
                  </a:ext>
                </a:extLst>
              </p:cNvPr>
              <p:cNvSpPr/>
              <p:nvPr/>
            </p:nvSpPr>
            <p:spPr>
              <a:xfrm>
                <a:off x="970922" y="3160861"/>
                <a:ext cx="3052823" cy="10172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altLang="zh-CN" sz="2800" i="1" smtClean="0">
                              <a:solidFill>
                                <a:schemeClr val="tx1"/>
                              </a:solidFill>
                              <a:latin typeface="Cambria Math" panose="02040503050406030204" pitchFamily="18" charset="0"/>
                            </a:rPr>
                          </m:ctrlPr>
                        </m:funcPr>
                        <m:fName>
                          <m:r>
                            <a:rPr lang="en-US" altLang="zh-CN" sz="2800" b="0" i="1">
                              <a:solidFill>
                                <a:schemeClr val="tx1"/>
                              </a:solidFill>
                              <a:latin typeface="Cambria Math" panose="02040503050406030204" pitchFamily="18" charset="0"/>
                            </a:rPr>
                            <m:t>𝑐𝑜𝑠</m:t>
                          </m:r>
                        </m:fName>
                        <m:e>
                          <m:r>
                            <a:rPr lang="zh-CN" altLang="en-US" sz="2800" b="0" i="1">
                              <a:solidFill>
                                <a:schemeClr val="tx1"/>
                              </a:solidFill>
                              <a:latin typeface="Cambria Math" panose="02040503050406030204" pitchFamily="18" charset="0"/>
                            </a:rPr>
                            <m:t>𝜃</m:t>
                          </m:r>
                        </m:e>
                      </m:func>
                      <m:r>
                        <a:rPr lang="en-US" altLang="zh-CN" sz="2800" b="0" i="1">
                          <a:solidFill>
                            <a:schemeClr val="tx1"/>
                          </a:solidFill>
                          <a:latin typeface="Cambria Math" panose="02040503050406030204" pitchFamily="18" charset="0"/>
                        </a:rPr>
                        <m:t>=</m:t>
                      </m:r>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𝑥</m:t>
                          </m:r>
                        </m:num>
                        <m:den>
                          <m:rad>
                            <m:radPr>
                              <m:degHide m:val="on"/>
                              <m:ctrlPr>
                                <a:rPr lang="en-US" altLang="zh-CN" sz="2800" i="1">
                                  <a:latin typeface="Cambria Math" panose="02040503050406030204" pitchFamily="18" charset="0"/>
                                </a:rPr>
                              </m:ctrlPr>
                            </m:radPr>
                            <m:deg/>
                            <m:e>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𝑥</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𝑦</m:t>
                                  </m:r>
                                </m:e>
                                <m:sup>
                                  <m:r>
                                    <a:rPr lang="en-US" altLang="zh-CN" sz="2800" b="0" i="1">
                                      <a:solidFill>
                                        <a:srgbClr val="000000"/>
                                      </a:solidFill>
                                      <a:latin typeface="Cambria Math" panose="02040503050406030204" pitchFamily="18" charset="0"/>
                                    </a:rPr>
                                    <m:t>2</m:t>
                                  </m:r>
                                </m:sup>
                              </m:sSup>
                            </m:e>
                          </m:rad>
                        </m:den>
                      </m:f>
                    </m:oMath>
                  </m:oMathPara>
                </a14:m>
                <a:endParaRPr lang="en-US" sz="2800" dirty="0"/>
              </a:p>
            </p:txBody>
          </p:sp>
        </mc:Choice>
        <mc:Fallback xmlns="">
          <p:sp>
            <p:nvSpPr>
              <p:cNvPr id="6" name="矩形 5">
                <a:extLst>
                  <a:ext uri="{FF2B5EF4-FFF2-40B4-BE49-F238E27FC236}">
                    <a16:creationId xmlns:a16="http://schemas.microsoft.com/office/drawing/2014/main" id="{9CEA2526-E11F-4D2D-B64B-5D270A2EADCE}"/>
                  </a:ext>
                </a:extLst>
              </p:cNvPr>
              <p:cNvSpPr>
                <a:spLocks noRot="1" noChangeAspect="1" noMove="1" noResize="1" noEditPoints="1" noAdjustHandles="1" noChangeArrowheads="1" noChangeShapeType="1" noTextEdit="1"/>
              </p:cNvSpPr>
              <p:nvPr/>
            </p:nvSpPr>
            <p:spPr>
              <a:xfrm>
                <a:off x="970922" y="3160861"/>
                <a:ext cx="3052823" cy="1017266"/>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7B2B9289-0C7A-43E0-829D-7917004E6FEF}"/>
                  </a:ext>
                </a:extLst>
              </p:cNvPr>
              <p:cNvSpPr/>
              <p:nvPr/>
            </p:nvSpPr>
            <p:spPr>
              <a:xfrm>
                <a:off x="4109751" y="3160861"/>
                <a:ext cx="3972498" cy="9289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solidFill>
                                <a:schemeClr val="tx1"/>
                              </a:solidFill>
                              <a:latin typeface="Cambria Math" panose="02040503050406030204" pitchFamily="18" charset="0"/>
                            </a:rPr>
                          </m:ctrlPr>
                        </m:sSubPr>
                        <m:e>
                          <m:r>
                            <a:rPr lang="zh-CN" altLang="en-US" sz="2800" b="0" i="1" smtClean="0">
                              <a:solidFill>
                                <a:schemeClr val="tx1"/>
                              </a:solidFill>
                              <a:latin typeface="Cambria Math" panose="02040503050406030204" pitchFamily="18" charset="0"/>
                            </a:rPr>
                            <m:t>𝜑</m:t>
                          </m:r>
                        </m:e>
                        <m:sub>
                          <m:r>
                            <a:rPr lang="en-US" altLang="zh-CN" sz="2800" b="0" i="1">
                              <a:solidFill>
                                <a:schemeClr val="tx1"/>
                              </a:solidFill>
                              <a:latin typeface="Cambria Math" panose="02040503050406030204" pitchFamily="18" charset="0"/>
                            </a:rPr>
                            <m:t>𝑝</m:t>
                          </m:r>
                        </m:sub>
                      </m:sSub>
                      <m:r>
                        <a:rPr lang="en-US" altLang="zh-CN" sz="2800" b="0" i="1">
                          <a:solidFill>
                            <a:schemeClr val="tx1"/>
                          </a:solidFill>
                          <a:latin typeface="Cambria Math" panose="02040503050406030204" pitchFamily="18" charset="0"/>
                        </a:rPr>
                        <m:t>=</m:t>
                      </m:r>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𝑝𝑥</m:t>
                          </m:r>
                        </m:num>
                        <m:den>
                          <m:r>
                            <a:rPr lang="en-US" altLang="zh-CN" sz="2800" b="0" i="1">
                              <a:solidFill>
                                <a:schemeClr val="tx1"/>
                              </a:solidFill>
                              <a:latin typeface="Cambria Math" panose="02040503050406030204" pitchFamily="18" charset="0"/>
                            </a:rPr>
                            <m:t>4</m:t>
                          </m:r>
                          <m:r>
                            <a:rPr lang="zh-CN" altLang="en-US" sz="2800" b="0" i="1">
                              <a:solidFill>
                                <a:schemeClr val="tx1"/>
                              </a:solidFill>
                              <a:latin typeface="Cambria Math" panose="02040503050406030204" pitchFamily="18" charset="0"/>
                            </a:rPr>
                            <m:t>𝜋</m:t>
                          </m:r>
                          <m:sSub>
                            <m:sSubPr>
                              <m:ctrlPr>
                                <a:rPr lang="en-US" altLang="zh-CN"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𝜀</m:t>
                              </m:r>
                            </m:e>
                            <m:sub>
                              <m:r>
                                <a:rPr lang="en-US" altLang="zh-CN" sz="2800" b="0" i="1">
                                  <a:solidFill>
                                    <a:schemeClr val="tx1"/>
                                  </a:solidFill>
                                  <a:latin typeface="Cambria Math" panose="02040503050406030204" pitchFamily="18" charset="0"/>
                                </a:rPr>
                                <m:t>0</m:t>
                              </m:r>
                            </m:sub>
                          </m:sSub>
                          <m:sSup>
                            <m:sSupPr>
                              <m:ctrlPr>
                                <a:rPr lang="en-US" altLang="zh-CN" sz="2800" i="1">
                                  <a:solidFill>
                                    <a:schemeClr val="tx1"/>
                                  </a:solidFill>
                                  <a:latin typeface="Cambria Math" panose="02040503050406030204" pitchFamily="18" charset="0"/>
                                </a:rPr>
                              </m:ctrlPr>
                            </m:sSupPr>
                            <m:e>
                              <m:r>
                                <a:rPr lang="en-US" altLang="zh-CN" sz="2800" b="0" i="1">
                                  <a:solidFill>
                                    <a:schemeClr val="tx1"/>
                                  </a:solidFill>
                                  <a:latin typeface="Cambria Math" panose="02040503050406030204" pitchFamily="18" charset="0"/>
                                </a:rPr>
                                <m:t>(</m:t>
                              </m:r>
                              <m:sSup>
                                <m:sSupPr>
                                  <m:ctrlPr>
                                    <a:rPr lang="en-US" altLang="zh-CN" sz="2800" i="1">
                                      <a:solidFill>
                                        <a:schemeClr val="tx1"/>
                                      </a:solidFill>
                                      <a:latin typeface="Cambria Math" panose="02040503050406030204" pitchFamily="18" charset="0"/>
                                    </a:rPr>
                                  </m:ctrlPr>
                                </m:sSupPr>
                                <m:e>
                                  <m:r>
                                    <a:rPr lang="en-US" altLang="zh-CN" sz="2800" b="0" i="1">
                                      <a:solidFill>
                                        <a:schemeClr val="tx1"/>
                                      </a:solidFill>
                                      <a:latin typeface="Cambria Math" panose="02040503050406030204" pitchFamily="18" charset="0"/>
                                    </a:rPr>
                                    <m:t>𝑥</m:t>
                                  </m:r>
                                </m:e>
                                <m:sup>
                                  <m:r>
                                    <a:rPr lang="en-US" altLang="zh-CN" sz="2800" b="0" i="1">
                                      <a:solidFill>
                                        <a:schemeClr val="tx1"/>
                                      </a:solidFill>
                                      <a:latin typeface="Cambria Math" panose="02040503050406030204" pitchFamily="18" charset="0"/>
                                    </a:rPr>
                                    <m:t>2</m:t>
                                  </m:r>
                                </m:sup>
                              </m:sSup>
                              <m:r>
                                <a:rPr lang="en-US" altLang="zh-CN" sz="2800" b="0" i="1">
                                  <a:solidFill>
                                    <a:schemeClr val="tx1"/>
                                  </a:solidFill>
                                  <a:latin typeface="Cambria Math" panose="02040503050406030204" pitchFamily="18" charset="0"/>
                                </a:rPr>
                                <m:t>+</m:t>
                              </m:r>
                              <m:sSup>
                                <m:sSupPr>
                                  <m:ctrlPr>
                                    <a:rPr lang="en-US" altLang="zh-CN" sz="2800" i="1">
                                      <a:solidFill>
                                        <a:schemeClr val="tx1"/>
                                      </a:solidFill>
                                      <a:latin typeface="Cambria Math" panose="02040503050406030204" pitchFamily="18" charset="0"/>
                                    </a:rPr>
                                  </m:ctrlPr>
                                </m:sSupPr>
                                <m:e>
                                  <m:r>
                                    <a:rPr lang="en-US" altLang="zh-CN" sz="2800" b="0" i="1">
                                      <a:solidFill>
                                        <a:schemeClr val="tx1"/>
                                      </a:solidFill>
                                      <a:latin typeface="Cambria Math" panose="02040503050406030204" pitchFamily="18" charset="0"/>
                                    </a:rPr>
                                    <m:t>𝑦</m:t>
                                  </m:r>
                                </m:e>
                                <m:sup>
                                  <m:r>
                                    <a:rPr lang="en-US" altLang="zh-CN" sz="2800" b="0" i="1">
                                      <a:solidFill>
                                        <a:schemeClr val="tx1"/>
                                      </a:solidFill>
                                      <a:latin typeface="Cambria Math" panose="02040503050406030204" pitchFamily="18" charset="0"/>
                                    </a:rPr>
                                    <m:t>2</m:t>
                                  </m:r>
                                </m:sup>
                              </m:sSup>
                              <m:r>
                                <a:rPr lang="en-US" altLang="zh-CN" sz="2800" b="0" i="1">
                                  <a:solidFill>
                                    <a:schemeClr val="tx1"/>
                                  </a:solidFill>
                                  <a:latin typeface="Cambria Math" panose="02040503050406030204" pitchFamily="18" charset="0"/>
                                </a:rPr>
                                <m:t>)</m:t>
                              </m:r>
                            </m:e>
                            <m:sup>
                              <m:f>
                                <m:fPr>
                                  <m:type m:val="lin"/>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3</m:t>
                                  </m:r>
                                </m:num>
                                <m:den>
                                  <m:r>
                                    <a:rPr lang="en-US" altLang="zh-CN" sz="2800" b="0" i="1">
                                      <a:solidFill>
                                        <a:schemeClr val="tx1"/>
                                      </a:solidFill>
                                      <a:latin typeface="Cambria Math" panose="02040503050406030204" pitchFamily="18" charset="0"/>
                                    </a:rPr>
                                    <m:t>2</m:t>
                                  </m:r>
                                </m:den>
                              </m:f>
                            </m:sup>
                          </m:sSup>
                        </m:den>
                      </m:f>
                    </m:oMath>
                  </m:oMathPara>
                </a14:m>
                <a:endParaRPr lang="en-US" sz="2800" dirty="0">
                  <a:solidFill>
                    <a:schemeClr val="tx1"/>
                  </a:solidFill>
                </a:endParaRPr>
              </a:p>
            </p:txBody>
          </p:sp>
        </mc:Choice>
        <mc:Fallback xmlns="">
          <p:sp>
            <p:nvSpPr>
              <p:cNvPr id="9" name="矩形 8">
                <a:extLst>
                  <a:ext uri="{FF2B5EF4-FFF2-40B4-BE49-F238E27FC236}">
                    <a16:creationId xmlns:a16="http://schemas.microsoft.com/office/drawing/2014/main" id="{7B2B9289-0C7A-43E0-829D-7917004E6FEF}"/>
                  </a:ext>
                </a:extLst>
              </p:cNvPr>
              <p:cNvSpPr>
                <a:spLocks noRot="1" noChangeAspect="1" noMove="1" noResize="1" noEditPoints="1" noAdjustHandles="1" noChangeArrowheads="1" noChangeShapeType="1" noTextEdit="1"/>
              </p:cNvSpPr>
              <p:nvPr/>
            </p:nvSpPr>
            <p:spPr>
              <a:xfrm>
                <a:off x="4109751" y="3160861"/>
                <a:ext cx="3972498" cy="928909"/>
              </a:xfrm>
              <a:prstGeom prst="rect">
                <a:avLst/>
              </a:prstGeom>
              <a:blipFill>
                <a:blip r:embed="rId6"/>
                <a:stretch>
                  <a:fillRect/>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CA54E720-C731-4F27-80C1-56656B640231}"/>
              </a:ext>
            </a:extLst>
          </p:cNvPr>
          <p:cNvSpPr/>
          <p:nvPr/>
        </p:nvSpPr>
        <p:spPr>
          <a:xfrm>
            <a:off x="1298683" y="4334711"/>
            <a:ext cx="5211683" cy="677108"/>
          </a:xfrm>
          <a:prstGeom prst="rect">
            <a:avLst/>
          </a:prstGeom>
        </p:spPr>
        <p:txBody>
          <a:bodyPr wrap="none">
            <a:spAutoFit/>
          </a:bodyPr>
          <a:lstStyle/>
          <a:p>
            <a:pPr>
              <a:lnSpc>
                <a:spcPct val="150000"/>
              </a:lnSpc>
            </a:pPr>
            <a:r>
              <a:rPr lang="zh-CN" altLang="en-US" sz="2800" dirty="0">
                <a:solidFill>
                  <a:schemeClr val="tx1"/>
                </a:solidFill>
                <a:latin typeface="华文楷体" panose="02010600040101010101" pitchFamily="2" charset="-122"/>
                <a:ea typeface="华文楷体" panose="02010600040101010101" pitchFamily="2" charset="-122"/>
              </a:rPr>
              <a:t>由电势与电场强度的关系，可得</a:t>
            </a:r>
            <a:endParaRPr lang="en-US" altLang="zh-CN" sz="2800" dirty="0">
              <a:solidFill>
                <a:schemeClr val="tx1"/>
              </a:solidFill>
              <a:latin typeface="华文楷体" panose="02010600040101010101" pitchFamily="2" charset="-122"/>
              <a:ea typeface="华文楷体" panose="02010600040101010101" pitchFamily="2" charset="-122"/>
            </a:endParaRPr>
          </a:p>
        </p:txBody>
      </p:sp>
      <p:cxnSp>
        <p:nvCxnSpPr>
          <p:cNvPr id="13" name="直接连接符 12">
            <a:extLst>
              <a:ext uri="{FF2B5EF4-FFF2-40B4-BE49-F238E27FC236}">
                <a16:creationId xmlns:a16="http://schemas.microsoft.com/office/drawing/2014/main" id="{29BA1859-1F37-439A-9F1A-229E4E6A53BF}"/>
              </a:ext>
            </a:extLst>
          </p:cNvPr>
          <p:cNvCxnSpPr/>
          <p:nvPr/>
        </p:nvCxnSpPr>
        <p:spPr>
          <a:xfrm>
            <a:off x="9610391" y="1494367"/>
            <a:ext cx="0" cy="200905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4A5ADE1-BC08-4C9A-934D-A77CF3C9134C}"/>
              </a:ext>
            </a:extLst>
          </p:cNvPr>
          <p:cNvCxnSpPr>
            <a:cxnSpLocks/>
          </p:cNvCxnSpPr>
          <p:nvPr/>
        </p:nvCxnSpPr>
        <p:spPr>
          <a:xfrm flipH="1">
            <a:off x="9152467" y="1524000"/>
            <a:ext cx="457924" cy="1"/>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F74D5C1B-795F-4B7F-837A-BD5B6729951A}"/>
                  </a:ext>
                </a:extLst>
              </p:cNvPr>
              <p:cNvSpPr/>
              <p:nvPr/>
            </p:nvSpPr>
            <p:spPr>
              <a:xfrm>
                <a:off x="794657" y="5232958"/>
                <a:ext cx="5190011" cy="10714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𝐸</m:t>
                          </m:r>
                        </m:e>
                        <m:sub>
                          <m:r>
                            <a:rPr lang="en-US" altLang="zh-CN" sz="2800" b="0" i="1" smtClean="0">
                              <a:solidFill>
                                <a:schemeClr val="tx1"/>
                              </a:solidFill>
                              <a:latin typeface="Cambria Math" panose="02040503050406030204" pitchFamily="18" charset="0"/>
                            </a:rPr>
                            <m:t>𝑥</m:t>
                          </m:r>
                        </m:sub>
                      </m:sSub>
                      <m:r>
                        <a:rPr lang="en-US" altLang="zh-CN" sz="2800" b="0" i="1" smtClean="0">
                          <a:solidFill>
                            <a:schemeClr val="tx1"/>
                          </a:solidFill>
                          <a:latin typeface="Cambria Math" panose="02040503050406030204" pitchFamily="18" charset="0"/>
                        </a:rPr>
                        <m:t>=−</m:t>
                      </m:r>
                      <m:f>
                        <m:fPr>
                          <m:ctrlPr>
                            <a:rPr lang="en-US" altLang="zh-CN"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m:t>
                          </m:r>
                          <m:r>
                            <a:rPr lang="zh-CN" altLang="en-US" sz="2800" b="0" i="1" smtClean="0">
                              <a:latin typeface="Cambria Math" panose="02040503050406030204" pitchFamily="18" charset="0"/>
                            </a:rPr>
                            <m:t>𝜑</m:t>
                          </m:r>
                        </m:num>
                        <m:den>
                          <m:r>
                            <a:rPr lang="en-US" altLang="zh-CN" sz="2800" b="0" i="1" smtClean="0">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𝑥</m:t>
                          </m:r>
                        </m:den>
                      </m:f>
                      <m:r>
                        <a:rPr lang="en-US" altLang="zh-CN" sz="2800" b="0" i="1" smtClean="0">
                          <a:solidFill>
                            <a:schemeClr val="tx1"/>
                          </a:solidFill>
                          <a:latin typeface="Cambria Math" panose="02040503050406030204" pitchFamily="18" charset="0"/>
                        </a:rPr>
                        <m:t>=</m:t>
                      </m:r>
                      <m:f>
                        <m:fPr>
                          <m:ctrlPr>
                            <a:rPr lang="en-US" altLang="zh-CN"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𝑝</m:t>
                          </m:r>
                          <m:d>
                            <m:dPr>
                              <m:ctrlPr>
                                <a:rPr lang="en-US" altLang="zh-CN" sz="2800" i="1">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2</m:t>
                              </m:r>
                              <m:sSup>
                                <m:sSupPr>
                                  <m:ctrlPr>
                                    <a:rPr lang="en-US" altLang="zh-CN" sz="2800" i="1">
                                      <a:solidFill>
                                        <a:schemeClr val="tx1"/>
                                      </a:solidFill>
                                      <a:latin typeface="Cambria Math" panose="02040503050406030204" pitchFamily="18" charset="0"/>
                                    </a:rPr>
                                  </m:ctrlPr>
                                </m:sSupPr>
                                <m:e>
                                  <m:r>
                                    <a:rPr lang="en-US" altLang="zh-CN" sz="2800" b="0" i="1" smtClean="0">
                                      <a:solidFill>
                                        <a:schemeClr val="tx1"/>
                                      </a:solidFill>
                                      <a:latin typeface="Cambria Math" panose="02040503050406030204" pitchFamily="18" charset="0"/>
                                    </a:rPr>
                                    <m:t>𝑥</m:t>
                                  </m:r>
                                </m:e>
                                <m:sup>
                                  <m:r>
                                    <a:rPr lang="en-US" altLang="zh-CN" sz="2800" b="0" i="1" smtClean="0">
                                      <a:solidFill>
                                        <a:schemeClr val="tx1"/>
                                      </a:solidFill>
                                      <a:latin typeface="Cambria Math" panose="02040503050406030204" pitchFamily="18" charset="0"/>
                                    </a:rPr>
                                    <m:t>2</m:t>
                                  </m:r>
                                </m:sup>
                              </m:sSup>
                              <m:r>
                                <a:rPr lang="en-US" altLang="zh-CN" sz="2800" b="0" i="1" smtClean="0">
                                  <a:solidFill>
                                    <a:schemeClr val="tx1"/>
                                  </a:solidFill>
                                  <a:latin typeface="Cambria Math" panose="02040503050406030204" pitchFamily="18" charset="0"/>
                                </a:rPr>
                                <m:t>−</m:t>
                              </m:r>
                              <m:sSup>
                                <m:sSupPr>
                                  <m:ctrlPr>
                                    <a:rPr lang="en-US" altLang="zh-CN" sz="2800" i="1">
                                      <a:solidFill>
                                        <a:schemeClr val="tx1"/>
                                      </a:solidFill>
                                      <a:latin typeface="Cambria Math" panose="02040503050406030204" pitchFamily="18" charset="0"/>
                                    </a:rPr>
                                  </m:ctrlPr>
                                </m:sSupPr>
                                <m:e>
                                  <m:r>
                                    <a:rPr lang="en-US" altLang="zh-CN" sz="2800" b="0" i="1" smtClean="0">
                                      <a:solidFill>
                                        <a:schemeClr val="tx1"/>
                                      </a:solidFill>
                                      <a:latin typeface="Cambria Math" panose="02040503050406030204" pitchFamily="18" charset="0"/>
                                    </a:rPr>
                                    <m:t>𝑦</m:t>
                                  </m:r>
                                </m:e>
                                <m:sup>
                                  <m:r>
                                    <a:rPr lang="en-US" altLang="zh-CN" sz="2800" b="0" i="1" smtClean="0">
                                      <a:solidFill>
                                        <a:schemeClr val="tx1"/>
                                      </a:solidFill>
                                      <a:latin typeface="Cambria Math" panose="02040503050406030204" pitchFamily="18" charset="0"/>
                                    </a:rPr>
                                    <m:t>2</m:t>
                                  </m:r>
                                </m:sup>
                              </m:sSup>
                            </m:e>
                          </m:d>
                        </m:num>
                        <m:den>
                          <m:r>
                            <a:rPr lang="en-US" altLang="zh-CN" sz="2800" b="0" i="1" smtClean="0">
                              <a:solidFill>
                                <a:schemeClr val="tx1"/>
                              </a:solidFill>
                              <a:latin typeface="Cambria Math" panose="02040503050406030204" pitchFamily="18" charset="0"/>
                            </a:rPr>
                            <m:t>4</m:t>
                          </m:r>
                          <m:r>
                            <a:rPr lang="zh-CN" altLang="en-US" sz="2800" b="0" i="1" smtClean="0">
                              <a:solidFill>
                                <a:schemeClr val="tx1"/>
                              </a:solidFill>
                              <a:latin typeface="Cambria Math" panose="02040503050406030204" pitchFamily="18" charset="0"/>
                            </a:rPr>
                            <m:t>𝜋</m:t>
                          </m:r>
                          <m:sSub>
                            <m:sSubPr>
                              <m:ctrlPr>
                                <a:rPr lang="en-US" altLang="zh-CN" sz="2800" i="1">
                                  <a:solidFill>
                                    <a:schemeClr val="tx1"/>
                                  </a:solidFill>
                                  <a:latin typeface="Cambria Math" panose="02040503050406030204" pitchFamily="18" charset="0"/>
                                </a:rPr>
                              </m:ctrlPr>
                            </m:sSubPr>
                            <m:e>
                              <m:r>
                                <a:rPr lang="zh-CN" altLang="en-US" sz="2800" b="0" i="1" smtClean="0">
                                  <a:solidFill>
                                    <a:schemeClr val="tx1"/>
                                  </a:solidFill>
                                  <a:latin typeface="Cambria Math" panose="02040503050406030204" pitchFamily="18" charset="0"/>
                                </a:rPr>
                                <m:t>𝜀</m:t>
                              </m:r>
                            </m:e>
                            <m:sub>
                              <m:r>
                                <a:rPr lang="en-US" altLang="zh-CN" sz="2800" b="0" i="1" smtClean="0">
                                  <a:solidFill>
                                    <a:schemeClr val="tx1"/>
                                  </a:solidFill>
                                  <a:latin typeface="Cambria Math" panose="02040503050406030204" pitchFamily="18" charset="0"/>
                                </a:rPr>
                                <m:t>0</m:t>
                              </m:r>
                            </m:sub>
                          </m:sSub>
                          <m:sSup>
                            <m:sSupPr>
                              <m:ctrlPr>
                                <a:rPr lang="en-US" altLang="zh-CN" sz="2800" i="1">
                                  <a:solidFill>
                                    <a:schemeClr val="tx1"/>
                                  </a:solidFill>
                                  <a:latin typeface="Cambria Math" panose="02040503050406030204" pitchFamily="18" charset="0"/>
                                </a:rPr>
                              </m:ctrlPr>
                            </m:sSupPr>
                            <m:e>
                              <m:d>
                                <m:dPr>
                                  <m:ctrlPr>
                                    <a:rPr lang="en-US" altLang="zh-CN" sz="2800" i="1">
                                      <a:solidFill>
                                        <a:schemeClr val="tx1"/>
                                      </a:solidFill>
                                      <a:latin typeface="Cambria Math" panose="02040503050406030204" pitchFamily="18" charset="0"/>
                                    </a:rPr>
                                  </m:ctrlPr>
                                </m:dPr>
                                <m:e>
                                  <m:sSup>
                                    <m:sSupPr>
                                      <m:ctrlPr>
                                        <a:rPr lang="en-US" altLang="zh-CN" sz="2800" i="1">
                                          <a:solidFill>
                                            <a:schemeClr val="tx1"/>
                                          </a:solidFill>
                                          <a:latin typeface="Cambria Math" panose="02040503050406030204" pitchFamily="18" charset="0"/>
                                        </a:rPr>
                                      </m:ctrlPr>
                                    </m:sSupPr>
                                    <m:e>
                                      <m:r>
                                        <a:rPr lang="en-US" altLang="zh-CN" sz="2800" b="0" i="1" smtClean="0">
                                          <a:solidFill>
                                            <a:schemeClr val="tx1"/>
                                          </a:solidFill>
                                          <a:latin typeface="Cambria Math" panose="02040503050406030204" pitchFamily="18" charset="0"/>
                                        </a:rPr>
                                        <m:t>𝑥</m:t>
                                      </m:r>
                                    </m:e>
                                    <m:sup>
                                      <m:r>
                                        <a:rPr lang="en-US" altLang="zh-CN" sz="2800" b="0" i="1" smtClean="0">
                                          <a:solidFill>
                                            <a:schemeClr val="tx1"/>
                                          </a:solidFill>
                                          <a:latin typeface="Cambria Math" panose="02040503050406030204" pitchFamily="18" charset="0"/>
                                        </a:rPr>
                                        <m:t>2</m:t>
                                      </m:r>
                                    </m:sup>
                                  </m:sSup>
                                  <m:r>
                                    <a:rPr lang="en-US" altLang="zh-CN" sz="2800" b="0" i="1" smtClean="0">
                                      <a:solidFill>
                                        <a:schemeClr val="tx1"/>
                                      </a:solidFill>
                                      <a:latin typeface="Cambria Math" panose="02040503050406030204" pitchFamily="18" charset="0"/>
                                    </a:rPr>
                                    <m:t>+</m:t>
                                  </m:r>
                                  <m:sSup>
                                    <m:sSupPr>
                                      <m:ctrlPr>
                                        <a:rPr lang="en-US" altLang="zh-CN" sz="2800" i="1">
                                          <a:solidFill>
                                            <a:schemeClr val="tx1"/>
                                          </a:solidFill>
                                          <a:latin typeface="Cambria Math" panose="02040503050406030204" pitchFamily="18" charset="0"/>
                                        </a:rPr>
                                      </m:ctrlPr>
                                    </m:sSupPr>
                                    <m:e>
                                      <m:r>
                                        <a:rPr lang="en-US" altLang="zh-CN" sz="2800" b="0" i="1" smtClean="0">
                                          <a:solidFill>
                                            <a:schemeClr val="tx1"/>
                                          </a:solidFill>
                                          <a:latin typeface="Cambria Math" panose="02040503050406030204" pitchFamily="18" charset="0"/>
                                        </a:rPr>
                                        <m:t>𝑦</m:t>
                                      </m:r>
                                    </m:e>
                                    <m:sup>
                                      <m:r>
                                        <a:rPr lang="en-US" altLang="zh-CN" sz="2800" b="0" i="1" smtClean="0">
                                          <a:solidFill>
                                            <a:schemeClr val="tx1"/>
                                          </a:solidFill>
                                          <a:latin typeface="Cambria Math" panose="02040503050406030204" pitchFamily="18" charset="0"/>
                                        </a:rPr>
                                        <m:t>2</m:t>
                                      </m:r>
                                    </m:sup>
                                  </m:sSup>
                                </m:e>
                              </m:d>
                            </m:e>
                            <m:sup>
                              <m:f>
                                <m:fPr>
                                  <m:type m:val="lin"/>
                                  <m:ctrlPr>
                                    <a:rPr lang="en-US" altLang="zh-CN"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5</m:t>
                                  </m:r>
                                </m:num>
                                <m:den>
                                  <m:r>
                                    <a:rPr lang="en-US" altLang="zh-CN" sz="2800" b="0" i="1" smtClean="0">
                                      <a:solidFill>
                                        <a:schemeClr val="tx1"/>
                                      </a:solidFill>
                                      <a:latin typeface="Cambria Math" panose="02040503050406030204" pitchFamily="18" charset="0"/>
                                    </a:rPr>
                                    <m:t>2</m:t>
                                  </m:r>
                                </m:den>
                              </m:f>
                            </m:sup>
                          </m:sSup>
                        </m:den>
                      </m:f>
                    </m:oMath>
                  </m:oMathPara>
                </a14:m>
                <a:endParaRPr lang="en-US" sz="2800" dirty="0"/>
              </a:p>
            </p:txBody>
          </p:sp>
        </mc:Choice>
        <mc:Fallback xmlns="">
          <p:sp>
            <p:nvSpPr>
              <p:cNvPr id="21" name="矩形 20">
                <a:extLst>
                  <a:ext uri="{FF2B5EF4-FFF2-40B4-BE49-F238E27FC236}">
                    <a16:creationId xmlns:a16="http://schemas.microsoft.com/office/drawing/2014/main" id="{F74D5C1B-795F-4B7F-837A-BD5B6729951A}"/>
                  </a:ext>
                </a:extLst>
              </p:cNvPr>
              <p:cNvSpPr>
                <a:spLocks noRot="1" noChangeAspect="1" noMove="1" noResize="1" noEditPoints="1" noAdjustHandles="1" noChangeArrowheads="1" noChangeShapeType="1" noTextEdit="1"/>
              </p:cNvSpPr>
              <p:nvPr/>
            </p:nvSpPr>
            <p:spPr>
              <a:xfrm>
                <a:off x="794657" y="5232958"/>
                <a:ext cx="5190011" cy="107144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4FBD423F-7632-4FB1-8D76-042A7ED11F07}"/>
                  </a:ext>
                </a:extLst>
              </p:cNvPr>
              <p:cNvSpPr/>
              <p:nvPr/>
            </p:nvSpPr>
            <p:spPr>
              <a:xfrm>
                <a:off x="6265742" y="5302912"/>
                <a:ext cx="5196423" cy="10014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𝐸</m:t>
                          </m:r>
                        </m:e>
                        <m:sub>
                          <m:r>
                            <a:rPr lang="en-US" altLang="zh-CN" sz="2800" b="0" i="1" smtClean="0">
                              <a:solidFill>
                                <a:schemeClr val="tx1"/>
                              </a:solidFill>
                              <a:latin typeface="Cambria Math" panose="02040503050406030204" pitchFamily="18" charset="0"/>
                            </a:rPr>
                            <m:t>𝑦</m:t>
                          </m:r>
                        </m:sub>
                      </m:sSub>
                      <m:r>
                        <a:rPr lang="en-US" altLang="zh-CN" sz="2800" b="0" i="1" smtClean="0">
                          <a:solidFill>
                            <a:schemeClr val="tx1"/>
                          </a:solidFill>
                          <a:latin typeface="Cambria Math" panose="02040503050406030204" pitchFamily="18" charset="0"/>
                        </a:rPr>
                        <m:t>=−</m:t>
                      </m:r>
                      <m:f>
                        <m:fPr>
                          <m:ctrlPr>
                            <a:rPr lang="en-US" altLang="zh-CN"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m:t>
                          </m:r>
                          <m:r>
                            <a:rPr lang="zh-CN" altLang="en-US" sz="2800" b="0" i="1" smtClean="0">
                              <a:latin typeface="Cambria Math" panose="02040503050406030204" pitchFamily="18" charset="0"/>
                            </a:rPr>
                            <m:t>𝜑</m:t>
                          </m:r>
                        </m:num>
                        <m:den>
                          <m:r>
                            <a:rPr lang="en-US" altLang="zh-CN" sz="2800" b="0" i="1" smtClean="0">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𝑦</m:t>
                          </m:r>
                        </m:den>
                      </m:f>
                      <m:r>
                        <a:rPr lang="en-US" altLang="zh-CN" sz="2800" b="0" i="1" smtClean="0">
                          <a:solidFill>
                            <a:schemeClr val="tx1"/>
                          </a:solidFill>
                          <a:latin typeface="Cambria Math" panose="02040503050406030204" pitchFamily="18" charset="0"/>
                        </a:rPr>
                        <m:t>=</m:t>
                      </m:r>
                      <m:f>
                        <m:fPr>
                          <m:ctrlPr>
                            <a:rPr lang="en-US" altLang="zh-CN"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3</m:t>
                          </m:r>
                          <m:r>
                            <a:rPr lang="en-US" altLang="zh-CN" sz="2800" b="0" i="1" smtClean="0">
                              <a:solidFill>
                                <a:schemeClr val="tx1"/>
                              </a:solidFill>
                              <a:latin typeface="Cambria Math" panose="02040503050406030204" pitchFamily="18" charset="0"/>
                            </a:rPr>
                            <m:t>𝑝𝑥𝑦</m:t>
                          </m:r>
                        </m:num>
                        <m:den>
                          <m:r>
                            <a:rPr lang="en-US" altLang="zh-CN" sz="2800" b="0" i="1" smtClean="0">
                              <a:solidFill>
                                <a:schemeClr val="tx1"/>
                              </a:solidFill>
                              <a:latin typeface="Cambria Math" panose="02040503050406030204" pitchFamily="18" charset="0"/>
                            </a:rPr>
                            <m:t>4</m:t>
                          </m:r>
                          <m:r>
                            <a:rPr lang="zh-CN" altLang="en-US" sz="2800" b="0" i="1" smtClean="0">
                              <a:solidFill>
                                <a:schemeClr val="tx1"/>
                              </a:solidFill>
                              <a:latin typeface="Cambria Math" panose="02040503050406030204" pitchFamily="18" charset="0"/>
                            </a:rPr>
                            <m:t>𝜋</m:t>
                          </m:r>
                          <m:sSub>
                            <m:sSubPr>
                              <m:ctrlPr>
                                <a:rPr lang="en-US" altLang="zh-CN" sz="2800" i="1">
                                  <a:solidFill>
                                    <a:schemeClr val="tx1"/>
                                  </a:solidFill>
                                  <a:latin typeface="Cambria Math" panose="02040503050406030204" pitchFamily="18" charset="0"/>
                                </a:rPr>
                              </m:ctrlPr>
                            </m:sSubPr>
                            <m:e>
                              <m:r>
                                <a:rPr lang="zh-CN" altLang="en-US" sz="2800" b="0" i="1" smtClean="0">
                                  <a:solidFill>
                                    <a:schemeClr val="tx1"/>
                                  </a:solidFill>
                                  <a:latin typeface="Cambria Math" panose="02040503050406030204" pitchFamily="18" charset="0"/>
                                </a:rPr>
                                <m:t>𝜀</m:t>
                              </m:r>
                            </m:e>
                            <m:sub>
                              <m:r>
                                <a:rPr lang="en-US" altLang="zh-CN" sz="2800" b="0" i="1" smtClean="0">
                                  <a:solidFill>
                                    <a:schemeClr val="tx1"/>
                                  </a:solidFill>
                                  <a:latin typeface="Cambria Math" panose="02040503050406030204" pitchFamily="18" charset="0"/>
                                </a:rPr>
                                <m:t>0</m:t>
                              </m:r>
                            </m:sub>
                          </m:sSub>
                          <m:sSup>
                            <m:sSupPr>
                              <m:ctrlPr>
                                <a:rPr lang="en-US" altLang="zh-CN" sz="2800" i="1">
                                  <a:solidFill>
                                    <a:schemeClr val="tx1"/>
                                  </a:solidFill>
                                  <a:latin typeface="Cambria Math" panose="02040503050406030204" pitchFamily="18" charset="0"/>
                                </a:rPr>
                              </m:ctrlPr>
                            </m:sSupPr>
                            <m:e>
                              <m:d>
                                <m:dPr>
                                  <m:ctrlPr>
                                    <a:rPr lang="en-US" altLang="zh-CN" sz="2800" i="1">
                                      <a:solidFill>
                                        <a:schemeClr val="tx1"/>
                                      </a:solidFill>
                                      <a:latin typeface="Cambria Math" panose="02040503050406030204" pitchFamily="18" charset="0"/>
                                    </a:rPr>
                                  </m:ctrlPr>
                                </m:dPr>
                                <m:e>
                                  <m:sSup>
                                    <m:sSupPr>
                                      <m:ctrlPr>
                                        <a:rPr lang="en-US" altLang="zh-CN" sz="2800" i="1">
                                          <a:solidFill>
                                            <a:schemeClr val="tx1"/>
                                          </a:solidFill>
                                          <a:latin typeface="Cambria Math" panose="02040503050406030204" pitchFamily="18" charset="0"/>
                                        </a:rPr>
                                      </m:ctrlPr>
                                    </m:sSupPr>
                                    <m:e>
                                      <m:r>
                                        <a:rPr lang="en-US" altLang="zh-CN" sz="2800" b="0" i="1" smtClean="0">
                                          <a:solidFill>
                                            <a:schemeClr val="tx1"/>
                                          </a:solidFill>
                                          <a:latin typeface="Cambria Math" panose="02040503050406030204" pitchFamily="18" charset="0"/>
                                        </a:rPr>
                                        <m:t>𝑥</m:t>
                                      </m:r>
                                    </m:e>
                                    <m:sup>
                                      <m:r>
                                        <a:rPr lang="en-US" altLang="zh-CN" sz="2800" b="0" i="1" smtClean="0">
                                          <a:solidFill>
                                            <a:schemeClr val="tx1"/>
                                          </a:solidFill>
                                          <a:latin typeface="Cambria Math" panose="02040503050406030204" pitchFamily="18" charset="0"/>
                                        </a:rPr>
                                        <m:t>2</m:t>
                                      </m:r>
                                    </m:sup>
                                  </m:sSup>
                                  <m:r>
                                    <a:rPr lang="en-US" altLang="zh-CN" sz="2800" b="0" i="1" smtClean="0">
                                      <a:solidFill>
                                        <a:schemeClr val="tx1"/>
                                      </a:solidFill>
                                      <a:latin typeface="Cambria Math" panose="02040503050406030204" pitchFamily="18" charset="0"/>
                                    </a:rPr>
                                    <m:t>+</m:t>
                                  </m:r>
                                  <m:sSup>
                                    <m:sSupPr>
                                      <m:ctrlPr>
                                        <a:rPr lang="en-US" altLang="zh-CN" sz="2800" i="1">
                                          <a:solidFill>
                                            <a:schemeClr val="tx1"/>
                                          </a:solidFill>
                                          <a:latin typeface="Cambria Math" panose="02040503050406030204" pitchFamily="18" charset="0"/>
                                        </a:rPr>
                                      </m:ctrlPr>
                                    </m:sSupPr>
                                    <m:e>
                                      <m:r>
                                        <a:rPr lang="en-US" altLang="zh-CN" sz="2800" b="0" i="1" smtClean="0">
                                          <a:solidFill>
                                            <a:schemeClr val="tx1"/>
                                          </a:solidFill>
                                          <a:latin typeface="Cambria Math" panose="02040503050406030204" pitchFamily="18" charset="0"/>
                                        </a:rPr>
                                        <m:t>𝑦</m:t>
                                      </m:r>
                                    </m:e>
                                    <m:sup>
                                      <m:r>
                                        <a:rPr lang="en-US" altLang="zh-CN" sz="2800" b="0" i="1" smtClean="0">
                                          <a:solidFill>
                                            <a:schemeClr val="tx1"/>
                                          </a:solidFill>
                                          <a:latin typeface="Cambria Math" panose="02040503050406030204" pitchFamily="18" charset="0"/>
                                        </a:rPr>
                                        <m:t>2</m:t>
                                      </m:r>
                                    </m:sup>
                                  </m:sSup>
                                </m:e>
                              </m:d>
                            </m:e>
                            <m:sup>
                              <m:f>
                                <m:fPr>
                                  <m:type m:val="lin"/>
                                  <m:ctrlPr>
                                    <a:rPr lang="en-US" altLang="zh-CN" sz="2800" i="1">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5</m:t>
                                  </m:r>
                                </m:num>
                                <m:den>
                                  <m:r>
                                    <a:rPr lang="en-US" altLang="zh-CN" sz="2800" b="0" i="1" smtClean="0">
                                      <a:solidFill>
                                        <a:schemeClr val="tx1"/>
                                      </a:solidFill>
                                      <a:latin typeface="Cambria Math" panose="02040503050406030204" pitchFamily="18" charset="0"/>
                                    </a:rPr>
                                    <m:t>2</m:t>
                                  </m:r>
                                </m:den>
                              </m:f>
                            </m:sup>
                          </m:sSup>
                        </m:den>
                      </m:f>
                    </m:oMath>
                  </m:oMathPara>
                </a14:m>
                <a:endParaRPr lang="en-US" sz="2800" dirty="0"/>
              </a:p>
            </p:txBody>
          </p:sp>
        </mc:Choice>
        <mc:Fallback xmlns="">
          <p:sp>
            <p:nvSpPr>
              <p:cNvPr id="22" name="矩形 21">
                <a:extLst>
                  <a:ext uri="{FF2B5EF4-FFF2-40B4-BE49-F238E27FC236}">
                    <a16:creationId xmlns:a16="http://schemas.microsoft.com/office/drawing/2014/main" id="{4FBD423F-7632-4FB1-8D76-042A7ED11F07}"/>
                  </a:ext>
                </a:extLst>
              </p:cNvPr>
              <p:cNvSpPr>
                <a:spLocks noRot="1" noChangeAspect="1" noMove="1" noResize="1" noEditPoints="1" noAdjustHandles="1" noChangeArrowheads="1" noChangeShapeType="1" noTextEdit="1"/>
              </p:cNvSpPr>
              <p:nvPr/>
            </p:nvSpPr>
            <p:spPr>
              <a:xfrm>
                <a:off x="6265742" y="5302912"/>
                <a:ext cx="5196423" cy="1001493"/>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1239507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9" grpId="0"/>
      <p:bldP spid="10" grpId="0"/>
      <p:bldP spid="21" grpId="0"/>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83D3B45A-F6A5-47C4-B1AF-E2DA45C82370}"/>
              </a:ext>
            </a:extLst>
          </p:cNvPr>
          <p:cNvSpPr>
            <a:spLocks noGrp="1"/>
          </p:cNvSpPr>
          <p:nvPr>
            <p:ph type="title"/>
          </p:nvPr>
        </p:nvSpPr>
        <p:spPr/>
        <p:txBody>
          <a:bodyPr>
            <a:normAutofit/>
          </a:bodyPr>
          <a:lstStyle/>
          <a:p>
            <a:r>
              <a:rPr lang="zh-CN" altLang="en-US" sz="3200" dirty="0">
                <a:latin typeface="华文楷体" panose="02010600040101010101" pitchFamily="2" charset="-122"/>
                <a:ea typeface="华文楷体" panose="02010600040101010101" pitchFamily="2" charset="-122"/>
              </a:rPr>
              <a:t>例：</a:t>
            </a:r>
            <a:r>
              <a:rPr lang="zh-CN" altLang="en-US" sz="3200" dirty="0">
                <a:solidFill>
                  <a:schemeClr val="tx1"/>
                </a:solidFill>
                <a:latin typeface="华文楷体" panose="02010600040101010101" pitchFamily="2" charset="-122"/>
                <a:ea typeface="华文楷体" panose="02010600040101010101" pitchFamily="2" charset="-122"/>
              </a:rPr>
              <a:t>由电偶极子的电势分布求其电场强度</a:t>
            </a:r>
          </a:p>
        </p:txBody>
      </p:sp>
      <p:pic>
        <p:nvPicPr>
          <p:cNvPr id="11" name="内容占位符 10">
            <a:extLst>
              <a:ext uri="{FF2B5EF4-FFF2-40B4-BE49-F238E27FC236}">
                <a16:creationId xmlns:a16="http://schemas.microsoft.com/office/drawing/2014/main" id="{50391FE7-A942-4FC4-864C-ECDEEFCBF011}"/>
              </a:ext>
            </a:extLst>
          </p:cNvPr>
          <p:cNvPicPr>
            <a:picLocks noGrp="1" noChangeAspect="1"/>
          </p:cNvPicPr>
          <p:nvPr>
            <p:ph sz="half" idx="2"/>
          </p:nvPr>
        </p:nvPicPr>
        <p:blipFill>
          <a:blip r:embed="rId2"/>
          <a:stretch>
            <a:fillRect/>
          </a:stretch>
        </p:blipFill>
        <p:spPr>
          <a:xfrm>
            <a:off x="7966554" y="1127505"/>
            <a:ext cx="3287674" cy="3328600"/>
          </a:xfrm>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88B124AA-4198-4B19-B8FA-C7E44AB742C4}"/>
                  </a:ext>
                </a:extLst>
              </p:cNvPr>
              <p:cNvSpPr/>
              <p:nvPr/>
            </p:nvSpPr>
            <p:spPr>
              <a:xfrm>
                <a:off x="1149504" y="1405733"/>
                <a:ext cx="5785270" cy="1032462"/>
              </a:xfrm>
              <a:prstGeom prst="rect">
                <a:avLst/>
              </a:prstGeom>
            </p:spPr>
            <p:txBody>
              <a:bodyPr wrap="square">
                <a:spAutoFit/>
              </a:bodyPr>
              <a:lstStyle/>
              <a:p>
                <a:pPr>
                  <a:lnSpc>
                    <a:spcPct val="120000"/>
                  </a:lnSpc>
                </a:pPr>
                <a:r>
                  <a:rPr lang="zh-CN" altLang="en-US" sz="2800" dirty="0">
                    <a:latin typeface="华文楷体" panose="02010600040101010101" pitchFamily="2" charset="-122"/>
                    <a:ea typeface="华文楷体" panose="02010600040101010101" pitchFamily="2" charset="-122"/>
                  </a:rPr>
                  <a:t>电偶极子电势</a:t>
                </a:r>
                <a:r>
                  <a:rPr lang="zh-CN" altLang="en-US" sz="3200" dirty="0">
                    <a:latin typeface="华文楷体" panose="02010600040101010101" pitchFamily="2" charset="-122"/>
                    <a:ea typeface="华文楷体" panose="02010600040101010101" pitchFamily="2" charset="-122"/>
                  </a:rPr>
                  <a:t>：</a:t>
                </a:r>
                <a14:m>
                  <m:oMath xmlns:m="http://schemas.openxmlformats.org/officeDocument/2006/math">
                    <m:r>
                      <a:rPr lang="en-US" altLang="zh-CN" sz="3200" b="0" i="0" smtClean="0">
                        <a:solidFill>
                          <a:schemeClr val="tx1"/>
                        </a:solidFill>
                        <a:latin typeface="Cambria Math" panose="02040503050406030204" pitchFamily="18" charset="0"/>
                      </a:rPr>
                      <m:t> </m:t>
                    </m:r>
                    <m:sSub>
                      <m:sSubPr>
                        <m:ctrlPr>
                          <a:rPr lang="en-US" altLang="zh-CN" sz="3200" i="1">
                            <a:solidFill>
                              <a:schemeClr val="tx1"/>
                            </a:solidFill>
                            <a:latin typeface="Cambria Math" panose="02040503050406030204" pitchFamily="18" charset="0"/>
                          </a:rPr>
                        </m:ctrlPr>
                      </m:sSubPr>
                      <m:e>
                        <m:r>
                          <a:rPr lang="zh-CN" altLang="en-US" sz="3200" b="0" i="1">
                            <a:latin typeface="Cambria Math" panose="02040503050406030204" pitchFamily="18" charset="0"/>
                          </a:rPr>
                          <m:t>𝜑</m:t>
                        </m:r>
                      </m:e>
                      <m:sub>
                        <m:r>
                          <a:rPr lang="en-US" altLang="zh-CN" sz="3200" b="0" i="1">
                            <a:solidFill>
                              <a:schemeClr val="tx1"/>
                            </a:solidFill>
                            <a:latin typeface="Cambria Math" panose="02040503050406030204" pitchFamily="18" charset="0"/>
                          </a:rPr>
                          <m:t>𝑝</m:t>
                        </m:r>
                      </m:sub>
                    </m:sSub>
                    <m:r>
                      <a:rPr lang="en-US" altLang="zh-CN" sz="3200" b="0" i="1">
                        <a:solidFill>
                          <a:schemeClr val="tx1"/>
                        </a:solidFill>
                        <a:latin typeface="Cambria Math" panose="02040503050406030204" pitchFamily="18" charset="0"/>
                      </a:rPr>
                      <m:t>=</m:t>
                    </m:r>
                    <m:f>
                      <m:fPr>
                        <m:ctrlPr>
                          <a:rPr lang="en-US" altLang="zh-CN" sz="3200" i="1">
                            <a:solidFill>
                              <a:schemeClr val="tx1"/>
                            </a:solidFill>
                            <a:latin typeface="Cambria Math" panose="02040503050406030204" pitchFamily="18" charset="0"/>
                          </a:rPr>
                        </m:ctrlPr>
                      </m:fPr>
                      <m:num>
                        <m:r>
                          <a:rPr lang="en-US" altLang="zh-CN" sz="3200" b="0" i="1">
                            <a:solidFill>
                              <a:schemeClr val="tx1"/>
                            </a:solidFill>
                            <a:latin typeface="Cambria Math" panose="02040503050406030204" pitchFamily="18" charset="0"/>
                          </a:rPr>
                          <m:t>𝑝</m:t>
                        </m:r>
                        <m:func>
                          <m:funcPr>
                            <m:ctrlPr>
                              <a:rPr lang="en-US" altLang="zh-CN" sz="3200" i="1">
                                <a:solidFill>
                                  <a:schemeClr val="tx1"/>
                                </a:solidFill>
                                <a:latin typeface="Cambria Math" panose="02040503050406030204" pitchFamily="18" charset="0"/>
                                <a:ea typeface="Cambria Math" panose="02040503050406030204" pitchFamily="18" charset="0"/>
                              </a:rPr>
                            </m:ctrlPr>
                          </m:funcPr>
                          <m:fName>
                            <m:r>
                              <a:rPr lang="en-US" altLang="zh-CN" sz="3200" b="0" i="1">
                                <a:solidFill>
                                  <a:schemeClr val="tx1"/>
                                </a:solidFill>
                                <a:latin typeface="Cambria Math" panose="02040503050406030204" pitchFamily="18" charset="0"/>
                                <a:ea typeface="Cambria Math" panose="02040503050406030204" pitchFamily="18" charset="0"/>
                              </a:rPr>
                              <m:t>𝑐𝑜𝑠</m:t>
                            </m:r>
                          </m:fName>
                          <m:e>
                            <m:r>
                              <a:rPr lang="zh-CN" altLang="en-US" sz="3200" b="0" i="1">
                                <a:solidFill>
                                  <a:schemeClr val="tx1"/>
                                </a:solidFill>
                                <a:latin typeface="Cambria Math" panose="02040503050406030204" pitchFamily="18" charset="0"/>
                                <a:ea typeface="Cambria Math" panose="02040503050406030204" pitchFamily="18" charset="0"/>
                              </a:rPr>
                              <m:t>𝜃</m:t>
                            </m:r>
                          </m:e>
                        </m:func>
                      </m:num>
                      <m:den>
                        <m:r>
                          <a:rPr lang="en-US" altLang="zh-CN" sz="3200" b="0" i="1">
                            <a:solidFill>
                              <a:schemeClr val="tx1"/>
                            </a:solidFill>
                            <a:latin typeface="Cambria Math" panose="02040503050406030204" pitchFamily="18" charset="0"/>
                          </a:rPr>
                          <m:t>4</m:t>
                        </m:r>
                        <m:r>
                          <a:rPr lang="zh-CN" altLang="en-US" sz="3200" b="0" i="1">
                            <a:solidFill>
                              <a:schemeClr val="tx1"/>
                            </a:solidFill>
                            <a:latin typeface="Cambria Math" panose="02040503050406030204" pitchFamily="18" charset="0"/>
                          </a:rPr>
                          <m:t>𝜋</m:t>
                        </m:r>
                        <m:sSub>
                          <m:sSubPr>
                            <m:ctrlPr>
                              <a:rPr lang="en-US" altLang="zh-CN" sz="3200" i="1">
                                <a:solidFill>
                                  <a:schemeClr val="tx1"/>
                                </a:solidFill>
                                <a:latin typeface="Cambria Math" panose="02040503050406030204" pitchFamily="18" charset="0"/>
                              </a:rPr>
                            </m:ctrlPr>
                          </m:sSubPr>
                          <m:e>
                            <m:r>
                              <a:rPr lang="zh-CN" altLang="en-US" sz="3200" b="0" i="1">
                                <a:solidFill>
                                  <a:schemeClr val="tx1"/>
                                </a:solidFill>
                                <a:latin typeface="Cambria Math" panose="02040503050406030204" pitchFamily="18" charset="0"/>
                              </a:rPr>
                              <m:t>𝜀</m:t>
                            </m:r>
                          </m:e>
                          <m:sub>
                            <m:r>
                              <a:rPr lang="en-US" altLang="zh-CN" sz="3200" b="0" i="1">
                                <a:solidFill>
                                  <a:schemeClr val="tx1"/>
                                </a:solidFill>
                                <a:latin typeface="Cambria Math" panose="02040503050406030204" pitchFamily="18" charset="0"/>
                              </a:rPr>
                              <m:t>0</m:t>
                            </m:r>
                          </m:sub>
                        </m:sSub>
                        <m:sSup>
                          <m:sSupPr>
                            <m:ctrlPr>
                              <a:rPr lang="en-US" altLang="zh-CN" sz="3200" i="1">
                                <a:solidFill>
                                  <a:schemeClr val="tx1"/>
                                </a:solidFill>
                                <a:latin typeface="Cambria Math" panose="02040503050406030204" pitchFamily="18" charset="0"/>
                              </a:rPr>
                            </m:ctrlPr>
                          </m:sSupPr>
                          <m:e>
                            <m:r>
                              <a:rPr lang="en-US" altLang="zh-CN" sz="3200" b="0" i="1">
                                <a:solidFill>
                                  <a:schemeClr val="tx1"/>
                                </a:solidFill>
                                <a:latin typeface="Cambria Math" panose="02040503050406030204" pitchFamily="18" charset="0"/>
                              </a:rPr>
                              <m:t>𝑟</m:t>
                            </m:r>
                          </m:e>
                          <m:sup>
                            <m:r>
                              <a:rPr lang="en-US" altLang="zh-CN" sz="3200" b="0" i="1">
                                <a:solidFill>
                                  <a:schemeClr val="tx1"/>
                                </a:solidFill>
                                <a:latin typeface="Cambria Math" panose="02040503050406030204" pitchFamily="18" charset="0"/>
                              </a:rPr>
                              <m:t>2</m:t>
                            </m:r>
                          </m:sup>
                        </m:sSup>
                      </m:den>
                    </m:f>
                  </m:oMath>
                </a14:m>
                <a:endParaRPr lang="en-US" sz="3200" dirty="0"/>
              </a:p>
            </p:txBody>
          </p:sp>
        </mc:Choice>
        <mc:Fallback xmlns="">
          <p:sp>
            <p:nvSpPr>
              <p:cNvPr id="3" name="矩形 2">
                <a:extLst>
                  <a:ext uri="{FF2B5EF4-FFF2-40B4-BE49-F238E27FC236}">
                    <a16:creationId xmlns:a16="http://schemas.microsoft.com/office/drawing/2014/main" id="{88B124AA-4198-4B19-B8FA-C7E44AB742C4}"/>
                  </a:ext>
                </a:extLst>
              </p:cNvPr>
              <p:cNvSpPr>
                <a:spLocks noRot="1" noChangeAspect="1" noMove="1" noResize="1" noEditPoints="1" noAdjustHandles="1" noChangeArrowheads="1" noChangeShapeType="1" noTextEdit="1"/>
              </p:cNvSpPr>
              <p:nvPr/>
            </p:nvSpPr>
            <p:spPr>
              <a:xfrm>
                <a:off x="1149504" y="1405733"/>
                <a:ext cx="5785270" cy="1032462"/>
              </a:xfrm>
              <a:prstGeom prst="rect">
                <a:avLst/>
              </a:prstGeom>
              <a:blipFill>
                <a:blip r:embed="rId3"/>
                <a:stretch>
                  <a:fillRect l="-2213" b="-3550"/>
                </a:stretch>
              </a:blipFill>
            </p:spPr>
            <p:txBody>
              <a:bodyPr/>
              <a:lstStyle/>
              <a:p>
                <a:r>
                  <a:rPr lang="en-US">
                    <a:noFill/>
                  </a:rPr>
                  <a:t> </a:t>
                </a:r>
              </a:p>
            </p:txBody>
          </p:sp>
        </mc:Fallback>
      </mc:AlternateContent>
      <p:cxnSp>
        <p:nvCxnSpPr>
          <p:cNvPr id="13" name="直接连接符 12">
            <a:extLst>
              <a:ext uri="{FF2B5EF4-FFF2-40B4-BE49-F238E27FC236}">
                <a16:creationId xmlns:a16="http://schemas.microsoft.com/office/drawing/2014/main" id="{29BA1859-1F37-439A-9F1A-229E4E6A53BF}"/>
              </a:ext>
            </a:extLst>
          </p:cNvPr>
          <p:cNvCxnSpPr/>
          <p:nvPr/>
        </p:nvCxnSpPr>
        <p:spPr>
          <a:xfrm>
            <a:off x="9610391" y="1494367"/>
            <a:ext cx="0" cy="200905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4A5ADE1-BC08-4C9A-934D-A77CF3C9134C}"/>
              </a:ext>
            </a:extLst>
          </p:cNvPr>
          <p:cNvCxnSpPr>
            <a:cxnSpLocks/>
          </p:cNvCxnSpPr>
          <p:nvPr/>
        </p:nvCxnSpPr>
        <p:spPr>
          <a:xfrm flipH="1">
            <a:off x="9152467" y="1524000"/>
            <a:ext cx="457924" cy="1"/>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Object 95">
                <a:extLst>
                  <a:ext uri="{FF2B5EF4-FFF2-40B4-BE49-F238E27FC236}">
                    <a16:creationId xmlns:a16="http://schemas.microsoft.com/office/drawing/2014/main" id="{84988383-24A7-4396-894D-12AA29B53860}"/>
                  </a:ext>
                </a:extLst>
              </p:cNvPr>
              <p:cNvSpPr txBox="1"/>
              <p:nvPr/>
            </p:nvSpPr>
            <p:spPr bwMode="auto">
              <a:xfrm>
                <a:off x="937772" y="2674604"/>
                <a:ext cx="3458653" cy="7747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𝐸</m:t>
                      </m:r>
                      <m:r>
                        <a:rPr lang="en-US" sz="2800" i="1">
                          <a:solidFill>
                            <a:srgbClr val="000000"/>
                          </a:solidFill>
                          <a:latin typeface="Cambria Math" panose="02040503050406030204" pitchFamily="18" charset="0"/>
                        </a:rPr>
                        <m:t>=</m:t>
                      </m:r>
                      <m:rad>
                        <m:radPr>
                          <m:degHide m:val="on"/>
                          <m:ctrlPr>
                            <a:rPr lang="en-US" sz="2800" i="1">
                              <a:solidFill>
                                <a:srgbClr val="000000"/>
                              </a:solidFill>
                              <a:latin typeface="Cambria Math" panose="02040503050406030204" pitchFamily="18" charset="0"/>
                            </a:rPr>
                          </m:ctrlPr>
                        </m:radPr>
                        <m:deg/>
                        <m:e>
                          <m:sSubSup>
                            <m:sSubSupPr>
                              <m:ctrlPr>
                                <a:rPr lang="en-US" sz="2800" i="1">
                                  <a:solidFill>
                                    <a:srgbClr val="000000"/>
                                  </a:solidFill>
                                  <a:latin typeface="Cambria Math" panose="02040503050406030204" pitchFamily="18" charset="0"/>
                                </a:rPr>
                              </m:ctrlPr>
                            </m:sSubSup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𝑥</m:t>
                              </m:r>
                            </m:sub>
                            <m:sup>
                              <m:r>
                                <a:rPr lang="en-US" sz="2800" i="1">
                                  <a:solidFill>
                                    <a:srgbClr val="000000"/>
                                  </a:solidFill>
                                  <a:latin typeface="Cambria Math" panose="02040503050406030204" pitchFamily="18" charset="0"/>
                                </a:rPr>
                                <m:t>2</m:t>
                              </m:r>
                            </m:sup>
                          </m:sSubSup>
                          <m:r>
                            <a:rPr lang="en-US" sz="2800" i="1">
                              <a:solidFill>
                                <a:srgbClr val="000000"/>
                              </a:solidFill>
                              <a:latin typeface="Cambria Math" panose="02040503050406030204" pitchFamily="18" charset="0"/>
                            </a:rPr>
                            <m:t>+</m:t>
                          </m:r>
                          <m:sSubSup>
                            <m:sSubSupPr>
                              <m:ctrlPr>
                                <a:rPr lang="en-US" sz="2800" i="1">
                                  <a:solidFill>
                                    <a:srgbClr val="000000"/>
                                  </a:solidFill>
                                  <a:latin typeface="Cambria Math" panose="02040503050406030204" pitchFamily="18" charset="0"/>
                                </a:rPr>
                              </m:ctrlPr>
                            </m:sSubSup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𝑦</m:t>
                              </m:r>
                            </m:sub>
                            <m:sup>
                              <m:r>
                                <a:rPr lang="en-US" sz="2800" i="1">
                                  <a:solidFill>
                                    <a:srgbClr val="000000"/>
                                  </a:solidFill>
                                  <a:latin typeface="Cambria Math" panose="02040503050406030204" pitchFamily="18" charset="0"/>
                                </a:rPr>
                                <m:t>2</m:t>
                              </m:r>
                            </m:sup>
                          </m:sSubSup>
                        </m:e>
                      </m:rad>
                    </m:oMath>
                  </m:oMathPara>
                </a14:m>
                <a:endParaRPr lang="en-US" sz="2800" dirty="0"/>
              </a:p>
            </p:txBody>
          </p:sp>
        </mc:Choice>
        <mc:Fallback xmlns="">
          <p:sp>
            <p:nvSpPr>
              <p:cNvPr id="19" name="Object 95">
                <a:extLst>
                  <a:ext uri="{FF2B5EF4-FFF2-40B4-BE49-F238E27FC236}">
                    <a16:creationId xmlns:a16="http://schemas.microsoft.com/office/drawing/2014/main" id="{84988383-24A7-4396-894D-12AA29B53860}"/>
                  </a:ext>
                </a:extLst>
              </p:cNvPr>
              <p:cNvSpPr txBox="1">
                <a:spLocks noRot="1" noChangeAspect="1" noMove="1" noResize="1" noEditPoints="1" noAdjustHandles="1" noChangeArrowheads="1" noChangeShapeType="1" noTextEdit="1"/>
              </p:cNvSpPr>
              <p:nvPr/>
            </p:nvSpPr>
            <p:spPr bwMode="auto">
              <a:xfrm>
                <a:off x="937772" y="2674604"/>
                <a:ext cx="3458653" cy="774700"/>
              </a:xfrm>
              <a:prstGeom prst="rect">
                <a:avLst/>
              </a:prstGeom>
              <a:blipFill>
                <a:blip r:embed="rId4"/>
                <a:stretch>
                  <a:fillRect b="-173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Object 96">
                <a:extLst>
                  <a:ext uri="{FF2B5EF4-FFF2-40B4-BE49-F238E27FC236}">
                    <a16:creationId xmlns:a16="http://schemas.microsoft.com/office/drawing/2014/main" id="{70DF8A88-DDD7-42EB-94A3-9BE0B33B685C}"/>
                  </a:ext>
                </a:extLst>
              </p:cNvPr>
              <p:cNvSpPr txBox="1"/>
              <p:nvPr/>
            </p:nvSpPr>
            <p:spPr bwMode="auto">
              <a:xfrm>
                <a:off x="3467401" y="2560417"/>
                <a:ext cx="4750844" cy="1144587"/>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𝑝</m:t>
                          </m:r>
                        </m:num>
                        <m:den>
                          <m:r>
                            <a:rPr lang="en-US" sz="2800" i="1">
                              <a:solidFill>
                                <a:srgbClr val="000000"/>
                              </a:solidFill>
                              <a:latin typeface="Cambria Math" panose="02040503050406030204" pitchFamily="18" charset="0"/>
                            </a:rPr>
                            <m:t>4</m:t>
                          </m:r>
                          <m:r>
                            <m:rPr>
                              <m:sty m:val="p"/>
                            </m:rPr>
                            <a:rPr lang="en-US" sz="2800" i="0">
                              <a:solidFill>
                                <a:srgbClr val="000000"/>
                              </a:solidFill>
                              <a:latin typeface="Cambria Math" panose="02040503050406030204" pitchFamily="18" charset="0"/>
                            </a:rPr>
                            <m:t>π</m:t>
                          </m:r>
                          <m:sSub>
                            <m:sSubPr>
                              <m:ctrlPr>
                                <a:rPr lang="en-US" sz="2800" i="1">
                                  <a:solidFill>
                                    <a:srgbClr val="000000"/>
                                  </a:solidFill>
                                  <a:latin typeface="Cambria Math" panose="02040503050406030204" pitchFamily="18" charset="0"/>
                                </a:rPr>
                              </m:ctrlPr>
                            </m:sSubPr>
                            <m:e>
                              <m:r>
                                <m:rPr>
                                  <m:sty m:val="p"/>
                                </m:rPr>
                                <a:rPr lang="en-US" sz="2800" i="1">
                                  <a:solidFill>
                                    <a:srgbClr val="000000"/>
                                  </a:solidFill>
                                  <a:latin typeface="Cambria Math" panose="02040503050406030204" pitchFamily="18" charset="0"/>
                                </a:rPr>
                                <m:t>ε</m:t>
                              </m:r>
                            </m:e>
                            <m:sub>
                              <m:r>
                                <a:rPr lang="en-US" sz="2800" i="1">
                                  <a:solidFill>
                                    <a:srgbClr val="000000"/>
                                  </a:solidFill>
                                  <a:latin typeface="Cambria Math" panose="02040503050406030204" pitchFamily="18" charset="0"/>
                                </a:rPr>
                                <m:t>0</m:t>
                              </m:r>
                            </m:sub>
                          </m:sSub>
                        </m:den>
                      </m:f>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4</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𝑥</m:t>
                              </m:r>
                            </m:e>
                            <m:sup>
                              <m:r>
                                <a:rPr lang="en-US" sz="2800" i="1">
                                  <a:solidFill>
                                    <a:srgbClr val="000000"/>
                                  </a:solidFill>
                                  <a:latin typeface="Cambria Math" panose="02040503050406030204" pitchFamily="18" charset="0"/>
                                </a:rPr>
                                <m:t>2</m:t>
                              </m:r>
                            </m:sup>
                          </m:sSup>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𝑦</m:t>
                              </m:r>
                            </m:e>
                            <m:sup>
                              <m:r>
                                <a:rPr lang="en-US" sz="2800" i="1">
                                  <a:solidFill>
                                    <a:srgbClr val="000000"/>
                                  </a:solidFill>
                                  <a:latin typeface="Cambria Math" panose="02040503050406030204" pitchFamily="18" charset="0"/>
                                </a:rPr>
                                <m:t>2</m:t>
                              </m:r>
                            </m:sup>
                          </m:sSup>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m:t>
                              </m:r>
                            </m:e>
                            <m:sup>
                              <m:r>
                                <a:rPr lang="en-US" sz="2800" i="1">
                                  <a:solidFill>
                                    <a:srgbClr val="000000"/>
                                  </a:solidFill>
                                  <a:latin typeface="Cambria Math" panose="02040503050406030204" pitchFamily="18" charset="0"/>
                                </a:rPr>
                                <m:t>1</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2</m:t>
                              </m:r>
                            </m:sup>
                          </m:sSup>
                        </m:num>
                        <m:den>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𝑥</m:t>
                              </m:r>
                            </m:e>
                            <m:sup>
                              <m:r>
                                <a:rPr lang="en-US" sz="2800" i="1">
                                  <a:solidFill>
                                    <a:srgbClr val="000000"/>
                                  </a:solidFill>
                                  <a:latin typeface="Cambria Math" panose="02040503050406030204" pitchFamily="18" charset="0"/>
                                </a:rPr>
                                <m:t>2</m:t>
                              </m:r>
                            </m:sup>
                          </m:sSup>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𝑦</m:t>
                              </m:r>
                            </m:e>
                            <m:sup>
                              <m:r>
                                <a:rPr lang="en-US" sz="2800" i="1">
                                  <a:solidFill>
                                    <a:srgbClr val="000000"/>
                                  </a:solidFill>
                                  <a:latin typeface="Cambria Math" panose="02040503050406030204" pitchFamily="18" charset="0"/>
                                </a:rPr>
                                <m:t>2</m:t>
                              </m:r>
                            </m:sup>
                          </m:sSup>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m:t>
                              </m:r>
                            </m:e>
                            <m:sup>
                              <m:r>
                                <a:rPr lang="en-US" sz="2800" i="1">
                                  <a:solidFill>
                                    <a:srgbClr val="000000"/>
                                  </a:solidFill>
                                  <a:latin typeface="Cambria Math" panose="02040503050406030204" pitchFamily="18" charset="0"/>
                                </a:rPr>
                                <m:t>2</m:t>
                              </m:r>
                            </m:sup>
                          </m:sSup>
                        </m:den>
                      </m:f>
                    </m:oMath>
                  </m:oMathPara>
                </a14:m>
                <a:endParaRPr lang="en-US" sz="2800" dirty="0"/>
              </a:p>
            </p:txBody>
          </p:sp>
        </mc:Choice>
        <mc:Fallback xmlns="">
          <p:sp>
            <p:nvSpPr>
              <p:cNvPr id="20" name="Object 96">
                <a:extLst>
                  <a:ext uri="{FF2B5EF4-FFF2-40B4-BE49-F238E27FC236}">
                    <a16:creationId xmlns:a16="http://schemas.microsoft.com/office/drawing/2014/main" id="{70DF8A88-DDD7-42EB-94A3-9BE0B33B685C}"/>
                  </a:ext>
                </a:extLst>
              </p:cNvPr>
              <p:cNvSpPr txBox="1">
                <a:spLocks noRot="1" noChangeAspect="1" noMove="1" noResize="1" noEditPoints="1" noAdjustHandles="1" noChangeArrowheads="1" noChangeShapeType="1" noTextEdit="1"/>
              </p:cNvSpPr>
              <p:nvPr/>
            </p:nvSpPr>
            <p:spPr bwMode="auto">
              <a:xfrm>
                <a:off x="3467401" y="2560417"/>
                <a:ext cx="4750844" cy="1144587"/>
              </a:xfrm>
              <a:prstGeom prst="rect">
                <a:avLst/>
              </a:prstGeom>
              <a:blipFill>
                <a:blip r:embed="rId5"/>
                <a:stretch>
                  <a:fillRect/>
                </a:stretch>
              </a:blipFill>
            </p:spPr>
            <p:txBody>
              <a:bodyPr/>
              <a:lstStyle/>
              <a:p>
                <a:r>
                  <a:rPr lang="en-US">
                    <a:noFill/>
                  </a:rPr>
                  <a:t> </a:t>
                </a:r>
              </a:p>
            </p:txBody>
          </p:sp>
        </mc:Fallback>
      </mc:AlternateContent>
      <p:grpSp>
        <p:nvGrpSpPr>
          <p:cNvPr id="24" name="Group 78">
            <a:extLst>
              <a:ext uri="{FF2B5EF4-FFF2-40B4-BE49-F238E27FC236}">
                <a16:creationId xmlns:a16="http://schemas.microsoft.com/office/drawing/2014/main" id="{EFCBDDE5-53C2-4B0C-B456-3C377D10BA01}"/>
              </a:ext>
            </a:extLst>
          </p:cNvPr>
          <p:cNvGrpSpPr>
            <a:grpSpLocks/>
          </p:cNvGrpSpPr>
          <p:nvPr/>
        </p:nvGrpSpPr>
        <p:grpSpPr bwMode="auto">
          <a:xfrm>
            <a:off x="1691309" y="4193733"/>
            <a:ext cx="4861330" cy="2076451"/>
            <a:chOff x="528" y="1635"/>
            <a:chExt cx="2024" cy="1308"/>
          </a:xfrm>
        </p:grpSpPr>
        <mc:AlternateContent xmlns:mc="http://schemas.openxmlformats.org/markup-compatibility/2006" xmlns:a14="http://schemas.microsoft.com/office/drawing/2010/main">
          <mc:Choice Requires="a14">
            <p:sp>
              <p:nvSpPr>
                <p:cNvPr id="25" name="Object 41">
                  <a:extLst>
                    <a:ext uri="{FF2B5EF4-FFF2-40B4-BE49-F238E27FC236}">
                      <a16:creationId xmlns:a16="http://schemas.microsoft.com/office/drawing/2014/main" id="{5951BCA7-443A-4DFA-86DD-001785E2AD4E}"/>
                    </a:ext>
                  </a:extLst>
                </p:cNvPr>
                <p:cNvSpPr txBox="1"/>
                <p:nvPr/>
              </p:nvSpPr>
              <p:spPr bwMode="auto">
                <a:xfrm>
                  <a:off x="720" y="1763"/>
                  <a:ext cx="576" cy="328"/>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𝑦</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0</m:t>
                        </m:r>
                      </m:oMath>
                    </m:oMathPara>
                  </a14:m>
                  <a:endParaRPr lang="en-US" sz="2800" dirty="0"/>
                </a:p>
              </p:txBody>
            </p:sp>
          </mc:Choice>
          <mc:Fallback xmlns="">
            <p:sp>
              <p:nvSpPr>
                <p:cNvPr id="25" name="Object 41">
                  <a:extLst>
                    <a:ext uri="{FF2B5EF4-FFF2-40B4-BE49-F238E27FC236}">
                      <a16:creationId xmlns:a16="http://schemas.microsoft.com/office/drawing/2014/main" id="{5951BCA7-443A-4DFA-86DD-001785E2AD4E}"/>
                    </a:ext>
                  </a:extLst>
                </p:cNvPr>
                <p:cNvSpPr txBox="1">
                  <a:spLocks noRot="1" noChangeAspect="1" noMove="1" noResize="1" noEditPoints="1" noAdjustHandles="1" noChangeArrowheads="1" noChangeShapeType="1" noTextEdit="1"/>
                </p:cNvSpPr>
                <p:nvPr/>
              </p:nvSpPr>
              <p:spPr bwMode="auto">
                <a:xfrm>
                  <a:off x="720" y="1763"/>
                  <a:ext cx="576" cy="32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bject 42">
                  <a:extLst>
                    <a:ext uri="{FF2B5EF4-FFF2-40B4-BE49-F238E27FC236}">
                      <a16:creationId xmlns:a16="http://schemas.microsoft.com/office/drawing/2014/main" id="{3ADB154D-B285-4B83-AF4E-330A19D30C81}"/>
                    </a:ext>
                  </a:extLst>
                </p:cNvPr>
                <p:cNvSpPr txBox="1"/>
                <p:nvPr/>
              </p:nvSpPr>
              <p:spPr bwMode="auto">
                <a:xfrm>
                  <a:off x="1231" y="1635"/>
                  <a:ext cx="1321" cy="694"/>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𝐸</m:t>
                        </m:r>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2</m:t>
                            </m:r>
                            <m:r>
                              <a:rPr lang="en-US" sz="2800" i="1">
                                <a:solidFill>
                                  <a:srgbClr val="000000"/>
                                </a:solidFill>
                                <a:latin typeface="Cambria Math" panose="02040503050406030204" pitchFamily="18" charset="0"/>
                              </a:rPr>
                              <m:t>𝑝</m:t>
                            </m:r>
                          </m:num>
                          <m:den>
                            <m:r>
                              <a:rPr lang="en-US" sz="2800" i="1">
                                <a:solidFill>
                                  <a:srgbClr val="000000"/>
                                </a:solidFill>
                                <a:latin typeface="Cambria Math" panose="02040503050406030204" pitchFamily="18" charset="0"/>
                              </a:rPr>
                              <m:t>4</m:t>
                            </m:r>
                            <m:r>
                              <m:rPr>
                                <m:sty m:val="p"/>
                              </m:rPr>
                              <a:rPr lang="en-US" sz="2800" i="0">
                                <a:solidFill>
                                  <a:srgbClr val="000000"/>
                                </a:solidFill>
                                <a:latin typeface="Cambria Math" panose="02040503050406030204" pitchFamily="18" charset="0"/>
                              </a:rPr>
                              <m:t>π</m:t>
                            </m:r>
                            <m:sSub>
                              <m:sSubPr>
                                <m:ctrlPr>
                                  <a:rPr lang="en-US" sz="2800" i="1">
                                    <a:solidFill>
                                      <a:srgbClr val="000000"/>
                                    </a:solidFill>
                                    <a:latin typeface="Cambria Math" panose="02040503050406030204" pitchFamily="18" charset="0"/>
                                  </a:rPr>
                                </m:ctrlPr>
                              </m:sSubPr>
                              <m:e>
                                <m:r>
                                  <m:rPr>
                                    <m:sty m:val="p"/>
                                  </m:rPr>
                                  <a:rPr lang="en-US" sz="2800" i="1">
                                    <a:solidFill>
                                      <a:srgbClr val="000000"/>
                                    </a:solidFill>
                                    <a:latin typeface="Cambria Math" panose="02040503050406030204" pitchFamily="18" charset="0"/>
                                  </a:rPr>
                                  <m:t>ε</m:t>
                                </m:r>
                              </m:e>
                              <m:sub>
                                <m:r>
                                  <a:rPr lang="en-US" sz="2800" i="1">
                                    <a:solidFill>
                                      <a:srgbClr val="000000"/>
                                    </a:solidFill>
                                    <a:latin typeface="Cambria Math" panose="02040503050406030204" pitchFamily="18" charset="0"/>
                                  </a:rPr>
                                  <m:t>0</m:t>
                                </m:r>
                              </m:sub>
                            </m:sSub>
                          </m:den>
                        </m:f>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𝑥</m:t>
                                </m:r>
                              </m:e>
                              <m:sup>
                                <m:r>
                                  <a:rPr lang="en-US" sz="2800" i="1">
                                    <a:solidFill>
                                      <a:srgbClr val="000000"/>
                                    </a:solidFill>
                                    <a:latin typeface="Cambria Math" panose="02040503050406030204" pitchFamily="18" charset="0"/>
                                  </a:rPr>
                                  <m:t>3</m:t>
                                </m:r>
                              </m:sup>
                            </m:sSup>
                          </m:den>
                        </m:f>
                      </m:oMath>
                    </m:oMathPara>
                  </a14:m>
                  <a:endParaRPr lang="en-US" sz="2800" dirty="0"/>
                </a:p>
              </p:txBody>
            </p:sp>
          </mc:Choice>
          <mc:Fallback xmlns="">
            <p:sp>
              <p:nvSpPr>
                <p:cNvPr id="26" name="Object 42">
                  <a:extLst>
                    <a:ext uri="{FF2B5EF4-FFF2-40B4-BE49-F238E27FC236}">
                      <a16:creationId xmlns:a16="http://schemas.microsoft.com/office/drawing/2014/main" id="{3ADB154D-B285-4B83-AF4E-330A19D30C81}"/>
                    </a:ext>
                  </a:extLst>
                </p:cNvPr>
                <p:cNvSpPr txBox="1">
                  <a:spLocks noRot="1" noChangeAspect="1" noMove="1" noResize="1" noEditPoints="1" noAdjustHandles="1" noChangeArrowheads="1" noChangeShapeType="1" noTextEdit="1"/>
                </p:cNvSpPr>
                <p:nvPr/>
              </p:nvSpPr>
              <p:spPr bwMode="auto">
                <a:xfrm>
                  <a:off x="1231" y="1635"/>
                  <a:ext cx="1321" cy="69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bject 44">
                  <a:extLst>
                    <a:ext uri="{FF2B5EF4-FFF2-40B4-BE49-F238E27FC236}">
                      <a16:creationId xmlns:a16="http://schemas.microsoft.com/office/drawing/2014/main" id="{93B81936-DB20-4C48-8EE7-B72E6C06DC10}"/>
                    </a:ext>
                  </a:extLst>
                </p:cNvPr>
                <p:cNvSpPr txBox="1"/>
                <p:nvPr/>
              </p:nvSpPr>
              <p:spPr bwMode="auto">
                <a:xfrm>
                  <a:off x="768" y="2448"/>
                  <a:ext cx="576" cy="283"/>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0</m:t>
                        </m:r>
                      </m:oMath>
                    </m:oMathPara>
                  </a14:m>
                  <a:endParaRPr lang="en-US" sz="2800" dirty="0"/>
                </a:p>
              </p:txBody>
            </p:sp>
          </mc:Choice>
          <mc:Fallback xmlns="">
            <p:sp>
              <p:nvSpPr>
                <p:cNvPr id="27" name="Object 44">
                  <a:extLst>
                    <a:ext uri="{FF2B5EF4-FFF2-40B4-BE49-F238E27FC236}">
                      <a16:creationId xmlns:a16="http://schemas.microsoft.com/office/drawing/2014/main" id="{93B81936-DB20-4C48-8EE7-B72E6C06DC10}"/>
                    </a:ext>
                  </a:extLst>
                </p:cNvPr>
                <p:cNvSpPr txBox="1">
                  <a:spLocks noRot="1" noChangeAspect="1" noMove="1" noResize="1" noEditPoints="1" noAdjustHandles="1" noChangeArrowheads="1" noChangeShapeType="1" noTextEdit="1"/>
                </p:cNvSpPr>
                <p:nvPr/>
              </p:nvSpPr>
              <p:spPr bwMode="auto">
                <a:xfrm>
                  <a:off x="768" y="2448"/>
                  <a:ext cx="576" cy="283"/>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bject 45">
                  <a:extLst>
                    <a:ext uri="{FF2B5EF4-FFF2-40B4-BE49-F238E27FC236}">
                      <a16:creationId xmlns:a16="http://schemas.microsoft.com/office/drawing/2014/main" id="{8C3878AE-FF2A-42F0-B3B0-8ECF9540376A}"/>
                    </a:ext>
                  </a:extLst>
                </p:cNvPr>
                <p:cNvSpPr txBox="1"/>
                <p:nvPr/>
              </p:nvSpPr>
              <p:spPr bwMode="auto">
                <a:xfrm>
                  <a:off x="1211" y="2259"/>
                  <a:ext cx="1309" cy="684"/>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𝐸</m:t>
                        </m:r>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𝑝</m:t>
                            </m:r>
                          </m:num>
                          <m:den>
                            <m:r>
                              <a:rPr lang="en-US" sz="2800" i="1">
                                <a:solidFill>
                                  <a:srgbClr val="000000"/>
                                </a:solidFill>
                                <a:latin typeface="Cambria Math" panose="02040503050406030204" pitchFamily="18" charset="0"/>
                              </a:rPr>
                              <m:t>4</m:t>
                            </m:r>
                            <m:r>
                              <m:rPr>
                                <m:sty m:val="p"/>
                              </m:rPr>
                              <a:rPr lang="en-US" sz="2800" i="0">
                                <a:solidFill>
                                  <a:srgbClr val="000000"/>
                                </a:solidFill>
                                <a:latin typeface="Cambria Math" panose="02040503050406030204" pitchFamily="18" charset="0"/>
                              </a:rPr>
                              <m:t>π</m:t>
                            </m:r>
                            <m:sSub>
                              <m:sSubPr>
                                <m:ctrlPr>
                                  <a:rPr lang="en-US" sz="2800" i="1">
                                    <a:solidFill>
                                      <a:srgbClr val="000000"/>
                                    </a:solidFill>
                                    <a:latin typeface="Cambria Math" panose="02040503050406030204" pitchFamily="18" charset="0"/>
                                  </a:rPr>
                                </m:ctrlPr>
                              </m:sSubPr>
                              <m:e>
                                <m:r>
                                  <m:rPr>
                                    <m:sty m:val="p"/>
                                  </m:rPr>
                                  <a:rPr lang="en-US" sz="2800" i="1">
                                    <a:solidFill>
                                      <a:srgbClr val="000000"/>
                                    </a:solidFill>
                                    <a:latin typeface="Cambria Math" panose="02040503050406030204" pitchFamily="18" charset="0"/>
                                  </a:rPr>
                                  <m:t>ε</m:t>
                                </m:r>
                              </m:e>
                              <m:sub>
                                <m:r>
                                  <a:rPr lang="en-US" sz="2800" i="1">
                                    <a:solidFill>
                                      <a:srgbClr val="000000"/>
                                    </a:solidFill>
                                    <a:latin typeface="Cambria Math" panose="02040503050406030204" pitchFamily="18" charset="0"/>
                                  </a:rPr>
                                  <m:t>0</m:t>
                                </m:r>
                              </m:sub>
                            </m:sSub>
                          </m:den>
                        </m:f>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𝑦</m:t>
                                </m:r>
                              </m:e>
                              <m:sup>
                                <m:r>
                                  <a:rPr lang="en-US" sz="2800" i="1">
                                    <a:solidFill>
                                      <a:srgbClr val="000000"/>
                                    </a:solidFill>
                                    <a:latin typeface="Cambria Math" panose="02040503050406030204" pitchFamily="18" charset="0"/>
                                  </a:rPr>
                                  <m:t>3</m:t>
                                </m:r>
                              </m:sup>
                            </m:sSup>
                          </m:den>
                        </m:f>
                      </m:oMath>
                    </m:oMathPara>
                  </a14:m>
                  <a:endParaRPr lang="en-US" sz="2800" dirty="0"/>
                </a:p>
              </p:txBody>
            </p:sp>
          </mc:Choice>
          <mc:Fallback xmlns="">
            <p:sp>
              <p:nvSpPr>
                <p:cNvPr id="28" name="Object 45">
                  <a:extLst>
                    <a:ext uri="{FF2B5EF4-FFF2-40B4-BE49-F238E27FC236}">
                      <a16:creationId xmlns:a16="http://schemas.microsoft.com/office/drawing/2014/main" id="{8C3878AE-FF2A-42F0-B3B0-8ECF9540376A}"/>
                    </a:ext>
                  </a:extLst>
                </p:cNvPr>
                <p:cNvSpPr txBox="1">
                  <a:spLocks noRot="1" noChangeAspect="1" noMove="1" noResize="1" noEditPoints="1" noAdjustHandles="1" noChangeArrowheads="1" noChangeShapeType="1" noTextEdit="1"/>
                </p:cNvSpPr>
                <p:nvPr/>
              </p:nvSpPr>
              <p:spPr bwMode="auto">
                <a:xfrm>
                  <a:off x="1211" y="2259"/>
                  <a:ext cx="1309" cy="684"/>
                </a:xfrm>
                <a:prstGeom prst="rect">
                  <a:avLst/>
                </a:prstGeom>
                <a:blipFill>
                  <a:blip r:embed="rId9"/>
                  <a:stretch>
                    <a:fillRect/>
                  </a:stretch>
                </a:blipFill>
              </p:spPr>
              <p:txBody>
                <a:bodyPr/>
                <a:lstStyle/>
                <a:p>
                  <a:r>
                    <a:rPr lang="en-US">
                      <a:noFill/>
                    </a:rPr>
                    <a:t> </a:t>
                  </a:r>
                </a:p>
              </p:txBody>
            </p:sp>
          </mc:Fallback>
        </mc:AlternateContent>
        <p:sp>
          <p:nvSpPr>
            <p:cNvPr id="29" name="AutoShape 46">
              <a:extLst>
                <a:ext uri="{FF2B5EF4-FFF2-40B4-BE49-F238E27FC236}">
                  <a16:creationId xmlns:a16="http://schemas.microsoft.com/office/drawing/2014/main" id="{F138D978-447E-4D7C-A717-8EBACD049EA3}"/>
                </a:ext>
              </a:extLst>
            </p:cNvPr>
            <p:cNvSpPr>
              <a:spLocks/>
            </p:cNvSpPr>
            <p:nvPr/>
          </p:nvSpPr>
          <p:spPr bwMode="auto">
            <a:xfrm>
              <a:off x="528" y="1920"/>
              <a:ext cx="176" cy="720"/>
            </a:xfrm>
            <a:prstGeom prst="leftBrace">
              <a:avLst>
                <a:gd name="adj1" fmla="val 34091"/>
                <a:gd name="adj2" fmla="val 50000"/>
              </a:avLst>
            </a:prstGeom>
            <a:noFill/>
            <a:ln w="1905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a:p>
          </p:txBody>
        </p:sp>
      </p:grpSp>
    </p:spTree>
    <p:extLst>
      <p:ext uri="{BB962C8B-B14F-4D97-AF65-F5344CB8AC3E}">
        <p14:creationId xmlns:p14="http://schemas.microsoft.com/office/powerpoint/2010/main" val="43417077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B8B9299F-1B67-4F9A-84C3-2DC5029ECBD7}"/>
              </a:ext>
            </a:extLst>
          </p:cNvPr>
          <p:cNvSpPr>
            <a:spLocks noGrp="1"/>
          </p:cNvSpPr>
          <p:nvPr>
            <p:ph type="title"/>
          </p:nvPr>
        </p:nvSpPr>
        <p:spPr>
          <a:xfrm>
            <a:off x="838200" y="365126"/>
            <a:ext cx="3928533" cy="1205442"/>
          </a:xfrm>
        </p:spPr>
        <p:txBody>
          <a:bodyPr>
            <a:normAutofit/>
          </a:bodyPr>
          <a:lstStyle/>
          <a:p>
            <a:pPr marL="571500" indent="-571500" algn="ctr">
              <a:buFont typeface="Wingdings" panose="05000000000000000000" pitchFamily="2" charset="2"/>
              <a:buChar char="q"/>
            </a:pPr>
            <a:r>
              <a:rPr kumimoji="1" lang="zh-CN" altLang="en-US" sz="32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静电势能</a:t>
            </a:r>
            <a:endParaRPr lang="zh-CN" altLang="en-US" sz="32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内容占位符 5">
            <a:extLst>
              <a:ext uri="{FF2B5EF4-FFF2-40B4-BE49-F238E27FC236}">
                <a16:creationId xmlns:a16="http://schemas.microsoft.com/office/drawing/2014/main" id="{D3EEA32F-3F69-45F2-A319-3CDD4E217AD0}"/>
              </a:ext>
            </a:extLst>
          </p:cNvPr>
          <p:cNvSpPr>
            <a:spLocks noGrp="1"/>
          </p:cNvSpPr>
          <p:nvPr>
            <p:ph idx="1"/>
          </p:nvPr>
        </p:nvSpPr>
        <p:spPr>
          <a:xfrm>
            <a:off x="1145332" y="1388085"/>
            <a:ext cx="7543801" cy="3535334"/>
          </a:xfrm>
        </p:spPr>
        <p:txBody>
          <a:bodyPr>
            <a:noAutofit/>
          </a:bodyPr>
          <a:lstStyle/>
          <a:p>
            <a:pPr marL="0" indent="0">
              <a:lnSpc>
                <a:spcPct val="130000"/>
              </a:lnSpc>
              <a:spcBef>
                <a:spcPts val="600"/>
              </a:spcBef>
              <a:spcAft>
                <a:spcPts val="600"/>
              </a:spcAft>
              <a:buNone/>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静电场对电荷的功：</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0" indent="0">
              <a:lnSpc>
                <a:spcPct val="130000"/>
              </a:lnSpc>
              <a:spcBef>
                <a:spcPts val="600"/>
              </a:spcBef>
              <a:spcAft>
                <a:spcPts val="600"/>
              </a:spcAft>
              <a:buNone/>
            </a:pPr>
            <a:endParaRPr lang="en-US" altLang="zh-CN" i="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lnSpc>
                <a:spcPct val="130000"/>
              </a:lnSpc>
              <a:spcBef>
                <a:spcPts val="600"/>
              </a:spcBef>
              <a:spcAft>
                <a:spcPts val="600"/>
              </a:spcAft>
              <a:buNone/>
            </a:pP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0" indent="0">
              <a:lnSpc>
                <a:spcPct val="130000"/>
              </a:lnSpc>
              <a:spcBef>
                <a:spcPts val="600"/>
              </a:spcBef>
              <a:spcAft>
                <a:spcPts val="600"/>
              </a:spcAft>
              <a:buNone/>
            </a:pP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F97B1CC-06DD-44C6-B801-1E8D06C6FC7B}"/>
                  </a:ext>
                </a:extLst>
              </p:cNvPr>
              <p:cNvSpPr/>
              <p:nvPr/>
            </p:nvSpPr>
            <p:spPr>
              <a:xfrm>
                <a:off x="1533762" y="3476903"/>
                <a:ext cx="2527167" cy="523220"/>
              </a:xfrm>
              <a:prstGeom prst="rect">
                <a:avLst/>
              </a:prstGeom>
            </p:spPr>
            <p:txBody>
              <a:bodyPr wrap="none">
                <a:spAutoFit/>
              </a:bodyPr>
              <a:lstStyle/>
              <a:p>
                <a:r>
                  <a:rPr lang="en-US" altLang="zh-CN" sz="2800" spc="-5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sz="2800" b="0" spc="-50">
                        <a:solidFill>
                          <a:schemeClr val="tx1"/>
                        </a:solidFill>
                        <a:latin typeface="Cambria Math" panose="02040503050406030204" pitchFamily="18" charset="0"/>
                        <a:ea typeface="华文新魏" panose="02010800040101010101" pitchFamily="2" charset="-122"/>
                      </a:rPr>
                      <m:t>=</m:t>
                    </m:r>
                    <m:sSub>
                      <m:sSubPr>
                        <m:ctrlPr>
                          <a:rPr lang="en-US" altLang="zh-CN" sz="2800" i="1" spc="-50">
                            <a:solidFill>
                              <a:schemeClr val="tx1"/>
                            </a:solidFill>
                            <a:latin typeface="Cambria Math" panose="02040503050406030204" pitchFamily="18" charset="0"/>
                            <a:ea typeface="华文新魏" panose="02010800040101010101" pitchFamily="2" charset="-122"/>
                          </a:rPr>
                        </m:ctrlPr>
                      </m:sSubPr>
                      <m:e>
                        <m:r>
                          <a:rPr lang="en-US" altLang="zh-CN" sz="2800" b="0" i="1" spc="-50">
                            <a:solidFill>
                              <a:schemeClr val="tx1"/>
                            </a:solidFill>
                            <a:latin typeface="Cambria Math" panose="02040503050406030204" pitchFamily="18" charset="0"/>
                            <a:ea typeface="华文新魏" panose="02010800040101010101" pitchFamily="2" charset="-122"/>
                          </a:rPr>
                          <m:t>𝑞</m:t>
                        </m:r>
                      </m:e>
                      <m:sub>
                        <m:r>
                          <a:rPr lang="en-US" altLang="zh-CN" sz="2800" b="0" i="1" spc="-50">
                            <a:solidFill>
                              <a:schemeClr val="tx1"/>
                            </a:solidFill>
                            <a:latin typeface="Cambria Math" panose="02040503050406030204" pitchFamily="18" charset="0"/>
                            <a:ea typeface="华文新魏" panose="02010800040101010101" pitchFamily="2" charset="-122"/>
                          </a:rPr>
                          <m:t>0</m:t>
                        </m:r>
                      </m:sub>
                    </m:sSub>
                    <m:sSub>
                      <m:sSubPr>
                        <m:ctrlPr>
                          <a:rPr lang="en-US" altLang="zh-CN" sz="2800" i="1" spc="-50">
                            <a:solidFill>
                              <a:schemeClr val="tx1"/>
                            </a:solidFill>
                            <a:latin typeface="Cambria Math" panose="02040503050406030204" pitchFamily="18" charset="0"/>
                            <a:ea typeface="华文新魏" panose="02010800040101010101" pitchFamily="2" charset="-122"/>
                          </a:rPr>
                        </m:ctrlPr>
                      </m:sSubPr>
                      <m:e>
                        <m:r>
                          <a:rPr lang="zh-CN" altLang="en-US" sz="2800" b="0" i="1" spc="-50">
                            <a:solidFill>
                              <a:schemeClr val="tx1"/>
                            </a:solidFill>
                            <a:latin typeface="Cambria Math" panose="02040503050406030204" pitchFamily="18" charset="0"/>
                            <a:ea typeface="华文新魏" panose="02010800040101010101" pitchFamily="2" charset="-122"/>
                          </a:rPr>
                          <m:t>𝜑</m:t>
                        </m:r>
                      </m:e>
                      <m:sub>
                        <m:r>
                          <a:rPr lang="en-US" altLang="zh-CN" sz="2800" b="0" i="1" spc="-50">
                            <a:solidFill>
                              <a:schemeClr val="tx1"/>
                            </a:solidFill>
                            <a:latin typeface="Cambria Math" panose="02040503050406030204" pitchFamily="18" charset="0"/>
                            <a:ea typeface="华文新魏" panose="02010800040101010101" pitchFamily="2" charset="-122"/>
                          </a:rPr>
                          <m:t>1</m:t>
                        </m:r>
                      </m:sub>
                    </m:sSub>
                    <m:r>
                      <a:rPr lang="en-US" altLang="zh-CN" sz="2800" b="0" i="1" spc="-50">
                        <a:solidFill>
                          <a:schemeClr val="tx1"/>
                        </a:solidFill>
                        <a:latin typeface="Cambria Math" panose="02040503050406030204" pitchFamily="18" charset="0"/>
                        <a:ea typeface="华文新魏" panose="02010800040101010101" pitchFamily="2" charset="-122"/>
                      </a:rPr>
                      <m:t>−</m:t>
                    </m:r>
                    <m:sSub>
                      <m:sSubPr>
                        <m:ctrlPr>
                          <a:rPr lang="en-US" altLang="zh-CN" sz="2800" i="1" spc="-50">
                            <a:solidFill>
                              <a:schemeClr val="tx1"/>
                            </a:solidFill>
                            <a:latin typeface="Cambria Math" panose="02040503050406030204" pitchFamily="18" charset="0"/>
                            <a:ea typeface="华文新魏" panose="02010800040101010101" pitchFamily="2" charset="-122"/>
                          </a:rPr>
                        </m:ctrlPr>
                      </m:sSubPr>
                      <m:e>
                        <m:r>
                          <a:rPr lang="en-US" altLang="zh-CN" sz="2800" b="0" i="1" spc="-50">
                            <a:solidFill>
                              <a:schemeClr val="tx1"/>
                            </a:solidFill>
                            <a:latin typeface="Cambria Math" panose="02040503050406030204" pitchFamily="18" charset="0"/>
                            <a:ea typeface="华文新魏" panose="02010800040101010101" pitchFamily="2" charset="-122"/>
                          </a:rPr>
                          <m:t>𝑞</m:t>
                        </m:r>
                      </m:e>
                      <m:sub>
                        <m:r>
                          <a:rPr lang="en-US" altLang="zh-CN" sz="2800" b="0" i="1" spc="-50">
                            <a:solidFill>
                              <a:schemeClr val="tx1"/>
                            </a:solidFill>
                            <a:latin typeface="Cambria Math" panose="02040503050406030204" pitchFamily="18" charset="0"/>
                            <a:ea typeface="华文新魏" panose="02010800040101010101" pitchFamily="2" charset="-122"/>
                          </a:rPr>
                          <m:t>0</m:t>
                        </m:r>
                      </m:sub>
                    </m:sSub>
                    <m:sSub>
                      <m:sSubPr>
                        <m:ctrlPr>
                          <a:rPr lang="en-US" altLang="zh-CN" sz="2800" i="1" spc="-50">
                            <a:solidFill>
                              <a:schemeClr val="tx1"/>
                            </a:solidFill>
                            <a:latin typeface="Cambria Math" panose="02040503050406030204" pitchFamily="18" charset="0"/>
                            <a:ea typeface="华文新魏" panose="02010800040101010101" pitchFamily="2" charset="-122"/>
                          </a:rPr>
                        </m:ctrlPr>
                      </m:sSubPr>
                      <m:e>
                        <m:r>
                          <a:rPr lang="zh-CN" altLang="en-US" sz="2800" b="0" i="1" spc="-50">
                            <a:solidFill>
                              <a:schemeClr val="tx1"/>
                            </a:solidFill>
                            <a:latin typeface="Cambria Math" panose="02040503050406030204" pitchFamily="18" charset="0"/>
                            <a:ea typeface="华文新魏" panose="02010800040101010101" pitchFamily="2" charset="-122"/>
                          </a:rPr>
                          <m:t>𝜑</m:t>
                        </m:r>
                      </m:e>
                      <m:sub>
                        <m:r>
                          <a:rPr lang="en-US" altLang="zh-CN" sz="2800" b="0" i="1" spc="-50">
                            <a:solidFill>
                              <a:schemeClr val="tx1"/>
                            </a:solidFill>
                            <a:latin typeface="Cambria Math" panose="02040503050406030204" pitchFamily="18" charset="0"/>
                            <a:ea typeface="华文新魏" panose="02010800040101010101" pitchFamily="2" charset="-122"/>
                          </a:rPr>
                          <m:t>2</m:t>
                        </m:r>
                      </m:sub>
                    </m:sSub>
                  </m:oMath>
                </a14:m>
                <a:endParaRPr lang="en-US" sz="28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4F97B1CC-06DD-44C6-B801-1E8D06C6FC7B}"/>
                  </a:ext>
                </a:extLst>
              </p:cNvPr>
              <p:cNvSpPr>
                <a:spLocks noRot="1" noChangeAspect="1" noMove="1" noResize="1" noEditPoints="1" noAdjustHandles="1" noChangeArrowheads="1" noChangeShapeType="1" noTextEdit="1"/>
              </p:cNvSpPr>
              <p:nvPr/>
            </p:nvSpPr>
            <p:spPr>
              <a:xfrm>
                <a:off x="1533762" y="3476903"/>
                <a:ext cx="2527167" cy="52322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8B7CF105-65F8-4DA2-AEDD-FC1588222A21}"/>
                  </a:ext>
                </a:extLst>
              </p:cNvPr>
              <p:cNvSpPr/>
              <p:nvPr/>
            </p:nvSpPr>
            <p:spPr>
              <a:xfrm>
                <a:off x="1286699" y="2093747"/>
                <a:ext cx="2877775" cy="10767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ea typeface="华文新魏" panose="02010800040101010101" pitchFamily="2" charset="-122"/>
                        </a:rPr>
                        <m:t>𝐴</m:t>
                      </m:r>
                      <m:r>
                        <a:rPr lang="en-US" altLang="zh-CN" sz="2800" b="0" i="1" smtClean="0">
                          <a:solidFill>
                            <a:schemeClr val="tx1"/>
                          </a:solidFill>
                          <a:latin typeface="Cambria Math" panose="02040503050406030204" pitchFamily="18" charset="0"/>
                          <a:ea typeface="华文新魏" panose="02010800040101010101" pitchFamily="2" charset="-122"/>
                        </a:rPr>
                        <m:t>=</m:t>
                      </m:r>
                      <m:nary>
                        <m:naryPr>
                          <m:ctrlPr>
                            <a:rPr lang="en-US" altLang="zh-CN" sz="2800" i="1">
                              <a:solidFill>
                                <a:schemeClr val="tx1"/>
                              </a:solidFill>
                              <a:latin typeface="Cambria Math" panose="02040503050406030204" pitchFamily="18" charset="0"/>
                              <a:ea typeface="华文新魏" panose="02010800040101010101" pitchFamily="2" charset="-122"/>
                            </a:rPr>
                          </m:ctrlPr>
                        </m:naryPr>
                        <m:sub>
                          <m:sSub>
                            <m:sSubPr>
                              <m:ctrlPr>
                                <a:rPr lang="en-US" altLang="zh-CN" sz="2800" i="1">
                                  <a:solidFill>
                                    <a:schemeClr val="tx1"/>
                                  </a:solidFill>
                                  <a:latin typeface="Cambria Math" panose="02040503050406030204" pitchFamily="18" charset="0"/>
                                  <a:ea typeface="华文新魏" panose="02010800040101010101" pitchFamily="2" charset="-122"/>
                                </a:rPr>
                              </m:ctrlPr>
                            </m:sSubPr>
                            <m:e>
                              <m:r>
                                <a:rPr lang="en-US" altLang="zh-CN" sz="2800" b="0" i="1" smtClean="0">
                                  <a:solidFill>
                                    <a:schemeClr val="tx1"/>
                                  </a:solidFill>
                                  <a:latin typeface="Cambria Math" panose="02040503050406030204" pitchFamily="18" charset="0"/>
                                  <a:ea typeface="华文新魏" panose="02010800040101010101" pitchFamily="2" charset="-122"/>
                                </a:rPr>
                                <m:t>𝑝</m:t>
                              </m:r>
                            </m:e>
                            <m:sub>
                              <m:r>
                                <a:rPr lang="en-US" altLang="zh-CN" sz="2800" b="0" i="1" smtClean="0">
                                  <a:solidFill>
                                    <a:schemeClr val="tx1"/>
                                  </a:solidFill>
                                  <a:latin typeface="Cambria Math" panose="02040503050406030204" pitchFamily="18" charset="0"/>
                                  <a:ea typeface="华文新魏" panose="02010800040101010101" pitchFamily="2" charset="-122"/>
                                </a:rPr>
                                <m:t>1</m:t>
                              </m:r>
                            </m:sub>
                          </m:sSub>
                        </m:sub>
                        <m:sup>
                          <m:sSub>
                            <m:sSubPr>
                              <m:ctrlPr>
                                <a:rPr lang="en-US" altLang="zh-CN" sz="2800" i="1">
                                  <a:solidFill>
                                    <a:schemeClr val="tx1"/>
                                  </a:solidFill>
                                  <a:latin typeface="Cambria Math" panose="02040503050406030204" pitchFamily="18" charset="0"/>
                                  <a:ea typeface="华文新魏" panose="02010800040101010101" pitchFamily="2" charset="-122"/>
                                </a:rPr>
                              </m:ctrlPr>
                            </m:sSubPr>
                            <m:e>
                              <m:r>
                                <a:rPr lang="en-US" altLang="zh-CN" sz="2800" b="0" i="1" smtClean="0">
                                  <a:solidFill>
                                    <a:schemeClr val="tx1"/>
                                  </a:solidFill>
                                  <a:latin typeface="Cambria Math" panose="02040503050406030204" pitchFamily="18" charset="0"/>
                                  <a:ea typeface="华文新魏" panose="02010800040101010101" pitchFamily="2" charset="-122"/>
                                </a:rPr>
                                <m:t>𝑝</m:t>
                              </m:r>
                            </m:e>
                            <m:sub>
                              <m:r>
                                <a:rPr lang="en-US" altLang="zh-CN" sz="2800" b="0" i="1" smtClean="0">
                                  <a:solidFill>
                                    <a:schemeClr val="tx1"/>
                                  </a:solidFill>
                                  <a:latin typeface="Cambria Math" panose="02040503050406030204" pitchFamily="18" charset="0"/>
                                  <a:ea typeface="华文新魏" panose="02010800040101010101" pitchFamily="2" charset="-122"/>
                                </a:rPr>
                                <m:t>2</m:t>
                              </m:r>
                            </m:sub>
                          </m:sSub>
                        </m:sup>
                        <m:e>
                          <m:sSub>
                            <m:sSubPr>
                              <m:ctrlPr>
                                <a:rPr lang="en-US" altLang="zh-CN" sz="2800" i="1">
                                  <a:solidFill>
                                    <a:schemeClr val="tx1"/>
                                  </a:solidFill>
                                  <a:latin typeface="Cambria Math" panose="02040503050406030204" pitchFamily="18" charset="0"/>
                                  <a:ea typeface="华文新魏" panose="02010800040101010101" pitchFamily="2" charset="-122"/>
                                </a:rPr>
                              </m:ctrlPr>
                            </m:sSubPr>
                            <m:e>
                              <m:r>
                                <a:rPr lang="en-US" altLang="zh-CN" sz="2800" b="0" i="1" smtClean="0">
                                  <a:solidFill>
                                    <a:schemeClr val="tx1"/>
                                  </a:solidFill>
                                  <a:latin typeface="Cambria Math" panose="02040503050406030204" pitchFamily="18" charset="0"/>
                                  <a:ea typeface="华文新魏" panose="02010800040101010101" pitchFamily="2" charset="-122"/>
                                </a:rPr>
                                <m:t>𝑞</m:t>
                              </m:r>
                            </m:e>
                            <m:sub>
                              <m:r>
                                <a:rPr lang="en-US" altLang="zh-CN" sz="2800" b="0" i="1" smtClean="0">
                                  <a:solidFill>
                                    <a:schemeClr val="tx1"/>
                                  </a:solidFill>
                                  <a:latin typeface="Cambria Math" panose="02040503050406030204" pitchFamily="18" charset="0"/>
                                  <a:ea typeface="华文新魏" panose="02010800040101010101" pitchFamily="2" charset="-122"/>
                                </a:rPr>
                                <m:t>0</m:t>
                              </m:r>
                            </m:sub>
                          </m:sSub>
                          <m:acc>
                            <m:accPr>
                              <m:chr m:val="⃗"/>
                              <m:ctrlPr>
                                <a:rPr lang="en-US" altLang="zh-CN" sz="2800" i="1">
                                  <a:solidFill>
                                    <a:schemeClr val="tx1"/>
                                  </a:solidFill>
                                  <a:latin typeface="Cambria Math" panose="02040503050406030204" pitchFamily="18" charset="0"/>
                                  <a:ea typeface="华文新魏" panose="02010800040101010101" pitchFamily="2" charset="-122"/>
                                </a:rPr>
                              </m:ctrlPr>
                            </m:accPr>
                            <m:e>
                              <m:r>
                                <a:rPr lang="en-US" altLang="zh-CN" sz="2800" b="0" i="1" smtClean="0">
                                  <a:solidFill>
                                    <a:schemeClr val="tx1"/>
                                  </a:solidFill>
                                  <a:latin typeface="Cambria Math" panose="02040503050406030204" pitchFamily="18" charset="0"/>
                                  <a:ea typeface="华文新魏" panose="02010800040101010101" pitchFamily="2" charset="-122"/>
                                </a:rPr>
                                <m:t>𝐸</m:t>
                              </m:r>
                            </m:e>
                          </m:acc>
                          <m:r>
                            <m:rPr>
                              <m:brk m:alnAt="23"/>
                            </m:rPr>
                            <a:rPr lang="en-US" altLang="zh-CN" sz="2800" b="0" i="1" smtClean="0">
                              <a:solidFill>
                                <a:schemeClr val="tx1"/>
                              </a:solidFill>
                              <a:latin typeface="Cambria Math" panose="02040503050406030204" pitchFamily="18" charset="0"/>
                              <a:ea typeface="Cambria Math" panose="02040503050406030204" pitchFamily="18" charset="0"/>
                            </a:rPr>
                            <m:t>∙</m:t>
                          </m:r>
                          <m:r>
                            <a:rPr lang="en-US" altLang="zh-CN" sz="2800" b="0" i="1" smtClean="0">
                              <a:solidFill>
                                <a:schemeClr val="tx1"/>
                              </a:solidFill>
                              <a:latin typeface="Cambria Math" panose="02040503050406030204" pitchFamily="18" charset="0"/>
                              <a:ea typeface="华文新魏" panose="02010800040101010101" pitchFamily="2" charset="-122"/>
                            </a:rPr>
                            <m:t>𝑑</m:t>
                          </m:r>
                          <m:acc>
                            <m:accPr>
                              <m:chr m:val="⃗"/>
                              <m:ctrlPr>
                                <a:rPr lang="en-US" altLang="zh-CN" sz="2800" i="1">
                                  <a:solidFill>
                                    <a:schemeClr val="tx1"/>
                                  </a:solidFill>
                                  <a:latin typeface="Cambria Math" panose="02040503050406030204" pitchFamily="18" charset="0"/>
                                  <a:ea typeface="华文新魏" panose="02010800040101010101" pitchFamily="2" charset="-122"/>
                                </a:rPr>
                              </m:ctrlPr>
                            </m:accPr>
                            <m:e>
                              <m:r>
                                <a:rPr lang="en-US" altLang="zh-CN" sz="2800" b="0" i="1" smtClean="0">
                                  <a:solidFill>
                                    <a:schemeClr val="tx1"/>
                                  </a:solidFill>
                                  <a:latin typeface="Cambria Math" panose="02040503050406030204" pitchFamily="18" charset="0"/>
                                  <a:ea typeface="华文新魏" panose="02010800040101010101" pitchFamily="2" charset="-122"/>
                                </a:rPr>
                                <m:t>𝑙</m:t>
                              </m:r>
                            </m:e>
                          </m:acc>
                        </m:e>
                      </m:nary>
                    </m:oMath>
                  </m:oMathPara>
                </a14:m>
                <a:endParaRPr 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id="{8B7CF105-65F8-4DA2-AEDD-FC1588222A21}"/>
                  </a:ext>
                </a:extLst>
              </p:cNvPr>
              <p:cNvSpPr>
                <a:spLocks noRot="1" noChangeAspect="1" noMove="1" noResize="1" noEditPoints="1" noAdjustHandles="1" noChangeArrowheads="1" noChangeShapeType="1" noTextEdit="1"/>
              </p:cNvSpPr>
              <p:nvPr/>
            </p:nvSpPr>
            <p:spPr>
              <a:xfrm>
                <a:off x="1286699" y="2093747"/>
                <a:ext cx="2877775" cy="107670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5D3F59D2-9C96-4D3B-BA1E-C280C46A69FE}"/>
                  </a:ext>
                </a:extLst>
              </p:cNvPr>
              <p:cNvSpPr/>
              <p:nvPr/>
            </p:nvSpPr>
            <p:spPr>
              <a:xfrm>
                <a:off x="1533762" y="4306574"/>
                <a:ext cx="198265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smtClean="0">
                          <a:solidFill>
                            <a:schemeClr val="tx1"/>
                          </a:solidFill>
                          <a:latin typeface="Cambria Math" panose="02040503050406030204" pitchFamily="18" charset="0"/>
                          <a:ea typeface="华文新魏" panose="02010800040101010101" pitchFamily="2" charset="-122"/>
                        </a:rPr>
                        <m:t>=</m:t>
                      </m:r>
                      <m:sSub>
                        <m:sSubPr>
                          <m:ctrlPr>
                            <a:rPr lang="en-US" altLang="zh-CN" sz="2800" i="1">
                              <a:solidFill>
                                <a:schemeClr val="tx1"/>
                              </a:solidFill>
                              <a:latin typeface="Cambria Math" panose="02040503050406030204" pitchFamily="18" charset="0"/>
                              <a:ea typeface="华文新魏" panose="02010800040101010101" pitchFamily="2" charset="-122"/>
                            </a:rPr>
                          </m:ctrlPr>
                        </m:sSubPr>
                        <m:e>
                          <m:r>
                            <a:rPr lang="en-US" altLang="zh-CN" sz="2800" b="0" i="1" smtClean="0">
                              <a:solidFill>
                                <a:schemeClr val="tx1"/>
                              </a:solidFill>
                              <a:latin typeface="Cambria Math" panose="02040503050406030204" pitchFamily="18" charset="0"/>
                              <a:ea typeface="华文新魏" panose="02010800040101010101" pitchFamily="2" charset="-122"/>
                            </a:rPr>
                            <m:t>𝑊</m:t>
                          </m:r>
                        </m:e>
                        <m:sub>
                          <m:r>
                            <a:rPr lang="en-US" altLang="zh-CN" sz="2800" b="0" i="1" smtClean="0">
                              <a:solidFill>
                                <a:schemeClr val="tx1"/>
                              </a:solidFill>
                              <a:latin typeface="Cambria Math" panose="02040503050406030204" pitchFamily="18" charset="0"/>
                              <a:ea typeface="华文新魏" panose="02010800040101010101" pitchFamily="2" charset="-122"/>
                            </a:rPr>
                            <m:t>1</m:t>
                          </m:r>
                        </m:sub>
                      </m:sSub>
                      <m:r>
                        <a:rPr lang="en-US" altLang="zh-CN" sz="2800" b="0" i="1" smtClean="0">
                          <a:solidFill>
                            <a:schemeClr val="tx1"/>
                          </a:solidFill>
                          <a:latin typeface="Cambria Math" panose="02040503050406030204" pitchFamily="18" charset="0"/>
                          <a:ea typeface="华文新魏" panose="02010800040101010101" pitchFamily="2" charset="-122"/>
                        </a:rPr>
                        <m:t>−</m:t>
                      </m:r>
                      <m:sSub>
                        <m:sSubPr>
                          <m:ctrlPr>
                            <a:rPr lang="en-US" altLang="zh-CN" sz="2800" i="1">
                              <a:solidFill>
                                <a:schemeClr val="tx1"/>
                              </a:solidFill>
                              <a:latin typeface="Cambria Math" panose="02040503050406030204" pitchFamily="18" charset="0"/>
                              <a:ea typeface="华文新魏" panose="02010800040101010101" pitchFamily="2" charset="-122"/>
                            </a:rPr>
                          </m:ctrlPr>
                        </m:sSubPr>
                        <m:e>
                          <m:r>
                            <a:rPr lang="en-US" altLang="zh-CN" sz="2800" b="0" i="1" smtClean="0">
                              <a:solidFill>
                                <a:schemeClr val="tx1"/>
                              </a:solidFill>
                              <a:latin typeface="Cambria Math" panose="02040503050406030204" pitchFamily="18" charset="0"/>
                              <a:ea typeface="华文新魏" panose="02010800040101010101" pitchFamily="2" charset="-122"/>
                            </a:rPr>
                            <m:t>𝑊</m:t>
                          </m:r>
                        </m:e>
                        <m:sub>
                          <m:r>
                            <a:rPr lang="en-US" altLang="zh-CN" sz="2800" b="0" i="1" smtClean="0">
                              <a:solidFill>
                                <a:schemeClr val="tx1"/>
                              </a:solidFill>
                              <a:latin typeface="Cambria Math" panose="02040503050406030204" pitchFamily="18" charset="0"/>
                              <a:ea typeface="华文新魏" panose="02010800040101010101" pitchFamily="2" charset="-122"/>
                            </a:rPr>
                            <m:t>2</m:t>
                          </m:r>
                        </m:sub>
                      </m:sSub>
                    </m:oMath>
                  </m:oMathPara>
                </a14:m>
                <a:endParaRPr lang="en-US" sz="28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1" name="矩形 30">
                <a:extLst>
                  <a:ext uri="{FF2B5EF4-FFF2-40B4-BE49-F238E27FC236}">
                    <a16:creationId xmlns:a16="http://schemas.microsoft.com/office/drawing/2014/main" id="{5D3F59D2-9C96-4D3B-BA1E-C280C46A69FE}"/>
                  </a:ext>
                </a:extLst>
              </p:cNvPr>
              <p:cNvSpPr>
                <a:spLocks noRot="1" noChangeAspect="1" noMove="1" noResize="1" noEditPoints="1" noAdjustHandles="1" noChangeArrowheads="1" noChangeShapeType="1" noTextEdit="1"/>
              </p:cNvSpPr>
              <p:nvPr/>
            </p:nvSpPr>
            <p:spPr>
              <a:xfrm>
                <a:off x="1533762" y="4306574"/>
                <a:ext cx="1982658" cy="5232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FC348AED-2662-462F-AAA4-561EDDC393F4}"/>
                  </a:ext>
                </a:extLst>
              </p:cNvPr>
              <p:cNvSpPr/>
              <p:nvPr/>
            </p:nvSpPr>
            <p:spPr>
              <a:xfrm>
                <a:off x="3397588" y="5141256"/>
                <a:ext cx="3971728" cy="729430"/>
              </a:xfrm>
              <a:prstGeom prst="rect">
                <a:avLst/>
              </a:prstGeom>
            </p:spPr>
            <p:txBody>
              <a:bodyPr wrap="none">
                <a:spAutoFit/>
              </a:bodyPr>
              <a:lstStyle/>
              <a:p>
                <a:pPr>
                  <a:lnSpc>
                    <a:spcPct val="130000"/>
                  </a:lnSpc>
                  <a:spcBef>
                    <a:spcPts val="600"/>
                  </a:spcBef>
                  <a:spcAft>
                    <a:spcPts val="600"/>
                  </a:spcAft>
                  <a:buClr>
                    <a:srgbClr val="99CB38"/>
                  </a:buClr>
                </a:pPr>
                <a14:m>
                  <m:oMathPara xmlns:m="http://schemas.openxmlformats.org/officeDocument/2006/math">
                    <m:oMathParaPr>
                      <m:jc m:val="centerGroup"/>
                    </m:oMathParaPr>
                    <m:oMath xmlns:m="http://schemas.openxmlformats.org/officeDocument/2006/math">
                      <m:r>
                        <a:rPr lang="en-US" altLang="zh-CN" sz="2800" b="1" i="1" smtClean="0">
                          <a:solidFill>
                            <a:srgbClr val="0066FF"/>
                          </a:solidFill>
                          <a:latin typeface="Cambria Math" panose="02040503050406030204" pitchFamily="18" charset="0"/>
                          <a:ea typeface="华文新魏" panose="02010800040101010101" pitchFamily="2" charset="-122"/>
                        </a:rPr>
                        <m:t>𝑾</m:t>
                      </m:r>
                      <m:r>
                        <a:rPr lang="en-US" altLang="zh-CN" sz="2800" b="1" i="1" smtClean="0">
                          <a:solidFill>
                            <a:srgbClr val="0066FF"/>
                          </a:solidFill>
                          <a:latin typeface="Cambria Math" panose="02040503050406030204" pitchFamily="18" charset="0"/>
                          <a:ea typeface="华文新魏" panose="02010800040101010101" pitchFamily="2" charset="-122"/>
                        </a:rPr>
                        <m:t>=</m:t>
                      </m:r>
                      <m:r>
                        <a:rPr lang="en-US" altLang="zh-CN" sz="2800" b="1" i="1" smtClean="0">
                          <a:solidFill>
                            <a:srgbClr val="0066FF"/>
                          </a:solidFill>
                          <a:latin typeface="Cambria Math" panose="02040503050406030204" pitchFamily="18" charset="0"/>
                          <a:ea typeface="华文新魏" panose="02010800040101010101" pitchFamily="2" charset="-122"/>
                        </a:rPr>
                        <m:t>𝒒</m:t>
                      </m:r>
                      <m:r>
                        <a:rPr lang="zh-CN" altLang="en-US" sz="2800" b="1" i="1" smtClean="0">
                          <a:solidFill>
                            <a:srgbClr val="0066FF"/>
                          </a:solidFill>
                          <a:latin typeface="Cambria Math" panose="02040503050406030204" pitchFamily="18" charset="0"/>
                          <a:ea typeface="华文新魏" panose="02010800040101010101" pitchFamily="2" charset="-122"/>
                        </a:rPr>
                        <m:t>𝝋</m:t>
                      </m:r>
                      <m:r>
                        <a:rPr lang="en-US" altLang="zh-CN" sz="2800" b="1" i="1" smtClean="0">
                          <a:solidFill>
                            <a:srgbClr val="0066FF"/>
                          </a:solidFill>
                          <a:latin typeface="Cambria Math" panose="02040503050406030204" pitchFamily="18" charset="0"/>
                          <a:ea typeface="华文新魏" panose="02010800040101010101" pitchFamily="2" charset="-122"/>
                        </a:rPr>
                        <m:t>   </m:t>
                      </m:r>
                      <m:r>
                        <a:rPr lang="zh-CN" altLang="en-US" sz="2800" b="1" i="1" smtClean="0">
                          <a:solidFill>
                            <a:srgbClr val="0066FF"/>
                          </a:solidFill>
                          <a:latin typeface="Cambria Math" panose="02040503050406030204" pitchFamily="18" charset="0"/>
                          <a:ea typeface="华文新魏" panose="02010800040101010101" pitchFamily="2" charset="-122"/>
                        </a:rPr>
                        <m:t>电荷的电势能</m:t>
                      </m:r>
                    </m:oMath>
                  </m:oMathPara>
                </a14:m>
                <a:endParaRPr lang="zh-CN" altLang="en-US" sz="28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2" name="矩形 31">
                <a:extLst>
                  <a:ext uri="{FF2B5EF4-FFF2-40B4-BE49-F238E27FC236}">
                    <a16:creationId xmlns:a16="http://schemas.microsoft.com/office/drawing/2014/main" id="{FC348AED-2662-462F-AAA4-561EDDC393F4}"/>
                  </a:ext>
                </a:extLst>
              </p:cNvPr>
              <p:cNvSpPr>
                <a:spLocks noRot="1" noChangeAspect="1" noMove="1" noResize="1" noEditPoints="1" noAdjustHandles="1" noChangeArrowheads="1" noChangeShapeType="1" noTextEdit="1"/>
              </p:cNvSpPr>
              <p:nvPr/>
            </p:nvSpPr>
            <p:spPr>
              <a:xfrm>
                <a:off x="3397588" y="5141256"/>
                <a:ext cx="3971728" cy="72943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AB254FA3-56A3-4DD9-B71A-EF947CD61905}"/>
                  </a:ext>
                </a:extLst>
              </p:cNvPr>
              <p:cNvSpPr/>
              <p:nvPr/>
            </p:nvSpPr>
            <p:spPr>
              <a:xfrm>
                <a:off x="4093848" y="2008086"/>
                <a:ext cx="4978927" cy="12059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a:latin typeface="Cambria Math" panose="02040503050406030204" pitchFamily="18" charset="0"/>
                          <a:ea typeface="华文新魏" panose="02010800040101010101" pitchFamily="2" charset="-122"/>
                        </a:rPr>
                        <m:t>=</m:t>
                      </m:r>
                      <m:sSub>
                        <m:sSubPr>
                          <m:ctrlPr>
                            <a:rPr lang="en-US" altLang="zh-CN" sz="2800" i="1">
                              <a:latin typeface="Cambria Math" panose="02040503050406030204" pitchFamily="18" charset="0"/>
                              <a:ea typeface="华文新魏" panose="02010800040101010101" pitchFamily="2" charset="-122"/>
                            </a:rPr>
                          </m:ctrlPr>
                        </m:sSubPr>
                        <m:e>
                          <m:r>
                            <a:rPr lang="en-US" altLang="zh-CN" sz="2800" b="0" i="1">
                              <a:latin typeface="Cambria Math" panose="02040503050406030204" pitchFamily="18" charset="0"/>
                              <a:ea typeface="华文新魏" panose="02010800040101010101" pitchFamily="2" charset="-122"/>
                            </a:rPr>
                            <m:t>𝑞</m:t>
                          </m:r>
                        </m:e>
                        <m:sub>
                          <m:r>
                            <a:rPr lang="en-US" altLang="zh-CN" sz="2800" b="0" i="1">
                              <a:latin typeface="Cambria Math" panose="02040503050406030204" pitchFamily="18" charset="0"/>
                              <a:ea typeface="华文新魏" panose="02010800040101010101" pitchFamily="2" charset="-122"/>
                            </a:rPr>
                            <m:t>0</m:t>
                          </m:r>
                        </m:sub>
                      </m:sSub>
                      <m:d>
                        <m:dPr>
                          <m:ctrlPr>
                            <a:rPr lang="en-US" altLang="zh-CN" sz="2800" i="1">
                              <a:latin typeface="Cambria Math" panose="02040503050406030204" pitchFamily="18" charset="0"/>
                              <a:ea typeface="华文新魏" panose="02010800040101010101" pitchFamily="2" charset="-122"/>
                            </a:rPr>
                          </m:ctrlPr>
                        </m:dPr>
                        <m:e>
                          <m:nary>
                            <m:naryPr>
                              <m:ctrlPr>
                                <a:rPr lang="en-US" altLang="zh-CN" sz="2800" i="1">
                                  <a:latin typeface="Cambria Math" panose="02040503050406030204" pitchFamily="18" charset="0"/>
                                  <a:ea typeface="华文新魏" panose="02010800040101010101" pitchFamily="2" charset="-122"/>
                                </a:rPr>
                              </m:ctrlPr>
                            </m:naryPr>
                            <m:sub>
                              <m:sSub>
                                <m:sSubPr>
                                  <m:ctrlPr>
                                    <a:rPr lang="en-US" altLang="zh-CN" sz="2800" i="1">
                                      <a:latin typeface="Cambria Math" panose="02040503050406030204" pitchFamily="18" charset="0"/>
                                      <a:ea typeface="华文新魏" panose="02010800040101010101" pitchFamily="2" charset="-122"/>
                                    </a:rPr>
                                  </m:ctrlPr>
                                </m:sSubPr>
                                <m:e>
                                  <m:r>
                                    <a:rPr lang="en-US" altLang="zh-CN" sz="2800" b="0" i="1">
                                      <a:latin typeface="Cambria Math" panose="02040503050406030204" pitchFamily="18" charset="0"/>
                                      <a:ea typeface="华文新魏" panose="02010800040101010101" pitchFamily="2" charset="-122"/>
                                    </a:rPr>
                                    <m:t>𝑝</m:t>
                                  </m:r>
                                </m:e>
                                <m:sub>
                                  <m:r>
                                    <a:rPr lang="en-US" altLang="zh-CN" sz="2800" b="0" i="1">
                                      <a:latin typeface="Cambria Math" panose="02040503050406030204" pitchFamily="18" charset="0"/>
                                      <a:ea typeface="华文新魏" panose="02010800040101010101" pitchFamily="2" charset="-122"/>
                                    </a:rPr>
                                    <m:t>1</m:t>
                                  </m:r>
                                </m:sub>
                              </m:sSub>
                            </m:sub>
                            <m:sup>
                              <m:r>
                                <a:rPr lang="en-US" altLang="zh-CN" sz="2800" b="0" i="1">
                                  <a:latin typeface="Cambria Math" panose="02040503050406030204" pitchFamily="18" charset="0"/>
                                  <a:ea typeface="华文新魏" panose="02010800040101010101" pitchFamily="2" charset="-122"/>
                                </a:rPr>
                                <m:t>"</m:t>
                              </m:r>
                              <m:r>
                                <a:rPr lang="en-US" altLang="zh-CN" sz="2800" b="0" i="1">
                                  <a:latin typeface="Cambria Math" panose="02040503050406030204" pitchFamily="18" charset="0"/>
                                  <a:ea typeface="华文新魏" panose="02010800040101010101" pitchFamily="2" charset="-122"/>
                                </a:rPr>
                                <m:t>0</m:t>
                              </m:r>
                              <m:r>
                                <a:rPr lang="en-US" altLang="zh-CN" sz="2800" b="0" i="1">
                                  <a:latin typeface="Cambria Math" panose="02040503050406030204" pitchFamily="18" charset="0"/>
                                  <a:ea typeface="华文新魏" panose="02010800040101010101" pitchFamily="2" charset="-122"/>
                                </a:rPr>
                                <m:t>"</m:t>
                              </m:r>
                            </m:sup>
                            <m:e>
                              <m:acc>
                                <m:accPr>
                                  <m:chr m:val="⃗"/>
                                  <m:ctrlPr>
                                    <a:rPr lang="en-US" altLang="zh-CN" sz="2800" i="1">
                                      <a:latin typeface="Cambria Math" panose="02040503050406030204" pitchFamily="18" charset="0"/>
                                      <a:ea typeface="华文新魏" panose="02010800040101010101" pitchFamily="2" charset="-122"/>
                                    </a:rPr>
                                  </m:ctrlPr>
                                </m:accPr>
                                <m:e>
                                  <m:r>
                                    <a:rPr lang="en-US" altLang="zh-CN" sz="2800" b="0" i="1">
                                      <a:latin typeface="Cambria Math" panose="02040503050406030204" pitchFamily="18" charset="0"/>
                                      <a:ea typeface="华文新魏" panose="02010800040101010101" pitchFamily="2" charset="-122"/>
                                    </a:rPr>
                                    <m:t>𝐸</m:t>
                                  </m:r>
                                </m:e>
                              </m:acc>
                              <m:r>
                                <m:rPr>
                                  <m:brk m:alnAt="23"/>
                                </m:rPr>
                                <a:rPr lang="en-US" altLang="zh-CN" sz="2800" b="0" i="1">
                                  <a:latin typeface="Cambria Math" panose="02040503050406030204" pitchFamily="18" charset="0"/>
                                  <a:ea typeface="Cambria Math" panose="02040503050406030204" pitchFamily="18" charset="0"/>
                                </a:rPr>
                                <m:t>∙</m:t>
                              </m:r>
                              <m:r>
                                <a:rPr lang="en-US" altLang="zh-CN" sz="2800" b="0" i="1">
                                  <a:latin typeface="Cambria Math" panose="02040503050406030204" pitchFamily="18" charset="0"/>
                                  <a:ea typeface="华文新魏" panose="02010800040101010101" pitchFamily="2" charset="-122"/>
                                </a:rPr>
                                <m:t>𝑑</m:t>
                              </m:r>
                              <m:acc>
                                <m:accPr>
                                  <m:chr m:val="⃗"/>
                                  <m:ctrlPr>
                                    <a:rPr lang="en-US" altLang="zh-CN" sz="2800" i="1">
                                      <a:latin typeface="Cambria Math" panose="02040503050406030204" pitchFamily="18" charset="0"/>
                                      <a:ea typeface="华文新魏" panose="02010800040101010101" pitchFamily="2" charset="-122"/>
                                    </a:rPr>
                                  </m:ctrlPr>
                                </m:accPr>
                                <m:e>
                                  <m:r>
                                    <a:rPr lang="en-US" altLang="zh-CN" sz="2800" b="0" i="1">
                                      <a:latin typeface="Cambria Math" panose="02040503050406030204" pitchFamily="18" charset="0"/>
                                      <a:ea typeface="华文新魏" panose="02010800040101010101" pitchFamily="2" charset="-122"/>
                                    </a:rPr>
                                    <m:t>𝑙</m:t>
                                  </m:r>
                                </m:e>
                              </m:acc>
                            </m:e>
                          </m:nary>
                          <m:r>
                            <a:rPr lang="en-US" altLang="zh-CN" sz="2800" b="0" i="1">
                              <a:latin typeface="Cambria Math" panose="02040503050406030204" pitchFamily="18" charset="0"/>
                              <a:ea typeface="华文新魏" panose="02010800040101010101" pitchFamily="2" charset="-122"/>
                            </a:rPr>
                            <m:t>−</m:t>
                          </m:r>
                          <m:nary>
                            <m:naryPr>
                              <m:ctrlPr>
                                <a:rPr lang="en-US" altLang="zh-CN" sz="2800" i="1">
                                  <a:latin typeface="Cambria Math" panose="02040503050406030204" pitchFamily="18" charset="0"/>
                                  <a:ea typeface="华文新魏" panose="02010800040101010101" pitchFamily="2" charset="-122"/>
                                </a:rPr>
                              </m:ctrlPr>
                            </m:naryPr>
                            <m:sub>
                              <m:sSub>
                                <m:sSubPr>
                                  <m:ctrlPr>
                                    <a:rPr lang="en-US" altLang="zh-CN" sz="2800" i="1">
                                      <a:latin typeface="Cambria Math" panose="02040503050406030204" pitchFamily="18" charset="0"/>
                                      <a:ea typeface="华文新魏" panose="02010800040101010101" pitchFamily="2" charset="-122"/>
                                    </a:rPr>
                                  </m:ctrlPr>
                                </m:sSubPr>
                                <m:e>
                                  <m:r>
                                    <a:rPr lang="en-US" altLang="zh-CN" sz="2800" b="0" i="1">
                                      <a:latin typeface="Cambria Math" panose="02040503050406030204" pitchFamily="18" charset="0"/>
                                      <a:ea typeface="华文新魏" panose="02010800040101010101" pitchFamily="2" charset="-122"/>
                                    </a:rPr>
                                    <m:t>𝑝</m:t>
                                  </m:r>
                                </m:e>
                                <m:sub>
                                  <m:r>
                                    <a:rPr lang="en-US" altLang="zh-CN" sz="2800" b="0" i="1">
                                      <a:latin typeface="Cambria Math" panose="02040503050406030204" pitchFamily="18" charset="0"/>
                                      <a:ea typeface="华文新魏" panose="02010800040101010101" pitchFamily="2" charset="-122"/>
                                    </a:rPr>
                                    <m:t>2</m:t>
                                  </m:r>
                                </m:sub>
                              </m:sSub>
                            </m:sub>
                            <m:sup>
                              <m:r>
                                <a:rPr lang="en-US" altLang="zh-CN" sz="2800" b="0" i="1">
                                  <a:latin typeface="Cambria Math" panose="02040503050406030204" pitchFamily="18" charset="0"/>
                                  <a:ea typeface="华文新魏" panose="02010800040101010101" pitchFamily="2" charset="-122"/>
                                </a:rPr>
                                <m:t>"</m:t>
                              </m:r>
                              <m:r>
                                <a:rPr lang="en-US" altLang="zh-CN" sz="2800" b="0" i="1">
                                  <a:latin typeface="Cambria Math" panose="02040503050406030204" pitchFamily="18" charset="0"/>
                                  <a:ea typeface="华文新魏" panose="02010800040101010101" pitchFamily="2" charset="-122"/>
                                </a:rPr>
                                <m:t>0</m:t>
                              </m:r>
                              <m:r>
                                <a:rPr lang="en-US" altLang="zh-CN" sz="2800" b="0" i="1">
                                  <a:latin typeface="Cambria Math" panose="02040503050406030204" pitchFamily="18" charset="0"/>
                                  <a:ea typeface="华文新魏" panose="02010800040101010101" pitchFamily="2" charset="-122"/>
                                </a:rPr>
                                <m:t>"</m:t>
                              </m:r>
                            </m:sup>
                            <m:e>
                              <m:acc>
                                <m:accPr>
                                  <m:chr m:val="⃗"/>
                                  <m:ctrlPr>
                                    <a:rPr lang="en-US" altLang="zh-CN" sz="2800" i="1">
                                      <a:latin typeface="Cambria Math" panose="02040503050406030204" pitchFamily="18" charset="0"/>
                                      <a:ea typeface="华文新魏" panose="02010800040101010101" pitchFamily="2" charset="-122"/>
                                    </a:rPr>
                                  </m:ctrlPr>
                                </m:accPr>
                                <m:e>
                                  <m:r>
                                    <a:rPr lang="en-US" altLang="zh-CN" sz="2800" b="0" i="1">
                                      <a:latin typeface="Cambria Math" panose="02040503050406030204" pitchFamily="18" charset="0"/>
                                      <a:ea typeface="华文新魏" panose="02010800040101010101" pitchFamily="2" charset="-122"/>
                                    </a:rPr>
                                    <m:t>𝐸</m:t>
                                  </m:r>
                                </m:e>
                              </m:acc>
                              <m:r>
                                <m:rPr>
                                  <m:brk m:alnAt="23"/>
                                </m:rPr>
                                <a:rPr lang="en-US" altLang="zh-CN" sz="2800" b="0" i="1">
                                  <a:latin typeface="Cambria Math" panose="02040503050406030204" pitchFamily="18" charset="0"/>
                                  <a:ea typeface="Cambria Math" panose="02040503050406030204" pitchFamily="18" charset="0"/>
                                </a:rPr>
                                <m:t>∙</m:t>
                              </m:r>
                              <m:r>
                                <a:rPr lang="en-US" altLang="zh-CN" sz="2800" b="0" i="1">
                                  <a:latin typeface="Cambria Math" panose="02040503050406030204" pitchFamily="18" charset="0"/>
                                  <a:ea typeface="华文新魏" panose="02010800040101010101" pitchFamily="2" charset="-122"/>
                                </a:rPr>
                                <m:t>𝑑</m:t>
                              </m:r>
                              <m:acc>
                                <m:accPr>
                                  <m:chr m:val="⃗"/>
                                  <m:ctrlPr>
                                    <a:rPr lang="en-US" altLang="zh-CN" sz="2800" i="1">
                                      <a:latin typeface="Cambria Math" panose="02040503050406030204" pitchFamily="18" charset="0"/>
                                      <a:ea typeface="华文新魏" panose="02010800040101010101" pitchFamily="2" charset="-122"/>
                                    </a:rPr>
                                  </m:ctrlPr>
                                </m:accPr>
                                <m:e>
                                  <m:r>
                                    <a:rPr lang="en-US" altLang="zh-CN" sz="2800" b="0" i="1">
                                      <a:latin typeface="Cambria Math" panose="02040503050406030204" pitchFamily="18" charset="0"/>
                                      <a:ea typeface="华文新魏" panose="02010800040101010101" pitchFamily="2" charset="-122"/>
                                    </a:rPr>
                                    <m:t>𝑙</m:t>
                                  </m:r>
                                </m:e>
                              </m:acc>
                            </m:e>
                          </m:nary>
                        </m:e>
                      </m:d>
                    </m:oMath>
                  </m:oMathPara>
                </a14:m>
                <a:endParaRPr lang="en-US" sz="2800" dirty="0"/>
              </a:p>
            </p:txBody>
          </p:sp>
        </mc:Choice>
        <mc:Fallback xmlns="">
          <p:sp>
            <p:nvSpPr>
              <p:cNvPr id="33" name="矩形 32">
                <a:extLst>
                  <a:ext uri="{FF2B5EF4-FFF2-40B4-BE49-F238E27FC236}">
                    <a16:creationId xmlns:a16="http://schemas.microsoft.com/office/drawing/2014/main" id="{AB254FA3-56A3-4DD9-B71A-EF947CD61905}"/>
                  </a:ext>
                </a:extLst>
              </p:cNvPr>
              <p:cNvSpPr>
                <a:spLocks noRot="1" noChangeAspect="1" noMove="1" noResize="1" noEditPoints="1" noAdjustHandles="1" noChangeArrowheads="1" noChangeShapeType="1" noTextEdit="1"/>
              </p:cNvSpPr>
              <p:nvPr/>
            </p:nvSpPr>
            <p:spPr>
              <a:xfrm>
                <a:off x="4093848" y="2008086"/>
                <a:ext cx="4978927" cy="1205971"/>
              </a:xfrm>
              <a:prstGeom prst="rect">
                <a:avLst/>
              </a:prstGeom>
              <a:blipFill>
                <a:blip r:embed="rId6"/>
                <a:stretch>
                  <a:fillRect/>
                </a:stretch>
              </a:blipFill>
            </p:spPr>
            <p:txBody>
              <a:bodyPr/>
              <a:lstStyle/>
              <a:p>
                <a:r>
                  <a:rPr lang="zh-CN" altLang="en-US">
                    <a:noFill/>
                  </a:rPr>
                  <a:t> </a:t>
                </a:r>
              </a:p>
            </p:txBody>
          </p:sp>
        </mc:Fallback>
      </mc:AlternateContent>
      <p:sp>
        <p:nvSpPr>
          <p:cNvPr id="34" name="文本框 33">
            <a:extLst>
              <a:ext uri="{FF2B5EF4-FFF2-40B4-BE49-F238E27FC236}">
                <a16:creationId xmlns:a16="http://schemas.microsoft.com/office/drawing/2014/main" id="{610C6FFD-3284-4756-B3AE-4DF666BC8BEB}"/>
              </a:ext>
            </a:extLst>
          </p:cNvPr>
          <p:cNvSpPr txBox="1"/>
          <p:nvPr/>
        </p:nvSpPr>
        <p:spPr>
          <a:xfrm>
            <a:off x="2770270" y="6160839"/>
            <a:ext cx="5690676"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电势零点处，电荷的电势能为零</a:t>
            </a:r>
            <a:endParaRPr lang="en-US" sz="2800" dirty="0">
              <a:latin typeface="华文楷体" panose="02010600040101010101" pitchFamily="2" charset="-122"/>
              <a:ea typeface="华文楷体" panose="02010600040101010101" pitchFamily="2" charset="-122"/>
            </a:endParaRPr>
          </a:p>
        </p:txBody>
      </p:sp>
      <p:pic>
        <p:nvPicPr>
          <p:cNvPr id="2" name="图片 2">
            <a:extLst>
              <a:ext uri="{FF2B5EF4-FFF2-40B4-BE49-F238E27FC236}">
                <a16:creationId xmlns:a16="http://schemas.microsoft.com/office/drawing/2014/main" id="{FB8EBAB3-2929-A357-3A93-46AACD6B21A3}"/>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9129031" y="1480865"/>
            <a:ext cx="2992437"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0554AF27-62C8-23D2-3CC4-24A19EE1247D}"/>
                  </a:ext>
                </a:extLst>
              </p:cNvPr>
              <p:cNvSpPr/>
              <p:nvPr/>
            </p:nvSpPr>
            <p:spPr>
              <a:xfrm>
                <a:off x="8460946" y="5389261"/>
                <a:ext cx="3230628" cy="10769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b="1" i="1" smtClean="0">
                          <a:solidFill>
                            <a:srgbClr val="0066FF"/>
                          </a:solidFill>
                          <a:latin typeface="Cambria Math" panose="02040503050406030204" pitchFamily="18" charset="0"/>
                        </a:rPr>
                        <m:t>𝝋</m:t>
                      </m:r>
                      <m:r>
                        <a:rPr lang="en-US" altLang="zh-CN" sz="2800" b="1" i="1">
                          <a:solidFill>
                            <a:srgbClr val="0066FF"/>
                          </a:solidFill>
                          <a:latin typeface="Cambria Math" panose="02040503050406030204" pitchFamily="18" charset="0"/>
                        </a:rPr>
                        <m:t>=</m:t>
                      </m:r>
                      <m:f>
                        <m:fPr>
                          <m:ctrlPr>
                            <a:rPr lang="en-US" altLang="zh-CN" sz="2800" b="1" i="1" smtClean="0">
                              <a:solidFill>
                                <a:srgbClr val="0066FF"/>
                              </a:solidFill>
                              <a:latin typeface="Cambria Math" panose="02040503050406030204" pitchFamily="18" charset="0"/>
                            </a:rPr>
                          </m:ctrlPr>
                        </m:fPr>
                        <m:num>
                          <m:r>
                            <a:rPr lang="en-US" altLang="zh-CN" sz="2800" b="1" i="1" smtClean="0">
                              <a:solidFill>
                                <a:srgbClr val="0066FF"/>
                              </a:solidFill>
                              <a:latin typeface="Cambria Math" panose="02040503050406030204" pitchFamily="18" charset="0"/>
                            </a:rPr>
                            <m:t>𝑨</m:t>
                          </m:r>
                        </m:num>
                        <m:den>
                          <m:r>
                            <a:rPr lang="en-US" altLang="zh-CN" sz="2800" b="1" i="1" smtClean="0">
                              <a:solidFill>
                                <a:srgbClr val="0066FF"/>
                              </a:solidFill>
                              <a:latin typeface="Cambria Math" panose="02040503050406030204" pitchFamily="18" charset="0"/>
                            </a:rPr>
                            <m:t>𝒒</m:t>
                          </m:r>
                          <m:r>
                            <a:rPr lang="en-US" altLang="zh-CN" sz="2800" b="1" i="1" baseline="-25000" smtClean="0">
                              <a:solidFill>
                                <a:srgbClr val="0066FF"/>
                              </a:solidFill>
                              <a:latin typeface="Cambria Math" panose="02040503050406030204" pitchFamily="18" charset="0"/>
                            </a:rPr>
                            <m:t>𝟎</m:t>
                          </m:r>
                        </m:den>
                      </m:f>
                      <m:r>
                        <a:rPr lang="en-US" altLang="zh-CN" sz="2800" b="1" i="1" smtClean="0">
                          <a:solidFill>
                            <a:srgbClr val="0066FF"/>
                          </a:solidFill>
                          <a:latin typeface="Cambria Math" panose="02040503050406030204" pitchFamily="18" charset="0"/>
                        </a:rPr>
                        <m:t>=</m:t>
                      </m:r>
                      <m:nary>
                        <m:naryPr>
                          <m:ctrlPr>
                            <a:rPr lang="en-US" altLang="zh-CN" sz="2800" b="1" i="1" smtClean="0">
                              <a:solidFill>
                                <a:srgbClr val="0066FF"/>
                              </a:solidFill>
                              <a:latin typeface="Cambria Math" panose="02040503050406030204" pitchFamily="18" charset="0"/>
                              <a:ea typeface="华文新魏" panose="02010800040101010101" pitchFamily="2" charset="-122"/>
                            </a:rPr>
                          </m:ctrlPr>
                        </m:naryPr>
                        <m:sub>
                          <m:r>
                            <a:rPr lang="en-US" altLang="zh-CN" sz="2800" b="1" i="1">
                              <a:solidFill>
                                <a:srgbClr val="0066FF"/>
                              </a:solidFill>
                              <a:latin typeface="Cambria Math" panose="02040503050406030204" pitchFamily="18" charset="0"/>
                              <a:ea typeface="华文新魏" panose="02010800040101010101" pitchFamily="2" charset="-122"/>
                            </a:rPr>
                            <m:t>𝒑</m:t>
                          </m:r>
                        </m:sub>
                        <m:sup>
                          <m:r>
                            <a:rPr lang="en-US" altLang="zh-CN" sz="2800" b="1" i="1" smtClean="0">
                              <a:solidFill>
                                <a:srgbClr val="0066FF"/>
                              </a:solidFill>
                              <a:latin typeface="Cambria Math" panose="02040503050406030204" pitchFamily="18" charset="0"/>
                              <a:ea typeface="华文新魏" panose="02010800040101010101" pitchFamily="2" charset="-122"/>
                            </a:rPr>
                            <m:t>∞</m:t>
                          </m:r>
                        </m:sup>
                        <m:e>
                          <m:acc>
                            <m:accPr>
                              <m:chr m:val="⃗"/>
                              <m:ctrlPr>
                                <a:rPr lang="en-US" altLang="zh-CN" sz="2800" b="1" i="1">
                                  <a:solidFill>
                                    <a:srgbClr val="0066FF"/>
                                  </a:solidFill>
                                  <a:latin typeface="Cambria Math" panose="02040503050406030204" pitchFamily="18" charset="0"/>
                                  <a:ea typeface="华文新魏" panose="02010800040101010101" pitchFamily="2" charset="-122"/>
                                </a:rPr>
                              </m:ctrlPr>
                            </m:accPr>
                            <m:e>
                              <m:r>
                                <a:rPr lang="en-US" altLang="zh-CN" sz="2800" b="1" i="1">
                                  <a:solidFill>
                                    <a:srgbClr val="0066FF"/>
                                  </a:solidFill>
                                  <a:latin typeface="Cambria Math" panose="02040503050406030204" pitchFamily="18" charset="0"/>
                                  <a:ea typeface="华文新魏" panose="02010800040101010101" pitchFamily="2" charset="-122"/>
                                </a:rPr>
                                <m:t>𝑬</m:t>
                              </m:r>
                            </m:e>
                          </m:acc>
                          <m:r>
                            <m:rPr>
                              <m:brk m:alnAt="23"/>
                            </m:rPr>
                            <a:rPr lang="en-US" altLang="zh-CN" sz="2800" b="1" i="1">
                              <a:solidFill>
                                <a:srgbClr val="0066FF"/>
                              </a:solidFill>
                              <a:latin typeface="Cambria Math" panose="02040503050406030204" pitchFamily="18" charset="0"/>
                              <a:ea typeface="Cambria Math" panose="02040503050406030204" pitchFamily="18" charset="0"/>
                            </a:rPr>
                            <m:t>∙</m:t>
                          </m:r>
                          <m:r>
                            <a:rPr lang="en-US" altLang="zh-CN" sz="2800" b="1" i="1">
                              <a:solidFill>
                                <a:srgbClr val="0066FF"/>
                              </a:solidFill>
                              <a:latin typeface="Cambria Math" panose="02040503050406030204" pitchFamily="18" charset="0"/>
                              <a:ea typeface="华文新魏" panose="02010800040101010101" pitchFamily="2" charset="-122"/>
                            </a:rPr>
                            <m:t>𝒅</m:t>
                          </m:r>
                          <m:acc>
                            <m:accPr>
                              <m:chr m:val="⃗"/>
                              <m:ctrlPr>
                                <a:rPr lang="en-US" altLang="zh-CN" sz="2800" b="1" i="1">
                                  <a:solidFill>
                                    <a:srgbClr val="0066FF"/>
                                  </a:solidFill>
                                  <a:latin typeface="Cambria Math" panose="02040503050406030204" pitchFamily="18" charset="0"/>
                                  <a:ea typeface="华文新魏" panose="02010800040101010101" pitchFamily="2" charset="-122"/>
                                </a:rPr>
                              </m:ctrlPr>
                            </m:accPr>
                            <m:e>
                              <m:r>
                                <a:rPr lang="en-US" altLang="zh-CN" sz="2800" b="1" i="1">
                                  <a:solidFill>
                                    <a:srgbClr val="0066FF"/>
                                  </a:solidFill>
                                  <a:latin typeface="Cambria Math" panose="02040503050406030204" pitchFamily="18" charset="0"/>
                                  <a:ea typeface="华文新魏" panose="02010800040101010101" pitchFamily="2" charset="-122"/>
                                </a:rPr>
                                <m:t>𝒍</m:t>
                              </m:r>
                            </m:e>
                          </m:acc>
                        </m:e>
                      </m:nary>
                    </m:oMath>
                  </m:oMathPara>
                </a14:m>
                <a:endParaRPr lang="en-US" sz="2800" dirty="0">
                  <a:solidFill>
                    <a:srgbClr val="0066FF"/>
                  </a:solidFill>
                  <a:latin typeface="华文楷体" panose="02010600040101010101" pitchFamily="2" charset="-122"/>
                  <a:ea typeface="华文楷体" panose="02010600040101010101" pitchFamily="2" charset="-122"/>
                </a:endParaRPr>
              </a:p>
            </p:txBody>
          </p:sp>
        </mc:Choice>
        <mc:Fallback xmlns="">
          <p:sp>
            <p:nvSpPr>
              <p:cNvPr id="24" name="矩形 23">
                <a:extLst>
                  <a:ext uri="{FF2B5EF4-FFF2-40B4-BE49-F238E27FC236}">
                    <a16:creationId xmlns:a16="http://schemas.microsoft.com/office/drawing/2014/main" id="{0554AF27-62C8-23D2-3CC4-24A19EE1247D}"/>
                  </a:ext>
                </a:extLst>
              </p:cNvPr>
              <p:cNvSpPr>
                <a:spLocks noRot="1" noChangeAspect="1" noMove="1" noResize="1" noEditPoints="1" noAdjustHandles="1" noChangeArrowheads="1" noChangeShapeType="1" noTextEdit="1"/>
              </p:cNvSpPr>
              <p:nvPr/>
            </p:nvSpPr>
            <p:spPr>
              <a:xfrm>
                <a:off x="8460946" y="5389261"/>
                <a:ext cx="3230628" cy="1076961"/>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891912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31" grpId="0"/>
      <p:bldP spid="32" grpId="0"/>
      <p:bldP spid="33" grpId="0"/>
      <p:bldP spid="34" grpId="0"/>
      <p:bldP spid="2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6E73B9CE-6774-4B12-840F-99457DF7BBF5}"/>
              </a:ext>
            </a:extLst>
          </p:cNvPr>
          <p:cNvSpPr>
            <a:spLocks noChangeArrowheads="1"/>
          </p:cNvSpPr>
          <p:nvPr/>
        </p:nvSpPr>
        <p:spPr bwMode="auto">
          <a:xfrm>
            <a:off x="581556" y="419409"/>
            <a:ext cx="568007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电偶极矩在静电场中电势能</a:t>
            </a:r>
            <a:endParaRPr lang="en-US" altLang="zh-CN" sz="3200" b="1" dirty="0">
              <a:solidFill>
                <a:srgbClr val="0066FF"/>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157723" name="Object 27">
                <a:extLst>
                  <a:ext uri="{FF2B5EF4-FFF2-40B4-BE49-F238E27FC236}">
                    <a16:creationId xmlns:a16="http://schemas.microsoft.com/office/drawing/2014/main" id="{494B7C86-751A-47A7-8FD8-FC0F34CF0274}"/>
                  </a:ext>
                </a:extLst>
              </p:cNvPr>
              <p:cNvSpPr txBox="1"/>
              <p:nvPr/>
            </p:nvSpPr>
            <p:spPr bwMode="auto">
              <a:xfrm>
                <a:off x="1749995" y="2835487"/>
                <a:ext cx="3719512" cy="812800"/>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2800" i="1" smtClean="0">
                          <a:solidFill>
                            <a:schemeClr val="tx1"/>
                          </a:solidFill>
                          <a:latin typeface="Cambria Math" panose="02040503050406030204" pitchFamily="18" charset="0"/>
                        </a:rPr>
                        <m:t>=−</m:t>
                      </m:r>
                      <m:r>
                        <a:rPr lang="en-US" sz="2800" i="1" smtClean="0">
                          <a:solidFill>
                            <a:schemeClr val="tx1"/>
                          </a:solidFill>
                          <a:latin typeface="Cambria Math" panose="02040503050406030204" pitchFamily="18" charset="0"/>
                        </a:rPr>
                        <m:t>𝑞</m:t>
                      </m:r>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𝐸</m:t>
                          </m:r>
                        </m:e>
                      </m:acc>
                      <m:r>
                        <a:rPr lang="en-US" sz="2800" i="1">
                          <a:solidFill>
                            <a:schemeClr val="tx1"/>
                          </a:solidFill>
                          <a:latin typeface="Cambria Math" panose="02040503050406030204" pitchFamily="18" charset="0"/>
                        </a:rPr>
                        <m:t>⋅</m:t>
                      </m:r>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𝑙</m:t>
                          </m:r>
                        </m:e>
                      </m:acc>
                      <m:r>
                        <a:rPr lang="en-US" sz="2800" i="1">
                          <a:solidFill>
                            <a:schemeClr val="tx1"/>
                          </a:solidFill>
                          <a:latin typeface="Cambria Math" panose="02040503050406030204" pitchFamily="18" charset="0"/>
                        </a:rPr>
                        <m:t>=−</m:t>
                      </m:r>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𝑝</m:t>
                          </m:r>
                        </m:e>
                      </m:acc>
                      <m:r>
                        <a:rPr lang="en-US" sz="2800" i="1">
                          <a:solidFill>
                            <a:schemeClr val="tx1"/>
                          </a:solidFill>
                          <a:latin typeface="Cambria Math" panose="02040503050406030204" pitchFamily="18" charset="0"/>
                        </a:rPr>
                        <m:t>⋅</m:t>
                      </m:r>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𝐸</m:t>
                          </m:r>
                        </m:e>
                      </m:acc>
                    </m:oMath>
                  </m:oMathPara>
                </a14:m>
                <a:endParaRPr lang="en-US" sz="2800" dirty="0">
                  <a:solidFill>
                    <a:schemeClr val="tx1"/>
                  </a:solidFill>
                </a:endParaRPr>
              </a:p>
            </p:txBody>
          </p:sp>
        </mc:Choice>
        <mc:Fallback xmlns="">
          <p:sp>
            <p:nvSpPr>
              <p:cNvPr id="157723" name="Object 27">
                <a:extLst>
                  <a:ext uri="{FF2B5EF4-FFF2-40B4-BE49-F238E27FC236}">
                    <a16:creationId xmlns:a16="http://schemas.microsoft.com/office/drawing/2014/main" id="{494B7C86-751A-47A7-8FD8-FC0F34CF0274}"/>
                  </a:ext>
                </a:extLst>
              </p:cNvPr>
              <p:cNvSpPr txBox="1">
                <a:spLocks noRot="1" noChangeAspect="1" noMove="1" noResize="1" noEditPoints="1" noAdjustHandles="1" noChangeArrowheads="1" noChangeShapeType="1" noTextEdit="1"/>
              </p:cNvSpPr>
              <p:nvPr/>
            </p:nvSpPr>
            <p:spPr bwMode="auto">
              <a:xfrm>
                <a:off x="1749995" y="2835487"/>
                <a:ext cx="3719512" cy="812800"/>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724" name="Object 28">
                <a:extLst>
                  <a:ext uri="{FF2B5EF4-FFF2-40B4-BE49-F238E27FC236}">
                    <a16:creationId xmlns:a16="http://schemas.microsoft.com/office/drawing/2014/main" id="{C3AC6E2F-FAA1-4571-8F8F-2A097E99EC45}"/>
                  </a:ext>
                </a:extLst>
              </p:cNvPr>
              <p:cNvSpPr txBox="1"/>
              <p:nvPr/>
            </p:nvSpPr>
            <p:spPr bwMode="auto">
              <a:xfrm>
                <a:off x="1258663" y="3591984"/>
                <a:ext cx="2351088" cy="812800"/>
              </a:xfrm>
              <a:prstGeom prst="rect">
                <a:avLst/>
              </a:prstGeom>
              <a:noFill/>
              <a:ln w="9525">
                <a:noFill/>
                <a:miter lim="800000"/>
                <a:headEnd/>
                <a:tailEnd/>
              </a:ln>
              <a:effectLst/>
            </p:spPr>
            <p:txBody>
              <a:bodyPr>
                <a:normAutofit/>
              </a:bodyPr>
              <a:lstStyle/>
              <a:p>
                <a:pPr/>
                <a14:m>
                  <m:oMathPara xmlns:m="http://schemas.openxmlformats.org/officeDocument/2006/math">
                    <m:oMathParaPr>
                      <m:jc m:val="centerGroup"/>
                    </m:oMathParaPr>
                    <m:oMath xmlns:m="http://schemas.openxmlformats.org/officeDocument/2006/math">
                      <m:r>
                        <a:rPr lang="en-US" sz="2800" i="1" smtClean="0">
                          <a:solidFill>
                            <a:schemeClr val="tx1"/>
                          </a:solidFill>
                          <a:latin typeface="Cambria Math" panose="02040503050406030204" pitchFamily="18" charset="0"/>
                        </a:rPr>
                        <m:t>𝑊</m:t>
                      </m:r>
                      <m:r>
                        <a:rPr lang="en-US" sz="2800" i="1" smtClean="0">
                          <a:solidFill>
                            <a:schemeClr val="tx1"/>
                          </a:solidFill>
                          <a:latin typeface="Cambria Math" panose="02040503050406030204" pitchFamily="18" charset="0"/>
                        </a:rPr>
                        <m:t>=−</m:t>
                      </m:r>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𝑝</m:t>
                          </m:r>
                        </m:e>
                      </m:acc>
                      <m:r>
                        <a:rPr lang="en-US" sz="2800" i="1">
                          <a:solidFill>
                            <a:schemeClr val="tx1"/>
                          </a:solidFill>
                          <a:latin typeface="Cambria Math" panose="02040503050406030204" pitchFamily="18" charset="0"/>
                        </a:rPr>
                        <m:t>⋅</m:t>
                      </m:r>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𝐸</m:t>
                          </m:r>
                        </m:e>
                      </m:acc>
                    </m:oMath>
                  </m:oMathPara>
                </a14:m>
                <a:endParaRPr lang="en-US" sz="2800" dirty="0">
                  <a:solidFill>
                    <a:schemeClr val="tx1"/>
                  </a:solidFill>
                </a:endParaRPr>
              </a:p>
            </p:txBody>
          </p:sp>
        </mc:Choice>
        <mc:Fallback xmlns="">
          <p:sp>
            <p:nvSpPr>
              <p:cNvPr id="157724" name="Object 28">
                <a:extLst>
                  <a:ext uri="{FF2B5EF4-FFF2-40B4-BE49-F238E27FC236}">
                    <a16:creationId xmlns:a16="http://schemas.microsoft.com/office/drawing/2014/main" id="{C3AC6E2F-FAA1-4571-8F8F-2A097E99EC45}"/>
                  </a:ext>
                </a:extLst>
              </p:cNvPr>
              <p:cNvSpPr txBox="1">
                <a:spLocks noRot="1" noChangeAspect="1" noMove="1" noResize="1" noEditPoints="1" noAdjustHandles="1" noChangeArrowheads="1" noChangeShapeType="1" noTextEdit="1"/>
              </p:cNvSpPr>
              <p:nvPr/>
            </p:nvSpPr>
            <p:spPr bwMode="auto">
              <a:xfrm>
                <a:off x="1258663" y="3591984"/>
                <a:ext cx="2351088" cy="812800"/>
              </a:xfrm>
              <a:prstGeom prst="rect">
                <a:avLst/>
              </a:prstGeom>
              <a:blipFill>
                <a:blip r:embed="rId3"/>
                <a:stretch>
                  <a:fillRect/>
                </a:stretch>
              </a:blipFill>
              <a:ln w="9525">
                <a:no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Object 2">
                <a:extLst>
                  <a:ext uri="{FF2B5EF4-FFF2-40B4-BE49-F238E27FC236}">
                    <a16:creationId xmlns:a16="http://schemas.microsoft.com/office/drawing/2014/main" id="{9656ABB3-2160-4DEA-A4C2-68C5DED5501C}"/>
                  </a:ext>
                </a:extLst>
              </p:cNvPr>
              <p:cNvSpPr txBox="1"/>
              <p:nvPr/>
            </p:nvSpPr>
            <p:spPr bwMode="auto">
              <a:xfrm>
                <a:off x="1408682" y="1272753"/>
                <a:ext cx="4211638" cy="720725"/>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2800" i="1" smtClean="0">
                          <a:solidFill>
                            <a:schemeClr val="tx1"/>
                          </a:solidFill>
                          <a:latin typeface="Cambria Math" panose="02040503050406030204" pitchFamily="18" charset="0"/>
                        </a:rPr>
                        <m:t>𝑊</m:t>
                      </m:r>
                      <m:r>
                        <a:rPr lang="en-US" sz="2800" i="1" smtClean="0">
                          <a:solidFill>
                            <a:schemeClr val="tx1"/>
                          </a:solidFill>
                          <a:latin typeface="Cambria Math" panose="02040503050406030204" pitchFamily="18" charset="0"/>
                        </a:rPr>
                        <m:t>=+</m:t>
                      </m:r>
                      <m:r>
                        <a:rPr lang="en-US" sz="2800" i="1" smtClean="0">
                          <a:solidFill>
                            <a:schemeClr val="tx1"/>
                          </a:solidFill>
                          <a:latin typeface="Cambria Math" panose="02040503050406030204" pitchFamily="18" charset="0"/>
                        </a:rPr>
                        <m:t>𝑞</m:t>
                      </m:r>
                      <m:r>
                        <a:rPr lang="zh-CN" altLang="en-US" sz="2800" b="1" i="1" spc="-50">
                          <a:solidFill>
                            <a:schemeClr val="tx1"/>
                          </a:solidFill>
                          <a:latin typeface="Cambria Math" panose="02040503050406030204" pitchFamily="18" charset="0"/>
                          <a:ea typeface="华文新魏" panose="02010800040101010101" pitchFamily="2" charset="-122"/>
                        </a:rPr>
                        <m:t>𝝋</m:t>
                      </m:r>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𝑟</m:t>
                              </m:r>
                            </m:e>
                          </m:acc>
                        </m:e>
                        <m:sub>
                          <m:r>
                            <a:rPr lang="en-US" sz="2800" i="1">
                              <a:solidFill>
                                <a:schemeClr val="tx1"/>
                              </a:solidFill>
                              <a:latin typeface="Cambria Math" panose="02040503050406030204" pitchFamily="18" charset="0"/>
                            </a:rPr>
                            <m:t>+</m:t>
                          </m:r>
                        </m:sub>
                      </m:sSub>
                      <m:r>
                        <a:rPr lang="en-US" sz="2800" i="1">
                          <a:solidFill>
                            <a:schemeClr val="tx1"/>
                          </a:solidFill>
                          <a:latin typeface="Cambria Math" panose="02040503050406030204" pitchFamily="18" charset="0"/>
                        </a:rPr>
                        <m:t>) −</m:t>
                      </m:r>
                      <m:r>
                        <a:rPr lang="en-US" sz="2800" i="1">
                          <a:solidFill>
                            <a:schemeClr val="tx1"/>
                          </a:solidFill>
                          <a:latin typeface="Cambria Math" panose="02040503050406030204" pitchFamily="18" charset="0"/>
                        </a:rPr>
                        <m:t>𝑞</m:t>
                      </m:r>
                      <m:r>
                        <a:rPr lang="zh-CN" altLang="en-US" sz="2800" b="1" i="1" spc="-50">
                          <a:solidFill>
                            <a:schemeClr val="tx1"/>
                          </a:solidFill>
                          <a:latin typeface="Cambria Math" panose="02040503050406030204" pitchFamily="18" charset="0"/>
                          <a:ea typeface="华文新魏" panose="02010800040101010101" pitchFamily="2" charset="-122"/>
                        </a:rPr>
                        <m:t>𝝋</m:t>
                      </m:r>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𝑟</m:t>
                              </m:r>
                            </m:e>
                          </m:acc>
                        </m:e>
                        <m:sub>
                          <m:r>
                            <a:rPr lang="en-US" sz="2800" i="1">
                              <a:solidFill>
                                <a:schemeClr val="tx1"/>
                              </a:solidFill>
                              <a:latin typeface="Cambria Math" panose="02040503050406030204" pitchFamily="18" charset="0"/>
                            </a:rPr>
                            <m:t>−</m:t>
                          </m:r>
                        </m:sub>
                      </m:sSub>
                      <m:r>
                        <a:rPr lang="en-US" sz="2800" i="1">
                          <a:solidFill>
                            <a:schemeClr val="tx1"/>
                          </a:solidFill>
                          <a:latin typeface="Cambria Math" panose="02040503050406030204" pitchFamily="18" charset="0"/>
                        </a:rPr>
                        <m:t>)</m:t>
                      </m:r>
                    </m:oMath>
                  </m:oMathPara>
                </a14:m>
                <a:endParaRPr lang="en-US" sz="2800" dirty="0">
                  <a:solidFill>
                    <a:schemeClr val="tx1"/>
                  </a:solidFill>
                </a:endParaRPr>
              </a:p>
            </p:txBody>
          </p:sp>
        </mc:Choice>
        <mc:Fallback xmlns="">
          <p:sp>
            <p:nvSpPr>
              <p:cNvPr id="3" name="Object 2">
                <a:extLst>
                  <a:ext uri="{FF2B5EF4-FFF2-40B4-BE49-F238E27FC236}">
                    <a16:creationId xmlns:a16="http://schemas.microsoft.com/office/drawing/2014/main" id="{9656ABB3-2160-4DEA-A4C2-68C5DED5501C}"/>
                  </a:ext>
                </a:extLst>
              </p:cNvPr>
              <p:cNvSpPr txBox="1">
                <a:spLocks noRot="1" noChangeAspect="1" noMove="1" noResize="1" noEditPoints="1" noAdjustHandles="1" noChangeArrowheads="1" noChangeShapeType="1" noTextEdit="1"/>
              </p:cNvSpPr>
              <p:nvPr/>
            </p:nvSpPr>
            <p:spPr bwMode="auto">
              <a:xfrm>
                <a:off x="1408682" y="1272753"/>
                <a:ext cx="4211638" cy="720725"/>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3">
                <a:extLst>
                  <a:ext uri="{FF2B5EF4-FFF2-40B4-BE49-F238E27FC236}">
                    <a16:creationId xmlns:a16="http://schemas.microsoft.com/office/drawing/2014/main" id="{66547814-1785-4B85-9251-81BE9755C06A}"/>
                  </a:ext>
                </a:extLst>
              </p:cNvPr>
              <p:cNvSpPr txBox="1"/>
              <p:nvPr/>
            </p:nvSpPr>
            <p:spPr bwMode="auto">
              <a:xfrm>
                <a:off x="1905570" y="2010941"/>
                <a:ext cx="3408362" cy="720725"/>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2800" i="1" smtClean="0">
                          <a:solidFill>
                            <a:schemeClr val="tx1"/>
                          </a:solidFill>
                          <a:latin typeface="Cambria Math" panose="02040503050406030204" pitchFamily="18" charset="0"/>
                        </a:rPr>
                        <m:t>=</m:t>
                      </m:r>
                      <m:r>
                        <a:rPr lang="en-US" sz="2800" i="1" smtClean="0">
                          <a:solidFill>
                            <a:schemeClr val="tx1"/>
                          </a:solidFill>
                          <a:latin typeface="Cambria Math" panose="02040503050406030204" pitchFamily="18" charset="0"/>
                        </a:rPr>
                        <m:t>𝑞</m:t>
                      </m:r>
                      <m:r>
                        <a:rPr lang="en-US" sz="2800" i="1" smtClean="0">
                          <a:solidFill>
                            <a:schemeClr val="tx1"/>
                          </a:solidFill>
                          <a:latin typeface="Cambria Math" panose="02040503050406030204" pitchFamily="18" charset="0"/>
                        </a:rPr>
                        <m:t>[</m:t>
                      </m:r>
                      <m:r>
                        <a:rPr lang="zh-CN" altLang="en-US" sz="2800" b="1" i="1" spc="-50">
                          <a:solidFill>
                            <a:schemeClr val="tx1"/>
                          </a:solidFill>
                          <a:latin typeface="Cambria Math" panose="02040503050406030204" pitchFamily="18" charset="0"/>
                          <a:ea typeface="华文新魏" panose="02010800040101010101" pitchFamily="2" charset="-122"/>
                        </a:rPr>
                        <m:t>𝝋</m:t>
                      </m:r>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𝑟</m:t>
                              </m:r>
                            </m:e>
                          </m:acc>
                        </m:e>
                        <m:sub>
                          <m:r>
                            <a:rPr lang="en-US" sz="2800" i="1">
                              <a:solidFill>
                                <a:schemeClr val="tx1"/>
                              </a:solidFill>
                              <a:latin typeface="Cambria Math" panose="02040503050406030204" pitchFamily="18" charset="0"/>
                            </a:rPr>
                            <m:t>+</m:t>
                          </m:r>
                        </m:sub>
                      </m:sSub>
                      <m:r>
                        <a:rPr lang="en-US" sz="2800" i="1">
                          <a:solidFill>
                            <a:schemeClr val="tx1"/>
                          </a:solidFill>
                          <a:latin typeface="Cambria Math" panose="02040503050406030204" pitchFamily="18" charset="0"/>
                        </a:rPr>
                        <m:t>)−</m:t>
                      </m:r>
                      <m:r>
                        <a:rPr lang="zh-CN" altLang="en-US" sz="2800" b="1" i="1" spc="-50">
                          <a:solidFill>
                            <a:schemeClr val="tx1"/>
                          </a:solidFill>
                          <a:latin typeface="Cambria Math" panose="02040503050406030204" pitchFamily="18" charset="0"/>
                          <a:ea typeface="华文新魏" panose="02010800040101010101" pitchFamily="2" charset="-122"/>
                        </a:rPr>
                        <m:t>𝝋</m:t>
                      </m:r>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𝑟</m:t>
                              </m:r>
                            </m:e>
                          </m:acc>
                        </m:e>
                        <m:sub>
                          <m:r>
                            <a:rPr lang="en-US" sz="2800" i="1">
                              <a:solidFill>
                                <a:schemeClr val="tx1"/>
                              </a:solidFill>
                              <a:latin typeface="Cambria Math" panose="02040503050406030204" pitchFamily="18" charset="0"/>
                            </a:rPr>
                            <m:t>−</m:t>
                          </m:r>
                        </m:sub>
                      </m:sSub>
                      <m:r>
                        <a:rPr lang="en-US" sz="2800" i="1">
                          <a:solidFill>
                            <a:schemeClr val="tx1"/>
                          </a:solidFill>
                          <a:latin typeface="Cambria Math" panose="02040503050406030204" pitchFamily="18" charset="0"/>
                        </a:rPr>
                        <m:t>)]</m:t>
                      </m:r>
                    </m:oMath>
                  </m:oMathPara>
                </a14:m>
                <a:endParaRPr lang="en-US" sz="2800" dirty="0">
                  <a:solidFill>
                    <a:schemeClr val="tx1"/>
                  </a:solidFill>
                </a:endParaRPr>
              </a:p>
            </p:txBody>
          </p:sp>
        </mc:Choice>
        <mc:Fallback xmlns="">
          <p:sp>
            <p:nvSpPr>
              <p:cNvPr id="4" name="Object 3">
                <a:extLst>
                  <a:ext uri="{FF2B5EF4-FFF2-40B4-BE49-F238E27FC236}">
                    <a16:creationId xmlns:a16="http://schemas.microsoft.com/office/drawing/2014/main" id="{66547814-1785-4B85-9251-81BE9755C06A}"/>
                  </a:ext>
                </a:extLst>
              </p:cNvPr>
              <p:cNvSpPr txBox="1">
                <a:spLocks noRot="1" noChangeAspect="1" noMove="1" noResize="1" noEditPoints="1" noAdjustHandles="1" noChangeArrowheads="1" noChangeShapeType="1" noTextEdit="1"/>
              </p:cNvSpPr>
              <p:nvPr/>
            </p:nvSpPr>
            <p:spPr bwMode="auto">
              <a:xfrm>
                <a:off x="1905570" y="2010941"/>
                <a:ext cx="3408362" cy="720725"/>
              </a:xfrm>
              <a:prstGeom prst="rect">
                <a:avLst/>
              </a:prstGeom>
              <a:blipFill>
                <a:blip r:embed="rId5"/>
                <a:stretch>
                  <a:fillRect/>
                </a:stretch>
              </a:blipFill>
              <a:ln>
                <a:noFill/>
              </a:ln>
              <a:effectLst/>
            </p:spPr>
            <p:txBody>
              <a:bodyPr/>
              <a:lstStyle/>
              <a:p>
                <a:r>
                  <a:rPr lang="zh-CN" altLang="en-US">
                    <a:noFill/>
                  </a:rPr>
                  <a:t> </a:t>
                </a:r>
              </a:p>
            </p:txBody>
          </p:sp>
        </mc:Fallback>
      </mc:AlternateContent>
      <p:sp>
        <p:nvSpPr>
          <p:cNvPr id="21" name="Rectangle 30">
            <a:extLst>
              <a:ext uri="{FF2B5EF4-FFF2-40B4-BE49-F238E27FC236}">
                <a16:creationId xmlns:a16="http://schemas.microsoft.com/office/drawing/2014/main" id="{17AE5287-E69F-485D-9437-E438EBFCF034}"/>
              </a:ext>
            </a:extLst>
          </p:cNvPr>
          <p:cNvSpPr>
            <a:spLocks noChangeArrowheads="1"/>
          </p:cNvSpPr>
          <p:nvPr/>
        </p:nvSpPr>
        <p:spPr bwMode="auto">
          <a:xfrm>
            <a:off x="922248" y="4404784"/>
            <a:ext cx="521168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zh-CN" altLang="en-US" sz="2800" b="1" dirty="0">
                <a:solidFill>
                  <a:srgbClr val="FF0000"/>
                </a:solidFill>
                <a:latin typeface="华文楷体" panose="02010600040101010101" pitchFamily="2" charset="-122"/>
                <a:ea typeface="华文楷体" panose="02010600040101010101" pitchFamily="2" charset="-122"/>
              </a:rPr>
              <a:t>电偶极子作为整体在外场中能量</a:t>
            </a:r>
          </a:p>
        </p:txBody>
      </p:sp>
      <p:grpSp>
        <p:nvGrpSpPr>
          <p:cNvPr id="2" name="Group 3">
            <a:extLst>
              <a:ext uri="{FF2B5EF4-FFF2-40B4-BE49-F238E27FC236}">
                <a16:creationId xmlns:a16="http://schemas.microsoft.com/office/drawing/2014/main" id="{095927CE-7754-97A3-3349-019E74C84E0C}"/>
              </a:ext>
            </a:extLst>
          </p:cNvPr>
          <p:cNvGrpSpPr/>
          <p:nvPr/>
        </p:nvGrpSpPr>
        <p:grpSpPr>
          <a:xfrm>
            <a:off x="6647543" y="1272753"/>
            <a:ext cx="4267200" cy="3208338"/>
            <a:chOff x="2928" y="864"/>
            <a:chExt cx="2688" cy="2021"/>
          </a:xfrm>
        </p:grpSpPr>
        <p:sp>
          <p:nvSpPr>
            <p:cNvPr id="8" name="Rectangle 4">
              <a:extLst>
                <a:ext uri="{FF2B5EF4-FFF2-40B4-BE49-F238E27FC236}">
                  <a16:creationId xmlns:a16="http://schemas.microsoft.com/office/drawing/2014/main" id="{902DB996-6707-67D5-8ABC-3286EBAA4AB0}"/>
                </a:ext>
              </a:extLst>
            </p:cNvPr>
            <p:cNvSpPr/>
            <p:nvPr/>
          </p:nvSpPr>
          <p:spPr>
            <a:xfrm>
              <a:off x="2928" y="864"/>
              <a:ext cx="2688" cy="2016"/>
            </a:xfrm>
            <a:prstGeom prst="rect">
              <a:avLst/>
            </a:prstGeom>
            <a:solidFill>
              <a:schemeClr val="bg1"/>
            </a:solidFill>
            <a:ln w="9525" cap="flat" cmpd="sng">
              <a:solidFill>
                <a:srgbClr val="006666"/>
              </a:solidFill>
              <a:prstDash val="solid"/>
              <a:miter/>
              <a:headEnd type="none" w="med" len="med"/>
              <a:tailEnd type="none" w="sm" len="lg"/>
            </a:ln>
          </p:spPr>
          <p:txBody>
            <a:bodyPr wrap="none" anchor="ctr" anchorCtr="0"/>
            <a:lstStyle/>
            <a:p>
              <a:pPr eaLnBrk="0" hangingPunct="0"/>
              <a:endParaRPr lang="zh-CN" altLang="en-US" sz="2800" dirty="0">
                <a:latin typeface="Bookman Old Style" panose="02050604050505020204" pitchFamily="18" charset="0"/>
                <a:ea typeface="宋体" panose="02010600030101010101" pitchFamily="2" charset="-122"/>
              </a:endParaRPr>
            </a:p>
          </p:txBody>
        </p:sp>
        <p:grpSp>
          <p:nvGrpSpPr>
            <p:cNvPr id="9" name="Group 5">
              <a:extLst>
                <a:ext uri="{FF2B5EF4-FFF2-40B4-BE49-F238E27FC236}">
                  <a16:creationId xmlns:a16="http://schemas.microsoft.com/office/drawing/2014/main" id="{F6B92DA6-2344-9151-C08A-7D336E7F3676}"/>
                </a:ext>
              </a:extLst>
            </p:cNvPr>
            <p:cNvGrpSpPr/>
            <p:nvPr/>
          </p:nvGrpSpPr>
          <p:grpSpPr>
            <a:xfrm>
              <a:off x="3312" y="1200"/>
              <a:ext cx="1968" cy="1392"/>
              <a:chOff x="3312" y="1392"/>
              <a:chExt cx="1968" cy="1392"/>
            </a:xfrm>
          </p:grpSpPr>
          <p:sp>
            <p:nvSpPr>
              <p:cNvPr id="31" name="Line 6">
                <a:extLst>
                  <a:ext uri="{FF2B5EF4-FFF2-40B4-BE49-F238E27FC236}">
                    <a16:creationId xmlns:a16="http://schemas.microsoft.com/office/drawing/2014/main" id="{AE52AF8C-BCEB-EDE2-DE29-A08CD886CC23}"/>
                  </a:ext>
                </a:extLst>
              </p:cNvPr>
              <p:cNvSpPr/>
              <p:nvPr/>
            </p:nvSpPr>
            <p:spPr>
              <a:xfrm>
                <a:off x="3312" y="1392"/>
                <a:ext cx="1968" cy="0"/>
              </a:xfrm>
              <a:prstGeom prst="line">
                <a:avLst/>
              </a:prstGeom>
              <a:ln w="19050" cap="flat" cmpd="sng">
                <a:solidFill>
                  <a:schemeClr val="tx1"/>
                </a:solidFill>
                <a:prstDash val="solid"/>
                <a:round/>
                <a:headEnd type="none" w="med" len="med"/>
                <a:tailEnd type="triangle" w="sm" len="lg"/>
              </a:ln>
            </p:spPr>
          </p:sp>
          <p:sp>
            <p:nvSpPr>
              <p:cNvPr id="32" name="Line 7">
                <a:extLst>
                  <a:ext uri="{FF2B5EF4-FFF2-40B4-BE49-F238E27FC236}">
                    <a16:creationId xmlns:a16="http://schemas.microsoft.com/office/drawing/2014/main" id="{334DC123-5741-0155-5376-6783FD4FA7C0}"/>
                  </a:ext>
                </a:extLst>
              </p:cNvPr>
              <p:cNvSpPr/>
              <p:nvPr/>
            </p:nvSpPr>
            <p:spPr>
              <a:xfrm>
                <a:off x="3312" y="1680"/>
                <a:ext cx="1968" cy="0"/>
              </a:xfrm>
              <a:prstGeom prst="line">
                <a:avLst/>
              </a:prstGeom>
              <a:ln w="19050" cap="flat" cmpd="sng">
                <a:solidFill>
                  <a:schemeClr val="tx1"/>
                </a:solidFill>
                <a:prstDash val="solid"/>
                <a:round/>
                <a:headEnd type="none" w="med" len="med"/>
                <a:tailEnd type="triangle" w="sm" len="lg"/>
              </a:ln>
            </p:spPr>
          </p:sp>
          <p:sp>
            <p:nvSpPr>
              <p:cNvPr id="33" name="Line 8">
                <a:extLst>
                  <a:ext uri="{FF2B5EF4-FFF2-40B4-BE49-F238E27FC236}">
                    <a16:creationId xmlns:a16="http://schemas.microsoft.com/office/drawing/2014/main" id="{9A34B605-44B3-8898-D61E-79F85687D674}"/>
                  </a:ext>
                </a:extLst>
              </p:cNvPr>
              <p:cNvSpPr/>
              <p:nvPr/>
            </p:nvSpPr>
            <p:spPr>
              <a:xfrm>
                <a:off x="3312" y="1968"/>
                <a:ext cx="1968" cy="0"/>
              </a:xfrm>
              <a:prstGeom prst="line">
                <a:avLst/>
              </a:prstGeom>
              <a:ln w="19050" cap="flat" cmpd="sng">
                <a:solidFill>
                  <a:schemeClr val="tx1"/>
                </a:solidFill>
                <a:prstDash val="solid"/>
                <a:round/>
                <a:headEnd type="none" w="med" len="med"/>
                <a:tailEnd type="triangle" w="sm" len="lg"/>
              </a:ln>
            </p:spPr>
          </p:sp>
          <p:sp>
            <p:nvSpPr>
              <p:cNvPr id="34" name="Line 9">
                <a:extLst>
                  <a:ext uri="{FF2B5EF4-FFF2-40B4-BE49-F238E27FC236}">
                    <a16:creationId xmlns:a16="http://schemas.microsoft.com/office/drawing/2014/main" id="{5188FC7C-575B-7F5F-DEF0-22DBA7DF37E3}"/>
                  </a:ext>
                </a:extLst>
              </p:cNvPr>
              <p:cNvSpPr/>
              <p:nvPr/>
            </p:nvSpPr>
            <p:spPr>
              <a:xfrm>
                <a:off x="3312" y="2256"/>
                <a:ext cx="1968" cy="0"/>
              </a:xfrm>
              <a:prstGeom prst="line">
                <a:avLst/>
              </a:prstGeom>
              <a:ln w="19050" cap="flat" cmpd="sng">
                <a:solidFill>
                  <a:schemeClr val="tx1"/>
                </a:solidFill>
                <a:prstDash val="solid"/>
                <a:round/>
                <a:headEnd type="none" w="med" len="med"/>
                <a:tailEnd type="triangle" w="sm" len="lg"/>
              </a:ln>
            </p:spPr>
          </p:sp>
          <p:sp>
            <p:nvSpPr>
              <p:cNvPr id="35" name="Line 10">
                <a:extLst>
                  <a:ext uri="{FF2B5EF4-FFF2-40B4-BE49-F238E27FC236}">
                    <a16:creationId xmlns:a16="http://schemas.microsoft.com/office/drawing/2014/main" id="{CF642D3D-525B-6D24-6801-A9718D94D545}"/>
                  </a:ext>
                </a:extLst>
              </p:cNvPr>
              <p:cNvSpPr/>
              <p:nvPr/>
            </p:nvSpPr>
            <p:spPr>
              <a:xfrm>
                <a:off x="3312" y="2544"/>
                <a:ext cx="1968" cy="0"/>
              </a:xfrm>
              <a:prstGeom prst="line">
                <a:avLst/>
              </a:prstGeom>
              <a:ln w="19050" cap="flat" cmpd="sng">
                <a:solidFill>
                  <a:schemeClr val="tx1"/>
                </a:solidFill>
                <a:prstDash val="solid"/>
                <a:round/>
                <a:headEnd type="none" w="med" len="med"/>
                <a:tailEnd type="triangle" w="sm" len="lg"/>
              </a:ln>
            </p:spPr>
          </p:sp>
          <p:sp>
            <p:nvSpPr>
              <p:cNvPr id="36" name="Line 11">
                <a:extLst>
                  <a:ext uri="{FF2B5EF4-FFF2-40B4-BE49-F238E27FC236}">
                    <a16:creationId xmlns:a16="http://schemas.microsoft.com/office/drawing/2014/main" id="{A9848C94-7640-85F1-B24B-6F2C6E139FA1}"/>
                  </a:ext>
                </a:extLst>
              </p:cNvPr>
              <p:cNvSpPr/>
              <p:nvPr/>
            </p:nvSpPr>
            <p:spPr>
              <a:xfrm>
                <a:off x="3312" y="2784"/>
                <a:ext cx="1968" cy="0"/>
              </a:xfrm>
              <a:prstGeom prst="line">
                <a:avLst/>
              </a:prstGeom>
              <a:ln w="19050" cap="flat" cmpd="sng">
                <a:solidFill>
                  <a:schemeClr val="tx1"/>
                </a:solidFill>
                <a:prstDash val="solid"/>
                <a:round/>
                <a:headEnd type="none" w="med" len="med"/>
                <a:tailEnd type="triangle" w="sm" len="lg"/>
              </a:ln>
            </p:spPr>
          </p:sp>
        </p:grpSp>
        <p:sp>
          <p:nvSpPr>
            <p:cNvPr id="10" name="Line 12">
              <a:extLst>
                <a:ext uri="{FF2B5EF4-FFF2-40B4-BE49-F238E27FC236}">
                  <a16:creationId xmlns:a16="http://schemas.microsoft.com/office/drawing/2014/main" id="{A5E4CB11-1A0B-4529-BEE9-CBFEF8655867}"/>
                </a:ext>
              </a:extLst>
            </p:cNvPr>
            <p:cNvSpPr/>
            <p:nvPr/>
          </p:nvSpPr>
          <p:spPr>
            <a:xfrm flipH="1">
              <a:off x="3888" y="1344"/>
              <a:ext cx="720" cy="1152"/>
            </a:xfrm>
            <a:prstGeom prst="line">
              <a:avLst/>
            </a:prstGeom>
            <a:ln w="19050" cap="flat" cmpd="sng">
              <a:solidFill>
                <a:schemeClr val="tx1"/>
              </a:solidFill>
              <a:prstDash val="solid"/>
              <a:round/>
              <a:headEnd type="none" w="med" len="med"/>
              <a:tailEnd type="none" w="sm" len="lg"/>
            </a:ln>
          </p:spPr>
        </p:sp>
        <p:grpSp>
          <p:nvGrpSpPr>
            <p:cNvPr id="11" name="Group 13">
              <a:extLst>
                <a:ext uri="{FF2B5EF4-FFF2-40B4-BE49-F238E27FC236}">
                  <a16:creationId xmlns:a16="http://schemas.microsoft.com/office/drawing/2014/main" id="{5AAD7E39-3C2E-B294-CE6B-9A83820FFB9E}"/>
                </a:ext>
              </a:extLst>
            </p:cNvPr>
            <p:cNvGrpSpPr/>
            <p:nvPr/>
          </p:nvGrpSpPr>
          <p:grpSpPr>
            <a:xfrm>
              <a:off x="4608" y="1104"/>
              <a:ext cx="976" cy="480"/>
              <a:chOff x="4608" y="1296"/>
              <a:chExt cx="976" cy="480"/>
            </a:xfrm>
          </p:grpSpPr>
          <p:sp>
            <p:nvSpPr>
              <p:cNvPr id="29" name="Line 14">
                <a:extLst>
                  <a:ext uri="{FF2B5EF4-FFF2-40B4-BE49-F238E27FC236}">
                    <a16:creationId xmlns:a16="http://schemas.microsoft.com/office/drawing/2014/main" id="{1FC4031F-9F01-1EB3-635C-B30CF890416E}"/>
                  </a:ext>
                </a:extLst>
              </p:cNvPr>
              <p:cNvSpPr/>
              <p:nvPr/>
            </p:nvSpPr>
            <p:spPr>
              <a:xfrm>
                <a:off x="4608" y="1536"/>
                <a:ext cx="528" cy="0"/>
              </a:xfrm>
              <a:prstGeom prst="line">
                <a:avLst/>
              </a:prstGeom>
              <a:ln w="38100" cap="flat" cmpd="sng">
                <a:solidFill>
                  <a:srgbClr val="FF0000"/>
                </a:solidFill>
                <a:prstDash val="solid"/>
                <a:round/>
                <a:headEnd type="none" w="med" len="med"/>
                <a:tailEnd type="triangle" w="sm" len="lg"/>
              </a:ln>
            </p:spPr>
          </p:sp>
          <mc:AlternateContent xmlns:mc="http://schemas.openxmlformats.org/markup-compatibility/2006" xmlns:a14="http://schemas.microsoft.com/office/drawing/2010/main">
            <mc:Choice Requires="a14">
              <p:sp>
                <p:nvSpPr>
                  <p:cNvPr id="30" name="Object 15">
                    <a:extLst>
                      <a:ext uri="{FF2B5EF4-FFF2-40B4-BE49-F238E27FC236}">
                        <a16:creationId xmlns:a16="http://schemas.microsoft.com/office/drawing/2014/main" id="{7D992876-A8E1-1BCB-4FA1-C50FABA6D05E}"/>
                      </a:ext>
                    </a:extLst>
                  </p:cNvPr>
                  <p:cNvSpPr txBox="1"/>
                  <p:nvPr/>
                </p:nvSpPr>
                <p:spPr>
                  <a:xfrm>
                    <a:off x="5184" y="1296"/>
                    <a:ext cx="400" cy="48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𝐹</m:t>
                                  </m:r>
                                </m:e>
                              </m:acc>
                            </m:e>
                            <m:sub>
                              <m:r>
                                <a:rPr lang="zh-CN" altLang="en-US" sz="2800" i="1">
                                  <a:solidFill>
                                    <a:srgbClr val="000000"/>
                                  </a:solidFill>
                                  <a:latin typeface="Cambria Math" panose="02040503050406030204" pitchFamily="18" charset="0"/>
                                </a:rPr>
                                <m:t>+</m:t>
                              </m:r>
                            </m:sub>
                          </m:sSub>
                        </m:oMath>
                      </m:oMathPara>
                    </a14:m>
                    <a:endParaRPr lang="zh-CN" altLang="en-US" sz="2800"/>
                  </a:p>
                </p:txBody>
              </p:sp>
            </mc:Choice>
            <mc:Fallback xmlns="">
              <p:sp>
                <p:nvSpPr>
                  <p:cNvPr id="30" name="Object 15">
                    <a:extLst>
                      <a:ext uri="{FF2B5EF4-FFF2-40B4-BE49-F238E27FC236}">
                        <a16:creationId xmlns:a16="http://schemas.microsoft.com/office/drawing/2014/main" id="{7D992876-A8E1-1BCB-4FA1-C50FABA6D05E}"/>
                      </a:ext>
                    </a:extLst>
                  </p:cNvPr>
                  <p:cNvSpPr txBox="1">
                    <a:spLocks noRot="1" noChangeAspect="1" noMove="1" noResize="1" noEditPoints="1" noAdjustHandles="1" noChangeArrowheads="1" noChangeShapeType="1" noTextEdit="1"/>
                  </p:cNvSpPr>
                  <p:nvPr/>
                </p:nvSpPr>
                <p:spPr>
                  <a:xfrm>
                    <a:off x="5184" y="1296"/>
                    <a:ext cx="400" cy="480"/>
                  </a:xfrm>
                  <a:prstGeom prst="rect">
                    <a:avLst/>
                  </a:prstGeom>
                  <a:blipFill>
                    <a:blip r:embed="rId6"/>
                    <a:stretch>
                      <a:fillRect/>
                    </a:stretch>
                  </a:blipFill>
                  <a:ln w="38100">
                    <a:noFill/>
                    <a:miter/>
                  </a:ln>
                </p:spPr>
                <p:txBody>
                  <a:bodyPr/>
                  <a:lstStyle/>
                  <a:p>
                    <a:r>
                      <a:rPr lang="zh-CN" altLang="en-US">
                        <a:noFill/>
                      </a:rPr>
                      <a:t> </a:t>
                    </a:r>
                  </a:p>
                </p:txBody>
              </p:sp>
            </mc:Fallback>
          </mc:AlternateContent>
        </p:grpSp>
        <p:grpSp>
          <p:nvGrpSpPr>
            <p:cNvPr id="12" name="Group 16">
              <a:extLst>
                <a:ext uri="{FF2B5EF4-FFF2-40B4-BE49-F238E27FC236}">
                  <a16:creationId xmlns:a16="http://schemas.microsoft.com/office/drawing/2014/main" id="{012CA717-F64F-9955-E407-CE7FF547C384}"/>
                </a:ext>
              </a:extLst>
            </p:cNvPr>
            <p:cNvGrpSpPr/>
            <p:nvPr/>
          </p:nvGrpSpPr>
          <p:grpSpPr>
            <a:xfrm>
              <a:off x="2976" y="2112"/>
              <a:ext cx="912" cy="528"/>
              <a:chOff x="2976" y="2304"/>
              <a:chExt cx="912" cy="528"/>
            </a:xfrm>
          </p:grpSpPr>
          <p:sp>
            <p:nvSpPr>
              <p:cNvPr id="27" name="Line 17">
                <a:extLst>
                  <a:ext uri="{FF2B5EF4-FFF2-40B4-BE49-F238E27FC236}">
                    <a16:creationId xmlns:a16="http://schemas.microsoft.com/office/drawing/2014/main" id="{1DD9835B-A74E-169C-85CC-5DF88C041CAE}"/>
                  </a:ext>
                </a:extLst>
              </p:cNvPr>
              <p:cNvSpPr/>
              <p:nvPr/>
            </p:nvSpPr>
            <p:spPr>
              <a:xfrm flipH="1">
                <a:off x="3360" y="2688"/>
                <a:ext cx="528" cy="0"/>
              </a:xfrm>
              <a:prstGeom prst="line">
                <a:avLst/>
              </a:prstGeom>
              <a:ln w="38100" cap="flat" cmpd="sng">
                <a:solidFill>
                  <a:srgbClr val="FF0000"/>
                </a:solidFill>
                <a:prstDash val="solid"/>
                <a:round/>
                <a:headEnd type="none" w="med" len="med"/>
                <a:tailEnd type="triangle" w="sm" len="lg"/>
              </a:ln>
            </p:spPr>
          </p:sp>
          <mc:AlternateContent xmlns:mc="http://schemas.openxmlformats.org/markup-compatibility/2006" xmlns:a14="http://schemas.microsoft.com/office/drawing/2010/main">
            <mc:Choice Requires="a14">
              <p:sp>
                <p:nvSpPr>
                  <p:cNvPr id="28" name="Object 18">
                    <a:extLst>
                      <a:ext uri="{FF2B5EF4-FFF2-40B4-BE49-F238E27FC236}">
                        <a16:creationId xmlns:a16="http://schemas.microsoft.com/office/drawing/2014/main" id="{7927DA37-8125-FD71-3E2C-BE7294BC4EE4}"/>
                      </a:ext>
                    </a:extLst>
                  </p:cNvPr>
                  <p:cNvSpPr txBox="1"/>
                  <p:nvPr/>
                </p:nvSpPr>
                <p:spPr>
                  <a:xfrm>
                    <a:off x="2976" y="2304"/>
                    <a:ext cx="440" cy="52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𝐹</m:t>
                                  </m:r>
                                </m:e>
                              </m:acc>
                            </m:e>
                            <m:sub>
                              <m:r>
                                <a:rPr lang="zh-CN" altLang="en-US" sz="2800" i="1">
                                  <a:solidFill>
                                    <a:srgbClr val="000000"/>
                                  </a:solidFill>
                                  <a:latin typeface="Cambria Math" panose="02040503050406030204" pitchFamily="18" charset="0"/>
                                </a:rPr>
                                <m:t>−</m:t>
                              </m:r>
                            </m:sub>
                          </m:sSub>
                        </m:oMath>
                      </m:oMathPara>
                    </a14:m>
                    <a:endParaRPr lang="zh-CN" altLang="en-US" sz="2800"/>
                  </a:p>
                </p:txBody>
              </p:sp>
            </mc:Choice>
            <mc:Fallback xmlns="">
              <p:sp>
                <p:nvSpPr>
                  <p:cNvPr id="28" name="Object 18">
                    <a:extLst>
                      <a:ext uri="{FF2B5EF4-FFF2-40B4-BE49-F238E27FC236}">
                        <a16:creationId xmlns:a16="http://schemas.microsoft.com/office/drawing/2014/main" id="{7927DA37-8125-FD71-3E2C-BE7294BC4EE4}"/>
                      </a:ext>
                    </a:extLst>
                  </p:cNvPr>
                  <p:cNvSpPr txBox="1">
                    <a:spLocks noRot="1" noChangeAspect="1" noMove="1" noResize="1" noEditPoints="1" noAdjustHandles="1" noChangeArrowheads="1" noChangeShapeType="1" noTextEdit="1"/>
                  </p:cNvSpPr>
                  <p:nvPr/>
                </p:nvSpPr>
                <p:spPr>
                  <a:xfrm>
                    <a:off x="2976" y="2304"/>
                    <a:ext cx="440" cy="528"/>
                  </a:xfrm>
                  <a:prstGeom prst="rect">
                    <a:avLst/>
                  </a:prstGeom>
                  <a:blipFill>
                    <a:blip r:embed="rId7"/>
                    <a:stretch>
                      <a:fillRect/>
                    </a:stretch>
                  </a:blipFill>
                  <a:ln w="38100">
                    <a:noFill/>
                    <a:miter/>
                  </a:ln>
                </p:spPr>
                <p:txBody>
                  <a:bodyPr/>
                  <a:lstStyle/>
                  <a:p>
                    <a:r>
                      <a:rPr lang="zh-CN" altLang="en-US">
                        <a:noFill/>
                      </a:rPr>
                      <a:t> </a:t>
                    </a:r>
                  </a:p>
                </p:txBody>
              </p:sp>
            </mc:Fallback>
          </mc:AlternateContent>
        </p:grpSp>
        <p:grpSp>
          <p:nvGrpSpPr>
            <p:cNvPr id="13" name="Group 19">
              <a:extLst>
                <a:ext uri="{FF2B5EF4-FFF2-40B4-BE49-F238E27FC236}">
                  <a16:creationId xmlns:a16="http://schemas.microsoft.com/office/drawing/2014/main" id="{9CA10240-F31D-C0E0-5FB8-1A08987B1014}"/>
                </a:ext>
              </a:extLst>
            </p:cNvPr>
            <p:cNvGrpSpPr/>
            <p:nvPr/>
          </p:nvGrpSpPr>
          <p:grpSpPr>
            <a:xfrm>
              <a:off x="3725" y="864"/>
              <a:ext cx="1027" cy="2021"/>
              <a:chOff x="3725" y="1056"/>
              <a:chExt cx="1027" cy="2021"/>
            </a:xfrm>
          </p:grpSpPr>
          <p:sp>
            <p:nvSpPr>
              <p:cNvPr id="23" name="Oval 20">
                <a:extLst>
                  <a:ext uri="{FF2B5EF4-FFF2-40B4-BE49-F238E27FC236}">
                    <a16:creationId xmlns:a16="http://schemas.microsoft.com/office/drawing/2014/main" id="{EF708A0F-F81C-284A-D03D-98CD34B6CFFA}"/>
                  </a:ext>
                </a:extLst>
              </p:cNvPr>
              <p:cNvSpPr/>
              <p:nvPr/>
            </p:nvSpPr>
            <p:spPr>
              <a:xfrm>
                <a:off x="3869" y="2640"/>
                <a:ext cx="96" cy="96"/>
              </a:xfrm>
              <a:prstGeom prst="ellipse">
                <a:avLst/>
              </a:prstGeom>
              <a:solidFill>
                <a:srgbClr val="0000FF"/>
              </a:solidFill>
              <a:ln w="12700" cap="flat" cmpd="sng">
                <a:solidFill>
                  <a:schemeClr val="tx1"/>
                </a:solidFill>
                <a:prstDash val="solid"/>
                <a:round/>
                <a:headEnd type="none" w="med" len="med"/>
                <a:tailEnd type="none" w="sm" len="lg"/>
              </a:ln>
            </p:spPr>
            <p:txBody>
              <a:bodyPr wrap="none" anchor="ctr" anchorCtr="0"/>
              <a:lstStyle/>
              <a:p>
                <a:pPr eaLnBrk="0" hangingPunct="0"/>
                <a:endParaRPr lang="zh-CN" altLang="en-US" sz="2800" dirty="0">
                  <a:latin typeface="Bookman Old Style" panose="02050604050505020204" pitchFamily="18" charset="0"/>
                  <a:ea typeface="宋体" panose="02010600030101010101" pitchFamily="2" charset="-122"/>
                </a:endParaRPr>
              </a:p>
            </p:txBody>
          </p:sp>
          <p:sp>
            <p:nvSpPr>
              <p:cNvPr id="24" name="Oval 21">
                <a:extLst>
                  <a:ext uri="{FF2B5EF4-FFF2-40B4-BE49-F238E27FC236}">
                    <a16:creationId xmlns:a16="http://schemas.microsoft.com/office/drawing/2014/main" id="{07078DDF-716D-8C47-9336-F60B2C53BE63}"/>
                  </a:ext>
                </a:extLst>
              </p:cNvPr>
              <p:cNvSpPr/>
              <p:nvPr/>
            </p:nvSpPr>
            <p:spPr>
              <a:xfrm>
                <a:off x="4560" y="1488"/>
                <a:ext cx="96" cy="96"/>
              </a:xfrm>
              <a:prstGeom prst="ellipse">
                <a:avLst/>
              </a:prstGeom>
              <a:solidFill>
                <a:srgbClr val="FAF400"/>
              </a:solidFill>
              <a:ln w="12700" cap="flat" cmpd="sng">
                <a:solidFill>
                  <a:schemeClr val="tx1"/>
                </a:solidFill>
                <a:prstDash val="solid"/>
                <a:round/>
                <a:headEnd type="none" w="med" len="med"/>
                <a:tailEnd type="none" w="sm" len="lg"/>
              </a:ln>
            </p:spPr>
            <p:txBody>
              <a:bodyPr wrap="none" anchor="ctr" anchorCtr="0"/>
              <a:lstStyle/>
              <a:p>
                <a:pPr eaLnBrk="0" hangingPunct="0"/>
                <a:endParaRPr lang="zh-CN" altLang="en-US" sz="2800" dirty="0">
                  <a:latin typeface="Bookman Old Style" panose="020506040505050202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25" name="Object 22">
                    <a:extLst>
                      <a:ext uri="{FF2B5EF4-FFF2-40B4-BE49-F238E27FC236}">
                        <a16:creationId xmlns:a16="http://schemas.microsoft.com/office/drawing/2014/main" id="{9C00F7FA-6289-6FD0-D9F4-19301D2C29FD}"/>
                      </a:ext>
                    </a:extLst>
                  </p:cNvPr>
                  <p:cNvSpPr txBox="1"/>
                  <p:nvPr/>
                </p:nvSpPr>
                <p:spPr>
                  <a:xfrm>
                    <a:off x="3725" y="2736"/>
                    <a:ext cx="499" cy="341"/>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𝑞</m:t>
                          </m:r>
                        </m:oMath>
                      </m:oMathPara>
                    </a14:m>
                    <a:endParaRPr lang="zh-CN" altLang="en-US" sz="2800"/>
                  </a:p>
                </p:txBody>
              </p:sp>
            </mc:Choice>
            <mc:Fallback xmlns="">
              <p:sp>
                <p:nvSpPr>
                  <p:cNvPr id="25" name="Object 22">
                    <a:extLst>
                      <a:ext uri="{FF2B5EF4-FFF2-40B4-BE49-F238E27FC236}">
                        <a16:creationId xmlns:a16="http://schemas.microsoft.com/office/drawing/2014/main" id="{9C00F7FA-6289-6FD0-D9F4-19301D2C29FD}"/>
                      </a:ext>
                    </a:extLst>
                  </p:cNvPr>
                  <p:cNvSpPr txBox="1">
                    <a:spLocks noRot="1" noChangeAspect="1" noMove="1" noResize="1" noEditPoints="1" noAdjustHandles="1" noChangeArrowheads="1" noChangeShapeType="1" noTextEdit="1"/>
                  </p:cNvSpPr>
                  <p:nvPr/>
                </p:nvSpPr>
                <p:spPr>
                  <a:xfrm>
                    <a:off x="3725" y="2736"/>
                    <a:ext cx="499" cy="341"/>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Object 23">
                    <a:extLst>
                      <a:ext uri="{FF2B5EF4-FFF2-40B4-BE49-F238E27FC236}">
                        <a16:creationId xmlns:a16="http://schemas.microsoft.com/office/drawing/2014/main" id="{DA2287F3-9B0F-9AD6-D790-5A65FEFEA19C}"/>
                      </a:ext>
                    </a:extLst>
                  </p:cNvPr>
                  <p:cNvSpPr txBox="1"/>
                  <p:nvPr/>
                </p:nvSpPr>
                <p:spPr>
                  <a:xfrm>
                    <a:off x="4272" y="1056"/>
                    <a:ext cx="480" cy="354"/>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𝑞</m:t>
                          </m:r>
                        </m:oMath>
                      </m:oMathPara>
                    </a14:m>
                    <a:endParaRPr lang="zh-CN" altLang="en-US" sz="2800"/>
                  </a:p>
                </p:txBody>
              </p:sp>
            </mc:Choice>
            <mc:Fallback xmlns="">
              <p:sp>
                <p:nvSpPr>
                  <p:cNvPr id="26" name="Object 23">
                    <a:extLst>
                      <a:ext uri="{FF2B5EF4-FFF2-40B4-BE49-F238E27FC236}">
                        <a16:creationId xmlns:a16="http://schemas.microsoft.com/office/drawing/2014/main" id="{DA2287F3-9B0F-9AD6-D790-5A65FEFEA19C}"/>
                      </a:ext>
                    </a:extLst>
                  </p:cNvPr>
                  <p:cNvSpPr txBox="1">
                    <a:spLocks noRot="1" noChangeAspect="1" noMove="1" noResize="1" noEditPoints="1" noAdjustHandles="1" noChangeArrowheads="1" noChangeShapeType="1" noTextEdit="1"/>
                  </p:cNvSpPr>
                  <p:nvPr/>
                </p:nvSpPr>
                <p:spPr>
                  <a:xfrm>
                    <a:off x="4272" y="1056"/>
                    <a:ext cx="480" cy="354"/>
                  </a:xfrm>
                  <a:prstGeom prst="rect">
                    <a:avLst/>
                  </a:prstGeom>
                  <a:blipFill>
                    <a:blip r:embed="rId9"/>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4" name="Object 24">
                  <a:extLst>
                    <a:ext uri="{FF2B5EF4-FFF2-40B4-BE49-F238E27FC236}">
                      <a16:creationId xmlns:a16="http://schemas.microsoft.com/office/drawing/2014/main" id="{B699B535-7302-06EC-B242-1D63F1F2EF5F}"/>
                    </a:ext>
                  </a:extLst>
                </p:cNvPr>
                <p:cNvSpPr txBox="1"/>
                <p:nvPr/>
              </p:nvSpPr>
              <p:spPr>
                <a:xfrm>
                  <a:off x="3868" y="1656"/>
                  <a:ext cx="308" cy="504"/>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𝑟</m:t>
                            </m:r>
                          </m:e>
                          <m:sub>
                            <m:r>
                              <a:rPr lang="zh-CN" altLang="en-US" sz="2800" i="1">
                                <a:solidFill>
                                  <a:srgbClr val="000000"/>
                                </a:solidFill>
                                <a:latin typeface="Cambria Math" panose="02040503050406030204" pitchFamily="18" charset="0"/>
                              </a:rPr>
                              <m:t>0</m:t>
                            </m:r>
                          </m:sub>
                        </m:sSub>
                      </m:oMath>
                    </m:oMathPara>
                  </a14:m>
                  <a:endParaRPr lang="zh-CN" altLang="en-US" sz="2800"/>
                </a:p>
              </p:txBody>
            </p:sp>
          </mc:Choice>
          <mc:Fallback xmlns="">
            <p:sp>
              <p:nvSpPr>
                <p:cNvPr id="14" name="Object 24">
                  <a:extLst>
                    <a:ext uri="{FF2B5EF4-FFF2-40B4-BE49-F238E27FC236}">
                      <a16:creationId xmlns:a16="http://schemas.microsoft.com/office/drawing/2014/main" id="{B699B535-7302-06EC-B242-1D63F1F2EF5F}"/>
                    </a:ext>
                  </a:extLst>
                </p:cNvPr>
                <p:cNvSpPr txBox="1">
                  <a:spLocks noRot="1" noChangeAspect="1" noMove="1" noResize="1" noEditPoints="1" noAdjustHandles="1" noChangeArrowheads="1" noChangeShapeType="1" noTextEdit="1"/>
                </p:cNvSpPr>
                <p:nvPr/>
              </p:nvSpPr>
              <p:spPr>
                <a:xfrm>
                  <a:off x="3868" y="1656"/>
                  <a:ext cx="308" cy="504"/>
                </a:xfrm>
                <a:prstGeom prst="rect">
                  <a:avLst/>
                </a:prstGeom>
                <a:blipFill>
                  <a:blip r:embed="rId10"/>
                  <a:stretch>
                    <a:fillRect/>
                  </a:stretch>
                </a:blipFill>
                <a:ln w="38100">
                  <a:noFill/>
                  <a:miter/>
                </a:ln>
              </p:spPr>
              <p:txBody>
                <a:bodyPr/>
                <a:lstStyle/>
                <a:p>
                  <a:r>
                    <a:rPr lang="zh-CN" altLang="en-US">
                      <a:noFill/>
                    </a:rPr>
                    <a:t> </a:t>
                  </a:r>
                </a:p>
              </p:txBody>
            </p:sp>
          </mc:Fallback>
        </mc:AlternateContent>
        <p:grpSp>
          <p:nvGrpSpPr>
            <p:cNvPr id="15" name="Group 25">
              <a:extLst>
                <a:ext uri="{FF2B5EF4-FFF2-40B4-BE49-F238E27FC236}">
                  <a16:creationId xmlns:a16="http://schemas.microsoft.com/office/drawing/2014/main" id="{57A19058-9483-20C3-9CA4-A029D85C74FE}"/>
                </a:ext>
              </a:extLst>
            </p:cNvPr>
            <p:cNvGrpSpPr/>
            <p:nvPr/>
          </p:nvGrpSpPr>
          <p:grpSpPr>
            <a:xfrm>
              <a:off x="4224" y="1536"/>
              <a:ext cx="960" cy="432"/>
              <a:chOff x="4224" y="1728"/>
              <a:chExt cx="960" cy="432"/>
            </a:xfrm>
          </p:grpSpPr>
          <p:sp>
            <p:nvSpPr>
              <p:cNvPr id="17" name="Line 26">
                <a:extLst>
                  <a:ext uri="{FF2B5EF4-FFF2-40B4-BE49-F238E27FC236}">
                    <a16:creationId xmlns:a16="http://schemas.microsoft.com/office/drawing/2014/main" id="{BFC40123-5F36-66B5-3892-B6764355A160}"/>
                  </a:ext>
                </a:extLst>
              </p:cNvPr>
              <p:cNvSpPr/>
              <p:nvPr/>
            </p:nvSpPr>
            <p:spPr>
              <a:xfrm>
                <a:off x="4224" y="2160"/>
                <a:ext cx="960" cy="0"/>
              </a:xfrm>
              <a:prstGeom prst="line">
                <a:avLst/>
              </a:prstGeom>
              <a:ln w="19050" cap="flat" cmpd="sng">
                <a:solidFill>
                  <a:schemeClr val="tx1"/>
                </a:solidFill>
                <a:prstDash val="dash"/>
                <a:round/>
                <a:headEnd type="none" w="med" len="med"/>
                <a:tailEnd type="none" w="sm" len="lg"/>
              </a:ln>
            </p:spPr>
          </p:sp>
          <p:sp>
            <p:nvSpPr>
              <p:cNvPr id="20" name="Freeform 27">
                <a:extLst>
                  <a:ext uri="{FF2B5EF4-FFF2-40B4-BE49-F238E27FC236}">
                    <a16:creationId xmlns:a16="http://schemas.microsoft.com/office/drawing/2014/main" id="{038B91FB-53F1-4DBF-8DFC-3B0B163270E3}"/>
                  </a:ext>
                </a:extLst>
              </p:cNvPr>
              <p:cNvSpPr/>
              <p:nvPr/>
            </p:nvSpPr>
            <p:spPr>
              <a:xfrm>
                <a:off x="4416" y="1824"/>
                <a:ext cx="111" cy="336"/>
              </a:xfrm>
              <a:custGeom>
                <a:avLst/>
                <a:gdLst/>
                <a:ahLst/>
                <a:cxnLst>
                  <a:cxn ang="0">
                    <a:pos x="96" y="336"/>
                  </a:cxn>
                  <a:cxn ang="0">
                    <a:pos x="95" y="181"/>
                  </a:cxn>
                  <a:cxn ang="0">
                    <a:pos x="0" y="0"/>
                  </a:cxn>
                </a:cxnLst>
                <a:rect l="0" t="0" r="0" b="0"/>
                <a:pathLst>
                  <a:path w="111" h="336">
                    <a:moveTo>
                      <a:pt x="96" y="336"/>
                    </a:moveTo>
                    <a:cubicBezTo>
                      <a:pt x="96" y="310"/>
                      <a:pt x="111" y="237"/>
                      <a:pt x="95" y="181"/>
                    </a:cubicBezTo>
                    <a:cubicBezTo>
                      <a:pt x="79" y="125"/>
                      <a:pt x="20" y="38"/>
                      <a:pt x="0" y="0"/>
                    </a:cubicBezTo>
                  </a:path>
                </a:pathLst>
              </a:custGeom>
              <a:noFill/>
              <a:ln w="28575" cap="flat" cmpd="sng">
                <a:solidFill>
                  <a:srgbClr val="3333FF"/>
                </a:solidFill>
                <a:prstDash val="solid"/>
                <a:round/>
                <a:headEnd type="none" w="med" len="med"/>
                <a:tailEnd type="triangle" w="sm" len="lg"/>
              </a:ln>
            </p:spPr>
            <p:txBody>
              <a:bodyPr/>
              <a:lstStyle/>
              <a:p>
                <a:endParaRPr lang="zh-CN" altLang="en-US" sz="2800"/>
              </a:p>
            </p:txBody>
          </p:sp>
          <mc:AlternateContent xmlns:mc="http://schemas.openxmlformats.org/markup-compatibility/2006" xmlns:a14="http://schemas.microsoft.com/office/drawing/2010/main">
            <mc:Choice Requires="a14">
              <p:sp>
                <p:nvSpPr>
                  <p:cNvPr id="22" name="Object 28">
                    <a:extLst>
                      <a:ext uri="{FF2B5EF4-FFF2-40B4-BE49-F238E27FC236}">
                        <a16:creationId xmlns:a16="http://schemas.microsoft.com/office/drawing/2014/main" id="{6D567F91-343E-1B77-6FBC-ADBD334F8EB7}"/>
                      </a:ext>
                    </a:extLst>
                  </p:cNvPr>
                  <p:cNvSpPr txBox="1"/>
                  <p:nvPr/>
                </p:nvSpPr>
                <p:spPr>
                  <a:xfrm>
                    <a:off x="4512" y="1728"/>
                    <a:ext cx="280" cy="392"/>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𝜃</m:t>
                          </m:r>
                        </m:oMath>
                      </m:oMathPara>
                    </a14:m>
                    <a:endParaRPr lang="zh-CN" altLang="en-US" sz="2800"/>
                  </a:p>
                </p:txBody>
              </p:sp>
            </mc:Choice>
            <mc:Fallback xmlns="">
              <p:sp>
                <p:nvSpPr>
                  <p:cNvPr id="22" name="Object 28">
                    <a:extLst>
                      <a:ext uri="{FF2B5EF4-FFF2-40B4-BE49-F238E27FC236}">
                        <a16:creationId xmlns:a16="http://schemas.microsoft.com/office/drawing/2014/main" id="{6D567F91-343E-1B77-6FBC-ADBD334F8EB7}"/>
                      </a:ext>
                    </a:extLst>
                  </p:cNvPr>
                  <p:cNvSpPr txBox="1">
                    <a:spLocks noRot="1" noChangeAspect="1" noMove="1" noResize="1" noEditPoints="1" noAdjustHandles="1" noChangeArrowheads="1" noChangeShapeType="1" noTextEdit="1"/>
                  </p:cNvSpPr>
                  <p:nvPr/>
                </p:nvSpPr>
                <p:spPr>
                  <a:xfrm>
                    <a:off x="4512" y="1728"/>
                    <a:ext cx="280" cy="392"/>
                  </a:xfrm>
                  <a:prstGeom prst="rect">
                    <a:avLst/>
                  </a:prstGeom>
                  <a:blipFill>
                    <a:blip r:embed="rId11"/>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6" name="Object 29">
                  <a:extLst>
                    <a:ext uri="{FF2B5EF4-FFF2-40B4-BE49-F238E27FC236}">
                      <a16:creationId xmlns:a16="http://schemas.microsoft.com/office/drawing/2014/main" id="{EC1DB43B-33BA-628C-EEB6-879661200468}"/>
                    </a:ext>
                  </a:extLst>
                </p:cNvPr>
                <p:cNvSpPr txBox="1"/>
                <p:nvPr/>
              </p:nvSpPr>
              <p:spPr>
                <a:xfrm>
                  <a:off x="5206" y="2016"/>
                  <a:ext cx="314" cy="34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𝐸</m:t>
                        </m:r>
                      </m:oMath>
                    </m:oMathPara>
                  </a14:m>
                  <a:endParaRPr lang="zh-CN" altLang="en-US" sz="2800"/>
                </a:p>
              </p:txBody>
            </p:sp>
          </mc:Choice>
          <mc:Fallback xmlns="">
            <p:sp>
              <p:nvSpPr>
                <p:cNvPr id="16" name="Object 29">
                  <a:extLst>
                    <a:ext uri="{FF2B5EF4-FFF2-40B4-BE49-F238E27FC236}">
                      <a16:creationId xmlns:a16="http://schemas.microsoft.com/office/drawing/2014/main" id="{EC1DB43B-33BA-628C-EEB6-879661200468}"/>
                    </a:ext>
                  </a:extLst>
                </p:cNvPr>
                <p:cNvSpPr txBox="1">
                  <a:spLocks noRot="1" noChangeAspect="1" noMove="1" noResize="1" noEditPoints="1" noAdjustHandles="1" noChangeArrowheads="1" noChangeShapeType="1" noTextEdit="1"/>
                </p:cNvSpPr>
                <p:nvPr/>
              </p:nvSpPr>
              <p:spPr>
                <a:xfrm>
                  <a:off x="5206" y="2016"/>
                  <a:ext cx="314" cy="340"/>
                </a:xfrm>
                <a:prstGeom prst="rect">
                  <a:avLst/>
                </a:prstGeom>
                <a:blipFill>
                  <a:blip r:embed="rId12"/>
                  <a:stretch>
                    <a:fillRect/>
                  </a:stretch>
                </a:blipFill>
                <a:ln w="38100">
                  <a:noFill/>
                  <a:miter/>
                </a:ln>
              </p:spPr>
              <p:txBody>
                <a:bodyPr/>
                <a:lstStyle/>
                <a:p>
                  <a:r>
                    <a:rPr lang="zh-CN" altLang="en-US">
                      <a:noFill/>
                    </a:rPr>
                    <a:t> </a:t>
                  </a:r>
                </a:p>
              </p:txBody>
            </p:sp>
          </mc:Fallback>
        </mc:AlternateContent>
      </p:grpSp>
      <p:grpSp>
        <p:nvGrpSpPr>
          <p:cNvPr id="49" name="Group 34">
            <a:extLst>
              <a:ext uri="{FF2B5EF4-FFF2-40B4-BE49-F238E27FC236}">
                <a16:creationId xmlns:a16="http://schemas.microsoft.com/office/drawing/2014/main" id="{53AB9F35-C2B5-8749-AAC9-B6FBB798E07C}"/>
              </a:ext>
            </a:extLst>
          </p:cNvPr>
          <p:cNvGrpSpPr/>
          <p:nvPr/>
        </p:nvGrpSpPr>
        <p:grpSpPr>
          <a:xfrm>
            <a:off x="1901942" y="4955647"/>
            <a:ext cx="2873829" cy="1811337"/>
            <a:chOff x="480" y="2939"/>
            <a:chExt cx="1248" cy="1141"/>
          </a:xfrm>
        </p:grpSpPr>
        <p:sp>
          <p:nvSpPr>
            <p:cNvPr id="50" name="AutoShape 35">
              <a:extLst>
                <a:ext uri="{FF2B5EF4-FFF2-40B4-BE49-F238E27FC236}">
                  <a16:creationId xmlns:a16="http://schemas.microsoft.com/office/drawing/2014/main" id="{F991DC52-66AC-12D0-2DC9-74F9D2F17FC7}"/>
                </a:ext>
              </a:extLst>
            </p:cNvPr>
            <p:cNvSpPr/>
            <p:nvPr/>
          </p:nvSpPr>
          <p:spPr>
            <a:xfrm>
              <a:off x="480" y="3120"/>
              <a:ext cx="144" cy="816"/>
            </a:xfrm>
            <a:prstGeom prst="leftBrace">
              <a:avLst>
                <a:gd name="adj1" fmla="val 47169"/>
                <a:gd name="adj2" fmla="val 50000"/>
              </a:avLst>
            </a:prstGeom>
            <a:noFill/>
            <a:ln w="28575" cap="flat" cmpd="sng">
              <a:solidFill>
                <a:srgbClr val="FF0000"/>
              </a:solidFill>
              <a:prstDash val="solid"/>
              <a:round/>
              <a:headEnd type="none" w="med" len="med"/>
              <a:tailEnd type="none" w="sm" len="lg"/>
            </a:ln>
          </p:spPr>
          <p:txBody>
            <a:bodyPr wrap="none" anchor="ctr" anchorCtr="0"/>
            <a:lstStyle/>
            <a:p>
              <a:pPr eaLnBrk="0" hangingPunct="0"/>
              <a:endParaRPr lang="zh-CN" altLang="en-US" sz="2800" dirty="0"/>
            </a:p>
          </p:txBody>
        </p:sp>
        <mc:AlternateContent xmlns:mc="http://schemas.openxmlformats.org/markup-compatibility/2006" xmlns:a14="http://schemas.microsoft.com/office/drawing/2010/main">
          <mc:Choice Requires="a14">
            <p:sp>
              <p:nvSpPr>
                <p:cNvPr id="51" name="Object 36">
                  <a:extLst>
                    <a:ext uri="{FF2B5EF4-FFF2-40B4-BE49-F238E27FC236}">
                      <a16:creationId xmlns:a16="http://schemas.microsoft.com/office/drawing/2014/main" id="{4D4EF624-DB66-54C8-A54A-A20A5246284E}"/>
                    </a:ext>
                  </a:extLst>
                </p:cNvPr>
                <p:cNvSpPr txBox="1"/>
                <p:nvPr/>
              </p:nvSpPr>
              <p:spPr>
                <a:xfrm>
                  <a:off x="768" y="2939"/>
                  <a:ext cx="649" cy="325"/>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𝜃</m:t>
                        </m:r>
                        <m:r>
                          <a:rPr lang="zh-CN" altLang="en-US" sz="2800" i="1">
                            <a:solidFill>
                              <a:srgbClr val="000000"/>
                            </a:solidFill>
                            <a:latin typeface="Cambria Math" panose="02040503050406030204" pitchFamily="18" charset="0"/>
                          </a:rPr>
                          <m:t>=</m:t>
                        </m:r>
                        <m:r>
                          <a:rPr lang="zh-CN" altLang="en-US" sz="2800" i="0">
                            <a:solidFill>
                              <a:srgbClr val="000000"/>
                            </a:solidFill>
                            <a:latin typeface="Cambria Math" panose="02040503050406030204" pitchFamily="18" charset="0"/>
                          </a:rPr>
                          <m:t>0</m:t>
                        </m:r>
                      </m:oMath>
                    </m:oMathPara>
                  </a14:m>
                  <a:endParaRPr lang="zh-CN" altLang="en-US" sz="2800" dirty="0"/>
                </a:p>
              </p:txBody>
            </p:sp>
          </mc:Choice>
          <mc:Fallback xmlns="">
            <p:sp>
              <p:nvSpPr>
                <p:cNvPr id="51" name="Object 36">
                  <a:extLst>
                    <a:ext uri="{FF2B5EF4-FFF2-40B4-BE49-F238E27FC236}">
                      <a16:creationId xmlns:a16="http://schemas.microsoft.com/office/drawing/2014/main" id="{4D4EF624-DB66-54C8-A54A-A20A5246284E}"/>
                    </a:ext>
                  </a:extLst>
                </p:cNvPr>
                <p:cNvSpPr txBox="1">
                  <a:spLocks noRot="1" noChangeAspect="1" noMove="1" noResize="1" noEditPoints="1" noAdjustHandles="1" noChangeArrowheads="1" noChangeShapeType="1" noTextEdit="1"/>
                </p:cNvSpPr>
                <p:nvPr/>
              </p:nvSpPr>
              <p:spPr>
                <a:xfrm>
                  <a:off x="768" y="2939"/>
                  <a:ext cx="649" cy="325"/>
                </a:xfrm>
                <a:prstGeom prst="rect">
                  <a:avLst/>
                </a:prstGeom>
                <a:blipFill>
                  <a:blip r:embed="rId1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Object 37">
                  <a:extLst>
                    <a:ext uri="{FF2B5EF4-FFF2-40B4-BE49-F238E27FC236}">
                      <a16:creationId xmlns:a16="http://schemas.microsoft.com/office/drawing/2014/main" id="{ECF38A2A-81A9-C9EC-0673-15FF58C71D02}"/>
                    </a:ext>
                  </a:extLst>
                </p:cNvPr>
                <p:cNvSpPr txBox="1"/>
                <p:nvPr/>
              </p:nvSpPr>
              <p:spPr>
                <a:xfrm>
                  <a:off x="768" y="3755"/>
                  <a:ext cx="672" cy="325"/>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𝜃</m:t>
                        </m:r>
                        <m:r>
                          <a:rPr lang="zh-CN" altLang="en-US" sz="2800" i="1">
                            <a:solidFill>
                              <a:srgbClr val="000000"/>
                            </a:solidFill>
                            <a:latin typeface="Cambria Math" panose="02040503050406030204" pitchFamily="18" charset="0"/>
                          </a:rPr>
                          <m:t>=</m:t>
                        </m:r>
                        <m:r>
                          <m:rPr>
                            <m:sty m:val="p"/>
                          </m:rPr>
                          <a:rPr lang="zh-CN" altLang="en-US" sz="2800" i="0">
                            <a:solidFill>
                              <a:srgbClr val="000000"/>
                            </a:solidFill>
                            <a:latin typeface="Cambria Math" panose="02040503050406030204" pitchFamily="18" charset="0"/>
                          </a:rPr>
                          <m:t>π</m:t>
                        </m:r>
                      </m:oMath>
                    </m:oMathPara>
                  </a14:m>
                  <a:endParaRPr lang="zh-CN" altLang="en-US" sz="2800"/>
                </a:p>
              </p:txBody>
            </p:sp>
          </mc:Choice>
          <mc:Fallback xmlns="">
            <p:sp>
              <p:nvSpPr>
                <p:cNvPr id="52" name="Object 37">
                  <a:extLst>
                    <a:ext uri="{FF2B5EF4-FFF2-40B4-BE49-F238E27FC236}">
                      <a16:creationId xmlns:a16="http://schemas.microsoft.com/office/drawing/2014/main" id="{ECF38A2A-81A9-C9EC-0673-15FF58C71D02}"/>
                    </a:ext>
                  </a:extLst>
                </p:cNvPr>
                <p:cNvSpPr txBox="1">
                  <a:spLocks noRot="1" noChangeAspect="1" noMove="1" noResize="1" noEditPoints="1" noAdjustHandles="1" noChangeArrowheads="1" noChangeShapeType="1" noTextEdit="1"/>
                </p:cNvSpPr>
                <p:nvPr/>
              </p:nvSpPr>
              <p:spPr>
                <a:xfrm>
                  <a:off x="768" y="3755"/>
                  <a:ext cx="672" cy="325"/>
                </a:xfrm>
                <a:prstGeom prst="rect">
                  <a:avLst/>
                </a:prstGeom>
                <a:blipFill>
                  <a:blip r:embed="rId1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Object 38">
                  <a:extLst>
                    <a:ext uri="{FF2B5EF4-FFF2-40B4-BE49-F238E27FC236}">
                      <a16:creationId xmlns:a16="http://schemas.microsoft.com/office/drawing/2014/main" id="{907E8F5C-4FF4-CAF1-BC70-3C601214B5BE}"/>
                    </a:ext>
                  </a:extLst>
                </p:cNvPr>
                <p:cNvSpPr txBox="1"/>
                <p:nvPr/>
              </p:nvSpPr>
              <p:spPr>
                <a:xfrm>
                  <a:off x="768" y="3343"/>
                  <a:ext cx="960" cy="3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𝜃</m:t>
                        </m:r>
                        <m:r>
                          <a:rPr lang="zh-CN" altLang="en-US" sz="2800" i="1">
                            <a:solidFill>
                              <a:srgbClr val="000000"/>
                            </a:solidFill>
                            <a:latin typeface="Cambria Math" panose="02040503050406030204" pitchFamily="18" charset="0"/>
                          </a:rPr>
                          <m:t>=</m:t>
                        </m:r>
                        <m:r>
                          <m:rPr>
                            <m:sty m:val="p"/>
                          </m:rPr>
                          <a:rPr lang="zh-CN" altLang="en-US" sz="2800" i="1">
                            <a:solidFill>
                              <a:srgbClr val="000000"/>
                            </a:solidFill>
                            <a:latin typeface="Cambria Math" panose="02040503050406030204" pitchFamily="18" charset="0"/>
                          </a:rPr>
                          <m:t>π</m:t>
                        </m:r>
                        <m:r>
                          <m:rPr>
                            <m:nor/>
                          </m:rPr>
                          <a:rPr lang="zh-CN" altLang="en-US" sz="2800" i="0">
                            <a:solidFill>
                              <a:srgbClr val="000000"/>
                            </a:solidFill>
                          </a:rPr>
                          <m:t>/</m:t>
                        </m:r>
                        <m:r>
                          <m:rPr>
                            <m:nor/>
                          </m:rPr>
                          <a:rPr lang="zh-CN" altLang="en-US" sz="2800" i="0">
                            <a:solidFill>
                              <a:srgbClr val="000000"/>
                            </a:solidFill>
                          </a:rPr>
                          <m:t>2</m:t>
                        </m:r>
                      </m:oMath>
                    </m:oMathPara>
                  </a14:m>
                  <a:endParaRPr lang="zh-CN" altLang="en-US" sz="2800"/>
                </a:p>
              </p:txBody>
            </p:sp>
          </mc:Choice>
          <mc:Fallback xmlns="">
            <p:sp>
              <p:nvSpPr>
                <p:cNvPr id="53" name="Object 38">
                  <a:extLst>
                    <a:ext uri="{FF2B5EF4-FFF2-40B4-BE49-F238E27FC236}">
                      <a16:creationId xmlns:a16="http://schemas.microsoft.com/office/drawing/2014/main" id="{907E8F5C-4FF4-CAF1-BC70-3C601214B5BE}"/>
                    </a:ext>
                  </a:extLst>
                </p:cNvPr>
                <p:cNvSpPr txBox="1">
                  <a:spLocks noRot="1" noChangeAspect="1" noMove="1" noResize="1" noEditPoints="1" noAdjustHandles="1" noChangeArrowheads="1" noChangeShapeType="1" noTextEdit="1"/>
                </p:cNvSpPr>
                <p:nvPr/>
              </p:nvSpPr>
              <p:spPr>
                <a:xfrm>
                  <a:off x="768" y="3343"/>
                  <a:ext cx="960" cy="336"/>
                </a:xfrm>
                <a:prstGeom prst="rect">
                  <a:avLst/>
                </a:prstGeom>
                <a:blipFill>
                  <a:blip r:embed="rId15"/>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4" name="Object 39">
                <a:extLst>
                  <a:ext uri="{FF2B5EF4-FFF2-40B4-BE49-F238E27FC236}">
                    <a16:creationId xmlns:a16="http://schemas.microsoft.com/office/drawing/2014/main" id="{B17E1049-3C56-D70B-5E40-9C2F8FE2DBCE}"/>
                  </a:ext>
                </a:extLst>
              </p:cNvPr>
              <p:cNvSpPr txBox="1"/>
              <p:nvPr/>
            </p:nvSpPr>
            <p:spPr>
              <a:xfrm>
                <a:off x="4492743" y="5543021"/>
                <a:ext cx="1879042" cy="7239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𝐸</m:t>
                          </m:r>
                        </m:e>
                        <m:sub>
                          <m:r>
                            <m:rPr>
                              <m:sty m:val="p"/>
                            </m:rPr>
                            <a:rPr lang="zh-CN" altLang="en-US" sz="2800" i="0">
                              <a:solidFill>
                                <a:srgbClr val="000000"/>
                              </a:solidFill>
                              <a:latin typeface="Cambria Math" panose="02040503050406030204" pitchFamily="18" charset="0"/>
                            </a:rPr>
                            <m:t>p</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0</m:t>
                      </m:r>
                    </m:oMath>
                  </m:oMathPara>
                </a14:m>
                <a:endParaRPr lang="zh-CN" altLang="en-US" sz="2800"/>
              </a:p>
            </p:txBody>
          </p:sp>
        </mc:Choice>
        <mc:Fallback xmlns="">
          <p:sp>
            <p:nvSpPr>
              <p:cNvPr id="54" name="Object 39">
                <a:extLst>
                  <a:ext uri="{FF2B5EF4-FFF2-40B4-BE49-F238E27FC236}">
                    <a16:creationId xmlns:a16="http://schemas.microsoft.com/office/drawing/2014/main" id="{B17E1049-3C56-D70B-5E40-9C2F8FE2DBCE}"/>
                  </a:ext>
                </a:extLst>
              </p:cNvPr>
              <p:cNvSpPr txBox="1">
                <a:spLocks noRot="1" noChangeAspect="1" noMove="1" noResize="1" noEditPoints="1" noAdjustHandles="1" noChangeArrowheads="1" noChangeShapeType="1" noTextEdit="1"/>
              </p:cNvSpPr>
              <p:nvPr/>
            </p:nvSpPr>
            <p:spPr>
              <a:xfrm>
                <a:off x="4492743" y="5543021"/>
                <a:ext cx="1879042" cy="723900"/>
              </a:xfrm>
              <a:prstGeom prst="rect">
                <a:avLst/>
              </a:prstGeom>
              <a:blipFill>
                <a:blip r:embed="rId16"/>
                <a:stretch>
                  <a:fillRect/>
                </a:stretch>
              </a:blipFill>
              <a:ln w="38100">
                <a:noFill/>
                <a:miter/>
              </a:ln>
            </p:spPr>
            <p:txBody>
              <a:bodyPr/>
              <a:lstStyle/>
              <a:p>
                <a:r>
                  <a:rPr lang="zh-CN" altLang="en-US">
                    <a:noFill/>
                  </a:rPr>
                  <a:t> </a:t>
                </a:r>
              </a:p>
            </p:txBody>
          </p:sp>
        </mc:Fallback>
      </mc:AlternateContent>
      <p:grpSp>
        <p:nvGrpSpPr>
          <p:cNvPr id="55" name="Group 40">
            <a:extLst>
              <a:ext uri="{FF2B5EF4-FFF2-40B4-BE49-F238E27FC236}">
                <a16:creationId xmlns:a16="http://schemas.microsoft.com/office/drawing/2014/main" id="{9312AB5E-6404-062E-79F4-C7FB12D81824}"/>
              </a:ext>
            </a:extLst>
          </p:cNvPr>
          <p:cNvGrpSpPr/>
          <p:nvPr/>
        </p:nvGrpSpPr>
        <p:grpSpPr>
          <a:xfrm>
            <a:off x="4492742" y="4861983"/>
            <a:ext cx="7184573" cy="685800"/>
            <a:chOff x="2112" y="2880"/>
            <a:chExt cx="3120" cy="432"/>
          </a:xfrm>
        </p:grpSpPr>
        <mc:AlternateContent xmlns:mc="http://schemas.openxmlformats.org/markup-compatibility/2006" xmlns:a14="http://schemas.microsoft.com/office/drawing/2010/main">
          <mc:Choice Requires="a14">
            <p:sp>
              <p:nvSpPr>
                <p:cNvPr id="56" name="Object 41">
                  <a:extLst>
                    <a:ext uri="{FF2B5EF4-FFF2-40B4-BE49-F238E27FC236}">
                      <a16:creationId xmlns:a16="http://schemas.microsoft.com/office/drawing/2014/main" id="{DC7A310B-82BE-8FD3-1EC1-A34A2C646BAB}"/>
                    </a:ext>
                  </a:extLst>
                </p:cNvPr>
                <p:cNvSpPr txBox="1"/>
                <p:nvPr/>
              </p:nvSpPr>
              <p:spPr>
                <a:xfrm>
                  <a:off x="2112" y="2880"/>
                  <a:ext cx="1412" cy="432"/>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𝐸</m:t>
                            </m:r>
                          </m:e>
                          <m:sub>
                            <m:r>
                              <m:rPr>
                                <m:sty m:val="p"/>
                              </m:rPr>
                              <a:rPr lang="zh-CN" altLang="en-US" sz="2800" i="0">
                                <a:solidFill>
                                  <a:srgbClr val="000000"/>
                                </a:solidFill>
                                <a:latin typeface="Cambria Math" panose="02040503050406030204" pitchFamily="18" charset="0"/>
                              </a:rPr>
                              <m:t>p</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𝑝</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𝐸</m:t>
                        </m:r>
                      </m:oMath>
                    </m:oMathPara>
                  </a14:m>
                  <a:endParaRPr lang="zh-CN" altLang="en-US" sz="2800" dirty="0"/>
                </a:p>
              </p:txBody>
            </p:sp>
          </mc:Choice>
          <mc:Fallback xmlns="">
            <p:sp>
              <p:nvSpPr>
                <p:cNvPr id="56" name="Object 41">
                  <a:extLst>
                    <a:ext uri="{FF2B5EF4-FFF2-40B4-BE49-F238E27FC236}">
                      <a16:creationId xmlns:a16="http://schemas.microsoft.com/office/drawing/2014/main" id="{DC7A310B-82BE-8FD3-1EC1-A34A2C646BAB}"/>
                    </a:ext>
                  </a:extLst>
                </p:cNvPr>
                <p:cNvSpPr txBox="1">
                  <a:spLocks noRot="1" noChangeAspect="1" noMove="1" noResize="1" noEditPoints="1" noAdjustHandles="1" noChangeArrowheads="1" noChangeShapeType="1" noTextEdit="1"/>
                </p:cNvSpPr>
                <p:nvPr/>
              </p:nvSpPr>
              <p:spPr>
                <a:xfrm>
                  <a:off x="2112" y="2880"/>
                  <a:ext cx="1412" cy="432"/>
                </a:xfrm>
                <a:prstGeom prst="rect">
                  <a:avLst/>
                </a:prstGeom>
                <a:blipFill>
                  <a:blip r:embed="rId17"/>
                  <a:stretch>
                    <a:fillRect/>
                  </a:stretch>
                </a:blipFill>
                <a:ln w="38100">
                  <a:noFill/>
                  <a:miter/>
                </a:ln>
              </p:spPr>
              <p:txBody>
                <a:bodyPr/>
                <a:lstStyle/>
                <a:p>
                  <a:r>
                    <a:rPr lang="zh-CN" altLang="en-US">
                      <a:noFill/>
                    </a:rPr>
                    <a:t> </a:t>
                  </a:r>
                </a:p>
              </p:txBody>
            </p:sp>
          </mc:Fallback>
        </mc:AlternateContent>
        <p:sp>
          <p:nvSpPr>
            <p:cNvPr id="57" name="Text Box 42">
              <a:extLst>
                <a:ext uri="{FF2B5EF4-FFF2-40B4-BE49-F238E27FC236}">
                  <a16:creationId xmlns:a16="http://schemas.microsoft.com/office/drawing/2014/main" id="{FD5803ED-CE4C-07E7-7EAB-BA7DF0EA7141}"/>
                </a:ext>
              </a:extLst>
            </p:cNvPr>
            <p:cNvSpPr txBox="1"/>
            <p:nvPr/>
          </p:nvSpPr>
          <p:spPr>
            <a:xfrm>
              <a:off x="3661" y="2922"/>
              <a:ext cx="1571" cy="327"/>
            </a:xfrm>
            <a:prstGeom prst="rect">
              <a:avLst/>
            </a:prstGeom>
            <a:noFill/>
            <a:ln w="9525">
              <a:noFill/>
            </a:ln>
          </p:spPr>
          <p:txBody>
            <a:bodyPr anchor="t" anchorCtr="0">
              <a:spAutoFit/>
            </a:bodyPr>
            <a:lstStyle/>
            <a:p>
              <a:pPr>
                <a:spcBef>
                  <a:spcPct val="50000"/>
                </a:spcBef>
              </a:pPr>
              <a:r>
                <a:rPr lang="zh-CN" altLang="en-US" sz="2800" b="1" dirty="0">
                  <a:solidFill>
                    <a:srgbClr val="1C1C1C"/>
                  </a:solidFill>
                </a:rPr>
                <a:t>能量最低</a:t>
              </a:r>
            </a:p>
          </p:txBody>
        </p:sp>
      </p:grpSp>
      <p:grpSp>
        <p:nvGrpSpPr>
          <p:cNvPr id="58" name="Group 43">
            <a:extLst>
              <a:ext uri="{FF2B5EF4-FFF2-40B4-BE49-F238E27FC236}">
                <a16:creationId xmlns:a16="http://schemas.microsoft.com/office/drawing/2014/main" id="{80B73D02-0B1A-2505-3143-C8E0F73B5763}"/>
              </a:ext>
            </a:extLst>
          </p:cNvPr>
          <p:cNvGrpSpPr/>
          <p:nvPr/>
        </p:nvGrpSpPr>
        <p:grpSpPr>
          <a:xfrm>
            <a:off x="4492742" y="6205009"/>
            <a:ext cx="7074041" cy="714375"/>
            <a:chOff x="2112" y="3726"/>
            <a:chExt cx="3072" cy="450"/>
          </a:xfrm>
        </p:grpSpPr>
        <mc:AlternateContent xmlns:mc="http://schemas.openxmlformats.org/markup-compatibility/2006" xmlns:a14="http://schemas.microsoft.com/office/drawing/2010/main">
          <mc:Choice Requires="a14">
            <p:sp>
              <p:nvSpPr>
                <p:cNvPr id="59" name="Object 44">
                  <a:extLst>
                    <a:ext uri="{FF2B5EF4-FFF2-40B4-BE49-F238E27FC236}">
                      <a16:creationId xmlns:a16="http://schemas.microsoft.com/office/drawing/2014/main" id="{6D1BA7C5-FA19-BEB9-E434-55B0D77DCC37}"/>
                    </a:ext>
                  </a:extLst>
                </p:cNvPr>
                <p:cNvSpPr txBox="1"/>
                <p:nvPr/>
              </p:nvSpPr>
              <p:spPr>
                <a:xfrm>
                  <a:off x="2112" y="3726"/>
                  <a:ext cx="1230" cy="45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𝐸</m:t>
                            </m:r>
                          </m:e>
                          <m:sub>
                            <m:r>
                              <m:rPr>
                                <m:sty m:val="p"/>
                              </m:rPr>
                              <a:rPr lang="zh-CN" altLang="en-US" sz="2800" i="0">
                                <a:solidFill>
                                  <a:srgbClr val="000000"/>
                                </a:solidFill>
                                <a:latin typeface="Cambria Math" panose="02040503050406030204" pitchFamily="18" charset="0"/>
                              </a:rPr>
                              <m:t>p</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𝑝</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𝐸</m:t>
                        </m:r>
                      </m:oMath>
                    </m:oMathPara>
                  </a14:m>
                  <a:endParaRPr lang="zh-CN" altLang="en-US" sz="2800"/>
                </a:p>
              </p:txBody>
            </p:sp>
          </mc:Choice>
          <mc:Fallback xmlns="">
            <p:sp>
              <p:nvSpPr>
                <p:cNvPr id="59" name="Object 44">
                  <a:extLst>
                    <a:ext uri="{FF2B5EF4-FFF2-40B4-BE49-F238E27FC236}">
                      <a16:creationId xmlns:a16="http://schemas.microsoft.com/office/drawing/2014/main" id="{6D1BA7C5-FA19-BEB9-E434-55B0D77DCC37}"/>
                    </a:ext>
                  </a:extLst>
                </p:cNvPr>
                <p:cNvSpPr txBox="1">
                  <a:spLocks noRot="1" noChangeAspect="1" noMove="1" noResize="1" noEditPoints="1" noAdjustHandles="1" noChangeArrowheads="1" noChangeShapeType="1" noTextEdit="1"/>
                </p:cNvSpPr>
                <p:nvPr/>
              </p:nvSpPr>
              <p:spPr>
                <a:xfrm>
                  <a:off x="2112" y="3726"/>
                  <a:ext cx="1230" cy="450"/>
                </a:xfrm>
                <a:prstGeom prst="rect">
                  <a:avLst/>
                </a:prstGeom>
                <a:blipFill>
                  <a:blip r:embed="rId18"/>
                  <a:stretch>
                    <a:fillRect/>
                  </a:stretch>
                </a:blipFill>
                <a:ln w="38100">
                  <a:noFill/>
                  <a:miter/>
                </a:ln>
              </p:spPr>
              <p:txBody>
                <a:bodyPr/>
                <a:lstStyle/>
                <a:p>
                  <a:r>
                    <a:rPr lang="zh-CN" altLang="en-US">
                      <a:noFill/>
                    </a:rPr>
                    <a:t> </a:t>
                  </a:r>
                </a:p>
              </p:txBody>
            </p:sp>
          </mc:Fallback>
        </mc:AlternateContent>
        <p:sp>
          <p:nvSpPr>
            <p:cNvPr id="60" name="Text Box 45">
              <a:extLst>
                <a:ext uri="{FF2B5EF4-FFF2-40B4-BE49-F238E27FC236}">
                  <a16:creationId xmlns:a16="http://schemas.microsoft.com/office/drawing/2014/main" id="{9C4858DA-9E21-7BA2-0D7C-CD7AEC5C70B6}"/>
                </a:ext>
              </a:extLst>
            </p:cNvPr>
            <p:cNvSpPr txBox="1"/>
            <p:nvPr/>
          </p:nvSpPr>
          <p:spPr>
            <a:xfrm>
              <a:off x="3661" y="3751"/>
              <a:ext cx="1523" cy="327"/>
            </a:xfrm>
            <a:prstGeom prst="rect">
              <a:avLst/>
            </a:prstGeom>
            <a:noFill/>
            <a:ln w="9525">
              <a:noFill/>
            </a:ln>
          </p:spPr>
          <p:txBody>
            <a:bodyPr anchor="t" anchorCtr="0">
              <a:spAutoFit/>
            </a:bodyPr>
            <a:lstStyle/>
            <a:p>
              <a:pPr>
                <a:spcBef>
                  <a:spcPct val="50000"/>
                </a:spcBef>
              </a:pPr>
              <a:r>
                <a:rPr lang="zh-CN" altLang="en-US" sz="2800" b="1" dirty="0">
                  <a:solidFill>
                    <a:srgbClr val="1C1C1C"/>
                  </a:solidFill>
                </a:rPr>
                <a:t>能量最高</a:t>
              </a: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77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77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23" grpId="0"/>
      <p:bldP spid="157724" grpId="0"/>
      <p:bldP spid="3" grpId="0"/>
      <p:bldP spid="4" grpId="0"/>
      <p:bldP spid="21" grpId="0"/>
      <p:bldP spid="5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9156F56-A458-43AA-A3E7-83FC180C5B7D}"/>
                  </a:ext>
                </a:extLst>
              </p:cNvPr>
              <p:cNvSpPr txBox="1"/>
              <p:nvPr>
                <p:custDataLst>
                  <p:tags r:id="rId2"/>
                </p:custDataLst>
              </p:nvPr>
            </p:nvSpPr>
            <p:spPr>
              <a:xfrm>
                <a:off x="1324304" y="865899"/>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两个点电荷组成的系统，，假设带电量分别为</a:t>
                </a:r>
                <a14:m>
                  <m:oMath xmlns:m="http://schemas.openxmlformats.org/officeDocument/2006/math">
                    <m:sSub>
                      <m:sSubPr>
                        <m:ctrlPr>
                          <a:rPr lang="ar-AE" altLang="zh-CN" sz="2800" b="1" i="1">
                            <a:solidFill>
                              <a:prstClr val="black"/>
                            </a:solidFill>
                            <a:latin typeface="Cambria Math" panose="02040503050406030204" pitchFamily="18" charset="0"/>
                          </a:rPr>
                        </m:ctrlPr>
                      </m:sSubPr>
                      <m:e>
                        <m:r>
                          <a:rPr lang="zh-CN" altLang="ar-AE" sz="2800" b="1" i="1">
                            <a:solidFill>
                              <a:prstClr val="black"/>
                            </a:solidFill>
                            <a:latin typeface="Cambria Math" panose="02040503050406030204" pitchFamily="18" charset="0"/>
                          </a:rPr>
                          <m:t>𝒒</m:t>
                        </m:r>
                      </m:e>
                      <m:sub>
                        <m:r>
                          <a:rPr lang="zh-CN" altLang="ar-AE" sz="2800" b="1" i="1">
                            <a:solidFill>
                              <a:prstClr val="black"/>
                            </a:solidFill>
                            <a:latin typeface="Cambria Math" panose="02040503050406030204" pitchFamily="18" charset="0"/>
                          </a:rPr>
                          <m:t>𝟏</m:t>
                        </m:r>
                      </m:sub>
                    </m:sSub>
                    <m:r>
                      <a:rPr lang="zh-CN" altLang="en-US" sz="2800" b="1" i="1">
                        <a:solidFill>
                          <a:prstClr val="black"/>
                        </a:solidFill>
                        <a:latin typeface="Cambria Math" panose="02040503050406030204" pitchFamily="18" charset="0"/>
                      </a:rPr>
                      <m:t>、</m:t>
                    </m:r>
                    <m:sSub>
                      <m:sSubPr>
                        <m:ctrlPr>
                          <a:rPr lang="ar-AE" altLang="zh-CN" sz="2800" b="1" i="1">
                            <a:solidFill>
                              <a:prstClr val="black"/>
                            </a:solidFill>
                            <a:latin typeface="Cambria Math" panose="02040503050406030204" pitchFamily="18" charset="0"/>
                          </a:rPr>
                        </m:ctrlPr>
                      </m:sSubPr>
                      <m:e>
                        <m:r>
                          <a:rPr lang="zh-CN" altLang="ar-AE" sz="2800" b="1" i="1">
                            <a:solidFill>
                              <a:prstClr val="black"/>
                            </a:solidFill>
                            <a:latin typeface="Cambria Math" panose="02040503050406030204" pitchFamily="18" charset="0"/>
                          </a:rPr>
                          <m:t>𝒒</m:t>
                        </m:r>
                      </m:e>
                      <m:sub>
                        <m:r>
                          <a:rPr lang="zh-CN" altLang="ar-AE" sz="2800" b="1" i="1">
                            <a:solidFill>
                              <a:prstClr val="black"/>
                            </a:solidFill>
                            <a:latin typeface="Cambria Math" panose="02040503050406030204" pitchFamily="18" charset="0"/>
                          </a:rPr>
                          <m:t>𝟐</m:t>
                        </m:r>
                      </m:sub>
                    </m:sSub>
                    <m:r>
                      <a:rPr lang="zh-CN" altLang="en-US" sz="2800" b="1" i="1">
                        <a:solidFill>
                          <a:prstClr val="black"/>
                        </a:solidFill>
                        <a:latin typeface="Cambria Math" panose="02040503050406030204" pitchFamily="18" charset="0"/>
                      </a:rPr>
                      <m:t>，</m:t>
                    </m:r>
                  </m:oMath>
                </a14:m>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所处位置的电势分别为</a:t>
                </a:r>
                <a14:m>
                  <m:oMath xmlns:m="http://schemas.openxmlformats.org/officeDocument/2006/math">
                    <m:sSub>
                      <m:sSubPr>
                        <m:ctrlPr>
                          <a:rPr lang="ar-AE" altLang="zh-CN" sz="2800" b="1" i="1">
                            <a:solidFill>
                              <a:prstClr val="black"/>
                            </a:solidFill>
                            <a:latin typeface="Cambria Math" panose="02040503050406030204" pitchFamily="18" charset="0"/>
                          </a:rPr>
                        </m:ctrlPr>
                      </m:sSubPr>
                      <m:e>
                        <m:r>
                          <a:rPr lang="zh-CN" altLang="ar-AE" sz="2800" b="1" i="1">
                            <a:solidFill>
                              <a:prstClr val="black"/>
                            </a:solidFill>
                            <a:latin typeface="Cambria Math" panose="02040503050406030204" pitchFamily="18" charset="0"/>
                          </a:rPr>
                          <m:t>𝝋</m:t>
                        </m:r>
                      </m:e>
                      <m:sub>
                        <m:r>
                          <a:rPr lang="zh-CN" altLang="ar-AE" sz="2800" b="1" i="1">
                            <a:solidFill>
                              <a:prstClr val="black"/>
                            </a:solidFill>
                            <a:latin typeface="Cambria Math" panose="02040503050406030204" pitchFamily="18" charset="0"/>
                          </a:rPr>
                          <m:t>𝟏</m:t>
                        </m:r>
                      </m:sub>
                    </m:sSub>
                    <m:r>
                      <a:rPr lang="zh-CN" altLang="en-US" sz="2800" b="1" i="1">
                        <a:solidFill>
                          <a:prstClr val="black"/>
                        </a:solidFill>
                        <a:latin typeface="Cambria Math" panose="02040503050406030204" pitchFamily="18" charset="0"/>
                      </a:rPr>
                      <m:t>、</m:t>
                    </m:r>
                    <m:sSub>
                      <m:sSubPr>
                        <m:ctrlPr>
                          <a:rPr lang="ar-AE" altLang="zh-CN" sz="2800" b="1" i="1">
                            <a:solidFill>
                              <a:prstClr val="black"/>
                            </a:solidFill>
                            <a:latin typeface="Cambria Math" panose="02040503050406030204" pitchFamily="18" charset="0"/>
                          </a:rPr>
                        </m:ctrlPr>
                      </m:sSubPr>
                      <m:e>
                        <m:r>
                          <a:rPr lang="zh-CN" altLang="ar-AE" sz="2800" b="1" i="1">
                            <a:solidFill>
                              <a:prstClr val="black"/>
                            </a:solidFill>
                            <a:latin typeface="Cambria Math" panose="02040503050406030204" pitchFamily="18" charset="0"/>
                          </a:rPr>
                          <m:t>𝝋</m:t>
                        </m:r>
                      </m:e>
                      <m:sub>
                        <m:r>
                          <a:rPr lang="zh-CN" altLang="ar-AE" sz="2800" b="1" i="1">
                            <a:solidFill>
                              <a:prstClr val="black"/>
                            </a:solidFill>
                            <a:latin typeface="Cambria Math" panose="02040503050406030204" pitchFamily="18" charset="0"/>
                          </a:rPr>
                          <m:t>𝟐</m:t>
                        </m:r>
                      </m:sub>
                    </m:sSub>
                    <m:r>
                      <a:rPr lang="zh-CN" altLang="en-US" sz="2800" b="1" i="1">
                        <a:solidFill>
                          <a:prstClr val="black"/>
                        </a:solidFill>
                        <a:latin typeface="Cambria Math" panose="02040503050406030204" pitchFamily="18" charset="0"/>
                      </a:rPr>
                      <m:t>，</m:t>
                    </m:r>
                    <m:r>
                      <a:rPr lang="zh-CN" altLang="en-US" sz="2800" b="1" i="1">
                        <a:solidFill>
                          <a:prstClr val="black"/>
                        </a:solidFill>
                        <a:latin typeface="Cambria Math" panose="02040503050406030204" pitchFamily="18" charset="0"/>
                      </a:rPr>
                      <m:t>则</m:t>
                    </m:r>
                  </m:oMath>
                </a14:m>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该系统的静电势能为</a:t>
                </a:r>
                <a14:m>
                  <m:oMath xmlns:m="http://schemas.openxmlformats.org/officeDocument/2006/math">
                    <m:sSub>
                      <m:sSubPr>
                        <m:ctrlPr>
                          <a:rPr lang="ar-AE" altLang="zh-CN" sz="2400" b="1" i="1">
                            <a:solidFill>
                              <a:prstClr val="black"/>
                            </a:solidFill>
                            <a:latin typeface="Cambria Math" panose="02040503050406030204" pitchFamily="18" charset="0"/>
                          </a:rPr>
                        </m:ctrlPr>
                      </m:sSubPr>
                      <m:e>
                        <m:r>
                          <a:rPr lang="zh-CN" altLang="ar-AE" sz="2400" b="1" i="1">
                            <a:solidFill>
                              <a:prstClr val="black"/>
                            </a:solidFill>
                            <a:latin typeface="Cambria Math" panose="02040503050406030204" pitchFamily="18" charset="0"/>
                          </a:rPr>
                          <m:t>𝒒</m:t>
                        </m:r>
                      </m:e>
                      <m:sub>
                        <m:r>
                          <a:rPr lang="zh-CN" altLang="ar-AE" sz="2400" b="1" i="1">
                            <a:solidFill>
                              <a:prstClr val="black"/>
                            </a:solidFill>
                            <a:latin typeface="Cambria Math" panose="02040503050406030204" pitchFamily="18" charset="0"/>
                          </a:rPr>
                          <m:t>𝟏</m:t>
                        </m:r>
                      </m:sub>
                    </m:sSub>
                    <m:sSub>
                      <m:sSubPr>
                        <m:ctrlPr>
                          <a:rPr lang="ar-AE" altLang="zh-CN" sz="2400" b="1" i="1">
                            <a:solidFill>
                              <a:prstClr val="black"/>
                            </a:solidFill>
                            <a:latin typeface="Cambria Math" panose="02040503050406030204" pitchFamily="18" charset="0"/>
                          </a:rPr>
                        </m:ctrlPr>
                      </m:sSubPr>
                      <m:e>
                        <m:r>
                          <a:rPr lang="zh-CN" altLang="ar-AE" sz="2400" b="1" i="1">
                            <a:solidFill>
                              <a:prstClr val="black"/>
                            </a:solidFill>
                            <a:latin typeface="Cambria Math" panose="02040503050406030204" pitchFamily="18" charset="0"/>
                          </a:rPr>
                          <m:t>𝝋</m:t>
                        </m:r>
                      </m:e>
                      <m:sub>
                        <m:r>
                          <a:rPr lang="zh-CN" altLang="ar-AE" sz="2400" b="1" i="1">
                            <a:solidFill>
                              <a:prstClr val="black"/>
                            </a:solidFill>
                            <a:latin typeface="Cambria Math" panose="02040503050406030204" pitchFamily="18" charset="0"/>
                          </a:rPr>
                          <m:t>𝟏</m:t>
                        </m:r>
                      </m:sub>
                    </m:sSub>
                    <m:r>
                      <a:rPr lang="ar-AE" altLang="zh-CN" sz="2400" b="1" i="1">
                        <a:solidFill>
                          <a:srgbClr val="0000FF"/>
                        </a:solidFill>
                        <a:latin typeface="Cambria Math" panose="02040503050406030204" pitchFamily="18" charset="0"/>
                      </a:rPr>
                      <m:t>+</m:t>
                    </m:r>
                    <m:sSub>
                      <m:sSubPr>
                        <m:ctrlPr>
                          <a:rPr lang="ar-AE" altLang="zh-CN" sz="2400" b="1" i="1">
                            <a:solidFill>
                              <a:prstClr val="black"/>
                            </a:solidFill>
                            <a:latin typeface="Cambria Math" panose="02040503050406030204" pitchFamily="18" charset="0"/>
                          </a:rPr>
                        </m:ctrlPr>
                      </m:sSubPr>
                      <m:e>
                        <m:r>
                          <a:rPr lang="zh-CN" altLang="ar-AE" sz="2400" b="1" i="1">
                            <a:solidFill>
                              <a:prstClr val="black"/>
                            </a:solidFill>
                            <a:latin typeface="Cambria Math" panose="02040503050406030204" pitchFamily="18" charset="0"/>
                          </a:rPr>
                          <m:t>𝒒</m:t>
                        </m:r>
                      </m:e>
                      <m:sub>
                        <m:r>
                          <a:rPr lang="zh-CN" altLang="ar-AE" sz="2400" b="1" i="1">
                            <a:solidFill>
                              <a:prstClr val="black"/>
                            </a:solidFill>
                            <a:latin typeface="Cambria Math" panose="02040503050406030204" pitchFamily="18" charset="0"/>
                          </a:rPr>
                          <m:t>𝟐</m:t>
                        </m:r>
                      </m:sub>
                    </m:sSub>
                    <m:sSub>
                      <m:sSubPr>
                        <m:ctrlPr>
                          <a:rPr lang="ar-AE" altLang="zh-CN" sz="2400" b="1" i="1">
                            <a:solidFill>
                              <a:prstClr val="black"/>
                            </a:solidFill>
                            <a:latin typeface="Cambria Math" panose="02040503050406030204" pitchFamily="18" charset="0"/>
                          </a:rPr>
                        </m:ctrlPr>
                      </m:sSubPr>
                      <m:e>
                        <m:r>
                          <a:rPr lang="zh-CN" altLang="ar-AE" sz="2400" b="1" i="1">
                            <a:solidFill>
                              <a:prstClr val="black"/>
                            </a:solidFill>
                            <a:latin typeface="Cambria Math" panose="02040503050406030204" pitchFamily="18" charset="0"/>
                          </a:rPr>
                          <m:t>𝝋</m:t>
                        </m:r>
                      </m:e>
                      <m:sub>
                        <m:r>
                          <a:rPr lang="zh-CN" altLang="ar-AE" sz="2400" b="1" i="1">
                            <a:solidFill>
                              <a:prstClr val="black"/>
                            </a:solidFill>
                            <a:latin typeface="Cambria Math" panose="02040503050406030204" pitchFamily="18" charset="0"/>
                          </a:rPr>
                          <m:t>𝟐</m:t>
                        </m:r>
                      </m:sub>
                    </m:sSub>
                    <m:r>
                      <a:rPr lang="zh-CN" altLang="en-US" sz="2400" b="1" i="1">
                        <a:solidFill>
                          <a:prstClr val="black"/>
                        </a:solidFill>
                        <a:latin typeface="Cambria Math" panose="02040503050406030204" pitchFamily="18" charset="0"/>
                      </a:rPr>
                      <m:t>。</m:t>
                    </m:r>
                  </m:oMath>
                </a14:m>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此说法正确吗？</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4" name="文本框 3">
                <a:extLst>
                  <a:ext uri="{FF2B5EF4-FFF2-40B4-BE49-F238E27FC236}">
                    <a16:creationId xmlns:a16="http://schemas.microsoft.com/office/drawing/2014/main" id="{89156F56-A458-43AA-A3E7-83FC180C5B7D}"/>
                  </a:ext>
                </a:extLst>
              </p:cNvPr>
              <p:cNvSpPr txBox="1">
                <a:spLocks noRot="1" noChangeAspect="1" noMove="1" noResize="1" noEditPoints="1" noAdjustHandles="1" noChangeArrowheads="1" noChangeShapeType="1" noTextEdit="1"/>
              </p:cNvSpPr>
              <p:nvPr>
                <p:custDataLst>
                  <p:tags r:id="rId17"/>
                </p:custDataLst>
              </p:nvPr>
            </p:nvSpPr>
            <p:spPr>
              <a:xfrm>
                <a:off x="1324304" y="865899"/>
                <a:ext cx="9753600" cy="2143125"/>
              </a:xfrm>
              <a:prstGeom prst="rect">
                <a:avLst/>
              </a:prstGeom>
              <a:blipFill>
                <a:blip r:embed="rId18"/>
                <a:stretch>
                  <a:fillRect l="-1125"/>
                </a:stretch>
              </a:blipFill>
            </p:spPr>
            <p:txBody>
              <a:bodyPr/>
              <a:lstStyle/>
              <a:p>
                <a:r>
                  <a:rPr lang="en-US">
                    <a:noFill/>
                  </a:rPr>
                  <a:t> </a:t>
                </a:r>
              </a:p>
            </p:txBody>
          </p:sp>
        </mc:Fallback>
      </mc:AlternateContent>
      <p:sp>
        <p:nvSpPr>
          <p:cNvPr id="5" name="文本框 4">
            <a:extLst>
              <a:ext uri="{FF2B5EF4-FFF2-40B4-BE49-F238E27FC236}">
                <a16:creationId xmlns:a16="http://schemas.microsoft.com/office/drawing/2014/main" id="{C54EC45B-59F9-4C8F-8013-9A4F686B3A7D}"/>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正确</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30854D48-2A47-4258-8830-75EEF195B5A4}"/>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不正确</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6056FB2D-BA13-4FFA-A03B-387A7A3A34CC}"/>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不确定</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2B675019-DF4B-46ED-BFA4-108DCE7F6DAE}"/>
              </a:ext>
            </a:extLst>
          </p:cNvPr>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0" name="椭圆 9">
            <a:extLst>
              <a:ext uri="{FF2B5EF4-FFF2-40B4-BE49-F238E27FC236}">
                <a16:creationId xmlns:a16="http://schemas.microsoft.com/office/drawing/2014/main" id="{65659D12-F7A3-40DB-8DEE-9D39938D4526}"/>
              </a:ext>
            </a:extLst>
          </p:cNvPr>
          <p:cNvSpPr>
            <a:spLocks noChangeAspect="1"/>
          </p:cNvSpPr>
          <p:nvPr>
            <p:custDataLst>
              <p:tags r:id="rId7"/>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1" name="椭圆 10">
            <a:extLst>
              <a:ext uri="{FF2B5EF4-FFF2-40B4-BE49-F238E27FC236}">
                <a16:creationId xmlns:a16="http://schemas.microsoft.com/office/drawing/2014/main" id="{7E083AA6-6A48-4306-A239-66E1C958118D}"/>
              </a:ext>
            </a:extLst>
          </p:cNvPr>
          <p:cNvSpPr>
            <a:spLocks noChangeAspect="1"/>
          </p:cNvSpPr>
          <p:nvPr>
            <p:custDataLst>
              <p:tags r:id="rId8"/>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3" name="矩形: 圆角 12">
            <a:extLst>
              <a:ext uri="{FF2B5EF4-FFF2-40B4-BE49-F238E27FC236}">
                <a16:creationId xmlns:a16="http://schemas.microsoft.com/office/drawing/2014/main" id="{DC95F31C-D3F8-4E40-9894-CBC8172D269E}"/>
              </a:ext>
            </a:extLst>
          </p:cNvPr>
          <p:cNvSpPr/>
          <p:nvPr>
            <p:custDataLst>
              <p:tags r:id="rId9"/>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a:extLst>
              <a:ext uri="{FF2B5EF4-FFF2-40B4-BE49-F238E27FC236}">
                <a16:creationId xmlns:a16="http://schemas.microsoft.com/office/drawing/2014/main" id="{1C3E1692-8D2C-4635-8E91-406890985E02}"/>
              </a:ext>
            </a:extLst>
          </p:cNvPr>
          <p:cNvGrpSpPr/>
          <p:nvPr>
            <p:custDataLst>
              <p:tags r:id="rId10"/>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7BED048A-8A1E-4863-BE9C-D98937BAF1E0}"/>
                </a:ext>
              </a:extLst>
            </p:cNvPr>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lorBlock">
              <a:extLst>
                <a:ext uri="{FF2B5EF4-FFF2-40B4-BE49-F238E27FC236}">
                  <a16:creationId xmlns:a16="http://schemas.microsoft.com/office/drawing/2014/main" id="{2F1D9980-864B-4D93-922D-CA0CC059ED31}"/>
                </a:ext>
              </a:extLst>
            </p:cNvPr>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ypeText">
              <a:extLst>
                <a:ext uri="{FF2B5EF4-FFF2-40B4-BE49-F238E27FC236}">
                  <a16:creationId xmlns:a16="http://schemas.microsoft.com/office/drawing/2014/main" id="{57C6EB7F-760D-4B27-B47F-EEECF3B3B0FC}"/>
                </a:ext>
              </a:extLst>
            </p:cNvPr>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a:extLst>
                <a:ext uri="{FF2B5EF4-FFF2-40B4-BE49-F238E27FC236}">
                  <a16:creationId xmlns:a16="http://schemas.microsoft.com/office/drawing/2014/main" id="{48FC35D8-9FA9-4E0B-9717-FDA639962E20}"/>
                </a:ext>
              </a:extLst>
            </p:cNvPr>
            <p:cNvSpPr txBox="1"/>
            <p:nvPr>
              <p:custDataLst>
                <p:tags r:id="rId15"/>
              </p:custDataLst>
            </p:nvPr>
          </p:nvSpPr>
          <p:spPr>
            <a:xfrm>
              <a:off x="1525969"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a:extLst>
              <a:ext uri="{FF2B5EF4-FFF2-40B4-BE49-F238E27FC236}">
                <a16:creationId xmlns:a16="http://schemas.microsoft.com/office/drawing/2014/main" id="{83B8772F-BAA7-4EB0-BD69-D993EAAE351E}"/>
              </a:ext>
            </a:extLst>
          </p:cNvPr>
          <p:cNvPicPr>
            <a:picLocks/>
          </p:cNvPicPr>
          <p:nvPr>
            <p:custDataLst>
              <p:tags r:id="rId11"/>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779783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8981E72-3BF1-4E8F-AB69-E3F25D4BDB18}"/>
              </a:ext>
            </a:extLst>
          </p:cNvPr>
          <p:cNvSpPr>
            <a:spLocks noGrp="1"/>
          </p:cNvSpPr>
          <p:nvPr>
            <p:ph type="title"/>
          </p:nvPr>
        </p:nvSpPr>
        <p:spPr>
          <a:xfrm>
            <a:off x="544143" y="479447"/>
            <a:ext cx="3958167" cy="748242"/>
          </a:xfrm>
        </p:spPr>
        <p:txBody>
          <a:bodyPr>
            <a:normAutofit/>
          </a:bodyPr>
          <a:lstStyle/>
          <a:p>
            <a:pPr marL="571500" indent="-571500" algn="ctr">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电荷系的静电能</a:t>
            </a:r>
            <a:r>
              <a:rPr lang="en-US" altLang="zh-CN" sz="3200" b="1" dirty="0">
                <a:solidFill>
                  <a:srgbClr val="0066FF"/>
                </a:solidFill>
                <a:latin typeface="华文楷体" panose="02010600040101010101" pitchFamily="2" charset="-122"/>
                <a:ea typeface="华文楷体" panose="02010600040101010101" pitchFamily="2" charset="-122"/>
              </a:rPr>
              <a:t>*</a:t>
            </a:r>
            <a:endParaRPr lang="zh-CN" altLang="en-US" sz="3200" b="1" dirty="0">
              <a:solidFill>
                <a:srgbClr val="0066FF"/>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5F53CC11-5B57-465B-8C47-9406F0D5FDFB}"/>
                  </a:ext>
                </a:extLst>
              </p:cNvPr>
              <p:cNvSpPr/>
              <p:nvPr/>
            </p:nvSpPr>
            <p:spPr>
              <a:xfrm>
                <a:off x="1399892" y="1192536"/>
                <a:ext cx="4306243" cy="10219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a:latin typeface="Cambria Math" panose="02040503050406030204" pitchFamily="18" charset="0"/>
                            </a:rPr>
                            <m:t>𝐴</m:t>
                          </m:r>
                        </m:e>
                        <m:sub>
                          <m:r>
                            <a:rPr lang="en-US" altLang="zh-CN" sz="2800" b="0" i="1">
                              <a:latin typeface="Cambria Math" panose="02040503050406030204" pitchFamily="18" charset="0"/>
                            </a:rPr>
                            <m:t>𝑟</m:t>
                          </m:r>
                          <m:r>
                            <a:rPr lang="en-US" altLang="zh-CN" sz="2800" b="0" i="1">
                              <a:latin typeface="Cambria Math" panose="02040503050406030204" pitchFamily="18" charset="0"/>
                              <a:ea typeface="Cambria Math" panose="02040503050406030204" pitchFamily="18" charset="0"/>
                            </a:rPr>
                            <m:t>→</m:t>
                          </m:r>
                          <m:r>
                            <a:rPr lang="en-US" altLang="zh-CN" sz="2800" b="0" i="1">
                              <a:latin typeface="Cambria Math" panose="02040503050406030204" pitchFamily="18" charset="0"/>
                              <a:ea typeface="Cambria Math" panose="02040503050406030204" pitchFamily="18" charset="0"/>
                            </a:rPr>
                            <m:t>∞</m:t>
                          </m:r>
                        </m:sub>
                      </m:sSub>
                      <m:r>
                        <a:rPr lang="en-US" altLang="zh-CN" sz="2800" b="0" i="1">
                          <a:latin typeface="Cambria Math" panose="02040503050406030204" pitchFamily="18" charset="0"/>
                        </a:rPr>
                        <m:t>=</m:t>
                      </m:r>
                      <m:nary>
                        <m:naryPr>
                          <m:ctrlPr>
                            <a:rPr lang="en-US" altLang="zh-CN" sz="2800" i="1">
                              <a:latin typeface="Cambria Math" panose="02040503050406030204" pitchFamily="18" charset="0"/>
                            </a:rPr>
                          </m:ctrlPr>
                        </m:naryPr>
                        <m:sub>
                          <m:r>
                            <m:rPr>
                              <m:brk m:alnAt="23"/>
                            </m:rPr>
                            <a:rPr lang="en-US" altLang="zh-CN" sz="2800" b="0" i="1">
                              <a:latin typeface="Cambria Math" panose="02040503050406030204" pitchFamily="18" charset="0"/>
                            </a:rPr>
                            <m:t>𝑟</m:t>
                          </m:r>
                        </m:sub>
                        <m:sup>
                          <m:r>
                            <a:rPr lang="en-US" altLang="zh-CN" sz="2800" b="0" i="1">
                              <a:latin typeface="Cambria Math" panose="02040503050406030204" pitchFamily="18" charset="0"/>
                              <a:ea typeface="Cambria Math" panose="02040503050406030204" pitchFamily="18" charset="0"/>
                            </a:rPr>
                            <m:t>∞</m:t>
                          </m:r>
                        </m:sup>
                        <m:e>
                          <m:f>
                            <m:fPr>
                              <m:ctrlPr>
                                <a:rPr lang="en-US" altLang="zh-CN" sz="2800" i="1">
                                  <a:latin typeface="Cambria Math" panose="02040503050406030204" pitchFamily="18" charset="0"/>
                                </a:rPr>
                              </m:ctrlPr>
                            </m:fPr>
                            <m:num>
                              <m:sSub>
                                <m:sSubPr>
                                  <m:ctrlPr>
                                    <a:rPr lang="en-US" altLang="zh-CN" sz="2800" i="1">
                                      <a:latin typeface="Cambria Math" panose="02040503050406030204" pitchFamily="18" charset="0"/>
                                    </a:rPr>
                                  </m:ctrlPr>
                                </m:sSubPr>
                                <m:e>
                                  <m:r>
                                    <a:rPr lang="en-US" altLang="zh-CN" sz="2800" b="0" i="1">
                                      <a:latin typeface="Cambria Math" panose="02040503050406030204" pitchFamily="18" charset="0"/>
                                    </a:rPr>
                                    <m:t>𝑞</m:t>
                                  </m:r>
                                </m:e>
                                <m:sub>
                                  <m:r>
                                    <a:rPr lang="en-US" altLang="zh-CN" sz="2800" b="0" i="1">
                                      <a:latin typeface="Cambria Math" panose="02040503050406030204" pitchFamily="18" charset="0"/>
                                    </a:rPr>
                                    <m:t>1</m:t>
                                  </m:r>
                                </m:sub>
                              </m:sSub>
                              <m:sSub>
                                <m:sSubPr>
                                  <m:ctrlPr>
                                    <a:rPr lang="en-US" altLang="zh-CN" sz="2800" i="1">
                                      <a:latin typeface="Cambria Math" panose="02040503050406030204" pitchFamily="18" charset="0"/>
                                    </a:rPr>
                                  </m:ctrlPr>
                                </m:sSubPr>
                                <m:e>
                                  <m:r>
                                    <a:rPr lang="en-US" altLang="zh-CN" sz="2800" b="0" i="1">
                                      <a:latin typeface="Cambria Math" panose="02040503050406030204" pitchFamily="18" charset="0"/>
                                    </a:rPr>
                                    <m:t>𝑞</m:t>
                                  </m:r>
                                </m:e>
                                <m:sub>
                                  <m:r>
                                    <a:rPr lang="en-US" altLang="zh-CN" sz="2800" b="0" i="1">
                                      <a:latin typeface="Cambria Math" panose="02040503050406030204" pitchFamily="18" charset="0"/>
                                    </a:rPr>
                                    <m:t>2</m:t>
                                  </m:r>
                                </m:sub>
                              </m:sSub>
                            </m:num>
                            <m:den>
                              <m:r>
                                <a:rPr lang="en-US" altLang="zh-CN" sz="2800" b="0" i="1">
                                  <a:latin typeface="Cambria Math" panose="02040503050406030204" pitchFamily="18" charset="0"/>
                                </a:rPr>
                                <m:t>4</m:t>
                              </m:r>
                              <m:r>
                                <a:rPr lang="zh-CN" altLang="en-US" sz="2800" b="0" i="1">
                                  <a:latin typeface="Cambria Math" panose="02040503050406030204" pitchFamily="18" charset="0"/>
                                </a:rPr>
                                <m:t>𝜋</m:t>
                              </m:r>
                              <m:sSub>
                                <m:sSubPr>
                                  <m:ctrlPr>
                                    <a:rPr lang="en-US" altLang="zh-CN" sz="2800" i="1">
                                      <a:latin typeface="Cambria Math" panose="02040503050406030204" pitchFamily="18" charset="0"/>
                                    </a:rPr>
                                  </m:ctrlPr>
                                </m:sSubPr>
                                <m:e>
                                  <m:r>
                                    <a:rPr lang="zh-CN" altLang="en-US" sz="2800" b="0" i="1">
                                      <a:latin typeface="Cambria Math" panose="02040503050406030204" pitchFamily="18" charset="0"/>
                                    </a:rPr>
                                    <m:t>𝜀</m:t>
                                  </m:r>
                                </m:e>
                                <m:sub>
                                  <m:r>
                                    <a:rPr lang="en-US" altLang="zh-CN" sz="2800" b="0" i="1">
                                      <a:latin typeface="Cambria Math" panose="02040503050406030204" pitchFamily="18" charset="0"/>
                                    </a:rPr>
                                    <m:t>0</m:t>
                                  </m:r>
                                </m:sub>
                              </m:sSub>
                              <m:sSup>
                                <m:sSupPr>
                                  <m:ctrlPr>
                                    <a:rPr lang="en-US" altLang="zh-CN" sz="2800" i="1">
                                      <a:latin typeface="Cambria Math" panose="02040503050406030204" pitchFamily="18" charset="0"/>
                                    </a:rPr>
                                  </m:ctrlPr>
                                </m:sSupPr>
                                <m:e>
                                  <m:r>
                                    <a:rPr lang="en-US" altLang="zh-CN" sz="2800" b="0" i="1">
                                      <a:latin typeface="Cambria Math" panose="02040503050406030204" pitchFamily="18" charset="0"/>
                                    </a:rPr>
                                    <m:t>𝑟</m:t>
                                  </m:r>
                                </m:e>
                                <m:sup>
                                  <m:r>
                                    <a:rPr lang="en-US" altLang="zh-CN" sz="2800" b="0" i="1">
                                      <a:latin typeface="Cambria Math" panose="02040503050406030204" pitchFamily="18" charset="0"/>
                                    </a:rPr>
                                    <m:t>3</m:t>
                                  </m:r>
                                </m:sup>
                              </m:sSup>
                            </m:den>
                          </m:f>
                        </m:e>
                      </m:nary>
                      <m:acc>
                        <m:accPr>
                          <m:chr m:val="⃗"/>
                          <m:ctrlPr>
                            <a:rPr lang="en-US" altLang="zh-CN" sz="2800" i="1">
                              <a:latin typeface="Cambria Math" panose="02040503050406030204" pitchFamily="18" charset="0"/>
                            </a:rPr>
                          </m:ctrlPr>
                        </m:accPr>
                        <m:e>
                          <m:r>
                            <a:rPr lang="en-US" altLang="zh-CN" sz="2800" b="0" i="1">
                              <a:latin typeface="Cambria Math" panose="02040503050406030204" pitchFamily="18" charset="0"/>
                            </a:rPr>
                            <m:t>𝑟</m:t>
                          </m:r>
                        </m:e>
                      </m:acc>
                      <m:r>
                        <a:rPr lang="en-US" altLang="zh-CN" sz="2800" b="0" i="1">
                          <a:latin typeface="Cambria Math" panose="02040503050406030204" pitchFamily="18" charset="0"/>
                          <a:ea typeface="Cambria Math" panose="02040503050406030204" pitchFamily="18" charset="0"/>
                        </a:rPr>
                        <m:t>∙</m:t>
                      </m:r>
                      <m:r>
                        <a:rPr lang="en-US" altLang="zh-CN" sz="2800" b="0" i="1">
                          <a:latin typeface="Cambria Math" panose="02040503050406030204" pitchFamily="18" charset="0"/>
                          <a:ea typeface="Cambria Math" panose="02040503050406030204" pitchFamily="18" charset="0"/>
                        </a:rPr>
                        <m:t>𝑑</m:t>
                      </m:r>
                      <m:acc>
                        <m:accPr>
                          <m:chr m:val="⃗"/>
                          <m:ctrlPr>
                            <a:rPr lang="en-US" altLang="zh-CN" sz="2800" i="1">
                              <a:latin typeface="Cambria Math" panose="02040503050406030204" pitchFamily="18" charset="0"/>
                            </a:rPr>
                          </m:ctrlPr>
                        </m:accPr>
                        <m:e>
                          <m:r>
                            <a:rPr lang="en-US" altLang="zh-CN" sz="2800" b="0" i="1">
                              <a:latin typeface="Cambria Math" panose="02040503050406030204" pitchFamily="18" charset="0"/>
                            </a:rPr>
                            <m:t>𝑟</m:t>
                          </m:r>
                        </m:e>
                      </m:acc>
                    </m:oMath>
                  </m:oMathPara>
                </a14:m>
                <a:endParaRPr lang="en-US" sz="2800" dirty="0"/>
              </a:p>
            </p:txBody>
          </p:sp>
        </mc:Choice>
        <mc:Fallback xmlns="">
          <p:sp>
            <p:nvSpPr>
              <p:cNvPr id="7" name="矩形 6">
                <a:extLst>
                  <a:ext uri="{FF2B5EF4-FFF2-40B4-BE49-F238E27FC236}">
                    <a16:creationId xmlns:a16="http://schemas.microsoft.com/office/drawing/2014/main" id="{5F53CC11-5B57-465B-8C47-9406F0D5FDFB}"/>
                  </a:ext>
                </a:extLst>
              </p:cNvPr>
              <p:cNvSpPr>
                <a:spLocks noRot="1" noChangeAspect="1" noMove="1" noResize="1" noEditPoints="1" noAdjustHandles="1" noChangeArrowheads="1" noChangeShapeType="1" noTextEdit="1"/>
              </p:cNvSpPr>
              <p:nvPr/>
            </p:nvSpPr>
            <p:spPr>
              <a:xfrm>
                <a:off x="1399892" y="1192536"/>
                <a:ext cx="4306243" cy="102194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4B900841-CCAD-4B7B-B271-B872D23867A0}"/>
                  </a:ext>
                </a:extLst>
              </p:cNvPr>
              <p:cNvSpPr/>
              <p:nvPr/>
            </p:nvSpPr>
            <p:spPr>
              <a:xfrm>
                <a:off x="2392558" y="2380626"/>
                <a:ext cx="1565365" cy="9034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f>
                        <m:fPr>
                          <m:ctrlPr>
                            <a:rPr lang="en-US" altLang="zh-CN" sz="2800" i="1">
                              <a:solidFill>
                                <a:prstClr val="black"/>
                              </a:solidFill>
                              <a:latin typeface="Cambria Math" panose="02040503050406030204" pitchFamily="18" charset="0"/>
                            </a:rPr>
                          </m:ctrlPr>
                        </m:fPr>
                        <m:num>
                          <m:sSub>
                            <m:sSubPr>
                              <m:ctrlPr>
                                <a:rPr lang="en-US" altLang="zh-CN" sz="2800" i="1">
                                  <a:solidFill>
                                    <a:prstClr val="black"/>
                                  </a:solidFill>
                                  <a:latin typeface="Cambria Math" panose="02040503050406030204" pitchFamily="18" charset="0"/>
                                </a:rPr>
                              </m:ctrlPr>
                            </m:sSubPr>
                            <m:e>
                              <m:r>
                                <a:rPr lang="en-US" altLang="zh-CN" sz="2800" b="0" i="1">
                                  <a:solidFill>
                                    <a:prstClr val="black"/>
                                  </a:solidFill>
                                  <a:latin typeface="Cambria Math" panose="02040503050406030204" pitchFamily="18" charset="0"/>
                                </a:rPr>
                                <m:t>𝑞</m:t>
                              </m:r>
                            </m:e>
                            <m:sub>
                              <m:r>
                                <a:rPr lang="en-US" altLang="zh-CN" sz="2800" b="0" i="1">
                                  <a:solidFill>
                                    <a:prstClr val="black"/>
                                  </a:solidFill>
                                  <a:latin typeface="Cambria Math" panose="02040503050406030204" pitchFamily="18" charset="0"/>
                                </a:rPr>
                                <m:t>1</m:t>
                              </m:r>
                            </m:sub>
                          </m:sSub>
                          <m:sSub>
                            <m:sSubPr>
                              <m:ctrlPr>
                                <a:rPr lang="en-US" altLang="zh-CN" sz="2800" i="1">
                                  <a:solidFill>
                                    <a:prstClr val="black"/>
                                  </a:solidFill>
                                  <a:latin typeface="Cambria Math" panose="02040503050406030204" pitchFamily="18" charset="0"/>
                                </a:rPr>
                              </m:ctrlPr>
                            </m:sSubPr>
                            <m:e>
                              <m:r>
                                <a:rPr lang="en-US" altLang="zh-CN" sz="2800" b="0" i="1">
                                  <a:solidFill>
                                    <a:prstClr val="black"/>
                                  </a:solidFill>
                                  <a:latin typeface="Cambria Math" panose="02040503050406030204" pitchFamily="18" charset="0"/>
                                </a:rPr>
                                <m:t>𝑞</m:t>
                              </m:r>
                            </m:e>
                            <m:sub>
                              <m:r>
                                <a:rPr lang="en-US" altLang="zh-CN" sz="2800" b="0" i="1">
                                  <a:solidFill>
                                    <a:prstClr val="black"/>
                                  </a:solidFill>
                                  <a:latin typeface="Cambria Math" panose="02040503050406030204" pitchFamily="18" charset="0"/>
                                </a:rPr>
                                <m:t>2</m:t>
                              </m:r>
                            </m:sub>
                          </m:sSub>
                        </m:num>
                        <m:den>
                          <m:r>
                            <a:rPr lang="en-US" altLang="zh-CN" sz="2800" b="0" i="1">
                              <a:solidFill>
                                <a:prstClr val="black"/>
                              </a:solidFill>
                              <a:latin typeface="Cambria Math" panose="02040503050406030204" pitchFamily="18" charset="0"/>
                            </a:rPr>
                            <m:t>4</m:t>
                          </m:r>
                          <m:r>
                            <a:rPr lang="zh-CN" altLang="en-US" sz="2800" b="0" i="1">
                              <a:solidFill>
                                <a:prstClr val="black"/>
                              </a:solidFill>
                              <a:latin typeface="Cambria Math" panose="02040503050406030204" pitchFamily="18" charset="0"/>
                            </a:rPr>
                            <m:t>𝜋</m:t>
                          </m:r>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𝜀</m:t>
                              </m:r>
                            </m:e>
                            <m:sub>
                              <m:r>
                                <a:rPr lang="en-US" altLang="zh-CN" sz="2800" b="0" i="1">
                                  <a:solidFill>
                                    <a:prstClr val="black"/>
                                  </a:solidFill>
                                  <a:latin typeface="Cambria Math" panose="02040503050406030204" pitchFamily="18" charset="0"/>
                                </a:rPr>
                                <m:t>0</m:t>
                              </m:r>
                            </m:sub>
                          </m:sSub>
                          <m:r>
                            <a:rPr lang="en-US" altLang="zh-CN" sz="2800" b="0" i="1">
                              <a:solidFill>
                                <a:prstClr val="black"/>
                              </a:solidFill>
                              <a:latin typeface="Cambria Math" panose="02040503050406030204" pitchFamily="18" charset="0"/>
                            </a:rPr>
                            <m:t>𝑟</m:t>
                          </m:r>
                        </m:den>
                      </m:f>
                    </m:oMath>
                  </m:oMathPara>
                </a14:m>
                <a:endParaRPr lang="en-US" sz="2800" dirty="0"/>
              </a:p>
            </p:txBody>
          </p:sp>
        </mc:Choice>
        <mc:Fallback xmlns="">
          <p:sp>
            <p:nvSpPr>
              <p:cNvPr id="8" name="矩形 7">
                <a:extLst>
                  <a:ext uri="{FF2B5EF4-FFF2-40B4-BE49-F238E27FC236}">
                    <a16:creationId xmlns:a16="http://schemas.microsoft.com/office/drawing/2014/main" id="{4B900841-CCAD-4B7B-B271-B872D23867A0}"/>
                  </a:ext>
                </a:extLst>
              </p:cNvPr>
              <p:cNvSpPr>
                <a:spLocks noRot="1" noChangeAspect="1" noMove="1" noResize="1" noEditPoints="1" noAdjustHandles="1" noChangeArrowheads="1" noChangeShapeType="1" noTextEdit="1"/>
              </p:cNvSpPr>
              <p:nvPr/>
            </p:nvSpPr>
            <p:spPr>
              <a:xfrm>
                <a:off x="2392558" y="2380626"/>
                <a:ext cx="1565365" cy="90345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86F3745F-35B0-4BE7-8244-7277338AB5C3}"/>
                  </a:ext>
                </a:extLst>
              </p:cNvPr>
              <p:cNvSpPr/>
              <p:nvPr/>
            </p:nvSpPr>
            <p:spPr>
              <a:xfrm>
                <a:off x="3899185" y="2377890"/>
                <a:ext cx="1979323" cy="9034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sSub>
                        <m:sSubPr>
                          <m:ctrlPr>
                            <a:rPr lang="en-US" altLang="zh-CN" sz="2800" i="1">
                              <a:solidFill>
                                <a:prstClr val="black"/>
                              </a:solidFill>
                              <a:latin typeface="Cambria Math" panose="02040503050406030204" pitchFamily="18" charset="0"/>
                            </a:rPr>
                          </m:ctrlPr>
                        </m:sSubPr>
                        <m:e>
                          <m:r>
                            <a:rPr lang="en-US" altLang="zh-CN" sz="2800" b="0" i="1">
                              <a:solidFill>
                                <a:prstClr val="black"/>
                              </a:solidFill>
                              <a:latin typeface="Cambria Math" panose="02040503050406030204" pitchFamily="18" charset="0"/>
                            </a:rPr>
                            <m:t>𝑞</m:t>
                          </m:r>
                        </m:e>
                        <m:sub>
                          <m:r>
                            <a:rPr lang="en-US" altLang="zh-CN" sz="2800" b="0" i="1">
                              <a:solidFill>
                                <a:prstClr val="black"/>
                              </a:solidFill>
                              <a:latin typeface="Cambria Math" panose="02040503050406030204" pitchFamily="18" charset="0"/>
                            </a:rPr>
                            <m:t>2</m:t>
                          </m:r>
                        </m:sub>
                      </m:sSub>
                      <m:f>
                        <m:fPr>
                          <m:ctrlPr>
                            <a:rPr lang="en-US" altLang="zh-CN" sz="2800" i="1">
                              <a:solidFill>
                                <a:prstClr val="black"/>
                              </a:solidFill>
                              <a:latin typeface="Cambria Math" panose="02040503050406030204" pitchFamily="18" charset="0"/>
                            </a:rPr>
                          </m:ctrlPr>
                        </m:fPr>
                        <m:num>
                          <m:sSub>
                            <m:sSubPr>
                              <m:ctrlPr>
                                <a:rPr lang="en-US" altLang="zh-CN" sz="2800" i="1">
                                  <a:solidFill>
                                    <a:prstClr val="black"/>
                                  </a:solidFill>
                                  <a:latin typeface="Cambria Math" panose="02040503050406030204" pitchFamily="18" charset="0"/>
                                </a:rPr>
                              </m:ctrlPr>
                            </m:sSubPr>
                            <m:e>
                              <m:r>
                                <a:rPr lang="en-US" altLang="zh-CN" sz="2800" b="0" i="1">
                                  <a:solidFill>
                                    <a:prstClr val="black"/>
                                  </a:solidFill>
                                  <a:latin typeface="Cambria Math" panose="02040503050406030204" pitchFamily="18" charset="0"/>
                                </a:rPr>
                                <m:t>𝑞</m:t>
                              </m:r>
                            </m:e>
                            <m:sub>
                              <m:r>
                                <a:rPr lang="en-US" altLang="zh-CN" sz="2800" b="0" i="1">
                                  <a:solidFill>
                                    <a:prstClr val="black"/>
                                  </a:solidFill>
                                  <a:latin typeface="Cambria Math" panose="02040503050406030204" pitchFamily="18" charset="0"/>
                                </a:rPr>
                                <m:t>1</m:t>
                              </m:r>
                            </m:sub>
                          </m:sSub>
                        </m:num>
                        <m:den>
                          <m:r>
                            <a:rPr lang="en-US" altLang="zh-CN" sz="2800" b="0" i="1">
                              <a:solidFill>
                                <a:prstClr val="black"/>
                              </a:solidFill>
                              <a:latin typeface="Cambria Math" panose="02040503050406030204" pitchFamily="18" charset="0"/>
                            </a:rPr>
                            <m:t>4</m:t>
                          </m:r>
                          <m:r>
                            <a:rPr lang="zh-CN" altLang="en-US" sz="2800" b="0" i="1">
                              <a:solidFill>
                                <a:prstClr val="black"/>
                              </a:solidFill>
                              <a:latin typeface="Cambria Math" panose="02040503050406030204" pitchFamily="18" charset="0"/>
                            </a:rPr>
                            <m:t>𝜋</m:t>
                          </m:r>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𝜀</m:t>
                              </m:r>
                            </m:e>
                            <m:sub>
                              <m:r>
                                <a:rPr lang="en-US" altLang="zh-CN" sz="2800" b="0" i="1">
                                  <a:solidFill>
                                    <a:prstClr val="black"/>
                                  </a:solidFill>
                                  <a:latin typeface="Cambria Math" panose="02040503050406030204" pitchFamily="18" charset="0"/>
                                </a:rPr>
                                <m:t>0</m:t>
                              </m:r>
                            </m:sub>
                          </m:sSub>
                          <m:r>
                            <a:rPr lang="en-US" altLang="zh-CN" sz="2800" b="0" i="1">
                              <a:solidFill>
                                <a:prstClr val="black"/>
                              </a:solidFill>
                              <a:latin typeface="Cambria Math" panose="02040503050406030204" pitchFamily="18" charset="0"/>
                            </a:rPr>
                            <m:t>𝑟</m:t>
                          </m:r>
                        </m:den>
                      </m:f>
                    </m:oMath>
                  </m:oMathPara>
                </a14:m>
                <a:endParaRPr lang="en-US" sz="2800" dirty="0"/>
              </a:p>
            </p:txBody>
          </p:sp>
        </mc:Choice>
        <mc:Fallback xmlns="">
          <p:sp>
            <p:nvSpPr>
              <p:cNvPr id="9" name="矩形 8">
                <a:extLst>
                  <a:ext uri="{FF2B5EF4-FFF2-40B4-BE49-F238E27FC236}">
                    <a16:creationId xmlns:a16="http://schemas.microsoft.com/office/drawing/2014/main" id="{86F3745F-35B0-4BE7-8244-7277338AB5C3}"/>
                  </a:ext>
                </a:extLst>
              </p:cNvPr>
              <p:cNvSpPr>
                <a:spLocks noRot="1" noChangeAspect="1" noMove="1" noResize="1" noEditPoints="1" noAdjustHandles="1" noChangeArrowheads="1" noChangeShapeType="1" noTextEdit="1"/>
              </p:cNvSpPr>
              <p:nvPr/>
            </p:nvSpPr>
            <p:spPr>
              <a:xfrm>
                <a:off x="3899185" y="2377890"/>
                <a:ext cx="1979323" cy="90345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9DA9691A-FEBA-4637-87B7-22DC0B06A38F}"/>
                  </a:ext>
                </a:extLst>
              </p:cNvPr>
              <p:cNvSpPr/>
              <p:nvPr/>
            </p:nvSpPr>
            <p:spPr>
              <a:xfrm>
                <a:off x="2429344" y="3444750"/>
                <a:ext cx="140685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a:solidFill>
                            <a:prstClr val="black"/>
                          </a:solidFill>
                          <a:latin typeface="Cambria Math" panose="02040503050406030204" pitchFamily="18" charset="0"/>
                        </a:rPr>
                        <m:t>=</m:t>
                      </m:r>
                      <m:sSub>
                        <m:sSubPr>
                          <m:ctrlPr>
                            <a:rPr lang="en-US" altLang="zh-CN" sz="2800" i="1">
                              <a:solidFill>
                                <a:prstClr val="black"/>
                              </a:solidFill>
                              <a:latin typeface="Cambria Math" panose="02040503050406030204" pitchFamily="18" charset="0"/>
                            </a:rPr>
                          </m:ctrlPr>
                        </m:sSubPr>
                        <m:e>
                          <m:r>
                            <a:rPr lang="en-US" altLang="zh-CN" sz="2800" b="0" i="1">
                              <a:solidFill>
                                <a:prstClr val="black"/>
                              </a:solidFill>
                              <a:latin typeface="Cambria Math" panose="02040503050406030204" pitchFamily="18" charset="0"/>
                            </a:rPr>
                            <m:t>𝑞</m:t>
                          </m:r>
                        </m:e>
                        <m:sub>
                          <m:r>
                            <a:rPr lang="en-US" altLang="zh-CN" sz="2800" b="0" i="1">
                              <a:solidFill>
                                <a:prstClr val="black"/>
                              </a:solidFill>
                              <a:latin typeface="Cambria Math" panose="02040503050406030204" pitchFamily="18" charset="0"/>
                            </a:rPr>
                            <m:t>2</m:t>
                          </m:r>
                        </m:sub>
                      </m:sSub>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𝜑</m:t>
                          </m:r>
                        </m:e>
                        <m:sub>
                          <m:r>
                            <a:rPr lang="en-US" altLang="zh-CN" sz="2800" b="0" i="1">
                              <a:solidFill>
                                <a:prstClr val="black"/>
                              </a:solidFill>
                              <a:latin typeface="Cambria Math" panose="02040503050406030204" pitchFamily="18" charset="0"/>
                            </a:rPr>
                            <m:t>2</m:t>
                          </m:r>
                        </m:sub>
                      </m:sSub>
                    </m:oMath>
                  </m:oMathPara>
                </a14:m>
                <a:endParaRPr lang="en-US" sz="2800" dirty="0"/>
              </a:p>
            </p:txBody>
          </p:sp>
        </mc:Choice>
        <mc:Fallback xmlns="">
          <p:sp>
            <p:nvSpPr>
              <p:cNvPr id="11" name="矩形 10">
                <a:extLst>
                  <a:ext uri="{FF2B5EF4-FFF2-40B4-BE49-F238E27FC236}">
                    <a16:creationId xmlns:a16="http://schemas.microsoft.com/office/drawing/2014/main" id="{9DA9691A-FEBA-4637-87B7-22DC0B06A38F}"/>
                  </a:ext>
                </a:extLst>
              </p:cNvPr>
              <p:cNvSpPr>
                <a:spLocks noRot="1" noChangeAspect="1" noMove="1" noResize="1" noEditPoints="1" noAdjustHandles="1" noChangeArrowheads="1" noChangeShapeType="1" noTextEdit="1"/>
              </p:cNvSpPr>
              <p:nvPr/>
            </p:nvSpPr>
            <p:spPr>
              <a:xfrm>
                <a:off x="2429344" y="3444750"/>
                <a:ext cx="1406859"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FA2E03DE-43D3-40EE-B779-9954FF9C84CC}"/>
                  </a:ext>
                </a:extLst>
              </p:cNvPr>
              <p:cNvSpPr/>
              <p:nvPr/>
            </p:nvSpPr>
            <p:spPr>
              <a:xfrm>
                <a:off x="3807887" y="3444750"/>
                <a:ext cx="1390317" cy="600164"/>
              </a:xfrm>
              <a:prstGeom prst="rect">
                <a:avLst/>
              </a:prstGeom>
            </p:spPr>
            <p:txBody>
              <a:bodyPr wrap="none">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800" b="0" i="1">
                          <a:solidFill>
                            <a:prstClr val="black"/>
                          </a:solidFill>
                          <a:latin typeface="Cambria Math" panose="02040503050406030204" pitchFamily="18" charset="0"/>
                        </a:rPr>
                        <m:t>=</m:t>
                      </m:r>
                      <m:sSub>
                        <m:sSubPr>
                          <m:ctrlPr>
                            <a:rPr lang="en-US" altLang="zh-CN" sz="2800" i="1">
                              <a:solidFill>
                                <a:prstClr val="black"/>
                              </a:solidFill>
                              <a:latin typeface="Cambria Math" panose="02040503050406030204" pitchFamily="18" charset="0"/>
                            </a:rPr>
                          </m:ctrlPr>
                        </m:sSubPr>
                        <m:e>
                          <m:r>
                            <a:rPr lang="en-US" altLang="zh-CN" sz="2800" b="0" i="1">
                              <a:solidFill>
                                <a:prstClr val="black"/>
                              </a:solidFill>
                              <a:latin typeface="Cambria Math" panose="02040503050406030204" pitchFamily="18" charset="0"/>
                            </a:rPr>
                            <m:t>𝑞</m:t>
                          </m:r>
                        </m:e>
                        <m:sub>
                          <m:r>
                            <a:rPr lang="en-US" altLang="zh-CN" sz="2800" b="0" i="1">
                              <a:solidFill>
                                <a:prstClr val="black"/>
                              </a:solidFill>
                              <a:latin typeface="Cambria Math" panose="02040503050406030204" pitchFamily="18" charset="0"/>
                            </a:rPr>
                            <m:t>1</m:t>
                          </m:r>
                        </m:sub>
                      </m:sSub>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𝜑</m:t>
                          </m:r>
                        </m:e>
                        <m:sub>
                          <m:r>
                            <a:rPr lang="en-US" altLang="zh-CN" sz="2800" b="0" i="1">
                              <a:solidFill>
                                <a:prstClr val="black"/>
                              </a:solidFill>
                              <a:latin typeface="Cambria Math" panose="02040503050406030204" pitchFamily="18" charset="0"/>
                            </a:rPr>
                            <m:t>1</m:t>
                          </m:r>
                        </m:sub>
                      </m:sSub>
                    </m:oMath>
                  </m:oMathPara>
                </a14:m>
                <a:endParaRPr lang="en-US" sz="2800" dirty="0"/>
              </a:p>
            </p:txBody>
          </p:sp>
        </mc:Choice>
        <mc:Fallback xmlns="">
          <p:sp>
            <p:nvSpPr>
              <p:cNvPr id="13" name="矩形 12">
                <a:extLst>
                  <a:ext uri="{FF2B5EF4-FFF2-40B4-BE49-F238E27FC236}">
                    <a16:creationId xmlns:a16="http://schemas.microsoft.com/office/drawing/2014/main" id="{FA2E03DE-43D3-40EE-B779-9954FF9C84CC}"/>
                  </a:ext>
                </a:extLst>
              </p:cNvPr>
              <p:cNvSpPr>
                <a:spLocks noRot="1" noChangeAspect="1" noMove="1" noResize="1" noEditPoints="1" noAdjustHandles="1" noChangeArrowheads="1" noChangeShapeType="1" noTextEdit="1"/>
              </p:cNvSpPr>
              <p:nvPr/>
            </p:nvSpPr>
            <p:spPr>
              <a:xfrm>
                <a:off x="3807887" y="3444750"/>
                <a:ext cx="1390317" cy="600164"/>
              </a:xfrm>
              <a:prstGeom prst="rect">
                <a:avLst/>
              </a:prstGeom>
              <a:blipFill>
                <a:blip r:embed="rId7"/>
                <a:stretch>
                  <a:fillRect/>
                </a:stretch>
              </a:blipFill>
            </p:spPr>
            <p:txBody>
              <a:bodyPr/>
              <a:lstStyle/>
              <a:p>
                <a:r>
                  <a:rPr lang="en-US">
                    <a:noFill/>
                  </a:rPr>
                  <a:t> </a:t>
                </a:r>
              </a:p>
            </p:txBody>
          </p:sp>
        </mc:Fallback>
      </mc:AlternateContent>
      <p:grpSp>
        <p:nvGrpSpPr>
          <p:cNvPr id="12" name="Group 4">
            <a:extLst>
              <a:ext uri="{FF2B5EF4-FFF2-40B4-BE49-F238E27FC236}">
                <a16:creationId xmlns:a16="http://schemas.microsoft.com/office/drawing/2014/main" id="{B69CCDFB-CE47-4743-A05C-497EA6388378}"/>
              </a:ext>
            </a:extLst>
          </p:cNvPr>
          <p:cNvGrpSpPr>
            <a:grpSpLocks/>
          </p:cNvGrpSpPr>
          <p:nvPr/>
        </p:nvGrpSpPr>
        <p:grpSpPr bwMode="auto">
          <a:xfrm>
            <a:off x="8308405" y="1227689"/>
            <a:ext cx="2484438" cy="1524000"/>
            <a:chOff x="4155" y="764"/>
            <a:chExt cx="1565" cy="960"/>
          </a:xfrm>
        </p:grpSpPr>
        <p:sp>
          <p:nvSpPr>
            <p:cNvPr id="15" name="Rectangle 5">
              <a:extLst>
                <a:ext uri="{FF2B5EF4-FFF2-40B4-BE49-F238E27FC236}">
                  <a16:creationId xmlns:a16="http://schemas.microsoft.com/office/drawing/2014/main" id="{944020A8-45D3-4F10-9358-8A0E7F9F068B}"/>
                </a:ext>
              </a:extLst>
            </p:cNvPr>
            <p:cNvSpPr>
              <a:spLocks noChangeArrowheads="1"/>
            </p:cNvSpPr>
            <p:nvPr/>
          </p:nvSpPr>
          <p:spPr bwMode="auto">
            <a:xfrm>
              <a:off x="4155" y="764"/>
              <a:ext cx="156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2800" b="1" dirty="0">
                  <a:solidFill>
                    <a:srgbClr val="0066FF"/>
                  </a:solidFill>
                  <a:latin typeface="+mn-lt"/>
                  <a:ea typeface="+mn-ea"/>
                </a:rPr>
                <a:t>两个</a:t>
              </a:r>
              <a:r>
                <a:rPr lang="zh-CN" altLang="en-US" sz="2800" b="1" dirty="0">
                  <a:solidFill>
                    <a:srgbClr val="0066FF"/>
                  </a:solidFill>
                  <a:latin typeface="华文楷体" panose="02010600040101010101" pitchFamily="2" charset="-122"/>
                  <a:ea typeface="华文楷体" panose="02010600040101010101" pitchFamily="2" charset="-122"/>
                </a:rPr>
                <a:t>点</a:t>
              </a:r>
              <a:r>
                <a:rPr lang="zh-CN" altLang="en-US" sz="2800" b="1" dirty="0">
                  <a:solidFill>
                    <a:srgbClr val="0066FF"/>
                  </a:solidFill>
                  <a:latin typeface="+mn-lt"/>
                  <a:ea typeface="+mn-ea"/>
                </a:rPr>
                <a:t>电荷</a:t>
              </a:r>
              <a:endParaRPr lang="en-US" altLang="zh-CN" sz="2800" b="1" dirty="0">
                <a:solidFill>
                  <a:srgbClr val="0066FF"/>
                </a:solidFill>
                <a:latin typeface="+mn-lt"/>
                <a:ea typeface="+mn-ea"/>
              </a:endParaRPr>
            </a:p>
          </p:txBody>
        </p:sp>
        <p:sp>
          <p:nvSpPr>
            <p:cNvPr id="16" name="Line 6">
              <a:extLst>
                <a:ext uri="{FF2B5EF4-FFF2-40B4-BE49-F238E27FC236}">
                  <a16:creationId xmlns:a16="http://schemas.microsoft.com/office/drawing/2014/main" id="{E2F3F229-46F0-4296-9389-FB27509D73CB}"/>
                </a:ext>
              </a:extLst>
            </p:cNvPr>
            <p:cNvSpPr>
              <a:spLocks noChangeShapeType="1"/>
            </p:cNvSpPr>
            <p:nvPr/>
          </p:nvSpPr>
          <p:spPr bwMode="auto">
            <a:xfrm>
              <a:off x="4368" y="1248"/>
              <a:ext cx="864"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p>
          </p:txBody>
        </p:sp>
        <p:sp>
          <p:nvSpPr>
            <p:cNvPr id="17" name="Oval 7">
              <a:extLst>
                <a:ext uri="{FF2B5EF4-FFF2-40B4-BE49-F238E27FC236}">
                  <a16:creationId xmlns:a16="http://schemas.microsoft.com/office/drawing/2014/main" id="{409F417D-1A5B-4C2B-BF94-95B7F02C698A}"/>
                </a:ext>
              </a:extLst>
            </p:cNvPr>
            <p:cNvSpPr>
              <a:spLocks noChangeArrowheads="1"/>
            </p:cNvSpPr>
            <p:nvPr/>
          </p:nvSpPr>
          <p:spPr bwMode="auto">
            <a:xfrm>
              <a:off x="4356" y="1252"/>
              <a:ext cx="56" cy="4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sz="2800">
                <a:latin typeface="+mn-lt"/>
                <a:ea typeface="+mn-ea"/>
              </a:endParaRPr>
            </a:p>
          </p:txBody>
        </p:sp>
        <p:sp>
          <p:nvSpPr>
            <p:cNvPr id="18" name="Oval 8">
              <a:extLst>
                <a:ext uri="{FF2B5EF4-FFF2-40B4-BE49-F238E27FC236}">
                  <a16:creationId xmlns:a16="http://schemas.microsoft.com/office/drawing/2014/main" id="{2D5CF65C-60DE-471F-9D6E-84B519F48CEB}"/>
                </a:ext>
              </a:extLst>
            </p:cNvPr>
            <p:cNvSpPr>
              <a:spLocks noChangeArrowheads="1"/>
            </p:cNvSpPr>
            <p:nvPr/>
          </p:nvSpPr>
          <p:spPr bwMode="auto">
            <a:xfrm>
              <a:off x="5236" y="1252"/>
              <a:ext cx="40" cy="4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sz="2800">
                <a:latin typeface="+mn-lt"/>
                <a:ea typeface="+mn-ea"/>
              </a:endParaRPr>
            </a:p>
          </p:txBody>
        </p:sp>
        <p:graphicFrame>
          <p:nvGraphicFramePr>
            <p:cNvPr id="19" name="Object 9">
              <a:extLst>
                <a:ext uri="{FF2B5EF4-FFF2-40B4-BE49-F238E27FC236}">
                  <a16:creationId xmlns:a16="http://schemas.microsoft.com/office/drawing/2014/main" id="{DFF3B833-9E1E-4974-B86F-0D99962C32AC}"/>
                </a:ext>
              </a:extLst>
            </p:cNvPr>
            <p:cNvGraphicFramePr>
              <a:graphicFrameLocks/>
            </p:cNvGraphicFramePr>
            <p:nvPr/>
          </p:nvGraphicFramePr>
          <p:xfrm>
            <a:off x="4239" y="1292"/>
            <a:ext cx="1248" cy="432"/>
          </p:xfrm>
          <a:graphic>
            <a:graphicData uri="http://schemas.openxmlformats.org/presentationml/2006/ole">
              <mc:AlternateContent xmlns:mc="http://schemas.openxmlformats.org/markup-compatibility/2006">
                <mc:Choice xmlns:v="urn:schemas-microsoft-com:vml" Requires="v">
                  <p:oleObj spid="_x0000_s1034" name="公式" r:id="rId8" imgW="609600" imgH="228600" progId="Equation.3">
                    <p:embed/>
                  </p:oleObj>
                </mc:Choice>
                <mc:Fallback>
                  <p:oleObj name="公式" r:id="rId8" imgW="609600" imgH="228600" progId="Equation.3">
                    <p:embed/>
                    <p:pic>
                      <p:nvPicPr>
                        <p:cNvPr id="19" name="Object 9">
                          <a:extLst>
                            <a:ext uri="{FF2B5EF4-FFF2-40B4-BE49-F238E27FC236}">
                              <a16:creationId xmlns:a16="http://schemas.microsoft.com/office/drawing/2014/main" id="{DFF3B833-9E1E-4974-B86F-0D99962C32AC}"/>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39" y="1292"/>
                          <a:ext cx="1248"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87D129B1-36A3-44B4-963C-D83FD73A90C3}"/>
                  </a:ext>
                </a:extLst>
              </p:cNvPr>
              <p:cNvSpPr/>
              <p:nvPr/>
            </p:nvSpPr>
            <p:spPr>
              <a:xfrm>
                <a:off x="9768296" y="2750224"/>
                <a:ext cx="68525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𝜑</m:t>
                          </m:r>
                        </m:e>
                        <m:sub>
                          <m:r>
                            <a:rPr lang="en-US" altLang="zh-CN" sz="2800" b="0" i="1">
                              <a:solidFill>
                                <a:prstClr val="black"/>
                              </a:solidFill>
                              <a:latin typeface="Cambria Math" panose="02040503050406030204" pitchFamily="18" charset="0"/>
                            </a:rPr>
                            <m:t>2</m:t>
                          </m:r>
                        </m:sub>
                      </m:sSub>
                    </m:oMath>
                  </m:oMathPara>
                </a14:m>
                <a:endParaRPr lang="en-US" sz="2800" dirty="0"/>
              </a:p>
            </p:txBody>
          </p:sp>
        </mc:Choice>
        <mc:Fallback xmlns="">
          <p:sp>
            <p:nvSpPr>
              <p:cNvPr id="21" name="矩形 20">
                <a:extLst>
                  <a:ext uri="{FF2B5EF4-FFF2-40B4-BE49-F238E27FC236}">
                    <a16:creationId xmlns:a16="http://schemas.microsoft.com/office/drawing/2014/main" id="{87D129B1-36A3-44B4-963C-D83FD73A90C3}"/>
                  </a:ext>
                </a:extLst>
              </p:cNvPr>
              <p:cNvSpPr>
                <a:spLocks noRot="1" noChangeAspect="1" noMove="1" noResize="1" noEditPoints="1" noAdjustHandles="1" noChangeArrowheads="1" noChangeShapeType="1" noTextEdit="1"/>
              </p:cNvSpPr>
              <p:nvPr/>
            </p:nvSpPr>
            <p:spPr>
              <a:xfrm>
                <a:off x="9768296" y="2750224"/>
                <a:ext cx="685252"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44419152-73F4-483B-8356-8DB7C42BB135}"/>
                  </a:ext>
                </a:extLst>
              </p:cNvPr>
              <p:cNvSpPr/>
              <p:nvPr/>
            </p:nvSpPr>
            <p:spPr>
              <a:xfrm>
                <a:off x="8452571" y="2751689"/>
                <a:ext cx="67698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𝜑</m:t>
                          </m:r>
                        </m:e>
                        <m:sub>
                          <m:r>
                            <a:rPr lang="en-US" altLang="zh-CN" sz="2800" b="0" i="1" smtClean="0">
                              <a:solidFill>
                                <a:prstClr val="black"/>
                              </a:solidFill>
                              <a:latin typeface="Cambria Math" panose="02040503050406030204" pitchFamily="18" charset="0"/>
                            </a:rPr>
                            <m:t>1</m:t>
                          </m:r>
                        </m:sub>
                      </m:sSub>
                    </m:oMath>
                  </m:oMathPara>
                </a14:m>
                <a:endParaRPr lang="en-US" sz="2800" dirty="0"/>
              </a:p>
            </p:txBody>
          </p:sp>
        </mc:Choice>
        <mc:Fallback xmlns="">
          <p:sp>
            <p:nvSpPr>
              <p:cNvPr id="22" name="矩形 21">
                <a:extLst>
                  <a:ext uri="{FF2B5EF4-FFF2-40B4-BE49-F238E27FC236}">
                    <a16:creationId xmlns:a16="http://schemas.microsoft.com/office/drawing/2014/main" id="{44419152-73F4-483B-8356-8DB7C42BB135}"/>
                  </a:ext>
                </a:extLst>
              </p:cNvPr>
              <p:cNvSpPr>
                <a:spLocks noRot="1" noChangeAspect="1" noMove="1" noResize="1" noEditPoints="1" noAdjustHandles="1" noChangeArrowheads="1" noChangeShapeType="1" noTextEdit="1"/>
              </p:cNvSpPr>
              <p:nvPr/>
            </p:nvSpPr>
            <p:spPr>
              <a:xfrm>
                <a:off x="8452571" y="2751689"/>
                <a:ext cx="676980" cy="523220"/>
              </a:xfrm>
              <a:prstGeom prst="rect">
                <a:avLst/>
              </a:prstGeom>
              <a:blipFill>
                <a:blip r:embed="rId11"/>
                <a:stretch>
                  <a:fillRect/>
                </a:stretch>
              </a:blipFill>
            </p:spPr>
            <p:txBody>
              <a:bodyPr/>
              <a:lstStyle/>
              <a:p>
                <a:r>
                  <a:rPr lang="en-US">
                    <a:noFill/>
                  </a:rPr>
                  <a:t> </a:t>
                </a:r>
              </a:p>
            </p:txBody>
          </p:sp>
        </mc:Fallback>
      </mc:AlternateContent>
      <p:grpSp>
        <p:nvGrpSpPr>
          <p:cNvPr id="23" name="Group 10">
            <a:extLst>
              <a:ext uri="{FF2B5EF4-FFF2-40B4-BE49-F238E27FC236}">
                <a16:creationId xmlns:a16="http://schemas.microsoft.com/office/drawing/2014/main" id="{D7AF5FB4-A490-41B7-975B-BBEAEB12585C}"/>
              </a:ext>
            </a:extLst>
          </p:cNvPr>
          <p:cNvGrpSpPr>
            <a:grpSpLocks/>
          </p:cNvGrpSpPr>
          <p:nvPr/>
        </p:nvGrpSpPr>
        <p:grpSpPr bwMode="auto">
          <a:xfrm>
            <a:off x="757921" y="4167222"/>
            <a:ext cx="5219700" cy="628649"/>
            <a:chOff x="312" y="1008"/>
            <a:chExt cx="3288" cy="396"/>
          </a:xfrm>
        </p:grpSpPr>
        <p:sp>
          <p:nvSpPr>
            <p:cNvPr id="24" name="Rectangle 11">
              <a:extLst>
                <a:ext uri="{FF2B5EF4-FFF2-40B4-BE49-F238E27FC236}">
                  <a16:creationId xmlns:a16="http://schemas.microsoft.com/office/drawing/2014/main" id="{C911422A-732D-4CAB-B1A5-585D324DB1F8}"/>
                </a:ext>
              </a:extLst>
            </p:cNvPr>
            <p:cNvSpPr>
              <a:spLocks noChangeArrowheads="1"/>
            </p:cNvSpPr>
            <p:nvPr/>
          </p:nvSpPr>
          <p:spPr bwMode="auto">
            <a:xfrm>
              <a:off x="312" y="1074"/>
              <a:ext cx="76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2800" dirty="0">
                  <a:solidFill>
                    <a:schemeClr val="tx1"/>
                  </a:solidFill>
                  <a:latin typeface="华文楷体" panose="02010600040101010101" pitchFamily="2" charset="-122"/>
                  <a:ea typeface="华文楷体" panose="02010600040101010101" pitchFamily="2" charset="-122"/>
                </a:rPr>
                <a:t>假设</a:t>
              </a:r>
            </a:p>
          </p:txBody>
        </p:sp>
        <p:graphicFrame>
          <p:nvGraphicFramePr>
            <p:cNvPr id="25" name="Object 12">
              <a:extLst>
                <a:ext uri="{FF2B5EF4-FFF2-40B4-BE49-F238E27FC236}">
                  <a16:creationId xmlns:a16="http://schemas.microsoft.com/office/drawing/2014/main" id="{913BA8FC-A71F-4ED0-9126-760BEA53ED17}"/>
                </a:ext>
              </a:extLst>
            </p:cNvPr>
            <p:cNvGraphicFramePr>
              <a:graphicFrameLocks/>
            </p:cNvGraphicFramePr>
            <p:nvPr/>
          </p:nvGraphicFramePr>
          <p:xfrm>
            <a:off x="816" y="1008"/>
            <a:ext cx="624" cy="383"/>
          </p:xfrm>
          <a:graphic>
            <a:graphicData uri="http://schemas.openxmlformats.org/presentationml/2006/ole">
              <mc:AlternateContent xmlns:mc="http://schemas.openxmlformats.org/markup-compatibility/2006">
                <mc:Choice xmlns:v="urn:schemas-microsoft-com:vml" Requires="v">
                  <p:oleObj spid="_x0000_s1035" name="公式" r:id="rId12" imgW="330057" imgH="203112" progId="Equation.3">
                    <p:embed/>
                  </p:oleObj>
                </mc:Choice>
                <mc:Fallback>
                  <p:oleObj name="公式" r:id="rId12" imgW="330057" imgH="203112" progId="Equation.3">
                    <p:embed/>
                    <p:pic>
                      <p:nvPicPr>
                        <p:cNvPr id="25" name="Object 12">
                          <a:extLst>
                            <a:ext uri="{FF2B5EF4-FFF2-40B4-BE49-F238E27FC236}">
                              <a16:creationId xmlns:a16="http://schemas.microsoft.com/office/drawing/2014/main" id="{913BA8FC-A71F-4ED0-9126-760BEA53ED17}"/>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6" y="1008"/>
                          <a:ext cx="624" cy="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 name="Rectangle 13">
              <a:extLst>
                <a:ext uri="{FF2B5EF4-FFF2-40B4-BE49-F238E27FC236}">
                  <a16:creationId xmlns:a16="http://schemas.microsoft.com/office/drawing/2014/main" id="{76150F64-C592-4F0E-8A0B-B430F4C662C9}"/>
                </a:ext>
              </a:extLst>
            </p:cNvPr>
            <p:cNvSpPr>
              <a:spLocks noChangeArrowheads="1"/>
            </p:cNvSpPr>
            <p:nvPr/>
          </p:nvSpPr>
          <p:spPr bwMode="auto">
            <a:xfrm>
              <a:off x="1344" y="1056"/>
              <a:ext cx="225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2800" dirty="0">
                  <a:solidFill>
                    <a:schemeClr val="tx1"/>
                  </a:solidFill>
                  <a:latin typeface="华文楷体" panose="02010600040101010101" pitchFamily="2" charset="-122"/>
                  <a:ea typeface="华文楷体" panose="02010600040101010101" pitchFamily="2" charset="-122"/>
                </a:rPr>
                <a:t>初始时相距无限远</a:t>
              </a:r>
            </a:p>
          </p:txBody>
        </p:sp>
      </p:grpSp>
      <p:grpSp>
        <p:nvGrpSpPr>
          <p:cNvPr id="36" name="组合 35">
            <a:extLst>
              <a:ext uri="{FF2B5EF4-FFF2-40B4-BE49-F238E27FC236}">
                <a16:creationId xmlns:a16="http://schemas.microsoft.com/office/drawing/2014/main" id="{F860D1A1-A142-4EE1-BD1F-2FCB81D74B1A}"/>
              </a:ext>
            </a:extLst>
          </p:cNvPr>
          <p:cNvGrpSpPr/>
          <p:nvPr/>
        </p:nvGrpSpPr>
        <p:grpSpPr>
          <a:xfrm>
            <a:off x="627058" y="4892087"/>
            <a:ext cx="10502900" cy="676075"/>
            <a:chOff x="672769" y="5207180"/>
            <a:chExt cx="10502900" cy="676075"/>
          </a:xfrm>
        </p:grpSpPr>
        <p:grpSp>
          <p:nvGrpSpPr>
            <p:cNvPr id="27" name="Group 19">
              <a:extLst>
                <a:ext uri="{FF2B5EF4-FFF2-40B4-BE49-F238E27FC236}">
                  <a16:creationId xmlns:a16="http://schemas.microsoft.com/office/drawing/2014/main" id="{21EE00D8-8996-4449-80CF-FBA71248E018}"/>
                </a:ext>
              </a:extLst>
            </p:cNvPr>
            <p:cNvGrpSpPr>
              <a:grpSpLocks/>
            </p:cNvGrpSpPr>
            <p:nvPr/>
          </p:nvGrpSpPr>
          <p:grpSpPr bwMode="auto">
            <a:xfrm>
              <a:off x="672769" y="5207180"/>
              <a:ext cx="2436812" cy="623888"/>
              <a:chOff x="288" y="1761"/>
              <a:chExt cx="1599" cy="393"/>
            </a:xfrm>
          </p:grpSpPr>
          <p:sp>
            <p:nvSpPr>
              <p:cNvPr id="28" name="Rectangle 20">
                <a:extLst>
                  <a:ext uri="{FF2B5EF4-FFF2-40B4-BE49-F238E27FC236}">
                    <a16:creationId xmlns:a16="http://schemas.microsoft.com/office/drawing/2014/main" id="{1EC0B3E2-0784-4C73-840E-F59810BAFCB8}"/>
                  </a:ext>
                </a:extLst>
              </p:cNvPr>
              <p:cNvSpPr>
                <a:spLocks noChangeArrowheads="1"/>
              </p:cNvSpPr>
              <p:nvPr/>
            </p:nvSpPr>
            <p:spPr bwMode="auto">
              <a:xfrm>
                <a:off x="288" y="1824"/>
                <a:ext cx="1599"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2800" dirty="0">
                    <a:solidFill>
                      <a:schemeClr val="tx1"/>
                    </a:solidFill>
                    <a:latin typeface="华文楷体" panose="02010600040101010101" pitchFamily="2" charset="-122"/>
                    <a:ea typeface="华文楷体" panose="02010600040101010101" pitchFamily="2" charset="-122"/>
                  </a:rPr>
                  <a:t>把</a:t>
                </a:r>
              </a:p>
            </p:txBody>
          </p:sp>
          <p:graphicFrame>
            <p:nvGraphicFramePr>
              <p:cNvPr id="29" name="Object 21">
                <a:extLst>
                  <a:ext uri="{FF2B5EF4-FFF2-40B4-BE49-F238E27FC236}">
                    <a16:creationId xmlns:a16="http://schemas.microsoft.com/office/drawing/2014/main" id="{49C2D904-0D5A-47D0-9AAC-2DF86F15B445}"/>
                  </a:ext>
                </a:extLst>
              </p:cNvPr>
              <p:cNvGraphicFramePr>
                <a:graphicFrameLocks/>
              </p:cNvGraphicFramePr>
              <p:nvPr/>
            </p:nvGraphicFramePr>
            <p:xfrm>
              <a:off x="598" y="1761"/>
              <a:ext cx="333" cy="384"/>
            </p:xfrm>
            <a:graphic>
              <a:graphicData uri="http://schemas.openxmlformats.org/presentationml/2006/ole">
                <mc:AlternateContent xmlns:mc="http://schemas.openxmlformats.org/markup-compatibility/2006">
                  <mc:Choice xmlns:v="urn:schemas-microsoft-com:vml" Requires="v">
                    <p:oleObj spid="_x0000_s1036" name="公式" r:id="rId14" imgW="177569" imgH="202936" progId="Equation.3">
                      <p:embed/>
                    </p:oleObj>
                  </mc:Choice>
                  <mc:Fallback>
                    <p:oleObj name="公式" r:id="rId14" imgW="177569" imgH="202936" progId="Equation.3">
                      <p:embed/>
                      <p:pic>
                        <p:nvPicPr>
                          <p:cNvPr id="29" name="Object 21">
                            <a:extLst>
                              <a:ext uri="{FF2B5EF4-FFF2-40B4-BE49-F238E27FC236}">
                                <a16:creationId xmlns:a16="http://schemas.microsoft.com/office/drawing/2014/main" id="{49C2D904-0D5A-47D0-9AAC-2DF86F15B445}"/>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98" y="1761"/>
                            <a:ext cx="33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0" name="Group 22">
              <a:extLst>
                <a:ext uri="{FF2B5EF4-FFF2-40B4-BE49-F238E27FC236}">
                  <a16:creationId xmlns:a16="http://schemas.microsoft.com/office/drawing/2014/main" id="{569D8FC4-B0B1-4810-A9D5-96E7180AC17A}"/>
                </a:ext>
              </a:extLst>
            </p:cNvPr>
            <p:cNvGrpSpPr>
              <a:grpSpLocks/>
            </p:cNvGrpSpPr>
            <p:nvPr/>
          </p:nvGrpSpPr>
          <p:grpSpPr bwMode="auto">
            <a:xfrm>
              <a:off x="1549069" y="5276830"/>
              <a:ext cx="9626600" cy="606425"/>
              <a:chOff x="1968" y="1772"/>
              <a:chExt cx="6064" cy="382"/>
            </a:xfrm>
          </p:grpSpPr>
          <p:sp>
            <p:nvSpPr>
              <p:cNvPr id="31" name="Rectangle 23">
                <a:extLst>
                  <a:ext uri="{FF2B5EF4-FFF2-40B4-BE49-F238E27FC236}">
                    <a16:creationId xmlns:a16="http://schemas.microsoft.com/office/drawing/2014/main" id="{39D04A69-C916-4386-B1C5-2BCE3C9906C3}"/>
                  </a:ext>
                </a:extLst>
              </p:cNvPr>
              <p:cNvSpPr>
                <a:spLocks noChangeArrowheads="1"/>
              </p:cNvSpPr>
              <p:nvPr/>
            </p:nvSpPr>
            <p:spPr bwMode="auto">
              <a:xfrm>
                <a:off x="1968" y="1824"/>
                <a:ext cx="606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2800" dirty="0">
                    <a:solidFill>
                      <a:schemeClr val="tx1"/>
                    </a:solidFill>
                    <a:latin typeface="华文楷体" panose="02010600040101010101" pitchFamily="2" charset="-122"/>
                    <a:ea typeface="华文楷体" panose="02010600040101010101" pitchFamily="2" charset="-122"/>
                  </a:rPr>
                  <a:t>从无限远移到相距</a:t>
                </a:r>
                <a:r>
                  <a:rPr lang="en-US" altLang="zh-CN" sz="2800" dirty="0">
                    <a:solidFill>
                      <a:schemeClr val="tx1"/>
                    </a:solidFill>
                    <a:latin typeface="华文楷体" panose="02010600040101010101" pitchFamily="2" charset="-122"/>
                    <a:ea typeface="华文楷体" panose="02010600040101010101" pitchFamily="2" charset="-122"/>
                  </a:rPr>
                  <a:t>r</a:t>
                </a:r>
                <a:r>
                  <a:rPr lang="zh-CN" altLang="en-US" sz="2800" dirty="0">
                    <a:solidFill>
                      <a:schemeClr val="tx1"/>
                    </a:solidFill>
                    <a:latin typeface="华文楷体" panose="02010600040101010101" pitchFamily="2" charset="-122"/>
                    <a:ea typeface="华文楷体" panose="02010600040101010101" pitchFamily="2" charset="-122"/>
                  </a:rPr>
                  <a:t>的位置，外力克服</a:t>
                </a:r>
              </a:p>
            </p:txBody>
          </p:sp>
          <p:graphicFrame>
            <p:nvGraphicFramePr>
              <p:cNvPr id="32" name="Object 24">
                <a:extLst>
                  <a:ext uri="{FF2B5EF4-FFF2-40B4-BE49-F238E27FC236}">
                    <a16:creationId xmlns:a16="http://schemas.microsoft.com/office/drawing/2014/main" id="{68A80BBF-E154-4F20-80E4-25F59EE4301B}"/>
                  </a:ext>
                </a:extLst>
              </p:cNvPr>
              <p:cNvGraphicFramePr>
                <a:graphicFrameLocks/>
              </p:cNvGraphicFramePr>
              <p:nvPr/>
            </p:nvGraphicFramePr>
            <p:xfrm>
              <a:off x="5692" y="1772"/>
              <a:ext cx="263" cy="349"/>
            </p:xfrm>
            <a:graphic>
              <a:graphicData uri="http://schemas.openxmlformats.org/presentationml/2006/ole">
                <mc:AlternateContent xmlns:mc="http://schemas.openxmlformats.org/markup-compatibility/2006">
                  <mc:Choice xmlns:v="urn:schemas-microsoft-com:vml" Requires="v">
                    <p:oleObj spid="_x0000_s1037" name="公式" r:id="rId16" imgW="164957" imgH="203024" progId="Equation.3">
                      <p:embed/>
                    </p:oleObj>
                  </mc:Choice>
                  <mc:Fallback>
                    <p:oleObj name="公式" r:id="rId16" imgW="164957" imgH="203024" progId="Equation.3">
                      <p:embed/>
                      <p:pic>
                        <p:nvPicPr>
                          <p:cNvPr id="32" name="Object 24">
                            <a:extLst>
                              <a:ext uri="{FF2B5EF4-FFF2-40B4-BE49-F238E27FC236}">
                                <a16:creationId xmlns:a16="http://schemas.microsoft.com/office/drawing/2014/main" id="{68A80BBF-E154-4F20-80E4-25F59EE4301B}"/>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692" y="1772"/>
                            <a:ext cx="26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 name="Rectangle 25">
                <a:extLst>
                  <a:ext uri="{FF2B5EF4-FFF2-40B4-BE49-F238E27FC236}">
                    <a16:creationId xmlns:a16="http://schemas.microsoft.com/office/drawing/2014/main" id="{DDACDB80-05C4-47B6-A2CE-D5DBF2BCFF93}"/>
                  </a:ext>
                </a:extLst>
              </p:cNvPr>
              <p:cNvSpPr>
                <a:spLocks noChangeArrowheads="1"/>
              </p:cNvSpPr>
              <p:nvPr/>
            </p:nvSpPr>
            <p:spPr bwMode="auto">
              <a:xfrm>
                <a:off x="5890" y="1824"/>
                <a:ext cx="153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2800" dirty="0">
                    <a:solidFill>
                      <a:srgbClr val="0066FF"/>
                    </a:solidFill>
                    <a:latin typeface="华文楷体" panose="02010600040101010101" pitchFamily="2" charset="-122"/>
                    <a:ea typeface="华文楷体" panose="02010600040101010101" pitchFamily="2" charset="-122"/>
                  </a:rPr>
                  <a:t>的电场作功</a:t>
                </a:r>
              </a:p>
            </p:txBody>
          </p:sp>
        </p:grpSp>
      </p:grpSp>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D8CD1D89-6309-43DF-B4B4-8B0E0615EA29}"/>
                  </a:ext>
                </a:extLst>
              </p:cNvPr>
              <p:cNvSpPr/>
              <p:nvPr/>
            </p:nvSpPr>
            <p:spPr>
              <a:xfrm>
                <a:off x="2948933" y="5737348"/>
                <a:ext cx="2674578" cy="523220"/>
              </a:xfrm>
              <a:prstGeom prst="rect">
                <a:avLst/>
              </a:prstGeom>
            </p:spPr>
            <p:txBody>
              <a:bodyPr wrap="none">
                <a:spAutoFit/>
              </a:bodyPr>
              <a:lstStyle/>
              <a:p>
                <a:r>
                  <a:rPr lang="en-US" altLang="zh-CN" sz="2800" i="1" dirty="0">
                    <a:solidFill>
                      <a:schemeClr val="tx1"/>
                    </a:solidFill>
                  </a:rPr>
                  <a:t>W</a:t>
                </a:r>
                <a14:m>
                  <m:oMath xmlns:m="http://schemas.openxmlformats.org/officeDocument/2006/math">
                    <m:r>
                      <a:rPr lang="ar-AE" altLang="zh-CN" sz="2800" b="0" i="1">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𝐴</m:t>
                    </m:r>
                    <m:r>
                      <a:rPr lang="en-US" altLang="zh-CN" sz="2800" b="0" i="1" smtClean="0">
                        <a:solidFill>
                          <a:schemeClr val="tx1"/>
                        </a:solidFill>
                        <a:latin typeface="Cambria Math" panose="02040503050406030204" pitchFamily="18" charset="0"/>
                      </a:rPr>
                      <m:t>=</m:t>
                    </m:r>
                    <m:sSub>
                      <m:sSubPr>
                        <m:ctrlPr>
                          <a:rPr lang="ar-AE" altLang="zh-CN" sz="2800" i="1">
                            <a:solidFill>
                              <a:schemeClr val="tx1"/>
                            </a:solidFill>
                            <a:latin typeface="Cambria Math" panose="02040503050406030204" pitchFamily="18" charset="0"/>
                          </a:rPr>
                        </m:ctrlPr>
                      </m:sSubPr>
                      <m:e>
                        <m:r>
                          <a:rPr lang="zh-CN" altLang="ar-AE" sz="2800" b="0" i="1">
                            <a:solidFill>
                              <a:schemeClr val="tx1"/>
                            </a:solidFill>
                            <a:latin typeface="Cambria Math" panose="02040503050406030204" pitchFamily="18" charset="0"/>
                          </a:rPr>
                          <m:t>𝑞</m:t>
                        </m:r>
                      </m:e>
                      <m:sub>
                        <m:r>
                          <a:rPr lang="zh-CN" altLang="ar-AE" sz="2800" b="0" i="1">
                            <a:solidFill>
                              <a:schemeClr val="tx1"/>
                            </a:solidFill>
                            <a:latin typeface="Cambria Math" panose="02040503050406030204" pitchFamily="18" charset="0"/>
                          </a:rPr>
                          <m:t>2</m:t>
                        </m:r>
                      </m:sub>
                    </m:sSub>
                    <m:sSub>
                      <m:sSubPr>
                        <m:ctrlPr>
                          <a:rPr lang="ar-AE" altLang="zh-CN" sz="2800" i="1">
                            <a:solidFill>
                              <a:schemeClr val="tx1"/>
                            </a:solidFill>
                            <a:latin typeface="Cambria Math" panose="02040503050406030204" pitchFamily="18" charset="0"/>
                          </a:rPr>
                        </m:ctrlPr>
                      </m:sSubPr>
                      <m:e>
                        <m:r>
                          <a:rPr lang="zh-CN" altLang="ar-AE" sz="2800" b="0" i="1">
                            <a:solidFill>
                              <a:schemeClr val="tx1"/>
                            </a:solidFill>
                            <a:latin typeface="Cambria Math" panose="02040503050406030204" pitchFamily="18" charset="0"/>
                          </a:rPr>
                          <m:t>𝜑</m:t>
                        </m:r>
                      </m:e>
                      <m:sub>
                        <m:r>
                          <a:rPr lang="zh-CN" altLang="ar-AE" sz="2800" b="0" i="1">
                            <a:solidFill>
                              <a:schemeClr val="tx1"/>
                            </a:solidFill>
                            <a:latin typeface="Cambria Math" panose="02040503050406030204" pitchFamily="18" charset="0"/>
                          </a:rPr>
                          <m:t>2</m:t>
                        </m:r>
                      </m:sub>
                    </m:sSub>
                  </m:oMath>
                </a14:m>
                <a:endParaRPr lang="ar-AE" sz="2800" dirty="0">
                  <a:solidFill>
                    <a:schemeClr val="tx1"/>
                  </a:solidFill>
                </a:endParaRPr>
              </a:p>
            </p:txBody>
          </p:sp>
        </mc:Choice>
        <mc:Fallback xmlns="">
          <p:sp>
            <p:nvSpPr>
              <p:cNvPr id="37" name="矩形 36">
                <a:extLst>
                  <a:ext uri="{FF2B5EF4-FFF2-40B4-BE49-F238E27FC236}">
                    <a16:creationId xmlns:a16="http://schemas.microsoft.com/office/drawing/2014/main" id="{D8CD1D89-6309-43DF-B4B4-8B0E0615EA29}"/>
                  </a:ext>
                </a:extLst>
              </p:cNvPr>
              <p:cNvSpPr>
                <a:spLocks noRot="1" noChangeAspect="1" noMove="1" noResize="1" noEditPoints="1" noAdjustHandles="1" noChangeArrowheads="1" noChangeShapeType="1" noTextEdit="1"/>
              </p:cNvSpPr>
              <p:nvPr/>
            </p:nvSpPr>
            <p:spPr>
              <a:xfrm>
                <a:off x="2948933" y="5737348"/>
                <a:ext cx="2674578" cy="523220"/>
              </a:xfrm>
              <a:prstGeom prst="rect">
                <a:avLst/>
              </a:prstGeom>
              <a:blipFill>
                <a:blip r:embed="rId18"/>
                <a:stretch>
                  <a:fillRect l="-4795" t="-11628" b="-313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0006947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p:bldP spid="13" grpId="0"/>
      <p:bldP spid="21" grpId="0"/>
      <p:bldP spid="22" grpId="0"/>
      <p:bldP spid="3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8981E72-3BF1-4E8F-AB69-E3F25D4BDB18}"/>
              </a:ext>
            </a:extLst>
          </p:cNvPr>
          <p:cNvSpPr>
            <a:spLocks noGrp="1"/>
          </p:cNvSpPr>
          <p:nvPr>
            <p:ph type="title"/>
          </p:nvPr>
        </p:nvSpPr>
        <p:spPr>
          <a:xfrm>
            <a:off x="965200" y="818093"/>
            <a:ext cx="3958167" cy="748242"/>
          </a:xfrm>
        </p:spPr>
        <p:txBody>
          <a:bodyPr>
            <a:normAutofit/>
          </a:bodyPr>
          <a:lstStyle/>
          <a:p>
            <a:pPr marL="571500" indent="-571500" algn="ctr">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电荷系的静电能</a:t>
            </a:r>
            <a:r>
              <a:rPr lang="en-US" altLang="zh-CN" sz="3200" b="1" dirty="0">
                <a:solidFill>
                  <a:srgbClr val="0066FF"/>
                </a:solidFill>
                <a:latin typeface="华文楷体" panose="02010600040101010101" pitchFamily="2" charset="-122"/>
                <a:ea typeface="华文楷体" panose="02010600040101010101" pitchFamily="2" charset="-122"/>
              </a:rPr>
              <a:t>*</a:t>
            </a:r>
            <a:endParaRPr lang="zh-CN" altLang="en-US" sz="3200" b="1" dirty="0">
              <a:solidFill>
                <a:srgbClr val="0066FF"/>
              </a:solidFill>
              <a:latin typeface="华文楷体" panose="02010600040101010101" pitchFamily="2" charset="-122"/>
              <a:ea typeface="华文楷体" panose="02010600040101010101" pitchFamily="2" charset="-122"/>
            </a:endParaRPr>
          </a:p>
        </p:txBody>
      </p:sp>
      <p:sp>
        <p:nvSpPr>
          <p:cNvPr id="5" name="内容占位符 4">
            <a:extLst>
              <a:ext uri="{FF2B5EF4-FFF2-40B4-BE49-F238E27FC236}">
                <a16:creationId xmlns:a16="http://schemas.microsoft.com/office/drawing/2014/main" id="{D4DE8B54-B892-4291-A768-152257FDD752}"/>
              </a:ext>
            </a:extLst>
          </p:cNvPr>
          <p:cNvSpPr>
            <a:spLocks noGrp="1"/>
          </p:cNvSpPr>
          <p:nvPr>
            <p:ph idx="1"/>
          </p:nvPr>
        </p:nvSpPr>
        <p:spPr>
          <a:xfrm>
            <a:off x="965200" y="1751564"/>
            <a:ext cx="6651114" cy="935179"/>
          </a:xfrm>
        </p:spPr>
        <p:txBody>
          <a:bodyPr>
            <a:noAutofit/>
          </a:bodyPr>
          <a:lstStyle/>
          <a:p>
            <a:pPr marL="0" indent="0">
              <a:lnSpc>
                <a:spcPct val="100000"/>
              </a:lnSpc>
              <a:spcBef>
                <a:spcPts val="600"/>
              </a:spcBef>
              <a:spcAft>
                <a:spcPts val="600"/>
              </a:spcAft>
              <a:buNone/>
            </a:pPr>
            <a:r>
              <a:rPr lang="zh-CN" altLang="en-US" dirty="0">
                <a:solidFill>
                  <a:srgbClr val="000000"/>
                </a:solidFill>
                <a:latin typeface="华文楷体" panose="02010600040101010101" pitchFamily="2" charset="-122"/>
                <a:ea typeface="华文楷体" panose="02010600040101010101" pitchFamily="2" charset="-122"/>
              </a:rPr>
              <a:t>    将电荷系的各电荷从现有位置彼此分散到无限远时，它们之间的静电力所做的功定义为 </a:t>
            </a:r>
            <a:r>
              <a:rPr lang="zh-CN" altLang="en-US" dirty="0">
                <a:solidFill>
                  <a:srgbClr val="0066FF"/>
                </a:solidFill>
                <a:latin typeface="华文楷体" panose="02010600040101010101" pitchFamily="2" charset="-122"/>
                <a:ea typeface="华文楷体" panose="02010600040101010101" pitchFamily="2" charset="-122"/>
              </a:rPr>
              <a:t>电荷系的静电能（亦称互能）</a:t>
            </a:r>
            <a:endParaRPr lang="en-US" altLang="zh-CN" dirty="0">
              <a:solidFill>
                <a:srgbClr val="0066FF"/>
              </a:solidFill>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en-US" altLang="zh-CN" dirty="0">
              <a:latin typeface="华文楷体" panose="02010600040101010101" pitchFamily="2" charset="-122"/>
              <a:ea typeface="华文楷体" panose="02010600040101010101" pitchFamily="2" charset="-122"/>
            </a:endParaRPr>
          </a:p>
          <a:p>
            <a:pPr marL="0" indent="0">
              <a:lnSpc>
                <a:spcPct val="100000"/>
              </a:lnSpc>
              <a:spcBef>
                <a:spcPts val="600"/>
              </a:spcBef>
              <a:spcAft>
                <a:spcPts val="600"/>
              </a:spcAft>
              <a:buNone/>
            </a:pP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29B5971E-8769-4444-BFF0-E848062E8B4D}"/>
                  </a:ext>
                </a:extLst>
              </p:cNvPr>
              <p:cNvSpPr/>
              <p:nvPr/>
            </p:nvSpPr>
            <p:spPr>
              <a:xfrm>
                <a:off x="2636744" y="4270350"/>
                <a:ext cx="4095545" cy="8989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ar-AE" altLang="zh-CN" sz="2800" b="1" i="1" smtClean="0">
                              <a:solidFill>
                                <a:srgbClr val="0066FF"/>
                              </a:solidFill>
                              <a:latin typeface="Cambria Math" panose="02040503050406030204" pitchFamily="18" charset="0"/>
                            </a:rPr>
                          </m:ctrlPr>
                        </m:sSubPr>
                        <m:e>
                          <m:r>
                            <a:rPr lang="zh-CN" altLang="ar-AE" sz="2800" b="1" i="1">
                              <a:solidFill>
                                <a:srgbClr val="0066FF"/>
                              </a:solidFill>
                              <a:latin typeface="Cambria Math" panose="02040503050406030204" pitchFamily="18" charset="0"/>
                            </a:rPr>
                            <m:t>𝑾</m:t>
                          </m:r>
                        </m:e>
                        <m:sub>
                          <m:r>
                            <a:rPr lang="zh-CN" altLang="ar-AE" sz="2800" b="1" i="1" smtClean="0">
                              <a:solidFill>
                                <a:srgbClr val="0066FF"/>
                              </a:solidFill>
                              <a:latin typeface="Cambria Math" panose="02040503050406030204" pitchFamily="18" charset="0"/>
                            </a:rPr>
                            <m:t>𝟏𝟐</m:t>
                          </m:r>
                        </m:sub>
                      </m:sSub>
                      <m:r>
                        <a:rPr lang="ar-AE" altLang="zh-CN" sz="2800" b="1" i="1">
                          <a:solidFill>
                            <a:srgbClr val="0066FF"/>
                          </a:solidFill>
                          <a:latin typeface="Cambria Math" panose="02040503050406030204" pitchFamily="18" charset="0"/>
                        </a:rPr>
                        <m:t>=</m:t>
                      </m:r>
                      <m:f>
                        <m:fPr>
                          <m:ctrlPr>
                            <a:rPr lang="ar-AE" altLang="zh-CN" sz="2800" b="1" i="1">
                              <a:solidFill>
                                <a:srgbClr val="0066FF"/>
                              </a:solidFill>
                              <a:latin typeface="Cambria Math" panose="02040503050406030204" pitchFamily="18" charset="0"/>
                            </a:rPr>
                          </m:ctrlPr>
                        </m:fPr>
                        <m:num>
                          <m:r>
                            <a:rPr lang="zh-CN" altLang="ar-AE" sz="2800" b="1" i="1">
                              <a:solidFill>
                                <a:srgbClr val="0066FF"/>
                              </a:solidFill>
                              <a:latin typeface="Cambria Math" panose="02040503050406030204" pitchFamily="18" charset="0"/>
                            </a:rPr>
                            <m:t>𝟏</m:t>
                          </m:r>
                        </m:num>
                        <m:den>
                          <m:r>
                            <a:rPr lang="zh-CN" altLang="ar-AE" sz="2800" b="1" i="1">
                              <a:solidFill>
                                <a:srgbClr val="0066FF"/>
                              </a:solidFill>
                              <a:latin typeface="Cambria Math" panose="02040503050406030204" pitchFamily="18" charset="0"/>
                            </a:rPr>
                            <m:t>𝟐</m:t>
                          </m:r>
                        </m:den>
                      </m:f>
                      <m:r>
                        <a:rPr lang="ar-AE" altLang="zh-CN" sz="2800" b="1" i="1" smtClean="0">
                          <a:solidFill>
                            <a:srgbClr val="0066FF"/>
                          </a:solidFill>
                          <a:latin typeface="Cambria Math" panose="02040503050406030204" pitchFamily="18" charset="0"/>
                        </a:rPr>
                        <m:t>(</m:t>
                      </m:r>
                      <m:sSub>
                        <m:sSubPr>
                          <m:ctrlPr>
                            <a:rPr lang="ar-AE" altLang="zh-CN" sz="2800" b="1" i="1">
                              <a:solidFill>
                                <a:srgbClr val="0066FF"/>
                              </a:solidFill>
                              <a:latin typeface="Cambria Math" panose="02040503050406030204" pitchFamily="18" charset="0"/>
                            </a:rPr>
                          </m:ctrlPr>
                        </m:sSubPr>
                        <m:e>
                          <m:r>
                            <a:rPr lang="zh-CN" altLang="ar-AE" sz="2800" b="1" i="1">
                              <a:solidFill>
                                <a:srgbClr val="0066FF"/>
                              </a:solidFill>
                              <a:latin typeface="Cambria Math" panose="02040503050406030204" pitchFamily="18" charset="0"/>
                            </a:rPr>
                            <m:t>𝒒</m:t>
                          </m:r>
                        </m:e>
                        <m:sub>
                          <m:r>
                            <a:rPr lang="zh-CN" altLang="ar-AE" sz="2800" b="1" i="1">
                              <a:solidFill>
                                <a:srgbClr val="0066FF"/>
                              </a:solidFill>
                              <a:latin typeface="Cambria Math" panose="02040503050406030204" pitchFamily="18" charset="0"/>
                            </a:rPr>
                            <m:t>𝟏</m:t>
                          </m:r>
                        </m:sub>
                      </m:sSub>
                      <m:sSub>
                        <m:sSubPr>
                          <m:ctrlPr>
                            <a:rPr lang="ar-AE" altLang="zh-CN" sz="2800" b="1" i="1">
                              <a:solidFill>
                                <a:srgbClr val="0066FF"/>
                              </a:solidFill>
                              <a:latin typeface="Cambria Math" panose="02040503050406030204" pitchFamily="18" charset="0"/>
                            </a:rPr>
                          </m:ctrlPr>
                        </m:sSubPr>
                        <m:e>
                          <m:r>
                            <a:rPr lang="zh-CN" altLang="ar-AE" sz="2800" b="1" i="1">
                              <a:solidFill>
                                <a:srgbClr val="0066FF"/>
                              </a:solidFill>
                              <a:latin typeface="Cambria Math" panose="02040503050406030204" pitchFamily="18" charset="0"/>
                            </a:rPr>
                            <m:t>𝝋</m:t>
                          </m:r>
                        </m:e>
                        <m:sub>
                          <m:r>
                            <a:rPr lang="zh-CN" altLang="ar-AE" sz="2800" b="1" i="1">
                              <a:solidFill>
                                <a:srgbClr val="0066FF"/>
                              </a:solidFill>
                              <a:latin typeface="Cambria Math" panose="02040503050406030204" pitchFamily="18" charset="0"/>
                            </a:rPr>
                            <m:t>𝟏</m:t>
                          </m:r>
                        </m:sub>
                      </m:sSub>
                      <m:r>
                        <a:rPr lang="ar-AE" altLang="zh-CN" sz="2800" b="1" i="1" smtClean="0">
                          <a:solidFill>
                            <a:srgbClr val="0066FF"/>
                          </a:solidFill>
                          <a:latin typeface="Cambria Math" panose="02040503050406030204" pitchFamily="18" charset="0"/>
                        </a:rPr>
                        <m:t>+</m:t>
                      </m:r>
                      <m:sSub>
                        <m:sSubPr>
                          <m:ctrlPr>
                            <a:rPr lang="ar-AE" altLang="zh-CN" sz="2800" b="1" i="1">
                              <a:solidFill>
                                <a:srgbClr val="0066FF"/>
                              </a:solidFill>
                              <a:latin typeface="Cambria Math" panose="02040503050406030204" pitchFamily="18" charset="0"/>
                            </a:rPr>
                          </m:ctrlPr>
                        </m:sSubPr>
                        <m:e>
                          <m:r>
                            <a:rPr lang="zh-CN" altLang="ar-AE" sz="2800" b="1" i="1">
                              <a:solidFill>
                                <a:srgbClr val="0066FF"/>
                              </a:solidFill>
                              <a:latin typeface="Cambria Math" panose="02040503050406030204" pitchFamily="18" charset="0"/>
                            </a:rPr>
                            <m:t>𝒒</m:t>
                          </m:r>
                        </m:e>
                        <m:sub>
                          <m:r>
                            <a:rPr lang="zh-CN" altLang="ar-AE" sz="2800" b="1" i="1">
                              <a:solidFill>
                                <a:srgbClr val="0066FF"/>
                              </a:solidFill>
                              <a:latin typeface="Cambria Math" panose="02040503050406030204" pitchFamily="18" charset="0"/>
                            </a:rPr>
                            <m:t>𝟐</m:t>
                          </m:r>
                        </m:sub>
                      </m:sSub>
                      <m:sSub>
                        <m:sSubPr>
                          <m:ctrlPr>
                            <a:rPr lang="ar-AE" altLang="zh-CN" sz="2800" b="1" i="1">
                              <a:solidFill>
                                <a:srgbClr val="0066FF"/>
                              </a:solidFill>
                              <a:latin typeface="Cambria Math" panose="02040503050406030204" pitchFamily="18" charset="0"/>
                            </a:rPr>
                          </m:ctrlPr>
                        </m:sSubPr>
                        <m:e>
                          <m:r>
                            <a:rPr lang="zh-CN" altLang="ar-AE" sz="2800" b="1" i="1">
                              <a:solidFill>
                                <a:srgbClr val="0066FF"/>
                              </a:solidFill>
                              <a:latin typeface="Cambria Math" panose="02040503050406030204" pitchFamily="18" charset="0"/>
                            </a:rPr>
                            <m:t>𝝋</m:t>
                          </m:r>
                        </m:e>
                        <m:sub>
                          <m:r>
                            <a:rPr lang="zh-CN" altLang="ar-AE" sz="2800" b="1" i="1">
                              <a:solidFill>
                                <a:srgbClr val="0066FF"/>
                              </a:solidFill>
                              <a:latin typeface="Cambria Math" panose="02040503050406030204" pitchFamily="18" charset="0"/>
                            </a:rPr>
                            <m:t>𝟐</m:t>
                          </m:r>
                        </m:sub>
                      </m:sSub>
                      <m:r>
                        <a:rPr lang="ar-AE" altLang="zh-CN" sz="2800" b="1" i="1">
                          <a:solidFill>
                            <a:srgbClr val="0066FF"/>
                          </a:solidFill>
                          <a:latin typeface="Cambria Math" panose="02040503050406030204" pitchFamily="18" charset="0"/>
                        </a:rPr>
                        <m:t>)</m:t>
                      </m:r>
                    </m:oMath>
                  </m:oMathPara>
                </a14:m>
                <a:endParaRPr lang="ar-AE" sz="2800" dirty="0">
                  <a:solidFill>
                    <a:srgbClr val="0066FF"/>
                  </a:solidFill>
                </a:endParaRPr>
              </a:p>
            </p:txBody>
          </p:sp>
        </mc:Choice>
        <mc:Fallback xmlns="">
          <p:sp>
            <p:nvSpPr>
              <p:cNvPr id="14" name="矩形 13">
                <a:extLst>
                  <a:ext uri="{FF2B5EF4-FFF2-40B4-BE49-F238E27FC236}">
                    <a16:creationId xmlns:a16="http://schemas.microsoft.com/office/drawing/2014/main" id="{29B5971E-8769-4444-BFF0-E848062E8B4D}"/>
                  </a:ext>
                </a:extLst>
              </p:cNvPr>
              <p:cNvSpPr>
                <a:spLocks noRot="1" noChangeAspect="1" noMove="1" noResize="1" noEditPoints="1" noAdjustHandles="1" noChangeArrowheads="1" noChangeShapeType="1" noTextEdit="1"/>
              </p:cNvSpPr>
              <p:nvPr/>
            </p:nvSpPr>
            <p:spPr>
              <a:xfrm>
                <a:off x="2636744" y="4270350"/>
                <a:ext cx="4095545" cy="898964"/>
              </a:xfrm>
              <a:prstGeom prst="rect">
                <a:avLst/>
              </a:prstGeom>
              <a:blipFill>
                <a:blip r:embed="rId3"/>
                <a:stretch>
                  <a:fillRect/>
                </a:stretch>
              </a:blipFill>
            </p:spPr>
            <p:txBody>
              <a:bodyPr/>
              <a:lstStyle/>
              <a:p>
                <a:r>
                  <a:rPr lang="zh-CN" altLang="en-US">
                    <a:noFill/>
                  </a:rPr>
                  <a:t> </a:t>
                </a:r>
              </a:p>
            </p:txBody>
          </p:sp>
        </mc:Fallback>
      </mc:AlternateContent>
      <p:grpSp>
        <p:nvGrpSpPr>
          <p:cNvPr id="20" name="Group 4">
            <a:extLst>
              <a:ext uri="{FF2B5EF4-FFF2-40B4-BE49-F238E27FC236}">
                <a16:creationId xmlns:a16="http://schemas.microsoft.com/office/drawing/2014/main" id="{251A7D52-1A27-4027-B68F-E6E8CD263738}"/>
              </a:ext>
            </a:extLst>
          </p:cNvPr>
          <p:cNvGrpSpPr>
            <a:grpSpLocks/>
          </p:cNvGrpSpPr>
          <p:nvPr/>
        </p:nvGrpSpPr>
        <p:grpSpPr bwMode="auto">
          <a:xfrm>
            <a:off x="8308405" y="1227689"/>
            <a:ext cx="2484438" cy="1524000"/>
            <a:chOff x="4155" y="764"/>
            <a:chExt cx="1565" cy="960"/>
          </a:xfrm>
        </p:grpSpPr>
        <p:sp>
          <p:nvSpPr>
            <p:cNvPr id="21" name="Rectangle 5">
              <a:extLst>
                <a:ext uri="{FF2B5EF4-FFF2-40B4-BE49-F238E27FC236}">
                  <a16:creationId xmlns:a16="http://schemas.microsoft.com/office/drawing/2014/main" id="{68B286BC-56ED-4EB3-A5A8-E253049EF957}"/>
                </a:ext>
              </a:extLst>
            </p:cNvPr>
            <p:cNvSpPr>
              <a:spLocks noChangeArrowheads="1"/>
            </p:cNvSpPr>
            <p:nvPr/>
          </p:nvSpPr>
          <p:spPr bwMode="auto">
            <a:xfrm>
              <a:off x="4155" y="764"/>
              <a:ext cx="156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2800" b="1" dirty="0">
                  <a:solidFill>
                    <a:srgbClr val="0066FF"/>
                  </a:solidFill>
                  <a:latin typeface="+mn-lt"/>
                  <a:ea typeface="+mn-ea"/>
                </a:rPr>
                <a:t>两个</a:t>
              </a:r>
              <a:r>
                <a:rPr lang="zh-CN" altLang="en-US" sz="2800" b="1" dirty="0">
                  <a:solidFill>
                    <a:srgbClr val="0066FF"/>
                  </a:solidFill>
                  <a:latin typeface="华文楷体" panose="02010600040101010101" pitchFamily="2" charset="-122"/>
                  <a:ea typeface="华文楷体" panose="02010600040101010101" pitchFamily="2" charset="-122"/>
                </a:rPr>
                <a:t>点</a:t>
              </a:r>
              <a:r>
                <a:rPr lang="zh-CN" altLang="en-US" sz="2800" b="1" dirty="0">
                  <a:solidFill>
                    <a:srgbClr val="0066FF"/>
                  </a:solidFill>
                  <a:latin typeface="+mn-lt"/>
                  <a:ea typeface="+mn-ea"/>
                </a:rPr>
                <a:t>电荷</a:t>
              </a:r>
              <a:endParaRPr lang="en-US" altLang="zh-CN" sz="2800" b="1" dirty="0">
                <a:solidFill>
                  <a:srgbClr val="0066FF"/>
                </a:solidFill>
                <a:latin typeface="+mn-lt"/>
                <a:ea typeface="+mn-ea"/>
              </a:endParaRPr>
            </a:p>
          </p:txBody>
        </p:sp>
        <p:sp>
          <p:nvSpPr>
            <p:cNvPr id="22" name="Line 6">
              <a:extLst>
                <a:ext uri="{FF2B5EF4-FFF2-40B4-BE49-F238E27FC236}">
                  <a16:creationId xmlns:a16="http://schemas.microsoft.com/office/drawing/2014/main" id="{1FF7A145-8BC1-4304-AF04-DA160B59AFFB}"/>
                </a:ext>
              </a:extLst>
            </p:cNvPr>
            <p:cNvSpPr>
              <a:spLocks noChangeShapeType="1"/>
            </p:cNvSpPr>
            <p:nvPr/>
          </p:nvSpPr>
          <p:spPr bwMode="auto">
            <a:xfrm>
              <a:off x="4368" y="1248"/>
              <a:ext cx="864"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p>
          </p:txBody>
        </p:sp>
        <p:sp>
          <p:nvSpPr>
            <p:cNvPr id="23" name="Oval 7">
              <a:extLst>
                <a:ext uri="{FF2B5EF4-FFF2-40B4-BE49-F238E27FC236}">
                  <a16:creationId xmlns:a16="http://schemas.microsoft.com/office/drawing/2014/main" id="{20D4D71E-74A5-4520-8686-A53594413475}"/>
                </a:ext>
              </a:extLst>
            </p:cNvPr>
            <p:cNvSpPr>
              <a:spLocks noChangeArrowheads="1"/>
            </p:cNvSpPr>
            <p:nvPr/>
          </p:nvSpPr>
          <p:spPr bwMode="auto">
            <a:xfrm>
              <a:off x="4356" y="1252"/>
              <a:ext cx="56" cy="4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sz="2800">
                <a:latin typeface="+mn-lt"/>
                <a:ea typeface="+mn-ea"/>
              </a:endParaRPr>
            </a:p>
          </p:txBody>
        </p:sp>
        <p:sp>
          <p:nvSpPr>
            <p:cNvPr id="24" name="Oval 8">
              <a:extLst>
                <a:ext uri="{FF2B5EF4-FFF2-40B4-BE49-F238E27FC236}">
                  <a16:creationId xmlns:a16="http://schemas.microsoft.com/office/drawing/2014/main" id="{11D5F5D5-35D7-4B3F-9587-32156B3912C6}"/>
                </a:ext>
              </a:extLst>
            </p:cNvPr>
            <p:cNvSpPr>
              <a:spLocks noChangeArrowheads="1"/>
            </p:cNvSpPr>
            <p:nvPr/>
          </p:nvSpPr>
          <p:spPr bwMode="auto">
            <a:xfrm>
              <a:off x="5236" y="1252"/>
              <a:ext cx="40" cy="4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sz="2800">
                <a:latin typeface="+mn-lt"/>
                <a:ea typeface="+mn-ea"/>
              </a:endParaRPr>
            </a:p>
          </p:txBody>
        </p:sp>
        <p:graphicFrame>
          <p:nvGraphicFramePr>
            <p:cNvPr id="25" name="Object 9">
              <a:extLst>
                <a:ext uri="{FF2B5EF4-FFF2-40B4-BE49-F238E27FC236}">
                  <a16:creationId xmlns:a16="http://schemas.microsoft.com/office/drawing/2014/main" id="{CFCEAEF8-AAA9-4B22-BEDC-4D4ED130B756}"/>
                </a:ext>
              </a:extLst>
            </p:cNvPr>
            <p:cNvGraphicFramePr>
              <a:graphicFrameLocks/>
            </p:cNvGraphicFramePr>
            <p:nvPr/>
          </p:nvGraphicFramePr>
          <p:xfrm>
            <a:off x="4239" y="1292"/>
            <a:ext cx="1248" cy="432"/>
          </p:xfrm>
          <a:graphic>
            <a:graphicData uri="http://schemas.openxmlformats.org/presentationml/2006/ole">
              <mc:AlternateContent xmlns:mc="http://schemas.openxmlformats.org/markup-compatibility/2006">
                <mc:Choice xmlns:v="urn:schemas-microsoft-com:vml" Requires="v">
                  <p:oleObj spid="_x0000_s2052" name="公式" r:id="rId4" imgW="609600" imgH="228600" progId="Equation.3">
                    <p:embed/>
                  </p:oleObj>
                </mc:Choice>
                <mc:Fallback>
                  <p:oleObj name="公式" r:id="rId4" imgW="609600" imgH="228600" progId="Equation.3">
                    <p:embed/>
                    <p:pic>
                      <p:nvPicPr>
                        <p:cNvPr id="25" name="Object 9">
                          <a:extLst>
                            <a:ext uri="{FF2B5EF4-FFF2-40B4-BE49-F238E27FC236}">
                              <a16:creationId xmlns:a16="http://schemas.microsoft.com/office/drawing/2014/main" id="{CFCEAEF8-AAA9-4B22-BEDC-4D4ED130B756}"/>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39" y="1292"/>
                          <a:ext cx="1248"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B4C642A8-0999-4B93-895C-B12E456920ED}"/>
                  </a:ext>
                </a:extLst>
              </p:cNvPr>
              <p:cNvSpPr/>
              <p:nvPr/>
            </p:nvSpPr>
            <p:spPr>
              <a:xfrm>
                <a:off x="9768296" y="2750224"/>
                <a:ext cx="68525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𝜑</m:t>
                          </m:r>
                        </m:e>
                        <m:sub>
                          <m:r>
                            <a:rPr lang="en-US" altLang="zh-CN" sz="2800" b="0" i="1">
                              <a:solidFill>
                                <a:prstClr val="black"/>
                              </a:solidFill>
                              <a:latin typeface="Cambria Math" panose="02040503050406030204" pitchFamily="18" charset="0"/>
                            </a:rPr>
                            <m:t>2</m:t>
                          </m:r>
                        </m:sub>
                      </m:sSub>
                    </m:oMath>
                  </m:oMathPara>
                </a14:m>
                <a:endParaRPr lang="en-US" sz="2800" dirty="0"/>
              </a:p>
            </p:txBody>
          </p:sp>
        </mc:Choice>
        <mc:Fallback xmlns="">
          <p:sp>
            <p:nvSpPr>
              <p:cNvPr id="26" name="矩形 25">
                <a:extLst>
                  <a:ext uri="{FF2B5EF4-FFF2-40B4-BE49-F238E27FC236}">
                    <a16:creationId xmlns:a16="http://schemas.microsoft.com/office/drawing/2014/main" id="{B4C642A8-0999-4B93-895C-B12E456920ED}"/>
                  </a:ext>
                </a:extLst>
              </p:cNvPr>
              <p:cNvSpPr>
                <a:spLocks noRot="1" noChangeAspect="1" noMove="1" noResize="1" noEditPoints="1" noAdjustHandles="1" noChangeArrowheads="1" noChangeShapeType="1" noTextEdit="1"/>
              </p:cNvSpPr>
              <p:nvPr/>
            </p:nvSpPr>
            <p:spPr>
              <a:xfrm>
                <a:off x="9768296" y="2750224"/>
                <a:ext cx="685252"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3E338E56-A4BE-478D-9187-8D17349145EB}"/>
                  </a:ext>
                </a:extLst>
              </p:cNvPr>
              <p:cNvSpPr/>
              <p:nvPr/>
            </p:nvSpPr>
            <p:spPr>
              <a:xfrm>
                <a:off x="8452571" y="2751689"/>
                <a:ext cx="67698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𝜑</m:t>
                          </m:r>
                        </m:e>
                        <m:sub>
                          <m:r>
                            <a:rPr lang="en-US" altLang="zh-CN" sz="2800" b="0" i="1" smtClean="0">
                              <a:solidFill>
                                <a:prstClr val="black"/>
                              </a:solidFill>
                              <a:latin typeface="Cambria Math" panose="02040503050406030204" pitchFamily="18" charset="0"/>
                            </a:rPr>
                            <m:t>1</m:t>
                          </m:r>
                        </m:sub>
                      </m:sSub>
                    </m:oMath>
                  </m:oMathPara>
                </a14:m>
                <a:endParaRPr lang="en-US" sz="2800" dirty="0"/>
              </a:p>
            </p:txBody>
          </p:sp>
        </mc:Choice>
        <mc:Fallback xmlns="">
          <p:sp>
            <p:nvSpPr>
              <p:cNvPr id="27" name="矩形 26">
                <a:extLst>
                  <a:ext uri="{FF2B5EF4-FFF2-40B4-BE49-F238E27FC236}">
                    <a16:creationId xmlns:a16="http://schemas.microsoft.com/office/drawing/2014/main" id="{3E338E56-A4BE-478D-9187-8D17349145EB}"/>
                  </a:ext>
                </a:extLst>
              </p:cNvPr>
              <p:cNvSpPr>
                <a:spLocks noRot="1" noChangeAspect="1" noMove="1" noResize="1" noEditPoints="1" noAdjustHandles="1" noChangeArrowheads="1" noChangeShapeType="1" noTextEdit="1"/>
              </p:cNvSpPr>
              <p:nvPr/>
            </p:nvSpPr>
            <p:spPr>
              <a:xfrm>
                <a:off x="8452571" y="2751689"/>
                <a:ext cx="676980"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05C36A9F-FAC1-C88F-D2E0-87065B96971A}"/>
                  </a:ext>
                </a:extLst>
              </p:cNvPr>
              <p:cNvSpPr/>
              <p:nvPr/>
            </p:nvSpPr>
            <p:spPr>
              <a:xfrm>
                <a:off x="1849436" y="3273444"/>
                <a:ext cx="112633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a:latin typeface="Cambria Math" panose="02040503050406030204" pitchFamily="18" charset="0"/>
                            </a:rPr>
                            <m:t>𝐴</m:t>
                          </m:r>
                        </m:e>
                        <m:sub>
                          <m:r>
                            <a:rPr lang="en-US" altLang="zh-CN" sz="2800" b="0" i="1">
                              <a:latin typeface="Cambria Math" panose="02040503050406030204" pitchFamily="18" charset="0"/>
                            </a:rPr>
                            <m:t>𝑟</m:t>
                          </m:r>
                          <m:r>
                            <a:rPr lang="en-US" altLang="zh-CN" sz="2800" b="0" i="1">
                              <a:latin typeface="Cambria Math" panose="02040503050406030204" pitchFamily="18" charset="0"/>
                              <a:ea typeface="Cambria Math" panose="02040503050406030204" pitchFamily="18" charset="0"/>
                            </a:rPr>
                            <m:t>→</m:t>
                          </m:r>
                          <m:r>
                            <a:rPr lang="en-US" altLang="zh-CN" sz="2800" b="0" i="1">
                              <a:latin typeface="Cambria Math" panose="02040503050406030204" pitchFamily="18" charset="0"/>
                              <a:ea typeface="Cambria Math" panose="02040503050406030204" pitchFamily="18" charset="0"/>
                            </a:rPr>
                            <m:t>∞</m:t>
                          </m:r>
                        </m:sub>
                      </m:sSub>
                    </m:oMath>
                  </m:oMathPara>
                </a14:m>
                <a:endParaRPr lang="en-US" sz="2800" dirty="0"/>
              </a:p>
            </p:txBody>
          </p:sp>
        </mc:Choice>
        <mc:Fallback xmlns="">
          <p:sp>
            <p:nvSpPr>
              <p:cNvPr id="2" name="矩形 1">
                <a:extLst>
                  <a:ext uri="{FF2B5EF4-FFF2-40B4-BE49-F238E27FC236}">
                    <a16:creationId xmlns:a16="http://schemas.microsoft.com/office/drawing/2014/main" id="{05C36A9F-FAC1-C88F-D2E0-87065B96971A}"/>
                  </a:ext>
                </a:extLst>
              </p:cNvPr>
              <p:cNvSpPr>
                <a:spLocks noRot="1" noChangeAspect="1" noMove="1" noResize="1" noEditPoints="1" noAdjustHandles="1" noChangeArrowheads="1" noChangeShapeType="1" noTextEdit="1"/>
              </p:cNvSpPr>
              <p:nvPr/>
            </p:nvSpPr>
            <p:spPr>
              <a:xfrm>
                <a:off x="1849436" y="3273444"/>
                <a:ext cx="1126334" cy="52322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376E049B-1E3E-31FF-5320-A2C4B1468940}"/>
                  </a:ext>
                </a:extLst>
              </p:cNvPr>
              <p:cNvSpPr/>
              <p:nvPr/>
            </p:nvSpPr>
            <p:spPr>
              <a:xfrm>
                <a:off x="2849665" y="3273444"/>
                <a:ext cx="140685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a:solidFill>
                            <a:prstClr val="black"/>
                          </a:solidFill>
                          <a:latin typeface="Cambria Math" panose="02040503050406030204" pitchFamily="18" charset="0"/>
                        </a:rPr>
                        <m:t>=</m:t>
                      </m:r>
                      <m:sSub>
                        <m:sSubPr>
                          <m:ctrlPr>
                            <a:rPr lang="en-US" altLang="zh-CN" sz="2800" i="1">
                              <a:solidFill>
                                <a:prstClr val="black"/>
                              </a:solidFill>
                              <a:latin typeface="Cambria Math" panose="02040503050406030204" pitchFamily="18" charset="0"/>
                            </a:rPr>
                          </m:ctrlPr>
                        </m:sSubPr>
                        <m:e>
                          <m:r>
                            <a:rPr lang="en-US" altLang="zh-CN" sz="2800" b="0" i="1">
                              <a:solidFill>
                                <a:prstClr val="black"/>
                              </a:solidFill>
                              <a:latin typeface="Cambria Math" panose="02040503050406030204" pitchFamily="18" charset="0"/>
                            </a:rPr>
                            <m:t>𝑞</m:t>
                          </m:r>
                        </m:e>
                        <m:sub>
                          <m:r>
                            <a:rPr lang="en-US" altLang="zh-CN" sz="2800" b="0" i="1">
                              <a:solidFill>
                                <a:prstClr val="black"/>
                              </a:solidFill>
                              <a:latin typeface="Cambria Math" panose="02040503050406030204" pitchFamily="18" charset="0"/>
                            </a:rPr>
                            <m:t>2</m:t>
                          </m:r>
                        </m:sub>
                      </m:sSub>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𝜑</m:t>
                          </m:r>
                        </m:e>
                        <m:sub>
                          <m:r>
                            <a:rPr lang="en-US" altLang="zh-CN" sz="2800" b="0" i="1">
                              <a:solidFill>
                                <a:prstClr val="black"/>
                              </a:solidFill>
                              <a:latin typeface="Cambria Math" panose="02040503050406030204" pitchFamily="18" charset="0"/>
                            </a:rPr>
                            <m:t>2</m:t>
                          </m:r>
                        </m:sub>
                      </m:sSub>
                    </m:oMath>
                  </m:oMathPara>
                </a14:m>
                <a:endParaRPr lang="en-US" sz="2800" dirty="0"/>
              </a:p>
            </p:txBody>
          </p:sp>
        </mc:Choice>
        <mc:Fallback xmlns="">
          <p:sp>
            <p:nvSpPr>
              <p:cNvPr id="7" name="矩形 6">
                <a:extLst>
                  <a:ext uri="{FF2B5EF4-FFF2-40B4-BE49-F238E27FC236}">
                    <a16:creationId xmlns:a16="http://schemas.microsoft.com/office/drawing/2014/main" id="{376E049B-1E3E-31FF-5320-A2C4B1468940}"/>
                  </a:ext>
                </a:extLst>
              </p:cNvPr>
              <p:cNvSpPr>
                <a:spLocks noRot="1" noChangeAspect="1" noMove="1" noResize="1" noEditPoints="1" noAdjustHandles="1" noChangeArrowheads="1" noChangeShapeType="1" noTextEdit="1"/>
              </p:cNvSpPr>
              <p:nvPr/>
            </p:nvSpPr>
            <p:spPr>
              <a:xfrm>
                <a:off x="2849665" y="3273444"/>
                <a:ext cx="1406859" cy="52322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E9D25B83-D1D4-B8B0-18C5-272C4840F6C5}"/>
                  </a:ext>
                </a:extLst>
              </p:cNvPr>
              <p:cNvSpPr/>
              <p:nvPr/>
            </p:nvSpPr>
            <p:spPr>
              <a:xfrm>
                <a:off x="4228208" y="3273444"/>
                <a:ext cx="1390317" cy="600164"/>
              </a:xfrm>
              <a:prstGeom prst="rect">
                <a:avLst/>
              </a:prstGeom>
            </p:spPr>
            <p:txBody>
              <a:bodyPr wrap="none">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800" b="0" i="1">
                          <a:solidFill>
                            <a:prstClr val="black"/>
                          </a:solidFill>
                          <a:latin typeface="Cambria Math" panose="02040503050406030204" pitchFamily="18" charset="0"/>
                        </a:rPr>
                        <m:t>=</m:t>
                      </m:r>
                      <m:sSub>
                        <m:sSubPr>
                          <m:ctrlPr>
                            <a:rPr lang="en-US" altLang="zh-CN" sz="2800" i="1">
                              <a:solidFill>
                                <a:prstClr val="black"/>
                              </a:solidFill>
                              <a:latin typeface="Cambria Math" panose="02040503050406030204" pitchFamily="18" charset="0"/>
                            </a:rPr>
                          </m:ctrlPr>
                        </m:sSubPr>
                        <m:e>
                          <m:r>
                            <a:rPr lang="en-US" altLang="zh-CN" sz="2800" b="0" i="1">
                              <a:solidFill>
                                <a:prstClr val="black"/>
                              </a:solidFill>
                              <a:latin typeface="Cambria Math" panose="02040503050406030204" pitchFamily="18" charset="0"/>
                            </a:rPr>
                            <m:t>𝑞</m:t>
                          </m:r>
                        </m:e>
                        <m:sub>
                          <m:r>
                            <a:rPr lang="en-US" altLang="zh-CN" sz="2800" b="0" i="1">
                              <a:solidFill>
                                <a:prstClr val="black"/>
                              </a:solidFill>
                              <a:latin typeface="Cambria Math" panose="02040503050406030204" pitchFamily="18" charset="0"/>
                            </a:rPr>
                            <m:t>1</m:t>
                          </m:r>
                        </m:sub>
                      </m:sSub>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𝜑</m:t>
                          </m:r>
                        </m:e>
                        <m:sub>
                          <m:r>
                            <a:rPr lang="en-US" altLang="zh-CN" sz="2800" b="0" i="1">
                              <a:solidFill>
                                <a:prstClr val="black"/>
                              </a:solidFill>
                              <a:latin typeface="Cambria Math" panose="02040503050406030204" pitchFamily="18" charset="0"/>
                            </a:rPr>
                            <m:t>1</m:t>
                          </m:r>
                        </m:sub>
                      </m:sSub>
                    </m:oMath>
                  </m:oMathPara>
                </a14:m>
                <a:endParaRPr lang="en-US" sz="2800" dirty="0"/>
              </a:p>
            </p:txBody>
          </p:sp>
        </mc:Choice>
        <mc:Fallback xmlns="">
          <p:sp>
            <p:nvSpPr>
              <p:cNvPr id="8" name="矩形 7">
                <a:extLst>
                  <a:ext uri="{FF2B5EF4-FFF2-40B4-BE49-F238E27FC236}">
                    <a16:creationId xmlns:a16="http://schemas.microsoft.com/office/drawing/2014/main" id="{E9D25B83-D1D4-B8B0-18C5-272C4840F6C5}"/>
                  </a:ext>
                </a:extLst>
              </p:cNvPr>
              <p:cNvSpPr>
                <a:spLocks noRot="1" noChangeAspect="1" noMove="1" noResize="1" noEditPoints="1" noAdjustHandles="1" noChangeArrowheads="1" noChangeShapeType="1" noTextEdit="1"/>
              </p:cNvSpPr>
              <p:nvPr/>
            </p:nvSpPr>
            <p:spPr>
              <a:xfrm>
                <a:off x="4228208" y="3273444"/>
                <a:ext cx="1390317" cy="600164"/>
              </a:xfrm>
              <a:prstGeom prst="rect">
                <a:avLst/>
              </a:prstGeom>
              <a:blipFill>
                <a:blip r:embed="rId10"/>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82773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5" name="Group 17">
            <a:extLst>
              <a:ext uri="{FF2B5EF4-FFF2-40B4-BE49-F238E27FC236}">
                <a16:creationId xmlns:a16="http://schemas.microsoft.com/office/drawing/2014/main" id="{0ACD7A3A-E9A8-4557-BBFA-2E55D9452E7C}"/>
              </a:ext>
            </a:extLst>
          </p:cNvPr>
          <p:cNvGrpSpPr>
            <a:grpSpLocks/>
          </p:cNvGrpSpPr>
          <p:nvPr/>
        </p:nvGrpSpPr>
        <p:grpSpPr bwMode="auto">
          <a:xfrm>
            <a:off x="9782176" y="1999066"/>
            <a:ext cx="1143000" cy="457200"/>
            <a:chOff x="4512" y="3648"/>
            <a:chExt cx="720" cy="288"/>
          </a:xfrm>
        </p:grpSpPr>
        <p:sp>
          <p:nvSpPr>
            <p:cNvPr id="30735" name="Oval 18">
              <a:extLst>
                <a:ext uri="{FF2B5EF4-FFF2-40B4-BE49-F238E27FC236}">
                  <a16:creationId xmlns:a16="http://schemas.microsoft.com/office/drawing/2014/main" id="{48BB52CB-36A4-4440-BBE9-E30656BD3E19}"/>
                </a:ext>
              </a:extLst>
            </p:cNvPr>
            <p:cNvSpPr>
              <a:spLocks noChangeArrowheads="1"/>
            </p:cNvSpPr>
            <p:nvPr/>
          </p:nvSpPr>
          <p:spPr bwMode="auto">
            <a:xfrm>
              <a:off x="4944" y="3648"/>
              <a:ext cx="48" cy="48"/>
            </a:xfrm>
            <a:prstGeom prst="ellipse">
              <a:avLst/>
            </a:prstGeom>
            <a:solidFill>
              <a:schemeClr val="tx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sz="2800">
                <a:solidFill>
                  <a:srgbClr val="0066FF"/>
                </a:solidFill>
                <a:latin typeface="+mn-lt"/>
                <a:ea typeface="+mn-ea"/>
              </a:endParaRPr>
            </a:p>
          </p:txBody>
        </p:sp>
        <p:sp>
          <p:nvSpPr>
            <p:cNvPr id="30736" name="Oval 19">
              <a:extLst>
                <a:ext uri="{FF2B5EF4-FFF2-40B4-BE49-F238E27FC236}">
                  <a16:creationId xmlns:a16="http://schemas.microsoft.com/office/drawing/2014/main" id="{C15A5B9C-94BE-484A-A58C-22B214386882}"/>
                </a:ext>
              </a:extLst>
            </p:cNvPr>
            <p:cNvSpPr>
              <a:spLocks noChangeArrowheads="1"/>
            </p:cNvSpPr>
            <p:nvPr/>
          </p:nvSpPr>
          <p:spPr bwMode="auto">
            <a:xfrm>
              <a:off x="4512" y="3888"/>
              <a:ext cx="48" cy="48"/>
            </a:xfrm>
            <a:prstGeom prst="ellipse">
              <a:avLst/>
            </a:prstGeom>
            <a:solidFill>
              <a:schemeClr val="tx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sz="2800">
                <a:solidFill>
                  <a:srgbClr val="0066FF"/>
                </a:solidFill>
                <a:latin typeface="+mn-lt"/>
                <a:ea typeface="+mn-ea"/>
              </a:endParaRPr>
            </a:p>
          </p:txBody>
        </p:sp>
        <p:sp>
          <p:nvSpPr>
            <p:cNvPr id="30737" name="Oval 20">
              <a:extLst>
                <a:ext uri="{FF2B5EF4-FFF2-40B4-BE49-F238E27FC236}">
                  <a16:creationId xmlns:a16="http://schemas.microsoft.com/office/drawing/2014/main" id="{ECF2ADD9-A1A8-43B2-B2F1-7D0679D66E3A}"/>
                </a:ext>
              </a:extLst>
            </p:cNvPr>
            <p:cNvSpPr>
              <a:spLocks noChangeArrowheads="1"/>
            </p:cNvSpPr>
            <p:nvPr/>
          </p:nvSpPr>
          <p:spPr bwMode="auto">
            <a:xfrm>
              <a:off x="5184" y="3888"/>
              <a:ext cx="48" cy="48"/>
            </a:xfrm>
            <a:prstGeom prst="ellipse">
              <a:avLst/>
            </a:prstGeom>
            <a:solidFill>
              <a:schemeClr val="tx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sz="2800">
                <a:solidFill>
                  <a:srgbClr val="0066FF"/>
                </a:solidFill>
                <a:latin typeface="+mn-lt"/>
                <a:ea typeface="+mn-ea"/>
              </a:endParaRPr>
            </a:p>
          </p:txBody>
        </p:sp>
      </p:grpSp>
      <p:sp>
        <p:nvSpPr>
          <p:cNvPr id="30726" name="TextBox 1">
            <a:extLst>
              <a:ext uri="{FF2B5EF4-FFF2-40B4-BE49-F238E27FC236}">
                <a16:creationId xmlns:a16="http://schemas.microsoft.com/office/drawing/2014/main" id="{CB194093-2D61-4D9B-923C-D63473ECB201}"/>
              </a:ext>
            </a:extLst>
          </p:cNvPr>
          <p:cNvSpPr txBox="1">
            <a:spLocks noChangeArrowheads="1"/>
          </p:cNvSpPr>
          <p:nvPr/>
        </p:nvSpPr>
        <p:spPr bwMode="auto">
          <a:xfrm>
            <a:off x="9371014" y="1143265"/>
            <a:ext cx="17478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zh-CN" altLang="en-US" sz="2800" b="1" dirty="0">
                <a:solidFill>
                  <a:srgbClr val="0066FF"/>
                </a:solidFill>
                <a:latin typeface="+mn-lt"/>
                <a:ea typeface="+mn-ea"/>
              </a:rPr>
              <a:t>三个电荷</a:t>
            </a:r>
            <a:r>
              <a:rPr lang="en-US" altLang="zh-CN" sz="2800" b="1" dirty="0">
                <a:solidFill>
                  <a:srgbClr val="0066FF"/>
                </a:solidFill>
                <a:latin typeface="+mn-lt"/>
                <a:ea typeface="+mn-ea"/>
              </a:rPr>
              <a:t>:</a:t>
            </a:r>
            <a:endParaRPr lang="zh-CN" altLang="en-US" sz="2800" b="1" dirty="0">
              <a:solidFill>
                <a:srgbClr val="0066FF"/>
              </a:solidFill>
              <a:latin typeface="+mn-lt"/>
              <a:ea typeface="+mn-ea"/>
            </a:endParaRPr>
          </a:p>
        </p:txBody>
      </p:sp>
      <mc:AlternateContent xmlns:mc="http://schemas.openxmlformats.org/markup-compatibility/2006" xmlns:a14="http://schemas.microsoft.com/office/drawing/2010/main">
        <mc:Choice Requires="a14">
          <p:sp>
            <p:nvSpPr>
              <p:cNvPr id="3" name="Object 2">
                <a:extLst>
                  <a:ext uri="{FF2B5EF4-FFF2-40B4-BE49-F238E27FC236}">
                    <a16:creationId xmlns:a16="http://schemas.microsoft.com/office/drawing/2014/main" id="{E89B8FBD-F655-4394-AEF0-695EC03CA253}"/>
                  </a:ext>
                </a:extLst>
              </p:cNvPr>
              <p:cNvSpPr txBox="1"/>
              <p:nvPr/>
            </p:nvSpPr>
            <p:spPr bwMode="auto">
              <a:xfrm>
                <a:off x="1194378" y="2437404"/>
                <a:ext cx="6557816" cy="674688"/>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1</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1</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2</m:t>
                          </m:r>
                          <m:r>
                            <a:rPr lang="en-US" altLang="zh-CN" sz="2800" b="0" i="1" smtClean="0">
                              <a:solidFill>
                                <a:srgbClr val="000000"/>
                              </a:solidFill>
                              <a:latin typeface="Cambria Math" panose="02040503050406030204" pitchFamily="18" charset="0"/>
                            </a:rPr>
                            <m:t>)</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2</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2</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3</m:t>
                          </m:r>
                          <m:r>
                            <a:rPr lang="en-US" altLang="zh-CN" sz="2800" b="0" i="1" smtClean="0">
                              <a:solidFill>
                                <a:srgbClr val="000000"/>
                              </a:solidFill>
                              <a:latin typeface="Cambria Math" panose="02040503050406030204" pitchFamily="18" charset="0"/>
                            </a:rPr>
                            <m:t>)</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3</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3</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1</m:t>
                          </m:r>
                          <m:r>
                            <a:rPr lang="en-US" altLang="zh-CN" sz="2800" b="0" i="1" smtClean="0">
                              <a:solidFill>
                                <a:srgbClr val="000000"/>
                              </a:solidFill>
                              <a:latin typeface="Cambria Math" panose="02040503050406030204" pitchFamily="18" charset="0"/>
                            </a:rPr>
                            <m:t>)</m:t>
                          </m:r>
                        </m:sub>
                      </m:sSub>
                    </m:oMath>
                  </m:oMathPara>
                </a14:m>
                <a:endParaRPr lang="zh-CN" altLang="en-US" sz="2800" dirty="0"/>
              </a:p>
            </p:txBody>
          </p:sp>
        </mc:Choice>
        <mc:Fallback xmlns="">
          <p:sp>
            <p:nvSpPr>
              <p:cNvPr id="3" name="Object 2">
                <a:extLst>
                  <a:ext uri="{FF2B5EF4-FFF2-40B4-BE49-F238E27FC236}">
                    <a16:creationId xmlns:a16="http://schemas.microsoft.com/office/drawing/2014/main" id="{E89B8FBD-F655-4394-AEF0-695EC03CA253}"/>
                  </a:ext>
                </a:extLst>
              </p:cNvPr>
              <p:cNvSpPr txBox="1">
                <a:spLocks noRot="1" noChangeAspect="1" noMove="1" noResize="1" noEditPoints="1" noAdjustHandles="1" noChangeArrowheads="1" noChangeShapeType="1" noTextEdit="1"/>
              </p:cNvSpPr>
              <p:nvPr/>
            </p:nvSpPr>
            <p:spPr bwMode="auto">
              <a:xfrm>
                <a:off x="1194378" y="2437404"/>
                <a:ext cx="6557816" cy="674688"/>
              </a:xfrm>
              <a:prstGeom prst="rect">
                <a:avLst/>
              </a:prstGeom>
              <a:blipFill>
                <a:blip r:embed="rId2"/>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E59732BA-782B-4D53-BBAF-58D3FDA2D85F}"/>
                  </a:ext>
                </a:extLst>
              </p:cNvPr>
              <p:cNvSpPr txBox="1"/>
              <p:nvPr/>
            </p:nvSpPr>
            <p:spPr bwMode="auto">
              <a:xfrm>
                <a:off x="1194378" y="3172776"/>
                <a:ext cx="11383816" cy="10668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2</m:t>
                          </m:r>
                        </m:den>
                      </m:f>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1</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1</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2</m:t>
                          </m:r>
                          <m:r>
                            <a:rPr lang="en-US" altLang="zh-CN" sz="2800" b="0" i="1" smtClean="0">
                              <a:solidFill>
                                <a:srgbClr val="000000"/>
                              </a:solidFill>
                              <a:latin typeface="Cambria Math" panose="02040503050406030204" pitchFamily="18" charset="0"/>
                            </a:rPr>
                            <m:t>)</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2</m:t>
                          </m:r>
                        </m:den>
                      </m:f>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2</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2</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1</m:t>
                          </m:r>
                          <m:r>
                            <a:rPr lang="en-US" altLang="zh-CN" sz="2800" b="0" i="1" smtClean="0">
                              <a:solidFill>
                                <a:srgbClr val="000000"/>
                              </a:solidFill>
                              <a:latin typeface="Cambria Math" panose="02040503050406030204" pitchFamily="18" charset="0"/>
                            </a:rPr>
                            <m:t>)</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2</m:t>
                          </m:r>
                        </m:den>
                      </m:f>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2</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2</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3</m:t>
                          </m:r>
                          <m:r>
                            <a:rPr lang="en-US" altLang="zh-CN" sz="2800" b="0" i="1" smtClean="0">
                              <a:solidFill>
                                <a:srgbClr val="000000"/>
                              </a:solidFill>
                              <a:latin typeface="Cambria Math" panose="02040503050406030204" pitchFamily="18" charset="0"/>
                            </a:rPr>
                            <m:t>)</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2</m:t>
                          </m:r>
                        </m:den>
                      </m:f>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3</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3</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2</m:t>
                          </m:r>
                          <m:r>
                            <a:rPr lang="en-US" altLang="zh-CN" sz="2800" b="0" i="1" smtClean="0">
                              <a:solidFill>
                                <a:srgbClr val="000000"/>
                              </a:solidFill>
                              <a:latin typeface="Cambria Math" panose="02040503050406030204" pitchFamily="18" charset="0"/>
                            </a:rPr>
                            <m:t>)</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2</m:t>
                          </m:r>
                        </m:den>
                      </m:f>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3</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3</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1</m:t>
                          </m:r>
                          <m:r>
                            <a:rPr lang="en-US" altLang="zh-CN" sz="2800" b="0" i="1" smtClean="0">
                              <a:solidFill>
                                <a:srgbClr val="000000"/>
                              </a:solidFill>
                              <a:latin typeface="Cambria Math" panose="02040503050406030204" pitchFamily="18" charset="0"/>
                            </a:rPr>
                            <m:t>)</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2</m:t>
                          </m:r>
                        </m:den>
                      </m:f>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1</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1</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3</m:t>
                          </m:r>
                          <m:r>
                            <a:rPr lang="en-US" altLang="zh-CN" sz="2800" b="0" i="1" smtClean="0">
                              <a:solidFill>
                                <a:srgbClr val="000000"/>
                              </a:solidFill>
                              <a:latin typeface="Cambria Math" panose="02040503050406030204" pitchFamily="18" charset="0"/>
                            </a:rPr>
                            <m:t>)</m:t>
                          </m:r>
                        </m:sub>
                      </m:sSub>
                    </m:oMath>
                  </m:oMathPara>
                </a14:m>
                <a:endParaRPr lang="zh-CN" altLang="en-US" sz="2800" dirty="0"/>
              </a:p>
            </p:txBody>
          </p:sp>
        </mc:Choice>
        <mc:Fallback xmlns="">
          <p:sp>
            <p:nvSpPr>
              <p:cNvPr id="6" name="Object 5">
                <a:extLst>
                  <a:ext uri="{FF2B5EF4-FFF2-40B4-BE49-F238E27FC236}">
                    <a16:creationId xmlns:a16="http://schemas.microsoft.com/office/drawing/2014/main" id="{E59732BA-782B-4D53-BBAF-58D3FDA2D85F}"/>
                  </a:ext>
                </a:extLst>
              </p:cNvPr>
              <p:cNvSpPr txBox="1">
                <a:spLocks noRot="1" noChangeAspect="1" noMove="1" noResize="1" noEditPoints="1" noAdjustHandles="1" noChangeArrowheads="1" noChangeShapeType="1" noTextEdit="1"/>
              </p:cNvSpPr>
              <p:nvPr/>
            </p:nvSpPr>
            <p:spPr bwMode="auto">
              <a:xfrm>
                <a:off x="1194378" y="3172776"/>
                <a:ext cx="11383816" cy="1066800"/>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30729" name="TextBox 6">
            <a:extLst>
              <a:ext uri="{FF2B5EF4-FFF2-40B4-BE49-F238E27FC236}">
                <a16:creationId xmlns:a16="http://schemas.microsoft.com/office/drawing/2014/main" id="{CD50795E-8F6E-4288-9209-44E466A16F92}"/>
              </a:ext>
            </a:extLst>
          </p:cNvPr>
          <p:cNvSpPr txBox="1">
            <a:spLocks noChangeArrowheads="1"/>
          </p:cNvSpPr>
          <p:nvPr/>
        </p:nvSpPr>
        <p:spPr bwMode="auto">
          <a:xfrm>
            <a:off x="9604376" y="2399116"/>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en-US" altLang="zh-CN" sz="2800">
                <a:solidFill>
                  <a:srgbClr val="0066FF"/>
                </a:solidFill>
                <a:latin typeface="+mn-lt"/>
                <a:ea typeface="+mn-ea"/>
              </a:rPr>
              <a:t>1</a:t>
            </a:r>
            <a:endParaRPr lang="zh-CN" altLang="en-US" sz="2800">
              <a:solidFill>
                <a:srgbClr val="0066FF"/>
              </a:solidFill>
              <a:latin typeface="+mn-lt"/>
              <a:ea typeface="+mn-ea"/>
            </a:endParaRPr>
          </a:p>
        </p:txBody>
      </p:sp>
      <p:sp>
        <p:nvSpPr>
          <p:cNvPr id="30730" name="TextBox 7">
            <a:extLst>
              <a:ext uri="{FF2B5EF4-FFF2-40B4-BE49-F238E27FC236}">
                <a16:creationId xmlns:a16="http://schemas.microsoft.com/office/drawing/2014/main" id="{6F04320D-CC5F-4FA7-ACEE-B3E9E11794B9}"/>
              </a:ext>
            </a:extLst>
          </p:cNvPr>
          <p:cNvSpPr txBox="1">
            <a:spLocks noChangeArrowheads="1"/>
          </p:cNvSpPr>
          <p:nvPr/>
        </p:nvSpPr>
        <p:spPr bwMode="auto">
          <a:xfrm>
            <a:off x="10117140" y="1870479"/>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en-US" altLang="zh-CN" sz="2800">
                <a:solidFill>
                  <a:srgbClr val="0066FF"/>
                </a:solidFill>
                <a:latin typeface="+mn-lt"/>
                <a:ea typeface="+mn-ea"/>
              </a:rPr>
              <a:t>2</a:t>
            </a:r>
            <a:endParaRPr lang="zh-CN" altLang="en-US" sz="2800">
              <a:solidFill>
                <a:srgbClr val="0066FF"/>
              </a:solidFill>
              <a:latin typeface="+mn-lt"/>
              <a:ea typeface="+mn-ea"/>
            </a:endParaRPr>
          </a:p>
        </p:txBody>
      </p:sp>
      <p:sp>
        <p:nvSpPr>
          <p:cNvPr id="30731" name="TextBox 8">
            <a:extLst>
              <a:ext uri="{FF2B5EF4-FFF2-40B4-BE49-F238E27FC236}">
                <a16:creationId xmlns:a16="http://schemas.microsoft.com/office/drawing/2014/main" id="{AED5547E-D5EF-4A86-93BB-20DADC23CFC6}"/>
              </a:ext>
            </a:extLst>
          </p:cNvPr>
          <p:cNvSpPr txBox="1">
            <a:spLocks noChangeArrowheads="1"/>
          </p:cNvSpPr>
          <p:nvPr/>
        </p:nvSpPr>
        <p:spPr bwMode="auto">
          <a:xfrm>
            <a:off x="10528301" y="2380067"/>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en-US" altLang="zh-CN" sz="2800">
                <a:solidFill>
                  <a:srgbClr val="0066FF"/>
                </a:solidFill>
                <a:latin typeface="+mn-lt"/>
                <a:ea typeface="+mn-ea"/>
              </a:rPr>
              <a:t>3</a:t>
            </a:r>
            <a:endParaRPr lang="zh-CN" altLang="en-US" sz="2800">
              <a:solidFill>
                <a:srgbClr val="0066FF"/>
              </a:solidFill>
              <a:latin typeface="+mn-lt"/>
              <a:ea typeface="+mn-ea"/>
            </a:endParaRPr>
          </a:p>
        </p:txBody>
      </p:sp>
      <mc:AlternateContent xmlns:mc="http://schemas.openxmlformats.org/markup-compatibility/2006" xmlns:a14="http://schemas.microsoft.com/office/drawing/2010/main">
        <mc:Choice Requires="a14">
          <p:sp>
            <p:nvSpPr>
              <p:cNvPr id="10" name="Object 9">
                <a:extLst>
                  <a:ext uri="{FF2B5EF4-FFF2-40B4-BE49-F238E27FC236}">
                    <a16:creationId xmlns:a16="http://schemas.microsoft.com/office/drawing/2014/main" id="{1E0A3EA2-EFC5-4620-B035-0BB4DF03BCE2}"/>
                  </a:ext>
                </a:extLst>
              </p:cNvPr>
              <p:cNvSpPr txBox="1"/>
              <p:nvPr/>
            </p:nvSpPr>
            <p:spPr bwMode="auto">
              <a:xfrm>
                <a:off x="1092636" y="4214217"/>
                <a:ext cx="11099363" cy="10668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2</m:t>
                          </m:r>
                        </m:den>
                      </m:f>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1</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2</m:t>
                          </m:r>
                          <m:r>
                            <a:rPr lang="en-US" altLang="zh-CN" sz="2800" b="0" i="1" smtClean="0">
                              <a:solidFill>
                                <a:srgbClr val="000000"/>
                              </a:solidFill>
                              <a:latin typeface="Cambria Math" panose="02040503050406030204" pitchFamily="18" charset="0"/>
                            </a:rPr>
                            <m:t>)</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1</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3</m:t>
                          </m:r>
                          <m:r>
                            <a:rPr lang="en-US" altLang="zh-CN" sz="2800" b="0" i="1" smtClean="0">
                              <a:solidFill>
                                <a:srgbClr val="000000"/>
                              </a:solidFill>
                              <a:latin typeface="Cambria Math" panose="02040503050406030204" pitchFamily="18" charset="0"/>
                            </a:rPr>
                            <m:t>)</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2</m:t>
                          </m:r>
                        </m:den>
                      </m:f>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2</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1</m:t>
                          </m:r>
                          <m:r>
                            <a:rPr lang="en-US" altLang="zh-CN" sz="2800" b="0" i="1" smtClean="0">
                              <a:solidFill>
                                <a:srgbClr val="000000"/>
                              </a:solidFill>
                              <a:latin typeface="Cambria Math" panose="02040503050406030204" pitchFamily="18" charset="0"/>
                            </a:rPr>
                            <m:t>)</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2</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3</m:t>
                          </m:r>
                          <m:r>
                            <a:rPr lang="en-US" altLang="zh-CN" sz="2800" b="0" i="1" smtClean="0">
                              <a:solidFill>
                                <a:srgbClr val="000000"/>
                              </a:solidFill>
                              <a:latin typeface="Cambria Math" panose="02040503050406030204" pitchFamily="18" charset="0"/>
                            </a:rPr>
                            <m:t>)</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2</m:t>
                          </m:r>
                        </m:den>
                      </m:f>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3</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3</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2</m:t>
                          </m:r>
                          <m:r>
                            <a:rPr lang="en-US" altLang="zh-CN" sz="2800" b="0" i="1" smtClean="0">
                              <a:solidFill>
                                <a:srgbClr val="000000"/>
                              </a:solidFill>
                              <a:latin typeface="Cambria Math" panose="02040503050406030204" pitchFamily="18" charset="0"/>
                            </a:rPr>
                            <m:t>)</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3</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1</m:t>
                          </m:r>
                          <m:r>
                            <a:rPr lang="en-US" altLang="zh-CN" sz="2800" b="0" i="1" smtClean="0">
                              <a:solidFill>
                                <a:srgbClr val="000000"/>
                              </a:solidFill>
                              <a:latin typeface="Cambria Math" panose="02040503050406030204" pitchFamily="18" charset="0"/>
                            </a:rPr>
                            <m:t>)</m:t>
                          </m:r>
                        </m:sub>
                      </m:sSub>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10" name="Object 9">
                <a:extLst>
                  <a:ext uri="{FF2B5EF4-FFF2-40B4-BE49-F238E27FC236}">
                    <a16:creationId xmlns:a16="http://schemas.microsoft.com/office/drawing/2014/main" id="{1E0A3EA2-EFC5-4620-B035-0BB4DF03BCE2}"/>
                  </a:ext>
                </a:extLst>
              </p:cNvPr>
              <p:cNvSpPr txBox="1">
                <a:spLocks noRot="1" noChangeAspect="1" noMove="1" noResize="1" noEditPoints="1" noAdjustHandles="1" noChangeArrowheads="1" noChangeShapeType="1" noTextEdit="1"/>
              </p:cNvSpPr>
              <p:nvPr/>
            </p:nvSpPr>
            <p:spPr bwMode="auto">
              <a:xfrm>
                <a:off x="1092636" y="4214217"/>
                <a:ext cx="11099363" cy="1066800"/>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10">
                <a:extLst>
                  <a:ext uri="{FF2B5EF4-FFF2-40B4-BE49-F238E27FC236}">
                    <a16:creationId xmlns:a16="http://schemas.microsoft.com/office/drawing/2014/main" id="{135318FB-7942-4056-876C-2C1E3BCEC5B3}"/>
                  </a:ext>
                </a:extLst>
              </p:cNvPr>
              <p:cNvSpPr txBox="1"/>
              <p:nvPr/>
            </p:nvSpPr>
            <p:spPr bwMode="auto">
              <a:xfrm>
                <a:off x="1092636" y="5375336"/>
                <a:ext cx="6465287" cy="10668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2</m:t>
                          </m:r>
                        </m:den>
                      </m:f>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1</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2</m:t>
                          </m:r>
                        </m:den>
                      </m:f>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2</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2</m:t>
                          </m:r>
                        </m:den>
                      </m:f>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3</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3</m:t>
                          </m:r>
                        </m:sub>
                      </m:sSub>
                    </m:oMath>
                  </m:oMathPara>
                </a14:m>
                <a:endParaRPr lang="zh-CN" altLang="en-US" sz="2800" dirty="0"/>
              </a:p>
            </p:txBody>
          </p:sp>
        </mc:Choice>
        <mc:Fallback xmlns="">
          <p:sp>
            <p:nvSpPr>
              <p:cNvPr id="11" name="Object 10">
                <a:extLst>
                  <a:ext uri="{FF2B5EF4-FFF2-40B4-BE49-F238E27FC236}">
                    <a16:creationId xmlns:a16="http://schemas.microsoft.com/office/drawing/2014/main" id="{135318FB-7942-4056-876C-2C1E3BCEC5B3}"/>
                  </a:ext>
                </a:extLst>
              </p:cNvPr>
              <p:cNvSpPr txBox="1">
                <a:spLocks noRot="1" noChangeAspect="1" noMove="1" noResize="1" noEditPoints="1" noAdjustHandles="1" noChangeArrowheads="1" noChangeShapeType="1" noTextEdit="1"/>
              </p:cNvSpPr>
              <p:nvPr/>
            </p:nvSpPr>
            <p:spPr bwMode="auto">
              <a:xfrm>
                <a:off x="1092636" y="5375336"/>
                <a:ext cx="6465287" cy="1066800"/>
              </a:xfrm>
              <a:prstGeom prst="rect">
                <a:avLst/>
              </a:prstGeom>
              <a:blipFill>
                <a:blip r:embed="rId5"/>
                <a:stretch>
                  <a:fillRect/>
                </a:stretch>
              </a:blipFill>
              <a:ln>
                <a:noFill/>
              </a:ln>
              <a:effectLst/>
            </p:spPr>
            <p:txBody>
              <a:bodyPr/>
              <a:lstStyle/>
              <a:p>
                <a:r>
                  <a:rPr lang="zh-CN" altLang="en-US">
                    <a:noFill/>
                  </a:rPr>
                  <a:t> </a:t>
                </a:r>
              </a:p>
            </p:txBody>
          </p:sp>
        </mc:Fallback>
      </mc:AlternateContent>
      <p:sp>
        <p:nvSpPr>
          <p:cNvPr id="18" name="标题 3">
            <a:extLst>
              <a:ext uri="{FF2B5EF4-FFF2-40B4-BE49-F238E27FC236}">
                <a16:creationId xmlns:a16="http://schemas.microsoft.com/office/drawing/2014/main" id="{D2D085F8-D7FF-8263-31AE-2C48CFF46E78}"/>
              </a:ext>
            </a:extLst>
          </p:cNvPr>
          <p:cNvSpPr txBox="1">
            <a:spLocks/>
          </p:cNvSpPr>
          <p:nvPr/>
        </p:nvSpPr>
        <p:spPr>
          <a:xfrm>
            <a:off x="965200" y="818093"/>
            <a:ext cx="3958167" cy="74824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lgn="ctr">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电荷系的静电能</a:t>
            </a:r>
            <a:r>
              <a:rPr lang="en-US" altLang="zh-CN" sz="3200" b="1" dirty="0">
                <a:solidFill>
                  <a:srgbClr val="0066FF"/>
                </a:solidFill>
                <a:latin typeface="华文楷体" panose="02010600040101010101" pitchFamily="2" charset="-122"/>
                <a:ea typeface="华文楷体" panose="02010600040101010101" pitchFamily="2" charset="-122"/>
              </a:rPr>
              <a:t>*</a:t>
            </a:r>
            <a:endParaRPr lang="zh-CN" altLang="en-US" sz="3200" b="1" dirty="0">
              <a:solidFill>
                <a:srgbClr val="0066FF"/>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19" name="Object 2">
                <a:extLst>
                  <a:ext uri="{FF2B5EF4-FFF2-40B4-BE49-F238E27FC236}">
                    <a16:creationId xmlns:a16="http://schemas.microsoft.com/office/drawing/2014/main" id="{E586940A-85A2-F8A1-5ADA-EEC6F896A7CD}"/>
                  </a:ext>
                </a:extLst>
              </p:cNvPr>
              <p:cNvSpPr txBox="1"/>
              <p:nvPr/>
            </p:nvSpPr>
            <p:spPr bwMode="auto">
              <a:xfrm>
                <a:off x="776672" y="1550269"/>
                <a:ext cx="3696614" cy="674688"/>
              </a:xfrm>
              <a:prstGeom prst="rect">
                <a:avLst/>
              </a:prstGeom>
              <a:noFill/>
              <a:ln>
                <a:noFill/>
              </a:ln>
            </p:spPr>
            <p:txBody>
              <a:bodyPr>
                <a:noAutofit/>
              </a:bodyPr>
              <a:lstStyle/>
              <a:p>
                <a14:m>
                  <m:oMath xmlns:m="http://schemas.openxmlformats.org/officeDocument/2006/math">
                    <m:r>
                      <a:rPr lang="zh-CN" altLang="en-US" sz="2800" i="1" smtClean="0">
                        <a:solidFill>
                          <a:srgbClr val="000000"/>
                        </a:solidFill>
                        <a:latin typeface="Cambria Math" panose="02040503050406030204" pitchFamily="18" charset="0"/>
                      </a:rPr>
                      <m:t>𝑊</m:t>
                    </m:r>
                    <m:r>
                      <a:rPr lang="zh-CN" altLang="en-US" sz="2800" i="1" smtClean="0">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1</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1</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2</m:t>
                        </m:r>
                        <m:r>
                          <a:rPr lang="en-US" altLang="zh-CN" sz="2800" b="0" i="1" smtClean="0">
                            <a:solidFill>
                              <a:srgbClr val="000000"/>
                            </a:solidFill>
                            <a:latin typeface="Cambria Math" panose="02040503050406030204" pitchFamily="18" charset="0"/>
                          </a:rPr>
                          <m:t>)</m:t>
                        </m:r>
                      </m:sub>
                    </m:sSub>
                    <m:r>
                      <a:rPr lang="zh-CN" altLang="en-US" sz="2800" i="1">
                        <a:solidFill>
                          <a:srgbClr val="000000"/>
                        </a:solidFill>
                        <a:latin typeface="Cambria Math" panose="02040503050406030204" pitchFamily="18" charset="0"/>
                      </a:rPr>
                      <m:t>+</m:t>
                    </m:r>
                  </m:oMath>
                </a14:m>
                <a:r>
                  <a:rPr lang="zh-CN" altLang="en-US" sz="2800" dirty="0">
                    <a:solidFill>
                      <a:srgbClr val="000000"/>
                    </a:solidFill>
                  </a:rPr>
                  <a:t> </a:t>
                </a:r>
                <a14:m>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𝑞</m:t>
                        </m:r>
                      </m:e>
                      <m:sub>
                        <m:r>
                          <a:rPr lang="zh-CN" altLang="en-US" sz="2800" i="1">
                            <a:solidFill>
                              <a:srgbClr val="000000"/>
                            </a:solidFill>
                            <a:latin typeface="Cambria Math" panose="02040503050406030204" pitchFamily="18" charset="0"/>
                          </a:rPr>
                          <m:t>1</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1</m:t>
                        </m:r>
                        <m:r>
                          <a:rPr lang="en-US" altLang="zh-CN" sz="280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3</m:t>
                        </m:r>
                        <m:r>
                          <a:rPr lang="en-US" altLang="zh-CN" sz="2800" i="1">
                            <a:solidFill>
                              <a:srgbClr val="000000"/>
                            </a:solidFill>
                            <a:latin typeface="Cambria Math" panose="02040503050406030204" pitchFamily="18" charset="0"/>
                          </a:rPr>
                          <m:t>)</m:t>
                        </m:r>
                      </m:sub>
                    </m:sSub>
                  </m:oMath>
                </a14:m>
                <a:endParaRPr lang="zh-CN" altLang="en-US" sz="2800" dirty="0"/>
              </a:p>
            </p:txBody>
          </p:sp>
        </mc:Choice>
        <mc:Fallback xmlns="">
          <p:sp>
            <p:nvSpPr>
              <p:cNvPr id="19" name="Object 2">
                <a:extLst>
                  <a:ext uri="{FF2B5EF4-FFF2-40B4-BE49-F238E27FC236}">
                    <a16:creationId xmlns:a16="http://schemas.microsoft.com/office/drawing/2014/main" id="{E586940A-85A2-F8A1-5ADA-EEC6F896A7CD}"/>
                  </a:ext>
                </a:extLst>
              </p:cNvPr>
              <p:cNvSpPr txBox="1">
                <a:spLocks noRot="1" noChangeAspect="1" noMove="1" noResize="1" noEditPoints="1" noAdjustHandles="1" noChangeArrowheads="1" noChangeShapeType="1" noTextEdit="1"/>
              </p:cNvSpPr>
              <p:nvPr/>
            </p:nvSpPr>
            <p:spPr bwMode="auto">
              <a:xfrm>
                <a:off x="776672" y="1550269"/>
                <a:ext cx="3696614" cy="674688"/>
              </a:xfrm>
              <a:prstGeom prst="rect">
                <a:avLst/>
              </a:prstGeom>
              <a:blipFill>
                <a:blip r:embed="rId6"/>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3E5097F6-FA54-2BF5-F400-4D0A5A1C49EF}"/>
                  </a:ext>
                </a:extLst>
              </p:cNvPr>
              <p:cNvSpPr txBox="1"/>
              <p:nvPr/>
            </p:nvSpPr>
            <p:spPr>
              <a:xfrm>
                <a:off x="6239721" y="1166857"/>
                <a:ext cx="3255433" cy="995594"/>
              </a:xfrm>
              <a:prstGeom prst="rect">
                <a:avLst/>
              </a:prstGeom>
              <a:noFill/>
            </p:spPr>
            <p:txBody>
              <a:bodyPr wrap="square">
                <a:spAutoFit/>
              </a:bodyPr>
              <a:lstStyle/>
              <a:p>
                <a14:m>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𝜙</m:t>
                        </m:r>
                      </m:e>
                      <m:sub>
                        <m:r>
                          <a:rPr lang="zh-CN" altLang="en-US" sz="2800" i="1">
                            <a:solidFill>
                              <a:srgbClr val="000000"/>
                            </a:solidFill>
                            <a:latin typeface="Cambria Math" panose="02040503050406030204" pitchFamily="18" charset="0"/>
                          </a:rPr>
                          <m:t>1</m:t>
                        </m:r>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2</m:t>
                        </m:r>
                        <m:r>
                          <a:rPr lang="en-US" altLang="zh-CN" sz="2800" b="0" i="1" smtClean="0">
                            <a:solidFill>
                              <a:srgbClr val="000000"/>
                            </a:solidFill>
                            <a:latin typeface="Cambria Math" panose="02040503050406030204" pitchFamily="18" charset="0"/>
                          </a:rPr>
                          <m:t>)</m:t>
                        </m:r>
                      </m:sub>
                    </m:sSub>
                  </m:oMath>
                </a14:m>
                <a:r>
                  <a:rPr lang="en-US" altLang="zh-CN" sz="2800" dirty="0"/>
                  <a:t>: </a:t>
                </a:r>
                <a:r>
                  <a:rPr lang="zh-CN" altLang="en-US" sz="2800" dirty="0"/>
                  <a:t>电荷</a:t>
                </a:r>
                <a:r>
                  <a:rPr lang="en-US" altLang="zh-CN" sz="2800" dirty="0"/>
                  <a:t>2</a:t>
                </a:r>
                <a:r>
                  <a:rPr lang="zh-CN" altLang="en-US" sz="2800" dirty="0"/>
                  <a:t>在电荷</a:t>
                </a:r>
                <a:r>
                  <a:rPr lang="en-US" altLang="zh-CN" sz="2800" dirty="0"/>
                  <a:t>1</a:t>
                </a:r>
                <a:r>
                  <a:rPr lang="zh-CN" altLang="en-US" sz="2800" dirty="0"/>
                  <a:t>所在位置的电势</a:t>
                </a:r>
              </a:p>
            </p:txBody>
          </p:sp>
        </mc:Choice>
        <mc:Fallback xmlns="">
          <p:sp>
            <p:nvSpPr>
              <p:cNvPr id="21" name="文本框 20">
                <a:extLst>
                  <a:ext uri="{FF2B5EF4-FFF2-40B4-BE49-F238E27FC236}">
                    <a16:creationId xmlns:a16="http://schemas.microsoft.com/office/drawing/2014/main" id="{3E5097F6-FA54-2BF5-F400-4D0A5A1C49EF}"/>
                  </a:ext>
                </a:extLst>
              </p:cNvPr>
              <p:cNvSpPr txBox="1">
                <a:spLocks noRot="1" noChangeAspect="1" noMove="1" noResize="1" noEditPoints="1" noAdjustHandles="1" noChangeArrowheads="1" noChangeShapeType="1" noTextEdit="1"/>
              </p:cNvSpPr>
              <p:nvPr/>
            </p:nvSpPr>
            <p:spPr>
              <a:xfrm>
                <a:off x="6239721" y="1166857"/>
                <a:ext cx="3255433" cy="995594"/>
              </a:xfrm>
              <a:prstGeom prst="rect">
                <a:avLst/>
              </a:prstGeom>
              <a:blipFill>
                <a:blip r:embed="rId7"/>
                <a:stretch>
                  <a:fillRect l="-3933" t="-6098" b="-158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06C9FDA0-6CA4-2E4B-62D6-FBD9A43F694E}"/>
                  </a:ext>
                </a:extLst>
              </p:cNvPr>
              <p:cNvSpPr txBox="1"/>
              <p:nvPr/>
            </p:nvSpPr>
            <p:spPr>
              <a:xfrm>
                <a:off x="4282375" y="1583913"/>
                <a:ext cx="1646353" cy="5647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solidFill>
                            <a:srgbClr val="0066FF"/>
                          </a:solidFill>
                          <a:latin typeface="Cambria Math" panose="02040503050406030204" pitchFamily="18" charset="0"/>
                        </a:rPr>
                        <m:t>+</m:t>
                      </m:r>
                      <m:sSub>
                        <m:sSubPr>
                          <m:ctrlPr>
                            <a:rPr lang="zh-CN" altLang="en-US" sz="2800" i="1">
                              <a:solidFill>
                                <a:srgbClr val="0066FF"/>
                              </a:solidFill>
                              <a:latin typeface="Cambria Math" panose="02040503050406030204" pitchFamily="18" charset="0"/>
                            </a:rPr>
                          </m:ctrlPr>
                        </m:sSubPr>
                        <m:e>
                          <m:r>
                            <a:rPr lang="zh-CN" altLang="en-US" sz="2800" i="1">
                              <a:solidFill>
                                <a:srgbClr val="0066FF"/>
                              </a:solidFill>
                              <a:latin typeface="Cambria Math" panose="02040503050406030204" pitchFamily="18" charset="0"/>
                            </a:rPr>
                            <m:t>𝑞</m:t>
                          </m:r>
                        </m:e>
                        <m:sub>
                          <m:r>
                            <a:rPr lang="zh-CN" altLang="en-US" sz="2800" i="1">
                              <a:solidFill>
                                <a:srgbClr val="0066FF"/>
                              </a:solidFill>
                              <a:latin typeface="Cambria Math" panose="02040503050406030204" pitchFamily="18" charset="0"/>
                            </a:rPr>
                            <m:t>2</m:t>
                          </m:r>
                        </m:sub>
                      </m:sSub>
                      <m:sSub>
                        <m:sSubPr>
                          <m:ctrlPr>
                            <a:rPr lang="zh-CN" altLang="en-US" sz="2800" i="1">
                              <a:solidFill>
                                <a:srgbClr val="0066FF"/>
                              </a:solidFill>
                              <a:latin typeface="Cambria Math" panose="02040503050406030204" pitchFamily="18" charset="0"/>
                            </a:rPr>
                          </m:ctrlPr>
                        </m:sSubPr>
                        <m:e>
                          <m:r>
                            <a:rPr lang="zh-CN" altLang="en-US" sz="2800" i="1">
                              <a:solidFill>
                                <a:srgbClr val="0066FF"/>
                              </a:solidFill>
                              <a:latin typeface="Cambria Math" panose="02040503050406030204" pitchFamily="18" charset="0"/>
                            </a:rPr>
                            <m:t>𝜙</m:t>
                          </m:r>
                        </m:e>
                        <m:sub>
                          <m:r>
                            <a:rPr lang="zh-CN" altLang="en-US" sz="2800" i="1">
                              <a:solidFill>
                                <a:srgbClr val="0066FF"/>
                              </a:solidFill>
                              <a:latin typeface="Cambria Math" panose="02040503050406030204" pitchFamily="18" charset="0"/>
                            </a:rPr>
                            <m:t>2</m:t>
                          </m:r>
                          <m:r>
                            <a:rPr lang="en-US" altLang="zh-CN" sz="2800" b="0" i="1" smtClean="0">
                              <a:solidFill>
                                <a:srgbClr val="0066FF"/>
                              </a:solidFill>
                              <a:latin typeface="Cambria Math" panose="02040503050406030204" pitchFamily="18" charset="0"/>
                            </a:rPr>
                            <m:t>(</m:t>
                          </m:r>
                          <m:r>
                            <a:rPr lang="zh-CN" altLang="en-US" sz="2800" i="1">
                              <a:solidFill>
                                <a:srgbClr val="0066FF"/>
                              </a:solidFill>
                              <a:latin typeface="Cambria Math" panose="02040503050406030204" pitchFamily="18" charset="0"/>
                            </a:rPr>
                            <m:t>3</m:t>
                          </m:r>
                          <m:r>
                            <a:rPr lang="en-US" altLang="zh-CN" sz="2800" b="0" i="1" smtClean="0">
                              <a:solidFill>
                                <a:srgbClr val="0066FF"/>
                              </a:solidFill>
                              <a:latin typeface="Cambria Math" panose="02040503050406030204" pitchFamily="18" charset="0"/>
                            </a:rPr>
                            <m:t>)</m:t>
                          </m:r>
                        </m:sub>
                      </m:sSub>
                    </m:oMath>
                  </m:oMathPara>
                </a14:m>
                <a:endParaRPr lang="zh-CN" altLang="en-US" sz="2800" dirty="0">
                  <a:solidFill>
                    <a:srgbClr val="0066FF"/>
                  </a:solidFill>
                </a:endParaRPr>
              </a:p>
            </p:txBody>
          </p:sp>
        </mc:Choice>
        <mc:Fallback xmlns="">
          <p:sp>
            <p:nvSpPr>
              <p:cNvPr id="25" name="文本框 24">
                <a:extLst>
                  <a:ext uri="{FF2B5EF4-FFF2-40B4-BE49-F238E27FC236}">
                    <a16:creationId xmlns:a16="http://schemas.microsoft.com/office/drawing/2014/main" id="{06C9FDA0-6CA4-2E4B-62D6-FBD9A43F694E}"/>
                  </a:ext>
                </a:extLst>
              </p:cNvPr>
              <p:cNvSpPr txBox="1">
                <a:spLocks noRot="1" noChangeAspect="1" noMove="1" noResize="1" noEditPoints="1" noAdjustHandles="1" noChangeArrowheads="1" noChangeShapeType="1" noTextEdit="1"/>
              </p:cNvSpPr>
              <p:nvPr/>
            </p:nvSpPr>
            <p:spPr>
              <a:xfrm>
                <a:off x="4282375" y="1583913"/>
                <a:ext cx="1646353" cy="564706"/>
              </a:xfrm>
              <a:prstGeom prst="rect">
                <a:avLst/>
              </a:prstGeom>
              <a:blipFill>
                <a:blip r:embed="rId8"/>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7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7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7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7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p:bldP spid="3" grpId="0"/>
      <p:bldP spid="6" grpId="0"/>
      <p:bldP spid="30729" grpId="0"/>
      <p:bldP spid="30730" grpId="0"/>
      <p:bldP spid="30731" grpId="0"/>
      <p:bldP spid="10" grpId="0"/>
      <p:bldP spid="11" grpId="0"/>
      <p:bldP spid="19" grpId="0"/>
      <p:bldP spid="2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8981E72-3BF1-4E8F-AB69-E3F25D4BDB18}"/>
              </a:ext>
            </a:extLst>
          </p:cNvPr>
          <p:cNvSpPr>
            <a:spLocks noGrp="1"/>
          </p:cNvSpPr>
          <p:nvPr>
            <p:ph type="title"/>
          </p:nvPr>
        </p:nvSpPr>
        <p:spPr>
          <a:xfrm>
            <a:off x="965200" y="818093"/>
            <a:ext cx="3958167" cy="748242"/>
          </a:xfrm>
        </p:spPr>
        <p:txBody>
          <a:bodyPr>
            <a:normAutofit/>
          </a:bodyPr>
          <a:lstStyle/>
          <a:p>
            <a:pPr marL="571500" indent="-571500" algn="ctr">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电荷系的静电能</a:t>
            </a:r>
            <a:r>
              <a:rPr lang="en-US" altLang="zh-CN" sz="3200" b="1" dirty="0">
                <a:solidFill>
                  <a:srgbClr val="0066FF"/>
                </a:solidFill>
                <a:latin typeface="华文楷体" panose="02010600040101010101" pitchFamily="2" charset="-122"/>
                <a:ea typeface="华文楷体" panose="02010600040101010101" pitchFamily="2" charset="-122"/>
              </a:rPr>
              <a:t>*</a:t>
            </a:r>
            <a:endParaRPr lang="zh-CN" altLang="en-US" sz="3200" b="1" dirty="0">
              <a:solidFill>
                <a:srgbClr val="0066FF"/>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7180EB97-0ABC-4415-A40F-E1252ADE9E5F}"/>
                  </a:ext>
                </a:extLst>
              </p:cNvPr>
              <p:cNvSpPr/>
              <p:nvPr/>
            </p:nvSpPr>
            <p:spPr>
              <a:xfrm>
                <a:off x="3191354" y="1695199"/>
                <a:ext cx="5809291" cy="2128403"/>
              </a:xfrm>
              <a:prstGeom prst="rect">
                <a:avLst/>
              </a:prstGeom>
            </p:spPr>
            <p:txBody>
              <a:bodyPr wrap="square">
                <a:spAutoFit/>
              </a:bodyPr>
              <a:lstStyle/>
              <a:p>
                <a:r>
                  <a:rPr lang="en-US" altLang="zh-CN" sz="2800" b="1" dirty="0"/>
                  <a:t>n</a:t>
                </a:r>
                <a:r>
                  <a:rPr lang="zh-CN" altLang="en-US" sz="2800" b="1" dirty="0"/>
                  <a:t>个点电荷组成系统：</a:t>
                </a:r>
                <a:br>
                  <a:rPr lang="en-US" altLang="zh-CN" sz="2800" b="1" dirty="0"/>
                </a:br>
                <a:endParaRPr lang="en-US" altLang="zh-CN" sz="2800" b="1" dirty="0"/>
              </a:p>
              <a:p>
                <a:pPr/>
                <a14:m>
                  <m:oMathPara xmlns:m="http://schemas.openxmlformats.org/officeDocument/2006/math">
                    <m:oMathParaPr>
                      <m:jc m:val="centerGroup"/>
                    </m:oMathParaPr>
                    <m:oMath xmlns:m="http://schemas.openxmlformats.org/officeDocument/2006/math">
                      <m:r>
                        <a:rPr lang="en-US" altLang="zh-CN" sz="2800" b="1" i="1" smtClean="0">
                          <a:solidFill>
                            <a:srgbClr val="0066FF"/>
                          </a:solidFill>
                          <a:latin typeface="Cambria Math" panose="02040503050406030204" pitchFamily="18" charset="0"/>
                        </a:rPr>
                        <m:t>𝑾</m:t>
                      </m:r>
                      <m:r>
                        <a:rPr lang="en-US" altLang="zh-CN" sz="2800" b="1" i="1" smtClean="0">
                          <a:solidFill>
                            <a:srgbClr val="0066FF"/>
                          </a:solidFill>
                          <a:latin typeface="Cambria Math" panose="02040503050406030204" pitchFamily="18" charset="0"/>
                        </a:rPr>
                        <m:t>=</m:t>
                      </m:r>
                      <m:f>
                        <m:fPr>
                          <m:ctrlPr>
                            <a:rPr lang="en-US" altLang="zh-CN" sz="2800" b="1" i="1">
                              <a:solidFill>
                                <a:srgbClr val="0066FF"/>
                              </a:solidFill>
                              <a:latin typeface="Cambria Math" panose="02040503050406030204" pitchFamily="18" charset="0"/>
                            </a:rPr>
                          </m:ctrlPr>
                        </m:fPr>
                        <m:num>
                          <m:r>
                            <a:rPr lang="en-US" altLang="zh-CN" sz="2800" b="1" i="1">
                              <a:solidFill>
                                <a:srgbClr val="0066FF"/>
                              </a:solidFill>
                              <a:latin typeface="Cambria Math" panose="02040503050406030204" pitchFamily="18" charset="0"/>
                            </a:rPr>
                            <m:t>𝟏</m:t>
                          </m:r>
                        </m:num>
                        <m:den>
                          <m:r>
                            <a:rPr lang="en-US" altLang="zh-CN" sz="2800" b="1" i="1">
                              <a:solidFill>
                                <a:srgbClr val="0066FF"/>
                              </a:solidFill>
                              <a:latin typeface="Cambria Math" panose="02040503050406030204" pitchFamily="18" charset="0"/>
                            </a:rPr>
                            <m:t>𝟐</m:t>
                          </m:r>
                        </m:den>
                      </m:f>
                      <m:nary>
                        <m:naryPr>
                          <m:chr m:val="∑"/>
                          <m:ctrlPr>
                            <a:rPr lang="en-US" altLang="zh-CN" sz="2800" b="1" i="1">
                              <a:solidFill>
                                <a:srgbClr val="0066FF"/>
                              </a:solidFill>
                              <a:latin typeface="Cambria Math" panose="02040503050406030204" pitchFamily="18" charset="0"/>
                            </a:rPr>
                          </m:ctrlPr>
                        </m:naryPr>
                        <m:sub>
                          <m:r>
                            <m:rPr>
                              <m:brk m:alnAt="23"/>
                            </m:rPr>
                            <a:rPr lang="en-US" altLang="zh-CN" sz="2800" b="1" i="1">
                              <a:solidFill>
                                <a:srgbClr val="0066FF"/>
                              </a:solidFill>
                              <a:latin typeface="Cambria Math" panose="02040503050406030204" pitchFamily="18" charset="0"/>
                            </a:rPr>
                            <m:t>𝒊</m:t>
                          </m:r>
                          <m:r>
                            <a:rPr lang="en-US" altLang="zh-CN" sz="2800" b="1" i="1">
                              <a:solidFill>
                                <a:srgbClr val="0066FF"/>
                              </a:solidFill>
                              <a:latin typeface="Cambria Math" panose="02040503050406030204" pitchFamily="18" charset="0"/>
                            </a:rPr>
                            <m:t>=</m:t>
                          </m:r>
                          <m:r>
                            <a:rPr lang="en-US" altLang="zh-CN" sz="2800" b="1" i="1">
                              <a:solidFill>
                                <a:srgbClr val="0066FF"/>
                              </a:solidFill>
                              <a:latin typeface="Cambria Math" panose="02040503050406030204" pitchFamily="18" charset="0"/>
                            </a:rPr>
                            <m:t>𝟏</m:t>
                          </m:r>
                        </m:sub>
                        <m:sup>
                          <m:r>
                            <a:rPr lang="en-US" altLang="zh-CN" sz="2800" b="1" i="1">
                              <a:solidFill>
                                <a:srgbClr val="0066FF"/>
                              </a:solidFill>
                              <a:latin typeface="Cambria Math" panose="02040503050406030204" pitchFamily="18" charset="0"/>
                            </a:rPr>
                            <m:t>𝒏</m:t>
                          </m:r>
                        </m:sup>
                        <m:e>
                          <m:sSub>
                            <m:sSubPr>
                              <m:ctrlPr>
                                <a:rPr lang="en-US" altLang="zh-CN" sz="2800" b="1" i="1">
                                  <a:solidFill>
                                    <a:srgbClr val="0066FF"/>
                                  </a:solidFill>
                                  <a:latin typeface="Cambria Math" panose="02040503050406030204" pitchFamily="18" charset="0"/>
                                </a:rPr>
                              </m:ctrlPr>
                            </m:sSubPr>
                            <m:e>
                              <m:r>
                                <a:rPr lang="en-US" altLang="zh-CN" sz="2800" b="1" i="1">
                                  <a:solidFill>
                                    <a:srgbClr val="0066FF"/>
                                  </a:solidFill>
                                  <a:latin typeface="Cambria Math" panose="02040503050406030204" pitchFamily="18" charset="0"/>
                                </a:rPr>
                                <m:t>𝒒</m:t>
                              </m:r>
                            </m:e>
                            <m:sub>
                              <m:r>
                                <a:rPr lang="en-US" altLang="zh-CN" sz="2800" b="1" i="1">
                                  <a:solidFill>
                                    <a:srgbClr val="0066FF"/>
                                  </a:solidFill>
                                  <a:latin typeface="Cambria Math" panose="02040503050406030204" pitchFamily="18" charset="0"/>
                                </a:rPr>
                                <m:t>𝒊</m:t>
                              </m:r>
                            </m:sub>
                          </m:sSub>
                          <m:sSub>
                            <m:sSubPr>
                              <m:ctrlPr>
                                <a:rPr lang="en-US" altLang="zh-CN" sz="2800" b="1" i="1">
                                  <a:solidFill>
                                    <a:srgbClr val="0066FF"/>
                                  </a:solidFill>
                                  <a:latin typeface="Cambria Math" panose="02040503050406030204" pitchFamily="18" charset="0"/>
                                </a:rPr>
                              </m:ctrlPr>
                            </m:sSubPr>
                            <m:e>
                              <m:r>
                                <a:rPr lang="zh-CN" altLang="en-US" sz="2800" b="1" i="1">
                                  <a:solidFill>
                                    <a:srgbClr val="0066FF"/>
                                  </a:solidFill>
                                  <a:latin typeface="Cambria Math" panose="02040503050406030204" pitchFamily="18" charset="0"/>
                                </a:rPr>
                                <m:t>𝝋</m:t>
                              </m:r>
                            </m:e>
                            <m:sub>
                              <m:r>
                                <a:rPr lang="en-US" altLang="zh-CN" sz="2800" b="1" i="1">
                                  <a:solidFill>
                                    <a:srgbClr val="0066FF"/>
                                  </a:solidFill>
                                  <a:latin typeface="Cambria Math" panose="02040503050406030204" pitchFamily="18" charset="0"/>
                                </a:rPr>
                                <m:t>𝒊</m:t>
                              </m:r>
                            </m:sub>
                          </m:sSub>
                        </m:e>
                      </m:nary>
                    </m:oMath>
                  </m:oMathPara>
                </a14:m>
                <a:endParaRPr lang="en-US" sz="2800" b="1" dirty="0">
                  <a:solidFill>
                    <a:srgbClr val="0066FF"/>
                  </a:solidFill>
                </a:endParaRPr>
              </a:p>
            </p:txBody>
          </p:sp>
        </mc:Choice>
        <mc:Fallback xmlns="">
          <p:sp>
            <p:nvSpPr>
              <p:cNvPr id="28" name="矩形 27">
                <a:extLst>
                  <a:ext uri="{FF2B5EF4-FFF2-40B4-BE49-F238E27FC236}">
                    <a16:creationId xmlns:a16="http://schemas.microsoft.com/office/drawing/2014/main" id="{7180EB97-0ABC-4415-A40F-E1252ADE9E5F}"/>
                  </a:ext>
                </a:extLst>
              </p:cNvPr>
              <p:cNvSpPr>
                <a:spLocks noRot="1" noChangeAspect="1" noMove="1" noResize="1" noEditPoints="1" noAdjustHandles="1" noChangeArrowheads="1" noChangeShapeType="1" noTextEdit="1"/>
              </p:cNvSpPr>
              <p:nvPr/>
            </p:nvSpPr>
            <p:spPr>
              <a:xfrm>
                <a:off x="3191354" y="1695199"/>
                <a:ext cx="5809291" cy="2128403"/>
              </a:xfrm>
              <a:prstGeom prst="rect">
                <a:avLst/>
              </a:prstGeom>
              <a:blipFill>
                <a:blip r:embed="rId3"/>
                <a:stretch>
                  <a:fillRect l="-2206" t="-34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089E417F-58DF-4603-A6DC-77781E1F56B9}"/>
                  </a:ext>
                </a:extLst>
              </p:cNvPr>
              <p:cNvSpPr/>
              <p:nvPr/>
            </p:nvSpPr>
            <p:spPr>
              <a:xfrm>
                <a:off x="3418834" y="5359896"/>
                <a:ext cx="4771627" cy="11517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b="1" i="1" dirty="0" smtClean="0">
                          <a:solidFill>
                            <a:srgbClr val="0066FF"/>
                          </a:solidFill>
                          <a:latin typeface="Cambria Math" panose="02040503050406030204" pitchFamily="18" charset="0"/>
                        </a:rPr>
                        <m:t>连续带电体</m:t>
                      </m:r>
                      <m:r>
                        <a:rPr lang="zh-CN" altLang="en-US" sz="2800" b="1" i="1">
                          <a:solidFill>
                            <a:srgbClr val="0066FF"/>
                          </a:solidFill>
                          <a:latin typeface="Cambria Math" panose="02040503050406030204" pitchFamily="18" charset="0"/>
                        </a:rPr>
                        <m:t>：</m:t>
                      </m:r>
                      <m:r>
                        <a:rPr lang="en-US" altLang="zh-CN" sz="2800" b="1" i="1">
                          <a:solidFill>
                            <a:srgbClr val="0066FF"/>
                          </a:solidFill>
                          <a:latin typeface="Cambria Math" panose="02040503050406030204" pitchFamily="18" charset="0"/>
                        </a:rPr>
                        <m:t>𝑾</m:t>
                      </m:r>
                      <m:r>
                        <a:rPr lang="en-US" altLang="zh-CN" sz="2800" b="1" i="1">
                          <a:solidFill>
                            <a:srgbClr val="0066FF"/>
                          </a:solidFill>
                          <a:latin typeface="Cambria Math" panose="02040503050406030204" pitchFamily="18" charset="0"/>
                        </a:rPr>
                        <m:t>=</m:t>
                      </m:r>
                      <m:f>
                        <m:fPr>
                          <m:ctrlPr>
                            <a:rPr lang="en-US" altLang="zh-CN" sz="2800" b="1" i="1">
                              <a:solidFill>
                                <a:srgbClr val="0066FF"/>
                              </a:solidFill>
                              <a:latin typeface="Cambria Math" panose="02040503050406030204" pitchFamily="18" charset="0"/>
                            </a:rPr>
                          </m:ctrlPr>
                        </m:fPr>
                        <m:num>
                          <m:r>
                            <a:rPr lang="en-US" altLang="zh-CN" sz="2800" b="1" i="1">
                              <a:solidFill>
                                <a:srgbClr val="0066FF"/>
                              </a:solidFill>
                              <a:latin typeface="Cambria Math" panose="02040503050406030204" pitchFamily="18" charset="0"/>
                            </a:rPr>
                            <m:t>𝟏</m:t>
                          </m:r>
                        </m:num>
                        <m:den>
                          <m:r>
                            <a:rPr lang="en-US" altLang="zh-CN" sz="2800" b="1" i="1">
                              <a:solidFill>
                                <a:srgbClr val="0066FF"/>
                              </a:solidFill>
                              <a:latin typeface="Cambria Math" panose="02040503050406030204" pitchFamily="18" charset="0"/>
                            </a:rPr>
                            <m:t>𝟐</m:t>
                          </m:r>
                        </m:den>
                      </m:f>
                      <m:nary>
                        <m:naryPr>
                          <m:ctrlPr>
                            <a:rPr lang="en-US" altLang="zh-CN" sz="2800" b="1" i="1">
                              <a:solidFill>
                                <a:srgbClr val="0066FF"/>
                              </a:solidFill>
                              <a:latin typeface="Cambria Math" panose="02040503050406030204" pitchFamily="18" charset="0"/>
                            </a:rPr>
                          </m:ctrlPr>
                        </m:naryPr>
                        <m:sub>
                          <m:r>
                            <m:rPr>
                              <m:brk m:alnAt="23"/>
                            </m:rPr>
                            <a:rPr lang="en-US" altLang="zh-CN" sz="2800" b="1" i="1">
                              <a:solidFill>
                                <a:srgbClr val="0066FF"/>
                              </a:solidFill>
                              <a:latin typeface="Cambria Math" panose="02040503050406030204" pitchFamily="18" charset="0"/>
                            </a:rPr>
                            <m:t>𝒒</m:t>
                          </m:r>
                        </m:sub>
                        <m:sup/>
                        <m:e>
                          <m:r>
                            <a:rPr lang="zh-CN" altLang="en-US" sz="2800" b="1" i="1">
                              <a:solidFill>
                                <a:srgbClr val="0066FF"/>
                              </a:solidFill>
                              <a:latin typeface="Cambria Math" panose="02040503050406030204" pitchFamily="18" charset="0"/>
                            </a:rPr>
                            <m:t>𝝋</m:t>
                          </m:r>
                          <m:r>
                            <a:rPr lang="en-US" altLang="zh-CN" sz="2800" b="1" i="1">
                              <a:solidFill>
                                <a:srgbClr val="0066FF"/>
                              </a:solidFill>
                              <a:latin typeface="Cambria Math" panose="02040503050406030204" pitchFamily="18" charset="0"/>
                            </a:rPr>
                            <m:t>𝒅𝒒</m:t>
                          </m:r>
                        </m:e>
                      </m:nary>
                    </m:oMath>
                  </m:oMathPara>
                </a14:m>
                <a:endParaRPr lang="zh-CN" altLang="en-US" sz="2800" b="1" dirty="0">
                  <a:solidFill>
                    <a:srgbClr val="0066FF"/>
                  </a:solidFill>
                </a:endParaRPr>
              </a:p>
            </p:txBody>
          </p:sp>
        </mc:Choice>
        <mc:Fallback xmlns="">
          <p:sp>
            <p:nvSpPr>
              <p:cNvPr id="29" name="矩形 28">
                <a:extLst>
                  <a:ext uri="{FF2B5EF4-FFF2-40B4-BE49-F238E27FC236}">
                    <a16:creationId xmlns:a16="http://schemas.microsoft.com/office/drawing/2014/main" id="{089E417F-58DF-4603-A6DC-77781E1F56B9}"/>
                  </a:ext>
                </a:extLst>
              </p:cNvPr>
              <p:cNvSpPr>
                <a:spLocks noRot="1" noChangeAspect="1" noMove="1" noResize="1" noEditPoints="1" noAdjustHandles="1" noChangeArrowheads="1" noChangeShapeType="1" noTextEdit="1"/>
              </p:cNvSpPr>
              <p:nvPr/>
            </p:nvSpPr>
            <p:spPr>
              <a:xfrm>
                <a:off x="3418834" y="5359896"/>
                <a:ext cx="4771627" cy="1151726"/>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8">
                <a:extLst>
                  <a:ext uri="{FF2B5EF4-FFF2-40B4-BE49-F238E27FC236}">
                    <a16:creationId xmlns:a16="http://schemas.microsoft.com/office/drawing/2014/main" id="{5134070F-5AD2-2732-48E2-AC30584D444A}"/>
                  </a:ext>
                </a:extLst>
              </p:cNvPr>
              <p:cNvSpPr txBox="1"/>
              <p:nvPr/>
            </p:nvSpPr>
            <p:spPr bwMode="auto">
              <a:xfrm>
                <a:off x="3208377" y="4263572"/>
                <a:ext cx="5654218" cy="804863"/>
              </a:xfrm>
              <a:prstGeom prst="rect">
                <a:avLst/>
              </a:prstGeom>
              <a:noFill/>
              <a:ln>
                <a:noFill/>
              </a:ln>
              <a:effectLst/>
            </p:spPr>
            <p:txBody>
              <a:bodyPr>
                <a:normAutofit/>
              </a:bodyPr>
              <a:lstStyle/>
              <a:p>
                <a14:m>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𝜑</m:t>
                        </m:r>
                      </m:e>
                      <m:sub>
                        <m:r>
                          <a:rPr lang="zh-CN" altLang="en-US" sz="2800" i="1">
                            <a:solidFill>
                              <a:srgbClr val="000000"/>
                            </a:solidFill>
                            <a:latin typeface="Cambria Math" panose="02040503050406030204" pitchFamily="18" charset="0"/>
                          </a:rPr>
                          <m:t>𝑖</m:t>
                        </m:r>
                      </m:sub>
                    </m:sSub>
                  </m:oMath>
                </a14:m>
                <a:r>
                  <a:rPr lang="en-US" altLang="zh-CN" sz="2800" dirty="0"/>
                  <a:t>: </a:t>
                </a:r>
                <a:r>
                  <a:rPr lang="zh-CN" altLang="en-US" sz="2800" dirty="0"/>
                  <a:t>除      以外的电荷在    处的电势</a:t>
                </a:r>
              </a:p>
            </p:txBody>
          </p:sp>
        </mc:Choice>
        <mc:Fallback xmlns="">
          <p:sp>
            <p:nvSpPr>
              <p:cNvPr id="12" name="Object 8">
                <a:extLst>
                  <a:ext uri="{FF2B5EF4-FFF2-40B4-BE49-F238E27FC236}">
                    <a16:creationId xmlns:a16="http://schemas.microsoft.com/office/drawing/2014/main" id="{5134070F-5AD2-2732-48E2-AC30584D444A}"/>
                  </a:ext>
                </a:extLst>
              </p:cNvPr>
              <p:cNvSpPr txBox="1">
                <a:spLocks noRot="1" noChangeAspect="1" noMove="1" noResize="1" noEditPoints="1" noAdjustHandles="1" noChangeArrowheads="1" noChangeShapeType="1" noTextEdit="1"/>
              </p:cNvSpPr>
              <p:nvPr/>
            </p:nvSpPr>
            <p:spPr bwMode="auto">
              <a:xfrm>
                <a:off x="3208377" y="4263572"/>
                <a:ext cx="5654218" cy="804863"/>
              </a:xfrm>
              <a:prstGeom prst="rect">
                <a:avLst/>
              </a:prstGeom>
              <a:blipFill>
                <a:blip r:embed="rId5"/>
                <a:stretch>
                  <a:fillRect t="-9091"/>
                </a:stretch>
              </a:blipFill>
              <a:ln>
                <a:noFill/>
              </a:ln>
              <a:effectLst/>
            </p:spPr>
            <p:txBody>
              <a:bodyPr/>
              <a:lstStyle/>
              <a:p>
                <a:r>
                  <a:rPr lang="zh-CN" altLang="en-US">
                    <a:noFill/>
                  </a:rPr>
                  <a:t> </a:t>
                </a:r>
              </a:p>
            </p:txBody>
          </p:sp>
        </mc:Fallback>
      </mc:AlternateContent>
      <p:graphicFrame>
        <p:nvGraphicFramePr>
          <p:cNvPr id="13" name="Object 12">
            <a:extLst>
              <a:ext uri="{FF2B5EF4-FFF2-40B4-BE49-F238E27FC236}">
                <a16:creationId xmlns:a16="http://schemas.microsoft.com/office/drawing/2014/main" id="{DF0E6324-30F9-0659-F564-10AEA152FC4A}"/>
              </a:ext>
            </a:extLst>
          </p:cNvPr>
          <p:cNvGraphicFramePr>
            <a:graphicFrameLocks/>
          </p:cNvGraphicFramePr>
          <p:nvPr/>
        </p:nvGraphicFramePr>
        <p:xfrm>
          <a:off x="4251044" y="4227287"/>
          <a:ext cx="402187" cy="590130"/>
        </p:xfrm>
        <a:graphic>
          <a:graphicData uri="http://schemas.openxmlformats.org/presentationml/2006/ole">
            <mc:AlternateContent xmlns:mc="http://schemas.openxmlformats.org/markup-compatibility/2006">
              <mc:Choice xmlns:v="urn:schemas-microsoft-com:vml" Requires="v">
                <p:oleObj spid="_x0000_s3078" name="公式" r:id="rId6" imgW="152268" imgH="203024" progId="Equation.3">
                  <p:embed/>
                </p:oleObj>
              </mc:Choice>
              <mc:Fallback>
                <p:oleObj name="公式" r:id="rId6" imgW="152268" imgH="203024" progId="Equation.3">
                  <p:embed/>
                  <p:pic>
                    <p:nvPicPr>
                      <p:cNvPr id="13" name="Object 12">
                        <a:extLst>
                          <a:ext uri="{FF2B5EF4-FFF2-40B4-BE49-F238E27FC236}">
                            <a16:creationId xmlns:a16="http://schemas.microsoft.com/office/drawing/2014/main" id="{DF0E6324-30F9-0659-F564-10AEA152FC4A}"/>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51044" y="4227287"/>
                        <a:ext cx="402187" cy="590130"/>
                      </a:xfrm>
                      <a:prstGeom prst="rect">
                        <a:avLst/>
                      </a:prstGeom>
                      <a:noFill/>
                      <a:ln>
                        <a:noFill/>
                      </a:ln>
                      <a:effectLst/>
                    </p:spPr>
                  </p:pic>
                </p:oleObj>
              </mc:Fallback>
            </mc:AlternateContent>
          </a:graphicData>
        </a:graphic>
      </p:graphicFrame>
      <p:graphicFrame>
        <p:nvGraphicFramePr>
          <p:cNvPr id="15" name="Object 12">
            <a:extLst>
              <a:ext uri="{FF2B5EF4-FFF2-40B4-BE49-F238E27FC236}">
                <a16:creationId xmlns:a16="http://schemas.microsoft.com/office/drawing/2014/main" id="{A4C19A9A-0E38-DD04-D9B2-CEF91ACB14E1}"/>
              </a:ext>
            </a:extLst>
          </p:cNvPr>
          <p:cNvGraphicFramePr>
            <a:graphicFrameLocks/>
          </p:cNvGraphicFramePr>
          <p:nvPr/>
        </p:nvGraphicFramePr>
        <p:xfrm>
          <a:off x="6863616" y="4198060"/>
          <a:ext cx="402187" cy="590130"/>
        </p:xfrm>
        <a:graphic>
          <a:graphicData uri="http://schemas.openxmlformats.org/presentationml/2006/ole">
            <mc:AlternateContent xmlns:mc="http://schemas.openxmlformats.org/markup-compatibility/2006">
              <mc:Choice xmlns:v="urn:schemas-microsoft-com:vml" Requires="v">
                <p:oleObj spid="_x0000_s3079" name="公式" r:id="rId8" imgW="152268" imgH="203024" progId="Equation.3">
                  <p:embed/>
                </p:oleObj>
              </mc:Choice>
              <mc:Fallback>
                <p:oleObj name="公式" r:id="rId8" imgW="152268" imgH="203024" progId="Equation.3">
                  <p:embed/>
                  <p:pic>
                    <p:nvPicPr>
                      <p:cNvPr id="15" name="Object 12">
                        <a:extLst>
                          <a:ext uri="{FF2B5EF4-FFF2-40B4-BE49-F238E27FC236}">
                            <a16:creationId xmlns:a16="http://schemas.microsoft.com/office/drawing/2014/main" id="{A4C19A9A-0E38-DD04-D9B2-CEF91ACB14E1}"/>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63616" y="4198060"/>
                        <a:ext cx="402187" cy="59013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151731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426" y="474896"/>
            <a:ext cx="6586040" cy="801362"/>
          </a:xfrm>
        </p:spPr>
        <p:txBody>
          <a:bodyPr>
            <a:normAutofit/>
          </a:bodyPr>
          <a:lstStyle/>
          <a:p>
            <a:pPr marL="571500" indent="-571500">
              <a:buFont typeface="Wingdings" panose="05000000000000000000" pitchFamily="2" charset="2"/>
              <a:buChar char="q"/>
            </a:pPr>
            <a:r>
              <a:rPr lang="zh-CN" altLang="en-US" sz="32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均匀带电</a:t>
            </a:r>
            <a:r>
              <a:rPr lang="zh-CN" altLang="en-US" sz="3200" b="1" dirty="0">
                <a:solidFill>
                  <a:srgbClr val="0066FF"/>
                </a:solidFill>
                <a:latin typeface="华文楷体" panose="02010600040101010101" pitchFamily="2" charset="-122"/>
                <a:ea typeface="华文楷体" panose="02010600040101010101" pitchFamily="2" charset="-122"/>
              </a:rPr>
              <a:t>球面</a:t>
            </a:r>
            <a:r>
              <a:rPr lang="zh-CN" altLang="en-US" sz="32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的静电能</a:t>
            </a:r>
          </a:p>
        </p:txBody>
      </p:sp>
      <p:grpSp>
        <p:nvGrpSpPr>
          <p:cNvPr id="5" name="Group 7">
            <a:extLst>
              <a:ext uri="{FF2B5EF4-FFF2-40B4-BE49-F238E27FC236}">
                <a16:creationId xmlns:a16="http://schemas.microsoft.com/office/drawing/2014/main" id="{6CC29D45-F942-4917-9ECB-925BEC383DC3}"/>
              </a:ext>
            </a:extLst>
          </p:cNvPr>
          <p:cNvGrpSpPr>
            <a:grpSpLocks/>
          </p:cNvGrpSpPr>
          <p:nvPr/>
        </p:nvGrpSpPr>
        <p:grpSpPr bwMode="auto">
          <a:xfrm>
            <a:off x="1093669" y="1435250"/>
            <a:ext cx="2587241" cy="2474892"/>
            <a:chOff x="3360" y="672"/>
            <a:chExt cx="2032" cy="1947"/>
          </a:xfrm>
        </p:grpSpPr>
        <p:sp>
          <p:nvSpPr>
            <p:cNvPr id="6" name="Oval 8">
              <a:extLst>
                <a:ext uri="{FF2B5EF4-FFF2-40B4-BE49-F238E27FC236}">
                  <a16:creationId xmlns:a16="http://schemas.microsoft.com/office/drawing/2014/main" id="{A294C2CD-6CBF-480A-8270-2A2C934880E9}"/>
                </a:ext>
              </a:extLst>
            </p:cNvPr>
            <p:cNvSpPr>
              <a:spLocks noChangeArrowheads="1"/>
            </p:cNvSpPr>
            <p:nvPr/>
          </p:nvSpPr>
          <p:spPr bwMode="auto">
            <a:xfrm>
              <a:off x="3360" y="720"/>
              <a:ext cx="1898" cy="1899"/>
            </a:xfrm>
            <a:prstGeom prst="ellipse">
              <a:avLst/>
            </a:prstGeom>
            <a:gradFill rotWithShape="1">
              <a:gsLst>
                <a:gs pos="0">
                  <a:schemeClr val="bg1"/>
                </a:gs>
                <a:gs pos="100000">
                  <a:schemeClr val="bg1">
                    <a:gamma/>
                    <a:shade val="47451"/>
                    <a:invGamma/>
                  </a:schemeClr>
                </a:gs>
              </a:gsLst>
              <a:path path="shape">
                <a:fillToRect l="50000" t="50000" r="50000" b="50000"/>
              </a:path>
            </a:gradFill>
            <a:ln>
              <a:noFill/>
            </a:ln>
            <a:effectLst/>
            <a:extLst>
              <a:ext uri="{91240B29-F687-4F45-9708-019B960494DF}">
                <a14:hiddenLine xmlns:a14="http://schemas.microsoft.com/office/drawing/2010/main" w="508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endParaRPr lang="zh-CN" altLang="en-US" sz="2800" b="0">
                <a:solidFill>
                  <a:srgbClr val="000000"/>
                </a:solidFill>
                <a:ea typeface="华文楷体" panose="02010600040101010101" pitchFamily="2" charset="-122"/>
                <a:cs typeface="Times New Roman" panose="02020603050405020304" pitchFamily="18" charset="0"/>
              </a:endParaRPr>
            </a:p>
          </p:txBody>
        </p:sp>
        <p:sp>
          <p:nvSpPr>
            <p:cNvPr id="7" name="Rectangle 9">
              <a:extLst>
                <a:ext uri="{FF2B5EF4-FFF2-40B4-BE49-F238E27FC236}">
                  <a16:creationId xmlns:a16="http://schemas.microsoft.com/office/drawing/2014/main" id="{E5166DC3-66B7-4279-8F0B-D03AE7757B5A}"/>
                </a:ext>
              </a:extLst>
            </p:cNvPr>
            <p:cNvSpPr>
              <a:spLocks noChangeArrowheads="1"/>
            </p:cNvSpPr>
            <p:nvPr/>
          </p:nvSpPr>
          <p:spPr bwMode="auto">
            <a:xfrm>
              <a:off x="4864" y="1057"/>
              <a:ext cx="307" cy="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2800" b="0" dirty="0">
                  <a:solidFill>
                    <a:srgbClr val="000000"/>
                  </a:solidFill>
                  <a:ea typeface="华文楷体" panose="02010600040101010101" pitchFamily="2" charset="-122"/>
                  <a:cs typeface="Times New Roman" panose="02020603050405020304" pitchFamily="18" charset="0"/>
                </a:rPr>
                <a:t>+</a:t>
              </a:r>
            </a:p>
          </p:txBody>
        </p:sp>
        <p:grpSp>
          <p:nvGrpSpPr>
            <p:cNvPr id="8" name="Group 10">
              <a:extLst>
                <a:ext uri="{FF2B5EF4-FFF2-40B4-BE49-F238E27FC236}">
                  <a16:creationId xmlns:a16="http://schemas.microsoft.com/office/drawing/2014/main" id="{E059CA38-DE91-48DB-A9BD-C4B3D735D0E5}"/>
                </a:ext>
              </a:extLst>
            </p:cNvPr>
            <p:cNvGrpSpPr>
              <a:grpSpLocks/>
            </p:cNvGrpSpPr>
            <p:nvPr/>
          </p:nvGrpSpPr>
          <p:grpSpPr bwMode="auto">
            <a:xfrm>
              <a:off x="3463" y="672"/>
              <a:ext cx="1929" cy="1918"/>
              <a:chOff x="3185" y="1871"/>
              <a:chExt cx="2398" cy="2384"/>
            </a:xfrm>
          </p:grpSpPr>
          <p:sp>
            <p:nvSpPr>
              <p:cNvPr id="13" name="Rectangle 11">
                <a:extLst>
                  <a:ext uri="{FF2B5EF4-FFF2-40B4-BE49-F238E27FC236}">
                    <a16:creationId xmlns:a16="http://schemas.microsoft.com/office/drawing/2014/main" id="{4C0D178A-2D27-4BD3-BB3E-E9A8A85F4980}"/>
                  </a:ext>
                </a:extLst>
              </p:cNvPr>
              <p:cNvSpPr>
                <a:spLocks noChangeArrowheads="1"/>
              </p:cNvSpPr>
              <p:nvPr/>
            </p:nvSpPr>
            <p:spPr bwMode="auto">
              <a:xfrm>
                <a:off x="3331" y="3312"/>
                <a:ext cx="38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2800" b="0">
                    <a:solidFill>
                      <a:srgbClr val="000000"/>
                    </a:solidFill>
                    <a:ea typeface="华文楷体" panose="02010600040101010101" pitchFamily="2" charset="-122"/>
                    <a:cs typeface="Times New Roman" panose="02020603050405020304" pitchFamily="18" charset="0"/>
                  </a:rPr>
                  <a:t>+</a:t>
                </a:r>
              </a:p>
            </p:txBody>
          </p:sp>
          <p:sp>
            <p:nvSpPr>
              <p:cNvPr id="14" name="Rectangle 12">
                <a:extLst>
                  <a:ext uri="{FF2B5EF4-FFF2-40B4-BE49-F238E27FC236}">
                    <a16:creationId xmlns:a16="http://schemas.microsoft.com/office/drawing/2014/main" id="{D02E7AD7-23F5-4F04-A882-4FF0FC62FA1E}"/>
                  </a:ext>
                </a:extLst>
              </p:cNvPr>
              <p:cNvSpPr>
                <a:spLocks noChangeArrowheads="1"/>
              </p:cNvSpPr>
              <p:nvPr/>
            </p:nvSpPr>
            <p:spPr bwMode="auto">
              <a:xfrm>
                <a:off x="3185" y="3022"/>
                <a:ext cx="38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2800" b="0">
                    <a:solidFill>
                      <a:srgbClr val="000000"/>
                    </a:solidFill>
                    <a:ea typeface="华文楷体" panose="02010600040101010101" pitchFamily="2" charset="-122"/>
                    <a:cs typeface="Times New Roman" panose="02020603050405020304" pitchFamily="18" charset="0"/>
                  </a:rPr>
                  <a:t>+</a:t>
                </a:r>
              </a:p>
            </p:txBody>
          </p:sp>
          <p:sp>
            <p:nvSpPr>
              <p:cNvPr id="15" name="Rectangle 13">
                <a:extLst>
                  <a:ext uri="{FF2B5EF4-FFF2-40B4-BE49-F238E27FC236}">
                    <a16:creationId xmlns:a16="http://schemas.microsoft.com/office/drawing/2014/main" id="{8773E4B1-DAC3-4C29-8C6B-7F2E74DADC53}"/>
                  </a:ext>
                </a:extLst>
              </p:cNvPr>
              <p:cNvSpPr>
                <a:spLocks noChangeArrowheads="1"/>
              </p:cNvSpPr>
              <p:nvPr/>
            </p:nvSpPr>
            <p:spPr bwMode="auto">
              <a:xfrm>
                <a:off x="3185" y="2735"/>
                <a:ext cx="38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2800" b="0" dirty="0">
                    <a:solidFill>
                      <a:srgbClr val="000000"/>
                    </a:solidFill>
                    <a:ea typeface="华文楷体" panose="02010600040101010101" pitchFamily="2" charset="-122"/>
                    <a:cs typeface="Times New Roman" panose="02020603050405020304" pitchFamily="18" charset="0"/>
                  </a:rPr>
                  <a:t>+</a:t>
                </a:r>
              </a:p>
            </p:txBody>
          </p:sp>
          <p:sp>
            <p:nvSpPr>
              <p:cNvPr id="16" name="Rectangle 14">
                <a:extLst>
                  <a:ext uri="{FF2B5EF4-FFF2-40B4-BE49-F238E27FC236}">
                    <a16:creationId xmlns:a16="http://schemas.microsoft.com/office/drawing/2014/main" id="{427096D2-EC50-42B3-B813-085CA12A1272}"/>
                  </a:ext>
                </a:extLst>
              </p:cNvPr>
              <p:cNvSpPr>
                <a:spLocks noChangeArrowheads="1"/>
              </p:cNvSpPr>
              <p:nvPr/>
            </p:nvSpPr>
            <p:spPr bwMode="auto">
              <a:xfrm>
                <a:off x="3281" y="2351"/>
                <a:ext cx="38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2800" b="0">
                    <a:solidFill>
                      <a:srgbClr val="000000"/>
                    </a:solidFill>
                    <a:ea typeface="华文楷体" panose="02010600040101010101" pitchFamily="2" charset="-122"/>
                    <a:cs typeface="Times New Roman" panose="02020603050405020304" pitchFamily="18" charset="0"/>
                  </a:rPr>
                  <a:t>+</a:t>
                </a:r>
              </a:p>
            </p:txBody>
          </p:sp>
          <p:sp>
            <p:nvSpPr>
              <p:cNvPr id="17" name="Rectangle 15">
                <a:extLst>
                  <a:ext uri="{FF2B5EF4-FFF2-40B4-BE49-F238E27FC236}">
                    <a16:creationId xmlns:a16="http://schemas.microsoft.com/office/drawing/2014/main" id="{E5180BE3-5356-4EAC-9591-9B9CF275CA4C}"/>
                  </a:ext>
                </a:extLst>
              </p:cNvPr>
              <p:cNvSpPr>
                <a:spLocks noChangeArrowheads="1"/>
              </p:cNvSpPr>
              <p:nvPr/>
            </p:nvSpPr>
            <p:spPr bwMode="auto">
              <a:xfrm>
                <a:off x="3569" y="2062"/>
                <a:ext cx="38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2800" b="0">
                    <a:solidFill>
                      <a:srgbClr val="000000"/>
                    </a:solidFill>
                    <a:ea typeface="华文楷体" panose="02010600040101010101" pitchFamily="2" charset="-122"/>
                    <a:cs typeface="Times New Roman" panose="02020603050405020304" pitchFamily="18" charset="0"/>
                  </a:rPr>
                  <a:t>+</a:t>
                </a:r>
              </a:p>
            </p:txBody>
          </p:sp>
          <p:sp>
            <p:nvSpPr>
              <p:cNvPr id="18" name="Rectangle 16">
                <a:extLst>
                  <a:ext uri="{FF2B5EF4-FFF2-40B4-BE49-F238E27FC236}">
                    <a16:creationId xmlns:a16="http://schemas.microsoft.com/office/drawing/2014/main" id="{1A080768-143F-43A1-9697-2B8C03BBDEAF}"/>
                  </a:ext>
                </a:extLst>
              </p:cNvPr>
              <p:cNvSpPr>
                <a:spLocks noChangeArrowheads="1"/>
              </p:cNvSpPr>
              <p:nvPr/>
            </p:nvSpPr>
            <p:spPr bwMode="auto">
              <a:xfrm>
                <a:off x="3905" y="1871"/>
                <a:ext cx="38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2800" b="0">
                    <a:solidFill>
                      <a:srgbClr val="000000"/>
                    </a:solidFill>
                    <a:ea typeface="华文楷体" panose="02010600040101010101" pitchFamily="2" charset="-122"/>
                    <a:cs typeface="Times New Roman" panose="02020603050405020304" pitchFamily="18" charset="0"/>
                  </a:rPr>
                  <a:t>+</a:t>
                </a:r>
              </a:p>
            </p:txBody>
          </p:sp>
          <p:sp>
            <p:nvSpPr>
              <p:cNvPr id="19" name="Rectangle 17">
                <a:extLst>
                  <a:ext uri="{FF2B5EF4-FFF2-40B4-BE49-F238E27FC236}">
                    <a16:creationId xmlns:a16="http://schemas.microsoft.com/office/drawing/2014/main" id="{17F40503-BD9F-444F-B355-F447EDFFEF05}"/>
                  </a:ext>
                </a:extLst>
              </p:cNvPr>
              <p:cNvSpPr>
                <a:spLocks noChangeArrowheads="1"/>
              </p:cNvSpPr>
              <p:nvPr/>
            </p:nvSpPr>
            <p:spPr bwMode="auto">
              <a:xfrm>
                <a:off x="4674" y="2062"/>
                <a:ext cx="38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2800" b="0">
                    <a:solidFill>
                      <a:srgbClr val="000000"/>
                    </a:solidFill>
                    <a:ea typeface="华文楷体" panose="02010600040101010101" pitchFamily="2" charset="-122"/>
                    <a:cs typeface="Times New Roman" panose="02020603050405020304" pitchFamily="18" charset="0"/>
                  </a:rPr>
                  <a:t>+</a:t>
                </a:r>
              </a:p>
            </p:txBody>
          </p:sp>
          <p:sp>
            <p:nvSpPr>
              <p:cNvPr id="20" name="Rectangle 18">
                <a:extLst>
                  <a:ext uri="{FF2B5EF4-FFF2-40B4-BE49-F238E27FC236}">
                    <a16:creationId xmlns:a16="http://schemas.microsoft.com/office/drawing/2014/main" id="{B4DAE752-E24D-4210-A4EB-8B2515E8E78D}"/>
                  </a:ext>
                </a:extLst>
              </p:cNvPr>
              <p:cNvSpPr>
                <a:spLocks noChangeArrowheads="1"/>
              </p:cNvSpPr>
              <p:nvPr/>
            </p:nvSpPr>
            <p:spPr bwMode="auto">
              <a:xfrm>
                <a:off x="4290" y="1871"/>
                <a:ext cx="38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2800" b="0">
                    <a:solidFill>
                      <a:srgbClr val="000000"/>
                    </a:solidFill>
                    <a:ea typeface="华文楷体" panose="02010600040101010101" pitchFamily="2" charset="-122"/>
                    <a:cs typeface="Times New Roman" panose="02020603050405020304" pitchFamily="18" charset="0"/>
                  </a:rPr>
                  <a:t>+</a:t>
                </a:r>
              </a:p>
            </p:txBody>
          </p:sp>
          <p:sp>
            <p:nvSpPr>
              <p:cNvPr id="21" name="Rectangle 19">
                <a:extLst>
                  <a:ext uri="{FF2B5EF4-FFF2-40B4-BE49-F238E27FC236}">
                    <a16:creationId xmlns:a16="http://schemas.microsoft.com/office/drawing/2014/main" id="{30DF9099-56F6-4AE8-847F-728A5E8ABCBB}"/>
                  </a:ext>
                </a:extLst>
              </p:cNvPr>
              <p:cNvSpPr>
                <a:spLocks noChangeArrowheads="1"/>
              </p:cNvSpPr>
              <p:nvPr/>
            </p:nvSpPr>
            <p:spPr bwMode="auto">
              <a:xfrm>
                <a:off x="4290" y="3742"/>
                <a:ext cx="38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2800" b="0">
                    <a:solidFill>
                      <a:srgbClr val="000000"/>
                    </a:solidFill>
                    <a:ea typeface="华文楷体" panose="02010600040101010101" pitchFamily="2" charset="-122"/>
                    <a:cs typeface="Times New Roman" panose="02020603050405020304" pitchFamily="18" charset="0"/>
                  </a:rPr>
                  <a:t>+</a:t>
                </a:r>
              </a:p>
            </p:txBody>
          </p:sp>
          <p:sp>
            <p:nvSpPr>
              <p:cNvPr id="22" name="Rectangle 20">
                <a:extLst>
                  <a:ext uri="{FF2B5EF4-FFF2-40B4-BE49-F238E27FC236}">
                    <a16:creationId xmlns:a16="http://schemas.microsoft.com/office/drawing/2014/main" id="{6D2790CC-A8E8-4EA4-B471-BF8746B9BD67}"/>
                  </a:ext>
                </a:extLst>
              </p:cNvPr>
              <p:cNvSpPr>
                <a:spLocks noChangeArrowheads="1"/>
              </p:cNvSpPr>
              <p:nvPr/>
            </p:nvSpPr>
            <p:spPr bwMode="auto">
              <a:xfrm>
                <a:off x="4674" y="3551"/>
                <a:ext cx="38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2800" b="0" dirty="0">
                    <a:solidFill>
                      <a:srgbClr val="000000"/>
                    </a:solidFill>
                    <a:ea typeface="华文楷体" panose="02010600040101010101" pitchFamily="2" charset="-122"/>
                    <a:cs typeface="Times New Roman" panose="02020603050405020304" pitchFamily="18" charset="0"/>
                  </a:rPr>
                  <a:t>+</a:t>
                </a:r>
              </a:p>
            </p:txBody>
          </p:sp>
          <p:sp>
            <p:nvSpPr>
              <p:cNvPr id="23" name="Rectangle 21">
                <a:extLst>
                  <a:ext uri="{FF2B5EF4-FFF2-40B4-BE49-F238E27FC236}">
                    <a16:creationId xmlns:a16="http://schemas.microsoft.com/office/drawing/2014/main" id="{1DF2EE6A-751E-4E7F-8A4A-0BFCF64F4817}"/>
                  </a:ext>
                </a:extLst>
              </p:cNvPr>
              <p:cNvSpPr>
                <a:spLocks noChangeArrowheads="1"/>
              </p:cNvSpPr>
              <p:nvPr/>
            </p:nvSpPr>
            <p:spPr bwMode="auto">
              <a:xfrm>
                <a:off x="4913" y="3312"/>
                <a:ext cx="38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2800" b="0" dirty="0">
                    <a:solidFill>
                      <a:srgbClr val="000000"/>
                    </a:solidFill>
                    <a:ea typeface="华文楷体" panose="02010600040101010101" pitchFamily="2" charset="-122"/>
                    <a:cs typeface="Times New Roman" panose="02020603050405020304" pitchFamily="18" charset="0"/>
                  </a:rPr>
                  <a:t>+</a:t>
                </a:r>
              </a:p>
            </p:txBody>
          </p:sp>
          <p:sp>
            <p:nvSpPr>
              <p:cNvPr id="24" name="Rectangle 22">
                <a:extLst>
                  <a:ext uri="{FF2B5EF4-FFF2-40B4-BE49-F238E27FC236}">
                    <a16:creationId xmlns:a16="http://schemas.microsoft.com/office/drawing/2014/main" id="{5AD81C79-DBE8-4CAC-9A6A-7CA1E835A918}"/>
                  </a:ext>
                </a:extLst>
              </p:cNvPr>
              <p:cNvSpPr>
                <a:spLocks noChangeArrowheads="1"/>
              </p:cNvSpPr>
              <p:nvPr/>
            </p:nvSpPr>
            <p:spPr bwMode="auto">
              <a:xfrm>
                <a:off x="5009" y="3022"/>
                <a:ext cx="38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2800" b="0">
                    <a:solidFill>
                      <a:srgbClr val="000000"/>
                    </a:solidFill>
                    <a:ea typeface="华文楷体" panose="02010600040101010101" pitchFamily="2" charset="-122"/>
                    <a:cs typeface="Times New Roman" panose="02020603050405020304" pitchFamily="18" charset="0"/>
                  </a:rPr>
                  <a:t>+</a:t>
                </a:r>
              </a:p>
            </p:txBody>
          </p:sp>
          <p:sp>
            <p:nvSpPr>
              <p:cNvPr id="25" name="Rectangle 23">
                <a:extLst>
                  <a:ext uri="{FF2B5EF4-FFF2-40B4-BE49-F238E27FC236}">
                    <a16:creationId xmlns:a16="http://schemas.microsoft.com/office/drawing/2014/main" id="{97D9DE66-7A5F-410E-A850-C88F65643838}"/>
                  </a:ext>
                </a:extLst>
              </p:cNvPr>
              <p:cNvSpPr>
                <a:spLocks noChangeArrowheads="1"/>
              </p:cNvSpPr>
              <p:nvPr/>
            </p:nvSpPr>
            <p:spPr bwMode="auto">
              <a:xfrm>
                <a:off x="5058" y="2687"/>
                <a:ext cx="38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2800" b="0" dirty="0">
                    <a:solidFill>
                      <a:srgbClr val="000000"/>
                    </a:solidFill>
                    <a:ea typeface="华文楷体" panose="02010600040101010101" pitchFamily="2" charset="-122"/>
                    <a:cs typeface="Times New Roman" panose="02020603050405020304" pitchFamily="18" charset="0"/>
                  </a:rPr>
                  <a:t>+</a:t>
                </a:r>
              </a:p>
            </p:txBody>
          </p:sp>
          <p:sp>
            <p:nvSpPr>
              <p:cNvPr id="26" name="Rectangle 24">
                <a:extLst>
                  <a:ext uri="{FF2B5EF4-FFF2-40B4-BE49-F238E27FC236}">
                    <a16:creationId xmlns:a16="http://schemas.microsoft.com/office/drawing/2014/main" id="{D2EEE2CA-9820-4257-BF33-DC747425C979}"/>
                  </a:ext>
                </a:extLst>
              </p:cNvPr>
              <p:cNvSpPr>
                <a:spLocks noChangeArrowheads="1"/>
              </p:cNvSpPr>
              <p:nvPr/>
            </p:nvSpPr>
            <p:spPr bwMode="auto">
              <a:xfrm>
                <a:off x="3618" y="3599"/>
                <a:ext cx="38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2800" b="0">
                    <a:solidFill>
                      <a:srgbClr val="000000"/>
                    </a:solidFill>
                    <a:ea typeface="华文楷体" panose="02010600040101010101" pitchFamily="2" charset="-122"/>
                    <a:cs typeface="Times New Roman" panose="02020603050405020304" pitchFamily="18" charset="0"/>
                  </a:rPr>
                  <a:t>+</a:t>
                </a:r>
              </a:p>
            </p:txBody>
          </p:sp>
          <p:sp>
            <p:nvSpPr>
              <p:cNvPr id="27" name="Rectangle 25">
                <a:extLst>
                  <a:ext uri="{FF2B5EF4-FFF2-40B4-BE49-F238E27FC236}">
                    <a16:creationId xmlns:a16="http://schemas.microsoft.com/office/drawing/2014/main" id="{E5CC6583-355A-4F62-85DF-E88E4F478855}"/>
                  </a:ext>
                </a:extLst>
              </p:cNvPr>
              <p:cNvSpPr>
                <a:spLocks noChangeArrowheads="1"/>
              </p:cNvSpPr>
              <p:nvPr/>
            </p:nvSpPr>
            <p:spPr bwMode="auto">
              <a:xfrm>
                <a:off x="3952" y="3743"/>
                <a:ext cx="382"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2800" b="0">
                    <a:solidFill>
                      <a:srgbClr val="000000"/>
                    </a:solidFill>
                    <a:ea typeface="华文楷体" panose="02010600040101010101" pitchFamily="2" charset="-122"/>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28" name="Rectangle 26">
                    <a:extLst>
                      <a:ext uri="{FF2B5EF4-FFF2-40B4-BE49-F238E27FC236}">
                        <a16:creationId xmlns:a16="http://schemas.microsoft.com/office/drawing/2014/main" id="{C70D9A0C-E353-4FED-803D-7A51259EAB17}"/>
                      </a:ext>
                    </a:extLst>
                  </p:cNvPr>
                  <p:cNvSpPr>
                    <a:spLocks noChangeArrowheads="1"/>
                  </p:cNvSpPr>
                  <p:nvPr/>
                </p:nvSpPr>
                <p:spPr bwMode="auto">
                  <a:xfrm>
                    <a:off x="5102" y="1976"/>
                    <a:ext cx="481" cy="512"/>
                  </a:xfrm>
                  <a:prstGeom prst="rect">
                    <a:avLst/>
                  </a:prstGeom>
                  <a:noFill/>
                  <a:ln>
                    <a:noFill/>
                  </a:ln>
                  <a:effectLst/>
                  <a:extLst>
                    <a:ext uri="{909E8E84-426E-40DD-AFC4-6F175D3DCCD1}">
                      <a14:hiddenFill>
                        <a:solidFill>
                          <a:schemeClr val="accent1"/>
                        </a:solidFill>
                      </a14:hiddenFill>
                    </a:ext>
                    <a:ext uri="{91240B29-F687-4F45-9708-019B960494DF}">
                      <a14:hiddenLine w="9525">
                        <a:solidFill>
                          <a:srgbClr val="FFFF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2800" b="0" i="1">
                              <a:solidFill>
                                <a:srgbClr val="000000"/>
                              </a:solidFill>
                              <a:latin typeface="Cambria Math" panose="02040503050406030204" pitchFamily="18" charset="0"/>
                              <a:ea typeface="华文新魏" panose="02010800040101010101" pitchFamily="2" charset="-122"/>
                            </a:rPr>
                            <m:t>𝑞</m:t>
                          </m:r>
                        </m:oMath>
                      </m:oMathPara>
                    </a14:m>
                    <a:endParaRPr lang="en-US" altLang="zh-CN" sz="2800" b="0" i="1" dirty="0">
                      <a:solidFill>
                        <a:srgbClr val="000000"/>
                      </a:solidFill>
                      <a:ea typeface="华文楷体" panose="02010600040101010101" pitchFamily="2" charset="-122"/>
                      <a:cs typeface="Times New Roman" panose="02020603050405020304" pitchFamily="18" charset="0"/>
                    </a:endParaRPr>
                  </a:p>
                </p:txBody>
              </p:sp>
            </mc:Choice>
            <mc:Fallback xmlns="">
              <p:sp>
                <p:nvSpPr>
                  <p:cNvPr id="28" name="Rectangle 26">
                    <a:extLst>
                      <a:ext uri="{FF2B5EF4-FFF2-40B4-BE49-F238E27FC236}">
                        <a16:creationId xmlns:a16="http://schemas.microsoft.com/office/drawing/2014/main" id="{C70D9A0C-E353-4FED-803D-7A51259EAB17}"/>
                      </a:ext>
                    </a:extLst>
                  </p:cNvPr>
                  <p:cNvSpPr>
                    <a:spLocks noRot="1" noChangeAspect="1" noMove="1" noResize="1" noEditPoints="1" noAdjustHandles="1" noChangeArrowheads="1" noChangeShapeType="1" noTextEdit="1"/>
                  </p:cNvSpPr>
                  <p:nvPr/>
                </p:nvSpPr>
                <p:spPr bwMode="auto">
                  <a:xfrm>
                    <a:off x="5102" y="1976"/>
                    <a:ext cx="481" cy="512"/>
                  </a:xfrm>
                  <a:prstGeom prst="rect">
                    <a:avLst/>
                  </a:prstGeom>
                  <a:blipFill>
                    <a:blip r:embed="rId2"/>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grpSp>
          <p:nvGrpSpPr>
            <p:cNvPr id="9" name="Group 27">
              <a:extLst>
                <a:ext uri="{FF2B5EF4-FFF2-40B4-BE49-F238E27FC236}">
                  <a16:creationId xmlns:a16="http://schemas.microsoft.com/office/drawing/2014/main" id="{338D0FD5-E0D2-48E5-88E0-CA79D0B47D08}"/>
                </a:ext>
              </a:extLst>
            </p:cNvPr>
            <p:cNvGrpSpPr>
              <a:grpSpLocks/>
            </p:cNvGrpSpPr>
            <p:nvPr/>
          </p:nvGrpSpPr>
          <p:grpSpPr bwMode="auto">
            <a:xfrm>
              <a:off x="3705" y="935"/>
              <a:ext cx="857" cy="1009"/>
              <a:chOff x="455" y="1388"/>
              <a:chExt cx="857" cy="1009"/>
            </a:xfrm>
          </p:grpSpPr>
          <p:sp>
            <p:nvSpPr>
              <p:cNvPr id="10" name="Line 28">
                <a:extLst>
                  <a:ext uri="{FF2B5EF4-FFF2-40B4-BE49-F238E27FC236}">
                    <a16:creationId xmlns:a16="http://schemas.microsoft.com/office/drawing/2014/main" id="{3D239885-E582-483D-9286-4672CC5DA13E}"/>
                  </a:ext>
                </a:extLst>
              </p:cNvPr>
              <p:cNvSpPr>
                <a:spLocks noChangeShapeType="1"/>
              </p:cNvSpPr>
              <p:nvPr/>
            </p:nvSpPr>
            <p:spPr bwMode="auto">
              <a:xfrm flipH="1" flipV="1">
                <a:off x="455" y="1388"/>
                <a:ext cx="647" cy="707"/>
              </a:xfrm>
              <a:prstGeom prst="line">
                <a:avLst/>
              </a:prstGeom>
              <a:noFill/>
              <a:ln w="25400">
                <a:solidFill>
                  <a:srgbClr val="FF0000"/>
                </a:solidFill>
                <a:round/>
                <a:headEnd type="oval"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defRPr/>
                </a:pPr>
                <a:endParaRPr kumimoji="1" lang="zh-CN" altLang="en-US" sz="2800" dirty="0">
                  <a:solidFill>
                    <a:srgbClr val="000000"/>
                  </a:solidFill>
                  <a:highlight>
                    <a:srgbClr val="008000"/>
                  </a:highligh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 name="Text Box 29">
                <a:extLst>
                  <a:ext uri="{FF2B5EF4-FFF2-40B4-BE49-F238E27FC236}">
                    <a16:creationId xmlns:a16="http://schemas.microsoft.com/office/drawing/2014/main" id="{70FDC973-5AA9-4FBC-8980-61918A9EA4D9}"/>
                  </a:ext>
                </a:extLst>
              </p:cNvPr>
              <p:cNvSpPr txBox="1">
                <a:spLocks noChangeArrowheads="1"/>
              </p:cNvSpPr>
              <p:nvPr/>
            </p:nvSpPr>
            <p:spPr bwMode="auto">
              <a:xfrm>
                <a:off x="669" y="1751"/>
                <a:ext cx="318" cy="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en-US" altLang="zh-CN" sz="2800" b="0" i="1" dirty="0">
                    <a:solidFill>
                      <a:srgbClr val="000000"/>
                    </a:solidFill>
                    <a:ea typeface="华文楷体" panose="02010600040101010101" pitchFamily="2" charset="-122"/>
                    <a:cs typeface="Times New Roman" panose="02020603050405020304" pitchFamily="18" charset="0"/>
                  </a:rPr>
                  <a:t>R</a:t>
                </a:r>
              </a:p>
            </p:txBody>
          </p:sp>
          <p:sp>
            <p:nvSpPr>
              <p:cNvPr id="12" name="Text Box 30">
                <a:extLst>
                  <a:ext uri="{FF2B5EF4-FFF2-40B4-BE49-F238E27FC236}">
                    <a16:creationId xmlns:a16="http://schemas.microsoft.com/office/drawing/2014/main" id="{5174370A-8A52-4056-BF7A-CF63BB747208}"/>
                  </a:ext>
                </a:extLst>
              </p:cNvPr>
              <p:cNvSpPr txBox="1">
                <a:spLocks noChangeArrowheads="1"/>
              </p:cNvSpPr>
              <p:nvPr/>
            </p:nvSpPr>
            <p:spPr bwMode="auto">
              <a:xfrm>
                <a:off x="1026" y="1985"/>
                <a:ext cx="286" cy="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en-US" altLang="zh-CN" sz="2800" b="0">
                    <a:solidFill>
                      <a:srgbClr val="000000"/>
                    </a:solidFill>
                    <a:ea typeface="华文楷体" panose="02010600040101010101" pitchFamily="2" charset="-122"/>
                    <a:cs typeface="Times New Roman" panose="02020603050405020304" pitchFamily="18" charset="0"/>
                  </a:rPr>
                  <a:t>o</a:t>
                </a:r>
              </a:p>
            </p:txBody>
          </p:sp>
        </p:grpSp>
      </p:grpSp>
      <p:grpSp>
        <p:nvGrpSpPr>
          <p:cNvPr id="42" name="组合 41">
            <a:extLst>
              <a:ext uri="{FF2B5EF4-FFF2-40B4-BE49-F238E27FC236}">
                <a16:creationId xmlns:a16="http://schemas.microsoft.com/office/drawing/2014/main" id="{118C4D2E-20CA-4355-AF2D-6A9EC2496C6D}"/>
              </a:ext>
            </a:extLst>
          </p:cNvPr>
          <p:cNvGrpSpPr/>
          <p:nvPr/>
        </p:nvGrpSpPr>
        <p:grpSpPr>
          <a:xfrm>
            <a:off x="4221959" y="1620857"/>
            <a:ext cx="6876372" cy="2443156"/>
            <a:chOff x="5033560" y="1759695"/>
            <a:chExt cx="6876372" cy="2443156"/>
          </a:xfrm>
        </p:grpSpPr>
        <mc:AlternateContent xmlns:mc="http://schemas.openxmlformats.org/markup-compatibility/2006" xmlns:a14="http://schemas.microsoft.com/office/drawing/2010/main">
          <mc:Choice Requires="a14">
            <p:sp>
              <p:nvSpPr>
                <p:cNvPr id="29" name="Object 30">
                  <a:extLst>
                    <a:ext uri="{FF2B5EF4-FFF2-40B4-BE49-F238E27FC236}">
                      <a16:creationId xmlns:a16="http://schemas.microsoft.com/office/drawing/2014/main" id="{57DB4BFF-6DBE-429F-863B-6CDBD10C24CE}"/>
                    </a:ext>
                  </a:extLst>
                </p:cNvPr>
                <p:cNvSpPr txBox="1">
                  <a:spLocks/>
                </p:cNvSpPr>
                <p:nvPr/>
              </p:nvSpPr>
              <p:spPr bwMode="auto">
                <a:xfrm>
                  <a:off x="9698931" y="1885107"/>
                  <a:ext cx="900112" cy="635000"/>
                </a:xfrm>
                <a:prstGeom prst="rect">
                  <a:avLst/>
                </a:prstGeom>
                <a:noFill/>
                <a:ln>
                  <a:noFill/>
                </a:ln>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left"/>
                      </m:oMathParaPr>
                      <m:oMath xmlns:m="http://schemas.openxmlformats.org/officeDocument/2006/math">
                        <m:r>
                          <a:rPr lang="zh-CN" altLang="en-US" b="0" i="1" smtClean="0">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b="0" i="1">
                                <a:solidFill>
                                  <a:srgbClr val="000000"/>
                                </a:solidFill>
                                <a:latin typeface="Cambria Math" panose="02040503050406030204" pitchFamily="18" charset="0"/>
                              </a:rPr>
                              <m:t>𝑟</m:t>
                            </m:r>
                          </m:e>
                          <m:sup>
                            <m:r>
                              <a:rPr lang="zh-CN" altLang="en-US" b="0" i="1">
                                <a:solidFill>
                                  <a:srgbClr val="000000"/>
                                </a:solidFill>
                                <a:latin typeface="Cambria Math" panose="02040503050406030204" pitchFamily="18" charset="0"/>
                              </a:rPr>
                              <m:t>−1</m:t>
                            </m:r>
                          </m:sup>
                        </m:sSup>
                      </m:oMath>
                    </m:oMathPara>
                  </a14:m>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9" name="Object 30">
                  <a:extLst>
                    <a:ext uri="{FF2B5EF4-FFF2-40B4-BE49-F238E27FC236}">
                      <a16:creationId xmlns:a16="http://schemas.microsoft.com/office/drawing/2014/main" id="{57DB4BFF-6DBE-429F-863B-6CDBD10C24CE}"/>
                    </a:ext>
                  </a:extLst>
                </p:cNvPr>
                <p:cNvSpPr txBox="1">
                  <a:spLocks noRot="1" noChangeAspect="1" noMove="1" noResize="1" noEditPoints="1" noAdjustHandles="1" noChangeArrowheads="1" noChangeShapeType="1" noTextEdit="1"/>
                </p:cNvSpPr>
                <p:nvPr/>
              </p:nvSpPr>
              <p:spPr bwMode="auto">
                <a:xfrm>
                  <a:off x="9698931" y="1885107"/>
                  <a:ext cx="900112" cy="635000"/>
                </a:xfrm>
                <a:prstGeom prst="rect">
                  <a:avLst/>
                </a:prstGeom>
                <a:blipFill>
                  <a:blip r:embed="rId3"/>
                  <a:stretch>
                    <a:fillRect r="-3378"/>
                  </a:stretch>
                </a:blipFill>
                <a:ln>
                  <a:noFill/>
                </a:ln>
                <a:effectLst/>
              </p:spPr>
              <p:txBody>
                <a:bodyPr/>
                <a:lstStyle/>
                <a:p>
                  <a:r>
                    <a:rPr lang="en-US">
                      <a:noFill/>
                    </a:rPr>
                    <a:t> </a:t>
                  </a:r>
                </a:p>
              </p:txBody>
            </p:sp>
          </mc:Fallback>
        </mc:AlternateContent>
        <p:sp>
          <p:nvSpPr>
            <p:cNvPr id="30" name="Rectangle 2">
              <a:extLst>
                <a:ext uri="{FF2B5EF4-FFF2-40B4-BE49-F238E27FC236}">
                  <a16:creationId xmlns:a16="http://schemas.microsoft.com/office/drawing/2014/main" id="{7EEE59D4-71D8-49C4-83FC-224120581890}"/>
                </a:ext>
              </a:extLst>
            </p:cNvPr>
            <p:cNvSpPr>
              <a:spLocks noChangeArrowheads="1"/>
            </p:cNvSpPr>
            <p:nvPr/>
          </p:nvSpPr>
          <p:spPr bwMode="auto">
            <a:xfrm>
              <a:off x="5033560" y="2349315"/>
              <a:ext cx="1690686"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zh-CN" altLang="en-US" sz="2800" b="0" dirty="0">
                  <a:solidFill>
                    <a:srgbClr val="000000"/>
                  </a:solidFill>
                  <a:ea typeface="华文楷体" panose="02010600040101010101" pitchFamily="2" charset="-122"/>
                  <a:cs typeface="Times New Roman" panose="02020603050405020304" pitchFamily="18" charset="0"/>
                </a:rPr>
                <a:t>电势</a:t>
              </a:r>
              <a:r>
                <a:rPr lang="en-US" altLang="zh-CN" sz="2800" b="0" dirty="0">
                  <a:solidFill>
                    <a:srgbClr val="000000"/>
                  </a:solidFill>
                  <a:ea typeface="华文楷体" panose="02010600040101010101" pitchFamily="2" charset="-122"/>
                  <a:cs typeface="Times New Roman" panose="02020603050405020304" pitchFamily="18" charset="0"/>
                </a:rPr>
                <a:t>:</a:t>
              </a:r>
              <a:endParaRPr lang="zh-CN" altLang="en-US" sz="2800" b="0" dirty="0">
                <a:solidFill>
                  <a:srgbClr val="000000"/>
                </a:solidFill>
                <a:ea typeface="华文楷体" panose="02010600040101010101" pitchFamily="2" charset="-122"/>
                <a:cs typeface="Times New Roman" panose="02020603050405020304" pitchFamily="18" charset="0"/>
              </a:endParaRPr>
            </a:p>
          </p:txBody>
        </p:sp>
        <p:sp>
          <p:nvSpPr>
            <p:cNvPr id="31" name="Line 6">
              <a:extLst>
                <a:ext uri="{FF2B5EF4-FFF2-40B4-BE49-F238E27FC236}">
                  <a16:creationId xmlns:a16="http://schemas.microsoft.com/office/drawing/2014/main" id="{796D1671-242C-47D7-B16F-1A3252A3A8BE}"/>
                </a:ext>
              </a:extLst>
            </p:cNvPr>
            <p:cNvSpPr>
              <a:spLocks noChangeShapeType="1"/>
            </p:cNvSpPr>
            <p:nvPr/>
          </p:nvSpPr>
          <p:spPr bwMode="auto">
            <a:xfrm>
              <a:off x="7301806" y="3712320"/>
              <a:ext cx="4495800" cy="0"/>
            </a:xfrm>
            <a:prstGeom prst="line">
              <a:avLst/>
            </a:prstGeom>
            <a:noFill/>
            <a:ln w="28575">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 name="Line 8">
              <a:extLst>
                <a:ext uri="{FF2B5EF4-FFF2-40B4-BE49-F238E27FC236}">
                  <a16:creationId xmlns:a16="http://schemas.microsoft.com/office/drawing/2014/main" id="{11879274-6F7C-4A58-AC1E-87CD331DFBF6}"/>
                </a:ext>
              </a:extLst>
            </p:cNvPr>
            <p:cNvSpPr>
              <a:spLocks noChangeShapeType="1"/>
            </p:cNvSpPr>
            <p:nvPr/>
          </p:nvSpPr>
          <p:spPr bwMode="auto">
            <a:xfrm flipH="1">
              <a:off x="7300220" y="1883521"/>
              <a:ext cx="1587" cy="1843087"/>
            </a:xfrm>
            <a:prstGeom prst="line">
              <a:avLst/>
            </a:prstGeom>
            <a:noFill/>
            <a:ln w="28575">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3" name="Rectangle 10">
                  <a:extLst>
                    <a:ext uri="{FF2B5EF4-FFF2-40B4-BE49-F238E27FC236}">
                      <a16:creationId xmlns:a16="http://schemas.microsoft.com/office/drawing/2014/main" id="{6523F497-D7D7-4410-909E-D98E6F642BFD}"/>
                    </a:ext>
                  </a:extLst>
                </p:cNvPr>
                <p:cNvSpPr>
                  <a:spLocks noChangeArrowheads="1"/>
                </p:cNvSpPr>
                <p:nvPr/>
              </p:nvSpPr>
              <p:spPr bwMode="auto">
                <a:xfrm>
                  <a:off x="7285932" y="1759695"/>
                  <a:ext cx="546623" cy="52386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zh-CN" altLang="en-US" sz="2800" b="0" i="1" dirty="0">
                            <a:solidFill>
                              <a:srgbClr val="C00000"/>
                            </a:solidFill>
                            <a:latin typeface="Cambria Math" panose="02040503050406030204" pitchFamily="18" charset="0"/>
                            <a:ea typeface="黑体" panose="02010609060101010101" pitchFamily="49" charset="-122"/>
                          </a:rPr>
                          <m:t>𝜑</m:t>
                        </m:r>
                      </m:oMath>
                    </m:oMathPara>
                  </a14:m>
                  <a:endParaRPr lang="en-US" altLang="zh-CN" sz="2800" b="0" i="1" dirty="0">
                    <a:solidFill>
                      <a:srgbClr val="C00000"/>
                    </a:solidFill>
                    <a:ea typeface="华文楷体" panose="02010600040101010101" pitchFamily="2" charset="-122"/>
                    <a:cs typeface="Times New Roman" panose="02020603050405020304" pitchFamily="18" charset="0"/>
                  </a:endParaRPr>
                </a:p>
              </p:txBody>
            </p:sp>
          </mc:Choice>
          <mc:Fallback xmlns="">
            <p:sp>
              <p:nvSpPr>
                <p:cNvPr id="33" name="Rectangle 10">
                  <a:extLst>
                    <a:ext uri="{FF2B5EF4-FFF2-40B4-BE49-F238E27FC236}">
                      <a16:creationId xmlns:a16="http://schemas.microsoft.com/office/drawing/2014/main" id="{6523F497-D7D7-4410-909E-D98E6F642BFD}"/>
                    </a:ext>
                  </a:extLst>
                </p:cNvPr>
                <p:cNvSpPr>
                  <a:spLocks noRot="1" noChangeAspect="1" noMove="1" noResize="1" noEditPoints="1" noAdjustHandles="1" noChangeArrowheads="1" noChangeShapeType="1" noTextEdit="1"/>
                </p:cNvSpPr>
                <p:nvPr/>
              </p:nvSpPr>
              <p:spPr bwMode="auto">
                <a:xfrm>
                  <a:off x="7285932" y="1759695"/>
                  <a:ext cx="546623" cy="523862"/>
                </a:xfrm>
                <a:prstGeom prst="rect">
                  <a:avLst/>
                </a:prstGeom>
                <a:blipFill>
                  <a:blip r:embed="rId4"/>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Rectangle 11">
                  <a:extLst>
                    <a:ext uri="{FF2B5EF4-FFF2-40B4-BE49-F238E27FC236}">
                      <a16:creationId xmlns:a16="http://schemas.microsoft.com/office/drawing/2014/main" id="{C7FC0FE6-93DA-4EB1-AA46-2FB656F4CC2F}"/>
                    </a:ext>
                  </a:extLst>
                </p:cNvPr>
                <p:cNvSpPr>
                  <a:spLocks noChangeArrowheads="1"/>
                </p:cNvSpPr>
                <p:nvPr/>
              </p:nvSpPr>
              <p:spPr bwMode="auto">
                <a:xfrm>
                  <a:off x="8286057" y="3678989"/>
                  <a:ext cx="525785" cy="52386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2800" b="0" i="1" dirty="0">
                            <a:solidFill>
                              <a:srgbClr val="C00000"/>
                            </a:solidFill>
                            <a:latin typeface="Cambria Math" panose="02040503050406030204" pitchFamily="18" charset="0"/>
                            <a:ea typeface="黑体" panose="02010609060101010101" pitchFamily="49" charset="-122"/>
                          </a:rPr>
                          <m:t>𝑅</m:t>
                        </m:r>
                      </m:oMath>
                    </m:oMathPara>
                  </a14:m>
                  <a:endParaRPr lang="en-US" altLang="zh-CN" sz="2800" b="0" i="1" dirty="0">
                    <a:solidFill>
                      <a:srgbClr val="C00000"/>
                    </a:solidFill>
                    <a:ea typeface="华文楷体" panose="02010600040101010101" pitchFamily="2" charset="-122"/>
                    <a:cs typeface="Times New Roman" panose="02020603050405020304" pitchFamily="18" charset="0"/>
                  </a:endParaRPr>
                </a:p>
              </p:txBody>
            </p:sp>
          </mc:Choice>
          <mc:Fallback xmlns="">
            <p:sp>
              <p:nvSpPr>
                <p:cNvPr id="34" name="Rectangle 11">
                  <a:extLst>
                    <a:ext uri="{FF2B5EF4-FFF2-40B4-BE49-F238E27FC236}">
                      <a16:creationId xmlns:a16="http://schemas.microsoft.com/office/drawing/2014/main" id="{C7FC0FE6-93DA-4EB1-AA46-2FB656F4CC2F}"/>
                    </a:ext>
                  </a:extLst>
                </p:cNvPr>
                <p:cNvSpPr>
                  <a:spLocks noRot="1" noChangeAspect="1" noMove="1" noResize="1" noEditPoints="1" noAdjustHandles="1" noChangeArrowheads="1" noChangeShapeType="1" noTextEdit="1"/>
                </p:cNvSpPr>
                <p:nvPr/>
              </p:nvSpPr>
              <p:spPr bwMode="auto">
                <a:xfrm>
                  <a:off x="8286057" y="3678989"/>
                  <a:ext cx="525785" cy="523862"/>
                </a:xfrm>
                <a:prstGeom prst="rect">
                  <a:avLst/>
                </a:prstGeom>
                <a:blipFill>
                  <a:blip r:embed="rId5"/>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5" name="Line 13">
              <a:extLst>
                <a:ext uri="{FF2B5EF4-FFF2-40B4-BE49-F238E27FC236}">
                  <a16:creationId xmlns:a16="http://schemas.microsoft.com/office/drawing/2014/main" id="{037D7089-00BA-441D-A017-DA4A029D2679}"/>
                </a:ext>
              </a:extLst>
            </p:cNvPr>
            <p:cNvSpPr>
              <a:spLocks noChangeShapeType="1"/>
            </p:cNvSpPr>
            <p:nvPr/>
          </p:nvSpPr>
          <p:spPr bwMode="auto">
            <a:xfrm>
              <a:off x="8292406" y="1759695"/>
              <a:ext cx="0" cy="1966912"/>
            </a:xfrm>
            <a:prstGeom prst="line">
              <a:avLst/>
            </a:prstGeom>
            <a:noFill/>
            <a:ln w="22225">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6" name="Rectangle 15">
                  <a:extLst>
                    <a:ext uri="{FF2B5EF4-FFF2-40B4-BE49-F238E27FC236}">
                      <a16:creationId xmlns:a16="http://schemas.microsoft.com/office/drawing/2014/main" id="{B23FF418-6C49-424E-BE9A-18783D0C071C}"/>
                    </a:ext>
                  </a:extLst>
                </p:cNvPr>
                <p:cNvSpPr>
                  <a:spLocks noChangeArrowheads="1"/>
                </p:cNvSpPr>
                <p:nvPr/>
              </p:nvSpPr>
              <p:spPr bwMode="auto">
                <a:xfrm>
                  <a:off x="11441855" y="3591055"/>
                  <a:ext cx="468077" cy="52386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2800" b="0" i="1" dirty="0">
                            <a:solidFill>
                              <a:srgbClr val="C00000"/>
                            </a:solidFill>
                            <a:latin typeface="Cambria Math" panose="02040503050406030204" pitchFamily="18" charset="0"/>
                            <a:ea typeface="黑体" panose="02010609060101010101" pitchFamily="49" charset="-122"/>
                          </a:rPr>
                          <m:t>𝑟</m:t>
                        </m:r>
                      </m:oMath>
                    </m:oMathPara>
                  </a14:m>
                  <a:endParaRPr lang="en-US" altLang="zh-CN" sz="2800" b="0" i="1" dirty="0">
                    <a:solidFill>
                      <a:srgbClr val="C00000"/>
                    </a:solidFill>
                    <a:ea typeface="华文楷体" panose="02010600040101010101" pitchFamily="2" charset="-122"/>
                    <a:cs typeface="Times New Roman" panose="02020603050405020304" pitchFamily="18" charset="0"/>
                  </a:endParaRPr>
                </a:p>
              </p:txBody>
            </p:sp>
          </mc:Choice>
          <mc:Fallback xmlns="">
            <p:sp>
              <p:nvSpPr>
                <p:cNvPr id="36" name="Rectangle 15">
                  <a:extLst>
                    <a:ext uri="{FF2B5EF4-FFF2-40B4-BE49-F238E27FC236}">
                      <a16:creationId xmlns:a16="http://schemas.microsoft.com/office/drawing/2014/main" id="{B23FF418-6C49-424E-BE9A-18783D0C071C}"/>
                    </a:ext>
                  </a:extLst>
                </p:cNvPr>
                <p:cNvSpPr>
                  <a:spLocks noRot="1" noChangeAspect="1" noMove="1" noResize="1" noEditPoints="1" noAdjustHandles="1" noChangeArrowheads="1" noChangeShapeType="1" noTextEdit="1"/>
                </p:cNvSpPr>
                <p:nvPr/>
              </p:nvSpPr>
              <p:spPr bwMode="auto">
                <a:xfrm>
                  <a:off x="11441855" y="3591055"/>
                  <a:ext cx="468077" cy="523862"/>
                </a:xfrm>
                <a:prstGeom prst="rect">
                  <a:avLst/>
                </a:prstGeom>
                <a:blipFill>
                  <a:blip r:embed="rId6"/>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Rectangle 16">
                  <a:extLst>
                    <a:ext uri="{FF2B5EF4-FFF2-40B4-BE49-F238E27FC236}">
                      <a16:creationId xmlns:a16="http://schemas.microsoft.com/office/drawing/2014/main" id="{08D28521-02BE-4005-B75B-E1039FF089C1}"/>
                    </a:ext>
                  </a:extLst>
                </p:cNvPr>
                <p:cNvSpPr>
                  <a:spLocks noChangeArrowheads="1"/>
                </p:cNvSpPr>
                <p:nvPr/>
              </p:nvSpPr>
              <p:spPr bwMode="auto">
                <a:xfrm>
                  <a:off x="6728274" y="3621833"/>
                  <a:ext cx="538609" cy="52386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2800" b="0" i="1" dirty="0">
                            <a:solidFill>
                              <a:srgbClr val="C00000"/>
                            </a:solidFill>
                            <a:latin typeface="Cambria Math" panose="02040503050406030204" pitchFamily="18" charset="0"/>
                            <a:ea typeface="黑体" panose="02010609060101010101" pitchFamily="49" charset="-122"/>
                          </a:rPr>
                          <m:t>𝑂</m:t>
                        </m:r>
                      </m:oMath>
                    </m:oMathPara>
                  </a14:m>
                  <a:endParaRPr lang="en-US" altLang="zh-CN" sz="2800" b="0" dirty="0">
                    <a:solidFill>
                      <a:srgbClr val="C00000"/>
                    </a:solidFill>
                    <a:ea typeface="华文楷体" panose="02010600040101010101" pitchFamily="2" charset="-122"/>
                    <a:cs typeface="Times New Roman" panose="02020603050405020304" pitchFamily="18" charset="0"/>
                  </a:endParaRPr>
                </a:p>
              </p:txBody>
            </p:sp>
          </mc:Choice>
          <mc:Fallback xmlns="">
            <p:sp>
              <p:nvSpPr>
                <p:cNvPr id="37" name="Rectangle 16">
                  <a:extLst>
                    <a:ext uri="{FF2B5EF4-FFF2-40B4-BE49-F238E27FC236}">
                      <a16:creationId xmlns:a16="http://schemas.microsoft.com/office/drawing/2014/main" id="{08D28521-02BE-4005-B75B-E1039FF089C1}"/>
                    </a:ext>
                  </a:extLst>
                </p:cNvPr>
                <p:cNvSpPr>
                  <a:spLocks noRot="1" noChangeAspect="1" noMove="1" noResize="1" noEditPoints="1" noAdjustHandles="1" noChangeArrowheads="1" noChangeShapeType="1" noTextEdit="1"/>
                </p:cNvSpPr>
                <p:nvPr/>
              </p:nvSpPr>
              <p:spPr bwMode="auto">
                <a:xfrm>
                  <a:off x="6728274" y="3621833"/>
                  <a:ext cx="538609" cy="523862"/>
                </a:xfrm>
                <a:prstGeom prst="rect">
                  <a:avLst/>
                </a:prstGeom>
                <a:blipFill>
                  <a:blip r:embed="rId7"/>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8" name="Line 20">
              <a:extLst>
                <a:ext uri="{FF2B5EF4-FFF2-40B4-BE49-F238E27FC236}">
                  <a16:creationId xmlns:a16="http://schemas.microsoft.com/office/drawing/2014/main" id="{297DDDF9-155C-4695-9ADF-DD5A9C7833B6}"/>
                </a:ext>
              </a:extLst>
            </p:cNvPr>
            <p:cNvSpPr>
              <a:spLocks noChangeShapeType="1"/>
            </p:cNvSpPr>
            <p:nvPr/>
          </p:nvSpPr>
          <p:spPr bwMode="auto">
            <a:xfrm>
              <a:off x="7301806" y="2569320"/>
              <a:ext cx="990600" cy="0"/>
            </a:xfrm>
            <a:prstGeom prst="line">
              <a:avLst/>
            </a:prstGeom>
            <a:noFill/>
            <a:ln w="31750">
              <a:solidFill>
                <a:srgbClr val="CC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9" name="Arc 21">
              <a:extLst>
                <a:ext uri="{FF2B5EF4-FFF2-40B4-BE49-F238E27FC236}">
                  <a16:creationId xmlns:a16="http://schemas.microsoft.com/office/drawing/2014/main" id="{00AEDA58-6C89-47BF-9BB4-39FCDFB758AC}"/>
                </a:ext>
              </a:extLst>
            </p:cNvPr>
            <p:cNvSpPr>
              <a:spLocks/>
            </p:cNvSpPr>
            <p:nvPr/>
          </p:nvSpPr>
          <p:spPr bwMode="auto">
            <a:xfrm>
              <a:off x="8286056" y="2112120"/>
              <a:ext cx="2292350" cy="1371600"/>
            </a:xfrm>
            <a:custGeom>
              <a:avLst/>
              <a:gdLst>
                <a:gd name="T0" fmla="*/ 2147483646 w 20302"/>
                <a:gd name="T1" fmla="*/ 2147483646 h 21600"/>
                <a:gd name="T2" fmla="*/ 0 w 20302"/>
                <a:gd name="T3" fmla="*/ 2147483646 h 21600"/>
                <a:gd name="T4" fmla="*/ 2147483646 w 20302"/>
                <a:gd name="T5" fmla="*/ 0 h 21600"/>
                <a:gd name="T6" fmla="*/ 0 60000 65536"/>
                <a:gd name="T7" fmla="*/ 0 60000 65536"/>
                <a:gd name="T8" fmla="*/ 0 60000 65536"/>
              </a:gdLst>
              <a:ahLst/>
              <a:cxnLst>
                <a:cxn ang="T6">
                  <a:pos x="T0" y="T1"/>
                </a:cxn>
                <a:cxn ang="T7">
                  <a:pos x="T2" y="T3"/>
                </a:cxn>
                <a:cxn ang="T8">
                  <a:pos x="T4" y="T5"/>
                </a:cxn>
              </a:cxnLst>
              <a:rect l="0" t="0" r="r" b="b"/>
              <a:pathLst>
                <a:path w="20302" h="21600" fill="none" extrusionOk="0">
                  <a:moveTo>
                    <a:pt x="20302" y="21600"/>
                  </a:moveTo>
                  <a:cubicBezTo>
                    <a:pt x="11216" y="21600"/>
                    <a:pt x="3102" y="15914"/>
                    <a:pt x="0" y="7374"/>
                  </a:cubicBezTo>
                </a:path>
                <a:path w="20302" h="21600" stroke="0" extrusionOk="0">
                  <a:moveTo>
                    <a:pt x="20302" y="21600"/>
                  </a:moveTo>
                  <a:cubicBezTo>
                    <a:pt x="11216" y="21600"/>
                    <a:pt x="3102" y="15914"/>
                    <a:pt x="0" y="7374"/>
                  </a:cubicBezTo>
                  <a:lnTo>
                    <a:pt x="20302" y="0"/>
                  </a:lnTo>
                  <a:lnTo>
                    <a:pt x="20302" y="21600"/>
                  </a:lnTo>
                  <a:close/>
                </a:path>
              </a:pathLst>
            </a:custGeom>
            <a:noFill/>
            <a:ln w="31750" cap="rnd">
              <a:solidFill>
                <a:srgbClr val="CC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0" name="Line 23">
              <a:extLst>
                <a:ext uri="{FF2B5EF4-FFF2-40B4-BE49-F238E27FC236}">
                  <a16:creationId xmlns:a16="http://schemas.microsoft.com/office/drawing/2014/main" id="{71538910-1443-43F2-A434-4BBDE8FFB062}"/>
                </a:ext>
              </a:extLst>
            </p:cNvPr>
            <p:cNvSpPr>
              <a:spLocks noChangeShapeType="1"/>
            </p:cNvSpPr>
            <p:nvPr/>
          </p:nvSpPr>
          <p:spPr bwMode="auto">
            <a:xfrm flipH="1">
              <a:off x="9317931" y="2496295"/>
              <a:ext cx="381000" cy="533400"/>
            </a:xfrm>
            <a:prstGeom prst="line">
              <a:avLst/>
            </a:prstGeom>
            <a:noFill/>
            <a:ln w="127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kumimoji="1" lang="zh-CN" altLang="en-US" sz="280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 name="Object 28">
                  <a:extLst>
                    <a:ext uri="{FF2B5EF4-FFF2-40B4-BE49-F238E27FC236}">
                      <a16:creationId xmlns:a16="http://schemas.microsoft.com/office/drawing/2014/main" id="{CC62EACA-A553-49AE-9F50-54B1BE28C1AF}"/>
                    </a:ext>
                  </a:extLst>
                </p:cNvPr>
                <p:cNvSpPr txBox="1"/>
                <p:nvPr/>
              </p:nvSpPr>
              <p:spPr bwMode="auto">
                <a:xfrm>
                  <a:off x="6036597" y="2100213"/>
                  <a:ext cx="914400" cy="93821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𝑞</m:t>
                            </m:r>
                          </m:num>
                          <m:den>
                            <m:r>
                              <a:rPr lang="zh-CN" altLang="en-US" sz="2800" b="0" i="1">
                                <a:solidFill>
                                  <a:srgbClr val="000000"/>
                                </a:solidFill>
                                <a:latin typeface="Cambria Math" panose="02040503050406030204" pitchFamily="18" charset="0"/>
                              </a:rPr>
                              <m:t>4</m:t>
                            </m:r>
                            <m:r>
                              <a:rPr lang="zh-CN" altLang="en-US" sz="2800" b="0" i="1">
                                <a:solidFill>
                                  <a:srgbClr val="000000"/>
                                </a:solidFill>
                                <a:latin typeface="Cambria Math" panose="02040503050406030204" pitchFamily="18" charset="0"/>
                              </a:rPr>
                              <m:t>𝜋</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zh-CN" altLang="en-US" sz="2800" b="0" i="1">
                                    <a:solidFill>
                                      <a:srgbClr val="000000"/>
                                    </a:solidFill>
                                    <a:latin typeface="Cambria Math" panose="02040503050406030204" pitchFamily="18" charset="0"/>
                                  </a:rPr>
                                  <m:t>0</m:t>
                                </m:r>
                              </m:sub>
                            </m:sSub>
                            <m:r>
                              <a:rPr lang="zh-CN" altLang="en-US" sz="2800" b="0" i="1">
                                <a:solidFill>
                                  <a:srgbClr val="000000"/>
                                </a:solidFill>
                                <a:latin typeface="Cambria Math" panose="02040503050406030204" pitchFamily="18" charset="0"/>
                              </a:rPr>
                              <m:t>𝑅</m:t>
                            </m:r>
                          </m:den>
                        </m:f>
                      </m:oMath>
                    </m:oMathPara>
                  </a14:m>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41" name="Object 28">
                  <a:extLst>
                    <a:ext uri="{FF2B5EF4-FFF2-40B4-BE49-F238E27FC236}">
                      <a16:creationId xmlns:a16="http://schemas.microsoft.com/office/drawing/2014/main" id="{CC62EACA-A553-49AE-9F50-54B1BE28C1AF}"/>
                    </a:ext>
                  </a:extLst>
                </p:cNvPr>
                <p:cNvSpPr txBox="1">
                  <a:spLocks noRot="1" noChangeAspect="1" noMove="1" noResize="1" noEditPoints="1" noAdjustHandles="1" noChangeArrowheads="1" noChangeShapeType="1" noTextEdit="1"/>
                </p:cNvSpPr>
                <p:nvPr/>
              </p:nvSpPr>
              <p:spPr bwMode="auto">
                <a:xfrm>
                  <a:off x="6036597" y="2100213"/>
                  <a:ext cx="914400" cy="938213"/>
                </a:xfrm>
                <a:prstGeom prst="rect">
                  <a:avLst/>
                </a:prstGeom>
                <a:blipFill>
                  <a:blip r:embed="rId8"/>
                  <a:stretch>
                    <a:fillRect r="-17333"/>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1EE416E6-8E66-4E6F-B371-D9B8089980CE}"/>
                  </a:ext>
                </a:extLst>
              </p:cNvPr>
              <p:cNvSpPr/>
              <p:nvPr/>
            </p:nvSpPr>
            <p:spPr>
              <a:xfrm>
                <a:off x="2229407" y="4869141"/>
                <a:ext cx="2416625" cy="1787605"/>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𝑊</m:t>
                      </m:r>
                      <m:r>
                        <a:rPr lang="en-US" altLang="zh-CN" sz="2800" b="0" i="1" smtClean="0">
                          <a:latin typeface="Cambria Math" panose="02040503050406030204" pitchFamily="18" charset="0"/>
                        </a:rPr>
                        <m:t>=</m:t>
                      </m:r>
                      <m:f>
                        <m:fPr>
                          <m:ctrlPr>
                            <a:rPr lang="en-US" altLang="zh-CN" sz="2800" i="1" smtClean="0">
                              <a:latin typeface="Cambria Math" panose="02040503050406030204" pitchFamily="18" charset="0"/>
                            </a:rPr>
                          </m:ctrlPr>
                        </m:fPr>
                        <m:num>
                          <m:r>
                            <a:rPr lang="en-US" altLang="zh-CN" sz="2800" b="0" i="1" smtClean="0">
                              <a:latin typeface="Cambria Math" panose="02040503050406030204" pitchFamily="18" charset="0"/>
                            </a:rPr>
                            <m:t>1</m:t>
                          </m:r>
                        </m:num>
                        <m:den>
                          <m:r>
                            <a:rPr lang="en-US" altLang="zh-CN" sz="2800" b="0" i="1" smtClean="0">
                              <a:latin typeface="Cambria Math" panose="02040503050406030204" pitchFamily="18" charset="0"/>
                            </a:rPr>
                            <m:t>2</m:t>
                          </m:r>
                        </m:den>
                      </m:f>
                      <m:nary>
                        <m:naryPr>
                          <m:limLoc m:val="undOvr"/>
                          <m:subHide m:val="on"/>
                          <m:supHide m:val="on"/>
                          <m:ctrlPr>
                            <a:rPr lang="en-US" altLang="zh-CN" sz="2800" i="1" smtClean="0">
                              <a:latin typeface="Cambria Math" panose="02040503050406030204" pitchFamily="18" charset="0"/>
                            </a:rPr>
                          </m:ctrlPr>
                        </m:naryPr>
                        <m:sub/>
                        <m:sup/>
                        <m:e>
                          <m:r>
                            <a:rPr lang="zh-CN" altLang="en-US" sz="2800" b="0" i="1" smtClean="0">
                              <a:latin typeface="Cambria Math" panose="02040503050406030204" pitchFamily="18" charset="0"/>
                            </a:rPr>
                            <m:t>𝜑</m:t>
                          </m:r>
                          <m:r>
                            <a:rPr lang="en-US" altLang="zh-CN" sz="2800" b="0" i="1" smtClean="0">
                              <a:latin typeface="Cambria Math" panose="02040503050406030204" pitchFamily="18" charset="0"/>
                            </a:rPr>
                            <m:t>𝑑𝑞</m:t>
                          </m:r>
                        </m:e>
                      </m:nary>
                    </m:oMath>
                  </m:oMathPara>
                </a14:m>
                <a:endParaRPr lang="en-US" altLang="zh-CN" sz="2800" dirty="0">
                  <a:latin typeface="华文楷体" panose="02010600040101010101" pitchFamily="2" charset="-122"/>
                  <a:ea typeface="华文楷体" panose="02010600040101010101" pitchFamily="2" charset="-122"/>
                </a:endParaRPr>
              </a:p>
            </p:txBody>
          </p:sp>
        </mc:Choice>
        <mc:Fallback xmlns="">
          <p:sp>
            <p:nvSpPr>
              <p:cNvPr id="43" name="矩形 42">
                <a:extLst>
                  <a:ext uri="{FF2B5EF4-FFF2-40B4-BE49-F238E27FC236}">
                    <a16:creationId xmlns:a16="http://schemas.microsoft.com/office/drawing/2014/main" id="{1EE416E6-8E66-4E6F-B371-D9B8089980CE}"/>
                  </a:ext>
                </a:extLst>
              </p:cNvPr>
              <p:cNvSpPr>
                <a:spLocks noRot="1" noChangeAspect="1" noMove="1" noResize="1" noEditPoints="1" noAdjustHandles="1" noChangeArrowheads="1" noChangeShapeType="1" noTextEdit="1"/>
              </p:cNvSpPr>
              <p:nvPr/>
            </p:nvSpPr>
            <p:spPr>
              <a:xfrm>
                <a:off x="2229407" y="4869141"/>
                <a:ext cx="2416625" cy="1787605"/>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id="{33CE0E86-F295-4A28-B280-D98A8D94CEB8}"/>
                  </a:ext>
                </a:extLst>
              </p:cNvPr>
              <p:cNvSpPr/>
              <p:nvPr/>
            </p:nvSpPr>
            <p:spPr>
              <a:xfrm>
                <a:off x="4484535" y="5412109"/>
                <a:ext cx="2706830" cy="12225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b="0" i="1">
                              <a:latin typeface="Cambria Math" panose="02040503050406030204" pitchFamily="18" charset="0"/>
                            </a:rPr>
                            <m:t>1</m:t>
                          </m:r>
                        </m:num>
                        <m:den>
                          <m:r>
                            <a:rPr lang="en-US" altLang="zh-CN" sz="2800" b="0" i="1">
                              <a:latin typeface="Cambria Math" panose="02040503050406030204" pitchFamily="18" charset="0"/>
                            </a:rPr>
                            <m:t>2</m:t>
                          </m:r>
                        </m:den>
                      </m:f>
                      <m:nary>
                        <m:naryPr>
                          <m:limLoc m:val="undOvr"/>
                          <m:subHide m:val="on"/>
                          <m:supHide m:val="on"/>
                          <m:ctrlPr>
                            <a:rPr lang="en-US" altLang="zh-CN" sz="2800" i="1">
                              <a:latin typeface="Cambria Math" panose="02040503050406030204" pitchFamily="18" charset="0"/>
                            </a:rPr>
                          </m:ctrlPr>
                        </m:naryPr>
                        <m:sub/>
                        <m:sup/>
                        <m:e>
                          <m:f>
                            <m:fPr>
                              <m:ctrlPr>
                                <a:rPr lang="en-US" altLang="zh-CN" sz="2800" i="1">
                                  <a:solidFill>
                                    <a:prstClr val="black"/>
                                  </a:solidFill>
                                  <a:latin typeface="Cambria Math" panose="02040503050406030204" pitchFamily="18" charset="0"/>
                                </a:rPr>
                              </m:ctrlPr>
                            </m:fPr>
                            <m:num>
                              <m:r>
                                <a:rPr lang="en-US" altLang="zh-CN" sz="2800" b="0" i="1">
                                  <a:solidFill>
                                    <a:prstClr val="black"/>
                                  </a:solidFill>
                                  <a:latin typeface="Cambria Math" panose="02040503050406030204" pitchFamily="18" charset="0"/>
                                </a:rPr>
                                <m:t>𝑞</m:t>
                              </m:r>
                            </m:num>
                            <m:den>
                              <m:r>
                                <a:rPr lang="en-US" altLang="zh-CN" sz="2800" b="0" i="1">
                                  <a:solidFill>
                                    <a:prstClr val="black"/>
                                  </a:solidFill>
                                  <a:latin typeface="Cambria Math" panose="02040503050406030204" pitchFamily="18" charset="0"/>
                                </a:rPr>
                                <m:t>4</m:t>
                              </m:r>
                              <m:r>
                                <a:rPr lang="zh-CN" altLang="en-US" sz="2800" b="0" i="1">
                                  <a:solidFill>
                                    <a:prstClr val="black"/>
                                  </a:solidFill>
                                  <a:latin typeface="Cambria Math" panose="02040503050406030204" pitchFamily="18" charset="0"/>
                                </a:rPr>
                                <m:t>𝜋</m:t>
                              </m:r>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𝜀</m:t>
                                  </m:r>
                                </m:e>
                                <m:sub>
                                  <m:r>
                                    <a:rPr lang="en-US" altLang="zh-CN" sz="2800" b="0" i="1">
                                      <a:solidFill>
                                        <a:prstClr val="black"/>
                                      </a:solidFill>
                                      <a:latin typeface="Cambria Math" panose="02040503050406030204" pitchFamily="18" charset="0"/>
                                    </a:rPr>
                                    <m:t>0</m:t>
                                  </m:r>
                                </m:sub>
                              </m:sSub>
                              <m:r>
                                <a:rPr lang="en-US" altLang="zh-CN" sz="2800" b="0" i="1">
                                  <a:solidFill>
                                    <a:prstClr val="black"/>
                                  </a:solidFill>
                                  <a:latin typeface="Cambria Math" panose="02040503050406030204" pitchFamily="18" charset="0"/>
                                </a:rPr>
                                <m:t>𝑅</m:t>
                              </m:r>
                            </m:den>
                          </m:f>
                          <m:r>
                            <a:rPr lang="en-US" altLang="zh-CN" sz="2800" b="0" i="1">
                              <a:latin typeface="Cambria Math" panose="02040503050406030204" pitchFamily="18" charset="0"/>
                            </a:rPr>
                            <m:t>𝑑𝑞</m:t>
                          </m:r>
                        </m:e>
                      </m:nary>
                    </m:oMath>
                  </m:oMathPara>
                </a14:m>
                <a:endParaRPr lang="en-US" sz="2800" dirty="0"/>
              </a:p>
            </p:txBody>
          </p:sp>
        </mc:Choice>
        <mc:Fallback xmlns="">
          <p:sp>
            <p:nvSpPr>
              <p:cNvPr id="44" name="矩形 43">
                <a:extLst>
                  <a:ext uri="{FF2B5EF4-FFF2-40B4-BE49-F238E27FC236}">
                    <a16:creationId xmlns:a16="http://schemas.microsoft.com/office/drawing/2014/main" id="{33CE0E86-F295-4A28-B280-D98A8D94CEB8}"/>
                  </a:ext>
                </a:extLst>
              </p:cNvPr>
              <p:cNvSpPr>
                <a:spLocks noRot="1" noChangeAspect="1" noMove="1" noResize="1" noEditPoints="1" noAdjustHandles="1" noChangeArrowheads="1" noChangeShapeType="1" noTextEdit="1"/>
              </p:cNvSpPr>
              <p:nvPr/>
            </p:nvSpPr>
            <p:spPr>
              <a:xfrm>
                <a:off x="4484535" y="5412109"/>
                <a:ext cx="2706830" cy="1222514"/>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67B3CCC7-44BF-45C1-8E7E-E2827EBD8EEF}"/>
                  </a:ext>
                </a:extLst>
              </p:cNvPr>
              <p:cNvSpPr/>
              <p:nvPr/>
            </p:nvSpPr>
            <p:spPr>
              <a:xfrm>
                <a:off x="7135964" y="5412108"/>
                <a:ext cx="1625701" cy="10300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f>
                        <m:fPr>
                          <m:ctrlPr>
                            <a:rPr lang="en-US" altLang="zh-CN" sz="2800" i="1">
                              <a:solidFill>
                                <a:prstClr val="black"/>
                              </a:solidFill>
                              <a:latin typeface="Cambria Math" panose="02040503050406030204" pitchFamily="18" charset="0"/>
                            </a:rPr>
                          </m:ctrlPr>
                        </m:fPr>
                        <m:num>
                          <m:sSup>
                            <m:sSupPr>
                              <m:ctrlPr>
                                <a:rPr lang="en-US" altLang="zh-CN" sz="2800" i="1">
                                  <a:solidFill>
                                    <a:prstClr val="black"/>
                                  </a:solidFill>
                                  <a:latin typeface="Cambria Math" panose="02040503050406030204" pitchFamily="18" charset="0"/>
                                </a:rPr>
                              </m:ctrlPr>
                            </m:sSupPr>
                            <m:e>
                              <m:r>
                                <a:rPr lang="en-US" altLang="zh-CN" sz="2800" b="0" i="1">
                                  <a:solidFill>
                                    <a:prstClr val="black"/>
                                  </a:solidFill>
                                  <a:latin typeface="Cambria Math" panose="02040503050406030204" pitchFamily="18" charset="0"/>
                                </a:rPr>
                                <m:t>𝑞</m:t>
                              </m:r>
                            </m:e>
                            <m:sup>
                              <m:r>
                                <a:rPr lang="en-US" altLang="zh-CN" sz="2800" b="0" i="1">
                                  <a:solidFill>
                                    <a:prstClr val="black"/>
                                  </a:solidFill>
                                  <a:latin typeface="Cambria Math" panose="02040503050406030204" pitchFamily="18" charset="0"/>
                                </a:rPr>
                                <m:t>2</m:t>
                              </m:r>
                            </m:sup>
                          </m:sSup>
                        </m:num>
                        <m:den>
                          <m:r>
                            <a:rPr lang="en-US" altLang="zh-CN" sz="2800" b="0" i="1" smtClean="0">
                              <a:solidFill>
                                <a:prstClr val="black"/>
                              </a:solidFill>
                              <a:latin typeface="Cambria Math" panose="02040503050406030204" pitchFamily="18" charset="0"/>
                            </a:rPr>
                            <m:t>8</m:t>
                          </m:r>
                          <m:r>
                            <a:rPr lang="zh-CN" altLang="en-US" sz="2800" b="0" i="1">
                              <a:solidFill>
                                <a:prstClr val="black"/>
                              </a:solidFill>
                              <a:latin typeface="Cambria Math" panose="02040503050406030204" pitchFamily="18" charset="0"/>
                            </a:rPr>
                            <m:t>𝜋</m:t>
                          </m:r>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𝜀</m:t>
                              </m:r>
                            </m:e>
                            <m:sub>
                              <m:r>
                                <a:rPr lang="en-US" altLang="zh-CN" sz="2800" b="0" i="1">
                                  <a:solidFill>
                                    <a:prstClr val="black"/>
                                  </a:solidFill>
                                  <a:latin typeface="Cambria Math" panose="02040503050406030204" pitchFamily="18" charset="0"/>
                                </a:rPr>
                                <m:t>0</m:t>
                              </m:r>
                            </m:sub>
                          </m:sSub>
                          <m:r>
                            <a:rPr lang="en-US" altLang="zh-CN" sz="2800" b="0" i="1">
                              <a:solidFill>
                                <a:prstClr val="black"/>
                              </a:solidFill>
                              <a:latin typeface="Cambria Math" panose="02040503050406030204" pitchFamily="18" charset="0"/>
                            </a:rPr>
                            <m:t>𝑅</m:t>
                          </m:r>
                        </m:den>
                      </m:f>
                    </m:oMath>
                  </m:oMathPara>
                </a14:m>
                <a:endParaRPr lang="en-US" sz="2800" dirty="0"/>
              </a:p>
            </p:txBody>
          </p:sp>
        </mc:Choice>
        <mc:Fallback xmlns="">
          <p:sp>
            <p:nvSpPr>
              <p:cNvPr id="45" name="矩形 44">
                <a:extLst>
                  <a:ext uri="{FF2B5EF4-FFF2-40B4-BE49-F238E27FC236}">
                    <a16:creationId xmlns:a16="http://schemas.microsoft.com/office/drawing/2014/main" id="{67B3CCC7-44BF-45C1-8E7E-E2827EBD8EEF}"/>
                  </a:ext>
                </a:extLst>
              </p:cNvPr>
              <p:cNvSpPr>
                <a:spLocks noRot="1" noChangeAspect="1" noMove="1" noResize="1" noEditPoints="1" noAdjustHandles="1" noChangeArrowheads="1" noChangeShapeType="1" noTextEdit="1"/>
              </p:cNvSpPr>
              <p:nvPr/>
            </p:nvSpPr>
            <p:spPr>
              <a:xfrm>
                <a:off x="7135964" y="5412108"/>
                <a:ext cx="1625701" cy="1030090"/>
              </a:xfrm>
              <a:prstGeom prst="rect">
                <a:avLst/>
              </a:prstGeom>
              <a:blipFill>
                <a:blip r:embed="rId11"/>
                <a:stretch>
                  <a:fillRect/>
                </a:stretch>
              </a:blipFill>
            </p:spPr>
            <p:txBody>
              <a:bodyPr/>
              <a:lstStyle/>
              <a:p>
                <a:r>
                  <a:rPr lang="zh-CN" altLang="en-US">
                    <a:noFill/>
                  </a:rPr>
                  <a:t> </a:t>
                </a:r>
              </a:p>
            </p:txBody>
          </p:sp>
        </mc:Fallback>
      </mc:AlternateContent>
      <p:sp>
        <p:nvSpPr>
          <p:cNvPr id="4" name="Rectangle 2">
            <a:extLst>
              <a:ext uri="{FF2B5EF4-FFF2-40B4-BE49-F238E27FC236}">
                <a16:creationId xmlns:a16="http://schemas.microsoft.com/office/drawing/2014/main" id="{42DF9574-0A2D-07B9-F678-469DE78D4EC9}"/>
              </a:ext>
            </a:extLst>
          </p:cNvPr>
          <p:cNvSpPr>
            <a:spLocks noChangeArrowheads="1"/>
          </p:cNvSpPr>
          <p:nvPr/>
        </p:nvSpPr>
        <p:spPr bwMode="auto">
          <a:xfrm>
            <a:off x="2132171" y="4722998"/>
            <a:ext cx="7205215"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zh-CN" altLang="en-US" sz="2800" b="0" dirty="0">
                <a:solidFill>
                  <a:srgbClr val="000000"/>
                </a:solidFill>
                <a:ea typeface="华文楷体" panose="02010600040101010101" pitchFamily="2" charset="-122"/>
                <a:cs typeface="Times New Roman" panose="02020603050405020304" pitchFamily="18" charset="0"/>
              </a:rPr>
              <a:t>电荷只分布在球面上，只考虑球面处电势：</a:t>
            </a:r>
          </a:p>
        </p:txBody>
      </p:sp>
    </p:spTree>
    <p:extLst>
      <p:ext uri="{BB962C8B-B14F-4D97-AF65-F5344CB8AC3E}">
        <p14:creationId xmlns:p14="http://schemas.microsoft.com/office/powerpoint/2010/main" val="1388182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426" y="474896"/>
            <a:ext cx="6586040" cy="801362"/>
          </a:xfrm>
        </p:spPr>
        <p:txBody>
          <a:bodyPr>
            <a:normAutofit/>
          </a:bodyPr>
          <a:lstStyle/>
          <a:p>
            <a:pPr marL="571500" indent="-571500">
              <a:buFont typeface="Wingdings" panose="05000000000000000000" pitchFamily="2" charset="2"/>
              <a:buChar char="q"/>
            </a:pPr>
            <a:r>
              <a:rPr lang="zh-CN" altLang="en-US" sz="32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均匀带电</a:t>
            </a:r>
            <a:r>
              <a:rPr lang="zh-CN" altLang="en-US" sz="3200" b="1" dirty="0">
                <a:solidFill>
                  <a:srgbClr val="0066FF"/>
                </a:solidFill>
                <a:latin typeface="华文楷体" panose="02010600040101010101" pitchFamily="2" charset="-122"/>
                <a:ea typeface="华文楷体" panose="02010600040101010101" pitchFamily="2" charset="-122"/>
              </a:rPr>
              <a:t>球体</a:t>
            </a:r>
            <a:r>
              <a:rPr lang="zh-CN" altLang="en-US" sz="32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的静电能</a:t>
            </a:r>
          </a:p>
        </p:txBody>
      </p:sp>
      <p:grpSp>
        <p:nvGrpSpPr>
          <p:cNvPr id="5" name="Group 7">
            <a:extLst>
              <a:ext uri="{FF2B5EF4-FFF2-40B4-BE49-F238E27FC236}">
                <a16:creationId xmlns:a16="http://schemas.microsoft.com/office/drawing/2014/main" id="{6CC29D45-F942-4917-9ECB-925BEC383DC3}"/>
              </a:ext>
            </a:extLst>
          </p:cNvPr>
          <p:cNvGrpSpPr>
            <a:grpSpLocks/>
          </p:cNvGrpSpPr>
          <p:nvPr/>
        </p:nvGrpSpPr>
        <p:grpSpPr bwMode="auto">
          <a:xfrm>
            <a:off x="1093668" y="1435250"/>
            <a:ext cx="2630531" cy="2499043"/>
            <a:chOff x="3360" y="672"/>
            <a:chExt cx="2066" cy="1966"/>
          </a:xfrm>
        </p:grpSpPr>
        <p:sp>
          <p:nvSpPr>
            <p:cNvPr id="6" name="Oval 8">
              <a:extLst>
                <a:ext uri="{FF2B5EF4-FFF2-40B4-BE49-F238E27FC236}">
                  <a16:creationId xmlns:a16="http://schemas.microsoft.com/office/drawing/2014/main" id="{A294C2CD-6CBF-480A-8270-2A2C934880E9}"/>
                </a:ext>
              </a:extLst>
            </p:cNvPr>
            <p:cNvSpPr>
              <a:spLocks noChangeArrowheads="1"/>
            </p:cNvSpPr>
            <p:nvPr/>
          </p:nvSpPr>
          <p:spPr bwMode="auto">
            <a:xfrm>
              <a:off x="3360" y="720"/>
              <a:ext cx="1898" cy="1899"/>
            </a:xfrm>
            <a:prstGeom prst="ellipse">
              <a:avLst/>
            </a:prstGeom>
            <a:gradFill rotWithShape="1">
              <a:gsLst>
                <a:gs pos="0">
                  <a:schemeClr val="bg1"/>
                </a:gs>
                <a:gs pos="100000">
                  <a:schemeClr val="bg1">
                    <a:gamma/>
                    <a:shade val="47451"/>
                    <a:invGamma/>
                  </a:schemeClr>
                </a:gs>
              </a:gsLst>
              <a:path path="shape">
                <a:fillToRect l="50000" t="50000" r="50000" b="50000"/>
              </a:path>
            </a:gradFill>
            <a:ln>
              <a:noFill/>
            </a:ln>
            <a:effectLst/>
            <a:extLst>
              <a:ext uri="{91240B29-F687-4F45-9708-019B960494DF}">
                <a14:hiddenLine xmlns:a14="http://schemas.microsoft.com/office/drawing/2010/main" w="508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endParaRPr lang="zh-CN" altLang="en-US" sz="3200">
                <a:solidFill>
                  <a:srgbClr val="000000"/>
                </a:solidFill>
                <a:ea typeface="华文楷体" panose="02010600040101010101" pitchFamily="2" charset="-122"/>
                <a:cs typeface="Times New Roman" panose="02020603050405020304" pitchFamily="18" charset="0"/>
              </a:endParaRPr>
            </a:p>
          </p:txBody>
        </p:sp>
        <p:sp>
          <p:nvSpPr>
            <p:cNvPr id="7" name="Rectangle 9">
              <a:extLst>
                <a:ext uri="{FF2B5EF4-FFF2-40B4-BE49-F238E27FC236}">
                  <a16:creationId xmlns:a16="http://schemas.microsoft.com/office/drawing/2014/main" id="{E5166DC3-66B7-4279-8F0B-D03AE7757B5A}"/>
                </a:ext>
              </a:extLst>
            </p:cNvPr>
            <p:cNvSpPr>
              <a:spLocks noChangeArrowheads="1"/>
            </p:cNvSpPr>
            <p:nvPr/>
          </p:nvSpPr>
          <p:spPr bwMode="auto">
            <a:xfrm>
              <a:off x="4864" y="1057"/>
              <a:ext cx="330"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ea typeface="华文楷体" panose="02010600040101010101" pitchFamily="2" charset="-122"/>
                  <a:cs typeface="Times New Roman" panose="02020603050405020304" pitchFamily="18" charset="0"/>
                </a:rPr>
                <a:t>+</a:t>
              </a:r>
            </a:p>
          </p:txBody>
        </p:sp>
        <p:grpSp>
          <p:nvGrpSpPr>
            <p:cNvPr id="8" name="Group 10">
              <a:extLst>
                <a:ext uri="{FF2B5EF4-FFF2-40B4-BE49-F238E27FC236}">
                  <a16:creationId xmlns:a16="http://schemas.microsoft.com/office/drawing/2014/main" id="{E059CA38-DE91-48DB-A9BD-C4B3D735D0E5}"/>
                </a:ext>
              </a:extLst>
            </p:cNvPr>
            <p:cNvGrpSpPr>
              <a:grpSpLocks/>
            </p:cNvGrpSpPr>
            <p:nvPr/>
          </p:nvGrpSpPr>
          <p:grpSpPr bwMode="auto">
            <a:xfrm>
              <a:off x="3462" y="672"/>
              <a:ext cx="1964" cy="1966"/>
              <a:chOff x="3185" y="1871"/>
              <a:chExt cx="2442" cy="2444"/>
            </a:xfrm>
          </p:grpSpPr>
          <p:sp>
            <p:nvSpPr>
              <p:cNvPr id="13" name="Rectangle 11">
                <a:extLst>
                  <a:ext uri="{FF2B5EF4-FFF2-40B4-BE49-F238E27FC236}">
                    <a16:creationId xmlns:a16="http://schemas.microsoft.com/office/drawing/2014/main" id="{4C0D178A-2D27-4BD3-BB3E-E9A8A85F4980}"/>
                  </a:ext>
                </a:extLst>
              </p:cNvPr>
              <p:cNvSpPr>
                <a:spLocks noChangeArrowheads="1"/>
              </p:cNvSpPr>
              <p:nvPr/>
            </p:nvSpPr>
            <p:spPr bwMode="auto">
              <a:xfrm>
                <a:off x="3331" y="331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14" name="Rectangle 12">
                <a:extLst>
                  <a:ext uri="{FF2B5EF4-FFF2-40B4-BE49-F238E27FC236}">
                    <a16:creationId xmlns:a16="http://schemas.microsoft.com/office/drawing/2014/main" id="{D02E7AD7-23F5-4F04-A882-4FF0FC62FA1E}"/>
                  </a:ext>
                </a:extLst>
              </p:cNvPr>
              <p:cNvSpPr>
                <a:spLocks noChangeArrowheads="1"/>
              </p:cNvSpPr>
              <p:nvPr/>
            </p:nvSpPr>
            <p:spPr bwMode="auto">
              <a:xfrm>
                <a:off x="3185" y="302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15" name="Rectangle 13">
                <a:extLst>
                  <a:ext uri="{FF2B5EF4-FFF2-40B4-BE49-F238E27FC236}">
                    <a16:creationId xmlns:a16="http://schemas.microsoft.com/office/drawing/2014/main" id="{8773E4B1-DAC3-4C29-8C6B-7F2E74DADC53}"/>
                  </a:ext>
                </a:extLst>
              </p:cNvPr>
              <p:cNvSpPr>
                <a:spLocks noChangeArrowheads="1"/>
              </p:cNvSpPr>
              <p:nvPr/>
            </p:nvSpPr>
            <p:spPr bwMode="auto">
              <a:xfrm>
                <a:off x="3185" y="2735"/>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ea typeface="华文楷体" panose="02010600040101010101" pitchFamily="2" charset="-122"/>
                    <a:cs typeface="Times New Roman" panose="02020603050405020304" pitchFamily="18" charset="0"/>
                  </a:rPr>
                  <a:t>+</a:t>
                </a:r>
              </a:p>
            </p:txBody>
          </p:sp>
          <p:sp>
            <p:nvSpPr>
              <p:cNvPr id="16" name="Rectangle 14">
                <a:extLst>
                  <a:ext uri="{FF2B5EF4-FFF2-40B4-BE49-F238E27FC236}">
                    <a16:creationId xmlns:a16="http://schemas.microsoft.com/office/drawing/2014/main" id="{427096D2-EC50-42B3-B813-085CA12A1272}"/>
                  </a:ext>
                </a:extLst>
              </p:cNvPr>
              <p:cNvSpPr>
                <a:spLocks noChangeArrowheads="1"/>
              </p:cNvSpPr>
              <p:nvPr/>
            </p:nvSpPr>
            <p:spPr bwMode="auto">
              <a:xfrm>
                <a:off x="3281" y="2351"/>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17" name="Rectangle 15">
                <a:extLst>
                  <a:ext uri="{FF2B5EF4-FFF2-40B4-BE49-F238E27FC236}">
                    <a16:creationId xmlns:a16="http://schemas.microsoft.com/office/drawing/2014/main" id="{E5180BE3-5356-4EAC-9591-9B9CF275CA4C}"/>
                  </a:ext>
                </a:extLst>
              </p:cNvPr>
              <p:cNvSpPr>
                <a:spLocks noChangeArrowheads="1"/>
              </p:cNvSpPr>
              <p:nvPr/>
            </p:nvSpPr>
            <p:spPr bwMode="auto">
              <a:xfrm>
                <a:off x="3569" y="206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18" name="Rectangle 16">
                <a:extLst>
                  <a:ext uri="{FF2B5EF4-FFF2-40B4-BE49-F238E27FC236}">
                    <a16:creationId xmlns:a16="http://schemas.microsoft.com/office/drawing/2014/main" id="{1A080768-143F-43A1-9697-2B8C03BBDEAF}"/>
                  </a:ext>
                </a:extLst>
              </p:cNvPr>
              <p:cNvSpPr>
                <a:spLocks noChangeArrowheads="1"/>
              </p:cNvSpPr>
              <p:nvPr/>
            </p:nvSpPr>
            <p:spPr bwMode="auto">
              <a:xfrm>
                <a:off x="3905" y="1871"/>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19" name="Rectangle 17">
                <a:extLst>
                  <a:ext uri="{FF2B5EF4-FFF2-40B4-BE49-F238E27FC236}">
                    <a16:creationId xmlns:a16="http://schemas.microsoft.com/office/drawing/2014/main" id="{17F40503-BD9F-444F-B355-F447EDFFEF05}"/>
                  </a:ext>
                </a:extLst>
              </p:cNvPr>
              <p:cNvSpPr>
                <a:spLocks noChangeArrowheads="1"/>
              </p:cNvSpPr>
              <p:nvPr/>
            </p:nvSpPr>
            <p:spPr bwMode="auto">
              <a:xfrm>
                <a:off x="4674" y="206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0" name="Rectangle 18">
                <a:extLst>
                  <a:ext uri="{FF2B5EF4-FFF2-40B4-BE49-F238E27FC236}">
                    <a16:creationId xmlns:a16="http://schemas.microsoft.com/office/drawing/2014/main" id="{B4DAE752-E24D-4210-A4EB-8B2515E8E78D}"/>
                  </a:ext>
                </a:extLst>
              </p:cNvPr>
              <p:cNvSpPr>
                <a:spLocks noChangeArrowheads="1"/>
              </p:cNvSpPr>
              <p:nvPr/>
            </p:nvSpPr>
            <p:spPr bwMode="auto">
              <a:xfrm>
                <a:off x="4290" y="1871"/>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1" name="Rectangle 19">
                <a:extLst>
                  <a:ext uri="{FF2B5EF4-FFF2-40B4-BE49-F238E27FC236}">
                    <a16:creationId xmlns:a16="http://schemas.microsoft.com/office/drawing/2014/main" id="{30DF9099-56F6-4AE8-847F-728A5E8ABCBB}"/>
                  </a:ext>
                </a:extLst>
              </p:cNvPr>
              <p:cNvSpPr>
                <a:spLocks noChangeArrowheads="1"/>
              </p:cNvSpPr>
              <p:nvPr/>
            </p:nvSpPr>
            <p:spPr bwMode="auto">
              <a:xfrm>
                <a:off x="4290" y="374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2" name="Rectangle 20">
                <a:extLst>
                  <a:ext uri="{FF2B5EF4-FFF2-40B4-BE49-F238E27FC236}">
                    <a16:creationId xmlns:a16="http://schemas.microsoft.com/office/drawing/2014/main" id="{6D2790CC-A8E8-4EA4-B471-BF8746B9BD67}"/>
                  </a:ext>
                </a:extLst>
              </p:cNvPr>
              <p:cNvSpPr>
                <a:spLocks noChangeArrowheads="1"/>
              </p:cNvSpPr>
              <p:nvPr/>
            </p:nvSpPr>
            <p:spPr bwMode="auto">
              <a:xfrm>
                <a:off x="4674" y="3551"/>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3" name="Rectangle 21">
                <a:extLst>
                  <a:ext uri="{FF2B5EF4-FFF2-40B4-BE49-F238E27FC236}">
                    <a16:creationId xmlns:a16="http://schemas.microsoft.com/office/drawing/2014/main" id="{1DF2EE6A-751E-4E7F-8A4A-0BFCF64F4817}"/>
                  </a:ext>
                </a:extLst>
              </p:cNvPr>
              <p:cNvSpPr>
                <a:spLocks noChangeArrowheads="1"/>
              </p:cNvSpPr>
              <p:nvPr/>
            </p:nvSpPr>
            <p:spPr bwMode="auto">
              <a:xfrm>
                <a:off x="4913" y="331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ea typeface="华文楷体" panose="02010600040101010101" pitchFamily="2" charset="-122"/>
                    <a:cs typeface="Times New Roman" panose="02020603050405020304" pitchFamily="18" charset="0"/>
                  </a:rPr>
                  <a:t>+</a:t>
                </a:r>
              </a:p>
            </p:txBody>
          </p:sp>
          <p:sp>
            <p:nvSpPr>
              <p:cNvPr id="24" name="Rectangle 22">
                <a:extLst>
                  <a:ext uri="{FF2B5EF4-FFF2-40B4-BE49-F238E27FC236}">
                    <a16:creationId xmlns:a16="http://schemas.microsoft.com/office/drawing/2014/main" id="{5AD81C79-DBE8-4CAC-9A6A-7CA1E835A918}"/>
                  </a:ext>
                </a:extLst>
              </p:cNvPr>
              <p:cNvSpPr>
                <a:spLocks noChangeArrowheads="1"/>
              </p:cNvSpPr>
              <p:nvPr/>
            </p:nvSpPr>
            <p:spPr bwMode="auto">
              <a:xfrm>
                <a:off x="5009" y="302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5" name="Rectangle 23">
                <a:extLst>
                  <a:ext uri="{FF2B5EF4-FFF2-40B4-BE49-F238E27FC236}">
                    <a16:creationId xmlns:a16="http://schemas.microsoft.com/office/drawing/2014/main" id="{97D9DE66-7A5F-410E-A850-C88F65643838}"/>
                  </a:ext>
                </a:extLst>
              </p:cNvPr>
              <p:cNvSpPr>
                <a:spLocks noChangeArrowheads="1"/>
              </p:cNvSpPr>
              <p:nvPr/>
            </p:nvSpPr>
            <p:spPr bwMode="auto">
              <a:xfrm>
                <a:off x="5058" y="2687"/>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ea typeface="华文楷体" panose="02010600040101010101" pitchFamily="2" charset="-122"/>
                    <a:cs typeface="Times New Roman" panose="02020603050405020304" pitchFamily="18" charset="0"/>
                  </a:rPr>
                  <a:t>+</a:t>
                </a:r>
              </a:p>
            </p:txBody>
          </p:sp>
          <p:sp>
            <p:nvSpPr>
              <p:cNvPr id="26" name="Rectangle 24">
                <a:extLst>
                  <a:ext uri="{FF2B5EF4-FFF2-40B4-BE49-F238E27FC236}">
                    <a16:creationId xmlns:a16="http://schemas.microsoft.com/office/drawing/2014/main" id="{D2EEE2CA-9820-4257-BF33-DC747425C979}"/>
                  </a:ext>
                </a:extLst>
              </p:cNvPr>
              <p:cNvSpPr>
                <a:spLocks noChangeArrowheads="1"/>
              </p:cNvSpPr>
              <p:nvPr/>
            </p:nvSpPr>
            <p:spPr bwMode="auto">
              <a:xfrm>
                <a:off x="3618" y="3599"/>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7" name="Rectangle 25">
                <a:extLst>
                  <a:ext uri="{FF2B5EF4-FFF2-40B4-BE49-F238E27FC236}">
                    <a16:creationId xmlns:a16="http://schemas.microsoft.com/office/drawing/2014/main" id="{E5CC6583-355A-4F62-85DF-E88E4F478855}"/>
                  </a:ext>
                </a:extLst>
              </p:cNvPr>
              <p:cNvSpPr>
                <a:spLocks noChangeArrowheads="1"/>
              </p:cNvSpPr>
              <p:nvPr/>
            </p:nvSpPr>
            <p:spPr bwMode="auto">
              <a:xfrm>
                <a:off x="3952" y="3743"/>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28" name="Rectangle 26">
                    <a:extLst>
                      <a:ext uri="{FF2B5EF4-FFF2-40B4-BE49-F238E27FC236}">
                        <a16:creationId xmlns:a16="http://schemas.microsoft.com/office/drawing/2014/main" id="{C70D9A0C-E353-4FED-803D-7A51259EAB17}"/>
                      </a:ext>
                    </a:extLst>
                  </p:cNvPr>
                  <p:cNvSpPr>
                    <a:spLocks noChangeArrowheads="1"/>
                  </p:cNvSpPr>
                  <p:nvPr/>
                </p:nvSpPr>
                <p:spPr bwMode="auto">
                  <a:xfrm>
                    <a:off x="5102" y="1976"/>
                    <a:ext cx="525" cy="572"/>
                  </a:xfrm>
                  <a:prstGeom prst="rect">
                    <a:avLst/>
                  </a:prstGeom>
                  <a:noFill/>
                  <a:ln>
                    <a:noFill/>
                  </a:ln>
                  <a:effectLst/>
                  <a:extLst>
                    <a:ext uri="{909E8E84-426E-40DD-AFC4-6F175D3DCCD1}">
                      <a14:hiddenFill>
                        <a:solidFill>
                          <a:schemeClr val="accent1"/>
                        </a:solidFill>
                      </a14:hiddenFill>
                    </a:ext>
                    <a:ext uri="{91240B29-F687-4F45-9708-019B960494DF}">
                      <a14:hiddenLine w="9525">
                        <a:solidFill>
                          <a:srgbClr val="FFFF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3200" i="1">
                              <a:solidFill>
                                <a:srgbClr val="000000"/>
                              </a:solidFill>
                              <a:latin typeface="Cambria Math" panose="02040503050406030204" pitchFamily="18" charset="0"/>
                              <a:ea typeface="华文新魏" panose="02010800040101010101" pitchFamily="2" charset="-122"/>
                            </a:rPr>
                            <m:t>𝒒</m:t>
                          </m:r>
                        </m:oMath>
                      </m:oMathPara>
                    </a14:m>
                    <a:endParaRPr lang="en-US" altLang="zh-CN" sz="3200" i="1" dirty="0">
                      <a:solidFill>
                        <a:srgbClr val="000000"/>
                      </a:solidFill>
                      <a:ea typeface="华文楷体" panose="02010600040101010101" pitchFamily="2" charset="-122"/>
                      <a:cs typeface="Times New Roman" panose="02020603050405020304" pitchFamily="18" charset="0"/>
                    </a:endParaRPr>
                  </a:p>
                </p:txBody>
              </p:sp>
            </mc:Choice>
            <mc:Fallback xmlns="">
              <p:sp>
                <p:nvSpPr>
                  <p:cNvPr id="28" name="Rectangle 26">
                    <a:extLst>
                      <a:ext uri="{FF2B5EF4-FFF2-40B4-BE49-F238E27FC236}">
                        <a16:creationId xmlns:a16="http://schemas.microsoft.com/office/drawing/2014/main" id="{C70D9A0C-E353-4FED-803D-7A51259EAB17}"/>
                      </a:ext>
                    </a:extLst>
                  </p:cNvPr>
                  <p:cNvSpPr>
                    <a:spLocks noRot="1" noChangeAspect="1" noMove="1" noResize="1" noEditPoints="1" noAdjustHandles="1" noChangeArrowheads="1" noChangeShapeType="1" noTextEdit="1"/>
                  </p:cNvSpPr>
                  <p:nvPr/>
                </p:nvSpPr>
                <p:spPr bwMode="auto">
                  <a:xfrm>
                    <a:off x="5102" y="1976"/>
                    <a:ext cx="525" cy="572"/>
                  </a:xfrm>
                  <a:prstGeom prst="rect">
                    <a:avLst/>
                  </a:prstGeom>
                  <a:blipFill>
                    <a:blip r:embed="rId2"/>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grpSp>
          <p:nvGrpSpPr>
            <p:cNvPr id="9" name="Group 27">
              <a:extLst>
                <a:ext uri="{FF2B5EF4-FFF2-40B4-BE49-F238E27FC236}">
                  <a16:creationId xmlns:a16="http://schemas.microsoft.com/office/drawing/2014/main" id="{338D0FD5-E0D2-48E5-88E0-CA79D0B47D08}"/>
                </a:ext>
              </a:extLst>
            </p:cNvPr>
            <p:cNvGrpSpPr>
              <a:grpSpLocks/>
            </p:cNvGrpSpPr>
            <p:nvPr/>
          </p:nvGrpSpPr>
          <p:grpSpPr bwMode="auto">
            <a:xfrm>
              <a:off x="3705" y="935"/>
              <a:ext cx="881" cy="1057"/>
              <a:chOff x="455" y="1388"/>
              <a:chExt cx="881" cy="1057"/>
            </a:xfrm>
          </p:grpSpPr>
          <p:sp>
            <p:nvSpPr>
              <p:cNvPr id="10" name="Line 28">
                <a:extLst>
                  <a:ext uri="{FF2B5EF4-FFF2-40B4-BE49-F238E27FC236}">
                    <a16:creationId xmlns:a16="http://schemas.microsoft.com/office/drawing/2014/main" id="{3D239885-E582-483D-9286-4672CC5DA13E}"/>
                  </a:ext>
                </a:extLst>
              </p:cNvPr>
              <p:cNvSpPr>
                <a:spLocks noChangeShapeType="1"/>
              </p:cNvSpPr>
              <p:nvPr/>
            </p:nvSpPr>
            <p:spPr bwMode="auto">
              <a:xfrm flipH="1" flipV="1">
                <a:off x="455" y="1388"/>
                <a:ext cx="647" cy="707"/>
              </a:xfrm>
              <a:prstGeom prst="line">
                <a:avLst/>
              </a:prstGeom>
              <a:noFill/>
              <a:ln w="25400">
                <a:solidFill>
                  <a:srgbClr val="FF0000"/>
                </a:solidFill>
                <a:round/>
                <a:headEnd type="oval"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defRPr/>
                </a:pPr>
                <a:endParaRPr kumimoji="1" lang="zh-CN" altLang="en-US" b="1" dirty="0">
                  <a:solidFill>
                    <a:srgbClr val="000000"/>
                  </a:solidFill>
                  <a:highlight>
                    <a:srgbClr val="008000"/>
                  </a:highligh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 name="Text Box 29">
                <a:extLst>
                  <a:ext uri="{FF2B5EF4-FFF2-40B4-BE49-F238E27FC236}">
                    <a16:creationId xmlns:a16="http://schemas.microsoft.com/office/drawing/2014/main" id="{70FDC973-5AA9-4FBC-8980-61918A9EA4D9}"/>
                  </a:ext>
                </a:extLst>
              </p:cNvPr>
              <p:cNvSpPr txBox="1">
                <a:spLocks noChangeArrowheads="1"/>
              </p:cNvSpPr>
              <p:nvPr/>
            </p:nvSpPr>
            <p:spPr bwMode="auto">
              <a:xfrm>
                <a:off x="669" y="1751"/>
                <a:ext cx="360" cy="4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en-US" altLang="zh-CN" sz="3200" i="1" dirty="0">
                    <a:solidFill>
                      <a:srgbClr val="000000"/>
                    </a:solidFill>
                    <a:ea typeface="华文楷体" panose="02010600040101010101" pitchFamily="2" charset="-122"/>
                    <a:cs typeface="Times New Roman" panose="02020603050405020304" pitchFamily="18" charset="0"/>
                  </a:rPr>
                  <a:t>R</a:t>
                </a:r>
              </a:p>
            </p:txBody>
          </p:sp>
          <p:sp>
            <p:nvSpPr>
              <p:cNvPr id="12" name="Text Box 30">
                <a:extLst>
                  <a:ext uri="{FF2B5EF4-FFF2-40B4-BE49-F238E27FC236}">
                    <a16:creationId xmlns:a16="http://schemas.microsoft.com/office/drawing/2014/main" id="{5174370A-8A52-4056-BF7A-CF63BB747208}"/>
                  </a:ext>
                </a:extLst>
              </p:cNvPr>
              <p:cNvSpPr txBox="1">
                <a:spLocks noChangeArrowheads="1"/>
              </p:cNvSpPr>
              <p:nvPr/>
            </p:nvSpPr>
            <p:spPr bwMode="auto">
              <a:xfrm>
                <a:off x="1026" y="1985"/>
                <a:ext cx="310" cy="4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o</a:t>
                </a:r>
              </a:p>
            </p:txBody>
          </p:sp>
        </p:grpSp>
      </p:grpSp>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0D695871-21EA-4119-9FC1-64ADA594C07B}"/>
                  </a:ext>
                </a:extLst>
              </p:cNvPr>
              <p:cNvSpPr/>
              <p:nvPr/>
            </p:nvSpPr>
            <p:spPr>
              <a:xfrm>
                <a:off x="5057763" y="2177867"/>
                <a:ext cx="2160335" cy="523220"/>
              </a:xfrm>
              <a:prstGeom prst="rect">
                <a:avLst/>
              </a:prstGeom>
            </p:spPr>
            <p:txBody>
              <a:bodyPr wrap="none">
                <a:spAutoFit/>
              </a:bodyPr>
              <a:lstStyle/>
              <a:p>
                <a14:m>
                  <m:oMath xmlns:m="http://schemas.openxmlformats.org/officeDocument/2006/math">
                    <m:r>
                      <a:rPr kumimoji="1" lang="en-US" altLang="zh-CN" sz="2800" b="0" i="1" dirty="0" smtClean="0">
                        <a:solidFill>
                          <a:srgbClr val="C00000"/>
                        </a:solidFill>
                        <a:latin typeface="Cambria Math" panose="02040503050406030204" pitchFamily="18" charset="0"/>
                        <a:ea typeface="华文新魏" panose="02010800040101010101" pitchFamily="2" charset="-122"/>
                      </a:rPr>
                      <m:t>− </m:t>
                    </m:r>
                    <m:r>
                      <a:rPr kumimoji="1" lang="en-US" altLang="zh-CN" sz="2800" i="1" dirty="0" smtClean="0">
                        <a:solidFill>
                          <a:srgbClr val="C00000"/>
                        </a:solidFill>
                        <a:latin typeface="Cambria Math" panose="02040503050406030204" pitchFamily="18" charset="0"/>
                        <a:ea typeface="华文新魏" panose="02010800040101010101" pitchFamily="2" charset="-122"/>
                      </a:rPr>
                      <m:t>𝒓</m:t>
                    </m:r>
                    <m:r>
                      <a:rPr kumimoji="1" lang="en-US" altLang="zh-CN" sz="2800" i="1" dirty="0" smtClean="0">
                        <a:solidFill>
                          <a:srgbClr val="C00000"/>
                        </a:solidFill>
                        <a:latin typeface="Cambria Math" panose="02040503050406030204" pitchFamily="18" charset="0"/>
                        <a:ea typeface="华文新魏" panose="02010800040101010101" pitchFamily="2" charset="-122"/>
                      </a:rPr>
                      <m:t>≤</m:t>
                    </m:r>
                    <m:r>
                      <a:rPr kumimoji="1" lang="en-US" altLang="zh-CN" sz="2800" i="1" dirty="0" smtClean="0">
                        <a:solidFill>
                          <a:srgbClr val="C00000"/>
                        </a:solidFill>
                        <a:latin typeface="Cambria Math" panose="02040503050406030204" pitchFamily="18" charset="0"/>
                        <a:ea typeface="华文新魏" panose="02010800040101010101" pitchFamily="2" charset="-122"/>
                      </a:rPr>
                      <m:t>𝑹</m:t>
                    </m:r>
                  </m:oMath>
                </a14:m>
                <a:r>
                  <a:rPr lang="zh-CN" altLang="en-US" sz="2800" dirty="0"/>
                  <a:t>时，</a:t>
                </a:r>
                <a:endParaRPr lang="en-US" sz="2800" dirty="0"/>
              </a:p>
            </p:txBody>
          </p:sp>
        </mc:Choice>
        <mc:Fallback xmlns="">
          <p:sp>
            <p:nvSpPr>
              <p:cNvPr id="48" name="矩形 47">
                <a:extLst>
                  <a:ext uri="{FF2B5EF4-FFF2-40B4-BE49-F238E27FC236}">
                    <a16:creationId xmlns:a16="http://schemas.microsoft.com/office/drawing/2014/main" id="{0D695871-21EA-4119-9FC1-64ADA594C07B}"/>
                  </a:ext>
                </a:extLst>
              </p:cNvPr>
              <p:cNvSpPr>
                <a:spLocks noRot="1" noChangeAspect="1" noMove="1" noResize="1" noEditPoints="1" noAdjustHandles="1" noChangeArrowheads="1" noChangeShapeType="1" noTextEdit="1"/>
              </p:cNvSpPr>
              <p:nvPr/>
            </p:nvSpPr>
            <p:spPr>
              <a:xfrm>
                <a:off x="5057763" y="2177867"/>
                <a:ext cx="2160335" cy="523220"/>
              </a:xfrm>
              <a:prstGeom prst="rect">
                <a:avLst/>
              </a:prstGeom>
              <a:blipFill>
                <a:blip r:embed="rId3"/>
                <a:stretch>
                  <a:fillRect t="-11628" r="-4520" b="-313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Object 26">
                <a:extLst>
                  <a:ext uri="{FF2B5EF4-FFF2-40B4-BE49-F238E27FC236}">
                    <a16:creationId xmlns:a16="http://schemas.microsoft.com/office/drawing/2014/main" id="{153AAB02-82AA-468E-8392-2B5C2B295A62}"/>
                  </a:ext>
                </a:extLst>
              </p:cNvPr>
              <p:cNvSpPr txBox="1"/>
              <p:nvPr/>
            </p:nvSpPr>
            <p:spPr bwMode="auto">
              <a:xfrm>
                <a:off x="4704323" y="4265412"/>
                <a:ext cx="2289175" cy="1146175"/>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𝑞</m:t>
                          </m:r>
                          <m:r>
                            <a:rPr lang="en-US" sz="2800" i="1">
                              <a:solidFill>
                                <a:srgbClr val="000000"/>
                              </a:solidFill>
                              <a:latin typeface="Cambria Math" panose="02040503050406030204" pitchFamily="18" charset="0"/>
                            </a:rPr>
                            <m:t>(3</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𝑅</m:t>
                              </m:r>
                            </m:e>
                            <m:sup>
                              <m:r>
                                <a:rPr lang="en-US" sz="2800" i="1">
                                  <a:solidFill>
                                    <a:srgbClr val="000000"/>
                                  </a:solidFill>
                                  <a:latin typeface="Cambria Math" panose="02040503050406030204" pitchFamily="18" charset="0"/>
                                </a:rPr>
                                <m:t>2</m:t>
                              </m:r>
                            </m:sup>
                          </m:sSup>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𝑟</m:t>
                              </m:r>
                            </m:e>
                            <m:sup>
                              <m:r>
                                <a:rPr lang="en-US" sz="2800" i="1">
                                  <a:solidFill>
                                    <a:srgbClr val="000000"/>
                                  </a:solidFill>
                                  <a:latin typeface="Cambria Math" panose="02040503050406030204" pitchFamily="18" charset="0"/>
                                </a:rPr>
                                <m:t>2</m:t>
                              </m:r>
                            </m:sup>
                          </m:sSup>
                          <m:r>
                            <a:rPr lang="en-US" sz="2800" i="1">
                              <a:solidFill>
                                <a:srgbClr val="000000"/>
                              </a:solidFill>
                              <a:latin typeface="Cambria Math" panose="02040503050406030204" pitchFamily="18" charset="0"/>
                            </a:rPr>
                            <m:t>)</m:t>
                          </m:r>
                        </m:num>
                        <m:den>
                          <m:r>
                            <a:rPr lang="en-US" sz="2800" i="1">
                              <a:solidFill>
                                <a:srgbClr val="000000"/>
                              </a:solidFill>
                              <a:latin typeface="Cambria Math" panose="02040503050406030204" pitchFamily="18" charset="0"/>
                            </a:rPr>
                            <m:t>8</m:t>
                          </m:r>
                          <m:r>
                            <a:rPr lang="en-US" sz="280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𝑅</m:t>
                              </m:r>
                            </m:e>
                            <m:sup>
                              <m:r>
                                <a:rPr lang="en-US" sz="2800" i="1">
                                  <a:solidFill>
                                    <a:srgbClr val="000000"/>
                                  </a:solidFill>
                                  <a:latin typeface="Cambria Math" panose="02040503050406030204" pitchFamily="18" charset="0"/>
                                </a:rPr>
                                <m:t>3</m:t>
                              </m:r>
                            </m:sup>
                          </m:sSup>
                        </m:den>
                      </m:f>
                    </m:oMath>
                  </m:oMathPara>
                </a14:m>
                <a:endParaRPr lang="en-US" sz="2800" dirty="0"/>
              </a:p>
            </p:txBody>
          </p:sp>
        </mc:Choice>
        <mc:Fallback xmlns="">
          <p:sp>
            <p:nvSpPr>
              <p:cNvPr id="51" name="Object 26">
                <a:extLst>
                  <a:ext uri="{FF2B5EF4-FFF2-40B4-BE49-F238E27FC236}">
                    <a16:creationId xmlns:a16="http://schemas.microsoft.com/office/drawing/2014/main" id="{153AAB02-82AA-468E-8392-2B5C2B295A62}"/>
                  </a:ext>
                </a:extLst>
              </p:cNvPr>
              <p:cNvSpPr txBox="1">
                <a:spLocks noRot="1" noChangeAspect="1" noMove="1" noResize="1" noEditPoints="1" noAdjustHandles="1" noChangeArrowheads="1" noChangeShapeType="1" noTextEdit="1"/>
              </p:cNvSpPr>
              <p:nvPr/>
            </p:nvSpPr>
            <p:spPr bwMode="auto">
              <a:xfrm>
                <a:off x="4704323" y="4265412"/>
                <a:ext cx="2289175" cy="1146175"/>
              </a:xfrm>
              <a:prstGeom prst="rect">
                <a:avLst/>
              </a:prstGeom>
              <a:blipFill>
                <a:blip r:embed="rId4"/>
                <a:stretch>
                  <a:fillRect r="-1867"/>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Object 16">
                <a:extLst>
                  <a:ext uri="{FF2B5EF4-FFF2-40B4-BE49-F238E27FC236}">
                    <a16:creationId xmlns:a16="http://schemas.microsoft.com/office/drawing/2014/main" id="{2F63358F-B80F-4C78-815E-5DB552E4ACA1}"/>
                  </a:ext>
                </a:extLst>
              </p:cNvPr>
              <p:cNvSpPr txBox="1"/>
              <p:nvPr/>
            </p:nvSpPr>
            <p:spPr bwMode="auto">
              <a:xfrm>
                <a:off x="4123568" y="3009763"/>
                <a:ext cx="2638850" cy="820738"/>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zh-CN" altLang="en-US" sz="2800" b="1" i="1">
                          <a:solidFill>
                            <a:srgbClr val="000000"/>
                          </a:solidFill>
                          <a:latin typeface="Cambria Math" panose="02040503050406030204" pitchFamily="18" charset="0"/>
                        </a:rPr>
                        <m:t>𝝋</m:t>
                      </m:r>
                      <m:r>
                        <a:rPr lang="en-US" sz="280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𝑟</m:t>
                          </m:r>
                        </m:sub>
                        <m:sup>
                          <m:r>
                            <a:rPr lang="en-US" sz="2800" i="1">
                              <a:solidFill>
                                <a:srgbClr val="000000"/>
                              </a:solidFill>
                              <a:latin typeface="Cambria Math" panose="02040503050406030204" pitchFamily="18" charset="0"/>
                            </a:rPr>
                            <m:t>∞</m:t>
                          </m:r>
                        </m:sup>
                        <m:e>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𝐸</m:t>
                              </m:r>
                            </m:e>
                          </m:acc>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𝑑</m:t>
                          </m:r>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𝑙</m:t>
                              </m:r>
                            </m:e>
                          </m:acc>
                        </m:e>
                      </m:nary>
                    </m:oMath>
                  </m:oMathPara>
                </a14:m>
                <a:endParaRPr lang="en-US" sz="2800" dirty="0"/>
              </a:p>
            </p:txBody>
          </p:sp>
        </mc:Choice>
        <mc:Fallback xmlns="">
          <p:sp>
            <p:nvSpPr>
              <p:cNvPr id="52" name="Object 16">
                <a:extLst>
                  <a:ext uri="{FF2B5EF4-FFF2-40B4-BE49-F238E27FC236}">
                    <a16:creationId xmlns:a16="http://schemas.microsoft.com/office/drawing/2014/main" id="{2F63358F-B80F-4C78-815E-5DB552E4ACA1}"/>
                  </a:ext>
                </a:extLst>
              </p:cNvPr>
              <p:cNvSpPr txBox="1">
                <a:spLocks noRot="1" noChangeAspect="1" noMove="1" noResize="1" noEditPoints="1" noAdjustHandles="1" noChangeArrowheads="1" noChangeShapeType="1" noTextEdit="1"/>
              </p:cNvSpPr>
              <p:nvPr/>
            </p:nvSpPr>
            <p:spPr bwMode="auto">
              <a:xfrm>
                <a:off x="4123568" y="3009763"/>
                <a:ext cx="2638850" cy="820738"/>
              </a:xfrm>
              <a:prstGeom prst="rect">
                <a:avLst/>
              </a:prstGeom>
              <a:blipFill>
                <a:blip r:embed="rId5"/>
                <a:stretch>
                  <a:fillRect b="-18657"/>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Object 35">
                <a:extLst>
                  <a:ext uri="{FF2B5EF4-FFF2-40B4-BE49-F238E27FC236}">
                    <a16:creationId xmlns:a16="http://schemas.microsoft.com/office/drawing/2014/main" id="{7595C64B-E90B-4767-B811-2FC3C3B4E26D}"/>
                  </a:ext>
                </a:extLst>
              </p:cNvPr>
              <p:cNvSpPr txBox="1"/>
              <p:nvPr/>
            </p:nvSpPr>
            <p:spPr bwMode="auto">
              <a:xfrm>
                <a:off x="6272592" y="2931593"/>
                <a:ext cx="5948133" cy="1103313"/>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𝑟</m:t>
                          </m:r>
                        </m:sub>
                        <m:sup>
                          <m:r>
                            <a:rPr lang="en-US" sz="2800" i="1">
                              <a:solidFill>
                                <a:srgbClr val="000000"/>
                              </a:solidFill>
                              <a:latin typeface="Cambria Math" panose="02040503050406030204" pitchFamily="18" charset="0"/>
                            </a:rPr>
                            <m:t>𝑅</m:t>
                          </m:r>
                        </m:sup>
                        <m:e>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𝑞𝑟</m:t>
                              </m:r>
                            </m:num>
                            <m:den>
                              <m:r>
                                <a:rPr lang="en-US" sz="2800" i="1">
                                  <a:solidFill>
                                    <a:srgbClr val="000000"/>
                                  </a:solidFill>
                                  <a:latin typeface="Cambria Math" panose="02040503050406030204" pitchFamily="18" charset="0"/>
                                </a:rPr>
                                <m:t>4</m:t>
                              </m:r>
                              <m:r>
                                <a:rPr lang="en-US" sz="280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𝑅</m:t>
                                  </m:r>
                                </m:e>
                                <m:sup>
                                  <m:r>
                                    <a:rPr lang="en-US" sz="2800" i="1">
                                      <a:solidFill>
                                        <a:srgbClr val="000000"/>
                                      </a:solidFill>
                                      <a:latin typeface="Cambria Math" panose="02040503050406030204" pitchFamily="18" charset="0"/>
                                    </a:rPr>
                                    <m:t>3</m:t>
                                  </m:r>
                                </m:sup>
                              </m:sSup>
                            </m:den>
                          </m:f>
                        </m:e>
                      </m:nary>
                      <m:r>
                        <a:rPr lang="en-US" sz="2800" i="1">
                          <a:solidFill>
                            <a:srgbClr val="000000"/>
                          </a:solidFill>
                          <a:latin typeface="Cambria Math" panose="02040503050406030204" pitchFamily="18" charset="0"/>
                        </a:rPr>
                        <m:t>𝑑𝑟</m:t>
                      </m:r>
                      <m:r>
                        <a:rPr lang="en-US" sz="280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𝑅</m:t>
                          </m:r>
                        </m:sub>
                        <m:sup>
                          <m:r>
                            <a:rPr lang="en-US" sz="2800" i="1">
                              <a:solidFill>
                                <a:srgbClr val="000000"/>
                              </a:solidFill>
                              <a:latin typeface="Cambria Math" panose="02040503050406030204" pitchFamily="18" charset="0"/>
                            </a:rPr>
                            <m:t>∞</m:t>
                          </m:r>
                        </m:sup>
                        <m:e>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𝑞</m:t>
                              </m:r>
                            </m:num>
                            <m:den>
                              <m:r>
                                <a:rPr lang="en-US" sz="2800" i="1">
                                  <a:solidFill>
                                    <a:srgbClr val="000000"/>
                                  </a:solidFill>
                                  <a:latin typeface="Cambria Math" panose="02040503050406030204" pitchFamily="18" charset="0"/>
                                </a:rPr>
                                <m:t>4</m:t>
                              </m:r>
                              <m:r>
                                <a:rPr lang="en-US" sz="2800" i="1">
                                  <a:solidFill>
                                    <a:srgbClr val="000000"/>
                                  </a:solidFill>
                                  <a:latin typeface="Cambria Math" panose="02040503050406030204" pitchFamily="18" charset="0"/>
                                </a:rPr>
                                <m:t>𝜋</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𝜀</m:t>
                                  </m:r>
                                </m:e>
                                <m:sub>
                                  <m:r>
                                    <a:rPr lang="en-US" sz="2800" i="1">
                                      <a:solidFill>
                                        <a:srgbClr val="000000"/>
                                      </a:solidFill>
                                      <a:latin typeface="Cambria Math" panose="02040503050406030204" pitchFamily="18" charset="0"/>
                                    </a:rPr>
                                    <m:t>0</m:t>
                                  </m:r>
                                </m:sub>
                              </m:sSub>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𝑟</m:t>
                                  </m:r>
                                </m:e>
                                <m:sup>
                                  <m:r>
                                    <a:rPr lang="en-US" sz="2800" i="1">
                                      <a:solidFill>
                                        <a:srgbClr val="000000"/>
                                      </a:solidFill>
                                      <a:latin typeface="Cambria Math" panose="02040503050406030204" pitchFamily="18" charset="0"/>
                                    </a:rPr>
                                    <m:t>2</m:t>
                                  </m:r>
                                </m:sup>
                              </m:sSup>
                            </m:den>
                          </m:f>
                          <m:r>
                            <a:rPr lang="en-US" sz="2800" i="1">
                              <a:solidFill>
                                <a:srgbClr val="000000"/>
                              </a:solidFill>
                              <a:latin typeface="Cambria Math" panose="02040503050406030204" pitchFamily="18" charset="0"/>
                            </a:rPr>
                            <m:t>𝑑𝑟</m:t>
                          </m:r>
                        </m:e>
                      </m:nary>
                    </m:oMath>
                  </m:oMathPara>
                </a14:m>
                <a:endParaRPr lang="en-US" sz="2800" dirty="0"/>
              </a:p>
            </p:txBody>
          </p:sp>
        </mc:Choice>
        <mc:Fallback xmlns="">
          <p:sp>
            <p:nvSpPr>
              <p:cNvPr id="53" name="Object 35">
                <a:extLst>
                  <a:ext uri="{FF2B5EF4-FFF2-40B4-BE49-F238E27FC236}">
                    <a16:creationId xmlns:a16="http://schemas.microsoft.com/office/drawing/2014/main" id="{7595C64B-E90B-4767-B811-2FC3C3B4E26D}"/>
                  </a:ext>
                </a:extLst>
              </p:cNvPr>
              <p:cNvSpPr txBox="1">
                <a:spLocks noRot="1" noChangeAspect="1" noMove="1" noResize="1" noEditPoints="1" noAdjustHandles="1" noChangeArrowheads="1" noChangeShapeType="1" noTextEdit="1"/>
              </p:cNvSpPr>
              <p:nvPr/>
            </p:nvSpPr>
            <p:spPr bwMode="auto">
              <a:xfrm>
                <a:off x="6272592" y="2931593"/>
                <a:ext cx="5948133" cy="1103313"/>
              </a:xfrm>
              <a:prstGeom prst="rect">
                <a:avLst/>
              </a:prstGeom>
              <a:blipFill>
                <a:blip r:embed="rId6"/>
                <a:stretch>
                  <a:fillRect/>
                </a:stretch>
              </a:blipFill>
              <a:ln>
                <a:noFill/>
              </a:ln>
              <a:effectLst/>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C119348C-1F9D-4004-A8DC-FCE356663FD4}"/>
              </a:ext>
            </a:extLst>
          </p:cNvPr>
          <p:cNvSpPr/>
          <p:nvPr/>
        </p:nvSpPr>
        <p:spPr>
          <a:xfrm>
            <a:off x="4108496" y="2189661"/>
            <a:ext cx="1023037" cy="523220"/>
          </a:xfrm>
          <a:prstGeom prst="rect">
            <a:avLst/>
          </a:prstGeom>
        </p:spPr>
        <p:txBody>
          <a:bodyPr wrap="none">
            <a:spAutoFit/>
          </a:bodyPr>
          <a:lstStyle/>
          <a:p>
            <a:pPr lvl="0" eaLnBrk="0" fontAlgn="base" hangingPunct="0">
              <a:spcBef>
                <a:spcPct val="0"/>
              </a:spcBef>
              <a:spcAft>
                <a:spcPct val="0"/>
              </a:spcAft>
              <a:defRPr/>
            </a:pPr>
            <a:r>
              <a:rPr lang="zh-CN" altLang="en-US" sz="2800" b="1" dirty="0">
                <a:solidFill>
                  <a:srgbClr val="000000"/>
                </a:solidFill>
                <a:ea typeface="华文楷体" panose="02010600040101010101" pitchFamily="2" charset="-122"/>
                <a:cs typeface="Times New Roman" panose="02020603050405020304" pitchFamily="18" charset="0"/>
              </a:rPr>
              <a:t>电势</a:t>
            </a:r>
            <a:r>
              <a:rPr lang="en-US" altLang="zh-CN" sz="2800" b="1" dirty="0">
                <a:solidFill>
                  <a:srgbClr val="000000"/>
                </a:solidFill>
                <a:ea typeface="华文楷体" panose="02010600040101010101" pitchFamily="2" charset="-122"/>
                <a:cs typeface="Times New Roman" panose="02020603050405020304" pitchFamily="18" charset="0"/>
              </a:rPr>
              <a:t>:</a:t>
            </a:r>
            <a:endParaRPr lang="zh-CN" altLang="en-US" sz="2800" b="1" dirty="0">
              <a:solidFill>
                <a:srgbClr val="000000"/>
              </a:solidFill>
              <a:ea typeface="华文楷体" panose="0201060004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1F90F880-00B1-DC30-8C3A-1C1D9B8330F2}"/>
              </a:ext>
            </a:extLst>
          </p:cNvPr>
          <p:cNvSpPr>
            <a:spLocks noChangeArrowheads="1"/>
          </p:cNvSpPr>
          <p:nvPr/>
        </p:nvSpPr>
        <p:spPr bwMode="auto">
          <a:xfrm>
            <a:off x="4335446" y="1316956"/>
            <a:ext cx="7205215"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zh-CN" altLang="en-US" sz="2800" b="0" dirty="0">
                <a:solidFill>
                  <a:srgbClr val="000000"/>
                </a:solidFill>
                <a:ea typeface="华文楷体" panose="02010600040101010101" pitchFamily="2" charset="-122"/>
                <a:cs typeface="Times New Roman" panose="02020603050405020304" pitchFamily="18" charset="0"/>
              </a:rPr>
              <a:t>电荷只分布在球内：</a:t>
            </a:r>
          </a:p>
        </p:txBody>
      </p:sp>
      <mc:AlternateContent xmlns:mc="http://schemas.openxmlformats.org/markup-compatibility/2006" xmlns:a14="http://schemas.microsoft.com/office/drawing/2010/main">
        <mc:Choice Requires="a14">
          <p:sp>
            <p:nvSpPr>
              <p:cNvPr id="29" name="内容占位符 2">
                <a:extLst>
                  <a:ext uri="{FF2B5EF4-FFF2-40B4-BE49-F238E27FC236}">
                    <a16:creationId xmlns:a16="http://schemas.microsoft.com/office/drawing/2014/main" id="{8B8A7DC2-0A99-79B0-BCF8-D3F54E2B9615}"/>
                  </a:ext>
                </a:extLst>
              </p:cNvPr>
              <p:cNvSpPr>
                <a:spLocks noGrp="1"/>
              </p:cNvSpPr>
              <p:nvPr>
                <p:ph idx="1"/>
              </p:nvPr>
            </p:nvSpPr>
            <p:spPr>
              <a:xfrm>
                <a:off x="-1840234" y="4838499"/>
                <a:ext cx="16086005" cy="3227324"/>
              </a:xfrm>
            </p:spPr>
            <p:txBody>
              <a:bodyPr>
                <a:noAutofit/>
              </a:bodyPr>
              <a:lstStyle/>
              <a:p>
                <a:pPr marL="0" indent="0" algn="ctr">
                  <a:lnSpc>
                    <a:spcPct val="150000"/>
                  </a:lnSpc>
                  <a:buNone/>
                </a:pPr>
                <a14:m>
                  <m:oMathPara xmlns:m="http://schemas.openxmlformats.org/officeDocument/2006/math">
                    <m:oMathParaPr>
                      <m:jc m:val="centerGroup"/>
                    </m:oMathParaPr>
                    <m:oMath xmlns:m="http://schemas.openxmlformats.org/officeDocument/2006/math">
                      <m:r>
                        <a:rPr lang="en-US" altLang="zh-CN" b="0" i="1" smtClean="0">
                          <a:solidFill>
                            <a:prstClr val="black"/>
                          </a:solidFill>
                          <a:latin typeface="Cambria Math" panose="02040503050406030204" pitchFamily="18" charset="0"/>
                        </a:rPr>
                        <m:t>𝑊</m:t>
                      </m:r>
                      <m:r>
                        <a:rPr lang="en-US" altLang="zh-CN" b="0" i="1" smtClean="0">
                          <a:solidFill>
                            <a:prstClr val="black"/>
                          </a:solidFill>
                          <a:latin typeface="Cambria Math" panose="02040503050406030204" pitchFamily="18" charset="0"/>
                        </a:rPr>
                        <m:t>=</m:t>
                      </m:r>
                      <m:f>
                        <m:fPr>
                          <m:ctrlPr>
                            <a:rPr lang="en-US" altLang="zh-CN" i="1">
                              <a:solidFill>
                                <a:prstClr val="black"/>
                              </a:solidFill>
                              <a:latin typeface="Cambria Math" panose="02040503050406030204" pitchFamily="18" charset="0"/>
                            </a:rPr>
                          </m:ctrlPr>
                        </m:fPr>
                        <m:num>
                          <m:r>
                            <a:rPr lang="en-US" altLang="zh-CN" b="0" i="1">
                              <a:solidFill>
                                <a:prstClr val="black"/>
                              </a:solidFill>
                              <a:latin typeface="Cambria Math" panose="02040503050406030204" pitchFamily="18" charset="0"/>
                            </a:rPr>
                            <m:t>1</m:t>
                          </m:r>
                        </m:num>
                        <m:den>
                          <m:r>
                            <a:rPr lang="en-US" altLang="zh-CN" b="0" i="1">
                              <a:solidFill>
                                <a:prstClr val="black"/>
                              </a:solidFill>
                              <a:latin typeface="Cambria Math" panose="02040503050406030204" pitchFamily="18" charset="0"/>
                            </a:rPr>
                            <m:t>2</m:t>
                          </m:r>
                        </m:den>
                      </m:f>
                      <m:nary>
                        <m:naryPr>
                          <m:limLoc m:val="undOvr"/>
                          <m:subHide m:val="on"/>
                          <m:supHide m:val="on"/>
                          <m:ctrlPr>
                            <a:rPr lang="en-US" altLang="zh-CN" i="1">
                              <a:solidFill>
                                <a:prstClr val="black"/>
                              </a:solidFill>
                              <a:latin typeface="Cambria Math" panose="02040503050406030204" pitchFamily="18" charset="0"/>
                            </a:rPr>
                          </m:ctrlPr>
                        </m:naryPr>
                        <m:sub/>
                        <m:sup/>
                        <m:e>
                          <m:r>
                            <a:rPr lang="zh-CN" altLang="en-US" b="0" i="1">
                              <a:solidFill>
                                <a:prstClr val="black"/>
                              </a:solidFill>
                              <a:latin typeface="Cambria Math" panose="02040503050406030204" pitchFamily="18" charset="0"/>
                            </a:rPr>
                            <m:t>𝜑</m:t>
                          </m:r>
                          <m:r>
                            <a:rPr lang="en-US" altLang="zh-CN" b="0" i="1">
                              <a:solidFill>
                                <a:prstClr val="black"/>
                              </a:solidFill>
                              <a:latin typeface="Cambria Math" panose="02040503050406030204" pitchFamily="18" charset="0"/>
                            </a:rPr>
                            <m:t>𝑑𝑞</m:t>
                          </m:r>
                        </m:e>
                      </m:nary>
                      <m:r>
                        <a:rPr lang="en-US" altLang="zh-CN" b="0" i="1">
                          <a:solidFill>
                            <a:prstClr val="black"/>
                          </a:solidFill>
                          <a:latin typeface="Cambria Math" panose="02040503050406030204" pitchFamily="18" charset="0"/>
                        </a:rPr>
                        <m:t>=</m:t>
                      </m:r>
                      <m:f>
                        <m:fPr>
                          <m:ctrlPr>
                            <a:rPr lang="en-US" altLang="zh-CN" i="1">
                              <a:solidFill>
                                <a:prstClr val="black"/>
                              </a:solidFill>
                              <a:latin typeface="Cambria Math" panose="02040503050406030204" pitchFamily="18" charset="0"/>
                            </a:rPr>
                          </m:ctrlPr>
                        </m:fPr>
                        <m:num>
                          <m:r>
                            <a:rPr lang="en-US" altLang="zh-CN" b="0" i="1">
                              <a:solidFill>
                                <a:prstClr val="black"/>
                              </a:solidFill>
                              <a:latin typeface="Cambria Math" panose="02040503050406030204" pitchFamily="18" charset="0"/>
                            </a:rPr>
                            <m:t>1</m:t>
                          </m:r>
                        </m:num>
                        <m:den>
                          <m:r>
                            <a:rPr lang="en-US" altLang="zh-CN" b="0" i="1">
                              <a:solidFill>
                                <a:prstClr val="black"/>
                              </a:solidFill>
                              <a:latin typeface="Cambria Math" panose="02040503050406030204" pitchFamily="18" charset="0"/>
                            </a:rPr>
                            <m:t>2</m:t>
                          </m:r>
                        </m:den>
                      </m:f>
                      <m:nary>
                        <m:naryPr>
                          <m:limLoc m:val="undOvr"/>
                          <m:subHide m:val="on"/>
                          <m:supHide m:val="on"/>
                          <m:ctrlPr>
                            <a:rPr lang="en-US" altLang="zh-CN" i="1">
                              <a:solidFill>
                                <a:prstClr val="black"/>
                              </a:solidFill>
                              <a:latin typeface="Cambria Math" panose="02040503050406030204" pitchFamily="18" charset="0"/>
                            </a:rPr>
                          </m:ctrlPr>
                        </m:naryPr>
                        <m:sub/>
                        <m:sup/>
                        <m:e>
                          <m:r>
                            <a:rPr lang="zh-CN" altLang="en-US" b="0" i="1">
                              <a:solidFill>
                                <a:prstClr val="black"/>
                              </a:solidFill>
                              <a:latin typeface="Cambria Math" panose="02040503050406030204" pitchFamily="18" charset="0"/>
                            </a:rPr>
                            <m:t>𝜑</m:t>
                          </m:r>
                          <m:r>
                            <a:rPr lang="zh-CN" altLang="en-US" b="0" i="1" smtClean="0">
                              <a:solidFill>
                                <a:prstClr val="black"/>
                              </a:solidFill>
                              <a:latin typeface="Cambria Math" panose="02040503050406030204" pitchFamily="18" charset="0"/>
                            </a:rPr>
                            <m:t>𝜌</m:t>
                          </m:r>
                          <m:r>
                            <a:rPr lang="en-US" altLang="zh-CN" b="0" i="1">
                              <a:solidFill>
                                <a:prstClr val="black"/>
                              </a:solidFill>
                              <a:latin typeface="Cambria Math" panose="02040503050406030204" pitchFamily="18" charset="0"/>
                            </a:rPr>
                            <m:t>𝑑</m:t>
                          </m:r>
                          <m:r>
                            <a:rPr lang="en-US" altLang="zh-CN" b="0" i="1" smtClean="0">
                              <a:solidFill>
                                <a:prstClr val="black"/>
                              </a:solidFill>
                              <a:latin typeface="Cambria Math" panose="02040503050406030204" pitchFamily="18" charset="0"/>
                            </a:rPr>
                            <m:t>𝑉</m:t>
                          </m:r>
                        </m:e>
                      </m:nary>
                      <m:r>
                        <a:rPr lang="en-US" altLang="zh-CN" b="0" i="1">
                          <a:solidFill>
                            <a:prstClr val="black"/>
                          </a:solidFill>
                          <a:latin typeface="Cambria Math" panose="02040503050406030204" pitchFamily="18" charset="0"/>
                        </a:rPr>
                        <m:t>=</m:t>
                      </m:r>
                      <m:f>
                        <m:fPr>
                          <m:ctrlPr>
                            <a:rPr lang="en-US" altLang="zh-CN" i="1">
                              <a:solidFill>
                                <a:prstClr val="black"/>
                              </a:solidFill>
                              <a:latin typeface="Cambria Math" panose="02040503050406030204" pitchFamily="18" charset="0"/>
                            </a:rPr>
                          </m:ctrlPr>
                        </m:fPr>
                        <m:num>
                          <m:r>
                            <a:rPr lang="en-US" altLang="zh-CN" b="0" i="1">
                              <a:solidFill>
                                <a:prstClr val="black"/>
                              </a:solidFill>
                              <a:latin typeface="Cambria Math" panose="02040503050406030204" pitchFamily="18" charset="0"/>
                            </a:rPr>
                            <m:t>1</m:t>
                          </m:r>
                        </m:num>
                        <m:den>
                          <m:r>
                            <a:rPr lang="en-US" altLang="zh-CN" b="0" i="1">
                              <a:solidFill>
                                <a:prstClr val="black"/>
                              </a:solidFill>
                              <a:latin typeface="Cambria Math" panose="02040503050406030204" pitchFamily="18" charset="0"/>
                            </a:rPr>
                            <m:t>2</m:t>
                          </m:r>
                        </m:den>
                      </m:f>
                      <m:nary>
                        <m:naryPr>
                          <m:limLoc m:val="undOvr"/>
                          <m:subHide m:val="on"/>
                          <m:supHide m:val="on"/>
                          <m:ctrlPr>
                            <a:rPr lang="en-US" altLang="zh-CN" i="1">
                              <a:solidFill>
                                <a:prstClr val="black"/>
                              </a:solidFill>
                              <a:latin typeface="Cambria Math" panose="02040503050406030204" pitchFamily="18" charset="0"/>
                            </a:rPr>
                          </m:ctrlPr>
                        </m:naryPr>
                        <m:sub/>
                        <m:sup/>
                        <m:e>
                          <m:f>
                            <m:fPr>
                              <m:ctrlPr>
                                <a:rPr lang="en-US" altLang="zh-CN" i="1">
                                  <a:solidFill>
                                    <a:prstClr val="black"/>
                                  </a:solidFill>
                                  <a:latin typeface="Cambria Math" panose="02040503050406030204" pitchFamily="18" charset="0"/>
                                </a:rPr>
                              </m:ctrlPr>
                            </m:fPr>
                            <m:num>
                              <m:r>
                                <a:rPr lang="en-US" altLang="zh-CN" b="0" i="1">
                                  <a:solidFill>
                                    <a:prstClr val="black"/>
                                  </a:solidFill>
                                  <a:latin typeface="Cambria Math" panose="02040503050406030204" pitchFamily="18" charset="0"/>
                                </a:rPr>
                                <m:t>𝑞</m:t>
                              </m:r>
                            </m:num>
                            <m:den>
                              <m:r>
                                <a:rPr lang="en-US" altLang="zh-CN" b="0" i="1">
                                  <a:solidFill>
                                    <a:prstClr val="black"/>
                                  </a:solidFill>
                                  <a:latin typeface="Cambria Math" panose="02040503050406030204" pitchFamily="18" charset="0"/>
                                </a:rPr>
                                <m:t>8</m:t>
                              </m:r>
                              <m:r>
                                <a:rPr lang="zh-CN" altLang="en-US" b="0" i="1">
                                  <a:solidFill>
                                    <a:prstClr val="black"/>
                                  </a:solidFill>
                                  <a:latin typeface="Cambria Math" panose="02040503050406030204" pitchFamily="18" charset="0"/>
                                </a:rPr>
                                <m:t>𝜋</m:t>
                              </m:r>
                              <m:sSub>
                                <m:sSubPr>
                                  <m:ctrlPr>
                                    <a:rPr lang="en-US" altLang="zh-CN" i="1">
                                      <a:solidFill>
                                        <a:prstClr val="black"/>
                                      </a:solidFill>
                                      <a:latin typeface="Cambria Math" panose="02040503050406030204" pitchFamily="18" charset="0"/>
                                    </a:rPr>
                                  </m:ctrlPr>
                                </m:sSubPr>
                                <m:e>
                                  <m:r>
                                    <a:rPr lang="zh-CN" altLang="en-US" b="0" i="1">
                                      <a:solidFill>
                                        <a:prstClr val="black"/>
                                      </a:solidFill>
                                      <a:latin typeface="Cambria Math" panose="02040503050406030204" pitchFamily="18" charset="0"/>
                                    </a:rPr>
                                    <m:t>𝜀</m:t>
                                  </m:r>
                                </m:e>
                                <m:sub>
                                  <m:r>
                                    <a:rPr lang="en-US" altLang="zh-CN" b="0" i="1">
                                      <a:solidFill>
                                        <a:prstClr val="black"/>
                                      </a:solidFill>
                                      <a:latin typeface="Cambria Math" panose="02040503050406030204" pitchFamily="18" charset="0"/>
                                    </a:rPr>
                                    <m:t>0</m:t>
                                  </m:r>
                                </m:sub>
                              </m:sSub>
                              <m:sSup>
                                <m:sSupPr>
                                  <m:ctrlPr>
                                    <a:rPr lang="en-US" altLang="zh-CN" i="1">
                                      <a:solidFill>
                                        <a:prstClr val="black"/>
                                      </a:solidFill>
                                      <a:latin typeface="Cambria Math" panose="02040503050406030204" pitchFamily="18" charset="0"/>
                                    </a:rPr>
                                  </m:ctrlPr>
                                </m:sSupPr>
                                <m:e>
                                  <m:r>
                                    <a:rPr lang="en-US" altLang="zh-CN" b="0" i="1">
                                      <a:solidFill>
                                        <a:prstClr val="black"/>
                                      </a:solidFill>
                                      <a:latin typeface="Cambria Math" panose="02040503050406030204" pitchFamily="18" charset="0"/>
                                    </a:rPr>
                                    <m:t>𝑅</m:t>
                                  </m:r>
                                </m:e>
                                <m:sup>
                                  <m:r>
                                    <a:rPr lang="en-US" altLang="zh-CN" b="0" i="1">
                                      <a:solidFill>
                                        <a:prstClr val="black"/>
                                      </a:solidFill>
                                      <a:latin typeface="Cambria Math" panose="02040503050406030204" pitchFamily="18" charset="0"/>
                                    </a:rPr>
                                    <m:t>3</m:t>
                                  </m:r>
                                </m:sup>
                              </m:sSup>
                            </m:den>
                          </m:f>
                          <m:d>
                            <m:dPr>
                              <m:ctrlPr>
                                <a:rPr lang="en-US" altLang="zh-CN" i="1">
                                  <a:solidFill>
                                    <a:prstClr val="black"/>
                                  </a:solidFill>
                                  <a:latin typeface="Cambria Math" panose="02040503050406030204" pitchFamily="18" charset="0"/>
                                </a:rPr>
                              </m:ctrlPr>
                            </m:dPr>
                            <m:e>
                              <m:r>
                                <a:rPr lang="en-US" altLang="zh-CN" b="0" i="1">
                                  <a:solidFill>
                                    <a:prstClr val="black"/>
                                  </a:solidFill>
                                  <a:latin typeface="Cambria Math" panose="02040503050406030204" pitchFamily="18" charset="0"/>
                                </a:rPr>
                                <m:t>3</m:t>
                              </m:r>
                              <m:sSup>
                                <m:sSupPr>
                                  <m:ctrlPr>
                                    <a:rPr lang="en-US" altLang="zh-CN" i="1">
                                      <a:solidFill>
                                        <a:prstClr val="black"/>
                                      </a:solidFill>
                                      <a:latin typeface="Cambria Math" panose="02040503050406030204" pitchFamily="18" charset="0"/>
                                    </a:rPr>
                                  </m:ctrlPr>
                                </m:sSupPr>
                                <m:e>
                                  <m:r>
                                    <a:rPr lang="en-US" altLang="zh-CN" b="0" i="1">
                                      <a:solidFill>
                                        <a:prstClr val="black"/>
                                      </a:solidFill>
                                      <a:latin typeface="Cambria Math" panose="02040503050406030204" pitchFamily="18" charset="0"/>
                                    </a:rPr>
                                    <m:t>𝑅</m:t>
                                  </m:r>
                                </m:e>
                                <m:sup>
                                  <m:r>
                                    <a:rPr lang="en-US" altLang="zh-CN" b="0" i="1">
                                      <a:solidFill>
                                        <a:prstClr val="black"/>
                                      </a:solidFill>
                                      <a:latin typeface="Cambria Math" panose="02040503050406030204" pitchFamily="18" charset="0"/>
                                    </a:rPr>
                                    <m:t>2</m:t>
                                  </m:r>
                                </m:sup>
                              </m:sSup>
                              <m:r>
                                <a:rPr lang="en-US" altLang="zh-CN" b="0" i="1">
                                  <a:solidFill>
                                    <a:prstClr val="black"/>
                                  </a:solidFill>
                                  <a:latin typeface="Cambria Math" panose="02040503050406030204" pitchFamily="18" charset="0"/>
                                </a:rPr>
                                <m:t>−</m:t>
                              </m:r>
                              <m:sSup>
                                <m:sSupPr>
                                  <m:ctrlPr>
                                    <a:rPr lang="en-US" altLang="zh-CN" i="1">
                                      <a:solidFill>
                                        <a:prstClr val="black"/>
                                      </a:solidFill>
                                      <a:latin typeface="Cambria Math" panose="02040503050406030204" pitchFamily="18" charset="0"/>
                                    </a:rPr>
                                  </m:ctrlPr>
                                </m:sSupPr>
                                <m:e>
                                  <m:r>
                                    <a:rPr lang="en-US" altLang="zh-CN" b="0" i="1">
                                      <a:solidFill>
                                        <a:prstClr val="black"/>
                                      </a:solidFill>
                                      <a:latin typeface="Cambria Math" panose="02040503050406030204" pitchFamily="18" charset="0"/>
                                    </a:rPr>
                                    <m:t>𝑟</m:t>
                                  </m:r>
                                </m:e>
                                <m:sup>
                                  <m:r>
                                    <a:rPr lang="en-US" altLang="zh-CN" b="0" i="1">
                                      <a:solidFill>
                                        <a:prstClr val="black"/>
                                      </a:solidFill>
                                      <a:latin typeface="Cambria Math" panose="02040503050406030204" pitchFamily="18" charset="0"/>
                                    </a:rPr>
                                    <m:t>2</m:t>
                                  </m:r>
                                </m:sup>
                              </m:sSup>
                            </m:e>
                          </m:d>
                          <m:f>
                            <m:fPr>
                              <m:ctrlPr>
                                <a:rPr lang="en-US" altLang="zh-CN" i="1" smtClean="0">
                                  <a:solidFill>
                                    <a:prstClr val="black"/>
                                  </a:solidFill>
                                  <a:latin typeface="Cambria Math" panose="02040503050406030204" pitchFamily="18" charset="0"/>
                                </a:rPr>
                              </m:ctrlPr>
                            </m:fPr>
                            <m:num>
                              <m:r>
                                <a:rPr lang="en-US" altLang="zh-CN" b="0" i="1" smtClean="0">
                                  <a:solidFill>
                                    <a:prstClr val="black"/>
                                  </a:solidFill>
                                  <a:latin typeface="Cambria Math" panose="02040503050406030204" pitchFamily="18" charset="0"/>
                                </a:rPr>
                                <m:t>𝑞</m:t>
                              </m:r>
                            </m:num>
                            <m:den>
                              <m:f>
                                <m:fPr>
                                  <m:ctrlPr>
                                    <a:rPr lang="en-US" altLang="zh-CN" i="1" smtClean="0">
                                      <a:solidFill>
                                        <a:prstClr val="black"/>
                                      </a:solidFill>
                                      <a:latin typeface="Cambria Math" panose="02040503050406030204" pitchFamily="18" charset="0"/>
                                    </a:rPr>
                                  </m:ctrlPr>
                                </m:fPr>
                                <m:num>
                                  <m:r>
                                    <a:rPr lang="en-US" altLang="zh-CN" b="0" i="1" smtClean="0">
                                      <a:solidFill>
                                        <a:prstClr val="black"/>
                                      </a:solidFill>
                                      <a:latin typeface="Cambria Math" panose="02040503050406030204" pitchFamily="18" charset="0"/>
                                    </a:rPr>
                                    <m:t>4</m:t>
                                  </m:r>
                                </m:num>
                                <m:den>
                                  <m:r>
                                    <a:rPr lang="en-US" altLang="zh-CN" b="0" i="1" smtClean="0">
                                      <a:solidFill>
                                        <a:prstClr val="black"/>
                                      </a:solidFill>
                                      <a:latin typeface="Cambria Math" panose="02040503050406030204" pitchFamily="18" charset="0"/>
                                    </a:rPr>
                                    <m:t>3</m:t>
                                  </m:r>
                                </m:den>
                              </m:f>
                              <m:r>
                                <a:rPr lang="zh-CN" altLang="en-US" b="0" i="1" smtClean="0">
                                  <a:solidFill>
                                    <a:prstClr val="black"/>
                                  </a:solidFill>
                                  <a:latin typeface="Cambria Math" panose="02040503050406030204" pitchFamily="18" charset="0"/>
                                  <a:ea typeface="Cambria Math" panose="02040503050406030204" pitchFamily="18" charset="0"/>
                                </a:rPr>
                                <m:t>𝜋</m:t>
                              </m:r>
                              <m:sSup>
                                <m:sSupPr>
                                  <m:ctrlPr>
                                    <a:rPr lang="en-US" altLang="zh-CN" i="1" smtClean="0">
                                      <a:solidFill>
                                        <a:prstClr val="black"/>
                                      </a:solidFill>
                                      <a:latin typeface="Cambria Math" panose="02040503050406030204" pitchFamily="18" charset="0"/>
                                      <a:ea typeface="Cambria Math" panose="02040503050406030204" pitchFamily="18" charset="0"/>
                                    </a:rPr>
                                  </m:ctrlPr>
                                </m:sSupPr>
                                <m:e>
                                  <m:r>
                                    <a:rPr lang="en-US" altLang="zh-CN" b="0" i="1" smtClean="0">
                                      <a:solidFill>
                                        <a:prstClr val="black"/>
                                      </a:solidFill>
                                      <a:latin typeface="Cambria Math" panose="02040503050406030204" pitchFamily="18" charset="0"/>
                                      <a:ea typeface="Cambria Math" panose="02040503050406030204" pitchFamily="18" charset="0"/>
                                    </a:rPr>
                                    <m:t>𝑅</m:t>
                                  </m:r>
                                </m:e>
                                <m:sup>
                                  <m:r>
                                    <a:rPr lang="en-US" altLang="zh-CN" b="0" i="1" smtClean="0">
                                      <a:solidFill>
                                        <a:prstClr val="black"/>
                                      </a:solidFill>
                                      <a:latin typeface="Cambria Math" panose="02040503050406030204" pitchFamily="18" charset="0"/>
                                      <a:ea typeface="Cambria Math" panose="02040503050406030204" pitchFamily="18" charset="0"/>
                                    </a:rPr>
                                    <m:t>3</m:t>
                                  </m:r>
                                </m:sup>
                              </m:sSup>
                            </m:den>
                          </m:f>
                          <m:r>
                            <a:rPr lang="en-US" altLang="zh-CN" b="0" i="1" smtClean="0">
                              <a:solidFill>
                                <a:prstClr val="black"/>
                              </a:solidFill>
                              <a:latin typeface="Cambria Math" panose="02040503050406030204" pitchFamily="18" charset="0"/>
                            </a:rPr>
                            <m:t>4</m:t>
                          </m:r>
                          <m:r>
                            <a:rPr lang="zh-CN" altLang="en-US" b="0" i="1" smtClean="0">
                              <a:solidFill>
                                <a:prstClr val="black"/>
                              </a:solidFill>
                              <a:latin typeface="Cambria Math" panose="02040503050406030204" pitchFamily="18" charset="0"/>
                            </a:rPr>
                            <m:t>𝜋</m:t>
                          </m:r>
                          <m:sSup>
                            <m:sSupPr>
                              <m:ctrlPr>
                                <a:rPr lang="en-US" altLang="zh-CN" i="1" smtClean="0">
                                  <a:solidFill>
                                    <a:prstClr val="black"/>
                                  </a:solidFill>
                                  <a:latin typeface="Cambria Math" panose="02040503050406030204" pitchFamily="18" charset="0"/>
                                </a:rPr>
                              </m:ctrlPr>
                            </m:sSupPr>
                            <m:e>
                              <m:r>
                                <a:rPr lang="en-US" altLang="zh-CN" b="0" i="1" smtClean="0">
                                  <a:solidFill>
                                    <a:prstClr val="black"/>
                                  </a:solidFill>
                                  <a:latin typeface="Cambria Math" panose="02040503050406030204" pitchFamily="18" charset="0"/>
                                </a:rPr>
                                <m:t>𝑟</m:t>
                              </m:r>
                            </m:e>
                            <m:sup>
                              <m:r>
                                <a:rPr lang="en-US" altLang="zh-CN" b="0" i="1" smtClean="0">
                                  <a:solidFill>
                                    <a:prstClr val="black"/>
                                  </a:solidFill>
                                  <a:latin typeface="Cambria Math" panose="02040503050406030204" pitchFamily="18" charset="0"/>
                                </a:rPr>
                                <m:t>2</m:t>
                              </m:r>
                            </m:sup>
                          </m:sSup>
                          <m:r>
                            <a:rPr lang="en-US" altLang="zh-CN" b="0" i="1" smtClean="0">
                              <a:solidFill>
                                <a:prstClr val="black"/>
                              </a:solidFill>
                              <a:latin typeface="Cambria Math" panose="02040503050406030204" pitchFamily="18" charset="0"/>
                            </a:rPr>
                            <m:t>𝑑𝑟</m:t>
                          </m:r>
                        </m:e>
                      </m:nary>
                      <m:r>
                        <a:rPr lang="en-US" altLang="zh-CN" b="0" i="1" smtClean="0">
                          <a:latin typeface="Cambria Math" panose="02040503050406030204" pitchFamily="18" charset="0"/>
                        </a:rPr>
                        <m:t>=</m:t>
                      </m:r>
                      <m:f>
                        <m:fPr>
                          <m:ctrlPr>
                            <a:rPr lang="en-US" altLang="zh-CN" i="1">
                              <a:solidFill>
                                <a:prstClr val="black"/>
                              </a:solidFill>
                              <a:latin typeface="Cambria Math" panose="02040503050406030204" pitchFamily="18" charset="0"/>
                            </a:rPr>
                          </m:ctrlPr>
                        </m:fPr>
                        <m:num>
                          <m:r>
                            <a:rPr lang="en-US" altLang="zh-CN" b="0" i="1" smtClean="0">
                              <a:solidFill>
                                <a:prstClr val="black"/>
                              </a:solidFill>
                              <a:latin typeface="Cambria Math" panose="02040503050406030204" pitchFamily="18" charset="0"/>
                            </a:rPr>
                            <m:t>3</m:t>
                          </m:r>
                          <m:sSup>
                            <m:sSupPr>
                              <m:ctrlPr>
                                <a:rPr lang="en-US" altLang="zh-CN" i="1">
                                  <a:solidFill>
                                    <a:prstClr val="black"/>
                                  </a:solidFill>
                                  <a:latin typeface="Cambria Math" panose="02040503050406030204" pitchFamily="18" charset="0"/>
                                </a:rPr>
                              </m:ctrlPr>
                            </m:sSupPr>
                            <m:e>
                              <m:r>
                                <a:rPr lang="en-US" altLang="zh-CN" b="0" i="1" smtClean="0">
                                  <a:solidFill>
                                    <a:prstClr val="black"/>
                                  </a:solidFill>
                                  <a:latin typeface="Cambria Math" panose="02040503050406030204" pitchFamily="18" charset="0"/>
                                </a:rPr>
                                <m:t>𝑞</m:t>
                              </m:r>
                            </m:e>
                            <m:sup>
                              <m:r>
                                <a:rPr lang="en-US" altLang="zh-CN" b="0" i="1">
                                  <a:solidFill>
                                    <a:prstClr val="black"/>
                                  </a:solidFill>
                                  <a:latin typeface="Cambria Math" panose="02040503050406030204" pitchFamily="18" charset="0"/>
                                </a:rPr>
                                <m:t>2</m:t>
                              </m:r>
                            </m:sup>
                          </m:sSup>
                        </m:num>
                        <m:den>
                          <m:r>
                            <a:rPr lang="en-US" altLang="zh-CN" b="0" i="1" smtClean="0">
                              <a:solidFill>
                                <a:prstClr val="black"/>
                              </a:solidFill>
                              <a:latin typeface="Cambria Math" panose="02040503050406030204" pitchFamily="18" charset="0"/>
                            </a:rPr>
                            <m:t>20</m:t>
                          </m:r>
                          <m:r>
                            <a:rPr lang="zh-CN" altLang="en-US" b="0" i="1">
                              <a:solidFill>
                                <a:prstClr val="black"/>
                              </a:solidFill>
                              <a:latin typeface="Cambria Math" panose="02040503050406030204" pitchFamily="18" charset="0"/>
                            </a:rPr>
                            <m:t>𝜋</m:t>
                          </m:r>
                          <m:sSub>
                            <m:sSubPr>
                              <m:ctrlPr>
                                <a:rPr lang="en-US" altLang="zh-CN" i="1">
                                  <a:solidFill>
                                    <a:prstClr val="black"/>
                                  </a:solidFill>
                                  <a:latin typeface="Cambria Math" panose="02040503050406030204" pitchFamily="18" charset="0"/>
                                </a:rPr>
                              </m:ctrlPr>
                            </m:sSubPr>
                            <m:e>
                              <m:r>
                                <a:rPr lang="zh-CN" altLang="en-US" b="0" i="1">
                                  <a:solidFill>
                                    <a:prstClr val="black"/>
                                  </a:solidFill>
                                  <a:latin typeface="Cambria Math" panose="02040503050406030204" pitchFamily="18" charset="0"/>
                                </a:rPr>
                                <m:t>𝜀</m:t>
                              </m:r>
                            </m:e>
                            <m:sub>
                              <m:r>
                                <a:rPr lang="en-US" altLang="zh-CN" b="0" i="1">
                                  <a:solidFill>
                                    <a:prstClr val="black"/>
                                  </a:solidFill>
                                  <a:latin typeface="Cambria Math" panose="02040503050406030204" pitchFamily="18" charset="0"/>
                                </a:rPr>
                                <m:t>0</m:t>
                              </m:r>
                            </m:sub>
                          </m:sSub>
                          <m:r>
                            <a:rPr lang="en-US" altLang="zh-CN" b="0" i="1">
                              <a:solidFill>
                                <a:prstClr val="black"/>
                              </a:solidFill>
                              <a:latin typeface="Cambria Math" panose="02040503050406030204" pitchFamily="18" charset="0"/>
                            </a:rPr>
                            <m:t>𝑅</m:t>
                          </m:r>
                        </m:den>
                      </m:f>
                    </m:oMath>
                  </m:oMathPara>
                </a14:m>
                <a:endParaRPr lang="zh-CN" altLang="en-US" dirty="0"/>
              </a:p>
            </p:txBody>
          </p:sp>
        </mc:Choice>
        <mc:Fallback xmlns="">
          <p:sp>
            <p:nvSpPr>
              <p:cNvPr id="29" name="内容占位符 2">
                <a:extLst>
                  <a:ext uri="{FF2B5EF4-FFF2-40B4-BE49-F238E27FC236}">
                    <a16:creationId xmlns:a16="http://schemas.microsoft.com/office/drawing/2014/main" id="{8B8A7DC2-0A99-79B0-BCF8-D3F54E2B9615}"/>
                  </a:ext>
                </a:extLst>
              </p:cNvPr>
              <p:cNvSpPr>
                <a:spLocks noGrp="1" noRot="1" noChangeAspect="1" noMove="1" noResize="1" noEditPoints="1" noAdjustHandles="1" noChangeArrowheads="1" noChangeShapeType="1" noTextEdit="1"/>
              </p:cNvSpPr>
              <p:nvPr>
                <p:ph idx="1"/>
              </p:nvPr>
            </p:nvSpPr>
            <p:spPr>
              <a:xfrm>
                <a:off x="-1840234" y="4838499"/>
                <a:ext cx="16086005" cy="3227324"/>
              </a:xfr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8045173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1" grpId="0"/>
      <p:bldP spid="52" grpId="0"/>
      <p:bldP spid="53" grpId="0"/>
      <p:bldP spid="4" grpId="0"/>
      <p:bldP spid="3" grpId="0"/>
      <p:bldP spid="2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426" y="474896"/>
            <a:ext cx="6586040" cy="801362"/>
          </a:xfrm>
        </p:spPr>
        <p:txBody>
          <a:bodyPr>
            <a:normAutofit/>
          </a:bodyPr>
          <a:lstStyle/>
          <a:p>
            <a:pPr marL="571500" indent="-571500">
              <a:buFont typeface="Wingdings" panose="05000000000000000000" pitchFamily="2" charset="2"/>
              <a:buChar char="q"/>
            </a:pPr>
            <a:r>
              <a:rPr lang="zh-CN" altLang="en-US" sz="32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均匀带电</a:t>
            </a:r>
            <a:r>
              <a:rPr lang="zh-CN" altLang="en-US" sz="3200" b="1" dirty="0">
                <a:solidFill>
                  <a:srgbClr val="0066FF"/>
                </a:solidFill>
                <a:latin typeface="华文楷体" panose="02010600040101010101" pitchFamily="2" charset="-122"/>
                <a:ea typeface="华文楷体" panose="02010600040101010101" pitchFamily="2" charset="-122"/>
              </a:rPr>
              <a:t>球体</a:t>
            </a:r>
            <a:r>
              <a:rPr lang="en-US" altLang="zh-CN" sz="3200" b="1" dirty="0">
                <a:solidFill>
                  <a:srgbClr val="0066FF"/>
                </a:solidFill>
                <a:latin typeface="华文楷体" panose="02010600040101010101" pitchFamily="2" charset="-122"/>
                <a:ea typeface="华文楷体" panose="02010600040101010101" pitchFamily="2" charset="-122"/>
              </a:rPr>
              <a:t>/</a:t>
            </a:r>
            <a:r>
              <a:rPr lang="zh-CN" altLang="en-US" sz="3200" b="1" dirty="0">
                <a:solidFill>
                  <a:srgbClr val="0066FF"/>
                </a:solidFill>
                <a:latin typeface="华文楷体" panose="02010600040101010101" pitchFamily="2" charset="-122"/>
                <a:ea typeface="华文楷体" panose="02010600040101010101" pitchFamily="2" charset="-122"/>
              </a:rPr>
              <a:t>面</a:t>
            </a:r>
            <a:r>
              <a:rPr lang="zh-CN" altLang="en-US" sz="32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的静电能</a:t>
            </a:r>
          </a:p>
        </p:txBody>
      </p:sp>
      <p:grpSp>
        <p:nvGrpSpPr>
          <p:cNvPr id="5" name="Group 7">
            <a:extLst>
              <a:ext uri="{FF2B5EF4-FFF2-40B4-BE49-F238E27FC236}">
                <a16:creationId xmlns:a16="http://schemas.microsoft.com/office/drawing/2014/main" id="{6CC29D45-F942-4917-9ECB-925BEC383DC3}"/>
              </a:ext>
            </a:extLst>
          </p:cNvPr>
          <p:cNvGrpSpPr>
            <a:grpSpLocks/>
          </p:cNvGrpSpPr>
          <p:nvPr/>
        </p:nvGrpSpPr>
        <p:grpSpPr bwMode="auto">
          <a:xfrm>
            <a:off x="1093668" y="1435250"/>
            <a:ext cx="2630531" cy="2499043"/>
            <a:chOff x="3360" y="672"/>
            <a:chExt cx="2066" cy="1966"/>
          </a:xfrm>
        </p:grpSpPr>
        <p:sp>
          <p:nvSpPr>
            <p:cNvPr id="6" name="Oval 8">
              <a:extLst>
                <a:ext uri="{FF2B5EF4-FFF2-40B4-BE49-F238E27FC236}">
                  <a16:creationId xmlns:a16="http://schemas.microsoft.com/office/drawing/2014/main" id="{A294C2CD-6CBF-480A-8270-2A2C934880E9}"/>
                </a:ext>
              </a:extLst>
            </p:cNvPr>
            <p:cNvSpPr>
              <a:spLocks noChangeArrowheads="1"/>
            </p:cNvSpPr>
            <p:nvPr/>
          </p:nvSpPr>
          <p:spPr bwMode="auto">
            <a:xfrm>
              <a:off x="3360" y="720"/>
              <a:ext cx="1898" cy="1899"/>
            </a:xfrm>
            <a:prstGeom prst="ellipse">
              <a:avLst/>
            </a:prstGeom>
            <a:gradFill rotWithShape="1">
              <a:gsLst>
                <a:gs pos="0">
                  <a:schemeClr val="bg1"/>
                </a:gs>
                <a:gs pos="100000">
                  <a:schemeClr val="bg1">
                    <a:gamma/>
                    <a:shade val="47451"/>
                    <a:invGamma/>
                  </a:schemeClr>
                </a:gs>
              </a:gsLst>
              <a:path path="shape">
                <a:fillToRect l="50000" t="50000" r="50000" b="50000"/>
              </a:path>
            </a:gradFill>
            <a:ln>
              <a:noFill/>
            </a:ln>
            <a:effectLst/>
            <a:extLst>
              <a:ext uri="{91240B29-F687-4F45-9708-019B960494DF}">
                <a14:hiddenLine xmlns:a14="http://schemas.microsoft.com/office/drawing/2010/main" w="508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endParaRPr lang="zh-CN" altLang="en-US" sz="3200">
                <a:solidFill>
                  <a:srgbClr val="000000"/>
                </a:solidFill>
                <a:ea typeface="华文楷体" panose="02010600040101010101" pitchFamily="2" charset="-122"/>
                <a:cs typeface="Times New Roman" panose="02020603050405020304" pitchFamily="18" charset="0"/>
              </a:endParaRPr>
            </a:p>
          </p:txBody>
        </p:sp>
        <p:sp>
          <p:nvSpPr>
            <p:cNvPr id="7" name="Rectangle 9">
              <a:extLst>
                <a:ext uri="{FF2B5EF4-FFF2-40B4-BE49-F238E27FC236}">
                  <a16:creationId xmlns:a16="http://schemas.microsoft.com/office/drawing/2014/main" id="{E5166DC3-66B7-4279-8F0B-D03AE7757B5A}"/>
                </a:ext>
              </a:extLst>
            </p:cNvPr>
            <p:cNvSpPr>
              <a:spLocks noChangeArrowheads="1"/>
            </p:cNvSpPr>
            <p:nvPr/>
          </p:nvSpPr>
          <p:spPr bwMode="auto">
            <a:xfrm>
              <a:off x="4864" y="1057"/>
              <a:ext cx="330"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ea typeface="华文楷体" panose="02010600040101010101" pitchFamily="2" charset="-122"/>
                  <a:cs typeface="Times New Roman" panose="02020603050405020304" pitchFamily="18" charset="0"/>
                </a:rPr>
                <a:t>+</a:t>
              </a:r>
            </a:p>
          </p:txBody>
        </p:sp>
        <p:grpSp>
          <p:nvGrpSpPr>
            <p:cNvPr id="8" name="Group 10">
              <a:extLst>
                <a:ext uri="{FF2B5EF4-FFF2-40B4-BE49-F238E27FC236}">
                  <a16:creationId xmlns:a16="http://schemas.microsoft.com/office/drawing/2014/main" id="{E059CA38-DE91-48DB-A9BD-C4B3D735D0E5}"/>
                </a:ext>
              </a:extLst>
            </p:cNvPr>
            <p:cNvGrpSpPr>
              <a:grpSpLocks/>
            </p:cNvGrpSpPr>
            <p:nvPr/>
          </p:nvGrpSpPr>
          <p:grpSpPr bwMode="auto">
            <a:xfrm>
              <a:off x="3462" y="672"/>
              <a:ext cx="1964" cy="1966"/>
              <a:chOff x="3185" y="1871"/>
              <a:chExt cx="2442" cy="2444"/>
            </a:xfrm>
          </p:grpSpPr>
          <p:sp>
            <p:nvSpPr>
              <p:cNvPr id="13" name="Rectangle 11">
                <a:extLst>
                  <a:ext uri="{FF2B5EF4-FFF2-40B4-BE49-F238E27FC236}">
                    <a16:creationId xmlns:a16="http://schemas.microsoft.com/office/drawing/2014/main" id="{4C0D178A-2D27-4BD3-BB3E-E9A8A85F4980}"/>
                  </a:ext>
                </a:extLst>
              </p:cNvPr>
              <p:cNvSpPr>
                <a:spLocks noChangeArrowheads="1"/>
              </p:cNvSpPr>
              <p:nvPr/>
            </p:nvSpPr>
            <p:spPr bwMode="auto">
              <a:xfrm>
                <a:off x="3331" y="331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14" name="Rectangle 12">
                <a:extLst>
                  <a:ext uri="{FF2B5EF4-FFF2-40B4-BE49-F238E27FC236}">
                    <a16:creationId xmlns:a16="http://schemas.microsoft.com/office/drawing/2014/main" id="{D02E7AD7-23F5-4F04-A882-4FF0FC62FA1E}"/>
                  </a:ext>
                </a:extLst>
              </p:cNvPr>
              <p:cNvSpPr>
                <a:spLocks noChangeArrowheads="1"/>
              </p:cNvSpPr>
              <p:nvPr/>
            </p:nvSpPr>
            <p:spPr bwMode="auto">
              <a:xfrm>
                <a:off x="3185" y="302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15" name="Rectangle 13">
                <a:extLst>
                  <a:ext uri="{FF2B5EF4-FFF2-40B4-BE49-F238E27FC236}">
                    <a16:creationId xmlns:a16="http://schemas.microsoft.com/office/drawing/2014/main" id="{8773E4B1-DAC3-4C29-8C6B-7F2E74DADC53}"/>
                  </a:ext>
                </a:extLst>
              </p:cNvPr>
              <p:cNvSpPr>
                <a:spLocks noChangeArrowheads="1"/>
              </p:cNvSpPr>
              <p:nvPr/>
            </p:nvSpPr>
            <p:spPr bwMode="auto">
              <a:xfrm>
                <a:off x="3185" y="2735"/>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ea typeface="华文楷体" panose="02010600040101010101" pitchFamily="2" charset="-122"/>
                    <a:cs typeface="Times New Roman" panose="02020603050405020304" pitchFamily="18" charset="0"/>
                  </a:rPr>
                  <a:t>+</a:t>
                </a:r>
              </a:p>
            </p:txBody>
          </p:sp>
          <p:sp>
            <p:nvSpPr>
              <p:cNvPr id="16" name="Rectangle 14">
                <a:extLst>
                  <a:ext uri="{FF2B5EF4-FFF2-40B4-BE49-F238E27FC236}">
                    <a16:creationId xmlns:a16="http://schemas.microsoft.com/office/drawing/2014/main" id="{427096D2-EC50-42B3-B813-085CA12A1272}"/>
                  </a:ext>
                </a:extLst>
              </p:cNvPr>
              <p:cNvSpPr>
                <a:spLocks noChangeArrowheads="1"/>
              </p:cNvSpPr>
              <p:nvPr/>
            </p:nvSpPr>
            <p:spPr bwMode="auto">
              <a:xfrm>
                <a:off x="3281" y="2351"/>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17" name="Rectangle 15">
                <a:extLst>
                  <a:ext uri="{FF2B5EF4-FFF2-40B4-BE49-F238E27FC236}">
                    <a16:creationId xmlns:a16="http://schemas.microsoft.com/office/drawing/2014/main" id="{E5180BE3-5356-4EAC-9591-9B9CF275CA4C}"/>
                  </a:ext>
                </a:extLst>
              </p:cNvPr>
              <p:cNvSpPr>
                <a:spLocks noChangeArrowheads="1"/>
              </p:cNvSpPr>
              <p:nvPr/>
            </p:nvSpPr>
            <p:spPr bwMode="auto">
              <a:xfrm>
                <a:off x="3569" y="206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18" name="Rectangle 16">
                <a:extLst>
                  <a:ext uri="{FF2B5EF4-FFF2-40B4-BE49-F238E27FC236}">
                    <a16:creationId xmlns:a16="http://schemas.microsoft.com/office/drawing/2014/main" id="{1A080768-143F-43A1-9697-2B8C03BBDEAF}"/>
                  </a:ext>
                </a:extLst>
              </p:cNvPr>
              <p:cNvSpPr>
                <a:spLocks noChangeArrowheads="1"/>
              </p:cNvSpPr>
              <p:nvPr/>
            </p:nvSpPr>
            <p:spPr bwMode="auto">
              <a:xfrm>
                <a:off x="3905" y="1871"/>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19" name="Rectangle 17">
                <a:extLst>
                  <a:ext uri="{FF2B5EF4-FFF2-40B4-BE49-F238E27FC236}">
                    <a16:creationId xmlns:a16="http://schemas.microsoft.com/office/drawing/2014/main" id="{17F40503-BD9F-444F-B355-F447EDFFEF05}"/>
                  </a:ext>
                </a:extLst>
              </p:cNvPr>
              <p:cNvSpPr>
                <a:spLocks noChangeArrowheads="1"/>
              </p:cNvSpPr>
              <p:nvPr/>
            </p:nvSpPr>
            <p:spPr bwMode="auto">
              <a:xfrm>
                <a:off x="4674" y="206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0" name="Rectangle 18">
                <a:extLst>
                  <a:ext uri="{FF2B5EF4-FFF2-40B4-BE49-F238E27FC236}">
                    <a16:creationId xmlns:a16="http://schemas.microsoft.com/office/drawing/2014/main" id="{B4DAE752-E24D-4210-A4EB-8B2515E8E78D}"/>
                  </a:ext>
                </a:extLst>
              </p:cNvPr>
              <p:cNvSpPr>
                <a:spLocks noChangeArrowheads="1"/>
              </p:cNvSpPr>
              <p:nvPr/>
            </p:nvSpPr>
            <p:spPr bwMode="auto">
              <a:xfrm>
                <a:off x="4290" y="1871"/>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1" name="Rectangle 19">
                <a:extLst>
                  <a:ext uri="{FF2B5EF4-FFF2-40B4-BE49-F238E27FC236}">
                    <a16:creationId xmlns:a16="http://schemas.microsoft.com/office/drawing/2014/main" id="{30DF9099-56F6-4AE8-847F-728A5E8ABCBB}"/>
                  </a:ext>
                </a:extLst>
              </p:cNvPr>
              <p:cNvSpPr>
                <a:spLocks noChangeArrowheads="1"/>
              </p:cNvSpPr>
              <p:nvPr/>
            </p:nvSpPr>
            <p:spPr bwMode="auto">
              <a:xfrm>
                <a:off x="4290" y="374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2" name="Rectangle 20">
                <a:extLst>
                  <a:ext uri="{FF2B5EF4-FFF2-40B4-BE49-F238E27FC236}">
                    <a16:creationId xmlns:a16="http://schemas.microsoft.com/office/drawing/2014/main" id="{6D2790CC-A8E8-4EA4-B471-BF8746B9BD67}"/>
                  </a:ext>
                </a:extLst>
              </p:cNvPr>
              <p:cNvSpPr>
                <a:spLocks noChangeArrowheads="1"/>
              </p:cNvSpPr>
              <p:nvPr/>
            </p:nvSpPr>
            <p:spPr bwMode="auto">
              <a:xfrm>
                <a:off x="4674" y="3551"/>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3" name="Rectangle 21">
                <a:extLst>
                  <a:ext uri="{FF2B5EF4-FFF2-40B4-BE49-F238E27FC236}">
                    <a16:creationId xmlns:a16="http://schemas.microsoft.com/office/drawing/2014/main" id="{1DF2EE6A-751E-4E7F-8A4A-0BFCF64F4817}"/>
                  </a:ext>
                </a:extLst>
              </p:cNvPr>
              <p:cNvSpPr>
                <a:spLocks noChangeArrowheads="1"/>
              </p:cNvSpPr>
              <p:nvPr/>
            </p:nvSpPr>
            <p:spPr bwMode="auto">
              <a:xfrm>
                <a:off x="4913" y="331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ea typeface="华文楷体" panose="02010600040101010101" pitchFamily="2" charset="-122"/>
                    <a:cs typeface="Times New Roman" panose="02020603050405020304" pitchFamily="18" charset="0"/>
                  </a:rPr>
                  <a:t>+</a:t>
                </a:r>
              </a:p>
            </p:txBody>
          </p:sp>
          <p:sp>
            <p:nvSpPr>
              <p:cNvPr id="24" name="Rectangle 22">
                <a:extLst>
                  <a:ext uri="{FF2B5EF4-FFF2-40B4-BE49-F238E27FC236}">
                    <a16:creationId xmlns:a16="http://schemas.microsoft.com/office/drawing/2014/main" id="{5AD81C79-DBE8-4CAC-9A6A-7CA1E835A918}"/>
                  </a:ext>
                </a:extLst>
              </p:cNvPr>
              <p:cNvSpPr>
                <a:spLocks noChangeArrowheads="1"/>
              </p:cNvSpPr>
              <p:nvPr/>
            </p:nvSpPr>
            <p:spPr bwMode="auto">
              <a:xfrm>
                <a:off x="5009" y="302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5" name="Rectangle 23">
                <a:extLst>
                  <a:ext uri="{FF2B5EF4-FFF2-40B4-BE49-F238E27FC236}">
                    <a16:creationId xmlns:a16="http://schemas.microsoft.com/office/drawing/2014/main" id="{97D9DE66-7A5F-410E-A850-C88F65643838}"/>
                  </a:ext>
                </a:extLst>
              </p:cNvPr>
              <p:cNvSpPr>
                <a:spLocks noChangeArrowheads="1"/>
              </p:cNvSpPr>
              <p:nvPr/>
            </p:nvSpPr>
            <p:spPr bwMode="auto">
              <a:xfrm>
                <a:off x="5058" y="2687"/>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ea typeface="华文楷体" panose="02010600040101010101" pitchFamily="2" charset="-122"/>
                    <a:cs typeface="Times New Roman" panose="02020603050405020304" pitchFamily="18" charset="0"/>
                  </a:rPr>
                  <a:t>+</a:t>
                </a:r>
              </a:p>
            </p:txBody>
          </p:sp>
          <p:sp>
            <p:nvSpPr>
              <p:cNvPr id="26" name="Rectangle 24">
                <a:extLst>
                  <a:ext uri="{FF2B5EF4-FFF2-40B4-BE49-F238E27FC236}">
                    <a16:creationId xmlns:a16="http://schemas.microsoft.com/office/drawing/2014/main" id="{D2EEE2CA-9820-4257-BF33-DC747425C979}"/>
                  </a:ext>
                </a:extLst>
              </p:cNvPr>
              <p:cNvSpPr>
                <a:spLocks noChangeArrowheads="1"/>
              </p:cNvSpPr>
              <p:nvPr/>
            </p:nvSpPr>
            <p:spPr bwMode="auto">
              <a:xfrm>
                <a:off x="3618" y="3599"/>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7" name="Rectangle 25">
                <a:extLst>
                  <a:ext uri="{FF2B5EF4-FFF2-40B4-BE49-F238E27FC236}">
                    <a16:creationId xmlns:a16="http://schemas.microsoft.com/office/drawing/2014/main" id="{E5CC6583-355A-4F62-85DF-E88E4F478855}"/>
                  </a:ext>
                </a:extLst>
              </p:cNvPr>
              <p:cNvSpPr>
                <a:spLocks noChangeArrowheads="1"/>
              </p:cNvSpPr>
              <p:nvPr/>
            </p:nvSpPr>
            <p:spPr bwMode="auto">
              <a:xfrm>
                <a:off x="3952" y="3743"/>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28" name="Rectangle 26">
                    <a:extLst>
                      <a:ext uri="{FF2B5EF4-FFF2-40B4-BE49-F238E27FC236}">
                        <a16:creationId xmlns:a16="http://schemas.microsoft.com/office/drawing/2014/main" id="{C70D9A0C-E353-4FED-803D-7A51259EAB17}"/>
                      </a:ext>
                    </a:extLst>
                  </p:cNvPr>
                  <p:cNvSpPr>
                    <a:spLocks noChangeArrowheads="1"/>
                  </p:cNvSpPr>
                  <p:nvPr/>
                </p:nvSpPr>
                <p:spPr bwMode="auto">
                  <a:xfrm>
                    <a:off x="5102" y="1976"/>
                    <a:ext cx="525" cy="572"/>
                  </a:xfrm>
                  <a:prstGeom prst="rect">
                    <a:avLst/>
                  </a:prstGeom>
                  <a:noFill/>
                  <a:ln>
                    <a:noFill/>
                  </a:ln>
                  <a:effectLst/>
                  <a:extLst>
                    <a:ext uri="{909E8E84-426E-40DD-AFC4-6F175D3DCCD1}">
                      <a14:hiddenFill>
                        <a:solidFill>
                          <a:schemeClr val="accent1"/>
                        </a:solidFill>
                      </a14:hiddenFill>
                    </a:ext>
                    <a:ext uri="{91240B29-F687-4F45-9708-019B960494DF}">
                      <a14:hiddenLine w="9525">
                        <a:solidFill>
                          <a:srgbClr val="FFFF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3200" i="1">
                              <a:solidFill>
                                <a:srgbClr val="000000"/>
                              </a:solidFill>
                              <a:latin typeface="Cambria Math" panose="02040503050406030204" pitchFamily="18" charset="0"/>
                              <a:ea typeface="华文新魏" panose="02010800040101010101" pitchFamily="2" charset="-122"/>
                            </a:rPr>
                            <m:t>𝒒</m:t>
                          </m:r>
                        </m:oMath>
                      </m:oMathPara>
                    </a14:m>
                    <a:endParaRPr lang="en-US" altLang="zh-CN" sz="3200" i="1" dirty="0">
                      <a:solidFill>
                        <a:srgbClr val="000000"/>
                      </a:solidFill>
                      <a:ea typeface="华文楷体" panose="02010600040101010101" pitchFamily="2" charset="-122"/>
                      <a:cs typeface="Times New Roman" panose="02020603050405020304" pitchFamily="18" charset="0"/>
                    </a:endParaRPr>
                  </a:p>
                </p:txBody>
              </p:sp>
            </mc:Choice>
            <mc:Fallback xmlns="">
              <p:sp>
                <p:nvSpPr>
                  <p:cNvPr id="28" name="Rectangle 26">
                    <a:extLst>
                      <a:ext uri="{FF2B5EF4-FFF2-40B4-BE49-F238E27FC236}">
                        <a16:creationId xmlns:a16="http://schemas.microsoft.com/office/drawing/2014/main" id="{C70D9A0C-E353-4FED-803D-7A51259EAB17}"/>
                      </a:ext>
                    </a:extLst>
                  </p:cNvPr>
                  <p:cNvSpPr>
                    <a:spLocks noRot="1" noChangeAspect="1" noMove="1" noResize="1" noEditPoints="1" noAdjustHandles="1" noChangeArrowheads="1" noChangeShapeType="1" noTextEdit="1"/>
                  </p:cNvSpPr>
                  <p:nvPr/>
                </p:nvSpPr>
                <p:spPr bwMode="auto">
                  <a:xfrm>
                    <a:off x="5102" y="1976"/>
                    <a:ext cx="525" cy="572"/>
                  </a:xfrm>
                  <a:prstGeom prst="rect">
                    <a:avLst/>
                  </a:prstGeom>
                  <a:blipFill>
                    <a:blip r:embed="rId2"/>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grpSp>
          <p:nvGrpSpPr>
            <p:cNvPr id="9" name="Group 27">
              <a:extLst>
                <a:ext uri="{FF2B5EF4-FFF2-40B4-BE49-F238E27FC236}">
                  <a16:creationId xmlns:a16="http://schemas.microsoft.com/office/drawing/2014/main" id="{338D0FD5-E0D2-48E5-88E0-CA79D0B47D08}"/>
                </a:ext>
              </a:extLst>
            </p:cNvPr>
            <p:cNvGrpSpPr>
              <a:grpSpLocks/>
            </p:cNvGrpSpPr>
            <p:nvPr/>
          </p:nvGrpSpPr>
          <p:grpSpPr bwMode="auto">
            <a:xfrm>
              <a:off x="3705" y="935"/>
              <a:ext cx="881" cy="1057"/>
              <a:chOff x="455" y="1388"/>
              <a:chExt cx="881" cy="1057"/>
            </a:xfrm>
          </p:grpSpPr>
          <p:sp>
            <p:nvSpPr>
              <p:cNvPr id="10" name="Line 28">
                <a:extLst>
                  <a:ext uri="{FF2B5EF4-FFF2-40B4-BE49-F238E27FC236}">
                    <a16:creationId xmlns:a16="http://schemas.microsoft.com/office/drawing/2014/main" id="{3D239885-E582-483D-9286-4672CC5DA13E}"/>
                  </a:ext>
                </a:extLst>
              </p:cNvPr>
              <p:cNvSpPr>
                <a:spLocks noChangeShapeType="1"/>
              </p:cNvSpPr>
              <p:nvPr/>
            </p:nvSpPr>
            <p:spPr bwMode="auto">
              <a:xfrm flipH="1" flipV="1">
                <a:off x="455" y="1388"/>
                <a:ext cx="647" cy="707"/>
              </a:xfrm>
              <a:prstGeom prst="line">
                <a:avLst/>
              </a:prstGeom>
              <a:noFill/>
              <a:ln w="25400">
                <a:solidFill>
                  <a:srgbClr val="FF0000"/>
                </a:solidFill>
                <a:round/>
                <a:headEnd type="oval"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defRPr/>
                </a:pPr>
                <a:endParaRPr kumimoji="1" lang="zh-CN" altLang="en-US" b="1" dirty="0">
                  <a:solidFill>
                    <a:srgbClr val="000000"/>
                  </a:solidFill>
                  <a:highlight>
                    <a:srgbClr val="008000"/>
                  </a:highligh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 name="Text Box 29">
                <a:extLst>
                  <a:ext uri="{FF2B5EF4-FFF2-40B4-BE49-F238E27FC236}">
                    <a16:creationId xmlns:a16="http://schemas.microsoft.com/office/drawing/2014/main" id="{70FDC973-5AA9-4FBC-8980-61918A9EA4D9}"/>
                  </a:ext>
                </a:extLst>
              </p:cNvPr>
              <p:cNvSpPr txBox="1">
                <a:spLocks noChangeArrowheads="1"/>
              </p:cNvSpPr>
              <p:nvPr/>
            </p:nvSpPr>
            <p:spPr bwMode="auto">
              <a:xfrm>
                <a:off x="669" y="1751"/>
                <a:ext cx="360" cy="4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en-US" altLang="zh-CN" sz="3200" i="1" dirty="0">
                    <a:solidFill>
                      <a:srgbClr val="000000"/>
                    </a:solidFill>
                    <a:ea typeface="华文楷体" panose="02010600040101010101" pitchFamily="2" charset="-122"/>
                    <a:cs typeface="Times New Roman" panose="02020603050405020304" pitchFamily="18" charset="0"/>
                  </a:rPr>
                  <a:t>R</a:t>
                </a:r>
              </a:p>
            </p:txBody>
          </p:sp>
          <p:sp>
            <p:nvSpPr>
              <p:cNvPr id="12" name="Text Box 30">
                <a:extLst>
                  <a:ext uri="{FF2B5EF4-FFF2-40B4-BE49-F238E27FC236}">
                    <a16:creationId xmlns:a16="http://schemas.microsoft.com/office/drawing/2014/main" id="{5174370A-8A52-4056-BF7A-CF63BB747208}"/>
                  </a:ext>
                </a:extLst>
              </p:cNvPr>
              <p:cNvSpPr txBox="1">
                <a:spLocks noChangeArrowheads="1"/>
              </p:cNvSpPr>
              <p:nvPr/>
            </p:nvSpPr>
            <p:spPr bwMode="auto">
              <a:xfrm>
                <a:off x="1026" y="1985"/>
                <a:ext cx="310" cy="4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o</a:t>
                </a:r>
              </a:p>
            </p:txBody>
          </p:sp>
        </p:grpSp>
      </p:grpSp>
      <mc:AlternateContent xmlns:mc="http://schemas.openxmlformats.org/markup-compatibility/2006" xmlns:a14="http://schemas.microsoft.com/office/drawing/2010/main">
        <mc:Choice Requires="a14">
          <p:sp>
            <p:nvSpPr>
              <p:cNvPr id="54" name="内容占位符 2">
                <a:extLst>
                  <a:ext uri="{FF2B5EF4-FFF2-40B4-BE49-F238E27FC236}">
                    <a16:creationId xmlns:a16="http://schemas.microsoft.com/office/drawing/2014/main" id="{6CEC2954-BEA7-4299-91D5-F092AC2DD9AC}"/>
                  </a:ext>
                </a:extLst>
              </p:cNvPr>
              <p:cNvSpPr>
                <a:spLocks noGrp="1"/>
              </p:cNvSpPr>
              <p:nvPr>
                <p:ph idx="1"/>
              </p:nvPr>
            </p:nvSpPr>
            <p:spPr>
              <a:xfrm>
                <a:off x="6934143" y="2621898"/>
                <a:ext cx="2790958" cy="1647257"/>
              </a:xfrm>
            </p:spPr>
            <p:txBody>
              <a:bodyPr>
                <a:noAutofit/>
              </a:bodyPr>
              <a:lstStyle/>
              <a:p>
                <a:pPr marL="0" indent="0" algn="ctr">
                  <a:lnSpc>
                    <a:spcPct val="150000"/>
                  </a:lnSpc>
                  <a:buNone/>
                </a:pPr>
                <a14:m>
                  <m:oMathPara xmlns:m="http://schemas.openxmlformats.org/officeDocument/2006/math">
                    <m:oMathParaPr>
                      <m:jc m:val="centerGroup"/>
                    </m:oMathParaPr>
                    <m:oMath xmlns:m="http://schemas.openxmlformats.org/officeDocument/2006/math">
                      <m:r>
                        <a:rPr lang="en-US" altLang="zh-CN" b="0" i="1" smtClean="0">
                          <a:solidFill>
                            <a:prstClr val="black"/>
                          </a:solidFill>
                          <a:latin typeface="Cambria Math" panose="02040503050406030204" pitchFamily="18" charset="0"/>
                        </a:rPr>
                        <m:t>𝑊</m:t>
                      </m:r>
                      <m:r>
                        <a:rPr lang="en-US" altLang="zh-CN" b="0" i="1" smtClean="0">
                          <a:solidFill>
                            <a:prstClr val="black"/>
                          </a:solidFill>
                          <a:latin typeface="Cambria Math" panose="02040503050406030204" pitchFamily="18" charset="0"/>
                        </a:rPr>
                        <m:t>=</m:t>
                      </m:r>
                      <m:f>
                        <m:fPr>
                          <m:ctrlPr>
                            <a:rPr lang="en-US" altLang="zh-CN" i="1">
                              <a:solidFill>
                                <a:prstClr val="black"/>
                              </a:solidFill>
                              <a:latin typeface="Cambria Math" panose="02040503050406030204" pitchFamily="18" charset="0"/>
                            </a:rPr>
                          </m:ctrlPr>
                        </m:fPr>
                        <m:num>
                          <m:r>
                            <a:rPr lang="en-US" altLang="zh-CN" b="0" i="1" smtClean="0">
                              <a:solidFill>
                                <a:prstClr val="black"/>
                              </a:solidFill>
                              <a:latin typeface="Cambria Math" panose="02040503050406030204" pitchFamily="18" charset="0"/>
                            </a:rPr>
                            <m:t>3</m:t>
                          </m:r>
                          <m:sSup>
                            <m:sSupPr>
                              <m:ctrlPr>
                                <a:rPr lang="en-US" altLang="zh-CN" i="1">
                                  <a:solidFill>
                                    <a:prstClr val="black"/>
                                  </a:solidFill>
                                  <a:latin typeface="Cambria Math" panose="02040503050406030204" pitchFamily="18" charset="0"/>
                                </a:rPr>
                              </m:ctrlPr>
                            </m:sSupPr>
                            <m:e>
                              <m:r>
                                <a:rPr lang="en-US" altLang="zh-CN" b="0" i="1" smtClean="0">
                                  <a:solidFill>
                                    <a:prstClr val="black"/>
                                  </a:solidFill>
                                  <a:latin typeface="Cambria Math" panose="02040503050406030204" pitchFamily="18" charset="0"/>
                                </a:rPr>
                                <m:t>𝑞</m:t>
                              </m:r>
                            </m:e>
                            <m:sup>
                              <m:r>
                                <a:rPr lang="en-US" altLang="zh-CN" b="0" i="1">
                                  <a:solidFill>
                                    <a:prstClr val="black"/>
                                  </a:solidFill>
                                  <a:latin typeface="Cambria Math" panose="02040503050406030204" pitchFamily="18" charset="0"/>
                                </a:rPr>
                                <m:t>2</m:t>
                              </m:r>
                            </m:sup>
                          </m:sSup>
                        </m:num>
                        <m:den>
                          <m:r>
                            <a:rPr lang="en-US" altLang="zh-CN" b="0" i="1" smtClean="0">
                              <a:solidFill>
                                <a:prstClr val="black"/>
                              </a:solidFill>
                              <a:latin typeface="Cambria Math" panose="02040503050406030204" pitchFamily="18" charset="0"/>
                            </a:rPr>
                            <m:t>20</m:t>
                          </m:r>
                          <m:r>
                            <a:rPr lang="zh-CN" altLang="en-US" b="0" i="1">
                              <a:solidFill>
                                <a:prstClr val="black"/>
                              </a:solidFill>
                              <a:latin typeface="Cambria Math" panose="02040503050406030204" pitchFamily="18" charset="0"/>
                            </a:rPr>
                            <m:t>𝜋</m:t>
                          </m:r>
                          <m:sSub>
                            <m:sSubPr>
                              <m:ctrlPr>
                                <a:rPr lang="en-US" altLang="zh-CN" i="1">
                                  <a:solidFill>
                                    <a:prstClr val="black"/>
                                  </a:solidFill>
                                  <a:latin typeface="Cambria Math" panose="02040503050406030204" pitchFamily="18" charset="0"/>
                                </a:rPr>
                              </m:ctrlPr>
                            </m:sSubPr>
                            <m:e>
                              <m:r>
                                <a:rPr lang="zh-CN" altLang="en-US" b="0" i="1">
                                  <a:solidFill>
                                    <a:prstClr val="black"/>
                                  </a:solidFill>
                                  <a:latin typeface="Cambria Math" panose="02040503050406030204" pitchFamily="18" charset="0"/>
                                </a:rPr>
                                <m:t>𝜀</m:t>
                              </m:r>
                            </m:e>
                            <m:sub>
                              <m:r>
                                <a:rPr lang="en-US" altLang="zh-CN" b="0" i="1">
                                  <a:solidFill>
                                    <a:prstClr val="black"/>
                                  </a:solidFill>
                                  <a:latin typeface="Cambria Math" panose="02040503050406030204" pitchFamily="18" charset="0"/>
                                </a:rPr>
                                <m:t>0</m:t>
                              </m:r>
                            </m:sub>
                          </m:sSub>
                          <m:r>
                            <a:rPr lang="en-US" altLang="zh-CN" b="0" i="1">
                              <a:solidFill>
                                <a:prstClr val="black"/>
                              </a:solidFill>
                              <a:latin typeface="Cambria Math" panose="02040503050406030204" pitchFamily="18" charset="0"/>
                            </a:rPr>
                            <m:t>𝑅</m:t>
                          </m:r>
                        </m:den>
                      </m:f>
                    </m:oMath>
                  </m:oMathPara>
                </a14:m>
                <a:endParaRPr lang="zh-CN" altLang="en-US" dirty="0"/>
              </a:p>
            </p:txBody>
          </p:sp>
        </mc:Choice>
        <mc:Fallback xmlns="">
          <p:sp>
            <p:nvSpPr>
              <p:cNvPr id="54" name="内容占位符 2">
                <a:extLst>
                  <a:ext uri="{FF2B5EF4-FFF2-40B4-BE49-F238E27FC236}">
                    <a16:creationId xmlns:a16="http://schemas.microsoft.com/office/drawing/2014/main" id="{6CEC2954-BEA7-4299-91D5-F092AC2DD9AC}"/>
                  </a:ext>
                </a:extLst>
              </p:cNvPr>
              <p:cNvSpPr>
                <a:spLocks noGrp="1" noRot="1" noChangeAspect="1" noMove="1" noResize="1" noEditPoints="1" noAdjustHandles="1" noChangeArrowheads="1" noChangeShapeType="1" noTextEdit="1"/>
              </p:cNvSpPr>
              <p:nvPr>
                <p:ph idx="1"/>
              </p:nvPr>
            </p:nvSpPr>
            <p:spPr>
              <a:xfrm>
                <a:off x="6934143" y="2621898"/>
                <a:ext cx="2790958" cy="1647257"/>
              </a:xfr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59F37F91-83FE-1502-AEA7-E96D05E5CF94}"/>
                  </a:ext>
                </a:extLst>
              </p:cNvPr>
              <p:cNvSpPr/>
              <p:nvPr/>
            </p:nvSpPr>
            <p:spPr>
              <a:xfrm>
                <a:off x="4115768" y="2944667"/>
                <a:ext cx="2080954" cy="10300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i="1">
                          <a:solidFill>
                            <a:prstClr val="black"/>
                          </a:solidFill>
                          <a:latin typeface="Cambria Math" panose="02040503050406030204" pitchFamily="18" charset="0"/>
                        </a:rPr>
                        <m:t>𝑊</m:t>
                      </m:r>
                      <m:r>
                        <a:rPr lang="en-US" altLang="zh-CN" sz="2800" b="0" i="1" smtClean="0">
                          <a:latin typeface="Cambria Math" panose="02040503050406030204" pitchFamily="18" charset="0"/>
                        </a:rPr>
                        <m:t>=</m:t>
                      </m:r>
                      <m:f>
                        <m:fPr>
                          <m:ctrlPr>
                            <a:rPr lang="en-US" altLang="zh-CN" sz="2800" i="1">
                              <a:solidFill>
                                <a:prstClr val="black"/>
                              </a:solidFill>
                              <a:latin typeface="Cambria Math" panose="02040503050406030204" pitchFamily="18" charset="0"/>
                            </a:rPr>
                          </m:ctrlPr>
                        </m:fPr>
                        <m:num>
                          <m:sSup>
                            <m:sSupPr>
                              <m:ctrlPr>
                                <a:rPr lang="en-US" altLang="zh-CN" sz="2800" i="1">
                                  <a:solidFill>
                                    <a:prstClr val="black"/>
                                  </a:solidFill>
                                  <a:latin typeface="Cambria Math" panose="02040503050406030204" pitchFamily="18" charset="0"/>
                                </a:rPr>
                              </m:ctrlPr>
                            </m:sSupPr>
                            <m:e>
                              <m:r>
                                <a:rPr lang="en-US" altLang="zh-CN" sz="2800" b="0" i="1">
                                  <a:solidFill>
                                    <a:prstClr val="black"/>
                                  </a:solidFill>
                                  <a:latin typeface="Cambria Math" panose="02040503050406030204" pitchFamily="18" charset="0"/>
                                </a:rPr>
                                <m:t>𝑞</m:t>
                              </m:r>
                            </m:e>
                            <m:sup>
                              <m:r>
                                <a:rPr lang="en-US" altLang="zh-CN" sz="2800" b="0" i="1">
                                  <a:solidFill>
                                    <a:prstClr val="black"/>
                                  </a:solidFill>
                                  <a:latin typeface="Cambria Math" panose="02040503050406030204" pitchFamily="18" charset="0"/>
                                </a:rPr>
                                <m:t>2</m:t>
                              </m:r>
                            </m:sup>
                          </m:sSup>
                        </m:num>
                        <m:den>
                          <m:r>
                            <a:rPr lang="en-US" altLang="zh-CN" sz="2800" b="0" i="1" smtClean="0">
                              <a:solidFill>
                                <a:prstClr val="black"/>
                              </a:solidFill>
                              <a:latin typeface="Cambria Math" panose="02040503050406030204" pitchFamily="18" charset="0"/>
                            </a:rPr>
                            <m:t>8</m:t>
                          </m:r>
                          <m:r>
                            <a:rPr lang="zh-CN" altLang="en-US" sz="2800" b="0" i="1">
                              <a:solidFill>
                                <a:prstClr val="black"/>
                              </a:solidFill>
                              <a:latin typeface="Cambria Math" panose="02040503050406030204" pitchFamily="18" charset="0"/>
                            </a:rPr>
                            <m:t>𝜋</m:t>
                          </m:r>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𝜀</m:t>
                              </m:r>
                            </m:e>
                            <m:sub>
                              <m:r>
                                <a:rPr lang="en-US" altLang="zh-CN" sz="2800" b="0" i="1">
                                  <a:solidFill>
                                    <a:prstClr val="black"/>
                                  </a:solidFill>
                                  <a:latin typeface="Cambria Math" panose="02040503050406030204" pitchFamily="18" charset="0"/>
                                </a:rPr>
                                <m:t>0</m:t>
                              </m:r>
                            </m:sub>
                          </m:sSub>
                          <m:r>
                            <a:rPr lang="en-US" altLang="zh-CN" sz="2800" b="0" i="1">
                              <a:solidFill>
                                <a:prstClr val="black"/>
                              </a:solidFill>
                              <a:latin typeface="Cambria Math" panose="02040503050406030204" pitchFamily="18" charset="0"/>
                            </a:rPr>
                            <m:t>𝑅</m:t>
                          </m:r>
                        </m:den>
                      </m:f>
                    </m:oMath>
                  </m:oMathPara>
                </a14:m>
                <a:endParaRPr lang="en-US" sz="2800" dirty="0"/>
              </a:p>
            </p:txBody>
          </p:sp>
        </mc:Choice>
        <mc:Fallback xmlns="">
          <p:sp>
            <p:nvSpPr>
              <p:cNvPr id="3" name="矩形 2">
                <a:extLst>
                  <a:ext uri="{FF2B5EF4-FFF2-40B4-BE49-F238E27FC236}">
                    <a16:creationId xmlns:a16="http://schemas.microsoft.com/office/drawing/2014/main" id="{59F37F91-83FE-1502-AEA7-E96D05E5CF94}"/>
                  </a:ext>
                </a:extLst>
              </p:cNvPr>
              <p:cNvSpPr>
                <a:spLocks noRot="1" noChangeAspect="1" noMove="1" noResize="1" noEditPoints="1" noAdjustHandles="1" noChangeArrowheads="1" noChangeShapeType="1" noTextEdit="1"/>
              </p:cNvSpPr>
              <p:nvPr/>
            </p:nvSpPr>
            <p:spPr>
              <a:xfrm>
                <a:off x="4115768" y="2944667"/>
                <a:ext cx="2080954" cy="1030090"/>
              </a:xfrm>
              <a:prstGeom prst="rect">
                <a:avLst/>
              </a:prstGeom>
              <a:blipFill>
                <a:blip r:embed="rId4"/>
                <a:stretch>
                  <a:fillRect/>
                </a:stretch>
              </a:blipFill>
            </p:spPr>
            <p:txBody>
              <a:bodyPr/>
              <a:lstStyle/>
              <a:p>
                <a:r>
                  <a:rPr lang="zh-CN" altLang="en-US">
                    <a:noFill/>
                  </a:rPr>
                  <a:t> </a:t>
                </a:r>
              </a:p>
            </p:txBody>
          </p:sp>
        </mc:Fallback>
      </mc:AlternateContent>
      <p:sp>
        <p:nvSpPr>
          <p:cNvPr id="4" name="Rectangle 2">
            <a:extLst>
              <a:ext uri="{FF2B5EF4-FFF2-40B4-BE49-F238E27FC236}">
                <a16:creationId xmlns:a16="http://schemas.microsoft.com/office/drawing/2014/main" id="{3384BE11-D95D-D7C2-67D4-3C1DFFD768A3}"/>
              </a:ext>
            </a:extLst>
          </p:cNvPr>
          <p:cNvSpPr>
            <a:spLocks noChangeArrowheads="1"/>
          </p:cNvSpPr>
          <p:nvPr/>
        </p:nvSpPr>
        <p:spPr bwMode="auto">
          <a:xfrm>
            <a:off x="4576481" y="1966195"/>
            <a:ext cx="2951179"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zh-CN" altLang="en-US" sz="2800" b="0" dirty="0">
                <a:solidFill>
                  <a:srgbClr val="000000"/>
                </a:solidFill>
                <a:ea typeface="华文楷体" panose="02010600040101010101" pitchFamily="2" charset="-122"/>
                <a:cs typeface="Times New Roman" panose="02020603050405020304" pitchFamily="18" charset="0"/>
              </a:rPr>
              <a:t>球面：</a:t>
            </a:r>
          </a:p>
        </p:txBody>
      </p:sp>
      <p:sp>
        <p:nvSpPr>
          <p:cNvPr id="29" name="Rectangle 2">
            <a:extLst>
              <a:ext uri="{FF2B5EF4-FFF2-40B4-BE49-F238E27FC236}">
                <a16:creationId xmlns:a16="http://schemas.microsoft.com/office/drawing/2014/main" id="{CE8E45B3-A8A7-2647-931C-ACC6C7C14221}"/>
              </a:ext>
            </a:extLst>
          </p:cNvPr>
          <p:cNvSpPr>
            <a:spLocks noChangeArrowheads="1"/>
          </p:cNvSpPr>
          <p:nvPr/>
        </p:nvSpPr>
        <p:spPr bwMode="auto">
          <a:xfrm>
            <a:off x="7918976" y="2020132"/>
            <a:ext cx="2951179"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zh-CN" altLang="en-US" sz="2800" b="0" dirty="0">
                <a:solidFill>
                  <a:srgbClr val="000000"/>
                </a:solidFill>
                <a:ea typeface="华文楷体" panose="02010600040101010101" pitchFamily="2" charset="-122"/>
                <a:cs typeface="Times New Roman" panose="02020603050405020304" pitchFamily="18" charset="0"/>
              </a:rPr>
              <a:t>球体：</a:t>
            </a:r>
          </a:p>
        </p:txBody>
      </p:sp>
      <p:sp>
        <p:nvSpPr>
          <p:cNvPr id="30" name="文本框 29">
            <a:extLst>
              <a:ext uri="{FF2B5EF4-FFF2-40B4-BE49-F238E27FC236}">
                <a16:creationId xmlns:a16="http://schemas.microsoft.com/office/drawing/2014/main" id="{A330C8C1-2F22-56D8-484E-388C6CC079A1}"/>
              </a:ext>
            </a:extLst>
          </p:cNvPr>
          <p:cNvSpPr txBox="1"/>
          <p:nvPr/>
        </p:nvSpPr>
        <p:spPr>
          <a:xfrm>
            <a:off x="6401237" y="3170420"/>
            <a:ext cx="800100" cy="646331"/>
          </a:xfrm>
          <a:prstGeom prst="rect">
            <a:avLst/>
          </a:prstGeom>
          <a:noFill/>
        </p:spPr>
        <p:txBody>
          <a:bodyPr wrap="square" rtlCol="0">
            <a:spAutoFit/>
          </a:bodyPr>
          <a:lstStyle/>
          <a:p>
            <a:r>
              <a:rPr lang="en-US" altLang="zh-CN" sz="3600" b="1" dirty="0">
                <a:solidFill>
                  <a:srgbClr val="0066FF"/>
                </a:solidFill>
              </a:rPr>
              <a:t>&lt;</a:t>
            </a:r>
            <a:endParaRPr lang="zh-CN" altLang="en-US" sz="3600" b="1" dirty="0">
              <a:solidFill>
                <a:srgbClr val="0066FF"/>
              </a:solidFill>
            </a:endParaRPr>
          </a:p>
        </p:txBody>
      </p:sp>
      <p:sp>
        <p:nvSpPr>
          <p:cNvPr id="31" name="文本框 30">
            <a:extLst>
              <a:ext uri="{FF2B5EF4-FFF2-40B4-BE49-F238E27FC236}">
                <a16:creationId xmlns:a16="http://schemas.microsoft.com/office/drawing/2014/main" id="{CD6CA78D-EF6A-0392-95A5-93604351FB9A}"/>
              </a:ext>
            </a:extLst>
          </p:cNvPr>
          <p:cNvSpPr txBox="1"/>
          <p:nvPr/>
        </p:nvSpPr>
        <p:spPr>
          <a:xfrm>
            <a:off x="2338554" y="4923045"/>
            <a:ext cx="4631459" cy="523220"/>
          </a:xfrm>
          <a:prstGeom prst="rect">
            <a:avLst/>
          </a:prstGeom>
          <a:noFill/>
        </p:spPr>
        <p:txBody>
          <a:bodyPr wrap="square" rtlCol="0">
            <a:spAutoFit/>
          </a:bodyPr>
          <a:lstStyle/>
          <a:p>
            <a:r>
              <a:rPr lang="en-US" altLang="zh-CN" sz="2800" dirty="0"/>
              <a:t>- </a:t>
            </a:r>
            <a:r>
              <a:rPr lang="zh-CN" altLang="en-US" sz="2800" dirty="0"/>
              <a:t>电量相同，静电势能不同</a:t>
            </a:r>
          </a:p>
        </p:txBody>
      </p:sp>
      <p:sp>
        <p:nvSpPr>
          <p:cNvPr id="32" name="文本框 31">
            <a:extLst>
              <a:ext uri="{FF2B5EF4-FFF2-40B4-BE49-F238E27FC236}">
                <a16:creationId xmlns:a16="http://schemas.microsoft.com/office/drawing/2014/main" id="{626DBB73-8147-2BAC-FD18-B11A5DD86B4A}"/>
              </a:ext>
            </a:extLst>
          </p:cNvPr>
          <p:cNvSpPr txBox="1"/>
          <p:nvPr/>
        </p:nvSpPr>
        <p:spPr>
          <a:xfrm>
            <a:off x="2380682" y="5645046"/>
            <a:ext cx="8072573" cy="523220"/>
          </a:xfrm>
          <a:prstGeom prst="rect">
            <a:avLst/>
          </a:prstGeom>
          <a:noFill/>
        </p:spPr>
        <p:txBody>
          <a:bodyPr wrap="square" rtlCol="0">
            <a:spAutoFit/>
          </a:bodyPr>
          <a:lstStyle/>
          <a:p>
            <a:r>
              <a:rPr lang="en-US" altLang="zh-CN" sz="2800" dirty="0"/>
              <a:t>- </a:t>
            </a:r>
            <a:r>
              <a:rPr lang="zh-CN" altLang="en-US" sz="2800" dirty="0"/>
              <a:t>球外电场分布相同，球面带电球内无电场</a:t>
            </a:r>
          </a:p>
        </p:txBody>
      </p:sp>
    </p:spTree>
    <p:extLst>
      <p:ext uri="{BB962C8B-B14F-4D97-AF65-F5344CB8AC3E}">
        <p14:creationId xmlns:p14="http://schemas.microsoft.com/office/powerpoint/2010/main" val="345427192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build="p"/>
      <p:bldP spid="3" grpId="0"/>
      <p:bldP spid="4" grpId="0"/>
      <p:bldP spid="29" grpId="0"/>
      <p:bldP spid="30" grpId="0"/>
      <p:bldP spid="31" grpId="0"/>
      <p:bldP spid="3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a:extLst>
              <a:ext uri="{FF2B5EF4-FFF2-40B4-BE49-F238E27FC236}">
                <a16:creationId xmlns:a16="http://schemas.microsoft.com/office/drawing/2014/main" id="{3F88F66E-9A81-4634-8372-5449B9A9B0C7}"/>
              </a:ext>
            </a:extLst>
          </p:cNvPr>
          <p:cNvSpPr/>
          <p:nvPr/>
        </p:nvSpPr>
        <p:spPr>
          <a:xfrm>
            <a:off x="8648697" y="1105958"/>
            <a:ext cx="2846918" cy="2846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5" name="标题 4">
            <a:extLst>
              <a:ext uri="{FF2B5EF4-FFF2-40B4-BE49-F238E27FC236}">
                <a16:creationId xmlns:a16="http://schemas.microsoft.com/office/drawing/2014/main" id="{15C79B98-CDAA-4619-A5F6-1E9396826686}"/>
              </a:ext>
            </a:extLst>
          </p:cNvPr>
          <p:cNvSpPr>
            <a:spLocks noGrp="1"/>
          </p:cNvSpPr>
          <p:nvPr>
            <p:ph type="title"/>
          </p:nvPr>
        </p:nvSpPr>
        <p:spPr>
          <a:xfrm>
            <a:off x="649393" y="781906"/>
            <a:ext cx="5061373" cy="746328"/>
          </a:xfrm>
        </p:spPr>
        <p:txBody>
          <a:bodyPr>
            <a:noAutofit/>
          </a:bodyPr>
          <a:lstStyle/>
          <a:p>
            <a:pPr marL="571500" indent="-571500" algn="ctr">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静电场的能量</a:t>
            </a:r>
            <a:br>
              <a:rPr lang="en-US" altLang="zh-CN" sz="3200" b="1" dirty="0">
                <a:solidFill>
                  <a:srgbClr val="0066FF"/>
                </a:solidFill>
                <a:latin typeface="华文楷体" panose="02010600040101010101" pitchFamily="2" charset="-122"/>
                <a:ea typeface="华文楷体" panose="02010600040101010101" pitchFamily="2" charset="-122"/>
              </a:rPr>
            </a:br>
            <a:endParaRPr lang="zh-CN" altLang="en-US" sz="3200" b="1" dirty="0">
              <a:solidFill>
                <a:srgbClr val="0066FF"/>
              </a:solidFill>
              <a:latin typeface="华文楷体" panose="02010600040101010101" pitchFamily="2" charset="-122"/>
              <a:ea typeface="华文楷体" panose="02010600040101010101" pitchFamily="2" charset="-122"/>
            </a:endParaRPr>
          </a:p>
        </p:txBody>
      </p:sp>
      <p:sp>
        <p:nvSpPr>
          <p:cNvPr id="3" name="椭圆 2">
            <a:extLst>
              <a:ext uri="{FF2B5EF4-FFF2-40B4-BE49-F238E27FC236}">
                <a16:creationId xmlns:a16="http://schemas.microsoft.com/office/drawing/2014/main" id="{C0ABB377-7FE6-4180-BD78-EC0FC0802A43}"/>
              </a:ext>
            </a:extLst>
          </p:cNvPr>
          <p:cNvSpPr/>
          <p:nvPr/>
        </p:nvSpPr>
        <p:spPr>
          <a:xfrm>
            <a:off x="8928195" y="1388534"/>
            <a:ext cx="2281767" cy="228176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cxnSp>
        <p:nvCxnSpPr>
          <p:cNvPr id="33" name="直接连接符 32">
            <a:extLst>
              <a:ext uri="{FF2B5EF4-FFF2-40B4-BE49-F238E27FC236}">
                <a16:creationId xmlns:a16="http://schemas.microsoft.com/office/drawing/2014/main" id="{E45A57CB-DF2B-4129-8C5C-FABCA8797619}"/>
              </a:ext>
            </a:extLst>
          </p:cNvPr>
          <p:cNvCxnSpPr>
            <a:endCxn id="3" idx="6"/>
          </p:cNvCxnSpPr>
          <p:nvPr/>
        </p:nvCxnSpPr>
        <p:spPr>
          <a:xfrm>
            <a:off x="10069078" y="2529417"/>
            <a:ext cx="1140884" cy="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1BF67322-341B-4287-BC1E-D607578B5465}"/>
              </a:ext>
            </a:extLst>
          </p:cNvPr>
          <p:cNvCxnSpPr>
            <a:cxnSpLocks/>
          </p:cNvCxnSpPr>
          <p:nvPr/>
        </p:nvCxnSpPr>
        <p:spPr>
          <a:xfrm flipV="1">
            <a:off x="10085916" y="1435100"/>
            <a:ext cx="908051" cy="109431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C31739E3-11E6-49CB-8D17-D738B17FA8E3}"/>
              </a:ext>
            </a:extLst>
          </p:cNvPr>
          <p:cNvSpPr txBox="1"/>
          <p:nvPr/>
        </p:nvSpPr>
        <p:spPr>
          <a:xfrm>
            <a:off x="10279852" y="2522579"/>
            <a:ext cx="620548" cy="523220"/>
          </a:xfrm>
          <a:prstGeom prst="rect">
            <a:avLst/>
          </a:prstGeom>
          <a:noFill/>
        </p:spPr>
        <p:txBody>
          <a:bodyPr wrap="square" rtlCol="0">
            <a:spAutoFit/>
          </a:bodyPr>
          <a:lstStyle/>
          <a:p>
            <a:r>
              <a:rPr lang="en-US" sz="2800" dirty="0"/>
              <a:t>R</a:t>
            </a:r>
            <a:r>
              <a:rPr lang="en-US" sz="2800" baseline="-25000" dirty="0"/>
              <a:t>1</a:t>
            </a:r>
          </a:p>
        </p:txBody>
      </p:sp>
      <p:sp>
        <p:nvSpPr>
          <p:cNvPr id="38" name="文本框 37">
            <a:extLst>
              <a:ext uri="{FF2B5EF4-FFF2-40B4-BE49-F238E27FC236}">
                <a16:creationId xmlns:a16="http://schemas.microsoft.com/office/drawing/2014/main" id="{4892A07C-CAE9-41CD-9100-5CB51A60C5E3}"/>
              </a:ext>
            </a:extLst>
          </p:cNvPr>
          <p:cNvSpPr txBox="1"/>
          <p:nvPr/>
        </p:nvSpPr>
        <p:spPr>
          <a:xfrm>
            <a:off x="9958552" y="1612927"/>
            <a:ext cx="620548" cy="523220"/>
          </a:xfrm>
          <a:prstGeom prst="rect">
            <a:avLst/>
          </a:prstGeom>
          <a:noFill/>
        </p:spPr>
        <p:txBody>
          <a:bodyPr wrap="square" rtlCol="0">
            <a:spAutoFit/>
          </a:bodyPr>
          <a:lstStyle/>
          <a:p>
            <a:r>
              <a:rPr lang="en-US" sz="2800" dirty="0"/>
              <a:t>R</a:t>
            </a:r>
            <a:r>
              <a:rPr lang="en-US" sz="2800" baseline="-25000" dirty="0"/>
              <a:t>2</a:t>
            </a:r>
          </a:p>
        </p:txBody>
      </p:sp>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DD6A7AD6-D9A9-4B07-95EE-5644EF4CB994}"/>
                  </a:ext>
                </a:extLst>
              </p:cNvPr>
              <p:cNvSpPr/>
              <p:nvPr/>
            </p:nvSpPr>
            <p:spPr>
              <a:xfrm>
                <a:off x="783582" y="3012988"/>
                <a:ext cx="7071551" cy="832023"/>
              </a:xfrm>
              <a:prstGeom prst="rect">
                <a:avLst/>
              </a:prstGeom>
            </p:spPr>
            <p:txBody>
              <a:bodyPr wrap="none">
                <a:spAutoFit/>
              </a:bodyPr>
              <a:lstStyle/>
              <a:p>
                <a:r>
                  <a:rPr lang="zh-CN" altLang="en-US" sz="2800" dirty="0">
                    <a:solidFill>
                      <a:srgbClr val="000000"/>
                    </a:solidFill>
                  </a:rPr>
                  <a:t>考虑气球膨胀，膨胀前静电能： </a:t>
                </a:r>
                <a14:m>
                  <m:oMath xmlns:m="http://schemas.openxmlformats.org/officeDocument/2006/math">
                    <m:r>
                      <a:rPr lang="en-US" altLang="zh-CN" sz="2800" b="0" i="1">
                        <a:solidFill>
                          <a:prstClr val="black"/>
                        </a:solidFill>
                        <a:latin typeface="Cambria Math" panose="02040503050406030204" pitchFamily="18" charset="0"/>
                      </a:rPr>
                      <m:t>𝑊</m:t>
                    </m:r>
                    <m:r>
                      <a:rPr lang="en-US" altLang="zh-CN" sz="2800" b="0" i="1">
                        <a:solidFill>
                          <a:prstClr val="black"/>
                        </a:solidFill>
                        <a:latin typeface="Cambria Math" panose="02040503050406030204" pitchFamily="18" charset="0"/>
                      </a:rPr>
                      <m:t>=</m:t>
                    </m:r>
                    <m:f>
                      <m:fPr>
                        <m:ctrlPr>
                          <a:rPr lang="en-US" altLang="zh-CN" sz="2800" i="1">
                            <a:solidFill>
                              <a:prstClr val="black"/>
                            </a:solidFill>
                            <a:latin typeface="Cambria Math" panose="02040503050406030204" pitchFamily="18" charset="0"/>
                          </a:rPr>
                        </m:ctrlPr>
                      </m:fPr>
                      <m:num>
                        <m:sSup>
                          <m:sSupPr>
                            <m:ctrlPr>
                              <a:rPr lang="en-US" altLang="zh-CN" sz="2800" i="1">
                                <a:solidFill>
                                  <a:prstClr val="black"/>
                                </a:solidFill>
                                <a:latin typeface="Cambria Math" panose="02040503050406030204" pitchFamily="18" charset="0"/>
                              </a:rPr>
                            </m:ctrlPr>
                          </m:sSupPr>
                          <m:e>
                            <m:r>
                              <a:rPr lang="en-US" altLang="zh-CN" sz="2800" b="0" i="1" smtClean="0">
                                <a:solidFill>
                                  <a:prstClr val="black"/>
                                </a:solidFill>
                                <a:latin typeface="Cambria Math" panose="02040503050406030204" pitchFamily="18" charset="0"/>
                              </a:rPr>
                              <m:t>𝑞</m:t>
                            </m:r>
                          </m:e>
                          <m:sup>
                            <m:r>
                              <a:rPr lang="en-US" altLang="zh-CN" sz="2800" b="0" i="1">
                                <a:solidFill>
                                  <a:prstClr val="black"/>
                                </a:solidFill>
                                <a:latin typeface="Cambria Math" panose="02040503050406030204" pitchFamily="18" charset="0"/>
                              </a:rPr>
                              <m:t>2</m:t>
                            </m:r>
                          </m:sup>
                        </m:sSup>
                      </m:num>
                      <m:den>
                        <m:r>
                          <a:rPr lang="en-US" altLang="zh-CN" sz="2800" b="0" i="1" smtClean="0">
                            <a:solidFill>
                              <a:prstClr val="black"/>
                            </a:solidFill>
                            <a:latin typeface="Cambria Math" panose="02040503050406030204" pitchFamily="18" charset="0"/>
                          </a:rPr>
                          <m:t>8</m:t>
                        </m:r>
                        <m:r>
                          <a:rPr lang="zh-CN" altLang="en-US" sz="2800" b="0" i="1">
                            <a:solidFill>
                              <a:prstClr val="black"/>
                            </a:solidFill>
                            <a:latin typeface="Cambria Math" panose="02040503050406030204" pitchFamily="18" charset="0"/>
                          </a:rPr>
                          <m:t>𝜋</m:t>
                        </m:r>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𝜀</m:t>
                            </m:r>
                          </m:e>
                          <m:sub>
                            <m:r>
                              <a:rPr lang="en-US" altLang="zh-CN" sz="2800" b="0" i="1">
                                <a:solidFill>
                                  <a:prstClr val="black"/>
                                </a:solidFill>
                                <a:latin typeface="Cambria Math" panose="02040503050406030204" pitchFamily="18" charset="0"/>
                              </a:rPr>
                              <m:t>0</m:t>
                            </m:r>
                          </m:sub>
                        </m:sSub>
                        <m:r>
                          <a:rPr lang="en-US" altLang="zh-CN" sz="2800" b="0" i="1">
                            <a:solidFill>
                              <a:prstClr val="black"/>
                            </a:solidFill>
                            <a:latin typeface="Cambria Math" panose="02040503050406030204" pitchFamily="18" charset="0"/>
                          </a:rPr>
                          <m:t>𝑅</m:t>
                        </m:r>
                        <m:r>
                          <a:rPr lang="en-US" altLang="zh-CN" sz="2800" b="0" i="1" baseline="-25000" smtClean="0">
                            <a:solidFill>
                              <a:prstClr val="black"/>
                            </a:solidFill>
                            <a:latin typeface="Cambria Math" panose="02040503050406030204" pitchFamily="18" charset="0"/>
                          </a:rPr>
                          <m:t>1</m:t>
                        </m:r>
                      </m:den>
                    </m:f>
                  </m:oMath>
                </a14:m>
                <a:endParaRPr lang="zh-CN" altLang="en-US" sz="2800" dirty="0"/>
              </a:p>
            </p:txBody>
          </p:sp>
        </mc:Choice>
        <mc:Fallback xmlns="">
          <p:sp>
            <p:nvSpPr>
              <p:cNvPr id="39" name="矩形 38">
                <a:extLst>
                  <a:ext uri="{FF2B5EF4-FFF2-40B4-BE49-F238E27FC236}">
                    <a16:creationId xmlns:a16="http://schemas.microsoft.com/office/drawing/2014/main" id="{DD6A7AD6-D9A9-4B07-95EE-5644EF4CB994}"/>
                  </a:ext>
                </a:extLst>
              </p:cNvPr>
              <p:cNvSpPr>
                <a:spLocks noRot="1" noChangeAspect="1" noMove="1" noResize="1" noEditPoints="1" noAdjustHandles="1" noChangeArrowheads="1" noChangeShapeType="1" noTextEdit="1"/>
              </p:cNvSpPr>
              <p:nvPr/>
            </p:nvSpPr>
            <p:spPr>
              <a:xfrm>
                <a:off x="783582" y="3012988"/>
                <a:ext cx="7071551" cy="832023"/>
              </a:xfrm>
              <a:prstGeom prst="rect">
                <a:avLst/>
              </a:prstGeom>
              <a:blipFill>
                <a:blip r:embed="rId2"/>
                <a:stretch>
                  <a:fillRect l="-1810" b="-7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矩形 39">
                <a:extLst>
                  <a:ext uri="{FF2B5EF4-FFF2-40B4-BE49-F238E27FC236}">
                    <a16:creationId xmlns:a16="http://schemas.microsoft.com/office/drawing/2014/main" id="{736674B3-D77B-492C-A865-86768E2668FC}"/>
                  </a:ext>
                </a:extLst>
              </p:cNvPr>
              <p:cNvSpPr/>
              <p:nvPr/>
            </p:nvSpPr>
            <p:spPr>
              <a:xfrm>
                <a:off x="1195556" y="1288065"/>
                <a:ext cx="5379165" cy="817724"/>
              </a:xfrm>
              <a:prstGeom prst="rect">
                <a:avLst/>
              </a:prstGeom>
            </p:spPr>
            <p:txBody>
              <a:bodyPr wrap="none">
                <a:spAutoFit/>
              </a:bodyPr>
              <a:lstStyle/>
              <a:p>
                <a:pPr lvl="0"/>
                <a:r>
                  <a:rPr lang="zh-CN" altLang="en-US" sz="2800" dirty="0">
                    <a:solidFill>
                      <a:srgbClr val="000000"/>
                    </a:solidFill>
                  </a:rPr>
                  <a:t>表面带电球的静电能：</a:t>
                </a:r>
                <a14:m>
                  <m:oMath xmlns:m="http://schemas.openxmlformats.org/officeDocument/2006/math">
                    <m:r>
                      <a:rPr lang="en-US" altLang="zh-CN" sz="2800" b="0" i="1">
                        <a:solidFill>
                          <a:prstClr val="black"/>
                        </a:solidFill>
                        <a:latin typeface="Cambria Math" panose="02040503050406030204" pitchFamily="18" charset="0"/>
                      </a:rPr>
                      <m:t>𝑊</m:t>
                    </m:r>
                    <m:r>
                      <a:rPr lang="en-US" altLang="zh-CN" sz="2800" b="0" i="1">
                        <a:solidFill>
                          <a:prstClr val="black"/>
                        </a:solidFill>
                        <a:latin typeface="Cambria Math" panose="02040503050406030204" pitchFamily="18" charset="0"/>
                      </a:rPr>
                      <m:t>=</m:t>
                    </m:r>
                    <m:f>
                      <m:fPr>
                        <m:ctrlPr>
                          <a:rPr lang="en-US" altLang="zh-CN" sz="2800" i="1">
                            <a:solidFill>
                              <a:prstClr val="black"/>
                            </a:solidFill>
                            <a:latin typeface="Cambria Math" panose="02040503050406030204" pitchFamily="18" charset="0"/>
                          </a:rPr>
                        </m:ctrlPr>
                      </m:fPr>
                      <m:num>
                        <m:sSup>
                          <m:sSupPr>
                            <m:ctrlPr>
                              <a:rPr lang="en-US" altLang="zh-CN" sz="2800" i="1">
                                <a:solidFill>
                                  <a:prstClr val="black"/>
                                </a:solidFill>
                                <a:latin typeface="Cambria Math" panose="02040503050406030204" pitchFamily="18" charset="0"/>
                              </a:rPr>
                            </m:ctrlPr>
                          </m:sSupPr>
                          <m:e>
                            <m:r>
                              <a:rPr lang="en-US" altLang="zh-CN" sz="2800" b="0" i="1">
                                <a:solidFill>
                                  <a:prstClr val="black"/>
                                </a:solidFill>
                                <a:latin typeface="Cambria Math" panose="02040503050406030204" pitchFamily="18" charset="0"/>
                              </a:rPr>
                              <m:t>𝑞</m:t>
                            </m:r>
                          </m:e>
                          <m:sup>
                            <m:r>
                              <a:rPr lang="en-US" altLang="zh-CN" sz="2800" b="0" i="1">
                                <a:solidFill>
                                  <a:prstClr val="black"/>
                                </a:solidFill>
                                <a:latin typeface="Cambria Math" panose="02040503050406030204" pitchFamily="18" charset="0"/>
                              </a:rPr>
                              <m:t>2</m:t>
                            </m:r>
                          </m:sup>
                        </m:sSup>
                      </m:num>
                      <m:den>
                        <m:r>
                          <a:rPr lang="en-US" altLang="zh-CN" sz="2800" b="0" i="1" smtClean="0">
                            <a:solidFill>
                              <a:prstClr val="black"/>
                            </a:solidFill>
                            <a:latin typeface="Cambria Math" panose="02040503050406030204" pitchFamily="18" charset="0"/>
                          </a:rPr>
                          <m:t>8</m:t>
                        </m:r>
                        <m:r>
                          <a:rPr lang="zh-CN" altLang="en-US" sz="2800" b="0" i="1">
                            <a:solidFill>
                              <a:prstClr val="black"/>
                            </a:solidFill>
                            <a:latin typeface="Cambria Math" panose="02040503050406030204" pitchFamily="18" charset="0"/>
                          </a:rPr>
                          <m:t>𝜋</m:t>
                        </m:r>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𝜀</m:t>
                            </m:r>
                          </m:e>
                          <m:sub>
                            <m:r>
                              <a:rPr lang="en-US" altLang="zh-CN" sz="2800" b="0" i="1">
                                <a:solidFill>
                                  <a:prstClr val="black"/>
                                </a:solidFill>
                                <a:latin typeface="Cambria Math" panose="02040503050406030204" pitchFamily="18" charset="0"/>
                              </a:rPr>
                              <m:t>0</m:t>
                            </m:r>
                          </m:sub>
                        </m:sSub>
                        <m:r>
                          <a:rPr lang="en-US" altLang="zh-CN" sz="2800" b="0" i="1">
                            <a:solidFill>
                              <a:prstClr val="black"/>
                            </a:solidFill>
                            <a:latin typeface="Cambria Math" panose="02040503050406030204" pitchFamily="18" charset="0"/>
                          </a:rPr>
                          <m:t>𝑅</m:t>
                        </m:r>
                      </m:den>
                    </m:f>
                  </m:oMath>
                </a14:m>
                <a:endParaRPr lang="en-US" altLang="zh-CN" sz="2800" dirty="0"/>
              </a:p>
            </p:txBody>
          </p:sp>
        </mc:Choice>
        <mc:Fallback xmlns="">
          <p:sp>
            <p:nvSpPr>
              <p:cNvPr id="40" name="矩形 39">
                <a:extLst>
                  <a:ext uri="{FF2B5EF4-FFF2-40B4-BE49-F238E27FC236}">
                    <a16:creationId xmlns:a16="http://schemas.microsoft.com/office/drawing/2014/main" id="{736674B3-D77B-492C-A865-86768E2668FC}"/>
                  </a:ext>
                </a:extLst>
              </p:cNvPr>
              <p:cNvSpPr>
                <a:spLocks noRot="1" noChangeAspect="1" noMove="1" noResize="1" noEditPoints="1" noAdjustHandles="1" noChangeArrowheads="1" noChangeShapeType="1" noTextEdit="1"/>
              </p:cNvSpPr>
              <p:nvPr/>
            </p:nvSpPr>
            <p:spPr>
              <a:xfrm>
                <a:off x="1195556" y="1288065"/>
                <a:ext cx="5379165" cy="817724"/>
              </a:xfrm>
              <a:prstGeom prst="rect">
                <a:avLst/>
              </a:prstGeom>
              <a:blipFill>
                <a:blip r:embed="rId3"/>
                <a:stretch>
                  <a:fillRect l="-2265" b="-29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E686CF6D-A388-4D19-B9CE-43848693C4D4}"/>
                  </a:ext>
                </a:extLst>
              </p:cNvPr>
              <p:cNvSpPr/>
              <p:nvPr/>
            </p:nvSpPr>
            <p:spPr>
              <a:xfrm>
                <a:off x="802519" y="4816829"/>
                <a:ext cx="7288085" cy="832023"/>
              </a:xfrm>
              <a:prstGeom prst="rect">
                <a:avLst/>
              </a:prstGeom>
            </p:spPr>
            <p:txBody>
              <a:bodyPr wrap="none">
                <a:spAutoFit/>
              </a:bodyPr>
              <a:lstStyle/>
              <a:p>
                <a:r>
                  <a:rPr lang="zh-CN" altLang="en-US" sz="2800" dirty="0">
                    <a:solidFill>
                      <a:srgbClr val="000000"/>
                    </a:solidFill>
                  </a:rPr>
                  <a:t>膨胀前后减少的静电能：</a:t>
                </a:r>
                <a14:m>
                  <m:oMath xmlns:m="http://schemas.openxmlformats.org/officeDocument/2006/math">
                    <m:r>
                      <a:rPr lang="en-US" altLang="zh-CN" sz="2800" b="0" i="1">
                        <a:solidFill>
                          <a:prstClr val="black"/>
                        </a:solidFill>
                        <a:latin typeface="Cambria Math" panose="02040503050406030204" pitchFamily="18" charset="0"/>
                      </a:rPr>
                      <m:t>−</m:t>
                    </m:r>
                    <m:r>
                      <a:rPr lang="en-US" altLang="zh-CN" sz="2800" b="0" i="1">
                        <a:solidFill>
                          <a:prstClr val="black"/>
                        </a:solidFill>
                        <a:latin typeface="Cambria Math" panose="02040503050406030204" pitchFamily="18" charset="0"/>
                      </a:rPr>
                      <m:t>𝑊</m:t>
                    </m:r>
                    <m:r>
                      <a:rPr lang="en-US" altLang="zh-CN" sz="2800" b="0" i="1">
                        <a:solidFill>
                          <a:prstClr val="black"/>
                        </a:solidFill>
                        <a:latin typeface="Cambria Math" panose="02040503050406030204" pitchFamily="18" charset="0"/>
                      </a:rPr>
                      <m:t>=</m:t>
                    </m:r>
                    <m:f>
                      <m:fPr>
                        <m:ctrlPr>
                          <a:rPr lang="en-US" altLang="zh-CN" sz="2800" i="1">
                            <a:solidFill>
                              <a:prstClr val="black"/>
                            </a:solidFill>
                            <a:latin typeface="Cambria Math" panose="02040503050406030204" pitchFamily="18" charset="0"/>
                          </a:rPr>
                        </m:ctrlPr>
                      </m:fPr>
                      <m:num>
                        <m:sSup>
                          <m:sSupPr>
                            <m:ctrlPr>
                              <a:rPr lang="en-US" altLang="zh-CN" sz="2800" i="1" smtClean="0">
                                <a:solidFill>
                                  <a:prstClr val="black"/>
                                </a:solidFill>
                                <a:latin typeface="Cambria Math" panose="02040503050406030204" pitchFamily="18" charset="0"/>
                              </a:rPr>
                            </m:ctrlPr>
                          </m:sSupPr>
                          <m:e>
                            <m:r>
                              <a:rPr lang="en-US" altLang="zh-CN" sz="2800" b="0" i="1" smtClean="0">
                                <a:solidFill>
                                  <a:prstClr val="black"/>
                                </a:solidFill>
                                <a:latin typeface="Cambria Math" panose="02040503050406030204" pitchFamily="18" charset="0"/>
                              </a:rPr>
                              <m:t>𝑞</m:t>
                            </m:r>
                          </m:e>
                          <m:sup>
                            <m:r>
                              <a:rPr lang="en-US" altLang="zh-CN" sz="2800" b="0" i="1">
                                <a:solidFill>
                                  <a:prstClr val="black"/>
                                </a:solidFill>
                                <a:latin typeface="Cambria Math" panose="02040503050406030204" pitchFamily="18" charset="0"/>
                              </a:rPr>
                              <m:t>2</m:t>
                            </m:r>
                          </m:sup>
                        </m:sSup>
                      </m:num>
                      <m:den>
                        <m:r>
                          <a:rPr lang="en-US" altLang="zh-CN" sz="2800" b="0" i="1" smtClean="0">
                            <a:solidFill>
                              <a:prstClr val="black"/>
                            </a:solidFill>
                            <a:latin typeface="Cambria Math" panose="02040503050406030204" pitchFamily="18" charset="0"/>
                          </a:rPr>
                          <m:t>8</m:t>
                        </m:r>
                        <m:r>
                          <a:rPr lang="zh-CN" altLang="en-US" sz="2800" b="0" i="1">
                            <a:solidFill>
                              <a:prstClr val="black"/>
                            </a:solidFill>
                            <a:latin typeface="Cambria Math" panose="02040503050406030204" pitchFamily="18" charset="0"/>
                          </a:rPr>
                          <m:t>𝜋</m:t>
                        </m:r>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𝜀</m:t>
                            </m:r>
                          </m:e>
                          <m:sub>
                            <m:r>
                              <a:rPr lang="en-US" altLang="zh-CN" sz="2800" b="0" i="1">
                                <a:solidFill>
                                  <a:prstClr val="black"/>
                                </a:solidFill>
                                <a:latin typeface="Cambria Math" panose="02040503050406030204" pitchFamily="18" charset="0"/>
                              </a:rPr>
                              <m:t>0</m:t>
                            </m:r>
                          </m:sub>
                        </m:sSub>
                        <m:r>
                          <a:rPr lang="en-US" altLang="zh-CN" sz="2800" b="0" i="1">
                            <a:solidFill>
                              <a:prstClr val="black"/>
                            </a:solidFill>
                            <a:latin typeface="Cambria Math" panose="02040503050406030204" pitchFamily="18" charset="0"/>
                          </a:rPr>
                          <m:t>𝑅</m:t>
                        </m:r>
                        <m:r>
                          <a:rPr lang="en-US" altLang="zh-CN" sz="2800" b="0" i="1" baseline="-25000" smtClean="0">
                            <a:solidFill>
                              <a:prstClr val="black"/>
                            </a:solidFill>
                            <a:latin typeface="Cambria Math" panose="02040503050406030204" pitchFamily="18" charset="0"/>
                          </a:rPr>
                          <m:t>1</m:t>
                        </m:r>
                      </m:den>
                    </m:f>
                    <m:r>
                      <a:rPr lang="en-US" altLang="zh-CN" sz="2800" b="0" i="1" smtClean="0">
                        <a:solidFill>
                          <a:prstClr val="black"/>
                        </a:solidFill>
                        <a:latin typeface="Cambria Math" panose="02040503050406030204" pitchFamily="18" charset="0"/>
                      </a:rPr>
                      <m:t>−</m:t>
                    </m:r>
                    <m:f>
                      <m:fPr>
                        <m:ctrlPr>
                          <a:rPr lang="en-US" altLang="zh-CN" sz="2800" i="1">
                            <a:solidFill>
                              <a:prstClr val="black"/>
                            </a:solidFill>
                            <a:latin typeface="Cambria Math" panose="02040503050406030204" pitchFamily="18" charset="0"/>
                          </a:rPr>
                        </m:ctrlPr>
                      </m:fPr>
                      <m:num>
                        <m:sSup>
                          <m:sSupPr>
                            <m:ctrlPr>
                              <a:rPr lang="en-US" altLang="zh-CN" sz="2800" i="1">
                                <a:solidFill>
                                  <a:prstClr val="black"/>
                                </a:solidFill>
                                <a:latin typeface="Cambria Math" panose="02040503050406030204" pitchFamily="18" charset="0"/>
                              </a:rPr>
                            </m:ctrlPr>
                          </m:sSupPr>
                          <m:e>
                            <m:r>
                              <a:rPr lang="en-US" altLang="zh-CN" sz="2800" b="0" i="1" smtClean="0">
                                <a:solidFill>
                                  <a:prstClr val="black"/>
                                </a:solidFill>
                                <a:latin typeface="Cambria Math" panose="02040503050406030204" pitchFamily="18" charset="0"/>
                              </a:rPr>
                              <m:t>𝑞</m:t>
                            </m:r>
                          </m:e>
                          <m:sup>
                            <m:r>
                              <a:rPr lang="en-US" altLang="zh-CN" sz="2800" b="0" i="1">
                                <a:solidFill>
                                  <a:prstClr val="black"/>
                                </a:solidFill>
                                <a:latin typeface="Cambria Math" panose="02040503050406030204" pitchFamily="18" charset="0"/>
                              </a:rPr>
                              <m:t>2</m:t>
                            </m:r>
                          </m:sup>
                        </m:sSup>
                      </m:num>
                      <m:den>
                        <m:r>
                          <a:rPr lang="en-US" altLang="zh-CN" sz="2800" b="0" i="1" smtClean="0">
                            <a:solidFill>
                              <a:prstClr val="black"/>
                            </a:solidFill>
                            <a:latin typeface="Cambria Math" panose="02040503050406030204" pitchFamily="18" charset="0"/>
                          </a:rPr>
                          <m:t>8</m:t>
                        </m:r>
                        <m:r>
                          <a:rPr lang="zh-CN" altLang="en-US" sz="2800" b="0" i="1">
                            <a:solidFill>
                              <a:prstClr val="black"/>
                            </a:solidFill>
                            <a:latin typeface="Cambria Math" panose="02040503050406030204" pitchFamily="18" charset="0"/>
                          </a:rPr>
                          <m:t>𝜋</m:t>
                        </m:r>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𝜀</m:t>
                            </m:r>
                          </m:e>
                          <m:sub>
                            <m:r>
                              <a:rPr lang="en-US" altLang="zh-CN" sz="2800" b="0" i="1">
                                <a:solidFill>
                                  <a:prstClr val="black"/>
                                </a:solidFill>
                                <a:latin typeface="Cambria Math" panose="02040503050406030204" pitchFamily="18" charset="0"/>
                              </a:rPr>
                              <m:t>0</m:t>
                            </m:r>
                          </m:sub>
                        </m:sSub>
                        <m:r>
                          <a:rPr lang="en-US" altLang="zh-CN" sz="2800" b="0" i="1">
                            <a:solidFill>
                              <a:prstClr val="black"/>
                            </a:solidFill>
                            <a:latin typeface="Cambria Math" panose="02040503050406030204" pitchFamily="18" charset="0"/>
                          </a:rPr>
                          <m:t>𝑅</m:t>
                        </m:r>
                        <m:r>
                          <a:rPr lang="en-US" altLang="zh-CN" sz="2800" b="0" i="1" baseline="-25000" smtClean="0">
                            <a:solidFill>
                              <a:prstClr val="black"/>
                            </a:solidFill>
                            <a:latin typeface="Cambria Math" panose="02040503050406030204" pitchFamily="18" charset="0"/>
                          </a:rPr>
                          <m:t>2</m:t>
                        </m:r>
                      </m:den>
                    </m:f>
                  </m:oMath>
                </a14:m>
                <a:endParaRPr lang="en-US" sz="2800" dirty="0"/>
              </a:p>
            </p:txBody>
          </p:sp>
        </mc:Choice>
        <mc:Fallback xmlns="">
          <p:sp>
            <p:nvSpPr>
              <p:cNvPr id="41" name="矩形 40">
                <a:extLst>
                  <a:ext uri="{FF2B5EF4-FFF2-40B4-BE49-F238E27FC236}">
                    <a16:creationId xmlns:a16="http://schemas.microsoft.com/office/drawing/2014/main" id="{E686CF6D-A388-4D19-B9CE-43848693C4D4}"/>
                  </a:ext>
                </a:extLst>
              </p:cNvPr>
              <p:cNvSpPr>
                <a:spLocks noRot="1" noChangeAspect="1" noMove="1" noResize="1" noEditPoints="1" noAdjustHandles="1" noChangeArrowheads="1" noChangeShapeType="1" noTextEdit="1"/>
              </p:cNvSpPr>
              <p:nvPr/>
            </p:nvSpPr>
            <p:spPr>
              <a:xfrm>
                <a:off x="802519" y="4816829"/>
                <a:ext cx="7288085" cy="832023"/>
              </a:xfrm>
              <a:prstGeom prst="rect">
                <a:avLst/>
              </a:prstGeom>
              <a:blipFill>
                <a:blip r:embed="rId4"/>
                <a:stretch>
                  <a:fillRect l="-1757" b="-7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DDDCFFE5-96AD-4CF0-9D1B-E1AC3A3D6EE3}"/>
                  </a:ext>
                </a:extLst>
              </p:cNvPr>
              <p:cNvSpPr/>
              <p:nvPr/>
            </p:nvSpPr>
            <p:spPr>
              <a:xfrm>
                <a:off x="1300927" y="3885751"/>
                <a:ext cx="4484754" cy="817724"/>
              </a:xfrm>
              <a:prstGeom prst="rect">
                <a:avLst/>
              </a:prstGeom>
            </p:spPr>
            <p:txBody>
              <a:bodyPr wrap="none">
                <a:spAutoFit/>
              </a:bodyPr>
              <a:lstStyle/>
              <a:p>
                <a:r>
                  <a:rPr lang="zh-CN" altLang="en-US" sz="2800" dirty="0">
                    <a:solidFill>
                      <a:srgbClr val="000000"/>
                    </a:solidFill>
                  </a:rPr>
                  <a:t>膨胀后静电能： </a:t>
                </a:r>
                <a14:m>
                  <m:oMath xmlns:m="http://schemas.openxmlformats.org/officeDocument/2006/math">
                    <m:r>
                      <a:rPr lang="en-US" altLang="zh-CN" sz="2800" b="0" i="1">
                        <a:solidFill>
                          <a:prstClr val="black"/>
                        </a:solidFill>
                        <a:latin typeface="Cambria Math" panose="02040503050406030204" pitchFamily="18" charset="0"/>
                      </a:rPr>
                      <m:t>𝑊</m:t>
                    </m:r>
                    <m:r>
                      <a:rPr lang="en-US" altLang="zh-CN" sz="2800" b="0" i="1">
                        <a:solidFill>
                          <a:prstClr val="black"/>
                        </a:solidFill>
                        <a:latin typeface="Cambria Math" panose="02040503050406030204" pitchFamily="18" charset="0"/>
                      </a:rPr>
                      <m:t>=</m:t>
                    </m:r>
                    <m:f>
                      <m:fPr>
                        <m:ctrlPr>
                          <a:rPr lang="en-US" altLang="zh-CN" sz="2800" i="1">
                            <a:solidFill>
                              <a:prstClr val="black"/>
                            </a:solidFill>
                            <a:latin typeface="Cambria Math" panose="02040503050406030204" pitchFamily="18" charset="0"/>
                          </a:rPr>
                        </m:ctrlPr>
                      </m:fPr>
                      <m:num>
                        <m:sSup>
                          <m:sSupPr>
                            <m:ctrlPr>
                              <a:rPr lang="en-US" altLang="zh-CN" sz="2800" i="1">
                                <a:solidFill>
                                  <a:prstClr val="black"/>
                                </a:solidFill>
                                <a:latin typeface="Cambria Math" panose="02040503050406030204" pitchFamily="18" charset="0"/>
                              </a:rPr>
                            </m:ctrlPr>
                          </m:sSupPr>
                          <m:e>
                            <m:r>
                              <a:rPr lang="en-US" altLang="zh-CN" sz="2800" b="0" i="1" smtClean="0">
                                <a:solidFill>
                                  <a:prstClr val="black"/>
                                </a:solidFill>
                                <a:latin typeface="Cambria Math" panose="02040503050406030204" pitchFamily="18" charset="0"/>
                              </a:rPr>
                              <m:t>𝑞</m:t>
                            </m:r>
                          </m:e>
                          <m:sup>
                            <m:r>
                              <a:rPr lang="en-US" altLang="zh-CN" sz="2800" b="0" i="1">
                                <a:solidFill>
                                  <a:prstClr val="black"/>
                                </a:solidFill>
                                <a:latin typeface="Cambria Math" panose="02040503050406030204" pitchFamily="18" charset="0"/>
                              </a:rPr>
                              <m:t>2</m:t>
                            </m:r>
                          </m:sup>
                        </m:sSup>
                      </m:num>
                      <m:den>
                        <m:r>
                          <a:rPr lang="en-US" altLang="zh-CN" sz="2800" b="0" i="1" smtClean="0">
                            <a:solidFill>
                              <a:prstClr val="black"/>
                            </a:solidFill>
                            <a:latin typeface="Cambria Math" panose="02040503050406030204" pitchFamily="18" charset="0"/>
                          </a:rPr>
                          <m:t>8</m:t>
                        </m:r>
                        <m:r>
                          <a:rPr lang="zh-CN" altLang="en-US" sz="2800" b="0" i="1">
                            <a:solidFill>
                              <a:prstClr val="black"/>
                            </a:solidFill>
                            <a:latin typeface="Cambria Math" panose="02040503050406030204" pitchFamily="18" charset="0"/>
                          </a:rPr>
                          <m:t>𝜋</m:t>
                        </m:r>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𝜀</m:t>
                            </m:r>
                          </m:e>
                          <m:sub>
                            <m:r>
                              <a:rPr lang="en-US" altLang="zh-CN" sz="2800" b="0" i="1">
                                <a:solidFill>
                                  <a:prstClr val="black"/>
                                </a:solidFill>
                                <a:latin typeface="Cambria Math" panose="02040503050406030204" pitchFamily="18" charset="0"/>
                              </a:rPr>
                              <m:t>0</m:t>
                            </m:r>
                          </m:sub>
                        </m:sSub>
                        <m:r>
                          <a:rPr lang="en-US" altLang="zh-CN" sz="2800" b="0" i="1">
                            <a:solidFill>
                              <a:prstClr val="black"/>
                            </a:solidFill>
                            <a:latin typeface="Cambria Math" panose="02040503050406030204" pitchFamily="18" charset="0"/>
                          </a:rPr>
                          <m:t>𝑅</m:t>
                        </m:r>
                        <m:r>
                          <a:rPr lang="en-US" altLang="zh-CN" sz="2800" b="0" i="1" baseline="-25000" smtClean="0">
                            <a:solidFill>
                              <a:prstClr val="black"/>
                            </a:solidFill>
                            <a:latin typeface="Cambria Math" panose="02040503050406030204" pitchFamily="18" charset="0"/>
                          </a:rPr>
                          <m:t>2</m:t>
                        </m:r>
                      </m:den>
                    </m:f>
                  </m:oMath>
                </a14:m>
                <a:endParaRPr lang="en-US" sz="2800" dirty="0"/>
              </a:p>
            </p:txBody>
          </p:sp>
        </mc:Choice>
        <mc:Fallback xmlns="">
          <p:sp>
            <p:nvSpPr>
              <p:cNvPr id="42" name="矩形 41">
                <a:extLst>
                  <a:ext uri="{FF2B5EF4-FFF2-40B4-BE49-F238E27FC236}">
                    <a16:creationId xmlns:a16="http://schemas.microsoft.com/office/drawing/2014/main" id="{DDDCFFE5-96AD-4CF0-9D1B-E1AC3A3D6EE3}"/>
                  </a:ext>
                </a:extLst>
              </p:cNvPr>
              <p:cNvSpPr>
                <a:spLocks noRot="1" noChangeAspect="1" noMove="1" noResize="1" noEditPoints="1" noAdjustHandles="1" noChangeArrowheads="1" noChangeShapeType="1" noTextEdit="1"/>
              </p:cNvSpPr>
              <p:nvPr/>
            </p:nvSpPr>
            <p:spPr>
              <a:xfrm>
                <a:off x="1300927" y="3885751"/>
                <a:ext cx="4484754" cy="817724"/>
              </a:xfrm>
              <a:prstGeom prst="rect">
                <a:avLst/>
              </a:prstGeom>
              <a:blipFill>
                <a:blip r:embed="rId5"/>
                <a:stretch>
                  <a:fillRect l="-2717" b="-2222"/>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AFFBDEC4-4AAF-0525-7C7A-29BD3178100C}"/>
              </a:ext>
            </a:extLst>
          </p:cNvPr>
          <p:cNvSpPr/>
          <p:nvPr/>
        </p:nvSpPr>
        <p:spPr>
          <a:xfrm>
            <a:off x="783582" y="2350338"/>
            <a:ext cx="4935967" cy="523220"/>
          </a:xfrm>
          <a:prstGeom prst="rect">
            <a:avLst/>
          </a:prstGeom>
        </p:spPr>
        <p:txBody>
          <a:bodyPr wrap="none">
            <a:spAutoFit/>
          </a:bodyPr>
          <a:lstStyle/>
          <a:p>
            <a:r>
              <a:rPr lang="zh-CN" altLang="en-US" sz="2800" dirty="0">
                <a:solidFill>
                  <a:srgbClr val="000000"/>
                </a:solidFill>
              </a:rPr>
              <a:t>假设有一均与带电的橡皮气球</a:t>
            </a:r>
            <a:endParaRPr lang="zh-CN" altLang="en-US" sz="2800" dirty="0"/>
          </a:p>
        </p:txBody>
      </p:sp>
    </p:spTree>
    <p:extLst>
      <p:ext uri="{BB962C8B-B14F-4D97-AF65-F5344CB8AC3E}">
        <p14:creationId xmlns:p14="http://schemas.microsoft.com/office/powerpoint/2010/main" val="327655095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8" grpId="0"/>
      <p:bldP spid="39" grpId="0"/>
      <p:bldP spid="41" grpId="0"/>
      <p:bldP spid="42" grpId="0"/>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15C79B98-CDAA-4619-A5F6-1E9396826686}"/>
              </a:ext>
            </a:extLst>
          </p:cNvPr>
          <p:cNvSpPr>
            <a:spLocks noGrp="1"/>
          </p:cNvSpPr>
          <p:nvPr>
            <p:ph type="title"/>
          </p:nvPr>
        </p:nvSpPr>
        <p:spPr>
          <a:xfrm>
            <a:off x="649393" y="781906"/>
            <a:ext cx="5061373" cy="746328"/>
          </a:xfrm>
        </p:spPr>
        <p:txBody>
          <a:bodyPr>
            <a:noAutofit/>
          </a:bodyPr>
          <a:lstStyle/>
          <a:p>
            <a:pPr marL="571500" indent="-571500" algn="ctr">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静电场的能量</a:t>
            </a:r>
            <a:br>
              <a:rPr lang="en-US" altLang="zh-CN" sz="3200" b="1" dirty="0">
                <a:solidFill>
                  <a:srgbClr val="0066FF"/>
                </a:solidFill>
                <a:latin typeface="华文楷体" panose="02010600040101010101" pitchFamily="2" charset="-122"/>
                <a:ea typeface="华文楷体" panose="02010600040101010101" pitchFamily="2" charset="-122"/>
              </a:rPr>
            </a:br>
            <a:endParaRPr lang="zh-CN" altLang="en-US" sz="3200" b="1" dirty="0">
              <a:solidFill>
                <a:srgbClr val="0066FF"/>
              </a:solidFill>
              <a:latin typeface="华文楷体" panose="02010600040101010101" pitchFamily="2" charset="-122"/>
              <a:ea typeface="华文楷体" panose="02010600040101010101" pitchFamily="2" charset="-122"/>
            </a:endParaRPr>
          </a:p>
        </p:txBody>
      </p:sp>
      <p:cxnSp>
        <p:nvCxnSpPr>
          <p:cNvPr id="33" name="直接连接符 32">
            <a:extLst>
              <a:ext uri="{FF2B5EF4-FFF2-40B4-BE49-F238E27FC236}">
                <a16:creationId xmlns:a16="http://schemas.microsoft.com/office/drawing/2014/main" id="{E45A57CB-DF2B-4129-8C5C-FABCA8797619}"/>
              </a:ext>
            </a:extLst>
          </p:cNvPr>
          <p:cNvCxnSpPr>
            <a:endCxn id="3" idx="6"/>
          </p:cNvCxnSpPr>
          <p:nvPr/>
        </p:nvCxnSpPr>
        <p:spPr>
          <a:xfrm>
            <a:off x="10069078" y="2529417"/>
            <a:ext cx="1140884" cy="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C31739E3-11E6-49CB-8D17-D738B17FA8E3}"/>
              </a:ext>
            </a:extLst>
          </p:cNvPr>
          <p:cNvSpPr txBox="1"/>
          <p:nvPr/>
        </p:nvSpPr>
        <p:spPr>
          <a:xfrm>
            <a:off x="10279852" y="2522579"/>
            <a:ext cx="620548" cy="523220"/>
          </a:xfrm>
          <a:prstGeom prst="rect">
            <a:avLst/>
          </a:prstGeom>
          <a:noFill/>
        </p:spPr>
        <p:txBody>
          <a:bodyPr wrap="square" rtlCol="0">
            <a:spAutoFit/>
          </a:bodyPr>
          <a:lstStyle/>
          <a:p>
            <a:r>
              <a:rPr lang="en-US" sz="2800" dirty="0"/>
              <a:t>R1</a:t>
            </a:r>
          </a:p>
        </p:txBody>
      </p:sp>
      <p:sp>
        <p:nvSpPr>
          <p:cNvPr id="38" name="文本框 37">
            <a:extLst>
              <a:ext uri="{FF2B5EF4-FFF2-40B4-BE49-F238E27FC236}">
                <a16:creationId xmlns:a16="http://schemas.microsoft.com/office/drawing/2014/main" id="{4892A07C-CAE9-41CD-9100-5CB51A60C5E3}"/>
              </a:ext>
            </a:extLst>
          </p:cNvPr>
          <p:cNvSpPr txBox="1"/>
          <p:nvPr/>
        </p:nvSpPr>
        <p:spPr>
          <a:xfrm>
            <a:off x="9958552" y="1612927"/>
            <a:ext cx="620548" cy="523220"/>
          </a:xfrm>
          <a:prstGeom prst="rect">
            <a:avLst/>
          </a:prstGeom>
          <a:noFill/>
        </p:spPr>
        <p:txBody>
          <a:bodyPr wrap="square" rtlCol="0">
            <a:spAutoFit/>
          </a:bodyPr>
          <a:lstStyle/>
          <a:p>
            <a:r>
              <a:rPr lang="en-US" sz="2800" dirty="0"/>
              <a:t>R2</a:t>
            </a:r>
          </a:p>
        </p:txBody>
      </p:sp>
      <p:sp>
        <p:nvSpPr>
          <p:cNvPr id="43" name="矩形 42">
            <a:extLst>
              <a:ext uri="{FF2B5EF4-FFF2-40B4-BE49-F238E27FC236}">
                <a16:creationId xmlns:a16="http://schemas.microsoft.com/office/drawing/2014/main" id="{0DDF6096-9E90-401A-924A-D73BA5C6F14B}"/>
              </a:ext>
            </a:extLst>
          </p:cNvPr>
          <p:cNvSpPr/>
          <p:nvPr/>
        </p:nvSpPr>
        <p:spPr>
          <a:xfrm>
            <a:off x="1902393" y="1660455"/>
            <a:ext cx="1980029" cy="523220"/>
          </a:xfrm>
          <a:prstGeom prst="rect">
            <a:avLst/>
          </a:prstGeom>
        </p:spPr>
        <p:txBody>
          <a:bodyPr wrap="none">
            <a:spAutoFit/>
          </a:bodyPr>
          <a:lstStyle/>
          <a:p>
            <a:r>
              <a:rPr lang="zh-CN" altLang="en-US" sz="2800" dirty="0">
                <a:cs typeface="Times New Roman" panose="02020603050405020304" pitchFamily="18" charset="0"/>
              </a:rPr>
              <a:t>电场分布：</a:t>
            </a:r>
            <a:endParaRPr lang="en-US" sz="2800" dirty="0"/>
          </a:p>
        </p:txBody>
      </p:sp>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id="{4FB181AA-C616-4F0D-B31B-0DA8EC3A56C3}"/>
                  </a:ext>
                </a:extLst>
              </p:cNvPr>
              <p:cNvSpPr/>
              <p:nvPr/>
            </p:nvSpPr>
            <p:spPr>
              <a:xfrm>
                <a:off x="2048704" y="2176886"/>
                <a:ext cx="3814269" cy="1536318"/>
              </a:xfrm>
              <a:prstGeom prst="rect">
                <a:avLst/>
              </a:prstGeom>
            </p:spPr>
            <p:txBody>
              <a:bodyPr wrap="square">
                <a:spAutoFit/>
              </a:bodyPr>
              <a:lstStyle/>
              <a:p>
                <a:r>
                  <a:rPr lang="en-US" altLang="zh-CN" sz="2800" dirty="0"/>
                  <a:t>- </a:t>
                </a:r>
                <a14:m>
                  <m:oMath xmlns:m="http://schemas.openxmlformats.org/officeDocument/2006/math">
                    <m:r>
                      <a:rPr lang="en-US" altLang="zh-CN" sz="2800" b="0" i="1" dirty="0" smtClean="0">
                        <a:latin typeface="Cambria Math" panose="02040503050406030204" pitchFamily="18" charset="0"/>
                      </a:rPr>
                      <m:t>𝑟</m:t>
                    </m:r>
                    <m:r>
                      <a:rPr lang="en-US" altLang="zh-CN" sz="2800" b="0" i="1" dirty="0">
                        <a:latin typeface="Cambria Math" panose="02040503050406030204" pitchFamily="18" charset="0"/>
                      </a:rPr>
                      <m:t>&lt;</m:t>
                    </m:r>
                    <m:r>
                      <a:rPr lang="en-US" altLang="zh-CN" sz="2800" b="0" i="1" dirty="0">
                        <a:latin typeface="Cambria Math" panose="02040503050406030204" pitchFamily="18" charset="0"/>
                      </a:rPr>
                      <m:t>𝑅</m:t>
                    </m:r>
                  </m:oMath>
                </a14:m>
                <a:r>
                  <a:rPr lang="zh-CN" altLang="en-US" sz="2800" dirty="0">
                    <a:cs typeface="Times New Roman" panose="02020603050405020304" pitchFamily="18" charset="0"/>
                    <a:sym typeface="Symbol" panose="05050102010706020507" pitchFamily="18" charset="2"/>
                  </a:rPr>
                  <a:t>时，</a:t>
                </a:r>
                <a14:m>
                  <m:oMath xmlns:m="http://schemas.openxmlformats.org/officeDocument/2006/math">
                    <m:r>
                      <a:rPr lang="en-US" altLang="zh-CN" sz="2800" b="0" i="1" dirty="0" smtClean="0">
                        <a:solidFill>
                          <a:srgbClr val="0066FF"/>
                        </a:solidFill>
                        <a:latin typeface="Cambria Math" panose="02040503050406030204" pitchFamily="18" charset="0"/>
                      </a:rPr>
                      <m:t>𝐸</m:t>
                    </m:r>
                    <m:r>
                      <a:rPr lang="en-US" altLang="zh-CN" sz="2800" b="0" i="1" dirty="0" smtClean="0">
                        <a:solidFill>
                          <a:srgbClr val="0066FF"/>
                        </a:solidFill>
                        <a:latin typeface="Cambria Math" panose="02040503050406030204" pitchFamily="18" charset="0"/>
                      </a:rPr>
                      <m:t>=</m:t>
                    </m:r>
                    <m:r>
                      <a:rPr lang="en-US" altLang="zh-CN" sz="2800" b="0" i="1" dirty="0" smtClean="0">
                        <a:solidFill>
                          <a:srgbClr val="0066FF"/>
                        </a:solidFill>
                        <a:latin typeface="Cambria Math" panose="02040503050406030204" pitchFamily="18" charset="0"/>
                      </a:rPr>
                      <m:t>0</m:t>
                    </m:r>
                  </m:oMath>
                </a14:m>
                <a:endParaRPr lang="en-US" altLang="zh-CN" sz="2800" dirty="0">
                  <a:cs typeface="Times New Roman" panose="02020603050405020304" pitchFamily="18" charset="0"/>
                </a:endParaRPr>
              </a:p>
              <a:p>
                <a:pPr>
                  <a:spcBef>
                    <a:spcPct val="50000"/>
                  </a:spcBef>
                </a:pPr>
                <a:r>
                  <a:rPr lang="en-US" altLang="zh-CN" sz="2800" dirty="0"/>
                  <a:t>- </a:t>
                </a:r>
                <a14:m>
                  <m:oMath xmlns:m="http://schemas.openxmlformats.org/officeDocument/2006/math">
                    <m:r>
                      <a:rPr lang="en-US" altLang="zh-CN" sz="2800" b="0" i="1" dirty="0">
                        <a:latin typeface="Cambria Math" panose="02040503050406030204" pitchFamily="18" charset="0"/>
                      </a:rPr>
                      <m:t>𝑟</m:t>
                    </m:r>
                    <m:r>
                      <a:rPr lang="en-US" altLang="zh-CN" sz="2800" b="0" i="1" dirty="0">
                        <a:latin typeface="Cambria Math" panose="02040503050406030204" pitchFamily="18" charset="0"/>
                        <a:sym typeface="Symbol" panose="05050102010706020507" pitchFamily="18" charset="2"/>
                      </a:rPr>
                      <m:t>&gt;</m:t>
                    </m:r>
                    <m:r>
                      <a:rPr lang="en-US" altLang="zh-CN" sz="2800" b="0" i="1" dirty="0">
                        <a:latin typeface="Cambria Math" panose="02040503050406030204" pitchFamily="18" charset="0"/>
                        <a:sym typeface="Symbol" panose="05050102010706020507" pitchFamily="18" charset="2"/>
                      </a:rPr>
                      <m:t>𝑅</m:t>
                    </m:r>
                  </m:oMath>
                </a14:m>
                <a:r>
                  <a:rPr lang="zh-CN" altLang="en-US" sz="2800" dirty="0">
                    <a:cs typeface="Times New Roman" panose="02020603050405020304" pitchFamily="18" charset="0"/>
                    <a:sym typeface="Symbol" panose="05050102010706020507" pitchFamily="18" charset="2"/>
                  </a:rPr>
                  <a:t>时，</a:t>
                </a:r>
                <a14:m>
                  <m:oMath xmlns:m="http://schemas.openxmlformats.org/officeDocument/2006/math">
                    <m:r>
                      <a:rPr lang="en-US" altLang="zh-CN" sz="2800" b="0" i="1" smtClean="0">
                        <a:solidFill>
                          <a:srgbClr val="0066FF"/>
                        </a:solidFill>
                        <a:latin typeface="Cambria Math" panose="02040503050406030204" pitchFamily="18" charset="0"/>
                      </a:rPr>
                      <m:t>𝐸</m:t>
                    </m:r>
                    <m:r>
                      <a:rPr lang="en-US" altLang="zh-CN" sz="2800" b="0" i="1" smtClean="0">
                        <a:solidFill>
                          <a:srgbClr val="0066FF"/>
                        </a:solidFill>
                        <a:latin typeface="Cambria Math" panose="02040503050406030204" pitchFamily="18" charset="0"/>
                      </a:rPr>
                      <m:t>=</m:t>
                    </m:r>
                    <m:f>
                      <m:fPr>
                        <m:ctrlPr>
                          <a:rPr lang="en-US" altLang="zh-CN" sz="2800" i="1">
                            <a:solidFill>
                              <a:srgbClr val="0066FF"/>
                            </a:solidFill>
                            <a:latin typeface="Cambria Math" panose="02040503050406030204" pitchFamily="18" charset="0"/>
                          </a:rPr>
                        </m:ctrlPr>
                      </m:fPr>
                      <m:num>
                        <m:r>
                          <a:rPr lang="en-US" altLang="zh-CN" sz="2800" b="0" i="1">
                            <a:solidFill>
                              <a:srgbClr val="0066FF"/>
                            </a:solidFill>
                            <a:latin typeface="Cambria Math" panose="02040503050406030204" pitchFamily="18" charset="0"/>
                          </a:rPr>
                          <m:t>1</m:t>
                        </m:r>
                      </m:num>
                      <m:den>
                        <m:r>
                          <a:rPr lang="en-US" altLang="zh-CN" sz="2800" b="0" i="1">
                            <a:solidFill>
                              <a:srgbClr val="0066FF"/>
                            </a:solidFill>
                            <a:latin typeface="Cambria Math" panose="02040503050406030204" pitchFamily="18" charset="0"/>
                          </a:rPr>
                          <m:t>4</m:t>
                        </m:r>
                        <m:r>
                          <a:rPr lang="zh-CN" altLang="en-US" sz="2800" b="0" i="1">
                            <a:solidFill>
                              <a:srgbClr val="0066FF"/>
                            </a:solidFill>
                            <a:latin typeface="Cambria Math" panose="02040503050406030204" pitchFamily="18" charset="0"/>
                          </a:rPr>
                          <m:t>𝜋</m:t>
                        </m:r>
                        <m:sSub>
                          <m:sSubPr>
                            <m:ctrlPr>
                              <a:rPr lang="en-US" altLang="zh-CN" sz="2800" i="1">
                                <a:solidFill>
                                  <a:srgbClr val="0066FF"/>
                                </a:solidFill>
                                <a:latin typeface="Cambria Math" panose="02040503050406030204" pitchFamily="18" charset="0"/>
                              </a:rPr>
                            </m:ctrlPr>
                          </m:sSubPr>
                          <m:e>
                            <m:r>
                              <a:rPr lang="zh-CN" altLang="en-US" sz="2800" b="0" i="1">
                                <a:solidFill>
                                  <a:srgbClr val="0066FF"/>
                                </a:solidFill>
                                <a:latin typeface="Cambria Math" panose="02040503050406030204" pitchFamily="18" charset="0"/>
                              </a:rPr>
                              <m:t>𝜀</m:t>
                            </m:r>
                          </m:e>
                          <m:sub>
                            <m:r>
                              <a:rPr lang="en-US" altLang="zh-CN" sz="2800" b="0" i="1">
                                <a:solidFill>
                                  <a:srgbClr val="0066FF"/>
                                </a:solidFill>
                                <a:latin typeface="Cambria Math" panose="02040503050406030204" pitchFamily="18" charset="0"/>
                              </a:rPr>
                              <m:t>0</m:t>
                            </m:r>
                          </m:sub>
                        </m:sSub>
                      </m:den>
                    </m:f>
                    <m:f>
                      <m:fPr>
                        <m:ctrlPr>
                          <a:rPr lang="en-US" altLang="zh-CN" sz="2800" i="1">
                            <a:solidFill>
                              <a:srgbClr val="0066FF"/>
                            </a:solidFill>
                            <a:latin typeface="Cambria Math" panose="02040503050406030204" pitchFamily="18" charset="0"/>
                          </a:rPr>
                        </m:ctrlPr>
                      </m:fPr>
                      <m:num>
                        <m:r>
                          <a:rPr lang="en-US" altLang="zh-CN" sz="2800" b="0" i="1">
                            <a:solidFill>
                              <a:srgbClr val="0066FF"/>
                            </a:solidFill>
                            <a:latin typeface="Cambria Math" panose="02040503050406030204" pitchFamily="18" charset="0"/>
                          </a:rPr>
                          <m:t>𝑞</m:t>
                        </m:r>
                      </m:num>
                      <m:den>
                        <m:sSup>
                          <m:sSupPr>
                            <m:ctrlPr>
                              <a:rPr lang="en-US" altLang="zh-CN" sz="2800" i="1">
                                <a:solidFill>
                                  <a:srgbClr val="0066FF"/>
                                </a:solidFill>
                                <a:latin typeface="Cambria Math" panose="02040503050406030204" pitchFamily="18" charset="0"/>
                              </a:rPr>
                            </m:ctrlPr>
                          </m:sSupPr>
                          <m:e>
                            <m:r>
                              <a:rPr lang="en-US" altLang="zh-CN" sz="2800" b="0" i="1">
                                <a:solidFill>
                                  <a:srgbClr val="0066FF"/>
                                </a:solidFill>
                                <a:latin typeface="Cambria Math" panose="02040503050406030204" pitchFamily="18" charset="0"/>
                              </a:rPr>
                              <m:t>𝑟</m:t>
                            </m:r>
                          </m:e>
                          <m:sup>
                            <m:r>
                              <a:rPr lang="en-US" altLang="zh-CN" sz="2800" b="0" i="1">
                                <a:solidFill>
                                  <a:srgbClr val="0066FF"/>
                                </a:solidFill>
                                <a:latin typeface="Cambria Math" panose="02040503050406030204" pitchFamily="18" charset="0"/>
                              </a:rPr>
                              <m:t>2</m:t>
                            </m:r>
                          </m:sup>
                        </m:sSup>
                      </m:den>
                    </m:f>
                  </m:oMath>
                </a14:m>
                <a:endParaRPr lang="en-US" sz="2800" dirty="0"/>
              </a:p>
            </p:txBody>
          </p:sp>
        </mc:Choice>
        <mc:Fallback xmlns="">
          <p:sp>
            <p:nvSpPr>
              <p:cNvPr id="44" name="矩形 43">
                <a:extLst>
                  <a:ext uri="{FF2B5EF4-FFF2-40B4-BE49-F238E27FC236}">
                    <a16:creationId xmlns:a16="http://schemas.microsoft.com/office/drawing/2014/main" id="{4FB181AA-C616-4F0D-B31B-0DA8EC3A56C3}"/>
                  </a:ext>
                </a:extLst>
              </p:cNvPr>
              <p:cNvSpPr>
                <a:spLocks noRot="1" noChangeAspect="1" noMove="1" noResize="1" noEditPoints="1" noAdjustHandles="1" noChangeArrowheads="1" noChangeShapeType="1" noTextEdit="1"/>
              </p:cNvSpPr>
              <p:nvPr/>
            </p:nvSpPr>
            <p:spPr>
              <a:xfrm>
                <a:off x="2048704" y="2176886"/>
                <a:ext cx="3814269" cy="1536318"/>
              </a:xfrm>
              <a:prstGeom prst="rect">
                <a:avLst/>
              </a:prstGeom>
              <a:blipFill>
                <a:blip r:embed="rId2"/>
                <a:stretch>
                  <a:fillRect l="-3195" t="-4762"/>
                </a:stretch>
              </a:blipFill>
            </p:spPr>
            <p:txBody>
              <a:bodyPr/>
              <a:lstStyle/>
              <a:p>
                <a:r>
                  <a:rPr lang="zh-CN" altLang="en-US">
                    <a:noFill/>
                  </a:rPr>
                  <a:t> </a:t>
                </a:r>
              </a:p>
            </p:txBody>
          </p:sp>
        </mc:Fallback>
      </mc:AlternateContent>
      <p:sp>
        <p:nvSpPr>
          <p:cNvPr id="45" name="矩形 44">
            <a:extLst>
              <a:ext uri="{FF2B5EF4-FFF2-40B4-BE49-F238E27FC236}">
                <a16:creationId xmlns:a16="http://schemas.microsoft.com/office/drawing/2014/main" id="{08471C73-BDB3-429B-A2B1-87083D967D52}"/>
              </a:ext>
            </a:extLst>
          </p:cNvPr>
          <p:cNvSpPr/>
          <p:nvPr/>
        </p:nvSpPr>
        <p:spPr>
          <a:xfrm>
            <a:off x="1736133" y="5075982"/>
            <a:ext cx="8941380" cy="954107"/>
          </a:xfrm>
          <a:prstGeom prst="rect">
            <a:avLst/>
          </a:prstGeom>
        </p:spPr>
        <p:txBody>
          <a:bodyPr wrap="square">
            <a:spAutoFit/>
          </a:bodyPr>
          <a:lstStyle/>
          <a:p>
            <a:pPr algn="ctr"/>
            <a:r>
              <a:rPr lang="zh-CN" altLang="en-US" sz="2800" b="1" dirty="0">
                <a:solidFill>
                  <a:srgbClr val="FF0000"/>
                </a:solidFill>
              </a:rPr>
              <a:t>静电能的减少与电场的消失直接关联：</a:t>
            </a:r>
            <a:br>
              <a:rPr lang="en-US" altLang="zh-CN" sz="2800" b="1" dirty="0">
                <a:solidFill>
                  <a:srgbClr val="FF0000"/>
                </a:solidFill>
              </a:rPr>
            </a:br>
            <a:r>
              <a:rPr lang="zh-CN" altLang="en-US" sz="2800" b="1" dirty="0">
                <a:solidFill>
                  <a:srgbClr val="FF0000"/>
                </a:solidFill>
              </a:rPr>
              <a:t>静电能储存在电场中</a:t>
            </a:r>
            <a:endParaRPr lang="en-US" sz="2800" b="1" dirty="0">
              <a:solidFill>
                <a:srgbClr val="FF0000"/>
              </a:solidFill>
            </a:endParaRPr>
          </a:p>
        </p:txBody>
      </p:sp>
      <p:grpSp>
        <p:nvGrpSpPr>
          <p:cNvPr id="21" name="组合 20">
            <a:extLst>
              <a:ext uri="{FF2B5EF4-FFF2-40B4-BE49-F238E27FC236}">
                <a16:creationId xmlns:a16="http://schemas.microsoft.com/office/drawing/2014/main" id="{D42177F5-44A0-4E42-AC8A-73F131746CF6}"/>
              </a:ext>
            </a:extLst>
          </p:cNvPr>
          <p:cNvGrpSpPr/>
          <p:nvPr/>
        </p:nvGrpSpPr>
        <p:grpSpPr>
          <a:xfrm>
            <a:off x="8230455" y="364604"/>
            <a:ext cx="3814269" cy="4223161"/>
            <a:chOff x="8453965" y="1615281"/>
            <a:chExt cx="3352800" cy="3505200"/>
          </a:xfrm>
        </p:grpSpPr>
        <p:grpSp>
          <p:nvGrpSpPr>
            <p:cNvPr id="22" name="Group 4">
              <a:extLst>
                <a:ext uri="{FF2B5EF4-FFF2-40B4-BE49-F238E27FC236}">
                  <a16:creationId xmlns:a16="http://schemas.microsoft.com/office/drawing/2014/main" id="{996EB665-9D6F-466F-8CEE-55473171366D}"/>
                </a:ext>
              </a:extLst>
            </p:cNvPr>
            <p:cNvGrpSpPr>
              <a:grpSpLocks/>
            </p:cNvGrpSpPr>
            <p:nvPr/>
          </p:nvGrpSpPr>
          <p:grpSpPr bwMode="auto">
            <a:xfrm>
              <a:off x="8453965" y="1615281"/>
              <a:ext cx="3352800" cy="3505200"/>
              <a:chOff x="1704" y="1537"/>
              <a:chExt cx="2448" cy="2448"/>
            </a:xfrm>
          </p:grpSpPr>
          <p:sp>
            <p:nvSpPr>
              <p:cNvPr id="24" name="Line 5">
                <a:extLst>
                  <a:ext uri="{FF2B5EF4-FFF2-40B4-BE49-F238E27FC236}">
                    <a16:creationId xmlns:a16="http://schemas.microsoft.com/office/drawing/2014/main" id="{BDD239E5-46F3-42EB-9719-7D7CF3ACFD23}"/>
                  </a:ext>
                </a:extLst>
              </p:cNvPr>
              <p:cNvSpPr>
                <a:spLocks noChangeShapeType="1"/>
              </p:cNvSpPr>
              <p:nvPr/>
            </p:nvSpPr>
            <p:spPr bwMode="auto">
              <a:xfrm flipH="1">
                <a:off x="1704" y="2808"/>
                <a:ext cx="2448" cy="0"/>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5" name="Line 6">
                <a:extLst>
                  <a:ext uri="{FF2B5EF4-FFF2-40B4-BE49-F238E27FC236}">
                    <a16:creationId xmlns:a16="http://schemas.microsoft.com/office/drawing/2014/main" id="{5CA352D4-FD46-4FD1-8E57-BC5AD74630E9}"/>
                  </a:ext>
                </a:extLst>
              </p:cNvPr>
              <p:cNvSpPr>
                <a:spLocks noChangeShapeType="1"/>
              </p:cNvSpPr>
              <p:nvPr/>
            </p:nvSpPr>
            <p:spPr bwMode="auto">
              <a:xfrm flipH="1" flipV="1">
                <a:off x="1745" y="2349"/>
                <a:ext cx="2270" cy="918"/>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6" name="Line 7">
                <a:extLst>
                  <a:ext uri="{FF2B5EF4-FFF2-40B4-BE49-F238E27FC236}">
                    <a16:creationId xmlns:a16="http://schemas.microsoft.com/office/drawing/2014/main" id="{73B642EF-9C14-4A3A-AAED-411ABC1A9F55}"/>
                  </a:ext>
                </a:extLst>
              </p:cNvPr>
              <p:cNvSpPr>
                <a:spLocks noChangeShapeType="1"/>
              </p:cNvSpPr>
              <p:nvPr/>
            </p:nvSpPr>
            <p:spPr bwMode="auto">
              <a:xfrm flipH="1" flipV="1">
                <a:off x="2000" y="1959"/>
                <a:ext cx="1792" cy="1689"/>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7" name="Line 8">
                <a:extLst>
                  <a:ext uri="{FF2B5EF4-FFF2-40B4-BE49-F238E27FC236}">
                    <a16:creationId xmlns:a16="http://schemas.microsoft.com/office/drawing/2014/main" id="{7F80D084-32C3-4E0D-9410-925FD49A9281}"/>
                  </a:ext>
                </a:extLst>
              </p:cNvPr>
              <p:cNvSpPr>
                <a:spLocks noChangeShapeType="1"/>
              </p:cNvSpPr>
              <p:nvPr/>
            </p:nvSpPr>
            <p:spPr bwMode="auto">
              <a:xfrm flipH="1">
                <a:off x="2430" y="1653"/>
                <a:ext cx="968" cy="2225"/>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8" name="Line 9">
                <a:extLst>
                  <a:ext uri="{FF2B5EF4-FFF2-40B4-BE49-F238E27FC236}">
                    <a16:creationId xmlns:a16="http://schemas.microsoft.com/office/drawing/2014/main" id="{4E00A4CD-7ADE-41D1-A9E8-62B809A9CA1B}"/>
                  </a:ext>
                </a:extLst>
              </p:cNvPr>
              <p:cNvSpPr>
                <a:spLocks noChangeShapeType="1"/>
              </p:cNvSpPr>
              <p:nvPr/>
            </p:nvSpPr>
            <p:spPr bwMode="auto">
              <a:xfrm flipH="1">
                <a:off x="1779" y="2390"/>
                <a:ext cx="2300" cy="836"/>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9" name="Line 10">
                <a:extLst>
                  <a:ext uri="{FF2B5EF4-FFF2-40B4-BE49-F238E27FC236}">
                    <a16:creationId xmlns:a16="http://schemas.microsoft.com/office/drawing/2014/main" id="{FDCBC1F1-DAD4-49E8-ADBE-E7CCBF042254}"/>
                  </a:ext>
                </a:extLst>
              </p:cNvPr>
              <p:cNvSpPr>
                <a:spLocks noChangeShapeType="1"/>
              </p:cNvSpPr>
              <p:nvPr/>
            </p:nvSpPr>
            <p:spPr bwMode="auto">
              <a:xfrm flipV="1">
                <a:off x="2048" y="1910"/>
                <a:ext cx="1762" cy="1700"/>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30" name="Line 11">
                <a:extLst>
                  <a:ext uri="{FF2B5EF4-FFF2-40B4-BE49-F238E27FC236}">
                    <a16:creationId xmlns:a16="http://schemas.microsoft.com/office/drawing/2014/main" id="{9EF11B2C-F93E-4DB6-AB10-C2FA414D4337}"/>
                  </a:ext>
                </a:extLst>
              </p:cNvPr>
              <p:cNvSpPr>
                <a:spLocks noChangeShapeType="1"/>
              </p:cNvSpPr>
              <p:nvPr/>
            </p:nvSpPr>
            <p:spPr bwMode="auto">
              <a:xfrm flipV="1">
                <a:off x="2880" y="1537"/>
                <a:ext cx="0" cy="2448"/>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31" name="Line 12">
                <a:extLst>
                  <a:ext uri="{FF2B5EF4-FFF2-40B4-BE49-F238E27FC236}">
                    <a16:creationId xmlns:a16="http://schemas.microsoft.com/office/drawing/2014/main" id="{02002C68-673C-43CC-96B9-B49CE16FB0C0}"/>
                  </a:ext>
                </a:extLst>
              </p:cNvPr>
              <p:cNvSpPr>
                <a:spLocks noChangeShapeType="1"/>
              </p:cNvSpPr>
              <p:nvPr/>
            </p:nvSpPr>
            <p:spPr bwMode="auto">
              <a:xfrm flipH="1" flipV="1">
                <a:off x="2383" y="1642"/>
                <a:ext cx="996" cy="2236"/>
              </a:xfrm>
              <a:prstGeom prst="line">
                <a:avLst/>
              </a:prstGeom>
              <a:noFill/>
              <a:ln w="3175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23" name="Oval 13">
              <a:extLst>
                <a:ext uri="{FF2B5EF4-FFF2-40B4-BE49-F238E27FC236}">
                  <a16:creationId xmlns:a16="http://schemas.microsoft.com/office/drawing/2014/main" id="{166F47C0-8ED8-42C8-BE49-5EB5C0C8B29E}"/>
                </a:ext>
              </a:extLst>
            </p:cNvPr>
            <p:cNvSpPr>
              <a:spLocks noChangeArrowheads="1"/>
            </p:cNvSpPr>
            <p:nvPr/>
          </p:nvSpPr>
          <p:spPr bwMode="auto">
            <a:xfrm>
              <a:off x="9909702" y="3247231"/>
              <a:ext cx="368300" cy="368300"/>
            </a:xfrm>
            <a:prstGeom prst="ellipse">
              <a:avLst/>
            </a:prstGeom>
            <a:gradFill rotWithShape="0">
              <a:gsLst>
                <a:gs pos="0">
                  <a:srgbClr val="FF3300"/>
                </a:gs>
                <a:gs pos="100000">
                  <a:srgbClr val="490F00"/>
                </a:gs>
              </a:gsLst>
              <a:path path="shape">
                <a:fillToRect l="50000" t="50000" r="50000" b="50000"/>
              </a:path>
            </a:gradFill>
            <a:ln>
              <a:noFill/>
            </a:ln>
            <a:effectLst/>
            <a:extLst>
              <a:ext uri="{91240B29-F687-4F45-9708-019B960494DF}">
                <a14:hiddenLine xmlns:a14="http://schemas.microsoft.com/office/drawing/2010/main" w="31750">
                  <a:solidFill>
                    <a:srgbClr val="FF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400"/>
            </a:p>
          </p:txBody>
        </p:sp>
      </p:grpSp>
      <p:sp>
        <p:nvSpPr>
          <p:cNvPr id="3" name="椭圆 2">
            <a:extLst>
              <a:ext uri="{FF2B5EF4-FFF2-40B4-BE49-F238E27FC236}">
                <a16:creationId xmlns:a16="http://schemas.microsoft.com/office/drawing/2014/main" id="{C0ABB377-7FE6-4180-BD78-EC0FC0802A43}"/>
              </a:ext>
            </a:extLst>
          </p:cNvPr>
          <p:cNvSpPr/>
          <p:nvPr/>
        </p:nvSpPr>
        <p:spPr>
          <a:xfrm>
            <a:off x="8928195" y="1388534"/>
            <a:ext cx="2281767" cy="228176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32" name="椭圆 31">
            <a:extLst>
              <a:ext uri="{FF2B5EF4-FFF2-40B4-BE49-F238E27FC236}">
                <a16:creationId xmlns:a16="http://schemas.microsoft.com/office/drawing/2014/main" id="{3F88F66E-9A81-4634-8372-5449B9A9B0C7}"/>
              </a:ext>
            </a:extLst>
          </p:cNvPr>
          <p:cNvSpPr/>
          <p:nvPr/>
        </p:nvSpPr>
        <p:spPr>
          <a:xfrm>
            <a:off x="8636884" y="1089639"/>
            <a:ext cx="2846918" cy="2846918"/>
          </a:xfrm>
          <a:prstGeom prst="ellipse">
            <a:avLst/>
          </a:prstGeom>
          <a:solidFill>
            <a:schemeClr val="accent1">
              <a:alpha val="8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 name="矩形 1">
            <a:extLst>
              <a:ext uri="{FF2B5EF4-FFF2-40B4-BE49-F238E27FC236}">
                <a16:creationId xmlns:a16="http://schemas.microsoft.com/office/drawing/2014/main" id="{72C11581-70F5-FE9D-DFB6-987939557538}"/>
              </a:ext>
            </a:extLst>
          </p:cNvPr>
          <p:cNvSpPr/>
          <p:nvPr/>
        </p:nvSpPr>
        <p:spPr>
          <a:xfrm>
            <a:off x="1847112" y="4021671"/>
            <a:ext cx="3057247" cy="523220"/>
          </a:xfrm>
          <a:prstGeom prst="rect">
            <a:avLst/>
          </a:prstGeom>
        </p:spPr>
        <p:txBody>
          <a:bodyPr wrap="none">
            <a:spAutoFit/>
          </a:bodyPr>
          <a:lstStyle/>
          <a:p>
            <a:r>
              <a:rPr lang="zh-CN" altLang="en-US" sz="2800" dirty="0">
                <a:solidFill>
                  <a:srgbClr val="000000"/>
                </a:solidFill>
              </a:rPr>
              <a:t>膨胀前后电场变化</a:t>
            </a:r>
            <a:endParaRPr lang="en-US" sz="2800" dirty="0"/>
          </a:p>
        </p:txBody>
      </p:sp>
    </p:spTree>
    <p:extLst>
      <p:ext uri="{BB962C8B-B14F-4D97-AF65-F5344CB8AC3E}">
        <p14:creationId xmlns:p14="http://schemas.microsoft.com/office/powerpoint/2010/main" val="49956873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32" grpId="0" animBg="1"/>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a:extLst>
              <a:ext uri="{FF2B5EF4-FFF2-40B4-BE49-F238E27FC236}">
                <a16:creationId xmlns:a16="http://schemas.microsoft.com/office/drawing/2014/main" id="{3F88F66E-9A81-4634-8372-5449B9A9B0C7}"/>
              </a:ext>
            </a:extLst>
          </p:cNvPr>
          <p:cNvSpPr/>
          <p:nvPr/>
        </p:nvSpPr>
        <p:spPr>
          <a:xfrm>
            <a:off x="8648697" y="1105958"/>
            <a:ext cx="2846918" cy="2846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标题 4">
            <a:extLst>
              <a:ext uri="{FF2B5EF4-FFF2-40B4-BE49-F238E27FC236}">
                <a16:creationId xmlns:a16="http://schemas.microsoft.com/office/drawing/2014/main" id="{15C79B98-CDAA-4619-A5F6-1E9396826686}"/>
              </a:ext>
            </a:extLst>
          </p:cNvPr>
          <p:cNvSpPr>
            <a:spLocks noGrp="1"/>
          </p:cNvSpPr>
          <p:nvPr>
            <p:ph type="title"/>
          </p:nvPr>
        </p:nvSpPr>
        <p:spPr>
          <a:xfrm>
            <a:off x="649393" y="781906"/>
            <a:ext cx="5061373" cy="746328"/>
          </a:xfrm>
        </p:spPr>
        <p:txBody>
          <a:bodyPr>
            <a:noAutofit/>
          </a:bodyPr>
          <a:lstStyle/>
          <a:p>
            <a:pPr marL="571500" indent="-571500" algn="ctr">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静电场的能量</a:t>
            </a:r>
            <a:br>
              <a:rPr lang="en-US" altLang="zh-CN" sz="3200" b="1" dirty="0">
                <a:solidFill>
                  <a:srgbClr val="0066FF"/>
                </a:solidFill>
                <a:latin typeface="华文楷体" panose="02010600040101010101" pitchFamily="2" charset="-122"/>
                <a:ea typeface="华文楷体" panose="02010600040101010101" pitchFamily="2" charset="-122"/>
              </a:rPr>
            </a:br>
            <a:endParaRPr lang="zh-CN" altLang="en-US" sz="3200" b="1" dirty="0">
              <a:solidFill>
                <a:srgbClr val="0066FF"/>
              </a:solidFill>
              <a:latin typeface="华文楷体" panose="02010600040101010101" pitchFamily="2" charset="-122"/>
              <a:ea typeface="华文楷体" panose="02010600040101010101" pitchFamily="2" charset="-122"/>
            </a:endParaRPr>
          </a:p>
        </p:txBody>
      </p:sp>
      <p:sp>
        <p:nvSpPr>
          <p:cNvPr id="3" name="椭圆 2">
            <a:extLst>
              <a:ext uri="{FF2B5EF4-FFF2-40B4-BE49-F238E27FC236}">
                <a16:creationId xmlns:a16="http://schemas.microsoft.com/office/drawing/2014/main" id="{C0ABB377-7FE6-4180-BD78-EC0FC0802A43}"/>
              </a:ext>
            </a:extLst>
          </p:cNvPr>
          <p:cNvSpPr/>
          <p:nvPr/>
        </p:nvSpPr>
        <p:spPr>
          <a:xfrm>
            <a:off x="8928195" y="1388534"/>
            <a:ext cx="2281767" cy="228176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3" name="直接连接符 32">
            <a:extLst>
              <a:ext uri="{FF2B5EF4-FFF2-40B4-BE49-F238E27FC236}">
                <a16:creationId xmlns:a16="http://schemas.microsoft.com/office/drawing/2014/main" id="{E45A57CB-DF2B-4129-8C5C-FABCA8797619}"/>
              </a:ext>
            </a:extLst>
          </p:cNvPr>
          <p:cNvCxnSpPr>
            <a:endCxn id="3" idx="6"/>
          </p:cNvCxnSpPr>
          <p:nvPr/>
        </p:nvCxnSpPr>
        <p:spPr>
          <a:xfrm>
            <a:off x="10069078" y="2529417"/>
            <a:ext cx="1140884" cy="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1BF67322-341B-4287-BC1E-D607578B5465}"/>
              </a:ext>
            </a:extLst>
          </p:cNvPr>
          <p:cNvCxnSpPr>
            <a:cxnSpLocks/>
          </p:cNvCxnSpPr>
          <p:nvPr/>
        </p:nvCxnSpPr>
        <p:spPr>
          <a:xfrm flipV="1">
            <a:off x="10085916" y="1435100"/>
            <a:ext cx="908051" cy="109431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C31739E3-11E6-49CB-8D17-D738B17FA8E3}"/>
              </a:ext>
            </a:extLst>
          </p:cNvPr>
          <p:cNvSpPr txBox="1"/>
          <p:nvPr/>
        </p:nvSpPr>
        <p:spPr>
          <a:xfrm>
            <a:off x="10464365" y="2522579"/>
            <a:ext cx="546439" cy="369332"/>
          </a:xfrm>
          <a:prstGeom prst="rect">
            <a:avLst/>
          </a:prstGeom>
          <a:noFill/>
        </p:spPr>
        <p:txBody>
          <a:bodyPr wrap="square" rtlCol="0">
            <a:spAutoFit/>
          </a:bodyPr>
          <a:lstStyle/>
          <a:p>
            <a:r>
              <a:rPr lang="en-US" dirty="0"/>
              <a:t>R1</a:t>
            </a:r>
          </a:p>
        </p:txBody>
      </p:sp>
      <p:sp>
        <p:nvSpPr>
          <p:cNvPr id="38" name="文本框 37">
            <a:extLst>
              <a:ext uri="{FF2B5EF4-FFF2-40B4-BE49-F238E27FC236}">
                <a16:creationId xmlns:a16="http://schemas.microsoft.com/office/drawing/2014/main" id="{4892A07C-CAE9-41CD-9100-5CB51A60C5E3}"/>
              </a:ext>
            </a:extLst>
          </p:cNvPr>
          <p:cNvSpPr txBox="1"/>
          <p:nvPr/>
        </p:nvSpPr>
        <p:spPr>
          <a:xfrm>
            <a:off x="10143065" y="1612927"/>
            <a:ext cx="510615" cy="369332"/>
          </a:xfrm>
          <a:prstGeom prst="rect">
            <a:avLst/>
          </a:prstGeom>
          <a:noFill/>
        </p:spPr>
        <p:txBody>
          <a:bodyPr wrap="square" rtlCol="0">
            <a:spAutoFit/>
          </a:bodyPr>
          <a:lstStyle/>
          <a:p>
            <a:r>
              <a:rPr lang="en-US" dirty="0"/>
              <a:t>R2</a:t>
            </a:r>
          </a:p>
        </p:txBody>
      </p:sp>
      <mc:AlternateContent xmlns:mc="http://schemas.openxmlformats.org/markup-compatibility/2006">
        <mc:Choice xmlns:a14="http://schemas.microsoft.com/office/drawing/2010/main" Requires="a14">
          <p:sp>
            <p:nvSpPr>
              <p:cNvPr id="41" name="矩形 40">
                <a:extLst>
                  <a:ext uri="{FF2B5EF4-FFF2-40B4-BE49-F238E27FC236}">
                    <a16:creationId xmlns:a16="http://schemas.microsoft.com/office/drawing/2014/main" id="{E686CF6D-A388-4D19-B9CE-43848693C4D4}"/>
                  </a:ext>
                </a:extLst>
              </p:cNvPr>
              <p:cNvSpPr/>
              <p:nvPr/>
            </p:nvSpPr>
            <p:spPr>
              <a:xfrm>
                <a:off x="1216850" y="1431283"/>
                <a:ext cx="2775953" cy="1248612"/>
              </a:xfrm>
              <a:prstGeom prst="rect">
                <a:avLst/>
              </a:prstGeom>
            </p:spPr>
            <p:txBody>
              <a:bodyPr wrap="none">
                <a:spAutoFit/>
              </a:bodyPr>
              <a:lstStyle/>
              <a:p>
                <a:r>
                  <a:rPr lang="zh-CN" altLang="en-US" sz="2800" dirty="0">
                    <a:solidFill>
                      <a:srgbClr val="000000"/>
                    </a:solidFill>
                    <a:latin typeface="华文楷体" panose="02010600040101010101" pitchFamily="2" charset="-122"/>
                    <a:ea typeface="华文楷体" panose="02010600040101010101" pitchFamily="2" charset="-122"/>
                  </a:rPr>
                  <a:t>微观过程：</a:t>
                </a:r>
                <a:endParaRPr lang="en-US" altLang="zh-CN" sz="2800" b="0" i="1" dirty="0">
                  <a:solidFill>
                    <a:prstClr val="black"/>
                  </a:solidFill>
                  <a:latin typeface="Cambria Math" panose="02040503050406030204" pitchFamily="18" charset="0"/>
                </a:endParaRPr>
              </a:p>
              <a:p>
                <a14:m>
                  <m:oMath xmlns:m="http://schemas.openxmlformats.org/officeDocument/2006/math">
                    <m:r>
                      <a:rPr lang="en-US" altLang="zh-CN" sz="2800" b="0" i="1">
                        <a:solidFill>
                          <a:prstClr val="black"/>
                        </a:solidFill>
                        <a:latin typeface="Cambria Math" panose="02040503050406030204" pitchFamily="18" charset="0"/>
                      </a:rPr>
                      <m:t>−</m:t>
                    </m:r>
                    <m:r>
                      <a:rPr lang="en-US" altLang="zh-CN" sz="2800" b="0" i="1">
                        <a:solidFill>
                          <a:prstClr val="black"/>
                        </a:solidFill>
                        <a:latin typeface="Cambria Math" panose="02040503050406030204" pitchFamily="18" charset="0"/>
                      </a:rPr>
                      <m:t>𝑑𝑊</m:t>
                    </m:r>
                    <m:r>
                      <a:rPr lang="en-US" altLang="zh-CN" sz="2800" b="0" i="1">
                        <a:solidFill>
                          <a:prstClr val="black"/>
                        </a:solidFill>
                        <a:latin typeface="Cambria Math" panose="02040503050406030204" pitchFamily="18" charset="0"/>
                      </a:rPr>
                      <m:t>=</m:t>
                    </m:r>
                    <m:f>
                      <m:fPr>
                        <m:ctrlPr>
                          <a:rPr lang="en-US" altLang="zh-CN" sz="2800" i="1">
                            <a:solidFill>
                              <a:prstClr val="black"/>
                            </a:solidFill>
                            <a:latin typeface="Cambria Math" panose="02040503050406030204" pitchFamily="18" charset="0"/>
                          </a:rPr>
                        </m:ctrlPr>
                      </m:fPr>
                      <m:num>
                        <m:sSup>
                          <m:sSupPr>
                            <m:ctrlPr>
                              <a:rPr lang="en-US" altLang="zh-CN" sz="2800" i="1">
                                <a:solidFill>
                                  <a:prstClr val="black"/>
                                </a:solidFill>
                                <a:latin typeface="Cambria Math" panose="02040503050406030204" pitchFamily="18" charset="0"/>
                              </a:rPr>
                            </m:ctrlPr>
                          </m:sSupPr>
                          <m:e>
                            <m:r>
                              <a:rPr lang="en-US" altLang="zh-CN" sz="2800" b="0" i="1">
                                <a:solidFill>
                                  <a:prstClr val="black"/>
                                </a:solidFill>
                                <a:latin typeface="Cambria Math" panose="02040503050406030204" pitchFamily="18" charset="0"/>
                              </a:rPr>
                              <m:t>𝑞</m:t>
                            </m:r>
                          </m:e>
                          <m:sup>
                            <m:r>
                              <a:rPr lang="en-US" altLang="zh-CN" sz="2800" b="0" i="1">
                                <a:solidFill>
                                  <a:prstClr val="black"/>
                                </a:solidFill>
                                <a:latin typeface="Cambria Math" panose="02040503050406030204" pitchFamily="18" charset="0"/>
                              </a:rPr>
                              <m:t>2</m:t>
                            </m:r>
                          </m:sup>
                        </m:sSup>
                      </m:num>
                      <m:den>
                        <m:r>
                          <a:rPr lang="en-US" altLang="zh-CN" sz="2800" b="0" i="1" smtClean="0">
                            <a:solidFill>
                              <a:prstClr val="black"/>
                            </a:solidFill>
                            <a:latin typeface="Cambria Math" panose="02040503050406030204" pitchFamily="18" charset="0"/>
                          </a:rPr>
                          <m:t>8</m:t>
                        </m:r>
                        <m:r>
                          <a:rPr lang="zh-CN" altLang="en-US" sz="2800" b="0" i="1">
                            <a:solidFill>
                              <a:prstClr val="black"/>
                            </a:solidFill>
                            <a:latin typeface="Cambria Math" panose="02040503050406030204" pitchFamily="18" charset="0"/>
                          </a:rPr>
                          <m:t>𝜋</m:t>
                        </m:r>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𝜀</m:t>
                            </m:r>
                          </m:e>
                          <m:sub>
                            <m:r>
                              <a:rPr lang="en-US" altLang="zh-CN" sz="2800" b="0" i="1">
                                <a:solidFill>
                                  <a:prstClr val="black"/>
                                </a:solidFill>
                                <a:latin typeface="Cambria Math" panose="02040503050406030204" pitchFamily="18" charset="0"/>
                              </a:rPr>
                              <m:t>0</m:t>
                            </m:r>
                          </m:sub>
                        </m:sSub>
                        <m:r>
                          <a:rPr lang="en-US" altLang="zh-CN" sz="2800" b="0" i="1">
                            <a:solidFill>
                              <a:prstClr val="black"/>
                            </a:solidFill>
                            <a:latin typeface="Cambria Math" panose="02040503050406030204" pitchFamily="18" charset="0"/>
                          </a:rPr>
                          <m:t>𝑅</m:t>
                        </m:r>
                        <m:r>
                          <a:rPr lang="en-US" altLang="zh-CN" sz="2800" b="0" i="1" baseline="30000" smtClean="0">
                            <a:solidFill>
                              <a:prstClr val="black"/>
                            </a:solidFill>
                            <a:latin typeface="Cambria Math" panose="02040503050406030204" pitchFamily="18" charset="0"/>
                          </a:rPr>
                          <m:t>2</m:t>
                        </m:r>
                      </m:den>
                    </m:f>
                  </m:oMath>
                </a14:m>
                <a:r>
                  <a:rPr lang="en-US" altLang="zh-CN" sz="2800" dirty="0"/>
                  <a:t>dR</a:t>
                </a:r>
                <a:endParaRPr lang="en-US" sz="2800" dirty="0"/>
              </a:p>
            </p:txBody>
          </p:sp>
        </mc:Choice>
        <mc:Fallback>
          <p:sp>
            <p:nvSpPr>
              <p:cNvPr id="41" name="矩形 40">
                <a:extLst>
                  <a:ext uri="{FF2B5EF4-FFF2-40B4-BE49-F238E27FC236}">
                    <a16:creationId xmlns:a16="http://schemas.microsoft.com/office/drawing/2014/main" id="{E686CF6D-A388-4D19-B9CE-43848693C4D4}"/>
                  </a:ext>
                </a:extLst>
              </p:cNvPr>
              <p:cNvSpPr>
                <a:spLocks noRot="1" noChangeAspect="1" noMove="1" noResize="1" noEditPoints="1" noAdjustHandles="1" noChangeArrowheads="1" noChangeShapeType="1" noTextEdit="1"/>
              </p:cNvSpPr>
              <p:nvPr/>
            </p:nvSpPr>
            <p:spPr>
              <a:xfrm>
                <a:off x="1216850" y="1431283"/>
                <a:ext cx="2775953" cy="1248612"/>
              </a:xfrm>
              <a:prstGeom prst="rect">
                <a:avLst/>
              </a:prstGeom>
              <a:blipFill>
                <a:blip r:embed="rId2"/>
                <a:stretch>
                  <a:fillRect l="-4615" t="-5366" r="-3516" b="-488"/>
                </a:stretch>
              </a:blipFill>
            </p:spPr>
            <p:txBody>
              <a:bodyPr/>
              <a:lstStyle/>
              <a:p>
                <a:r>
                  <a:rPr lang="en-US">
                    <a:noFill/>
                  </a:rPr>
                  <a:t> </a:t>
                </a:r>
              </a:p>
            </p:txBody>
          </p:sp>
        </mc:Fallback>
      </mc:AlternateContent>
      <p:sp>
        <p:nvSpPr>
          <p:cNvPr id="46" name="标题 4">
            <a:extLst>
              <a:ext uri="{FF2B5EF4-FFF2-40B4-BE49-F238E27FC236}">
                <a16:creationId xmlns:a16="http://schemas.microsoft.com/office/drawing/2014/main" id="{30F34CFE-8095-4091-AE30-3235C97A351E}"/>
              </a:ext>
            </a:extLst>
          </p:cNvPr>
          <p:cNvSpPr txBox="1">
            <a:spLocks/>
          </p:cNvSpPr>
          <p:nvPr/>
        </p:nvSpPr>
        <p:spPr>
          <a:xfrm>
            <a:off x="403917" y="5053553"/>
            <a:ext cx="5061373" cy="74632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800" dirty="0">
                <a:solidFill>
                  <a:srgbClr val="000000"/>
                </a:solidFill>
                <a:latin typeface="华文楷体" panose="02010600040101010101" pitchFamily="2" charset="-122"/>
                <a:ea typeface="华文楷体" panose="02010600040101010101" pitchFamily="2" charset="-122"/>
              </a:rPr>
              <a:t>- </a:t>
            </a:r>
            <a:r>
              <a:rPr lang="zh-CN" altLang="en-US" sz="2800" dirty="0">
                <a:solidFill>
                  <a:srgbClr val="000000"/>
                </a:solidFill>
                <a:latin typeface="华文楷体" panose="02010600040101010101" pitchFamily="2" charset="-122"/>
                <a:ea typeface="华文楷体" panose="02010600040101010101" pitchFamily="2" charset="-122"/>
              </a:rPr>
              <a:t>静电场的能量密度</a:t>
            </a:r>
            <a:br>
              <a:rPr lang="en-US" altLang="zh-CN" sz="2800" dirty="0">
                <a:solidFill>
                  <a:srgbClr val="000000"/>
                </a:solidFill>
                <a:latin typeface="华文楷体" panose="02010600040101010101" pitchFamily="2" charset="-122"/>
                <a:ea typeface="华文楷体" panose="02010600040101010101" pitchFamily="2" charset="-122"/>
              </a:rPr>
            </a:br>
            <a:endParaRPr lang="zh-CN" altLang="en-US" sz="2800" dirty="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47" name="矩形 46">
                <a:extLst>
                  <a:ext uri="{FF2B5EF4-FFF2-40B4-BE49-F238E27FC236}">
                    <a16:creationId xmlns:a16="http://schemas.microsoft.com/office/drawing/2014/main" id="{8A09F777-373F-4D00-BEF1-DEDF2B414873}"/>
                  </a:ext>
                </a:extLst>
              </p:cNvPr>
              <p:cNvSpPr/>
              <p:nvPr/>
            </p:nvSpPr>
            <p:spPr>
              <a:xfrm>
                <a:off x="4414193" y="4392018"/>
                <a:ext cx="3363613" cy="1319913"/>
              </a:xfrm>
              <a:prstGeom prst="rect">
                <a:avLst/>
              </a:prstGeom>
            </p:spPr>
            <p:txBody>
              <a:bodyPr wrap="none">
                <a:spAutoFit/>
              </a:bodyPr>
              <a:lstStyle/>
              <a:p>
                <a:pPr algn="ctr">
                  <a:lnSpc>
                    <a:spcPct val="150000"/>
                  </a:lnSpc>
                </a:pPr>
                <a14:m>
                  <m:oMathPara xmlns:m="http://schemas.openxmlformats.org/officeDocument/2006/math">
                    <m:oMathParaPr>
                      <m:jc m:val="centerGroup"/>
                    </m:oMathParaPr>
                    <m:oMath xmlns:m="http://schemas.openxmlformats.org/officeDocument/2006/math">
                      <m:sSub>
                        <m:sSubPr>
                          <m:ctrlPr>
                            <a:rPr lang="en-US" altLang="zh-CN" sz="2800" i="1" smtClean="0">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𝓌</m:t>
                          </m:r>
                        </m:e>
                        <m:sub>
                          <m:r>
                            <a:rPr lang="en-US" altLang="zh-CN" sz="2800" b="0" i="1" smtClean="0">
                              <a:solidFill>
                                <a:srgbClr val="000000"/>
                              </a:solidFill>
                              <a:latin typeface="Cambria Math" panose="02040503050406030204" pitchFamily="18" charset="0"/>
                            </a:rPr>
                            <m:t>𝑒</m:t>
                          </m:r>
                        </m:sub>
                      </m:sSub>
                      <m:r>
                        <a:rPr lang="en-US" altLang="zh-CN" sz="2800" b="0" i="1" smtClean="0">
                          <a:solidFill>
                            <a:srgbClr val="000000"/>
                          </a:solidFill>
                          <a:latin typeface="Cambria Math" panose="02040503050406030204" pitchFamily="18" charset="0"/>
                        </a:rPr>
                        <m:t>=</m:t>
                      </m:r>
                      <m:f>
                        <m:fPr>
                          <m:ctrlPr>
                            <a:rPr lang="en-US" altLang="zh-CN" sz="2800" i="1" smtClean="0">
                              <a:solidFill>
                                <a:srgbClr val="000000"/>
                              </a:solidFill>
                              <a:latin typeface="Cambria Math" panose="02040503050406030204" pitchFamily="18" charset="0"/>
                            </a:rPr>
                          </m:ctrlPr>
                        </m:fPr>
                        <m:num>
                          <m:r>
                            <a:rPr lang="en-US" altLang="zh-CN" sz="2800" b="0" i="1" smtClean="0">
                              <a:solidFill>
                                <a:srgbClr val="000000"/>
                              </a:solidFill>
                              <a:latin typeface="Cambria Math" panose="02040503050406030204" pitchFamily="18" charset="0"/>
                            </a:rPr>
                            <m:t>𝑑𝑊</m:t>
                          </m:r>
                        </m:num>
                        <m:den>
                          <m:r>
                            <a:rPr lang="en-US" altLang="zh-CN" sz="2800" b="0" i="1" smtClean="0">
                              <a:solidFill>
                                <a:srgbClr val="000000"/>
                              </a:solidFill>
                              <a:latin typeface="Cambria Math" panose="02040503050406030204" pitchFamily="18" charset="0"/>
                            </a:rPr>
                            <m:t>𝑑𝑉</m:t>
                          </m:r>
                        </m:den>
                      </m:f>
                      <m:r>
                        <a:rPr lang="en-US" altLang="zh-CN" sz="2800" b="0" i="1" smtClean="0">
                          <a:solidFill>
                            <a:srgbClr val="000000"/>
                          </a:solidFill>
                          <a:latin typeface="Cambria Math" panose="02040503050406030204" pitchFamily="18" charset="0"/>
                        </a:rPr>
                        <m:t>=</m:t>
                      </m:r>
                      <m:f>
                        <m:fPr>
                          <m:ctrlPr>
                            <a:rPr lang="en-US" altLang="zh-CN" sz="2800" i="1">
                              <a:solidFill>
                                <a:srgbClr val="000000"/>
                              </a:solidFill>
                              <a:latin typeface="Cambria Math" panose="02040503050406030204" pitchFamily="18" charset="0"/>
                            </a:rPr>
                          </m:ctrlPr>
                        </m:fPr>
                        <m:num>
                          <m:r>
                            <a:rPr lang="en-US" altLang="zh-CN" sz="2800" b="0" i="1" smtClean="0">
                              <a:solidFill>
                                <a:srgbClr val="000000"/>
                              </a:solidFill>
                              <a:latin typeface="Cambria Math" panose="02040503050406030204" pitchFamily="18" charset="0"/>
                            </a:rPr>
                            <m:t>1</m:t>
                          </m:r>
                        </m:num>
                        <m:den>
                          <m:r>
                            <a:rPr lang="en-US" altLang="zh-CN" sz="2800" b="0" i="1" smtClean="0">
                              <a:solidFill>
                                <a:srgbClr val="000000"/>
                              </a:solidFill>
                              <a:latin typeface="Cambria Math" panose="02040503050406030204" pitchFamily="18" charset="0"/>
                            </a:rPr>
                            <m:t>2</m:t>
                          </m:r>
                        </m:den>
                      </m:f>
                      <m:sSub>
                        <m:sSubPr>
                          <m:ctrlPr>
                            <a:rPr lang="en-US" altLang="zh-CN"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𝜀</m:t>
                          </m:r>
                        </m:e>
                        <m:sub>
                          <m:r>
                            <a:rPr lang="en-US" altLang="zh-CN" sz="2800" b="0" i="1" smtClean="0">
                              <a:solidFill>
                                <a:srgbClr val="000000"/>
                              </a:solidFill>
                              <a:latin typeface="Cambria Math" panose="02040503050406030204" pitchFamily="18" charset="0"/>
                            </a:rPr>
                            <m:t>0</m:t>
                          </m:r>
                        </m:sub>
                      </m:sSub>
                      <m:sSup>
                        <m:sSupPr>
                          <m:ctrlPr>
                            <a:rPr lang="en-US" altLang="zh-CN" sz="2800" i="1">
                              <a:solidFill>
                                <a:srgbClr val="000000"/>
                              </a:solidFill>
                              <a:latin typeface="Cambria Math" panose="02040503050406030204" pitchFamily="18" charset="0"/>
                            </a:rPr>
                          </m:ctrlPr>
                        </m:sSupPr>
                        <m:e>
                          <m:r>
                            <a:rPr lang="en-US" altLang="zh-CN" sz="2800" b="0" i="1" smtClean="0">
                              <a:solidFill>
                                <a:srgbClr val="000000"/>
                              </a:solidFill>
                              <a:latin typeface="Cambria Math" panose="02040503050406030204" pitchFamily="18" charset="0"/>
                            </a:rPr>
                            <m:t>𝐸</m:t>
                          </m:r>
                        </m:e>
                        <m:sup>
                          <m:r>
                            <a:rPr lang="en-US" altLang="zh-CN" sz="2800" b="0" i="1" smtClean="0">
                              <a:solidFill>
                                <a:srgbClr val="000000"/>
                              </a:solidFill>
                              <a:latin typeface="Cambria Math" panose="02040503050406030204" pitchFamily="18" charset="0"/>
                            </a:rPr>
                            <m:t>2</m:t>
                          </m:r>
                        </m:sup>
                      </m:sSup>
                    </m:oMath>
                  </m:oMathPara>
                </a14:m>
                <a:endParaRPr lang="en-US" altLang="zh-CN" sz="2800" dirty="0"/>
              </a:p>
            </p:txBody>
          </p:sp>
        </mc:Choice>
        <mc:Fallback xmlns="">
          <p:sp>
            <p:nvSpPr>
              <p:cNvPr id="47" name="矩形 46">
                <a:extLst>
                  <a:ext uri="{FF2B5EF4-FFF2-40B4-BE49-F238E27FC236}">
                    <a16:creationId xmlns:a16="http://schemas.microsoft.com/office/drawing/2014/main" id="{8A09F777-373F-4D00-BEF1-DEDF2B414873}"/>
                  </a:ext>
                </a:extLst>
              </p:cNvPr>
              <p:cNvSpPr>
                <a:spLocks noRot="1" noChangeAspect="1" noMove="1" noResize="1" noEditPoints="1" noAdjustHandles="1" noChangeArrowheads="1" noChangeShapeType="1" noTextEdit="1"/>
              </p:cNvSpPr>
              <p:nvPr/>
            </p:nvSpPr>
            <p:spPr>
              <a:xfrm>
                <a:off x="4414193" y="4392018"/>
                <a:ext cx="3363613" cy="1319913"/>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9E3C3857-28E4-46B9-A02E-97AAE8ED176B}"/>
                  </a:ext>
                </a:extLst>
              </p:cNvPr>
              <p:cNvSpPr/>
              <p:nvPr/>
            </p:nvSpPr>
            <p:spPr>
              <a:xfrm>
                <a:off x="2241106" y="5876828"/>
                <a:ext cx="6448368" cy="745653"/>
              </a:xfrm>
              <a:prstGeom prst="rect">
                <a:avLst/>
              </a:prstGeom>
            </p:spPr>
            <p:txBody>
              <a:bodyPr wrap="none">
                <a:spAutoFit/>
              </a:bodyPr>
              <a:lstStyle/>
              <a:p>
                <a:r>
                  <a:rPr lang="zh-CN" altLang="en-US" sz="2800" dirty="0">
                    <a:solidFill>
                      <a:srgbClr val="000000"/>
                    </a:solidFill>
                    <a:latin typeface="华文楷体" panose="02010600040101010101" pitchFamily="2" charset="-122"/>
                    <a:ea typeface="华文楷体" panose="02010600040101010101" pitchFamily="2" charset="-122"/>
                  </a:rPr>
                  <a:t>总能量</a:t>
                </a:r>
                <a14:m>
                  <m:oMath xmlns:m="http://schemas.openxmlformats.org/officeDocument/2006/math">
                    <m:r>
                      <a:rPr lang="zh-CN" altLang="en-US" sz="2800" b="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 </m:t>
                    </m:r>
                    <m:r>
                      <a:rPr lang="en-US" altLang="zh-CN" sz="2800" b="0" i="1" smtClean="0">
                        <a:solidFill>
                          <a:srgbClr val="000000"/>
                        </a:solidFill>
                        <a:latin typeface="Cambria Math" panose="02040503050406030204" pitchFamily="18" charset="0"/>
                      </a:rPr>
                      <m:t>𝑊</m:t>
                    </m:r>
                    <m:r>
                      <a:rPr lang="en-US" altLang="zh-CN" sz="2800" b="0" i="1" smtClean="0">
                        <a:solidFill>
                          <a:srgbClr val="000000"/>
                        </a:solidFill>
                        <a:latin typeface="Cambria Math" panose="02040503050406030204" pitchFamily="18" charset="0"/>
                      </a:rPr>
                      <m:t>=</m:t>
                    </m:r>
                    <m:nary>
                      <m:naryPr>
                        <m:ctrlPr>
                          <a:rPr lang="en-US" altLang="zh-CN" sz="2800" i="1">
                            <a:solidFill>
                              <a:srgbClr val="000000"/>
                            </a:solidFill>
                            <a:latin typeface="Cambria Math" panose="02040503050406030204" pitchFamily="18" charset="0"/>
                          </a:rPr>
                        </m:ctrlPr>
                      </m:naryPr>
                      <m:sub>
                        <m:r>
                          <m:rPr>
                            <m:brk m:alnAt="23"/>
                          </m:rPr>
                          <a:rPr lang="en-US" altLang="zh-CN" sz="2800" b="0" i="1" smtClean="0">
                            <a:solidFill>
                              <a:srgbClr val="000000"/>
                            </a:solidFill>
                            <a:latin typeface="Cambria Math" panose="02040503050406030204" pitchFamily="18" charset="0"/>
                          </a:rPr>
                          <m:t>𝑉</m:t>
                        </m:r>
                      </m:sub>
                      <m:sup/>
                      <m:e>
                        <m:sSub>
                          <m:sSubPr>
                            <m:ctrlPr>
                              <a:rPr lang="en-US" altLang="zh-CN"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𝓌</m:t>
                            </m:r>
                          </m:e>
                          <m:sub>
                            <m:r>
                              <a:rPr lang="en-US" altLang="zh-CN" sz="2800" b="0" i="1" smtClean="0">
                                <a:solidFill>
                                  <a:srgbClr val="000000"/>
                                </a:solidFill>
                                <a:latin typeface="Cambria Math" panose="02040503050406030204" pitchFamily="18" charset="0"/>
                              </a:rPr>
                              <m:t>𝑒</m:t>
                            </m:r>
                          </m:sub>
                        </m:sSub>
                        <m:r>
                          <a:rPr lang="en-US" altLang="zh-CN" sz="2800" b="0" i="1" smtClean="0">
                            <a:solidFill>
                              <a:srgbClr val="000000"/>
                            </a:solidFill>
                            <a:latin typeface="Cambria Math" panose="02040503050406030204" pitchFamily="18" charset="0"/>
                          </a:rPr>
                          <m:t>𝑑𝑉</m:t>
                        </m:r>
                      </m:e>
                    </m:nary>
                    <m:r>
                      <a:rPr lang="en-US" altLang="zh-CN" sz="2800" b="0" i="1" smtClean="0">
                        <a:solidFill>
                          <a:srgbClr val="000000"/>
                        </a:solidFill>
                        <a:latin typeface="Cambria Math" panose="02040503050406030204" pitchFamily="18" charset="0"/>
                      </a:rPr>
                      <m:t>=</m:t>
                    </m:r>
                    <m:nary>
                      <m:naryPr>
                        <m:ctrlPr>
                          <a:rPr lang="en-US" altLang="zh-CN" sz="2800" i="1">
                            <a:solidFill>
                              <a:srgbClr val="000000"/>
                            </a:solidFill>
                            <a:latin typeface="Cambria Math" panose="02040503050406030204" pitchFamily="18" charset="0"/>
                          </a:rPr>
                        </m:ctrlPr>
                      </m:naryPr>
                      <m:sub>
                        <m:r>
                          <m:rPr>
                            <m:brk m:alnAt="23"/>
                          </m:rPr>
                          <a:rPr lang="en-US" altLang="zh-CN" sz="2800" b="0" i="1" smtClean="0">
                            <a:solidFill>
                              <a:srgbClr val="000000"/>
                            </a:solidFill>
                            <a:latin typeface="Cambria Math" panose="02040503050406030204" pitchFamily="18" charset="0"/>
                          </a:rPr>
                          <m:t>𝑉</m:t>
                        </m:r>
                      </m:sub>
                      <m:sup/>
                      <m:e>
                        <m:f>
                          <m:fPr>
                            <m:ctrlPr>
                              <a:rPr lang="en-US" altLang="zh-CN" sz="2800" i="1">
                                <a:solidFill>
                                  <a:srgbClr val="000000"/>
                                </a:solidFill>
                                <a:latin typeface="Cambria Math" panose="02040503050406030204" pitchFamily="18" charset="0"/>
                              </a:rPr>
                            </m:ctrlPr>
                          </m:fPr>
                          <m:num>
                            <m:r>
                              <a:rPr lang="en-US" altLang="zh-CN" sz="2800" b="0" i="1" smtClean="0">
                                <a:solidFill>
                                  <a:srgbClr val="000000"/>
                                </a:solidFill>
                                <a:latin typeface="Cambria Math" panose="02040503050406030204" pitchFamily="18" charset="0"/>
                              </a:rPr>
                              <m:t>1</m:t>
                            </m:r>
                          </m:num>
                          <m:den>
                            <m:r>
                              <a:rPr lang="en-US" altLang="zh-CN" sz="2800" b="0" i="1" smtClean="0">
                                <a:solidFill>
                                  <a:srgbClr val="000000"/>
                                </a:solidFill>
                                <a:latin typeface="Cambria Math" panose="02040503050406030204" pitchFamily="18" charset="0"/>
                              </a:rPr>
                              <m:t>2</m:t>
                            </m:r>
                          </m:den>
                        </m:f>
                        <m:sSub>
                          <m:sSubPr>
                            <m:ctrlPr>
                              <a:rPr lang="en-US" altLang="zh-CN"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𝜀</m:t>
                            </m:r>
                          </m:e>
                          <m:sub>
                            <m:r>
                              <a:rPr lang="en-US" altLang="zh-CN" sz="2800" b="0" i="1" smtClean="0">
                                <a:solidFill>
                                  <a:srgbClr val="000000"/>
                                </a:solidFill>
                                <a:latin typeface="Cambria Math" panose="02040503050406030204" pitchFamily="18" charset="0"/>
                              </a:rPr>
                              <m:t>0</m:t>
                            </m:r>
                          </m:sub>
                        </m:sSub>
                        <m:sSup>
                          <m:sSupPr>
                            <m:ctrlPr>
                              <a:rPr lang="en-US" altLang="zh-CN" sz="2800" i="1">
                                <a:solidFill>
                                  <a:srgbClr val="000000"/>
                                </a:solidFill>
                                <a:latin typeface="Cambria Math" panose="02040503050406030204" pitchFamily="18" charset="0"/>
                              </a:rPr>
                            </m:ctrlPr>
                          </m:sSupPr>
                          <m:e>
                            <m:r>
                              <a:rPr lang="en-US" altLang="zh-CN" sz="2800" b="0" i="1" smtClean="0">
                                <a:solidFill>
                                  <a:srgbClr val="000000"/>
                                </a:solidFill>
                                <a:latin typeface="Cambria Math" panose="02040503050406030204" pitchFamily="18" charset="0"/>
                              </a:rPr>
                              <m:t>𝐸</m:t>
                            </m:r>
                          </m:e>
                          <m:sup>
                            <m:r>
                              <a:rPr lang="en-US" altLang="zh-CN" sz="2800" b="0" i="1" smtClean="0">
                                <a:solidFill>
                                  <a:srgbClr val="000000"/>
                                </a:solidFill>
                                <a:latin typeface="Cambria Math" panose="02040503050406030204" pitchFamily="18" charset="0"/>
                              </a:rPr>
                              <m:t>2</m:t>
                            </m:r>
                          </m:sup>
                        </m:sSup>
                        <m:r>
                          <a:rPr lang="en-US" altLang="zh-CN" sz="2800" b="0" i="1" smtClean="0">
                            <a:solidFill>
                              <a:srgbClr val="000000"/>
                            </a:solidFill>
                            <a:latin typeface="Cambria Math" panose="02040503050406030204" pitchFamily="18" charset="0"/>
                          </a:rPr>
                          <m:t>𝑑𝑉</m:t>
                        </m:r>
                      </m:e>
                    </m:nary>
                  </m:oMath>
                </a14:m>
                <a:endParaRPr lang="en-US" sz="2800" dirty="0">
                  <a:latin typeface="华文楷体" panose="02010600040101010101" pitchFamily="2" charset="-122"/>
                  <a:ea typeface="华文楷体" panose="02010600040101010101" pitchFamily="2" charset="-122"/>
                </a:endParaRPr>
              </a:p>
            </p:txBody>
          </p:sp>
        </mc:Choice>
        <mc:Fallback xmlns="">
          <p:sp>
            <p:nvSpPr>
              <p:cNvPr id="48" name="矩形 47">
                <a:extLst>
                  <a:ext uri="{FF2B5EF4-FFF2-40B4-BE49-F238E27FC236}">
                    <a16:creationId xmlns:a16="http://schemas.microsoft.com/office/drawing/2014/main" id="{9E3C3857-28E4-46B9-A02E-97AAE8ED176B}"/>
                  </a:ext>
                </a:extLst>
              </p:cNvPr>
              <p:cNvSpPr>
                <a:spLocks noRot="1" noChangeAspect="1" noMove="1" noResize="1" noEditPoints="1" noAdjustHandles="1" noChangeArrowheads="1" noChangeShapeType="1" noTextEdit="1"/>
              </p:cNvSpPr>
              <p:nvPr/>
            </p:nvSpPr>
            <p:spPr>
              <a:xfrm>
                <a:off x="2241106" y="5876828"/>
                <a:ext cx="6448368" cy="745653"/>
              </a:xfrm>
              <a:prstGeom prst="rect">
                <a:avLst/>
              </a:prstGeom>
              <a:blipFill>
                <a:blip r:embed="rId4"/>
                <a:stretch>
                  <a:fillRect l="-1987" b="-11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id="{9E0C556E-95A4-46A7-8E35-B39E8FDF26F6}"/>
                  </a:ext>
                </a:extLst>
              </p:cNvPr>
              <p:cNvSpPr/>
              <p:nvPr/>
            </p:nvSpPr>
            <p:spPr>
              <a:xfrm>
                <a:off x="2114645" y="2980713"/>
                <a:ext cx="5468228" cy="817724"/>
              </a:xfrm>
              <a:prstGeom prst="rect">
                <a:avLst/>
              </a:prstGeom>
            </p:spPr>
            <p:txBody>
              <a:bodyPr wrap="none">
                <a:spAutoFit/>
              </a:bodyPr>
              <a:lstStyle/>
              <a:p>
                <a14:m>
                  <m:oMath xmlns:m="http://schemas.openxmlformats.org/officeDocument/2006/math">
                    <m:r>
                      <a:rPr lang="en-US" altLang="zh-CN" sz="2800" b="0" i="1" smtClean="0">
                        <a:solidFill>
                          <a:prstClr val="black"/>
                        </a:solidFill>
                        <a:latin typeface="Cambria Math" panose="02040503050406030204" pitchFamily="18" charset="0"/>
                      </a:rPr>
                      <m:t>=</m:t>
                    </m:r>
                    <m:f>
                      <m:fPr>
                        <m:ctrlPr>
                          <a:rPr lang="en-US" altLang="zh-CN" sz="2800" i="1">
                            <a:solidFill>
                              <a:prstClr val="black"/>
                            </a:solidFill>
                            <a:latin typeface="Cambria Math" panose="02040503050406030204" pitchFamily="18" charset="0"/>
                          </a:rPr>
                        </m:ctrlPr>
                      </m:fPr>
                      <m:num>
                        <m:sSup>
                          <m:sSupPr>
                            <m:ctrlPr>
                              <a:rPr lang="en-US" altLang="zh-CN" sz="2800" i="1">
                                <a:solidFill>
                                  <a:prstClr val="black"/>
                                </a:solidFill>
                                <a:latin typeface="Cambria Math" panose="02040503050406030204" pitchFamily="18" charset="0"/>
                              </a:rPr>
                            </m:ctrlPr>
                          </m:sSupPr>
                          <m:e>
                            <m:r>
                              <a:rPr lang="en-US" altLang="zh-CN" sz="2800" b="0" i="1">
                                <a:solidFill>
                                  <a:prstClr val="black"/>
                                </a:solidFill>
                                <a:latin typeface="Cambria Math" panose="02040503050406030204" pitchFamily="18" charset="0"/>
                              </a:rPr>
                              <m:t>𝑞</m:t>
                            </m:r>
                          </m:e>
                          <m:sup>
                            <m:r>
                              <a:rPr lang="en-US" altLang="zh-CN" sz="2800" b="0" i="1">
                                <a:solidFill>
                                  <a:prstClr val="black"/>
                                </a:solidFill>
                                <a:latin typeface="Cambria Math" panose="02040503050406030204" pitchFamily="18" charset="0"/>
                              </a:rPr>
                              <m:t>2</m:t>
                            </m:r>
                          </m:sup>
                        </m:sSup>
                      </m:num>
                      <m:den>
                        <m:r>
                          <a:rPr lang="en-US" altLang="zh-CN" sz="2800" b="0" i="1" smtClean="0">
                            <a:solidFill>
                              <a:prstClr val="black"/>
                            </a:solidFill>
                            <a:latin typeface="Cambria Math" panose="02040503050406030204" pitchFamily="18" charset="0"/>
                          </a:rPr>
                          <m:t>2</m:t>
                        </m:r>
                        <m:r>
                          <a:rPr lang="en-US" altLang="zh-CN" sz="2800" b="0" i="1" smtClean="0">
                            <a:solidFill>
                              <a:prstClr val="black"/>
                            </a:solidFill>
                            <a:latin typeface="Cambria Math" panose="02040503050406030204" pitchFamily="18" charset="0"/>
                          </a:rPr>
                          <m:t>∗</m:t>
                        </m:r>
                        <m:r>
                          <a:rPr lang="en-US" altLang="zh-CN" sz="2800" b="0" i="1" smtClean="0">
                            <a:solidFill>
                              <a:prstClr val="black"/>
                            </a:solidFill>
                            <a:latin typeface="Cambria Math" panose="02040503050406030204" pitchFamily="18" charset="0"/>
                          </a:rPr>
                          <m:t>4</m:t>
                        </m:r>
                        <m:r>
                          <a:rPr lang="zh-CN" altLang="en-US" sz="2800" b="0" i="1">
                            <a:solidFill>
                              <a:prstClr val="black"/>
                            </a:solidFill>
                            <a:latin typeface="Cambria Math" panose="02040503050406030204" pitchFamily="18" charset="0"/>
                          </a:rPr>
                          <m:t>𝜋</m:t>
                        </m:r>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𝜀</m:t>
                            </m:r>
                          </m:e>
                          <m:sub>
                            <m:r>
                              <a:rPr lang="en-US" altLang="zh-CN" sz="2800" b="0" i="1">
                                <a:solidFill>
                                  <a:prstClr val="black"/>
                                </a:solidFill>
                                <a:latin typeface="Cambria Math" panose="02040503050406030204" pitchFamily="18" charset="0"/>
                              </a:rPr>
                              <m:t>0</m:t>
                            </m:r>
                          </m:sub>
                        </m:sSub>
                        <m:r>
                          <a:rPr lang="en-US" altLang="zh-CN" sz="2800" b="0" i="1">
                            <a:solidFill>
                              <a:prstClr val="black"/>
                            </a:solidFill>
                            <a:latin typeface="Cambria Math" panose="02040503050406030204" pitchFamily="18" charset="0"/>
                          </a:rPr>
                          <m:t>𝑅</m:t>
                        </m:r>
                        <m:r>
                          <a:rPr lang="en-US" altLang="zh-CN" sz="2800" b="0" i="1" baseline="30000" smtClean="0">
                            <a:solidFill>
                              <a:prstClr val="black"/>
                            </a:solidFill>
                            <a:latin typeface="Cambria Math" panose="02040503050406030204" pitchFamily="18" charset="0"/>
                          </a:rPr>
                          <m:t>2</m:t>
                        </m:r>
                      </m:den>
                    </m:f>
                  </m:oMath>
                </a14:m>
                <a:r>
                  <a:rPr lang="en-US" altLang="zh-CN" sz="2800" dirty="0"/>
                  <a:t>dR=</a:t>
                </a:r>
                <a:r>
                  <a:rPr lang="en-US" altLang="zh-CN" sz="2800" dirty="0">
                    <a:solidFill>
                      <a:prstClr val="black"/>
                    </a:solidFill>
                  </a:rPr>
                  <a:t> </a:t>
                </a:r>
                <a14:m>
                  <m:oMath xmlns:m="http://schemas.openxmlformats.org/officeDocument/2006/math">
                    <m:f>
                      <m:fPr>
                        <m:ctrlPr>
                          <a:rPr lang="en-US" altLang="zh-CN" sz="2800" i="1">
                            <a:solidFill>
                              <a:prstClr val="black"/>
                            </a:solidFill>
                            <a:latin typeface="Cambria Math" panose="02040503050406030204" pitchFamily="18" charset="0"/>
                          </a:rPr>
                        </m:ctrlPr>
                      </m:fPr>
                      <m:num>
                        <m:sSup>
                          <m:sSupPr>
                            <m:ctrlPr>
                              <a:rPr lang="en-US" altLang="zh-CN" sz="2800" i="1">
                                <a:solidFill>
                                  <a:prstClr val="black"/>
                                </a:solidFill>
                                <a:latin typeface="Cambria Math" panose="02040503050406030204" pitchFamily="18" charset="0"/>
                              </a:rPr>
                            </m:ctrlPr>
                          </m:sSupPr>
                          <m:e>
                            <m:r>
                              <a:rPr lang="en-US" altLang="zh-CN" sz="2800" b="0" i="1">
                                <a:solidFill>
                                  <a:prstClr val="black"/>
                                </a:solidFill>
                                <a:latin typeface="Cambria Math" panose="02040503050406030204" pitchFamily="18" charset="0"/>
                              </a:rPr>
                              <m:t>𝑞</m:t>
                            </m:r>
                          </m:e>
                          <m:sup>
                            <m:r>
                              <a:rPr lang="en-US" altLang="zh-CN" sz="2800" b="0" i="1">
                                <a:solidFill>
                                  <a:prstClr val="black"/>
                                </a:solidFill>
                                <a:latin typeface="Cambria Math" panose="02040503050406030204" pitchFamily="18" charset="0"/>
                              </a:rPr>
                              <m:t>2</m:t>
                            </m:r>
                          </m:sup>
                        </m:sSup>
                      </m:num>
                      <m:den>
                        <m:r>
                          <a:rPr lang="en-US" altLang="zh-CN" sz="2800" b="0" i="1">
                            <a:solidFill>
                              <a:prstClr val="black"/>
                            </a:solidFill>
                            <a:latin typeface="Cambria Math" panose="02040503050406030204" pitchFamily="18" charset="0"/>
                          </a:rPr>
                          <m:t>2</m:t>
                        </m:r>
                        <m:r>
                          <a:rPr lang="en-US" altLang="zh-CN" sz="2800" b="0" i="1">
                            <a:solidFill>
                              <a:prstClr val="black"/>
                            </a:solidFill>
                            <a:latin typeface="Cambria Math" panose="02040503050406030204" pitchFamily="18" charset="0"/>
                          </a:rPr>
                          <m:t>∗</m:t>
                        </m:r>
                        <m:d>
                          <m:dPr>
                            <m:ctrlPr>
                              <a:rPr lang="en-US" altLang="zh-CN" sz="2800" i="1" smtClean="0">
                                <a:solidFill>
                                  <a:prstClr val="black"/>
                                </a:solidFill>
                                <a:latin typeface="Cambria Math" panose="02040503050406030204" pitchFamily="18" charset="0"/>
                              </a:rPr>
                            </m:ctrlPr>
                          </m:dPr>
                          <m:e>
                            <m:r>
                              <a:rPr lang="en-US" altLang="zh-CN" sz="2800" b="0" i="1">
                                <a:solidFill>
                                  <a:prstClr val="black"/>
                                </a:solidFill>
                                <a:latin typeface="Cambria Math" panose="02040503050406030204" pitchFamily="18" charset="0"/>
                              </a:rPr>
                              <m:t>4</m:t>
                            </m:r>
                            <m:r>
                              <a:rPr lang="zh-CN" altLang="en-US" sz="2800" b="0" i="1">
                                <a:solidFill>
                                  <a:prstClr val="black"/>
                                </a:solidFill>
                                <a:latin typeface="Cambria Math" panose="02040503050406030204" pitchFamily="18" charset="0"/>
                              </a:rPr>
                              <m:t>𝜋</m:t>
                            </m:r>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𝜀</m:t>
                                </m:r>
                              </m:e>
                              <m:sub>
                                <m:r>
                                  <a:rPr lang="en-US" altLang="zh-CN" sz="2800" b="0" i="1">
                                    <a:solidFill>
                                      <a:prstClr val="black"/>
                                    </a:solidFill>
                                    <a:latin typeface="Cambria Math" panose="02040503050406030204" pitchFamily="18" charset="0"/>
                                  </a:rPr>
                                  <m:t>0</m:t>
                                </m:r>
                              </m:sub>
                            </m:sSub>
                            <m:r>
                              <a:rPr lang="en-US" altLang="zh-CN" sz="2800" b="0" i="1">
                                <a:solidFill>
                                  <a:prstClr val="black"/>
                                </a:solidFill>
                                <a:latin typeface="Cambria Math" panose="02040503050406030204" pitchFamily="18" charset="0"/>
                              </a:rPr>
                              <m:t>𝑅</m:t>
                            </m:r>
                            <m:r>
                              <a:rPr lang="en-US" altLang="zh-CN" sz="2800" b="0" i="1" baseline="30000" smtClean="0">
                                <a:solidFill>
                                  <a:prstClr val="black"/>
                                </a:solidFill>
                                <a:latin typeface="Cambria Math" panose="02040503050406030204" pitchFamily="18" charset="0"/>
                              </a:rPr>
                              <m:t>2</m:t>
                            </m:r>
                          </m:e>
                        </m:d>
                        <m:r>
                          <a:rPr lang="en-US" altLang="zh-CN" sz="2800" b="0" i="1" baseline="30000" smtClean="0">
                            <a:solidFill>
                              <a:prstClr val="black"/>
                            </a:solidFill>
                            <a:latin typeface="Cambria Math" panose="02040503050406030204" pitchFamily="18" charset="0"/>
                          </a:rPr>
                          <m:t>2</m:t>
                        </m:r>
                      </m:den>
                    </m:f>
                    <m:r>
                      <a:rPr lang="en-US" altLang="zh-CN" sz="2800" b="0" i="1">
                        <a:solidFill>
                          <a:prstClr val="black"/>
                        </a:solidFill>
                        <a:latin typeface="Cambria Math" panose="02040503050406030204" pitchFamily="18" charset="0"/>
                      </a:rPr>
                      <m:t>4</m:t>
                    </m:r>
                    <m:r>
                      <a:rPr lang="zh-CN" altLang="en-US" sz="2800" b="0" i="1">
                        <a:solidFill>
                          <a:prstClr val="black"/>
                        </a:solidFill>
                        <a:latin typeface="Cambria Math" panose="02040503050406030204" pitchFamily="18" charset="0"/>
                      </a:rPr>
                      <m:t>𝜋</m:t>
                    </m:r>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𝜀</m:t>
                        </m:r>
                      </m:e>
                      <m:sub>
                        <m:r>
                          <a:rPr lang="en-US" altLang="zh-CN" sz="2800" b="0" i="1">
                            <a:solidFill>
                              <a:prstClr val="black"/>
                            </a:solidFill>
                            <a:latin typeface="Cambria Math" panose="02040503050406030204" pitchFamily="18" charset="0"/>
                          </a:rPr>
                          <m:t>0</m:t>
                        </m:r>
                      </m:sub>
                    </m:sSub>
                  </m:oMath>
                </a14:m>
                <a:r>
                  <a:rPr lang="en-US" sz="2800" dirty="0"/>
                  <a:t>R</a:t>
                </a:r>
                <a:r>
                  <a:rPr lang="en-US" sz="2800" baseline="30000" dirty="0"/>
                  <a:t>2</a:t>
                </a:r>
                <a:r>
                  <a:rPr lang="en-US" sz="2800" dirty="0"/>
                  <a:t>dR</a:t>
                </a:r>
              </a:p>
            </p:txBody>
          </p:sp>
        </mc:Choice>
        <mc:Fallback xmlns="">
          <p:sp>
            <p:nvSpPr>
              <p:cNvPr id="49" name="矩形 48">
                <a:extLst>
                  <a:ext uri="{FF2B5EF4-FFF2-40B4-BE49-F238E27FC236}">
                    <a16:creationId xmlns:a16="http://schemas.microsoft.com/office/drawing/2014/main" id="{9E0C556E-95A4-46A7-8E35-B39E8FDF26F6}"/>
                  </a:ext>
                </a:extLst>
              </p:cNvPr>
              <p:cNvSpPr>
                <a:spLocks noRot="1" noChangeAspect="1" noMove="1" noResize="1" noEditPoints="1" noAdjustHandles="1" noChangeArrowheads="1" noChangeShapeType="1" noTextEdit="1"/>
              </p:cNvSpPr>
              <p:nvPr/>
            </p:nvSpPr>
            <p:spPr>
              <a:xfrm>
                <a:off x="2114645" y="2980713"/>
                <a:ext cx="5468228" cy="817724"/>
              </a:xfrm>
              <a:prstGeom prst="rect">
                <a:avLst/>
              </a:prstGeom>
              <a:blipFill>
                <a:blip r:embed="rId5"/>
                <a:stretch>
                  <a:fillRect r="-1338" b="-14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AB785AA5-0D7E-96AB-314E-D0A4CE3F2154}"/>
                  </a:ext>
                </a:extLst>
              </p:cNvPr>
              <p:cNvSpPr/>
              <p:nvPr/>
            </p:nvSpPr>
            <p:spPr>
              <a:xfrm>
                <a:off x="2114645" y="3786055"/>
                <a:ext cx="2387257" cy="817724"/>
              </a:xfrm>
              <a:prstGeom prst="rect">
                <a:avLst/>
              </a:prstGeom>
            </p:spPr>
            <p:txBody>
              <a:bodyPr wrap="none">
                <a:spAutoFit/>
              </a:bodyPr>
              <a:lstStyle/>
              <a:p>
                <a:r>
                  <a:rPr lang="en-US" altLang="zh-CN" sz="2800" dirty="0"/>
                  <a:t>=</a:t>
                </a:r>
                <a:r>
                  <a:rPr lang="en-US" altLang="zh-CN" sz="2800" dirty="0">
                    <a:solidFill>
                      <a:prstClr val="black"/>
                    </a:solidFill>
                  </a:rPr>
                  <a:t> </a:t>
                </a:r>
                <a14:m>
                  <m:oMath xmlns:m="http://schemas.openxmlformats.org/officeDocument/2006/math">
                    <m:f>
                      <m:fPr>
                        <m:ctrlPr>
                          <a:rPr lang="en-US" altLang="zh-CN" sz="2800" i="1">
                            <a:solidFill>
                              <a:prstClr val="black"/>
                            </a:solidFill>
                            <a:latin typeface="Cambria Math" panose="02040503050406030204" pitchFamily="18" charset="0"/>
                          </a:rPr>
                        </m:ctrlPr>
                      </m:fPr>
                      <m:num>
                        <m:sSup>
                          <m:sSupPr>
                            <m:ctrlPr>
                              <a:rPr lang="en-US" altLang="zh-CN" sz="2800" i="1">
                                <a:solidFill>
                                  <a:prstClr val="black"/>
                                </a:solidFill>
                                <a:latin typeface="Cambria Math" panose="02040503050406030204" pitchFamily="18" charset="0"/>
                              </a:rPr>
                            </m:ctrlPr>
                          </m:sSupPr>
                          <m:e>
                            <m:r>
                              <a:rPr lang="en-US" altLang="zh-CN" sz="2800" b="0" i="1">
                                <a:solidFill>
                                  <a:prstClr val="black"/>
                                </a:solidFill>
                                <a:latin typeface="Cambria Math" panose="02040503050406030204" pitchFamily="18" charset="0"/>
                              </a:rPr>
                              <m:t>𝑞</m:t>
                            </m:r>
                          </m:e>
                          <m:sup>
                            <m:r>
                              <a:rPr lang="en-US" altLang="zh-CN" sz="2800" b="0" i="1">
                                <a:solidFill>
                                  <a:prstClr val="black"/>
                                </a:solidFill>
                                <a:latin typeface="Cambria Math" panose="02040503050406030204" pitchFamily="18" charset="0"/>
                              </a:rPr>
                              <m:t>2</m:t>
                            </m:r>
                          </m:sup>
                        </m:sSup>
                      </m:num>
                      <m:den>
                        <m:r>
                          <a:rPr lang="en-US" altLang="zh-CN" sz="2800" b="0" i="1">
                            <a:solidFill>
                              <a:prstClr val="black"/>
                            </a:solidFill>
                            <a:latin typeface="Cambria Math" panose="02040503050406030204" pitchFamily="18" charset="0"/>
                          </a:rPr>
                          <m:t>2</m:t>
                        </m:r>
                        <m:r>
                          <a:rPr lang="en-US" altLang="zh-CN" sz="2800" b="0" i="1">
                            <a:solidFill>
                              <a:prstClr val="black"/>
                            </a:solidFill>
                            <a:latin typeface="Cambria Math" panose="02040503050406030204" pitchFamily="18" charset="0"/>
                          </a:rPr>
                          <m:t>∗</m:t>
                        </m:r>
                        <m:d>
                          <m:dPr>
                            <m:ctrlPr>
                              <a:rPr lang="en-US" altLang="zh-CN" sz="2800" i="1" smtClean="0">
                                <a:solidFill>
                                  <a:prstClr val="black"/>
                                </a:solidFill>
                                <a:latin typeface="Cambria Math" panose="02040503050406030204" pitchFamily="18" charset="0"/>
                              </a:rPr>
                            </m:ctrlPr>
                          </m:dPr>
                          <m:e>
                            <m:r>
                              <a:rPr lang="en-US" altLang="zh-CN" sz="2800" b="0" i="1">
                                <a:solidFill>
                                  <a:prstClr val="black"/>
                                </a:solidFill>
                                <a:latin typeface="Cambria Math" panose="02040503050406030204" pitchFamily="18" charset="0"/>
                              </a:rPr>
                              <m:t>4</m:t>
                            </m:r>
                            <m:r>
                              <a:rPr lang="zh-CN" altLang="en-US" sz="2800" b="0" i="1">
                                <a:solidFill>
                                  <a:prstClr val="black"/>
                                </a:solidFill>
                                <a:latin typeface="Cambria Math" panose="02040503050406030204" pitchFamily="18" charset="0"/>
                              </a:rPr>
                              <m:t>𝜋</m:t>
                            </m:r>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𝜀</m:t>
                                </m:r>
                              </m:e>
                              <m:sub>
                                <m:r>
                                  <a:rPr lang="en-US" altLang="zh-CN" sz="2800" b="0" i="1">
                                    <a:solidFill>
                                      <a:prstClr val="black"/>
                                    </a:solidFill>
                                    <a:latin typeface="Cambria Math" panose="02040503050406030204" pitchFamily="18" charset="0"/>
                                  </a:rPr>
                                  <m:t>0</m:t>
                                </m:r>
                              </m:sub>
                            </m:sSub>
                            <m:r>
                              <a:rPr lang="en-US" altLang="zh-CN" sz="2800" b="0" i="1">
                                <a:solidFill>
                                  <a:prstClr val="black"/>
                                </a:solidFill>
                                <a:latin typeface="Cambria Math" panose="02040503050406030204" pitchFamily="18" charset="0"/>
                              </a:rPr>
                              <m:t>𝑅</m:t>
                            </m:r>
                            <m:r>
                              <a:rPr lang="en-US" altLang="zh-CN" sz="2800" b="0" i="1" baseline="30000" smtClean="0">
                                <a:solidFill>
                                  <a:prstClr val="black"/>
                                </a:solidFill>
                                <a:latin typeface="Cambria Math" panose="02040503050406030204" pitchFamily="18" charset="0"/>
                              </a:rPr>
                              <m:t>2</m:t>
                            </m:r>
                          </m:e>
                        </m:d>
                        <m:r>
                          <a:rPr lang="en-US" altLang="zh-CN" sz="2800" b="0" i="1" baseline="30000" smtClean="0">
                            <a:solidFill>
                              <a:prstClr val="black"/>
                            </a:solidFill>
                            <a:latin typeface="Cambria Math" panose="02040503050406030204" pitchFamily="18" charset="0"/>
                          </a:rPr>
                          <m:t>2</m:t>
                        </m:r>
                      </m:den>
                    </m:f>
                  </m:oMath>
                </a14:m>
                <a:r>
                  <a:rPr lang="en-US" sz="2800" dirty="0"/>
                  <a:t>d</a:t>
                </a:r>
                <a:r>
                  <a:rPr lang="en-US" altLang="zh-CN" sz="2800" dirty="0"/>
                  <a:t>V</a:t>
                </a:r>
                <a:endParaRPr lang="en-US" sz="2800" dirty="0"/>
              </a:p>
            </p:txBody>
          </p:sp>
        </mc:Choice>
        <mc:Fallback xmlns="">
          <p:sp>
            <p:nvSpPr>
              <p:cNvPr id="2" name="矩形 1">
                <a:extLst>
                  <a:ext uri="{FF2B5EF4-FFF2-40B4-BE49-F238E27FC236}">
                    <a16:creationId xmlns:a16="http://schemas.microsoft.com/office/drawing/2014/main" id="{AB785AA5-0D7E-96AB-314E-D0A4CE3F2154}"/>
                  </a:ext>
                </a:extLst>
              </p:cNvPr>
              <p:cNvSpPr>
                <a:spLocks noRot="1" noChangeAspect="1" noMove="1" noResize="1" noEditPoints="1" noAdjustHandles="1" noChangeArrowheads="1" noChangeShapeType="1" noTextEdit="1"/>
              </p:cNvSpPr>
              <p:nvPr/>
            </p:nvSpPr>
            <p:spPr>
              <a:xfrm>
                <a:off x="2114645" y="3786055"/>
                <a:ext cx="2387257" cy="817724"/>
              </a:xfrm>
              <a:prstGeom prst="rect">
                <a:avLst/>
              </a:prstGeom>
              <a:blipFill>
                <a:blip r:embed="rId6"/>
                <a:stretch>
                  <a:fillRect l="-5357" r="-3827" b="-14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3122010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P spid="48" grpId="0"/>
      <p:bldP spid="49" grpId="0"/>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426" y="474896"/>
            <a:ext cx="6586040" cy="801362"/>
          </a:xfrm>
        </p:spPr>
        <p:txBody>
          <a:bodyPr>
            <a:normAutofit/>
          </a:bodyPr>
          <a:lstStyle/>
          <a:p>
            <a:pPr marL="571500" indent="-571500">
              <a:buFont typeface="Wingdings" panose="05000000000000000000" pitchFamily="2" charset="2"/>
              <a:buChar char="q"/>
            </a:pPr>
            <a:r>
              <a:rPr lang="zh-CN" altLang="en-US" sz="32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均匀带电</a:t>
            </a:r>
            <a:r>
              <a:rPr lang="zh-CN" altLang="en-US" sz="3200" b="1" dirty="0">
                <a:solidFill>
                  <a:srgbClr val="0066FF"/>
                </a:solidFill>
                <a:latin typeface="华文楷体" panose="02010600040101010101" pitchFamily="2" charset="-122"/>
                <a:ea typeface="华文楷体" panose="02010600040101010101" pitchFamily="2" charset="-122"/>
              </a:rPr>
              <a:t>球体</a:t>
            </a:r>
            <a:r>
              <a:rPr lang="zh-CN" altLang="en-US" sz="32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的静电能</a:t>
            </a:r>
          </a:p>
        </p:txBody>
      </p:sp>
      <p:grpSp>
        <p:nvGrpSpPr>
          <p:cNvPr id="5" name="Group 7">
            <a:extLst>
              <a:ext uri="{FF2B5EF4-FFF2-40B4-BE49-F238E27FC236}">
                <a16:creationId xmlns:a16="http://schemas.microsoft.com/office/drawing/2014/main" id="{6CC29D45-F942-4917-9ECB-925BEC383DC3}"/>
              </a:ext>
            </a:extLst>
          </p:cNvPr>
          <p:cNvGrpSpPr>
            <a:grpSpLocks/>
          </p:cNvGrpSpPr>
          <p:nvPr/>
        </p:nvGrpSpPr>
        <p:grpSpPr bwMode="auto">
          <a:xfrm>
            <a:off x="1093668" y="1435250"/>
            <a:ext cx="2630531" cy="2499043"/>
            <a:chOff x="3360" y="672"/>
            <a:chExt cx="2066" cy="1966"/>
          </a:xfrm>
        </p:grpSpPr>
        <p:sp>
          <p:nvSpPr>
            <p:cNvPr id="6" name="Oval 8">
              <a:extLst>
                <a:ext uri="{FF2B5EF4-FFF2-40B4-BE49-F238E27FC236}">
                  <a16:creationId xmlns:a16="http://schemas.microsoft.com/office/drawing/2014/main" id="{A294C2CD-6CBF-480A-8270-2A2C934880E9}"/>
                </a:ext>
              </a:extLst>
            </p:cNvPr>
            <p:cNvSpPr>
              <a:spLocks noChangeArrowheads="1"/>
            </p:cNvSpPr>
            <p:nvPr/>
          </p:nvSpPr>
          <p:spPr bwMode="auto">
            <a:xfrm>
              <a:off x="3360" y="720"/>
              <a:ext cx="1898" cy="1899"/>
            </a:xfrm>
            <a:prstGeom prst="ellipse">
              <a:avLst/>
            </a:prstGeom>
            <a:gradFill rotWithShape="1">
              <a:gsLst>
                <a:gs pos="0">
                  <a:schemeClr val="bg1"/>
                </a:gs>
                <a:gs pos="100000">
                  <a:schemeClr val="bg1">
                    <a:gamma/>
                    <a:shade val="47451"/>
                    <a:invGamma/>
                  </a:schemeClr>
                </a:gs>
              </a:gsLst>
              <a:path path="shape">
                <a:fillToRect l="50000" t="50000" r="50000" b="50000"/>
              </a:path>
            </a:gradFill>
            <a:ln>
              <a:noFill/>
            </a:ln>
            <a:effectLst/>
            <a:extLst>
              <a:ext uri="{91240B29-F687-4F45-9708-019B960494DF}">
                <a14:hiddenLine xmlns:a14="http://schemas.microsoft.com/office/drawing/2010/main" w="508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endParaRPr lang="zh-CN" altLang="en-US" sz="3200">
                <a:solidFill>
                  <a:srgbClr val="000000"/>
                </a:solidFill>
                <a:ea typeface="华文楷体" panose="02010600040101010101" pitchFamily="2" charset="-122"/>
                <a:cs typeface="Times New Roman" panose="02020603050405020304" pitchFamily="18" charset="0"/>
              </a:endParaRPr>
            </a:p>
          </p:txBody>
        </p:sp>
        <p:sp>
          <p:nvSpPr>
            <p:cNvPr id="7" name="Rectangle 9">
              <a:extLst>
                <a:ext uri="{FF2B5EF4-FFF2-40B4-BE49-F238E27FC236}">
                  <a16:creationId xmlns:a16="http://schemas.microsoft.com/office/drawing/2014/main" id="{E5166DC3-66B7-4279-8F0B-D03AE7757B5A}"/>
                </a:ext>
              </a:extLst>
            </p:cNvPr>
            <p:cNvSpPr>
              <a:spLocks noChangeArrowheads="1"/>
            </p:cNvSpPr>
            <p:nvPr/>
          </p:nvSpPr>
          <p:spPr bwMode="auto">
            <a:xfrm>
              <a:off x="4864" y="1057"/>
              <a:ext cx="330"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ea typeface="华文楷体" panose="02010600040101010101" pitchFamily="2" charset="-122"/>
                  <a:cs typeface="Times New Roman" panose="02020603050405020304" pitchFamily="18" charset="0"/>
                </a:rPr>
                <a:t>+</a:t>
              </a:r>
            </a:p>
          </p:txBody>
        </p:sp>
        <p:grpSp>
          <p:nvGrpSpPr>
            <p:cNvPr id="8" name="Group 10">
              <a:extLst>
                <a:ext uri="{FF2B5EF4-FFF2-40B4-BE49-F238E27FC236}">
                  <a16:creationId xmlns:a16="http://schemas.microsoft.com/office/drawing/2014/main" id="{E059CA38-DE91-48DB-A9BD-C4B3D735D0E5}"/>
                </a:ext>
              </a:extLst>
            </p:cNvPr>
            <p:cNvGrpSpPr>
              <a:grpSpLocks/>
            </p:cNvGrpSpPr>
            <p:nvPr/>
          </p:nvGrpSpPr>
          <p:grpSpPr bwMode="auto">
            <a:xfrm>
              <a:off x="3462" y="672"/>
              <a:ext cx="1964" cy="1966"/>
              <a:chOff x="3185" y="1871"/>
              <a:chExt cx="2442" cy="2444"/>
            </a:xfrm>
          </p:grpSpPr>
          <p:sp>
            <p:nvSpPr>
              <p:cNvPr id="13" name="Rectangle 11">
                <a:extLst>
                  <a:ext uri="{FF2B5EF4-FFF2-40B4-BE49-F238E27FC236}">
                    <a16:creationId xmlns:a16="http://schemas.microsoft.com/office/drawing/2014/main" id="{4C0D178A-2D27-4BD3-BB3E-E9A8A85F4980}"/>
                  </a:ext>
                </a:extLst>
              </p:cNvPr>
              <p:cNvSpPr>
                <a:spLocks noChangeArrowheads="1"/>
              </p:cNvSpPr>
              <p:nvPr/>
            </p:nvSpPr>
            <p:spPr bwMode="auto">
              <a:xfrm>
                <a:off x="3331" y="331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14" name="Rectangle 12">
                <a:extLst>
                  <a:ext uri="{FF2B5EF4-FFF2-40B4-BE49-F238E27FC236}">
                    <a16:creationId xmlns:a16="http://schemas.microsoft.com/office/drawing/2014/main" id="{D02E7AD7-23F5-4F04-A882-4FF0FC62FA1E}"/>
                  </a:ext>
                </a:extLst>
              </p:cNvPr>
              <p:cNvSpPr>
                <a:spLocks noChangeArrowheads="1"/>
              </p:cNvSpPr>
              <p:nvPr/>
            </p:nvSpPr>
            <p:spPr bwMode="auto">
              <a:xfrm>
                <a:off x="3185" y="302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15" name="Rectangle 13">
                <a:extLst>
                  <a:ext uri="{FF2B5EF4-FFF2-40B4-BE49-F238E27FC236}">
                    <a16:creationId xmlns:a16="http://schemas.microsoft.com/office/drawing/2014/main" id="{8773E4B1-DAC3-4C29-8C6B-7F2E74DADC53}"/>
                  </a:ext>
                </a:extLst>
              </p:cNvPr>
              <p:cNvSpPr>
                <a:spLocks noChangeArrowheads="1"/>
              </p:cNvSpPr>
              <p:nvPr/>
            </p:nvSpPr>
            <p:spPr bwMode="auto">
              <a:xfrm>
                <a:off x="3185" y="2735"/>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ea typeface="华文楷体" panose="02010600040101010101" pitchFamily="2" charset="-122"/>
                    <a:cs typeface="Times New Roman" panose="02020603050405020304" pitchFamily="18" charset="0"/>
                  </a:rPr>
                  <a:t>+</a:t>
                </a:r>
              </a:p>
            </p:txBody>
          </p:sp>
          <p:sp>
            <p:nvSpPr>
              <p:cNvPr id="16" name="Rectangle 14">
                <a:extLst>
                  <a:ext uri="{FF2B5EF4-FFF2-40B4-BE49-F238E27FC236}">
                    <a16:creationId xmlns:a16="http://schemas.microsoft.com/office/drawing/2014/main" id="{427096D2-EC50-42B3-B813-085CA12A1272}"/>
                  </a:ext>
                </a:extLst>
              </p:cNvPr>
              <p:cNvSpPr>
                <a:spLocks noChangeArrowheads="1"/>
              </p:cNvSpPr>
              <p:nvPr/>
            </p:nvSpPr>
            <p:spPr bwMode="auto">
              <a:xfrm>
                <a:off x="3281" y="2351"/>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17" name="Rectangle 15">
                <a:extLst>
                  <a:ext uri="{FF2B5EF4-FFF2-40B4-BE49-F238E27FC236}">
                    <a16:creationId xmlns:a16="http://schemas.microsoft.com/office/drawing/2014/main" id="{E5180BE3-5356-4EAC-9591-9B9CF275CA4C}"/>
                  </a:ext>
                </a:extLst>
              </p:cNvPr>
              <p:cNvSpPr>
                <a:spLocks noChangeArrowheads="1"/>
              </p:cNvSpPr>
              <p:nvPr/>
            </p:nvSpPr>
            <p:spPr bwMode="auto">
              <a:xfrm>
                <a:off x="3569" y="206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18" name="Rectangle 16">
                <a:extLst>
                  <a:ext uri="{FF2B5EF4-FFF2-40B4-BE49-F238E27FC236}">
                    <a16:creationId xmlns:a16="http://schemas.microsoft.com/office/drawing/2014/main" id="{1A080768-143F-43A1-9697-2B8C03BBDEAF}"/>
                  </a:ext>
                </a:extLst>
              </p:cNvPr>
              <p:cNvSpPr>
                <a:spLocks noChangeArrowheads="1"/>
              </p:cNvSpPr>
              <p:nvPr/>
            </p:nvSpPr>
            <p:spPr bwMode="auto">
              <a:xfrm>
                <a:off x="3905" y="1871"/>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19" name="Rectangle 17">
                <a:extLst>
                  <a:ext uri="{FF2B5EF4-FFF2-40B4-BE49-F238E27FC236}">
                    <a16:creationId xmlns:a16="http://schemas.microsoft.com/office/drawing/2014/main" id="{17F40503-BD9F-444F-B355-F447EDFFEF05}"/>
                  </a:ext>
                </a:extLst>
              </p:cNvPr>
              <p:cNvSpPr>
                <a:spLocks noChangeArrowheads="1"/>
              </p:cNvSpPr>
              <p:nvPr/>
            </p:nvSpPr>
            <p:spPr bwMode="auto">
              <a:xfrm>
                <a:off x="4674" y="206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0" name="Rectangle 18">
                <a:extLst>
                  <a:ext uri="{FF2B5EF4-FFF2-40B4-BE49-F238E27FC236}">
                    <a16:creationId xmlns:a16="http://schemas.microsoft.com/office/drawing/2014/main" id="{B4DAE752-E24D-4210-A4EB-8B2515E8E78D}"/>
                  </a:ext>
                </a:extLst>
              </p:cNvPr>
              <p:cNvSpPr>
                <a:spLocks noChangeArrowheads="1"/>
              </p:cNvSpPr>
              <p:nvPr/>
            </p:nvSpPr>
            <p:spPr bwMode="auto">
              <a:xfrm>
                <a:off x="4290" y="1871"/>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1" name="Rectangle 19">
                <a:extLst>
                  <a:ext uri="{FF2B5EF4-FFF2-40B4-BE49-F238E27FC236}">
                    <a16:creationId xmlns:a16="http://schemas.microsoft.com/office/drawing/2014/main" id="{30DF9099-56F6-4AE8-847F-728A5E8ABCBB}"/>
                  </a:ext>
                </a:extLst>
              </p:cNvPr>
              <p:cNvSpPr>
                <a:spLocks noChangeArrowheads="1"/>
              </p:cNvSpPr>
              <p:nvPr/>
            </p:nvSpPr>
            <p:spPr bwMode="auto">
              <a:xfrm>
                <a:off x="4290" y="374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2" name="Rectangle 20">
                <a:extLst>
                  <a:ext uri="{FF2B5EF4-FFF2-40B4-BE49-F238E27FC236}">
                    <a16:creationId xmlns:a16="http://schemas.microsoft.com/office/drawing/2014/main" id="{6D2790CC-A8E8-4EA4-B471-BF8746B9BD67}"/>
                  </a:ext>
                </a:extLst>
              </p:cNvPr>
              <p:cNvSpPr>
                <a:spLocks noChangeArrowheads="1"/>
              </p:cNvSpPr>
              <p:nvPr/>
            </p:nvSpPr>
            <p:spPr bwMode="auto">
              <a:xfrm>
                <a:off x="4674" y="3551"/>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3" name="Rectangle 21">
                <a:extLst>
                  <a:ext uri="{FF2B5EF4-FFF2-40B4-BE49-F238E27FC236}">
                    <a16:creationId xmlns:a16="http://schemas.microsoft.com/office/drawing/2014/main" id="{1DF2EE6A-751E-4E7F-8A4A-0BFCF64F4817}"/>
                  </a:ext>
                </a:extLst>
              </p:cNvPr>
              <p:cNvSpPr>
                <a:spLocks noChangeArrowheads="1"/>
              </p:cNvSpPr>
              <p:nvPr/>
            </p:nvSpPr>
            <p:spPr bwMode="auto">
              <a:xfrm>
                <a:off x="4913" y="331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ea typeface="华文楷体" panose="02010600040101010101" pitchFamily="2" charset="-122"/>
                    <a:cs typeface="Times New Roman" panose="02020603050405020304" pitchFamily="18" charset="0"/>
                  </a:rPr>
                  <a:t>+</a:t>
                </a:r>
              </a:p>
            </p:txBody>
          </p:sp>
          <p:sp>
            <p:nvSpPr>
              <p:cNvPr id="24" name="Rectangle 22">
                <a:extLst>
                  <a:ext uri="{FF2B5EF4-FFF2-40B4-BE49-F238E27FC236}">
                    <a16:creationId xmlns:a16="http://schemas.microsoft.com/office/drawing/2014/main" id="{5AD81C79-DBE8-4CAC-9A6A-7CA1E835A918}"/>
                  </a:ext>
                </a:extLst>
              </p:cNvPr>
              <p:cNvSpPr>
                <a:spLocks noChangeArrowheads="1"/>
              </p:cNvSpPr>
              <p:nvPr/>
            </p:nvSpPr>
            <p:spPr bwMode="auto">
              <a:xfrm>
                <a:off x="5009" y="3022"/>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5" name="Rectangle 23">
                <a:extLst>
                  <a:ext uri="{FF2B5EF4-FFF2-40B4-BE49-F238E27FC236}">
                    <a16:creationId xmlns:a16="http://schemas.microsoft.com/office/drawing/2014/main" id="{97D9DE66-7A5F-410E-A850-C88F65643838}"/>
                  </a:ext>
                </a:extLst>
              </p:cNvPr>
              <p:cNvSpPr>
                <a:spLocks noChangeArrowheads="1"/>
              </p:cNvSpPr>
              <p:nvPr/>
            </p:nvSpPr>
            <p:spPr bwMode="auto">
              <a:xfrm>
                <a:off x="5058" y="2687"/>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dirty="0">
                    <a:solidFill>
                      <a:srgbClr val="000000"/>
                    </a:solidFill>
                    <a:ea typeface="华文楷体" panose="02010600040101010101" pitchFamily="2" charset="-122"/>
                    <a:cs typeface="Times New Roman" panose="02020603050405020304" pitchFamily="18" charset="0"/>
                  </a:rPr>
                  <a:t>+</a:t>
                </a:r>
              </a:p>
            </p:txBody>
          </p:sp>
          <p:sp>
            <p:nvSpPr>
              <p:cNvPr id="26" name="Rectangle 24">
                <a:extLst>
                  <a:ext uri="{FF2B5EF4-FFF2-40B4-BE49-F238E27FC236}">
                    <a16:creationId xmlns:a16="http://schemas.microsoft.com/office/drawing/2014/main" id="{D2EEE2CA-9820-4257-BF33-DC747425C979}"/>
                  </a:ext>
                </a:extLst>
              </p:cNvPr>
              <p:cNvSpPr>
                <a:spLocks noChangeArrowheads="1"/>
              </p:cNvSpPr>
              <p:nvPr/>
            </p:nvSpPr>
            <p:spPr bwMode="auto">
              <a:xfrm>
                <a:off x="3618" y="3599"/>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p:sp>
            <p:nvSpPr>
              <p:cNvPr id="27" name="Rectangle 25">
                <a:extLst>
                  <a:ext uri="{FF2B5EF4-FFF2-40B4-BE49-F238E27FC236}">
                    <a16:creationId xmlns:a16="http://schemas.microsoft.com/office/drawing/2014/main" id="{E5CC6583-355A-4F62-85DF-E88E4F478855}"/>
                  </a:ext>
                </a:extLst>
              </p:cNvPr>
              <p:cNvSpPr>
                <a:spLocks noChangeArrowheads="1"/>
              </p:cNvSpPr>
              <p:nvPr/>
            </p:nvSpPr>
            <p:spPr bwMode="auto">
              <a:xfrm>
                <a:off x="3952" y="3743"/>
                <a:ext cx="410"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28" name="Rectangle 26">
                    <a:extLst>
                      <a:ext uri="{FF2B5EF4-FFF2-40B4-BE49-F238E27FC236}">
                        <a16:creationId xmlns:a16="http://schemas.microsoft.com/office/drawing/2014/main" id="{C70D9A0C-E353-4FED-803D-7A51259EAB17}"/>
                      </a:ext>
                    </a:extLst>
                  </p:cNvPr>
                  <p:cNvSpPr>
                    <a:spLocks noChangeArrowheads="1"/>
                  </p:cNvSpPr>
                  <p:nvPr/>
                </p:nvSpPr>
                <p:spPr bwMode="auto">
                  <a:xfrm>
                    <a:off x="5102" y="1976"/>
                    <a:ext cx="525" cy="572"/>
                  </a:xfrm>
                  <a:prstGeom prst="rect">
                    <a:avLst/>
                  </a:prstGeom>
                  <a:noFill/>
                  <a:ln>
                    <a:noFill/>
                  </a:ln>
                  <a:effectLst/>
                  <a:extLst>
                    <a:ext uri="{909E8E84-426E-40DD-AFC4-6F175D3DCCD1}">
                      <a14:hiddenFill>
                        <a:solidFill>
                          <a:schemeClr val="accent1"/>
                        </a:solidFill>
                      </a14:hiddenFill>
                    </a:ext>
                    <a:ext uri="{91240B29-F687-4F45-9708-019B960494DF}">
                      <a14:hiddenLine w="9525">
                        <a:solidFill>
                          <a:srgbClr val="FFFF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altLang="zh-CN" sz="3200" i="1">
                              <a:solidFill>
                                <a:srgbClr val="000000"/>
                              </a:solidFill>
                              <a:latin typeface="Cambria Math" panose="02040503050406030204" pitchFamily="18" charset="0"/>
                              <a:ea typeface="华文新魏" panose="02010800040101010101" pitchFamily="2" charset="-122"/>
                            </a:rPr>
                            <m:t>𝒒</m:t>
                          </m:r>
                        </m:oMath>
                      </m:oMathPara>
                    </a14:m>
                    <a:endParaRPr lang="en-US" altLang="zh-CN" sz="3200" i="1" dirty="0">
                      <a:solidFill>
                        <a:srgbClr val="000000"/>
                      </a:solidFill>
                      <a:ea typeface="华文楷体" panose="02010600040101010101" pitchFamily="2" charset="-122"/>
                      <a:cs typeface="Times New Roman" panose="02020603050405020304" pitchFamily="18" charset="0"/>
                    </a:endParaRPr>
                  </a:p>
                </p:txBody>
              </p:sp>
            </mc:Choice>
            <mc:Fallback xmlns="">
              <p:sp>
                <p:nvSpPr>
                  <p:cNvPr id="28" name="Rectangle 26">
                    <a:extLst>
                      <a:ext uri="{FF2B5EF4-FFF2-40B4-BE49-F238E27FC236}">
                        <a16:creationId xmlns:a16="http://schemas.microsoft.com/office/drawing/2014/main" id="{C70D9A0C-E353-4FED-803D-7A51259EAB17}"/>
                      </a:ext>
                    </a:extLst>
                  </p:cNvPr>
                  <p:cNvSpPr>
                    <a:spLocks noRot="1" noChangeAspect="1" noMove="1" noResize="1" noEditPoints="1" noAdjustHandles="1" noChangeArrowheads="1" noChangeShapeType="1" noTextEdit="1"/>
                  </p:cNvSpPr>
                  <p:nvPr/>
                </p:nvSpPr>
                <p:spPr bwMode="auto">
                  <a:xfrm>
                    <a:off x="5102" y="1976"/>
                    <a:ext cx="525" cy="572"/>
                  </a:xfrm>
                  <a:prstGeom prst="rect">
                    <a:avLst/>
                  </a:prstGeom>
                  <a:blipFill>
                    <a:blip r:embed="rId2"/>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grpSp>
          <p:nvGrpSpPr>
            <p:cNvPr id="9" name="Group 27">
              <a:extLst>
                <a:ext uri="{FF2B5EF4-FFF2-40B4-BE49-F238E27FC236}">
                  <a16:creationId xmlns:a16="http://schemas.microsoft.com/office/drawing/2014/main" id="{338D0FD5-E0D2-48E5-88E0-CA79D0B47D08}"/>
                </a:ext>
              </a:extLst>
            </p:cNvPr>
            <p:cNvGrpSpPr>
              <a:grpSpLocks/>
            </p:cNvGrpSpPr>
            <p:nvPr/>
          </p:nvGrpSpPr>
          <p:grpSpPr bwMode="auto">
            <a:xfrm>
              <a:off x="3705" y="935"/>
              <a:ext cx="881" cy="1057"/>
              <a:chOff x="455" y="1388"/>
              <a:chExt cx="881" cy="1057"/>
            </a:xfrm>
          </p:grpSpPr>
          <p:sp>
            <p:nvSpPr>
              <p:cNvPr id="10" name="Line 28">
                <a:extLst>
                  <a:ext uri="{FF2B5EF4-FFF2-40B4-BE49-F238E27FC236}">
                    <a16:creationId xmlns:a16="http://schemas.microsoft.com/office/drawing/2014/main" id="{3D239885-E582-483D-9286-4672CC5DA13E}"/>
                  </a:ext>
                </a:extLst>
              </p:cNvPr>
              <p:cNvSpPr>
                <a:spLocks noChangeShapeType="1"/>
              </p:cNvSpPr>
              <p:nvPr/>
            </p:nvSpPr>
            <p:spPr bwMode="auto">
              <a:xfrm flipH="1" flipV="1">
                <a:off x="455" y="1388"/>
                <a:ext cx="647" cy="707"/>
              </a:xfrm>
              <a:prstGeom prst="line">
                <a:avLst/>
              </a:prstGeom>
              <a:noFill/>
              <a:ln w="25400">
                <a:solidFill>
                  <a:srgbClr val="FF0000"/>
                </a:solidFill>
                <a:round/>
                <a:headEnd type="oval"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defRPr/>
                </a:pPr>
                <a:endParaRPr kumimoji="1" lang="zh-CN" altLang="en-US" b="1" dirty="0">
                  <a:solidFill>
                    <a:srgbClr val="000000"/>
                  </a:solidFill>
                  <a:highlight>
                    <a:srgbClr val="008000"/>
                  </a:highligh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 name="Text Box 29">
                <a:extLst>
                  <a:ext uri="{FF2B5EF4-FFF2-40B4-BE49-F238E27FC236}">
                    <a16:creationId xmlns:a16="http://schemas.microsoft.com/office/drawing/2014/main" id="{70FDC973-5AA9-4FBC-8980-61918A9EA4D9}"/>
                  </a:ext>
                </a:extLst>
              </p:cNvPr>
              <p:cNvSpPr txBox="1">
                <a:spLocks noChangeArrowheads="1"/>
              </p:cNvSpPr>
              <p:nvPr/>
            </p:nvSpPr>
            <p:spPr bwMode="auto">
              <a:xfrm>
                <a:off x="669" y="1751"/>
                <a:ext cx="360" cy="4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en-US" altLang="zh-CN" sz="3200" i="1" dirty="0">
                    <a:solidFill>
                      <a:srgbClr val="000000"/>
                    </a:solidFill>
                    <a:ea typeface="华文楷体" panose="02010600040101010101" pitchFamily="2" charset="-122"/>
                    <a:cs typeface="Times New Roman" panose="02020603050405020304" pitchFamily="18" charset="0"/>
                  </a:rPr>
                  <a:t>R</a:t>
                </a:r>
              </a:p>
            </p:txBody>
          </p:sp>
          <p:sp>
            <p:nvSpPr>
              <p:cNvPr id="12" name="Text Box 30">
                <a:extLst>
                  <a:ext uri="{FF2B5EF4-FFF2-40B4-BE49-F238E27FC236}">
                    <a16:creationId xmlns:a16="http://schemas.microsoft.com/office/drawing/2014/main" id="{5174370A-8A52-4056-BF7A-CF63BB747208}"/>
                  </a:ext>
                </a:extLst>
              </p:cNvPr>
              <p:cNvSpPr txBox="1">
                <a:spLocks noChangeArrowheads="1"/>
              </p:cNvSpPr>
              <p:nvPr/>
            </p:nvSpPr>
            <p:spPr bwMode="auto">
              <a:xfrm>
                <a:off x="1026" y="1985"/>
                <a:ext cx="310" cy="4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defRPr/>
                </a:pPr>
                <a:r>
                  <a:rPr lang="en-US" altLang="zh-CN" sz="3200">
                    <a:solidFill>
                      <a:srgbClr val="000000"/>
                    </a:solidFill>
                    <a:ea typeface="华文楷体" panose="02010600040101010101" pitchFamily="2" charset="-122"/>
                    <a:cs typeface="Times New Roman" panose="02020603050405020304" pitchFamily="18" charset="0"/>
                  </a:rPr>
                  <a:t>o</a:t>
                </a:r>
              </a:p>
            </p:txBody>
          </p:sp>
        </p:grpSp>
      </p:grpSp>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E85E378D-15AC-48B7-8B8B-8ECC1A4F1445}"/>
                  </a:ext>
                </a:extLst>
              </p:cNvPr>
              <p:cNvSpPr/>
              <p:nvPr/>
            </p:nvSpPr>
            <p:spPr>
              <a:xfrm>
                <a:off x="4306338" y="1044465"/>
                <a:ext cx="6644255" cy="1797159"/>
              </a:xfrm>
              <a:prstGeom prst="rect">
                <a:avLst/>
              </a:prstGeom>
            </p:spPr>
            <p:txBody>
              <a:bodyPr wrap="none">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𝑊</m:t>
                      </m:r>
                      <m:r>
                        <a:rPr lang="en-US" altLang="zh-CN" sz="2800" b="0" i="1" smtClean="0">
                          <a:latin typeface="Cambria Math" panose="02040503050406030204" pitchFamily="18" charset="0"/>
                        </a:rPr>
                        <m:t>=</m:t>
                      </m:r>
                      <m:nary>
                        <m:naryPr>
                          <m:limLoc m:val="undOvr"/>
                          <m:subHide m:val="on"/>
                          <m:supHide m:val="on"/>
                          <m:ctrlPr>
                            <a:rPr lang="en-US" altLang="zh-CN" sz="2800" i="1" smtClean="0">
                              <a:latin typeface="Cambria Math" panose="02040503050406030204" pitchFamily="18" charset="0"/>
                            </a:rPr>
                          </m:ctrlPr>
                        </m:naryPr>
                        <m:sub/>
                        <m:sup/>
                        <m:e>
                          <m:sSub>
                            <m:sSubPr>
                              <m:ctrlPr>
                                <a:rPr lang="en-US" altLang="zh-CN"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𝓌</m:t>
                              </m:r>
                            </m:e>
                            <m:sub>
                              <m:r>
                                <a:rPr lang="en-US" altLang="zh-CN" sz="2800" b="0" i="1">
                                  <a:solidFill>
                                    <a:srgbClr val="000000"/>
                                  </a:solidFill>
                                  <a:latin typeface="Cambria Math" panose="02040503050406030204" pitchFamily="18" charset="0"/>
                                </a:rPr>
                                <m:t>𝑒</m:t>
                              </m:r>
                            </m:sub>
                          </m:sSub>
                          <m:r>
                            <a:rPr lang="en-US" altLang="zh-CN" sz="2800" b="0" i="1">
                              <a:solidFill>
                                <a:srgbClr val="000000"/>
                              </a:solidFill>
                              <a:latin typeface="Cambria Math" panose="02040503050406030204" pitchFamily="18" charset="0"/>
                            </a:rPr>
                            <m:t>𝑑𝑉</m:t>
                          </m:r>
                        </m:e>
                      </m:nary>
                      <m:r>
                        <a:rPr lang="en-US" altLang="zh-CN" sz="2800" b="0" i="1" smtClean="0">
                          <a:latin typeface="Cambria Math" panose="02040503050406030204" pitchFamily="18" charset="0"/>
                        </a:rPr>
                        <m:t>=</m:t>
                      </m:r>
                      <m:nary>
                        <m:naryPr>
                          <m:ctrlPr>
                            <a:rPr lang="en-US" altLang="zh-CN" sz="2800" i="1" smtClean="0">
                              <a:latin typeface="Cambria Math" panose="02040503050406030204" pitchFamily="18" charset="0"/>
                            </a:rPr>
                          </m:ctrlPr>
                        </m:naryPr>
                        <m:sub>
                          <m:r>
                            <m:rPr>
                              <m:brk m:alnAt="23"/>
                            </m:rPr>
                            <a:rPr lang="en-US" altLang="zh-CN" sz="2800" b="0" i="1" smtClean="0">
                              <a:latin typeface="Cambria Math" panose="02040503050406030204" pitchFamily="18" charset="0"/>
                            </a:rPr>
                            <m:t>0</m:t>
                          </m:r>
                        </m:sub>
                        <m:sup>
                          <m:r>
                            <a:rPr lang="en-US" altLang="zh-CN" sz="2800" b="0" i="1" smtClean="0">
                              <a:latin typeface="Cambria Math" panose="02040503050406030204" pitchFamily="18" charset="0"/>
                            </a:rPr>
                            <m:t>𝑅</m:t>
                          </m:r>
                        </m:sup>
                        <m:e>
                          <m:sSub>
                            <m:sSubPr>
                              <m:ctrlPr>
                                <a:rPr lang="en-US" altLang="zh-CN"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𝓌</m:t>
                              </m:r>
                            </m:e>
                            <m:sub>
                              <m:r>
                                <a:rPr lang="en-US" altLang="zh-CN" sz="2800" b="0" i="1">
                                  <a:solidFill>
                                    <a:srgbClr val="000000"/>
                                  </a:solidFill>
                                  <a:latin typeface="Cambria Math" panose="02040503050406030204" pitchFamily="18" charset="0"/>
                                </a:rPr>
                                <m:t>𝑒</m:t>
                              </m:r>
                              <m:r>
                                <a:rPr lang="en-US" altLang="zh-CN" sz="2800" b="0" i="1" smtClean="0">
                                  <a:solidFill>
                                    <a:srgbClr val="000000"/>
                                  </a:solidFill>
                                  <a:latin typeface="Cambria Math" panose="02040503050406030204" pitchFamily="18" charset="0"/>
                                </a:rPr>
                                <m:t>1</m:t>
                              </m:r>
                            </m:sub>
                          </m:sSub>
                          <m:r>
                            <a:rPr lang="en-US" altLang="zh-CN" sz="2800" b="0" i="1">
                              <a:solidFill>
                                <a:srgbClr val="000000"/>
                              </a:solidFill>
                              <a:latin typeface="Cambria Math" panose="02040503050406030204" pitchFamily="18" charset="0"/>
                            </a:rPr>
                            <m:t>𝑑𝑉</m:t>
                          </m:r>
                        </m:e>
                      </m:nary>
                      <m:r>
                        <a:rPr lang="en-US" altLang="zh-CN" sz="2800" b="0" i="1" smtClean="0">
                          <a:latin typeface="Cambria Math" panose="02040503050406030204" pitchFamily="18" charset="0"/>
                        </a:rPr>
                        <m:t>+</m:t>
                      </m:r>
                      <m:nary>
                        <m:naryPr>
                          <m:ctrlPr>
                            <a:rPr lang="en-US" altLang="zh-CN" sz="2800" i="1">
                              <a:solidFill>
                                <a:prstClr val="black"/>
                              </a:solidFill>
                              <a:latin typeface="Cambria Math" panose="02040503050406030204" pitchFamily="18" charset="0"/>
                            </a:rPr>
                          </m:ctrlPr>
                        </m:naryPr>
                        <m:sub>
                          <m:r>
                            <a:rPr lang="en-US" altLang="zh-CN" sz="2800" b="0" i="1">
                              <a:solidFill>
                                <a:prstClr val="black"/>
                              </a:solidFill>
                              <a:latin typeface="Cambria Math" panose="02040503050406030204" pitchFamily="18" charset="0"/>
                            </a:rPr>
                            <m:t>𝑅</m:t>
                          </m:r>
                        </m:sub>
                        <m:sup>
                          <m:r>
                            <a:rPr lang="en-US" altLang="zh-CN" sz="2800" b="0" i="1">
                              <a:solidFill>
                                <a:prstClr val="black"/>
                              </a:solidFill>
                              <a:latin typeface="Cambria Math" panose="02040503050406030204" pitchFamily="18" charset="0"/>
                              <a:ea typeface="Cambria Math" panose="02040503050406030204" pitchFamily="18" charset="0"/>
                            </a:rPr>
                            <m:t>∞</m:t>
                          </m:r>
                        </m:sup>
                        <m:e>
                          <m:sSub>
                            <m:sSubPr>
                              <m:ctrlPr>
                                <a:rPr lang="en-US" altLang="zh-CN"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𝓌</m:t>
                              </m:r>
                            </m:e>
                            <m:sub>
                              <m:r>
                                <a:rPr lang="en-US" altLang="zh-CN" sz="2800" b="0" i="1">
                                  <a:solidFill>
                                    <a:srgbClr val="000000"/>
                                  </a:solidFill>
                                  <a:latin typeface="Cambria Math" panose="02040503050406030204" pitchFamily="18" charset="0"/>
                                </a:rPr>
                                <m:t>𝑒</m:t>
                              </m:r>
                              <m:r>
                                <a:rPr lang="en-US" altLang="zh-CN" sz="2800" b="0" i="1">
                                  <a:solidFill>
                                    <a:srgbClr val="000000"/>
                                  </a:solidFill>
                                  <a:latin typeface="Cambria Math" panose="02040503050406030204" pitchFamily="18" charset="0"/>
                                </a:rPr>
                                <m:t>2</m:t>
                              </m:r>
                            </m:sub>
                          </m:sSub>
                          <m:r>
                            <a:rPr lang="en-US" altLang="zh-CN" sz="2800" b="0" i="1">
                              <a:solidFill>
                                <a:srgbClr val="000000"/>
                              </a:solidFill>
                              <a:latin typeface="Cambria Math" panose="02040503050406030204" pitchFamily="18" charset="0"/>
                            </a:rPr>
                            <m:t>𝑑𝑉</m:t>
                          </m:r>
                        </m:e>
                      </m:nary>
                    </m:oMath>
                  </m:oMathPara>
                </a14:m>
                <a:endParaRPr lang="en-US" altLang="zh-CN" sz="2800" dirty="0">
                  <a:solidFill>
                    <a:prstClr val="black"/>
                  </a:solidFill>
                  <a:ea typeface="Cambria Math" panose="02040503050406030204" pitchFamily="18" charset="0"/>
                </a:endParaRPr>
              </a:p>
            </p:txBody>
          </p:sp>
        </mc:Choice>
        <mc:Fallback xmlns="">
          <p:sp>
            <p:nvSpPr>
              <p:cNvPr id="30" name="矩形 29">
                <a:extLst>
                  <a:ext uri="{FF2B5EF4-FFF2-40B4-BE49-F238E27FC236}">
                    <a16:creationId xmlns:a16="http://schemas.microsoft.com/office/drawing/2014/main" id="{E85E378D-15AC-48B7-8B8B-8ECC1A4F1445}"/>
                  </a:ext>
                </a:extLst>
              </p:cNvPr>
              <p:cNvSpPr>
                <a:spLocks noRot="1" noChangeAspect="1" noMove="1" noResize="1" noEditPoints="1" noAdjustHandles="1" noChangeArrowheads="1" noChangeShapeType="1" noTextEdit="1"/>
              </p:cNvSpPr>
              <p:nvPr/>
            </p:nvSpPr>
            <p:spPr>
              <a:xfrm>
                <a:off x="4306338" y="1044465"/>
                <a:ext cx="6644255" cy="179715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0ADD9358-EB95-40C3-8A25-235DE6C05FF0}"/>
                  </a:ext>
                </a:extLst>
              </p:cNvPr>
              <p:cNvSpPr/>
              <p:nvPr/>
            </p:nvSpPr>
            <p:spPr>
              <a:xfrm>
                <a:off x="4346180" y="2841624"/>
                <a:ext cx="6167201" cy="106138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nary>
                        <m:naryPr>
                          <m:ctrlPr>
                            <a:rPr lang="en-US" altLang="zh-CN" sz="2800" i="1">
                              <a:solidFill>
                                <a:prstClr val="black"/>
                              </a:solidFill>
                              <a:latin typeface="Cambria Math" panose="02040503050406030204" pitchFamily="18" charset="0"/>
                            </a:rPr>
                          </m:ctrlPr>
                        </m:naryPr>
                        <m:sub>
                          <m:r>
                            <m:rPr>
                              <m:brk m:alnAt="23"/>
                            </m:rPr>
                            <a:rPr lang="en-US" altLang="zh-CN" sz="2800" b="0" i="1">
                              <a:solidFill>
                                <a:prstClr val="black"/>
                              </a:solidFill>
                              <a:latin typeface="Cambria Math" panose="02040503050406030204" pitchFamily="18" charset="0"/>
                            </a:rPr>
                            <m:t>0</m:t>
                          </m:r>
                        </m:sub>
                        <m:sup>
                          <m:r>
                            <a:rPr lang="en-US" altLang="zh-CN" sz="2800" b="0" i="1">
                              <a:solidFill>
                                <a:prstClr val="black"/>
                              </a:solidFill>
                              <a:latin typeface="Cambria Math" panose="02040503050406030204" pitchFamily="18" charset="0"/>
                            </a:rPr>
                            <m:t>𝑅</m:t>
                          </m:r>
                        </m:sup>
                        <m:e>
                          <m:f>
                            <m:fPr>
                              <m:ctrlPr>
                                <a:rPr lang="en-US" altLang="zh-CN" sz="2800" i="1">
                                  <a:solidFill>
                                    <a:srgbClr val="000000"/>
                                  </a:solidFill>
                                  <a:latin typeface="Cambria Math" panose="02040503050406030204" pitchFamily="18" charset="0"/>
                                </a:rPr>
                              </m:ctrlPr>
                            </m:fPr>
                            <m:num>
                              <m:sSub>
                                <m:sSubPr>
                                  <m:ctrlPr>
                                    <a:rPr lang="en-US" altLang="zh-CN"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en-US" altLang="zh-CN" sz="2800" b="0" i="1">
                                      <a:solidFill>
                                        <a:srgbClr val="000000"/>
                                      </a:solidFill>
                                      <a:latin typeface="Cambria Math" panose="02040503050406030204" pitchFamily="18" charset="0"/>
                                    </a:rPr>
                                    <m:t>0</m:t>
                                  </m:r>
                                </m:sub>
                              </m:sSub>
                            </m:num>
                            <m:den>
                              <m:r>
                                <a:rPr lang="en-US" altLang="zh-CN" sz="2800" b="0" i="1">
                                  <a:solidFill>
                                    <a:srgbClr val="000000"/>
                                  </a:solidFill>
                                  <a:latin typeface="Cambria Math" panose="02040503050406030204" pitchFamily="18" charset="0"/>
                                </a:rPr>
                                <m:t>2</m:t>
                              </m:r>
                            </m:den>
                          </m:f>
                          <m:sSubSup>
                            <m:sSubSupPr>
                              <m:ctrlPr>
                                <a:rPr lang="en-US" altLang="zh-CN" sz="2800" i="1" smtClean="0">
                                  <a:solidFill>
                                    <a:srgbClr val="000000"/>
                                  </a:solidFill>
                                  <a:latin typeface="Cambria Math" panose="02040503050406030204" pitchFamily="18" charset="0"/>
                                </a:rPr>
                              </m:ctrlPr>
                            </m:sSubSupPr>
                            <m:e>
                              <m:r>
                                <a:rPr lang="en-US" altLang="zh-CN" sz="2800" b="0" i="1">
                                  <a:solidFill>
                                    <a:srgbClr val="000000"/>
                                  </a:solidFill>
                                  <a:latin typeface="Cambria Math" panose="02040503050406030204" pitchFamily="18" charset="0"/>
                                </a:rPr>
                                <m:t>𝐸</m:t>
                              </m:r>
                            </m:e>
                            <m:sub>
                              <m:r>
                                <a:rPr lang="en-US" altLang="zh-CN" sz="2800" b="0" i="1" smtClean="0">
                                  <a:solidFill>
                                    <a:srgbClr val="000000"/>
                                  </a:solidFill>
                                  <a:latin typeface="Cambria Math" panose="02040503050406030204" pitchFamily="18" charset="0"/>
                                </a:rPr>
                                <m:t>1</m:t>
                              </m:r>
                            </m:sub>
                            <m:sup>
                              <m:r>
                                <a:rPr lang="en-US" altLang="zh-CN" sz="2800" b="0" i="1" smtClean="0">
                                  <a:solidFill>
                                    <a:srgbClr val="000000"/>
                                  </a:solidFill>
                                  <a:latin typeface="Cambria Math" panose="02040503050406030204" pitchFamily="18" charset="0"/>
                                </a:rPr>
                                <m:t>2</m:t>
                              </m:r>
                            </m:sup>
                          </m:sSubSup>
                          <m:r>
                            <a:rPr lang="en-US" altLang="zh-CN" sz="2800" b="0" i="1" smtClean="0">
                              <a:solidFill>
                                <a:srgbClr val="0000FF"/>
                              </a:solidFill>
                              <a:latin typeface="Cambria Math" panose="02040503050406030204" pitchFamily="18" charset="0"/>
                            </a:rPr>
                            <m:t>4</m:t>
                          </m:r>
                          <m:r>
                            <a:rPr lang="zh-CN" altLang="en-US" sz="2800" b="0" i="1">
                              <a:solidFill>
                                <a:srgbClr val="0000FF"/>
                              </a:solidFill>
                              <a:latin typeface="Cambria Math" panose="02040503050406030204" pitchFamily="18" charset="0"/>
                            </a:rPr>
                            <m:t>𝜋</m:t>
                          </m:r>
                          <m:sSup>
                            <m:sSupPr>
                              <m:ctrlPr>
                                <a:rPr lang="en-US" altLang="zh-CN" sz="2800" i="1">
                                  <a:solidFill>
                                    <a:srgbClr val="0000FF"/>
                                  </a:solidFill>
                                  <a:latin typeface="Cambria Math" panose="02040503050406030204" pitchFamily="18" charset="0"/>
                                </a:rPr>
                              </m:ctrlPr>
                            </m:sSupPr>
                            <m:e>
                              <m:r>
                                <a:rPr lang="en-US" altLang="zh-CN" sz="2800" b="0" i="1" smtClean="0">
                                  <a:solidFill>
                                    <a:srgbClr val="0000FF"/>
                                  </a:solidFill>
                                  <a:latin typeface="Cambria Math" panose="02040503050406030204" pitchFamily="18" charset="0"/>
                                </a:rPr>
                                <m:t>𝑟</m:t>
                              </m:r>
                            </m:e>
                            <m:sup>
                              <m:r>
                                <a:rPr lang="en-US" altLang="zh-CN" sz="2800" b="0" i="1">
                                  <a:solidFill>
                                    <a:srgbClr val="0000FF"/>
                                  </a:solidFill>
                                  <a:latin typeface="Cambria Math" panose="02040503050406030204" pitchFamily="18" charset="0"/>
                                </a:rPr>
                                <m:t>2</m:t>
                              </m:r>
                            </m:sup>
                          </m:sSup>
                          <m:r>
                            <a:rPr lang="en-US" altLang="zh-CN" sz="2800" b="0" i="1">
                              <a:solidFill>
                                <a:srgbClr val="0000FF"/>
                              </a:solidFill>
                              <a:latin typeface="Cambria Math" panose="02040503050406030204" pitchFamily="18" charset="0"/>
                            </a:rPr>
                            <m:t>𝑑</m:t>
                          </m:r>
                          <m:r>
                            <a:rPr lang="en-US" altLang="zh-CN" sz="2800" b="0" i="1" smtClean="0">
                              <a:solidFill>
                                <a:srgbClr val="0000FF"/>
                              </a:solidFill>
                              <a:latin typeface="Cambria Math" panose="02040503050406030204" pitchFamily="18" charset="0"/>
                            </a:rPr>
                            <m:t>𝑟</m:t>
                          </m:r>
                          <m:r>
                            <m:rPr>
                              <m:nor/>
                            </m:rPr>
                            <a:rPr lang="en-US" altLang="zh-CN" sz="2800" i="1" dirty="0">
                              <a:solidFill>
                                <a:srgbClr val="0000FF"/>
                              </a:solidFill>
                              <a:latin typeface="Cambria Math" panose="02040503050406030204" pitchFamily="18" charset="0"/>
                            </a:rPr>
                            <m:t> </m:t>
                          </m:r>
                        </m:e>
                      </m:nary>
                      <m:r>
                        <a:rPr lang="en-US" altLang="zh-CN" sz="2800" b="0" i="1">
                          <a:solidFill>
                            <a:prstClr val="black"/>
                          </a:solidFill>
                          <a:latin typeface="Cambria Math" panose="02040503050406030204" pitchFamily="18" charset="0"/>
                        </a:rPr>
                        <m:t>+</m:t>
                      </m:r>
                      <m:nary>
                        <m:naryPr>
                          <m:ctrlPr>
                            <a:rPr lang="en-US" altLang="zh-CN" sz="2800" i="1">
                              <a:solidFill>
                                <a:prstClr val="black"/>
                              </a:solidFill>
                              <a:latin typeface="Cambria Math" panose="02040503050406030204" pitchFamily="18" charset="0"/>
                            </a:rPr>
                          </m:ctrlPr>
                        </m:naryPr>
                        <m:sub>
                          <m:r>
                            <a:rPr lang="en-US" altLang="zh-CN" sz="2800" b="0" i="1">
                              <a:solidFill>
                                <a:prstClr val="black"/>
                              </a:solidFill>
                              <a:latin typeface="Cambria Math" panose="02040503050406030204" pitchFamily="18" charset="0"/>
                            </a:rPr>
                            <m:t>𝑅</m:t>
                          </m:r>
                        </m:sub>
                        <m:sup>
                          <m:r>
                            <a:rPr lang="en-US" altLang="zh-CN" sz="2800" b="0" i="1">
                              <a:solidFill>
                                <a:prstClr val="black"/>
                              </a:solidFill>
                              <a:latin typeface="Cambria Math" panose="02040503050406030204" pitchFamily="18" charset="0"/>
                              <a:ea typeface="Cambria Math" panose="02040503050406030204" pitchFamily="18" charset="0"/>
                            </a:rPr>
                            <m:t>∞</m:t>
                          </m:r>
                        </m:sup>
                        <m:e>
                          <m:f>
                            <m:fPr>
                              <m:ctrlPr>
                                <a:rPr lang="en-US" altLang="zh-CN" sz="2800" i="1">
                                  <a:solidFill>
                                    <a:srgbClr val="000000"/>
                                  </a:solidFill>
                                  <a:latin typeface="Cambria Math" panose="02040503050406030204" pitchFamily="18" charset="0"/>
                                </a:rPr>
                              </m:ctrlPr>
                            </m:fPr>
                            <m:num>
                              <m:sSub>
                                <m:sSubPr>
                                  <m:ctrlPr>
                                    <a:rPr lang="en-US" altLang="zh-CN"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en-US" altLang="zh-CN" sz="2800" b="0" i="1">
                                      <a:solidFill>
                                        <a:srgbClr val="000000"/>
                                      </a:solidFill>
                                      <a:latin typeface="Cambria Math" panose="02040503050406030204" pitchFamily="18" charset="0"/>
                                    </a:rPr>
                                    <m:t>0</m:t>
                                  </m:r>
                                </m:sub>
                              </m:sSub>
                            </m:num>
                            <m:den>
                              <m:r>
                                <a:rPr lang="en-US" altLang="zh-CN" sz="2800" b="0" i="1">
                                  <a:solidFill>
                                    <a:srgbClr val="000000"/>
                                  </a:solidFill>
                                  <a:latin typeface="Cambria Math" panose="02040503050406030204" pitchFamily="18" charset="0"/>
                                </a:rPr>
                                <m:t>2</m:t>
                              </m:r>
                            </m:den>
                          </m:f>
                          <m:sSubSup>
                            <m:sSubSupPr>
                              <m:ctrlPr>
                                <a:rPr lang="en-US" altLang="zh-CN" sz="2800" i="1">
                                  <a:solidFill>
                                    <a:srgbClr val="000000"/>
                                  </a:solidFill>
                                  <a:latin typeface="Cambria Math" panose="02040503050406030204" pitchFamily="18" charset="0"/>
                                </a:rPr>
                              </m:ctrlPr>
                            </m:sSubSupPr>
                            <m:e>
                              <m:r>
                                <a:rPr lang="en-US" altLang="zh-CN" sz="2800" b="0" i="1">
                                  <a:solidFill>
                                    <a:srgbClr val="000000"/>
                                  </a:solidFill>
                                  <a:latin typeface="Cambria Math" panose="02040503050406030204" pitchFamily="18" charset="0"/>
                                </a:rPr>
                                <m:t>𝐸</m:t>
                              </m:r>
                            </m:e>
                            <m:sub>
                              <m:r>
                                <a:rPr lang="en-US" altLang="zh-CN" sz="2800" b="0" i="1">
                                  <a:solidFill>
                                    <a:srgbClr val="000000"/>
                                  </a:solidFill>
                                  <a:latin typeface="Cambria Math" panose="02040503050406030204" pitchFamily="18" charset="0"/>
                                </a:rPr>
                                <m:t>2</m:t>
                              </m:r>
                            </m:sub>
                            <m:sup>
                              <m:r>
                                <a:rPr lang="en-US" altLang="zh-CN" sz="2800" b="0" i="1">
                                  <a:solidFill>
                                    <a:srgbClr val="000000"/>
                                  </a:solidFill>
                                  <a:latin typeface="Cambria Math" panose="02040503050406030204" pitchFamily="18" charset="0"/>
                                </a:rPr>
                                <m:t>2</m:t>
                              </m:r>
                            </m:sup>
                          </m:sSubSup>
                          <m:r>
                            <a:rPr lang="en-US" altLang="zh-CN" sz="2800" b="0" i="1">
                              <a:solidFill>
                                <a:srgbClr val="0000FF"/>
                              </a:solidFill>
                              <a:latin typeface="Cambria Math" panose="02040503050406030204" pitchFamily="18" charset="0"/>
                            </a:rPr>
                            <m:t>4</m:t>
                          </m:r>
                          <m:r>
                            <a:rPr lang="zh-CN" altLang="en-US" sz="2800" b="0" i="1">
                              <a:solidFill>
                                <a:srgbClr val="0000FF"/>
                              </a:solidFill>
                              <a:latin typeface="Cambria Math" panose="02040503050406030204" pitchFamily="18" charset="0"/>
                            </a:rPr>
                            <m:t>𝜋</m:t>
                          </m:r>
                          <m:sSup>
                            <m:sSupPr>
                              <m:ctrlPr>
                                <a:rPr lang="en-US" altLang="zh-CN" sz="2800" i="1">
                                  <a:solidFill>
                                    <a:srgbClr val="0000FF"/>
                                  </a:solidFill>
                                  <a:latin typeface="Cambria Math" panose="02040503050406030204" pitchFamily="18" charset="0"/>
                                </a:rPr>
                              </m:ctrlPr>
                            </m:sSupPr>
                            <m:e>
                              <m:r>
                                <a:rPr lang="en-US" altLang="zh-CN" sz="2800" b="0" i="1">
                                  <a:solidFill>
                                    <a:srgbClr val="0000FF"/>
                                  </a:solidFill>
                                  <a:latin typeface="Cambria Math" panose="02040503050406030204" pitchFamily="18" charset="0"/>
                                </a:rPr>
                                <m:t>𝑟</m:t>
                              </m:r>
                            </m:e>
                            <m:sup>
                              <m:r>
                                <a:rPr lang="en-US" altLang="zh-CN" sz="2800" b="0" i="1">
                                  <a:solidFill>
                                    <a:srgbClr val="0000FF"/>
                                  </a:solidFill>
                                  <a:latin typeface="Cambria Math" panose="02040503050406030204" pitchFamily="18" charset="0"/>
                                </a:rPr>
                                <m:t>2</m:t>
                              </m:r>
                            </m:sup>
                          </m:sSup>
                          <m:r>
                            <a:rPr lang="en-US" altLang="zh-CN" sz="2800" b="0" i="1">
                              <a:solidFill>
                                <a:srgbClr val="0000FF"/>
                              </a:solidFill>
                              <a:latin typeface="Cambria Math" panose="02040503050406030204" pitchFamily="18" charset="0"/>
                            </a:rPr>
                            <m:t>𝑑𝑟</m:t>
                          </m:r>
                        </m:e>
                      </m:nary>
                    </m:oMath>
                  </m:oMathPara>
                </a14:m>
                <a:endParaRPr lang="en-US" sz="2800" dirty="0"/>
              </a:p>
            </p:txBody>
          </p:sp>
        </mc:Choice>
        <mc:Fallback xmlns="">
          <p:sp>
            <p:nvSpPr>
              <p:cNvPr id="31" name="矩形 30">
                <a:extLst>
                  <a:ext uri="{FF2B5EF4-FFF2-40B4-BE49-F238E27FC236}">
                    <a16:creationId xmlns:a16="http://schemas.microsoft.com/office/drawing/2014/main" id="{0ADD9358-EB95-40C3-8A25-235DE6C05FF0}"/>
                  </a:ext>
                </a:extLst>
              </p:cNvPr>
              <p:cNvSpPr>
                <a:spLocks noRot="1" noChangeAspect="1" noMove="1" noResize="1" noEditPoints="1" noAdjustHandles="1" noChangeArrowheads="1" noChangeShapeType="1" noTextEdit="1"/>
              </p:cNvSpPr>
              <p:nvPr/>
            </p:nvSpPr>
            <p:spPr>
              <a:xfrm>
                <a:off x="4346180" y="2841624"/>
                <a:ext cx="6167201" cy="1061381"/>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1281BD86-9DB9-4881-A225-EE0F139038A9}"/>
                  </a:ext>
                </a:extLst>
              </p:cNvPr>
              <p:cNvSpPr/>
              <p:nvPr/>
            </p:nvSpPr>
            <p:spPr>
              <a:xfrm>
                <a:off x="2853087" y="3822091"/>
                <a:ext cx="9338913" cy="1558055"/>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sz="2800" b="0" i="1">
                          <a:latin typeface="Cambria Math" panose="02040503050406030204" pitchFamily="18" charset="0"/>
                        </a:rPr>
                        <m:t>=</m:t>
                      </m:r>
                      <m:nary>
                        <m:naryPr>
                          <m:ctrlPr>
                            <a:rPr lang="en-US" altLang="zh-CN" sz="2800" i="1">
                              <a:solidFill>
                                <a:prstClr val="black"/>
                              </a:solidFill>
                              <a:latin typeface="Cambria Math" panose="02040503050406030204" pitchFamily="18" charset="0"/>
                            </a:rPr>
                          </m:ctrlPr>
                        </m:naryPr>
                        <m:sub>
                          <m:r>
                            <m:rPr>
                              <m:brk m:alnAt="23"/>
                            </m:rPr>
                            <a:rPr lang="en-US" altLang="zh-CN" sz="2800" b="0" i="1">
                              <a:solidFill>
                                <a:prstClr val="black"/>
                              </a:solidFill>
                              <a:latin typeface="Cambria Math" panose="02040503050406030204" pitchFamily="18" charset="0"/>
                            </a:rPr>
                            <m:t>0</m:t>
                          </m:r>
                        </m:sub>
                        <m:sup>
                          <m:r>
                            <a:rPr lang="en-US" altLang="zh-CN" sz="2800" b="0" i="1">
                              <a:solidFill>
                                <a:prstClr val="black"/>
                              </a:solidFill>
                              <a:latin typeface="Cambria Math" panose="02040503050406030204" pitchFamily="18" charset="0"/>
                            </a:rPr>
                            <m:t>𝑅</m:t>
                          </m:r>
                        </m:sup>
                        <m:e>
                          <m:f>
                            <m:fPr>
                              <m:ctrlPr>
                                <a:rPr lang="en-US" altLang="zh-CN" sz="2800" i="1">
                                  <a:solidFill>
                                    <a:srgbClr val="000000"/>
                                  </a:solidFill>
                                  <a:latin typeface="Cambria Math" panose="02040503050406030204" pitchFamily="18" charset="0"/>
                                </a:rPr>
                              </m:ctrlPr>
                            </m:fPr>
                            <m:num>
                              <m:sSub>
                                <m:sSubPr>
                                  <m:ctrlPr>
                                    <a:rPr lang="en-US" altLang="zh-CN"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en-US" altLang="zh-CN" sz="2800" b="0" i="1">
                                      <a:solidFill>
                                        <a:srgbClr val="000000"/>
                                      </a:solidFill>
                                      <a:latin typeface="Cambria Math" panose="02040503050406030204" pitchFamily="18" charset="0"/>
                                    </a:rPr>
                                    <m:t>0</m:t>
                                  </m:r>
                                </m:sub>
                              </m:sSub>
                            </m:num>
                            <m:den>
                              <m:r>
                                <a:rPr lang="en-US" altLang="zh-CN" sz="2800" b="0" i="1">
                                  <a:solidFill>
                                    <a:srgbClr val="000000"/>
                                  </a:solidFill>
                                  <a:latin typeface="Cambria Math" panose="02040503050406030204" pitchFamily="18" charset="0"/>
                                </a:rPr>
                                <m:t>2</m:t>
                              </m:r>
                            </m:den>
                          </m:f>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m:t>
                              </m:r>
                              <m:f>
                                <m:fPr>
                                  <m:ctrlPr>
                                    <a:rPr lang="en-US" altLang="zh-CN" sz="2800" i="1">
                                      <a:solidFill>
                                        <a:srgbClr val="0000FF"/>
                                      </a:solidFill>
                                      <a:latin typeface="Cambria Math" panose="02040503050406030204" pitchFamily="18" charset="0"/>
                                    </a:rPr>
                                  </m:ctrlPr>
                                </m:fPr>
                                <m:num>
                                  <m:r>
                                    <a:rPr lang="en-US" altLang="zh-CN" sz="2800" b="0" i="1">
                                      <a:solidFill>
                                        <a:srgbClr val="0000FF"/>
                                      </a:solidFill>
                                      <a:latin typeface="Cambria Math" panose="02040503050406030204" pitchFamily="18" charset="0"/>
                                    </a:rPr>
                                    <m:t>𝑞𝑟</m:t>
                                  </m:r>
                                </m:num>
                                <m:den>
                                  <m:r>
                                    <a:rPr lang="en-US" altLang="zh-CN" sz="2800" b="0" i="1">
                                      <a:solidFill>
                                        <a:srgbClr val="0000FF"/>
                                      </a:solidFill>
                                      <a:latin typeface="Cambria Math" panose="02040503050406030204" pitchFamily="18" charset="0"/>
                                    </a:rPr>
                                    <m:t>4</m:t>
                                  </m:r>
                                  <m:r>
                                    <a:rPr lang="zh-CN" altLang="en-US" sz="2800" b="0" i="1">
                                      <a:solidFill>
                                        <a:srgbClr val="0000FF"/>
                                      </a:solidFill>
                                      <a:latin typeface="Cambria Math" panose="02040503050406030204" pitchFamily="18" charset="0"/>
                                    </a:rPr>
                                    <m:t>𝜋</m:t>
                                  </m:r>
                                  <m:sSub>
                                    <m:sSubPr>
                                      <m:ctrlPr>
                                        <a:rPr lang="en-US" altLang="zh-CN" sz="2800" i="1">
                                          <a:solidFill>
                                            <a:srgbClr val="0000FF"/>
                                          </a:solidFill>
                                          <a:latin typeface="Cambria Math" panose="02040503050406030204" pitchFamily="18" charset="0"/>
                                        </a:rPr>
                                      </m:ctrlPr>
                                    </m:sSubPr>
                                    <m:e>
                                      <m:r>
                                        <a:rPr lang="zh-CN" altLang="en-US" sz="2800" b="0" i="1">
                                          <a:solidFill>
                                            <a:srgbClr val="0000FF"/>
                                          </a:solidFill>
                                          <a:latin typeface="Cambria Math" panose="02040503050406030204" pitchFamily="18" charset="0"/>
                                        </a:rPr>
                                        <m:t>𝜀</m:t>
                                      </m:r>
                                    </m:e>
                                    <m:sub>
                                      <m:r>
                                        <a:rPr lang="en-US" altLang="zh-CN" sz="2800" b="0" i="1">
                                          <a:solidFill>
                                            <a:srgbClr val="0000FF"/>
                                          </a:solidFill>
                                          <a:latin typeface="Cambria Math" panose="02040503050406030204" pitchFamily="18" charset="0"/>
                                        </a:rPr>
                                        <m:t>0</m:t>
                                      </m:r>
                                    </m:sub>
                                  </m:sSub>
                                  <m:sSup>
                                    <m:sSupPr>
                                      <m:ctrlPr>
                                        <a:rPr lang="en-US" altLang="zh-CN" sz="2800" i="1">
                                          <a:solidFill>
                                            <a:srgbClr val="0000FF"/>
                                          </a:solidFill>
                                          <a:latin typeface="Cambria Math" panose="02040503050406030204" pitchFamily="18" charset="0"/>
                                        </a:rPr>
                                      </m:ctrlPr>
                                    </m:sSupPr>
                                    <m:e>
                                      <m:r>
                                        <a:rPr lang="en-US" altLang="zh-CN" sz="2800" b="0" i="1">
                                          <a:solidFill>
                                            <a:srgbClr val="0000FF"/>
                                          </a:solidFill>
                                          <a:latin typeface="Cambria Math" panose="02040503050406030204" pitchFamily="18" charset="0"/>
                                        </a:rPr>
                                        <m:t>𝑅</m:t>
                                      </m:r>
                                    </m:e>
                                    <m:sup>
                                      <m:r>
                                        <a:rPr lang="en-US" altLang="zh-CN" sz="2800" b="0" i="1">
                                          <a:solidFill>
                                            <a:srgbClr val="0000FF"/>
                                          </a:solidFill>
                                          <a:latin typeface="Cambria Math" panose="02040503050406030204" pitchFamily="18" charset="0"/>
                                        </a:rPr>
                                        <m:t>3</m:t>
                                      </m:r>
                                    </m:sup>
                                  </m:sSup>
                                </m:den>
                              </m:f>
                              <m:r>
                                <a:rPr lang="en-US" altLang="zh-CN" sz="2800" b="0" i="1">
                                  <a:solidFill>
                                    <a:srgbClr val="000000"/>
                                  </a:solidFill>
                                  <a:latin typeface="Cambria Math" panose="02040503050406030204" pitchFamily="18" charset="0"/>
                                </a:rPr>
                                <m:t>)</m:t>
                              </m:r>
                            </m:e>
                            <m:sup>
                              <m:r>
                                <a:rPr lang="en-US" altLang="zh-CN" sz="2800" b="0" i="1">
                                  <a:solidFill>
                                    <a:srgbClr val="000000"/>
                                  </a:solidFill>
                                  <a:latin typeface="Cambria Math" panose="02040503050406030204" pitchFamily="18" charset="0"/>
                                </a:rPr>
                                <m:t>2</m:t>
                              </m:r>
                            </m:sup>
                          </m:sSup>
                          <m:r>
                            <a:rPr lang="en-US" altLang="zh-CN" sz="2800" b="0" i="1">
                              <a:solidFill>
                                <a:prstClr val="black"/>
                              </a:solidFill>
                              <a:latin typeface="Cambria Math" panose="02040503050406030204" pitchFamily="18" charset="0"/>
                            </a:rPr>
                            <m:t>4</m:t>
                          </m:r>
                          <m:r>
                            <a:rPr lang="zh-CN" altLang="en-US" sz="2800" b="0" i="1">
                              <a:solidFill>
                                <a:prstClr val="black"/>
                              </a:solidFill>
                              <a:latin typeface="Cambria Math" panose="02040503050406030204" pitchFamily="18" charset="0"/>
                            </a:rPr>
                            <m:t>𝜋</m:t>
                          </m:r>
                          <m:sSup>
                            <m:sSupPr>
                              <m:ctrlPr>
                                <a:rPr lang="en-US" altLang="zh-CN" sz="2800" i="1">
                                  <a:solidFill>
                                    <a:prstClr val="black"/>
                                  </a:solidFill>
                                  <a:latin typeface="Cambria Math" panose="02040503050406030204" pitchFamily="18" charset="0"/>
                                </a:rPr>
                              </m:ctrlPr>
                            </m:sSupPr>
                            <m:e>
                              <m:r>
                                <a:rPr lang="en-US" altLang="zh-CN" sz="2800" b="0" i="1">
                                  <a:solidFill>
                                    <a:prstClr val="black"/>
                                  </a:solidFill>
                                  <a:latin typeface="Cambria Math" panose="02040503050406030204" pitchFamily="18" charset="0"/>
                                </a:rPr>
                                <m:t>𝑟</m:t>
                              </m:r>
                            </m:e>
                            <m:sup>
                              <m:r>
                                <a:rPr lang="en-US" altLang="zh-CN" sz="2800" b="0" i="1">
                                  <a:solidFill>
                                    <a:prstClr val="black"/>
                                  </a:solidFill>
                                  <a:latin typeface="Cambria Math" panose="02040503050406030204" pitchFamily="18" charset="0"/>
                                </a:rPr>
                                <m:t>2</m:t>
                              </m:r>
                            </m:sup>
                          </m:sSup>
                          <m:r>
                            <a:rPr lang="en-US" altLang="zh-CN" sz="2800" b="0" i="1">
                              <a:solidFill>
                                <a:prstClr val="black"/>
                              </a:solidFill>
                              <a:latin typeface="Cambria Math" panose="02040503050406030204" pitchFamily="18" charset="0"/>
                            </a:rPr>
                            <m:t>𝑑𝑟</m:t>
                          </m:r>
                          <m:r>
                            <m:rPr>
                              <m:nor/>
                            </m:rPr>
                            <a:rPr lang="en-US" altLang="zh-CN" sz="2800" i="1" dirty="0">
                              <a:solidFill>
                                <a:prstClr val="black"/>
                              </a:solidFill>
                              <a:latin typeface="Cambria Math" panose="02040503050406030204" pitchFamily="18" charset="0"/>
                            </a:rPr>
                            <m:t> </m:t>
                          </m:r>
                        </m:e>
                      </m:nary>
                      <m:r>
                        <a:rPr lang="en-US" altLang="zh-CN" sz="2800" b="0" i="1">
                          <a:solidFill>
                            <a:prstClr val="black"/>
                          </a:solidFill>
                          <a:latin typeface="Cambria Math" panose="02040503050406030204" pitchFamily="18" charset="0"/>
                        </a:rPr>
                        <m:t>+</m:t>
                      </m:r>
                      <m:nary>
                        <m:naryPr>
                          <m:ctrlPr>
                            <a:rPr lang="en-US" altLang="zh-CN" sz="2800" i="1">
                              <a:solidFill>
                                <a:prstClr val="black"/>
                              </a:solidFill>
                              <a:latin typeface="Cambria Math" panose="02040503050406030204" pitchFamily="18" charset="0"/>
                            </a:rPr>
                          </m:ctrlPr>
                        </m:naryPr>
                        <m:sub>
                          <m:r>
                            <a:rPr lang="en-US" altLang="zh-CN" sz="2800" b="0" i="1">
                              <a:solidFill>
                                <a:prstClr val="black"/>
                              </a:solidFill>
                              <a:latin typeface="Cambria Math" panose="02040503050406030204" pitchFamily="18" charset="0"/>
                            </a:rPr>
                            <m:t>𝑅</m:t>
                          </m:r>
                        </m:sub>
                        <m:sup>
                          <m:r>
                            <a:rPr lang="en-US" altLang="zh-CN" sz="2800" b="0" i="1">
                              <a:solidFill>
                                <a:prstClr val="black"/>
                              </a:solidFill>
                              <a:latin typeface="Cambria Math" panose="02040503050406030204" pitchFamily="18" charset="0"/>
                              <a:ea typeface="Cambria Math" panose="02040503050406030204" pitchFamily="18" charset="0"/>
                            </a:rPr>
                            <m:t>∞</m:t>
                          </m:r>
                        </m:sup>
                        <m:e>
                          <m:f>
                            <m:fPr>
                              <m:ctrlPr>
                                <a:rPr lang="en-US" altLang="zh-CN" sz="2800" i="1">
                                  <a:solidFill>
                                    <a:srgbClr val="000000"/>
                                  </a:solidFill>
                                  <a:latin typeface="Cambria Math" panose="02040503050406030204" pitchFamily="18" charset="0"/>
                                </a:rPr>
                              </m:ctrlPr>
                            </m:fPr>
                            <m:num>
                              <m:sSub>
                                <m:sSubPr>
                                  <m:ctrlPr>
                                    <a:rPr lang="en-US" altLang="zh-CN"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en-US" altLang="zh-CN" sz="2800" b="0" i="1">
                                      <a:solidFill>
                                        <a:srgbClr val="000000"/>
                                      </a:solidFill>
                                      <a:latin typeface="Cambria Math" panose="02040503050406030204" pitchFamily="18" charset="0"/>
                                    </a:rPr>
                                    <m:t>0</m:t>
                                  </m:r>
                                </m:sub>
                              </m:sSub>
                            </m:num>
                            <m:den>
                              <m:r>
                                <a:rPr lang="en-US" altLang="zh-CN" sz="2800" b="0" i="1">
                                  <a:solidFill>
                                    <a:srgbClr val="000000"/>
                                  </a:solidFill>
                                  <a:latin typeface="Cambria Math" panose="02040503050406030204" pitchFamily="18" charset="0"/>
                                </a:rPr>
                                <m:t>2</m:t>
                              </m:r>
                            </m:den>
                          </m:f>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m:t>
                              </m:r>
                              <m:f>
                                <m:fPr>
                                  <m:ctrlPr>
                                    <a:rPr lang="en-US" altLang="zh-CN" sz="2800" i="1">
                                      <a:solidFill>
                                        <a:srgbClr val="0000FF"/>
                                      </a:solidFill>
                                      <a:latin typeface="Cambria Math" panose="02040503050406030204" pitchFamily="18" charset="0"/>
                                    </a:rPr>
                                  </m:ctrlPr>
                                </m:fPr>
                                <m:num>
                                  <m:r>
                                    <a:rPr lang="en-US" altLang="zh-CN" sz="2800" b="0" i="1">
                                      <a:solidFill>
                                        <a:srgbClr val="0000FF"/>
                                      </a:solidFill>
                                      <a:latin typeface="Cambria Math" panose="02040503050406030204" pitchFamily="18" charset="0"/>
                                    </a:rPr>
                                    <m:t>𝑞</m:t>
                                  </m:r>
                                </m:num>
                                <m:den>
                                  <m:r>
                                    <a:rPr lang="en-US" altLang="zh-CN" sz="2800" b="0" i="1">
                                      <a:solidFill>
                                        <a:srgbClr val="0000FF"/>
                                      </a:solidFill>
                                      <a:latin typeface="Cambria Math" panose="02040503050406030204" pitchFamily="18" charset="0"/>
                                    </a:rPr>
                                    <m:t>4</m:t>
                                  </m:r>
                                  <m:r>
                                    <a:rPr lang="zh-CN" altLang="en-US" sz="2800" b="0" i="1">
                                      <a:solidFill>
                                        <a:srgbClr val="0000FF"/>
                                      </a:solidFill>
                                      <a:latin typeface="Cambria Math" panose="02040503050406030204" pitchFamily="18" charset="0"/>
                                    </a:rPr>
                                    <m:t>𝜋</m:t>
                                  </m:r>
                                  <m:sSub>
                                    <m:sSubPr>
                                      <m:ctrlPr>
                                        <a:rPr lang="en-US" altLang="zh-CN" sz="2800" i="1">
                                          <a:solidFill>
                                            <a:srgbClr val="0000FF"/>
                                          </a:solidFill>
                                          <a:latin typeface="Cambria Math" panose="02040503050406030204" pitchFamily="18" charset="0"/>
                                        </a:rPr>
                                      </m:ctrlPr>
                                    </m:sSubPr>
                                    <m:e>
                                      <m:r>
                                        <a:rPr lang="zh-CN" altLang="en-US" sz="2800" b="0" i="1">
                                          <a:solidFill>
                                            <a:srgbClr val="0000FF"/>
                                          </a:solidFill>
                                          <a:latin typeface="Cambria Math" panose="02040503050406030204" pitchFamily="18" charset="0"/>
                                        </a:rPr>
                                        <m:t>𝜀</m:t>
                                      </m:r>
                                    </m:e>
                                    <m:sub>
                                      <m:r>
                                        <a:rPr lang="en-US" altLang="zh-CN" sz="2800" b="0" i="1">
                                          <a:solidFill>
                                            <a:srgbClr val="0000FF"/>
                                          </a:solidFill>
                                          <a:latin typeface="Cambria Math" panose="02040503050406030204" pitchFamily="18" charset="0"/>
                                        </a:rPr>
                                        <m:t>0</m:t>
                                      </m:r>
                                    </m:sub>
                                  </m:sSub>
                                  <m:sSup>
                                    <m:sSupPr>
                                      <m:ctrlPr>
                                        <a:rPr lang="en-US" altLang="zh-CN" sz="2800" i="1">
                                          <a:solidFill>
                                            <a:srgbClr val="0000FF"/>
                                          </a:solidFill>
                                          <a:latin typeface="Cambria Math" panose="02040503050406030204" pitchFamily="18" charset="0"/>
                                        </a:rPr>
                                      </m:ctrlPr>
                                    </m:sSupPr>
                                    <m:e>
                                      <m:r>
                                        <a:rPr lang="en-US" altLang="zh-CN" sz="2800" b="0" i="1">
                                          <a:solidFill>
                                            <a:srgbClr val="0000FF"/>
                                          </a:solidFill>
                                          <a:latin typeface="Cambria Math" panose="02040503050406030204" pitchFamily="18" charset="0"/>
                                        </a:rPr>
                                        <m:t>𝑟</m:t>
                                      </m:r>
                                    </m:e>
                                    <m:sup>
                                      <m:r>
                                        <a:rPr lang="en-US" altLang="zh-CN" sz="2800" b="0" i="1">
                                          <a:solidFill>
                                            <a:srgbClr val="0000FF"/>
                                          </a:solidFill>
                                          <a:latin typeface="Cambria Math" panose="02040503050406030204" pitchFamily="18" charset="0"/>
                                        </a:rPr>
                                        <m:t>2</m:t>
                                      </m:r>
                                    </m:sup>
                                  </m:sSup>
                                </m:den>
                              </m:f>
                              <m:r>
                                <a:rPr lang="en-US" altLang="zh-CN" sz="2800" b="0" i="1">
                                  <a:solidFill>
                                    <a:srgbClr val="000000"/>
                                  </a:solidFill>
                                  <a:latin typeface="Cambria Math" panose="02040503050406030204" pitchFamily="18" charset="0"/>
                                </a:rPr>
                                <m:t>)</m:t>
                              </m:r>
                            </m:e>
                            <m:sup>
                              <m:r>
                                <a:rPr lang="en-US" altLang="zh-CN" sz="2800" b="0" i="1">
                                  <a:solidFill>
                                    <a:srgbClr val="000000"/>
                                  </a:solidFill>
                                  <a:latin typeface="Cambria Math" panose="02040503050406030204" pitchFamily="18" charset="0"/>
                                </a:rPr>
                                <m:t>2</m:t>
                              </m:r>
                            </m:sup>
                          </m:sSup>
                          <m:r>
                            <a:rPr lang="en-US" altLang="zh-CN" sz="2800" b="0" i="1">
                              <a:solidFill>
                                <a:prstClr val="black"/>
                              </a:solidFill>
                              <a:latin typeface="Cambria Math" panose="02040503050406030204" pitchFamily="18" charset="0"/>
                            </a:rPr>
                            <m:t>4</m:t>
                          </m:r>
                          <m:r>
                            <a:rPr lang="zh-CN" altLang="en-US" sz="2800" b="0" i="1">
                              <a:solidFill>
                                <a:prstClr val="black"/>
                              </a:solidFill>
                              <a:latin typeface="Cambria Math" panose="02040503050406030204" pitchFamily="18" charset="0"/>
                            </a:rPr>
                            <m:t>𝜋</m:t>
                          </m:r>
                          <m:sSup>
                            <m:sSupPr>
                              <m:ctrlPr>
                                <a:rPr lang="en-US" altLang="zh-CN" sz="2800" i="1">
                                  <a:solidFill>
                                    <a:prstClr val="black"/>
                                  </a:solidFill>
                                  <a:latin typeface="Cambria Math" panose="02040503050406030204" pitchFamily="18" charset="0"/>
                                </a:rPr>
                              </m:ctrlPr>
                            </m:sSupPr>
                            <m:e>
                              <m:r>
                                <a:rPr lang="en-US" altLang="zh-CN" sz="2800" b="0" i="1">
                                  <a:solidFill>
                                    <a:prstClr val="black"/>
                                  </a:solidFill>
                                  <a:latin typeface="Cambria Math" panose="02040503050406030204" pitchFamily="18" charset="0"/>
                                </a:rPr>
                                <m:t>𝑟</m:t>
                              </m:r>
                            </m:e>
                            <m:sup>
                              <m:r>
                                <a:rPr lang="en-US" altLang="zh-CN" sz="2800" b="0" i="1">
                                  <a:solidFill>
                                    <a:prstClr val="black"/>
                                  </a:solidFill>
                                  <a:latin typeface="Cambria Math" panose="02040503050406030204" pitchFamily="18" charset="0"/>
                                </a:rPr>
                                <m:t>2</m:t>
                              </m:r>
                            </m:sup>
                          </m:sSup>
                          <m:r>
                            <a:rPr lang="en-US" altLang="zh-CN" sz="2800" b="0" i="1">
                              <a:solidFill>
                                <a:prstClr val="black"/>
                              </a:solidFill>
                              <a:latin typeface="Cambria Math" panose="02040503050406030204" pitchFamily="18" charset="0"/>
                            </a:rPr>
                            <m:t>𝑑𝑟</m:t>
                          </m:r>
                        </m:e>
                      </m:nary>
                    </m:oMath>
                  </m:oMathPara>
                </a14:m>
                <a:endParaRPr lang="en-US" altLang="zh-CN" sz="2800" i="1" dirty="0">
                  <a:solidFill>
                    <a:prstClr val="black"/>
                  </a:solidFill>
                  <a:latin typeface="Cambria Math" panose="02040503050406030204" pitchFamily="18" charset="0"/>
                </a:endParaRPr>
              </a:p>
            </p:txBody>
          </p:sp>
        </mc:Choice>
        <mc:Fallback xmlns="">
          <p:sp>
            <p:nvSpPr>
              <p:cNvPr id="32" name="矩形 31">
                <a:extLst>
                  <a:ext uri="{FF2B5EF4-FFF2-40B4-BE49-F238E27FC236}">
                    <a16:creationId xmlns:a16="http://schemas.microsoft.com/office/drawing/2014/main" id="{1281BD86-9DB9-4881-A225-EE0F139038A9}"/>
                  </a:ext>
                </a:extLst>
              </p:cNvPr>
              <p:cNvSpPr>
                <a:spLocks noRot="1" noChangeAspect="1" noMove="1" noResize="1" noEditPoints="1" noAdjustHandles="1" noChangeArrowheads="1" noChangeShapeType="1" noTextEdit="1"/>
              </p:cNvSpPr>
              <p:nvPr/>
            </p:nvSpPr>
            <p:spPr>
              <a:xfrm>
                <a:off x="2853087" y="3822091"/>
                <a:ext cx="9338913" cy="155805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21F38F49-3B10-420B-8988-D830E2EC5E1F}"/>
                  </a:ext>
                </a:extLst>
              </p:cNvPr>
              <p:cNvSpPr/>
              <p:nvPr/>
            </p:nvSpPr>
            <p:spPr>
              <a:xfrm>
                <a:off x="3301278" y="5150301"/>
                <a:ext cx="1813252" cy="1499000"/>
              </a:xfrm>
              <a:prstGeom prst="rect">
                <a:avLst/>
              </a:prstGeom>
            </p:spPr>
            <p:txBody>
              <a:bodyPr wrap="none">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sz="2800" b="0" i="1">
                          <a:solidFill>
                            <a:prstClr val="black"/>
                          </a:solidFill>
                          <a:latin typeface="Cambria Math" panose="02040503050406030204" pitchFamily="18" charset="0"/>
                        </a:rPr>
                        <m:t>=</m:t>
                      </m:r>
                      <m:f>
                        <m:fPr>
                          <m:ctrlPr>
                            <a:rPr lang="en-US" altLang="zh-CN" sz="2800" i="1">
                              <a:solidFill>
                                <a:prstClr val="black"/>
                              </a:solidFill>
                              <a:latin typeface="Cambria Math" panose="02040503050406030204" pitchFamily="18" charset="0"/>
                            </a:rPr>
                          </m:ctrlPr>
                        </m:fPr>
                        <m:num>
                          <m:r>
                            <a:rPr lang="en-US" altLang="zh-CN" sz="2800" b="0" i="1">
                              <a:solidFill>
                                <a:prstClr val="black"/>
                              </a:solidFill>
                              <a:latin typeface="Cambria Math" panose="02040503050406030204" pitchFamily="18" charset="0"/>
                            </a:rPr>
                            <m:t>3</m:t>
                          </m:r>
                          <m:sSup>
                            <m:sSupPr>
                              <m:ctrlPr>
                                <a:rPr lang="en-US" altLang="zh-CN" sz="2800" i="1">
                                  <a:solidFill>
                                    <a:prstClr val="black"/>
                                  </a:solidFill>
                                  <a:latin typeface="Cambria Math" panose="02040503050406030204" pitchFamily="18" charset="0"/>
                                </a:rPr>
                              </m:ctrlPr>
                            </m:sSupPr>
                            <m:e>
                              <m:r>
                                <a:rPr lang="en-US" altLang="zh-CN" sz="2800" b="0" i="1">
                                  <a:solidFill>
                                    <a:prstClr val="black"/>
                                  </a:solidFill>
                                  <a:latin typeface="Cambria Math" panose="02040503050406030204" pitchFamily="18" charset="0"/>
                                </a:rPr>
                                <m:t>𝑞</m:t>
                              </m:r>
                            </m:e>
                            <m:sup>
                              <m:r>
                                <a:rPr lang="en-US" altLang="zh-CN" sz="2800" b="0" i="1">
                                  <a:solidFill>
                                    <a:prstClr val="black"/>
                                  </a:solidFill>
                                  <a:latin typeface="Cambria Math" panose="02040503050406030204" pitchFamily="18" charset="0"/>
                                </a:rPr>
                                <m:t>2</m:t>
                              </m:r>
                            </m:sup>
                          </m:sSup>
                        </m:num>
                        <m:den>
                          <m:r>
                            <a:rPr lang="en-US" altLang="zh-CN" sz="2800" b="0" i="1">
                              <a:solidFill>
                                <a:prstClr val="black"/>
                              </a:solidFill>
                              <a:latin typeface="Cambria Math" panose="02040503050406030204" pitchFamily="18" charset="0"/>
                            </a:rPr>
                            <m:t>20</m:t>
                          </m:r>
                          <m:r>
                            <a:rPr lang="zh-CN" altLang="en-US" sz="2800" b="0" i="1">
                              <a:solidFill>
                                <a:prstClr val="black"/>
                              </a:solidFill>
                              <a:latin typeface="Cambria Math" panose="02040503050406030204" pitchFamily="18" charset="0"/>
                            </a:rPr>
                            <m:t>𝜋</m:t>
                          </m:r>
                          <m:sSub>
                            <m:sSubPr>
                              <m:ctrlPr>
                                <a:rPr lang="en-US" altLang="zh-CN" sz="2800" i="1">
                                  <a:solidFill>
                                    <a:prstClr val="black"/>
                                  </a:solidFill>
                                  <a:latin typeface="Cambria Math" panose="02040503050406030204" pitchFamily="18" charset="0"/>
                                </a:rPr>
                              </m:ctrlPr>
                            </m:sSubPr>
                            <m:e>
                              <m:r>
                                <a:rPr lang="zh-CN" altLang="en-US" sz="2800" b="0" i="1">
                                  <a:solidFill>
                                    <a:prstClr val="black"/>
                                  </a:solidFill>
                                  <a:latin typeface="Cambria Math" panose="02040503050406030204" pitchFamily="18" charset="0"/>
                                </a:rPr>
                                <m:t>𝜀</m:t>
                              </m:r>
                            </m:e>
                            <m:sub>
                              <m:r>
                                <a:rPr lang="en-US" altLang="zh-CN" sz="2800" b="0" i="1">
                                  <a:solidFill>
                                    <a:prstClr val="black"/>
                                  </a:solidFill>
                                  <a:latin typeface="Cambria Math" panose="02040503050406030204" pitchFamily="18" charset="0"/>
                                </a:rPr>
                                <m:t>0</m:t>
                              </m:r>
                            </m:sub>
                          </m:sSub>
                          <m:r>
                            <a:rPr lang="en-US" altLang="zh-CN" sz="2800" b="0" i="1">
                              <a:solidFill>
                                <a:prstClr val="black"/>
                              </a:solidFill>
                              <a:latin typeface="Cambria Math" panose="02040503050406030204" pitchFamily="18" charset="0"/>
                            </a:rPr>
                            <m:t>𝑅</m:t>
                          </m:r>
                        </m:den>
                      </m:f>
                    </m:oMath>
                  </m:oMathPara>
                </a14:m>
                <a:endParaRPr lang="en-US" altLang="zh-CN" sz="2800" i="1" dirty="0">
                  <a:solidFill>
                    <a:prstClr val="black"/>
                  </a:solidFill>
                  <a:latin typeface="Cambria Math" panose="02040503050406030204" pitchFamily="18" charset="0"/>
                </a:endParaRPr>
              </a:p>
            </p:txBody>
          </p:sp>
        </mc:Choice>
        <mc:Fallback xmlns="">
          <p:sp>
            <p:nvSpPr>
              <p:cNvPr id="33" name="矩形 32">
                <a:extLst>
                  <a:ext uri="{FF2B5EF4-FFF2-40B4-BE49-F238E27FC236}">
                    <a16:creationId xmlns:a16="http://schemas.microsoft.com/office/drawing/2014/main" id="{21F38F49-3B10-420B-8988-D830E2EC5E1F}"/>
                  </a:ext>
                </a:extLst>
              </p:cNvPr>
              <p:cNvSpPr>
                <a:spLocks noRot="1" noChangeAspect="1" noMove="1" noResize="1" noEditPoints="1" noAdjustHandles="1" noChangeArrowheads="1" noChangeShapeType="1" noTextEdit="1"/>
              </p:cNvSpPr>
              <p:nvPr/>
            </p:nvSpPr>
            <p:spPr>
              <a:xfrm>
                <a:off x="3301278" y="5150301"/>
                <a:ext cx="1813252" cy="1499000"/>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3157634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EE6B56-DBAD-4460-85C8-B9D868FF6142}"/>
              </a:ext>
            </a:extLst>
          </p:cNvPr>
          <p:cNvSpPr/>
          <p:nvPr/>
        </p:nvSpPr>
        <p:spPr>
          <a:xfrm>
            <a:off x="2391265" y="2363801"/>
            <a:ext cx="7879080" cy="584775"/>
          </a:xfrm>
          <a:prstGeom prst="rect">
            <a:avLst/>
          </a:prstGeom>
        </p:spPr>
        <p:txBody>
          <a:bodyPr wrap="none">
            <a:spAutoFit/>
          </a:bodyPr>
          <a:lstStyle/>
          <a:p>
            <a:r>
              <a:rPr lang="zh-CN" altLang="en-US" sz="3200" kern="0" dirty="0">
                <a:solidFill>
                  <a:srgbClr val="000000"/>
                </a:solidFill>
                <a:latin typeface="+mj-lt"/>
                <a:ea typeface="+mj-ea"/>
                <a:cs typeface="宋体" panose="02010600030101010101" pitchFamily="2" charset="-122"/>
              </a:rPr>
              <a:t>作业 ：课后习题</a:t>
            </a:r>
            <a:r>
              <a:rPr lang="en-US" altLang="zh-CN" sz="3200" kern="0" dirty="0">
                <a:solidFill>
                  <a:srgbClr val="000000"/>
                </a:solidFill>
                <a:cs typeface="宋体" panose="02010600030101010101" pitchFamily="2" charset="-122"/>
              </a:rPr>
              <a:t>13.6，13.10，13.14，13.18</a:t>
            </a:r>
            <a:endParaRPr lang="en-US" sz="3200" kern="100" dirty="0">
              <a:effectLst/>
              <a:latin typeface="+mj-lt"/>
              <a:ea typeface="+mj-ea"/>
              <a:cs typeface="Times New Roman" panose="02020603050405020304" pitchFamily="18" charset="0"/>
            </a:endParaRPr>
          </a:p>
        </p:txBody>
      </p:sp>
      <p:sp>
        <p:nvSpPr>
          <p:cNvPr id="3" name="矩形 2">
            <a:extLst>
              <a:ext uri="{FF2B5EF4-FFF2-40B4-BE49-F238E27FC236}">
                <a16:creationId xmlns:a16="http://schemas.microsoft.com/office/drawing/2014/main" id="{557FC185-3475-403F-A50E-0427321BF6DE}"/>
              </a:ext>
            </a:extLst>
          </p:cNvPr>
          <p:cNvSpPr/>
          <p:nvPr/>
        </p:nvSpPr>
        <p:spPr>
          <a:xfrm>
            <a:off x="2746864" y="3620070"/>
            <a:ext cx="5006499" cy="584775"/>
          </a:xfrm>
          <a:prstGeom prst="rect">
            <a:avLst/>
          </a:prstGeom>
        </p:spPr>
        <p:txBody>
          <a:bodyPr wrap="none">
            <a:spAutoFit/>
          </a:bodyPr>
          <a:lstStyle/>
          <a:p>
            <a:r>
              <a:rPr lang="zh-CN" altLang="en-US" sz="3200" kern="0" dirty="0">
                <a:solidFill>
                  <a:srgbClr val="000000"/>
                </a:solidFill>
                <a:latin typeface="+mj-lt"/>
                <a:ea typeface="+mj-ea"/>
                <a:cs typeface="宋体" panose="02010600030101010101" pitchFamily="2" charset="-122"/>
              </a:rPr>
              <a:t>截止时间： </a:t>
            </a:r>
            <a:r>
              <a:rPr lang="en-US" altLang="zh-CN" sz="3200" kern="0" dirty="0">
                <a:solidFill>
                  <a:srgbClr val="000000"/>
                </a:solidFill>
                <a:latin typeface="+mj-lt"/>
                <a:ea typeface="+mj-ea"/>
                <a:cs typeface="宋体" panose="02010600030101010101" pitchFamily="2" charset="-122"/>
              </a:rPr>
              <a:t>3</a:t>
            </a:r>
            <a:r>
              <a:rPr lang="zh-CN" altLang="en-US" sz="3200" kern="0" dirty="0">
                <a:solidFill>
                  <a:srgbClr val="000000"/>
                </a:solidFill>
                <a:latin typeface="+mj-lt"/>
                <a:ea typeface="+mj-ea"/>
                <a:cs typeface="宋体" panose="02010600030101010101" pitchFamily="2" charset="-122"/>
              </a:rPr>
              <a:t>月</a:t>
            </a:r>
            <a:r>
              <a:rPr lang="en-US" altLang="zh-CN" sz="3200" kern="0" dirty="0">
                <a:solidFill>
                  <a:srgbClr val="000000"/>
                </a:solidFill>
                <a:latin typeface="+mj-lt"/>
                <a:ea typeface="+mj-ea"/>
                <a:cs typeface="宋体" panose="02010600030101010101" pitchFamily="2" charset="-122"/>
              </a:rPr>
              <a:t>28</a:t>
            </a:r>
            <a:r>
              <a:rPr lang="zh-CN" altLang="en-US" sz="3200" kern="0" dirty="0">
                <a:solidFill>
                  <a:srgbClr val="000000"/>
                </a:solidFill>
                <a:latin typeface="+mj-lt"/>
                <a:ea typeface="+mj-ea"/>
                <a:cs typeface="宋体" panose="02010600030101010101" pitchFamily="2" charset="-122"/>
              </a:rPr>
              <a:t>日</a:t>
            </a:r>
            <a:r>
              <a:rPr lang="en-US" altLang="zh-CN" sz="3200" kern="0" dirty="0">
                <a:solidFill>
                  <a:srgbClr val="000000"/>
                </a:solidFill>
                <a:latin typeface="+mj-lt"/>
                <a:ea typeface="+mj-ea"/>
                <a:cs typeface="宋体" panose="02010600030101010101" pitchFamily="2" charset="-122"/>
              </a:rPr>
              <a:t>10</a:t>
            </a:r>
            <a:r>
              <a:rPr lang="zh-CN" altLang="en-US" sz="3200" kern="0" dirty="0">
                <a:solidFill>
                  <a:srgbClr val="000000"/>
                </a:solidFill>
                <a:latin typeface="+mj-lt"/>
                <a:ea typeface="+mj-ea"/>
                <a:cs typeface="宋体" panose="02010600030101010101" pitchFamily="2" charset="-122"/>
              </a:rPr>
              <a:t>：</a:t>
            </a:r>
            <a:r>
              <a:rPr lang="en-US" altLang="zh-CN" sz="3200" kern="0" dirty="0">
                <a:solidFill>
                  <a:srgbClr val="000000"/>
                </a:solidFill>
                <a:latin typeface="+mj-lt"/>
                <a:ea typeface="+mj-ea"/>
                <a:cs typeface="宋体" panose="02010600030101010101" pitchFamily="2" charset="-122"/>
              </a:rPr>
              <a:t>10</a:t>
            </a:r>
            <a:endParaRPr lang="en-US" sz="3200" kern="100" dirty="0">
              <a:effectLst/>
              <a:latin typeface="+mj-lt"/>
              <a:ea typeface="+mj-ea"/>
              <a:cs typeface="Times New Roman" panose="02020603050405020304" pitchFamily="18" charset="0"/>
            </a:endParaRPr>
          </a:p>
        </p:txBody>
      </p:sp>
    </p:spTree>
    <p:extLst>
      <p:ext uri="{BB962C8B-B14F-4D97-AF65-F5344CB8AC3E}">
        <p14:creationId xmlns:p14="http://schemas.microsoft.com/office/powerpoint/2010/main" val="297495818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箭头: 上下 42">
            <a:extLst>
              <a:ext uri="{FF2B5EF4-FFF2-40B4-BE49-F238E27FC236}">
                <a16:creationId xmlns:a16="http://schemas.microsoft.com/office/drawing/2014/main" id="{53EF4829-1847-4CED-90D2-BFD412552BA3}"/>
              </a:ext>
            </a:extLst>
          </p:cNvPr>
          <p:cNvSpPr/>
          <p:nvPr/>
        </p:nvSpPr>
        <p:spPr>
          <a:xfrm>
            <a:off x="8064395" y="2596081"/>
            <a:ext cx="274712" cy="2213125"/>
          </a:xfrm>
          <a:prstGeom prst="upDownArrow">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5">
            <a:extLst>
              <a:ext uri="{FF2B5EF4-FFF2-40B4-BE49-F238E27FC236}">
                <a16:creationId xmlns:a16="http://schemas.microsoft.com/office/drawing/2014/main" id="{8B1CAC1E-46CE-4B97-9AA7-90B17442F540}"/>
              </a:ext>
            </a:extLst>
          </p:cNvPr>
          <p:cNvSpPr txBox="1">
            <a:spLocks noChangeArrowheads="1"/>
          </p:cNvSpPr>
          <p:nvPr/>
        </p:nvSpPr>
        <p:spPr bwMode="auto">
          <a:xfrm>
            <a:off x="1691732" y="3528718"/>
            <a:ext cx="1402202" cy="523875"/>
          </a:xfrm>
          <a:prstGeom prst="rect">
            <a:avLst/>
          </a:prstGeom>
          <a:gradFill rotWithShape="0">
            <a:gsLst>
              <a:gs pos="0">
                <a:srgbClr val="EBEBEB"/>
              </a:gs>
              <a:gs pos="50000">
                <a:srgbClr val="FFFFFF"/>
              </a:gs>
              <a:gs pos="100000">
                <a:srgbClr val="EBEBEB"/>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华文楷体" panose="02010600040101010101" pitchFamily="2" charset="-122"/>
                <a:ea typeface="华文楷体" panose="02010600040101010101" pitchFamily="2" charset="-122"/>
              </a:rPr>
              <a:t>电 荷</a:t>
            </a: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B975C710-4707-4EEC-AC97-E12F8DC3BE2A}"/>
                  </a:ext>
                </a:extLst>
              </p:cNvPr>
              <p:cNvSpPr/>
              <p:nvPr/>
            </p:nvSpPr>
            <p:spPr>
              <a:xfrm rot="18828456">
                <a:off x="6481852" y="3138332"/>
                <a:ext cx="1637821" cy="5410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600" b="1" i="1" smtClean="0">
                              <a:solidFill>
                                <a:srgbClr val="FF0000"/>
                              </a:solidFill>
                              <a:latin typeface="Cambria Math" panose="02040503050406030204" pitchFamily="18" charset="0"/>
                              <a:ea typeface="Cambria Math" panose="02040503050406030204" pitchFamily="18" charset="0"/>
                            </a:rPr>
                          </m:ctrlPr>
                        </m:accPr>
                        <m:e>
                          <m:r>
                            <a:rPr lang="en-US" altLang="zh-CN" sz="2600" b="1" i="1">
                              <a:solidFill>
                                <a:srgbClr val="FF0000"/>
                              </a:solidFill>
                              <a:latin typeface="Cambria Math" panose="02040503050406030204" pitchFamily="18" charset="0"/>
                              <a:ea typeface="Cambria Math" panose="02040503050406030204" pitchFamily="18" charset="0"/>
                            </a:rPr>
                            <m:t>𝑬</m:t>
                          </m:r>
                        </m:e>
                      </m:acc>
                      <m:r>
                        <a:rPr lang="en-US" altLang="zh-CN" sz="2600" b="1" i="1">
                          <a:solidFill>
                            <a:srgbClr val="FF0000"/>
                          </a:solidFill>
                          <a:latin typeface="Cambria Math" panose="02040503050406030204" pitchFamily="18" charset="0"/>
                          <a:ea typeface="Cambria Math" panose="02040503050406030204" pitchFamily="18" charset="0"/>
                        </a:rPr>
                        <m:t>=−</m:t>
                      </m:r>
                      <m:r>
                        <a:rPr lang="zh-CN" altLang="en-US" sz="2600" b="1" i="1">
                          <a:solidFill>
                            <a:srgbClr val="FF0000"/>
                          </a:solidFill>
                          <a:latin typeface="Cambria Math" panose="02040503050406030204" pitchFamily="18" charset="0"/>
                          <a:ea typeface="Cambria Math" panose="02040503050406030204" pitchFamily="18" charset="0"/>
                        </a:rPr>
                        <m:t>𝜵</m:t>
                      </m:r>
                      <m:r>
                        <a:rPr lang="zh-CN" altLang="en-US" sz="2600" b="1" i="1">
                          <a:solidFill>
                            <a:srgbClr val="FF0000"/>
                          </a:solidFill>
                          <a:latin typeface="Cambria Math" panose="02040503050406030204" pitchFamily="18" charset="0"/>
                        </a:rPr>
                        <m:t>𝝋</m:t>
                      </m:r>
                    </m:oMath>
                  </m:oMathPara>
                </a14:m>
                <a:endParaRPr lang="en-US" sz="2600" dirty="0">
                  <a:solidFill>
                    <a:srgbClr val="FF0000"/>
                  </a:solidFill>
                </a:endParaRPr>
              </a:p>
            </p:txBody>
          </p:sp>
        </mc:Choice>
        <mc:Fallback xmlns="">
          <p:sp>
            <p:nvSpPr>
              <p:cNvPr id="11" name="矩形 10">
                <a:extLst>
                  <a:ext uri="{FF2B5EF4-FFF2-40B4-BE49-F238E27FC236}">
                    <a16:creationId xmlns:a16="http://schemas.microsoft.com/office/drawing/2014/main" id="{B975C710-4707-4EEC-AC97-E12F8DC3BE2A}"/>
                  </a:ext>
                </a:extLst>
              </p:cNvPr>
              <p:cNvSpPr>
                <a:spLocks noRot="1" noChangeAspect="1" noMove="1" noResize="1" noEditPoints="1" noAdjustHandles="1" noChangeArrowheads="1" noChangeShapeType="1" noTextEdit="1"/>
              </p:cNvSpPr>
              <p:nvPr/>
            </p:nvSpPr>
            <p:spPr>
              <a:xfrm rot="18828456">
                <a:off x="6481852" y="3138332"/>
                <a:ext cx="1637821" cy="541046"/>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FC8F297A-0047-41A7-83DD-A277EDD2667D}"/>
                  </a:ext>
                </a:extLst>
              </p:cNvPr>
              <p:cNvSpPr/>
              <p:nvPr/>
            </p:nvSpPr>
            <p:spPr>
              <a:xfrm>
                <a:off x="2232393" y="3998638"/>
                <a:ext cx="3850199" cy="1426929"/>
              </a:xfrm>
              <a:prstGeom prst="rect">
                <a:avLst/>
              </a:prstGeom>
            </p:spPr>
            <p:txBody>
              <a:bodyPr wrap="square">
                <a:spAutoFit/>
              </a:bodyPr>
              <a:lstStyle/>
              <a:p>
                <a:pPr>
                  <a:spcBef>
                    <a:spcPct val="50000"/>
                  </a:spcBef>
                  <a:defRPr/>
                </a:pPr>
                <a:endParaRPr lang="zh-CN" altLang="en-US" sz="2600" b="1" kern="0" dirty="0">
                  <a:solidFill>
                    <a:srgbClr val="FF0000"/>
                  </a:solidFill>
                </a:endParaRPr>
              </a:p>
              <a:p>
                <a:pPr>
                  <a:spcBef>
                    <a:spcPct val="50000"/>
                  </a:spcBef>
                </a:pPr>
                <a14:m>
                  <m:oMathPara xmlns:m="http://schemas.openxmlformats.org/officeDocument/2006/math">
                    <m:oMathParaPr>
                      <m:jc m:val="centerGroup"/>
                    </m:oMathParaPr>
                    <m:oMath xmlns:m="http://schemas.openxmlformats.org/officeDocument/2006/math">
                      <m:nary>
                        <m:naryPr>
                          <m:chr m:val="∯"/>
                          <m:ctrlPr>
                            <a:rPr lang="en-US" altLang="zh-CN" sz="2600" b="1" i="1">
                              <a:solidFill>
                                <a:srgbClr val="FF0000"/>
                              </a:solidFill>
                              <a:latin typeface="Cambria Math" panose="02040503050406030204" pitchFamily="18" charset="0"/>
                              <a:ea typeface="Cambria Math" panose="02040503050406030204" pitchFamily="18" charset="0"/>
                            </a:rPr>
                          </m:ctrlPr>
                        </m:naryPr>
                        <m:sub>
                          <m:r>
                            <m:rPr>
                              <m:brk m:alnAt="23"/>
                            </m:rPr>
                            <a:rPr lang="en-US" altLang="zh-CN" sz="2600" b="1" i="1">
                              <a:solidFill>
                                <a:srgbClr val="FF0000"/>
                              </a:solidFill>
                              <a:latin typeface="Cambria Math" panose="02040503050406030204" pitchFamily="18" charset="0"/>
                              <a:ea typeface="Cambria Math" panose="02040503050406030204" pitchFamily="18" charset="0"/>
                            </a:rPr>
                            <m:t>𝑺</m:t>
                          </m:r>
                        </m:sub>
                        <m:sup/>
                        <m:e>
                          <m:acc>
                            <m:accPr>
                              <m:chr m:val="⃗"/>
                              <m:ctrlPr>
                                <a:rPr lang="en-US" altLang="zh-CN" sz="2600" b="1" i="1">
                                  <a:solidFill>
                                    <a:srgbClr val="FF0000"/>
                                  </a:solidFill>
                                  <a:latin typeface="Cambria Math" panose="02040503050406030204" pitchFamily="18" charset="0"/>
                                  <a:ea typeface="Cambria Math" panose="02040503050406030204" pitchFamily="18" charset="0"/>
                                </a:rPr>
                              </m:ctrlPr>
                            </m:accPr>
                            <m:e>
                              <m:r>
                                <a:rPr lang="en-US" altLang="zh-CN" sz="2600" b="1" i="1">
                                  <a:solidFill>
                                    <a:srgbClr val="FF0000"/>
                                  </a:solidFill>
                                  <a:latin typeface="Cambria Math" panose="02040503050406030204" pitchFamily="18" charset="0"/>
                                  <a:ea typeface="Cambria Math" panose="02040503050406030204" pitchFamily="18" charset="0"/>
                                </a:rPr>
                                <m:t>𝑬</m:t>
                              </m:r>
                            </m:e>
                          </m:acc>
                          <m:r>
                            <a:rPr lang="en-US" altLang="zh-CN" sz="2600" b="1" i="1">
                              <a:solidFill>
                                <a:srgbClr val="FF0000"/>
                              </a:solidFill>
                              <a:latin typeface="Cambria Math" panose="02040503050406030204" pitchFamily="18" charset="0"/>
                              <a:ea typeface="Cambria Math" panose="02040503050406030204" pitchFamily="18" charset="0"/>
                            </a:rPr>
                            <m:t>∙</m:t>
                          </m:r>
                          <m:r>
                            <a:rPr lang="en-US" altLang="zh-CN" sz="2600" b="1" i="1">
                              <a:solidFill>
                                <a:srgbClr val="FF0000"/>
                              </a:solidFill>
                              <a:latin typeface="Cambria Math" panose="02040503050406030204" pitchFamily="18" charset="0"/>
                              <a:ea typeface="Cambria Math" panose="02040503050406030204" pitchFamily="18" charset="0"/>
                            </a:rPr>
                            <m:t>𝒅</m:t>
                          </m:r>
                          <m:acc>
                            <m:accPr>
                              <m:chr m:val="⃗"/>
                              <m:ctrlPr>
                                <a:rPr lang="en-US" altLang="zh-CN" sz="2600" b="1" i="1">
                                  <a:solidFill>
                                    <a:srgbClr val="FF0000"/>
                                  </a:solidFill>
                                  <a:latin typeface="Cambria Math" panose="02040503050406030204" pitchFamily="18" charset="0"/>
                                  <a:ea typeface="Cambria Math" panose="02040503050406030204" pitchFamily="18" charset="0"/>
                                </a:rPr>
                              </m:ctrlPr>
                            </m:accPr>
                            <m:e>
                              <m:r>
                                <a:rPr lang="en-US" altLang="zh-CN" sz="2600" b="1" i="1">
                                  <a:solidFill>
                                    <a:srgbClr val="FF0000"/>
                                  </a:solidFill>
                                  <a:latin typeface="Cambria Math" panose="02040503050406030204" pitchFamily="18" charset="0"/>
                                  <a:ea typeface="Cambria Math" panose="02040503050406030204" pitchFamily="18" charset="0"/>
                                </a:rPr>
                                <m:t>𝑺</m:t>
                              </m:r>
                            </m:e>
                          </m:acc>
                        </m:e>
                      </m:nary>
                      <m:r>
                        <a:rPr lang="en-US" altLang="zh-CN" sz="2600" b="1" i="1">
                          <a:solidFill>
                            <a:srgbClr val="FF0000"/>
                          </a:solidFill>
                          <a:latin typeface="Cambria Math" panose="02040503050406030204" pitchFamily="18" charset="0"/>
                          <a:ea typeface="Cambria Math" panose="02040503050406030204" pitchFamily="18" charset="0"/>
                        </a:rPr>
                        <m:t>=</m:t>
                      </m:r>
                      <m:f>
                        <m:fPr>
                          <m:ctrlPr>
                            <a:rPr lang="en-US" altLang="zh-CN" sz="2600" b="1" i="1">
                              <a:solidFill>
                                <a:srgbClr val="FF0000"/>
                              </a:solidFill>
                              <a:latin typeface="Cambria Math" panose="02040503050406030204" pitchFamily="18" charset="0"/>
                              <a:ea typeface="Cambria Math" panose="02040503050406030204" pitchFamily="18" charset="0"/>
                            </a:rPr>
                          </m:ctrlPr>
                        </m:fPr>
                        <m:num>
                          <m:nary>
                            <m:naryPr>
                              <m:chr m:val="∑"/>
                              <m:subHide m:val="on"/>
                              <m:supHide m:val="on"/>
                              <m:ctrlPr>
                                <a:rPr lang="en-US" altLang="zh-CN" sz="2600" b="1" i="1">
                                  <a:solidFill>
                                    <a:srgbClr val="FF0000"/>
                                  </a:solidFill>
                                  <a:latin typeface="Cambria Math" panose="02040503050406030204" pitchFamily="18" charset="0"/>
                                  <a:ea typeface="Cambria Math" panose="02040503050406030204" pitchFamily="18" charset="0"/>
                                </a:rPr>
                              </m:ctrlPr>
                            </m:naryPr>
                            <m:sub/>
                            <m:sup/>
                            <m:e>
                              <m:sSub>
                                <m:sSubPr>
                                  <m:ctrlPr>
                                    <a:rPr lang="en-US" altLang="zh-CN" sz="2600" b="1" i="1">
                                      <a:solidFill>
                                        <a:srgbClr val="FF0000"/>
                                      </a:solidFill>
                                      <a:latin typeface="Cambria Math" panose="02040503050406030204" pitchFamily="18" charset="0"/>
                                      <a:ea typeface="Cambria Math" panose="02040503050406030204" pitchFamily="18" charset="0"/>
                                    </a:rPr>
                                  </m:ctrlPr>
                                </m:sSubPr>
                                <m:e>
                                  <m:r>
                                    <a:rPr lang="en-US" altLang="zh-CN" sz="2600" b="1" i="1">
                                      <a:solidFill>
                                        <a:srgbClr val="FF0000"/>
                                      </a:solidFill>
                                      <a:latin typeface="Cambria Math" panose="02040503050406030204" pitchFamily="18" charset="0"/>
                                      <a:ea typeface="Cambria Math" panose="02040503050406030204" pitchFamily="18" charset="0"/>
                                    </a:rPr>
                                    <m:t>𝒒</m:t>
                                  </m:r>
                                </m:e>
                                <m:sub>
                                  <m:r>
                                    <a:rPr lang="en-US" altLang="zh-CN" sz="2600" b="1" i="1">
                                      <a:solidFill>
                                        <a:srgbClr val="FF0000"/>
                                      </a:solidFill>
                                      <a:latin typeface="Cambria Math" panose="02040503050406030204" pitchFamily="18" charset="0"/>
                                      <a:ea typeface="Cambria Math" panose="02040503050406030204" pitchFamily="18" charset="0"/>
                                    </a:rPr>
                                    <m:t>𝒊</m:t>
                                  </m:r>
                                </m:sub>
                              </m:sSub>
                            </m:e>
                          </m:nary>
                        </m:num>
                        <m:den>
                          <m:sSub>
                            <m:sSubPr>
                              <m:ctrlPr>
                                <a:rPr lang="en-US" altLang="zh-CN" sz="2600" b="1" i="1">
                                  <a:solidFill>
                                    <a:srgbClr val="FF0000"/>
                                  </a:solidFill>
                                  <a:latin typeface="Cambria Math" panose="02040503050406030204" pitchFamily="18" charset="0"/>
                                  <a:ea typeface="Cambria Math" panose="02040503050406030204" pitchFamily="18" charset="0"/>
                                </a:rPr>
                              </m:ctrlPr>
                            </m:sSubPr>
                            <m:e>
                              <m:r>
                                <a:rPr lang="zh-CN" altLang="en-US" sz="2600" b="1" i="1">
                                  <a:solidFill>
                                    <a:srgbClr val="FF0000"/>
                                  </a:solidFill>
                                  <a:latin typeface="Cambria Math" panose="02040503050406030204" pitchFamily="18" charset="0"/>
                                  <a:ea typeface="Cambria Math" panose="02040503050406030204" pitchFamily="18" charset="0"/>
                                </a:rPr>
                                <m:t>𝜺</m:t>
                              </m:r>
                            </m:e>
                            <m:sub>
                              <m:r>
                                <a:rPr lang="en-US" altLang="zh-CN" sz="2600" b="1" i="1">
                                  <a:solidFill>
                                    <a:srgbClr val="FF0000"/>
                                  </a:solidFill>
                                  <a:latin typeface="Cambria Math" panose="02040503050406030204" pitchFamily="18" charset="0"/>
                                  <a:ea typeface="Cambria Math" panose="02040503050406030204" pitchFamily="18" charset="0"/>
                                </a:rPr>
                                <m:t>𝟎</m:t>
                              </m:r>
                            </m:sub>
                          </m:sSub>
                        </m:den>
                      </m:f>
                    </m:oMath>
                  </m:oMathPara>
                </a14:m>
                <a:endParaRPr lang="en-US" sz="2600" dirty="0">
                  <a:solidFill>
                    <a:srgbClr val="FF0000"/>
                  </a:solidFill>
                </a:endParaRPr>
              </a:p>
            </p:txBody>
          </p:sp>
        </mc:Choice>
        <mc:Fallback xmlns="">
          <p:sp>
            <p:nvSpPr>
              <p:cNvPr id="12" name="矩形 11">
                <a:extLst>
                  <a:ext uri="{FF2B5EF4-FFF2-40B4-BE49-F238E27FC236}">
                    <a16:creationId xmlns:a16="http://schemas.microsoft.com/office/drawing/2014/main" id="{FC8F297A-0047-41A7-83DD-A277EDD2667D}"/>
                  </a:ext>
                </a:extLst>
              </p:cNvPr>
              <p:cNvSpPr>
                <a:spLocks noRot="1" noChangeAspect="1" noMove="1" noResize="1" noEditPoints="1" noAdjustHandles="1" noChangeArrowheads="1" noChangeShapeType="1" noTextEdit="1"/>
              </p:cNvSpPr>
              <p:nvPr/>
            </p:nvSpPr>
            <p:spPr>
              <a:xfrm>
                <a:off x="2232393" y="3998638"/>
                <a:ext cx="3850199" cy="1426929"/>
              </a:xfrm>
              <a:prstGeom prst="rect">
                <a:avLst/>
              </a:prstGeom>
              <a:blipFill>
                <a:blip r:embed="rId3"/>
                <a:stretch>
                  <a:fillRect/>
                </a:stretch>
              </a:blipFill>
            </p:spPr>
            <p:txBody>
              <a:bodyPr/>
              <a:lstStyle/>
              <a:p>
                <a:r>
                  <a:rPr lang="zh-CN" altLang="en-US">
                    <a:noFill/>
                  </a:rPr>
                  <a:t> </a:t>
                </a:r>
              </a:p>
            </p:txBody>
          </p:sp>
        </mc:Fallback>
      </mc:AlternateContent>
      <p:sp>
        <p:nvSpPr>
          <p:cNvPr id="16" name="矩形 15">
            <a:extLst>
              <a:ext uri="{FF2B5EF4-FFF2-40B4-BE49-F238E27FC236}">
                <a16:creationId xmlns:a16="http://schemas.microsoft.com/office/drawing/2014/main" id="{2642CE69-FE7A-46E0-BB36-6AFB7FAA4F60}"/>
              </a:ext>
            </a:extLst>
          </p:cNvPr>
          <p:cNvSpPr/>
          <p:nvPr/>
        </p:nvSpPr>
        <p:spPr>
          <a:xfrm>
            <a:off x="833020" y="349321"/>
            <a:ext cx="4916731" cy="646331"/>
          </a:xfrm>
          <a:prstGeom prst="rect">
            <a:avLst/>
          </a:prstGeom>
        </p:spPr>
        <p:txBody>
          <a:bodyPr wrap="none">
            <a:spAutoFit/>
          </a:bodyPr>
          <a:lstStyle/>
          <a:p>
            <a:pPr marL="571500" indent="-571500" algn="ctr">
              <a:spcBef>
                <a:spcPct val="50000"/>
              </a:spcBef>
              <a:buFont typeface="Wingdings" panose="05000000000000000000" pitchFamily="2" charset="2"/>
              <a:buChar char="q"/>
            </a:pPr>
            <a:r>
              <a:rPr lang="zh-CN" altLang="en-US" sz="3600" b="1" dirty="0">
                <a:solidFill>
                  <a:srgbClr val="0066FF"/>
                </a:solidFill>
                <a:latin typeface="华文楷体" panose="02010600040101010101" pitchFamily="2" charset="-122"/>
                <a:ea typeface="华文楷体" panose="02010600040101010101" pitchFamily="2" charset="-122"/>
              </a:rPr>
              <a:t>真空中的静电场小结</a:t>
            </a:r>
          </a:p>
        </p:txBody>
      </p:sp>
      <p:sp>
        <p:nvSpPr>
          <p:cNvPr id="14" name="AutoShape 8">
            <a:extLst>
              <a:ext uri="{FF2B5EF4-FFF2-40B4-BE49-F238E27FC236}">
                <a16:creationId xmlns:a16="http://schemas.microsoft.com/office/drawing/2014/main" id="{592D71AD-306C-47A0-B9AF-3E2702200D9A}"/>
              </a:ext>
            </a:extLst>
          </p:cNvPr>
          <p:cNvSpPr>
            <a:spLocks noChangeArrowheads="1"/>
          </p:cNvSpPr>
          <p:nvPr/>
        </p:nvSpPr>
        <p:spPr bwMode="auto">
          <a:xfrm rot="18878244">
            <a:off x="6060692" y="2711428"/>
            <a:ext cx="1230934" cy="304800"/>
          </a:xfrm>
          <a:prstGeom prst="rightArrow">
            <a:avLst>
              <a:gd name="adj1" fmla="val 50000"/>
              <a:gd name="adj2" fmla="val 75000"/>
            </a:avLst>
          </a:prstGeom>
          <a:gradFill rotWithShape="0">
            <a:gsLst>
              <a:gs pos="0">
                <a:srgbClr val="A4D6DA"/>
              </a:gs>
              <a:gs pos="50000">
                <a:srgbClr val="FFFFFF"/>
              </a:gs>
              <a:gs pos="100000">
                <a:srgbClr val="A4D6DA"/>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15" name="AutoShape 9">
            <a:extLst>
              <a:ext uri="{FF2B5EF4-FFF2-40B4-BE49-F238E27FC236}">
                <a16:creationId xmlns:a16="http://schemas.microsoft.com/office/drawing/2014/main" id="{1565EA43-177C-4770-BF27-AB015B3F0128}"/>
              </a:ext>
            </a:extLst>
          </p:cNvPr>
          <p:cNvSpPr>
            <a:spLocks noChangeArrowheads="1"/>
          </p:cNvSpPr>
          <p:nvPr/>
        </p:nvSpPr>
        <p:spPr bwMode="auto">
          <a:xfrm rot="18870674">
            <a:off x="6288834" y="3006026"/>
            <a:ext cx="1277511" cy="304800"/>
          </a:xfrm>
          <a:prstGeom prst="leftArrow">
            <a:avLst>
              <a:gd name="adj1" fmla="val 50000"/>
              <a:gd name="adj2" fmla="val 75000"/>
            </a:avLst>
          </a:prstGeom>
          <a:gradFill rotWithShape="0">
            <a:gsLst>
              <a:gs pos="0">
                <a:srgbClr val="6464CC"/>
              </a:gs>
              <a:gs pos="50000">
                <a:srgbClr val="FFFFFF"/>
              </a:gs>
              <a:gs pos="100000">
                <a:srgbClr val="6464CC"/>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dirty="0">
              <a:latin typeface="华文楷体" panose="02010600040101010101" pitchFamily="2" charset="-122"/>
              <a:ea typeface="华文楷体" panose="02010600040101010101" pitchFamily="2" charset="-122"/>
            </a:endParaRPr>
          </a:p>
        </p:txBody>
      </p:sp>
      <p:sp>
        <p:nvSpPr>
          <p:cNvPr id="17" name="Text Box 11">
            <a:extLst>
              <a:ext uri="{FF2B5EF4-FFF2-40B4-BE49-F238E27FC236}">
                <a16:creationId xmlns:a16="http://schemas.microsoft.com/office/drawing/2014/main" id="{694D08CD-5968-44CC-AE42-E888B8BD6F33}"/>
              </a:ext>
            </a:extLst>
          </p:cNvPr>
          <p:cNvSpPr txBox="1">
            <a:spLocks noChangeArrowheads="1"/>
          </p:cNvSpPr>
          <p:nvPr/>
        </p:nvSpPr>
        <p:spPr bwMode="auto">
          <a:xfrm>
            <a:off x="7434419" y="1961101"/>
            <a:ext cx="1402203" cy="523875"/>
          </a:xfrm>
          <a:prstGeom prst="rect">
            <a:avLst/>
          </a:prstGeom>
          <a:gradFill rotWithShape="0">
            <a:gsLst>
              <a:gs pos="0">
                <a:srgbClr val="EBEBEB"/>
              </a:gs>
              <a:gs pos="50000">
                <a:srgbClr val="FFFFFF"/>
              </a:gs>
              <a:gs pos="100000">
                <a:srgbClr val="EBEBEB"/>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华文楷体" panose="02010600040101010101" pitchFamily="2" charset="-122"/>
                <a:ea typeface="华文楷体" panose="02010600040101010101" pitchFamily="2" charset="-122"/>
              </a:rPr>
              <a:t>电 势</a:t>
            </a:r>
          </a:p>
        </p:txBody>
      </p:sp>
      <p:sp>
        <p:nvSpPr>
          <p:cNvPr id="36" name="AutoShape 7">
            <a:extLst>
              <a:ext uri="{FF2B5EF4-FFF2-40B4-BE49-F238E27FC236}">
                <a16:creationId xmlns:a16="http://schemas.microsoft.com/office/drawing/2014/main" id="{FDED2844-283C-4FA6-AF9A-C90A8FDED342}"/>
              </a:ext>
            </a:extLst>
          </p:cNvPr>
          <p:cNvSpPr>
            <a:spLocks noChangeArrowheads="1"/>
          </p:cNvSpPr>
          <p:nvPr/>
        </p:nvSpPr>
        <p:spPr bwMode="auto">
          <a:xfrm>
            <a:off x="3323834" y="3819560"/>
            <a:ext cx="1051652" cy="304800"/>
          </a:xfrm>
          <a:prstGeom prst="leftArrow">
            <a:avLst>
              <a:gd name="adj1" fmla="val 50000"/>
              <a:gd name="adj2" fmla="val 75000"/>
            </a:avLst>
          </a:prstGeom>
          <a:gradFill rotWithShape="0">
            <a:gsLst>
              <a:gs pos="0">
                <a:srgbClr val="6464CC"/>
              </a:gs>
              <a:gs pos="50000">
                <a:srgbClr val="FFFFFF"/>
              </a:gs>
              <a:gs pos="100000">
                <a:srgbClr val="6464CC"/>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37" name="Oval 10">
            <a:extLst>
              <a:ext uri="{FF2B5EF4-FFF2-40B4-BE49-F238E27FC236}">
                <a16:creationId xmlns:a16="http://schemas.microsoft.com/office/drawing/2014/main" id="{F25A6383-A873-4EEB-ACFF-61B2EDC194B7}"/>
              </a:ext>
            </a:extLst>
          </p:cNvPr>
          <p:cNvSpPr>
            <a:spLocks noChangeArrowheads="1"/>
          </p:cNvSpPr>
          <p:nvPr/>
        </p:nvSpPr>
        <p:spPr bwMode="auto">
          <a:xfrm>
            <a:off x="4583775" y="3376318"/>
            <a:ext cx="1489840" cy="914400"/>
          </a:xfrm>
          <a:prstGeom prst="ellipse">
            <a:avLst/>
          </a:prstGeom>
          <a:gradFill rotWithShape="0">
            <a:gsLst>
              <a:gs pos="0">
                <a:srgbClr val="FFCCFF"/>
              </a:gs>
              <a:gs pos="50000">
                <a:schemeClr val="bg1"/>
              </a:gs>
              <a:gs pos="100000">
                <a:srgbClr val="FFCCFF"/>
              </a:gs>
            </a:gsLst>
            <a:lin ang="5400000" scaled="1"/>
          </a:grad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sz="2800" dirty="0">
                <a:solidFill>
                  <a:srgbClr val="BD240F"/>
                </a:solidFill>
                <a:latin typeface="华文楷体" panose="02010600040101010101" pitchFamily="2" charset="-122"/>
                <a:ea typeface="华文楷体" panose="02010600040101010101" pitchFamily="2" charset="-122"/>
              </a:rPr>
              <a:t>电 场</a:t>
            </a:r>
          </a:p>
        </p:txBody>
      </p:sp>
      <p:sp>
        <p:nvSpPr>
          <p:cNvPr id="38" name="AutoShape 6">
            <a:extLst>
              <a:ext uri="{FF2B5EF4-FFF2-40B4-BE49-F238E27FC236}">
                <a16:creationId xmlns:a16="http://schemas.microsoft.com/office/drawing/2014/main" id="{FFB446AA-8583-40BC-B966-F40F915836FE}"/>
              </a:ext>
            </a:extLst>
          </p:cNvPr>
          <p:cNvSpPr>
            <a:spLocks noChangeArrowheads="1"/>
          </p:cNvSpPr>
          <p:nvPr/>
        </p:nvSpPr>
        <p:spPr bwMode="auto">
          <a:xfrm>
            <a:off x="3356847" y="3528718"/>
            <a:ext cx="1051652" cy="304800"/>
          </a:xfrm>
          <a:prstGeom prst="rightArrow">
            <a:avLst>
              <a:gd name="adj1" fmla="val 50000"/>
              <a:gd name="adj2" fmla="val 75000"/>
            </a:avLst>
          </a:prstGeom>
          <a:gradFill rotWithShape="0">
            <a:gsLst>
              <a:gs pos="0">
                <a:srgbClr val="A4D6DA"/>
              </a:gs>
              <a:gs pos="50000">
                <a:srgbClr val="FFFFFF"/>
              </a:gs>
              <a:gs pos="100000">
                <a:srgbClr val="A4D6DA"/>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64261C21-BC75-4128-98AC-C937F5F57548}"/>
                  </a:ext>
                </a:extLst>
              </p:cNvPr>
              <p:cNvSpPr/>
              <p:nvPr/>
            </p:nvSpPr>
            <p:spPr>
              <a:xfrm>
                <a:off x="2820040" y="2344887"/>
                <a:ext cx="2849883" cy="11418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600" b="1" i="1" smtClean="0">
                              <a:solidFill>
                                <a:srgbClr val="FF0000"/>
                              </a:solidFill>
                              <a:latin typeface="Cambria Math" panose="02040503050406030204" pitchFamily="18" charset="0"/>
                            </a:rPr>
                          </m:ctrlPr>
                        </m:accPr>
                        <m:e>
                          <m:r>
                            <a:rPr lang="en-US" altLang="zh-CN" sz="2600" b="1" i="1">
                              <a:solidFill>
                                <a:srgbClr val="FF0000"/>
                              </a:solidFill>
                              <a:latin typeface="Cambria Math" panose="02040503050406030204" pitchFamily="18" charset="0"/>
                            </a:rPr>
                            <m:t>𝑬</m:t>
                          </m:r>
                        </m:e>
                      </m:acc>
                      <m:r>
                        <a:rPr lang="en-US" altLang="zh-CN" sz="2600" b="1" i="1">
                          <a:solidFill>
                            <a:srgbClr val="FF0000"/>
                          </a:solidFill>
                          <a:latin typeface="Cambria Math" panose="02040503050406030204" pitchFamily="18" charset="0"/>
                        </a:rPr>
                        <m:t>=</m:t>
                      </m:r>
                      <m:f>
                        <m:fPr>
                          <m:ctrlPr>
                            <a:rPr lang="en-US" altLang="zh-CN" sz="2600" b="1" i="1">
                              <a:solidFill>
                                <a:srgbClr val="FF0000"/>
                              </a:solidFill>
                              <a:latin typeface="Cambria Math" panose="02040503050406030204" pitchFamily="18" charset="0"/>
                            </a:rPr>
                          </m:ctrlPr>
                        </m:fPr>
                        <m:num>
                          <m:r>
                            <a:rPr lang="en-US" altLang="zh-CN" sz="2600" b="1" i="1">
                              <a:solidFill>
                                <a:srgbClr val="FF0000"/>
                              </a:solidFill>
                              <a:latin typeface="Cambria Math" panose="02040503050406030204" pitchFamily="18" charset="0"/>
                            </a:rPr>
                            <m:t>𝟏</m:t>
                          </m:r>
                        </m:num>
                        <m:den>
                          <m:r>
                            <a:rPr lang="en-US" altLang="zh-CN" sz="2600" b="1" i="1">
                              <a:solidFill>
                                <a:srgbClr val="FF0000"/>
                              </a:solidFill>
                              <a:latin typeface="Cambria Math" panose="02040503050406030204" pitchFamily="18" charset="0"/>
                            </a:rPr>
                            <m:t>𝟒</m:t>
                          </m:r>
                          <m:r>
                            <a:rPr lang="zh-CN" altLang="en-US" sz="2600" b="1" i="1">
                              <a:solidFill>
                                <a:srgbClr val="FF0000"/>
                              </a:solidFill>
                              <a:latin typeface="Cambria Math" panose="02040503050406030204" pitchFamily="18" charset="0"/>
                            </a:rPr>
                            <m:t>𝝅</m:t>
                          </m:r>
                          <m:sSub>
                            <m:sSubPr>
                              <m:ctrlPr>
                                <a:rPr lang="en-US" altLang="zh-CN" sz="2600" b="1" i="1">
                                  <a:solidFill>
                                    <a:srgbClr val="FF0000"/>
                                  </a:solidFill>
                                  <a:latin typeface="Cambria Math" panose="02040503050406030204" pitchFamily="18" charset="0"/>
                                </a:rPr>
                              </m:ctrlPr>
                            </m:sSubPr>
                            <m:e>
                              <m:r>
                                <a:rPr lang="zh-CN" altLang="en-US" sz="2600" b="1" i="1">
                                  <a:solidFill>
                                    <a:srgbClr val="FF0000"/>
                                  </a:solidFill>
                                  <a:latin typeface="Cambria Math" panose="02040503050406030204" pitchFamily="18" charset="0"/>
                                </a:rPr>
                                <m:t>𝜺</m:t>
                              </m:r>
                            </m:e>
                            <m:sub>
                              <m:r>
                                <a:rPr lang="en-US" altLang="zh-CN" sz="2600" b="1" i="1">
                                  <a:solidFill>
                                    <a:srgbClr val="FF0000"/>
                                  </a:solidFill>
                                  <a:latin typeface="Cambria Math" panose="02040503050406030204" pitchFamily="18" charset="0"/>
                                </a:rPr>
                                <m:t>𝟎</m:t>
                              </m:r>
                            </m:sub>
                          </m:sSub>
                        </m:den>
                      </m:f>
                      <m:nary>
                        <m:naryPr>
                          <m:limLoc m:val="undOvr"/>
                          <m:subHide m:val="on"/>
                          <m:supHide m:val="on"/>
                          <m:ctrlPr>
                            <a:rPr lang="en-US" altLang="zh-CN" sz="2600" b="1" i="1">
                              <a:solidFill>
                                <a:srgbClr val="FF0000"/>
                              </a:solidFill>
                              <a:latin typeface="Cambria Math" panose="02040503050406030204" pitchFamily="18" charset="0"/>
                            </a:rPr>
                          </m:ctrlPr>
                        </m:naryPr>
                        <m:sub/>
                        <m:sup/>
                        <m:e>
                          <m:f>
                            <m:fPr>
                              <m:ctrlPr>
                                <a:rPr lang="en-US" altLang="zh-CN" sz="2600" b="1" i="1">
                                  <a:solidFill>
                                    <a:srgbClr val="FF0000"/>
                                  </a:solidFill>
                                  <a:latin typeface="Cambria Math" panose="02040503050406030204" pitchFamily="18" charset="0"/>
                                </a:rPr>
                              </m:ctrlPr>
                            </m:fPr>
                            <m:num>
                              <m:r>
                                <a:rPr lang="en-US" altLang="zh-CN" sz="2600" b="1" i="1">
                                  <a:solidFill>
                                    <a:srgbClr val="FF0000"/>
                                  </a:solidFill>
                                  <a:latin typeface="Cambria Math" panose="02040503050406030204" pitchFamily="18" charset="0"/>
                                </a:rPr>
                                <m:t>𝒅𝒒</m:t>
                              </m:r>
                            </m:num>
                            <m:den>
                              <m:sSup>
                                <m:sSupPr>
                                  <m:ctrlPr>
                                    <a:rPr lang="en-US" altLang="zh-CN" sz="2600" b="1" i="1">
                                      <a:solidFill>
                                        <a:srgbClr val="FF0000"/>
                                      </a:solidFill>
                                      <a:latin typeface="Cambria Math" panose="02040503050406030204" pitchFamily="18" charset="0"/>
                                    </a:rPr>
                                  </m:ctrlPr>
                                </m:sSupPr>
                                <m:e>
                                  <m:r>
                                    <a:rPr lang="en-US" altLang="zh-CN" sz="2600" b="1" i="1">
                                      <a:solidFill>
                                        <a:srgbClr val="FF0000"/>
                                      </a:solidFill>
                                      <a:latin typeface="Cambria Math" panose="02040503050406030204" pitchFamily="18" charset="0"/>
                                    </a:rPr>
                                    <m:t>𝒓</m:t>
                                  </m:r>
                                </m:e>
                                <m:sup>
                                  <m:r>
                                    <a:rPr lang="en-US" altLang="zh-CN" sz="2600" b="1" i="1">
                                      <a:solidFill>
                                        <a:srgbClr val="FF0000"/>
                                      </a:solidFill>
                                      <a:latin typeface="Cambria Math" panose="02040503050406030204" pitchFamily="18" charset="0"/>
                                    </a:rPr>
                                    <m:t>𝟐</m:t>
                                  </m:r>
                                </m:sup>
                              </m:sSup>
                            </m:den>
                          </m:f>
                          <m:sSub>
                            <m:sSubPr>
                              <m:ctrlPr>
                                <a:rPr lang="en-US" altLang="zh-CN" sz="2600" b="1" i="1">
                                  <a:solidFill>
                                    <a:srgbClr val="FF0000"/>
                                  </a:solidFill>
                                  <a:latin typeface="Cambria Math" panose="02040503050406030204" pitchFamily="18" charset="0"/>
                                </a:rPr>
                              </m:ctrlPr>
                            </m:sSubPr>
                            <m:e>
                              <m:acc>
                                <m:accPr>
                                  <m:chr m:val="⃗"/>
                                  <m:ctrlPr>
                                    <a:rPr lang="en-US" altLang="zh-CN" sz="2600" b="1" i="1">
                                      <a:solidFill>
                                        <a:srgbClr val="FF0000"/>
                                      </a:solidFill>
                                      <a:latin typeface="Cambria Math" panose="02040503050406030204" pitchFamily="18" charset="0"/>
                                    </a:rPr>
                                  </m:ctrlPr>
                                </m:accPr>
                                <m:e>
                                  <m:r>
                                    <a:rPr lang="en-US" altLang="zh-CN" sz="2600" b="1" i="1">
                                      <a:solidFill>
                                        <a:srgbClr val="FF0000"/>
                                      </a:solidFill>
                                      <a:latin typeface="Cambria Math" panose="02040503050406030204" pitchFamily="18" charset="0"/>
                                    </a:rPr>
                                    <m:t>𝒆</m:t>
                                  </m:r>
                                </m:e>
                              </m:acc>
                            </m:e>
                            <m:sub>
                              <m:r>
                                <a:rPr lang="en-US" altLang="zh-CN" sz="2600" b="1" i="1">
                                  <a:solidFill>
                                    <a:srgbClr val="FF0000"/>
                                  </a:solidFill>
                                  <a:latin typeface="Cambria Math" panose="02040503050406030204" pitchFamily="18" charset="0"/>
                                </a:rPr>
                                <m:t>𝒓</m:t>
                              </m:r>
                            </m:sub>
                          </m:sSub>
                        </m:e>
                      </m:nary>
                    </m:oMath>
                  </m:oMathPara>
                </a14:m>
                <a:endParaRPr lang="en-US" sz="2600" dirty="0">
                  <a:solidFill>
                    <a:srgbClr val="FF0000"/>
                  </a:solidFill>
                </a:endParaRPr>
              </a:p>
            </p:txBody>
          </p:sp>
        </mc:Choice>
        <mc:Fallback xmlns="">
          <p:sp>
            <p:nvSpPr>
              <p:cNvPr id="39" name="矩形 38">
                <a:extLst>
                  <a:ext uri="{FF2B5EF4-FFF2-40B4-BE49-F238E27FC236}">
                    <a16:creationId xmlns:a16="http://schemas.microsoft.com/office/drawing/2014/main" id="{64261C21-BC75-4128-98AC-C937F5F57548}"/>
                  </a:ext>
                </a:extLst>
              </p:cNvPr>
              <p:cNvSpPr>
                <a:spLocks noRot="1" noChangeAspect="1" noMove="1" noResize="1" noEditPoints="1" noAdjustHandles="1" noChangeArrowheads="1" noChangeShapeType="1" noTextEdit="1"/>
              </p:cNvSpPr>
              <p:nvPr/>
            </p:nvSpPr>
            <p:spPr>
              <a:xfrm>
                <a:off x="2820040" y="2344887"/>
                <a:ext cx="2849883" cy="1141851"/>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矩形 39">
                <a:extLst>
                  <a:ext uri="{FF2B5EF4-FFF2-40B4-BE49-F238E27FC236}">
                    <a16:creationId xmlns:a16="http://schemas.microsoft.com/office/drawing/2014/main" id="{FCA67583-D186-4871-9565-292B0B4871A3}"/>
                  </a:ext>
                </a:extLst>
              </p:cNvPr>
              <p:cNvSpPr/>
              <p:nvPr/>
            </p:nvSpPr>
            <p:spPr>
              <a:xfrm>
                <a:off x="5669923" y="1235918"/>
                <a:ext cx="2245808" cy="10067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600" b="1" i="1" smtClean="0">
                          <a:solidFill>
                            <a:srgbClr val="FF0000"/>
                          </a:solidFill>
                          <a:latin typeface="Cambria Math" panose="02040503050406030204" pitchFamily="18" charset="0"/>
                        </a:rPr>
                        <m:t>𝝋</m:t>
                      </m:r>
                      <m:r>
                        <a:rPr lang="en-US" altLang="zh-CN" sz="2600" b="1" i="1">
                          <a:solidFill>
                            <a:srgbClr val="FF0000"/>
                          </a:solidFill>
                          <a:latin typeface="Cambria Math" panose="02040503050406030204" pitchFamily="18" charset="0"/>
                        </a:rPr>
                        <m:t>=</m:t>
                      </m:r>
                      <m:nary>
                        <m:naryPr>
                          <m:ctrlPr>
                            <a:rPr lang="en-US" altLang="zh-CN" sz="2600" b="1" i="1">
                              <a:solidFill>
                                <a:srgbClr val="FF0000"/>
                              </a:solidFill>
                              <a:latin typeface="Cambria Math" panose="02040503050406030204" pitchFamily="18" charset="0"/>
                              <a:ea typeface="华文新魏" panose="02010800040101010101" pitchFamily="2" charset="-122"/>
                            </a:rPr>
                          </m:ctrlPr>
                        </m:naryPr>
                        <m:sub>
                          <m:r>
                            <a:rPr lang="en-US" altLang="zh-CN" sz="2600" b="1" i="1">
                              <a:solidFill>
                                <a:srgbClr val="FF0000"/>
                              </a:solidFill>
                              <a:latin typeface="Cambria Math" panose="02040503050406030204" pitchFamily="18" charset="0"/>
                              <a:ea typeface="华文新魏" panose="02010800040101010101" pitchFamily="2" charset="-122"/>
                            </a:rPr>
                            <m:t>𝒑</m:t>
                          </m:r>
                        </m:sub>
                        <m:sup>
                          <m:r>
                            <a:rPr lang="en-US" altLang="zh-CN" sz="2600" b="1" i="1" smtClean="0">
                              <a:solidFill>
                                <a:srgbClr val="FF0000"/>
                              </a:solidFill>
                              <a:latin typeface="Cambria Math" panose="02040503050406030204" pitchFamily="18" charset="0"/>
                              <a:ea typeface="华文新魏" panose="02010800040101010101" pitchFamily="2" charset="-122"/>
                            </a:rPr>
                            <m:t>∞</m:t>
                          </m:r>
                        </m:sup>
                        <m:e>
                          <m:acc>
                            <m:accPr>
                              <m:chr m:val="⃗"/>
                              <m:ctrlPr>
                                <a:rPr lang="en-US" altLang="zh-CN" sz="2600" b="1" i="1">
                                  <a:solidFill>
                                    <a:srgbClr val="FF0000"/>
                                  </a:solidFill>
                                  <a:latin typeface="Cambria Math" panose="02040503050406030204" pitchFamily="18" charset="0"/>
                                  <a:ea typeface="华文新魏" panose="02010800040101010101" pitchFamily="2" charset="-122"/>
                                </a:rPr>
                              </m:ctrlPr>
                            </m:accPr>
                            <m:e>
                              <m:r>
                                <a:rPr lang="en-US" altLang="zh-CN" sz="2600" b="1" i="1">
                                  <a:solidFill>
                                    <a:srgbClr val="FF0000"/>
                                  </a:solidFill>
                                  <a:latin typeface="Cambria Math" panose="02040503050406030204" pitchFamily="18" charset="0"/>
                                  <a:ea typeface="华文新魏" panose="02010800040101010101" pitchFamily="2" charset="-122"/>
                                </a:rPr>
                                <m:t>𝑬</m:t>
                              </m:r>
                            </m:e>
                          </m:acc>
                          <m:r>
                            <m:rPr>
                              <m:brk m:alnAt="23"/>
                            </m:rPr>
                            <a:rPr lang="en-US" altLang="zh-CN" sz="2600" b="1" i="1">
                              <a:solidFill>
                                <a:srgbClr val="FF0000"/>
                              </a:solidFill>
                              <a:latin typeface="Cambria Math" panose="02040503050406030204" pitchFamily="18" charset="0"/>
                              <a:ea typeface="Cambria Math" panose="02040503050406030204" pitchFamily="18" charset="0"/>
                            </a:rPr>
                            <m:t>∙</m:t>
                          </m:r>
                          <m:r>
                            <a:rPr lang="en-US" altLang="zh-CN" sz="2600" b="1" i="1">
                              <a:solidFill>
                                <a:srgbClr val="FF0000"/>
                              </a:solidFill>
                              <a:latin typeface="Cambria Math" panose="02040503050406030204" pitchFamily="18" charset="0"/>
                              <a:ea typeface="华文新魏" panose="02010800040101010101" pitchFamily="2" charset="-122"/>
                            </a:rPr>
                            <m:t>𝒅</m:t>
                          </m:r>
                          <m:acc>
                            <m:accPr>
                              <m:chr m:val="⃗"/>
                              <m:ctrlPr>
                                <a:rPr lang="en-US" altLang="zh-CN" sz="2600" b="1" i="1">
                                  <a:solidFill>
                                    <a:srgbClr val="FF0000"/>
                                  </a:solidFill>
                                  <a:latin typeface="Cambria Math" panose="02040503050406030204" pitchFamily="18" charset="0"/>
                                  <a:ea typeface="华文新魏" panose="02010800040101010101" pitchFamily="2" charset="-122"/>
                                </a:rPr>
                              </m:ctrlPr>
                            </m:accPr>
                            <m:e>
                              <m:r>
                                <a:rPr lang="en-US" altLang="zh-CN" sz="2600" b="1" i="1">
                                  <a:solidFill>
                                    <a:srgbClr val="FF0000"/>
                                  </a:solidFill>
                                  <a:latin typeface="Cambria Math" panose="02040503050406030204" pitchFamily="18" charset="0"/>
                                  <a:ea typeface="华文新魏" panose="02010800040101010101" pitchFamily="2" charset="-122"/>
                                </a:rPr>
                                <m:t>𝒍</m:t>
                              </m:r>
                            </m:e>
                          </m:acc>
                        </m:e>
                      </m:nary>
                    </m:oMath>
                  </m:oMathPara>
                </a14:m>
                <a:endParaRPr lang="en-US" sz="2600" dirty="0">
                  <a:solidFill>
                    <a:srgbClr val="FF0000"/>
                  </a:solidFill>
                  <a:latin typeface="华文楷体" panose="02010600040101010101" pitchFamily="2" charset="-122"/>
                  <a:ea typeface="华文楷体" panose="02010600040101010101" pitchFamily="2" charset="-122"/>
                </a:endParaRPr>
              </a:p>
            </p:txBody>
          </p:sp>
        </mc:Choice>
        <mc:Fallback xmlns="">
          <p:sp>
            <p:nvSpPr>
              <p:cNvPr id="40" name="矩形 39">
                <a:extLst>
                  <a:ext uri="{FF2B5EF4-FFF2-40B4-BE49-F238E27FC236}">
                    <a16:creationId xmlns:a16="http://schemas.microsoft.com/office/drawing/2014/main" id="{FCA67583-D186-4871-9565-292B0B4871A3}"/>
                  </a:ext>
                </a:extLst>
              </p:cNvPr>
              <p:cNvSpPr>
                <a:spLocks noRot="1" noChangeAspect="1" noMove="1" noResize="1" noEditPoints="1" noAdjustHandles="1" noChangeArrowheads="1" noChangeShapeType="1" noTextEdit="1"/>
              </p:cNvSpPr>
              <p:nvPr/>
            </p:nvSpPr>
            <p:spPr>
              <a:xfrm>
                <a:off x="5669923" y="1235918"/>
                <a:ext cx="2245808" cy="1006750"/>
              </a:xfrm>
              <a:prstGeom prst="rect">
                <a:avLst/>
              </a:prstGeom>
              <a:blipFill>
                <a:blip r:embed="rId5"/>
                <a:stretch>
                  <a:fillRect/>
                </a:stretch>
              </a:blipFill>
            </p:spPr>
            <p:txBody>
              <a:bodyPr/>
              <a:lstStyle/>
              <a:p>
                <a:r>
                  <a:rPr lang="zh-CN" altLang="en-US">
                    <a:noFill/>
                  </a:rPr>
                  <a:t> </a:t>
                </a:r>
              </a:p>
            </p:txBody>
          </p:sp>
        </mc:Fallback>
      </mc:AlternateContent>
      <p:sp>
        <p:nvSpPr>
          <p:cNvPr id="41" name="Text Box 11">
            <a:extLst>
              <a:ext uri="{FF2B5EF4-FFF2-40B4-BE49-F238E27FC236}">
                <a16:creationId xmlns:a16="http://schemas.microsoft.com/office/drawing/2014/main" id="{4D757B22-94AC-4B6E-97EB-9CFFCCCC385C}"/>
              </a:ext>
            </a:extLst>
          </p:cNvPr>
          <p:cNvSpPr txBox="1">
            <a:spLocks noChangeArrowheads="1"/>
          </p:cNvSpPr>
          <p:nvPr/>
        </p:nvSpPr>
        <p:spPr bwMode="auto">
          <a:xfrm>
            <a:off x="7455732" y="4880481"/>
            <a:ext cx="1734623" cy="523220"/>
          </a:xfrm>
          <a:prstGeom prst="rect">
            <a:avLst/>
          </a:prstGeom>
          <a:gradFill rotWithShape="0">
            <a:gsLst>
              <a:gs pos="0">
                <a:srgbClr val="EBEBEB"/>
              </a:gs>
              <a:gs pos="50000">
                <a:srgbClr val="FFFFFF"/>
              </a:gs>
              <a:gs pos="100000">
                <a:srgbClr val="EBEBEB"/>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华文楷体" panose="02010600040101010101" pitchFamily="2" charset="-122"/>
                <a:ea typeface="华文楷体" panose="02010600040101010101" pitchFamily="2" charset="-122"/>
              </a:rPr>
              <a:t>电 势 能</a:t>
            </a:r>
          </a:p>
        </p:txBody>
      </p:sp>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id="{14B32053-C88D-48B7-BBE6-2AF10FBFFEFA}"/>
                  </a:ext>
                </a:extLst>
              </p:cNvPr>
              <p:cNvSpPr/>
              <p:nvPr/>
            </p:nvSpPr>
            <p:spPr>
              <a:xfrm>
                <a:off x="7690048" y="3732622"/>
                <a:ext cx="2438488" cy="10761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600" b="1" i="1" smtClean="0">
                          <a:solidFill>
                            <a:srgbClr val="FF0000"/>
                          </a:solidFill>
                          <a:latin typeface="Cambria Math" panose="02040503050406030204" pitchFamily="18" charset="0"/>
                        </a:rPr>
                        <m:t>𝑾</m:t>
                      </m:r>
                      <m:r>
                        <a:rPr lang="en-US" altLang="zh-CN" sz="2600" b="1" i="1" smtClean="0">
                          <a:solidFill>
                            <a:srgbClr val="FF0000"/>
                          </a:solidFill>
                          <a:latin typeface="Cambria Math" panose="02040503050406030204" pitchFamily="18" charset="0"/>
                        </a:rPr>
                        <m:t>=</m:t>
                      </m:r>
                      <m:f>
                        <m:fPr>
                          <m:ctrlPr>
                            <a:rPr lang="en-US" altLang="zh-CN" sz="2600" b="1" i="1">
                              <a:solidFill>
                                <a:srgbClr val="FF0000"/>
                              </a:solidFill>
                              <a:latin typeface="Cambria Math" panose="02040503050406030204" pitchFamily="18" charset="0"/>
                            </a:rPr>
                          </m:ctrlPr>
                        </m:fPr>
                        <m:num>
                          <m:r>
                            <a:rPr lang="en-US" altLang="zh-CN" sz="2600" b="1" i="1">
                              <a:solidFill>
                                <a:srgbClr val="FF0000"/>
                              </a:solidFill>
                              <a:latin typeface="Cambria Math" panose="02040503050406030204" pitchFamily="18" charset="0"/>
                            </a:rPr>
                            <m:t>𝟏</m:t>
                          </m:r>
                        </m:num>
                        <m:den>
                          <m:r>
                            <a:rPr lang="en-US" altLang="zh-CN" sz="2600" b="1" i="1">
                              <a:solidFill>
                                <a:srgbClr val="FF0000"/>
                              </a:solidFill>
                              <a:latin typeface="Cambria Math" panose="02040503050406030204" pitchFamily="18" charset="0"/>
                            </a:rPr>
                            <m:t>𝟐</m:t>
                          </m:r>
                        </m:den>
                      </m:f>
                      <m:nary>
                        <m:naryPr>
                          <m:ctrlPr>
                            <a:rPr lang="en-US" altLang="zh-CN" sz="2600" b="1" i="1">
                              <a:solidFill>
                                <a:srgbClr val="FF0000"/>
                              </a:solidFill>
                              <a:latin typeface="Cambria Math" panose="02040503050406030204" pitchFamily="18" charset="0"/>
                            </a:rPr>
                          </m:ctrlPr>
                        </m:naryPr>
                        <m:sub>
                          <m:r>
                            <m:rPr>
                              <m:brk m:alnAt="23"/>
                            </m:rPr>
                            <a:rPr lang="en-US" altLang="zh-CN" sz="2600" b="1" i="1">
                              <a:solidFill>
                                <a:srgbClr val="FF0000"/>
                              </a:solidFill>
                              <a:latin typeface="Cambria Math" panose="02040503050406030204" pitchFamily="18" charset="0"/>
                            </a:rPr>
                            <m:t>𝒒</m:t>
                          </m:r>
                        </m:sub>
                        <m:sup/>
                        <m:e>
                          <m:r>
                            <a:rPr lang="zh-CN" altLang="en-US" sz="2600" b="1" i="1">
                              <a:solidFill>
                                <a:srgbClr val="FF0000"/>
                              </a:solidFill>
                              <a:latin typeface="Cambria Math" panose="02040503050406030204" pitchFamily="18" charset="0"/>
                            </a:rPr>
                            <m:t>𝝋</m:t>
                          </m:r>
                          <m:r>
                            <a:rPr lang="en-US" altLang="zh-CN" sz="2600" b="1" i="1">
                              <a:solidFill>
                                <a:srgbClr val="FF0000"/>
                              </a:solidFill>
                              <a:latin typeface="Cambria Math" panose="02040503050406030204" pitchFamily="18" charset="0"/>
                            </a:rPr>
                            <m:t>𝒅𝒒</m:t>
                          </m:r>
                        </m:e>
                      </m:nary>
                    </m:oMath>
                  </m:oMathPara>
                </a14:m>
                <a:endParaRPr lang="en-US" sz="2600" dirty="0">
                  <a:solidFill>
                    <a:srgbClr val="FF0000"/>
                  </a:solidFill>
                </a:endParaRPr>
              </a:p>
            </p:txBody>
          </p:sp>
        </mc:Choice>
        <mc:Fallback xmlns="">
          <p:sp>
            <p:nvSpPr>
              <p:cNvPr id="44" name="矩形 43">
                <a:extLst>
                  <a:ext uri="{FF2B5EF4-FFF2-40B4-BE49-F238E27FC236}">
                    <a16:creationId xmlns:a16="http://schemas.microsoft.com/office/drawing/2014/main" id="{14B32053-C88D-48B7-BBE6-2AF10FBFFEFA}"/>
                  </a:ext>
                </a:extLst>
              </p:cNvPr>
              <p:cNvSpPr>
                <a:spLocks noRot="1" noChangeAspect="1" noMove="1" noResize="1" noEditPoints="1" noAdjustHandles="1" noChangeArrowheads="1" noChangeShapeType="1" noTextEdit="1"/>
              </p:cNvSpPr>
              <p:nvPr/>
            </p:nvSpPr>
            <p:spPr>
              <a:xfrm>
                <a:off x="7690048" y="3732622"/>
                <a:ext cx="2438488" cy="107619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9ACC243B-469A-4B2B-AF40-924A4E080717}"/>
                  </a:ext>
                </a:extLst>
              </p:cNvPr>
              <p:cNvSpPr/>
              <p:nvPr/>
            </p:nvSpPr>
            <p:spPr>
              <a:xfrm>
                <a:off x="5736359" y="5221635"/>
                <a:ext cx="3128805" cy="1232453"/>
              </a:xfrm>
              <a:prstGeom prst="rect">
                <a:avLst/>
              </a:prstGeom>
            </p:spPr>
            <p:txBody>
              <a:bodyPr wrap="none">
                <a:spAutoFit/>
              </a:bodyPr>
              <a:lstStyle/>
              <a:p>
                <a:pPr algn="ctr">
                  <a:lnSpc>
                    <a:spcPct val="150000"/>
                  </a:lnSpc>
                </a:pPr>
                <a14:m>
                  <m:oMathPara xmlns:m="http://schemas.openxmlformats.org/officeDocument/2006/math">
                    <m:oMathParaPr>
                      <m:jc m:val="centerGroup"/>
                    </m:oMathParaPr>
                    <m:oMath xmlns:m="http://schemas.openxmlformats.org/officeDocument/2006/math">
                      <m:sSub>
                        <m:sSubPr>
                          <m:ctrlPr>
                            <a:rPr lang="en-US" altLang="zh-CN" sz="2600" b="1" i="1" smtClean="0">
                              <a:solidFill>
                                <a:srgbClr val="FF0000"/>
                              </a:solidFill>
                              <a:latin typeface="Cambria Math" panose="02040503050406030204" pitchFamily="18" charset="0"/>
                            </a:rPr>
                          </m:ctrlPr>
                        </m:sSubPr>
                        <m:e>
                          <m:r>
                            <a:rPr lang="zh-CN" altLang="en-US" sz="2600" b="1" i="1" smtClean="0">
                              <a:solidFill>
                                <a:srgbClr val="FF0000"/>
                              </a:solidFill>
                              <a:latin typeface="Cambria Math" panose="02040503050406030204" pitchFamily="18" charset="0"/>
                            </a:rPr>
                            <m:t>𝔀</m:t>
                          </m:r>
                        </m:e>
                        <m:sub>
                          <m:r>
                            <a:rPr lang="en-US" altLang="zh-CN" sz="2600" b="1" i="1" smtClean="0">
                              <a:solidFill>
                                <a:srgbClr val="FF0000"/>
                              </a:solidFill>
                              <a:latin typeface="Cambria Math" panose="02040503050406030204" pitchFamily="18" charset="0"/>
                            </a:rPr>
                            <m:t>𝒆</m:t>
                          </m:r>
                        </m:sub>
                      </m:sSub>
                      <m:r>
                        <a:rPr lang="en-US" altLang="zh-CN" sz="2600" b="1" i="1" smtClean="0">
                          <a:solidFill>
                            <a:srgbClr val="FF0000"/>
                          </a:solidFill>
                          <a:latin typeface="Cambria Math" panose="02040503050406030204" pitchFamily="18" charset="0"/>
                        </a:rPr>
                        <m:t>=</m:t>
                      </m:r>
                      <m:f>
                        <m:fPr>
                          <m:ctrlPr>
                            <a:rPr lang="en-US" altLang="zh-CN" sz="2600" b="1" i="1" smtClean="0">
                              <a:solidFill>
                                <a:srgbClr val="FF0000"/>
                              </a:solidFill>
                              <a:latin typeface="Cambria Math" panose="02040503050406030204" pitchFamily="18" charset="0"/>
                            </a:rPr>
                          </m:ctrlPr>
                        </m:fPr>
                        <m:num>
                          <m:r>
                            <a:rPr lang="en-US" altLang="zh-CN" sz="2600" b="1" i="1" smtClean="0">
                              <a:solidFill>
                                <a:srgbClr val="FF0000"/>
                              </a:solidFill>
                              <a:latin typeface="Cambria Math" panose="02040503050406030204" pitchFamily="18" charset="0"/>
                            </a:rPr>
                            <m:t>𝒅𝑾</m:t>
                          </m:r>
                        </m:num>
                        <m:den>
                          <m:r>
                            <a:rPr lang="en-US" altLang="zh-CN" sz="2600" b="1" i="1" smtClean="0">
                              <a:solidFill>
                                <a:srgbClr val="FF0000"/>
                              </a:solidFill>
                              <a:latin typeface="Cambria Math" panose="02040503050406030204" pitchFamily="18" charset="0"/>
                            </a:rPr>
                            <m:t>𝒅𝑽</m:t>
                          </m:r>
                        </m:den>
                      </m:f>
                      <m:r>
                        <a:rPr lang="en-US" altLang="zh-CN" sz="2600" b="1" i="1" smtClean="0">
                          <a:solidFill>
                            <a:srgbClr val="FF0000"/>
                          </a:solidFill>
                          <a:latin typeface="Cambria Math" panose="02040503050406030204" pitchFamily="18" charset="0"/>
                        </a:rPr>
                        <m:t>=</m:t>
                      </m:r>
                      <m:f>
                        <m:fPr>
                          <m:ctrlPr>
                            <a:rPr lang="en-US" altLang="zh-CN" sz="2600" b="1" i="1">
                              <a:solidFill>
                                <a:srgbClr val="FF0000"/>
                              </a:solidFill>
                              <a:latin typeface="Cambria Math" panose="02040503050406030204" pitchFamily="18" charset="0"/>
                            </a:rPr>
                          </m:ctrlPr>
                        </m:fPr>
                        <m:num>
                          <m:r>
                            <a:rPr lang="en-US" altLang="zh-CN" sz="2600" b="1" i="1" smtClean="0">
                              <a:solidFill>
                                <a:srgbClr val="FF0000"/>
                              </a:solidFill>
                              <a:latin typeface="Cambria Math" panose="02040503050406030204" pitchFamily="18" charset="0"/>
                            </a:rPr>
                            <m:t>𝟏</m:t>
                          </m:r>
                        </m:num>
                        <m:den>
                          <m:r>
                            <a:rPr lang="en-US" altLang="zh-CN" sz="2600" b="1" i="1" smtClean="0">
                              <a:solidFill>
                                <a:srgbClr val="FF0000"/>
                              </a:solidFill>
                              <a:latin typeface="Cambria Math" panose="02040503050406030204" pitchFamily="18" charset="0"/>
                            </a:rPr>
                            <m:t>𝟐</m:t>
                          </m:r>
                        </m:den>
                      </m:f>
                      <m:sSub>
                        <m:sSubPr>
                          <m:ctrlPr>
                            <a:rPr lang="en-US" altLang="zh-CN" sz="2600" b="1" i="1">
                              <a:solidFill>
                                <a:srgbClr val="FF0000"/>
                              </a:solidFill>
                              <a:latin typeface="Cambria Math" panose="02040503050406030204" pitchFamily="18" charset="0"/>
                            </a:rPr>
                          </m:ctrlPr>
                        </m:sSubPr>
                        <m:e>
                          <m:r>
                            <a:rPr lang="zh-CN" altLang="en-US" sz="2600" b="1" i="1" smtClean="0">
                              <a:solidFill>
                                <a:srgbClr val="FF0000"/>
                              </a:solidFill>
                              <a:latin typeface="Cambria Math" panose="02040503050406030204" pitchFamily="18" charset="0"/>
                            </a:rPr>
                            <m:t>𝜺</m:t>
                          </m:r>
                        </m:e>
                        <m:sub>
                          <m:r>
                            <a:rPr lang="en-US" altLang="zh-CN" sz="2600" b="1" i="1" smtClean="0">
                              <a:solidFill>
                                <a:srgbClr val="FF0000"/>
                              </a:solidFill>
                              <a:latin typeface="Cambria Math" panose="02040503050406030204" pitchFamily="18" charset="0"/>
                            </a:rPr>
                            <m:t>𝟎</m:t>
                          </m:r>
                        </m:sub>
                      </m:sSub>
                      <m:sSup>
                        <m:sSupPr>
                          <m:ctrlPr>
                            <a:rPr lang="en-US" altLang="zh-CN" sz="2600" b="1" i="1">
                              <a:solidFill>
                                <a:srgbClr val="FF0000"/>
                              </a:solidFill>
                              <a:latin typeface="Cambria Math" panose="02040503050406030204" pitchFamily="18" charset="0"/>
                            </a:rPr>
                          </m:ctrlPr>
                        </m:sSupPr>
                        <m:e>
                          <m:r>
                            <a:rPr lang="en-US" altLang="zh-CN" sz="2600" b="1" i="1" smtClean="0">
                              <a:solidFill>
                                <a:srgbClr val="FF0000"/>
                              </a:solidFill>
                              <a:latin typeface="Cambria Math" panose="02040503050406030204" pitchFamily="18" charset="0"/>
                            </a:rPr>
                            <m:t>𝑬</m:t>
                          </m:r>
                        </m:e>
                        <m:sup>
                          <m:r>
                            <a:rPr lang="en-US" altLang="zh-CN" sz="2600" b="1" i="1" smtClean="0">
                              <a:solidFill>
                                <a:srgbClr val="FF0000"/>
                              </a:solidFill>
                              <a:latin typeface="Cambria Math" panose="02040503050406030204" pitchFamily="18" charset="0"/>
                            </a:rPr>
                            <m:t>𝟐</m:t>
                          </m:r>
                        </m:sup>
                      </m:sSup>
                    </m:oMath>
                  </m:oMathPara>
                </a14:m>
                <a:endParaRPr lang="en-US" altLang="zh-CN" sz="2600" b="1" dirty="0">
                  <a:solidFill>
                    <a:srgbClr val="FF0000"/>
                  </a:solidFill>
                </a:endParaRPr>
              </a:p>
            </p:txBody>
          </p:sp>
        </mc:Choice>
        <mc:Fallback xmlns="">
          <p:sp>
            <p:nvSpPr>
              <p:cNvPr id="45" name="矩形 44">
                <a:extLst>
                  <a:ext uri="{FF2B5EF4-FFF2-40B4-BE49-F238E27FC236}">
                    <a16:creationId xmlns:a16="http://schemas.microsoft.com/office/drawing/2014/main" id="{9ACC243B-469A-4B2B-AF40-924A4E080717}"/>
                  </a:ext>
                </a:extLst>
              </p:cNvPr>
              <p:cNvSpPr>
                <a:spLocks noRot="1" noChangeAspect="1" noMove="1" noResize="1" noEditPoints="1" noAdjustHandles="1" noChangeArrowheads="1" noChangeShapeType="1" noTextEdit="1"/>
              </p:cNvSpPr>
              <p:nvPr/>
            </p:nvSpPr>
            <p:spPr>
              <a:xfrm>
                <a:off x="5736359" y="5221635"/>
                <a:ext cx="3128805" cy="1232453"/>
              </a:xfrm>
              <a:prstGeom prst="rect">
                <a:avLst/>
              </a:prstGeom>
              <a:blipFill>
                <a:blip r:embed="rId7"/>
                <a:stretch>
                  <a:fillRect/>
                </a:stretch>
              </a:blipFill>
            </p:spPr>
            <p:txBody>
              <a:bodyPr/>
              <a:lstStyle/>
              <a:p>
                <a:r>
                  <a:rPr lang="zh-CN" altLang="en-US">
                    <a:noFill/>
                  </a:rPr>
                  <a:t> </a:t>
                </a:r>
              </a:p>
            </p:txBody>
          </p:sp>
        </mc:Fallback>
      </mc:AlternateContent>
      <p:sp>
        <p:nvSpPr>
          <p:cNvPr id="46" name="箭头: 上下 45">
            <a:extLst>
              <a:ext uri="{FF2B5EF4-FFF2-40B4-BE49-F238E27FC236}">
                <a16:creationId xmlns:a16="http://schemas.microsoft.com/office/drawing/2014/main" id="{6305D18A-AED2-442F-B768-9C5C2D11CE27}"/>
              </a:ext>
            </a:extLst>
          </p:cNvPr>
          <p:cNvSpPr/>
          <p:nvPr/>
        </p:nvSpPr>
        <p:spPr>
          <a:xfrm rot="18219601">
            <a:off x="6506391" y="3764887"/>
            <a:ext cx="274712" cy="1716942"/>
          </a:xfrm>
          <a:prstGeom prst="upDownArrow">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2" name="Object 23">
                <a:extLst>
                  <a:ext uri="{FF2B5EF4-FFF2-40B4-BE49-F238E27FC236}">
                    <a16:creationId xmlns:a16="http://schemas.microsoft.com/office/drawing/2014/main" id="{0F61F156-29B3-4C5E-A8A5-65E2C0961FE6}"/>
                  </a:ext>
                </a:extLst>
              </p:cNvPr>
              <p:cNvSpPr txBox="1"/>
              <p:nvPr/>
            </p:nvSpPr>
            <p:spPr bwMode="auto">
              <a:xfrm>
                <a:off x="8062873" y="676734"/>
                <a:ext cx="1979613" cy="1042988"/>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nary>
                        <m:naryPr>
                          <m:chr m:val="∮"/>
                          <m:limLoc m:val="undOvr"/>
                          <m:supHide m:val="on"/>
                          <m:ctrlPr>
                            <a:rPr lang="en-US" sz="2800" b="1" i="1" smtClean="0">
                              <a:solidFill>
                                <a:srgbClr val="FF0000"/>
                              </a:solidFill>
                              <a:latin typeface="Cambria Math" panose="02040503050406030204" pitchFamily="18" charset="0"/>
                            </a:rPr>
                          </m:ctrlPr>
                        </m:naryPr>
                        <m:sub>
                          <m:r>
                            <a:rPr lang="en-US" sz="2800" b="1" i="1">
                              <a:solidFill>
                                <a:srgbClr val="FF0000"/>
                              </a:solidFill>
                              <a:latin typeface="Cambria Math" panose="02040503050406030204" pitchFamily="18" charset="0"/>
                            </a:rPr>
                            <m:t>𝑳</m:t>
                          </m:r>
                        </m:sub>
                        <m:sup/>
                        <m:e>
                          <m:acc>
                            <m:accPr>
                              <m:chr m:val="⃗"/>
                              <m:ctrlPr>
                                <a:rPr lang="en-US" sz="2800" b="1" i="1">
                                  <a:solidFill>
                                    <a:srgbClr val="FF0000"/>
                                  </a:solidFill>
                                  <a:latin typeface="Cambria Math" panose="02040503050406030204" pitchFamily="18" charset="0"/>
                                </a:rPr>
                              </m:ctrlPr>
                            </m:accPr>
                            <m:e>
                              <m:r>
                                <a:rPr lang="en-US" sz="2800" b="1" i="1">
                                  <a:solidFill>
                                    <a:srgbClr val="FF0000"/>
                                  </a:solidFill>
                                  <a:latin typeface="Cambria Math" panose="02040503050406030204" pitchFamily="18" charset="0"/>
                                </a:rPr>
                                <m:t>𝑬</m:t>
                              </m:r>
                            </m:e>
                          </m:acc>
                          <m:r>
                            <a:rPr lang="en-US" sz="2800" b="1" i="1">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𝒅</m:t>
                          </m:r>
                          <m:acc>
                            <m:accPr>
                              <m:chr m:val="⃗"/>
                              <m:ctrlPr>
                                <a:rPr lang="en-US" sz="2800" b="1" i="1">
                                  <a:solidFill>
                                    <a:srgbClr val="FF0000"/>
                                  </a:solidFill>
                                  <a:latin typeface="Cambria Math" panose="02040503050406030204" pitchFamily="18" charset="0"/>
                                </a:rPr>
                              </m:ctrlPr>
                            </m:accPr>
                            <m:e>
                              <m:r>
                                <a:rPr lang="en-US" sz="2800" b="1" i="1">
                                  <a:solidFill>
                                    <a:srgbClr val="FF0000"/>
                                  </a:solidFill>
                                  <a:latin typeface="Cambria Math" panose="02040503050406030204" pitchFamily="18" charset="0"/>
                                </a:rPr>
                                <m:t>𝒍</m:t>
                              </m:r>
                            </m:e>
                          </m:acc>
                          <m:r>
                            <a:rPr lang="en-US" sz="2800" b="1" i="1">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𝟎</m:t>
                          </m:r>
                        </m:e>
                      </m:nary>
                    </m:oMath>
                  </m:oMathPara>
                </a14:m>
                <a:endParaRPr lang="en-US" sz="2800" b="1" dirty="0">
                  <a:solidFill>
                    <a:srgbClr val="FF0000"/>
                  </a:solidFill>
                </a:endParaRPr>
              </a:p>
            </p:txBody>
          </p:sp>
        </mc:Choice>
        <mc:Fallback xmlns="">
          <p:sp>
            <p:nvSpPr>
              <p:cNvPr id="42" name="Object 23">
                <a:extLst>
                  <a:ext uri="{FF2B5EF4-FFF2-40B4-BE49-F238E27FC236}">
                    <a16:creationId xmlns:a16="http://schemas.microsoft.com/office/drawing/2014/main" id="{0F61F156-29B3-4C5E-A8A5-65E2C0961FE6}"/>
                  </a:ext>
                </a:extLst>
              </p:cNvPr>
              <p:cNvSpPr txBox="1">
                <a:spLocks noRot="1" noChangeAspect="1" noMove="1" noResize="1" noEditPoints="1" noAdjustHandles="1" noChangeArrowheads="1" noChangeShapeType="1" noTextEdit="1"/>
              </p:cNvSpPr>
              <p:nvPr/>
            </p:nvSpPr>
            <p:spPr bwMode="auto">
              <a:xfrm>
                <a:off x="8062873" y="676734"/>
                <a:ext cx="1979613" cy="1042988"/>
              </a:xfrm>
              <a:prstGeom prst="rect">
                <a:avLst/>
              </a:prstGeom>
              <a:blipFill>
                <a:blip r:embed="rId8"/>
                <a:stretch>
                  <a:fillRect b="-11696"/>
                </a:stretch>
              </a:blipFill>
              <a:ln>
                <a:noFill/>
              </a:ln>
              <a:effectLst/>
            </p:spPr>
            <p:txBody>
              <a:bodyPr/>
              <a:lstStyle/>
              <a:p>
                <a:r>
                  <a:rPr lang="zh-CN" altLang="en-US">
                    <a:noFill/>
                  </a:rPr>
                  <a:t> </a:t>
                </a:r>
              </a:p>
            </p:txBody>
          </p:sp>
        </mc:Fallback>
      </mc:AlternateContent>
      <p:sp>
        <p:nvSpPr>
          <p:cNvPr id="20" name="内容占位符 8">
            <a:extLst>
              <a:ext uri="{FF2B5EF4-FFF2-40B4-BE49-F238E27FC236}">
                <a16:creationId xmlns:a16="http://schemas.microsoft.com/office/drawing/2014/main" id="{E8AEEF0D-056B-4A28-8AF6-276EE5CAF7B2}"/>
              </a:ext>
            </a:extLst>
          </p:cNvPr>
          <p:cNvSpPr txBox="1">
            <a:spLocks/>
          </p:cNvSpPr>
          <p:nvPr/>
        </p:nvSpPr>
        <p:spPr>
          <a:xfrm>
            <a:off x="1295082" y="5701689"/>
            <a:ext cx="3703320" cy="22441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Font typeface="Arial" panose="020B0604020202020204" pitchFamily="34" charset="0"/>
              <a:buNone/>
            </a:pPr>
            <a:r>
              <a:rPr lang="en-US" altLang="zh-CN" b="1" dirty="0">
                <a:latin typeface="华文楷体" panose="02010600040101010101" pitchFamily="2" charset="-122"/>
                <a:ea typeface="华文楷体" panose="02010600040101010101" pitchFamily="2" charset="-122"/>
              </a:rPr>
              <a:t>- </a:t>
            </a:r>
            <a:r>
              <a:rPr lang="zh-CN" altLang="en-US" b="1" dirty="0">
                <a:latin typeface="华文楷体" panose="02010600040101010101" pitchFamily="2" charset="-122"/>
                <a:ea typeface="华文楷体" panose="02010600040101010101" pitchFamily="2" charset="-122"/>
              </a:rPr>
              <a:t>静电场是有源场</a:t>
            </a:r>
          </a:p>
        </p:txBody>
      </p:sp>
      <p:sp>
        <p:nvSpPr>
          <p:cNvPr id="21" name="内容占位符 10">
            <a:extLst>
              <a:ext uri="{FF2B5EF4-FFF2-40B4-BE49-F238E27FC236}">
                <a16:creationId xmlns:a16="http://schemas.microsoft.com/office/drawing/2014/main" id="{73291228-056C-45CD-872A-1762AF96FAA5}"/>
              </a:ext>
            </a:extLst>
          </p:cNvPr>
          <p:cNvSpPr txBox="1">
            <a:spLocks/>
          </p:cNvSpPr>
          <p:nvPr/>
        </p:nvSpPr>
        <p:spPr>
          <a:xfrm>
            <a:off x="8368436" y="1676968"/>
            <a:ext cx="4461565" cy="302952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Font typeface="Arial" panose="020B0604020202020204" pitchFamily="34" charset="0"/>
              <a:buNone/>
            </a:pPr>
            <a:r>
              <a:rPr lang="en-US" altLang="zh-CN" b="1" dirty="0">
                <a:latin typeface="华文楷体" panose="02010600040101010101" pitchFamily="2" charset="-122"/>
                <a:ea typeface="华文楷体" panose="02010600040101010101" pitchFamily="2" charset="-122"/>
              </a:rPr>
              <a:t>- </a:t>
            </a:r>
            <a:r>
              <a:rPr lang="zh-CN" altLang="en-US" b="1" dirty="0">
                <a:latin typeface="华文楷体" panose="02010600040101010101" pitchFamily="2" charset="-122"/>
                <a:ea typeface="华文楷体" panose="02010600040101010101" pitchFamily="2" charset="-122"/>
              </a:rPr>
              <a:t>静电场是保守力场</a:t>
            </a:r>
          </a:p>
        </p:txBody>
      </p:sp>
    </p:spTree>
    <p:extLst>
      <p:ext uri="{BB962C8B-B14F-4D97-AF65-F5344CB8AC3E}">
        <p14:creationId xmlns:p14="http://schemas.microsoft.com/office/powerpoint/2010/main" val="257365116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11" grpId="0"/>
      <p:bldP spid="12" grpId="0"/>
      <p:bldP spid="14" grpId="0" animBg="1"/>
      <p:bldP spid="15" grpId="0" animBg="1"/>
      <p:bldP spid="36" grpId="0" animBg="1"/>
      <p:bldP spid="38" grpId="0" animBg="1"/>
      <p:bldP spid="39" grpId="0"/>
      <p:bldP spid="40" grpId="0"/>
      <p:bldP spid="44" grpId="0"/>
      <p:bldP spid="45" grpId="0"/>
      <p:bldP spid="46" grpId="0" animBg="1"/>
      <p:bldP spid="42" grpId="0"/>
      <p:bldP spid="20" grpId="0"/>
      <p:bldP spid="2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94D4BE1-7D10-0E48-A1BE-D89C092EF3E0}"/>
              </a:ext>
            </a:extLst>
          </p:cNvPr>
          <p:cNvSpPr txBox="1"/>
          <p:nvPr/>
        </p:nvSpPr>
        <p:spPr>
          <a:xfrm>
            <a:off x="3373120" y="568960"/>
            <a:ext cx="5262979" cy="646331"/>
          </a:xfrm>
          <a:prstGeom prst="rect">
            <a:avLst/>
          </a:prstGeom>
          <a:noFill/>
        </p:spPr>
        <p:txBody>
          <a:bodyPr wrap="none" rtlCol="0">
            <a:spAutoFit/>
          </a:bodyPr>
          <a:lstStyle/>
          <a:p>
            <a:r>
              <a:rPr lang="zh-CN" altLang="en-US" sz="3600" b="1" dirty="0">
                <a:solidFill>
                  <a:srgbClr val="0066FF"/>
                </a:solidFill>
                <a:latin typeface="华文楷体" panose="02010600040101010101" pitchFamily="2" charset="-122"/>
                <a:ea typeface="华文楷体" panose="02010600040101010101" pitchFamily="2" charset="-122"/>
              </a:rPr>
              <a:t>有物质存在时的静电场？</a:t>
            </a:r>
          </a:p>
        </p:txBody>
      </p:sp>
      <p:sp>
        <p:nvSpPr>
          <p:cNvPr id="6" name="文本框 5">
            <a:extLst>
              <a:ext uri="{FF2B5EF4-FFF2-40B4-BE49-F238E27FC236}">
                <a16:creationId xmlns:a16="http://schemas.microsoft.com/office/drawing/2014/main" id="{44EFE0EF-78D4-3BD4-741B-2020C7973972}"/>
              </a:ext>
            </a:extLst>
          </p:cNvPr>
          <p:cNvSpPr txBox="1"/>
          <p:nvPr/>
        </p:nvSpPr>
        <p:spPr>
          <a:xfrm>
            <a:off x="3309184" y="1544287"/>
            <a:ext cx="5724644" cy="646331"/>
          </a:xfrm>
          <a:prstGeom prst="rect">
            <a:avLst/>
          </a:prstGeom>
          <a:noFill/>
        </p:spPr>
        <p:txBody>
          <a:bodyPr wrap="none" rtlCol="0">
            <a:spAutoFit/>
          </a:bodyPr>
          <a:lstStyle/>
          <a:p>
            <a:r>
              <a:rPr lang="zh-CN" altLang="en-US" sz="3600" b="1" dirty="0">
                <a:solidFill>
                  <a:srgbClr val="0066FF"/>
                </a:solidFill>
                <a:latin typeface="华文楷体" panose="02010600040101010101" pitchFamily="2" charset="-122"/>
                <a:ea typeface="华文楷体" panose="02010600040101010101" pitchFamily="2" charset="-122"/>
              </a:rPr>
              <a:t>静电场与物质的相互作用？</a:t>
            </a:r>
          </a:p>
        </p:txBody>
      </p:sp>
      <p:sp>
        <p:nvSpPr>
          <p:cNvPr id="10" name="文本框 9">
            <a:extLst>
              <a:ext uri="{FF2B5EF4-FFF2-40B4-BE49-F238E27FC236}">
                <a16:creationId xmlns:a16="http://schemas.microsoft.com/office/drawing/2014/main" id="{5CEC0DC7-616C-1BC9-A9CC-B03F6E8F712E}"/>
              </a:ext>
            </a:extLst>
          </p:cNvPr>
          <p:cNvSpPr txBox="1"/>
          <p:nvPr/>
        </p:nvSpPr>
        <p:spPr>
          <a:xfrm>
            <a:off x="4546649" y="2620669"/>
            <a:ext cx="7447280" cy="4093428"/>
          </a:xfrm>
          <a:prstGeom prst="rect">
            <a:avLst/>
          </a:prstGeom>
          <a:noFill/>
        </p:spPr>
        <p:txBody>
          <a:bodyPr wrap="square">
            <a:spAutoFit/>
          </a:bodyPr>
          <a:lstStyle/>
          <a:p>
            <a:r>
              <a:rPr lang="zh-CN" altLang="en-US" sz="3200" dirty="0">
                <a:latin typeface="华文楷体" panose="02010600040101010101" pitchFamily="2" charset="-122"/>
                <a:ea typeface="华文楷体" panose="02010600040101010101" pitchFamily="2" charset="-122"/>
              </a:rPr>
              <a:t>猜测：    </a:t>
            </a:r>
            <a:endParaRPr lang="en-US" altLang="zh-CN" sz="3200" dirty="0">
              <a:latin typeface="华文楷体" panose="02010600040101010101" pitchFamily="2" charset="-122"/>
              <a:ea typeface="华文楷体" panose="02010600040101010101" pitchFamily="2" charset="-122"/>
            </a:endParaRPr>
          </a:p>
          <a:p>
            <a:endParaRPr lang="en-US" altLang="zh-CN" sz="3200" dirty="0">
              <a:latin typeface="华文楷体" panose="02010600040101010101" pitchFamily="2" charset="-122"/>
              <a:ea typeface="华文楷体" panose="02010600040101010101" pitchFamily="2" charset="-122"/>
            </a:endParaRPr>
          </a:p>
          <a:p>
            <a:pPr marL="457200" indent="-457200">
              <a:lnSpc>
                <a:spcPct val="150000"/>
              </a:lnSpc>
              <a:buFontTx/>
              <a:buChar char="-"/>
            </a:pPr>
            <a:r>
              <a:rPr lang="zh-CN" altLang="en-US" sz="3200" dirty="0">
                <a:latin typeface="华文楷体" panose="02010600040101010101" pitchFamily="2" charset="-122"/>
                <a:ea typeface="华文楷体" panose="02010600040101010101" pitchFamily="2" charset="-122"/>
              </a:rPr>
              <a:t>物质中的电荷在电场作用下重新分布</a:t>
            </a:r>
            <a:endParaRPr lang="en-US" altLang="zh-CN" sz="3200" dirty="0">
              <a:latin typeface="华文楷体" panose="02010600040101010101" pitchFamily="2" charset="-122"/>
              <a:ea typeface="华文楷体" panose="02010600040101010101" pitchFamily="2" charset="-122"/>
            </a:endParaRPr>
          </a:p>
          <a:p>
            <a:pPr marL="457200" indent="-457200">
              <a:lnSpc>
                <a:spcPct val="150000"/>
              </a:lnSpc>
              <a:buFontTx/>
              <a:buChar char="-"/>
            </a:pPr>
            <a:r>
              <a:rPr lang="zh-CN" altLang="en-US" sz="3200" dirty="0">
                <a:latin typeface="华文楷体" panose="02010600040101010101" pitchFamily="2" charset="-122"/>
                <a:ea typeface="华文楷体" panose="02010600040101010101" pitchFamily="2" charset="-122"/>
              </a:rPr>
              <a:t>物质电荷分布改变反过来影响外电场</a:t>
            </a:r>
            <a:endParaRPr lang="en-US" altLang="zh-CN" sz="3200" dirty="0">
              <a:latin typeface="华文楷体" panose="02010600040101010101" pitchFamily="2" charset="-122"/>
              <a:ea typeface="华文楷体" panose="02010600040101010101" pitchFamily="2" charset="-122"/>
            </a:endParaRPr>
          </a:p>
          <a:p>
            <a:pPr>
              <a:lnSpc>
                <a:spcPct val="150000"/>
              </a:lnSpc>
            </a:pPr>
            <a:r>
              <a:rPr lang="en-US" altLang="zh-CN" sz="3200" dirty="0">
                <a:latin typeface="华文楷体" panose="02010600040101010101" pitchFamily="2" charset="-122"/>
                <a:ea typeface="华文楷体" panose="02010600040101010101" pitchFamily="2" charset="-122"/>
              </a:rPr>
              <a:t>-    </a:t>
            </a:r>
            <a:r>
              <a:rPr lang="zh-CN" altLang="en-US" sz="3200" dirty="0">
                <a:latin typeface="华文楷体" panose="02010600040101010101" pitchFamily="2" charset="-122"/>
                <a:ea typeface="华文楷体" panose="02010600040101010101" pitchFamily="2" charset="-122"/>
              </a:rPr>
              <a:t>达到某种新的平衡</a:t>
            </a:r>
            <a:endParaRPr lang="en-US" altLang="zh-CN" sz="3200" dirty="0">
              <a:latin typeface="华文楷体" panose="02010600040101010101" pitchFamily="2" charset="-122"/>
              <a:ea typeface="华文楷体" panose="02010600040101010101" pitchFamily="2" charset="-122"/>
            </a:endParaRPr>
          </a:p>
          <a:p>
            <a:r>
              <a:rPr lang="en-US" altLang="zh-CN" sz="2600" dirty="0">
                <a:latin typeface="华文楷体" panose="02010600040101010101" pitchFamily="2" charset="-122"/>
                <a:ea typeface="华文楷体" panose="02010600040101010101" pitchFamily="2" charset="-122"/>
              </a:rPr>
              <a:t>                </a:t>
            </a:r>
            <a:endParaRPr lang="zh-CN" altLang="en-US" sz="2600" dirty="0">
              <a:latin typeface="华文楷体" panose="02010600040101010101" pitchFamily="2" charset="-122"/>
              <a:ea typeface="华文楷体" panose="02010600040101010101" pitchFamily="2" charset="-122"/>
            </a:endParaRPr>
          </a:p>
          <a:p>
            <a:endParaRPr lang="zh-CN" altLang="en-US" sz="2600" dirty="0">
              <a:latin typeface="华文楷体" panose="02010600040101010101" pitchFamily="2" charset="-122"/>
              <a:ea typeface="华文楷体" panose="02010600040101010101" pitchFamily="2" charset="-122"/>
            </a:endParaRPr>
          </a:p>
        </p:txBody>
      </p:sp>
      <p:pic>
        <p:nvPicPr>
          <p:cNvPr id="36868" name="Picture 4">
            <a:extLst>
              <a:ext uri="{FF2B5EF4-FFF2-40B4-BE49-F238E27FC236}">
                <a16:creationId xmlns:a16="http://schemas.microsoft.com/office/drawing/2014/main" id="{EBA8C92A-F5D5-68FC-5D0F-9F0D17593F4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978" t="34360" r="20916" b="14250"/>
          <a:stretch/>
        </p:blipFill>
        <p:spPr bwMode="auto">
          <a:xfrm>
            <a:off x="198071" y="2519614"/>
            <a:ext cx="4008120" cy="2687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0861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C59E6DF-6026-4BF2-A0A7-080D555FDA56}"/>
              </a:ext>
            </a:extLst>
          </p:cNvPr>
          <p:cNvSpPr/>
          <p:nvPr/>
        </p:nvSpPr>
        <p:spPr>
          <a:xfrm>
            <a:off x="789827" y="417535"/>
            <a:ext cx="4000613" cy="584775"/>
          </a:xfrm>
          <a:prstGeom prst="rect">
            <a:avLst/>
          </a:prstGeom>
        </p:spPr>
        <p:txBody>
          <a:bodyPr wrap="square">
            <a:spAutoFit/>
          </a:bodyPr>
          <a:lstStyle/>
          <a:p>
            <a:pPr marL="457200" lvl="0" indent="-457200">
              <a:buFont typeface="Wingdings" panose="05000000000000000000" pitchFamily="2" charset="2"/>
              <a:buChar char="q"/>
            </a:pPr>
            <a:r>
              <a:rPr lang="zh-CN" altLang="en-US" sz="32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物质的导电性</a:t>
            </a:r>
          </a:p>
        </p:txBody>
      </p:sp>
      <p:sp>
        <p:nvSpPr>
          <p:cNvPr id="5" name="矩形 4">
            <a:extLst>
              <a:ext uri="{FF2B5EF4-FFF2-40B4-BE49-F238E27FC236}">
                <a16:creationId xmlns:a16="http://schemas.microsoft.com/office/drawing/2014/main" id="{198E3C51-32BF-436F-9B5F-3E99DCB8B0E7}"/>
              </a:ext>
            </a:extLst>
          </p:cNvPr>
          <p:cNvSpPr/>
          <p:nvPr/>
        </p:nvSpPr>
        <p:spPr>
          <a:xfrm>
            <a:off x="789826" y="1237868"/>
            <a:ext cx="9523015" cy="1569660"/>
          </a:xfrm>
          <a:prstGeom prst="rect">
            <a:avLst/>
          </a:prstGeom>
        </p:spPr>
        <p:txBody>
          <a:bodyPr wrap="square">
            <a:spAutoFit/>
          </a:bodyPr>
          <a:lstStyle/>
          <a:p>
            <a:pPr lvl="0"/>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导体</a:t>
            </a:r>
            <a:endParaRPr 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导电能力极强的物体 </a:t>
            </a:r>
            <a:r>
              <a:rPr lang="en-US" altLang="zh-CN" sz="32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电阻率 </a:t>
            </a:r>
            <a:r>
              <a:rPr lang="en-US" sz="32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10</a:t>
            </a:r>
            <a:r>
              <a:rPr lang="en-US" sz="3200" b="1" baseline="300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-8</a:t>
            </a:r>
            <a:r>
              <a:rPr lang="en-US" sz="3200" b="1"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 </a:t>
            </a:r>
            <a:r>
              <a:rPr lang="en-US" sz="32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-10</a:t>
            </a:r>
            <a:r>
              <a:rPr lang="en-US" sz="3200" b="1" baseline="300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-6 </a:t>
            </a:r>
            <a:r>
              <a:rPr lang="el-GR" sz="32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Ω.</a:t>
            </a:r>
            <a:r>
              <a:rPr lang="en-US" sz="32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m)</a:t>
            </a:r>
          </a:p>
          <a:p>
            <a:pPr lvl="0"/>
            <a:r>
              <a:rPr lang="en-US" altLang="zh-CN" sz="3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常见的导体有金属、电解质水溶液、电离气体等</a:t>
            </a:r>
          </a:p>
        </p:txBody>
      </p:sp>
      <p:sp>
        <p:nvSpPr>
          <p:cNvPr id="6" name="矩形 5">
            <a:extLst>
              <a:ext uri="{FF2B5EF4-FFF2-40B4-BE49-F238E27FC236}">
                <a16:creationId xmlns:a16="http://schemas.microsoft.com/office/drawing/2014/main" id="{2E265A8A-B76A-49AD-81B4-7C888C921902}"/>
              </a:ext>
            </a:extLst>
          </p:cNvPr>
          <p:cNvSpPr/>
          <p:nvPr/>
        </p:nvSpPr>
        <p:spPr>
          <a:xfrm>
            <a:off x="1589772" y="3284604"/>
            <a:ext cx="2624420" cy="2062103"/>
          </a:xfrm>
          <a:prstGeom prst="rect">
            <a:avLst/>
          </a:prstGeom>
        </p:spPr>
        <p:txBody>
          <a:bodyPr wrap="square">
            <a:spAutoFit/>
          </a:bodyPr>
          <a:lstStyle/>
          <a:p>
            <a:r>
              <a:rPr lang="zh-CN" altLang="en-US" sz="3200" dirty="0">
                <a:latin typeface="华文楷体" panose="02010600040101010101" pitchFamily="2" charset="-122"/>
                <a:ea typeface="华文楷体" panose="02010600040101010101" pitchFamily="2" charset="-122"/>
              </a:rPr>
              <a:t>银 </a:t>
            </a:r>
            <a:r>
              <a:rPr lang="en-US" altLang="zh-CN" sz="3200" dirty="0">
                <a:latin typeface="华文楷体" panose="02010600040101010101" pitchFamily="2" charset="-122"/>
                <a:ea typeface="华文楷体" panose="02010600040101010101" pitchFamily="2" charset="-122"/>
              </a:rPr>
              <a:t>1.65 ×10</a:t>
            </a:r>
            <a:r>
              <a:rPr lang="en-US" altLang="zh-CN" sz="3200" baseline="30000" dirty="0">
                <a:latin typeface="华文楷体" panose="02010600040101010101" pitchFamily="2" charset="-122"/>
                <a:ea typeface="华文楷体" panose="02010600040101010101" pitchFamily="2" charset="-122"/>
              </a:rPr>
              <a:t>-8</a:t>
            </a:r>
            <a:endParaRPr lang="zh-CN" altLang="en-US"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铜 </a:t>
            </a:r>
            <a:r>
              <a:rPr lang="en-US" altLang="zh-CN" sz="3200" dirty="0">
                <a:latin typeface="华文楷体" panose="02010600040101010101" pitchFamily="2" charset="-122"/>
                <a:ea typeface="华文楷体" panose="02010600040101010101" pitchFamily="2" charset="-122"/>
              </a:rPr>
              <a:t>1.75 ×10</a:t>
            </a:r>
            <a:r>
              <a:rPr lang="en-US" altLang="zh-CN" sz="3200" baseline="30000" dirty="0">
                <a:latin typeface="华文楷体" panose="02010600040101010101" pitchFamily="2" charset="-122"/>
                <a:ea typeface="华文楷体" panose="02010600040101010101" pitchFamily="2" charset="-122"/>
              </a:rPr>
              <a:t>-8</a:t>
            </a:r>
            <a:endParaRPr lang="zh-CN" altLang="en-US"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金 </a:t>
            </a:r>
            <a:r>
              <a:rPr lang="en-US" altLang="zh-CN" sz="3200" dirty="0">
                <a:latin typeface="华文楷体" panose="02010600040101010101" pitchFamily="2" charset="-122"/>
                <a:ea typeface="华文楷体" panose="02010600040101010101" pitchFamily="2" charset="-122"/>
              </a:rPr>
              <a:t>2.40×10</a:t>
            </a:r>
            <a:r>
              <a:rPr lang="en-US" altLang="zh-CN" sz="3200" baseline="30000" dirty="0">
                <a:latin typeface="华文楷体" panose="02010600040101010101" pitchFamily="2" charset="-122"/>
                <a:ea typeface="华文楷体" panose="02010600040101010101" pitchFamily="2" charset="-122"/>
              </a:rPr>
              <a:t>-8</a:t>
            </a:r>
            <a:endParaRPr lang="zh-CN" altLang="en-US"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铝 </a:t>
            </a:r>
            <a:r>
              <a:rPr lang="en-US" altLang="zh-CN" sz="3200" dirty="0">
                <a:latin typeface="华文楷体" panose="02010600040101010101" pitchFamily="2" charset="-122"/>
                <a:ea typeface="华文楷体" panose="02010600040101010101" pitchFamily="2" charset="-122"/>
              </a:rPr>
              <a:t>2.83 ×10</a:t>
            </a:r>
            <a:r>
              <a:rPr lang="en-US" altLang="zh-CN" sz="3200" baseline="30000" dirty="0">
                <a:latin typeface="华文楷体" panose="02010600040101010101" pitchFamily="2" charset="-122"/>
                <a:ea typeface="华文楷体" panose="02010600040101010101" pitchFamily="2" charset="-122"/>
              </a:rPr>
              <a:t>-8</a:t>
            </a:r>
            <a:endParaRPr lang="zh-CN" altLang="en-US" sz="3200" b="0" i="0" dirty="0">
              <a:effectLst/>
              <a:latin typeface="华文楷体" panose="02010600040101010101" pitchFamily="2" charset="-122"/>
              <a:ea typeface="华文楷体" panose="02010600040101010101" pitchFamily="2" charset="-122"/>
            </a:endParaRPr>
          </a:p>
        </p:txBody>
      </p:sp>
      <p:pic>
        <p:nvPicPr>
          <p:cNvPr id="7" name="Picture 2" descr="金属结合的传染媒介例证被标记的金属离子和电子海向量例证. 插画包括有云彩, 不透明, 连接数, 传导- 131758283">
            <a:extLst>
              <a:ext uri="{FF2B5EF4-FFF2-40B4-BE49-F238E27FC236}">
                <a16:creationId xmlns:a16="http://schemas.microsoft.com/office/drawing/2014/main" id="{3A11DA90-A772-4354-86B2-A654B95491C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43707" r="2199" b="7754"/>
          <a:stretch/>
        </p:blipFill>
        <p:spPr bwMode="auto">
          <a:xfrm>
            <a:off x="4564640" y="3113657"/>
            <a:ext cx="5748201" cy="2910177"/>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44CA48A6-4788-1D1B-2CA7-54606A298548}"/>
              </a:ext>
            </a:extLst>
          </p:cNvPr>
          <p:cNvSpPr txBox="1"/>
          <p:nvPr/>
        </p:nvSpPr>
        <p:spPr>
          <a:xfrm>
            <a:off x="5365750" y="760792"/>
            <a:ext cx="6826250" cy="830997"/>
          </a:xfrm>
          <a:prstGeom prst="rect">
            <a:avLst/>
          </a:prstGeom>
          <a:noFill/>
        </p:spPr>
        <p:txBody>
          <a:bodyPr wrap="square">
            <a:spAutoFit/>
          </a:bodyPr>
          <a:lstStyle/>
          <a:p>
            <a:r>
              <a:rPr lang="zh-CN" altLang="en-US" sz="2400" b="0" i="0" dirty="0">
                <a:solidFill>
                  <a:srgbClr val="202124"/>
                </a:solidFill>
                <a:effectLst/>
                <a:latin typeface="Google Sans"/>
              </a:rPr>
              <a:t>某种材料制成的长为</a:t>
            </a:r>
            <a:r>
              <a:rPr lang="en-US" altLang="zh-CN" sz="2400" b="0" i="0" dirty="0">
                <a:solidFill>
                  <a:srgbClr val="202124"/>
                </a:solidFill>
                <a:effectLst/>
                <a:latin typeface="Google Sans"/>
              </a:rPr>
              <a:t>1m</a:t>
            </a:r>
            <a:r>
              <a:rPr lang="zh-CN" altLang="en-US" sz="2400" b="0" i="0" dirty="0">
                <a:solidFill>
                  <a:srgbClr val="202124"/>
                </a:solidFill>
                <a:effectLst/>
                <a:latin typeface="Google Sans"/>
              </a:rPr>
              <a:t>，横截面积为</a:t>
            </a:r>
            <a:r>
              <a:rPr lang="en-US" altLang="zh-CN" sz="2400" b="0" i="0" dirty="0">
                <a:solidFill>
                  <a:srgbClr val="202124"/>
                </a:solidFill>
                <a:effectLst/>
                <a:latin typeface="Google Sans"/>
              </a:rPr>
              <a:t>1m </a:t>
            </a:r>
            <a:r>
              <a:rPr lang="en-US" altLang="zh-CN" sz="2400" b="0" i="0" baseline="30000" dirty="0">
                <a:solidFill>
                  <a:srgbClr val="202124"/>
                </a:solidFill>
                <a:effectLst/>
                <a:latin typeface="Google Sans"/>
              </a:rPr>
              <a:t>2</a:t>
            </a:r>
            <a:r>
              <a:rPr lang="zh-CN" altLang="en-US" sz="2400" b="0" i="0" dirty="0">
                <a:solidFill>
                  <a:srgbClr val="202124"/>
                </a:solidFill>
                <a:effectLst/>
                <a:latin typeface="Google Sans"/>
              </a:rPr>
              <a:t>的导体的电阻，在数值上等于这种材料的电阻率</a:t>
            </a:r>
            <a:endParaRPr lang="zh-CN" altLang="en-US" sz="2400" dirty="0"/>
          </a:p>
        </p:txBody>
      </p:sp>
    </p:spTree>
    <p:extLst>
      <p:ext uri="{BB962C8B-B14F-4D97-AF65-F5344CB8AC3E}">
        <p14:creationId xmlns:p14="http://schemas.microsoft.com/office/powerpoint/2010/main" val="2224481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C59E6DF-6026-4BF2-A0A7-080D555FDA56}"/>
              </a:ext>
            </a:extLst>
          </p:cNvPr>
          <p:cNvSpPr/>
          <p:nvPr/>
        </p:nvSpPr>
        <p:spPr>
          <a:xfrm>
            <a:off x="789827" y="417535"/>
            <a:ext cx="10421511" cy="584775"/>
          </a:xfrm>
          <a:prstGeom prst="rect">
            <a:avLst/>
          </a:prstGeom>
        </p:spPr>
        <p:txBody>
          <a:bodyPr wrap="square">
            <a:spAutoFit/>
          </a:bodyPr>
          <a:lstStyle/>
          <a:p>
            <a:pPr marL="457200" lvl="0" indent="-457200">
              <a:buFont typeface="Wingdings" panose="05000000000000000000" pitchFamily="2" charset="2"/>
              <a:buChar char="q"/>
            </a:pPr>
            <a:r>
              <a:rPr lang="zh-CN" altLang="en-US" sz="32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物质的导电性</a:t>
            </a:r>
          </a:p>
        </p:txBody>
      </p:sp>
      <p:sp>
        <p:nvSpPr>
          <p:cNvPr id="8" name="矩形 7">
            <a:extLst>
              <a:ext uri="{FF2B5EF4-FFF2-40B4-BE49-F238E27FC236}">
                <a16:creationId xmlns:a16="http://schemas.microsoft.com/office/drawing/2014/main" id="{C5FEE1F8-4934-499D-9F26-C4B8B63B8EB1}"/>
              </a:ext>
            </a:extLst>
          </p:cNvPr>
          <p:cNvSpPr/>
          <p:nvPr/>
        </p:nvSpPr>
        <p:spPr>
          <a:xfrm>
            <a:off x="845488" y="1212521"/>
            <a:ext cx="11447229" cy="1569660"/>
          </a:xfrm>
          <a:prstGeom prst="rect">
            <a:avLst/>
          </a:prstGeom>
        </p:spPr>
        <p:txBody>
          <a:bodyPr wrap="square">
            <a:spAutoFit/>
          </a:bodyPr>
          <a:lstStyle/>
          <a:p>
            <a:pPr lvl="0"/>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绝缘体</a:t>
            </a:r>
            <a:r>
              <a:rPr lang="en-US" sz="32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（电介质）</a:t>
            </a:r>
            <a:endParaRPr lang="en-US" sz="32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导电能力极弱或不能导电的物体 </a:t>
            </a:r>
            <a:r>
              <a:rPr lang="en-US" altLang="zh-CN" sz="32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电阻率 </a:t>
            </a:r>
            <a:r>
              <a:rPr lang="en-US" sz="32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10</a:t>
            </a:r>
            <a:r>
              <a:rPr lang="en-US" sz="3200" b="1" baseline="300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6</a:t>
            </a:r>
            <a:r>
              <a:rPr lang="en-US" sz="3200" b="1"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 </a:t>
            </a:r>
            <a:r>
              <a:rPr lang="en-US" sz="32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-10</a:t>
            </a:r>
            <a:r>
              <a:rPr lang="en-US" sz="3200" b="1" baseline="300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18 </a:t>
            </a:r>
            <a:r>
              <a:rPr lang="el-GR" sz="32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Ω.</a:t>
            </a:r>
            <a:r>
              <a:rPr lang="en-US" sz="32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m)</a:t>
            </a:r>
          </a:p>
          <a:p>
            <a:pPr lvl="0"/>
            <a:r>
              <a:rPr lang="en-US" altLang="zh-CN" sz="3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常见的</a:t>
            </a:r>
            <a:r>
              <a:rPr lang="zh-CN" altLang="en-US" sz="32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绝缘体有橡胶、陶瓷、塑料等</a:t>
            </a:r>
            <a:endParaRPr lang="en-US" altLang="zh-CN" sz="32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37890" name="Picture 2" descr="how to draw a sodium chloride lattice">
            <a:extLst>
              <a:ext uri="{FF2B5EF4-FFF2-40B4-BE49-F238E27FC236}">
                <a16:creationId xmlns:a16="http://schemas.microsoft.com/office/drawing/2014/main" id="{7036E9F1-FF45-EECE-10A2-6A6AAB9C49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9882" y="2992392"/>
            <a:ext cx="2942366" cy="1979289"/>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141810EC-B0D8-AB77-F6E5-79E0993E93B3}"/>
              </a:ext>
            </a:extLst>
          </p:cNvPr>
          <p:cNvPicPr>
            <a:picLocks noChangeAspect="1"/>
          </p:cNvPicPr>
          <p:nvPr/>
        </p:nvPicPr>
        <p:blipFill rotWithShape="1">
          <a:blip r:embed="rId3"/>
          <a:srcRect r="1728"/>
          <a:stretch/>
        </p:blipFill>
        <p:spPr>
          <a:xfrm>
            <a:off x="6446275" y="5161933"/>
            <a:ext cx="3295333" cy="1594759"/>
          </a:xfrm>
          <a:prstGeom prst="rect">
            <a:avLst/>
          </a:prstGeom>
        </p:spPr>
      </p:pic>
      <p:pic>
        <p:nvPicPr>
          <p:cNvPr id="37892" name="Picture 4" descr="Natural rubber (cis-1,4-polyisoprene), chemical structure - linear fragment  (detail). used to manufacture surgeons' gloves, | CanStock">
            <a:extLst>
              <a:ext uri="{FF2B5EF4-FFF2-40B4-BE49-F238E27FC236}">
                <a16:creationId xmlns:a16="http://schemas.microsoft.com/office/drawing/2014/main" id="{6C19C91F-D3CD-0883-2CB5-F2E0F1FB2FA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9002"/>
          <a:stretch/>
        </p:blipFill>
        <p:spPr bwMode="auto">
          <a:xfrm>
            <a:off x="1762615" y="2681406"/>
            <a:ext cx="3681098" cy="3559081"/>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41CD4AC9-6831-4C91-A706-677CD23B0FCC}"/>
              </a:ext>
            </a:extLst>
          </p:cNvPr>
          <p:cNvSpPr/>
          <p:nvPr/>
        </p:nvSpPr>
        <p:spPr>
          <a:xfrm>
            <a:off x="3607959" y="5965267"/>
            <a:ext cx="902811" cy="523220"/>
          </a:xfrm>
          <a:prstGeom prst="rect">
            <a:avLst/>
          </a:prstGeom>
        </p:spPr>
        <p:txBody>
          <a:bodyPr wrap="none">
            <a:spAutoFit/>
          </a:bodyPr>
          <a:lstStyle/>
          <a:p>
            <a:r>
              <a:rPr lang="zh-CN" altLang="en-US"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橡胶</a:t>
            </a:r>
            <a:endParaRPr lang="en-US" sz="2800" dirty="0"/>
          </a:p>
        </p:txBody>
      </p:sp>
    </p:spTree>
    <p:extLst>
      <p:ext uri="{BB962C8B-B14F-4D97-AF65-F5344CB8AC3E}">
        <p14:creationId xmlns:p14="http://schemas.microsoft.com/office/powerpoint/2010/main" val="355467624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89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789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9424B37-60D0-6606-A25F-3D3B7F3A9FE3}"/>
              </a:ext>
            </a:extLst>
          </p:cNvPr>
          <p:cNvSpPr/>
          <p:nvPr/>
        </p:nvSpPr>
        <p:spPr>
          <a:xfrm>
            <a:off x="1057975" y="1159705"/>
            <a:ext cx="9022081" cy="2554545"/>
          </a:xfrm>
          <a:prstGeom prst="rect">
            <a:avLst/>
          </a:prstGeom>
        </p:spPr>
        <p:txBody>
          <a:bodyPr wrap="square">
            <a:spAutoFit/>
          </a:bodyPr>
          <a:lstStyle/>
          <a:p>
            <a:pPr lvl="0"/>
            <a:r>
              <a:rPr lang="zh-CN" altLang="en-US" sz="3200" b="1" dirty="0">
                <a:solidFill>
                  <a:srgbClr val="FF0000"/>
                </a:solidFill>
                <a:latin typeface="华文楷体" panose="02010600040101010101" pitchFamily="2" charset="-122"/>
                <a:ea typeface="华文楷体" panose="02010600040101010101" pitchFamily="2" charset="-122"/>
              </a:rPr>
              <a:t>半导体</a:t>
            </a:r>
            <a:endParaRPr lang="en-US" altLang="zh-CN" sz="3200" b="1" dirty="0">
              <a:solidFill>
                <a:srgbClr val="FF0000"/>
              </a:solidFill>
              <a:latin typeface="华文楷体" panose="02010600040101010101" pitchFamily="2" charset="-122"/>
              <a:ea typeface="华文楷体" panose="02010600040101010101" pitchFamily="2" charset="-122"/>
            </a:endParaRPr>
          </a:p>
          <a:p>
            <a:pPr lvl="0"/>
            <a:r>
              <a:rPr lang="en-US" altLang="zh-CN" sz="3200" b="1" dirty="0">
                <a:solidFill>
                  <a:srgbClr val="FF0000"/>
                </a:solidFill>
                <a:latin typeface="华文楷体" panose="02010600040101010101" pitchFamily="2" charset="-122"/>
                <a:ea typeface="华文楷体" panose="02010600040101010101" pitchFamily="2" charset="-122"/>
              </a:rPr>
              <a:t>-</a:t>
            </a:r>
            <a:r>
              <a:rPr lang="en-US" altLang="zh-CN" sz="3200" dirty="0">
                <a:solidFill>
                  <a:srgbClr val="FF0000"/>
                </a:solidFill>
                <a:latin typeface="华文楷体" panose="02010600040101010101" pitchFamily="2" charset="-122"/>
                <a:ea typeface="华文楷体" panose="02010600040101010101" pitchFamily="2" charset="-122"/>
              </a:rPr>
              <a:t> </a:t>
            </a:r>
            <a:r>
              <a:rPr lang="zh-CN" altLang="en-US" sz="3200" dirty="0">
                <a:solidFill>
                  <a:prstClr val="black"/>
                </a:solidFill>
                <a:latin typeface="华文楷体" panose="02010600040101010101" pitchFamily="2" charset="-122"/>
                <a:ea typeface="华文楷体" panose="02010600040101010101" pitchFamily="2" charset="-122"/>
              </a:rPr>
              <a:t>导电能力介于导体和绝缘体之间</a:t>
            </a:r>
            <a:endParaRPr lang="en-US" altLang="zh-CN" sz="3200" dirty="0">
              <a:solidFill>
                <a:prstClr val="black"/>
              </a:solidFill>
              <a:latin typeface="华文楷体" panose="02010600040101010101" pitchFamily="2" charset="-122"/>
              <a:ea typeface="华文楷体" panose="02010600040101010101" pitchFamily="2" charset="-122"/>
            </a:endParaRPr>
          </a:p>
          <a:p>
            <a:r>
              <a:rPr lang="en-US" altLang="zh-CN" sz="3200" b="1" dirty="0">
                <a:solidFill>
                  <a:srgbClr val="FF0000"/>
                </a:solidFill>
                <a:latin typeface="华文楷体" panose="02010600040101010101" pitchFamily="2" charset="-122"/>
                <a:ea typeface="华文楷体" panose="02010600040101010101" pitchFamily="2" charset="-122"/>
              </a:rPr>
              <a:t>-</a:t>
            </a:r>
            <a:r>
              <a:rPr lang="en-US" altLang="zh-CN" sz="3200" dirty="0">
                <a:solidFill>
                  <a:srgbClr val="FF0000"/>
                </a:solidFill>
                <a:latin typeface="华文楷体" panose="02010600040101010101" pitchFamily="2" charset="-122"/>
                <a:ea typeface="华文楷体" panose="02010600040101010101" pitchFamily="2" charset="-122"/>
              </a:rPr>
              <a:t> </a:t>
            </a:r>
            <a:r>
              <a:rPr lang="zh-CN" altLang="en-US" sz="3200" dirty="0">
                <a:solidFill>
                  <a:prstClr val="black"/>
                </a:solidFill>
                <a:latin typeface="华文楷体" panose="02010600040101010101" pitchFamily="2" charset="-122"/>
                <a:ea typeface="华文楷体" panose="02010600040101010101" pitchFamily="2" charset="-122"/>
              </a:rPr>
              <a:t>硅、锗、硒等等</a:t>
            </a:r>
            <a:br>
              <a:rPr lang="en-US" altLang="zh-CN" sz="3200" dirty="0">
                <a:solidFill>
                  <a:prstClr val="black"/>
                </a:solidFill>
                <a:latin typeface="华文楷体" panose="02010600040101010101" pitchFamily="2" charset="-122"/>
                <a:ea typeface="华文楷体" panose="02010600040101010101" pitchFamily="2" charset="-122"/>
              </a:rPr>
            </a:br>
            <a:r>
              <a:rPr lang="en-US" altLang="zh-CN" sz="3200" b="1" dirty="0">
                <a:solidFill>
                  <a:srgbClr val="FF0000"/>
                </a:solidFill>
                <a:latin typeface="华文楷体" panose="02010600040101010101" pitchFamily="2" charset="-122"/>
                <a:ea typeface="华文楷体" panose="02010600040101010101" pitchFamily="2" charset="-122"/>
              </a:rPr>
              <a:t>-  </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3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型</a:t>
            </a:r>
            <a:r>
              <a:rPr lang="zh-CN" altLang="en-US" sz="32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半导体；</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3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型</a:t>
            </a:r>
            <a:r>
              <a:rPr lang="zh-CN" altLang="en-US" sz="32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半导体</a:t>
            </a:r>
            <a:endParaRPr lang="zh-CN" altLang="en-US" sz="32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endParaRPr>
          </a:p>
          <a:p>
            <a:pPr lvl="0"/>
            <a:r>
              <a:rPr lang="en-US" altLang="zh-CN" sz="3200" dirty="0">
                <a:solidFill>
                  <a:prstClr val="black"/>
                </a:solidFill>
                <a:latin typeface="华文楷体" panose="02010600040101010101" pitchFamily="2" charset="-122"/>
                <a:ea typeface="华文楷体" panose="02010600040101010101" pitchFamily="2" charset="-122"/>
              </a:rPr>
              <a:t> </a:t>
            </a:r>
            <a:endParaRPr lang="zh-CN" altLang="en-US" sz="3200" dirty="0">
              <a:solidFill>
                <a:prstClr val="black"/>
              </a:solidFill>
              <a:latin typeface="华文楷体" panose="02010600040101010101" pitchFamily="2" charset="-122"/>
              <a:ea typeface="华文楷体" panose="02010600040101010101" pitchFamily="2" charset="-122"/>
            </a:endParaRPr>
          </a:p>
        </p:txBody>
      </p:sp>
      <p:sp>
        <p:nvSpPr>
          <p:cNvPr id="3" name="矩形 2">
            <a:extLst>
              <a:ext uri="{FF2B5EF4-FFF2-40B4-BE49-F238E27FC236}">
                <a16:creationId xmlns:a16="http://schemas.microsoft.com/office/drawing/2014/main" id="{AAE49A67-3DFC-4D42-6277-A48CE49A4C54}"/>
              </a:ext>
            </a:extLst>
          </p:cNvPr>
          <p:cNvSpPr/>
          <p:nvPr/>
        </p:nvSpPr>
        <p:spPr>
          <a:xfrm>
            <a:off x="789827" y="417535"/>
            <a:ext cx="10421511" cy="584775"/>
          </a:xfrm>
          <a:prstGeom prst="rect">
            <a:avLst/>
          </a:prstGeom>
        </p:spPr>
        <p:txBody>
          <a:bodyPr wrap="square">
            <a:spAutoFit/>
          </a:bodyPr>
          <a:lstStyle/>
          <a:p>
            <a:pPr marL="457200" lvl="0" indent="-457200">
              <a:buFont typeface="Wingdings" panose="05000000000000000000" pitchFamily="2" charset="2"/>
              <a:buChar char="q"/>
            </a:pPr>
            <a:r>
              <a:rPr lang="zh-CN" altLang="en-US" sz="32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物质的导电性</a:t>
            </a:r>
          </a:p>
        </p:txBody>
      </p:sp>
      <p:sp>
        <p:nvSpPr>
          <p:cNvPr id="4" name="AutoShape 2">
            <a:extLst>
              <a:ext uri="{FF2B5EF4-FFF2-40B4-BE49-F238E27FC236}">
                <a16:creationId xmlns:a16="http://schemas.microsoft.com/office/drawing/2014/main" id="{86F3BE4C-C686-00B8-91A5-79A4831954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6" name="图片 5">
            <a:extLst>
              <a:ext uri="{FF2B5EF4-FFF2-40B4-BE49-F238E27FC236}">
                <a16:creationId xmlns:a16="http://schemas.microsoft.com/office/drawing/2014/main" id="{DA18A32D-3C38-8610-4B5A-EA3D7560B770}"/>
              </a:ext>
            </a:extLst>
          </p:cNvPr>
          <p:cNvPicPr>
            <a:picLocks noChangeAspect="1"/>
          </p:cNvPicPr>
          <p:nvPr/>
        </p:nvPicPr>
        <p:blipFill>
          <a:blip r:embed="rId2"/>
          <a:stretch>
            <a:fillRect/>
          </a:stretch>
        </p:blipFill>
        <p:spPr>
          <a:xfrm>
            <a:off x="2354911" y="3575211"/>
            <a:ext cx="6255689" cy="2789246"/>
          </a:xfrm>
          <a:prstGeom prst="rect">
            <a:avLst/>
          </a:prstGeom>
        </p:spPr>
      </p:pic>
    </p:spTree>
    <p:extLst>
      <p:ext uri="{BB962C8B-B14F-4D97-AF65-F5344CB8AC3E}">
        <p14:creationId xmlns:p14="http://schemas.microsoft.com/office/powerpoint/2010/main" val="3916821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4995A65-8DF9-4A75-BDE3-26AA36F39C10}"/>
              </a:ext>
            </a:extLst>
          </p:cNvPr>
          <p:cNvSpPr/>
          <p:nvPr/>
        </p:nvSpPr>
        <p:spPr>
          <a:xfrm>
            <a:off x="533178" y="1327691"/>
            <a:ext cx="6894811" cy="3539430"/>
          </a:xfrm>
          <a:prstGeom prst="rect">
            <a:avLst/>
          </a:prstGeom>
        </p:spPr>
        <p:txBody>
          <a:bodyPr wrap="square">
            <a:spAutoFit/>
          </a:bodyPr>
          <a:lstStyle/>
          <a:p>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超导体</a:t>
            </a:r>
            <a:endParaRPr 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当温度降低到某一温度</a:t>
            </a:r>
            <a:r>
              <a:rPr lang="en-US" altLang="zh-CN" sz="3200" b="1" i="1" dirty="0">
                <a:latin typeface="Times New Roman" panose="02020603050405020304" pitchFamily="18" charset="0"/>
                <a:ea typeface="华文楷体" panose="02010600040101010101" pitchFamily="2" charset="-122"/>
                <a:cs typeface="Times New Roman" panose="02020603050405020304" pitchFamily="18" charset="0"/>
              </a:rPr>
              <a:t>Tc</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时，电阻率会几乎突然地消失。温度</a:t>
            </a:r>
            <a:r>
              <a:rPr lang="en-US" altLang="zh-CN" sz="3200" b="1" i="1" dirty="0">
                <a:latin typeface="Times New Roman" panose="02020603050405020304" pitchFamily="18" charset="0"/>
                <a:ea typeface="华文楷体" panose="02010600040101010101" pitchFamily="2" charset="-122"/>
                <a:cs typeface="Times New Roman" panose="02020603050405020304" pitchFamily="18" charset="0"/>
              </a:rPr>
              <a:t>Tc</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就叫做超导体的临界温度。</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拓扑绝缘体</a:t>
            </a:r>
            <a:endParaRPr 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5" name="Picture 6" descr="ti-drawing">
            <a:extLst>
              <a:ext uri="{FF2B5EF4-FFF2-40B4-BE49-F238E27FC236}">
                <a16:creationId xmlns:a16="http://schemas.microsoft.com/office/drawing/2014/main" id="{3D850F75-C150-4B0D-A329-C239C029AD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2270" y="3794047"/>
            <a:ext cx="2349433" cy="251725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EA451FE3-8A13-27B1-6E80-743188462A95}"/>
              </a:ext>
            </a:extLst>
          </p:cNvPr>
          <p:cNvSpPr/>
          <p:nvPr/>
        </p:nvSpPr>
        <p:spPr>
          <a:xfrm>
            <a:off x="801912" y="417535"/>
            <a:ext cx="10421511" cy="584775"/>
          </a:xfrm>
          <a:prstGeom prst="rect">
            <a:avLst/>
          </a:prstGeom>
        </p:spPr>
        <p:txBody>
          <a:bodyPr wrap="square">
            <a:spAutoFit/>
          </a:bodyPr>
          <a:lstStyle/>
          <a:p>
            <a:pPr marL="457200" lvl="0" indent="-457200">
              <a:buFont typeface="Wingdings" panose="05000000000000000000" pitchFamily="2" charset="2"/>
              <a:buChar char="q"/>
            </a:pPr>
            <a:r>
              <a:rPr lang="zh-CN" altLang="en-US" sz="32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物质的导电性</a:t>
            </a:r>
          </a:p>
        </p:txBody>
      </p:sp>
      <p:pic>
        <p:nvPicPr>
          <p:cNvPr id="39938" name="Picture 2" descr="Best Superconductor GIFs | Gfycat">
            <a:extLst>
              <a:ext uri="{FF2B5EF4-FFF2-40B4-BE49-F238E27FC236}">
                <a16:creationId xmlns:a16="http://schemas.microsoft.com/office/drawing/2014/main" id="{28B4C0E5-B441-5338-8EC8-79DD658A183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907" r="14586"/>
          <a:stretch/>
        </p:blipFill>
        <p:spPr bwMode="auto">
          <a:xfrm>
            <a:off x="7784239" y="1380058"/>
            <a:ext cx="2976880" cy="267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971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61A349-6AB9-47CA-BC56-8C559ED725C5}"/>
              </a:ext>
            </a:extLst>
          </p:cNvPr>
          <p:cNvSpPr txBox="1"/>
          <p:nvPr/>
        </p:nvSpPr>
        <p:spPr>
          <a:xfrm>
            <a:off x="3309184" y="1544287"/>
            <a:ext cx="5262979" cy="646331"/>
          </a:xfrm>
          <a:prstGeom prst="rect">
            <a:avLst/>
          </a:prstGeom>
          <a:noFill/>
        </p:spPr>
        <p:txBody>
          <a:bodyPr wrap="none" rtlCol="0">
            <a:spAutoFit/>
          </a:bodyPr>
          <a:lstStyle/>
          <a:p>
            <a:r>
              <a:rPr lang="zh-CN" altLang="en-US" sz="3600" b="1" dirty="0">
                <a:solidFill>
                  <a:srgbClr val="0066FF"/>
                </a:solidFill>
                <a:latin typeface="华文楷体" panose="02010600040101010101" pitchFamily="2" charset="-122"/>
                <a:ea typeface="华文楷体" panose="02010600040101010101" pitchFamily="2" charset="-122"/>
              </a:rPr>
              <a:t>静电场与物质的相互作用</a:t>
            </a:r>
          </a:p>
        </p:txBody>
      </p:sp>
      <p:sp>
        <p:nvSpPr>
          <p:cNvPr id="3" name="文本框 2">
            <a:extLst>
              <a:ext uri="{FF2B5EF4-FFF2-40B4-BE49-F238E27FC236}">
                <a16:creationId xmlns:a16="http://schemas.microsoft.com/office/drawing/2014/main" id="{0E185EDD-3A52-4CB9-9F03-C0BDAB333313}"/>
              </a:ext>
            </a:extLst>
          </p:cNvPr>
          <p:cNvSpPr txBox="1"/>
          <p:nvPr/>
        </p:nvSpPr>
        <p:spPr>
          <a:xfrm>
            <a:off x="3192366" y="2909409"/>
            <a:ext cx="5774393" cy="646331"/>
          </a:xfrm>
          <a:prstGeom prst="rect">
            <a:avLst/>
          </a:prstGeom>
          <a:noFill/>
        </p:spPr>
        <p:txBody>
          <a:bodyPr wrap="square" rtlCol="0">
            <a:spAutoFit/>
          </a:bodyPr>
          <a:lstStyle/>
          <a:p>
            <a:r>
              <a:rPr lang="en-US" altLang="zh-CN" sz="3600" dirty="0">
                <a:latin typeface="华文楷体" panose="02010600040101010101" pitchFamily="2" charset="-122"/>
                <a:ea typeface="华文楷体" panose="02010600040101010101" pitchFamily="2" charset="-122"/>
              </a:rPr>
              <a:t>- </a:t>
            </a:r>
            <a:r>
              <a:rPr lang="zh-CN" altLang="en-US" sz="3600" dirty="0">
                <a:latin typeface="华文楷体" panose="02010600040101010101" pitchFamily="2" charset="-122"/>
                <a:ea typeface="华文楷体" panose="02010600040101010101" pitchFamily="2" charset="-122"/>
              </a:rPr>
              <a:t>第</a:t>
            </a:r>
            <a:r>
              <a:rPr lang="en-US" altLang="zh-CN" sz="3600" dirty="0">
                <a:latin typeface="华文楷体" panose="02010600040101010101" pitchFamily="2" charset="-122"/>
                <a:ea typeface="华文楷体" panose="02010600040101010101" pitchFamily="2" charset="-122"/>
              </a:rPr>
              <a:t>14</a:t>
            </a:r>
            <a:r>
              <a:rPr lang="zh-CN" altLang="en-US" sz="3600" dirty="0">
                <a:latin typeface="华文楷体" panose="02010600040101010101" pitchFamily="2" charset="-122"/>
                <a:ea typeface="华文楷体" panose="02010600040101010101" pitchFamily="2" charset="-122"/>
              </a:rPr>
              <a:t>章  静电场中的导体</a:t>
            </a:r>
          </a:p>
        </p:txBody>
      </p:sp>
      <p:sp>
        <p:nvSpPr>
          <p:cNvPr id="4" name="文本框 3">
            <a:extLst>
              <a:ext uri="{FF2B5EF4-FFF2-40B4-BE49-F238E27FC236}">
                <a16:creationId xmlns:a16="http://schemas.microsoft.com/office/drawing/2014/main" id="{06A6C1AE-AA5B-4809-B1DD-CC4B1980663F}"/>
              </a:ext>
            </a:extLst>
          </p:cNvPr>
          <p:cNvSpPr txBox="1"/>
          <p:nvPr/>
        </p:nvSpPr>
        <p:spPr>
          <a:xfrm>
            <a:off x="3174568" y="4188936"/>
            <a:ext cx="5609228" cy="646331"/>
          </a:xfrm>
          <a:prstGeom prst="rect">
            <a:avLst/>
          </a:prstGeom>
          <a:noFill/>
        </p:spPr>
        <p:txBody>
          <a:bodyPr wrap="none" rtlCol="0">
            <a:spAutoFit/>
          </a:bodyPr>
          <a:lstStyle/>
          <a:p>
            <a:r>
              <a:rPr lang="en-US" altLang="zh-CN" sz="3600" dirty="0">
                <a:latin typeface="华文楷体" panose="02010600040101010101" pitchFamily="2" charset="-122"/>
                <a:ea typeface="华文楷体" panose="02010600040101010101" pitchFamily="2" charset="-122"/>
              </a:rPr>
              <a:t>- </a:t>
            </a:r>
            <a:r>
              <a:rPr lang="zh-CN" altLang="en-US" sz="3600" dirty="0">
                <a:latin typeface="华文楷体" panose="02010600040101010101" pitchFamily="2" charset="-122"/>
                <a:ea typeface="华文楷体" panose="02010600040101010101" pitchFamily="2" charset="-122"/>
              </a:rPr>
              <a:t>第</a:t>
            </a:r>
            <a:r>
              <a:rPr lang="en-US" altLang="zh-CN" sz="3600" dirty="0">
                <a:latin typeface="华文楷体" panose="02010600040101010101" pitchFamily="2" charset="-122"/>
                <a:ea typeface="华文楷体" panose="02010600040101010101" pitchFamily="2" charset="-122"/>
              </a:rPr>
              <a:t>15</a:t>
            </a:r>
            <a:r>
              <a:rPr lang="zh-CN" altLang="en-US" sz="3600" dirty="0">
                <a:latin typeface="华文楷体" panose="02010600040101010101" pitchFamily="2" charset="-122"/>
                <a:ea typeface="华文楷体" panose="02010600040101010101" pitchFamily="2" charset="-122"/>
              </a:rPr>
              <a:t>章 静电场中的电介质</a:t>
            </a:r>
          </a:p>
        </p:txBody>
      </p:sp>
    </p:spTree>
    <p:extLst>
      <p:ext uri="{BB962C8B-B14F-4D97-AF65-F5344CB8AC3E}">
        <p14:creationId xmlns:p14="http://schemas.microsoft.com/office/powerpoint/2010/main" val="179621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8" name="Picture 10" descr="静电复印机_万图壁纸网">
            <a:extLst>
              <a:ext uri="{FF2B5EF4-FFF2-40B4-BE49-F238E27FC236}">
                <a16:creationId xmlns:a16="http://schemas.microsoft.com/office/drawing/2014/main" id="{313C5F9B-2528-4A1B-AD25-63C4560CD19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720998" y="4320744"/>
            <a:ext cx="2641365" cy="2641365"/>
          </a:xfrm>
          <a:prstGeom prst="rect">
            <a:avLst/>
          </a:prstGeom>
          <a:noFill/>
          <a:extLst>
            <a:ext uri="{909E8E84-426E-40DD-AFC4-6F175D3DCCD1}">
              <a14:hiddenFill xmlns:a14="http://schemas.microsoft.com/office/drawing/2010/main">
                <a:solidFill>
                  <a:srgbClr val="FFFFFF"/>
                </a:solidFill>
              </a14:hiddenFill>
            </a:ext>
          </a:extLst>
        </p:spPr>
      </p:pic>
      <p:sp>
        <p:nvSpPr>
          <p:cNvPr id="7176" name="Text Box 13">
            <a:extLst>
              <a:ext uri="{FF2B5EF4-FFF2-40B4-BE49-F238E27FC236}">
                <a16:creationId xmlns:a16="http://schemas.microsoft.com/office/drawing/2014/main" id="{B1D77FAA-C6EC-4AC5-A3F5-4CC64C94B2C7}"/>
              </a:ext>
            </a:extLst>
          </p:cNvPr>
          <p:cNvSpPr txBox="1">
            <a:spLocks noChangeArrowheads="1"/>
          </p:cNvSpPr>
          <p:nvPr/>
        </p:nvSpPr>
        <p:spPr bwMode="auto">
          <a:xfrm>
            <a:off x="2170115" y="263316"/>
            <a:ext cx="709712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第</a:t>
            </a:r>
            <a:r>
              <a:rPr lang="en-US" altLang="zh-CN"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14</a:t>
            </a: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 章     静电场中的导体</a:t>
            </a:r>
            <a:endPar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sp>
        <p:nvSpPr>
          <p:cNvPr id="4112" name="Rectangle 16">
            <a:hlinkClick r:id="" action="ppaction://noaction"/>
            <a:extLst>
              <a:ext uri="{FF2B5EF4-FFF2-40B4-BE49-F238E27FC236}">
                <a16:creationId xmlns:a16="http://schemas.microsoft.com/office/drawing/2014/main" id="{E4498F14-2B16-44E2-8121-1F90B80155C0}"/>
              </a:ext>
            </a:extLst>
          </p:cNvPr>
          <p:cNvSpPr>
            <a:spLocks noChangeArrowheads="1"/>
          </p:cNvSpPr>
          <p:nvPr/>
        </p:nvSpPr>
        <p:spPr bwMode="auto">
          <a:xfrm>
            <a:off x="6190120" y="1154220"/>
            <a:ext cx="5231995"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1  </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静电平衡条件</a:t>
            </a:r>
          </a:p>
        </p:txBody>
      </p:sp>
      <p:sp>
        <p:nvSpPr>
          <p:cNvPr id="4114" name="Text Box 18">
            <a:hlinkClick r:id="" action="ppaction://noaction"/>
            <a:extLst>
              <a:ext uri="{FF2B5EF4-FFF2-40B4-BE49-F238E27FC236}">
                <a16:creationId xmlns:a16="http://schemas.microsoft.com/office/drawing/2014/main" id="{6FD6935D-21DB-4E0A-A113-0012E404D3AE}"/>
              </a:ext>
            </a:extLst>
          </p:cNvPr>
          <p:cNvSpPr txBox="1">
            <a:spLocks noChangeArrowheads="1"/>
          </p:cNvSpPr>
          <p:nvPr/>
        </p:nvSpPr>
        <p:spPr bwMode="auto">
          <a:xfrm>
            <a:off x="6190120" y="2449620"/>
            <a:ext cx="65270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3  </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静电场的分析</a:t>
            </a:r>
          </a:p>
        </p:txBody>
      </p:sp>
      <p:sp>
        <p:nvSpPr>
          <p:cNvPr id="4115" name="Text Box 19">
            <a:hlinkClick r:id="" action="ppaction://noaction"/>
            <a:extLst>
              <a:ext uri="{FF2B5EF4-FFF2-40B4-BE49-F238E27FC236}">
                <a16:creationId xmlns:a16="http://schemas.microsoft.com/office/drawing/2014/main" id="{2E74E40B-D4E9-420C-843A-63B8B00C8FD2}"/>
              </a:ext>
            </a:extLst>
          </p:cNvPr>
          <p:cNvSpPr txBox="1">
            <a:spLocks noChangeArrowheads="1"/>
          </p:cNvSpPr>
          <p:nvPr/>
        </p:nvSpPr>
        <p:spPr bwMode="auto">
          <a:xfrm>
            <a:off x="6180597" y="3098906"/>
            <a:ext cx="228139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non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4</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  静电屏蔽</a:t>
            </a:r>
          </a:p>
        </p:txBody>
      </p:sp>
      <p:sp>
        <p:nvSpPr>
          <p:cNvPr id="4116" name="Rectangle 20">
            <a:hlinkClick r:id="" action="ppaction://noaction"/>
            <a:extLst>
              <a:ext uri="{FF2B5EF4-FFF2-40B4-BE49-F238E27FC236}">
                <a16:creationId xmlns:a16="http://schemas.microsoft.com/office/drawing/2014/main" id="{163FEB06-B244-41DC-9745-09D2B510C55A}"/>
              </a:ext>
            </a:extLst>
          </p:cNvPr>
          <p:cNvSpPr>
            <a:spLocks noChangeArrowheads="1"/>
          </p:cNvSpPr>
          <p:nvPr/>
        </p:nvSpPr>
        <p:spPr bwMode="auto">
          <a:xfrm>
            <a:off x="6190121" y="3818045"/>
            <a:ext cx="4679950"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marL="514350" indent="-514350">
              <a:spcBef>
                <a:spcPct val="50000"/>
              </a:spcBef>
              <a:buAutoNum type="arabicPlain" startAt="5"/>
            </a:pP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唯一性定理</a:t>
            </a:r>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a:t>
            </a:r>
            <a:endPar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sp>
        <p:nvSpPr>
          <p:cNvPr id="9" name="Rectangle 16">
            <a:hlinkClick r:id="" action="ppaction://noaction"/>
            <a:extLst>
              <a:ext uri="{FF2B5EF4-FFF2-40B4-BE49-F238E27FC236}">
                <a16:creationId xmlns:a16="http://schemas.microsoft.com/office/drawing/2014/main" id="{33F5298E-54F0-4E10-A769-B55A508ED7D8}"/>
              </a:ext>
            </a:extLst>
          </p:cNvPr>
          <p:cNvSpPr>
            <a:spLocks noChangeArrowheads="1"/>
          </p:cNvSpPr>
          <p:nvPr/>
        </p:nvSpPr>
        <p:spPr bwMode="auto">
          <a:xfrm>
            <a:off x="6190122" y="1801920"/>
            <a:ext cx="6154243"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2  </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静电平衡时的电荷分布</a:t>
            </a:r>
          </a:p>
        </p:txBody>
      </p:sp>
      <p:sp>
        <p:nvSpPr>
          <p:cNvPr id="11" name="矩形 10">
            <a:extLst>
              <a:ext uri="{FF2B5EF4-FFF2-40B4-BE49-F238E27FC236}">
                <a16:creationId xmlns:a16="http://schemas.microsoft.com/office/drawing/2014/main" id="{BBDB04A1-0ED6-47DB-AB21-B6B2EFE1D30C}"/>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grpSp>
        <p:nvGrpSpPr>
          <p:cNvPr id="14" name="Group 10">
            <a:extLst>
              <a:ext uri="{FF2B5EF4-FFF2-40B4-BE49-F238E27FC236}">
                <a16:creationId xmlns:a16="http://schemas.microsoft.com/office/drawing/2014/main" id="{E0368B62-16F5-4741-9E71-32B4EA878F5B}"/>
              </a:ext>
            </a:extLst>
          </p:cNvPr>
          <p:cNvGrpSpPr>
            <a:grpSpLocks/>
          </p:cNvGrpSpPr>
          <p:nvPr/>
        </p:nvGrpSpPr>
        <p:grpSpPr bwMode="auto">
          <a:xfrm>
            <a:off x="11124269" y="312853"/>
            <a:ext cx="1657850" cy="1794587"/>
            <a:chOff x="3185" y="2351"/>
            <a:chExt cx="2183" cy="2367"/>
          </a:xfrm>
        </p:grpSpPr>
        <p:sp>
          <p:nvSpPr>
            <p:cNvPr id="20" name="Rectangle 12">
              <a:extLst>
                <a:ext uri="{FF2B5EF4-FFF2-40B4-BE49-F238E27FC236}">
                  <a16:creationId xmlns:a16="http://schemas.microsoft.com/office/drawing/2014/main" id="{56FB10CD-B000-48EF-9FEB-DE0E09CE647F}"/>
                </a:ext>
              </a:extLst>
            </p:cNvPr>
            <p:cNvSpPr>
              <a:spLocks noChangeArrowheads="1"/>
            </p:cNvSpPr>
            <p:nvPr/>
          </p:nvSpPr>
          <p:spPr bwMode="auto">
            <a:xfrm>
              <a:off x="3185" y="3022"/>
              <a:ext cx="310" cy="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endParaRPr lang="en-US" altLang="zh-CN" sz="3200" dirty="0">
                <a:solidFill>
                  <a:srgbClr val="000000"/>
                </a:solidFill>
                <a:ea typeface="华文楷体" panose="02010600040101010101" pitchFamily="2" charset="-122"/>
                <a:cs typeface="Times New Roman" panose="02020603050405020304" pitchFamily="18" charset="0"/>
              </a:endParaRPr>
            </a:p>
          </p:txBody>
        </p:sp>
        <p:sp>
          <p:nvSpPr>
            <p:cNvPr id="21" name="Rectangle 13">
              <a:extLst>
                <a:ext uri="{FF2B5EF4-FFF2-40B4-BE49-F238E27FC236}">
                  <a16:creationId xmlns:a16="http://schemas.microsoft.com/office/drawing/2014/main" id="{FCE506A5-CA4A-4CEB-9FD5-274A2B21318F}"/>
                </a:ext>
              </a:extLst>
            </p:cNvPr>
            <p:cNvSpPr>
              <a:spLocks noChangeArrowheads="1"/>
            </p:cNvSpPr>
            <p:nvPr/>
          </p:nvSpPr>
          <p:spPr bwMode="auto">
            <a:xfrm>
              <a:off x="3185" y="2735"/>
              <a:ext cx="310" cy="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endParaRPr lang="en-US" altLang="zh-CN" sz="3200" dirty="0">
                <a:solidFill>
                  <a:srgbClr val="000000"/>
                </a:solidFill>
                <a:ea typeface="华文楷体" panose="02010600040101010101" pitchFamily="2" charset="-122"/>
                <a:cs typeface="Times New Roman" panose="02020603050405020304" pitchFamily="18" charset="0"/>
              </a:endParaRPr>
            </a:p>
          </p:txBody>
        </p:sp>
        <p:sp>
          <p:nvSpPr>
            <p:cNvPr id="22" name="Rectangle 14">
              <a:extLst>
                <a:ext uri="{FF2B5EF4-FFF2-40B4-BE49-F238E27FC236}">
                  <a16:creationId xmlns:a16="http://schemas.microsoft.com/office/drawing/2014/main" id="{E60E15B0-2CC0-4D15-852E-D2C0C799050C}"/>
                </a:ext>
              </a:extLst>
            </p:cNvPr>
            <p:cNvSpPr>
              <a:spLocks noChangeArrowheads="1"/>
            </p:cNvSpPr>
            <p:nvPr/>
          </p:nvSpPr>
          <p:spPr bwMode="auto">
            <a:xfrm>
              <a:off x="3281" y="2351"/>
              <a:ext cx="310" cy="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endParaRPr lang="en-US" altLang="zh-CN" sz="3200" dirty="0">
                <a:solidFill>
                  <a:srgbClr val="000000"/>
                </a:solidFill>
                <a:ea typeface="华文楷体" panose="02010600040101010101" pitchFamily="2" charset="-122"/>
                <a:cs typeface="Times New Roman" panose="02020603050405020304" pitchFamily="18" charset="0"/>
              </a:endParaRPr>
            </a:p>
          </p:txBody>
        </p:sp>
        <p:sp>
          <p:nvSpPr>
            <p:cNvPr id="27" name="Rectangle 19">
              <a:extLst>
                <a:ext uri="{FF2B5EF4-FFF2-40B4-BE49-F238E27FC236}">
                  <a16:creationId xmlns:a16="http://schemas.microsoft.com/office/drawing/2014/main" id="{6A504767-562D-4DC0-B5BA-EC1EAD1439C0}"/>
                </a:ext>
              </a:extLst>
            </p:cNvPr>
            <p:cNvSpPr>
              <a:spLocks noChangeArrowheads="1"/>
            </p:cNvSpPr>
            <p:nvPr/>
          </p:nvSpPr>
          <p:spPr bwMode="auto">
            <a:xfrm>
              <a:off x="4290" y="3742"/>
              <a:ext cx="310" cy="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endParaRPr lang="en-US" altLang="zh-CN" sz="3200" dirty="0">
                <a:solidFill>
                  <a:srgbClr val="000000"/>
                </a:solidFill>
                <a:ea typeface="华文楷体" panose="02010600040101010101" pitchFamily="2" charset="-122"/>
                <a:cs typeface="Times New Roman" panose="02020603050405020304" pitchFamily="18" charset="0"/>
              </a:endParaRPr>
            </a:p>
          </p:txBody>
        </p:sp>
        <p:sp>
          <p:nvSpPr>
            <p:cNvPr id="29" name="Rectangle 21">
              <a:extLst>
                <a:ext uri="{FF2B5EF4-FFF2-40B4-BE49-F238E27FC236}">
                  <a16:creationId xmlns:a16="http://schemas.microsoft.com/office/drawing/2014/main" id="{E3EE02CE-54DD-4F65-B21F-AF2DE8AE545D}"/>
                </a:ext>
              </a:extLst>
            </p:cNvPr>
            <p:cNvSpPr>
              <a:spLocks noChangeArrowheads="1"/>
            </p:cNvSpPr>
            <p:nvPr/>
          </p:nvSpPr>
          <p:spPr bwMode="auto">
            <a:xfrm>
              <a:off x="4913" y="3312"/>
              <a:ext cx="310" cy="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endParaRPr lang="en-US" altLang="zh-CN" sz="3200" dirty="0">
                <a:solidFill>
                  <a:srgbClr val="000000"/>
                </a:solidFill>
                <a:ea typeface="华文楷体" panose="02010600040101010101" pitchFamily="2" charset="-122"/>
                <a:cs typeface="Times New Roman" panose="02020603050405020304" pitchFamily="18" charset="0"/>
              </a:endParaRPr>
            </a:p>
          </p:txBody>
        </p:sp>
        <p:sp>
          <p:nvSpPr>
            <p:cNvPr id="30" name="Rectangle 22">
              <a:extLst>
                <a:ext uri="{FF2B5EF4-FFF2-40B4-BE49-F238E27FC236}">
                  <a16:creationId xmlns:a16="http://schemas.microsoft.com/office/drawing/2014/main" id="{45827645-85E6-4C84-93E4-6717B2A70EA4}"/>
                </a:ext>
              </a:extLst>
            </p:cNvPr>
            <p:cNvSpPr>
              <a:spLocks noChangeArrowheads="1"/>
            </p:cNvSpPr>
            <p:nvPr/>
          </p:nvSpPr>
          <p:spPr bwMode="auto">
            <a:xfrm>
              <a:off x="5009" y="3022"/>
              <a:ext cx="310" cy="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endParaRPr lang="en-US" altLang="zh-CN" sz="3200" dirty="0">
                <a:solidFill>
                  <a:srgbClr val="000000"/>
                </a:solidFill>
                <a:ea typeface="华文楷体" panose="02010600040101010101" pitchFamily="2" charset="-122"/>
                <a:cs typeface="Times New Roman" panose="02020603050405020304" pitchFamily="18" charset="0"/>
              </a:endParaRPr>
            </a:p>
          </p:txBody>
        </p:sp>
        <p:sp>
          <p:nvSpPr>
            <p:cNvPr id="31" name="Rectangle 23">
              <a:extLst>
                <a:ext uri="{FF2B5EF4-FFF2-40B4-BE49-F238E27FC236}">
                  <a16:creationId xmlns:a16="http://schemas.microsoft.com/office/drawing/2014/main" id="{D94F2924-9355-48B8-8227-5F8408F3ED81}"/>
                </a:ext>
              </a:extLst>
            </p:cNvPr>
            <p:cNvSpPr>
              <a:spLocks noChangeArrowheads="1"/>
            </p:cNvSpPr>
            <p:nvPr/>
          </p:nvSpPr>
          <p:spPr bwMode="auto">
            <a:xfrm>
              <a:off x="5058" y="2687"/>
              <a:ext cx="310" cy="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endParaRPr lang="en-US" altLang="zh-CN" sz="3200" dirty="0">
                <a:solidFill>
                  <a:srgbClr val="000000"/>
                </a:solidFill>
                <a:ea typeface="华文楷体" panose="02010600040101010101" pitchFamily="2" charset="-122"/>
                <a:cs typeface="Times New Roman" panose="02020603050405020304" pitchFamily="18" charset="0"/>
              </a:endParaRPr>
            </a:p>
          </p:txBody>
        </p:sp>
        <p:sp>
          <p:nvSpPr>
            <p:cNvPr id="32" name="Rectangle 24">
              <a:extLst>
                <a:ext uri="{FF2B5EF4-FFF2-40B4-BE49-F238E27FC236}">
                  <a16:creationId xmlns:a16="http://schemas.microsoft.com/office/drawing/2014/main" id="{3A3F8AA3-8032-4063-9397-71B035F33FF0}"/>
                </a:ext>
              </a:extLst>
            </p:cNvPr>
            <p:cNvSpPr>
              <a:spLocks noChangeArrowheads="1"/>
            </p:cNvSpPr>
            <p:nvPr/>
          </p:nvSpPr>
          <p:spPr bwMode="auto">
            <a:xfrm>
              <a:off x="3618" y="3599"/>
              <a:ext cx="310" cy="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defRPr/>
              </a:pPr>
              <a:endParaRPr lang="en-US" altLang="zh-CN" sz="3200" dirty="0">
                <a:solidFill>
                  <a:srgbClr val="000000"/>
                </a:solidFill>
                <a:ea typeface="华文楷体" panose="02010600040101010101" pitchFamily="2" charset="-122"/>
                <a:cs typeface="Times New Roman" panose="02020603050405020304" pitchFamily="18" charset="0"/>
              </a:endParaRPr>
            </a:p>
          </p:txBody>
        </p:sp>
      </p:grpSp>
      <p:pic>
        <p:nvPicPr>
          <p:cNvPr id="2050" name="Picture 2" descr="https://i1.kknews.cc/SIG=3covf9p/qsvp-vzntrunaqyre/s5346185-4o07-43q0-9r18-73s633502ps4.jpg">
            <a:extLst>
              <a:ext uri="{FF2B5EF4-FFF2-40B4-BE49-F238E27FC236}">
                <a16:creationId xmlns:a16="http://schemas.microsoft.com/office/drawing/2014/main" id="{A04941BD-BE39-4DCC-812A-2161EA53B54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415" r="36052"/>
          <a:stretch/>
        </p:blipFill>
        <p:spPr bwMode="auto">
          <a:xfrm>
            <a:off x="2302311" y="4628178"/>
            <a:ext cx="1231413" cy="213217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https://ihip.pku.edu.cn/__local/4/D1/42/2B810D396A597B26B98C0263C31_5CF8B707_1A109.png?e=.png">
            <a:extLst>
              <a:ext uri="{FF2B5EF4-FFF2-40B4-BE49-F238E27FC236}">
                <a16:creationId xmlns:a16="http://schemas.microsoft.com/office/drawing/2014/main" id="{E5C6C101-E2A6-40FD-9BA0-94DAFB4202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1470" y="4574627"/>
            <a:ext cx="2857500" cy="2133600"/>
          </a:xfrm>
          <a:prstGeom prst="rect">
            <a:avLst/>
          </a:prstGeom>
          <a:noFill/>
          <a:extLst>
            <a:ext uri="{909E8E84-426E-40DD-AFC4-6F175D3DCCD1}">
              <a14:hiddenFill xmlns:a14="http://schemas.microsoft.com/office/drawing/2010/main">
                <a:solidFill>
                  <a:srgbClr val="FFFFFF"/>
                </a:solidFill>
              </a14:hiddenFill>
            </a:ext>
          </a:extLst>
        </p:spPr>
      </p:pic>
      <p:sp>
        <p:nvSpPr>
          <p:cNvPr id="37" name="Oval 25">
            <a:extLst>
              <a:ext uri="{FF2B5EF4-FFF2-40B4-BE49-F238E27FC236}">
                <a16:creationId xmlns:a16="http://schemas.microsoft.com/office/drawing/2014/main" id="{8A4E68F3-13B6-46C0-B639-D1661FF82E22}"/>
              </a:ext>
            </a:extLst>
          </p:cNvPr>
          <p:cNvSpPr>
            <a:spLocks noChangeArrowheads="1"/>
          </p:cNvSpPr>
          <p:nvPr/>
        </p:nvSpPr>
        <p:spPr bwMode="auto">
          <a:xfrm>
            <a:off x="2170115" y="1912280"/>
            <a:ext cx="1269206" cy="1283652"/>
          </a:xfrm>
          <a:prstGeom prst="ellipse">
            <a:avLst/>
          </a:prstGeom>
          <a:gradFill rotWithShape="0">
            <a:gsLst>
              <a:gs pos="0">
                <a:srgbClr val="FF9933"/>
              </a:gs>
              <a:gs pos="100000">
                <a:srgbClr val="FF9933">
                  <a:gamma/>
                  <a:shade val="69804"/>
                  <a:invGamma/>
                </a:srgbClr>
              </a:gs>
            </a:gsLst>
            <a:path path="shape">
              <a:fillToRect l="50000" t="50000" r="50000" b="50000"/>
            </a:path>
          </a:gradFill>
          <a:ln>
            <a:noFill/>
          </a:ln>
          <a:effectLst/>
          <a:extLst>
            <a:ext uri="{91240B29-F687-4F45-9708-019B960494DF}">
              <a14:hiddenLine xmlns:a14="http://schemas.microsoft.com/office/drawing/2010/main" w="38100">
                <a:solidFill>
                  <a:srgbClr val="9966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38" name="Group 90">
            <a:extLst>
              <a:ext uri="{FF2B5EF4-FFF2-40B4-BE49-F238E27FC236}">
                <a16:creationId xmlns:a16="http://schemas.microsoft.com/office/drawing/2014/main" id="{C7EB6E66-F90A-42CF-91C5-000B5A735DBD}"/>
              </a:ext>
            </a:extLst>
          </p:cNvPr>
          <p:cNvGrpSpPr>
            <a:grpSpLocks/>
          </p:cNvGrpSpPr>
          <p:nvPr/>
        </p:nvGrpSpPr>
        <p:grpSpPr bwMode="auto">
          <a:xfrm>
            <a:off x="1145760" y="1571760"/>
            <a:ext cx="3564870" cy="2040856"/>
            <a:chOff x="623" y="714"/>
            <a:chExt cx="1859" cy="1017"/>
          </a:xfrm>
        </p:grpSpPr>
        <p:sp>
          <p:nvSpPr>
            <p:cNvPr id="39" name="Line 5">
              <a:extLst>
                <a:ext uri="{FF2B5EF4-FFF2-40B4-BE49-F238E27FC236}">
                  <a16:creationId xmlns:a16="http://schemas.microsoft.com/office/drawing/2014/main" id="{021DC4AA-C1CB-4EAB-9DEF-90D538DD54E5}"/>
                </a:ext>
              </a:extLst>
            </p:cNvPr>
            <p:cNvSpPr>
              <a:spLocks noChangeShapeType="1"/>
            </p:cNvSpPr>
            <p:nvPr/>
          </p:nvSpPr>
          <p:spPr bwMode="auto">
            <a:xfrm>
              <a:off x="623" y="714"/>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40" name="Line 6">
              <a:extLst>
                <a:ext uri="{FF2B5EF4-FFF2-40B4-BE49-F238E27FC236}">
                  <a16:creationId xmlns:a16="http://schemas.microsoft.com/office/drawing/2014/main" id="{0DF0754A-7087-42A2-AF19-A6EA3564AAEC}"/>
                </a:ext>
              </a:extLst>
            </p:cNvPr>
            <p:cNvSpPr>
              <a:spLocks noChangeShapeType="1"/>
            </p:cNvSpPr>
            <p:nvPr/>
          </p:nvSpPr>
          <p:spPr bwMode="auto">
            <a:xfrm>
              <a:off x="623" y="859"/>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41" name="Line 7">
              <a:extLst>
                <a:ext uri="{FF2B5EF4-FFF2-40B4-BE49-F238E27FC236}">
                  <a16:creationId xmlns:a16="http://schemas.microsoft.com/office/drawing/2014/main" id="{FFC954DD-7225-4BE0-8A15-396994222FDE}"/>
                </a:ext>
              </a:extLst>
            </p:cNvPr>
            <p:cNvSpPr>
              <a:spLocks noChangeShapeType="1"/>
            </p:cNvSpPr>
            <p:nvPr/>
          </p:nvSpPr>
          <p:spPr bwMode="auto">
            <a:xfrm>
              <a:off x="632" y="1005"/>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42" name="Line 8">
              <a:extLst>
                <a:ext uri="{FF2B5EF4-FFF2-40B4-BE49-F238E27FC236}">
                  <a16:creationId xmlns:a16="http://schemas.microsoft.com/office/drawing/2014/main" id="{A0BC6B10-A6DA-4050-9AEC-058CC594E9B8}"/>
                </a:ext>
              </a:extLst>
            </p:cNvPr>
            <p:cNvSpPr>
              <a:spLocks noChangeShapeType="1"/>
            </p:cNvSpPr>
            <p:nvPr/>
          </p:nvSpPr>
          <p:spPr bwMode="auto">
            <a:xfrm>
              <a:off x="623" y="1295"/>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43" name="Line 9">
              <a:extLst>
                <a:ext uri="{FF2B5EF4-FFF2-40B4-BE49-F238E27FC236}">
                  <a16:creationId xmlns:a16="http://schemas.microsoft.com/office/drawing/2014/main" id="{F15C0018-5883-48CE-82B3-C69082CC7A26}"/>
                </a:ext>
              </a:extLst>
            </p:cNvPr>
            <p:cNvSpPr>
              <a:spLocks noChangeShapeType="1"/>
            </p:cNvSpPr>
            <p:nvPr/>
          </p:nvSpPr>
          <p:spPr bwMode="auto">
            <a:xfrm>
              <a:off x="623" y="1150"/>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44" name="Line 10">
              <a:extLst>
                <a:ext uri="{FF2B5EF4-FFF2-40B4-BE49-F238E27FC236}">
                  <a16:creationId xmlns:a16="http://schemas.microsoft.com/office/drawing/2014/main" id="{85F9218C-5307-4A12-8209-CCA5BBF24762}"/>
                </a:ext>
              </a:extLst>
            </p:cNvPr>
            <p:cNvSpPr>
              <a:spLocks noChangeShapeType="1"/>
            </p:cNvSpPr>
            <p:nvPr/>
          </p:nvSpPr>
          <p:spPr bwMode="auto">
            <a:xfrm>
              <a:off x="623" y="1440"/>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45" name="Line 11">
              <a:extLst>
                <a:ext uri="{FF2B5EF4-FFF2-40B4-BE49-F238E27FC236}">
                  <a16:creationId xmlns:a16="http://schemas.microsoft.com/office/drawing/2014/main" id="{DB1351E0-2CED-4270-9D92-DAB9BC9D23FD}"/>
                </a:ext>
              </a:extLst>
            </p:cNvPr>
            <p:cNvSpPr>
              <a:spLocks noChangeShapeType="1"/>
            </p:cNvSpPr>
            <p:nvPr/>
          </p:nvSpPr>
          <p:spPr bwMode="auto">
            <a:xfrm>
              <a:off x="623" y="1586"/>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46" name="Line 12">
              <a:extLst>
                <a:ext uri="{FF2B5EF4-FFF2-40B4-BE49-F238E27FC236}">
                  <a16:creationId xmlns:a16="http://schemas.microsoft.com/office/drawing/2014/main" id="{D0453645-5C33-422A-8690-DB6BA8639C2B}"/>
                </a:ext>
              </a:extLst>
            </p:cNvPr>
            <p:cNvSpPr>
              <a:spLocks noChangeShapeType="1"/>
            </p:cNvSpPr>
            <p:nvPr/>
          </p:nvSpPr>
          <p:spPr bwMode="auto">
            <a:xfrm>
              <a:off x="623" y="1731"/>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311592305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2" grpId="0"/>
      <p:bldP spid="4114" grpId="0"/>
      <p:bldP spid="4115" grpId="0"/>
      <p:bldP spid="4116" grpId="0"/>
      <p:bldP spid="9" grpId="0"/>
      <p:bldP spid="3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金属结合的传染媒介例证被标记的金属离子和电子海向量例证. 插画包括有云彩, 不透明, 连接数, 传导- 131758283">
            <a:extLst>
              <a:ext uri="{FF2B5EF4-FFF2-40B4-BE49-F238E27FC236}">
                <a16:creationId xmlns:a16="http://schemas.microsoft.com/office/drawing/2014/main" id="{6718A6FF-B740-12DC-CFB2-6DE4FFBF3648}"/>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43707" r="2199" b="7754"/>
          <a:stretch/>
        </p:blipFill>
        <p:spPr bwMode="auto">
          <a:xfrm>
            <a:off x="2613573" y="2555445"/>
            <a:ext cx="5748201" cy="2910177"/>
          </a:xfrm>
          <a:prstGeom prst="rect">
            <a:avLst/>
          </a:prstGeom>
          <a:noFill/>
          <a:extLst>
            <a:ext uri="{909E8E84-426E-40DD-AFC4-6F175D3DCCD1}">
              <a14:hiddenFill xmlns:a14="http://schemas.microsoft.com/office/drawing/2010/main">
                <a:solidFill>
                  <a:srgbClr val="FFFFFF"/>
                </a:solidFill>
              </a14:hiddenFill>
            </a:ext>
          </a:extLst>
        </p:spPr>
      </p:pic>
      <p:sp>
        <p:nvSpPr>
          <p:cNvPr id="3" name="箭头: 右 2">
            <a:extLst>
              <a:ext uri="{FF2B5EF4-FFF2-40B4-BE49-F238E27FC236}">
                <a16:creationId xmlns:a16="http://schemas.microsoft.com/office/drawing/2014/main" id="{C90AF7D0-53D6-B070-0F3F-716D2204087B}"/>
              </a:ext>
            </a:extLst>
          </p:cNvPr>
          <p:cNvSpPr/>
          <p:nvPr/>
        </p:nvSpPr>
        <p:spPr>
          <a:xfrm>
            <a:off x="4378613" y="1781651"/>
            <a:ext cx="2407920" cy="46332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箭头连接符 4">
            <a:extLst>
              <a:ext uri="{FF2B5EF4-FFF2-40B4-BE49-F238E27FC236}">
                <a16:creationId xmlns:a16="http://schemas.microsoft.com/office/drawing/2014/main" id="{DB225287-75DE-8525-2A4A-A0A33F087076}"/>
              </a:ext>
            </a:extLst>
          </p:cNvPr>
          <p:cNvCxnSpPr/>
          <p:nvPr/>
        </p:nvCxnSpPr>
        <p:spPr>
          <a:xfrm flipH="1">
            <a:off x="4637693" y="3902028"/>
            <a:ext cx="584200"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51982A3D-D84F-FC45-A618-35FBBCC7E4E4}"/>
              </a:ext>
            </a:extLst>
          </p:cNvPr>
          <p:cNvCxnSpPr/>
          <p:nvPr/>
        </p:nvCxnSpPr>
        <p:spPr>
          <a:xfrm flipH="1">
            <a:off x="5950436" y="3887489"/>
            <a:ext cx="584200"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241931F2-4272-3255-1A2E-9D4B65111F9C}"/>
              </a:ext>
            </a:extLst>
          </p:cNvPr>
          <p:cNvCxnSpPr/>
          <p:nvPr/>
        </p:nvCxnSpPr>
        <p:spPr>
          <a:xfrm flipH="1">
            <a:off x="6786533" y="3739468"/>
            <a:ext cx="584200"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552774E6-5A59-7769-BBEA-6B15CEB252B9}"/>
              </a:ext>
            </a:extLst>
          </p:cNvPr>
          <p:cNvCxnSpPr/>
          <p:nvPr/>
        </p:nvCxnSpPr>
        <p:spPr>
          <a:xfrm flipH="1">
            <a:off x="3464213" y="3997395"/>
            <a:ext cx="584200"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B8824A60-62DF-A613-A475-9D3D36F4B3A3}"/>
              </a:ext>
            </a:extLst>
          </p:cNvPr>
          <p:cNvCxnSpPr/>
          <p:nvPr/>
        </p:nvCxnSpPr>
        <p:spPr>
          <a:xfrm flipH="1">
            <a:off x="3911953" y="3751555"/>
            <a:ext cx="584200"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770F3BC5-2241-5242-E17D-E50FADA77940}"/>
              </a:ext>
            </a:extLst>
          </p:cNvPr>
          <p:cNvSpPr/>
          <p:nvPr/>
        </p:nvSpPr>
        <p:spPr>
          <a:xfrm>
            <a:off x="2771932" y="2555445"/>
            <a:ext cx="5589842" cy="286305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292FBD7C-5F61-922C-E29E-6EBFC6D0ABE5}"/>
              </a:ext>
            </a:extLst>
          </p:cNvPr>
          <p:cNvSpPr/>
          <p:nvPr/>
        </p:nvSpPr>
        <p:spPr>
          <a:xfrm>
            <a:off x="822960" y="432021"/>
            <a:ext cx="3094117" cy="584775"/>
          </a:xfrm>
          <a:prstGeom prst="rect">
            <a:avLst/>
          </a:prstGeom>
        </p:spPr>
        <p:txBody>
          <a:bodyPr wrap="none">
            <a:spAutoFit/>
          </a:bodyPr>
          <a:lstStyle/>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zh-CN" altLang="en-US" sz="3200" b="1" i="0" u="none" strike="noStrike" kern="0" cap="none" spc="-50" normalizeH="0" baseline="0" noProof="0" dirty="0">
                <a:ln>
                  <a:noFill/>
                </a:ln>
                <a:solidFill>
                  <a:srgbClr val="0066FF"/>
                </a:solidFill>
                <a:effectLst/>
                <a:uLnTx/>
                <a:uFillTx/>
                <a:latin typeface="华文楷体" panose="02010600040101010101" pitchFamily="2" charset="-122"/>
                <a:ea typeface="华文楷体" panose="02010600040101010101" pitchFamily="2" charset="-122"/>
                <a:cs typeface="Times New Roman" panose="02020603050405020304" pitchFamily="18" charset="0"/>
              </a:rPr>
              <a:t>电场中的导体</a:t>
            </a:r>
            <a:endParaRPr kumimoji="0" lang="en-US" sz="1800" b="0" i="0" u="none" strike="noStrike" kern="0" cap="none" spc="0" normalizeH="0" baseline="0" noProof="0" dirty="0">
              <a:ln>
                <a:noFill/>
              </a:ln>
              <a:solidFill>
                <a:srgbClr val="0066FF"/>
              </a:solidFill>
              <a:effectLst/>
              <a:uLnTx/>
              <a:uFillTx/>
              <a:latin typeface="华文楷体" panose="02010600040101010101" pitchFamily="2" charset="-122"/>
              <a:ea typeface="华文楷体" panose="02010600040101010101" pitchFamily="2" charset="-122"/>
            </a:endParaRPr>
          </a:p>
        </p:txBody>
      </p:sp>
      <p:sp>
        <p:nvSpPr>
          <p:cNvPr id="4" name="文本框 3">
            <a:extLst>
              <a:ext uri="{FF2B5EF4-FFF2-40B4-BE49-F238E27FC236}">
                <a16:creationId xmlns:a16="http://schemas.microsoft.com/office/drawing/2014/main" id="{2353110C-4CB6-4B5D-AA23-E545D3B7D9AF}"/>
              </a:ext>
            </a:extLst>
          </p:cNvPr>
          <p:cNvSpPr txBox="1"/>
          <p:nvPr/>
        </p:nvSpPr>
        <p:spPr>
          <a:xfrm>
            <a:off x="5353183" y="1334030"/>
            <a:ext cx="458780" cy="584775"/>
          </a:xfrm>
          <a:prstGeom prst="rect">
            <a:avLst/>
          </a:prstGeom>
          <a:noFill/>
        </p:spPr>
        <p:txBody>
          <a:bodyPr wrap="none" rtlCol="0">
            <a:spAutoFit/>
          </a:bodyPr>
          <a:lstStyle/>
          <a:p>
            <a:r>
              <a:rPr lang="en-US" altLang="zh-CN" sz="3200" b="1" i="1" dirty="0">
                <a:solidFill>
                  <a:srgbClr val="FF0000"/>
                </a:solidFill>
              </a:rPr>
              <a:t>E</a:t>
            </a:r>
            <a:endParaRPr lang="en-US" sz="3200" b="1" i="1" dirty="0">
              <a:solidFill>
                <a:srgbClr val="FF0000"/>
              </a:solidFill>
            </a:endParaRPr>
          </a:p>
        </p:txBody>
      </p:sp>
    </p:spTree>
    <p:extLst>
      <p:ext uri="{BB962C8B-B14F-4D97-AF65-F5344CB8AC3E}">
        <p14:creationId xmlns:p14="http://schemas.microsoft.com/office/powerpoint/2010/main" val="1169776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pic1.zhimg.com/v2-b0f53f089a7bc5d0a77caec01055dec0_b.webp">
            <a:extLst>
              <a:ext uri="{FF2B5EF4-FFF2-40B4-BE49-F238E27FC236}">
                <a16:creationId xmlns:a16="http://schemas.microsoft.com/office/drawing/2014/main" id="{AE35CCD2-1B4F-4F10-9059-8981AB0CFD5F}"/>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67868" y="1547737"/>
            <a:ext cx="4861489" cy="438487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7">
            <a:extLst>
              <a:ext uri="{FF2B5EF4-FFF2-40B4-BE49-F238E27FC236}">
                <a16:creationId xmlns:a16="http://schemas.microsoft.com/office/drawing/2014/main" id="{BD77F89D-D855-4D90-93BB-4D8FB0C50DEC}"/>
              </a:ext>
            </a:extLst>
          </p:cNvPr>
          <p:cNvSpPr>
            <a:spLocks noChangeArrowheads="1"/>
          </p:cNvSpPr>
          <p:nvPr/>
        </p:nvSpPr>
        <p:spPr bwMode="auto">
          <a:xfrm>
            <a:off x="5958962" y="3392124"/>
            <a:ext cx="5565170" cy="1969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50000"/>
              </a:lnSpc>
              <a:spcBef>
                <a:spcPct val="50000"/>
              </a:spcBef>
            </a:pPr>
            <a:r>
              <a:rPr lang="zh-CN" altLang="en-US" sz="2800" b="1" dirty="0">
                <a:solidFill>
                  <a:srgbClr val="FF0000"/>
                </a:solidFill>
                <a:latin typeface="华文楷体" panose="02010600040101010101" pitchFamily="2" charset="-122"/>
                <a:ea typeface="华文楷体" panose="02010600040101010101" pitchFamily="2" charset="-122"/>
              </a:rPr>
              <a:t>导体内部和表面无自由电荷的定向移动的状态，称为导体处于静电平衡状态</a:t>
            </a:r>
          </a:p>
        </p:txBody>
      </p:sp>
      <p:sp>
        <p:nvSpPr>
          <p:cNvPr id="6" name="内容占位符 7">
            <a:extLst>
              <a:ext uri="{FF2B5EF4-FFF2-40B4-BE49-F238E27FC236}">
                <a16:creationId xmlns:a16="http://schemas.microsoft.com/office/drawing/2014/main" id="{BFF6B104-EAF3-4855-8EF7-3FC257F8B2A6}"/>
              </a:ext>
            </a:extLst>
          </p:cNvPr>
          <p:cNvSpPr txBox="1">
            <a:spLocks/>
          </p:cNvSpPr>
          <p:nvPr/>
        </p:nvSpPr>
        <p:spPr>
          <a:xfrm>
            <a:off x="6096000" y="1225531"/>
            <a:ext cx="5131242" cy="15832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dirty="0">
                <a:latin typeface="华文楷体" panose="02010600040101010101" pitchFamily="2" charset="-122"/>
                <a:ea typeface="华文楷体" panose="02010600040101010101" pitchFamily="2" charset="-122"/>
              </a:rPr>
              <a:t>导体</a:t>
            </a:r>
            <a:r>
              <a:rPr lang="zh-CN" altLang="en-US" dirty="0">
                <a:latin typeface="华文楷体" panose="02010600040101010101" pitchFamily="2" charset="-122"/>
                <a:ea typeface="华文楷体" panose="02010600040101010101" pitchFamily="2" charset="-122"/>
                <a:sym typeface="Monotype Sorts" pitchFamily="2" charset="2"/>
              </a:rPr>
              <a:t>放入电场 </a:t>
            </a:r>
            <a:r>
              <a:rPr lang="zh-CN" altLang="en-US" dirty="0">
                <a:latin typeface="华文楷体" panose="02010600040101010101" pitchFamily="2" charset="-122"/>
                <a:ea typeface="华文楷体" panose="02010600040101010101" pitchFamily="2" charset="-122"/>
                <a:sym typeface="Symbol" panose="05050102010706020507" pitchFamily="18" charset="2"/>
              </a:rPr>
              <a:t> </a:t>
            </a:r>
            <a:r>
              <a:rPr lang="zh-CN" altLang="en-US" dirty="0">
                <a:latin typeface="华文楷体" panose="02010600040101010101" pitchFamily="2" charset="-122"/>
                <a:ea typeface="华文楷体" panose="02010600040101010101" pitchFamily="2" charset="-122"/>
              </a:rPr>
              <a:t>自由电子定向运动 </a:t>
            </a:r>
            <a:r>
              <a:rPr lang="zh-CN" altLang="en-US" dirty="0">
                <a:latin typeface="华文楷体" panose="02010600040101010101" pitchFamily="2" charset="-122"/>
                <a:ea typeface="华文楷体" panose="02010600040101010101" pitchFamily="2" charset="-122"/>
                <a:sym typeface="Symbol" panose="05050102010706020507" pitchFamily="18" charset="2"/>
              </a:rPr>
              <a:t> </a:t>
            </a:r>
            <a:r>
              <a:rPr lang="zh-CN" altLang="en-US" dirty="0">
                <a:latin typeface="华文楷体" panose="02010600040101010101" pitchFamily="2" charset="-122"/>
                <a:ea typeface="华文楷体" panose="02010600040101010101" pitchFamily="2" charset="-122"/>
                <a:sym typeface="Monotype Sorts" pitchFamily="2" charset="2"/>
              </a:rPr>
              <a:t>改变导体电荷分布 </a:t>
            </a:r>
            <a:r>
              <a:rPr lang="zh-CN" altLang="en-US" dirty="0">
                <a:latin typeface="华文楷体" panose="02010600040101010101" pitchFamily="2" charset="-122"/>
                <a:ea typeface="华文楷体" panose="02010600040101010101" pitchFamily="2" charset="-122"/>
                <a:sym typeface="Symbol" panose="05050102010706020507" pitchFamily="18" charset="2"/>
              </a:rPr>
              <a:t> </a:t>
            </a:r>
            <a:r>
              <a:rPr lang="zh-CN" altLang="en-US" dirty="0">
                <a:latin typeface="华文楷体" panose="02010600040101010101" pitchFamily="2" charset="-122"/>
                <a:ea typeface="华文楷体" panose="02010600040101010101" pitchFamily="2" charset="-122"/>
                <a:sym typeface="Monotype Sorts" pitchFamily="2" charset="2"/>
              </a:rPr>
              <a:t>改变电场 </a:t>
            </a:r>
            <a:r>
              <a:rPr lang="zh-CN" altLang="en-US" dirty="0">
                <a:latin typeface="华文楷体" panose="02010600040101010101" pitchFamily="2" charset="-122"/>
                <a:ea typeface="华文楷体" panose="02010600040101010101" pitchFamily="2" charset="-122"/>
                <a:sym typeface="Symbol" panose="05050102010706020507" pitchFamily="18" charset="2"/>
              </a:rPr>
              <a:t></a:t>
            </a:r>
            <a:r>
              <a:rPr lang="zh-CN" altLang="en-US" dirty="0">
                <a:latin typeface="华文楷体" panose="02010600040101010101" pitchFamily="2" charset="-122"/>
                <a:ea typeface="华文楷体" panose="02010600040101010101" pitchFamily="2" charset="-122"/>
                <a:sym typeface="Monotype Sorts" pitchFamily="2" charset="2"/>
              </a:rPr>
              <a:t> </a:t>
            </a:r>
            <a:r>
              <a:rPr lang="en-US" altLang="zh-CN" dirty="0">
                <a:latin typeface="华文楷体" panose="02010600040101010101" pitchFamily="2" charset="-122"/>
                <a:ea typeface="华文楷体" panose="02010600040101010101" pitchFamily="2" charset="-122"/>
                <a:sym typeface="Monotype Sorts" pitchFamily="2" charset="2"/>
              </a:rPr>
              <a:t>···· </a:t>
            </a:r>
            <a:endParaRPr lang="zh-CN" altLang="en-US" dirty="0">
              <a:latin typeface="华文楷体" panose="02010600040101010101" pitchFamily="2" charset="-122"/>
              <a:ea typeface="华文楷体" panose="02010600040101010101" pitchFamily="2" charset="-122"/>
            </a:endParaRPr>
          </a:p>
        </p:txBody>
      </p:sp>
      <p:sp>
        <p:nvSpPr>
          <p:cNvPr id="3" name="矩形 2">
            <a:extLst>
              <a:ext uri="{FF2B5EF4-FFF2-40B4-BE49-F238E27FC236}">
                <a16:creationId xmlns:a16="http://schemas.microsoft.com/office/drawing/2014/main" id="{0D28CA95-6B9C-4F3D-A64B-CD2A7F115446}"/>
              </a:ext>
            </a:extLst>
          </p:cNvPr>
          <p:cNvSpPr/>
          <p:nvPr/>
        </p:nvSpPr>
        <p:spPr>
          <a:xfrm>
            <a:off x="822960" y="432021"/>
            <a:ext cx="3094117" cy="584775"/>
          </a:xfrm>
          <a:prstGeom prst="rect">
            <a:avLst/>
          </a:prstGeom>
        </p:spPr>
        <p:txBody>
          <a:bodyPr wrap="none">
            <a:spAutoFit/>
          </a:bodyPr>
          <a:lstStyle/>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zh-CN" altLang="en-US" sz="3200" b="1" i="0" u="none" strike="noStrike" kern="0" cap="none" spc="-50" normalizeH="0" baseline="0" noProof="0" dirty="0">
                <a:ln>
                  <a:noFill/>
                </a:ln>
                <a:solidFill>
                  <a:srgbClr val="0066FF"/>
                </a:solidFill>
                <a:effectLst/>
                <a:uLnTx/>
                <a:uFillTx/>
                <a:latin typeface="华文楷体" panose="02010600040101010101" pitchFamily="2" charset="-122"/>
                <a:ea typeface="华文楷体" panose="02010600040101010101" pitchFamily="2" charset="-122"/>
                <a:cs typeface="Times New Roman" panose="02020603050405020304" pitchFamily="18" charset="0"/>
              </a:rPr>
              <a:t>导体静电平衡</a:t>
            </a:r>
            <a:endParaRPr kumimoji="0" lang="en-US" sz="1800" b="0" i="0" u="none" strike="noStrike" kern="0" cap="none" spc="0" normalizeH="0" baseline="0" noProof="0" dirty="0">
              <a:ln>
                <a:noFill/>
              </a:ln>
              <a:solidFill>
                <a:srgbClr val="0066FF"/>
              </a:solidFill>
              <a:effectLst/>
              <a:uLnTx/>
              <a:uFillTx/>
              <a:latin typeface="华文楷体" panose="02010600040101010101" pitchFamily="2" charset="-122"/>
              <a:ea typeface="华文楷体" panose="02010600040101010101" pitchFamily="2" charset="-122"/>
            </a:endParaRPr>
          </a:p>
        </p:txBody>
      </p:sp>
      <p:sp>
        <p:nvSpPr>
          <p:cNvPr id="7" name="矩形 6">
            <a:extLst>
              <a:ext uri="{FF2B5EF4-FFF2-40B4-BE49-F238E27FC236}">
                <a16:creationId xmlns:a16="http://schemas.microsoft.com/office/drawing/2014/main" id="{74559AB6-E52C-438E-AC41-00547A5C61DE}"/>
              </a:ext>
            </a:extLst>
          </p:cNvPr>
          <p:cNvSpPr/>
          <p:nvPr/>
        </p:nvSpPr>
        <p:spPr>
          <a:xfrm>
            <a:off x="9209410" y="4833920"/>
            <a:ext cx="2536272" cy="984885"/>
          </a:xfrm>
          <a:prstGeom prst="rect">
            <a:avLst/>
          </a:prstGeom>
        </p:spPr>
        <p:txBody>
          <a:bodyPr wrap="none">
            <a:spAutoFit/>
          </a:bodyPr>
          <a:lstStyle/>
          <a:p>
            <a:r>
              <a:rPr lang="zh-CN" altLang="en-US" sz="3200" b="1" dirty="0">
                <a:latin typeface="华文楷体" panose="02010600040101010101" pitchFamily="2" charset="-122"/>
                <a:ea typeface="华文楷体" panose="02010600040101010101" pitchFamily="2" charset="-122"/>
              </a:rPr>
              <a:t>弛豫时间</a:t>
            </a:r>
            <a:r>
              <a:rPr lang="en-US" altLang="zh-CN" sz="2600" b="1" dirty="0">
                <a:latin typeface="华文楷体" panose="02010600040101010101" pitchFamily="2" charset="-122"/>
                <a:ea typeface="华文楷体" panose="02010600040101010101" pitchFamily="2" charset="-122"/>
              </a:rPr>
              <a:t>~1</a:t>
            </a:r>
            <a:r>
              <a:rPr lang="en-US" sz="2600" b="1" dirty="0">
                <a:latin typeface="华文楷体" panose="02010600040101010101" pitchFamily="2" charset="-122"/>
                <a:ea typeface="华文楷体" panose="02010600040101010101" pitchFamily="2" charset="-122"/>
              </a:rPr>
              <a:t>nS</a:t>
            </a:r>
          </a:p>
          <a:p>
            <a:r>
              <a:rPr lang="en-US" sz="2600" b="1" dirty="0">
                <a:latin typeface="华文楷体" panose="02010600040101010101" pitchFamily="2" charset="-122"/>
                <a:ea typeface="华文楷体" panose="02010600040101010101" pitchFamily="2" charset="-122"/>
              </a:rPr>
              <a:t>                    10</a:t>
            </a:r>
            <a:r>
              <a:rPr lang="en-US" sz="2600" b="1" baseline="30000" dirty="0">
                <a:latin typeface="华文楷体" panose="02010600040101010101" pitchFamily="2" charset="-122"/>
                <a:ea typeface="华文楷体" panose="02010600040101010101" pitchFamily="2" charset="-122"/>
              </a:rPr>
              <a:t>-9</a:t>
            </a:r>
            <a:r>
              <a:rPr lang="en-US" sz="2600" b="1" dirty="0">
                <a:latin typeface="华文楷体" panose="02010600040101010101" pitchFamily="2" charset="-122"/>
                <a:ea typeface="华文楷体" panose="02010600040101010101" pitchFamily="2" charset="-122"/>
              </a:rPr>
              <a:t>S</a:t>
            </a:r>
          </a:p>
        </p:txBody>
      </p:sp>
      <p:sp>
        <p:nvSpPr>
          <p:cNvPr id="2" name="Rectangle 37">
            <a:extLst>
              <a:ext uri="{FF2B5EF4-FFF2-40B4-BE49-F238E27FC236}">
                <a16:creationId xmlns:a16="http://schemas.microsoft.com/office/drawing/2014/main" id="{2314C11D-059F-638E-2293-F79403830925}"/>
              </a:ext>
            </a:extLst>
          </p:cNvPr>
          <p:cNvSpPr>
            <a:spLocks noChangeArrowheads="1"/>
          </p:cNvSpPr>
          <p:nvPr/>
        </p:nvSpPr>
        <p:spPr bwMode="auto">
          <a:xfrm>
            <a:off x="6516520" y="5632469"/>
            <a:ext cx="556517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50000"/>
              </a:lnSpc>
              <a:spcBef>
                <a:spcPct val="50000"/>
              </a:spcBef>
            </a:pPr>
            <a:r>
              <a:rPr lang="zh-CN" altLang="en-US" sz="2800" b="1" dirty="0">
                <a:solidFill>
                  <a:srgbClr val="FF0000"/>
                </a:solidFill>
                <a:latin typeface="华文楷体" panose="02010600040101010101" pitchFamily="2" charset="-122"/>
                <a:ea typeface="华文楷体" panose="02010600040101010101" pitchFamily="2" charset="-122"/>
              </a:rPr>
              <a:t>电荷受到的电场力为零</a:t>
            </a:r>
          </a:p>
        </p:txBody>
      </p:sp>
    </p:spTree>
    <p:extLst>
      <p:ext uri="{BB962C8B-B14F-4D97-AF65-F5344CB8AC3E}">
        <p14:creationId xmlns:p14="http://schemas.microsoft.com/office/powerpoint/2010/main" val="1343199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101">
            <a:extLst>
              <a:ext uri="{FF2B5EF4-FFF2-40B4-BE49-F238E27FC236}">
                <a16:creationId xmlns:a16="http://schemas.microsoft.com/office/drawing/2014/main" id="{0D699949-17F3-4EB2-8206-66674DDB10F3}"/>
              </a:ext>
            </a:extLst>
          </p:cNvPr>
          <p:cNvGrpSpPr>
            <a:grpSpLocks noChangeAspect="1"/>
          </p:cNvGrpSpPr>
          <p:nvPr/>
        </p:nvGrpSpPr>
        <p:grpSpPr bwMode="auto">
          <a:xfrm>
            <a:off x="-122123" y="3574626"/>
            <a:ext cx="6306820" cy="3176111"/>
            <a:chOff x="2285" y="1912"/>
            <a:chExt cx="3056" cy="1539"/>
          </a:xfrm>
        </p:grpSpPr>
        <p:sp>
          <p:nvSpPr>
            <p:cNvPr id="9" name="Oval 25">
              <a:extLst>
                <a:ext uri="{FF2B5EF4-FFF2-40B4-BE49-F238E27FC236}">
                  <a16:creationId xmlns:a16="http://schemas.microsoft.com/office/drawing/2014/main" id="{0C1797FC-EF21-4FE5-BA19-AA30EAE7CB32}"/>
                </a:ext>
              </a:extLst>
            </p:cNvPr>
            <p:cNvSpPr>
              <a:spLocks noChangeArrowheads="1"/>
            </p:cNvSpPr>
            <p:nvPr/>
          </p:nvSpPr>
          <p:spPr bwMode="auto">
            <a:xfrm>
              <a:off x="3515" y="2380"/>
              <a:ext cx="615" cy="622"/>
            </a:xfrm>
            <a:prstGeom prst="ellipse">
              <a:avLst/>
            </a:prstGeom>
            <a:gradFill rotWithShape="0">
              <a:gsLst>
                <a:gs pos="0">
                  <a:srgbClr val="FF9933"/>
                </a:gs>
                <a:gs pos="100000">
                  <a:srgbClr val="FF9933">
                    <a:gamma/>
                    <a:shade val="69804"/>
                    <a:invGamma/>
                  </a:srgbClr>
                </a:gs>
              </a:gsLst>
              <a:path path="shape">
                <a:fillToRect l="50000" t="50000" r="50000" b="50000"/>
              </a:path>
            </a:gradFill>
            <a:ln>
              <a:noFill/>
            </a:ln>
            <a:effectLst/>
            <a:extLst>
              <a:ext uri="{91240B29-F687-4F45-9708-019B960494DF}">
                <a14:hiddenLine xmlns:a14="http://schemas.microsoft.com/office/drawing/2010/main" w="38100">
                  <a:solidFill>
                    <a:srgbClr val="9966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 name="Arc 26">
              <a:extLst>
                <a:ext uri="{FF2B5EF4-FFF2-40B4-BE49-F238E27FC236}">
                  <a16:creationId xmlns:a16="http://schemas.microsoft.com/office/drawing/2014/main" id="{59F060F0-DA9B-47A7-9EE9-2EC768ED11C1}"/>
                </a:ext>
              </a:extLst>
            </p:cNvPr>
            <p:cNvSpPr>
              <a:spLocks/>
            </p:cNvSpPr>
            <p:nvPr/>
          </p:nvSpPr>
          <p:spPr bwMode="auto">
            <a:xfrm>
              <a:off x="4159" y="2606"/>
              <a:ext cx="654" cy="126"/>
            </a:xfrm>
            <a:custGeom>
              <a:avLst/>
              <a:gdLst>
                <a:gd name="G0" fmla="+- 16132 0 0"/>
                <a:gd name="G1" fmla="+- 21600 0 0"/>
                <a:gd name="G2" fmla="+- 21600 0 0"/>
                <a:gd name="T0" fmla="*/ 0 w 16132"/>
                <a:gd name="T1" fmla="*/ 7236 h 21600"/>
                <a:gd name="T2" fmla="*/ 16114 w 16132"/>
                <a:gd name="T3" fmla="*/ 0 h 21600"/>
                <a:gd name="T4" fmla="*/ 16132 w 16132"/>
                <a:gd name="T5" fmla="*/ 21600 h 21600"/>
              </a:gdLst>
              <a:ahLst/>
              <a:cxnLst>
                <a:cxn ang="0">
                  <a:pos x="T0" y="T1"/>
                </a:cxn>
                <a:cxn ang="0">
                  <a:pos x="T2" y="T3"/>
                </a:cxn>
                <a:cxn ang="0">
                  <a:pos x="T4" y="T5"/>
                </a:cxn>
              </a:cxnLst>
              <a:rect l="0" t="0" r="r" b="b"/>
              <a:pathLst>
                <a:path w="16132" h="21600" fill="none" extrusionOk="0">
                  <a:moveTo>
                    <a:pt x="0" y="7236"/>
                  </a:moveTo>
                  <a:cubicBezTo>
                    <a:pt x="4094" y="2637"/>
                    <a:pt x="9956" y="5"/>
                    <a:pt x="16114" y="0"/>
                  </a:cubicBezTo>
                </a:path>
                <a:path w="16132" h="21600" stroke="0" extrusionOk="0">
                  <a:moveTo>
                    <a:pt x="0" y="7236"/>
                  </a:moveTo>
                  <a:cubicBezTo>
                    <a:pt x="4094" y="2637"/>
                    <a:pt x="9956" y="5"/>
                    <a:pt x="16114" y="0"/>
                  </a:cubicBezTo>
                  <a:lnTo>
                    <a:pt x="16132" y="21600"/>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 name="Arc 27">
              <a:extLst>
                <a:ext uri="{FF2B5EF4-FFF2-40B4-BE49-F238E27FC236}">
                  <a16:creationId xmlns:a16="http://schemas.microsoft.com/office/drawing/2014/main" id="{437801C8-2DE5-4713-8227-E609E9520454}"/>
                </a:ext>
              </a:extLst>
            </p:cNvPr>
            <p:cNvSpPr>
              <a:spLocks/>
            </p:cNvSpPr>
            <p:nvPr/>
          </p:nvSpPr>
          <p:spPr bwMode="auto">
            <a:xfrm>
              <a:off x="4147" y="2497"/>
              <a:ext cx="1194" cy="199"/>
            </a:xfrm>
            <a:custGeom>
              <a:avLst/>
              <a:gdLst>
                <a:gd name="G0" fmla="+- 18290 0 0"/>
                <a:gd name="G1" fmla="+- 19887 0 0"/>
                <a:gd name="G2" fmla="+- 21600 0 0"/>
                <a:gd name="T0" fmla="*/ 0 w 18290"/>
                <a:gd name="T1" fmla="*/ 8396 h 19887"/>
                <a:gd name="T2" fmla="*/ 9859 w 18290"/>
                <a:gd name="T3" fmla="*/ 0 h 19887"/>
                <a:gd name="T4" fmla="*/ 18290 w 18290"/>
                <a:gd name="T5" fmla="*/ 19887 h 19887"/>
              </a:gdLst>
              <a:ahLst/>
              <a:cxnLst>
                <a:cxn ang="0">
                  <a:pos x="T0" y="T1"/>
                </a:cxn>
                <a:cxn ang="0">
                  <a:pos x="T2" y="T3"/>
                </a:cxn>
                <a:cxn ang="0">
                  <a:pos x="T4" y="T5"/>
                </a:cxn>
              </a:cxnLst>
              <a:rect l="0" t="0" r="r" b="b"/>
              <a:pathLst>
                <a:path w="18290" h="19887" fill="none" extrusionOk="0">
                  <a:moveTo>
                    <a:pt x="0" y="8396"/>
                  </a:moveTo>
                  <a:cubicBezTo>
                    <a:pt x="2350" y="4655"/>
                    <a:pt x="5791" y="1724"/>
                    <a:pt x="9859" y="0"/>
                  </a:cubicBezTo>
                </a:path>
                <a:path w="18290" h="19887" stroke="0" extrusionOk="0">
                  <a:moveTo>
                    <a:pt x="0" y="8396"/>
                  </a:moveTo>
                  <a:cubicBezTo>
                    <a:pt x="2350" y="4655"/>
                    <a:pt x="5791" y="1724"/>
                    <a:pt x="9859" y="0"/>
                  </a:cubicBezTo>
                  <a:lnTo>
                    <a:pt x="18290" y="19887"/>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 name="Arc 28">
              <a:extLst>
                <a:ext uri="{FF2B5EF4-FFF2-40B4-BE49-F238E27FC236}">
                  <a16:creationId xmlns:a16="http://schemas.microsoft.com/office/drawing/2014/main" id="{3C0228F5-04A0-466E-89E0-FC03A0450BE4}"/>
                </a:ext>
              </a:extLst>
            </p:cNvPr>
            <p:cNvSpPr>
              <a:spLocks/>
            </p:cNvSpPr>
            <p:nvPr/>
          </p:nvSpPr>
          <p:spPr bwMode="auto">
            <a:xfrm>
              <a:off x="4116" y="2349"/>
              <a:ext cx="1143" cy="289"/>
            </a:xfrm>
            <a:custGeom>
              <a:avLst/>
              <a:gdLst>
                <a:gd name="G0" fmla="+- 20534 0 0"/>
                <a:gd name="G1" fmla="+- 19797 0 0"/>
                <a:gd name="G2" fmla="+- 21600 0 0"/>
                <a:gd name="T0" fmla="*/ 0 w 20534"/>
                <a:gd name="T1" fmla="*/ 13096 h 19797"/>
                <a:gd name="T2" fmla="*/ 11895 w 20534"/>
                <a:gd name="T3" fmla="*/ 0 h 19797"/>
                <a:gd name="T4" fmla="*/ 20534 w 20534"/>
                <a:gd name="T5" fmla="*/ 19797 h 19797"/>
              </a:gdLst>
              <a:ahLst/>
              <a:cxnLst>
                <a:cxn ang="0">
                  <a:pos x="T0" y="T1"/>
                </a:cxn>
                <a:cxn ang="0">
                  <a:pos x="T2" y="T3"/>
                </a:cxn>
                <a:cxn ang="0">
                  <a:pos x="T4" y="T5"/>
                </a:cxn>
              </a:cxnLst>
              <a:rect l="0" t="0" r="r" b="b"/>
              <a:pathLst>
                <a:path w="20534" h="19797" fill="none" extrusionOk="0">
                  <a:moveTo>
                    <a:pt x="-1" y="13095"/>
                  </a:moveTo>
                  <a:cubicBezTo>
                    <a:pt x="1913" y="7232"/>
                    <a:pt x="6241" y="2466"/>
                    <a:pt x="11894" y="-1"/>
                  </a:cubicBezTo>
                </a:path>
                <a:path w="20534" h="19797" stroke="0" extrusionOk="0">
                  <a:moveTo>
                    <a:pt x="-1" y="13095"/>
                  </a:moveTo>
                  <a:cubicBezTo>
                    <a:pt x="1913" y="7232"/>
                    <a:pt x="6241" y="2466"/>
                    <a:pt x="11894" y="-1"/>
                  </a:cubicBezTo>
                  <a:lnTo>
                    <a:pt x="20534" y="19797"/>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 name="Arc 29">
              <a:extLst>
                <a:ext uri="{FF2B5EF4-FFF2-40B4-BE49-F238E27FC236}">
                  <a16:creationId xmlns:a16="http://schemas.microsoft.com/office/drawing/2014/main" id="{6F6805B3-C37E-404C-942C-115266F46104}"/>
                </a:ext>
              </a:extLst>
            </p:cNvPr>
            <p:cNvSpPr>
              <a:spLocks/>
            </p:cNvSpPr>
            <p:nvPr/>
          </p:nvSpPr>
          <p:spPr bwMode="auto">
            <a:xfrm>
              <a:off x="4071" y="2220"/>
              <a:ext cx="1120" cy="323"/>
            </a:xfrm>
            <a:custGeom>
              <a:avLst/>
              <a:gdLst>
                <a:gd name="G0" fmla="+- 21332 0 0"/>
                <a:gd name="G1" fmla="+- 20206 0 0"/>
                <a:gd name="G2" fmla="+- 21600 0 0"/>
                <a:gd name="T0" fmla="*/ 0 w 21332"/>
                <a:gd name="T1" fmla="*/ 16812 h 20206"/>
                <a:gd name="T2" fmla="*/ 13697 w 21332"/>
                <a:gd name="T3" fmla="*/ 0 h 20206"/>
                <a:gd name="T4" fmla="*/ 21332 w 21332"/>
                <a:gd name="T5" fmla="*/ 20206 h 20206"/>
              </a:gdLst>
              <a:ahLst/>
              <a:cxnLst>
                <a:cxn ang="0">
                  <a:pos x="T0" y="T1"/>
                </a:cxn>
                <a:cxn ang="0">
                  <a:pos x="T2" y="T3"/>
                </a:cxn>
                <a:cxn ang="0">
                  <a:pos x="T4" y="T5"/>
                </a:cxn>
              </a:cxnLst>
              <a:rect l="0" t="0" r="r" b="b"/>
              <a:pathLst>
                <a:path w="21332" h="20206" fill="none" extrusionOk="0">
                  <a:moveTo>
                    <a:pt x="0" y="16812"/>
                  </a:moveTo>
                  <a:cubicBezTo>
                    <a:pt x="1218" y="9156"/>
                    <a:pt x="6445" y="2740"/>
                    <a:pt x="13697" y="0"/>
                  </a:cubicBezTo>
                </a:path>
                <a:path w="21332" h="20206" stroke="0" extrusionOk="0">
                  <a:moveTo>
                    <a:pt x="0" y="16812"/>
                  </a:moveTo>
                  <a:cubicBezTo>
                    <a:pt x="1218" y="9156"/>
                    <a:pt x="6445" y="2740"/>
                    <a:pt x="13697" y="0"/>
                  </a:cubicBezTo>
                  <a:lnTo>
                    <a:pt x="21332" y="20206"/>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4" name="Arc 30">
              <a:extLst>
                <a:ext uri="{FF2B5EF4-FFF2-40B4-BE49-F238E27FC236}">
                  <a16:creationId xmlns:a16="http://schemas.microsoft.com/office/drawing/2014/main" id="{8647AC3F-CE33-43B8-AD41-7D17BA889282}"/>
                </a:ext>
              </a:extLst>
            </p:cNvPr>
            <p:cNvSpPr>
              <a:spLocks/>
            </p:cNvSpPr>
            <p:nvPr/>
          </p:nvSpPr>
          <p:spPr bwMode="auto">
            <a:xfrm>
              <a:off x="4004" y="2058"/>
              <a:ext cx="1152" cy="508"/>
            </a:xfrm>
            <a:custGeom>
              <a:avLst/>
              <a:gdLst>
                <a:gd name="G0" fmla="+- 20686 0 0"/>
                <a:gd name="G1" fmla="+- 20520 0 0"/>
                <a:gd name="G2" fmla="+- 21600 0 0"/>
                <a:gd name="T0" fmla="*/ 0 w 20686"/>
                <a:gd name="T1" fmla="*/ 14304 h 20520"/>
                <a:gd name="T2" fmla="*/ 13943 w 20686"/>
                <a:gd name="T3" fmla="*/ 0 h 20520"/>
                <a:gd name="T4" fmla="*/ 20686 w 20686"/>
                <a:gd name="T5" fmla="*/ 20520 h 20520"/>
              </a:gdLst>
              <a:ahLst/>
              <a:cxnLst>
                <a:cxn ang="0">
                  <a:pos x="T0" y="T1"/>
                </a:cxn>
                <a:cxn ang="0">
                  <a:pos x="T2" y="T3"/>
                </a:cxn>
                <a:cxn ang="0">
                  <a:pos x="T4" y="T5"/>
                </a:cxn>
              </a:cxnLst>
              <a:rect l="0" t="0" r="r" b="b"/>
              <a:pathLst>
                <a:path w="20686" h="20520" fill="none" extrusionOk="0">
                  <a:moveTo>
                    <a:pt x="-1" y="14303"/>
                  </a:moveTo>
                  <a:cubicBezTo>
                    <a:pt x="2031" y="7544"/>
                    <a:pt x="7237" y="2203"/>
                    <a:pt x="13942" y="-1"/>
                  </a:cubicBezTo>
                </a:path>
                <a:path w="20686" h="20520" stroke="0" extrusionOk="0">
                  <a:moveTo>
                    <a:pt x="-1" y="14303"/>
                  </a:moveTo>
                  <a:cubicBezTo>
                    <a:pt x="2031" y="7544"/>
                    <a:pt x="7237" y="2203"/>
                    <a:pt x="13942" y="-1"/>
                  </a:cubicBezTo>
                  <a:lnTo>
                    <a:pt x="20686" y="20520"/>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5" name="Arc 31">
              <a:extLst>
                <a:ext uri="{FF2B5EF4-FFF2-40B4-BE49-F238E27FC236}">
                  <a16:creationId xmlns:a16="http://schemas.microsoft.com/office/drawing/2014/main" id="{7062210F-843C-48A3-9107-98F51E1F30D7}"/>
                </a:ext>
              </a:extLst>
            </p:cNvPr>
            <p:cNvSpPr>
              <a:spLocks/>
            </p:cNvSpPr>
            <p:nvPr/>
          </p:nvSpPr>
          <p:spPr bwMode="auto">
            <a:xfrm rot="120000">
              <a:off x="4065" y="1912"/>
              <a:ext cx="1053" cy="447"/>
            </a:xfrm>
            <a:custGeom>
              <a:avLst/>
              <a:gdLst>
                <a:gd name="G0" fmla="+- 20684 0 0"/>
                <a:gd name="G1" fmla="+- 20432 0 0"/>
                <a:gd name="G2" fmla="+- 21600 0 0"/>
                <a:gd name="T0" fmla="*/ 0 w 20684"/>
                <a:gd name="T1" fmla="*/ 14207 h 20432"/>
                <a:gd name="T2" fmla="*/ 13677 w 20684"/>
                <a:gd name="T3" fmla="*/ 0 h 20432"/>
                <a:gd name="T4" fmla="*/ 20684 w 20684"/>
                <a:gd name="T5" fmla="*/ 20432 h 20432"/>
              </a:gdLst>
              <a:ahLst/>
              <a:cxnLst>
                <a:cxn ang="0">
                  <a:pos x="T0" y="T1"/>
                </a:cxn>
                <a:cxn ang="0">
                  <a:pos x="T2" y="T3"/>
                </a:cxn>
                <a:cxn ang="0">
                  <a:pos x="T4" y="T5"/>
                </a:cxn>
              </a:cxnLst>
              <a:rect l="0" t="0" r="r" b="b"/>
              <a:pathLst>
                <a:path w="20684" h="20432" fill="none" extrusionOk="0">
                  <a:moveTo>
                    <a:pt x="0" y="14207"/>
                  </a:moveTo>
                  <a:cubicBezTo>
                    <a:pt x="2005" y="7545"/>
                    <a:pt x="7096" y="2256"/>
                    <a:pt x="13677" y="0"/>
                  </a:cubicBezTo>
                </a:path>
                <a:path w="20684" h="20432" stroke="0" extrusionOk="0">
                  <a:moveTo>
                    <a:pt x="0" y="14207"/>
                  </a:moveTo>
                  <a:cubicBezTo>
                    <a:pt x="2005" y="7545"/>
                    <a:pt x="7096" y="2256"/>
                    <a:pt x="13677" y="0"/>
                  </a:cubicBezTo>
                  <a:lnTo>
                    <a:pt x="20684" y="20432"/>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 name="Arc 32">
              <a:extLst>
                <a:ext uri="{FF2B5EF4-FFF2-40B4-BE49-F238E27FC236}">
                  <a16:creationId xmlns:a16="http://schemas.microsoft.com/office/drawing/2014/main" id="{0A1E3F90-737A-4225-9333-2933E0D6A4A5}"/>
                </a:ext>
              </a:extLst>
            </p:cNvPr>
            <p:cNvSpPr>
              <a:spLocks/>
            </p:cNvSpPr>
            <p:nvPr/>
          </p:nvSpPr>
          <p:spPr bwMode="auto">
            <a:xfrm>
              <a:off x="3850" y="2102"/>
              <a:ext cx="206" cy="189"/>
            </a:xfrm>
            <a:custGeom>
              <a:avLst/>
              <a:gdLst>
                <a:gd name="G0" fmla="+- 0 0 0"/>
                <a:gd name="G1" fmla="+- 0 0 0"/>
                <a:gd name="G2" fmla="+- 21600 0 0"/>
                <a:gd name="T0" fmla="*/ 17797 w 17797"/>
                <a:gd name="T1" fmla="*/ 12241 h 21600"/>
                <a:gd name="T2" fmla="*/ 0 w 17797"/>
                <a:gd name="T3" fmla="*/ 21600 h 21600"/>
                <a:gd name="T4" fmla="*/ 0 w 17797"/>
                <a:gd name="T5" fmla="*/ 0 h 21600"/>
              </a:gdLst>
              <a:ahLst/>
              <a:cxnLst>
                <a:cxn ang="0">
                  <a:pos x="T0" y="T1"/>
                </a:cxn>
                <a:cxn ang="0">
                  <a:pos x="T2" y="T3"/>
                </a:cxn>
                <a:cxn ang="0">
                  <a:pos x="T4" y="T5"/>
                </a:cxn>
              </a:cxnLst>
              <a:rect l="0" t="0" r="r" b="b"/>
              <a:pathLst>
                <a:path w="17797" h="21600" fill="none" extrusionOk="0">
                  <a:moveTo>
                    <a:pt x="17796" y="12240"/>
                  </a:moveTo>
                  <a:cubicBezTo>
                    <a:pt x="13766" y="18099"/>
                    <a:pt x="7111" y="21600"/>
                    <a:pt x="0" y="21600"/>
                  </a:cubicBezTo>
                </a:path>
                <a:path w="17797" h="21600" stroke="0" extrusionOk="0">
                  <a:moveTo>
                    <a:pt x="17796" y="12240"/>
                  </a:moveTo>
                  <a:cubicBezTo>
                    <a:pt x="13766" y="18099"/>
                    <a:pt x="7111" y="21600"/>
                    <a:pt x="0" y="21600"/>
                  </a:cubicBezTo>
                  <a:lnTo>
                    <a:pt x="0" y="0"/>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 name="Arc 33">
              <a:extLst>
                <a:ext uri="{FF2B5EF4-FFF2-40B4-BE49-F238E27FC236}">
                  <a16:creationId xmlns:a16="http://schemas.microsoft.com/office/drawing/2014/main" id="{0AD61B72-ACE4-4F3F-9158-5718D75260C9}"/>
                </a:ext>
              </a:extLst>
            </p:cNvPr>
            <p:cNvSpPr>
              <a:spLocks/>
            </p:cNvSpPr>
            <p:nvPr/>
          </p:nvSpPr>
          <p:spPr bwMode="auto">
            <a:xfrm rot="10920000">
              <a:off x="4151" y="2709"/>
              <a:ext cx="1070" cy="111"/>
            </a:xfrm>
            <a:custGeom>
              <a:avLst/>
              <a:gdLst>
                <a:gd name="G0" fmla="+- 0 0 0"/>
                <a:gd name="G1" fmla="+- 20458 0 0"/>
                <a:gd name="G2" fmla="+- 21600 0 0"/>
                <a:gd name="T0" fmla="*/ 6931 w 17792"/>
                <a:gd name="T1" fmla="*/ 0 h 20458"/>
                <a:gd name="T2" fmla="*/ 17792 w 17792"/>
                <a:gd name="T3" fmla="*/ 8211 h 20458"/>
                <a:gd name="T4" fmla="*/ 0 w 17792"/>
                <a:gd name="T5" fmla="*/ 20458 h 20458"/>
              </a:gdLst>
              <a:ahLst/>
              <a:cxnLst>
                <a:cxn ang="0">
                  <a:pos x="T0" y="T1"/>
                </a:cxn>
                <a:cxn ang="0">
                  <a:pos x="T2" y="T3"/>
                </a:cxn>
                <a:cxn ang="0">
                  <a:pos x="T4" y="T5"/>
                </a:cxn>
              </a:cxnLst>
              <a:rect l="0" t="0" r="r" b="b"/>
              <a:pathLst>
                <a:path w="17792" h="20458" fill="none" extrusionOk="0">
                  <a:moveTo>
                    <a:pt x="6930" y="0"/>
                  </a:moveTo>
                  <a:cubicBezTo>
                    <a:pt x="11341" y="1494"/>
                    <a:pt x="15151" y="4374"/>
                    <a:pt x="17792" y="8210"/>
                  </a:cubicBezTo>
                </a:path>
                <a:path w="17792" h="20458" stroke="0" extrusionOk="0">
                  <a:moveTo>
                    <a:pt x="6930" y="0"/>
                  </a:moveTo>
                  <a:cubicBezTo>
                    <a:pt x="11341" y="1494"/>
                    <a:pt x="15151" y="4374"/>
                    <a:pt x="17792" y="8210"/>
                  </a:cubicBezTo>
                  <a:lnTo>
                    <a:pt x="0" y="20458"/>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 name="Arc 34">
              <a:extLst>
                <a:ext uri="{FF2B5EF4-FFF2-40B4-BE49-F238E27FC236}">
                  <a16:creationId xmlns:a16="http://schemas.microsoft.com/office/drawing/2014/main" id="{EE1F76A5-1AD9-441A-9BC0-6AD02F291579}"/>
                </a:ext>
              </a:extLst>
            </p:cNvPr>
            <p:cNvSpPr>
              <a:spLocks/>
            </p:cNvSpPr>
            <p:nvPr/>
          </p:nvSpPr>
          <p:spPr bwMode="auto">
            <a:xfrm rot="11040000">
              <a:off x="4128" y="2732"/>
              <a:ext cx="1164" cy="205"/>
            </a:xfrm>
            <a:custGeom>
              <a:avLst/>
              <a:gdLst>
                <a:gd name="G0" fmla="+- 0 0 0"/>
                <a:gd name="G1" fmla="+- 20048 0 0"/>
                <a:gd name="G2" fmla="+- 21600 0 0"/>
                <a:gd name="T0" fmla="*/ 8040 w 18286"/>
                <a:gd name="T1" fmla="*/ 0 h 20048"/>
                <a:gd name="T2" fmla="*/ 18286 w 18286"/>
                <a:gd name="T3" fmla="*/ 8552 h 20048"/>
                <a:gd name="T4" fmla="*/ 0 w 18286"/>
                <a:gd name="T5" fmla="*/ 20048 h 20048"/>
              </a:gdLst>
              <a:ahLst/>
              <a:cxnLst>
                <a:cxn ang="0">
                  <a:pos x="T0" y="T1"/>
                </a:cxn>
                <a:cxn ang="0">
                  <a:pos x="T2" y="T3"/>
                </a:cxn>
                <a:cxn ang="0">
                  <a:pos x="T4" y="T5"/>
                </a:cxn>
              </a:cxnLst>
              <a:rect l="0" t="0" r="r" b="b"/>
              <a:pathLst>
                <a:path w="18286" h="20048" fill="none" extrusionOk="0">
                  <a:moveTo>
                    <a:pt x="8039" y="0"/>
                  </a:moveTo>
                  <a:cubicBezTo>
                    <a:pt x="12272" y="1697"/>
                    <a:pt x="15859" y="4690"/>
                    <a:pt x="18286" y="8551"/>
                  </a:cubicBezTo>
                </a:path>
                <a:path w="18286" h="20048" stroke="0" extrusionOk="0">
                  <a:moveTo>
                    <a:pt x="8039" y="0"/>
                  </a:moveTo>
                  <a:cubicBezTo>
                    <a:pt x="12272" y="1697"/>
                    <a:pt x="15859" y="4690"/>
                    <a:pt x="18286" y="8551"/>
                  </a:cubicBezTo>
                  <a:lnTo>
                    <a:pt x="0" y="20048"/>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9" name="Arc 35">
              <a:extLst>
                <a:ext uri="{FF2B5EF4-FFF2-40B4-BE49-F238E27FC236}">
                  <a16:creationId xmlns:a16="http://schemas.microsoft.com/office/drawing/2014/main" id="{70340923-3FF7-4CDF-A69A-ABA17DD67373}"/>
                </a:ext>
              </a:extLst>
            </p:cNvPr>
            <p:cNvSpPr>
              <a:spLocks/>
            </p:cNvSpPr>
            <p:nvPr/>
          </p:nvSpPr>
          <p:spPr bwMode="auto">
            <a:xfrm rot="10800000">
              <a:off x="4090" y="2795"/>
              <a:ext cx="1168" cy="286"/>
            </a:xfrm>
            <a:custGeom>
              <a:avLst/>
              <a:gdLst>
                <a:gd name="G0" fmla="+- 0 0 0"/>
                <a:gd name="G1" fmla="+- 19641 0 0"/>
                <a:gd name="G2" fmla="+- 21600 0 0"/>
                <a:gd name="T0" fmla="*/ 8989 w 21046"/>
                <a:gd name="T1" fmla="*/ 0 h 19641"/>
                <a:gd name="T2" fmla="*/ 21046 w 21046"/>
                <a:gd name="T3" fmla="*/ 14780 h 19641"/>
                <a:gd name="T4" fmla="*/ 0 w 21046"/>
                <a:gd name="T5" fmla="*/ 19641 h 19641"/>
              </a:gdLst>
              <a:ahLst/>
              <a:cxnLst>
                <a:cxn ang="0">
                  <a:pos x="T0" y="T1"/>
                </a:cxn>
                <a:cxn ang="0">
                  <a:pos x="T2" y="T3"/>
                </a:cxn>
                <a:cxn ang="0">
                  <a:pos x="T4" y="T5"/>
                </a:cxn>
              </a:cxnLst>
              <a:rect l="0" t="0" r="r" b="b"/>
              <a:pathLst>
                <a:path w="21046" h="19641" fill="none" extrusionOk="0">
                  <a:moveTo>
                    <a:pt x="8988" y="0"/>
                  </a:moveTo>
                  <a:cubicBezTo>
                    <a:pt x="15083" y="2789"/>
                    <a:pt x="19537" y="8249"/>
                    <a:pt x="21045" y="14780"/>
                  </a:cubicBezTo>
                </a:path>
                <a:path w="21046" h="19641" stroke="0" extrusionOk="0">
                  <a:moveTo>
                    <a:pt x="8988" y="0"/>
                  </a:moveTo>
                  <a:cubicBezTo>
                    <a:pt x="15083" y="2789"/>
                    <a:pt x="19537" y="8249"/>
                    <a:pt x="21045" y="14780"/>
                  </a:cubicBezTo>
                  <a:lnTo>
                    <a:pt x="0" y="19641"/>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0" name="Arc 36">
              <a:extLst>
                <a:ext uri="{FF2B5EF4-FFF2-40B4-BE49-F238E27FC236}">
                  <a16:creationId xmlns:a16="http://schemas.microsoft.com/office/drawing/2014/main" id="{F382400A-34E8-4E31-B250-50A9C8F62CAF}"/>
                </a:ext>
              </a:extLst>
            </p:cNvPr>
            <p:cNvSpPr>
              <a:spLocks/>
            </p:cNvSpPr>
            <p:nvPr/>
          </p:nvSpPr>
          <p:spPr bwMode="auto">
            <a:xfrm rot="10800000">
              <a:off x="4040" y="2859"/>
              <a:ext cx="1150" cy="352"/>
            </a:xfrm>
            <a:custGeom>
              <a:avLst/>
              <a:gdLst>
                <a:gd name="G0" fmla="+- 0 0 0"/>
                <a:gd name="G1" fmla="+- 20002 0 0"/>
                <a:gd name="G2" fmla="+- 21600 0 0"/>
                <a:gd name="T0" fmla="*/ 8154 w 21331"/>
                <a:gd name="T1" fmla="*/ 0 h 20002"/>
                <a:gd name="T2" fmla="*/ 21331 w 21331"/>
                <a:gd name="T3" fmla="*/ 16606 h 20002"/>
                <a:gd name="T4" fmla="*/ 0 w 21331"/>
                <a:gd name="T5" fmla="*/ 20002 h 20002"/>
              </a:gdLst>
              <a:ahLst/>
              <a:cxnLst>
                <a:cxn ang="0">
                  <a:pos x="T0" y="T1"/>
                </a:cxn>
                <a:cxn ang="0">
                  <a:pos x="T2" y="T3"/>
                </a:cxn>
                <a:cxn ang="0">
                  <a:pos x="T4" y="T5"/>
                </a:cxn>
              </a:cxnLst>
              <a:rect l="0" t="0" r="r" b="b"/>
              <a:pathLst>
                <a:path w="21331" h="20002" fill="none" extrusionOk="0">
                  <a:moveTo>
                    <a:pt x="8153" y="0"/>
                  </a:moveTo>
                  <a:cubicBezTo>
                    <a:pt x="15147" y="2851"/>
                    <a:pt x="20143" y="9147"/>
                    <a:pt x="21331" y="16605"/>
                  </a:cubicBezTo>
                </a:path>
                <a:path w="21331" h="20002" stroke="0" extrusionOk="0">
                  <a:moveTo>
                    <a:pt x="8153" y="0"/>
                  </a:moveTo>
                  <a:cubicBezTo>
                    <a:pt x="15147" y="2851"/>
                    <a:pt x="20143" y="9147"/>
                    <a:pt x="21331" y="16605"/>
                  </a:cubicBezTo>
                  <a:lnTo>
                    <a:pt x="0" y="20002"/>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1" name="Arc 37">
              <a:extLst>
                <a:ext uri="{FF2B5EF4-FFF2-40B4-BE49-F238E27FC236}">
                  <a16:creationId xmlns:a16="http://schemas.microsoft.com/office/drawing/2014/main" id="{20E4503E-5285-485A-AD74-53C3C9CFA7A4}"/>
                </a:ext>
              </a:extLst>
            </p:cNvPr>
            <p:cNvSpPr>
              <a:spLocks/>
            </p:cNvSpPr>
            <p:nvPr/>
          </p:nvSpPr>
          <p:spPr bwMode="auto">
            <a:xfrm rot="10800000">
              <a:off x="3986" y="2788"/>
              <a:ext cx="1170" cy="549"/>
            </a:xfrm>
            <a:custGeom>
              <a:avLst/>
              <a:gdLst>
                <a:gd name="G0" fmla="+- 0 0 0"/>
                <a:gd name="G1" fmla="+- 20561 0 0"/>
                <a:gd name="G2" fmla="+- 21600 0 0"/>
                <a:gd name="T0" fmla="*/ 6619 w 20685"/>
                <a:gd name="T1" fmla="*/ 0 h 20561"/>
                <a:gd name="T2" fmla="*/ 20685 w 20685"/>
                <a:gd name="T3" fmla="*/ 14341 h 20561"/>
                <a:gd name="T4" fmla="*/ 0 w 20685"/>
                <a:gd name="T5" fmla="*/ 20561 h 20561"/>
              </a:gdLst>
              <a:ahLst/>
              <a:cxnLst>
                <a:cxn ang="0">
                  <a:pos x="T0" y="T1"/>
                </a:cxn>
                <a:cxn ang="0">
                  <a:pos x="T2" y="T3"/>
                </a:cxn>
                <a:cxn ang="0">
                  <a:pos x="T4" y="T5"/>
                </a:cxn>
              </a:cxnLst>
              <a:rect l="0" t="0" r="r" b="b"/>
              <a:pathLst>
                <a:path w="20685" h="20561" fill="none" extrusionOk="0">
                  <a:moveTo>
                    <a:pt x="6618" y="0"/>
                  </a:moveTo>
                  <a:cubicBezTo>
                    <a:pt x="13380" y="2176"/>
                    <a:pt x="18639" y="7538"/>
                    <a:pt x="20685" y="14340"/>
                  </a:cubicBezTo>
                </a:path>
                <a:path w="20685" h="20561" stroke="0" extrusionOk="0">
                  <a:moveTo>
                    <a:pt x="6618" y="0"/>
                  </a:moveTo>
                  <a:cubicBezTo>
                    <a:pt x="13380" y="2176"/>
                    <a:pt x="18639" y="7538"/>
                    <a:pt x="20685" y="14340"/>
                  </a:cubicBezTo>
                  <a:lnTo>
                    <a:pt x="0" y="20561"/>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2" name="Arc 38">
              <a:extLst>
                <a:ext uri="{FF2B5EF4-FFF2-40B4-BE49-F238E27FC236}">
                  <a16:creationId xmlns:a16="http://schemas.microsoft.com/office/drawing/2014/main" id="{65FD186E-03F7-4A7D-AEC2-A58972682ACA}"/>
                </a:ext>
              </a:extLst>
            </p:cNvPr>
            <p:cNvSpPr>
              <a:spLocks/>
            </p:cNvSpPr>
            <p:nvPr/>
          </p:nvSpPr>
          <p:spPr bwMode="auto">
            <a:xfrm rot="10620000">
              <a:off x="4061" y="3004"/>
              <a:ext cx="1060" cy="447"/>
            </a:xfrm>
            <a:custGeom>
              <a:avLst/>
              <a:gdLst>
                <a:gd name="G0" fmla="+- 0 0 0"/>
                <a:gd name="G1" fmla="+- 20436 0 0"/>
                <a:gd name="G2" fmla="+- 21600 0 0"/>
                <a:gd name="T0" fmla="*/ 6995 w 20810"/>
                <a:gd name="T1" fmla="*/ 0 h 20436"/>
                <a:gd name="T2" fmla="*/ 20810 w 20810"/>
                <a:gd name="T3" fmla="*/ 14647 h 20436"/>
                <a:gd name="T4" fmla="*/ 0 w 20810"/>
                <a:gd name="T5" fmla="*/ 20436 h 20436"/>
              </a:gdLst>
              <a:ahLst/>
              <a:cxnLst>
                <a:cxn ang="0">
                  <a:pos x="T0" y="T1"/>
                </a:cxn>
                <a:cxn ang="0">
                  <a:pos x="T2" y="T3"/>
                </a:cxn>
                <a:cxn ang="0">
                  <a:pos x="T4" y="T5"/>
                </a:cxn>
              </a:cxnLst>
              <a:rect l="0" t="0" r="r" b="b"/>
              <a:pathLst>
                <a:path w="20810" h="20436" fill="none" extrusionOk="0">
                  <a:moveTo>
                    <a:pt x="6994" y="0"/>
                  </a:moveTo>
                  <a:cubicBezTo>
                    <a:pt x="13733" y="2306"/>
                    <a:pt x="18901" y="7785"/>
                    <a:pt x="20809" y="14647"/>
                  </a:cubicBezTo>
                </a:path>
                <a:path w="20810" h="20436" stroke="0" extrusionOk="0">
                  <a:moveTo>
                    <a:pt x="6994" y="0"/>
                  </a:moveTo>
                  <a:cubicBezTo>
                    <a:pt x="13733" y="2306"/>
                    <a:pt x="18901" y="7785"/>
                    <a:pt x="20809" y="14647"/>
                  </a:cubicBezTo>
                  <a:lnTo>
                    <a:pt x="0" y="20436"/>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 name="Arc 39">
              <a:extLst>
                <a:ext uri="{FF2B5EF4-FFF2-40B4-BE49-F238E27FC236}">
                  <a16:creationId xmlns:a16="http://schemas.microsoft.com/office/drawing/2014/main" id="{60E6FD71-CF4F-420E-904A-26D2DC402DEB}"/>
                </a:ext>
              </a:extLst>
            </p:cNvPr>
            <p:cNvSpPr>
              <a:spLocks/>
            </p:cNvSpPr>
            <p:nvPr/>
          </p:nvSpPr>
          <p:spPr bwMode="auto">
            <a:xfrm rot="10800000">
              <a:off x="3850" y="3078"/>
              <a:ext cx="201" cy="94"/>
            </a:xfrm>
            <a:custGeom>
              <a:avLst/>
              <a:gdLst>
                <a:gd name="G0" fmla="+- 20990 0 0"/>
                <a:gd name="G1" fmla="+- 0 0 0"/>
                <a:gd name="G2" fmla="+- 21600 0 0"/>
                <a:gd name="T0" fmla="*/ 20990 w 20990"/>
                <a:gd name="T1" fmla="*/ 21600 h 21600"/>
                <a:gd name="T2" fmla="*/ 0 w 20990"/>
                <a:gd name="T3" fmla="*/ 5098 h 21600"/>
                <a:gd name="T4" fmla="*/ 20990 w 20990"/>
                <a:gd name="T5" fmla="*/ 0 h 21600"/>
              </a:gdLst>
              <a:ahLst/>
              <a:cxnLst>
                <a:cxn ang="0">
                  <a:pos x="T0" y="T1"/>
                </a:cxn>
                <a:cxn ang="0">
                  <a:pos x="T2" y="T3"/>
                </a:cxn>
                <a:cxn ang="0">
                  <a:pos x="T4" y="T5"/>
                </a:cxn>
              </a:cxnLst>
              <a:rect l="0" t="0" r="r" b="b"/>
              <a:pathLst>
                <a:path w="20990" h="21600" fill="none" extrusionOk="0">
                  <a:moveTo>
                    <a:pt x="20990" y="21600"/>
                  </a:moveTo>
                  <a:cubicBezTo>
                    <a:pt x="11024" y="21600"/>
                    <a:pt x="2352" y="14782"/>
                    <a:pt x="0" y="5097"/>
                  </a:cubicBezTo>
                </a:path>
                <a:path w="20990" h="21600" stroke="0" extrusionOk="0">
                  <a:moveTo>
                    <a:pt x="20990" y="21600"/>
                  </a:moveTo>
                  <a:cubicBezTo>
                    <a:pt x="11024" y="21600"/>
                    <a:pt x="2352" y="14782"/>
                    <a:pt x="0" y="5097"/>
                  </a:cubicBezTo>
                  <a:lnTo>
                    <a:pt x="20990" y="0"/>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4" name="Arc 40">
              <a:extLst>
                <a:ext uri="{FF2B5EF4-FFF2-40B4-BE49-F238E27FC236}">
                  <a16:creationId xmlns:a16="http://schemas.microsoft.com/office/drawing/2014/main" id="{1D95FB22-1569-4701-A6A3-22B857C360F1}"/>
                </a:ext>
              </a:extLst>
            </p:cNvPr>
            <p:cNvSpPr>
              <a:spLocks/>
            </p:cNvSpPr>
            <p:nvPr/>
          </p:nvSpPr>
          <p:spPr bwMode="auto">
            <a:xfrm>
              <a:off x="2452" y="2629"/>
              <a:ext cx="1052" cy="103"/>
            </a:xfrm>
            <a:custGeom>
              <a:avLst/>
              <a:gdLst>
                <a:gd name="G0" fmla="+- 0 0 0"/>
                <a:gd name="G1" fmla="+- 17641 0 0"/>
                <a:gd name="G2" fmla="+- 21600 0 0"/>
                <a:gd name="T0" fmla="*/ 12464 w 16125"/>
                <a:gd name="T1" fmla="*/ 0 h 17641"/>
                <a:gd name="T2" fmla="*/ 16125 w 16125"/>
                <a:gd name="T3" fmla="*/ 3269 h 17641"/>
                <a:gd name="T4" fmla="*/ 0 w 16125"/>
                <a:gd name="T5" fmla="*/ 17641 h 17641"/>
              </a:gdLst>
              <a:ahLst/>
              <a:cxnLst>
                <a:cxn ang="0">
                  <a:pos x="T0" y="T1"/>
                </a:cxn>
                <a:cxn ang="0">
                  <a:pos x="T2" y="T3"/>
                </a:cxn>
                <a:cxn ang="0">
                  <a:pos x="T4" y="T5"/>
                </a:cxn>
              </a:cxnLst>
              <a:rect l="0" t="0" r="r" b="b"/>
              <a:pathLst>
                <a:path w="16125" h="17641" fill="none" extrusionOk="0">
                  <a:moveTo>
                    <a:pt x="12464" y="-1"/>
                  </a:moveTo>
                  <a:cubicBezTo>
                    <a:pt x="13804" y="947"/>
                    <a:pt x="15032" y="2043"/>
                    <a:pt x="16124" y="3269"/>
                  </a:cubicBezTo>
                </a:path>
                <a:path w="16125" h="17641" stroke="0" extrusionOk="0">
                  <a:moveTo>
                    <a:pt x="12464" y="-1"/>
                  </a:moveTo>
                  <a:cubicBezTo>
                    <a:pt x="13804" y="947"/>
                    <a:pt x="15032" y="2043"/>
                    <a:pt x="16124" y="3269"/>
                  </a:cubicBezTo>
                  <a:lnTo>
                    <a:pt x="0" y="17641"/>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5" name="Arc 41">
              <a:extLst>
                <a:ext uri="{FF2B5EF4-FFF2-40B4-BE49-F238E27FC236}">
                  <a16:creationId xmlns:a16="http://schemas.microsoft.com/office/drawing/2014/main" id="{52E81508-4127-4DF8-ACD3-693E04B00595}"/>
                </a:ext>
              </a:extLst>
            </p:cNvPr>
            <p:cNvSpPr>
              <a:spLocks/>
            </p:cNvSpPr>
            <p:nvPr/>
          </p:nvSpPr>
          <p:spPr bwMode="auto">
            <a:xfrm>
              <a:off x="2340" y="2541"/>
              <a:ext cx="1172" cy="160"/>
            </a:xfrm>
            <a:custGeom>
              <a:avLst/>
              <a:gdLst>
                <a:gd name="G0" fmla="+- 0 0 0"/>
                <a:gd name="G1" fmla="+- 15669 0 0"/>
                <a:gd name="G2" fmla="+- 21600 0 0"/>
                <a:gd name="T0" fmla="*/ 14868 w 18286"/>
                <a:gd name="T1" fmla="*/ 0 h 15669"/>
                <a:gd name="T2" fmla="*/ 18286 w 18286"/>
                <a:gd name="T3" fmla="*/ 4173 h 15669"/>
                <a:gd name="T4" fmla="*/ 0 w 18286"/>
                <a:gd name="T5" fmla="*/ 15669 h 15669"/>
              </a:gdLst>
              <a:ahLst/>
              <a:cxnLst>
                <a:cxn ang="0">
                  <a:pos x="T0" y="T1"/>
                </a:cxn>
                <a:cxn ang="0">
                  <a:pos x="T2" y="T3"/>
                </a:cxn>
                <a:cxn ang="0">
                  <a:pos x="T4" y="T5"/>
                </a:cxn>
              </a:cxnLst>
              <a:rect l="0" t="0" r="r" b="b"/>
              <a:pathLst>
                <a:path w="18286" h="15669" fill="none" extrusionOk="0">
                  <a:moveTo>
                    <a:pt x="14867" y="0"/>
                  </a:moveTo>
                  <a:cubicBezTo>
                    <a:pt x="16177" y="1242"/>
                    <a:pt x="17325" y="2644"/>
                    <a:pt x="18286" y="4172"/>
                  </a:cubicBezTo>
                </a:path>
                <a:path w="18286" h="15669" stroke="0" extrusionOk="0">
                  <a:moveTo>
                    <a:pt x="14867" y="0"/>
                  </a:moveTo>
                  <a:cubicBezTo>
                    <a:pt x="16177" y="1242"/>
                    <a:pt x="17325" y="2644"/>
                    <a:pt x="18286" y="4172"/>
                  </a:cubicBezTo>
                  <a:lnTo>
                    <a:pt x="0" y="15669"/>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6" name="Arc 42">
              <a:extLst>
                <a:ext uri="{FF2B5EF4-FFF2-40B4-BE49-F238E27FC236}">
                  <a16:creationId xmlns:a16="http://schemas.microsoft.com/office/drawing/2014/main" id="{93D40350-A751-4DC9-9D48-D9BE5F266D37}"/>
                </a:ext>
              </a:extLst>
            </p:cNvPr>
            <p:cNvSpPr>
              <a:spLocks/>
            </p:cNvSpPr>
            <p:nvPr/>
          </p:nvSpPr>
          <p:spPr bwMode="auto">
            <a:xfrm>
              <a:off x="2455" y="2314"/>
              <a:ext cx="1120" cy="229"/>
            </a:xfrm>
            <a:custGeom>
              <a:avLst/>
              <a:gdLst>
                <a:gd name="G0" fmla="+- 0 0 0"/>
                <a:gd name="G1" fmla="+- 14318 0 0"/>
                <a:gd name="G2" fmla="+- 21600 0 0"/>
                <a:gd name="T0" fmla="*/ 16173 w 21331"/>
                <a:gd name="T1" fmla="*/ 0 h 14318"/>
                <a:gd name="T2" fmla="*/ 21331 w 21331"/>
                <a:gd name="T3" fmla="*/ 10922 h 14318"/>
                <a:gd name="T4" fmla="*/ 0 w 21331"/>
                <a:gd name="T5" fmla="*/ 14318 h 14318"/>
              </a:gdLst>
              <a:ahLst/>
              <a:cxnLst>
                <a:cxn ang="0">
                  <a:pos x="T0" y="T1"/>
                </a:cxn>
                <a:cxn ang="0">
                  <a:pos x="T2" y="T3"/>
                </a:cxn>
                <a:cxn ang="0">
                  <a:pos x="T4" y="T5"/>
                </a:cxn>
              </a:cxnLst>
              <a:rect l="0" t="0" r="r" b="b"/>
              <a:pathLst>
                <a:path w="21331" h="14318" fill="none" extrusionOk="0">
                  <a:moveTo>
                    <a:pt x="16172" y="0"/>
                  </a:moveTo>
                  <a:cubicBezTo>
                    <a:pt x="18895" y="3076"/>
                    <a:pt x="20685" y="6864"/>
                    <a:pt x="21331" y="10921"/>
                  </a:cubicBezTo>
                </a:path>
                <a:path w="21331" h="14318" stroke="0" extrusionOk="0">
                  <a:moveTo>
                    <a:pt x="16172" y="0"/>
                  </a:moveTo>
                  <a:cubicBezTo>
                    <a:pt x="18895" y="3076"/>
                    <a:pt x="20685" y="6864"/>
                    <a:pt x="21331" y="10921"/>
                  </a:cubicBezTo>
                  <a:lnTo>
                    <a:pt x="0" y="14318"/>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7" name="Arc 43">
              <a:extLst>
                <a:ext uri="{FF2B5EF4-FFF2-40B4-BE49-F238E27FC236}">
                  <a16:creationId xmlns:a16="http://schemas.microsoft.com/office/drawing/2014/main" id="{847C41C8-ECE5-4B06-9E6C-93096100445C}"/>
                </a:ext>
              </a:extLst>
            </p:cNvPr>
            <p:cNvSpPr>
              <a:spLocks/>
            </p:cNvSpPr>
            <p:nvPr/>
          </p:nvSpPr>
          <p:spPr bwMode="auto">
            <a:xfrm>
              <a:off x="2525" y="2189"/>
              <a:ext cx="1152" cy="386"/>
            </a:xfrm>
            <a:custGeom>
              <a:avLst/>
              <a:gdLst>
                <a:gd name="G0" fmla="+- 0 0 0"/>
                <a:gd name="G1" fmla="+- 15583 0 0"/>
                <a:gd name="G2" fmla="+- 21600 0 0"/>
                <a:gd name="T0" fmla="*/ 14958 w 20685"/>
                <a:gd name="T1" fmla="*/ 0 h 15583"/>
                <a:gd name="T2" fmla="*/ 20685 w 20685"/>
                <a:gd name="T3" fmla="*/ 9363 h 15583"/>
                <a:gd name="T4" fmla="*/ 0 w 20685"/>
                <a:gd name="T5" fmla="*/ 15583 h 15583"/>
              </a:gdLst>
              <a:ahLst/>
              <a:cxnLst>
                <a:cxn ang="0">
                  <a:pos x="T0" y="T1"/>
                </a:cxn>
                <a:cxn ang="0">
                  <a:pos x="T2" y="T3"/>
                </a:cxn>
                <a:cxn ang="0">
                  <a:pos x="T4" y="T5"/>
                </a:cxn>
              </a:cxnLst>
              <a:rect l="0" t="0" r="r" b="b"/>
              <a:pathLst>
                <a:path w="20685" h="15583" fill="none" extrusionOk="0">
                  <a:moveTo>
                    <a:pt x="14957" y="0"/>
                  </a:moveTo>
                  <a:cubicBezTo>
                    <a:pt x="17641" y="2575"/>
                    <a:pt x="19613" y="5800"/>
                    <a:pt x="20685" y="9362"/>
                  </a:cubicBezTo>
                </a:path>
                <a:path w="20685" h="15583" stroke="0" extrusionOk="0">
                  <a:moveTo>
                    <a:pt x="14957" y="0"/>
                  </a:moveTo>
                  <a:cubicBezTo>
                    <a:pt x="17641" y="2575"/>
                    <a:pt x="19613" y="5800"/>
                    <a:pt x="20685" y="9362"/>
                  </a:cubicBezTo>
                  <a:lnTo>
                    <a:pt x="0" y="15583"/>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8" name="Arc 44">
              <a:extLst>
                <a:ext uri="{FF2B5EF4-FFF2-40B4-BE49-F238E27FC236}">
                  <a16:creationId xmlns:a16="http://schemas.microsoft.com/office/drawing/2014/main" id="{90ECC03D-251F-4241-BE68-0DDC8811C256}"/>
                </a:ext>
              </a:extLst>
            </p:cNvPr>
            <p:cNvSpPr>
              <a:spLocks/>
            </p:cNvSpPr>
            <p:nvPr/>
          </p:nvSpPr>
          <p:spPr bwMode="auto">
            <a:xfrm>
              <a:off x="2618" y="1934"/>
              <a:ext cx="1037" cy="452"/>
            </a:xfrm>
            <a:custGeom>
              <a:avLst/>
              <a:gdLst>
                <a:gd name="G0" fmla="+- 0 0 0"/>
                <a:gd name="G1" fmla="+- 20699 0 0"/>
                <a:gd name="G2" fmla="+- 21600 0 0"/>
                <a:gd name="T0" fmla="*/ 6173 w 20375"/>
                <a:gd name="T1" fmla="*/ 0 h 20699"/>
                <a:gd name="T2" fmla="*/ 20375 w 20375"/>
                <a:gd name="T3" fmla="*/ 13529 h 20699"/>
                <a:gd name="T4" fmla="*/ 0 w 20375"/>
                <a:gd name="T5" fmla="*/ 20699 h 20699"/>
              </a:gdLst>
              <a:ahLst/>
              <a:cxnLst>
                <a:cxn ang="0">
                  <a:pos x="T0" y="T1"/>
                </a:cxn>
                <a:cxn ang="0">
                  <a:pos x="T2" y="T3"/>
                </a:cxn>
                <a:cxn ang="0">
                  <a:pos x="T4" y="T5"/>
                </a:cxn>
              </a:cxnLst>
              <a:rect l="0" t="0" r="r" b="b"/>
              <a:pathLst>
                <a:path w="20375" h="20699" fill="none" extrusionOk="0">
                  <a:moveTo>
                    <a:pt x="6173" y="-1"/>
                  </a:moveTo>
                  <a:cubicBezTo>
                    <a:pt x="12799" y="1976"/>
                    <a:pt x="18079" y="7005"/>
                    <a:pt x="20375" y="13528"/>
                  </a:cubicBezTo>
                </a:path>
                <a:path w="20375" h="20699" stroke="0" extrusionOk="0">
                  <a:moveTo>
                    <a:pt x="6173" y="-1"/>
                  </a:moveTo>
                  <a:cubicBezTo>
                    <a:pt x="12799" y="1976"/>
                    <a:pt x="18079" y="7005"/>
                    <a:pt x="20375" y="13528"/>
                  </a:cubicBezTo>
                  <a:lnTo>
                    <a:pt x="0" y="20699"/>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9" name="Arc 45">
              <a:extLst>
                <a:ext uri="{FF2B5EF4-FFF2-40B4-BE49-F238E27FC236}">
                  <a16:creationId xmlns:a16="http://schemas.microsoft.com/office/drawing/2014/main" id="{302C7823-9D16-4EA2-B3BD-CD6AA4D4E712}"/>
                </a:ext>
              </a:extLst>
            </p:cNvPr>
            <p:cNvSpPr>
              <a:spLocks/>
            </p:cNvSpPr>
            <p:nvPr/>
          </p:nvSpPr>
          <p:spPr bwMode="auto">
            <a:xfrm>
              <a:off x="3661" y="2197"/>
              <a:ext cx="189" cy="94"/>
            </a:xfrm>
            <a:custGeom>
              <a:avLst/>
              <a:gdLst>
                <a:gd name="G0" fmla="+- 19775 0 0"/>
                <a:gd name="G1" fmla="+- 0 0 0"/>
                <a:gd name="G2" fmla="+- 21600 0 0"/>
                <a:gd name="T0" fmla="*/ 19775 w 19775"/>
                <a:gd name="T1" fmla="*/ 21600 h 21600"/>
                <a:gd name="T2" fmla="*/ 0 w 19775"/>
                <a:gd name="T3" fmla="*/ 8689 h 21600"/>
                <a:gd name="T4" fmla="*/ 19775 w 19775"/>
                <a:gd name="T5" fmla="*/ 0 h 21600"/>
              </a:gdLst>
              <a:ahLst/>
              <a:cxnLst>
                <a:cxn ang="0">
                  <a:pos x="T0" y="T1"/>
                </a:cxn>
                <a:cxn ang="0">
                  <a:pos x="T2" y="T3"/>
                </a:cxn>
                <a:cxn ang="0">
                  <a:pos x="T4" y="T5"/>
                </a:cxn>
              </a:cxnLst>
              <a:rect l="0" t="0" r="r" b="b"/>
              <a:pathLst>
                <a:path w="19775" h="21600" fill="none" extrusionOk="0">
                  <a:moveTo>
                    <a:pt x="19775" y="21600"/>
                  </a:moveTo>
                  <a:cubicBezTo>
                    <a:pt x="11205" y="21600"/>
                    <a:pt x="3446" y="16534"/>
                    <a:pt x="-1" y="8689"/>
                  </a:cubicBezTo>
                </a:path>
                <a:path w="19775" h="21600" stroke="0" extrusionOk="0">
                  <a:moveTo>
                    <a:pt x="19775" y="21600"/>
                  </a:moveTo>
                  <a:cubicBezTo>
                    <a:pt x="11205" y="21600"/>
                    <a:pt x="3446" y="16534"/>
                    <a:pt x="-1" y="8689"/>
                  </a:cubicBezTo>
                  <a:lnTo>
                    <a:pt x="19775" y="0"/>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0" name="Arc 46">
              <a:extLst>
                <a:ext uri="{FF2B5EF4-FFF2-40B4-BE49-F238E27FC236}">
                  <a16:creationId xmlns:a16="http://schemas.microsoft.com/office/drawing/2014/main" id="{99995364-AAAA-41C7-AC37-19AE99C640CF}"/>
                </a:ext>
              </a:extLst>
            </p:cNvPr>
            <p:cNvSpPr>
              <a:spLocks/>
            </p:cNvSpPr>
            <p:nvPr/>
          </p:nvSpPr>
          <p:spPr bwMode="auto">
            <a:xfrm rot="10620000">
              <a:off x="2374" y="2732"/>
              <a:ext cx="1164" cy="171"/>
            </a:xfrm>
            <a:custGeom>
              <a:avLst/>
              <a:gdLst>
                <a:gd name="G0" fmla="+- 18290 0 0"/>
                <a:gd name="G1" fmla="+- 16695 0 0"/>
                <a:gd name="G2" fmla="+- 21600 0 0"/>
                <a:gd name="T0" fmla="*/ 0 w 18290"/>
                <a:gd name="T1" fmla="*/ 5204 h 16695"/>
                <a:gd name="T2" fmla="*/ 4585 w 18290"/>
                <a:gd name="T3" fmla="*/ 0 h 16695"/>
                <a:gd name="T4" fmla="*/ 18290 w 18290"/>
                <a:gd name="T5" fmla="*/ 16695 h 16695"/>
              </a:gdLst>
              <a:ahLst/>
              <a:cxnLst>
                <a:cxn ang="0">
                  <a:pos x="T0" y="T1"/>
                </a:cxn>
                <a:cxn ang="0">
                  <a:pos x="T2" y="T3"/>
                </a:cxn>
                <a:cxn ang="0">
                  <a:pos x="T4" y="T5"/>
                </a:cxn>
              </a:cxnLst>
              <a:rect l="0" t="0" r="r" b="b"/>
              <a:pathLst>
                <a:path w="18290" h="16695" fill="none" extrusionOk="0">
                  <a:moveTo>
                    <a:pt x="0" y="5204"/>
                  </a:moveTo>
                  <a:cubicBezTo>
                    <a:pt x="1238" y="3233"/>
                    <a:pt x="2786" y="1476"/>
                    <a:pt x="4584" y="-1"/>
                  </a:cubicBezTo>
                </a:path>
                <a:path w="18290" h="16695" stroke="0" extrusionOk="0">
                  <a:moveTo>
                    <a:pt x="0" y="5204"/>
                  </a:moveTo>
                  <a:cubicBezTo>
                    <a:pt x="1238" y="3233"/>
                    <a:pt x="2786" y="1476"/>
                    <a:pt x="4584" y="-1"/>
                  </a:cubicBezTo>
                  <a:lnTo>
                    <a:pt x="18290" y="16695"/>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1" name="Arc 47">
              <a:extLst>
                <a:ext uri="{FF2B5EF4-FFF2-40B4-BE49-F238E27FC236}">
                  <a16:creationId xmlns:a16="http://schemas.microsoft.com/office/drawing/2014/main" id="{55E00C90-5AED-4253-A513-25773B898757}"/>
                </a:ext>
              </a:extLst>
            </p:cNvPr>
            <p:cNvSpPr>
              <a:spLocks/>
            </p:cNvSpPr>
            <p:nvPr/>
          </p:nvSpPr>
          <p:spPr bwMode="auto">
            <a:xfrm rot="10800000">
              <a:off x="2410" y="2762"/>
              <a:ext cx="1157" cy="234"/>
            </a:xfrm>
            <a:custGeom>
              <a:avLst/>
              <a:gdLst>
                <a:gd name="G0" fmla="+- 20534 0 0"/>
                <a:gd name="G1" fmla="+- 15455 0 0"/>
                <a:gd name="G2" fmla="+- 21600 0 0"/>
                <a:gd name="T0" fmla="*/ 0 w 20534"/>
                <a:gd name="T1" fmla="*/ 8754 h 15455"/>
                <a:gd name="T2" fmla="*/ 5444 w 20534"/>
                <a:gd name="T3" fmla="*/ 0 h 15455"/>
                <a:gd name="T4" fmla="*/ 20534 w 20534"/>
                <a:gd name="T5" fmla="*/ 15455 h 15455"/>
              </a:gdLst>
              <a:ahLst/>
              <a:cxnLst>
                <a:cxn ang="0">
                  <a:pos x="T0" y="T1"/>
                </a:cxn>
                <a:cxn ang="0">
                  <a:pos x="T2" y="T3"/>
                </a:cxn>
                <a:cxn ang="0">
                  <a:pos x="T4" y="T5"/>
                </a:cxn>
              </a:cxnLst>
              <a:rect l="0" t="0" r="r" b="b"/>
              <a:pathLst>
                <a:path w="20534" h="15455" fill="none" extrusionOk="0">
                  <a:moveTo>
                    <a:pt x="-1" y="8753"/>
                  </a:moveTo>
                  <a:cubicBezTo>
                    <a:pt x="1081" y="5439"/>
                    <a:pt x="2949" y="2435"/>
                    <a:pt x="5444" y="0"/>
                  </a:cubicBezTo>
                </a:path>
                <a:path w="20534" h="15455" stroke="0" extrusionOk="0">
                  <a:moveTo>
                    <a:pt x="-1" y="8753"/>
                  </a:moveTo>
                  <a:cubicBezTo>
                    <a:pt x="1081" y="5439"/>
                    <a:pt x="2949" y="2435"/>
                    <a:pt x="5444" y="0"/>
                  </a:cubicBezTo>
                  <a:lnTo>
                    <a:pt x="20534" y="15455"/>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 name="Arc 48">
              <a:extLst>
                <a:ext uri="{FF2B5EF4-FFF2-40B4-BE49-F238E27FC236}">
                  <a16:creationId xmlns:a16="http://schemas.microsoft.com/office/drawing/2014/main" id="{C6A3DB8B-C6F1-400E-ACB8-6B19EE01BD50}"/>
                </a:ext>
              </a:extLst>
            </p:cNvPr>
            <p:cNvSpPr>
              <a:spLocks/>
            </p:cNvSpPr>
            <p:nvPr/>
          </p:nvSpPr>
          <p:spPr bwMode="auto">
            <a:xfrm>
              <a:off x="2396" y="2419"/>
              <a:ext cx="1143" cy="219"/>
            </a:xfrm>
            <a:custGeom>
              <a:avLst/>
              <a:gdLst>
                <a:gd name="G0" fmla="+- 0 0 0"/>
                <a:gd name="G1" fmla="+- 15027 0 0"/>
                <a:gd name="G2" fmla="+- 21600 0 0"/>
                <a:gd name="T0" fmla="*/ 15516 w 20533"/>
                <a:gd name="T1" fmla="*/ 0 h 15027"/>
                <a:gd name="T2" fmla="*/ 20533 w 20533"/>
                <a:gd name="T3" fmla="*/ 8322 h 15027"/>
                <a:gd name="T4" fmla="*/ 0 w 20533"/>
                <a:gd name="T5" fmla="*/ 15027 h 15027"/>
              </a:gdLst>
              <a:ahLst/>
              <a:cxnLst>
                <a:cxn ang="0">
                  <a:pos x="T0" y="T1"/>
                </a:cxn>
                <a:cxn ang="0">
                  <a:pos x="T2" y="T3"/>
                </a:cxn>
                <a:cxn ang="0">
                  <a:pos x="T4" y="T5"/>
                </a:cxn>
              </a:cxnLst>
              <a:rect l="0" t="0" r="r" b="b"/>
              <a:pathLst>
                <a:path w="20533" h="15027" fill="none" extrusionOk="0">
                  <a:moveTo>
                    <a:pt x="15516" y="-1"/>
                  </a:moveTo>
                  <a:cubicBezTo>
                    <a:pt x="17798" y="2356"/>
                    <a:pt x="19514" y="5202"/>
                    <a:pt x="20532" y="8322"/>
                  </a:cubicBezTo>
                </a:path>
                <a:path w="20533" h="15027" stroke="0" extrusionOk="0">
                  <a:moveTo>
                    <a:pt x="15516" y="-1"/>
                  </a:moveTo>
                  <a:cubicBezTo>
                    <a:pt x="17798" y="2356"/>
                    <a:pt x="19514" y="5202"/>
                    <a:pt x="20532" y="8322"/>
                  </a:cubicBezTo>
                  <a:lnTo>
                    <a:pt x="0" y="15027"/>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3" name="Arc 49">
              <a:extLst>
                <a:ext uri="{FF2B5EF4-FFF2-40B4-BE49-F238E27FC236}">
                  <a16:creationId xmlns:a16="http://schemas.microsoft.com/office/drawing/2014/main" id="{03012F4D-8A2E-4CD6-8942-5EB0878E1EBF}"/>
                </a:ext>
              </a:extLst>
            </p:cNvPr>
            <p:cNvSpPr>
              <a:spLocks/>
            </p:cNvSpPr>
            <p:nvPr/>
          </p:nvSpPr>
          <p:spPr bwMode="auto">
            <a:xfrm rot="10500000">
              <a:off x="2483" y="2865"/>
              <a:ext cx="1143" cy="217"/>
            </a:xfrm>
            <a:custGeom>
              <a:avLst/>
              <a:gdLst>
                <a:gd name="G0" fmla="+- 20534 0 0"/>
                <a:gd name="G1" fmla="+- 14874 0 0"/>
                <a:gd name="G2" fmla="+- 21600 0 0"/>
                <a:gd name="T0" fmla="*/ 0 w 20534"/>
                <a:gd name="T1" fmla="*/ 8173 h 14874"/>
                <a:gd name="T2" fmla="*/ 4871 w 20534"/>
                <a:gd name="T3" fmla="*/ 0 h 14874"/>
                <a:gd name="T4" fmla="*/ 20534 w 20534"/>
                <a:gd name="T5" fmla="*/ 14874 h 14874"/>
              </a:gdLst>
              <a:ahLst/>
              <a:cxnLst>
                <a:cxn ang="0">
                  <a:pos x="T0" y="T1"/>
                </a:cxn>
                <a:cxn ang="0">
                  <a:pos x="T2" y="T3"/>
                </a:cxn>
                <a:cxn ang="0">
                  <a:pos x="T4" y="T5"/>
                </a:cxn>
              </a:cxnLst>
              <a:rect l="0" t="0" r="r" b="b"/>
              <a:pathLst>
                <a:path w="20534" h="14874" fill="none" extrusionOk="0">
                  <a:moveTo>
                    <a:pt x="-1" y="8172"/>
                  </a:moveTo>
                  <a:cubicBezTo>
                    <a:pt x="995" y="5120"/>
                    <a:pt x="2660" y="2328"/>
                    <a:pt x="4871" y="0"/>
                  </a:cubicBezTo>
                </a:path>
                <a:path w="20534" h="14874" stroke="0" extrusionOk="0">
                  <a:moveTo>
                    <a:pt x="-1" y="8172"/>
                  </a:moveTo>
                  <a:cubicBezTo>
                    <a:pt x="995" y="5120"/>
                    <a:pt x="2660" y="2328"/>
                    <a:pt x="4871" y="0"/>
                  </a:cubicBezTo>
                  <a:lnTo>
                    <a:pt x="20534" y="14874"/>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4" name="Arc 50">
              <a:extLst>
                <a:ext uri="{FF2B5EF4-FFF2-40B4-BE49-F238E27FC236}">
                  <a16:creationId xmlns:a16="http://schemas.microsoft.com/office/drawing/2014/main" id="{394DC45B-8BED-4130-B347-0E334FD56386}"/>
                </a:ext>
              </a:extLst>
            </p:cNvPr>
            <p:cNvSpPr>
              <a:spLocks/>
            </p:cNvSpPr>
            <p:nvPr/>
          </p:nvSpPr>
          <p:spPr bwMode="auto">
            <a:xfrm rot="10800000">
              <a:off x="2547" y="2806"/>
              <a:ext cx="1152" cy="384"/>
            </a:xfrm>
            <a:custGeom>
              <a:avLst/>
              <a:gdLst>
                <a:gd name="G0" fmla="+- 20686 0 0"/>
                <a:gd name="G1" fmla="+- 15474 0 0"/>
                <a:gd name="G2" fmla="+- 21600 0 0"/>
                <a:gd name="T0" fmla="*/ 0 w 20686"/>
                <a:gd name="T1" fmla="*/ 9258 h 15474"/>
                <a:gd name="T2" fmla="*/ 5616 w 20686"/>
                <a:gd name="T3" fmla="*/ 0 h 15474"/>
                <a:gd name="T4" fmla="*/ 20686 w 20686"/>
                <a:gd name="T5" fmla="*/ 15474 h 15474"/>
              </a:gdLst>
              <a:ahLst/>
              <a:cxnLst>
                <a:cxn ang="0">
                  <a:pos x="T0" y="T1"/>
                </a:cxn>
                <a:cxn ang="0">
                  <a:pos x="T2" y="T3"/>
                </a:cxn>
                <a:cxn ang="0">
                  <a:pos x="T4" y="T5"/>
                </a:cxn>
              </a:cxnLst>
              <a:rect l="0" t="0" r="r" b="b"/>
              <a:pathLst>
                <a:path w="20686" h="15474" fill="none" extrusionOk="0">
                  <a:moveTo>
                    <a:pt x="-1" y="9257"/>
                  </a:moveTo>
                  <a:cubicBezTo>
                    <a:pt x="1055" y="5745"/>
                    <a:pt x="2988" y="2558"/>
                    <a:pt x="5615" y="-1"/>
                  </a:cubicBezTo>
                </a:path>
                <a:path w="20686" h="15474" stroke="0" extrusionOk="0">
                  <a:moveTo>
                    <a:pt x="-1" y="9257"/>
                  </a:moveTo>
                  <a:cubicBezTo>
                    <a:pt x="1055" y="5745"/>
                    <a:pt x="2988" y="2558"/>
                    <a:pt x="5615" y="-1"/>
                  </a:cubicBezTo>
                  <a:lnTo>
                    <a:pt x="20686" y="15474"/>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5" name="Arc 51">
              <a:extLst>
                <a:ext uri="{FF2B5EF4-FFF2-40B4-BE49-F238E27FC236}">
                  <a16:creationId xmlns:a16="http://schemas.microsoft.com/office/drawing/2014/main" id="{FA26E44C-F7FD-4AF0-8BBE-24639A66DE0E}"/>
                </a:ext>
              </a:extLst>
            </p:cNvPr>
            <p:cNvSpPr>
              <a:spLocks/>
            </p:cNvSpPr>
            <p:nvPr/>
          </p:nvSpPr>
          <p:spPr bwMode="auto">
            <a:xfrm rot="10560000">
              <a:off x="2654" y="2984"/>
              <a:ext cx="1004" cy="455"/>
            </a:xfrm>
            <a:custGeom>
              <a:avLst/>
              <a:gdLst>
                <a:gd name="G0" fmla="+- 19733 0 0"/>
                <a:gd name="G1" fmla="+- 20806 0 0"/>
                <a:gd name="G2" fmla="+- 21600 0 0"/>
                <a:gd name="T0" fmla="*/ 0 w 19733"/>
                <a:gd name="T1" fmla="*/ 12021 h 20806"/>
                <a:gd name="T2" fmla="*/ 13929 w 19733"/>
                <a:gd name="T3" fmla="*/ 0 h 20806"/>
                <a:gd name="T4" fmla="*/ 19733 w 19733"/>
                <a:gd name="T5" fmla="*/ 20806 h 20806"/>
              </a:gdLst>
              <a:ahLst/>
              <a:cxnLst>
                <a:cxn ang="0">
                  <a:pos x="T0" y="T1"/>
                </a:cxn>
                <a:cxn ang="0">
                  <a:pos x="T2" y="T3"/>
                </a:cxn>
                <a:cxn ang="0">
                  <a:pos x="T4" y="T5"/>
                </a:cxn>
              </a:cxnLst>
              <a:rect l="0" t="0" r="r" b="b"/>
              <a:pathLst>
                <a:path w="19733" h="20806" fill="none" extrusionOk="0">
                  <a:moveTo>
                    <a:pt x="0" y="12021"/>
                  </a:moveTo>
                  <a:cubicBezTo>
                    <a:pt x="2619" y="6138"/>
                    <a:pt x="7726" y="1730"/>
                    <a:pt x="13929" y="0"/>
                  </a:cubicBezTo>
                </a:path>
                <a:path w="19733" h="20806" stroke="0" extrusionOk="0">
                  <a:moveTo>
                    <a:pt x="0" y="12021"/>
                  </a:moveTo>
                  <a:cubicBezTo>
                    <a:pt x="2619" y="6138"/>
                    <a:pt x="7726" y="1730"/>
                    <a:pt x="13929" y="0"/>
                  </a:cubicBezTo>
                  <a:lnTo>
                    <a:pt x="19733" y="20806"/>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6" name="Arc 52">
              <a:extLst>
                <a:ext uri="{FF2B5EF4-FFF2-40B4-BE49-F238E27FC236}">
                  <a16:creationId xmlns:a16="http://schemas.microsoft.com/office/drawing/2014/main" id="{59477246-2DDD-4DEE-B857-6A9EA5D5A3A6}"/>
                </a:ext>
              </a:extLst>
            </p:cNvPr>
            <p:cNvSpPr>
              <a:spLocks/>
            </p:cNvSpPr>
            <p:nvPr/>
          </p:nvSpPr>
          <p:spPr bwMode="auto">
            <a:xfrm>
              <a:off x="3644" y="3079"/>
              <a:ext cx="206" cy="157"/>
            </a:xfrm>
            <a:custGeom>
              <a:avLst/>
              <a:gdLst>
                <a:gd name="G0" fmla="+- 18783 0 0"/>
                <a:gd name="G1" fmla="+- 21600 0 0"/>
                <a:gd name="G2" fmla="+- 21600 0 0"/>
                <a:gd name="T0" fmla="*/ 0 w 18783"/>
                <a:gd name="T1" fmla="*/ 10934 h 21600"/>
                <a:gd name="T2" fmla="*/ 18718 w 18783"/>
                <a:gd name="T3" fmla="*/ 0 h 21600"/>
                <a:gd name="T4" fmla="*/ 18783 w 18783"/>
                <a:gd name="T5" fmla="*/ 21600 h 21600"/>
              </a:gdLst>
              <a:ahLst/>
              <a:cxnLst>
                <a:cxn ang="0">
                  <a:pos x="T0" y="T1"/>
                </a:cxn>
                <a:cxn ang="0">
                  <a:pos x="T2" y="T3"/>
                </a:cxn>
                <a:cxn ang="0">
                  <a:pos x="T4" y="T5"/>
                </a:cxn>
              </a:cxnLst>
              <a:rect l="0" t="0" r="r" b="b"/>
              <a:pathLst>
                <a:path w="18783" h="21600" fill="none" extrusionOk="0">
                  <a:moveTo>
                    <a:pt x="0" y="10934"/>
                  </a:moveTo>
                  <a:cubicBezTo>
                    <a:pt x="3826" y="4195"/>
                    <a:pt x="10969" y="23"/>
                    <a:pt x="18718" y="0"/>
                  </a:cubicBezTo>
                </a:path>
                <a:path w="18783" h="21600" stroke="0" extrusionOk="0">
                  <a:moveTo>
                    <a:pt x="0" y="10934"/>
                  </a:moveTo>
                  <a:cubicBezTo>
                    <a:pt x="3826" y="4195"/>
                    <a:pt x="10969" y="23"/>
                    <a:pt x="18718" y="0"/>
                  </a:cubicBezTo>
                  <a:lnTo>
                    <a:pt x="18783" y="21600"/>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7" name="Line 53">
              <a:extLst>
                <a:ext uri="{FF2B5EF4-FFF2-40B4-BE49-F238E27FC236}">
                  <a16:creationId xmlns:a16="http://schemas.microsoft.com/office/drawing/2014/main" id="{09290A16-3FF9-46EC-BAC0-AAB0A82A2EC8}"/>
                </a:ext>
              </a:extLst>
            </p:cNvPr>
            <p:cNvSpPr>
              <a:spLocks noChangeShapeType="1"/>
            </p:cNvSpPr>
            <p:nvPr/>
          </p:nvSpPr>
          <p:spPr bwMode="auto">
            <a:xfrm>
              <a:off x="4159" y="2700"/>
              <a:ext cx="618"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8" name="Line 54">
              <a:extLst>
                <a:ext uri="{FF2B5EF4-FFF2-40B4-BE49-F238E27FC236}">
                  <a16:creationId xmlns:a16="http://schemas.microsoft.com/office/drawing/2014/main" id="{FFBFDFA8-DFB6-4E0D-9FD9-33E327BC1611}"/>
                </a:ext>
              </a:extLst>
            </p:cNvPr>
            <p:cNvSpPr>
              <a:spLocks noChangeShapeType="1"/>
            </p:cNvSpPr>
            <p:nvPr/>
          </p:nvSpPr>
          <p:spPr bwMode="auto">
            <a:xfrm flipH="1">
              <a:off x="3231" y="2700"/>
              <a:ext cx="275" cy="0"/>
            </a:xfrm>
            <a:prstGeom prst="line">
              <a:avLst/>
            </a:prstGeom>
            <a:noFill/>
            <a:ln w="38100">
              <a:solidFill>
                <a:srgbClr val="63A537"/>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9" name="Arc 55">
              <a:extLst>
                <a:ext uri="{FF2B5EF4-FFF2-40B4-BE49-F238E27FC236}">
                  <a16:creationId xmlns:a16="http://schemas.microsoft.com/office/drawing/2014/main" id="{2A43C564-C949-4E7C-8B81-96D1C9637311}"/>
                </a:ext>
              </a:extLst>
            </p:cNvPr>
            <p:cNvSpPr>
              <a:spLocks/>
            </p:cNvSpPr>
            <p:nvPr/>
          </p:nvSpPr>
          <p:spPr bwMode="auto">
            <a:xfrm rot="10560000">
              <a:off x="2595" y="2812"/>
              <a:ext cx="788" cy="516"/>
            </a:xfrm>
            <a:custGeom>
              <a:avLst/>
              <a:gdLst>
                <a:gd name="G0" fmla="+- 14166 0 0"/>
                <a:gd name="G1" fmla="+- 20787 0 0"/>
                <a:gd name="G2" fmla="+- 21600 0 0"/>
                <a:gd name="T0" fmla="*/ 0 w 14166"/>
                <a:gd name="T1" fmla="*/ 4481 h 20787"/>
                <a:gd name="T2" fmla="*/ 8296 w 14166"/>
                <a:gd name="T3" fmla="*/ 0 h 20787"/>
                <a:gd name="T4" fmla="*/ 14166 w 14166"/>
                <a:gd name="T5" fmla="*/ 20787 h 20787"/>
              </a:gdLst>
              <a:ahLst/>
              <a:cxnLst>
                <a:cxn ang="0">
                  <a:pos x="T0" y="T1"/>
                </a:cxn>
                <a:cxn ang="0">
                  <a:pos x="T2" y="T3"/>
                </a:cxn>
                <a:cxn ang="0">
                  <a:pos x="T4" y="T5"/>
                </a:cxn>
              </a:cxnLst>
              <a:rect l="0" t="0" r="r" b="b"/>
              <a:pathLst>
                <a:path w="14166" h="20787" fill="none" extrusionOk="0">
                  <a:moveTo>
                    <a:pt x="0" y="4481"/>
                  </a:moveTo>
                  <a:cubicBezTo>
                    <a:pt x="2401" y="2394"/>
                    <a:pt x="5234" y="864"/>
                    <a:pt x="8295" y="-1"/>
                  </a:cubicBezTo>
                </a:path>
                <a:path w="14166" h="20787" stroke="0" extrusionOk="0">
                  <a:moveTo>
                    <a:pt x="0" y="4481"/>
                  </a:moveTo>
                  <a:cubicBezTo>
                    <a:pt x="2401" y="2394"/>
                    <a:pt x="5234" y="864"/>
                    <a:pt x="8295" y="-1"/>
                  </a:cubicBezTo>
                  <a:lnTo>
                    <a:pt x="14166" y="20787"/>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0" name="Arc 56">
              <a:extLst>
                <a:ext uri="{FF2B5EF4-FFF2-40B4-BE49-F238E27FC236}">
                  <a16:creationId xmlns:a16="http://schemas.microsoft.com/office/drawing/2014/main" id="{2FF0196F-804C-499B-9109-7BD3EC1A07F1}"/>
                </a:ext>
              </a:extLst>
            </p:cNvPr>
            <p:cNvSpPr>
              <a:spLocks/>
            </p:cNvSpPr>
            <p:nvPr/>
          </p:nvSpPr>
          <p:spPr bwMode="auto">
            <a:xfrm rot="10500000">
              <a:off x="2508" y="2869"/>
              <a:ext cx="875" cy="299"/>
            </a:xfrm>
            <a:custGeom>
              <a:avLst/>
              <a:gdLst>
                <a:gd name="G0" fmla="+- 15704 0 0"/>
                <a:gd name="G1" fmla="+- 20514 0 0"/>
                <a:gd name="G2" fmla="+- 21600 0 0"/>
                <a:gd name="T0" fmla="*/ 0 w 15704"/>
                <a:gd name="T1" fmla="*/ 5683 h 20514"/>
                <a:gd name="T2" fmla="*/ 8942 w 15704"/>
                <a:gd name="T3" fmla="*/ 0 h 20514"/>
                <a:gd name="T4" fmla="*/ 15704 w 15704"/>
                <a:gd name="T5" fmla="*/ 20514 h 20514"/>
              </a:gdLst>
              <a:ahLst/>
              <a:cxnLst>
                <a:cxn ang="0">
                  <a:pos x="T0" y="T1"/>
                </a:cxn>
                <a:cxn ang="0">
                  <a:pos x="T2" y="T3"/>
                </a:cxn>
                <a:cxn ang="0">
                  <a:pos x="T4" y="T5"/>
                </a:cxn>
              </a:cxnLst>
              <a:rect l="0" t="0" r="r" b="b"/>
              <a:pathLst>
                <a:path w="15704" h="20514" fill="none" extrusionOk="0">
                  <a:moveTo>
                    <a:pt x="0" y="5683"/>
                  </a:moveTo>
                  <a:cubicBezTo>
                    <a:pt x="2462" y="3075"/>
                    <a:pt x="5535" y="1122"/>
                    <a:pt x="8941" y="-1"/>
                  </a:cubicBezTo>
                </a:path>
                <a:path w="15704" h="20514" stroke="0" extrusionOk="0">
                  <a:moveTo>
                    <a:pt x="0" y="5683"/>
                  </a:moveTo>
                  <a:cubicBezTo>
                    <a:pt x="2462" y="3075"/>
                    <a:pt x="5535" y="1122"/>
                    <a:pt x="8941" y="-1"/>
                  </a:cubicBezTo>
                  <a:lnTo>
                    <a:pt x="15704" y="20514"/>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1" name="Arc 57">
              <a:extLst>
                <a:ext uri="{FF2B5EF4-FFF2-40B4-BE49-F238E27FC236}">
                  <a16:creationId xmlns:a16="http://schemas.microsoft.com/office/drawing/2014/main" id="{CDC2432D-6B08-40C6-8282-F9220B231A63}"/>
                </a:ext>
              </a:extLst>
            </p:cNvPr>
            <p:cNvSpPr>
              <a:spLocks/>
            </p:cNvSpPr>
            <p:nvPr/>
          </p:nvSpPr>
          <p:spPr bwMode="auto">
            <a:xfrm rot="10800000">
              <a:off x="2363" y="2783"/>
              <a:ext cx="913" cy="281"/>
            </a:xfrm>
            <a:custGeom>
              <a:avLst/>
              <a:gdLst>
                <a:gd name="G0" fmla="+- 16394 0 0"/>
                <a:gd name="G1" fmla="+- 19282 0 0"/>
                <a:gd name="G2" fmla="+- 21600 0 0"/>
                <a:gd name="T0" fmla="*/ 0 w 16394"/>
                <a:gd name="T1" fmla="*/ 5218 h 19282"/>
                <a:gd name="T2" fmla="*/ 6660 w 16394"/>
                <a:gd name="T3" fmla="*/ 0 h 19282"/>
                <a:gd name="T4" fmla="*/ 16394 w 16394"/>
                <a:gd name="T5" fmla="*/ 19282 h 19282"/>
              </a:gdLst>
              <a:ahLst/>
              <a:cxnLst>
                <a:cxn ang="0">
                  <a:pos x="T0" y="T1"/>
                </a:cxn>
                <a:cxn ang="0">
                  <a:pos x="T2" y="T3"/>
                </a:cxn>
                <a:cxn ang="0">
                  <a:pos x="T4" y="T5"/>
                </a:cxn>
              </a:cxnLst>
              <a:rect l="0" t="0" r="r" b="b"/>
              <a:pathLst>
                <a:path w="16394" h="19282" fill="none" extrusionOk="0">
                  <a:moveTo>
                    <a:pt x="-1" y="5217"/>
                  </a:moveTo>
                  <a:cubicBezTo>
                    <a:pt x="1854" y="3056"/>
                    <a:pt x="4117" y="1283"/>
                    <a:pt x="6659" y="-1"/>
                  </a:cubicBezTo>
                </a:path>
                <a:path w="16394" h="19282" stroke="0" extrusionOk="0">
                  <a:moveTo>
                    <a:pt x="-1" y="5217"/>
                  </a:moveTo>
                  <a:cubicBezTo>
                    <a:pt x="1854" y="3056"/>
                    <a:pt x="4117" y="1283"/>
                    <a:pt x="6659" y="-1"/>
                  </a:cubicBezTo>
                  <a:lnTo>
                    <a:pt x="16394" y="19282"/>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 name="Arc 58">
              <a:extLst>
                <a:ext uri="{FF2B5EF4-FFF2-40B4-BE49-F238E27FC236}">
                  <a16:creationId xmlns:a16="http://schemas.microsoft.com/office/drawing/2014/main" id="{74459A4A-1305-459E-AD5F-0807DE918957}"/>
                </a:ext>
              </a:extLst>
            </p:cNvPr>
            <p:cNvSpPr>
              <a:spLocks/>
            </p:cNvSpPr>
            <p:nvPr/>
          </p:nvSpPr>
          <p:spPr bwMode="auto">
            <a:xfrm rot="10680000">
              <a:off x="2285" y="2745"/>
              <a:ext cx="964" cy="198"/>
            </a:xfrm>
            <a:custGeom>
              <a:avLst/>
              <a:gdLst>
                <a:gd name="G0" fmla="+- 15141 0 0"/>
                <a:gd name="G1" fmla="+- 19434 0 0"/>
                <a:gd name="G2" fmla="+- 21600 0 0"/>
                <a:gd name="T0" fmla="*/ 0 w 15141"/>
                <a:gd name="T1" fmla="*/ 4029 h 19434"/>
                <a:gd name="T2" fmla="*/ 5713 w 15141"/>
                <a:gd name="T3" fmla="*/ 0 h 19434"/>
                <a:gd name="T4" fmla="*/ 15141 w 15141"/>
                <a:gd name="T5" fmla="*/ 19434 h 19434"/>
              </a:gdLst>
              <a:ahLst/>
              <a:cxnLst>
                <a:cxn ang="0">
                  <a:pos x="T0" y="T1"/>
                </a:cxn>
                <a:cxn ang="0">
                  <a:pos x="T2" y="T3"/>
                </a:cxn>
                <a:cxn ang="0">
                  <a:pos x="T4" y="T5"/>
                </a:cxn>
              </a:cxnLst>
              <a:rect l="0" t="0" r="r" b="b"/>
              <a:pathLst>
                <a:path w="15141" h="19434" fill="none" extrusionOk="0">
                  <a:moveTo>
                    <a:pt x="0" y="4029"/>
                  </a:moveTo>
                  <a:cubicBezTo>
                    <a:pt x="1673" y="2384"/>
                    <a:pt x="3602" y="1024"/>
                    <a:pt x="5713" y="0"/>
                  </a:cubicBezTo>
                </a:path>
                <a:path w="15141" h="19434" stroke="0" extrusionOk="0">
                  <a:moveTo>
                    <a:pt x="0" y="4029"/>
                  </a:moveTo>
                  <a:cubicBezTo>
                    <a:pt x="1673" y="2384"/>
                    <a:pt x="3602" y="1024"/>
                    <a:pt x="5713" y="0"/>
                  </a:cubicBezTo>
                  <a:lnTo>
                    <a:pt x="15141" y="19434"/>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3" name="Arc 59">
              <a:extLst>
                <a:ext uri="{FF2B5EF4-FFF2-40B4-BE49-F238E27FC236}">
                  <a16:creationId xmlns:a16="http://schemas.microsoft.com/office/drawing/2014/main" id="{4484871E-4056-4B13-83FA-ACCD0DBB3A1C}"/>
                </a:ext>
              </a:extLst>
            </p:cNvPr>
            <p:cNvSpPr>
              <a:spLocks/>
            </p:cNvSpPr>
            <p:nvPr/>
          </p:nvSpPr>
          <p:spPr bwMode="auto">
            <a:xfrm rot="10680000">
              <a:off x="2352" y="2704"/>
              <a:ext cx="854" cy="117"/>
            </a:xfrm>
            <a:custGeom>
              <a:avLst/>
              <a:gdLst>
                <a:gd name="G0" fmla="+- 13092 0 0"/>
                <a:gd name="G1" fmla="+- 20062 0 0"/>
                <a:gd name="G2" fmla="+- 21600 0 0"/>
                <a:gd name="T0" fmla="*/ 0 w 13092"/>
                <a:gd name="T1" fmla="*/ 2881 h 20062"/>
                <a:gd name="T2" fmla="*/ 5088 w 13092"/>
                <a:gd name="T3" fmla="*/ 0 h 20062"/>
                <a:gd name="T4" fmla="*/ 13092 w 13092"/>
                <a:gd name="T5" fmla="*/ 20062 h 20062"/>
              </a:gdLst>
              <a:ahLst/>
              <a:cxnLst>
                <a:cxn ang="0">
                  <a:pos x="T0" y="T1"/>
                </a:cxn>
                <a:cxn ang="0">
                  <a:pos x="T2" y="T3"/>
                </a:cxn>
                <a:cxn ang="0">
                  <a:pos x="T4" y="T5"/>
                </a:cxn>
              </a:cxnLst>
              <a:rect l="0" t="0" r="r" b="b"/>
              <a:pathLst>
                <a:path w="13092" h="20062" fill="none" extrusionOk="0">
                  <a:moveTo>
                    <a:pt x="0" y="2881"/>
                  </a:moveTo>
                  <a:cubicBezTo>
                    <a:pt x="1557" y="1694"/>
                    <a:pt x="3269" y="725"/>
                    <a:pt x="5087" y="-1"/>
                  </a:cubicBezTo>
                </a:path>
                <a:path w="13092" h="20062" stroke="0" extrusionOk="0">
                  <a:moveTo>
                    <a:pt x="0" y="2881"/>
                  </a:moveTo>
                  <a:cubicBezTo>
                    <a:pt x="1557" y="1694"/>
                    <a:pt x="3269" y="725"/>
                    <a:pt x="5087" y="-1"/>
                  </a:cubicBezTo>
                  <a:lnTo>
                    <a:pt x="13092" y="20062"/>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4" name="Line 60">
              <a:extLst>
                <a:ext uri="{FF2B5EF4-FFF2-40B4-BE49-F238E27FC236}">
                  <a16:creationId xmlns:a16="http://schemas.microsoft.com/office/drawing/2014/main" id="{4DA7D82C-F7C4-439C-B29C-E7338C9F0ECF}"/>
                </a:ext>
              </a:extLst>
            </p:cNvPr>
            <p:cNvSpPr>
              <a:spLocks noChangeShapeType="1"/>
            </p:cNvSpPr>
            <p:nvPr/>
          </p:nvSpPr>
          <p:spPr bwMode="auto">
            <a:xfrm flipH="1" flipV="1">
              <a:off x="2861" y="2696"/>
              <a:ext cx="383" cy="4"/>
            </a:xfrm>
            <a:prstGeom prst="line">
              <a:avLst/>
            </a:prstGeom>
            <a:noFill/>
            <a:ln w="38100">
              <a:solidFill>
                <a:srgbClr val="63A537"/>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5" name="Arc 61">
              <a:extLst>
                <a:ext uri="{FF2B5EF4-FFF2-40B4-BE49-F238E27FC236}">
                  <a16:creationId xmlns:a16="http://schemas.microsoft.com/office/drawing/2014/main" id="{0D3B88CF-C322-4D98-AB32-7405047334C1}"/>
                </a:ext>
              </a:extLst>
            </p:cNvPr>
            <p:cNvSpPr>
              <a:spLocks/>
            </p:cNvSpPr>
            <p:nvPr/>
          </p:nvSpPr>
          <p:spPr bwMode="auto">
            <a:xfrm>
              <a:off x="2383" y="2616"/>
              <a:ext cx="894" cy="118"/>
            </a:xfrm>
            <a:custGeom>
              <a:avLst/>
              <a:gdLst>
                <a:gd name="G0" fmla="+- 0 0 0"/>
                <a:gd name="G1" fmla="+- 20328 0 0"/>
                <a:gd name="G2" fmla="+- 21600 0 0"/>
                <a:gd name="T0" fmla="*/ 7303 w 13700"/>
                <a:gd name="T1" fmla="*/ 0 h 20328"/>
                <a:gd name="T2" fmla="*/ 13700 w 13700"/>
                <a:gd name="T3" fmla="*/ 3629 h 20328"/>
                <a:gd name="T4" fmla="*/ 0 w 13700"/>
                <a:gd name="T5" fmla="*/ 20328 h 20328"/>
              </a:gdLst>
              <a:ahLst/>
              <a:cxnLst>
                <a:cxn ang="0">
                  <a:pos x="T0" y="T1"/>
                </a:cxn>
                <a:cxn ang="0">
                  <a:pos x="T2" y="T3"/>
                </a:cxn>
                <a:cxn ang="0">
                  <a:pos x="T4" y="T5"/>
                </a:cxn>
              </a:cxnLst>
              <a:rect l="0" t="0" r="r" b="b"/>
              <a:pathLst>
                <a:path w="13700" h="20328" fill="none" extrusionOk="0">
                  <a:moveTo>
                    <a:pt x="7302" y="0"/>
                  </a:moveTo>
                  <a:cubicBezTo>
                    <a:pt x="9627" y="835"/>
                    <a:pt x="11790" y="2062"/>
                    <a:pt x="13700" y="3628"/>
                  </a:cubicBezTo>
                </a:path>
                <a:path w="13700" h="20328" stroke="0" extrusionOk="0">
                  <a:moveTo>
                    <a:pt x="7302" y="0"/>
                  </a:moveTo>
                  <a:cubicBezTo>
                    <a:pt x="9627" y="835"/>
                    <a:pt x="11790" y="2062"/>
                    <a:pt x="13700" y="3628"/>
                  </a:cubicBezTo>
                  <a:lnTo>
                    <a:pt x="0" y="20328"/>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6" name="Arc 62">
              <a:extLst>
                <a:ext uri="{FF2B5EF4-FFF2-40B4-BE49-F238E27FC236}">
                  <a16:creationId xmlns:a16="http://schemas.microsoft.com/office/drawing/2014/main" id="{3C2C05AD-3CD8-4738-86DF-24160FD04A4A}"/>
                </a:ext>
              </a:extLst>
            </p:cNvPr>
            <p:cNvSpPr>
              <a:spLocks/>
            </p:cNvSpPr>
            <p:nvPr/>
          </p:nvSpPr>
          <p:spPr bwMode="auto">
            <a:xfrm>
              <a:off x="2340" y="2498"/>
              <a:ext cx="955" cy="203"/>
            </a:xfrm>
            <a:custGeom>
              <a:avLst/>
              <a:gdLst>
                <a:gd name="G0" fmla="+- 0 0 0"/>
                <a:gd name="G1" fmla="+- 19986 0 0"/>
                <a:gd name="G2" fmla="+- 21600 0 0"/>
                <a:gd name="T0" fmla="*/ 8192 w 15002"/>
                <a:gd name="T1" fmla="*/ 0 h 19986"/>
                <a:gd name="T2" fmla="*/ 15002 w 15002"/>
                <a:gd name="T3" fmla="*/ 4446 h 19986"/>
                <a:gd name="T4" fmla="*/ 0 w 15002"/>
                <a:gd name="T5" fmla="*/ 19986 h 19986"/>
              </a:gdLst>
              <a:ahLst/>
              <a:cxnLst>
                <a:cxn ang="0">
                  <a:pos x="T0" y="T1"/>
                </a:cxn>
                <a:cxn ang="0">
                  <a:pos x="T2" y="T3"/>
                </a:cxn>
                <a:cxn ang="0">
                  <a:pos x="T4" y="T5"/>
                </a:cxn>
              </a:cxnLst>
              <a:rect l="0" t="0" r="r" b="b"/>
              <a:pathLst>
                <a:path w="15002" h="19986" fill="none" extrusionOk="0">
                  <a:moveTo>
                    <a:pt x="8192" y="-1"/>
                  </a:moveTo>
                  <a:cubicBezTo>
                    <a:pt x="10723" y="1037"/>
                    <a:pt x="13034" y="2545"/>
                    <a:pt x="15002" y="4445"/>
                  </a:cubicBezTo>
                </a:path>
                <a:path w="15002" h="19986" stroke="0" extrusionOk="0">
                  <a:moveTo>
                    <a:pt x="8192" y="-1"/>
                  </a:moveTo>
                  <a:cubicBezTo>
                    <a:pt x="10723" y="1037"/>
                    <a:pt x="13034" y="2545"/>
                    <a:pt x="15002" y="4445"/>
                  </a:cubicBezTo>
                  <a:lnTo>
                    <a:pt x="0" y="19986"/>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7" name="Arc 63">
              <a:extLst>
                <a:ext uri="{FF2B5EF4-FFF2-40B4-BE49-F238E27FC236}">
                  <a16:creationId xmlns:a16="http://schemas.microsoft.com/office/drawing/2014/main" id="{1068F610-CEEC-47BA-B699-F5F9FD7C1E79}"/>
                </a:ext>
              </a:extLst>
            </p:cNvPr>
            <p:cNvSpPr>
              <a:spLocks/>
            </p:cNvSpPr>
            <p:nvPr/>
          </p:nvSpPr>
          <p:spPr bwMode="auto">
            <a:xfrm>
              <a:off x="2362" y="2340"/>
              <a:ext cx="907" cy="282"/>
            </a:xfrm>
            <a:custGeom>
              <a:avLst/>
              <a:gdLst>
                <a:gd name="G0" fmla="+- 0 0 0"/>
                <a:gd name="G1" fmla="+- 19387 0 0"/>
                <a:gd name="G2" fmla="+- 21600 0 0"/>
                <a:gd name="T0" fmla="*/ 9523 w 16295"/>
                <a:gd name="T1" fmla="*/ 0 h 19387"/>
                <a:gd name="T2" fmla="*/ 16295 w 16295"/>
                <a:gd name="T3" fmla="*/ 5208 h 19387"/>
                <a:gd name="T4" fmla="*/ 0 w 16295"/>
                <a:gd name="T5" fmla="*/ 19387 h 19387"/>
              </a:gdLst>
              <a:ahLst/>
              <a:cxnLst>
                <a:cxn ang="0">
                  <a:pos x="T0" y="T1"/>
                </a:cxn>
                <a:cxn ang="0">
                  <a:pos x="T2" y="T3"/>
                </a:cxn>
                <a:cxn ang="0">
                  <a:pos x="T4" y="T5"/>
                </a:cxn>
              </a:cxnLst>
              <a:rect l="0" t="0" r="r" b="b"/>
              <a:pathLst>
                <a:path w="16295" h="19387" fill="none" extrusionOk="0">
                  <a:moveTo>
                    <a:pt x="9523" y="-1"/>
                  </a:moveTo>
                  <a:cubicBezTo>
                    <a:pt x="12104" y="1267"/>
                    <a:pt x="14406" y="3038"/>
                    <a:pt x="16294" y="5208"/>
                  </a:cubicBezTo>
                </a:path>
                <a:path w="16295" h="19387" stroke="0" extrusionOk="0">
                  <a:moveTo>
                    <a:pt x="9523" y="-1"/>
                  </a:moveTo>
                  <a:cubicBezTo>
                    <a:pt x="12104" y="1267"/>
                    <a:pt x="14406" y="3038"/>
                    <a:pt x="16294" y="5208"/>
                  </a:cubicBezTo>
                  <a:lnTo>
                    <a:pt x="0" y="19387"/>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8" name="Arc 64">
              <a:extLst>
                <a:ext uri="{FF2B5EF4-FFF2-40B4-BE49-F238E27FC236}">
                  <a16:creationId xmlns:a16="http://schemas.microsoft.com/office/drawing/2014/main" id="{CCB2DEB2-2FEE-40E6-86A6-E3617B77BD19}"/>
                </a:ext>
              </a:extLst>
            </p:cNvPr>
            <p:cNvSpPr>
              <a:spLocks/>
            </p:cNvSpPr>
            <p:nvPr/>
          </p:nvSpPr>
          <p:spPr bwMode="auto">
            <a:xfrm rot="180000">
              <a:off x="2420" y="2196"/>
              <a:ext cx="903" cy="316"/>
            </a:xfrm>
            <a:custGeom>
              <a:avLst/>
              <a:gdLst>
                <a:gd name="G0" fmla="+- 0 0 0"/>
                <a:gd name="G1" fmla="+- 19701 0 0"/>
                <a:gd name="G2" fmla="+- 21600 0 0"/>
                <a:gd name="T0" fmla="*/ 8856 w 17186"/>
                <a:gd name="T1" fmla="*/ 0 h 19701"/>
                <a:gd name="T2" fmla="*/ 17186 w 17186"/>
                <a:gd name="T3" fmla="*/ 6617 h 19701"/>
                <a:gd name="T4" fmla="*/ 0 w 17186"/>
                <a:gd name="T5" fmla="*/ 19701 h 19701"/>
              </a:gdLst>
              <a:ahLst/>
              <a:cxnLst>
                <a:cxn ang="0">
                  <a:pos x="T0" y="T1"/>
                </a:cxn>
                <a:cxn ang="0">
                  <a:pos x="T2" y="T3"/>
                </a:cxn>
                <a:cxn ang="0">
                  <a:pos x="T4" y="T5"/>
                </a:cxn>
              </a:cxnLst>
              <a:rect l="0" t="0" r="r" b="b"/>
              <a:pathLst>
                <a:path w="17186" h="19701" fill="none" extrusionOk="0">
                  <a:moveTo>
                    <a:pt x="8856" y="-1"/>
                  </a:moveTo>
                  <a:cubicBezTo>
                    <a:pt x="12140" y="1476"/>
                    <a:pt x="15004" y="3751"/>
                    <a:pt x="17186" y="6616"/>
                  </a:cubicBezTo>
                </a:path>
                <a:path w="17186" h="19701" stroke="0" extrusionOk="0">
                  <a:moveTo>
                    <a:pt x="8856" y="-1"/>
                  </a:moveTo>
                  <a:cubicBezTo>
                    <a:pt x="12140" y="1476"/>
                    <a:pt x="15004" y="3751"/>
                    <a:pt x="17186" y="6616"/>
                  </a:cubicBezTo>
                  <a:lnTo>
                    <a:pt x="0" y="19701"/>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9" name="Arc 65">
              <a:extLst>
                <a:ext uri="{FF2B5EF4-FFF2-40B4-BE49-F238E27FC236}">
                  <a16:creationId xmlns:a16="http://schemas.microsoft.com/office/drawing/2014/main" id="{6E97E36C-89DF-46D7-8A5B-01E7DCAF7805}"/>
                </a:ext>
              </a:extLst>
            </p:cNvPr>
            <p:cNvSpPr>
              <a:spLocks/>
            </p:cNvSpPr>
            <p:nvPr/>
          </p:nvSpPr>
          <p:spPr bwMode="auto">
            <a:xfrm rot="120000">
              <a:off x="2490" y="2039"/>
              <a:ext cx="886" cy="504"/>
            </a:xfrm>
            <a:custGeom>
              <a:avLst/>
              <a:gdLst>
                <a:gd name="G0" fmla="+- 0 0 0"/>
                <a:gd name="G1" fmla="+- 20324 0 0"/>
                <a:gd name="G2" fmla="+- 21600 0 0"/>
                <a:gd name="T0" fmla="*/ 7314 w 15906"/>
                <a:gd name="T1" fmla="*/ 0 h 20324"/>
                <a:gd name="T2" fmla="*/ 15906 w 15906"/>
                <a:gd name="T3" fmla="*/ 5711 h 20324"/>
                <a:gd name="T4" fmla="*/ 0 w 15906"/>
                <a:gd name="T5" fmla="*/ 20324 h 20324"/>
              </a:gdLst>
              <a:ahLst/>
              <a:cxnLst>
                <a:cxn ang="0">
                  <a:pos x="T0" y="T1"/>
                </a:cxn>
                <a:cxn ang="0">
                  <a:pos x="T2" y="T3"/>
                </a:cxn>
                <a:cxn ang="0">
                  <a:pos x="T4" y="T5"/>
                </a:cxn>
              </a:cxnLst>
              <a:rect l="0" t="0" r="r" b="b"/>
              <a:pathLst>
                <a:path w="15906" h="20324" fill="none" extrusionOk="0">
                  <a:moveTo>
                    <a:pt x="7314" y="-1"/>
                  </a:moveTo>
                  <a:cubicBezTo>
                    <a:pt x="10597" y="1181"/>
                    <a:pt x="13545" y="3141"/>
                    <a:pt x="15906" y="5710"/>
                  </a:cubicBezTo>
                </a:path>
                <a:path w="15906" h="20324" stroke="0" extrusionOk="0">
                  <a:moveTo>
                    <a:pt x="7314" y="-1"/>
                  </a:moveTo>
                  <a:cubicBezTo>
                    <a:pt x="10597" y="1181"/>
                    <a:pt x="13545" y="3141"/>
                    <a:pt x="15906" y="5710"/>
                  </a:cubicBezTo>
                  <a:lnTo>
                    <a:pt x="0" y="20324"/>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7" name="Rectangle 73">
              <a:extLst>
                <a:ext uri="{FF2B5EF4-FFF2-40B4-BE49-F238E27FC236}">
                  <a16:creationId xmlns:a16="http://schemas.microsoft.com/office/drawing/2014/main" id="{3B91166F-B7D1-4AED-BB00-DAEC737622CC}"/>
                </a:ext>
              </a:extLst>
            </p:cNvPr>
            <p:cNvSpPr>
              <a:spLocks noChangeArrowheads="1"/>
            </p:cNvSpPr>
            <p:nvPr/>
          </p:nvSpPr>
          <p:spPr bwMode="auto">
            <a:xfrm>
              <a:off x="3851" y="2783"/>
              <a:ext cx="90"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altLang="zh-CN" sz="3200" b="0" i="0" u="none" strike="noStrike" kern="0" cap="none" spc="0" normalizeH="0" baseline="0" noProof="0" dirty="0">
                <a:ln>
                  <a:noFill/>
                </a:ln>
                <a:solidFill>
                  <a:srgbClr val="FFFF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8" name="Rectangle 76">
              <a:extLst>
                <a:ext uri="{FF2B5EF4-FFF2-40B4-BE49-F238E27FC236}">
                  <a16:creationId xmlns:a16="http://schemas.microsoft.com/office/drawing/2014/main" id="{5C838053-4FBE-410A-8560-13B5A33FAE83}"/>
                </a:ext>
              </a:extLst>
            </p:cNvPr>
            <p:cNvSpPr>
              <a:spLocks noChangeArrowheads="1"/>
            </p:cNvSpPr>
            <p:nvPr/>
          </p:nvSpPr>
          <p:spPr bwMode="auto">
            <a:xfrm>
              <a:off x="3957" y="2388"/>
              <a:ext cx="90"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altLang="zh-CN" sz="3200" b="0" i="0" u="none" strike="noStrike" kern="0" cap="none" spc="0" normalizeH="0" baseline="0" noProof="0" dirty="0">
                <a:ln>
                  <a:noFill/>
                </a:ln>
                <a:solidFill>
                  <a:srgbClr val="FFFF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9" name="Rectangle 77">
              <a:extLst>
                <a:ext uri="{FF2B5EF4-FFF2-40B4-BE49-F238E27FC236}">
                  <a16:creationId xmlns:a16="http://schemas.microsoft.com/office/drawing/2014/main" id="{D56EA004-3697-4F5E-8E1B-10EDFC572EBD}"/>
                </a:ext>
              </a:extLst>
            </p:cNvPr>
            <p:cNvSpPr>
              <a:spLocks noChangeArrowheads="1"/>
            </p:cNvSpPr>
            <p:nvPr/>
          </p:nvSpPr>
          <p:spPr bwMode="auto">
            <a:xfrm>
              <a:off x="4000" y="2496"/>
              <a:ext cx="90"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altLang="zh-CN" sz="3200" b="0" i="0" u="none" strike="noStrike" kern="0" cap="none" spc="0" normalizeH="0" baseline="0" noProof="0" dirty="0">
                <a:ln>
                  <a:noFill/>
                </a:ln>
                <a:solidFill>
                  <a:srgbClr val="FFFF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0" name="Line 80">
              <a:extLst>
                <a:ext uri="{FF2B5EF4-FFF2-40B4-BE49-F238E27FC236}">
                  <a16:creationId xmlns:a16="http://schemas.microsoft.com/office/drawing/2014/main" id="{C32EC1BE-65BA-4302-8BF0-7EE0B72D09E8}"/>
                </a:ext>
              </a:extLst>
            </p:cNvPr>
            <p:cNvSpPr>
              <a:spLocks noChangeShapeType="1"/>
            </p:cNvSpPr>
            <p:nvPr/>
          </p:nvSpPr>
          <p:spPr bwMode="auto">
            <a:xfrm flipV="1">
              <a:off x="3188" y="2751"/>
              <a:ext cx="335" cy="40"/>
            </a:xfrm>
            <a:prstGeom prst="line">
              <a:avLst/>
            </a:prstGeom>
            <a:noFill/>
            <a:ln w="38100">
              <a:solidFill>
                <a:srgbClr val="63A53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1" name="Rectangle 87">
              <a:extLst>
                <a:ext uri="{FF2B5EF4-FFF2-40B4-BE49-F238E27FC236}">
                  <a16:creationId xmlns:a16="http://schemas.microsoft.com/office/drawing/2014/main" id="{4F160211-4F30-44E0-976C-8FF50EDFA461}"/>
                </a:ext>
              </a:extLst>
            </p:cNvPr>
            <p:cNvSpPr>
              <a:spLocks noChangeArrowheads="1"/>
            </p:cNvSpPr>
            <p:nvPr/>
          </p:nvSpPr>
          <p:spPr bwMode="auto">
            <a:xfrm>
              <a:off x="4023" y="2614"/>
              <a:ext cx="90"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altLang="zh-CN" sz="3200" b="0" i="0" u="none" strike="noStrike" kern="0" cap="none" spc="0" normalizeH="0" baseline="0" noProof="0" dirty="0">
                <a:ln>
                  <a:noFill/>
                </a:ln>
                <a:solidFill>
                  <a:srgbClr val="FFFF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2" name="Rectangle 88">
              <a:extLst>
                <a:ext uri="{FF2B5EF4-FFF2-40B4-BE49-F238E27FC236}">
                  <a16:creationId xmlns:a16="http://schemas.microsoft.com/office/drawing/2014/main" id="{B414869B-7A4D-4264-97AA-EC4B829B11D1}"/>
                </a:ext>
              </a:extLst>
            </p:cNvPr>
            <p:cNvSpPr>
              <a:spLocks noChangeArrowheads="1"/>
            </p:cNvSpPr>
            <p:nvPr/>
          </p:nvSpPr>
          <p:spPr bwMode="auto">
            <a:xfrm>
              <a:off x="3946" y="2717"/>
              <a:ext cx="90"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altLang="zh-CN" sz="3200" b="0" i="0" u="none" strike="noStrike" kern="0" cap="none" spc="0" normalizeH="0" baseline="0" noProof="0" dirty="0">
                <a:ln>
                  <a:noFill/>
                </a:ln>
                <a:solidFill>
                  <a:srgbClr val="FFFF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63" name="Group 95">
              <a:extLst>
                <a:ext uri="{FF2B5EF4-FFF2-40B4-BE49-F238E27FC236}">
                  <a16:creationId xmlns:a16="http://schemas.microsoft.com/office/drawing/2014/main" id="{1CDD2B41-E25D-43E6-B084-0B57A4F1737E}"/>
                </a:ext>
              </a:extLst>
            </p:cNvPr>
            <p:cNvGrpSpPr>
              <a:grpSpLocks/>
            </p:cNvGrpSpPr>
            <p:nvPr/>
          </p:nvGrpSpPr>
          <p:grpSpPr bwMode="auto">
            <a:xfrm>
              <a:off x="4199" y="2095"/>
              <a:ext cx="240" cy="284"/>
              <a:chOff x="2813" y="2949"/>
              <a:chExt cx="240" cy="284"/>
            </a:xfrm>
          </p:grpSpPr>
          <p:sp>
            <p:nvSpPr>
              <p:cNvPr id="65" name="Rectangle 96">
                <a:extLst>
                  <a:ext uri="{FF2B5EF4-FFF2-40B4-BE49-F238E27FC236}">
                    <a16:creationId xmlns:a16="http://schemas.microsoft.com/office/drawing/2014/main" id="{9EB8DA80-8A15-4AE5-9D94-03C1F1FB336F}"/>
                  </a:ext>
                </a:extLst>
              </p:cNvPr>
              <p:cNvSpPr>
                <a:spLocks noChangeArrowheads="1"/>
              </p:cNvSpPr>
              <p:nvPr/>
            </p:nvSpPr>
            <p:spPr bwMode="auto">
              <a:xfrm>
                <a:off x="2813" y="2949"/>
                <a:ext cx="211" cy="284"/>
              </a:xfrm>
              <a:prstGeom prst="rect">
                <a:avLst/>
              </a:prstGeom>
              <a:solidFill>
                <a:sysClr val="window" lastClr="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0" i="1"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E</a:t>
                </a:r>
              </a:p>
            </p:txBody>
          </p:sp>
          <p:sp>
            <p:nvSpPr>
              <p:cNvPr id="66" name="Line 97">
                <a:extLst>
                  <a:ext uri="{FF2B5EF4-FFF2-40B4-BE49-F238E27FC236}">
                    <a16:creationId xmlns:a16="http://schemas.microsoft.com/office/drawing/2014/main" id="{88E5708E-C568-4803-9308-E6B83A14538F}"/>
                  </a:ext>
                </a:extLst>
              </p:cNvPr>
              <p:cNvSpPr>
                <a:spLocks noChangeShapeType="1"/>
              </p:cNvSpPr>
              <p:nvPr/>
            </p:nvSpPr>
            <p:spPr bwMode="auto">
              <a:xfrm>
                <a:off x="2933" y="3001"/>
                <a:ext cx="120" cy="0"/>
              </a:xfrm>
              <a:prstGeom prst="line">
                <a:avLst/>
              </a:prstGeom>
              <a:noFill/>
              <a:ln w="9525">
                <a:solidFill>
                  <a:srgbClr val="63A53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64" name="Rectangle 99">
              <a:extLst>
                <a:ext uri="{FF2B5EF4-FFF2-40B4-BE49-F238E27FC236}">
                  <a16:creationId xmlns:a16="http://schemas.microsoft.com/office/drawing/2014/main" id="{83A68AE1-C851-423A-B3F6-18F76B16DA1C}"/>
                </a:ext>
              </a:extLst>
            </p:cNvPr>
            <p:cNvSpPr>
              <a:spLocks noChangeArrowheads="1"/>
            </p:cNvSpPr>
            <p:nvPr/>
          </p:nvSpPr>
          <p:spPr bwMode="auto">
            <a:xfrm>
              <a:off x="3555" y="2503"/>
              <a:ext cx="510"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0" i="1" u="none" strike="noStrike" kern="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E</a:t>
              </a:r>
              <a:r>
                <a:rPr kumimoji="0" lang="zh-CN" altLang="en-US" sz="3200" b="0" i="0" u="none" strike="noStrike" kern="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3200" b="0" i="0" u="none" strike="noStrike" kern="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grpSp>
      <p:sp>
        <p:nvSpPr>
          <p:cNvPr id="2" name="矩形 1">
            <a:extLst>
              <a:ext uri="{FF2B5EF4-FFF2-40B4-BE49-F238E27FC236}">
                <a16:creationId xmlns:a16="http://schemas.microsoft.com/office/drawing/2014/main" id="{2C914857-5D6A-4301-AFFF-C0DE9607D379}"/>
              </a:ext>
            </a:extLst>
          </p:cNvPr>
          <p:cNvSpPr/>
          <p:nvPr/>
        </p:nvSpPr>
        <p:spPr>
          <a:xfrm>
            <a:off x="822960" y="432021"/>
            <a:ext cx="3070071" cy="584775"/>
          </a:xfrm>
          <a:prstGeom prst="rect">
            <a:avLst/>
          </a:prstGeom>
        </p:spPr>
        <p:txBody>
          <a:bodyPr wrap="none">
            <a:spAutoFit/>
          </a:bodyPr>
          <a:lstStyle/>
          <a:p>
            <a:pPr marL="457200" lvl="0" indent="-457200">
              <a:buFont typeface="Wingdings" panose="05000000000000000000" pitchFamily="2" charset="2"/>
              <a:buChar char="q"/>
            </a:pPr>
            <a:r>
              <a:rPr lang="zh-CN" altLang="en-US" sz="3200" b="1" kern="0" spc="-5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导体静电平衡</a:t>
            </a:r>
            <a:endParaRPr kumimoji="0" lang="en-US" sz="1800" b="0" i="0" u="none" strike="noStrike" kern="0" cap="none" spc="0" normalizeH="0" baseline="0" noProof="0" dirty="0">
              <a:ln>
                <a:noFill/>
              </a:ln>
              <a:solidFill>
                <a:srgbClr val="0066FF"/>
              </a:solidFill>
              <a:effectLst/>
              <a:uLnTx/>
              <a:uFillTx/>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123" name="矩形 122">
                <a:extLst>
                  <a:ext uri="{FF2B5EF4-FFF2-40B4-BE49-F238E27FC236}">
                    <a16:creationId xmlns:a16="http://schemas.microsoft.com/office/drawing/2014/main" id="{5D5E7858-FE30-43DB-AC2B-8ED2D8F419BE}"/>
                  </a:ext>
                </a:extLst>
              </p:cNvPr>
              <p:cNvSpPr/>
              <p:nvPr/>
            </p:nvSpPr>
            <p:spPr>
              <a:xfrm>
                <a:off x="5917544" y="1264494"/>
                <a:ext cx="6096000" cy="1764650"/>
              </a:xfrm>
              <a:prstGeom prst="rect">
                <a:avLst/>
              </a:prstGeom>
            </p:spPr>
            <p:txBody>
              <a:bodyPr>
                <a:spAutoFit/>
              </a:bodyPr>
              <a:lstStyle/>
              <a:p>
                <a:pPr lvl="0" algn="just">
                  <a:lnSpc>
                    <a:spcPct val="150000"/>
                  </a:lnSpc>
                  <a:spcBef>
                    <a:spcPts val="1200"/>
                  </a:spcBef>
                  <a:spcAft>
                    <a:spcPts val="200"/>
                  </a:spcAft>
                  <a:buClr>
                    <a:srgbClr val="99CB38"/>
                  </a:buClr>
                  <a:buSzPct val="100000"/>
                </a:pPr>
                <a:r>
                  <a:rPr lang="en-US" altLang="zh-CN" sz="32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导体内部  </a:t>
                </a:r>
                <a14:m>
                  <m:oMath xmlns:m="http://schemas.openxmlformats.org/officeDocument/2006/math">
                    <m:sSub>
                      <m:sSubPr>
                        <m:ctrlPr>
                          <a:rPr lang="en-US" altLang="zh-CN" sz="3200" i="1" dirty="0">
                            <a:solidFill>
                              <a:prstClr val="black"/>
                            </a:solidFill>
                            <a:latin typeface="Cambria Math" panose="02040503050406030204" pitchFamily="18" charset="0"/>
                          </a:rPr>
                        </m:ctrlPr>
                      </m:sSubPr>
                      <m:e>
                        <m:acc>
                          <m:accPr>
                            <m:chr m:val="⃗"/>
                            <m:ctrlPr>
                              <a:rPr lang="en-US" altLang="zh-CN" sz="3200" i="1" dirty="0">
                                <a:solidFill>
                                  <a:prstClr val="black"/>
                                </a:solidFill>
                                <a:latin typeface="Cambria Math" panose="02040503050406030204" pitchFamily="18" charset="0"/>
                              </a:rPr>
                            </m:ctrlPr>
                          </m:accPr>
                          <m:e>
                            <m:r>
                              <a:rPr lang="en-US" altLang="zh-CN" sz="3200" b="0" i="1" dirty="0">
                                <a:solidFill>
                                  <a:prstClr val="black"/>
                                </a:solidFill>
                                <a:latin typeface="Cambria Math" panose="02040503050406030204" pitchFamily="18" charset="0"/>
                              </a:rPr>
                              <m:t>𝐸</m:t>
                            </m:r>
                          </m:e>
                        </m:acc>
                      </m:e>
                      <m:sub>
                        <m:r>
                          <a:rPr lang="en-US" altLang="zh-CN" sz="3200" b="0" i="1" dirty="0">
                            <a:solidFill>
                              <a:prstClr val="black"/>
                            </a:solidFill>
                            <a:latin typeface="Cambria Math" panose="02040503050406030204" pitchFamily="18" charset="0"/>
                          </a:rPr>
                          <m:t>𝑖𝑛</m:t>
                        </m:r>
                      </m:sub>
                    </m:sSub>
                    <m:r>
                      <a:rPr lang="en-US" altLang="zh-CN" sz="3200" b="0" i="1" dirty="0">
                        <a:solidFill>
                          <a:prstClr val="black"/>
                        </a:solidFill>
                        <a:latin typeface="Cambria Math" panose="02040503050406030204" pitchFamily="18" charset="0"/>
                      </a:rPr>
                      <m:t>=0</m:t>
                    </m:r>
                  </m:oMath>
                </a14:m>
                <a:r>
                  <a:rPr lang="zh-CN" altLang="en-US" sz="32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a:t>
                </a:r>
                <a14:m>
                  <m:oMath xmlns:m="http://schemas.openxmlformats.org/officeDocument/2006/math">
                    <m:sSub>
                      <m:sSubPr>
                        <m:ctrlPr>
                          <a:rPr lang="en-US" altLang="zh-CN" sz="3200" i="1" dirty="0">
                            <a:solidFill>
                              <a:prstClr val="black"/>
                            </a:solidFill>
                            <a:latin typeface="Cambria Math" panose="02040503050406030204" pitchFamily="18" charset="0"/>
                          </a:rPr>
                        </m:ctrlPr>
                      </m:sSubPr>
                      <m:e>
                        <m:acc>
                          <m:accPr>
                            <m:chr m:val="⃗"/>
                            <m:ctrlPr>
                              <a:rPr lang="en-US" altLang="zh-CN" sz="3200" i="1" dirty="0">
                                <a:solidFill>
                                  <a:prstClr val="black"/>
                                </a:solidFill>
                                <a:latin typeface="Cambria Math" panose="02040503050406030204" pitchFamily="18" charset="0"/>
                              </a:rPr>
                            </m:ctrlPr>
                          </m:accPr>
                          <m:e>
                            <m:r>
                              <a:rPr lang="en-US" altLang="zh-CN" sz="3200" b="0" i="1" dirty="0">
                                <a:solidFill>
                                  <a:prstClr val="black"/>
                                </a:solidFill>
                                <a:latin typeface="Cambria Math" panose="02040503050406030204" pitchFamily="18" charset="0"/>
                              </a:rPr>
                              <m:t>𝐸</m:t>
                            </m:r>
                          </m:e>
                        </m:acc>
                      </m:e>
                      <m:sub>
                        <m:r>
                          <a:rPr lang="en-US" altLang="zh-CN" sz="3200" b="0" i="1" dirty="0">
                            <a:solidFill>
                              <a:prstClr val="black"/>
                            </a:solidFill>
                            <a:latin typeface="Cambria Math" panose="02040503050406030204" pitchFamily="18" charset="0"/>
                          </a:rPr>
                          <m:t>𝑆</m:t>
                        </m:r>
                      </m:sub>
                    </m:sSub>
                    <m:r>
                      <a:rPr lang="zh-CN" altLang="en-US" sz="3200" b="0" i="1" dirty="0">
                        <a:solidFill>
                          <a:prstClr val="black"/>
                        </a:solidFill>
                        <a:latin typeface="Cambria Math" panose="02040503050406030204" pitchFamily="18" charset="0"/>
                        <a:sym typeface="Symbol" panose="05050102010706020507" pitchFamily="18" charset="2"/>
                      </a:rPr>
                      <m:t></m:t>
                    </m:r>
                    <m:r>
                      <a:rPr lang="zh-CN" altLang="en-US" sz="3200" b="0" i="1" dirty="0">
                        <a:solidFill>
                          <a:prstClr val="black"/>
                        </a:solidFill>
                        <a:latin typeface="Cambria Math" panose="02040503050406030204" pitchFamily="18" charset="0"/>
                      </a:rPr>
                      <m:t>表面</m:t>
                    </m:r>
                  </m:oMath>
                </a14:m>
                <a:endParaRPr lang="en-US" altLang="zh-CN" sz="32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endParaRPr>
              </a:p>
              <a:p>
                <a:pPr lvl="0">
                  <a:lnSpc>
                    <a:spcPct val="150000"/>
                  </a:lnSpc>
                  <a:spcBef>
                    <a:spcPts val="1200"/>
                  </a:spcBef>
                  <a:spcAft>
                    <a:spcPts val="200"/>
                  </a:spcAft>
                  <a:buClr>
                    <a:srgbClr val="99CB38"/>
                  </a:buClr>
                  <a:buSzPct val="100000"/>
                </a:pPr>
                <a:endParaRPr lang="zh-CN" altLang="en-US" sz="32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23" name="矩形 122">
                <a:extLst>
                  <a:ext uri="{FF2B5EF4-FFF2-40B4-BE49-F238E27FC236}">
                    <a16:creationId xmlns:a16="http://schemas.microsoft.com/office/drawing/2014/main" id="{5D5E7858-FE30-43DB-AC2B-8ED2D8F419BE}"/>
                  </a:ext>
                </a:extLst>
              </p:cNvPr>
              <p:cNvSpPr>
                <a:spLocks noRot="1" noChangeAspect="1" noMove="1" noResize="1" noEditPoints="1" noAdjustHandles="1" noChangeArrowheads="1" noChangeShapeType="1" noTextEdit="1"/>
              </p:cNvSpPr>
              <p:nvPr/>
            </p:nvSpPr>
            <p:spPr>
              <a:xfrm>
                <a:off x="5917544" y="1264494"/>
                <a:ext cx="6096000" cy="1764650"/>
              </a:xfrm>
              <a:prstGeom prst="rect">
                <a:avLst/>
              </a:prstGeom>
              <a:blipFill>
                <a:blip r:embed="rId2"/>
                <a:stretch>
                  <a:fillRect l="-26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Object 11">
                <a:extLst>
                  <a:ext uri="{FF2B5EF4-FFF2-40B4-BE49-F238E27FC236}">
                    <a16:creationId xmlns:a16="http://schemas.microsoft.com/office/drawing/2014/main" id="{87741C44-C224-4F16-8081-72C0A18EC7CC}"/>
                  </a:ext>
                </a:extLst>
              </p:cNvPr>
              <p:cNvSpPr txBox="1"/>
              <p:nvPr/>
            </p:nvSpPr>
            <p:spPr bwMode="auto">
              <a:xfrm>
                <a:off x="6307448" y="3364599"/>
                <a:ext cx="4366918" cy="1303338"/>
              </a:xfrm>
              <a:prstGeom prst="rect">
                <a:avLst/>
              </a:prstGeom>
              <a:noFill/>
              <a:ln>
                <a:noFill/>
              </a:ln>
            </p:spPr>
            <p:txBody>
              <a:bodyPr>
                <a:noAutofit/>
              </a:bodyPr>
              <a:lstStyle/>
              <a:p>
                <a:r>
                  <a:rPr lang="zh-CN" altLang="en-US" sz="3200" dirty="0">
                    <a:solidFill>
                      <a:srgbClr val="000000"/>
                    </a:solidFill>
                  </a:rPr>
                  <a:t>导体</a:t>
                </a:r>
                <a14:m>
                  <m:oMath xmlns:m="http://schemas.openxmlformats.org/officeDocument/2006/math">
                    <m:r>
                      <a:rPr lang="zh-CN" altLang="en-US" sz="3200" i="1">
                        <a:solidFill>
                          <a:srgbClr val="000000"/>
                        </a:solidFill>
                        <a:latin typeface="Cambria Math" panose="02040503050406030204" pitchFamily="18" charset="0"/>
                      </a:rPr>
                      <m:t>内</m:t>
                    </m:r>
                    <m:r>
                      <a:rPr lang="zh-CN" altLang="en-US" sz="3200" i="1" smtClean="0">
                        <a:solidFill>
                          <a:srgbClr val="000000"/>
                        </a:solidFill>
                        <a:latin typeface="Cambria Math" panose="02040503050406030204" pitchFamily="18" charset="0"/>
                      </a:rPr>
                      <m:t>：</m:t>
                    </m:r>
                    <m:nary>
                      <m:naryPr>
                        <m:limLoc m:val="undOvr"/>
                        <m:ctrlPr>
                          <a:rPr lang="en-US" sz="3200" i="1">
                            <a:solidFill>
                              <a:srgbClr val="000000"/>
                            </a:solidFill>
                            <a:latin typeface="Cambria Math" panose="02040503050406030204" pitchFamily="18" charset="0"/>
                          </a:rPr>
                        </m:ctrlPr>
                      </m:naryPr>
                      <m:sub>
                        <m:d>
                          <m:dPr>
                            <m:ctrlPr>
                              <a:rPr lang="en-US" sz="3200" i="1">
                                <a:solidFill>
                                  <a:srgbClr val="000000"/>
                                </a:solidFill>
                                <a:latin typeface="Cambria Math" panose="02040503050406030204" pitchFamily="18" charset="0"/>
                              </a:rPr>
                            </m:ctrlPr>
                          </m:dPr>
                          <m:e>
                            <m:r>
                              <m:rPr>
                                <m:sty m:val="p"/>
                              </m:rPr>
                              <a:rPr lang="en-US" sz="3200" b="0" i="0">
                                <a:solidFill>
                                  <a:srgbClr val="000000"/>
                                </a:solidFill>
                                <a:latin typeface="Cambria Math" panose="02040503050406030204" pitchFamily="18" charset="0"/>
                              </a:rPr>
                              <m:t>a</m:t>
                            </m:r>
                          </m:e>
                        </m:d>
                      </m:sub>
                      <m:sup>
                        <m:d>
                          <m:dPr>
                            <m:ctrlPr>
                              <a:rPr lang="en-US" sz="3200" i="1">
                                <a:solidFill>
                                  <a:srgbClr val="000000"/>
                                </a:solidFill>
                                <a:latin typeface="Cambria Math" panose="02040503050406030204" pitchFamily="18" charset="0"/>
                              </a:rPr>
                            </m:ctrlPr>
                          </m:dPr>
                          <m:e>
                            <m:r>
                              <m:rPr>
                                <m:sty m:val="p"/>
                              </m:rPr>
                              <a:rPr lang="en-US" sz="3200" b="0" i="0">
                                <a:solidFill>
                                  <a:srgbClr val="000000"/>
                                </a:solidFill>
                                <a:latin typeface="Cambria Math" panose="02040503050406030204" pitchFamily="18" charset="0"/>
                              </a:rPr>
                              <m:t>b</m:t>
                            </m:r>
                          </m:e>
                        </m:d>
                      </m:sup>
                      <m:e>
                        <m:acc>
                          <m:accPr>
                            <m:chr m:val="⃗"/>
                            <m:ctrlPr>
                              <a:rPr lang="en-US" sz="3200" i="1">
                                <a:solidFill>
                                  <a:srgbClr val="000000"/>
                                </a:solidFill>
                                <a:latin typeface="Cambria Math" panose="02040503050406030204" pitchFamily="18" charset="0"/>
                              </a:rPr>
                            </m:ctrlPr>
                          </m:accPr>
                          <m:e>
                            <m:r>
                              <m:rPr>
                                <m:sty m:val="p"/>
                              </m:rPr>
                              <a:rPr lang="en-US" sz="3200" b="0" i="0">
                                <a:solidFill>
                                  <a:srgbClr val="000000"/>
                                </a:solidFill>
                                <a:latin typeface="Cambria Math" panose="02040503050406030204" pitchFamily="18" charset="0"/>
                              </a:rPr>
                              <m:t>E</m:t>
                            </m:r>
                          </m:e>
                        </m:acc>
                        <m:r>
                          <a:rPr lang="en-US" sz="3200" b="0" i="0">
                            <a:solidFill>
                              <a:srgbClr val="000000"/>
                            </a:solidFill>
                            <a:latin typeface="Cambria Math" panose="02040503050406030204" pitchFamily="18" charset="0"/>
                          </a:rPr>
                          <m:t>⋅</m:t>
                        </m:r>
                        <m:r>
                          <m:rPr>
                            <m:sty m:val="p"/>
                          </m:rPr>
                          <a:rPr lang="en-US" sz="3200" b="0" i="0">
                            <a:solidFill>
                              <a:srgbClr val="000000"/>
                            </a:solidFill>
                            <a:latin typeface="Cambria Math" panose="02040503050406030204" pitchFamily="18" charset="0"/>
                          </a:rPr>
                          <m:t>d</m:t>
                        </m:r>
                        <m:acc>
                          <m:accPr>
                            <m:chr m:val="⃗"/>
                            <m:ctrlPr>
                              <a:rPr lang="en-US" sz="3200" i="1">
                                <a:solidFill>
                                  <a:srgbClr val="000000"/>
                                </a:solidFill>
                                <a:latin typeface="Cambria Math" panose="02040503050406030204" pitchFamily="18" charset="0"/>
                              </a:rPr>
                            </m:ctrlPr>
                          </m:accPr>
                          <m:e>
                            <m:r>
                              <m:rPr>
                                <m:sty m:val="p"/>
                              </m:rPr>
                              <a:rPr lang="en-US" sz="3200" b="0" i="0">
                                <a:solidFill>
                                  <a:srgbClr val="000000"/>
                                </a:solidFill>
                                <a:latin typeface="Cambria Math" panose="02040503050406030204" pitchFamily="18" charset="0"/>
                              </a:rPr>
                              <m:t>l</m:t>
                            </m:r>
                          </m:e>
                        </m:acc>
                      </m:e>
                    </m:nary>
                  </m:oMath>
                </a14:m>
                <a:endParaRPr lang="en-US" sz="3200" dirty="0"/>
              </a:p>
            </p:txBody>
          </p:sp>
        </mc:Choice>
        <mc:Fallback xmlns="">
          <p:sp>
            <p:nvSpPr>
              <p:cNvPr id="124" name="Object 11">
                <a:extLst>
                  <a:ext uri="{FF2B5EF4-FFF2-40B4-BE49-F238E27FC236}">
                    <a16:creationId xmlns:a16="http://schemas.microsoft.com/office/drawing/2014/main" id="{87741C44-C224-4F16-8081-72C0A18EC7CC}"/>
                  </a:ext>
                </a:extLst>
              </p:cNvPr>
              <p:cNvSpPr txBox="1">
                <a:spLocks noRot="1" noChangeAspect="1" noMove="1" noResize="1" noEditPoints="1" noAdjustHandles="1" noChangeArrowheads="1" noChangeShapeType="1" noTextEdit="1"/>
              </p:cNvSpPr>
              <p:nvPr/>
            </p:nvSpPr>
            <p:spPr bwMode="auto">
              <a:xfrm>
                <a:off x="6307448" y="3364599"/>
                <a:ext cx="4366918" cy="1303338"/>
              </a:xfrm>
              <a:prstGeom prst="rect">
                <a:avLst/>
              </a:prstGeom>
              <a:blipFill>
                <a:blip r:embed="rId3"/>
                <a:stretch>
                  <a:fillRect l="-363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Object 12">
                <a:extLst>
                  <a:ext uri="{FF2B5EF4-FFF2-40B4-BE49-F238E27FC236}">
                    <a16:creationId xmlns:a16="http://schemas.microsoft.com/office/drawing/2014/main" id="{90F412BF-1AAF-468D-A42B-050612BDF277}"/>
                  </a:ext>
                </a:extLst>
              </p:cNvPr>
              <p:cNvSpPr txBox="1"/>
              <p:nvPr/>
            </p:nvSpPr>
            <p:spPr bwMode="auto">
              <a:xfrm>
                <a:off x="9767134" y="3465443"/>
                <a:ext cx="585787" cy="417513"/>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n-US" sz="3200" b="0" i="0">
                          <a:solidFill>
                            <a:srgbClr val="000000"/>
                          </a:solidFill>
                          <a:latin typeface="Cambria Math" panose="02040503050406030204" pitchFamily="18" charset="0"/>
                        </a:rPr>
                        <m:t>=0</m:t>
                      </m:r>
                    </m:oMath>
                  </m:oMathPara>
                </a14:m>
                <a:endParaRPr lang="en-US" sz="3200" dirty="0"/>
              </a:p>
            </p:txBody>
          </p:sp>
        </mc:Choice>
        <mc:Fallback xmlns="">
          <p:sp>
            <p:nvSpPr>
              <p:cNvPr id="125" name="Object 12">
                <a:extLst>
                  <a:ext uri="{FF2B5EF4-FFF2-40B4-BE49-F238E27FC236}">
                    <a16:creationId xmlns:a16="http://schemas.microsoft.com/office/drawing/2014/main" id="{90F412BF-1AAF-468D-A42B-050612BDF277}"/>
                  </a:ext>
                </a:extLst>
              </p:cNvPr>
              <p:cNvSpPr txBox="1">
                <a:spLocks noRot="1" noChangeAspect="1" noMove="1" noResize="1" noEditPoints="1" noAdjustHandles="1" noChangeArrowheads="1" noChangeShapeType="1" noTextEdit="1"/>
              </p:cNvSpPr>
              <p:nvPr/>
            </p:nvSpPr>
            <p:spPr bwMode="auto">
              <a:xfrm>
                <a:off x="9767134" y="3465443"/>
                <a:ext cx="585787" cy="417513"/>
              </a:xfrm>
              <a:prstGeom prst="rect">
                <a:avLst/>
              </a:prstGeom>
              <a:blipFill>
                <a:blip r:embed="rId4"/>
                <a:stretch>
                  <a:fillRect r="-21875" b="-5797"/>
                </a:stretch>
              </a:blipFill>
              <a:ln>
                <a:noFill/>
              </a:ln>
            </p:spPr>
            <p:txBody>
              <a:bodyPr/>
              <a:lstStyle/>
              <a:p>
                <a:r>
                  <a:rPr lang="en-US">
                    <a:noFill/>
                  </a:rPr>
                  <a:t> </a:t>
                </a:r>
              </a:p>
            </p:txBody>
          </p:sp>
        </mc:Fallback>
      </mc:AlternateContent>
      <p:sp>
        <p:nvSpPr>
          <p:cNvPr id="76" name="矩形 75">
            <a:extLst>
              <a:ext uri="{FF2B5EF4-FFF2-40B4-BE49-F238E27FC236}">
                <a16:creationId xmlns:a16="http://schemas.microsoft.com/office/drawing/2014/main" id="{2A7E9D74-3E68-408D-A601-7B1EFD89A100}"/>
              </a:ext>
            </a:extLst>
          </p:cNvPr>
          <p:cNvSpPr/>
          <p:nvPr/>
        </p:nvSpPr>
        <p:spPr>
          <a:xfrm>
            <a:off x="6173891" y="4820909"/>
            <a:ext cx="6096000" cy="756617"/>
          </a:xfrm>
          <a:prstGeom prst="rect">
            <a:avLst/>
          </a:prstGeom>
        </p:spPr>
        <p:txBody>
          <a:bodyPr>
            <a:spAutoFit/>
          </a:bodyPr>
          <a:lstStyle/>
          <a:p>
            <a:pPr lvl="0">
              <a:lnSpc>
                <a:spcPct val="150000"/>
              </a:lnSpc>
              <a:spcBef>
                <a:spcPts val="1200"/>
              </a:spcBef>
              <a:spcAft>
                <a:spcPts val="200"/>
              </a:spcAft>
              <a:buClr>
                <a:srgbClr val="99CB38"/>
              </a:buClr>
              <a:buSzPct val="100000"/>
            </a:pPr>
            <a:r>
              <a:rPr lang="en-US" altLang="zh-CN" sz="32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导体是等势体，表面是等势面</a:t>
            </a:r>
          </a:p>
        </p:txBody>
      </p:sp>
      <p:sp>
        <p:nvSpPr>
          <p:cNvPr id="77" name="Oval 25">
            <a:extLst>
              <a:ext uri="{FF2B5EF4-FFF2-40B4-BE49-F238E27FC236}">
                <a16:creationId xmlns:a16="http://schemas.microsoft.com/office/drawing/2014/main" id="{059567BE-A490-4BE6-AFA3-CF9AD6C885E6}"/>
              </a:ext>
            </a:extLst>
          </p:cNvPr>
          <p:cNvSpPr>
            <a:spLocks noChangeArrowheads="1"/>
          </p:cNvSpPr>
          <p:nvPr/>
        </p:nvSpPr>
        <p:spPr bwMode="auto">
          <a:xfrm>
            <a:off x="2352674" y="1490132"/>
            <a:ext cx="1269206" cy="1283652"/>
          </a:xfrm>
          <a:prstGeom prst="ellipse">
            <a:avLst/>
          </a:prstGeom>
          <a:gradFill rotWithShape="0">
            <a:gsLst>
              <a:gs pos="0">
                <a:srgbClr val="FF9933"/>
              </a:gs>
              <a:gs pos="100000">
                <a:srgbClr val="FF9933">
                  <a:gamma/>
                  <a:shade val="69804"/>
                  <a:invGamma/>
                </a:srgbClr>
              </a:gs>
            </a:gsLst>
            <a:path path="shape">
              <a:fillToRect l="50000" t="50000" r="50000" b="50000"/>
            </a:path>
          </a:gradFill>
          <a:ln>
            <a:noFill/>
          </a:ln>
          <a:effectLst/>
          <a:extLst>
            <a:ext uri="{91240B29-F687-4F45-9708-019B960494DF}">
              <a14:hiddenLine xmlns:a14="http://schemas.microsoft.com/office/drawing/2010/main" w="38100">
                <a:solidFill>
                  <a:srgbClr val="9966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78" name="Group 90">
            <a:extLst>
              <a:ext uri="{FF2B5EF4-FFF2-40B4-BE49-F238E27FC236}">
                <a16:creationId xmlns:a16="http://schemas.microsoft.com/office/drawing/2014/main" id="{C8E10D53-004F-4C19-B125-62AD9D973EFE}"/>
              </a:ext>
            </a:extLst>
          </p:cNvPr>
          <p:cNvGrpSpPr>
            <a:grpSpLocks/>
          </p:cNvGrpSpPr>
          <p:nvPr/>
        </p:nvGrpSpPr>
        <p:grpSpPr bwMode="auto">
          <a:xfrm>
            <a:off x="1328319" y="1149612"/>
            <a:ext cx="3564870" cy="2040856"/>
            <a:chOff x="623" y="714"/>
            <a:chExt cx="1859" cy="1017"/>
          </a:xfrm>
        </p:grpSpPr>
        <p:sp>
          <p:nvSpPr>
            <p:cNvPr id="79" name="Line 5">
              <a:extLst>
                <a:ext uri="{FF2B5EF4-FFF2-40B4-BE49-F238E27FC236}">
                  <a16:creationId xmlns:a16="http://schemas.microsoft.com/office/drawing/2014/main" id="{C9C59EEC-6F1D-47DE-A3B7-4937BE26F4BB}"/>
                </a:ext>
              </a:extLst>
            </p:cNvPr>
            <p:cNvSpPr>
              <a:spLocks noChangeShapeType="1"/>
            </p:cNvSpPr>
            <p:nvPr/>
          </p:nvSpPr>
          <p:spPr bwMode="auto">
            <a:xfrm>
              <a:off x="623" y="714"/>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80" name="Line 6">
              <a:extLst>
                <a:ext uri="{FF2B5EF4-FFF2-40B4-BE49-F238E27FC236}">
                  <a16:creationId xmlns:a16="http://schemas.microsoft.com/office/drawing/2014/main" id="{EA1EF7F2-0C45-4FB6-B483-316C2AB84E17}"/>
                </a:ext>
              </a:extLst>
            </p:cNvPr>
            <p:cNvSpPr>
              <a:spLocks noChangeShapeType="1"/>
            </p:cNvSpPr>
            <p:nvPr/>
          </p:nvSpPr>
          <p:spPr bwMode="auto">
            <a:xfrm>
              <a:off x="623" y="859"/>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81" name="Line 7">
              <a:extLst>
                <a:ext uri="{FF2B5EF4-FFF2-40B4-BE49-F238E27FC236}">
                  <a16:creationId xmlns:a16="http://schemas.microsoft.com/office/drawing/2014/main" id="{2B096651-5452-4CDC-9231-0EAEAA4E8EA2}"/>
                </a:ext>
              </a:extLst>
            </p:cNvPr>
            <p:cNvSpPr>
              <a:spLocks noChangeShapeType="1"/>
            </p:cNvSpPr>
            <p:nvPr/>
          </p:nvSpPr>
          <p:spPr bwMode="auto">
            <a:xfrm>
              <a:off x="632" y="1005"/>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82" name="Line 8">
              <a:extLst>
                <a:ext uri="{FF2B5EF4-FFF2-40B4-BE49-F238E27FC236}">
                  <a16:creationId xmlns:a16="http://schemas.microsoft.com/office/drawing/2014/main" id="{62E62744-8A48-492F-A282-6A9602B62B08}"/>
                </a:ext>
              </a:extLst>
            </p:cNvPr>
            <p:cNvSpPr>
              <a:spLocks noChangeShapeType="1"/>
            </p:cNvSpPr>
            <p:nvPr/>
          </p:nvSpPr>
          <p:spPr bwMode="auto">
            <a:xfrm>
              <a:off x="623" y="1295"/>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83" name="Line 9">
              <a:extLst>
                <a:ext uri="{FF2B5EF4-FFF2-40B4-BE49-F238E27FC236}">
                  <a16:creationId xmlns:a16="http://schemas.microsoft.com/office/drawing/2014/main" id="{8A12633A-FC8D-41E9-B51F-889B76EADA29}"/>
                </a:ext>
              </a:extLst>
            </p:cNvPr>
            <p:cNvSpPr>
              <a:spLocks noChangeShapeType="1"/>
            </p:cNvSpPr>
            <p:nvPr/>
          </p:nvSpPr>
          <p:spPr bwMode="auto">
            <a:xfrm>
              <a:off x="623" y="1150"/>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84" name="Line 10">
              <a:extLst>
                <a:ext uri="{FF2B5EF4-FFF2-40B4-BE49-F238E27FC236}">
                  <a16:creationId xmlns:a16="http://schemas.microsoft.com/office/drawing/2014/main" id="{1991AE7C-846B-4C5D-B024-37F113A28C4B}"/>
                </a:ext>
              </a:extLst>
            </p:cNvPr>
            <p:cNvSpPr>
              <a:spLocks noChangeShapeType="1"/>
            </p:cNvSpPr>
            <p:nvPr/>
          </p:nvSpPr>
          <p:spPr bwMode="auto">
            <a:xfrm>
              <a:off x="623" y="1440"/>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85" name="Line 11">
              <a:extLst>
                <a:ext uri="{FF2B5EF4-FFF2-40B4-BE49-F238E27FC236}">
                  <a16:creationId xmlns:a16="http://schemas.microsoft.com/office/drawing/2014/main" id="{6398A2F3-3821-4591-8A53-2ABF1749CFE4}"/>
                </a:ext>
              </a:extLst>
            </p:cNvPr>
            <p:cNvSpPr>
              <a:spLocks noChangeShapeType="1"/>
            </p:cNvSpPr>
            <p:nvPr/>
          </p:nvSpPr>
          <p:spPr bwMode="auto">
            <a:xfrm>
              <a:off x="623" y="1586"/>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86" name="Line 12">
              <a:extLst>
                <a:ext uri="{FF2B5EF4-FFF2-40B4-BE49-F238E27FC236}">
                  <a16:creationId xmlns:a16="http://schemas.microsoft.com/office/drawing/2014/main" id="{986A671B-46CD-46A4-B34A-9384F828CB99}"/>
                </a:ext>
              </a:extLst>
            </p:cNvPr>
            <p:cNvSpPr>
              <a:spLocks noChangeShapeType="1"/>
            </p:cNvSpPr>
            <p:nvPr/>
          </p:nvSpPr>
          <p:spPr bwMode="auto">
            <a:xfrm>
              <a:off x="623" y="1731"/>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grpSp>
      <p:sp>
        <p:nvSpPr>
          <p:cNvPr id="87" name="矩形 86">
            <a:extLst>
              <a:ext uri="{FF2B5EF4-FFF2-40B4-BE49-F238E27FC236}">
                <a16:creationId xmlns:a16="http://schemas.microsoft.com/office/drawing/2014/main" id="{12939898-1749-42A7-9A88-6DFCA8F70B0A}"/>
              </a:ext>
            </a:extLst>
          </p:cNvPr>
          <p:cNvSpPr/>
          <p:nvPr/>
        </p:nvSpPr>
        <p:spPr>
          <a:xfrm>
            <a:off x="6013406" y="2326558"/>
            <a:ext cx="6096000" cy="756617"/>
          </a:xfrm>
          <a:prstGeom prst="rect">
            <a:avLst/>
          </a:prstGeom>
        </p:spPr>
        <p:txBody>
          <a:bodyPr>
            <a:spAutoFit/>
          </a:bodyPr>
          <a:lstStyle/>
          <a:p>
            <a:pPr lvl="0">
              <a:lnSpc>
                <a:spcPct val="150000"/>
              </a:lnSpc>
              <a:spcBef>
                <a:spcPts val="1200"/>
              </a:spcBef>
              <a:spcAft>
                <a:spcPts val="200"/>
              </a:spcAft>
              <a:buClr>
                <a:srgbClr val="99CB38"/>
              </a:buClr>
              <a:buSzPct val="100000"/>
            </a:pPr>
            <a:r>
              <a:rPr lang="en-US" altLang="zh-CN" sz="32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安培环路定理</a:t>
            </a:r>
          </a:p>
        </p:txBody>
      </p:sp>
    </p:spTree>
    <p:extLst>
      <p:ext uri="{BB962C8B-B14F-4D97-AF65-F5344CB8AC3E}">
        <p14:creationId xmlns:p14="http://schemas.microsoft.com/office/powerpoint/2010/main" val="241410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6">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p:bldP spid="125" grpId="0"/>
      <p:bldP spid="7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A66634C-B6FE-49B4-AD37-C27F423FF022}"/>
              </a:ext>
            </a:extLst>
          </p:cNvPr>
          <p:cNvSpPr/>
          <p:nvPr/>
        </p:nvSpPr>
        <p:spPr>
          <a:xfrm>
            <a:off x="486061" y="511408"/>
            <a:ext cx="6763390" cy="646331"/>
          </a:xfrm>
          <a:prstGeom prst="rect">
            <a:avLst/>
          </a:prstGeom>
        </p:spPr>
        <p:txBody>
          <a:bodyPr wrap="none">
            <a:spAutoFit/>
          </a:bodyPr>
          <a:lstStyle/>
          <a:p>
            <a:pPr marL="571500" indent="-571500">
              <a:buFont typeface="Wingdings" panose="05000000000000000000" pitchFamily="2" charset="2"/>
              <a:buChar char="q"/>
            </a:pPr>
            <a:r>
              <a:rPr lang="zh-CN" alt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静电平衡时导体上的电荷分布</a:t>
            </a:r>
            <a:endParaRPr 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Text Box 3">
            <a:extLst>
              <a:ext uri="{FF2B5EF4-FFF2-40B4-BE49-F238E27FC236}">
                <a16:creationId xmlns:a16="http://schemas.microsoft.com/office/drawing/2014/main" id="{14EC1534-D4E9-436E-987E-47236A112E87}"/>
              </a:ext>
            </a:extLst>
          </p:cNvPr>
          <p:cNvSpPr txBox="1">
            <a:spLocks noChangeArrowheads="1"/>
          </p:cNvSpPr>
          <p:nvPr/>
        </p:nvSpPr>
        <p:spPr bwMode="auto">
          <a:xfrm>
            <a:off x="5410398" y="4387454"/>
            <a:ext cx="64865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200" dirty="0">
                <a:ea typeface="华文楷体" panose="02010600040101010101" pitchFamily="2" charset="-122"/>
                <a:cs typeface="Times New Roman" panose="02020603050405020304" pitchFamily="18" charset="0"/>
              </a:rPr>
              <a:t>-  </a:t>
            </a:r>
            <a:r>
              <a:rPr lang="zh-CN" altLang="en-US" sz="3200" dirty="0">
                <a:ea typeface="华文楷体" panose="02010600040101010101" pitchFamily="2" charset="-122"/>
                <a:cs typeface="Times New Roman" panose="02020603050405020304" pitchFamily="18" charset="0"/>
              </a:rPr>
              <a:t>静电平衡时导体体内处处不带电</a:t>
            </a:r>
          </a:p>
        </p:txBody>
      </p:sp>
      <p:sp>
        <p:nvSpPr>
          <p:cNvPr id="7" name="Text Box 40">
            <a:extLst>
              <a:ext uri="{FF2B5EF4-FFF2-40B4-BE49-F238E27FC236}">
                <a16:creationId xmlns:a16="http://schemas.microsoft.com/office/drawing/2014/main" id="{643C55BA-35A3-4153-80EC-F772189A7608}"/>
              </a:ext>
            </a:extLst>
          </p:cNvPr>
          <p:cNvSpPr txBox="1">
            <a:spLocks noChangeArrowheads="1"/>
          </p:cNvSpPr>
          <p:nvPr/>
        </p:nvSpPr>
        <p:spPr bwMode="auto">
          <a:xfrm>
            <a:off x="6096000" y="5610012"/>
            <a:ext cx="453548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dirty="0">
                <a:solidFill>
                  <a:srgbClr val="FF0000"/>
                </a:solidFill>
                <a:ea typeface="华文楷体" panose="02010600040101010101" pitchFamily="2" charset="-122"/>
                <a:cs typeface="Times New Roman" panose="02020603050405020304" pitchFamily="18" charset="0"/>
              </a:rPr>
              <a:t>导体带电只能在表面！</a:t>
            </a:r>
          </a:p>
        </p:txBody>
      </p:sp>
      <mc:AlternateContent xmlns:mc="http://schemas.openxmlformats.org/markup-compatibility/2006" xmlns:a14="http://schemas.microsoft.com/office/drawing/2010/main">
        <mc:Choice Requires="a14">
          <p:sp>
            <p:nvSpPr>
              <p:cNvPr id="8" name="Object 45">
                <a:extLst>
                  <a:ext uri="{FF2B5EF4-FFF2-40B4-BE49-F238E27FC236}">
                    <a16:creationId xmlns:a16="http://schemas.microsoft.com/office/drawing/2014/main" id="{93D7CF43-06C3-45D0-AFA2-F9A112AE2E1E}"/>
                  </a:ext>
                </a:extLst>
              </p:cNvPr>
              <p:cNvSpPr txBox="1"/>
              <p:nvPr/>
            </p:nvSpPr>
            <p:spPr bwMode="auto">
              <a:xfrm>
                <a:off x="5777748" y="2826941"/>
                <a:ext cx="4583112" cy="1531938"/>
              </a:xfrm>
              <a:prstGeom prst="rect">
                <a:avLst/>
              </a:prstGeom>
              <a:noFill/>
              <a:ln w="12700">
                <a:noFill/>
                <a:miter lim="800000"/>
                <a:headEnd/>
                <a:tailEnd/>
              </a:ln>
              <a:effectLst/>
            </p:spPr>
            <p:txBody>
              <a:bodyPr>
                <a:norm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3200" i="1">
                              <a:solidFill>
                                <a:srgbClr val="000000"/>
                              </a:solidFill>
                              <a:latin typeface="Cambria Math" panose="02040503050406030204" pitchFamily="18" charset="0"/>
                            </a:rPr>
                          </m:ctrlPr>
                        </m:naryPr>
                        <m:sub>
                          <m:r>
                            <a:rPr lang="en-US" sz="3200" b="0" i="1">
                              <a:solidFill>
                                <a:srgbClr val="000000"/>
                              </a:solidFill>
                              <a:latin typeface="Cambria Math" panose="02040503050406030204" pitchFamily="18" charset="0"/>
                            </a:rPr>
                            <m:t>𝑆</m:t>
                          </m:r>
                        </m:sub>
                        <m:sup/>
                        <m:e>
                          <m:acc>
                            <m:accPr>
                              <m:chr m:val="⃗"/>
                              <m:ctrlPr>
                                <a:rPr lang="en-US" sz="3200" i="1">
                                  <a:solidFill>
                                    <a:srgbClr val="000000"/>
                                  </a:solidFill>
                                  <a:latin typeface="Cambria Math" panose="02040503050406030204" pitchFamily="18" charset="0"/>
                                </a:rPr>
                              </m:ctrlPr>
                            </m:accPr>
                            <m:e>
                              <m:r>
                                <a:rPr lang="en-US" sz="3200" b="0" i="1">
                                  <a:solidFill>
                                    <a:srgbClr val="000000"/>
                                  </a:solidFill>
                                  <a:latin typeface="Cambria Math" panose="02040503050406030204" pitchFamily="18" charset="0"/>
                                </a:rPr>
                                <m:t>𝐸</m:t>
                              </m:r>
                            </m:e>
                          </m:acc>
                          <m:r>
                            <a:rPr lang="en-US" sz="3200" b="0" i="1">
                              <a:solidFill>
                                <a:srgbClr val="000000"/>
                              </a:solidFill>
                              <a:latin typeface="Cambria Math" panose="02040503050406030204" pitchFamily="18" charset="0"/>
                            </a:rPr>
                            <m:t>⋅</m:t>
                          </m:r>
                          <m:r>
                            <a:rPr lang="en-US" sz="3200" b="0" i="1">
                              <a:solidFill>
                                <a:srgbClr val="000000"/>
                              </a:solidFill>
                              <a:latin typeface="Cambria Math" panose="02040503050406030204" pitchFamily="18" charset="0"/>
                            </a:rPr>
                            <m:t>𝑑</m:t>
                          </m:r>
                          <m:acc>
                            <m:accPr>
                              <m:chr m:val="⃗"/>
                              <m:ctrlPr>
                                <a:rPr lang="en-US" sz="3200" i="1">
                                  <a:solidFill>
                                    <a:srgbClr val="000000"/>
                                  </a:solidFill>
                                  <a:latin typeface="Cambria Math" panose="02040503050406030204" pitchFamily="18" charset="0"/>
                                </a:rPr>
                              </m:ctrlPr>
                            </m:accPr>
                            <m:e>
                              <m:r>
                                <a:rPr lang="en-US" sz="3200" b="0" i="1">
                                  <a:solidFill>
                                    <a:srgbClr val="000000"/>
                                  </a:solidFill>
                                  <a:latin typeface="Cambria Math" panose="02040503050406030204" pitchFamily="18" charset="0"/>
                                </a:rPr>
                                <m:t>𝑆</m:t>
                              </m:r>
                            </m:e>
                          </m:acc>
                        </m:e>
                      </m:nary>
                      <m:r>
                        <a:rPr lang="en-US" sz="3200" b="0" i="1">
                          <a:solidFill>
                            <a:srgbClr val="000000"/>
                          </a:solidFill>
                          <a:latin typeface="Cambria Math" panose="02040503050406030204" pitchFamily="18" charset="0"/>
                        </a:rPr>
                        <m:t>=</m:t>
                      </m:r>
                      <m:r>
                        <a:rPr lang="en-US" sz="3200" b="0" i="1">
                          <a:solidFill>
                            <a:srgbClr val="000000"/>
                          </a:solidFill>
                          <a:latin typeface="Cambria Math" panose="02040503050406030204" pitchFamily="18" charset="0"/>
                        </a:rPr>
                        <m:t>0</m:t>
                      </m:r>
                      <m:r>
                        <a:rPr lang="en-US" sz="3200" b="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nary>
                            <m:naryPr>
                              <m:chr m:val="∑"/>
                              <m:supHide m:val="on"/>
                              <m:ctrlPr>
                                <a:rPr lang="en-US" sz="3200" i="1">
                                  <a:solidFill>
                                    <a:srgbClr val="000000"/>
                                  </a:solidFill>
                                  <a:latin typeface="Cambria Math" panose="02040503050406030204" pitchFamily="18" charset="0"/>
                                </a:rPr>
                              </m:ctrlPr>
                            </m:naryPr>
                            <m:sub>
                              <m:r>
                                <a:rPr lang="en-US" sz="3200" b="0" i="1">
                                  <a:solidFill>
                                    <a:srgbClr val="000000"/>
                                  </a:solidFill>
                                  <a:latin typeface="Cambria Math" panose="02040503050406030204" pitchFamily="18" charset="0"/>
                                </a:rPr>
                                <m:t>𝑖</m:t>
                              </m:r>
                            </m:sub>
                            <m:sup/>
                            <m:e>
                              <m:sSub>
                                <m:sSubPr>
                                  <m:ctrlPr>
                                    <a:rPr lang="en-US" sz="3200" i="1">
                                      <a:solidFill>
                                        <a:srgbClr val="000000"/>
                                      </a:solidFill>
                                      <a:latin typeface="Cambria Math" panose="02040503050406030204" pitchFamily="18" charset="0"/>
                                    </a:rPr>
                                  </m:ctrlPr>
                                </m:sSubPr>
                                <m:e>
                                  <m:r>
                                    <a:rPr lang="en-US" sz="3200" b="0" i="1">
                                      <a:solidFill>
                                        <a:srgbClr val="000000"/>
                                      </a:solidFill>
                                      <a:latin typeface="Cambria Math" panose="02040503050406030204" pitchFamily="18" charset="0"/>
                                    </a:rPr>
                                    <m:t>𝑞</m:t>
                                  </m:r>
                                </m:e>
                                <m:sub>
                                  <m:r>
                                    <a:rPr lang="en-US" sz="3200" b="0" i="1">
                                      <a:solidFill>
                                        <a:srgbClr val="000000"/>
                                      </a:solidFill>
                                      <a:latin typeface="Cambria Math" panose="02040503050406030204" pitchFamily="18" charset="0"/>
                                    </a:rPr>
                                    <m:t>𝑖</m:t>
                                  </m:r>
                                  <m:r>
                                    <a:rPr lang="en-US" sz="3200" b="0" i="1">
                                      <a:solidFill>
                                        <a:srgbClr val="000000"/>
                                      </a:solidFill>
                                      <a:latin typeface="Cambria Math" panose="02040503050406030204" pitchFamily="18" charset="0"/>
                                    </a:rPr>
                                    <m:t>内</m:t>
                                  </m:r>
                                </m:sub>
                              </m:sSub>
                            </m:e>
                          </m:nary>
                        </m:num>
                        <m:den>
                          <m:sSub>
                            <m:sSubPr>
                              <m:ctrlPr>
                                <a:rPr lang="en-US" sz="3200" i="1">
                                  <a:solidFill>
                                    <a:srgbClr val="000000"/>
                                  </a:solidFill>
                                  <a:latin typeface="Cambria Math" panose="02040503050406030204" pitchFamily="18" charset="0"/>
                                </a:rPr>
                              </m:ctrlPr>
                            </m:sSubPr>
                            <m:e>
                              <m:r>
                                <a:rPr lang="en-US" sz="3200" b="0" i="1">
                                  <a:solidFill>
                                    <a:srgbClr val="000000"/>
                                  </a:solidFill>
                                  <a:latin typeface="Cambria Math" panose="02040503050406030204" pitchFamily="18" charset="0"/>
                                </a:rPr>
                                <m:t>𝜀</m:t>
                              </m:r>
                            </m:e>
                            <m:sub>
                              <m:r>
                                <a:rPr lang="en-US" sz="3200" b="0" i="1">
                                  <a:solidFill>
                                    <a:srgbClr val="000000"/>
                                  </a:solidFill>
                                  <a:latin typeface="Cambria Math" panose="02040503050406030204" pitchFamily="18" charset="0"/>
                                </a:rPr>
                                <m:t>0</m:t>
                              </m:r>
                            </m:sub>
                          </m:sSub>
                        </m:den>
                      </m:f>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8" name="Object 45">
                <a:extLst>
                  <a:ext uri="{FF2B5EF4-FFF2-40B4-BE49-F238E27FC236}">
                    <a16:creationId xmlns:a16="http://schemas.microsoft.com/office/drawing/2014/main" id="{93D7CF43-06C3-45D0-AFA2-F9A112AE2E1E}"/>
                  </a:ext>
                </a:extLst>
              </p:cNvPr>
              <p:cNvSpPr txBox="1">
                <a:spLocks noRot="1" noChangeAspect="1" noMove="1" noResize="1" noEditPoints="1" noAdjustHandles="1" noChangeArrowheads="1" noChangeShapeType="1" noTextEdit="1"/>
              </p:cNvSpPr>
              <p:nvPr/>
            </p:nvSpPr>
            <p:spPr bwMode="auto">
              <a:xfrm>
                <a:off x="5777748" y="2826941"/>
                <a:ext cx="4583112" cy="1531938"/>
              </a:xfrm>
              <a:prstGeom prst="rect">
                <a:avLst/>
              </a:prstGeom>
              <a:blipFill>
                <a:blip r:embed="rId2"/>
                <a:stretch>
                  <a:fillRect/>
                </a:stretch>
              </a:blipFill>
              <a:ln w="12700">
                <a:noFill/>
                <a:miter lim="800000"/>
                <a:headEnd/>
                <a:tailEnd/>
              </a:ln>
              <a:effectLst/>
            </p:spPr>
            <p:txBody>
              <a:bodyPr/>
              <a:lstStyle/>
              <a:p>
                <a:r>
                  <a:rPr lang="en-US">
                    <a:noFill/>
                  </a:rPr>
                  <a:t> </a:t>
                </a:r>
              </a:p>
            </p:txBody>
          </p:sp>
        </mc:Fallback>
      </mc:AlternateContent>
      <p:grpSp>
        <p:nvGrpSpPr>
          <p:cNvPr id="13" name="Group 101">
            <a:extLst>
              <a:ext uri="{FF2B5EF4-FFF2-40B4-BE49-F238E27FC236}">
                <a16:creationId xmlns:a16="http://schemas.microsoft.com/office/drawing/2014/main" id="{31F1EB22-6797-42BA-840A-BE077B9CFE26}"/>
              </a:ext>
            </a:extLst>
          </p:cNvPr>
          <p:cNvGrpSpPr>
            <a:grpSpLocks noChangeAspect="1"/>
          </p:cNvGrpSpPr>
          <p:nvPr/>
        </p:nvGrpSpPr>
        <p:grpSpPr bwMode="auto">
          <a:xfrm>
            <a:off x="-619878" y="1761015"/>
            <a:ext cx="6306820" cy="3176111"/>
            <a:chOff x="2285" y="1912"/>
            <a:chExt cx="3056" cy="1539"/>
          </a:xfrm>
        </p:grpSpPr>
        <p:sp>
          <p:nvSpPr>
            <p:cNvPr id="14" name="Oval 25">
              <a:extLst>
                <a:ext uri="{FF2B5EF4-FFF2-40B4-BE49-F238E27FC236}">
                  <a16:creationId xmlns:a16="http://schemas.microsoft.com/office/drawing/2014/main" id="{FA84FB59-49C1-49C6-AE4B-AF90417BD3D9}"/>
                </a:ext>
              </a:extLst>
            </p:cNvPr>
            <p:cNvSpPr>
              <a:spLocks noChangeArrowheads="1"/>
            </p:cNvSpPr>
            <p:nvPr/>
          </p:nvSpPr>
          <p:spPr bwMode="auto">
            <a:xfrm>
              <a:off x="3501" y="2390"/>
              <a:ext cx="653" cy="598"/>
            </a:xfrm>
            <a:prstGeom prst="ellipse">
              <a:avLst/>
            </a:prstGeom>
            <a:gradFill rotWithShape="0">
              <a:gsLst>
                <a:gs pos="0">
                  <a:srgbClr val="FF9933"/>
                </a:gs>
                <a:gs pos="100000">
                  <a:srgbClr val="FF9933">
                    <a:gamma/>
                    <a:shade val="69804"/>
                    <a:invGamma/>
                  </a:srgbClr>
                </a:gs>
              </a:gsLst>
              <a:path path="shape">
                <a:fillToRect l="50000" t="50000" r="50000" b="50000"/>
              </a:path>
            </a:gradFill>
            <a:ln>
              <a:noFill/>
            </a:ln>
            <a:effectLst/>
            <a:extLst>
              <a:ext uri="{91240B29-F687-4F45-9708-019B960494DF}">
                <a14:hiddenLine xmlns:a14="http://schemas.microsoft.com/office/drawing/2010/main" w="38100">
                  <a:solidFill>
                    <a:srgbClr val="9966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5" name="Arc 26">
              <a:extLst>
                <a:ext uri="{FF2B5EF4-FFF2-40B4-BE49-F238E27FC236}">
                  <a16:creationId xmlns:a16="http://schemas.microsoft.com/office/drawing/2014/main" id="{39483212-CA45-4F0F-B011-823C2BC23438}"/>
                </a:ext>
              </a:extLst>
            </p:cNvPr>
            <p:cNvSpPr>
              <a:spLocks/>
            </p:cNvSpPr>
            <p:nvPr/>
          </p:nvSpPr>
          <p:spPr bwMode="auto">
            <a:xfrm>
              <a:off x="4159" y="2606"/>
              <a:ext cx="654" cy="126"/>
            </a:xfrm>
            <a:custGeom>
              <a:avLst/>
              <a:gdLst>
                <a:gd name="G0" fmla="+- 16132 0 0"/>
                <a:gd name="G1" fmla="+- 21600 0 0"/>
                <a:gd name="G2" fmla="+- 21600 0 0"/>
                <a:gd name="T0" fmla="*/ 0 w 16132"/>
                <a:gd name="T1" fmla="*/ 7236 h 21600"/>
                <a:gd name="T2" fmla="*/ 16114 w 16132"/>
                <a:gd name="T3" fmla="*/ 0 h 21600"/>
                <a:gd name="T4" fmla="*/ 16132 w 16132"/>
                <a:gd name="T5" fmla="*/ 21600 h 21600"/>
              </a:gdLst>
              <a:ahLst/>
              <a:cxnLst>
                <a:cxn ang="0">
                  <a:pos x="T0" y="T1"/>
                </a:cxn>
                <a:cxn ang="0">
                  <a:pos x="T2" y="T3"/>
                </a:cxn>
                <a:cxn ang="0">
                  <a:pos x="T4" y="T5"/>
                </a:cxn>
              </a:cxnLst>
              <a:rect l="0" t="0" r="r" b="b"/>
              <a:pathLst>
                <a:path w="16132" h="21600" fill="none" extrusionOk="0">
                  <a:moveTo>
                    <a:pt x="0" y="7236"/>
                  </a:moveTo>
                  <a:cubicBezTo>
                    <a:pt x="4094" y="2637"/>
                    <a:pt x="9956" y="5"/>
                    <a:pt x="16114" y="0"/>
                  </a:cubicBezTo>
                </a:path>
                <a:path w="16132" h="21600" stroke="0" extrusionOk="0">
                  <a:moveTo>
                    <a:pt x="0" y="7236"/>
                  </a:moveTo>
                  <a:cubicBezTo>
                    <a:pt x="4094" y="2637"/>
                    <a:pt x="9956" y="5"/>
                    <a:pt x="16114" y="0"/>
                  </a:cubicBezTo>
                  <a:lnTo>
                    <a:pt x="16132" y="21600"/>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 name="Arc 27">
              <a:extLst>
                <a:ext uri="{FF2B5EF4-FFF2-40B4-BE49-F238E27FC236}">
                  <a16:creationId xmlns:a16="http://schemas.microsoft.com/office/drawing/2014/main" id="{74369142-2397-4C5C-9AF9-290152D53F10}"/>
                </a:ext>
              </a:extLst>
            </p:cNvPr>
            <p:cNvSpPr>
              <a:spLocks/>
            </p:cNvSpPr>
            <p:nvPr/>
          </p:nvSpPr>
          <p:spPr bwMode="auto">
            <a:xfrm>
              <a:off x="4147" y="2497"/>
              <a:ext cx="1194" cy="199"/>
            </a:xfrm>
            <a:custGeom>
              <a:avLst/>
              <a:gdLst>
                <a:gd name="G0" fmla="+- 18290 0 0"/>
                <a:gd name="G1" fmla="+- 19887 0 0"/>
                <a:gd name="G2" fmla="+- 21600 0 0"/>
                <a:gd name="T0" fmla="*/ 0 w 18290"/>
                <a:gd name="T1" fmla="*/ 8396 h 19887"/>
                <a:gd name="T2" fmla="*/ 9859 w 18290"/>
                <a:gd name="T3" fmla="*/ 0 h 19887"/>
                <a:gd name="T4" fmla="*/ 18290 w 18290"/>
                <a:gd name="T5" fmla="*/ 19887 h 19887"/>
              </a:gdLst>
              <a:ahLst/>
              <a:cxnLst>
                <a:cxn ang="0">
                  <a:pos x="T0" y="T1"/>
                </a:cxn>
                <a:cxn ang="0">
                  <a:pos x="T2" y="T3"/>
                </a:cxn>
                <a:cxn ang="0">
                  <a:pos x="T4" y="T5"/>
                </a:cxn>
              </a:cxnLst>
              <a:rect l="0" t="0" r="r" b="b"/>
              <a:pathLst>
                <a:path w="18290" h="19887" fill="none" extrusionOk="0">
                  <a:moveTo>
                    <a:pt x="0" y="8396"/>
                  </a:moveTo>
                  <a:cubicBezTo>
                    <a:pt x="2350" y="4655"/>
                    <a:pt x="5791" y="1724"/>
                    <a:pt x="9859" y="0"/>
                  </a:cubicBezTo>
                </a:path>
                <a:path w="18290" h="19887" stroke="0" extrusionOk="0">
                  <a:moveTo>
                    <a:pt x="0" y="8396"/>
                  </a:moveTo>
                  <a:cubicBezTo>
                    <a:pt x="2350" y="4655"/>
                    <a:pt x="5791" y="1724"/>
                    <a:pt x="9859" y="0"/>
                  </a:cubicBezTo>
                  <a:lnTo>
                    <a:pt x="18290" y="19887"/>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 name="Arc 28">
              <a:extLst>
                <a:ext uri="{FF2B5EF4-FFF2-40B4-BE49-F238E27FC236}">
                  <a16:creationId xmlns:a16="http://schemas.microsoft.com/office/drawing/2014/main" id="{5CA573E5-004D-407D-BA2D-53DBDC8A282C}"/>
                </a:ext>
              </a:extLst>
            </p:cNvPr>
            <p:cNvSpPr>
              <a:spLocks/>
            </p:cNvSpPr>
            <p:nvPr/>
          </p:nvSpPr>
          <p:spPr bwMode="auto">
            <a:xfrm>
              <a:off x="4116" y="2349"/>
              <a:ext cx="1143" cy="289"/>
            </a:xfrm>
            <a:custGeom>
              <a:avLst/>
              <a:gdLst>
                <a:gd name="G0" fmla="+- 20534 0 0"/>
                <a:gd name="G1" fmla="+- 19797 0 0"/>
                <a:gd name="G2" fmla="+- 21600 0 0"/>
                <a:gd name="T0" fmla="*/ 0 w 20534"/>
                <a:gd name="T1" fmla="*/ 13096 h 19797"/>
                <a:gd name="T2" fmla="*/ 11895 w 20534"/>
                <a:gd name="T3" fmla="*/ 0 h 19797"/>
                <a:gd name="T4" fmla="*/ 20534 w 20534"/>
                <a:gd name="T5" fmla="*/ 19797 h 19797"/>
              </a:gdLst>
              <a:ahLst/>
              <a:cxnLst>
                <a:cxn ang="0">
                  <a:pos x="T0" y="T1"/>
                </a:cxn>
                <a:cxn ang="0">
                  <a:pos x="T2" y="T3"/>
                </a:cxn>
                <a:cxn ang="0">
                  <a:pos x="T4" y="T5"/>
                </a:cxn>
              </a:cxnLst>
              <a:rect l="0" t="0" r="r" b="b"/>
              <a:pathLst>
                <a:path w="20534" h="19797" fill="none" extrusionOk="0">
                  <a:moveTo>
                    <a:pt x="-1" y="13095"/>
                  </a:moveTo>
                  <a:cubicBezTo>
                    <a:pt x="1913" y="7232"/>
                    <a:pt x="6241" y="2466"/>
                    <a:pt x="11894" y="-1"/>
                  </a:cubicBezTo>
                </a:path>
                <a:path w="20534" h="19797" stroke="0" extrusionOk="0">
                  <a:moveTo>
                    <a:pt x="-1" y="13095"/>
                  </a:moveTo>
                  <a:cubicBezTo>
                    <a:pt x="1913" y="7232"/>
                    <a:pt x="6241" y="2466"/>
                    <a:pt x="11894" y="-1"/>
                  </a:cubicBezTo>
                  <a:lnTo>
                    <a:pt x="20534" y="19797"/>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 name="Arc 29">
              <a:extLst>
                <a:ext uri="{FF2B5EF4-FFF2-40B4-BE49-F238E27FC236}">
                  <a16:creationId xmlns:a16="http://schemas.microsoft.com/office/drawing/2014/main" id="{DE5BD7B7-37E9-4442-8A4A-734276C0E03F}"/>
                </a:ext>
              </a:extLst>
            </p:cNvPr>
            <p:cNvSpPr>
              <a:spLocks/>
            </p:cNvSpPr>
            <p:nvPr/>
          </p:nvSpPr>
          <p:spPr bwMode="auto">
            <a:xfrm>
              <a:off x="4071" y="2220"/>
              <a:ext cx="1120" cy="323"/>
            </a:xfrm>
            <a:custGeom>
              <a:avLst/>
              <a:gdLst>
                <a:gd name="G0" fmla="+- 21332 0 0"/>
                <a:gd name="G1" fmla="+- 20206 0 0"/>
                <a:gd name="G2" fmla="+- 21600 0 0"/>
                <a:gd name="T0" fmla="*/ 0 w 21332"/>
                <a:gd name="T1" fmla="*/ 16812 h 20206"/>
                <a:gd name="T2" fmla="*/ 13697 w 21332"/>
                <a:gd name="T3" fmla="*/ 0 h 20206"/>
                <a:gd name="T4" fmla="*/ 21332 w 21332"/>
                <a:gd name="T5" fmla="*/ 20206 h 20206"/>
              </a:gdLst>
              <a:ahLst/>
              <a:cxnLst>
                <a:cxn ang="0">
                  <a:pos x="T0" y="T1"/>
                </a:cxn>
                <a:cxn ang="0">
                  <a:pos x="T2" y="T3"/>
                </a:cxn>
                <a:cxn ang="0">
                  <a:pos x="T4" y="T5"/>
                </a:cxn>
              </a:cxnLst>
              <a:rect l="0" t="0" r="r" b="b"/>
              <a:pathLst>
                <a:path w="21332" h="20206" fill="none" extrusionOk="0">
                  <a:moveTo>
                    <a:pt x="0" y="16812"/>
                  </a:moveTo>
                  <a:cubicBezTo>
                    <a:pt x="1218" y="9156"/>
                    <a:pt x="6445" y="2740"/>
                    <a:pt x="13697" y="0"/>
                  </a:cubicBezTo>
                </a:path>
                <a:path w="21332" h="20206" stroke="0" extrusionOk="0">
                  <a:moveTo>
                    <a:pt x="0" y="16812"/>
                  </a:moveTo>
                  <a:cubicBezTo>
                    <a:pt x="1218" y="9156"/>
                    <a:pt x="6445" y="2740"/>
                    <a:pt x="13697" y="0"/>
                  </a:cubicBezTo>
                  <a:lnTo>
                    <a:pt x="21332" y="20206"/>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9" name="Arc 30">
              <a:extLst>
                <a:ext uri="{FF2B5EF4-FFF2-40B4-BE49-F238E27FC236}">
                  <a16:creationId xmlns:a16="http://schemas.microsoft.com/office/drawing/2014/main" id="{EE0DDEE7-550B-485F-A2B2-1E5267C35457}"/>
                </a:ext>
              </a:extLst>
            </p:cNvPr>
            <p:cNvSpPr>
              <a:spLocks/>
            </p:cNvSpPr>
            <p:nvPr/>
          </p:nvSpPr>
          <p:spPr bwMode="auto">
            <a:xfrm>
              <a:off x="4004" y="2058"/>
              <a:ext cx="1152" cy="508"/>
            </a:xfrm>
            <a:custGeom>
              <a:avLst/>
              <a:gdLst>
                <a:gd name="G0" fmla="+- 20686 0 0"/>
                <a:gd name="G1" fmla="+- 20520 0 0"/>
                <a:gd name="G2" fmla="+- 21600 0 0"/>
                <a:gd name="T0" fmla="*/ 0 w 20686"/>
                <a:gd name="T1" fmla="*/ 14304 h 20520"/>
                <a:gd name="T2" fmla="*/ 13943 w 20686"/>
                <a:gd name="T3" fmla="*/ 0 h 20520"/>
                <a:gd name="T4" fmla="*/ 20686 w 20686"/>
                <a:gd name="T5" fmla="*/ 20520 h 20520"/>
              </a:gdLst>
              <a:ahLst/>
              <a:cxnLst>
                <a:cxn ang="0">
                  <a:pos x="T0" y="T1"/>
                </a:cxn>
                <a:cxn ang="0">
                  <a:pos x="T2" y="T3"/>
                </a:cxn>
                <a:cxn ang="0">
                  <a:pos x="T4" y="T5"/>
                </a:cxn>
              </a:cxnLst>
              <a:rect l="0" t="0" r="r" b="b"/>
              <a:pathLst>
                <a:path w="20686" h="20520" fill="none" extrusionOk="0">
                  <a:moveTo>
                    <a:pt x="-1" y="14303"/>
                  </a:moveTo>
                  <a:cubicBezTo>
                    <a:pt x="2031" y="7544"/>
                    <a:pt x="7237" y="2203"/>
                    <a:pt x="13942" y="-1"/>
                  </a:cubicBezTo>
                </a:path>
                <a:path w="20686" h="20520" stroke="0" extrusionOk="0">
                  <a:moveTo>
                    <a:pt x="-1" y="14303"/>
                  </a:moveTo>
                  <a:cubicBezTo>
                    <a:pt x="2031" y="7544"/>
                    <a:pt x="7237" y="2203"/>
                    <a:pt x="13942" y="-1"/>
                  </a:cubicBezTo>
                  <a:lnTo>
                    <a:pt x="20686" y="20520"/>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0" name="Arc 31">
              <a:extLst>
                <a:ext uri="{FF2B5EF4-FFF2-40B4-BE49-F238E27FC236}">
                  <a16:creationId xmlns:a16="http://schemas.microsoft.com/office/drawing/2014/main" id="{EA83F62E-A6CC-45A7-93A0-726E0256D9EE}"/>
                </a:ext>
              </a:extLst>
            </p:cNvPr>
            <p:cNvSpPr>
              <a:spLocks/>
            </p:cNvSpPr>
            <p:nvPr/>
          </p:nvSpPr>
          <p:spPr bwMode="auto">
            <a:xfrm rot="120000">
              <a:off x="4065" y="1912"/>
              <a:ext cx="1053" cy="447"/>
            </a:xfrm>
            <a:custGeom>
              <a:avLst/>
              <a:gdLst>
                <a:gd name="G0" fmla="+- 20684 0 0"/>
                <a:gd name="G1" fmla="+- 20432 0 0"/>
                <a:gd name="G2" fmla="+- 21600 0 0"/>
                <a:gd name="T0" fmla="*/ 0 w 20684"/>
                <a:gd name="T1" fmla="*/ 14207 h 20432"/>
                <a:gd name="T2" fmla="*/ 13677 w 20684"/>
                <a:gd name="T3" fmla="*/ 0 h 20432"/>
                <a:gd name="T4" fmla="*/ 20684 w 20684"/>
                <a:gd name="T5" fmla="*/ 20432 h 20432"/>
              </a:gdLst>
              <a:ahLst/>
              <a:cxnLst>
                <a:cxn ang="0">
                  <a:pos x="T0" y="T1"/>
                </a:cxn>
                <a:cxn ang="0">
                  <a:pos x="T2" y="T3"/>
                </a:cxn>
                <a:cxn ang="0">
                  <a:pos x="T4" y="T5"/>
                </a:cxn>
              </a:cxnLst>
              <a:rect l="0" t="0" r="r" b="b"/>
              <a:pathLst>
                <a:path w="20684" h="20432" fill="none" extrusionOk="0">
                  <a:moveTo>
                    <a:pt x="0" y="14207"/>
                  </a:moveTo>
                  <a:cubicBezTo>
                    <a:pt x="2005" y="7545"/>
                    <a:pt x="7096" y="2256"/>
                    <a:pt x="13677" y="0"/>
                  </a:cubicBezTo>
                </a:path>
                <a:path w="20684" h="20432" stroke="0" extrusionOk="0">
                  <a:moveTo>
                    <a:pt x="0" y="14207"/>
                  </a:moveTo>
                  <a:cubicBezTo>
                    <a:pt x="2005" y="7545"/>
                    <a:pt x="7096" y="2256"/>
                    <a:pt x="13677" y="0"/>
                  </a:cubicBezTo>
                  <a:lnTo>
                    <a:pt x="20684" y="20432"/>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1" name="Arc 32">
              <a:extLst>
                <a:ext uri="{FF2B5EF4-FFF2-40B4-BE49-F238E27FC236}">
                  <a16:creationId xmlns:a16="http://schemas.microsoft.com/office/drawing/2014/main" id="{528AB788-1F43-4BCC-80A6-ABF133056C5C}"/>
                </a:ext>
              </a:extLst>
            </p:cNvPr>
            <p:cNvSpPr>
              <a:spLocks/>
            </p:cNvSpPr>
            <p:nvPr/>
          </p:nvSpPr>
          <p:spPr bwMode="auto">
            <a:xfrm>
              <a:off x="3850" y="2102"/>
              <a:ext cx="206" cy="189"/>
            </a:xfrm>
            <a:custGeom>
              <a:avLst/>
              <a:gdLst>
                <a:gd name="G0" fmla="+- 0 0 0"/>
                <a:gd name="G1" fmla="+- 0 0 0"/>
                <a:gd name="G2" fmla="+- 21600 0 0"/>
                <a:gd name="T0" fmla="*/ 17797 w 17797"/>
                <a:gd name="T1" fmla="*/ 12241 h 21600"/>
                <a:gd name="T2" fmla="*/ 0 w 17797"/>
                <a:gd name="T3" fmla="*/ 21600 h 21600"/>
                <a:gd name="T4" fmla="*/ 0 w 17797"/>
                <a:gd name="T5" fmla="*/ 0 h 21600"/>
              </a:gdLst>
              <a:ahLst/>
              <a:cxnLst>
                <a:cxn ang="0">
                  <a:pos x="T0" y="T1"/>
                </a:cxn>
                <a:cxn ang="0">
                  <a:pos x="T2" y="T3"/>
                </a:cxn>
                <a:cxn ang="0">
                  <a:pos x="T4" y="T5"/>
                </a:cxn>
              </a:cxnLst>
              <a:rect l="0" t="0" r="r" b="b"/>
              <a:pathLst>
                <a:path w="17797" h="21600" fill="none" extrusionOk="0">
                  <a:moveTo>
                    <a:pt x="17796" y="12240"/>
                  </a:moveTo>
                  <a:cubicBezTo>
                    <a:pt x="13766" y="18099"/>
                    <a:pt x="7111" y="21600"/>
                    <a:pt x="0" y="21600"/>
                  </a:cubicBezTo>
                </a:path>
                <a:path w="17797" h="21600" stroke="0" extrusionOk="0">
                  <a:moveTo>
                    <a:pt x="17796" y="12240"/>
                  </a:moveTo>
                  <a:cubicBezTo>
                    <a:pt x="13766" y="18099"/>
                    <a:pt x="7111" y="21600"/>
                    <a:pt x="0" y="21600"/>
                  </a:cubicBezTo>
                  <a:lnTo>
                    <a:pt x="0" y="0"/>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2" name="Arc 33">
              <a:extLst>
                <a:ext uri="{FF2B5EF4-FFF2-40B4-BE49-F238E27FC236}">
                  <a16:creationId xmlns:a16="http://schemas.microsoft.com/office/drawing/2014/main" id="{6C4E00B8-9E65-4176-BE40-05850CC42416}"/>
                </a:ext>
              </a:extLst>
            </p:cNvPr>
            <p:cNvSpPr>
              <a:spLocks/>
            </p:cNvSpPr>
            <p:nvPr/>
          </p:nvSpPr>
          <p:spPr bwMode="auto">
            <a:xfrm rot="10920000">
              <a:off x="4151" y="2709"/>
              <a:ext cx="1070" cy="111"/>
            </a:xfrm>
            <a:custGeom>
              <a:avLst/>
              <a:gdLst>
                <a:gd name="G0" fmla="+- 0 0 0"/>
                <a:gd name="G1" fmla="+- 20458 0 0"/>
                <a:gd name="G2" fmla="+- 21600 0 0"/>
                <a:gd name="T0" fmla="*/ 6931 w 17792"/>
                <a:gd name="T1" fmla="*/ 0 h 20458"/>
                <a:gd name="T2" fmla="*/ 17792 w 17792"/>
                <a:gd name="T3" fmla="*/ 8211 h 20458"/>
                <a:gd name="T4" fmla="*/ 0 w 17792"/>
                <a:gd name="T5" fmla="*/ 20458 h 20458"/>
              </a:gdLst>
              <a:ahLst/>
              <a:cxnLst>
                <a:cxn ang="0">
                  <a:pos x="T0" y="T1"/>
                </a:cxn>
                <a:cxn ang="0">
                  <a:pos x="T2" y="T3"/>
                </a:cxn>
                <a:cxn ang="0">
                  <a:pos x="T4" y="T5"/>
                </a:cxn>
              </a:cxnLst>
              <a:rect l="0" t="0" r="r" b="b"/>
              <a:pathLst>
                <a:path w="17792" h="20458" fill="none" extrusionOk="0">
                  <a:moveTo>
                    <a:pt x="6930" y="0"/>
                  </a:moveTo>
                  <a:cubicBezTo>
                    <a:pt x="11341" y="1494"/>
                    <a:pt x="15151" y="4374"/>
                    <a:pt x="17792" y="8210"/>
                  </a:cubicBezTo>
                </a:path>
                <a:path w="17792" h="20458" stroke="0" extrusionOk="0">
                  <a:moveTo>
                    <a:pt x="6930" y="0"/>
                  </a:moveTo>
                  <a:cubicBezTo>
                    <a:pt x="11341" y="1494"/>
                    <a:pt x="15151" y="4374"/>
                    <a:pt x="17792" y="8210"/>
                  </a:cubicBezTo>
                  <a:lnTo>
                    <a:pt x="0" y="20458"/>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 name="Arc 34">
              <a:extLst>
                <a:ext uri="{FF2B5EF4-FFF2-40B4-BE49-F238E27FC236}">
                  <a16:creationId xmlns:a16="http://schemas.microsoft.com/office/drawing/2014/main" id="{D6CEDF79-F858-4A99-A112-36A6CF30F654}"/>
                </a:ext>
              </a:extLst>
            </p:cNvPr>
            <p:cNvSpPr>
              <a:spLocks/>
            </p:cNvSpPr>
            <p:nvPr/>
          </p:nvSpPr>
          <p:spPr bwMode="auto">
            <a:xfrm rot="11040000">
              <a:off x="4128" y="2732"/>
              <a:ext cx="1164" cy="205"/>
            </a:xfrm>
            <a:custGeom>
              <a:avLst/>
              <a:gdLst>
                <a:gd name="G0" fmla="+- 0 0 0"/>
                <a:gd name="G1" fmla="+- 20048 0 0"/>
                <a:gd name="G2" fmla="+- 21600 0 0"/>
                <a:gd name="T0" fmla="*/ 8040 w 18286"/>
                <a:gd name="T1" fmla="*/ 0 h 20048"/>
                <a:gd name="T2" fmla="*/ 18286 w 18286"/>
                <a:gd name="T3" fmla="*/ 8552 h 20048"/>
                <a:gd name="T4" fmla="*/ 0 w 18286"/>
                <a:gd name="T5" fmla="*/ 20048 h 20048"/>
              </a:gdLst>
              <a:ahLst/>
              <a:cxnLst>
                <a:cxn ang="0">
                  <a:pos x="T0" y="T1"/>
                </a:cxn>
                <a:cxn ang="0">
                  <a:pos x="T2" y="T3"/>
                </a:cxn>
                <a:cxn ang="0">
                  <a:pos x="T4" y="T5"/>
                </a:cxn>
              </a:cxnLst>
              <a:rect l="0" t="0" r="r" b="b"/>
              <a:pathLst>
                <a:path w="18286" h="20048" fill="none" extrusionOk="0">
                  <a:moveTo>
                    <a:pt x="8039" y="0"/>
                  </a:moveTo>
                  <a:cubicBezTo>
                    <a:pt x="12272" y="1697"/>
                    <a:pt x="15859" y="4690"/>
                    <a:pt x="18286" y="8551"/>
                  </a:cubicBezTo>
                </a:path>
                <a:path w="18286" h="20048" stroke="0" extrusionOk="0">
                  <a:moveTo>
                    <a:pt x="8039" y="0"/>
                  </a:moveTo>
                  <a:cubicBezTo>
                    <a:pt x="12272" y="1697"/>
                    <a:pt x="15859" y="4690"/>
                    <a:pt x="18286" y="8551"/>
                  </a:cubicBezTo>
                  <a:lnTo>
                    <a:pt x="0" y="20048"/>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4" name="Arc 35">
              <a:extLst>
                <a:ext uri="{FF2B5EF4-FFF2-40B4-BE49-F238E27FC236}">
                  <a16:creationId xmlns:a16="http://schemas.microsoft.com/office/drawing/2014/main" id="{2FB10C18-A1A2-45BF-A156-6BA982DF2A8F}"/>
                </a:ext>
              </a:extLst>
            </p:cNvPr>
            <p:cNvSpPr>
              <a:spLocks/>
            </p:cNvSpPr>
            <p:nvPr/>
          </p:nvSpPr>
          <p:spPr bwMode="auto">
            <a:xfrm rot="10800000">
              <a:off x="4090" y="2795"/>
              <a:ext cx="1168" cy="286"/>
            </a:xfrm>
            <a:custGeom>
              <a:avLst/>
              <a:gdLst>
                <a:gd name="G0" fmla="+- 0 0 0"/>
                <a:gd name="G1" fmla="+- 19641 0 0"/>
                <a:gd name="G2" fmla="+- 21600 0 0"/>
                <a:gd name="T0" fmla="*/ 8989 w 21046"/>
                <a:gd name="T1" fmla="*/ 0 h 19641"/>
                <a:gd name="T2" fmla="*/ 21046 w 21046"/>
                <a:gd name="T3" fmla="*/ 14780 h 19641"/>
                <a:gd name="T4" fmla="*/ 0 w 21046"/>
                <a:gd name="T5" fmla="*/ 19641 h 19641"/>
              </a:gdLst>
              <a:ahLst/>
              <a:cxnLst>
                <a:cxn ang="0">
                  <a:pos x="T0" y="T1"/>
                </a:cxn>
                <a:cxn ang="0">
                  <a:pos x="T2" y="T3"/>
                </a:cxn>
                <a:cxn ang="0">
                  <a:pos x="T4" y="T5"/>
                </a:cxn>
              </a:cxnLst>
              <a:rect l="0" t="0" r="r" b="b"/>
              <a:pathLst>
                <a:path w="21046" h="19641" fill="none" extrusionOk="0">
                  <a:moveTo>
                    <a:pt x="8988" y="0"/>
                  </a:moveTo>
                  <a:cubicBezTo>
                    <a:pt x="15083" y="2789"/>
                    <a:pt x="19537" y="8249"/>
                    <a:pt x="21045" y="14780"/>
                  </a:cubicBezTo>
                </a:path>
                <a:path w="21046" h="19641" stroke="0" extrusionOk="0">
                  <a:moveTo>
                    <a:pt x="8988" y="0"/>
                  </a:moveTo>
                  <a:cubicBezTo>
                    <a:pt x="15083" y="2789"/>
                    <a:pt x="19537" y="8249"/>
                    <a:pt x="21045" y="14780"/>
                  </a:cubicBezTo>
                  <a:lnTo>
                    <a:pt x="0" y="19641"/>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5" name="Arc 36">
              <a:extLst>
                <a:ext uri="{FF2B5EF4-FFF2-40B4-BE49-F238E27FC236}">
                  <a16:creationId xmlns:a16="http://schemas.microsoft.com/office/drawing/2014/main" id="{A4171A2A-1871-45D5-A124-ED417F0342A8}"/>
                </a:ext>
              </a:extLst>
            </p:cNvPr>
            <p:cNvSpPr>
              <a:spLocks/>
            </p:cNvSpPr>
            <p:nvPr/>
          </p:nvSpPr>
          <p:spPr bwMode="auto">
            <a:xfrm rot="10800000">
              <a:off x="4040" y="2859"/>
              <a:ext cx="1150" cy="352"/>
            </a:xfrm>
            <a:custGeom>
              <a:avLst/>
              <a:gdLst>
                <a:gd name="G0" fmla="+- 0 0 0"/>
                <a:gd name="G1" fmla="+- 20002 0 0"/>
                <a:gd name="G2" fmla="+- 21600 0 0"/>
                <a:gd name="T0" fmla="*/ 8154 w 21331"/>
                <a:gd name="T1" fmla="*/ 0 h 20002"/>
                <a:gd name="T2" fmla="*/ 21331 w 21331"/>
                <a:gd name="T3" fmla="*/ 16606 h 20002"/>
                <a:gd name="T4" fmla="*/ 0 w 21331"/>
                <a:gd name="T5" fmla="*/ 20002 h 20002"/>
              </a:gdLst>
              <a:ahLst/>
              <a:cxnLst>
                <a:cxn ang="0">
                  <a:pos x="T0" y="T1"/>
                </a:cxn>
                <a:cxn ang="0">
                  <a:pos x="T2" y="T3"/>
                </a:cxn>
                <a:cxn ang="0">
                  <a:pos x="T4" y="T5"/>
                </a:cxn>
              </a:cxnLst>
              <a:rect l="0" t="0" r="r" b="b"/>
              <a:pathLst>
                <a:path w="21331" h="20002" fill="none" extrusionOk="0">
                  <a:moveTo>
                    <a:pt x="8153" y="0"/>
                  </a:moveTo>
                  <a:cubicBezTo>
                    <a:pt x="15147" y="2851"/>
                    <a:pt x="20143" y="9147"/>
                    <a:pt x="21331" y="16605"/>
                  </a:cubicBezTo>
                </a:path>
                <a:path w="21331" h="20002" stroke="0" extrusionOk="0">
                  <a:moveTo>
                    <a:pt x="8153" y="0"/>
                  </a:moveTo>
                  <a:cubicBezTo>
                    <a:pt x="15147" y="2851"/>
                    <a:pt x="20143" y="9147"/>
                    <a:pt x="21331" y="16605"/>
                  </a:cubicBezTo>
                  <a:lnTo>
                    <a:pt x="0" y="20002"/>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6" name="Arc 37">
              <a:extLst>
                <a:ext uri="{FF2B5EF4-FFF2-40B4-BE49-F238E27FC236}">
                  <a16:creationId xmlns:a16="http://schemas.microsoft.com/office/drawing/2014/main" id="{87CC96BF-E5F8-4CD1-B50E-950661757584}"/>
                </a:ext>
              </a:extLst>
            </p:cNvPr>
            <p:cNvSpPr>
              <a:spLocks/>
            </p:cNvSpPr>
            <p:nvPr/>
          </p:nvSpPr>
          <p:spPr bwMode="auto">
            <a:xfrm rot="10800000">
              <a:off x="3986" y="2788"/>
              <a:ext cx="1170" cy="549"/>
            </a:xfrm>
            <a:custGeom>
              <a:avLst/>
              <a:gdLst>
                <a:gd name="G0" fmla="+- 0 0 0"/>
                <a:gd name="G1" fmla="+- 20561 0 0"/>
                <a:gd name="G2" fmla="+- 21600 0 0"/>
                <a:gd name="T0" fmla="*/ 6619 w 20685"/>
                <a:gd name="T1" fmla="*/ 0 h 20561"/>
                <a:gd name="T2" fmla="*/ 20685 w 20685"/>
                <a:gd name="T3" fmla="*/ 14341 h 20561"/>
                <a:gd name="T4" fmla="*/ 0 w 20685"/>
                <a:gd name="T5" fmla="*/ 20561 h 20561"/>
              </a:gdLst>
              <a:ahLst/>
              <a:cxnLst>
                <a:cxn ang="0">
                  <a:pos x="T0" y="T1"/>
                </a:cxn>
                <a:cxn ang="0">
                  <a:pos x="T2" y="T3"/>
                </a:cxn>
                <a:cxn ang="0">
                  <a:pos x="T4" y="T5"/>
                </a:cxn>
              </a:cxnLst>
              <a:rect l="0" t="0" r="r" b="b"/>
              <a:pathLst>
                <a:path w="20685" h="20561" fill="none" extrusionOk="0">
                  <a:moveTo>
                    <a:pt x="6618" y="0"/>
                  </a:moveTo>
                  <a:cubicBezTo>
                    <a:pt x="13380" y="2176"/>
                    <a:pt x="18639" y="7538"/>
                    <a:pt x="20685" y="14340"/>
                  </a:cubicBezTo>
                </a:path>
                <a:path w="20685" h="20561" stroke="0" extrusionOk="0">
                  <a:moveTo>
                    <a:pt x="6618" y="0"/>
                  </a:moveTo>
                  <a:cubicBezTo>
                    <a:pt x="13380" y="2176"/>
                    <a:pt x="18639" y="7538"/>
                    <a:pt x="20685" y="14340"/>
                  </a:cubicBezTo>
                  <a:lnTo>
                    <a:pt x="0" y="20561"/>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7" name="Arc 38">
              <a:extLst>
                <a:ext uri="{FF2B5EF4-FFF2-40B4-BE49-F238E27FC236}">
                  <a16:creationId xmlns:a16="http://schemas.microsoft.com/office/drawing/2014/main" id="{1F034077-AD09-4052-B84F-B8E84F9CA0AA}"/>
                </a:ext>
              </a:extLst>
            </p:cNvPr>
            <p:cNvSpPr>
              <a:spLocks/>
            </p:cNvSpPr>
            <p:nvPr/>
          </p:nvSpPr>
          <p:spPr bwMode="auto">
            <a:xfrm rot="10620000">
              <a:off x="4061" y="3004"/>
              <a:ext cx="1060" cy="447"/>
            </a:xfrm>
            <a:custGeom>
              <a:avLst/>
              <a:gdLst>
                <a:gd name="G0" fmla="+- 0 0 0"/>
                <a:gd name="G1" fmla="+- 20436 0 0"/>
                <a:gd name="G2" fmla="+- 21600 0 0"/>
                <a:gd name="T0" fmla="*/ 6995 w 20810"/>
                <a:gd name="T1" fmla="*/ 0 h 20436"/>
                <a:gd name="T2" fmla="*/ 20810 w 20810"/>
                <a:gd name="T3" fmla="*/ 14647 h 20436"/>
                <a:gd name="T4" fmla="*/ 0 w 20810"/>
                <a:gd name="T5" fmla="*/ 20436 h 20436"/>
              </a:gdLst>
              <a:ahLst/>
              <a:cxnLst>
                <a:cxn ang="0">
                  <a:pos x="T0" y="T1"/>
                </a:cxn>
                <a:cxn ang="0">
                  <a:pos x="T2" y="T3"/>
                </a:cxn>
                <a:cxn ang="0">
                  <a:pos x="T4" y="T5"/>
                </a:cxn>
              </a:cxnLst>
              <a:rect l="0" t="0" r="r" b="b"/>
              <a:pathLst>
                <a:path w="20810" h="20436" fill="none" extrusionOk="0">
                  <a:moveTo>
                    <a:pt x="6994" y="0"/>
                  </a:moveTo>
                  <a:cubicBezTo>
                    <a:pt x="13733" y="2306"/>
                    <a:pt x="18901" y="7785"/>
                    <a:pt x="20809" y="14647"/>
                  </a:cubicBezTo>
                </a:path>
                <a:path w="20810" h="20436" stroke="0" extrusionOk="0">
                  <a:moveTo>
                    <a:pt x="6994" y="0"/>
                  </a:moveTo>
                  <a:cubicBezTo>
                    <a:pt x="13733" y="2306"/>
                    <a:pt x="18901" y="7785"/>
                    <a:pt x="20809" y="14647"/>
                  </a:cubicBezTo>
                  <a:lnTo>
                    <a:pt x="0" y="20436"/>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8" name="Arc 39">
              <a:extLst>
                <a:ext uri="{FF2B5EF4-FFF2-40B4-BE49-F238E27FC236}">
                  <a16:creationId xmlns:a16="http://schemas.microsoft.com/office/drawing/2014/main" id="{15636A94-82FA-4DC3-B3DF-8B8680433ACC}"/>
                </a:ext>
              </a:extLst>
            </p:cNvPr>
            <p:cNvSpPr>
              <a:spLocks/>
            </p:cNvSpPr>
            <p:nvPr/>
          </p:nvSpPr>
          <p:spPr bwMode="auto">
            <a:xfrm rot="10800000">
              <a:off x="3850" y="3078"/>
              <a:ext cx="201" cy="94"/>
            </a:xfrm>
            <a:custGeom>
              <a:avLst/>
              <a:gdLst>
                <a:gd name="G0" fmla="+- 20990 0 0"/>
                <a:gd name="G1" fmla="+- 0 0 0"/>
                <a:gd name="G2" fmla="+- 21600 0 0"/>
                <a:gd name="T0" fmla="*/ 20990 w 20990"/>
                <a:gd name="T1" fmla="*/ 21600 h 21600"/>
                <a:gd name="T2" fmla="*/ 0 w 20990"/>
                <a:gd name="T3" fmla="*/ 5098 h 21600"/>
                <a:gd name="T4" fmla="*/ 20990 w 20990"/>
                <a:gd name="T5" fmla="*/ 0 h 21600"/>
              </a:gdLst>
              <a:ahLst/>
              <a:cxnLst>
                <a:cxn ang="0">
                  <a:pos x="T0" y="T1"/>
                </a:cxn>
                <a:cxn ang="0">
                  <a:pos x="T2" y="T3"/>
                </a:cxn>
                <a:cxn ang="0">
                  <a:pos x="T4" y="T5"/>
                </a:cxn>
              </a:cxnLst>
              <a:rect l="0" t="0" r="r" b="b"/>
              <a:pathLst>
                <a:path w="20990" h="21600" fill="none" extrusionOk="0">
                  <a:moveTo>
                    <a:pt x="20990" y="21600"/>
                  </a:moveTo>
                  <a:cubicBezTo>
                    <a:pt x="11024" y="21600"/>
                    <a:pt x="2352" y="14782"/>
                    <a:pt x="0" y="5097"/>
                  </a:cubicBezTo>
                </a:path>
                <a:path w="20990" h="21600" stroke="0" extrusionOk="0">
                  <a:moveTo>
                    <a:pt x="20990" y="21600"/>
                  </a:moveTo>
                  <a:cubicBezTo>
                    <a:pt x="11024" y="21600"/>
                    <a:pt x="2352" y="14782"/>
                    <a:pt x="0" y="5097"/>
                  </a:cubicBezTo>
                  <a:lnTo>
                    <a:pt x="20990" y="0"/>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9" name="Arc 40">
              <a:extLst>
                <a:ext uri="{FF2B5EF4-FFF2-40B4-BE49-F238E27FC236}">
                  <a16:creationId xmlns:a16="http://schemas.microsoft.com/office/drawing/2014/main" id="{24445482-5AF6-460F-B71A-1E632CDB4013}"/>
                </a:ext>
              </a:extLst>
            </p:cNvPr>
            <p:cNvSpPr>
              <a:spLocks/>
            </p:cNvSpPr>
            <p:nvPr/>
          </p:nvSpPr>
          <p:spPr bwMode="auto">
            <a:xfrm>
              <a:off x="2452" y="2629"/>
              <a:ext cx="1052" cy="103"/>
            </a:xfrm>
            <a:custGeom>
              <a:avLst/>
              <a:gdLst>
                <a:gd name="G0" fmla="+- 0 0 0"/>
                <a:gd name="G1" fmla="+- 17641 0 0"/>
                <a:gd name="G2" fmla="+- 21600 0 0"/>
                <a:gd name="T0" fmla="*/ 12464 w 16125"/>
                <a:gd name="T1" fmla="*/ 0 h 17641"/>
                <a:gd name="T2" fmla="*/ 16125 w 16125"/>
                <a:gd name="T3" fmla="*/ 3269 h 17641"/>
                <a:gd name="T4" fmla="*/ 0 w 16125"/>
                <a:gd name="T5" fmla="*/ 17641 h 17641"/>
              </a:gdLst>
              <a:ahLst/>
              <a:cxnLst>
                <a:cxn ang="0">
                  <a:pos x="T0" y="T1"/>
                </a:cxn>
                <a:cxn ang="0">
                  <a:pos x="T2" y="T3"/>
                </a:cxn>
                <a:cxn ang="0">
                  <a:pos x="T4" y="T5"/>
                </a:cxn>
              </a:cxnLst>
              <a:rect l="0" t="0" r="r" b="b"/>
              <a:pathLst>
                <a:path w="16125" h="17641" fill="none" extrusionOk="0">
                  <a:moveTo>
                    <a:pt x="12464" y="-1"/>
                  </a:moveTo>
                  <a:cubicBezTo>
                    <a:pt x="13804" y="947"/>
                    <a:pt x="15032" y="2043"/>
                    <a:pt x="16124" y="3269"/>
                  </a:cubicBezTo>
                </a:path>
                <a:path w="16125" h="17641" stroke="0" extrusionOk="0">
                  <a:moveTo>
                    <a:pt x="12464" y="-1"/>
                  </a:moveTo>
                  <a:cubicBezTo>
                    <a:pt x="13804" y="947"/>
                    <a:pt x="15032" y="2043"/>
                    <a:pt x="16124" y="3269"/>
                  </a:cubicBezTo>
                  <a:lnTo>
                    <a:pt x="0" y="17641"/>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0" name="Arc 41">
              <a:extLst>
                <a:ext uri="{FF2B5EF4-FFF2-40B4-BE49-F238E27FC236}">
                  <a16:creationId xmlns:a16="http://schemas.microsoft.com/office/drawing/2014/main" id="{86B9C8C8-879D-4BD7-BE00-C9D1991DB171}"/>
                </a:ext>
              </a:extLst>
            </p:cNvPr>
            <p:cNvSpPr>
              <a:spLocks/>
            </p:cNvSpPr>
            <p:nvPr/>
          </p:nvSpPr>
          <p:spPr bwMode="auto">
            <a:xfrm>
              <a:off x="2340" y="2541"/>
              <a:ext cx="1172" cy="160"/>
            </a:xfrm>
            <a:custGeom>
              <a:avLst/>
              <a:gdLst>
                <a:gd name="G0" fmla="+- 0 0 0"/>
                <a:gd name="G1" fmla="+- 15669 0 0"/>
                <a:gd name="G2" fmla="+- 21600 0 0"/>
                <a:gd name="T0" fmla="*/ 14868 w 18286"/>
                <a:gd name="T1" fmla="*/ 0 h 15669"/>
                <a:gd name="T2" fmla="*/ 18286 w 18286"/>
                <a:gd name="T3" fmla="*/ 4173 h 15669"/>
                <a:gd name="T4" fmla="*/ 0 w 18286"/>
                <a:gd name="T5" fmla="*/ 15669 h 15669"/>
              </a:gdLst>
              <a:ahLst/>
              <a:cxnLst>
                <a:cxn ang="0">
                  <a:pos x="T0" y="T1"/>
                </a:cxn>
                <a:cxn ang="0">
                  <a:pos x="T2" y="T3"/>
                </a:cxn>
                <a:cxn ang="0">
                  <a:pos x="T4" y="T5"/>
                </a:cxn>
              </a:cxnLst>
              <a:rect l="0" t="0" r="r" b="b"/>
              <a:pathLst>
                <a:path w="18286" h="15669" fill="none" extrusionOk="0">
                  <a:moveTo>
                    <a:pt x="14867" y="0"/>
                  </a:moveTo>
                  <a:cubicBezTo>
                    <a:pt x="16177" y="1242"/>
                    <a:pt x="17325" y="2644"/>
                    <a:pt x="18286" y="4172"/>
                  </a:cubicBezTo>
                </a:path>
                <a:path w="18286" h="15669" stroke="0" extrusionOk="0">
                  <a:moveTo>
                    <a:pt x="14867" y="0"/>
                  </a:moveTo>
                  <a:cubicBezTo>
                    <a:pt x="16177" y="1242"/>
                    <a:pt x="17325" y="2644"/>
                    <a:pt x="18286" y="4172"/>
                  </a:cubicBezTo>
                  <a:lnTo>
                    <a:pt x="0" y="15669"/>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1" name="Arc 42">
              <a:extLst>
                <a:ext uri="{FF2B5EF4-FFF2-40B4-BE49-F238E27FC236}">
                  <a16:creationId xmlns:a16="http://schemas.microsoft.com/office/drawing/2014/main" id="{19963CE9-CEB6-4D49-AFC0-0E661272B0A2}"/>
                </a:ext>
              </a:extLst>
            </p:cNvPr>
            <p:cNvSpPr>
              <a:spLocks/>
            </p:cNvSpPr>
            <p:nvPr/>
          </p:nvSpPr>
          <p:spPr bwMode="auto">
            <a:xfrm>
              <a:off x="2455" y="2314"/>
              <a:ext cx="1120" cy="229"/>
            </a:xfrm>
            <a:custGeom>
              <a:avLst/>
              <a:gdLst>
                <a:gd name="G0" fmla="+- 0 0 0"/>
                <a:gd name="G1" fmla="+- 14318 0 0"/>
                <a:gd name="G2" fmla="+- 21600 0 0"/>
                <a:gd name="T0" fmla="*/ 16173 w 21331"/>
                <a:gd name="T1" fmla="*/ 0 h 14318"/>
                <a:gd name="T2" fmla="*/ 21331 w 21331"/>
                <a:gd name="T3" fmla="*/ 10922 h 14318"/>
                <a:gd name="T4" fmla="*/ 0 w 21331"/>
                <a:gd name="T5" fmla="*/ 14318 h 14318"/>
              </a:gdLst>
              <a:ahLst/>
              <a:cxnLst>
                <a:cxn ang="0">
                  <a:pos x="T0" y="T1"/>
                </a:cxn>
                <a:cxn ang="0">
                  <a:pos x="T2" y="T3"/>
                </a:cxn>
                <a:cxn ang="0">
                  <a:pos x="T4" y="T5"/>
                </a:cxn>
              </a:cxnLst>
              <a:rect l="0" t="0" r="r" b="b"/>
              <a:pathLst>
                <a:path w="21331" h="14318" fill="none" extrusionOk="0">
                  <a:moveTo>
                    <a:pt x="16172" y="0"/>
                  </a:moveTo>
                  <a:cubicBezTo>
                    <a:pt x="18895" y="3076"/>
                    <a:pt x="20685" y="6864"/>
                    <a:pt x="21331" y="10921"/>
                  </a:cubicBezTo>
                </a:path>
                <a:path w="21331" h="14318" stroke="0" extrusionOk="0">
                  <a:moveTo>
                    <a:pt x="16172" y="0"/>
                  </a:moveTo>
                  <a:cubicBezTo>
                    <a:pt x="18895" y="3076"/>
                    <a:pt x="20685" y="6864"/>
                    <a:pt x="21331" y="10921"/>
                  </a:cubicBezTo>
                  <a:lnTo>
                    <a:pt x="0" y="14318"/>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 name="Arc 43">
              <a:extLst>
                <a:ext uri="{FF2B5EF4-FFF2-40B4-BE49-F238E27FC236}">
                  <a16:creationId xmlns:a16="http://schemas.microsoft.com/office/drawing/2014/main" id="{6717E8CB-151C-4E33-9CB6-E5005A61C216}"/>
                </a:ext>
              </a:extLst>
            </p:cNvPr>
            <p:cNvSpPr>
              <a:spLocks/>
            </p:cNvSpPr>
            <p:nvPr/>
          </p:nvSpPr>
          <p:spPr bwMode="auto">
            <a:xfrm>
              <a:off x="2525" y="2189"/>
              <a:ext cx="1152" cy="386"/>
            </a:xfrm>
            <a:custGeom>
              <a:avLst/>
              <a:gdLst>
                <a:gd name="G0" fmla="+- 0 0 0"/>
                <a:gd name="G1" fmla="+- 15583 0 0"/>
                <a:gd name="G2" fmla="+- 21600 0 0"/>
                <a:gd name="T0" fmla="*/ 14958 w 20685"/>
                <a:gd name="T1" fmla="*/ 0 h 15583"/>
                <a:gd name="T2" fmla="*/ 20685 w 20685"/>
                <a:gd name="T3" fmla="*/ 9363 h 15583"/>
                <a:gd name="T4" fmla="*/ 0 w 20685"/>
                <a:gd name="T5" fmla="*/ 15583 h 15583"/>
              </a:gdLst>
              <a:ahLst/>
              <a:cxnLst>
                <a:cxn ang="0">
                  <a:pos x="T0" y="T1"/>
                </a:cxn>
                <a:cxn ang="0">
                  <a:pos x="T2" y="T3"/>
                </a:cxn>
                <a:cxn ang="0">
                  <a:pos x="T4" y="T5"/>
                </a:cxn>
              </a:cxnLst>
              <a:rect l="0" t="0" r="r" b="b"/>
              <a:pathLst>
                <a:path w="20685" h="15583" fill="none" extrusionOk="0">
                  <a:moveTo>
                    <a:pt x="14957" y="0"/>
                  </a:moveTo>
                  <a:cubicBezTo>
                    <a:pt x="17641" y="2575"/>
                    <a:pt x="19613" y="5800"/>
                    <a:pt x="20685" y="9362"/>
                  </a:cubicBezTo>
                </a:path>
                <a:path w="20685" h="15583" stroke="0" extrusionOk="0">
                  <a:moveTo>
                    <a:pt x="14957" y="0"/>
                  </a:moveTo>
                  <a:cubicBezTo>
                    <a:pt x="17641" y="2575"/>
                    <a:pt x="19613" y="5800"/>
                    <a:pt x="20685" y="9362"/>
                  </a:cubicBezTo>
                  <a:lnTo>
                    <a:pt x="0" y="15583"/>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3" name="Arc 44">
              <a:extLst>
                <a:ext uri="{FF2B5EF4-FFF2-40B4-BE49-F238E27FC236}">
                  <a16:creationId xmlns:a16="http://schemas.microsoft.com/office/drawing/2014/main" id="{06935154-F738-4AB9-B7C7-8DF5B4A5B8E9}"/>
                </a:ext>
              </a:extLst>
            </p:cNvPr>
            <p:cNvSpPr>
              <a:spLocks/>
            </p:cNvSpPr>
            <p:nvPr/>
          </p:nvSpPr>
          <p:spPr bwMode="auto">
            <a:xfrm>
              <a:off x="2618" y="1934"/>
              <a:ext cx="1037" cy="452"/>
            </a:xfrm>
            <a:custGeom>
              <a:avLst/>
              <a:gdLst>
                <a:gd name="G0" fmla="+- 0 0 0"/>
                <a:gd name="G1" fmla="+- 20699 0 0"/>
                <a:gd name="G2" fmla="+- 21600 0 0"/>
                <a:gd name="T0" fmla="*/ 6173 w 20375"/>
                <a:gd name="T1" fmla="*/ 0 h 20699"/>
                <a:gd name="T2" fmla="*/ 20375 w 20375"/>
                <a:gd name="T3" fmla="*/ 13529 h 20699"/>
                <a:gd name="T4" fmla="*/ 0 w 20375"/>
                <a:gd name="T5" fmla="*/ 20699 h 20699"/>
              </a:gdLst>
              <a:ahLst/>
              <a:cxnLst>
                <a:cxn ang="0">
                  <a:pos x="T0" y="T1"/>
                </a:cxn>
                <a:cxn ang="0">
                  <a:pos x="T2" y="T3"/>
                </a:cxn>
                <a:cxn ang="0">
                  <a:pos x="T4" y="T5"/>
                </a:cxn>
              </a:cxnLst>
              <a:rect l="0" t="0" r="r" b="b"/>
              <a:pathLst>
                <a:path w="20375" h="20699" fill="none" extrusionOk="0">
                  <a:moveTo>
                    <a:pt x="6173" y="-1"/>
                  </a:moveTo>
                  <a:cubicBezTo>
                    <a:pt x="12799" y="1976"/>
                    <a:pt x="18079" y="7005"/>
                    <a:pt x="20375" y="13528"/>
                  </a:cubicBezTo>
                </a:path>
                <a:path w="20375" h="20699" stroke="0" extrusionOk="0">
                  <a:moveTo>
                    <a:pt x="6173" y="-1"/>
                  </a:moveTo>
                  <a:cubicBezTo>
                    <a:pt x="12799" y="1976"/>
                    <a:pt x="18079" y="7005"/>
                    <a:pt x="20375" y="13528"/>
                  </a:cubicBezTo>
                  <a:lnTo>
                    <a:pt x="0" y="20699"/>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4" name="Arc 45">
              <a:extLst>
                <a:ext uri="{FF2B5EF4-FFF2-40B4-BE49-F238E27FC236}">
                  <a16:creationId xmlns:a16="http://schemas.microsoft.com/office/drawing/2014/main" id="{E93EA997-CC6A-40FD-993F-DCA0C78FFC40}"/>
                </a:ext>
              </a:extLst>
            </p:cNvPr>
            <p:cNvSpPr>
              <a:spLocks/>
            </p:cNvSpPr>
            <p:nvPr/>
          </p:nvSpPr>
          <p:spPr bwMode="auto">
            <a:xfrm>
              <a:off x="3661" y="2197"/>
              <a:ext cx="189" cy="94"/>
            </a:xfrm>
            <a:custGeom>
              <a:avLst/>
              <a:gdLst>
                <a:gd name="G0" fmla="+- 19775 0 0"/>
                <a:gd name="G1" fmla="+- 0 0 0"/>
                <a:gd name="G2" fmla="+- 21600 0 0"/>
                <a:gd name="T0" fmla="*/ 19775 w 19775"/>
                <a:gd name="T1" fmla="*/ 21600 h 21600"/>
                <a:gd name="T2" fmla="*/ 0 w 19775"/>
                <a:gd name="T3" fmla="*/ 8689 h 21600"/>
                <a:gd name="T4" fmla="*/ 19775 w 19775"/>
                <a:gd name="T5" fmla="*/ 0 h 21600"/>
              </a:gdLst>
              <a:ahLst/>
              <a:cxnLst>
                <a:cxn ang="0">
                  <a:pos x="T0" y="T1"/>
                </a:cxn>
                <a:cxn ang="0">
                  <a:pos x="T2" y="T3"/>
                </a:cxn>
                <a:cxn ang="0">
                  <a:pos x="T4" y="T5"/>
                </a:cxn>
              </a:cxnLst>
              <a:rect l="0" t="0" r="r" b="b"/>
              <a:pathLst>
                <a:path w="19775" h="21600" fill="none" extrusionOk="0">
                  <a:moveTo>
                    <a:pt x="19775" y="21600"/>
                  </a:moveTo>
                  <a:cubicBezTo>
                    <a:pt x="11205" y="21600"/>
                    <a:pt x="3446" y="16534"/>
                    <a:pt x="-1" y="8689"/>
                  </a:cubicBezTo>
                </a:path>
                <a:path w="19775" h="21600" stroke="0" extrusionOk="0">
                  <a:moveTo>
                    <a:pt x="19775" y="21600"/>
                  </a:moveTo>
                  <a:cubicBezTo>
                    <a:pt x="11205" y="21600"/>
                    <a:pt x="3446" y="16534"/>
                    <a:pt x="-1" y="8689"/>
                  </a:cubicBezTo>
                  <a:lnTo>
                    <a:pt x="19775" y="0"/>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5" name="Arc 46">
              <a:extLst>
                <a:ext uri="{FF2B5EF4-FFF2-40B4-BE49-F238E27FC236}">
                  <a16:creationId xmlns:a16="http://schemas.microsoft.com/office/drawing/2014/main" id="{0EE641AD-8FBF-4A3C-A0E4-9349D18C373E}"/>
                </a:ext>
              </a:extLst>
            </p:cNvPr>
            <p:cNvSpPr>
              <a:spLocks/>
            </p:cNvSpPr>
            <p:nvPr/>
          </p:nvSpPr>
          <p:spPr bwMode="auto">
            <a:xfrm rot="10620000">
              <a:off x="2374" y="2732"/>
              <a:ext cx="1164" cy="171"/>
            </a:xfrm>
            <a:custGeom>
              <a:avLst/>
              <a:gdLst>
                <a:gd name="G0" fmla="+- 18290 0 0"/>
                <a:gd name="G1" fmla="+- 16695 0 0"/>
                <a:gd name="G2" fmla="+- 21600 0 0"/>
                <a:gd name="T0" fmla="*/ 0 w 18290"/>
                <a:gd name="T1" fmla="*/ 5204 h 16695"/>
                <a:gd name="T2" fmla="*/ 4585 w 18290"/>
                <a:gd name="T3" fmla="*/ 0 h 16695"/>
                <a:gd name="T4" fmla="*/ 18290 w 18290"/>
                <a:gd name="T5" fmla="*/ 16695 h 16695"/>
              </a:gdLst>
              <a:ahLst/>
              <a:cxnLst>
                <a:cxn ang="0">
                  <a:pos x="T0" y="T1"/>
                </a:cxn>
                <a:cxn ang="0">
                  <a:pos x="T2" y="T3"/>
                </a:cxn>
                <a:cxn ang="0">
                  <a:pos x="T4" y="T5"/>
                </a:cxn>
              </a:cxnLst>
              <a:rect l="0" t="0" r="r" b="b"/>
              <a:pathLst>
                <a:path w="18290" h="16695" fill="none" extrusionOk="0">
                  <a:moveTo>
                    <a:pt x="0" y="5204"/>
                  </a:moveTo>
                  <a:cubicBezTo>
                    <a:pt x="1238" y="3233"/>
                    <a:pt x="2786" y="1476"/>
                    <a:pt x="4584" y="-1"/>
                  </a:cubicBezTo>
                </a:path>
                <a:path w="18290" h="16695" stroke="0" extrusionOk="0">
                  <a:moveTo>
                    <a:pt x="0" y="5204"/>
                  </a:moveTo>
                  <a:cubicBezTo>
                    <a:pt x="1238" y="3233"/>
                    <a:pt x="2786" y="1476"/>
                    <a:pt x="4584" y="-1"/>
                  </a:cubicBezTo>
                  <a:lnTo>
                    <a:pt x="18290" y="16695"/>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6" name="Arc 47">
              <a:extLst>
                <a:ext uri="{FF2B5EF4-FFF2-40B4-BE49-F238E27FC236}">
                  <a16:creationId xmlns:a16="http://schemas.microsoft.com/office/drawing/2014/main" id="{C9C206A0-9FED-411C-9821-5120551107A5}"/>
                </a:ext>
              </a:extLst>
            </p:cNvPr>
            <p:cNvSpPr>
              <a:spLocks/>
            </p:cNvSpPr>
            <p:nvPr/>
          </p:nvSpPr>
          <p:spPr bwMode="auto">
            <a:xfrm rot="10800000">
              <a:off x="2410" y="2762"/>
              <a:ext cx="1157" cy="234"/>
            </a:xfrm>
            <a:custGeom>
              <a:avLst/>
              <a:gdLst>
                <a:gd name="G0" fmla="+- 20534 0 0"/>
                <a:gd name="G1" fmla="+- 15455 0 0"/>
                <a:gd name="G2" fmla="+- 21600 0 0"/>
                <a:gd name="T0" fmla="*/ 0 w 20534"/>
                <a:gd name="T1" fmla="*/ 8754 h 15455"/>
                <a:gd name="T2" fmla="*/ 5444 w 20534"/>
                <a:gd name="T3" fmla="*/ 0 h 15455"/>
                <a:gd name="T4" fmla="*/ 20534 w 20534"/>
                <a:gd name="T5" fmla="*/ 15455 h 15455"/>
              </a:gdLst>
              <a:ahLst/>
              <a:cxnLst>
                <a:cxn ang="0">
                  <a:pos x="T0" y="T1"/>
                </a:cxn>
                <a:cxn ang="0">
                  <a:pos x="T2" y="T3"/>
                </a:cxn>
                <a:cxn ang="0">
                  <a:pos x="T4" y="T5"/>
                </a:cxn>
              </a:cxnLst>
              <a:rect l="0" t="0" r="r" b="b"/>
              <a:pathLst>
                <a:path w="20534" h="15455" fill="none" extrusionOk="0">
                  <a:moveTo>
                    <a:pt x="-1" y="8753"/>
                  </a:moveTo>
                  <a:cubicBezTo>
                    <a:pt x="1081" y="5439"/>
                    <a:pt x="2949" y="2435"/>
                    <a:pt x="5444" y="0"/>
                  </a:cubicBezTo>
                </a:path>
                <a:path w="20534" h="15455" stroke="0" extrusionOk="0">
                  <a:moveTo>
                    <a:pt x="-1" y="8753"/>
                  </a:moveTo>
                  <a:cubicBezTo>
                    <a:pt x="1081" y="5439"/>
                    <a:pt x="2949" y="2435"/>
                    <a:pt x="5444" y="0"/>
                  </a:cubicBezTo>
                  <a:lnTo>
                    <a:pt x="20534" y="15455"/>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7" name="Arc 48">
              <a:extLst>
                <a:ext uri="{FF2B5EF4-FFF2-40B4-BE49-F238E27FC236}">
                  <a16:creationId xmlns:a16="http://schemas.microsoft.com/office/drawing/2014/main" id="{8EFF9773-D2B4-4B0A-90C4-3FBB5A649BC2}"/>
                </a:ext>
              </a:extLst>
            </p:cNvPr>
            <p:cNvSpPr>
              <a:spLocks/>
            </p:cNvSpPr>
            <p:nvPr/>
          </p:nvSpPr>
          <p:spPr bwMode="auto">
            <a:xfrm>
              <a:off x="2396" y="2419"/>
              <a:ext cx="1143" cy="219"/>
            </a:xfrm>
            <a:custGeom>
              <a:avLst/>
              <a:gdLst>
                <a:gd name="G0" fmla="+- 0 0 0"/>
                <a:gd name="G1" fmla="+- 15027 0 0"/>
                <a:gd name="G2" fmla="+- 21600 0 0"/>
                <a:gd name="T0" fmla="*/ 15516 w 20533"/>
                <a:gd name="T1" fmla="*/ 0 h 15027"/>
                <a:gd name="T2" fmla="*/ 20533 w 20533"/>
                <a:gd name="T3" fmla="*/ 8322 h 15027"/>
                <a:gd name="T4" fmla="*/ 0 w 20533"/>
                <a:gd name="T5" fmla="*/ 15027 h 15027"/>
              </a:gdLst>
              <a:ahLst/>
              <a:cxnLst>
                <a:cxn ang="0">
                  <a:pos x="T0" y="T1"/>
                </a:cxn>
                <a:cxn ang="0">
                  <a:pos x="T2" y="T3"/>
                </a:cxn>
                <a:cxn ang="0">
                  <a:pos x="T4" y="T5"/>
                </a:cxn>
              </a:cxnLst>
              <a:rect l="0" t="0" r="r" b="b"/>
              <a:pathLst>
                <a:path w="20533" h="15027" fill="none" extrusionOk="0">
                  <a:moveTo>
                    <a:pt x="15516" y="-1"/>
                  </a:moveTo>
                  <a:cubicBezTo>
                    <a:pt x="17798" y="2356"/>
                    <a:pt x="19514" y="5202"/>
                    <a:pt x="20532" y="8322"/>
                  </a:cubicBezTo>
                </a:path>
                <a:path w="20533" h="15027" stroke="0" extrusionOk="0">
                  <a:moveTo>
                    <a:pt x="15516" y="-1"/>
                  </a:moveTo>
                  <a:cubicBezTo>
                    <a:pt x="17798" y="2356"/>
                    <a:pt x="19514" y="5202"/>
                    <a:pt x="20532" y="8322"/>
                  </a:cubicBezTo>
                  <a:lnTo>
                    <a:pt x="0" y="15027"/>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8" name="Arc 49">
              <a:extLst>
                <a:ext uri="{FF2B5EF4-FFF2-40B4-BE49-F238E27FC236}">
                  <a16:creationId xmlns:a16="http://schemas.microsoft.com/office/drawing/2014/main" id="{43B0E8B8-C49F-4C0F-947D-F10BDAE67908}"/>
                </a:ext>
              </a:extLst>
            </p:cNvPr>
            <p:cNvSpPr>
              <a:spLocks/>
            </p:cNvSpPr>
            <p:nvPr/>
          </p:nvSpPr>
          <p:spPr bwMode="auto">
            <a:xfrm rot="10500000">
              <a:off x="2483" y="2865"/>
              <a:ext cx="1143" cy="217"/>
            </a:xfrm>
            <a:custGeom>
              <a:avLst/>
              <a:gdLst>
                <a:gd name="G0" fmla="+- 20534 0 0"/>
                <a:gd name="G1" fmla="+- 14874 0 0"/>
                <a:gd name="G2" fmla="+- 21600 0 0"/>
                <a:gd name="T0" fmla="*/ 0 w 20534"/>
                <a:gd name="T1" fmla="*/ 8173 h 14874"/>
                <a:gd name="T2" fmla="*/ 4871 w 20534"/>
                <a:gd name="T3" fmla="*/ 0 h 14874"/>
                <a:gd name="T4" fmla="*/ 20534 w 20534"/>
                <a:gd name="T5" fmla="*/ 14874 h 14874"/>
              </a:gdLst>
              <a:ahLst/>
              <a:cxnLst>
                <a:cxn ang="0">
                  <a:pos x="T0" y="T1"/>
                </a:cxn>
                <a:cxn ang="0">
                  <a:pos x="T2" y="T3"/>
                </a:cxn>
                <a:cxn ang="0">
                  <a:pos x="T4" y="T5"/>
                </a:cxn>
              </a:cxnLst>
              <a:rect l="0" t="0" r="r" b="b"/>
              <a:pathLst>
                <a:path w="20534" h="14874" fill="none" extrusionOk="0">
                  <a:moveTo>
                    <a:pt x="-1" y="8172"/>
                  </a:moveTo>
                  <a:cubicBezTo>
                    <a:pt x="995" y="5120"/>
                    <a:pt x="2660" y="2328"/>
                    <a:pt x="4871" y="0"/>
                  </a:cubicBezTo>
                </a:path>
                <a:path w="20534" h="14874" stroke="0" extrusionOk="0">
                  <a:moveTo>
                    <a:pt x="-1" y="8172"/>
                  </a:moveTo>
                  <a:cubicBezTo>
                    <a:pt x="995" y="5120"/>
                    <a:pt x="2660" y="2328"/>
                    <a:pt x="4871" y="0"/>
                  </a:cubicBezTo>
                  <a:lnTo>
                    <a:pt x="20534" y="14874"/>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9" name="Arc 50">
              <a:extLst>
                <a:ext uri="{FF2B5EF4-FFF2-40B4-BE49-F238E27FC236}">
                  <a16:creationId xmlns:a16="http://schemas.microsoft.com/office/drawing/2014/main" id="{335C133D-CFE5-4E68-AA34-542054679227}"/>
                </a:ext>
              </a:extLst>
            </p:cNvPr>
            <p:cNvSpPr>
              <a:spLocks/>
            </p:cNvSpPr>
            <p:nvPr/>
          </p:nvSpPr>
          <p:spPr bwMode="auto">
            <a:xfrm rot="10800000">
              <a:off x="2547" y="2806"/>
              <a:ext cx="1152" cy="384"/>
            </a:xfrm>
            <a:custGeom>
              <a:avLst/>
              <a:gdLst>
                <a:gd name="G0" fmla="+- 20686 0 0"/>
                <a:gd name="G1" fmla="+- 15474 0 0"/>
                <a:gd name="G2" fmla="+- 21600 0 0"/>
                <a:gd name="T0" fmla="*/ 0 w 20686"/>
                <a:gd name="T1" fmla="*/ 9258 h 15474"/>
                <a:gd name="T2" fmla="*/ 5616 w 20686"/>
                <a:gd name="T3" fmla="*/ 0 h 15474"/>
                <a:gd name="T4" fmla="*/ 20686 w 20686"/>
                <a:gd name="T5" fmla="*/ 15474 h 15474"/>
              </a:gdLst>
              <a:ahLst/>
              <a:cxnLst>
                <a:cxn ang="0">
                  <a:pos x="T0" y="T1"/>
                </a:cxn>
                <a:cxn ang="0">
                  <a:pos x="T2" y="T3"/>
                </a:cxn>
                <a:cxn ang="0">
                  <a:pos x="T4" y="T5"/>
                </a:cxn>
              </a:cxnLst>
              <a:rect l="0" t="0" r="r" b="b"/>
              <a:pathLst>
                <a:path w="20686" h="15474" fill="none" extrusionOk="0">
                  <a:moveTo>
                    <a:pt x="-1" y="9257"/>
                  </a:moveTo>
                  <a:cubicBezTo>
                    <a:pt x="1055" y="5745"/>
                    <a:pt x="2988" y="2558"/>
                    <a:pt x="5615" y="-1"/>
                  </a:cubicBezTo>
                </a:path>
                <a:path w="20686" h="15474" stroke="0" extrusionOk="0">
                  <a:moveTo>
                    <a:pt x="-1" y="9257"/>
                  </a:moveTo>
                  <a:cubicBezTo>
                    <a:pt x="1055" y="5745"/>
                    <a:pt x="2988" y="2558"/>
                    <a:pt x="5615" y="-1"/>
                  </a:cubicBezTo>
                  <a:lnTo>
                    <a:pt x="20686" y="15474"/>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0" name="Arc 51">
              <a:extLst>
                <a:ext uri="{FF2B5EF4-FFF2-40B4-BE49-F238E27FC236}">
                  <a16:creationId xmlns:a16="http://schemas.microsoft.com/office/drawing/2014/main" id="{8A0C1186-2A70-4F66-91CB-4E0A7CFCB759}"/>
                </a:ext>
              </a:extLst>
            </p:cNvPr>
            <p:cNvSpPr>
              <a:spLocks/>
            </p:cNvSpPr>
            <p:nvPr/>
          </p:nvSpPr>
          <p:spPr bwMode="auto">
            <a:xfrm rot="10560000">
              <a:off x="2654" y="2984"/>
              <a:ext cx="1004" cy="455"/>
            </a:xfrm>
            <a:custGeom>
              <a:avLst/>
              <a:gdLst>
                <a:gd name="G0" fmla="+- 19733 0 0"/>
                <a:gd name="G1" fmla="+- 20806 0 0"/>
                <a:gd name="G2" fmla="+- 21600 0 0"/>
                <a:gd name="T0" fmla="*/ 0 w 19733"/>
                <a:gd name="T1" fmla="*/ 12021 h 20806"/>
                <a:gd name="T2" fmla="*/ 13929 w 19733"/>
                <a:gd name="T3" fmla="*/ 0 h 20806"/>
                <a:gd name="T4" fmla="*/ 19733 w 19733"/>
                <a:gd name="T5" fmla="*/ 20806 h 20806"/>
              </a:gdLst>
              <a:ahLst/>
              <a:cxnLst>
                <a:cxn ang="0">
                  <a:pos x="T0" y="T1"/>
                </a:cxn>
                <a:cxn ang="0">
                  <a:pos x="T2" y="T3"/>
                </a:cxn>
                <a:cxn ang="0">
                  <a:pos x="T4" y="T5"/>
                </a:cxn>
              </a:cxnLst>
              <a:rect l="0" t="0" r="r" b="b"/>
              <a:pathLst>
                <a:path w="19733" h="20806" fill="none" extrusionOk="0">
                  <a:moveTo>
                    <a:pt x="0" y="12021"/>
                  </a:moveTo>
                  <a:cubicBezTo>
                    <a:pt x="2619" y="6138"/>
                    <a:pt x="7726" y="1730"/>
                    <a:pt x="13929" y="0"/>
                  </a:cubicBezTo>
                </a:path>
                <a:path w="19733" h="20806" stroke="0" extrusionOk="0">
                  <a:moveTo>
                    <a:pt x="0" y="12021"/>
                  </a:moveTo>
                  <a:cubicBezTo>
                    <a:pt x="2619" y="6138"/>
                    <a:pt x="7726" y="1730"/>
                    <a:pt x="13929" y="0"/>
                  </a:cubicBezTo>
                  <a:lnTo>
                    <a:pt x="19733" y="20806"/>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1" name="Arc 52">
              <a:extLst>
                <a:ext uri="{FF2B5EF4-FFF2-40B4-BE49-F238E27FC236}">
                  <a16:creationId xmlns:a16="http://schemas.microsoft.com/office/drawing/2014/main" id="{186A0D98-4C3D-4E7F-A993-9BD1A47F2776}"/>
                </a:ext>
              </a:extLst>
            </p:cNvPr>
            <p:cNvSpPr>
              <a:spLocks/>
            </p:cNvSpPr>
            <p:nvPr/>
          </p:nvSpPr>
          <p:spPr bwMode="auto">
            <a:xfrm>
              <a:off x="3644" y="3079"/>
              <a:ext cx="206" cy="157"/>
            </a:xfrm>
            <a:custGeom>
              <a:avLst/>
              <a:gdLst>
                <a:gd name="G0" fmla="+- 18783 0 0"/>
                <a:gd name="G1" fmla="+- 21600 0 0"/>
                <a:gd name="G2" fmla="+- 21600 0 0"/>
                <a:gd name="T0" fmla="*/ 0 w 18783"/>
                <a:gd name="T1" fmla="*/ 10934 h 21600"/>
                <a:gd name="T2" fmla="*/ 18718 w 18783"/>
                <a:gd name="T3" fmla="*/ 0 h 21600"/>
                <a:gd name="T4" fmla="*/ 18783 w 18783"/>
                <a:gd name="T5" fmla="*/ 21600 h 21600"/>
              </a:gdLst>
              <a:ahLst/>
              <a:cxnLst>
                <a:cxn ang="0">
                  <a:pos x="T0" y="T1"/>
                </a:cxn>
                <a:cxn ang="0">
                  <a:pos x="T2" y="T3"/>
                </a:cxn>
                <a:cxn ang="0">
                  <a:pos x="T4" y="T5"/>
                </a:cxn>
              </a:cxnLst>
              <a:rect l="0" t="0" r="r" b="b"/>
              <a:pathLst>
                <a:path w="18783" h="21600" fill="none" extrusionOk="0">
                  <a:moveTo>
                    <a:pt x="0" y="10934"/>
                  </a:moveTo>
                  <a:cubicBezTo>
                    <a:pt x="3826" y="4195"/>
                    <a:pt x="10969" y="23"/>
                    <a:pt x="18718" y="0"/>
                  </a:cubicBezTo>
                </a:path>
                <a:path w="18783" h="21600" stroke="0" extrusionOk="0">
                  <a:moveTo>
                    <a:pt x="0" y="10934"/>
                  </a:moveTo>
                  <a:cubicBezTo>
                    <a:pt x="3826" y="4195"/>
                    <a:pt x="10969" y="23"/>
                    <a:pt x="18718" y="0"/>
                  </a:cubicBezTo>
                  <a:lnTo>
                    <a:pt x="18783" y="21600"/>
                  </a:lnTo>
                  <a:close/>
                </a:path>
              </a:pathLst>
            </a:custGeom>
            <a:noFill/>
            <a:ln w="38100" cap="rnd">
              <a:solidFill>
                <a:srgbClr val="63A537"/>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 name="Line 53">
              <a:extLst>
                <a:ext uri="{FF2B5EF4-FFF2-40B4-BE49-F238E27FC236}">
                  <a16:creationId xmlns:a16="http://schemas.microsoft.com/office/drawing/2014/main" id="{26E7FF80-FEF8-481D-A442-B5F6F9B0E4A2}"/>
                </a:ext>
              </a:extLst>
            </p:cNvPr>
            <p:cNvSpPr>
              <a:spLocks noChangeShapeType="1"/>
            </p:cNvSpPr>
            <p:nvPr/>
          </p:nvSpPr>
          <p:spPr bwMode="auto">
            <a:xfrm>
              <a:off x="4159" y="2700"/>
              <a:ext cx="618"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3" name="Line 54">
              <a:extLst>
                <a:ext uri="{FF2B5EF4-FFF2-40B4-BE49-F238E27FC236}">
                  <a16:creationId xmlns:a16="http://schemas.microsoft.com/office/drawing/2014/main" id="{6291CE76-C330-4F06-88DD-590C85344359}"/>
                </a:ext>
              </a:extLst>
            </p:cNvPr>
            <p:cNvSpPr>
              <a:spLocks noChangeShapeType="1"/>
            </p:cNvSpPr>
            <p:nvPr/>
          </p:nvSpPr>
          <p:spPr bwMode="auto">
            <a:xfrm flipH="1">
              <a:off x="3231" y="2700"/>
              <a:ext cx="275" cy="0"/>
            </a:xfrm>
            <a:prstGeom prst="line">
              <a:avLst/>
            </a:prstGeom>
            <a:noFill/>
            <a:ln w="38100">
              <a:solidFill>
                <a:srgbClr val="63A537"/>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4" name="Arc 55">
              <a:extLst>
                <a:ext uri="{FF2B5EF4-FFF2-40B4-BE49-F238E27FC236}">
                  <a16:creationId xmlns:a16="http://schemas.microsoft.com/office/drawing/2014/main" id="{9411F3A0-AFDD-4D0C-A9CD-EB2375473369}"/>
                </a:ext>
              </a:extLst>
            </p:cNvPr>
            <p:cNvSpPr>
              <a:spLocks/>
            </p:cNvSpPr>
            <p:nvPr/>
          </p:nvSpPr>
          <p:spPr bwMode="auto">
            <a:xfrm rot="10560000">
              <a:off x="2595" y="2812"/>
              <a:ext cx="788" cy="516"/>
            </a:xfrm>
            <a:custGeom>
              <a:avLst/>
              <a:gdLst>
                <a:gd name="G0" fmla="+- 14166 0 0"/>
                <a:gd name="G1" fmla="+- 20787 0 0"/>
                <a:gd name="G2" fmla="+- 21600 0 0"/>
                <a:gd name="T0" fmla="*/ 0 w 14166"/>
                <a:gd name="T1" fmla="*/ 4481 h 20787"/>
                <a:gd name="T2" fmla="*/ 8296 w 14166"/>
                <a:gd name="T3" fmla="*/ 0 h 20787"/>
                <a:gd name="T4" fmla="*/ 14166 w 14166"/>
                <a:gd name="T5" fmla="*/ 20787 h 20787"/>
              </a:gdLst>
              <a:ahLst/>
              <a:cxnLst>
                <a:cxn ang="0">
                  <a:pos x="T0" y="T1"/>
                </a:cxn>
                <a:cxn ang="0">
                  <a:pos x="T2" y="T3"/>
                </a:cxn>
                <a:cxn ang="0">
                  <a:pos x="T4" y="T5"/>
                </a:cxn>
              </a:cxnLst>
              <a:rect l="0" t="0" r="r" b="b"/>
              <a:pathLst>
                <a:path w="14166" h="20787" fill="none" extrusionOk="0">
                  <a:moveTo>
                    <a:pt x="0" y="4481"/>
                  </a:moveTo>
                  <a:cubicBezTo>
                    <a:pt x="2401" y="2394"/>
                    <a:pt x="5234" y="864"/>
                    <a:pt x="8295" y="-1"/>
                  </a:cubicBezTo>
                </a:path>
                <a:path w="14166" h="20787" stroke="0" extrusionOk="0">
                  <a:moveTo>
                    <a:pt x="0" y="4481"/>
                  </a:moveTo>
                  <a:cubicBezTo>
                    <a:pt x="2401" y="2394"/>
                    <a:pt x="5234" y="864"/>
                    <a:pt x="8295" y="-1"/>
                  </a:cubicBezTo>
                  <a:lnTo>
                    <a:pt x="14166" y="20787"/>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5" name="Arc 56">
              <a:extLst>
                <a:ext uri="{FF2B5EF4-FFF2-40B4-BE49-F238E27FC236}">
                  <a16:creationId xmlns:a16="http://schemas.microsoft.com/office/drawing/2014/main" id="{E6C90C52-2A97-42E6-B60D-A81807ADD273}"/>
                </a:ext>
              </a:extLst>
            </p:cNvPr>
            <p:cNvSpPr>
              <a:spLocks/>
            </p:cNvSpPr>
            <p:nvPr/>
          </p:nvSpPr>
          <p:spPr bwMode="auto">
            <a:xfrm rot="10500000">
              <a:off x="2508" y="2869"/>
              <a:ext cx="875" cy="299"/>
            </a:xfrm>
            <a:custGeom>
              <a:avLst/>
              <a:gdLst>
                <a:gd name="G0" fmla="+- 15704 0 0"/>
                <a:gd name="G1" fmla="+- 20514 0 0"/>
                <a:gd name="G2" fmla="+- 21600 0 0"/>
                <a:gd name="T0" fmla="*/ 0 w 15704"/>
                <a:gd name="T1" fmla="*/ 5683 h 20514"/>
                <a:gd name="T2" fmla="*/ 8942 w 15704"/>
                <a:gd name="T3" fmla="*/ 0 h 20514"/>
                <a:gd name="T4" fmla="*/ 15704 w 15704"/>
                <a:gd name="T5" fmla="*/ 20514 h 20514"/>
              </a:gdLst>
              <a:ahLst/>
              <a:cxnLst>
                <a:cxn ang="0">
                  <a:pos x="T0" y="T1"/>
                </a:cxn>
                <a:cxn ang="0">
                  <a:pos x="T2" y="T3"/>
                </a:cxn>
                <a:cxn ang="0">
                  <a:pos x="T4" y="T5"/>
                </a:cxn>
              </a:cxnLst>
              <a:rect l="0" t="0" r="r" b="b"/>
              <a:pathLst>
                <a:path w="15704" h="20514" fill="none" extrusionOk="0">
                  <a:moveTo>
                    <a:pt x="0" y="5683"/>
                  </a:moveTo>
                  <a:cubicBezTo>
                    <a:pt x="2462" y="3075"/>
                    <a:pt x="5535" y="1122"/>
                    <a:pt x="8941" y="-1"/>
                  </a:cubicBezTo>
                </a:path>
                <a:path w="15704" h="20514" stroke="0" extrusionOk="0">
                  <a:moveTo>
                    <a:pt x="0" y="5683"/>
                  </a:moveTo>
                  <a:cubicBezTo>
                    <a:pt x="2462" y="3075"/>
                    <a:pt x="5535" y="1122"/>
                    <a:pt x="8941" y="-1"/>
                  </a:cubicBezTo>
                  <a:lnTo>
                    <a:pt x="15704" y="20514"/>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6" name="Arc 57">
              <a:extLst>
                <a:ext uri="{FF2B5EF4-FFF2-40B4-BE49-F238E27FC236}">
                  <a16:creationId xmlns:a16="http://schemas.microsoft.com/office/drawing/2014/main" id="{682E18EF-07EB-4520-B77F-178171ABBDA4}"/>
                </a:ext>
              </a:extLst>
            </p:cNvPr>
            <p:cNvSpPr>
              <a:spLocks/>
            </p:cNvSpPr>
            <p:nvPr/>
          </p:nvSpPr>
          <p:spPr bwMode="auto">
            <a:xfrm rot="10800000">
              <a:off x="2363" y="2783"/>
              <a:ext cx="913" cy="281"/>
            </a:xfrm>
            <a:custGeom>
              <a:avLst/>
              <a:gdLst>
                <a:gd name="G0" fmla="+- 16394 0 0"/>
                <a:gd name="G1" fmla="+- 19282 0 0"/>
                <a:gd name="G2" fmla="+- 21600 0 0"/>
                <a:gd name="T0" fmla="*/ 0 w 16394"/>
                <a:gd name="T1" fmla="*/ 5218 h 19282"/>
                <a:gd name="T2" fmla="*/ 6660 w 16394"/>
                <a:gd name="T3" fmla="*/ 0 h 19282"/>
                <a:gd name="T4" fmla="*/ 16394 w 16394"/>
                <a:gd name="T5" fmla="*/ 19282 h 19282"/>
              </a:gdLst>
              <a:ahLst/>
              <a:cxnLst>
                <a:cxn ang="0">
                  <a:pos x="T0" y="T1"/>
                </a:cxn>
                <a:cxn ang="0">
                  <a:pos x="T2" y="T3"/>
                </a:cxn>
                <a:cxn ang="0">
                  <a:pos x="T4" y="T5"/>
                </a:cxn>
              </a:cxnLst>
              <a:rect l="0" t="0" r="r" b="b"/>
              <a:pathLst>
                <a:path w="16394" h="19282" fill="none" extrusionOk="0">
                  <a:moveTo>
                    <a:pt x="-1" y="5217"/>
                  </a:moveTo>
                  <a:cubicBezTo>
                    <a:pt x="1854" y="3056"/>
                    <a:pt x="4117" y="1283"/>
                    <a:pt x="6659" y="-1"/>
                  </a:cubicBezTo>
                </a:path>
                <a:path w="16394" h="19282" stroke="0" extrusionOk="0">
                  <a:moveTo>
                    <a:pt x="-1" y="5217"/>
                  </a:moveTo>
                  <a:cubicBezTo>
                    <a:pt x="1854" y="3056"/>
                    <a:pt x="4117" y="1283"/>
                    <a:pt x="6659" y="-1"/>
                  </a:cubicBezTo>
                  <a:lnTo>
                    <a:pt x="16394" y="19282"/>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7" name="Arc 58">
              <a:extLst>
                <a:ext uri="{FF2B5EF4-FFF2-40B4-BE49-F238E27FC236}">
                  <a16:creationId xmlns:a16="http://schemas.microsoft.com/office/drawing/2014/main" id="{FC81B6D3-0E14-4314-94E1-C92873E2F7CC}"/>
                </a:ext>
              </a:extLst>
            </p:cNvPr>
            <p:cNvSpPr>
              <a:spLocks/>
            </p:cNvSpPr>
            <p:nvPr/>
          </p:nvSpPr>
          <p:spPr bwMode="auto">
            <a:xfrm rot="10680000">
              <a:off x="2285" y="2745"/>
              <a:ext cx="964" cy="198"/>
            </a:xfrm>
            <a:custGeom>
              <a:avLst/>
              <a:gdLst>
                <a:gd name="G0" fmla="+- 15141 0 0"/>
                <a:gd name="G1" fmla="+- 19434 0 0"/>
                <a:gd name="G2" fmla="+- 21600 0 0"/>
                <a:gd name="T0" fmla="*/ 0 w 15141"/>
                <a:gd name="T1" fmla="*/ 4029 h 19434"/>
                <a:gd name="T2" fmla="*/ 5713 w 15141"/>
                <a:gd name="T3" fmla="*/ 0 h 19434"/>
                <a:gd name="T4" fmla="*/ 15141 w 15141"/>
                <a:gd name="T5" fmla="*/ 19434 h 19434"/>
              </a:gdLst>
              <a:ahLst/>
              <a:cxnLst>
                <a:cxn ang="0">
                  <a:pos x="T0" y="T1"/>
                </a:cxn>
                <a:cxn ang="0">
                  <a:pos x="T2" y="T3"/>
                </a:cxn>
                <a:cxn ang="0">
                  <a:pos x="T4" y="T5"/>
                </a:cxn>
              </a:cxnLst>
              <a:rect l="0" t="0" r="r" b="b"/>
              <a:pathLst>
                <a:path w="15141" h="19434" fill="none" extrusionOk="0">
                  <a:moveTo>
                    <a:pt x="0" y="4029"/>
                  </a:moveTo>
                  <a:cubicBezTo>
                    <a:pt x="1673" y="2384"/>
                    <a:pt x="3602" y="1024"/>
                    <a:pt x="5713" y="0"/>
                  </a:cubicBezTo>
                </a:path>
                <a:path w="15141" h="19434" stroke="0" extrusionOk="0">
                  <a:moveTo>
                    <a:pt x="0" y="4029"/>
                  </a:moveTo>
                  <a:cubicBezTo>
                    <a:pt x="1673" y="2384"/>
                    <a:pt x="3602" y="1024"/>
                    <a:pt x="5713" y="0"/>
                  </a:cubicBezTo>
                  <a:lnTo>
                    <a:pt x="15141" y="19434"/>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8" name="Arc 59">
              <a:extLst>
                <a:ext uri="{FF2B5EF4-FFF2-40B4-BE49-F238E27FC236}">
                  <a16:creationId xmlns:a16="http://schemas.microsoft.com/office/drawing/2014/main" id="{5C96F7DD-8E29-499F-BDED-EB4D353A79D4}"/>
                </a:ext>
              </a:extLst>
            </p:cNvPr>
            <p:cNvSpPr>
              <a:spLocks/>
            </p:cNvSpPr>
            <p:nvPr/>
          </p:nvSpPr>
          <p:spPr bwMode="auto">
            <a:xfrm rot="10680000">
              <a:off x="2352" y="2704"/>
              <a:ext cx="854" cy="117"/>
            </a:xfrm>
            <a:custGeom>
              <a:avLst/>
              <a:gdLst>
                <a:gd name="G0" fmla="+- 13092 0 0"/>
                <a:gd name="G1" fmla="+- 20062 0 0"/>
                <a:gd name="G2" fmla="+- 21600 0 0"/>
                <a:gd name="T0" fmla="*/ 0 w 13092"/>
                <a:gd name="T1" fmla="*/ 2881 h 20062"/>
                <a:gd name="T2" fmla="*/ 5088 w 13092"/>
                <a:gd name="T3" fmla="*/ 0 h 20062"/>
                <a:gd name="T4" fmla="*/ 13092 w 13092"/>
                <a:gd name="T5" fmla="*/ 20062 h 20062"/>
              </a:gdLst>
              <a:ahLst/>
              <a:cxnLst>
                <a:cxn ang="0">
                  <a:pos x="T0" y="T1"/>
                </a:cxn>
                <a:cxn ang="0">
                  <a:pos x="T2" y="T3"/>
                </a:cxn>
                <a:cxn ang="0">
                  <a:pos x="T4" y="T5"/>
                </a:cxn>
              </a:cxnLst>
              <a:rect l="0" t="0" r="r" b="b"/>
              <a:pathLst>
                <a:path w="13092" h="20062" fill="none" extrusionOk="0">
                  <a:moveTo>
                    <a:pt x="0" y="2881"/>
                  </a:moveTo>
                  <a:cubicBezTo>
                    <a:pt x="1557" y="1694"/>
                    <a:pt x="3269" y="725"/>
                    <a:pt x="5087" y="-1"/>
                  </a:cubicBezTo>
                </a:path>
                <a:path w="13092" h="20062" stroke="0" extrusionOk="0">
                  <a:moveTo>
                    <a:pt x="0" y="2881"/>
                  </a:moveTo>
                  <a:cubicBezTo>
                    <a:pt x="1557" y="1694"/>
                    <a:pt x="3269" y="725"/>
                    <a:pt x="5087" y="-1"/>
                  </a:cubicBezTo>
                  <a:lnTo>
                    <a:pt x="13092" y="20062"/>
                  </a:lnTo>
                  <a:close/>
                </a:path>
              </a:pathLst>
            </a:custGeom>
            <a:noFill/>
            <a:ln w="38100" cap="rnd">
              <a:solidFill>
                <a:srgbClr val="63A537"/>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9" name="Line 60">
              <a:extLst>
                <a:ext uri="{FF2B5EF4-FFF2-40B4-BE49-F238E27FC236}">
                  <a16:creationId xmlns:a16="http://schemas.microsoft.com/office/drawing/2014/main" id="{C575EBFA-743B-405D-B044-7332A799DB70}"/>
                </a:ext>
              </a:extLst>
            </p:cNvPr>
            <p:cNvSpPr>
              <a:spLocks noChangeShapeType="1"/>
            </p:cNvSpPr>
            <p:nvPr/>
          </p:nvSpPr>
          <p:spPr bwMode="auto">
            <a:xfrm flipH="1" flipV="1">
              <a:off x="2861" y="2696"/>
              <a:ext cx="383" cy="4"/>
            </a:xfrm>
            <a:prstGeom prst="line">
              <a:avLst/>
            </a:prstGeom>
            <a:noFill/>
            <a:ln w="38100">
              <a:solidFill>
                <a:srgbClr val="63A537"/>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0" name="Arc 61">
              <a:extLst>
                <a:ext uri="{FF2B5EF4-FFF2-40B4-BE49-F238E27FC236}">
                  <a16:creationId xmlns:a16="http://schemas.microsoft.com/office/drawing/2014/main" id="{CFA11BFF-40D8-4E97-86F9-DE188D8C6893}"/>
                </a:ext>
              </a:extLst>
            </p:cNvPr>
            <p:cNvSpPr>
              <a:spLocks/>
            </p:cNvSpPr>
            <p:nvPr/>
          </p:nvSpPr>
          <p:spPr bwMode="auto">
            <a:xfrm>
              <a:off x="2383" y="2616"/>
              <a:ext cx="894" cy="118"/>
            </a:xfrm>
            <a:custGeom>
              <a:avLst/>
              <a:gdLst>
                <a:gd name="G0" fmla="+- 0 0 0"/>
                <a:gd name="G1" fmla="+- 20328 0 0"/>
                <a:gd name="G2" fmla="+- 21600 0 0"/>
                <a:gd name="T0" fmla="*/ 7303 w 13700"/>
                <a:gd name="T1" fmla="*/ 0 h 20328"/>
                <a:gd name="T2" fmla="*/ 13700 w 13700"/>
                <a:gd name="T3" fmla="*/ 3629 h 20328"/>
                <a:gd name="T4" fmla="*/ 0 w 13700"/>
                <a:gd name="T5" fmla="*/ 20328 h 20328"/>
              </a:gdLst>
              <a:ahLst/>
              <a:cxnLst>
                <a:cxn ang="0">
                  <a:pos x="T0" y="T1"/>
                </a:cxn>
                <a:cxn ang="0">
                  <a:pos x="T2" y="T3"/>
                </a:cxn>
                <a:cxn ang="0">
                  <a:pos x="T4" y="T5"/>
                </a:cxn>
              </a:cxnLst>
              <a:rect l="0" t="0" r="r" b="b"/>
              <a:pathLst>
                <a:path w="13700" h="20328" fill="none" extrusionOk="0">
                  <a:moveTo>
                    <a:pt x="7302" y="0"/>
                  </a:moveTo>
                  <a:cubicBezTo>
                    <a:pt x="9627" y="835"/>
                    <a:pt x="11790" y="2062"/>
                    <a:pt x="13700" y="3628"/>
                  </a:cubicBezTo>
                </a:path>
                <a:path w="13700" h="20328" stroke="0" extrusionOk="0">
                  <a:moveTo>
                    <a:pt x="7302" y="0"/>
                  </a:moveTo>
                  <a:cubicBezTo>
                    <a:pt x="9627" y="835"/>
                    <a:pt x="11790" y="2062"/>
                    <a:pt x="13700" y="3628"/>
                  </a:cubicBezTo>
                  <a:lnTo>
                    <a:pt x="0" y="20328"/>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1" name="Arc 62">
              <a:extLst>
                <a:ext uri="{FF2B5EF4-FFF2-40B4-BE49-F238E27FC236}">
                  <a16:creationId xmlns:a16="http://schemas.microsoft.com/office/drawing/2014/main" id="{F6A0948C-4ABA-43E8-ACB4-E5201EFEEBCF}"/>
                </a:ext>
              </a:extLst>
            </p:cNvPr>
            <p:cNvSpPr>
              <a:spLocks/>
            </p:cNvSpPr>
            <p:nvPr/>
          </p:nvSpPr>
          <p:spPr bwMode="auto">
            <a:xfrm>
              <a:off x="2340" y="2498"/>
              <a:ext cx="955" cy="203"/>
            </a:xfrm>
            <a:custGeom>
              <a:avLst/>
              <a:gdLst>
                <a:gd name="G0" fmla="+- 0 0 0"/>
                <a:gd name="G1" fmla="+- 19986 0 0"/>
                <a:gd name="G2" fmla="+- 21600 0 0"/>
                <a:gd name="T0" fmla="*/ 8192 w 15002"/>
                <a:gd name="T1" fmla="*/ 0 h 19986"/>
                <a:gd name="T2" fmla="*/ 15002 w 15002"/>
                <a:gd name="T3" fmla="*/ 4446 h 19986"/>
                <a:gd name="T4" fmla="*/ 0 w 15002"/>
                <a:gd name="T5" fmla="*/ 19986 h 19986"/>
              </a:gdLst>
              <a:ahLst/>
              <a:cxnLst>
                <a:cxn ang="0">
                  <a:pos x="T0" y="T1"/>
                </a:cxn>
                <a:cxn ang="0">
                  <a:pos x="T2" y="T3"/>
                </a:cxn>
                <a:cxn ang="0">
                  <a:pos x="T4" y="T5"/>
                </a:cxn>
              </a:cxnLst>
              <a:rect l="0" t="0" r="r" b="b"/>
              <a:pathLst>
                <a:path w="15002" h="19986" fill="none" extrusionOk="0">
                  <a:moveTo>
                    <a:pt x="8192" y="-1"/>
                  </a:moveTo>
                  <a:cubicBezTo>
                    <a:pt x="10723" y="1037"/>
                    <a:pt x="13034" y="2545"/>
                    <a:pt x="15002" y="4445"/>
                  </a:cubicBezTo>
                </a:path>
                <a:path w="15002" h="19986" stroke="0" extrusionOk="0">
                  <a:moveTo>
                    <a:pt x="8192" y="-1"/>
                  </a:moveTo>
                  <a:cubicBezTo>
                    <a:pt x="10723" y="1037"/>
                    <a:pt x="13034" y="2545"/>
                    <a:pt x="15002" y="4445"/>
                  </a:cubicBezTo>
                  <a:lnTo>
                    <a:pt x="0" y="19986"/>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2" name="Arc 63">
              <a:extLst>
                <a:ext uri="{FF2B5EF4-FFF2-40B4-BE49-F238E27FC236}">
                  <a16:creationId xmlns:a16="http://schemas.microsoft.com/office/drawing/2014/main" id="{87FC738E-99F3-4B5C-AE8D-CED08DDF179F}"/>
                </a:ext>
              </a:extLst>
            </p:cNvPr>
            <p:cNvSpPr>
              <a:spLocks/>
            </p:cNvSpPr>
            <p:nvPr/>
          </p:nvSpPr>
          <p:spPr bwMode="auto">
            <a:xfrm>
              <a:off x="2362" y="2340"/>
              <a:ext cx="907" cy="282"/>
            </a:xfrm>
            <a:custGeom>
              <a:avLst/>
              <a:gdLst>
                <a:gd name="G0" fmla="+- 0 0 0"/>
                <a:gd name="G1" fmla="+- 19387 0 0"/>
                <a:gd name="G2" fmla="+- 21600 0 0"/>
                <a:gd name="T0" fmla="*/ 9523 w 16295"/>
                <a:gd name="T1" fmla="*/ 0 h 19387"/>
                <a:gd name="T2" fmla="*/ 16295 w 16295"/>
                <a:gd name="T3" fmla="*/ 5208 h 19387"/>
                <a:gd name="T4" fmla="*/ 0 w 16295"/>
                <a:gd name="T5" fmla="*/ 19387 h 19387"/>
              </a:gdLst>
              <a:ahLst/>
              <a:cxnLst>
                <a:cxn ang="0">
                  <a:pos x="T0" y="T1"/>
                </a:cxn>
                <a:cxn ang="0">
                  <a:pos x="T2" y="T3"/>
                </a:cxn>
                <a:cxn ang="0">
                  <a:pos x="T4" y="T5"/>
                </a:cxn>
              </a:cxnLst>
              <a:rect l="0" t="0" r="r" b="b"/>
              <a:pathLst>
                <a:path w="16295" h="19387" fill="none" extrusionOk="0">
                  <a:moveTo>
                    <a:pt x="9523" y="-1"/>
                  </a:moveTo>
                  <a:cubicBezTo>
                    <a:pt x="12104" y="1267"/>
                    <a:pt x="14406" y="3038"/>
                    <a:pt x="16294" y="5208"/>
                  </a:cubicBezTo>
                </a:path>
                <a:path w="16295" h="19387" stroke="0" extrusionOk="0">
                  <a:moveTo>
                    <a:pt x="9523" y="-1"/>
                  </a:moveTo>
                  <a:cubicBezTo>
                    <a:pt x="12104" y="1267"/>
                    <a:pt x="14406" y="3038"/>
                    <a:pt x="16294" y="5208"/>
                  </a:cubicBezTo>
                  <a:lnTo>
                    <a:pt x="0" y="19387"/>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3" name="Arc 64">
              <a:extLst>
                <a:ext uri="{FF2B5EF4-FFF2-40B4-BE49-F238E27FC236}">
                  <a16:creationId xmlns:a16="http://schemas.microsoft.com/office/drawing/2014/main" id="{653F84B3-B158-47FF-AAA5-5F4905E0F352}"/>
                </a:ext>
              </a:extLst>
            </p:cNvPr>
            <p:cNvSpPr>
              <a:spLocks/>
            </p:cNvSpPr>
            <p:nvPr/>
          </p:nvSpPr>
          <p:spPr bwMode="auto">
            <a:xfrm rot="180000">
              <a:off x="2420" y="2196"/>
              <a:ext cx="903" cy="316"/>
            </a:xfrm>
            <a:custGeom>
              <a:avLst/>
              <a:gdLst>
                <a:gd name="G0" fmla="+- 0 0 0"/>
                <a:gd name="G1" fmla="+- 19701 0 0"/>
                <a:gd name="G2" fmla="+- 21600 0 0"/>
                <a:gd name="T0" fmla="*/ 8856 w 17186"/>
                <a:gd name="T1" fmla="*/ 0 h 19701"/>
                <a:gd name="T2" fmla="*/ 17186 w 17186"/>
                <a:gd name="T3" fmla="*/ 6617 h 19701"/>
                <a:gd name="T4" fmla="*/ 0 w 17186"/>
                <a:gd name="T5" fmla="*/ 19701 h 19701"/>
              </a:gdLst>
              <a:ahLst/>
              <a:cxnLst>
                <a:cxn ang="0">
                  <a:pos x="T0" y="T1"/>
                </a:cxn>
                <a:cxn ang="0">
                  <a:pos x="T2" y="T3"/>
                </a:cxn>
                <a:cxn ang="0">
                  <a:pos x="T4" y="T5"/>
                </a:cxn>
              </a:cxnLst>
              <a:rect l="0" t="0" r="r" b="b"/>
              <a:pathLst>
                <a:path w="17186" h="19701" fill="none" extrusionOk="0">
                  <a:moveTo>
                    <a:pt x="8856" y="-1"/>
                  </a:moveTo>
                  <a:cubicBezTo>
                    <a:pt x="12140" y="1476"/>
                    <a:pt x="15004" y="3751"/>
                    <a:pt x="17186" y="6616"/>
                  </a:cubicBezTo>
                </a:path>
                <a:path w="17186" h="19701" stroke="0" extrusionOk="0">
                  <a:moveTo>
                    <a:pt x="8856" y="-1"/>
                  </a:moveTo>
                  <a:cubicBezTo>
                    <a:pt x="12140" y="1476"/>
                    <a:pt x="15004" y="3751"/>
                    <a:pt x="17186" y="6616"/>
                  </a:cubicBezTo>
                  <a:lnTo>
                    <a:pt x="0" y="19701"/>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4" name="Arc 65">
              <a:extLst>
                <a:ext uri="{FF2B5EF4-FFF2-40B4-BE49-F238E27FC236}">
                  <a16:creationId xmlns:a16="http://schemas.microsoft.com/office/drawing/2014/main" id="{2F664B13-AB4C-4657-93DE-96D08649787D}"/>
                </a:ext>
              </a:extLst>
            </p:cNvPr>
            <p:cNvSpPr>
              <a:spLocks/>
            </p:cNvSpPr>
            <p:nvPr/>
          </p:nvSpPr>
          <p:spPr bwMode="auto">
            <a:xfrm rot="120000">
              <a:off x="2490" y="2039"/>
              <a:ext cx="886" cy="504"/>
            </a:xfrm>
            <a:custGeom>
              <a:avLst/>
              <a:gdLst>
                <a:gd name="G0" fmla="+- 0 0 0"/>
                <a:gd name="G1" fmla="+- 20324 0 0"/>
                <a:gd name="G2" fmla="+- 21600 0 0"/>
                <a:gd name="T0" fmla="*/ 7314 w 15906"/>
                <a:gd name="T1" fmla="*/ 0 h 20324"/>
                <a:gd name="T2" fmla="*/ 15906 w 15906"/>
                <a:gd name="T3" fmla="*/ 5711 h 20324"/>
                <a:gd name="T4" fmla="*/ 0 w 15906"/>
                <a:gd name="T5" fmla="*/ 20324 h 20324"/>
              </a:gdLst>
              <a:ahLst/>
              <a:cxnLst>
                <a:cxn ang="0">
                  <a:pos x="T0" y="T1"/>
                </a:cxn>
                <a:cxn ang="0">
                  <a:pos x="T2" y="T3"/>
                </a:cxn>
                <a:cxn ang="0">
                  <a:pos x="T4" y="T5"/>
                </a:cxn>
              </a:cxnLst>
              <a:rect l="0" t="0" r="r" b="b"/>
              <a:pathLst>
                <a:path w="15906" h="20324" fill="none" extrusionOk="0">
                  <a:moveTo>
                    <a:pt x="7314" y="-1"/>
                  </a:moveTo>
                  <a:cubicBezTo>
                    <a:pt x="10597" y="1181"/>
                    <a:pt x="13545" y="3141"/>
                    <a:pt x="15906" y="5710"/>
                  </a:cubicBezTo>
                </a:path>
                <a:path w="15906" h="20324" stroke="0" extrusionOk="0">
                  <a:moveTo>
                    <a:pt x="7314" y="-1"/>
                  </a:moveTo>
                  <a:cubicBezTo>
                    <a:pt x="10597" y="1181"/>
                    <a:pt x="13545" y="3141"/>
                    <a:pt x="15906" y="5710"/>
                  </a:cubicBezTo>
                  <a:lnTo>
                    <a:pt x="0" y="20324"/>
                  </a:lnTo>
                  <a:close/>
                </a:path>
              </a:pathLst>
            </a:custGeom>
            <a:noFill/>
            <a:ln w="38100" cap="rnd">
              <a:solidFill>
                <a:srgbClr val="63A537"/>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 name="Line 66">
              <a:extLst>
                <a:ext uri="{FF2B5EF4-FFF2-40B4-BE49-F238E27FC236}">
                  <a16:creationId xmlns:a16="http://schemas.microsoft.com/office/drawing/2014/main" id="{38029DE0-26F9-44A2-BDB4-7B416594A0C5}"/>
                </a:ext>
              </a:extLst>
            </p:cNvPr>
            <p:cNvSpPr>
              <a:spLocks noChangeShapeType="1"/>
            </p:cNvSpPr>
            <p:nvPr/>
          </p:nvSpPr>
          <p:spPr bwMode="auto">
            <a:xfrm>
              <a:off x="3656" y="2441"/>
              <a:ext cx="69"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6" name="Line 67">
              <a:extLst>
                <a:ext uri="{FF2B5EF4-FFF2-40B4-BE49-F238E27FC236}">
                  <a16:creationId xmlns:a16="http://schemas.microsoft.com/office/drawing/2014/main" id="{9A0F3CC5-6B99-4CBB-96F2-0FCAAAEECB58}"/>
                </a:ext>
              </a:extLst>
            </p:cNvPr>
            <p:cNvSpPr>
              <a:spLocks noChangeShapeType="1"/>
            </p:cNvSpPr>
            <p:nvPr/>
          </p:nvSpPr>
          <p:spPr bwMode="auto">
            <a:xfrm>
              <a:off x="3669" y="2936"/>
              <a:ext cx="69"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7" name="Line 68">
              <a:extLst>
                <a:ext uri="{FF2B5EF4-FFF2-40B4-BE49-F238E27FC236}">
                  <a16:creationId xmlns:a16="http://schemas.microsoft.com/office/drawing/2014/main" id="{66339F31-BA86-452A-928B-9BF59AF55458}"/>
                </a:ext>
              </a:extLst>
            </p:cNvPr>
            <p:cNvSpPr>
              <a:spLocks noChangeShapeType="1"/>
            </p:cNvSpPr>
            <p:nvPr/>
          </p:nvSpPr>
          <p:spPr bwMode="auto">
            <a:xfrm>
              <a:off x="3579" y="2873"/>
              <a:ext cx="69"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8" name="Line 69">
              <a:extLst>
                <a:ext uri="{FF2B5EF4-FFF2-40B4-BE49-F238E27FC236}">
                  <a16:creationId xmlns:a16="http://schemas.microsoft.com/office/drawing/2014/main" id="{1CA93D33-6E4A-4D56-86DF-73329C6B3160}"/>
                </a:ext>
              </a:extLst>
            </p:cNvPr>
            <p:cNvSpPr>
              <a:spLocks noChangeShapeType="1"/>
            </p:cNvSpPr>
            <p:nvPr/>
          </p:nvSpPr>
          <p:spPr bwMode="auto">
            <a:xfrm>
              <a:off x="3536" y="2795"/>
              <a:ext cx="69"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9" name="Line 70">
              <a:extLst>
                <a:ext uri="{FF2B5EF4-FFF2-40B4-BE49-F238E27FC236}">
                  <a16:creationId xmlns:a16="http://schemas.microsoft.com/office/drawing/2014/main" id="{F865706D-81BB-4C4B-B253-868CFCA83E9E}"/>
                </a:ext>
              </a:extLst>
            </p:cNvPr>
            <p:cNvSpPr>
              <a:spLocks noChangeShapeType="1"/>
            </p:cNvSpPr>
            <p:nvPr/>
          </p:nvSpPr>
          <p:spPr bwMode="auto">
            <a:xfrm>
              <a:off x="3510" y="2700"/>
              <a:ext cx="69"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0" name="Line 71">
              <a:extLst>
                <a:ext uri="{FF2B5EF4-FFF2-40B4-BE49-F238E27FC236}">
                  <a16:creationId xmlns:a16="http://schemas.microsoft.com/office/drawing/2014/main" id="{C553E257-A948-459C-A4E6-9E8857A238C0}"/>
                </a:ext>
              </a:extLst>
            </p:cNvPr>
            <p:cNvSpPr>
              <a:spLocks noChangeShapeType="1"/>
            </p:cNvSpPr>
            <p:nvPr/>
          </p:nvSpPr>
          <p:spPr bwMode="auto">
            <a:xfrm>
              <a:off x="3519" y="2606"/>
              <a:ext cx="69"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1" name="Line 72">
              <a:extLst>
                <a:ext uri="{FF2B5EF4-FFF2-40B4-BE49-F238E27FC236}">
                  <a16:creationId xmlns:a16="http://schemas.microsoft.com/office/drawing/2014/main" id="{DD454D63-6CDF-42F6-A00E-D24EB9C842DC}"/>
                </a:ext>
              </a:extLst>
            </p:cNvPr>
            <p:cNvSpPr>
              <a:spLocks noChangeShapeType="1"/>
            </p:cNvSpPr>
            <p:nvPr/>
          </p:nvSpPr>
          <p:spPr bwMode="auto">
            <a:xfrm>
              <a:off x="3567" y="2511"/>
              <a:ext cx="68" cy="0"/>
            </a:xfrm>
            <a:prstGeom prst="line">
              <a:avLst/>
            </a:prstGeom>
            <a:noFill/>
            <a:ln w="38100">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2" name="Rectangle 73">
              <a:extLst>
                <a:ext uri="{FF2B5EF4-FFF2-40B4-BE49-F238E27FC236}">
                  <a16:creationId xmlns:a16="http://schemas.microsoft.com/office/drawing/2014/main" id="{32F6F810-967F-4A18-8C65-C0A14010CCA1}"/>
                </a:ext>
              </a:extLst>
            </p:cNvPr>
            <p:cNvSpPr>
              <a:spLocks noChangeArrowheads="1"/>
            </p:cNvSpPr>
            <p:nvPr/>
          </p:nvSpPr>
          <p:spPr bwMode="auto">
            <a:xfrm>
              <a:off x="3851" y="2783"/>
              <a:ext cx="202"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rgbClr val="FFFF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63" name="Rectangle 76">
              <a:extLst>
                <a:ext uri="{FF2B5EF4-FFF2-40B4-BE49-F238E27FC236}">
                  <a16:creationId xmlns:a16="http://schemas.microsoft.com/office/drawing/2014/main" id="{0F9BB5DD-9AFA-4258-AF34-507F4D2C0C36}"/>
                </a:ext>
              </a:extLst>
            </p:cNvPr>
            <p:cNvSpPr>
              <a:spLocks noChangeArrowheads="1"/>
            </p:cNvSpPr>
            <p:nvPr/>
          </p:nvSpPr>
          <p:spPr bwMode="auto">
            <a:xfrm>
              <a:off x="3957" y="2388"/>
              <a:ext cx="202"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rgbClr val="FFFF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64" name="Rectangle 77">
              <a:extLst>
                <a:ext uri="{FF2B5EF4-FFF2-40B4-BE49-F238E27FC236}">
                  <a16:creationId xmlns:a16="http://schemas.microsoft.com/office/drawing/2014/main" id="{9ED301CA-0408-4D4F-9509-C60142BB3501}"/>
                </a:ext>
              </a:extLst>
            </p:cNvPr>
            <p:cNvSpPr>
              <a:spLocks noChangeArrowheads="1"/>
            </p:cNvSpPr>
            <p:nvPr/>
          </p:nvSpPr>
          <p:spPr bwMode="auto">
            <a:xfrm>
              <a:off x="4000" y="2496"/>
              <a:ext cx="202"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rgbClr val="FFFF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65" name="Line 80">
              <a:extLst>
                <a:ext uri="{FF2B5EF4-FFF2-40B4-BE49-F238E27FC236}">
                  <a16:creationId xmlns:a16="http://schemas.microsoft.com/office/drawing/2014/main" id="{CBA783D6-3E91-4DB0-B434-8AF9218A93B5}"/>
                </a:ext>
              </a:extLst>
            </p:cNvPr>
            <p:cNvSpPr>
              <a:spLocks noChangeShapeType="1"/>
            </p:cNvSpPr>
            <p:nvPr/>
          </p:nvSpPr>
          <p:spPr bwMode="auto">
            <a:xfrm flipV="1">
              <a:off x="3188" y="2751"/>
              <a:ext cx="335" cy="40"/>
            </a:xfrm>
            <a:prstGeom prst="line">
              <a:avLst/>
            </a:prstGeom>
            <a:noFill/>
            <a:ln w="38100">
              <a:solidFill>
                <a:srgbClr val="63A53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6" name="Rectangle 87">
              <a:extLst>
                <a:ext uri="{FF2B5EF4-FFF2-40B4-BE49-F238E27FC236}">
                  <a16:creationId xmlns:a16="http://schemas.microsoft.com/office/drawing/2014/main" id="{D5732B4D-BA1F-4890-ACBC-1218B87A88DA}"/>
                </a:ext>
              </a:extLst>
            </p:cNvPr>
            <p:cNvSpPr>
              <a:spLocks noChangeArrowheads="1"/>
            </p:cNvSpPr>
            <p:nvPr/>
          </p:nvSpPr>
          <p:spPr bwMode="auto">
            <a:xfrm>
              <a:off x="4023" y="2614"/>
              <a:ext cx="202"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rgbClr val="FFFF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67" name="Rectangle 88">
              <a:extLst>
                <a:ext uri="{FF2B5EF4-FFF2-40B4-BE49-F238E27FC236}">
                  <a16:creationId xmlns:a16="http://schemas.microsoft.com/office/drawing/2014/main" id="{71468535-D06A-4ABC-B9F6-C65021D14929}"/>
                </a:ext>
              </a:extLst>
            </p:cNvPr>
            <p:cNvSpPr>
              <a:spLocks noChangeArrowheads="1"/>
            </p:cNvSpPr>
            <p:nvPr/>
          </p:nvSpPr>
          <p:spPr bwMode="auto">
            <a:xfrm>
              <a:off x="3946" y="2717"/>
              <a:ext cx="202"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rgbClr val="FFFF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nvGrpSpPr>
            <p:cNvPr id="68" name="Group 95">
              <a:extLst>
                <a:ext uri="{FF2B5EF4-FFF2-40B4-BE49-F238E27FC236}">
                  <a16:creationId xmlns:a16="http://schemas.microsoft.com/office/drawing/2014/main" id="{388DF906-33C4-482C-9760-7AE00901DA48}"/>
                </a:ext>
              </a:extLst>
            </p:cNvPr>
            <p:cNvGrpSpPr>
              <a:grpSpLocks/>
            </p:cNvGrpSpPr>
            <p:nvPr/>
          </p:nvGrpSpPr>
          <p:grpSpPr bwMode="auto">
            <a:xfrm>
              <a:off x="4199" y="2095"/>
              <a:ext cx="240" cy="284"/>
              <a:chOff x="2813" y="2949"/>
              <a:chExt cx="240" cy="284"/>
            </a:xfrm>
          </p:grpSpPr>
          <p:sp>
            <p:nvSpPr>
              <p:cNvPr id="70" name="Rectangle 96">
                <a:extLst>
                  <a:ext uri="{FF2B5EF4-FFF2-40B4-BE49-F238E27FC236}">
                    <a16:creationId xmlns:a16="http://schemas.microsoft.com/office/drawing/2014/main" id="{B2D10C18-51B4-4E40-BD1D-17719B1A5400}"/>
                  </a:ext>
                </a:extLst>
              </p:cNvPr>
              <p:cNvSpPr>
                <a:spLocks noChangeArrowheads="1"/>
              </p:cNvSpPr>
              <p:nvPr/>
            </p:nvSpPr>
            <p:spPr bwMode="auto">
              <a:xfrm>
                <a:off x="2813" y="2949"/>
                <a:ext cx="211" cy="284"/>
              </a:xfrm>
              <a:prstGeom prst="rect">
                <a:avLst/>
              </a:prstGeom>
              <a:solidFill>
                <a:sysClr val="window" lastClr="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0" i="1"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E</a:t>
                </a:r>
              </a:p>
            </p:txBody>
          </p:sp>
          <p:sp>
            <p:nvSpPr>
              <p:cNvPr id="71" name="Line 97">
                <a:extLst>
                  <a:ext uri="{FF2B5EF4-FFF2-40B4-BE49-F238E27FC236}">
                    <a16:creationId xmlns:a16="http://schemas.microsoft.com/office/drawing/2014/main" id="{3E68F06B-6F4C-41F5-BDD7-700D6BA2F9CF}"/>
                  </a:ext>
                </a:extLst>
              </p:cNvPr>
              <p:cNvSpPr>
                <a:spLocks noChangeShapeType="1"/>
              </p:cNvSpPr>
              <p:nvPr/>
            </p:nvSpPr>
            <p:spPr bwMode="auto">
              <a:xfrm>
                <a:off x="2933" y="3001"/>
                <a:ext cx="120" cy="0"/>
              </a:xfrm>
              <a:prstGeom prst="line">
                <a:avLst/>
              </a:prstGeom>
              <a:noFill/>
              <a:ln w="9525">
                <a:solidFill>
                  <a:srgbClr val="63A53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69" name="Rectangle 99">
              <a:extLst>
                <a:ext uri="{FF2B5EF4-FFF2-40B4-BE49-F238E27FC236}">
                  <a16:creationId xmlns:a16="http://schemas.microsoft.com/office/drawing/2014/main" id="{07EA0C02-A1A4-447D-B5FB-BE65DFFD4E30}"/>
                </a:ext>
              </a:extLst>
            </p:cNvPr>
            <p:cNvSpPr>
              <a:spLocks noChangeArrowheads="1"/>
            </p:cNvSpPr>
            <p:nvPr/>
          </p:nvSpPr>
          <p:spPr bwMode="auto">
            <a:xfrm>
              <a:off x="3555" y="2503"/>
              <a:ext cx="510"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0" i="1" u="none" strike="noStrike" kern="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E</a:t>
              </a:r>
              <a:r>
                <a:rPr kumimoji="0" lang="zh-CN" altLang="en-US" sz="3200" b="0" i="0" u="none" strike="noStrike" kern="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3200" b="0" i="0" u="none" strike="noStrike" kern="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grpSp>
      <p:sp>
        <p:nvSpPr>
          <p:cNvPr id="73" name="矩形 72">
            <a:extLst>
              <a:ext uri="{FF2B5EF4-FFF2-40B4-BE49-F238E27FC236}">
                <a16:creationId xmlns:a16="http://schemas.microsoft.com/office/drawing/2014/main" id="{67AF2B52-CF59-4634-B3A6-70AE11567C30}"/>
              </a:ext>
            </a:extLst>
          </p:cNvPr>
          <p:cNvSpPr/>
          <p:nvPr/>
        </p:nvSpPr>
        <p:spPr>
          <a:xfrm>
            <a:off x="5569308" y="1440173"/>
            <a:ext cx="6096000" cy="756617"/>
          </a:xfrm>
          <a:prstGeom prst="rect">
            <a:avLst/>
          </a:prstGeom>
        </p:spPr>
        <p:txBody>
          <a:bodyPr>
            <a:spAutoFit/>
          </a:bodyPr>
          <a:lstStyle/>
          <a:p>
            <a:pPr lvl="0">
              <a:lnSpc>
                <a:spcPct val="150000"/>
              </a:lnSpc>
              <a:spcBef>
                <a:spcPts val="1200"/>
              </a:spcBef>
              <a:spcAft>
                <a:spcPts val="200"/>
              </a:spcAft>
              <a:buClr>
                <a:srgbClr val="99CB38"/>
              </a:buClr>
              <a:buSzPct val="100000"/>
            </a:pPr>
            <a:r>
              <a:rPr lang="en-US" altLang="zh-CN" sz="32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dirty="0">
                <a:solidFill>
                  <a:prstClr val="black"/>
                </a:solidFill>
                <a:latin typeface="Times New Roman" panose="02020603050405020304" pitchFamily="18" charset="0"/>
                <a:ea typeface="华文楷体" panose="02010600040101010101" pitchFamily="2" charset="-122"/>
                <a:cs typeface="Times New Roman" panose="02020603050405020304" pitchFamily="18" charset="0"/>
              </a:rPr>
              <a:t>高斯定律</a:t>
            </a:r>
          </a:p>
        </p:txBody>
      </p:sp>
    </p:spTree>
    <p:extLst>
      <p:ext uri="{BB962C8B-B14F-4D97-AF65-F5344CB8AC3E}">
        <p14:creationId xmlns:p14="http://schemas.microsoft.com/office/powerpoint/2010/main" val="1052923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8" name="Group 90">
            <a:extLst>
              <a:ext uri="{FF2B5EF4-FFF2-40B4-BE49-F238E27FC236}">
                <a16:creationId xmlns:a16="http://schemas.microsoft.com/office/drawing/2014/main" id="{9CEBF439-F58E-49BC-8245-D99917E64901}"/>
              </a:ext>
            </a:extLst>
          </p:cNvPr>
          <p:cNvGrpSpPr>
            <a:grpSpLocks/>
          </p:cNvGrpSpPr>
          <p:nvPr/>
        </p:nvGrpSpPr>
        <p:grpSpPr bwMode="auto">
          <a:xfrm>
            <a:off x="1253199" y="1835412"/>
            <a:ext cx="3564870" cy="2040856"/>
            <a:chOff x="623" y="714"/>
            <a:chExt cx="1859" cy="1017"/>
          </a:xfrm>
        </p:grpSpPr>
        <p:sp>
          <p:nvSpPr>
            <p:cNvPr id="169" name="Line 5">
              <a:extLst>
                <a:ext uri="{FF2B5EF4-FFF2-40B4-BE49-F238E27FC236}">
                  <a16:creationId xmlns:a16="http://schemas.microsoft.com/office/drawing/2014/main" id="{79E4CB78-164B-415D-A1A6-E80679AA01DF}"/>
                </a:ext>
              </a:extLst>
            </p:cNvPr>
            <p:cNvSpPr>
              <a:spLocks noChangeShapeType="1"/>
            </p:cNvSpPr>
            <p:nvPr/>
          </p:nvSpPr>
          <p:spPr bwMode="auto">
            <a:xfrm>
              <a:off x="623" y="714"/>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0" name="Line 6">
              <a:extLst>
                <a:ext uri="{FF2B5EF4-FFF2-40B4-BE49-F238E27FC236}">
                  <a16:creationId xmlns:a16="http://schemas.microsoft.com/office/drawing/2014/main" id="{9925D1A3-EBD8-4AA4-949E-EED518CCC1DA}"/>
                </a:ext>
              </a:extLst>
            </p:cNvPr>
            <p:cNvSpPr>
              <a:spLocks noChangeShapeType="1"/>
            </p:cNvSpPr>
            <p:nvPr/>
          </p:nvSpPr>
          <p:spPr bwMode="auto">
            <a:xfrm>
              <a:off x="623" y="859"/>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1" name="Line 7">
              <a:extLst>
                <a:ext uri="{FF2B5EF4-FFF2-40B4-BE49-F238E27FC236}">
                  <a16:creationId xmlns:a16="http://schemas.microsoft.com/office/drawing/2014/main" id="{509E8A8C-538A-4119-A616-0AB0A819A86B}"/>
                </a:ext>
              </a:extLst>
            </p:cNvPr>
            <p:cNvSpPr>
              <a:spLocks noChangeShapeType="1"/>
            </p:cNvSpPr>
            <p:nvPr/>
          </p:nvSpPr>
          <p:spPr bwMode="auto">
            <a:xfrm>
              <a:off x="632" y="1005"/>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2" name="Line 8">
              <a:extLst>
                <a:ext uri="{FF2B5EF4-FFF2-40B4-BE49-F238E27FC236}">
                  <a16:creationId xmlns:a16="http://schemas.microsoft.com/office/drawing/2014/main" id="{A42B5358-E249-4491-B185-7066B4DEF78C}"/>
                </a:ext>
              </a:extLst>
            </p:cNvPr>
            <p:cNvSpPr>
              <a:spLocks noChangeShapeType="1"/>
            </p:cNvSpPr>
            <p:nvPr/>
          </p:nvSpPr>
          <p:spPr bwMode="auto">
            <a:xfrm>
              <a:off x="623" y="1295"/>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3" name="Line 9">
              <a:extLst>
                <a:ext uri="{FF2B5EF4-FFF2-40B4-BE49-F238E27FC236}">
                  <a16:creationId xmlns:a16="http://schemas.microsoft.com/office/drawing/2014/main" id="{57AC0420-1186-4B80-95A2-C63C9F24F42B}"/>
                </a:ext>
              </a:extLst>
            </p:cNvPr>
            <p:cNvSpPr>
              <a:spLocks noChangeShapeType="1"/>
            </p:cNvSpPr>
            <p:nvPr/>
          </p:nvSpPr>
          <p:spPr bwMode="auto">
            <a:xfrm>
              <a:off x="623" y="1150"/>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4" name="Line 10">
              <a:extLst>
                <a:ext uri="{FF2B5EF4-FFF2-40B4-BE49-F238E27FC236}">
                  <a16:creationId xmlns:a16="http://schemas.microsoft.com/office/drawing/2014/main" id="{4667383A-227D-421F-BF06-93F24F22BD32}"/>
                </a:ext>
              </a:extLst>
            </p:cNvPr>
            <p:cNvSpPr>
              <a:spLocks noChangeShapeType="1"/>
            </p:cNvSpPr>
            <p:nvPr/>
          </p:nvSpPr>
          <p:spPr bwMode="auto">
            <a:xfrm>
              <a:off x="623" y="1440"/>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5" name="Line 11">
              <a:extLst>
                <a:ext uri="{FF2B5EF4-FFF2-40B4-BE49-F238E27FC236}">
                  <a16:creationId xmlns:a16="http://schemas.microsoft.com/office/drawing/2014/main" id="{5AD6DA56-57A7-4451-8ABE-404C8AFDF23C}"/>
                </a:ext>
              </a:extLst>
            </p:cNvPr>
            <p:cNvSpPr>
              <a:spLocks noChangeShapeType="1"/>
            </p:cNvSpPr>
            <p:nvPr/>
          </p:nvSpPr>
          <p:spPr bwMode="auto">
            <a:xfrm>
              <a:off x="623" y="1586"/>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6" name="Line 12">
              <a:extLst>
                <a:ext uri="{FF2B5EF4-FFF2-40B4-BE49-F238E27FC236}">
                  <a16:creationId xmlns:a16="http://schemas.microsoft.com/office/drawing/2014/main" id="{03FE6F90-DACC-49F2-BE15-1EEE4616FF29}"/>
                </a:ext>
              </a:extLst>
            </p:cNvPr>
            <p:cNvSpPr>
              <a:spLocks noChangeShapeType="1"/>
            </p:cNvSpPr>
            <p:nvPr/>
          </p:nvSpPr>
          <p:spPr bwMode="auto">
            <a:xfrm>
              <a:off x="623" y="1731"/>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grpSp>
      <p:sp>
        <p:nvSpPr>
          <p:cNvPr id="2" name="矩形 1">
            <a:extLst>
              <a:ext uri="{FF2B5EF4-FFF2-40B4-BE49-F238E27FC236}">
                <a16:creationId xmlns:a16="http://schemas.microsoft.com/office/drawing/2014/main" id="{0A66634C-B6FE-49B4-AD37-C27F423FF022}"/>
              </a:ext>
            </a:extLst>
          </p:cNvPr>
          <p:cNvSpPr/>
          <p:nvPr/>
        </p:nvSpPr>
        <p:spPr>
          <a:xfrm>
            <a:off x="486061" y="511408"/>
            <a:ext cx="6763390" cy="646331"/>
          </a:xfrm>
          <a:prstGeom prst="rect">
            <a:avLst/>
          </a:prstGeom>
        </p:spPr>
        <p:txBody>
          <a:bodyPr wrap="none">
            <a:spAutoFit/>
          </a:bodyPr>
          <a:lstStyle/>
          <a:p>
            <a:pPr marL="571500" indent="-571500">
              <a:buFont typeface="Wingdings" panose="05000000000000000000" pitchFamily="2" charset="2"/>
              <a:buChar char="q"/>
            </a:pPr>
            <a:r>
              <a:rPr lang="zh-CN" alt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静电平衡时导体上的电荷分布</a:t>
            </a:r>
            <a:endParaRPr 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8" name="Object 18">
                <a:extLst>
                  <a:ext uri="{FF2B5EF4-FFF2-40B4-BE49-F238E27FC236}">
                    <a16:creationId xmlns:a16="http://schemas.microsoft.com/office/drawing/2014/main" id="{069129B4-C247-4472-9650-D8C90CB35ADE}"/>
                  </a:ext>
                </a:extLst>
              </p:cNvPr>
              <p:cNvSpPr txBox="1"/>
              <p:nvPr/>
            </p:nvSpPr>
            <p:spPr>
              <a:xfrm>
                <a:off x="4818069" y="2319164"/>
                <a:ext cx="6662737" cy="890587"/>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nary>
                        <m:naryPr>
                          <m:chr m:val="∯"/>
                          <m:supHide m:val="on"/>
                          <m:ctrlPr>
                            <a:rPr lang="en-US" altLang="zh-CN" sz="3200" i="1">
                              <a:solidFill>
                                <a:srgbClr val="000000"/>
                              </a:solidFill>
                              <a:latin typeface="Cambria Math" panose="02040503050406030204" pitchFamily="18" charset="0"/>
                            </a:rPr>
                          </m:ctrlPr>
                        </m:naryPr>
                        <m:sub>
                          <m:r>
                            <a:rPr lang="en-US" altLang="zh-CN" sz="3200" i="1">
                              <a:solidFill>
                                <a:srgbClr val="000000"/>
                              </a:solidFill>
                              <a:latin typeface="Cambria Math" panose="02040503050406030204" pitchFamily="18" charset="0"/>
                            </a:rPr>
                            <m:t>𝑆</m:t>
                          </m:r>
                        </m:sub>
                        <m:sup/>
                        <m:e>
                          <m:acc>
                            <m:accPr>
                              <m:chr m:val="⃗"/>
                              <m:ctrlPr>
                                <a:rPr lang="en-US" altLang="zh-CN" sz="3200" i="1">
                                  <a:solidFill>
                                    <a:srgbClr val="000000"/>
                                  </a:solidFill>
                                  <a:latin typeface="Cambria Math" panose="02040503050406030204" pitchFamily="18" charset="0"/>
                                </a:rPr>
                              </m:ctrlPr>
                            </m:accPr>
                            <m:e>
                              <m:r>
                                <a:rPr lang="en-US" altLang="zh-CN" sz="3200" i="1">
                                  <a:solidFill>
                                    <a:srgbClr val="000000"/>
                                  </a:solidFill>
                                  <a:latin typeface="Cambria Math" panose="02040503050406030204" pitchFamily="18" charset="0"/>
                                </a:rPr>
                                <m:t>𝐸</m:t>
                              </m:r>
                            </m:e>
                          </m:acc>
                          <m:r>
                            <a:rPr lang="en-US" altLang="zh-CN" sz="3200" i="1">
                              <a:solidFill>
                                <a:srgbClr val="000000"/>
                              </a:solidFill>
                              <a:latin typeface="Cambria Math" panose="02040503050406030204" pitchFamily="18" charset="0"/>
                            </a:rPr>
                            <m:t>⋅</m:t>
                          </m:r>
                          <m:r>
                            <a:rPr lang="en-US" altLang="zh-CN" sz="3200" i="1">
                              <a:solidFill>
                                <a:srgbClr val="000000"/>
                              </a:solidFill>
                              <a:latin typeface="Cambria Math" panose="02040503050406030204" pitchFamily="18" charset="0"/>
                            </a:rPr>
                            <m:t>𝑑</m:t>
                          </m:r>
                          <m:acc>
                            <m:accPr>
                              <m:chr m:val="⃗"/>
                              <m:ctrlPr>
                                <a:rPr lang="en-US" altLang="zh-CN" sz="3200" i="1">
                                  <a:solidFill>
                                    <a:srgbClr val="000000"/>
                                  </a:solidFill>
                                  <a:latin typeface="Cambria Math" panose="02040503050406030204" pitchFamily="18" charset="0"/>
                                </a:rPr>
                              </m:ctrlPr>
                            </m:accPr>
                            <m:e>
                              <m:r>
                                <a:rPr lang="en-US" altLang="zh-CN" sz="3200" i="1">
                                  <a:solidFill>
                                    <a:srgbClr val="000000"/>
                                  </a:solidFill>
                                  <a:latin typeface="Cambria Math" panose="02040503050406030204" pitchFamily="18" charset="0"/>
                                </a:rPr>
                                <m:t>𝑆</m:t>
                              </m:r>
                            </m:e>
                          </m:acc>
                        </m:e>
                      </m:nary>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0</m:t>
                      </m:r>
                      <m:m>
                        <m:mPr>
                          <m:plcHide m:val="on"/>
                          <m:mcs>
                            <m:mc>
                              <m:mcPr>
                                <m:count m:val="2"/>
                                <m:mcJc m:val="center"/>
                              </m:mcPr>
                            </m:mc>
                          </m:mcs>
                          <m:ctrlPr>
                            <a:rPr lang="en-US" sz="3200" i="1">
                              <a:solidFill>
                                <a:srgbClr val="000000"/>
                              </a:solidFill>
                              <a:latin typeface="Cambria Math" panose="02040503050406030204" pitchFamily="18" charset="0"/>
                            </a:rPr>
                          </m:ctrlPr>
                        </m:mPr>
                        <m:mr>
                          <m:e>
                            <m:r>
                              <a:rPr lang="en-US" sz="3200" i="1">
                                <a:solidFill>
                                  <a:srgbClr val="000000"/>
                                </a:solidFill>
                                <a:latin typeface="Cambria Math" panose="02040503050406030204" pitchFamily="18" charset="0"/>
                              </a:rPr>
                              <m:t>，</m:t>
                            </m:r>
                          </m:e>
                          <m:e>
                            <m:nary>
                              <m:naryPr>
                                <m:chr m:val="∑"/>
                                <m:subHide m:val="on"/>
                                <m:supHide m:val="on"/>
                                <m:ctrlPr>
                                  <a:rPr lang="en-US" sz="3200" i="1">
                                    <a:solidFill>
                                      <a:srgbClr val="000000"/>
                                    </a:solidFill>
                                    <a:latin typeface="Cambria Math" panose="02040503050406030204" pitchFamily="18" charset="0"/>
                                  </a:rPr>
                                </m:ctrlPr>
                              </m:naryPr>
                              <m:sub/>
                              <m:sup/>
                              <m:e>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𝑞</m:t>
                                    </m:r>
                                  </m:e>
                                  <m:sub>
                                    <m:r>
                                      <a:rPr lang="en-US" sz="3200" i="1">
                                        <a:solidFill>
                                          <a:srgbClr val="000000"/>
                                        </a:solidFill>
                                        <a:latin typeface="Cambria Math" panose="02040503050406030204" pitchFamily="18" charset="0"/>
                                      </a:rPr>
                                      <m:t>𝑖</m:t>
                                    </m:r>
                                  </m:sub>
                                </m:sSub>
                              </m:e>
                            </m:nary>
                          </m:e>
                        </m:mr>
                      </m:m>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0</m:t>
                      </m:r>
                    </m:oMath>
                  </m:oMathPara>
                </a14:m>
                <a:endParaRPr lang="en-US" sz="3200" dirty="0"/>
              </a:p>
            </p:txBody>
          </p:sp>
        </mc:Choice>
        <mc:Fallback xmlns="">
          <p:sp>
            <p:nvSpPr>
              <p:cNvPr id="148" name="Object 18">
                <a:extLst>
                  <a:ext uri="{FF2B5EF4-FFF2-40B4-BE49-F238E27FC236}">
                    <a16:creationId xmlns:a16="http://schemas.microsoft.com/office/drawing/2014/main" id="{069129B4-C247-4472-9650-D8C90CB35ADE}"/>
                  </a:ext>
                </a:extLst>
              </p:cNvPr>
              <p:cNvSpPr txBox="1">
                <a:spLocks noRot="1" noChangeAspect="1" noMove="1" noResize="1" noEditPoints="1" noAdjustHandles="1" noChangeArrowheads="1" noChangeShapeType="1" noTextEdit="1"/>
              </p:cNvSpPr>
              <p:nvPr/>
            </p:nvSpPr>
            <p:spPr>
              <a:xfrm>
                <a:off x="4818069" y="2319164"/>
                <a:ext cx="6662737" cy="890587"/>
              </a:xfrm>
              <a:prstGeom prst="rect">
                <a:avLst/>
              </a:prstGeom>
              <a:blipFill>
                <a:blip r:embed="rId2"/>
                <a:stretch>
                  <a:fillRect b="-31293"/>
                </a:stretch>
              </a:blipFill>
              <a:ln w="38100">
                <a:noFill/>
                <a:miter/>
              </a:ln>
            </p:spPr>
            <p:txBody>
              <a:bodyPr/>
              <a:lstStyle/>
              <a:p>
                <a:r>
                  <a:rPr lang="zh-CN" altLang="en-US">
                    <a:noFill/>
                  </a:rPr>
                  <a:t> </a:t>
                </a:r>
              </a:p>
            </p:txBody>
          </p:sp>
        </mc:Fallback>
      </mc:AlternateContent>
      <p:sp>
        <p:nvSpPr>
          <p:cNvPr id="149" name="Text Box 30">
            <a:extLst>
              <a:ext uri="{FF2B5EF4-FFF2-40B4-BE49-F238E27FC236}">
                <a16:creationId xmlns:a16="http://schemas.microsoft.com/office/drawing/2014/main" id="{C5C18EE8-C1C1-47B6-B6E3-71A76738B80A}"/>
              </a:ext>
            </a:extLst>
          </p:cNvPr>
          <p:cNvSpPr txBox="1"/>
          <p:nvPr/>
        </p:nvSpPr>
        <p:spPr>
          <a:xfrm>
            <a:off x="5839751" y="1466080"/>
            <a:ext cx="3505200" cy="584775"/>
          </a:xfrm>
          <a:prstGeom prst="rect">
            <a:avLst/>
          </a:prstGeom>
          <a:noFill/>
          <a:ln w="9525">
            <a:noFill/>
          </a:ln>
        </p:spPr>
        <p:txBody>
          <a:bodyPr anchor="t" anchorCtr="0">
            <a:spAutoFit/>
          </a:bodyPr>
          <a:lstStyle/>
          <a:p>
            <a:pPr>
              <a:spcBef>
                <a:spcPct val="50000"/>
              </a:spcBef>
            </a:pPr>
            <a:r>
              <a:rPr lang="en-US" altLang="zh-CN" sz="3200" dirty="0">
                <a:latin typeface="华文楷体" panose="02010600040101010101" pitchFamily="2" charset="-122"/>
                <a:ea typeface="华文楷体" panose="02010600040101010101" pitchFamily="2" charset="-122"/>
              </a:rPr>
              <a:t>- </a:t>
            </a:r>
            <a:r>
              <a:rPr lang="zh-CN" altLang="en-US" sz="3200" dirty="0">
                <a:latin typeface="华文楷体" panose="02010600040101010101" pitchFamily="2" charset="-122"/>
                <a:ea typeface="华文楷体" panose="02010600040101010101" pitchFamily="2" charset="-122"/>
              </a:rPr>
              <a:t>有空腔导体</a:t>
            </a:r>
          </a:p>
        </p:txBody>
      </p:sp>
      <p:grpSp>
        <p:nvGrpSpPr>
          <p:cNvPr id="5" name="组合 4">
            <a:extLst>
              <a:ext uri="{FF2B5EF4-FFF2-40B4-BE49-F238E27FC236}">
                <a16:creationId xmlns:a16="http://schemas.microsoft.com/office/drawing/2014/main" id="{0FD44359-B757-44B4-B000-88C545A1EB23}"/>
              </a:ext>
            </a:extLst>
          </p:cNvPr>
          <p:cNvGrpSpPr/>
          <p:nvPr/>
        </p:nvGrpSpPr>
        <p:grpSpPr>
          <a:xfrm>
            <a:off x="1567281" y="2001149"/>
            <a:ext cx="2675599" cy="1526619"/>
            <a:chOff x="7249451" y="5802948"/>
            <a:chExt cx="2675599" cy="1526619"/>
          </a:xfrm>
        </p:grpSpPr>
        <p:sp>
          <p:nvSpPr>
            <p:cNvPr id="153" name="AutoShape 61">
              <a:extLst>
                <a:ext uri="{FF2B5EF4-FFF2-40B4-BE49-F238E27FC236}">
                  <a16:creationId xmlns:a16="http://schemas.microsoft.com/office/drawing/2014/main" id="{A832247C-3407-4384-9E67-8659BFE0F68D}"/>
                </a:ext>
              </a:extLst>
            </p:cNvPr>
            <p:cNvSpPr/>
            <p:nvPr/>
          </p:nvSpPr>
          <p:spPr>
            <a:xfrm>
              <a:off x="7249451" y="5802948"/>
              <a:ext cx="2675599" cy="1526619"/>
            </a:xfrm>
            <a:custGeom>
              <a:avLst/>
              <a:gdLst/>
              <a:ahLst/>
              <a:cxnLst>
                <a:cxn ang="0">
                  <a:pos x="8" y="0"/>
                </a:cxn>
                <a:cxn ang="0">
                  <a:pos x="2" y="1"/>
                </a:cxn>
                <a:cxn ang="0">
                  <a:pos x="0" y="2"/>
                </a:cxn>
                <a:cxn ang="0">
                  <a:pos x="2" y="3"/>
                </a:cxn>
                <a:cxn ang="0">
                  <a:pos x="8" y="4"/>
                </a:cxn>
                <a:cxn ang="0">
                  <a:pos x="14" y="3"/>
                </a:cxn>
                <a:cxn ang="0">
                  <a:pos x="16" y="2"/>
                </a:cxn>
                <a:cxn ang="0">
                  <a:pos x="14" y="1"/>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6816" y="10800"/>
                  </a:moveTo>
                  <a:cubicBezTo>
                    <a:pt x="6816" y="13000"/>
                    <a:pt x="8600" y="14784"/>
                    <a:pt x="10800" y="14784"/>
                  </a:cubicBezTo>
                  <a:cubicBezTo>
                    <a:pt x="13000" y="14784"/>
                    <a:pt x="14784" y="13000"/>
                    <a:pt x="14784" y="10800"/>
                  </a:cubicBezTo>
                  <a:cubicBezTo>
                    <a:pt x="14784" y="8600"/>
                    <a:pt x="13000" y="6816"/>
                    <a:pt x="10800" y="6816"/>
                  </a:cubicBezTo>
                  <a:cubicBezTo>
                    <a:pt x="8600" y="6816"/>
                    <a:pt x="6816" y="8600"/>
                    <a:pt x="6816" y="10800"/>
                  </a:cubicBezTo>
                  <a:close/>
                </a:path>
              </a:pathLst>
            </a:custGeom>
            <a:gradFill rotWithShape="0">
              <a:gsLst>
                <a:gs pos="0">
                  <a:srgbClr val="FFFFFF"/>
                </a:gs>
                <a:gs pos="100000">
                  <a:srgbClr val="C2C2C2"/>
                </a:gs>
              </a:gsLst>
              <a:lin ang="2700000" scaled="1"/>
              <a:tileRect/>
            </a:gradFill>
            <a:ln w="19050" cap="flat" cmpd="sng">
              <a:solidFill>
                <a:srgbClr val="000000"/>
              </a:solidFill>
              <a:prstDash val="solid"/>
              <a:round/>
              <a:headEnd type="none" w="med" len="med"/>
              <a:tailEnd type="none" w="med" len="med"/>
            </a:ln>
          </p:spPr>
          <p:txBody>
            <a:bodyPr/>
            <a:lstStyle/>
            <a:p>
              <a:endParaRPr lang="zh-CN" altLang="en-US"/>
            </a:p>
          </p:txBody>
        </p:sp>
        <mc:AlternateContent xmlns:mc="http://schemas.openxmlformats.org/markup-compatibility/2006" xmlns:a14="http://schemas.microsoft.com/office/drawing/2010/main">
          <mc:Choice Requires="a14">
            <p:sp>
              <p:nvSpPr>
                <p:cNvPr id="155" name="Object 63">
                  <a:extLst>
                    <a:ext uri="{FF2B5EF4-FFF2-40B4-BE49-F238E27FC236}">
                      <a16:creationId xmlns:a16="http://schemas.microsoft.com/office/drawing/2014/main" id="{41EC6A0D-6B59-4A65-AE06-C1EDD20538A7}"/>
                    </a:ext>
                  </a:extLst>
                </p:cNvPr>
                <p:cNvSpPr txBox="1"/>
                <p:nvPr/>
              </p:nvSpPr>
              <p:spPr>
                <a:xfrm>
                  <a:off x="9086361" y="6707271"/>
                  <a:ext cx="367079" cy="437631"/>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𝑆</m:t>
                        </m:r>
                      </m:oMath>
                    </m:oMathPara>
                  </a14:m>
                  <a:endParaRPr lang="en-US" dirty="0"/>
                </a:p>
              </p:txBody>
            </p:sp>
          </mc:Choice>
          <mc:Fallback xmlns="">
            <p:sp>
              <p:nvSpPr>
                <p:cNvPr id="155" name="Object 63">
                  <a:extLst>
                    <a:ext uri="{FF2B5EF4-FFF2-40B4-BE49-F238E27FC236}">
                      <a16:creationId xmlns:a16="http://schemas.microsoft.com/office/drawing/2014/main" id="{41EC6A0D-6B59-4A65-AE06-C1EDD20538A7}"/>
                    </a:ext>
                  </a:extLst>
                </p:cNvPr>
                <p:cNvSpPr txBox="1">
                  <a:spLocks noRot="1" noChangeAspect="1" noMove="1" noResize="1" noEditPoints="1" noAdjustHandles="1" noChangeArrowheads="1" noChangeShapeType="1" noTextEdit="1"/>
                </p:cNvSpPr>
                <p:nvPr/>
              </p:nvSpPr>
              <p:spPr>
                <a:xfrm>
                  <a:off x="9086361" y="6707271"/>
                  <a:ext cx="367079" cy="437631"/>
                </a:xfrm>
                <a:prstGeom prst="rect">
                  <a:avLst/>
                </a:prstGeom>
                <a:blipFill>
                  <a:blip r:embed="rId3"/>
                  <a:stretch>
                    <a:fillRect/>
                  </a:stretch>
                </a:blipFill>
                <a:ln w="38100">
                  <a:noFill/>
                  <a:miter/>
                </a:ln>
              </p:spPr>
              <p:txBody>
                <a:bodyPr/>
                <a:lstStyle/>
                <a:p>
                  <a:r>
                    <a:rPr lang="en-US">
                      <a:noFill/>
                    </a:rPr>
                    <a:t> </a:t>
                  </a:r>
                </a:p>
              </p:txBody>
            </p:sp>
          </mc:Fallback>
        </mc:AlternateContent>
      </p:grpSp>
      <p:sp>
        <p:nvSpPr>
          <p:cNvPr id="157" name="Rectangle 66">
            <a:extLst>
              <a:ext uri="{FF2B5EF4-FFF2-40B4-BE49-F238E27FC236}">
                <a16:creationId xmlns:a16="http://schemas.microsoft.com/office/drawing/2014/main" id="{0D03D894-8E3E-4FB3-A8E7-7B97C538ADFB}"/>
              </a:ext>
            </a:extLst>
          </p:cNvPr>
          <p:cNvSpPr/>
          <p:nvPr/>
        </p:nvSpPr>
        <p:spPr>
          <a:xfrm>
            <a:off x="5935001" y="3876268"/>
            <a:ext cx="4471061" cy="584775"/>
          </a:xfrm>
          <a:prstGeom prst="rect">
            <a:avLst/>
          </a:prstGeom>
          <a:noFill/>
          <a:ln w="9525">
            <a:noFill/>
          </a:ln>
        </p:spPr>
        <p:txBody>
          <a:bodyPr wrap="square" anchor="t" anchorCtr="0">
            <a:spAutoFit/>
          </a:bodyPr>
          <a:lstStyle/>
          <a:p>
            <a:pPr>
              <a:spcBef>
                <a:spcPct val="50000"/>
              </a:spcBef>
            </a:pPr>
            <a:r>
              <a:rPr lang="zh-CN" altLang="en-US" sz="3200" dirty="0">
                <a:latin typeface="华文楷体" panose="02010600040101010101" pitchFamily="2" charset="-122"/>
                <a:ea typeface="华文楷体" panose="02010600040101010101" pitchFamily="2" charset="-122"/>
              </a:rPr>
              <a:t>电荷分布在表面上</a:t>
            </a:r>
          </a:p>
        </p:txBody>
      </p:sp>
      <p:sp>
        <p:nvSpPr>
          <p:cNvPr id="38" name="Text Box 68">
            <a:extLst>
              <a:ext uri="{FF2B5EF4-FFF2-40B4-BE49-F238E27FC236}">
                <a16:creationId xmlns:a16="http://schemas.microsoft.com/office/drawing/2014/main" id="{9A5E41C5-D4B4-4AEE-A138-3E57AEE5A82C}"/>
              </a:ext>
            </a:extLst>
          </p:cNvPr>
          <p:cNvSpPr txBox="1"/>
          <p:nvPr/>
        </p:nvSpPr>
        <p:spPr>
          <a:xfrm>
            <a:off x="5935001" y="5391920"/>
            <a:ext cx="3657600" cy="584775"/>
          </a:xfrm>
          <a:prstGeom prst="rect">
            <a:avLst/>
          </a:prstGeom>
          <a:noFill/>
          <a:ln w="9525">
            <a:noFill/>
          </a:ln>
        </p:spPr>
        <p:txBody>
          <a:bodyPr anchor="t" anchorCtr="0">
            <a:spAutoFit/>
          </a:bodyPr>
          <a:lstStyle/>
          <a:p>
            <a:pPr>
              <a:spcBef>
                <a:spcPct val="50000"/>
              </a:spcBef>
            </a:pPr>
            <a:r>
              <a:rPr lang="zh-CN" altLang="en-US" sz="3200" dirty="0">
                <a:latin typeface="华文楷体" panose="02010600040101010101" pitchFamily="2" charset="-122"/>
                <a:ea typeface="华文楷体" panose="02010600040101010101" pitchFamily="2" charset="-122"/>
              </a:rPr>
              <a:t>内表面上有电荷吗？</a:t>
            </a:r>
          </a:p>
        </p:txBody>
      </p:sp>
      <p:sp>
        <p:nvSpPr>
          <p:cNvPr id="39" name="Freeform 64" descr="宽下对角线">
            <a:extLst>
              <a:ext uri="{FF2B5EF4-FFF2-40B4-BE49-F238E27FC236}">
                <a16:creationId xmlns:a16="http://schemas.microsoft.com/office/drawing/2014/main" id="{D6ECC1E1-97A0-474D-A10F-C14356B078B4}"/>
              </a:ext>
            </a:extLst>
          </p:cNvPr>
          <p:cNvSpPr/>
          <p:nvPr/>
        </p:nvSpPr>
        <p:spPr>
          <a:xfrm rot="2655082">
            <a:off x="3338933" y="2416953"/>
            <a:ext cx="764068" cy="390560"/>
          </a:xfrm>
          <a:custGeom>
            <a:avLst/>
            <a:gdLst/>
            <a:ahLst/>
            <a:cxnLst>
              <a:cxn ang="0">
                <a:pos x="89" y="56"/>
              </a:cxn>
              <a:cxn ang="0">
                <a:pos x="294" y="9"/>
              </a:cxn>
              <a:cxn ang="0">
                <a:pos x="531" y="111"/>
              </a:cxn>
              <a:cxn ang="0">
                <a:pos x="479" y="286"/>
              </a:cxn>
              <a:cxn ang="0">
                <a:pos x="65" y="237"/>
              </a:cxn>
              <a:cxn ang="0">
                <a:pos x="89" y="56"/>
              </a:cxn>
            </a:cxnLst>
            <a:rect l="0" t="0" r="0" b="0"/>
            <a:pathLst>
              <a:path w="562" h="307">
                <a:moveTo>
                  <a:pt x="89" y="56"/>
                </a:moveTo>
                <a:cubicBezTo>
                  <a:pt x="127" y="18"/>
                  <a:pt x="220" y="0"/>
                  <a:pt x="294" y="9"/>
                </a:cubicBezTo>
                <a:cubicBezTo>
                  <a:pt x="368" y="18"/>
                  <a:pt x="500" y="65"/>
                  <a:pt x="531" y="111"/>
                </a:cubicBezTo>
                <a:cubicBezTo>
                  <a:pt x="562" y="157"/>
                  <a:pt x="557" y="265"/>
                  <a:pt x="479" y="286"/>
                </a:cubicBezTo>
                <a:cubicBezTo>
                  <a:pt x="401" y="307"/>
                  <a:pt x="130" y="275"/>
                  <a:pt x="65" y="237"/>
                </a:cubicBezTo>
                <a:cubicBezTo>
                  <a:pt x="0" y="199"/>
                  <a:pt x="44" y="96"/>
                  <a:pt x="89" y="56"/>
                </a:cubicBezTo>
                <a:close/>
              </a:path>
            </a:pathLst>
          </a:custGeom>
          <a:pattFill prst="wdDnDiag">
            <a:fgClr>
              <a:srgbClr val="0000FF"/>
            </a:fgClr>
            <a:bgClr>
              <a:srgbClr val="EAEAEA"/>
            </a:bgClr>
          </a:pattFill>
          <a:ln w="19050" cap="flat" cmpd="sng">
            <a:solidFill>
              <a:srgbClr val="0000FF"/>
            </a:solidFill>
            <a:prstDash val="dash"/>
            <a:round/>
            <a:headEnd type="none" w="sm" len="lg"/>
            <a:tailEnd type="none" w="sm" len="lg"/>
          </a:ln>
        </p:spPr>
        <p:txBody>
          <a:bodyPr/>
          <a:lstStyle/>
          <a:p>
            <a:endParaRPr lang="zh-CN" altLang="en-US"/>
          </a:p>
        </p:txBody>
      </p:sp>
      <p:sp>
        <p:nvSpPr>
          <p:cNvPr id="3" name="椭圆 2">
            <a:extLst>
              <a:ext uri="{FF2B5EF4-FFF2-40B4-BE49-F238E27FC236}">
                <a16:creationId xmlns:a16="http://schemas.microsoft.com/office/drawing/2014/main" id="{571705D0-2659-44E7-BFE2-087EE69D6533}"/>
              </a:ext>
            </a:extLst>
          </p:cNvPr>
          <p:cNvSpPr/>
          <p:nvPr/>
        </p:nvSpPr>
        <p:spPr>
          <a:xfrm>
            <a:off x="2419388" y="2498953"/>
            <a:ext cx="971384" cy="531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639798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P spid="149" grpId="0"/>
      <p:bldP spid="157" grpId="0"/>
      <p:bldP spid="38" grpId="0"/>
      <p:bldP spid="3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8" name="Group 90">
            <a:extLst>
              <a:ext uri="{FF2B5EF4-FFF2-40B4-BE49-F238E27FC236}">
                <a16:creationId xmlns:a16="http://schemas.microsoft.com/office/drawing/2014/main" id="{9CEBF439-F58E-49BC-8245-D99917E64901}"/>
              </a:ext>
            </a:extLst>
          </p:cNvPr>
          <p:cNvGrpSpPr>
            <a:grpSpLocks/>
          </p:cNvGrpSpPr>
          <p:nvPr/>
        </p:nvGrpSpPr>
        <p:grpSpPr bwMode="auto">
          <a:xfrm>
            <a:off x="1253199" y="1835412"/>
            <a:ext cx="3564870" cy="2040856"/>
            <a:chOff x="623" y="714"/>
            <a:chExt cx="1859" cy="1017"/>
          </a:xfrm>
        </p:grpSpPr>
        <p:sp>
          <p:nvSpPr>
            <p:cNvPr id="169" name="Line 5">
              <a:extLst>
                <a:ext uri="{FF2B5EF4-FFF2-40B4-BE49-F238E27FC236}">
                  <a16:creationId xmlns:a16="http://schemas.microsoft.com/office/drawing/2014/main" id="{79E4CB78-164B-415D-A1A6-E80679AA01DF}"/>
                </a:ext>
              </a:extLst>
            </p:cNvPr>
            <p:cNvSpPr>
              <a:spLocks noChangeShapeType="1"/>
            </p:cNvSpPr>
            <p:nvPr/>
          </p:nvSpPr>
          <p:spPr bwMode="auto">
            <a:xfrm>
              <a:off x="623" y="714"/>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0" name="Line 6">
              <a:extLst>
                <a:ext uri="{FF2B5EF4-FFF2-40B4-BE49-F238E27FC236}">
                  <a16:creationId xmlns:a16="http://schemas.microsoft.com/office/drawing/2014/main" id="{9925D1A3-EBD8-4AA4-949E-EED518CCC1DA}"/>
                </a:ext>
              </a:extLst>
            </p:cNvPr>
            <p:cNvSpPr>
              <a:spLocks noChangeShapeType="1"/>
            </p:cNvSpPr>
            <p:nvPr/>
          </p:nvSpPr>
          <p:spPr bwMode="auto">
            <a:xfrm>
              <a:off x="623" y="859"/>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1" name="Line 7">
              <a:extLst>
                <a:ext uri="{FF2B5EF4-FFF2-40B4-BE49-F238E27FC236}">
                  <a16:creationId xmlns:a16="http://schemas.microsoft.com/office/drawing/2014/main" id="{509E8A8C-538A-4119-A616-0AB0A819A86B}"/>
                </a:ext>
              </a:extLst>
            </p:cNvPr>
            <p:cNvSpPr>
              <a:spLocks noChangeShapeType="1"/>
            </p:cNvSpPr>
            <p:nvPr/>
          </p:nvSpPr>
          <p:spPr bwMode="auto">
            <a:xfrm>
              <a:off x="632" y="1005"/>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2" name="Line 8">
              <a:extLst>
                <a:ext uri="{FF2B5EF4-FFF2-40B4-BE49-F238E27FC236}">
                  <a16:creationId xmlns:a16="http://schemas.microsoft.com/office/drawing/2014/main" id="{A42B5358-E249-4491-B185-7066B4DEF78C}"/>
                </a:ext>
              </a:extLst>
            </p:cNvPr>
            <p:cNvSpPr>
              <a:spLocks noChangeShapeType="1"/>
            </p:cNvSpPr>
            <p:nvPr/>
          </p:nvSpPr>
          <p:spPr bwMode="auto">
            <a:xfrm>
              <a:off x="623" y="1295"/>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3" name="Line 9">
              <a:extLst>
                <a:ext uri="{FF2B5EF4-FFF2-40B4-BE49-F238E27FC236}">
                  <a16:creationId xmlns:a16="http://schemas.microsoft.com/office/drawing/2014/main" id="{57AC0420-1186-4B80-95A2-C63C9F24F42B}"/>
                </a:ext>
              </a:extLst>
            </p:cNvPr>
            <p:cNvSpPr>
              <a:spLocks noChangeShapeType="1"/>
            </p:cNvSpPr>
            <p:nvPr/>
          </p:nvSpPr>
          <p:spPr bwMode="auto">
            <a:xfrm>
              <a:off x="623" y="1150"/>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4" name="Line 10">
              <a:extLst>
                <a:ext uri="{FF2B5EF4-FFF2-40B4-BE49-F238E27FC236}">
                  <a16:creationId xmlns:a16="http://schemas.microsoft.com/office/drawing/2014/main" id="{4667383A-227D-421F-BF06-93F24F22BD32}"/>
                </a:ext>
              </a:extLst>
            </p:cNvPr>
            <p:cNvSpPr>
              <a:spLocks noChangeShapeType="1"/>
            </p:cNvSpPr>
            <p:nvPr/>
          </p:nvSpPr>
          <p:spPr bwMode="auto">
            <a:xfrm>
              <a:off x="623" y="1440"/>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5" name="Line 11">
              <a:extLst>
                <a:ext uri="{FF2B5EF4-FFF2-40B4-BE49-F238E27FC236}">
                  <a16:creationId xmlns:a16="http://schemas.microsoft.com/office/drawing/2014/main" id="{5AD6DA56-57A7-4451-8ABE-404C8AFDF23C}"/>
                </a:ext>
              </a:extLst>
            </p:cNvPr>
            <p:cNvSpPr>
              <a:spLocks noChangeShapeType="1"/>
            </p:cNvSpPr>
            <p:nvPr/>
          </p:nvSpPr>
          <p:spPr bwMode="auto">
            <a:xfrm>
              <a:off x="623" y="1586"/>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sp>
          <p:nvSpPr>
            <p:cNvPr id="176" name="Line 12">
              <a:extLst>
                <a:ext uri="{FF2B5EF4-FFF2-40B4-BE49-F238E27FC236}">
                  <a16:creationId xmlns:a16="http://schemas.microsoft.com/office/drawing/2014/main" id="{03FE6F90-DACC-49F2-BE15-1EEE4616FF29}"/>
                </a:ext>
              </a:extLst>
            </p:cNvPr>
            <p:cNvSpPr>
              <a:spLocks noChangeShapeType="1"/>
            </p:cNvSpPr>
            <p:nvPr/>
          </p:nvSpPr>
          <p:spPr bwMode="auto">
            <a:xfrm>
              <a:off x="623" y="1731"/>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0000"/>
                </a:solidFill>
                <a:ea typeface="黑体" panose="02010609060101010101" pitchFamily="49" charset="-122"/>
                <a:cs typeface="Times New Roman" panose="02020603050405020304" pitchFamily="18" charset="0"/>
              </a:endParaRPr>
            </a:p>
          </p:txBody>
        </p:sp>
      </p:grpSp>
      <p:sp>
        <p:nvSpPr>
          <p:cNvPr id="2" name="矩形 1">
            <a:extLst>
              <a:ext uri="{FF2B5EF4-FFF2-40B4-BE49-F238E27FC236}">
                <a16:creationId xmlns:a16="http://schemas.microsoft.com/office/drawing/2014/main" id="{0A66634C-B6FE-49B4-AD37-C27F423FF022}"/>
              </a:ext>
            </a:extLst>
          </p:cNvPr>
          <p:cNvSpPr/>
          <p:nvPr/>
        </p:nvSpPr>
        <p:spPr>
          <a:xfrm>
            <a:off x="486061" y="511408"/>
            <a:ext cx="6763390" cy="646331"/>
          </a:xfrm>
          <a:prstGeom prst="rect">
            <a:avLst/>
          </a:prstGeom>
        </p:spPr>
        <p:txBody>
          <a:bodyPr wrap="none">
            <a:spAutoFit/>
          </a:bodyPr>
          <a:lstStyle/>
          <a:p>
            <a:pPr marL="571500" indent="-571500">
              <a:buFont typeface="Wingdings" panose="05000000000000000000" pitchFamily="2" charset="2"/>
              <a:buChar char="q"/>
            </a:pPr>
            <a:r>
              <a:rPr lang="zh-CN" alt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静电平衡时导体上的电荷分布</a:t>
            </a:r>
            <a:endParaRPr 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8" name="Object 18">
                <a:extLst>
                  <a:ext uri="{FF2B5EF4-FFF2-40B4-BE49-F238E27FC236}">
                    <a16:creationId xmlns:a16="http://schemas.microsoft.com/office/drawing/2014/main" id="{069129B4-C247-4472-9650-D8C90CB35ADE}"/>
                  </a:ext>
                </a:extLst>
              </p:cNvPr>
              <p:cNvSpPr txBox="1"/>
              <p:nvPr/>
            </p:nvSpPr>
            <p:spPr>
              <a:xfrm>
                <a:off x="4843675" y="2319163"/>
                <a:ext cx="6662737" cy="890587"/>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nary>
                        <m:naryPr>
                          <m:chr m:val="∯"/>
                          <m:supHide m:val="on"/>
                          <m:ctrlPr>
                            <a:rPr lang="en-US" altLang="zh-CN" sz="3200" i="1">
                              <a:solidFill>
                                <a:srgbClr val="000000"/>
                              </a:solidFill>
                              <a:latin typeface="Cambria Math" panose="02040503050406030204" pitchFamily="18" charset="0"/>
                            </a:rPr>
                          </m:ctrlPr>
                        </m:naryPr>
                        <m:sub>
                          <m:r>
                            <a:rPr lang="en-US" altLang="zh-CN" sz="3200" i="1">
                              <a:solidFill>
                                <a:srgbClr val="000000"/>
                              </a:solidFill>
                              <a:latin typeface="Cambria Math" panose="02040503050406030204" pitchFamily="18" charset="0"/>
                            </a:rPr>
                            <m:t>𝑆</m:t>
                          </m:r>
                        </m:sub>
                        <m:sup/>
                        <m:e>
                          <m:acc>
                            <m:accPr>
                              <m:chr m:val="⃗"/>
                              <m:ctrlPr>
                                <a:rPr lang="en-US" altLang="zh-CN" sz="3200" i="1">
                                  <a:solidFill>
                                    <a:srgbClr val="000000"/>
                                  </a:solidFill>
                                  <a:latin typeface="Cambria Math" panose="02040503050406030204" pitchFamily="18" charset="0"/>
                                </a:rPr>
                              </m:ctrlPr>
                            </m:accPr>
                            <m:e>
                              <m:r>
                                <a:rPr lang="en-US" altLang="zh-CN" sz="3200" i="1">
                                  <a:solidFill>
                                    <a:srgbClr val="000000"/>
                                  </a:solidFill>
                                  <a:latin typeface="Cambria Math" panose="02040503050406030204" pitchFamily="18" charset="0"/>
                                </a:rPr>
                                <m:t>𝐸</m:t>
                              </m:r>
                            </m:e>
                          </m:acc>
                          <m:r>
                            <a:rPr lang="en-US" altLang="zh-CN" sz="3200" i="1">
                              <a:solidFill>
                                <a:srgbClr val="000000"/>
                              </a:solidFill>
                              <a:latin typeface="Cambria Math" panose="02040503050406030204" pitchFamily="18" charset="0"/>
                            </a:rPr>
                            <m:t>⋅</m:t>
                          </m:r>
                          <m:r>
                            <a:rPr lang="en-US" altLang="zh-CN" sz="3200" i="1">
                              <a:solidFill>
                                <a:srgbClr val="000000"/>
                              </a:solidFill>
                              <a:latin typeface="Cambria Math" panose="02040503050406030204" pitchFamily="18" charset="0"/>
                            </a:rPr>
                            <m:t>𝑑</m:t>
                          </m:r>
                          <m:acc>
                            <m:accPr>
                              <m:chr m:val="⃗"/>
                              <m:ctrlPr>
                                <a:rPr lang="en-US" altLang="zh-CN" sz="3200" i="1">
                                  <a:solidFill>
                                    <a:srgbClr val="000000"/>
                                  </a:solidFill>
                                  <a:latin typeface="Cambria Math" panose="02040503050406030204" pitchFamily="18" charset="0"/>
                                </a:rPr>
                              </m:ctrlPr>
                            </m:accPr>
                            <m:e>
                              <m:r>
                                <a:rPr lang="en-US" altLang="zh-CN" sz="3200" i="1">
                                  <a:solidFill>
                                    <a:srgbClr val="000000"/>
                                  </a:solidFill>
                                  <a:latin typeface="Cambria Math" panose="02040503050406030204" pitchFamily="18" charset="0"/>
                                </a:rPr>
                                <m:t>𝑆</m:t>
                              </m:r>
                            </m:e>
                          </m:acc>
                        </m:e>
                      </m:nary>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0</m:t>
                      </m:r>
                      <m:m>
                        <m:mPr>
                          <m:plcHide m:val="on"/>
                          <m:mcs>
                            <m:mc>
                              <m:mcPr>
                                <m:count m:val="2"/>
                                <m:mcJc m:val="center"/>
                              </m:mcPr>
                            </m:mc>
                          </m:mcs>
                          <m:ctrlPr>
                            <a:rPr lang="en-US" sz="3200" i="1">
                              <a:solidFill>
                                <a:srgbClr val="000000"/>
                              </a:solidFill>
                              <a:latin typeface="Cambria Math" panose="02040503050406030204" pitchFamily="18" charset="0"/>
                            </a:rPr>
                          </m:ctrlPr>
                        </m:mPr>
                        <m:mr>
                          <m:e>
                            <m:r>
                              <a:rPr lang="en-US" sz="3200" i="1">
                                <a:solidFill>
                                  <a:srgbClr val="000000"/>
                                </a:solidFill>
                                <a:latin typeface="Cambria Math" panose="02040503050406030204" pitchFamily="18" charset="0"/>
                              </a:rPr>
                              <m:t>，</m:t>
                            </m:r>
                          </m:e>
                          <m:e>
                            <m:nary>
                              <m:naryPr>
                                <m:chr m:val="∑"/>
                                <m:subHide m:val="on"/>
                                <m:supHide m:val="on"/>
                                <m:ctrlPr>
                                  <a:rPr lang="en-US" sz="3200" i="1">
                                    <a:solidFill>
                                      <a:srgbClr val="000000"/>
                                    </a:solidFill>
                                    <a:latin typeface="Cambria Math" panose="02040503050406030204" pitchFamily="18" charset="0"/>
                                  </a:rPr>
                                </m:ctrlPr>
                              </m:naryPr>
                              <m:sub/>
                              <m:sup/>
                              <m:e>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𝑞</m:t>
                                    </m:r>
                                  </m:e>
                                  <m:sub>
                                    <m:r>
                                      <a:rPr lang="en-US" sz="3200" i="1">
                                        <a:solidFill>
                                          <a:srgbClr val="000000"/>
                                        </a:solidFill>
                                        <a:latin typeface="Cambria Math" panose="02040503050406030204" pitchFamily="18" charset="0"/>
                                      </a:rPr>
                                      <m:t>𝑖</m:t>
                                    </m:r>
                                  </m:sub>
                                </m:sSub>
                              </m:e>
                            </m:nary>
                          </m:e>
                        </m:mr>
                      </m:m>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0</m:t>
                      </m:r>
                    </m:oMath>
                  </m:oMathPara>
                </a14:m>
                <a:endParaRPr lang="en-US" sz="3200" dirty="0"/>
              </a:p>
            </p:txBody>
          </p:sp>
        </mc:Choice>
        <mc:Fallback xmlns="">
          <p:sp>
            <p:nvSpPr>
              <p:cNvPr id="148" name="Object 18">
                <a:extLst>
                  <a:ext uri="{FF2B5EF4-FFF2-40B4-BE49-F238E27FC236}">
                    <a16:creationId xmlns:a16="http://schemas.microsoft.com/office/drawing/2014/main" id="{069129B4-C247-4472-9650-D8C90CB35ADE}"/>
                  </a:ext>
                </a:extLst>
              </p:cNvPr>
              <p:cNvSpPr txBox="1">
                <a:spLocks noRot="1" noChangeAspect="1" noMove="1" noResize="1" noEditPoints="1" noAdjustHandles="1" noChangeArrowheads="1" noChangeShapeType="1" noTextEdit="1"/>
              </p:cNvSpPr>
              <p:nvPr/>
            </p:nvSpPr>
            <p:spPr>
              <a:xfrm>
                <a:off x="4843675" y="2319163"/>
                <a:ext cx="6662737" cy="890587"/>
              </a:xfrm>
              <a:prstGeom prst="rect">
                <a:avLst/>
              </a:prstGeom>
              <a:blipFill>
                <a:blip r:embed="rId2"/>
                <a:stretch>
                  <a:fillRect b="-31293"/>
                </a:stretch>
              </a:blipFill>
              <a:ln w="38100">
                <a:noFill/>
                <a:miter/>
              </a:ln>
            </p:spPr>
            <p:txBody>
              <a:bodyPr/>
              <a:lstStyle/>
              <a:p>
                <a:r>
                  <a:rPr lang="zh-CN" altLang="en-US">
                    <a:noFill/>
                  </a:rPr>
                  <a:t> </a:t>
                </a:r>
              </a:p>
            </p:txBody>
          </p:sp>
        </mc:Fallback>
      </mc:AlternateContent>
      <p:sp>
        <p:nvSpPr>
          <p:cNvPr id="149" name="Text Box 30">
            <a:extLst>
              <a:ext uri="{FF2B5EF4-FFF2-40B4-BE49-F238E27FC236}">
                <a16:creationId xmlns:a16="http://schemas.microsoft.com/office/drawing/2014/main" id="{C5C18EE8-C1C1-47B6-B6E3-71A76738B80A}"/>
              </a:ext>
            </a:extLst>
          </p:cNvPr>
          <p:cNvSpPr txBox="1"/>
          <p:nvPr/>
        </p:nvSpPr>
        <p:spPr>
          <a:xfrm>
            <a:off x="5839751" y="1466080"/>
            <a:ext cx="3505200" cy="584775"/>
          </a:xfrm>
          <a:prstGeom prst="rect">
            <a:avLst/>
          </a:prstGeom>
          <a:noFill/>
          <a:ln w="9525">
            <a:noFill/>
          </a:ln>
        </p:spPr>
        <p:txBody>
          <a:bodyPr anchor="t" anchorCtr="0">
            <a:spAutoFit/>
          </a:bodyPr>
          <a:lstStyle/>
          <a:p>
            <a:pPr>
              <a:spcBef>
                <a:spcPct val="50000"/>
              </a:spcBef>
            </a:pPr>
            <a:r>
              <a:rPr lang="en-US" altLang="zh-CN" sz="3200" dirty="0">
                <a:latin typeface="华文楷体" panose="02010600040101010101" pitchFamily="2" charset="-122"/>
                <a:ea typeface="华文楷体" panose="02010600040101010101" pitchFamily="2" charset="-122"/>
              </a:rPr>
              <a:t>- </a:t>
            </a:r>
            <a:r>
              <a:rPr lang="zh-CN" altLang="en-US" sz="3200" dirty="0">
                <a:latin typeface="华文楷体" panose="02010600040101010101" pitchFamily="2" charset="-122"/>
                <a:ea typeface="华文楷体" panose="02010600040101010101" pitchFamily="2" charset="-122"/>
              </a:rPr>
              <a:t>有空腔导体</a:t>
            </a:r>
          </a:p>
        </p:txBody>
      </p:sp>
      <p:grpSp>
        <p:nvGrpSpPr>
          <p:cNvPr id="5" name="组合 4">
            <a:extLst>
              <a:ext uri="{FF2B5EF4-FFF2-40B4-BE49-F238E27FC236}">
                <a16:creationId xmlns:a16="http://schemas.microsoft.com/office/drawing/2014/main" id="{0FD44359-B757-44B4-B000-88C545A1EB23}"/>
              </a:ext>
            </a:extLst>
          </p:cNvPr>
          <p:cNvGrpSpPr/>
          <p:nvPr/>
        </p:nvGrpSpPr>
        <p:grpSpPr>
          <a:xfrm>
            <a:off x="1567281" y="2001149"/>
            <a:ext cx="2675599" cy="1526619"/>
            <a:chOff x="7249451" y="5802948"/>
            <a:chExt cx="2675599" cy="1526619"/>
          </a:xfrm>
        </p:grpSpPr>
        <p:sp>
          <p:nvSpPr>
            <p:cNvPr id="153" name="AutoShape 61">
              <a:extLst>
                <a:ext uri="{FF2B5EF4-FFF2-40B4-BE49-F238E27FC236}">
                  <a16:creationId xmlns:a16="http://schemas.microsoft.com/office/drawing/2014/main" id="{A832247C-3407-4384-9E67-8659BFE0F68D}"/>
                </a:ext>
              </a:extLst>
            </p:cNvPr>
            <p:cNvSpPr/>
            <p:nvPr/>
          </p:nvSpPr>
          <p:spPr>
            <a:xfrm>
              <a:off x="7249451" y="5802948"/>
              <a:ext cx="2675599" cy="1526619"/>
            </a:xfrm>
            <a:custGeom>
              <a:avLst/>
              <a:gdLst/>
              <a:ahLst/>
              <a:cxnLst>
                <a:cxn ang="0">
                  <a:pos x="8" y="0"/>
                </a:cxn>
                <a:cxn ang="0">
                  <a:pos x="2" y="1"/>
                </a:cxn>
                <a:cxn ang="0">
                  <a:pos x="0" y="2"/>
                </a:cxn>
                <a:cxn ang="0">
                  <a:pos x="2" y="3"/>
                </a:cxn>
                <a:cxn ang="0">
                  <a:pos x="8" y="4"/>
                </a:cxn>
                <a:cxn ang="0">
                  <a:pos x="14" y="3"/>
                </a:cxn>
                <a:cxn ang="0">
                  <a:pos x="16" y="2"/>
                </a:cxn>
                <a:cxn ang="0">
                  <a:pos x="14" y="1"/>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6816" y="10800"/>
                  </a:moveTo>
                  <a:cubicBezTo>
                    <a:pt x="6816" y="13000"/>
                    <a:pt x="8600" y="14784"/>
                    <a:pt x="10800" y="14784"/>
                  </a:cubicBezTo>
                  <a:cubicBezTo>
                    <a:pt x="13000" y="14784"/>
                    <a:pt x="14784" y="13000"/>
                    <a:pt x="14784" y="10800"/>
                  </a:cubicBezTo>
                  <a:cubicBezTo>
                    <a:pt x="14784" y="8600"/>
                    <a:pt x="13000" y="6816"/>
                    <a:pt x="10800" y="6816"/>
                  </a:cubicBezTo>
                  <a:cubicBezTo>
                    <a:pt x="8600" y="6816"/>
                    <a:pt x="6816" y="8600"/>
                    <a:pt x="6816" y="10800"/>
                  </a:cubicBezTo>
                  <a:close/>
                </a:path>
              </a:pathLst>
            </a:custGeom>
            <a:gradFill rotWithShape="0">
              <a:gsLst>
                <a:gs pos="0">
                  <a:srgbClr val="FFFFFF"/>
                </a:gs>
                <a:gs pos="100000">
                  <a:srgbClr val="C2C2C2"/>
                </a:gs>
              </a:gsLst>
              <a:lin ang="2700000" scaled="1"/>
              <a:tileRect/>
            </a:gradFill>
            <a:ln w="19050" cap="flat" cmpd="sng">
              <a:solidFill>
                <a:srgbClr val="000000"/>
              </a:solidFill>
              <a:prstDash val="solid"/>
              <a:round/>
              <a:headEnd type="none" w="med" len="med"/>
              <a:tailEnd type="none" w="med" len="med"/>
            </a:ln>
          </p:spPr>
          <p:txBody>
            <a:bodyPr/>
            <a:lstStyle/>
            <a:p>
              <a:endParaRPr lang="zh-CN" altLang="en-US"/>
            </a:p>
          </p:txBody>
        </p:sp>
        <mc:AlternateContent xmlns:mc="http://schemas.openxmlformats.org/markup-compatibility/2006" xmlns:a14="http://schemas.microsoft.com/office/drawing/2010/main">
          <mc:Choice Requires="a14">
            <p:sp>
              <p:nvSpPr>
                <p:cNvPr id="155" name="Object 63">
                  <a:extLst>
                    <a:ext uri="{FF2B5EF4-FFF2-40B4-BE49-F238E27FC236}">
                      <a16:creationId xmlns:a16="http://schemas.microsoft.com/office/drawing/2014/main" id="{41EC6A0D-6B59-4A65-AE06-C1EDD20538A7}"/>
                    </a:ext>
                  </a:extLst>
                </p:cNvPr>
                <p:cNvSpPr txBox="1"/>
                <p:nvPr/>
              </p:nvSpPr>
              <p:spPr>
                <a:xfrm>
                  <a:off x="9086361" y="6707271"/>
                  <a:ext cx="367079" cy="437631"/>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𝑆</m:t>
                        </m:r>
                      </m:oMath>
                    </m:oMathPara>
                  </a14:m>
                  <a:endParaRPr lang="en-US" dirty="0"/>
                </a:p>
              </p:txBody>
            </p:sp>
          </mc:Choice>
          <mc:Fallback xmlns="">
            <p:sp>
              <p:nvSpPr>
                <p:cNvPr id="155" name="Object 63">
                  <a:extLst>
                    <a:ext uri="{FF2B5EF4-FFF2-40B4-BE49-F238E27FC236}">
                      <a16:creationId xmlns:a16="http://schemas.microsoft.com/office/drawing/2014/main" id="{41EC6A0D-6B59-4A65-AE06-C1EDD20538A7}"/>
                    </a:ext>
                  </a:extLst>
                </p:cNvPr>
                <p:cNvSpPr txBox="1">
                  <a:spLocks noRot="1" noChangeAspect="1" noMove="1" noResize="1" noEditPoints="1" noAdjustHandles="1" noChangeArrowheads="1" noChangeShapeType="1" noTextEdit="1"/>
                </p:cNvSpPr>
                <p:nvPr/>
              </p:nvSpPr>
              <p:spPr>
                <a:xfrm>
                  <a:off x="9086361" y="6707271"/>
                  <a:ext cx="367079" cy="437631"/>
                </a:xfrm>
                <a:prstGeom prst="rect">
                  <a:avLst/>
                </a:prstGeom>
                <a:blipFill>
                  <a:blip r:embed="rId3"/>
                  <a:stretch>
                    <a:fillRect/>
                  </a:stretch>
                </a:blipFill>
                <a:ln w="38100">
                  <a:noFill/>
                  <a:miter/>
                </a:ln>
              </p:spPr>
              <p:txBody>
                <a:bodyPr/>
                <a:lstStyle/>
                <a:p>
                  <a:r>
                    <a:rPr lang="en-US">
                      <a:noFill/>
                    </a:rPr>
                    <a:t> </a:t>
                  </a:r>
                </a:p>
              </p:txBody>
            </p:sp>
          </mc:Fallback>
        </mc:AlternateContent>
      </p:grpSp>
      <p:sp>
        <p:nvSpPr>
          <p:cNvPr id="157" name="Rectangle 66">
            <a:extLst>
              <a:ext uri="{FF2B5EF4-FFF2-40B4-BE49-F238E27FC236}">
                <a16:creationId xmlns:a16="http://schemas.microsoft.com/office/drawing/2014/main" id="{0D03D894-8E3E-4FB3-A8E7-7B97C538ADFB}"/>
              </a:ext>
            </a:extLst>
          </p:cNvPr>
          <p:cNvSpPr/>
          <p:nvPr/>
        </p:nvSpPr>
        <p:spPr>
          <a:xfrm>
            <a:off x="5935001" y="3876268"/>
            <a:ext cx="4471061" cy="584775"/>
          </a:xfrm>
          <a:prstGeom prst="rect">
            <a:avLst/>
          </a:prstGeom>
          <a:noFill/>
          <a:ln w="9525">
            <a:noFill/>
          </a:ln>
        </p:spPr>
        <p:txBody>
          <a:bodyPr wrap="square" anchor="t" anchorCtr="0">
            <a:spAutoFit/>
          </a:bodyPr>
          <a:lstStyle/>
          <a:p>
            <a:pPr>
              <a:spcBef>
                <a:spcPct val="50000"/>
              </a:spcBef>
            </a:pPr>
            <a:r>
              <a:rPr lang="zh-CN" altLang="en-US" sz="3200" dirty="0">
                <a:latin typeface="华文楷体" panose="02010600040101010101" pitchFamily="2" charset="-122"/>
                <a:ea typeface="华文楷体" panose="02010600040101010101" pitchFamily="2" charset="-122"/>
              </a:rPr>
              <a:t>电荷分布在表面上</a:t>
            </a:r>
          </a:p>
        </p:txBody>
      </p:sp>
      <p:sp>
        <p:nvSpPr>
          <p:cNvPr id="39" name="Freeform 64" descr="宽下对角线">
            <a:extLst>
              <a:ext uri="{FF2B5EF4-FFF2-40B4-BE49-F238E27FC236}">
                <a16:creationId xmlns:a16="http://schemas.microsoft.com/office/drawing/2014/main" id="{D6ECC1E1-97A0-474D-A10F-C14356B078B4}"/>
              </a:ext>
            </a:extLst>
          </p:cNvPr>
          <p:cNvSpPr/>
          <p:nvPr/>
        </p:nvSpPr>
        <p:spPr>
          <a:xfrm rot="2655082">
            <a:off x="3338933" y="2416953"/>
            <a:ext cx="764068" cy="390560"/>
          </a:xfrm>
          <a:custGeom>
            <a:avLst/>
            <a:gdLst/>
            <a:ahLst/>
            <a:cxnLst>
              <a:cxn ang="0">
                <a:pos x="89" y="56"/>
              </a:cxn>
              <a:cxn ang="0">
                <a:pos x="294" y="9"/>
              </a:cxn>
              <a:cxn ang="0">
                <a:pos x="531" y="111"/>
              </a:cxn>
              <a:cxn ang="0">
                <a:pos x="479" y="286"/>
              </a:cxn>
              <a:cxn ang="0">
                <a:pos x="65" y="237"/>
              </a:cxn>
              <a:cxn ang="0">
                <a:pos x="89" y="56"/>
              </a:cxn>
            </a:cxnLst>
            <a:rect l="0" t="0" r="0" b="0"/>
            <a:pathLst>
              <a:path w="562" h="307">
                <a:moveTo>
                  <a:pt x="89" y="56"/>
                </a:moveTo>
                <a:cubicBezTo>
                  <a:pt x="127" y="18"/>
                  <a:pt x="220" y="0"/>
                  <a:pt x="294" y="9"/>
                </a:cubicBezTo>
                <a:cubicBezTo>
                  <a:pt x="368" y="18"/>
                  <a:pt x="500" y="65"/>
                  <a:pt x="531" y="111"/>
                </a:cubicBezTo>
                <a:cubicBezTo>
                  <a:pt x="562" y="157"/>
                  <a:pt x="557" y="265"/>
                  <a:pt x="479" y="286"/>
                </a:cubicBezTo>
                <a:cubicBezTo>
                  <a:pt x="401" y="307"/>
                  <a:pt x="130" y="275"/>
                  <a:pt x="65" y="237"/>
                </a:cubicBezTo>
                <a:cubicBezTo>
                  <a:pt x="0" y="199"/>
                  <a:pt x="44" y="96"/>
                  <a:pt x="89" y="56"/>
                </a:cubicBezTo>
                <a:close/>
              </a:path>
            </a:pathLst>
          </a:custGeom>
          <a:pattFill prst="wdDnDiag">
            <a:fgClr>
              <a:srgbClr val="0000FF"/>
            </a:fgClr>
            <a:bgClr>
              <a:srgbClr val="EAEAEA"/>
            </a:bgClr>
          </a:pattFill>
          <a:ln w="19050" cap="flat" cmpd="sng">
            <a:solidFill>
              <a:srgbClr val="0000FF"/>
            </a:solidFill>
            <a:prstDash val="dash"/>
            <a:round/>
            <a:headEnd type="none" w="sm" len="lg"/>
            <a:tailEnd type="none" w="sm" len="lg"/>
          </a:ln>
        </p:spPr>
        <p:txBody>
          <a:bodyPr/>
          <a:lstStyle/>
          <a:p>
            <a:endParaRPr lang="zh-CN" altLang="en-US"/>
          </a:p>
        </p:txBody>
      </p:sp>
      <p:grpSp>
        <p:nvGrpSpPr>
          <p:cNvPr id="20" name="Group 25">
            <a:extLst>
              <a:ext uri="{FF2B5EF4-FFF2-40B4-BE49-F238E27FC236}">
                <a16:creationId xmlns:a16="http://schemas.microsoft.com/office/drawing/2014/main" id="{C2068042-59AD-4061-9E9C-7291AC1D9043}"/>
              </a:ext>
            </a:extLst>
          </p:cNvPr>
          <p:cNvGrpSpPr/>
          <p:nvPr/>
        </p:nvGrpSpPr>
        <p:grpSpPr>
          <a:xfrm>
            <a:off x="1579204" y="2251632"/>
            <a:ext cx="1995846" cy="1110399"/>
            <a:chOff x="3216" y="1392"/>
            <a:chExt cx="1824" cy="1200"/>
          </a:xfrm>
        </p:grpSpPr>
        <p:sp>
          <p:nvSpPr>
            <p:cNvPr id="21" name="Oval 10">
              <a:extLst>
                <a:ext uri="{FF2B5EF4-FFF2-40B4-BE49-F238E27FC236}">
                  <a16:creationId xmlns:a16="http://schemas.microsoft.com/office/drawing/2014/main" id="{48E368CE-29B3-4379-81C1-5A7166A67189}"/>
                </a:ext>
              </a:extLst>
            </p:cNvPr>
            <p:cNvSpPr/>
            <p:nvPr/>
          </p:nvSpPr>
          <p:spPr>
            <a:xfrm>
              <a:off x="3648" y="1392"/>
              <a:ext cx="1392" cy="1200"/>
            </a:xfrm>
            <a:prstGeom prst="ellipse">
              <a:avLst/>
            </a:prstGeom>
            <a:noFill/>
            <a:ln w="28575" cap="flat" cmpd="sng">
              <a:solidFill>
                <a:srgbClr val="CC00CC"/>
              </a:solidFill>
              <a:prstDash val="dash"/>
              <a:round/>
              <a:headEnd type="none" w="sm" len="lg"/>
              <a:tailEnd type="none" w="sm" len="lg"/>
            </a:ln>
          </p:spPr>
          <p:txBody>
            <a:bodyPr wrap="none" anchor="ctr" anchorCtr="0"/>
            <a:lstStyle/>
            <a:p>
              <a:pPr algn="ctr"/>
              <a:endParaRPr lang="zh-CN" altLang="en-US" dirty="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22" name="Object 12">
                  <a:extLst>
                    <a:ext uri="{FF2B5EF4-FFF2-40B4-BE49-F238E27FC236}">
                      <a16:creationId xmlns:a16="http://schemas.microsoft.com/office/drawing/2014/main" id="{C4804E2B-6D7B-405B-BCF6-E71D4F0C8C5C}"/>
                    </a:ext>
                  </a:extLst>
                </p:cNvPr>
                <p:cNvSpPr txBox="1"/>
                <p:nvPr/>
              </p:nvSpPr>
              <p:spPr>
                <a:xfrm>
                  <a:off x="3216" y="1585"/>
                  <a:ext cx="441" cy="535"/>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𝑆</m:t>
                            </m:r>
                          </m:e>
                          <m:sub>
                            <m:r>
                              <a:rPr lang="en-US" i="1">
                                <a:solidFill>
                                  <a:srgbClr val="000000"/>
                                </a:solidFill>
                                <a:latin typeface="Cambria Math" panose="02040503050406030204" pitchFamily="18" charset="0"/>
                              </a:rPr>
                              <m:t>2</m:t>
                            </m:r>
                          </m:sub>
                        </m:sSub>
                      </m:oMath>
                    </m:oMathPara>
                  </a14:m>
                  <a:endParaRPr lang="en-US"/>
                </a:p>
              </p:txBody>
            </p:sp>
          </mc:Choice>
          <mc:Fallback xmlns="">
            <p:sp>
              <p:nvSpPr>
                <p:cNvPr id="22" name="Object 12">
                  <a:extLst>
                    <a:ext uri="{FF2B5EF4-FFF2-40B4-BE49-F238E27FC236}">
                      <a16:creationId xmlns:a16="http://schemas.microsoft.com/office/drawing/2014/main" id="{C4804E2B-6D7B-405B-BCF6-E71D4F0C8C5C}"/>
                    </a:ext>
                  </a:extLst>
                </p:cNvPr>
                <p:cNvSpPr txBox="1">
                  <a:spLocks noRot="1" noChangeAspect="1" noMove="1" noResize="1" noEditPoints="1" noAdjustHandles="1" noChangeArrowheads="1" noChangeShapeType="1" noTextEdit="1"/>
                </p:cNvSpPr>
                <p:nvPr/>
              </p:nvSpPr>
              <p:spPr>
                <a:xfrm>
                  <a:off x="3216" y="1585"/>
                  <a:ext cx="441" cy="535"/>
                </a:xfrm>
                <a:prstGeom prst="rect">
                  <a:avLst/>
                </a:prstGeom>
                <a:blipFill>
                  <a:blip r:embed="rId4"/>
                  <a:stretch>
                    <a:fillRect/>
                  </a:stretch>
                </a:blipFill>
                <a:ln w="38100">
                  <a:noFill/>
                  <a:miter/>
                </a:ln>
              </p:spPr>
              <p:txBody>
                <a:bodyPr/>
                <a:lstStyle/>
                <a:p>
                  <a:r>
                    <a:rPr lang="en-US">
                      <a:noFill/>
                    </a:rPr>
                    <a:t> </a:t>
                  </a:r>
                </a:p>
              </p:txBody>
            </p:sp>
          </mc:Fallback>
        </mc:AlternateContent>
      </p:grpSp>
      <p:sp>
        <p:nvSpPr>
          <p:cNvPr id="23" name="Rectangle 7">
            <a:extLst>
              <a:ext uri="{FF2B5EF4-FFF2-40B4-BE49-F238E27FC236}">
                <a16:creationId xmlns:a16="http://schemas.microsoft.com/office/drawing/2014/main" id="{6F487696-C603-428A-8468-C92FAF5C7B09}"/>
              </a:ext>
            </a:extLst>
          </p:cNvPr>
          <p:cNvSpPr/>
          <p:nvPr/>
        </p:nvSpPr>
        <p:spPr>
          <a:xfrm>
            <a:off x="7209432" y="5387322"/>
            <a:ext cx="3932552" cy="584775"/>
          </a:xfrm>
          <a:prstGeom prst="rect">
            <a:avLst/>
          </a:prstGeom>
          <a:noFill/>
          <a:ln w="9525">
            <a:noFill/>
          </a:ln>
        </p:spPr>
        <p:txBody>
          <a:bodyPr wrap="square" anchor="t" anchorCtr="0">
            <a:spAutoFit/>
          </a:bodyPr>
          <a:lstStyle/>
          <a:p>
            <a:pPr>
              <a:spcBef>
                <a:spcPct val="50000"/>
              </a:spcBef>
            </a:pPr>
            <a:r>
              <a:rPr lang="zh-CN" altLang="en-US" sz="3200" dirty="0">
                <a:solidFill>
                  <a:schemeClr val="tx1"/>
                </a:solidFill>
                <a:latin typeface="华文楷体" panose="02010600040101010101" pitchFamily="2" charset="-122"/>
                <a:ea typeface="华文楷体" panose="02010600040101010101" pitchFamily="2" charset="-122"/>
              </a:rPr>
              <a:t>所以内表面</a:t>
            </a:r>
            <a:r>
              <a:rPr lang="zh-CN" altLang="en-US" sz="3200" dirty="0">
                <a:solidFill>
                  <a:srgbClr val="CC0000"/>
                </a:solidFill>
                <a:latin typeface="华文楷体" panose="02010600040101010101" pitchFamily="2" charset="-122"/>
                <a:ea typeface="华文楷体" panose="02010600040101010101" pitchFamily="2" charset="-122"/>
              </a:rPr>
              <a:t>不</a:t>
            </a:r>
            <a:r>
              <a:rPr lang="zh-CN" altLang="en-US" sz="3200" dirty="0">
                <a:solidFill>
                  <a:schemeClr val="tx1"/>
                </a:solidFill>
                <a:latin typeface="华文楷体" panose="02010600040101010101" pitchFamily="2" charset="-122"/>
                <a:ea typeface="华文楷体" panose="02010600040101010101" pitchFamily="2" charset="-122"/>
              </a:rPr>
              <a:t>带电</a:t>
            </a:r>
          </a:p>
        </p:txBody>
      </p:sp>
      <mc:AlternateContent xmlns:mc="http://schemas.openxmlformats.org/markup-compatibility/2006" xmlns:a14="http://schemas.microsoft.com/office/drawing/2010/main">
        <mc:Choice Requires="a14">
          <p:sp>
            <p:nvSpPr>
              <p:cNvPr id="26" name="Object 50">
                <a:extLst>
                  <a:ext uri="{FF2B5EF4-FFF2-40B4-BE49-F238E27FC236}">
                    <a16:creationId xmlns:a16="http://schemas.microsoft.com/office/drawing/2014/main" id="{C48D6E3D-0A51-4992-8875-89B23F5F2D22}"/>
                  </a:ext>
                </a:extLst>
              </p:cNvPr>
              <p:cNvSpPr txBox="1"/>
              <p:nvPr/>
            </p:nvSpPr>
            <p:spPr>
              <a:xfrm>
                <a:off x="2203908" y="5496862"/>
                <a:ext cx="4711700" cy="84931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𝑈</m:t>
                          </m:r>
                        </m:e>
                        <m:sub>
                          <m:r>
                            <a:rPr lang="en-US" sz="3200" i="1">
                              <a:solidFill>
                                <a:srgbClr val="000000"/>
                              </a:solidFill>
                              <a:latin typeface="Cambria Math" panose="02040503050406030204" pitchFamily="18" charset="0"/>
                            </a:rPr>
                            <m:t>𝐴𝐵</m:t>
                          </m:r>
                        </m:sub>
                      </m:sSub>
                      <m:r>
                        <a:rPr lang="en-US" sz="3200" i="1">
                          <a:solidFill>
                            <a:srgbClr val="000000"/>
                          </a:solidFill>
                          <a:latin typeface="Cambria Math" panose="02040503050406030204" pitchFamily="18" charset="0"/>
                        </a:rPr>
                        <m:t>=</m:t>
                      </m:r>
                      <m:nary>
                        <m:naryPr>
                          <m:supHide m:val="on"/>
                          <m:ctrlPr>
                            <a:rPr lang="en-US" sz="3200" i="1">
                              <a:solidFill>
                                <a:srgbClr val="000000"/>
                              </a:solidFill>
                              <a:latin typeface="Cambria Math" panose="02040503050406030204" pitchFamily="18" charset="0"/>
                            </a:rPr>
                          </m:ctrlPr>
                        </m:naryPr>
                        <m:sub>
                          <m:r>
                            <a:rPr lang="en-US" sz="3200" i="1">
                              <a:solidFill>
                                <a:srgbClr val="000000"/>
                              </a:solidFill>
                              <a:latin typeface="Cambria Math" panose="02040503050406030204" pitchFamily="18" charset="0"/>
                            </a:rPr>
                            <m:t>𝐴𝐵</m:t>
                          </m:r>
                        </m:sub>
                        <m:sup/>
                        <m:e>
                          <m:acc>
                            <m:accPr>
                              <m:chr m:val="⃑"/>
                              <m:ctrlPr>
                                <a:rPr lang="en-US" altLang="zh-CN" sz="3200" i="1">
                                  <a:solidFill>
                                    <a:srgbClr val="000000"/>
                                  </a:solidFill>
                                  <a:latin typeface="Cambria Math" panose="02040503050406030204" pitchFamily="18" charset="0"/>
                                </a:rPr>
                              </m:ctrlPr>
                            </m:accPr>
                            <m:e>
                              <m:r>
                                <a:rPr lang="en-US" altLang="zh-CN" sz="3200" i="1">
                                  <a:solidFill>
                                    <a:srgbClr val="000000"/>
                                  </a:solidFill>
                                  <a:latin typeface="Cambria Math" panose="02040503050406030204" pitchFamily="18" charset="0"/>
                                </a:rPr>
                                <m:t>𝐸</m:t>
                              </m:r>
                            </m:e>
                          </m:acc>
                        </m:e>
                      </m:nary>
                      <m:r>
                        <a:rPr lang="en-US" sz="3200" i="1">
                          <a:solidFill>
                            <a:srgbClr val="000000"/>
                          </a:solidFill>
                          <a:latin typeface="Cambria Math" panose="02040503050406030204" pitchFamily="18" charset="0"/>
                        </a:rPr>
                        <m:t>⋅</m:t>
                      </m:r>
                      <m:r>
                        <m:rPr>
                          <m:sty m:val="p"/>
                        </m:rPr>
                        <a:rPr lang="en-US" sz="3200" i="0">
                          <a:solidFill>
                            <a:srgbClr val="000000"/>
                          </a:solidFill>
                          <a:latin typeface="Cambria Math" panose="02040503050406030204" pitchFamily="18" charset="0"/>
                        </a:rPr>
                        <m:t>d</m:t>
                      </m:r>
                      <m:acc>
                        <m:accPr>
                          <m:chr m:val="⃑"/>
                          <m:ctrlPr>
                            <a:rPr lang="en-US" sz="3200" i="1">
                              <a:solidFill>
                                <a:srgbClr val="000000"/>
                              </a:solidFill>
                              <a:latin typeface="Cambria Math" panose="02040503050406030204" pitchFamily="18" charset="0"/>
                            </a:rPr>
                          </m:ctrlPr>
                        </m:accPr>
                        <m:e>
                          <m:r>
                            <a:rPr lang="en-US" sz="3200" i="1">
                              <a:solidFill>
                                <a:srgbClr val="000000"/>
                              </a:solidFill>
                              <a:latin typeface="Cambria Math" panose="02040503050406030204" pitchFamily="18" charset="0"/>
                            </a:rPr>
                            <m:t>𝑙</m:t>
                          </m:r>
                        </m:e>
                      </m:acc>
                      <m:r>
                        <a:rPr lang="en-US" sz="3200" i="1">
                          <a:solidFill>
                            <a:srgbClr val="000000"/>
                          </a:solidFill>
                          <a:latin typeface="Cambria Math" panose="02040503050406030204" pitchFamily="18" charset="0"/>
                        </a:rPr>
                        <m:t>=</m:t>
                      </m:r>
                      <m:r>
                        <a:rPr lang="en-US" sz="3200" i="1">
                          <a:solidFill>
                            <a:srgbClr val="000000"/>
                          </a:solidFill>
                          <a:latin typeface="Cambria Math" panose="02040503050406030204" pitchFamily="18" charset="0"/>
                        </a:rPr>
                        <m:t>0</m:t>
                      </m:r>
                    </m:oMath>
                  </m:oMathPara>
                </a14:m>
                <a:endParaRPr lang="en-US" sz="3200" dirty="0"/>
              </a:p>
            </p:txBody>
          </p:sp>
        </mc:Choice>
        <mc:Fallback xmlns="">
          <p:sp>
            <p:nvSpPr>
              <p:cNvPr id="26" name="Object 50">
                <a:extLst>
                  <a:ext uri="{FF2B5EF4-FFF2-40B4-BE49-F238E27FC236}">
                    <a16:creationId xmlns:a16="http://schemas.microsoft.com/office/drawing/2014/main" id="{C48D6E3D-0A51-4992-8875-89B23F5F2D22}"/>
                  </a:ext>
                </a:extLst>
              </p:cNvPr>
              <p:cNvSpPr txBox="1">
                <a:spLocks noRot="1" noChangeAspect="1" noMove="1" noResize="1" noEditPoints="1" noAdjustHandles="1" noChangeArrowheads="1" noChangeShapeType="1" noTextEdit="1"/>
              </p:cNvSpPr>
              <p:nvPr/>
            </p:nvSpPr>
            <p:spPr>
              <a:xfrm>
                <a:off x="2203908" y="5496862"/>
                <a:ext cx="4711700" cy="849313"/>
              </a:xfrm>
              <a:prstGeom prst="rect">
                <a:avLst/>
              </a:prstGeom>
              <a:blipFill>
                <a:blip r:embed="rId5"/>
                <a:stretch>
                  <a:fillRect b="-23741"/>
                </a:stretch>
              </a:blipFill>
              <a:ln w="38100">
                <a:noFill/>
                <a:miter/>
              </a:ln>
            </p:spPr>
            <p:txBody>
              <a:bodyPr/>
              <a:lstStyle/>
              <a:p>
                <a:r>
                  <a:rPr lang="zh-CN" altLang="en-US">
                    <a:noFill/>
                  </a:rPr>
                  <a:t> </a:t>
                </a:r>
              </a:p>
            </p:txBody>
          </p:sp>
        </mc:Fallback>
      </mc:AlternateContent>
      <p:sp>
        <p:nvSpPr>
          <p:cNvPr id="34" name="Rectangle 4">
            <a:extLst>
              <a:ext uri="{FF2B5EF4-FFF2-40B4-BE49-F238E27FC236}">
                <a16:creationId xmlns:a16="http://schemas.microsoft.com/office/drawing/2014/main" id="{21D1014C-3B4B-4457-8D84-88A34E5355D8}"/>
              </a:ext>
            </a:extLst>
          </p:cNvPr>
          <p:cNvSpPr/>
          <p:nvPr/>
        </p:nvSpPr>
        <p:spPr>
          <a:xfrm>
            <a:off x="1194258" y="4803122"/>
            <a:ext cx="2971800" cy="584200"/>
          </a:xfrm>
          <a:prstGeom prst="rect">
            <a:avLst/>
          </a:prstGeom>
          <a:noFill/>
          <a:ln w="9525">
            <a:noFill/>
          </a:ln>
        </p:spPr>
        <p:txBody>
          <a:bodyPr anchor="t" anchorCtr="0">
            <a:spAutoFit/>
          </a:bodyPr>
          <a:lstStyle/>
          <a:p>
            <a:pPr>
              <a:spcBef>
                <a:spcPct val="50000"/>
              </a:spcBef>
            </a:pPr>
            <a:r>
              <a:rPr lang="zh-CN" altLang="en-US" sz="3200" dirty="0">
                <a:solidFill>
                  <a:schemeClr val="tx1"/>
                </a:solidFill>
                <a:latin typeface="华文楷体" panose="02010600040101010101" pitchFamily="2" charset="-122"/>
                <a:ea typeface="华文楷体" panose="02010600040101010101" pitchFamily="2" charset="-122"/>
              </a:rPr>
              <a:t>导体是等势体</a:t>
            </a:r>
          </a:p>
        </p:txBody>
      </p:sp>
      <p:sp>
        <p:nvSpPr>
          <p:cNvPr id="35" name="椭圆 34">
            <a:extLst>
              <a:ext uri="{FF2B5EF4-FFF2-40B4-BE49-F238E27FC236}">
                <a16:creationId xmlns:a16="http://schemas.microsoft.com/office/drawing/2014/main" id="{653641A6-781B-4C66-9EB0-9C8EC1F2416C}"/>
              </a:ext>
            </a:extLst>
          </p:cNvPr>
          <p:cNvSpPr/>
          <p:nvPr/>
        </p:nvSpPr>
        <p:spPr>
          <a:xfrm>
            <a:off x="2419388" y="2498953"/>
            <a:ext cx="971384" cy="531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76">
            <a:extLst>
              <a:ext uri="{FF2B5EF4-FFF2-40B4-BE49-F238E27FC236}">
                <a16:creationId xmlns:a16="http://schemas.microsoft.com/office/drawing/2014/main" id="{CEAC0A59-C238-45A9-B305-6886CCA5A3E7}"/>
              </a:ext>
            </a:extLst>
          </p:cNvPr>
          <p:cNvSpPr>
            <a:spLocks noChangeArrowheads="1"/>
          </p:cNvSpPr>
          <p:nvPr/>
        </p:nvSpPr>
        <p:spPr bwMode="auto">
          <a:xfrm>
            <a:off x="3179605" y="2540565"/>
            <a:ext cx="416878" cy="586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33" name="Rectangle 76">
            <a:extLst>
              <a:ext uri="{FF2B5EF4-FFF2-40B4-BE49-F238E27FC236}">
                <a16:creationId xmlns:a16="http://schemas.microsoft.com/office/drawing/2014/main" id="{4413EAB2-4ED5-49AD-AFF6-7DD16D1A71FF}"/>
              </a:ext>
            </a:extLst>
          </p:cNvPr>
          <p:cNvSpPr>
            <a:spLocks noChangeArrowheads="1"/>
          </p:cNvSpPr>
          <p:nvPr/>
        </p:nvSpPr>
        <p:spPr bwMode="auto">
          <a:xfrm>
            <a:off x="2245483" y="2434324"/>
            <a:ext cx="322204"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Tree>
    <p:extLst>
      <p:ext uri="{BB962C8B-B14F-4D97-AF65-F5344CB8AC3E}">
        <p14:creationId xmlns:p14="http://schemas.microsoft.com/office/powerpoint/2010/main" val="170541288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6" grpId="0"/>
      <p:bldP spid="34" grpId="0"/>
      <p:bldP spid="32" grpId="0"/>
      <p:bldP spid="3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8" name="Group 90">
            <a:extLst>
              <a:ext uri="{FF2B5EF4-FFF2-40B4-BE49-F238E27FC236}">
                <a16:creationId xmlns:a16="http://schemas.microsoft.com/office/drawing/2014/main" id="{9CEBF439-F58E-49BC-8245-D99917E64901}"/>
              </a:ext>
            </a:extLst>
          </p:cNvPr>
          <p:cNvGrpSpPr>
            <a:grpSpLocks/>
          </p:cNvGrpSpPr>
          <p:nvPr/>
        </p:nvGrpSpPr>
        <p:grpSpPr bwMode="auto">
          <a:xfrm>
            <a:off x="1253199" y="1835412"/>
            <a:ext cx="3564870" cy="2040856"/>
            <a:chOff x="623" y="714"/>
            <a:chExt cx="1859" cy="1017"/>
          </a:xfrm>
        </p:grpSpPr>
        <p:sp>
          <p:nvSpPr>
            <p:cNvPr id="169" name="Line 5">
              <a:extLst>
                <a:ext uri="{FF2B5EF4-FFF2-40B4-BE49-F238E27FC236}">
                  <a16:creationId xmlns:a16="http://schemas.microsoft.com/office/drawing/2014/main" id="{79E4CB78-164B-415D-A1A6-E80679AA01DF}"/>
                </a:ext>
              </a:extLst>
            </p:cNvPr>
            <p:cNvSpPr>
              <a:spLocks noChangeShapeType="1"/>
            </p:cNvSpPr>
            <p:nvPr/>
          </p:nvSpPr>
          <p:spPr bwMode="auto">
            <a:xfrm>
              <a:off x="623" y="714"/>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ea typeface="黑体" panose="02010609060101010101" pitchFamily="49" charset="-122"/>
                <a:cs typeface="Times New Roman" panose="02020603050405020304" pitchFamily="18" charset="0"/>
              </a:endParaRPr>
            </a:p>
          </p:txBody>
        </p:sp>
        <p:sp>
          <p:nvSpPr>
            <p:cNvPr id="170" name="Line 6">
              <a:extLst>
                <a:ext uri="{FF2B5EF4-FFF2-40B4-BE49-F238E27FC236}">
                  <a16:creationId xmlns:a16="http://schemas.microsoft.com/office/drawing/2014/main" id="{9925D1A3-EBD8-4AA4-949E-EED518CCC1DA}"/>
                </a:ext>
              </a:extLst>
            </p:cNvPr>
            <p:cNvSpPr>
              <a:spLocks noChangeShapeType="1"/>
            </p:cNvSpPr>
            <p:nvPr/>
          </p:nvSpPr>
          <p:spPr bwMode="auto">
            <a:xfrm>
              <a:off x="623" y="859"/>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ea typeface="黑体" panose="02010609060101010101" pitchFamily="49" charset="-122"/>
                <a:cs typeface="Times New Roman" panose="02020603050405020304" pitchFamily="18" charset="0"/>
              </a:endParaRPr>
            </a:p>
          </p:txBody>
        </p:sp>
        <p:sp>
          <p:nvSpPr>
            <p:cNvPr id="171" name="Line 7">
              <a:extLst>
                <a:ext uri="{FF2B5EF4-FFF2-40B4-BE49-F238E27FC236}">
                  <a16:creationId xmlns:a16="http://schemas.microsoft.com/office/drawing/2014/main" id="{509E8A8C-538A-4119-A616-0AB0A819A86B}"/>
                </a:ext>
              </a:extLst>
            </p:cNvPr>
            <p:cNvSpPr>
              <a:spLocks noChangeShapeType="1"/>
            </p:cNvSpPr>
            <p:nvPr/>
          </p:nvSpPr>
          <p:spPr bwMode="auto">
            <a:xfrm>
              <a:off x="632" y="1005"/>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ea typeface="黑体" panose="02010609060101010101" pitchFamily="49" charset="-122"/>
                <a:cs typeface="Times New Roman" panose="02020603050405020304" pitchFamily="18" charset="0"/>
              </a:endParaRPr>
            </a:p>
          </p:txBody>
        </p:sp>
        <p:sp>
          <p:nvSpPr>
            <p:cNvPr id="172" name="Line 8">
              <a:extLst>
                <a:ext uri="{FF2B5EF4-FFF2-40B4-BE49-F238E27FC236}">
                  <a16:creationId xmlns:a16="http://schemas.microsoft.com/office/drawing/2014/main" id="{A42B5358-E249-4491-B185-7066B4DEF78C}"/>
                </a:ext>
              </a:extLst>
            </p:cNvPr>
            <p:cNvSpPr>
              <a:spLocks noChangeShapeType="1"/>
            </p:cNvSpPr>
            <p:nvPr/>
          </p:nvSpPr>
          <p:spPr bwMode="auto">
            <a:xfrm>
              <a:off x="623" y="1295"/>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ea typeface="黑体" panose="02010609060101010101" pitchFamily="49" charset="-122"/>
                <a:cs typeface="Times New Roman" panose="02020603050405020304" pitchFamily="18" charset="0"/>
              </a:endParaRPr>
            </a:p>
          </p:txBody>
        </p:sp>
        <p:sp>
          <p:nvSpPr>
            <p:cNvPr id="173" name="Line 9">
              <a:extLst>
                <a:ext uri="{FF2B5EF4-FFF2-40B4-BE49-F238E27FC236}">
                  <a16:creationId xmlns:a16="http://schemas.microsoft.com/office/drawing/2014/main" id="{57AC0420-1186-4B80-95A2-C63C9F24F42B}"/>
                </a:ext>
              </a:extLst>
            </p:cNvPr>
            <p:cNvSpPr>
              <a:spLocks noChangeShapeType="1"/>
            </p:cNvSpPr>
            <p:nvPr/>
          </p:nvSpPr>
          <p:spPr bwMode="auto">
            <a:xfrm>
              <a:off x="623" y="1150"/>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ea typeface="黑体" panose="02010609060101010101" pitchFamily="49" charset="-122"/>
                <a:cs typeface="Times New Roman" panose="02020603050405020304" pitchFamily="18" charset="0"/>
              </a:endParaRPr>
            </a:p>
          </p:txBody>
        </p:sp>
        <p:sp>
          <p:nvSpPr>
            <p:cNvPr id="174" name="Line 10">
              <a:extLst>
                <a:ext uri="{FF2B5EF4-FFF2-40B4-BE49-F238E27FC236}">
                  <a16:creationId xmlns:a16="http://schemas.microsoft.com/office/drawing/2014/main" id="{4667383A-227D-421F-BF06-93F24F22BD32}"/>
                </a:ext>
              </a:extLst>
            </p:cNvPr>
            <p:cNvSpPr>
              <a:spLocks noChangeShapeType="1"/>
            </p:cNvSpPr>
            <p:nvPr/>
          </p:nvSpPr>
          <p:spPr bwMode="auto">
            <a:xfrm>
              <a:off x="623" y="1440"/>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ea typeface="黑体" panose="02010609060101010101" pitchFamily="49" charset="-122"/>
                <a:cs typeface="Times New Roman" panose="02020603050405020304" pitchFamily="18" charset="0"/>
              </a:endParaRPr>
            </a:p>
          </p:txBody>
        </p:sp>
        <p:sp>
          <p:nvSpPr>
            <p:cNvPr id="175" name="Line 11">
              <a:extLst>
                <a:ext uri="{FF2B5EF4-FFF2-40B4-BE49-F238E27FC236}">
                  <a16:creationId xmlns:a16="http://schemas.microsoft.com/office/drawing/2014/main" id="{5AD6DA56-57A7-4451-8ABE-404C8AFDF23C}"/>
                </a:ext>
              </a:extLst>
            </p:cNvPr>
            <p:cNvSpPr>
              <a:spLocks noChangeShapeType="1"/>
            </p:cNvSpPr>
            <p:nvPr/>
          </p:nvSpPr>
          <p:spPr bwMode="auto">
            <a:xfrm>
              <a:off x="623" y="1586"/>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ea typeface="黑体" panose="02010609060101010101" pitchFamily="49" charset="-122"/>
                <a:cs typeface="Times New Roman" panose="02020603050405020304" pitchFamily="18" charset="0"/>
              </a:endParaRPr>
            </a:p>
          </p:txBody>
        </p:sp>
        <p:sp>
          <p:nvSpPr>
            <p:cNvPr id="176" name="Line 12">
              <a:extLst>
                <a:ext uri="{FF2B5EF4-FFF2-40B4-BE49-F238E27FC236}">
                  <a16:creationId xmlns:a16="http://schemas.microsoft.com/office/drawing/2014/main" id="{03FE6F90-DACC-49F2-BE15-1EEE4616FF29}"/>
                </a:ext>
              </a:extLst>
            </p:cNvPr>
            <p:cNvSpPr>
              <a:spLocks noChangeShapeType="1"/>
            </p:cNvSpPr>
            <p:nvPr/>
          </p:nvSpPr>
          <p:spPr bwMode="auto">
            <a:xfrm>
              <a:off x="623" y="1731"/>
              <a:ext cx="1850" cy="0"/>
            </a:xfrm>
            <a:prstGeom prst="line">
              <a:avLst/>
            </a:prstGeom>
            <a:noFill/>
            <a:ln w="38100">
              <a:solidFill>
                <a:srgbClr val="63A537"/>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ea typeface="黑体" panose="02010609060101010101" pitchFamily="49" charset="-122"/>
                <a:cs typeface="Times New Roman" panose="02020603050405020304" pitchFamily="18" charset="0"/>
              </a:endParaRPr>
            </a:p>
          </p:txBody>
        </p:sp>
      </p:grpSp>
      <p:sp>
        <p:nvSpPr>
          <p:cNvPr id="2" name="矩形 1">
            <a:extLst>
              <a:ext uri="{FF2B5EF4-FFF2-40B4-BE49-F238E27FC236}">
                <a16:creationId xmlns:a16="http://schemas.microsoft.com/office/drawing/2014/main" id="{0A66634C-B6FE-49B4-AD37-C27F423FF022}"/>
              </a:ext>
            </a:extLst>
          </p:cNvPr>
          <p:cNvSpPr/>
          <p:nvPr/>
        </p:nvSpPr>
        <p:spPr>
          <a:xfrm>
            <a:off x="486061" y="511408"/>
            <a:ext cx="6763390" cy="646331"/>
          </a:xfrm>
          <a:prstGeom prst="rect">
            <a:avLst/>
          </a:prstGeom>
        </p:spPr>
        <p:txBody>
          <a:bodyPr wrap="none">
            <a:spAutoFit/>
          </a:bodyPr>
          <a:lstStyle/>
          <a:p>
            <a:pPr marL="571500" indent="-571500">
              <a:buFont typeface="Wingdings" panose="05000000000000000000" pitchFamily="2" charset="2"/>
              <a:buChar char="q"/>
            </a:pPr>
            <a:r>
              <a:rPr lang="zh-CN" alt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静电平衡时导体上的电荷分布</a:t>
            </a:r>
            <a:endParaRPr 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8" name="Object 18">
                <a:extLst>
                  <a:ext uri="{FF2B5EF4-FFF2-40B4-BE49-F238E27FC236}">
                    <a16:creationId xmlns:a16="http://schemas.microsoft.com/office/drawing/2014/main" id="{069129B4-C247-4472-9650-D8C90CB35ADE}"/>
                  </a:ext>
                </a:extLst>
              </p:cNvPr>
              <p:cNvSpPr txBox="1"/>
              <p:nvPr/>
            </p:nvSpPr>
            <p:spPr>
              <a:xfrm>
                <a:off x="5180248" y="2359196"/>
                <a:ext cx="5537747" cy="1592836"/>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nary>
                        <m:naryPr>
                          <m:chr m:val="∯"/>
                          <m:supHide m:val="on"/>
                          <m:ctrlPr>
                            <a:rPr lang="en-US" altLang="zh-CN" sz="3200" i="1" smtClean="0">
                              <a:solidFill>
                                <a:srgbClr val="000000"/>
                              </a:solidFill>
                              <a:latin typeface="Cambria Math" panose="02040503050406030204" pitchFamily="18" charset="0"/>
                            </a:rPr>
                          </m:ctrlPr>
                        </m:naryPr>
                        <m:sub>
                          <m:r>
                            <a:rPr lang="en-US" altLang="zh-CN" sz="3200" i="1">
                              <a:solidFill>
                                <a:srgbClr val="000000"/>
                              </a:solidFill>
                              <a:latin typeface="Cambria Math" panose="02040503050406030204" pitchFamily="18" charset="0"/>
                            </a:rPr>
                            <m:t>𝑆</m:t>
                          </m:r>
                          <m:r>
                            <a:rPr lang="en-US" altLang="zh-CN" sz="3200" b="0" i="1" baseline="-25000" smtClean="0">
                              <a:solidFill>
                                <a:srgbClr val="000000"/>
                              </a:solidFill>
                              <a:latin typeface="Cambria Math" panose="02040503050406030204" pitchFamily="18" charset="0"/>
                            </a:rPr>
                            <m:t>1</m:t>
                          </m:r>
                          <m:r>
                            <a:rPr lang="en-US" altLang="zh-CN" sz="3200" b="0" i="1" baseline="-25000" smtClean="0">
                              <a:solidFill>
                                <a:srgbClr val="000000"/>
                              </a:solidFill>
                              <a:latin typeface="Cambria Math" panose="02040503050406030204" pitchFamily="18" charset="0"/>
                            </a:rPr>
                            <m:t>,</m:t>
                          </m:r>
                          <m:r>
                            <a:rPr lang="en-US" altLang="zh-CN" sz="3200" b="0" i="1" baseline="-25000" smtClean="0">
                              <a:solidFill>
                                <a:srgbClr val="000000"/>
                              </a:solidFill>
                              <a:latin typeface="Cambria Math" panose="02040503050406030204" pitchFamily="18" charset="0"/>
                            </a:rPr>
                            <m:t>2</m:t>
                          </m:r>
                        </m:sub>
                        <m:sup/>
                        <m:e>
                          <m:acc>
                            <m:accPr>
                              <m:chr m:val="⃗"/>
                              <m:ctrlPr>
                                <a:rPr lang="en-US" altLang="zh-CN" sz="3200" i="1">
                                  <a:solidFill>
                                    <a:srgbClr val="000000"/>
                                  </a:solidFill>
                                  <a:latin typeface="Cambria Math" panose="02040503050406030204" pitchFamily="18" charset="0"/>
                                </a:rPr>
                              </m:ctrlPr>
                            </m:accPr>
                            <m:e>
                              <m:r>
                                <a:rPr lang="en-US" altLang="zh-CN" sz="3200" i="1">
                                  <a:solidFill>
                                    <a:srgbClr val="000000"/>
                                  </a:solidFill>
                                  <a:latin typeface="Cambria Math" panose="02040503050406030204" pitchFamily="18" charset="0"/>
                                </a:rPr>
                                <m:t>𝐸</m:t>
                              </m:r>
                            </m:e>
                          </m:acc>
                          <m:r>
                            <a:rPr lang="en-US" altLang="zh-CN" sz="3200" i="1">
                              <a:solidFill>
                                <a:srgbClr val="000000"/>
                              </a:solidFill>
                              <a:latin typeface="Cambria Math" panose="02040503050406030204" pitchFamily="18" charset="0"/>
                            </a:rPr>
                            <m:t>⋅</m:t>
                          </m:r>
                          <m:r>
                            <a:rPr lang="en-US" altLang="zh-CN" sz="3200" i="1">
                              <a:solidFill>
                                <a:srgbClr val="000000"/>
                              </a:solidFill>
                              <a:latin typeface="Cambria Math" panose="02040503050406030204" pitchFamily="18" charset="0"/>
                            </a:rPr>
                            <m:t>𝑑</m:t>
                          </m:r>
                          <m:acc>
                            <m:accPr>
                              <m:chr m:val="⃗"/>
                              <m:ctrlPr>
                                <a:rPr lang="en-US" altLang="zh-CN" sz="3200" i="1">
                                  <a:solidFill>
                                    <a:srgbClr val="000000"/>
                                  </a:solidFill>
                                  <a:latin typeface="Cambria Math" panose="02040503050406030204" pitchFamily="18" charset="0"/>
                                </a:rPr>
                              </m:ctrlPr>
                            </m:accPr>
                            <m:e>
                              <m:r>
                                <a:rPr lang="en-US" altLang="zh-CN" sz="3200" i="1">
                                  <a:solidFill>
                                    <a:srgbClr val="000000"/>
                                  </a:solidFill>
                                  <a:latin typeface="Cambria Math" panose="02040503050406030204" pitchFamily="18" charset="0"/>
                                </a:rPr>
                                <m:t>𝑆</m:t>
                              </m:r>
                            </m:e>
                          </m:acc>
                        </m:e>
                      </m:nary>
                      <m:r>
                        <a:rPr lang="en-US" sz="3200" i="1">
                          <a:solidFill>
                            <a:srgbClr val="000000"/>
                          </a:solidFill>
                          <a:latin typeface="Cambria Math" panose="02040503050406030204" pitchFamily="18" charset="0"/>
                        </a:rPr>
                        <m:t>=</m:t>
                      </m:r>
                      <m:r>
                        <a:rPr lang="en-US" altLang="zh-CN" sz="3200" b="0" i="1" smtClean="0">
                          <a:solidFill>
                            <a:srgbClr val="000000"/>
                          </a:solidFill>
                          <a:latin typeface="Cambria Math" panose="02040503050406030204" pitchFamily="18" charset="0"/>
                        </a:rPr>
                        <m:t>0</m:t>
                      </m:r>
                    </m:oMath>
                  </m:oMathPara>
                </a14:m>
                <a:endParaRPr lang="en-US" sz="3200" dirty="0"/>
              </a:p>
            </p:txBody>
          </p:sp>
        </mc:Choice>
        <mc:Fallback xmlns="">
          <p:sp>
            <p:nvSpPr>
              <p:cNvPr id="148" name="Object 18">
                <a:extLst>
                  <a:ext uri="{FF2B5EF4-FFF2-40B4-BE49-F238E27FC236}">
                    <a16:creationId xmlns:a16="http://schemas.microsoft.com/office/drawing/2014/main" id="{069129B4-C247-4472-9650-D8C90CB35ADE}"/>
                  </a:ext>
                </a:extLst>
              </p:cNvPr>
              <p:cNvSpPr txBox="1">
                <a:spLocks noRot="1" noChangeAspect="1" noMove="1" noResize="1" noEditPoints="1" noAdjustHandles="1" noChangeArrowheads="1" noChangeShapeType="1" noTextEdit="1"/>
              </p:cNvSpPr>
              <p:nvPr/>
            </p:nvSpPr>
            <p:spPr>
              <a:xfrm>
                <a:off x="5180248" y="2359196"/>
                <a:ext cx="5537747" cy="1592836"/>
              </a:xfrm>
              <a:prstGeom prst="rect">
                <a:avLst/>
              </a:prstGeom>
              <a:blipFill>
                <a:blip r:embed="rId2"/>
                <a:stretch>
                  <a:fillRect/>
                </a:stretch>
              </a:blipFill>
              <a:ln w="38100">
                <a:noFill/>
                <a:miter/>
              </a:ln>
            </p:spPr>
            <p:txBody>
              <a:bodyPr/>
              <a:lstStyle/>
              <a:p>
                <a:r>
                  <a:rPr lang="zh-CN" altLang="en-US">
                    <a:noFill/>
                  </a:rPr>
                  <a:t> </a:t>
                </a:r>
              </a:p>
            </p:txBody>
          </p:sp>
        </mc:Fallback>
      </mc:AlternateContent>
      <p:sp>
        <p:nvSpPr>
          <p:cNvPr id="149" name="Text Box 30">
            <a:extLst>
              <a:ext uri="{FF2B5EF4-FFF2-40B4-BE49-F238E27FC236}">
                <a16:creationId xmlns:a16="http://schemas.microsoft.com/office/drawing/2014/main" id="{C5C18EE8-C1C1-47B6-B6E3-71A76738B80A}"/>
              </a:ext>
            </a:extLst>
          </p:cNvPr>
          <p:cNvSpPr txBox="1"/>
          <p:nvPr/>
        </p:nvSpPr>
        <p:spPr>
          <a:xfrm>
            <a:off x="5839751" y="1466080"/>
            <a:ext cx="3505200" cy="584775"/>
          </a:xfrm>
          <a:prstGeom prst="rect">
            <a:avLst/>
          </a:prstGeom>
          <a:noFill/>
          <a:ln w="9525">
            <a:noFill/>
          </a:ln>
        </p:spPr>
        <p:txBody>
          <a:bodyPr anchor="t" anchorCtr="0">
            <a:spAutoFit/>
          </a:bodyPr>
          <a:lstStyle/>
          <a:p>
            <a:pPr>
              <a:spcBef>
                <a:spcPct val="50000"/>
              </a:spcBef>
            </a:pPr>
            <a:r>
              <a:rPr lang="en-US" altLang="zh-CN" sz="3200" dirty="0">
                <a:latin typeface="华文楷体" panose="02010600040101010101" pitchFamily="2" charset="-122"/>
                <a:ea typeface="华文楷体" panose="02010600040101010101" pitchFamily="2" charset="-122"/>
              </a:rPr>
              <a:t>- </a:t>
            </a:r>
            <a:r>
              <a:rPr lang="zh-CN" altLang="en-US" sz="3200" dirty="0">
                <a:latin typeface="华文楷体" panose="02010600040101010101" pitchFamily="2" charset="-122"/>
                <a:ea typeface="华文楷体" panose="02010600040101010101" pitchFamily="2" charset="-122"/>
              </a:rPr>
              <a:t>空腔内有电荷</a:t>
            </a:r>
          </a:p>
        </p:txBody>
      </p:sp>
      <p:grpSp>
        <p:nvGrpSpPr>
          <p:cNvPr id="5" name="组合 4">
            <a:extLst>
              <a:ext uri="{FF2B5EF4-FFF2-40B4-BE49-F238E27FC236}">
                <a16:creationId xmlns:a16="http://schemas.microsoft.com/office/drawing/2014/main" id="{0FD44359-B757-44B4-B000-88C545A1EB23}"/>
              </a:ext>
            </a:extLst>
          </p:cNvPr>
          <p:cNvGrpSpPr/>
          <p:nvPr/>
        </p:nvGrpSpPr>
        <p:grpSpPr>
          <a:xfrm>
            <a:off x="1567281" y="2001149"/>
            <a:ext cx="2675599" cy="1526619"/>
            <a:chOff x="7249451" y="5802948"/>
            <a:chExt cx="2675599" cy="1526619"/>
          </a:xfrm>
        </p:grpSpPr>
        <p:sp>
          <p:nvSpPr>
            <p:cNvPr id="153" name="AutoShape 61">
              <a:extLst>
                <a:ext uri="{FF2B5EF4-FFF2-40B4-BE49-F238E27FC236}">
                  <a16:creationId xmlns:a16="http://schemas.microsoft.com/office/drawing/2014/main" id="{A832247C-3407-4384-9E67-8659BFE0F68D}"/>
                </a:ext>
              </a:extLst>
            </p:cNvPr>
            <p:cNvSpPr/>
            <p:nvPr/>
          </p:nvSpPr>
          <p:spPr>
            <a:xfrm>
              <a:off x="7249451" y="5802948"/>
              <a:ext cx="2675599" cy="1526619"/>
            </a:xfrm>
            <a:custGeom>
              <a:avLst/>
              <a:gdLst/>
              <a:ahLst/>
              <a:cxnLst>
                <a:cxn ang="0">
                  <a:pos x="8" y="0"/>
                </a:cxn>
                <a:cxn ang="0">
                  <a:pos x="2" y="1"/>
                </a:cxn>
                <a:cxn ang="0">
                  <a:pos x="0" y="2"/>
                </a:cxn>
                <a:cxn ang="0">
                  <a:pos x="2" y="3"/>
                </a:cxn>
                <a:cxn ang="0">
                  <a:pos x="8" y="4"/>
                </a:cxn>
                <a:cxn ang="0">
                  <a:pos x="14" y="3"/>
                </a:cxn>
                <a:cxn ang="0">
                  <a:pos x="16" y="2"/>
                </a:cxn>
                <a:cxn ang="0">
                  <a:pos x="14" y="1"/>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6816" y="10800"/>
                  </a:moveTo>
                  <a:cubicBezTo>
                    <a:pt x="6816" y="13000"/>
                    <a:pt x="8600" y="14784"/>
                    <a:pt x="10800" y="14784"/>
                  </a:cubicBezTo>
                  <a:cubicBezTo>
                    <a:pt x="13000" y="14784"/>
                    <a:pt x="14784" y="13000"/>
                    <a:pt x="14784" y="10800"/>
                  </a:cubicBezTo>
                  <a:cubicBezTo>
                    <a:pt x="14784" y="8600"/>
                    <a:pt x="13000" y="6816"/>
                    <a:pt x="10800" y="6816"/>
                  </a:cubicBezTo>
                  <a:cubicBezTo>
                    <a:pt x="8600" y="6816"/>
                    <a:pt x="6816" y="8600"/>
                    <a:pt x="6816" y="10800"/>
                  </a:cubicBezTo>
                  <a:close/>
                </a:path>
              </a:pathLst>
            </a:custGeom>
            <a:gradFill rotWithShape="0">
              <a:gsLst>
                <a:gs pos="0">
                  <a:srgbClr val="FFFFFF"/>
                </a:gs>
                <a:gs pos="100000">
                  <a:srgbClr val="C2C2C2"/>
                </a:gs>
              </a:gsLst>
              <a:lin ang="2700000" scaled="1"/>
              <a:tileRect/>
            </a:gradFill>
            <a:ln w="19050" cap="flat" cmpd="sng">
              <a:solidFill>
                <a:srgbClr val="000000"/>
              </a:solidFill>
              <a:prstDash val="solid"/>
              <a:round/>
              <a:headEnd type="none" w="med" len="med"/>
              <a:tailEnd type="none" w="med" len="med"/>
            </a:ln>
          </p:spPr>
          <p:txBody>
            <a:bodyPr/>
            <a:lstStyle/>
            <a:p>
              <a:endParaRPr lang="zh-CN" altLang="en-US" sz="2400"/>
            </a:p>
          </p:txBody>
        </p:sp>
        <p:grpSp>
          <p:nvGrpSpPr>
            <p:cNvPr id="154" name="Group 65">
              <a:extLst>
                <a:ext uri="{FF2B5EF4-FFF2-40B4-BE49-F238E27FC236}">
                  <a16:creationId xmlns:a16="http://schemas.microsoft.com/office/drawing/2014/main" id="{BE6C5193-D474-4549-A13F-1EFDE6DB87C4}"/>
                </a:ext>
              </a:extLst>
            </p:cNvPr>
            <p:cNvGrpSpPr/>
            <p:nvPr/>
          </p:nvGrpSpPr>
          <p:grpSpPr>
            <a:xfrm>
              <a:off x="9021103" y="6218752"/>
              <a:ext cx="764068" cy="926149"/>
              <a:chOff x="4800" y="2880"/>
              <a:chExt cx="562" cy="728"/>
            </a:xfrm>
          </p:grpSpPr>
          <mc:AlternateContent xmlns:mc="http://schemas.openxmlformats.org/markup-compatibility/2006" xmlns:a14="http://schemas.microsoft.com/office/drawing/2010/main">
            <mc:Choice Requires="a14">
              <p:sp>
                <p:nvSpPr>
                  <p:cNvPr id="155" name="Object 63">
                    <a:extLst>
                      <a:ext uri="{FF2B5EF4-FFF2-40B4-BE49-F238E27FC236}">
                        <a16:creationId xmlns:a16="http://schemas.microsoft.com/office/drawing/2014/main" id="{41EC6A0D-6B59-4A65-AE06-C1EDD20538A7}"/>
                      </a:ext>
                    </a:extLst>
                  </p:cNvPr>
                  <p:cNvSpPr txBox="1"/>
                  <p:nvPr/>
                </p:nvSpPr>
                <p:spPr>
                  <a:xfrm>
                    <a:off x="4848" y="3264"/>
                    <a:ext cx="495" cy="344"/>
                  </a:xfrm>
                  <a:prstGeom prst="rect">
                    <a:avLst/>
                  </a:prstGeom>
                  <a:noFill/>
                  <a:ln w="38100">
                    <a:noFill/>
                    <a:miter/>
                  </a:ln>
                </p:spPr>
                <p:txBody>
                  <a:bodyPr>
                    <a:normAutofit lnSpcReduction="10000"/>
                  </a:bodyPr>
                  <a:lstStyle/>
                  <a:p>
                    <a14:m>
                      <m:oMath xmlns:m="http://schemas.openxmlformats.org/officeDocument/2006/math">
                        <m:r>
                          <a:rPr lang="en-US" sz="2400" i="1">
                            <a:solidFill>
                              <a:srgbClr val="000000"/>
                            </a:solidFill>
                            <a:latin typeface="Cambria Math" panose="02040503050406030204" pitchFamily="18" charset="0"/>
                          </a:rPr>
                          <m:t>𝑆</m:t>
                        </m:r>
                      </m:oMath>
                    </a14:m>
                    <a:r>
                      <a:rPr lang="en-US" sz="2400" baseline="-25000" dirty="0"/>
                      <a:t>1</a:t>
                    </a:r>
                  </a:p>
                </p:txBody>
              </p:sp>
            </mc:Choice>
            <mc:Fallback xmlns="">
              <p:sp>
                <p:nvSpPr>
                  <p:cNvPr id="155" name="Object 63">
                    <a:extLst>
                      <a:ext uri="{FF2B5EF4-FFF2-40B4-BE49-F238E27FC236}">
                        <a16:creationId xmlns:a16="http://schemas.microsoft.com/office/drawing/2014/main" id="{41EC6A0D-6B59-4A65-AE06-C1EDD20538A7}"/>
                      </a:ext>
                    </a:extLst>
                  </p:cNvPr>
                  <p:cNvSpPr txBox="1">
                    <a:spLocks noRot="1" noChangeAspect="1" noMove="1" noResize="1" noEditPoints="1" noAdjustHandles="1" noChangeArrowheads="1" noChangeShapeType="1" noTextEdit="1"/>
                  </p:cNvSpPr>
                  <p:nvPr/>
                </p:nvSpPr>
                <p:spPr>
                  <a:xfrm>
                    <a:off x="4848" y="3264"/>
                    <a:ext cx="495" cy="344"/>
                  </a:xfrm>
                  <a:prstGeom prst="rect">
                    <a:avLst/>
                  </a:prstGeom>
                  <a:blipFill>
                    <a:blip r:embed="rId3"/>
                    <a:stretch>
                      <a:fillRect l="-1802" b="-26761"/>
                    </a:stretch>
                  </a:blipFill>
                  <a:ln w="38100">
                    <a:noFill/>
                    <a:miter/>
                  </a:ln>
                </p:spPr>
                <p:txBody>
                  <a:bodyPr/>
                  <a:lstStyle/>
                  <a:p>
                    <a:r>
                      <a:rPr lang="zh-CN" altLang="en-US">
                        <a:noFill/>
                      </a:rPr>
                      <a:t> </a:t>
                    </a:r>
                  </a:p>
                </p:txBody>
              </p:sp>
            </mc:Fallback>
          </mc:AlternateContent>
          <p:sp>
            <p:nvSpPr>
              <p:cNvPr id="156" name="Freeform 64" descr="宽下对角线">
                <a:extLst>
                  <a:ext uri="{FF2B5EF4-FFF2-40B4-BE49-F238E27FC236}">
                    <a16:creationId xmlns:a16="http://schemas.microsoft.com/office/drawing/2014/main" id="{A773303B-13C3-4C55-92EB-B9E433AD4D41}"/>
                  </a:ext>
                </a:extLst>
              </p:cNvPr>
              <p:cNvSpPr/>
              <p:nvPr/>
            </p:nvSpPr>
            <p:spPr>
              <a:xfrm rot="2655082">
                <a:off x="4800" y="2880"/>
                <a:ext cx="562" cy="307"/>
              </a:xfrm>
              <a:custGeom>
                <a:avLst/>
                <a:gdLst/>
                <a:ahLst/>
                <a:cxnLst>
                  <a:cxn ang="0">
                    <a:pos x="89" y="56"/>
                  </a:cxn>
                  <a:cxn ang="0">
                    <a:pos x="294" y="9"/>
                  </a:cxn>
                  <a:cxn ang="0">
                    <a:pos x="531" y="111"/>
                  </a:cxn>
                  <a:cxn ang="0">
                    <a:pos x="479" y="286"/>
                  </a:cxn>
                  <a:cxn ang="0">
                    <a:pos x="65" y="237"/>
                  </a:cxn>
                  <a:cxn ang="0">
                    <a:pos x="89" y="56"/>
                  </a:cxn>
                </a:cxnLst>
                <a:rect l="0" t="0" r="0" b="0"/>
                <a:pathLst>
                  <a:path w="562" h="307">
                    <a:moveTo>
                      <a:pt x="89" y="56"/>
                    </a:moveTo>
                    <a:cubicBezTo>
                      <a:pt x="127" y="18"/>
                      <a:pt x="220" y="0"/>
                      <a:pt x="294" y="9"/>
                    </a:cubicBezTo>
                    <a:cubicBezTo>
                      <a:pt x="368" y="18"/>
                      <a:pt x="500" y="65"/>
                      <a:pt x="531" y="111"/>
                    </a:cubicBezTo>
                    <a:cubicBezTo>
                      <a:pt x="562" y="157"/>
                      <a:pt x="557" y="265"/>
                      <a:pt x="479" y="286"/>
                    </a:cubicBezTo>
                    <a:cubicBezTo>
                      <a:pt x="401" y="307"/>
                      <a:pt x="130" y="275"/>
                      <a:pt x="65" y="237"/>
                    </a:cubicBezTo>
                    <a:cubicBezTo>
                      <a:pt x="0" y="199"/>
                      <a:pt x="44" y="96"/>
                      <a:pt x="89" y="56"/>
                    </a:cubicBezTo>
                    <a:close/>
                  </a:path>
                </a:pathLst>
              </a:custGeom>
              <a:pattFill prst="wdDnDiag">
                <a:fgClr>
                  <a:srgbClr val="0000FF"/>
                </a:fgClr>
                <a:bgClr>
                  <a:srgbClr val="EAEAEA"/>
                </a:bgClr>
              </a:pattFill>
              <a:ln w="19050" cap="flat" cmpd="sng">
                <a:solidFill>
                  <a:srgbClr val="0000FF"/>
                </a:solidFill>
                <a:prstDash val="dash"/>
                <a:round/>
                <a:headEnd type="none" w="sm" len="lg"/>
                <a:tailEnd type="none" w="sm" len="lg"/>
              </a:ln>
            </p:spPr>
            <p:txBody>
              <a:bodyPr/>
              <a:lstStyle/>
              <a:p>
                <a:endParaRPr lang="zh-CN" altLang="en-US" sz="2400"/>
              </a:p>
            </p:txBody>
          </p:sp>
        </p:grpSp>
      </p:grpSp>
      <p:sp>
        <p:nvSpPr>
          <p:cNvPr id="182" name="椭圆 181">
            <a:extLst>
              <a:ext uri="{FF2B5EF4-FFF2-40B4-BE49-F238E27FC236}">
                <a16:creationId xmlns:a16="http://schemas.microsoft.com/office/drawing/2014/main" id="{58F7DF25-54E4-4FC9-A2E6-0DB981EB88AC}"/>
              </a:ext>
            </a:extLst>
          </p:cNvPr>
          <p:cNvSpPr/>
          <p:nvPr/>
        </p:nvSpPr>
        <p:spPr>
          <a:xfrm>
            <a:off x="2419388" y="2498953"/>
            <a:ext cx="971384" cy="531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183" name="Object 9">
                <a:extLst>
                  <a:ext uri="{FF2B5EF4-FFF2-40B4-BE49-F238E27FC236}">
                    <a16:creationId xmlns:a16="http://schemas.microsoft.com/office/drawing/2014/main" id="{E2FDC4AA-4EDB-42AE-8904-2E1FF435BF36}"/>
                  </a:ext>
                </a:extLst>
              </p:cNvPr>
              <p:cNvSpPr txBox="1"/>
              <p:nvPr/>
            </p:nvSpPr>
            <p:spPr>
              <a:xfrm>
                <a:off x="2625163" y="2528277"/>
                <a:ext cx="838200" cy="61753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𝑞</m:t>
                      </m:r>
                    </m:oMath>
                  </m:oMathPara>
                </a14:m>
                <a:endParaRPr lang="en-US" sz="2400" dirty="0"/>
              </a:p>
            </p:txBody>
          </p:sp>
        </mc:Choice>
        <mc:Fallback xmlns="">
          <p:sp>
            <p:nvSpPr>
              <p:cNvPr id="183" name="Object 9">
                <a:extLst>
                  <a:ext uri="{FF2B5EF4-FFF2-40B4-BE49-F238E27FC236}">
                    <a16:creationId xmlns:a16="http://schemas.microsoft.com/office/drawing/2014/main" id="{E2FDC4AA-4EDB-42AE-8904-2E1FF435BF36}"/>
                  </a:ext>
                </a:extLst>
              </p:cNvPr>
              <p:cNvSpPr txBox="1">
                <a:spLocks noRot="1" noChangeAspect="1" noMove="1" noResize="1" noEditPoints="1" noAdjustHandles="1" noChangeArrowheads="1" noChangeShapeType="1" noTextEdit="1"/>
              </p:cNvSpPr>
              <p:nvPr/>
            </p:nvSpPr>
            <p:spPr>
              <a:xfrm>
                <a:off x="2625163" y="2528277"/>
                <a:ext cx="838200" cy="617538"/>
              </a:xfrm>
              <a:prstGeom prst="rect">
                <a:avLst/>
              </a:prstGeom>
              <a:blipFill>
                <a:blip r:embed="rId4"/>
                <a:stretch>
                  <a:fillRect/>
                </a:stretch>
              </a:blipFill>
              <a:ln w="38100">
                <a:noFill/>
                <a:miter/>
              </a:ln>
            </p:spPr>
            <p:txBody>
              <a:bodyPr/>
              <a:lstStyle/>
              <a:p>
                <a:r>
                  <a:rPr lang="zh-CN" altLang="en-US">
                    <a:noFill/>
                  </a:rPr>
                  <a:t> </a:t>
                </a:r>
              </a:p>
            </p:txBody>
          </p:sp>
        </mc:Fallback>
      </mc:AlternateContent>
      <p:sp>
        <p:nvSpPr>
          <p:cNvPr id="184" name="Oval 8">
            <a:extLst>
              <a:ext uri="{FF2B5EF4-FFF2-40B4-BE49-F238E27FC236}">
                <a16:creationId xmlns:a16="http://schemas.microsoft.com/office/drawing/2014/main" id="{5034FA08-A9AF-486F-AD1F-A398F0B436F9}"/>
              </a:ext>
            </a:extLst>
          </p:cNvPr>
          <p:cNvSpPr/>
          <p:nvPr/>
        </p:nvSpPr>
        <p:spPr>
          <a:xfrm>
            <a:off x="2689701" y="2692985"/>
            <a:ext cx="152400" cy="152400"/>
          </a:xfrm>
          <a:prstGeom prst="ellipse">
            <a:avLst/>
          </a:prstGeom>
          <a:gradFill rotWithShape="0">
            <a:gsLst>
              <a:gs pos="0">
                <a:srgbClr val="FF0000"/>
              </a:gs>
              <a:gs pos="100000">
                <a:srgbClr val="760000"/>
              </a:gs>
            </a:gsLst>
            <a:path path="shape">
              <a:fillToRect l="50000" t="50000" r="50000" b="50000"/>
            </a:path>
            <a:tileRect/>
          </a:gradFill>
          <a:ln w="12700" cap="flat" cmpd="sng">
            <a:solidFill>
              <a:schemeClr val="tx1"/>
            </a:solidFill>
            <a:prstDash val="solid"/>
            <a:round/>
            <a:headEnd type="none" w="sm" len="lg"/>
            <a:tailEnd type="none" w="sm" len="lg"/>
          </a:ln>
        </p:spPr>
        <p:txBody>
          <a:bodyPr wrap="none" anchor="ctr" anchorCtr="0"/>
          <a:lstStyle/>
          <a:p>
            <a:pPr algn="ctr"/>
            <a:endParaRPr lang="zh-CN" altLang="en-US" sz="2400" dirty="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185" name="Object 11">
                <a:extLst>
                  <a:ext uri="{FF2B5EF4-FFF2-40B4-BE49-F238E27FC236}">
                    <a16:creationId xmlns:a16="http://schemas.microsoft.com/office/drawing/2014/main" id="{2F6CEA9B-1611-4202-B26B-B037FC2694C4}"/>
                  </a:ext>
                </a:extLst>
              </p:cNvPr>
              <p:cNvSpPr txBox="1"/>
              <p:nvPr/>
            </p:nvSpPr>
            <p:spPr>
              <a:xfrm>
                <a:off x="1898156" y="2754801"/>
                <a:ext cx="838200" cy="57308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𝑞</m:t>
                      </m:r>
                    </m:oMath>
                  </m:oMathPara>
                </a14:m>
                <a:endParaRPr lang="en-US" sz="2400" dirty="0"/>
              </a:p>
            </p:txBody>
          </p:sp>
        </mc:Choice>
        <mc:Fallback xmlns="">
          <p:sp>
            <p:nvSpPr>
              <p:cNvPr id="185" name="Object 11">
                <a:extLst>
                  <a:ext uri="{FF2B5EF4-FFF2-40B4-BE49-F238E27FC236}">
                    <a16:creationId xmlns:a16="http://schemas.microsoft.com/office/drawing/2014/main" id="{2F6CEA9B-1611-4202-B26B-B037FC2694C4}"/>
                  </a:ext>
                </a:extLst>
              </p:cNvPr>
              <p:cNvSpPr txBox="1">
                <a:spLocks noRot="1" noChangeAspect="1" noMove="1" noResize="1" noEditPoints="1" noAdjustHandles="1" noChangeArrowheads="1" noChangeShapeType="1" noTextEdit="1"/>
              </p:cNvSpPr>
              <p:nvPr/>
            </p:nvSpPr>
            <p:spPr>
              <a:xfrm>
                <a:off x="1898156" y="2754801"/>
                <a:ext cx="838200" cy="573088"/>
              </a:xfrm>
              <a:prstGeom prst="rect">
                <a:avLst/>
              </a:prstGeom>
              <a:blipFill>
                <a:blip r:embed="rId5"/>
                <a:stretch>
                  <a:fillRect/>
                </a:stretch>
              </a:blipFill>
              <a:ln w="38100">
                <a:noFill/>
                <a:miter/>
              </a:ln>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83B9FD97-D490-4856-966E-4E14FA13CB4F}"/>
              </a:ext>
            </a:extLst>
          </p:cNvPr>
          <p:cNvSpPr/>
          <p:nvPr/>
        </p:nvSpPr>
        <p:spPr>
          <a:xfrm>
            <a:off x="1473200" y="4474209"/>
            <a:ext cx="9144000" cy="954107"/>
          </a:xfrm>
          <a:prstGeom prst="rect">
            <a:avLst/>
          </a:prstGeom>
        </p:spPr>
        <p:txBody>
          <a:bodyPr wrap="square">
            <a:spAutoFit/>
          </a:bodyPr>
          <a:lstStyle/>
          <a:p>
            <a:r>
              <a:rPr lang="zh-CN" altLang="en-US" sz="2800" dirty="0">
                <a:latin typeface="+mn-ea"/>
              </a:rPr>
              <a:t>当空腔内有电荷       时</a:t>
            </a:r>
            <a:r>
              <a:rPr lang="en-US" altLang="zh-CN" sz="2800" dirty="0">
                <a:latin typeface="+mn-ea"/>
              </a:rPr>
              <a:t>,</a:t>
            </a:r>
            <a:r>
              <a:rPr lang="zh-CN" altLang="en-US" sz="2800" dirty="0">
                <a:latin typeface="+mn-ea"/>
              </a:rPr>
              <a:t>内表面因静电感应出现等值异号的电荷       </a:t>
            </a:r>
            <a:r>
              <a:rPr lang="zh-CN" altLang="en-US" sz="2800" i="1" dirty="0">
                <a:latin typeface="+mn-ea"/>
              </a:rPr>
              <a:t>，</a:t>
            </a:r>
            <a:r>
              <a:rPr lang="zh-CN" altLang="en-US" sz="2800" dirty="0">
                <a:latin typeface="+mn-ea"/>
              </a:rPr>
              <a:t>外表面有感应电荷       （电荷守恒）</a:t>
            </a:r>
            <a:endParaRPr lang="en-US" sz="2800" dirty="0">
              <a:latin typeface="+mn-ea"/>
            </a:endParaRPr>
          </a:p>
        </p:txBody>
      </p:sp>
      <mc:AlternateContent xmlns:mc="http://schemas.openxmlformats.org/markup-compatibility/2006" xmlns:a14="http://schemas.microsoft.com/office/drawing/2010/main">
        <mc:Choice Requires="a14">
          <p:sp>
            <p:nvSpPr>
              <p:cNvPr id="186" name="Object 9">
                <a:extLst>
                  <a:ext uri="{FF2B5EF4-FFF2-40B4-BE49-F238E27FC236}">
                    <a16:creationId xmlns:a16="http://schemas.microsoft.com/office/drawing/2014/main" id="{B6B46DC8-0537-4BEC-9DFF-D54F94523FDF}"/>
                  </a:ext>
                </a:extLst>
              </p:cNvPr>
              <p:cNvSpPr txBox="1"/>
              <p:nvPr/>
            </p:nvSpPr>
            <p:spPr>
              <a:xfrm>
                <a:off x="3912206" y="4438626"/>
                <a:ext cx="838200" cy="61753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𝑞</m:t>
                      </m:r>
                    </m:oMath>
                  </m:oMathPara>
                </a14:m>
                <a:endParaRPr lang="en-US" sz="2800" dirty="0"/>
              </a:p>
            </p:txBody>
          </p:sp>
        </mc:Choice>
        <mc:Fallback xmlns="">
          <p:sp>
            <p:nvSpPr>
              <p:cNvPr id="186" name="Object 9">
                <a:extLst>
                  <a:ext uri="{FF2B5EF4-FFF2-40B4-BE49-F238E27FC236}">
                    <a16:creationId xmlns:a16="http://schemas.microsoft.com/office/drawing/2014/main" id="{B6B46DC8-0537-4BEC-9DFF-D54F94523FDF}"/>
                  </a:ext>
                </a:extLst>
              </p:cNvPr>
              <p:cNvSpPr txBox="1">
                <a:spLocks noRot="1" noChangeAspect="1" noMove="1" noResize="1" noEditPoints="1" noAdjustHandles="1" noChangeArrowheads="1" noChangeShapeType="1" noTextEdit="1"/>
              </p:cNvSpPr>
              <p:nvPr/>
            </p:nvSpPr>
            <p:spPr>
              <a:xfrm>
                <a:off x="3912206" y="4438626"/>
                <a:ext cx="838200" cy="617538"/>
              </a:xfrm>
              <a:prstGeom prst="rect">
                <a:avLst/>
              </a:prstGeom>
              <a:blipFill>
                <a:blip r:embed="rId6"/>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7" name="Object 11">
                <a:extLst>
                  <a:ext uri="{FF2B5EF4-FFF2-40B4-BE49-F238E27FC236}">
                    <a16:creationId xmlns:a16="http://schemas.microsoft.com/office/drawing/2014/main" id="{CB2A1CCF-681B-4258-9438-9CCEB8A9448B}"/>
                  </a:ext>
                </a:extLst>
              </p:cNvPr>
              <p:cNvSpPr txBox="1"/>
              <p:nvPr/>
            </p:nvSpPr>
            <p:spPr>
              <a:xfrm>
                <a:off x="2198657" y="4878094"/>
                <a:ext cx="838200" cy="57308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𝑞</m:t>
                      </m:r>
                    </m:oMath>
                  </m:oMathPara>
                </a14:m>
                <a:endParaRPr lang="en-US" sz="2800" dirty="0"/>
              </a:p>
            </p:txBody>
          </p:sp>
        </mc:Choice>
        <mc:Fallback xmlns="">
          <p:sp>
            <p:nvSpPr>
              <p:cNvPr id="187" name="Object 11">
                <a:extLst>
                  <a:ext uri="{FF2B5EF4-FFF2-40B4-BE49-F238E27FC236}">
                    <a16:creationId xmlns:a16="http://schemas.microsoft.com/office/drawing/2014/main" id="{CB2A1CCF-681B-4258-9438-9CCEB8A9448B}"/>
                  </a:ext>
                </a:extLst>
              </p:cNvPr>
              <p:cNvSpPr txBox="1">
                <a:spLocks noRot="1" noChangeAspect="1" noMove="1" noResize="1" noEditPoints="1" noAdjustHandles="1" noChangeArrowheads="1" noChangeShapeType="1" noTextEdit="1"/>
              </p:cNvSpPr>
              <p:nvPr/>
            </p:nvSpPr>
            <p:spPr>
              <a:xfrm>
                <a:off x="2198657" y="4878094"/>
                <a:ext cx="838200" cy="573088"/>
              </a:xfrm>
              <a:prstGeom prst="rect">
                <a:avLst/>
              </a:prstGeom>
              <a:blipFill>
                <a:blip r:embed="rId7"/>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8" name="Object 9">
                <a:extLst>
                  <a:ext uri="{FF2B5EF4-FFF2-40B4-BE49-F238E27FC236}">
                    <a16:creationId xmlns:a16="http://schemas.microsoft.com/office/drawing/2014/main" id="{E8C42871-5F9E-446D-8952-7F96580E0C79}"/>
                  </a:ext>
                </a:extLst>
              </p:cNvPr>
              <p:cNvSpPr txBox="1"/>
              <p:nvPr/>
            </p:nvSpPr>
            <p:spPr>
              <a:xfrm>
                <a:off x="1714182" y="1710172"/>
                <a:ext cx="1245671" cy="61753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𝑞</m:t>
                      </m:r>
                    </m:oMath>
                  </m:oMathPara>
                </a14:m>
                <a:endParaRPr lang="en-US" sz="2400" dirty="0"/>
              </a:p>
            </p:txBody>
          </p:sp>
        </mc:Choice>
        <mc:Fallback xmlns="">
          <p:sp>
            <p:nvSpPr>
              <p:cNvPr id="188" name="Object 9">
                <a:extLst>
                  <a:ext uri="{FF2B5EF4-FFF2-40B4-BE49-F238E27FC236}">
                    <a16:creationId xmlns:a16="http://schemas.microsoft.com/office/drawing/2014/main" id="{E8C42871-5F9E-446D-8952-7F96580E0C79}"/>
                  </a:ext>
                </a:extLst>
              </p:cNvPr>
              <p:cNvSpPr txBox="1">
                <a:spLocks noRot="1" noChangeAspect="1" noMove="1" noResize="1" noEditPoints="1" noAdjustHandles="1" noChangeArrowheads="1" noChangeShapeType="1" noTextEdit="1"/>
              </p:cNvSpPr>
              <p:nvPr/>
            </p:nvSpPr>
            <p:spPr>
              <a:xfrm>
                <a:off x="1714182" y="1710172"/>
                <a:ext cx="1245671" cy="617538"/>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Object 9">
                <a:extLst>
                  <a:ext uri="{FF2B5EF4-FFF2-40B4-BE49-F238E27FC236}">
                    <a16:creationId xmlns:a16="http://schemas.microsoft.com/office/drawing/2014/main" id="{22AF7B74-3016-CEEB-AE1F-57370EDDF8F3}"/>
                  </a:ext>
                </a:extLst>
              </p:cNvPr>
              <p:cNvSpPr txBox="1"/>
              <p:nvPr/>
            </p:nvSpPr>
            <p:spPr>
              <a:xfrm>
                <a:off x="6106451" y="4878094"/>
                <a:ext cx="838200" cy="61753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𝑞</m:t>
                      </m:r>
                    </m:oMath>
                  </m:oMathPara>
                </a14:m>
                <a:endParaRPr lang="en-US" sz="2800" dirty="0"/>
              </a:p>
            </p:txBody>
          </p:sp>
        </mc:Choice>
        <mc:Fallback xmlns="">
          <p:sp>
            <p:nvSpPr>
              <p:cNvPr id="3" name="Object 9">
                <a:extLst>
                  <a:ext uri="{FF2B5EF4-FFF2-40B4-BE49-F238E27FC236}">
                    <a16:creationId xmlns:a16="http://schemas.microsoft.com/office/drawing/2014/main" id="{22AF7B74-3016-CEEB-AE1F-57370EDDF8F3}"/>
                  </a:ext>
                </a:extLst>
              </p:cNvPr>
              <p:cNvSpPr txBox="1">
                <a:spLocks noRot="1" noChangeAspect="1" noMove="1" noResize="1" noEditPoints="1" noAdjustHandles="1" noChangeArrowheads="1" noChangeShapeType="1" noTextEdit="1"/>
              </p:cNvSpPr>
              <p:nvPr/>
            </p:nvSpPr>
            <p:spPr>
              <a:xfrm>
                <a:off x="6106451" y="4878094"/>
                <a:ext cx="838200" cy="617538"/>
              </a:xfrm>
              <a:prstGeom prst="rect">
                <a:avLst/>
              </a:prstGeom>
              <a:blipFill>
                <a:blip r:embed="rId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9">
                <a:extLst>
                  <a:ext uri="{FF2B5EF4-FFF2-40B4-BE49-F238E27FC236}">
                    <a16:creationId xmlns:a16="http://schemas.microsoft.com/office/drawing/2014/main" id="{7EE847B8-BA6C-35D0-9824-C48284B15B74}"/>
                  </a:ext>
                </a:extLst>
              </p:cNvPr>
              <p:cNvSpPr txBox="1"/>
              <p:nvPr/>
            </p:nvSpPr>
            <p:spPr>
              <a:xfrm>
                <a:off x="2863444" y="1665031"/>
                <a:ext cx="1245671" cy="61753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m:rPr>
                          <m:sty m:val="p"/>
                        </m:rPr>
                        <a:rPr lang="en-US" altLang="zh-CN" sz="2400" i="1">
                          <a:solidFill>
                            <a:srgbClr val="000000"/>
                          </a:solidFill>
                          <a:latin typeface="Cambria Math" panose="02040503050406030204" pitchFamily="18" charset="0"/>
                        </a:rPr>
                        <m:t>Q</m:t>
                      </m:r>
                    </m:oMath>
                  </m:oMathPara>
                </a14:m>
                <a:endParaRPr lang="en-US" sz="2400" dirty="0"/>
              </a:p>
            </p:txBody>
          </p:sp>
        </mc:Choice>
        <mc:Fallback xmlns="">
          <p:sp>
            <p:nvSpPr>
              <p:cNvPr id="4" name="Object 9">
                <a:extLst>
                  <a:ext uri="{FF2B5EF4-FFF2-40B4-BE49-F238E27FC236}">
                    <a16:creationId xmlns:a16="http://schemas.microsoft.com/office/drawing/2014/main" id="{7EE847B8-BA6C-35D0-9824-C48284B15B74}"/>
                  </a:ext>
                </a:extLst>
              </p:cNvPr>
              <p:cNvSpPr txBox="1">
                <a:spLocks noRot="1" noChangeAspect="1" noMove="1" noResize="1" noEditPoints="1" noAdjustHandles="1" noChangeArrowheads="1" noChangeShapeType="1" noTextEdit="1"/>
              </p:cNvSpPr>
              <p:nvPr/>
            </p:nvSpPr>
            <p:spPr>
              <a:xfrm>
                <a:off x="2863444" y="1665031"/>
                <a:ext cx="1245671" cy="617538"/>
              </a:xfrm>
              <a:prstGeom prst="rect">
                <a:avLst/>
              </a:prstGeom>
              <a:blipFill>
                <a:blip r:embed="rId10"/>
                <a:stretch>
                  <a:fillRect/>
                </a:stretch>
              </a:blipFill>
              <a:ln w="38100">
                <a:noFill/>
                <a:miter/>
              </a:ln>
            </p:spPr>
            <p:txBody>
              <a:bodyPr/>
              <a:lstStyle/>
              <a:p>
                <a:r>
                  <a:rPr lang="zh-CN" altLang="en-US">
                    <a:noFill/>
                  </a:rPr>
                  <a:t> </a:t>
                </a:r>
              </a:p>
            </p:txBody>
          </p:sp>
        </mc:Fallback>
      </mc:AlternateContent>
      <p:grpSp>
        <p:nvGrpSpPr>
          <p:cNvPr id="6" name="Group 25">
            <a:extLst>
              <a:ext uri="{FF2B5EF4-FFF2-40B4-BE49-F238E27FC236}">
                <a16:creationId xmlns:a16="http://schemas.microsoft.com/office/drawing/2014/main" id="{0BE16D7D-DD29-4525-34ED-EFB108854159}"/>
              </a:ext>
            </a:extLst>
          </p:cNvPr>
          <p:cNvGrpSpPr/>
          <p:nvPr/>
        </p:nvGrpSpPr>
        <p:grpSpPr>
          <a:xfrm>
            <a:off x="1579204" y="2251632"/>
            <a:ext cx="1995846" cy="1110399"/>
            <a:chOff x="3216" y="1392"/>
            <a:chExt cx="1824" cy="1200"/>
          </a:xfrm>
        </p:grpSpPr>
        <p:sp>
          <p:nvSpPr>
            <p:cNvPr id="7" name="Oval 10">
              <a:extLst>
                <a:ext uri="{FF2B5EF4-FFF2-40B4-BE49-F238E27FC236}">
                  <a16:creationId xmlns:a16="http://schemas.microsoft.com/office/drawing/2014/main" id="{1F706C69-B0C6-A826-95BC-8F0B023DC7B5}"/>
                </a:ext>
              </a:extLst>
            </p:cNvPr>
            <p:cNvSpPr/>
            <p:nvPr/>
          </p:nvSpPr>
          <p:spPr>
            <a:xfrm>
              <a:off x="3648" y="1392"/>
              <a:ext cx="1392" cy="1200"/>
            </a:xfrm>
            <a:prstGeom prst="ellipse">
              <a:avLst/>
            </a:prstGeom>
            <a:noFill/>
            <a:ln w="28575" cap="flat" cmpd="sng">
              <a:solidFill>
                <a:srgbClr val="CC00CC"/>
              </a:solidFill>
              <a:prstDash val="dash"/>
              <a:round/>
              <a:headEnd type="none" w="sm" len="lg"/>
              <a:tailEnd type="none" w="sm" len="lg"/>
            </a:ln>
          </p:spPr>
          <p:txBody>
            <a:bodyPr wrap="none" anchor="ctr" anchorCtr="0"/>
            <a:lstStyle/>
            <a:p>
              <a:pPr algn="ctr"/>
              <a:endParaRPr lang="zh-CN" altLang="en-US" sz="2400" dirty="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8" name="Object 12">
                  <a:extLst>
                    <a:ext uri="{FF2B5EF4-FFF2-40B4-BE49-F238E27FC236}">
                      <a16:creationId xmlns:a16="http://schemas.microsoft.com/office/drawing/2014/main" id="{8F80EC87-FD78-3B3B-E9B2-36F5BDFE0048}"/>
                    </a:ext>
                  </a:extLst>
                </p:cNvPr>
                <p:cNvSpPr txBox="1"/>
                <p:nvPr/>
              </p:nvSpPr>
              <p:spPr>
                <a:xfrm>
                  <a:off x="3216" y="1585"/>
                  <a:ext cx="441" cy="535"/>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𝑆</m:t>
                            </m:r>
                          </m:e>
                          <m:sub>
                            <m:r>
                              <a:rPr lang="en-US" sz="2400" i="1">
                                <a:solidFill>
                                  <a:srgbClr val="000000"/>
                                </a:solidFill>
                                <a:latin typeface="Cambria Math" panose="02040503050406030204" pitchFamily="18" charset="0"/>
                              </a:rPr>
                              <m:t>2</m:t>
                            </m:r>
                          </m:sub>
                        </m:sSub>
                      </m:oMath>
                    </m:oMathPara>
                  </a14:m>
                  <a:endParaRPr lang="en-US" sz="2400" dirty="0"/>
                </a:p>
              </p:txBody>
            </p:sp>
          </mc:Choice>
          <mc:Fallback xmlns="">
            <p:sp>
              <p:nvSpPr>
                <p:cNvPr id="22" name="Object 12">
                  <a:extLst>
                    <a:ext uri="{FF2B5EF4-FFF2-40B4-BE49-F238E27FC236}">
                      <a16:creationId xmlns:a16="http://schemas.microsoft.com/office/drawing/2014/main" id="{C4804E2B-6D7B-405B-BCF6-E71D4F0C8C5C}"/>
                    </a:ext>
                  </a:extLst>
                </p:cNvPr>
                <p:cNvSpPr txBox="1">
                  <a:spLocks noRot="1" noChangeAspect="1" noMove="1" noResize="1" noEditPoints="1" noAdjustHandles="1" noChangeArrowheads="1" noChangeShapeType="1" noTextEdit="1"/>
                </p:cNvSpPr>
                <p:nvPr/>
              </p:nvSpPr>
              <p:spPr>
                <a:xfrm>
                  <a:off x="3216" y="1585"/>
                  <a:ext cx="441" cy="535"/>
                </a:xfrm>
                <a:prstGeom prst="rect">
                  <a:avLst/>
                </a:prstGeom>
                <a:blipFill>
                  <a:blip r:embed="rId11"/>
                  <a:stretch>
                    <a:fillRect/>
                  </a:stretch>
                </a:blipFill>
                <a:ln w="38100">
                  <a:noFill/>
                  <a:miter/>
                </a:ln>
              </p:spPr>
              <p:txBody>
                <a:bodyPr/>
                <a:lstStyle/>
                <a:p>
                  <a:r>
                    <a:rPr lang="en-US">
                      <a:noFill/>
                    </a:rPr>
                    <a:t> </a:t>
                  </a:r>
                </a:p>
              </p:txBody>
            </p:sp>
          </mc:Fallback>
        </mc:AlternateContent>
      </p:grpSp>
    </p:spTree>
    <p:extLst>
      <p:ext uri="{BB962C8B-B14F-4D97-AF65-F5344CB8AC3E}">
        <p14:creationId xmlns:p14="http://schemas.microsoft.com/office/powerpoint/2010/main" val="273439355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P spid="149" grpId="0"/>
      <p:bldP spid="185" grpId="0"/>
      <p:bldP spid="10" grpId="0"/>
      <p:bldP spid="186" grpId="0"/>
      <p:bldP spid="187" grpId="0"/>
      <p:bldP spid="188" grpId="0"/>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E4614BD-3B44-1AEB-53E2-A0E220BA4F65}"/>
              </a:ext>
            </a:extLst>
          </p:cNvPr>
          <p:cNvPicPr>
            <a:picLocks noChangeAspect="1"/>
          </p:cNvPicPr>
          <p:nvPr/>
        </p:nvPicPr>
        <p:blipFill>
          <a:blip r:embed="rId2"/>
          <a:stretch>
            <a:fillRect/>
          </a:stretch>
        </p:blipFill>
        <p:spPr>
          <a:xfrm>
            <a:off x="1536869" y="1026160"/>
            <a:ext cx="2823825" cy="5471160"/>
          </a:xfrm>
          <a:prstGeom prst="rect">
            <a:avLst/>
          </a:prstGeom>
        </p:spPr>
      </p:pic>
      <p:sp>
        <p:nvSpPr>
          <p:cNvPr id="5" name="文本框 4">
            <a:extLst>
              <a:ext uri="{FF2B5EF4-FFF2-40B4-BE49-F238E27FC236}">
                <a16:creationId xmlns:a16="http://schemas.microsoft.com/office/drawing/2014/main" id="{DDEAFF91-F2B9-CD50-C877-71F8B097539D}"/>
              </a:ext>
            </a:extLst>
          </p:cNvPr>
          <p:cNvSpPr txBox="1"/>
          <p:nvPr/>
        </p:nvSpPr>
        <p:spPr>
          <a:xfrm>
            <a:off x="4675018" y="803344"/>
            <a:ext cx="7157720" cy="5632311"/>
          </a:xfrm>
          <a:prstGeom prst="rect">
            <a:avLst/>
          </a:prstGeom>
          <a:noFill/>
        </p:spPr>
        <p:txBody>
          <a:bodyPr wrap="square">
            <a:spAutoFit/>
          </a:bodyPr>
          <a:lstStyle/>
          <a:p>
            <a:pPr marL="457200" indent="-457200" algn="l">
              <a:buFontTx/>
              <a:buChar char="-"/>
            </a:pPr>
            <a:r>
              <a:rPr lang="zh-CN" altLang="en-US" sz="2600" b="0" i="0" dirty="0">
                <a:solidFill>
                  <a:srgbClr val="121212"/>
                </a:solidFill>
                <a:effectLst/>
                <a:latin typeface="华文楷体" panose="02010600040101010101" pitchFamily="2" charset="-122"/>
                <a:ea typeface="华文楷体" panose="02010600040101010101" pitchFamily="2" charset="-122"/>
              </a:rPr>
              <a:t>硒鼓的基体是铝，表面是硒。硒</a:t>
            </a:r>
            <a:r>
              <a:rPr lang="zh-CN" altLang="en-US" sz="2600" b="1" i="0" dirty="0">
                <a:solidFill>
                  <a:srgbClr val="121212"/>
                </a:solidFill>
                <a:effectLst/>
                <a:latin typeface="华文楷体" panose="02010600040101010101" pitchFamily="2" charset="-122"/>
                <a:ea typeface="华文楷体" panose="02010600040101010101" pitchFamily="2" charset="-122"/>
              </a:rPr>
              <a:t>在黑暗下是绝缘体，在光照下是导体</a:t>
            </a:r>
            <a:r>
              <a:rPr lang="zh-CN" altLang="en-US" sz="2600" b="0" i="0" dirty="0">
                <a:solidFill>
                  <a:srgbClr val="121212"/>
                </a:solidFill>
                <a:effectLst/>
                <a:latin typeface="华文楷体" panose="02010600040101010101" pitchFamily="2" charset="-122"/>
                <a:ea typeface="华文楷体" panose="02010600040101010101" pitchFamily="2" charset="-122"/>
              </a:rPr>
              <a:t>。</a:t>
            </a:r>
            <a:endParaRPr lang="en-US" altLang="zh-CN" sz="2600" b="0" i="0" dirty="0">
              <a:solidFill>
                <a:srgbClr val="121212"/>
              </a:solidFill>
              <a:effectLst/>
              <a:latin typeface="华文楷体" panose="02010600040101010101" pitchFamily="2" charset="-122"/>
              <a:ea typeface="华文楷体" panose="02010600040101010101" pitchFamily="2" charset="-122"/>
            </a:endParaRPr>
          </a:p>
          <a:p>
            <a:pPr marL="457200" indent="-457200" algn="l">
              <a:buFontTx/>
              <a:buChar char="-"/>
            </a:pPr>
            <a:endParaRPr lang="en-US" altLang="zh-CN" sz="1200" dirty="0">
              <a:solidFill>
                <a:srgbClr val="121212"/>
              </a:solidFill>
              <a:latin typeface="华文楷体" panose="02010600040101010101" pitchFamily="2" charset="-122"/>
              <a:ea typeface="华文楷体" panose="02010600040101010101" pitchFamily="2" charset="-122"/>
            </a:endParaRPr>
          </a:p>
          <a:p>
            <a:pPr marL="457200" indent="-457200" algn="l">
              <a:buFontTx/>
              <a:buChar char="-"/>
            </a:pPr>
            <a:r>
              <a:rPr lang="zh-CN" altLang="en-US" sz="2600" b="0" i="0" dirty="0">
                <a:solidFill>
                  <a:srgbClr val="121212"/>
                </a:solidFill>
                <a:effectLst/>
                <a:latin typeface="华文楷体" panose="02010600040101010101" pitchFamily="2" charset="-122"/>
                <a:ea typeface="华文楷体" panose="02010600040101010101" pitchFamily="2" charset="-122"/>
              </a:rPr>
              <a:t>在黑暗中让硒鼓表面的硒带负电，而铝基体感应出正电。</a:t>
            </a:r>
            <a:endParaRPr lang="en-US" altLang="zh-CN" sz="2600" b="0" i="0" dirty="0">
              <a:solidFill>
                <a:srgbClr val="121212"/>
              </a:solidFill>
              <a:effectLst/>
              <a:latin typeface="华文楷体" panose="02010600040101010101" pitchFamily="2" charset="-122"/>
              <a:ea typeface="华文楷体" panose="02010600040101010101" pitchFamily="2" charset="-122"/>
            </a:endParaRPr>
          </a:p>
          <a:p>
            <a:pPr marL="457200" indent="-457200" algn="l">
              <a:buFontTx/>
              <a:buChar char="-"/>
            </a:pPr>
            <a:endParaRPr lang="en-US" altLang="zh-CN" sz="1200" dirty="0">
              <a:solidFill>
                <a:srgbClr val="121212"/>
              </a:solidFill>
              <a:latin typeface="华文楷体" panose="02010600040101010101" pitchFamily="2" charset="-122"/>
              <a:ea typeface="华文楷体" panose="02010600040101010101" pitchFamily="2" charset="-122"/>
            </a:endParaRPr>
          </a:p>
          <a:p>
            <a:pPr marL="457200" indent="-457200" algn="l">
              <a:buFontTx/>
              <a:buChar char="-"/>
            </a:pPr>
            <a:r>
              <a:rPr lang="zh-CN" altLang="en-US" sz="2600" b="0" i="0" dirty="0">
                <a:solidFill>
                  <a:srgbClr val="121212"/>
                </a:solidFill>
                <a:effectLst/>
                <a:latin typeface="华文楷体" panose="02010600040101010101" pitchFamily="2" charset="-122"/>
                <a:ea typeface="华文楷体" panose="02010600040101010101" pitchFamily="2" charset="-122"/>
              </a:rPr>
              <a:t>用光扫描需要复印的内容，没有字迹的地方光可以透过，硒成为导体，硒和铝基体的电荷中和</a:t>
            </a:r>
            <a:r>
              <a:rPr lang="zh-CN" altLang="en-US" sz="2600" dirty="0">
                <a:solidFill>
                  <a:srgbClr val="121212"/>
                </a:solidFill>
                <a:latin typeface="华文楷体" panose="02010600040101010101" pitchFamily="2" charset="-122"/>
                <a:ea typeface="华文楷体" panose="02010600040101010101" pitchFamily="2" charset="-122"/>
              </a:rPr>
              <a:t>；</a:t>
            </a:r>
            <a:r>
              <a:rPr lang="zh-CN" altLang="en-US" sz="2600" b="0" i="0" dirty="0">
                <a:solidFill>
                  <a:srgbClr val="121212"/>
                </a:solidFill>
                <a:effectLst/>
                <a:latin typeface="华文楷体" panose="02010600040101010101" pitchFamily="2" charset="-122"/>
                <a:ea typeface="华文楷体" panose="02010600040101010101" pitchFamily="2" charset="-122"/>
              </a:rPr>
              <a:t>而有字迹的地方光就无法透过，硒依然带负电。这样在硒鼓上就有一个由电荷形成的“影像”。</a:t>
            </a:r>
            <a:endParaRPr lang="en-US" altLang="zh-CN" sz="2600" b="0" i="0" dirty="0">
              <a:solidFill>
                <a:srgbClr val="121212"/>
              </a:solidFill>
              <a:effectLst/>
              <a:latin typeface="华文楷体" panose="02010600040101010101" pitchFamily="2" charset="-122"/>
              <a:ea typeface="华文楷体" panose="02010600040101010101" pitchFamily="2" charset="-122"/>
            </a:endParaRPr>
          </a:p>
          <a:p>
            <a:pPr marL="457200" indent="-457200" algn="l">
              <a:buFontTx/>
              <a:buChar char="-"/>
            </a:pPr>
            <a:endParaRPr lang="en-US" altLang="zh-CN" sz="1200" b="0" i="0" dirty="0">
              <a:solidFill>
                <a:srgbClr val="121212"/>
              </a:solidFill>
              <a:effectLst/>
              <a:latin typeface="华文楷体" panose="02010600040101010101" pitchFamily="2" charset="-122"/>
              <a:ea typeface="华文楷体" panose="02010600040101010101" pitchFamily="2" charset="-122"/>
            </a:endParaRPr>
          </a:p>
          <a:p>
            <a:pPr marL="457200" indent="-457200" algn="l">
              <a:buFontTx/>
              <a:buChar char="-"/>
            </a:pPr>
            <a:r>
              <a:rPr lang="zh-CN" altLang="en-US" sz="2600" b="0" i="0" dirty="0">
                <a:solidFill>
                  <a:srgbClr val="121212"/>
                </a:solidFill>
                <a:effectLst/>
                <a:latin typeface="华文楷体" panose="02010600040101010101" pitchFamily="2" charset="-122"/>
                <a:ea typeface="华文楷体" panose="02010600040101010101" pitchFamily="2" charset="-122"/>
              </a:rPr>
              <a:t>硒鼓带负电的区域吸附带正电的碳粉，再将碳粉转移到带负电荷的复印纸上</a:t>
            </a:r>
            <a:endParaRPr lang="en-US" altLang="zh-CN" sz="2600" b="0" i="0" dirty="0">
              <a:solidFill>
                <a:srgbClr val="121212"/>
              </a:solidFill>
              <a:effectLst/>
              <a:latin typeface="华文楷体" panose="02010600040101010101" pitchFamily="2" charset="-122"/>
              <a:ea typeface="华文楷体" panose="02010600040101010101" pitchFamily="2" charset="-122"/>
            </a:endParaRPr>
          </a:p>
          <a:p>
            <a:pPr marL="457200" indent="-457200" algn="l">
              <a:buFontTx/>
              <a:buChar char="-"/>
            </a:pPr>
            <a:endParaRPr lang="en-US" altLang="zh-CN" sz="1200" b="0" i="0" dirty="0">
              <a:solidFill>
                <a:srgbClr val="121212"/>
              </a:solidFill>
              <a:effectLst/>
              <a:latin typeface="华文楷体" panose="02010600040101010101" pitchFamily="2" charset="-122"/>
              <a:ea typeface="华文楷体" panose="02010600040101010101" pitchFamily="2" charset="-122"/>
            </a:endParaRPr>
          </a:p>
          <a:p>
            <a:pPr marL="457200" indent="-457200" algn="l">
              <a:buFontTx/>
              <a:buChar char="-"/>
            </a:pPr>
            <a:r>
              <a:rPr lang="zh-CN" altLang="en-US" sz="2600" b="0" i="0" dirty="0">
                <a:solidFill>
                  <a:srgbClr val="121212"/>
                </a:solidFill>
                <a:effectLst/>
                <a:latin typeface="华文楷体" panose="02010600040101010101" pitchFamily="2" charset="-122"/>
                <a:ea typeface="华文楷体" panose="02010600040101010101" pitchFamily="2" charset="-122"/>
              </a:rPr>
              <a:t>烘烤纸张让碳粉固定在纸张上</a:t>
            </a:r>
          </a:p>
        </p:txBody>
      </p:sp>
      <p:sp>
        <p:nvSpPr>
          <p:cNvPr id="4" name="矩形 3">
            <a:extLst>
              <a:ext uri="{FF2B5EF4-FFF2-40B4-BE49-F238E27FC236}">
                <a16:creationId xmlns:a16="http://schemas.microsoft.com/office/drawing/2014/main" id="{5692B09F-4779-4C60-82F4-DA1FC5931B2C}"/>
              </a:ext>
            </a:extLst>
          </p:cNvPr>
          <p:cNvSpPr/>
          <p:nvPr/>
        </p:nvSpPr>
        <p:spPr>
          <a:xfrm>
            <a:off x="589280" y="360680"/>
            <a:ext cx="2666114" cy="584775"/>
          </a:xfrm>
          <a:prstGeom prst="rect">
            <a:avLst/>
          </a:prstGeom>
        </p:spPr>
        <p:txBody>
          <a:bodyPr wrap="none">
            <a:spAutoFit/>
          </a:bodyPr>
          <a:lstStyle/>
          <a:p>
            <a:pPr marL="457200" lvl="0" indent="-457200">
              <a:buFont typeface="Wingdings" panose="05000000000000000000" pitchFamily="2" charset="2"/>
              <a:buChar char="q"/>
            </a:pPr>
            <a:r>
              <a:rPr kumimoji="0" lang="zh-CN" altLang="en-US" sz="3200" b="1" i="0" u="none" strike="noStrike" kern="0" cap="none" spc="-50" normalizeH="0" baseline="0" noProof="0" dirty="0">
                <a:ln>
                  <a:noFill/>
                </a:ln>
                <a:solidFill>
                  <a:srgbClr val="0066FF"/>
                </a:solidFill>
                <a:effectLst/>
                <a:uLnTx/>
                <a:uFillTx/>
                <a:latin typeface="华文楷体" panose="02010600040101010101" pitchFamily="2" charset="-122"/>
                <a:ea typeface="华文楷体" panose="02010600040101010101" pitchFamily="2" charset="-122"/>
                <a:cs typeface="Times New Roman" panose="02020603050405020304" pitchFamily="18" charset="0"/>
              </a:rPr>
              <a:t>静电复印机</a:t>
            </a:r>
            <a:endParaRPr kumimoji="0" lang="en-US" sz="1800" b="0" i="0" u="none" strike="noStrike" kern="0" cap="none" spc="0" normalizeH="0" baseline="0" noProof="0" dirty="0">
              <a:ln>
                <a:noFill/>
              </a:ln>
              <a:solidFill>
                <a:srgbClr val="0066FF"/>
              </a:solidFill>
              <a:effectLst/>
              <a:uLnTx/>
              <a:uFillTx/>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98500354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内容占位符 6">
            <a:extLst>
              <a:ext uri="{FF2B5EF4-FFF2-40B4-BE49-F238E27FC236}">
                <a16:creationId xmlns:a16="http://schemas.microsoft.com/office/drawing/2014/main" id="{8F32208B-2AFC-4541-8688-1E10FC95C6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1862" y="1555146"/>
            <a:ext cx="6763390" cy="4830122"/>
          </a:xfrm>
          <a:prstGeom prst="rect">
            <a:avLst/>
          </a:prstGeom>
        </p:spPr>
      </p:pic>
      <p:sp>
        <p:nvSpPr>
          <p:cNvPr id="3" name="矩形 2">
            <a:extLst>
              <a:ext uri="{FF2B5EF4-FFF2-40B4-BE49-F238E27FC236}">
                <a16:creationId xmlns:a16="http://schemas.microsoft.com/office/drawing/2014/main" id="{44716F21-4AAF-44C2-9141-B2E6052C17BB}"/>
              </a:ext>
            </a:extLst>
          </p:cNvPr>
          <p:cNvSpPr/>
          <p:nvPr/>
        </p:nvSpPr>
        <p:spPr>
          <a:xfrm>
            <a:off x="486061" y="511408"/>
            <a:ext cx="6763390" cy="646331"/>
          </a:xfrm>
          <a:prstGeom prst="rect">
            <a:avLst/>
          </a:prstGeom>
        </p:spPr>
        <p:txBody>
          <a:bodyPr wrap="none">
            <a:spAutoFit/>
          </a:bodyPr>
          <a:lstStyle/>
          <a:p>
            <a:pPr marL="571500" indent="-571500">
              <a:buFont typeface="Wingdings" panose="05000000000000000000" pitchFamily="2" charset="2"/>
              <a:buChar char="q"/>
            </a:pPr>
            <a:r>
              <a:rPr lang="zh-CN" alt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静电平衡时导体上的电荷分布</a:t>
            </a:r>
            <a:endParaRPr lang="en-US" sz="3600" b="1"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867422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a:extLst>
              <a:ext uri="{FF2B5EF4-FFF2-40B4-BE49-F238E27FC236}">
                <a16:creationId xmlns:a16="http://schemas.microsoft.com/office/drawing/2014/main" id="{61B92B29-4940-408A-A313-C95EDAC75C95}"/>
              </a:ext>
            </a:extLst>
          </p:cNvPr>
          <p:cNvSpPr txBox="1">
            <a:spLocks noChangeArrowheads="1"/>
          </p:cNvSpPr>
          <p:nvPr/>
        </p:nvSpPr>
        <p:spPr bwMode="auto">
          <a:xfrm>
            <a:off x="684916" y="404258"/>
            <a:ext cx="50203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lgn="l" eaLnBrk="1" hangingPunct="1">
              <a:spcBef>
                <a:spcPct val="50000"/>
              </a:spcBef>
              <a:buFont typeface="Wingdings" panose="05000000000000000000" pitchFamily="2" charset="2"/>
              <a:buChar char="q"/>
            </a:pPr>
            <a:r>
              <a:rPr lang="zh-CN" altLang="en-US" sz="3200" b="1" dirty="0">
                <a:solidFill>
                  <a:srgbClr val="0066FF"/>
                </a:solidFill>
                <a:ea typeface="华文楷体" panose="02010600040101010101" pitchFamily="2" charset="-122"/>
                <a:cs typeface="Times New Roman" panose="02020603050405020304" pitchFamily="18" charset="0"/>
              </a:rPr>
              <a:t>导体表面电荷分布</a:t>
            </a:r>
          </a:p>
        </p:txBody>
      </p:sp>
      <mc:AlternateContent xmlns:mc="http://schemas.openxmlformats.org/markup-compatibility/2006" xmlns:a14="http://schemas.microsoft.com/office/drawing/2010/main">
        <mc:Choice Requires="a14">
          <p:sp>
            <p:nvSpPr>
              <p:cNvPr id="18450" name="Object 18">
                <a:extLst>
                  <a:ext uri="{FF2B5EF4-FFF2-40B4-BE49-F238E27FC236}">
                    <a16:creationId xmlns:a16="http://schemas.microsoft.com/office/drawing/2014/main" id="{566950D7-B727-4580-B56A-0456A5447B24}"/>
                  </a:ext>
                </a:extLst>
              </p:cNvPr>
              <p:cNvSpPr txBox="1"/>
              <p:nvPr/>
            </p:nvSpPr>
            <p:spPr bwMode="auto">
              <a:xfrm>
                <a:off x="5721669" y="5302349"/>
                <a:ext cx="1752600" cy="1219200"/>
              </a:xfrm>
              <a:prstGeom prst="rect">
                <a:avLst/>
              </a:prstGeom>
              <a:noFill/>
              <a:ln w="9525">
                <a:noFill/>
                <a:miter lim="800000"/>
                <a:headEnd/>
                <a:tailEnd/>
              </a:ln>
              <a:effectLst/>
            </p:spPr>
            <p:txBody>
              <a:bodyPr>
                <a:normAutofit/>
              </a:bodyPr>
              <a:lstStyle/>
              <a:p>
                <a:pPr/>
                <a14:m>
                  <m:oMathPara xmlns:m="http://schemas.openxmlformats.org/officeDocument/2006/math">
                    <m:oMathParaPr>
                      <m:jc m:val="centerGroup"/>
                    </m:oMathParaPr>
                    <m:oMath xmlns:m="http://schemas.openxmlformats.org/officeDocument/2006/math">
                      <m:r>
                        <a:rPr lang="zh-CN" altLang="en-US" sz="2800" b="0" i="1" kern="0">
                          <a:solidFill>
                            <a:srgbClr val="000000"/>
                          </a:solidFill>
                          <a:latin typeface="Cambria Math" panose="02040503050406030204" pitchFamily="18" charset="0"/>
                        </a:rPr>
                        <m:t>𝐸</m:t>
                      </m:r>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𝜎</m:t>
                          </m:r>
                        </m:num>
                        <m:den>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𝜀</m:t>
                              </m:r>
                            </m:e>
                            <m:sub>
                              <m:r>
                                <a:rPr lang="en-US" sz="2800" b="0" i="1">
                                  <a:solidFill>
                                    <a:srgbClr val="000000"/>
                                  </a:solidFill>
                                  <a:latin typeface="Cambria Math" panose="02040503050406030204" pitchFamily="18" charset="0"/>
                                </a:rPr>
                                <m:t>0</m:t>
                              </m:r>
                            </m:sub>
                          </m:sSub>
                        </m:den>
                      </m:f>
                    </m:oMath>
                  </m:oMathPara>
                </a14:m>
                <a:endParaRPr 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8450" name="Object 18">
                <a:extLst>
                  <a:ext uri="{FF2B5EF4-FFF2-40B4-BE49-F238E27FC236}">
                    <a16:creationId xmlns:a16="http://schemas.microsoft.com/office/drawing/2014/main" id="{566950D7-B727-4580-B56A-0456A5447B24}"/>
                  </a:ext>
                </a:extLst>
              </p:cNvPr>
              <p:cNvSpPr txBox="1">
                <a:spLocks noRot="1" noChangeAspect="1" noMove="1" noResize="1" noEditPoints="1" noAdjustHandles="1" noChangeArrowheads="1" noChangeShapeType="1" noTextEdit="1"/>
              </p:cNvSpPr>
              <p:nvPr/>
            </p:nvSpPr>
            <p:spPr bwMode="auto">
              <a:xfrm>
                <a:off x="5721669" y="5302349"/>
                <a:ext cx="1752600" cy="1219200"/>
              </a:xfrm>
              <a:prstGeom prst="rect">
                <a:avLst/>
              </a:prstGeom>
              <a:blipFill>
                <a:blip r:embed="rId2"/>
                <a:stretch>
                  <a:fillRect/>
                </a:stretch>
              </a:blipFill>
              <a:ln w="9525">
                <a:noFill/>
                <a:miter lim="800000"/>
                <a:headEnd/>
                <a:tailEnd/>
              </a:ln>
              <a:effectLst/>
            </p:spPr>
            <p:txBody>
              <a:bodyPr/>
              <a:lstStyle/>
              <a:p>
                <a:r>
                  <a:rPr lang="en-US">
                    <a:noFill/>
                  </a:rPr>
                  <a:t> </a:t>
                </a:r>
              </a:p>
            </p:txBody>
          </p:sp>
        </mc:Fallback>
      </mc:AlternateContent>
      <p:sp>
        <p:nvSpPr>
          <p:cNvPr id="18453" name="Line 21">
            <a:extLst>
              <a:ext uri="{FF2B5EF4-FFF2-40B4-BE49-F238E27FC236}">
                <a16:creationId xmlns:a16="http://schemas.microsoft.com/office/drawing/2014/main" id="{6A283827-1458-43E8-A785-E90FB3276EE9}"/>
              </a:ext>
            </a:extLst>
          </p:cNvPr>
          <p:cNvSpPr>
            <a:spLocks noChangeShapeType="1"/>
          </p:cNvSpPr>
          <p:nvPr/>
        </p:nvSpPr>
        <p:spPr bwMode="auto">
          <a:xfrm rot="21593004" flipH="1">
            <a:off x="7754938" y="1462088"/>
            <a:ext cx="838200" cy="944562"/>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54" name="Line 22">
            <a:extLst>
              <a:ext uri="{FF2B5EF4-FFF2-40B4-BE49-F238E27FC236}">
                <a16:creationId xmlns:a16="http://schemas.microsoft.com/office/drawing/2014/main" id="{368944CA-AB2E-4F94-B45F-AB3551A86F8E}"/>
              </a:ext>
            </a:extLst>
          </p:cNvPr>
          <p:cNvSpPr>
            <a:spLocks noChangeShapeType="1"/>
          </p:cNvSpPr>
          <p:nvPr/>
        </p:nvSpPr>
        <p:spPr bwMode="auto">
          <a:xfrm rot="21593004" flipH="1">
            <a:off x="7907338" y="1698626"/>
            <a:ext cx="838200" cy="944563"/>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55" name="Line 23">
            <a:extLst>
              <a:ext uri="{FF2B5EF4-FFF2-40B4-BE49-F238E27FC236}">
                <a16:creationId xmlns:a16="http://schemas.microsoft.com/office/drawing/2014/main" id="{561E0BCA-5BE8-477E-9461-1AB1E47C4CC2}"/>
              </a:ext>
            </a:extLst>
          </p:cNvPr>
          <p:cNvSpPr>
            <a:spLocks noChangeShapeType="1"/>
          </p:cNvSpPr>
          <p:nvPr/>
        </p:nvSpPr>
        <p:spPr bwMode="auto">
          <a:xfrm rot="21593004" flipH="1">
            <a:off x="8059738" y="1935163"/>
            <a:ext cx="838200" cy="944562"/>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56" name="Line 24">
            <a:extLst>
              <a:ext uri="{FF2B5EF4-FFF2-40B4-BE49-F238E27FC236}">
                <a16:creationId xmlns:a16="http://schemas.microsoft.com/office/drawing/2014/main" id="{69E22D28-A3EB-481B-894D-22CFE54A5695}"/>
              </a:ext>
            </a:extLst>
          </p:cNvPr>
          <p:cNvSpPr>
            <a:spLocks noChangeShapeType="1"/>
          </p:cNvSpPr>
          <p:nvPr/>
        </p:nvSpPr>
        <p:spPr bwMode="auto">
          <a:xfrm rot="21593004" flipH="1">
            <a:off x="8212138" y="2168525"/>
            <a:ext cx="838200" cy="94615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57" name="Line 25">
            <a:extLst>
              <a:ext uri="{FF2B5EF4-FFF2-40B4-BE49-F238E27FC236}">
                <a16:creationId xmlns:a16="http://schemas.microsoft.com/office/drawing/2014/main" id="{BC7E9562-DF25-4FA0-8380-361BBD36DDD1}"/>
              </a:ext>
            </a:extLst>
          </p:cNvPr>
          <p:cNvSpPr>
            <a:spLocks noChangeShapeType="1"/>
          </p:cNvSpPr>
          <p:nvPr/>
        </p:nvSpPr>
        <p:spPr bwMode="auto">
          <a:xfrm rot="21593004" flipH="1">
            <a:off x="8366125" y="2405063"/>
            <a:ext cx="838200" cy="94456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58" name="Line 26">
            <a:extLst>
              <a:ext uri="{FF2B5EF4-FFF2-40B4-BE49-F238E27FC236}">
                <a16:creationId xmlns:a16="http://schemas.microsoft.com/office/drawing/2014/main" id="{C40CC0DD-3FB3-4D15-9A07-AA79A65DD6E2}"/>
              </a:ext>
            </a:extLst>
          </p:cNvPr>
          <p:cNvSpPr>
            <a:spLocks noChangeShapeType="1"/>
          </p:cNvSpPr>
          <p:nvPr/>
        </p:nvSpPr>
        <p:spPr bwMode="auto">
          <a:xfrm rot="21593004" flipH="1">
            <a:off x="8518525" y="2641601"/>
            <a:ext cx="838200" cy="944563"/>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59" name="Line 27">
            <a:extLst>
              <a:ext uri="{FF2B5EF4-FFF2-40B4-BE49-F238E27FC236}">
                <a16:creationId xmlns:a16="http://schemas.microsoft.com/office/drawing/2014/main" id="{BA363B2C-55F0-40BB-B30B-7151FD187AB9}"/>
              </a:ext>
            </a:extLst>
          </p:cNvPr>
          <p:cNvSpPr>
            <a:spLocks noChangeShapeType="1"/>
          </p:cNvSpPr>
          <p:nvPr/>
        </p:nvSpPr>
        <p:spPr bwMode="auto">
          <a:xfrm rot="21593004" flipH="1">
            <a:off x="8836025" y="2901950"/>
            <a:ext cx="685800" cy="827088"/>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61" name="Text Box 29">
            <a:extLst>
              <a:ext uri="{FF2B5EF4-FFF2-40B4-BE49-F238E27FC236}">
                <a16:creationId xmlns:a16="http://schemas.microsoft.com/office/drawing/2014/main" id="{A1B45490-3CCA-4A9C-93EB-962FC06830CC}"/>
              </a:ext>
            </a:extLst>
          </p:cNvPr>
          <p:cNvSpPr txBox="1">
            <a:spLocks noChangeArrowheads="1"/>
          </p:cNvSpPr>
          <p:nvPr/>
        </p:nvSpPr>
        <p:spPr bwMode="auto">
          <a:xfrm rot="21593004">
            <a:off x="7467600" y="2364909"/>
            <a:ext cx="11636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a:solidFill>
                  <a:srgbClr val="FF3300"/>
                </a:solidFill>
                <a:ea typeface="华文楷体" panose="02010600040101010101" pitchFamily="2" charset="-122"/>
                <a:cs typeface="Times New Roman" panose="02020603050405020304" pitchFamily="18" charset="0"/>
              </a:rPr>
              <a:t>导体</a:t>
            </a:r>
          </a:p>
        </p:txBody>
      </p:sp>
      <p:sp>
        <p:nvSpPr>
          <p:cNvPr id="18466" name="Text Box 34">
            <a:extLst>
              <a:ext uri="{FF2B5EF4-FFF2-40B4-BE49-F238E27FC236}">
                <a16:creationId xmlns:a16="http://schemas.microsoft.com/office/drawing/2014/main" id="{B43EA3EA-4671-49DC-82E3-74468873261A}"/>
              </a:ext>
            </a:extLst>
          </p:cNvPr>
          <p:cNvSpPr txBox="1">
            <a:spLocks noChangeArrowheads="1"/>
          </p:cNvSpPr>
          <p:nvPr/>
        </p:nvSpPr>
        <p:spPr bwMode="auto">
          <a:xfrm>
            <a:off x="2124998" y="1174554"/>
            <a:ext cx="3886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dirty="0">
                <a:ea typeface="华文楷体" panose="02010600040101010101" pitchFamily="2" charset="-122"/>
                <a:cs typeface="Times New Roman" panose="02020603050405020304" pitchFamily="18" charset="0"/>
              </a:rPr>
              <a:t>导体表面电荷面密度</a:t>
            </a:r>
          </a:p>
        </p:txBody>
      </p:sp>
      <p:sp>
        <p:nvSpPr>
          <p:cNvPr id="18469" name="Text Box 37">
            <a:extLst>
              <a:ext uri="{FF2B5EF4-FFF2-40B4-BE49-F238E27FC236}">
                <a16:creationId xmlns:a16="http://schemas.microsoft.com/office/drawing/2014/main" id="{A51E906F-C134-4C5F-8F95-32C6AF78D23F}"/>
              </a:ext>
            </a:extLst>
          </p:cNvPr>
          <p:cNvSpPr txBox="1">
            <a:spLocks noChangeArrowheads="1"/>
          </p:cNvSpPr>
          <p:nvPr/>
        </p:nvSpPr>
        <p:spPr bwMode="auto">
          <a:xfrm>
            <a:off x="753442" y="2014487"/>
            <a:ext cx="46291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dirty="0">
                <a:ea typeface="华文楷体" panose="02010600040101010101" pitchFamily="2" charset="-122"/>
                <a:cs typeface="Times New Roman" panose="02020603050405020304" pitchFamily="18" charset="0"/>
              </a:rPr>
              <a:t>设 </a:t>
            </a:r>
            <a:r>
              <a:rPr lang="en-US" altLang="zh-CN" sz="2800" dirty="0">
                <a:ea typeface="华文楷体" panose="02010600040101010101" pitchFamily="2" charset="-122"/>
                <a:cs typeface="Times New Roman" panose="02020603050405020304" pitchFamily="18" charset="0"/>
              </a:rPr>
              <a:t>P</a:t>
            </a:r>
            <a:r>
              <a:rPr lang="zh-CN" altLang="en-US" sz="2800" dirty="0">
                <a:ea typeface="华文楷体" panose="02010600040101010101" pitchFamily="2" charset="-122"/>
                <a:cs typeface="Times New Roman" panose="02020603050405020304" pitchFamily="18" charset="0"/>
              </a:rPr>
              <a:t>点紧靠导体外表面</a:t>
            </a:r>
          </a:p>
        </p:txBody>
      </p:sp>
      <p:grpSp>
        <p:nvGrpSpPr>
          <p:cNvPr id="18473" name="Group 41">
            <a:extLst>
              <a:ext uri="{FF2B5EF4-FFF2-40B4-BE49-F238E27FC236}">
                <a16:creationId xmlns:a16="http://schemas.microsoft.com/office/drawing/2014/main" id="{4F7E5ADF-2425-4EE2-B0FE-81AB5EBB6AF3}"/>
              </a:ext>
            </a:extLst>
          </p:cNvPr>
          <p:cNvGrpSpPr>
            <a:grpSpLocks/>
          </p:cNvGrpSpPr>
          <p:nvPr/>
        </p:nvGrpSpPr>
        <p:grpSpPr bwMode="auto">
          <a:xfrm>
            <a:off x="8891589" y="839788"/>
            <a:ext cx="420687" cy="685800"/>
            <a:chOff x="5290" y="384"/>
            <a:chExt cx="265" cy="432"/>
          </a:xfrm>
        </p:grpSpPr>
        <p:sp>
          <p:nvSpPr>
            <p:cNvPr id="8222" name="Oval 39">
              <a:extLst>
                <a:ext uri="{FF2B5EF4-FFF2-40B4-BE49-F238E27FC236}">
                  <a16:creationId xmlns:a16="http://schemas.microsoft.com/office/drawing/2014/main" id="{3250DCDC-A070-480B-B40E-171A0918EFD2}"/>
                </a:ext>
              </a:extLst>
            </p:cNvPr>
            <p:cNvSpPr>
              <a:spLocks noChangeArrowheads="1"/>
            </p:cNvSpPr>
            <p:nvPr/>
          </p:nvSpPr>
          <p:spPr bwMode="auto">
            <a:xfrm>
              <a:off x="5328" y="76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223" name="Object 40">
                  <a:extLst>
                    <a:ext uri="{FF2B5EF4-FFF2-40B4-BE49-F238E27FC236}">
                      <a16:creationId xmlns:a16="http://schemas.microsoft.com/office/drawing/2014/main" id="{CA7D56FC-1309-4335-B5B8-413C7B03E226}"/>
                    </a:ext>
                  </a:extLst>
                </p:cNvPr>
                <p:cNvSpPr txBox="1"/>
                <p:nvPr/>
              </p:nvSpPr>
              <p:spPr bwMode="auto">
                <a:xfrm>
                  <a:off x="5290" y="384"/>
                  <a:ext cx="265" cy="288"/>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𝑃</m:t>
                        </m:r>
                      </m:oMath>
                    </m:oMathPara>
                  </a14:m>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8223" name="Object 40">
                  <a:extLst>
                    <a:ext uri="{FF2B5EF4-FFF2-40B4-BE49-F238E27FC236}">
                      <a16:creationId xmlns:a16="http://schemas.microsoft.com/office/drawing/2014/main" id="{CA7D56FC-1309-4335-B5B8-413C7B03E226}"/>
                    </a:ext>
                  </a:extLst>
                </p:cNvPr>
                <p:cNvSpPr txBox="1">
                  <a:spLocks noRot="1" noChangeAspect="1" noMove="1" noResize="1" noEditPoints="1" noAdjustHandles="1" noChangeArrowheads="1" noChangeShapeType="1" noTextEdit="1"/>
                </p:cNvSpPr>
                <p:nvPr/>
              </p:nvSpPr>
              <p:spPr bwMode="auto">
                <a:xfrm>
                  <a:off x="5290" y="384"/>
                  <a:ext cx="265" cy="288"/>
                </a:xfrm>
                <a:prstGeom prst="rect">
                  <a:avLst/>
                </a:prstGeom>
                <a:blipFill>
                  <a:blip r:embed="rId3"/>
                  <a:stretch>
                    <a:fillRect/>
                  </a:stretch>
                </a:blipFill>
                <a:ln>
                  <a:noFill/>
                </a:ln>
                <a:effectLst/>
              </p:spPr>
              <p:txBody>
                <a:bodyPr/>
                <a:lstStyle/>
                <a:p>
                  <a:r>
                    <a:rPr lang="en-US">
                      <a:noFill/>
                    </a:rPr>
                    <a:t> </a:t>
                  </a:r>
                </a:p>
              </p:txBody>
            </p:sp>
          </mc:Fallback>
        </mc:AlternateContent>
      </p:grpSp>
      <p:sp>
        <p:nvSpPr>
          <p:cNvPr id="18474" name="Oval 42">
            <a:extLst>
              <a:ext uri="{FF2B5EF4-FFF2-40B4-BE49-F238E27FC236}">
                <a16:creationId xmlns:a16="http://schemas.microsoft.com/office/drawing/2014/main" id="{8BFE13C5-E57E-439D-BB18-D2AA3108B0A0}"/>
              </a:ext>
            </a:extLst>
          </p:cNvPr>
          <p:cNvSpPr>
            <a:spLocks noChangeArrowheads="1"/>
          </p:cNvSpPr>
          <p:nvPr/>
        </p:nvSpPr>
        <p:spPr bwMode="auto">
          <a:xfrm rot="19371331">
            <a:off x="8763001" y="957263"/>
            <a:ext cx="288925" cy="1079500"/>
          </a:xfrm>
          <a:prstGeom prst="ellipse">
            <a:avLst/>
          </a:prstGeom>
          <a:noFill/>
          <a:ln w="38100">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a:ea typeface="华文楷体" panose="02010600040101010101" pitchFamily="2" charset="-122"/>
              <a:cs typeface="Times New Roman" panose="02020603050405020304" pitchFamily="18" charset="0"/>
            </a:endParaRPr>
          </a:p>
        </p:txBody>
      </p:sp>
      <p:sp>
        <p:nvSpPr>
          <p:cNvPr id="18475" name="Line 43">
            <a:extLst>
              <a:ext uri="{FF2B5EF4-FFF2-40B4-BE49-F238E27FC236}">
                <a16:creationId xmlns:a16="http://schemas.microsoft.com/office/drawing/2014/main" id="{C6347B35-2E82-44D2-9A78-F4537E6C43E0}"/>
              </a:ext>
            </a:extLst>
          </p:cNvPr>
          <p:cNvSpPr>
            <a:spLocks noChangeShapeType="1"/>
          </p:cNvSpPr>
          <p:nvPr/>
        </p:nvSpPr>
        <p:spPr bwMode="auto">
          <a:xfrm flipH="1">
            <a:off x="8834439" y="1893889"/>
            <a:ext cx="433387" cy="358775"/>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76" name="Line 44">
            <a:extLst>
              <a:ext uri="{FF2B5EF4-FFF2-40B4-BE49-F238E27FC236}">
                <a16:creationId xmlns:a16="http://schemas.microsoft.com/office/drawing/2014/main" id="{0300AC9E-0795-48BC-85BE-2057FA8DE854}"/>
              </a:ext>
            </a:extLst>
          </p:cNvPr>
          <p:cNvSpPr>
            <a:spLocks noChangeShapeType="1"/>
          </p:cNvSpPr>
          <p:nvPr/>
        </p:nvSpPr>
        <p:spPr bwMode="auto">
          <a:xfrm flipH="1">
            <a:off x="8210551" y="1081089"/>
            <a:ext cx="384175" cy="358775"/>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477" name="Oval 45">
            <a:extLst>
              <a:ext uri="{FF2B5EF4-FFF2-40B4-BE49-F238E27FC236}">
                <a16:creationId xmlns:a16="http://schemas.microsoft.com/office/drawing/2014/main" id="{071AE150-C268-450F-90B5-34AA283D4125}"/>
              </a:ext>
            </a:extLst>
          </p:cNvPr>
          <p:cNvSpPr>
            <a:spLocks noChangeArrowheads="1"/>
          </p:cNvSpPr>
          <p:nvPr/>
        </p:nvSpPr>
        <p:spPr bwMode="auto">
          <a:xfrm rot="19371331">
            <a:off x="8382000" y="1323976"/>
            <a:ext cx="363538" cy="1008063"/>
          </a:xfrm>
          <a:prstGeom prst="ellipse">
            <a:avLst/>
          </a:prstGeom>
          <a:noFill/>
          <a:ln w="57150" cap="rnd">
            <a:solidFill>
              <a:srgbClr val="000099"/>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a:ea typeface="华文楷体" panose="02010600040101010101" pitchFamily="2" charset="-122"/>
              <a:cs typeface="Times New Roman" panose="02020603050405020304" pitchFamily="18" charset="0"/>
            </a:endParaRPr>
          </a:p>
        </p:txBody>
      </p:sp>
      <p:grpSp>
        <p:nvGrpSpPr>
          <p:cNvPr id="18501" name="Group 69">
            <a:extLst>
              <a:ext uri="{FF2B5EF4-FFF2-40B4-BE49-F238E27FC236}">
                <a16:creationId xmlns:a16="http://schemas.microsoft.com/office/drawing/2014/main" id="{9FEA4E3C-E385-4EE7-B94D-F15428A02E7D}"/>
              </a:ext>
            </a:extLst>
          </p:cNvPr>
          <p:cNvGrpSpPr>
            <a:grpSpLocks/>
          </p:cNvGrpSpPr>
          <p:nvPr/>
        </p:nvGrpSpPr>
        <p:grpSpPr bwMode="auto">
          <a:xfrm>
            <a:off x="8978900" y="1101725"/>
            <a:ext cx="704850" cy="742950"/>
            <a:chOff x="4416" y="2928"/>
            <a:chExt cx="444" cy="468"/>
          </a:xfrm>
        </p:grpSpPr>
        <p:sp>
          <p:nvSpPr>
            <p:cNvPr id="8220" name="Line 47">
              <a:extLst>
                <a:ext uri="{FF2B5EF4-FFF2-40B4-BE49-F238E27FC236}">
                  <a16:creationId xmlns:a16="http://schemas.microsoft.com/office/drawing/2014/main" id="{D64A36F4-58E2-42C2-9112-6D0F02A83D24}"/>
                </a:ext>
              </a:extLst>
            </p:cNvPr>
            <p:cNvSpPr>
              <a:spLocks noChangeShapeType="1"/>
            </p:cNvSpPr>
            <p:nvPr/>
          </p:nvSpPr>
          <p:spPr bwMode="auto">
            <a:xfrm flipV="1">
              <a:off x="4416" y="2928"/>
              <a:ext cx="240" cy="24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221" name="Object 49">
                  <a:extLst>
                    <a:ext uri="{FF2B5EF4-FFF2-40B4-BE49-F238E27FC236}">
                      <a16:creationId xmlns:a16="http://schemas.microsoft.com/office/drawing/2014/main" id="{546A5F2B-70F8-4549-96B1-596ABD2AD828}"/>
                    </a:ext>
                  </a:extLst>
                </p:cNvPr>
                <p:cNvSpPr txBox="1"/>
                <p:nvPr/>
              </p:nvSpPr>
              <p:spPr bwMode="auto">
                <a:xfrm>
                  <a:off x="4452" y="2988"/>
                  <a:ext cx="408" cy="408"/>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𝑑</m:t>
                        </m:r>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𝑆</m:t>
                            </m:r>
                          </m:e>
                        </m:acc>
                      </m:oMath>
                    </m:oMathPara>
                  </a14:m>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8221" name="Object 49">
                  <a:extLst>
                    <a:ext uri="{FF2B5EF4-FFF2-40B4-BE49-F238E27FC236}">
                      <a16:creationId xmlns:a16="http://schemas.microsoft.com/office/drawing/2014/main" id="{546A5F2B-70F8-4549-96B1-596ABD2AD828}"/>
                    </a:ext>
                  </a:extLst>
                </p:cNvPr>
                <p:cNvSpPr txBox="1">
                  <a:spLocks noRot="1" noChangeAspect="1" noMove="1" noResize="1" noEditPoints="1" noAdjustHandles="1" noChangeArrowheads="1" noChangeShapeType="1" noTextEdit="1"/>
                </p:cNvSpPr>
                <p:nvPr/>
              </p:nvSpPr>
              <p:spPr bwMode="auto">
                <a:xfrm>
                  <a:off x="4452" y="2988"/>
                  <a:ext cx="408" cy="408"/>
                </a:xfrm>
                <a:prstGeom prst="rect">
                  <a:avLst/>
                </a:prstGeom>
                <a:blipFill>
                  <a:blip r:embed="rId4"/>
                  <a:stretch>
                    <a:fillRect t="-13084" r="-29907"/>
                  </a:stretch>
                </a:blipFill>
                <a:ln>
                  <a:noFill/>
                </a:ln>
                <a:effectLst/>
                <a:extLst/>
              </p:spPr>
              <p:txBody>
                <a:bodyPr/>
                <a:lstStyle/>
                <a:p>
                  <a:r>
                    <a:rPr lang="en-US">
                      <a:noFill/>
                    </a:rPr>
                    <a:t> </a:t>
                  </a:r>
                </a:p>
              </p:txBody>
            </p:sp>
          </mc:Fallback>
        </mc:AlternateContent>
      </p:grpSp>
      <p:sp>
        <p:nvSpPr>
          <p:cNvPr id="18499" name="AutoShape 67">
            <a:extLst>
              <a:ext uri="{FF2B5EF4-FFF2-40B4-BE49-F238E27FC236}">
                <a16:creationId xmlns:a16="http://schemas.microsoft.com/office/drawing/2014/main" id="{FF045B90-A7EA-43B4-A356-485055EBFA7E}"/>
              </a:ext>
            </a:extLst>
          </p:cNvPr>
          <p:cNvSpPr>
            <a:spLocks noChangeArrowheads="1"/>
          </p:cNvSpPr>
          <p:nvPr/>
        </p:nvSpPr>
        <p:spPr bwMode="auto">
          <a:xfrm>
            <a:off x="7323138" y="3856038"/>
            <a:ext cx="1752600" cy="533400"/>
          </a:xfrm>
          <a:prstGeom prst="wedgeEllipseCallout">
            <a:avLst>
              <a:gd name="adj1" fmla="val 66394"/>
              <a:gd name="adj2" fmla="val -248810"/>
            </a:avLst>
          </a:prstGeom>
          <a:noFill/>
          <a:ln w="38100">
            <a:solidFill>
              <a:srgbClr val="00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3300"/>
                </a:solidFill>
                <a:ea typeface="华文楷体" panose="02010600040101010101" pitchFamily="2" charset="-122"/>
                <a:cs typeface="Times New Roman" panose="02020603050405020304" pitchFamily="18" charset="0"/>
              </a:rPr>
              <a:t>导体表面</a:t>
            </a:r>
          </a:p>
        </p:txBody>
      </p:sp>
      <p:sp>
        <p:nvSpPr>
          <p:cNvPr id="18502" name="Freeform 70">
            <a:extLst>
              <a:ext uri="{FF2B5EF4-FFF2-40B4-BE49-F238E27FC236}">
                <a16:creationId xmlns:a16="http://schemas.microsoft.com/office/drawing/2014/main" id="{920A6EAC-3A2B-4B93-A7B5-5D6DCAB4616F}"/>
              </a:ext>
            </a:extLst>
          </p:cNvPr>
          <p:cNvSpPr>
            <a:spLocks/>
          </p:cNvSpPr>
          <p:nvPr/>
        </p:nvSpPr>
        <p:spPr bwMode="auto">
          <a:xfrm>
            <a:off x="8259763" y="1101725"/>
            <a:ext cx="1441450" cy="2160588"/>
          </a:xfrm>
          <a:custGeom>
            <a:avLst/>
            <a:gdLst>
              <a:gd name="T0" fmla="*/ 0 w 908"/>
              <a:gd name="T1" fmla="*/ 0 h 1361"/>
              <a:gd name="T2" fmla="*/ 2147483647 w 908"/>
              <a:gd name="T3" fmla="*/ 2147483647 h 1361"/>
              <a:gd name="T4" fmla="*/ 2147483647 w 908"/>
              <a:gd name="T5" fmla="*/ 2147483647 h 1361"/>
              <a:gd name="T6" fmla="*/ 0 60000 65536"/>
              <a:gd name="T7" fmla="*/ 0 60000 65536"/>
              <a:gd name="T8" fmla="*/ 0 60000 65536"/>
            </a:gdLst>
            <a:ahLst/>
            <a:cxnLst>
              <a:cxn ang="T6">
                <a:pos x="T0" y="T1"/>
              </a:cxn>
              <a:cxn ang="T7">
                <a:pos x="T2" y="T3"/>
              </a:cxn>
              <a:cxn ang="T8">
                <a:pos x="T4" y="T5"/>
              </a:cxn>
            </a:cxnLst>
            <a:rect l="0" t="0" r="r" b="b"/>
            <a:pathLst>
              <a:path w="908" h="1361">
                <a:moveTo>
                  <a:pt x="0" y="0"/>
                </a:moveTo>
                <a:cubicBezTo>
                  <a:pt x="197" y="204"/>
                  <a:pt x="394" y="408"/>
                  <a:pt x="545" y="635"/>
                </a:cubicBezTo>
                <a:cubicBezTo>
                  <a:pt x="696" y="862"/>
                  <a:pt x="802" y="1111"/>
                  <a:pt x="908" y="1361"/>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Object 1">
                <a:extLst>
                  <a:ext uri="{FF2B5EF4-FFF2-40B4-BE49-F238E27FC236}">
                    <a16:creationId xmlns:a16="http://schemas.microsoft.com/office/drawing/2014/main" id="{3834E0D3-7B77-4291-A0A9-9DA8B1B9EDC1}"/>
                  </a:ext>
                </a:extLst>
              </p:cNvPr>
              <p:cNvSpPr txBox="1"/>
              <p:nvPr/>
            </p:nvSpPr>
            <p:spPr bwMode="auto">
              <a:xfrm>
                <a:off x="5407944" y="1155611"/>
                <a:ext cx="431800" cy="395287"/>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𝜎</m:t>
                      </m:r>
                    </m:oMath>
                  </m:oMathPara>
                </a14:m>
                <a:endParaRPr 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 name="Object 1">
                <a:extLst>
                  <a:ext uri="{FF2B5EF4-FFF2-40B4-BE49-F238E27FC236}">
                    <a16:creationId xmlns:a16="http://schemas.microsoft.com/office/drawing/2014/main" id="{3834E0D3-7B77-4291-A0A9-9DA8B1B9EDC1}"/>
                  </a:ext>
                </a:extLst>
              </p:cNvPr>
              <p:cNvSpPr txBox="1">
                <a:spLocks noRot="1" noChangeAspect="1" noMove="1" noResize="1" noEditPoints="1" noAdjustHandles="1" noChangeArrowheads="1" noChangeShapeType="1" noTextEdit="1"/>
              </p:cNvSpPr>
              <p:nvPr/>
            </p:nvSpPr>
            <p:spPr bwMode="auto">
              <a:xfrm>
                <a:off x="5407944" y="1155611"/>
                <a:ext cx="431800" cy="395287"/>
              </a:xfrm>
              <a:prstGeom prst="rect">
                <a:avLst/>
              </a:prstGeom>
              <a:blipFill>
                <a:blip r:embed="rId5"/>
                <a:stretch>
                  <a:fillRect/>
                </a:stretch>
              </a:blipFill>
              <a:ln>
                <a:noFill/>
              </a:ln>
            </p:spPr>
            <p:txBody>
              <a:bodyPr/>
              <a:lstStyle/>
              <a:p>
                <a:r>
                  <a:rPr lang="en-US">
                    <a:noFill/>
                  </a:rPr>
                  <a:t> </a:t>
                </a:r>
              </a:p>
            </p:txBody>
          </p:sp>
        </mc:Fallback>
      </mc:AlternateContent>
      <p:sp>
        <p:nvSpPr>
          <p:cNvPr id="5" name="Rectangle 4">
            <a:extLst>
              <a:ext uri="{FF2B5EF4-FFF2-40B4-BE49-F238E27FC236}">
                <a16:creationId xmlns:a16="http://schemas.microsoft.com/office/drawing/2014/main" id="{36139199-B8FE-4B81-A469-E26672366FE6}"/>
              </a:ext>
            </a:extLst>
          </p:cNvPr>
          <p:cNvSpPr>
            <a:spLocks noChangeArrowheads="1"/>
          </p:cNvSpPr>
          <p:nvPr/>
        </p:nvSpPr>
        <p:spPr bwMode="auto">
          <a:xfrm>
            <a:off x="8563769" y="4824412"/>
            <a:ext cx="23391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FF0000"/>
                </a:solidFill>
                <a:ea typeface="华文楷体" panose="02010600040101010101" pitchFamily="2" charset="-122"/>
                <a:cs typeface="Times New Roman" panose="02020603050405020304" pitchFamily="18" charset="0"/>
              </a:rPr>
              <a:t>沿外法线方向</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2ADE81A-080A-4AD8-9855-475A134FCBEF}"/>
                  </a:ext>
                </a:extLst>
              </p:cNvPr>
              <p:cNvSpPr/>
              <p:nvPr/>
            </p:nvSpPr>
            <p:spPr>
              <a:xfrm>
                <a:off x="487374" y="2638920"/>
                <a:ext cx="6096000" cy="3811493"/>
              </a:xfrm>
              <a:prstGeom prst="rect">
                <a:avLst/>
              </a:prstGeom>
            </p:spPr>
            <p:txBody>
              <a:bodyPr>
                <a:spAutoFit/>
              </a:bodyPr>
              <a:lstStyle/>
              <a:p>
                <a:pPr marL="91440" lvl="0" indent="-91440">
                  <a:lnSpc>
                    <a:spcPct val="130000"/>
                  </a:lnSpc>
                  <a:spcBef>
                    <a:spcPts val="600"/>
                  </a:spcBef>
                  <a:spcAft>
                    <a:spcPts val="200"/>
                  </a:spcAft>
                  <a:buClr>
                    <a:srgbClr val="99CB38"/>
                  </a:buClr>
                  <a:buSzPct val="100000"/>
                  <a:buFont typeface="Calibri" panose="020F0502020204030204" pitchFamily="34" charset="0"/>
                  <a:buChar char=" "/>
                  <a:defRPr/>
                </a:pPr>
                <a14:m>
                  <m:oMath xmlns:m="http://schemas.openxmlformats.org/officeDocument/2006/math">
                    <m:sSub>
                      <m:sSubPr>
                        <m:ctrlPr>
                          <a:rPr kumimoji="0" lang="zh-CN" altLang="en-US" sz="2800" i="1" u="none" strike="noStrike" kern="0" cap="none" spc="0" normalizeH="0" baseline="0" noProof="0" smtClean="0">
                            <a:ln>
                              <a:noFill/>
                            </a:ln>
                            <a:solidFill>
                              <a:srgbClr val="000000"/>
                            </a:solidFill>
                            <a:effectLst/>
                            <a:uLnTx/>
                            <a:uFillTx/>
                            <a:latin typeface="Cambria Math" panose="02040503050406030204" pitchFamily="18" charset="0"/>
                          </a:rPr>
                        </m:ctrlPr>
                      </m:sSub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𝛹</m:t>
                        </m:r>
                      </m:e>
                      <m:sub>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𝑒</m:t>
                        </m:r>
                      </m:sub>
                    </m:sSub>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chr m:val="∯"/>
                        <m:supHide m:val="on"/>
                        <m:ctrlPr>
                          <a:rPr lang="en-US" sz="2800" i="1">
                            <a:solidFill>
                              <a:srgbClr val="000000"/>
                            </a:solidFill>
                            <a:latin typeface="Cambria Math" panose="02040503050406030204" pitchFamily="18" charset="0"/>
                          </a:rPr>
                        </m:ctrlPr>
                      </m:naryPr>
                      <m:sub>
                        <m:r>
                          <a:rPr lang="en-US" sz="2800" b="0" i="1">
                            <a:solidFill>
                              <a:srgbClr val="000000"/>
                            </a:solidFill>
                            <a:latin typeface="Cambria Math" panose="02040503050406030204" pitchFamily="18" charset="0"/>
                          </a:rPr>
                          <m:t>𝑆</m:t>
                        </m:r>
                      </m:sub>
                      <m:sup/>
                      <m:e>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𝐸</m:t>
                            </m:r>
                          </m:e>
                        </m:acc>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𝑑</m:t>
                        </m:r>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𝑆</m:t>
                            </m:r>
                          </m:e>
                        </m:acc>
                      </m:e>
                    </m:nary>
                  </m:oMath>
                </a14:m>
                <a:endParaRPr kumimoji="0" lang="en-US" altLang="zh-CN" sz="2800" i="1" u="none" strike="noStrike" kern="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defTabSz="914400" eaLnBrk="1" fontAlgn="auto" latinLnBrk="0" hangingPunct="1">
                  <a:lnSpc>
                    <a:spcPct val="130000"/>
                  </a:lnSpc>
                  <a:spcBef>
                    <a:spcPts val="600"/>
                  </a:spcBef>
                  <a:spcAft>
                    <a:spcPts val="200"/>
                  </a:spcAft>
                  <a:buClr>
                    <a:srgbClr val="99CB38"/>
                  </a:buClr>
                  <a:buSzPct val="100000"/>
                  <a:buFontTx/>
                  <a:buNone/>
                  <a:tabLst/>
                  <a:defRPr/>
                </a:pPr>
                <a14:m>
                  <m:oMathPara xmlns:m="http://schemas.openxmlformats.org/officeDocument/2006/math">
                    <m:oMathParaPr>
                      <m:jc m:val="centerGroup"/>
                    </m:oMathParaPr>
                    <m:oMath xmlns:m="http://schemas.openxmlformats.org/officeDocument/2006/math">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supHide m:val="on"/>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naryPr>
                        <m:sub>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en-US" altLang="zh-CN" sz="2800" b="0" i="1" u="none" strike="noStrike" kern="0" cap="none" spc="0" normalizeH="0" baseline="0" noProof="0" smtClean="0">
                              <a:ln>
                                <a:noFill/>
                              </a:ln>
                              <a:solidFill>
                                <a:srgbClr val="000000"/>
                              </a:solidFill>
                              <a:effectLst/>
                              <a:uLnTx/>
                              <a:uFillTx/>
                              <a:latin typeface="Cambria Math" panose="02040503050406030204" pitchFamily="18" charset="0"/>
                            </a:rPr>
                            <m:t>𝑠</m:t>
                          </m:r>
                        </m:sub>
                        <m:sup/>
                        <m:e>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𝐸</m:t>
                              </m:r>
                            </m:e>
                          </m:acc>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𝑑</m:t>
                          </m:r>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e>
                          </m:acc>
                        </m:e>
                      </m:nary>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supHide m:val="on"/>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naryPr>
                        <m:sub>
                          <m:sSup>
                            <m:sSupPr>
                              <m:ctrlPr>
                                <a:rPr kumimoji="0" lang="en-US" altLang="zh-CN" sz="2800" i="1" u="none" strike="noStrike" kern="0" cap="none" spc="0" normalizeH="0" baseline="0" noProof="0" smtClean="0">
                                  <a:ln>
                                    <a:noFill/>
                                  </a:ln>
                                  <a:solidFill>
                                    <a:srgbClr val="000000"/>
                                  </a:solidFill>
                                  <a:effectLst/>
                                  <a:uLnTx/>
                                  <a:uFillTx/>
                                  <a:latin typeface="Cambria Math" panose="02040503050406030204" pitchFamily="18" charset="0"/>
                                </a:rPr>
                              </m:ctrlPr>
                            </m:sSupPr>
                            <m:e>
                              <m:r>
                                <a:rPr kumimoji="0" lang="en-US" altLang="zh-CN" sz="2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r>
                                <a:rPr kumimoji="0" lang="en-US" altLang="zh-CN" sz="2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𝑠</m:t>
                              </m:r>
                            </m:e>
                            <m:sup>
                              <m:r>
                                <a:rPr kumimoji="0" lang="en-US" altLang="zh-CN" sz="2800" b="0" i="1" u="none" strike="noStrike" kern="0" cap="none" spc="0" normalizeH="0" baseline="0" noProof="0" smtClean="0">
                                  <a:ln>
                                    <a:noFill/>
                                  </a:ln>
                                  <a:solidFill>
                                    <a:srgbClr val="000000"/>
                                  </a:solidFill>
                                  <a:effectLst/>
                                  <a:uLnTx/>
                                  <a:uFillTx/>
                                  <a:latin typeface="Cambria Math" panose="02040503050406030204" pitchFamily="18" charset="0"/>
                                </a:rPr>
                                <m:t>′</m:t>
                              </m:r>
                            </m:sup>
                          </m:sSup>
                        </m:sub>
                        <m:sup/>
                        <m:e>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𝐸</m:t>
                              </m:r>
                            </m:e>
                          </m:acc>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𝑑</m:t>
                          </m:r>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e>
                          </m:acc>
                        </m:e>
                      </m:nary>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supHide m:val="on"/>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naryPr>
                        <m:sub>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侧</m:t>
                          </m:r>
                        </m:sub>
                        <m:sup/>
                        <m:e>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𝐸</m:t>
                              </m:r>
                            </m:e>
                          </m:acc>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𝑑</m:t>
                          </m:r>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e>
                          </m:acc>
                        </m:e>
                      </m:nary>
                    </m:oMath>
                    <m:oMath xmlns:m="http://schemas.openxmlformats.org/officeDocument/2006/math">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supHide m:val="on"/>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naryPr>
                        <m:sub>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m:t>
                          </m:r>
                          <m:r>
                            <a:rPr kumimoji="0" lang="en-US" altLang="zh-CN" sz="2800" b="0" i="1" u="none" strike="noStrike" kern="0" cap="none" spc="0" normalizeH="0" baseline="0" noProof="0">
                              <a:ln>
                                <a:noFill/>
                              </a:ln>
                              <a:solidFill>
                                <a:srgbClr val="000000"/>
                              </a:solidFill>
                              <a:effectLst/>
                              <a:uLnTx/>
                              <a:uFillTx/>
                              <a:latin typeface="Cambria Math" panose="02040503050406030204" pitchFamily="18" charset="0"/>
                            </a:rPr>
                            <m:t>𝑠</m:t>
                          </m:r>
                        </m:sub>
                        <m:sup/>
                        <m:e>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𝐸</m:t>
                              </m:r>
                            </m:e>
                          </m:acc>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𝑑</m:t>
                          </m:r>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e>
                          </m:acc>
                        </m:e>
                      </m:nary>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0</m:t>
                      </m:r>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0</m:t>
                      </m:r>
                    </m:oMath>
                    <m:oMath xmlns:m="http://schemas.openxmlformats.org/officeDocument/2006/math">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𝐸</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𝛥</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oMath>
                  </m:oMathPara>
                </a14:m>
                <a:endParaRPr kumimoji="0" lang="en-US" sz="2800" i="0" u="none" strike="noStrike" kern="0" cap="none" spc="0" normalizeH="0" baseline="0" noProof="0" dirty="0">
                  <a:ln>
                    <a:noFill/>
                  </a:ln>
                  <a:solidFill>
                    <a:sysClr val="windowText" lastClr="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82ADE81A-080A-4AD8-9855-475A134FCBEF}"/>
                  </a:ext>
                </a:extLst>
              </p:cNvPr>
              <p:cNvSpPr>
                <a:spLocks noRot="1" noChangeAspect="1" noMove="1" noResize="1" noEditPoints="1" noAdjustHandles="1" noChangeArrowheads="1" noChangeShapeType="1" noTextEdit="1"/>
              </p:cNvSpPr>
              <p:nvPr/>
            </p:nvSpPr>
            <p:spPr>
              <a:xfrm>
                <a:off x="487374" y="2638920"/>
                <a:ext cx="6096000" cy="3811493"/>
              </a:xfrm>
              <a:prstGeom prst="rect">
                <a:avLst/>
              </a:prstGeom>
              <a:blipFill>
                <a:blip r:embed="rId6"/>
                <a:stretch>
                  <a:fillRect/>
                </a:stretch>
              </a:blipFill>
            </p:spPr>
            <p:txBody>
              <a:bodyPr/>
              <a:lstStyle/>
              <a:p>
                <a:r>
                  <a:rPr lang="zh-CN" altLang="en-US">
                    <a:noFill/>
                  </a:rPr>
                  <a:t> </a:t>
                </a:r>
              </a:p>
            </p:txBody>
          </p:sp>
        </mc:Fallback>
      </mc:AlternateContent>
      <p:sp>
        <p:nvSpPr>
          <p:cNvPr id="42" name="Rectangle 4">
            <a:extLst>
              <a:ext uri="{FF2B5EF4-FFF2-40B4-BE49-F238E27FC236}">
                <a16:creationId xmlns:a16="http://schemas.microsoft.com/office/drawing/2014/main" id="{48D169E3-4DBA-447A-846C-987CB45D547C}"/>
              </a:ext>
            </a:extLst>
          </p:cNvPr>
          <p:cNvSpPr>
            <a:spLocks noChangeArrowheads="1"/>
          </p:cNvSpPr>
          <p:nvPr/>
        </p:nvSpPr>
        <p:spPr bwMode="auto">
          <a:xfrm>
            <a:off x="8058777" y="5607804"/>
            <a:ext cx="315657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FF0000"/>
                </a:solidFill>
                <a:ea typeface="华文楷体" panose="02010600040101010101" pitchFamily="2" charset="-122"/>
                <a:cs typeface="Times New Roman" panose="02020603050405020304" pitchFamily="18" charset="0"/>
              </a:rPr>
              <a:t>电场强度与表面电荷密度成正比</a:t>
            </a:r>
          </a:p>
        </p:txBody>
      </p:sp>
      <mc:AlternateContent xmlns:mc="http://schemas.openxmlformats.org/markup-compatibility/2006" xmlns:a14="http://schemas.microsoft.com/office/drawing/2010/main">
        <mc:Choice Requires="a14">
          <p:sp>
            <p:nvSpPr>
              <p:cNvPr id="30" name="Object 18">
                <a:extLst>
                  <a:ext uri="{FF2B5EF4-FFF2-40B4-BE49-F238E27FC236}">
                    <a16:creationId xmlns:a16="http://schemas.microsoft.com/office/drawing/2014/main" id="{591F3306-085E-4650-A979-321F23EA3523}"/>
                  </a:ext>
                </a:extLst>
              </p:cNvPr>
              <p:cNvSpPr txBox="1"/>
              <p:nvPr/>
            </p:nvSpPr>
            <p:spPr bwMode="auto">
              <a:xfrm>
                <a:off x="1903721" y="5571215"/>
                <a:ext cx="2833709" cy="1219200"/>
              </a:xfrm>
              <a:prstGeom prst="rect">
                <a:avLst/>
              </a:prstGeom>
              <a:noFill/>
              <a:ln w="9525">
                <a:noFill/>
                <a:miter lim="800000"/>
                <a:headEnd/>
                <a:tailEnd/>
              </a:ln>
              <a:effectLst/>
            </p:spPr>
            <p:txBody>
              <a:bodyPr>
                <a:normAutofit/>
              </a:bodyPr>
              <a:lstStyle/>
              <a:p>
                <a:pPr/>
                <a14:m>
                  <m:oMathPara xmlns:m="http://schemas.openxmlformats.org/officeDocument/2006/math">
                    <m:oMathParaPr>
                      <m:jc m:val="centerGroup"/>
                    </m:oMathParaPr>
                    <m:oMath xmlns:m="http://schemas.openxmlformats.org/officeDocument/2006/math">
                      <m:r>
                        <a:rPr lang="en-US" altLang="zh-CN" sz="2800" b="0" i="1" kern="0" smtClean="0">
                          <a:solidFill>
                            <a:srgbClr val="000000"/>
                          </a:solidFill>
                          <a:latin typeface="Cambria Math" panose="02040503050406030204" pitchFamily="18" charset="0"/>
                        </a:rPr>
                        <m:t>=</m:t>
                      </m:r>
                      <m:r>
                        <a:rPr lang="zh-CN" altLang="en-US" sz="2800" b="0" i="1" kern="0">
                          <a:solidFill>
                            <a:srgbClr val="000000"/>
                          </a:solidFill>
                          <a:latin typeface="Cambria Math" panose="02040503050406030204" pitchFamily="18" charset="0"/>
                        </a:rPr>
                        <m:t>𝐸</m:t>
                      </m:r>
                      <m:r>
                        <a:rPr lang="zh-CN" altLang="en-US" sz="2800" i="1" kern="0">
                          <a:solidFill>
                            <a:srgbClr val="000000"/>
                          </a:solidFill>
                          <a:latin typeface="Cambria Math" panose="02040503050406030204" pitchFamily="18" charset="0"/>
                        </a:rPr>
                        <m:t>𝛥</m:t>
                      </m:r>
                      <m:r>
                        <a:rPr lang="zh-CN" altLang="en-US" sz="2800" i="1" kern="0">
                          <a:solidFill>
                            <a:srgbClr val="000000"/>
                          </a:solidFill>
                          <a:latin typeface="Cambria Math" panose="02040503050406030204" pitchFamily="18" charset="0"/>
                        </a:rPr>
                        <m:t>𝑆</m:t>
                      </m:r>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𝜎</m:t>
                          </m:r>
                          <m:r>
                            <a:rPr lang="zh-CN" altLang="en-US" sz="2800" i="1" kern="0">
                              <a:solidFill>
                                <a:srgbClr val="000000"/>
                              </a:solidFill>
                              <a:latin typeface="Cambria Math" panose="02040503050406030204" pitchFamily="18" charset="0"/>
                            </a:rPr>
                            <m:t>𝛥</m:t>
                          </m:r>
                          <m:r>
                            <a:rPr lang="zh-CN" altLang="en-US" sz="2800" i="1" kern="0">
                              <a:solidFill>
                                <a:srgbClr val="000000"/>
                              </a:solidFill>
                              <a:latin typeface="Cambria Math" panose="02040503050406030204" pitchFamily="18" charset="0"/>
                            </a:rPr>
                            <m:t>𝑆</m:t>
                          </m:r>
                        </m:num>
                        <m:den>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𝜀</m:t>
                              </m:r>
                            </m:e>
                            <m:sub>
                              <m:r>
                                <a:rPr lang="en-US" sz="2800" b="0" i="1">
                                  <a:solidFill>
                                    <a:srgbClr val="000000"/>
                                  </a:solidFill>
                                  <a:latin typeface="Cambria Math" panose="02040503050406030204" pitchFamily="18" charset="0"/>
                                </a:rPr>
                                <m:t>0</m:t>
                              </m:r>
                            </m:sub>
                          </m:sSub>
                        </m:den>
                      </m:f>
                    </m:oMath>
                  </m:oMathPara>
                </a14:m>
                <a:endParaRPr 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0" name="Object 18">
                <a:extLst>
                  <a:ext uri="{FF2B5EF4-FFF2-40B4-BE49-F238E27FC236}">
                    <a16:creationId xmlns:a16="http://schemas.microsoft.com/office/drawing/2014/main" id="{591F3306-085E-4650-A979-321F23EA3523}"/>
                  </a:ext>
                </a:extLst>
              </p:cNvPr>
              <p:cNvSpPr txBox="1">
                <a:spLocks noRot="1" noChangeAspect="1" noMove="1" noResize="1" noEditPoints="1" noAdjustHandles="1" noChangeArrowheads="1" noChangeShapeType="1" noTextEdit="1"/>
              </p:cNvSpPr>
              <p:nvPr/>
            </p:nvSpPr>
            <p:spPr bwMode="auto">
              <a:xfrm>
                <a:off x="1903721" y="5571215"/>
                <a:ext cx="2833709" cy="1219200"/>
              </a:xfrm>
              <a:prstGeom prst="rect">
                <a:avLst/>
              </a:prstGeom>
              <a:blipFill>
                <a:blip r:embed="rId7"/>
                <a:stretch>
                  <a:fillRect/>
                </a:stretch>
              </a:blipFill>
              <a:ln w="9525">
                <a:noFill/>
                <a:miter lim="800000"/>
                <a:headEnd/>
                <a:tailEnd/>
              </a:ln>
              <a:effectLst/>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6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8469">
                                            <p:txEl>
                                              <p:pRg st="0" end="0"/>
                                            </p:txEl>
                                          </p:spTgt>
                                        </p:tgtEl>
                                        <p:attrNameLst>
                                          <p:attrName>style.visibility</p:attrName>
                                        </p:attrNameLst>
                                      </p:cBhvr>
                                      <p:to>
                                        <p:strVal val="visible"/>
                                      </p:to>
                                    </p:set>
                                    <p:animEffect transition="in" filter="blinds(horizontal)">
                                      <p:cBhvr>
                                        <p:cTn id="13" dur="500"/>
                                        <p:tgtEl>
                                          <p:spTgt spid="18469">
                                            <p:txEl>
                                              <p:pRg st="0" end="0"/>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8453"/>
                                        </p:tgtEl>
                                        <p:attrNameLst>
                                          <p:attrName>style.visibility</p:attrName>
                                        </p:attrNameLst>
                                      </p:cBhvr>
                                      <p:to>
                                        <p:strVal val="visible"/>
                                      </p:to>
                                    </p:set>
                                    <p:animEffect transition="in" filter="wipe(down)">
                                      <p:cBhvr>
                                        <p:cTn id="16" dur="500"/>
                                        <p:tgtEl>
                                          <p:spTgt spid="18453"/>
                                        </p:tgtEl>
                                      </p:cBhvr>
                                    </p:animEffect>
                                  </p:childTnLst>
                                </p:cTn>
                              </p:par>
                              <p:par>
                                <p:cTn id="17" presetID="22" presetClass="entr" presetSubtype="4" fill="hold" nodeType="withEffect">
                                  <p:stCondLst>
                                    <p:cond delay="0"/>
                                  </p:stCondLst>
                                  <p:childTnLst>
                                    <p:set>
                                      <p:cBhvr>
                                        <p:cTn id="18" dur="1" fill="hold">
                                          <p:stCondLst>
                                            <p:cond delay="0"/>
                                          </p:stCondLst>
                                        </p:cTn>
                                        <p:tgtEl>
                                          <p:spTgt spid="18454"/>
                                        </p:tgtEl>
                                        <p:attrNameLst>
                                          <p:attrName>style.visibility</p:attrName>
                                        </p:attrNameLst>
                                      </p:cBhvr>
                                      <p:to>
                                        <p:strVal val="visible"/>
                                      </p:to>
                                    </p:set>
                                    <p:animEffect transition="in" filter="wipe(down)">
                                      <p:cBhvr>
                                        <p:cTn id="19" dur="500"/>
                                        <p:tgtEl>
                                          <p:spTgt spid="18454"/>
                                        </p:tgtEl>
                                      </p:cBhvr>
                                    </p:animEffect>
                                  </p:childTnLst>
                                </p:cTn>
                              </p:par>
                              <p:par>
                                <p:cTn id="20" presetID="22" presetClass="entr" presetSubtype="4" fill="hold" nodeType="withEffect">
                                  <p:stCondLst>
                                    <p:cond delay="0"/>
                                  </p:stCondLst>
                                  <p:childTnLst>
                                    <p:set>
                                      <p:cBhvr>
                                        <p:cTn id="21" dur="1" fill="hold">
                                          <p:stCondLst>
                                            <p:cond delay="0"/>
                                          </p:stCondLst>
                                        </p:cTn>
                                        <p:tgtEl>
                                          <p:spTgt spid="18455"/>
                                        </p:tgtEl>
                                        <p:attrNameLst>
                                          <p:attrName>style.visibility</p:attrName>
                                        </p:attrNameLst>
                                      </p:cBhvr>
                                      <p:to>
                                        <p:strVal val="visible"/>
                                      </p:to>
                                    </p:set>
                                    <p:animEffect transition="in" filter="wipe(down)">
                                      <p:cBhvr>
                                        <p:cTn id="22" dur="500"/>
                                        <p:tgtEl>
                                          <p:spTgt spid="18455"/>
                                        </p:tgtEl>
                                      </p:cBhvr>
                                    </p:animEffect>
                                  </p:childTnLst>
                                </p:cTn>
                              </p:par>
                              <p:par>
                                <p:cTn id="23" presetID="22" presetClass="entr" presetSubtype="4" fill="hold" nodeType="withEffect">
                                  <p:stCondLst>
                                    <p:cond delay="0"/>
                                  </p:stCondLst>
                                  <p:childTnLst>
                                    <p:set>
                                      <p:cBhvr>
                                        <p:cTn id="24" dur="1" fill="hold">
                                          <p:stCondLst>
                                            <p:cond delay="0"/>
                                          </p:stCondLst>
                                        </p:cTn>
                                        <p:tgtEl>
                                          <p:spTgt spid="18456"/>
                                        </p:tgtEl>
                                        <p:attrNameLst>
                                          <p:attrName>style.visibility</p:attrName>
                                        </p:attrNameLst>
                                      </p:cBhvr>
                                      <p:to>
                                        <p:strVal val="visible"/>
                                      </p:to>
                                    </p:set>
                                    <p:animEffect transition="in" filter="wipe(down)">
                                      <p:cBhvr>
                                        <p:cTn id="25" dur="500"/>
                                        <p:tgtEl>
                                          <p:spTgt spid="18456"/>
                                        </p:tgtEl>
                                      </p:cBhvr>
                                    </p:animEffect>
                                  </p:childTnLst>
                                </p:cTn>
                              </p:par>
                              <p:par>
                                <p:cTn id="26" presetID="22" presetClass="entr" presetSubtype="4" fill="hold" nodeType="withEffect">
                                  <p:stCondLst>
                                    <p:cond delay="0"/>
                                  </p:stCondLst>
                                  <p:childTnLst>
                                    <p:set>
                                      <p:cBhvr>
                                        <p:cTn id="27" dur="1" fill="hold">
                                          <p:stCondLst>
                                            <p:cond delay="0"/>
                                          </p:stCondLst>
                                        </p:cTn>
                                        <p:tgtEl>
                                          <p:spTgt spid="18457"/>
                                        </p:tgtEl>
                                        <p:attrNameLst>
                                          <p:attrName>style.visibility</p:attrName>
                                        </p:attrNameLst>
                                      </p:cBhvr>
                                      <p:to>
                                        <p:strVal val="visible"/>
                                      </p:to>
                                    </p:set>
                                    <p:animEffect transition="in" filter="wipe(down)">
                                      <p:cBhvr>
                                        <p:cTn id="28" dur="500"/>
                                        <p:tgtEl>
                                          <p:spTgt spid="18457"/>
                                        </p:tgtEl>
                                      </p:cBhvr>
                                    </p:animEffect>
                                  </p:childTnLst>
                                </p:cTn>
                              </p:par>
                              <p:par>
                                <p:cTn id="29" presetID="22" presetClass="entr" presetSubtype="4" fill="hold" nodeType="withEffect">
                                  <p:stCondLst>
                                    <p:cond delay="0"/>
                                  </p:stCondLst>
                                  <p:childTnLst>
                                    <p:set>
                                      <p:cBhvr>
                                        <p:cTn id="30" dur="1" fill="hold">
                                          <p:stCondLst>
                                            <p:cond delay="0"/>
                                          </p:stCondLst>
                                        </p:cTn>
                                        <p:tgtEl>
                                          <p:spTgt spid="18458"/>
                                        </p:tgtEl>
                                        <p:attrNameLst>
                                          <p:attrName>style.visibility</p:attrName>
                                        </p:attrNameLst>
                                      </p:cBhvr>
                                      <p:to>
                                        <p:strVal val="visible"/>
                                      </p:to>
                                    </p:set>
                                    <p:animEffect transition="in" filter="wipe(down)">
                                      <p:cBhvr>
                                        <p:cTn id="31" dur="500"/>
                                        <p:tgtEl>
                                          <p:spTgt spid="18458"/>
                                        </p:tgtEl>
                                      </p:cBhvr>
                                    </p:animEffect>
                                  </p:childTnLst>
                                </p:cTn>
                              </p:par>
                              <p:par>
                                <p:cTn id="32" presetID="22" presetClass="entr" presetSubtype="4" fill="hold" nodeType="withEffect">
                                  <p:stCondLst>
                                    <p:cond delay="0"/>
                                  </p:stCondLst>
                                  <p:childTnLst>
                                    <p:set>
                                      <p:cBhvr>
                                        <p:cTn id="33" dur="1" fill="hold">
                                          <p:stCondLst>
                                            <p:cond delay="0"/>
                                          </p:stCondLst>
                                        </p:cTn>
                                        <p:tgtEl>
                                          <p:spTgt spid="18459"/>
                                        </p:tgtEl>
                                        <p:attrNameLst>
                                          <p:attrName>style.visibility</p:attrName>
                                        </p:attrNameLst>
                                      </p:cBhvr>
                                      <p:to>
                                        <p:strVal val="visible"/>
                                      </p:to>
                                    </p:set>
                                    <p:animEffect transition="in" filter="wipe(down)">
                                      <p:cBhvr>
                                        <p:cTn id="34" dur="500"/>
                                        <p:tgtEl>
                                          <p:spTgt spid="18459"/>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8461"/>
                                        </p:tgtEl>
                                        <p:attrNameLst>
                                          <p:attrName>style.visibility</p:attrName>
                                        </p:attrNameLst>
                                      </p:cBhvr>
                                      <p:to>
                                        <p:strVal val="visible"/>
                                      </p:to>
                                    </p:set>
                                    <p:animEffect transition="in" filter="wipe(down)">
                                      <p:cBhvr>
                                        <p:cTn id="37" dur="500"/>
                                        <p:tgtEl>
                                          <p:spTgt spid="18461"/>
                                        </p:tgtEl>
                                      </p:cBhvr>
                                    </p:animEffect>
                                  </p:childTnLst>
                                </p:cTn>
                              </p:par>
                              <p:par>
                                <p:cTn id="38" presetID="22" presetClass="entr" presetSubtype="4" fill="hold" nodeType="withEffect">
                                  <p:stCondLst>
                                    <p:cond delay="0"/>
                                  </p:stCondLst>
                                  <p:childTnLst>
                                    <p:set>
                                      <p:cBhvr>
                                        <p:cTn id="39" dur="1" fill="hold">
                                          <p:stCondLst>
                                            <p:cond delay="0"/>
                                          </p:stCondLst>
                                        </p:cTn>
                                        <p:tgtEl>
                                          <p:spTgt spid="18502"/>
                                        </p:tgtEl>
                                        <p:attrNameLst>
                                          <p:attrName>style.visibility</p:attrName>
                                        </p:attrNameLst>
                                      </p:cBhvr>
                                      <p:to>
                                        <p:strVal val="visible"/>
                                      </p:to>
                                    </p:set>
                                    <p:animEffect transition="in" filter="wipe(down)">
                                      <p:cBhvr>
                                        <p:cTn id="40" dur="500"/>
                                        <p:tgtEl>
                                          <p:spTgt spid="18502"/>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8499"/>
                                        </p:tgtEl>
                                        <p:attrNameLst>
                                          <p:attrName>style.visibility</p:attrName>
                                        </p:attrNameLst>
                                      </p:cBhvr>
                                      <p:to>
                                        <p:strVal val="visible"/>
                                      </p:to>
                                    </p:set>
                                    <p:animEffect transition="in" filter="wipe(down)">
                                      <p:cBhvr>
                                        <p:cTn id="43" dur="500"/>
                                        <p:tgtEl>
                                          <p:spTgt spid="18499"/>
                                        </p:tgtEl>
                                      </p:cBhvr>
                                    </p:animEffect>
                                  </p:childTnLst>
                                </p:cTn>
                              </p:par>
                              <p:par>
                                <p:cTn id="44" presetID="3" presetClass="entr" presetSubtype="5" fill="hold" nodeType="withEffect">
                                  <p:stCondLst>
                                    <p:cond delay="0"/>
                                  </p:stCondLst>
                                  <p:childTnLst>
                                    <p:set>
                                      <p:cBhvr>
                                        <p:cTn id="45" dur="1" fill="hold">
                                          <p:stCondLst>
                                            <p:cond delay="0"/>
                                          </p:stCondLst>
                                        </p:cTn>
                                        <p:tgtEl>
                                          <p:spTgt spid="18473"/>
                                        </p:tgtEl>
                                        <p:attrNameLst>
                                          <p:attrName>style.visibility</p:attrName>
                                        </p:attrNameLst>
                                      </p:cBhvr>
                                      <p:to>
                                        <p:strVal val="visible"/>
                                      </p:to>
                                    </p:set>
                                    <p:animEffect transition="in" filter="blinds(vertical)">
                                      <p:cBhvr>
                                        <p:cTn id="46" dur="500"/>
                                        <p:tgtEl>
                                          <p:spTgt spid="1847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8477"/>
                                        </p:tgtEl>
                                        <p:attrNameLst>
                                          <p:attrName>style.visibility</p:attrName>
                                        </p:attrNameLst>
                                      </p:cBhvr>
                                      <p:to>
                                        <p:strVal val="visible"/>
                                      </p:to>
                                    </p:set>
                                    <p:animEffect transition="in" filter="wipe(down)">
                                      <p:cBhvr>
                                        <p:cTn id="51" dur="500"/>
                                        <p:tgtEl>
                                          <p:spTgt spid="18477"/>
                                        </p:tgtEl>
                                      </p:cBhvr>
                                    </p:animEffect>
                                  </p:childTnLst>
                                </p:cTn>
                              </p:par>
                              <p:par>
                                <p:cTn id="52" presetID="22" presetClass="entr" presetSubtype="4" fill="hold" nodeType="withEffect">
                                  <p:stCondLst>
                                    <p:cond delay="0"/>
                                  </p:stCondLst>
                                  <p:childTnLst>
                                    <p:set>
                                      <p:cBhvr>
                                        <p:cTn id="53" dur="1" fill="hold">
                                          <p:stCondLst>
                                            <p:cond delay="0"/>
                                          </p:stCondLst>
                                        </p:cTn>
                                        <p:tgtEl>
                                          <p:spTgt spid="18475"/>
                                        </p:tgtEl>
                                        <p:attrNameLst>
                                          <p:attrName>style.visibility</p:attrName>
                                        </p:attrNameLst>
                                      </p:cBhvr>
                                      <p:to>
                                        <p:strVal val="visible"/>
                                      </p:to>
                                    </p:set>
                                    <p:animEffect transition="in" filter="wipe(down)">
                                      <p:cBhvr>
                                        <p:cTn id="54" dur="500"/>
                                        <p:tgtEl>
                                          <p:spTgt spid="18475"/>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18474"/>
                                        </p:tgtEl>
                                        <p:attrNameLst>
                                          <p:attrName>style.visibility</p:attrName>
                                        </p:attrNameLst>
                                      </p:cBhvr>
                                      <p:to>
                                        <p:strVal val="visible"/>
                                      </p:to>
                                    </p:set>
                                    <p:animEffect transition="in" filter="wipe(down)">
                                      <p:cBhvr>
                                        <p:cTn id="57" dur="500"/>
                                        <p:tgtEl>
                                          <p:spTgt spid="18474"/>
                                        </p:tgtEl>
                                      </p:cBhvr>
                                    </p:animEffect>
                                  </p:childTnLst>
                                </p:cTn>
                              </p:par>
                              <p:par>
                                <p:cTn id="58" presetID="22" presetClass="entr" presetSubtype="4" fill="hold" nodeType="withEffect">
                                  <p:stCondLst>
                                    <p:cond delay="0"/>
                                  </p:stCondLst>
                                  <p:childTnLst>
                                    <p:set>
                                      <p:cBhvr>
                                        <p:cTn id="59" dur="1" fill="hold">
                                          <p:stCondLst>
                                            <p:cond delay="0"/>
                                          </p:stCondLst>
                                        </p:cTn>
                                        <p:tgtEl>
                                          <p:spTgt spid="18476"/>
                                        </p:tgtEl>
                                        <p:attrNameLst>
                                          <p:attrName>style.visibility</p:attrName>
                                        </p:attrNameLst>
                                      </p:cBhvr>
                                      <p:to>
                                        <p:strVal val="visible"/>
                                      </p:to>
                                    </p:set>
                                    <p:animEffect transition="in" filter="wipe(down)">
                                      <p:cBhvr>
                                        <p:cTn id="60" dur="500"/>
                                        <p:tgtEl>
                                          <p:spTgt spid="18476"/>
                                        </p:tgtEl>
                                      </p:cBhvr>
                                    </p:animEffect>
                                  </p:childTnLst>
                                </p:cTn>
                              </p:par>
                              <p:par>
                                <p:cTn id="61" presetID="22" presetClass="entr" presetSubtype="4" fill="hold" nodeType="withEffect">
                                  <p:stCondLst>
                                    <p:cond delay="0"/>
                                  </p:stCondLst>
                                  <p:childTnLst>
                                    <p:set>
                                      <p:cBhvr>
                                        <p:cTn id="62" dur="1" fill="hold">
                                          <p:stCondLst>
                                            <p:cond delay="0"/>
                                          </p:stCondLst>
                                        </p:cTn>
                                        <p:tgtEl>
                                          <p:spTgt spid="18501"/>
                                        </p:tgtEl>
                                        <p:attrNameLst>
                                          <p:attrName>style.visibility</p:attrName>
                                        </p:attrNameLst>
                                      </p:cBhvr>
                                      <p:to>
                                        <p:strVal val="visible"/>
                                      </p:to>
                                    </p:set>
                                    <p:animEffect transition="in" filter="wipe(down)">
                                      <p:cBhvr>
                                        <p:cTn id="63" dur="500"/>
                                        <p:tgtEl>
                                          <p:spTgt spid="18501"/>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30"/>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18450"/>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5"/>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50" grpId="0"/>
      <p:bldP spid="18461" grpId="0"/>
      <p:bldP spid="18466" grpId="0"/>
      <p:bldP spid="18469" grpId="0" build="p" autoUpdateAnimBg="0"/>
      <p:bldP spid="18474" grpId="0" animBg="1"/>
      <p:bldP spid="18477" grpId="0" animBg="1"/>
      <p:bldP spid="18499" grpId="0" animBg="1"/>
      <p:bldP spid="2" grpId="0"/>
      <p:bldP spid="5" grpId="0"/>
      <p:bldP spid="42" grpId="0"/>
      <p:bldP spid="3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a:extLst>
              <a:ext uri="{FF2B5EF4-FFF2-40B4-BE49-F238E27FC236}">
                <a16:creationId xmlns:a16="http://schemas.microsoft.com/office/drawing/2014/main" id="{61B92B29-4940-408A-A313-C95EDAC75C95}"/>
              </a:ext>
            </a:extLst>
          </p:cNvPr>
          <p:cNvSpPr txBox="1">
            <a:spLocks noChangeArrowheads="1"/>
          </p:cNvSpPr>
          <p:nvPr/>
        </p:nvSpPr>
        <p:spPr bwMode="auto">
          <a:xfrm>
            <a:off x="684916" y="404258"/>
            <a:ext cx="50203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lgn="l" eaLnBrk="1" hangingPunct="1">
              <a:spcBef>
                <a:spcPct val="50000"/>
              </a:spcBef>
              <a:buFont typeface="Wingdings" panose="05000000000000000000" pitchFamily="2" charset="2"/>
              <a:buChar char="q"/>
            </a:pPr>
            <a:r>
              <a:rPr lang="zh-CN" altLang="en-US" sz="3200" b="1" dirty="0">
                <a:solidFill>
                  <a:srgbClr val="0066FF"/>
                </a:solidFill>
                <a:ea typeface="华文楷体" panose="02010600040101010101" pitchFamily="2" charset="-122"/>
                <a:cs typeface="Times New Roman" panose="02020603050405020304" pitchFamily="18" charset="0"/>
              </a:rPr>
              <a:t>导体表面电荷分布</a:t>
            </a:r>
          </a:p>
        </p:txBody>
      </p:sp>
      <mc:AlternateContent xmlns:mc="http://schemas.openxmlformats.org/markup-compatibility/2006" xmlns:a14="http://schemas.microsoft.com/office/drawing/2010/main">
        <mc:Choice Requires="a14">
          <p:sp>
            <p:nvSpPr>
              <p:cNvPr id="18450" name="Object 18">
                <a:extLst>
                  <a:ext uri="{FF2B5EF4-FFF2-40B4-BE49-F238E27FC236}">
                    <a16:creationId xmlns:a16="http://schemas.microsoft.com/office/drawing/2014/main" id="{566950D7-B727-4580-B56A-0456A5447B24}"/>
                  </a:ext>
                </a:extLst>
              </p:cNvPr>
              <p:cNvSpPr txBox="1"/>
              <p:nvPr/>
            </p:nvSpPr>
            <p:spPr bwMode="auto">
              <a:xfrm>
                <a:off x="5721669" y="5302349"/>
                <a:ext cx="1752600" cy="1219200"/>
              </a:xfrm>
              <a:prstGeom prst="rect">
                <a:avLst/>
              </a:prstGeom>
              <a:noFill/>
              <a:ln w="9525">
                <a:noFill/>
                <a:miter lim="800000"/>
                <a:headEnd/>
                <a:tailEnd/>
              </a:ln>
              <a:effectLst/>
            </p:spPr>
            <p:txBody>
              <a:bodyPr>
                <a:normAutofit/>
              </a:bodyPr>
              <a:lstStyle/>
              <a:p>
                <a:pPr/>
                <a14:m>
                  <m:oMathPara xmlns:m="http://schemas.openxmlformats.org/officeDocument/2006/math">
                    <m:oMathParaPr>
                      <m:jc m:val="centerGroup"/>
                    </m:oMathParaPr>
                    <m:oMath xmlns:m="http://schemas.openxmlformats.org/officeDocument/2006/math">
                      <m:r>
                        <a:rPr lang="zh-CN" altLang="en-US" sz="2800" b="0" i="1" kern="0">
                          <a:solidFill>
                            <a:srgbClr val="000000"/>
                          </a:solidFill>
                          <a:latin typeface="Cambria Math" panose="02040503050406030204" pitchFamily="18" charset="0"/>
                        </a:rPr>
                        <m:t>𝐸</m:t>
                      </m:r>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𝜎</m:t>
                          </m:r>
                        </m:num>
                        <m:den>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𝜀</m:t>
                              </m:r>
                            </m:e>
                            <m:sub>
                              <m:r>
                                <a:rPr lang="en-US" sz="2800" b="0" i="1">
                                  <a:solidFill>
                                    <a:srgbClr val="000000"/>
                                  </a:solidFill>
                                  <a:latin typeface="Cambria Math" panose="02040503050406030204" pitchFamily="18" charset="0"/>
                                </a:rPr>
                                <m:t>0</m:t>
                              </m:r>
                            </m:sub>
                          </m:sSub>
                        </m:den>
                      </m:f>
                    </m:oMath>
                  </m:oMathPara>
                </a14:m>
                <a:endParaRPr 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8450" name="Object 18">
                <a:extLst>
                  <a:ext uri="{FF2B5EF4-FFF2-40B4-BE49-F238E27FC236}">
                    <a16:creationId xmlns:a16="http://schemas.microsoft.com/office/drawing/2014/main" id="{566950D7-B727-4580-B56A-0456A5447B24}"/>
                  </a:ext>
                </a:extLst>
              </p:cNvPr>
              <p:cNvSpPr txBox="1">
                <a:spLocks noRot="1" noChangeAspect="1" noMove="1" noResize="1" noEditPoints="1" noAdjustHandles="1" noChangeArrowheads="1" noChangeShapeType="1" noTextEdit="1"/>
              </p:cNvSpPr>
              <p:nvPr/>
            </p:nvSpPr>
            <p:spPr bwMode="auto">
              <a:xfrm>
                <a:off x="5721669" y="5302349"/>
                <a:ext cx="1752600" cy="1219200"/>
              </a:xfrm>
              <a:prstGeom prst="rect">
                <a:avLst/>
              </a:prstGeom>
              <a:blipFill>
                <a:blip r:embed="rId2"/>
                <a:stretch>
                  <a:fillRect/>
                </a:stretch>
              </a:blipFill>
              <a:ln w="9525">
                <a:noFill/>
                <a:miter lim="800000"/>
                <a:headEnd/>
                <a:tailEnd/>
              </a:ln>
              <a:effectLst/>
            </p:spPr>
            <p:txBody>
              <a:bodyPr/>
              <a:lstStyle/>
              <a:p>
                <a:r>
                  <a:rPr lang="en-US">
                    <a:noFill/>
                  </a:rPr>
                  <a:t> </a:t>
                </a:r>
              </a:p>
            </p:txBody>
          </p:sp>
        </mc:Fallback>
      </mc:AlternateContent>
      <p:sp>
        <p:nvSpPr>
          <p:cNvPr id="18466" name="Text Box 34">
            <a:extLst>
              <a:ext uri="{FF2B5EF4-FFF2-40B4-BE49-F238E27FC236}">
                <a16:creationId xmlns:a16="http://schemas.microsoft.com/office/drawing/2014/main" id="{B43EA3EA-4671-49DC-82E3-74468873261A}"/>
              </a:ext>
            </a:extLst>
          </p:cNvPr>
          <p:cNvSpPr txBox="1">
            <a:spLocks noChangeArrowheads="1"/>
          </p:cNvSpPr>
          <p:nvPr/>
        </p:nvSpPr>
        <p:spPr bwMode="auto">
          <a:xfrm>
            <a:off x="2124998" y="1174554"/>
            <a:ext cx="3886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dirty="0">
                <a:ea typeface="华文楷体" panose="02010600040101010101" pitchFamily="2" charset="-122"/>
                <a:cs typeface="Times New Roman" panose="02020603050405020304" pitchFamily="18" charset="0"/>
              </a:rPr>
              <a:t>导体表面电荷面密度</a:t>
            </a:r>
          </a:p>
        </p:txBody>
      </p:sp>
      <p:sp>
        <p:nvSpPr>
          <p:cNvPr id="18469" name="Text Box 37">
            <a:extLst>
              <a:ext uri="{FF2B5EF4-FFF2-40B4-BE49-F238E27FC236}">
                <a16:creationId xmlns:a16="http://schemas.microsoft.com/office/drawing/2014/main" id="{A51E906F-C134-4C5F-8F95-32C6AF78D23F}"/>
              </a:ext>
            </a:extLst>
          </p:cNvPr>
          <p:cNvSpPr txBox="1">
            <a:spLocks noChangeArrowheads="1"/>
          </p:cNvSpPr>
          <p:nvPr/>
        </p:nvSpPr>
        <p:spPr bwMode="auto">
          <a:xfrm>
            <a:off x="753442" y="2014487"/>
            <a:ext cx="46291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dirty="0">
                <a:ea typeface="华文楷体" panose="02010600040101010101" pitchFamily="2" charset="-122"/>
                <a:cs typeface="Times New Roman" panose="02020603050405020304" pitchFamily="18" charset="0"/>
              </a:rPr>
              <a:t>设 </a:t>
            </a:r>
            <a:r>
              <a:rPr lang="en-US" altLang="zh-CN" sz="2800" dirty="0">
                <a:ea typeface="华文楷体" panose="02010600040101010101" pitchFamily="2" charset="-122"/>
                <a:cs typeface="Times New Roman" panose="02020603050405020304" pitchFamily="18" charset="0"/>
              </a:rPr>
              <a:t>P</a:t>
            </a:r>
            <a:r>
              <a:rPr lang="zh-CN" altLang="en-US" sz="2800" dirty="0">
                <a:ea typeface="华文楷体" panose="02010600040101010101" pitchFamily="2" charset="-122"/>
                <a:cs typeface="Times New Roman" panose="02020603050405020304" pitchFamily="18" charset="0"/>
              </a:rPr>
              <a:t>点紧靠导体外表面</a:t>
            </a:r>
          </a:p>
        </p:txBody>
      </p:sp>
      <mc:AlternateContent xmlns:mc="http://schemas.openxmlformats.org/markup-compatibility/2006" xmlns:a14="http://schemas.microsoft.com/office/drawing/2010/main">
        <mc:Choice Requires="a14">
          <p:sp>
            <p:nvSpPr>
              <p:cNvPr id="2" name="Object 1">
                <a:extLst>
                  <a:ext uri="{FF2B5EF4-FFF2-40B4-BE49-F238E27FC236}">
                    <a16:creationId xmlns:a16="http://schemas.microsoft.com/office/drawing/2014/main" id="{3834E0D3-7B77-4291-A0A9-9DA8B1B9EDC1}"/>
                  </a:ext>
                </a:extLst>
              </p:cNvPr>
              <p:cNvSpPr txBox="1"/>
              <p:nvPr/>
            </p:nvSpPr>
            <p:spPr bwMode="auto">
              <a:xfrm>
                <a:off x="5407944" y="1155611"/>
                <a:ext cx="431800" cy="395287"/>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𝜎</m:t>
                      </m:r>
                    </m:oMath>
                  </m:oMathPara>
                </a14:m>
                <a:endParaRPr 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 name="Object 1">
                <a:extLst>
                  <a:ext uri="{FF2B5EF4-FFF2-40B4-BE49-F238E27FC236}">
                    <a16:creationId xmlns:a16="http://schemas.microsoft.com/office/drawing/2014/main" id="{3834E0D3-7B77-4291-A0A9-9DA8B1B9EDC1}"/>
                  </a:ext>
                </a:extLst>
              </p:cNvPr>
              <p:cNvSpPr txBox="1">
                <a:spLocks noRot="1" noChangeAspect="1" noMove="1" noResize="1" noEditPoints="1" noAdjustHandles="1" noChangeArrowheads="1" noChangeShapeType="1" noTextEdit="1"/>
              </p:cNvSpPr>
              <p:nvPr/>
            </p:nvSpPr>
            <p:spPr bwMode="auto">
              <a:xfrm>
                <a:off x="5407944" y="1155611"/>
                <a:ext cx="431800" cy="395287"/>
              </a:xfrm>
              <a:prstGeom prst="rect">
                <a:avLst/>
              </a:prstGeom>
              <a:blipFill>
                <a:blip r:embed="rId5"/>
                <a:stretch>
                  <a:fillRect/>
                </a:stretch>
              </a:blipFill>
              <a:ln>
                <a:noFill/>
              </a:ln>
            </p:spPr>
            <p:txBody>
              <a:bodyPr/>
              <a:lstStyle/>
              <a:p>
                <a:r>
                  <a:rPr lang="en-US">
                    <a:noFill/>
                  </a:rPr>
                  <a:t> </a:t>
                </a:r>
              </a:p>
            </p:txBody>
          </p:sp>
        </mc:Fallback>
      </mc:AlternateContent>
      <p:sp>
        <p:nvSpPr>
          <p:cNvPr id="5" name="Rectangle 4">
            <a:extLst>
              <a:ext uri="{FF2B5EF4-FFF2-40B4-BE49-F238E27FC236}">
                <a16:creationId xmlns:a16="http://schemas.microsoft.com/office/drawing/2014/main" id="{36139199-B8FE-4B81-A469-E26672366FE6}"/>
              </a:ext>
            </a:extLst>
          </p:cNvPr>
          <p:cNvSpPr>
            <a:spLocks noChangeArrowheads="1"/>
          </p:cNvSpPr>
          <p:nvPr/>
        </p:nvSpPr>
        <p:spPr bwMode="auto">
          <a:xfrm>
            <a:off x="8563769" y="4824412"/>
            <a:ext cx="23391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FF0000"/>
                </a:solidFill>
                <a:ea typeface="华文楷体" panose="02010600040101010101" pitchFamily="2" charset="-122"/>
                <a:cs typeface="Times New Roman" panose="02020603050405020304" pitchFamily="18" charset="0"/>
              </a:rPr>
              <a:t>沿外法线方向</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2ADE81A-080A-4AD8-9855-475A134FCBEF}"/>
                  </a:ext>
                </a:extLst>
              </p:cNvPr>
              <p:cNvSpPr/>
              <p:nvPr/>
            </p:nvSpPr>
            <p:spPr>
              <a:xfrm>
                <a:off x="487374" y="2638920"/>
                <a:ext cx="6096000" cy="3811493"/>
              </a:xfrm>
              <a:prstGeom prst="rect">
                <a:avLst/>
              </a:prstGeom>
            </p:spPr>
            <p:txBody>
              <a:bodyPr>
                <a:spAutoFit/>
              </a:bodyPr>
              <a:lstStyle/>
              <a:p>
                <a:pPr marL="91440" lvl="0" indent="-91440">
                  <a:lnSpc>
                    <a:spcPct val="130000"/>
                  </a:lnSpc>
                  <a:spcBef>
                    <a:spcPts val="600"/>
                  </a:spcBef>
                  <a:spcAft>
                    <a:spcPts val="200"/>
                  </a:spcAft>
                  <a:buClr>
                    <a:srgbClr val="99CB38"/>
                  </a:buClr>
                  <a:buSzPct val="100000"/>
                  <a:buFont typeface="Calibri" panose="020F0502020204030204" pitchFamily="34" charset="0"/>
                  <a:buChar char=" "/>
                  <a:defRPr/>
                </a:pPr>
                <a14:m>
                  <m:oMath xmlns:m="http://schemas.openxmlformats.org/officeDocument/2006/math">
                    <m:sSub>
                      <m:sSubPr>
                        <m:ctrlPr>
                          <a:rPr kumimoji="0" lang="zh-CN" altLang="en-US" sz="2800" i="1" u="none" strike="noStrike" kern="0" cap="none" spc="0" normalizeH="0" baseline="0" noProof="0" smtClean="0">
                            <a:ln>
                              <a:noFill/>
                            </a:ln>
                            <a:solidFill>
                              <a:srgbClr val="000000"/>
                            </a:solidFill>
                            <a:effectLst/>
                            <a:uLnTx/>
                            <a:uFillTx/>
                            <a:latin typeface="Cambria Math" panose="02040503050406030204" pitchFamily="18" charset="0"/>
                          </a:rPr>
                        </m:ctrlPr>
                      </m:sSub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𝛹</m:t>
                        </m:r>
                      </m:e>
                      <m:sub>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𝑒</m:t>
                        </m:r>
                      </m:sub>
                    </m:sSub>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chr m:val="∯"/>
                        <m:supHide m:val="on"/>
                        <m:ctrlPr>
                          <a:rPr lang="en-US" sz="2800" i="1">
                            <a:solidFill>
                              <a:srgbClr val="000000"/>
                            </a:solidFill>
                            <a:latin typeface="Cambria Math" panose="02040503050406030204" pitchFamily="18" charset="0"/>
                          </a:rPr>
                        </m:ctrlPr>
                      </m:naryPr>
                      <m:sub>
                        <m:r>
                          <a:rPr lang="en-US" sz="2800" b="0" i="1">
                            <a:solidFill>
                              <a:srgbClr val="000000"/>
                            </a:solidFill>
                            <a:latin typeface="Cambria Math" panose="02040503050406030204" pitchFamily="18" charset="0"/>
                          </a:rPr>
                          <m:t>𝑆</m:t>
                        </m:r>
                      </m:sub>
                      <m:sup/>
                      <m:e>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𝐸</m:t>
                            </m:r>
                          </m:e>
                        </m:acc>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𝑑</m:t>
                        </m:r>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𝑆</m:t>
                            </m:r>
                          </m:e>
                        </m:acc>
                      </m:e>
                    </m:nary>
                  </m:oMath>
                </a14:m>
                <a:endParaRPr kumimoji="0" lang="en-US" altLang="zh-CN" sz="2800" i="1" u="none" strike="noStrike" kern="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defTabSz="914400" eaLnBrk="1" fontAlgn="auto" latinLnBrk="0" hangingPunct="1">
                  <a:lnSpc>
                    <a:spcPct val="130000"/>
                  </a:lnSpc>
                  <a:spcBef>
                    <a:spcPts val="600"/>
                  </a:spcBef>
                  <a:spcAft>
                    <a:spcPts val="200"/>
                  </a:spcAft>
                  <a:buClr>
                    <a:srgbClr val="99CB38"/>
                  </a:buClr>
                  <a:buSzPct val="100000"/>
                  <a:buFontTx/>
                  <a:buNone/>
                  <a:tabLst/>
                  <a:defRPr/>
                </a:pPr>
                <a14:m>
                  <m:oMathPara xmlns:m="http://schemas.openxmlformats.org/officeDocument/2006/math">
                    <m:oMathParaPr>
                      <m:jc m:val="centerGroup"/>
                    </m:oMathParaPr>
                    <m:oMath xmlns:m="http://schemas.openxmlformats.org/officeDocument/2006/math">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supHide m:val="on"/>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naryPr>
                        <m:sub>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en-US" altLang="zh-CN" sz="2800" b="0" i="1" u="none" strike="noStrike" kern="0" cap="none" spc="0" normalizeH="0" baseline="0" noProof="0" smtClean="0">
                              <a:ln>
                                <a:noFill/>
                              </a:ln>
                              <a:solidFill>
                                <a:srgbClr val="000000"/>
                              </a:solidFill>
                              <a:effectLst/>
                              <a:uLnTx/>
                              <a:uFillTx/>
                              <a:latin typeface="Cambria Math" panose="02040503050406030204" pitchFamily="18" charset="0"/>
                            </a:rPr>
                            <m:t>𝑠</m:t>
                          </m:r>
                        </m:sub>
                        <m:sup/>
                        <m:e>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𝐸</m:t>
                              </m:r>
                            </m:e>
                          </m:acc>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𝑑</m:t>
                          </m:r>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e>
                          </m:acc>
                        </m:e>
                      </m:nary>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supHide m:val="on"/>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naryPr>
                        <m:sub>
                          <m:sSup>
                            <m:sSupPr>
                              <m:ctrlPr>
                                <a:rPr kumimoji="0" lang="en-US" altLang="zh-CN" sz="2800" i="1" u="none" strike="noStrike" kern="0" cap="none" spc="0" normalizeH="0" baseline="0" noProof="0" smtClean="0">
                                  <a:ln>
                                    <a:noFill/>
                                  </a:ln>
                                  <a:solidFill>
                                    <a:srgbClr val="000000"/>
                                  </a:solidFill>
                                  <a:effectLst/>
                                  <a:uLnTx/>
                                  <a:uFillTx/>
                                  <a:latin typeface="Cambria Math" panose="02040503050406030204" pitchFamily="18" charset="0"/>
                                </a:rPr>
                              </m:ctrlPr>
                            </m:sSupPr>
                            <m:e>
                              <m:r>
                                <a:rPr kumimoji="0" lang="en-US" altLang="zh-CN" sz="2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r>
                                <a:rPr kumimoji="0" lang="en-US" altLang="zh-CN" sz="28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𝑠</m:t>
                              </m:r>
                            </m:e>
                            <m:sup>
                              <m:r>
                                <a:rPr kumimoji="0" lang="en-US" altLang="zh-CN" sz="2800" b="0" i="1" u="none" strike="noStrike" kern="0" cap="none" spc="0" normalizeH="0" baseline="0" noProof="0" smtClean="0">
                                  <a:ln>
                                    <a:noFill/>
                                  </a:ln>
                                  <a:solidFill>
                                    <a:srgbClr val="000000"/>
                                  </a:solidFill>
                                  <a:effectLst/>
                                  <a:uLnTx/>
                                  <a:uFillTx/>
                                  <a:latin typeface="Cambria Math" panose="02040503050406030204" pitchFamily="18" charset="0"/>
                                </a:rPr>
                                <m:t>′</m:t>
                              </m:r>
                            </m:sup>
                          </m:sSup>
                        </m:sub>
                        <m:sup/>
                        <m:e>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𝐸</m:t>
                              </m:r>
                            </m:e>
                          </m:acc>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𝑑</m:t>
                          </m:r>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e>
                          </m:acc>
                        </m:e>
                      </m:nary>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supHide m:val="on"/>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naryPr>
                        <m:sub>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侧</m:t>
                          </m:r>
                        </m:sub>
                        <m:sup/>
                        <m:e>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𝐸</m:t>
                              </m:r>
                            </m:e>
                          </m:acc>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𝑑</m:t>
                          </m:r>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e>
                          </m:acc>
                        </m:e>
                      </m:nary>
                    </m:oMath>
                    <m:oMath xmlns:m="http://schemas.openxmlformats.org/officeDocument/2006/math">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nary>
                        <m:naryPr>
                          <m:supHide m:val="on"/>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naryPr>
                        <m:sub>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m:t>
                          </m:r>
                          <m:r>
                            <a:rPr kumimoji="0" lang="en-US" altLang="zh-CN" sz="2800" b="0" i="1" u="none" strike="noStrike" kern="0" cap="none" spc="0" normalizeH="0" baseline="0" noProof="0">
                              <a:ln>
                                <a:noFill/>
                              </a:ln>
                              <a:solidFill>
                                <a:srgbClr val="000000"/>
                              </a:solidFill>
                              <a:effectLst/>
                              <a:uLnTx/>
                              <a:uFillTx/>
                              <a:latin typeface="Cambria Math" panose="02040503050406030204" pitchFamily="18" charset="0"/>
                            </a:rPr>
                            <m:t>𝑠</m:t>
                          </m:r>
                        </m:sub>
                        <m:sup/>
                        <m:e>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𝐸</m:t>
                              </m:r>
                            </m:e>
                          </m:acc>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𝑑</m:t>
                          </m:r>
                          <m:acc>
                            <m:accPr>
                              <m:chr m:val="⃗"/>
                              <m:ctrlPr>
                                <a:rPr kumimoji="0" lang="zh-CN" altLang="en-US" sz="2800" i="1" u="none" strike="noStrike" kern="0" cap="none" spc="0" normalizeH="0" baseline="0" noProof="0">
                                  <a:ln>
                                    <a:noFill/>
                                  </a:ln>
                                  <a:solidFill>
                                    <a:srgbClr val="000000"/>
                                  </a:solidFill>
                                  <a:effectLst/>
                                  <a:uLnTx/>
                                  <a:uFillTx/>
                                  <a:latin typeface="Cambria Math" panose="02040503050406030204" pitchFamily="18" charset="0"/>
                                </a:rPr>
                              </m:ctrlPr>
                            </m:accPr>
                            <m:e>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e>
                          </m:acc>
                        </m:e>
                      </m:nary>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0</m:t>
                      </m:r>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0</m:t>
                      </m:r>
                    </m:oMath>
                    <m:oMath xmlns:m="http://schemas.openxmlformats.org/officeDocument/2006/math">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a:ln>
                            <a:noFill/>
                          </a:ln>
                          <a:solidFill>
                            <a:srgbClr val="000000"/>
                          </a:solidFill>
                          <a:effectLst/>
                          <a:uLnTx/>
                          <a:uFillTx/>
                          <a:latin typeface="Cambria Math" panose="02040503050406030204" pitchFamily="18" charset="0"/>
                        </a:rPr>
                        <m:t>𝐸</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𝛥</m:t>
                      </m:r>
                      <m:r>
                        <a:rPr kumimoji="0" lang="zh-CN" altLang="en-US" sz="2800" b="0" i="1" u="none" strike="noStrike" kern="0" cap="none" spc="0" normalizeH="0" baseline="0" noProof="0" smtClean="0">
                          <a:ln>
                            <a:noFill/>
                          </a:ln>
                          <a:solidFill>
                            <a:srgbClr val="000000"/>
                          </a:solidFill>
                          <a:effectLst/>
                          <a:uLnTx/>
                          <a:uFillTx/>
                          <a:latin typeface="Cambria Math" panose="02040503050406030204" pitchFamily="18" charset="0"/>
                        </a:rPr>
                        <m:t>𝑆</m:t>
                      </m:r>
                    </m:oMath>
                  </m:oMathPara>
                </a14:m>
                <a:endParaRPr kumimoji="0" lang="en-US" sz="2800" i="0" u="none" strike="noStrike" kern="0" cap="none" spc="0" normalizeH="0" baseline="0" noProof="0" dirty="0">
                  <a:ln>
                    <a:noFill/>
                  </a:ln>
                  <a:solidFill>
                    <a:sysClr val="windowText" lastClr="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82ADE81A-080A-4AD8-9855-475A134FCBEF}"/>
                  </a:ext>
                </a:extLst>
              </p:cNvPr>
              <p:cNvSpPr>
                <a:spLocks noRot="1" noChangeAspect="1" noMove="1" noResize="1" noEditPoints="1" noAdjustHandles="1" noChangeArrowheads="1" noChangeShapeType="1" noTextEdit="1"/>
              </p:cNvSpPr>
              <p:nvPr/>
            </p:nvSpPr>
            <p:spPr>
              <a:xfrm>
                <a:off x="487374" y="2638920"/>
                <a:ext cx="6096000" cy="3811493"/>
              </a:xfrm>
              <a:prstGeom prst="rect">
                <a:avLst/>
              </a:prstGeom>
              <a:blipFill>
                <a:blip r:embed="rId6"/>
                <a:stretch>
                  <a:fillRect/>
                </a:stretch>
              </a:blipFill>
            </p:spPr>
            <p:txBody>
              <a:bodyPr/>
              <a:lstStyle/>
              <a:p>
                <a:r>
                  <a:rPr lang="zh-CN" altLang="en-US">
                    <a:noFill/>
                  </a:rPr>
                  <a:t> </a:t>
                </a:r>
              </a:p>
            </p:txBody>
          </p:sp>
        </mc:Fallback>
      </mc:AlternateContent>
      <p:sp>
        <p:nvSpPr>
          <p:cNvPr id="42" name="Rectangle 4">
            <a:extLst>
              <a:ext uri="{FF2B5EF4-FFF2-40B4-BE49-F238E27FC236}">
                <a16:creationId xmlns:a16="http://schemas.microsoft.com/office/drawing/2014/main" id="{48D169E3-4DBA-447A-846C-987CB45D547C}"/>
              </a:ext>
            </a:extLst>
          </p:cNvPr>
          <p:cNvSpPr>
            <a:spLocks noChangeArrowheads="1"/>
          </p:cNvSpPr>
          <p:nvPr/>
        </p:nvSpPr>
        <p:spPr bwMode="auto">
          <a:xfrm>
            <a:off x="8058777" y="5607804"/>
            <a:ext cx="315657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FF0000"/>
                </a:solidFill>
                <a:ea typeface="华文楷体" panose="02010600040101010101" pitchFamily="2" charset="-122"/>
                <a:cs typeface="Times New Roman" panose="02020603050405020304" pitchFamily="18" charset="0"/>
              </a:rPr>
              <a:t>电场强度与表面电荷密度成正比</a:t>
            </a:r>
          </a:p>
        </p:txBody>
      </p:sp>
      <mc:AlternateContent xmlns:mc="http://schemas.openxmlformats.org/markup-compatibility/2006" xmlns:a14="http://schemas.microsoft.com/office/drawing/2010/main">
        <mc:Choice Requires="a14">
          <p:sp>
            <p:nvSpPr>
              <p:cNvPr id="30" name="Object 18">
                <a:extLst>
                  <a:ext uri="{FF2B5EF4-FFF2-40B4-BE49-F238E27FC236}">
                    <a16:creationId xmlns:a16="http://schemas.microsoft.com/office/drawing/2014/main" id="{591F3306-085E-4650-A979-321F23EA3523}"/>
                  </a:ext>
                </a:extLst>
              </p:cNvPr>
              <p:cNvSpPr txBox="1"/>
              <p:nvPr/>
            </p:nvSpPr>
            <p:spPr bwMode="auto">
              <a:xfrm>
                <a:off x="1903721" y="5571215"/>
                <a:ext cx="2833709" cy="1219200"/>
              </a:xfrm>
              <a:prstGeom prst="rect">
                <a:avLst/>
              </a:prstGeom>
              <a:noFill/>
              <a:ln w="9525">
                <a:noFill/>
                <a:miter lim="800000"/>
                <a:headEnd/>
                <a:tailEnd/>
              </a:ln>
              <a:effectLst/>
            </p:spPr>
            <p:txBody>
              <a:bodyPr>
                <a:normAutofit/>
              </a:bodyPr>
              <a:lstStyle/>
              <a:p>
                <a:pPr/>
                <a14:m>
                  <m:oMathPara xmlns:m="http://schemas.openxmlformats.org/officeDocument/2006/math">
                    <m:oMathParaPr>
                      <m:jc m:val="centerGroup"/>
                    </m:oMathParaPr>
                    <m:oMath xmlns:m="http://schemas.openxmlformats.org/officeDocument/2006/math">
                      <m:r>
                        <a:rPr lang="en-US" altLang="zh-CN" sz="2800" b="0" i="1" kern="0" smtClean="0">
                          <a:solidFill>
                            <a:srgbClr val="000000"/>
                          </a:solidFill>
                          <a:latin typeface="Cambria Math" panose="02040503050406030204" pitchFamily="18" charset="0"/>
                        </a:rPr>
                        <m:t>=</m:t>
                      </m:r>
                      <m:r>
                        <a:rPr lang="zh-CN" altLang="en-US" sz="2800" b="0" i="1" kern="0">
                          <a:solidFill>
                            <a:srgbClr val="000000"/>
                          </a:solidFill>
                          <a:latin typeface="Cambria Math" panose="02040503050406030204" pitchFamily="18" charset="0"/>
                        </a:rPr>
                        <m:t>𝐸</m:t>
                      </m:r>
                      <m:r>
                        <a:rPr lang="zh-CN" altLang="en-US" sz="2800" i="1" kern="0">
                          <a:solidFill>
                            <a:srgbClr val="000000"/>
                          </a:solidFill>
                          <a:latin typeface="Cambria Math" panose="02040503050406030204" pitchFamily="18" charset="0"/>
                        </a:rPr>
                        <m:t>𝛥</m:t>
                      </m:r>
                      <m:r>
                        <a:rPr lang="zh-CN" altLang="en-US" sz="2800" i="1" kern="0">
                          <a:solidFill>
                            <a:srgbClr val="000000"/>
                          </a:solidFill>
                          <a:latin typeface="Cambria Math" panose="02040503050406030204" pitchFamily="18" charset="0"/>
                        </a:rPr>
                        <m:t>𝑆</m:t>
                      </m:r>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𝜎</m:t>
                          </m:r>
                          <m:r>
                            <a:rPr lang="zh-CN" altLang="en-US" sz="2800" i="1" kern="0">
                              <a:solidFill>
                                <a:srgbClr val="000000"/>
                              </a:solidFill>
                              <a:latin typeface="Cambria Math" panose="02040503050406030204" pitchFamily="18" charset="0"/>
                            </a:rPr>
                            <m:t>𝛥</m:t>
                          </m:r>
                          <m:r>
                            <a:rPr lang="zh-CN" altLang="en-US" sz="2800" i="1" kern="0">
                              <a:solidFill>
                                <a:srgbClr val="000000"/>
                              </a:solidFill>
                              <a:latin typeface="Cambria Math" panose="02040503050406030204" pitchFamily="18" charset="0"/>
                            </a:rPr>
                            <m:t>𝑆</m:t>
                          </m:r>
                        </m:num>
                        <m:den>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𝜀</m:t>
                              </m:r>
                            </m:e>
                            <m:sub>
                              <m:r>
                                <a:rPr lang="en-US" sz="2800" b="0" i="1">
                                  <a:solidFill>
                                    <a:srgbClr val="000000"/>
                                  </a:solidFill>
                                  <a:latin typeface="Cambria Math" panose="02040503050406030204" pitchFamily="18" charset="0"/>
                                </a:rPr>
                                <m:t>0</m:t>
                              </m:r>
                            </m:sub>
                          </m:sSub>
                        </m:den>
                      </m:f>
                    </m:oMath>
                  </m:oMathPara>
                </a14:m>
                <a:endParaRPr 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0" name="Object 18">
                <a:extLst>
                  <a:ext uri="{FF2B5EF4-FFF2-40B4-BE49-F238E27FC236}">
                    <a16:creationId xmlns:a16="http://schemas.microsoft.com/office/drawing/2014/main" id="{591F3306-085E-4650-A979-321F23EA3523}"/>
                  </a:ext>
                </a:extLst>
              </p:cNvPr>
              <p:cNvSpPr txBox="1">
                <a:spLocks noRot="1" noChangeAspect="1" noMove="1" noResize="1" noEditPoints="1" noAdjustHandles="1" noChangeArrowheads="1" noChangeShapeType="1" noTextEdit="1"/>
              </p:cNvSpPr>
              <p:nvPr/>
            </p:nvSpPr>
            <p:spPr bwMode="auto">
              <a:xfrm>
                <a:off x="1903721" y="5571215"/>
                <a:ext cx="2833709" cy="1219200"/>
              </a:xfrm>
              <a:prstGeom prst="rect">
                <a:avLst/>
              </a:prstGeom>
              <a:blipFill>
                <a:blip r:embed="rId7"/>
                <a:stretch>
                  <a:fillRect/>
                </a:stretch>
              </a:blipFill>
              <a:ln w="9525">
                <a:noFill/>
                <a:miter lim="800000"/>
                <a:headEnd/>
                <a:tailEnd/>
              </a:ln>
              <a:effectLst/>
            </p:spPr>
            <p:txBody>
              <a:bodyPr/>
              <a:lstStyle/>
              <a:p>
                <a:r>
                  <a:rPr lang="en-US">
                    <a:noFill/>
                  </a:rPr>
                  <a:t> </a:t>
                </a:r>
              </a:p>
            </p:txBody>
          </p:sp>
        </mc:Fallback>
      </mc:AlternateContent>
      <p:pic>
        <p:nvPicPr>
          <p:cNvPr id="3" name="内容占位符 6">
            <a:extLst>
              <a:ext uri="{FF2B5EF4-FFF2-40B4-BE49-F238E27FC236}">
                <a16:creationId xmlns:a16="http://schemas.microsoft.com/office/drawing/2014/main" id="{71E1FB0F-63C8-21D4-2712-263AB9AADB2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25535" y="1155611"/>
            <a:ext cx="4552610" cy="3251278"/>
          </a:xfrm>
          <a:prstGeom prst="rect">
            <a:avLst/>
          </a:prstGeom>
        </p:spPr>
      </p:pic>
    </p:spTree>
    <p:extLst>
      <p:ext uri="{BB962C8B-B14F-4D97-AF65-F5344CB8AC3E}">
        <p14:creationId xmlns:p14="http://schemas.microsoft.com/office/powerpoint/2010/main" val="270803361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组合 50">
            <a:extLst>
              <a:ext uri="{FF2B5EF4-FFF2-40B4-BE49-F238E27FC236}">
                <a16:creationId xmlns:a16="http://schemas.microsoft.com/office/drawing/2014/main" id="{58830BE2-8746-4FC7-B1CA-4215EEB0DFF4}"/>
              </a:ext>
            </a:extLst>
          </p:cNvPr>
          <p:cNvGrpSpPr>
            <a:grpSpLocks/>
          </p:cNvGrpSpPr>
          <p:nvPr/>
        </p:nvGrpSpPr>
        <p:grpSpPr bwMode="auto">
          <a:xfrm>
            <a:off x="1415495" y="1515628"/>
            <a:ext cx="4119563" cy="1497012"/>
            <a:chOff x="107504" y="4235836"/>
            <a:chExt cx="4119204" cy="1497420"/>
          </a:xfrm>
        </p:grpSpPr>
        <p:grpSp>
          <p:nvGrpSpPr>
            <p:cNvPr id="52" name="组合 8">
              <a:extLst>
                <a:ext uri="{FF2B5EF4-FFF2-40B4-BE49-F238E27FC236}">
                  <a16:creationId xmlns:a16="http://schemas.microsoft.com/office/drawing/2014/main" id="{CDD1D61D-A5B1-4BD8-A604-6A57D15FCEA0}"/>
                </a:ext>
              </a:extLst>
            </p:cNvPr>
            <p:cNvGrpSpPr>
              <a:grpSpLocks/>
            </p:cNvGrpSpPr>
            <p:nvPr/>
          </p:nvGrpSpPr>
          <p:grpSpPr bwMode="auto">
            <a:xfrm>
              <a:off x="107504" y="4293096"/>
              <a:ext cx="1176263" cy="1440160"/>
              <a:chOff x="107504" y="4293096"/>
              <a:chExt cx="1176263" cy="1440160"/>
            </a:xfrm>
          </p:grpSpPr>
          <p:sp>
            <p:nvSpPr>
              <p:cNvPr id="61" name="椭圆 1">
                <a:extLst>
                  <a:ext uri="{FF2B5EF4-FFF2-40B4-BE49-F238E27FC236}">
                    <a16:creationId xmlns:a16="http://schemas.microsoft.com/office/drawing/2014/main" id="{D6991749-C1EC-4B6E-9282-0018FF9D98DB}"/>
                  </a:ext>
                </a:extLst>
              </p:cNvPr>
              <p:cNvSpPr>
                <a:spLocks noChangeArrowheads="1"/>
              </p:cNvSpPr>
              <p:nvPr/>
            </p:nvSpPr>
            <p:spPr bwMode="auto">
              <a:xfrm>
                <a:off x="203647" y="4653136"/>
                <a:ext cx="1080120" cy="1080120"/>
              </a:xfrm>
              <a:prstGeom prst="ellipse">
                <a:avLst/>
              </a:prstGeom>
              <a:solidFill>
                <a:srgbClr val="FFFFFF"/>
              </a:solidFill>
              <a:ln w="28575" algn="ctr">
                <a:solidFill>
                  <a:schemeClr val="tx1"/>
                </a:solidFill>
                <a:round/>
                <a:headEnd/>
                <a:tailEnd/>
              </a:ln>
            </p:spPr>
            <p:txBody>
              <a:bodyPr/>
              <a:lstStyle>
                <a:lvl1pPr>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1pPr>
                <a:lvl2pPr marL="742950" indent="-285750">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2pPr>
                <a:lvl3pPr marL="1143000" indent="-228600">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3pPr>
                <a:lvl4pPr marL="1600200" indent="-228600">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4pPr>
                <a:lvl5pPr marL="2057400" indent="-228600">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20000"/>
                  </a:lnSpc>
                  <a:spcBef>
                    <a:spcPct val="5000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20000"/>
                  </a:lnSpc>
                  <a:spcBef>
                    <a:spcPct val="5000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20000"/>
                  </a:lnSpc>
                  <a:spcBef>
                    <a:spcPct val="5000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20000"/>
                  </a:lnSpc>
                  <a:spcBef>
                    <a:spcPct val="5000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3200">
                  <a:ea typeface="华文楷体" panose="02010600040101010101" pitchFamily="2" charset="-122"/>
                  <a:cs typeface="Times New Roman" panose="02020603050405020304" pitchFamily="18" charset="0"/>
                </a:endParaRPr>
              </a:p>
            </p:txBody>
          </p:sp>
          <p:cxnSp>
            <p:nvCxnSpPr>
              <p:cNvPr id="62" name="直接箭头连接符 5">
                <a:extLst>
                  <a:ext uri="{FF2B5EF4-FFF2-40B4-BE49-F238E27FC236}">
                    <a16:creationId xmlns:a16="http://schemas.microsoft.com/office/drawing/2014/main" id="{843869FD-D891-4041-88F0-D68F10E2BADC}"/>
                  </a:ext>
                </a:extLst>
              </p:cNvPr>
              <p:cNvCxnSpPr>
                <a:cxnSpLocks noChangeShapeType="1"/>
              </p:cNvCxnSpPr>
              <p:nvPr/>
            </p:nvCxnSpPr>
            <p:spPr bwMode="auto">
              <a:xfrm flipV="1">
                <a:off x="707703" y="4887380"/>
                <a:ext cx="468000" cy="360040"/>
              </a:xfrm>
              <a:prstGeom prst="straightConnector1">
                <a:avLst/>
              </a:prstGeom>
              <a:noFill/>
              <a:ln w="28575" algn="ctr">
                <a:solidFill>
                  <a:schemeClr val="tx1"/>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63" name="Object 16">
                    <a:extLst>
                      <a:ext uri="{FF2B5EF4-FFF2-40B4-BE49-F238E27FC236}">
                        <a16:creationId xmlns:a16="http://schemas.microsoft.com/office/drawing/2014/main" id="{78E9274C-11FA-4816-AD07-87E7DC304C5B}"/>
                      </a:ext>
                    </a:extLst>
                  </p:cNvPr>
                  <p:cNvSpPr txBox="1"/>
                  <p:nvPr/>
                </p:nvSpPr>
                <p:spPr bwMode="auto">
                  <a:xfrm>
                    <a:off x="107504" y="4293096"/>
                    <a:ext cx="384175" cy="503237"/>
                  </a:xfrm>
                  <a:prstGeom prst="rect">
                    <a:avLst/>
                  </a:prstGeom>
                  <a:noFill/>
                  <a:ln>
                    <a:noFill/>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𝑞</m:t>
                              </m:r>
                            </m:e>
                            <m:sub>
                              <m:r>
                                <a:rPr lang="en-US" sz="3200" i="1">
                                  <a:solidFill>
                                    <a:srgbClr val="000000"/>
                                  </a:solidFill>
                                  <a:latin typeface="Cambria Math" panose="02040503050406030204" pitchFamily="18" charset="0"/>
                                </a:rPr>
                                <m:t>1</m:t>
                              </m:r>
                            </m:sub>
                          </m:sSub>
                        </m:oMath>
                      </m:oMathPara>
                    </a14:m>
                    <a:endParaRPr lang="en-US" sz="320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3" name="Object 16">
                    <a:extLst>
                      <a:ext uri="{FF2B5EF4-FFF2-40B4-BE49-F238E27FC236}">
                        <a16:creationId xmlns:a16="http://schemas.microsoft.com/office/drawing/2014/main" id="{78E9274C-11FA-4816-AD07-87E7DC304C5B}"/>
                      </a:ext>
                    </a:extLst>
                  </p:cNvPr>
                  <p:cNvSpPr txBox="1">
                    <a:spLocks noRot="1" noChangeAspect="1" noMove="1" noResize="1" noEditPoints="1" noAdjustHandles="1" noChangeArrowheads="1" noChangeShapeType="1" noTextEdit="1"/>
                  </p:cNvSpPr>
                  <p:nvPr/>
                </p:nvSpPr>
                <p:spPr bwMode="auto">
                  <a:xfrm>
                    <a:off x="107504" y="4293096"/>
                    <a:ext cx="384175" cy="503237"/>
                  </a:xfrm>
                  <a:prstGeom prst="rect">
                    <a:avLst/>
                  </a:prstGeom>
                  <a:blipFill>
                    <a:blip r:embed="rId2"/>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Object 16">
                    <a:extLst>
                      <a:ext uri="{FF2B5EF4-FFF2-40B4-BE49-F238E27FC236}">
                        <a16:creationId xmlns:a16="http://schemas.microsoft.com/office/drawing/2014/main" id="{A76D2476-1017-47D0-9BBD-8797A440E119}"/>
                      </a:ext>
                    </a:extLst>
                  </p:cNvPr>
                  <p:cNvSpPr txBox="1"/>
                  <p:nvPr/>
                </p:nvSpPr>
                <p:spPr bwMode="auto">
                  <a:xfrm>
                    <a:off x="786578" y="5000548"/>
                    <a:ext cx="442913" cy="503237"/>
                  </a:xfrm>
                  <a:prstGeom prst="rect">
                    <a:avLst/>
                  </a:prstGeom>
                  <a:noFill/>
                  <a:ln>
                    <a:noFill/>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1</m:t>
                              </m:r>
                            </m:sub>
                          </m:sSub>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4" name="Object 16">
                    <a:extLst>
                      <a:ext uri="{FF2B5EF4-FFF2-40B4-BE49-F238E27FC236}">
                        <a16:creationId xmlns:a16="http://schemas.microsoft.com/office/drawing/2014/main" id="{A76D2476-1017-47D0-9BBD-8797A440E119}"/>
                      </a:ext>
                    </a:extLst>
                  </p:cNvPr>
                  <p:cNvSpPr txBox="1">
                    <a:spLocks noRot="1" noChangeAspect="1" noMove="1" noResize="1" noEditPoints="1" noAdjustHandles="1" noChangeArrowheads="1" noChangeShapeType="1" noTextEdit="1"/>
                  </p:cNvSpPr>
                  <p:nvPr/>
                </p:nvSpPr>
                <p:spPr bwMode="auto">
                  <a:xfrm>
                    <a:off x="786578" y="5000548"/>
                    <a:ext cx="442913" cy="503237"/>
                  </a:xfrm>
                  <a:prstGeom prst="rect">
                    <a:avLst/>
                  </a:prstGeom>
                  <a:blipFill>
                    <a:blip r:embed="rId3"/>
                    <a:stretch>
                      <a:fillRect/>
                    </a:stretch>
                  </a:blipFill>
                  <a:ln>
                    <a:noFill/>
                  </a:ln>
                  <a:extLst/>
                </p:spPr>
                <p:txBody>
                  <a:bodyPr/>
                  <a:lstStyle/>
                  <a:p>
                    <a:r>
                      <a:rPr lang="en-US">
                        <a:noFill/>
                      </a:rPr>
                      <a:t> </a:t>
                    </a:r>
                  </a:p>
                </p:txBody>
              </p:sp>
            </mc:Fallback>
          </mc:AlternateContent>
        </p:grpSp>
        <p:grpSp>
          <p:nvGrpSpPr>
            <p:cNvPr id="53" name="组合 10">
              <a:extLst>
                <a:ext uri="{FF2B5EF4-FFF2-40B4-BE49-F238E27FC236}">
                  <a16:creationId xmlns:a16="http://schemas.microsoft.com/office/drawing/2014/main" id="{1ACDE0B9-6DC9-4EFA-A56F-A51796A4225D}"/>
                </a:ext>
              </a:extLst>
            </p:cNvPr>
            <p:cNvGrpSpPr>
              <a:grpSpLocks/>
            </p:cNvGrpSpPr>
            <p:nvPr/>
          </p:nvGrpSpPr>
          <p:grpSpPr bwMode="auto">
            <a:xfrm>
              <a:off x="3276726" y="4334256"/>
              <a:ext cx="949982" cy="1161784"/>
              <a:chOff x="3276726" y="4334256"/>
              <a:chExt cx="949982" cy="1161784"/>
            </a:xfrm>
          </p:grpSpPr>
          <p:sp>
            <p:nvSpPr>
              <p:cNvPr id="57" name="椭圆 9">
                <a:extLst>
                  <a:ext uri="{FF2B5EF4-FFF2-40B4-BE49-F238E27FC236}">
                    <a16:creationId xmlns:a16="http://schemas.microsoft.com/office/drawing/2014/main" id="{43193A93-BD22-494A-8972-AD157DFB02CD}"/>
                  </a:ext>
                </a:extLst>
              </p:cNvPr>
              <p:cNvSpPr>
                <a:spLocks noChangeArrowheads="1"/>
              </p:cNvSpPr>
              <p:nvPr/>
            </p:nvSpPr>
            <p:spPr bwMode="auto">
              <a:xfrm>
                <a:off x="3389506" y="4776040"/>
                <a:ext cx="720080" cy="720000"/>
              </a:xfrm>
              <a:prstGeom prst="ellipse">
                <a:avLst/>
              </a:prstGeom>
              <a:solidFill>
                <a:srgbClr val="FFFFFF"/>
              </a:solidFill>
              <a:ln w="28575">
                <a:solidFill>
                  <a:schemeClr val="tx1"/>
                </a:solidFill>
                <a:round/>
                <a:headEnd/>
                <a:tailEnd/>
              </a:ln>
            </p:spPr>
            <p:txBody>
              <a:bodyPr/>
              <a:lstStyle>
                <a:lvl1pPr>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1pPr>
                <a:lvl2pPr marL="742950" indent="-285750">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2pPr>
                <a:lvl3pPr marL="1143000" indent="-228600">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3pPr>
                <a:lvl4pPr marL="1600200" indent="-228600">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4pPr>
                <a:lvl5pPr marL="2057400" indent="-228600">
                  <a:lnSpc>
                    <a:spcPct val="120000"/>
                  </a:lnSpc>
                  <a:spcBef>
                    <a:spcPct val="50000"/>
                  </a:spcBef>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20000"/>
                  </a:lnSpc>
                  <a:spcBef>
                    <a:spcPct val="5000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20000"/>
                  </a:lnSpc>
                  <a:spcBef>
                    <a:spcPct val="5000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20000"/>
                  </a:lnSpc>
                  <a:spcBef>
                    <a:spcPct val="5000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20000"/>
                  </a:lnSpc>
                  <a:spcBef>
                    <a:spcPct val="5000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3200">
                  <a:ea typeface="华文楷体" panose="02010600040101010101" pitchFamily="2" charset="-122"/>
                  <a:cs typeface="Times New Roman" panose="02020603050405020304" pitchFamily="18" charset="0"/>
                </a:endParaRPr>
              </a:p>
            </p:txBody>
          </p:sp>
          <p:cxnSp>
            <p:nvCxnSpPr>
              <p:cNvPr id="58" name="直接箭头连接符 14">
                <a:extLst>
                  <a:ext uri="{FF2B5EF4-FFF2-40B4-BE49-F238E27FC236}">
                    <a16:creationId xmlns:a16="http://schemas.microsoft.com/office/drawing/2014/main" id="{4BDD5C5B-4B60-40D2-A603-419AD7B9F0D9}"/>
                  </a:ext>
                </a:extLst>
              </p:cNvPr>
              <p:cNvCxnSpPr>
                <a:cxnSpLocks noChangeShapeType="1"/>
              </p:cNvCxnSpPr>
              <p:nvPr/>
            </p:nvCxnSpPr>
            <p:spPr bwMode="auto">
              <a:xfrm flipV="1">
                <a:off x="3713570" y="4925119"/>
                <a:ext cx="360000" cy="252000"/>
              </a:xfrm>
              <a:prstGeom prst="straightConnector1">
                <a:avLst/>
              </a:prstGeom>
              <a:noFill/>
              <a:ln w="28575" algn="ctr">
                <a:solidFill>
                  <a:schemeClr val="tx1"/>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59" name="Object 16">
                    <a:extLst>
                      <a:ext uri="{FF2B5EF4-FFF2-40B4-BE49-F238E27FC236}">
                        <a16:creationId xmlns:a16="http://schemas.microsoft.com/office/drawing/2014/main" id="{CFFD8721-47AF-45DF-86AF-3DD0FCD0DA53}"/>
                      </a:ext>
                    </a:extLst>
                  </p:cNvPr>
                  <p:cNvSpPr txBox="1"/>
                  <p:nvPr/>
                </p:nvSpPr>
                <p:spPr bwMode="auto">
                  <a:xfrm>
                    <a:off x="3276726" y="4334256"/>
                    <a:ext cx="384175" cy="503237"/>
                  </a:xfrm>
                  <a:prstGeom prst="rect">
                    <a:avLst/>
                  </a:prstGeom>
                  <a:noFill/>
                  <a:ln>
                    <a:noFill/>
                  </a:ln>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𝑞</m:t>
                              </m:r>
                            </m:e>
                            <m:sub>
                              <m:r>
                                <a:rPr lang="en-US" sz="3200" i="1">
                                  <a:solidFill>
                                    <a:srgbClr val="000000"/>
                                  </a:solidFill>
                                  <a:latin typeface="Cambria Math" panose="02040503050406030204" pitchFamily="18" charset="0"/>
                                </a:rPr>
                                <m:t>2</m:t>
                              </m:r>
                            </m:sub>
                          </m:sSub>
                        </m:oMath>
                      </m:oMathPara>
                    </a14:m>
                    <a:endParaRPr lang="en-US" sz="320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9" name="Object 16">
                    <a:extLst>
                      <a:ext uri="{FF2B5EF4-FFF2-40B4-BE49-F238E27FC236}">
                        <a16:creationId xmlns:a16="http://schemas.microsoft.com/office/drawing/2014/main" id="{CFFD8721-47AF-45DF-86AF-3DD0FCD0DA53}"/>
                      </a:ext>
                    </a:extLst>
                  </p:cNvPr>
                  <p:cNvSpPr txBox="1">
                    <a:spLocks noRot="1" noChangeAspect="1" noMove="1" noResize="1" noEditPoints="1" noAdjustHandles="1" noChangeArrowheads="1" noChangeShapeType="1" noTextEdit="1"/>
                  </p:cNvSpPr>
                  <p:nvPr/>
                </p:nvSpPr>
                <p:spPr bwMode="auto">
                  <a:xfrm>
                    <a:off x="3276726" y="4334256"/>
                    <a:ext cx="384175" cy="503237"/>
                  </a:xfrm>
                  <a:prstGeom prst="rect">
                    <a:avLst/>
                  </a:prstGeom>
                  <a:blipFill>
                    <a:blip r:embed="rId4"/>
                    <a:stretch>
                      <a:fillRect l="-1563" r="-10938"/>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Object 16">
                    <a:extLst>
                      <a:ext uri="{FF2B5EF4-FFF2-40B4-BE49-F238E27FC236}">
                        <a16:creationId xmlns:a16="http://schemas.microsoft.com/office/drawing/2014/main" id="{DA820492-F48F-4561-9257-22C1F79435B4}"/>
                      </a:ext>
                    </a:extLst>
                  </p:cNvPr>
                  <p:cNvSpPr txBox="1"/>
                  <p:nvPr/>
                </p:nvSpPr>
                <p:spPr bwMode="auto">
                  <a:xfrm>
                    <a:off x="3755220" y="4965460"/>
                    <a:ext cx="471488" cy="503237"/>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2</m:t>
                              </m:r>
                            </m:sub>
                          </m:sSub>
                        </m:oMath>
                      </m:oMathPara>
                    </a14:m>
                    <a:endParaRPr lang="en-US" sz="320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0" name="Object 16">
                    <a:extLst>
                      <a:ext uri="{FF2B5EF4-FFF2-40B4-BE49-F238E27FC236}">
                        <a16:creationId xmlns:a16="http://schemas.microsoft.com/office/drawing/2014/main" id="{DA820492-F48F-4561-9257-22C1F79435B4}"/>
                      </a:ext>
                    </a:extLst>
                  </p:cNvPr>
                  <p:cNvSpPr txBox="1">
                    <a:spLocks noRot="1" noChangeAspect="1" noMove="1" noResize="1" noEditPoints="1" noAdjustHandles="1" noChangeArrowheads="1" noChangeShapeType="1" noTextEdit="1"/>
                  </p:cNvSpPr>
                  <p:nvPr/>
                </p:nvSpPr>
                <p:spPr bwMode="auto">
                  <a:xfrm>
                    <a:off x="3755220" y="4965460"/>
                    <a:ext cx="471488" cy="503237"/>
                  </a:xfrm>
                  <a:prstGeom prst="rect">
                    <a:avLst/>
                  </a:prstGeom>
                  <a:blipFill>
                    <a:blip r:embed="rId5"/>
                    <a:stretch>
                      <a:fillRect/>
                    </a:stretch>
                  </a:blipFill>
                  <a:ln>
                    <a:noFill/>
                  </a:ln>
                  <a:extLst/>
                </p:spPr>
                <p:txBody>
                  <a:bodyPr/>
                  <a:lstStyle/>
                  <a:p>
                    <a:r>
                      <a:rPr lang="en-US">
                        <a:noFill/>
                      </a:rPr>
                      <a:t> </a:t>
                    </a:r>
                  </a:p>
                </p:txBody>
              </p:sp>
            </mc:Fallback>
          </mc:AlternateContent>
        </p:grpSp>
        <p:sp>
          <p:nvSpPr>
            <p:cNvPr id="54" name="任意多边形 6">
              <a:extLst>
                <a:ext uri="{FF2B5EF4-FFF2-40B4-BE49-F238E27FC236}">
                  <a16:creationId xmlns:a16="http://schemas.microsoft.com/office/drawing/2014/main" id="{A763263E-0568-4EEB-9AA1-7AAB9AC10A6F}"/>
                </a:ext>
              </a:extLst>
            </p:cNvPr>
            <p:cNvSpPr>
              <a:spLocks/>
            </p:cNvSpPr>
            <p:nvPr/>
          </p:nvSpPr>
          <p:spPr bwMode="auto">
            <a:xfrm rot="-480000">
              <a:off x="1251157" y="5096624"/>
              <a:ext cx="2160000" cy="180000"/>
            </a:xfrm>
            <a:custGeom>
              <a:avLst/>
              <a:gdLst>
                <a:gd name="T0" fmla="*/ 0 w 2124635"/>
                <a:gd name="T1" fmla="*/ 68308 h 492147"/>
                <a:gd name="T2" fmla="*/ 478481 w 2124635"/>
                <a:gd name="T3" fmla="*/ 4371 h 492147"/>
                <a:gd name="T4" fmla="*/ 1148355 w 2124635"/>
                <a:gd name="T5" fmla="*/ 176508 h 492147"/>
                <a:gd name="T6" fmla="*/ 1777216 w 2124635"/>
                <a:gd name="T7" fmla="*/ 122408 h 492147"/>
                <a:gd name="T8" fmla="*/ 2160000 w 2124635"/>
                <a:gd name="T9" fmla="*/ 151917 h 492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4635" h="492147">
                  <a:moveTo>
                    <a:pt x="0" y="186764"/>
                  </a:moveTo>
                  <a:cubicBezTo>
                    <a:pt x="141194" y="74705"/>
                    <a:pt x="282388" y="-37354"/>
                    <a:pt x="470647" y="11952"/>
                  </a:cubicBezTo>
                  <a:cubicBezTo>
                    <a:pt x="658906" y="61258"/>
                    <a:pt x="916641" y="428811"/>
                    <a:pt x="1129553" y="482599"/>
                  </a:cubicBezTo>
                  <a:cubicBezTo>
                    <a:pt x="1342465" y="536387"/>
                    <a:pt x="1582271" y="345887"/>
                    <a:pt x="1748118" y="334681"/>
                  </a:cubicBezTo>
                  <a:cubicBezTo>
                    <a:pt x="1913965" y="323475"/>
                    <a:pt x="2019300" y="369419"/>
                    <a:pt x="2124635" y="415364"/>
                  </a:cubicBez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320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 name="Object 16">
                  <a:extLst>
                    <a:ext uri="{FF2B5EF4-FFF2-40B4-BE49-F238E27FC236}">
                      <a16:creationId xmlns:a16="http://schemas.microsoft.com/office/drawing/2014/main" id="{EDCEF907-8A9D-4345-898C-4C494D454A79}"/>
                    </a:ext>
                  </a:extLst>
                </p:cNvPr>
                <p:cNvSpPr txBox="1"/>
                <p:nvPr/>
              </p:nvSpPr>
              <p:spPr bwMode="auto">
                <a:xfrm>
                  <a:off x="672703" y="4235836"/>
                  <a:ext cx="442913" cy="503237"/>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𝜎</m:t>
                            </m:r>
                          </m:e>
                          <m:sub>
                            <m:r>
                              <a:rPr lang="en-US" sz="3200" i="1">
                                <a:solidFill>
                                  <a:srgbClr val="000000"/>
                                </a:solidFill>
                                <a:latin typeface="Cambria Math" panose="02040503050406030204" pitchFamily="18" charset="0"/>
                              </a:rPr>
                              <m:t>1</m:t>
                            </m:r>
                          </m:sub>
                        </m:sSub>
                      </m:oMath>
                    </m:oMathPara>
                  </a14:m>
                  <a:endParaRPr lang="en-US" sz="320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5" name="Object 16">
                  <a:extLst>
                    <a:ext uri="{FF2B5EF4-FFF2-40B4-BE49-F238E27FC236}">
                      <a16:creationId xmlns:a16="http://schemas.microsoft.com/office/drawing/2014/main" id="{EDCEF907-8A9D-4345-898C-4C494D454A79}"/>
                    </a:ext>
                  </a:extLst>
                </p:cNvPr>
                <p:cNvSpPr txBox="1">
                  <a:spLocks noRot="1" noChangeAspect="1" noMove="1" noResize="1" noEditPoints="1" noAdjustHandles="1" noChangeArrowheads="1" noChangeShapeType="1" noTextEdit="1"/>
                </p:cNvSpPr>
                <p:nvPr/>
              </p:nvSpPr>
              <p:spPr bwMode="auto">
                <a:xfrm>
                  <a:off x="672703" y="4235836"/>
                  <a:ext cx="442913" cy="503237"/>
                </a:xfrm>
                <a:prstGeom prst="rect">
                  <a:avLst/>
                </a:prstGeom>
                <a:blipFill>
                  <a:blip r:embed="rId6"/>
                  <a:stretch>
                    <a:fillRect/>
                  </a:stretch>
                </a:blipFill>
                <a:ln>
                  <a:noFill/>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Object 16">
                  <a:extLst>
                    <a:ext uri="{FF2B5EF4-FFF2-40B4-BE49-F238E27FC236}">
                      <a16:creationId xmlns:a16="http://schemas.microsoft.com/office/drawing/2014/main" id="{7D3CB144-3BD6-4FF4-BC2A-8A33C3CEADC7}"/>
                    </a:ext>
                  </a:extLst>
                </p:cNvPr>
                <p:cNvSpPr txBox="1"/>
                <p:nvPr/>
              </p:nvSpPr>
              <p:spPr bwMode="auto">
                <a:xfrm>
                  <a:off x="3722652" y="4379852"/>
                  <a:ext cx="442913" cy="503237"/>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𝜎</m:t>
                            </m:r>
                          </m:e>
                          <m:sub>
                            <m:r>
                              <a:rPr lang="en-US" sz="3200" i="1">
                                <a:solidFill>
                                  <a:srgbClr val="000000"/>
                                </a:solidFill>
                                <a:latin typeface="Cambria Math" panose="02040503050406030204" pitchFamily="18" charset="0"/>
                              </a:rPr>
                              <m:t>2</m:t>
                            </m:r>
                          </m:sub>
                        </m:sSub>
                      </m:oMath>
                    </m:oMathPara>
                  </a14:m>
                  <a:endParaRPr lang="en-US" sz="320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6" name="Object 16">
                  <a:extLst>
                    <a:ext uri="{FF2B5EF4-FFF2-40B4-BE49-F238E27FC236}">
                      <a16:creationId xmlns:a16="http://schemas.microsoft.com/office/drawing/2014/main" id="{7D3CB144-3BD6-4FF4-BC2A-8A33C3CEADC7}"/>
                    </a:ext>
                  </a:extLst>
                </p:cNvPr>
                <p:cNvSpPr txBox="1">
                  <a:spLocks noRot="1" noChangeAspect="1" noMove="1" noResize="1" noEditPoints="1" noAdjustHandles="1" noChangeArrowheads="1" noChangeShapeType="1" noTextEdit="1"/>
                </p:cNvSpPr>
                <p:nvPr/>
              </p:nvSpPr>
              <p:spPr bwMode="auto">
                <a:xfrm>
                  <a:off x="3722652" y="4379852"/>
                  <a:ext cx="442913" cy="503237"/>
                </a:xfrm>
                <a:prstGeom prst="rect">
                  <a:avLst/>
                </a:prstGeom>
                <a:blipFill>
                  <a:blip r:embed="rId7"/>
                  <a:stretch>
                    <a:fillRect/>
                  </a:stretch>
                </a:blipFill>
                <a:ln>
                  <a:noFill/>
                </a:ln>
                <a:ex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5" name="Object 16">
                <a:extLst>
                  <a:ext uri="{FF2B5EF4-FFF2-40B4-BE49-F238E27FC236}">
                    <a16:creationId xmlns:a16="http://schemas.microsoft.com/office/drawing/2014/main" id="{10F10E7C-9C2F-4CA0-9A0A-44569AC18496}"/>
                  </a:ext>
                </a:extLst>
              </p:cNvPr>
              <p:cNvSpPr txBox="1"/>
              <p:nvPr/>
            </p:nvSpPr>
            <p:spPr bwMode="auto">
              <a:xfrm>
                <a:off x="1415495" y="3067845"/>
                <a:ext cx="1831975" cy="1033462"/>
              </a:xfrm>
              <a:prstGeom prst="rect">
                <a:avLst/>
              </a:prstGeom>
              <a:noFill/>
              <a:ln>
                <a:noFill/>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𝑉</m:t>
                      </m:r>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𝑞</m:t>
                              </m:r>
                            </m:e>
                            <m:sub>
                              <m:r>
                                <a:rPr lang="en-US" sz="3200" i="1">
                                  <a:solidFill>
                                    <a:srgbClr val="000000"/>
                                  </a:solidFill>
                                  <a:latin typeface="Cambria Math" panose="02040503050406030204" pitchFamily="18" charset="0"/>
                                </a:rPr>
                                <m:t>1</m:t>
                              </m:r>
                            </m:sub>
                          </m:sSub>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1</m:t>
                              </m:r>
                            </m:sub>
                          </m:sSub>
                        </m:den>
                      </m:f>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5" name="Object 16">
                <a:extLst>
                  <a:ext uri="{FF2B5EF4-FFF2-40B4-BE49-F238E27FC236}">
                    <a16:creationId xmlns:a16="http://schemas.microsoft.com/office/drawing/2014/main" id="{10F10E7C-9C2F-4CA0-9A0A-44569AC18496}"/>
                  </a:ext>
                </a:extLst>
              </p:cNvPr>
              <p:cNvSpPr txBox="1">
                <a:spLocks noRot="1" noChangeAspect="1" noMove="1" noResize="1" noEditPoints="1" noAdjustHandles="1" noChangeArrowheads="1" noChangeShapeType="1" noTextEdit="1"/>
              </p:cNvSpPr>
              <p:nvPr/>
            </p:nvSpPr>
            <p:spPr bwMode="auto">
              <a:xfrm>
                <a:off x="1415495" y="3067845"/>
                <a:ext cx="1831975" cy="1033462"/>
              </a:xfrm>
              <a:prstGeom prst="rect">
                <a:avLst/>
              </a:prstGeom>
              <a:blipFill>
                <a:blip r:embed="rId8"/>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Object 16">
                <a:extLst>
                  <a:ext uri="{FF2B5EF4-FFF2-40B4-BE49-F238E27FC236}">
                    <a16:creationId xmlns:a16="http://schemas.microsoft.com/office/drawing/2014/main" id="{E8ECF21A-AF66-4292-9350-B9DB650AFFA7}"/>
                  </a:ext>
                </a:extLst>
              </p:cNvPr>
              <p:cNvSpPr txBox="1"/>
              <p:nvPr/>
            </p:nvSpPr>
            <p:spPr bwMode="auto">
              <a:xfrm>
                <a:off x="3193495" y="3077370"/>
                <a:ext cx="1504950" cy="1033462"/>
              </a:xfrm>
              <a:prstGeom prst="rect">
                <a:avLst/>
              </a:prstGeom>
              <a:noFill/>
              <a:ln>
                <a:noFill/>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𝑞</m:t>
                              </m:r>
                            </m:e>
                            <m:sub>
                              <m:r>
                                <a:rPr lang="en-US" sz="3200" i="1">
                                  <a:solidFill>
                                    <a:srgbClr val="000000"/>
                                  </a:solidFill>
                                  <a:latin typeface="Cambria Math" panose="02040503050406030204" pitchFamily="18" charset="0"/>
                                </a:rPr>
                                <m:t>2</m:t>
                              </m:r>
                            </m:sub>
                          </m:sSub>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2</m:t>
                              </m:r>
                            </m:sub>
                          </m:sSub>
                        </m:den>
                      </m:f>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6" name="Object 16">
                <a:extLst>
                  <a:ext uri="{FF2B5EF4-FFF2-40B4-BE49-F238E27FC236}">
                    <a16:creationId xmlns:a16="http://schemas.microsoft.com/office/drawing/2014/main" id="{E8ECF21A-AF66-4292-9350-B9DB650AFFA7}"/>
                  </a:ext>
                </a:extLst>
              </p:cNvPr>
              <p:cNvSpPr txBox="1">
                <a:spLocks noRot="1" noChangeAspect="1" noMove="1" noResize="1" noEditPoints="1" noAdjustHandles="1" noChangeArrowheads="1" noChangeShapeType="1" noTextEdit="1"/>
              </p:cNvSpPr>
              <p:nvPr/>
            </p:nvSpPr>
            <p:spPr bwMode="auto">
              <a:xfrm>
                <a:off x="3193495" y="3077370"/>
                <a:ext cx="1504950" cy="1033462"/>
              </a:xfrm>
              <a:prstGeom prst="rect">
                <a:avLst/>
              </a:prstGeom>
              <a:blipFill>
                <a:blip r:embed="rId9"/>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Object 16">
                <a:extLst>
                  <a:ext uri="{FF2B5EF4-FFF2-40B4-BE49-F238E27FC236}">
                    <a16:creationId xmlns:a16="http://schemas.microsoft.com/office/drawing/2014/main" id="{887A7429-4BB5-4CB9-804D-B4D33C9B13D6}"/>
                  </a:ext>
                </a:extLst>
              </p:cNvPr>
              <p:cNvSpPr txBox="1"/>
              <p:nvPr/>
            </p:nvSpPr>
            <p:spPr bwMode="auto">
              <a:xfrm>
                <a:off x="1597571" y="4224396"/>
                <a:ext cx="1300163" cy="1033462"/>
              </a:xfrm>
              <a:prstGeom prst="rect">
                <a:avLst/>
              </a:prstGeom>
              <a:noFill/>
              <a:ln>
                <a:noFill/>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f>
                        <m:fPr>
                          <m:ctrlPr>
                            <a:rPr lang="en-US" sz="3200" i="1">
                              <a:solidFill>
                                <a:srgbClr val="000000"/>
                              </a:solidFill>
                              <a:latin typeface="Cambria Math" panose="02040503050406030204" pitchFamily="18" charset="0"/>
                            </a:rPr>
                          </m:ctrlPr>
                        </m:fPr>
                        <m:num>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𝑞</m:t>
                              </m:r>
                            </m:e>
                            <m:sub>
                              <m:r>
                                <a:rPr lang="en-US" sz="3200" i="1">
                                  <a:solidFill>
                                    <a:srgbClr val="000000"/>
                                  </a:solidFill>
                                  <a:latin typeface="Cambria Math" panose="02040503050406030204" pitchFamily="18" charset="0"/>
                                </a:rPr>
                                <m:t>1</m:t>
                              </m:r>
                            </m:sub>
                          </m:sSub>
                        </m:num>
                        <m:den>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𝑞</m:t>
                              </m:r>
                            </m:e>
                            <m:sub>
                              <m:r>
                                <a:rPr lang="en-US" sz="3200" i="1">
                                  <a:solidFill>
                                    <a:srgbClr val="000000"/>
                                  </a:solidFill>
                                  <a:latin typeface="Cambria Math" panose="02040503050406030204" pitchFamily="18" charset="0"/>
                                </a:rPr>
                                <m:t>2</m:t>
                              </m:r>
                            </m:sub>
                          </m:sSub>
                        </m:den>
                      </m:f>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1</m:t>
                              </m:r>
                            </m:sub>
                          </m:sSub>
                        </m:num>
                        <m:den>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2</m:t>
                              </m:r>
                            </m:sub>
                          </m:sSub>
                        </m:den>
                      </m:f>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7" name="Object 16">
                <a:extLst>
                  <a:ext uri="{FF2B5EF4-FFF2-40B4-BE49-F238E27FC236}">
                    <a16:creationId xmlns:a16="http://schemas.microsoft.com/office/drawing/2014/main" id="{887A7429-4BB5-4CB9-804D-B4D33C9B13D6}"/>
                  </a:ext>
                </a:extLst>
              </p:cNvPr>
              <p:cNvSpPr txBox="1">
                <a:spLocks noRot="1" noChangeAspect="1" noMove="1" noResize="1" noEditPoints="1" noAdjustHandles="1" noChangeArrowheads="1" noChangeShapeType="1" noTextEdit="1"/>
              </p:cNvSpPr>
              <p:nvPr/>
            </p:nvSpPr>
            <p:spPr bwMode="auto">
              <a:xfrm>
                <a:off x="1597571" y="4224396"/>
                <a:ext cx="1300163" cy="1033462"/>
              </a:xfrm>
              <a:prstGeom prst="rect">
                <a:avLst/>
              </a:prstGeom>
              <a:blipFill>
                <a:blip r:embed="rId10"/>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Object 16">
                <a:extLst>
                  <a:ext uri="{FF2B5EF4-FFF2-40B4-BE49-F238E27FC236}">
                    <a16:creationId xmlns:a16="http://schemas.microsoft.com/office/drawing/2014/main" id="{A092B4EA-7878-4654-9F69-9FA2EBCBE56A}"/>
                  </a:ext>
                </a:extLst>
              </p:cNvPr>
              <p:cNvSpPr txBox="1"/>
              <p:nvPr/>
            </p:nvSpPr>
            <p:spPr bwMode="auto">
              <a:xfrm>
                <a:off x="2897734" y="4208521"/>
                <a:ext cx="1241425" cy="1062037"/>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𝜎</m:t>
                              </m:r>
                            </m:e>
                            <m:sub>
                              <m:r>
                                <a:rPr lang="en-US" sz="3200" i="1">
                                  <a:solidFill>
                                    <a:srgbClr val="000000"/>
                                  </a:solidFill>
                                  <a:latin typeface="Cambria Math" panose="02040503050406030204" pitchFamily="18" charset="0"/>
                                </a:rPr>
                                <m:t>1</m:t>
                              </m:r>
                            </m:sub>
                          </m:sSub>
                          <m:sSubSup>
                            <m:sSubSupPr>
                              <m:ctrlPr>
                                <a:rPr lang="en-US" sz="3200" i="1">
                                  <a:solidFill>
                                    <a:srgbClr val="000000"/>
                                  </a:solidFill>
                                  <a:latin typeface="Cambria Math" panose="02040503050406030204" pitchFamily="18" charset="0"/>
                                </a:rPr>
                              </m:ctrlPr>
                            </m:sSubSup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1</m:t>
                              </m:r>
                            </m:sub>
                            <m:sup>
                              <m:r>
                                <a:rPr lang="en-US" sz="3200" i="1">
                                  <a:solidFill>
                                    <a:srgbClr val="000000"/>
                                  </a:solidFill>
                                  <a:latin typeface="Cambria Math" panose="02040503050406030204" pitchFamily="18" charset="0"/>
                                </a:rPr>
                                <m:t>2</m:t>
                              </m:r>
                            </m:sup>
                          </m:sSubSup>
                        </m:num>
                        <m:den>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𝜎</m:t>
                              </m:r>
                            </m:e>
                            <m:sub>
                              <m:r>
                                <a:rPr lang="en-US" sz="3200" i="1">
                                  <a:solidFill>
                                    <a:srgbClr val="000000"/>
                                  </a:solidFill>
                                  <a:latin typeface="Cambria Math" panose="02040503050406030204" pitchFamily="18" charset="0"/>
                                </a:rPr>
                                <m:t>2</m:t>
                              </m:r>
                            </m:sub>
                          </m:sSub>
                          <m:sSubSup>
                            <m:sSubSupPr>
                              <m:ctrlPr>
                                <a:rPr lang="en-US" sz="3200" i="1">
                                  <a:solidFill>
                                    <a:srgbClr val="000000"/>
                                  </a:solidFill>
                                  <a:latin typeface="Cambria Math" panose="02040503050406030204" pitchFamily="18" charset="0"/>
                                </a:rPr>
                              </m:ctrlPr>
                            </m:sSubSup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2</m:t>
                              </m:r>
                            </m:sub>
                            <m:sup>
                              <m:r>
                                <a:rPr lang="en-US" sz="3200" i="1">
                                  <a:solidFill>
                                    <a:srgbClr val="000000"/>
                                  </a:solidFill>
                                  <a:latin typeface="Cambria Math" panose="02040503050406030204" pitchFamily="18" charset="0"/>
                                </a:rPr>
                                <m:t>2</m:t>
                              </m:r>
                            </m:sup>
                          </m:sSubSup>
                        </m:den>
                      </m:f>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8" name="Object 16">
                <a:extLst>
                  <a:ext uri="{FF2B5EF4-FFF2-40B4-BE49-F238E27FC236}">
                    <a16:creationId xmlns:a16="http://schemas.microsoft.com/office/drawing/2014/main" id="{A092B4EA-7878-4654-9F69-9FA2EBCBE56A}"/>
                  </a:ext>
                </a:extLst>
              </p:cNvPr>
              <p:cNvSpPr txBox="1">
                <a:spLocks noRot="1" noChangeAspect="1" noMove="1" noResize="1" noEditPoints="1" noAdjustHandles="1" noChangeArrowheads="1" noChangeShapeType="1" noTextEdit="1"/>
              </p:cNvSpPr>
              <p:nvPr/>
            </p:nvSpPr>
            <p:spPr bwMode="auto">
              <a:xfrm>
                <a:off x="2897734" y="4208521"/>
                <a:ext cx="1241425" cy="1062037"/>
              </a:xfrm>
              <a:prstGeom prst="rect">
                <a:avLst/>
              </a:prstGeom>
              <a:blipFill>
                <a:blip r:embed="rId11"/>
                <a:stretch>
                  <a:fillRect/>
                </a:stretch>
              </a:blipFill>
              <a:ln>
                <a:noFill/>
              </a:ln>
            </p:spPr>
            <p:txBody>
              <a:bodyPr/>
              <a:lstStyle/>
              <a:p>
                <a:r>
                  <a:rPr lang="en-US">
                    <a:noFill/>
                  </a:rPr>
                  <a:t> </a:t>
                </a:r>
              </a:p>
            </p:txBody>
          </p:sp>
        </mc:Fallback>
      </mc:AlternateContent>
      <p:sp>
        <p:nvSpPr>
          <p:cNvPr id="69" name="Text Box 2">
            <a:extLst>
              <a:ext uri="{FF2B5EF4-FFF2-40B4-BE49-F238E27FC236}">
                <a16:creationId xmlns:a16="http://schemas.microsoft.com/office/drawing/2014/main" id="{AA63BB6B-8EA7-4744-ACFE-BCB348FF2342}"/>
              </a:ext>
            </a:extLst>
          </p:cNvPr>
          <p:cNvSpPr txBox="1">
            <a:spLocks noChangeArrowheads="1"/>
          </p:cNvSpPr>
          <p:nvPr/>
        </p:nvSpPr>
        <p:spPr bwMode="auto">
          <a:xfrm>
            <a:off x="2816963" y="1866880"/>
            <a:ext cx="176491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dirty="0">
                <a:solidFill>
                  <a:srgbClr val="0066FF"/>
                </a:solidFill>
                <a:ea typeface="华文楷体" panose="02010600040101010101" pitchFamily="2" charset="-122"/>
                <a:cs typeface="Times New Roman" panose="02020603050405020304" pitchFamily="18" charset="0"/>
              </a:rPr>
              <a:t>无限远</a:t>
            </a:r>
          </a:p>
        </p:txBody>
      </p:sp>
      <mc:AlternateContent xmlns:mc="http://schemas.openxmlformats.org/markup-compatibility/2006" xmlns:a14="http://schemas.microsoft.com/office/drawing/2010/main">
        <mc:Choice Requires="a14">
          <p:sp>
            <p:nvSpPr>
              <p:cNvPr id="70" name="Object 16">
                <a:extLst>
                  <a:ext uri="{FF2B5EF4-FFF2-40B4-BE49-F238E27FC236}">
                    <a16:creationId xmlns:a16="http://schemas.microsoft.com/office/drawing/2014/main" id="{6BFF5508-26C2-459B-82A8-C81F27B26864}"/>
                  </a:ext>
                </a:extLst>
              </p:cNvPr>
              <p:cNvSpPr txBox="1"/>
              <p:nvPr/>
            </p:nvSpPr>
            <p:spPr bwMode="auto">
              <a:xfrm>
                <a:off x="4607323" y="4223601"/>
                <a:ext cx="1360488" cy="1031875"/>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f>
                        <m:fPr>
                          <m:ctrlPr>
                            <a:rPr lang="en-US" sz="3200" i="1">
                              <a:solidFill>
                                <a:srgbClr val="000000"/>
                              </a:solidFill>
                              <a:latin typeface="Cambria Math" panose="02040503050406030204" pitchFamily="18" charset="0"/>
                            </a:rPr>
                          </m:ctrlPr>
                        </m:fPr>
                        <m:num>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𝜎</m:t>
                              </m:r>
                            </m:e>
                            <m:sub>
                              <m:r>
                                <a:rPr lang="en-US" sz="3200" i="1">
                                  <a:solidFill>
                                    <a:srgbClr val="000000"/>
                                  </a:solidFill>
                                  <a:latin typeface="Cambria Math" panose="02040503050406030204" pitchFamily="18" charset="0"/>
                                </a:rPr>
                                <m:t>1</m:t>
                              </m:r>
                            </m:sub>
                          </m:sSub>
                        </m:num>
                        <m:den>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𝜎</m:t>
                              </m:r>
                            </m:e>
                            <m:sub>
                              <m:r>
                                <a:rPr lang="en-US" sz="3200" i="1">
                                  <a:solidFill>
                                    <a:srgbClr val="000000"/>
                                  </a:solidFill>
                                  <a:latin typeface="Cambria Math" panose="02040503050406030204" pitchFamily="18" charset="0"/>
                                </a:rPr>
                                <m:t>2</m:t>
                              </m:r>
                            </m:sub>
                          </m:sSub>
                        </m:den>
                      </m:f>
                      <m:r>
                        <a:rPr lang="en-US" sz="3200" i="1">
                          <a:solidFill>
                            <a:srgbClr val="000000"/>
                          </a:solidFill>
                          <a:latin typeface="Cambria Math" panose="02040503050406030204" pitchFamily="18" charset="0"/>
                        </a:rPr>
                        <m:t>=</m:t>
                      </m:r>
                      <m:f>
                        <m:fPr>
                          <m:ctrlPr>
                            <a:rPr lang="en-US" sz="3200" i="1">
                              <a:solidFill>
                                <a:srgbClr val="000000"/>
                              </a:solidFill>
                              <a:latin typeface="Cambria Math" panose="02040503050406030204" pitchFamily="18" charset="0"/>
                            </a:rPr>
                          </m:ctrlPr>
                        </m:fPr>
                        <m:num>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2</m:t>
                              </m:r>
                            </m:sub>
                          </m:sSub>
                        </m:num>
                        <m:den>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𝑅</m:t>
                              </m:r>
                            </m:e>
                            <m:sub>
                              <m:r>
                                <a:rPr lang="en-US" sz="3200" i="1">
                                  <a:solidFill>
                                    <a:srgbClr val="000000"/>
                                  </a:solidFill>
                                  <a:latin typeface="Cambria Math" panose="02040503050406030204" pitchFamily="18" charset="0"/>
                                </a:rPr>
                                <m:t>1</m:t>
                              </m:r>
                            </m:sub>
                          </m:sSub>
                        </m:den>
                      </m:f>
                    </m:oMath>
                  </m:oMathPara>
                </a14:m>
                <a:endParaRPr 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70" name="Object 16">
                <a:extLst>
                  <a:ext uri="{FF2B5EF4-FFF2-40B4-BE49-F238E27FC236}">
                    <a16:creationId xmlns:a16="http://schemas.microsoft.com/office/drawing/2014/main" id="{6BFF5508-26C2-459B-82A8-C81F27B26864}"/>
                  </a:ext>
                </a:extLst>
              </p:cNvPr>
              <p:cNvSpPr txBox="1">
                <a:spLocks noRot="1" noChangeAspect="1" noMove="1" noResize="1" noEditPoints="1" noAdjustHandles="1" noChangeArrowheads="1" noChangeShapeType="1" noTextEdit="1"/>
              </p:cNvSpPr>
              <p:nvPr/>
            </p:nvSpPr>
            <p:spPr bwMode="auto">
              <a:xfrm>
                <a:off x="4607323" y="4223601"/>
                <a:ext cx="1360488" cy="1031875"/>
              </a:xfrm>
              <a:prstGeom prst="rect">
                <a:avLst/>
              </a:prstGeom>
              <a:blipFill>
                <a:blip r:embed="rId12"/>
                <a:stretch>
                  <a:fillRect/>
                </a:stretch>
              </a:blipFill>
              <a:ln>
                <a:noFill/>
              </a:ln>
            </p:spPr>
            <p:txBody>
              <a:bodyPr/>
              <a:lstStyle/>
              <a:p>
                <a:r>
                  <a:rPr lang="en-US">
                    <a:noFill/>
                  </a:rPr>
                  <a:t> </a:t>
                </a:r>
              </a:p>
            </p:txBody>
          </p:sp>
        </mc:Fallback>
      </mc:AlternateContent>
      <p:sp>
        <p:nvSpPr>
          <p:cNvPr id="71" name="Rectangle 3">
            <a:extLst>
              <a:ext uri="{FF2B5EF4-FFF2-40B4-BE49-F238E27FC236}">
                <a16:creationId xmlns:a16="http://schemas.microsoft.com/office/drawing/2014/main" id="{58EB44BA-67E4-47E8-A3B0-E2C344B9AE0B}"/>
              </a:ext>
            </a:extLst>
          </p:cNvPr>
          <p:cNvSpPr>
            <a:spLocks noChangeArrowheads="1"/>
          </p:cNvSpPr>
          <p:nvPr/>
        </p:nvSpPr>
        <p:spPr bwMode="auto">
          <a:xfrm>
            <a:off x="597832" y="5449992"/>
            <a:ext cx="10996336"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dirty="0">
                <a:ea typeface="华文楷体" panose="02010600040101010101" pitchFamily="2" charset="-122"/>
                <a:cs typeface="Times New Roman" panose="02020603050405020304" pitchFamily="18" charset="0"/>
              </a:rPr>
              <a:t>在表面凸出的尖锐部分</a:t>
            </a:r>
            <a:r>
              <a:rPr lang="en-US" altLang="zh-CN" sz="2800" dirty="0">
                <a:ea typeface="华文楷体" panose="02010600040101010101" pitchFamily="2" charset="-122"/>
                <a:cs typeface="Times New Roman" panose="02020603050405020304" pitchFamily="18" charset="0"/>
              </a:rPr>
              <a:t>(</a:t>
            </a:r>
            <a:r>
              <a:rPr lang="zh-CN" altLang="en-US" sz="2800" dirty="0">
                <a:ea typeface="华文楷体" panose="02010600040101010101" pitchFamily="2" charset="-122"/>
                <a:cs typeface="Times New Roman" panose="02020603050405020304" pitchFamily="18" charset="0"/>
              </a:rPr>
              <a:t>曲率是正值且较大</a:t>
            </a:r>
            <a:r>
              <a:rPr lang="en-US" altLang="zh-CN" sz="2800" dirty="0">
                <a:ea typeface="华文楷体" panose="02010600040101010101" pitchFamily="2" charset="-122"/>
                <a:cs typeface="Times New Roman" panose="02020603050405020304" pitchFamily="18" charset="0"/>
              </a:rPr>
              <a:t>)</a:t>
            </a:r>
            <a:r>
              <a:rPr lang="zh-CN" altLang="en-US" sz="2800" dirty="0">
                <a:ea typeface="华文楷体" panose="02010600040101010101" pitchFamily="2" charset="-122"/>
                <a:cs typeface="Times New Roman" panose="02020603050405020304" pitchFamily="18" charset="0"/>
              </a:rPr>
              <a:t>电荷面密度较大</a:t>
            </a:r>
            <a:r>
              <a:rPr lang="en-US" altLang="zh-CN" sz="2800" dirty="0">
                <a:ea typeface="华文楷体" panose="02010600040101010101" pitchFamily="2" charset="-122"/>
                <a:cs typeface="Times New Roman" panose="02020603050405020304" pitchFamily="18" charset="0"/>
              </a:rPr>
              <a:t>,</a:t>
            </a:r>
            <a:r>
              <a:rPr lang="zh-CN" altLang="en-US" sz="2800" dirty="0">
                <a:ea typeface="华文楷体" panose="02010600040101010101" pitchFamily="2" charset="-122"/>
                <a:cs typeface="Times New Roman" panose="02020603050405020304" pitchFamily="18" charset="0"/>
              </a:rPr>
              <a:t>在比较平坦部分</a:t>
            </a:r>
            <a:r>
              <a:rPr lang="en-US" altLang="zh-CN" sz="2800" dirty="0">
                <a:ea typeface="华文楷体" panose="02010600040101010101" pitchFamily="2" charset="-122"/>
                <a:cs typeface="Times New Roman" panose="02020603050405020304" pitchFamily="18" charset="0"/>
              </a:rPr>
              <a:t>(</a:t>
            </a:r>
            <a:r>
              <a:rPr lang="zh-CN" altLang="en-US" sz="2800" dirty="0">
                <a:ea typeface="华文楷体" panose="02010600040101010101" pitchFamily="2" charset="-122"/>
                <a:cs typeface="Times New Roman" panose="02020603050405020304" pitchFamily="18" charset="0"/>
              </a:rPr>
              <a:t>曲率较小</a:t>
            </a:r>
            <a:r>
              <a:rPr lang="en-US" altLang="zh-CN" sz="2800" dirty="0">
                <a:ea typeface="华文楷体" panose="02010600040101010101" pitchFamily="2" charset="-122"/>
                <a:cs typeface="Times New Roman" panose="02020603050405020304" pitchFamily="18" charset="0"/>
              </a:rPr>
              <a:t>)</a:t>
            </a:r>
            <a:r>
              <a:rPr lang="zh-CN" altLang="en-US" sz="2800" dirty="0">
                <a:ea typeface="华文楷体" panose="02010600040101010101" pitchFamily="2" charset="-122"/>
                <a:cs typeface="Times New Roman" panose="02020603050405020304" pitchFamily="18" charset="0"/>
              </a:rPr>
              <a:t>电荷面密度较小，在表面凹进部分带电面密度最小</a:t>
            </a:r>
          </a:p>
        </p:txBody>
      </p:sp>
      <p:pic>
        <p:nvPicPr>
          <p:cNvPr id="72" name="Picture 42" descr="FG23_18">
            <a:extLst>
              <a:ext uri="{FF2B5EF4-FFF2-40B4-BE49-F238E27FC236}">
                <a16:creationId xmlns:a16="http://schemas.microsoft.com/office/drawing/2014/main" id="{41D1891E-E4A1-42F7-8594-BB39B876296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59035" y="1190969"/>
            <a:ext cx="3121948" cy="395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 Box 3">
            <a:extLst>
              <a:ext uri="{FF2B5EF4-FFF2-40B4-BE49-F238E27FC236}">
                <a16:creationId xmlns:a16="http://schemas.microsoft.com/office/drawing/2014/main" id="{A231F43D-5269-4B15-8630-F539CB3CE70A}"/>
              </a:ext>
            </a:extLst>
          </p:cNvPr>
          <p:cNvSpPr txBox="1">
            <a:spLocks noChangeArrowheads="1"/>
          </p:cNvSpPr>
          <p:nvPr/>
        </p:nvSpPr>
        <p:spPr bwMode="auto">
          <a:xfrm>
            <a:off x="684916" y="404258"/>
            <a:ext cx="50203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lgn="l" eaLnBrk="1" hangingPunct="1">
              <a:spcBef>
                <a:spcPct val="50000"/>
              </a:spcBef>
              <a:buFont typeface="Wingdings" panose="05000000000000000000" pitchFamily="2" charset="2"/>
              <a:buChar char="q"/>
            </a:pPr>
            <a:r>
              <a:rPr lang="zh-CN" altLang="en-US" sz="3200" b="1" dirty="0">
                <a:solidFill>
                  <a:srgbClr val="0066FF"/>
                </a:solidFill>
                <a:ea typeface="华文楷体" panose="02010600040101010101" pitchFamily="2" charset="-122"/>
                <a:cs typeface="Times New Roman" panose="02020603050405020304" pitchFamily="18" charset="0"/>
              </a:rPr>
              <a:t>导体表面电荷分布</a:t>
            </a:r>
          </a:p>
        </p:txBody>
      </p:sp>
      <p:sp>
        <p:nvSpPr>
          <p:cNvPr id="26" name="Rectangle 3">
            <a:extLst>
              <a:ext uri="{FF2B5EF4-FFF2-40B4-BE49-F238E27FC236}">
                <a16:creationId xmlns:a16="http://schemas.microsoft.com/office/drawing/2014/main" id="{ED05AA15-EE0E-40A8-AA2A-7C05D03CC95B}"/>
              </a:ext>
            </a:extLst>
          </p:cNvPr>
          <p:cNvSpPr>
            <a:spLocks noChangeArrowheads="1"/>
          </p:cNvSpPr>
          <p:nvPr/>
        </p:nvSpPr>
        <p:spPr bwMode="auto">
          <a:xfrm>
            <a:off x="1134253" y="936394"/>
            <a:ext cx="49617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dirty="0">
                <a:ea typeface="华文楷体" panose="02010600040101010101" pitchFamily="2" charset="-122"/>
                <a:cs typeface="Times New Roman" panose="02020603050405020304" pitchFamily="18" charset="0"/>
              </a:rPr>
              <a:t>假设两表面带电导体球</a:t>
            </a:r>
          </a:p>
        </p:txBody>
      </p:sp>
    </p:spTree>
    <p:extLst>
      <p:ext uri="{BB962C8B-B14F-4D97-AF65-F5344CB8AC3E}">
        <p14:creationId xmlns:p14="http://schemas.microsoft.com/office/powerpoint/2010/main" val="329875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7" grpId="0"/>
      <p:bldP spid="68" grpId="0"/>
      <p:bldP spid="69" grpId="0" autoUpdateAnimBg="0"/>
      <p:bldP spid="70" grpId="0"/>
      <p:bldP spid="71" grpId="0"/>
      <p:bldP spid="2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descr="Z7"/>
          <p:cNvPicPr>
            <a:picLocks noChangeAspect="1"/>
          </p:cNvPicPr>
          <p:nvPr/>
        </p:nvPicPr>
        <p:blipFill>
          <a:blip r:embed="rId2"/>
          <a:stretch>
            <a:fillRect/>
          </a:stretch>
        </p:blipFill>
        <p:spPr>
          <a:xfrm>
            <a:off x="927100" y="1388376"/>
            <a:ext cx="3937000" cy="4270131"/>
          </a:xfrm>
          <a:prstGeom prst="rect">
            <a:avLst/>
          </a:prstGeom>
          <a:noFill/>
          <a:ln w="9525" cap="flat" cmpd="sng">
            <a:solidFill>
              <a:schemeClr val="tx2"/>
            </a:solidFill>
            <a:prstDash val="solid"/>
            <a:miter/>
            <a:headEnd type="none" w="med" len="med"/>
            <a:tailEnd type="none" w="med" len="med"/>
          </a:ln>
        </p:spPr>
      </p:pic>
      <p:sp>
        <p:nvSpPr>
          <p:cNvPr id="128003" name="Text Box 3"/>
          <p:cNvSpPr txBox="1"/>
          <p:nvPr/>
        </p:nvSpPr>
        <p:spPr>
          <a:xfrm>
            <a:off x="5930900" y="3923780"/>
            <a:ext cx="5105400" cy="523220"/>
          </a:xfrm>
          <a:prstGeom prst="rect">
            <a:avLst/>
          </a:prstGeom>
          <a:noFill/>
          <a:ln w="9525">
            <a:noFill/>
          </a:ln>
        </p:spPr>
        <p:txBody>
          <a:bodyPr anchor="t" anchorCtr="0">
            <a:spAutoFit/>
          </a:bodyPr>
          <a:lstStyle/>
          <a:p>
            <a:pPr>
              <a:spcBef>
                <a:spcPct val="50000"/>
              </a:spcBef>
            </a:pPr>
            <a:r>
              <a:rPr lang="en-US" altLang="zh-CN" sz="2800" dirty="0">
                <a:latin typeface="+mn-ea"/>
              </a:rPr>
              <a:t>- </a:t>
            </a:r>
            <a:r>
              <a:rPr lang="zh-CN" altLang="en-US" sz="2800" dirty="0">
                <a:latin typeface="+mn-ea"/>
              </a:rPr>
              <a:t>带电导体尖端附近电场最强</a:t>
            </a:r>
          </a:p>
        </p:txBody>
      </p:sp>
      <p:sp>
        <p:nvSpPr>
          <p:cNvPr id="128005" name="Rectangle 5"/>
          <p:cNvSpPr/>
          <p:nvPr/>
        </p:nvSpPr>
        <p:spPr>
          <a:xfrm>
            <a:off x="5930900" y="4636567"/>
            <a:ext cx="5334000" cy="1815882"/>
          </a:xfrm>
          <a:prstGeom prst="rect">
            <a:avLst/>
          </a:prstGeom>
          <a:noFill/>
          <a:ln w="9525">
            <a:noFill/>
          </a:ln>
        </p:spPr>
        <p:txBody>
          <a:bodyPr anchor="t" anchorCtr="0">
            <a:spAutoFit/>
          </a:bodyPr>
          <a:lstStyle/>
          <a:p>
            <a:pPr>
              <a:spcBef>
                <a:spcPct val="50000"/>
              </a:spcBef>
            </a:pPr>
            <a:r>
              <a:rPr lang="en-US" altLang="zh-CN" sz="2800" dirty="0">
                <a:latin typeface="+mn-ea"/>
              </a:rPr>
              <a:t>- </a:t>
            </a:r>
            <a:r>
              <a:rPr lang="zh-CN" altLang="en-US" sz="2800" dirty="0">
                <a:latin typeface="+mn-ea"/>
              </a:rPr>
              <a:t>带电导体尖端附近的电场特别大，可使尖端附近的空气发生电离而成为导体产生放电现象，即</a:t>
            </a:r>
            <a:r>
              <a:rPr lang="zh-CN" altLang="en-US" sz="2800" dirty="0">
                <a:solidFill>
                  <a:srgbClr val="CC0000"/>
                </a:solidFill>
                <a:latin typeface="+mn-ea"/>
              </a:rPr>
              <a:t>尖端放电</a:t>
            </a:r>
            <a:r>
              <a:rPr lang="zh-CN" altLang="en-US" sz="2800" dirty="0">
                <a:latin typeface="+mn-ea"/>
              </a:rPr>
              <a:t> 。</a:t>
            </a:r>
            <a:endParaRPr lang="en-US" altLang="zh-CN" sz="2800" dirty="0">
              <a:latin typeface="+mn-ea"/>
            </a:endParaRPr>
          </a:p>
        </p:txBody>
      </p:sp>
      <p:sp>
        <p:nvSpPr>
          <p:cNvPr id="9" name="文本框 8">
            <a:extLst>
              <a:ext uri="{FF2B5EF4-FFF2-40B4-BE49-F238E27FC236}">
                <a16:creationId xmlns:a16="http://schemas.microsoft.com/office/drawing/2014/main" id="{93784CEE-108B-4C22-9DAA-6941A390EF95}"/>
              </a:ext>
            </a:extLst>
          </p:cNvPr>
          <p:cNvSpPr txBox="1"/>
          <p:nvPr/>
        </p:nvSpPr>
        <p:spPr>
          <a:xfrm>
            <a:off x="1082260" y="340139"/>
            <a:ext cx="2345514" cy="584775"/>
          </a:xfrm>
          <a:prstGeom prst="rect">
            <a:avLst/>
          </a:prstGeom>
          <a:noFill/>
        </p:spPr>
        <p:txBody>
          <a:bodyPr wrap="none" rtlCol="0">
            <a:spAutoFit/>
          </a:bodyPr>
          <a:lstStyle/>
          <a:p>
            <a:pPr marL="514350" indent="-51435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尖端导体</a:t>
            </a:r>
            <a:endParaRPr lang="en-US" sz="3200" b="1" dirty="0">
              <a:solidFill>
                <a:srgbClr val="0066FF"/>
              </a:solidFill>
              <a:latin typeface="华文楷体" panose="02010600040101010101" pitchFamily="2" charset="-122"/>
              <a:ea typeface="华文楷体" panose="02010600040101010101" pitchFamily="2" charset="-122"/>
            </a:endParaRPr>
          </a:p>
        </p:txBody>
      </p:sp>
      <p:pic>
        <p:nvPicPr>
          <p:cNvPr id="10" name="Picture 14" descr="黑龙江省科学技术馆黑龙江省科学技术馆">
            <a:extLst>
              <a:ext uri="{FF2B5EF4-FFF2-40B4-BE49-F238E27FC236}">
                <a16:creationId xmlns:a16="http://schemas.microsoft.com/office/drawing/2014/main" id="{D42C94BC-5BEC-4E5B-80E8-2043F6CAD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9100" y="848714"/>
            <a:ext cx="3570900" cy="267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4155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80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80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8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p:bldP spid="128005" grpId="0"/>
    </p:bld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0.xml><?xml version="1.0" encoding="utf-8"?>
<p:tagLst xmlns:a="http://schemas.openxmlformats.org/drawingml/2006/main" xmlns:r="http://schemas.openxmlformats.org/officeDocument/2006/relationships" xmlns:p="http://schemas.openxmlformats.org/presentationml/2006/main">
  <p:tag name="RAINPROBLEM" val="ProblemBody"/>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大学物理">
      <a:majorFont>
        <a:latin typeface="Times New Roman"/>
        <a:ea typeface="华文楷体"/>
        <a:cs typeface=""/>
      </a:majorFont>
      <a:minorFont>
        <a:latin typeface="Times New Roman"/>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文档" ma:contentTypeID="0x010100CA343C45D49B2744AE1406E56A2ED666" ma:contentTypeVersion="1" ma:contentTypeDescription="新建文档。" ma:contentTypeScope="" ma:versionID="6b0f810430c447e99b80ecacf0b04663">
  <xsd:schema xmlns:xsd="http://www.w3.org/2001/XMLSchema" xmlns:xs="http://www.w3.org/2001/XMLSchema" xmlns:p="http://schemas.microsoft.com/office/2006/metadata/properties" xmlns:ns3="25ea6e4d-8952-4839-be57-11fda0df19d2" targetNamespace="http://schemas.microsoft.com/office/2006/metadata/properties" ma:root="true" ma:fieldsID="eb43a71fd68e81875b93fced2c01a36c" ns3:_="">
    <xsd:import namespace="25ea6e4d-8952-4839-be57-11fda0df19d2"/>
    <xsd:element name="properties">
      <xsd:complexType>
        <xsd:sequence>
          <xsd:element name="documentManagement">
            <xsd:complexType>
              <xsd:all>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ea6e4d-8952-4839-be57-11fda0df19d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25ea6e4d-8952-4839-be57-11fda0df19d2" xsi:nil="true"/>
  </documentManagement>
</p:properties>
</file>

<file path=customXml/itemProps1.xml><?xml version="1.0" encoding="utf-8"?>
<ds:datastoreItem xmlns:ds="http://schemas.openxmlformats.org/officeDocument/2006/customXml" ds:itemID="{3B0120BB-0242-44D2-A7C4-92F3A0AE11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ea6e4d-8952-4839-be57-11fda0df19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0BC6AA1-A723-4C18-A512-D9ED6B3D7C64}">
  <ds:schemaRefs>
    <ds:schemaRef ds:uri="http://schemas.microsoft.com/sharepoint/v3/contenttype/forms"/>
  </ds:schemaRefs>
</ds:datastoreItem>
</file>

<file path=customXml/itemProps3.xml><?xml version="1.0" encoding="utf-8"?>
<ds:datastoreItem xmlns:ds="http://schemas.openxmlformats.org/officeDocument/2006/customXml" ds:itemID="{0680EDA7-8B72-4DCC-8942-51E1EC2DBC5E}">
  <ds:schemaRefs>
    <ds:schemaRef ds:uri="http://schemas.microsoft.com/office/2006/metadata/properties"/>
    <ds:schemaRef ds:uri="25ea6e4d-8952-4839-be57-11fda0df19d2"/>
    <ds:schemaRef ds:uri="http://purl.org/dc/elements/1.1/"/>
    <ds:schemaRef ds:uri="http://schemas.microsoft.com/office/2006/documentManagement/types"/>
    <ds:schemaRef ds:uri="http://purl.org/dc/terms/"/>
    <ds:schemaRef ds:uri="http://purl.org/dc/dcmitype/"/>
    <ds:schemaRef ds:uri="http://www.w3.org/XML/1998/namespace"/>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10657</TotalTime>
  <Words>2396</Words>
  <Application>Microsoft Office PowerPoint</Application>
  <PresentationFormat>宽屏</PresentationFormat>
  <Paragraphs>498</Paragraphs>
  <Slides>47</Slides>
  <Notes>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47</vt:i4>
      </vt:variant>
    </vt:vector>
  </HeadingPairs>
  <TitlesOfParts>
    <vt:vector size="64" baseType="lpstr">
      <vt:lpstr>Google Sans</vt:lpstr>
      <vt:lpstr>Microsoft Yahei</vt:lpstr>
      <vt:lpstr>Monotype Sorts</vt:lpstr>
      <vt:lpstr>等线</vt:lpstr>
      <vt:lpstr>黑体</vt:lpstr>
      <vt:lpstr>华文楷体</vt:lpstr>
      <vt:lpstr>华文新魏</vt:lpstr>
      <vt:lpstr>宋体</vt:lpstr>
      <vt:lpstr>Arial</vt:lpstr>
      <vt:lpstr>Bookman Old Style</vt:lpstr>
      <vt:lpstr>Calibri</vt:lpstr>
      <vt:lpstr>Cambria Math</vt:lpstr>
      <vt:lpstr>Symbol</vt:lpstr>
      <vt:lpstr>Times New Roman</vt:lpstr>
      <vt:lpstr>Wingdings</vt:lpstr>
      <vt:lpstr>Office 主题​​</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例：由电偶极子的电势分布求其电场强度</vt:lpstr>
      <vt:lpstr>例：由电偶极子的电势分布求其电场强度</vt:lpstr>
      <vt:lpstr>静电势能</vt:lpstr>
      <vt:lpstr>PowerPoint 演示文稿</vt:lpstr>
      <vt:lpstr>PowerPoint 演示文稿</vt:lpstr>
      <vt:lpstr>电荷系的静电能*</vt:lpstr>
      <vt:lpstr>电荷系的静电能*</vt:lpstr>
      <vt:lpstr>PowerPoint 演示文稿</vt:lpstr>
      <vt:lpstr>电荷系的静电能*</vt:lpstr>
      <vt:lpstr>均匀带电球面的静电能</vt:lpstr>
      <vt:lpstr>均匀带电球体的静电能</vt:lpstr>
      <vt:lpstr>均匀带电球体/面的静电能</vt:lpstr>
      <vt:lpstr>静电场的能量 </vt:lpstr>
      <vt:lpstr>静电场的能量 </vt:lpstr>
      <vt:lpstr>静电场的能量 </vt:lpstr>
      <vt:lpstr>均匀带电球体的静电能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Jingcheng  Li</dc:creator>
  <cp:lastModifiedBy>Jingcheng  Li</cp:lastModifiedBy>
  <cp:revision>248</cp:revision>
  <dcterms:created xsi:type="dcterms:W3CDTF">2023-02-17T03:39:54Z</dcterms:created>
  <dcterms:modified xsi:type="dcterms:W3CDTF">2024-03-21T01:35:22Z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0x010100CA343C45D49B2744AE1406E56A2ED666</vt:lpwstr>
  </property>
</Properties>
</file>