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sldIdLst>
    <p:sldId id="1186" r:id="rId5"/>
    <p:sldId id="261" r:id="rId6"/>
    <p:sldId id="1193" r:id="rId7"/>
    <p:sldId id="1189" r:id="rId8"/>
    <p:sldId id="914" r:id="rId9"/>
    <p:sldId id="1190" r:id="rId10"/>
    <p:sldId id="1185" r:id="rId11"/>
    <p:sldId id="271" r:id="rId12"/>
    <p:sldId id="1191" r:id="rId13"/>
    <p:sldId id="919" r:id="rId14"/>
    <p:sldId id="1192" r:id="rId15"/>
    <p:sldId id="920" r:id="rId16"/>
    <p:sldId id="921" r:id="rId17"/>
    <p:sldId id="262" r:id="rId18"/>
    <p:sldId id="470" r:id="rId19"/>
    <p:sldId id="739" r:id="rId20"/>
    <p:sldId id="1198" r:id="rId21"/>
    <p:sldId id="848" r:id="rId22"/>
    <p:sldId id="926" r:id="rId23"/>
    <p:sldId id="844" r:id="rId24"/>
    <p:sldId id="925" r:id="rId25"/>
    <p:sldId id="846" r:id="rId26"/>
    <p:sldId id="853" r:id="rId27"/>
    <p:sldId id="1197" r:id="rId28"/>
    <p:sldId id="266" r:id="rId29"/>
    <p:sldId id="743" r:id="rId30"/>
    <p:sldId id="1194" r:id="rId31"/>
    <p:sldId id="1195" r:id="rId32"/>
    <p:sldId id="1196" r:id="rId33"/>
    <p:sldId id="938" r:id="rId34"/>
    <p:sldId id="939" r:id="rId35"/>
    <p:sldId id="1143" r:id="rId36"/>
    <p:sldId id="1199" r:id="rId37"/>
    <p:sldId id="1200" r:id="rId38"/>
    <p:sldId id="308" r:id="rId39"/>
    <p:sldId id="943" r:id="rId40"/>
    <p:sldId id="1201" r:id="rId41"/>
    <p:sldId id="48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38" autoAdjust="0"/>
    <p:restoredTop sz="94662" autoAdjust="0"/>
  </p:normalViewPr>
  <p:slideViewPr>
    <p:cSldViewPr snapToGrid="0">
      <p:cViewPr varScale="1">
        <p:scale>
          <a:sx n="158" d="100"/>
          <a:sy n="158" d="100"/>
        </p:scale>
        <p:origin x="9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wmf"/><Relationship Id="rId1" Type="http://schemas.openxmlformats.org/officeDocument/2006/relationships/image" Target="../media/image27.wmf"/><Relationship Id="rId5" Type="http://schemas.openxmlformats.org/officeDocument/2006/relationships/image" Target="../media/image31.wmf"/><Relationship Id="rId4" Type="http://schemas.openxmlformats.org/officeDocument/2006/relationships/image" Target="../media/image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3/26/2024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420264C8-11B0-4340-9932-458D9E41D7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A7CF889-2533-473F-A7F8-AA01BEAD7E21}" type="slidenum">
              <a:rPr lang="en-US" altLang="zh-CN" smtClean="0">
                <a:solidFill>
                  <a:srgbClr val="000000"/>
                </a:solidFill>
              </a:rPr>
              <a:pPr>
                <a:spcBef>
                  <a:spcPct val="0"/>
                </a:spcBef>
              </a:pPr>
              <a:t>15</a:t>
            </a:fld>
            <a:endParaRPr lang="en-US" altLang="zh-CN">
              <a:solidFill>
                <a:srgbClr val="000000"/>
              </a:solidFill>
            </a:endParaRPr>
          </a:p>
        </p:txBody>
      </p:sp>
      <p:sp>
        <p:nvSpPr>
          <p:cNvPr id="43011" name="Rectangle 2">
            <a:extLst>
              <a:ext uri="{FF2B5EF4-FFF2-40B4-BE49-F238E27FC236}">
                <a16:creationId xmlns:a16="http://schemas.microsoft.com/office/drawing/2014/main" id="{D73CDA67-6848-4D4F-86D7-0F1E93EF76D3}"/>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7FBF11A-16EC-48F1-8E18-0E5357D2F32E}"/>
              </a:ext>
            </a:extLst>
          </p:cNvPr>
          <p:cNvSpPr>
            <a:spLocks noGrp="1" noChangeArrowheads="1"/>
          </p:cNvSpPr>
          <p:nvPr>
            <p:ph type="body" idx="1"/>
          </p:nvPr>
        </p:nvSpPr>
        <p:spPr>
          <a:noFill/>
          <a:extLst>
            <a:ext uri="{909E8E84-426E-40DD-AFC4-6F175D3DCCD1}">
              <a14:hiddenFill xmlns:a14="http://schemas.microsoft.com/office/drawing/2010/main">
                <a:solidFill>
                  <a:srgbClr val="FEFEF0">
                    <a:alpha val="50195"/>
                  </a:srgbClr>
                </a:solidFill>
              </a14:hiddenFill>
            </a:ext>
          </a:extLst>
        </p:spPr>
        <p:txBody>
          <a:bodyPr/>
          <a:lstStyle/>
          <a:p>
            <a:pPr eaLnBrk="1" hangingPunct="1"/>
            <a:endParaRPr lang="zh-CN" altLang="zh-CN"/>
          </a:p>
        </p:txBody>
      </p:sp>
    </p:spTree>
    <p:extLst>
      <p:ext uri="{BB962C8B-B14F-4D97-AF65-F5344CB8AC3E}">
        <p14:creationId xmlns:p14="http://schemas.microsoft.com/office/powerpoint/2010/main" val="2928608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775491" indent="-298266">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193063" indent="-238613">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670289" indent="-238613">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147514" indent="-238613">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624739"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101965"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579190"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056416"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C8F4580A-5A08-4B0E-97A4-67790BFBC404}" type="slidenum">
              <a:rPr lang="en-US" altLang="zh-CN" smtClean="0">
                <a:solidFill>
                  <a:srgbClr val="000000"/>
                </a:solidFill>
              </a:rPr>
              <a:pPr>
                <a:spcBef>
                  <a:spcPct val="0"/>
                </a:spcBef>
              </a:pPr>
              <a:t>26</a:t>
            </a:fld>
            <a:endParaRPr lang="en-US" altLang="zh-CN">
              <a:solidFill>
                <a:srgbClr val="000000"/>
              </a:solidFill>
            </a:endParaRPr>
          </a:p>
        </p:txBody>
      </p:sp>
      <p:sp>
        <p:nvSpPr>
          <p:cNvPr id="81923" name="Rectangle 2"/>
          <p:cNvSpPr>
            <a:spLocks noGrp="1" noRot="1" noChangeAspect="1" noChangeArrowheads="1" noTextEdit="1"/>
          </p:cNvSpPr>
          <p:nvPr>
            <p:ph type="sldImg"/>
          </p:nvPr>
        </p:nvSpPr>
        <p:spPr>
          <a:xfrm>
            <a:off x="142875" y="766763"/>
            <a:ext cx="6815138" cy="3833812"/>
          </a:xfrm>
          <a:prstGeom prst="rect">
            <a:avLst/>
          </a:prstGeom>
          <a:ln/>
        </p:spPr>
      </p:sp>
      <p:sp>
        <p:nvSpPr>
          <p:cNvPr id="8192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3381268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1080336-09C4-46B6-BBE4-0CDED8EE3B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B025F0B-D201-4C2C-BAC0-40A365022723}" type="slidenum">
              <a:rPr lang="en-US" altLang="zh-CN" smtClean="0">
                <a:solidFill>
                  <a:srgbClr val="000000"/>
                </a:solidFill>
                <a:ea typeface="华文楷体" panose="02010600040101010101" pitchFamily="2" charset="-122"/>
              </a:rPr>
              <a:pPr>
                <a:spcBef>
                  <a:spcPct val="0"/>
                </a:spcBef>
              </a:pPr>
              <a:t>38</a:t>
            </a:fld>
            <a:endParaRPr lang="en-US" altLang="zh-CN" dirty="0">
              <a:solidFill>
                <a:srgbClr val="000000"/>
              </a:solidFill>
              <a:ea typeface="华文楷体" panose="02010600040101010101" pitchFamily="2" charset="-122"/>
            </a:endParaRPr>
          </a:p>
        </p:txBody>
      </p:sp>
      <p:sp>
        <p:nvSpPr>
          <p:cNvPr id="63491" name="Rectangle 2">
            <a:extLst>
              <a:ext uri="{FF2B5EF4-FFF2-40B4-BE49-F238E27FC236}">
                <a16:creationId xmlns:a16="http://schemas.microsoft.com/office/drawing/2014/main" id="{79A145D5-5AE8-4101-AB83-673B750E0F81}"/>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49A4E28B-EB43-49C9-B447-3193F4161772}"/>
              </a:ext>
            </a:extLst>
          </p:cNvPr>
          <p:cNvSpPr>
            <a:spLocks noGrp="1" noChangeArrowheads="1"/>
          </p:cNvSpPr>
          <p:nvPr>
            <p:ph type="body" idx="1"/>
          </p:nvPr>
        </p:nvSpPr>
        <p:spPr>
          <a:noFill/>
          <a:extLst>
            <a:ext uri="{909E8E84-426E-40DD-AFC4-6F175D3DCCD1}">
              <a14:hiddenFill xmlns:a14="http://schemas.microsoft.com/office/drawing/2010/main">
                <a:solidFill>
                  <a:srgbClr val="FEFEF0">
                    <a:alpha val="50195"/>
                  </a:srgbClr>
                </a:solidFill>
              </a14:hiddenFill>
            </a:ext>
          </a:extLst>
        </p:spPr>
        <p:txBody>
          <a:bodyPr/>
          <a:lstStyle/>
          <a:p>
            <a:pPr eaLnBrk="1" hangingPunct="1"/>
            <a:endParaRPr lang="zh-CN" altLang="zh-CN"/>
          </a:p>
        </p:txBody>
      </p:sp>
    </p:spTree>
    <p:extLst>
      <p:ext uri="{BB962C8B-B14F-4D97-AF65-F5344CB8AC3E}">
        <p14:creationId xmlns:p14="http://schemas.microsoft.com/office/powerpoint/2010/main" val="337614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3/26/2024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3/26/2024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1.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1.png"/><Relationship Id="rId2" Type="http://schemas.openxmlformats.org/officeDocument/2006/relationships/image" Target="../media/image250.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26.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1.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71.png"/><Relationship Id="rId7" Type="http://schemas.openxmlformats.org/officeDocument/2006/relationships/image" Target="../media/image400.png"/><Relationship Id="rId2" Type="http://schemas.openxmlformats.org/officeDocument/2006/relationships/image" Target="../media/image360.png"/><Relationship Id="rId1" Type="http://schemas.openxmlformats.org/officeDocument/2006/relationships/slideLayout" Target="../slideLayouts/slideLayout7.xml"/><Relationship Id="rId6" Type="http://schemas.openxmlformats.org/officeDocument/2006/relationships/image" Target="../media/image390.png"/><Relationship Id="rId5" Type="http://schemas.openxmlformats.org/officeDocument/2006/relationships/image" Target="../media/image380.png"/><Relationship Id="rId4" Type="http://schemas.openxmlformats.org/officeDocument/2006/relationships/image" Target="../media/image370.png"/></Relationships>
</file>

<file path=ppt/slides/_rels/slide9.xml.rels><?xml version="1.0" encoding="UTF-8" standalone="yes"?>
<Relationships xmlns="http://schemas.openxmlformats.org/package/2006/relationships"><Relationship Id="rId8" Type="http://schemas.openxmlformats.org/officeDocument/2006/relationships/image" Target="../media/image6.jpg"/><Relationship Id="rId7" Type="http://schemas.openxmlformats.org/officeDocument/2006/relationships/image" Target="../media/image400.png"/><Relationship Id="rId2" Type="http://schemas.openxmlformats.org/officeDocument/2006/relationships/image" Target="../media/image360.png"/><Relationship Id="rId1" Type="http://schemas.openxmlformats.org/officeDocument/2006/relationships/slideLayout" Target="../slideLayouts/slideLayout7.xml"/><Relationship Id="rId6" Type="http://schemas.openxmlformats.org/officeDocument/2006/relationships/image" Target="../media/image390.png"/><Relationship Id="rId5" Type="http://schemas.openxmlformats.org/officeDocument/2006/relationships/image" Target="../media/image380.png"/></Relationships>
</file>

<file path=ppt/slides/_rels/slide10.xml.rels><?xml version="1.0" encoding="UTF-8" standalone="yes"?>
<Relationships xmlns="http://schemas.openxmlformats.org/package/2006/relationships"><Relationship Id="rId8" Type="http://schemas.openxmlformats.org/officeDocument/2006/relationships/image" Target="../media/image410.png"/><Relationship Id="rId13" Type="http://schemas.openxmlformats.org/officeDocument/2006/relationships/image" Target="../media/image7.jpeg"/><Relationship Id="rId3" Type="http://schemas.openxmlformats.org/officeDocument/2006/relationships/image" Target="../media/image2400.png"/><Relationship Id="rId7" Type="http://schemas.openxmlformats.org/officeDocument/2006/relationships/image" Target="../media/image2800.png"/><Relationship Id="rId12" Type="http://schemas.openxmlformats.org/officeDocument/2006/relationships/image" Target="../media/image450.png"/><Relationship Id="rId2" Type="http://schemas.openxmlformats.org/officeDocument/2006/relationships/image" Target="../media/image2300.png"/><Relationship Id="rId1" Type="http://schemas.openxmlformats.org/officeDocument/2006/relationships/slideLayout" Target="../slideLayouts/slideLayout7.xml"/><Relationship Id="rId6" Type="http://schemas.openxmlformats.org/officeDocument/2006/relationships/image" Target="../media/image2700.png"/><Relationship Id="rId11" Type="http://schemas.openxmlformats.org/officeDocument/2006/relationships/image" Target="../media/image440.png"/><Relationship Id="rId5" Type="http://schemas.openxmlformats.org/officeDocument/2006/relationships/image" Target="../media/image260.png"/><Relationship Id="rId10" Type="http://schemas.openxmlformats.org/officeDocument/2006/relationships/image" Target="../media/image430.png"/><Relationship Id="rId4" Type="http://schemas.openxmlformats.org/officeDocument/2006/relationships/image" Target="../media/image2500.png"/><Relationship Id="rId9" Type="http://schemas.openxmlformats.org/officeDocument/2006/relationships/image" Target="../media/image420.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60.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0.pn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18" Type="http://schemas.openxmlformats.org/officeDocument/2006/relationships/image" Target="../media/image600.png"/><Relationship Id="rId3" Type="http://schemas.openxmlformats.org/officeDocument/2006/relationships/image" Target="../media/image4000.png"/><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4.png"/><Relationship Id="rId2" Type="http://schemas.openxmlformats.org/officeDocument/2006/relationships/notesSlide" Target="../notesSlides/notesSlide1.xml"/><Relationship Id="rId16"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2.png"/><Relationship Id="rId10" Type="http://schemas.openxmlformats.org/officeDocument/2006/relationships/image" Target="../media/image58.png"/><Relationship Id="rId4" Type="http://schemas.openxmlformats.org/officeDocument/2006/relationships/image" Target="../media/image4100.png"/><Relationship Id="rId9" Type="http://schemas.openxmlformats.org/officeDocument/2006/relationships/image" Target="../media/image57.png"/><Relationship Id="rId14" Type="http://schemas.openxmlformats.org/officeDocument/2006/relationships/image" Target="../media/image4400.png"/></Relationships>
</file>

<file path=ppt/slides/_rels/slide1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20.png"/><Relationship Id="rId7" Type="http://schemas.openxmlformats.org/officeDocument/2006/relationships/image" Target="../media/image72.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30.png"/><Relationship Id="rId9" Type="http://schemas.openxmlformats.org/officeDocument/2006/relationships/image" Target="../media/image74.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73.png"/><Relationship Id="rId7" Type="http://schemas.openxmlformats.org/officeDocument/2006/relationships/image" Target="../media/image72.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9" Type="http://schemas.openxmlformats.org/officeDocument/2006/relationships/image" Target="../media/image74.png"/></Relationships>
</file>

<file path=ppt/slides/_rels/slide19.xml.rels><?xml version="1.0" encoding="UTF-8" standalone="yes"?>
<Relationships xmlns="http://schemas.openxmlformats.org/package/2006/relationships"><Relationship Id="rId13" Type="http://schemas.openxmlformats.org/officeDocument/2006/relationships/image" Target="../media/image78.png"/><Relationship Id="rId18" Type="http://schemas.openxmlformats.org/officeDocument/2006/relationships/image" Target="../media/image83.png"/><Relationship Id="rId26" Type="http://schemas.openxmlformats.org/officeDocument/2006/relationships/image" Target="../media/image650.png"/><Relationship Id="rId3" Type="http://schemas.openxmlformats.org/officeDocument/2006/relationships/tags" Target="../tags/tag3.xml"/><Relationship Id="rId21" Type="http://schemas.openxmlformats.org/officeDocument/2006/relationships/image" Target="../media/image86.png"/><Relationship Id="rId7" Type="http://schemas.openxmlformats.org/officeDocument/2006/relationships/tags" Target="../tags/tag7.xml"/><Relationship Id="rId12" Type="http://schemas.openxmlformats.org/officeDocument/2006/relationships/slideLayout" Target="../slideLayouts/slideLayout7.xml"/><Relationship Id="rId17" Type="http://schemas.openxmlformats.org/officeDocument/2006/relationships/image" Target="../media/image82.png"/><Relationship Id="rId25" Type="http://schemas.openxmlformats.org/officeDocument/2006/relationships/image" Target="../media/image90.png"/><Relationship Id="rId33" Type="http://schemas.openxmlformats.org/officeDocument/2006/relationships/image" Target="../media/image18.tmp"/><Relationship Id="rId2" Type="http://schemas.openxmlformats.org/officeDocument/2006/relationships/tags" Target="../tags/tag2.xml"/><Relationship Id="rId16" Type="http://schemas.openxmlformats.org/officeDocument/2006/relationships/image" Target="../media/image81.png"/><Relationship Id="rId20" Type="http://schemas.openxmlformats.org/officeDocument/2006/relationships/image" Target="../media/image85.png"/><Relationship Id="rId29" Type="http://schemas.openxmlformats.org/officeDocument/2006/relationships/image" Target="../media/image94.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89.png"/><Relationship Id="rId32" Type="http://schemas.openxmlformats.org/officeDocument/2006/relationships/image" Target="../media/image97.png"/><Relationship Id="rId5" Type="http://schemas.openxmlformats.org/officeDocument/2006/relationships/tags" Target="../tags/tag5.xml"/><Relationship Id="rId15" Type="http://schemas.openxmlformats.org/officeDocument/2006/relationships/image" Target="../media/image80.png"/><Relationship Id="rId23" Type="http://schemas.openxmlformats.org/officeDocument/2006/relationships/image" Target="../media/image88.png"/><Relationship Id="rId28" Type="http://schemas.openxmlformats.org/officeDocument/2006/relationships/image" Target="../media/image93.png"/><Relationship Id="rId10" Type="http://schemas.openxmlformats.org/officeDocument/2006/relationships/tags" Target="../tags/tag10.xml"/><Relationship Id="rId19" Type="http://schemas.openxmlformats.org/officeDocument/2006/relationships/image" Target="../media/image84.png"/><Relationship Id="rId31" Type="http://schemas.openxmlformats.org/officeDocument/2006/relationships/image" Target="../media/image96.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79.png"/><Relationship Id="rId22" Type="http://schemas.openxmlformats.org/officeDocument/2006/relationships/image" Target="../media/image87.png"/><Relationship Id="rId27" Type="http://schemas.openxmlformats.org/officeDocument/2006/relationships/image" Target="../media/image92.png"/><Relationship Id="rId30" Type="http://schemas.openxmlformats.org/officeDocument/2006/relationships/image" Target="../media/image95.png"/><Relationship Id="rId8"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0.png"/></Relationships>
</file>

<file path=ppt/slides/_rels/slide21.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18" Type="http://schemas.openxmlformats.org/officeDocument/2006/relationships/image" Target="../media/image124.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670.png"/><Relationship Id="rId17" Type="http://schemas.openxmlformats.org/officeDocument/2006/relationships/image" Target="../media/image123.png"/><Relationship Id="rId2" Type="http://schemas.openxmlformats.org/officeDocument/2006/relationships/image" Target="../media/image108.png"/><Relationship Id="rId16" Type="http://schemas.openxmlformats.org/officeDocument/2006/relationships/image" Target="../media/image68.png"/><Relationship Id="rId1" Type="http://schemas.openxmlformats.org/officeDocument/2006/relationships/slideLayout" Target="../slideLayouts/slideLayout7.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s>
</file>

<file path=ppt/slides/_rels/slide22.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 Id="rId5" Type="http://schemas.openxmlformats.org/officeDocument/2006/relationships/image" Target="../media/image128.png"/><Relationship Id="rId4" Type="http://schemas.openxmlformats.org/officeDocument/2006/relationships/image" Target="../media/image127.png"/></Relationships>
</file>

<file path=ppt/slides/_rels/slide23.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slideLayout" Target="../slideLayouts/slideLayout7.xml"/><Relationship Id="rId26" Type="http://schemas.openxmlformats.org/officeDocument/2006/relationships/image" Target="../media/image143.png"/><Relationship Id="rId3" Type="http://schemas.openxmlformats.org/officeDocument/2006/relationships/tags" Target="../tags/tag14.xml"/><Relationship Id="rId21" Type="http://schemas.openxmlformats.org/officeDocument/2006/relationships/tags" Target="../tags/tag32.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5" Type="http://schemas.openxmlformats.org/officeDocument/2006/relationships/tags" Target="../tags/tag34.xml"/><Relationship Id="rId2" Type="http://schemas.openxmlformats.org/officeDocument/2006/relationships/tags" Target="../tags/tag13.xml"/><Relationship Id="rId16" Type="http://schemas.openxmlformats.org/officeDocument/2006/relationships/tags" Target="../tags/tag27.xml"/><Relationship Id="rId20" Type="http://schemas.openxmlformats.org/officeDocument/2006/relationships/image" Target="../media/image140.png"/><Relationship Id="rId29" Type="http://schemas.openxmlformats.org/officeDocument/2006/relationships/image" Target="../media/image146.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24" Type="http://schemas.openxmlformats.org/officeDocument/2006/relationships/image" Target="../media/image142.png"/><Relationship Id="rId5" Type="http://schemas.openxmlformats.org/officeDocument/2006/relationships/tags" Target="../tags/tag16.xml"/><Relationship Id="rId15" Type="http://schemas.openxmlformats.org/officeDocument/2006/relationships/tags" Target="../tags/tag26.xml"/><Relationship Id="rId23" Type="http://schemas.openxmlformats.org/officeDocument/2006/relationships/tags" Target="../tags/tag33.xml"/><Relationship Id="rId28" Type="http://schemas.openxmlformats.org/officeDocument/2006/relationships/image" Target="../media/image145.png"/><Relationship Id="rId10" Type="http://schemas.openxmlformats.org/officeDocument/2006/relationships/tags" Target="../tags/tag21.xml"/><Relationship Id="rId19" Type="http://schemas.openxmlformats.org/officeDocument/2006/relationships/tags" Target="../tags/tag31.xml"/><Relationship Id="rId31" Type="http://schemas.openxmlformats.org/officeDocument/2006/relationships/image" Target="../media/image18.tmp"/><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 Id="rId22" Type="http://schemas.openxmlformats.org/officeDocument/2006/relationships/image" Target="../media/image141.png"/><Relationship Id="rId27" Type="http://schemas.openxmlformats.org/officeDocument/2006/relationships/image" Target="../media/image144.png"/><Relationship Id="rId30" Type="http://schemas.openxmlformats.org/officeDocument/2006/relationships/image" Target="../media/image147.png"/></Relationships>
</file>

<file path=ppt/slides/_rels/slide24.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slideLayout" Target="../slideLayouts/slideLayout7.xml"/><Relationship Id="rId26" Type="http://schemas.openxmlformats.org/officeDocument/2006/relationships/image" Target="../media/image19.png"/><Relationship Id="rId3" Type="http://schemas.openxmlformats.org/officeDocument/2006/relationships/tags" Target="../tags/tag35.xml"/><Relationship Id="rId21" Type="http://schemas.openxmlformats.org/officeDocument/2006/relationships/tags" Target="../tags/tag36.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38.xml"/><Relationship Id="rId2" Type="http://schemas.openxmlformats.org/officeDocument/2006/relationships/tags" Target="../tags/tag30.xml"/><Relationship Id="rId16" Type="http://schemas.openxmlformats.org/officeDocument/2006/relationships/tags" Target="../tags/tag48.xml"/><Relationship Id="rId20" Type="http://schemas.openxmlformats.org/officeDocument/2006/relationships/image" Target="../media/image16.png"/><Relationship Id="rId29" Type="http://schemas.openxmlformats.org/officeDocument/2006/relationships/image" Target="../media/image137.png"/><Relationship Id="rId1" Type="http://schemas.openxmlformats.org/officeDocument/2006/relationships/tags" Target="../tags/tag29.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image" Target="../media/image18.png"/><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tags" Target="../tags/tag37.xml"/><Relationship Id="rId28" Type="http://schemas.openxmlformats.org/officeDocument/2006/relationships/image" Target="../media/image136.png"/><Relationship Id="rId10" Type="http://schemas.openxmlformats.org/officeDocument/2006/relationships/tags" Target="../tags/tag42.xml"/><Relationship Id="rId19" Type="http://schemas.openxmlformats.org/officeDocument/2006/relationships/tags" Target="../tags/tag35.xml"/><Relationship Id="rId31" Type="http://schemas.openxmlformats.org/officeDocument/2006/relationships/image" Target="../media/image18.tmp"/><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image" Target="../media/image17.png"/><Relationship Id="rId27" Type="http://schemas.openxmlformats.org/officeDocument/2006/relationships/image" Target="../media/image135.png"/><Relationship Id="rId30" Type="http://schemas.openxmlformats.org/officeDocument/2006/relationships/image" Target="../media/image138.png"/></Relationships>
</file>

<file path=ppt/slides/_rels/slide25.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image" Target="../media/image132.png"/><Relationship Id="rId1" Type="http://schemas.openxmlformats.org/officeDocument/2006/relationships/slideLayout" Target="../slideLayouts/slideLayout7.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20.png"/><Relationship Id="rId9" Type="http://schemas.openxmlformats.org/officeDocument/2006/relationships/image" Target="../media/image139.png"/></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730.png"/><Relationship Id="rId7" Type="http://schemas.openxmlformats.org/officeDocument/2006/relationships/image" Target="../media/image720.png"/><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image" Target="../media/image710.png"/><Relationship Id="rId11" Type="http://schemas.openxmlformats.org/officeDocument/2006/relationships/image" Target="../media/image760.png"/><Relationship Id="rId5" Type="http://schemas.openxmlformats.org/officeDocument/2006/relationships/image" Target="../media/image700.png"/><Relationship Id="rId10" Type="http://schemas.openxmlformats.org/officeDocument/2006/relationships/image" Target="../media/image750.png"/><Relationship Id="rId9" Type="http://schemas.openxmlformats.org/officeDocument/2006/relationships/image" Target="../media/image740.png"/></Relationships>
</file>

<file path=ppt/slides/_rels/slide29.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51.png"/><Relationship Id="rId7" Type="http://schemas.openxmlformats.org/officeDocument/2006/relationships/image" Target="../media/image77.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52.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8" Type="http://schemas.openxmlformats.org/officeDocument/2006/relationships/image" Target="../media/image510.png"/><Relationship Id="rId13" Type="http://schemas.openxmlformats.org/officeDocument/2006/relationships/image" Target="../media/image561.png"/><Relationship Id="rId3" Type="http://schemas.openxmlformats.org/officeDocument/2006/relationships/image" Target="../media/image411.png"/><Relationship Id="rId7" Type="http://schemas.openxmlformats.org/officeDocument/2006/relationships/image" Target="../media/image45.png"/><Relationship Id="rId12" Type="http://schemas.openxmlformats.org/officeDocument/2006/relationships/image" Target="../media/image551.png"/><Relationship Id="rId2" Type="http://schemas.openxmlformats.org/officeDocument/2006/relationships/image" Target="../media/image401.png"/><Relationship Id="rId1" Type="http://schemas.openxmlformats.org/officeDocument/2006/relationships/slideLayout" Target="../slideLayouts/slideLayout7.xml"/><Relationship Id="rId6" Type="http://schemas.openxmlformats.org/officeDocument/2006/relationships/image" Target="../media/image441.png"/><Relationship Id="rId11" Type="http://schemas.openxmlformats.org/officeDocument/2006/relationships/image" Target="../media/image540.png"/><Relationship Id="rId5" Type="http://schemas.openxmlformats.org/officeDocument/2006/relationships/image" Target="../media/image4300.png"/><Relationship Id="rId15" Type="http://schemas.openxmlformats.org/officeDocument/2006/relationships/image" Target="../media/image98.png"/><Relationship Id="rId10" Type="http://schemas.openxmlformats.org/officeDocument/2006/relationships/image" Target="../media/image530.png"/><Relationship Id="rId4" Type="http://schemas.openxmlformats.org/officeDocument/2006/relationships/image" Target="../media/image4200.png"/><Relationship Id="rId9" Type="http://schemas.openxmlformats.org/officeDocument/2006/relationships/image" Target="../media/image520.png"/><Relationship Id="rId14" Type="http://schemas.openxmlformats.org/officeDocument/2006/relationships/image" Target="../media/image571.png"/></Relationships>
</file>

<file path=ppt/slides/_rels/slide31.xml.rels><?xml version="1.0" encoding="UTF-8" standalone="yes"?>
<Relationships xmlns="http://schemas.openxmlformats.org/package/2006/relationships"><Relationship Id="rId8" Type="http://schemas.openxmlformats.org/officeDocument/2006/relationships/image" Target="../media/image651.png"/><Relationship Id="rId3" Type="http://schemas.openxmlformats.org/officeDocument/2006/relationships/image" Target="../media/image601.png"/><Relationship Id="rId7" Type="http://schemas.openxmlformats.org/officeDocument/2006/relationships/image" Target="../media/image641.png"/><Relationship Id="rId2" Type="http://schemas.openxmlformats.org/officeDocument/2006/relationships/image" Target="../media/image590.png"/><Relationship Id="rId1" Type="http://schemas.openxmlformats.org/officeDocument/2006/relationships/slideLayout" Target="../slideLayouts/slideLayout7.xml"/><Relationship Id="rId6" Type="http://schemas.openxmlformats.org/officeDocument/2006/relationships/image" Target="../media/image631.png"/><Relationship Id="rId5" Type="http://schemas.openxmlformats.org/officeDocument/2006/relationships/image" Target="../media/image621.png"/><Relationship Id="rId10" Type="http://schemas.openxmlformats.org/officeDocument/2006/relationships/image" Target="../media/image690.png"/><Relationship Id="rId4" Type="http://schemas.openxmlformats.org/officeDocument/2006/relationships/image" Target="../media/image611.png"/><Relationship Id="rId9" Type="http://schemas.openxmlformats.org/officeDocument/2006/relationships/image" Target="../media/image66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gif"/><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35.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oleObject" Target="../embeddings/oleObject6.bin"/><Relationship Id="rId18" Type="http://schemas.openxmlformats.org/officeDocument/2006/relationships/image" Target="../media/image130.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31.wmf"/><Relationship Id="rId17" Type="http://schemas.openxmlformats.org/officeDocument/2006/relationships/image" Target="../media/image129.png"/><Relationship Id="rId2" Type="http://schemas.openxmlformats.org/officeDocument/2006/relationships/slideLayout" Target="../slideLayouts/slideLayout7.xml"/><Relationship Id="rId16" Type="http://schemas.openxmlformats.org/officeDocument/2006/relationships/image" Target="../media/image122.png"/><Relationship Id="rId1" Type="http://schemas.openxmlformats.org/officeDocument/2006/relationships/vmlDrawing" Target="../drawings/vmlDrawing1.vml"/><Relationship Id="rId6" Type="http://schemas.openxmlformats.org/officeDocument/2006/relationships/image" Target="../media/image28.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118.png"/><Relationship Id="rId10" Type="http://schemas.openxmlformats.org/officeDocument/2006/relationships/image" Target="../media/image30.emf"/><Relationship Id="rId4" Type="http://schemas.openxmlformats.org/officeDocument/2006/relationships/image" Target="../media/image27.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gif"/><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00.png"/><Relationship Id="rId4" Type="http://schemas.openxmlformats.org/officeDocument/2006/relationships/image" Target="../media/image13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170115" y="263316"/>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mn-lt"/>
                <a:ea typeface="+mn-ea"/>
                <a:cs typeface="Arial" panose="020B0604020202020204" pitchFamily="34" charset="0"/>
              </a:rPr>
              <a:t>第</a:t>
            </a:r>
            <a:r>
              <a:rPr lang="en-US" altLang="zh-CN" sz="3600" b="1" dirty="0">
                <a:solidFill>
                  <a:schemeClr val="tx1"/>
                </a:solidFill>
                <a:latin typeface="+mn-lt"/>
                <a:ea typeface="+mn-ea"/>
                <a:cs typeface="Arial" panose="020B0604020202020204" pitchFamily="34" charset="0"/>
              </a:rPr>
              <a:t>14</a:t>
            </a:r>
            <a:r>
              <a:rPr lang="zh-CN" altLang="en-US" sz="3600" b="1" dirty="0">
                <a:solidFill>
                  <a:schemeClr val="tx1"/>
                </a:solidFill>
                <a:latin typeface="+mn-lt"/>
                <a:ea typeface="+mn-ea"/>
                <a:cs typeface="Arial" panose="020B0604020202020204" pitchFamily="34" charset="0"/>
              </a:rPr>
              <a:t> 章     静电场中的导体</a:t>
            </a:r>
            <a:endParaRPr lang="zh-CN" altLang="en-US" sz="3200" b="1" dirty="0">
              <a:solidFill>
                <a:schemeClr val="tx1"/>
              </a:solidFill>
              <a:latin typeface="+mn-lt"/>
              <a:ea typeface="+mn-ea"/>
              <a:cs typeface="Arial" panose="020B0604020202020204" pitchFamily="34" charset="0"/>
            </a:endParaRP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598128" y="1706312"/>
            <a:ext cx="523199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mn-lt"/>
                <a:ea typeface="+mn-ea"/>
                <a:cs typeface="Arial" panose="020B0604020202020204" pitchFamily="34" charset="0"/>
              </a:rPr>
              <a:t>14.1  </a:t>
            </a:r>
            <a:r>
              <a:rPr lang="zh-CN" altLang="en-US" sz="3200" dirty="0">
                <a:solidFill>
                  <a:schemeClr val="tx1"/>
                </a:solidFill>
                <a:latin typeface="+mn-lt"/>
                <a:ea typeface="+mn-ea"/>
                <a:cs typeface="Arial" panose="020B0604020202020204" pitchFamily="34" charset="0"/>
              </a:rPr>
              <a:t>静电平衡条件</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2598128" y="3001712"/>
            <a:ext cx="7536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mn-lt"/>
                <a:ea typeface="+mn-ea"/>
                <a:cs typeface="Arial" panose="020B0604020202020204" pitchFamily="34" charset="0"/>
              </a:rPr>
              <a:t>14.3  </a:t>
            </a:r>
            <a:r>
              <a:rPr lang="zh-CN" altLang="en-US" sz="3200" dirty="0">
                <a:solidFill>
                  <a:srgbClr val="0066FF"/>
                </a:solidFill>
                <a:latin typeface="+mn-lt"/>
                <a:ea typeface="+mn-ea"/>
                <a:cs typeface="Arial" panose="020B0604020202020204" pitchFamily="34" charset="0"/>
              </a:rPr>
              <a:t>有导体存在时静电场的分析与计算</a:t>
            </a:r>
          </a:p>
        </p:txBody>
      </p:sp>
      <p:sp>
        <p:nvSpPr>
          <p:cNvPr id="4115" name="Text Box 19">
            <a:hlinkClick r:id="" action="ppaction://noaction"/>
            <a:extLst>
              <a:ext uri="{FF2B5EF4-FFF2-40B4-BE49-F238E27FC236}">
                <a16:creationId xmlns:a16="http://schemas.microsoft.com/office/drawing/2014/main" id="{2E74E40B-D4E9-420C-843A-63B8B00C8FD2}"/>
              </a:ext>
            </a:extLst>
          </p:cNvPr>
          <p:cNvSpPr txBox="1">
            <a:spLocks noChangeArrowheads="1"/>
          </p:cNvSpPr>
          <p:nvPr/>
        </p:nvSpPr>
        <p:spPr bwMode="auto">
          <a:xfrm>
            <a:off x="2588605" y="3650998"/>
            <a:ext cx="27494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dirty="0">
                <a:solidFill>
                  <a:srgbClr val="0066FF"/>
                </a:solidFill>
                <a:latin typeface="+mn-lt"/>
                <a:ea typeface="+mn-ea"/>
                <a:cs typeface="Arial" panose="020B0604020202020204" pitchFamily="34" charset="0"/>
              </a:rPr>
              <a:t>14.4</a:t>
            </a:r>
            <a:r>
              <a:rPr lang="zh-CN" altLang="en-US" sz="3200" dirty="0">
                <a:solidFill>
                  <a:srgbClr val="0066FF"/>
                </a:solidFill>
                <a:latin typeface="+mn-lt"/>
                <a:ea typeface="+mn-ea"/>
                <a:cs typeface="Arial" panose="020B0604020202020204" pitchFamily="34" charset="0"/>
              </a:rPr>
              <a:t>  静电屏蔽</a:t>
            </a:r>
          </a:p>
        </p:txBody>
      </p:sp>
      <p:sp>
        <p:nvSpPr>
          <p:cNvPr id="4116" name="Rectangle 20">
            <a:hlinkClick r:id="" action="ppaction://noaction"/>
            <a:extLst>
              <a:ext uri="{FF2B5EF4-FFF2-40B4-BE49-F238E27FC236}">
                <a16:creationId xmlns:a16="http://schemas.microsoft.com/office/drawing/2014/main" id="{163FEB06-B244-41DC-9745-09D2B510C55A}"/>
              </a:ext>
            </a:extLst>
          </p:cNvPr>
          <p:cNvSpPr>
            <a:spLocks noChangeArrowheads="1"/>
          </p:cNvSpPr>
          <p:nvPr/>
        </p:nvSpPr>
        <p:spPr bwMode="auto">
          <a:xfrm>
            <a:off x="2598129" y="4370137"/>
            <a:ext cx="467995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mn-lt"/>
                <a:ea typeface="+mn-ea"/>
                <a:cs typeface="Arial" panose="020B0604020202020204" pitchFamily="34" charset="0"/>
              </a:rPr>
              <a:t>14.5</a:t>
            </a:r>
            <a:r>
              <a:rPr lang="en-US" altLang="zh-CN" sz="3200" dirty="0">
                <a:solidFill>
                  <a:srgbClr val="0066FF"/>
                </a:solidFill>
                <a:latin typeface="+mn-lt"/>
                <a:cs typeface="Arial" panose="020B0604020202020204" pitchFamily="34" charset="0"/>
              </a:rPr>
              <a:t> *</a:t>
            </a:r>
            <a:r>
              <a:rPr lang="en-US" altLang="zh-CN" sz="3200" dirty="0">
                <a:solidFill>
                  <a:srgbClr val="0066FF"/>
                </a:solidFill>
                <a:latin typeface="+mn-lt"/>
                <a:ea typeface="+mn-ea"/>
                <a:cs typeface="Arial" panose="020B0604020202020204" pitchFamily="34" charset="0"/>
              </a:rPr>
              <a:t>  </a:t>
            </a:r>
            <a:r>
              <a:rPr lang="zh-CN" altLang="en-US" sz="3200" dirty="0">
                <a:solidFill>
                  <a:srgbClr val="0066FF"/>
                </a:solidFill>
                <a:latin typeface="+mn-lt"/>
                <a:ea typeface="+mn-ea"/>
                <a:cs typeface="Arial" panose="020B0604020202020204" pitchFamily="34" charset="0"/>
              </a:rPr>
              <a:t>唯一性定理</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2598130" y="2354012"/>
            <a:ext cx="615424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mn-lt"/>
                <a:ea typeface="+mn-ea"/>
                <a:cs typeface="Arial" panose="020B0604020202020204" pitchFamily="34" charset="0"/>
              </a:rPr>
              <a:t>14.2  </a:t>
            </a:r>
            <a:r>
              <a:rPr lang="zh-CN" altLang="en-US" sz="3200" dirty="0">
                <a:solidFill>
                  <a:srgbClr val="0066FF"/>
                </a:solidFill>
                <a:latin typeface="+mn-lt"/>
                <a:ea typeface="+mn-ea"/>
                <a:cs typeface="Arial" panose="020B0604020202020204" pitchFamily="34" charset="0"/>
              </a:rPr>
              <a:t>静电平衡时的电荷分布</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grpSp>
        <p:nvGrpSpPr>
          <p:cNvPr id="14" name="Group 10">
            <a:extLst>
              <a:ext uri="{FF2B5EF4-FFF2-40B4-BE49-F238E27FC236}">
                <a16:creationId xmlns:a16="http://schemas.microsoft.com/office/drawing/2014/main" id="{E0368B62-16F5-4741-9E71-32B4EA878F5B}"/>
              </a:ext>
            </a:extLst>
          </p:cNvPr>
          <p:cNvGrpSpPr>
            <a:grpSpLocks/>
          </p:cNvGrpSpPr>
          <p:nvPr/>
        </p:nvGrpSpPr>
        <p:grpSpPr bwMode="auto">
          <a:xfrm>
            <a:off x="11124269" y="312853"/>
            <a:ext cx="1657850" cy="1794587"/>
            <a:chOff x="3185" y="2351"/>
            <a:chExt cx="2183" cy="2367"/>
          </a:xfrm>
        </p:grpSpPr>
        <p:sp>
          <p:nvSpPr>
            <p:cNvPr id="20" name="Rectangle 12">
              <a:extLst>
                <a:ext uri="{FF2B5EF4-FFF2-40B4-BE49-F238E27FC236}">
                  <a16:creationId xmlns:a16="http://schemas.microsoft.com/office/drawing/2014/main" id="{56FB10CD-B000-48EF-9FEB-DE0E09CE647F}"/>
                </a:ext>
              </a:extLst>
            </p:cNvPr>
            <p:cNvSpPr>
              <a:spLocks noChangeArrowheads="1"/>
            </p:cNvSpPr>
            <p:nvPr/>
          </p:nvSpPr>
          <p:spPr bwMode="auto">
            <a:xfrm>
              <a:off x="3185" y="302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1" name="Rectangle 13">
              <a:extLst>
                <a:ext uri="{FF2B5EF4-FFF2-40B4-BE49-F238E27FC236}">
                  <a16:creationId xmlns:a16="http://schemas.microsoft.com/office/drawing/2014/main" id="{FCE506A5-CA4A-4CEB-9FD5-274A2B21318F}"/>
                </a:ext>
              </a:extLst>
            </p:cNvPr>
            <p:cNvSpPr>
              <a:spLocks noChangeArrowheads="1"/>
            </p:cNvSpPr>
            <p:nvPr/>
          </p:nvSpPr>
          <p:spPr bwMode="auto">
            <a:xfrm>
              <a:off x="3185" y="2735"/>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2" name="Rectangle 14">
              <a:extLst>
                <a:ext uri="{FF2B5EF4-FFF2-40B4-BE49-F238E27FC236}">
                  <a16:creationId xmlns:a16="http://schemas.microsoft.com/office/drawing/2014/main" id="{E60E15B0-2CC0-4D15-852E-D2C0C799050C}"/>
                </a:ext>
              </a:extLst>
            </p:cNvPr>
            <p:cNvSpPr>
              <a:spLocks noChangeArrowheads="1"/>
            </p:cNvSpPr>
            <p:nvPr/>
          </p:nvSpPr>
          <p:spPr bwMode="auto">
            <a:xfrm>
              <a:off x="3281" y="2351"/>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7" name="Rectangle 19">
              <a:extLst>
                <a:ext uri="{FF2B5EF4-FFF2-40B4-BE49-F238E27FC236}">
                  <a16:creationId xmlns:a16="http://schemas.microsoft.com/office/drawing/2014/main" id="{6A504767-562D-4DC0-B5BA-EC1EAD1439C0}"/>
                </a:ext>
              </a:extLst>
            </p:cNvPr>
            <p:cNvSpPr>
              <a:spLocks noChangeArrowheads="1"/>
            </p:cNvSpPr>
            <p:nvPr/>
          </p:nvSpPr>
          <p:spPr bwMode="auto">
            <a:xfrm>
              <a:off x="4290" y="374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9" name="Rectangle 21">
              <a:extLst>
                <a:ext uri="{FF2B5EF4-FFF2-40B4-BE49-F238E27FC236}">
                  <a16:creationId xmlns:a16="http://schemas.microsoft.com/office/drawing/2014/main" id="{E3EE02CE-54DD-4F65-B21F-AF2DE8AE545D}"/>
                </a:ext>
              </a:extLst>
            </p:cNvPr>
            <p:cNvSpPr>
              <a:spLocks noChangeArrowheads="1"/>
            </p:cNvSpPr>
            <p:nvPr/>
          </p:nvSpPr>
          <p:spPr bwMode="auto">
            <a:xfrm>
              <a:off x="4913" y="331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30" name="Rectangle 22">
              <a:extLst>
                <a:ext uri="{FF2B5EF4-FFF2-40B4-BE49-F238E27FC236}">
                  <a16:creationId xmlns:a16="http://schemas.microsoft.com/office/drawing/2014/main" id="{45827645-85E6-4C84-93E4-6717B2A70EA4}"/>
                </a:ext>
              </a:extLst>
            </p:cNvPr>
            <p:cNvSpPr>
              <a:spLocks noChangeArrowheads="1"/>
            </p:cNvSpPr>
            <p:nvPr/>
          </p:nvSpPr>
          <p:spPr bwMode="auto">
            <a:xfrm>
              <a:off x="5009" y="302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31" name="Rectangle 23">
              <a:extLst>
                <a:ext uri="{FF2B5EF4-FFF2-40B4-BE49-F238E27FC236}">
                  <a16:creationId xmlns:a16="http://schemas.microsoft.com/office/drawing/2014/main" id="{D94F2924-9355-48B8-8227-5F8408F3ED81}"/>
                </a:ext>
              </a:extLst>
            </p:cNvPr>
            <p:cNvSpPr>
              <a:spLocks noChangeArrowheads="1"/>
            </p:cNvSpPr>
            <p:nvPr/>
          </p:nvSpPr>
          <p:spPr bwMode="auto">
            <a:xfrm>
              <a:off x="5058" y="2687"/>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32" name="Rectangle 24">
              <a:extLst>
                <a:ext uri="{FF2B5EF4-FFF2-40B4-BE49-F238E27FC236}">
                  <a16:creationId xmlns:a16="http://schemas.microsoft.com/office/drawing/2014/main" id="{3A3F8AA3-8032-4063-9397-71B035F33FF0}"/>
                </a:ext>
              </a:extLst>
            </p:cNvPr>
            <p:cNvSpPr>
              <a:spLocks noChangeArrowheads="1"/>
            </p:cNvSpPr>
            <p:nvPr/>
          </p:nvSpPr>
          <p:spPr bwMode="auto">
            <a:xfrm>
              <a:off x="3618" y="3599"/>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311592305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pic1.zhimg.com/v2-b0f53f089a7bc5d0a77caec01055dec0_b.webp">
            <a:extLst>
              <a:ext uri="{FF2B5EF4-FFF2-40B4-BE49-F238E27FC236}">
                <a16:creationId xmlns:a16="http://schemas.microsoft.com/office/drawing/2014/main" id="{AE35CCD2-1B4F-4F10-9059-8981AB0CFD5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67868" y="1547737"/>
            <a:ext cx="4861489" cy="438487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7">
            <a:extLst>
              <a:ext uri="{FF2B5EF4-FFF2-40B4-BE49-F238E27FC236}">
                <a16:creationId xmlns:a16="http://schemas.microsoft.com/office/drawing/2014/main" id="{BD77F89D-D855-4D90-93BB-4D8FB0C50DEC}"/>
              </a:ext>
            </a:extLst>
          </p:cNvPr>
          <p:cNvSpPr>
            <a:spLocks noChangeArrowheads="1"/>
          </p:cNvSpPr>
          <p:nvPr/>
        </p:nvSpPr>
        <p:spPr bwMode="auto">
          <a:xfrm>
            <a:off x="6044022" y="4268972"/>
            <a:ext cx="5565170"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spcBef>
                <a:spcPct val="50000"/>
              </a:spcBef>
            </a:pPr>
            <a:r>
              <a:rPr lang="zh-CN" altLang="en-US" sz="2800" b="1" dirty="0">
                <a:latin typeface="华文楷体" panose="02010600040101010101" pitchFamily="2" charset="-122"/>
                <a:ea typeface="华文楷体" panose="02010600040101010101" pitchFamily="2" charset="-122"/>
              </a:rPr>
              <a:t>导体</a:t>
            </a:r>
            <a:r>
              <a:rPr lang="zh-CN" altLang="en-US" sz="2800" b="1" dirty="0">
                <a:solidFill>
                  <a:srgbClr val="FF0000"/>
                </a:solidFill>
                <a:latin typeface="华文楷体" panose="02010600040101010101" pitchFamily="2" charset="-122"/>
                <a:ea typeface="华文楷体" panose="02010600040101010101" pitchFamily="2" charset="-122"/>
              </a:rPr>
              <a:t>内部和表面</a:t>
            </a:r>
            <a:r>
              <a:rPr lang="zh-CN" altLang="en-US" sz="2800" b="1" dirty="0">
                <a:latin typeface="华文楷体" panose="02010600040101010101" pitchFamily="2" charset="-122"/>
                <a:ea typeface="华文楷体" panose="02010600040101010101" pitchFamily="2" charset="-122"/>
              </a:rPr>
              <a:t>无自由电荷的定向移动的状态，称为导体处于静电平衡状态</a:t>
            </a:r>
          </a:p>
        </p:txBody>
      </p:sp>
      <p:sp>
        <p:nvSpPr>
          <p:cNvPr id="6" name="内容占位符 7">
            <a:extLst>
              <a:ext uri="{FF2B5EF4-FFF2-40B4-BE49-F238E27FC236}">
                <a16:creationId xmlns:a16="http://schemas.microsoft.com/office/drawing/2014/main" id="{BFF6B104-EAF3-4855-8EF7-3FC257F8B2A6}"/>
              </a:ext>
            </a:extLst>
          </p:cNvPr>
          <p:cNvSpPr txBox="1">
            <a:spLocks/>
          </p:cNvSpPr>
          <p:nvPr/>
        </p:nvSpPr>
        <p:spPr>
          <a:xfrm>
            <a:off x="6096000" y="1225531"/>
            <a:ext cx="5131242" cy="15832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华文楷体" panose="02010600040101010101" pitchFamily="2" charset="-122"/>
                <a:ea typeface="华文楷体" panose="02010600040101010101" pitchFamily="2" charset="-122"/>
              </a:rPr>
              <a:t>导体</a:t>
            </a:r>
            <a:r>
              <a:rPr lang="zh-CN" altLang="en-US" dirty="0">
                <a:latin typeface="华文楷体" panose="02010600040101010101" pitchFamily="2" charset="-122"/>
                <a:ea typeface="华文楷体" panose="02010600040101010101" pitchFamily="2" charset="-122"/>
                <a:sym typeface="Monotype Sorts" pitchFamily="2" charset="2"/>
              </a:rPr>
              <a:t>放入电场 </a:t>
            </a:r>
            <a:r>
              <a:rPr lang="zh-CN" altLang="en-US" dirty="0">
                <a:latin typeface="华文楷体" panose="02010600040101010101" pitchFamily="2" charset="-122"/>
                <a:ea typeface="华文楷体" panose="0201060004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rPr>
              <a:t>自由电子定向运动 </a:t>
            </a:r>
            <a:r>
              <a:rPr lang="zh-CN" altLang="en-US" dirty="0">
                <a:latin typeface="华文楷体" panose="02010600040101010101" pitchFamily="2" charset="-122"/>
                <a:ea typeface="华文楷体" panose="0201060004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sym typeface="Monotype Sorts" pitchFamily="2" charset="2"/>
              </a:rPr>
              <a:t>改变导体电荷分布 </a:t>
            </a:r>
            <a:r>
              <a:rPr lang="zh-CN" altLang="en-US" dirty="0">
                <a:latin typeface="华文楷体" panose="02010600040101010101" pitchFamily="2" charset="-122"/>
                <a:ea typeface="华文楷体" panose="0201060004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sym typeface="Monotype Sorts" pitchFamily="2" charset="2"/>
              </a:rPr>
              <a:t>改变电场 </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sym typeface="Monotype Sorts" pitchFamily="2" charset="2"/>
              </a:rPr>
              <a:t> </a:t>
            </a:r>
            <a:r>
              <a:rPr lang="en-US" altLang="zh-CN" dirty="0">
                <a:latin typeface="华文楷体" panose="02010600040101010101" pitchFamily="2" charset="-122"/>
                <a:ea typeface="华文楷体" panose="02010600040101010101" pitchFamily="2" charset="-122"/>
                <a:sym typeface="Monotype Sorts" pitchFamily="2" charset="2"/>
              </a:rPr>
              <a:t>···· </a:t>
            </a:r>
            <a:endParaRPr lang="zh-CN" altLang="en-US" dirty="0">
              <a:latin typeface="华文楷体" panose="02010600040101010101" pitchFamily="2" charset="-122"/>
              <a:ea typeface="华文楷体" panose="02010600040101010101" pitchFamily="2" charset="-122"/>
            </a:endParaRPr>
          </a:p>
        </p:txBody>
      </p:sp>
      <p:sp>
        <p:nvSpPr>
          <p:cNvPr id="3" name="矩形 2">
            <a:extLst>
              <a:ext uri="{FF2B5EF4-FFF2-40B4-BE49-F238E27FC236}">
                <a16:creationId xmlns:a16="http://schemas.microsoft.com/office/drawing/2014/main" id="{0D28CA95-6B9C-4F3D-A64B-CD2A7F115446}"/>
              </a:ext>
            </a:extLst>
          </p:cNvPr>
          <p:cNvSpPr/>
          <p:nvPr/>
        </p:nvSpPr>
        <p:spPr>
          <a:xfrm>
            <a:off x="822960" y="432021"/>
            <a:ext cx="3094117" cy="584775"/>
          </a:xfrm>
          <a:prstGeom prst="rect">
            <a:avLst/>
          </a:prstGeom>
        </p:spPr>
        <p:txBody>
          <a:bodyPr wrap="none">
            <a:spAutoFit/>
          </a:bodyPr>
          <a:lstStyle/>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zh-CN" altLang="en-US" sz="3200" b="1" i="0" u="none" strike="noStrike" kern="0" cap="none" spc="-5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导体静电平衡</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p:sp>
        <p:nvSpPr>
          <p:cNvPr id="2" name="Rectangle 37">
            <a:extLst>
              <a:ext uri="{FF2B5EF4-FFF2-40B4-BE49-F238E27FC236}">
                <a16:creationId xmlns:a16="http://schemas.microsoft.com/office/drawing/2014/main" id="{2314C11D-059F-638E-2293-F79403830925}"/>
              </a:ext>
            </a:extLst>
          </p:cNvPr>
          <p:cNvSpPr>
            <a:spLocks noChangeArrowheads="1"/>
          </p:cNvSpPr>
          <p:nvPr/>
        </p:nvSpPr>
        <p:spPr bwMode="auto">
          <a:xfrm>
            <a:off x="6662645" y="3372096"/>
            <a:ext cx="401776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spcBef>
                <a:spcPct val="50000"/>
              </a:spcBef>
            </a:pPr>
            <a:r>
              <a:rPr lang="zh-CN" altLang="en-US" sz="2800" b="1" dirty="0">
                <a:latin typeface="华文楷体" panose="02010600040101010101" pitchFamily="2" charset="-122"/>
                <a:ea typeface="华文楷体" panose="02010600040101010101" pitchFamily="2" charset="-122"/>
              </a:rPr>
              <a:t>电荷受到的电场力为零</a:t>
            </a:r>
          </a:p>
        </p:txBody>
      </p:sp>
    </p:spTree>
    <p:extLst>
      <p:ext uri="{BB962C8B-B14F-4D97-AF65-F5344CB8AC3E}">
        <p14:creationId xmlns:p14="http://schemas.microsoft.com/office/powerpoint/2010/main" val="134319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C914857-5D6A-4301-AFFF-C0DE9607D379}"/>
              </a:ext>
            </a:extLst>
          </p:cNvPr>
          <p:cNvSpPr/>
          <p:nvPr/>
        </p:nvSpPr>
        <p:spPr>
          <a:xfrm>
            <a:off x="822960" y="432021"/>
            <a:ext cx="3877985" cy="584775"/>
          </a:xfrm>
          <a:prstGeom prst="rect">
            <a:avLst/>
          </a:prstGeom>
        </p:spPr>
        <p:txBody>
          <a:bodyPr wrap="none">
            <a:spAutoFit/>
          </a:bodyPr>
          <a:lstStyle/>
          <a:p>
            <a:pPr marL="457200" lvl="0" indent="-457200">
              <a:buFont typeface="Wingdings" panose="05000000000000000000" pitchFamily="2" charset="2"/>
              <a:buChar char="q"/>
            </a:pPr>
            <a:r>
              <a:rPr lang="zh-CN" altLang="en-US" sz="3200" b="1" kern="0" spc="-5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导体静电平衡条件</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23" name="矩形 122">
                <a:extLst>
                  <a:ext uri="{FF2B5EF4-FFF2-40B4-BE49-F238E27FC236}">
                    <a16:creationId xmlns:a16="http://schemas.microsoft.com/office/drawing/2014/main" id="{5D5E7858-FE30-43DB-AC2B-8ED2D8F419BE}"/>
                  </a:ext>
                </a:extLst>
              </p:cNvPr>
              <p:cNvSpPr/>
              <p:nvPr/>
            </p:nvSpPr>
            <p:spPr>
              <a:xfrm>
                <a:off x="6166462" y="1120479"/>
                <a:ext cx="6096000" cy="1764650"/>
              </a:xfrm>
              <a:prstGeom prst="rect">
                <a:avLst/>
              </a:prstGeom>
            </p:spPr>
            <p:txBody>
              <a:bodyPr>
                <a:spAutoFit/>
              </a:bodyPr>
              <a:lstStyle/>
              <a:p>
                <a:pPr lvl="0" algn="just">
                  <a:lnSpc>
                    <a:spcPct val="150000"/>
                  </a:lnSpc>
                  <a:spcBef>
                    <a:spcPts val="1200"/>
                  </a:spcBef>
                  <a:spcAft>
                    <a:spcPts val="200"/>
                  </a:spcAft>
                  <a:buClr>
                    <a:srgbClr val="99CB38"/>
                  </a:buClr>
                  <a:buSzPct val="100000"/>
                </a:pPr>
                <a:r>
                  <a:rPr lang="en-US" altLang="zh-CN" sz="3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导体内部  </a:t>
                </a:r>
                <a14:m>
                  <m:oMath xmlns:m="http://schemas.openxmlformats.org/officeDocument/2006/math">
                    <m:sSub>
                      <m:sSubPr>
                        <m:ctrlPr>
                          <a:rPr lang="en-US" altLang="zh-CN" sz="3200" i="1" dirty="0">
                            <a:solidFill>
                              <a:schemeClr val="tx1"/>
                            </a:solidFill>
                            <a:latin typeface="Cambria Math" panose="02040503050406030204" pitchFamily="18" charset="0"/>
                          </a:rPr>
                        </m:ctrlPr>
                      </m:sSubPr>
                      <m:e>
                        <m:acc>
                          <m:accPr>
                            <m:chr m:val="⃗"/>
                            <m:ctrlPr>
                              <a:rPr lang="en-US" altLang="zh-CN" sz="3200" i="1" dirty="0">
                                <a:solidFill>
                                  <a:schemeClr val="tx1"/>
                                </a:solidFill>
                                <a:latin typeface="Cambria Math" panose="02040503050406030204" pitchFamily="18" charset="0"/>
                              </a:rPr>
                            </m:ctrlPr>
                          </m:accPr>
                          <m:e>
                            <m:r>
                              <a:rPr lang="en-US" altLang="zh-CN" sz="3200" b="0" i="1" dirty="0">
                                <a:solidFill>
                                  <a:schemeClr val="tx1"/>
                                </a:solidFill>
                                <a:latin typeface="Cambria Math" panose="02040503050406030204" pitchFamily="18" charset="0"/>
                              </a:rPr>
                              <m:t>𝐸</m:t>
                            </m:r>
                          </m:e>
                        </m:acc>
                      </m:e>
                      <m:sub>
                        <m:r>
                          <a:rPr lang="en-US" altLang="zh-CN" sz="3200" b="0" i="1" dirty="0">
                            <a:solidFill>
                              <a:schemeClr val="tx1"/>
                            </a:solidFill>
                            <a:latin typeface="Cambria Math" panose="02040503050406030204" pitchFamily="18" charset="0"/>
                          </a:rPr>
                          <m:t>𝑖𝑛</m:t>
                        </m:r>
                      </m:sub>
                    </m:sSub>
                    <m:r>
                      <a:rPr lang="en-US" altLang="zh-CN" sz="3200" b="0" i="1" dirty="0">
                        <a:solidFill>
                          <a:schemeClr val="tx1"/>
                        </a:solidFill>
                        <a:latin typeface="Cambria Math" panose="02040503050406030204" pitchFamily="18" charset="0"/>
                      </a:rPr>
                      <m:t>=0</m:t>
                    </m:r>
                  </m:oMath>
                </a14:m>
                <a:r>
                  <a:rPr lang="zh-CN" altLang="en-US" sz="3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sSub>
                      <m:sSubPr>
                        <m:ctrlPr>
                          <a:rPr lang="en-US" altLang="zh-CN" sz="3200" i="1" dirty="0">
                            <a:solidFill>
                              <a:schemeClr val="tx1"/>
                            </a:solidFill>
                            <a:latin typeface="Cambria Math" panose="02040503050406030204" pitchFamily="18" charset="0"/>
                          </a:rPr>
                        </m:ctrlPr>
                      </m:sSubPr>
                      <m:e>
                        <m:acc>
                          <m:accPr>
                            <m:chr m:val="⃗"/>
                            <m:ctrlPr>
                              <a:rPr lang="en-US" altLang="zh-CN" sz="3200" i="1" dirty="0">
                                <a:solidFill>
                                  <a:schemeClr val="tx1"/>
                                </a:solidFill>
                                <a:latin typeface="Cambria Math" panose="02040503050406030204" pitchFamily="18" charset="0"/>
                              </a:rPr>
                            </m:ctrlPr>
                          </m:accPr>
                          <m:e>
                            <m:r>
                              <a:rPr lang="en-US" altLang="zh-CN" sz="3200" b="0" i="1" dirty="0">
                                <a:solidFill>
                                  <a:schemeClr val="tx1"/>
                                </a:solidFill>
                                <a:latin typeface="Cambria Math" panose="02040503050406030204" pitchFamily="18" charset="0"/>
                              </a:rPr>
                              <m:t>𝐸</m:t>
                            </m:r>
                          </m:e>
                        </m:acc>
                      </m:e>
                      <m:sub>
                        <m:r>
                          <a:rPr lang="en-US" altLang="zh-CN" sz="3200" b="0" i="1" dirty="0">
                            <a:solidFill>
                              <a:schemeClr val="tx1"/>
                            </a:solidFill>
                            <a:latin typeface="Cambria Math" panose="02040503050406030204" pitchFamily="18" charset="0"/>
                          </a:rPr>
                          <m:t>𝑆</m:t>
                        </m:r>
                      </m:sub>
                    </m:sSub>
                    <m:r>
                      <a:rPr lang="zh-CN" altLang="en-US" sz="3200" b="0" i="1" dirty="0">
                        <a:solidFill>
                          <a:schemeClr val="tx1"/>
                        </a:solidFill>
                        <a:latin typeface="Cambria Math" panose="02040503050406030204" pitchFamily="18" charset="0"/>
                        <a:sym typeface="Symbol" panose="05050102010706020507" pitchFamily="18" charset="2"/>
                      </a:rPr>
                      <m:t></m:t>
                    </m:r>
                    <m:r>
                      <a:rPr lang="zh-CN" altLang="en-US" sz="3200" b="0" i="1" dirty="0">
                        <a:solidFill>
                          <a:schemeClr val="tx1"/>
                        </a:solidFill>
                        <a:latin typeface="Cambria Math" panose="02040503050406030204" pitchFamily="18" charset="0"/>
                      </a:rPr>
                      <m:t>表面</m:t>
                    </m:r>
                  </m:oMath>
                </a14:m>
                <a:endParaRPr lang="en-US" altLang="zh-CN" sz="3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lvl="0">
                  <a:lnSpc>
                    <a:spcPct val="150000"/>
                  </a:lnSpc>
                  <a:spcBef>
                    <a:spcPts val="1200"/>
                  </a:spcBef>
                  <a:spcAft>
                    <a:spcPts val="200"/>
                  </a:spcAft>
                  <a:buClr>
                    <a:srgbClr val="99CB38"/>
                  </a:buClr>
                  <a:buSzPct val="100000"/>
                </a:pPr>
                <a:endParaRPr lang="zh-CN" altLang="en-US" sz="3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3" name="矩形 122">
                <a:extLst>
                  <a:ext uri="{FF2B5EF4-FFF2-40B4-BE49-F238E27FC236}">
                    <a16:creationId xmlns:a16="http://schemas.microsoft.com/office/drawing/2014/main" id="{5D5E7858-FE30-43DB-AC2B-8ED2D8F419BE}"/>
                  </a:ext>
                </a:extLst>
              </p:cNvPr>
              <p:cNvSpPr>
                <a:spLocks noRot="1" noChangeAspect="1" noMove="1" noResize="1" noEditPoints="1" noAdjustHandles="1" noChangeArrowheads="1" noChangeShapeType="1" noTextEdit="1"/>
              </p:cNvSpPr>
              <p:nvPr/>
            </p:nvSpPr>
            <p:spPr>
              <a:xfrm>
                <a:off x="6166462" y="1120479"/>
                <a:ext cx="6096000" cy="1764650"/>
              </a:xfrm>
              <a:prstGeom prst="rect">
                <a:avLst/>
              </a:prstGeom>
              <a:blipFill>
                <a:blip r:embed="rId2"/>
                <a:stretch>
                  <a:fillRect l="-2600"/>
                </a:stretch>
              </a:blipFill>
            </p:spPr>
            <p:txBody>
              <a:bodyPr/>
              <a:lstStyle/>
              <a:p>
                <a:r>
                  <a:rPr lang="en-US">
                    <a:noFill/>
                  </a:rPr>
                  <a:t> </a:t>
                </a:r>
              </a:p>
            </p:txBody>
          </p:sp>
        </mc:Fallback>
      </mc:AlternateContent>
      <p:sp>
        <p:nvSpPr>
          <p:cNvPr id="76" name="矩形 75">
            <a:extLst>
              <a:ext uri="{FF2B5EF4-FFF2-40B4-BE49-F238E27FC236}">
                <a16:creationId xmlns:a16="http://schemas.microsoft.com/office/drawing/2014/main" id="{2A7E9D74-3E68-408D-A601-7B1EFD89A100}"/>
              </a:ext>
            </a:extLst>
          </p:cNvPr>
          <p:cNvSpPr/>
          <p:nvPr/>
        </p:nvSpPr>
        <p:spPr>
          <a:xfrm>
            <a:off x="6233726" y="2284495"/>
            <a:ext cx="6096000" cy="756617"/>
          </a:xfrm>
          <a:prstGeom prst="rect">
            <a:avLst/>
          </a:prstGeom>
        </p:spPr>
        <p:txBody>
          <a:bodyPr>
            <a:spAutoFit/>
          </a:bodyPr>
          <a:lstStyle/>
          <a:p>
            <a:pPr lvl="0">
              <a:lnSpc>
                <a:spcPct val="150000"/>
              </a:lnSpc>
              <a:spcBef>
                <a:spcPts val="1200"/>
              </a:spcBef>
              <a:spcAft>
                <a:spcPts val="200"/>
              </a:spcAft>
              <a:buClr>
                <a:srgbClr val="99CB38"/>
              </a:buClr>
              <a:buSzPct val="100000"/>
            </a:pPr>
            <a:r>
              <a:rPr lang="en-US" altLang="zh-CN"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导体是等势体，表面是等势面</a:t>
            </a:r>
          </a:p>
        </p:txBody>
      </p:sp>
      <p:sp>
        <p:nvSpPr>
          <p:cNvPr id="3" name="Text Box 40">
            <a:extLst>
              <a:ext uri="{FF2B5EF4-FFF2-40B4-BE49-F238E27FC236}">
                <a16:creationId xmlns:a16="http://schemas.microsoft.com/office/drawing/2014/main" id="{4341CF99-5348-1F94-379E-95A5B6819E67}"/>
              </a:ext>
            </a:extLst>
          </p:cNvPr>
          <p:cNvSpPr txBox="1">
            <a:spLocks noChangeArrowheads="1"/>
          </p:cNvSpPr>
          <p:nvPr/>
        </p:nvSpPr>
        <p:spPr bwMode="auto">
          <a:xfrm>
            <a:off x="6233726" y="3676294"/>
            <a:ext cx="45354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dirty="0">
                <a:ea typeface="华文楷体" panose="02010600040101010101" pitchFamily="2" charset="-122"/>
                <a:cs typeface="Times New Roman" panose="02020603050405020304" pitchFamily="18" charset="0"/>
              </a:rPr>
              <a:t>- </a:t>
            </a:r>
            <a:r>
              <a:rPr lang="zh-CN" altLang="en-US" sz="3200" dirty="0">
                <a:ea typeface="华文楷体" panose="02010600040101010101" pitchFamily="2" charset="-122"/>
                <a:cs typeface="Times New Roman" panose="02020603050405020304" pitchFamily="18" charset="0"/>
              </a:rPr>
              <a:t>电荷分布在表面</a:t>
            </a:r>
          </a:p>
        </p:txBody>
      </p:sp>
      <p:grpSp>
        <p:nvGrpSpPr>
          <p:cNvPr id="6" name="Group 101">
            <a:extLst>
              <a:ext uri="{FF2B5EF4-FFF2-40B4-BE49-F238E27FC236}">
                <a16:creationId xmlns:a16="http://schemas.microsoft.com/office/drawing/2014/main" id="{26272620-DAB8-4BDD-29A4-A3891C0CE6FC}"/>
              </a:ext>
            </a:extLst>
          </p:cNvPr>
          <p:cNvGrpSpPr>
            <a:grpSpLocks noChangeAspect="1"/>
          </p:cNvGrpSpPr>
          <p:nvPr/>
        </p:nvGrpSpPr>
        <p:grpSpPr bwMode="auto">
          <a:xfrm>
            <a:off x="-346425" y="1819362"/>
            <a:ext cx="7088191" cy="3569609"/>
            <a:chOff x="2285" y="1912"/>
            <a:chExt cx="3056" cy="1539"/>
          </a:xfrm>
        </p:grpSpPr>
        <p:sp>
          <p:nvSpPr>
            <p:cNvPr id="7" name="Oval 25">
              <a:extLst>
                <a:ext uri="{FF2B5EF4-FFF2-40B4-BE49-F238E27FC236}">
                  <a16:creationId xmlns:a16="http://schemas.microsoft.com/office/drawing/2014/main" id="{030E029E-F445-DAA9-147B-18BA14704F08}"/>
                </a:ext>
              </a:extLst>
            </p:cNvPr>
            <p:cNvSpPr>
              <a:spLocks noChangeArrowheads="1"/>
            </p:cNvSpPr>
            <p:nvPr/>
          </p:nvSpPr>
          <p:spPr bwMode="auto">
            <a:xfrm>
              <a:off x="3501" y="2390"/>
              <a:ext cx="653" cy="598"/>
            </a:xfrm>
            <a:prstGeom prst="ellipse">
              <a:avLst/>
            </a:prstGeom>
            <a:gradFill rotWithShape="0">
              <a:gsLst>
                <a:gs pos="0">
                  <a:srgbClr val="FF9933"/>
                </a:gs>
                <a:gs pos="100000">
                  <a:srgbClr val="FF9933">
                    <a:gamma/>
                    <a:shade val="69804"/>
                    <a:invGamma/>
                  </a:srgbClr>
                </a:gs>
              </a:gsLst>
              <a:path path="shape">
                <a:fillToRect l="50000" t="50000" r="50000" b="50000"/>
              </a:path>
            </a:gradFill>
            <a:ln>
              <a:noFill/>
            </a:ln>
            <a:effectLst/>
            <a:extLst>
              <a:ext uri="{91240B29-F687-4F45-9708-019B960494DF}">
                <a14:hiddenLine xmlns:a14="http://schemas.microsoft.com/office/drawing/2010/main" w="38100">
                  <a:solidFill>
                    <a:srgbClr val="99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Arc 26">
              <a:extLst>
                <a:ext uri="{FF2B5EF4-FFF2-40B4-BE49-F238E27FC236}">
                  <a16:creationId xmlns:a16="http://schemas.microsoft.com/office/drawing/2014/main" id="{2D0E8E76-BBD9-F27E-B8CE-B9A8CEC02BA0}"/>
                </a:ext>
              </a:extLst>
            </p:cNvPr>
            <p:cNvSpPr>
              <a:spLocks/>
            </p:cNvSpPr>
            <p:nvPr/>
          </p:nvSpPr>
          <p:spPr bwMode="auto">
            <a:xfrm>
              <a:off x="4159" y="2606"/>
              <a:ext cx="654" cy="126"/>
            </a:xfrm>
            <a:custGeom>
              <a:avLst/>
              <a:gdLst>
                <a:gd name="G0" fmla="+- 16132 0 0"/>
                <a:gd name="G1" fmla="+- 21600 0 0"/>
                <a:gd name="G2" fmla="+- 21600 0 0"/>
                <a:gd name="T0" fmla="*/ 0 w 16132"/>
                <a:gd name="T1" fmla="*/ 7236 h 21600"/>
                <a:gd name="T2" fmla="*/ 16114 w 16132"/>
                <a:gd name="T3" fmla="*/ 0 h 21600"/>
                <a:gd name="T4" fmla="*/ 16132 w 16132"/>
                <a:gd name="T5" fmla="*/ 21600 h 21600"/>
              </a:gdLst>
              <a:ahLst/>
              <a:cxnLst>
                <a:cxn ang="0">
                  <a:pos x="T0" y="T1"/>
                </a:cxn>
                <a:cxn ang="0">
                  <a:pos x="T2" y="T3"/>
                </a:cxn>
                <a:cxn ang="0">
                  <a:pos x="T4" y="T5"/>
                </a:cxn>
              </a:cxnLst>
              <a:rect l="0" t="0" r="r" b="b"/>
              <a:pathLst>
                <a:path w="16132" h="21600" fill="none" extrusionOk="0">
                  <a:moveTo>
                    <a:pt x="0" y="7236"/>
                  </a:moveTo>
                  <a:cubicBezTo>
                    <a:pt x="4094" y="2637"/>
                    <a:pt x="9956" y="5"/>
                    <a:pt x="16114" y="0"/>
                  </a:cubicBezTo>
                </a:path>
                <a:path w="16132" h="21600" stroke="0" extrusionOk="0">
                  <a:moveTo>
                    <a:pt x="0" y="7236"/>
                  </a:moveTo>
                  <a:cubicBezTo>
                    <a:pt x="4094" y="2637"/>
                    <a:pt x="9956" y="5"/>
                    <a:pt x="16114" y="0"/>
                  </a:cubicBezTo>
                  <a:lnTo>
                    <a:pt x="16132" y="21600"/>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Arc 27">
              <a:extLst>
                <a:ext uri="{FF2B5EF4-FFF2-40B4-BE49-F238E27FC236}">
                  <a16:creationId xmlns:a16="http://schemas.microsoft.com/office/drawing/2014/main" id="{4483CEDF-A03B-9B10-C55A-B1630A558B83}"/>
                </a:ext>
              </a:extLst>
            </p:cNvPr>
            <p:cNvSpPr>
              <a:spLocks/>
            </p:cNvSpPr>
            <p:nvPr/>
          </p:nvSpPr>
          <p:spPr bwMode="auto">
            <a:xfrm>
              <a:off x="4147" y="2497"/>
              <a:ext cx="1194" cy="199"/>
            </a:xfrm>
            <a:custGeom>
              <a:avLst/>
              <a:gdLst>
                <a:gd name="G0" fmla="+- 18290 0 0"/>
                <a:gd name="G1" fmla="+- 19887 0 0"/>
                <a:gd name="G2" fmla="+- 21600 0 0"/>
                <a:gd name="T0" fmla="*/ 0 w 18290"/>
                <a:gd name="T1" fmla="*/ 8396 h 19887"/>
                <a:gd name="T2" fmla="*/ 9859 w 18290"/>
                <a:gd name="T3" fmla="*/ 0 h 19887"/>
                <a:gd name="T4" fmla="*/ 18290 w 18290"/>
                <a:gd name="T5" fmla="*/ 19887 h 19887"/>
              </a:gdLst>
              <a:ahLst/>
              <a:cxnLst>
                <a:cxn ang="0">
                  <a:pos x="T0" y="T1"/>
                </a:cxn>
                <a:cxn ang="0">
                  <a:pos x="T2" y="T3"/>
                </a:cxn>
                <a:cxn ang="0">
                  <a:pos x="T4" y="T5"/>
                </a:cxn>
              </a:cxnLst>
              <a:rect l="0" t="0" r="r" b="b"/>
              <a:pathLst>
                <a:path w="18290" h="19887" fill="none" extrusionOk="0">
                  <a:moveTo>
                    <a:pt x="0" y="8396"/>
                  </a:moveTo>
                  <a:cubicBezTo>
                    <a:pt x="2350" y="4655"/>
                    <a:pt x="5791" y="1724"/>
                    <a:pt x="9859" y="0"/>
                  </a:cubicBezTo>
                </a:path>
                <a:path w="18290" h="19887" stroke="0" extrusionOk="0">
                  <a:moveTo>
                    <a:pt x="0" y="8396"/>
                  </a:moveTo>
                  <a:cubicBezTo>
                    <a:pt x="2350" y="4655"/>
                    <a:pt x="5791" y="1724"/>
                    <a:pt x="9859" y="0"/>
                  </a:cubicBezTo>
                  <a:lnTo>
                    <a:pt x="18290" y="1988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Arc 28">
              <a:extLst>
                <a:ext uri="{FF2B5EF4-FFF2-40B4-BE49-F238E27FC236}">
                  <a16:creationId xmlns:a16="http://schemas.microsoft.com/office/drawing/2014/main" id="{9EA7059C-23D3-9C51-318F-FC0F030FA88A}"/>
                </a:ext>
              </a:extLst>
            </p:cNvPr>
            <p:cNvSpPr>
              <a:spLocks/>
            </p:cNvSpPr>
            <p:nvPr/>
          </p:nvSpPr>
          <p:spPr bwMode="auto">
            <a:xfrm>
              <a:off x="4116" y="2349"/>
              <a:ext cx="1143" cy="289"/>
            </a:xfrm>
            <a:custGeom>
              <a:avLst/>
              <a:gdLst>
                <a:gd name="G0" fmla="+- 20534 0 0"/>
                <a:gd name="G1" fmla="+- 19797 0 0"/>
                <a:gd name="G2" fmla="+- 21600 0 0"/>
                <a:gd name="T0" fmla="*/ 0 w 20534"/>
                <a:gd name="T1" fmla="*/ 13096 h 19797"/>
                <a:gd name="T2" fmla="*/ 11895 w 20534"/>
                <a:gd name="T3" fmla="*/ 0 h 19797"/>
                <a:gd name="T4" fmla="*/ 20534 w 20534"/>
                <a:gd name="T5" fmla="*/ 19797 h 19797"/>
              </a:gdLst>
              <a:ahLst/>
              <a:cxnLst>
                <a:cxn ang="0">
                  <a:pos x="T0" y="T1"/>
                </a:cxn>
                <a:cxn ang="0">
                  <a:pos x="T2" y="T3"/>
                </a:cxn>
                <a:cxn ang="0">
                  <a:pos x="T4" y="T5"/>
                </a:cxn>
              </a:cxnLst>
              <a:rect l="0" t="0" r="r" b="b"/>
              <a:pathLst>
                <a:path w="20534" h="19797" fill="none" extrusionOk="0">
                  <a:moveTo>
                    <a:pt x="-1" y="13095"/>
                  </a:moveTo>
                  <a:cubicBezTo>
                    <a:pt x="1913" y="7232"/>
                    <a:pt x="6241" y="2466"/>
                    <a:pt x="11894" y="-1"/>
                  </a:cubicBezTo>
                </a:path>
                <a:path w="20534" h="19797" stroke="0" extrusionOk="0">
                  <a:moveTo>
                    <a:pt x="-1" y="13095"/>
                  </a:moveTo>
                  <a:cubicBezTo>
                    <a:pt x="1913" y="7232"/>
                    <a:pt x="6241" y="2466"/>
                    <a:pt x="11894" y="-1"/>
                  </a:cubicBezTo>
                  <a:lnTo>
                    <a:pt x="20534" y="1979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Arc 29">
              <a:extLst>
                <a:ext uri="{FF2B5EF4-FFF2-40B4-BE49-F238E27FC236}">
                  <a16:creationId xmlns:a16="http://schemas.microsoft.com/office/drawing/2014/main" id="{9DACA8E7-056F-05E4-C0F6-51EBBB6C32D5}"/>
                </a:ext>
              </a:extLst>
            </p:cNvPr>
            <p:cNvSpPr>
              <a:spLocks/>
            </p:cNvSpPr>
            <p:nvPr/>
          </p:nvSpPr>
          <p:spPr bwMode="auto">
            <a:xfrm>
              <a:off x="4071" y="2220"/>
              <a:ext cx="1120" cy="323"/>
            </a:xfrm>
            <a:custGeom>
              <a:avLst/>
              <a:gdLst>
                <a:gd name="G0" fmla="+- 21332 0 0"/>
                <a:gd name="G1" fmla="+- 20206 0 0"/>
                <a:gd name="G2" fmla="+- 21600 0 0"/>
                <a:gd name="T0" fmla="*/ 0 w 21332"/>
                <a:gd name="T1" fmla="*/ 16812 h 20206"/>
                <a:gd name="T2" fmla="*/ 13697 w 21332"/>
                <a:gd name="T3" fmla="*/ 0 h 20206"/>
                <a:gd name="T4" fmla="*/ 21332 w 21332"/>
                <a:gd name="T5" fmla="*/ 20206 h 20206"/>
              </a:gdLst>
              <a:ahLst/>
              <a:cxnLst>
                <a:cxn ang="0">
                  <a:pos x="T0" y="T1"/>
                </a:cxn>
                <a:cxn ang="0">
                  <a:pos x="T2" y="T3"/>
                </a:cxn>
                <a:cxn ang="0">
                  <a:pos x="T4" y="T5"/>
                </a:cxn>
              </a:cxnLst>
              <a:rect l="0" t="0" r="r" b="b"/>
              <a:pathLst>
                <a:path w="21332" h="20206" fill="none" extrusionOk="0">
                  <a:moveTo>
                    <a:pt x="0" y="16812"/>
                  </a:moveTo>
                  <a:cubicBezTo>
                    <a:pt x="1218" y="9156"/>
                    <a:pt x="6445" y="2740"/>
                    <a:pt x="13697" y="0"/>
                  </a:cubicBezTo>
                </a:path>
                <a:path w="21332" h="20206" stroke="0" extrusionOk="0">
                  <a:moveTo>
                    <a:pt x="0" y="16812"/>
                  </a:moveTo>
                  <a:cubicBezTo>
                    <a:pt x="1218" y="9156"/>
                    <a:pt x="6445" y="2740"/>
                    <a:pt x="13697" y="0"/>
                  </a:cubicBezTo>
                  <a:lnTo>
                    <a:pt x="21332" y="20206"/>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Arc 30">
              <a:extLst>
                <a:ext uri="{FF2B5EF4-FFF2-40B4-BE49-F238E27FC236}">
                  <a16:creationId xmlns:a16="http://schemas.microsoft.com/office/drawing/2014/main" id="{2DF6992B-2F67-7110-8EAF-869E42119467}"/>
                </a:ext>
              </a:extLst>
            </p:cNvPr>
            <p:cNvSpPr>
              <a:spLocks/>
            </p:cNvSpPr>
            <p:nvPr/>
          </p:nvSpPr>
          <p:spPr bwMode="auto">
            <a:xfrm>
              <a:off x="4004" y="2058"/>
              <a:ext cx="1152" cy="508"/>
            </a:xfrm>
            <a:custGeom>
              <a:avLst/>
              <a:gdLst>
                <a:gd name="G0" fmla="+- 20686 0 0"/>
                <a:gd name="G1" fmla="+- 20520 0 0"/>
                <a:gd name="G2" fmla="+- 21600 0 0"/>
                <a:gd name="T0" fmla="*/ 0 w 20686"/>
                <a:gd name="T1" fmla="*/ 14304 h 20520"/>
                <a:gd name="T2" fmla="*/ 13943 w 20686"/>
                <a:gd name="T3" fmla="*/ 0 h 20520"/>
                <a:gd name="T4" fmla="*/ 20686 w 20686"/>
                <a:gd name="T5" fmla="*/ 20520 h 20520"/>
              </a:gdLst>
              <a:ahLst/>
              <a:cxnLst>
                <a:cxn ang="0">
                  <a:pos x="T0" y="T1"/>
                </a:cxn>
                <a:cxn ang="0">
                  <a:pos x="T2" y="T3"/>
                </a:cxn>
                <a:cxn ang="0">
                  <a:pos x="T4" y="T5"/>
                </a:cxn>
              </a:cxnLst>
              <a:rect l="0" t="0" r="r" b="b"/>
              <a:pathLst>
                <a:path w="20686" h="20520" fill="none" extrusionOk="0">
                  <a:moveTo>
                    <a:pt x="-1" y="14303"/>
                  </a:moveTo>
                  <a:cubicBezTo>
                    <a:pt x="2031" y="7544"/>
                    <a:pt x="7237" y="2203"/>
                    <a:pt x="13942" y="-1"/>
                  </a:cubicBezTo>
                </a:path>
                <a:path w="20686" h="20520" stroke="0" extrusionOk="0">
                  <a:moveTo>
                    <a:pt x="-1" y="14303"/>
                  </a:moveTo>
                  <a:cubicBezTo>
                    <a:pt x="2031" y="7544"/>
                    <a:pt x="7237" y="2203"/>
                    <a:pt x="13942" y="-1"/>
                  </a:cubicBezTo>
                  <a:lnTo>
                    <a:pt x="20686" y="20520"/>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Arc 31">
              <a:extLst>
                <a:ext uri="{FF2B5EF4-FFF2-40B4-BE49-F238E27FC236}">
                  <a16:creationId xmlns:a16="http://schemas.microsoft.com/office/drawing/2014/main" id="{E28F74FD-29EA-2134-21B3-86CA5EA61AAA}"/>
                </a:ext>
              </a:extLst>
            </p:cNvPr>
            <p:cNvSpPr>
              <a:spLocks/>
            </p:cNvSpPr>
            <p:nvPr/>
          </p:nvSpPr>
          <p:spPr bwMode="auto">
            <a:xfrm rot="120000">
              <a:off x="4065" y="1912"/>
              <a:ext cx="1053" cy="447"/>
            </a:xfrm>
            <a:custGeom>
              <a:avLst/>
              <a:gdLst>
                <a:gd name="G0" fmla="+- 20684 0 0"/>
                <a:gd name="G1" fmla="+- 20432 0 0"/>
                <a:gd name="G2" fmla="+- 21600 0 0"/>
                <a:gd name="T0" fmla="*/ 0 w 20684"/>
                <a:gd name="T1" fmla="*/ 14207 h 20432"/>
                <a:gd name="T2" fmla="*/ 13677 w 20684"/>
                <a:gd name="T3" fmla="*/ 0 h 20432"/>
                <a:gd name="T4" fmla="*/ 20684 w 20684"/>
                <a:gd name="T5" fmla="*/ 20432 h 20432"/>
              </a:gdLst>
              <a:ahLst/>
              <a:cxnLst>
                <a:cxn ang="0">
                  <a:pos x="T0" y="T1"/>
                </a:cxn>
                <a:cxn ang="0">
                  <a:pos x="T2" y="T3"/>
                </a:cxn>
                <a:cxn ang="0">
                  <a:pos x="T4" y="T5"/>
                </a:cxn>
              </a:cxnLst>
              <a:rect l="0" t="0" r="r" b="b"/>
              <a:pathLst>
                <a:path w="20684" h="20432" fill="none" extrusionOk="0">
                  <a:moveTo>
                    <a:pt x="0" y="14207"/>
                  </a:moveTo>
                  <a:cubicBezTo>
                    <a:pt x="2005" y="7545"/>
                    <a:pt x="7096" y="2256"/>
                    <a:pt x="13677" y="0"/>
                  </a:cubicBezTo>
                </a:path>
                <a:path w="20684" h="20432" stroke="0" extrusionOk="0">
                  <a:moveTo>
                    <a:pt x="0" y="14207"/>
                  </a:moveTo>
                  <a:cubicBezTo>
                    <a:pt x="2005" y="7545"/>
                    <a:pt x="7096" y="2256"/>
                    <a:pt x="13677" y="0"/>
                  </a:cubicBezTo>
                  <a:lnTo>
                    <a:pt x="20684" y="20432"/>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 name="Arc 32">
              <a:extLst>
                <a:ext uri="{FF2B5EF4-FFF2-40B4-BE49-F238E27FC236}">
                  <a16:creationId xmlns:a16="http://schemas.microsoft.com/office/drawing/2014/main" id="{6EA9CF03-9FCF-0F2B-F744-214778709EBA}"/>
                </a:ext>
              </a:extLst>
            </p:cNvPr>
            <p:cNvSpPr>
              <a:spLocks/>
            </p:cNvSpPr>
            <p:nvPr/>
          </p:nvSpPr>
          <p:spPr bwMode="auto">
            <a:xfrm>
              <a:off x="3850" y="2102"/>
              <a:ext cx="206" cy="189"/>
            </a:xfrm>
            <a:custGeom>
              <a:avLst/>
              <a:gdLst>
                <a:gd name="G0" fmla="+- 0 0 0"/>
                <a:gd name="G1" fmla="+- 0 0 0"/>
                <a:gd name="G2" fmla="+- 21600 0 0"/>
                <a:gd name="T0" fmla="*/ 17797 w 17797"/>
                <a:gd name="T1" fmla="*/ 12241 h 21600"/>
                <a:gd name="T2" fmla="*/ 0 w 17797"/>
                <a:gd name="T3" fmla="*/ 21600 h 21600"/>
                <a:gd name="T4" fmla="*/ 0 w 17797"/>
                <a:gd name="T5" fmla="*/ 0 h 21600"/>
              </a:gdLst>
              <a:ahLst/>
              <a:cxnLst>
                <a:cxn ang="0">
                  <a:pos x="T0" y="T1"/>
                </a:cxn>
                <a:cxn ang="0">
                  <a:pos x="T2" y="T3"/>
                </a:cxn>
                <a:cxn ang="0">
                  <a:pos x="T4" y="T5"/>
                </a:cxn>
              </a:cxnLst>
              <a:rect l="0" t="0" r="r" b="b"/>
              <a:pathLst>
                <a:path w="17797" h="21600" fill="none" extrusionOk="0">
                  <a:moveTo>
                    <a:pt x="17796" y="12240"/>
                  </a:moveTo>
                  <a:cubicBezTo>
                    <a:pt x="13766" y="18099"/>
                    <a:pt x="7111" y="21600"/>
                    <a:pt x="0" y="21600"/>
                  </a:cubicBezTo>
                </a:path>
                <a:path w="17797" h="21600" stroke="0" extrusionOk="0">
                  <a:moveTo>
                    <a:pt x="17796" y="12240"/>
                  </a:moveTo>
                  <a:cubicBezTo>
                    <a:pt x="13766" y="18099"/>
                    <a:pt x="7111" y="21600"/>
                    <a:pt x="0" y="21600"/>
                  </a:cubicBezTo>
                  <a:lnTo>
                    <a:pt x="0"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5" name="Arc 33">
              <a:extLst>
                <a:ext uri="{FF2B5EF4-FFF2-40B4-BE49-F238E27FC236}">
                  <a16:creationId xmlns:a16="http://schemas.microsoft.com/office/drawing/2014/main" id="{15E0D802-9B56-4BBC-F04C-C8BF5FCEAFC9}"/>
                </a:ext>
              </a:extLst>
            </p:cNvPr>
            <p:cNvSpPr>
              <a:spLocks/>
            </p:cNvSpPr>
            <p:nvPr/>
          </p:nvSpPr>
          <p:spPr bwMode="auto">
            <a:xfrm rot="10920000">
              <a:off x="4151" y="2709"/>
              <a:ext cx="1070" cy="111"/>
            </a:xfrm>
            <a:custGeom>
              <a:avLst/>
              <a:gdLst>
                <a:gd name="G0" fmla="+- 0 0 0"/>
                <a:gd name="G1" fmla="+- 20458 0 0"/>
                <a:gd name="G2" fmla="+- 21600 0 0"/>
                <a:gd name="T0" fmla="*/ 6931 w 17792"/>
                <a:gd name="T1" fmla="*/ 0 h 20458"/>
                <a:gd name="T2" fmla="*/ 17792 w 17792"/>
                <a:gd name="T3" fmla="*/ 8211 h 20458"/>
                <a:gd name="T4" fmla="*/ 0 w 17792"/>
                <a:gd name="T5" fmla="*/ 20458 h 20458"/>
              </a:gdLst>
              <a:ahLst/>
              <a:cxnLst>
                <a:cxn ang="0">
                  <a:pos x="T0" y="T1"/>
                </a:cxn>
                <a:cxn ang="0">
                  <a:pos x="T2" y="T3"/>
                </a:cxn>
                <a:cxn ang="0">
                  <a:pos x="T4" y="T5"/>
                </a:cxn>
              </a:cxnLst>
              <a:rect l="0" t="0" r="r" b="b"/>
              <a:pathLst>
                <a:path w="17792" h="20458" fill="none" extrusionOk="0">
                  <a:moveTo>
                    <a:pt x="6930" y="0"/>
                  </a:moveTo>
                  <a:cubicBezTo>
                    <a:pt x="11341" y="1494"/>
                    <a:pt x="15151" y="4374"/>
                    <a:pt x="17792" y="8210"/>
                  </a:cubicBezTo>
                </a:path>
                <a:path w="17792" h="20458" stroke="0" extrusionOk="0">
                  <a:moveTo>
                    <a:pt x="6930" y="0"/>
                  </a:moveTo>
                  <a:cubicBezTo>
                    <a:pt x="11341" y="1494"/>
                    <a:pt x="15151" y="4374"/>
                    <a:pt x="17792" y="8210"/>
                  </a:cubicBezTo>
                  <a:lnTo>
                    <a:pt x="0" y="20458"/>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Arc 34">
              <a:extLst>
                <a:ext uri="{FF2B5EF4-FFF2-40B4-BE49-F238E27FC236}">
                  <a16:creationId xmlns:a16="http://schemas.microsoft.com/office/drawing/2014/main" id="{7ED9144A-93FE-E5E3-A107-41B7FAF98966}"/>
                </a:ext>
              </a:extLst>
            </p:cNvPr>
            <p:cNvSpPr>
              <a:spLocks/>
            </p:cNvSpPr>
            <p:nvPr/>
          </p:nvSpPr>
          <p:spPr bwMode="auto">
            <a:xfrm rot="11040000">
              <a:off x="4128" y="2732"/>
              <a:ext cx="1164" cy="205"/>
            </a:xfrm>
            <a:custGeom>
              <a:avLst/>
              <a:gdLst>
                <a:gd name="G0" fmla="+- 0 0 0"/>
                <a:gd name="G1" fmla="+- 20048 0 0"/>
                <a:gd name="G2" fmla="+- 21600 0 0"/>
                <a:gd name="T0" fmla="*/ 8040 w 18286"/>
                <a:gd name="T1" fmla="*/ 0 h 20048"/>
                <a:gd name="T2" fmla="*/ 18286 w 18286"/>
                <a:gd name="T3" fmla="*/ 8552 h 20048"/>
                <a:gd name="T4" fmla="*/ 0 w 18286"/>
                <a:gd name="T5" fmla="*/ 20048 h 20048"/>
              </a:gdLst>
              <a:ahLst/>
              <a:cxnLst>
                <a:cxn ang="0">
                  <a:pos x="T0" y="T1"/>
                </a:cxn>
                <a:cxn ang="0">
                  <a:pos x="T2" y="T3"/>
                </a:cxn>
                <a:cxn ang="0">
                  <a:pos x="T4" y="T5"/>
                </a:cxn>
              </a:cxnLst>
              <a:rect l="0" t="0" r="r" b="b"/>
              <a:pathLst>
                <a:path w="18286" h="20048" fill="none" extrusionOk="0">
                  <a:moveTo>
                    <a:pt x="8039" y="0"/>
                  </a:moveTo>
                  <a:cubicBezTo>
                    <a:pt x="12272" y="1697"/>
                    <a:pt x="15859" y="4690"/>
                    <a:pt x="18286" y="8551"/>
                  </a:cubicBezTo>
                </a:path>
                <a:path w="18286" h="20048" stroke="0" extrusionOk="0">
                  <a:moveTo>
                    <a:pt x="8039" y="0"/>
                  </a:moveTo>
                  <a:cubicBezTo>
                    <a:pt x="12272" y="1697"/>
                    <a:pt x="15859" y="4690"/>
                    <a:pt x="18286" y="8551"/>
                  </a:cubicBezTo>
                  <a:lnTo>
                    <a:pt x="0" y="20048"/>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Arc 35">
              <a:extLst>
                <a:ext uri="{FF2B5EF4-FFF2-40B4-BE49-F238E27FC236}">
                  <a16:creationId xmlns:a16="http://schemas.microsoft.com/office/drawing/2014/main" id="{D1EE47C2-06AD-27E6-DFEE-800E5E1664E9}"/>
                </a:ext>
              </a:extLst>
            </p:cNvPr>
            <p:cNvSpPr>
              <a:spLocks/>
            </p:cNvSpPr>
            <p:nvPr/>
          </p:nvSpPr>
          <p:spPr bwMode="auto">
            <a:xfrm rot="10800000">
              <a:off x="4090" y="2795"/>
              <a:ext cx="1168" cy="286"/>
            </a:xfrm>
            <a:custGeom>
              <a:avLst/>
              <a:gdLst>
                <a:gd name="G0" fmla="+- 0 0 0"/>
                <a:gd name="G1" fmla="+- 19641 0 0"/>
                <a:gd name="G2" fmla="+- 21600 0 0"/>
                <a:gd name="T0" fmla="*/ 8989 w 21046"/>
                <a:gd name="T1" fmla="*/ 0 h 19641"/>
                <a:gd name="T2" fmla="*/ 21046 w 21046"/>
                <a:gd name="T3" fmla="*/ 14780 h 19641"/>
                <a:gd name="T4" fmla="*/ 0 w 21046"/>
                <a:gd name="T5" fmla="*/ 19641 h 19641"/>
              </a:gdLst>
              <a:ahLst/>
              <a:cxnLst>
                <a:cxn ang="0">
                  <a:pos x="T0" y="T1"/>
                </a:cxn>
                <a:cxn ang="0">
                  <a:pos x="T2" y="T3"/>
                </a:cxn>
                <a:cxn ang="0">
                  <a:pos x="T4" y="T5"/>
                </a:cxn>
              </a:cxnLst>
              <a:rect l="0" t="0" r="r" b="b"/>
              <a:pathLst>
                <a:path w="21046" h="19641" fill="none" extrusionOk="0">
                  <a:moveTo>
                    <a:pt x="8988" y="0"/>
                  </a:moveTo>
                  <a:cubicBezTo>
                    <a:pt x="15083" y="2789"/>
                    <a:pt x="19537" y="8249"/>
                    <a:pt x="21045" y="14780"/>
                  </a:cubicBezTo>
                </a:path>
                <a:path w="21046" h="19641" stroke="0" extrusionOk="0">
                  <a:moveTo>
                    <a:pt x="8988" y="0"/>
                  </a:moveTo>
                  <a:cubicBezTo>
                    <a:pt x="15083" y="2789"/>
                    <a:pt x="19537" y="8249"/>
                    <a:pt x="21045" y="14780"/>
                  </a:cubicBezTo>
                  <a:lnTo>
                    <a:pt x="0" y="19641"/>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Arc 36">
              <a:extLst>
                <a:ext uri="{FF2B5EF4-FFF2-40B4-BE49-F238E27FC236}">
                  <a16:creationId xmlns:a16="http://schemas.microsoft.com/office/drawing/2014/main" id="{9C967D03-C1D7-1EF0-E07D-FBF8507FC8F5}"/>
                </a:ext>
              </a:extLst>
            </p:cNvPr>
            <p:cNvSpPr>
              <a:spLocks/>
            </p:cNvSpPr>
            <p:nvPr/>
          </p:nvSpPr>
          <p:spPr bwMode="auto">
            <a:xfrm rot="10800000">
              <a:off x="4040" y="2859"/>
              <a:ext cx="1150" cy="352"/>
            </a:xfrm>
            <a:custGeom>
              <a:avLst/>
              <a:gdLst>
                <a:gd name="G0" fmla="+- 0 0 0"/>
                <a:gd name="G1" fmla="+- 20002 0 0"/>
                <a:gd name="G2" fmla="+- 21600 0 0"/>
                <a:gd name="T0" fmla="*/ 8154 w 21331"/>
                <a:gd name="T1" fmla="*/ 0 h 20002"/>
                <a:gd name="T2" fmla="*/ 21331 w 21331"/>
                <a:gd name="T3" fmla="*/ 16606 h 20002"/>
                <a:gd name="T4" fmla="*/ 0 w 21331"/>
                <a:gd name="T5" fmla="*/ 20002 h 20002"/>
              </a:gdLst>
              <a:ahLst/>
              <a:cxnLst>
                <a:cxn ang="0">
                  <a:pos x="T0" y="T1"/>
                </a:cxn>
                <a:cxn ang="0">
                  <a:pos x="T2" y="T3"/>
                </a:cxn>
                <a:cxn ang="0">
                  <a:pos x="T4" y="T5"/>
                </a:cxn>
              </a:cxnLst>
              <a:rect l="0" t="0" r="r" b="b"/>
              <a:pathLst>
                <a:path w="21331" h="20002" fill="none" extrusionOk="0">
                  <a:moveTo>
                    <a:pt x="8153" y="0"/>
                  </a:moveTo>
                  <a:cubicBezTo>
                    <a:pt x="15147" y="2851"/>
                    <a:pt x="20143" y="9147"/>
                    <a:pt x="21331" y="16605"/>
                  </a:cubicBezTo>
                </a:path>
                <a:path w="21331" h="20002" stroke="0" extrusionOk="0">
                  <a:moveTo>
                    <a:pt x="8153" y="0"/>
                  </a:moveTo>
                  <a:cubicBezTo>
                    <a:pt x="15147" y="2851"/>
                    <a:pt x="20143" y="9147"/>
                    <a:pt x="21331" y="16605"/>
                  </a:cubicBezTo>
                  <a:lnTo>
                    <a:pt x="0" y="2000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Arc 37">
              <a:extLst>
                <a:ext uri="{FF2B5EF4-FFF2-40B4-BE49-F238E27FC236}">
                  <a16:creationId xmlns:a16="http://schemas.microsoft.com/office/drawing/2014/main" id="{BB985666-09F6-9AFE-285E-2F65425E7D18}"/>
                </a:ext>
              </a:extLst>
            </p:cNvPr>
            <p:cNvSpPr>
              <a:spLocks/>
            </p:cNvSpPr>
            <p:nvPr/>
          </p:nvSpPr>
          <p:spPr bwMode="auto">
            <a:xfrm rot="10800000">
              <a:off x="3986" y="2788"/>
              <a:ext cx="1170" cy="549"/>
            </a:xfrm>
            <a:custGeom>
              <a:avLst/>
              <a:gdLst>
                <a:gd name="G0" fmla="+- 0 0 0"/>
                <a:gd name="G1" fmla="+- 20561 0 0"/>
                <a:gd name="G2" fmla="+- 21600 0 0"/>
                <a:gd name="T0" fmla="*/ 6619 w 20685"/>
                <a:gd name="T1" fmla="*/ 0 h 20561"/>
                <a:gd name="T2" fmla="*/ 20685 w 20685"/>
                <a:gd name="T3" fmla="*/ 14341 h 20561"/>
                <a:gd name="T4" fmla="*/ 0 w 20685"/>
                <a:gd name="T5" fmla="*/ 20561 h 20561"/>
              </a:gdLst>
              <a:ahLst/>
              <a:cxnLst>
                <a:cxn ang="0">
                  <a:pos x="T0" y="T1"/>
                </a:cxn>
                <a:cxn ang="0">
                  <a:pos x="T2" y="T3"/>
                </a:cxn>
                <a:cxn ang="0">
                  <a:pos x="T4" y="T5"/>
                </a:cxn>
              </a:cxnLst>
              <a:rect l="0" t="0" r="r" b="b"/>
              <a:pathLst>
                <a:path w="20685" h="20561" fill="none" extrusionOk="0">
                  <a:moveTo>
                    <a:pt x="6618" y="0"/>
                  </a:moveTo>
                  <a:cubicBezTo>
                    <a:pt x="13380" y="2176"/>
                    <a:pt x="18639" y="7538"/>
                    <a:pt x="20685" y="14340"/>
                  </a:cubicBezTo>
                </a:path>
                <a:path w="20685" h="20561" stroke="0" extrusionOk="0">
                  <a:moveTo>
                    <a:pt x="6618" y="0"/>
                  </a:moveTo>
                  <a:cubicBezTo>
                    <a:pt x="13380" y="2176"/>
                    <a:pt x="18639" y="7538"/>
                    <a:pt x="20685" y="14340"/>
                  </a:cubicBezTo>
                  <a:lnTo>
                    <a:pt x="0" y="20561"/>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Arc 38">
              <a:extLst>
                <a:ext uri="{FF2B5EF4-FFF2-40B4-BE49-F238E27FC236}">
                  <a16:creationId xmlns:a16="http://schemas.microsoft.com/office/drawing/2014/main" id="{89298640-A504-F69D-FA42-44802153FED1}"/>
                </a:ext>
              </a:extLst>
            </p:cNvPr>
            <p:cNvSpPr>
              <a:spLocks/>
            </p:cNvSpPr>
            <p:nvPr/>
          </p:nvSpPr>
          <p:spPr bwMode="auto">
            <a:xfrm rot="10620000">
              <a:off x="4061" y="3004"/>
              <a:ext cx="1060" cy="447"/>
            </a:xfrm>
            <a:custGeom>
              <a:avLst/>
              <a:gdLst>
                <a:gd name="G0" fmla="+- 0 0 0"/>
                <a:gd name="G1" fmla="+- 20436 0 0"/>
                <a:gd name="G2" fmla="+- 21600 0 0"/>
                <a:gd name="T0" fmla="*/ 6995 w 20810"/>
                <a:gd name="T1" fmla="*/ 0 h 20436"/>
                <a:gd name="T2" fmla="*/ 20810 w 20810"/>
                <a:gd name="T3" fmla="*/ 14647 h 20436"/>
                <a:gd name="T4" fmla="*/ 0 w 20810"/>
                <a:gd name="T5" fmla="*/ 20436 h 20436"/>
              </a:gdLst>
              <a:ahLst/>
              <a:cxnLst>
                <a:cxn ang="0">
                  <a:pos x="T0" y="T1"/>
                </a:cxn>
                <a:cxn ang="0">
                  <a:pos x="T2" y="T3"/>
                </a:cxn>
                <a:cxn ang="0">
                  <a:pos x="T4" y="T5"/>
                </a:cxn>
              </a:cxnLst>
              <a:rect l="0" t="0" r="r" b="b"/>
              <a:pathLst>
                <a:path w="20810" h="20436" fill="none" extrusionOk="0">
                  <a:moveTo>
                    <a:pt x="6994" y="0"/>
                  </a:moveTo>
                  <a:cubicBezTo>
                    <a:pt x="13733" y="2306"/>
                    <a:pt x="18901" y="7785"/>
                    <a:pt x="20809" y="14647"/>
                  </a:cubicBezTo>
                </a:path>
                <a:path w="20810" h="20436" stroke="0" extrusionOk="0">
                  <a:moveTo>
                    <a:pt x="6994" y="0"/>
                  </a:moveTo>
                  <a:cubicBezTo>
                    <a:pt x="13733" y="2306"/>
                    <a:pt x="18901" y="7785"/>
                    <a:pt x="20809" y="14647"/>
                  </a:cubicBezTo>
                  <a:lnTo>
                    <a:pt x="0" y="20436"/>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Arc 39">
              <a:extLst>
                <a:ext uri="{FF2B5EF4-FFF2-40B4-BE49-F238E27FC236}">
                  <a16:creationId xmlns:a16="http://schemas.microsoft.com/office/drawing/2014/main" id="{B6A2C616-17CE-0926-D698-D8C51CC32ADE}"/>
                </a:ext>
              </a:extLst>
            </p:cNvPr>
            <p:cNvSpPr>
              <a:spLocks/>
            </p:cNvSpPr>
            <p:nvPr/>
          </p:nvSpPr>
          <p:spPr bwMode="auto">
            <a:xfrm rot="10800000">
              <a:off x="3850" y="3078"/>
              <a:ext cx="201" cy="94"/>
            </a:xfrm>
            <a:custGeom>
              <a:avLst/>
              <a:gdLst>
                <a:gd name="G0" fmla="+- 20990 0 0"/>
                <a:gd name="G1" fmla="+- 0 0 0"/>
                <a:gd name="G2" fmla="+- 21600 0 0"/>
                <a:gd name="T0" fmla="*/ 20990 w 20990"/>
                <a:gd name="T1" fmla="*/ 21600 h 21600"/>
                <a:gd name="T2" fmla="*/ 0 w 20990"/>
                <a:gd name="T3" fmla="*/ 5098 h 21600"/>
                <a:gd name="T4" fmla="*/ 20990 w 20990"/>
                <a:gd name="T5" fmla="*/ 0 h 21600"/>
              </a:gdLst>
              <a:ahLst/>
              <a:cxnLst>
                <a:cxn ang="0">
                  <a:pos x="T0" y="T1"/>
                </a:cxn>
                <a:cxn ang="0">
                  <a:pos x="T2" y="T3"/>
                </a:cxn>
                <a:cxn ang="0">
                  <a:pos x="T4" y="T5"/>
                </a:cxn>
              </a:cxnLst>
              <a:rect l="0" t="0" r="r" b="b"/>
              <a:pathLst>
                <a:path w="20990" h="21600" fill="none" extrusionOk="0">
                  <a:moveTo>
                    <a:pt x="20990" y="21600"/>
                  </a:moveTo>
                  <a:cubicBezTo>
                    <a:pt x="11024" y="21600"/>
                    <a:pt x="2352" y="14782"/>
                    <a:pt x="0" y="5097"/>
                  </a:cubicBezTo>
                </a:path>
                <a:path w="20990" h="21600" stroke="0" extrusionOk="0">
                  <a:moveTo>
                    <a:pt x="20990" y="21600"/>
                  </a:moveTo>
                  <a:cubicBezTo>
                    <a:pt x="11024" y="21600"/>
                    <a:pt x="2352" y="14782"/>
                    <a:pt x="0" y="5097"/>
                  </a:cubicBezTo>
                  <a:lnTo>
                    <a:pt x="20990"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Arc 40">
              <a:extLst>
                <a:ext uri="{FF2B5EF4-FFF2-40B4-BE49-F238E27FC236}">
                  <a16:creationId xmlns:a16="http://schemas.microsoft.com/office/drawing/2014/main" id="{D6ABA846-71B5-6F0A-9577-858676AF791A}"/>
                </a:ext>
              </a:extLst>
            </p:cNvPr>
            <p:cNvSpPr>
              <a:spLocks/>
            </p:cNvSpPr>
            <p:nvPr/>
          </p:nvSpPr>
          <p:spPr bwMode="auto">
            <a:xfrm>
              <a:off x="2452" y="2629"/>
              <a:ext cx="1052" cy="103"/>
            </a:xfrm>
            <a:custGeom>
              <a:avLst/>
              <a:gdLst>
                <a:gd name="G0" fmla="+- 0 0 0"/>
                <a:gd name="G1" fmla="+- 17641 0 0"/>
                <a:gd name="G2" fmla="+- 21600 0 0"/>
                <a:gd name="T0" fmla="*/ 12464 w 16125"/>
                <a:gd name="T1" fmla="*/ 0 h 17641"/>
                <a:gd name="T2" fmla="*/ 16125 w 16125"/>
                <a:gd name="T3" fmla="*/ 3269 h 17641"/>
                <a:gd name="T4" fmla="*/ 0 w 16125"/>
                <a:gd name="T5" fmla="*/ 17641 h 17641"/>
              </a:gdLst>
              <a:ahLst/>
              <a:cxnLst>
                <a:cxn ang="0">
                  <a:pos x="T0" y="T1"/>
                </a:cxn>
                <a:cxn ang="0">
                  <a:pos x="T2" y="T3"/>
                </a:cxn>
                <a:cxn ang="0">
                  <a:pos x="T4" y="T5"/>
                </a:cxn>
              </a:cxnLst>
              <a:rect l="0" t="0" r="r" b="b"/>
              <a:pathLst>
                <a:path w="16125" h="17641" fill="none" extrusionOk="0">
                  <a:moveTo>
                    <a:pt x="12464" y="-1"/>
                  </a:moveTo>
                  <a:cubicBezTo>
                    <a:pt x="13804" y="947"/>
                    <a:pt x="15032" y="2043"/>
                    <a:pt x="16124" y="3269"/>
                  </a:cubicBezTo>
                </a:path>
                <a:path w="16125" h="17641" stroke="0" extrusionOk="0">
                  <a:moveTo>
                    <a:pt x="12464" y="-1"/>
                  </a:moveTo>
                  <a:cubicBezTo>
                    <a:pt x="13804" y="947"/>
                    <a:pt x="15032" y="2043"/>
                    <a:pt x="16124" y="3269"/>
                  </a:cubicBezTo>
                  <a:lnTo>
                    <a:pt x="0" y="17641"/>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 name="Arc 41">
              <a:extLst>
                <a:ext uri="{FF2B5EF4-FFF2-40B4-BE49-F238E27FC236}">
                  <a16:creationId xmlns:a16="http://schemas.microsoft.com/office/drawing/2014/main" id="{A346E62D-8F2E-6D69-AABB-4C7D6840E508}"/>
                </a:ext>
              </a:extLst>
            </p:cNvPr>
            <p:cNvSpPr>
              <a:spLocks/>
            </p:cNvSpPr>
            <p:nvPr/>
          </p:nvSpPr>
          <p:spPr bwMode="auto">
            <a:xfrm>
              <a:off x="2340" y="2541"/>
              <a:ext cx="1172" cy="160"/>
            </a:xfrm>
            <a:custGeom>
              <a:avLst/>
              <a:gdLst>
                <a:gd name="G0" fmla="+- 0 0 0"/>
                <a:gd name="G1" fmla="+- 15669 0 0"/>
                <a:gd name="G2" fmla="+- 21600 0 0"/>
                <a:gd name="T0" fmla="*/ 14868 w 18286"/>
                <a:gd name="T1" fmla="*/ 0 h 15669"/>
                <a:gd name="T2" fmla="*/ 18286 w 18286"/>
                <a:gd name="T3" fmla="*/ 4173 h 15669"/>
                <a:gd name="T4" fmla="*/ 0 w 18286"/>
                <a:gd name="T5" fmla="*/ 15669 h 15669"/>
              </a:gdLst>
              <a:ahLst/>
              <a:cxnLst>
                <a:cxn ang="0">
                  <a:pos x="T0" y="T1"/>
                </a:cxn>
                <a:cxn ang="0">
                  <a:pos x="T2" y="T3"/>
                </a:cxn>
                <a:cxn ang="0">
                  <a:pos x="T4" y="T5"/>
                </a:cxn>
              </a:cxnLst>
              <a:rect l="0" t="0" r="r" b="b"/>
              <a:pathLst>
                <a:path w="18286" h="15669" fill="none" extrusionOk="0">
                  <a:moveTo>
                    <a:pt x="14867" y="0"/>
                  </a:moveTo>
                  <a:cubicBezTo>
                    <a:pt x="16177" y="1242"/>
                    <a:pt x="17325" y="2644"/>
                    <a:pt x="18286" y="4172"/>
                  </a:cubicBezTo>
                </a:path>
                <a:path w="18286" h="15669" stroke="0" extrusionOk="0">
                  <a:moveTo>
                    <a:pt x="14867" y="0"/>
                  </a:moveTo>
                  <a:cubicBezTo>
                    <a:pt x="16177" y="1242"/>
                    <a:pt x="17325" y="2644"/>
                    <a:pt x="18286" y="4172"/>
                  </a:cubicBezTo>
                  <a:lnTo>
                    <a:pt x="0" y="15669"/>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4" name="Arc 42">
              <a:extLst>
                <a:ext uri="{FF2B5EF4-FFF2-40B4-BE49-F238E27FC236}">
                  <a16:creationId xmlns:a16="http://schemas.microsoft.com/office/drawing/2014/main" id="{2B9B1825-1F72-2CEA-8EB2-FC042477F853}"/>
                </a:ext>
              </a:extLst>
            </p:cNvPr>
            <p:cNvSpPr>
              <a:spLocks/>
            </p:cNvSpPr>
            <p:nvPr/>
          </p:nvSpPr>
          <p:spPr bwMode="auto">
            <a:xfrm>
              <a:off x="2455" y="2314"/>
              <a:ext cx="1120" cy="229"/>
            </a:xfrm>
            <a:custGeom>
              <a:avLst/>
              <a:gdLst>
                <a:gd name="G0" fmla="+- 0 0 0"/>
                <a:gd name="G1" fmla="+- 14318 0 0"/>
                <a:gd name="G2" fmla="+- 21600 0 0"/>
                <a:gd name="T0" fmla="*/ 16173 w 21331"/>
                <a:gd name="T1" fmla="*/ 0 h 14318"/>
                <a:gd name="T2" fmla="*/ 21331 w 21331"/>
                <a:gd name="T3" fmla="*/ 10922 h 14318"/>
                <a:gd name="T4" fmla="*/ 0 w 21331"/>
                <a:gd name="T5" fmla="*/ 14318 h 14318"/>
              </a:gdLst>
              <a:ahLst/>
              <a:cxnLst>
                <a:cxn ang="0">
                  <a:pos x="T0" y="T1"/>
                </a:cxn>
                <a:cxn ang="0">
                  <a:pos x="T2" y="T3"/>
                </a:cxn>
                <a:cxn ang="0">
                  <a:pos x="T4" y="T5"/>
                </a:cxn>
              </a:cxnLst>
              <a:rect l="0" t="0" r="r" b="b"/>
              <a:pathLst>
                <a:path w="21331" h="14318" fill="none" extrusionOk="0">
                  <a:moveTo>
                    <a:pt x="16172" y="0"/>
                  </a:moveTo>
                  <a:cubicBezTo>
                    <a:pt x="18895" y="3076"/>
                    <a:pt x="20685" y="6864"/>
                    <a:pt x="21331" y="10921"/>
                  </a:cubicBezTo>
                </a:path>
                <a:path w="21331" h="14318" stroke="0" extrusionOk="0">
                  <a:moveTo>
                    <a:pt x="16172" y="0"/>
                  </a:moveTo>
                  <a:cubicBezTo>
                    <a:pt x="18895" y="3076"/>
                    <a:pt x="20685" y="6864"/>
                    <a:pt x="21331" y="10921"/>
                  </a:cubicBezTo>
                  <a:lnTo>
                    <a:pt x="0" y="14318"/>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Arc 43">
              <a:extLst>
                <a:ext uri="{FF2B5EF4-FFF2-40B4-BE49-F238E27FC236}">
                  <a16:creationId xmlns:a16="http://schemas.microsoft.com/office/drawing/2014/main" id="{F08E7C32-9F67-BC9E-56BB-09E7BBF1C159}"/>
                </a:ext>
              </a:extLst>
            </p:cNvPr>
            <p:cNvSpPr>
              <a:spLocks/>
            </p:cNvSpPr>
            <p:nvPr/>
          </p:nvSpPr>
          <p:spPr bwMode="auto">
            <a:xfrm>
              <a:off x="2525" y="2189"/>
              <a:ext cx="1152" cy="386"/>
            </a:xfrm>
            <a:custGeom>
              <a:avLst/>
              <a:gdLst>
                <a:gd name="G0" fmla="+- 0 0 0"/>
                <a:gd name="G1" fmla="+- 15583 0 0"/>
                <a:gd name="G2" fmla="+- 21600 0 0"/>
                <a:gd name="T0" fmla="*/ 14958 w 20685"/>
                <a:gd name="T1" fmla="*/ 0 h 15583"/>
                <a:gd name="T2" fmla="*/ 20685 w 20685"/>
                <a:gd name="T3" fmla="*/ 9363 h 15583"/>
                <a:gd name="T4" fmla="*/ 0 w 20685"/>
                <a:gd name="T5" fmla="*/ 15583 h 15583"/>
              </a:gdLst>
              <a:ahLst/>
              <a:cxnLst>
                <a:cxn ang="0">
                  <a:pos x="T0" y="T1"/>
                </a:cxn>
                <a:cxn ang="0">
                  <a:pos x="T2" y="T3"/>
                </a:cxn>
                <a:cxn ang="0">
                  <a:pos x="T4" y="T5"/>
                </a:cxn>
              </a:cxnLst>
              <a:rect l="0" t="0" r="r" b="b"/>
              <a:pathLst>
                <a:path w="20685" h="15583" fill="none" extrusionOk="0">
                  <a:moveTo>
                    <a:pt x="14957" y="0"/>
                  </a:moveTo>
                  <a:cubicBezTo>
                    <a:pt x="17641" y="2575"/>
                    <a:pt x="19613" y="5800"/>
                    <a:pt x="20685" y="9362"/>
                  </a:cubicBezTo>
                </a:path>
                <a:path w="20685" h="15583" stroke="0" extrusionOk="0">
                  <a:moveTo>
                    <a:pt x="14957" y="0"/>
                  </a:moveTo>
                  <a:cubicBezTo>
                    <a:pt x="17641" y="2575"/>
                    <a:pt x="19613" y="5800"/>
                    <a:pt x="20685" y="9362"/>
                  </a:cubicBezTo>
                  <a:lnTo>
                    <a:pt x="0" y="15583"/>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 name="Arc 44">
              <a:extLst>
                <a:ext uri="{FF2B5EF4-FFF2-40B4-BE49-F238E27FC236}">
                  <a16:creationId xmlns:a16="http://schemas.microsoft.com/office/drawing/2014/main" id="{90B93B02-E89C-7539-FF47-D100DC298628}"/>
                </a:ext>
              </a:extLst>
            </p:cNvPr>
            <p:cNvSpPr>
              <a:spLocks/>
            </p:cNvSpPr>
            <p:nvPr/>
          </p:nvSpPr>
          <p:spPr bwMode="auto">
            <a:xfrm>
              <a:off x="2618" y="1934"/>
              <a:ext cx="1037" cy="452"/>
            </a:xfrm>
            <a:custGeom>
              <a:avLst/>
              <a:gdLst>
                <a:gd name="G0" fmla="+- 0 0 0"/>
                <a:gd name="G1" fmla="+- 20699 0 0"/>
                <a:gd name="G2" fmla="+- 21600 0 0"/>
                <a:gd name="T0" fmla="*/ 6173 w 20375"/>
                <a:gd name="T1" fmla="*/ 0 h 20699"/>
                <a:gd name="T2" fmla="*/ 20375 w 20375"/>
                <a:gd name="T3" fmla="*/ 13529 h 20699"/>
                <a:gd name="T4" fmla="*/ 0 w 20375"/>
                <a:gd name="T5" fmla="*/ 20699 h 20699"/>
              </a:gdLst>
              <a:ahLst/>
              <a:cxnLst>
                <a:cxn ang="0">
                  <a:pos x="T0" y="T1"/>
                </a:cxn>
                <a:cxn ang="0">
                  <a:pos x="T2" y="T3"/>
                </a:cxn>
                <a:cxn ang="0">
                  <a:pos x="T4" y="T5"/>
                </a:cxn>
              </a:cxnLst>
              <a:rect l="0" t="0" r="r" b="b"/>
              <a:pathLst>
                <a:path w="20375" h="20699" fill="none" extrusionOk="0">
                  <a:moveTo>
                    <a:pt x="6173" y="-1"/>
                  </a:moveTo>
                  <a:cubicBezTo>
                    <a:pt x="12799" y="1976"/>
                    <a:pt x="18079" y="7005"/>
                    <a:pt x="20375" y="13528"/>
                  </a:cubicBezTo>
                </a:path>
                <a:path w="20375" h="20699" stroke="0" extrusionOk="0">
                  <a:moveTo>
                    <a:pt x="6173" y="-1"/>
                  </a:moveTo>
                  <a:cubicBezTo>
                    <a:pt x="12799" y="1976"/>
                    <a:pt x="18079" y="7005"/>
                    <a:pt x="20375" y="13528"/>
                  </a:cubicBezTo>
                  <a:lnTo>
                    <a:pt x="0" y="20699"/>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Arc 45">
              <a:extLst>
                <a:ext uri="{FF2B5EF4-FFF2-40B4-BE49-F238E27FC236}">
                  <a16:creationId xmlns:a16="http://schemas.microsoft.com/office/drawing/2014/main" id="{68B70218-C9BA-2EC3-1DB6-857A188A267D}"/>
                </a:ext>
              </a:extLst>
            </p:cNvPr>
            <p:cNvSpPr>
              <a:spLocks/>
            </p:cNvSpPr>
            <p:nvPr/>
          </p:nvSpPr>
          <p:spPr bwMode="auto">
            <a:xfrm>
              <a:off x="3661" y="2197"/>
              <a:ext cx="189" cy="94"/>
            </a:xfrm>
            <a:custGeom>
              <a:avLst/>
              <a:gdLst>
                <a:gd name="G0" fmla="+- 19775 0 0"/>
                <a:gd name="G1" fmla="+- 0 0 0"/>
                <a:gd name="G2" fmla="+- 21600 0 0"/>
                <a:gd name="T0" fmla="*/ 19775 w 19775"/>
                <a:gd name="T1" fmla="*/ 21600 h 21600"/>
                <a:gd name="T2" fmla="*/ 0 w 19775"/>
                <a:gd name="T3" fmla="*/ 8689 h 21600"/>
                <a:gd name="T4" fmla="*/ 19775 w 19775"/>
                <a:gd name="T5" fmla="*/ 0 h 21600"/>
              </a:gdLst>
              <a:ahLst/>
              <a:cxnLst>
                <a:cxn ang="0">
                  <a:pos x="T0" y="T1"/>
                </a:cxn>
                <a:cxn ang="0">
                  <a:pos x="T2" y="T3"/>
                </a:cxn>
                <a:cxn ang="0">
                  <a:pos x="T4" y="T5"/>
                </a:cxn>
              </a:cxnLst>
              <a:rect l="0" t="0" r="r" b="b"/>
              <a:pathLst>
                <a:path w="19775" h="21600" fill="none" extrusionOk="0">
                  <a:moveTo>
                    <a:pt x="19775" y="21600"/>
                  </a:moveTo>
                  <a:cubicBezTo>
                    <a:pt x="11205" y="21600"/>
                    <a:pt x="3446" y="16534"/>
                    <a:pt x="-1" y="8689"/>
                  </a:cubicBezTo>
                </a:path>
                <a:path w="19775" h="21600" stroke="0" extrusionOk="0">
                  <a:moveTo>
                    <a:pt x="19775" y="21600"/>
                  </a:moveTo>
                  <a:cubicBezTo>
                    <a:pt x="11205" y="21600"/>
                    <a:pt x="3446" y="16534"/>
                    <a:pt x="-1" y="8689"/>
                  </a:cubicBezTo>
                  <a:lnTo>
                    <a:pt x="19775"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 name="Arc 46">
              <a:extLst>
                <a:ext uri="{FF2B5EF4-FFF2-40B4-BE49-F238E27FC236}">
                  <a16:creationId xmlns:a16="http://schemas.microsoft.com/office/drawing/2014/main" id="{2EDBE034-917A-A524-2B72-82EFEED90FE5}"/>
                </a:ext>
              </a:extLst>
            </p:cNvPr>
            <p:cNvSpPr>
              <a:spLocks/>
            </p:cNvSpPr>
            <p:nvPr/>
          </p:nvSpPr>
          <p:spPr bwMode="auto">
            <a:xfrm rot="10620000">
              <a:off x="2374" y="2732"/>
              <a:ext cx="1164" cy="171"/>
            </a:xfrm>
            <a:custGeom>
              <a:avLst/>
              <a:gdLst>
                <a:gd name="G0" fmla="+- 18290 0 0"/>
                <a:gd name="G1" fmla="+- 16695 0 0"/>
                <a:gd name="G2" fmla="+- 21600 0 0"/>
                <a:gd name="T0" fmla="*/ 0 w 18290"/>
                <a:gd name="T1" fmla="*/ 5204 h 16695"/>
                <a:gd name="T2" fmla="*/ 4585 w 18290"/>
                <a:gd name="T3" fmla="*/ 0 h 16695"/>
                <a:gd name="T4" fmla="*/ 18290 w 18290"/>
                <a:gd name="T5" fmla="*/ 16695 h 16695"/>
              </a:gdLst>
              <a:ahLst/>
              <a:cxnLst>
                <a:cxn ang="0">
                  <a:pos x="T0" y="T1"/>
                </a:cxn>
                <a:cxn ang="0">
                  <a:pos x="T2" y="T3"/>
                </a:cxn>
                <a:cxn ang="0">
                  <a:pos x="T4" y="T5"/>
                </a:cxn>
              </a:cxnLst>
              <a:rect l="0" t="0" r="r" b="b"/>
              <a:pathLst>
                <a:path w="18290" h="16695" fill="none" extrusionOk="0">
                  <a:moveTo>
                    <a:pt x="0" y="5204"/>
                  </a:moveTo>
                  <a:cubicBezTo>
                    <a:pt x="1238" y="3233"/>
                    <a:pt x="2786" y="1476"/>
                    <a:pt x="4584" y="-1"/>
                  </a:cubicBezTo>
                </a:path>
                <a:path w="18290" h="16695" stroke="0" extrusionOk="0">
                  <a:moveTo>
                    <a:pt x="0" y="5204"/>
                  </a:moveTo>
                  <a:cubicBezTo>
                    <a:pt x="1238" y="3233"/>
                    <a:pt x="2786" y="1476"/>
                    <a:pt x="4584" y="-1"/>
                  </a:cubicBezTo>
                  <a:lnTo>
                    <a:pt x="18290" y="16695"/>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Arc 47">
              <a:extLst>
                <a:ext uri="{FF2B5EF4-FFF2-40B4-BE49-F238E27FC236}">
                  <a16:creationId xmlns:a16="http://schemas.microsoft.com/office/drawing/2014/main" id="{96A11B60-C593-4EA1-B3ED-195E21AD29EB}"/>
                </a:ext>
              </a:extLst>
            </p:cNvPr>
            <p:cNvSpPr>
              <a:spLocks/>
            </p:cNvSpPr>
            <p:nvPr/>
          </p:nvSpPr>
          <p:spPr bwMode="auto">
            <a:xfrm rot="10800000">
              <a:off x="2410" y="2762"/>
              <a:ext cx="1157" cy="234"/>
            </a:xfrm>
            <a:custGeom>
              <a:avLst/>
              <a:gdLst>
                <a:gd name="G0" fmla="+- 20534 0 0"/>
                <a:gd name="G1" fmla="+- 15455 0 0"/>
                <a:gd name="G2" fmla="+- 21600 0 0"/>
                <a:gd name="T0" fmla="*/ 0 w 20534"/>
                <a:gd name="T1" fmla="*/ 8754 h 15455"/>
                <a:gd name="T2" fmla="*/ 5444 w 20534"/>
                <a:gd name="T3" fmla="*/ 0 h 15455"/>
                <a:gd name="T4" fmla="*/ 20534 w 20534"/>
                <a:gd name="T5" fmla="*/ 15455 h 15455"/>
              </a:gdLst>
              <a:ahLst/>
              <a:cxnLst>
                <a:cxn ang="0">
                  <a:pos x="T0" y="T1"/>
                </a:cxn>
                <a:cxn ang="0">
                  <a:pos x="T2" y="T3"/>
                </a:cxn>
                <a:cxn ang="0">
                  <a:pos x="T4" y="T5"/>
                </a:cxn>
              </a:cxnLst>
              <a:rect l="0" t="0" r="r" b="b"/>
              <a:pathLst>
                <a:path w="20534" h="15455" fill="none" extrusionOk="0">
                  <a:moveTo>
                    <a:pt x="-1" y="8753"/>
                  </a:moveTo>
                  <a:cubicBezTo>
                    <a:pt x="1081" y="5439"/>
                    <a:pt x="2949" y="2435"/>
                    <a:pt x="5444" y="0"/>
                  </a:cubicBezTo>
                </a:path>
                <a:path w="20534" h="15455" stroke="0" extrusionOk="0">
                  <a:moveTo>
                    <a:pt x="-1" y="8753"/>
                  </a:moveTo>
                  <a:cubicBezTo>
                    <a:pt x="1081" y="5439"/>
                    <a:pt x="2949" y="2435"/>
                    <a:pt x="5444" y="0"/>
                  </a:cubicBezTo>
                  <a:lnTo>
                    <a:pt x="20534" y="15455"/>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0" name="Arc 48">
              <a:extLst>
                <a:ext uri="{FF2B5EF4-FFF2-40B4-BE49-F238E27FC236}">
                  <a16:creationId xmlns:a16="http://schemas.microsoft.com/office/drawing/2014/main" id="{B55C9B4E-D459-5D84-E143-228D72D617B6}"/>
                </a:ext>
              </a:extLst>
            </p:cNvPr>
            <p:cNvSpPr>
              <a:spLocks/>
            </p:cNvSpPr>
            <p:nvPr/>
          </p:nvSpPr>
          <p:spPr bwMode="auto">
            <a:xfrm>
              <a:off x="2396" y="2419"/>
              <a:ext cx="1143" cy="219"/>
            </a:xfrm>
            <a:custGeom>
              <a:avLst/>
              <a:gdLst>
                <a:gd name="G0" fmla="+- 0 0 0"/>
                <a:gd name="G1" fmla="+- 15027 0 0"/>
                <a:gd name="G2" fmla="+- 21600 0 0"/>
                <a:gd name="T0" fmla="*/ 15516 w 20533"/>
                <a:gd name="T1" fmla="*/ 0 h 15027"/>
                <a:gd name="T2" fmla="*/ 20533 w 20533"/>
                <a:gd name="T3" fmla="*/ 8322 h 15027"/>
                <a:gd name="T4" fmla="*/ 0 w 20533"/>
                <a:gd name="T5" fmla="*/ 15027 h 15027"/>
              </a:gdLst>
              <a:ahLst/>
              <a:cxnLst>
                <a:cxn ang="0">
                  <a:pos x="T0" y="T1"/>
                </a:cxn>
                <a:cxn ang="0">
                  <a:pos x="T2" y="T3"/>
                </a:cxn>
                <a:cxn ang="0">
                  <a:pos x="T4" y="T5"/>
                </a:cxn>
              </a:cxnLst>
              <a:rect l="0" t="0" r="r" b="b"/>
              <a:pathLst>
                <a:path w="20533" h="15027" fill="none" extrusionOk="0">
                  <a:moveTo>
                    <a:pt x="15516" y="-1"/>
                  </a:moveTo>
                  <a:cubicBezTo>
                    <a:pt x="17798" y="2356"/>
                    <a:pt x="19514" y="5202"/>
                    <a:pt x="20532" y="8322"/>
                  </a:cubicBezTo>
                </a:path>
                <a:path w="20533" h="15027" stroke="0" extrusionOk="0">
                  <a:moveTo>
                    <a:pt x="15516" y="-1"/>
                  </a:moveTo>
                  <a:cubicBezTo>
                    <a:pt x="17798" y="2356"/>
                    <a:pt x="19514" y="5202"/>
                    <a:pt x="20532" y="8322"/>
                  </a:cubicBezTo>
                  <a:lnTo>
                    <a:pt x="0" y="15027"/>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1" name="Arc 49">
              <a:extLst>
                <a:ext uri="{FF2B5EF4-FFF2-40B4-BE49-F238E27FC236}">
                  <a16:creationId xmlns:a16="http://schemas.microsoft.com/office/drawing/2014/main" id="{1B3B1705-2B44-2E14-EFD9-C483C0503714}"/>
                </a:ext>
              </a:extLst>
            </p:cNvPr>
            <p:cNvSpPr>
              <a:spLocks/>
            </p:cNvSpPr>
            <p:nvPr/>
          </p:nvSpPr>
          <p:spPr bwMode="auto">
            <a:xfrm rot="10500000">
              <a:off x="2483" y="2865"/>
              <a:ext cx="1143" cy="217"/>
            </a:xfrm>
            <a:custGeom>
              <a:avLst/>
              <a:gdLst>
                <a:gd name="G0" fmla="+- 20534 0 0"/>
                <a:gd name="G1" fmla="+- 14874 0 0"/>
                <a:gd name="G2" fmla="+- 21600 0 0"/>
                <a:gd name="T0" fmla="*/ 0 w 20534"/>
                <a:gd name="T1" fmla="*/ 8173 h 14874"/>
                <a:gd name="T2" fmla="*/ 4871 w 20534"/>
                <a:gd name="T3" fmla="*/ 0 h 14874"/>
                <a:gd name="T4" fmla="*/ 20534 w 20534"/>
                <a:gd name="T5" fmla="*/ 14874 h 14874"/>
              </a:gdLst>
              <a:ahLst/>
              <a:cxnLst>
                <a:cxn ang="0">
                  <a:pos x="T0" y="T1"/>
                </a:cxn>
                <a:cxn ang="0">
                  <a:pos x="T2" y="T3"/>
                </a:cxn>
                <a:cxn ang="0">
                  <a:pos x="T4" y="T5"/>
                </a:cxn>
              </a:cxnLst>
              <a:rect l="0" t="0" r="r" b="b"/>
              <a:pathLst>
                <a:path w="20534" h="14874" fill="none" extrusionOk="0">
                  <a:moveTo>
                    <a:pt x="-1" y="8172"/>
                  </a:moveTo>
                  <a:cubicBezTo>
                    <a:pt x="995" y="5120"/>
                    <a:pt x="2660" y="2328"/>
                    <a:pt x="4871" y="0"/>
                  </a:cubicBezTo>
                </a:path>
                <a:path w="20534" h="14874" stroke="0" extrusionOk="0">
                  <a:moveTo>
                    <a:pt x="-1" y="8172"/>
                  </a:moveTo>
                  <a:cubicBezTo>
                    <a:pt x="995" y="5120"/>
                    <a:pt x="2660" y="2328"/>
                    <a:pt x="4871" y="0"/>
                  </a:cubicBezTo>
                  <a:lnTo>
                    <a:pt x="20534" y="14874"/>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Arc 50">
              <a:extLst>
                <a:ext uri="{FF2B5EF4-FFF2-40B4-BE49-F238E27FC236}">
                  <a16:creationId xmlns:a16="http://schemas.microsoft.com/office/drawing/2014/main" id="{6E9F2A79-EB6E-FEBE-26CD-236BD2CC9234}"/>
                </a:ext>
              </a:extLst>
            </p:cNvPr>
            <p:cNvSpPr>
              <a:spLocks/>
            </p:cNvSpPr>
            <p:nvPr/>
          </p:nvSpPr>
          <p:spPr bwMode="auto">
            <a:xfrm rot="10800000">
              <a:off x="2547" y="2806"/>
              <a:ext cx="1152" cy="384"/>
            </a:xfrm>
            <a:custGeom>
              <a:avLst/>
              <a:gdLst>
                <a:gd name="G0" fmla="+- 20686 0 0"/>
                <a:gd name="G1" fmla="+- 15474 0 0"/>
                <a:gd name="G2" fmla="+- 21600 0 0"/>
                <a:gd name="T0" fmla="*/ 0 w 20686"/>
                <a:gd name="T1" fmla="*/ 9258 h 15474"/>
                <a:gd name="T2" fmla="*/ 5616 w 20686"/>
                <a:gd name="T3" fmla="*/ 0 h 15474"/>
                <a:gd name="T4" fmla="*/ 20686 w 20686"/>
                <a:gd name="T5" fmla="*/ 15474 h 15474"/>
              </a:gdLst>
              <a:ahLst/>
              <a:cxnLst>
                <a:cxn ang="0">
                  <a:pos x="T0" y="T1"/>
                </a:cxn>
                <a:cxn ang="0">
                  <a:pos x="T2" y="T3"/>
                </a:cxn>
                <a:cxn ang="0">
                  <a:pos x="T4" y="T5"/>
                </a:cxn>
              </a:cxnLst>
              <a:rect l="0" t="0" r="r" b="b"/>
              <a:pathLst>
                <a:path w="20686" h="15474" fill="none" extrusionOk="0">
                  <a:moveTo>
                    <a:pt x="-1" y="9257"/>
                  </a:moveTo>
                  <a:cubicBezTo>
                    <a:pt x="1055" y="5745"/>
                    <a:pt x="2988" y="2558"/>
                    <a:pt x="5615" y="-1"/>
                  </a:cubicBezTo>
                </a:path>
                <a:path w="20686" h="15474" stroke="0" extrusionOk="0">
                  <a:moveTo>
                    <a:pt x="-1" y="9257"/>
                  </a:moveTo>
                  <a:cubicBezTo>
                    <a:pt x="1055" y="5745"/>
                    <a:pt x="2988" y="2558"/>
                    <a:pt x="5615" y="-1"/>
                  </a:cubicBezTo>
                  <a:lnTo>
                    <a:pt x="20686" y="15474"/>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Arc 51">
              <a:extLst>
                <a:ext uri="{FF2B5EF4-FFF2-40B4-BE49-F238E27FC236}">
                  <a16:creationId xmlns:a16="http://schemas.microsoft.com/office/drawing/2014/main" id="{DF41F95D-01D9-A3DB-0769-C090280CE0B6}"/>
                </a:ext>
              </a:extLst>
            </p:cNvPr>
            <p:cNvSpPr>
              <a:spLocks/>
            </p:cNvSpPr>
            <p:nvPr/>
          </p:nvSpPr>
          <p:spPr bwMode="auto">
            <a:xfrm rot="10560000">
              <a:off x="2654" y="2984"/>
              <a:ext cx="1004" cy="455"/>
            </a:xfrm>
            <a:custGeom>
              <a:avLst/>
              <a:gdLst>
                <a:gd name="G0" fmla="+- 19733 0 0"/>
                <a:gd name="G1" fmla="+- 20806 0 0"/>
                <a:gd name="G2" fmla="+- 21600 0 0"/>
                <a:gd name="T0" fmla="*/ 0 w 19733"/>
                <a:gd name="T1" fmla="*/ 12021 h 20806"/>
                <a:gd name="T2" fmla="*/ 13929 w 19733"/>
                <a:gd name="T3" fmla="*/ 0 h 20806"/>
                <a:gd name="T4" fmla="*/ 19733 w 19733"/>
                <a:gd name="T5" fmla="*/ 20806 h 20806"/>
              </a:gdLst>
              <a:ahLst/>
              <a:cxnLst>
                <a:cxn ang="0">
                  <a:pos x="T0" y="T1"/>
                </a:cxn>
                <a:cxn ang="0">
                  <a:pos x="T2" y="T3"/>
                </a:cxn>
                <a:cxn ang="0">
                  <a:pos x="T4" y="T5"/>
                </a:cxn>
              </a:cxnLst>
              <a:rect l="0" t="0" r="r" b="b"/>
              <a:pathLst>
                <a:path w="19733" h="20806" fill="none" extrusionOk="0">
                  <a:moveTo>
                    <a:pt x="0" y="12021"/>
                  </a:moveTo>
                  <a:cubicBezTo>
                    <a:pt x="2619" y="6138"/>
                    <a:pt x="7726" y="1730"/>
                    <a:pt x="13929" y="0"/>
                  </a:cubicBezTo>
                </a:path>
                <a:path w="19733" h="20806" stroke="0" extrusionOk="0">
                  <a:moveTo>
                    <a:pt x="0" y="12021"/>
                  </a:moveTo>
                  <a:cubicBezTo>
                    <a:pt x="2619" y="6138"/>
                    <a:pt x="7726" y="1730"/>
                    <a:pt x="13929" y="0"/>
                  </a:cubicBezTo>
                  <a:lnTo>
                    <a:pt x="19733" y="20806"/>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Arc 52">
              <a:extLst>
                <a:ext uri="{FF2B5EF4-FFF2-40B4-BE49-F238E27FC236}">
                  <a16:creationId xmlns:a16="http://schemas.microsoft.com/office/drawing/2014/main" id="{71EE1A6D-BE5B-A9CC-687D-36989646D706}"/>
                </a:ext>
              </a:extLst>
            </p:cNvPr>
            <p:cNvSpPr>
              <a:spLocks/>
            </p:cNvSpPr>
            <p:nvPr/>
          </p:nvSpPr>
          <p:spPr bwMode="auto">
            <a:xfrm>
              <a:off x="3644" y="3079"/>
              <a:ext cx="206" cy="157"/>
            </a:xfrm>
            <a:custGeom>
              <a:avLst/>
              <a:gdLst>
                <a:gd name="G0" fmla="+- 18783 0 0"/>
                <a:gd name="G1" fmla="+- 21600 0 0"/>
                <a:gd name="G2" fmla="+- 21600 0 0"/>
                <a:gd name="T0" fmla="*/ 0 w 18783"/>
                <a:gd name="T1" fmla="*/ 10934 h 21600"/>
                <a:gd name="T2" fmla="*/ 18718 w 18783"/>
                <a:gd name="T3" fmla="*/ 0 h 21600"/>
                <a:gd name="T4" fmla="*/ 18783 w 18783"/>
                <a:gd name="T5" fmla="*/ 21600 h 21600"/>
              </a:gdLst>
              <a:ahLst/>
              <a:cxnLst>
                <a:cxn ang="0">
                  <a:pos x="T0" y="T1"/>
                </a:cxn>
                <a:cxn ang="0">
                  <a:pos x="T2" y="T3"/>
                </a:cxn>
                <a:cxn ang="0">
                  <a:pos x="T4" y="T5"/>
                </a:cxn>
              </a:cxnLst>
              <a:rect l="0" t="0" r="r" b="b"/>
              <a:pathLst>
                <a:path w="18783" h="21600" fill="none" extrusionOk="0">
                  <a:moveTo>
                    <a:pt x="0" y="10934"/>
                  </a:moveTo>
                  <a:cubicBezTo>
                    <a:pt x="3826" y="4195"/>
                    <a:pt x="10969" y="23"/>
                    <a:pt x="18718" y="0"/>
                  </a:cubicBezTo>
                </a:path>
                <a:path w="18783" h="21600" stroke="0" extrusionOk="0">
                  <a:moveTo>
                    <a:pt x="0" y="10934"/>
                  </a:moveTo>
                  <a:cubicBezTo>
                    <a:pt x="3826" y="4195"/>
                    <a:pt x="10969" y="23"/>
                    <a:pt x="18718" y="0"/>
                  </a:cubicBezTo>
                  <a:lnTo>
                    <a:pt x="18783" y="2160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Line 53">
              <a:extLst>
                <a:ext uri="{FF2B5EF4-FFF2-40B4-BE49-F238E27FC236}">
                  <a16:creationId xmlns:a16="http://schemas.microsoft.com/office/drawing/2014/main" id="{150F5628-2B71-E3C0-C859-BDE804EE2E3A}"/>
                </a:ext>
              </a:extLst>
            </p:cNvPr>
            <p:cNvSpPr>
              <a:spLocks noChangeShapeType="1"/>
            </p:cNvSpPr>
            <p:nvPr/>
          </p:nvSpPr>
          <p:spPr bwMode="auto">
            <a:xfrm>
              <a:off x="4159" y="2700"/>
              <a:ext cx="618"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 name="Line 54">
              <a:extLst>
                <a:ext uri="{FF2B5EF4-FFF2-40B4-BE49-F238E27FC236}">
                  <a16:creationId xmlns:a16="http://schemas.microsoft.com/office/drawing/2014/main" id="{A2F18012-129D-FEB3-AB78-478B684E6F79}"/>
                </a:ext>
              </a:extLst>
            </p:cNvPr>
            <p:cNvSpPr>
              <a:spLocks noChangeShapeType="1"/>
            </p:cNvSpPr>
            <p:nvPr/>
          </p:nvSpPr>
          <p:spPr bwMode="auto">
            <a:xfrm flipH="1">
              <a:off x="3231" y="2700"/>
              <a:ext cx="275" cy="0"/>
            </a:xfrm>
            <a:prstGeom prst="line">
              <a:avLst/>
            </a:prstGeom>
            <a:noFill/>
            <a:ln w="38100">
              <a:solidFill>
                <a:srgbClr val="63A537"/>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 name="Arc 55">
              <a:extLst>
                <a:ext uri="{FF2B5EF4-FFF2-40B4-BE49-F238E27FC236}">
                  <a16:creationId xmlns:a16="http://schemas.microsoft.com/office/drawing/2014/main" id="{8DB754A2-3007-708A-C652-AD4309E109C6}"/>
                </a:ext>
              </a:extLst>
            </p:cNvPr>
            <p:cNvSpPr>
              <a:spLocks/>
            </p:cNvSpPr>
            <p:nvPr/>
          </p:nvSpPr>
          <p:spPr bwMode="auto">
            <a:xfrm rot="10560000">
              <a:off x="2595" y="2812"/>
              <a:ext cx="788" cy="516"/>
            </a:xfrm>
            <a:custGeom>
              <a:avLst/>
              <a:gdLst>
                <a:gd name="G0" fmla="+- 14166 0 0"/>
                <a:gd name="G1" fmla="+- 20787 0 0"/>
                <a:gd name="G2" fmla="+- 21600 0 0"/>
                <a:gd name="T0" fmla="*/ 0 w 14166"/>
                <a:gd name="T1" fmla="*/ 4481 h 20787"/>
                <a:gd name="T2" fmla="*/ 8296 w 14166"/>
                <a:gd name="T3" fmla="*/ 0 h 20787"/>
                <a:gd name="T4" fmla="*/ 14166 w 14166"/>
                <a:gd name="T5" fmla="*/ 20787 h 20787"/>
              </a:gdLst>
              <a:ahLst/>
              <a:cxnLst>
                <a:cxn ang="0">
                  <a:pos x="T0" y="T1"/>
                </a:cxn>
                <a:cxn ang="0">
                  <a:pos x="T2" y="T3"/>
                </a:cxn>
                <a:cxn ang="0">
                  <a:pos x="T4" y="T5"/>
                </a:cxn>
              </a:cxnLst>
              <a:rect l="0" t="0" r="r" b="b"/>
              <a:pathLst>
                <a:path w="14166" h="20787" fill="none" extrusionOk="0">
                  <a:moveTo>
                    <a:pt x="0" y="4481"/>
                  </a:moveTo>
                  <a:cubicBezTo>
                    <a:pt x="2401" y="2394"/>
                    <a:pt x="5234" y="864"/>
                    <a:pt x="8295" y="-1"/>
                  </a:cubicBezTo>
                </a:path>
                <a:path w="14166" h="20787" stroke="0" extrusionOk="0">
                  <a:moveTo>
                    <a:pt x="0" y="4481"/>
                  </a:moveTo>
                  <a:cubicBezTo>
                    <a:pt x="2401" y="2394"/>
                    <a:pt x="5234" y="864"/>
                    <a:pt x="8295" y="-1"/>
                  </a:cubicBezTo>
                  <a:lnTo>
                    <a:pt x="14166" y="20787"/>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8" name="Arc 56">
              <a:extLst>
                <a:ext uri="{FF2B5EF4-FFF2-40B4-BE49-F238E27FC236}">
                  <a16:creationId xmlns:a16="http://schemas.microsoft.com/office/drawing/2014/main" id="{F979D1AF-E4A1-D4D1-9E79-2228AD8EF0D3}"/>
                </a:ext>
              </a:extLst>
            </p:cNvPr>
            <p:cNvSpPr>
              <a:spLocks/>
            </p:cNvSpPr>
            <p:nvPr/>
          </p:nvSpPr>
          <p:spPr bwMode="auto">
            <a:xfrm rot="10500000">
              <a:off x="2508" y="2869"/>
              <a:ext cx="875" cy="299"/>
            </a:xfrm>
            <a:custGeom>
              <a:avLst/>
              <a:gdLst>
                <a:gd name="G0" fmla="+- 15704 0 0"/>
                <a:gd name="G1" fmla="+- 20514 0 0"/>
                <a:gd name="G2" fmla="+- 21600 0 0"/>
                <a:gd name="T0" fmla="*/ 0 w 15704"/>
                <a:gd name="T1" fmla="*/ 5683 h 20514"/>
                <a:gd name="T2" fmla="*/ 8942 w 15704"/>
                <a:gd name="T3" fmla="*/ 0 h 20514"/>
                <a:gd name="T4" fmla="*/ 15704 w 15704"/>
                <a:gd name="T5" fmla="*/ 20514 h 20514"/>
              </a:gdLst>
              <a:ahLst/>
              <a:cxnLst>
                <a:cxn ang="0">
                  <a:pos x="T0" y="T1"/>
                </a:cxn>
                <a:cxn ang="0">
                  <a:pos x="T2" y="T3"/>
                </a:cxn>
                <a:cxn ang="0">
                  <a:pos x="T4" y="T5"/>
                </a:cxn>
              </a:cxnLst>
              <a:rect l="0" t="0" r="r" b="b"/>
              <a:pathLst>
                <a:path w="15704" h="20514" fill="none" extrusionOk="0">
                  <a:moveTo>
                    <a:pt x="0" y="5683"/>
                  </a:moveTo>
                  <a:cubicBezTo>
                    <a:pt x="2462" y="3075"/>
                    <a:pt x="5535" y="1122"/>
                    <a:pt x="8941" y="-1"/>
                  </a:cubicBezTo>
                </a:path>
                <a:path w="15704" h="20514" stroke="0" extrusionOk="0">
                  <a:moveTo>
                    <a:pt x="0" y="5683"/>
                  </a:moveTo>
                  <a:cubicBezTo>
                    <a:pt x="2462" y="3075"/>
                    <a:pt x="5535" y="1122"/>
                    <a:pt x="8941" y="-1"/>
                  </a:cubicBezTo>
                  <a:lnTo>
                    <a:pt x="15704" y="20514"/>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9" name="Arc 57">
              <a:extLst>
                <a:ext uri="{FF2B5EF4-FFF2-40B4-BE49-F238E27FC236}">
                  <a16:creationId xmlns:a16="http://schemas.microsoft.com/office/drawing/2014/main" id="{28448936-D177-5870-C05C-4F9920700BAD}"/>
                </a:ext>
              </a:extLst>
            </p:cNvPr>
            <p:cNvSpPr>
              <a:spLocks/>
            </p:cNvSpPr>
            <p:nvPr/>
          </p:nvSpPr>
          <p:spPr bwMode="auto">
            <a:xfrm rot="10800000">
              <a:off x="2363" y="2783"/>
              <a:ext cx="913" cy="281"/>
            </a:xfrm>
            <a:custGeom>
              <a:avLst/>
              <a:gdLst>
                <a:gd name="G0" fmla="+- 16394 0 0"/>
                <a:gd name="G1" fmla="+- 19282 0 0"/>
                <a:gd name="G2" fmla="+- 21600 0 0"/>
                <a:gd name="T0" fmla="*/ 0 w 16394"/>
                <a:gd name="T1" fmla="*/ 5218 h 19282"/>
                <a:gd name="T2" fmla="*/ 6660 w 16394"/>
                <a:gd name="T3" fmla="*/ 0 h 19282"/>
                <a:gd name="T4" fmla="*/ 16394 w 16394"/>
                <a:gd name="T5" fmla="*/ 19282 h 19282"/>
              </a:gdLst>
              <a:ahLst/>
              <a:cxnLst>
                <a:cxn ang="0">
                  <a:pos x="T0" y="T1"/>
                </a:cxn>
                <a:cxn ang="0">
                  <a:pos x="T2" y="T3"/>
                </a:cxn>
                <a:cxn ang="0">
                  <a:pos x="T4" y="T5"/>
                </a:cxn>
              </a:cxnLst>
              <a:rect l="0" t="0" r="r" b="b"/>
              <a:pathLst>
                <a:path w="16394" h="19282" fill="none" extrusionOk="0">
                  <a:moveTo>
                    <a:pt x="-1" y="5217"/>
                  </a:moveTo>
                  <a:cubicBezTo>
                    <a:pt x="1854" y="3056"/>
                    <a:pt x="4117" y="1283"/>
                    <a:pt x="6659" y="-1"/>
                  </a:cubicBezTo>
                </a:path>
                <a:path w="16394" h="19282" stroke="0" extrusionOk="0">
                  <a:moveTo>
                    <a:pt x="-1" y="5217"/>
                  </a:moveTo>
                  <a:cubicBezTo>
                    <a:pt x="1854" y="3056"/>
                    <a:pt x="4117" y="1283"/>
                    <a:pt x="6659" y="-1"/>
                  </a:cubicBezTo>
                  <a:lnTo>
                    <a:pt x="16394" y="1928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0" name="Arc 58">
              <a:extLst>
                <a:ext uri="{FF2B5EF4-FFF2-40B4-BE49-F238E27FC236}">
                  <a16:creationId xmlns:a16="http://schemas.microsoft.com/office/drawing/2014/main" id="{34149119-197E-F194-0243-95B682D6D63B}"/>
                </a:ext>
              </a:extLst>
            </p:cNvPr>
            <p:cNvSpPr>
              <a:spLocks/>
            </p:cNvSpPr>
            <p:nvPr/>
          </p:nvSpPr>
          <p:spPr bwMode="auto">
            <a:xfrm rot="10680000">
              <a:off x="2285" y="2745"/>
              <a:ext cx="964" cy="198"/>
            </a:xfrm>
            <a:custGeom>
              <a:avLst/>
              <a:gdLst>
                <a:gd name="G0" fmla="+- 15141 0 0"/>
                <a:gd name="G1" fmla="+- 19434 0 0"/>
                <a:gd name="G2" fmla="+- 21600 0 0"/>
                <a:gd name="T0" fmla="*/ 0 w 15141"/>
                <a:gd name="T1" fmla="*/ 4029 h 19434"/>
                <a:gd name="T2" fmla="*/ 5713 w 15141"/>
                <a:gd name="T3" fmla="*/ 0 h 19434"/>
                <a:gd name="T4" fmla="*/ 15141 w 15141"/>
                <a:gd name="T5" fmla="*/ 19434 h 19434"/>
              </a:gdLst>
              <a:ahLst/>
              <a:cxnLst>
                <a:cxn ang="0">
                  <a:pos x="T0" y="T1"/>
                </a:cxn>
                <a:cxn ang="0">
                  <a:pos x="T2" y="T3"/>
                </a:cxn>
                <a:cxn ang="0">
                  <a:pos x="T4" y="T5"/>
                </a:cxn>
              </a:cxnLst>
              <a:rect l="0" t="0" r="r" b="b"/>
              <a:pathLst>
                <a:path w="15141" h="19434" fill="none" extrusionOk="0">
                  <a:moveTo>
                    <a:pt x="0" y="4029"/>
                  </a:moveTo>
                  <a:cubicBezTo>
                    <a:pt x="1673" y="2384"/>
                    <a:pt x="3602" y="1024"/>
                    <a:pt x="5713" y="0"/>
                  </a:cubicBezTo>
                </a:path>
                <a:path w="15141" h="19434" stroke="0" extrusionOk="0">
                  <a:moveTo>
                    <a:pt x="0" y="4029"/>
                  </a:moveTo>
                  <a:cubicBezTo>
                    <a:pt x="1673" y="2384"/>
                    <a:pt x="3602" y="1024"/>
                    <a:pt x="5713" y="0"/>
                  </a:cubicBezTo>
                  <a:lnTo>
                    <a:pt x="15141" y="19434"/>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 name="Arc 59">
              <a:extLst>
                <a:ext uri="{FF2B5EF4-FFF2-40B4-BE49-F238E27FC236}">
                  <a16:creationId xmlns:a16="http://schemas.microsoft.com/office/drawing/2014/main" id="{C157B8CA-C045-DA90-9E9B-344A20FC4BA1}"/>
                </a:ext>
              </a:extLst>
            </p:cNvPr>
            <p:cNvSpPr>
              <a:spLocks/>
            </p:cNvSpPr>
            <p:nvPr/>
          </p:nvSpPr>
          <p:spPr bwMode="auto">
            <a:xfrm rot="10680000">
              <a:off x="2352" y="2704"/>
              <a:ext cx="854" cy="117"/>
            </a:xfrm>
            <a:custGeom>
              <a:avLst/>
              <a:gdLst>
                <a:gd name="G0" fmla="+- 13092 0 0"/>
                <a:gd name="G1" fmla="+- 20062 0 0"/>
                <a:gd name="G2" fmla="+- 21600 0 0"/>
                <a:gd name="T0" fmla="*/ 0 w 13092"/>
                <a:gd name="T1" fmla="*/ 2881 h 20062"/>
                <a:gd name="T2" fmla="*/ 5088 w 13092"/>
                <a:gd name="T3" fmla="*/ 0 h 20062"/>
                <a:gd name="T4" fmla="*/ 13092 w 13092"/>
                <a:gd name="T5" fmla="*/ 20062 h 20062"/>
              </a:gdLst>
              <a:ahLst/>
              <a:cxnLst>
                <a:cxn ang="0">
                  <a:pos x="T0" y="T1"/>
                </a:cxn>
                <a:cxn ang="0">
                  <a:pos x="T2" y="T3"/>
                </a:cxn>
                <a:cxn ang="0">
                  <a:pos x="T4" y="T5"/>
                </a:cxn>
              </a:cxnLst>
              <a:rect l="0" t="0" r="r" b="b"/>
              <a:pathLst>
                <a:path w="13092" h="20062" fill="none" extrusionOk="0">
                  <a:moveTo>
                    <a:pt x="0" y="2881"/>
                  </a:moveTo>
                  <a:cubicBezTo>
                    <a:pt x="1557" y="1694"/>
                    <a:pt x="3269" y="725"/>
                    <a:pt x="5087" y="-1"/>
                  </a:cubicBezTo>
                </a:path>
                <a:path w="13092" h="20062" stroke="0" extrusionOk="0">
                  <a:moveTo>
                    <a:pt x="0" y="2881"/>
                  </a:moveTo>
                  <a:cubicBezTo>
                    <a:pt x="1557" y="1694"/>
                    <a:pt x="3269" y="725"/>
                    <a:pt x="5087" y="-1"/>
                  </a:cubicBezTo>
                  <a:lnTo>
                    <a:pt x="13092" y="2006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 name="Line 60">
              <a:extLst>
                <a:ext uri="{FF2B5EF4-FFF2-40B4-BE49-F238E27FC236}">
                  <a16:creationId xmlns:a16="http://schemas.microsoft.com/office/drawing/2014/main" id="{56E5A9CA-CBB4-1A80-54D7-5F0FC6226673}"/>
                </a:ext>
              </a:extLst>
            </p:cNvPr>
            <p:cNvSpPr>
              <a:spLocks noChangeShapeType="1"/>
            </p:cNvSpPr>
            <p:nvPr/>
          </p:nvSpPr>
          <p:spPr bwMode="auto">
            <a:xfrm flipH="1" flipV="1">
              <a:off x="2861" y="2696"/>
              <a:ext cx="383" cy="4"/>
            </a:xfrm>
            <a:prstGeom prst="line">
              <a:avLst/>
            </a:prstGeom>
            <a:noFill/>
            <a:ln w="38100">
              <a:solidFill>
                <a:srgbClr val="63A537"/>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3" name="Arc 61">
              <a:extLst>
                <a:ext uri="{FF2B5EF4-FFF2-40B4-BE49-F238E27FC236}">
                  <a16:creationId xmlns:a16="http://schemas.microsoft.com/office/drawing/2014/main" id="{A26F57AB-D19C-5D92-9D41-11A405D78519}"/>
                </a:ext>
              </a:extLst>
            </p:cNvPr>
            <p:cNvSpPr>
              <a:spLocks/>
            </p:cNvSpPr>
            <p:nvPr/>
          </p:nvSpPr>
          <p:spPr bwMode="auto">
            <a:xfrm>
              <a:off x="2383" y="2616"/>
              <a:ext cx="894" cy="118"/>
            </a:xfrm>
            <a:custGeom>
              <a:avLst/>
              <a:gdLst>
                <a:gd name="G0" fmla="+- 0 0 0"/>
                <a:gd name="G1" fmla="+- 20328 0 0"/>
                <a:gd name="G2" fmla="+- 21600 0 0"/>
                <a:gd name="T0" fmla="*/ 7303 w 13700"/>
                <a:gd name="T1" fmla="*/ 0 h 20328"/>
                <a:gd name="T2" fmla="*/ 13700 w 13700"/>
                <a:gd name="T3" fmla="*/ 3629 h 20328"/>
                <a:gd name="T4" fmla="*/ 0 w 13700"/>
                <a:gd name="T5" fmla="*/ 20328 h 20328"/>
              </a:gdLst>
              <a:ahLst/>
              <a:cxnLst>
                <a:cxn ang="0">
                  <a:pos x="T0" y="T1"/>
                </a:cxn>
                <a:cxn ang="0">
                  <a:pos x="T2" y="T3"/>
                </a:cxn>
                <a:cxn ang="0">
                  <a:pos x="T4" y="T5"/>
                </a:cxn>
              </a:cxnLst>
              <a:rect l="0" t="0" r="r" b="b"/>
              <a:pathLst>
                <a:path w="13700" h="20328" fill="none" extrusionOk="0">
                  <a:moveTo>
                    <a:pt x="7302" y="0"/>
                  </a:moveTo>
                  <a:cubicBezTo>
                    <a:pt x="9627" y="835"/>
                    <a:pt x="11790" y="2062"/>
                    <a:pt x="13700" y="3628"/>
                  </a:cubicBezTo>
                </a:path>
                <a:path w="13700" h="20328" stroke="0" extrusionOk="0">
                  <a:moveTo>
                    <a:pt x="7302" y="0"/>
                  </a:moveTo>
                  <a:cubicBezTo>
                    <a:pt x="9627" y="835"/>
                    <a:pt x="11790" y="2062"/>
                    <a:pt x="13700" y="3628"/>
                  </a:cubicBezTo>
                  <a:lnTo>
                    <a:pt x="0" y="20328"/>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Arc 62">
              <a:extLst>
                <a:ext uri="{FF2B5EF4-FFF2-40B4-BE49-F238E27FC236}">
                  <a16:creationId xmlns:a16="http://schemas.microsoft.com/office/drawing/2014/main" id="{5D0781BB-4F30-0B86-4475-C095E6A6BB8D}"/>
                </a:ext>
              </a:extLst>
            </p:cNvPr>
            <p:cNvSpPr>
              <a:spLocks/>
            </p:cNvSpPr>
            <p:nvPr/>
          </p:nvSpPr>
          <p:spPr bwMode="auto">
            <a:xfrm>
              <a:off x="2340" y="2498"/>
              <a:ext cx="955" cy="203"/>
            </a:xfrm>
            <a:custGeom>
              <a:avLst/>
              <a:gdLst>
                <a:gd name="G0" fmla="+- 0 0 0"/>
                <a:gd name="G1" fmla="+- 19986 0 0"/>
                <a:gd name="G2" fmla="+- 21600 0 0"/>
                <a:gd name="T0" fmla="*/ 8192 w 15002"/>
                <a:gd name="T1" fmla="*/ 0 h 19986"/>
                <a:gd name="T2" fmla="*/ 15002 w 15002"/>
                <a:gd name="T3" fmla="*/ 4446 h 19986"/>
                <a:gd name="T4" fmla="*/ 0 w 15002"/>
                <a:gd name="T5" fmla="*/ 19986 h 19986"/>
              </a:gdLst>
              <a:ahLst/>
              <a:cxnLst>
                <a:cxn ang="0">
                  <a:pos x="T0" y="T1"/>
                </a:cxn>
                <a:cxn ang="0">
                  <a:pos x="T2" y="T3"/>
                </a:cxn>
                <a:cxn ang="0">
                  <a:pos x="T4" y="T5"/>
                </a:cxn>
              </a:cxnLst>
              <a:rect l="0" t="0" r="r" b="b"/>
              <a:pathLst>
                <a:path w="15002" h="19986" fill="none" extrusionOk="0">
                  <a:moveTo>
                    <a:pt x="8192" y="-1"/>
                  </a:moveTo>
                  <a:cubicBezTo>
                    <a:pt x="10723" y="1037"/>
                    <a:pt x="13034" y="2545"/>
                    <a:pt x="15002" y="4445"/>
                  </a:cubicBezTo>
                </a:path>
                <a:path w="15002" h="19986" stroke="0" extrusionOk="0">
                  <a:moveTo>
                    <a:pt x="8192" y="-1"/>
                  </a:moveTo>
                  <a:cubicBezTo>
                    <a:pt x="10723" y="1037"/>
                    <a:pt x="13034" y="2545"/>
                    <a:pt x="15002" y="4445"/>
                  </a:cubicBezTo>
                  <a:lnTo>
                    <a:pt x="0" y="19986"/>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 name="Arc 63">
              <a:extLst>
                <a:ext uri="{FF2B5EF4-FFF2-40B4-BE49-F238E27FC236}">
                  <a16:creationId xmlns:a16="http://schemas.microsoft.com/office/drawing/2014/main" id="{1F7960E4-1AD0-3E6C-5327-5A50F9D85327}"/>
                </a:ext>
              </a:extLst>
            </p:cNvPr>
            <p:cNvSpPr>
              <a:spLocks/>
            </p:cNvSpPr>
            <p:nvPr/>
          </p:nvSpPr>
          <p:spPr bwMode="auto">
            <a:xfrm>
              <a:off x="2362" y="2340"/>
              <a:ext cx="907" cy="282"/>
            </a:xfrm>
            <a:custGeom>
              <a:avLst/>
              <a:gdLst>
                <a:gd name="G0" fmla="+- 0 0 0"/>
                <a:gd name="G1" fmla="+- 19387 0 0"/>
                <a:gd name="G2" fmla="+- 21600 0 0"/>
                <a:gd name="T0" fmla="*/ 9523 w 16295"/>
                <a:gd name="T1" fmla="*/ 0 h 19387"/>
                <a:gd name="T2" fmla="*/ 16295 w 16295"/>
                <a:gd name="T3" fmla="*/ 5208 h 19387"/>
                <a:gd name="T4" fmla="*/ 0 w 16295"/>
                <a:gd name="T5" fmla="*/ 19387 h 19387"/>
              </a:gdLst>
              <a:ahLst/>
              <a:cxnLst>
                <a:cxn ang="0">
                  <a:pos x="T0" y="T1"/>
                </a:cxn>
                <a:cxn ang="0">
                  <a:pos x="T2" y="T3"/>
                </a:cxn>
                <a:cxn ang="0">
                  <a:pos x="T4" y="T5"/>
                </a:cxn>
              </a:cxnLst>
              <a:rect l="0" t="0" r="r" b="b"/>
              <a:pathLst>
                <a:path w="16295" h="19387" fill="none" extrusionOk="0">
                  <a:moveTo>
                    <a:pt x="9523" y="-1"/>
                  </a:moveTo>
                  <a:cubicBezTo>
                    <a:pt x="12104" y="1267"/>
                    <a:pt x="14406" y="3038"/>
                    <a:pt x="16294" y="5208"/>
                  </a:cubicBezTo>
                </a:path>
                <a:path w="16295" h="19387" stroke="0" extrusionOk="0">
                  <a:moveTo>
                    <a:pt x="9523" y="-1"/>
                  </a:moveTo>
                  <a:cubicBezTo>
                    <a:pt x="12104" y="1267"/>
                    <a:pt x="14406" y="3038"/>
                    <a:pt x="16294" y="5208"/>
                  </a:cubicBezTo>
                  <a:lnTo>
                    <a:pt x="0" y="1938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6" name="Arc 64">
              <a:extLst>
                <a:ext uri="{FF2B5EF4-FFF2-40B4-BE49-F238E27FC236}">
                  <a16:creationId xmlns:a16="http://schemas.microsoft.com/office/drawing/2014/main" id="{32EE98BD-BC6F-9B54-A635-9AC3AC3F0716}"/>
                </a:ext>
              </a:extLst>
            </p:cNvPr>
            <p:cNvSpPr>
              <a:spLocks/>
            </p:cNvSpPr>
            <p:nvPr/>
          </p:nvSpPr>
          <p:spPr bwMode="auto">
            <a:xfrm rot="180000">
              <a:off x="2420" y="2196"/>
              <a:ext cx="903" cy="316"/>
            </a:xfrm>
            <a:custGeom>
              <a:avLst/>
              <a:gdLst>
                <a:gd name="G0" fmla="+- 0 0 0"/>
                <a:gd name="G1" fmla="+- 19701 0 0"/>
                <a:gd name="G2" fmla="+- 21600 0 0"/>
                <a:gd name="T0" fmla="*/ 8856 w 17186"/>
                <a:gd name="T1" fmla="*/ 0 h 19701"/>
                <a:gd name="T2" fmla="*/ 17186 w 17186"/>
                <a:gd name="T3" fmla="*/ 6617 h 19701"/>
                <a:gd name="T4" fmla="*/ 0 w 17186"/>
                <a:gd name="T5" fmla="*/ 19701 h 19701"/>
              </a:gdLst>
              <a:ahLst/>
              <a:cxnLst>
                <a:cxn ang="0">
                  <a:pos x="T0" y="T1"/>
                </a:cxn>
                <a:cxn ang="0">
                  <a:pos x="T2" y="T3"/>
                </a:cxn>
                <a:cxn ang="0">
                  <a:pos x="T4" y="T5"/>
                </a:cxn>
              </a:cxnLst>
              <a:rect l="0" t="0" r="r" b="b"/>
              <a:pathLst>
                <a:path w="17186" h="19701" fill="none" extrusionOk="0">
                  <a:moveTo>
                    <a:pt x="8856" y="-1"/>
                  </a:moveTo>
                  <a:cubicBezTo>
                    <a:pt x="12140" y="1476"/>
                    <a:pt x="15004" y="3751"/>
                    <a:pt x="17186" y="6616"/>
                  </a:cubicBezTo>
                </a:path>
                <a:path w="17186" h="19701" stroke="0" extrusionOk="0">
                  <a:moveTo>
                    <a:pt x="8856" y="-1"/>
                  </a:moveTo>
                  <a:cubicBezTo>
                    <a:pt x="12140" y="1476"/>
                    <a:pt x="15004" y="3751"/>
                    <a:pt x="17186" y="6616"/>
                  </a:cubicBezTo>
                  <a:lnTo>
                    <a:pt x="0" y="19701"/>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7" name="Arc 65">
              <a:extLst>
                <a:ext uri="{FF2B5EF4-FFF2-40B4-BE49-F238E27FC236}">
                  <a16:creationId xmlns:a16="http://schemas.microsoft.com/office/drawing/2014/main" id="{236BE5C9-07F7-089C-CC8A-53389049D032}"/>
                </a:ext>
              </a:extLst>
            </p:cNvPr>
            <p:cNvSpPr>
              <a:spLocks/>
            </p:cNvSpPr>
            <p:nvPr/>
          </p:nvSpPr>
          <p:spPr bwMode="auto">
            <a:xfrm rot="120000">
              <a:off x="2490" y="2039"/>
              <a:ext cx="886" cy="504"/>
            </a:xfrm>
            <a:custGeom>
              <a:avLst/>
              <a:gdLst>
                <a:gd name="G0" fmla="+- 0 0 0"/>
                <a:gd name="G1" fmla="+- 20324 0 0"/>
                <a:gd name="G2" fmla="+- 21600 0 0"/>
                <a:gd name="T0" fmla="*/ 7314 w 15906"/>
                <a:gd name="T1" fmla="*/ 0 h 20324"/>
                <a:gd name="T2" fmla="*/ 15906 w 15906"/>
                <a:gd name="T3" fmla="*/ 5711 h 20324"/>
                <a:gd name="T4" fmla="*/ 0 w 15906"/>
                <a:gd name="T5" fmla="*/ 20324 h 20324"/>
              </a:gdLst>
              <a:ahLst/>
              <a:cxnLst>
                <a:cxn ang="0">
                  <a:pos x="T0" y="T1"/>
                </a:cxn>
                <a:cxn ang="0">
                  <a:pos x="T2" y="T3"/>
                </a:cxn>
                <a:cxn ang="0">
                  <a:pos x="T4" y="T5"/>
                </a:cxn>
              </a:cxnLst>
              <a:rect l="0" t="0" r="r" b="b"/>
              <a:pathLst>
                <a:path w="15906" h="20324" fill="none" extrusionOk="0">
                  <a:moveTo>
                    <a:pt x="7314" y="-1"/>
                  </a:moveTo>
                  <a:cubicBezTo>
                    <a:pt x="10597" y="1181"/>
                    <a:pt x="13545" y="3141"/>
                    <a:pt x="15906" y="5710"/>
                  </a:cubicBezTo>
                </a:path>
                <a:path w="15906" h="20324" stroke="0" extrusionOk="0">
                  <a:moveTo>
                    <a:pt x="7314" y="-1"/>
                  </a:moveTo>
                  <a:cubicBezTo>
                    <a:pt x="10597" y="1181"/>
                    <a:pt x="13545" y="3141"/>
                    <a:pt x="15906" y="5710"/>
                  </a:cubicBezTo>
                  <a:lnTo>
                    <a:pt x="0" y="20324"/>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8" name="Line 66">
              <a:extLst>
                <a:ext uri="{FF2B5EF4-FFF2-40B4-BE49-F238E27FC236}">
                  <a16:creationId xmlns:a16="http://schemas.microsoft.com/office/drawing/2014/main" id="{50C7FA2B-4DBC-FFA0-9CD7-AB0116CD7A18}"/>
                </a:ext>
              </a:extLst>
            </p:cNvPr>
            <p:cNvSpPr>
              <a:spLocks noChangeShapeType="1"/>
            </p:cNvSpPr>
            <p:nvPr/>
          </p:nvSpPr>
          <p:spPr bwMode="auto">
            <a:xfrm>
              <a:off x="3656" y="2441"/>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9" name="Line 67">
              <a:extLst>
                <a:ext uri="{FF2B5EF4-FFF2-40B4-BE49-F238E27FC236}">
                  <a16:creationId xmlns:a16="http://schemas.microsoft.com/office/drawing/2014/main" id="{8EBA2C03-0A36-A817-BBB6-57C88CBD71C1}"/>
                </a:ext>
              </a:extLst>
            </p:cNvPr>
            <p:cNvSpPr>
              <a:spLocks noChangeShapeType="1"/>
            </p:cNvSpPr>
            <p:nvPr/>
          </p:nvSpPr>
          <p:spPr bwMode="auto">
            <a:xfrm>
              <a:off x="3669" y="2936"/>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0" name="Line 68">
              <a:extLst>
                <a:ext uri="{FF2B5EF4-FFF2-40B4-BE49-F238E27FC236}">
                  <a16:creationId xmlns:a16="http://schemas.microsoft.com/office/drawing/2014/main" id="{D4917173-BEE2-C2B7-63F1-08E7E0837C1B}"/>
                </a:ext>
              </a:extLst>
            </p:cNvPr>
            <p:cNvSpPr>
              <a:spLocks noChangeShapeType="1"/>
            </p:cNvSpPr>
            <p:nvPr/>
          </p:nvSpPr>
          <p:spPr bwMode="auto">
            <a:xfrm>
              <a:off x="3579" y="2873"/>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1" name="Line 69">
              <a:extLst>
                <a:ext uri="{FF2B5EF4-FFF2-40B4-BE49-F238E27FC236}">
                  <a16:creationId xmlns:a16="http://schemas.microsoft.com/office/drawing/2014/main" id="{CC8E9FB6-50B1-B95E-2A3A-C1042FDC04D4}"/>
                </a:ext>
              </a:extLst>
            </p:cNvPr>
            <p:cNvSpPr>
              <a:spLocks noChangeShapeType="1"/>
            </p:cNvSpPr>
            <p:nvPr/>
          </p:nvSpPr>
          <p:spPr bwMode="auto">
            <a:xfrm>
              <a:off x="3536" y="2795"/>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Line 70">
              <a:extLst>
                <a:ext uri="{FF2B5EF4-FFF2-40B4-BE49-F238E27FC236}">
                  <a16:creationId xmlns:a16="http://schemas.microsoft.com/office/drawing/2014/main" id="{9ABFC575-0F0D-8C10-5275-88F5ED2C4153}"/>
                </a:ext>
              </a:extLst>
            </p:cNvPr>
            <p:cNvSpPr>
              <a:spLocks noChangeShapeType="1"/>
            </p:cNvSpPr>
            <p:nvPr/>
          </p:nvSpPr>
          <p:spPr bwMode="auto">
            <a:xfrm>
              <a:off x="3510" y="2700"/>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3" name="Line 71">
              <a:extLst>
                <a:ext uri="{FF2B5EF4-FFF2-40B4-BE49-F238E27FC236}">
                  <a16:creationId xmlns:a16="http://schemas.microsoft.com/office/drawing/2014/main" id="{8CAD39EE-2C5B-60AB-2B4A-FD2AFFEFEDD7}"/>
                </a:ext>
              </a:extLst>
            </p:cNvPr>
            <p:cNvSpPr>
              <a:spLocks noChangeShapeType="1"/>
            </p:cNvSpPr>
            <p:nvPr/>
          </p:nvSpPr>
          <p:spPr bwMode="auto">
            <a:xfrm>
              <a:off x="3519" y="2606"/>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4" name="Line 72">
              <a:extLst>
                <a:ext uri="{FF2B5EF4-FFF2-40B4-BE49-F238E27FC236}">
                  <a16:creationId xmlns:a16="http://schemas.microsoft.com/office/drawing/2014/main" id="{2C0B2177-18BC-05DF-0544-362E057CC0A8}"/>
                </a:ext>
              </a:extLst>
            </p:cNvPr>
            <p:cNvSpPr>
              <a:spLocks noChangeShapeType="1"/>
            </p:cNvSpPr>
            <p:nvPr/>
          </p:nvSpPr>
          <p:spPr bwMode="auto">
            <a:xfrm>
              <a:off x="3567" y="2511"/>
              <a:ext cx="68"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 name="Rectangle 73">
              <a:extLst>
                <a:ext uri="{FF2B5EF4-FFF2-40B4-BE49-F238E27FC236}">
                  <a16:creationId xmlns:a16="http://schemas.microsoft.com/office/drawing/2014/main" id="{0A0CC1E5-657E-7725-3061-CB363F570F22}"/>
                </a:ext>
              </a:extLst>
            </p:cNvPr>
            <p:cNvSpPr>
              <a:spLocks noChangeArrowheads="1"/>
            </p:cNvSpPr>
            <p:nvPr/>
          </p:nvSpPr>
          <p:spPr bwMode="auto">
            <a:xfrm>
              <a:off x="3851" y="2783"/>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6" name="Rectangle 76">
              <a:extLst>
                <a:ext uri="{FF2B5EF4-FFF2-40B4-BE49-F238E27FC236}">
                  <a16:creationId xmlns:a16="http://schemas.microsoft.com/office/drawing/2014/main" id="{4FC2CD95-6D62-181C-4A04-A92888DEA275}"/>
                </a:ext>
              </a:extLst>
            </p:cNvPr>
            <p:cNvSpPr>
              <a:spLocks noChangeArrowheads="1"/>
            </p:cNvSpPr>
            <p:nvPr/>
          </p:nvSpPr>
          <p:spPr bwMode="auto">
            <a:xfrm>
              <a:off x="3957" y="2388"/>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7" name="Rectangle 77">
              <a:extLst>
                <a:ext uri="{FF2B5EF4-FFF2-40B4-BE49-F238E27FC236}">
                  <a16:creationId xmlns:a16="http://schemas.microsoft.com/office/drawing/2014/main" id="{23E29C40-4935-29FA-28C4-0C4368261A70}"/>
                </a:ext>
              </a:extLst>
            </p:cNvPr>
            <p:cNvSpPr>
              <a:spLocks noChangeArrowheads="1"/>
            </p:cNvSpPr>
            <p:nvPr/>
          </p:nvSpPr>
          <p:spPr bwMode="auto">
            <a:xfrm>
              <a:off x="4000" y="2496"/>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8" name="Line 80">
              <a:extLst>
                <a:ext uri="{FF2B5EF4-FFF2-40B4-BE49-F238E27FC236}">
                  <a16:creationId xmlns:a16="http://schemas.microsoft.com/office/drawing/2014/main" id="{D5C8BC92-A06E-CDED-3795-ECA2D0B239BA}"/>
                </a:ext>
              </a:extLst>
            </p:cNvPr>
            <p:cNvSpPr>
              <a:spLocks noChangeShapeType="1"/>
            </p:cNvSpPr>
            <p:nvPr/>
          </p:nvSpPr>
          <p:spPr bwMode="auto">
            <a:xfrm flipV="1">
              <a:off x="3188" y="2751"/>
              <a:ext cx="335" cy="40"/>
            </a:xfrm>
            <a:prstGeom prst="line">
              <a:avLst/>
            </a:prstGeom>
            <a:noFill/>
            <a:ln w="38100">
              <a:solidFill>
                <a:srgbClr val="63A5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9" name="Rectangle 87">
              <a:extLst>
                <a:ext uri="{FF2B5EF4-FFF2-40B4-BE49-F238E27FC236}">
                  <a16:creationId xmlns:a16="http://schemas.microsoft.com/office/drawing/2014/main" id="{46BA771F-E50A-2D1A-2222-60DD3CF49725}"/>
                </a:ext>
              </a:extLst>
            </p:cNvPr>
            <p:cNvSpPr>
              <a:spLocks noChangeArrowheads="1"/>
            </p:cNvSpPr>
            <p:nvPr/>
          </p:nvSpPr>
          <p:spPr bwMode="auto">
            <a:xfrm>
              <a:off x="4023" y="2614"/>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0" name="Rectangle 88">
              <a:extLst>
                <a:ext uri="{FF2B5EF4-FFF2-40B4-BE49-F238E27FC236}">
                  <a16:creationId xmlns:a16="http://schemas.microsoft.com/office/drawing/2014/main" id="{D6C627AB-4F01-F03A-6A38-974D531F21CE}"/>
                </a:ext>
              </a:extLst>
            </p:cNvPr>
            <p:cNvSpPr>
              <a:spLocks noChangeArrowheads="1"/>
            </p:cNvSpPr>
            <p:nvPr/>
          </p:nvSpPr>
          <p:spPr bwMode="auto">
            <a:xfrm>
              <a:off x="3946" y="2717"/>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nvGrpSpPr>
            <p:cNvPr id="61" name="Group 95">
              <a:extLst>
                <a:ext uri="{FF2B5EF4-FFF2-40B4-BE49-F238E27FC236}">
                  <a16:creationId xmlns:a16="http://schemas.microsoft.com/office/drawing/2014/main" id="{E419F6AF-8AD3-E828-B2EB-11D16ADA3782}"/>
                </a:ext>
              </a:extLst>
            </p:cNvPr>
            <p:cNvGrpSpPr>
              <a:grpSpLocks/>
            </p:cNvGrpSpPr>
            <p:nvPr/>
          </p:nvGrpSpPr>
          <p:grpSpPr bwMode="auto">
            <a:xfrm>
              <a:off x="4199" y="2095"/>
              <a:ext cx="240" cy="284"/>
              <a:chOff x="2813" y="2949"/>
              <a:chExt cx="240" cy="284"/>
            </a:xfrm>
          </p:grpSpPr>
          <p:sp>
            <p:nvSpPr>
              <p:cNvPr id="63" name="Rectangle 96">
                <a:extLst>
                  <a:ext uri="{FF2B5EF4-FFF2-40B4-BE49-F238E27FC236}">
                    <a16:creationId xmlns:a16="http://schemas.microsoft.com/office/drawing/2014/main" id="{046E10C3-6659-BE23-3D8F-0517A8882369}"/>
                  </a:ext>
                </a:extLst>
              </p:cNvPr>
              <p:cNvSpPr>
                <a:spLocks noChangeArrowheads="1"/>
              </p:cNvSpPr>
              <p:nvPr/>
            </p:nvSpPr>
            <p:spPr bwMode="auto">
              <a:xfrm>
                <a:off x="2813" y="2949"/>
                <a:ext cx="211" cy="284"/>
              </a:xfrm>
              <a:prstGeom prst="rect">
                <a:avLst/>
              </a:prstGeom>
              <a:solidFill>
                <a:sysClr val="window" lastClr="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1"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E</a:t>
                </a:r>
              </a:p>
            </p:txBody>
          </p:sp>
          <p:sp>
            <p:nvSpPr>
              <p:cNvPr id="64" name="Line 97">
                <a:extLst>
                  <a:ext uri="{FF2B5EF4-FFF2-40B4-BE49-F238E27FC236}">
                    <a16:creationId xmlns:a16="http://schemas.microsoft.com/office/drawing/2014/main" id="{2CAC808B-B2C1-9566-9653-BC269E813AAF}"/>
                  </a:ext>
                </a:extLst>
              </p:cNvPr>
              <p:cNvSpPr>
                <a:spLocks noChangeShapeType="1"/>
              </p:cNvSpPr>
              <p:nvPr/>
            </p:nvSpPr>
            <p:spPr bwMode="auto">
              <a:xfrm>
                <a:off x="2933" y="3001"/>
                <a:ext cx="120" cy="0"/>
              </a:xfrm>
              <a:prstGeom prst="line">
                <a:avLst/>
              </a:prstGeom>
              <a:noFill/>
              <a:ln w="9525">
                <a:solidFill>
                  <a:srgbClr val="63A53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62" name="Rectangle 99">
              <a:extLst>
                <a:ext uri="{FF2B5EF4-FFF2-40B4-BE49-F238E27FC236}">
                  <a16:creationId xmlns:a16="http://schemas.microsoft.com/office/drawing/2014/main" id="{1910CBD5-53C1-DE9D-04B0-490CB2ED0F70}"/>
                </a:ext>
              </a:extLst>
            </p:cNvPr>
            <p:cNvSpPr>
              <a:spLocks noChangeArrowheads="1"/>
            </p:cNvSpPr>
            <p:nvPr/>
          </p:nvSpPr>
          <p:spPr bwMode="auto">
            <a:xfrm>
              <a:off x="3555" y="2503"/>
              <a:ext cx="51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E</a:t>
              </a:r>
              <a:r>
                <a:rPr kumimoji="0" lang="zh-CN" altLang="en-US"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Tree>
    <p:extLst>
      <p:ext uri="{BB962C8B-B14F-4D97-AF65-F5344CB8AC3E}">
        <p14:creationId xmlns:p14="http://schemas.microsoft.com/office/powerpoint/2010/main" val="55111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90">
            <a:extLst>
              <a:ext uri="{FF2B5EF4-FFF2-40B4-BE49-F238E27FC236}">
                <a16:creationId xmlns:a16="http://schemas.microsoft.com/office/drawing/2014/main" id="{9CEBF439-F58E-49BC-8245-D99917E64901}"/>
              </a:ext>
            </a:extLst>
          </p:cNvPr>
          <p:cNvGrpSpPr>
            <a:grpSpLocks/>
          </p:cNvGrpSpPr>
          <p:nvPr/>
        </p:nvGrpSpPr>
        <p:grpSpPr bwMode="auto">
          <a:xfrm>
            <a:off x="1253199" y="1835412"/>
            <a:ext cx="3564870" cy="2040856"/>
            <a:chOff x="623" y="714"/>
            <a:chExt cx="1859" cy="1017"/>
          </a:xfrm>
        </p:grpSpPr>
        <p:sp>
          <p:nvSpPr>
            <p:cNvPr id="169" name="Line 5">
              <a:extLst>
                <a:ext uri="{FF2B5EF4-FFF2-40B4-BE49-F238E27FC236}">
                  <a16:creationId xmlns:a16="http://schemas.microsoft.com/office/drawing/2014/main" id="{79E4CB78-164B-415D-A1A6-E80679AA01DF}"/>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0" name="Line 6">
              <a:extLst>
                <a:ext uri="{FF2B5EF4-FFF2-40B4-BE49-F238E27FC236}">
                  <a16:creationId xmlns:a16="http://schemas.microsoft.com/office/drawing/2014/main" id="{9925D1A3-EBD8-4AA4-949E-EED518CCC1DA}"/>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1" name="Line 7">
              <a:extLst>
                <a:ext uri="{FF2B5EF4-FFF2-40B4-BE49-F238E27FC236}">
                  <a16:creationId xmlns:a16="http://schemas.microsoft.com/office/drawing/2014/main" id="{509E8A8C-538A-4119-A616-0AB0A819A86B}"/>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2" name="Line 8">
              <a:extLst>
                <a:ext uri="{FF2B5EF4-FFF2-40B4-BE49-F238E27FC236}">
                  <a16:creationId xmlns:a16="http://schemas.microsoft.com/office/drawing/2014/main" id="{A42B5358-E249-4491-B185-7066B4DEF78C}"/>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3" name="Line 9">
              <a:extLst>
                <a:ext uri="{FF2B5EF4-FFF2-40B4-BE49-F238E27FC236}">
                  <a16:creationId xmlns:a16="http://schemas.microsoft.com/office/drawing/2014/main" id="{57AC0420-1186-4B80-95A2-C63C9F24F42B}"/>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4" name="Line 10">
              <a:extLst>
                <a:ext uri="{FF2B5EF4-FFF2-40B4-BE49-F238E27FC236}">
                  <a16:creationId xmlns:a16="http://schemas.microsoft.com/office/drawing/2014/main" id="{4667383A-227D-421F-BF06-93F24F22BD32}"/>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5" name="Line 11">
              <a:extLst>
                <a:ext uri="{FF2B5EF4-FFF2-40B4-BE49-F238E27FC236}">
                  <a16:creationId xmlns:a16="http://schemas.microsoft.com/office/drawing/2014/main" id="{5AD6DA56-57A7-4451-8ABE-404C8AFDF23C}"/>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6" name="Line 12">
              <a:extLst>
                <a:ext uri="{FF2B5EF4-FFF2-40B4-BE49-F238E27FC236}">
                  <a16:creationId xmlns:a16="http://schemas.microsoft.com/office/drawing/2014/main" id="{03FE6F90-DACC-49F2-BE15-1EEE4616FF29}"/>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grpSp>
      <p:sp>
        <p:nvSpPr>
          <p:cNvPr id="2" name="矩形 1">
            <a:extLst>
              <a:ext uri="{FF2B5EF4-FFF2-40B4-BE49-F238E27FC236}">
                <a16:creationId xmlns:a16="http://schemas.microsoft.com/office/drawing/2014/main" id="{0A66634C-B6FE-49B4-AD37-C27F423FF022}"/>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8" name="Object 18">
                <a:extLst>
                  <a:ext uri="{FF2B5EF4-FFF2-40B4-BE49-F238E27FC236}">
                    <a16:creationId xmlns:a16="http://schemas.microsoft.com/office/drawing/2014/main" id="{069129B4-C247-4472-9650-D8C90CB35ADE}"/>
                  </a:ext>
                </a:extLst>
              </p:cNvPr>
              <p:cNvSpPr txBox="1"/>
              <p:nvPr/>
            </p:nvSpPr>
            <p:spPr>
              <a:xfrm>
                <a:off x="4843675" y="2319163"/>
                <a:ext cx="6662737" cy="89058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3200" i="1">
                              <a:solidFill>
                                <a:srgbClr val="000000"/>
                              </a:solidFill>
                              <a:latin typeface="Cambria Math" panose="02040503050406030204" pitchFamily="18" charset="0"/>
                            </a:rPr>
                          </m:ctrlPr>
                        </m:naryPr>
                        <m:sub>
                          <m:r>
                            <a:rPr lang="en-US" altLang="zh-CN" sz="3200" i="1">
                              <a:solidFill>
                                <a:srgbClr val="000000"/>
                              </a:solidFill>
                              <a:latin typeface="Cambria Math" panose="02040503050406030204" pitchFamily="18" charset="0"/>
                            </a:rPr>
                            <m:t>𝑆</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r>
                            <a:rPr lang="en-US" altLang="zh-CN"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𝑑</m:t>
                          </m:r>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𝑆</m:t>
                              </m:r>
                            </m:e>
                          </m:acc>
                        </m:e>
                      </m:nary>
                      <m:r>
                        <a:rPr lang="en-US" sz="3200" i="1">
                          <a:solidFill>
                            <a:srgbClr val="000000"/>
                          </a:solidFill>
                          <a:latin typeface="Cambria Math" panose="02040503050406030204" pitchFamily="18" charset="0"/>
                        </a:rPr>
                        <m:t>=0</m:t>
                      </m:r>
                      <m:m>
                        <m:mPr>
                          <m:plcHide m:val="on"/>
                          <m:mcs>
                            <m:mc>
                              <m:mcPr>
                                <m:count m:val="2"/>
                                <m:mcJc m:val="center"/>
                              </m:mcPr>
                            </m:mc>
                          </m:mcs>
                          <m:ctrlPr>
                            <a:rPr lang="en-US" sz="3200" i="1">
                              <a:solidFill>
                                <a:srgbClr val="000000"/>
                              </a:solidFill>
                              <a:latin typeface="Cambria Math" panose="02040503050406030204" pitchFamily="18" charset="0"/>
                            </a:rPr>
                          </m:ctrlPr>
                        </m:mPr>
                        <m:mr>
                          <m:e>
                            <m:r>
                              <a:rPr lang="en-US" sz="3200" i="1">
                                <a:solidFill>
                                  <a:srgbClr val="000000"/>
                                </a:solidFill>
                                <a:latin typeface="Cambria Math" panose="02040503050406030204" pitchFamily="18" charset="0"/>
                              </a:rPr>
                              <m:t>，</m:t>
                            </m:r>
                          </m:e>
                          <m:e>
                            <m:nary>
                              <m:naryPr>
                                <m:chr m:val="∑"/>
                                <m:subHide m:val="on"/>
                                <m:supHide m:val="on"/>
                                <m:ctrlPr>
                                  <a:rPr lang="en-US" sz="3200" i="1">
                                    <a:solidFill>
                                      <a:srgbClr val="000000"/>
                                    </a:solidFill>
                                    <a:latin typeface="Cambria Math" panose="02040503050406030204" pitchFamily="18" charset="0"/>
                                  </a:rPr>
                                </m:ctrlPr>
                              </m:naryPr>
                              <m:sub/>
                              <m:sup/>
                              <m:e>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𝑖</m:t>
                                    </m:r>
                                  </m:sub>
                                </m:sSub>
                              </m:e>
                            </m:nary>
                          </m:e>
                        </m:mr>
                      </m:m>
                      <m:r>
                        <a:rPr lang="en-US" sz="3200" i="1">
                          <a:solidFill>
                            <a:srgbClr val="000000"/>
                          </a:solidFill>
                          <a:latin typeface="Cambria Math" panose="02040503050406030204" pitchFamily="18" charset="0"/>
                        </a:rPr>
                        <m:t>=0</m:t>
                      </m:r>
                    </m:oMath>
                  </m:oMathPara>
                </a14:m>
                <a:endParaRPr lang="en-US" sz="3200" dirty="0"/>
              </a:p>
            </p:txBody>
          </p:sp>
        </mc:Choice>
        <mc:Fallback xmlns="">
          <p:sp>
            <p:nvSpPr>
              <p:cNvPr id="148" name="Object 18">
                <a:extLst>
                  <a:ext uri="{FF2B5EF4-FFF2-40B4-BE49-F238E27FC236}">
                    <a16:creationId xmlns:a16="http://schemas.microsoft.com/office/drawing/2014/main" id="{069129B4-C247-4472-9650-D8C90CB35ADE}"/>
                  </a:ext>
                </a:extLst>
              </p:cNvPr>
              <p:cNvSpPr txBox="1">
                <a:spLocks noRot="1" noChangeAspect="1" noMove="1" noResize="1" noEditPoints="1" noAdjustHandles="1" noChangeArrowheads="1" noChangeShapeType="1" noTextEdit="1"/>
              </p:cNvSpPr>
              <p:nvPr/>
            </p:nvSpPr>
            <p:spPr>
              <a:xfrm>
                <a:off x="4843675" y="2319163"/>
                <a:ext cx="6662737" cy="890587"/>
              </a:xfrm>
              <a:prstGeom prst="rect">
                <a:avLst/>
              </a:prstGeom>
              <a:blipFill>
                <a:blip r:embed="rId2"/>
                <a:stretch>
                  <a:fillRect b="-31293"/>
                </a:stretch>
              </a:blipFill>
              <a:ln w="38100">
                <a:noFill/>
                <a:miter/>
              </a:ln>
            </p:spPr>
            <p:txBody>
              <a:bodyPr/>
              <a:lstStyle/>
              <a:p>
                <a:r>
                  <a:rPr lang="zh-CN" altLang="en-US">
                    <a:noFill/>
                  </a:rPr>
                  <a:t> </a:t>
                </a:r>
              </a:p>
            </p:txBody>
          </p:sp>
        </mc:Fallback>
      </mc:AlternateContent>
      <p:sp>
        <p:nvSpPr>
          <p:cNvPr id="149" name="Text Box 30">
            <a:extLst>
              <a:ext uri="{FF2B5EF4-FFF2-40B4-BE49-F238E27FC236}">
                <a16:creationId xmlns:a16="http://schemas.microsoft.com/office/drawing/2014/main" id="{C5C18EE8-C1C1-47B6-B6E3-71A76738B80A}"/>
              </a:ext>
            </a:extLst>
          </p:cNvPr>
          <p:cNvSpPr txBox="1"/>
          <p:nvPr/>
        </p:nvSpPr>
        <p:spPr>
          <a:xfrm>
            <a:off x="5839751" y="1466080"/>
            <a:ext cx="3505200" cy="584775"/>
          </a:xfrm>
          <a:prstGeom prst="rect">
            <a:avLst/>
          </a:prstGeom>
          <a:noFill/>
          <a:ln w="9525">
            <a:noFill/>
          </a:ln>
        </p:spPr>
        <p:txBody>
          <a:bodyPr anchor="t" anchorCtr="0">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有空腔导体</a:t>
            </a:r>
          </a:p>
        </p:txBody>
      </p:sp>
      <p:grpSp>
        <p:nvGrpSpPr>
          <p:cNvPr id="5" name="组合 4">
            <a:extLst>
              <a:ext uri="{FF2B5EF4-FFF2-40B4-BE49-F238E27FC236}">
                <a16:creationId xmlns:a16="http://schemas.microsoft.com/office/drawing/2014/main" id="{0FD44359-B757-44B4-B000-88C545A1EB23}"/>
              </a:ext>
            </a:extLst>
          </p:cNvPr>
          <p:cNvGrpSpPr/>
          <p:nvPr/>
        </p:nvGrpSpPr>
        <p:grpSpPr>
          <a:xfrm>
            <a:off x="1567281" y="2001149"/>
            <a:ext cx="2675599" cy="1526619"/>
            <a:chOff x="7249451" y="5802948"/>
            <a:chExt cx="2675599" cy="1526619"/>
          </a:xfrm>
        </p:grpSpPr>
        <p:sp>
          <p:nvSpPr>
            <p:cNvPr id="153" name="AutoShape 61">
              <a:extLst>
                <a:ext uri="{FF2B5EF4-FFF2-40B4-BE49-F238E27FC236}">
                  <a16:creationId xmlns:a16="http://schemas.microsoft.com/office/drawing/2014/main" id="{A832247C-3407-4384-9E67-8659BFE0F68D}"/>
                </a:ext>
              </a:extLst>
            </p:cNvPr>
            <p:cNvSpPr/>
            <p:nvPr/>
          </p:nvSpPr>
          <p:spPr>
            <a:xfrm>
              <a:off x="7249451" y="5802948"/>
              <a:ext cx="2675599" cy="1526619"/>
            </a:xfrm>
            <a:custGeom>
              <a:avLst/>
              <a:gdLst/>
              <a:ahLst/>
              <a:cxnLst>
                <a:cxn ang="0">
                  <a:pos x="8" y="0"/>
                </a:cxn>
                <a:cxn ang="0">
                  <a:pos x="2" y="1"/>
                </a:cxn>
                <a:cxn ang="0">
                  <a:pos x="0" y="2"/>
                </a:cxn>
                <a:cxn ang="0">
                  <a:pos x="2" y="3"/>
                </a:cxn>
                <a:cxn ang="0">
                  <a:pos x="8" y="4"/>
                </a:cxn>
                <a:cxn ang="0">
                  <a:pos x="14" y="3"/>
                </a:cxn>
                <a:cxn ang="0">
                  <a:pos x="16" y="2"/>
                </a:cxn>
                <a:cxn ang="0">
                  <a:pos x="14" y="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816" y="10800"/>
                  </a:moveTo>
                  <a:cubicBezTo>
                    <a:pt x="6816" y="13000"/>
                    <a:pt x="8600" y="14784"/>
                    <a:pt x="10800" y="14784"/>
                  </a:cubicBezTo>
                  <a:cubicBezTo>
                    <a:pt x="13000" y="14784"/>
                    <a:pt x="14784" y="13000"/>
                    <a:pt x="14784" y="10800"/>
                  </a:cubicBezTo>
                  <a:cubicBezTo>
                    <a:pt x="14784" y="8600"/>
                    <a:pt x="13000" y="6816"/>
                    <a:pt x="10800" y="6816"/>
                  </a:cubicBezTo>
                  <a:cubicBezTo>
                    <a:pt x="8600" y="6816"/>
                    <a:pt x="6816" y="8600"/>
                    <a:pt x="6816" y="10800"/>
                  </a:cubicBezTo>
                  <a:close/>
                </a:path>
              </a:pathLst>
            </a:custGeom>
            <a:gradFill rotWithShape="0">
              <a:gsLst>
                <a:gs pos="0">
                  <a:srgbClr val="FFFFFF"/>
                </a:gs>
                <a:gs pos="100000">
                  <a:srgbClr val="C2C2C2"/>
                </a:gs>
              </a:gsLst>
              <a:lin ang="2700000" scaled="1"/>
              <a:tileRect/>
            </a:gradFill>
            <a:ln w="19050" cap="flat" cmpd="sng">
              <a:solidFill>
                <a:srgbClr val="000000"/>
              </a:solidFill>
              <a:prstDash val="solid"/>
              <a:round/>
              <a:headEnd type="none" w="med" len="med"/>
              <a:tailEnd type="none" w="med" len="med"/>
            </a:ln>
          </p:spPr>
          <p:txBody>
            <a:bodyPr/>
            <a:lstStyle/>
            <a:p>
              <a:endParaRPr lang="zh-CN" altLang="en-US"/>
            </a:p>
          </p:txBody>
        </p:sp>
        <mc:AlternateContent xmlns:mc="http://schemas.openxmlformats.org/markup-compatibility/2006">
          <mc:Choice xmlns:a14="http://schemas.microsoft.com/office/drawing/2010/main" Requires="a14">
            <p:sp>
              <p:nvSpPr>
                <p:cNvPr id="155" name="Object 63">
                  <a:extLst>
                    <a:ext uri="{FF2B5EF4-FFF2-40B4-BE49-F238E27FC236}">
                      <a16:creationId xmlns:a16="http://schemas.microsoft.com/office/drawing/2014/main" id="{41EC6A0D-6B59-4A65-AE06-C1EDD20538A7}"/>
                    </a:ext>
                  </a:extLst>
                </p:cNvPr>
                <p:cNvSpPr txBox="1"/>
                <p:nvPr/>
              </p:nvSpPr>
              <p:spPr>
                <a:xfrm>
                  <a:off x="9086361" y="6707271"/>
                  <a:ext cx="367079" cy="43763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dirty="0"/>
                </a:p>
              </p:txBody>
            </p:sp>
          </mc:Choice>
          <mc:Fallback>
            <p:sp>
              <p:nvSpPr>
                <p:cNvPr id="155" name="Object 63">
                  <a:extLst>
                    <a:ext uri="{FF2B5EF4-FFF2-40B4-BE49-F238E27FC236}">
                      <a16:creationId xmlns:a16="http://schemas.microsoft.com/office/drawing/2014/main" id="{41EC6A0D-6B59-4A65-AE06-C1EDD20538A7}"/>
                    </a:ext>
                  </a:extLst>
                </p:cNvPr>
                <p:cNvSpPr txBox="1">
                  <a:spLocks noRot="1" noChangeAspect="1" noMove="1" noResize="1" noEditPoints="1" noAdjustHandles="1" noChangeArrowheads="1" noChangeShapeType="1" noTextEdit="1"/>
                </p:cNvSpPr>
                <p:nvPr/>
              </p:nvSpPr>
              <p:spPr>
                <a:xfrm>
                  <a:off x="9086361" y="6707271"/>
                  <a:ext cx="367079" cy="437631"/>
                </a:xfrm>
                <a:prstGeom prst="rect">
                  <a:avLst/>
                </a:prstGeom>
                <a:blipFill>
                  <a:blip r:embed="rId3"/>
                  <a:stretch>
                    <a:fillRect/>
                  </a:stretch>
                </a:blipFill>
                <a:ln w="38100">
                  <a:noFill/>
                  <a:miter/>
                </a:ln>
              </p:spPr>
              <p:txBody>
                <a:bodyPr/>
                <a:lstStyle/>
                <a:p>
                  <a:r>
                    <a:rPr lang="en-US">
                      <a:noFill/>
                    </a:rPr>
                    <a:t> </a:t>
                  </a:r>
                </a:p>
              </p:txBody>
            </p:sp>
          </mc:Fallback>
        </mc:AlternateContent>
      </p:grpSp>
      <p:sp>
        <p:nvSpPr>
          <p:cNvPr id="157" name="Rectangle 66">
            <a:extLst>
              <a:ext uri="{FF2B5EF4-FFF2-40B4-BE49-F238E27FC236}">
                <a16:creationId xmlns:a16="http://schemas.microsoft.com/office/drawing/2014/main" id="{0D03D894-8E3E-4FB3-A8E7-7B97C538ADFB}"/>
              </a:ext>
            </a:extLst>
          </p:cNvPr>
          <p:cNvSpPr/>
          <p:nvPr/>
        </p:nvSpPr>
        <p:spPr>
          <a:xfrm>
            <a:off x="5935001" y="3876268"/>
            <a:ext cx="4471061" cy="584775"/>
          </a:xfrm>
          <a:prstGeom prst="rect">
            <a:avLst/>
          </a:prstGeom>
          <a:noFill/>
          <a:ln w="9525">
            <a:noFill/>
          </a:ln>
        </p:spPr>
        <p:txBody>
          <a:bodyPr wrap="square" anchor="t" anchorCtr="0">
            <a:spAutoFit/>
          </a:bodyPr>
          <a:lstStyle/>
          <a:p>
            <a:pPr>
              <a:spcBef>
                <a:spcPct val="50000"/>
              </a:spcBef>
            </a:pPr>
            <a:r>
              <a:rPr lang="zh-CN" altLang="en-US" sz="3200" dirty="0">
                <a:latin typeface="华文楷体" panose="02010600040101010101" pitchFamily="2" charset="-122"/>
                <a:ea typeface="华文楷体" panose="02010600040101010101" pitchFamily="2" charset="-122"/>
              </a:rPr>
              <a:t>电荷分布在表面上</a:t>
            </a:r>
          </a:p>
        </p:txBody>
      </p:sp>
      <p:sp>
        <p:nvSpPr>
          <p:cNvPr id="39" name="Freeform 64" descr="宽下对角线">
            <a:extLst>
              <a:ext uri="{FF2B5EF4-FFF2-40B4-BE49-F238E27FC236}">
                <a16:creationId xmlns:a16="http://schemas.microsoft.com/office/drawing/2014/main" id="{D6ECC1E1-97A0-474D-A10F-C14356B078B4}"/>
              </a:ext>
            </a:extLst>
          </p:cNvPr>
          <p:cNvSpPr/>
          <p:nvPr/>
        </p:nvSpPr>
        <p:spPr>
          <a:xfrm rot="2655082">
            <a:off x="3338933" y="2416953"/>
            <a:ext cx="764068" cy="390560"/>
          </a:xfrm>
          <a:custGeom>
            <a:avLst/>
            <a:gdLst/>
            <a:ahLst/>
            <a:cxnLst>
              <a:cxn ang="0">
                <a:pos x="89" y="56"/>
              </a:cxn>
              <a:cxn ang="0">
                <a:pos x="294" y="9"/>
              </a:cxn>
              <a:cxn ang="0">
                <a:pos x="531" y="111"/>
              </a:cxn>
              <a:cxn ang="0">
                <a:pos x="479" y="286"/>
              </a:cxn>
              <a:cxn ang="0">
                <a:pos x="65" y="237"/>
              </a:cxn>
              <a:cxn ang="0">
                <a:pos x="89" y="56"/>
              </a:cxn>
            </a:cxnLst>
            <a:rect l="0" t="0" r="0" b="0"/>
            <a:pathLst>
              <a:path w="562" h="307">
                <a:moveTo>
                  <a:pt x="89" y="56"/>
                </a:moveTo>
                <a:cubicBezTo>
                  <a:pt x="127" y="18"/>
                  <a:pt x="220" y="0"/>
                  <a:pt x="294" y="9"/>
                </a:cubicBezTo>
                <a:cubicBezTo>
                  <a:pt x="368" y="18"/>
                  <a:pt x="500" y="65"/>
                  <a:pt x="531" y="111"/>
                </a:cubicBezTo>
                <a:cubicBezTo>
                  <a:pt x="562" y="157"/>
                  <a:pt x="557" y="265"/>
                  <a:pt x="479" y="286"/>
                </a:cubicBezTo>
                <a:cubicBezTo>
                  <a:pt x="401" y="307"/>
                  <a:pt x="130" y="275"/>
                  <a:pt x="65" y="237"/>
                </a:cubicBezTo>
                <a:cubicBezTo>
                  <a:pt x="0" y="199"/>
                  <a:pt x="44" y="96"/>
                  <a:pt x="89" y="56"/>
                </a:cubicBezTo>
                <a:close/>
              </a:path>
            </a:pathLst>
          </a:custGeom>
          <a:pattFill prst="wdDnDiag">
            <a:fgClr>
              <a:srgbClr val="0000FF"/>
            </a:fgClr>
            <a:bgClr>
              <a:srgbClr val="EAEAEA"/>
            </a:bgClr>
          </a:pattFill>
          <a:ln w="19050" cap="flat" cmpd="sng">
            <a:solidFill>
              <a:srgbClr val="0000FF"/>
            </a:solidFill>
            <a:prstDash val="dash"/>
            <a:round/>
            <a:headEnd type="none" w="sm" len="lg"/>
            <a:tailEnd type="none" w="sm" len="lg"/>
          </a:ln>
        </p:spPr>
        <p:txBody>
          <a:bodyPr/>
          <a:lstStyle/>
          <a:p>
            <a:endParaRPr lang="zh-CN" altLang="en-US"/>
          </a:p>
        </p:txBody>
      </p:sp>
      <p:grpSp>
        <p:nvGrpSpPr>
          <p:cNvPr id="20" name="Group 25">
            <a:extLst>
              <a:ext uri="{FF2B5EF4-FFF2-40B4-BE49-F238E27FC236}">
                <a16:creationId xmlns:a16="http://schemas.microsoft.com/office/drawing/2014/main" id="{C2068042-59AD-4061-9E9C-7291AC1D9043}"/>
              </a:ext>
            </a:extLst>
          </p:cNvPr>
          <p:cNvGrpSpPr/>
          <p:nvPr/>
        </p:nvGrpSpPr>
        <p:grpSpPr>
          <a:xfrm>
            <a:off x="1579204" y="2251632"/>
            <a:ext cx="1995846" cy="1110399"/>
            <a:chOff x="3216" y="1392"/>
            <a:chExt cx="1824" cy="1200"/>
          </a:xfrm>
        </p:grpSpPr>
        <p:sp>
          <p:nvSpPr>
            <p:cNvPr id="21" name="Oval 10">
              <a:extLst>
                <a:ext uri="{FF2B5EF4-FFF2-40B4-BE49-F238E27FC236}">
                  <a16:creationId xmlns:a16="http://schemas.microsoft.com/office/drawing/2014/main" id="{48E368CE-29B3-4379-81C1-5A7166A67189}"/>
                </a:ext>
              </a:extLst>
            </p:cNvPr>
            <p:cNvSpPr/>
            <p:nvPr/>
          </p:nvSpPr>
          <p:spPr>
            <a:xfrm>
              <a:off x="3648" y="1392"/>
              <a:ext cx="1392" cy="1200"/>
            </a:xfrm>
            <a:prstGeom prst="ellipse">
              <a:avLst/>
            </a:prstGeom>
            <a:noFill/>
            <a:ln w="28575" cap="flat" cmpd="sng">
              <a:solidFill>
                <a:srgbClr val="CC00CC"/>
              </a:solidFill>
              <a:prstDash val="dash"/>
              <a:round/>
              <a:headEnd type="none" w="sm" len="lg"/>
              <a:tailEnd type="none" w="sm" len="lg"/>
            </a:ln>
          </p:spPr>
          <p:txBody>
            <a:bodyPr wrap="none" anchor="ctr" anchorCtr="0"/>
            <a:lstStyle/>
            <a:p>
              <a:pPr algn="ctr"/>
              <a:endParaRPr lang="zh-CN" altLang="en-US"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2" name="Object 12">
                  <a:extLst>
                    <a:ext uri="{FF2B5EF4-FFF2-40B4-BE49-F238E27FC236}">
                      <a16:creationId xmlns:a16="http://schemas.microsoft.com/office/drawing/2014/main" id="{C4804E2B-6D7B-405B-BCF6-E71D4F0C8C5C}"/>
                    </a:ext>
                  </a:extLst>
                </p:cNvPr>
                <p:cNvSpPr txBox="1"/>
                <p:nvPr/>
              </p:nvSpPr>
              <p:spPr>
                <a:xfrm>
                  <a:off x="3216" y="1585"/>
                  <a:ext cx="441" cy="53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22" name="Object 12">
                  <a:extLst>
                    <a:ext uri="{FF2B5EF4-FFF2-40B4-BE49-F238E27FC236}">
                      <a16:creationId xmlns:a16="http://schemas.microsoft.com/office/drawing/2014/main" id="{C4804E2B-6D7B-405B-BCF6-E71D4F0C8C5C}"/>
                    </a:ext>
                  </a:extLst>
                </p:cNvPr>
                <p:cNvSpPr txBox="1">
                  <a:spLocks noRot="1" noChangeAspect="1" noMove="1" noResize="1" noEditPoints="1" noAdjustHandles="1" noChangeArrowheads="1" noChangeShapeType="1" noTextEdit="1"/>
                </p:cNvSpPr>
                <p:nvPr/>
              </p:nvSpPr>
              <p:spPr>
                <a:xfrm>
                  <a:off x="3216" y="1585"/>
                  <a:ext cx="441" cy="535"/>
                </a:xfrm>
                <a:prstGeom prst="rect">
                  <a:avLst/>
                </a:prstGeom>
                <a:blipFill>
                  <a:blip r:embed="rId4"/>
                  <a:stretch>
                    <a:fillRect/>
                  </a:stretch>
                </a:blipFill>
                <a:ln w="38100">
                  <a:noFill/>
                  <a:miter/>
                </a:ln>
              </p:spPr>
              <p:txBody>
                <a:bodyPr/>
                <a:lstStyle/>
                <a:p>
                  <a:r>
                    <a:rPr lang="en-US">
                      <a:noFill/>
                    </a:rPr>
                    <a:t> </a:t>
                  </a:r>
                </a:p>
              </p:txBody>
            </p:sp>
          </mc:Fallback>
        </mc:AlternateContent>
      </p:grpSp>
      <p:sp>
        <p:nvSpPr>
          <p:cNvPr id="23" name="Rectangle 7">
            <a:extLst>
              <a:ext uri="{FF2B5EF4-FFF2-40B4-BE49-F238E27FC236}">
                <a16:creationId xmlns:a16="http://schemas.microsoft.com/office/drawing/2014/main" id="{6F487696-C603-428A-8468-C92FAF5C7B09}"/>
              </a:ext>
            </a:extLst>
          </p:cNvPr>
          <p:cNvSpPr/>
          <p:nvPr/>
        </p:nvSpPr>
        <p:spPr>
          <a:xfrm>
            <a:off x="7209432" y="5387322"/>
            <a:ext cx="3932552" cy="584775"/>
          </a:xfrm>
          <a:prstGeom prst="rect">
            <a:avLst/>
          </a:prstGeom>
          <a:noFill/>
          <a:ln w="9525">
            <a:noFill/>
          </a:ln>
        </p:spPr>
        <p:txBody>
          <a:bodyPr wrap="square" anchor="t" anchorCtr="0">
            <a:spAutoFit/>
          </a:bodyPr>
          <a:lstStyle/>
          <a:p>
            <a:pPr>
              <a:spcBef>
                <a:spcPct val="50000"/>
              </a:spcBef>
            </a:pPr>
            <a:r>
              <a:rPr lang="zh-CN" altLang="en-US" sz="3200" dirty="0">
                <a:solidFill>
                  <a:schemeClr val="tx1"/>
                </a:solidFill>
                <a:latin typeface="华文楷体" panose="02010600040101010101" pitchFamily="2" charset="-122"/>
                <a:ea typeface="华文楷体" panose="02010600040101010101" pitchFamily="2" charset="-122"/>
              </a:rPr>
              <a:t>所以内表面</a:t>
            </a:r>
            <a:r>
              <a:rPr lang="zh-CN" altLang="en-US" sz="3200" dirty="0">
                <a:solidFill>
                  <a:srgbClr val="FF0000"/>
                </a:solidFill>
                <a:latin typeface="华文楷体" panose="02010600040101010101" pitchFamily="2" charset="-122"/>
                <a:ea typeface="华文楷体" panose="02010600040101010101" pitchFamily="2" charset="-122"/>
              </a:rPr>
              <a:t>不</a:t>
            </a:r>
            <a:r>
              <a:rPr lang="zh-CN" altLang="en-US" sz="3200" dirty="0">
                <a:solidFill>
                  <a:schemeClr val="tx1"/>
                </a:solidFill>
                <a:latin typeface="华文楷体" panose="02010600040101010101" pitchFamily="2" charset="-122"/>
                <a:ea typeface="华文楷体" panose="02010600040101010101" pitchFamily="2" charset="-122"/>
              </a:rPr>
              <a:t>带电</a:t>
            </a:r>
          </a:p>
        </p:txBody>
      </p:sp>
      <mc:AlternateContent xmlns:mc="http://schemas.openxmlformats.org/markup-compatibility/2006" xmlns:a14="http://schemas.microsoft.com/office/drawing/2010/main">
        <mc:Choice Requires="a14">
          <p:sp>
            <p:nvSpPr>
              <p:cNvPr id="26" name="Object 50">
                <a:extLst>
                  <a:ext uri="{FF2B5EF4-FFF2-40B4-BE49-F238E27FC236}">
                    <a16:creationId xmlns:a16="http://schemas.microsoft.com/office/drawing/2014/main" id="{C48D6E3D-0A51-4992-8875-89B23F5F2D22}"/>
                  </a:ext>
                </a:extLst>
              </p:cNvPr>
              <p:cNvSpPr txBox="1"/>
              <p:nvPr/>
            </p:nvSpPr>
            <p:spPr>
              <a:xfrm>
                <a:off x="2203908" y="5496862"/>
                <a:ext cx="4711700" cy="8493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𝑈</m:t>
                          </m:r>
                        </m:e>
                        <m:sub>
                          <m:r>
                            <a:rPr lang="en-US" sz="3200" i="1">
                              <a:solidFill>
                                <a:srgbClr val="000000"/>
                              </a:solidFill>
                              <a:latin typeface="Cambria Math" panose="02040503050406030204" pitchFamily="18" charset="0"/>
                            </a:rPr>
                            <m:t>𝐴𝐵</m:t>
                          </m:r>
                        </m:sub>
                      </m:sSub>
                      <m:r>
                        <a:rPr lang="en-US" sz="3200" i="1">
                          <a:solidFill>
                            <a:srgbClr val="000000"/>
                          </a:solidFill>
                          <a:latin typeface="Cambria Math" panose="02040503050406030204" pitchFamily="18" charset="0"/>
                        </a:rPr>
                        <m:t>=</m:t>
                      </m:r>
                      <m:nary>
                        <m:naryPr>
                          <m:supHide m:val="on"/>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𝐴𝐵</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e>
                      </m:nary>
                      <m:r>
                        <a:rPr lang="en-US" sz="3200" i="1">
                          <a:solidFill>
                            <a:srgbClr val="000000"/>
                          </a:solidFill>
                          <a:latin typeface="Cambria Math" panose="02040503050406030204" pitchFamily="18" charset="0"/>
                        </a:rPr>
                        <m:t>⋅</m:t>
                      </m:r>
                      <m:r>
                        <m:rPr>
                          <m:sty m:val="p"/>
                        </m:rPr>
                        <a:rPr lang="en-US" sz="3200" i="0">
                          <a:solidFill>
                            <a:srgbClr val="000000"/>
                          </a:solidFill>
                          <a:latin typeface="Cambria Math" panose="02040503050406030204" pitchFamily="18" charset="0"/>
                        </a:rPr>
                        <m:t>d</m:t>
                      </m:r>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𝑙</m:t>
                          </m:r>
                        </m:e>
                      </m:acc>
                      <m:r>
                        <a:rPr lang="en-US" sz="3200" i="1">
                          <a:solidFill>
                            <a:srgbClr val="000000"/>
                          </a:solidFill>
                          <a:latin typeface="Cambria Math" panose="02040503050406030204" pitchFamily="18" charset="0"/>
                        </a:rPr>
                        <m:t>=0</m:t>
                      </m:r>
                    </m:oMath>
                  </m:oMathPara>
                </a14:m>
                <a:endParaRPr lang="en-US" sz="3200" dirty="0"/>
              </a:p>
            </p:txBody>
          </p:sp>
        </mc:Choice>
        <mc:Fallback xmlns="">
          <p:sp>
            <p:nvSpPr>
              <p:cNvPr id="26" name="Object 50">
                <a:extLst>
                  <a:ext uri="{FF2B5EF4-FFF2-40B4-BE49-F238E27FC236}">
                    <a16:creationId xmlns:a16="http://schemas.microsoft.com/office/drawing/2014/main" id="{C48D6E3D-0A51-4992-8875-89B23F5F2D22}"/>
                  </a:ext>
                </a:extLst>
              </p:cNvPr>
              <p:cNvSpPr txBox="1">
                <a:spLocks noRot="1" noChangeAspect="1" noMove="1" noResize="1" noEditPoints="1" noAdjustHandles="1" noChangeArrowheads="1" noChangeShapeType="1" noTextEdit="1"/>
              </p:cNvSpPr>
              <p:nvPr/>
            </p:nvSpPr>
            <p:spPr>
              <a:xfrm>
                <a:off x="2203908" y="5496862"/>
                <a:ext cx="4711700" cy="849313"/>
              </a:xfrm>
              <a:prstGeom prst="rect">
                <a:avLst/>
              </a:prstGeom>
              <a:blipFill>
                <a:blip r:embed="rId5"/>
                <a:stretch>
                  <a:fillRect b="-23741"/>
                </a:stretch>
              </a:blipFill>
              <a:ln w="38100">
                <a:noFill/>
                <a:miter/>
              </a:ln>
            </p:spPr>
            <p:txBody>
              <a:bodyPr/>
              <a:lstStyle/>
              <a:p>
                <a:r>
                  <a:rPr lang="zh-CN" altLang="en-US">
                    <a:noFill/>
                  </a:rPr>
                  <a:t> </a:t>
                </a:r>
              </a:p>
            </p:txBody>
          </p:sp>
        </mc:Fallback>
      </mc:AlternateContent>
      <p:sp>
        <p:nvSpPr>
          <p:cNvPr id="34" name="Rectangle 4">
            <a:extLst>
              <a:ext uri="{FF2B5EF4-FFF2-40B4-BE49-F238E27FC236}">
                <a16:creationId xmlns:a16="http://schemas.microsoft.com/office/drawing/2014/main" id="{21D1014C-3B4B-4457-8D84-88A34E5355D8}"/>
              </a:ext>
            </a:extLst>
          </p:cNvPr>
          <p:cNvSpPr/>
          <p:nvPr/>
        </p:nvSpPr>
        <p:spPr>
          <a:xfrm>
            <a:off x="1194258" y="4803122"/>
            <a:ext cx="2971800" cy="584200"/>
          </a:xfrm>
          <a:prstGeom prst="rect">
            <a:avLst/>
          </a:prstGeom>
          <a:noFill/>
          <a:ln w="9525">
            <a:noFill/>
          </a:ln>
        </p:spPr>
        <p:txBody>
          <a:bodyPr anchor="t" anchorCtr="0">
            <a:spAutoFit/>
          </a:bodyPr>
          <a:lstStyle/>
          <a:p>
            <a:pPr>
              <a:spcBef>
                <a:spcPct val="50000"/>
              </a:spcBef>
            </a:pPr>
            <a:r>
              <a:rPr lang="zh-CN" altLang="en-US" sz="3200" dirty="0">
                <a:solidFill>
                  <a:schemeClr val="tx1"/>
                </a:solidFill>
                <a:latin typeface="华文楷体" panose="02010600040101010101" pitchFamily="2" charset="-122"/>
                <a:ea typeface="华文楷体" panose="02010600040101010101" pitchFamily="2" charset="-122"/>
              </a:rPr>
              <a:t>导体是等势体</a:t>
            </a:r>
          </a:p>
        </p:txBody>
      </p:sp>
      <p:sp>
        <p:nvSpPr>
          <p:cNvPr id="35" name="椭圆 34">
            <a:extLst>
              <a:ext uri="{FF2B5EF4-FFF2-40B4-BE49-F238E27FC236}">
                <a16:creationId xmlns:a16="http://schemas.microsoft.com/office/drawing/2014/main" id="{653641A6-781B-4C66-9EB0-9C8EC1F2416C}"/>
              </a:ext>
            </a:extLst>
          </p:cNvPr>
          <p:cNvSpPr/>
          <p:nvPr/>
        </p:nvSpPr>
        <p:spPr>
          <a:xfrm>
            <a:off x="2419388" y="2498953"/>
            <a:ext cx="971384" cy="531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76">
            <a:extLst>
              <a:ext uri="{FF2B5EF4-FFF2-40B4-BE49-F238E27FC236}">
                <a16:creationId xmlns:a16="http://schemas.microsoft.com/office/drawing/2014/main" id="{CEAC0A59-C238-45A9-B305-6886CCA5A3E7}"/>
              </a:ext>
            </a:extLst>
          </p:cNvPr>
          <p:cNvSpPr>
            <a:spLocks noChangeArrowheads="1"/>
          </p:cNvSpPr>
          <p:nvPr/>
        </p:nvSpPr>
        <p:spPr bwMode="auto">
          <a:xfrm>
            <a:off x="3179605" y="2540565"/>
            <a:ext cx="416878"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3" name="Rectangle 76">
            <a:extLst>
              <a:ext uri="{FF2B5EF4-FFF2-40B4-BE49-F238E27FC236}">
                <a16:creationId xmlns:a16="http://schemas.microsoft.com/office/drawing/2014/main" id="{4413EAB2-4ED5-49AD-AFF6-7DD16D1A71FF}"/>
              </a:ext>
            </a:extLst>
          </p:cNvPr>
          <p:cNvSpPr>
            <a:spLocks noChangeArrowheads="1"/>
          </p:cNvSpPr>
          <p:nvPr/>
        </p:nvSpPr>
        <p:spPr bwMode="auto">
          <a:xfrm>
            <a:off x="2245483" y="2434324"/>
            <a:ext cx="322204"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17054128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p:bldP spid="23" grpId="0"/>
      <p:bldP spid="26" grpId="0"/>
      <p:bldP spid="34" grpId="0"/>
      <p:bldP spid="32"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90">
            <a:extLst>
              <a:ext uri="{FF2B5EF4-FFF2-40B4-BE49-F238E27FC236}">
                <a16:creationId xmlns:a16="http://schemas.microsoft.com/office/drawing/2014/main" id="{9CEBF439-F58E-49BC-8245-D99917E64901}"/>
              </a:ext>
            </a:extLst>
          </p:cNvPr>
          <p:cNvGrpSpPr>
            <a:grpSpLocks/>
          </p:cNvGrpSpPr>
          <p:nvPr/>
        </p:nvGrpSpPr>
        <p:grpSpPr bwMode="auto">
          <a:xfrm>
            <a:off x="1253199" y="1835412"/>
            <a:ext cx="3564870" cy="2040856"/>
            <a:chOff x="623" y="714"/>
            <a:chExt cx="1859" cy="1017"/>
          </a:xfrm>
        </p:grpSpPr>
        <p:sp>
          <p:nvSpPr>
            <p:cNvPr id="169" name="Line 5">
              <a:extLst>
                <a:ext uri="{FF2B5EF4-FFF2-40B4-BE49-F238E27FC236}">
                  <a16:creationId xmlns:a16="http://schemas.microsoft.com/office/drawing/2014/main" id="{79E4CB78-164B-415D-A1A6-E80679AA01DF}"/>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0" name="Line 6">
              <a:extLst>
                <a:ext uri="{FF2B5EF4-FFF2-40B4-BE49-F238E27FC236}">
                  <a16:creationId xmlns:a16="http://schemas.microsoft.com/office/drawing/2014/main" id="{9925D1A3-EBD8-4AA4-949E-EED518CCC1DA}"/>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1" name="Line 7">
              <a:extLst>
                <a:ext uri="{FF2B5EF4-FFF2-40B4-BE49-F238E27FC236}">
                  <a16:creationId xmlns:a16="http://schemas.microsoft.com/office/drawing/2014/main" id="{509E8A8C-538A-4119-A616-0AB0A819A86B}"/>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2" name="Line 8">
              <a:extLst>
                <a:ext uri="{FF2B5EF4-FFF2-40B4-BE49-F238E27FC236}">
                  <a16:creationId xmlns:a16="http://schemas.microsoft.com/office/drawing/2014/main" id="{A42B5358-E249-4491-B185-7066B4DEF78C}"/>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3" name="Line 9">
              <a:extLst>
                <a:ext uri="{FF2B5EF4-FFF2-40B4-BE49-F238E27FC236}">
                  <a16:creationId xmlns:a16="http://schemas.microsoft.com/office/drawing/2014/main" id="{57AC0420-1186-4B80-95A2-C63C9F24F42B}"/>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4" name="Line 10">
              <a:extLst>
                <a:ext uri="{FF2B5EF4-FFF2-40B4-BE49-F238E27FC236}">
                  <a16:creationId xmlns:a16="http://schemas.microsoft.com/office/drawing/2014/main" id="{4667383A-227D-421F-BF06-93F24F22BD32}"/>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5" name="Line 11">
              <a:extLst>
                <a:ext uri="{FF2B5EF4-FFF2-40B4-BE49-F238E27FC236}">
                  <a16:creationId xmlns:a16="http://schemas.microsoft.com/office/drawing/2014/main" id="{5AD6DA56-57A7-4451-8ABE-404C8AFDF23C}"/>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6" name="Line 12">
              <a:extLst>
                <a:ext uri="{FF2B5EF4-FFF2-40B4-BE49-F238E27FC236}">
                  <a16:creationId xmlns:a16="http://schemas.microsoft.com/office/drawing/2014/main" id="{03FE6F90-DACC-49F2-BE15-1EEE4616FF29}"/>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grpSp>
      <p:sp>
        <p:nvSpPr>
          <p:cNvPr id="2" name="矩形 1">
            <a:extLst>
              <a:ext uri="{FF2B5EF4-FFF2-40B4-BE49-F238E27FC236}">
                <a16:creationId xmlns:a16="http://schemas.microsoft.com/office/drawing/2014/main" id="{0A66634C-B6FE-49B4-AD37-C27F423FF022}"/>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8" name="Object 18">
                <a:extLst>
                  <a:ext uri="{FF2B5EF4-FFF2-40B4-BE49-F238E27FC236}">
                    <a16:creationId xmlns:a16="http://schemas.microsoft.com/office/drawing/2014/main" id="{069129B4-C247-4472-9650-D8C90CB35ADE}"/>
                  </a:ext>
                </a:extLst>
              </p:cNvPr>
              <p:cNvSpPr txBox="1"/>
              <p:nvPr/>
            </p:nvSpPr>
            <p:spPr>
              <a:xfrm>
                <a:off x="5180248" y="2359196"/>
                <a:ext cx="5537747" cy="159283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3200" i="1" smtClean="0">
                              <a:solidFill>
                                <a:srgbClr val="000000"/>
                              </a:solidFill>
                              <a:latin typeface="Cambria Math" panose="02040503050406030204" pitchFamily="18" charset="0"/>
                            </a:rPr>
                          </m:ctrlPr>
                        </m:naryPr>
                        <m:sub>
                          <m:r>
                            <a:rPr lang="en-US" altLang="zh-CN" sz="3200" i="1">
                              <a:solidFill>
                                <a:srgbClr val="000000"/>
                              </a:solidFill>
                              <a:latin typeface="Cambria Math" panose="02040503050406030204" pitchFamily="18" charset="0"/>
                            </a:rPr>
                            <m:t>𝑆</m:t>
                          </m:r>
                          <m:r>
                            <a:rPr lang="en-US" altLang="zh-CN" sz="3200" b="0" i="1" baseline="-25000" smtClean="0">
                              <a:solidFill>
                                <a:srgbClr val="000000"/>
                              </a:solidFill>
                              <a:latin typeface="Cambria Math" panose="02040503050406030204" pitchFamily="18" charset="0"/>
                            </a:rPr>
                            <m:t>1,2</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r>
                            <a:rPr lang="en-US" altLang="zh-CN"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𝑑</m:t>
                          </m:r>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𝑆</m:t>
                              </m:r>
                            </m:e>
                          </m:acc>
                        </m:e>
                      </m:nary>
                      <m:r>
                        <a:rPr 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0</m:t>
                      </m:r>
                    </m:oMath>
                  </m:oMathPara>
                </a14:m>
                <a:endParaRPr lang="en-US" sz="3200" dirty="0"/>
              </a:p>
            </p:txBody>
          </p:sp>
        </mc:Choice>
        <mc:Fallback xmlns="">
          <p:sp>
            <p:nvSpPr>
              <p:cNvPr id="148" name="Object 18">
                <a:extLst>
                  <a:ext uri="{FF2B5EF4-FFF2-40B4-BE49-F238E27FC236}">
                    <a16:creationId xmlns:a16="http://schemas.microsoft.com/office/drawing/2014/main" id="{069129B4-C247-4472-9650-D8C90CB35ADE}"/>
                  </a:ext>
                </a:extLst>
              </p:cNvPr>
              <p:cNvSpPr txBox="1">
                <a:spLocks noRot="1" noChangeAspect="1" noMove="1" noResize="1" noEditPoints="1" noAdjustHandles="1" noChangeArrowheads="1" noChangeShapeType="1" noTextEdit="1"/>
              </p:cNvSpPr>
              <p:nvPr/>
            </p:nvSpPr>
            <p:spPr>
              <a:xfrm>
                <a:off x="5180248" y="2359196"/>
                <a:ext cx="5537747" cy="1592836"/>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149" name="Text Box 30">
            <a:extLst>
              <a:ext uri="{FF2B5EF4-FFF2-40B4-BE49-F238E27FC236}">
                <a16:creationId xmlns:a16="http://schemas.microsoft.com/office/drawing/2014/main" id="{C5C18EE8-C1C1-47B6-B6E3-71A76738B80A}"/>
              </a:ext>
            </a:extLst>
          </p:cNvPr>
          <p:cNvSpPr txBox="1"/>
          <p:nvPr/>
        </p:nvSpPr>
        <p:spPr>
          <a:xfrm>
            <a:off x="5839751" y="1466080"/>
            <a:ext cx="3505200" cy="584775"/>
          </a:xfrm>
          <a:prstGeom prst="rect">
            <a:avLst/>
          </a:prstGeom>
          <a:noFill/>
          <a:ln w="9525">
            <a:noFill/>
          </a:ln>
        </p:spPr>
        <p:txBody>
          <a:bodyPr anchor="t" anchorCtr="0">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空腔内有电荷</a:t>
            </a:r>
          </a:p>
        </p:txBody>
      </p:sp>
      <p:grpSp>
        <p:nvGrpSpPr>
          <p:cNvPr id="5" name="组合 4">
            <a:extLst>
              <a:ext uri="{FF2B5EF4-FFF2-40B4-BE49-F238E27FC236}">
                <a16:creationId xmlns:a16="http://schemas.microsoft.com/office/drawing/2014/main" id="{0FD44359-B757-44B4-B000-88C545A1EB23}"/>
              </a:ext>
            </a:extLst>
          </p:cNvPr>
          <p:cNvGrpSpPr/>
          <p:nvPr/>
        </p:nvGrpSpPr>
        <p:grpSpPr>
          <a:xfrm>
            <a:off x="1567281" y="2001149"/>
            <a:ext cx="2675599" cy="1526619"/>
            <a:chOff x="7249451" y="5802948"/>
            <a:chExt cx="2675599" cy="1526619"/>
          </a:xfrm>
        </p:grpSpPr>
        <p:sp>
          <p:nvSpPr>
            <p:cNvPr id="153" name="AutoShape 61">
              <a:extLst>
                <a:ext uri="{FF2B5EF4-FFF2-40B4-BE49-F238E27FC236}">
                  <a16:creationId xmlns:a16="http://schemas.microsoft.com/office/drawing/2014/main" id="{A832247C-3407-4384-9E67-8659BFE0F68D}"/>
                </a:ext>
              </a:extLst>
            </p:cNvPr>
            <p:cNvSpPr/>
            <p:nvPr/>
          </p:nvSpPr>
          <p:spPr>
            <a:xfrm>
              <a:off x="7249451" y="5802948"/>
              <a:ext cx="2675599" cy="1526619"/>
            </a:xfrm>
            <a:custGeom>
              <a:avLst/>
              <a:gdLst/>
              <a:ahLst/>
              <a:cxnLst>
                <a:cxn ang="0">
                  <a:pos x="8" y="0"/>
                </a:cxn>
                <a:cxn ang="0">
                  <a:pos x="2" y="1"/>
                </a:cxn>
                <a:cxn ang="0">
                  <a:pos x="0" y="2"/>
                </a:cxn>
                <a:cxn ang="0">
                  <a:pos x="2" y="3"/>
                </a:cxn>
                <a:cxn ang="0">
                  <a:pos x="8" y="4"/>
                </a:cxn>
                <a:cxn ang="0">
                  <a:pos x="14" y="3"/>
                </a:cxn>
                <a:cxn ang="0">
                  <a:pos x="16" y="2"/>
                </a:cxn>
                <a:cxn ang="0">
                  <a:pos x="14" y="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816" y="10800"/>
                  </a:moveTo>
                  <a:cubicBezTo>
                    <a:pt x="6816" y="13000"/>
                    <a:pt x="8600" y="14784"/>
                    <a:pt x="10800" y="14784"/>
                  </a:cubicBezTo>
                  <a:cubicBezTo>
                    <a:pt x="13000" y="14784"/>
                    <a:pt x="14784" y="13000"/>
                    <a:pt x="14784" y="10800"/>
                  </a:cubicBezTo>
                  <a:cubicBezTo>
                    <a:pt x="14784" y="8600"/>
                    <a:pt x="13000" y="6816"/>
                    <a:pt x="10800" y="6816"/>
                  </a:cubicBezTo>
                  <a:cubicBezTo>
                    <a:pt x="8600" y="6816"/>
                    <a:pt x="6816" y="8600"/>
                    <a:pt x="6816" y="10800"/>
                  </a:cubicBezTo>
                  <a:close/>
                </a:path>
              </a:pathLst>
            </a:custGeom>
            <a:gradFill rotWithShape="0">
              <a:gsLst>
                <a:gs pos="0">
                  <a:srgbClr val="FFFFFF"/>
                </a:gs>
                <a:gs pos="100000">
                  <a:srgbClr val="C2C2C2"/>
                </a:gs>
              </a:gsLst>
              <a:lin ang="2700000" scaled="1"/>
              <a:tileRect/>
            </a:gradFill>
            <a:ln w="19050" cap="flat" cmpd="sng">
              <a:solidFill>
                <a:srgbClr val="000000"/>
              </a:solidFill>
              <a:prstDash val="solid"/>
              <a:round/>
              <a:headEnd type="none" w="med" len="med"/>
              <a:tailEnd type="none" w="med" len="med"/>
            </a:ln>
          </p:spPr>
          <p:txBody>
            <a:bodyPr/>
            <a:lstStyle/>
            <a:p>
              <a:endParaRPr lang="zh-CN" altLang="en-US" sz="2400"/>
            </a:p>
          </p:txBody>
        </p:sp>
        <p:grpSp>
          <p:nvGrpSpPr>
            <p:cNvPr id="154" name="Group 65">
              <a:extLst>
                <a:ext uri="{FF2B5EF4-FFF2-40B4-BE49-F238E27FC236}">
                  <a16:creationId xmlns:a16="http://schemas.microsoft.com/office/drawing/2014/main" id="{BE6C5193-D474-4549-A13F-1EFDE6DB87C4}"/>
                </a:ext>
              </a:extLst>
            </p:cNvPr>
            <p:cNvGrpSpPr/>
            <p:nvPr/>
          </p:nvGrpSpPr>
          <p:grpSpPr>
            <a:xfrm>
              <a:off x="9021103" y="6218752"/>
              <a:ext cx="764068" cy="926149"/>
              <a:chOff x="4800" y="2880"/>
              <a:chExt cx="562" cy="728"/>
            </a:xfrm>
          </p:grpSpPr>
          <mc:AlternateContent xmlns:mc="http://schemas.openxmlformats.org/markup-compatibility/2006" xmlns:a14="http://schemas.microsoft.com/office/drawing/2010/main">
            <mc:Choice Requires="a14">
              <p:sp>
                <p:nvSpPr>
                  <p:cNvPr id="155" name="Object 63">
                    <a:extLst>
                      <a:ext uri="{FF2B5EF4-FFF2-40B4-BE49-F238E27FC236}">
                        <a16:creationId xmlns:a16="http://schemas.microsoft.com/office/drawing/2014/main" id="{41EC6A0D-6B59-4A65-AE06-C1EDD20538A7}"/>
                      </a:ext>
                    </a:extLst>
                  </p:cNvPr>
                  <p:cNvSpPr txBox="1"/>
                  <p:nvPr/>
                </p:nvSpPr>
                <p:spPr>
                  <a:xfrm>
                    <a:off x="4848" y="3264"/>
                    <a:ext cx="495" cy="344"/>
                  </a:xfrm>
                  <a:prstGeom prst="rect">
                    <a:avLst/>
                  </a:prstGeom>
                  <a:noFill/>
                  <a:ln w="38100">
                    <a:noFill/>
                    <a:miter/>
                  </a:ln>
                </p:spPr>
                <p:txBody>
                  <a:bodyPr>
                    <a:normAutofit lnSpcReduction="10000"/>
                  </a:bodyPr>
                  <a:lstStyle/>
                  <a:p>
                    <a14:m>
                      <m:oMath xmlns:m="http://schemas.openxmlformats.org/officeDocument/2006/math">
                        <m:r>
                          <a:rPr lang="en-US" sz="2400" i="1">
                            <a:solidFill>
                              <a:srgbClr val="000000"/>
                            </a:solidFill>
                            <a:latin typeface="Cambria Math" panose="02040503050406030204" pitchFamily="18" charset="0"/>
                          </a:rPr>
                          <m:t>𝑆</m:t>
                        </m:r>
                      </m:oMath>
                    </a14:m>
                    <a:r>
                      <a:rPr lang="en-US" sz="2400" baseline="-25000" dirty="0"/>
                      <a:t>1</a:t>
                    </a:r>
                  </a:p>
                </p:txBody>
              </p:sp>
            </mc:Choice>
            <mc:Fallback xmlns="">
              <p:sp>
                <p:nvSpPr>
                  <p:cNvPr id="155" name="Object 63">
                    <a:extLst>
                      <a:ext uri="{FF2B5EF4-FFF2-40B4-BE49-F238E27FC236}">
                        <a16:creationId xmlns:a16="http://schemas.microsoft.com/office/drawing/2014/main" id="{41EC6A0D-6B59-4A65-AE06-C1EDD20538A7}"/>
                      </a:ext>
                    </a:extLst>
                  </p:cNvPr>
                  <p:cNvSpPr txBox="1">
                    <a:spLocks noRot="1" noChangeAspect="1" noMove="1" noResize="1" noEditPoints="1" noAdjustHandles="1" noChangeArrowheads="1" noChangeShapeType="1" noTextEdit="1"/>
                  </p:cNvSpPr>
                  <p:nvPr/>
                </p:nvSpPr>
                <p:spPr>
                  <a:xfrm>
                    <a:off x="4848" y="3264"/>
                    <a:ext cx="495" cy="344"/>
                  </a:xfrm>
                  <a:prstGeom prst="rect">
                    <a:avLst/>
                  </a:prstGeom>
                  <a:blipFill>
                    <a:blip r:embed="rId3"/>
                    <a:stretch>
                      <a:fillRect l="-1802" b="-26761"/>
                    </a:stretch>
                  </a:blipFill>
                  <a:ln w="38100">
                    <a:noFill/>
                    <a:miter/>
                  </a:ln>
                </p:spPr>
                <p:txBody>
                  <a:bodyPr/>
                  <a:lstStyle/>
                  <a:p>
                    <a:r>
                      <a:rPr lang="zh-CN" altLang="en-US">
                        <a:noFill/>
                      </a:rPr>
                      <a:t> </a:t>
                    </a:r>
                  </a:p>
                </p:txBody>
              </p:sp>
            </mc:Fallback>
          </mc:AlternateContent>
          <p:sp>
            <p:nvSpPr>
              <p:cNvPr id="156" name="Freeform 64" descr="宽下对角线">
                <a:extLst>
                  <a:ext uri="{FF2B5EF4-FFF2-40B4-BE49-F238E27FC236}">
                    <a16:creationId xmlns:a16="http://schemas.microsoft.com/office/drawing/2014/main" id="{A773303B-13C3-4C55-92EB-B9E433AD4D41}"/>
                  </a:ext>
                </a:extLst>
              </p:cNvPr>
              <p:cNvSpPr/>
              <p:nvPr/>
            </p:nvSpPr>
            <p:spPr>
              <a:xfrm rot="2655082">
                <a:off x="4800" y="2880"/>
                <a:ext cx="562" cy="307"/>
              </a:xfrm>
              <a:custGeom>
                <a:avLst/>
                <a:gdLst/>
                <a:ahLst/>
                <a:cxnLst>
                  <a:cxn ang="0">
                    <a:pos x="89" y="56"/>
                  </a:cxn>
                  <a:cxn ang="0">
                    <a:pos x="294" y="9"/>
                  </a:cxn>
                  <a:cxn ang="0">
                    <a:pos x="531" y="111"/>
                  </a:cxn>
                  <a:cxn ang="0">
                    <a:pos x="479" y="286"/>
                  </a:cxn>
                  <a:cxn ang="0">
                    <a:pos x="65" y="237"/>
                  </a:cxn>
                  <a:cxn ang="0">
                    <a:pos x="89" y="56"/>
                  </a:cxn>
                </a:cxnLst>
                <a:rect l="0" t="0" r="0" b="0"/>
                <a:pathLst>
                  <a:path w="562" h="307">
                    <a:moveTo>
                      <a:pt x="89" y="56"/>
                    </a:moveTo>
                    <a:cubicBezTo>
                      <a:pt x="127" y="18"/>
                      <a:pt x="220" y="0"/>
                      <a:pt x="294" y="9"/>
                    </a:cubicBezTo>
                    <a:cubicBezTo>
                      <a:pt x="368" y="18"/>
                      <a:pt x="500" y="65"/>
                      <a:pt x="531" y="111"/>
                    </a:cubicBezTo>
                    <a:cubicBezTo>
                      <a:pt x="562" y="157"/>
                      <a:pt x="557" y="265"/>
                      <a:pt x="479" y="286"/>
                    </a:cubicBezTo>
                    <a:cubicBezTo>
                      <a:pt x="401" y="307"/>
                      <a:pt x="130" y="275"/>
                      <a:pt x="65" y="237"/>
                    </a:cubicBezTo>
                    <a:cubicBezTo>
                      <a:pt x="0" y="199"/>
                      <a:pt x="44" y="96"/>
                      <a:pt x="89" y="56"/>
                    </a:cubicBezTo>
                    <a:close/>
                  </a:path>
                </a:pathLst>
              </a:custGeom>
              <a:pattFill prst="wdDnDiag">
                <a:fgClr>
                  <a:srgbClr val="0000FF"/>
                </a:fgClr>
                <a:bgClr>
                  <a:srgbClr val="EAEAEA"/>
                </a:bgClr>
              </a:pattFill>
              <a:ln w="19050" cap="flat" cmpd="sng">
                <a:solidFill>
                  <a:srgbClr val="0000FF"/>
                </a:solidFill>
                <a:prstDash val="dash"/>
                <a:round/>
                <a:headEnd type="none" w="sm" len="lg"/>
                <a:tailEnd type="none" w="sm" len="lg"/>
              </a:ln>
            </p:spPr>
            <p:txBody>
              <a:bodyPr/>
              <a:lstStyle/>
              <a:p>
                <a:endParaRPr lang="zh-CN" altLang="en-US" sz="2400"/>
              </a:p>
            </p:txBody>
          </p:sp>
        </p:grpSp>
      </p:grpSp>
      <p:sp>
        <p:nvSpPr>
          <p:cNvPr id="182" name="椭圆 181">
            <a:extLst>
              <a:ext uri="{FF2B5EF4-FFF2-40B4-BE49-F238E27FC236}">
                <a16:creationId xmlns:a16="http://schemas.microsoft.com/office/drawing/2014/main" id="{58F7DF25-54E4-4FC9-A2E6-0DB981EB88AC}"/>
              </a:ext>
            </a:extLst>
          </p:cNvPr>
          <p:cNvSpPr/>
          <p:nvPr/>
        </p:nvSpPr>
        <p:spPr>
          <a:xfrm>
            <a:off x="2419388" y="2498953"/>
            <a:ext cx="971384" cy="531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83" name="Object 9">
                <a:extLst>
                  <a:ext uri="{FF2B5EF4-FFF2-40B4-BE49-F238E27FC236}">
                    <a16:creationId xmlns:a16="http://schemas.microsoft.com/office/drawing/2014/main" id="{E2FDC4AA-4EDB-42AE-8904-2E1FF435BF36}"/>
                  </a:ext>
                </a:extLst>
              </p:cNvPr>
              <p:cNvSpPr txBox="1"/>
              <p:nvPr/>
            </p:nvSpPr>
            <p:spPr>
              <a:xfrm>
                <a:off x="2625163" y="2528277"/>
                <a:ext cx="838200"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𝑞</m:t>
                      </m:r>
                    </m:oMath>
                  </m:oMathPara>
                </a14:m>
                <a:endParaRPr lang="en-US" sz="2400" dirty="0"/>
              </a:p>
            </p:txBody>
          </p:sp>
        </mc:Choice>
        <mc:Fallback xmlns="">
          <p:sp>
            <p:nvSpPr>
              <p:cNvPr id="183" name="Object 9">
                <a:extLst>
                  <a:ext uri="{FF2B5EF4-FFF2-40B4-BE49-F238E27FC236}">
                    <a16:creationId xmlns:a16="http://schemas.microsoft.com/office/drawing/2014/main" id="{E2FDC4AA-4EDB-42AE-8904-2E1FF435BF36}"/>
                  </a:ext>
                </a:extLst>
              </p:cNvPr>
              <p:cNvSpPr txBox="1">
                <a:spLocks noRot="1" noChangeAspect="1" noMove="1" noResize="1" noEditPoints="1" noAdjustHandles="1" noChangeArrowheads="1" noChangeShapeType="1" noTextEdit="1"/>
              </p:cNvSpPr>
              <p:nvPr/>
            </p:nvSpPr>
            <p:spPr>
              <a:xfrm>
                <a:off x="2625163" y="2528277"/>
                <a:ext cx="838200" cy="617538"/>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184" name="Oval 8">
            <a:extLst>
              <a:ext uri="{FF2B5EF4-FFF2-40B4-BE49-F238E27FC236}">
                <a16:creationId xmlns:a16="http://schemas.microsoft.com/office/drawing/2014/main" id="{5034FA08-A9AF-486F-AD1F-A398F0B436F9}"/>
              </a:ext>
            </a:extLst>
          </p:cNvPr>
          <p:cNvSpPr/>
          <p:nvPr/>
        </p:nvSpPr>
        <p:spPr>
          <a:xfrm>
            <a:off x="2689701" y="2692985"/>
            <a:ext cx="152400" cy="152400"/>
          </a:xfrm>
          <a:prstGeom prst="ellipse">
            <a:avLst/>
          </a:prstGeom>
          <a:gradFill rotWithShape="0">
            <a:gsLst>
              <a:gs pos="0">
                <a:srgbClr val="FF0000"/>
              </a:gs>
              <a:gs pos="100000">
                <a:srgbClr val="760000"/>
              </a:gs>
            </a:gsLst>
            <a:path path="shape">
              <a:fillToRect l="50000" t="50000" r="50000" b="50000"/>
            </a:path>
            <a:tileRect/>
          </a:gradFill>
          <a:ln w="12700" cap="flat" cmpd="sng">
            <a:solidFill>
              <a:schemeClr val="tx1"/>
            </a:solidFill>
            <a:prstDash val="solid"/>
            <a:round/>
            <a:headEnd type="none" w="sm" len="lg"/>
            <a:tailEnd type="none" w="sm" len="lg"/>
          </a:ln>
        </p:spPr>
        <p:txBody>
          <a:bodyPr wrap="none" anchor="ctr" anchorCtr="0"/>
          <a:lstStyle/>
          <a:p>
            <a:pPr algn="ct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85" name="Object 11">
                <a:extLst>
                  <a:ext uri="{FF2B5EF4-FFF2-40B4-BE49-F238E27FC236}">
                    <a16:creationId xmlns:a16="http://schemas.microsoft.com/office/drawing/2014/main" id="{2F6CEA9B-1611-4202-B26B-B037FC2694C4}"/>
                  </a:ext>
                </a:extLst>
              </p:cNvPr>
              <p:cNvSpPr txBox="1"/>
              <p:nvPr/>
            </p:nvSpPr>
            <p:spPr>
              <a:xfrm>
                <a:off x="1898156" y="2754801"/>
                <a:ext cx="838200" cy="5730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𝑞</m:t>
                      </m:r>
                    </m:oMath>
                  </m:oMathPara>
                </a14:m>
                <a:endParaRPr lang="en-US" sz="2400" dirty="0"/>
              </a:p>
            </p:txBody>
          </p:sp>
        </mc:Choice>
        <mc:Fallback xmlns="">
          <p:sp>
            <p:nvSpPr>
              <p:cNvPr id="185" name="Object 11">
                <a:extLst>
                  <a:ext uri="{FF2B5EF4-FFF2-40B4-BE49-F238E27FC236}">
                    <a16:creationId xmlns:a16="http://schemas.microsoft.com/office/drawing/2014/main" id="{2F6CEA9B-1611-4202-B26B-B037FC2694C4}"/>
                  </a:ext>
                </a:extLst>
              </p:cNvPr>
              <p:cNvSpPr txBox="1">
                <a:spLocks noRot="1" noChangeAspect="1" noMove="1" noResize="1" noEditPoints="1" noAdjustHandles="1" noChangeArrowheads="1" noChangeShapeType="1" noTextEdit="1"/>
              </p:cNvSpPr>
              <p:nvPr/>
            </p:nvSpPr>
            <p:spPr>
              <a:xfrm>
                <a:off x="1898156" y="2754801"/>
                <a:ext cx="838200" cy="573088"/>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83B9FD97-D490-4856-966E-4E14FA13CB4F}"/>
                  </a:ext>
                </a:extLst>
              </p:cNvPr>
              <p:cNvSpPr/>
              <p:nvPr/>
            </p:nvSpPr>
            <p:spPr>
              <a:xfrm>
                <a:off x="1473200" y="4474209"/>
                <a:ext cx="9144000" cy="1815882"/>
              </a:xfrm>
              <a:prstGeom prst="rect">
                <a:avLst/>
              </a:prstGeom>
            </p:spPr>
            <p:txBody>
              <a:bodyPr wrap="square">
                <a:spAutoFit/>
              </a:bodyPr>
              <a:lstStyle/>
              <a:p>
                <a:r>
                  <a:rPr lang="en-US" altLang="zh-CN" sz="2800" dirty="0">
                    <a:latin typeface="+mn-ea"/>
                  </a:rPr>
                  <a:t>-</a:t>
                </a:r>
                <a:r>
                  <a:rPr lang="zh-CN" altLang="en-US" sz="2800" dirty="0">
                    <a:latin typeface="+mn-ea"/>
                  </a:rPr>
                  <a:t>当空腔内有电荷 </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𝑞</m:t>
                    </m:r>
                  </m:oMath>
                </a14:m>
                <a:r>
                  <a:rPr lang="zh-CN" altLang="en-US" sz="2800" dirty="0">
                    <a:latin typeface="+mn-ea"/>
                  </a:rPr>
                  <a:t>时</a:t>
                </a:r>
                <a:r>
                  <a:rPr lang="en-US" altLang="zh-CN" sz="2800" dirty="0">
                    <a:latin typeface="+mn-ea"/>
                  </a:rPr>
                  <a:t>,</a:t>
                </a:r>
                <a:r>
                  <a:rPr lang="zh-CN" altLang="en-US" sz="2800" dirty="0">
                    <a:latin typeface="+mn-ea"/>
                  </a:rPr>
                  <a:t>内表面因静电感应出现等值异号的电荷 </a:t>
                </a:r>
                <a14:m>
                  <m:oMath xmlns:m="http://schemas.openxmlformats.org/officeDocument/2006/math">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𝑞</m:t>
                    </m:r>
                  </m:oMath>
                </a14:m>
                <a:r>
                  <a:rPr lang="zh-CN" altLang="en-US" sz="2800" dirty="0">
                    <a:latin typeface="+mn-ea"/>
                  </a:rPr>
                  <a:t>      </a:t>
                </a:r>
                <a:endParaRPr lang="en-US" altLang="zh-CN" sz="2800" dirty="0">
                  <a:latin typeface="+mn-ea"/>
                </a:endParaRPr>
              </a:p>
              <a:p>
                <a:endParaRPr lang="en-US" altLang="zh-CN" sz="2800" i="1" dirty="0">
                  <a:latin typeface="+mn-ea"/>
                </a:endParaRPr>
              </a:p>
              <a:p>
                <a:r>
                  <a:rPr lang="en-US" altLang="zh-CN" sz="2800" i="1" dirty="0">
                    <a:latin typeface="+mn-ea"/>
                  </a:rPr>
                  <a:t>- </a:t>
                </a:r>
                <a:r>
                  <a:rPr lang="zh-CN" altLang="en-US" sz="2800" dirty="0">
                    <a:latin typeface="+mn-ea"/>
                  </a:rPr>
                  <a:t>外表面有感应电荷 </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𝑞</m:t>
                    </m:r>
                  </m:oMath>
                </a14:m>
                <a:r>
                  <a:rPr lang="zh-CN" altLang="en-US" sz="2800" dirty="0">
                    <a:latin typeface="+mn-ea"/>
                  </a:rPr>
                  <a:t>      （电荷守恒）</a:t>
                </a:r>
                <a:endParaRPr lang="en-US" sz="2800" dirty="0">
                  <a:latin typeface="+mn-ea"/>
                </a:endParaRPr>
              </a:p>
            </p:txBody>
          </p:sp>
        </mc:Choice>
        <mc:Fallback>
          <p:sp>
            <p:nvSpPr>
              <p:cNvPr id="10" name="矩形 9">
                <a:extLst>
                  <a:ext uri="{FF2B5EF4-FFF2-40B4-BE49-F238E27FC236}">
                    <a16:creationId xmlns:a16="http://schemas.microsoft.com/office/drawing/2014/main" id="{83B9FD97-D490-4856-966E-4E14FA13CB4F}"/>
                  </a:ext>
                </a:extLst>
              </p:cNvPr>
              <p:cNvSpPr>
                <a:spLocks noRot="1" noChangeAspect="1" noMove="1" noResize="1" noEditPoints="1" noAdjustHandles="1" noChangeArrowheads="1" noChangeShapeType="1" noTextEdit="1"/>
              </p:cNvSpPr>
              <p:nvPr/>
            </p:nvSpPr>
            <p:spPr>
              <a:xfrm>
                <a:off x="1473200" y="4474209"/>
                <a:ext cx="9144000" cy="1815882"/>
              </a:xfrm>
              <a:prstGeom prst="rect">
                <a:avLst/>
              </a:prstGeom>
              <a:blipFill>
                <a:blip r:embed="rId6"/>
                <a:stretch>
                  <a:fillRect l="-1400" t="-3691" r="-600" b="-8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8" name="Object 9">
                <a:extLst>
                  <a:ext uri="{FF2B5EF4-FFF2-40B4-BE49-F238E27FC236}">
                    <a16:creationId xmlns:a16="http://schemas.microsoft.com/office/drawing/2014/main" id="{E8C42871-5F9E-446D-8952-7F96580E0C79}"/>
                  </a:ext>
                </a:extLst>
              </p:cNvPr>
              <p:cNvSpPr txBox="1"/>
              <p:nvPr/>
            </p:nvSpPr>
            <p:spPr>
              <a:xfrm>
                <a:off x="1714182" y="1710172"/>
                <a:ext cx="1245671"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𝑞</m:t>
                      </m:r>
                    </m:oMath>
                  </m:oMathPara>
                </a14:m>
                <a:endParaRPr lang="en-US" sz="2400" dirty="0"/>
              </a:p>
            </p:txBody>
          </p:sp>
        </mc:Choice>
        <mc:Fallback xmlns="">
          <p:sp>
            <p:nvSpPr>
              <p:cNvPr id="188" name="Object 9">
                <a:extLst>
                  <a:ext uri="{FF2B5EF4-FFF2-40B4-BE49-F238E27FC236}">
                    <a16:creationId xmlns:a16="http://schemas.microsoft.com/office/drawing/2014/main" id="{E8C42871-5F9E-446D-8952-7F96580E0C79}"/>
                  </a:ext>
                </a:extLst>
              </p:cNvPr>
              <p:cNvSpPr txBox="1">
                <a:spLocks noRot="1" noChangeAspect="1" noMove="1" noResize="1" noEditPoints="1" noAdjustHandles="1" noChangeArrowheads="1" noChangeShapeType="1" noTextEdit="1"/>
              </p:cNvSpPr>
              <p:nvPr/>
            </p:nvSpPr>
            <p:spPr>
              <a:xfrm>
                <a:off x="1714182" y="1710172"/>
                <a:ext cx="1245671" cy="617538"/>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9">
                <a:extLst>
                  <a:ext uri="{FF2B5EF4-FFF2-40B4-BE49-F238E27FC236}">
                    <a16:creationId xmlns:a16="http://schemas.microsoft.com/office/drawing/2014/main" id="{7EE847B8-BA6C-35D0-9824-C48284B15B74}"/>
                  </a:ext>
                </a:extLst>
              </p:cNvPr>
              <p:cNvSpPr txBox="1"/>
              <p:nvPr/>
            </p:nvSpPr>
            <p:spPr>
              <a:xfrm>
                <a:off x="2863444" y="1665031"/>
                <a:ext cx="1245671"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altLang="zh-CN" sz="2400" i="1">
                          <a:solidFill>
                            <a:srgbClr val="000000"/>
                          </a:solidFill>
                          <a:latin typeface="Cambria Math" panose="02040503050406030204" pitchFamily="18" charset="0"/>
                        </a:rPr>
                        <m:t>Q</m:t>
                      </m:r>
                    </m:oMath>
                  </m:oMathPara>
                </a14:m>
                <a:endParaRPr lang="en-US" sz="2400" dirty="0"/>
              </a:p>
            </p:txBody>
          </p:sp>
        </mc:Choice>
        <mc:Fallback xmlns="">
          <p:sp>
            <p:nvSpPr>
              <p:cNvPr id="4" name="Object 9">
                <a:extLst>
                  <a:ext uri="{FF2B5EF4-FFF2-40B4-BE49-F238E27FC236}">
                    <a16:creationId xmlns:a16="http://schemas.microsoft.com/office/drawing/2014/main" id="{7EE847B8-BA6C-35D0-9824-C48284B15B74}"/>
                  </a:ext>
                </a:extLst>
              </p:cNvPr>
              <p:cNvSpPr txBox="1">
                <a:spLocks noRot="1" noChangeAspect="1" noMove="1" noResize="1" noEditPoints="1" noAdjustHandles="1" noChangeArrowheads="1" noChangeShapeType="1" noTextEdit="1"/>
              </p:cNvSpPr>
              <p:nvPr/>
            </p:nvSpPr>
            <p:spPr>
              <a:xfrm>
                <a:off x="2863444" y="1665031"/>
                <a:ext cx="1245671" cy="617538"/>
              </a:xfrm>
              <a:prstGeom prst="rect">
                <a:avLst/>
              </a:prstGeom>
              <a:blipFill>
                <a:blip r:embed="rId10"/>
                <a:stretch>
                  <a:fillRect/>
                </a:stretch>
              </a:blipFill>
              <a:ln w="38100">
                <a:noFill/>
                <a:miter/>
              </a:ln>
            </p:spPr>
            <p:txBody>
              <a:bodyPr/>
              <a:lstStyle/>
              <a:p>
                <a:r>
                  <a:rPr lang="zh-CN" altLang="en-US">
                    <a:noFill/>
                  </a:rPr>
                  <a:t> </a:t>
                </a:r>
              </a:p>
            </p:txBody>
          </p:sp>
        </mc:Fallback>
      </mc:AlternateContent>
      <p:grpSp>
        <p:nvGrpSpPr>
          <p:cNvPr id="6" name="Group 25">
            <a:extLst>
              <a:ext uri="{FF2B5EF4-FFF2-40B4-BE49-F238E27FC236}">
                <a16:creationId xmlns:a16="http://schemas.microsoft.com/office/drawing/2014/main" id="{0BE16D7D-DD29-4525-34ED-EFB108854159}"/>
              </a:ext>
            </a:extLst>
          </p:cNvPr>
          <p:cNvGrpSpPr/>
          <p:nvPr/>
        </p:nvGrpSpPr>
        <p:grpSpPr>
          <a:xfrm>
            <a:off x="1579204" y="2251632"/>
            <a:ext cx="1995846" cy="1110399"/>
            <a:chOff x="3216" y="1392"/>
            <a:chExt cx="1824" cy="1200"/>
          </a:xfrm>
        </p:grpSpPr>
        <p:sp>
          <p:nvSpPr>
            <p:cNvPr id="7" name="Oval 10">
              <a:extLst>
                <a:ext uri="{FF2B5EF4-FFF2-40B4-BE49-F238E27FC236}">
                  <a16:creationId xmlns:a16="http://schemas.microsoft.com/office/drawing/2014/main" id="{1F706C69-B0C6-A826-95BC-8F0B023DC7B5}"/>
                </a:ext>
              </a:extLst>
            </p:cNvPr>
            <p:cNvSpPr/>
            <p:nvPr/>
          </p:nvSpPr>
          <p:spPr>
            <a:xfrm>
              <a:off x="3648" y="1392"/>
              <a:ext cx="1392" cy="1200"/>
            </a:xfrm>
            <a:prstGeom prst="ellipse">
              <a:avLst/>
            </a:prstGeom>
            <a:noFill/>
            <a:ln w="28575" cap="flat" cmpd="sng">
              <a:solidFill>
                <a:srgbClr val="CC00CC"/>
              </a:solidFill>
              <a:prstDash val="dash"/>
              <a:round/>
              <a:headEnd type="none" w="sm" len="lg"/>
              <a:tailEnd type="none" w="sm" len="lg"/>
            </a:ln>
          </p:spPr>
          <p:txBody>
            <a:bodyPr wrap="none" anchor="ctr" anchorCtr="0"/>
            <a:lstStyle/>
            <a:p>
              <a:pPr algn="ct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8" name="Object 12">
                  <a:extLst>
                    <a:ext uri="{FF2B5EF4-FFF2-40B4-BE49-F238E27FC236}">
                      <a16:creationId xmlns:a16="http://schemas.microsoft.com/office/drawing/2014/main" id="{8F80EC87-FD78-3B3B-E9B2-36F5BDFE0048}"/>
                    </a:ext>
                  </a:extLst>
                </p:cNvPr>
                <p:cNvSpPr txBox="1"/>
                <p:nvPr/>
              </p:nvSpPr>
              <p:spPr>
                <a:xfrm>
                  <a:off x="3216" y="1585"/>
                  <a:ext cx="441" cy="53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𝑆</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2" name="Object 12">
                  <a:extLst>
                    <a:ext uri="{FF2B5EF4-FFF2-40B4-BE49-F238E27FC236}">
                      <a16:creationId xmlns:a16="http://schemas.microsoft.com/office/drawing/2014/main" id="{C4804E2B-6D7B-405B-BCF6-E71D4F0C8C5C}"/>
                    </a:ext>
                  </a:extLst>
                </p:cNvPr>
                <p:cNvSpPr txBox="1">
                  <a:spLocks noRot="1" noChangeAspect="1" noMove="1" noResize="1" noEditPoints="1" noAdjustHandles="1" noChangeArrowheads="1" noChangeShapeType="1" noTextEdit="1"/>
                </p:cNvSpPr>
                <p:nvPr/>
              </p:nvSpPr>
              <p:spPr>
                <a:xfrm>
                  <a:off x="3216" y="1585"/>
                  <a:ext cx="441" cy="535"/>
                </a:xfrm>
                <a:prstGeom prst="rect">
                  <a:avLst/>
                </a:prstGeom>
                <a:blipFill>
                  <a:blip r:embed="rId11"/>
                  <a:stretch>
                    <a:fillRect/>
                  </a:stretch>
                </a:blipFill>
                <a:ln w="38100">
                  <a:noFill/>
                  <a:miter/>
                </a:ln>
              </p:spPr>
              <p:txBody>
                <a:bodyPr/>
                <a:lstStyle/>
                <a:p>
                  <a:r>
                    <a:rPr lang="en-US">
                      <a:noFill/>
                    </a:rPr>
                    <a:t> </a:t>
                  </a:r>
                </a:p>
              </p:txBody>
            </p:sp>
          </mc:Fallback>
        </mc:AlternateContent>
      </p:grpSp>
      <p:sp>
        <p:nvSpPr>
          <p:cNvPr id="32" name="Rectangle 66">
            <a:extLst>
              <a:ext uri="{FF2B5EF4-FFF2-40B4-BE49-F238E27FC236}">
                <a16:creationId xmlns:a16="http://schemas.microsoft.com/office/drawing/2014/main" id="{4B5BF505-B874-43D1-BAA1-68FB30299D89}"/>
              </a:ext>
            </a:extLst>
          </p:cNvPr>
          <p:cNvSpPr/>
          <p:nvPr/>
        </p:nvSpPr>
        <p:spPr>
          <a:xfrm>
            <a:off x="5713590" y="3699222"/>
            <a:ext cx="4471061" cy="584775"/>
          </a:xfrm>
          <a:prstGeom prst="rect">
            <a:avLst/>
          </a:prstGeom>
          <a:noFill/>
          <a:ln w="9525">
            <a:noFill/>
          </a:ln>
        </p:spPr>
        <p:txBody>
          <a:bodyPr wrap="square" anchor="t" anchorCtr="0">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电荷仍分布在表面上</a:t>
            </a:r>
          </a:p>
        </p:txBody>
      </p:sp>
    </p:spTree>
    <p:extLst>
      <p:ext uri="{BB962C8B-B14F-4D97-AF65-F5344CB8AC3E}">
        <p14:creationId xmlns:p14="http://schemas.microsoft.com/office/powerpoint/2010/main" val="273439355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85" grpId="0"/>
      <p:bldP spid="10" grpId="0"/>
      <p:bldP spid="188"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4614BD-3B44-1AEB-53E2-A0E220BA4F65}"/>
              </a:ext>
            </a:extLst>
          </p:cNvPr>
          <p:cNvPicPr>
            <a:picLocks noChangeAspect="1"/>
          </p:cNvPicPr>
          <p:nvPr/>
        </p:nvPicPr>
        <p:blipFill>
          <a:blip r:embed="rId2"/>
          <a:stretch>
            <a:fillRect/>
          </a:stretch>
        </p:blipFill>
        <p:spPr>
          <a:xfrm>
            <a:off x="1536869" y="1026160"/>
            <a:ext cx="2823825" cy="5471160"/>
          </a:xfrm>
          <a:prstGeom prst="rect">
            <a:avLst/>
          </a:prstGeom>
        </p:spPr>
      </p:pic>
      <p:sp>
        <p:nvSpPr>
          <p:cNvPr id="5" name="文本框 4">
            <a:extLst>
              <a:ext uri="{FF2B5EF4-FFF2-40B4-BE49-F238E27FC236}">
                <a16:creationId xmlns:a16="http://schemas.microsoft.com/office/drawing/2014/main" id="{DDEAFF91-F2B9-CD50-C877-71F8B097539D}"/>
              </a:ext>
            </a:extLst>
          </p:cNvPr>
          <p:cNvSpPr txBox="1"/>
          <p:nvPr/>
        </p:nvSpPr>
        <p:spPr>
          <a:xfrm>
            <a:off x="4675018" y="803344"/>
            <a:ext cx="7157720" cy="5632311"/>
          </a:xfrm>
          <a:prstGeom prst="rect">
            <a:avLst/>
          </a:prstGeom>
          <a:noFill/>
        </p:spPr>
        <p:txBody>
          <a:bodyPr wrap="square">
            <a:spAutoFit/>
          </a:bodyPr>
          <a:lstStyle/>
          <a:p>
            <a:pPr marL="457200" indent="-457200" algn="l">
              <a:buFontTx/>
              <a:buChar char="-"/>
            </a:pPr>
            <a:r>
              <a:rPr lang="zh-CN" altLang="en-US" sz="2600" i="0" dirty="0">
                <a:solidFill>
                  <a:srgbClr val="121212"/>
                </a:solidFill>
                <a:effectLst/>
                <a:latin typeface="华文楷体" panose="02010600040101010101" pitchFamily="2" charset="-122"/>
                <a:ea typeface="华文楷体" panose="02010600040101010101" pitchFamily="2" charset="-122"/>
              </a:rPr>
              <a:t>硒鼓的基体是铝，表面是硒。硒在黑暗下是绝缘体，在光照下是导体。</a:t>
            </a:r>
            <a:endParaRPr lang="en-US" altLang="zh-CN" sz="260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dirty="0">
              <a:solidFill>
                <a:srgbClr val="121212"/>
              </a:solidFill>
              <a:latin typeface="华文楷体" panose="02010600040101010101" pitchFamily="2" charset="-122"/>
              <a:ea typeface="华文楷体" panose="02010600040101010101" pitchFamily="2" charset="-122"/>
            </a:endParaRPr>
          </a:p>
          <a:p>
            <a:pPr marL="457200" indent="-457200" algn="l">
              <a:buFontTx/>
              <a:buChar char="-"/>
            </a:pPr>
            <a:r>
              <a:rPr lang="zh-CN" altLang="en-US" sz="2600" i="0" dirty="0">
                <a:solidFill>
                  <a:srgbClr val="121212"/>
                </a:solidFill>
                <a:effectLst/>
                <a:latin typeface="华文楷体" panose="02010600040101010101" pitchFamily="2" charset="-122"/>
                <a:ea typeface="华文楷体" panose="02010600040101010101" pitchFamily="2" charset="-122"/>
              </a:rPr>
              <a:t>在黑暗中让硒鼓表面的硒带负电，而铝基体感应出正电。</a:t>
            </a:r>
            <a:endParaRPr lang="en-US" altLang="zh-CN" sz="260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dirty="0">
              <a:solidFill>
                <a:srgbClr val="121212"/>
              </a:solidFill>
              <a:latin typeface="华文楷体" panose="02010600040101010101" pitchFamily="2" charset="-122"/>
              <a:ea typeface="华文楷体" panose="02010600040101010101" pitchFamily="2" charset="-122"/>
            </a:endParaRPr>
          </a:p>
          <a:p>
            <a:pPr marL="457200" indent="-457200" algn="l">
              <a:buFontTx/>
              <a:buChar char="-"/>
            </a:pPr>
            <a:r>
              <a:rPr lang="zh-CN" altLang="en-US" sz="2600" i="0" dirty="0">
                <a:solidFill>
                  <a:srgbClr val="121212"/>
                </a:solidFill>
                <a:effectLst/>
                <a:latin typeface="华文楷体" panose="02010600040101010101" pitchFamily="2" charset="-122"/>
                <a:ea typeface="华文楷体" panose="02010600040101010101" pitchFamily="2" charset="-122"/>
              </a:rPr>
              <a:t>用光扫描需要复印的内容，没有字迹的地方光可以透过，硒成为导体，硒和铝基体的电荷中和</a:t>
            </a:r>
            <a:r>
              <a:rPr lang="zh-CN" altLang="en-US" sz="2600" dirty="0">
                <a:solidFill>
                  <a:srgbClr val="121212"/>
                </a:solidFill>
                <a:latin typeface="华文楷体" panose="02010600040101010101" pitchFamily="2" charset="-122"/>
                <a:ea typeface="华文楷体" panose="02010600040101010101" pitchFamily="2" charset="-122"/>
              </a:rPr>
              <a:t>；</a:t>
            </a:r>
            <a:r>
              <a:rPr lang="zh-CN" altLang="en-US" sz="2600" i="0" dirty="0">
                <a:solidFill>
                  <a:srgbClr val="121212"/>
                </a:solidFill>
                <a:effectLst/>
                <a:latin typeface="华文楷体" panose="02010600040101010101" pitchFamily="2" charset="-122"/>
                <a:ea typeface="华文楷体" panose="02010600040101010101" pitchFamily="2" charset="-122"/>
              </a:rPr>
              <a:t>而有字迹的地方光就无法透过，硒依然带负电。这样在硒鼓上就有一个由电荷形成的“影像”。</a:t>
            </a:r>
            <a:endParaRPr lang="en-US" altLang="zh-CN" sz="260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r>
              <a:rPr lang="zh-CN" altLang="en-US" sz="2600" i="0" dirty="0">
                <a:solidFill>
                  <a:srgbClr val="121212"/>
                </a:solidFill>
                <a:effectLst/>
                <a:latin typeface="华文楷体" panose="02010600040101010101" pitchFamily="2" charset="-122"/>
                <a:ea typeface="华文楷体" panose="02010600040101010101" pitchFamily="2" charset="-122"/>
              </a:rPr>
              <a:t>硒鼓带负电的区域吸附带正电的碳粉，再将碳粉转移到带负电荷的复印纸上</a:t>
            </a:r>
            <a:endParaRPr lang="en-US" altLang="zh-CN" sz="260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r>
              <a:rPr lang="zh-CN" altLang="en-US" sz="2600" i="0" dirty="0">
                <a:solidFill>
                  <a:srgbClr val="121212"/>
                </a:solidFill>
                <a:effectLst/>
                <a:latin typeface="华文楷体" panose="02010600040101010101" pitchFamily="2" charset="-122"/>
                <a:ea typeface="华文楷体" panose="02010600040101010101" pitchFamily="2" charset="-122"/>
              </a:rPr>
              <a:t>烘烤纸张让碳粉固定在纸张上</a:t>
            </a:r>
          </a:p>
        </p:txBody>
      </p:sp>
      <p:sp>
        <p:nvSpPr>
          <p:cNvPr id="4" name="矩形 3">
            <a:extLst>
              <a:ext uri="{FF2B5EF4-FFF2-40B4-BE49-F238E27FC236}">
                <a16:creationId xmlns:a16="http://schemas.microsoft.com/office/drawing/2014/main" id="{5692B09F-4779-4C60-82F4-DA1FC5931B2C}"/>
              </a:ext>
            </a:extLst>
          </p:cNvPr>
          <p:cNvSpPr/>
          <p:nvPr/>
        </p:nvSpPr>
        <p:spPr>
          <a:xfrm>
            <a:off x="589280" y="360680"/>
            <a:ext cx="2666114" cy="584775"/>
          </a:xfrm>
          <a:prstGeom prst="rect">
            <a:avLst/>
          </a:prstGeom>
        </p:spPr>
        <p:txBody>
          <a:bodyPr wrap="none">
            <a:spAutoFit/>
          </a:bodyPr>
          <a:lstStyle/>
          <a:p>
            <a:pPr marL="457200" lvl="0" indent="-457200">
              <a:buFont typeface="Wingdings" panose="05000000000000000000" pitchFamily="2" charset="2"/>
              <a:buChar char="q"/>
            </a:pPr>
            <a:r>
              <a:rPr kumimoji="0" lang="zh-CN" altLang="en-US" sz="3200" b="1" i="0" u="none" strike="noStrike" kern="0" cap="none" spc="-5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cs typeface="Times New Roman" panose="02020603050405020304" pitchFamily="18" charset="0"/>
              </a:rPr>
              <a:t>静电复印机</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4300026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6">
            <a:extLst>
              <a:ext uri="{FF2B5EF4-FFF2-40B4-BE49-F238E27FC236}">
                <a16:creationId xmlns:a16="http://schemas.microsoft.com/office/drawing/2014/main" id="{8F32208B-2AFC-4541-8688-1E10FC95C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202" y="2078811"/>
            <a:ext cx="4613550" cy="3294799"/>
          </a:xfrm>
          <a:prstGeom prst="rect">
            <a:avLst/>
          </a:prstGeom>
        </p:spPr>
      </p:pic>
      <p:sp>
        <p:nvSpPr>
          <p:cNvPr id="3" name="矩形 2">
            <a:extLst>
              <a:ext uri="{FF2B5EF4-FFF2-40B4-BE49-F238E27FC236}">
                <a16:creationId xmlns:a16="http://schemas.microsoft.com/office/drawing/2014/main" id="{44716F21-4AAF-44C2-9141-B2E6052C17BB}"/>
              </a:ext>
            </a:extLst>
          </p:cNvPr>
          <p:cNvSpPr/>
          <p:nvPr/>
        </p:nvSpPr>
        <p:spPr>
          <a:xfrm>
            <a:off x="486061" y="511408"/>
            <a:ext cx="6096541"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F0FCBE55-6CF3-4265-9A66-BD714FE613C8}"/>
              </a:ext>
            </a:extLst>
          </p:cNvPr>
          <p:cNvSpPr txBox="1"/>
          <p:nvPr/>
        </p:nvSpPr>
        <p:spPr>
          <a:xfrm>
            <a:off x="5575121" y="1494036"/>
            <a:ext cx="3877985" cy="584775"/>
          </a:xfrm>
          <a:prstGeom prst="rect">
            <a:avLst/>
          </a:prstGeom>
          <a:noFill/>
        </p:spPr>
        <p:txBody>
          <a:bodyPr wrap="none" rtlCol="0">
            <a:spAutoFit/>
          </a:bodyPr>
          <a:lstStyle/>
          <a:p>
            <a:r>
              <a:rPr lang="zh-CN" altLang="en-US" sz="3200" dirty="0"/>
              <a:t>表面电荷分布规律：</a:t>
            </a:r>
            <a:endParaRPr lang="en-US" sz="3200" dirty="0"/>
          </a:p>
        </p:txBody>
      </p:sp>
      <p:sp>
        <p:nvSpPr>
          <p:cNvPr id="5" name="文本框 4">
            <a:extLst>
              <a:ext uri="{FF2B5EF4-FFF2-40B4-BE49-F238E27FC236}">
                <a16:creationId xmlns:a16="http://schemas.microsoft.com/office/drawing/2014/main" id="{7213437C-C3A9-4267-9543-F6DD7C1943BE}"/>
              </a:ext>
            </a:extLst>
          </p:cNvPr>
          <p:cNvSpPr txBox="1"/>
          <p:nvPr/>
        </p:nvSpPr>
        <p:spPr>
          <a:xfrm>
            <a:off x="5759746" y="2669597"/>
            <a:ext cx="1654620" cy="584775"/>
          </a:xfrm>
          <a:prstGeom prst="rect">
            <a:avLst/>
          </a:prstGeom>
          <a:noFill/>
        </p:spPr>
        <p:txBody>
          <a:bodyPr wrap="none" rtlCol="0">
            <a:spAutoFit/>
          </a:bodyPr>
          <a:lstStyle/>
          <a:p>
            <a:r>
              <a:rPr lang="en-US" altLang="zh-CN" sz="3200" dirty="0"/>
              <a:t>- </a:t>
            </a:r>
            <a:r>
              <a:rPr lang="zh-CN" altLang="en-US" sz="3200" dirty="0"/>
              <a:t>场强？</a:t>
            </a:r>
            <a:endParaRPr lang="en-US" sz="3200" dirty="0"/>
          </a:p>
        </p:txBody>
      </p:sp>
      <p:sp>
        <p:nvSpPr>
          <p:cNvPr id="6" name="文本框 5">
            <a:extLst>
              <a:ext uri="{FF2B5EF4-FFF2-40B4-BE49-F238E27FC236}">
                <a16:creationId xmlns:a16="http://schemas.microsoft.com/office/drawing/2014/main" id="{26065682-54B8-4C9A-908C-68D3F55C85C4}"/>
              </a:ext>
            </a:extLst>
          </p:cNvPr>
          <p:cNvSpPr txBox="1"/>
          <p:nvPr/>
        </p:nvSpPr>
        <p:spPr>
          <a:xfrm>
            <a:off x="5759746" y="3845158"/>
            <a:ext cx="2549096" cy="584775"/>
          </a:xfrm>
          <a:prstGeom prst="rect">
            <a:avLst/>
          </a:prstGeom>
          <a:noFill/>
        </p:spPr>
        <p:txBody>
          <a:bodyPr wrap="none" rtlCol="0">
            <a:spAutoFit/>
          </a:bodyPr>
          <a:lstStyle/>
          <a:p>
            <a:r>
              <a:rPr lang="en-US" altLang="zh-CN" sz="3200" dirty="0"/>
              <a:t>- </a:t>
            </a:r>
            <a:r>
              <a:rPr lang="zh-CN" altLang="en-US" sz="3200" dirty="0"/>
              <a:t>导体形状？</a:t>
            </a:r>
            <a:endParaRPr lang="en-US" sz="3200" dirty="0"/>
          </a:p>
        </p:txBody>
      </p:sp>
      <p:sp>
        <p:nvSpPr>
          <p:cNvPr id="7" name="椭圆 6">
            <a:extLst>
              <a:ext uri="{FF2B5EF4-FFF2-40B4-BE49-F238E27FC236}">
                <a16:creationId xmlns:a16="http://schemas.microsoft.com/office/drawing/2014/main" id="{B2497FB6-A393-4FF0-A721-C30103A515E2}"/>
              </a:ext>
            </a:extLst>
          </p:cNvPr>
          <p:cNvSpPr/>
          <p:nvPr/>
        </p:nvSpPr>
        <p:spPr>
          <a:xfrm>
            <a:off x="3528698" y="2879078"/>
            <a:ext cx="495468" cy="14138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579839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61B92B29-4940-408A-A313-C95EDAC75C95}"/>
              </a:ext>
            </a:extLst>
          </p:cNvPr>
          <p:cNvSpPr txBox="1">
            <a:spLocks noChangeArrowheads="1"/>
          </p:cNvSpPr>
          <p:nvPr/>
        </p:nvSpPr>
        <p:spPr bwMode="auto">
          <a:xfrm>
            <a:off x="684916" y="404258"/>
            <a:ext cx="50203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导体表面电荷分布</a:t>
            </a:r>
          </a:p>
        </p:txBody>
      </p:sp>
      <mc:AlternateContent xmlns:mc="http://schemas.openxmlformats.org/markup-compatibility/2006" xmlns:a14="http://schemas.microsoft.com/office/drawing/2010/main">
        <mc:Choice Requires="a14">
          <p:sp>
            <p:nvSpPr>
              <p:cNvPr id="18450" name="Object 18">
                <a:extLst>
                  <a:ext uri="{FF2B5EF4-FFF2-40B4-BE49-F238E27FC236}">
                    <a16:creationId xmlns:a16="http://schemas.microsoft.com/office/drawing/2014/main" id="{566950D7-B727-4580-B56A-0456A5447B24}"/>
                  </a:ext>
                </a:extLst>
              </p:cNvPr>
              <p:cNvSpPr txBox="1"/>
              <p:nvPr/>
            </p:nvSpPr>
            <p:spPr bwMode="auto">
              <a:xfrm>
                <a:off x="5721669" y="5302349"/>
                <a:ext cx="1752600"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b="0" i="1" kern="0">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8450" name="Object 18">
                <a:extLst>
                  <a:ext uri="{FF2B5EF4-FFF2-40B4-BE49-F238E27FC236}">
                    <a16:creationId xmlns:a16="http://schemas.microsoft.com/office/drawing/2014/main" id="{566950D7-B727-4580-B56A-0456A5447B24}"/>
                  </a:ext>
                </a:extLst>
              </p:cNvPr>
              <p:cNvSpPr txBox="1">
                <a:spLocks noRot="1" noChangeAspect="1" noMove="1" noResize="1" noEditPoints="1" noAdjustHandles="1" noChangeArrowheads="1" noChangeShapeType="1" noTextEdit="1"/>
              </p:cNvSpPr>
              <p:nvPr/>
            </p:nvSpPr>
            <p:spPr bwMode="auto">
              <a:xfrm>
                <a:off x="5721669" y="5302349"/>
                <a:ext cx="1752600" cy="1219200"/>
              </a:xfrm>
              <a:prstGeom prst="rect">
                <a:avLst/>
              </a:prstGeom>
              <a:blipFill>
                <a:blip r:embed="rId2"/>
                <a:stretch>
                  <a:fillRect/>
                </a:stretch>
              </a:blipFill>
              <a:ln w="9525">
                <a:noFill/>
                <a:miter lim="800000"/>
                <a:headEnd/>
                <a:tailEnd/>
              </a:ln>
              <a:effectLst/>
            </p:spPr>
            <p:txBody>
              <a:bodyPr/>
              <a:lstStyle/>
              <a:p>
                <a:r>
                  <a:rPr lang="en-US">
                    <a:noFill/>
                  </a:rPr>
                  <a:t> </a:t>
                </a:r>
              </a:p>
            </p:txBody>
          </p:sp>
        </mc:Fallback>
      </mc:AlternateContent>
      <p:sp>
        <p:nvSpPr>
          <p:cNvPr id="18453" name="Line 21">
            <a:extLst>
              <a:ext uri="{FF2B5EF4-FFF2-40B4-BE49-F238E27FC236}">
                <a16:creationId xmlns:a16="http://schemas.microsoft.com/office/drawing/2014/main" id="{6A283827-1458-43E8-A785-E90FB3276EE9}"/>
              </a:ext>
            </a:extLst>
          </p:cNvPr>
          <p:cNvSpPr>
            <a:spLocks noChangeShapeType="1"/>
          </p:cNvSpPr>
          <p:nvPr/>
        </p:nvSpPr>
        <p:spPr bwMode="auto">
          <a:xfrm rot="21593004" flipH="1">
            <a:off x="7754938" y="1462088"/>
            <a:ext cx="838200" cy="9445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4" name="Line 22">
            <a:extLst>
              <a:ext uri="{FF2B5EF4-FFF2-40B4-BE49-F238E27FC236}">
                <a16:creationId xmlns:a16="http://schemas.microsoft.com/office/drawing/2014/main" id="{368944CA-AB2E-4F94-B45F-AB3551A86F8E}"/>
              </a:ext>
            </a:extLst>
          </p:cNvPr>
          <p:cNvSpPr>
            <a:spLocks noChangeShapeType="1"/>
          </p:cNvSpPr>
          <p:nvPr/>
        </p:nvSpPr>
        <p:spPr bwMode="auto">
          <a:xfrm rot="21593004" flipH="1">
            <a:off x="7907338" y="1698626"/>
            <a:ext cx="838200" cy="94456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5" name="Line 23">
            <a:extLst>
              <a:ext uri="{FF2B5EF4-FFF2-40B4-BE49-F238E27FC236}">
                <a16:creationId xmlns:a16="http://schemas.microsoft.com/office/drawing/2014/main" id="{561E0BCA-5BE8-477E-9461-1AB1E47C4CC2}"/>
              </a:ext>
            </a:extLst>
          </p:cNvPr>
          <p:cNvSpPr>
            <a:spLocks noChangeShapeType="1"/>
          </p:cNvSpPr>
          <p:nvPr/>
        </p:nvSpPr>
        <p:spPr bwMode="auto">
          <a:xfrm rot="21593004" flipH="1">
            <a:off x="8059738" y="1935163"/>
            <a:ext cx="838200" cy="9445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6" name="Line 24">
            <a:extLst>
              <a:ext uri="{FF2B5EF4-FFF2-40B4-BE49-F238E27FC236}">
                <a16:creationId xmlns:a16="http://schemas.microsoft.com/office/drawing/2014/main" id="{69E22D28-A3EB-481B-894D-22CFE54A5695}"/>
              </a:ext>
            </a:extLst>
          </p:cNvPr>
          <p:cNvSpPr>
            <a:spLocks noChangeShapeType="1"/>
          </p:cNvSpPr>
          <p:nvPr/>
        </p:nvSpPr>
        <p:spPr bwMode="auto">
          <a:xfrm rot="21593004" flipH="1">
            <a:off x="8212138" y="2168525"/>
            <a:ext cx="838200" cy="94615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7" name="Line 25">
            <a:extLst>
              <a:ext uri="{FF2B5EF4-FFF2-40B4-BE49-F238E27FC236}">
                <a16:creationId xmlns:a16="http://schemas.microsoft.com/office/drawing/2014/main" id="{BC7E9562-DF25-4FA0-8380-361BBD36DDD1}"/>
              </a:ext>
            </a:extLst>
          </p:cNvPr>
          <p:cNvSpPr>
            <a:spLocks noChangeShapeType="1"/>
          </p:cNvSpPr>
          <p:nvPr/>
        </p:nvSpPr>
        <p:spPr bwMode="auto">
          <a:xfrm rot="21593004" flipH="1">
            <a:off x="8366125" y="2405063"/>
            <a:ext cx="838200" cy="94456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8" name="Line 26">
            <a:extLst>
              <a:ext uri="{FF2B5EF4-FFF2-40B4-BE49-F238E27FC236}">
                <a16:creationId xmlns:a16="http://schemas.microsoft.com/office/drawing/2014/main" id="{C40CC0DD-3FB3-4D15-9A07-AA79A65DD6E2}"/>
              </a:ext>
            </a:extLst>
          </p:cNvPr>
          <p:cNvSpPr>
            <a:spLocks noChangeShapeType="1"/>
          </p:cNvSpPr>
          <p:nvPr/>
        </p:nvSpPr>
        <p:spPr bwMode="auto">
          <a:xfrm rot="21593004" flipH="1">
            <a:off x="8518525" y="2641601"/>
            <a:ext cx="838200" cy="94456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9" name="Line 27">
            <a:extLst>
              <a:ext uri="{FF2B5EF4-FFF2-40B4-BE49-F238E27FC236}">
                <a16:creationId xmlns:a16="http://schemas.microsoft.com/office/drawing/2014/main" id="{BA363B2C-55F0-40BB-B30B-7151FD187AB9}"/>
              </a:ext>
            </a:extLst>
          </p:cNvPr>
          <p:cNvSpPr>
            <a:spLocks noChangeShapeType="1"/>
          </p:cNvSpPr>
          <p:nvPr/>
        </p:nvSpPr>
        <p:spPr bwMode="auto">
          <a:xfrm rot="21593004" flipH="1">
            <a:off x="8836025" y="2901950"/>
            <a:ext cx="685800" cy="8270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61" name="Text Box 29">
            <a:extLst>
              <a:ext uri="{FF2B5EF4-FFF2-40B4-BE49-F238E27FC236}">
                <a16:creationId xmlns:a16="http://schemas.microsoft.com/office/drawing/2014/main" id="{A1B45490-3CCA-4A9C-93EB-962FC06830CC}"/>
              </a:ext>
            </a:extLst>
          </p:cNvPr>
          <p:cNvSpPr txBox="1">
            <a:spLocks noChangeArrowheads="1"/>
          </p:cNvSpPr>
          <p:nvPr/>
        </p:nvSpPr>
        <p:spPr bwMode="auto">
          <a:xfrm rot="21593004">
            <a:off x="7467600" y="2364909"/>
            <a:ext cx="11636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a:solidFill>
                  <a:srgbClr val="FF3300"/>
                </a:solidFill>
                <a:ea typeface="华文楷体" panose="02010600040101010101" pitchFamily="2" charset="-122"/>
                <a:cs typeface="Times New Roman" panose="02020603050405020304" pitchFamily="18" charset="0"/>
              </a:rPr>
              <a:t>导体</a:t>
            </a:r>
          </a:p>
        </p:txBody>
      </p:sp>
      <p:sp>
        <p:nvSpPr>
          <p:cNvPr id="18466" name="Text Box 34">
            <a:extLst>
              <a:ext uri="{FF2B5EF4-FFF2-40B4-BE49-F238E27FC236}">
                <a16:creationId xmlns:a16="http://schemas.microsoft.com/office/drawing/2014/main" id="{B43EA3EA-4671-49DC-82E3-74468873261A}"/>
              </a:ext>
            </a:extLst>
          </p:cNvPr>
          <p:cNvSpPr txBox="1">
            <a:spLocks noChangeArrowheads="1"/>
          </p:cNvSpPr>
          <p:nvPr/>
        </p:nvSpPr>
        <p:spPr bwMode="auto">
          <a:xfrm>
            <a:off x="2124998" y="1174554"/>
            <a:ext cx="388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导体表面电荷面密度</a:t>
            </a:r>
          </a:p>
        </p:txBody>
      </p:sp>
      <p:sp>
        <p:nvSpPr>
          <p:cNvPr id="18469" name="Text Box 37">
            <a:extLst>
              <a:ext uri="{FF2B5EF4-FFF2-40B4-BE49-F238E27FC236}">
                <a16:creationId xmlns:a16="http://schemas.microsoft.com/office/drawing/2014/main" id="{A51E906F-C134-4C5F-8F95-32C6AF78D23F}"/>
              </a:ext>
            </a:extLst>
          </p:cNvPr>
          <p:cNvSpPr txBox="1">
            <a:spLocks noChangeArrowheads="1"/>
          </p:cNvSpPr>
          <p:nvPr/>
        </p:nvSpPr>
        <p:spPr bwMode="auto">
          <a:xfrm>
            <a:off x="753442" y="2014487"/>
            <a:ext cx="462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设 </a:t>
            </a:r>
            <a:r>
              <a:rPr lang="en-US" altLang="zh-CN" sz="2800" dirty="0">
                <a:ea typeface="华文楷体" panose="02010600040101010101" pitchFamily="2" charset="-122"/>
                <a:cs typeface="Times New Roman" panose="02020603050405020304" pitchFamily="18" charset="0"/>
              </a:rPr>
              <a:t>P</a:t>
            </a:r>
            <a:r>
              <a:rPr lang="zh-CN" altLang="en-US" sz="2800" dirty="0">
                <a:ea typeface="华文楷体" panose="02010600040101010101" pitchFamily="2" charset="-122"/>
                <a:cs typeface="Times New Roman" panose="02020603050405020304" pitchFamily="18" charset="0"/>
              </a:rPr>
              <a:t>点紧靠导体外表面</a:t>
            </a:r>
          </a:p>
        </p:txBody>
      </p:sp>
      <p:grpSp>
        <p:nvGrpSpPr>
          <p:cNvPr id="18473" name="Group 41">
            <a:extLst>
              <a:ext uri="{FF2B5EF4-FFF2-40B4-BE49-F238E27FC236}">
                <a16:creationId xmlns:a16="http://schemas.microsoft.com/office/drawing/2014/main" id="{4F7E5ADF-2425-4EE2-B0FE-81AB5EBB6AF3}"/>
              </a:ext>
            </a:extLst>
          </p:cNvPr>
          <p:cNvGrpSpPr>
            <a:grpSpLocks/>
          </p:cNvGrpSpPr>
          <p:nvPr/>
        </p:nvGrpSpPr>
        <p:grpSpPr bwMode="auto">
          <a:xfrm>
            <a:off x="8891589" y="839788"/>
            <a:ext cx="420687" cy="685800"/>
            <a:chOff x="5290" y="384"/>
            <a:chExt cx="265" cy="432"/>
          </a:xfrm>
        </p:grpSpPr>
        <p:sp>
          <p:nvSpPr>
            <p:cNvPr id="8222" name="Oval 39">
              <a:extLst>
                <a:ext uri="{FF2B5EF4-FFF2-40B4-BE49-F238E27FC236}">
                  <a16:creationId xmlns:a16="http://schemas.microsoft.com/office/drawing/2014/main" id="{3250DCDC-A070-480B-B40E-171A0918EFD2}"/>
                </a:ext>
              </a:extLst>
            </p:cNvPr>
            <p:cNvSpPr>
              <a:spLocks noChangeArrowheads="1"/>
            </p:cNvSpPr>
            <p:nvPr/>
          </p:nvSpPr>
          <p:spPr bwMode="auto">
            <a:xfrm>
              <a:off x="5328" y="76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23" name="Object 40">
                  <a:extLst>
                    <a:ext uri="{FF2B5EF4-FFF2-40B4-BE49-F238E27FC236}">
                      <a16:creationId xmlns:a16="http://schemas.microsoft.com/office/drawing/2014/main" id="{CA7D56FC-1309-4335-B5B8-413C7B03E226}"/>
                    </a:ext>
                  </a:extLst>
                </p:cNvPr>
                <p:cNvSpPr txBox="1"/>
                <p:nvPr/>
              </p:nvSpPr>
              <p:spPr bwMode="auto">
                <a:xfrm>
                  <a:off x="5290" y="384"/>
                  <a:ext cx="265" cy="288"/>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𝑃</m:t>
                        </m:r>
                      </m:oMath>
                    </m:oMathPara>
                  </a14:m>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223" name="Object 40">
                  <a:extLst>
                    <a:ext uri="{FF2B5EF4-FFF2-40B4-BE49-F238E27FC236}">
                      <a16:creationId xmlns:a16="http://schemas.microsoft.com/office/drawing/2014/main" id="{CA7D56FC-1309-4335-B5B8-413C7B03E226}"/>
                    </a:ext>
                  </a:extLst>
                </p:cNvPr>
                <p:cNvSpPr txBox="1">
                  <a:spLocks noRot="1" noChangeAspect="1" noMove="1" noResize="1" noEditPoints="1" noAdjustHandles="1" noChangeArrowheads="1" noChangeShapeType="1" noTextEdit="1"/>
                </p:cNvSpPr>
                <p:nvPr/>
              </p:nvSpPr>
              <p:spPr bwMode="auto">
                <a:xfrm>
                  <a:off x="5290" y="384"/>
                  <a:ext cx="265" cy="288"/>
                </a:xfrm>
                <a:prstGeom prst="rect">
                  <a:avLst/>
                </a:prstGeom>
                <a:blipFill>
                  <a:blip r:embed="rId3"/>
                  <a:stretch>
                    <a:fillRect/>
                  </a:stretch>
                </a:blipFill>
                <a:ln>
                  <a:noFill/>
                </a:ln>
                <a:effectLst/>
              </p:spPr>
              <p:txBody>
                <a:bodyPr/>
                <a:lstStyle/>
                <a:p>
                  <a:r>
                    <a:rPr lang="en-US">
                      <a:noFill/>
                    </a:rPr>
                    <a:t> </a:t>
                  </a:r>
                </a:p>
              </p:txBody>
            </p:sp>
          </mc:Fallback>
        </mc:AlternateContent>
      </p:grpSp>
      <p:sp>
        <p:nvSpPr>
          <p:cNvPr id="18474" name="Oval 42">
            <a:extLst>
              <a:ext uri="{FF2B5EF4-FFF2-40B4-BE49-F238E27FC236}">
                <a16:creationId xmlns:a16="http://schemas.microsoft.com/office/drawing/2014/main" id="{8BFE13C5-E57E-439D-BB18-D2AA3108B0A0}"/>
              </a:ext>
            </a:extLst>
          </p:cNvPr>
          <p:cNvSpPr>
            <a:spLocks noChangeArrowheads="1"/>
          </p:cNvSpPr>
          <p:nvPr/>
        </p:nvSpPr>
        <p:spPr bwMode="auto">
          <a:xfrm rot="19371331">
            <a:off x="8763001" y="957263"/>
            <a:ext cx="288925" cy="1079500"/>
          </a:xfrm>
          <a:prstGeom prst="ellipse">
            <a:avLst/>
          </a:prstGeom>
          <a:noFill/>
          <a:ln w="3810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ea typeface="华文楷体" panose="02010600040101010101" pitchFamily="2" charset="-122"/>
              <a:cs typeface="Times New Roman" panose="02020603050405020304" pitchFamily="18" charset="0"/>
            </a:endParaRPr>
          </a:p>
        </p:txBody>
      </p:sp>
      <p:sp>
        <p:nvSpPr>
          <p:cNvPr id="18475" name="Line 43">
            <a:extLst>
              <a:ext uri="{FF2B5EF4-FFF2-40B4-BE49-F238E27FC236}">
                <a16:creationId xmlns:a16="http://schemas.microsoft.com/office/drawing/2014/main" id="{C6347B35-2E82-44D2-9A78-F4537E6C43E0}"/>
              </a:ext>
            </a:extLst>
          </p:cNvPr>
          <p:cNvSpPr>
            <a:spLocks noChangeShapeType="1"/>
          </p:cNvSpPr>
          <p:nvPr/>
        </p:nvSpPr>
        <p:spPr bwMode="auto">
          <a:xfrm flipH="1">
            <a:off x="8834439" y="1893889"/>
            <a:ext cx="433387" cy="358775"/>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76" name="Line 44">
            <a:extLst>
              <a:ext uri="{FF2B5EF4-FFF2-40B4-BE49-F238E27FC236}">
                <a16:creationId xmlns:a16="http://schemas.microsoft.com/office/drawing/2014/main" id="{0300AC9E-0795-48BC-85BE-2057FA8DE854}"/>
              </a:ext>
            </a:extLst>
          </p:cNvPr>
          <p:cNvSpPr>
            <a:spLocks noChangeShapeType="1"/>
          </p:cNvSpPr>
          <p:nvPr/>
        </p:nvSpPr>
        <p:spPr bwMode="auto">
          <a:xfrm flipH="1">
            <a:off x="8210551" y="1081089"/>
            <a:ext cx="384175" cy="358775"/>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77" name="Oval 45">
            <a:extLst>
              <a:ext uri="{FF2B5EF4-FFF2-40B4-BE49-F238E27FC236}">
                <a16:creationId xmlns:a16="http://schemas.microsoft.com/office/drawing/2014/main" id="{071AE150-C268-450F-90B5-34AA283D4125}"/>
              </a:ext>
            </a:extLst>
          </p:cNvPr>
          <p:cNvSpPr>
            <a:spLocks noChangeArrowheads="1"/>
          </p:cNvSpPr>
          <p:nvPr/>
        </p:nvSpPr>
        <p:spPr bwMode="auto">
          <a:xfrm rot="19371331">
            <a:off x="8382000" y="1323976"/>
            <a:ext cx="363538" cy="1008063"/>
          </a:xfrm>
          <a:prstGeom prst="ellipse">
            <a:avLst/>
          </a:prstGeom>
          <a:noFill/>
          <a:ln w="57150" cap="rnd">
            <a:solidFill>
              <a:srgbClr val="000099"/>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ea typeface="华文楷体" panose="02010600040101010101" pitchFamily="2" charset="-122"/>
              <a:cs typeface="Times New Roman" panose="02020603050405020304" pitchFamily="18" charset="0"/>
            </a:endParaRPr>
          </a:p>
        </p:txBody>
      </p:sp>
      <p:grpSp>
        <p:nvGrpSpPr>
          <p:cNvPr id="18501" name="Group 69">
            <a:extLst>
              <a:ext uri="{FF2B5EF4-FFF2-40B4-BE49-F238E27FC236}">
                <a16:creationId xmlns:a16="http://schemas.microsoft.com/office/drawing/2014/main" id="{9FEA4E3C-E385-4EE7-B94D-F15428A02E7D}"/>
              </a:ext>
            </a:extLst>
          </p:cNvPr>
          <p:cNvGrpSpPr>
            <a:grpSpLocks/>
          </p:cNvGrpSpPr>
          <p:nvPr/>
        </p:nvGrpSpPr>
        <p:grpSpPr bwMode="auto">
          <a:xfrm>
            <a:off x="8978900" y="1101725"/>
            <a:ext cx="704850" cy="742950"/>
            <a:chOff x="4416" y="2928"/>
            <a:chExt cx="444" cy="468"/>
          </a:xfrm>
        </p:grpSpPr>
        <p:sp>
          <p:nvSpPr>
            <p:cNvPr id="8220" name="Line 47">
              <a:extLst>
                <a:ext uri="{FF2B5EF4-FFF2-40B4-BE49-F238E27FC236}">
                  <a16:creationId xmlns:a16="http://schemas.microsoft.com/office/drawing/2014/main" id="{D64A36F4-58E2-42C2-9112-6D0F02A83D24}"/>
                </a:ext>
              </a:extLst>
            </p:cNvPr>
            <p:cNvSpPr>
              <a:spLocks noChangeShapeType="1"/>
            </p:cNvSpPr>
            <p:nvPr/>
          </p:nvSpPr>
          <p:spPr bwMode="auto">
            <a:xfrm flipV="1">
              <a:off x="4416" y="2928"/>
              <a:ext cx="240" cy="24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21" name="Object 49">
                  <a:extLst>
                    <a:ext uri="{FF2B5EF4-FFF2-40B4-BE49-F238E27FC236}">
                      <a16:creationId xmlns:a16="http://schemas.microsoft.com/office/drawing/2014/main" id="{546A5F2B-70F8-4549-96B1-596ABD2AD828}"/>
                    </a:ext>
                  </a:extLst>
                </p:cNvPr>
                <p:cNvSpPr txBox="1"/>
                <p:nvPr/>
              </p:nvSpPr>
              <p:spPr bwMode="auto">
                <a:xfrm>
                  <a:off x="4452" y="2988"/>
                  <a:ext cx="408" cy="40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𝑆</m:t>
                            </m:r>
                          </m:e>
                        </m:acc>
                      </m:oMath>
                    </m:oMathPara>
                  </a14:m>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221" name="Object 49">
                  <a:extLst>
                    <a:ext uri="{FF2B5EF4-FFF2-40B4-BE49-F238E27FC236}">
                      <a16:creationId xmlns:a16="http://schemas.microsoft.com/office/drawing/2014/main" id="{546A5F2B-70F8-4549-96B1-596ABD2AD828}"/>
                    </a:ext>
                  </a:extLst>
                </p:cNvPr>
                <p:cNvSpPr txBox="1">
                  <a:spLocks noRot="1" noChangeAspect="1" noMove="1" noResize="1" noEditPoints="1" noAdjustHandles="1" noChangeArrowheads="1" noChangeShapeType="1" noTextEdit="1"/>
                </p:cNvSpPr>
                <p:nvPr/>
              </p:nvSpPr>
              <p:spPr bwMode="auto">
                <a:xfrm>
                  <a:off x="4452" y="2988"/>
                  <a:ext cx="408" cy="408"/>
                </a:xfrm>
                <a:prstGeom prst="rect">
                  <a:avLst/>
                </a:prstGeom>
                <a:blipFill>
                  <a:blip r:embed="rId4"/>
                  <a:stretch>
                    <a:fillRect t="-13084" r="-29907"/>
                  </a:stretch>
                </a:blipFill>
                <a:ln>
                  <a:noFill/>
                </a:ln>
                <a:effectLst/>
                <a:extLst/>
              </p:spPr>
              <p:txBody>
                <a:bodyPr/>
                <a:lstStyle/>
                <a:p>
                  <a:r>
                    <a:rPr lang="en-US">
                      <a:noFill/>
                    </a:rPr>
                    <a:t> </a:t>
                  </a:r>
                </a:p>
              </p:txBody>
            </p:sp>
          </mc:Fallback>
        </mc:AlternateContent>
      </p:grpSp>
      <p:sp>
        <p:nvSpPr>
          <p:cNvPr id="18499" name="AutoShape 67">
            <a:extLst>
              <a:ext uri="{FF2B5EF4-FFF2-40B4-BE49-F238E27FC236}">
                <a16:creationId xmlns:a16="http://schemas.microsoft.com/office/drawing/2014/main" id="{FF045B90-A7EA-43B4-A356-485055EBFA7E}"/>
              </a:ext>
            </a:extLst>
          </p:cNvPr>
          <p:cNvSpPr>
            <a:spLocks noChangeArrowheads="1"/>
          </p:cNvSpPr>
          <p:nvPr/>
        </p:nvSpPr>
        <p:spPr bwMode="auto">
          <a:xfrm>
            <a:off x="7323138" y="3856038"/>
            <a:ext cx="1752600" cy="533400"/>
          </a:xfrm>
          <a:prstGeom prst="wedgeEllipseCallout">
            <a:avLst>
              <a:gd name="adj1" fmla="val 66394"/>
              <a:gd name="adj2" fmla="val -248810"/>
            </a:avLst>
          </a:prstGeom>
          <a:noFill/>
          <a:ln w="38100">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3300"/>
                </a:solidFill>
                <a:ea typeface="华文楷体" panose="02010600040101010101" pitchFamily="2" charset="-122"/>
                <a:cs typeface="Times New Roman" panose="02020603050405020304" pitchFamily="18" charset="0"/>
              </a:rPr>
              <a:t>导体表面</a:t>
            </a:r>
          </a:p>
        </p:txBody>
      </p:sp>
      <p:sp>
        <p:nvSpPr>
          <p:cNvPr id="18502" name="Freeform 70">
            <a:extLst>
              <a:ext uri="{FF2B5EF4-FFF2-40B4-BE49-F238E27FC236}">
                <a16:creationId xmlns:a16="http://schemas.microsoft.com/office/drawing/2014/main" id="{920A6EAC-3A2B-4B93-A7B5-5D6DCAB4616F}"/>
              </a:ext>
            </a:extLst>
          </p:cNvPr>
          <p:cNvSpPr>
            <a:spLocks/>
          </p:cNvSpPr>
          <p:nvPr/>
        </p:nvSpPr>
        <p:spPr bwMode="auto">
          <a:xfrm>
            <a:off x="8259763" y="1101725"/>
            <a:ext cx="1441450" cy="2160588"/>
          </a:xfrm>
          <a:custGeom>
            <a:avLst/>
            <a:gdLst>
              <a:gd name="T0" fmla="*/ 0 w 908"/>
              <a:gd name="T1" fmla="*/ 0 h 1361"/>
              <a:gd name="T2" fmla="*/ 2147483647 w 908"/>
              <a:gd name="T3" fmla="*/ 2147483647 h 1361"/>
              <a:gd name="T4" fmla="*/ 2147483647 w 908"/>
              <a:gd name="T5" fmla="*/ 2147483647 h 1361"/>
              <a:gd name="T6" fmla="*/ 0 60000 65536"/>
              <a:gd name="T7" fmla="*/ 0 60000 65536"/>
              <a:gd name="T8" fmla="*/ 0 60000 65536"/>
            </a:gdLst>
            <a:ahLst/>
            <a:cxnLst>
              <a:cxn ang="T6">
                <a:pos x="T0" y="T1"/>
              </a:cxn>
              <a:cxn ang="T7">
                <a:pos x="T2" y="T3"/>
              </a:cxn>
              <a:cxn ang="T8">
                <a:pos x="T4" y="T5"/>
              </a:cxn>
            </a:cxnLst>
            <a:rect l="0" t="0" r="r" b="b"/>
            <a:pathLst>
              <a:path w="908" h="1361">
                <a:moveTo>
                  <a:pt x="0" y="0"/>
                </a:moveTo>
                <a:cubicBezTo>
                  <a:pt x="197" y="204"/>
                  <a:pt x="394" y="408"/>
                  <a:pt x="545" y="635"/>
                </a:cubicBezTo>
                <a:cubicBezTo>
                  <a:pt x="696" y="862"/>
                  <a:pt x="802" y="1111"/>
                  <a:pt x="908" y="1361"/>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3834E0D3-7B77-4291-A0A9-9DA8B1B9EDC1}"/>
                  </a:ext>
                </a:extLst>
              </p:cNvPr>
              <p:cNvSpPr txBox="1"/>
              <p:nvPr/>
            </p:nvSpPr>
            <p:spPr bwMode="auto">
              <a:xfrm>
                <a:off x="5407944" y="1155611"/>
                <a:ext cx="431800" cy="39528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𝜎</m:t>
                      </m:r>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Object 1">
                <a:extLst>
                  <a:ext uri="{FF2B5EF4-FFF2-40B4-BE49-F238E27FC236}">
                    <a16:creationId xmlns:a16="http://schemas.microsoft.com/office/drawing/2014/main" id="{3834E0D3-7B77-4291-A0A9-9DA8B1B9EDC1}"/>
                  </a:ext>
                </a:extLst>
              </p:cNvPr>
              <p:cNvSpPr txBox="1">
                <a:spLocks noRot="1" noChangeAspect="1" noMove="1" noResize="1" noEditPoints="1" noAdjustHandles="1" noChangeArrowheads="1" noChangeShapeType="1" noTextEdit="1"/>
              </p:cNvSpPr>
              <p:nvPr/>
            </p:nvSpPr>
            <p:spPr bwMode="auto">
              <a:xfrm>
                <a:off x="5407944" y="1155611"/>
                <a:ext cx="431800" cy="395287"/>
              </a:xfrm>
              <a:prstGeom prst="rect">
                <a:avLst/>
              </a:prstGeom>
              <a:blipFill>
                <a:blip r:embed="rId5"/>
                <a:stretch>
                  <a:fillRect/>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36139199-B8FE-4B81-A469-E26672366FE6}"/>
              </a:ext>
            </a:extLst>
          </p:cNvPr>
          <p:cNvSpPr>
            <a:spLocks noChangeArrowheads="1"/>
          </p:cNvSpPr>
          <p:nvPr/>
        </p:nvSpPr>
        <p:spPr bwMode="auto">
          <a:xfrm>
            <a:off x="8563769" y="4824412"/>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沿外法线方向</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2ADE81A-080A-4AD8-9855-475A134FCBEF}"/>
                  </a:ext>
                </a:extLst>
              </p:cNvPr>
              <p:cNvSpPr/>
              <p:nvPr/>
            </p:nvSpPr>
            <p:spPr>
              <a:xfrm>
                <a:off x="487374" y="2638920"/>
                <a:ext cx="6096000" cy="3811493"/>
              </a:xfrm>
              <a:prstGeom prst="rect">
                <a:avLst/>
              </a:prstGeom>
            </p:spPr>
            <p:txBody>
              <a:bodyPr>
                <a:spAutoFit/>
              </a:bodyPr>
              <a:lstStyle/>
              <a:p>
                <a:pPr marL="91440" lvl="0" indent="-91440">
                  <a:lnSpc>
                    <a:spcPct val="130000"/>
                  </a:lnSpc>
                  <a:spcBef>
                    <a:spcPts val="600"/>
                  </a:spcBef>
                  <a:spcAft>
                    <a:spcPts val="200"/>
                  </a:spcAft>
                  <a:buClr>
                    <a:srgbClr val="99CB38"/>
                  </a:buClr>
                  <a:buSzPct val="100000"/>
                  <a:buFont typeface="Calibri" panose="020F0502020204030204" pitchFamily="34" charset="0"/>
                  <a:buChar char=" "/>
                  <a:defRPr/>
                </a:pPr>
                <a14:m>
                  <m:oMath xmlns:m="http://schemas.openxmlformats.org/officeDocument/2006/math">
                    <m:sSub>
                      <m:sSubPr>
                        <m:ctrlPr>
                          <a:rPr kumimoji="0" lang="zh-CN" altLang="en-US" sz="2800" i="1" u="none" strike="noStrike" kern="0" cap="none" spc="0" normalizeH="0" baseline="0" noProof="0" smtClean="0">
                            <a:ln>
                              <a:noFill/>
                            </a:ln>
                            <a:solidFill>
                              <a:srgbClr val="000000"/>
                            </a:solidFill>
                            <a:effectLst/>
                            <a:uLnTx/>
                            <a:uFillTx/>
                            <a:latin typeface="Cambria Math" panose="02040503050406030204" pitchFamily="18" charset="0"/>
                          </a:rPr>
                        </m:ctrlPr>
                      </m:sSub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𝛹</m:t>
                        </m:r>
                      </m:e>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𝑒</m:t>
                        </m:r>
                      </m:sub>
                    </m:s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𝑆</m:t>
                        </m:r>
                      </m:sub>
                      <m:sup/>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𝑆</m:t>
                            </m:r>
                          </m:e>
                        </m:acc>
                      </m:e>
                    </m:nary>
                  </m:oMath>
                </a14:m>
                <a:endParaRPr kumimoji="0" lang="en-US" altLang="zh-CN" sz="280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defTabSz="914400" eaLnBrk="1" fontAlgn="auto" latinLnBrk="0" hangingPunct="1">
                  <a:lnSpc>
                    <a:spcPct val="130000"/>
                  </a:lnSpc>
                  <a:spcBef>
                    <a:spcPts val="600"/>
                  </a:spcBef>
                  <a:spcAft>
                    <a:spcPts val="200"/>
                  </a:spcAft>
                  <a:buClr>
                    <a:srgbClr val="99CB38"/>
                  </a:buClr>
                  <a:buSzPct val="100000"/>
                  <a:buFontTx/>
                  <a:buNone/>
                  <a:tabLst/>
                  <a:defRPr/>
                </a:pPr>
                <a14:m>
                  <m:oMathPara xmlns:m="http://schemas.openxmlformats.org/officeDocument/2006/math">
                    <m:oMathParaPr>
                      <m:jc m:val="centerGroup"/>
                    </m:oMathParaPr>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sSup>
                            <m:sSupPr>
                              <m:ctrlPr>
                                <a:rPr kumimoji="0" lang="en-US" altLang="zh-CN" sz="2800" i="1" u="none" strike="noStrike" kern="0" cap="none" spc="0" normalizeH="0" baseline="0" noProof="0" smtClean="0">
                                  <a:ln>
                                    <a:noFill/>
                                  </a:ln>
                                  <a:solidFill>
                                    <a:srgbClr val="000000"/>
                                  </a:solidFill>
                                  <a:effectLst/>
                                  <a:uLnTx/>
                                  <a:uFillTx/>
                                  <a:latin typeface="Cambria Math" panose="02040503050406030204" pitchFamily="18" charset="0"/>
                                </a:rPr>
                              </m:ctrlPr>
                            </m:sSupPr>
                            <m:e>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𝑠</m:t>
                              </m:r>
                            </m:e>
                            <m:sup>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m:t>
                              </m:r>
                            </m:sup>
                          </m:sSup>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侧</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oMath>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+0+0</m:t>
                      </m:r>
                    </m:oMath>
                    <m:oMath xmlns:m="http://schemas.openxmlformats.org/officeDocument/2006/math">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𝐸</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𝛥</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oMath>
                  </m:oMathPara>
                </a14:m>
                <a:endParaRPr kumimoji="0" lang="en-US" sz="2800" i="0" u="none" strike="noStrike" kern="0" cap="none" spc="0" normalizeH="0" baseline="0" noProof="0" dirty="0">
                  <a:ln>
                    <a:noFill/>
                  </a:ln>
                  <a:solidFill>
                    <a:sysClr val="windowText" lastClr="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2ADE81A-080A-4AD8-9855-475A134FCBEF}"/>
                  </a:ext>
                </a:extLst>
              </p:cNvPr>
              <p:cNvSpPr>
                <a:spLocks noRot="1" noChangeAspect="1" noMove="1" noResize="1" noEditPoints="1" noAdjustHandles="1" noChangeArrowheads="1" noChangeShapeType="1" noTextEdit="1"/>
              </p:cNvSpPr>
              <p:nvPr/>
            </p:nvSpPr>
            <p:spPr>
              <a:xfrm>
                <a:off x="487374" y="2638920"/>
                <a:ext cx="6096000" cy="3811493"/>
              </a:xfrm>
              <a:prstGeom prst="rect">
                <a:avLst/>
              </a:prstGeom>
              <a:blipFill>
                <a:blip r:embed="rId6"/>
                <a:stretch>
                  <a:fillRect/>
                </a:stretch>
              </a:blipFill>
            </p:spPr>
            <p:txBody>
              <a:bodyPr/>
              <a:lstStyle/>
              <a:p>
                <a:r>
                  <a:rPr lang="zh-CN" altLang="en-US">
                    <a:noFill/>
                  </a:rPr>
                  <a:t> </a:t>
                </a:r>
              </a:p>
            </p:txBody>
          </p:sp>
        </mc:Fallback>
      </mc:AlternateContent>
      <p:sp>
        <p:nvSpPr>
          <p:cNvPr id="42" name="Rectangle 4">
            <a:extLst>
              <a:ext uri="{FF2B5EF4-FFF2-40B4-BE49-F238E27FC236}">
                <a16:creationId xmlns:a16="http://schemas.microsoft.com/office/drawing/2014/main" id="{48D169E3-4DBA-447A-846C-987CB45D547C}"/>
              </a:ext>
            </a:extLst>
          </p:cNvPr>
          <p:cNvSpPr>
            <a:spLocks noChangeArrowheads="1"/>
          </p:cNvSpPr>
          <p:nvPr/>
        </p:nvSpPr>
        <p:spPr bwMode="auto">
          <a:xfrm>
            <a:off x="8058777" y="5607804"/>
            <a:ext cx="315657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电场强度与表面电荷密度成正比</a:t>
            </a:r>
          </a:p>
        </p:txBody>
      </p:sp>
      <mc:AlternateContent xmlns:mc="http://schemas.openxmlformats.org/markup-compatibility/2006" xmlns:a14="http://schemas.microsoft.com/office/drawing/2010/main">
        <mc:Choice Requires="a14">
          <p:sp>
            <p:nvSpPr>
              <p:cNvPr id="30" name="Object 18">
                <a:extLst>
                  <a:ext uri="{FF2B5EF4-FFF2-40B4-BE49-F238E27FC236}">
                    <a16:creationId xmlns:a16="http://schemas.microsoft.com/office/drawing/2014/main" id="{591F3306-085E-4650-A979-321F23EA3523}"/>
                  </a:ext>
                </a:extLst>
              </p:cNvPr>
              <p:cNvSpPr txBox="1"/>
              <p:nvPr/>
            </p:nvSpPr>
            <p:spPr bwMode="auto">
              <a:xfrm>
                <a:off x="1903721" y="5571215"/>
                <a:ext cx="2833709"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m:t>
                      </m:r>
                      <m:r>
                        <a:rPr lang="zh-CN" altLang="en-US" sz="2800" b="0" i="1" kern="0">
                          <a:solidFill>
                            <a:srgbClr val="000000"/>
                          </a:solidFill>
                          <a:latin typeface="Cambria Math" panose="02040503050406030204" pitchFamily="18" charset="0"/>
                        </a:rPr>
                        <m:t>𝐸</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Object 18">
                <a:extLst>
                  <a:ext uri="{FF2B5EF4-FFF2-40B4-BE49-F238E27FC236}">
                    <a16:creationId xmlns:a16="http://schemas.microsoft.com/office/drawing/2014/main" id="{591F3306-085E-4650-A979-321F23EA3523}"/>
                  </a:ext>
                </a:extLst>
              </p:cNvPr>
              <p:cNvSpPr txBox="1">
                <a:spLocks noRot="1" noChangeAspect="1" noMove="1" noResize="1" noEditPoints="1" noAdjustHandles="1" noChangeArrowheads="1" noChangeShapeType="1" noTextEdit="1"/>
              </p:cNvSpPr>
              <p:nvPr/>
            </p:nvSpPr>
            <p:spPr bwMode="auto">
              <a:xfrm>
                <a:off x="1903721" y="5571215"/>
                <a:ext cx="2833709" cy="1219200"/>
              </a:xfrm>
              <a:prstGeom prst="rect">
                <a:avLst/>
              </a:prstGeom>
              <a:blipFill>
                <a:blip r:embed="rId7"/>
                <a:stretch>
                  <a:fillRect/>
                </a:stretch>
              </a:blipFill>
              <a:ln w="9525">
                <a:noFill/>
                <a:miter lim="800000"/>
                <a:headEnd/>
                <a:tailEnd/>
              </a:ln>
              <a:effec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69">
                                            <p:txEl>
                                              <p:pRg st="0" end="0"/>
                                            </p:txEl>
                                          </p:spTgt>
                                        </p:tgtEl>
                                        <p:attrNameLst>
                                          <p:attrName>style.visibility</p:attrName>
                                        </p:attrNameLst>
                                      </p:cBhvr>
                                      <p:to>
                                        <p:strVal val="visible"/>
                                      </p:to>
                                    </p:set>
                                  </p:childTnLst>
                                </p:cTn>
                              </p:par>
                              <p:par>
                                <p:cTn id="13" presetID="22" presetClass="entr" presetSubtype="4" fill="hold" nodeType="withEffect">
                                  <p:stCondLst>
                                    <p:cond delay="0"/>
                                  </p:stCondLst>
                                  <p:childTnLst>
                                    <p:set>
                                      <p:cBhvr>
                                        <p:cTn id="14" dur="1" fill="hold">
                                          <p:stCondLst>
                                            <p:cond delay="0"/>
                                          </p:stCondLst>
                                        </p:cTn>
                                        <p:tgtEl>
                                          <p:spTgt spid="18453"/>
                                        </p:tgtEl>
                                        <p:attrNameLst>
                                          <p:attrName>style.visibility</p:attrName>
                                        </p:attrNameLst>
                                      </p:cBhvr>
                                      <p:to>
                                        <p:strVal val="visible"/>
                                      </p:to>
                                    </p:set>
                                    <p:animEffect transition="in" filter="wipe(down)">
                                      <p:cBhvr>
                                        <p:cTn id="15" dur="500"/>
                                        <p:tgtEl>
                                          <p:spTgt spid="18453"/>
                                        </p:tgtEl>
                                      </p:cBhvr>
                                    </p:animEffect>
                                  </p:childTnLst>
                                </p:cTn>
                              </p:par>
                              <p:par>
                                <p:cTn id="16" presetID="22" presetClass="entr" presetSubtype="4" fill="hold" nodeType="withEffect">
                                  <p:stCondLst>
                                    <p:cond delay="0"/>
                                  </p:stCondLst>
                                  <p:childTnLst>
                                    <p:set>
                                      <p:cBhvr>
                                        <p:cTn id="17" dur="1" fill="hold">
                                          <p:stCondLst>
                                            <p:cond delay="0"/>
                                          </p:stCondLst>
                                        </p:cTn>
                                        <p:tgtEl>
                                          <p:spTgt spid="18454"/>
                                        </p:tgtEl>
                                        <p:attrNameLst>
                                          <p:attrName>style.visibility</p:attrName>
                                        </p:attrNameLst>
                                      </p:cBhvr>
                                      <p:to>
                                        <p:strVal val="visible"/>
                                      </p:to>
                                    </p:set>
                                    <p:animEffect transition="in" filter="wipe(down)">
                                      <p:cBhvr>
                                        <p:cTn id="18" dur="500"/>
                                        <p:tgtEl>
                                          <p:spTgt spid="18454"/>
                                        </p:tgtEl>
                                      </p:cBhvr>
                                    </p:animEffect>
                                  </p:childTnLst>
                                </p:cTn>
                              </p:par>
                              <p:par>
                                <p:cTn id="19" presetID="22" presetClass="entr" presetSubtype="4" fill="hold" nodeType="withEffect">
                                  <p:stCondLst>
                                    <p:cond delay="0"/>
                                  </p:stCondLst>
                                  <p:childTnLst>
                                    <p:set>
                                      <p:cBhvr>
                                        <p:cTn id="20" dur="1" fill="hold">
                                          <p:stCondLst>
                                            <p:cond delay="0"/>
                                          </p:stCondLst>
                                        </p:cTn>
                                        <p:tgtEl>
                                          <p:spTgt spid="18455"/>
                                        </p:tgtEl>
                                        <p:attrNameLst>
                                          <p:attrName>style.visibility</p:attrName>
                                        </p:attrNameLst>
                                      </p:cBhvr>
                                      <p:to>
                                        <p:strVal val="visible"/>
                                      </p:to>
                                    </p:set>
                                    <p:animEffect transition="in" filter="wipe(down)">
                                      <p:cBhvr>
                                        <p:cTn id="21" dur="500"/>
                                        <p:tgtEl>
                                          <p:spTgt spid="18455"/>
                                        </p:tgtEl>
                                      </p:cBhvr>
                                    </p:animEffect>
                                  </p:childTnLst>
                                </p:cTn>
                              </p:par>
                              <p:par>
                                <p:cTn id="22" presetID="22" presetClass="entr" presetSubtype="4" fill="hold" nodeType="withEffect">
                                  <p:stCondLst>
                                    <p:cond delay="0"/>
                                  </p:stCondLst>
                                  <p:childTnLst>
                                    <p:set>
                                      <p:cBhvr>
                                        <p:cTn id="23" dur="1" fill="hold">
                                          <p:stCondLst>
                                            <p:cond delay="0"/>
                                          </p:stCondLst>
                                        </p:cTn>
                                        <p:tgtEl>
                                          <p:spTgt spid="18456"/>
                                        </p:tgtEl>
                                        <p:attrNameLst>
                                          <p:attrName>style.visibility</p:attrName>
                                        </p:attrNameLst>
                                      </p:cBhvr>
                                      <p:to>
                                        <p:strVal val="visible"/>
                                      </p:to>
                                    </p:set>
                                    <p:animEffect transition="in" filter="wipe(down)">
                                      <p:cBhvr>
                                        <p:cTn id="24" dur="500"/>
                                        <p:tgtEl>
                                          <p:spTgt spid="18456"/>
                                        </p:tgtEl>
                                      </p:cBhvr>
                                    </p:animEffect>
                                  </p:childTnLst>
                                </p:cTn>
                              </p:par>
                              <p:par>
                                <p:cTn id="25" presetID="22" presetClass="entr" presetSubtype="4" fill="hold" nodeType="withEffect">
                                  <p:stCondLst>
                                    <p:cond delay="0"/>
                                  </p:stCondLst>
                                  <p:childTnLst>
                                    <p:set>
                                      <p:cBhvr>
                                        <p:cTn id="26" dur="1" fill="hold">
                                          <p:stCondLst>
                                            <p:cond delay="0"/>
                                          </p:stCondLst>
                                        </p:cTn>
                                        <p:tgtEl>
                                          <p:spTgt spid="18457"/>
                                        </p:tgtEl>
                                        <p:attrNameLst>
                                          <p:attrName>style.visibility</p:attrName>
                                        </p:attrNameLst>
                                      </p:cBhvr>
                                      <p:to>
                                        <p:strVal val="visible"/>
                                      </p:to>
                                    </p:set>
                                    <p:animEffect transition="in" filter="wipe(down)">
                                      <p:cBhvr>
                                        <p:cTn id="27" dur="500"/>
                                        <p:tgtEl>
                                          <p:spTgt spid="18457"/>
                                        </p:tgtEl>
                                      </p:cBhvr>
                                    </p:animEffect>
                                  </p:childTnLst>
                                </p:cTn>
                              </p:par>
                              <p:par>
                                <p:cTn id="28" presetID="22" presetClass="entr" presetSubtype="4" fill="hold" nodeType="withEffect">
                                  <p:stCondLst>
                                    <p:cond delay="0"/>
                                  </p:stCondLst>
                                  <p:childTnLst>
                                    <p:set>
                                      <p:cBhvr>
                                        <p:cTn id="29" dur="1" fill="hold">
                                          <p:stCondLst>
                                            <p:cond delay="0"/>
                                          </p:stCondLst>
                                        </p:cTn>
                                        <p:tgtEl>
                                          <p:spTgt spid="18458"/>
                                        </p:tgtEl>
                                        <p:attrNameLst>
                                          <p:attrName>style.visibility</p:attrName>
                                        </p:attrNameLst>
                                      </p:cBhvr>
                                      <p:to>
                                        <p:strVal val="visible"/>
                                      </p:to>
                                    </p:set>
                                    <p:animEffect transition="in" filter="wipe(down)">
                                      <p:cBhvr>
                                        <p:cTn id="30" dur="500"/>
                                        <p:tgtEl>
                                          <p:spTgt spid="18458"/>
                                        </p:tgtEl>
                                      </p:cBhvr>
                                    </p:animEffect>
                                  </p:childTnLst>
                                </p:cTn>
                              </p:par>
                              <p:par>
                                <p:cTn id="31" presetID="22" presetClass="entr" presetSubtype="4" fill="hold" nodeType="withEffect">
                                  <p:stCondLst>
                                    <p:cond delay="0"/>
                                  </p:stCondLst>
                                  <p:childTnLst>
                                    <p:set>
                                      <p:cBhvr>
                                        <p:cTn id="32" dur="1" fill="hold">
                                          <p:stCondLst>
                                            <p:cond delay="0"/>
                                          </p:stCondLst>
                                        </p:cTn>
                                        <p:tgtEl>
                                          <p:spTgt spid="18459"/>
                                        </p:tgtEl>
                                        <p:attrNameLst>
                                          <p:attrName>style.visibility</p:attrName>
                                        </p:attrNameLst>
                                      </p:cBhvr>
                                      <p:to>
                                        <p:strVal val="visible"/>
                                      </p:to>
                                    </p:set>
                                    <p:animEffect transition="in" filter="wipe(down)">
                                      <p:cBhvr>
                                        <p:cTn id="33" dur="500"/>
                                        <p:tgtEl>
                                          <p:spTgt spid="18459"/>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8461"/>
                                        </p:tgtEl>
                                        <p:attrNameLst>
                                          <p:attrName>style.visibility</p:attrName>
                                        </p:attrNameLst>
                                      </p:cBhvr>
                                      <p:to>
                                        <p:strVal val="visible"/>
                                      </p:to>
                                    </p:set>
                                    <p:animEffect transition="in" filter="wipe(down)">
                                      <p:cBhvr>
                                        <p:cTn id="36" dur="500"/>
                                        <p:tgtEl>
                                          <p:spTgt spid="18461"/>
                                        </p:tgtEl>
                                      </p:cBhvr>
                                    </p:animEffect>
                                  </p:childTnLst>
                                </p:cTn>
                              </p:par>
                              <p:par>
                                <p:cTn id="37" presetID="22" presetClass="entr" presetSubtype="4" fill="hold" nodeType="withEffect">
                                  <p:stCondLst>
                                    <p:cond delay="0"/>
                                  </p:stCondLst>
                                  <p:childTnLst>
                                    <p:set>
                                      <p:cBhvr>
                                        <p:cTn id="38" dur="1" fill="hold">
                                          <p:stCondLst>
                                            <p:cond delay="0"/>
                                          </p:stCondLst>
                                        </p:cTn>
                                        <p:tgtEl>
                                          <p:spTgt spid="18502"/>
                                        </p:tgtEl>
                                        <p:attrNameLst>
                                          <p:attrName>style.visibility</p:attrName>
                                        </p:attrNameLst>
                                      </p:cBhvr>
                                      <p:to>
                                        <p:strVal val="visible"/>
                                      </p:to>
                                    </p:set>
                                    <p:animEffect transition="in" filter="wipe(down)">
                                      <p:cBhvr>
                                        <p:cTn id="39" dur="500"/>
                                        <p:tgtEl>
                                          <p:spTgt spid="1850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8499"/>
                                        </p:tgtEl>
                                        <p:attrNameLst>
                                          <p:attrName>style.visibility</p:attrName>
                                        </p:attrNameLst>
                                      </p:cBhvr>
                                      <p:to>
                                        <p:strVal val="visible"/>
                                      </p:to>
                                    </p:set>
                                    <p:animEffect transition="in" filter="wipe(down)">
                                      <p:cBhvr>
                                        <p:cTn id="42" dur="500"/>
                                        <p:tgtEl>
                                          <p:spTgt spid="18499"/>
                                        </p:tgtEl>
                                      </p:cBhvr>
                                    </p:animEffect>
                                  </p:childTnLst>
                                </p:cTn>
                              </p:par>
                              <p:par>
                                <p:cTn id="43" presetID="3" presetClass="entr" presetSubtype="5" fill="hold" nodeType="withEffect">
                                  <p:stCondLst>
                                    <p:cond delay="0"/>
                                  </p:stCondLst>
                                  <p:childTnLst>
                                    <p:set>
                                      <p:cBhvr>
                                        <p:cTn id="44" dur="1" fill="hold">
                                          <p:stCondLst>
                                            <p:cond delay="0"/>
                                          </p:stCondLst>
                                        </p:cTn>
                                        <p:tgtEl>
                                          <p:spTgt spid="18473"/>
                                        </p:tgtEl>
                                        <p:attrNameLst>
                                          <p:attrName>style.visibility</p:attrName>
                                        </p:attrNameLst>
                                      </p:cBhvr>
                                      <p:to>
                                        <p:strVal val="visible"/>
                                      </p:to>
                                    </p:set>
                                    <p:animEffect transition="in" filter="blinds(vertical)">
                                      <p:cBhvr>
                                        <p:cTn id="45" dur="500"/>
                                        <p:tgtEl>
                                          <p:spTgt spid="1847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8477"/>
                                        </p:tgtEl>
                                        <p:attrNameLst>
                                          <p:attrName>style.visibility</p:attrName>
                                        </p:attrNameLst>
                                      </p:cBhvr>
                                      <p:to>
                                        <p:strVal val="visible"/>
                                      </p:to>
                                    </p:set>
                                    <p:animEffect transition="in" filter="wipe(down)">
                                      <p:cBhvr>
                                        <p:cTn id="50" dur="500"/>
                                        <p:tgtEl>
                                          <p:spTgt spid="18477"/>
                                        </p:tgtEl>
                                      </p:cBhvr>
                                    </p:animEffect>
                                  </p:childTnLst>
                                </p:cTn>
                              </p:par>
                              <p:par>
                                <p:cTn id="51" presetID="22" presetClass="entr" presetSubtype="4" fill="hold" nodeType="withEffect">
                                  <p:stCondLst>
                                    <p:cond delay="0"/>
                                  </p:stCondLst>
                                  <p:childTnLst>
                                    <p:set>
                                      <p:cBhvr>
                                        <p:cTn id="52" dur="1" fill="hold">
                                          <p:stCondLst>
                                            <p:cond delay="0"/>
                                          </p:stCondLst>
                                        </p:cTn>
                                        <p:tgtEl>
                                          <p:spTgt spid="18475"/>
                                        </p:tgtEl>
                                        <p:attrNameLst>
                                          <p:attrName>style.visibility</p:attrName>
                                        </p:attrNameLst>
                                      </p:cBhvr>
                                      <p:to>
                                        <p:strVal val="visible"/>
                                      </p:to>
                                    </p:set>
                                    <p:animEffect transition="in" filter="wipe(down)">
                                      <p:cBhvr>
                                        <p:cTn id="53" dur="500"/>
                                        <p:tgtEl>
                                          <p:spTgt spid="18475"/>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8474"/>
                                        </p:tgtEl>
                                        <p:attrNameLst>
                                          <p:attrName>style.visibility</p:attrName>
                                        </p:attrNameLst>
                                      </p:cBhvr>
                                      <p:to>
                                        <p:strVal val="visible"/>
                                      </p:to>
                                    </p:set>
                                    <p:animEffect transition="in" filter="wipe(down)">
                                      <p:cBhvr>
                                        <p:cTn id="56" dur="500"/>
                                        <p:tgtEl>
                                          <p:spTgt spid="18474"/>
                                        </p:tgtEl>
                                      </p:cBhvr>
                                    </p:animEffect>
                                  </p:childTnLst>
                                </p:cTn>
                              </p:par>
                              <p:par>
                                <p:cTn id="57" presetID="22" presetClass="entr" presetSubtype="4" fill="hold" nodeType="withEffect">
                                  <p:stCondLst>
                                    <p:cond delay="0"/>
                                  </p:stCondLst>
                                  <p:childTnLst>
                                    <p:set>
                                      <p:cBhvr>
                                        <p:cTn id="58" dur="1" fill="hold">
                                          <p:stCondLst>
                                            <p:cond delay="0"/>
                                          </p:stCondLst>
                                        </p:cTn>
                                        <p:tgtEl>
                                          <p:spTgt spid="18476"/>
                                        </p:tgtEl>
                                        <p:attrNameLst>
                                          <p:attrName>style.visibility</p:attrName>
                                        </p:attrNameLst>
                                      </p:cBhvr>
                                      <p:to>
                                        <p:strVal val="visible"/>
                                      </p:to>
                                    </p:set>
                                    <p:animEffect transition="in" filter="wipe(down)">
                                      <p:cBhvr>
                                        <p:cTn id="59" dur="500"/>
                                        <p:tgtEl>
                                          <p:spTgt spid="18476"/>
                                        </p:tgtEl>
                                      </p:cBhvr>
                                    </p:animEffect>
                                  </p:childTnLst>
                                </p:cTn>
                              </p:par>
                              <p:par>
                                <p:cTn id="60" presetID="22" presetClass="entr" presetSubtype="4" fill="hold" nodeType="withEffect">
                                  <p:stCondLst>
                                    <p:cond delay="0"/>
                                  </p:stCondLst>
                                  <p:childTnLst>
                                    <p:set>
                                      <p:cBhvr>
                                        <p:cTn id="61" dur="1" fill="hold">
                                          <p:stCondLst>
                                            <p:cond delay="0"/>
                                          </p:stCondLst>
                                        </p:cTn>
                                        <p:tgtEl>
                                          <p:spTgt spid="18501"/>
                                        </p:tgtEl>
                                        <p:attrNameLst>
                                          <p:attrName>style.visibility</p:attrName>
                                        </p:attrNameLst>
                                      </p:cBhvr>
                                      <p:to>
                                        <p:strVal val="visible"/>
                                      </p:to>
                                    </p:set>
                                    <p:animEffect transition="in" filter="wipe(down)">
                                      <p:cBhvr>
                                        <p:cTn id="62" dur="500"/>
                                        <p:tgtEl>
                                          <p:spTgt spid="18501"/>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45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0" grpId="0"/>
      <p:bldP spid="18461" grpId="0"/>
      <p:bldP spid="18466" grpId="0"/>
      <p:bldP spid="18469" grpId="0" build="p" autoUpdateAnimBg="0"/>
      <p:bldP spid="18474" grpId="0" animBg="1"/>
      <p:bldP spid="18477" grpId="0" animBg="1"/>
      <p:bldP spid="18499" grpId="0" animBg="1"/>
      <p:bldP spid="2" grpId="0"/>
      <p:bldP spid="5" grpId="0"/>
      <p:bldP spid="42"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61B92B29-4940-408A-A313-C95EDAC75C95}"/>
              </a:ext>
            </a:extLst>
          </p:cNvPr>
          <p:cNvSpPr txBox="1">
            <a:spLocks noChangeArrowheads="1"/>
          </p:cNvSpPr>
          <p:nvPr/>
        </p:nvSpPr>
        <p:spPr bwMode="auto">
          <a:xfrm>
            <a:off x="684916" y="404258"/>
            <a:ext cx="50203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导体表面电荷分布</a:t>
            </a:r>
          </a:p>
        </p:txBody>
      </p:sp>
      <mc:AlternateContent xmlns:mc="http://schemas.openxmlformats.org/markup-compatibility/2006" xmlns:a14="http://schemas.microsoft.com/office/drawing/2010/main">
        <mc:Choice Requires="a14">
          <p:sp>
            <p:nvSpPr>
              <p:cNvPr id="18450" name="Object 18">
                <a:extLst>
                  <a:ext uri="{FF2B5EF4-FFF2-40B4-BE49-F238E27FC236}">
                    <a16:creationId xmlns:a16="http://schemas.microsoft.com/office/drawing/2014/main" id="{566950D7-B727-4580-B56A-0456A5447B24}"/>
                  </a:ext>
                </a:extLst>
              </p:cNvPr>
              <p:cNvSpPr txBox="1"/>
              <p:nvPr/>
            </p:nvSpPr>
            <p:spPr bwMode="auto">
              <a:xfrm>
                <a:off x="5721669" y="5302349"/>
                <a:ext cx="1752600"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b="0" i="1" kern="0">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8450" name="Object 18">
                <a:extLst>
                  <a:ext uri="{FF2B5EF4-FFF2-40B4-BE49-F238E27FC236}">
                    <a16:creationId xmlns:a16="http://schemas.microsoft.com/office/drawing/2014/main" id="{566950D7-B727-4580-B56A-0456A5447B24}"/>
                  </a:ext>
                </a:extLst>
              </p:cNvPr>
              <p:cNvSpPr txBox="1">
                <a:spLocks noRot="1" noChangeAspect="1" noMove="1" noResize="1" noEditPoints="1" noAdjustHandles="1" noChangeArrowheads="1" noChangeShapeType="1" noTextEdit="1"/>
              </p:cNvSpPr>
              <p:nvPr/>
            </p:nvSpPr>
            <p:spPr bwMode="auto">
              <a:xfrm>
                <a:off x="5721669" y="5302349"/>
                <a:ext cx="1752600" cy="1219200"/>
              </a:xfrm>
              <a:prstGeom prst="rect">
                <a:avLst/>
              </a:prstGeom>
              <a:blipFill>
                <a:blip r:embed="rId2"/>
                <a:stretch>
                  <a:fillRect/>
                </a:stretch>
              </a:blipFill>
              <a:ln w="9525">
                <a:noFill/>
                <a:miter lim="800000"/>
                <a:headEnd/>
                <a:tailEnd/>
              </a:ln>
              <a:effectLst/>
            </p:spPr>
            <p:txBody>
              <a:bodyPr/>
              <a:lstStyle/>
              <a:p>
                <a:r>
                  <a:rPr lang="en-US">
                    <a:noFill/>
                  </a:rPr>
                  <a:t> </a:t>
                </a:r>
              </a:p>
            </p:txBody>
          </p:sp>
        </mc:Fallback>
      </mc:AlternateContent>
      <p:sp>
        <p:nvSpPr>
          <p:cNvPr id="18466" name="Text Box 34">
            <a:extLst>
              <a:ext uri="{FF2B5EF4-FFF2-40B4-BE49-F238E27FC236}">
                <a16:creationId xmlns:a16="http://schemas.microsoft.com/office/drawing/2014/main" id="{B43EA3EA-4671-49DC-82E3-74468873261A}"/>
              </a:ext>
            </a:extLst>
          </p:cNvPr>
          <p:cNvSpPr txBox="1">
            <a:spLocks noChangeArrowheads="1"/>
          </p:cNvSpPr>
          <p:nvPr/>
        </p:nvSpPr>
        <p:spPr bwMode="auto">
          <a:xfrm>
            <a:off x="2124998" y="1174554"/>
            <a:ext cx="388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导体表面电荷面密度</a:t>
            </a:r>
          </a:p>
        </p:txBody>
      </p:sp>
      <p:sp>
        <p:nvSpPr>
          <p:cNvPr id="18469" name="Text Box 37">
            <a:extLst>
              <a:ext uri="{FF2B5EF4-FFF2-40B4-BE49-F238E27FC236}">
                <a16:creationId xmlns:a16="http://schemas.microsoft.com/office/drawing/2014/main" id="{A51E906F-C134-4C5F-8F95-32C6AF78D23F}"/>
              </a:ext>
            </a:extLst>
          </p:cNvPr>
          <p:cNvSpPr txBox="1">
            <a:spLocks noChangeArrowheads="1"/>
          </p:cNvSpPr>
          <p:nvPr/>
        </p:nvSpPr>
        <p:spPr bwMode="auto">
          <a:xfrm>
            <a:off x="753442" y="2014487"/>
            <a:ext cx="462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设 </a:t>
            </a:r>
            <a:r>
              <a:rPr lang="en-US" altLang="zh-CN" sz="2800" dirty="0">
                <a:ea typeface="华文楷体" panose="02010600040101010101" pitchFamily="2" charset="-122"/>
                <a:cs typeface="Times New Roman" panose="02020603050405020304" pitchFamily="18" charset="0"/>
              </a:rPr>
              <a:t>P</a:t>
            </a:r>
            <a:r>
              <a:rPr lang="zh-CN" altLang="en-US" sz="2800" dirty="0">
                <a:ea typeface="华文楷体" panose="02010600040101010101" pitchFamily="2" charset="-122"/>
                <a:cs typeface="Times New Roman" panose="02020603050405020304" pitchFamily="18" charset="0"/>
              </a:rPr>
              <a:t>点紧靠导体外表面</a:t>
            </a:r>
          </a:p>
        </p:txBody>
      </p:sp>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3834E0D3-7B77-4291-A0A9-9DA8B1B9EDC1}"/>
                  </a:ext>
                </a:extLst>
              </p:cNvPr>
              <p:cNvSpPr txBox="1"/>
              <p:nvPr/>
            </p:nvSpPr>
            <p:spPr bwMode="auto">
              <a:xfrm>
                <a:off x="5407944" y="1155611"/>
                <a:ext cx="431800" cy="39528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𝜎</m:t>
                      </m:r>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Object 1">
                <a:extLst>
                  <a:ext uri="{FF2B5EF4-FFF2-40B4-BE49-F238E27FC236}">
                    <a16:creationId xmlns:a16="http://schemas.microsoft.com/office/drawing/2014/main" id="{3834E0D3-7B77-4291-A0A9-9DA8B1B9EDC1}"/>
                  </a:ext>
                </a:extLst>
              </p:cNvPr>
              <p:cNvSpPr txBox="1">
                <a:spLocks noRot="1" noChangeAspect="1" noMove="1" noResize="1" noEditPoints="1" noAdjustHandles="1" noChangeArrowheads="1" noChangeShapeType="1" noTextEdit="1"/>
              </p:cNvSpPr>
              <p:nvPr/>
            </p:nvSpPr>
            <p:spPr bwMode="auto">
              <a:xfrm>
                <a:off x="5407944" y="1155611"/>
                <a:ext cx="431800" cy="395287"/>
              </a:xfrm>
              <a:prstGeom prst="rect">
                <a:avLst/>
              </a:prstGeom>
              <a:blipFill>
                <a:blip r:embed="rId5"/>
                <a:stretch>
                  <a:fillRect/>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36139199-B8FE-4B81-A469-E26672366FE6}"/>
              </a:ext>
            </a:extLst>
          </p:cNvPr>
          <p:cNvSpPr>
            <a:spLocks noChangeArrowheads="1"/>
          </p:cNvSpPr>
          <p:nvPr/>
        </p:nvSpPr>
        <p:spPr bwMode="auto">
          <a:xfrm>
            <a:off x="8563769" y="4824412"/>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沿外法线方向</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2ADE81A-080A-4AD8-9855-475A134FCBEF}"/>
                  </a:ext>
                </a:extLst>
              </p:cNvPr>
              <p:cNvSpPr/>
              <p:nvPr/>
            </p:nvSpPr>
            <p:spPr>
              <a:xfrm>
                <a:off x="487374" y="2638920"/>
                <a:ext cx="6096000" cy="3811493"/>
              </a:xfrm>
              <a:prstGeom prst="rect">
                <a:avLst/>
              </a:prstGeom>
            </p:spPr>
            <p:txBody>
              <a:bodyPr>
                <a:spAutoFit/>
              </a:bodyPr>
              <a:lstStyle/>
              <a:p>
                <a:pPr marL="91440" lvl="0" indent="-91440">
                  <a:lnSpc>
                    <a:spcPct val="130000"/>
                  </a:lnSpc>
                  <a:spcBef>
                    <a:spcPts val="600"/>
                  </a:spcBef>
                  <a:spcAft>
                    <a:spcPts val="200"/>
                  </a:spcAft>
                  <a:buClr>
                    <a:srgbClr val="99CB38"/>
                  </a:buClr>
                  <a:buSzPct val="100000"/>
                  <a:buFont typeface="Calibri" panose="020F0502020204030204" pitchFamily="34" charset="0"/>
                  <a:buChar char=" "/>
                  <a:defRPr/>
                </a:pPr>
                <a14:m>
                  <m:oMath xmlns:m="http://schemas.openxmlformats.org/officeDocument/2006/math">
                    <m:sSub>
                      <m:sSubPr>
                        <m:ctrlPr>
                          <a:rPr kumimoji="0" lang="zh-CN" altLang="en-US" sz="2800" i="1" u="none" strike="noStrike" kern="0" cap="none" spc="0" normalizeH="0" baseline="0" noProof="0" smtClean="0">
                            <a:ln>
                              <a:noFill/>
                            </a:ln>
                            <a:solidFill>
                              <a:srgbClr val="000000"/>
                            </a:solidFill>
                            <a:effectLst/>
                            <a:uLnTx/>
                            <a:uFillTx/>
                            <a:latin typeface="Cambria Math" panose="02040503050406030204" pitchFamily="18" charset="0"/>
                          </a:rPr>
                        </m:ctrlPr>
                      </m:sSub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𝛹</m:t>
                        </m:r>
                      </m:e>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𝑒</m:t>
                        </m:r>
                      </m:sub>
                    </m:s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𝑆</m:t>
                        </m:r>
                      </m:sub>
                      <m:sup/>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𝑆</m:t>
                            </m:r>
                          </m:e>
                        </m:acc>
                      </m:e>
                    </m:nary>
                  </m:oMath>
                </a14:m>
                <a:endParaRPr kumimoji="0" lang="en-US" altLang="zh-CN" sz="280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defTabSz="914400" eaLnBrk="1" fontAlgn="auto" latinLnBrk="0" hangingPunct="1">
                  <a:lnSpc>
                    <a:spcPct val="130000"/>
                  </a:lnSpc>
                  <a:spcBef>
                    <a:spcPts val="600"/>
                  </a:spcBef>
                  <a:spcAft>
                    <a:spcPts val="200"/>
                  </a:spcAft>
                  <a:buClr>
                    <a:srgbClr val="99CB38"/>
                  </a:buClr>
                  <a:buSzPct val="100000"/>
                  <a:buFontTx/>
                  <a:buNone/>
                  <a:tabLst/>
                  <a:defRPr/>
                </a:pPr>
                <a14:m>
                  <m:oMathPara xmlns:m="http://schemas.openxmlformats.org/officeDocument/2006/math">
                    <m:oMathParaPr>
                      <m:jc m:val="centerGroup"/>
                    </m:oMathParaPr>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sSup>
                            <m:sSupPr>
                              <m:ctrlPr>
                                <a:rPr kumimoji="0" lang="en-US" altLang="zh-CN" sz="2800" i="1" u="none" strike="noStrike" kern="0" cap="none" spc="0" normalizeH="0" baseline="0" noProof="0" smtClean="0">
                                  <a:ln>
                                    <a:noFill/>
                                  </a:ln>
                                  <a:solidFill>
                                    <a:srgbClr val="000000"/>
                                  </a:solidFill>
                                  <a:effectLst/>
                                  <a:uLnTx/>
                                  <a:uFillTx/>
                                  <a:latin typeface="Cambria Math" panose="02040503050406030204" pitchFamily="18" charset="0"/>
                                </a:rPr>
                              </m:ctrlPr>
                            </m:sSupPr>
                            <m:e>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𝑠</m:t>
                              </m:r>
                            </m:e>
                            <m:sup>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m:t>
                              </m:r>
                            </m:sup>
                          </m:sSup>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侧</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oMath>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+0+0</m:t>
                      </m:r>
                    </m:oMath>
                    <m:oMath xmlns:m="http://schemas.openxmlformats.org/officeDocument/2006/math">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𝐸</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𝛥</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oMath>
                  </m:oMathPara>
                </a14:m>
                <a:endParaRPr kumimoji="0" lang="en-US" sz="2800" i="0" u="none" strike="noStrike" kern="0" cap="none" spc="0" normalizeH="0" baseline="0" noProof="0" dirty="0">
                  <a:ln>
                    <a:noFill/>
                  </a:ln>
                  <a:solidFill>
                    <a:sysClr val="windowText" lastClr="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2ADE81A-080A-4AD8-9855-475A134FCBEF}"/>
                  </a:ext>
                </a:extLst>
              </p:cNvPr>
              <p:cNvSpPr>
                <a:spLocks noRot="1" noChangeAspect="1" noMove="1" noResize="1" noEditPoints="1" noAdjustHandles="1" noChangeArrowheads="1" noChangeShapeType="1" noTextEdit="1"/>
              </p:cNvSpPr>
              <p:nvPr/>
            </p:nvSpPr>
            <p:spPr>
              <a:xfrm>
                <a:off x="487374" y="2638920"/>
                <a:ext cx="6096000" cy="3811493"/>
              </a:xfrm>
              <a:prstGeom prst="rect">
                <a:avLst/>
              </a:prstGeom>
              <a:blipFill>
                <a:blip r:embed="rId6"/>
                <a:stretch>
                  <a:fillRect/>
                </a:stretch>
              </a:blipFill>
            </p:spPr>
            <p:txBody>
              <a:bodyPr/>
              <a:lstStyle/>
              <a:p>
                <a:r>
                  <a:rPr lang="zh-CN" altLang="en-US">
                    <a:noFill/>
                  </a:rPr>
                  <a:t> </a:t>
                </a:r>
              </a:p>
            </p:txBody>
          </p:sp>
        </mc:Fallback>
      </mc:AlternateContent>
      <p:sp>
        <p:nvSpPr>
          <p:cNvPr id="42" name="Rectangle 4">
            <a:extLst>
              <a:ext uri="{FF2B5EF4-FFF2-40B4-BE49-F238E27FC236}">
                <a16:creationId xmlns:a16="http://schemas.microsoft.com/office/drawing/2014/main" id="{48D169E3-4DBA-447A-846C-987CB45D547C}"/>
              </a:ext>
            </a:extLst>
          </p:cNvPr>
          <p:cNvSpPr>
            <a:spLocks noChangeArrowheads="1"/>
          </p:cNvSpPr>
          <p:nvPr/>
        </p:nvSpPr>
        <p:spPr bwMode="auto">
          <a:xfrm>
            <a:off x="8058777" y="5607804"/>
            <a:ext cx="315657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电场强度与表面电荷密度成正比</a:t>
            </a:r>
          </a:p>
        </p:txBody>
      </p:sp>
      <mc:AlternateContent xmlns:mc="http://schemas.openxmlformats.org/markup-compatibility/2006" xmlns:a14="http://schemas.microsoft.com/office/drawing/2010/main">
        <mc:Choice Requires="a14">
          <p:sp>
            <p:nvSpPr>
              <p:cNvPr id="30" name="Object 18">
                <a:extLst>
                  <a:ext uri="{FF2B5EF4-FFF2-40B4-BE49-F238E27FC236}">
                    <a16:creationId xmlns:a16="http://schemas.microsoft.com/office/drawing/2014/main" id="{591F3306-085E-4650-A979-321F23EA3523}"/>
                  </a:ext>
                </a:extLst>
              </p:cNvPr>
              <p:cNvSpPr txBox="1"/>
              <p:nvPr/>
            </p:nvSpPr>
            <p:spPr bwMode="auto">
              <a:xfrm>
                <a:off x="1903721" y="5571215"/>
                <a:ext cx="2833709"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m:t>
                      </m:r>
                      <m:r>
                        <a:rPr lang="zh-CN" altLang="en-US" sz="2800" b="0" i="1" kern="0">
                          <a:solidFill>
                            <a:srgbClr val="000000"/>
                          </a:solidFill>
                          <a:latin typeface="Cambria Math" panose="02040503050406030204" pitchFamily="18" charset="0"/>
                        </a:rPr>
                        <m:t>𝐸</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Object 18">
                <a:extLst>
                  <a:ext uri="{FF2B5EF4-FFF2-40B4-BE49-F238E27FC236}">
                    <a16:creationId xmlns:a16="http://schemas.microsoft.com/office/drawing/2014/main" id="{591F3306-085E-4650-A979-321F23EA3523}"/>
                  </a:ext>
                </a:extLst>
              </p:cNvPr>
              <p:cNvSpPr txBox="1">
                <a:spLocks noRot="1" noChangeAspect="1" noMove="1" noResize="1" noEditPoints="1" noAdjustHandles="1" noChangeArrowheads="1" noChangeShapeType="1" noTextEdit="1"/>
              </p:cNvSpPr>
              <p:nvPr/>
            </p:nvSpPr>
            <p:spPr bwMode="auto">
              <a:xfrm>
                <a:off x="1903721" y="5571215"/>
                <a:ext cx="2833709" cy="1219200"/>
              </a:xfrm>
              <a:prstGeom prst="rect">
                <a:avLst/>
              </a:prstGeom>
              <a:blipFill>
                <a:blip r:embed="rId7"/>
                <a:stretch>
                  <a:fillRect/>
                </a:stretch>
              </a:blipFill>
              <a:ln w="9525">
                <a:noFill/>
                <a:miter lim="800000"/>
                <a:headEnd/>
                <a:tailEnd/>
              </a:ln>
              <a:effectLst/>
            </p:spPr>
            <p:txBody>
              <a:bodyPr/>
              <a:lstStyle/>
              <a:p>
                <a:r>
                  <a:rPr lang="en-US">
                    <a:noFill/>
                  </a:rPr>
                  <a:t> </a:t>
                </a:r>
              </a:p>
            </p:txBody>
          </p:sp>
        </mc:Fallback>
      </mc:AlternateContent>
      <p:pic>
        <p:nvPicPr>
          <p:cNvPr id="3" name="内容占位符 6">
            <a:extLst>
              <a:ext uri="{FF2B5EF4-FFF2-40B4-BE49-F238E27FC236}">
                <a16:creationId xmlns:a16="http://schemas.microsoft.com/office/drawing/2014/main" id="{71E1FB0F-63C8-21D4-2712-263AB9AADB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25535" y="1155611"/>
            <a:ext cx="4552610" cy="3251278"/>
          </a:xfrm>
          <a:prstGeom prst="rect">
            <a:avLst/>
          </a:prstGeom>
        </p:spPr>
      </p:pic>
    </p:spTree>
    <p:extLst>
      <p:ext uri="{BB962C8B-B14F-4D97-AF65-F5344CB8AC3E}">
        <p14:creationId xmlns:p14="http://schemas.microsoft.com/office/powerpoint/2010/main" val="27080336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a:extLst>
              <a:ext uri="{FF2B5EF4-FFF2-40B4-BE49-F238E27FC236}">
                <a16:creationId xmlns:a16="http://schemas.microsoft.com/office/drawing/2014/main" id="{58830BE2-8746-4FC7-B1CA-4215EEB0DFF4}"/>
              </a:ext>
            </a:extLst>
          </p:cNvPr>
          <p:cNvGrpSpPr>
            <a:grpSpLocks/>
          </p:cNvGrpSpPr>
          <p:nvPr/>
        </p:nvGrpSpPr>
        <p:grpSpPr bwMode="auto">
          <a:xfrm>
            <a:off x="1415495" y="1515628"/>
            <a:ext cx="4119563" cy="1497012"/>
            <a:chOff x="107504" y="4235836"/>
            <a:chExt cx="4119204" cy="1497420"/>
          </a:xfrm>
        </p:grpSpPr>
        <p:grpSp>
          <p:nvGrpSpPr>
            <p:cNvPr id="52" name="组合 8">
              <a:extLst>
                <a:ext uri="{FF2B5EF4-FFF2-40B4-BE49-F238E27FC236}">
                  <a16:creationId xmlns:a16="http://schemas.microsoft.com/office/drawing/2014/main" id="{CDD1D61D-A5B1-4BD8-A604-6A57D15FCEA0}"/>
                </a:ext>
              </a:extLst>
            </p:cNvPr>
            <p:cNvGrpSpPr>
              <a:grpSpLocks/>
            </p:cNvGrpSpPr>
            <p:nvPr/>
          </p:nvGrpSpPr>
          <p:grpSpPr bwMode="auto">
            <a:xfrm>
              <a:off x="107504" y="4293096"/>
              <a:ext cx="1176263" cy="1440160"/>
              <a:chOff x="107504" y="4293096"/>
              <a:chExt cx="1176263" cy="1440160"/>
            </a:xfrm>
          </p:grpSpPr>
          <p:sp>
            <p:nvSpPr>
              <p:cNvPr id="61" name="椭圆 1">
                <a:extLst>
                  <a:ext uri="{FF2B5EF4-FFF2-40B4-BE49-F238E27FC236}">
                    <a16:creationId xmlns:a16="http://schemas.microsoft.com/office/drawing/2014/main" id="{D6991749-C1EC-4B6E-9282-0018FF9D98DB}"/>
                  </a:ext>
                </a:extLst>
              </p:cNvPr>
              <p:cNvSpPr>
                <a:spLocks noChangeArrowheads="1"/>
              </p:cNvSpPr>
              <p:nvPr/>
            </p:nvSpPr>
            <p:spPr bwMode="auto">
              <a:xfrm>
                <a:off x="203647" y="4653136"/>
                <a:ext cx="1080120" cy="1080120"/>
              </a:xfrm>
              <a:prstGeom prst="ellipse">
                <a:avLst/>
              </a:prstGeom>
              <a:solidFill>
                <a:srgbClr val="FFFFFF"/>
              </a:solidFill>
              <a:ln w="28575" algn="ctr">
                <a:solidFill>
                  <a:schemeClr val="tx1"/>
                </a:solidFill>
                <a:round/>
                <a:headEnd/>
                <a:tailEnd/>
              </a:ln>
            </p:spPr>
            <p:txBody>
              <a:bodyPr/>
              <a:lstStyle>
                <a:lvl1pPr>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3pPr>
                <a:lvl4pPr marL="16002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4pPr>
                <a:lvl5pPr marL="20574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200">
                  <a:ea typeface="华文楷体" panose="02010600040101010101" pitchFamily="2" charset="-122"/>
                  <a:cs typeface="Times New Roman" panose="02020603050405020304" pitchFamily="18" charset="0"/>
                </a:endParaRPr>
              </a:p>
            </p:txBody>
          </p:sp>
          <p:cxnSp>
            <p:nvCxnSpPr>
              <p:cNvPr id="62" name="直接箭头连接符 5">
                <a:extLst>
                  <a:ext uri="{FF2B5EF4-FFF2-40B4-BE49-F238E27FC236}">
                    <a16:creationId xmlns:a16="http://schemas.microsoft.com/office/drawing/2014/main" id="{843869FD-D891-4041-88F0-D68F10E2BADC}"/>
                  </a:ext>
                </a:extLst>
              </p:cNvPr>
              <p:cNvCxnSpPr>
                <a:cxnSpLocks noChangeShapeType="1"/>
              </p:cNvCxnSpPr>
              <p:nvPr/>
            </p:nvCxnSpPr>
            <p:spPr bwMode="auto">
              <a:xfrm flipV="1">
                <a:off x="707703" y="4887380"/>
                <a:ext cx="468000" cy="360040"/>
              </a:xfrm>
              <a:prstGeom prst="straightConnector1">
                <a:avLst/>
              </a:prstGeom>
              <a:noFill/>
              <a:ln w="28575" algn="ctr">
                <a:solidFill>
                  <a:schemeClr val="tx1"/>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63" name="Object 16">
                    <a:extLst>
                      <a:ext uri="{FF2B5EF4-FFF2-40B4-BE49-F238E27FC236}">
                        <a16:creationId xmlns:a16="http://schemas.microsoft.com/office/drawing/2014/main" id="{78E9274C-11FA-4816-AD07-87E7DC304C5B}"/>
                      </a:ext>
                    </a:extLst>
                  </p:cNvPr>
                  <p:cNvSpPr txBox="1"/>
                  <p:nvPr/>
                </p:nvSpPr>
                <p:spPr bwMode="auto">
                  <a:xfrm>
                    <a:off x="107504" y="4293096"/>
                    <a:ext cx="384175" cy="503237"/>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1</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3" name="Object 16">
                    <a:extLst>
                      <a:ext uri="{FF2B5EF4-FFF2-40B4-BE49-F238E27FC236}">
                        <a16:creationId xmlns:a16="http://schemas.microsoft.com/office/drawing/2014/main" id="{78E9274C-11FA-4816-AD07-87E7DC304C5B}"/>
                      </a:ext>
                    </a:extLst>
                  </p:cNvPr>
                  <p:cNvSpPr txBox="1">
                    <a:spLocks noRot="1" noChangeAspect="1" noMove="1" noResize="1" noEditPoints="1" noAdjustHandles="1" noChangeArrowheads="1" noChangeShapeType="1" noTextEdit="1"/>
                  </p:cNvSpPr>
                  <p:nvPr/>
                </p:nvSpPr>
                <p:spPr bwMode="auto">
                  <a:xfrm>
                    <a:off x="107504" y="4293096"/>
                    <a:ext cx="384175" cy="503237"/>
                  </a:xfrm>
                  <a:prstGeom prst="rect">
                    <a:avLst/>
                  </a:prstGeom>
                  <a:blipFill>
                    <a:blip r:embed="rId2"/>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Object 16">
                    <a:extLst>
                      <a:ext uri="{FF2B5EF4-FFF2-40B4-BE49-F238E27FC236}">
                        <a16:creationId xmlns:a16="http://schemas.microsoft.com/office/drawing/2014/main" id="{A76D2476-1017-47D0-9BBD-8797A440E119}"/>
                      </a:ext>
                    </a:extLst>
                  </p:cNvPr>
                  <p:cNvSpPr txBox="1"/>
                  <p:nvPr/>
                </p:nvSpPr>
                <p:spPr bwMode="auto">
                  <a:xfrm>
                    <a:off x="786578" y="5000548"/>
                    <a:ext cx="442913" cy="503237"/>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4" name="Object 16">
                    <a:extLst>
                      <a:ext uri="{FF2B5EF4-FFF2-40B4-BE49-F238E27FC236}">
                        <a16:creationId xmlns:a16="http://schemas.microsoft.com/office/drawing/2014/main" id="{A76D2476-1017-47D0-9BBD-8797A440E119}"/>
                      </a:ext>
                    </a:extLst>
                  </p:cNvPr>
                  <p:cNvSpPr txBox="1">
                    <a:spLocks noRot="1" noChangeAspect="1" noMove="1" noResize="1" noEditPoints="1" noAdjustHandles="1" noChangeArrowheads="1" noChangeShapeType="1" noTextEdit="1"/>
                  </p:cNvSpPr>
                  <p:nvPr/>
                </p:nvSpPr>
                <p:spPr bwMode="auto">
                  <a:xfrm>
                    <a:off x="786578" y="5000548"/>
                    <a:ext cx="442913" cy="503237"/>
                  </a:xfrm>
                  <a:prstGeom prst="rect">
                    <a:avLst/>
                  </a:prstGeom>
                  <a:blipFill>
                    <a:blip r:embed="rId3"/>
                    <a:stretch>
                      <a:fillRect/>
                    </a:stretch>
                  </a:blipFill>
                  <a:ln>
                    <a:noFill/>
                  </a:ln>
                  <a:extLst/>
                </p:spPr>
                <p:txBody>
                  <a:bodyPr/>
                  <a:lstStyle/>
                  <a:p>
                    <a:r>
                      <a:rPr lang="en-US">
                        <a:noFill/>
                      </a:rPr>
                      <a:t> </a:t>
                    </a:r>
                  </a:p>
                </p:txBody>
              </p:sp>
            </mc:Fallback>
          </mc:AlternateContent>
        </p:grpSp>
        <p:grpSp>
          <p:nvGrpSpPr>
            <p:cNvPr id="53" name="组合 10">
              <a:extLst>
                <a:ext uri="{FF2B5EF4-FFF2-40B4-BE49-F238E27FC236}">
                  <a16:creationId xmlns:a16="http://schemas.microsoft.com/office/drawing/2014/main" id="{1ACDE0B9-6DC9-4EFA-A56F-A51796A4225D}"/>
                </a:ext>
              </a:extLst>
            </p:cNvPr>
            <p:cNvGrpSpPr>
              <a:grpSpLocks/>
            </p:cNvGrpSpPr>
            <p:nvPr/>
          </p:nvGrpSpPr>
          <p:grpSpPr bwMode="auto">
            <a:xfrm>
              <a:off x="3276726" y="4334256"/>
              <a:ext cx="949982" cy="1161784"/>
              <a:chOff x="3276726" y="4334256"/>
              <a:chExt cx="949982" cy="1161784"/>
            </a:xfrm>
          </p:grpSpPr>
          <p:sp>
            <p:nvSpPr>
              <p:cNvPr id="57" name="椭圆 9">
                <a:extLst>
                  <a:ext uri="{FF2B5EF4-FFF2-40B4-BE49-F238E27FC236}">
                    <a16:creationId xmlns:a16="http://schemas.microsoft.com/office/drawing/2014/main" id="{43193A93-BD22-494A-8972-AD157DFB02CD}"/>
                  </a:ext>
                </a:extLst>
              </p:cNvPr>
              <p:cNvSpPr>
                <a:spLocks noChangeArrowheads="1"/>
              </p:cNvSpPr>
              <p:nvPr/>
            </p:nvSpPr>
            <p:spPr bwMode="auto">
              <a:xfrm>
                <a:off x="3389506" y="4776040"/>
                <a:ext cx="720080" cy="720000"/>
              </a:xfrm>
              <a:prstGeom prst="ellipse">
                <a:avLst/>
              </a:prstGeom>
              <a:solidFill>
                <a:srgbClr val="FFFFFF"/>
              </a:solidFill>
              <a:ln w="28575">
                <a:solidFill>
                  <a:schemeClr val="tx1"/>
                </a:solidFill>
                <a:round/>
                <a:headEnd/>
                <a:tailEnd/>
              </a:ln>
            </p:spPr>
            <p:txBody>
              <a:bodyPr/>
              <a:lstStyle>
                <a:lvl1pPr>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3pPr>
                <a:lvl4pPr marL="16002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4pPr>
                <a:lvl5pPr marL="20574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200">
                  <a:ea typeface="华文楷体" panose="02010600040101010101" pitchFamily="2" charset="-122"/>
                  <a:cs typeface="Times New Roman" panose="02020603050405020304" pitchFamily="18" charset="0"/>
                </a:endParaRPr>
              </a:p>
            </p:txBody>
          </p:sp>
          <p:cxnSp>
            <p:nvCxnSpPr>
              <p:cNvPr id="58" name="直接箭头连接符 14">
                <a:extLst>
                  <a:ext uri="{FF2B5EF4-FFF2-40B4-BE49-F238E27FC236}">
                    <a16:creationId xmlns:a16="http://schemas.microsoft.com/office/drawing/2014/main" id="{4BDD5C5B-4B60-40D2-A603-419AD7B9F0D9}"/>
                  </a:ext>
                </a:extLst>
              </p:cNvPr>
              <p:cNvCxnSpPr>
                <a:cxnSpLocks noChangeShapeType="1"/>
              </p:cNvCxnSpPr>
              <p:nvPr/>
            </p:nvCxnSpPr>
            <p:spPr bwMode="auto">
              <a:xfrm flipV="1">
                <a:off x="3713570" y="4925119"/>
                <a:ext cx="360000" cy="252000"/>
              </a:xfrm>
              <a:prstGeom prst="straightConnector1">
                <a:avLst/>
              </a:prstGeom>
              <a:noFill/>
              <a:ln w="28575" algn="ctr">
                <a:solidFill>
                  <a:schemeClr val="tx1"/>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59" name="Object 16">
                    <a:extLst>
                      <a:ext uri="{FF2B5EF4-FFF2-40B4-BE49-F238E27FC236}">
                        <a16:creationId xmlns:a16="http://schemas.microsoft.com/office/drawing/2014/main" id="{CFFD8721-47AF-45DF-86AF-3DD0FCD0DA53}"/>
                      </a:ext>
                    </a:extLst>
                  </p:cNvPr>
                  <p:cNvSpPr txBox="1"/>
                  <p:nvPr/>
                </p:nvSpPr>
                <p:spPr bwMode="auto">
                  <a:xfrm>
                    <a:off x="3276726" y="4334256"/>
                    <a:ext cx="384175" cy="503237"/>
                  </a:xfrm>
                  <a:prstGeom prst="rect">
                    <a:avLst/>
                  </a:prstGeom>
                  <a:noFill/>
                  <a:ln>
                    <a:noFill/>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2</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9" name="Object 16">
                    <a:extLst>
                      <a:ext uri="{FF2B5EF4-FFF2-40B4-BE49-F238E27FC236}">
                        <a16:creationId xmlns:a16="http://schemas.microsoft.com/office/drawing/2014/main" id="{CFFD8721-47AF-45DF-86AF-3DD0FCD0DA53}"/>
                      </a:ext>
                    </a:extLst>
                  </p:cNvPr>
                  <p:cNvSpPr txBox="1">
                    <a:spLocks noRot="1" noChangeAspect="1" noMove="1" noResize="1" noEditPoints="1" noAdjustHandles="1" noChangeArrowheads="1" noChangeShapeType="1" noTextEdit="1"/>
                  </p:cNvSpPr>
                  <p:nvPr/>
                </p:nvSpPr>
                <p:spPr bwMode="auto">
                  <a:xfrm>
                    <a:off x="3276726" y="4334256"/>
                    <a:ext cx="384175" cy="503237"/>
                  </a:xfrm>
                  <a:prstGeom prst="rect">
                    <a:avLst/>
                  </a:prstGeom>
                  <a:blipFill>
                    <a:blip r:embed="rId4"/>
                    <a:stretch>
                      <a:fillRect l="-1563" r="-10938"/>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Object 16">
                    <a:extLst>
                      <a:ext uri="{FF2B5EF4-FFF2-40B4-BE49-F238E27FC236}">
                        <a16:creationId xmlns:a16="http://schemas.microsoft.com/office/drawing/2014/main" id="{DA820492-F48F-4561-9257-22C1F79435B4}"/>
                      </a:ext>
                    </a:extLst>
                  </p:cNvPr>
                  <p:cNvSpPr txBox="1"/>
                  <p:nvPr/>
                </p:nvSpPr>
                <p:spPr bwMode="auto">
                  <a:xfrm>
                    <a:off x="3755220" y="4965460"/>
                    <a:ext cx="471488" cy="5032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0" name="Object 16">
                    <a:extLst>
                      <a:ext uri="{FF2B5EF4-FFF2-40B4-BE49-F238E27FC236}">
                        <a16:creationId xmlns:a16="http://schemas.microsoft.com/office/drawing/2014/main" id="{DA820492-F48F-4561-9257-22C1F79435B4}"/>
                      </a:ext>
                    </a:extLst>
                  </p:cNvPr>
                  <p:cNvSpPr txBox="1">
                    <a:spLocks noRot="1" noChangeAspect="1" noMove="1" noResize="1" noEditPoints="1" noAdjustHandles="1" noChangeArrowheads="1" noChangeShapeType="1" noTextEdit="1"/>
                  </p:cNvSpPr>
                  <p:nvPr/>
                </p:nvSpPr>
                <p:spPr bwMode="auto">
                  <a:xfrm>
                    <a:off x="3755220" y="4965460"/>
                    <a:ext cx="471488" cy="503237"/>
                  </a:xfrm>
                  <a:prstGeom prst="rect">
                    <a:avLst/>
                  </a:prstGeom>
                  <a:blipFill>
                    <a:blip r:embed="rId5"/>
                    <a:stretch>
                      <a:fillRect/>
                    </a:stretch>
                  </a:blipFill>
                  <a:ln>
                    <a:noFill/>
                  </a:ln>
                  <a:extLst/>
                </p:spPr>
                <p:txBody>
                  <a:bodyPr/>
                  <a:lstStyle/>
                  <a:p>
                    <a:r>
                      <a:rPr lang="en-US">
                        <a:noFill/>
                      </a:rPr>
                      <a:t> </a:t>
                    </a:r>
                  </a:p>
                </p:txBody>
              </p:sp>
            </mc:Fallback>
          </mc:AlternateContent>
        </p:grpSp>
        <p:sp>
          <p:nvSpPr>
            <p:cNvPr id="54" name="任意多边形 6">
              <a:extLst>
                <a:ext uri="{FF2B5EF4-FFF2-40B4-BE49-F238E27FC236}">
                  <a16:creationId xmlns:a16="http://schemas.microsoft.com/office/drawing/2014/main" id="{A763263E-0568-4EEB-9AA1-7AAB9AC10A6F}"/>
                </a:ext>
              </a:extLst>
            </p:cNvPr>
            <p:cNvSpPr>
              <a:spLocks/>
            </p:cNvSpPr>
            <p:nvPr/>
          </p:nvSpPr>
          <p:spPr bwMode="auto">
            <a:xfrm rot="-480000">
              <a:off x="1251157" y="5096624"/>
              <a:ext cx="2160000" cy="180000"/>
            </a:xfrm>
            <a:custGeom>
              <a:avLst/>
              <a:gdLst>
                <a:gd name="T0" fmla="*/ 0 w 2124635"/>
                <a:gd name="T1" fmla="*/ 68308 h 492147"/>
                <a:gd name="T2" fmla="*/ 478481 w 2124635"/>
                <a:gd name="T3" fmla="*/ 4371 h 492147"/>
                <a:gd name="T4" fmla="*/ 1148355 w 2124635"/>
                <a:gd name="T5" fmla="*/ 176508 h 492147"/>
                <a:gd name="T6" fmla="*/ 1777216 w 2124635"/>
                <a:gd name="T7" fmla="*/ 122408 h 492147"/>
                <a:gd name="T8" fmla="*/ 2160000 w 2124635"/>
                <a:gd name="T9" fmla="*/ 151917 h 492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4635" h="492147">
                  <a:moveTo>
                    <a:pt x="0" y="186764"/>
                  </a:moveTo>
                  <a:cubicBezTo>
                    <a:pt x="141194" y="74705"/>
                    <a:pt x="282388" y="-37354"/>
                    <a:pt x="470647" y="11952"/>
                  </a:cubicBezTo>
                  <a:cubicBezTo>
                    <a:pt x="658906" y="61258"/>
                    <a:pt x="916641" y="428811"/>
                    <a:pt x="1129553" y="482599"/>
                  </a:cubicBezTo>
                  <a:cubicBezTo>
                    <a:pt x="1342465" y="536387"/>
                    <a:pt x="1582271" y="345887"/>
                    <a:pt x="1748118" y="334681"/>
                  </a:cubicBezTo>
                  <a:cubicBezTo>
                    <a:pt x="1913965" y="323475"/>
                    <a:pt x="2019300" y="369419"/>
                    <a:pt x="2124635" y="415364"/>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Object 16">
                  <a:extLst>
                    <a:ext uri="{FF2B5EF4-FFF2-40B4-BE49-F238E27FC236}">
                      <a16:creationId xmlns:a16="http://schemas.microsoft.com/office/drawing/2014/main" id="{EDCEF907-8A9D-4345-898C-4C494D454A79}"/>
                    </a:ext>
                  </a:extLst>
                </p:cNvPr>
                <p:cNvSpPr txBox="1"/>
                <p:nvPr/>
              </p:nvSpPr>
              <p:spPr bwMode="auto">
                <a:xfrm>
                  <a:off x="672703" y="4235836"/>
                  <a:ext cx="442913" cy="5032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1</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5" name="Object 16">
                  <a:extLst>
                    <a:ext uri="{FF2B5EF4-FFF2-40B4-BE49-F238E27FC236}">
                      <a16:creationId xmlns:a16="http://schemas.microsoft.com/office/drawing/2014/main" id="{EDCEF907-8A9D-4345-898C-4C494D454A79}"/>
                    </a:ext>
                  </a:extLst>
                </p:cNvPr>
                <p:cNvSpPr txBox="1">
                  <a:spLocks noRot="1" noChangeAspect="1" noMove="1" noResize="1" noEditPoints="1" noAdjustHandles="1" noChangeArrowheads="1" noChangeShapeType="1" noTextEdit="1"/>
                </p:cNvSpPr>
                <p:nvPr/>
              </p:nvSpPr>
              <p:spPr bwMode="auto">
                <a:xfrm>
                  <a:off x="672703" y="4235836"/>
                  <a:ext cx="442913" cy="503237"/>
                </a:xfrm>
                <a:prstGeom prst="rect">
                  <a:avLst/>
                </a:prstGeom>
                <a:blipFill>
                  <a:blip r:embed="rId6"/>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bject 16">
                  <a:extLst>
                    <a:ext uri="{FF2B5EF4-FFF2-40B4-BE49-F238E27FC236}">
                      <a16:creationId xmlns:a16="http://schemas.microsoft.com/office/drawing/2014/main" id="{7D3CB144-3BD6-4FF4-BC2A-8A33C3CEADC7}"/>
                    </a:ext>
                  </a:extLst>
                </p:cNvPr>
                <p:cNvSpPr txBox="1"/>
                <p:nvPr/>
              </p:nvSpPr>
              <p:spPr bwMode="auto">
                <a:xfrm>
                  <a:off x="3722652" y="4379852"/>
                  <a:ext cx="442913" cy="5032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2</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6" name="Object 16">
                  <a:extLst>
                    <a:ext uri="{FF2B5EF4-FFF2-40B4-BE49-F238E27FC236}">
                      <a16:creationId xmlns:a16="http://schemas.microsoft.com/office/drawing/2014/main" id="{7D3CB144-3BD6-4FF4-BC2A-8A33C3CEADC7}"/>
                    </a:ext>
                  </a:extLst>
                </p:cNvPr>
                <p:cNvSpPr txBox="1">
                  <a:spLocks noRot="1" noChangeAspect="1" noMove="1" noResize="1" noEditPoints="1" noAdjustHandles="1" noChangeArrowheads="1" noChangeShapeType="1" noTextEdit="1"/>
                </p:cNvSpPr>
                <p:nvPr/>
              </p:nvSpPr>
              <p:spPr bwMode="auto">
                <a:xfrm>
                  <a:off x="3722652" y="4379852"/>
                  <a:ext cx="442913" cy="503237"/>
                </a:xfrm>
                <a:prstGeom prst="rect">
                  <a:avLst/>
                </a:prstGeom>
                <a:blipFill>
                  <a:blip r:embed="rId7"/>
                  <a:stretch>
                    <a:fillRect/>
                  </a:stretch>
                </a:blipFill>
                <a:ln>
                  <a:noFill/>
                </a:ln>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5" name="Object 16">
                <a:extLst>
                  <a:ext uri="{FF2B5EF4-FFF2-40B4-BE49-F238E27FC236}">
                    <a16:creationId xmlns:a16="http://schemas.microsoft.com/office/drawing/2014/main" id="{10F10E7C-9C2F-4CA0-9A0A-44569AC18496}"/>
                  </a:ext>
                </a:extLst>
              </p:cNvPr>
              <p:cNvSpPr txBox="1"/>
              <p:nvPr/>
            </p:nvSpPr>
            <p:spPr bwMode="auto">
              <a:xfrm>
                <a:off x="1415495" y="3067845"/>
                <a:ext cx="1831975" cy="1033462"/>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𝑉</m:t>
                      </m:r>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1</m:t>
                              </m:r>
                            </m:sub>
                          </m:sSub>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5" name="Object 16">
                <a:extLst>
                  <a:ext uri="{FF2B5EF4-FFF2-40B4-BE49-F238E27FC236}">
                    <a16:creationId xmlns:a16="http://schemas.microsoft.com/office/drawing/2014/main" id="{10F10E7C-9C2F-4CA0-9A0A-44569AC18496}"/>
                  </a:ext>
                </a:extLst>
              </p:cNvPr>
              <p:cNvSpPr txBox="1">
                <a:spLocks noRot="1" noChangeAspect="1" noMove="1" noResize="1" noEditPoints="1" noAdjustHandles="1" noChangeArrowheads="1" noChangeShapeType="1" noTextEdit="1"/>
              </p:cNvSpPr>
              <p:nvPr/>
            </p:nvSpPr>
            <p:spPr bwMode="auto">
              <a:xfrm>
                <a:off x="1415495" y="3067845"/>
                <a:ext cx="1831975" cy="1033462"/>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Object 16">
                <a:extLst>
                  <a:ext uri="{FF2B5EF4-FFF2-40B4-BE49-F238E27FC236}">
                    <a16:creationId xmlns:a16="http://schemas.microsoft.com/office/drawing/2014/main" id="{E8ECF21A-AF66-4292-9350-B9DB650AFFA7}"/>
                  </a:ext>
                </a:extLst>
              </p:cNvPr>
              <p:cNvSpPr txBox="1"/>
              <p:nvPr/>
            </p:nvSpPr>
            <p:spPr bwMode="auto">
              <a:xfrm>
                <a:off x="3193495" y="3077370"/>
                <a:ext cx="1504950" cy="1033462"/>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2</m:t>
                              </m:r>
                            </m:sub>
                          </m:sSub>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6" name="Object 16">
                <a:extLst>
                  <a:ext uri="{FF2B5EF4-FFF2-40B4-BE49-F238E27FC236}">
                    <a16:creationId xmlns:a16="http://schemas.microsoft.com/office/drawing/2014/main" id="{E8ECF21A-AF66-4292-9350-B9DB650AFFA7}"/>
                  </a:ext>
                </a:extLst>
              </p:cNvPr>
              <p:cNvSpPr txBox="1">
                <a:spLocks noRot="1" noChangeAspect="1" noMove="1" noResize="1" noEditPoints="1" noAdjustHandles="1" noChangeArrowheads="1" noChangeShapeType="1" noTextEdit="1"/>
              </p:cNvSpPr>
              <p:nvPr/>
            </p:nvSpPr>
            <p:spPr bwMode="auto">
              <a:xfrm>
                <a:off x="3193495" y="3077370"/>
                <a:ext cx="1504950" cy="1033462"/>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Object 16">
                <a:extLst>
                  <a:ext uri="{FF2B5EF4-FFF2-40B4-BE49-F238E27FC236}">
                    <a16:creationId xmlns:a16="http://schemas.microsoft.com/office/drawing/2014/main" id="{887A7429-4BB5-4CB9-804D-B4D33C9B13D6}"/>
                  </a:ext>
                </a:extLst>
              </p:cNvPr>
              <p:cNvSpPr txBox="1"/>
              <p:nvPr/>
            </p:nvSpPr>
            <p:spPr bwMode="auto">
              <a:xfrm>
                <a:off x="1597571" y="4224396"/>
                <a:ext cx="1300163" cy="1033462"/>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1</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2</m:t>
                              </m:r>
                            </m:sub>
                          </m:sSub>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7" name="Object 16">
                <a:extLst>
                  <a:ext uri="{FF2B5EF4-FFF2-40B4-BE49-F238E27FC236}">
                    <a16:creationId xmlns:a16="http://schemas.microsoft.com/office/drawing/2014/main" id="{887A7429-4BB5-4CB9-804D-B4D33C9B13D6}"/>
                  </a:ext>
                </a:extLst>
              </p:cNvPr>
              <p:cNvSpPr txBox="1">
                <a:spLocks noRot="1" noChangeAspect="1" noMove="1" noResize="1" noEditPoints="1" noAdjustHandles="1" noChangeArrowheads="1" noChangeShapeType="1" noTextEdit="1"/>
              </p:cNvSpPr>
              <p:nvPr/>
            </p:nvSpPr>
            <p:spPr bwMode="auto">
              <a:xfrm>
                <a:off x="1597571" y="4224396"/>
                <a:ext cx="1300163" cy="1033462"/>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Object 16">
                <a:extLst>
                  <a:ext uri="{FF2B5EF4-FFF2-40B4-BE49-F238E27FC236}">
                    <a16:creationId xmlns:a16="http://schemas.microsoft.com/office/drawing/2014/main" id="{A092B4EA-7878-4654-9F69-9FA2EBCBE56A}"/>
                  </a:ext>
                </a:extLst>
              </p:cNvPr>
              <p:cNvSpPr txBox="1"/>
              <p:nvPr/>
            </p:nvSpPr>
            <p:spPr bwMode="auto">
              <a:xfrm>
                <a:off x="2897734" y="4208521"/>
                <a:ext cx="1241425" cy="10620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1</m:t>
                              </m:r>
                            </m:sub>
                          </m:sSub>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up>
                              <m:r>
                                <a:rPr lang="en-US" sz="3200" i="1">
                                  <a:solidFill>
                                    <a:srgbClr val="000000"/>
                                  </a:solidFill>
                                  <a:latin typeface="Cambria Math" panose="02040503050406030204" pitchFamily="18" charset="0"/>
                                </a:rPr>
                                <m:t>2</m:t>
                              </m:r>
                            </m:sup>
                          </m:sSubSup>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2</m:t>
                              </m:r>
                            </m:sub>
                          </m:sSub>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up>
                              <m:r>
                                <a:rPr lang="en-US" sz="3200" i="1">
                                  <a:solidFill>
                                    <a:srgbClr val="000000"/>
                                  </a:solidFill>
                                  <a:latin typeface="Cambria Math" panose="02040503050406030204" pitchFamily="18" charset="0"/>
                                </a:rPr>
                                <m:t>2</m:t>
                              </m:r>
                            </m:sup>
                          </m:sSubSup>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8" name="Object 16">
                <a:extLst>
                  <a:ext uri="{FF2B5EF4-FFF2-40B4-BE49-F238E27FC236}">
                    <a16:creationId xmlns:a16="http://schemas.microsoft.com/office/drawing/2014/main" id="{A092B4EA-7878-4654-9F69-9FA2EBCBE56A}"/>
                  </a:ext>
                </a:extLst>
              </p:cNvPr>
              <p:cNvSpPr txBox="1">
                <a:spLocks noRot="1" noChangeAspect="1" noMove="1" noResize="1" noEditPoints="1" noAdjustHandles="1" noChangeArrowheads="1" noChangeShapeType="1" noTextEdit="1"/>
              </p:cNvSpPr>
              <p:nvPr/>
            </p:nvSpPr>
            <p:spPr bwMode="auto">
              <a:xfrm>
                <a:off x="2897734" y="4208521"/>
                <a:ext cx="1241425" cy="1062037"/>
              </a:xfrm>
              <a:prstGeom prst="rect">
                <a:avLst/>
              </a:prstGeom>
              <a:blipFill>
                <a:blip r:embed="rId11"/>
                <a:stretch>
                  <a:fillRect/>
                </a:stretch>
              </a:blipFill>
              <a:ln>
                <a:noFill/>
              </a:ln>
            </p:spPr>
            <p:txBody>
              <a:bodyPr/>
              <a:lstStyle/>
              <a:p>
                <a:r>
                  <a:rPr lang="en-US">
                    <a:noFill/>
                  </a:rPr>
                  <a:t> </a:t>
                </a:r>
              </a:p>
            </p:txBody>
          </p:sp>
        </mc:Fallback>
      </mc:AlternateContent>
      <p:sp>
        <p:nvSpPr>
          <p:cNvPr id="69" name="Text Box 2">
            <a:extLst>
              <a:ext uri="{FF2B5EF4-FFF2-40B4-BE49-F238E27FC236}">
                <a16:creationId xmlns:a16="http://schemas.microsoft.com/office/drawing/2014/main" id="{AA63BB6B-8EA7-4744-ACFE-BCB348FF2342}"/>
              </a:ext>
            </a:extLst>
          </p:cNvPr>
          <p:cNvSpPr txBox="1">
            <a:spLocks noChangeArrowheads="1"/>
          </p:cNvSpPr>
          <p:nvPr/>
        </p:nvSpPr>
        <p:spPr bwMode="auto">
          <a:xfrm>
            <a:off x="2816963" y="1866880"/>
            <a:ext cx="17649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dirty="0">
                <a:solidFill>
                  <a:srgbClr val="0066FF"/>
                </a:solidFill>
                <a:ea typeface="华文楷体" panose="02010600040101010101" pitchFamily="2" charset="-122"/>
                <a:cs typeface="Times New Roman" panose="02020603050405020304" pitchFamily="18" charset="0"/>
              </a:rPr>
              <a:t>无限远</a:t>
            </a:r>
          </a:p>
        </p:txBody>
      </p:sp>
      <mc:AlternateContent xmlns:mc="http://schemas.openxmlformats.org/markup-compatibility/2006" xmlns:a14="http://schemas.microsoft.com/office/drawing/2010/main">
        <mc:Choice Requires="a14">
          <p:sp>
            <p:nvSpPr>
              <p:cNvPr id="70" name="Object 16">
                <a:extLst>
                  <a:ext uri="{FF2B5EF4-FFF2-40B4-BE49-F238E27FC236}">
                    <a16:creationId xmlns:a16="http://schemas.microsoft.com/office/drawing/2014/main" id="{6BFF5508-26C2-459B-82A8-C81F27B26864}"/>
                  </a:ext>
                </a:extLst>
              </p:cNvPr>
              <p:cNvSpPr txBox="1"/>
              <p:nvPr/>
            </p:nvSpPr>
            <p:spPr bwMode="auto">
              <a:xfrm>
                <a:off x="4607323" y="4223601"/>
                <a:ext cx="1360488" cy="1031875"/>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1</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2</m:t>
                              </m:r>
                            </m:sub>
                          </m:sSub>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0" name="Object 16">
                <a:extLst>
                  <a:ext uri="{FF2B5EF4-FFF2-40B4-BE49-F238E27FC236}">
                    <a16:creationId xmlns:a16="http://schemas.microsoft.com/office/drawing/2014/main" id="{6BFF5508-26C2-459B-82A8-C81F27B26864}"/>
                  </a:ext>
                </a:extLst>
              </p:cNvPr>
              <p:cNvSpPr txBox="1">
                <a:spLocks noRot="1" noChangeAspect="1" noMove="1" noResize="1" noEditPoints="1" noAdjustHandles="1" noChangeArrowheads="1" noChangeShapeType="1" noTextEdit="1"/>
              </p:cNvSpPr>
              <p:nvPr/>
            </p:nvSpPr>
            <p:spPr bwMode="auto">
              <a:xfrm>
                <a:off x="4607323" y="4223601"/>
                <a:ext cx="1360488" cy="1031875"/>
              </a:xfrm>
              <a:prstGeom prst="rect">
                <a:avLst/>
              </a:prstGeom>
              <a:blipFill>
                <a:blip r:embed="rId12"/>
                <a:stretch>
                  <a:fillRect/>
                </a:stretch>
              </a:blipFill>
              <a:ln>
                <a:noFill/>
              </a:ln>
            </p:spPr>
            <p:txBody>
              <a:bodyPr/>
              <a:lstStyle/>
              <a:p>
                <a:r>
                  <a:rPr lang="en-US">
                    <a:noFill/>
                  </a:rPr>
                  <a:t> </a:t>
                </a:r>
              </a:p>
            </p:txBody>
          </p:sp>
        </mc:Fallback>
      </mc:AlternateContent>
      <p:sp>
        <p:nvSpPr>
          <p:cNvPr id="71" name="Rectangle 3">
            <a:extLst>
              <a:ext uri="{FF2B5EF4-FFF2-40B4-BE49-F238E27FC236}">
                <a16:creationId xmlns:a16="http://schemas.microsoft.com/office/drawing/2014/main" id="{58EB44BA-67E4-47E8-A3B0-E2C344B9AE0B}"/>
              </a:ext>
            </a:extLst>
          </p:cNvPr>
          <p:cNvSpPr>
            <a:spLocks noChangeArrowheads="1"/>
          </p:cNvSpPr>
          <p:nvPr/>
        </p:nvSpPr>
        <p:spPr bwMode="auto">
          <a:xfrm>
            <a:off x="597832" y="5449992"/>
            <a:ext cx="1099633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dirty="0">
                <a:ea typeface="华文楷体" panose="02010600040101010101" pitchFamily="2" charset="-122"/>
                <a:cs typeface="Times New Roman" panose="02020603050405020304" pitchFamily="18" charset="0"/>
              </a:rPr>
              <a:t>在表面凸出的尖锐部分</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曲率是正值且较大</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电荷面密度较大</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在比较平坦部分</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曲率较小</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电荷面密度较小，在表面凹进部分带电面密度最小</a:t>
            </a:r>
          </a:p>
        </p:txBody>
      </p:sp>
      <p:pic>
        <p:nvPicPr>
          <p:cNvPr id="72" name="Picture 42" descr="FG23_18">
            <a:extLst>
              <a:ext uri="{FF2B5EF4-FFF2-40B4-BE49-F238E27FC236}">
                <a16:creationId xmlns:a16="http://schemas.microsoft.com/office/drawing/2014/main" id="{41D1891E-E4A1-42F7-8594-BB39B876296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59035" y="1190969"/>
            <a:ext cx="3121948" cy="395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3">
            <a:extLst>
              <a:ext uri="{FF2B5EF4-FFF2-40B4-BE49-F238E27FC236}">
                <a16:creationId xmlns:a16="http://schemas.microsoft.com/office/drawing/2014/main" id="{A231F43D-5269-4B15-8630-F539CB3CE70A}"/>
              </a:ext>
            </a:extLst>
          </p:cNvPr>
          <p:cNvSpPr txBox="1">
            <a:spLocks noChangeArrowheads="1"/>
          </p:cNvSpPr>
          <p:nvPr/>
        </p:nvSpPr>
        <p:spPr bwMode="auto">
          <a:xfrm>
            <a:off x="684916" y="404258"/>
            <a:ext cx="50203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导体表面电荷分布</a:t>
            </a:r>
          </a:p>
        </p:txBody>
      </p:sp>
      <p:sp>
        <p:nvSpPr>
          <p:cNvPr id="26" name="Rectangle 3">
            <a:extLst>
              <a:ext uri="{FF2B5EF4-FFF2-40B4-BE49-F238E27FC236}">
                <a16:creationId xmlns:a16="http://schemas.microsoft.com/office/drawing/2014/main" id="{ED05AA15-EE0E-40A8-AA2A-7C05D03CC95B}"/>
              </a:ext>
            </a:extLst>
          </p:cNvPr>
          <p:cNvSpPr>
            <a:spLocks noChangeArrowheads="1"/>
          </p:cNvSpPr>
          <p:nvPr/>
        </p:nvSpPr>
        <p:spPr bwMode="auto">
          <a:xfrm>
            <a:off x="1134253" y="936394"/>
            <a:ext cx="4961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dirty="0">
                <a:ea typeface="华文楷体" panose="02010600040101010101" pitchFamily="2" charset="-122"/>
                <a:cs typeface="Times New Roman" panose="02020603050405020304" pitchFamily="18" charset="0"/>
              </a:rPr>
              <a:t>假设两表面带电导体球</a:t>
            </a:r>
          </a:p>
        </p:txBody>
      </p:sp>
      <mc:AlternateContent xmlns:mc="http://schemas.openxmlformats.org/markup-compatibility/2006">
        <mc:Choice xmlns:a14="http://schemas.microsoft.com/office/drawing/2010/main" Requires="a14">
          <p:sp>
            <p:nvSpPr>
              <p:cNvPr id="27" name="Object 18">
                <a:extLst>
                  <a:ext uri="{FF2B5EF4-FFF2-40B4-BE49-F238E27FC236}">
                    <a16:creationId xmlns:a16="http://schemas.microsoft.com/office/drawing/2014/main" id="{07CEC4D0-5B43-49D2-AE76-0191C42753A3}"/>
                  </a:ext>
                </a:extLst>
              </p:cNvPr>
              <p:cNvSpPr txBox="1"/>
              <p:nvPr/>
            </p:nvSpPr>
            <p:spPr bwMode="auto">
              <a:xfrm>
                <a:off x="8981792" y="492201"/>
                <a:ext cx="1752600"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b="0" i="1" kern="0">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7" name="Object 18">
                <a:extLst>
                  <a:ext uri="{FF2B5EF4-FFF2-40B4-BE49-F238E27FC236}">
                    <a16:creationId xmlns:a16="http://schemas.microsoft.com/office/drawing/2014/main" id="{07CEC4D0-5B43-49D2-AE76-0191C42753A3}"/>
                  </a:ext>
                </a:extLst>
              </p:cNvPr>
              <p:cNvSpPr txBox="1">
                <a:spLocks noRot="1" noChangeAspect="1" noMove="1" noResize="1" noEditPoints="1" noAdjustHandles="1" noChangeArrowheads="1" noChangeShapeType="1" noTextEdit="1"/>
              </p:cNvSpPr>
              <p:nvPr/>
            </p:nvSpPr>
            <p:spPr bwMode="auto">
              <a:xfrm>
                <a:off x="8981792" y="492201"/>
                <a:ext cx="1752600" cy="1219200"/>
              </a:xfrm>
              <a:prstGeom prst="rect">
                <a:avLst/>
              </a:prstGeom>
              <a:blipFill>
                <a:blip r:embed="rId14"/>
                <a:stretch>
                  <a:fillRect/>
                </a:stretch>
              </a:blipFill>
              <a:ln w="9525">
                <a:noFill/>
                <a:miter lim="800000"/>
                <a:headEnd/>
                <a:tailEnd/>
              </a:ln>
              <a:effectLst/>
            </p:spPr>
            <p:txBody>
              <a:bodyPr/>
              <a:lstStyle/>
              <a:p>
                <a:r>
                  <a:rPr lang="en-US">
                    <a:noFill/>
                  </a:rPr>
                  <a:t> </a:t>
                </a:r>
              </a:p>
            </p:txBody>
          </p:sp>
        </mc:Fallback>
      </mc:AlternateContent>
    </p:spTree>
    <p:extLst>
      <p:ext uri="{BB962C8B-B14F-4D97-AF65-F5344CB8AC3E}">
        <p14:creationId xmlns:p14="http://schemas.microsoft.com/office/powerpoint/2010/main" val="32987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69" grpId="0" autoUpdateAnimBg="0"/>
      <p:bldP spid="70" grpId="0"/>
      <p:bldP spid="71" grpId="0"/>
      <p:bldP spid="26"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Z7"/>
          <p:cNvPicPr>
            <a:picLocks noChangeAspect="1"/>
          </p:cNvPicPr>
          <p:nvPr/>
        </p:nvPicPr>
        <p:blipFill>
          <a:blip r:embed="rId2"/>
          <a:stretch>
            <a:fillRect/>
          </a:stretch>
        </p:blipFill>
        <p:spPr>
          <a:xfrm>
            <a:off x="927100" y="1388376"/>
            <a:ext cx="3937000" cy="4270131"/>
          </a:xfrm>
          <a:prstGeom prst="rect">
            <a:avLst/>
          </a:prstGeom>
          <a:noFill/>
          <a:ln w="9525" cap="flat" cmpd="sng">
            <a:solidFill>
              <a:schemeClr val="tx2"/>
            </a:solidFill>
            <a:prstDash val="solid"/>
            <a:miter/>
            <a:headEnd type="none" w="med" len="med"/>
            <a:tailEnd type="none" w="med" len="med"/>
          </a:ln>
        </p:spPr>
      </p:pic>
      <p:sp>
        <p:nvSpPr>
          <p:cNvPr id="128003" name="Text Box 3"/>
          <p:cNvSpPr txBox="1"/>
          <p:nvPr/>
        </p:nvSpPr>
        <p:spPr>
          <a:xfrm>
            <a:off x="5930900" y="3923780"/>
            <a:ext cx="5105400" cy="523220"/>
          </a:xfrm>
          <a:prstGeom prst="rect">
            <a:avLst/>
          </a:prstGeom>
          <a:noFill/>
          <a:ln w="9525">
            <a:noFill/>
          </a:ln>
        </p:spPr>
        <p:txBody>
          <a:bodyPr anchor="t" anchorCtr="0">
            <a:spAutoFit/>
          </a:bodyPr>
          <a:lstStyle/>
          <a:p>
            <a:pPr>
              <a:spcBef>
                <a:spcPct val="50000"/>
              </a:spcBef>
            </a:pPr>
            <a:r>
              <a:rPr lang="en-US" altLang="zh-CN" sz="2800" dirty="0">
                <a:latin typeface="+mn-ea"/>
              </a:rPr>
              <a:t>- </a:t>
            </a:r>
            <a:r>
              <a:rPr lang="zh-CN" altLang="en-US" sz="2800" dirty="0">
                <a:latin typeface="+mn-ea"/>
              </a:rPr>
              <a:t>带电导体尖端附近电场最强</a:t>
            </a:r>
          </a:p>
        </p:txBody>
      </p:sp>
      <p:sp>
        <p:nvSpPr>
          <p:cNvPr id="128005" name="Rectangle 5"/>
          <p:cNvSpPr/>
          <p:nvPr/>
        </p:nvSpPr>
        <p:spPr>
          <a:xfrm>
            <a:off x="5930900" y="4636567"/>
            <a:ext cx="5334000" cy="1815882"/>
          </a:xfrm>
          <a:prstGeom prst="rect">
            <a:avLst/>
          </a:prstGeom>
          <a:noFill/>
          <a:ln w="9525">
            <a:noFill/>
          </a:ln>
        </p:spPr>
        <p:txBody>
          <a:bodyPr anchor="t" anchorCtr="0">
            <a:spAutoFit/>
          </a:bodyPr>
          <a:lstStyle/>
          <a:p>
            <a:pPr>
              <a:spcBef>
                <a:spcPct val="50000"/>
              </a:spcBef>
            </a:pPr>
            <a:r>
              <a:rPr lang="en-US" altLang="zh-CN" sz="2800" dirty="0">
                <a:latin typeface="+mn-ea"/>
              </a:rPr>
              <a:t>- </a:t>
            </a:r>
            <a:r>
              <a:rPr lang="zh-CN" altLang="en-US" sz="2800" dirty="0">
                <a:latin typeface="+mn-ea"/>
              </a:rPr>
              <a:t>带电导体尖端附近的电场特别大，可使尖端附近的空气发生电离而成为导体产生放电现象，即</a:t>
            </a:r>
            <a:r>
              <a:rPr lang="zh-CN" altLang="en-US" sz="2800" dirty="0">
                <a:solidFill>
                  <a:srgbClr val="FF0000"/>
                </a:solidFill>
                <a:latin typeface="+mn-ea"/>
              </a:rPr>
              <a:t>尖端放电</a:t>
            </a:r>
            <a:r>
              <a:rPr lang="zh-CN" altLang="en-US" sz="2800" dirty="0">
                <a:latin typeface="+mn-ea"/>
              </a:rPr>
              <a:t> 。</a:t>
            </a:r>
            <a:endParaRPr lang="en-US" altLang="zh-CN" sz="2800" dirty="0">
              <a:latin typeface="+mn-ea"/>
            </a:endParaRPr>
          </a:p>
        </p:txBody>
      </p:sp>
      <p:sp>
        <p:nvSpPr>
          <p:cNvPr id="9" name="文本框 8">
            <a:extLst>
              <a:ext uri="{FF2B5EF4-FFF2-40B4-BE49-F238E27FC236}">
                <a16:creationId xmlns:a16="http://schemas.microsoft.com/office/drawing/2014/main" id="{93784CEE-108B-4C22-9DAA-6941A390EF95}"/>
              </a:ext>
            </a:extLst>
          </p:cNvPr>
          <p:cNvSpPr txBox="1"/>
          <p:nvPr/>
        </p:nvSpPr>
        <p:spPr>
          <a:xfrm>
            <a:off x="1082260" y="340139"/>
            <a:ext cx="2345514" cy="584775"/>
          </a:xfrm>
          <a:prstGeom prst="rect">
            <a:avLst/>
          </a:prstGeom>
          <a:noFill/>
        </p:spPr>
        <p:txBody>
          <a:bodyPr wrap="none" rtlCol="0">
            <a:spAutoFit/>
          </a:bodyPr>
          <a:lstStyle/>
          <a:p>
            <a:pPr marL="514350" indent="-5143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尖端导体</a:t>
            </a:r>
            <a:endParaRPr lang="en-US" sz="3200" b="1" dirty="0">
              <a:solidFill>
                <a:srgbClr val="0066FF"/>
              </a:solidFill>
              <a:latin typeface="华文楷体" panose="02010600040101010101" pitchFamily="2" charset="-122"/>
              <a:ea typeface="华文楷体" panose="02010600040101010101" pitchFamily="2" charset="-122"/>
            </a:endParaRPr>
          </a:p>
        </p:txBody>
      </p:sp>
      <p:pic>
        <p:nvPicPr>
          <p:cNvPr id="10" name="Picture 14" descr="黑龙江省科学技术馆黑龙江省科学技术馆">
            <a:extLst>
              <a:ext uri="{FF2B5EF4-FFF2-40B4-BE49-F238E27FC236}">
                <a16:creationId xmlns:a16="http://schemas.microsoft.com/office/drawing/2014/main" id="{D42C94BC-5BEC-4E5B-80E8-2043F6CAD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9100" y="848714"/>
            <a:ext cx="3570900" cy="267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15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80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8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p:bldP spid="12800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中国科普博览＿大气科学馆">
            <a:extLst>
              <a:ext uri="{FF2B5EF4-FFF2-40B4-BE49-F238E27FC236}">
                <a16:creationId xmlns:a16="http://schemas.microsoft.com/office/drawing/2014/main" id="{130557C0-DCC3-40EB-A10C-EEEEEDE78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9897" y="237884"/>
            <a:ext cx="2744109" cy="2878624"/>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https://pic.baike.soso.com/ugc/baikepic2/29849/20141209131633-2031177872.jpg/300">
            <a:extLst>
              <a:ext uri="{FF2B5EF4-FFF2-40B4-BE49-F238E27FC236}">
                <a16:creationId xmlns:a16="http://schemas.microsoft.com/office/drawing/2014/main" id="{BB6C7A80-E93A-43F8-B537-A7CAD6C08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091" y="694860"/>
            <a:ext cx="3466132" cy="270358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https://i1.kknews.cc/SIG=3covf9p/qsvp-vzntrunaqyre/s5346185-4o07-43q0-9r18-73s633502ps4.jpg">
            <a:extLst>
              <a:ext uri="{FF2B5EF4-FFF2-40B4-BE49-F238E27FC236}">
                <a16:creationId xmlns:a16="http://schemas.microsoft.com/office/drawing/2014/main" id="{A98E84F4-6159-45A5-BDD3-3E6CEA6352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415" r="36052"/>
          <a:stretch/>
        </p:blipFill>
        <p:spPr bwMode="auto">
          <a:xfrm>
            <a:off x="1765259" y="3580759"/>
            <a:ext cx="1662515" cy="2878624"/>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0324DA82-8A68-4B44-AE5F-511CC0F08AD2}"/>
              </a:ext>
            </a:extLst>
          </p:cNvPr>
          <p:cNvSpPr txBox="1"/>
          <p:nvPr/>
        </p:nvSpPr>
        <p:spPr>
          <a:xfrm>
            <a:off x="1082260" y="340139"/>
            <a:ext cx="2345514" cy="584775"/>
          </a:xfrm>
          <a:prstGeom prst="rect">
            <a:avLst/>
          </a:prstGeom>
          <a:noFill/>
        </p:spPr>
        <p:txBody>
          <a:bodyPr wrap="none" rtlCol="0">
            <a:spAutoFit/>
          </a:bodyPr>
          <a:lstStyle/>
          <a:p>
            <a:pPr marL="514350" indent="-5143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尖端导体</a:t>
            </a:r>
            <a:endParaRPr lang="en-US" sz="3200" b="1" dirty="0">
              <a:solidFill>
                <a:srgbClr val="0066FF"/>
              </a:solidFill>
              <a:latin typeface="华文楷体" panose="02010600040101010101" pitchFamily="2" charset="-122"/>
              <a:ea typeface="华文楷体" panose="02010600040101010101" pitchFamily="2" charset="-122"/>
            </a:endParaRPr>
          </a:p>
        </p:txBody>
      </p:sp>
      <p:pic>
        <p:nvPicPr>
          <p:cNvPr id="13318" name="Picture 6" descr="蜂窝湿式电除尘器- 除尘设备布袋除尘器脱硫塔除尘设备厂家北京环科腾越环保工程有限公司">
            <a:extLst>
              <a:ext uri="{FF2B5EF4-FFF2-40B4-BE49-F238E27FC236}">
                <a16:creationId xmlns:a16="http://schemas.microsoft.com/office/drawing/2014/main" id="{8676223F-8CD5-498A-83FE-0121CFC679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6269" y="3429000"/>
            <a:ext cx="4143789" cy="3232155"/>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descr="人工引雷是什麼玩法？人類怎麼把高能雷電引到地上？ - 中國熱點">
            <a:extLst>
              <a:ext uri="{FF2B5EF4-FFF2-40B4-BE49-F238E27FC236}">
                <a16:creationId xmlns:a16="http://schemas.microsoft.com/office/drawing/2014/main" id="{531AC96E-C0E1-4BF0-8A18-81783F84CFB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042" t="521" r="18170" b="-521"/>
          <a:stretch/>
        </p:blipFill>
        <p:spPr bwMode="auto">
          <a:xfrm>
            <a:off x="8126852" y="173433"/>
            <a:ext cx="1674159" cy="28786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https://www.liou-tai.net/image/data/meun/Q-%E5%96%AE%E4%B8%80%E7%94%A2%E5%93%81/M-907010.jpg">
            <a:extLst>
              <a:ext uri="{FF2B5EF4-FFF2-40B4-BE49-F238E27FC236}">
                <a16:creationId xmlns:a16="http://schemas.microsoft.com/office/drawing/2014/main" id="{7E574B62-877E-3672-580A-3858828933A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37714" y="5137478"/>
            <a:ext cx="1170163" cy="1238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54716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95041CC-E9CE-47FB-8F18-2E9D6B3A8447}"/>
              </a:ext>
            </a:extLst>
          </p:cNvPr>
          <p:cNvSpPr/>
          <p:nvPr/>
        </p:nvSpPr>
        <p:spPr>
          <a:xfrm>
            <a:off x="4829910" y="638037"/>
            <a:ext cx="7122768" cy="6093976"/>
          </a:xfrm>
          <a:prstGeom prst="rect">
            <a:avLst/>
          </a:prstGeom>
        </p:spPr>
        <p:txBody>
          <a:bodyPr wrap="square">
            <a:spAutoFit/>
          </a:bodyPr>
          <a:lstStyle/>
          <a:p>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金属球壳的</a:t>
            </a:r>
            <a:r>
              <a:rPr lang="zh-CN" altLang="en-US" sz="26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高压电极</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由绝缘支柱支撑着，绝缘材料制成的</a:t>
            </a:r>
            <a:r>
              <a:rPr lang="zh-CN" altLang="en-US" sz="26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输电带</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在两个转轴间不停地运动。</a:t>
            </a:r>
            <a:endPar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Tx/>
              <a:buChar char="-"/>
            </a:pPr>
            <a:r>
              <a:rPr lang="zh-CN" altLang="en-US" sz="2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喷电针排</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连接在喷电电源上，通过针尖在气体中的电晕放电，使周围与针尖极性相同的离子在电场作用下从针尖喷向输电带，使输电带充电。</a:t>
            </a:r>
            <a:endPar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Tx/>
              <a:buChar char="-"/>
            </a:pPr>
            <a:endPar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Tx/>
              <a:buChar char="-"/>
            </a:pP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随着输电带的运动，带上的电荷进入高压电极。极内</a:t>
            </a:r>
            <a:r>
              <a:rPr lang="zh-CN" altLang="en-US" sz="2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刮电针排</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同高压电极相连和输电带之间所形成的电场，同样使气体电晕放电，从而使电荷转移到高压电极上去。</a:t>
            </a:r>
            <a:endPar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Tx/>
              <a:buChar char="-"/>
            </a:pPr>
            <a:endPar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6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随着不停传送电荷，高压电极的电压很快   </a:t>
            </a:r>
            <a:b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b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地升高。 </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超过 百万伏特</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7410" name="Picture 2" descr="Applications of Electrostatics | Physics II">
            <a:extLst>
              <a:ext uri="{FF2B5EF4-FFF2-40B4-BE49-F238E27FC236}">
                <a16:creationId xmlns:a16="http://schemas.microsoft.com/office/drawing/2014/main" id="{6DCDF7BE-0D8F-4F01-9A26-E3121844D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871" y="926883"/>
            <a:ext cx="3240920" cy="5691809"/>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D5E8435E-9507-48FF-B32D-0AB7CA88562A}"/>
              </a:ext>
            </a:extLst>
          </p:cNvPr>
          <p:cNvSpPr/>
          <p:nvPr/>
        </p:nvSpPr>
        <p:spPr>
          <a:xfrm>
            <a:off x="773381" y="154862"/>
            <a:ext cx="3518912" cy="584775"/>
          </a:xfrm>
          <a:prstGeom prst="rect">
            <a:avLst/>
          </a:prstGeom>
        </p:spPr>
        <p:txBody>
          <a:bodyPr wrap="none">
            <a:spAutoFit/>
          </a:bodyPr>
          <a:lstStyle/>
          <a:p>
            <a:pPr marL="457200" indent="-4572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范德格拉夫电机</a:t>
            </a:r>
            <a:endParaRPr lang="en-US" sz="32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03974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55F89DA1-9303-42F1-BD78-C1E2AC0B1ABE}"/>
              </a:ext>
            </a:extLst>
          </p:cNvPr>
          <p:cNvSpPr txBox="1">
            <a:spLocks noChangeArrowheads="1"/>
          </p:cNvSpPr>
          <p:nvPr/>
        </p:nvSpPr>
        <p:spPr bwMode="auto">
          <a:xfrm>
            <a:off x="1354896" y="494836"/>
            <a:ext cx="7848600"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有导体存在时静电场的计算</a:t>
            </a:r>
          </a:p>
          <a:p>
            <a:pPr algn="l" eaLnBrk="1" hangingPunct="1">
              <a:spcBef>
                <a:spcPct val="50000"/>
              </a:spcBef>
            </a:pPr>
            <a:r>
              <a:rPr lang="en-US" altLang="zh-CN" sz="3200" b="1" dirty="0">
                <a:solidFill>
                  <a:srgbClr val="FF0000"/>
                </a:solidFill>
                <a:ea typeface="华文楷体" panose="02010600040101010101" pitchFamily="2" charset="-122"/>
                <a:cs typeface="Times New Roman" panose="02020603050405020304" pitchFamily="18" charset="0"/>
              </a:rPr>
              <a:t>- </a:t>
            </a:r>
            <a:r>
              <a:rPr lang="zh-CN" altLang="en-US" sz="3200" b="1" dirty="0">
                <a:solidFill>
                  <a:srgbClr val="FF0000"/>
                </a:solidFill>
                <a:ea typeface="华文楷体" panose="02010600040101010101" pitchFamily="2" charset="-122"/>
                <a:cs typeface="Times New Roman" panose="02020603050405020304" pitchFamily="18" charset="0"/>
              </a:rPr>
              <a:t>点电荷</a:t>
            </a:r>
            <a:r>
              <a:rPr lang="en-US" altLang="zh-CN" sz="3200" b="1" dirty="0">
                <a:solidFill>
                  <a:srgbClr val="FF0000"/>
                </a:solidFill>
                <a:ea typeface="华文楷体" panose="02010600040101010101" pitchFamily="2" charset="-122"/>
                <a:cs typeface="Times New Roman" panose="02020603050405020304" pitchFamily="18" charset="0"/>
              </a:rPr>
              <a:t>+</a:t>
            </a:r>
            <a:r>
              <a:rPr lang="zh-CN" altLang="en-US" sz="3200" b="1" dirty="0">
                <a:solidFill>
                  <a:srgbClr val="FF0000"/>
                </a:solidFill>
                <a:ea typeface="华文楷体" panose="02010600040101010101" pitchFamily="2" charset="-122"/>
                <a:cs typeface="Times New Roman" panose="02020603050405020304" pitchFamily="18" charset="0"/>
              </a:rPr>
              <a:t>叠加原理或基本性质方程    </a:t>
            </a:r>
            <a:endParaRPr lang="en-US" altLang="zh-CN" sz="3200" b="1" dirty="0">
              <a:solidFill>
                <a:srgbClr val="FF0000"/>
              </a:solidFill>
              <a:ea typeface="华文楷体" panose="02010600040101010101" pitchFamily="2" charset="-122"/>
              <a:cs typeface="Times New Roman" panose="02020603050405020304" pitchFamily="18" charset="0"/>
            </a:endParaRPr>
          </a:p>
          <a:p>
            <a:pPr algn="l" eaLnBrk="1" hangingPunct="1">
              <a:spcBef>
                <a:spcPct val="50000"/>
              </a:spcBef>
            </a:pPr>
            <a:r>
              <a:rPr lang="zh-CN" altLang="en-US" sz="3200" b="1" dirty="0">
                <a:solidFill>
                  <a:srgbClr val="FF0000"/>
                </a:solidFill>
                <a:ea typeface="华文楷体" panose="02010600040101010101" pitchFamily="2" charset="-122"/>
                <a:cs typeface="Times New Roman" panose="02020603050405020304" pitchFamily="18" charset="0"/>
              </a:rPr>
              <a:t>  </a:t>
            </a:r>
          </a:p>
          <a:p>
            <a:pPr algn="l" eaLnBrk="1" hangingPunct="1">
              <a:spcBef>
                <a:spcPct val="50000"/>
              </a:spcBef>
            </a:pPr>
            <a:endParaRPr lang="zh-CN" altLang="en-US" sz="3200" b="1" dirty="0">
              <a:solidFill>
                <a:srgbClr val="000099"/>
              </a:solidFill>
              <a:ea typeface="华文楷体" panose="02010600040101010101" pitchFamily="2" charset="-122"/>
              <a:cs typeface="Times New Roman" panose="02020603050405020304" pitchFamily="18" charset="0"/>
            </a:endParaRPr>
          </a:p>
          <a:p>
            <a:pPr algn="l" eaLnBrk="1" hangingPunct="1">
              <a:spcBef>
                <a:spcPct val="50000"/>
              </a:spcBef>
            </a:pPr>
            <a:endParaRPr lang="zh-CN" altLang="en-US" sz="3200" b="1" dirty="0">
              <a:solidFill>
                <a:srgbClr val="000099"/>
              </a:solidFill>
              <a:ea typeface="华文楷体" panose="02010600040101010101" pitchFamily="2" charset="-122"/>
              <a:cs typeface="Times New Roman" panose="02020603050405020304" pitchFamily="18" charset="0"/>
            </a:endParaRPr>
          </a:p>
          <a:p>
            <a:pPr algn="l" eaLnBrk="1" hangingPunct="1">
              <a:spcBef>
                <a:spcPct val="50000"/>
              </a:spcBef>
            </a:pPr>
            <a:r>
              <a:rPr lang="en-US" altLang="zh-CN" sz="3200" b="1" dirty="0">
                <a:solidFill>
                  <a:srgbClr val="FF0000"/>
                </a:solidFill>
                <a:ea typeface="华文楷体" panose="02010600040101010101" pitchFamily="2" charset="-122"/>
                <a:cs typeface="Times New Roman" panose="02020603050405020304" pitchFamily="18" charset="0"/>
              </a:rPr>
              <a:t>- </a:t>
            </a:r>
            <a:r>
              <a:rPr lang="zh-CN" altLang="en-US" sz="3200" b="1" dirty="0">
                <a:solidFill>
                  <a:srgbClr val="FF0000"/>
                </a:solidFill>
                <a:ea typeface="华文楷体" panose="02010600040101010101" pitchFamily="2" charset="-122"/>
                <a:cs typeface="Times New Roman" panose="02020603050405020304" pitchFamily="18" charset="0"/>
              </a:rPr>
              <a:t>电荷守恒定律</a:t>
            </a:r>
            <a:endParaRPr lang="en-US" altLang="zh-CN" sz="3200" b="1" dirty="0">
              <a:solidFill>
                <a:srgbClr val="FF0000"/>
              </a:solidFill>
              <a:ea typeface="华文楷体" panose="02010600040101010101" pitchFamily="2" charset="-122"/>
              <a:cs typeface="Times New Roman" panose="02020603050405020304" pitchFamily="18" charset="0"/>
            </a:endParaRPr>
          </a:p>
          <a:p>
            <a:pPr algn="l" eaLnBrk="1" hangingPunct="1">
              <a:spcBef>
                <a:spcPct val="50000"/>
              </a:spcBef>
            </a:pPr>
            <a:endParaRPr lang="zh-CN" altLang="en-US" sz="3200" b="1" dirty="0">
              <a:solidFill>
                <a:srgbClr val="000099"/>
              </a:solidFill>
              <a:ea typeface="华文楷体" panose="02010600040101010101" pitchFamily="2" charset="-122"/>
              <a:cs typeface="Times New Roman" panose="02020603050405020304" pitchFamily="18" charset="0"/>
            </a:endParaRPr>
          </a:p>
          <a:p>
            <a:pPr algn="l" eaLnBrk="1" hangingPunct="1">
              <a:spcBef>
                <a:spcPct val="50000"/>
              </a:spcBef>
            </a:pPr>
            <a:r>
              <a:rPr lang="en-US" altLang="zh-CN" sz="3200" b="1" dirty="0">
                <a:solidFill>
                  <a:srgbClr val="FF0000"/>
                </a:solidFill>
                <a:ea typeface="华文楷体" panose="02010600040101010101" pitchFamily="2" charset="-122"/>
                <a:cs typeface="Times New Roman" panose="02020603050405020304" pitchFamily="18" charset="0"/>
              </a:rPr>
              <a:t>- </a:t>
            </a:r>
            <a:r>
              <a:rPr lang="zh-CN" altLang="en-US" sz="3200" b="1" dirty="0">
                <a:solidFill>
                  <a:srgbClr val="FF0000"/>
                </a:solidFill>
                <a:ea typeface="华文楷体" panose="02010600040101010101" pitchFamily="2" charset="-122"/>
                <a:cs typeface="Times New Roman" panose="02020603050405020304" pitchFamily="18" charset="0"/>
              </a:rPr>
              <a:t>静电平衡的条件</a:t>
            </a:r>
          </a:p>
        </p:txBody>
      </p:sp>
      <mc:AlternateContent xmlns:mc="http://schemas.openxmlformats.org/markup-compatibility/2006" xmlns:a14="http://schemas.microsoft.com/office/drawing/2010/main">
        <mc:Choice Requires="a14">
          <p:sp>
            <p:nvSpPr>
              <p:cNvPr id="8196" name="Object 4">
                <a:extLst>
                  <a:ext uri="{FF2B5EF4-FFF2-40B4-BE49-F238E27FC236}">
                    <a16:creationId xmlns:a16="http://schemas.microsoft.com/office/drawing/2014/main" id="{98AC4A45-1E01-4C95-9A0B-DBC8656EB0AC}"/>
                  </a:ext>
                </a:extLst>
              </p:cNvPr>
              <p:cNvSpPr txBox="1"/>
              <p:nvPr/>
            </p:nvSpPr>
            <p:spPr bwMode="auto">
              <a:xfrm>
                <a:off x="5094356" y="5511594"/>
                <a:ext cx="1828800" cy="8001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altLang="zh-CN" sz="3200" b="1" i="1" dirty="0">
                              <a:solidFill>
                                <a:prstClr val="black"/>
                              </a:solidFill>
                              <a:latin typeface="Cambria Math" panose="02040503050406030204" pitchFamily="18" charset="0"/>
                            </a:rPr>
                          </m:ctrlPr>
                        </m:sSubPr>
                        <m:e>
                          <m:acc>
                            <m:accPr>
                              <m:chr m:val="⃗"/>
                              <m:ctrlPr>
                                <a:rPr lang="en-US" altLang="zh-CN" sz="3200" b="1" i="1" dirty="0">
                                  <a:solidFill>
                                    <a:prstClr val="black"/>
                                  </a:solidFill>
                                  <a:latin typeface="Cambria Math" panose="02040503050406030204" pitchFamily="18" charset="0"/>
                                </a:rPr>
                              </m:ctrlPr>
                            </m:accPr>
                            <m:e>
                              <m:r>
                                <a:rPr lang="en-US" altLang="zh-CN" sz="3200" b="1" i="1" dirty="0">
                                  <a:solidFill>
                                    <a:prstClr val="black"/>
                                  </a:solidFill>
                                  <a:latin typeface="Cambria Math" panose="02040503050406030204" pitchFamily="18" charset="0"/>
                                </a:rPr>
                                <m:t>𝑬</m:t>
                              </m:r>
                            </m:e>
                          </m:acc>
                        </m:e>
                        <m:sub>
                          <m:r>
                            <a:rPr lang="en-US" altLang="zh-CN" sz="3200" b="1" i="1" dirty="0">
                              <a:solidFill>
                                <a:prstClr val="black"/>
                              </a:solidFill>
                              <a:latin typeface="Cambria Math" panose="02040503050406030204" pitchFamily="18" charset="0"/>
                            </a:rPr>
                            <m:t>𝒊𝒏</m:t>
                          </m:r>
                        </m:sub>
                      </m:sSub>
                      <m:r>
                        <a:rPr lang="en-US" altLang="zh-CN" sz="3200" b="1" i="1" dirty="0">
                          <a:solidFill>
                            <a:prstClr val="black"/>
                          </a:solidFill>
                          <a:latin typeface="Cambria Math" panose="02040503050406030204" pitchFamily="18" charset="0"/>
                        </a:rPr>
                        <m:t>=</m:t>
                      </m:r>
                      <m:r>
                        <a:rPr lang="en-US" altLang="zh-CN" sz="3200" b="1" i="1" dirty="0">
                          <a:solidFill>
                            <a:prstClr val="black"/>
                          </a:solidFill>
                          <a:latin typeface="Cambria Math" panose="02040503050406030204" pitchFamily="18" charset="0"/>
                        </a:rPr>
                        <m:t>𝟎</m:t>
                      </m:r>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196" name="Object 4">
                <a:extLst>
                  <a:ext uri="{FF2B5EF4-FFF2-40B4-BE49-F238E27FC236}">
                    <a16:creationId xmlns:a16="http://schemas.microsoft.com/office/drawing/2014/main" id="{98AC4A45-1E01-4C95-9A0B-DBC8656EB0AC}"/>
                  </a:ext>
                </a:extLst>
              </p:cNvPr>
              <p:cNvSpPr txBox="1">
                <a:spLocks noRot="1" noChangeAspect="1" noMove="1" noResize="1" noEditPoints="1" noAdjustHandles="1" noChangeArrowheads="1" noChangeShapeType="1" noTextEdit="1"/>
              </p:cNvSpPr>
              <p:nvPr/>
            </p:nvSpPr>
            <p:spPr bwMode="auto">
              <a:xfrm>
                <a:off x="5094356" y="5511594"/>
                <a:ext cx="1828800" cy="800100"/>
              </a:xfrm>
              <a:prstGeom prst="rect">
                <a:avLst/>
              </a:prstGeom>
              <a:blipFill>
                <a:blip r:embed="rId2"/>
                <a:stretch>
                  <a:fillRect/>
                </a:stretch>
              </a:blipFill>
              <a:ln w="9525">
                <a:noFill/>
                <a:miter lim="800000"/>
                <a:headEnd/>
                <a:tailEnd/>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97" name="Object 5">
                <a:extLst>
                  <a:ext uri="{FF2B5EF4-FFF2-40B4-BE49-F238E27FC236}">
                    <a16:creationId xmlns:a16="http://schemas.microsoft.com/office/drawing/2014/main" id="{A4809FA8-87B1-48B5-924F-B5AE6A7C818A}"/>
                  </a:ext>
                </a:extLst>
              </p:cNvPr>
              <p:cNvSpPr txBox="1"/>
              <p:nvPr/>
            </p:nvSpPr>
            <p:spPr bwMode="auto">
              <a:xfrm>
                <a:off x="7322586" y="5511594"/>
                <a:ext cx="3102457" cy="584200"/>
              </a:xfrm>
              <a:prstGeom prst="rect">
                <a:avLst/>
              </a:prstGeom>
              <a:noFill/>
              <a:ln w="9525">
                <a:noFill/>
                <a:miter lim="800000"/>
                <a:headEnd/>
                <a:tailEnd/>
              </a:ln>
              <a:effectLst/>
            </p:spPr>
            <p:txBody>
              <a:bodyPr>
                <a:noAutofit/>
              </a:bodyPr>
              <a:lstStyle/>
              <a:p>
                <a14:m>
                  <m:oMath xmlns:m="http://schemas.openxmlformats.org/officeDocument/2006/math">
                    <m:r>
                      <a:rPr lang="zh-CN" altLang="en-US" sz="3200" i="1" smtClean="0">
                        <a:solidFill>
                          <a:srgbClr val="000000"/>
                        </a:solidFill>
                        <a:latin typeface="Cambria Math" panose="02040503050406030204" pitchFamily="18" charset="0"/>
                      </a:rPr>
                      <m:t>或</m:t>
                    </m:r>
                    <m:r>
                      <a:rPr lang="en-US" sz="3200" i="1">
                        <a:solidFill>
                          <a:srgbClr val="000000"/>
                        </a:solidFill>
                        <a:latin typeface="Cambria Math" panose="02040503050406030204" pitchFamily="18" charset="0"/>
                      </a:rPr>
                      <m:t> </m:t>
                    </m:r>
                    <m:r>
                      <a:rPr lang="en-US" sz="3200" i="1">
                        <a:solidFill>
                          <a:srgbClr val="000000"/>
                        </a:solidFill>
                        <a:latin typeface="Cambria Math" panose="02040503050406030204" pitchFamily="18" charset="0"/>
                      </a:rPr>
                      <m:t>𝜑</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𝑐</m:t>
                    </m:r>
                    <m:r>
                      <a:rPr lang="en-US" sz="3200" b="0" i="1" smtClean="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m:t>
                    </m:r>
                  </m:oMath>
                </a14:m>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常数）</a:t>
                </a:r>
                <a:endParaRPr lang="en-US" sz="320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8197" name="Object 5">
                <a:extLst>
                  <a:ext uri="{FF2B5EF4-FFF2-40B4-BE49-F238E27FC236}">
                    <a16:creationId xmlns:a16="http://schemas.microsoft.com/office/drawing/2014/main" id="{A4809FA8-87B1-48B5-924F-B5AE6A7C818A}"/>
                  </a:ext>
                </a:extLst>
              </p:cNvPr>
              <p:cNvSpPr txBox="1">
                <a:spLocks noRot="1" noChangeAspect="1" noMove="1" noResize="1" noEditPoints="1" noAdjustHandles="1" noChangeArrowheads="1" noChangeShapeType="1" noTextEdit="1"/>
              </p:cNvSpPr>
              <p:nvPr/>
            </p:nvSpPr>
            <p:spPr bwMode="auto">
              <a:xfrm>
                <a:off x="7322586" y="5511594"/>
                <a:ext cx="3102457" cy="584200"/>
              </a:xfrm>
              <a:prstGeom prst="rect">
                <a:avLst/>
              </a:prstGeom>
              <a:blipFill>
                <a:blip r:embed="rId3"/>
                <a:stretch>
                  <a:fillRect t="-13542" r="-18075" b="-33333"/>
                </a:stretch>
              </a:blipFill>
              <a:ln w="9525">
                <a:noFill/>
                <a:miter lim="800000"/>
                <a:headEnd/>
                <a:tailEnd/>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99" name="Object 7">
                <a:extLst>
                  <a:ext uri="{FF2B5EF4-FFF2-40B4-BE49-F238E27FC236}">
                    <a16:creationId xmlns:a16="http://schemas.microsoft.com/office/drawing/2014/main" id="{25471846-0C74-4D4F-9B5F-42FB86983537}"/>
                  </a:ext>
                </a:extLst>
              </p:cNvPr>
              <p:cNvSpPr txBox="1"/>
              <p:nvPr/>
            </p:nvSpPr>
            <p:spPr bwMode="auto">
              <a:xfrm>
                <a:off x="1848816" y="2142920"/>
                <a:ext cx="2867025" cy="1635125"/>
              </a:xfrm>
              <a:prstGeom prst="rect">
                <a:avLst/>
              </a:prstGeom>
              <a:noFill/>
              <a:ln w="9525">
                <a:noFill/>
                <a:miter lim="800000"/>
                <a:headEnd/>
                <a:tailEnd/>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𝑆</m:t>
                          </m:r>
                        </m:sub>
                        <m:sup/>
                        <m:e>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𝐸</m:t>
                              </m:r>
                            </m:e>
                          </m:acc>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𝑑</m:t>
                          </m:r>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𝑆</m:t>
                              </m:r>
                            </m:e>
                          </m:acc>
                        </m:e>
                      </m:nary>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nary>
                            <m:naryPr>
                              <m:chr m:val="∑"/>
                              <m:supHide m:val="on"/>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𝑖</m:t>
                              </m:r>
                            </m:sub>
                            <m:sup/>
                            <m:e>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𝑖</m:t>
                                  </m:r>
                                </m:sub>
                              </m:sSub>
                            </m:e>
                          </m:nary>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199" name="Object 7">
                <a:extLst>
                  <a:ext uri="{FF2B5EF4-FFF2-40B4-BE49-F238E27FC236}">
                    <a16:creationId xmlns:a16="http://schemas.microsoft.com/office/drawing/2014/main" id="{25471846-0C74-4D4F-9B5F-42FB86983537}"/>
                  </a:ext>
                </a:extLst>
              </p:cNvPr>
              <p:cNvSpPr txBox="1">
                <a:spLocks noRot="1" noChangeAspect="1" noMove="1" noResize="1" noEditPoints="1" noAdjustHandles="1" noChangeArrowheads="1" noChangeShapeType="1" noTextEdit="1"/>
              </p:cNvSpPr>
              <p:nvPr/>
            </p:nvSpPr>
            <p:spPr bwMode="auto">
              <a:xfrm>
                <a:off x="1848816" y="2142920"/>
                <a:ext cx="2867025" cy="1635125"/>
              </a:xfrm>
              <a:prstGeom prst="rect">
                <a:avLst/>
              </a:prstGeom>
              <a:blipFill>
                <a:blip r:embed="rId4"/>
                <a:stretch>
                  <a:fillRect/>
                </a:stretch>
              </a:blipFill>
              <a:ln w="9525">
                <a:noFill/>
                <a:miter lim="800000"/>
                <a:headEnd/>
                <a:tailEnd/>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0" name="Object 8">
                <a:extLst>
                  <a:ext uri="{FF2B5EF4-FFF2-40B4-BE49-F238E27FC236}">
                    <a16:creationId xmlns:a16="http://schemas.microsoft.com/office/drawing/2014/main" id="{8B6914A2-5475-44E4-B119-6925358E9254}"/>
                  </a:ext>
                </a:extLst>
              </p:cNvPr>
              <p:cNvSpPr txBox="1"/>
              <p:nvPr/>
            </p:nvSpPr>
            <p:spPr bwMode="auto">
              <a:xfrm>
                <a:off x="5094356" y="2204763"/>
                <a:ext cx="2501900" cy="930275"/>
              </a:xfrm>
              <a:prstGeom prst="rect">
                <a:avLst/>
              </a:prstGeom>
              <a:noFill/>
              <a:ln w="9525">
                <a:noFill/>
                <a:miter lim="800000"/>
                <a:headEnd/>
                <a:tailEnd/>
              </a:ln>
              <a:effec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nary>
                        <m:naryPr>
                          <m:chr m:val="∮"/>
                          <m:supHide m:val="on"/>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𝐿</m:t>
                          </m:r>
                        </m:sub>
                        <m:sup/>
                        <m:e>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𝐸</m:t>
                              </m:r>
                            </m:e>
                          </m:acc>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𝑑</m:t>
                          </m:r>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𝑙</m:t>
                              </m:r>
                            </m:e>
                          </m:acc>
                          <m:r>
                            <a:rPr lang="en-US" sz="3200" i="1">
                              <a:solidFill>
                                <a:srgbClr val="000000"/>
                              </a:solidFill>
                              <a:latin typeface="Cambria Math" panose="02040503050406030204" pitchFamily="18" charset="0"/>
                            </a:rPr>
                            <m:t>=0</m:t>
                          </m:r>
                        </m:e>
                      </m:nary>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200" name="Object 8">
                <a:extLst>
                  <a:ext uri="{FF2B5EF4-FFF2-40B4-BE49-F238E27FC236}">
                    <a16:creationId xmlns:a16="http://schemas.microsoft.com/office/drawing/2014/main" id="{8B6914A2-5475-44E4-B119-6925358E9254}"/>
                  </a:ext>
                </a:extLst>
              </p:cNvPr>
              <p:cNvSpPr txBox="1">
                <a:spLocks noRot="1" noChangeAspect="1" noMove="1" noResize="1" noEditPoints="1" noAdjustHandles="1" noChangeArrowheads="1" noChangeShapeType="1" noTextEdit="1"/>
              </p:cNvSpPr>
              <p:nvPr/>
            </p:nvSpPr>
            <p:spPr bwMode="auto">
              <a:xfrm>
                <a:off x="5094356" y="2204763"/>
                <a:ext cx="2501900" cy="930275"/>
              </a:xfrm>
              <a:prstGeom prst="rect">
                <a:avLst/>
              </a:prstGeom>
              <a:blipFill>
                <a:blip r:embed="rId5"/>
                <a:stretch>
                  <a:fillRect/>
                </a:stretch>
              </a:blipFill>
              <a:ln w="9525">
                <a:noFill/>
                <a:miter lim="800000"/>
                <a:headEnd/>
                <a:tailEnd/>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1" name="Object 9">
                <a:extLst>
                  <a:ext uri="{FF2B5EF4-FFF2-40B4-BE49-F238E27FC236}">
                    <a16:creationId xmlns:a16="http://schemas.microsoft.com/office/drawing/2014/main" id="{8CB0B27A-8844-414F-B1A5-2F7FB0989BB3}"/>
                  </a:ext>
                </a:extLst>
              </p:cNvPr>
              <p:cNvSpPr txBox="1"/>
              <p:nvPr/>
            </p:nvSpPr>
            <p:spPr bwMode="auto">
              <a:xfrm>
                <a:off x="4807986" y="3828016"/>
                <a:ext cx="2514600" cy="990600"/>
              </a:xfrm>
              <a:prstGeom prst="rect">
                <a:avLst/>
              </a:prstGeom>
              <a:noFill/>
              <a:ln w="9525">
                <a:noFill/>
                <a:miter lim="800000"/>
                <a:headEnd/>
                <a:tailEnd/>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𝑖</m:t>
                          </m:r>
                        </m:sub>
                        <m:sup/>
                        <m:e>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𝑄</m:t>
                              </m:r>
                            </m:e>
                            <m:sub>
                              <m:r>
                                <a:rPr lang="en-US" sz="3200" i="1">
                                  <a:solidFill>
                                    <a:srgbClr val="000000"/>
                                  </a:solidFill>
                                  <a:latin typeface="Cambria Math" panose="02040503050406030204" pitchFamily="18" charset="0"/>
                                </a:rPr>
                                <m:t>𝑖</m:t>
                              </m:r>
                            </m:sub>
                          </m:sSub>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𝑐𝑜𝑛𝑠𝑡</m:t>
                          </m:r>
                        </m:e>
                      </m:nary>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201" name="Object 9">
                <a:extLst>
                  <a:ext uri="{FF2B5EF4-FFF2-40B4-BE49-F238E27FC236}">
                    <a16:creationId xmlns:a16="http://schemas.microsoft.com/office/drawing/2014/main" id="{8CB0B27A-8844-414F-B1A5-2F7FB0989BB3}"/>
                  </a:ext>
                </a:extLst>
              </p:cNvPr>
              <p:cNvSpPr txBox="1">
                <a:spLocks noRot="1" noChangeAspect="1" noMove="1" noResize="1" noEditPoints="1" noAdjustHandles="1" noChangeArrowheads="1" noChangeShapeType="1" noTextEdit="1"/>
              </p:cNvSpPr>
              <p:nvPr/>
            </p:nvSpPr>
            <p:spPr bwMode="auto">
              <a:xfrm>
                <a:off x="4807986" y="3828016"/>
                <a:ext cx="2514600" cy="990600"/>
              </a:xfrm>
              <a:prstGeom prst="rect">
                <a:avLst/>
              </a:prstGeom>
              <a:blipFill>
                <a:blip r:embed="rId6"/>
                <a:stretch>
                  <a:fillRect r="-3883" b="-25309"/>
                </a:stretch>
              </a:blipFill>
              <a:ln w="9525">
                <a:noFill/>
                <a:miter lim="800000"/>
                <a:headEnd/>
                <a:tailEnd/>
              </a:ln>
              <a:effectLst/>
              <a:ex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0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2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19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1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P spid="8199" grpId="0"/>
      <p:bldP spid="8200" grpId="0"/>
      <p:bldP spid="820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2">
            <a:extLst>
              <a:ext uri="{FF2B5EF4-FFF2-40B4-BE49-F238E27FC236}">
                <a16:creationId xmlns:a16="http://schemas.microsoft.com/office/drawing/2014/main" id="{9A52D1E3-76A5-469E-AFE2-B36581BE1D9C}"/>
              </a:ext>
            </a:extLst>
          </p:cNvPr>
          <p:cNvGrpSpPr>
            <a:grpSpLocks/>
          </p:cNvGrpSpPr>
          <p:nvPr/>
        </p:nvGrpSpPr>
        <p:grpSpPr bwMode="auto">
          <a:xfrm>
            <a:off x="1369760" y="86520"/>
            <a:ext cx="8794751" cy="2173288"/>
            <a:chOff x="225" y="48"/>
            <a:chExt cx="5540" cy="1369"/>
          </a:xfrm>
        </p:grpSpPr>
        <p:sp>
          <p:nvSpPr>
            <p:cNvPr id="42029" name="Text Box 3">
              <a:extLst>
                <a:ext uri="{FF2B5EF4-FFF2-40B4-BE49-F238E27FC236}">
                  <a16:creationId xmlns:a16="http://schemas.microsoft.com/office/drawing/2014/main" id="{DEA1E2BF-7B5E-44D4-A8AA-7CFD357A9630}"/>
                </a:ext>
              </a:extLst>
            </p:cNvPr>
            <p:cNvSpPr txBox="1">
              <a:spLocks noChangeArrowheads="1"/>
            </p:cNvSpPr>
            <p:nvPr/>
          </p:nvSpPr>
          <p:spPr bwMode="auto">
            <a:xfrm>
              <a:off x="1392" y="48"/>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00"/>
                </a:solidFill>
                <a:ea typeface="华文楷体" panose="02010600040101010101" pitchFamily="2" charset="-122"/>
                <a:cs typeface="Times New Roman" panose="02020603050405020304" pitchFamily="18" charset="0"/>
              </a:endParaRPr>
            </a:p>
          </p:txBody>
        </p:sp>
        <p:sp>
          <p:nvSpPr>
            <p:cNvPr id="42030" name="Text Box 4">
              <a:extLst>
                <a:ext uri="{FF2B5EF4-FFF2-40B4-BE49-F238E27FC236}">
                  <a16:creationId xmlns:a16="http://schemas.microsoft.com/office/drawing/2014/main" id="{CA4DBABC-3644-4225-AA18-CBB3E0E6998C}"/>
                </a:ext>
              </a:extLst>
            </p:cNvPr>
            <p:cNvSpPr txBox="1">
              <a:spLocks noChangeArrowheads="1"/>
            </p:cNvSpPr>
            <p:nvPr/>
          </p:nvSpPr>
          <p:spPr bwMode="auto">
            <a:xfrm>
              <a:off x="225" y="115"/>
              <a:ext cx="54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en-US" altLang="zh-CN" sz="2800" i="1" dirty="0">
                  <a:solidFill>
                    <a:srgbClr val="000000"/>
                  </a:solidFill>
                  <a:ea typeface="华文楷体" panose="02010600040101010101" pitchFamily="2" charset="-122"/>
                  <a:cs typeface="Times New Roman" panose="02020603050405020304" pitchFamily="18" charset="0"/>
                </a:rPr>
                <a:t>A</a:t>
              </a:r>
              <a:r>
                <a:rPr lang="zh-CN" altLang="en-US" sz="2800" dirty="0">
                  <a:solidFill>
                    <a:srgbClr val="000000"/>
                  </a:solidFill>
                  <a:ea typeface="华文楷体" panose="02010600040101010101" pitchFamily="2" charset="-122"/>
                  <a:cs typeface="Times New Roman" panose="02020603050405020304" pitchFamily="18" charset="0"/>
                </a:rPr>
                <a:t>、</a:t>
              </a:r>
              <a:r>
                <a:rPr lang="en-US" altLang="zh-CN" sz="2800" i="1" dirty="0">
                  <a:solidFill>
                    <a:srgbClr val="000000"/>
                  </a:solidFill>
                  <a:ea typeface="华文楷体" panose="02010600040101010101" pitchFamily="2" charset="-122"/>
                  <a:cs typeface="Times New Roman" panose="02020603050405020304" pitchFamily="18" charset="0"/>
                </a:rPr>
                <a:t>B</a:t>
              </a:r>
              <a:r>
                <a:rPr lang="zh-CN" altLang="en-US" sz="2800" dirty="0">
                  <a:solidFill>
                    <a:srgbClr val="000000"/>
                  </a:solidFill>
                  <a:ea typeface="华文楷体" panose="02010600040101010101" pitchFamily="2" charset="-122"/>
                  <a:cs typeface="Times New Roman" panose="02020603050405020304" pitchFamily="18" charset="0"/>
                </a:rPr>
                <a:t>为平行放置的两个均匀带电的无穷大导体平板，</a:t>
              </a:r>
            </a:p>
          </p:txBody>
        </p:sp>
        <p:sp>
          <p:nvSpPr>
            <p:cNvPr id="42031" name="Text Box 5">
              <a:extLst>
                <a:ext uri="{FF2B5EF4-FFF2-40B4-BE49-F238E27FC236}">
                  <a16:creationId xmlns:a16="http://schemas.microsoft.com/office/drawing/2014/main" id="{CC448840-5254-42DD-A925-6FD90F9A33DA}"/>
                </a:ext>
              </a:extLst>
            </p:cNvPr>
            <p:cNvSpPr txBox="1">
              <a:spLocks noChangeArrowheads="1"/>
            </p:cNvSpPr>
            <p:nvPr/>
          </p:nvSpPr>
          <p:spPr bwMode="auto">
            <a:xfrm>
              <a:off x="255" y="382"/>
              <a:ext cx="5510" cy="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ts val="600"/>
                </a:spcBef>
                <a:buNone/>
              </a:pPr>
              <a:r>
                <a:rPr lang="en-US" altLang="zh-CN" sz="2800" i="1" dirty="0">
                  <a:solidFill>
                    <a:srgbClr val="000000"/>
                  </a:solidFill>
                  <a:ea typeface="华文楷体" panose="02010600040101010101" pitchFamily="2" charset="-122"/>
                  <a:cs typeface="Times New Roman" panose="02020603050405020304" pitchFamily="18" charset="0"/>
                </a:rPr>
                <a:t>A</a:t>
              </a:r>
              <a:r>
                <a:rPr lang="en-US" altLang="zh-CN" sz="2800" dirty="0">
                  <a:solidFill>
                    <a:srgbClr val="000000"/>
                  </a:solidFill>
                  <a:ea typeface="华文楷体" panose="02010600040101010101" pitchFamily="2" charset="-122"/>
                  <a:cs typeface="Times New Roman" panose="02020603050405020304" pitchFamily="18" charset="0"/>
                </a:rPr>
                <a:t> </a:t>
              </a:r>
              <a:r>
                <a:rPr lang="zh-CN" altLang="en-US" sz="2800" dirty="0">
                  <a:solidFill>
                    <a:srgbClr val="000000"/>
                  </a:solidFill>
                  <a:ea typeface="华文楷体" panose="02010600040101010101" pitchFamily="2" charset="-122"/>
                  <a:cs typeface="Times New Roman" panose="02020603050405020304" pitchFamily="18" charset="0"/>
                </a:rPr>
                <a:t>板带电荷为      ，</a:t>
              </a:r>
              <a:r>
                <a:rPr lang="en-US" altLang="zh-CN" sz="2800" i="1" dirty="0">
                  <a:solidFill>
                    <a:srgbClr val="000000"/>
                  </a:solidFill>
                  <a:ea typeface="华文楷体" panose="02010600040101010101" pitchFamily="2" charset="-122"/>
                  <a:cs typeface="Times New Roman" panose="02020603050405020304" pitchFamily="18" charset="0"/>
                </a:rPr>
                <a:t>B </a:t>
              </a:r>
              <a:r>
                <a:rPr lang="zh-CN" altLang="en-US" sz="2800" dirty="0">
                  <a:solidFill>
                    <a:srgbClr val="000000"/>
                  </a:solidFill>
                  <a:ea typeface="华文楷体" panose="02010600040101010101" pitchFamily="2" charset="-122"/>
                  <a:cs typeface="Times New Roman" panose="02020603050405020304" pitchFamily="18" charset="0"/>
                </a:rPr>
                <a:t>板带电荷为       。求</a:t>
              </a:r>
              <a:r>
                <a:rPr lang="zh-CN" altLang="en-US" sz="2800" spc="300" dirty="0">
                  <a:solidFill>
                    <a:srgbClr val="000000"/>
                  </a:solidFill>
                  <a:ea typeface="华文楷体" panose="02010600040101010101" pitchFamily="2" charset="-122"/>
                  <a:cs typeface="Times New Roman" panose="02020603050405020304" pitchFamily="18" charset="0"/>
                </a:rPr>
                <a:t>四个面的电荷面密度。</a:t>
              </a:r>
              <a:endParaRPr lang="zh-CN" altLang="en-US" sz="2800" dirty="0">
                <a:solidFill>
                  <a:srgbClr val="000000"/>
                </a:solidFill>
                <a:ea typeface="华文楷体" panose="02010600040101010101" pitchFamily="2" charset="-122"/>
                <a:cs typeface="Times New Roman" panose="02020603050405020304" pitchFamily="18" charset="0"/>
              </a:endParaRPr>
            </a:p>
            <a:p>
              <a:pPr eaLnBrk="1" hangingPunct="1">
                <a:spcBef>
                  <a:spcPct val="0"/>
                </a:spcBef>
                <a:buFontTx/>
                <a:buNone/>
              </a:pPr>
              <a:endParaRPr lang="zh-CN" altLang="en-US" sz="2800" dirty="0">
                <a:solidFill>
                  <a:srgbClr val="000000"/>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037" name="Object 12">
                  <a:extLst>
                    <a:ext uri="{FF2B5EF4-FFF2-40B4-BE49-F238E27FC236}">
                      <a16:creationId xmlns:a16="http://schemas.microsoft.com/office/drawing/2014/main" id="{D8566B15-7E1A-4F7F-BEC5-C36723DFADFE}"/>
                    </a:ext>
                  </a:extLst>
                </p:cNvPr>
                <p:cNvSpPr txBox="1"/>
                <p:nvPr/>
              </p:nvSpPr>
              <p:spPr bwMode="auto">
                <a:xfrm>
                  <a:off x="3575" y="457"/>
                  <a:ext cx="288" cy="2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𝑄</m:t>
                            </m:r>
                          </m:e>
                          <m:sub>
                            <m:r>
                              <a:rPr lang="en-US" sz="2600" i="1">
                                <a:solidFill>
                                  <a:srgbClr val="000000"/>
                                </a:solidFill>
                                <a:latin typeface="Cambria Math" panose="02040503050406030204" pitchFamily="18" charset="0"/>
                              </a:rPr>
                              <m:t>𝐵</m:t>
                            </m:r>
                          </m:sub>
                        </m:sSub>
                      </m:oMath>
                    </m:oMathPara>
                  </a14:m>
                  <a:endParaRPr lang="en-US" sz="2600"/>
                </a:p>
              </p:txBody>
            </p:sp>
          </mc:Choice>
          <mc:Fallback xmlns="">
            <p:sp>
              <p:nvSpPr>
                <p:cNvPr id="42037" name="Object 12">
                  <a:extLst>
                    <a:ext uri="{FF2B5EF4-FFF2-40B4-BE49-F238E27FC236}">
                      <a16:creationId xmlns:a16="http://schemas.microsoft.com/office/drawing/2014/main" xmlns:a14="http://schemas.microsoft.com/office/drawing/2010/main" xmlns="" id="{D8566B15-7E1A-4F7F-BEC5-C36723DFADFE}"/>
                    </a:ext>
                  </a:extLst>
                </p:cNvPr>
                <p:cNvSpPr txBox="1">
                  <a:spLocks noRot="1" noChangeAspect="1" noMove="1" noResize="1" noEditPoints="1" noAdjustHandles="1" noChangeArrowheads="1" noChangeShapeType="1" noTextEdit="1"/>
                </p:cNvSpPr>
                <p:nvPr/>
              </p:nvSpPr>
              <p:spPr bwMode="auto">
                <a:xfrm>
                  <a:off x="3575" y="457"/>
                  <a:ext cx="288" cy="288"/>
                </a:xfrm>
                <a:prstGeom prst="rect">
                  <a:avLst/>
                </a:prstGeom>
                <a:blipFill rotWithShape="0">
                  <a:blip r:embed="rId3"/>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038" name="Object 13">
                  <a:extLst>
                    <a:ext uri="{FF2B5EF4-FFF2-40B4-BE49-F238E27FC236}">
                      <a16:creationId xmlns:a16="http://schemas.microsoft.com/office/drawing/2014/main" id="{CA6FAA6C-C7EE-435C-85FB-5B90FE769CEA}"/>
                    </a:ext>
                  </a:extLst>
                </p:cNvPr>
                <p:cNvSpPr txBox="1"/>
                <p:nvPr/>
              </p:nvSpPr>
              <p:spPr bwMode="auto">
                <a:xfrm>
                  <a:off x="1685" y="439"/>
                  <a:ext cx="288" cy="2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𝑄</m:t>
                            </m:r>
                          </m:e>
                          <m:sub>
                            <m:r>
                              <a:rPr lang="en-US" sz="2600" i="1">
                                <a:solidFill>
                                  <a:srgbClr val="000000"/>
                                </a:solidFill>
                                <a:latin typeface="Cambria Math" panose="02040503050406030204" pitchFamily="18" charset="0"/>
                              </a:rPr>
                              <m:t>𝐴</m:t>
                            </m:r>
                          </m:sub>
                        </m:sSub>
                      </m:oMath>
                    </m:oMathPara>
                  </a14:m>
                  <a:endParaRPr lang="en-US" sz="2600" dirty="0"/>
                </a:p>
              </p:txBody>
            </p:sp>
          </mc:Choice>
          <mc:Fallback xmlns="">
            <p:sp>
              <p:nvSpPr>
                <p:cNvPr id="42038" name="Object 13">
                  <a:extLst>
                    <a:ext uri="{FF2B5EF4-FFF2-40B4-BE49-F238E27FC236}">
                      <a16:creationId xmlns:a16="http://schemas.microsoft.com/office/drawing/2014/main" xmlns:a14="http://schemas.microsoft.com/office/drawing/2010/main" xmlns="" id="{CA6FAA6C-C7EE-435C-85FB-5B90FE769CEA}"/>
                    </a:ext>
                  </a:extLst>
                </p:cNvPr>
                <p:cNvSpPr txBox="1">
                  <a:spLocks noRot="1" noChangeAspect="1" noMove="1" noResize="1" noEditPoints="1" noAdjustHandles="1" noChangeArrowheads="1" noChangeShapeType="1" noTextEdit="1"/>
                </p:cNvSpPr>
                <p:nvPr/>
              </p:nvSpPr>
              <p:spPr bwMode="auto">
                <a:xfrm>
                  <a:off x="1685" y="439"/>
                  <a:ext cx="288" cy="288"/>
                </a:xfrm>
                <a:prstGeom prst="rect">
                  <a:avLst/>
                </a:prstGeom>
                <a:blipFill rotWithShape="0">
                  <a:blip r:embed="rId4"/>
                  <a:stretch>
                    <a:fillRect/>
                  </a:stretch>
                </a:blipFill>
                <a:ln>
                  <a:noFill/>
                </a:ln>
                <a:effectLst/>
                <a:extLst/>
              </p:spPr>
              <p:txBody>
                <a:bodyPr/>
                <a:lstStyle/>
                <a:p>
                  <a:r>
                    <a:rPr lang="en-US">
                      <a:noFill/>
                    </a:rPr>
                    <a:t> </a:t>
                  </a:r>
                </a:p>
              </p:txBody>
            </p:sp>
          </mc:Fallback>
        </mc:AlternateContent>
      </p:grpSp>
      <p:grpSp>
        <p:nvGrpSpPr>
          <p:cNvPr id="556047" name="Group 15">
            <a:extLst>
              <a:ext uri="{FF2B5EF4-FFF2-40B4-BE49-F238E27FC236}">
                <a16:creationId xmlns:a16="http://schemas.microsoft.com/office/drawing/2014/main" id="{AF17F0FB-9C45-4522-AA79-FBBED52F7902}"/>
              </a:ext>
            </a:extLst>
          </p:cNvPr>
          <p:cNvGrpSpPr>
            <a:grpSpLocks/>
          </p:cNvGrpSpPr>
          <p:nvPr/>
        </p:nvGrpSpPr>
        <p:grpSpPr bwMode="auto">
          <a:xfrm>
            <a:off x="7431088" y="2705101"/>
            <a:ext cx="2913062" cy="2379663"/>
            <a:chOff x="3767" y="1477"/>
            <a:chExt cx="1835" cy="1499"/>
          </a:xfrm>
        </p:grpSpPr>
        <p:sp>
          <p:nvSpPr>
            <p:cNvPr id="42005" name="Line 16">
              <a:extLst>
                <a:ext uri="{FF2B5EF4-FFF2-40B4-BE49-F238E27FC236}">
                  <a16:creationId xmlns:a16="http://schemas.microsoft.com/office/drawing/2014/main" id="{97878992-9E8E-441B-B9A6-C77C4F33C71B}"/>
                </a:ext>
              </a:extLst>
            </p:cNvPr>
            <p:cNvSpPr>
              <a:spLocks noChangeShapeType="1"/>
            </p:cNvSpPr>
            <p:nvPr/>
          </p:nvSpPr>
          <p:spPr bwMode="auto">
            <a:xfrm flipH="1">
              <a:off x="4017" y="1584"/>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6" name="Line 17">
              <a:extLst>
                <a:ext uri="{FF2B5EF4-FFF2-40B4-BE49-F238E27FC236}">
                  <a16:creationId xmlns:a16="http://schemas.microsoft.com/office/drawing/2014/main" id="{53D4831C-DAD2-4FE3-B468-9AF6FDA5A38C}"/>
                </a:ext>
              </a:extLst>
            </p:cNvPr>
            <p:cNvSpPr>
              <a:spLocks noChangeShapeType="1"/>
            </p:cNvSpPr>
            <p:nvPr/>
          </p:nvSpPr>
          <p:spPr bwMode="auto">
            <a:xfrm flipH="1">
              <a:off x="4257" y="1584"/>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7" name="Line 18">
              <a:extLst>
                <a:ext uri="{FF2B5EF4-FFF2-40B4-BE49-F238E27FC236}">
                  <a16:creationId xmlns:a16="http://schemas.microsoft.com/office/drawing/2014/main" id="{DA4D0F32-BCA8-4630-B374-09084B5DC833}"/>
                </a:ext>
              </a:extLst>
            </p:cNvPr>
            <p:cNvSpPr>
              <a:spLocks noChangeShapeType="1"/>
            </p:cNvSpPr>
            <p:nvPr/>
          </p:nvSpPr>
          <p:spPr bwMode="auto">
            <a:xfrm>
              <a:off x="4017" y="2016"/>
              <a:ext cx="224" cy="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8" name="Line 19">
              <a:extLst>
                <a:ext uri="{FF2B5EF4-FFF2-40B4-BE49-F238E27FC236}">
                  <a16:creationId xmlns:a16="http://schemas.microsoft.com/office/drawing/2014/main" id="{C2005E5A-B740-4E3D-8BAA-6BF80F2F92B2}"/>
                </a:ext>
              </a:extLst>
            </p:cNvPr>
            <p:cNvSpPr>
              <a:spLocks noChangeShapeType="1"/>
            </p:cNvSpPr>
            <p:nvPr/>
          </p:nvSpPr>
          <p:spPr bwMode="auto">
            <a:xfrm flipV="1">
              <a:off x="4689" y="1570"/>
              <a:ext cx="232" cy="1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9" name="Line 20">
              <a:extLst>
                <a:ext uri="{FF2B5EF4-FFF2-40B4-BE49-F238E27FC236}">
                  <a16:creationId xmlns:a16="http://schemas.microsoft.com/office/drawing/2014/main" id="{504A8955-5619-4650-A795-C276242F06B9}"/>
                </a:ext>
              </a:extLst>
            </p:cNvPr>
            <p:cNvSpPr>
              <a:spLocks noChangeShapeType="1"/>
            </p:cNvSpPr>
            <p:nvPr/>
          </p:nvSpPr>
          <p:spPr bwMode="auto">
            <a:xfrm>
              <a:off x="4257" y="2016"/>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0" name="Line 21">
              <a:extLst>
                <a:ext uri="{FF2B5EF4-FFF2-40B4-BE49-F238E27FC236}">
                  <a16:creationId xmlns:a16="http://schemas.microsoft.com/office/drawing/2014/main" id="{CCA1CB39-DD73-47A2-992C-FF39268EC584}"/>
                </a:ext>
              </a:extLst>
            </p:cNvPr>
            <p:cNvSpPr>
              <a:spLocks noChangeShapeType="1"/>
            </p:cNvSpPr>
            <p:nvPr/>
          </p:nvSpPr>
          <p:spPr bwMode="auto">
            <a:xfrm>
              <a:off x="4017" y="2016"/>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1" name="Line 22">
              <a:extLst>
                <a:ext uri="{FF2B5EF4-FFF2-40B4-BE49-F238E27FC236}">
                  <a16:creationId xmlns:a16="http://schemas.microsoft.com/office/drawing/2014/main" id="{A2A3133D-6F04-4BEC-8275-A2954B7F073B}"/>
                </a:ext>
              </a:extLst>
            </p:cNvPr>
            <p:cNvSpPr>
              <a:spLocks noChangeShapeType="1"/>
            </p:cNvSpPr>
            <p:nvPr/>
          </p:nvSpPr>
          <p:spPr bwMode="auto">
            <a:xfrm>
              <a:off x="4017" y="2976"/>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2" name="Line 23">
              <a:extLst>
                <a:ext uri="{FF2B5EF4-FFF2-40B4-BE49-F238E27FC236}">
                  <a16:creationId xmlns:a16="http://schemas.microsoft.com/office/drawing/2014/main" id="{056A32CB-2B45-488B-A501-A6B891B62B74}"/>
                </a:ext>
              </a:extLst>
            </p:cNvPr>
            <p:cNvSpPr>
              <a:spLocks noChangeShapeType="1"/>
            </p:cNvSpPr>
            <p:nvPr/>
          </p:nvSpPr>
          <p:spPr bwMode="auto">
            <a:xfrm flipV="1">
              <a:off x="4257" y="2688"/>
              <a:ext cx="432"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3" name="Line 24">
              <a:extLst>
                <a:ext uri="{FF2B5EF4-FFF2-40B4-BE49-F238E27FC236}">
                  <a16:creationId xmlns:a16="http://schemas.microsoft.com/office/drawing/2014/main" id="{D2E0D803-ADF6-4DE8-9D96-7B801EDA234C}"/>
                </a:ext>
              </a:extLst>
            </p:cNvPr>
            <p:cNvSpPr>
              <a:spLocks noChangeShapeType="1"/>
            </p:cNvSpPr>
            <p:nvPr/>
          </p:nvSpPr>
          <p:spPr bwMode="auto">
            <a:xfrm flipH="1">
              <a:off x="4689" y="1584"/>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4" name="Line 25">
              <a:extLst>
                <a:ext uri="{FF2B5EF4-FFF2-40B4-BE49-F238E27FC236}">
                  <a16:creationId xmlns:a16="http://schemas.microsoft.com/office/drawing/2014/main" id="{A9F19CEA-49D6-4E5C-A618-294400340E3D}"/>
                </a:ext>
              </a:extLst>
            </p:cNvPr>
            <p:cNvSpPr>
              <a:spLocks noChangeShapeType="1"/>
            </p:cNvSpPr>
            <p:nvPr/>
          </p:nvSpPr>
          <p:spPr bwMode="auto">
            <a:xfrm flipH="1">
              <a:off x="4929" y="1584"/>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5" name="Line 26">
              <a:extLst>
                <a:ext uri="{FF2B5EF4-FFF2-40B4-BE49-F238E27FC236}">
                  <a16:creationId xmlns:a16="http://schemas.microsoft.com/office/drawing/2014/main" id="{A0350417-B7D3-4007-A3BB-15D556B4D6AF}"/>
                </a:ext>
              </a:extLst>
            </p:cNvPr>
            <p:cNvSpPr>
              <a:spLocks noChangeShapeType="1"/>
            </p:cNvSpPr>
            <p:nvPr/>
          </p:nvSpPr>
          <p:spPr bwMode="auto">
            <a:xfrm>
              <a:off x="4689" y="2016"/>
              <a:ext cx="232" cy="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6" name="Line 27">
              <a:extLst>
                <a:ext uri="{FF2B5EF4-FFF2-40B4-BE49-F238E27FC236}">
                  <a16:creationId xmlns:a16="http://schemas.microsoft.com/office/drawing/2014/main" id="{DFC88841-C1CC-4119-A876-497883729F29}"/>
                </a:ext>
              </a:extLst>
            </p:cNvPr>
            <p:cNvSpPr>
              <a:spLocks noChangeShapeType="1"/>
            </p:cNvSpPr>
            <p:nvPr/>
          </p:nvSpPr>
          <p:spPr bwMode="auto">
            <a:xfrm flipV="1">
              <a:off x="5361" y="1570"/>
              <a:ext cx="232" cy="1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7" name="Line 28">
              <a:extLst>
                <a:ext uri="{FF2B5EF4-FFF2-40B4-BE49-F238E27FC236}">
                  <a16:creationId xmlns:a16="http://schemas.microsoft.com/office/drawing/2014/main" id="{6E05CBB4-8219-45E4-B629-9BF710591236}"/>
                </a:ext>
              </a:extLst>
            </p:cNvPr>
            <p:cNvSpPr>
              <a:spLocks noChangeShapeType="1"/>
            </p:cNvSpPr>
            <p:nvPr/>
          </p:nvSpPr>
          <p:spPr bwMode="auto">
            <a:xfrm>
              <a:off x="4929" y="2016"/>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8" name="Line 29">
              <a:extLst>
                <a:ext uri="{FF2B5EF4-FFF2-40B4-BE49-F238E27FC236}">
                  <a16:creationId xmlns:a16="http://schemas.microsoft.com/office/drawing/2014/main" id="{5B7C58AE-8C8D-44FD-B40C-758536E2E89A}"/>
                </a:ext>
              </a:extLst>
            </p:cNvPr>
            <p:cNvSpPr>
              <a:spLocks noChangeShapeType="1"/>
            </p:cNvSpPr>
            <p:nvPr/>
          </p:nvSpPr>
          <p:spPr bwMode="auto">
            <a:xfrm>
              <a:off x="4689" y="2016"/>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19" name="Line 30">
              <a:extLst>
                <a:ext uri="{FF2B5EF4-FFF2-40B4-BE49-F238E27FC236}">
                  <a16:creationId xmlns:a16="http://schemas.microsoft.com/office/drawing/2014/main" id="{B442DA2D-F6C2-4843-BBE3-765CBD8BF2A0}"/>
                </a:ext>
              </a:extLst>
            </p:cNvPr>
            <p:cNvSpPr>
              <a:spLocks noChangeShapeType="1"/>
            </p:cNvSpPr>
            <p:nvPr/>
          </p:nvSpPr>
          <p:spPr bwMode="auto">
            <a:xfrm>
              <a:off x="4689" y="2976"/>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20" name="Line 31">
              <a:extLst>
                <a:ext uri="{FF2B5EF4-FFF2-40B4-BE49-F238E27FC236}">
                  <a16:creationId xmlns:a16="http://schemas.microsoft.com/office/drawing/2014/main" id="{B5D5239F-EC4A-478E-80DB-B4237B4E7B23}"/>
                </a:ext>
              </a:extLst>
            </p:cNvPr>
            <p:cNvSpPr>
              <a:spLocks noChangeShapeType="1"/>
            </p:cNvSpPr>
            <p:nvPr/>
          </p:nvSpPr>
          <p:spPr bwMode="auto">
            <a:xfrm flipV="1">
              <a:off x="4929" y="2496"/>
              <a:ext cx="67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21" name="Freeform 32">
              <a:extLst>
                <a:ext uri="{FF2B5EF4-FFF2-40B4-BE49-F238E27FC236}">
                  <a16:creationId xmlns:a16="http://schemas.microsoft.com/office/drawing/2014/main" id="{EA0AC863-606B-430E-8471-02F18F81D945}"/>
                </a:ext>
              </a:extLst>
            </p:cNvPr>
            <p:cNvSpPr>
              <a:spLocks/>
            </p:cNvSpPr>
            <p:nvPr/>
          </p:nvSpPr>
          <p:spPr bwMode="auto">
            <a:xfrm>
              <a:off x="4929" y="1584"/>
              <a:ext cx="1" cy="288"/>
            </a:xfrm>
            <a:custGeom>
              <a:avLst/>
              <a:gdLst>
                <a:gd name="T0" fmla="*/ 0 w 1"/>
                <a:gd name="T1" fmla="*/ 0 h 288"/>
                <a:gd name="T2" fmla="*/ 0 w 1"/>
                <a:gd name="T3" fmla="*/ 288 h 288"/>
                <a:gd name="T4" fmla="*/ 0 60000 65536"/>
                <a:gd name="T5" fmla="*/ 0 60000 65536"/>
              </a:gdLst>
              <a:ahLst/>
              <a:cxnLst>
                <a:cxn ang="T4">
                  <a:pos x="T0" y="T1"/>
                </a:cxn>
                <a:cxn ang="T5">
                  <a:pos x="T2" y="T3"/>
                </a:cxn>
              </a:cxnLst>
              <a:rect l="0" t="0" r="r" b="b"/>
              <a:pathLst>
                <a:path w="1" h="288">
                  <a:moveTo>
                    <a:pt x="0" y="0"/>
                  </a:moveTo>
                  <a:cubicBezTo>
                    <a:pt x="0" y="124"/>
                    <a:pt x="0" y="248"/>
                    <a:pt x="0" y="2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22" name="Freeform 33">
              <a:extLst>
                <a:ext uri="{FF2B5EF4-FFF2-40B4-BE49-F238E27FC236}">
                  <a16:creationId xmlns:a16="http://schemas.microsoft.com/office/drawing/2014/main" id="{AC863957-8A76-4276-AFF9-7A88415B7B8E}"/>
                </a:ext>
              </a:extLst>
            </p:cNvPr>
            <p:cNvSpPr>
              <a:spLocks/>
            </p:cNvSpPr>
            <p:nvPr/>
          </p:nvSpPr>
          <p:spPr bwMode="auto">
            <a:xfrm>
              <a:off x="5601" y="1584"/>
              <a:ext cx="1" cy="912"/>
            </a:xfrm>
            <a:custGeom>
              <a:avLst/>
              <a:gdLst>
                <a:gd name="T0" fmla="*/ 0 w 1"/>
                <a:gd name="T1" fmla="*/ 0 h 912"/>
                <a:gd name="T2" fmla="*/ 0 w 1"/>
                <a:gd name="T3" fmla="*/ 912 h 912"/>
                <a:gd name="T4" fmla="*/ 0 60000 65536"/>
                <a:gd name="T5" fmla="*/ 0 60000 65536"/>
              </a:gdLst>
              <a:ahLst/>
              <a:cxnLst>
                <a:cxn ang="T4">
                  <a:pos x="T0" y="T1"/>
                </a:cxn>
                <a:cxn ang="T5">
                  <a:pos x="T2" y="T3"/>
                </a:cxn>
              </a:cxnLst>
              <a:rect l="0" t="0" r="r" b="b"/>
              <a:pathLst>
                <a:path w="1" h="912">
                  <a:moveTo>
                    <a:pt x="0" y="0"/>
                  </a:moveTo>
                  <a:cubicBezTo>
                    <a:pt x="0" y="380"/>
                    <a:pt x="0" y="760"/>
                    <a:pt x="0" y="91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023" name="Object 34">
                  <a:extLst>
                    <a:ext uri="{FF2B5EF4-FFF2-40B4-BE49-F238E27FC236}">
                      <a16:creationId xmlns:a16="http://schemas.microsoft.com/office/drawing/2014/main" id="{40921307-13F7-4656-A121-ADCA7071CC88}"/>
                    </a:ext>
                  </a:extLst>
                </p:cNvPr>
                <p:cNvSpPr txBox="1"/>
                <p:nvPr/>
              </p:nvSpPr>
              <p:spPr bwMode="auto">
                <a:xfrm>
                  <a:off x="4239" y="1477"/>
                  <a:ext cx="229" cy="229"/>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𝐴</m:t>
                        </m:r>
                      </m:oMath>
                    </m:oMathPara>
                  </a14:m>
                  <a:endParaRPr lang="en-US"/>
                </a:p>
              </p:txBody>
            </p:sp>
          </mc:Choice>
          <mc:Fallback xmlns="">
            <p:sp>
              <p:nvSpPr>
                <p:cNvPr id="42023" name="Object 34">
                  <a:extLst>
                    <a:ext uri="{FF2B5EF4-FFF2-40B4-BE49-F238E27FC236}">
                      <a16:creationId xmlns:a16="http://schemas.microsoft.com/office/drawing/2014/main" id="{40921307-13F7-4656-A121-ADCA7071CC88}"/>
                    </a:ext>
                  </a:extLst>
                </p:cNvPr>
                <p:cNvSpPr txBox="1">
                  <a:spLocks noRot="1" noChangeAspect="1" noMove="1" noResize="1" noEditPoints="1" noAdjustHandles="1" noChangeArrowheads="1" noChangeShapeType="1" noTextEdit="1"/>
                </p:cNvSpPr>
                <p:nvPr/>
              </p:nvSpPr>
              <p:spPr bwMode="auto">
                <a:xfrm>
                  <a:off x="4239" y="1477"/>
                  <a:ext cx="229" cy="229"/>
                </a:xfrm>
                <a:prstGeom prst="rect">
                  <a:avLst/>
                </a:prstGeom>
                <a:blipFill>
                  <a:blip r:embed="rId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024" name="Object 35">
                  <a:extLst>
                    <a:ext uri="{FF2B5EF4-FFF2-40B4-BE49-F238E27FC236}">
                      <a16:creationId xmlns:a16="http://schemas.microsoft.com/office/drawing/2014/main" id="{9796841F-49EC-4231-8F11-9E7584BE068B}"/>
                    </a:ext>
                  </a:extLst>
                </p:cNvPr>
                <p:cNvSpPr txBox="1"/>
                <p:nvPr/>
              </p:nvSpPr>
              <p:spPr bwMode="auto">
                <a:xfrm>
                  <a:off x="5073" y="1477"/>
                  <a:ext cx="203" cy="203"/>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𝐵</m:t>
                        </m:r>
                      </m:oMath>
                    </m:oMathPara>
                  </a14:m>
                  <a:endParaRPr lang="en-US"/>
                </a:p>
              </p:txBody>
            </p:sp>
          </mc:Choice>
          <mc:Fallback xmlns="">
            <p:sp>
              <p:nvSpPr>
                <p:cNvPr id="42024" name="Object 35">
                  <a:extLst>
                    <a:ext uri="{FF2B5EF4-FFF2-40B4-BE49-F238E27FC236}">
                      <a16:creationId xmlns:a16="http://schemas.microsoft.com/office/drawing/2014/main" id="{9796841F-49EC-4231-8F11-9E7584BE068B}"/>
                    </a:ext>
                  </a:extLst>
                </p:cNvPr>
                <p:cNvSpPr txBox="1">
                  <a:spLocks noRot="1" noChangeAspect="1" noMove="1" noResize="1" noEditPoints="1" noAdjustHandles="1" noChangeArrowheads="1" noChangeShapeType="1" noTextEdit="1"/>
                </p:cNvSpPr>
                <p:nvPr/>
              </p:nvSpPr>
              <p:spPr bwMode="auto">
                <a:xfrm>
                  <a:off x="5073" y="1477"/>
                  <a:ext cx="203" cy="203"/>
                </a:xfrm>
                <a:prstGeom prst="rect">
                  <a:avLst/>
                </a:prstGeom>
                <a:blipFill>
                  <a:blip r:embed="rId6"/>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025" name="Object 36">
                  <a:extLst>
                    <a:ext uri="{FF2B5EF4-FFF2-40B4-BE49-F238E27FC236}">
                      <a16:creationId xmlns:a16="http://schemas.microsoft.com/office/drawing/2014/main" id="{CF14BAC4-1487-48BE-93DA-0D50B67B2DBB}"/>
                    </a:ext>
                  </a:extLst>
                </p:cNvPr>
                <p:cNvSpPr txBox="1"/>
                <p:nvPr/>
              </p:nvSpPr>
              <p:spPr bwMode="auto">
                <a:xfrm>
                  <a:off x="3767" y="1872"/>
                  <a:ext cx="202" cy="28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42025" name="Object 36">
                  <a:extLst>
                    <a:ext uri="{FF2B5EF4-FFF2-40B4-BE49-F238E27FC236}">
                      <a16:creationId xmlns:a16="http://schemas.microsoft.com/office/drawing/2014/main" id="{CF14BAC4-1487-48BE-93DA-0D50B67B2DBB}"/>
                    </a:ext>
                  </a:extLst>
                </p:cNvPr>
                <p:cNvSpPr txBox="1">
                  <a:spLocks noRot="1" noChangeAspect="1" noMove="1" noResize="1" noEditPoints="1" noAdjustHandles="1" noChangeArrowheads="1" noChangeShapeType="1" noTextEdit="1"/>
                </p:cNvSpPr>
                <p:nvPr/>
              </p:nvSpPr>
              <p:spPr bwMode="auto">
                <a:xfrm>
                  <a:off x="3767" y="1872"/>
                  <a:ext cx="202" cy="288"/>
                </a:xfrm>
                <a:prstGeom prst="rect">
                  <a:avLst/>
                </a:prstGeom>
                <a:blipFill>
                  <a:blip r:embed="rId7"/>
                  <a:stretch>
                    <a:fillRect r="-11321"/>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026" name="Object 37">
                  <a:extLst>
                    <a:ext uri="{FF2B5EF4-FFF2-40B4-BE49-F238E27FC236}">
                      <a16:creationId xmlns:a16="http://schemas.microsoft.com/office/drawing/2014/main" id="{D40806AC-C18B-4FBD-9C8F-4D24343ABC56}"/>
                    </a:ext>
                  </a:extLst>
                </p:cNvPr>
                <p:cNvSpPr txBox="1"/>
                <p:nvPr/>
              </p:nvSpPr>
              <p:spPr bwMode="auto">
                <a:xfrm>
                  <a:off x="4301" y="1881"/>
                  <a:ext cx="214" cy="279"/>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42026" name="Object 37">
                  <a:extLst>
                    <a:ext uri="{FF2B5EF4-FFF2-40B4-BE49-F238E27FC236}">
                      <a16:creationId xmlns:a16="http://schemas.microsoft.com/office/drawing/2014/main" id="{D40806AC-C18B-4FBD-9C8F-4D24343ABC56}"/>
                    </a:ext>
                  </a:extLst>
                </p:cNvPr>
                <p:cNvSpPr txBox="1">
                  <a:spLocks noRot="1" noChangeAspect="1" noMove="1" noResize="1" noEditPoints="1" noAdjustHandles="1" noChangeArrowheads="1" noChangeShapeType="1" noTextEdit="1"/>
                </p:cNvSpPr>
                <p:nvPr/>
              </p:nvSpPr>
              <p:spPr bwMode="auto">
                <a:xfrm>
                  <a:off x="4301" y="1881"/>
                  <a:ext cx="214" cy="279"/>
                </a:xfrm>
                <a:prstGeom prst="rect">
                  <a:avLst/>
                </a:prstGeom>
                <a:blipFill>
                  <a:blip r:embed="rId8"/>
                  <a:stretch>
                    <a:fillRect r="-7143"/>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027" name="Object 38">
                  <a:extLst>
                    <a:ext uri="{FF2B5EF4-FFF2-40B4-BE49-F238E27FC236}">
                      <a16:creationId xmlns:a16="http://schemas.microsoft.com/office/drawing/2014/main" id="{94DA3B9C-E474-477E-B8B5-200E2C6CE5B3}"/>
                    </a:ext>
                  </a:extLst>
                </p:cNvPr>
                <p:cNvSpPr txBox="1"/>
                <p:nvPr/>
              </p:nvSpPr>
              <p:spPr bwMode="auto">
                <a:xfrm>
                  <a:off x="4674" y="1939"/>
                  <a:ext cx="214" cy="286"/>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3</m:t>
                            </m:r>
                          </m:sub>
                        </m:sSub>
                      </m:oMath>
                    </m:oMathPara>
                  </a14:m>
                  <a:endParaRPr lang="en-US"/>
                </a:p>
              </p:txBody>
            </p:sp>
          </mc:Choice>
          <mc:Fallback xmlns="">
            <p:sp>
              <p:nvSpPr>
                <p:cNvPr id="42027" name="Object 38">
                  <a:extLst>
                    <a:ext uri="{FF2B5EF4-FFF2-40B4-BE49-F238E27FC236}">
                      <a16:creationId xmlns:a16="http://schemas.microsoft.com/office/drawing/2014/main" id="{94DA3B9C-E474-477E-B8B5-200E2C6CE5B3}"/>
                    </a:ext>
                  </a:extLst>
                </p:cNvPr>
                <p:cNvSpPr txBox="1">
                  <a:spLocks noRot="1" noChangeAspect="1" noMove="1" noResize="1" noEditPoints="1" noAdjustHandles="1" noChangeArrowheads="1" noChangeShapeType="1" noTextEdit="1"/>
                </p:cNvSpPr>
                <p:nvPr/>
              </p:nvSpPr>
              <p:spPr bwMode="auto">
                <a:xfrm>
                  <a:off x="4674" y="1939"/>
                  <a:ext cx="214" cy="286"/>
                </a:xfrm>
                <a:prstGeom prst="rect">
                  <a:avLst/>
                </a:prstGeom>
                <a:blipFill>
                  <a:blip r:embed="rId9"/>
                  <a:stretch>
                    <a:fillRect r="-7143"/>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028" name="Object 39">
                  <a:extLst>
                    <a:ext uri="{FF2B5EF4-FFF2-40B4-BE49-F238E27FC236}">
                      <a16:creationId xmlns:a16="http://schemas.microsoft.com/office/drawing/2014/main" id="{A05E2DF6-8553-4F70-883E-E01A3893E313}"/>
                    </a:ext>
                  </a:extLst>
                </p:cNvPr>
                <p:cNvSpPr txBox="1"/>
                <p:nvPr/>
              </p:nvSpPr>
              <p:spPr bwMode="auto">
                <a:xfrm>
                  <a:off x="5019" y="1916"/>
                  <a:ext cx="200" cy="27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4</m:t>
                            </m:r>
                          </m:sub>
                        </m:sSub>
                      </m:oMath>
                    </m:oMathPara>
                  </a14:m>
                  <a:endParaRPr lang="en-US"/>
                </a:p>
              </p:txBody>
            </p:sp>
          </mc:Choice>
          <mc:Fallback xmlns="">
            <p:sp>
              <p:nvSpPr>
                <p:cNvPr id="42028" name="Object 39">
                  <a:extLst>
                    <a:ext uri="{FF2B5EF4-FFF2-40B4-BE49-F238E27FC236}">
                      <a16:creationId xmlns:a16="http://schemas.microsoft.com/office/drawing/2014/main" id="{A05E2DF6-8553-4F70-883E-E01A3893E313}"/>
                    </a:ext>
                  </a:extLst>
                </p:cNvPr>
                <p:cNvSpPr txBox="1">
                  <a:spLocks noRot="1" noChangeAspect="1" noMove="1" noResize="1" noEditPoints="1" noAdjustHandles="1" noChangeArrowheads="1" noChangeShapeType="1" noTextEdit="1"/>
                </p:cNvSpPr>
                <p:nvPr/>
              </p:nvSpPr>
              <p:spPr bwMode="auto">
                <a:xfrm>
                  <a:off x="5019" y="1916"/>
                  <a:ext cx="200" cy="277"/>
                </a:xfrm>
                <a:prstGeom prst="rect">
                  <a:avLst/>
                </a:prstGeom>
                <a:blipFill>
                  <a:blip r:embed="rId10"/>
                  <a:stretch>
                    <a:fillRect r="-15385"/>
                  </a:stretch>
                </a:blipFill>
                <a:ln>
                  <a:noFill/>
                </a:ln>
                <a:extLst/>
              </p:spPr>
              <p:txBody>
                <a:bodyPr/>
                <a:lstStyle/>
                <a:p>
                  <a:r>
                    <a:rPr lang="en-US">
                      <a:noFill/>
                    </a:rPr>
                    <a:t> </a:t>
                  </a:r>
                </a:p>
              </p:txBody>
            </p:sp>
          </mc:Fallback>
        </mc:AlternateContent>
      </p:grpSp>
      <p:grpSp>
        <p:nvGrpSpPr>
          <p:cNvPr id="556072" name="Group 40">
            <a:extLst>
              <a:ext uri="{FF2B5EF4-FFF2-40B4-BE49-F238E27FC236}">
                <a16:creationId xmlns:a16="http://schemas.microsoft.com/office/drawing/2014/main" id="{B563299B-053D-490F-8D61-32B4ED2D5823}"/>
              </a:ext>
            </a:extLst>
          </p:cNvPr>
          <p:cNvGrpSpPr>
            <a:grpSpLocks/>
          </p:cNvGrpSpPr>
          <p:nvPr/>
        </p:nvGrpSpPr>
        <p:grpSpPr bwMode="auto">
          <a:xfrm>
            <a:off x="8285164" y="3933825"/>
            <a:ext cx="1404937" cy="742950"/>
            <a:chOff x="4305" y="2304"/>
            <a:chExt cx="885" cy="468"/>
          </a:xfrm>
        </p:grpSpPr>
        <p:sp>
          <p:nvSpPr>
            <p:cNvPr id="42000" name="AutoShape 41">
              <a:extLst>
                <a:ext uri="{FF2B5EF4-FFF2-40B4-BE49-F238E27FC236}">
                  <a16:creationId xmlns:a16="http://schemas.microsoft.com/office/drawing/2014/main" id="{60594496-6DBF-4C2E-9B7D-8F140767A4C8}"/>
                </a:ext>
              </a:extLst>
            </p:cNvPr>
            <p:cNvSpPr>
              <a:spLocks noChangeArrowheads="1"/>
            </p:cNvSpPr>
            <p:nvPr/>
          </p:nvSpPr>
          <p:spPr bwMode="auto">
            <a:xfrm rot="5410051">
              <a:off x="4143" y="2466"/>
              <a:ext cx="468" cy="144"/>
            </a:xfrm>
            <a:prstGeom prst="flowChartMagneticDisk">
              <a:avLst/>
            </a:prstGeom>
            <a:solidFill>
              <a:schemeClr val="accent2">
                <a:alpha val="50195"/>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solidFill>
                  <a:srgbClr val="000000"/>
                </a:solidFill>
                <a:ea typeface="华文楷体" panose="02010600040101010101" pitchFamily="2" charset="-122"/>
                <a:cs typeface="Times New Roman" panose="02020603050405020304" pitchFamily="18" charset="0"/>
              </a:endParaRPr>
            </a:p>
          </p:txBody>
        </p:sp>
        <p:sp>
          <p:nvSpPr>
            <p:cNvPr id="42001" name="AutoShape 42">
              <a:extLst>
                <a:ext uri="{FF2B5EF4-FFF2-40B4-BE49-F238E27FC236}">
                  <a16:creationId xmlns:a16="http://schemas.microsoft.com/office/drawing/2014/main" id="{1D64665C-9813-4F55-868C-D119B6BBCD0B}"/>
                </a:ext>
              </a:extLst>
            </p:cNvPr>
            <p:cNvSpPr>
              <a:spLocks noChangeArrowheads="1"/>
            </p:cNvSpPr>
            <p:nvPr/>
          </p:nvSpPr>
          <p:spPr bwMode="auto">
            <a:xfrm rot="5425974">
              <a:off x="4575" y="2466"/>
              <a:ext cx="468" cy="144"/>
            </a:xfrm>
            <a:prstGeom prst="flowChartMagneticDisk">
              <a:avLst/>
            </a:prstGeom>
            <a:solidFill>
              <a:schemeClr val="accent2">
                <a:alpha val="50195"/>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solidFill>
                  <a:srgbClr val="000000"/>
                </a:solidFill>
                <a:ea typeface="华文楷体" panose="02010600040101010101" pitchFamily="2" charset="-122"/>
                <a:cs typeface="Times New Roman" panose="02020603050405020304" pitchFamily="18" charset="0"/>
              </a:endParaRPr>
            </a:p>
          </p:txBody>
        </p:sp>
        <p:sp>
          <p:nvSpPr>
            <p:cNvPr id="42002" name="Line 43">
              <a:extLst>
                <a:ext uri="{FF2B5EF4-FFF2-40B4-BE49-F238E27FC236}">
                  <a16:creationId xmlns:a16="http://schemas.microsoft.com/office/drawing/2014/main" id="{E4A1B9FF-1F00-4DE1-9087-9D892938CEFB}"/>
                </a:ext>
              </a:extLst>
            </p:cNvPr>
            <p:cNvSpPr>
              <a:spLocks noChangeShapeType="1"/>
            </p:cNvSpPr>
            <p:nvPr/>
          </p:nvSpPr>
          <p:spPr bwMode="auto">
            <a:xfrm>
              <a:off x="4425" y="2312"/>
              <a:ext cx="3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3" name="Line 44">
              <a:extLst>
                <a:ext uri="{FF2B5EF4-FFF2-40B4-BE49-F238E27FC236}">
                  <a16:creationId xmlns:a16="http://schemas.microsoft.com/office/drawing/2014/main" id="{7D032464-E770-4407-AF0B-5709A5EB8516}"/>
                </a:ext>
              </a:extLst>
            </p:cNvPr>
            <p:cNvSpPr>
              <a:spLocks noChangeShapeType="1"/>
            </p:cNvSpPr>
            <p:nvPr/>
          </p:nvSpPr>
          <p:spPr bwMode="auto">
            <a:xfrm>
              <a:off x="4401" y="276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004" name="Object 45">
                  <a:extLst>
                    <a:ext uri="{FF2B5EF4-FFF2-40B4-BE49-F238E27FC236}">
                      <a16:creationId xmlns:a16="http://schemas.microsoft.com/office/drawing/2014/main" id="{F6C61074-C199-43C9-9320-6B396A0CEDA0}"/>
                    </a:ext>
                  </a:extLst>
                </p:cNvPr>
                <p:cNvSpPr txBox="1"/>
                <p:nvPr/>
              </p:nvSpPr>
              <p:spPr bwMode="auto">
                <a:xfrm>
                  <a:off x="4869" y="2365"/>
                  <a:ext cx="321" cy="24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i="1">
                            <a:solidFill>
                              <a:srgbClr val="000000"/>
                            </a:solidFill>
                            <a:latin typeface="Cambria Math" panose="02040503050406030204" pitchFamily="18" charset="0"/>
                          </a:rPr>
                          <m:t>Δ</m:t>
                        </m:r>
                        <m:r>
                          <a:rPr lang="en-US" i="1">
                            <a:solidFill>
                              <a:srgbClr val="000000"/>
                            </a:solidFill>
                            <a:latin typeface="Cambria Math" panose="02040503050406030204" pitchFamily="18" charset="0"/>
                          </a:rPr>
                          <m:t>𝑆</m:t>
                        </m:r>
                      </m:oMath>
                    </m:oMathPara>
                  </a14:m>
                  <a:endParaRPr lang="en-US"/>
                </a:p>
              </p:txBody>
            </p:sp>
          </mc:Choice>
          <mc:Fallback xmlns="">
            <p:sp>
              <p:nvSpPr>
                <p:cNvPr id="42004" name="Object 45">
                  <a:extLst>
                    <a:ext uri="{FF2B5EF4-FFF2-40B4-BE49-F238E27FC236}">
                      <a16:creationId xmlns:a16="http://schemas.microsoft.com/office/drawing/2014/main" id="{F6C61074-C199-43C9-9320-6B396A0CEDA0}"/>
                    </a:ext>
                  </a:extLst>
                </p:cNvPr>
                <p:cNvSpPr txBox="1">
                  <a:spLocks noRot="1" noChangeAspect="1" noMove="1" noResize="1" noEditPoints="1" noAdjustHandles="1" noChangeArrowheads="1" noChangeShapeType="1" noTextEdit="1"/>
                </p:cNvSpPr>
                <p:nvPr/>
              </p:nvSpPr>
              <p:spPr bwMode="auto">
                <a:xfrm>
                  <a:off x="4869" y="2365"/>
                  <a:ext cx="321" cy="240"/>
                </a:xfrm>
                <a:prstGeom prst="rect">
                  <a:avLst/>
                </a:prstGeom>
                <a:blipFill>
                  <a:blip r:embed="rId11"/>
                  <a:stretch>
                    <a:fillRect/>
                  </a:stretch>
                </a:blipFill>
                <a:ln>
                  <a:noFill/>
                </a:ln>
                <a:extLst/>
              </p:spPr>
              <p:txBody>
                <a:bodyPr/>
                <a:lstStyle/>
                <a:p>
                  <a:r>
                    <a:rPr lang="en-US">
                      <a:noFill/>
                    </a:rPr>
                    <a:t> </a:t>
                  </a:r>
                </a:p>
              </p:txBody>
            </p:sp>
          </mc:Fallback>
        </mc:AlternateContent>
      </p:grpSp>
      <p:sp>
        <p:nvSpPr>
          <p:cNvPr id="556079" name="Text Box 47">
            <a:extLst>
              <a:ext uri="{FF2B5EF4-FFF2-40B4-BE49-F238E27FC236}">
                <a16:creationId xmlns:a16="http://schemas.microsoft.com/office/drawing/2014/main" id="{E189696E-D4BC-4774-AA8E-5E6EC3A31B76}"/>
              </a:ext>
            </a:extLst>
          </p:cNvPr>
          <p:cNvSpPr txBox="1">
            <a:spLocks noChangeArrowheads="1"/>
          </p:cNvSpPr>
          <p:nvPr/>
        </p:nvSpPr>
        <p:spPr bwMode="auto">
          <a:xfrm>
            <a:off x="606425" y="3113881"/>
            <a:ext cx="290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00"/>
                </a:solidFill>
                <a:ea typeface="华文楷体" panose="02010600040101010101" pitchFamily="2" charset="-122"/>
                <a:cs typeface="Times New Roman" panose="02020603050405020304" pitchFamily="18" charset="0"/>
              </a:rPr>
              <a:t>作圆柱形高斯面</a:t>
            </a:r>
          </a:p>
        </p:txBody>
      </p:sp>
      <mc:AlternateContent xmlns:mc="http://schemas.openxmlformats.org/markup-compatibility/2006" xmlns:a14="http://schemas.microsoft.com/office/drawing/2010/main">
        <mc:Choice Requires="a14">
          <p:sp>
            <p:nvSpPr>
              <p:cNvPr id="556080" name="Object 48">
                <a:extLst>
                  <a:ext uri="{FF2B5EF4-FFF2-40B4-BE49-F238E27FC236}">
                    <a16:creationId xmlns:a16="http://schemas.microsoft.com/office/drawing/2014/main" id="{9FD49D37-6508-41D0-8A18-78FF319BF568}"/>
                  </a:ext>
                </a:extLst>
              </p:cNvPr>
              <p:cNvSpPr txBox="1"/>
              <p:nvPr/>
            </p:nvSpPr>
            <p:spPr bwMode="auto">
              <a:xfrm>
                <a:off x="3396595" y="3055939"/>
                <a:ext cx="3606800" cy="104775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𝑆</m:t>
                          </m:r>
                        </m:sub>
                        <m:sup/>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𝐸</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𝑆</m:t>
                              </m:r>
                            </m:e>
                          </m:acc>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3</m:t>
                              </m:r>
                            </m:sub>
                          </m:sSub>
                          <m:r>
                            <a:rPr lang="en-US" sz="2400" i="1">
                              <a:solidFill>
                                <a:srgbClr val="000000"/>
                              </a:solidFill>
                              <a:latin typeface="Cambria Math" panose="02040503050406030204" pitchFamily="18" charset="0"/>
                            </a:rPr>
                            <m:t>)</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𝜀</m:t>
                              </m:r>
                            </m:e>
                            <m:sub>
                              <m:r>
                                <a:rPr lang="en-US" sz="2400" i="1">
                                  <a:solidFill>
                                    <a:srgbClr val="000000"/>
                                  </a:solidFill>
                                  <a:latin typeface="Cambria Math" panose="02040503050406030204" pitchFamily="18" charset="0"/>
                                </a:rPr>
                                <m:t>0</m:t>
                              </m:r>
                            </m:sub>
                          </m:sSub>
                        </m:den>
                      </m:f>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𝑆</m:t>
                      </m:r>
                    </m:oMath>
                  </m:oMathPara>
                </a14:m>
                <a:endParaRPr lang="en-US" sz="2400" dirty="0"/>
              </a:p>
            </p:txBody>
          </p:sp>
        </mc:Choice>
        <mc:Fallback xmlns="">
          <p:sp>
            <p:nvSpPr>
              <p:cNvPr id="556080" name="Object 48">
                <a:extLst>
                  <a:ext uri="{FF2B5EF4-FFF2-40B4-BE49-F238E27FC236}">
                    <a16:creationId xmlns:a16="http://schemas.microsoft.com/office/drawing/2014/main" id="{9FD49D37-6508-41D0-8A18-78FF319BF568}"/>
                  </a:ext>
                </a:extLst>
              </p:cNvPr>
              <p:cNvSpPr txBox="1">
                <a:spLocks noRot="1" noChangeAspect="1" noMove="1" noResize="1" noEditPoints="1" noAdjustHandles="1" noChangeArrowheads="1" noChangeShapeType="1" noTextEdit="1"/>
              </p:cNvSpPr>
              <p:nvPr/>
            </p:nvSpPr>
            <p:spPr bwMode="auto">
              <a:xfrm>
                <a:off x="3396595" y="3055939"/>
                <a:ext cx="3606800" cy="1047750"/>
              </a:xfrm>
              <a:prstGeom prst="rect">
                <a:avLst/>
              </a:prstGeom>
              <a:blipFill>
                <a:blip r:embed="rId1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6082" name="Object 50">
                <a:extLst>
                  <a:ext uri="{FF2B5EF4-FFF2-40B4-BE49-F238E27FC236}">
                    <a16:creationId xmlns:a16="http://schemas.microsoft.com/office/drawing/2014/main" id="{04C3753A-54BD-4003-A05A-3BB68E26FE0C}"/>
                  </a:ext>
                </a:extLst>
              </p:cNvPr>
              <p:cNvSpPr txBox="1"/>
              <p:nvPr/>
            </p:nvSpPr>
            <p:spPr bwMode="auto">
              <a:xfrm>
                <a:off x="1663645" y="4267201"/>
                <a:ext cx="2736905" cy="96202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𝑆</m:t>
                          </m:r>
                        </m:sub>
                        <m:sup/>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𝐸</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𝑆</m:t>
                              </m:r>
                            </m:e>
                          </m:acc>
                        </m:e>
                      </m:nary>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556082" name="Object 50">
                <a:extLst>
                  <a:ext uri="{FF2B5EF4-FFF2-40B4-BE49-F238E27FC236}">
                    <a16:creationId xmlns:a16="http://schemas.microsoft.com/office/drawing/2014/main" id="{04C3753A-54BD-4003-A05A-3BB68E26FE0C}"/>
                  </a:ext>
                </a:extLst>
              </p:cNvPr>
              <p:cNvSpPr txBox="1">
                <a:spLocks noRot="1" noChangeAspect="1" noMove="1" noResize="1" noEditPoints="1" noAdjustHandles="1" noChangeArrowheads="1" noChangeShapeType="1" noTextEdit="1"/>
              </p:cNvSpPr>
              <p:nvPr/>
            </p:nvSpPr>
            <p:spPr bwMode="auto">
              <a:xfrm>
                <a:off x="1663645" y="4267201"/>
                <a:ext cx="2736905" cy="962025"/>
              </a:xfrm>
              <a:prstGeom prst="rect">
                <a:avLst/>
              </a:prstGeom>
              <a:blipFill>
                <a:blip r:embed="rId13"/>
                <a:stretch>
                  <a:fillRect b="-443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6083" name="Object 51">
                <a:extLst>
                  <a:ext uri="{FF2B5EF4-FFF2-40B4-BE49-F238E27FC236}">
                    <a16:creationId xmlns:a16="http://schemas.microsoft.com/office/drawing/2014/main" id="{FCA80FBA-6260-4398-8632-2CF90640FA52}"/>
                  </a:ext>
                </a:extLst>
              </p:cNvPr>
              <p:cNvSpPr txBox="1"/>
              <p:nvPr/>
            </p:nvSpPr>
            <p:spPr bwMode="auto">
              <a:xfrm>
                <a:off x="4892675" y="4354513"/>
                <a:ext cx="1812925" cy="60483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3</m:t>
                          </m:r>
                        </m:sub>
                      </m:sSub>
                    </m:oMath>
                  </m:oMathPara>
                </a14:m>
                <a:endParaRPr lang="en-US" sz="2800" dirty="0"/>
              </a:p>
            </p:txBody>
          </p:sp>
        </mc:Choice>
        <mc:Fallback xmlns="">
          <p:sp>
            <p:nvSpPr>
              <p:cNvPr id="556083" name="Object 51">
                <a:extLst>
                  <a:ext uri="{FF2B5EF4-FFF2-40B4-BE49-F238E27FC236}">
                    <a16:creationId xmlns:a16="http://schemas.microsoft.com/office/drawing/2014/main" xmlns:a14="http://schemas.microsoft.com/office/drawing/2010/main" xmlns="" id="{FCA80FBA-6260-4398-8632-2CF90640FA52}"/>
                  </a:ext>
                </a:extLst>
              </p:cNvPr>
              <p:cNvSpPr txBox="1">
                <a:spLocks noRot="1" noChangeAspect="1" noMove="1" noResize="1" noEditPoints="1" noAdjustHandles="1" noChangeArrowheads="1" noChangeShapeType="1" noTextEdit="1"/>
              </p:cNvSpPr>
              <p:nvPr/>
            </p:nvSpPr>
            <p:spPr bwMode="auto">
              <a:xfrm>
                <a:off x="4892675" y="4354513"/>
                <a:ext cx="1812925" cy="604838"/>
              </a:xfrm>
              <a:prstGeom prst="rect">
                <a:avLst/>
              </a:prstGeom>
              <a:blipFill rotWithShape="0">
                <a:blip r:embed="rId14"/>
                <a:stretch>
                  <a:fillRect/>
                </a:stretch>
              </a:blipFill>
              <a:ln>
                <a:noFill/>
              </a:ln>
              <a:effectLst/>
              <a:extLst/>
            </p:spPr>
            <p:txBody>
              <a:bodyPr/>
              <a:lstStyle/>
              <a:p>
                <a:r>
                  <a:rPr lang="en-US">
                    <a:noFill/>
                  </a:rPr>
                  <a:t> </a:t>
                </a:r>
              </a:p>
            </p:txBody>
          </p:sp>
        </mc:Fallback>
      </mc:AlternateContent>
      <p:sp>
        <p:nvSpPr>
          <p:cNvPr id="556084" name="Text Box 52">
            <a:extLst>
              <a:ext uri="{FF2B5EF4-FFF2-40B4-BE49-F238E27FC236}">
                <a16:creationId xmlns:a16="http://schemas.microsoft.com/office/drawing/2014/main" id="{C4AFD7FC-BC68-4713-A9B2-A0E1A79E1F90}"/>
              </a:ext>
            </a:extLst>
          </p:cNvPr>
          <p:cNvSpPr txBox="1">
            <a:spLocks noChangeArrowheads="1"/>
          </p:cNvSpPr>
          <p:nvPr/>
        </p:nvSpPr>
        <p:spPr bwMode="auto">
          <a:xfrm>
            <a:off x="1075279" y="5301303"/>
            <a:ext cx="464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00"/>
                </a:solidFill>
                <a:ea typeface="华文楷体" panose="02010600040101010101" pitchFamily="2" charset="-122"/>
                <a:cs typeface="Times New Roman" panose="02020603050405020304" pitchFamily="18" charset="0"/>
              </a:rPr>
              <a:t>导体板</a:t>
            </a:r>
            <a:r>
              <a:rPr lang="en-US" altLang="zh-CN" sz="2800" dirty="0">
                <a:solidFill>
                  <a:srgbClr val="000000"/>
                </a:solidFill>
                <a:ea typeface="华文楷体" panose="02010600040101010101" pitchFamily="2" charset="-122"/>
                <a:cs typeface="Times New Roman" panose="02020603050405020304" pitchFamily="18" charset="0"/>
              </a:rPr>
              <a:t>A</a:t>
            </a:r>
            <a:r>
              <a:rPr lang="zh-CN" altLang="en-US" sz="2800" dirty="0">
                <a:solidFill>
                  <a:srgbClr val="000000"/>
                </a:solidFill>
                <a:ea typeface="华文楷体" panose="02010600040101010101" pitchFamily="2" charset="-122"/>
                <a:cs typeface="Times New Roman" panose="02020603050405020304" pitchFamily="18" charset="0"/>
              </a:rPr>
              <a:t>内的总场强为零</a:t>
            </a:r>
          </a:p>
        </p:txBody>
      </p:sp>
      <mc:AlternateContent xmlns:mc="http://schemas.openxmlformats.org/markup-compatibility/2006" xmlns:a14="http://schemas.microsoft.com/office/drawing/2010/main">
        <mc:Choice Requires="a14">
          <p:sp>
            <p:nvSpPr>
              <p:cNvPr id="556086" name="Object 54">
                <a:extLst>
                  <a:ext uri="{FF2B5EF4-FFF2-40B4-BE49-F238E27FC236}">
                    <a16:creationId xmlns:a16="http://schemas.microsoft.com/office/drawing/2014/main" id="{86C0F671-35FB-4F7F-9304-A1A20CBBC085}"/>
                  </a:ext>
                </a:extLst>
              </p:cNvPr>
              <p:cNvSpPr txBox="1"/>
              <p:nvPr/>
            </p:nvSpPr>
            <p:spPr bwMode="auto">
              <a:xfrm>
                <a:off x="2569911" y="5869475"/>
                <a:ext cx="4575175" cy="1042987"/>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𝐸</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1</m:t>
                              </m:r>
                            </m:sub>
                          </m:sSub>
                        </m:num>
                        <m:den>
                          <m:r>
                            <a:rPr lang="en-US" sz="2800" i="1">
                              <a:solidFill>
                                <a:srgbClr val="000000"/>
                              </a:solidFill>
                              <a:latin typeface="Cambria Math" panose="02040503050406030204" pitchFamily="18" charset="0"/>
                            </a:rPr>
                            <m:t>2</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2</m:t>
                              </m:r>
                            </m:sub>
                          </m:sSub>
                        </m:num>
                        <m:den>
                          <m:r>
                            <a:rPr lang="en-US" sz="2800" i="1">
                              <a:solidFill>
                                <a:srgbClr val="000000"/>
                              </a:solidFill>
                              <a:latin typeface="Cambria Math" panose="02040503050406030204" pitchFamily="18" charset="0"/>
                            </a:rPr>
                            <m:t>2</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3</m:t>
                              </m:r>
                            </m:sub>
                          </m:sSub>
                        </m:num>
                        <m:den>
                          <m:r>
                            <a:rPr lang="en-US" sz="2800" i="1">
                              <a:solidFill>
                                <a:srgbClr val="000000"/>
                              </a:solidFill>
                              <a:latin typeface="Cambria Math" panose="02040503050406030204" pitchFamily="18" charset="0"/>
                            </a:rPr>
                            <m:t>2</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4</m:t>
                              </m:r>
                            </m:sub>
                          </m:sSub>
                        </m:num>
                        <m:den>
                          <m:r>
                            <a:rPr lang="en-US" sz="2800" i="1">
                              <a:solidFill>
                                <a:srgbClr val="000000"/>
                              </a:solidFill>
                              <a:latin typeface="Cambria Math" panose="02040503050406030204" pitchFamily="18" charset="0"/>
                            </a:rPr>
                            <m:t>2</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den>
                      </m:f>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556086" name="Object 54">
                <a:extLst>
                  <a:ext uri="{FF2B5EF4-FFF2-40B4-BE49-F238E27FC236}">
                    <a16:creationId xmlns:a16="http://schemas.microsoft.com/office/drawing/2014/main" id="{86C0F671-35FB-4F7F-9304-A1A20CBBC085}"/>
                  </a:ext>
                </a:extLst>
              </p:cNvPr>
              <p:cNvSpPr txBox="1">
                <a:spLocks noRot="1" noChangeAspect="1" noMove="1" noResize="1" noEditPoints="1" noAdjustHandles="1" noChangeArrowheads="1" noChangeShapeType="1" noTextEdit="1"/>
              </p:cNvSpPr>
              <p:nvPr/>
            </p:nvSpPr>
            <p:spPr bwMode="auto">
              <a:xfrm>
                <a:off x="2569911" y="5869475"/>
                <a:ext cx="4575175" cy="1042987"/>
              </a:xfrm>
              <a:prstGeom prst="rect">
                <a:avLst/>
              </a:prstGeom>
              <a:blipFill>
                <a:blip r:embed="rId1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6087" name="Object 55">
                <a:extLst>
                  <a:ext uri="{FF2B5EF4-FFF2-40B4-BE49-F238E27FC236}">
                    <a16:creationId xmlns:a16="http://schemas.microsoft.com/office/drawing/2014/main" id="{85E0C45D-FF5C-40C6-AB9C-FA4BBA6BC55B}"/>
                  </a:ext>
                </a:extLst>
              </p:cNvPr>
              <p:cNvSpPr txBox="1"/>
              <p:nvPr/>
            </p:nvSpPr>
            <p:spPr bwMode="auto">
              <a:xfrm>
                <a:off x="7631907" y="5922963"/>
                <a:ext cx="1687513" cy="56991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4</m:t>
                          </m:r>
                        </m:sub>
                      </m:sSub>
                    </m:oMath>
                  </m:oMathPara>
                </a14:m>
                <a:endParaRPr lang="en-US" sz="2800" dirty="0"/>
              </a:p>
            </p:txBody>
          </p:sp>
        </mc:Choice>
        <mc:Fallback xmlns="">
          <p:sp>
            <p:nvSpPr>
              <p:cNvPr id="556087" name="Object 55">
                <a:extLst>
                  <a:ext uri="{FF2B5EF4-FFF2-40B4-BE49-F238E27FC236}">
                    <a16:creationId xmlns:a16="http://schemas.microsoft.com/office/drawing/2014/main" id="{85E0C45D-FF5C-40C6-AB9C-FA4BBA6BC55B}"/>
                  </a:ext>
                </a:extLst>
              </p:cNvPr>
              <p:cNvSpPr txBox="1">
                <a:spLocks noRot="1" noChangeAspect="1" noMove="1" noResize="1" noEditPoints="1" noAdjustHandles="1" noChangeArrowheads="1" noChangeShapeType="1" noTextEdit="1"/>
              </p:cNvSpPr>
              <p:nvPr/>
            </p:nvSpPr>
            <p:spPr bwMode="auto">
              <a:xfrm>
                <a:off x="7631907" y="5922963"/>
                <a:ext cx="1687513" cy="569913"/>
              </a:xfrm>
              <a:prstGeom prst="rect">
                <a:avLst/>
              </a:prstGeom>
              <a:blipFill>
                <a:blip r:embed="rId16"/>
                <a:stretch>
                  <a:fillRect/>
                </a:stretch>
              </a:blipFill>
              <a:ln>
                <a:noFill/>
              </a:ln>
              <a:effectLst/>
            </p:spPr>
            <p:txBody>
              <a:bodyPr/>
              <a:lstStyle/>
              <a:p>
                <a:r>
                  <a:rPr lang="en-US">
                    <a:noFill/>
                  </a:rPr>
                  <a:t> </a:t>
                </a:r>
              </a:p>
            </p:txBody>
          </p:sp>
        </mc:Fallback>
      </mc:AlternateContent>
      <p:sp>
        <p:nvSpPr>
          <p:cNvPr id="71" name="Text Box 8">
            <a:extLst>
              <a:ext uri="{FF2B5EF4-FFF2-40B4-BE49-F238E27FC236}">
                <a16:creationId xmlns:a16="http://schemas.microsoft.com/office/drawing/2014/main" id="{953AAB9A-FF29-49A2-ACA4-4DF63B6D6E13}"/>
              </a:ext>
            </a:extLst>
          </p:cNvPr>
          <p:cNvSpPr txBox="1">
            <a:spLocks noChangeArrowheads="1"/>
          </p:cNvSpPr>
          <p:nvPr/>
        </p:nvSpPr>
        <p:spPr bwMode="auto">
          <a:xfrm>
            <a:off x="550863" y="1884364"/>
            <a:ext cx="8229601"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800" dirty="0">
                <a:solidFill>
                  <a:srgbClr val="000000"/>
                </a:solidFill>
                <a:ea typeface="华文楷体" panose="02010600040101010101" pitchFamily="2" charset="-122"/>
                <a:cs typeface="Times New Roman" panose="02020603050405020304" pitchFamily="18" charset="0"/>
              </a:rPr>
              <a:t>设在静电平衡下，两导体板的四个表面上的面电荷密度</a:t>
            </a:r>
          </a:p>
        </p:txBody>
      </p:sp>
      <mc:AlternateContent xmlns:mc="http://schemas.openxmlformats.org/markup-compatibility/2006" xmlns:a14="http://schemas.microsoft.com/office/drawing/2010/main">
        <mc:Choice Requires="a14">
          <p:sp>
            <p:nvSpPr>
              <p:cNvPr id="72" name="Object 9">
                <a:extLst>
                  <a:ext uri="{FF2B5EF4-FFF2-40B4-BE49-F238E27FC236}">
                    <a16:creationId xmlns:a16="http://schemas.microsoft.com/office/drawing/2014/main" id="{82C41CDB-E086-4D76-ACA3-3EA41B6783AC}"/>
                  </a:ext>
                </a:extLst>
              </p:cNvPr>
              <p:cNvSpPr txBox="1"/>
              <p:nvPr/>
            </p:nvSpPr>
            <p:spPr bwMode="auto">
              <a:xfrm>
                <a:off x="1260476" y="2371727"/>
                <a:ext cx="2057400" cy="60642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3</m:t>
                          </m:r>
                        </m:sub>
                      </m:sSub>
                    </m:oMath>
                  </m:oMathPara>
                </a14:m>
                <a:endParaRPr lang="en-US" sz="2800" dirty="0"/>
              </a:p>
            </p:txBody>
          </p:sp>
        </mc:Choice>
        <mc:Fallback xmlns="">
          <p:sp>
            <p:nvSpPr>
              <p:cNvPr id="72" name="Object 9">
                <a:extLst>
                  <a:ext uri="{FF2B5EF4-FFF2-40B4-BE49-F238E27FC236}">
                    <a16:creationId xmlns:a16="http://schemas.microsoft.com/office/drawing/2014/main" id="{82C41CDB-E086-4D76-ACA3-3EA41B6783AC}"/>
                  </a:ext>
                </a:extLst>
              </p:cNvPr>
              <p:cNvSpPr txBox="1">
                <a:spLocks noRot="1" noChangeAspect="1" noMove="1" noResize="1" noEditPoints="1" noAdjustHandles="1" noChangeArrowheads="1" noChangeShapeType="1" noTextEdit="1"/>
              </p:cNvSpPr>
              <p:nvPr/>
            </p:nvSpPr>
            <p:spPr bwMode="auto">
              <a:xfrm>
                <a:off x="1260476" y="2371727"/>
                <a:ext cx="2057400" cy="606425"/>
              </a:xfrm>
              <a:prstGeom prst="rect">
                <a:avLst/>
              </a:prstGeom>
              <a:blipFill>
                <a:blip r:embed="rId17"/>
                <a:stretch>
                  <a:fillRect/>
                </a:stretch>
              </a:blipFill>
              <a:ln>
                <a:noFill/>
              </a:ln>
              <a:effectLst/>
            </p:spPr>
            <p:txBody>
              <a:bodyPr/>
              <a:lstStyle/>
              <a:p>
                <a:r>
                  <a:rPr lang="en-US">
                    <a:noFill/>
                  </a:rPr>
                  <a:t> </a:t>
                </a:r>
              </a:p>
            </p:txBody>
          </p:sp>
        </mc:Fallback>
      </mc:AlternateContent>
      <p:sp>
        <p:nvSpPr>
          <p:cNvPr id="73" name="Text Box 10">
            <a:extLst>
              <a:ext uri="{FF2B5EF4-FFF2-40B4-BE49-F238E27FC236}">
                <a16:creationId xmlns:a16="http://schemas.microsoft.com/office/drawing/2014/main" id="{84820672-DD1A-4533-AE26-735431CCC16D}"/>
              </a:ext>
            </a:extLst>
          </p:cNvPr>
          <p:cNvSpPr txBox="1">
            <a:spLocks noChangeArrowheads="1"/>
          </p:cNvSpPr>
          <p:nvPr/>
        </p:nvSpPr>
        <p:spPr bwMode="auto">
          <a:xfrm>
            <a:off x="3105151" y="2401889"/>
            <a:ext cx="698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00"/>
                </a:solidFill>
                <a:ea typeface="华文楷体" panose="02010600040101010101" pitchFamily="2" charset="-122"/>
                <a:cs typeface="Times New Roman" panose="02020603050405020304" pitchFamily="18" charset="0"/>
              </a:rPr>
              <a:t>和</a:t>
            </a:r>
          </a:p>
        </p:txBody>
      </p:sp>
      <mc:AlternateContent xmlns:mc="http://schemas.openxmlformats.org/markup-compatibility/2006" xmlns:a14="http://schemas.microsoft.com/office/drawing/2010/main">
        <mc:Choice Requires="a14">
          <p:sp>
            <p:nvSpPr>
              <p:cNvPr id="74" name="Object 11">
                <a:extLst>
                  <a:ext uri="{FF2B5EF4-FFF2-40B4-BE49-F238E27FC236}">
                    <a16:creationId xmlns:a16="http://schemas.microsoft.com/office/drawing/2014/main" id="{346E9A45-2BA6-445F-8CC0-28212C206D0E}"/>
                  </a:ext>
                </a:extLst>
              </p:cNvPr>
              <p:cNvSpPr txBox="1"/>
              <p:nvPr/>
            </p:nvSpPr>
            <p:spPr bwMode="auto">
              <a:xfrm>
                <a:off x="3660776" y="2347914"/>
                <a:ext cx="538163" cy="57467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4</m:t>
                          </m:r>
                        </m:sub>
                      </m:sSub>
                    </m:oMath>
                  </m:oMathPara>
                </a14:m>
                <a:endParaRPr lang="en-US" sz="2800"/>
              </a:p>
            </p:txBody>
          </p:sp>
        </mc:Choice>
        <mc:Fallback xmlns="">
          <p:sp>
            <p:nvSpPr>
              <p:cNvPr id="74" name="Object 11">
                <a:extLst>
                  <a:ext uri="{FF2B5EF4-FFF2-40B4-BE49-F238E27FC236}">
                    <a16:creationId xmlns:a16="http://schemas.microsoft.com/office/drawing/2014/main" xmlns:a14="http://schemas.microsoft.com/office/drawing/2010/main" xmlns="" id="{346E9A45-2BA6-445F-8CC0-28212C206D0E}"/>
                  </a:ext>
                </a:extLst>
              </p:cNvPr>
              <p:cNvSpPr txBox="1">
                <a:spLocks noRot="1" noChangeAspect="1" noMove="1" noResize="1" noEditPoints="1" noAdjustHandles="1" noChangeArrowheads="1" noChangeShapeType="1" noTextEdit="1"/>
              </p:cNvSpPr>
              <p:nvPr/>
            </p:nvSpPr>
            <p:spPr bwMode="auto">
              <a:xfrm>
                <a:off x="3660776" y="2347914"/>
                <a:ext cx="538163" cy="574675"/>
              </a:xfrm>
              <a:prstGeom prst="rect">
                <a:avLst/>
              </a:prstGeom>
              <a:blipFill rotWithShape="0">
                <a:blip r:embed="rId18"/>
                <a:stretch>
                  <a:fillRect/>
                </a:stretch>
              </a:blipFill>
              <a:ln>
                <a:noFill/>
              </a:ln>
              <a:effectLst/>
              <a:ex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0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60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60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60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60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60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560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60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56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79" grpId="0"/>
      <p:bldP spid="556080" grpId="0"/>
      <p:bldP spid="556082" grpId="0"/>
      <p:bldP spid="556083" grpId="0"/>
      <p:bldP spid="556084" grpId="0"/>
      <p:bldP spid="556086" grpId="0"/>
      <p:bldP spid="556087" grpId="0"/>
      <p:bldP spid="71" grpId="0"/>
      <p:bldP spid="72" grpId="0"/>
      <p:bldP spid="73" grpId="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208028" y="1856216"/>
                <a:ext cx="7543801" cy="4291673"/>
              </a:xfrm>
            </p:spPr>
            <p:txBody>
              <a:bodyPr>
                <a:noAutofit/>
              </a:bodyPr>
              <a:lstStyle/>
              <a:p>
                <a:pPr marL="0" indent="0">
                  <a:lnSpc>
                    <a:spcPct val="100000"/>
                  </a:lnSpc>
                  <a:spcAft>
                    <a:spcPts val="1200"/>
                  </a:spcAft>
                  <a:buClr>
                    <a:srgbClr val="99CB38"/>
                  </a:buClr>
                  <a:buNone/>
                </a:pPr>
                <a14:m>
                  <m:oMathPara xmlns:m="http://schemas.openxmlformats.org/officeDocument/2006/math">
                    <m:oMathParaPr>
                      <m:jc m:val="centerGroup"/>
                    </m:oMathParaPr>
                    <m:oMath xmlns:m="http://schemas.openxmlformats.org/officeDocument/2006/math">
                      <m:d>
                        <m:dPr>
                          <m:ctrlPr>
                            <a:rPr lang="en-US" altLang="zh-CN" sz="3200" i="1" dirty="0">
                              <a:solidFill>
                                <a:prstClr val="black"/>
                              </a:solidFill>
                              <a:latin typeface="Cambria Math" panose="02040503050406030204" pitchFamily="18" charset="0"/>
                              <a:ea typeface="华文新魏" panose="02010800040101010101" pitchFamily="2" charset="-122"/>
                            </a:rPr>
                          </m:ctrlPr>
                        </m:dPr>
                        <m:e>
                          <m:sSub>
                            <m:sSubPr>
                              <m:ctrlPr>
                                <a:rPr lang="en-US" altLang="zh-CN" sz="3200" i="1" dirty="0">
                                  <a:solidFill>
                                    <a:prstClr val="black"/>
                                  </a:solidFill>
                                  <a:latin typeface="Cambria Math" panose="02040503050406030204" pitchFamily="18" charset="0"/>
                                  <a:ea typeface="华文新魏" panose="02010800040101010101" pitchFamily="2" charset="-122"/>
                                </a:rPr>
                              </m:ctrlPr>
                            </m:sSubPr>
                            <m:e>
                              <m:r>
                                <a:rPr lang="zh-CN" altLang="en-US" sz="3200" b="0" i="1" dirty="0">
                                  <a:solidFill>
                                    <a:prstClr val="black"/>
                                  </a:solidFill>
                                  <a:latin typeface="Cambria Math" panose="02040503050406030204" pitchFamily="18" charset="0"/>
                                  <a:ea typeface="华文新魏" panose="02010800040101010101" pitchFamily="2" charset="-122"/>
                                </a:rPr>
                                <m:t>𝜎</m:t>
                              </m:r>
                            </m:e>
                            <m:sub>
                              <m:r>
                                <a:rPr lang="en-US" altLang="zh-CN" sz="3200" b="0" i="1" dirty="0">
                                  <a:solidFill>
                                    <a:prstClr val="black"/>
                                  </a:solidFill>
                                  <a:latin typeface="Cambria Math" panose="02040503050406030204" pitchFamily="18" charset="0"/>
                                  <a:ea typeface="华文新魏" panose="02010800040101010101" pitchFamily="2" charset="-122"/>
                                </a:rPr>
                                <m:t>1</m:t>
                              </m:r>
                            </m:sub>
                          </m:sSub>
                          <m:r>
                            <a:rPr lang="en-US" altLang="zh-CN" sz="3200" b="0" i="1" dirty="0">
                              <a:solidFill>
                                <a:prstClr val="black"/>
                              </a:solidFill>
                              <a:latin typeface="Cambria Math" panose="02040503050406030204" pitchFamily="18" charset="0"/>
                              <a:ea typeface="华文新魏" panose="02010800040101010101" pitchFamily="2" charset="-122"/>
                            </a:rPr>
                            <m:t>+</m:t>
                          </m:r>
                          <m:sSub>
                            <m:sSubPr>
                              <m:ctrlPr>
                                <a:rPr lang="en-US" altLang="zh-CN" sz="3200" i="1" dirty="0">
                                  <a:solidFill>
                                    <a:prstClr val="black"/>
                                  </a:solidFill>
                                  <a:latin typeface="Cambria Math" panose="02040503050406030204" pitchFamily="18" charset="0"/>
                                  <a:ea typeface="华文新魏" panose="02010800040101010101" pitchFamily="2" charset="-122"/>
                                </a:rPr>
                              </m:ctrlPr>
                            </m:sSubPr>
                            <m:e>
                              <m:r>
                                <a:rPr lang="zh-CN" altLang="en-US" sz="3200" b="0" i="1" dirty="0">
                                  <a:solidFill>
                                    <a:prstClr val="black"/>
                                  </a:solidFill>
                                  <a:latin typeface="Cambria Math" panose="02040503050406030204" pitchFamily="18" charset="0"/>
                                  <a:ea typeface="华文新魏" panose="02010800040101010101" pitchFamily="2" charset="-122"/>
                                </a:rPr>
                                <m:t>𝜎</m:t>
                              </m:r>
                            </m:e>
                            <m:sub>
                              <m:r>
                                <a:rPr lang="en-US" altLang="zh-CN" sz="3200" b="0" i="1" dirty="0">
                                  <a:solidFill>
                                    <a:prstClr val="black"/>
                                  </a:solidFill>
                                  <a:latin typeface="Cambria Math" panose="02040503050406030204" pitchFamily="18" charset="0"/>
                                  <a:ea typeface="华文新魏" panose="02010800040101010101" pitchFamily="2" charset="-122"/>
                                </a:rPr>
                                <m:t>2</m:t>
                              </m:r>
                            </m:sub>
                          </m:sSub>
                        </m:e>
                      </m:d>
                      <m:r>
                        <a:rPr lang="en-US" altLang="zh-CN" sz="3200" b="0" i="1" dirty="0">
                          <a:solidFill>
                            <a:prstClr val="black"/>
                          </a:solidFill>
                          <a:latin typeface="Cambria Math" panose="02040503050406030204" pitchFamily="18" charset="0"/>
                          <a:ea typeface="华文新魏" panose="02010800040101010101" pitchFamily="2" charset="-122"/>
                        </a:rPr>
                        <m:t>𝑆</m:t>
                      </m:r>
                      <m:r>
                        <a:rPr lang="en-US" altLang="zh-CN" sz="3200" b="0" i="1" dirty="0">
                          <a:solidFill>
                            <a:prstClr val="black"/>
                          </a:solidFill>
                          <a:latin typeface="Cambria Math" panose="02040503050406030204" pitchFamily="18" charset="0"/>
                          <a:ea typeface="华文新魏" panose="02010800040101010101" pitchFamily="2" charset="-122"/>
                        </a:rPr>
                        <m:t>=</m:t>
                      </m:r>
                      <m:sSub>
                        <m:sSubPr>
                          <m:ctrlPr>
                            <a:rPr lang="en-US" altLang="zh-CN" sz="3200" i="1" dirty="0">
                              <a:solidFill>
                                <a:prstClr val="black"/>
                              </a:solidFill>
                              <a:latin typeface="Cambria Math" panose="02040503050406030204" pitchFamily="18" charset="0"/>
                              <a:ea typeface="华文新魏" panose="02010800040101010101" pitchFamily="2" charset="-122"/>
                            </a:rPr>
                          </m:ctrlPr>
                        </m:sSubPr>
                        <m:e>
                          <m:r>
                            <a:rPr lang="en-US" altLang="zh-CN" sz="3200" b="0" i="1" dirty="0">
                              <a:solidFill>
                                <a:prstClr val="black"/>
                              </a:solidFill>
                              <a:latin typeface="Cambria Math" panose="02040503050406030204" pitchFamily="18" charset="0"/>
                              <a:ea typeface="华文新魏" panose="02010800040101010101" pitchFamily="2" charset="-122"/>
                            </a:rPr>
                            <m:t>𝑄</m:t>
                          </m:r>
                        </m:e>
                        <m:sub>
                          <m:r>
                            <a:rPr lang="en-US" altLang="zh-CN" sz="3200" b="0" i="1" dirty="0">
                              <a:solidFill>
                                <a:prstClr val="black"/>
                              </a:solidFill>
                              <a:latin typeface="Cambria Math" panose="02040503050406030204" pitchFamily="18" charset="0"/>
                              <a:ea typeface="华文新魏" panose="02010800040101010101" pitchFamily="2" charset="-122"/>
                            </a:rPr>
                            <m:t>𝐴</m:t>
                          </m:r>
                        </m:sub>
                      </m:sSub>
                      <m:r>
                        <a:rPr lang="en-US" altLang="zh-CN" sz="3200" b="0" i="1" dirty="0">
                          <a:solidFill>
                            <a:prstClr val="black"/>
                          </a:solidFill>
                          <a:latin typeface="Cambria Math" panose="02040503050406030204" pitchFamily="18" charset="0"/>
                          <a:ea typeface="华文新魏" panose="02010800040101010101" pitchFamily="2" charset="-122"/>
                        </a:rPr>
                        <m:t>,  </m:t>
                      </m:r>
                      <m:d>
                        <m:dPr>
                          <m:ctrlPr>
                            <a:rPr lang="en-US" altLang="zh-CN" sz="3200" i="1" dirty="0">
                              <a:solidFill>
                                <a:prstClr val="black"/>
                              </a:solidFill>
                              <a:latin typeface="Cambria Math" panose="02040503050406030204" pitchFamily="18" charset="0"/>
                              <a:ea typeface="华文新魏" panose="02010800040101010101" pitchFamily="2" charset="-122"/>
                            </a:rPr>
                          </m:ctrlPr>
                        </m:dPr>
                        <m:e>
                          <m:sSub>
                            <m:sSubPr>
                              <m:ctrlPr>
                                <a:rPr lang="en-US" altLang="zh-CN" sz="3200" i="1" dirty="0">
                                  <a:solidFill>
                                    <a:prstClr val="black"/>
                                  </a:solidFill>
                                  <a:latin typeface="Cambria Math" panose="02040503050406030204" pitchFamily="18" charset="0"/>
                                  <a:ea typeface="华文新魏" panose="02010800040101010101" pitchFamily="2" charset="-122"/>
                                </a:rPr>
                              </m:ctrlPr>
                            </m:sSubPr>
                            <m:e>
                              <m:r>
                                <a:rPr lang="zh-CN" altLang="en-US" sz="3200" b="0" i="1" dirty="0">
                                  <a:solidFill>
                                    <a:prstClr val="black"/>
                                  </a:solidFill>
                                  <a:latin typeface="Cambria Math" panose="02040503050406030204" pitchFamily="18" charset="0"/>
                                  <a:ea typeface="华文新魏" panose="02010800040101010101" pitchFamily="2" charset="-122"/>
                                </a:rPr>
                                <m:t>𝜎</m:t>
                              </m:r>
                            </m:e>
                            <m:sub>
                              <m:r>
                                <a:rPr lang="en-US" altLang="zh-CN" sz="3200" b="0" i="1" dirty="0">
                                  <a:solidFill>
                                    <a:prstClr val="black"/>
                                  </a:solidFill>
                                  <a:latin typeface="Cambria Math" panose="02040503050406030204" pitchFamily="18" charset="0"/>
                                  <a:ea typeface="华文新魏" panose="02010800040101010101" pitchFamily="2" charset="-122"/>
                                </a:rPr>
                                <m:t>3</m:t>
                              </m:r>
                            </m:sub>
                          </m:sSub>
                          <m:r>
                            <a:rPr lang="en-US" altLang="zh-CN" sz="3200" b="0" i="1" dirty="0">
                              <a:solidFill>
                                <a:prstClr val="black"/>
                              </a:solidFill>
                              <a:latin typeface="Cambria Math" panose="02040503050406030204" pitchFamily="18" charset="0"/>
                              <a:ea typeface="华文新魏" panose="02010800040101010101" pitchFamily="2" charset="-122"/>
                            </a:rPr>
                            <m:t>+</m:t>
                          </m:r>
                          <m:sSub>
                            <m:sSubPr>
                              <m:ctrlPr>
                                <a:rPr lang="en-US" altLang="zh-CN" sz="3200" i="1" dirty="0">
                                  <a:solidFill>
                                    <a:prstClr val="black"/>
                                  </a:solidFill>
                                  <a:latin typeface="Cambria Math" panose="02040503050406030204" pitchFamily="18" charset="0"/>
                                  <a:ea typeface="华文新魏" panose="02010800040101010101" pitchFamily="2" charset="-122"/>
                                </a:rPr>
                              </m:ctrlPr>
                            </m:sSubPr>
                            <m:e>
                              <m:r>
                                <a:rPr lang="zh-CN" altLang="en-US" sz="3200" b="0" i="1" dirty="0">
                                  <a:solidFill>
                                    <a:prstClr val="black"/>
                                  </a:solidFill>
                                  <a:latin typeface="Cambria Math" panose="02040503050406030204" pitchFamily="18" charset="0"/>
                                  <a:ea typeface="华文新魏" panose="02010800040101010101" pitchFamily="2" charset="-122"/>
                                </a:rPr>
                                <m:t>𝜎</m:t>
                              </m:r>
                            </m:e>
                            <m:sub>
                              <m:r>
                                <a:rPr lang="en-US" altLang="zh-CN" sz="3200" b="0" i="1" dirty="0">
                                  <a:solidFill>
                                    <a:prstClr val="black"/>
                                  </a:solidFill>
                                  <a:latin typeface="Cambria Math" panose="02040503050406030204" pitchFamily="18" charset="0"/>
                                  <a:ea typeface="华文新魏" panose="02010800040101010101" pitchFamily="2" charset="-122"/>
                                </a:rPr>
                                <m:t>4</m:t>
                              </m:r>
                            </m:sub>
                          </m:sSub>
                        </m:e>
                      </m:d>
                      <m:r>
                        <a:rPr lang="en-US" altLang="zh-CN" sz="3200" b="0" i="1" dirty="0">
                          <a:solidFill>
                            <a:prstClr val="black"/>
                          </a:solidFill>
                          <a:latin typeface="Cambria Math" panose="02040503050406030204" pitchFamily="18" charset="0"/>
                          <a:ea typeface="华文新魏" panose="02010800040101010101" pitchFamily="2" charset="-122"/>
                        </a:rPr>
                        <m:t>𝑆</m:t>
                      </m:r>
                      <m:r>
                        <a:rPr lang="en-US" altLang="zh-CN" sz="3200" b="0" i="1" dirty="0">
                          <a:solidFill>
                            <a:prstClr val="black"/>
                          </a:solidFill>
                          <a:latin typeface="Cambria Math" panose="02040503050406030204" pitchFamily="18" charset="0"/>
                          <a:ea typeface="华文新魏" panose="02010800040101010101" pitchFamily="2" charset="-122"/>
                        </a:rPr>
                        <m:t>=</m:t>
                      </m:r>
                      <m:sSub>
                        <m:sSubPr>
                          <m:ctrlPr>
                            <a:rPr lang="en-US" altLang="zh-CN" sz="3200" i="1" dirty="0">
                              <a:solidFill>
                                <a:prstClr val="black"/>
                              </a:solidFill>
                              <a:latin typeface="Cambria Math" panose="02040503050406030204" pitchFamily="18" charset="0"/>
                              <a:ea typeface="华文新魏" panose="02010800040101010101" pitchFamily="2" charset="-122"/>
                            </a:rPr>
                          </m:ctrlPr>
                        </m:sSubPr>
                        <m:e>
                          <m:r>
                            <a:rPr lang="en-US" altLang="zh-CN" sz="3200" b="0" i="1" dirty="0">
                              <a:solidFill>
                                <a:prstClr val="black"/>
                              </a:solidFill>
                              <a:latin typeface="Cambria Math" panose="02040503050406030204" pitchFamily="18" charset="0"/>
                              <a:ea typeface="华文新魏" panose="02010800040101010101" pitchFamily="2" charset="-122"/>
                            </a:rPr>
                            <m:t>𝑄</m:t>
                          </m:r>
                        </m:e>
                        <m:sub>
                          <m:r>
                            <a:rPr lang="en-US" altLang="zh-CN" sz="3200" b="0" i="1" dirty="0">
                              <a:solidFill>
                                <a:prstClr val="black"/>
                              </a:solidFill>
                              <a:latin typeface="Cambria Math" panose="02040503050406030204" pitchFamily="18" charset="0"/>
                              <a:ea typeface="华文新魏" panose="02010800040101010101" pitchFamily="2" charset="-122"/>
                            </a:rPr>
                            <m:t>𝐵</m:t>
                          </m:r>
                        </m:sub>
                      </m:sSub>
                    </m:oMath>
                  </m:oMathPara>
                </a14:m>
                <a:endParaRPr lang="en-US" altLang="zh-CN" sz="3200" dirty="0">
                  <a:solidFill>
                    <a:prstClr val="black">
                      <a:lumMod val="75000"/>
                      <a:lumOff val="25000"/>
                    </a:prstClr>
                  </a:solidFill>
                  <a:latin typeface="华文楷体" panose="02010600040101010101" pitchFamily="2" charset="-122"/>
                  <a:ea typeface="华文楷体" panose="02010600040101010101" pitchFamily="2" charset="-122"/>
                </a:endParaRPr>
              </a:p>
              <a:p>
                <a:pPr marL="0" indent="0">
                  <a:lnSpc>
                    <a:spcPct val="100000"/>
                  </a:lnSpc>
                  <a:spcAft>
                    <a:spcPts val="1200"/>
                  </a:spcAft>
                  <a:buClr>
                    <a:srgbClr val="99CB38"/>
                  </a:buClr>
                  <a:buNone/>
                </a:pPr>
                <a14:m>
                  <m:oMathPara xmlns:m="http://schemas.openxmlformats.org/officeDocument/2006/math">
                    <m:oMathParaPr>
                      <m:jc m:val="centerGroup"/>
                    </m:oMathParaPr>
                    <m:oMath xmlns:m="http://schemas.openxmlformats.org/officeDocument/2006/math">
                      <m:r>
                        <a:rPr lang="zh-CN" altLang="en-US" sz="3200" b="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𝜎</m:t>
                          </m:r>
                        </m:e>
                        <m:sub>
                          <m:r>
                            <a:rPr lang="zh-CN" altLang="en-US" sz="3200" b="0" i="1">
                              <a:solidFill>
                                <a:srgbClr val="000000"/>
                              </a:solidFill>
                              <a:latin typeface="Cambria Math" panose="02040503050406030204" pitchFamily="18" charset="0"/>
                            </a:rPr>
                            <m:t>1</m:t>
                          </m:r>
                        </m:sub>
                      </m:sSub>
                      <m:r>
                        <a:rPr lang="zh-CN" altLang="en-US" sz="3200" b="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𝜎</m:t>
                          </m:r>
                        </m:e>
                        <m:sub>
                          <m:r>
                            <a:rPr lang="zh-CN" altLang="en-US" sz="3200" b="0" i="1">
                              <a:solidFill>
                                <a:srgbClr val="000000"/>
                              </a:solidFill>
                              <a:latin typeface="Cambria Math" panose="02040503050406030204" pitchFamily="18" charset="0"/>
                            </a:rPr>
                            <m:t>4</m:t>
                          </m:r>
                        </m:sub>
                      </m:sSub>
                      <m:r>
                        <a:rPr lang="zh-CN" altLang="en-US" sz="3200" b="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𝑄</m:t>
                              </m:r>
                            </m:e>
                            <m:sub>
                              <m:r>
                                <a:rPr lang="zh-CN" altLang="en-US" sz="3200" b="0" i="1">
                                  <a:solidFill>
                                    <a:srgbClr val="000000"/>
                                  </a:solidFill>
                                  <a:latin typeface="Cambria Math" panose="02040503050406030204" pitchFamily="18" charset="0"/>
                                </a:rPr>
                                <m:t>𝐴</m:t>
                              </m:r>
                            </m:sub>
                          </m:sSub>
                          <m:r>
                            <a:rPr lang="zh-CN" altLang="en-US" sz="3200" b="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𝑄</m:t>
                              </m:r>
                            </m:e>
                            <m:sub>
                              <m:r>
                                <a:rPr lang="zh-CN" altLang="en-US" sz="3200" b="0" i="1">
                                  <a:solidFill>
                                    <a:srgbClr val="000000"/>
                                  </a:solidFill>
                                  <a:latin typeface="Cambria Math" panose="02040503050406030204" pitchFamily="18" charset="0"/>
                                </a:rPr>
                                <m:t>𝐵</m:t>
                              </m:r>
                            </m:sub>
                          </m:sSub>
                        </m:num>
                        <m:den>
                          <m:r>
                            <a:rPr lang="zh-CN" altLang="en-US" sz="3200" b="0" i="1">
                              <a:solidFill>
                                <a:srgbClr val="000000"/>
                              </a:solidFill>
                              <a:latin typeface="Cambria Math" panose="02040503050406030204" pitchFamily="18" charset="0"/>
                            </a:rPr>
                            <m:t>2</m:t>
                          </m:r>
                          <m:r>
                            <a:rPr lang="zh-CN" altLang="en-US" sz="3200" b="0" i="1">
                              <a:solidFill>
                                <a:srgbClr val="000000"/>
                              </a:solidFill>
                              <a:latin typeface="Cambria Math" panose="02040503050406030204" pitchFamily="18" charset="0"/>
                            </a:rPr>
                            <m:t>𝑆</m:t>
                          </m:r>
                        </m:den>
                      </m:f>
                    </m:oMath>
                  </m:oMathPara>
                </a14:m>
                <a:endParaRPr lang="en-US" altLang="zh-CN" sz="3200" i="1" dirty="0">
                  <a:solidFill>
                    <a:srgbClr val="000000"/>
                  </a:solidFill>
                  <a:latin typeface="华文楷体" panose="02010600040101010101" pitchFamily="2" charset="-122"/>
                  <a:ea typeface="华文楷体" panose="02010600040101010101" pitchFamily="2" charset="-122"/>
                </a:endParaRPr>
              </a:p>
              <a:p>
                <a:pPr marL="0" indent="0">
                  <a:lnSpc>
                    <a:spcPct val="100000"/>
                  </a:lnSpc>
                  <a:spcAft>
                    <a:spcPts val="1200"/>
                  </a:spcAft>
                  <a:buClr>
                    <a:srgbClr val="99CB38"/>
                  </a:buClr>
                  <a:buNone/>
                </a:pPr>
                <a14:m>
                  <m:oMathPara xmlns:m="http://schemas.openxmlformats.org/officeDocument/2006/math">
                    <m:oMathParaPr>
                      <m:jc m:val="centerGroup"/>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𝜎</m:t>
                          </m:r>
                        </m:e>
                        <m:sub>
                          <m:r>
                            <a:rPr lang="zh-CN" altLang="en-US" sz="3200" b="0" i="1">
                              <a:solidFill>
                                <a:srgbClr val="000000"/>
                              </a:solidFill>
                              <a:latin typeface="Cambria Math" panose="02040503050406030204" pitchFamily="18" charset="0"/>
                            </a:rPr>
                            <m:t>2</m:t>
                          </m:r>
                        </m:sub>
                      </m:sSub>
                      <m:r>
                        <a:rPr lang="zh-CN" altLang="en-US" sz="3200" b="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𝜎</m:t>
                          </m:r>
                        </m:e>
                        <m:sub>
                          <m:r>
                            <a:rPr lang="zh-CN" altLang="en-US" sz="3200" b="0" i="1">
                              <a:solidFill>
                                <a:srgbClr val="000000"/>
                              </a:solidFill>
                              <a:latin typeface="Cambria Math" panose="02040503050406030204" pitchFamily="18" charset="0"/>
                            </a:rPr>
                            <m:t>3</m:t>
                          </m:r>
                        </m:sub>
                      </m:sSub>
                      <m:r>
                        <a:rPr lang="zh-CN" altLang="en-US" sz="3200" b="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𝑄</m:t>
                              </m:r>
                            </m:e>
                            <m:sub>
                              <m:r>
                                <a:rPr lang="zh-CN" altLang="en-US" sz="3200" b="0" i="1">
                                  <a:solidFill>
                                    <a:srgbClr val="000000"/>
                                  </a:solidFill>
                                  <a:latin typeface="Cambria Math" panose="02040503050406030204" pitchFamily="18" charset="0"/>
                                </a:rPr>
                                <m:t>𝐴</m:t>
                              </m:r>
                            </m:sub>
                          </m:sSub>
                          <m:r>
                            <a:rPr lang="zh-CN" altLang="en-US" sz="3200" b="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b="0" i="1">
                                  <a:solidFill>
                                    <a:srgbClr val="000000"/>
                                  </a:solidFill>
                                  <a:latin typeface="Cambria Math" panose="02040503050406030204" pitchFamily="18" charset="0"/>
                                </a:rPr>
                                <m:t>𝑄</m:t>
                              </m:r>
                            </m:e>
                            <m:sub>
                              <m:r>
                                <a:rPr lang="zh-CN" altLang="en-US" sz="3200" b="0" i="1">
                                  <a:solidFill>
                                    <a:srgbClr val="000000"/>
                                  </a:solidFill>
                                  <a:latin typeface="Cambria Math" panose="02040503050406030204" pitchFamily="18" charset="0"/>
                                </a:rPr>
                                <m:t>𝐵</m:t>
                              </m:r>
                            </m:sub>
                          </m:sSub>
                        </m:num>
                        <m:den>
                          <m:r>
                            <a:rPr lang="zh-CN" altLang="en-US" sz="3200" b="0" i="1">
                              <a:solidFill>
                                <a:srgbClr val="000000"/>
                              </a:solidFill>
                              <a:latin typeface="Cambria Math" panose="02040503050406030204" pitchFamily="18" charset="0"/>
                            </a:rPr>
                            <m:t>2</m:t>
                          </m:r>
                          <m:r>
                            <a:rPr lang="zh-CN" altLang="en-US" sz="3200" b="0" i="1">
                              <a:solidFill>
                                <a:srgbClr val="000000"/>
                              </a:solidFill>
                              <a:latin typeface="Cambria Math" panose="02040503050406030204" pitchFamily="18" charset="0"/>
                            </a:rPr>
                            <m:t>𝑆</m:t>
                          </m:r>
                        </m:den>
                      </m:f>
                    </m:oMath>
                  </m:oMathPara>
                </a14:m>
                <a:endParaRPr lang="en-US" altLang="zh-CN" sz="3200" dirty="0">
                  <a:solidFill>
                    <a:srgbClr val="0000CC"/>
                  </a:solidFill>
                  <a:latin typeface="华文楷体" panose="02010600040101010101" pitchFamily="2" charset="-122"/>
                  <a:ea typeface="华文楷体" panose="02010600040101010101" pitchFamily="2" charset="-122"/>
                </a:endParaRPr>
              </a:p>
              <a:p>
                <a:pPr marL="0" indent="0" algn="ctr">
                  <a:lnSpc>
                    <a:spcPct val="100000"/>
                  </a:lnSpc>
                  <a:spcBef>
                    <a:spcPct val="50000"/>
                  </a:spcBef>
                  <a:buNone/>
                </a:pPr>
                <a:r>
                  <a:rPr lang="en-US" altLang="zh-CN" sz="3200" dirty="0">
                    <a:solidFill>
                      <a:srgbClr val="0066FF"/>
                    </a:solidFill>
                    <a:latin typeface="华文楷体" panose="02010600040101010101" pitchFamily="2" charset="-122"/>
                    <a:ea typeface="华文楷体" panose="02010600040101010101" pitchFamily="2" charset="-122"/>
                  </a:rPr>
                  <a:t>- </a:t>
                </a:r>
                <a:r>
                  <a:rPr lang="zh-CN" altLang="en-US" sz="3200" dirty="0">
                    <a:solidFill>
                      <a:srgbClr val="0066FF"/>
                    </a:solidFill>
                    <a:latin typeface="华文楷体" panose="02010600040101010101" pitchFamily="2" charset="-122"/>
                    <a:ea typeface="华文楷体" panose="02010600040101010101" pitchFamily="2" charset="-122"/>
                  </a:rPr>
                  <a:t>相向面：大小相等，符号相反；</a:t>
                </a:r>
                <a:endParaRPr lang="en-US" altLang="zh-CN" sz="3200" dirty="0">
                  <a:solidFill>
                    <a:srgbClr val="0066FF"/>
                  </a:solidFill>
                  <a:latin typeface="华文楷体" panose="02010600040101010101" pitchFamily="2" charset="-122"/>
                  <a:ea typeface="华文楷体" panose="02010600040101010101" pitchFamily="2" charset="-122"/>
                </a:endParaRPr>
              </a:p>
              <a:p>
                <a:pPr marL="0" indent="0" algn="ctr">
                  <a:lnSpc>
                    <a:spcPct val="100000"/>
                  </a:lnSpc>
                  <a:spcBef>
                    <a:spcPct val="50000"/>
                  </a:spcBef>
                  <a:buNone/>
                </a:pPr>
                <a:r>
                  <a:rPr lang="en-US" altLang="zh-CN" sz="3200" dirty="0">
                    <a:solidFill>
                      <a:srgbClr val="0066FF"/>
                    </a:solidFill>
                    <a:latin typeface="华文楷体" panose="02010600040101010101" pitchFamily="2" charset="-122"/>
                    <a:ea typeface="华文楷体" panose="02010600040101010101" pitchFamily="2" charset="-122"/>
                  </a:rPr>
                  <a:t>- </a:t>
                </a:r>
                <a:r>
                  <a:rPr lang="zh-CN" altLang="en-US" sz="3200" dirty="0">
                    <a:solidFill>
                      <a:srgbClr val="0066FF"/>
                    </a:solidFill>
                    <a:latin typeface="华文楷体" panose="02010600040101010101" pitchFamily="2" charset="-122"/>
                    <a:ea typeface="华文楷体" panose="02010600040101010101" pitchFamily="2" charset="-122"/>
                  </a:rPr>
                  <a:t>相背面：大小相等，符号相同。</a:t>
                </a:r>
                <a:endParaRPr lang="en-US" altLang="zh-CN" sz="3200" dirty="0">
                  <a:solidFill>
                    <a:srgbClr val="0066FF"/>
                  </a:solidFill>
                  <a:latin typeface="华文楷体" panose="02010600040101010101" pitchFamily="2" charset="-122"/>
                  <a:ea typeface="华文楷体" panose="02010600040101010101" pitchFamily="2" charset="-122"/>
                </a:endParaRPr>
              </a:p>
              <a:p>
                <a:pPr marL="0" indent="0">
                  <a:lnSpc>
                    <a:spcPct val="100000"/>
                  </a:lnSpc>
                  <a:spcAft>
                    <a:spcPts val="1200"/>
                  </a:spcAft>
                  <a:buClr>
                    <a:srgbClr val="99CB38"/>
                  </a:buClr>
                  <a:buNone/>
                </a:pPr>
                <a:endParaRPr lang="en-US" altLang="zh-CN" sz="3200" dirty="0">
                  <a:solidFill>
                    <a:srgbClr val="000000"/>
                  </a:solidFill>
                  <a:latin typeface="华文楷体" panose="02010600040101010101" pitchFamily="2" charset="-122"/>
                  <a:ea typeface="华文楷体" panose="02010600040101010101" pitchFamily="2" charset="-122"/>
                </a:endParaRPr>
              </a:p>
              <a:p>
                <a:pPr marL="0" indent="0">
                  <a:lnSpc>
                    <a:spcPct val="100000"/>
                  </a:lnSpc>
                  <a:spcBef>
                    <a:spcPct val="50000"/>
                  </a:spcBef>
                  <a:buNone/>
                </a:pPr>
                <a:endParaRPr lang="zh-CN" altLang="en-US" sz="3200" dirty="0">
                  <a:latin typeface="华文楷体" panose="02010600040101010101" pitchFamily="2" charset="-122"/>
                  <a:ea typeface="华文楷体" panose="0201060004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208028" y="1856216"/>
                <a:ext cx="7543801" cy="4291673"/>
              </a:xfrm>
              <a:blipFill>
                <a:blip r:embed="rId2"/>
                <a:stretch>
                  <a:fillRect b="-1844"/>
                </a:stretch>
              </a:blipFill>
            </p:spPr>
            <p:txBody>
              <a:bodyPr/>
              <a:lstStyle/>
              <a:p>
                <a:r>
                  <a:rPr lang="en-US">
                    <a:noFill/>
                  </a:rPr>
                  <a:t> </a:t>
                </a:r>
              </a:p>
            </p:txBody>
          </p:sp>
        </mc:Fallback>
      </mc:AlternateContent>
      <p:sp>
        <p:nvSpPr>
          <p:cNvPr id="6" name="标题 5"/>
          <p:cNvSpPr>
            <a:spLocks noGrp="1"/>
          </p:cNvSpPr>
          <p:nvPr>
            <p:ph type="title"/>
          </p:nvPr>
        </p:nvSpPr>
        <p:spPr>
          <a:xfrm>
            <a:off x="3218262" y="747289"/>
            <a:ext cx="7543800" cy="1008661"/>
          </a:xfrm>
        </p:spPr>
        <p:txBody>
          <a:bodyPr>
            <a:normAutofit/>
          </a:bodyPr>
          <a:lstStyle/>
          <a:p>
            <a:r>
              <a:rPr lang="zh-CN" altLang="en-US" sz="3200" dirty="0">
                <a:latin typeface="华文楷体" panose="02010600040101010101" pitchFamily="2" charset="-122"/>
                <a:ea typeface="华文楷体" panose="02010600040101010101" pitchFamily="2" charset="-122"/>
              </a:rPr>
              <a:t>由电荷守恒得：</a:t>
            </a:r>
          </a:p>
        </p:txBody>
      </p:sp>
      <mc:AlternateContent xmlns:mc="http://schemas.openxmlformats.org/markup-compatibility/2006" xmlns:a14="http://schemas.microsoft.com/office/drawing/2010/main">
        <mc:Choice Requires="a14">
          <p:sp>
            <p:nvSpPr>
              <p:cNvPr id="5" name="Object 39">
                <a:extLst>
                  <a:ext uri="{FF2B5EF4-FFF2-40B4-BE49-F238E27FC236}">
                    <a16:creationId xmlns:a16="http://schemas.microsoft.com/office/drawing/2014/main" id="{C0405825-6987-44C2-8F12-8E26DAAD69AE}"/>
                  </a:ext>
                </a:extLst>
              </p:cNvPr>
              <p:cNvSpPr txBox="1"/>
              <p:nvPr/>
            </p:nvSpPr>
            <p:spPr bwMode="auto">
              <a:xfrm>
                <a:off x="910916" y="4736272"/>
                <a:ext cx="1611313" cy="60483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3</m:t>
                          </m:r>
                        </m:sub>
                      </m:sSub>
                    </m:oMath>
                  </m:oMathPara>
                </a14:m>
                <a:endParaRPr lang="en-US" sz="2400" dirty="0"/>
              </a:p>
            </p:txBody>
          </p:sp>
        </mc:Choice>
        <mc:Fallback xmlns="">
          <p:sp>
            <p:nvSpPr>
              <p:cNvPr id="5" name="Object 39">
                <a:extLst>
                  <a:ext uri="{FF2B5EF4-FFF2-40B4-BE49-F238E27FC236}">
                    <a16:creationId xmlns:a16="http://schemas.microsoft.com/office/drawing/2014/main" xmlns:a14="http://schemas.microsoft.com/office/drawing/2010/main" xmlns="" id="{C0405825-6987-44C2-8F12-8E26DAAD69AE}"/>
                  </a:ext>
                </a:extLst>
              </p:cNvPr>
              <p:cNvSpPr txBox="1">
                <a:spLocks noRot="1" noChangeAspect="1" noMove="1" noResize="1" noEditPoints="1" noAdjustHandles="1" noChangeArrowheads="1" noChangeShapeType="1" noTextEdit="1"/>
              </p:cNvSpPr>
              <p:nvPr/>
            </p:nvSpPr>
            <p:spPr bwMode="auto">
              <a:xfrm>
                <a:off x="910916" y="4736272"/>
                <a:ext cx="1611313" cy="604838"/>
              </a:xfrm>
              <a:prstGeom prst="rect">
                <a:avLst/>
              </a:prstGeom>
              <a:blipFill rotWithShape="0">
                <a:blip r:embed="rId3"/>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40">
                <a:extLst>
                  <a:ext uri="{FF2B5EF4-FFF2-40B4-BE49-F238E27FC236}">
                    <a16:creationId xmlns:a16="http://schemas.microsoft.com/office/drawing/2014/main" id="{DD3DAC4A-216A-4983-B661-BCCE85888B10}"/>
                  </a:ext>
                </a:extLst>
              </p:cNvPr>
              <p:cNvSpPr txBox="1"/>
              <p:nvPr/>
            </p:nvSpPr>
            <p:spPr bwMode="auto">
              <a:xfrm>
                <a:off x="1026010" y="5321264"/>
                <a:ext cx="1349375" cy="56991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4</m:t>
                          </m:r>
                        </m:sub>
                      </m:sSub>
                    </m:oMath>
                  </m:oMathPara>
                </a14:m>
                <a:endParaRPr lang="en-US" sz="2400"/>
              </a:p>
            </p:txBody>
          </p:sp>
        </mc:Choice>
        <mc:Fallback xmlns="">
          <p:sp>
            <p:nvSpPr>
              <p:cNvPr id="7" name="Object 40">
                <a:extLst>
                  <a:ext uri="{FF2B5EF4-FFF2-40B4-BE49-F238E27FC236}">
                    <a16:creationId xmlns:a16="http://schemas.microsoft.com/office/drawing/2014/main" xmlns:a14="http://schemas.microsoft.com/office/drawing/2010/main" xmlns="" id="{DD3DAC4A-216A-4983-B661-BCCE85888B10}"/>
                  </a:ext>
                </a:extLst>
              </p:cNvPr>
              <p:cNvSpPr txBox="1">
                <a:spLocks noRot="1" noChangeAspect="1" noMove="1" noResize="1" noEditPoints="1" noAdjustHandles="1" noChangeArrowheads="1" noChangeShapeType="1" noTextEdit="1"/>
              </p:cNvSpPr>
              <p:nvPr/>
            </p:nvSpPr>
            <p:spPr bwMode="auto">
              <a:xfrm>
                <a:off x="1026010" y="5321264"/>
                <a:ext cx="1349375" cy="569913"/>
              </a:xfrm>
              <a:prstGeom prst="rect">
                <a:avLst/>
              </a:prstGeom>
              <a:blipFill rotWithShape="0">
                <a:blip r:embed="rId4"/>
                <a:stretch>
                  <a:fillRect/>
                </a:stretch>
              </a:blipFill>
              <a:ln>
                <a:noFill/>
              </a:ln>
              <a:effectLst/>
              <a:extLst/>
            </p:spPr>
            <p:txBody>
              <a:bodyPr/>
              <a:lstStyle/>
              <a:p>
                <a:r>
                  <a:rPr lang="en-US">
                    <a:noFill/>
                  </a:rPr>
                  <a:t> </a:t>
                </a:r>
              </a:p>
            </p:txBody>
          </p:sp>
        </mc:Fallback>
      </mc:AlternateContent>
      <p:grpSp>
        <p:nvGrpSpPr>
          <p:cNvPr id="8" name="Group 41">
            <a:extLst>
              <a:ext uri="{FF2B5EF4-FFF2-40B4-BE49-F238E27FC236}">
                <a16:creationId xmlns:a16="http://schemas.microsoft.com/office/drawing/2014/main" id="{5F37005E-E6F3-4CEC-A38D-48E97724FE86}"/>
              </a:ext>
            </a:extLst>
          </p:cNvPr>
          <p:cNvGrpSpPr>
            <a:grpSpLocks/>
          </p:cNvGrpSpPr>
          <p:nvPr/>
        </p:nvGrpSpPr>
        <p:grpSpPr bwMode="auto">
          <a:xfrm>
            <a:off x="276710" y="2000216"/>
            <a:ext cx="2889250" cy="2459037"/>
            <a:chOff x="3510" y="1609"/>
            <a:chExt cx="1820" cy="1549"/>
          </a:xfrm>
        </p:grpSpPr>
        <p:sp>
          <p:nvSpPr>
            <p:cNvPr id="9" name="Line 42">
              <a:extLst>
                <a:ext uri="{FF2B5EF4-FFF2-40B4-BE49-F238E27FC236}">
                  <a16:creationId xmlns:a16="http://schemas.microsoft.com/office/drawing/2014/main" id="{E84B6AF7-82AC-452A-93DE-4E12D0C87BCC}"/>
                </a:ext>
              </a:extLst>
            </p:cNvPr>
            <p:cNvSpPr>
              <a:spLocks noChangeShapeType="1"/>
            </p:cNvSpPr>
            <p:nvPr/>
          </p:nvSpPr>
          <p:spPr bwMode="auto">
            <a:xfrm flipH="1">
              <a:off x="3745"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43">
              <a:extLst>
                <a:ext uri="{FF2B5EF4-FFF2-40B4-BE49-F238E27FC236}">
                  <a16:creationId xmlns:a16="http://schemas.microsoft.com/office/drawing/2014/main" id="{5507CDD6-91FA-44FD-8E23-AE55C59C473A}"/>
                </a:ext>
              </a:extLst>
            </p:cNvPr>
            <p:cNvSpPr>
              <a:spLocks noChangeShapeType="1"/>
            </p:cNvSpPr>
            <p:nvPr/>
          </p:nvSpPr>
          <p:spPr bwMode="auto">
            <a:xfrm flipH="1">
              <a:off x="3985"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44">
              <a:extLst>
                <a:ext uri="{FF2B5EF4-FFF2-40B4-BE49-F238E27FC236}">
                  <a16:creationId xmlns:a16="http://schemas.microsoft.com/office/drawing/2014/main" id="{4224F240-ACC6-47EC-899E-75A4AF313BD4}"/>
                </a:ext>
              </a:extLst>
            </p:cNvPr>
            <p:cNvSpPr>
              <a:spLocks noChangeShapeType="1"/>
            </p:cNvSpPr>
            <p:nvPr/>
          </p:nvSpPr>
          <p:spPr bwMode="auto">
            <a:xfrm>
              <a:off x="3745" y="219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45">
              <a:extLst>
                <a:ext uri="{FF2B5EF4-FFF2-40B4-BE49-F238E27FC236}">
                  <a16:creationId xmlns:a16="http://schemas.microsoft.com/office/drawing/2014/main" id="{FEF4FD57-BBA3-4216-A7EA-FCEFE78E67AA}"/>
                </a:ext>
              </a:extLst>
            </p:cNvPr>
            <p:cNvSpPr>
              <a:spLocks noChangeShapeType="1"/>
            </p:cNvSpPr>
            <p:nvPr/>
          </p:nvSpPr>
          <p:spPr bwMode="auto">
            <a:xfrm>
              <a:off x="4417" y="176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46">
              <a:extLst>
                <a:ext uri="{FF2B5EF4-FFF2-40B4-BE49-F238E27FC236}">
                  <a16:creationId xmlns:a16="http://schemas.microsoft.com/office/drawing/2014/main" id="{7B762326-16B4-4FA0-8B12-ACDD374A2546}"/>
                </a:ext>
              </a:extLst>
            </p:cNvPr>
            <p:cNvSpPr>
              <a:spLocks noChangeShapeType="1"/>
            </p:cNvSpPr>
            <p:nvPr/>
          </p:nvSpPr>
          <p:spPr bwMode="auto">
            <a:xfrm>
              <a:off x="3985"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47">
              <a:extLst>
                <a:ext uri="{FF2B5EF4-FFF2-40B4-BE49-F238E27FC236}">
                  <a16:creationId xmlns:a16="http://schemas.microsoft.com/office/drawing/2014/main" id="{9EAE67EB-A2D5-4F9B-A4AF-DD21CAE1D0A1}"/>
                </a:ext>
              </a:extLst>
            </p:cNvPr>
            <p:cNvSpPr>
              <a:spLocks noChangeShapeType="1"/>
            </p:cNvSpPr>
            <p:nvPr/>
          </p:nvSpPr>
          <p:spPr bwMode="auto">
            <a:xfrm>
              <a:off x="3745"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48">
              <a:extLst>
                <a:ext uri="{FF2B5EF4-FFF2-40B4-BE49-F238E27FC236}">
                  <a16:creationId xmlns:a16="http://schemas.microsoft.com/office/drawing/2014/main" id="{5869EBEC-F167-4B94-9043-65CDC68F8CFF}"/>
                </a:ext>
              </a:extLst>
            </p:cNvPr>
            <p:cNvSpPr>
              <a:spLocks noChangeShapeType="1"/>
            </p:cNvSpPr>
            <p:nvPr/>
          </p:nvSpPr>
          <p:spPr bwMode="auto">
            <a:xfrm>
              <a:off x="3745" y="315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49">
              <a:extLst>
                <a:ext uri="{FF2B5EF4-FFF2-40B4-BE49-F238E27FC236}">
                  <a16:creationId xmlns:a16="http://schemas.microsoft.com/office/drawing/2014/main" id="{B9AA1085-5646-46C1-AC3A-D06678C9A1BD}"/>
                </a:ext>
              </a:extLst>
            </p:cNvPr>
            <p:cNvSpPr>
              <a:spLocks noChangeShapeType="1"/>
            </p:cNvSpPr>
            <p:nvPr/>
          </p:nvSpPr>
          <p:spPr bwMode="auto">
            <a:xfrm flipV="1">
              <a:off x="3985" y="2870"/>
              <a:ext cx="432"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50">
              <a:extLst>
                <a:ext uri="{FF2B5EF4-FFF2-40B4-BE49-F238E27FC236}">
                  <a16:creationId xmlns:a16="http://schemas.microsoft.com/office/drawing/2014/main" id="{BEEC6C4A-3576-4C85-9FF2-D87FA796E6B0}"/>
                </a:ext>
              </a:extLst>
            </p:cNvPr>
            <p:cNvSpPr>
              <a:spLocks noChangeShapeType="1"/>
            </p:cNvSpPr>
            <p:nvPr/>
          </p:nvSpPr>
          <p:spPr bwMode="auto">
            <a:xfrm flipH="1">
              <a:off x="4417"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51">
              <a:extLst>
                <a:ext uri="{FF2B5EF4-FFF2-40B4-BE49-F238E27FC236}">
                  <a16:creationId xmlns:a16="http://schemas.microsoft.com/office/drawing/2014/main" id="{739E7AC1-9E42-4D55-859D-7EAA72487014}"/>
                </a:ext>
              </a:extLst>
            </p:cNvPr>
            <p:cNvSpPr>
              <a:spLocks noChangeShapeType="1"/>
            </p:cNvSpPr>
            <p:nvPr/>
          </p:nvSpPr>
          <p:spPr bwMode="auto">
            <a:xfrm flipH="1">
              <a:off x="4657"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52">
              <a:extLst>
                <a:ext uri="{FF2B5EF4-FFF2-40B4-BE49-F238E27FC236}">
                  <a16:creationId xmlns:a16="http://schemas.microsoft.com/office/drawing/2014/main" id="{DCB433A1-1D84-4449-8793-CDB45C5A7DBE}"/>
                </a:ext>
              </a:extLst>
            </p:cNvPr>
            <p:cNvSpPr>
              <a:spLocks noChangeShapeType="1"/>
            </p:cNvSpPr>
            <p:nvPr/>
          </p:nvSpPr>
          <p:spPr bwMode="auto">
            <a:xfrm>
              <a:off x="4417" y="219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53">
              <a:extLst>
                <a:ext uri="{FF2B5EF4-FFF2-40B4-BE49-F238E27FC236}">
                  <a16:creationId xmlns:a16="http://schemas.microsoft.com/office/drawing/2014/main" id="{2ED26AD7-C9A7-4A23-8B75-D159684F87F9}"/>
                </a:ext>
              </a:extLst>
            </p:cNvPr>
            <p:cNvSpPr>
              <a:spLocks noChangeShapeType="1"/>
            </p:cNvSpPr>
            <p:nvPr/>
          </p:nvSpPr>
          <p:spPr bwMode="auto">
            <a:xfrm>
              <a:off x="5089" y="176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54">
              <a:extLst>
                <a:ext uri="{FF2B5EF4-FFF2-40B4-BE49-F238E27FC236}">
                  <a16:creationId xmlns:a16="http://schemas.microsoft.com/office/drawing/2014/main" id="{9FF5431F-21DF-4388-A0C6-428F7C1D2817}"/>
                </a:ext>
              </a:extLst>
            </p:cNvPr>
            <p:cNvSpPr>
              <a:spLocks noChangeShapeType="1"/>
            </p:cNvSpPr>
            <p:nvPr/>
          </p:nvSpPr>
          <p:spPr bwMode="auto">
            <a:xfrm>
              <a:off x="4657"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55">
              <a:extLst>
                <a:ext uri="{FF2B5EF4-FFF2-40B4-BE49-F238E27FC236}">
                  <a16:creationId xmlns:a16="http://schemas.microsoft.com/office/drawing/2014/main" id="{A63A0506-24EE-44BC-BBDF-F50997D46434}"/>
                </a:ext>
              </a:extLst>
            </p:cNvPr>
            <p:cNvSpPr>
              <a:spLocks noChangeShapeType="1"/>
            </p:cNvSpPr>
            <p:nvPr/>
          </p:nvSpPr>
          <p:spPr bwMode="auto">
            <a:xfrm>
              <a:off x="4417"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56">
              <a:extLst>
                <a:ext uri="{FF2B5EF4-FFF2-40B4-BE49-F238E27FC236}">
                  <a16:creationId xmlns:a16="http://schemas.microsoft.com/office/drawing/2014/main" id="{6BA8CBDF-D4BA-429F-B8BE-A91C8F7C5B0B}"/>
                </a:ext>
              </a:extLst>
            </p:cNvPr>
            <p:cNvSpPr>
              <a:spLocks noChangeShapeType="1"/>
            </p:cNvSpPr>
            <p:nvPr/>
          </p:nvSpPr>
          <p:spPr bwMode="auto">
            <a:xfrm>
              <a:off x="4417" y="315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57">
              <a:extLst>
                <a:ext uri="{FF2B5EF4-FFF2-40B4-BE49-F238E27FC236}">
                  <a16:creationId xmlns:a16="http://schemas.microsoft.com/office/drawing/2014/main" id="{748FE87D-157F-4735-8870-BE5BFFDEF960}"/>
                </a:ext>
              </a:extLst>
            </p:cNvPr>
            <p:cNvSpPr>
              <a:spLocks noChangeShapeType="1"/>
            </p:cNvSpPr>
            <p:nvPr/>
          </p:nvSpPr>
          <p:spPr bwMode="auto">
            <a:xfrm flipV="1">
              <a:off x="4657" y="2678"/>
              <a:ext cx="67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Freeform 58">
              <a:extLst>
                <a:ext uri="{FF2B5EF4-FFF2-40B4-BE49-F238E27FC236}">
                  <a16:creationId xmlns:a16="http://schemas.microsoft.com/office/drawing/2014/main" id="{1AEB2A70-8BD8-4F38-B8DE-0203304E68C6}"/>
                </a:ext>
              </a:extLst>
            </p:cNvPr>
            <p:cNvSpPr>
              <a:spLocks/>
            </p:cNvSpPr>
            <p:nvPr/>
          </p:nvSpPr>
          <p:spPr bwMode="auto">
            <a:xfrm>
              <a:off x="4657" y="1766"/>
              <a:ext cx="1" cy="288"/>
            </a:xfrm>
            <a:custGeom>
              <a:avLst/>
              <a:gdLst>
                <a:gd name="T0" fmla="*/ 0 w 1"/>
                <a:gd name="T1" fmla="*/ 0 h 288"/>
                <a:gd name="T2" fmla="*/ 0 w 1"/>
                <a:gd name="T3" fmla="*/ 288 h 288"/>
                <a:gd name="T4" fmla="*/ 0 60000 65536"/>
                <a:gd name="T5" fmla="*/ 0 60000 65536"/>
              </a:gdLst>
              <a:ahLst/>
              <a:cxnLst>
                <a:cxn ang="T4">
                  <a:pos x="T0" y="T1"/>
                </a:cxn>
                <a:cxn ang="T5">
                  <a:pos x="T2" y="T3"/>
                </a:cxn>
              </a:cxnLst>
              <a:rect l="0" t="0" r="r" b="b"/>
              <a:pathLst>
                <a:path w="1" h="288">
                  <a:moveTo>
                    <a:pt x="0" y="0"/>
                  </a:moveTo>
                  <a:cubicBezTo>
                    <a:pt x="0" y="124"/>
                    <a:pt x="0" y="248"/>
                    <a:pt x="0" y="2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Freeform 59">
              <a:extLst>
                <a:ext uri="{FF2B5EF4-FFF2-40B4-BE49-F238E27FC236}">
                  <a16:creationId xmlns:a16="http://schemas.microsoft.com/office/drawing/2014/main" id="{1DA79078-2360-45A7-8183-8B30CE5612BA}"/>
                </a:ext>
              </a:extLst>
            </p:cNvPr>
            <p:cNvSpPr>
              <a:spLocks/>
            </p:cNvSpPr>
            <p:nvPr/>
          </p:nvSpPr>
          <p:spPr bwMode="auto">
            <a:xfrm>
              <a:off x="5329" y="1766"/>
              <a:ext cx="1" cy="912"/>
            </a:xfrm>
            <a:custGeom>
              <a:avLst/>
              <a:gdLst>
                <a:gd name="T0" fmla="*/ 0 w 1"/>
                <a:gd name="T1" fmla="*/ 0 h 912"/>
                <a:gd name="T2" fmla="*/ 0 w 1"/>
                <a:gd name="T3" fmla="*/ 912 h 912"/>
                <a:gd name="T4" fmla="*/ 0 60000 65536"/>
                <a:gd name="T5" fmla="*/ 0 60000 65536"/>
              </a:gdLst>
              <a:ahLst/>
              <a:cxnLst>
                <a:cxn ang="T4">
                  <a:pos x="T0" y="T1"/>
                </a:cxn>
                <a:cxn ang="T5">
                  <a:pos x="T2" y="T3"/>
                </a:cxn>
              </a:cxnLst>
              <a:rect l="0" t="0" r="r" b="b"/>
              <a:pathLst>
                <a:path w="1" h="912">
                  <a:moveTo>
                    <a:pt x="0" y="0"/>
                  </a:moveTo>
                  <a:cubicBezTo>
                    <a:pt x="0" y="380"/>
                    <a:pt x="0" y="760"/>
                    <a:pt x="0" y="91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27" name="Object 60">
                  <a:extLst>
                    <a:ext uri="{FF2B5EF4-FFF2-40B4-BE49-F238E27FC236}">
                      <a16:creationId xmlns:a16="http://schemas.microsoft.com/office/drawing/2014/main" id="{0E272089-BF7D-45DC-A8DB-F72E7A0175BE}"/>
                    </a:ext>
                  </a:extLst>
                </p:cNvPr>
                <p:cNvSpPr txBox="1"/>
                <p:nvPr/>
              </p:nvSpPr>
              <p:spPr bwMode="auto">
                <a:xfrm>
                  <a:off x="4150" y="1609"/>
                  <a:ext cx="207" cy="207"/>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𝐴</m:t>
                        </m:r>
                      </m:oMath>
                    </m:oMathPara>
                  </a14:m>
                  <a:endParaRPr lang="en-US"/>
                </a:p>
              </p:txBody>
            </p:sp>
          </mc:Choice>
          <mc:Fallback xmlns="">
            <p:sp>
              <p:nvSpPr>
                <p:cNvPr id="27" name="Object 60">
                  <a:extLst>
                    <a:ext uri="{FF2B5EF4-FFF2-40B4-BE49-F238E27FC236}">
                      <a16:creationId xmlns:a16="http://schemas.microsoft.com/office/drawing/2014/main" id="{0E272089-BF7D-45DC-A8DB-F72E7A0175BE}"/>
                    </a:ext>
                  </a:extLst>
                </p:cNvPr>
                <p:cNvSpPr txBox="1">
                  <a:spLocks noRot="1" noChangeAspect="1" noMove="1" noResize="1" noEditPoints="1" noAdjustHandles="1" noChangeArrowheads="1" noChangeShapeType="1" noTextEdit="1"/>
                </p:cNvSpPr>
                <p:nvPr/>
              </p:nvSpPr>
              <p:spPr bwMode="auto">
                <a:xfrm>
                  <a:off x="4150" y="1609"/>
                  <a:ext cx="207" cy="207"/>
                </a:xfrm>
                <a:prstGeom prst="rect">
                  <a:avLst/>
                </a:prstGeom>
                <a:blipFill>
                  <a:blip r:embed="rId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61">
                  <a:extLst>
                    <a:ext uri="{FF2B5EF4-FFF2-40B4-BE49-F238E27FC236}">
                      <a16:creationId xmlns:a16="http://schemas.microsoft.com/office/drawing/2014/main" id="{2933F6F1-CCFE-4B46-A97C-9BB6A421B6FB}"/>
                    </a:ext>
                  </a:extLst>
                </p:cNvPr>
                <p:cNvSpPr txBox="1"/>
                <p:nvPr/>
              </p:nvSpPr>
              <p:spPr bwMode="auto">
                <a:xfrm>
                  <a:off x="4801" y="1659"/>
                  <a:ext cx="203" cy="203"/>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𝐵</m:t>
                        </m:r>
                      </m:oMath>
                    </m:oMathPara>
                  </a14:m>
                  <a:endParaRPr lang="en-US"/>
                </a:p>
              </p:txBody>
            </p:sp>
          </mc:Choice>
          <mc:Fallback xmlns="">
            <p:sp>
              <p:nvSpPr>
                <p:cNvPr id="28" name="Object 61">
                  <a:extLst>
                    <a:ext uri="{FF2B5EF4-FFF2-40B4-BE49-F238E27FC236}">
                      <a16:creationId xmlns:a16="http://schemas.microsoft.com/office/drawing/2014/main" id="{2933F6F1-CCFE-4B46-A97C-9BB6A421B6FB}"/>
                    </a:ext>
                  </a:extLst>
                </p:cNvPr>
                <p:cNvSpPr txBox="1">
                  <a:spLocks noRot="1" noChangeAspect="1" noMove="1" noResize="1" noEditPoints="1" noAdjustHandles="1" noChangeArrowheads="1" noChangeShapeType="1" noTextEdit="1"/>
                </p:cNvSpPr>
                <p:nvPr/>
              </p:nvSpPr>
              <p:spPr bwMode="auto">
                <a:xfrm>
                  <a:off x="4801" y="1659"/>
                  <a:ext cx="203" cy="203"/>
                </a:xfrm>
                <a:prstGeom prst="rect">
                  <a:avLst/>
                </a:prstGeom>
                <a:blipFill>
                  <a:blip r:embed="rId6"/>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62">
                  <a:extLst>
                    <a:ext uri="{FF2B5EF4-FFF2-40B4-BE49-F238E27FC236}">
                      <a16:creationId xmlns:a16="http://schemas.microsoft.com/office/drawing/2014/main" id="{A69CFA08-F016-40EC-AE95-AF5B68337ED1}"/>
                    </a:ext>
                  </a:extLst>
                </p:cNvPr>
                <p:cNvSpPr txBox="1"/>
                <p:nvPr/>
              </p:nvSpPr>
              <p:spPr bwMode="auto">
                <a:xfrm>
                  <a:off x="3510" y="2054"/>
                  <a:ext cx="248" cy="28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29" name="Object 62">
                  <a:extLst>
                    <a:ext uri="{FF2B5EF4-FFF2-40B4-BE49-F238E27FC236}">
                      <a16:creationId xmlns:a16="http://schemas.microsoft.com/office/drawing/2014/main" id="{A69CFA08-F016-40EC-AE95-AF5B68337ED1}"/>
                    </a:ext>
                  </a:extLst>
                </p:cNvPr>
                <p:cNvSpPr txBox="1">
                  <a:spLocks noRot="1" noChangeAspect="1" noMove="1" noResize="1" noEditPoints="1" noAdjustHandles="1" noChangeArrowheads="1" noChangeShapeType="1" noTextEdit="1"/>
                </p:cNvSpPr>
                <p:nvPr/>
              </p:nvSpPr>
              <p:spPr bwMode="auto">
                <a:xfrm>
                  <a:off x="3510" y="2054"/>
                  <a:ext cx="248" cy="283"/>
                </a:xfrm>
                <a:prstGeom prst="rect">
                  <a:avLst/>
                </a:prstGeom>
                <a:blipFill>
                  <a:blip r:embed="rId7"/>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63">
                  <a:extLst>
                    <a:ext uri="{FF2B5EF4-FFF2-40B4-BE49-F238E27FC236}">
                      <a16:creationId xmlns:a16="http://schemas.microsoft.com/office/drawing/2014/main" id="{E13FB952-7EF6-4529-BAC7-F6E9B47DB0D2}"/>
                    </a:ext>
                  </a:extLst>
                </p:cNvPr>
                <p:cNvSpPr txBox="1"/>
                <p:nvPr/>
              </p:nvSpPr>
              <p:spPr bwMode="auto">
                <a:xfrm>
                  <a:off x="3982" y="2086"/>
                  <a:ext cx="230" cy="301"/>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oMath>
                    </m:oMathPara>
                  </a14:m>
                  <a:endParaRPr lang="en-US" dirty="0"/>
                </a:p>
              </p:txBody>
            </p:sp>
          </mc:Choice>
          <mc:Fallback xmlns="">
            <p:sp>
              <p:nvSpPr>
                <p:cNvPr id="30" name="Object 63">
                  <a:extLst>
                    <a:ext uri="{FF2B5EF4-FFF2-40B4-BE49-F238E27FC236}">
                      <a16:creationId xmlns:a16="http://schemas.microsoft.com/office/drawing/2014/main" id="{E13FB952-7EF6-4529-BAC7-F6E9B47DB0D2}"/>
                    </a:ext>
                  </a:extLst>
                </p:cNvPr>
                <p:cNvSpPr txBox="1">
                  <a:spLocks noRot="1" noChangeAspect="1" noMove="1" noResize="1" noEditPoints="1" noAdjustHandles="1" noChangeArrowheads="1" noChangeShapeType="1" noTextEdit="1"/>
                </p:cNvSpPr>
                <p:nvPr/>
              </p:nvSpPr>
              <p:spPr bwMode="auto">
                <a:xfrm>
                  <a:off x="3982" y="2086"/>
                  <a:ext cx="230" cy="301"/>
                </a:xfrm>
                <a:prstGeom prst="rect">
                  <a:avLst/>
                </a:prstGeom>
                <a:blipFill>
                  <a:blip r:embed="rId8"/>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64">
                  <a:extLst>
                    <a:ext uri="{FF2B5EF4-FFF2-40B4-BE49-F238E27FC236}">
                      <a16:creationId xmlns:a16="http://schemas.microsoft.com/office/drawing/2014/main" id="{3AA216F9-A637-4C66-A48D-4BBED0055252}"/>
                    </a:ext>
                  </a:extLst>
                </p:cNvPr>
                <p:cNvSpPr txBox="1"/>
                <p:nvPr/>
              </p:nvSpPr>
              <p:spPr bwMode="auto">
                <a:xfrm>
                  <a:off x="4252" y="2129"/>
                  <a:ext cx="280" cy="31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3</m:t>
                            </m:r>
                          </m:sub>
                        </m:sSub>
                      </m:oMath>
                    </m:oMathPara>
                  </a14:m>
                  <a:endParaRPr lang="en-US"/>
                </a:p>
              </p:txBody>
            </p:sp>
          </mc:Choice>
          <mc:Fallback xmlns="">
            <p:sp>
              <p:nvSpPr>
                <p:cNvPr id="31" name="Object 64">
                  <a:extLst>
                    <a:ext uri="{FF2B5EF4-FFF2-40B4-BE49-F238E27FC236}">
                      <a16:creationId xmlns:a16="http://schemas.microsoft.com/office/drawing/2014/main" id="{3AA216F9-A637-4C66-A48D-4BBED0055252}"/>
                    </a:ext>
                  </a:extLst>
                </p:cNvPr>
                <p:cNvSpPr txBox="1">
                  <a:spLocks noRot="1" noChangeAspect="1" noMove="1" noResize="1" noEditPoints="1" noAdjustHandles="1" noChangeArrowheads="1" noChangeShapeType="1" noTextEdit="1"/>
                </p:cNvSpPr>
                <p:nvPr/>
              </p:nvSpPr>
              <p:spPr bwMode="auto">
                <a:xfrm>
                  <a:off x="4252" y="2129"/>
                  <a:ext cx="280" cy="315"/>
                </a:xfrm>
                <a:prstGeom prst="rect">
                  <a:avLst/>
                </a:prstGeom>
                <a:blipFill>
                  <a:blip r:embed="rId9"/>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bject 65">
                  <a:extLst>
                    <a:ext uri="{FF2B5EF4-FFF2-40B4-BE49-F238E27FC236}">
                      <a16:creationId xmlns:a16="http://schemas.microsoft.com/office/drawing/2014/main" id="{3A6143E1-06E8-4268-87A5-6739E3EBFBD3}"/>
                    </a:ext>
                  </a:extLst>
                </p:cNvPr>
                <p:cNvSpPr txBox="1"/>
                <p:nvPr/>
              </p:nvSpPr>
              <p:spPr bwMode="auto">
                <a:xfrm>
                  <a:off x="4647" y="2113"/>
                  <a:ext cx="235" cy="25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4.</m:t>
                            </m:r>
                          </m:sub>
                        </m:sSub>
                      </m:oMath>
                    </m:oMathPara>
                  </a14:m>
                  <a:endParaRPr lang="en-US"/>
                </a:p>
              </p:txBody>
            </p:sp>
          </mc:Choice>
          <mc:Fallback xmlns="">
            <p:sp>
              <p:nvSpPr>
                <p:cNvPr id="32" name="Object 65">
                  <a:extLst>
                    <a:ext uri="{FF2B5EF4-FFF2-40B4-BE49-F238E27FC236}">
                      <a16:creationId xmlns:a16="http://schemas.microsoft.com/office/drawing/2014/main" id="{3A6143E1-06E8-4268-87A5-6739E3EBFBD3}"/>
                    </a:ext>
                  </a:extLst>
                </p:cNvPr>
                <p:cNvSpPr txBox="1">
                  <a:spLocks noRot="1" noChangeAspect="1" noMove="1" noResize="1" noEditPoints="1" noAdjustHandles="1" noChangeArrowheads="1" noChangeShapeType="1" noTextEdit="1"/>
                </p:cNvSpPr>
                <p:nvPr/>
              </p:nvSpPr>
              <p:spPr bwMode="auto">
                <a:xfrm>
                  <a:off x="4647" y="2113"/>
                  <a:ext cx="235" cy="250"/>
                </a:xfrm>
                <a:prstGeom prst="rect">
                  <a:avLst/>
                </a:prstGeom>
                <a:blipFill>
                  <a:blip r:embed="rId10"/>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66">
                  <a:extLst>
                    <a:ext uri="{FF2B5EF4-FFF2-40B4-BE49-F238E27FC236}">
                      <a16:creationId xmlns:a16="http://schemas.microsoft.com/office/drawing/2014/main" id="{17BC7531-D18E-44FD-AC09-DC69BB54129F}"/>
                    </a:ext>
                  </a:extLst>
                </p:cNvPr>
                <p:cNvSpPr txBox="1"/>
                <p:nvPr/>
              </p:nvSpPr>
              <p:spPr bwMode="auto">
                <a:xfrm>
                  <a:off x="4609" y="2531"/>
                  <a:ext cx="235" cy="27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a:p>
              </p:txBody>
            </p:sp>
          </mc:Choice>
          <mc:Fallback xmlns="">
            <p:sp>
              <p:nvSpPr>
                <p:cNvPr id="33" name="Object 66">
                  <a:extLst>
                    <a:ext uri="{FF2B5EF4-FFF2-40B4-BE49-F238E27FC236}">
                      <a16:creationId xmlns:a16="http://schemas.microsoft.com/office/drawing/2014/main" id="{17BC7531-D18E-44FD-AC09-DC69BB54129F}"/>
                    </a:ext>
                  </a:extLst>
                </p:cNvPr>
                <p:cNvSpPr txBox="1">
                  <a:spLocks noRot="1" noChangeAspect="1" noMove="1" noResize="1" noEditPoints="1" noAdjustHandles="1" noChangeArrowheads="1" noChangeShapeType="1" noTextEdit="1"/>
                </p:cNvSpPr>
                <p:nvPr/>
              </p:nvSpPr>
              <p:spPr bwMode="auto">
                <a:xfrm>
                  <a:off x="4609" y="2531"/>
                  <a:ext cx="235" cy="278"/>
                </a:xfrm>
                <a:prstGeom prst="rect">
                  <a:avLst/>
                </a:prstGeom>
                <a:blipFill>
                  <a:blip r:embed="rId11"/>
                  <a:stretch>
                    <a:fillRect/>
                  </a:stretch>
                </a:blipFill>
                <a:ln>
                  <a:noFill/>
                </a:ln>
                <a:effectLst/>
                <a:extLst/>
              </p:spPr>
              <p:txBody>
                <a:bodyPr/>
                <a:lstStyle/>
                <a:p>
                  <a:r>
                    <a:rPr lang="en-US">
                      <a:noFill/>
                    </a:rPr>
                    <a:t> </a:t>
                  </a:r>
                </a:p>
              </p:txBody>
            </p:sp>
          </mc:Fallback>
        </mc:AlternateContent>
      </p:grpSp>
    </p:spTree>
    <p:extLst>
      <p:ext uri="{BB962C8B-B14F-4D97-AF65-F5344CB8AC3E}">
        <p14:creationId xmlns:p14="http://schemas.microsoft.com/office/powerpoint/2010/main" val="15778445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5" name="Text Box 7">
            <a:extLst>
              <a:ext uri="{FF2B5EF4-FFF2-40B4-BE49-F238E27FC236}">
                <a16:creationId xmlns:a16="http://schemas.microsoft.com/office/drawing/2014/main" id="{764FE97A-CBA5-671C-993F-5776AF8E9E90}"/>
              </a:ext>
            </a:extLst>
          </p:cNvPr>
          <p:cNvSpPr txBox="1">
            <a:spLocks noChangeArrowheads="1"/>
          </p:cNvSpPr>
          <p:nvPr/>
        </p:nvSpPr>
        <p:spPr bwMode="auto">
          <a:xfrm>
            <a:off x="903469" y="2198501"/>
            <a:ext cx="5431795" cy="4924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r>
              <a:rPr lang="zh-CN" altLang="en-US" sz="2600" dirty="0">
                <a:ea typeface="+mj-ea"/>
              </a:rPr>
              <a:t>讨论几种情况：</a:t>
            </a:r>
          </a:p>
        </p:txBody>
      </p:sp>
      <p:sp>
        <p:nvSpPr>
          <p:cNvPr id="283656" name="Text Box 8">
            <a:extLst>
              <a:ext uri="{FF2B5EF4-FFF2-40B4-BE49-F238E27FC236}">
                <a16:creationId xmlns:a16="http://schemas.microsoft.com/office/drawing/2014/main" id="{E7AB5579-1006-6D81-A3AB-5B635BD7ACC6}"/>
              </a:ext>
            </a:extLst>
          </p:cNvPr>
          <p:cNvSpPr txBox="1">
            <a:spLocks noChangeArrowheads="1"/>
          </p:cNvSpPr>
          <p:nvPr/>
        </p:nvSpPr>
        <p:spPr bwMode="auto">
          <a:xfrm>
            <a:off x="1238803" y="2800940"/>
            <a:ext cx="5179422" cy="123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600" dirty="0"/>
              <a:t>-  </a:t>
            </a:r>
            <a:r>
              <a:rPr lang="zh-CN" altLang="en-US" sz="2600" dirty="0"/>
              <a:t>若</a:t>
            </a:r>
            <a:r>
              <a:rPr lang="en-US" altLang="zh-CN" sz="2600" dirty="0"/>
              <a:t>Q</a:t>
            </a:r>
            <a:r>
              <a:rPr lang="zh-CN" altLang="en-US" sz="2600" baseline="-25000" dirty="0"/>
              <a:t>ａ</a:t>
            </a:r>
            <a:r>
              <a:rPr lang="zh-CN" altLang="en-US" sz="2600" dirty="0"/>
              <a:t>＝</a:t>
            </a:r>
            <a:r>
              <a:rPr lang="zh-CN" altLang="en-US" sz="2600" dirty="0">
                <a:sym typeface="Symbol" panose="05050102010706020507" pitchFamily="18" charset="2"/>
              </a:rPr>
              <a:t></a:t>
            </a:r>
            <a:r>
              <a:rPr lang="en-US" altLang="zh-CN" sz="2600" dirty="0"/>
              <a:t>Q</a:t>
            </a:r>
            <a:r>
              <a:rPr lang="zh-CN" altLang="en-US" sz="2600" baseline="-25000" dirty="0"/>
              <a:t>ｂ</a:t>
            </a:r>
            <a:r>
              <a:rPr lang="zh-CN" altLang="en-US" sz="2600" dirty="0"/>
              <a:t>＝Ｑ，　　　　</a:t>
            </a:r>
          </a:p>
          <a:p>
            <a:pPr algn="l">
              <a:lnSpc>
                <a:spcPct val="150000"/>
              </a:lnSpc>
            </a:pPr>
            <a:r>
              <a:rPr lang="zh-CN" altLang="en-US" sz="2600" dirty="0"/>
              <a:t>  则有 </a:t>
            </a:r>
            <a:r>
              <a:rPr lang="en-US" altLang="zh-CN" sz="2600" dirty="0"/>
              <a:t>σ</a:t>
            </a:r>
            <a:r>
              <a:rPr lang="en-US" altLang="zh-CN" sz="2600" baseline="-25000" dirty="0"/>
              <a:t>1</a:t>
            </a:r>
            <a:r>
              <a:rPr lang="zh-CN" altLang="en-US" sz="2600" dirty="0"/>
              <a:t>＝</a:t>
            </a:r>
            <a:r>
              <a:rPr lang="en-US" altLang="zh-CN" sz="2600" dirty="0"/>
              <a:t>σ</a:t>
            </a:r>
            <a:r>
              <a:rPr lang="en-US" altLang="zh-CN" sz="2600" baseline="-25000" dirty="0"/>
              <a:t>4</a:t>
            </a:r>
            <a:r>
              <a:rPr lang="zh-CN" altLang="en-US" sz="2600" dirty="0"/>
              <a:t>＝</a:t>
            </a:r>
            <a:r>
              <a:rPr lang="en-US" altLang="zh-CN" sz="2600" dirty="0"/>
              <a:t>0</a:t>
            </a:r>
            <a:r>
              <a:rPr lang="zh-CN" altLang="en-US" sz="2600" dirty="0"/>
              <a:t>；</a:t>
            </a:r>
            <a:r>
              <a:rPr lang="en-US" altLang="zh-CN" sz="2600" dirty="0"/>
              <a:t>σ</a:t>
            </a:r>
            <a:r>
              <a:rPr lang="en-US" altLang="zh-CN" sz="2600" baseline="-25000" dirty="0"/>
              <a:t>2</a:t>
            </a:r>
            <a:r>
              <a:rPr lang="zh-CN" altLang="en-US" sz="2600" dirty="0"/>
              <a:t>＝</a:t>
            </a:r>
            <a:r>
              <a:rPr lang="zh-CN" altLang="en-US" sz="2600" dirty="0">
                <a:sym typeface="Symbol" panose="05050102010706020507" pitchFamily="18" charset="2"/>
              </a:rPr>
              <a:t></a:t>
            </a:r>
            <a:r>
              <a:rPr lang="en-US" altLang="zh-CN" sz="2600" dirty="0"/>
              <a:t>σ</a:t>
            </a:r>
            <a:r>
              <a:rPr lang="en-US" altLang="zh-CN" sz="2600" baseline="-25000" dirty="0"/>
              <a:t>3</a:t>
            </a:r>
            <a:r>
              <a:rPr lang="zh-CN" altLang="en-US" sz="2600" dirty="0"/>
              <a:t>＝</a:t>
            </a:r>
            <a:r>
              <a:rPr lang="en-US" altLang="zh-CN" sz="2600" dirty="0"/>
              <a:t>Q/S</a:t>
            </a:r>
          </a:p>
        </p:txBody>
      </p:sp>
      <p:sp>
        <p:nvSpPr>
          <p:cNvPr id="283657" name="Text Box 9">
            <a:extLst>
              <a:ext uri="{FF2B5EF4-FFF2-40B4-BE49-F238E27FC236}">
                <a16:creationId xmlns:a16="http://schemas.microsoft.com/office/drawing/2014/main" id="{64F67BD8-9EFC-41FD-3C62-B7ADA55585FE}"/>
              </a:ext>
            </a:extLst>
          </p:cNvPr>
          <p:cNvSpPr txBox="1">
            <a:spLocks noChangeArrowheads="1"/>
          </p:cNvSpPr>
          <p:nvPr/>
        </p:nvSpPr>
        <p:spPr bwMode="auto">
          <a:xfrm>
            <a:off x="6335264" y="2730828"/>
            <a:ext cx="5475608" cy="1022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20000"/>
              </a:lnSpc>
            </a:pPr>
            <a:r>
              <a:rPr lang="zh-CN" altLang="en-US" sz="2600" dirty="0">
                <a:ea typeface="+mj-ea"/>
              </a:rPr>
              <a:t>电荷只在相对两面</a:t>
            </a:r>
            <a:r>
              <a:rPr lang="en-US" altLang="zh-CN" sz="2600" dirty="0">
                <a:ea typeface="+mj-ea"/>
              </a:rPr>
              <a:t>,</a:t>
            </a:r>
            <a:r>
              <a:rPr lang="zh-CN" altLang="en-US" sz="2600" dirty="0">
                <a:ea typeface="+mj-ea"/>
              </a:rPr>
              <a:t>等量异号</a:t>
            </a:r>
            <a:r>
              <a:rPr lang="en-US" altLang="zh-CN" sz="2600" dirty="0">
                <a:ea typeface="+mj-ea"/>
              </a:rPr>
              <a:t>,</a:t>
            </a:r>
            <a:r>
              <a:rPr lang="zh-CN" altLang="en-US" sz="2600" dirty="0">
                <a:ea typeface="+mj-ea"/>
              </a:rPr>
              <a:t>电场只在两板之间。</a:t>
            </a:r>
          </a:p>
        </p:txBody>
      </p:sp>
      <p:sp>
        <p:nvSpPr>
          <p:cNvPr id="283658" name="Text Box 10">
            <a:extLst>
              <a:ext uri="{FF2B5EF4-FFF2-40B4-BE49-F238E27FC236}">
                <a16:creationId xmlns:a16="http://schemas.microsoft.com/office/drawing/2014/main" id="{725E525D-BB6D-01F4-4F77-E29622E3339F}"/>
              </a:ext>
            </a:extLst>
          </p:cNvPr>
          <p:cNvSpPr txBox="1">
            <a:spLocks noChangeArrowheads="1"/>
          </p:cNvSpPr>
          <p:nvPr/>
        </p:nvSpPr>
        <p:spPr bwMode="auto">
          <a:xfrm>
            <a:off x="8198034" y="3461663"/>
            <a:ext cx="1812870"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r>
              <a:rPr lang="zh-CN" altLang="en-US" sz="2600" dirty="0">
                <a:ea typeface="+mj-ea"/>
              </a:rPr>
              <a:t>（电容器）</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5BAB9345-E723-92D6-A931-2F006EBDC6DA}"/>
                  </a:ext>
                </a:extLst>
              </p:cNvPr>
              <p:cNvSpPr txBox="1">
                <a:spLocks/>
              </p:cNvSpPr>
              <p:nvPr/>
            </p:nvSpPr>
            <p:spPr>
              <a:xfrm>
                <a:off x="3828514" y="174720"/>
                <a:ext cx="4675406" cy="28921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200"/>
                  </a:spcAft>
                  <a:buClr>
                    <a:srgbClr val="99CB38"/>
                  </a:buClr>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𝜎</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𝜎</m:t>
                          </m:r>
                        </m:e>
                        <m:sub>
                          <m:r>
                            <a:rPr lang="zh-CN" altLang="en-US" sz="3200" i="1">
                              <a:solidFill>
                                <a:srgbClr val="000000"/>
                              </a:solidFill>
                              <a:latin typeface="Cambria Math" panose="02040503050406030204" pitchFamily="18" charset="0"/>
                            </a:rPr>
                            <m:t>4</m:t>
                          </m:r>
                        </m:sub>
                      </m:sSub>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𝐴</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𝐵</m:t>
                              </m:r>
                            </m:sub>
                          </m:sSub>
                        </m:num>
                        <m:den>
                          <m:r>
                            <a:rPr lang="zh-CN" altLang="en-US" sz="3200" i="1">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𝑆</m:t>
                          </m:r>
                        </m:den>
                      </m:f>
                    </m:oMath>
                  </m:oMathPara>
                </a14:m>
                <a:endParaRPr lang="en-US" altLang="zh-CN" sz="3200" i="1" dirty="0">
                  <a:solidFill>
                    <a:srgbClr val="000000"/>
                  </a:solidFill>
                  <a:latin typeface="华文楷体" panose="02010600040101010101" pitchFamily="2" charset="-122"/>
                  <a:ea typeface="华文楷体" panose="02010600040101010101" pitchFamily="2" charset="-122"/>
                </a:endParaRPr>
              </a:p>
              <a:p>
                <a:pPr marL="0" indent="0">
                  <a:lnSpc>
                    <a:spcPct val="100000"/>
                  </a:lnSpc>
                  <a:spcAft>
                    <a:spcPts val="1200"/>
                  </a:spcAft>
                  <a:buClr>
                    <a:srgbClr val="99CB38"/>
                  </a:buClr>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𝜎</m:t>
                          </m:r>
                        </m:e>
                        <m:sub>
                          <m:r>
                            <a:rPr lang="zh-CN" altLang="en-US" sz="3200" i="1">
                              <a:solidFill>
                                <a:srgbClr val="000000"/>
                              </a:solidFill>
                              <a:latin typeface="Cambria Math" panose="02040503050406030204" pitchFamily="18" charset="0"/>
                            </a:rPr>
                            <m:t>2</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𝜎</m:t>
                          </m:r>
                        </m:e>
                        <m:sub>
                          <m:r>
                            <a:rPr lang="zh-CN" altLang="en-US" sz="3200" i="1">
                              <a:solidFill>
                                <a:srgbClr val="000000"/>
                              </a:solidFill>
                              <a:latin typeface="Cambria Math" panose="02040503050406030204" pitchFamily="18" charset="0"/>
                            </a:rPr>
                            <m:t>3</m:t>
                          </m:r>
                        </m:sub>
                      </m:sSub>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𝐴</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𝐵</m:t>
                              </m:r>
                            </m:sub>
                          </m:sSub>
                        </m:num>
                        <m:den>
                          <m:r>
                            <a:rPr lang="zh-CN" altLang="en-US" sz="3200" i="1">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𝑆</m:t>
                          </m:r>
                        </m:den>
                      </m:f>
                    </m:oMath>
                  </m:oMathPara>
                </a14:m>
                <a:endParaRPr lang="en-US" altLang="zh-CN" sz="3200" dirty="0">
                  <a:solidFill>
                    <a:srgbClr val="0000CC"/>
                  </a:solidFill>
                  <a:latin typeface="华文楷体" panose="02010600040101010101" pitchFamily="2" charset="-122"/>
                  <a:ea typeface="华文楷体" panose="02010600040101010101" pitchFamily="2" charset="-122"/>
                </a:endParaRPr>
              </a:p>
              <a:p>
                <a:pPr marL="0" indent="0">
                  <a:lnSpc>
                    <a:spcPct val="100000"/>
                  </a:lnSpc>
                  <a:spcBef>
                    <a:spcPct val="50000"/>
                  </a:spcBef>
                  <a:buFont typeface="Arial" panose="020B0604020202020204" pitchFamily="34" charset="0"/>
                  <a:buNone/>
                </a:pPr>
                <a:endParaRPr lang="zh-CN" altLang="en-US" sz="3200" dirty="0">
                  <a:latin typeface="华文楷体" panose="02010600040101010101" pitchFamily="2" charset="-122"/>
                  <a:ea typeface="华文楷体" panose="02010600040101010101" pitchFamily="2" charset="-122"/>
                </a:endParaRPr>
              </a:p>
            </p:txBody>
          </p:sp>
        </mc:Choice>
        <mc:Fallback xmlns="">
          <p:sp>
            <p:nvSpPr>
              <p:cNvPr id="2" name="内容占位符 2">
                <a:extLst>
                  <a:ext uri="{FF2B5EF4-FFF2-40B4-BE49-F238E27FC236}">
                    <a16:creationId xmlns:a16="http://schemas.microsoft.com/office/drawing/2014/main" id="{5BAB9345-E723-92D6-A931-2F006EBDC6DA}"/>
                  </a:ext>
                </a:extLst>
              </p:cNvPr>
              <p:cNvSpPr txBox="1">
                <a:spLocks noRot="1" noChangeAspect="1" noMove="1" noResize="1" noEditPoints="1" noAdjustHandles="1" noChangeArrowheads="1" noChangeShapeType="1" noTextEdit="1"/>
              </p:cNvSpPr>
              <p:nvPr/>
            </p:nvSpPr>
            <p:spPr>
              <a:xfrm>
                <a:off x="3828514" y="174720"/>
                <a:ext cx="4675406" cy="2892133"/>
              </a:xfrm>
              <a:prstGeom prst="rect">
                <a:avLst/>
              </a:prstGeom>
              <a:blipFill>
                <a:blip r:embed="rId2"/>
                <a:stretch>
                  <a:fillRect/>
                </a:stretch>
              </a:blipFill>
            </p:spPr>
            <p:txBody>
              <a:bodyPr/>
              <a:lstStyle/>
              <a:p>
                <a:r>
                  <a:rPr lang="zh-CN" altLang="en-US">
                    <a:noFill/>
                  </a:rPr>
                  <a:t> </a:t>
                </a:r>
              </a:p>
            </p:txBody>
          </p:sp>
        </mc:Fallback>
      </mc:AlternateContent>
      <p:sp>
        <p:nvSpPr>
          <p:cNvPr id="284678" name="Text Box 6">
            <a:extLst>
              <a:ext uri="{FF2B5EF4-FFF2-40B4-BE49-F238E27FC236}">
                <a16:creationId xmlns:a16="http://schemas.microsoft.com/office/drawing/2014/main" id="{5488FDCC-ADB9-203F-C097-B14E22129118}"/>
              </a:ext>
            </a:extLst>
          </p:cNvPr>
          <p:cNvSpPr txBox="1">
            <a:spLocks noChangeArrowheads="1"/>
          </p:cNvSpPr>
          <p:nvPr/>
        </p:nvSpPr>
        <p:spPr bwMode="auto">
          <a:xfrm>
            <a:off x="1238803" y="4182758"/>
            <a:ext cx="8928100" cy="123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pPr>
            <a:r>
              <a:rPr lang="en-US" altLang="zh-CN" sz="2600" dirty="0"/>
              <a:t>- </a:t>
            </a:r>
            <a:r>
              <a:rPr lang="zh-CN" altLang="en-US" sz="2600" dirty="0"/>
              <a:t>若</a:t>
            </a:r>
            <a:r>
              <a:rPr lang="en-US" altLang="zh-CN" sz="2600" dirty="0"/>
              <a:t>Q</a:t>
            </a:r>
            <a:r>
              <a:rPr lang="zh-CN" altLang="en-US" sz="2600" baseline="-25000" dirty="0"/>
              <a:t>ａ</a:t>
            </a:r>
            <a:r>
              <a:rPr lang="en-US" altLang="zh-CN" sz="2600" dirty="0"/>
              <a:t>=Q</a:t>
            </a:r>
            <a:r>
              <a:rPr lang="zh-CN" altLang="en-US" sz="2600" baseline="-25000" dirty="0"/>
              <a:t>ｂ</a:t>
            </a:r>
            <a:r>
              <a:rPr lang="en-US" altLang="zh-CN" sz="2600" dirty="0"/>
              <a:t>=</a:t>
            </a:r>
            <a:r>
              <a:rPr lang="zh-CN" altLang="en-US" sz="2600" dirty="0"/>
              <a:t>Ｑ，</a:t>
            </a:r>
          </a:p>
          <a:p>
            <a:pPr algn="l">
              <a:lnSpc>
                <a:spcPct val="150000"/>
              </a:lnSpc>
            </a:pPr>
            <a:r>
              <a:rPr lang="zh-CN" altLang="en-US" sz="2600" dirty="0"/>
              <a:t>  则</a:t>
            </a:r>
            <a:r>
              <a:rPr lang="en-US" altLang="zh-CN" sz="2600" dirty="0"/>
              <a:t>σ</a:t>
            </a:r>
            <a:r>
              <a:rPr lang="en-US" altLang="zh-CN" sz="2600" baseline="-25000" dirty="0"/>
              <a:t>1</a:t>
            </a:r>
            <a:r>
              <a:rPr lang="en-US" altLang="zh-CN" sz="2600" dirty="0"/>
              <a:t>=σ</a:t>
            </a:r>
            <a:r>
              <a:rPr lang="en-US" altLang="zh-CN" sz="2600" baseline="-25000" dirty="0"/>
              <a:t>4</a:t>
            </a:r>
            <a:r>
              <a:rPr lang="en-US" altLang="zh-CN" sz="2600" dirty="0"/>
              <a:t>=Q/S </a:t>
            </a:r>
            <a:r>
              <a:rPr lang="zh-CN" altLang="en-US" sz="2600" dirty="0"/>
              <a:t>；</a:t>
            </a:r>
            <a:r>
              <a:rPr lang="en-US" altLang="zh-CN" sz="2600" dirty="0"/>
              <a:t>σ</a:t>
            </a:r>
            <a:r>
              <a:rPr lang="en-US" altLang="zh-CN" sz="2600" baseline="-25000" dirty="0"/>
              <a:t>2</a:t>
            </a:r>
            <a:r>
              <a:rPr lang="en-US" altLang="zh-CN" sz="2600" dirty="0"/>
              <a:t>=</a:t>
            </a:r>
            <a:r>
              <a:rPr lang="en-US" altLang="zh-CN" sz="2600" dirty="0">
                <a:sym typeface="Symbol" panose="05050102010706020507" pitchFamily="18" charset="2"/>
              </a:rPr>
              <a:t></a:t>
            </a:r>
            <a:r>
              <a:rPr lang="en-US" altLang="zh-CN" sz="2600" dirty="0"/>
              <a:t>σ</a:t>
            </a:r>
            <a:r>
              <a:rPr lang="en-US" altLang="zh-CN" sz="2600" baseline="-25000" dirty="0"/>
              <a:t>3</a:t>
            </a:r>
            <a:r>
              <a:rPr lang="en-US" altLang="zh-CN" sz="2600" dirty="0"/>
              <a:t>=0</a:t>
            </a:r>
          </a:p>
        </p:txBody>
      </p:sp>
      <p:sp>
        <p:nvSpPr>
          <p:cNvPr id="284679" name="Text Box 7">
            <a:extLst>
              <a:ext uri="{FF2B5EF4-FFF2-40B4-BE49-F238E27FC236}">
                <a16:creationId xmlns:a16="http://schemas.microsoft.com/office/drawing/2014/main" id="{BDE7EF1B-09EC-205F-4C00-3D55650C4547}"/>
              </a:ext>
            </a:extLst>
          </p:cNvPr>
          <p:cNvSpPr txBox="1">
            <a:spLocks noChangeArrowheads="1"/>
          </p:cNvSpPr>
          <p:nvPr/>
        </p:nvSpPr>
        <p:spPr bwMode="auto">
          <a:xfrm>
            <a:off x="1288867" y="5564576"/>
            <a:ext cx="8928100" cy="123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pPr>
            <a:r>
              <a:rPr lang="en-US" altLang="zh-CN" sz="2600" dirty="0"/>
              <a:t>- </a:t>
            </a:r>
            <a:r>
              <a:rPr lang="zh-CN" altLang="en-US" sz="2600" dirty="0"/>
              <a:t>若</a:t>
            </a:r>
            <a:r>
              <a:rPr lang="en-US" altLang="zh-CN" sz="2600" dirty="0"/>
              <a:t>Q</a:t>
            </a:r>
            <a:r>
              <a:rPr lang="zh-CN" altLang="en-US" sz="2600" baseline="-25000" dirty="0"/>
              <a:t>ｂ</a:t>
            </a:r>
            <a:r>
              <a:rPr lang="en-US" altLang="zh-CN" sz="2600" dirty="0"/>
              <a:t>=0,</a:t>
            </a:r>
          </a:p>
          <a:p>
            <a:pPr algn="l">
              <a:lnSpc>
                <a:spcPct val="150000"/>
              </a:lnSpc>
            </a:pPr>
            <a:r>
              <a:rPr lang="zh-CN" altLang="en-US" sz="2600" dirty="0"/>
              <a:t>  则</a:t>
            </a:r>
            <a:r>
              <a:rPr lang="en-US" altLang="zh-CN" sz="2600" dirty="0"/>
              <a:t>σ</a:t>
            </a:r>
            <a:r>
              <a:rPr lang="en-US" altLang="zh-CN" sz="2600" baseline="-25000" dirty="0"/>
              <a:t>1</a:t>
            </a:r>
            <a:r>
              <a:rPr lang="en-US" altLang="zh-CN" sz="2600" dirty="0"/>
              <a:t>=σ</a:t>
            </a:r>
            <a:r>
              <a:rPr lang="en-US" altLang="zh-CN" sz="2600" baseline="-25000" dirty="0"/>
              <a:t>4</a:t>
            </a:r>
            <a:r>
              <a:rPr lang="en-US" altLang="zh-CN" sz="2600" dirty="0"/>
              <a:t>=Q</a:t>
            </a:r>
            <a:r>
              <a:rPr lang="zh-CN" altLang="en-US" sz="2600" baseline="-25000" dirty="0"/>
              <a:t>ａ</a:t>
            </a:r>
            <a:r>
              <a:rPr lang="en-US" altLang="zh-CN" sz="2600" dirty="0"/>
              <a:t>/2S; σ</a:t>
            </a:r>
            <a:r>
              <a:rPr lang="en-US" altLang="zh-CN" sz="2600" baseline="-25000" dirty="0"/>
              <a:t>2</a:t>
            </a:r>
            <a:r>
              <a:rPr lang="en-US" altLang="zh-CN" sz="2600" dirty="0"/>
              <a:t>=</a:t>
            </a:r>
            <a:r>
              <a:rPr lang="en-US" altLang="zh-CN" sz="2600" dirty="0">
                <a:sym typeface="Symbol" panose="05050102010706020507" pitchFamily="18" charset="2"/>
              </a:rPr>
              <a:t></a:t>
            </a:r>
            <a:r>
              <a:rPr lang="en-US" altLang="zh-CN" sz="2600" dirty="0"/>
              <a:t>σ</a:t>
            </a:r>
            <a:r>
              <a:rPr lang="en-US" altLang="zh-CN" sz="2600" baseline="-25000" dirty="0"/>
              <a:t>3</a:t>
            </a:r>
            <a:r>
              <a:rPr lang="en-US" altLang="zh-CN" sz="2600" dirty="0"/>
              <a:t>=Q</a:t>
            </a:r>
            <a:r>
              <a:rPr lang="zh-CN" altLang="en-US" sz="2600" baseline="-25000" dirty="0"/>
              <a:t>ａ</a:t>
            </a:r>
            <a:r>
              <a:rPr lang="en-US" altLang="zh-CN" sz="2600" dirty="0"/>
              <a:t>/2S</a:t>
            </a:r>
          </a:p>
        </p:txBody>
      </p:sp>
    </p:spTree>
    <p:extLst>
      <p:ext uri="{BB962C8B-B14F-4D97-AF65-F5344CB8AC3E}">
        <p14:creationId xmlns:p14="http://schemas.microsoft.com/office/powerpoint/2010/main" val="196887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3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36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36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36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46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4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5" grpId="0"/>
      <p:bldP spid="283656" grpId="0" autoUpdateAnimBg="0"/>
      <p:bldP spid="283657" grpId="0" autoUpdateAnimBg="0"/>
      <p:bldP spid="283658" grpId="0" autoUpdateAnimBg="0"/>
      <p:bldP spid="284678" grpId="0" autoUpdateAnimBg="0"/>
      <p:bldP spid="28467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83010" y="560353"/>
            <a:ext cx="2470426" cy="1325563"/>
          </a:xfrm>
        </p:spPr>
        <p:txBody>
          <a:bodyPr>
            <a:normAutofit/>
          </a:bodyPr>
          <a:lstStyle/>
          <a:p>
            <a:r>
              <a:rPr lang="en-US" altLang="zh-CN" sz="32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32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板接地后</a:t>
            </a:r>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3843337" y="924122"/>
                <a:ext cx="7543801" cy="4463586"/>
              </a:xfrm>
            </p:spPr>
            <p:txBody>
              <a:bodyPr>
                <a:noAutofit/>
              </a:bodyPr>
              <a:lstStyle/>
              <a:p>
                <a:pPr marL="0" indent="0">
                  <a:lnSpc>
                    <a:spcPct val="150000"/>
                  </a:lnSpc>
                  <a:spcBef>
                    <a:spcPts val="600"/>
                  </a:spcBef>
                  <a:spcAft>
                    <a:spcPts val="600"/>
                  </a:spcAft>
                  <a:buNone/>
                </a:pPr>
                <a:r>
                  <a:rPr lang="en-US" altLang="zh-CN"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与地球连成一体，金属板右表面上的电荷分散到地球上，直至趋近于零</a:t>
                </a:r>
                <a:endParaRPr lang="en-US" altLang="zh-CN" i="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50000"/>
                  </a:lnSpc>
                  <a:spcBef>
                    <a:spcPts val="600"/>
                  </a:spcBef>
                  <a:spcAft>
                    <a:spcPts val="600"/>
                  </a:spcAft>
                  <a:buNone/>
                </a:pP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ea typeface="华文新魏" panose="02010800040101010101" pitchFamily="2" charset="-122"/>
                            </a:rPr>
                          </m:ctrlPr>
                        </m:sSubPr>
                        <m:e>
                          <m:r>
                            <a:rPr lang="zh-CN" altLang="en-US" b="0" i="1" dirty="0">
                              <a:solidFill>
                                <a:schemeClr val="tx1"/>
                              </a:solidFill>
                              <a:latin typeface="Cambria Math" panose="02040503050406030204" pitchFamily="18" charset="0"/>
                              <a:ea typeface="华文新魏" panose="02010800040101010101" pitchFamily="2" charset="-122"/>
                            </a:rPr>
                            <m:t>𝜎</m:t>
                          </m:r>
                        </m:e>
                        <m:sub>
                          <m:r>
                            <a:rPr lang="en-US" altLang="zh-CN" b="0" i="1" dirty="0">
                              <a:solidFill>
                                <a:schemeClr val="tx1"/>
                              </a:solidFill>
                              <a:latin typeface="Cambria Math" panose="02040503050406030204" pitchFamily="18" charset="0"/>
                              <a:ea typeface="华文新魏" panose="02010800040101010101" pitchFamily="2" charset="-122"/>
                            </a:rPr>
                            <m:t>4</m:t>
                          </m:r>
                        </m:sub>
                      </m:sSub>
                      <m:r>
                        <a:rPr lang="en-US" altLang="zh-CN" b="0" i="1" dirty="0">
                          <a:solidFill>
                            <a:schemeClr val="tx1"/>
                          </a:solidFill>
                          <a:latin typeface="Cambria Math" panose="02040503050406030204" pitchFamily="18" charset="0"/>
                          <a:ea typeface="华文新魏" panose="02010800040101010101" pitchFamily="2" charset="-122"/>
                        </a:rPr>
                        <m:t>=0</m:t>
                      </m:r>
                    </m:oMath>
                  </m:oMathPara>
                </a14:m>
                <a:endParaRPr lang="en-US" altLang="zh-CN"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50000"/>
                  </a:lnSpc>
                  <a:spcBef>
                    <a:spcPts val="600"/>
                  </a:spcBef>
                  <a:spcAft>
                    <a:spcPts val="600"/>
                  </a:spcAft>
                  <a:buNone/>
                </a:pPr>
                <a:r>
                  <a:rPr lang="zh-CN" altLang="en-US"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静电平衡时，仍有</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50000"/>
                  </a:lnSpc>
                  <a:spcBef>
                    <a:spcPts val="600"/>
                  </a:spcBef>
                  <a:spcAft>
                    <a:spcPts val="600"/>
                  </a:spcAft>
                  <a:buNone/>
                </a:pP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ea typeface="华文新魏" panose="02010800040101010101" pitchFamily="2" charset="-122"/>
                            </a:rPr>
                          </m:ctrlPr>
                        </m:sSubPr>
                        <m:e>
                          <m:r>
                            <a:rPr lang="zh-CN" altLang="en-US" b="0" i="1" dirty="0">
                              <a:solidFill>
                                <a:schemeClr val="tx1"/>
                              </a:solidFill>
                              <a:latin typeface="Cambria Math" panose="02040503050406030204" pitchFamily="18" charset="0"/>
                              <a:ea typeface="华文新魏" panose="02010800040101010101" pitchFamily="2" charset="-122"/>
                            </a:rPr>
                            <m:t>𝜎</m:t>
                          </m:r>
                        </m:e>
                        <m:sub>
                          <m:r>
                            <a:rPr lang="en-US" altLang="zh-CN" b="0" i="1" dirty="0">
                              <a:solidFill>
                                <a:schemeClr val="tx1"/>
                              </a:solidFill>
                              <a:latin typeface="Cambria Math" panose="02040503050406030204" pitchFamily="18" charset="0"/>
                              <a:ea typeface="华文新魏" panose="02010800040101010101" pitchFamily="2" charset="-122"/>
                            </a:rPr>
                            <m:t>2</m:t>
                          </m:r>
                        </m:sub>
                      </m:sSub>
                      <m:r>
                        <a:rPr lang="en-US" altLang="zh-CN" b="0" i="1" dirty="0">
                          <a:solidFill>
                            <a:schemeClr val="tx1"/>
                          </a:solidFill>
                          <a:latin typeface="Cambria Math" panose="02040503050406030204" pitchFamily="18" charset="0"/>
                          <a:ea typeface="华文新魏" panose="02010800040101010101" pitchFamily="2" charset="-122"/>
                        </a:rPr>
                        <m:t>=−</m:t>
                      </m:r>
                      <m:sSub>
                        <m:sSubPr>
                          <m:ctrlPr>
                            <a:rPr lang="en-US" altLang="zh-CN" i="1" dirty="0">
                              <a:solidFill>
                                <a:schemeClr val="tx1"/>
                              </a:solidFill>
                              <a:latin typeface="Cambria Math" panose="02040503050406030204" pitchFamily="18" charset="0"/>
                              <a:ea typeface="华文新魏" panose="02010800040101010101" pitchFamily="2" charset="-122"/>
                            </a:rPr>
                          </m:ctrlPr>
                        </m:sSubPr>
                        <m:e>
                          <m:r>
                            <a:rPr lang="zh-CN" altLang="en-US" b="0" i="1" dirty="0">
                              <a:solidFill>
                                <a:schemeClr val="tx1"/>
                              </a:solidFill>
                              <a:latin typeface="Cambria Math" panose="02040503050406030204" pitchFamily="18" charset="0"/>
                              <a:ea typeface="华文新魏" panose="02010800040101010101" pitchFamily="2" charset="-122"/>
                            </a:rPr>
                            <m:t>𝜎</m:t>
                          </m:r>
                        </m:e>
                        <m:sub>
                          <m:r>
                            <a:rPr lang="en-US" altLang="zh-CN" b="0" i="1" dirty="0">
                              <a:solidFill>
                                <a:schemeClr val="tx1"/>
                              </a:solidFill>
                              <a:latin typeface="Cambria Math" panose="02040503050406030204" pitchFamily="18" charset="0"/>
                              <a:ea typeface="华文新魏" panose="02010800040101010101" pitchFamily="2" charset="-122"/>
                            </a:rPr>
                            <m:t>3</m:t>
                          </m:r>
                        </m:sub>
                      </m:sSub>
                      <m:r>
                        <a:rPr lang="zh-CN" altLang="en-US" b="0" i="1" dirty="0" smtClean="0">
                          <a:solidFill>
                            <a:schemeClr val="tx1"/>
                          </a:solidFill>
                          <a:latin typeface="Cambria Math" panose="02040503050406030204" pitchFamily="18" charset="0"/>
                          <a:ea typeface="华文新魏" panose="02010800040101010101" pitchFamily="2" charset="-122"/>
                        </a:rPr>
                        <m:t>，</m:t>
                      </m:r>
                      <m:d>
                        <m:dPr>
                          <m:ctrlPr>
                            <a:rPr lang="en-US" altLang="zh-CN" i="1" dirty="0">
                              <a:solidFill>
                                <a:schemeClr val="tx1"/>
                              </a:solidFill>
                              <a:latin typeface="Cambria Math" panose="02040503050406030204" pitchFamily="18" charset="0"/>
                              <a:ea typeface="华文新魏" panose="02010800040101010101" pitchFamily="2" charset="-122"/>
                            </a:rPr>
                          </m:ctrlPr>
                        </m:dPr>
                        <m:e>
                          <m:sSub>
                            <m:sSubPr>
                              <m:ctrlPr>
                                <a:rPr lang="en-US" altLang="zh-CN" i="1" dirty="0">
                                  <a:solidFill>
                                    <a:schemeClr val="tx1"/>
                                  </a:solidFill>
                                  <a:latin typeface="Cambria Math" panose="02040503050406030204" pitchFamily="18" charset="0"/>
                                  <a:ea typeface="华文新魏" panose="02010800040101010101" pitchFamily="2" charset="-122"/>
                                </a:rPr>
                              </m:ctrlPr>
                            </m:sSubPr>
                            <m:e>
                              <m:r>
                                <a:rPr lang="zh-CN" altLang="en-US" b="0" i="1" dirty="0">
                                  <a:solidFill>
                                    <a:schemeClr val="tx1"/>
                                  </a:solidFill>
                                  <a:latin typeface="Cambria Math" panose="02040503050406030204" pitchFamily="18" charset="0"/>
                                  <a:ea typeface="华文新魏" panose="02010800040101010101" pitchFamily="2" charset="-122"/>
                                </a:rPr>
                                <m:t>𝜎</m:t>
                              </m:r>
                            </m:e>
                            <m:sub>
                              <m:r>
                                <a:rPr lang="en-US" altLang="zh-CN" b="0" i="1" dirty="0">
                                  <a:solidFill>
                                    <a:schemeClr val="tx1"/>
                                  </a:solidFill>
                                  <a:latin typeface="Cambria Math" panose="02040503050406030204" pitchFamily="18" charset="0"/>
                                  <a:ea typeface="华文新魏" panose="02010800040101010101" pitchFamily="2" charset="-122"/>
                                </a:rPr>
                                <m:t>1</m:t>
                              </m:r>
                            </m:sub>
                          </m:sSub>
                          <m:r>
                            <a:rPr lang="en-US" altLang="zh-CN" b="0" i="1" dirty="0">
                              <a:solidFill>
                                <a:schemeClr val="tx1"/>
                              </a:solidFill>
                              <a:latin typeface="Cambria Math" panose="02040503050406030204" pitchFamily="18" charset="0"/>
                              <a:ea typeface="华文新魏" panose="02010800040101010101" pitchFamily="2" charset="-122"/>
                            </a:rPr>
                            <m:t>+</m:t>
                          </m:r>
                          <m:sSub>
                            <m:sSubPr>
                              <m:ctrlPr>
                                <a:rPr lang="en-US" altLang="zh-CN" i="1" dirty="0">
                                  <a:solidFill>
                                    <a:schemeClr val="tx1"/>
                                  </a:solidFill>
                                  <a:latin typeface="Cambria Math" panose="02040503050406030204" pitchFamily="18" charset="0"/>
                                  <a:ea typeface="华文新魏" panose="02010800040101010101" pitchFamily="2" charset="-122"/>
                                </a:rPr>
                              </m:ctrlPr>
                            </m:sSubPr>
                            <m:e>
                              <m:r>
                                <a:rPr lang="zh-CN" altLang="en-US" b="0" i="1" dirty="0">
                                  <a:solidFill>
                                    <a:schemeClr val="tx1"/>
                                  </a:solidFill>
                                  <a:latin typeface="Cambria Math" panose="02040503050406030204" pitchFamily="18" charset="0"/>
                                  <a:ea typeface="华文新魏" panose="02010800040101010101" pitchFamily="2" charset="-122"/>
                                </a:rPr>
                                <m:t>𝜎</m:t>
                              </m:r>
                            </m:e>
                            <m:sub>
                              <m:r>
                                <a:rPr lang="en-US" altLang="zh-CN" b="0" i="1" dirty="0">
                                  <a:solidFill>
                                    <a:schemeClr val="tx1"/>
                                  </a:solidFill>
                                  <a:latin typeface="Cambria Math" panose="02040503050406030204" pitchFamily="18" charset="0"/>
                                  <a:ea typeface="华文新魏" panose="02010800040101010101" pitchFamily="2" charset="-122"/>
                                </a:rPr>
                                <m:t>2</m:t>
                              </m:r>
                            </m:sub>
                          </m:sSub>
                        </m:e>
                      </m:d>
                      <m:r>
                        <a:rPr lang="en-US" altLang="zh-CN" b="0" i="1" dirty="0">
                          <a:solidFill>
                            <a:schemeClr val="tx1"/>
                          </a:solidFill>
                          <a:latin typeface="Cambria Math" panose="02040503050406030204" pitchFamily="18" charset="0"/>
                          <a:ea typeface="华文新魏" panose="02010800040101010101" pitchFamily="2" charset="-122"/>
                        </a:rPr>
                        <m:t>𝑆</m:t>
                      </m:r>
                      <m:r>
                        <a:rPr lang="en-US" altLang="zh-CN" b="0" i="1" dirty="0">
                          <a:solidFill>
                            <a:schemeClr val="tx1"/>
                          </a:solidFill>
                          <a:latin typeface="Cambria Math" panose="02040503050406030204" pitchFamily="18" charset="0"/>
                          <a:ea typeface="华文新魏" panose="02010800040101010101" pitchFamily="2" charset="-122"/>
                        </a:rPr>
                        <m:t>=</m:t>
                      </m:r>
                      <m:sSub>
                        <m:sSubPr>
                          <m:ctrlPr>
                            <a:rPr lang="en-US" altLang="zh-CN" i="1" dirty="0">
                              <a:solidFill>
                                <a:schemeClr val="tx1"/>
                              </a:solidFill>
                              <a:latin typeface="Cambria Math" panose="02040503050406030204" pitchFamily="18" charset="0"/>
                              <a:ea typeface="华文新魏" panose="02010800040101010101" pitchFamily="2" charset="-122"/>
                            </a:rPr>
                          </m:ctrlPr>
                        </m:sSubPr>
                        <m:e>
                          <m:r>
                            <a:rPr lang="en-US" altLang="zh-CN" b="0" i="1" dirty="0">
                              <a:solidFill>
                                <a:schemeClr val="tx1"/>
                              </a:solidFill>
                              <a:latin typeface="Cambria Math" panose="02040503050406030204" pitchFamily="18" charset="0"/>
                              <a:ea typeface="华文新魏" panose="02010800040101010101" pitchFamily="2" charset="-122"/>
                            </a:rPr>
                            <m:t>𝑄</m:t>
                          </m:r>
                        </m:e>
                        <m:sub>
                          <m:r>
                            <a:rPr lang="en-US" altLang="zh-CN" b="0" i="1" dirty="0">
                              <a:solidFill>
                                <a:schemeClr val="tx1"/>
                              </a:solidFill>
                              <a:latin typeface="Cambria Math" panose="02040503050406030204" pitchFamily="18" charset="0"/>
                              <a:ea typeface="华文新魏" panose="02010800040101010101" pitchFamily="2" charset="-122"/>
                            </a:rPr>
                            <m:t>𝐴</m:t>
                          </m:r>
                        </m:sub>
                      </m:sSub>
                    </m:oMath>
                  </m:oMathPara>
                </a14:m>
                <a:endParaRPr lang="en-US" altLang="zh-CN" i="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50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n-US" b="0" i="1">
                          <a:solidFill>
                            <a:srgbClr val="000000"/>
                          </a:solidFill>
                          <a:latin typeface="Cambria Math" panose="02040503050406030204" pitchFamily="18" charset="0"/>
                        </a:rPr>
                        <m:t>𝐸</m:t>
                      </m:r>
                      <m:r>
                        <a:rPr lang="en-US" b="0"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𝜎</m:t>
                              </m:r>
                            </m:e>
                            <m:sub>
                              <m:r>
                                <a:rPr lang="en-US" b="0" i="1">
                                  <a:solidFill>
                                    <a:srgbClr val="000000"/>
                                  </a:solidFill>
                                  <a:latin typeface="Cambria Math" panose="02040503050406030204" pitchFamily="18" charset="0"/>
                                </a:rPr>
                                <m:t>1</m:t>
                              </m:r>
                            </m:sub>
                          </m:sSub>
                        </m:num>
                        <m:den>
                          <m:r>
                            <a:rPr lang="en-US" b="0"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𝜀</m:t>
                              </m:r>
                            </m:e>
                            <m:sub>
                              <m:r>
                                <a:rPr lang="en-US" b="0" i="1">
                                  <a:solidFill>
                                    <a:srgbClr val="000000"/>
                                  </a:solidFill>
                                  <a:latin typeface="Cambria Math" panose="02040503050406030204" pitchFamily="18" charset="0"/>
                                </a:rPr>
                                <m:t>0</m:t>
                              </m:r>
                            </m:sub>
                          </m:sSub>
                        </m:den>
                      </m:f>
                      <m:r>
                        <a:rPr lang="en-US" b="0"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𝜎</m:t>
                              </m:r>
                            </m:e>
                            <m:sub>
                              <m:r>
                                <a:rPr lang="en-US" b="0" i="1">
                                  <a:solidFill>
                                    <a:srgbClr val="000000"/>
                                  </a:solidFill>
                                  <a:latin typeface="Cambria Math" panose="02040503050406030204" pitchFamily="18" charset="0"/>
                                </a:rPr>
                                <m:t>2</m:t>
                              </m:r>
                            </m:sub>
                          </m:sSub>
                        </m:num>
                        <m:den>
                          <m:r>
                            <a:rPr lang="en-US" b="0"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𝜀</m:t>
                              </m:r>
                            </m:e>
                            <m:sub>
                              <m:r>
                                <a:rPr lang="en-US" b="0" i="1">
                                  <a:solidFill>
                                    <a:srgbClr val="000000"/>
                                  </a:solidFill>
                                  <a:latin typeface="Cambria Math" panose="02040503050406030204" pitchFamily="18" charset="0"/>
                                </a:rPr>
                                <m:t>0</m:t>
                              </m:r>
                            </m:sub>
                          </m:sSub>
                        </m:den>
                      </m:f>
                      <m:r>
                        <a:rPr lang="en-US" b="0"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𝜎</m:t>
                              </m:r>
                            </m:e>
                            <m:sub>
                              <m:r>
                                <a:rPr lang="en-US" b="0" i="1">
                                  <a:solidFill>
                                    <a:srgbClr val="000000"/>
                                  </a:solidFill>
                                  <a:latin typeface="Cambria Math" panose="02040503050406030204" pitchFamily="18" charset="0"/>
                                </a:rPr>
                                <m:t>3</m:t>
                              </m:r>
                            </m:sub>
                          </m:sSub>
                        </m:num>
                        <m:den>
                          <m:r>
                            <a:rPr lang="en-US" b="0"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𝜀</m:t>
                              </m:r>
                            </m:e>
                            <m:sub>
                              <m:r>
                                <a:rPr lang="en-US" b="0" i="1">
                                  <a:solidFill>
                                    <a:srgbClr val="000000"/>
                                  </a:solidFill>
                                  <a:latin typeface="Cambria Math" panose="02040503050406030204" pitchFamily="18" charset="0"/>
                                </a:rPr>
                                <m:t>0</m:t>
                              </m:r>
                            </m:sub>
                          </m:sSub>
                        </m:den>
                      </m:f>
                      <m:r>
                        <a:rPr lang="en-US" b="0" i="1">
                          <a:solidFill>
                            <a:srgbClr val="000000"/>
                          </a:solidFill>
                          <a:latin typeface="Cambria Math" panose="02040503050406030204" pitchFamily="18" charset="0"/>
                        </a:rPr>
                        <m:t>=0</m:t>
                      </m:r>
                    </m:oMath>
                  </m:oMathPara>
                </a14:m>
                <a:endParaRPr lang="en-US" dirty="0"/>
              </a:p>
              <a:p>
                <a:pPr marL="0" indent="0">
                  <a:lnSpc>
                    <a:spcPct val="150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n-US" altLang="zh-CN" b="0" i="1" dirty="0" smtClean="0">
                          <a:solidFill>
                            <a:srgbClr val="0066FF"/>
                          </a:solidFill>
                          <a:latin typeface="Cambria Math" panose="02040503050406030204" pitchFamily="18" charset="0"/>
                          <a:ea typeface="Cambria Math" panose="02040503050406030204" pitchFamily="18" charset="0"/>
                        </a:rPr>
                        <m:t>→</m:t>
                      </m:r>
                      <m:sSub>
                        <m:sSubPr>
                          <m:ctrlPr>
                            <a:rPr lang="en-US" altLang="zh-CN" i="1" dirty="0">
                              <a:solidFill>
                                <a:srgbClr val="0066FF"/>
                              </a:solidFill>
                              <a:latin typeface="Cambria Math" panose="02040503050406030204" pitchFamily="18" charset="0"/>
                              <a:ea typeface="华文新魏" panose="02010800040101010101" pitchFamily="2" charset="-122"/>
                            </a:rPr>
                          </m:ctrlPr>
                        </m:sSubPr>
                        <m:e>
                          <m:r>
                            <a:rPr lang="zh-CN" altLang="en-US" b="0" i="1" dirty="0">
                              <a:solidFill>
                                <a:srgbClr val="0066FF"/>
                              </a:solidFill>
                              <a:latin typeface="Cambria Math" panose="02040503050406030204" pitchFamily="18" charset="0"/>
                              <a:ea typeface="华文新魏" panose="02010800040101010101" pitchFamily="2" charset="-122"/>
                            </a:rPr>
                            <m:t>𝜎</m:t>
                          </m:r>
                        </m:e>
                        <m:sub>
                          <m:r>
                            <a:rPr lang="en-US" altLang="zh-CN" b="0" i="1" dirty="0">
                              <a:solidFill>
                                <a:srgbClr val="0066FF"/>
                              </a:solidFill>
                              <a:latin typeface="Cambria Math" panose="02040503050406030204" pitchFamily="18" charset="0"/>
                              <a:ea typeface="华文新魏" panose="02010800040101010101" pitchFamily="2" charset="-122"/>
                            </a:rPr>
                            <m:t>2</m:t>
                          </m:r>
                        </m:sub>
                      </m:sSub>
                      <m:r>
                        <a:rPr lang="en-US" altLang="zh-CN" b="0" i="1" dirty="0">
                          <a:solidFill>
                            <a:srgbClr val="0066FF"/>
                          </a:solidFill>
                          <a:latin typeface="Cambria Math" panose="02040503050406030204" pitchFamily="18" charset="0"/>
                          <a:ea typeface="华文新魏" panose="02010800040101010101" pitchFamily="2" charset="-122"/>
                        </a:rPr>
                        <m:t>=−</m:t>
                      </m:r>
                      <m:sSub>
                        <m:sSubPr>
                          <m:ctrlPr>
                            <a:rPr lang="en-US" altLang="zh-CN" i="1" dirty="0">
                              <a:solidFill>
                                <a:srgbClr val="0066FF"/>
                              </a:solidFill>
                              <a:latin typeface="Cambria Math" panose="02040503050406030204" pitchFamily="18" charset="0"/>
                              <a:ea typeface="华文新魏" panose="02010800040101010101" pitchFamily="2" charset="-122"/>
                            </a:rPr>
                          </m:ctrlPr>
                        </m:sSubPr>
                        <m:e>
                          <m:r>
                            <a:rPr lang="zh-CN" altLang="en-US" b="0" i="1" dirty="0">
                              <a:solidFill>
                                <a:srgbClr val="0066FF"/>
                              </a:solidFill>
                              <a:latin typeface="Cambria Math" panose="02040503050406030204" pitchFamily="18" charset="0"/>
                              <a:ea typeface="华文新魏" panose="02010800040101010101" pitchFamily="2" charset="-122"/>
                            </a:rPr>
                            <m:t>𝜎</m:t>
                          </m:r>
                        </m:e>
                        <m:sub>
                          <m:r>
                            <a:rPr lang="en-US" altLang="zh-CN" b="0" i="1" dirty="0">
                              <a:solidFill>
                                <a:srgbClr val="0066FF"/>
                              </a:solidFill>
                              <a:latin typeface="Cambria Math" panose="02040503050406030204" pitchFamily="18" charset="0"/>
                              <a:ea typeface="华文新魏" panose="02010800040101010101" pitchFamily="2" charset="-122"/>
                            </a:rPr>
                            <m:t>3</m:t>
                          </m:r>
                        </m:sub>
                      </m:sSub>
                      <m:r>
                        <a:rPr lang="en-US" altLang="zh-CN" b="0" dirty="0">
                          <a:solidFill>
                            <a:srgbClr val="0066FF"/>
                          </a:solidFill>
                          <a:latin typeface="Cambria Math" panose="02040503050406030204" pitchFamily="18" charset="0"/>
                          <a:ea typeface="华文新魏" panose="02010800040101010101" pitchFamily="2" charset="-122"/>
                        </a:rPr>
                        <m:t>=</m:t>
                      </m:r>
                      <m:f>
                        <m:fPr>
                          <m:type m:val="lin"/>
                          <m:ctrlPr>
                            <a:rPr lang="en-US" altLang="zh-CN" i="1" dirty="0">
                              <a:solidFill>
                                <a:srgbClr val="0066FF"/>
                              </a:solidFill>
                              <a:latin typeface="Cambria Math" panose="02040503050406030204" pitchFamily="18" charset="0"/>
                              <a:ea typeface="华文新魏" panose="02010800040101010101" pitchFamily="2" charset="-122"/>
                            </a:rPr>
                          </m:ctrlPr>
                        </m:fPr>
                        <m:num>
                          <m:sSub>
                            <m:sSubPr>
                              <m:ctrlPr>
                                <a:rPr lang="en-US" altLang="zh-CN" i="1" dirty="0">
                                  <a:solidFill>
                                    <a:srgbClr val="0066FF"/>
                                  </a:solidFill>
                                  <a:latin typeface="Cambria Math" panose="02040503050406030204" pitchFamily="18" charset="0"/>
                                  <a:ea typeface="华文新魏" panose="02010800040101010101" pitchFamily="2" charset="-122"/>
                                </a:rPr>
                              </m:ctrlPr>
                            </m:sSubPr>
                            <m:e>
                              <m:r>
                                <a:rPr lang="en-US" altLang="zh-CN" b="0" i="1" dirty="0">
                                  <a:solidFill>
                                    <a:srgbClr val="0066FF"/>
                                  </a:solidFill>
                                  <a:latin typeface="Cambria Math" panose="02040503050406030204" pitchFamily="18" charset="0"/>
                                  <a:ea typeface="华文新魏" panose="02010800040101010101" pitchFamily="2" charset="-122"/>
                                </a:rPr>
                                <m:t>𝑄</m:t>
                              </m:r>
                            </m:e>
                            <m:sub>
                              <m:r>
                                <a:rPr lang="en-US" altLang="zh-CN" b="0" i="1" dirty="0">
                                  <a:solidFill>
                                    <a:srgbClr val="0066FF"/>
                                  </a:solidFill>
                                  <a:latin typeface="Cambria Math" panose="02040503050406030204" pitchFamily="18" charset="0"/>
                                  <a:ea typeface="华文新魏" panose="02010800040101010101" pitchFamily="2" charset="-122"/>
                                </a:rPr>
                                <m:t>𝐴</m:t>
                              </m:r>
                            </m:sub>
                          </m:sSub>
                        </m:num>
                        <m:den>
                          <m:r>
                            <a:rPr lang="en-US" altLang="zh-CN" b="0" i="1" dirty="0">
                              <a:solidFill>
                                <a:srgbClr val="0066FF"/>
                              </a:solidFill>
                              <a:latin typeface="Cambria Math" panose="02040503050406030204" pitchFamily="18" charset="0"/>
                              <a:ea typeface="华文新魏" panose="02010800040101010101" pitchFamily="2" charset="-122"/>
                            </a:rPr>
                            <m:t>𝑆</m:t>
                          </m:r>
                        </m:den>
                      </m:f>
                    </m:oMath>
                  </m:oMathPara>
                </a14:m>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内容占位符 4"/>
              <p:cNvSpPr>
                <a:spLocks noGrp="1" noRot="1" noChangeAspect="1" noMove="1" noResize="1" noEditPoints="1" noAdjustHandles="1" noChangeArrowheads="1" noChangeShapeType="1" noTextEdit="1"/>
              </p:cNvSpPr>
              <p:nvPr>
                <p:ph idx="1"/>
              </p:nvPr>
            </p:nvSpPr>
            <p:spPr>
              <a:xfrm>
                <a:off x="3843337" y="924122"/>
                <a:ext cx="7543801" cy="4463586"/>
              </a:xfrm>
              <a:blipFill>
                <a:blip r:embed="rId2"/>
                <a:stretch>
                  <a:fillRect l="-1616" r="-1050" b="-22404"/>
                </a:stretch>
              </a:blipFill>
            </p:spPr>
            <p:txBody>
              <a:bodyPr/>
              <a:lstStyle/>
              <a:p>
                <a:r>
                  <a:rPr lang="en-US">
                    <a:noFill/>
                  </a:rPr>
                  <a:t> </a:t>
                </a:r>
              </a:p>
            </p:txBody>
          </p:sp>
        </mc:Fallback>
      </mc:AlternateContent>
      <p:grpSp>
        <p:nvGrpSpPr>
          <p:cNvPr id="6" name="Group 41">
            <a:extLst>
              <a:ext uri="{FF2B5EF4-FFF2-40B4-BE49-F238E27FC236}">
                <a16:creationId xmlns:a16="http://schemas.microsoft.com/office/drawing/2014/main" id="{5F37005E-E6F3-4CEC-A38D-48E97724FE86}"/>
              </a:ext>
            </a:extLst>
          </p:cNvPr>
          <p:cNvGrpSpPr>
            <a:grpSpLocks/>
          </p:cNvGrpSpPr>
          <p:nvPr/>
        </p:nvGrpSpPr>
        <p:grpSpPr bwMode="auto">
          <a:xfrm>
            <a:off x="276710" y="2000216"/>
            <a:ext cx="2889250" cy="2459037"/>
            <a:chOff x="3510" y="1609"/>
            <a:chExt cx="1820" cy="1549"/>
          </a:xfrm>
        </p:grpSpPr>
        <p:sp>
          <p:nvSpPr>
            <p:cNvPr id="7" name="Line 42">
              <a:extLst>
                <a:ext uri="{FF2B5EF4-FFF2-40B4-BE49-F238E27FC236}">
                  <a16:creationId xmlns:a16="http://schemas.microsoft.com/office/drawing/2014/main" id="{E84B6AF7-82AC-452A-93DE-4E12D0C87BCC}"/>
                </a:ext>
              </a:extLst>
            </p:cNvPr>
            <p:cNvSpPr>
              <a:spLocks noChangeShapeType="1"/>
            </p:cNvSpPr>
            <p:nvPr/>
          </p:nvSpPr>
          <p:spPr bwMode="auto">
            <a:xfrm flipH="1">
              <a:off x="3745"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43">
              <a:extLst>
                <a:ext uri="{FF2B5EF4-FFF2-40B4-BE49-F238E27FC236}">
                  <a16:creationId xmlns:a16="http://schemas.microsoft.com/office/drawing/2014/main" id="{5507CDD6-91FA-44FD-8E23-AE55C59C473A}"/>
                </a:ext>
              </a:extLst>
            </p:cNvPr>
            <p:cNvSpPr>
              <a:spLocks noChangeShapeType="1"/>
            </p:cNvSpPr>
            <p:nvPr/>
          </p:nvSpPr>
          <p:spPr bwMode="auto">
            <a:xfrm flipH="1">
              <a:off x="3985"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44">
              <a:extLst>
                <a:ext uri="{FF2B5EF4-FFF2-40B4-BE49-F238E27FC236}">
                  <a16:creationId xmlns:a16="http://schemas.microsoft.com/office/drawing/2014/main" id="{4224F240-ACC6-47EC-899E-75A4AF313BD4}"/>
                </a:ext>
              </a:extLst>
            </p:cNvPr>
            <p:cNvSpPr>
              <a:spLocks noChangeShapeType="1"/>
            </p:cNvSpPr>
            <p:nvPr/>
          </p:nvSpPr>
          <p:spPr bwMode="auto">
            <a:xfrm>
              <a:off x="3745" y="219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45">
              <a:extLst>
                <a:ext uri="{FF2B5EF4-FFF2-40B4-BE49-F238E27FC236}">
                  <a16:creationId xmlns:a16="http://schemas.microsoft.com/office/drawing/2014/main" id="{FEF4FD57-BBA3-4216-A7EA-FCEFE78E67AA}"/>
                </a:ext>
              </a:extLst>
            </p:cNvPr>
            <p:cNvSpPr>
              <a:spLocks noChangeShapeType="1"/>
            </p:cNvSpPr>
            <p:nvPr/>
          </p:nvSpPr>
          <p:spPr bwMode="auto">
            <a:xfrm>
              <a:off x="4417" y="176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46">
              <a:extLst>
                <a:ext uri="{FF2B5EF4-FFF2-40B4-BE49-F238E27FC236}">
                  <a16:creationId xmlns:a16="http://schemas.microsoft.com/office/drawing/2014/main" id="{7B762326-16B4-4FA0-8B12-ACDD374A2546}"/>
                </a:ext>
              </a:extLst>
            </p:cNvPr>
            <p:cNvSpPr>
              <a:spLocks noChangeShapeType="1"/>
            </p:cNvSpPr>
            <p:nvPr/>
          </p:nvSpPr>
          <p:spPr bwMode="auto">
            <a:xfrm>
              <a:off x="3985"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47">
              <a:extLst>
                <a:ext uri="{FF2B5EF4-FFF2-40B4-BE49-F238E27FC236}">
                  <a16:creationId xmlns:a16="http://schemas.microsoft.com/office/drawing/2014/main" id="{9EAE67EB-A2D5-4F9B-A4AF-DD21CAE1D0A1}"/>
                </a:ext>
              </a:extLst>
            </p:cNvPr>
            <p:cNvSpPr>
              <a:spLocks noChangeShapeType="1"/>
            </p:cNvSpPr>
            <p:nvPr/>
          </p:nvSpPr>
          <p:spPr bwMode="auto">
            <a:xfrm>
              <a:off x="3745"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48">
              <a:extLst>
                <a:ext uri="{FF2B5EF4-FFF2-40B4-BE49-F238E27FC236}">
                  <a16:creationId xmlns:a16="http://schemas.microsoft.com/office/drawing/2014/main" id="{5869EBEC-F167-4B94-9043-65CDC68F8CFF}"/>
                </a:ext>
              </a:extLst>
            </p:cNvPr>
            <p:cNvSpPr>
              <a:spLocks noChangeShapeType="1"/>
            </p:cNvSpPr>
            <p:nvPr/>
          </p:nvSpPr>
          <p:spPr bwMode="auto">
            <a:xfrm>
              <a:off x="3745" y="315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49">
              <a:extLst>
                <a:ext uri="{FF2B5EF4-FFF2-40B4-BE49-F238E27FC236}">
                  <a16:creationId xmlns:a16="http://schemas.microsoft.com/office/drawing/2014/main" id="{B9AA1085-5646-46C1-AC3A-D06678C9A1BD}"/>
                </a:ext>
              </a:extLst>
            </p:cNvPr>
            <p:cNvSpPr>
              <a:spLocks noChangeShapeType="1"/>
            </p:cNvSpPr>
            <p:nvPr/>
          </p:nvSpPr>
          <p:spPr bwMode="auto">
            <a:xfrm flipV="1">
              <a:off x="3985" y="2870"/>
              <a:ext cx="432"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50">
              <a:extLst>
                <a:ext uri="{FF2B5EF4-FFF2-40B4-BE49-F238E27FC236}">
                  <a16:creationId xmlns:a16="http://schemas.microsoft.com/office/drawing/2014/main" id="{BEEC6C4A-3576-4C85-9FF2-D87FA796E6B0}"/>
                </a:ext>
              </a:extLst>
            </p:cNvPr>
            <p:cNvSpPr>
              <a:spLocks noChangeShapeType="1"/>
            </p:cNvSpPr>
            <p:nvPr/>
          </p:nvSpPr>
          <p:spPr bwMode="auto">
            <a:xfrm flipH="1">
              <a:off x="4417"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51">
              <a:extLst>
                <a:ext uri="{FF2B5EF4-FFF2-40B4-BE49-F238E27FC236}">
                  <a16:creationId xmlns:a16="http://schemas.microsoft.com/office/drawing/2014/main" id="{739E7AC1-9E42-4D55-859D-7EAA72487014}"/>
                </a:ext>
              </a:extLst>
            </p:cNvPr>
            <p:cNvSpPr>
              <a:spLocks noChangeShapeType="1"/>
            </p:cNvSpPr>
            <p:nvPr/>
          </p:nvSpPr>
          <p:spPr bwMode="auto">
            <a:xfrm flipH="1">
              <a:off x="4657"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52">
              <a:extLst>
                <a:ext uri="{FF2B5EF4-FFF2-40B4-BE49-F238E27FC236}">
                  <a16:creationId xmlns:a16="http://schemas.microsoft.com/office/drawing/2014/main" id="{DCB433A1-1D84-4449-8793-CDB45C5A7DBE}"/>
                </a:ext>
              </a:extLst>
            </p:cNvPr>
            <p:cNvSpPr>
              <a:spLocks noChangeShapeType="1"/>
            </p:cNvSpPr>
            <p:nvPr/>
          </p:nvSpPr>
          <p:spPr bwMode="auto">
            <a:xfrm>
              <a:off x="4417" y="219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53">
              <a:extLst>
                <a:ext uri="{FF2B5EF4-FFF2-40B4-BE49-F238E27FC236}">
                  <a16:creationId xmlns:a16="http://schemas.microsoft.com/office/drawing/2014/main" id="{2ED26AD7-C9A7-4A23-8B75-D159684F87F9}"/>
                </a:ext>
              </a:extLst>
            </p:cNvPr>
            <p:cNvSpPr>
              <a:spLocks noChangeShapeType="1"/>
            </p:cNvSpPr>
            <p:nvPr/>
          </p:nvSpPr>
          <p:spPr bwMode="auto">
            <a:xfrm>
              <a:off x="5089" y="176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54">
              <a:extLst>
                <a:ext uri="{FF2B5EF4-FFF2-40B4-BE49-F238E27FC236}">
                  <a16:creationId xmlns:a16="http://schemas.microsoft.com/office/drawing/2014/main" id="{9FF5431F-21DF-4388-A0C6-428F7C1D2817}"/>
                </a:ext>
              </a:extLst>
            </p:cNvPr>
            <p:cNvSpPr>
              <a:spLocks noChangeShapeType="1"/>
            </p:cNvSpPr>
            <p:nvPr/>
          </p:nvSpPr>
          <p:spPr bwMode="auto">
            <a:xfrm>
              <a:off x="4657"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55">
              <a:extLst>
                <a:ext uri="{FF2B5EF4-FFF2-40B4-BE49-F238E27FC236}">
                  <a16:creationId xmlns:a16="http://schemas.microsoft.com/office/drawing/2014/main" id="{A63A0506-24EE-44BC-BBDF-F50997D46434}"/>
                </a:ext>
              </a:extLst>
            </p:cNvPr>
            <p:cNvSpPr>
              <a:spLocks noChangeShapeType="1"/>
            </p:cNvSpPr>
            <p:nvPr/>
          </p:nvSpPr>
          <p:spPr bwMode="auto">
            <a:xfrm>
              <a:off x="4417"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56">
              <a:extLst>
                <a:ext uri="{FF2B5EF4-FFF2-40B4-BE49-F238E27FC236}">
                  <a16:creationId xmlns:a16="http://schemas.microsoft.com/office/drawing/2014/main" id="{6BA8CBDF-D4BA-429F-B8BE-A91C8F7C5B0B}"/>
                </a:ext>
              </a:extLst>
            </p:cNvPr>
            <p:cNvSpPr>
              <a:spLocks noChangeShapeType="1"/>
            </p:cNvSpPr>
            <p:nvPr/>
          </p:nvSpPr>
          <p:spPr bwMode="auto">
            <a:xfrm>
              <a:off x="4417" y="315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57">
              <a:extLst>
                <a:ext uri="{FF2B5EF4-FFF2-40B4-BE49-F238E27FC236}">
                  <a16:creationId xmlns:a16="http://schemas.microsoft.com/office/drawing/2014/main" id="{748FE87D-157F-4735-8870-BE5BFFDEF960}"/>
                </a:ext>
              </a:extLst>
            </p:cNvPr>
            <p:cNvSpPr>
              <a:spLocks noChangeShapeType="1"/>
            </p:cNvSpPr>
            <p:nvPr/>
          </p:nvSpPr>
          <p:spPr bwMode="auto">
            <a:xfrm flipV="1">
              <a:off x="4657" y="2678"/>
              <a:ext cx="67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Freeform 58">
              <a:extLst>
                <a:ext uri="{FF2B5EF4-FFF2-40B4-BE49-F238E27FC236}">
                  <a16:creationId xmlns:a16="http://schemas.microsoft.com/office/drawing/2014/main" id="{1AEB2A70-8BD8-4F38-B8DE-0203304E68C6}"/>
                </a:ext>
              </a:extLst>
            </p:cNvPr>
            <p:cNvSpPr>
              <a:spLocks/>
            </p:cNvSpPr>
            <p:nvPr/>
          </p:nvSpPr>
          <p:spPr bwMode="auto">
            <a:xfrm>
              <a:off x="4657" y="1766"/>
              <a:ext cx="1" cy="288"/>
            </a:xfrm>
            <a:custGeom>
              <a:avLst/>
              <a:gdLst>
                <a:gd name="T0" fmla="*/ 0 w 1"/>
                <a:gd name="T1" fmla="*/ 0 h 288"/>
                <a:gd name="T2" fmla="*/ 0 w 1"/>
                <a:gd name="T3" fmla="*/ 288 h 288"/>
                <a:gd name="T4" fmla="*/ 0 60000 65536"/>
                <a:gd name="T5" fmla="*/ 0 60000 65536"/>
              </a:gdLst>
              <a:ahLst/>
              <a:cxnLst>
                <a:cxn ang="T4">
                  <a:pos x="T0" y="T1"/>
                </a:cxn>
                <a:cxn ang="T5">
                  <a:pos x="T2" y="T3"/>
                </a:cxn>
              </a:cxnLst>
              <a:rect l="0" t="0" r="r" b="b"/>
              <a:pathLst>
                <a:path w="1" h="288">
                  <a:moveTo>
                    <a:pt x="0" y="0"/>
                  </a:moveTo>
                  <a:cubicBezTo>
                    <a:pt x="0" y="124"/>
                    <a:pt x="0" y="248"/>
                    <a:pt x="0" y="2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Freeform 59">
              <a:extLst>
                <a:ext uri="{FF2B5EF4-FFF2-40B4-BE49-F238E27FC236}">
                  <a16:creationId xmlns:a16="http://schemas.microsoft.com/office/drawing/2014/main" id="{1DA79078-2360-45A7-8183-8B30CE5612BA}"/>
                </a:ext>
              </a:extLst>
            </p:cNvPr>
            <p:cNvSpPr>
              <a:spLocks/>
            </p:cNvSpPr>
            <p:nvPr/>
          </p:nvSpPr>
          <p:spPr bwMode="auto">
            <a:xfrm>
              <a:off x="5329" y="1766"/>
              <a:ext cx="1" cy="912"/>
            </a:xfrm>
            <a:custGeom>
              <a:avLst/>
              <a:gdLst>
                <a:gd name="T0" fmla="*/ 0 w 1"/>
                <a:gd name="T1" fmla="*/ 0 h 912"/>
                <a:gd name="T2" fmla="*/ 0 w 1"/>
                <a:gd name="T3" fmla="*/ 912 h 912"/>
                <a:gd name="T4" fmla="*/ 0 60000 65536"/>
                <a:gd name="T5" fmla="*/ 0 60000 65536"/>
              </a:gdLst>
              <a:ahLst/>
              <a:cxnLst>
                <a:cxn ang="T4">
                  <a:pos x="T0" y="T1"/>
                </a:cxn>
                <a:cxn ang="T5">
                  <a:pos x="T2" y="T3"/>
                </a:cxn>
              </a:cxnLst>
              <a:rect l="0" t="0" r="r" b="b"/>
              <a:pathLst>
                <a:path w="1" h="912">
                  <a:moveTo>
                    <a:pt x="0" y="0"/>
                  </a:moveTo>
                  <a:cubicBezTo>
                    <a:pt x="0" y="380"/>
                    <a:pt x="0" y="760"/>
                    <a:pt x="0" y="91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25" name="Object 60">
                  <a:extLst>
                    <a:ext uri="{FF2B5EF4-FFF2-40B4-BE49-F238E27FC236}">
                      <a16:creationId xmlns:a16="http://schemas.microsoft.com/office/drawing/2014/main" id="{0E272089-BF7D-45DC-A8DB-F72E7A0175BE}"/>
                    </a:ext>
                  </a:extLst>
                </p:cNvPr>
                <p:cNvSpPr txBox="1"/>
                <p:nvPr/>
              </p:nvSpPr>
              <p:spPr bwMode="auto">
                <a:xfrm>
                  <a:off x="4150" y="1609"/>
                  <a:ext cx="207" cy="207"/>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𝐴</m:t>
                        </m:r>
                      </m:oMath>
                    </m:oMathPara>
                  </a14:m>
                  <a:endParaRPr lang="en-US"/>
                </a:p>
              </p:txBody>
            </p:sp>
          </mc:Choice>
          <mc:Fallback xmlns="">
            <p:sp>
              <p:nvSpPr>
                <p:cNvPr id="27" name="Object 60">
                  <a:extLst>
                    <a:ext uri="{FF2B5EF4-FFF2-40B4-BE49-F238E27FC236}">
                      <a16:creationId xmlns:a16="http://schemas.microsoft.com/office/drawing/2014/main" id="{0E272089-BF7D-45DC-A8DB-F72E7A0175BE}"/>
                    </a:ext>
                  </a:extLst>
                </p:cNvPr>
                <p:cNvSpPr txBox="1">
                  <a:spLocks noRot="1" noChangeAspect="1" noMove="1" noResize="1" noEditPoints="1" noAdjustHandles="1" noChangeArrowheads="1" noChangeShapeType="1" noTextEdit="1"/>
                </p:cNvSpPr>
                <p:nvPr/>
              </p:nvSpPr>
              <p:spPr bwMode="auto">
                <a:xfrm>
                  <a:off x="4150" y="1609"/>
                  <a:ext cx="207" cy="207"/>
                </a:xfrm>
                <a:prstGeom prst="rect">
                  <a:avLst/>
                </a:prstGeom>
                <a:blipFill>
                  <a:blip r:embed="rId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61">
                  <a:extLst>
                    <a:ext uri="{FF2B5EF4-FFF2-40B4-BE49-F238E27FC236}">
                      <a16:creationId xmlns:a16="http://schemas.microsoft.com/office/drawing/2014/main" id="{2933F6F1-CCFE-4B46-A97C-9BB6A421B6FB}"/>
                    </a:ext>
                  </a:extLst>
                </p:cNvPr>
                <p:cNvSpPr txBox="1"/>
                <p:nvPr/>
              </p:nvSpPr>
              <p:spPr bwMode="auto">
                <a:xfrm>
                  <a:off x="4801" y="1659"/>
                  <a:ext cx="203" cy="203"/>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𝐵</m:t>
                        </m:r>
                      </m:oMath>
                    </m:oMathPara>
                  </a14:m>
                  <a:endParaRPr lang="en-US"/>
                </a:p>
              </p:txBody>
            </p:sp>
          </mc:Choice>
          <mc:Fallback xmlns="">
            <p:sp>
              <p:nvSpPr>
                <p:cNvPr id="28" name="Object 61">
                  <a:extLst>
                    <a:ext uri="{FF2B5EF4-FFF2-40B4-BE49-F238E27FC236}">
                      <a16:creationId xmlns:a16="http://schemas.microsoft.com/office/drawing/2014/main" id="{2933F6F1-CCFE-4B46-A97C-9BB6A421B6FB}"/>
                    </a:ext>
                  </a:extLst>
                </p:cNvPr>
                <p:cNvSpPr txBox="1">
                  <a:spLocks noRot="1" noChangeAspect="1" noMove="1" noResize="1" noEditPoints="1" noAdjustHandles="1" noChangeArrowheads="1" noChangeShapeType="1" noTextEdit="1"/>
                </p:cNvSpPr>
                <p:nvPr/>
              </p:nvSpPr>
              <p:spPr bwMode="auto">
                <a:xfrm>
                  <a:off x="4801" y="1659"/>
                  <a:ext cx="203" cy="203"/>
                </a:xfrm>
                <a:prstGeom prst="rect">
                  <a:avLst/>
                </a:prstGeom>
                <a:blipFill>
                  <a:blip r:embed="rId6"/>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62">
                  <a:extLst>
                    <a:ext uri="{FF2B5EF4-FFF2-40B4-BE49-F238E27FC236}">
                      <a16:creationId xmlns:a16="http://schemas.microsoft.com/office/drawing/2014/main" id="{A69CFA08-F016-40EC-AE95-AF5B68337ED1}"/>
                    </a:ext>
                  </a:extLst>
                </p:cNvPr>
                <p:cNvSpPr txBox="1"/>
                <p:nvPr/>
              </p:nvSpPr>
              <p:spPr bwMode="auto">
                <a:xfrm>
                  <a:off x="3510" y="2054"/>
                  <a:ext cx="248" cy="28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29" name="Object 62">
                  <a:extLst>
                    <a:ext uri="{FF2B5EF4-FFF2-40B4-BE49-F238E27FC236}">
                      <a16:creationId xmlns:a16="http://schemas.microsoft.com/office/drawing/2014/main" id="{A69CFA08-F016-40EC-AE95-AF5B68337ED1}"/>
                    </a:ext>
                  </a:extLst>
                </p:cNvPr>
                <p:cNvSpPr txBox="1">
                  <a:spLocks noRot="1" noChangeAspect="1" noMove="1" noResize="1" noEditPoints="1" noAdjustHandles="1" noChangeArrowheads="1" noChangeShapeType="1" noTextEdit="1"/>
                </p:cNvSpPr>
                <p:nvPr/>
              </p:nvSpPr>
              <p:spPr bwMode="auto">
                <a:xfrm>
                  <a:off x="3510" y="2054"/>
                  <a:ext cx="248" cy="283"/>
                </a:xfrm>
                <a:prstGeom prst="rect">
                  <a:avLst/>
                </a:prstGeom>
                <a:blipFill>
                  <a:blip r:embed="rId7"/>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63">
                  <a:extLst>
                    <a:ext uri="{FF2B5EF4-FFF2-40B4-BE49-F238E27FC236}">
                      <a16:creationId xmlns:a16="http://schemas.microsoft.com/office/drawing/2014/main" id="{E13FB952-7EF6-4529-BAC7-F6E9B47DB0D2}"/>
                    </a:ext>
                  </a:extLst>
                </p:cNvPr>
                <p:cNvSpPr txBox="1"/>
                <p:nvPr/>
              </p:nvSpPr>
              <p:spPr bwMode="auto">
                <a:xfrm>
                  <a:off x="3982" y="2086"/>
                  <a:ext cx="230" cy="301"/>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oMath>
                    </m:oMathPara>
                  </a14:m>
                  <a:endParaRPr lang="en-US" dirty="0"/>
                </a:p>
              </p:txBody>
            </p:sp>
          </mc:Choice>
          <mc:Fallback xmlns="">
            <p:sp>
              <p:nvSpPr>
                <p:cNvPr id="30" name="Object 63">
                  <a:extLst>
                    <a:ext uri="{FF2B5EF4-FFF2-40B4-BE49-F238E27FC236}">
                      <a16:creationId xmlns:a16="http://schemas.microsoft.com/office/drawing/2014/main" id="{E13FB952-7EF6-4529-BAC7-F6E9B47DB0D2}"/>
                    </a:ext>
                  </a:extLst>
                </p:cNvPr>
                <p:cNvSpPr txBox="1">
                  <a:spLocks noRot="1" noChangeAspect="1" noMove="1" noResize="1" noEditPoints="1" noAdjustHandles="1" noChangeArrowheads="1" noChangeShapeType="1" noTextEdit="1"/>
                </p:cNvSpPr>
                <p:nvPr/>
              </p:nvSpPr>
              <p:spPr bwMode="auto">
                <a:xfrm>
                  <a:off x="3982" y="2086"/>
                  <a:ext cx="230" cy="301"/>
                </a:xfrm>
                <a:prstGeom prst="rect">
                  <a:avLst/>
                </a:prstGeom>
                <a:blipFill>
                  <a:blip r:embed="rId8"/>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64">
                  <a:extLst>
                    <a:ext uri="{FF2B5EF4-FFF2-40B4-BE49-F238E27FC236}">
                      <a16:creationId xmlns:a16="http://schemas.microsoft.com/office/drawing/2014/main" id="{3AA216F9-A637-4C66-A48D-4BBED0055252}"/>
                    </a:ext>
                  </a:extLst>
                </p:cNvPr>
                <p:cNvSpPr txBox="1"/>
                <p:nvPr/>
              </p:nvSpPr>
              <p:spPr bwMode="auto">
                <a:xfrm>
                  <a:off x="4252" y="2129"/>
                  <a:ext cx="280" cy="31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3</m:t>
                            </m:r>
                          </m:sub>
                        </m:sSub>
                      </m:oMath>
                    </m:oMathPara>
                  </a14:m>
                  <a:endParaRPr lang="en-US"/>
                </a:p>
              </p:txBody>
            </p:sp>
          </mc:Choice>
          <mc:Fallback xmlns="">
            <p:sp>
              <p:nvSpPr>
                <p:cNvPr id="31" name="Object 64">
                  <a:extLst>
                    <a:ext uri="{FF2B5EF4-FFF2-40B4-BE49-F238E27FC236}">
                      <a16:creationId xmlns:a16="http://schemas.microsoft.com/office/drawing/2014/main" id="{3AA216F9-A637-4C66-A48D-4BBED0055252}"/>
                    </a:ext>
                  </a:extLst>
                </p:cNvPr>
                <p:cNvSpPr txBox="1">
                  <a:spLocks noRot="1" noChangeAspect="1" noMove="1" noResize="1" noEditPoints="1" noAdjustHandles="1" noChangeArrowheads="1" noChangeShapeType="1" noTextEdit="1"/>
                </p:cNvSpPr>
                <p:nvPr/>
              </p:nvSpPr>
              <p:spPr bwMode="auto">
                <a:xfrm>
                  <a:off x="4252" y="2129"/>
                  <a:ext cx="280" cy="315"/>
                </a:xfrm>
                <a:prstGeom prst="rect">
                  <a:avLst/>
                </a:prstGeom>
                <a:blipFill>
                  <a:blip r:embed="rId9"/>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65">
                  <a:extLst>
                    <a:ext uri="{FF2B5EF4-FFF2-40B4-BE49-F238E27FC236}">
                      <a16:creationId xmlns:a16="http://schemas.microsoft.com/office/drawing/2014/main" id="{3A6143E1-06E8-4268-87A5-6739E3EBFBD3}"/>
                    </a:ext>
                  </a:extLst>
                </p:cNvPr>
                <p:cNvSpPr txBox="1"/>
                <p:nvPr/>
              </p:nvSpPr>
              <p:spPr bwMode="auto">
                <a:xfrm>
                  <a:off x="4647" y="2113"/>
                  <a:ext cx="235" cy="25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4.</m:t>
                            </m:r>
                          </m:sub>
                        </m:sSub>
                      </m:oMath>
                    </m:oMathPara>
                  </a14:m>
                  <a:endParaRPr lang="en-US"/>
                </a:p>
              </p:txBody>
            </p:sp>
          </mc:Choice>
          <mc:Fallback xmlns="">
            <p:sp>
              <p:nvSpPr>
                <p:cNvPr id="32" name="Object 65">
                  <a:extLst>
                    <a:ext uri="{FF2B5EF4-FFF2-40B4-BE49-F238E27FC236}">
                      <a16:creationId xmlns:a16="http://schemas.microsoft.com/office/drawing/2014/main" id="{3A6143E1-06E8-4268-87A5-6739E3EBFBD3}"/>
                    </a:ext>
                  </a:extLst>
                </p:cNvPr>
                <p:cNvSpPr txBox="1">
                  <a:spLocks noRot="1" noChangeAspect="1" noMove="1" noResize="1" noEditPoints="1" noAdjustHandles="1" noChangeArrowheads="1" noChangeShapeType="1" noTextEdit="1"/>
                </p:cNvSpPr>
                <p:nvPr/>
              </p:nvSpPr>
              <p:spPr bwMode="auto">
                <a:xfrm>
                  <a:off x="4647" y="2113"/>
                  <a:ext cx="235" cy="250"/>
                </a:xfrm>
                <a:prstGeom prst="rect">
                  <a:avLst/>
                </a:prstGeom>
                <a:blipFill>
                  <a:blip r:embed="rId10"/>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66">
                  <a:extLst>
                    <a:ext uri="{FF2B5EF4-FFF2-40B4-BE49-F238E27FC236}">
                      <a16:creationId xmlns:a16="http://schemas.microsoft.com/office/drawing/2014/main" id="{17BC7531-D18E-44FD-AC09-DC69BB54129F}"/>
                    </a:ext>
                  </a:extLst>
                </p:cNvPr>
                <p:cNvSpPr txBox="1"/>
                <p:nvPr/>
              </p:nvSpPr>
              <p:spPr bwMode="auto">
                <a:xfrm>
                  <a:off x="4609" y="2531"/>
                  <a:ext cx="235" cy="27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a:p>
              </p:txBody>
            </p:sp>
          </mc:Choice>
          <mc:Fallback xmlns="">
            <p:sp>
              <p:nvSpPr>
                <p:cNvPr id="33" name="Object 66">
                  <a:extLst>
                    <a:ext uri="{FF2B5EF4-FFF2-40B4-BE49-F238E27FC236}">
                      <a16:creationId xmlns:a16="http://schemas.microsoft.com/office/drawing/2014/main" id="{17BC7531-D18E-44FD-AC09-DC69BB54129F}"/>
                    </a:ext>
                  </a:extLst>
                </p:cNvPr>
                <p:cNvSpPr txBox="1">
                  <a:spLocks noRot="1" noChangeAspect="1" noMove="1" noResize="1" noEditPoints="1" noAdjustHandles="1" noChangeArrowheads="1" noChangeShapeType="1" noTextEdit="1"/>
                </p:cNvSpPr>
                <p:nvPr/>
              </p:nvSpPr>
              <p:spPr bwMode="auto">
                <a:xfrm>
                  <a:off x="4609" y="2531"/>
                  <a:ext cx="235" cy="278"/>
                </a:xfrm>
                <a:prstGeom prst="rect">
                  <a:avLst/>
                </a:prstGeom>
                <a:blipFill>
                  <a:blip r:embed="rId11"/>
                  <a:stretch>
                    <a:fillRect/>
                  </a:stretch>
                </a:blipFill>
                <a:ln>
                  <a:noFill/>
                </a:ln>
                <a:effectLst/>
                <a:extLst/>
              </p:spPr>
              <p:txBody>
                <a:bodyPr/>
                <a:lstStyle/>
                <a:p>
                  <a:r>
                    <a:rPr lang="en-US">
                      <a:noFill/>
                    </a:rPr>
                    <a:t> </a:t>
                  </a:r>
                </a:p>
              </p:txBody>
            </p:sp>
          </mc:Fallback>
        </mc:AlternateContent>
      </p:grpSp>
      <p:sp>
        <p:nvSpPr>
          <p:cNvPr id="32" name="Line 7">
            <a:extLst>
              <a:ext uri="{FF2B5EF4-FFF2-40B4-BE49-F238E27FC236}">
                <a16:creationId xmlns:a16="http://schemas.microsoft.com/office/drawing/2014/main" id="{AF46A1A5-2572-407D-8201-44607BAD191C}"/>
              </a:ext>
            </a:extLst>
          </p:cNvPr>
          <p:cNvSpPr>
            <a:spLocks noChangeShapeType="1"/>
          </p:cNvSpPr>
          <p:nvPr/>
        </p:nvSpPr>
        <p:spPr bwMode="auto">
          <a:xfrm>
            <a:off x="2305536" y="4178596"/>
            <a:ext cx="0" cy="3206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Line 8">
            <a:extLst>
              <a:ext uri="{FF2B5EF4-FFF2-40B4-BE49-F238E27FC236}">
                <a16:creationId xmlns:a16="http://schemas.microsoft.com/office/drawing/2014/main" id="{6981B29E-E6C0-45DF-99F3-22542F421136}"/>
              </a:ext>
            </a:extLst>
          </p:cNvPr>
          <p:cNvSpPr>
            <a:spLocks noChangeShapeType="1"/>
          </p:cNvSpPr>
          <p:nvPr/>
        </p:nvSpPr>
        <p:spPr bwMode="auto">
          <a:xfrm>
            <a:off x="2135673" y="4551659"/>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Line 11">
            <a:extLst>
              <a:ext uri="{FF2B5EF4-FFF2-40B4-BE49-F238E27FC236}">
                <a16:creationId xmlns:a16="http://schemas.microsoft.com/office/drawing/2014/main" id="{0EA08588-8B66-451D-8108-020EDD4635C4}"/>
              </a:ext>
            </a:extLst>
          </p:cNvPr>
          <p:cNvSpPr>
            <a:spLocks noChangeShapeType="1"/>
          </p:cNvSpPr>
          <p:nvPr/>
        </p:nvSpPr>
        <p:spPr bwMode="auto">
          <a:xfrm>
            <a:off x="2219811" y="4711996"/>
            <a:ext cx="127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Line 11">
            <a:extLst>
              <a:ext uri="{FF2B5EF4-FFF2-40B4-BE49-F238E27FC236}">
                <a16:creationId xmlns:a16="http://schemas.microsoft.com/office/drawing/2014/main" id="{0EA08588-8B66-451D-8108-020EDD4635C4}"/>
              </a:ext>
            </a:extLst>
          </p:cNvPr>
          <p:cNvSpPr>
            <a:spLocks noChangeShapeType="1"/>
          </p:cNvSpPr>
          <p:nvPr/>
        </p:nvSpPr>
        <p:spPr bwMode="auto">
          <a:xfrm>
            <a:off x="2199507" y="4630479"/>
            <a:ext cx="2127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 name="Line 11">
            <a:extLst>
              <a:ext uri="{FF2B5EF4-FFF2-40B4-BE49-F238E27FC236}">
                <a16:creationId xmlns:a16="http://schemas.microsoft.com/office/drawing/2014/main" id="{0EA08588-8B66-451D-8108-020EDD4635C4}"/>
              </a:ext>
            </a:extLst>
          </p:cNvPr>
          <p:cNvSpPr>
            <a:spLocks noChangeShapeType="1"/>
          </p:cNvSpPr>
          <p:nvPr/>
        </p:nvSpPr>
        <p:spPr bwMode="auto">
          <a:xfrm>
            <a:off x="2111861" y="4178596"/>
            <a:ext cx="2127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3279872B-7CA9-6D3B-109F-13CB37B05D95}"/>
              </a:ext>
            </a:extLst>
          </p:cNvPr>
          <p:cNvSpPr txBox="1"/>
          <p:nvPr/>
        </p:nvSpPr>
        <p:spPr>
          <a:xfrm>
            <a:off x="286467" y="5381467"/>
            <a:ext cx="4993812" cy="892552"/>
          </a:xfrm>
          <a:prstGeom prst="rect">
            <a:avLst/>
          </a:prstGeom>
          <a:noFill/>
        </p:spPr>
        <p:txBody>
          <a:bodyPr wrap="square" rtlCol="0">
            <a:spAutoFit/>
          </a:bodyPr>
          <a:lstStyle/>
          <a:p>
            <a:pPr marL="285750" indent="-285750">
              <a:buFontTx/>
              <a:buChar char="-"/>
            </a:pPr>
            <a:r>
              <a:rPr lang="en-US" altLang="zh-CN" sz="2600" dirty="0"/>
              <a:t>B </a:t>
            </a:r>
            <a:r>
              <a:rPr lang="zh-CN" altLang="en-US" sz="2600" dirty="0"/>
              <a:t>板电荷数变化</a:t>
            </a:r>
            <a:endParaRPr lang="en-US" altLang="zh-CN" sz="2600" dirty="0"/>
          </a:p>
          <a:p>
            <a:pPr marL="285750" indent="-285750">
              <a:buFontTx/>
              <a:buChar char="-"/>
            </a:pPr>
            <a:r>
              <a:rPr lang="en-US" altLang="zh-CN" sz="2600" dirty="0"/>
              <a:t>A</a:t>
            </a:r>
            <a:r>
              <a:rPr lang="zh-CN" altLang="en-US" sz="2600" dirty="0"/>
              <a:t>板电荷守恒，电荷分布变化</a:t>
            </a:r>
          </a:p>
        </p:txBody>
      </p:sp>
    </p:spTree>
    <p:extLst>
      <p:ext uri="{BB962C8B-B14F-4D97-AF65-F5344CB8AC3E}">
        <p14:creationId xmlns:p14="http://schemas.microsoft.com/office/powerpoint/2010/main" val="50694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C949521-7B3A-4EF8-9F58-507E3B98516A}"/>
              </a:ext>
            </a:extLst>
          </p:cNvPr>
          <p:cNvSpPr txBox="1"/>
          <p:nvPr>
            <p:custDataLst>
              <p:tags r:id="rId2"/>
            </p:custDataLst>
          </p:nvPr>
        </p:nvSpPr>
        <p:spPr>
          <a:xfrm>
            <a:off x="1470992" y="385764"/>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四块均匀带电的平行板，其每个表面的面电荷密度关系应该为？</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94FCDA3E-55D0-49D2-8061-E223935C1033}"/>
              </a:ext>
            </a:extLst>
          </p:cNvPr>
          <p:cNvSpPr>
            <a:spLocks noChangeAspect="1"/>
          </p:cNvSpPr>
          <p:nvPr>
            <p:custDataLst>
              <p:tags r:id="rId3"/>
            </p:custDataLst>
          </p:nvPr>
        </p:nvSpPr>
        <p:spPr>
          <a:xfrm>
            <a:off x="6258477" y="205740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DD05E1F1-E115-43AA-A41A-C60001357D26}"/>
              </a:ext>
            </a:extLst>
          </p:cNvPr>
          <p:cNvSpPr>
            <a:spLocks noChangeAspect="1"/>
          </p:cNvSpPr>
          <p:nvPr>
            <p:custDataLst>
              <p:tags r:id="rId4"/>
            </p:custDataLst>
          </p:nvPr>
        </p:nvSpPr>
        <p:spPr>
          <a:xfrm>
            <a:off x="8815410" y="207803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3" name="矩形: 圆角 12">
            <a:extLst>
              <a:ext uri="{FF2B5EF4-FFF2-40B4-BE49-F238E27FC236}">
                <a16:creationId xmlns:a16="http://schemas.microsoft.com/office/drawing/2014/main" id="{ADE0A2C8-562D-4F2B-B073-AE909B70D962}"/>
              </a:ext>
            </a:extLst>
          </p:cNvPr>
          <p:cNvSpPr/>
          <p:nvPr>
            <p:custDataLst>
              <p:tags r:id="rId5"/>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4" name="Group 5">
            <a:extLst>
              <a:ext uri="{FF2B5EF4-FFF2-40B4-BE49-F238E27FC236}">
                <a16:creationId xmlns:a16="http://schemas.microsoft.com/office/drawing/2014/main" id="{018E28EA-9216-4E07-B209-0E896906D2A4}"/>
              </a:ext>
            </a:extLst>
          </p:cNvPr>
          <p:cNvGrpSpPr>
            <a:grpSpLocks/>
          </p:cNvGrpSpPr>
          <p:nvPr/>
        </p:nvGrpSpPr>
        <p:grpSpPr bwMode="auto">
          <a:xfrm>
            <a:off x="2791286" y="2546669"/>
            <a:ext cx="1860550" cy="3168650"/>
            <a:chOff x="738" y="2024"/>
            <a:chExt cx="1172" cy="1996"/>
          </a:xfrm>
        </p:grpSpPr>
        <p:sp>
          <p:nvSpPr>
            <p:cNvPr id="105" name="Rectangle 6">
              <a:extLst>
                <a:ext uri="{FF2B5EF4-FFF2-40B4-BE49-F238E27FC236}">
                  <a16:creationId xmlns:a16="http://schemas.microsoft.com/office/drawing/2014/main" id="{58C05F4E-BD4D-40D2-BA9B-F1A5715C5B04}"/>
                </a:ext>
              </a:extLst>
            </p:cNvPr>
            <p:cNvSpPr>
              <a:spLocks noChangeArrowheads="1"/>
            </p:cNvSpPr>
            <p:nvPr/>
          </p:nvSpPr>
          <p:spPr bwMode="auto">
            <a:xfrm>
              <a:off x="793" y="2296"/>
              <a:ext cx="91" cy="17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solidFill>
                  <a:srgbClr val="000000"/>
                </a:solidFill>
              </a:endParaRPr>
            </a:p>
          </p:txBody>
        </p:sp>
        <p:sp>
          <p:nvSpPr>
            <p:cNvPr id="106" name="Rectangle 7">
              <a:extLst>
                <a:ext uri="{FF2B5EF4-FFF2-40B4-BE49-F238E27FC236}">
                  <a16:creationId xmlns:a16="http://schemas.microsoft.com/office/drawing/2014/main" id="{91E7C8E3-A8A3-47BA-95C6-17829454068E}"/>
                </a:ext>
              </a:extLst>
            </p:cNvPr>
            <p:cNvSpPr>
              <a:spLocks noChangeArrowheads="1"/>
            </p:cNvSpPr>
            <p:nvPr/>
          </p:nvSpPr>
          <p:spPr bwMode="auto">
            <a:xfrm>
              <a:off x="1114" y="2296"/>
              <a:ext cx="91" cy="17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solidFill>
                  <a:srgbClr val="000000"/>
                </a:solidFill>
              </a:endParaRPr>
            </a:p>
          </p:txBody>
        </p:sp>
        <p:sp>
          <p:nvSpPr>
            <p:cNvPr id="107" name="Rectangle 8">
              <a:extLst>
                <a:ext uri="{FF2B5EF4-FFF2-40B4-BE49-F238E27FC236}">
                  <a16:creationId xmlns:a16="http://schemas.microsoft.com/office/drawing/2014/main" id="{F2832216-7064-4275-BEF9-78D64259E411}"/>
                </a:ext>
              </a:extLst>
            </p:cNvPr>
            <p:cNvSpPr>
              <a:spLocks noChangeArrowheads="1"/>
            </p:cNvSpPr>
            <p:nvPr/>
          </p:nvSpPr>
          <p:spPr bwMode="auto">
            <a:xfrm>
              <a:off x="1393" y="2296"/>
              <a:ext cx="91" cy="17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solidFill>
                  <a:srgbClr val="000000"/>
                </a:solidFill>
              </a:endParaRPr>
            </a:p>
          </p:txBody>
        </p:sp>
        <p:sp>
          <p:nvSpPr>
            <p:cNvPr id="108" name="Rectangle 9">
              <a:extLst>
                <a:ext uri="{FF2B5EF4-FFF2-40B4-BE49-F238E27FC236}">
                  <a16:creationId xmlns:a16="http://schemas.microsoft.com/office/drawing/2014/main" id="{4E8E91D7-F97E-4ECA-8D94-695E26790D60}"/>
                </a:ext>
              </a:extLst>
            </p:cNvPr>
            <p:cNvSpPr>
              <a:spLocks noChangeArrowheads="1"/>
            </p:cNvSpPr>
            <p:nvPr/>
          </p:nvSpPr>
          <p:spPr bwMode="auto">
            <a:xfrm>
              <a:off x="1675" y="2296"/>
              <a:ext cx="91" cy="17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solidFill>
                  <a:srgbClr val="000000"/>
                </a:solidFill>
              </a:endParaRPr>
            </a:p>
          </p:txBody>
        </p:sp>
        <mc:AlternateContent xmlns:mc="http://schemas.openxmlformats.org/markup-compatibility/2006" xmlns:a14="http://schemas.microsoft.com/office/drawing/2010/main">
          <mc:Choice Requires="a14">
            <p:sp>
              <p:nvSpPr>
                <p:cNvPr id="109" name="Object 10">
                  <a:extLst>
                    <a:ext uri="{FF2B5EF4-FFF2-40B4-BE49-F238E27FC236}">
                      <a16:creationId xmlns:a16="http://schemas.microsoft.com/office/drawing/2014/main" id="{EB325150-197F-433E-B20D-840B2FB29CF5}"/>
                    </a:ext>
                  </a:extLst>
                </p:cNvPr>
                <p:cNvSpPr txBox="1"/>
                <p:nvPr/>
              </p:nvSpPr>
              <p:spPr bwMode="auto">
                <a:xfrm>
                  <a:off x="738" y="2028"/>
                  <a:ext cx="249" cy="249"/>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𝐴</m:t>
                            </m:r>
                          </m:sub>
                        </m:sSub>
                      </m:oMath>
                    </m:oMathPara>
                  </a14:m>
                  <a:endParaRPr lang="en-US"/>
                </a:p>
              </p:txBody>
            </p:sp>
          </mc:Choice>
          <mc:Fallback xmlns="">
            <p:sp>
              <p:nvSpPr>
                <p:cNvPr id="109" name="Object 10">
                  <a:extLst>
                    <a:ext uri="{FF2B5EF4-FFF2-40B4-BE49-F238E27FC236}">
                      <a16:creationId xmlns:a16="http://schemas.microsoft.com/office/drawing/2014/main" id="{EB325150-197F-433E-B20D-840B2FB29CF5}"/>
                    </a:ext>
                  </a:extLst>
                </p:cNvPr>
                <p:cNvSpPr txBox="1">
                  <a:spLocks noRot="1" noChangeAspect="1" noMove="1" noResize="1" noEditPoints="1" noAdjustHandles="1" noChangeArrowheads="1" noChangeShapeType="1" noTextEdit="1"/>
                </p:cNvSpPr>
                <p:nvPr/>
              </p:nvSpPr>
              <p:spPr bwMode="auto">
                <a:xfrm>
                  <a:off x="738" y="2028"/>
                  <a:ext cx="249" cy="249"/>
                </a:xfrm>
                <a:prstGeom prst="rect">
                  <a:avLst/>
                </a:prstGeom>
                <a:blipFill>
                  <a:blip r:embed="rId13"/>
                  <a:stretch>
                    <a:fillRect l="-3077" r="-3077" b="-1538"/>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Object 11">
                  <a:extLst>
                    <a:ext uri="{FF2B5EF4-FFF2-40B4-BE49-F238E27FC236}">
                      <a16:creationId xmlns:a16="http://schemas.microsoft.com/office/drawing/2014/main" id="{74B862C0-C52A-4468-8BCA-7EC4724F8077}"/>
                    </a:ext>
                  </a:extLst>
                </p:cNvPr>
                <p:cNvSpPr txBox="1"/>
                <p:nvPr/>
              </p:nvSpPr>
              <p:spPr bwMode="auto">
                <a:xfrm>
                  <a:off x="1066" y="2024"/>
                  <a:ext cx="249" cy="249"/>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𝐵</m:t>
                            </m:r>
                          </m:sub>
                        </m:sSub>
                      </m:oMath>
                    </m:oMathPara>
                  </a14:m>
                  <a:endParaRPr lang="en-US"/>
                </a:p>
              </p:txBody>
            </p:sp>
          </mc:Choice>
          <mc:Fallback xmlns="">
            <p:sp>
              <p:nvSpPr>
                <p:cNvPr id="110" name="Object 11">
                  <a:extLst>
                    <a:ext uri="{FF2B5EF4-FFF2-40B4-BE49-F238E27FC236}">
                      <a16:creationId xmlns:a16="http://schemas.microsoft.com/office/drawing/2014/main" id="{74B862C0-C52A-4468-8BCA-7EC4724F8077}"/>
                    </a:ext>
                  </a:extLst>
                </p:cNvPr>
                <p:cNvSpPr txBox="1">
                  <a:spLocks noRot="1" noChangeAspect="1" noMove="1" noResize="1" noEditPoints="1" noAdjustHandles="1" noChangeArrowheads="1" noChangeShapeType="1" noTextEdit="1"/>
                </p:cNvSpPr>
                <p:nvPr/>
              </p:nvSpPr>
              <p:spPr bwMode="auto">
                <a:xfrm>
                  <a:off x="1066" y="2024"/>
                  <a:ext cx="249" cy="249"/>
                </a:xfrm>
                <a:prstGeom prst="rect">
                  <a:avLst/>
                </a:prstGeom>
                <a:blipFill>
                  <a:blip r:embed="rId14"/>
                  <a:stretch>
                    <a:fillRect l="-3077" r="-6154" b="-1538"/>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Object 12">
                  <a:extLst>
                    <a:ext uri="{FF2B5EF4-FFF2-40B4-BE49-F238E27FC236}">
                      <a16:creationId xmlns:a16="http://schemas.microsoft.com/office/drawing/2014/main" id="{D4AD5AB3-C14D-4A4C-A0CC-0BB10DDC025D}"/>
                    </a:ext>
                  </a:extLst>
                </p:cNvPr>
                <p:cNvSpPr txBox="1"/>
                <p:nvPr/>
              </p:nvSpPr>
              <p:spPr bwMode="auto">
                <a:xfrm>
                  <a:off x="1371" y="2030"/>
                  <a:ext cx="249" cy="26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𝐶</m:t>
                            </m:r>
                          </m:sub>
                        </m:sSub>
                      </m:oMath>
                    </m:oMathPara>
                  </a14:m>
                  <a:endParaRPr lang="en-US"/>
                </a:p>
              </p:txBody>
            </p:sp>
          </mc:Choice>
          <mc:Fallback xmlns="">
            <p:sp>
              <p:nvSpPr>
                <p:cNvPr id="111" name="Object 12">
                  <a:extLst>
                    <a:ext uri="{FF2B5EF4-FFF2-40B4-BE49-F238E27FC236}">
                      <a16:creationId xmlns:a16="http://schemas.microsoft.com/office/drawing/2014/main" id="{D4AD5AB3-C14D-4A4C-A0CC-0BB10DDC025D}"/>
                    </a:ext>
                  </a:extLst>
                </p:cNvPr>
                <p:cNvSpPr txBox="1">
                  <a:spLocks noRot="1" noChangeAspect="1" noMove="1" noResize="1" noEditPoints="1" noAdjustHandles="1" noChangeArrowheads="1" noChangeShapeType="1" noTextEdit="1"/>
                </p:cNvSpPr>
                <p:nvPr/>
              </p:nvSpPr>
              <p:spPr bwMode="auto">
                <a:xfrm>
                  <a:off x="1371" y="2030"/>
                  <a:ext cx="249" cy="263"/>
                </a:xfrm>
                <a:prstGeom prst="rect">
                  <a:avLst/>
                </a:prstGeom>
                <a:blipFill>
                  <a:blip r:embed="rId15"/>
                  <a:stretch>
                    <a:fillRect l="-3077" r="-1538"/>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Object 13">
                  <a:extLst>
                    <a:ext uri="{FF2B5EF4-FFF2-40B4-BE49-F238E27FC236}">
                      <a16:creationId xmlns:a16="http://schemas.microsoft.com/office/drawing/2014/main" id="{B04EBF53-34F0-455F-862F-B8E6FC851ED3}"/>
                    </a:ext>
                  </a:extLst>
                </p:cNvPr>
                <p:cNvSpPr txBox="1"/>
                <p:nvPr/>
              </p:nvSpPr>
              <p:spPr bwMode="auto">
                <a:xfrm>
                  <a:off x="1646" y="2032"/>
                  <a:ext cx="264" cy="249"/>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𝐷</m:t>
                            </m:r>
                          </m:sub>
                        </m:sSub>
                      </m:oMath>
                    </m:oMathPara>
                  </a14:m>
                  <a:endParaRPr lang="en-US"/>
                </a:p>
              </p:txBody>
            </p:sp>
          </mc:Choice>
          <mc:Fallback xmlns="">
            <p:sp>
              <p:nvSpPr>
                <p:cNvPr id="112" name="Object 13">
                  <a:extLst>
                    <a:ext uri="{FF2B5EF4-FFF2-40B4-BE49-F238E27FC236}">
                      <a16:creationId xmlns:a16="http://schemas.microsoft.com/office/drawing/2014/main" id="{B04EBF53-34F0-455F-862F-B8E6FC851ED3}"/>
                    </a:ext>
                  </a:extLst>
                </p:cNvPr>
                <p:cNvSpPr txBox="1">
                  <a:spLocks noRot="1" noChangeAspect="1" noMove="1" noResize="1" noEditPoints="1" noAdjustHandles="1" noChangeArrowheads="1" noChangeShapeType="1" noTextEdit="1"/>
                </p:cNvSpPr>
                <p:nvPr/>
              </p:nvSpPr>
              <p:spPr bwMode="auto">
                <a:xfrm>
                  <a:off x="1646" y="2032"/>
                  <a:ext cx="264" cy="249"/>
                </a:xfrm>
                <a:prstGeom prst="rect">
                  <a:avLst/>
                </a:prstGeom>
                <a:blipFill>
                  <a:blip r:embed="rId16"/>
                  <a:stretch>
                    <a:fillRect l="-2899" r="-1449" b="-1538"/>
                  </a:stretch>
                </a:blipFill>
                <a:ln>
                  <a:noFill/>
                </a:ln>
                <a:effectLst/>
                <a:extLst/>
              </p:spPr>
              <p:txBody>
                <a:bodyPr/>
                <a:lstStyle/>
                <a:p>
                  <a:r>
                    <a:rPr lang="en-US">
                      <a:noFill/>
                    </a:rPr>
                    <a:t> </a:t>
                  </a:r>
                </a:p>
              </p:txBody>
            </p:sp>
          </mc:Fallback>
        </mc:AlternateContent>
      </p:grpSp>
      <p:grpSp>
        <p:nvGrpSpPr>
          <p:cNvPr id="113" name="Group 14">
            <a:extLst>
              <a:ext uri="{FF2B5EF4-FFF2-40B4-BE49-F238E27FC236}">
                <a16:creationId xmlns:a16="http://schemas.microsoft.com/office/drawing/2014/main" id="{8B203ADD-0075-4192-9863-6EC8BC4AA293}"/>
              </a:ext>
            </a:extLst>
          </p:cNvPr>
          <p:cNvGrpSpPr>
            <a:grpSpLocks/>
          </p:cNvGrpSpPr>
          <p:nvPr/>
        </p:nvGrpSpPr>
        <p:grpSpPr bwMode="auto">
          <a:xfrm>
            <a:off x="2623012" y="4705670"/>
            <a:ext cx="2049463" cy="619125"/>
            <a:chOff x="632" y="1842"/>
            <a:chExt cx="1291" cy="390"/>
          </a:xfrm>
        </p:grpSpPr>
        <mc:AlternateContent xmlns:mc="http://schemas.openxmlformats.org/markup-compatibility/2006" xmlns:a14="http://schemas.microsoft.com/office/drawing/2010/main">
          <mc:Choice Requires="a14">
            <p:sp>
              <p:nvSpPr>
                <p:cNvPr id="114" name="Object 15">
                  <a:extLst>
                    <a:ext uri="{FF2B5EF4-FFF2-40B4-BE49-F238E27FC236}">
                      <a16:creationId xmlns:a16="http://schemas.microsoft.com/office/drawing/2014/main" id="{8BDB07CB-37B2-4910-9F28-374C60D347C4}"/>
                    </a:ext>
                  </a:extLst>
                </p:cNvPr>
                <p:cNvSpPr txBox="1"/>
                <p:nvPr/>
              </p:nvSpPr>
              <p:spPr bwMode="auto">
                <a:xfrm>
                  <a:off x="632" y="1842"/>
                  <a:ext cx="180" cy="204"/>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114" name="Object 15">
                  <a:extLst>
                    <a:ext uri="{FF2B5EF4-FFF2-40B4-BE49-F238E27FC236}">
                      <a16:creationId xmlns:a16="http://schemas.microsoft.com/office/drawing/2014/main" id="{8BDB07CB-37B2-4910-9F28-374C60D347C4}"/>
                    </a:ext>
                  </a:extLst>
                </p:cNvPr>
                <p:cNvSpPr txBox="1">
                  <a:spLocks noRot="1" noChangeAspect="1" noMove="1" noResize="1" noEditPoints="1" noAdjustHandles="1" noChangeArrowheads="1" noChangeShapeType="1" noTextEdit="1"/>
                </p:cNvSpPr>
                <p:nvPr/>
              </p:nvSpPr>
              <p:spPr bwMode="auto">
                <a:xfrm>
                  <a:off x="632" y="1842"/>
                  <a:ext cx="180" cy="204"/>
                </a:xfrm>
                <a:prstGeom prst="rect">
                  <a:avLst/>
                </a:prstGeom>
                <a:blipFill>
                  <a:blip r:embed="rId17"/>
                  <a:stretch>
                    <a:fillRect r="-8511"/>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bject 16">
                  <a:extLst>
                    <a:ext uri="{FF2B5EF4-FFF2-40B4-BE49-F238E27FC236}">
                      <a16:creationId xmlns:a16="http://schemas.microsoft.com/office/drawing/2014/main" id="{40E72462-59A5-47D2-B937-551B163D7508}"/>
                    </a:ext>
                  </a:extLst>
                </p:cNvPr>
                <p:cNvSpPr txBox="1"/>
                <p:nvPr/>
              </p:nvSpPr>
              <p:spPr bwMode="auto">
                <a:xfrm>
                  <a:off x="870" y="1852"/>
                  <a:ext cx="192" cy="204"/>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115" name="Object 16">
                  <a:extLst>
                    <a:ext uri="{FF2B5EF4-FFF2-40B4-BE49-F238E27FC236}">
                      <a16:creationId xmlns:a16="http://schemas.microsoft.com/office/drawing/2014/main" id="{40E72462-59A5-47D2-B937-551B163D7508}"/>
                    </a:ext>
                  </a:extLst>
                </p:cNvPr>
                <p:cNvSpPr txBox="1">
                  <a:spLocks noRot="1" noChangeAspect="1" noMove="1" noResize="1" noEditPoints="1" noAdjustHandles="1" noChangeArrowheads="1" noChangeShapeType="1" noTextEdit="1"/>
                </p:cNvSpPr>
                <p:nvPr/>
              </p:nvSpPr>
              <p:spPr bwMode="auto">
                <a:xfrm>
                  <a:off x="870" y="1852"/>
                  <a:ext cx="192" cy="204"/>
                </a:xfrm>
                <a:prstGeom prst="rect">
                  <a:avLst/>
                </a:prstGeom>
                <a:blipFill>
                  <a:blip r:embed="rId18"/>
                  <a:stretch>
                    <a:fillRect r="-4000"/>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Object 17">
                  <a:extLst>
                    <a:ext uri="{FF2B5EF4-FFF2-40B4-BE49-F238E27FC236}">
                      <a16:creationId xmlns:a16="http://schemas.microsoft.com/office/drawing/2014/main" id="{B3206C44-B698-452C-8835-628BC974EB99}"/>
                    </a:ext>
                  </a:extLst>
                </p:cNvPr>
                <p:cNvSpPr txBox="1"/>
                <p:nvPr/>
              </p:nvSpPr>
              <p:spPr bwMode="auto">
                <a:xfrm>
                  <a:off x="944" y="2015"/>
                  <a:ext cx="192" cy="216"/>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3</m:t>
                            </m:r>
                          </m:sub>
                        </m:sSub>
                      </m:oMath>
                    </m:oMathPara>
                  </a14:m>
                  <a:endParaRPr lang="en-US"/>
                </a:p>
              </p:txBody>
            </p:sp>
          </mc:Choice>
          <mc:Fallback xmlns="">
            <p:sp>
              <p:nvSpPr>
                <p:cNvPr id="116" name="Object 17">
                  <a:extLst>
                    <a:ext uri="{FF2B5EF4-FFF2-40B4-BE49-F238E27FC236}">
                      <a16:creationId xmlns:a16="http://schemas.microsoft.com/office/drawing/2014/main" id="{B3206C44-B698-452C-8835-628BC974EB99}"/>
                    </a:ext>
                  </a:extLst>
                </p:cNvPr>
                <p:cNvSpPr txBox="1">
                  <a:spLocks noRot="1" noChangeAspect="1" noMove="1" noResize="1" noEditPoints="1" noAdjustHandles="1" noChangeArrowheads="1" noChangeShapeType="1" noTextEdit="1"/>
                </p:cNvSpPr>
                <p:nvPr/>
              </p:nvSpPr>
              <p:spPr bwMode="auto">
                <a:xfrm>
                  <a:off x="944" y="2015"/>
                  <a:ext cx="192" cy="216"/>
                </a:xfrm>
                <a:prstGeom prst="rect">
                  <a:avLst/>
                </a:prstGeom>
                <a:blipFill>
                  <a:blip r:embed="rId19"/>
                  <a:stretch>
                    <a:fillRect r="-4000"/>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Object 18">
                  <a:extLst>
                    <a:ext uri="{FF2B5EF4-FFF2-40B4-BE49-F238E27FC236}">
                      <a16:creationId xmlns:a16="http://schemas.microsoft.com/office/drawing/2014/main" id="{2308F3CE-4725-4136-B797-4E6E1A884310}"/>
                    </a:ext>
                  </a:extLst>
                </p:cNvPr>
                <p:cNvSpPr txBox="1"/>
                <p:nvPr/>
              </p:nvSpPr>
              <p:spPr bwMode="auto">
                <a:xfrm>
                  <a:off x="1177" y="2028"/>
                  <a:ext cx="192" cy="204"/>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4</m:t>
                            </m:r>
                          </m:sub>
                        </m:sSub>
                      </m:oMath>
                    </m:oMathPara>
                  </a14:m>
                  <a:endParaRPr lang="en-US"/>
                </a:p>
              </p:txBody>
            </p:sp>
          </mc:Choice>
          <mc:Fallback xmlns="">
            <p:sp>
              <p:nvSpPr>
                <p:cNvPr id="117" name="Object 18">
                  <a:extLst>
                    <a:ext uri="{FF2B5EF4-FFF2-40B4-BE49-F238E27FC236}">
                      <a16:creationId xmlns:a16="http://schemas.microsoft.com/office/drawing/2014/main" id="{2308F3CE-4725-4136-B797-4E6E1A884310}"/>
                    </a:ext>
                  </a:extLst>
                </p:cNvPr>
                <p:cNvSpPr txBox="1">
                  <a:spLocks noRot="1" noChangeAspect="1" noMove="1" noResize="1" noEditPoints="1" noAdjustHandles="1" noChangeArrowheads="1" noChangeShapeType="1" noTextEdit="1"/>
                </p:cNvSpPr>
                <p:nvPr/>
              </p:nvSpPr>
              <p:spPr bwMode="auto">
                <a:xfrm>
                  <a:off x="1177" y="2028"/>
                  <a:ext cx="192" cy="204"/>
                </a:xfrm>
                <a:prstGeom prst="rect">
                  <a:avLst/>
                </a:prstGeom>
                <a:blipFill>
                  <a:blip r:embed="rId20"/>
                  <a:stretch>
                    <a:fillRect r="-4000"/>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Object 19">
                  <a:extLst>
                    <a:ext uri="{FF2B5EF4-FFF2-40B4-BE49-F238E27FC236}">
                      <a16:creationId xmlns:a16="http://schemas.microsoft.com/office/drawing/2014/main" id="{BAA92C3D-77AC-4B13-990A-2EF6C1432D26}"/>
                    </a:ext>
                  </a:extLst>
                </p:cNvPr>
                <p:cNvSpPr txBox="1"/>
                <p:nvPr/>
              </p:nvSpPr>
              <p:spPr bwMode="auto">
                <a:xfrm>
                  <a:off x="1223" y="1882"/>
                  <a:ext cx="192" cy="216"/>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5</m:t>
                            </m:r>
                          </m:sub>
                        </m:sSub>
                      </m:oMath>
                    </m:oMathPara>
                  </a14:m>
                  <a:endParaRPr lang="en-US"/>
                </a:p>
              </p:txBody>
            </p:sp>
          </mc:Choice>
          <mc:Fallback xmlns="">
            <p:sp>
              <p:nvSpPr>
                <p:cNvPr id="118" name="Object 19">
                  <a:extLst>
                    <a:ext uri="{FF2B5EF4-FFF2-40B4-BE49-F238E27FC236}">
                      <a16:creationId xmlns:a16="http://schemas.microsoft.com/office/drawing/2014/main" id="{BAA92C3D-77AC-4B13-990A-2EF6C1432D26}"/>
                    </a:ext>
                  </a:extLst>
                </p:cNvPr>
                <p:cNvSpPr txBox="1">
                  <a:spLocks noRot="1" noChangeAspect="1" noMove="1" noResize="1" noEditPoints="1" noAdjustHandles="1" noChangeArrowheads="1" noChangeShapeType="1" noTextEdit="1"/>
                </p:cNvSpPr>
                <p:nvPr/>
              </p:nvSpPr>
              <p:spPr bwMode="auto">
                <a:xfrm>
                  <a:off x="1223" y="1882"/>
                  <a:ext cx="192" cy="216"/>
                </a:xfrm>
                <a:prstGeom prst="rect">
                  <a:avLst/>
                </a:prstGeom>
                <a:blipFill>
                  <a:blip r:embed="rId21"/>
                  <a:stretch>
                    <a:fillRect r="-4000"/>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Object 20">
                  <a:extLst>
                    <a:ext uri="{FF2B5EF4-FFF2-40B4-BE49-F238E27FC236}">
                      <a16:creationId xmlns:a16="http://schemas.microsoft.com/office/drawing/2014/main" id="{022DB458-FE15-48AB-9C0C-DF21AA0B3099}"/>
                    </a:ext>
                  </a:extLst>
                </p:cNvPr>
                <p:cNvSpPr txBox="1"/>
                <p:nvPr/>
              </p:nvSpPr>
              <p:spPr bwMode="auto">
                <a:xfrm>
                  <a:off x="1454" y="1892"/>
                  <a:ext cx="192" cy="216"/>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6</m:t>
                            </m:r>
                          </m:sub>
                        </m:sSub>
                      </m:oMath>
                    </m:oMathPara>
                  </a14:m>
                  <a:endParaRPr lang="en-US"/>
                </a:p>
              </p:txBody>
            </p:sp>
          </mc:Choice>
          <mc:Fallback xmlns="">
            <p:sp>
              <p:nvSpPr>
                <p:cNvPr id="119" name="Object 20">
                  <a:extLst>
                    <a:ext uri="{FF2B5EF4-FFF2-40B4-BE49-F238E27FC236}">
                      <a16:creationId xmlns:a16="http://schemas.microsoft.com/office/drawing/2014/main" id="{022DB458-FE15-48AB-9C0C-DF21AA0B3099}"/>
                    </a:ext>
                  </a:extLst>
                </p:cNvPr>
                <p:cNvSpPr txBox="1">
                  <a:spLocks noRot="1" noChangeAspect="1" noMove="1" noResize="1" noEditPoints="1" noAdjustHandles="1" noChangeArrowheads="1" noChangeShapeType="1" noTextEdit="1"/>
                </p:cNvSpPr>
                <p:nvPr/>
              </p:nvSpPr>
              <p:spPr bwMode="auto">
                <a:xfrm>
                  <a:off x="1454" y="1892"/>
                  <a:ext cx="192" cy="216"/>
                </a:xfrm>
                <a:prstGeom prst="rect">
                  <a:avLst/>
                </a:prstGeom>
                <a:blipFill>
                  <a:blip r:embed="rId22"/>
                  <a:stretch>
                    <a:fillRect r="-4000"/>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Object 21">
                  <a:extLst>
                    <a:ext uri="{FF2B5EF4-FFF2-40B4-BE49-F238E27FC236}">
                      <a16:creationId xmlns:a16="http://schemas.microsoft.com/office/drawing/2014/main" id="{C312167C-CCF5-4FC1-B59C-3FC93DAA5EA0}"/>
                    </a:ext>
                  </a:extLst>
                </p:cNvPr>
                <p:cNvSpPr txBox="1"/>
                <p:nvPr/>
              </p:nvSpPr>
              <p:spPr bwMode="auto">
                <a:xfrm>
                  <a:off x="1508" y="2011"/>
                  <a:ext cx="192" cy="204"/>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7</m:t>
                            </m:r>
                          </m:sub>
                        </m:sSub>
                      </m:oMath>
                    </m:oMathPara>
                  </a14:m>
                  <a:endParaRPr lang="en-US"/>
                </a:p>
              </p:txBody>
            </p:sp>
          </mc:Choice>
          <mc:Fallback xmlns="">
            <p:sp>
              <p:nvSpPr>
                <p:cNvPr id="120" name="Object 21">
                  <a:extLst>
                    <a:ext uri="{FF2B5EF4-FFF2-40B4-BE49-F238E27FC236}">
                      <a16:creationId xmlns:a16="http://schemas.microsoft.com/office/drawing/2014/main" id="{C312167C-CCF5-4FC1-B59C-3FC93DAA5EA0}"/>
                    </a:ext>
                  </a:extLst>
                </p:cNvPr>
                <p:cNvSpPr txBox="1">
                  <a:spLocks noRot="1" noChangeAspect="1" noMove="1" noResize="1" noEditPoints="1" noAdjustHandles="1" noChangeArrowheads="1" noChangeShapeType="1" noTextEdit="1"/>
                </p:cNvSpPr>
                <p:nvPr/>
              </p:nvSpPr>
              <p:spPr bwMode="auto">
                <a:xfrm>
                  <a:off x="1508" y="2011"/>
                  <a:ext cx="192" cy="204"/>
                </a:xfrm>
                <a:prstGeom prst="rect">
                  <a:avLst/>
                </a:prstGeom>
                <a:blipFill>
                  <a:blip r:embed="rId23"/>
                  <a:stretch>
                    <a:fillRect r="-4000"/>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Object 22">
                  <a:extLst>
                    <a:ext uri="{FF2B5EF4-FFF2-40B4-BE49-F238E27FC236}">
                      <a16:creationId xmlns:a16="http://schemas.microsoft.com/office/drawing/2014/main" id="{4BD703A4-DCE4-46D8-88F1-31A592D56DE2}"/>
                    </a:ext>
                  </a:extLst>
                </p:cNvPr>
                <p:cNvSpPr txBox="1"/>
                <p:nvPr/>
              </p:nvSpPr>
              <p:spPr bwMode="auto">
                <a:xfrm>
                  <a:off x="1731" y="2015"/>
                  <a:ext cx="192" cy="216"/>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8</m:t>
                            </m:r>
                          </m:sub>
                        </m:sSub>
                      </m:oMath>
                    </m:oMathPara>
                  </a14:m>
                  <a:endParaRPr lang="en-US"/>
                </a:p>
              </p:txBody>
            </p:sp>
          </mc:Choice>
          <mc:Fallback xmlns="">
            <p:sp>
              <p:nvSpPr>
                <p:cNvPr id="121" name="Object 22">
                  <a:extLst>
                    <a:ext uri="{FF2B5EF4-FFF2-40B4-BE49-F238E27FC236}">
                      <a16:creationId xmlns:a16="http://schemas.microsoft.com/office/drawing/2014/main" id="{4BD703A4-DCE4-46D8-88F1-31A592D56DE2}"/>
                    </a:ext>
                  </a:extLst>
                </p:cNvPr>
                <p:cNvSpPr txBox="1">
                  <a:spLocks noRot="1" noChangeAspect="1" noMove="1" noResize="1" noEditPoints="1" noAdjustHandles="1" noChangeArrowheads="1" noChangeShapeType="1" noTextEdit="1"/>
                </p:cNvSpPr>
                <p:nvPr/>
              </p:nvSpPr>
              <p:spPr bwMode="auto">
                <a:xfrm>
                  <a:off x="1731" y="2015"/>
                  <a:ext cx="192" cy="216"/>
                </a:xfrm>
                <a:prstGeom prst="rect">
                  <a:avLst/>
                </a:prstGeom>
                <a:blipFill>
                  <a:blip r:embed="rId24"/>
                  <a:stretch>
                    <a:fillRect r="-4000"/>
                  </a:stretch>
                </a:blipFill>
                <a:ln>
                  <a:noFill/>
                </a:ln>
                <a:effectLst/>
                <a:extLst/>
              </p:spPr>
              <p:txBody>
                <a:bodyPr/>
                <a:lstStyle/>
                <a:p>
                  <a:r>
                    <a:rPr lang="en-US">
                      <a:noFill/>
                    </a:rPr>
                    <a:t> </a:t>
                  </a:r>
                </a:p>
              </p:txBody>
            </p:sp>
          </mc:Fallback>
        </mc:AlternateContent>
      </p:grpSp>
      <p:grpSp>
        <p:nvGrpSpPr>
          <p:cNvPr id="122" name="Group 23">
            <a:extLst>
              <a:ext uri="{FF2B5EF4-FFF2-40B4-BE49-F238E27FC236}">
                <a16:creationId xmlns:a16="http://schemas.microsoft.com/office/drawing/2014/main" id="{58CE363D-36CF-40F0-90DE-75BD151D4C60}"/>
              </a:ext>
            </a:extLst>
          </p:cNvPr>
          <p:cNvGrpSpPr>
            <a:grpSpLocks/>
          </p:cNvGrpSpPr>
          <p:nvPr/>
        </p:nvGrpSpPr>
        <p:grpSpPr bwMode="auto">
          <a:xfrm>
            <a:off x="5747210" y="2808607"/>
            <a:ext cx="1523999" cy="2546350"/>
            <a:chOff x="2827" y="753"/>
            <a:chExt cx="960" cy="1588"/>
          </a:xfrm>
        </p:grpSpPr>
        <mc:AlternateContent xmlns:mc="http://schemas.openxmlformats.org/markup-compatibility/2006" xmlns:a14="http://schemas.microsoft.com/office/drawing/2010/main">
          <mc:Choice Requires="a14">
            <p:sp>
              <p:nvSpPr>
                <p:cNvPr id="123" name="Object 24">
                  <a:extLst>
                    <a:ext uri="{FF2B5EF4-FFF2-40B4-BE49-F238E27FC236}">
                      <a16:creationId xmlns:a16="http://schemas.microsoft.com/office/drawing/2014/main" id="{A94A3108-AAEC-4A96-9C05-830DCF20DA68}"/>
                    </a:ext>
                  </a:extLst>
                </p:cNvPr>
                <p:cNvSpPr txBox="1"/>
                <p:nvPr/>
              </p:nvSpPr>
              <p:spPr bwMode="auto">
                <a:xfrm>
                  <a:off x="2907" y="753"/>
                  <a:ext cx="743" cy="33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8</m:t>
                            </m:r>
                          </m:sub>
                        </m:sSub>
                      </m:oMath>
                    </m:oMathPara>
                  </a14:m>
                  <a:endParaRPr lang="en-US" sz="2400"/>
                </a:p>
              </p:txBody>
            </p:sp>
          </mc:Choice>
          <mc:Fallback xmlns="">
            <p:sp>
              <p:nvSpPr>
                <p:cNvPr id="123" name="Object 24">
                  <a:extLst>
                    <a:ext uri="{FF2B5EF4-FFF2-40B4-BE49-F238E27FC236}">
                      <a16:creationId xmlns:a16="http://schemas.microsoft.com/office/drawing/2014/main" id="{A94A3108-AAEC-4A96-9C05-830DCF20DA68}"/>
                    </a:ext>
                  </a:extLst>
                </p:cNvPr>
                <p:cNvSpPr txBox="1">
                  <a:spLocks noRot="1" noChangeAspect="1" noMove="1" noResize="1" noEditPoints="1" noAdjustHandles="1" noChangeArrowheads="1" noChangeShapeType="1" noTextEdit="1"/>
                </p:cNvSpPr>
                <p:nvPr/>
              </p:nvSpPr>
              <p:spPr bwMode="auto">
                <a:xfrm>
                  <a:off x="2907" y="753"/>
                  <a:ext cx="743" cy="335"/>
                </a:xfrm>
                <a:prstGeom prst="rect">
                  <a:avLst/>
                </a:prstGeom>
                <a:blipFill>
                  <a:blip r:embed="rId2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Object 25">
                  <a:extLst>
                    <a:ext uri="{FF2B5EF4-FFF2-40B4-BE49-F238E27FC236}">
                      <a16:creationId xmlns:a16="http://schemas.microsoft.com/office/drawing/2014/main" id="{9C449547-0987-48B4-83EF-BA4A7A9E9B03}"/>
                    </a:ext>
                  </a:extLst>
                </p:cNvPr>
                <p:cNvSpPr txBox="1"/>
                <p:nvPr/>
              </p:nvSpPr>
              <p:spPr bwMode="auto">
                <a:xfrm>
                  <a:off x="2827" y="1173"/>
                  <a:ext cx="891" cy="31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b="0" i="1" smtClean="0">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b="0" i="1" smtClean="0">
                                <a:solidFill>
                                  <a:srgbClr val="000000"/>
                                </a:solidFill>
                                <a:latin typeface="Cambria Math" panose="02040503050406030204" pitchFamily="18" charset="0"/>
                              </a:rPr>
                              <m:t>7</m:t>
                            </m:r>
                          </m:sub>
                        </m:sSub>
                      </m:oMath>
                    </m:oMathPara>
                  </a14:m>
                  <a:endParaRPr lang="en-US" sz="2400" dirty="0"/>
                </a:p>
              </p:txBody>
            </p:sp>
          </mc:Choice>
          <mc:Fallback xmlns="">
            <p:sp>
              <p:nvSpPr>
                <p:cNvPr id="124" name="Object 25">
                  <a:extLst>
                    <a:ext uri="{FF2B5EF4-FFF2-40B4-BE49-F238E27FC236}">
                      <a16:creationId xmlns:a16="http://schemas.microsoft.com/office/drawing/2014/main" xmlns:a14="http://schemas.microsoft.com/office/drawing/2010/main" xmlns="" id="{9C449547-0987-48B4-83EF-BA4A7A9E9B03}"/>
                    </a:ext>
                  </a:extLst>
                </p:cNvPr>
                <p:cNvSpPr txBox="1">
                  <a:spLocks noRot="1" noChangeAspect="1" noMove="1" noResize="1" noEditPoints="1" noAdjustHandles="1" noChangeArrowheads="1" noChangeShapeType="1" noTextEdit="1"/>
                </p:cNvSpPr>
                <p:nvPr/>
              </p:nvSpPr>
              <p:spPr bwMode="auto">
                <a:xfrm>
                  <a:off x="2827" y="1173"/>
                  <a:ext cx="891" cy="317"/>
                </a:xfrm>
                <a:prstGeom prst="rect">
                  <a:avLst/>
                </a:prstGeom>
                <a:blipFill rotWithShape="0">
                  <a:blip r:embed="rId26"/>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Object 26">
                  <a:extLst>
                    <a:ext uri="{FF2B5EF4-FFF2-40B4-BE49-F238E27FC236}">
                      <a16:creationId xmlns:a16="http://schemas.microsoft.com/office/drawing/2014/main" id="{B474C29F-55C7-486C-BBDD-EE0F0FBA09B5}"/>
                    </a:ext>
                  </a:extLst>
                </p:cNvPr>
                <p:cNvSpPr txBox="1"/>
                <p:nvPr/>
              </p:nvSpPr>
              <p:spPr bwMode="auto">
                <a:xfrm>
                  <a:off x="2885" y="1572"/>
                  <a:ext cx="891" cy="33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3</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6</m:t>
                            </m:r>
                          </m:sub>
                        </m:sSub>
                      </m:oMath>
                    </m:oMathPara>
                  </a14:m>
                  <a:endParaRPr lang="en-US" sz="2400"/>
                </a:p>
              </p:txBody>
            </p:sp>
          </mc:Choice>
          <mc:Fallback xmlns="">
            <p:sp>
              <p:nvSpPr>
                <p:cNvPr id="125" name="Object 26">
                  <a:extLst>
                    <a:ext uri="{FF2B5EF4-FFF2-40B4-BE49-F238E27FC236}">
                      <a16:creationId xmlns:a16="http://schemas.microsoft.com/office/drawing/2014/main" id="{B474C29F-55C7-486C-BBDD-EE0F0FBA09B5}"/>
                    </a:ext>
                  </a:extLst>
                </p:cNvPr>
                <p:cNvSpPr txBox="1">
                  <a:spLocks noRot="1" noChangeAspect="1" noMove="1" noResize="1" noEditPoints="1" noAdjustHandles="1" noChangeArrowheads="1" noChangeShapeType="1" noTextEdit="1"/>
                </p:cNvSpPr>
                <p:nvPr/>
              </p:nvSpPr>
              <p:spPr bwMode="auto">
                <a:xfrm>
                  <a:off x="2885" y="1572"/>
                  <a:ext cx="891" cy="335"/>
                </a:xfrm>
                <a:prstGeom prst="rect">
                  <a:avLst/>
                </a:prstGeom>
                <a:blipFill>
                  <a:blip r:embed="rId27"/>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Object 27">
                  <a:extLst>
                    <a:ext uri="{FF2B5EF4-FFF2-40B4-BE49-F238E27FC236}">
                      <a16:creationId xmlns:a16="http://schemas.microsoft.com/office/drawing/2014/main" id="{893120F9-603C-4BF9-BCC7-91672B4038E3}"/>
                    </a:ext>
                  </a:extLst>
                </p:cNvPr>
                <p:cNvSpPr txBox="1"/>
                <p:nvPr/>
              </p:nvSpPr>
              <p:spPr bwMode="auto">
                <a:xfrm>
                  <a:off x="2895" y="2006"/>
                  <a:ext cx="892" cy="33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4</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5</m:t>
                            </m:r>
                          </m:sub>
                        </m:sSub>
                      </m:oMath>
                    </m:oMathPara>
                  </a14:m>
                  <a:endParaRPr lang="en-US" sz="2400"/>
                </a:p>
              </p:txBody>
            </p:sp>
          </mc:Choice>
          <mc:Fallback xmlns="">
            <p:sp>
              <p:nvSpPr>
                <p:cNvPr id="126" name="Object 27">
                  <a:extLst>
                    <a:ext uri="{FF2B5EF4-FFF2-40B4-BE49-F238E27FC236}">
                      <a16:creationId xmlns:a16="http://schemas.microsoft.com/office/drawing/2014/main" id="{893120F9-603C-4BF9-BCC7-91672B4038E3}"/>
                    </a:ext>
                  </a:extLst>
                </p:cNvPr>
                <p:cNvSpPr txBox="1">
                  <a:spLocks noRot="1" noChangeAspect="1" noMove="1" noResize="1" noEditPoints="1" noAdjustHandles="1" noChangeArrowheads="1" noChangeShapeType="1" noTextEdit="1"/>
                </p:cNvSpPr>
                <p:nvPr/>
              </p:nvSpPr>
              <p:spPr bwMode="auto">
                <a:xfrm>
                  <a:off x="2895" y="2006"/>
                  <a:ext cx="892" cy="335"/>
                </a:xfrm>
                <a:prstGeom prst="rect">
                  <a:avLst/>
                </a:prstGeom>
                <a:blipFill>
                  <a:blip r:embed="rId28"/>
                  <a:stretch>
                    <a:fillRect/>
                  </a:stretch>
                </a:blipFill>
                <a:ln>
                  <a:noFill/>
                </a:ln>
                <a:effectLst/>
                <a:extLst/>
              </p:spPr>
              <p:txBody>
                <a:bodyPr/>
                <a:lstStyle/>
                <a:p>
                  <a:r>
                    <a:rPr lang="en-US">
                      <a:noFill/>
                    </a:rPr>
                    <a:t> </a:t>
                  </a:r>
                </a:p>
              </p:txBody>
            </p:sp>
          </mc:Fallback>
        </mc:AlternateContent>
      </p:grpSp>
      <p:grpSp>
        <p:nvGrpSpPr>
          <p:cNvPr id="127" name="Group 28">
            <a:extLst>
              <a:ext uri="{FF2B5EF4-FFF2-40B4-BE49-F238E27FC236}">
                <a16:creationId xmlns:a16="http://schemas.microsoft.com/office/drawing/2014/main" id="{378A0386-3E1F-4D06-A556-D34A1D1D4352}"/>
              </a:ext>
            </a:extLst>
          </p:cNvPr>
          <p:cNvGrpSpPr>
            <a:grpSpLocks/>
          </p:cNvGrpSpPr>
          <p:nvPr/>
        </p:nvGrpSpPr>
        <p:grpSpPr bwMode="auto">
          <a:xfrm>
            <a:off x="8495174" y="2835594"/>
            <a:ext cx="1439862" cy="2520950"/>
            <a:chOff x="4377" y="754"/>
            <a:chExt cx="907" cy="1588"/>
          </a:xfrm>
        </p:grpSpPr>
        <mc:AlternateContent xmlns:mc="http://schemas.openxmlformats.org/markup-compatibility/2006" xmlns:a14="http://schemas.microsoft.com/office/drawing/2010/main">
          <mc:Choice Requires="a14">
            <p:sp>
              <p:nvSpPr>
                <p:cNvPr id="128" name="Object 29">
                  <a:extLst>
                    <a:ext uri="{FF2B5EF4-FFF2-40B4-BE49-F238E27FC236}">
                      <a16:creationId xmlns:a16="http://schemas.microsoft.com/office/drawing/2014/main" id="{F3D80895-DA65-4578-B938-5979ED763D8D}"/>
                    </a:ext>
                  </a:extLst>
                </p:cNvPr>
                <p:cNvSpPr txBox="1"/>
                <p:nvPr/>
              </p:nvSpPr>
              <p:spPr bwMode="auto">
                <a:xfrm>
                  <a:off x="4404" y="754"/>
                  <a:ext cx="743" cy="33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8</m:t>
                            </m:r>
                          </m:sub>
                        </m:sSub>
                      </m:oMath>
                    </m:oMathPara>
                  </a14:m>
                  <a:endParaRPr lang="en-US" sz="2400"/>
                </a:p>
              </p:txBody>
            </p:sp>
          </mc:Choice>
          <mc:Fallback xmlns="">
            <p:sp>
              <p:nvSpPr>
                <p:cNvPr id="128" name="Object 29">
                  <a:extLst>
                    <a:ext uri="{FF2B5EF4-FFF2-40B4-BE49-F238E27FC236}">
                      <a16:creationId xmlns:a16="http://schemas.microsoft.com/office/drawing/2014/main" id="{F3D80895-DA65-4578-B938-5979ED763D8D}"/>
                    </a:ext>
                  </a:extLst>
                </p:cNvPr>
                <p:cNvSpPr txBox="1">
                  <a:spLocks noRot="1" noChangeAspect="1" noMove="1" noResize="1" noEditPoints="1" noAdjustHandles="1" noChangeArrowheads="1" noChangeShapeType="1" noTextEdit="1"/>
                </p:cNvSpPr>
                <p:nvPr/>
              </p:nvSpPr>
              <p:spPr bwMode="auto">
                <a:xfrm>
                  <a:off x="4404" y="754"/>
                  <a:ext cx="743" cy="335"/>
                </a:xfrm>
                <a:prstGeom prst="rect">
                  <a:avLst/>
                </a:prstGeom>
                <a:blipFill>
                  <a:blip r:embed="rId29"/>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Object 30">
                  <a:extLst>
                    <a:ext uri="{FF2B5EF4-FFF2-40B4-BE49-F238E27FC236}">
                      <a16:creationId xmlns:a16="http://schemas.microsoft.com/office/drawing/2014/main" id="{DD1B2627-096E-426D-8405-BFD4839051B6}"/>
                    </a:ext>
                  </a:extLst>
                </p:cNvPr>
                <p:cNvSpPr txBox="1"/>
                <p:nvPr/>
              </p:nvSpPr>
              <p:spPr bwMode="auto">
                <a:xfrm>
                  <a:off x="4377" y="1165"/>
                  <a:ext cx="891" cy="33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3</m:t>
                            </m:r>
                          </m:sub>
                        </m:sSub>
                      </m:oMath>
                    </m:oMathPara>
                  </a14:m>
                  <a:endParaRPr lang="en-US" sz="2400"/>
                </a:p>
              </p:txBody>
            </p:sp>
          </mc:Choice>
          <mc:Fallback xmlns="">
            <p:sp>
              <p:nvSpPr>
                <p:cNvPr id="129" name="Object 30">
                  <a:extLst>
                    <a:ext uri="{FF2B5EF4-FFF2-40B4-BE49-F238E27FC236}">
                      <a16:creationId xmlns:a16="http://schemas.microsoft.com/office/drawing/2014/main" id="{DD1B2627-096E-426D-8405-BFD4839051B6}"/>
                    </a:ext>
                  </a:extLst>
                </p:cNvPr>
                <p:cNvSpPr txBox="1">
                  <a:spLocks noRot="1" noChangeAspect="1" noMove="1" noResize="1" noEditPoints="1" noAdjustHandles="1" noChangeArrowheads="1" noChangeShapeType="1" noTextEdit="1"/>
                </p:cNvSpPr>
                <p:nvPr/>
              </p:nvSpPr>
              <p:spPr bwMode="auto">
                <a:xfrm>
                  <a:off x="4377" y="1165"/>
                  <a:ext cx="891" cy="336"/>
                </a:xfrm>
                <a:prstGeom prst="rect">
                  <a:avLst/>
                </a:prstGeom>
                <a:blipFill>
                  <a:blip r:embed="rId30"/>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Object 31">
                  <a:extLst>
                    <a:ext uri="{FF2B5EF4-FFF2-40B4-BE49-F238E27FC236}">
                      <a16:creationId xmlns:a16="http://schemas.microsoft.com/office/drawing/2014/main" id="{DA9A9510-CD00-4AFE-B982-69D4F618353E}"/>
                    </a:ext>
                  </a:extLst>
                </p:cNvPr>
                <p:cNvSpPr txBox="1"/>
                <p:nvPr/>
              </p:nvSpPr>
              <p:spPr bwMode="auto">
                <a:xfrm>
                  <a:off x="4382" y="1573"/>
                  <a:ext cx="891" cy="33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4</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5</m:t>
                            </m:r>
                          </m:sub>
                        </m:sSub>
                      </m:oMath>
                    </m:oMathPara>
                  </a14:m>
                  <a:endParaRPr lang="en-US" sz="2400"/>
                </a:p>
              </p:txBody>
            </p:sp>
          </mc:Choice>
          <mc:Fallback xmlns="">
            <p:sp>
              <p:nvSpPr>
                <p:cNvPr id="130" name="Object 31">
                  <a:extLst>
                    <a:ext uri="{FF2B5EF4-FFF2-40B4-BE49-F238E27FC236}">
                      <a16:creationId xmlns:a16="http://schemas.microsoft.com/office/drawing/2014/main" id="{DA9A9510-CD00-4AFE-B982-69D4F618353E}"/>
                    </a:ext>
                  </a:extLst>
                </p:cNvPr>
                <p:cNvSpPr txBox="1">
                  <a:spLocks noRot="1" noChangeAspect="1" noMove="1" noResize="1" noEditPoints="1" noAdjustHandles="1" noChangeArrowheads="1" noChangeShapeType="1" noTextEdit="1"/>
                </p:cNvSpPr>
                <p:nvPr/>
              </p:nvSpPr>
              <p:spPr bwMode="auto">
                <a:xfrm>
                  <a:off x="4382" y="1573"/>
                  <a:ext cx="891" cy="335"/>
                </a:xfrm>
                <a:prstGeom prst="rect">
                  <a:avLst/>
                </a:prstGeom>
                <a:blipFill>
                  <a:blip r:embed="rId31"/>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Object 32">
                  <a:extLst>
                    <a:ext uri="{FF2B5EF4-FFF2-40B4-BE49-F238E27FC236}">
                      <a16:creationId xmlns:a16="http://schemas.microsoft.com/office/drawing/2014/main" id="{1AA6930F-9A03-4E38-A7E2-CFEEA0896A2A}"/>
                    </a:ext>
                  </a:extLst>
                </p:cNvPr>
                <p:cNvSpPr txBox="1"/>
                <p:nvPr/>
              </p:nvSpPr>
              <p:spPr bwMode="auto">
                <a:xfrm>
                  <a:off x="4392" y="2007"/>
                  <a:ext cx="892" cy="33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6</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7</m:t>
                            </m:r>
                          </m:sub>
                        </m:sSub>
                      </m:oMath>
                    </m:oMathPara>
                  </a14:m>
                  <a:endParaRPr lang="en-US" sz="2400"/>
                </a:p>
              </p:txBody>
            </p:sp>
          </mc:Choice>
          <mc:Fallback xmlns="">
            <p:sp>
              <p:nvSpPr>
                <p:cNvPr id="131" name="Object 32">
                  <a:extLst>
                    <a:ext uri="{FF2B5EF4-FFF2-40B4-BE49-F238E27FC236}">
                      <a16:creationId xmlns:a16="http://schemas.microsoft.com/office/drawing/2014/main" id="{1AA6930F-9A03-4E38-A7E2-CFEEA0896A2A}"/>
                    </a:ext>
                  </a:extLst>
                </p:cNvPr>
                <p:cNvSpPr txBox="1">
                  <a:spLocks noRot="1" noChangeAspect="1" noMove="1" noResize="1" noEditPoints="1" noAdjustHandles="1" noChangeArrowheads="1" noChangeShapeType="1" noTextEdit="1"/>
                </p:cNvSpPr>
                <p:nvPr/>
              </p:nvSpPr>
              <p:spPr bwMode="auto">
                <a:xfrm>
                  <a:off x="4392" y="2007"/>
                  <a:ext cx="892" cy="335"/>
                </a:xfrm>
                <a:prstGeom prst="rect">
                  <a:avLst/>
                </a:prstGeom>
                <a:blipFill>
                  <a:blip r:embed="rId32"/>
                  <a:stretch>
                    <a:fillRect/>
                  </a:stretch>
                </a:blipFill>
                <a:ln>
                  <a:noFill/>
                </a:ln>
                <a:effectLst/>
                <a:extLst/>
              </p:spPr>
              <p:txBody>
                <a:bodyPr/>
                <a:lstStyle/>
                <a:p>
                  <a:r>
                    <a:rPr lang="en-US">
                      <a:noFill/>
                    </a:rPr>
                    <a:t> </a:t>
                  </a:r>
                </a:p>
              </p:txBody>
            </p:sp>
          </mc:Fallback>
        </mc:AlternateContent>
      </p:grpSp>
      <p:grpSp>
        <p:nvGrpSpPr>
          <p:cNvPr id="18" name="组合 17">
            <a:extLst>
              <a:ext uri="{FF2B5EF4-FFF2-40B4-BE49-F238E27FC236}">
                <a16:creationId xmlns:a16="http://schemas.microsoft.com/office/drawing/2014/main" id="{FC85AF7C-0C1F-48D3-8081-1CEECF7223D0}"/>
              </a:ext>
            </a:extLst>
          </p:cNvPr>
          <p:cNvGrpSpPr/>
          <p:nvPr>
            <p:custDataLst>
              <p:tags r:id="rId6"/>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F3B1F34B-2D72-4F5D-9681-6F3A4946D7CA}"/>
                </a:ext>
              </a:extLst>
            </p:cNvPr>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A226C2F6-A749-407E-A1AA-AD9FEEE3C609}"/>
                </a:ext>
              </a:extLst>
            </p:cNvPr>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AF40E7F5-928E-4D9C-AF63-858E5F17E689}"/>
                </a:ext>
              </a:extLst>
            </p:cNvPr>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E0D974EA-B35A-4D60-85C7-56B902DBCF30}"/>
                </a:ext>
              </a:extLst>
            </p:cNvPr>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535A852A-5AF9-4A8F-92A1-7DBD06FE7080}"/>
              </a:ext>
            </a:extLst>
          </p:cNvPr>
          <p:cNvPicPr>
            <a:picLocks/>
          </p:cNvPicPr>
          <p:nvPr>
            <p:custDataLst>
              <p:tags r:id="rId7"/>
            </p:custDataLst>
          </p:nvPr>
        </p:nvPicPr>
        <p:blipFill>
          <a:blip r:embed="rId3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663368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title"/>
              </p:nvPr>
            </p:nvSpPr>
            <p:spPr>
              <a:xfrm>
                <a:off x="546393" y="451521"/>
                <a:ext cx="8519570" cy="1221952"/>
              </a:xfrm>
            </p:spPr>
            <p:txBody>
              <a:bodyPr>
                <a:noAutofit/>
              </a:bodyPr>
              <a:lstStyle/>
              <a:p>
                <a:pPr>
                  <a:lnSpc>
                    <a:spcPct val="120000"/>
                  </a:lnSpc>
                </a:pPr>
                <a:r>
                  <a:rPr kumimoji="1" lang="zh-CN" altLang="en-US" sz="2800" spc="300" dirty="0">
                    <a:solidFill>
                      <a:schemeClr val="tx1"/>
                    </a:solidFill>
                    <a:latin typeface="华文楷体" panose="02010600040101010101" pitchFamily="2" charset="-122"/>
                    <a:ea typeface="华文楷体" panose="02010600040101010101" pitchFamily="2" charset="-122"/>
                  </a:rPr>
                  <a:t>例：导体球壳内外半径分别为</a:t>
                </a:r>
                <a:r>
                  <a:rPr kumimoji="1" lang="en-US" altLang="zh-CN" sz="2800" i="1" spc="300" dirty="0">
                    <a:solidFill>
                      <a:schemeClr val="tx1"/>
                    </a:solidFill>
                    <a:latin typeface="华文楷体" panose="02010600040101010101" pitchFamily="2" charset="-122"/>
                    <a:ea typeface="华文楷体" panose="02010600040101010101" pitchFamily="2" charset="-122"/>
                  </a:rPr>
                  <a:t>R</a:t>
                </a:r>
                <a:r>
                  <a:rPr kumimoji="1" lang="en-US" altLang="zh-CN" sz="2800" spc="300" baseline="-25000" dirty="0">
                    <a:solidFill>
                      <a:schemeClr val="tx1"/>
                    </a:solidFill>
                    <a:latin typeface="华文楷体" panose="02010600040101010101" pitchFamily="2" charset="-122"/>
                    <a:ea typeface="华文楷体" panose="02010600040101010101" pitchFamily="2" charset="-122"/>
                  </a:rPr>
                  <a:t>1</a:t>
                </a:r>
                <a:r>
                  <a:rPr kumimoji="1" lang="zh-CN" altLang="en-US" sz="2800" spc="300" dirty="0">
                    <a:solidFill>
                      <a:schemeClr val="tx1"/>
                    </a:solidFill>
                    <a:latin typeface="华文楷体" panose="02010600040101010101" pitchFamily="2" charset="-122"/>
                    <a:ea typeface="华文楷体" panose="02010600040101010101" pitchFamily="2" charset="-122"/>
                  </a:rPr>
                  <a:t>和</a:t>
                </a:r>
                <a:r>
                  <a:rPr kumimoji="1" lang="en-US" altLang="zh-CN" sz="2800" i="1" spc="300" dirty="0">
                    <a:solidFill>
                      <a:schemeClr val="tx1"/>
                    </a:solidFill>
                    <a:latin typeface="华文楷体" panose="02010600040101010101" pitchFamily="2" charset="-122"/>
                    <a:ea typeface="华文楷体" panose="02010600040101010101" pitchFamily="2" charset="-122"/>
                  </a:rPr>
                  <a:t>R</a:t>
                </a:r>
                <a:r>
                  <a:rPr kumimoji="1" lang="en-US" altLang="zh-CN" sz="2800" spc="300" baseline="-25000" dirty="0">
                    <a:solidFill>
                      <a:schemeClr val="tx1"/>
                    </a:solidFill>
                    <a:latin typeface="华文楷体" panose="02010600040101010101" pitchFamily="2" charset="-122"/>
                    <a:ea typeface="华文楷体" panose="02010600040101010101" pitchFamily="2" charset="-122"/>
                  </a:rPr>
                  <a:t>2</a:t>
                </a:r>
                <a:r>
                  <a:rPr kumimoji="1" lang="zh-CN" altLang="en-US" sz="2800" spc="300" dirty="0">
                    <a:solidFill>
                      <a:schemeClr val="tx1"/>
                    </a:solidFill>
                    <a:latin typeface="华文楷体" panose="02010600040101010101" pitchFamily="2" charset="-122"/>
                    <a:ea typeface="华文楷体" panose="02010600040101010101" pitchFamily="2" charset="-122"/>
                  </a:rPr>
                  <a:t>，导体小球半径为</a:t>
                </a:r>
                <a14:m>
                  <m:oMath xmlns:m="http://schemas.openxmlformats.org/officeDocument/2006/math">
                    <m:r>
                      <a:rPr kumimoji="1" lang="en-US" altLang="zh-CN" sz="2800" b="1" i="1" spc="300" dirty="0">
                        <a:solidFill>
                          <a:schemeClr val="tx1"/>
                        </a:solidFill>
                        <a:latin typeface="Cambria Math" panose="02040503050406030204" pitchFamily="18" charset="0"/>
                      </a:rPr>
                      <m:t>𝒓</m:t>
                    </m:r>
                  </m:oMath>
                </a14:m>
                <a:r>
                  <a:rPr kumimoji="1" lang="zh-CN" altLang="en-US" sz="2800" spc="300" dirty="0">
                    <a:solidFill>
                      <a:schemeClr val="tx1"/>
                    </a:solidFill>
                    <a:latin typeface="华文楷体" panose="02010600040101010101" pitchFamily="2" charset="-122"/>
                    <a:ea typeface="华文楷体" panose="02010600040101010101" pitchFamily="2" charset="-122"/>
                  </a:rPr>
                  <a:t>。二者同心，电荷量分别为</a:t>
                </a:r>
                <a14:m>
                  <m:oMath xmlns:m="http://schemas.openxmlformats.org/officeDocument/2006/math">
                    <m:r>
                      <a:rPr kumimoji="1" lang="en-US" altLang="zh-CN" sz="2800" b="1" i="1" spc="300" dirty="0">
                        <a:solidFill>
                          <a:schemeClr val="tx1"/>
                        </a:solidFill>
                        <a:latin typeface="Cambria Math" panose="02040503050406030204" pitchFamily="18" charset="0"/>
                        <a:ea typeface="华文新魏" panose="02010800040101010101" pitchFamily="2" charset="-122"/>
                      </a:rPr>
                      <m:t>𝑸</m:t>
                    </m:r>
                  </m:oMath>
                </a14:m>
                <a:r>
                  <a:rPr kumimoji="1" lang="zh-CN" altLang="en-US" sz="2800" spc="300" dirty="0">
                    <a:solidFill>
                      <a:schemeClr val="tx1"/>
                    </a:solidFill>
                    <a:latin typeface="华文楷体" panose="02010600040101010101" pitchFamily="2" charset="-122"/>
                    <a:ea typeface="华文楷体" panose="02010600040101010101" pitchFamily="2" charset="-122"/>
                  </a:rPr>
                  <a:t>和</a:t>
                </a:r>
                <a14:m>
                  <m:oMath xmlns:m="http://schemas.openxmlformats.org/officeDocument/2006/math">
                    <m:r>
                      <a:rPr kumimoji="1" lang="en-US" altLang="zh-CN" sz="2800" b="1" i="1" spc="300" dirty="0">
                        <a:solidFill>
                          <a:schemeClr val="tx1"/>
                        </a:solidFill>
                        <a:latin typeface="Cambria Math" panose="02040503050406030204" pitchFamily="18" charset="0"/>
                        <a:ea typeface="华文新魏" panose="02010800040101010101" pitchFamily="2" charset="-122"/>
                      </a:rPr>
                      <m:t>𝒒</m:t>
                    </m:r>
                  </m:oMath>
                </a14:m>
                <a:r>
                  <a:rPr lang="en-US" altLang="zh-CN" sz="2800" spc="300" dirty="0">
                    <a:solidFill>
                      <a:schemeClr val="tx1"/>
                    </a:solidFill>
                    <a:latin typeface="华文楷体" panose="02010600040101010101" pitchFamily="2" charset="-122"/>
                    <a:ea typeface="华文楷体" panose="02010600040101010101" pitchFamily="2" charset="-122"/>
                  </a:rPr>
                  <a:t>.</a:t>
                </a:r>
                <a:endParaRPr lang="zh-CN" altLang="en-US" sz="2800" spc="300" dirty="0">
                  <a:solidFill>
                    <a:schemeClr val="tx1"/>
                  </a:solidFill>
                  <a:latin typeface="华文楷体" panose="02010600040101010101" pitchFamily="2" charset="-122"/>
                  <a:ea typeface="华文楷体" panose="02010600040101010101" pitchFamily="2" charset="-122"/>
                </a:endParaRPr>
              </a:p>
            </p:txBody>
          </p:sp>
        </mc:Choice>
        <mc:Fallback xmlns="">
          <p:sp>
            <p:nvSpPr>
              <p:cNvPr id="2" name="标题 1"/>
              <p:cNvSpPr>
                <a:spLocks noGrp="1" noRot="1" noChangeAspect="1" noMove="1" noResize="1" noEditPoints="1" noAdjustHandles="1" noChangeArrowheads="1" noChangeShapeType="1" noTextEdit="1"/>
              </p:cNvSpPr>
              <p:nvPr>
                <p:ph type="title"/>
              </p:nvPr>
            </p:nvSpPr>
            <p:spPr>
              <a:xfrm>
                <a:off x="546393" y="451521"/>
                <a:ext cx="8519570" cy="1221952"/>
              </a:xfrm>
              <a:blipFill>
                <a:blip r:embed="rId2"/>
                <a:stretch>
                  <a:fillRect l="-1503" r="-358" b="-79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内容占位符 2"/>
              <p:cNvSpPr>
                <a:spLocks noGrp="1"/>
              </p:cNvSpPr>
              <p:nvPr>
                <p:ph sz="half" idx="1"/>
              </p:nvPr>
            </p:nvSpPr>
            <p:spPr>
              <a:xfrm>
                <a:off x="838053" y="1633700"/>
                <a:ext cx="7329056" cy="4463586"/>
              </a:xfrm>
            </p:spPr>
            <p:txBody>
              <a:bodyPr>
                <a:noAutofit/>
              </a:bodyPr>
              <a:lstStyle/>
              <a:p>
                <a:pPr marL="0" indent="0">
                  <a:lnSpc>
                    <a:spcPct val="130000"/>
                  </a:lnSpc>
                  <a:spcBef>
                    <a:spcPts val="600"/>
                  </a:spcBef>
                  <a:buNone/>
                </a:pPr>
                <a:r>
                  <a:rPr kumimoji="1" lang="zh-CN" altLang="en-US" spc="300" dirty="0">
                    <a:solidFill>
                      <a:srgbClr val="000000"/>
                    </a:solidFill>
                    <a:latin typeface="华文楷体" panose="02010600040101010101" pitchFamily="2" charset="-122"/>
                    <a:ea typeface="华文楷体" panose="02010600040101010101" pitchFamily="2" charset="-122"/>
                  </a:rPr>
                  <a:t>试求： </a:t>
                </a:r>
                <a:endParaRPr kumimoji="1" lang="en-US" altLang="zh-CN" spc="300" dirty="0">
                  <a:solidFill>
                    <a:srgbClr val="000000"/>
                  </a:solidFill>
                  <a:latin typeface="华文楷体" panose="02010600040101010101" pitchFamily="2" charset="-122"/>
                  <a:ea typeface="华文楷体" panose="02010600040101010101" pitchFamily="2" charset="-122"/>
                </a:endParaRPr>
              </a:p>
              <a:p>
                <a:pPr marL="0" indent="0">
                  <a:lnSpc>
                    <a:spcPct val="130000"/>
                  </a:lnSpc>
                  <a:spcBef>
                    <a:spcPts val="600"/>
                  </a:spcBef>
                  <a:buNone/>
                </a:pPr>
                <a:r>
                  <a:rPr kumimoji="1" lang="en-US" altLang="zh-CN" spc="300" dirty="0">
                    <a:solidFill>
                      <a:srgbClr val="000000"/>
                    </a:solidFill>
                    <a:latin typeface="华文楷体" panose="02010600040101010101" pitchFamily="2" charset="-122"/>
                    <a:ea typeface="华文楷体" panose="02010600040101010101" pitchFamily="2" charset="-122"/>
                  </a:rPr>
                  <a:t>- </a:t>
                </a:r>
                <a:r>
                  <a:rPr kumimoji="1" lang="zh-CN" altLang="en-US" spc="300" dirty="0">
                    <a:solidFill>
                      <a:srgbClr val="000000"/>
                    </a:solidFill>
                    <a:latin typeface="华文楷体" panose="02010600040101010101" pitchFamily="2" charset="-122"/>
                    <a:ea typeface="华文楷体" panose="02010600040101010101" pitchFamily="2" charset="-122"/>
                  </a:rPr>
                  <a:t>小球的电势</a:t>
                </a:r>
                <a14:m>
                  <m:oMath xmlns:m="http://schemas.openxmlformats.org/officeDocument/2006/math">
                    <m:sSub>
                      <m:sSubPr>
                        <m:ctrlPr>
                          <a:rPr kumimoji="1" lang="en-US" altLang="zh-CN" i="1" spc="300" dirty="0">
                            <a:solidFill>
                              <a:srgbClr val="000000"/>
                            </a:solidFill>
                            <a:latin typeface="Cambria Math" panose="02040503050406030204" pitchFamily="18" charset="0"/>
                            <a:ea typeface="华文新魏" panose="02010800040101010101" pitchFamily="2" charset="-122"/>
                          </a:rPr>
                        </m:ctrlPr>
                      </m:sSubPr>
                      <m:e>
                        <m:r>
                          <a:rPr kumimoji="1" lang="en-US" altLang="zh-CN" i="1" spc="300" dirty="0">
                            <a:solidFill>
                              <a:srgbClr val="000000"/>
                            </a:solidFill>
                            <a:latin typeface="Cambria Math" panose="02040503050406030204" pitchFamily="18" charset="0"/>
                            <a:ea typeface="华文新魏" panose="02010800040101010101" pitchFamily="2" charset="-122"/>
                          </a:rPr>
                          <m:t>𝑽</m:t>
                        </m:r>
                      </m:e>
                      <m:sub>
                        <m:r>
                          <a:rPr kumimoji="1" lang="en-US" altLang="zh-CN" i="1" spc="300" dirty="0">
                            <a:solidFill>
                              <a:srgbClr val="000000"/>
                            </a:solidFill>
                            <a:latin typeface="Cambria Math" panose="02040503050406030204" pitchFamily="18" charset="0"/>
                            <a:ea typeface="华文新魏" panose="02010800040101010101" pitchFamily="2" charset="-122"/>
                          </a:rPr>
                          <m:t>𝒓</m:t>
                        </m:r>
                      </m:sub>
                    </m:sSub>
                  </m:oMath>
                </a14:m>
                <a:r>
                  <a:rPr kumimoji="1" lang="zh-CN" altLang="en-US" spc="300" dirty="0">
                    <a:solidFill>
                      <a:srgbClr val="000000"/>
                    </a:solidFill>
                    <a:latin typeface="华文楷体" panose="02010600040101010101" pitchFamily="2" charset="-122"/>
                    <a:ea typeface="华文楷体" panose="02010600040101010101" pitchFamily="2" charset="-122"/>
                  </a:rPr>
                  <a:t>，球壳内、外表面的电势              </a:t>
                </a:r>
                <a:endParaRPr kumimoji="1" lang="en-US" altLang="zh-CN" spc="300" dirty="0">
                  <a:solidFill>
                    <a:srgbClr val="000000"/>
                  </a:solidFill>
                  <a:latin typeface="华文楷体" panose="02010600040101010101" pitchFamily="2" charset="-122"/>
                  <a:ea typeface="华文楷体" panose="02010600040101010101" pitchFamily="2" charset="-122"/>
                </a:endParaRPr>
              </a:p>
              <a:p>
                <a:pPr marL="0" indent="0">
                  <a:lnSpc>
                    <a:spcPct val="130000"/>
                  </a:lnSpc>
                  <a:spcBef>
                    <a:spcPts val="600"/>
                  </a:spcBef>
                  <a:buNone/>
                </a:pPr>
                <a:r>
                  <a:rPr kumimoji="1" lang="en-US" altLang="zh-CN" spc="300" dirty="0">
                    <a:solidFill>
                      <a:srgbClr val="000000"/>
                    </a:solidFill>
                    <a:latin typeface="华文楷体" panose="02010600040101010101" pitchFamily="2" charset="-122"/>
                    <a:ea typeface="华文楷体" panose="02010600040101010101" pitchFamily="2" charset="-122"/>
                  </a:rPr>
                  <a:t>- </a:t>
                </a:r>
                <a:r>
                  <a:rPr kumimoji="1" lang="zh-CN" altLang="en-US" spc="300" dirty="0">
                    <a:solidFill>
                      <a:srgbClr val="000000"/>
                    </a:solidFill>
                    <a:latin typeface="华文楷体" panose="02010600040101010101" pitchFamily="2" charset="-122"/>
                    <a:ea typeface="华文楷体" panose="02010600040101010101" pitchFamily="2" charset="-122"/>
                  </a:rPr>
                  <a:t>小球与球壳的电势差；</a:t>
                </a:r>
                <a:endParaRPr kumimoji="1" lang="en-US" altLang="zh-CN" spc="300" dirty="0">
                  <a:solidFill>
                    <a:srgbClr val="000000"/>
                  </a:solidFill>
                  <a:latin typeface="华文楷体" panose="02010600040101010101" pitchFamily="2" charset="-122"/>
                  <a:ea typeface="华文楷体" panose="02010600040101010101" pitchFamily="2" charset="-122"/>
                </a:endParaRPr>
              </a:p>
              <a:p>
                <a:pPr marL="0" indent="0">
                  <a:lnSpc>
                    <a:spcPct val="130000"/>
                  </a:lnSpc>
                  <a:spcBef>
                    <a:spcPts val="600"/>
                  </a:spcBef>
                  <a:buNone/>
                </a:pPr>
                <a:r>
                  <a:rPr kumimoji="1" lang="en-US" altLang="zh-CN" spc="300" dirty="0">
                    <a:solidFill>
                      <a:srgbClr val="000000"/>
                    </a:solidFill>
                    <a:latin typeface="华文楷体" panose="02010600040101010101" pitchFamily="2" charset="-122"/>
                    <a:ea typeface="华文楷体" panose="02010600040101010101" pitchFamily="2" charset="-122"/>
                  </a:rPr>
                  <a:t>- </a:t>
                </a:r>
                <a:r>
                  <a:rPr kumimoji="1" lang="zh-CN" altLang="en-US" spc="300" dirty="0">
                    <a:solidFill>
                      <a:srgbClr val="000000"/>
                    </a:solidFill>
                    <a:latin typeface="华文楷体" panose="02010600040101010101" pitchFamily="2" charset="-122"/>
                    <a:ea typeface="华文楷体" panose="02010600040101010101" pitchFamily="2" charset="-122"/>
                  </a:rPr>
                  <a:t>若球壳接地，再求小球与球壳的电势差。</a:t>
                </a:r>
                <a:r>
                  <a:rPr kumimoji="1" lang="zh-CN" altLang="en-US" spc="300" dirty="0">
                    <a:solidFill>
                      <a:srgbClr val="0000FF"/>
                    </a:solidFill>
                    <a:latin typeface="华文楷体" panose="02010600040101010101" pitchFamily="2" charset="-122"/>
                    <a:ea typeface="华文楷体" panose="02010600040101010101" pitchFamily="2" charset="-122"/>
                  </a:rPr>
                  <a:t> </a:t>
                </a:r>
                <a:endParaRPr lang="zh-CN" altLang="en-US" spc="300" dirty="0">
                  <a:latin typeface="华文楷体" panose="02010600040101010101" pitchFamily="2" charset="-122"/>
                  <a:ea typeface="华文楷体" panose="0201060004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a:off x="838053" y="1633700"/>
                <a:ext cx="7329056" cy="4463586"/>
              </a:xfrm>
              <a:blipFill>
                <a:blip r:embed="rId3"/>
                <a:stretch>
                  <a:fillRect l="-1663" r="-4655"/>
                </a:stretch>
              </a:blipFill>
            </p:spPr>
            <p:txBody>
              <a:bodyPr/>
              <a:lstStyle/>
              <a:p>
                <a:r>
                  <a:rPr lang="en-US">
                    <a:noFill/>
                  </a:rPr>
                  <a:t> </a:t>
                </a:r>
              </a:p>
            </p:txBody>
          </p:sp>
        </mc:Fallback>
      </mc:AlternateContent>
      <p:sp>
        <p:nvSpPr>
          <p:cNvPr id="21" name="AutoShape 3">
            <a:extLst>
              <a:ext uri="{FF2B5EF4-FFF2-40B4-BE49-F238E27FC236}">
                <a16:creationId xmlns:a16="http://schemas.microsoft.com/office/drawing/2014/main" id="{D662D9A1-9495-4252-8F4B-B654BB7BA5C2}"/>
              </a:ext>
            </a:extLst>
          </p:cNvPr>
          <p:cNvSpPr>
            <a:spLocks noChangeArrowheads="1"/>
          </p:cNvSpPr>
          <p:nvPr/>
        </p:nvSpPr>
        <p:spPr bwMode="auto">
          <a:xfrm>
            <a:off x="8610600" y="1455868"/>
            <a:ext cx="2590800" cy="2590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97" y="10800"/>
                </a:moveTo>
                <a:cubicBezTo>
                  <a:pt x="1697" y="15827"/>
                  <a:pt x="5773" y="19903"/>
                  <a:pt x="10800" y="19903"/>
                </a:cubicBezTo>
                <a:cubicBezTo>
                  <a:pt x="15827" y="19903"/>
                  <a:pt x="19903" y="15827"/>
                  <a:pt x="19903" y="10800"/>
                </a:cubicBezTo>
                <a:cubicBezTo>
                  <a:pt x="19903" y="5773"/>
                  <a:pt x="15827" y="1697"/>
                  <a:pt x="10800" y="1697"/>
                </a:cubicBezTo>
                <a:cubicBezTo>
                  <a:pt x="5773" y="1697"/>
                  <a:pt x="1697" y="5773"/>
                  <a:pt x="1697" y="10800"/>
                </a:cubicBezTo>
                <a:close/>
              </a:path>
            </a:pathLst>
          </a:custGeom>
          <a:solidFill>
            <a:srgbClr val="CC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 name="Oval 4">
            <a:extLst>
              <a:ext uri="{FF2B5EF4-FFF2-40B4-BE49-F238E27FC236}">
                <a16:creationId xmlns:a16="http://schemas.microsoft.com/office/drawing/2014/main" id="{49053EAD-FE8A-4CC8-9293-A6E3437E2F69}"/>
              </a:ext>
            </a:extLst>
          </p:cNvPr>
          <p:cNvSpPr>
            <a:spLocks noChangeArrowheads="1"/>
          </p:cNvSpPr>
          <p:nvPr/>
        </p:nvSpPr>
        <p:spPr bwMode="auto">
          <a:xfrm>
            <a:off x="9483725" y="2328993"/>
            <a:ext cx="838200" cy="838200"/>
          </a:xfrm>
          <a:prstGeom prst="ellipse">
            <a:avLst/>
          </a:prstGeom>
          <a:gradFill rotWithShape="0">
            <a:gsLst>
              <a:gs pos="0">
                <a:srgbClr val="FF9900"/>
              </a:gs>
              <a:gs pos="100000">
                <a:srgbClr val="7647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Line 5">
            <a:extLst>
              <a:ext uri="{FF2B5EF4-FFF2-40B4-BE49-F238E27FC236}">
                <a16:creationId xmlns:a16="http://schemas.microsoft.com/office/drawing/2014/main" id="{37D63E45-CCB1-4D85-9382-8EC9F872A682}"/>
              </a:ext>
            </a:extLst>
          </p:cNvPr>
          <p:cNvSpPr>
            <a:spLocks noChangeShapeType="1"/>
          </p:cNvSpPr>
          <p:nvPr/>
        </p:nvSpPr>
        <p:spPr bwMode="auto">
          <a:xfrm flipV="1">
            <a:off x="9940925" y="2041656"/>
            <a:ext cx="1079500" cy="668337"/>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Line 6">
            <a:extLst>
              <a:ext uri="{FF2B5EF4-FFF2-40B4-BE49-F238E27FC236}">
                <a16:creationId xmlns:a16="http://schemas.microsoft.com/office/drawing/2014/main" id="{D85C7C2D-BFCC-4562-9A23-2C61CF9035F9}"/>
              </a:ext>
            </a:extLst>
          </p:cNvPr>
          <p:cNvSpPr>
            <a:spLocks noChangeShapeType="1"/>
          </p:cNvSpPr>
          <p:nvPr/>
        </p:nvSpPr>
        <p:spPr bwMode="auto">
          <a:xfrm flipV="1">
            <a:off x="9940925" y="2671893"/>
            <a:ext cx="1079500" cy="4445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 name="Line 7">
            <a:extLst>
              <a:ext uri="{FF2B5EF4-FFF2-40B4-BE49-F238E27FC236}">
                <a16:creationId xmlns:a16="http://schemas.microsoft.com/office/drawing/2014/main" id="{D37A997B-ACC6-41D3-9DEC-C287E069709F}"/>
              </a:ext>
            </a:extLst>
          </p:cNvPr>
          <p:cNvSpPr>
            <a:spLocks noChangeShapeType="1"/>
          </p:cNvSpPr>
          <p:nvPr/>
        </p:nvSpPr>
        <p:spPr bwMode="auto">
          <a:xfrm flipH="1">
            <a:off x="9940925" y="2716343"/>
            <a:ext cx="0" cy="45720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6" name="Object 8">
                <a:extLst>
                  <a:ext uri="{FF2B5EF4-FFF2-40B4-BE49-F238E27FC236}">
                    <a16:creationId xmlns:a16="http://schemas.microsoft.com/office/drawing/2014/main" id="{E76B12C9-9573-459F-8559-FA2D6D6688BA}"/>
                  </a:ext>
                </a:extLst>
              </p:cNvPr>
              <p:cNvSpPr txBox="1"/>
              <p:nvPr/>
            </p:nvSpPr>
            <p:spPr bwMode="auto">
              <a:xfrm>
                <a:off x="10390188" y="2716343"/>
                <a:ext cx="295275" cy="381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𝑹</m:t>
                          </m:r>
                        </m:e>
                        <m:sub>
                          <m:r>
                            <a:rPr lang="zh-CN" altLang="en-US" sz="2800" b="1" i="1">
                              <a:solidFill>
                                <a:srgbClr val="000000"/>
                              </a:solidFill>
                              <a:latin typeface="Cambria Math" panose="02040503050406030204" pitchFamily="18" charset="0"/>
                            </a:rPr>
                            <m:t>𝟏</m:t>
                          </m:r>
                        </m:sub>
                      </m:sSub>
                    </m:oMath>
                  </m:oMathPara>
                </a14:m>
                <a:endParaRPr lang="zh-CN" altLang="en-US" sz="2800" b="1"/>
              </a:p>
            </p:txBody>
          </p:sp>
        </mc:Choice>
        <mc:Fallback xmlns="">
          <p:sp>
            <p:nvSpPr>
              <p:cNvPr id="26" name="Object 8">
                <a:extLst>
                  <a:ext uri="{FF2B5EF4-FFF2-40B4-BE49-F238E27FC236}">
                    <a16:creationId xmlns:a16="http://schemas.microsoft.com/office/drawing/2014/main" id="{E76B12C9-9573-459F-8559-FA2D6D6688BA}"/>
                  </a:ext>
                </a:extLst>
              </p:cNvPr>
              <p:cNvSpPr txBox="1">
                <a:spLocks noRot="1" noChangeAspect="1" noMove="1" noResize="1" noEditPoints="1" noAdjustHandles="1" noChangeArrowheads="1" noChangeShapeType="1" noTextEdit="1"/>
              </p:cNvSpPr>
              <p:nvPr/>
            </p:nvSpPr>
            <p:spPr bwMode="auto">
              <a:xfrm>
                <a:off x="10390188" y="2716343"/>
                <a:ext cx="295275" cy="381000"/>
              </a:xfrm>
              <a:prstGeom prst="rect">
                <a:avLst/>
              </a:prstGeom>
              <a:blipFill>
                <a:blip r:embed="rId4"/>
                <a:stretch>
                  <a:fillRect r="-59184" b="-2096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9">
                <a:extLst>
                  <a:ext uri="{FF2B5EF4-FFF2-40B4-BE49-F238E27FC236}">
                    <a16:creationId xmlns:a16="http://schemas.microsoft.com/office/drawing/2014/main" id="{0E66C9F6-6289-4407-A5C2-5D733EA772AE}"/>
                  </a:ext>
                </a:extLst>
              </p:cNvPr>
              <p:cNvSpPr txBox="1"/>
              <p:nvPr/>
            </p:nvSpPr>
            <p:spPr bwMode="auto">
              <a:xfrm>
                <a:off x="10056813" y="1890843"/>
                <a:ext cx="355600"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𝑹</m:t>
                          </m:r>
                        </m:e>
                        <m:sub>
                          <m:r>
                            <a:rPr lang="zh-CN" altLang="en-US" sz="2800" b="1" i="1">
                              <a:solidFill>
                                <a:srgbClr val="000000"/>
                              </a:solidFill>
                              <a:latin typeface="Cambria Math" panose="02040503050406030204" pitchFamily="18" charset="0"/>
                            </a:rPr>
                            <m:t>𝟐</m:t>
                          </m:r>
                        </m:sub>
                      </m:sSub>
                    </m:oMath>
                  </m:oMathPara>
                </a14:m>
                <a:endParaRPr lang="zh-CN" altLang="en-US" sz="2800" b="1" dirty="0"/>
              </a:p>
            </p:txBody>
          </p:sp>
        </mc:Choice>
        <mc:Fallback xmlns="">
          <p:sp>
            <p:nvSpPr>
              <p:cNvPr id="27" name="Object 9">
                <a:extLst>
                  <a:ext uri="{FF2B5EF4-FFF2-40B4-BE49-F238E27FC236}">
                    <a16:creationId xmlns:a16="http://schemas.microsoft.com/office/drawing/2014/main" id="{0E66C9F6-6289-4407-A5C2-5D733EA772AE}"/>
                  </a:ext>
                </a:extLst>
              </p:cNvPr>
              <p:cNvSpPr txBox="1">
                <a:spLocks noRot="1" noChangeAspect="1" noMove="1" noResize="1" noEditPoints="1" noAdjustHandles="1" noChangeArrowheads="1" noChangeShapeType="1" noTextEdit="1"/>
              </p:cNvSpPr>
              <p:nvPr/>
            </p:nvSpPr>
            <p:spPr bwMode="auto">
              <a:xfrm>
                <a:off x="10056813" y="1890843"/>
                <a:ext cx="355600" cy="406400"/>
              </a:xfrm>
              <a:prstGeom prst="rect">
                <a:avLst/>
              </a:prstGeom>
              <a:blipFill>
                <a:blip r:embed="rId5"/>
                <a:stretch>
                  <a:fillRect r="-32759" b="-1194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10">
                <a:extLst>
                  <a:ext uri="{FF2B5EF4-FFF2-40B4-BE49-F238E27FC236}">
                    <a16:creationId xmlns:a16="http://schemas.microsoft.com/office/drawing/2014/main" id="{8618CDDB-3B50-4DA6-BA6B-410BFB5D9519}"/>
                  </a:ext>
                </a:extLst>
              </p:cNvPr>
              <p:cNvSpPr txBox="1"/>
              <p:nvPr/>
            </p:nvSpPr>
            <p:spPr bwMode="auto">
              <a:xfrm>
                <a:off x="9533563" y="2553912"/>
                <a:ext cx="528638" cy="412750"/>
              </a:xfrm>
              <a:prstGeom prst="rect">
                <a:avLst/>
              </a:prstGeom>
              <a:noFill/>
              <a:ln>
                <a:noFill/>
              </a:ln>
              <a:effectLst/>
            </p:spPr>
            <p:txBody>
              <a:bodyPr>
                <a:noAutofit/>
              </a:bodyPr>
              <a:lstStyle>
                <a:defPPr>
                  <a:defRPr lang="en-US"/>
                </a:defPPr>
                <a:lvl1pPr>
                  <a:defRPr sz="2800" b="1" i="1">
                    <a:solidFill>
                      <a:srgbClr val="00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𝒓</m:t>
                      </m:r>
                    </m:oMath>
                  </m:oMathPara>
                </a14:m>
                <a:endParaRPr lang="zh-CN" altLang="en-US"/>
              </a:p>
            </p:txBody>
          </p:sp>
        </mc:Choice>
        <mc:Fallback xmlns="">
          <p:sp>
            <p:nvSpPr>
              <p:cNvPr id="28" name="Object 10">
                <a:extLst>
                  <a:ext uri="{FF2B5EF4-FFF2-40B4-BE49-F238E27FC236}">
                    <a16:creationId xmlns:a16="http://schemas.microsoft.com/office/drawing/2014/main" id="{8618CDDB-3B50-4DA6-BA6B-410BFB5D9519}"/>
                  </a:ext>
                </a:extLst>
              </p:cNvPr>
              <p:cNvSpPr txBox="1">
                <a:spLocks noRot="1" noChangeAspect="1" noMove="1" noResize="1" noEditPoints="1" noAdjustHandles="1" noChangeArrowheads="1" noChangeShapeType="1" noTextEdit="1"/>
              </p:cNvSpPr>
              <p:nvPr/>
            </p:nvSpPr>
            <p:spPr bwMode="auto">
              <a:xfrm>
                <a:off x="9533563" y="2553912"/>
                <a:ext cx="528638" cy="412750"/>
              </a:xfrm>
              <a:prstGeom prst="rect">
                <a:avLst/>
              </a:prstGeom>
              <a:blipFill>
                <a:blip r:embed="rId6"/>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6316076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9" name="Object 3"/>
          <p:cNvSpPr txBox="1"/>
          <p:nvPr/>
        </p:nvSpPr>
        <p:spPr bwMode="auto">
          <a:xfrm>
            <a:off x="436433" y="757378"/>
            <a:ext cx="7541376" cy="857577"/>
          </a:xfrm>
          <a:prstGeom prst="rect">
            <a:avLst/>
          </a:prstGeom>
          <a:noFill/>
          <a:ln>
            <a:noFill/>
          </a:ln>
          <a:effectLst/>
        </p:spPr>
        <p:txBody>
          <a:bodyPr>
            <a:noAutofit/>
          </a:bodyPr>
          <a:lstStyle/>
          <a:p>
            <a:pPr>
              <a:lnSpc>
                <a:spcPct val="130000"/>
              </a:lnSpc>
            </a:pPr>
            <a:r>
              <a:rPr lang="zh-CN" altLang="en-US" sz="2800" dirty="0">
                <a:solidFill>
                  <a:srgbClr val="000000"/>
                </a:solidFill>
                <a:latin typeface="华文楷体" panose="02010600040101010101" pitchFamily="2" charset="-122"/>
                <a:ea typeface="华文楷体" panose="02010600040101010101" pitchFamily="2" charset="-122"/>
              </a:rPr>
              <a:t>静电平衡后，电荷分布如图。</a:t>
            </a:r>
            <a:endParaRPr lang="en-US" altLang="zh-CN" sz="2800" dirty="0">
              <a:solidFill>
                <a:srgbClr val="000000"/>
              </a:solidFill>
              <a:latin typeface="华文楷体" panose="02010600040101010101" pitchFamily="2" charset="-122"/>
              <a:ea typeface="华文楷体" panose="02010600040101010101" pitchFamily="2" charset="-122"/>
            </a:endParaRPr>
          </a:p>
          <a:p>
            <a:pPr>
              <a:lnSpc>
                <a:spcPct val="130000"/>
              </a:lnSpc>
            </a:pPr>
            <a:endParaRPr lang="zh-CN" altLang="en-US" sz="2800" i="1" dirty="0">
              <a:solidFill>
                <a:srgbClr val="000000"/>
              </a:solidFill>
              <a:latin typeface="华文楷体" panose="02010600040101010101" pitchFamily="2" charset="-122"/>
              <a:ea typeface="华文楷体" panose="02010600040101010101" pitchFamily="2" charset="-122"/>
            </a:endParaRPr>
          </a:p>
        </p:txBody>
      </p:sp>
      <p:sp>
        <p:nvSpPr>
          <p:cNvPr id="15" name="AutoShape 3">
            <a:extLst>
              <a:ext uri="{FF2B5EF4-FFF2-40B4-BE49-F238E27FC236}">
                <a16:creationId xmlns:a16="http://schemas.microsoft.com/office/drawing/2014/main" id="{9B00B6B3-4D4C-493D-895A-65738D90D9B9}"/>
              </a:ext>
            </a:extLst>
          </p:cNvPr>
          <p:cNvSpPr>
            <a:spLocks noChangeArrowheads="1"/>
          </p:cNvSpPr>
          <p:nvPr/>
        </p:nvSpPr>
        <p:spPr bwMode="auto">
          <a:xfrm>
            <a:off x="9079049" y="1381232"/>
            <a:ext cx="2590800" cy="2590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97" y="10800"/>
                </a:moveTo>
                <a:cubicBezTo>
                  <a:pt x="1697" y="15827"/>
                  <a:pt x="5773" y="19903"/>
                  <a:pt x="10800" y="19903"/>
                </a:cubicBezTo>
                <a:cubicBezTo>
                  <a:pt x="15827" y="19903"/>
                  <a:pt x="19903" y="15827"/>
                  <a:pt x="19903" y="10800"/>
                </a:cubicBezTo>
                <a:cubicBezTo>
                  <a:pt x="19903" y="5773"/>
                  <a:pt x="15827" y="1697"/>
                  <a:pt x="10800" y="1697"/>
                </a:cubicBezTo>
                <a:cubicBezTo>
                  <a:pt x="5773" y="1697"/>
                  <a:pt x="1697" y="5773"/>
                  <a:pt x="1697" y="10800"/>
                </a:cubicBezTo>
                <a:close/>
              </a:path>
            </a:pathLst>
          </a:custGeom>
          <a:solidFill>
            <a:srgbClr val="CC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Oval 4">
            <a:extLst>
              <a:ext uri="{FF2B5EF4-FFF2-40B4-BE49-F238E27FC236}">
                <a16:creationId xmlns:a16="http://schemas.microsoft.com/office/drawing/2014/main" id="{2E01DC69-9A85-4539-B88C-82B713BF658E}"/>
              </a:ext>
            </a:extLst>
          </p:cNvPr>
          <p:cNvSpPr>
            <a:spLocks noChangeArrowheads="1"/>
          </p:cNvSpPr>
          <p:nvPr/>
        </p:nvSpPr>
        <p:spPr bwMode="auto">
          <a:xfrm>
            <a:off x="9952174" y="2254357"/>
            <a:ext cx="838200" cy="838200"/>
          </a:xfrm>
          <a:prstGeom prst="ellipse">
            <a:avLst/>
          </a:prstGeom>
          <a:gradFill rotWithShape="0">
            <a:gsLst>
              <a:gs pos="0">
                <a:srgbClr val="FF9900"/>
              </a:gs>
              <a:gs pos="100000">
                <a:srgbClr val="7647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Line 5">
            <a:extLst>
              <a:ext uri="{FF2B5EF4-FFF2-40B4-BE49-F238E27FC236}">
                <a16:creationId xmlns:a16="http://schemas.microsoft.com/office/drawing/2014/main" id="{4959076E-129F-48B9-857C-055285B4F852}"/>
              </a:ext>
            </a:extLst>
          </p:cNvPr>
          <p:cNvSpPr>
            <a:spLocks noChangeShapeType="1"/>
          </p:cNvSpPr>
          <p:nvPr/>
        </p:nvSpPr>
        <p:spPr bwMode="auto">
          <a:xfrm flipV="1">
            <a:off x="10409374" y="1967020"/>
            <a:ext cx="1079500" cy="668337"/>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Line 6">
            <a:extLst>
              <a:ext uri="{FF2B5EF4-FFF2-40B4-BE49-F238E27FC236}">
                <a16:creationId xmlns:a16="http://schemas.microsoft.com/office/drawing/2014/main" id="{206E1EE9-12F0-4903-9D93-7461EBBA71D6}"/>
              </a:ext>
            </a:extLst>
          </p:cNvPr>
          <p:cNvSpPr>
            <a:spLocks noChangeShapeType="1"/>
          </p:cNvSpPr>
          <p:nvPr/>
        </p:nvSpPr>
        <p:spPr bwMode="auto">
          <a:xfrm flipV="1">
            <a:off x="10409374" y="2597257"/>
            <a:ext cx="1079500" cy="4445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Line 7">
            <a:extLst>
              <a:ext uri="{FF2B5EF4-FFF2-40B4-BE49-F238E27FC236}">
                <a16:creationId xmlns:a16="http://schemas.microsoft.com/office/drawing/2014/main" id="{A0667039-7705-4385-9DA8-E5A1052EA7B5}"/>
              </a:ext>
            </a:extLst>
          </p:cNvPr>
          <p:cNvSpPr>
            <a:spLocks noChangeShapeType="1"/>
          </p:cNvSpPr>
          <p:nvPr/>
        </p:nvSpPr>
        <p:spPr bwMode="auto">
          <a:xfrm flipH="1">
            <a:off x="10409374" y="2641707"/>
            <a:ext cx="0" cy="45720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 name="Object 8">
                <a:extLst>
                  <a:ext uri="{FF2B5EF4-FFF2-40B4-BE49-F238E27FC236}">
                    <a16:creationId xmlns:a16="http://schemas.microsoft.com/office/drawing/2014/main" id="{824615D9-952E-427D-9266-E2464382F2F3}"/>
                  </a:ext>
                </a:extLst>
              </p:cNvPr>
              <p:cNvSpPr txBox="1"/>
              <p:nvPr/>
            </p:nvSpPr>
            <p:spPr bwMode="auto">
              <a:xfrm>
                <a:off x="10858637" y="2641707"/>
                <a:ext cx="295275" cy="381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𝑹</m:t>
                          </m:r>
                        </m:e>
                        <m:sub>
                          <m:r>
                            <a:rPr lang="zh-CN" altLang="en-US" sz="2800" b="1" i="1">
                              <a:solidFill>
                                <a:srgbClr val="000000"/>
                              </a:solidFill>
                              <a:latin typeface="Cambria Math" panose="02040503050406030204" pitchFamily="18" charset="0"/>
                            </a:rPr>
                            <m:t>𝟏</m:t>
                          </m:r>
                        </m:sub>
                      </m:sSub>
                    </m:oMath>
                  </m:oMathPara>
                </a14:m>
                <a:endParaRPr lang="zh-CN" altLang="en-US" sz="2800" b="1" dirty="0"/>
              </a:p>
            </p:txBody>
          </p:sp>
        </mc:Choice>
        <mc:Fallback xmlns="">
          <p:sp>
            <p:nvSpPr>
              <p:cNvPr id="20" name="Object 8">
                <a:extLst>
                  <a:ext uri="{FF2B5EF4-FFF2-40B4-BE49-F238E27FC236}">
                    <a16:creationId xmlns:a16="http://schemas.microsoft.com/office/drawing/2014/main" id="{824615D9-952E-427D-9266-E2464382F2F3}"/>
                  </a:ext>
                </a:extLst>
              </p:cNvPr>
              <p:cNvSpPr txBox="1">
                <a:spLocks noRot="1" noChangeAspect="1" noMove="1" noResize="1" noEditPoints="1" noAdjustHandles="1" noChangeArrowheads="1" noChangeShapeType="1" noTextEdit="1"/>
              </p:cNvSpPr>
              <p:nvPr/>
            </p:nvSpPr>
            <p:spPr bwMode="auto">
              <a:xfrm>
                <a:off x="10858637" y="2641707"/>
                <a:ext cx="295275" cy="381000"/>
              </a:xfrm>
              <a:prstGeom prst="rect">
                <a:avLst/>
              </a:prstGeom>
              <a:blipFill>
                <a:blip r:embed="rId2"/>
                <a:stretch>
                  <a:fillRect r="-59184" b="-1904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bject 9">
                <a:extLst>
                  <a:ext uri="{FF2B5EF4-FFF2-40B4-BE49-F238E27FC236}">
                    <a16:creationId xmlns:a16="http://schemas.microsoft.com/office/drawing/2014/main" id="{08CA808F-6087-4AB2-8E87-5A4BBFEB9057}"/>
                  </a:ext>
                </a:extLst>
              </p:cNvPr>
              <p:cNvSpPr txBox="1"/>
              <p:nvPr/>
            </p:nvSpPr>
            <p:spPr bwMode="auto">
              <a:xfrm>
                <a:off x="10609218" y="1692382"/>
                <a:ext cx="271643" cy="5302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𝑹</m:t>
                          </m:r>
                        </m:e>
                        <m:sub>
                          <m:r>
                            <a:rPr lang="zh-CN" altLang="en-US" sz="2800" b="1" i="1">
                              <a:solidFill>
                                <a:srgbClr val="000000"/>
                              </a:solidFill>
                              <a:latin typeface="Cambria Math" panose="02040503050406030204" pitchFamily="18" charset="0"/>
                            </a:rPr>
                            <m:t>𝟐</m:t>
                          </m:r>
                        </m:sub>
                      </m:sSub>
                    </m:oMath>
                  </m:oMathPara>
                </a14:m>
                <a:endParaRPr lang="zh-CN" altLang="en-US" sz="2800" b="1" dirty="0"/>
              </a:p>
            </p:txBody>
          </p:sp>
        </mc:Choice>
        <mc:Fallback xmlns="">
          <p:sp>
            <p:nvSpPr>
              <p:cNvPr id="21" name="Object 9">
                <a:extLst>
                  <a:ext uri="{FF2B5EF4-FFF2-40B4-BE49-F238E27FC236}">
                    <a16:creationId xmlns:a16="http://schemas.microsoft.com/office/drawing/2014/main" id="{08CA808F-6087-4AB2-8E87-5A4BBFEB9057}"/>
                  </a:ext>
                </a:extLst>
              </p:cNvPr>
              <p:cNvSpPr txBox="1">
                <a:spLocks noRot="1" noChangeAspect="1" noMove="1" noResize="1" noEditPoints="1" noAdjustHandles="1" noChangeArrowheads="1" noChangeShapeType="1" noTextEdit="1"/>
              </p:cNvSpPr>
              <p:nvPr/>
            </p:nvSpPr>
            <p:spPr bwMode="auto">
              <a:xfrm>
                <a:off x="10609218" y="1692382"/>
                <a:ext cx="271643" cy="530225"/>
              </a:xfrm>
              <a:prstGeom prst="rect">
                <a:avLst/>
              </a:prstGeom>
              <a:blipFill>
                <a:blip r:embed="rId3"/>
                <a:stretch>
                  <a:fillRect r="-7111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bject 10">
                <a:extLst>
                  <a:ext uri="{FF2B5EF4-FFF2-40B4-BE49-F238E27FC236}">
                    <a16:creationId xmlns:a16="http://schemas.microsoft.com/office/drawing/2014/main" id="{8CA6E0D1-531D-4E15-A314-D453BCD9FF6E}"/>
                  </a:ext>
                </a:extLst>
              </p:cNvPr>
              <p:cNvSpPr txBox="1"/>
              <p:nvPr/>
            </p:nvSpPr>
            <p:spPr bwMode="auto">
              <a:xfrm>
                <a:off x="10002012" y="2479276"/>
                <a:ext cx="528638" cy="412750"/>
              </a:xfrm>
              <a:prstGeom prst="rect">
                <a:avLst/>
              </a:prstGeom>
              <a:noFill/>
              <a:ln>
                <a:noFill/>
              </a:ln>
              <a:effectLst/>
            </p:spPr>
            <p:txBody>
              <a:bodyPr>
                <a:noAutofit/>
              </a:bodyPr>
              <a:lstStyle>
                <a:defPPr>
                  <a:defRPr lang="en-US"/>
                </a:defPPr>
                <a:lvl1pPr>
                  <a:defRPr sz="2800" b="1" i="1">
                    <a:solidFill>
                      <a:srgbClr val="00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𝒓</m:t>
                      </m:r>
                    </m:oMath>
                  </m:oMathPara>
                </a14:m>
                <a:endParaRPr lang="zh-CN" altLang="en-US"/>
              </a:p>
            </p:txBody>
          </p:sp>
        </mc:Choice>
        <mc:Fallback xmlns="">
          <p:sp>
            <p:nvSpPr>
              <p:cNvPr id="25" name="Object 10">
                <a:extLst>
                  <a:ext uri="{FF2B5EF4-FFF2-40B4-BE49-F238E27FC236}">
                    <a16:creationId xmlns:a16="http://schemas.microsoft.com/office/drawing/2014/main" id="{8CA6E0D1-531D-4E15-A314-D453BCD9FF6E}"/>
                  </a:ext>
                </a:extLst>
              </p:cNvPr>
              <p:cNvSpPr txBox="1">
                <a:spLocks noRot="1" noChangeAspect="1" noMove="1" noResize="1" noEditPoints="1" noAdjustHandles="1" noChangeArrowheads="1" noChangeShapeType="1" noTextEdit="1"/>
              </p:cNvSpPr>
              <p:nvPr/>
            </p:nvSpPr>
            <p:spPr bwMode="auto">
              <a:xfrm>
                <a:off x="10002012" y="2479276"/>
                <a:ext cx="528638" cy="41275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9">
                <a:extLst>
                  <a:ext uri="{FF2B5EF4-FFF2-40B4-BE49-F238E27FC236}">
                    <a16:creationId xmlns:a16="http://schemas.microsoft.com/office/drawing/2014/main" id="{FEB411B0-C335-4B0F-95B5-B8807DE88671}"/>
                  </a:ext>
                </a:extLst>
              </p:cNvPr>
              <p:cNvSpPr txBox="1"/>
              <p:nvPr/>
            </p:nvSpPr>
            <p:spPr bwMode="auto">
              <a:xfrm>
                <a:off x="7942019" y="2051310"/>
                <a:ext cx="1237248" cy="72080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altLang="zh-CN" sz="2800" b="1" i="1" smtClean="0">
                          <a:solidFill>
                            <a:srgbClr val="FF0000"/>
                          </a:solidFill>
                          <a:latin typeface="Cambria Math" panose="02040503050406030204" pitchFamily="18" charset="0"/>
                        </a:rPr>
                        <m:t>𝑸</m:t>
                      </m:r>
                      <m:r>
                        <a:rPr lang="en-US" altLang="zh-CN" sz="2800" b="1" i="1" smtClean="0">
                          <a:solidFill>
                            <a:srgbClr val="FF0000"/>
                          </a:solidFill>
                          <a:latin typeface="Cambria Math" panose="02040503050406030204" pitchFamily="18" charset="0"/>
                        </a:rPr>
                        <m:t>+</m:t>
                      </m:r>
                      <m:r>
                        <a:rPr lang="en-US" altLang="zh-CN" sz="2800" b="1" i="1" smtClean="0">
                          <a:solidFill>
                            <a:srgbClr val="FF0000"/>
                          </a:solidFill>
                          <a:latin typeface="Cambria Math" panose="02040503050406030204" pitchFamily="18" charset="0"/>
                        </a:rPr>
                        <m:t>𝒒</m:t>
                      </m:r>
                    </m:oMath>
                  </m:oMathPara>
                </a14:m>
                <a:endParaRPr lang="zh-CN" altLang="en-US" sz="2800" b="1" dirty="0">
                  <a:solidFill>
                    <a:srgbClr val="FF0000"/>
                  </a:solidFill>
                </a:endParaRPr>
              </a:p>
            </p:txBody>
          </p:sp>
        </mc:Choice>
        <mc:Fallback xmlns="">
          <p:sp>
            <p:nvSpPr>
              <p:cNvPr id="26" name="Object 9">
                <a:extLst>
                  <a:ext uri="{FF2B5EF4-FFF2-40B4-BE49-F238E27FC236}">
                    <a16:creationId xmlns:a16="http://schemas.microsoft.com/office/drawing/2014/main" id="{FEB411B0-C335-4B0F-95B5-B8807DE88671}"/>
                  </a:ext>
                </a:extLst>
              </p:cNvPr>
              <p:cNvSpPr txBox="1">
                <a:spLocks noRot="1" noChangeAspect="1" noMove="1" noResize="1" noEditPoints="1" noAdjustHandles="1" noChangeArrowheads="1" noChangeShapeType="1" noTextEdit="1"/>
              </p:cNvSpPr>
              <p:nvPr/>
            </p:nvSpPr>
            <p:spPr bwMode="auto">
              <a:xfrm>
                <a:off x="7942019" y="2051310"/>
                <a:ext cx="1237248" cy="720806"/>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9">
                <a:extLst>
                  <a:ext uri="{FF2B5EF4-FFF2-40B4-BE49-F238E27FC236}">
                    <a16:creationId xmlns:a16="http://schemas.microsoft.com/office/drawing/2014/main" id="{20A5C6E7-5E73-46F2-B541-A1D31BAD0EC5}"/>
                  </a:ext>
                </a:extLst>
              </p:cNvPr>
              <p:cNvSpPr txBox="1"/>
              <p:nvPr/>
            </p:nvSpPr>
            <p:spPr bwMode="auto">
              <a:xfrm>
                <a:off x="10002012" y="2974007"/>
                <a:ext cx="607178" cy="72080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altLang="zh-CN" sz="2800" b="1" i="1" smtClean="0">
                          <a:solidFill>
                            <a:srgbClr val="FF0000"/>
                          </a:solidFill>
                          <a:latin typeface="Cambria Math" panose="02040503050406030204" pitchFamily="18" charset="0"/>
                        </a:rPr>
                        <m:t>𝒒</m:t>
                      </m:r>
                    </m:oMath>
                  </m:oMathPara>
                </a14:m>
                <a:endParaRPr lang="zh-CN" altLang="en-US" sz="2800" b="1" dirty="0">
                  <a:solidFill>
                    <a:srgbClr val="FF0000"/>
                  </a:solidFill>
                </a:endParaRPr>
              </a:p>
            </p:txBody>
          </p:sp>
        </mc:Choice>
        <mc:Fallback xmlns="">
          <p:sp>
            <p:nvSpPr>
              <p:cNvPr id="27" name="Object 9">
                <a:extLst>
                  <a:ext uri="{FF2B5EF4-FFF2-40B4-BE49-F238E27FC236}">
                    <a16:creationId xmlns:a16="http://schemas.microsoft.com/office/drawing/2014/main" id="{20A5C6E7-5E73-46F2-B541-A1D31BAD0EC5}"/>
                  </a:ext>
                </a:extLst>
              </p:cNvPr>
              <p:cNvSpPr txBox="1">
                <a:spLocks noRot="1" noChangeAspect="1" noMove="1" noResize="1" noEditPoints="1" noAdjustHandles="1" noChangeArrowheads="1" noChangeShapeType="1" noTextEdit="1"/>
              </p:cNvSpPr>
              <p:nvPr/>
            </p:nvSpPr>
            <p:spPr bwMode="auto">
              <a:xfrm>
                <a:off x="10002012" y="2974007"/>
                <a:ext cx="607178" cy="720806"/>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9">
                <a:extLst>
                  <a:ext uri="{FF2B5EF4-FFF2-40B4-BE49-F238E27FC236}">
                    <a16:creationId xmlns:a16="http://schemas.microsoft.com/office/drawing/2014/main" id="{1CB1BE97-ED79-426B-9245-2BCB03772B84}"/>
                  </a:ext>
                </a:extLst>
              </p:cNvPr>
              <p:cNvSpPr txBox="1"/>
              <p:nvPr/>
            </p:nvSpPr>
            <p:spPr bwMode="auto">
              <a:xfrm>
                <a:off x="9248427" y="2550403"/>
                <a:ext cx="607178" cy="72080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altLang="zh-CN" sz="2800" b="1" i="1" smtClean="0">
                          <a:solidFill>
                            <a:srgbClr val="FF0000"/>
                          </a:solidFill>
                          <a:latin typeface="Cambria Math" panose="02040503050406030204" pitchFamily="18" charset="0"/>
                        </a:rPr>
                        <m:t>−</m:t>
                      </m:r>
                      <m:r>
                        <a:rPr lang="en-US" altLang="zh-CN" sz="2800" b="1" i="1" smtClean="0">
                          <a:solidFill>
                            <a:srgbClr val="FF0000"/>
                          </a:solidFill>
                          <a:latin typeface="Cambria Math" panose="02040503050406030204" pitchFamily="18" charset="0"/>
                        </a:rPr>
                        <m:t>𝒒</m:t>
                      </m:r>
                    </m:oMath>
                  </m:oMathPara>
                </a14:m>
                <a:endParaRPr lang="zh-CN" altLang="en-US" sz="2800" b="1" dirty="0">
                  <a:solidFill>
                    <a:srgbClr val="FF0000"/>
                  </a:solidFill>
                </a:endParaRPr>
              </a:p>
            </p:txBody>
          </p:sp>
        </mc:Choice>
        <mc:Fallback xmlns="">
          <p:sp>
            <p:nvSpPr>
              <p:cNvPr id="28" name="Object 9">
                <a:extLst>
                  <a:ext uri="{FF2B5EF4-FFF2-40B4-BE49-F238E27FC236}">
                    <a16:creationId xmlns:a16="http://schemas.microsoft.com/office/drawing/2014/main" id="{1CB1BE97-ED79-426B-9245-2BCB03772B84}"/>
                  </a:ext>
                </a:extLst>
              </p:cNvPr>
              <p:cNvSpPr txBox="1">
                <a:spLocks noRot="1" noChangeAspect="1" noMove="1" noResize="1" noEditPoints="1" noAdjustHandles="1" noChangeArrowheads="1" noChangeShapeType="1" noTextEdit="1"/>
              </p:cNvSpPr>
              <p:nvPr/>
            </p:nvSpPr>
            <p:spPr bwMode="auto">
              <a:xfrm>
                <a:off x="9248427" y="2550403"/>
                <a:ext cx="607178" cy="720806"/>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15">
                <a:extLst>
                  <a:ext uri="{FF2B5EF4-FFF2-40B4-BE49-F238E27FC236}">
                    <a16:creationId xmlns:a16="http://schemas.microsoft.com/office/drawing/2014/main" id="{C2945065-0B15-4702-8E54-21F8ED4D0754}"/>
                  </a:ext>
                </a:extLst>
              </p:cNvPr>
              <p:cNvSpPr txBox="1"/>
              <p:nvPr/>
            </p:nvSpPr>
            <p:spPr bwMode="auto">
              <a:xfrm>
                <a:off x="1082980" y="2423790"/>
                <a:ext cx="2958476" cy="145573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𝜑</m:t>
                          </m:r>
                        </m:e>
                        <m:sub>
                          <m:r>
                            <a:rPr lang="en-US" sz="3200" b="0" i="1" smtClean="0">
                              <a:solidFill>
                                <a:srgbClr val="000000"/>
                              </a:solidFill>
                              <a:latin typeface="Cambria Math" panose="02040503050406030204" pitchFamily="18" charset="0"/>
                            </a:rPr>
                            <m:t>𝑟</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m:rPr>
                              <m:sty m:val="p"/>
                            </m:rPr>
                            <a:rPr lang="en-US" altLang="zh-CN" sz="3200" i="1">
                              <a:solidFill>
                                <a:srgbClr val="000000"/>
                              </a:solidFill>
                              <a:latin typeface="Cambria Math" panose="02040503050406030204" pitchFamily="18" charset="0"/>
                            </a:rPr>
                            <m:t>r</m:t>
                          </m:r>
                        </m:den>
                      </m:f>
                    </m:oMath>
                  </m:oMathPara>
                </a14:m>
                <a:endParaRPr lang="en-US" sz="3200" dirty="0"/>
              </a:p>
            </p:txBody>
          </p:sp>
        </mc:Choice>
        <mc:Fallback xmlns="">
          <p:sp>
            <p:nvSpPr>
              <p:cNvPr id="29" name="Object 15">
                <a:extLst>
                  <a:ext uri="{FF2B5EF4-FFF2-40B4-BE49-F238E27FC236}">
                    <a16:creationId xmlns:a16="http://schemas.microsoft.com/office/drawing/2014/main" id="{C2945065-0B15-4702-8E54-21F8ED4D0754}"/>
                  </a:ext>
                </a:extLst>
              </p:cNvPr>
              <p:cNvSpPr txBox="1">
                <a:spLocks noRot="1" noChangeAspect="1" noMove="1" noResize="1" noEditPoints="1" noAdjustHandles="1" noChangeArrowheads="1" noChangeShapeType="1" noTextEdit="1"/>
              </p:cNvSpPr>
              <p:nvPr/>
            </p:nvSpPr>
            <p:spPr bwMode="auto">
              <a:xfrm>
                <a:off x="1082980" y="2423790"/>
                <a:ext cx="2958476" cy="1455737"/>
              </a:xfrm>
              <a:prstGeom prst="rect">
                <a:avLst/>
              </a:prstGeom>
              <a:blipFill>
                <a:blip r:embed="rId8"/>
                <a:stretch>
                  <a:fillRect/>
                </a:stretch>
              </a:blipFill>
              <a:ln>
                <a:noFill/>
              </a:ln>
              <a:effectLst/>
              <a:extLst/>
            </p:spPr>
            <p:txBody>
              <a:bodyPr/>
              <a:lstStyle/>
              <a:p>
                <a:r>
                  <a:rPr lang="en-US">
                    <a:noFill/>
                  </a:rPr>
                  <a:t> </a:t>
                </a:r>
              </a:p>
            </p:txBody>
          </p:sp>
        </mc:Fallback>
      </mc:AlternateContent>
      <p:sp>
        <p:nvSpPr>
          <p:cNvPr id="31" name="Text Box 18">
            <a:extLst>
              <a:ext uri="{FF2B5EF4-FFF2-40B4-BE49-F238E27FC236}">
                <a16:creationId xmlns:a16="http://schemas.microsoft.com/office/drawing/2014/main" id="{3D3C2D81-0D90-4F6F-B383-252180E2D9A1}"/>
              </a:ext>
            </a:extLst>
          </p:cNvPr>
          <p:cNvSpPr txBox="1">
            <a:spLocks noChangeArrowheads="1"/>
          </p:cNvSpPr>
          <p:nvPr/>
        </p:nvSpPr>
        <p:spPr bwMode="auto">
          <a:xfrm>
            <a:off x="1057818" y="1757762"/>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latin typeface="华文楷体" panose="02010600040101010101" pitchFamily="2" charset="-122"/>
                <a:ea typeface="华文楷体" panose="02010600040101010101" pitchFamily="2" charset="-122"/>
              </a:rPr>
              <a:t>利用叠加原理</a:t>
            </a:r>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44A6BE05-7C93-4AF5-8E73-22EAE600D6D9}"/>
                  </a:ext>
                </a:extLst>
              </p:cNvPr>
              <p:cNvSpPr/>
              <p:nvPr/>
            </p:nvSpPr>
            <p:spPr>
              <a:xfrm>
                <a:off x="3521923" y="2423790"/>
                <a:ext cx="1937903" cy="10193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den>
                      </m:f>
                    </m:oMath>
                  </m:oMathPara>
                </a14:m>
                <a:endParaRPr lang="en-US" dirty="0"/>
              </a:p>
            </p:txBody>
          </p:sp>
        </mc:Choice>
        <mc:Fallback xmlns="">
          <p:sp>
            <p:nvSpPr>
              <p:cNvPr id="33" name="矩形 32">
                <a:extLst>
                  <a:ext uri="{FF2B5EF4-FFF2-40B4-BE49-F238E27FC236}">
                    <a16:creationId xmlns:a16="http://schemas.microsoft.com/office/drawing/2014/main" id="{44A6BE05-7C93-4AF5-8E73-22EAE600D6D9}"/>
                  </a:ext>
                </a:extLst>
              </p:cNvPr>
              <p:cNvSpPr>
                <a:spLocks noRot="1" noChangeAspect="1" noMove="1" noResize="1" noEditPoints="1" noAdjustHandles="1" noChangeArrowheads="1" noChangeShapeType="1" noTextEdit="1"/>
              </p:cNvSpPr>
              <p:nvPr/>
            </p:nvSpPr>
            <p:spPr>
              <a:xfrm>
                <a:off x="3521923" y="2423790"/>
                <a:ext cx="1937903" cy="101938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780217C1-305B-4225-9B78-12DC655630F6}"/>
                  </a:ext>
                </a:extLst>
              </p:cNvPr>
              <p:cNvSpPr/>
              <p:nvPr/>
            </p:nvSpPr>
            <p:spPr>
              <a:xfrm>
                <a:off x="5296127" y="2360238"/>
                <a:ext cx="1947392" cy="1101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dirty="0"/>
              </a:p>
            </p:txBody>
          </p:sp>
        </mc:Choice>
        <mc:Fallback xmlns="">
          <p:sp>
            <p:nvSpPr>
              <p:cNvPr id="35" name="矩形 34">
                <a:extLst>
                  <a:ext uri="{FF2B5EF4-FFF2-40B4-BE49-F238E27FC236}">
                    <a16:creationId xmlns:a16="http://schemas.microsoft.com/office/drawing/2014/main" id="{780217C1-305B-4225-9B78-12DC655630F6}"/>
                  </a:ext>
                </a:extLst>
              </p:cNvPr>
              <p:cNvSpPr>
                <a:spLocks noRot="1" noChangeAspect="1" noMove="1" noResize="1" noEditPoints="1" noAdjustHandles="1" noChangeArrowheads="1" noChangeShapeType="1" noTextEdit="1"/>
              </p:cNvSpPr>
              <p:nvPr/>
            </p:nvSpPr>
            <p:spPr>
              <a:xfrm>
                <a:off x="5296127" y="2360238"/>
                <a:ext cx="1947392" cy="110113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Object 15">
                <a:extLst>
                  <a:ext uri="{FF2B5EF4-FFF2-40B4-BE49-F238E27FC236}">
                    <a16:creationId xmlns:a16="http://schemas.microsoft.com/office/drawing/2014/main" id="{E6164AE6-08B2-4E8B-8411-B7259837CDCC}"/>
                  </a:ext>
                </a:extLst>
              </p:cNvPr>
              <p:cNvSpPr txBox="1"/>
              <p:nvPr/>
            </p:nvSpPr>
            <p:spPr bwMode="auto">
              <a:xfrm>
                <a:off x="1043666" y="4003514"/>
                <a:ext cx="2958476" cy="145573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𝜑</m:t>
                          </m:r>
                        </m:e>
                        <m:sub>
                          <m:r>
                            <a:rPr lang="en-US" sz="3200" b="0" i="1" smtClean="0">
                              <a:solidFill>
                                <a:srgbClr val="000000"/>
                              </a:solidFill>
                              <a:latin typeface="Cambria Math" panose="02040503050406030204" pitchFamily="18" charset="0"/>
                            </a:rPr>
                            <m:t>𝑅</m:t>
                          </m:r>
                          <m:r>
                            <a:rPr lang="en-US" sz="3200" b="0" i="1" smtClean="0">
                              <a:solidFill>
                                <a:srgbClr val="000000"/>
                              </a:solidFill>
                              <a:latin typeface="Cambria Math" panose="02040503050406030204" pitchFamily="18" charset="0"/>
                            </a:rPr>
                            <m:t>1</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a:rPr lang="en-US" sz="3200" b="0" i="1" smtClean="0">
                              <a:solidFill>
                                <a:srgbClr val="000000"/>
                              </a:solidFill>
                              <a:latin typeface="Cambria Math" panose="02040503050406030204" pitchFamily="18" charset="0"/>
                            </a:rPr>
                            <m:t>𝑅</m:t>
                          </m:r>
                          <m:r>
                            <a:rPr lang="en-US" sz="3200" b="0" i="1" baseline="-25000" smtClean="0">
                              <a:solidFill>
                                <a:srgbClr val="000000"/>
                              </a:solidFill>
                              <a:latin typeface="Cambria Math" panose="02040503050406030204" pitchFamily="18" charset="0"/>
                            </a:rPr>
                            <m:t>1</m:t>
                          </m:r>
                        </m:den>
                      </m:f>
                    </m:oMath>
                  </m:oMathPara>
                </a14:m>
                <a:endParaRPr lang="en-US" sz="3200" dirty="0"/>
              </a:p>
            </p:txBody>
          </p:sp>
        </mc:Choice>
        <mc:Fallback xmlns="">
          <p:sp>
            <p:nvSpPr>
              <p:cNvPr id="44" name="Object 15">
                <a:extLst>
                  <a:ext uri="{FF2B5EF4-FFF2-40B4-BE49-F238E27FC236}">
                    <a16:creationId xmlns:a16="http://schemas.microsoft.com/office/drawing/2014/main" id="{E6164AE6-08B2-4E8B-8411-B7259837CDCC}"/>
                  </a:ext>
                </a:extLst>
              </p:cNvPr>
              <p:cNvSpPr txBox="1">
                <a:spLocks noRot="1" noChangeAspect="1" noMove="1" noResize="1" noEditPoints="1" noAdjustHandles="1" noChangeArrowheads="1" noChangeShapeType="1" noTextEdit="1"/>
              </p:cNvSpPr>
              <p:nvPr/>
            </p:nvSpPr>
            <p:spPr bwMode="auto">
              <a:xfrm>
                <a:off x="1043666" y="4003514"/>
                <a:ext cx="2958476" cy="1455737"/>
              </a:xfrm>
              <a:prstGeom prst="rect">
                <a:avLst/>
              </a:prstGeom>
              <a:blipFill>
                <a:blip r:embed="rId11"/>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2AD0AF86-7F1C-4F9F-B225-B825A6ADA835}"/>
                  </a:ext>
                </a:extLst>
              </p:cNvPr>
              <p:cNvSpPr/>
              <p:nvPr/>
            </p:nvSpPr>
            <p:spPr>
              <a:xfrm>
                <a:off x="3560577" y="4003514"/>
                <a:ext cx="1991827" cy="10193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a:rPr lang="en-US" sz="3200" b="0" i="1" smtClean="0">
                              <a:solidFill>
                                <a:srgbClr val="000000"/>
                              </a:solidFill>
                              <a:latin typeface="Cambria Math" panose="02040503050406030204" pitchFamily="18" charset="0"/>
                            </a:rPr>
                            <m:t>𝑅</m:t>
                          </m:r>
                          <m:r>
                            <a:rPr lang="en-US" sz="3200" b="0" i="1" baseline="-25000" smtClean="0">
                              <a:solidFill>
                                <a:srgbClr val="000000"/>
                              </a:solidFill>
                              <a:latin typeface="Cambria Math" panose="02040503050406030204" pitchFamily="18" charset="0"/>
                            </a:rPr>
                            <m:t>1</m:t>
                          </m:r>
                        </m:den>
                      </m:f>
                    </m:oMath>
                  </m:oMathPara>
                </a14:m>
                <a:endParaRPr lang="en-US" dirty="0"/>
              </a:p>
            </p:txBody>
          </p:sp>
        </mc:Choice>
        <mc:Fallback xmlns="">
          <p:sp>
            <p:nvSpPr>
              <p:cNvPr id="45" name="矩形 44">
                <a:extLst>
                  <a:ext uri="{FF2B5EF4-FFF2-40B4-BE49-F238E27FC236}">
                    <a16:creationId xmlns:a16="http://schemas.microsoft.com/office/drawing/2014/main" xmlns:a14="http://schemas.microsoft.com/office/drawing/2010/main" xmlns="" id="{2AD0AF86-7F1C-4F9F-B225-B825A6ADA835}"/>
                  </a:ext>
                </a:extLst>
              </p:cNvPr>
              <p:cNvSpPr>
                <a:spLocks noRot="1" noChangeAspect="1" noMove="1" noResize="1" noEditPoints="1" noAdjustHandles="1" noChangeArrowheads="1" noChangeShapeType="1" noTextEdit="1"/>
              </p:cNvSpPr>
              <p:nvPr/>
            </p:nvSpPr>
            <p:spPr>
              <a:xfrm>
                <a:off x="3560577" y="4003514"/>
                <a:ext cx="1991827" cy="1019382"/>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2710723B-DDD4-4A95-BCE0-A5AA7D873D2F}"/>
                  </a:ext>
                </a:extLst>
              </p:cNvPr>
              <p:cNvSpPr/>
              <p:nvPr/>
            </p:nvSpPr>
            <p:spPr>
              <a:xfrm>
                <a:off x="5256813" y="3939962"/>
                <a:ext cx="1947392" cy="1101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dirty="0"/>
              </a:p>
            </p:txBody>
          </p:sp>
        </mc:Choice>
        <mc:Fallback xmlns="">
          <p:sp>
            <p:nvSpPr>
              <p:cNvPr id="46" name="矩形 45">
                <a:extLst>
                  <a:ext uri="{FF2B5EF4-FFF2-40B4-BE49-F238E27FC236}">
                    <a16:creationId xmlns:a16="http://schemas.microsoft.com/office/drawing/2014/main" id="{2710723B-DDD4-4A95-BCE0-A5AA7D873D2F}"/>
                  </a:ext>
                </a:extLst>
              </p:cNvPr>
              <p:cNvSpPr>
                <a:spLocks noRot="1" noChangeAspect="1" noMove="1" noResize="1" noEditPoints="1" noAdjustHandles="1" noChangeArrowheads="1" noChangeShapeType="1" noTextEdit="1"/>
              </p:cNvSpPr>
              <p:nvPr/>
            </p:nvSpPr>
            <p:spPr>
              <a:xfrm>
                <a:off x="5256813" y="3939962"/>
                <a:ext cx="1947392" cy="110113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AB048F50-4FF4-49A4-9BDF-2123B50FD207}"/>
                  </a:ext>
                </a:extLst>
              </p:cNvPr>
              <p:cNvSpPr/>
              <p:nvPr/>
            </p:nvSpPr>
            <p:spPr>
              <a:xfrm>
                <a:off x="6981318" y="3939961"/>
                <a:ext cx="1992981" cy="1101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dirty="0"/>
              </a:p>
            </p:txBody>
          </p:sp>
        </mc:Choice>
        <mc:Fallback xmlns="">
          <p:sp>
            <p:nvSpPr>
              <p:cNvPr id="37" name="矩形 36">
                <a:extLst>
                  <a:ext uri="{FF2B5EF4-FFF2-40B4-BE49-F238E27FC236}">
                    <a16:creationId xmlns:a16="http://schemas.microsoft.com/office/drawing/2014/main" id="{AB048F50-4FF4-49A4-9BDF-2123B50FD207}"/>
                  </a:ext>
                </a:extLst>
              </p:cNvPr>
              <p:cNvSpPr>
                <a:spLocks noRot="1" noChangeAspect="1" noMove="1" noResize="1" noEditPoints="1" noAdjustHandles="1" noChangeArrowheads="1" noChangeShapeType="1" noTextEdit="1"/>
              </p:cNvSpPr>
              <p:nvPr/>
            </p:nvSpPr>
            <p:spPr>
              <a:xfrm>
                <a:off x="6981318" y="3939961"/>
                <a:ext cx="1992981" cy="110113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Object 15">
                <a:extLst>
                  <a:ext uri="{FF2B5EF4-FFF2-40B4-BE49-F238E27FC236}">
                    <a16:creationId xmlns:a16="http://schemas.microsoft.com/office/drawing/2014/main" id="{28E572C9-C909-4DB1-8D7F-36E33E9CD819}"/>
                  </a:ext>
                </a:extLst>
              </p:cNvPr>
              <p:cNvSpPr txBox="1"/>
              <p:nvPr/>
            </p:nvSpPr>
            <p:spPr bwMode="auto">
              <a:xfrm>
                <a:off x="1083423" y="5555091"/>
                <a:ext cx="2958476" cy="145573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𝜑</m:t>
                          </m:r>
                        </m:e>
                        <m:sub>
                          <m:r>
                            <a:rPr lang="en-US" sz="3200" b="0" i="1" smtClean="0">
                              <a:solidFill>
                                <a:srgbClr val="000000"/>
                              </a:solidFill>
                              <a:latin typeface="Cambria Math" panose="02040503050406030204" pitchFamily="18" charset="0"/>
                            </a:rPr>
                            <m:t>𝑅</m:t>
                          </m:r>
                          <m:r>
                            <a:rPr lang="en-US" sz="3200" b="0" i="1" smtClean="0">
                              <a:solidFill>
                                <a:srgbClr val="000000"/>
                              </a:solidFill>
                              <a:latin typeface="Cambria Math" panose="02040503050406030204" pitchFamily="18" charset="0"/>
                            </a:rPr>
                            <m:t>2</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a:rPr lang="en-US" sz="3200" b="0" i="1" smtClean="0">
                              <a:solidFill>
                                <a:srgbClr val="000000"/>
                              </a:solidFill>
                              <a:latin typeface="Cambria Math" panose="02040503050406030204" pitchFamily="18" charset="0"/>
                            </a:rPr>
                            <m:t>𝑅</m:t>
                          </m:r>
                          <m:r>
                            <a:rPr lang="en-US" sz="3200" b="0" i="1" baseline="-25000" smtClean="0">
                              <a:solidFill>
                                <a:srgbClr val="000000"/>
                              </a:solidFill>
                              <a:latin typeface="Cambria Math" panose="02040503050406030204" pitchFamily="18" charset="0"/>
                            </a:rPr>
                            <m:t>2</m:t>
                          </m:r>
                        </m:den>
                      </m:f>
                    </m:oMath>
                  </m:oMathPara>
                </a14:m>
                <a:endParaRPr lang="en-US" sz="3200" dirty="0"/>
              </a:p>
            </p:txBody>
          </p:sp>
        </mc:Choice>
        <mc:Fallback xmlns="">
          <p:sp>
            <p:nvSpPr>
              <p:cNvPr id="49" name="Object 15">
                <a:extLst>
                  <a:ext uri="{FF2B5EF4-FFF2-40B4-BE49-F238E27FC236}">
                    <a16:creationId xmlns:a16="http://schemas.microsoft.com/office/drawing/2014/main" id="{28E572C9-C909-4DB1-8D7F-36E33E9CD819}"/>
                  </a:ext>
                </a:extLst>
              </p:cNvPr>
              <p:cNvSpPr txBox="1">
                <a:spLocks noRot="1" noChangeAspect="1" noMove="1" noResize="1" noEditPoints="1" noAdjustHandles="1" noChangeArrowheads="1" noChangeShapeType="1" noTextEdit="1"/>
              </p:cNvSpPr>
              <p:nvPr/>
            </p:nvSpPr>
            <p:spPr bwMode="auto">
              <a:xfrm>
                <a:off x="1083423" y="5555091"/>
                <a:ext cx="2958476" cy="1455737"/>
              </a:xfrm>
              <a:prstGeom prst="rect">
                <a:avLst/>
              </a:prstGeom>
              <a:blipFill>
                <a:blip r:embed="rId1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20749376-D4BC-4704-AB6E-E8F19C186BE1}"/>
                  </a:ext>
                </a:extLst>
              </p:cNvPr>
              <p:cNvSpPr/>
              <p:nvPr/>
            </p:nvSpPr>
            <p:spPr>
              <a:xfrm>
                <a:off x="3621598" y="5555091"/>
                <a:ext cx="1991827" cy="10193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a:rPr lang="en-US" sz="3200" b="0" i="1" smtClean="0">
                              <a:solidFill>
                                <a:srgbClr val="000000"/>
                              </a:solidFill>
                              <a:latin typeface="Cambria Math" panose="02040503050406030204" pitchFamily="18" charset="0"/>
                            </a:rPr>
                            <m:t>𝑅</m:t>
                          </m:r>
                          <m:r>
                            <a:rPr lang="en-US" sz="3200" b="0" i="1" baseline="-25000" smtClean="0">
                              <a:solidFill>
                                <a:srgbClr val="000000"/>
                              </a:solidFill>
                              <a:latin typeface="Cambria Math" panose="02040503050406030204" pitchFamily="18" charset="0"/>
                            </a:rPr>
                            <m:t>2</m:t>
                          </m:r>
                        </m:den>
                      </m:f>
                    </m:oMath>
                  </m:oMathPara>
                </a14:m>
                <a:endParaRPr lang="en-US" dirty="0"/>
              </a:p>
            </p:txBody>
          </p:sp>
        </mc:Choice>
        <mc:Fallback xmlns="">
          <p:sp>
            <p:nvSpPr>
              <p:cNvPr id="50" name="矩形 49">
                <a:extLst>
                  <a:ext uri="{FF2B5EF4-FFF2-40B4-BE49-F238E27FC236}">
                    <a16:creationId xmlns:a16="http://schemas.microsoft.com/office/drawing/2014/main" xmlns:a14="http://schemas.microsoft.com/office/drawing/2010/main" xmlns="" id="{20749376-D4BC-4704-AB6E-E8F19C186BE1}"/>
                  </a:ext>
                </a:extLst>
              </p:cNvPr>
              <p:cNvSpPr>
                <a:spLocks noRot="1" noChangeAspect="1" noMove="1" noResize="1" noEditPoints="1" noAdjustHandles="1" noChangeArrowheads="1" noChangeShapeType="1" noTextEdit="1"/>
              </p:cNvSpPr>
              <p:nvPr/>
            </p:nvSpPr>
            <p:spPr>
              <a:xfrm>
                <a:off x="3621598" y="5555091"/>
                <a:ext cx="1991827" cy="1019382"/>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7D77EB72-E376-46A8-BE96-EE0892C10029}"/>
                  </a:ext>
                </a:extLst>
              </p:cNvPr>
              <p:cNvSpPr/>
              <p:nvPr/>
            </p:nvSpPr>
            <p:spPr>
              <a:xfrm>
                <a:off x="5296570" y="5491539"/>
                <a:ext cx="1947392" cy="1101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dirty="0"/>
              </a:p>
            </p:txBody>
          </p:sp>
        </mc:Choice>
        <mc:Fallback xmlns="">
          <p:sp>
            <p:nvSpPr>
              <p:cNvPr id="51" name="矩形 50">
                <a:extLst>
                  <a:ext uri="{FF2B5EF4-FFF2-40B4-BE49-F238E27FC236}">
                    <a16:creationId xmlns:a16="http://schemas.microsoft.com/office/drawing/2014/main" id="{7D77EB72-E376-46A8-BE96-EE0892C10029}"/>
                  </a:ext>
                </a:extLst>
              </p:cNvPr>
              <p:cNvSpPr>
                <a:spLocks noRot="1" noChangeAspect="1" noMove="1" noResize="1" noEditPoints="1" noAdjustHandles="1" noChangeArrowheads="1" noChangeShapeType="1" noTextEdit="1"/>
              </p:cNvSpPr>
              <p:nvPr/>
            </p:nvSpPr>
            <p:spPr>
              <a:xfrm>
                <a:off x="5296570" y="5491539"/>
                <a:ext cx="1947392" cy="110113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5141BFDD-BF17-48EC-B306-2A9AF273CB10}"/>
                  </a:ext>
                </a:extLst>
              </p:cNvPr>
              <p:cNvSpPr/>
              <p:nvPr/>
            </p:nvSpPr>
            <p:spPr>
              <a:xfrm>
                <a:off x="7021075" y="5491538"/>
                <a:ext cx="1992981" cy="1101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dirty="0"/>
              </a:p>
            </p:txBody>
          </p:sp>
        </mc:Choice>
        <mc:Fallback xmlns="">
          <p:sp>
            <p:nvSpPr>
              <p:cNvPr id="52" name="矩形 51">
                <a:extLst>
                  <a:ext uri="{FF2B5EF4-FFF2-40B4-BE49-F238E27FC236}">
                    <a16:creationId xmlns:a16="http://schemas.microsoft.com/office/drawing/2014/main" id="{5141BFDD-BF17-48EC-B306-2A9AF273CB10}"/>
                  </a:ext>
                </a:extLst>
              </p:cNvPr>
              <p:cNvSpPr>
                <a:spLocks noRot="1" noChangeAspect="1" noMove="1" noResize="1" noEditPoints="1" noAdjustHandles="1" noChangeArrowheads="1" noChangeShapeType="1" noTextEdit="1"/>
              </p:cNvSpPr>
              <p:nvPr/>
            </p:nvSpPr>
            <p:spPr>
              <a:xfrm>
                <a:off x="7021075" y="5491538"/>
                <a:ext cx="1992981" cy="1101135"/>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2717863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35" grpId="0"/>
      <p:bldP spid="45" grpId="0"/>
      <p:bldP spid="46" grpId="0"/>
      <p:bldP spid="37" grpId="0"/>
      <p:bldP spid="50" grpId="0"/>
      <p:bldP spid="51" grpId="0"/>
      <p:bldP spid="5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93606" name="Text Box 6"/>
              <p:cNvSpPr txBox="1">
                <a:spLocks noChangeArrowheads="1"/>
              </p:cNvSpPr>
              <p:nvPr/>
            </p:nvSpPr>
            <p:spPr bwMode="auto">
              <a:xfrm>
                <a:off x="903114" y="630707"/>
                <a:ext cx="9446833" cy="1289840"/>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50000"/>
                  </a:spcBef>
                  <a:spcAft>
                    <a:spcPct val="0"/>
                  </a:spcAft>
                  <a:defRPr/>
                </a:pPr>
                <a:r>
                  <a:rPr lang="en-US" altLang="zh-CN" sz="3200" b="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en-US" sz="3200" b="0" dirty="0">
                    <a:latin typeface="华文楷体" panose="02010600040101010101" pitchFamily="2" charset="-122"/>
                    <a:ea typeface="华文楷体" panose="02010600040101010101" pitchFamily="2" charset="-122"/>
                    <a:cs typeface="Times New Roman" panose="02020603050405020304" pitchFamily="18" charset="0"/>
                  </a:rPr>
                  <a:t>小球与球壳的电势差：</a:t>
                </a:r>
                <a14:m>
                  <m:oMath xmlns:m="http://schemas.openxmlformats.org/officeDocument/2006/math">
                    <m:sSub>
                      <m:sSubPr>
                        <m:ctrlPr>
                          <a:rPr lang="zh-CN" altLang="en-US" sz="3200" b="0" i="1">
                            <a:latin typeface="Cambria Math" panose="02040503050406030204" pitchFamily="18" charset="0"/>
                          </a:rPr>
                        </m:ctrlPr>
                      </m:sSubPr>
                      <m:e>
                        <m:r>
                          <a:rPr lang="en-US" sz="3200" b="0" i="1">
                            <a:solidFill>
                              <a:srgbClr val="000000"/>
                            </a:solidFill>
                            <a:latin typeface="Cambria Math" panose="02040503050406030204" pitchFamily="18" charset="0"/>
                          </a:rPr>
                          <m:t>𝜑</m:t>
                        </m:r>
                      </m:e>
                      <m:sub>
                        <m:r>
                          <a:rPr lang="zh-CN" altLang="en-US" sz="3200" b="0" i="1">
                            <a:latin typeface="Cambria Math" panose="02040503050406030204" pitchFamily="18" charset="0"/>
                          </a:rPr>
                          <m:t>𝑟</m:t>
                        </m:r>
                      </m:sub>
                    </m:sSub>
                    <m:r>
                      <a:rPr lang="zh-CN" altLang="en-US" sz="3200" b="0" i="1">
                        <a:latin typeface="Cambria Math" panose="02040503050406030204" pitchFamily="18" charset="0"/>
                      </a:rPr>
                      <m:t>−</m:t>
                    </m:r>
                    <m:sSub>
                      <m:sSubPr>
                        <m:ctrlPr>
                          <a:rPr lang="zh-CN" altLang="en-US" sz="3200" b="0" i="1">
                            <a:latin typeface="Cambria Math" panose="02040503050406030204" pitchFamily="18" charset="0"/>
                          </a:rPr>
                        </m:ctrlPr>
                      </m:sSubPr>
                      <m:e>
                        <m:r>
                          <a:rPr lang="en-US" sz="3200" b="0" i="1">
                            <a:solidFill>
                              <a:srgbClr val="000000"/>
                            </a:solidFill>
                            <a:latin typeface="Cambria Math" panose="02040503050406030204" pitchFamily="18" charset="0"/>
                          </a:rPr>
                          <m:t>𝜑</m:t>
                        </m:r>
                      </m:e>
                      <m:sub>
                        <m:r>
                          <a:rPr lang="zh-CN" altLang="en-US" sz="3200" b="0" i="1">
                            <a:latin typeface="Cambria Math" panose="02040503050406030204" pitchFamily="18" charset="0"/>
                          </a:rPr>
                          <m:t>𝑅</m:t>
                        </m:r>
                      </m:sub>
                    </m:sSub>
                    <m:r>
                      <a:rPr lang="zh-CN" altLang="en-US" sz="3200" b="0" i="1">
                        <a:latin typeface="Cambria Math" panose="02040503050406030204" pitchFamily="18" charset="0"/>
                      </a:rPr>
                      <m:t>=</m:t>
                    </m:r>
                    <m:f>
                      <m:fPr>
                        <m:ctrlPr>
                          <a:rPr lang="zh-CN" altLang="en-US" sz="3200" b="0" i="1">
                            <a:latin typeface="Cambria Math" panose="02040503050406030204" pitchFamily="18" charset="0"/>
                          </a:rPr>
                        </m:ctrlPr>
                      </m:fPr>
                      <m:num>
                        <m:r>
                          <a:rPr lang="zh-CN" altLang="en-US" sz="3200" b="0" i="1">
                            <a:latin typeface="Cambria Math" panose="02040503050406030204" pitchFamily="18" charset="0"/>
                          </a:rPr>
                          <m:t>𝑞</m:t>
                        </m:r>
                      </m:num>
                      <m:den>
                        <m:r>
                          <a:rPr lang="zh-CN" altLang="en-US" sz="3200" b="0" i="1">
                            <a:latin typeface="Cambria Math" panose="02040503050406030204" pitchFamily="18" charset="0"/>
                          </a:rPr>
                          <m:t>4</m:t>
                        </m:r>
                        <m:r>
                          <a:rPr lang="zh-CN" altLang="en-US" sz="3200" b="0" i="1">
                            <a:latin typeface="Cambria Math" panose="02040503050406030204" pitchFamily="18" charset="0"/>
                          </a:rPr>
                          <m:t>𝜋</m:t>
                        </m:r>
                        <m:sSub>
                          <m:sSubPr>
                            <m:ctrlPr>
                              <a:rPr lang="zh-CN" altLang="en-US" sz="3200" b="0" i="1">
                                <a:latin typeface="Cambria Math" panose="02040503050406030204" pitchFamily="18" charset="0"/>
                              </a:rPr>
                            </m:ctrlPr>
                          </m:sSubPr>
                          <m:e>
                            <m:r>
                              <a:rPr lang="zh-CN" altLang="en-US" sz="3200" b="0" i="1">
                                <a:latin typeface="Cambria Math" panose="02040503050406030204" pitchFamily="18" charset="0"/>
                              </a:rPr>
                              <m:t>𝜀</m:t>
                            </m:r>
                          </m:e>
                          <m:sub>
                            <m:r>
                              <a:rPr lang="zh-CN" altLang="en-US" sz="3200" b="0" i="1">
                                <a:latin typeface="Cambria Math" panose="02040503050406030204" pitchFamily="18" charset="0"/>
                              </a:rPr>
                              <m:t>0</m:t>
                            </m:r>
                          </m:sub>
                        </m:sSub>
                      </m:den>
                    </m:f>
                    <m:d>
                      <m:dPr>
                        <m:ctrlPr>
                          <a:rPr lang="zh-CN" altLang="en-US" sz="3200" b="0" i="1">
                            <a:latin typeface="Cambria Math" panose="02040503050406030204" pitchFamily="18" charset="0"/>
                          </a:rPr>
                        </m:ctrlPr>
                      </m:dPr>
                      <m:e>
                        <m:f>
                          <m:fPr>
                            <m:ctrlPr>
                              <a:rPr lang="zh-CN" altLang="en-US" sz="3200" b="0" i="1">
                                <a:latin typeface="Cambria Math" panose="02040503050406030204" pitchFamily="18" charset="0"/>
                              </a:rPr>
                            </m:ctrlPr>
                          </m:fPr>
                          <m:num>
                            <m:r>
                              <a:rPr lang="zh-CN" altLang="en-US" sz="3200" b="0" i="1">
                                <a:latin typeface="Cambria Math" panose="02040503050406030204" pitchFamily="18" charset="0"/>
                              </a:rPr>
                              <m:t>1</m:t>
                            </m:r>
                          </m:num>
                          <m:den>
                            <m:r>
                              <a:rPr lang="zh-CN" altLang="en-US" sz="3200" b="0" i="1">
                                <a:latin typeface="Cambria Math" panose="02040503050406030204" pitchFamily="18" charset="0"/>
                              </a:rPr>
                              <m:t>𝑟</m:t>
                            </m:r>
                          </m:den>
                        </m:f>
                        <m:r>
                          <a:rPr lang="zh-CN" altLang="en-US" sz="3200" b="0" i="1">
                            <a:latin typeface="Cambria Math" panose="02040503050406030204" pitchFamily="18" charset="0"/>
                          </a:rPr>
                          <m:t>−</m:t>
                        </m:r>
                        <m:f>
                          <m:fPr>
                            <m:ctrlPr>
                              <a:rPr lang="zh-CN" altLang="en-US" sz="3200" b="0" i="1">
                                <a:latin typeface="Cambria Math" panose="02040503050406030204" pitchFamily="18" charset="0"/>
                              </a:rPr>
                            </m:ctrlPr>
                          </m:fPr>
                          <m:num>
                            <m:r>
                              <a:rPr lang="zh-CN" altLang="en-US" sz="3200" b="0" i="1">
                                <a:latin typeface="Cambria Math" panose="02040503050406030204" pitchFamily="18" charset="0"/>
                              </a:rPr>
                              <m:t>1</m:t>
                            </m:r>
                          </m:num>
                          <m:den>
                            <m:sSub>
                              <m:sSubPr>
                                <m:ctrlPr>
                                  <a:rPr lang="zh-CN" altLang="en-US" sz="3200" b="0" i="1">
                                    <a:latin typeface="Cambria Math" panose="02040503050406030204" pitchFamily="18" charset="0"/>
                                  </a:rPr>
                                </m:ctrlPr>
                              </m:sSubPr>
                              <m:e>
                                <m:r>
                                  <a:rPr lang="zh-CN" altLang="en-US" sz="3200" b="0" i="1">
                                    <a:latin typeface="Cambria Math" panose="02040503050406030204" pitchFamily="18" charset="0"/>
                                  </a:rPr>
                                  <m:t>𝑅</m:t>
                                </m:r>
                              </m:e>
                              <m:sub>
                                <m:r>
                                  <a:rPr lang="zh-CN" altLang="en-US" sz="3200" b="0" i="1">
                                    <a:latin typeface="Cambria Math" panose="02040503050406030204" pitchFamily="18" charset="0"/>
                                  </a:rPr>
                                  <m:t>1</m:t>
                                </m:r>
                              </m:sub>
                            </m:sSub>
                          </m:den>
                        </m:f>
                      </m:e>
                    </m:d>
                  </m:oMath>
                </a14:m>
                <a:endParaRPr lang="zh-CN" altLang="en-US" sz="3200" b="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793606" name="Text Box 6"/>
              <p:cNvSpPr txBox="1">
                <a:spLocks noRot="1" noChangeAspect="1" noMove="1" noResize="1" noEditPoints="1" noAdjustHandles="1" noChangeArrowheads="1" noChangeShapeType="1" noTextEdit="1"/>
              </p:cNvSpPr>
              <p:nvPr/>
            </p:nvSpPr>
            <p:spPr bwMode="auto">
              <a:xfrm>
                <a:off x="903114" y="630707"/>
                <a:ext cx="9446833" cy="1289840"/>
              </a:xfrm>
              <a:prstGeom prst="rect">
                <a:avLst/>
              </a:prstGeom>
              <a:blipFill>
                <a:blip r:embed="rId2"/>
                <a:stretch>
                  <a:fillRect l="-1613" b="-9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 name="Text Box 5">
            <a:extLst>
              <a:ext uri="{FF2B5EF4-FFF2-40B4-BE49-F238E27FC236}">
                <a16:creationId xmlns:a16="http://schemas.microsoft.com/office/drawing/2014/main" id="{6151A8AD-899C-48E2-A37F-64EF6B746E67}"/>
              </a:ext>
            </a:extLst>
          </p:cNvPr>
          <p:cNvSpPr txBox="1">
            <a:spLocks noChangeArrowheads="1"/>
          </p:cNvSpPr>
          <p:nvPr/>
        </p:nvSpPr>
        <p:spPr bwMode="auto">
          <a:xfrm>
            <a:off x="1050433" y="2242448"/>
            <a:ext cx="8753303" cy="149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50000"/>
              </a:spcBef>
              <a:spcAft>
                <a:spcPct val="0"/>
              </a:spcAft>
              <a:defRPr/>
            </a:pPr>
            <a:r>
              <a:rPr lang="en-US" altLang="zh-CN" sz="3200" b="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en-US" sz="3200" b="0" dirty="0">
                <a:latin typeface="华文楷体" panose="02010600040101010101" pitchFamily="2" charset="-122"/>
                <a:ea typeface="华文楷体" panose="02010600040101010101" pitchFamily="2" charset="-122"/>
                <a:cs typeface="Times New Roman" panose="02020603050405020304" pitchFamily="18" charset="0"/>
              </a:rPr>
              <a:t>若外球壳接地，则球壳外表面上的电荷消失。小球与球壳的电势分别为</a:t>
            </a:r>
          </a:p>
        </p:txBody>
      </p:sp>
      <mc:AlternateContent xmlns:mc="http://schemas.openxmlformats.org/markup-compatibility/2006" xmlns:a14="http://schemas.microsoft.com/office/drawing/2010/main">
        <mc:Choice Requires="a14">
          <p:sp>
            <p:nvSpPr>
              <p:cNvPr id="6" name="Object 7">
                <a:extLst>
                  <a:ext uri="{FF2B5EF4-FFF2-40B4-BE49-F238E27FC236}">
                    <a16:creationId xmlns:a16="http://schemas.microsoft.com/office/drawing/2014/main" id="{BEAC0CC8-1EAC-4057-83ED-2FF4BB63E1D7}"/>
                  </a:ext>
                </a:extLst>
              </p:cNvPr>
              <p:cNvSpPr txBox="1"/>
              <p:nvPr/>
            </p:nvSpPr>
            <p:spPr bwMode="auto">
              <a:xfrm>
                <a:off x="1755009" y="4004223"/>
                <a:ext cx="3524755" cy="1265238"/>
              </a:xfrm>
              <a:prstGeom prst="rect">
                <a:avLst/>
              </a:prstGeom>
              <a:noFill/>
              <a:ln>
                <a:noFill/>
              </a:ln>
              <a:effectLst/>
            </p:spPr>
            <p:txBody>
              <a:bodyPr>
                <a:noAutofit/>
              </a:bodyPr>
              <a:lstStyle>
                <a:defPPr>
                  <a:defRPr lang="en-US"/>
                </a:defPPr>
                <a:lvl1pPr>
                  <a:defRPr sz="2800" b="1" i="1">
                    <a:solidFill>
                      <a:srgbClr val="00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zh-CN" altLang="en-US" b="0" i="1">
                              <a:latin typeface="Cambria Math" panose="02040503050406030204" pitchFamily="18" charset="0"/>
                            </a:rPr>
                          </m:ctrlPr>
                        </m:sSubPr>
                        <m:e>
                          <m:r>
                            <a:rPr lang="en-US" b="0">
                              <a:latin typeface="Cambria Math" panose="02040503050406030204" pitchFamily="18" charset="0"/>
                            </a:rPr>
                            <m:t>𝜑</m:t>
                          </m:r>
                        </m:e>
                        <m:sub>
                          <m:r>
                            <a:rPr lang="zh-CN" altLang="en-US" b="0" i="1">
                              <a:latin typeface="Cambria Math" panose="02040503050406030204" pitchFamily="18" charset="0"/>
                            </a:rPr>
                            <m:t>𝑟</m:t>
                          </m:r>
                        </m:sub>
                      </m:sSub>
                      <m:r>
                        <a:rPr lang="zh-CN" altLang="en-US" b="0">
                          <a:latin typeface="Cambria Math" panose="02040503050406030204" pitchFamily="18" charset="0"/>
                        </a:rPr>
                        <m:t>=</m:t>
                      </m:r>
                      <m:f>
                        <m:fPr>
                          <m:ctrlPr>
                            <a:rPr lang="zh-CN" altLang="en-US" b="0" i="1">
                              <a:latin typeface="Cambria Math" panose="02040503050406030204" pitchFamily="18" charset="0"/>
                            </a:rPr>
                          </m:ctrlPr>
                        </m:fPr>
                        <m:num>
                          <m:r>
                            <a:rPr lang="zh-CN" altLang="en-US" b="0" i="1">
                              <a:latin typeface="Cambria Math" panose="02040503050406030204" pitchFamily="18" charset="0"/>
                            </a:rPr>
                            <m:t>𝑞</m:t>
                          </m:r>
                        </m:num>
                        <m:den>
                          <m:r>
                            <a:rPr lang="zh-CN" altLang="en-US" b="0" i="1">
                              <a:latin typeface="Cambria Math" panose="02040503050406030204" pitchFamily="18" charset="0"/>
                            </a:rPr>
                            <m:t>4</m:t>
                          </m:r>
                          <m:r>
                            <a:rPr lang="zh-CN" altLang="en-US" b="0" i="1">
                              <a:latin typeface="Cambria Math" panose="02040503050406030204" pitchFamily="18" charset="0"/>
                            </a:rPr>
                            <m:t>𝜋</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𝜀</m:t>
                              </m:r>
                            </m:e>
                            <m:sub>
                              <m:r>
                                <a:rPr lang="zh-CN" altLang="en-US" b="0" i="1">
                                  <a:latin typeface="Cambria Math" panose="02040503050406030204" pitchFamily="18" charset="0"/>
                                </a:rPr>
                                <m:t>0</m:t>
                              </m:r>
                            </m:sub>
                          </m:sSub>
                        </m:den>
                      </m:f>
                      <m:d>
                        <m:dPr>
                          <m:ctrlPr>
                            <a:rPr lang="zh-CN" altLang="en-US" b="0" i="1">
                              <a:latin typeface="Cambria Math" panose="02040503050406030204" pitchFamily="18" charset="0"/>
                            </a:rPr>
                          </m:ctrlPr>
                        </m:dPr>
                        <m:e>
                          <m:f>
                            <m:fPr>
                              <m:ctrlPr>
                                <a:rPr lang="zh-CN" altLang="en-US" b="0" i="1">
                                  <a:latin typeface="Cambria Math" panose="02040503050406030204" pitchFamily="18" charset="0"/>
                                </a:rPr>
                              </m:ctrlPr>
                            </m:fPr>
                            <m:num>
                              <m:r>
                                <a:rPr lang="zh-CN" altLang="en-US" b="0" i="1">
                                  <a:latin typeface="Cambria Math" panose="02040503050406030204" pitchFamily="18" charset="0"/>
                                </a:rPr>
                                <m:t>1</m:t>
                              </m:r>
                            </m:num>
                            <m:den>
                              <m:r>
                                <a:rPr lang="zh-CN" altLang="en-US" b="0" i="1">
                                  <a:latin typeface="Cambria Math" panose="02040503050406030204" pitchFamily="18" charset="0"/>
                                </a:rPr>
                                <m:t>𝑟</m:t>
                              </m:r>
                            </m:den>
                          </m:f>
                          <m:r>
                            <a:rPr lang="zh-CN" altLang="en-US" b="0">
                              <a:latin typeface="Cambria Math" panose="02040503050406030204" pitchFamily="18" charset="0"/>
                            </a:rPr>
                            <m:t>−</m:t>
                          </m:r>
                          <m:f>
                            <m:fPr>
                              <m:ctrlPr>
                                <a:rPr lang="zh-CN" altLang="en-US" b="0" i="1">
                                  <a:latin typeface="Cambria Math" panose="02040503050406030204" pitchFamily="18" charset="0"/>
                                </a:rPr>
                              </m:ctrlPr>
                            </m:fPr>
                            <m:num>
                              <m:r>
                                <a:rPr lang="zh-CN" altLang="en-US" b="0" i="1">
                                  <a:latin typeface="Cambria Math" panose="02040503050406030204" pitchFamily="18" charset="0"/>
                                </a:rPr>
                                <m:t>1</m:t>
                              </m:r>
                            </m:num>
                            <m:den>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𝑅</m:t>
                                  </m:r>
                                </m:e>
                                <m:sub>
                                  <m:r>
                                    <a:rPr lang="zh-CN" altLang="en-US" b="0" i="1">
                                      <a:latin typeface="Cambria Math" panose="02040503050406030204" pitchFamily="18" charset="0"/>
                                    </a:rPr>
                                    <m:t>1</m:t>
                                  </m:r>
                                </m:sub>
                              </m:sSub>
                            </m:den>
                          </m:f>
                        </m:e>
                      </m:d>
                    </m:oMath>
                  </m:oMathPara>
                </a14:m>
                <a:endParaRPr lang="zh-CN" altLang="en-US" b="0" dirty="0">
                  <a:latin typeface="华文楷体" panose="02010600040101010101" pitchFamily="2" charset="-122"/>
                  <a:ea typeface="华文楷体" panose="02010600040101010101" pitchFamily="2" charset="-122"/>
                </a:endParaRPr>
              </a:p>
            </p:txBody>
          </p:sp>
        </mc:Choice>
        <mc:Fallback xmlns="">
          <p:sp>
            <p:nvSpPr>
              <p:cNvPr id="6" name="Object 7">
                <a:extLst>
                  <a:ext uri="{FF2B5EF4-FFF2-40B4-BE49-F238E27FC236}">
                    <a16:creationId xmlns:a16="http://schemas.microsoft.com/office/drawing/2014/main" id="{BEAC0CC8-1EAC-4057-83ED-2FF4BB63E1D7}"/>
                  </a:ext>
                </a:extLst>
              </p:cNvPr>
              <p:cNvSpPr txBox="1">
                <a:spLocks noRot="1" noChangeAspect="1" noMove="1" noResize="1" noEditPoints="1" noAdjustHandles="1" noChangeArrowheads="1" noChangeShapeType="1" noTextEdit="1"/>
              </p:cNvSpPr>
              <p:nvPr/>
            </p:nvSpPr>
            <p:spPr bwMode="auto">
              <a:xfrm>
                <a:off x="1755009" y="4004223"/>
                <a:ext cx="3524755" cy="126523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8">
                <a:extLst>
                  <a:ext uri="{FF2B5EF4-FFF2-40B4-BE49-F238E27FC236}">
                    <a16:creationId xmlns:a16="http://schemas.microsoft.com/office/drawing/2014/main" id="{D49D3E3D-F34A-4459-A7EB-0F8F8861B93C}"/>
                  </a:ext>
                </a:extLst>
              </p:cNvPr>
              <p:cNvSpPr txBox="1"/>
              <p:nvPr/>
            </p:nvSpPr>
            <p:spPr bwMode="auto">
              <a:xfrm>
                <a:off x="5279764" y="4289179"/>
                <a:ext cx="3150027" cy="695325"/>
              </a:xfrm>
              <a:prstGeom prst="rect">
                <a:avLst/>
              </a:prstGeom>
              <a:noFill/>
              <a:ln>
                <a:noFill/>
              </a:ln>
              <a:effectLst/>
            </p:spPr>
            <p:txBody>
              <a:bodyPr>
                <a:noAutofit/>
              </a:bodyPr>
              <a:lstStyle>
                <a:defPPr>
                  <a:defRPr lang="en-US"/>
                </a:defPPr>
                <a:lvl1pPr>
                  <a:defRPr sz="2800" b="1" i="1">
                    <a:solidFill>
                      <a:srgbClr val="00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zh-CN" altLang="en-US" b="0" i="1">
                              <a:latin typeface="Cambria Math" panose="02040503050406030204" pitchFamily="18" charset="0"/>
                            </a:rPr>
                          </m:ctrlPr>
                        </m:sSubPr>
                        <m:e>
                          <m:r>
                            <a:rPr lang="en-US" b="0">
                              <a:latin typeface="Cambria Math" panose="02040503050406030204" pitchFamily="18" charset="0"/>
                            </a:rPr>
                            <m:t>𝜑</m:t>
                          </m:r>
                        </m:e>
                        <m:sub>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𝑅</m:t>
                              </m:r>
                            </m:e>
                            <m:sub>
                              <m:r>
                                <a:rPr lang="zh-CN" altLang="en-US" b="0" i="1">
                                  <a:latin typeface="Cambria Math" panose="02040503050406030204" pitchFamily="18" charset="0"/>
                                </a:rPr>
                                <m:t>1</m:t>
                              </m:r>
                            </m:sub>
                          </m:sSub>
                        </m:sub>
                      </m:sSub>
                      <m:r>
                        <a:rPr lang="zh-CN" altLang="en-US" b="0">
                          <a:latin typeface="Cambria Math" panose="02040503050406030204" pitchFamily="18" charset="0"/>
                        </a:rPr>
                        <m:t>=</m:t>
                      </m:r>
                      <m:sSub>
                        <m:sSubPr>
                          <m:ctrlPr>
                            <a:rPr lang="zh-CN" altLang="en-US" b="0" i="1">
                              <a:latin typeface="Cambria Math" panose="02040503050406030204" pitchFamily="18" charset="0"/>
                            </a:rPr>
                          </m:ctrlPr>
                        </m:sSubPr>
                        <m:e>
                          <m:r>
                            <a:rPr lang="en-US" b="0">
                              <a:latin typeface="Cambria Math" panose="02040503050406030204" pitchFamily="18" charset="0"/>
                            </a:rPr>
                            <m:t>𝜑</m:t>
                          </m:r>
                        </m:e>
                        <m:sub>
                          <m:sSub>
                            <m:sSubPr>
                              <m:ctrlPr>
                                <a:rPr lang="zh-CN" altLang="en-US" b="0" i="1" smtClean="0">
                                  <a:latin typeface="Cambria Math" panose="02040503050406030204" pitchFamily="18" charset="0"/>
                                </a:rPr>
                              </m:ctrlPr>
                            </m:sSubPr>
                            <m:e>
                              <m:r>
                                <a:rPr lang="zh-CN" altLang="en-US" b="0" i="1">
                                  <a:latin typeface="Cambria Math" panose="02040503050406030204" pitchFamily="18" charset="0"/>
                                </a:rPr>
                                <m:t>𝑅</m:t>
                              </m:r>
                            </m:e>
                            <m:sub>
                              <m:r>
                                <a:rPr lang="zh-CN" altLang="en-US" b="0" i="1">
                                  <a:latin typeface="Cambria Math" panose="02040503050406030204" pitchFamily="18" charset="0"/>
                                </a:rPr>
                                <m:t>2</m:t>
                              </m:r>
                            </m:sub>
                          </m:sSub>
                        </m:sub>
                      </m:sSub>
                      <m:r>
                        <a:rPr lang="zh-CN" altLang="en-US" b="0">
                          <a:latin typeface="Cambria Math" panose="02040503050406030204" pitchFamily="18" charset="0"/>
                        </a:rPr>
                        <m:t>=</m:t>
                      </m:r>
                      <m:r>
                        <a:rPr lang="zh-CN" altLang="en-US" b="0" i="1">
                          <a:latin typeface="Cambria Math" panose="02040503050406030204" pitchFamily="18" charset="0"/>
                        </a:rPr>
                        <m:t>0</m:t>
                      </m:r>
                    </m:oMath>
                  </m:oMathPara>
                </a14:m>
                <a:endParaRPr lang="zh-CN" altLang="en-US" b="0" dirty="0">
                  <a:latin typeface="华文楷体" panose="02010600040101010101" pitchFamily="2" charset="-122"/>
                  <a:ea typeface="华文楷体" panose="02010600040101010101" pitchFamily="2" charset="-122"/>
                </a:endParaRPr>
              </a:p>
            </p:txBody>
          </p:sp>
        </mc:Choice>
        <mc:Fallback xmlns="">
          <p:sp>
            <p:nvSpPr>
              <p:cNvPr id="7" name="Object 8">
                <a:extLst>
                  <a:ext uri="{FF2B5EF4-FFF2-40B4-BE49-F238E27FC236}">
                    <a16:creationId xmlns:a16="http://schemas.microsoft.com/office/drawing/2014/main" id="{D49D3E3D-F34A-4459-A7EB-0F8F8861B93C}"/>
                  </a:ext>
                </a:extLst>
              </p:cNvPr>
              <p:cNvSpPr txBox="1">
                <a:spLocks noRot="1" noChangeAspect="1" noMove="1" noResize="1" noEditPoints="1" noAdjustHandles="1" noChangeArrowheads="1" noChangeShapeType="1" noTextEdit="1"/>
              </p:cNvSpPr>
              <p:nvPr/>
            </p:nvSpPr>
            <p:spPr bwMode="auto">
              <a:xfrm>
                <a:off x="5279764" y="4289179"/>
                <a:ext cx="3150027" cy="69532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3">
                <a:extLst>
                  <a:ext uri="{FF2B5EF4-FFF2-40B4-BE49-F238E27FC236}">
                    <a16:creationId xmlns:a16="http://schemas.microsoft.com/office/drawing/2014/main" id="{E9CD410D-D179-412B-96EB-5EC94E249982}"/>
                  </a:ext>
                </a:extLst>
              </p:cNvPr>
              <p:cNvSpPr txBox="1">
                <a:spLocks noChangeArrowheads="1"/>
              </p:cNvSpPr>
              <p:nvPr/>
            </p:nvSpPr>
            <p:spPr bwMode="auto">
              <a:xfrm>
                <a:off x="1593573" y="5099043"/>
                <a:ext cx="7848600" cy="1140056"/>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50000"/>
                  </a:spcBef>
                  <a:spcAft>
                    <a:spcPct val="0"/>
                  </a:spcAft>
                  <a:defRPr/>
                </a:pPr>
                <a:r>
                  <a:rPr lang="zh-CN" altLang="en-US" sz="2800" b="0" dirty="0">
                    <a:latin typeface="华文楷体" panose="02010600040101010101" pitchFamily="2" charset="-122"/>
                    <a:ea typeface="华文楷体" panose="02010600040101010101" pitchFamily="2" charset="-122"/>
                  </a:rPr>
                  <a:t>两球的电势差仍为</a:t>
                </a:r>
                <a:r>
                  <a:rPr lang="en-US" altLang="zh-CN" sz="2800" b="0" dirty="0">
                    <a:solidFill>
                      <a:srgbClr val="000000"/>
                    </a:solidFill>
                    <a:latin typeface="华文楷体" panose="02010600040101010101" pitchFamily="2" charset="-122"/>
                    <a:ea typeface="华文楷体" panose="02010600040101010101" pitchFamily="2" charset="-122"/>
                  </a:rPr>
                  <a:t>: </a:t>
                </a:r>
                <a14:m>
                  <m:oMath xmlns:m="http://schemas.openxmlformats.org/officeDocument/2006/math">
                    <m:r>
                      <a:rPr lang="en-US" altLang="zh-CN" sz="2800" b="0" i="0" smtClean="0">
                        <a:solidFill>
                          <a:srgbClr val="000000"/>
                        </a:solidFill>
                        <a:latin typeface="Cambria Math" panose="02040503050406030204" pitchFamily="18" charset="0"/>
                      </a:rPr>
                      <m:t> </m:t>
                    </m:r>
                    <m:r>
                      <a:rPr lang="en-US" altLang="zh-CN" sz="2800" b="0" i="1" smtClean="0">
                        <a:solidFill>
                          <a:srgbClr val="000000"/>
                        </a:solidFill>
                        <a:latin typeface="Cambria Math" panose="02040503050406030204" pitchFamily="18" charset="0"/>
                      </a:rPr>
                      <m:t> </m:t>
                    </m:r>
                    <m:f>
                      <m:fPr>
                        <m:ctrlPr>
                          <a:rPr lang="zh-CN" altLang="en-US" sz="2800" b="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𝑞</m:t>
                        </m:r>
                      </m:num>
                      <m:den>
                        <m:r>
                          <a:rPr lang="zh-CN" altLang="en-US"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zh-CN" altLang="en-US" sz="2800" b="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d>
                      <m:dPr>
                        <m:ctrlPr>
                          <a:rPr lang="zh-CN" altLang="en-US" sz="2800" b="0" i="1">
                            <a:solidFill>
                              <a:srgbClr val="000000"/>
                            </a:solidFill>
                            <a:latin typeface="Cambria Math" panose="02040503050406030204" pitchFamily="18" charset="0"/>
                          </a:rPr>
                        </m:ctrlPr>
                      </m:dPr>
                      <m:e>
                        <m:f>
                          <m:fPr>
                            <m:ctrlPr>
                              <a:rPr lang="zh-CN" altLang="en-US" sz="2800" b="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r>
                              <a:rPr lang="zh-CN" altLang="en-US" sz="2800" b="0" i="1">
                                <a:solidFill>
                                  <a:srgbClr val="000000"/>
                                </a:solidFill>
                                <a:latin typeface="Cambria Math" panose="02040503050406030204" pitchFamily="18" charset="0"/>
                              </a:rPr>
                              <m:t>𝑟</m:t>
                            </m:r>
                          </m:den>
                        </m:f>
                        <m:r>
                          <a:rPr lang="zh-CN" altLang="en-US" sz="2800" b="0" i="1">
                            <a:solidFill>
                              <a:srgbClr val="000000"/>
                            </a:solidFill>
                            <a:latin typeface="Cambria Math" panose="02040503050406030204" pitchFamily="18" charset="0"/>
                          </a:rPr>
                          <m:t>−</m:t>
                        </m:r>
                        <m:f>
                          <m:fPr>
                            <m:ctrlPr>
                              <a:rPr lang="zh-CN" altLang="en-US" sz="2800" b="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b="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𝑅</m:t>
                                </m:r>
                              </m:e>
                              <m:sub>
                                <m:r>
                                  <a:rPr lang="zh-CN" altLang="en-US" sz="2800" b="0" i="1">
                                    <a:solidFill>
                                      <a:srgbClr val="000000"/>
                                    </a:solidFill>
                                    <a:latin typeface="Cambria Math" panose="02040503050406030204" pitchFamily="18" charset="0"/>
                                  </a:rPr>
                                  <m:t>1</m:t>
                                </m:r>
                              </m:sub>
                            </m:sSub>
                          </m:den>
                        </m:f>
                      </m:e>
                    </m:d>
                  </m:oMath>
                </a14:m>
                <a:endParaRPr lang="zh-CN" altLang="en-US" sz="2800" b="0" dirty="0">
                  <a:solidFill>
                    <a:srgbClr val="000000"/>
                  </a:solidFill>
                  <a:latin typeface="华文楷体" panose="02010600040101010101" pitchFamily="2" charset="-122"/>
                  <a:ea typeface="华文楷体" panose="02010600040101010101" pitchFamily="2" charset="-122"/>
                </a:endParaRPr>
              </a:p>
            </p:txBody>
          </p:sp>
        </mc:Choice>
        <mc:Fallback xmlns="">
          <p:sp>
            <p:nvSpPr>
              <p:cNvPr id="8" name="Text Box 3">
                <a:extLst>
                  <a:ext uri="{FF2B5EF4-FFF2-40B4-BE49-F238E27FC236}">
                    <a16:creationId xmlns:a16="http://schemas.microsoft.com/office/drawing/2014/main" id="{E9CD410D-D179-412B-96EB-5EC94E249982}"/>
                  </a:ext>
                </a:extLst>
              </p:cNvPr>
              <p:cNvSpPr txBox="1">
                <a:spLocks noRot="1" noChangeAspect="1" noMove="1" noResize="1" noEditPoints="1" noAdjustHandles="1" noChangeArrowheads="1" noChangeShapeType="1" noTextEdit="1"/>
              </p:cNvSpPr>
              <p:nvPr/>
            </p:nvSpPr>
            <p:spPr bwMode="auto">
              <a:xfrm>
                <a:off x="1593573" y="5099043"/>
                <a:ext cx="7848600" cy="1140056"/>
              </a:xfrm>
              <a:prstGeom prst="rect">
                <a:avLst/>
              </a:prstGeom>
              <a:blipFill>
                <a:blip r:embed="rId5"/>
                <a:stretch>
                  <a:fillRect l="-1553" b="-5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9667732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36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6" grpId="0"/>
      <p:bldP spid="5" grpId="0"/>
      <p:bldP spid="6"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半径为</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R</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的导体球原不带电，在离球心为</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a</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的地方放一电量为</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q</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的点电荷（</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l&gt;R</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 ） ，如图所示，则该导体球的电势为</a:t>
            </a:r>
          </a:p>
        </p:txBody>
      </p:sp>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3352801" y="2786063"/>
                <a:ext cx="224814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type m:val="lin"/>
                          <m:ctrlPr>
                            <a:rPr lang="zh-CN" altLang="en-US"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𝒒𝑹</m:t>
                          </m:r>
                        </m:num>
                        <m:den>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𝟒</m:t>
                          </m:r>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𝝅</m:t>
                          </m:r>
                          <m:sSub>
                            <m:sSubPr>
                              <m:ctrlP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𝜺</m:t>
                              </m:r>
                            </m:e>
                            <m:sub>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𝟎</m:t>
                              </m:r>
                            </m:sub>
                          </m:sSub>
                          <m:sSup>
                            <m:sSupPr>
                              <m:ctrlP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pPr>
                            <m:e>
                              <m:r>
                                <a:rPr lang="en-US" altLang="zh-CN"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𝒍</m:t>
                              </m:r>
                            </m:e>
                            <m:sup>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𝟐</m:t>
                              </m:r>
                            </m:sup>
                          </m:sSup>
                        </m:den>
                      </m:f>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19"/>
                </p:custDataLst>
              </p:nvPr>
            </p:nvSpPr>
            <p:spPr>
              <a:xfrm>
                <a:off x="3352801" y="2786063"/>
                <a:ext cx="2248145" cy="64293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3352801" y="3643313"/>
                <a:ext cx="224814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type m:val="lin"/>
                          <m:ctrlPr>
                            <a:rPr lang="zh-CN" altLang="en-US"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𝒒</m:t>
                          </m:r>
                        </m:num>
                        <m:den>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𝟒</m:t>
                          </m:r>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𝝅</m:t>
                          </m:r>
                          <m:sSub>
                            <m:sSubPr>
                              <m:ctrlP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𝜺</m:t>
                              </m:r>
                            </m:e>
                            <m:sub>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𝟎</m:t>
                              </m:r>
                            </m:sub>
                          </m:sSub>
                          <m:r>
                            <a:rPr lang="en-US" altLang="zh-CN"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𝒍</m:t>
                          </m:r>
                        </m:den>
                      </m:f>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custDataLst>
                  <p:tags r:id="rId21"/>
                </p:custDataLst>
              </p:nvPr>
            </p:nvSpPr>
            <p:spPr>
              <a:xfrm>
                <a:off x="3352801" y="3643313"/>
                <a:ext cx="2248145" cy="64293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custDataLst>
                  <p:tags r:id="rId5"/>
                </p:custDataLst>
              </p:nvPr>
            </p:nvSpPr>
            <p:spPr>
              <a:xfrm>
                <a:off x="3352800" y="4500563"/>
                <a:ext cx="238316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type m:val="lin"/>
                          <m:ctrlPr>
                            <a:rPr lang="zh-CN" altLang="en-US"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𝒒</m:t>
                          </m:r>
                        </m:num>
                        <m:den>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𝟒</m:t>
                          </m:r>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𝝅</m:t>
                          </m:r>
                          <m:sSub>
                            <m:sSubPr>
                              <m:ctrlP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𝜺</m:t>
                              </m:r>
                            </m:e>
                            <m:sub>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𝟎</m:t>
                              </m:r>
                            </m:sub>
                          </m:sSub>
                          <m:r>
                            <a:rPr lang="en-US" altLang="zh-CN"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𝒍</m:t>
                          </m:r>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𝑹</m:t>
                          </m:r>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den>
                      </m:f>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23"/>
                </p:custDataLst>
              </p:nvPr>
            </p:nvSpPr>
            <p:spPr>
              <a:xfrm>
                <a:off x="3352800" y="4500563"/>
                <a:ext cx="2383160" cy="642938"/>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custDataLst>
                  <p:tags r:id="rId6"/>
                </p:custDataLst>
              </p:nvPr>
            </p:nvSpPr>
            <p:spPr>
              <a:xfrm>
                <a:off x="3352800" y="5357813"/>
                <a:ext cx="265319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type m:val="lin"/>
                          <m:ctrlPr>
                            <a:rPr lang="zh-CN" altLang="en-US"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𝒒𝒂</m:t>
                          </m:r>
                        </m:num>
                        <m:den>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𝟒</m:t>
                          </m:r>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𝝅</m:t>
                          </m:r>
                          <m:sSub>
                            <m:sSubPr>
                              <m:ctrlP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𝜺</m:t>
                              </m:r>
                            </m:e>
                            <m:sub>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𝟎</m:t>
                              </m:r>
                            </m:sub>
                          </m:sSub>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p>
                            <m:sSupPr>
                              <m:ctrlP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pPr>
                            <m:e>
                              <m:r>
                                <a:rPr lang="en-US" altLang="zh-CN" sz="2800" b="1"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𝒍</m:t>
                              </m:r>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𝑹</m:t>
                              </m:r>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e>
                            <m:sup>
                              <m:r>
                                <a:rPr lang="en-US" altLang="zh-CN" sz="2800" b="1"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𝟐</m:t>
                              </m:r>
                            </m:sup>
                          </m:sSup>
                        </m:den>
                      </m:f>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custDataLst>
                  <p:tags r:id="rId25"/>
                </p:custDataLst>
              </p:nvPr>
            </p:nvSpPr>
            <p:spPr>
              <a:xfrm>
                <a:off x="3352800" y="5357813"/>
                <a:ext cx="2653190" cy="642938"/>
              </a:xfrm>
              <a:prstGeom prst="rect">
                <a:avLst/>
              </a:prstGeom>
              <a:blipFill>
                <a:blip r:embed="rId26"/>
                <a:stretch>
                  <a:fillRect r="-4368"/>
                </a:stretch>
              </a:blipFill>
            </p:spPr>
            <p:txBody>
              <a:bodyPr/>
              <a:lstStyle/>
              <a:p>
                <a:r>
                  <a:rPr lang="en-US">
                    <a:noFill/>
                  </a:rPr>
                  <a:t> </a:t>
                </a:r>
              </a:p>
            </p:txBody>
          </p:sp>
        </mc:Fallback>
      </mc:AlternateContent>
      <p:sp>
        <p:nvSpPr>
          <p:cNvPr id="9" name="椭圆 8"/>
          <p:cNvSpPr>
            <a:spLocks noChangeAspect="1"/>
          </p:cNvSpPr>
          <p:nvPr>
            <p:custDataLst>
              <p:tags r:id="rId7"/>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2638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2638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2638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Group 38">
            <a:extLst>
              <a:ext uri="{FF2B5EF4-FFF2-40B4-BE49-F238E27FC236}">
                <a16:creationId xmlns:a16="http://schemas.microsoft.com/office/drawing/2014/main" id="{8E5DC7B3-6E61-47A3-AAA6-064940703C99}"/>
              </a:ext>
            </a:extLst>
          </p:cNvPr>
          <p:cNvGrpSpPr>
            <a:grpSpLocks/>
          </p:cNvGrpSpPr>
          <p:nvPr/>
        </p:nvGrpSpPr>
        <p:grpSpPr bwMode="auto">
          <a:xfrm>
            <a:off x="7419009" y="3001169"/>
            <a:ext cx="2913063" cy="1187450"/>
            <a:chOff x="3744" y="1440"/>
            <a:chExt cx="1835" cy="748"/>
          </a:xfrm>
        </p:grpSpPr>
        <p:grpSp>
          <p:nvGrpSpPr>
            <p:cNvPr id="21" name="Group 32">
              <a:extLst>
                <a:ext uri="{FF2B5EF4-FFF2-40B4-BE49-F238E27FC236}">
                  <a16:creationId xmlns:a16="http://schemas.microsoft.com/office/drawing/2014/main" id="{D38E6799-B004-4455-9939-2B87D9CB148F}"/>
                </a:ext>
              </a:extLst>
            </p:cNvPr>
            <p:cNvGrpSpPr>
              <a:grpSpLocks/>
            </p:cNvGrpSpPr>
            <p:nvPr/>
          </p:nvGrpSpPr>
          <p:grpSpPr bwMode="auto">
            <a:xfrm>
              <a:off x="5328" y="1776"/>
              <a:ext cx="251" cy="412"/>
              <a:chOff x="5280" y="1680"/>
              <a:chExt cx="251" cy="412"/>
            </a:xfrm>
          </p:grpSpPr>
          <p:sp>
            <p:nvSpPr>
              <p:cNvPr id="31" name="Oval 5">
                <a:extLst>
                  <a:ext uri="{FF2B5EF4-FFF2-40B4-BE49-F238E27FC236}">
                    <a16:creationId xmlns:a16="http://schemas.microsoft.com/office/drawing/2014/main" id="{8D65D985-BED5-4E41-833F-F4F44C4DE431}"/>
                  </a:ext>
                </a:extLst>
              </p:cNvPr>
              <p:cNvSpPr>
                <a:spLocks noChangeArrowheads="1"/>
              </p:cNvSpPr>
              <p:nvPr/>
            </p:nvSpPr>
            <p:spPr bwMode="auto">
              <a:xfrm>
                <a:off x="5424" y="168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Object 24">
                    <a:extLst>
                      <a:ext uri="{FF2B5EF4-FFF2-40B4-BE49-F238E27FC236}">
                        <a16:creationId xmlns:a16="http://schemas.microsoft.com/office/drawing/2014/main" id="{F26A683F-DD9A-47EC-87F9-E16C1982C425}"/>
                      </a:ext>
                    </a:extLst>
                  </p:cNvPr>
                  <p:cNvSpPr txBox="1"/>
                  <p:nvPr/>
                </p:nvSpPr>
                <p:spPr bwMode="auto">
                  <a:xfrm>
                    <a:off x="5280" y="1776"/>
                    <a:ext cx="251" cy="31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𝑞</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2" name="Object 24">
                    <a:extLst>
                      <a:ext uri="{FF2B5EF4-FFF2-40B4-BE49-F238E27FC236}">
                        <a16:creationId xmlns:a16="http://schemas.microsoft.com/office/drawing/2014/main" id="{F26A683F-DD9A-47EC-87F9-E16C1982C425}"/>
                      </a:ext>
                    </a:extLst>
                  </p:cNvPr>
                  <p:cNvSpPr txBox="1">
                    <a:spLocks noRot="1" noChangeAspect="1" noMove="1" noResize="1" noEditPoints="1" noAdjustHandles="1" noChangeArrowheads="1" noChangeShapeType="1" noTextEdit="1"/>
                  </p:cNvSpPr>
                  <p:nvPr/>
                </p:nvSpPr>
                <p:spPr bwMode="auto">
                  <a:xfrm>
                    <a:off x="5280" y="1776"/>
                    <a:ext cx="251" cy="316"/>
                  </a:xfrm>
                  <a:prstGeom prst="rect">
                    <a:avLst/>
                  </a:prstGeom>
                  <a:blipFill>
                    <a:blip r:embed="rId27"/>
                    <a:stretch>
                      <a:fillRect/>
                    </a:stretch>
                  </a:blipFill>
                  <a:ln>
                    <a:noFill/>
                  </a:ln>
                  <a:effectLst/>
                  <a:extLst/>
                </p:spPr>
                <p:txBody>
                  <a:bodyPr/>
                  <a:lstStyle/>
                  <a:p>
                    <a:r>
                      <a:rPr lang="en-US">
                        <a:noFill/>
                      </a:rPr>
                      <a:t> </a:t>
                    </a:r>
                  </a:p>
                </p:txBody>
              </p:sp>
            </mc:Fallback>
          </mc:AlternateContent>
        </p:grpSp>
        <p:grpSp>
          <p:nvGrpSpPr>
            <p:cNvPr id="22" name="Group 37">
              <a:extLst>
                <a:ext uri="{FF2B5EF4-FFF2-40B4-BE49-F238E27FC236}">
                  <a16:creationId xmlns:a16="http://schemas.microsoft.com/office/drawing/2014/main" id="{5EABEC68-BFD7-4F34-8702-86B259B9A2CF}"/>
                </a:ext>
              </a:extLst>
            </p:cNvPr>
            <p:cNvGrpSpPr>
              <a:grpSpLocks/>
            </p:cNvGrpSpPr>
            <p:nvPr/>
          </p:nvGrpSpPr>
          <p:grpSpPr bwMode="auto">
            <a:xfrm>
              <a:off x="3744" y="1440"/>
              <a:ext cx="672" cy="720"/>
              <a:chOff x="3840" y="1392"/>
              <a:chExt cx="672" cy="720"/>
            </a:xfrm>
          </p:grpSpPr>
          <p:sp>
            <p:nvSpPr>
              <p:cNvPr id="27" name="Oval 3">
                <a:extLst>
                  <a:ext uri="{FF2B5EF4-FFF2-40B4-BE49-F238E27FC236}">
                    <a16:creationId xmlns:a16="http://schemas.microsoft.com/office/drawing/2014/main" id="{1A1EA1A4-4BA6-4532-9B1A-1433DBA1BF0F}"/>
                  </a:ext>
                </a:extLst>
              </p:cNvPr>
              <p:cNvSpPr>
                <a:spLocks noChangeArrowheads="1"/>
              </p:cNvSpPr>
              <p:nvPr/>
            </p:nvSpPr>
            <p:spPr bwMode="auto">
              <a:xfrm>
                <a:off x="3840" y="1488"/>
                <a:ext cx="672" cy="624"/>
              </a:xfrm>
              <a:prstGeom prst="ellipse">
                <a:avLst/>
              </a:prstGeom>
              <a:gradFill rotWithShape="0">
                <a:gsLst>
                  <a:gs pos="0">
                    <a:schemeClr val="accent1"/>
                  </a:gs>
                  <a:gs pos="100000">
                    <a:schemeClr val="accent1">
                      <a:gamma/>
                      <a:shade val="58039"/>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Object 26">
                    <a:extLst>
                      <a:ext uri="{FF2B5EF4-FFF2-40B4-BE49-F238E27FC236}">
                        <a16:creationId xmlns:a16="http://schemas.microsoft.com/office/drawing/2014/main" id="{80721574-1B46-4F48-BD60-EA368CAFFCCB}"/>
                      </a:ext>
                    </a:extLst>
                  </p:cNvPr>
                  <p:cNvSpPr txBox="1"/>
                  <p:nvPr/>
                </p:nvSpPr>
                <p:spPr bwMode="auto">
                  <a:xfrm>
                    <a:off x="3936" y="1392"/>
                    <a:ext cx="229" cy="24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𝑅</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8" name="Object 26">
                    <a:extLst>
                      <a:ext uri="{FF2B5EF4-FFF2-40B4-BE49-F238E27FC236}">
                        <a16:creationId xmlns:a16="http://schemas.microsoft.com/office/drawing/2014/main" id="{80721574-1B46-4F48-BD60-EA368CAFFCCB}"/>
                      </a:ext>
                    </a:extLst>
                  </p:cNvPr>
                  <p:cNvSpPr txBox="1">
                    <a:spLocks noRot="1" noChangeAspect="1" noMove="1" noResize="1" noEditPoints="1" noAdjustHandles="1" noChangeArrowheads="1" noChangeShapeType="1" noTextEdit="1"/>
                  </p:cNvSpPr>
                  <p:nvPr/>
                </p:nvSpPr>
                <p:spPr bwMode="auto">
                  <a:xfrm>
                    <a:off x="3936" y="1392"/>
                    <a:ext cx="229" cy="240"/>
                  </a:xfrm>
                  <a:prstGeom prst="rect">
                    <a:avLst/>
                  </a:prstGeom>
                  <a:blipFill>
                    <a:blip r:embed="rId28"/>
                    <a:stretch>
                      <a:fillRect/>
                    </a:stretch>
                  </a:blipFill>
                  <a:ln>
                    <a:noFill/>
                  </a:ln>
                  <a:effectLst/>
                  <a:extLst/>
                </p:spPr>
                <p:txBody>
                  <a:bodyPr/>
                  <a:lstStyle/>
                  <a:p>
                    <a:r>
                      <a:rPr lang="en-US">
                        <a:noFill/>
                      </a:rPr>
                      <a:t> </a:t>
                    </a:r>
                  </a:p>
                </p:txBody>
              </p:sp>
            </mc:Fallback>
          </mc:AlternateContent>
          <p:sp>
            <p:nvSpPr>
              <p:cNvPr id="29" name="Line 34">
                <a:extLst>
                  <a:ext uri="{FF2B5EF4-FFF2-40B4-BE49-F238E27FC236}">
                    <a16:creationId xmlns:a16="http://schemas.microsoft.com/office/drawing/2014/main" id="{3B07162B-1AF1-4A30-B1D9-6FD69F9148AD}"/>
                  </a:ext>
                </a:extLst>
              </p:cNvPr>
              <p:cNvSpPr>
                <a:spLocks noChangeShapeType="1"/>
              </p:cNvSpPr>
              <p:nvPr/>
            </p:nvSpPr>
            <p:spPr bwMode="auto">
              <a:xfrm flipH="1" flipV="1">
                <a:off x="3888" y="1632"/>
                <a:ext cx="288"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Object 36">
                    <a:extLst>
                      <a:ext uri="{FF2B5EF4-FFF2-40B4-BE49-F238E27FC236}">
                        <a16:creationId xmlns:a16="http://schemas.microsoft.com/office/drawing/2014/main" id="{B1563CAC-679C-4FBE-88DE-DD96667A8CF0}"/>
                      </a:ext>
                    </a:extLst>
                  </p:cNvPr>
                  <p:cNvSpPr txBox="1"/>
                  <p:nvPr/>
                </p:nvSpPr>
                <p:spPr bwMode="auto">
                  <a:xfrm>
                    <a:off x="3936" y="1776"/>
                    <a:ext cx="212" cy="23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𝑜</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Object 36">
                    <a:extLst>
                      <a:ext uri="{FF2B5EF4-FFF2-40B4-BE49-F238E27FC236}">
                        <a16:creationId xmlns:a16="http://schemas.microsoft.com/office/drawing/2014/main" id="{B1563CAC-679C-4FBE-88DE-DD96667A8CF0}"/>
                      </a:ext>
                    </a:extLst>
                  </p:cNvPr>
                  <p:cNvSpPr txBox="1">
                    <a:spLocks noRot="1" noChangeAspect="1" noMove="1" noResize="1" noEditPoints="1" noAdjustHandles="1" noChangeArrowheads="1" noChangeShapeType="1" noTextEdit="1"/>
                  </p:cNvSpPr>
                  <p:nvPr/>
                </p:nvSpPr>
                <p:spPr bwMode="auto">
                  <a:xfrm>
                    <a:off x="3936" y="1776"/>
                    <a:ext cx="212" cy="236"/>
                  </a:xfrm>
                  <a:prstGeom prst="rect">
                    <a:avLst/>
                  </a:prstGeom>
                  <a:blipFill>
                    <a:blip r:embed="rId29"/>
                    <a:stretch>
                      <a:fillRect/>
                    </a:stretch>
                  </a:blipFill>
                  <a:ln>
                    <a:noFill/>
                  </a:ln>
                  <a:effectLst/>
                  <a:extLst/>
                </p:spPr>
                <p:txBody>
                  <a:bodyPr/>
                  <a:lstStyle/>
                  <a:p>
                    <a:r>
                      <a:rPr lang="en-US">
                        <a:noFill/>
                      </a:rPr>
                      <a:t> </a:t>
                    </a:r>
                  </a:p>
                </p:txBody>
              </p:sp>
            </mc:Fallback>
          </mc:AlternateContent>
        </p:grpSp>
      </p:grpSp>
      <p:grpSp>
        <p:nvGrpSpPr>
          <p:cNvPr id="33" name="Group 40">
            <a:extLst>
              <a:ext uri="{FF2B5EF4-FFF2-40B4-BE49-F238E27FC236}">
                <a16:creationId xmlns:a16="http://schemas.microsoft.com/office/drawing/2014/main" id="{5F38A9FA-AE08-46D2-A220-1DD7662BB4C0}"/>
              </a:ext>
            </a:extLst>
          </p:cNvPr>
          <p:cNvGrpSpPr>
            <a:grpSpLocks/>
          </p:cNvGrpSpPr>
          <p:nvPr/>
        </p:nvGrpSpPr>
        <p:grpSpPr bwMode="auto">
          <a:xfrm>
            <a:off x="7952408" y="2315369"/>
            <a:ext cx="2286000" cy="1295400"/>
            <a:chOff x="4080" y="1008"/>
            <a:chExt cx="1440" cy="816"/>
          </a:xfrm>
        </p:grpSpPr>
        <p:grpSp>
          <p:nvGrpSpPr>
            <p:cNvPr id="34" name="Group 33">
              <a:extLst>
                <a:ext uri="{FF2B5EF4-FFF2-40B4-BE49-F238E27FC236}">
                  <a16:creationId xmlns:a16="http://schemas.microsoft.com/office/drawing/2014/main" id="{275FEAAC-92C5-48BF-B558-28053ED87580}"/>
                </a:ext>
              </a:extLst>
            </p:cNvPr>
            <p:cNvGrpSpPr>
              <a:grpSpLocks/>
            </p:cNvGrpSpPr>
            <p:nvPr/>
          </p:nvGrpSpPr>
          <p:grpSpPr bwMode="auto">
            <a:xfrm>
              <a:off x="4080" y="1008"/>
              <a:ext cx="1440" cy="768"/>
              <a:chOff x="3648" y="816"/>
              <a:chExt cx="1824" cy="768"/>
            </a:xfrm>
          </p:grpSpPr>
          <p:sp>
            <p:nvSpPr>
              <p:cNvPr id="36" name="Line 12">
                <a:extLst>
                  <a:ext uri="{FF2B5EF4-FFF2-40B4-BE49-F238E27FC236}">
                    <a16:creationId xmlns:a16="http://schemas.microsoft.com/office/drawing/2014/main" id="{71971F0D-5DDD-42CE-8A04-1528D6296ED2}"/>
                  </a:ext>
                </a:extLst>
              </p:cNvPr>
              <p:cNvSpPr>
                <a:spLocks noChangeShapeType="1"/>
              </p:cNvSpPr>
              <p:nvPr/>
            </p:nvSpPr>
            <p:spPr bwMode="auto">
              <a:xfrm>
                <a:off x="3648" y="864"/>
                <a:ext cx="0" cy="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 name="Line 13">
                <a:extLst>
                  <a:ext uri="{FF2B5EF4-FFF2-40B4-BE49-F238E27FC236}">
                    <a16:creationId xmlns:a16="http://schemas.microsoft.com/office/drawing/2014/main" id="{D8838DA5-6BCB-4AAE-9CDF-DDB11127FD61}"/>
                  </a:ext>
                </a:extLst>
              </p:cNvPr>
              <p:cNvSpPr>
                <a:spLocks noChangeShapeType="1"/>
              </p:cNvSpPr>
              <p:nvPr/>
            </p:nvSpPr>
            <p:spPr bwMode="auto">
              <a:xfrm>
                <a:off x="5472" y="864"/>
                <a:ext cx="0" cy="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8" name="Line 14">
                <a:extLst>
                  <a:ext uri="{FF2B5EF4-FFF2-40B4-BE49-F238E27FC236}">
                    <a16:creationId xmlns:a16="http://schemas.microsoft.com/office/drawing/2014/main" id="{AC29D797-A9D5-401F-B1D0-EE074C940454}"/>
                  </a:ext>
                </a:extLst>
              </p:cNvPr>
              <p:cNvSpPr>
                <a:spLocks noChangeShapeType="1"/>
              </p:cNvSpPr>
              <p:nvPr/>
            </p:nvSpPr>
            <p:spPr bwMode="auto">
              <a:xfrm>
                <a:off x="3648" y="960"/>
                <a:ext cx="62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9" name="Line 15">
                <a:extLst>
                  <a:ext uri="{FF2B5EF4-FFF2-40B4-BE49-F238E27FC236}">
                    <a16:creationId xmlns:a16="http://schemas.microsoft.com/office/drawing/2014/main" id="{783D11FE-7DC5-4FAA-A5FC-3F42FBF897D0}"/>
                  </a:ext>
                </a:extLst>
              </p:cNvPr>
              <p:cNvSpPr>
                <a:spLocks noChangeShapeType="1"/>
              </p:cNvSpPr>
              <p:nvPr/>
            </p:nvSpPr>
            <p:spPr bwMode="auto">
              <a:xfrm flipH="1">
                <a:off x="4800" y="960"/>
                <a:ext cx="67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 name="Object 25">
                    <a:extLst>
                      <a:ext uri="{FF2B5EF4-FFF2-40B4-BE49-F238E27FC236}">
                        <a16:creationId xmlns:a16="http://schemas.microsoft.com/office/drawing/2014/main" id="{969360CC-50B9-43F1-A39A-0A711EA5DA54}"/>
                      </a:ext>
                    </a:extLst>
                  </p:cNvPr>
                  <p:cNvSpPr txBox="1"/>
                  <p:nvPr/>
                </p:nvSpPr>
                <p:spPr bwMode="auto">
                  <a:xfrm>
                    <a:off x="4464" y="816"/>
                    <a:ext cx="182" cy="384"/>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𝑙</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0" name="Object 25">
                    <a:extLst>
                      <a:ext uri="{FF2B5EF4-FFF2-40B4-BE49-F238E27FC236}">
                        <a16:creationId xmlns:a16="http://schemas.microsoft.com/office/drawing/2014/main" id="{969360CC-50B9-43F1-A39A-0A711EA5DA54}"/>
                      </a:ext>
                    </a:extLst>
                  </p:cNvPr>
                  <p:cNvSpPr txBox="1">
                    <a:spLocks noRot="1" noChangeAspect="1" noMove="1" noResize="1" noEditPoints="1" noAdjustHandles="1" noChangeArrowheads="1" noChangeShapeType="1" noTextEdit="1"/>
                  </p:cNvSpPr>
                  <p:nvPr/>
                </p:nvSpPr>
                <p:spPr bwMode="auto">
                  <a:xfrm>
                    <a:off x="4464" y="816"/>
                    <a:ext cx="182" cy="384"/>
                  </a:xfrm>
                  <a:prstGeom prst="rect">
                    <a:avLst/>
                  </a:prstGeom>
                  <a:blipFill>
                    <a:blip r:embed="rId30"/>
                    <a:stretch>
                      <a:fillRect r="-7895"/>
                    </a:stretch>
                  </a:blipFill>
                  <a:ln>
                    <a:noFill/>
                  </a:ln>
                  <a:effectLst/>
                  <a:extLst/>
                </p:spPr>
                <p:txBody>
                  <a:bodyPr/>
                  <a:lstStyle/>
                  <a:p>
                    <a:r>
                      <a:rPr lang="en-US">
                        <a:noFill/>
                      </a:rPr>
                      <a:t> </a:t>
                    </a:r>
                  </a:p>
                </p:txBody>
              </p:sp>
            </mc:Fallback>
          </mc:AlternateContent>
        </p:grpSp>
        <p:sp>
          <p:nvSpPr>
            <p:cNvPr id="35" name="Line 39">
              <a:extLst>
                <a:ext uri="{FF2B5EF4-FFF2-40B4-BE49-F238E27FC236}">
                  <a16:creationId xmlns:a16="http://schemas.microsoft.com/office/drawing/2014/main" id="{3C89D75D-1829-4DE1-8233-A452F07BF34D}"/>
                </a:ext>
              </a:extLst>
            </p:cNvPr>
            <p:cNvSpPr>
              <a:spLocks noChangeShapeType="1"/>
            </p:cNvSpPr>
            <p:nvPr/>
          </p:nvSpPr>
          <p:spPr bwMode="auto">
            <a:xfrm>
              <a:off x="4080" y="1536"/>
              <a:ext cx="0" cy="2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8" name="组合 17"/>
          <p:cNvGrpSpPr/>
          <p:nvPr>
            <p:custDataLst>
              <p:tags r:id="rId12"/>
            </p:custDataLst>
          </p:nvPr>
        </p:nvGrpSpPr>
        <p:grpSpPr>
          <a:xfrm>
            <a:off x="0" y="0"/>
            <a:ext cx="9144000" cy="635000"/>
            <a:chOff x="-1524000" y="0"/>
            <a:chExt cx="9144000" cy="635000"/>
          </a:xfrm>
        </p:grpSpPr>
        <p:sp>
          <p:nvSpPr>
            <p:cNvPr id="14" name="TitleBackground"/>
            <p:cNvSpPr/>
            <p:nvPr>
              <p:custDataLst>
                <p:tags r:id="rId14"/>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3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839152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386033" y="816770"/>
            <a:ext cx="7315200" cy="2143125"/>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半径为</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R</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的导体球原不带电，在离球心为</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a</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的地方放一电量为</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q</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的点电荷（</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l&gt;R</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Microsoft Yahei" panose="020B0503020204020204" pitchFamily="34" charset="-122"/>
              </a:rPr>
              <a:t> ），将导体球接地后，导体球的带电量是：</a:t>
            </a:r>
          </a:p>
        </p:txBody>
      </p:sp>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3352801" y="2786063"/>
                <a:ext cx="224814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𝑅</m:t>
                          </m:r>
                        </m:num>
                        <m:den>
                          <m:r>
                            <a:rPr lang="en-US" sz="2800" i="1">
                              <a:solidFill>
                                <a:srgbClr val="000000"/>
                              </a:solidFill>
                              <a:latin typeface="Cambria Math" panose="02040503050406030204" pitchFamily="18" charset="0"/>
                            </a:rPr>
                            <m:t>𝑙</m:t>
                          </m:r>
                        </m:den>
                      </m:f>
                      <m:r>
                        <a:rPr lang="en-US" sz="2800" i="1">
                          <a:solidFill>
                            <a:srgbClr val="000000"/>
                          </a:solidFill>
                          <a:latin typeface="Cambria Math" panose="02040503050406030204" pitchFamily="18" charset="0"/>
                        </a:rPr>
                        <m:t>𝑞</m:t>
                      </m:r>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19"/>
                </p:custDataLst>
              </p:nvPr>
            </p:nvSpPr>
            <p:spPr>
              <a:xfrm>
                <a:off x="3352801" y="2786063"/>
                <a:ext cx="2248145" cy="642938"/>
              </a:xfrm>
              <a:prstGeom prst="rect">
                <a:avLst/>
              </a:prstGeom>
              <a:blipFill>
                <a:blip r:embed="rId20"/>
                <a:stretch>
                  <a:fillRect t="-3774" b="-122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3352434" y="3599657"/>
                <a:ext cx="224814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𝑅</m:t>
                          </m:r>
                        </m:num>
                        <m:den>
                          <m:r>
                            <a:rPr lang="en-US" sz="2800" i="1">
                              <a:solidFill>
                                <a:srgbClr val="000000"/>
                              </a:solidFill>
                              <a:latin typeface="Cambria Math" panose="02040503050406030204" pitchFamily="18" charset="0"/>
                            </a:rPr>
                            <m:t>𝑙</m:t>
                          </m:r>
                        </m:den>
                      </m:f>
                      <m:r>
                        <a:rPr lang="en-US" sz="2800" i="1">
                          <a:solidFill>
                            <a:srgbClr val="000000"/>
                          </a:solidFill>
                          <a:latin typeface="Cambria Math" panose="02040503050406030204" pitchFamily="18" charset="0"/>
                        </a:rPr>
                        <m:t>𝑞</m:t>
                      </m:r>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custDataLst>
                  <p:tags r:id="rId21"/>
                </p:custDataLst>
              </p:nvPr>
            </p:nvSpPr>
            <p:spPr>
              <a:xfrm>
                <a:off x="3352434" y="3599657"/>
                <a:ext cx="2248145" cy="642938"/>
              </a:xfrm>
              <a:prstGeom prst="rect">
                <a:avLst/>
              </a:prstGeom>
              <a:blipFill>
                <a:blip r:embed="rId22"/>
                <a:stretch>
                  <a:fillRect t="-2830" b="-13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custDataLst>
                  <p:tags r:id="rId5"/>
                </p:custDataLst>
              </p:nvPr>
            </p:nvSpPr>
            <p:spPr>
              <a:xfrm>
                <a:off x="3352800" y="4500563"/>
                <a:ext cx="238316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𝑅</m:t>
                          </m:r>
                        </m:num>
                        <m:den>
                          <m:r>
                            <a:rPr lang="en-US" sz="2800" i="1">
                              <a:solidFill>
                                <a:srgbClr val="000000"/>
                              </a:solidFill>
                              <a:latin typeface="Cambria Math" panose="02040503050406030204" pitchFamily="18" charset="0"/>
                            </a:rPr>
                            <m:t>𝑙</m:t>
                          </m:r>
                          <m:r>
                            <a:rPr lang="en-US" sz="2800" b="0" i="1" smtClean="0">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R</m:t>
                          </m:r>
                        </m:den>
                      </m:f>
                      <m:r>
                        <a:rPr lang="en-US" sz="2800" i="1">
                          <a:solidFill>
                            <a:srgbClr val="000000"/>
                          </a:solidFill>
                          <a:latin typeface="Cambria Math" panose="02040503050406030204" pitchFamily="18" charset="0"/>
                        </a:rPr>
                        <m:t>𝑞</m:t>
                      </m:r>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23"/>
                </p:custDataLst>
              </p:nvPr>
            </p:nvSpPr>
            <p:spPr>
              <a:xfrm>
                <a:off x="3352800" y="4500563"/>
                <a:ext cx="2383160" cy="642938"/>
              </a:xfrm>
              <a:prstGeom prst="rect">
                <a:avLst/>
              </a:prstGeom>
              <a:blipFill>
                <a:blip r:embed="rId24"/>
                <a:stretch>
                  <a:fillRect t="-3774" b="-13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custDataLst>
                  <p:tags r:id="rId6"/>
                </p:custDataLst>
              </p:nvPr>
            </p:nvSpPr>
            <p:spPr>
              <a:xfrm>
                <a:off x="3352800" y="5357813"/>
                <a:ext cx="265319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𝑅</m:t>
                          </m:r>
                        </m:num>
                        <m:den>
                          <m:r>
                            <a:rPr lang="en-US" sz="2800" i="1">
                              <a:solidFill>
                                <a:srgbClr val="000000"/>
                              </a:solidFill>
                              <a:latin typeface="Cambria Math" panose="02040503050406030204" pitchFamily="18" charset="0"/>
                            </a:rPr>
                            <m:t>𝑙</m:t>
                          </m:r>
                          <m:r>
                            <a:rPr lang="en-US" sz="2800" b="0" i="1" smtClean="0">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R</m:t>
                          </m:r>
                        </m:den>
                      </m:f>
                      <m:r>
                        <a:rPr lang="en-US" sz="2800" i="1">
                          <a:solidFill>
                            <a:srgbClr val="000000"/>
                          </a:solidFill>
                          <a:latin typeface="Cambria Math" panose="02040503050406030204" pitchFamily="18" charset="0"/>
                        </a:rPr>
                        <m:t>𝑞</m:t>
                      </m:r>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custDataLst>
                  <p:tags r:id="rId25"/>
                </p:custDataLst>
              </p:nvPr>
            </p:nvSpPr>
            <p:spPr>
              <a:xfrm>
                <a:off x="3352800" y="5357813"/>
                <a:ext cx="2653190" cy="642938"/>
              </a:xfrm>
              <a:prstGeom prst="rect">
                <a:avLst/>
              </a:prstGeom>
              <a:blipFill>
                <a:blip r:embed="rId26"/>
                <a:stretch>
                  <a:fillRect t="-3810" b="-13333"/>
                </a:stretch>
              </a:blipFill>
            </p:spPr>
            <p:txBody>
              <a:bodyPr/>
              <a:lstStyle/>
              <a:p>
                <a:r>
                  <a:rPr lang="en-US">
                    <a:noFill/>
                  </a:rPr>
                  <a:t> </a:t>
                </a:r>
              </a:p>
            </p:txBody>
          </p:sp>
        </mc:Fallback>
      </mc:AlternateContent>
      <p:sp>
        <p:nvSpPr>
          <p:cNvPr id="9" name="椭圆 8"/>
          <p:cNvSpPr>
            <a:spLocks noChangeAspect="1"/>
          </p:cNvSpPr>
          <p:nvPr>
            <p:custDataLst>
              <p:tags r:id="rId7"/>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2638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2638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2638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62" name="Group 38">
            <a:extLst>
              <a:ext uri="{FF2B5EF4-FFF2-40B4-BE49-F238E27FC236}">
                <a16:creationId xmlns:a16="http://schemas.microsoft.com/office/drawing/2014/main" id="{E5862FD9-FF55-4937-8AF9-F83F3A20690E}"/>
              </a:ext>
            </a:extLst>
          </p:cNvPr>
          <p:cNvGrpSpPr>
            <a:grpSpLocks/>
          </p:cNvGrpSpPr>
          <p:nvPr/>
        </p:nvGrpSpPr>
        <p:grpSpPr bwMode="auto">
          <a:xfrm>
            <a:off x="7562851" y="3258345"/>
            <a:ext cx="2913063" cy="1447800"/>
            <a:chOff x="3744" y="1440"/>
            <a:chExt cx="1835" cy="912"/>
          </a:xfrm>
        </p:grpSpPr>
        <p:grpSp>
          <p:nvGrpSpPr>
            <p:cNvPr id="63" name="Group 32">
              <a:extLst>
                <a:ext uri="{FF2B5EF4-FFF2-40B4-BE49-F238E27FC236}">
                  <a16:creationId xmlns:a16="http://schemas.microsoft.com/office/drawing/2014/main" id="{4257A7C4-CC65-4BD2-BBC7-761C76D55C3A}"/>
                </a:ext>
              </a:extLst>
            </p:cNvPr>
            <p:cNvGrpSpPr>
              <a:grpSpLocks/>
            </p:cNvGrpSpPr>
            <p:nvPr/>
          </p:nvGrpSpPr>
          <p:grpSpPr bwMode="auto">
            <a:xfrm>
              <a:off x="5328" y="1776"/>
              <a:ext cx="251" cy="412"/>
              <a:chOff x="5280" y="1680"/>
              <a:chExt cx="251" cy="412"/>
            </a:xfrm>
          </p:grpSpPr>
          <p:sp>
            <p:nvSpPr>
              <p:cNvPr id="73" name="Oval 5">
                <a:extLst>
                  <a:ext uri="{FF2B5EF4-FFF2-40B4-BE49-F238E27FC236}">
                    <a16:creationId xmlns:a16="http://schemas.microsoft.com/office/drawing/2014/main" id="{BDDA4016-F0F6-4E1F-9509-0747C86F93E8}"/>
                  </a:ext>
                </a:extLst>
              </p:cNvPr>
              <p:cNvSpPr>
                <a:spLocks noChangeArrowheads="1"/>
              </p:cNvSpPr>
              <p:nvPr/>
            </p:nvSpPr>
            <p:spPr bwMode="auto">
              <a:xfrm>
                <a:off x="5424" y="168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4" name="Object 24">
                    <a:extLst>
                      <a:ext uri="{FF2B5EF4-FFF2-40B4-BE49-F238E27FC236}">
                        <a16:creationId xmlns:a16="http://schemas.microsoft.com/office/drawing/2014/main" id="{9099BDD2-40F4-4508-9083-D46EA80BDC1F}"/>
                      </a:ext>
                    </a:extLst>
                  </p:cNvPr>
                  <p:cNvSpPr txBox="1"/>
                  <p:nvPr/>
                </p:nvSpPr>
                <p:spPr bwMode="auto">
                  <a:xfrm>
                    <a:off x="5280" y="1776"/>
                    <a:ext cx="251" cy="31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𝑞</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36" name="Object 24">
                    <a:extLst>
                      <a:ext uri="{FF2B5EF4-FFF2-40B4-BE49-F238E27FC236}">
                        <a16:creationId xmlns:a16="http://schemas.microsoft.com/office/drawing/2014/main" id="{FA9D4E66-921C-4553-B2AE-D812B70726E1}"/>
                      </a:ext>
                    </a:extLst>
                  </p:cNvPr>
                  <p:cNvSpPr txBox="1">
                    <a:spLocks noRot="1" noChangeAspect="1" noMove="1" noResize="1" noEditPoints="1" noAdjustHandles="1" noChangeArrowheads="1" noChangeShapeType="1" noTextEdit="1"/>
                  </p:cNvSpPr>
                  <p:nvPr/>
                </p:nvSpPr>
                <p:spPr bwMode="auto">
                  <a:xfrm>
                    <a:off x="5280" y="1776"/>
                    <a:ext cx="251" cy="316"/>
                  </a:xfrm>
                  <a:prstGeom prst="rect">
                    <a:avLst/>
                  </a:prstGeom>
                  <a:blipFill>
                    <a:blip r:embed="rId27"/>
                    <a:stretch>
                      <a:fillRect/>
                    </a:stretch>
                  </a:blipFill>
                  <a:ln>
                    <a:noFill/>
                  </a:ln>
                  <a:effectLst/>
                  <a:extLst/>
                </p:spPr>
                <p:txBody>
                  <a:bodyPr/>
                  <a:lstStyle/>
                  <a:p>
                    <a:r>
                      <a:rPr lang="en-US">
                        <a:noFill/>
                      </a:rPr>
                      <a:t> </a:t>
                    </a:r>
                  </a:p>
                </p:txBody>
              </p:sp>
            </mc:Fallback>
          </mc:AlternateContent>
        </p:grpSp>
        <p:grpSp>
          <p:nvGrpSpPr>
            <p:cNvPr id="64" name="Group 37">
              <a:extLst>
                <a:ext uri="{FF2B5EF4-FFF2-40B4-BE49-F238E27FC236}">
                  <a16:creationId xmlns:a16="http://schemas.microsoft.com/office/drawing/2014/main" id="{BE657D0E-873F-47A9-A7C7-66EA90CCAD2D}"/>
                </a:ext>
              </a:extLst>
            </p:cNvPr>
            <p:cNvGrpSpPr>
              <a:grpSpLocks/>
            </p:cNvGrpSpPr>
            <p:nvPr/>
          </p:nvGrpSpPr>
          <p:grpSpPr bwMode="auto">
            <a:xfrm>
              <a:off x="3744" y="1440"/>
              <a:ext cx="720" cy="912"/>
              <a:chOff x="3840" y="1392"/>
              <a:chExt cx="720" cy="912"/>
            </a:xfrm>
          </p:grpSpPr>
          <p:sp>
            <p:nvSpPr>
              <p:cNvPr id="65" name="Line 7">
                <a:extLst>
                  <a:ext uri="{FF2B5EF4-FFF2-40B4-BE49-F238E27FC236}">
                    <a16:creationId xmlns:a16="http://schemas.microsoft.com/office/drawing/2014/main" id="{5DA7E742-5175-4230-AEDE-51633D144251}"/>
                  </a:ext>
                </a:extLst>
              </p:cNvPr>
              <p:cNvSpPr>
                <a:spLocks noChangeShapeType="1"/>
              </p:cNvSpPr>
              <p:nvPr/>
            </p:nvSpPr>
            <p:spPr bwMode="auto">
              <a:xfrm>
                <a:off x="4427" y="1968"/>
                <a:ext cx="0" cy="2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6" name="Line 8">
                <a:extLst>
                  <a:ext uri="{FF2B5EF4-FFF2-40B4-BE49-F238E27FC236}">
                    <a16:creationId xmlns:a16="http://schemas.microsoft.com/office/drawing/2014/main" id="{45384A25-922F-4BBA-A1FB-22197EFDBE1C}"/>
                  </a:ext>
                </a:extLst>
              </p:cNvPr>
              <p:cNvSpPr>
                <a:spLocks noChangeShapeType="1"/>
              </p:cNvSpPr>
              <p:nvPr/>
            </p:nvSpPr>
            <p:spPr bwMode="auto">
              <a:xfrm>
                <a:off x="4320" y="2203"/>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7" name="Line 10">
                <a:extLst>
                  <a:ext uri="{FF2B5EF4-FFF2-40B4-BE49-F238E27FC236}">
                    <a16:creationId xmlns:a16="http://schemas.microsoft.com/office/drawing/2014/main" id="{877F4137-5177-4DA0-B1CB-C16B912403C0}"/>
                  </a:ext>
                </a:extLst>
              </p:cNvPr>
              <p:cNvSpPr>
                <a:spLocks noChangeShapeType="1"/>
              </p:cNvSpPr>
              <p:nvPr/>
            </p:nvSpPr>
            <p:spPr bwMode="auto">
              <a:xfrm>
                <a:off x="4347" y="2270"/>
                <a:ext cx="13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 name="Line 11">
                <a:extLst>
                  <a:ext uri="{FF2B5EF4-FFF2-40B4-BE49-F238E27FC236}">
                    <a16:creationId xmlns:a16="http://schemas.microsoft.com/office/drawing/2014/main" id="{A39A2745-6C47-429F-B263-FC3F262A0A51}"/>
                  </a:ext>
                </a:extLst>
              </p:cNvPr>
              <p:cNvSpPr>
                <a:spLocks noChangeShapeType="1"/>
              </p:cNvSpPr>
              <p:nvPr/>
            </p:nvSpPr>
            <p:spPr bwMode="auto">
              <a:xfrm>
                <a:off x="4373" y="2304"/>
                <a:ext cx="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9" name="Oval 3">
                <a:extLst>
                  <a:ext uri="{FF2B5EF4-FFF2-40B4-BE49-F238E27FC236}">
                    <a16:creationId xmlns:a16="http://schemas.microsoft.com/office/drawing/2014/main" id="{F24F70B9-96D4-4450-B2AC-581105B20C9C}"/>
                  </a:ext>
                </a:extLst>
              </p:cNvPr>
              <p:cNvSpPr>
                <a:spLocks noChangeArrowheads="1"/>
              </p:cNvSpPr>
              <p:nvPr/>
            </p:nvSpPr>
            <p:spPr bwMode="auto">
              <a:xfrm>
                <a:off x="3840" y="1488"/>
                <a:ext cx="672" cy="624"/>
              </a:xfrm>
              <a:prstGeom prst="ellipse">
                <a:avLst/>
              </a:prstGeom>
              <a:gradFill rotWithShape="0">
                <a:gsLst>
                  <a:gs pos="0">
                    <a:schemeClr val="accent1"/>
                  </a:gs>
                  <a:gs pos="100000">
                    <a:schemeClr val="accent1">
                      <a:gamma/>
                      <a:shade val="58039"/>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0" name="Object 26">
                    <a:extLst>
                      <a:ext uri="{FF2B5EF4-FFF2-40B4-BE49-F238E27FC236}">
                        <a16:creationId xmlns:a16="http://schemas.microsoft.com/office/drawing/2014/main" id="{AF3F1ABA-11F1-4F89-9E59-A497926A9DC0}"/>
                      </a:ext>
                    </a:extLst>
                  </p:cNvPr>
                  <p:cNvSpPr txBox="1"/>
                  <p:nvPr/>
                </p:nvSpPr>
                <p:spPr bwMode="auto">
                  <a:xfrm>
                    <a:off x="3936" y="1392"/>
                    <a:ext cx="229" cy="24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𝑅</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32" name="Object 26">
                    <a:extLst>
                      <a:ext uri="{FF2B5EF4-FFF2-40B4-BE49-F238E27FC236}">
                        <a16:creationId xmlns:a16="http://schemas.microsoft.com/office/drawing/2014/main" id="{EA2D22FB-9EE5-4E3B-B974-59956FDE578F}"/>
                      </a:ext>
                    </a:extLst>
                  </p:cNvPr>
                  <p:cNvSpPr txBox="1">
                    <a:spLocks noRot="1" noChangeAspect="1" noMove="1" noResize="1" noEditPoints="1" noAdjustHandles="1" noChangeArrowheads="1" noChangeShapeType="1" noTextEdit="1"/>
                  </p:cNvSpPr>
                  <p:nvPr/>
                </p:nvSpPr>
                <p:spPr bwMode="auto">
                  <a:xfrm>
                    <a:off x="3936" y="1392"/>
                    <a:ext cx="229" cy="240"/>
                  </a:xfrm>
                  <a:prstGeom prst="rect">
                    <a:avLst/>
                  </a:prstGeom>
                  <a:blipFill>
                    <a:blip r:embed="rId28"/>
                    <a:stretch>
                      <a:fillRect/>
                    </a:stretch>
                  </a:blipFill>
                  <a:ln>
                    <a:noFill/>
                  </a:ln>
                  <a:effectLst/>
                  <a:extLst/>
                </p:spPr>
                <p:txBody>
                  <a:bodyPr/>
                  <a:lstStyle/>
                  <a:p>
                    <a:r>
                      <a:rPr lang="en-US">
                        <a:noFill/>
                      </a:rPr>
                      <a:t> </a:t>
                    </a:r>
                  </a:p>
                </p:txBody>
              </p:sp>
            </mc:Fallback>
          </mc:AlternateContent>
          <p:sp>
            <p:nvSpPr>
              <p:cNvPr id="71" name="Line 34">
                <a:extLst>
                  <a:ext uri="{FF2B5EF4-FFF2-40B4-BE49-F238E27FC236}">
                    <a16:creationId xmlns:a16="http://schemas.microsoft.com/office/drawing/2014/main" id="{34926DD5-9B1C-47A0-A51D-1FDF9E053FED}"/>
                  </a:ext>
                </a:extLst>
              </p:cNvPr>
              <p:cNvSpPr>
                <a:spLocks noChangeShapeType="1"/>
              </p:cNvSpPr>
              <p:nvPr/>
            </p:nvSpPr>
            <p:spPr bwMode="auto">
              <a:xfrm flipH="1" flipV="1">
                <a:off x="3888" y="1632"/>
                <a:ext cx="288"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2" name="Object 36">
                    <a:extLst>
                      <a:ext uri="{FF2B5EF4-FFF2-40B4-BE49-F238E27FC236}">
                        <a16:creationId xmlns:a16="http://schemas.microsoft.com/office/drawing/2014/main" id="{D1C4D569-F7EF-4A10-9102-6BE6A04880AB}"/>
                      </a:ext>
                    </a:extLst>
                  </p:cNvPr>
                  <p:cNvSpPr txBox="1"/>
                  <p:nvPr/>
                </p:nvSpPr>
                <p:spPr bwMode="auto">
                  <a:xfrm>
                    <a:off x="3936" y="1776"/>
                    <a:ext cx="212" cy="23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𝑜</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34" name="Object 36">
                    <a:extLst>
                      <a:ext uri="{FF2B5EF4-FFF2-40B4-BE49-F238E27FC236}">
                        <a16:creationId xmlns:a16="http://schemas.microsoft.com/office/drawing/2014/main" id="{75506FA0-7EF2-4C85-944B-539B9A9AC5F9}"/>
                      </a:ext>
                    </a:extLst>
                  </p:cNvPr>
                  <p:cNvSpPr txBox="1">
                    <a:spLocks noRot="1" noChangeAspect="1" noMove="1" noResize="1" noEditPoints="1" noAdjustHandles="1" noChangeArrowheads="1" noChangeShapeType="1" noTextEdit="1"/>
                  </p:cNvSpPr>
                  <p:nvPr/>
                </p:nvSpPr>
                <p:spPr bwMode="auto">
                  <a:xfrm>
                    <a:off x="3936" y="1776"/>
                    <a:ext cx="212" cy="236"/>
                  </a:xfrm>
                  <a:prstGeom prst="rect">
                    <a:avLst/>
                  </a:prstGeom>
                  <a:blipFill>
                    <a:blip r:embed="rId29"/>
                    <a:stretch>
                      <a:fillRect/>
                    </a:stretch>
                  </a:blipFill>
                  <a:ln>
                    <a:noFill/>
                  </a:ln>
                  <a:effectLst/>
                  <a:extLst/>
                </p:spPr>
                <p:txBody>
                  <a:bodyPr/>
                  <a:lstStyle/>
                  <a:p>
                    <a:r>
                      <a:rPr lang="en-US">
                        <a:noFill/>
                      </a:rPr>
                      <a:t> </a:t>
                    </a:r>
                  </a:p>
                </p:txBody>
              </p:sp>
            </mc:Fallback>
          </mc:AlternateContent>
        </p:grpSp>
      </p:grpSp>
      <p:grpSp>
        <p:nvGrpSpPr>
          <p:cNvPr id="75" name="Group 40">
            <a:extLst>
              <a:ext uri="{FF2B5EF4-FFF2-40B4-BE49-F238E27FC236}">
                <a16:creationId xmlns:a16="http://schemas.microsoft.com/office/drawing/2014/main" id="{2C1A5B71-DCF0-4757-88A1-02C686AA633C}"/>
              </a:ext>
            </a:extLst>
          </p:cNvPr>
          <p:cNvGrpSpPr>
            <a:grpSpLocks/>
          </p:cNvGrpSpPr>
          <p:nvPr/>
        </p:nvGrpSpPr>
        <p:grpSpPr bwMode="auto">
          <a:xfrm>
            <a:off x="8096250" y="2572545"/>
            <a:ext cx="2286000" cy="1295400"/>
            <a:chOff x="4080" y="1008"/>
            <a:chExt cx="1440" cy="816"/>
          </a:xfrm>
        </p:grpSpPr>
        <p:grpSp>
          <p:nvGrpSpPr>
            <p:cNvPr id="76" name="Group 33">
              <a:extLst>
                <a:ext uri="{FF2B5EF4-FFF2-40B4-BE49-F238E27FC236}">
                  <a16:creationId xmlns:a16="http://schemas.microsoft.com/office/drawing/2014/main" id="{4B8AB03A-636C-4DBD-886E-359D8C64DFFB}"/>
                </a:ext>
              </a:extLst>
            </p:cNvPr>
            <p:cNvGrpSpPr>
              <a:grpSpLocks/>
            </p:cNvGrpSpPr>
            <p:nvPr/>
          </p:nvGrpSpPr>
          <p:grpSpPr bwMode="auto">
            <a:xfrm>
              <a:off x="4080" y="1008"/>
              <a:ext cx="1440" cy="768"/>
              <a:chOff x="3648" y="816"/>
              <a:chExt cx="1824" cy="768"/>
            </a:xfrm>
          </p:grpSpPr>
          <p:sp>
            <p:nvSpPr>
              <p:cNvPr id="78" name="Line 12">
                <a:extLst>
                  <a:ext uri="{FF2B5EF4-FFF2-40B4-BE49-F238E27FC236}">
                    <a16:creationId xmlns:a16="http://schemas.microsoft.com/office/drawing/2014/main" id="{263C47A2-1774-4BD1-A103-7BB085DB311A}"/>
                  </a:ext>
                </a:extLst>
              </p:cNvPr>
              <p:cNvSpPr>
                <a:spLocks noChangeShapeType="1"/>
              </p:cNvSpPr>
              <p:nvPr/>
            </p:nvSpPr>
            <p:spPr bwMode="auto">
              <a:xfrm>
                <a:off x="3648" y="864"/>
                <a:ext cx="0" cy="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9" name="Line 13">
                <a:extLst>
                  <a:ext uri="{FF2B5EF4-FFF2-40B4-BE49-F238E27FC236}">
                    <a16:creationId xmlns:a16="http://schemas.microsoft.com/office/drawing/2014/main" id="{7059D182-6A07-41A0-A1DF-3A79CCD26724}"/>
                  </a:ext>
                </a:extLst>
              </p:cNvPr>
              <p:cNvSpPr>
                <a:spLocks noChangeShapeType="1"/>
              </p:cNvSpPr>
              <p:nvPr/>
            </p:nvSpPr>
            <p:spPr bwMode="auto">
              <a:xfrm>
                <a:off x="5472" y="864"/>
                <a:ext cx="0" cy="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0" name="Line 14">
                <a:extLst>
                  <a:ext uri="{FF2B5EF4-FFF2-40B4-BE49-F238E27FC236}">
                    <a16:creationId xmlns:a16="http://schemas.microsoft.com/office/drawing/2014/main" id="{CC6BEF51-9047-4AAF-BC39-38B5EE794DB5}"/>
                  </a:ext>
                </a:extLst>
              </p:cNvPr>
              <p:cNvSpPr>
                <a:spLocks noChangeShapeType="1"/>
              </p:cNvSpPr>
              <p:nvPr/>
            </p:nvSpPr>
            <p:spPr bwMode="auto">
              <a:xfrm>
                <a:off x="3648" y="960"/>
                <a:ext cx="62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1" name="Line 15">
                <a:extLst>
                  <a:ext uri="{FF2B5EF4-FFF2-40B4-BE49-F238E27FC236}">
                    <a16:creationId xmlns:a16="http://schemas.microsoft.com/office/drawing/2014/main" id="{A9B66FD7-4EC5-409D-A86F-0C5CE698A177}"/>
                  </a:ext>
                </a:extLst>
              </p:cNvPr>
              <p:cNvSpPr>
                <a:spLocks noChangeShapeType="1"/>
              </p:cNvSpPr>
              <p:nvPr/>
            </p:nvSpPr>
            <p:spPr bwMode="auto">
              <a:xfrm flipH="1">
                <a:off x="4800" y="960"/>
                <a:ext cx="67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 name="Object 25">
                    <a:extLst>
                      <a:ext uri="{FF2B5EF4-FFF2-40B4-BE49-F238E27FC236}">
                        <a16:creationId xmlns:a16="http://schemas.microsoft.com/office/drawing/2014/main" id="{F6272803-433E-49A4-B7FD-9550A9AC32A1}"/>
                      </a:ext>
                    </a:extLst>
                  </p:cNvPr>
                  <p:cNvSpPr txBox="1"/>
                  <p:nvPr/>
                </p:nvSpPr>
                <p:spPr bwMode="auto">
                  <a:xfrm>
                    <a:off x="4464" y="816"/>
                    <a:ext cx="182" cy="384"/>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𝑙</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24" name="Object 25">
                    <a:extLst>
                      <a:ext uri="{FF2B5EF4-FFF2-40B4-BE49-F238E27FC236}">
                        <a16:creationId xmlns:a16="http://schemas.microsoft.com/office/drawing/2014/main" id="{B1B82E63-1E01-4092-A798-EA6187D0B3CF}"/>
                      </a:ext>
                    </a:extLst>
                  </p:cNvPr>
                  <p:cNvSpPr txBox="1">
                    <a:spLocks noRot="1" noChangeAspect="1" noMove="1" noResize="1" noEditPoints="1" noAdjustHandles="1" noChangeArrowheads="1" noChangeShapeType="1" noTextEdit="1"/>
                  </p:cNvSpPr>
                  <p:nvPr/>
                </p:nvSpPr>
                <p:spPr bwMode="auto">
                  <a:xfrm>
                    <a:off x="4464" y="816"/>
                    <a:ext cx="182" cy="384"/>
                  </a:xfrm>
                  <a:prstGeom prst="rect">
                    <a:avLst/>
                  </a:prstGeom>
                  <a:blipFill>
                    <a:blip r:embed="rId30"/>
                    <a:stretch>
                      <a:fillRect r="-7895"/>
                    </a:stretch>
                  </a:blipFill>
                  <a:ln>
                    <a:noFill/>
                  </a:ln>
                  <a:effectLst/>
                  <a:extLst/>
                </p:spPr>
                <p:txBody>
                  <a:bodyPr/>
                  <a:lstStyle/>
                  <a:p>
                    <a:r>
                      <a:rPr lang="en-US">
                        <a:noFill/>
                      </a:rPr>
                      <a:t> </a:t>
                    </a:r>
                  </a:p>
                </p:txBody>
              </p:sp>
            </mc:Fallback>
          </mc:AlternateContent>
        </p:grpSp>
        <p:sp>
          <p:nvSpPr>
            <p:cNvPr id="77" name="Line 39">
              <a:extLst>
                <a:ext uri="{FF2B5EF4-FFF2-40B4-BE49-F238E27FC236}">
                  <a16:creationId xmlns:a16="http://schemas.microsoft.com/office/drawing/2014/main" id="{041BFF61-D11A-47FD-89EB-8CD2825D77DB}"/>
                </a:ext>
              </a:extLst>
            </p:cNvPr>
            <p:cNvSpPr>
              <a:spLocks noChangeShapeType="1"/>
            </p:cNvSpPr>
            <p:nvPr/>
          </p:nvSpPr>
          <p:spPr bwMode="auto">
            <a:xfrm>
              <a:off x="4080" y="1536"/>
              <a:ext cx="0" cy="2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8" name="组合 17"/>
          <p:cNvGrpSpPr/>
          <p:nvPr>
            <p:custDataLst>
              <p:tags r:id="rId12"/>
            </p:custDataLst>
          </p:nvPr>
        </p:nvGrpSpPr>
        <p:grpSpPr>
          <a:xfrm>
            <a:off x="0" y="0"/>
            <a:ext cx="9144000" cy="635000"/>
            <a:chOff x="-1524000" y="0"/>
            <a:chExt cx="9144000" cy="635000"/>
          </a:xfrm>
        </p:grpSpPr>
        <p:sp>
          <p:nvSpPr>
            <p:cNvPr id="14" name="TitleBackground"/>
            <p:cNvSpPr/>
            <p:nvPr>
              <p:custDataLst>
                <p:tags r:id="rId14"/>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3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181064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47C03E12-E756-49BA-8E66-D850B8BE025C}"/>
              </a:ext>
            </a:extLst>
          </p:cNvPr>
          <p:cNvSpPr txBox="1">
            <a:spLocks noChangeArrowheads="1"/>
          </p:cNvSpPr>
          <p:nvPr/>
        </p:nvSpPr>
        <p:spPr bwMode="auto">
          <a:xfrm>
            <a:off x="1905000" y="304801"/>
            <a:ext cx="8153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dirty="0">
                <a:ea typeface="华文楷体" panose="02010600040101010101" pitchFamily="2" charset="-122"/>
                <a:cs typeface="Times New Roman" panose="02020603050405020304" pitchFamily="18" charset="0"/>
              </a:rPr>
              <a:t>接地导体球附近有一点电荷</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en-US" sz="3200" dirty="0">
                <a:ea typeface="华文楷体" panose="02010600040101010101" pitchFamily="2" charset="-122"/>
                <a:cs typeface="Times New Roman" panose="02020603050405020304" pitchFamily="18" charset="0"/>
              </a:rPr>
              <a:t>如图所示。</a:t>
            </a:r>
          </a:p>
          <a:p>
            <a:pPr algn="l" eaLnBrk="1" hangingPunct="1">
              <a:spcBef>
                <a:spcPct val="50000"/>
              </a:spcBef>
            </a:pPr>
            <a:r>
              <a:rPr lang="zh-CN" altLang="en-US" sz="3200" dirty="0">
                <a:ea typeface="华文楷体" panose="02010600040101010101" pitchFamily="2" charset="-122"/>
                <a:cs typeface="Times New Roman" panose="02020603050405020304" pitchFamily="18" charset="0"/>
              </a:rPr>
              <a:t>求</a:t>
            </a:r>
            <a:r>
              <a:rPr lang="en-US" altLang="zh-CN" sz="3200" dirty="0">
                <a:ea typeface="华文楷体" panose="02010600040101010101" pitchFamily="2" charset="-122"/>
                <a:cs typeface="Times New Roman" panose="02020603050405020304" pitchFamily="18" charset="0"/>
              </a:rPr>
              <a:t>:</a:t>
            </a:r>
            <a:r>
              <a:rPr lang="zh-CN" altLang="en-US" sz="3200" dirty="0">
                <a:ea typeface="华文楷体" panose="02010600040101010101" pitchFamily="2" charset="-122"/>
                <a:cs typeface="Times New Roman" panose="02020603050405020304" pitchFamily="18" charset="0"/>
              </a:rPr>
              <a:t>导体上感应电荷的电量</a:t>
            </a:r>
          </a:p>
        </p:txBody>
      </p:sp>
      <p:sp>
        <p:nvSpPr>
          <p:cNvPr id="12308" name="Text Box 20">
            <a:extLst>
              <a:ext uri="{FF2B5EF4-FFF2-40B4-BE49-F238E27FC236}">
                <a16:creationId xmlns:a16="http://schemas.microsoft.com/office/drawing/2014/main" id="{63F6770E-E6A3-4524-88C8-BE88AEA147D0}"/>
              </a:ext>
            </a:extLst>
          </p:cNvPr>
          <p:cNvSpPr txBox="1">
            <a:spLocks noChangeArrowheads="1"/>
          </p:cNvSpPr>
          <p:nvPr/>
        </p:nvSpPr>
        <p:spPr bwMode="auto">
          <a:xfrm>
            <a:off x="2819400" y="1828800"/>
            <a:ext cx="1676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dirty="0">
                <a:ea typeface="华文楷体" panose="02010600040101010101" pitchFamily="2" charset="-122"/>
                <a:cs typeface="Times New Roman" panose="02020603050405020304" pitchFamily="18" charset="0"/>
              </a:rPr>
              <a:t>接地  即</a:t>
            </a:r>
          </a:p>
        </p:txBody>
      </p:sp>
      <p:sp>
        <p:nvSpPr>
          <p:cNvPr id="12310" name="Text Box 22">
            <a:extLst>
              <a:ext uri="{FF2B5EF4-FFF2-40B4-BE49-F238E27FC236}">
                <a16:creationId xmlns:a16="http://schemas.microsoft.com/office/drawing/2014/main" id="{D042291B-D2D4-4AC1-9CAE-F0DC4F6FB297}"/>
              </a:ext>
            </a:extLst>
          </p:cNvPr>
          <p:cNvSpPr txBox="1">
            <a:spLocks noChangeArrowheads="1"/>
          </p:cNvSpPr>
          <p:nvPr/>
        </p:nvSpPr>
        <p:spPr bwMode="auto">
          <a:xfrm>
            <a:off x="2819400" y="2514601"/>
            <a:ext cx="3810000" cy="204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dirty="0">
                <a:ea typeface="华文楷体" panose="02010600040101010101" pitchFamily="2" charset="-122"/>
                <a:cs typeface="Times New Roman" panose="02020603050405020304" pitchFamily="18" charset="0"/>
              </a:rPr>
              <a:t>设</a:t>
            </a:r>
            <a:r>
              <a:rPr lang="en-US" altLang="zh-CN" sz="3200" dirty="0">
                <a:ea typeface="华文楷体" panose="02010600040101010101" pitchFamily="2" charset="-122"/>
                <a:cs typeface="Times New Roman" panose="02020603050405020304" pitchFamily="18" charset="0"/>
              </a:rPr>
              <a:t>:</a:t>
            </a:r>
            <a:r>
              <a:rPr lang="zh-CN" altLang="en-US" sz="3200" dirty="0">
                <a:ea typeface="华文楷体" panose="02010600040101010101" pitchFamily="2" charset="-122"/>
                <a:cs typeface="Times New Roman" panose="02020603050405020304" pitchFamily="18" charset="0"/>
              </a:rPr>
              <a:t>感应电量为</a:t>
            </a:r>
          </a:p>
          <a:p>
            <a:pPr algn="l" eaLnBrk="1" hangingPunct="1">
              <a:spcBef>
                <a:spcPct val="50000"/>
              </a:spcBef>
            </a:pPr>
            <a:r>
              <a:rPr lang="zh-CN" altLang="en-US" sz="3200" dirty="0">
                <a:ea typeface="华文楷体" panose="02010600040101010101" pitchFamily="2" charset="-122"/>
                <a:cs typeface="Times New Roman" panose="02020603050405020304" pitchFamily="18" charset="0"/>
              </a:rPr>
              <a:t>由导体是个等势体</a:t>
            </a:r>
          </a:p>
          <a:p>
            <a:pPr algn="l" eaLnBrk="1" hangingPunct="1">
              <a:spcBef>
                <a:spcPct val="50000"/>
              </a:spcBef>
            </a:pPr>
            <a:r>
              <a:rPr lang="en-US" altLang="zh-CN" sz="3200" dirty="0">
                <a:ea typeface="华文楷体" panose="02010600040101010101" pitchFamily="2" charset="-122"/>
                <a:cs typeface="Times New Roman" panose="02020603050405020304" pitchFamily="18" charset="0"/>
              </a:rPr>
              <a:t>o</a:t>
            </a:r>
            <a:r>
              <a:rPr lang="zh-CN" altLang="zh-CN" sz="3200" dirty="0">
                <a:ea typeface="华文楷体" panose="02010600040101010101" pitchFamily="2" charset="-122"/>
                <a:cs typeface="Times New Roman" panose="02020603050405020304" pitchFamily="18" charset="0"/>
              </a:rPr>
              <a:t>点的电势为0   则</a:t>
            </a:r>
            <a:endParaRPr lang="zh-CN" altLang="en-US" sz="3200" dirty="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315" name="Object 27">
                <a:extLst>
                  <a:ext uri="{FF2B5EF4-FFF2-40B4-BE49-F238E27FC236}">
                    <a16:creationId xmlns:a16="http://schemas.microsoft.com/office/drawing/2014/main" id="{C5CC9661-522D-4B0A-AC47-931F9E87F2D7}"/>
                  </a:ext>
                </a:extLst>
              </p:cNvPr>
              <p:cNvSpPr txBox="1"/>
              <p:nvPr/>
            </p:nvSpPr>
            <p:spPr bwMode="auto">
              <a:xfrm>
                <a:off x="2552700" y="4846639"/>
                <a:ext cx="3886200"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𝑄</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a:rPr lang="en-US" sz="3200" i="1">
                              <a:solidFill>
                                <a:srgbClr val="000000"/>
                              </a:solidFill>
                              <a:latin typeface="Cambria Math" panose="02040503050406030204" pitchFamily="18" charset="0"/>
                            </a:rPr>
                            <m:t>𝑅</m:t>
                          </m:r>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r>
                            <a:rPr lang="en-US" sz="3200" i="1">
                              <a:solidFill>
                                <a:srgbClr val="000000"/>
                              </a:solidFill>
                              <a:latin typeface="Cambria Math" panose="02040503050406030204" pitchFamily="18" charset="0"/>
                            </a:rPr>
                            <m:t>𝑙</m:t>
                          </m:r>
                        </m:den>
                      </m:f>
                      <m:r>
                        <a:rPr lang="en-US" sz="3200" i="1">
                          <a:solidFill>
                            <a:srgbClr val="000000"/>
                          </a:solidFill>
                          <a:latin typeface="Cambria Math" panose="02040503050406030204" pitchFamily="18" charset="0"/>
                        </a:rPr>
                        <m:t>=0</m:t>
                      </m:r>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315" name="Object 27">
                <a:extLst>
                  <a:ext uri="{FF2B5EF4-FFF2-40B4-BE49-F238E27FC236}">
                    <a16:creationId xmlns:a16="http://schemas.microsoft.com/office/drawing/2014/main" id="{C5CC9661-522D-4B0A-AC47-931F9E87F2D7}"/>
                  </a:ext>
                </a:extLst>
              </p:cNvPr>
              <p:cNvSpPr txBox="1">
                <a:spLocks noRot="1" noChangeAspect="1" noMove="1" noResize="1" noEditPoints="1" noAdjustHandles="1" noChangeArrowheads="1" noChangeShapeType="1" noTextEdit="1"/>
              </p:cNvSpPr>
              <p:nvPr/>
            </p:nvSpPr>
            <p:spPr bwMode="auto">
              <a:xfrm>
                <a:off x="2552700" y="4846639"/>
                <a:ext cx="3886200" cy="1219200"/>
              </a:xfrm>
              <a:prstGeom prst="rect">
                <a:avLst/>
              </a:prstGeom>
              <a:blipFill>
                <a:blip r:embed="rId2"/>
                <a:stretch>
                  <a:fillRect/>
                </a:stretch>
              </a:blipFill>
              <a:ln w="9525">
                <a:noFill/>
                <a:miter lim="800000"/>
                <a:headEnd/>
                <a:tailEnd/>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16" name="Object 28">
                <a:extLst>
                  <a:ext uri="{FF2B5EF4-FFF2-40B4-BE49-F238E27FC236}">
                    <a16:creationId xmlns:a16="http://schemas.microsoft.com/office/drawing/2014/main" id="{FD06BF84-85C7-4710-9787-BF6E71F5A0A0}"/>
                  </a:ext>
                </a:extLst>
              </p:cNvPr>
              <p:cNvSpPr txBox="1"/>
              <p:nvPr/>
            </p:nvSpPr>
            <p:spPr bwMode="auto">
              <a:xfrm>
                <a:off x="6938047" y="4846639"/>
                <a:ext cx="2209800" cy="10668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𝑅</m:t>
                          </m:r>
                        </m:num>
                        <m:den>
                          <m:r>
                            <a:rPr lang="en-US" sz="3200" i="1">
                              <a:solidFill>
                                <a:srgbClr val="000000"/>
                              </a:solidFill>
                              <a:latin typeface="Cambria Math" panose="02040503050406030204" pitchFamily="18" charset="0"/>
                            </a:rPr>
                            <m:t>𝑙</m:t>
                          </m:r>
                        </m:den>
                      </m:f>
                      <m:r>
                        <a:rPr lang="en-US" sz="3200" i="1">
                          <a:solidFill>
                            <a:srgbClr val="000000"/>
                          </a:solidFill>
                          <a:latin typeface="Cambria Math" panose="02040503050406030204" pitchFamily="18" charset="0"/>
                        </a:rPr>
                        <m:t>𝑞</m:t>
                      </m:r>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316" name="Object 28">
                <a:extLst>
                  <a:ext uri="{FF2B5EF4-FFF2-40B4-BE49-F238E27FC236}">
                    <a16:creationId xmlns:a16="http://schemas.microsoft.com/office/drawing/2014/main" id="{FD06BF84-85C7-4710-9787-BF6E71F5A0A0}"/>
                  </a:ext>
                </a:extLst>
              </p:cNvPr>
              <p:cNvSpPr txBox="1">
                <a:spLocks noRot="1" noChangeAspect="1" noMove="1" noResize="1" noEditPoints="1" noAdjustHandles="1" noChangeArrowheads="1" noChangeShapeType="1" noTextEdit="1"/>
              </p:cNvSpPr>
              <p:nvPr/>
            </p:nvSpPr>
            <p:spPr bwMode="auto">
              <a:xfrm>
                <a:off x="6938047" y="4846639"/>
                <a:ext cx="2209800" cy="1066800"/>
              </a:xfrm>
              <a:prstGeom prst="rect">
                <a:avLst/>
              </a:prstGeom>
              <a:blipFill>
                <a:blip r:embed="rId3"/>
                <a:stretch>
                  <a:fillRect/>
                </a:stretch>
              </a:blipFill>
              <a:ln w="9525">
                <a:noFill/>
                <a:miter lim="800000"/>
                <a:headEnd/>
                <a:tailEnd/>
              </a:ln>
              <a:effectLs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18" name="Object 30">
                <a:extLst>
                  <a:ext uri="{FF2B5EF4-FFF2-40B4-BE49-F238E27FC236}">
                    <a16:creationId xmlns:a16="http://schemas.microsoft.com/office/drawing/2014/main" id="{E0520056-AE46-488D-8C22-887884A560C0}"/>
                  </a:ext>
                </a:extLst>
              </p:cNvPr>
              <p:cNvSpPr txBox="1"/>
              <p:nvPr/>
            </p:nvSpPr>
            <p:spPr bwMode="auto">
              <a:xfrm>
                <a:off x="4404418" y="1746249"/>
                <a:ext cx="1335087" cy="59848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3200" b="0" i="1">
                          <a:solidFill>
                            <a:srgbClr val="000000"/>
                          </a:solidFill>
                          <a:latin typeface="Cambria Math" panose="02040503050406030204" pitchFamily="18" charset="0"/>
                        </a:rPr>
                        <m:t>𝜑</m:t>
                      </m:r>
                      <m:r>
                        <a:rPr lang="en-US" sz="3200" b="0" i="1">
                          <a:solidFill>
                            <a:srgbClr val="000000"/>
                          </a:solidFill>
                          <a:latin typeface="Cambria Math" panose="02040503050406030204" pitchFamily="18" charset="0"/>
                        </a:rPr>
                        <m:t>=0</m:t>
                      </m:r>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12318" name="Object 30">
                <a:extLst>
                  <a:ext uri="{FF2B5EF4-FFF2-40B4-BE49-F238E27FC236}">
                    <a16:creationId xmlns:a16="http://schemas.microsoft.com/office/drawing/2014/main" id="{E0520056-AE46-488D-8C22-887884A560C0}"/>
                  </a:ext>
                </a:extLst>
              </p:cNvPr>
              <p:cNvSpPr txBox="1">
                <a:spLocks noRot="1" noChangeAspect="1" noMove="1" noResize="1" noEditPoints="1" noAdjustHandles="1" noChangeArrowheads="1" noChangeShapeType="1" noTextEdit="1"/>
              </p:cNvSpPr>
              <p:nvPr/>
            </p:nvSpPr>
            <p:spPr bwMode="auto">
              <a:xfrm>
                <a:off x="4404418" y="1746249"/>
                <a:ext cx="1335087" cy="598488"/>
              </a:xfrm>
              <a:prstGeom prst="rect">
                <a:avLst/>
              </a:prstGeom>
              <a:blipFill>
                <a:blip r:embed="rId4"/>
                <a:stretch>
                  <a:fillRect/>
                </a:stretch>
              </a:blipFill>
              <a:ln>
                <a:noFill/>
              </a:ln>
              <a:effectLst/>
            </p:spPr>
            <p:txBody>
              <a:bodyPr/>
              <a:lstStyle/>
              <a:p>
                <a:r>
                  <a:rPr lang="en-US">
                    <a:noFill/>
                  </a:rPr>
                  <a:t> </a:t>
                </a:r>
              </a:p>
            </p:txBody>
          </p:sp>
        </mc:Fallback>
      </mc:AlternateContent>
      <p:grpSp>
        <p:nvGrpSpPr>
          <p:cNvPr id="12326" name="Group 38">
            <a:extLst>
              <a:ext uri="{FF2B5EF4-FFF2-40B4-BE49-F238E27FC236}">
                <a16:creationId xmlns:a16="http://schemas.microsoft.com/office/drawing/2014/main" id="{8F4C4AF2-872A-446F-8942-A0ADF4F870C5}"/>
              </a:ext>
            </a:extLst>
          </p:cNvPr>
          <p:cNvGrpSpPr>
            <a:grpSpLocks/>
          </p:cNvGrpSpPr>
          <p:nvPr/>
        </p:nvGrpSpPr>
        <p:grpSpPr bwMode="auto">
          <a:xfrm>
            <a:off x="7467601" y="2286000"/>
            <a:ext cx="2913063" cy="1447800"/>
            <a:chOff x="3744" y="1440"/>
            <a:chExt cx="1835" cy="912"/>
          </a:xfrm>
        </p:grpSpPr>
        <p:grpSp>
          <p:nvGrpSpPr>
            <p:cNvPr id="21525" name="Group 32">
              <a:extLst>
                <a:ext uri="{FF2B5EF4-FFF2-40B4-BE49-F238E27FC236}">
                  <a16:creationId xmlns:a16="http://schemas.microsoft.com/office/drawing/2014/main" id="{B5B342AD-9CC3-4D47-ACDD-6EBB88671FAC}"/>
                </a:ext>
              </a:extLst>
            </p:cNvPr>
            <p:cNvGrpSpPr>
              <a:grpSpLocks/>
            </p:cNvGrpSpPr>
            <p:nvPr/>
          </p:nvGrpSpPr>
          <p:grpSpPr bwMode="auto">
            <a:xfrm>
              <a:off x="5328" y="1776"/>
              <a:ext cx="251" cy="412"/>
              <a:chOff x="5280" y="1680"/>
              <a:chExt cx="251" cy="412"/>
            </a:xfrm>
          </p:grpSpPr>
          <p:sp>
            <p:nvSpPr>
              <p:cNvPr id="21535" name="Oval 5">
                <a:extLst>
                  <a:ext uri="{FF2B5EF4-FFF2-40B4-BE49-F238E27FC236}">
                    <a16:creationId xmlns:a16="http://schemas.microsoft.com/office/drawing/2014/main" id="{DDCE3900-A566-4774-A0FA-4416CF8C2CA7}"/>
                  </a:ext>
                </a:extLst>
              </p:cNvPr>
              <p:cNvSpPr>
                <a:spLocks noChangeArrowheads="1"/>
              </p:cNvSpPr>
              <p:nvPr/>
            </p:nvSpPr>
            <p:spPr bwMode="auto">
              <a:xfrm>
                <a:off x="5424" y="168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536" name="Object 24">
                    <a:extLst>
                      <a:ext uri="{FF2B5EF4-FFF2-40B4-BE49-F238E27FC236}">
                        <a16:creationId xmlns:a16="http://schemas.microsoft.com/office/drawing/2014/main" id="{FA9D4E66-921C-4553-B2AE-D812B70726E1}"/>
                      </a:ext>
                    </a:extLst>
                  </p:cNvPr>
                  <p:cNvSpPr txBox="1"/>
                  <p:nvPr/>
                </p:nvSpPr>
                <p:spPr bwMode="auto">
                  <a:xfrm>
                    <a:off x="5280" y="1776"/>
                    <a:ext cx="251" cy="31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𝑞</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36" name="Object 24">
                    <a:extLst>
                      <a:ext uri="{FF2B5EF4-FFF2-40B4-BE49-F238E27FC236}">
                        <a16:creationId xmlns:a16="http://schemas.microsoft.com/office/drawing/2014/main" id="{FA9D4E66-921C-4553-B2AE-D812B70726E1}"/>
                      </a:ext>
                    </a:extLst>
                  </p:cNvPr>
                  <p:cNvSpPr txBox="1">
                    <a:spLocks noRot="1" noChangeAspect="1" noMove="1" noResize="1" noEditPoints="1" noAdjustHandles="1" noChangeArrowheads="1" noChangeShapeType="1" noTextEdit="1"/>
                  </p:cNvSpPr>
                  <p:nvPr/>
                </p:nvSpPr>
                <p:spPr bwMode="auto">
                  <a:xfrm>
                    <a:off x="5280" y="1776"/>
                    <a:ext cx="251" cy="316"/>
                  </a:xfrm>
                  <a:prstGeom prst="rect">
                    <a:avLst/>
                  </a:prstGeom>
                  <a:blipFill>
                    <a:blip r:embed="rId5"/>
                    <a:stretch>
                      <a:fillRect/>
                    </a:stretch>
                  </a:blipFill>
                  <a:ln>
                    <a:noFill/>
                  </a:ln>
                  <a:effectLst/>
                  <a:extLst/>
                </p:spPr>
                <p:txBody>
                  <a:bodyPr/>
                  <a:lstStyle/>
                  <a:p>
                    <a:r>
                      <a:rPr lang="en-US">
                        <a:noFill/>
                      </a:rPr>
                      <a:t> </a:t>
                    </a:r>
                  </a:p>
                </p:txBody>
              </p:sp>
            </mc:Fallback>
          </mc:AlternateContent>
        </p:grpSp>
        <p:grpSp>
          <p:nvGrpSpPr>
            <p:cNvPr id="21526" name="Group 37">
              <a:extLst>
                <a:ext uri="{FF2B5EF4-FFF2-40B4-BE49-F238E27FC236}">
                  <a16:creationId xmlns:a16="http://schemas.microsoft.com/office/drawing/2014/main" id="{E0A02E04-FD9D-462E-AB29-858D7EDC4A33}"/>
                </a:ext>
              </a:extLst>
            </p:cNvPr>
            <p:cNvGrpSpPr>
              <a:grpSpLocks/>
            </p:cNvGrpSpPr>
            <p:nvPr/>
          </p:nvGrpSpPr>
          <p:grpSpPr bwMode="auto">
            <a:xfrm>
              <a:off x="3744" y="1440"/>
              <a:ext cx="720" cy="912"/>
              <a:chOff x="3840" y="1392"/>
              <a:chExt cx="720" cy="912"/>
            </a:xfrm>
          </p:grpSpPr>
          <p:sp>
            <p:nvSpPr>
              <p:cNvPr id="21527" name="Line 7">
                <a:extLst>
                  <a:ext uri="{FF2B5EF4-FFF2-40B4-BE49-F238E27FC236}">
                    <a16:creationId xmlns:a16="http://schemas.microsoft.com/office/drawing/2014/main" id="{AF46A1A5-2572-407D-8201-44607BAD191C}"/>
                  </a:ext>
                </a:extLst>
              </p:cNvPr>
              <p:cNvSpPr>
                <a:spLocks noChangeShapeType="1"/>
              </p:cNvSpPr>
              <p:nvPr/>
            </p:nvSpPr>
            <p:spPr bwMode="auto">
              <a:xfrm>
                <a:off x="4427" y="1968"/>
                <a:ext cx="0" cy="2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528" name="Line 8">
                <a:extLst>
                  <a:ext uri="{FF2B5EF4-FFF2-40B4-BE49-F238E27FC236}">
                    <a16:creationId xmlns:a16="http://schemas.microsoft.com/office/drawing/2014/main" id="{6981B29E-E6C0-45DF-99F3-22542F421136}"/>
                  </a:ext>
                </a:extLst>
              </p:cNvPr>
              <p:cNvSpPr>
                <a:spLocks noChangeShapeType="1"/>
              </p:cNvSpPr>
              <p:nvPr/>
            </p:nvSpPr>
            <p:spPr bwMode="auto">
              <a:xfrm>
                <a:off x="4320" y="2203"/>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529" name="Line 10">
                <a:extLst>
                  <a:ext uri="{FF2B5EF4-FFF2-40B4-BE49-F238E27FC236}">
                    <a16:creationId xmlns:a16="http://schemas.microsoft.com/office/drawing/2014/main" id="{B9103469-592F-46C8-A033-3B731059CE92}"/>
                  </a:ext>
                </a:extLst>
              </p:cNvPr>
              <p:cNvSpPr>
                <a:spLocks noChangeShapeType="1"/>
              </p:cNvSpPr>
              <p:nvPr/>
            </p:nvSpPr>
            <p:spPr bwMode="auto">
              <a:xfrm>
                <a:off x="4347" y="2270"/>
                <a:ext cx="13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530" name="Line 11">
                <a:extLst>
                  <a:ext uri="{FF2B5EF4-FFF2-40B4-BE49-F238E27FC236}">
                    <a16:creationId xmlns:a16="http://schemas.microsoft.com/office/drawing/2014/main" id="{0EA08588-8B66-451D-8108-020EDD4635C4}"/>
                  </a:ext>
                </a:extLst>
              </p:cNvPr>
              <p:cNvSpPr>
                <a:spLocks noChangeShapeType="1"/>
              </p:cNvSpPr>
              <p:nvPr/>
            </p:nvSpPr>
            <p:spPr bwMode="auto">
              <a:xfrm>
                <a:off x="4373" y="2304"/>
                <a:ext cx="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291" name="Oval 3">
                <a:extLst>
                  <a:ext uri="{FF2B5EF4-FFF2-40B4-BE49-F238E27FC236}">
                    <a16:creationId xmlns:a16="http://schemas.microsoft.com/office/drawing/2014/main" id="{29DD69D8-366E-498C-B68C-BB764C0A9777}"/>
                  </a:ext>
                </a:extLst>
              </p:cNvPr>
              <p:cNvSpPr>
                <a:spLocks noChangeArrowheads="1"/>
              </p:cNvSpPr>
              <p:nvPr/>
            </p:nvSpPr>
            <p:spPr bwMode="auto">
              <a:xfrm>
                <a:off x="3840" y="1488"/>
                <a:ext cx="672" cy="624"/>
              </a:xfrm>
              <a:prstGeom prst="ellipse">
                <a:avLst/>
              </a:prstGeom>
              <a:gradFill rotWithShape="0">
                <a:gsLst>
                  <a:gs pos="0">
                    <a:schemeClr val="accent1"/>
                  </a:gs>
                  <a:gs pos="100000">
                    <a:schemeClr val="accent1">
                      <a:gamma/>
                      <a:shade val="58039"/>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532" name="Object 26">
                    <a:extLst>
                      <a:ext uri="{FF2B5EF4-FFF2-40B4-BE49-F238E27FC236}">
                        <a16:creationId xmlns:a16="http://schemas.microsoft.com/office/drawing/2014/main" id="{EA2D22FB-9EE5-4E3B-B974-59956FDE578F}"/>
                      </a:ext>
                    </a:extLst>
                  </p:cNvPr>
                  <p:cNvSpPr txBox="1"/>
                  <p:nvPr/>
                </p:nvSpPr>
                <p:spPr bwMode="auto">
                  <a:xfrm>
                    <a:off x="3936" y="1392"/>
                    <a:ext cx="229" cy="24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𝑅</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32" name="Object 26">
                    <a:extLst>
                      <a:ext uri="{FF2B5EF4-FFF2-40B4-BE49-F238E27FC236}">
                        <a16:creationId xmlns:a16="http://schemas.microsoft.com/office/drawing/2014/main" id="{EA2D22FB-9EE5-4E3B-B974-59956FDE578F}"/>
                      </a:ext>
                    </a:extLst>
                  </p:cNvPr>
                  <p:cNvSpPr txBox="1">
                    <a:spLocks noRot="1" noChangeAspect="1" noMove="1" noResize="1" noEditPoints="1" noAdjustHandles="1" noChangeArrowheads="1" noChangeShapeType="1" noTextEdit="1"/>
                  </p:cNvSpPr>
                  <p:nvPr/>
                </p:nvSpPr>
                <p:spPr bwMode="auto">
                  <a:xfrm>
                    <a:off x="3936" y="1392"/>
                    <a:ext cx="229" cy="240"/>
                  </a:xfrm>
                  <a:prstGeom prst="rect">
                    <a:avLst/>
                  </a:prstGeom>
                  <a:blipFill>
                    <a:blip r:embed="rId6"/>
                    <a:stretch>
                      <a:fillRect/>
                    </a:stretch>
                  </a:blipFill>
                  <a:ln>
                    <a:noFill/>
                  </a:ln>
                  <a:effectLst/>
                  <a:extLst/>
                </p:spPr>
                <p:txBody>
                  <a:bodyPr/>
                  <a:lstStyle/>
                  <a:p>
                    <a:r>
                      <a:rPr lang="en-US">
                        <a:noFill/>
                      </a:rPr>
                      <a:t> </a:t>
                    </a:r>
                  </a:p>
                </p:txBody>
              </p:sp>
            </mc:Fallback>
          </mc:AlternateContent>
          <p:sp>
            <p:nvSpPr>
              <p:cNvPr id="21533" name="Line 34">
                <a:extLst>
                  <a:ext uri="{FF2B5EF4-FFF2-40B4-BE49-F238E27FC236}">
                    <a16:creationId xmlns:a16="http://schemas.microsoft.com/office/drawing/2014/main" id="{B8200875-E202-4950-997B-5FB77C566855}"/>
                  </a:ext>
                </a:extLst>
              </p:cNvPr>
              <p:cNvSpPr>
                <a:spLocks noChangeShapeType="1"/>
              </p:cNvSpPr>
              <p:nvPr/>
            </p:nvSpPr>
            <p:spPr bwMode="auto">
              <a:xfrm flipH="1" flipV="1">
                <a:off x="3888" y="1632"/>
                <a:ext cx="288"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534" name="Object 36">
                    <a:extLst>
                      <a:ext uri="{FF2B5EF4-FFF2-40B4-BE49-F238E27FC236}">
                        <a16:creationId xmlns:a16="http://schemas.microsoft.com/office/drawing/2014/main" id="{75506FA0-7EF2-4C85-944B-539B9A9AC5F9}"/>
                      </a:ext>
                    </a:extLst>
                  </p:cNvPr>
                  <p:cNvSpPr txBox="1"/>
                  <p:nvPr/>
                </p:nvSpPr>
                <p:spPr bwMode="auto">
                  <a:xfrm>
                    <a:off x="3936" y="1776"/>
                    <a:ext cx="212" cy="23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𝑜</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34" name="Object 36">
                    <a:extLst>
                      <a:ext uri="{FF2B5EF4-FFF2-40B4-BE49-F238E27FC236}">
                        <a16:creationId xmlns:a16="http://schemas.microsoft.com/office/drawing/2014/main" id="{75506FA0-7EF2-4C85-944B-539B9A9AC5F9}"/>
                      </a:ext>
                    </a:extLst>
                  </p:cNvPr>
                  <p:cNvSpPr txBox="1">
                    <a:spLocks noRot="1" noChangeAspect="1" noMove="1" noResize="1" noEditPoints="1" noAdjustHandles="1" noChangeArrowheads="1" noChangeShapeType="1" noTextEdit="1"/>
                  </p:cNvSpPr>
                  <p:nvPr/>
                </p:nvSpPr>
                <p:spPr bwMode="auto">
                  <a:xfrm>
                    <a:off x="3936" y="1776"/>
                    <a:ext cx="212" cy="236"/>
                  </a:xfrm>
                  <a:prstGeom prst="rect">
                    <a:avLst/>
                  </a:prstGeom>
                  <a:blipFill>
                    <a:blip r:embed="rId7"/>
                    <a:stretch>
                      <a:fillRect/>
                    </a:stretch>
                  </a:blipFill>
                  <a:ln>
                    <a:noFill/>
                  </a:ln>
                  <a:effectLst/>
                  <a:extLst/>
                </p:spPr>
                <p:txBody>
                  <a:bodyPr/>
                  <a:lstStyle/>
                  <a:p>
                    <a:r>
                      <a:rPr lang="en-US">
                        <a:noFill/>
                      </a:rPr>
                      <a:t> </a:t>
                    </a:r>
                  </a:p>
                </p:txBody>
              </p:sp>
            </mc:Fallback>
          </mc:AlternateContent>
        </p:grpSp>
      </p:grpSp>
      <p:grpSp>
        <p:nvGrpSpPr>
          <p:cNvPr id="12328" name="Group 40">
            <a:extLst>
              <a:ext uri="{FF2B5EF4-FFF2-40B4-BE49-F238E27FC236}">
                <a16:creationId xmlns:a16="http://schemas.microsoft.com/office/drawing/2014/main" id="{03DC72DE-34DE-4EC8-B5C8-A0B92A5881C6}"/>
              </a:ext>
            </a:extLst>
          </p:cNvPr>
          <p:cNvGrpSpPr>
            <a:grpSpLocks/>
          </p:cNvGrpSpPr>
          <p:nvPr/>
        </p:nvGrpSpPr>
        <p:grpSpPr bwMode="auto">
          <a:xfrm>
            <a:off x="8001000" y="1600200"/>
            <a:ext cx="2286000" cy="1295400"/>
            <a:chOff x="4080" y="1008"/>
            <a:chExt cx="1440" cy="816"/>
          </a:xfrm>
        </p:grpSpPr>
        <p:grpSp>
          <p:nvGrpSpPr>
            <p:cNvPr id="21518" name="Group 33">
              <a:extLst>
                <a:ext uri="{FF2B5EF4-FFF2-40B4-BE49-F238E27FC236}">
                  <a16:creationId xmlns:a16="http://schemas.microsoft.com/office/drawing/2014/main" id="{A829D997-564A-4ED2-B9E8-8CD3CA3FE49B}"/>
                </a:ext>
              </a:extLst>
            </p:cNvPr>
            <p:cNvGrpSpPr>
              <a:grpSpLocks/>
            </p:cNvGrpSpPr>
            <p:nvPr/>
          </p:nvGrpSpPr>
          <p:grpSpPr bwMode="auto">
            <a:xfrm>
              <a:off x="4080" y="1008"/>
              <a:ext cx="1440" cy="768"/>
              <a:chOff x="3648" y="816"/>
              <a:chExt cx="1824" cy="768"/>
            </a:xfrm>
          </p:grpSpPr>
          <p:sp>
            <p:nvSpPr>
              <p:cNvPr id="21520" name="Line 12">
                <a:extLst>
                  <a:ext uri="{FF2B5EF4-FFF2-40B4-BE49-F238E27FC236}">
                    <a16:creationId xmlns:a16="http://schemas.microsoft.com/office/drawing/2014/main" id="{8C438165-36B6-46EE-A408-FE6B2DFEC71E}"/>
                  </a:ext>
                </a:extLst>
              </p:cNvPr>
              <p:cNvSpPr>
                <a:spLocks noChangeShapeType="1"/>
              </p:cNvSpPr>
              <p:nvPr/>
            </p:nvSpPr>
            <p:spPr bwMode="auto">
              <a:xfrm>
                <a:off x="3648" y="864"/>
                <a:ext cx="0" cy="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521" name="Line 13">
                <a:extLst>
                  <a:ext uri="{FF2B5EF4-FFF2-40B4-BE49-F238E27FC236}">
                    <a16:creationId xmlns:a16="http://schemas.microsoft.com/office/drawing/2014/main" id="{CA3E7EE1-3D9B-4DC8-9F52-44F36BB1A882}"/>
                  </a:ext>
                </a:extLst>
              </p:cNvPr>
              <p:cNvSpPr>
                <a:spLocks noChangeShapeType="1"/>
              </p:cNvSpPr>
              <p:nvPr/>
            </p:nvSpPr>
            <p:spPr bwMode="auto">
              <a:xfrm>
                <a:off x="5472" y="864"/>
                <a:ext cx="0" cy="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522" name="Line 14">
                <a:extLst>
                  <a:ext uri="{FF2B5EF4-FFF2-40B4-BE49-F238E27FC236}">
                    <a16:creationId xmlns:a16="http://schemas.microsoft.com/office/drawing/2014/main" id="{F42C9936-2205-4CB7-AEF3-A998E8683567}"/>
                  </a:ext>
                </a:extLst>
              </p:cNvPr>
              <p:cNvSpPr>
                <a:spLocks noChangeShapeType="1"/>
              </p:cNvSpPr>
              <p:nvPr/>
            </p:nvSpPr>
            <p:spPr bwMode="auto">
              <a:xfrm>
                <a:off x="3648" y="960"/>
                <a:ext cx="62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523" name="Line 15">
                <a:extLst>
                  <a:ext uri="{FF2B5EF4-FFF2-40B4-BE49-F238E27FC236}">
                    <a16:creationId xmlns:a16="http://schemas.microsoft.com/office/drawing/2014/main" id="{18E99B56-1DE0-488B-AB14-0A468B7A51AD}"/>
                  </a:ext>
                </a:extLst>
              </p:cNvPr>
              <p:cNvSpPr>
                <a:spLocks noChangeShapeType="1"/>
              </p:cNvSpPr>
              <p:nvPr/>
            </p:nvSpPr>
            <p:spPr bwMode="auto">
              <a:xfrm flipH="1">
                <a:off x="4800" y="960"/>
                <a:ext cx="67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524" name="Object 25">
                    <a:extLst>
                      <a:ext uri="{FF2B5EF4-FFF2-40B4-BE49-F238E27FC236}">
                        <a16:creationId xmlns:a16="http://schemas.microsoft.com/office/drawing/2014/main" id="{B1B82E63-1E01-4092-A798-EA6187D0B3CF}"/>
                      </a:ext>
                    </a:extLst>
                  </p:cNvPr>
                  <p:cNvSpPr txBox="1"/>
                  <p:nvPr/>
                </p:nvSpPr>
                <p:spPr bwMode="auto">
                  <a:xfrm>
                    <a:off x="4464" y="816"/>
                    <a:ext cx="182" cy="384"/>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𝑙</m:t>
                          </m:r>
                        </m:oMath>
                      </m:oMathPara>
                    </a14:m>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524" name="Object 25">
                    <a:extLst>
                      <a:ext uri="{FF2B5EF4-FFF2-40B4-BE49-F238E27FC236}">
                        <a16:creationId xmlns:a16="http://schemas.microsoft.com/office/drawing/2014/main" id="{B1B82E63-1E01-4092-A798-EA6187D0B3CF}"/>
                      </a:ext>
                    </a:extLst>
                  </p:cNvPr>
                  <p:cNvSpPr txBox="1">
                    <a:spLocks noRot="1" noChangeAspect="1" noMove="1" noResize="1" noEditPoints="1" noAdjustHandles="1" noChangeArrowheads="1" noChangeShapeType="1" noTextEdit="1"/>
                  </p:cNvSpPr>
                  <p:nvPr/>
                </p:nvSpPr>
                <p:spPr bwMode="auto">
                  <a:xfrm>
                    <a:off x="4464" y="816"/>
                    <a:ext cx="182" cy="384"/>
                  </a:xfrm>
                  <a:prstGeom prst="rect">
                    <a:avLst/>
                  </a:prstGeom>
                  <a:blipFill>
                    <a:blip r:embed="rId8"/>
                    <a:stretch>
                      <a:fillRect r="-7895"/>
                    </a:stretch>
                  </a:blipFill>
                  <a:ln>
                    <a:noFill/>
                  </a:ln>
                  <a:effectLst/>
                  <a:extLst/>
                </p:spPr>
                <p:txBody>
                  <a:bodyPr/>
                  <a:lstStyle/>
                  <a:p>
                    <a:r>
                      <a:rPr lang="en-US">
                        <a:noFill/>
                      </a:rPr>
                      <a:t> </a:t>
                    </a:r>
                  </a:p>
                </p:txBody>
              </p:sp>
            </mc:Fallback>
          </mc:AlternateContent>
        </p:grpSp>
        <p:sp>
          <p:nvSpPr>
            <p:cNvPr id="21519" name="Line 39">
              <a:extLst>
                <a:ext uri="{FF2B5EF4-FFF2-40B4-BE49-F238E27FC236}">
                  <a16:creationId xmlns:a16="http://schemas.microsoft.com/office/drawing/2014/main" id="{18495223-0F00-4C23-AFA1-48DC070709AB}"/>
                </a:ext>
              </a:extLst>
            </p:cNvPr>
            <p:cNvSpPr>
              <a:spLocks noChangeShapeType="1"/>
            </p:cNvSpPr>
            <p:nvPr/>
          </p:nvSpPr>
          <p:spPr bwMode="auto">
            <a:xfrm>
              <a:off x="4080" y="1536"/>
              <a:ext cx="0" cy="2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329" name="Object 41">
                <a:extLst>
                  <a:ext uri="{FF2B5EF4-FFF2-40B4-BE49-F238E27FC236}">
                    <a16:creationId xmlns:a16="http://schemas.microsoft.com/office/drawing/2014/main" id="{48F8EE31-43A7-456F-8BC8-150B44949C01}"/>
                  </a:ext>
                </a:extLst>
              </p:cNvPr>
              <p:cNvSpPr txBox="1"/>
              <p:nvPr/>
            </p:nvSpPr>
            <p:spPr bwMode="auto">
              <a:xfrm>
                <a:off x="5591176" y="2492376"/>
                <a:ext cx="436563" cy="58261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𝑄</m:t>
                      </m:r>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329" name="Object 41">
                <a:extLst>
                  <a:ext uri="{FF2B5EF4-FFF2-40B4-BE49-F238E27FC236}">
                    <a16:creationId xmlns:a16="http://schemas.microsoft.com/office/drawing/2014/main" id="{48F8EE31-43A7-456F-8BC8-150B44949C01}"/>
                  </a:ext>
                </a:extLst>
              </p:cNvPr>
              <p:cNvSpPr txBox="1">
                <a:spLocks noRot="1" noChangeAspect="1" noMove="1" noResize="1" noEditPoints="1" noAdjustHandles="1" noChangeArrowheads="1" noChangeShapeType="1" noTextEdit="1"/>
              </p:cNvSpPr>
              <p:nvPr/>
            </p:nvSpPr>
            <p:spPr bwMode="auto">
              <a:xfrm>
                <a:off x="5591176" y="2492376"/>
                <a:ext cx="436563" cy="582613"/>
              </a:xfrm>
              <a:prstGeom prst="rect">
                <a:avLst/>
              </a:prstGeom>
              <a:blipFill>
                <a:blip r:embed="rId9"/>
                <a:stretch>
                  <a:fillRect/>
                </a:stretch>
              </a:blipFill>
              <a:ln>
                <a:noFill/>
              </a:ln>
              <a:effectLs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0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3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8" grpId="0"/>
      <p:bldP spid="12310" grpId="0"/>
      <p:bldP spid="12315" grpId="0"/>
      <p:bldP spid="12316" grpId="0"/>
      <p:bldP spid="12318" grpId="0"/>
      <p:bldP spid="123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a:extLst>
              <a:ext uri="{FF2B5EF4-FFF2-40B4-BE49-F238E27FC236}">
                <a16:creationId xmlns:a16="http://schemas.microsoft.com/office/drawing/2014/main" id="{6B7D75CA-267E-421C-B938-B881312AB86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2544" y="2773674"/>
            <a:ext cx="4236382" cy="259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AutoShape 8">
            <a:extLst>
              <a:ext uri="{FF2B5EF4-FFF2-40B4-BE49-F238E27FC236}">
                <a16:creationId xmlns:a16="http://schemas.microsoft.com/office/drawing/2014/main" id="{2C0691C8-6B33-48FC-BCCC-38DB6216AB81}"/>
              </a:ext>
            </a:extLst>
          </p:cNvPr>
          <p:cNvSpPr>
            <a:spLocks noChangeArrowheads="1"/>
          </p:cNvSpPr>
          <p:nvPr/>
        </p:nvSpPr>
        <p:spPr bwMode="auto">
          <a:xfrm>
            <a:off x="6600735" y="3657600"/>
            <a:ext cx="3200400" cy="1447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43" y="10800"/>
                </a:moveTo>
                <a:cubicBezTo>
                  <a:pt x="3043" y="15084"/>
                  <a:pt x="6516" y="18557"/>
                  <a:pt x="10800" y="18557"/>
                </a:cubicBezTo>
                <a:cubicBezTo>
                  <a:pt x="15084" y="18557"/>
                  <a:pt x="18557" y="15084"/>
                  <a:pt x="18557" y="10800"/>
                </a:cubicBezTo>
                <a:cubicBezTo>
                  <a:pt x="18557" y="6516"/>
                  <a:pt x="15084" y="3043"/>
                  <a:pt x="10800" y="3043"/>
                </a:cubicBezTo>
                <a:cubicBezTo>
                  <a:pt x="6516" y="3043"/>
                  <a:pt x="3043" y="6516"/>
                  <a:pt x="3043" y="10800"/>
                </a:cubicBezTo>
                <a:close/>
              </a:path>
            </a:pathLst>
          </a:custGeom>
          <a:solidFill>
            <a:srgbClr val="A85F3E"/>
          </a:solidFill>
          <a:ln>
            <a:noFill/>
          </a:ln>
          <a:effectLst/>
        </p:spPr>
        <p:txBody>
          <a:bodyPr wrap="none" anchor="ctr"/>
          <a:lstStyle/>
          <a:p>
            <a:endParaRPr lang="zh-CN" altLang="en-US">
              <a:solidFill>
                <a:srgbClr val="000000"/>
              </a:solidFill>
            </a:endParaRPr>
          </a:p>
        </p:txBody>
      </p:sp>
      <mc:AlternateContent xmlns:mc="http://schemas.openxmlformats.org/markup-compatibility/2006" xmlns:a14="http://schemas.microsoft.com/office/drawing/2010/main">
        <mc:Choice Requires="a14">
          <p:sp>
            <p:nvSpPr>
              <p:cNvPr id="57" name="Object 11">
                <a:extLst>
                  <a:ext uri="{FF2B5EF4-FFF2-40B4-BE49-F238E27FC236}">
                    <a16:creationId xmlns:a16="http://schemas.microsoft.com/office/drawing/2014/main" id="{230B0B27-7759-4F15-9FD9-8415222954C6}"/>
                  </a:ext>
                </a:extLst>
              </p:cNvPr>
              <p:cNvSpPr txBox="1"/>
              <p:nvPr/>
            </p:nvSpPr>
            <p:spPr bwMode="auto">
              <a:xfrm>
                <a:off x="7591334" y="4213880"/>
                <a:ext cx="1091395" cy="4414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E</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57" name="Object 11">
                <a:extLst>
                  <a:ext uri="{FF2B5EF4-FFF2-40B4-BE49-F238E27FC236}">
                    <a16:creationId xmlns:a16="http://schemas.microsoft.com/office/drawing/2014/main" id="{230B0B27-7759-4F15-9FD9-8415222954C6}"/>
                  </a:ext>
                </a:extLst>
              </p:cNvPr>
              <p:cNvSpPr txBox="1">
                <a:spLocks noRot="1" noChangeAspect="1" noMove="1" noResize="1" noEditPoints="1" noAdjustHandles="1" noChangeArrowheads="1" noChangeShapeType="1" noTextEdit="1"/>
              </p:cNvSpPr>
              <p:nvPr/>
            </p:nvSpPr>
            <p:spPr bwMode="auto">
              <a:xfrm>
                <a:off x="7591334" y="4213880"/>
                <a:ext cx="1091395" cy="44146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58" name="Oval 30">
            <a:extLst>
              <a:ext uri="{FF2B5EF4-FFF2-40B4-BE49-F238E27FC236}">
                <a16:creationId xmlns:a16="http://schemas.microsoft.com/office/drawing/2014/main" id="{3354F4D3-22A7-48CA-9C41-B4EBB8D87ED5}"/>
              </a:ext>
            </a:extLst>
          </p:cNvPr>
          <p:cNvSpPr>
            <a:spLocks noChangeArrowheads="1"/>
          </p:cNvSpPr>
          <p:nvPr/>
        </p:nvSpPr>
        <p:spPr bwMode="auto">
          <a:xfrm>
            <a:off x="6676935" y="2743200"/>
            <a:ext cx="457200" cy="457200"/>
          </a:xfrm>
          <a:prstGeom prst="ellipse">
            <a:avLst/>
          </a:prstGeom>
          <a:gradFill rotWithShape="0">
            <a:gsLst>
              <a:gs pos="0">
                <a:srgbClr val="FF9933"/>
              </a:gs>
              <a:gs pos="100000">
                <a:srgbClr val="764718"/>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rgbClr val="000000"/>
              </a:solidFill>
            </a:endParaRPr>
          </a:p>
        </p:txBody>
      </p:sp>
      <p:sp>
        <p:nvSpPr>
          <p:cNvPr id="59" name="Text Box 31">
            <a:extLst>
              <a:ext uri="{FF2B5EF4-FFF2-40B4-BE49-F238E27FC236}">
                <a16:creationId xmlns:a16="http://schemas.microsoft.com/office/drawing/2014/main" id="{CCF990A7-E5CA-4916-940B-4B0FFD420674}"/>
              </a:ext>
            </a:extLst>
          </p:cNvPr>
          <p:cNvSpPr txBox="1">
            <a:spLocks noChangeArrowheads="1"/>
          </p:cNvSpPr>
          <p:nvPr/>
        </p:nvSpPr>
        <p:spPr bwMode="auto">
          <a:xfrm>
            <a:off x="6676935" y="2605088"/>
            <a:ext cx="91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i="1">
                <a:solidFill>
                  <a:srgbClr val="FFFFFF"/>
                </a:solidFill>
              </a:rPr>
              <a:t>q</a:t>
            </a:r>
          </a:p>
        </p:txBody>
      </p:sp>
      <p:grpSp>
        <p:nvGrpSpPr>
          <p:cNvPr id="60" name="Group 44">
            <a:extLst>
              <a:ext uri="{FF2B5EF4-FFF2-40B4-BE49-F238E27FC236}">
                <a16:creationId xmlns:a16="http://schemas.microsoft.com/office/drawing/2014/main" id="{F7BE1E5C-A6AD-4E4A-B1CF-0A510AAD3F77}"/>
              </a:ext>
            </a:extLst>
          </p:cNvPr>
          <p:cNvGrpSpPr>
            <a:grpSpLocks/>
          </p:cNvGrpSpPr>
          <p:nvPr/>
        </p:nvGrpSpPr>
        <p:grpSpPr bwMode="auto">
          <a:xfrm>
            <a:off x="6448335" y="2514600"/>
            <a:ext cx="3810000" cy="3048000"/>
            <a:chOff x="192" y="1104"/>
            <a:chExt cx="2400" cy="1920"/>
          </a:xfrm>
        </p:grpSpPr>
        <p:sp>
          <p:nvSpPr>
            <p:cNvPr id="61" name="Line 45">
              <a:extLst>
                <a:ext uri="{FF2B5EF4-FFF2-40B4-BE49-F238E27FC236}">
                  <a16:creationId xmlns:a16="http://schemas.microsoft.com/office/drawing/2014/main" id="{7098DE50-767B-4FB3-ADC4-A50A831FDD18}"/>
                </a:ext>
              </a:extLst>
            </p:cNvPr>
            <p:cNvSpPr>
              <a:spLocks noChangeShapeType="1"/>
            </p:cNvSpPr>
            <p:nvPr/>
          </p:nvSpPr>
          <p:spPr bwMode="auto">
            <a:xfrm>
              <a:off x="528" y="1488"/>
              <a:ext cx="192" cy="432"/>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2" name="Freeform 46">
              <a:extLst>
                <a:ext uri="{FF2B5EF4-FFF2-40B4-BE49-F238E27FC236}">
                  <a16:creationId xmlns:a16="http://schemas.microsoft.com/office/drawing/2014/main" id="{32D9EAD5-1899-457B-8165-BBDB2F96A248}"/>
                </a:ext>
              </a:extLst>
            </p:cNvPr>
            <p:cNvSpPr>
              <a:spLocks/>
            </p:cNvSpPr>
            <p:nvPr/>
          </p:nvSpPr>
          <p:spPr bwMode="auto">
            <a:xfrm>
              <a:off x="576" y="1440"/>
              <a:ext cx="384" cy="384"/>
            </a:xfrm>
            <a:custGeom>
              <a:avLst/>
              <a:gdLst>
                <a:gd name="T0" fmla="*/ 0 w 432"/>
                <a:gd name="T1" fmla="*/ 0 h 384"/>
                <a:gd name="T2" fmla="*/ 166 w 432"/>
                <a:gd name="T3" fmla="*/ 192 h 384"/>
                <a:gd name="T4" fmla="*/ 212 w 432"/>
                <a:gd name="T5" fmla="*/ 384 h 384"/>
                <a:gd name="T6" fmla="*/ 0 60000 65536"/>
                <a:gd name="T7" fmla="*/ 0 60000 65536"/>
                <a:gd name="T8" fmla="*/ 0 60000 65536"/>
              </a:gdLst>
              <a:ahLst/>
              <a:cxnLst>
                <a:cxn ang="T6">
                  <a:pos x="T0" y="T1"/>
                </a:cxn>
                <a:cxn ang="T7">
                  <a:pos x="T2" y="T3"/>
                </a:cxn>
                <a:cxn ang="T8">
                  <a:pos x="T4" y="T5"/>
                </a:cxn>
              </a:cxnLst>
              <a:rect l="0" t="0" r="r" b="b"/>
              <a:pathLst>
                <a:path w="432" h="384">
                  <a:moveTo>
                    <a:pt x="0" y="0"/>
                  </a:moveTo>
                  <a:cubicBezTo>
                    <a:pt x="132" y="64"/>
                    <a:pt x="264" y="128"/>
                    <a:pt x="336" y="192"/>
                  </a:cubicBezTo>
                  <a:cubicBezTo>
                    <a:pt x="408" y="256"/>
                    <a:pt x="416" y="352"/>
                    <a:pt x="432" y="384"/>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3" name="Freeform 47">
              <a:extLst>
                <a:ext uri="{FF2B5EF4-FFF2-40B4-BE49-F238E27FC236}">
                  <a16:creationId xmlns:a16="http://schemas.microsoft.com/office/drawing/2014/main" id="{DF2D0B92-BDDB-4AA1-B3A3-0942170603A4}"/>
                </a:ext>
              </a:extLst>
            </p:cNvPr>
            <p:cNvSpPr>
              <a:spLocks/>
            </p:cNvSpPr>
            <p:nvPr/>
          </p:nvSpPr>
          <p:spPr bwMode="auto">
            <a:xfrm>
              <a:off x="624" y="1272"/>
              <a:ext cx="960" cy="552"/>
            </a:xfrm>
            <a:custGeom>
              <a:avLst/>
              <a:gdLst>
                <a:gd name="T0" fmla="*/ 0 w 992"/>
                <a:gd name="T1" fmla="*/ 125 h 504"/>
                <a:gd name="T2" fmla="*/ 394 w 992"/>
                <a:gd name="T3" fmla="*/ 41 h 504"/>
                <a:gd name="T4" fmla="*/ 749 w 992"/>
                <a:gd name="T5" fmla="*/ 375 h 504"/>
                <a:gd name="T6" fmla="*/ 789 w 992"/>
                <a:gd name="T7" fmla="*/ 871 h 5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2" h="504">
                  <a:moveTo>
                    <a:pt x="0" y="72"/>
                  </a:moveTo>
                  <a:cubicBezTo>
                    <a:pt x="164" y="36"/>
                    <a:pt x="328" y="0"/>
                    <a:pt x="480" y="24"/>
                  </a:cubicBezTo>
                  <a:cubicBezTo>
                    <a:pt x="632" y="48"/>
                    <a:pt x="832" y="136"/>
                    <a:pt x="912" y="216"/>
                  </a:cubicBezTo>
                  <a:cubicBezTo>
                    <a:pt x="992" y="296"/>
                    <a:pt x="952" y="448"/>
                    <a:pt x="960" y="504"/>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4" name="Freeform 48">
              <a:extLst>
                <a:ext uri="{FF2B5EF4-FFF2-40B4-BE49-F238E27FC236}">
                  <a16:creationId xmlns:a16="http://schemas.microsoft.com/office/drawing/2014/main" id="{B47614C2-43A8-4E2D-925D-826C149A7B4C}"/>
                </a:ext>
              </a:extLst>
            </p:cNvPr>
            <p:cNvSpPr>
              <a:spLocks/>
            </p:cNvSpPr>
            <p:nvPr/>
          </p:nvSpPr>
          <p:spPr bwMode="auto">
            <a:xfrm>
              <a:off x="192" y="1536"/>
              <a:ext cx="240" cy="528"/>
            </a:xfrm>
            <a:custGeom>
              <a:avLst/>
              <a:gdLst>
                <a:gd name="T0" fmla="*/ 204 w 248"/>
                <a:gd name="T1" fmla="*/ 0 h 576"/>
                <a:gd name="T2" fmla="*/ 8 w 248"/>
                <a:gd name="T3" fmla="*/ 227 h 576"/>
                <a:gd name="T4" fmla="*/ 165 w 248"/>
                <a:gd name="T5" fmla="*/ 342 h 576"/>
                <a:gd name="T6" fmla="*/ 0 60000 65536"/>
                <a:gd name="T7" fmla="*/ 0 60000 65536"/>
                <a:gd name="T8" fmla="*/ 0 60000 65536"/>
              </a:gdLst>
              <a:ahLst/>
              <a:cxnLst>
                <a:cxn ang="T6">
                  <a:pos x="T0" y="T1"/>
                </a:cxn>
                <a:cxn ang="T7">
                  <a:pos x="T2" y="T3"/>
                </a:cxn>
                <a:cxn ang="T8">
                  <a:pos x="T4" y="T5"/>
                </a:cxn>
              </a:cxnLst>
              <a:rect l="0" t="0" r="r" b="b"/>
              <a:pathLst>
                <a:path w="248" h="576">
                  <a:moveTo>
                    <a:pt x="248" y="0"/>
                  </a:moveTo>
                  <a:cubicBezTo>
                    <a:pt x="132" y="144"/>
                    <a:pt x="16" y="288"/>
                    <a:pt x="8" y="384"/>
                  </a:cubicBezTo>
                  <a:cubicBezTo>
                    <a:pt x="0" y="480"/>
                    <a:pt x="168" y="544"/>
                    <a:pt x="200" y="576"/>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5" name="Freeform 49">
              <a:extLst>
                <a:ext uri="{FF2B5EF4-FFF2-40B4-BE49-F238E27FC236}">
                  <a16:creationId xmlns:a16="http://schemas.microsoft.com/office/drawing/2014/main" id="{0F82408A-D176-4527-BAAC-86565827F685}"/>
                </a:ext>
              </a:extLst>
            </p:cNvPr>
            <p:cNvSpPr>
              <a:spLocks/>
            </p:cNvSpPr>
            <p:nvPr/>
          </p:nvSpPr>
          <p:spPr bwMode="auto">
            <a:xfrm>
              <a:off x="576" y="1104"/>
              <a:ext cx="1584" cy="864"/>
            </a:xfrm>
            <a:custGeom>
              <a:avLst/>
              <a:gdLst>
                <a:gd name="T0" fmla="*/ 0 w 1688"/>
                <a:gd name="T1" fmla="*/ 293 h 768"/>
                <a:gd name="T2" fmla="*/ 394 w 1688"/>
                <a:gd name="T3" fmla="*/ 0 h 768"/>
                <a:gd name="T4" fmla="*/ 1049 w 1688"/>
                <a:gd name="T5" fmla="*/ 293 h 768"/>
                <a:gd name="T6" fmla="*/ 1015 w 1688"/>
                <a:gd name="T7" fmla="*/ 1558 h 7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8" h="768">
                  <a:moveTo>
                    <a:pt x="0" y="144"/>
                  </a:moveTo>
                  <a:cubicBezTo>
                    <a:pt x="160" y="72"/>
                    <a:pt x="320" y="0"/>
                    <a:pt x="576" y="0"/>
                  </a:cubicBezTo>
                  <a:cubicBezTo>
                    <a:pt x="832" y="0"/>
                    <a:pt x="1384" y="16"/>
                    <a:pt x="1536" y="144"/>
                  </a:cubicBezTo>
                  <a:cubicBezTo>
                    <a:pt x="1688" y="272"/>
                    <a:pt x="1504" y="656"/>
                    <a:pt x="1488" y="768"/>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6" name="Freeform 50">
              <a:extLst>
                <a:ext uri="{FF2B5EF4-FFF2-40B4-BE49-F238E27FC236}">
                  <a16:creationId xmlns:a16="http://schemas.microsoft.com/office/drawing/2014/main" id="{7E5CFC3C-7444-46EB-93F9-D125A39C3923}"/>
                </a:ext>
              </a:extLst>
            </p:cNvPr>
            <p:cNvSpPr>
              <a:spLocks/>
            </p:cNvSpPr>
            <p:nvPr/>
          </p:nvSpPr>
          <p:spPr bwMode="auto">
            <a:xfrm>
              <a:off x="2112" y="2544"/>
              <a:ext cx="480" cy="344"/>
            </a:xfrm>
            <a:custGeom>
              <a:avLst/>
              <a:gdLst>
                <a:gd name="T0" fmla="*/ 0 w 480"/>
                <a:gd name="T1" fmla="*/ 0 h 344"/>
                <a:gd name="T2" fmla="*/ 336 w 480"/>
                <a:gd name="T3" fmla="*/ 288 h 344"/>
                <a:gd name="T4" fmla="*/ 480 w 480"/>
                <a:gd name="T5" fmla="*/ 336 h 344"/>
                <a:gd name="T6" fmla="*/ 0 60000 65536"/>
                <a:gd name="T7" fmla="*/ 0 60000 65536"/>
                <a:gd name="T8" fmla="*/ 0 60000 65536"/>
              </a:gdLst>
              <a:ahLst/>
              <a:cxnLst>
                <a:cxn ang="T6">
                  <a:pos x="T0" y="T1"/>
                </a:cxn>
                <a:cxn ang="T7">
                  <a:pos x="T2" y="T3"/>
                </a:cxn>
                <a:cxn ang="T8">
                  <a:pos x="T4" y="T5"/>
                </a:cxn>
              </a:cxnLst>
              <a:rect l="0" t="0" r="r" b="b"/>
              <a:pathLst>
                <a:path w="480" h="344">
                  <a:moveTo>
                    <a:pt x="0" y="0"/>
                  </a:moveTo>
                  <a:cubicBezTo>
                    <a:pt x="128" y="116"/>
                    <a:pt x="256" y="232"/>
                    <a:pt x="336" y="288"/>
                  </a:cubicBezTo>
                  <a:cubicBezTo>
                    <a:pt x="416" y="344"/>
                    <a:pt x="456" y="328"/>
                    <a:pt x="480" y="336"/>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7" name="Freeform 51">
              <a:extLst>
                <a:ext uri="{FF2B5EF4-FFF2-40B4-BE49-F238E27FC236}">
                  <a16:creationId xmlns:a16="http://schemas.microsoft.com/office/drawing/2014/main" id="{E16A39EF-D464-4181-896E-E9C1758D969B}"/>
                </a:ext>
              </a:extLst>
            </p:cNvPr>
            <p:cNvSpPr>
              <a:spLocks/>
            </p:cNvSpPr>
            <p:nvPr/>
          </p:nvSpPr>
          <p:spPr bwMode="auto">
            <a:xfrm>
              <a:off x="1624" y="2688"/>
              <a:ext cx="56" cy="336"/>
            </a:xfrm>
            <a:custGeom>
              <a:avLst/>
              <a:gdLst>
                <a:gd name="T0" fmla="*/ 8 w 56"/>
                <a:gd name="T1" fmla="*/ 0 h 336"/>
                <a:gd name="T2" fmla="*/ 8 w 56"/>
                <a:gd name="T3" fmla="*/ 240 h 336"/>
                <a:gd name="T4" fmla="*/ 56 w 56"/>
                <a:gd name="T5" fmla="*/ 336 h 336"/>
                <a:gd name="T6" fmla="*/ 0 60000 65536"/>
                <a:gd name="T7" fmla="*/ 0 60000 65536"/>
                <a:gd name="T8" fmla="*/ 0 60000 65536"/>
              </a:gdLst>
              <a:ahLst/>
              <a:cxnLst>
                <a:cxn ang="T6">
                  <a:pos x="T0" y="T1"/>
                </a:cxn>
                <a:cxn ang="T7">
                  <a:pos x="T2" y="T3"/>
                </a:cxn>
                <a:cxn ang="T8">
                  <a:pos x="T4" y="T5"/>
                </a:cxn>
              </a:cxnLst>
              <a:rect l="0" t="0" r="r" b="b"/>
              <a:pathLst>
                <a:path w="56" h="336">
                  <a:moveTo>
                    <a:pt x="8" y="0"/>
                  </a:moveTo>
                  <a:cubicBezTo>
                    <a:pt x="4" y="92"/>
                    <a:pt x="0" y="184"/>
                    <a:pt x="8" y="240"/>
                  </a:cubicBezTo>
                  <a:cubicBezTo>
                    <a:pt x="16" y="296"/>
                    <a:pt x="48" y="320"/>
                    <a:pt x="56" y="336"/>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8" name="Freeform 52">
              <a:extLst>
                <a:ext uri="{FF2B5EF4-FFF2-40B4-BE49-F238E27FC236}">
                  <a16:creationId xmlns:a16="http://schemas.microsoft.com/office/drawing/2014/main" id="{959A2907-D40B-471B-B57F-EFDAEE089047}"/>
                </a:ext>
              </a:extLst>
            </p:cNvPr>
            <p:cNvSpPr>
              <a:spLocks/>
            </p:cNvSpPr>
            <p:nvPr/>
          </p:nvSpPr>
          <p:spPr bwMode="auto">
            <a:xfrm>
              <a:off x="1192" y="2736"/>
              <a:ext cx="56" cy="288"/>
            </a:xfrm>
            <a:custGeom>
              <a:avLst/>
              <a:gdLst>
                <a:gd name="T0" fmla="*/ 8 w 56"/>
                <a:gd name="T1" fmla="*/ 0 h 288"/>
                <a:gd name="T2" fmla="*/ 8 w 56"/>
                <a:gd name="T3" fmla="*/ 192 h 288"/>
                <a:gd name="T4" fmla="*/ 56 w 56"/>
                <a:gd name="T5" fmla="*/ 288 h 288"/>
                <a:gd name="T6" fmla="*/ 0 60000 65536"/>
                <a:gd name="T7" fmla="*/ 0 60000 65536"/>
                <a:gd name="T8" fmla="*/ 0 60000 65536"/>
              </a:gdLst>
              <a:ahLst/>
              <a:cxnLst>
                <a:cxn ang="T6">
                  <a:pos x="T0" y="T1"/>
                </a:cxn>
                <a:cxn ang="T7">
                  <a:pos x="T2" y="T3"/>
                </a:cxn>
                <a:cxn ang="T8">
                  <a:pos x="T4" y="T5"/>
                </a:cxn>
              </a:cxnLst>
              <a:rect l="0" t="0" r="r" b="b"/>
              <a:pathLst>
                <a:path w="56" h="288">
                  <a:moveTo>
                    <a:pt x="8" y="0"/>
                  </a:moveTo>
                  <a:cubicBezTo>
                    <a:pt x="4" y="72"/>
                    <a:pt x="0" y="144"/>
                    <a:pt x="8" y="192"/>
                  </a:cubicBezTo>
                  <a:cubicBezTo>
                    <a:pt x="16" y="240"/>
                    <a:pt x="48" y="272"/>
                    <a:pt x="56" y="288"/>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69" name="Freeform 53">
              <a:extLst>
                <a:ext uri="{FF2B5EF4-FFF2-40B4-BE49-F238E27FC236}">
                  <a16:creationId xmlns:a16="http://schemas.microsoft.com/office/drawing/2014/main" id="{F35503B1-B618-4D19-9DE4-8C7CE35B7AD4}"/>
                </a:ext>
              </a:extLst>
            </p:cNvPr>
            <p:cNvSpPr>
              <a:spLocks/>
            </p:cNvSpPr>
            <p:nvPr/>
          </p:nvSpPr>
          <p:spPr bwMode="auto">
            <a:xfrm>
              <a:off x="192" y="2640"/>
              <a:ext cx="432" cy="336"/>
            </a:xfrm>
            <a:custGeom>
              <a:avLst/>
              <a:gdLst>
                <a:gd name="T0" fmla="*/ 432 w 432"/>
                <a:gd name="T1" fmla="*/ 0 h 336"/>
                <a:gd name="T2" fmla="*/ 96 w 432"/>
                <a:gd name="T3" fmla="*/ 240 h 336"/>
                <a:gd name="T4" fmla="*/ 0 w 432"/>
                <a:gd name="T5" fmla="*/ 336 h 336"/>
                <a:gd name="T6" fmla="*/ 0 60000 65536"/>
                <a:gd name="T7" fmla="*/ 0 60000 65536"/>
                <a:gd name="T8" fmla="*/ 0 60000 65536"/>
              </a:gdLst>
              <a:ahLst/>
              <a:cxnLst>
                <a:cxn ang="T6">
                  <a:pos x="T0" y="T1"/>
                </a:cxn>
                <a:cxn ang="T7">
                  <a:pos x="T2" y="T3"/>
                </a:cxn>
                <a:cxn ang="T8">
                  <a:pos x="T4" y="T5"/>
                </a:cxn>
              </a:cxnLst>
              <a:rect l="0" t="0" r="r" b="b"/>
              <a:pathLst>
                <a:path w="432" h="336">
                  <a:moveTo>
                    <a:pt x="432" y="0"/>
                  </a:moveTo>
                  <a:cubicBezTo>
                    <a:pt x="300" y="92"/>
                    <a:pt x="168" y="184"/>
                    <a:pt x="96" y="240"/>
                  </a:cubicBezTo>
                  <a:cubicBezTo>
                    <a:pt x="24" y="296"/>
                    <a:pt x="16" y="320"/>
                    <a:pt x="0" y="336"/>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sp>
          <p:nvSpPr>
            <p:cNvPr id="70" name="Freeform 54">
              <a:extLst>
                <a:ext uri="{FF2B5EF4-FFF2-40B4-BE49-F238E27FC236}">
                  <a16:creationId xmlns:a16="http://schemas.microsoft.com/office/drawing/2014/main" id="{7BFCE85A-88D4-43B4-81E5-098C7D1B2F7C}"/>
                </a:ext>
              </a:extLst>
            </p:cNvPr>
            <p:cNvSpPr>
              <a:spLocks/>
            </p:cNvSpPr>
            <p:nvPr/>
          </p:nvSpPr>
          <p:spPr bwMode="auto">
            <a:xfrm>
              <a:off x="672" y="2688"/>
              <a:ext cx="192" cy="336"/>
            </a:xfrm>
            <a:custGeom>
              <a:avLst/>
              <a:gdLst>
                <a:gd name="T0" fmla="*/ 192 w 192"/>
                <a:gd name="T1" fmla="*/ 0 h 336"/>
                <a:gd name="T2" fmla="*/ 0 w 192"/>
                <a:gd name="T3" fmla="*/ 336 h 336"/>
                <a:gd name="T4" fmla="*/ 0 60000 65536"/>
                <a:gd name="T5" fmla="*/ 0 60000 65536"/>
              </a:gdLst>
              <a:ahLst/>
              <a:cxnLst>
                <a:cxn ang="T4">
                  <a:pos x="T0" y="T1"/>
                </a:cxn>
                <a:cxn ang="T5">
                  <a:pos x="T2" y="T3"/>
                </a:cxn>
              </a:cxnLst>
              <a:rect l="0" t="0" r="r" b="b"/>
              <a:pathLst>
                <a:path w="192" h="336">
                  <a:moveTo>
                    <a:pt x="192" y="0"/>
                  </a:moveTo>
                  <a:cubicBezTo>
                    <a:pt x="112" y="140"/>
                    <a:pt x="32" y="280"/>
                    <a:pt x="0" y="336"/>
                  </a:cubicBezTo>
                </a:path>
              </a:pathLst>
            </a:custGeom>
            <a:noFill/>
            <a:ln w="317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zh-CN" altLang="en-US">
                <a:solidFill>
                  <a:srgbClr val="000000"/>
                </a:solidFill>
              </a:endParaRPr>
            </a:p>
          </p:txBody>
        </p:sp>
      </p:grpSp>
      <p:sp>
        <p:nvSpPr>
          <p:cNvPr id="3" name="矩形 2">
            <a:extLst>
              <a:ext uri="{FF2B5EF4-FFF2-40B4-BE49-F238E27FC236}">
                <a16:creationId xmlns:a16="http://schemas.microsoft.com/office/drawing/2014/main" id="{0C5EDE73-E0A9-08F4-83D5-6B1419E64234}"/>
              </a:ext>
            </a:extLst>
          </p:cNvPr>
          <p:cNvSpPr/>
          <p:nvPr/>
        </p:nvSpPr>
        <p:spPr>
          <a:xfrm>
            <a:off x="486061" y="511408"/>
            <a:ext cx="2403222"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静电屏蔽</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Rectangle 9">
            <a:extLst>
              <a:ext uri="{FF2B5EF4-FFF2-40B4-BE49-F238E27FC236}">
                <a16:creationId xmlns:a16="http://schemas.microsoft.com/office/drawing/2014/main" id="{0BEC9BCC-5D15-DDF7-F7A4-07DB35AE5FCF}"/>
              </a:ext>
            </a:extLst>
          </p:cNvPr>
          <p:cNvSpPr>
            <a:spLocks noChangeArrowheads="1"/>
          </p:cNvSpPr>
          <p:nvPr/>
        </p:nvSpPr>
        <p:spPr bwMode="auto">
          <a:xfrm>
            <a:off x="6480085" y="1547826"/>
            <a:ext cx="32004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en-US" altLang="zh-CN" sz="2800"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800"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腔内无带电体</a:t>
            </a:r>
          </a:p>
        </p:txBody>
      </p:sp>
      <p:sp>
        <p:nvSpPr>
          <p:cNvPr id="5" name="Rectangle 28">
            <a:extLst>
              <a:ext uri="{FF2B5EF4-FFF2-40B4-BE49-F238E27FC236}">
                <a16:creationId xmlns:a16="http://schemas.microsoft.com/office/drawing/2014/main" id="{8840A4F9-42C9-3400-6A90-ADF47F97855A}"/>
              </a:ext>
            </a:extLst>
          </p:cNvPr>
          <p:cNvSpPr>
            <a:spLocks noChangeArrowheads="1"/>
          </p:cNvSpPr>
          <p:nvPr/>
        </p:nvSpPr>
        <p:spPr bwMode="auto">
          <a:xfrm>
            <a:off x="879952" y="1731529"/>
            <a:ext cx="366553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en-US" altLang="zh-CN" sz="2800"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800"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腔内有带电体</a:t>
            </a:r>
          </a:p>
        </p:txBody>
      </p:sp>
    </p:spTree>
    <p:extLst>
      <p:ext uri="{BB962C8B-B14F-4D97-AF65-F5344CB8AC3E}">
        <p14:creationId xmlns:p14="http://schemas.microsoft.com/office/powerpoint/2010/main" val="36095969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p:bldP spid="58" grpId="0" animBg="1"/>
      <p:bldP spid="59" grpId="0"/>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899979A6-38F1-0888-4A6A-3533484578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5148" y="1803274"/>
            <a:ext cx="3456462" cy="3456462"/>
          </a:xfrm>
          <a:prstGeom prst="rect">
            <a:avLst/>
          </a:prstGeom>
        </p:spPr>
      </p:pic>
      <p:pic>
        <p:nvPicPr>
          <p:cNvPr id="5" name="Picture 4" descr="Tesla coil vs Faraday cage | Tesla coil, Tesla, Nikola tesla">
            <a:extLst>
              <a:ext uri="{FF2B5EF4-FFF2-40B4-BE49-F238E27FC236}">
                <a16:creationId xmlns:a16="http://schemas.microsoft.com/office/drawing/2014/main" id="{E0C2357B-BCE5-4458-85CB-5B832657B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595" y="1764564"/>
            <a:ext cx="4640409" cy="3661472"/>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997F3C5F-E4BB-4A7C-AD75-FB1E85674CE4}"/>
              </a:ext>
            </a:extLst>
          </p:cNvPr>
          <p:cNvSpPr/>
          <p:nvPr/>
        </p:nvSpPr>
        <p:spPr>
          <a:xfrm>
            <a:off x="486061" y="511408"/>
            <a:ext cx="2403222"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静电屏蔽</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07949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9" name="Text Box 19">
            <a:hlinkClick r:id="rId2" action="ppaction://hlinksldjump"/>
            <a:extLst>
              <a:ext uri="{FF2B5EF4-FFF2-40B4-BE49-F238E27FC236}">
                <a16:creationId xmlns:a16="http://schemas.microsoft.com/office/drawing/2014/main" id="{4E53918C-30E3-49AB-8933-32B15D49CB27}"/>
              </a:ext>
            </a:extLst>
          </p:cNvPr>
          <p:cNvSpPr txBox="1">
            <a:spLocks noChangeArrowheads="1"/>
          </p:cNvSpPr>
          <p:nvPr/>
        </p:nvSpPr>
        <p:spPr bwMode="auto">
          <a:xfrm>
            <a:off x="1005330" y="5778647"/>
            <a:ext cx="89862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dirty="0">
                <a:latin typeface="华文楷体" panose="02010600040101010101" pitchFamily="2" charset="-122"/>
                <a:ea typeface="华文楷体" panose="02010600040101010101" pitchFamily="2" charset="-122"/>
              </a:rPr>
              <a:t>给定边界条件后</a:t>
            </a:r>
            <a:r>
              <a:rPr lang="en-US" altLang="zh-CN" sz="3200" b="1" dirty="0">
                <a:latin typeface="华文楷体" panose="02010600040101010101" pitchFamily="2" charset="-122"/>
                <a:ea typeface="华文楷体" panose="02010600040101010101" pitchFamily="2" charset="-122"/>
              </a:rPr>
              <a:t>,</a:t>
            </a:r>
            <a:r>
              <a:rPr lang="zh-CN" altLang="en-US" sz="3200" b="1" dirty="0">
                <a:latin typeface="华文楷体" panose="02010600040101010101" pitchFamily="2" charset="-122"/>
                <a:ea typeface="华文楷体" panose="02010600040101010101" pitchFamily="2" charset="-122"/>
              </a:rPr>
              <a:t> 静电场的分布就唯一地确定了</a:t>
            </a:r>
          </a:p>
        </p:txBody>
      </p:sp>
      <p:sp>
        <p:nvSpPr>
          <p:cNvPr id="28676" name="Text Box 19">
            <a:hlinkClick r:id="rId2" action="ppaction://hlinksldjump"/>
            <a:extLst>
              <a:ext uri="{FF2B5EF4-FFF2-40B4-BE49-F238E27FC236}">
                <a16:creationId xmlns:a16="http://schemas.microsoft.com/office/drawing/2014/main" id="{41C8AED2-B171-4FE0-A6EA-2576C9359DA4}"/>
              </a:ext>
            </a:extLst>
          </p:cNvPr>
          <p:cNvSpPr txBox="1">
            <a:spLocks noChangeArrowheads="1"/>
          </p:cNvSpPr>
          <p:nvPr/>
        </p:nvSpPr>
        <p:spPr bwMode="auto">
          <a:xfrm>
            <a:off x="1106832" y="494578"/>
            <a:ext cx="53737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a:buFont typeface="Wingdings" panose="05000000000000000000" pitchFamily="2" charset="2"/>
              <a:buChar char="q"/>
            </a:pPr>
            <a:r>
              <a:rPr lang="zh-CN" altLang="en-US" sz="3200" b="1" dirty="0">
                <a:solidFill>
                  <a:srgbClr val="FF0000"/>
                </a:solidFill>
                <a:latin typeface="华文楷体" panose="02010600040101010101" pitchFamily="2" charset="-122"/>
                <a:ea typeface="华文楷体" panose="02010600040101010101" pitchFamily="2" charset="-122"/>
              </a:rPr>
              <a:t>静电场的唯一性定理</a:t>
            </a:r>
            <a:r>
              <a:rPr lang="en-US" altLang="zh-CN" sz="3200" b="1" dirty="0">
                <a:solidFill>
                  <a:srgbClr val="FF0000"/>
                </a:solidFill>
                <a:latin typeface="华文楷体" panose="02010600040101010101" pitchFamily="2" charset="-122"/>
                <a:ea typeface="华文楷体" panose="02010600040101010101" pitchFamily="2" charset="-122"/>
              </a:rPr>
              <a:t>*</a:t>
            </a:r>
            <a:endParaRPr lang="zh-CN" altLang="en-US" sz="3200" b="1" dirty="0">
              <a:solidFill>
                <a:srgbClr val="FF0000"/>
              </a:solidFill>
              <a:latin typeface="华文楷体" panose="02010600040101010101" pitchFamily="2" charset="-122"/>
              <a:ea typeface="华文楷体" panose="02010600040101010101" pitchFamily="2" charset="-122"/>
            </a:endParaRPr>
          </a:p>
        </p:txBody>
      </p:sp>
      <p:sp>
        <p:nvSpPr>
          <p:cNvPr id="4" name="矩形 3">
            <a:extLst>
              <a:ext uri="{FF2B5EF4-FFF2-40B4-BE49-F238E27FC236}">
                <a16:creationId xmlns:a16="http://schemas.microsoft.com/office/drawing/2014/main" id="{72E3D3F5-8159-48B4-84CB-57F6D7900843}"/>
              </a:ext>
            </a:extLst>
          </p:cNvPr>
          <p:cNvSpPr/>
          <p:nvPr/>
        </p:nvSpPr>
        <p:spPr>
          <a:xfrm>
            <a:off x="344555" y="1530206"/>
            <a:ext cx="9000877" cy="2677656"/>
          </a:xfrm>
          <a:prstGeom prst="rect">
            <a:avLst/>
          </a:prstGeom>
        </p:spPr>
        <p:txBody>
          <a:bodyPr wrap="square">
            <a:spAutoFit/>
          </a:bodyPr>
          <a:lstStyle/>
          <a:p>
            <a:r>
              <a:rPr lang="zh-CN" altLang="en-US" sz="2800" dirty="0"/>
              <a:t>有若干个导体存在时，在给定的条件下，空间的电场分布和导体表面的电荷分布是唯一确定的。</a:t>
            </a:r>
            <a:endParaRPr lang="en-US" altLang="zh-CN" sz="2800" dirty="0"/>
          </a:p>
          <a:p>
            <a:endParaRPr lang="en-US" altLang="zh-CN" sz="2800" dirty="0"/>
          </a:p>
          <a:p>
            <a:pPr marL="285750" indent="-285750">
              <a:buFontTx/>
              <a:buChar char="-"/>
            </a:pPr>
            <a:r>
              <a:rPr lang="zh-CN" altLang="en-US" sz="2800" dirty="0"/>
              <a:t>给定每个导体上的带电量</a:t>
            </a:r>
            <a:endParaRPr lang="en-US" altLang="zh-CN" sz="2800" dirty="0"/>
          </a:p>
          <a:p>
            <a:pPr marL="285750" indent="-285750">
              <a:buFontTx/>
              <a:buChar char="-"/>
            </a:pPr>
            <a:r>
              <a:rPr lang="zh-CN" altLang="en-US" sz="2800" dirty="0"/>
              <a:t>给定每个导体的电势</a:t>
            </a:r>
            <a:endParaRPr lang="en-US" altLang="zh-CN" sz="2800" dirty="0"/>
          </a:p>
          <a:p>
            <a:pPr marL="285750" indent="-285750">
              <a:buFontTx/>
              <a:buChar char="-"/>
            </a:pPr>
            <a:r>
              <a:rPr lang="zh-CN" altLang="en-US" sz="2800" dirty="0"/>
              <a:t>给定一些导体的总电量和另一些导体的电势</a:t>
            </a:r>
            <a:endParaRPr lang="en-US" sz="2800" dirty="0"/>
          </a:p>
        </p:txBody>
      </p:sp>
      <p:grpSp>
        <p:nvGrpSpPr>
          <p:cNvPr id="2" name="Group 41">
            <a:extLst>
              <a:ext uri="{FF2B5EF4-FFF2-40B4-BE49-F238E27FC236}">
                <a16:creationId xmlns:a16="http://schemas.microsoft.com/office/drawing/2014/main" id="{CB44684A-E066-52BE-8332-FD509323632D}"/>
              </a:ext>
            </a:extLst>
          </p:cNvPr>
          <p:cNvGrpSpPr>
            <a:grpSpLocks/>
          </p:cNvGrpSpPr>
          <p:nvPr/>
        </p:nvGrpSpPr>
        <p:grpSpPr bwMode="auto">
          <a:xfrm>
            <a:off x="8591370" y="2162597"/>
            <a:ext cx="2889250" cy="2459037"/>
            <a:chOff x="3510" y="1609"/>
            <a:chExt cx="1820" cy="1549"/>
          </a:xfrm>
        </p:grpSpPr>
        <p:sp>
          <p:nvSpPr>
            <p:cNvPr id="3" name="Line 42">
              <a:extLst>
                <a:ext uri="{FF2B5EF4-FFF2-40B4-BE49-F238E27FC236}">
                  <a16:creationId xmlns:a16="http://schemas.microsoft.com/office/drawing/2014/main" id="{50E41C20-8C88-59FE-C578-2536A9020B2F}"/>
                </a:ext>
              </a:extLst>
            </p:cNvPr>
            <p:cNvSpPr>
              <a:spLocks noChangeShapeType="1"/>
            </p:cNvSpPr>
            <p:nvPr/>
          </p:nvSpPr>
          <p:spPr bwMode="auto">
            <a:xfrm flipH="1">
              <a:off x="3745"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Line 43">
              <a:extLst>
                <a:ext uri="{FF2B5EF4-FFF2-40B4-BE49-F238E27FC236}">
                  <a16:creationId xmlns:a16="http://schemas.microsoft.com/office/drawing/2014/main" id="{AF28B4D3-06AE-5294-C73E-B1686E170B8E}"/>
                </a:ext>
              </a:extLst>
            </p:cNvPr>
            <p:cNvSpPr>
              <a:spLocks noChangeShapeType="1"/>
            </p:cNvSpPr>
            <p:nvPr/>
          </p:nvSpPr>
          <p:spPr bwMode="auto">
            <a:xfrm flipH="1">
              <a:off x="3985"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44">
              <a:extLst>
                <a:ext uri="{FF2B5EF4-FFF2-40B4-BE49-F238E27FC236}">
                  <a16:creationId xmlns:a16="http://schemas.microsoft.com/office/drawing/2014/main" id="{E65974CE-DF0B-0EE7-7EE2-C17F4EB0D94A}"/>
                </a:ext>
              </a:extLst>
            </p:cNvPr>
            <p:cNvSpPr>
              <a:spLocks noChangeShapeType="1"/>
            </p:cNvSpPr>
            <p:nvPr/>
          </p:nvSpPr>
          <p:spPr bwMode="auto">
            <a:xfrm>
              <a:off x="3745" y="219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45">
              <a:extLst>
                <a:ext uri="{FF2B5EF4-FFF2-40B4-BE49-F238E27FC236}">
                  <a16:creationId xmlns:a16="http://schemas.microsoft.com/office/drawing/2014/main" id="{FE04F471-A195-7048-7DCC-6CC561F011AE}"/>
                </a:ext>
              </a:extLst>
            </p:cNvPr>
            <p:cNvSpPr>
              <a:spLocks noChangeShapeType="1"/>
            </p:cNvSpPr>
            <p:nvPr/>
          </p:nvSpPr>
          <p:spPr bwMode="auto">
            <a:xfrm>
              <a:off x="4417" y="176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46">
              <a:extLst>
                <a:ext uri="{FF2B5EF4-FFF2-40B4-BE49-F238E27FC236}">
                  <a16:creationId xmlns:a16="http://schemas.microsoft.com/office/drawing/2014/main" id="{A8CBDABF-DCCA-998E-2F11-6ADA2F8CE18B}"/>
                </a:ext>
              </a:extLst>
            </p:cNvPr>
            <p:cNvSpPr>
              <a:spLocks noChangeShapeType="1"/>
            </p:cNvSpPr>
            <p:nvPr/>
          </p:nvSpPr>
          <p:spPr bwMode="auto">
            <a:xfrm>
              <a:off x="3985"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47">
              <a:extLst>
                <a:ext uri="{FF2B5EF4-FFF2-40B4-BE49-F238E27FC236}">
                  <a16:creationId xmlns:a16="http://schemas.microsoft.com/office/drawing/2014/main" id="{AE84EEAF-7C01-AF55-035C-9A7CDA999420}"/>
                </a:ext>
              </a:extLst>
            </p:cNvPr>
            <p:cNvSpPr>
              <a:spLocks noChangeShapeType="1"/>
            </p:cNvSpPr>
            <p:nvPr/>
          </p:nvSpPr>
          <p:spPr bwMode="auto">
            <a:xfrm>
              <a:off x="3745"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48">
              <a:extLst>
                <a:ext uri="{FF2B5EF4-FFF2-40B4-BE49-F238E27FC236}">
                  <a16:creationId xmlns:a16="http://schemas.microsoft.com/office/drawing/2014/main" id="{C84D899D-60DB-8DAA-8351-E351FBF63048}"/>
                </a:ext>
              </a:extLst>
            </p:cNvPr>
            <p:cNvSpPr>
              <a:spLocks noChangeShapeType="1"/>
            </p:cNvSpPr>
            <p:nvPr/>
          </p:nvSpPr>
          <p:spPr bwMode="auto">
            <a:xfrm>
              <a:off x="3745" y="315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49">
              <a:extLst>
                <a:ext uri="{FF2B5EF4-FFF2-40B4-BE49-F238E27FC236}">
                  <a16:creationId xmlns:a16="http://schemas.microsoft.com/office/drawing/2014/main" id="{0D314D0D-C9D7-5924-6385-38A395147D84}"/>
                </a:ext>
              </a:extLst>
            </p:cNvPr>
            <p:cNvSpPr>
              <a:spLocks noChangeShapeType="1"/>
            </p:cNvSpPr>
            <p:nvPr/>
          </p:nvSpPr>
          <p:spPr bwMode="auto">
            <a:xfrm flipV="1">
              <a:off x="3985" y="2870"/>
              <a:ext cx="432"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50">
              <a:extLst>
                <a:ext uri="{FF2B5EF4-FFF2-40B4-BE49-F238E27FC236}">
                  <a16:creationId xmlns:a16="http://schemas.microsoft.com/office/drawing/2014/main" id="{9683E040-E6AD-DCA9-293C-352B8E9DD16B}"/>
                </a:ext>
              </a:extLst>
            </p:cNvPr>
            <p:cNvSpPr>
              <a:spLocks noChangeShapeType="1"/>
            </p:cNvSpPr>
            <p:nvPr/>
          </p:nvSpPr>
          <p:spPr bwMode="auto">
            <a:xfrm flipH="1">
              <a:off x="4417"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51">
              <a:extLst>
                <a:ext uri="{FF2B5EF4-FFF2-40B4-BE49-F238E27FC236}">
                  <a16:creationId xmlns:a16="http://schemas.microsoft.com/office/drawing/2014/main" id="{A7DA2CBE-35F9-A52F-452B-8DFF81A19B5B}"/>
                </a:ext>
              </a:extLst>
            </p:cNvPr>
            <p:cNvSpPr>
              <a:spLocks noChangeShapeType="1"/>
            </p:cNvSpPr>
            <p:nvPr/>
          </p:nvSpPr>
          <p:spPr bwMode="auto">
            <a:xfrm flipH="1">
              <a:off x="4657" y="1766"/>
              <a:ext cx="672"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52">
              <a:extLst>
                <a:ext uri="{FF2B5EF4-FFF2-40B4-BE49-F238E27FC236}">
                  <a16:creationId xmlns:a16="http://schemas.microsoft.com/office/drawing/2014/main" id="{BE499C6C-7569-45AB-0F5E-36760D07F172}"/>
                </a:ext>
              </a:extLst>
            </p:cNvPr>
            <p:cNvSpPr>
              <a:spLocks noChangeShapeType="1"/>
            </p:cNvSpPr>
            <p:nvPr/>
          </p:nvSpPr>
          <p:spPr bwMode="auto">
            <a:xfrm>
              <a:off x="4417" y="219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53">
              <a:extLst>
                <a:ext uri="{FF2B5EF4-FFF2-40B4-BE49-F238E27FC236}">
                  <a16:creationId xmlns:a16="http://schemas.microsoft.com/office/drawing/2014/main" id="{07767739-F4F4-8126-3B7C-CD65EA03299E}"/>
                </a:ext>
              </a:extLst>
            </p:cNvPr>
            <p:cNvSpPr>
              <a:spLocks noChangeShapeType="1"/>
            </p:cNvSpPr>
            <p:nvPr/>
          </p:nvSpPr>
          <p:spPr bwMode="auto">
            <a:xfrm>
              <a:off x="5089" y="176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54">
              <a:extLst>
                <a:ext uri="{FF2B5EF4-FFF2-40B4-BE49-F238E27FC236}">
                  <a16:creationId xmlns:a16="http://schemas.microsoft.com/office/drawing/2014/main" id="{BE06BB0E-79D3-AD23-E063-1C6D2197765B}"/>
                </a:ext>
              </a:extLst>
            </p:cNvPr>
            <p:cNvSpPr>
              <a:spLocks noChangeShapeType="1"/>
            </p:cNvSpPr>
            <p:nvPr/>
          </p:nvSpPr>
          <p:spPr bwMode="auto">
            <a:xfrm>
              <a:off x="4657"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55">
              <a:extLst>
                <a:ext uri="{FF2B5EF4-FFF2-40B4-BE49-F238E27FC236}">
                  <a16:creationId xmlns:a16="http://schemas.microsoft.com/office/drawing/2014/main" id="{8B263C56-17C7-EFDE-0E2F-942E96F57880}"/>
                </a:ext>
              </a:extLst>
            </p:cNvPr>
            <p:cNvSpPr>
              <a:spLocks noChangeShapeType="1"/>
            </p:cNvSpPr>
            <p:nvPr/>
          </p:nvSpPr>
          <p:spPr bwMode="auto">
            <a:xfrm>
              <a:off x="4417" y="2198"/>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56">
              <a:extLst>
                <a:ext uri="{FF2B5EF4-FFF2-40B4-BE49-F238E27FC236}">
                  <a16:creationId xmlns:a16="http://schemas.microsoft.com/office/drawing/2014/main" id="{59CE0F92-D760-6581-5141-F669E9E542E7}"/>
                </a:ext>
              </a:extLst>
            </p:cNvPr>
            <p:cNvSpPr>
              <a:spLocks noChangeShapeType="1"/>
            </p:cNvSpPr>
            <p:nvPr/>
          </p:nvSpPr>
          <p:spPr bwMode="auto">
            <a:xfrm>
              <a:off x="4417" y="315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57">
              <a:extLst>
                <a:ext uri="{FF2B5EF4-FFF2-40B4-BE49-F238E27FC236}">
                  <a16:creationId xmlns:a16="http://schemas.microsoft.com/office/drawing/2014/main" id="{C9325F52-B100-00F4-E3D8-FD1EC94E9BB4}"/>
                </a:ext>
              </a:extLst>
            </p:cNvPr>
            <p:cNvSpPr>
              <a:spLocks noChangeShapeType="1"/>
            </p:cNvSpPr>
            <p:nvPr/>
          </p:nvSpPr>
          <p:spPr bwMode="auto">
            <a:xfrm flipV="1">
              <a:off x="4657" y="2678"/>
              <a:ext cx="67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Freeform 58">
              <a:extLst>
                <a:ext uri="{FF2B5EF4-FFF2-40B4-BE49-F238E27FC236}">
                  <a16:creationId xmlns:a16="http://schemas.microsoft.com/office/drawing/2014/main" id="{4E0059A5-8945-CC1F-13E7-B5A22F526AE9}"/>
                </a:ext>
              </a:extLst>
            </p:cNvPr>
            <p:cNvSpPr>
              <a:spLocks/>
            </p:cNvSpPr>
            <p:nvPr/>
          </p:nvSpPr>
          <p:spPr bwMode="auto">
            <a:xfrm>
              <a:off x="4657" y="1766"/>
              <a:ext cx="1" cy="288"/>
            </a:xfrm>
            <a:custGeom>
              <a:avLst/>
              <a:gdLst>
                <a:gd name="T0" fmla="*/ 0 w 1"/>
                <a:gd name="T1" fmla="*/ 0 h 288"/>
                <a:gd name="T2" fmla="*/ 0 w 1"/>
                <a:gd name="T3" fmla="*/ 288 h 288"/>
                <a:gd name="T4" fmla="*/ 0 60000 65536"/>
                <a:gd name="T5" fmla="*/ 0 60000 65536"/>
              </a:gdLst>
              <a:ahLst/>
              <a:cxnLst>
                <a:cxn ang="T4">
                  <a:pos x="T0" y="T1"/>
                </a:cxn>
                <a:cxn ang="T5">
                  <a:pos x="T2" y="T3"/>
                </a:cxn>
              </a:cxnLst>
              <a:rect l="0" t="0" r="r" b="b"/>
              <a:pathLst>
                <a:path w="1" h="288">
                  <a:moveTo>
                    <a:pt x="0" y="0"/>
                  </a:moveTo>
                  <a:cubicBezTo>
                    <a:pt x="0" y="124"/>
                    <a:pt x="0" y="248"/>
                    <a:pt x="0" y="2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Freeform 59">
              <a:extLst>
                <a:ext uri="{FF2B5EF4-FFF2-40B4-BE49-F238E27FC236}">
                  <a16:creationId xmlns:a16="http://schemas.microsoft.com/office/drawing/2014/main" id="{52B0532F-57DA-4FAC-FC2F-9BD5DC211F60}"/>
                </a:ext>
              </a:extLst>
            </p:cNvPr>
            <p:cNvSpPr>
              <a:spLocks/>
            </p:cNvSpPr>
            <p:nvPr/>
          </p:nvSpPr>
          <p:spPr bwMode="auto">
            <a:xfrm>
              <a:off x="5329" y="1766"/>
              <a:ext cx="1" cy="912"/>
            </a:xfrm>
            <a:custGeom>
              <a:avLst/>
              <a:gdLst>
                <a:gd name="T0" fmla="*/ 0 w 1"/>
                <a:gd name="T1" fmla="*/ 0 h 912"/>
                <a:gd name="T2" fmla="*/ 0 w 1"/>
                <a:gd name="T3" fmla="*/ 912 h 912"/>
                <a:gd name="T4" fmla="*/ 0 60000 65536"/>
                <a:gd name="T5" fmla="*/ 0 60000 65536"/>
              </a:gdLst>
              <a:ahLst/>
              <a:cxnLst>
                <a:cxn ang="T4">
                  <a:pos x="T0" y="T1"/>
                </a:cxn>
                <a:cxn ang="T5">
                  <a:pos x="T2" y="T3"/>
                </a:cxn>
              </a:cxnLst>
              <a:rect l="0" t="0" r="r" b="b"/>
              <a:pathLst>
                <a:path w="1" h="912">
                  <a:moveTo>
                    <a:pt x="0" y="0"/>
                  </a:moveTo>
                  <a:cubicBezTo>
                    <a:pt x="0" y="380"/>
                    <a:pt x="0" y="760"/>
                    <a:pt x="0" y="91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22" name="Object 60">
                  <a:extLst>
                    <a:ext uri="{FF2B5EF4-FFF2-40B4-BE49-F238E27FC236}">
                      <a16:creationId xmlns:a16="http://schemas.microsoft.com/office/drawing/2014/main" id="{ECD2F6F3-5E12-6743-770F-590FA83B7B18}"/>
                    </a:ext>
                  </a:extLst>
                </p:cNvPr>
                <p:cNvSpPr txBox="1"/>
                <p:nvPr/>
              </p:nvSpPr>
              <p:spPr bwMode="auto">
                <a:xfrm>
                  <a:off x="4150" y="1609"/>
                  <a:ext cx="207" cy="207"/>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𝐴</m:t>
                        </m:r>
                      </m:oMath>
                    </m:oMathPara>
                  </a14:m>
                  <a:endParaRPr lang="en-US"/>
                </a:p>
              </p:txBody>
            </p:sp>
          </mc:Choice>
          <mc:Fallback xmlns="">
            <p:sp>
              <p:nvSpPr>
                <p:cNvPr id="27" name="Object 60">
                  <a:extLst>
                    <a:ext uri="{FF2B5EF4-FFF2-40B4-BE49-F238E27FC236}">
                      <a16:creationId xmlns:a16="http://schemas.microsoft.com/office/drawing/2014/main" id="{0E272089-BF7D-45DC-A8DB-F72E7A0175BE}"/>
                    </a:ext>
                  </a:extLst>
                </p:cNvPr>
                <p:cNvSpPr txBox="1">
                  <a:spLocks noRot="1" noChangeAspect="1" noMove="1" noResize="1" noEditPoints="1" noAdjustHandles="1" noChangeArrowheads="1" noChangeShapeType="1" noTextEdit="1"/>
                </p:cNvSpPr>
                <p:nvPr/>
              </p:nvSpPr>
              <p:spPr bwMode="auto">
                <a:xfrm>
                  <a:off x="4150" y="1609"/>
                  <a:ext cx="207" cy="207"/>
                </a:xfrm>
                <a:prstGeom prst="rect">
                  <a:avLst/>
                </a:prstGeom>
                <a:blipFill>
                  <a:blip r:embed="rId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61">
                  <a:extLst>
                    <a:ext uri="{FF2B5EF4-FFF2-40B4-BE49-F238E27FC236}">
                      <a16:creationId xmlns:a16="http://schemas.microsoft.com/office/drawing/2014/main" id="{64016507-46FD-6BA2-4283-13C60A5B9359}"/>
                    </a:ext>
                  </a:extLst>
                </p:cNvPr>
                <p:cNvSpPr txBox="1"/>
                <p:nvPr/>
              </p:nvSpPr>
              <p:spPr bwMode="auto">
                <a:xfrm>
                  <a:off x="4801" y="1659"/>
                  <a:ext cx="203" cy="203"/>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𝐵</m:t>
                        </m:r>
                      </m:oMath>
                    </m:oMathPara>
                  </a14:m>
                  <a:endParaRPr lang="en-US"/>
                </a:p>
              </p:txBody>
            </p:sp>
          </mc:Choice>
          <mc:Fallback xmlns="">
            <p:sp>
              <p:nvSpPr>
                <p:cNvPr id="28" name="Object 61">
                  <a:extLst>
                    <a:ext uri="{FF2B5EF4-FFF2-40B4-BE49-F238E27FC236}">
                      <a16:creationId xmlns:a16="http://schemas.microsoft.com/office/drawing/2014/main" id="{2933F6F1-CCFE-4B46-A97C-9BB6A421B6FB}"/>
                    </a:ext>
                  </a:extLst>
                </p:cNvPr>
                <p:cNvSpPr txBox="1">
                  <a:spLocks noRot="1" noChangeAspect="1" noMove="1" noResize="1" noEditPoints="1" noAdjustHandles="1" noChangeArrowheads="1" noChangeShapeType="1" noTextEdit="1"/>
                </p:cNvSpPr>
                <p:nvPr/>
              </p:nvSpPr>
              <p:spPr bwMode="auto">
                <a:xfrm>
                  <a:off x="4801" y="1659"/>
                  <a:ext cx="203" cy="203"/>
                </a:xfrm>
                <a:prstGeom prst="rect">
                  <a:avLst/>
                </a:prstGeom>
                <a:blipFill>
                  <a:blip r:embed="rId6"/>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Object 62">
                  <a:extLst>
                    <a:ext uri="{FF2B5EF4-FFF2-40B4-BE49-F238E27FC236}">
                      <a16:creationId xmlns:a16="http://schemas.microsoft.com/office/drawing/2014/main" id="{0C828700-0ED2-066A-313C-F3D9E0ACBBD3}"/>
                    </a:ext>
                  </a:extLst>
                </p:cNvPr>
                <p:cNvSpPr txBox="1"/>
                <p:nvPr/>
              </p:nvSpPr>
              <p:spPr bwMode="auto">
                <a:xfrm>
                  <a:off x="3510" y="2054"/>
                  <a:ext cx="248" cy="28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29" name="Object 62">
                  <a:extLst>
                    <a:ext uri="{FF2B5EF4-FFF2-40B4-BE49-F238E27FC236}">
                      <a16:creationId xmlns:a16="http://schemas.microsoft.com/office/drawing/2014/main" id="{A69CFA08-F016-40EC-AE95-AF5B68337ED1}"/>
                    </a:ext>
                  </a:extLst>
                </p:cNvPr>
                <p:cNvSpPr txBox="1">
                  <a:spLocks noRot="1" noChangeAspect="1" noMove="1" noResize="1" noEditPoints="1" noAdjustHandles="1" noChangeArrowheads="1" noChangeShapeType="1" noTextEdit="1"/>
                </p:cNvSpPr>
                <p:nvPr/>
              </p:nvSpPr>
              <p:spPr bwMode="auto">
                <a:xfrm>
                  <a:off x="3510" y="2054"/>
                  <a:ext cx="248" cy="283"/>
                </a:xfrm>
                <a:prstGeom prst="rect">
                  <a:avLst/>
                </a:prstGeom>
                <a:blipFill>
                  <a:blip r:embed="rId7"/>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bject 63">
                  <a:extLst>
                    <a:ext uri="{FF2B5EF4-FFF2-40B4-BE49-F238E27FC236}">
                      <a16:creationId xmlns:a16="http://schemas.microsoft.com/office/drawing/2014/main" id="{07DF6F60-7563-20FC-D14C-361B77492006}"/>
                    </a:ext>
                  </a:extLst>
                </p:cNvPr>
                <p:cNvSpPr txBox="1"/>
                <p:nvPr/>
              </p:nvSpPr>
              <p:spPr bwMode="auto">
                <a:xfrm>
                  <a:off x="3982" y="2086"/>
                  <a:ext cx="230" cy="301"/>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oMath>
                    </m:oMathPara>
                  </a14:m>
                  <a:endParaRPr lang="en-US" dirty="0"/>
                </a:p>
              </p:txBody>
            </p:sp>
          </mc:Choice>
          <mc:Fallback xmlns="">
            <p:sp>
              <p:nvSpPr>
                <p:cNvPr id="30" name="Object 63">
                  <a:extLst>
                    <a:ext uri="{FF2B5EF4-FFF2-40B4-BE49-F238E27FC236}">
                      <a16:creationId xmlns:a16="http://schemas.microsoft.com/office/drawing/2014/main" id="{E13FB952-7EF6-4529-BAC7-F6E9B47DB0D2}"/>
                    </a:ext>
                  </a:extLst>
                </p:cNvPr>
                <p:cNvSpPr txBox="1">
                  <a:spLocks noRot="1" noChangeAspect="1" noMove="1" noResize="1" noEditPoints="1" noAdjustHandles="1" noChangeArrowheads="1" noChangeShapeType="1" noTextEdit="1"/>
                </p:cNvSpPr>
                <p:nvPr/>
              </p:nvSpPr>
              <p:spPr bwMode="auto">
                <a:xfrm>
                  <a:off x="3982" y="2086"/>
                  <a:ext cx="230" cy="301"/>
                </a:xfrm>
                <a:prstGeom prst="rect">
                  <a:avLst/>
                </a:prstGeom>
                <a:blipFill>
                  <a:blip r:embed="rId8"/>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64">
                  <a:extLst>
                    <a:ext uri="{FF2B5EF4-FFF2-40B4-BE49-F238E27FC236}">
                      <a16:creationId xmlns:a16="http://schemas.microsoft.com/office/drawing/2014/main" id="{76433C55-4AD8-711C-5D2A-7C51079368F0}"/>
                    </a:ext>
                  </a:extLst>
                </p:cNvPr>
                <p:cNvSpPr txBox="1"/>
                <p:nvPr/>
              </p:nvSpPr>
              <p:spPr bwMode="auto">
                <a:xfrm>
                  <a:off x="4252" y="2129"/>
                  <a:ext cx="280" cy="31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3</m:t>
                            </m:r>
                          </m:sub>
                        </m:sSub>
                      </m:oMath>
                    </m:oMathPara>
                  </a14:m>
                  <a:endParaRPr lang="en-US"/>
                </a:p>
              </p:txBody>
            </p:sp>
          </mc:Choice>
          <mc:Fallback xmlns="">
            <p:sp>
              <p:nvSpPr>
                <p:cNvPr id="31" name="Object 64">
                  <a:extLst>
                    <a:ext uri="{FF2B5EF4-FFF2-40B4-BE49-F238E27FC236}">
                      <a16:creationId xmlns:a16="http://schemas.microsoft.com/office/drawing/2014/main" id="{3AA216F9-A637-4C66-A48D-4BBED0055252}"/>
                    </a:ext>
                  </a:extLst>
                </p:cNvPr>
                <p:cNvSpPr txBox="1">
                  <a:spLocks noRot="1" noChangeAspect="1" noMove="1" noResize="1" noEditPoints="1" noAdjustHandles="1" noChangeArrowheads="1" noChangeShapeType="1" noTextEdit="1"/>
                </p:cNvSpPr>
                <p:nvPr/>
              </p:nvSpPr>
              <p:spPr bwMode="auto">
                <a:xfrm>
                  <a:off x="4252" y="2129"/>
                  <a:ext cx="280" cy="315"/>
                </a:xfrm>
                <a:prstGeom prst="rect">
                  <a:avLst/>
                </a:prstGeom>
                <a:blipFill>
                  <a:blip r:embed="rId9"/>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65">
                  <a:extLst>
                    <a:ext uri="{FF2B5EF4-FFF2-40B4-BE49-F238E27FC236}">
                      <a16:creationId xmlns:a16="http://schemas.microsoft.com/office/drawing/2014/main" id="{82DF30D6-88F0-26FB-CBE1-DF38A4695D22}"/>
                    </a:ext>
                  </a:extLst>
                </p:cNvPr>
                <p:cNvSpPr txBox="1"/>
                <p:nvPr/>
              </p:nvSpPr>
              <p:spPr bwMode="auto">
                <a:xfrm>
                  <a:off x="4647" y="2113"/>
                  <a:ext cx="235" cy="25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4.</m:t>
                            </m:r>
                          </m:sub>
                        </m:sSub>
                      </m:oMath>
                    </m:oMathPara>
                  </a14:m>
                  <a:endParaRPr lang="en-US"/>
                </a:p>
              </p:txBody>
            </p:sp>
          </mc:Choice>
          <mc:Fallback xmlns="">
            <p:sp>
              <p:nvSpPr>
                <p:cNvPr id="32" name="Object 65">
                  <a:extLst>
                    <a:ext uri="{FF2B5EF4-FFF2-40B4-BE49-F238E27FC236}">
                      <a16:creationId xmlns:a16="http://schemas.microsoft.com/office/drawing/2014/main" id="{3A6143E1-06E8-4268-87A5-6739E3EBFBD3}"/>
                    </a:ext>
                  </a:extLst>
                </p:cNvPr>
                <p:cNvSpPr txBox="1">
                  <a:spLocks noRot="1" noChangeAspect="1" noMove="1" noResize="1" noEditPoints="1" noAdjustHandles="1" noChangeArrowheads="1" noChangeShapeType="1" noTextEdit="1"/>
                </p:cNvSpPr>
                <p:nvPr/>
              </p:nvSpPr>
              <p:spPr bwMode="auto">
                <a:xfrm>
                  <a:off x="4647" y="2113"/>
                  <a:ext cx="235" cy="250"/>
                </a:xfrm>
                <a:prstGeom prst="rect">
                  <a:avLst/>
                </a:prstGeom>
                <a:blipFill>
                  <a:blip r:embed="rId10"/>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66">
                  <a:extLst>
                    <a:ext uri="{FF2B5EF4-FFF2-40B4-BE49-F238E27FC236}">
                      <a16:creationId xmlns:a16="http://schemas.microsoft.com/office/drawing/2014/main" id="{23682EA9-DF1D-B168-E090-B644EC71C6CF}"/>
                    </a:ext>
                  </a:extLst>
                </p:cNvPr>
                <p:cNvSpPr txBox="1"/>
                <p:nvPr/>
              </p:nvSpPr>
              <p:spPr bwMode="auto">
                <a:xfrm>
                  <a:off x="4609" y="2531"/>
                  <a:ext cx="235" cy="27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a:p>
              </p:txBody>
            </p:sp>
          </mc:Choice>
          <mc:Fallback xmlns="">
            <p:sp>
              <p:nvSpPr>
                <p:cNvPr id="33" name="Object 66">
                  <a:extLst>
                    <a:ext uri="{FF2B5EF4-FFF2-40B4-BE49-F238E27FC236}">
                      <a16:creationId xmlns:a16="http://schemas.microsoft.com/office/drawing/2014/main" id="{17BC7531-D18E-44FD-AC09-DC69BB54129F}"/>
                    </a:ext>
                  </a:extLst>
                </p:cNvPr>
                <p:cNvSpPr txBox="1">
                  <a:spLocks noRot="1" noChangeAspect="1" noMove="1" noResize="1" noEditPoints="1" noAdjustHandles="1" noChangeArrowheads="1" noChangeShapeType="1" noTextEdit="1"/>
                </p:cNvSpPr>
                <p:nvPr/>
              </p:nvSpPr>
              <p:spPr bwMode="auto">
                <a:xfrm>
                  <a:off x="4609" y="2531"/>
                  <a:ext cx="235" cy="278"/>
                </a:xfrm>
                <a:prstGeom prst="rect">
                  <a:avLst/>
                </a:prstGeom>
                <a:blipFill>
                  <a:blip r:embed="rId11"/>
                  <a:stretch>
                    <a:fillRect/>
                  </a:stretch>
                </a:blipFill>
                <a:ln>
                  <a:noFill/>
                </a:ln>
                <a:effectLst/>
                <a:extLst/>
              </p:spPr>
              <p:txBody>
                <a:bodyPr/>
                <a:lstStyle/>
                <a:p>
                  <a:r>
                    <a:rPr lang="en-US">
                      <a:noFill/>
                    </a:rPr>
                    <a:t> </a:t>
                  </a:r>
                </a:p>
              </p:txBody>
            </p:sp>
          </mc:Fallback>
        </mc:AlternateContent>
      </p:grpSp>
      <p:sp>
        <p:nvSpPr>
          <p:cNvPr id="31" name="Text Box 19">
            <a:hlinkClick r:id="rId2" action="ppaction://hlinksldjump"/>
            <a:extLst>
              <a:ext uri="{FF2B5EF4-FFF2-40B4-BE49-F238E27FC236}">
                <a16:creationId xmlns:a16="http://schemas.microsoft.com/office/drawing/2014/main" id="{FCA6E55F-5BBA-4A0B-8ED8-87C61D74BF22}"/>
              </a:ext>
            </a:extLst>
          </p:cNvPr>
          <p:cNvSpPr txBox="1">
            <a:spLocks noChangeArrowheads="1"/>
          </p:cNvSpPr>
          <p:nvPr/>
        </p:nvSpPr>
        <p:spPr bwMode="auto">
          <a:xfrm>
            <a:off x="373506" y="4713134"/>
            <a:ext cx="898621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dirty="0">
                <a:latin typeface="华文楷体" panose="02010600040101010101" pitchFamily="2" charset="-122"/>
                <a:ea typeface="华文楷体" panose="02010600040101010101" pitchFamily="2" charset="-122"/>
              </a:rPr>
              <a:t>边界条件：导体表面或导体与真空分界面的情况（电荷或电势）</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9" grpId="0"/>
      <p:bldP spid="3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3F8881A8-5443-4E43-9424-059B9C86D993}"/>
              </a:ext>
            </a:extLst>
          </p:cNvPr>
          <p:cNvSpPr txBox="1">
            <a:spLocks noChangeArrowheads="1"/>
          </p:cNvSpPr>
          <p:nvPr/>
        </p:nvSpPr>
        <p:spPr bwMode="auto">
          <a:xfrm>
            <a:off x="1459671" y="1080261"/>
            <a:ext cx="8141529"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latin typeface="华文楷体" panose="02010600040101010101" pitchFamily="2" charset="-122"/>
                <a:ea typeface="华文楷体" panose="02010600040101010101" pitchFamily="2" charset="-122"/>
              </a:rPr>
              <a:t>求</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点电荷一侧的场的分布</a:t>
            </a:r>
          </a:p>
          <a:p>
            <a:pPr algn="l" eaLnBrk="1" hangingPunct="1">
              <a:spcBef>
                <a:spcPct val="50000"/>
              </a:spcBef>
            </a:pPr>
            <a:r>
              <a:rPr lang="zh-CN" altLang="en-US" sz="2800" dirty="0">
                <a:latin typeface="华文楷体" panose="02010600040101010101" pitchFamily="2" charset="-122"/>
                <a:ea typeface="华文楷体" panose="02010600040101010101" pitchFamily="2" charset="-122"/>
              </a:rPr>
              <a:t>     </a:t>
            </a:r>
            <a:r>
              <a:rPr lang="en-US" altLang="zh-CN" sz="2800" dirty="0">
                <a:latin typeface="华文楷体" panose="02010600040101010101" pitchFamily="2" charset="-122"/>
                <a:ea typeface="华文楷体" panose="02010600040101010101" pitchFamily="2" charset="-122"/>
              </a:rPr>
              <a:t>2)</a:t>
            </a:r>
            <a:r>
              <a:rPr lang="zh-CN" altLang="en-US" sz="2800" dirty="0">
                <a:latin typeface="华文楷体" panose="02010600040101010101" pitchFamily="2" charset="-122"/>
                <a:ea typeface="华文楷体" panose="02010600040101010101" pitchFamily="2" charset="-122"/>
              </a:rPr>
              <a:t>导体表面的感应电荷面密度</a:t>
            </a:r>
          </a:p>
        </p:txBody>
      </p:sp>
      <p:sp>
        <p:nvSpPr>
          <p:cNvPr id="33798" name="Text Box 6">
            <a:extLst>
              <a:ext uri="{FF2B5EF4-FFF2-40B4-BE49-F238E27FC236}">
                <a16:creationId xmlns:a16="http://schemas.microsoft.com/office/drawing/2014/main" id="{4A17764D-8FD1-4C61-B78E-EFCA36063D81}"/>
              </a:ext>
            </a:extLst>
          </p:cNvPr>
          <p:cNvSpPr txBox="1">
            <a:spLocks noChangeArrowheads="1"/>
          </p:cNvSpPr>
          <p:nvPr/>
        </p:nvSpPr>
        <p:spPr bwMode="auto">
          <a:xfrm>
            <a:off x="1135270" y="239645"/>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latin typeface="华文楷体" panose="02010600040101010101" pitchFamily="2" charset="-122"/>
                <a:ea typeface="华文楷体" panose="02010600040101010101" pitchFamily="2" charset="-122"/>
              </a:rPr>
              <a:t>无限大接地导体平板附近有一点电荷</a:t>
            </a:r>
          </a:p>
        </p:txBody>
      </p:sp>
      <mc:AlternateContent xmlns:mc="http://schemas.openxmlformats.org/markup-compatibility/2006" xmlns:a14="http://schemas.microsoft.com/office/drawing/2010/main">
        <mc:Choice Requires="a14">
          <p:sp>
            <p:nvSpPr>
              <p:cNvPr id="33799" name="Object 7">
                <a:extLst>
                  <a:ext uri="{FF2B5EF4-FFF2-40B4-BE49-F238E27FC236}">
                    <a16:creationId xmlns:a16="http://schemas.microsoft.com/office/drawing/2014/main" id="{B89B2351-8C74-4684-A79E-AAF45471CE72}"/>
                  </a:ext>
                </a:extLst>
              </p:cNvPr>
              <p:cNvSpPr txBox="1"/>
              <p:nvPr/>
            </p:nvSpPr>
            <p:spPr bwMode="auto">
              <a:xfrm>
                <a:off x="6887040" y="162362"/>
                <a:ext cx="393700" cy="4572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𝑞</m:t>
                      </m:r>
                    </m:oMath>
                  </m:oMathPara>
                </a14:m>
                <a:endParaRPr lang="en-US" sz="2800" dirty="0"/>
              </a:p>
            </p:txBody>
          </p:sp>
        </mc:Choice>
        <mc:Fallback xmlns="">
          <p:sp>
            <p:nvSpPr>
              <p:cNvPr id="33799" name="Object 7">
                <a:extLst>
                  <a:ext uri="{FF2B5EF4-FFF2-40B4-BE49-F238E27FC236}">
                    <a16:creationId xmlns:a16="http://schemas.microsoft.com/office/drawing/2014/main" id="{B89B2351-8C74-4684-A79E-AAF45471CE72}"/>
                  </a:ext>
                </a:extLst>
              </p:cNvPr>
              <p:cNvSpPr txBox="1">
                <a:spLocks noRot="1" noChangeAspect="1" noMove="1" noResize="1" noEditPoints="1" noAdjustHandles="1" noChangeArrowheads="1" noChangeShapeType="1" noTextEdit="1"/>
              </p:cNvSpPr>
              <p:nvPr/>
            </p:nvSpPr>
            <p:spPr bwMode="auto">
              <a:xfrm>
                <a:off x="6887040" y="162362"/>
                <a:ext cx="393700" cy="457200"/>
              </a:xfrm>
              <a:prstGeom prst="rect">
                <a:avLst/>
              </a:prstGeom>
              <a:blipFill>
                <a:blip r:embed="rId2"/>
                <a:stretch>
                  <a:fillRect b="-1333"/>
                </a:stretch>
              </a:blipFill>
              <a:ln>
                <a:noFill/>
              </a:ln>
              <a:effectLst/>
            </p:spPr>
            <p:txBody>
              <a:bodyPr/>
              <a:lstStyle/>
              <a:p>
                <a:r>
                  <a:rPr lang="zh-CN" altLang="en-US">
                    <a:noFill/>
                  </a:rPr>
                  <a:t> </a:t>
                </a:r>
              </a:p>
            </p:txBody>
          </p:sp>
        </mc:Fallback>
      </mc:AlternateContent>
      <p:sp>
        <p:nvSpPr>
          <p:cNvPr id="33806" name="Text Box 14">
            <a:extLst>
              <a:ext uri="{FF2B5EF4-FFF2-40B4-BE49-F238E27FC236}">
                <a16:creationId xmlns:a16="http://schemas.microsoft.com/office/drawing/2014/main" id="{BF15E6D5-E00B-4843-8930-3FC0B54E558F}"/>
              </a:ext>
            </a:extLst>
          </p:cNvPr>
          <p:cNvSpPr txBox="1">
            <a:spLocks noChangeArrowheads="1"/>
          </p:cNvSpPr>
          <p:nvPr/>
        </p:nvSpPr>
        <p:spPr bwMode="auto">
          <a:xfrm>
            <a:off x="1545431" y="4534118"/>
            <a:ext cx="475138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latin typeface="华文楷体" panose="02010600040101010101" pitchFamily="2" charset="-122"/>
                <a:ea typeface="华文楷体" panose="02010600040101010101" pitchFamily="2" charset="-122"/>
              </a:rPr>
              <a:t>镜象电荷与原电荷产生的</a:t>
            </a:r>
          </a:p>
          <a:p>
            <a:pPr algn="l" eaLnBrk="1" hangingPunct="1">
              <a:spcBef>
                <a:spcPct val="50000"/>
              </a:spcBef>
            </a:pPr>
            <a:r>
              <a:rPr lang="zh-CN" altLang="en-US" sz="2800" dirty="0">
                <a:latin typeface="华文楷体" panose="02010600040101010101" pitchFamily="2" charset="-122"/>
                <a:ea typeface="华文楷体" panose="02010600040101010101" pitchFamily="2" charset="-122"/>
              </a:rPr>
              <a:t>合场满足同样的边界条件</a:t>
            </a:r>
          </a:p>
        </p:txBody>
      </p:sp>
      <p:grpSp>
        <p:nvGrpSpPr>
          <p:cNvPr id="5" name="组合 4">
            <a:extLst>
              <a:ext uri="{FF2B5EF4-FFF2-40B4-BE49-F238E27FC236}">
                <a16:creationId xmlns:a16="http://schemas.microsoft.com/office/drawing/2014/main" id="{5A2422D6-5212-B2EA-E97B-66F9CCFBE474}"/>
              </a:ext>
            </a:extLst>
          </p:cNvPr>
          <p:cNvGrpSpPr/>
          <p:nvPr/>
        </p:nvGrpSpPr>
        <p:grpSpPr>
          <a:xfrm>
            <a:off x="7161029" y="1421039"/>
            <a:ext cx="2827512" cy="1412872"/>
            <a:chOff x="7161029" y="1421039"/>
            <a:chExt cx="2827512" cy="1412872"/>
          </a:xfrm>
        </p:grpSpPr>
        <p:grpSp>
          <p:nvGrpSpPr>
            <p:cNvPr id="33807" name="Group 15">
              <a:extLst>
                <a:ext uri="{FF2B5EF4-FFF2-40B4-BE49-F238E27FC236}">
                  <a16:creationId xmlns:a16="http://schemas.microsoft.com/office/drawing/2014/main" id="{70303DDD-9E0F-40BD-8776-7A4E9A6072DA}"/>
                </a:ext>
              </a:extLst>
            </p:cNvPr>
            <p:cNvGrpSpPr>
              <a:grpSpLocks/>
            </p:cNvGrpSpPr>
            <p:nvPr/>
          </p:nvGrpSpPr>
          <p:grpSpPr bwMode="auto">
            <a:xfrm>
              <a:off x="8193882" y="1421039"/>
              <a:ext cx="1758950" cy="1412872"/>
              <a:chOff x="4172" y="397"/>
              <a:chExt cx="1108" cy="899"/>
            </a:xfrm>
          </p:grpSpPr>
          <p:grpSp>
            <p:nvGrpSpPr>
              <p:cNvPr id="25620" name="Group 17">
                <a:extLst>
                  <a:ext uri="{FF2B5EF4-FFF2-40B4-BE49-F238E27FC236}">
                    <a16:creationId xmlns:a16="http://schemas.microsoft.com/office/drawing/2014/main" id="{F07A70D0-416E-4A42-B7E6-4841C3095E4B}"/>
                  </a:ext>
                </a:extLst>
              </p:cNvPr>
              <p:cNvGrpSpPr>
                <a:grpSpLocks/>
              </p:cNvGrpSpPr>
              <p:nvPr/>
            </p:nvGrpSpPr>
            <p:grpSpPr bwMode="auto">
              <a:xfrm>
                <a:off x="5136" y="1104"/>
                <a:ext cx="144" cy="192"/>
                <a:chOff x="5136" y="1104"/>
                <a:chExt cx="144" cy="192"/>
              </a:xfrm>
            </p:grpSpPr>
            <p:sp>
              <p:nvSpPr>
                <p:cNvPr id="25625" name="Line 18">
                  <a:extLst>
                    <a:ext uri="{FF2B5EF4-FFF2-40B4-BE49-F238E27FC236}">
                      <a16:creationId xmlns:a16="http://schemas.microsoft.com/office/drawing/2014/main" id="{C6F1FB8B-52EB-4749-BE9F-80930D3B6AED}"/>
                    </a:ext>
                  </a:extLst>
                </p:cNvPr>
                <p:cNvSpPr>
                  <a:spLocks noChangeShapeType="1"/>
                </p:cNvSpPr>
                <p:nvPr/>
              </p:nvSpPr>
              <p:spPr bwMode="auto">
                <a:xfrm>
                  <a:off x="5184" y="110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p:sp>
              <p:nvSpPr>
                <p:cNvPr id="25626" name="Line 19">
                  <a:extLst>
                    <a:ext uri="{FF2B5EF4-FFF2-40B4-BE49-F238E27FC236}">
                      <a16:creationId xmlns:a16="http://schemas.microsoft.com/office/drawing/2014/main" id="{F7DB81F2-24D9-45D1-B356-3902786E64D3}"/>
                    </a:ext>
                  </a:extLst>
                </p:cNvPr>
                <p:cNvSpPr>
                  <a:spLocks noChangeShapeType="1"/>
                </p:cNvSpPr>
                <p:nvPr/>
              </p:nvSpPr>
              <p:spPr bwMode="auto">
                <a:xfrm>
                  <a:off x="5136" y="1200"/>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p:sp>
              <p:nvSpPr>
                <p:cNvPr id="25627" name="Line 20">
                  <a:extLst>
                    <a:ext uri="{FF2B5EF4-FFF2-40B4-BE49-F238E27FC236}">
                      <a16:creationId xmlns:a16="http://schemas.microsoft.com/office/drawing/2014/main" id="{BDDE78CF-4764-4474-BF0B-BD1799741F80}"/>
                    </a:ext>
                  </a:extLst>
                </p:cNvPr>
                <p:cNvSpPr>
                  <a:spLocks noChangeShapeType="1"/>
                </p:cNvSpPr>
                <p:nvPr/>
              </p:nvSpPr>
              <p:spPr bwMode="auto">
                <a:xfrm>
                  <a:off x="5184" y="124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p:sp>
              <p:nvSpPr>
                <p:cNvPr id="25628" name="Line 21">
                  <a:extLst>
                    <a:ext uri="{FF2B5EF4-FFF2-40B4-BE49-F238E27FC236}">
                      <a16:creationId xmlns:a16="http://schemas.microsoft.com/office/drawing/2014/main" id="{232FBF2D-728E-4D83-BA24-B694FB280EE1}"/>
                    </a:ext>
                  </a:extLst>
                </p:cNvPr>
                <p:cNvSpPr>
                  <a:spLocks noChangeShapeType="1"/>
                </p:cNvSpPr>
                <p:nvPr/>
              </p:nvSpPr>
              <p:spPr bwMode="auto">
                <a:xfrm>
                  <a:off x="5232" y="1296"/>
                  <a:ext cx="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p:grpSp>
          <p:sp>
            <p:nvSpPr>
              <p:cNvPr id="25621" name="Line 22">
                <a:extLst>
                  <a:ext uri="{FF2B5EF4-FFF2-40B4-BE49-F238E27FC236}">
                    <a16:creationId xmlns:a16="http://schemas.microsoft.com/office/drawing/2014/main" id="{94FEE577-8FE2-4324-93B8-67A458A5FD1D}"/>
                  </a:ext>
                </a:extLst>
              </p:cNvPr>
              <p:cNvSpPr>
                <a:spLocks noChangeShapeType="1"/>
              </p:cNvSpPr>
              <p:nvPr/>
            </p:nvSpPr>
            <p:spPr bwMode="auto">
              <a:xfrm>
                <a:off x="4557" y="397"/>
                <a:ext cx="0" cy="64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25622" name="Object 23">
                    <a:extLst>
                      <a:ext uri="{FF2B5EF4-FFF2-40B4-BE49-F238E27FC236}">
                        <a16:creationId xmlns:a16="http://schemas.microsoft.com/office/drawing/2014/main" id="{5974E4CB-CFFF-404B-9C17-327FAC515E22}"/>
                      </a:ext>
                    </a:extLst>
                  </p:cNvPr>
                  <p:cNvSpPr txBox="1"/>
                  <p:nvPr/>
                </p:nvSpPr>
                <p:spPr bwMode="auto">
                  <a:xfrm>
                    <a:off x="4560" y="624"/>
                    <a:ext cx="288" cy="26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𝑞</m:t>
                          </m:r>
                        </m:oMath>
                      </m:oMathPara>
                    </a14:m>
                    <a:endParaRPr lang="en-US" sz="2800" dirty="0"/>
                  </a:p>
                </p:txBody>
              </p:sp>
            </mc:Choice>
            <mc:Fallback xmlns="">
              <p:sp>
                <p:nvSpPr>
                  <p:cNvPr id="25622" name="Object 23">
                    <a:extLst>
                      <a:ext uri="{FF2B5EF4-FFF2-40B4-BE49-F238E27FC236}">
                        <a16:creationId xmlns:a16="http://schemas.microsoft.com/office/drawing/2014/main" id="{5974E4CB-CFFF-404B-9C17-327FAC515E22}"/>
                      </a:ext>
                    </a:extLst>
                  </p:cNvPr>
                  <p:cNvSpPr txBox="1">
                    <a:spLocks noRot="1" noChangeAspect="1" noMove="1" noResize="1" noEditPoints="1" noAdjustHandles="1" noChangeArrowheads="1" noChangeShapeType="1" noTextEdit="1"/>
                  </p:cNvSpPr>
                  <p:nvPr/>
                </p:nvSpPr>
                <p:spPr bwMode="auto">
                  <a:xfrm>
                    <a:off x="4560" y="624"/>
                    <a:ext cx="288" cy="268"/>
                  </a:xfrm>
                  <a:prstGeom prst="rect">
                    <a:avLst/>
                  </a:prstGeom>
                  <a:blipFill>
                    <a:blip r:embed="rId3"/>
                    <a:stretch>
                      <a:fillRect b="-1014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23" name="Object 24">
                    <a:extLst>
                      <a:ext uri="{FF2B5EF4-FFF2-40B4-BE49-F238E27FC236}">
                        <a16:creationId xmlns:a16="http://schemas.microsoft.com/office/drawing/2014/main" id="{9174E15A-1A8F-4CC4-8B85-8BCF0D8963D1}"/>
                      </a:ext>
                    </a:extLst>
                  </p:cNvPr>
                  <p:cNvSpPr txBox="1"/>
                  <p:nvPr/>
                </p:nvSpPr>
                <p:spPr bwMode="auto">
                  <a:xfrm>
                    <a:off x="4172" y="768"/>
                    <a:ext cx="216" cy="24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𝑎</m:t>
                          </m:r>
                        </m:oMath>
                      </m:oMathPara>
                    </a14:m>
                    <a:endParaRPr lang="en-US" sz="2800" dirty="0"/>
                  </a:p>
                </p:txBody>
              </p:sp>
            </mc:Choice>
            <mc:Fallback xmlns="">
              <p:sp>
                <p:nvSpPr>
                  <p:cNvPr id="25623" name="Object 24">
                    <a:extLst>
                      <a:ext uri="{FF2B5EF4-FFF2-40B4-BE49-F238E27FC236}">
                        <a16:creationId xmlns:a16="http://schemas.microsoft.com/office/drawing/2014/main" id="{9174E15A-1A8F-4CC4-8B85-8BCF0D8963D1}"/>
                      </a:ext>
                    </a:extLst>
                  </p:cNvPr>
                  <p:cNvSpPr txBox="1">
                    <a:spLocks noRot="1" noChangeAspect="1" noMove="1" noResize="1" noEditPoints="1" noAdjustHandles="1" noChangeArrowheads="1" noChangeShapeType="1" noTextEdit="1"/>
                  </p:cNvSpPr>
                  <p:nvPr/>
                </p:nvSpPr>
                <p:spPr bwMode="auto">
                  <a:xfrm>
                    <a:off x="4172" y="768"/>
                    <a:ext cx="216" cy="240"/>
                  </a:xfrm>
                  <a:prstGeom prst="rect">
                    <a:avLst/>
                  </a:prstGeom>
                  <a:blipFill>
                    <a:blip r:embed="rId4"/>
                    <a:stretch>
                      <a:fillRect b="-3226"/>
                    </a:stretch>
                  </a:blipFill>
                  <a:ln>
                    <a:noFill/>
                  </a:ln>
                  <a:effectLst/>
                </p:spPr>
                <p:txBody>
                  <a:bodyPr/>
                  <a:lstStyle/>
                  <a:p>
                    <a:r>
                      <a:rPr lang="zh-CN" altLang="en-US">
                        <a:noFill/>
                      </a:rPr>
                      <a:t> </a:t>
                    </a:r>
                  </a:p>
                </p:txBody>
              </p:sp>
            </mc:Fallback>
          </mc:AlternateContent>
          <p:sp>
            <p:nvSpPr>
              <p:cNvPr id="25624" name="Oval 25">
                <a:extLst>
                  <a:ext uri="{FF2B5EF4-FFF2-40B4-BE49-F238E27FC236}">
                    <a16:creationId xmlns:a16="http://schemas.microsoft.com/office/drawing/2014/main" id="{2B4318A1-E83C-4D38-9E94-C10B8B36A2AC}"/>
                  </a:ext>
                </a:extLst>
              </p:cNvPr>
              <p:cNvSpPr>
                <a:spLocks noChangeArrowheads="1"/>
              </p:cNvSpPr>
              <p:nvPr/>
            </p:nvSpPr>
            <p:spPr bwMode="auto">
              <a:xfrm>
                <a:off x="4536" y="44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latin typeface="华文楷体" panose="02010600040101010101" pitchFamily="2" charset="-122"/>
                  <a:ea typeface="华文楷体" panose="02010600040101010101" pitchFamily="2" charset="-122"/>
                </a:endParaRPr>
              </a:p>
            </p:txBody>
          </p:sp>
        </p:grpSp>
        <p:sp>
          <p:nvSpPr>
            <p:cNvPr id="3" name="文本框 2">
              <a:extLst>
                <a:ext uri="{FF2B5EF4-FFF2-40B4-BE49-F238E27FC236}">
                  <a16:creationId xmlns:a16="http://schemas.microsoft.com/office/drawing/2014/main" id="{50E5E8F0-D4EB-4EAE-B862-FF33269936D8}"/>
                </a:ext>
              </a:extLst>
            </p:cNvPr>
            <p:cNvSpPr txBox="1"/>
            <p:nvPr/>
          </p:nvSpPr>
          <p:spPr>
            <a:xfrm>
              <a:off x="7161029" y="2416968"/>
              <a:ext cx="2827512" cy="161132"/>
            </a:xfrm>
            <a:prstGeom prst="rect">
              <a:avLst/>
            </a:prstGeom>
            <a:solidFill>
              <a:srgbClr val="92D050"/>
            </a:solidFill>
            <a:ln w="12700">
              <a:solidFill>
                <a:srgbClr val="92D050"/>
              </a:solidFill>
            </a:ln>
          </p:spPr>
          <p:txBody>
            <a:bodyPr vert="eaVert" wrap="square" rtlCol="0">
              <a:spAutoFit/>
            </a:bodyPr>
            <a:lstStyle/>
            <a:p>
              <a:endParaRPr lang="en-US" sz="2800" dirty="0"/>
            </a:p>
          </p:txBody>
        </p:sp>
      </p:grpSp>
      <p:grpSp>
        <p:nvGrpSpPr>
          <p:cNvPr id="6" name="组合 5">
            <a:extLst>
              <a:ext uri="{FF2B5EF4-FFF2-40B4-BE49-F238E27FC236}">
                <a16:creationId xmlns:a16="http://schemas.microsoft.com/office/drawing/2014/main" id="{B862A569-652F-A669-4764-39D7DB6001D5}"/>
              </a:ext>
            </a:extLst>
          </p:cNvPr>
          <p:cNvGrpSpPr/>
          <p:nvPr/>
        </p:nvGrpSpPr>
        <p:grpSpPr>
          <a:xfrm>
            <a:off x="7239000" y="3930650"/>
            <a:ext cx="3481389" cy="2370142"/>
            <a:chOff x="7239000" y="3930650"/>
            <a:chExt cx="3481389" cy="2370142"/>
          </a:xfrm>
        </p:grpSpPr>
        <p:grpSp>
          <p:nvGrpSpPr>
            <p:cNvPr id="33800" name="Group 8">
              <a:extLst>
                <a:ext uri="{FF2B5EF4-FFF2-40B4-BE49-F238E27FC236}">
                  <a16:creationId xmlns:a16="http://schemas.microsoft.com/office/drawing/2014/main" id="{0409F950-8509-4DB8-8D8F-7A2C146715F3}"/>
                </a:ext>
              </a:extLst>
            </p:cNvPr>
            <p:cNvGrpSpPr>
              <a:grpSpLocks/>
            </p:cNvGrpSpPr>
            <p:nvPr/>
          </p:nvGrpSpPr>
          <p:grpSpPr bwMode="auto">
            <a:xfrm>
              <a:off x="7848601" y="5683254"/>
              <a:ext cx="2871788" cy="617538"/>
              <a:chOff x="3984" y="2928"/>
              <a:chExt cx="1809" cy="389"/>
            </a:xfrm>
          </p:grpSpPr>
          <p:sp>
            <p:nvSpPr>
              <p:cNvPr id="25629" name="Oval 9">
                <a:extLst>
                  <a:ext uri="{FF2B5EF4-FFF2-40B4-BE49-F238E27FC236}">
                    <a16:creationId xmlns:a16="http://schemas.microsoft.com/office/drawing/2014/main" id="{B1346F3B-65F8-47AE-BFA6-B4BE3E25D408}"/>
                  </a:ext>
                </a:extLst>
              </p:cNvPr>
              <p:cNvSpPr>
                <a:spLocks noChangeArrowheads="1"/>
              </p:cNvSpPr>
              <p:nvPr/>
            </p:nvSpPr>
            <p:spPr bwMode="auto">
              <a:xfrm>
                <a:off x="4464" y="31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latin typeface="华文楷体" panose="02010600040101010101" pitchFamily="2" charset="-122"/>
                  <a:ea typeface="华文楷体" panose="02010600040101010101" pitchFamily="2" charset="-122"/>
                </a:endParaRPr>
              </a:p>
            </p:txBody>
          </p:sp>
          <p:sp>
            <p:nvSpPr>
              <p:cNvPr id="25630" name="Text Box 10">
                <a:extLst>
                  <a:ext uri="{FF2B5EF4-FFF2-40B4-BE49-F238E27FC236}">
                    <a16:creationId xmlns:a16="http://schemas.microsoft.com/office/drawing/2014/main" id="{46C1351A-5484-4C9A-9BDA-8C363214D8AE}"/>
                  </a:ext>
                </a:extLst>
              </p:cNvPr>
              <p:cNvSpPr txBox="1">
                <a:spLocks noChangeArrowheads="1"/>
              </p:cNvSpPr>
              <p:nvPr/>
            </p:nvSpPr>
            <p:spPr bwMode="auto">
              <a:xfrm>
                <a:off x="4608" y="2928"/>
                <a:ext cx="11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solidFill>
                      <a:srgbClr val="FF0000"/>
                    </a:solidFill>
                    <a:latin typeface="华文楷体" panose="02010600040101010101" pitchFamily="2" charset="-122"/>
                    <a:ea typeface="华文楷体" panose="02010600040101010101" pitchFamily="2" charset="-122"/>
                  </a:rPr>
                  <a:t>镜像电荷</a:t>
                </a:r>
              </a:p>
            </p:txBody>
          </p:sp>
          <mc:AlternateContent xmlns:mc="http://schemas.openxmlformats.org/markup-compatibility/2006" xmlns:a14="http://schemas.microsoft.com/office/drawing/2010/main">
            <mc:Choice Requires="a14">
              <p:sp>
                <p:nvSpPr>
                  <p:cNvPr id="25631" name="Object 11">
                    <a:extLst>
                      <a:ext uri="{FF2B5EF4-FFF2-40B4-BE49-F238E27FC236}">
                        <a16:creationId xmlns:a16="http://schemas.microsoft.com/office/drawing/2014/main" id="{EE031229-9424-47BE-A4DF-DF052344A558}"/>
                      </a:ext>
                    </a:extLst>
                  </p:cNvPr>
                  <p:cNvSpPr txBox="1"/>
                  <p:nvPr/>
                </p:nvSpPr>
                <p:spPr bwMode="auto">
                  <a:xfrm>
                    <a:off x="3984" y="3051"/>
                    <a:ext cx="435" cy="266"/>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𝑞</m:t>
                          </m:r>
                        </m:oMath>
                      </m:oMathPara>
                    </a14:m>
                    <a:endParaRPr lang="en-US" sz="2800"/>
                  </a:p>
                </p:txBody>
              </p:sp>
            </mc:Choice>
            <mc:Fallback xmlns="">
              <p:sp>
                <p:nvSpPr>
                  <p:cNvPr id="25631" name="Object 11">
                    <a:extLst>
                      <a:ext uri="{FF2B5EF4-FFF2-40B4-BE49-F238E27FC236}">
                        <a16:creationId xmlns:a16="http://schemas.microsoft.com/office/drawing/2014/main" id="{EE031229-9424-47BE-A4DF-DF052344A558}"/>
                      </a:ext>
                    </a:extLst>
                  </p:cNvPr>
                  <p:cNvSpPr txBox="1">
                    <a:spLocks noRot="1" noChangeAspect="1" noMove="1" noResize="1" noEditPoints="1" noAdjustHandles="1" noChangeArrowheads="1" noChangeShapeType="1" noTextEdit="1"/>
                  </p:cNvSpPr>
                  <p:nvPr/>
                </p:nvSpPr>
                <p:spPr bwMode="auto">
                  <a:xfrm>
                    <a:off x="3984" y="3051"/>
                    <a:ext cx="435" cy="266"/>
                  </a:xfrm>
                  <a:prstGeom prst="rect">
                    <a:avLst/>
                  </a:prstGeom>
                  <a:blipFill>
                    <a:blip r:embed="rId5"/>
                    <a:stretch>
                      <a:fillRect b="-10000"/>
                    </a:stretch>
                  </a:blipFill>
                  <a:ln>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3805" name="Object 13">
                  <a:extLst>
                    <a:ext uri="{FF2B5EF4-FFF2-40B4-BE49-F238E27FC236}">
                      <a16:creationId xmlns:a16="http://schemas.microsoft.com/office/drawing/2014/main" id="{7BCEA38D-1449-4406-899C-04B2A39236CE}"/>
                    </a:ext>
                  </a:extLst>
                </p:cNvPr>
                <p:cNvSpPr txBox="1"/>
                <p:nvPr/>
              </p:nvSpPr>
              <p:spPr bwMode="auto">
                <a:xfrm>
                  <a:off x="8153401" y="5226050"/>
                  <a:ext cx="404813" cy="45085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𝑎</m:t>
                        </m:r>
                      </m:oMath>
                    </m:oMathPara>
                  </a14:m>
                  <a:endParaRPr lang="en-US" sz="2800" dirty="0"/>
                </a:p>
              </p:txBody>
            </p:sp>
          </mc:Choice>
          <mc:Fallback xmlns="">
            <p:sp>
              <p:nvSpPr>
                <p:cNvPr id="33805" name="Object 13">
                  <a:extLst>
                    <a:ext uri="{FF2B5EF4-FFF2-40B4-BE49-F238E27FC236}">
                      <a16:creationId xmlns:a16="http://schemas.microsoft.com/office/drawing/2014/main" id="{7BCEA38D-1449-4406-899C-04B2A39236CE}"/>
                    </a:ext>
                  </a:extLst>
                </p:cNvPr>
                <p:cNvSpPr txBox="1">
                  <a:spLocks noRot="1" noChangeAspect="1" noMove="1" noResize="1" noEditPoints="1" noAdjustHandles="1" noChangeArrowheads="1" noChangeShapeType="1" noTextEdit="1"/>
                </p:cNvSpPr>
                <p:nvPr/>
              </p:nvSpPr>
              <p:spPr bwMode="auto">
                <a:xfrm>
                  <a:off x="8153401" y="5226050"/>
                  <a:ext cx="404813" cy="450850"/>
                </a:xfrm>
                <a:prstGeom prst="rect">
                  <a:avLst/>
                </a:prstGeom>
                <a:blipFill>
                  <a:blip r:embed="rId6"/>
                  <a:stretch>
                    <a:fillRect/>
                  </a:stretch>
                </a:blipFill>
                <a:ln>
                  <a:noFill/>
                </a:ln>
                <a:effectLst/>
              </p:spPr>
              <p:txBody>
                <a:bodyPr/>
                <a:lstStyle/>
                <a:p>
                  <a:r>
                    <a:rPr lang="zh-CN" altLang="en-US">
                      <a:noFill/>
                    </a:rPr>
                    <a:t> </a:t>
                  </a:r>
                </a:p>
              </p:txBody>
            </p:sp>
          </mc:Fallback>
        </mc:AlternateContent>
        <p:grpSp>
          <p:nvGrpSpPr>
            <p:cNvPr id="33819" name="Group 27">
              <a:extLst>
                <a:ext uri="{FF2B5EF4-FFF2-40B4-BE49-F238E27FC236}">
                  <a16:creationId xmlns:a16="http://schemas.microsoft.com/office/drawing/2014/main" id="{B896F22F-40FF-456F-AB22-B3C4C54C5F84}"/>
                </a:ext>
              </a:extLst>
            </p:cNvPr>
            <p:cNvGrpSpPr>
              <a:grpSpLocks/>
            </p:cNvGrpSpPr>
            <p:nvPr/>
          </p:nvGrpSpPr>
          <p:grpSpPr bwMode="auto">
            <a:xfrm>
              <a:off x="7239000" y="3930650"/>
              <a:ext cx="3200400" cy="1995488"/>
              <a:chOff x="3600" y="1920"/>
              <a:chExt cx="2016" cy="1257"/>
            </a:xfrm>
          </p:grpSpPr>
          <p:sp>
            <p:nvSpPr>
              <p:cNvPr id="25613" name="Line 28">
                <a:extLst>
                  <a:ext uri="{FF2B5EF4-FFF2-40B4-BE49-F238E27FC236}">
                    <a16:creationId xmlns:a16="http://schemas.microsoft.com/office/drawing/2014/main" id="{391243A8-5507-4A8C-AEAD-5C7B8E019ED8}"/>
                  </a:ext>
                </a:extLst>
              </p:cNvPr>
              <p:cNvSpPr>
                <a:spLocks noChangeShapeType="1"/>
              </p:cNvSpPr>
              <p:nvPr/>
            </p:nvSpPr>
            <p:spPr bwMode="auto">
              <a:xfrm>
                <a:off x="4512" y="2160"/>
                <a:ext cx="0" cy="1017"/>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p:sp>
            <p:nvSpPr>
              <p:cNvPr id="25614" name="Line 29">
                <a:extLst>
                  <a:ext uri="{FF2B5EF4-FFF2-40B4-BE49-F238E27FC236}">
                    <a16:creationId xmlns:a16="http://schemas.microsoft.com/office/drawing/2014/main" id="{06DE5A38-1558-4633-BF63-7EAFBBFDE7C6}"/>
                  </a:ext>
                </a:extLst>
              </p:cNvPr>
              <p:cNvSpPr>
                <a:spLocks noChangeShapeType="1"/>
              </p:cNvSpPr>
              <p:nvPr/>
            </p:nvSpPr>
            <p:spPr bwMode="auto">
              <a:xfrm>
                <a:off x="3600" y="2716"/>
                <a:ext cx="2016"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华文楷体" panose="02010600040101010101" pitchFamily="2" charset="-122"/>
                  <a:ea typeface="华文楷体" panose="02010600040101010101" pitchFamily="2" charset="-122"/>
                </a:endParaRPr>
              </a:p>
            </p:txBody>
          </p:sp>
          <p:sp>
            <p:nvSpPr>
              <p:cNvPr id="25615" name="Oval 30">
                <a:extLst>
                  <a:ext uri="{FF2B5EF4-FFF2-40B4-BE49-F238E27FC236}">
                    <a16:creationId xmlns:a16="http://schemas.microsoft.com/office/drawing/2014/main" id="{FFC8B565-335D-41B5-860D-5D1CA69BD06D}"/>
                  </a:ext>
                </a:extLst>
              </p:cNvPr>
              <p:cNvSpPr>
                <a:spLocks noChangeArrowheads="1"/>
              </p:cNvSpPr>
              <p:nvPr/>
            </p:nvSpPr>
            <p:spPr bwMode="auto">
              <a:xfrm>
                <a:off x="4464" y="214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latin typeface="华文楷体" panose="02010600040101010101" pitchFamily="2" charset="-122"/>
                  <a:ea typeface="华文楷体" panose="02010600040101010101" pitchFamily="2" charset="-122"/>
                </a:endParaRPr>
              </a:p>
            </p:txBody>
          </p:sp>
          <p:sp>
            <p:nvSpPr>
              <p:cNvPr id="25616" name="Text Box 31">
                <a:extLst>
                  <a:ext uri="{FF2B5EF4-FFF2-40B4-BE49-F238E27FC236}">
                    <a16:creationId xmlns:a16="http://schemas.microsoft.com/office/drawing/2014/main" id="{CEF8B283-A975-4573-BDBB-B03A7DF11D5F}"/>
                  </a:ext>
                </a:extLst>
              </p:cNvPr>
              <p:cNvSpPr txBox="1">
                <a:spLocks noChangeArrowheads="1"/>
              </p:cNvSpPr>
              <p:nvPr/>
            </p:nvSpPr>
            <p:spPr bwMode="auto">
              <a:xfrm>
                <a:off x="4656" y="1920"/>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solidFill>
                      <a:srgbClr val="FF0000"/>
                    </a:solidFill>
                    <a:latin typeface="华文楷体" panose="02010600040101010101" pitchFamily="2" charset="-122"/>
                    <a:ea typeface="华文楷体" panose="02010600040101010101" pitchFamily="2" charset="-122"/>
                  </a:rPr>
                  <a:t>原电荷</a:t>
                </a:r>
              </a:p>
            </p:txBody>
          </p:sp>
          <mc:AlternateContent xmlns:mc="http://schemas.openxmlformats.org/markup-compatibility/2006" xmlns:a14="http://schemas.microsoft.com/office/drawing/2010/main">
            <mc:Choice Requires="a14">
              <p:sp>
                <p:nvSpPr>
                  <p:cNvPr id="25617" name="Object 32">
                    <a:extLst>
                      <a:ext uri="{FF2B5EF4-FFF2-40B4-BE49-F238E27FC236}">
                        <a16:creationId xmlns:a16="http://schemas.microsoft.com/office/drawing/2014/main" id="{087653D0-66D8-4C46-B1D7-533AC22AB1DA}"/>
                      </a:ext>
                    </a:extLst>
                  </p:cNvPr>
                  <p:cNvSpPr txBox="1"/>
                  <p:nvPr/>
                </p:nvSpPr>
                <p:spPr bwMode="auto">
                  <a:xfrm>
                    <a:off x="4512" y="1920"/>
                    <a:ext cx="213" cy="26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𝑞</m:t>
                          </m:r>
                        </m:oMath>
                      </m:oMathPara>
                    </a14:m>
                    <a:endParaRPr lang="en-US" sz="2800"/>
                  </a:p>
                </p:txBody>
              </p:sp>
            </mc:Choice>
            <mc:Fallback xmlns="">
              <p:sp>
                <p:nvSpPr>
                  <p:cNvPr id="25617" name="Object 32">
                    <a:extLst>
                      <a:ext uri="{FF2B5EF4-FFF2-40B4-BE49-F238E27FC236}">
                        <a16:creationId xmlns:a16="http://schemas.microsoft.com/office/drawing/2014/main" id="{087653D0-66D8-4C46-B1D7-533AC22AB1DA}"/>
                      </a:ext>
                    </a:extLst>
                  </p:cNvPr>
                  <p:cNvSpPr txBox="1">
                    <a:spLocks noRot="1" noChangeAspect="1" noMove="1" noResize="1" noEditPoints="1" noAdjustHandles="1" noChangeArrowheads="1" noChangeShapeType="1" noTextEdit="1"/>
                  </p:cNvSpPr>
                  <p:nvPr/>
                </p:nvSpPr>
                <p:spPr bwMode="auto">
                  <a:xfrm>
                    <a:off x="4512" y="1920"/>
                    <a:ext cx="213" cy="268"/>
                  </a:xfrm>
                  <a:prstGeom prst="rect">
                    <a:avLst/>
                  </a:prstGeom>
                  <a:blipFill>
                    <a:blip r:embed="rId7"/>
                    <a:stretch>
                      <a:fillRect b="-857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8" name="Object 33">
                    <a:extLst>
                      <a:ext uri="{FF2B5EF4-FFF2-40B4-BE49-F238E27FC236}">
                        <a16:creationId xmlns:a16="http://schemas.microsoft.com/office/drawing/2014/main" id="{F86E6831-F1A5-4011-B354-52AFF4C6C95A}"/>
                      </a:ext>
                    </a:extLst>
                  </p:cNvPr>
                  <p:cNvSpPr txBox="1"/>
                  <p:nvPr/>
                </p:nvSpPr>
                <p:spPr bwMode="auto">
                  <a:xfrm>
                    <a:off x="4176" y="2256"/>
                    <a:ext cx="255" cy="284"/>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𝑎</m:t>
                          </m:r>
                        </m:oMath>
                      </m:oMathPara>
                    </a14:m>
                    <a:endParaRPr lang="en-US" sz="2800" dirty="0"/>
                  </a:p>
                </p:txBody>
              </p:sp>
            </mc:Choice>
            <mc:Fallback xmlns="">
              <p:sp>
                <p:nvSpPr>
                  <p:cNvPr id="25618" name="Object 33">
                    <a:extLst>
                      <a:ext uri="{FF2B5EF4-FFF2-40B4-BE49-F238E27FC236}">
                        <a16:creationId xmlns:a16="http://schemas.microsoft.com/office/drawing/2014/main" id="{F86E6831-F1A5-4011-B354-52AFF4C6C95A}"/>
                      </a:ext>
                    </a:extLst>
                  </p:cNvPr>
                  <p:cNvSpPr txBox="1">
                    <a:spLocks noRot="1" noChangeAspect="1" noMove="1" noResize="1" noEditPoints="1" noAdjustHandles="1" noChangeArrowheads="1" noChangeShapeType="1" noTextEdit="1"/>
                  </p:cNvSpPr>
                  <p:nvPr/>
                </p:nvSpPr>
                <p:spPr bwMode="auto">
                  <a:xfrm>
                    <a:off x="4176" y="2256"/>
                    <a:ext cx="255" cy="284"/>
                  </a:xfrm>
                  <a:prstGeom prst="rect">
                    <a:avLst/>
                  </a:prstGeom>
                  <a:blipFill>
                    <a:blip r:embed="rId6"/>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9AAD2154-8761-4BBA-83EF-C0F8FA9E7731}"/>
                    </a:ext>
                  </a:extLst>
                </p:cNvPr>
                <p:cNvSpPr txBox="1"/>
                <p:nvPr/>
              </p:nvSpPr>
              <p:spPr bwMode="auto">
                <a:xfrm>
                  <a:off x="9169401" y="5119688"/>
                  <a:ext cx="1057275" cy="60325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𝜙</m:t>
                        </m:r>
                        <m:r>
                          <a:rPr lang="en-US" sz="2800" b="0" i="1">
                            <a:solidFill>
                              <a:srgbClr val="000000"/>
                            </a:solidFill>
                            <a:latin typeface="Cambria Math" panose="02040503050406030204" pitchFamily="18" charset="0"/>
                          </a:rPr>
                          <m:t>=0</m:t>
                        </m:r>
                      </m:oMath>
                    </m:oMathPara>
                  </a14:m>
                  <a:endParaRPr lang="en-US" sz="2800"/>
                </a:p>
              </p:txBody>
            </p:sp>
          </mc:Choice>
          <mc:Fallback xmlns="">
            <p:sp>
              <p:nvSpPr>
                <p:cNvPr id="2" name="Object 1">
                  <a:extLst>
                    <a:ext uri="{FF2B5EF4-FFF2-40B4-BE49-F238E27FC236}">
                      <a16:creationId xmlns:a16="http://schemas.microsoft.com/office/drawing/2014/main" id="{9AAD2154-8761-4BBA-83EF-C0F8FA9E7731}"/>
                    </a:ext>
                  </a:extLst>
                </p:cNvPr>
                <p:cNvSpPr txBox="1">
                  <a:spLocks noRot="1" noChangeAspect="1" noMove="1" noResize="1" noEditPoints="1" noAdjustHandles="1" noChangeArrowheads="1" noChangeShapeType="1" noTextEdit="1"/>
                </p:cNvSpPr>
                <p:nvPr/>
              </p:nvSpPr>
              <p:spPr bwMode="auto">
                <a:xfrm>
                  <a:off x="9169401" y="5119688"/>
                  <a:ext cx="1057275" cy="603250"/>
                </a:xfrm>
                <a:prstGeom prst="rect">
                  <a:avLst/>
                </a:prstGeom>
                <a:blipFill>
                  <a:blip r:embed="rId8"/>
                  <a:stretch>
                    <a:fillRect/>
                  </a:stretch>
                </a:blipFill>
                <a:ln>
                  <a:noFill/>
                </a:ln>
              </p:spPr>
              <p:txBody>
                <a:bodyPr/>
                <a:lstStyle/>
                <a:p>
                  <a:r>
                    <a:rPr lang="zh-CN" altLang="en-US">
                      <a:noFill/>
                    </a:rPr>
                    <a:t> </a:t>
                  </a:r>
                </a:p>
              </p:txBody>
            </p:sp>
          </mc:Fallback>
        </mc:AlternateContent>
      </p:grpSp>
      <p:sp>
        <p:nvSpPr>
          <p:cNvPr id="7" name="文本框 6">
            <a:extLst>
              <a:ext uri="{FF2B5EF4-FFF2-40B4-BE49-F238E27FC236}">
                <a16:creationId xmlns:a16="http://schemas.microsoft.com/office/drawing/2014/main" id="{C533ABF1-5E28-F8E5-592A-99191A73DF49}"/>
              </a:ext>
            </a:extLst>
          </p:cNvPr>
          <p:cNvSpPr txBox="1"/>
          <p:nvPr/>
        </p:nvSpPr>
        <p:spPr>
          <a:xfrm>
            <a:off x="658219" y="2958084"/>
            <a:ext cx="6338003" cy="954107"/>
          </a:xfrm>
          <a:prstGeom prst="rect">
            <a:avLst/>
          </a:prstGeom>
          <a:noFill/>
        </p:spPr>
        <p:txBody>
          <a:bodyPr wrap="square" rtlCol="0">
            <a:spAutoFit/>
          </a:bodyPr>
          <a:lstStyle/>
          <a:p>
            <a:r>
              <a:rPr lang="zh-CN" altLang="en-US" sz="2800" dirty="0"/>
              <a:t>分析： 电荷电量已知，导体电势为零，已知；电场唯一确定</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4">
            <a:extLst>
              <a:ext uri="{FF2B5EF4-FFF2-40B4-BE49-F238E27FC236}">
                <a16:creationId xmlns:a16="http://schemas.microsoft.com/office/drawing/2014/main" id="{A6D739BF-500C-462A-B018-A1F6654C79C2}"/>
              </a:ext>
            </a:extLst>
          </p:cNvPr>
          <p:cNvSpPr txBox="1">
            <a:spLocks noChangeArrowheads="1"/>
          </p:cNvSpPr>
          <p:nvPr/>
        </p:nvSpPr>
        <p:spPr bwMode="auto">
          <a:xfrm>
            <a:off x="925033" y="550288"/>
            <a:ext cx="45973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dirty="0">
                <a:latin typeface="华文楷体" panose="02010600040101010101" pitchFamily="2" charset="-122"/>
                <a:ea typeface="华文楷体" panose="02010600040101010101" pitchFamily="2" charset="-122"/>
              </a:rPr>
              <a:t>-</a:t>
            </a:r>
            <a:r>
              <a:rPr lang="zh-CN" altLang="en-US" sz="3200" dirty="0">
                <a:latin typeface="华文楷体" panose="02010600040101010101" pitchFamily="2" charset="-122"/>
                <a:ea typeface="华文楷体" panose="02010600040101010101" pitchFamily="2" charset="-122"/>
              </a:rPr>
              <a:t>点电荷一侧的场的分布</a:t>
            </a:r>
            <a:endParaRPr lang="zh-CN" altLang="en-US" sz="3200" b="1" dirty="0">
              <a:latin typeface="华文楷体" panose="02010600040101010101" pitchFamily="2" charset="-122"/>
              <a:ea typeface="华文楷体" panose="02010600040101010101" pitchFamily="2" charset="-122"/>
            </a:endParaRPr>
          </a:p>
        </p:txBody>
      </p:sp>
      <p:grpSp>
        <p:nvGrpSpPr>
          <p:cNvPr id="34821" name="Group 5">
            <a:extLst>
              <a:ext uri="{FF2B5EF4-FFF2-40B4-BE49-F238E27FC236}">
                <a16:creationId xmlns:a16="http://schemas.microsoft.com/office/drawing/2014/main" id="{94B0A1DF-4CC1-4F1F-998B-37805BEFD265}"/>
              </a:ext>
            </a:extLst>
          </p:cNvPr>
          <p:cNvGrpSpPr>
            <a:grpSpLocks/>
          </p:cNvGrpSpPr>
          <p:nvPr/>
        </p:nvGrpSpPr>
        <p:grpSpPr bwMode="auto">
          <a:xfrm>
            <a:off x="6096000" y="1516063"/>
            <a:ext cx="2057400" cy="1695450"/>
            <a:chOff x="2256" y="432"/>
            <a:chExt cx="1296" cy="1068"/>
          </a:xfrm>
        </p:grpSpPr>
        <mc:AlternateContent xmlns:mc="http://schemas.openxmlformats.org/markup-compatibility/2006" xmlns:a14="http://schemas.microsoft.com/office/drawing/2010/main">
          <mc:Choice Requires="a14">
            <p:sp>
              <p:nvSpPr>
                <p:cNvPr id="26649" name="Object 6">
                  <a:extLst>
                    <a:ext uri="{FF2B5EF4-FFF2-40B4-BE49-F238E27FC236}">
                      <a16:creationId xmlns:a16="http://schemas.microsoft.com/office/drawing/2014/main" id="{96B6DA4D-FE41-4E49-915F-20A4EBEDAF9B}"/>
                    </a:ext>
                  </a:extLst>
                </p:cNvPr>
                <p:cNvSpPr txBox="1"/>
                <p:nvPr/>
              </p:nvSpPr>
              <p:spPr bwMode="auto">
                <a:xfrm>
                  <a:off x="2832" y="432"/>
                  <a:ext cx="254" cy="49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𝑟</m:t>
                            </m:r>
                          </m:e>
                          <m:sub>
                            <m:r>
                              <a:rPr lang="en-US" sz="2600" i="1">
                                <a:solidFill>
                                  <a:srgbClr val="000000"/>
                                </a:solidFill>
                                <a:latin typeface="Cambria Math" panose="02040503050406030204" pitchFamily="18" charset="0"/>
                              </a:rPr>
                              <m:t>1</m:t>
                            </m:r>
                          </m:sub>
                        </m:sSub>
                      </m:oMath>
                    </m:oMathPara>
                  </a14:m>
                  <a:endParaRPr lang="en-US" sz="2600"/>
                </a:p>
              </p:txBody>
            </p:sp>
          </mc:Choice>
          <mc:Fallback xmlns="">
            <p:sp>
              <p:nvSpPr>
                <p:cNvPr id="26649" name="Object 6">
                  <a:extLst>
                    <a:ext uri="{FF2B5EF4-FFF2-40B4-BE49-F238E27FC236}">
                      <a16:creationId xmlns:a16="http://schemas.microsoft.com/office/drawing/2014/main" id="{96B6DA4D-FE41-4E49-915F-20A4EBEDAF9B}"/>
                    </a:ext>
                  </a:extLst>
                </p:cNvPr>
                <p:cNvSpPr txBox="1">
                  <a:spLocks noRot="1" noChangeAspect="1" noMove="1" noResize="1" noEditPoints="1" noAdjustHandles="1" noChangeArrowheads="1" noChangeShapeType="1" noTextEdit="1"/>
                </p:cNvSpPr>
                <p:nvPr/>
              </p:nvSpPr>
              <p:spPr bwMode="auto">
                <a:xfrm>
                  <a:off x="2832" y="432"/>
                  <a:ext cx="254" cy="492"/>
                </a:xfrm>
                <a:prstGeom prst="rect">
                  <a:avLst/>
                </a:prstGeom>
                <a:blipFill>
                  <a:blip r:embed="rId2"/>
                  <a:stretch>
                    <a:fillRect/>
                  </a:stretch>
                </a:blipFill>
                <a:ln>
                  <a:noFill/>
                </a:ln>
                <a:effectLst/>
                <a:extLst/>
              </p:spPr>
              <p:txBody>
                <a:bodyPr/>
                <a:lstStyle/>
                <a:p>
                  <a:r>
                    <a:rPr lang="en-US">
                      <a:noFill/>
                    </a:rPr>
                    <a:t> </a:t>
                  </a:r>
                </a:p>
              </p:txBody>
            </p:sp>
          </mc:Fallback>
        </mc:AlternateContent>
        <p:sp>
          <p:nvSpPr>
            <p:cNvPr id="26650" name="Line 7">
              <a:extLst>
                <a:ext uri="{FF2B5EF4-FFF2-40B4-BE49-F238E27FC236}">
                  <a16:creationId xmlns:a16="http://schemas.microsoft.com/office/drawing/2014/main" id="{ECCCF9E3-FBB5-4E2F-95C9-5A24FB52063F}"/>
                </a:ext>
              </a:extLst>
            </p:cNvPr>
            <p:cNvSpPr>
              <a:spLocks noChangeShapeType="1"/>
            </p:cNvSpPr>
            <p:nvPr/>
          </p:nvSpPr>
          <p:spPr bwMode="auto">
            <a:xfrm>
              <a:off x="2544" y="864"/>
              <a:ext cx="1008" cy="62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600"/>
            </a:p>
          </p:txBody>
        </p:sp>
        <p:sp>
          <p:nvSpPr>
            <p:cNvPr id="26651" name="Line 8">
              <a:extLst>
                <a:ext uri="{FF2B5EF4-FFF2-40B4-BE49-F238E27FC236}">
                  <a16:creationId xmlns:a16="http://schemas.microsoft.com/office/drawing/2014/main" id="{38C9EA0B-B15A-4975-951A-E9059C7E1D26}"/>
                </a:ext>
              </a:extLst>
            </p:cNvPr>
            <p:cNvSpPr>
              <a:spLocks noChangeShapeType="1"/>
            </p:cNvSpPr>
            <p:nvPr/>
          </p:nvSpPr>
          <p:spPr bwMode="auto">
            <a:xfrm flipV="1">
              <a:off x="2496" y="720"/>
              <a:ext cx="1056" cy="14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600"/>
            </a:p>
          </p:txBody>
        </p:sp>
        <mc:AlternateContent xmlns:mc="http://schemas.openxmlformats.org/markup-compatibility/2006" xmlns:a14="http://schemas.microsoft.com/office/drawing/2010/main">
          <mc:Choice Requires="a14">
            <p:sp>
              <p:nvSpPr>
                <p:cNvPr id="26652" name="Object 9">
                  <a:extLst>
                    <a:ext uri="{FF2B5EF4-FFF2-40B4-BE49-F238E27FC236}">
                      <a16:creationId xmlns:a16="http://schemas.microsoft.com/office/drawing/2014/main" id="{DAD109AC-1DC9-4BDD-911F-EDF0D0F0C1EC}"/>
                    </a:ext>
                  </a:extLst>
                </p:cNvPr>
                <p:cNvSpPr txBox="1"/>
                <p:nvPr/>
              </p:nvSpPr>
              <p:spPr bwMode="auto">
                <a:xfrm>
                  <a:off x="2256" y="768"/>
                  <a:ext cx="256" cy="26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𝑃</m:t>
                        </m:r>
                      </m:oMath>
                    </m:oMathPara>
                  </a14:m>
                  <a:endParaRPr lang="en-US" sz="2600"/>
                </a:p>
              </p:txBody>
            </p:sp>
          </mc:Choice>
          <mc:Fallback xmlns="">
            <p:sp>
              <p:nvSpPr>
                <p:cNvPr id="26652" name="Object 9">
                  <a:extLst>
                    <a:ext uri="{FF2B5EF4-FFF2-40B4-BE49-F238E27FC236}">
                      <a16:creationId xmlns:a16="http://schemas.microsoft.com/office/drawing/2014/main" id="{DAD109AC-1DC9-4BDD-911F-EDF0D0F0C1EC}"/>
                    </a:ext>
                  </a:extLst>
                </p:cNvPr>
                <p:cNvSpPr txBox="1">
                  <a:spLocks noRot="1" noChangeAspect="1" noMove="1" noResize="1" noEditPoints="1" noAdjustHandles="1" noChangeArrowheads="1" noChangeShapeType="1" noTextEdit="1"/>
                </p:cNvSpPr>
                <p:nvPr/>
              </p:nvSpPr>
              <p:spPr bwMode="auto">
                <a:xfrm>
                  <a:off x="2256" y="768"/>
                  <a:ext cx="256" cy="268"/>
                </a:xfrm>
                <a:prstGeom prst="rect">
                  <a:avLst/>
                </a:prstGeom>
                <a:blipFill>
                  <a:blip r:embed="rId3"/>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53" name="Object 10">
                  <a:extLst>
                    <a:ext uri="{FF2B5EF4-FFF2-40B4-BE49-F238E27FC236}">
                      <a16:creationId xmlns:a16="http://schemas.microsoft.com/office/drawing/2014/main" id="{4289F467-3AF0-42AC-A624-54F8ADF75AC1}"/>
                    </a:ext>
                  </a:extLst>
                </p:cNvPr>
                <p:cNvSpPr txBox="1"/>
                <p:nvPr/>
              </p:nvSpPr>
              <p:spPr bwMode="auto">
                <a:xfrm>
                  <a:off x="2880" y="1056"/>
                  <a:ext cx="279" cy="444"/>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𝑟</m:t>
                            </m:r>
                          </m:e>
                          <m:sub>
                            <m:r>
                              <a:rPr lang="en-US" sz="2600" i="1">
                                <a:solidFill>
                                  <a:srgbClr val="000000"/>
                                </a:solidFill>
                                <a:latin typeface="Cambria Math" panose="02040503050406030204" pitchFamily="18" charset="0"/>
                              </a:rPr>
                              <m:t>2</m:t>
                            </m:r>
                          </m:sub>
                        </m:sSub>
                      </m:oMath>
                    </m:oMathPara>
                  </a14:m>
                  <a:endParaRPr lang="en-US" sz="2600"/>
                </a:p>
              </p:txBody>
            </p:sp>
          </mc:Choice>
          <mc:Fallback xmlns="">
            <p:sp>
              <p:nvSpPr>
                <p:cNvPr id="26653" name="Object 10">
                  <a:extLst>
                    <a:ext uri="{FF2B5EF4-FFF2-40B4-BE49-F238E27FC236}">
                      <a16:creationId xmlns:a16="http://schemas.microsoft.com/office/drawing/2014/main" id="{4289F467-3AF0-42AC-A624-54F8ADF75AC1}"/>
                    </a:ext>
                  </a:extLst>
                </p:cNvPr>
                <p:cNvSpPr txBox="1">
                  <a:spLocks noRot="1" noChangeAspect="1" noMove="1" noResize="1" noEditPoints="1" noAdjustHandles="1" noChangeArrowheads="1" noChangeShapeType="1" noTextEdit="1"/>
                </p:cNvSpPr>
                <p:nvPr/>
              </p:nvSpPr>
              <p:spPr bwMode="auto">
                <a:xfrm>
                  <a:off x="2880" y="1056"/>
                  <a:ext cx="279" cy="444"/>
                </a:xfrm>
                <a:prstGeom prst="rect">
                  <a:avLst/>
                </a:prstGeom>
                <a:blipFill>
                  <a:blip r:embed="rId4"/>
                  <a:stretch>
                    <a:fillRect/>
                  </a:stretch>
                </a:blipFill>
                <a:ln>
                  <a:noFill/>
                </a:ln>
                <a:effectLst/>
                <a:extLst/>
              </p:spPr>
              <p:txBody>
                <a:bodyPr/>
                <a:lstStyle/>
                <a:p>
                  <a:r>
                    <a:rPr lang="en-US">
                      <a:noFill/>
                    </a:rPr>
                    <a:t> </a:t>
                  </a:r>
                </a:p>
              </p:txBody>
            </p:sp>
          </mc:Fallback>
        </mc:AlternateContent>
      </p:grpSp>
      <p:grpSp>
        <p:nvGrpSpPr>
          <p:cNvPr id="34827" name="Group 11">
            <a:extLst>
              <a:ext uri="{FF2B5EF4-FFF2-40B4-BE49-F238E27FC236}">
                <a16:creationId xmlns:a16="http://schemas.microsoft.com/office/drawing/2014/main" id="{5124819E-62C5-4408-ACDF-A280FC70CB24}"/>
              </a:ext>
            </a:extLst>
          </p:cNvPr>
          <p:cNvGrpSpPr>
            <a:grpSpLocks/>
          </p:cNvGrpSpPr>
          <p:nvPr/>
        </p:nvGrpSpPr>
        <p:grpSpPr bwMode="auto">
          <a:xfrm>
            <a:off x="6629400" y="1058863"/>
            <a:ext cx="3657600" cy="2667000"/>
            <a:chOff x="3312" y="192"/>
            <a:chExt cx="2304" cy="1680"/>
          </a:xfrm>
        </p:grpSpPr>
        <p:sp>
          <p:nvSpPr>
            <p:cNvPr id="26635" name="Line 12">
              <a:extLst>
                <a:ext uri="{FF2B5EF4-FFF2-40B4-BE49-F238E27FC236}">
                  <a16:creationId xmlns:a16="http://schemas.microsoft.com/office/drawing/2014/main" id="{57F97ABA-7CEB-462B-9AA4-D93FC6916FB7}"/>
                </a:ext>
              </a:extLst>
            </p:cNvPr>
            <p:cNvSpPr>
              <a:spLocks noChangeShapeType="1"/>
            </p:cNvSpPr>
            <p:nvPr/>
          </p:nvSpPr>
          <p:spPr bwMode="auto">
            <a:xfrm>
              <a:off x="3312" y="1200"/>
              <a:ext cx="196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600"/>
            </a:p>
          </p:txBody>
        </p:sp>
        <p:sp>
          <p:nvSpPr>
            <p:cNvPr id="26636" name="Line 13">
              <a:extLst>
                <a:ext uri="{FF2B5EF4-FFF2-40B4-BE49-F238E27FC236}">
                  <a16:creationId xmlns:a16="http://schemas.microsoft.com/office/drawing/2014/main" id="{B0860151-2C8A-42B7-AD74-082CE8DC820E}"/>
                </a:ext>
              </a:extLst>
            </p:cNvPr>
            <p:cNvSpPr>
              <a:spLocks noChangeShapeType="1"/>
            </p:cNvSpPr>
            <p:nvPr/>
          </p:nvSpPr>
          <p:spPr bwMode="auto">
            <a:xfrm>
              <a:off x="5232" y="1200"/>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600"/>
            </a:p>
          </p:txBody>
        </p:sp>
        <p:sp>
          <p:nvSpPr>
            <p:cNvPr id="26637" name="Line 14">
              <a:extLst>
                <a:ext uri="{FF2B5EF4-FFF2-40B4-BE49-F238E27FC236}">
                  <a16:creationId xmlns:a16="http://schemas.microsoft.com/office/drawing/2014/main" id="{89F982CD-00C1-4EA9-9B25-40433F4B456C}"/>
                </a:ext>
              </a:extLst>
            </p:cNvPr>
            <p:cNvSpPr>
              <a:spLocks noChangeShapeType="1"/>
            </p:cNvSpPr>
            <p:nvPr/>
          </p:nvSpPr>
          <p:spPr bwMode="auto">
            <a:xfrm flipV="1">
              <a:off x="4320" y="240"/>
              <a:ext cx="0" cy="16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600"/>
            </a:p>
          </p:txBody>
        </p:sp>
        <mc:AlternateContent xmlns:mc="http://schemas.openxmlformats.org/markup-compatibility/2006" xmlns:a14="http://schemas.microsoft.com/office/drawing/2010/main">
          <mc:Choice Requires="a14">
            <p:sp>
              <p:nvSpPr>
                <p:cNvPr id="26638" name="Object 15">
                  <a:extLst>
                    <a:ext uri="{FF2B5EF4-FFF2-40B4-BE49-F238E27FC236}">
                      <a16:creationId xmlns:a16="http://schemas.microsoft.com/office/drawing/2014/main" id="{5AE22DAF-2982-4881-9189-0B91A19227BD}"/>
                    </a:ext>
                  </a:extLst>
                </p:cNvPr>
                <p:cNvSpPr txBox="1"/>
                <p:nvPr/>
              </p:nvSpPr>
              <p:spPr bwMode="auto">
                <a:xfrm>
                  <a:off x="5333" y="1296"/>
                  <a:ext cx="283" cy="33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𝑦</m:t>
                        </m:r>
                      </m:oMath>
                    </m:oMathPara>
                  </a14:m>
                  <a:endParaRPr lang="en-US" sz="2600"/>
                </a:p>
              </p:txBody>
            </p:sp>
          </mc:Choice>
          <mc:Fallback xmlns="">
            <p:sp>
              <p:nvSpPr>
                <p:cNvPr id="26638" name="Object 15">
                  <a:extLst>
                    <a:ext uri="{FF2B5EF4-FFF2-40B4-BE49-F238E27FC236}">
                      <a16:creationId xmlns:a16="http://schemas.microsoft.com/office/drawing/2014/main" id="{5AE22DAF-2982-4881-9189-0B91A19227BD}"/>
                    </a:ext>
                  </a:extLst>
                </p:cNvPr>
                <p:cNvSpPr txBox="1">
                  <a:spLocks noRot="1" noChangeAspect="1" noMove="1" noResize="1" noEditPoints="1" noAdjustHandles="1" noChangeArrowheads="1" noChangeShapeType="1" noTextEdit="1"/>
                </p:cNvSpPr>
                <p:nvPr/>
              </p:nvSpPr>
              <p:spPr bwMode="auto">
                <a:xfrm>
                  <a:off x="5333" y="1296"/>
                  <a:ext cx="283" cy="336"/>
                </a:xfrm>
                <a:prstGeom prst="rect">
                  <a:avLst/>
                </a:prstGeom>
                <a:blipFill>
                  <a:blip r:embed="rId5"/>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39" name="Object 16">
                  <a:extLst>
                    <a:ext uri="{FF2B5EF4-FFF2-40B4-BE49-F238E27FC236}">
                      <a16:creationId xmlns:a16="http://schemas.microsoft.com/office/drawing/2014/main" id="{2690BCF8-797A-472E-976E-491AAAE35908}"/>
                    </a:ext>
                  </a:extLst>
                </p:cNvPr>
                <p:cNvSpPr txBox="1"/>
                <p:nvPr/>
              </p:nvSpPr>
              <p:spPr bwMode="auto">
                <a:xfrm>
                  <a:off x="4416" y="192"/>
                  <a:ext cx="288" cy="2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𝑧</m:t>
                        </m:r>
                      </m:oMath>
                    </m:oMathPara>
                  </a14:m>
                  <a:endParaRPr lang="en-US" sz="2600"/>
                </a:p>
              </p:txBody>
            </p:sp>
          </mc:Choice>
          <mc:Fallback xmlns="">
            <p:sp>
              <p:nvSpPr>
                <p:cNvPr id="26639" name="Object 16">
                  <a:extLst>
                    <a:ext uri="{FF2B5EF4-FFF2-40B4-BE49-F238E27FC236}">
                      <a16:creationId xmlns:a16="http://schemas.microsoft.com/office/drawing/2014/main" id="{2690BCF8-797A-472E-976E-491AAAE35908}"/>
                    </a:ext>
                  </a:extLst>
                </p:cNvPr>
                <p:cNvSpPr txBox="1">
                  <a:spLocks noRot="1" noChangeAspect="1" noMove="1" noResize="1" noEditPoints="1" noAdjustHandles="1" noChangeArrowheads="1" noChangeShapeType="1" noTextEdit="1"/>
                </p:cNvSpPr>
                <p:nvPr/>
              </p:nvSpPr>
              <p:spPr bwMode="auto">
                <a:xfrm>
                  <a:off x="4416" y="192"/>
                  <a:ext cx="288" cy="288"/>
                </a:xfrm>
                <a:prstGeom prst="rect">
                  <a:avLst/>
                </a:prstGeom>
                <a:blipFill>
                  <a:blip r:embed="rId6"/>
                  <a:stretch>
                    <a:fillRect/>
                  </a:stretch>
                </a:blipFill>
                <a:ln>
                  <a:noFill/>
                </a:ln>
                <a:effectLst/>
                <a:extLst/>
              </p:spPr>
              <p:txBody>
                <a:bodyPr/>
                <a:lstStyle/>
                <a:p>
                  <a:r>
                    <a:rPr lang="en-US">
                      <a:noFill/>
                    </a:rPr>
                    <a:t> </a:t>
                  </a:r>
                </a:p>
              </p:txBody>
            </p:sp>
          </mc:Fallback>
        </mc:AlternateContent>
        <p:grpSp>
          <p:nvGrpSpPr>
            <p:cNvPr id="26640" name="Group 17">
              <a:extLst>
                <a:ext uri="{FF2B5EF4-FFF2-40B4-BE49-F238E27FC236}">
                  <a16:creationId xmlns:a16="http://schemas.microsoft.com/office/drawing/2014/main" id="{CCD858B4-8E4C-456B-9704-7C36E68F047E}"/>
                </a:ext>
              </a:extLst>
            </p:cNvPr>
            <p:cNvGrpSpPr>
              <a:grpSpLocks/>
            </p:cNvGrpSpPr>
            <p:nvPr/>
          </p:nvGrpSpPr>
          <p:grpSpPr bwMode="auto">
            <a:xfrm>
              <a:off x="4080" y="480"/>
              <a:ext cx="288" cy="336"/>
              <a:chOff x="4896" y="240"/>
              <a:chExt cx="288" cy="336"/>
            </a:xfrm>
          </p:grpSpPr>
          <p:sp>
            <p:nvSpPr>
              <p:cNvPr id="26647" name="Oval 18">
                <a:extLst>
                  <a:ext uri="{FF2B5EF4-FFF2-40B4-BE49-F238E27FC236}">
                    <a16:creationId xmlns:a16="http://schemas.microsoft.com/office/drawing/2014/main" id="{495293FC-ED2D-45F6-9CE6-B3944BE45E5D}"/>
                  </a:ext>
                </a:extLst>
              </p:cNvPr>
              <p:cNvSpPr>
                <a:spLocks noChangeArrowheads="1"/>
              </p:cNvSpPr>
              <p:nvPr/>
            </p:nvSpPr>
            <p:spPr bwMode="auto">
              <a:xfrm>
                <a:off x="5088" y="48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600" dirty="0">
                  <a:ea typeface="华文楷体" panose="02010600040101010101" pitchFamily="2" charset="-122"/>
                </a:endParaRPr>
              </a:p>
            </p:txBody>
          </p:sp>
          <mc:AlternateContent xmlns:mc="http://schemas.openxmlformats.org/markup-compatibility/2006" xmlns:a14="http://schemas.microsoft.com/office/drawing/2010/main">
            <mc:Choice Requires="a14">
              <p:sp>
                <p:nvSpPr>
                  <p:cNvPr id="26648" name="Object 19">
                    <a:extLst>
                      <a:ext uri="{FF2B5EF4-FFF2-40B4-BE49-F238E27FC236}">
                        <a16:creationId xmlns:a16="http://schemas.microsoft.com/office/drawing/2014/main" id="{924C44B3-CABB-4BBA-93FB-2C563A540152}"/>
                      </a:ext>
                    </a:extLst>
                  </p:cNvPr>
                  <p:cNvSpPr txBox="1"/>
                  <p:nvPr/>
                </p:nvSpPr>
                <p:spPr bwMode="auto">
                  <a:xfrm>
                    <a:off x="4896" y="240"/>
                    <a:ext cx="213" cy="316"/>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𝑞</m:t>
                          </m:r>
                        </m:oMath>
                      </m:oMathPara>
                    </a14:m>
                    <a:endParaRPr lang="en-US" sz="2600" dirty="0"/>
                  </a:p>
                </p:txBody>
              </p:sp>
            </mc:Choice>
            <mc:Fallback xmlns="">
              <p:sp>
                <p:nvSpPr>
                  <p:cNvPr id="26648" name="Object 19">
                    <a:extLst>
                      <a:ext uri="{FF2B5EF4-FFF2-40B4-BE49-F238E27FC236}">
                        <a16:creationId xmlns:a16="http://schemas.microsoft.com/office/drawing/2014/main" id="{924C44B3-CABB-4BBA-93FB-2C563A540152}"/>
                      </a:ext>
                    </a:extLst>
                  </p:cNvPr>
                  <p:cNvSpPr txBox="1">
                    <a:spLocks noRot="1" noChangeAspect="1" noMove="1" noResize="1" noEditPoints="1" noAdjustHandles="1" noChangeArrowheads="1" noChangeShapeType="1" noTextEdit="1"/>
                  </p:cNvSpPr>
                  <p:nvPr/>
                </p:nvSpPr>
                <p:spPr bwMode="auto">
                  <a:xfrm>
                    <a:off x="4896" y="240"/>
                    <a:ext cx="213" cy="316"/>
                  </a:xfrm>
                  <a:prstGeom prst="rect">
                    <a:avLst/>
                  </a:prstGeom>
                  <a:blipFill>
                    <a:blip r:embed="rId7"/>
                    <a:stretch>
                      <a:fillRect/>
                    </a:stretch>
                  </a:blipFill>
                  <a:ln>
                    <a:noFill/>
                  </a:ln>
                  <a:effectLst/>
                  <a:extLst/>
                </p:spPr>
                <p:txBody>
                  <a:bodyPr/>
                  <a:lstStyle/>
                  <a:p>
                    <a:r>
                      <a:rPr lang="en-US">
                        <a:noFill/>
                      </a:rPr>
                      <a:t> </a:t>
                    </a:r>
                  </a:p>
                </p:txBody>
              </p:sp>
            </mc:Fallback>
          </mc:AlternateContent>
        </p:grpSp>
        <p:grpSp>
          <p:nvGrpSpPr>
            <p:cNvPr id="26641" name="Group 20">
              <a:extLst>
                <a:ext uri="{FF2B5EF4-FFF2-40B4-BE49-F238E27FC236}">
                  <a16:creationId xmlns:a16="http://schemas.microsoft.com/office/drawing/2014/main" id="{1402CE93-FE89-46EB-8AA7-703F81231A69}"/>
                </a:ext>
              </a:extLst>
            </p:cNvPr>
            <p:cNvGrpSpPr>
              <a:grpSpLocks/>
            </p:cNvGrpSpPr>
            <p:nvPr/>
          </p:nvGrpSpPr>
          <p:grpSpPr bwMode="auto">
            <a:xfrm>
              <a:off x="4272" y="1488"/>
              <a:ext cx="556" cy="281"/>
              <a:chOff x="4272" y="1440"/>
              <a:chExt cx="556" cy="281"/>
            </a:xfrm>
          </p:grpSpPr>
          <p:sp>
            <p:nvSpPr>
              <p:cNvPr id="26645" name="Oval 21">
                <a:extLst>
                  <a:ext uri="{FF2B5EF4-FFF2-40B4-BE49-F238E27FC236}">
                    <a16:creationId xmlns:a16="http://schemas.microsoft.com/office/drawing/2014/main" id="{DF846B7D-3FE5-4561-9301-6D76EDEA516E}"/>
                  </a:ext>
                </a:extLst>
              </p:cNvPr>
              <p:cNvSpPr>
                <a:spLocks noChangeArrowheads="1"/>
              </p:cNvSpPr>
              <p:nvPr/>
            </p:nvSpPr>
            <p:spPr bwMode="auto">
              <a:xfrm>
                <a:off x="427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600" dirty="0">
                  <a:ea typeface="华文楷体" panose="02010600040101010101" pitchFamily="2" charset="-122"/>
                </a:endParaRPr>
              </a:p>
            </p:txBody>
          </p:sp>
          <mc:AlternateContent xmlns:mc="http://schemas.openxmlformats.org/markup-compatibility/2006" xmlns:a14="http://schemas.microsoft.com/office/drawing/2010/main">
            <mc:Choice Requires="a14">
              <p:sp>
                <p:nvSpPr>
                  <p:cNvPr id="26646" name="Object 22">
                    <a:extLst>
                      <a:ext uri="{FF2B5EF4-FFF2-40B4-BE49-F238E27FC236}">
                        <a16:creationId xmlns:a16="http://schemas.microsoft.com/office/drawing/2014/main" id="{41317BA0-D0C1-47D2-B55D-10B923F0C5E9}"/>
                      </a:ext>
                    </a:extLst>
                  </p:cNvPr>
                  <p:cNvSpPr txBox="1"/>
                  <p:nvPr/>
                </p:nvSpPr>
                <p:spPr bwMode="auto">
                  <a:xfrm>
                    <a:off x="4368" y="1440"/>
                    <a:ext cx="460" cy="281"/>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𝑞</m:t>
                          </m:r>
                        </m:oMath>
                      </m:oMathPara>
                    </a14:m>
                    <a:endParaRPr lang="en-US" sz="2600"/>
                  </a:p>
                </p:txBody>
              </p:sp>
            </mc:Choice>
            <mc:Fallback xmlns="">
              <p:sp>
                <p:nvSpPr>
                  <p:cNvPr id="26646" name="Object 22">
                    <a:extLst>
                      <a:ext uri="{FF2B5EF4-FFF2-40B4-BE49-F238E27FC236}">
                        <a16:creationId xmlns:a16="http://schemas.microsoft.com/office/drawing/2014/main" id="{41317BA0-D0C1-47D2-B55D-10B923F0C5E9}"/>
                      </a:ext>
                    </a:extLst>
                  </p:cNvPr>
                  <p:cNvSpPr txBox="1">
                    <a:spLocks noRot="1" noChangeAspect="1" noMove="1" noResize="1" noEditPoints="1" noAdjustHandles="1" noChangeArrowheads="1" noChangeShapeType="1" noTextEdit="1"/>
                  </p:cNvSpPr>
                  <p:nvPr/>
                </p:nvSpPr>
                <p:spPr bwMode="auto">
                  <a:xfrm>
                    <a:off x="4368" y="1440"/>
                    <a:ext cx="460" cy="281"/>
                  </a:xfrm>
                  <a:prstGeom prst="rect">
                    <a:avLst/>
                  </a:prstGeom>
                  <a:blipFill>
                    <a:blip r:embed="rId8"/>
                    <a:stretch>
                      <a:fillRect/>
                    </a:stretch>
                  </a:blipFill>
                  <a:ln>
                    <a:noFill/>
                  </a:ln>
                  <a:effectLs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6642" name="Object 23">
                  <a:extLst>
                    <a:ext uri="{FF2B5EF4-FFF2-40B4-BE49-F238E27FC236}">
                      <a16:creationId xmlns:a16="http://schemas.microsoft.com/office/drawing/2014/main" id="{5FD885EF-F491-4E71-BD15-9E7640C35581}"/>
                    </a:ext>
                  </a:extLst>
                </p:cNvPr>
                <p:cNvSpPr txBox="1"/>
                <p:nvPr/>
              </p:nvSpPr>
              <p:spPr bwMode="auto">
                <a:xfrm>
                  <a:off x="4395" y="633"/>
                  <a:ext cx="252" cy="25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𝑎</m:t>
                        </m:r>
                      </m:oMath>
                    </m:oMathPara>
                  </a14:m>
                  <a:endParaRPr lang="en-US" sz="2600" dirty="0"/>
                </a:p>
              </p:txBody>
            </p:sp>
          </mc:Choice>
          <mc:Fallback xmlns="">
            <p:sp>
              <p:nvSpPr>
                <p:cNvPr id="26642" name="Object 23">
                  <a:extLst>
                    <a:ext uri="{FF2B5EF4-FFF2-40B4-BE49-F238E27FC236}">
                      <a16:creationId xmlns:a16="http://schemas.microsoft.com/office/drawing/2014/main" id="{5FD885EF-F491-4E71-BD15-9E7640C35581}"/>
                    </a:ext>
                  </a:extLst>
                </p:cNvPr>
                <p:cNvSpPr txBox="1">
                  <a:spLocks noRot="1" noChangeAspect="1" noMove="1" noResize="1" noEditPoints="1" noAdjustHandles="1" noChangeArrowheads="1" noChangeShapeType="1" noTextEdit="1"/>
                </p:cNvSpPr>
                <p:nvPr/>
              </p:nvSpPr>
              <p:spPr bwMode="auto">
                <a:xfrm>
                  <a:off x="4395" y="633"/>
                  <a:ext cx="252" cy="252"/>
                </a:xfrm>
                <a:prstGeom prst="rect">
                  <a:avLst/>
                </a:prstGeom>
                <a:blipFill>
                  <a:blip r:embed="rId9"/>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43" name="Object 24">
                  <a:extLst>
                    <a:ext uri="{FF2B5EF4-FFF2-40B4-BE49-F238E27FC236}">
                      <a16:creationId xmlns:a16="http://schemas.microsoft.com/office/drawing/2014/main" id="{77438124-5437-49C7-ACFB-C64F76517927}"/>
                    </a:ext>
                  </a:extLst>
                </p:cNvPr>
                <p:cNvSpPr txBox="1"/>
                <p:nvPr/>
              </p:nvSpPr>
              <p:spPr bwMode="auto">
                <a:xfrm>
                  <a:off x="4372" y="1325"/>
                  <a:ext cx="252" cy="25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𝑎</m:t>
                        </m:r>
                      </m:oMath>
                    </m:oMathPara>
                  </a14:m>
                  <a:endParaRPr lang="en-US" sz="2600" dirty="0"/>
                </a:p>
              </p:txBody>
            </p:sp>
          </mc:Choice>
          <mc:Fallback xmlns="">
            <p:sp>
              <p:nvSpPr>
                <p:cNvPr id="26643" name="Object 24">
                  <a:extLst>
                    <a:ext uri="{FF2B5EF4-FFF2-40B4-BE49-F238E27FC236}">
                      <a16:creationId xmlns:a16="http://schemas.microsoft.com/office/drawing/2014/main" id="{77438124-5437-49C7-ACFB-C64F76517927}"/>
                    </a:ext>
                  </a:extLst>
                </p:cNvPr>
                <p:cNvSpPr txBox="1">
                  <a:spLocks noRot="1" noChangeAspect="1" noMove="1" noResize="1" noEditPoints="1" noAdjustHandles="1" noChangeArrowheads="1" noChangeShapeType="1" noTextEdit="1"/>
                </p:cNvSpPr>
                <p:nvPr/>
              </p:nvSpPr>
              <p:spPr bwMode="auto">
                <a:xfrm>
                  <a:off x="4372" y="1325"/>
                  <a:ext cx="252" cy="252"/>
                </a:xfrm>
                <a:prstGeom prst="rect">
                  <a:avLst/>
                </a:prstGeom>
                <a:blipFill>
                  <a:blip r:embed="rId10"/>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44" name="Object 25">
                  <a:extLst>
                    <a:ext uri="{FF2B5EF4-FFF2-40B4-BE49-F238E27FC236}">
                      <a16:creationId xmlns:a16="http://schemas.microsoft.com/office/drawing/2014/main" id="{FB758A7C-73BB-4123-B202-B04BDCA5FD23}"/>
                    </a:ext>
                  </a:extLst>
                </p:cNvPr>
                <p:cNvSpPr txBox="1"/>
                <p:nvPr/>
              </p:nvSpPr>
              <p:spPr bwMode="auto">
                <a:xfrm>
                  <a:off x="4080" y="1152"/>
                  <a:ext cx="212" cy="236"/>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𝑜</m:t>
                        </m:r>
                      </m:oMath>
                    </m:oMathPara>
                  </a14:m>
                  <a:endParaRPr lang="en-US" sz="2600"/>
                </a:p>
              </p:txBody>
            </p:sp>
          </mc:Choice>
          <mc:Fallback xmlns="">
            <p:sp>
              <p:nvSpPr>
                <p:cNvPr id="26644" name="Object 25">
                  <a:extLst>
                    <a:ext uri="{FF2B5EF4-FFF2-40B4-BE49-F238E27FC236}">
                      <a16:creationId xmlns:a16="http://schemas.microsoft.com/office/drawing/2014/main" id="{FB758A7C-73BB-4123-B202-B04BDCA5FD23}"/>
                    </a:ext>
                  </a:extLst>
                </p:cNvPr>
                <p:cNvSpPr txBox="1">
                  <a:spLocks noRot="1" noChangeAspect="1" noMove="1" noResize="1" noEditPoints="1" noAdjustHandles="1" noChangeArrowheads="1" noChangeShapeType="1" noTextEdit="1"/>
                </p:cNvSpPr>
                <p:nvPr/>
              </p:nvSpPr>
              <p:spPr bwMode="auto">
                <a:xfrm>
                  <a:off x="4080" y="1152"/>
                  <a:ext cx="212" cy="236"/>
                </a:xfrm>
                <a:prstGeom prst="rect">
                  <a:avLst/>
                </a:prstGeom>
                <a:blipFill>
                  <a:blip r:embed="rId11"/>
                  <a:stretch>
                    <a:fillRect/>
                  </a:stretch>
                </a:blipFill>
                <a:ln>
                  <a:noFill/>
                </a:ln>
                <a:effectLst/>
                <a:extLst/>
              </p:spPr>
              <p:txBody>
                <a:bodyPr/>
                <a:lstStyle/>
                <a:p>
                  <a:r>
                    <a:rPr lang="en-US">
                      <a:noFill/>
                    </a:rPr>
                    <a:t> </a:t>
                  </a:r>
                </a:p>
              </p:txBody>
            </p:sp>
          </mc:Fallback>
        </mc:AlternateContent>
      </p:grpSp>
      <p:grpSp>
        <p:nvGrpSpPr>
          <p:cNvPr id="34842" name="Group 26">
            <a:extLst>
              <a:ext uri="{FF2B5EF4-FFF2-40B4-BE49-F238E27FC236}">
                <a16:creationId xmlns:a16="http://schemas.microsoft.com/office/drawing/2014/main" id="{83E4AB86-7795-4840-8C60-E4BB42967CA2}"/>
              </a:ext>
            </a:extLst>
          </p:cNvPr>
          <p:cNvGrpSpPr>
            <a:grpSpLocks/>
          </p:cNvGrpSpPr>
          <p:nvPr/>
        </p:nvGrpSpPr>
        <p:grpSpPr bwMode="auto">
          <a:xfrm>
            <a:off x="6218240" y="1211262"/>
            <a:ext cx="1325563" cy="512762"/>
            <a:chOff x="4685" y="2544"/>
            <a:chExt cx="835" cy="323"/>
          </a:xfrm>
        </p:grpSpPr>
        <mc:AlternateContent xmlns:mc="http://schemas.openxmlformats.org/markup-compatibility/2006" xmlns:a14="http://schemas.microsoft.com/office/drawing/2010/main">
          <mc:Choice Requires="a14">
            <p:sp>
              <p:nvSpPr>
                <p:cNvPr id="26633" name="Object 27">
                  <a:extLst>
                    <a:ext uri="{FF2B5EF4-FFF2-40B4-BE49-F238E27FC236}">
                      <a16:creationId xmlns:a16="http://schemas.microsoft.com/office/drawing/2014/main" id="{08027470-1D11-4B1D-B395-3D91DE3511E3}"/>
                    </a:ext>
                  </a:extLst>
                </p:cNvPr>
                <p:cNvSpPr txBox="1"/>
                <p:nvPr/>
              </p:nvSpPr>
              <p:spPr bwMode="auto">
                <a:xfrm>
                  <a:off x="4685" y="2552"/>
                  <a:ext cx="614" cy="31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𝑧</m:t>
                        </m:r>
                        <m:r>
                          <a:rPr lang="en-US" sz="2600" i="1">
                            <a:solidFill>
                              <a:srgbClr val="000000"/>
                            </a:solidFill>
                            <a:latin typeface="Cambria Math" panose="02040503050406030204" pitchFamily="18" charset="0"/>
                          </a:rPr>
                          <m:t> </m:t>
                        </m:r>
                      </m:oMath>
                    </m:oMathPara>
                  </a14:m>
                  <a:endParaRPr lang="en-US" sz="2600" dirty="0"/>
                </a:p>
              </p:txBody>
            </p:sp>
          </mc:Choice>
          <mc:Fallback xmlns="">
            <p:sp>
              <p:nvSpPr>
                <p:cNvPr id="26633" name="Object 27">
                  <a:extLst>
                    <a:ext uri="{FF2B5EF4-FFF2-40B4-BE49-F238E27FC236}">
                      <a16:creationId xmlns:a16="http://schemas.microsoft.com/office/drawing/2014/main" id="{08027470-1D11-4B1D-B395-3D91DE3511E3}"/>
                    </a:ext>
                  </a:extLst>
                </p:cNvPr>
                <p:cNvSpPr txBox="1">
                  <a:spLocks noRot="1" noChangeAspect="1" noMove="1" noResize="1" noEditPoints="1" noAdjustHandles="1" noChangeArrowheads="1" noChangeShapeType="1" noTextEdit="1"/>
                </p:cNvSpPr>
                <p:nvPr/>
              </p:nvSpPr>
              <p:spPr bwMode="auto">
                <a:xfrm>
                  <a:off x="4685" y="2552"/>
                  <a:ext cx="614" cy="315"/>
                </a:xfrm>
                <a:prstGeom prst="rect">
                  <a:avLst/>
                </a:prstGeom>
                <a:blipFill>
                  <a:blip r:embed="rId12"/>
                  <a:stretch>
                    <a:fillRect/>
                  </a:stretch>
                </a:blipFill>
                <a:ln>
                  <a:noFill/>
                </a:ln>
                <a:effectLst/>
                <a:extLst/>
              </p:spPr>
              <p:txBody>
                <a:bodyPr/>
                <a:lstStyle/>
                <a:p>
                  <a:r>
                    <a:rPr lang="en-US">
                      <a:noFill/>
                    </a:rPr>
                    <a:t> </a:t>
                  </a:r>
                </a:p>
              </p:txBody>
            </p:sp>
          </mc:Fallback>
        </mc:AlternateContent>
        <p:sp>
          <p:nvSpPr>
            <p:cNvPr id="26634" name="Text Box 28">
              <a:extLst>
                <a:ext uri="{FF2B5EF4-FFF2-40B4-BE49-F238E27FC236}">
                  <a16:creationId xmlns:a16="http://schemas.microsoft.com/office/drawing/2014/main" id="{2EAA1467-8CC6-4E49-A16C-9BE0BB41325D}"/>
                </a:ext>
              </a:extLst>
            </p:cNvPr>
            <p:cNvSpPr txBox="1">
              <a:spLocks noChangeArrowheads="1"/>
            </p:cNvSpPr>
            <p:nvPr/>
          </p:nvSpPr>
          <p:spPr bwMode="auto">
            <a:xfrm>
              <a:off x="4992" y="2544"/>
              <a:ext cx="528"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600" b="1" dirty="0">
                  <a:latin typeface="华文楷体" panose="02010600040101010101" pitchFamily="2" charset="-122"/>
                  <a:ea typeface="华文楷体" panose="02010600040101010101" pitchFamily="2" charset="-122"/>
                </a:rPr>
                <a:t>&gt;0</a:t>
              </a:r>
            </a:p>
          </p:txBody>
        </p:sp>
      </p:grpSp>
      <mc:AlternateContent xmlns:mc="http://schemas.openxmlformats.org/markup-compatibility/2006" xmlns:a14="http://schemas.microsoft.com/office/drawing/2010/main">
        <mc:Choice Requires="a14">
          <p:sp>
            <p:nvSpPr>
              <p:cNvPr id="34845" name="Object 29">
                <a:extLst>
                  <a:ext uri="{FF2B5EF4-FFF2-40B4-BE49-F238E27FC236}">
                    <a16:creationId xmlns:a16="http://schemas.microsoft.com/office/drawing/2014/main" id="{1F8F2104-72F9-4270-A4AC-F9B53AA804B2}"/>
                  </a:ext>
                </a:extLst>
              </p:cNvPr>
              <p:cNvSpPr txBox="1"/>
              <p:nvPr/>
            </p:nvSpPr>
            <p:spPr bwMode="auto">
              <a:xfrm>
                <a:off x="2800350" y="2852739"/>
                <a:ext cx="2990850" cy="11525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𝑞</m:t>
                          </m:r>
                        </m:num>
                        <m:den>
                          <m:r>
                            <a:rPr lang="en-US" sz="2600" i="1">
                              <a:solidFill>
                                <a:srgbClr val="000000"/>
                              </a:solidFill>
                              <a:latin typeface="Cambria Math" panose="02040503050406030204" pitchFamily="18" charset="0"/>
                            </a:rPr>
                            <m:t>4</m:t>
                          </m:r>
                          <m:r>
                            <a:rPr lang="en-US" sz="2600" i="1">
                              <a:solidFill>
                                <a:srgbClr val="000000"/>
                              </a:solidFill>
                              <a:latin typeface="Cambria Math" panose="02040503050406030204" pitchFamily="18" charset="0"/>
                            </a:rPr>
                            <m:t>𝜋</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𝜀</m:t>
                              </m:r>
                            </m:e>
                            <m:sub>
                              <m:r>
                                <a:rPr lang="en-US" sz="2600" i="1">
                                  <a:solidFill>
                                    <a:srgbClr val="000000"/>
                                  </a:solidFill>
                                  <a:latin typeface="Cambria Math" panose="02040503050406030204" pitchFamily="18" charset="0"/>
                                </a:rPr>
                                <m:t>0</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𝑟</m:t>
                              </m:r>
                            </m:e>
                            <m:sub>
                              <m:r>
                                <a:rPr lang="en-US" sz="2600" i="1">
                                  <a:solidFill>
                                    <a:srgbClr val="000000"/>
                                  </a:solidFill>
                                  <a:latin typeface="Cambria Math" panose="02040503050406030204" pitchFamily="18" charset="0"/>
                                </a:rPr>
                                <m:t>1</m:t>
                              </m:r>
                            </m:sub>
                          </m:sSub>
                        </m:den>
                      </m:f>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𝑞</m:t>
                          </m:r>
                        </m:num>
                        <m:den>
                          <m:r>
                            <a:rPr lang="en-US" sz="2600" i="1">
                              <a:solidFill>
                                <a:srgbClr val="000000"/>
                              </a:solidFill>
                              <a:latin typeface="Cambria Math" panose="02040503050406030204" pitchFamily="18" charset="0"/>
                            </a:rPr>
                            <m:t>4</m:t>
                          </m:r>
                          <m:r>
                            <a:rPr lang="en-US" sz="2600" i="1">
                              <a:solidFill>
                                <a:srgbClr val="000000"/>
                              </a:solidFill>
                              <a:latin typeface="Cambria Math" panose="02040503050406030204" pitchFamily="18" charset="0"/>
                            </a:rPr>
                            <m:t>𝜋</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𝜀</m:t>
                              </m:r>
                            </m:e>
                            <m:sub>
                              <m:r>
                                <a:rPr lang="en-US" sz="2600" i="1">
                                  <a:solidFill>
                                    <a:srgbClr val="000000"/>
                                  </a:solidFill>
                                  <a:latin typeface="Cambria Math" panose="02040503050406030204" pitchFamily="18" charset="0"/>
                                </a:rPr>
                                <m:t>0</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𝑟</m:t>
                              </m:r>
                            </m:e>
                            <m:sub>
                              <m:r>
                                <a:rPr lang="en-US" sz="2600" i="1">
                                  <a:solidFill>
                                    <a:srgbClr val="000000"/>
                                  </a:solidFill>
                                  <a:latin typeface="Cambria Math" panose="02040503050406030204" pitchFamily="18" charset="0"/>
                                </a:rPr>
                                <m:t>2</m:t>
                              </m:r>
                            </m:sub>
                          </m:sSub>
                        </m:den>
                      </m:f>
                    </m:oMath>
                  </m:oMathPara>
                </a14:m>
                <a:endParaRPr lang="en-US" sz="2600" dirty="0"/>
              </a:p>
            </p:txBody>
          </p:sp>
        </mc:Choice>
        <mc:Fallback xmlns="">
          <p:sp>
            <p:nvSpPr>
              <p:cNvPr id="34845" name="Object 29">
                <a:extLst>
                  <a:ext uri="{FF2B5EF4-FFF2-40B4-BE49-F238E27FC236}">
                    <a16:creationId xmlns:a16="http://schemas.microsoft.com/office/drawing/2014/main" id="{1F8F2104-72F9-4270-A4AC-F9B53AA804B2}"/>
                  </a:ext>
                </a:extLst>
              </p:cNvPr>
              <p:cNvSpPr txBox="1">
                <a:spLocks noRot="1" noChangeAspect="1" noMove="1" noResize="1" noEditPoints="1" noAdjustHandles="1" noChangeArrowheads="1" noChangeShapeType="1" noTextEdit="1"/>
              </p:cNvSpPr>
              <p:nvPr/>
            </p:nvSpPr>
            <p:spPr bwMode="auto">
              <a:xfrm>
                <a:off x="2800350" y="2852739"/>
                <a:ext cx="2990850" cy="1152525"/>
              </a:xfrm>
              <a:prstGeom prst="rect">
                <a:avLst/>
              </a:prstGeom>
              <a:blipFill>
                <a:blip r:embed="rId13"/>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8130F2CF-572D-4DCC-B767-86FFC0DC3DD2}"/>
                  </a:ext>
                </a:extLst>
              </p:cNvPr>
              <p:cNvSpPr txBox="1"/>
              <p:nvPr/>
            </p:nvSpPr>
            <p:spPr bwMode="auto">
              <a:xfrm>
                <a:off x="2424113" y="1676401"/>
                <a:ext cx="2519362" cy="7731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𝜙</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𝜙</m:t>
                          </m:r>
                        </m:e>
                        <m:sub>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𝑞</m:t>
                          </m:r>
                        </m:sub>
                      </m:sSub>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𝜙</m:t>
                          </m:r>
                        </m:e>
                        <m:sub>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𝑞</m:t>
                          </m:r>
                        </m:sub>
                      </m:sSub>
                    </m:oMath>
                  </m:oMathPara>
                </a14:m>
                <a:endParaRPr lang="en-US" sz="2600" dirty="0"/>
              </a:p>
            </p:txBody>
          </p:sp>
        </mc:Choice>
        <mc:Fallback xmlns="">
          <p:sp>
            <p:nvSpPr>
              <p:cNvPr id="2" name="Object 1">
                <a:extLst>
                  <a:ext uri="{FF2B5EF4-FFF2-40B4-BE49-F238E27FC236}">
                    <a16:creationId xmlns:a16="http://schemas.microsoft.com/office/drawing/2014/main" id="{8130F2CF-572D-4DCC-B767-86FFC0DC3DD2}"/>
                  </a:ext>
                </a:extLst>
              </p:cNvPr>
              <p:cNvSpPr txBox="1">
                <a:spLocks noRot="1" noChangeAspect="1" noMove="1" noResize="1" noEditPoints="1" noAdjustHandles="1" noChangeArrowheads="1" noChangeShapeType="1" noTextEdit="1"/>
              </p:cNvSpPr>
              <p:nvPr/>
            </p:nvSpPr>
            <p:spPr bwMode="auto">
              <a:xfrm>
                <a:off x="2424113" y="1676401"/>
                <a:ext cx="2519362" cy="773113"/>
              </a:xfrm>
              <a:prstGeom prst="rect">
                <a:avLst/>
              </a:prstGeom>
              <a:blipFill>
                <a:blip r:embed="rId14"/>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2">
                <a:extLst>
                  <a:ext uri="{FF2B5EF4-FFF2-40B4-BE49-F238E27FC236}">
                    <a16:creationId xmlns:a16="http://schemas.microsoft.com/office/drawing/2014/main" id="{9E1ED748-9915-4A85-ACF8-B5D8E0D1397B}"/>
                  </a:ext>
                </a:extLst>
              </p:cNvPr>
              <p:cNvSpPr txBox="1"/>
              <p:nvPr/>
            </p:nvSpPr>
            <p:spPr bwMode="auto">
              <a:xfrm>
                <a:off x="1791698" y="4335463"/>
                <a:ext cx="8372475" cy="1368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𝜙</m:t>
                      </m:r>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𝑞</m:t>
                          </m:r>
                        </m:num>
                        <m:den>
                          <m:r>
                            <a:rPr lang="en-US" sz="2600" i="1">
                              <a:solidFill>
                                <a:srgbClr val="000000"/>
                              </a:solidFill>
                              <a:latin typeface="Cambria Math" panose="02040503050406030204" pitchFamily="18" charset="0"/>
                            </a:rPr>
                            <m:t>4</m:t>
                          </m:r>
                          <m:r>
                            <a:rPr lang="en-US" sz="2600" i="1">
                              <a:solidFill>
                                <a:srgbClr val="000000"/>
                              </a:solidFill>
                              <a:latin typeface="Cambria Math" panose="02040503050406030204" pitchFamily="18" charset="0"/>
                            </a:rPr>
                            <m:t>𝜋</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𝜀</m:t>
                              </m:r>
                            </m:e>
                            <m:sub>
                              <m:r>
                                <a:rPr lang="en-US" sz="2600" i="1">
                                  <a:solidFill>
                                    <a:srgbClr val="000000"/>
                                  </a:solidFill>
                                  <a:latin typeface="Cambria Math" panose="02040503050406030204" pitchFamily="18" charset="0"/>
                                </a:rPr>
                                <m:t>0</m:t>
                              </m:r>
                            </m:sub>
                          </m:sSub>
                        </m:den>
                      </m:f>
                      <m:d>
                        <m:dPr>
                          <m:begChr m:val="["/>
                          <m:endChr m:val="]"/>
                          <m:ctrlPr>
                            <a:rPr lang="en-US" sz="2600" i="1">
                              <a:solidFill>
                                <a:srgbClr val="000000"/>
                              </a:solidFill>
                              <a:latin typeface="Cambria Math" panose="02040503050406030204" pitchFamily="18" charset="0"/>
                            </a:rPr>
                          </m:ctrlPr>
                        </m:dPr>
                        <m:e>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1</m:t>
                              </m:r>
                            </m:num>
                            <m:den>
                              <m:rad>
                                <m:radPr>
                                  <m:degHide m:val="on"/>
                                  <m:ctrlPr>
                                    <a:rPr lang="en-US" sz="2600" i="1">
                                      <a:solidFill>
                                        <a:srgbClr val="000000"/>
                                      </a:solidFill>
                                      <a:latin typeface="Cambria Math" panose="02040503050406030204" pitchFamily="18" charset="0"/>
                                    </a:rPr>
                                  </m:ctrlPr>
                                </m:radPr>
                                <m:deg/>
                                <m:e>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𝑥</m:t>
                                      </m:r>
                                    </m:e>
                                    <m:sup>
                                      <m:r>
                                        <a:rPr lang="en-US" sz="2600" i="1">
                                          <a:solidFill>
                                            <a:srgbClr val="000000"/>
                                          </a:solidFill>
                                          <a:latin typeface="Cambria Math" panose="02040503050406030204" pitchFamily="18" charset="0"/>
                                        </a:rPr>
                                        <m:t>2</m:t>
                                      </m:r>
                                    </m:sup>
                                  </m:sSup>
                                  <m:r>
                                    <a:rPr lang="en-US" sz="2600" i="1">
                                      <a:solidFill>
                                        <a:srgbClr val="000000"/>
                                      </a:solidFill>
                                      <a:latin typeface="Cambria Math" panose="02040503050406030204" pitchFamily="18" charset="0"/>
                                    </a:rPr>
                                    <m:t>+</m:t>
                                  </m:r>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𝑦</m:t>
                                      </m:r>
                                    </m:e>
                                    <m:sup>
                                      <m:r>
                                        <a:rPr lang="en-US" sz="2600" i="1">
                                          <a:solidFill>
                                            <a:srgbClr val="000000"/>
                                          </a:solidFill>
                                          <a:latin typeface="Cambria Math" panose="02040503050406030204" pitchFamily="18" charset="0"/>
                                        </a:rPr>
                                        <m:t>2</m:t>
                                      </m:r>
                                    </m:sup>
                                  </m:sSup>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𝑧</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𝑎</m:t>
                                  </m:r>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m:t>
                                      </m:r>
                                    </m:e>
                                    <m:sup>
                                      <m:r>
                                        <a:rPr lang="en-US" sz="2600" i="1">
                                          <a:solidFill>
                                            <a:srgbClr val="000000"/>
                                          </a:solidFill>
                                          <a:latin typeface="Cambria Math" panose="02040503050406030204" pitchFamily="18" charset="0"/>
                                        </a:rPr>
                                        <m:t>2</m:t>
                                      </m:r>
                                    </m:sup>
                                  </m:sSup>
                                </m:e>
                              </m:rad>
                            </m:den>
                          </m:f>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1</m:t>
                              </m:r>
                            </m:num>
                            <m:den>
                              <m:rad>
                                <m:radPr>
                                  <m:degHide m:val="on"/>
                                  <m:ctrlPr>
                                    <a:rPr lang="en-US" sz="2600" i="1">
                                      <a:solidFill>
                                        <a:srgbClr val="000000"/>
                                      </a:solidFill>
                                      <a:latin typeface="Cambria Math" panose="02040503050406030204" pitchFamily="18" charset="0"/>
                                    </a:rPr>
                                  </m:ctrlPr>
                                </m:radPr>
                                <m:deg/>
                                <m:e>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𝑥</m:t>
                                      </m:r>
                                    </m:e>
                                    <m:sup>
                                      <m:r>
                                        <a:rPr lang="en-US" sz="2600" i="1">
                                          <a:solidFill>
                                            <a:srgbClr val="000000"/>
                                          </a:solidFill>
                                          <a:latin typeface="Cambria Math" panose="02040503050406030204" pitchFamily="18" charset="0"/>
                                        </a:rPr>
                                        <m:t>2</m:t>
                                      </m:r>
                                    </m:sup>
                                  </m:sSup>
                                  <m:r>
                                    <a:rPr lang="en-US" sz="2600" i="1">
                                      <a:solidFill>
                                        <a:srgbClr val="000000"/>
                                      </a:solidFill>
                                      <a:latin typeface="Cambria Math" panose="02040503050406030204" pitchFamily="18" charset="0"/>
                                    </a:rPr>
                                    <m:t>+</m:t>
                                  </m:r>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𝑦</m:t>
                                      </m:r>
                                    </m:e>
                                    <m:sup>
                                      <m:r>
                                        <a:rPr lang="en-US" sz="2600" i="1">
                                          <a:solidFill>
                                            <a:srgbClr val="000000"/>
                                          </a:solidFill>
                                          <a:latin typeface="Cambria Math" panose="02040503050406030204" pitchFamily="18" charset="0"/>
                                        </a:rPr>
                                        <m:t>2</m:t>
                                      </m:r>
                                    </m:sup>
                                  </m:sSup>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𝑧</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𝑎</m:t>
                                  </m:r>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m:t>
                                      </m:r>
                                    </m:e>
                                    <m:sup>
                                      <m:r>
                                        <a:rPr lang="en-US" sz="2600" i="1">
                                          <a:solidFill>
                                            <a:srgbClr val="000000"/>
                                          </a:solidFill>
                                          <a:latin typeface="Cambria Math" panose="02040503050406030204" pitchFamily="18" charset="0"/>
                                        </a:rPr>
                                        <m:t>2</m:t>
                                      </m:r>
                                    </m:sup>
                                  </m:sSup>
                                </m:e>
                              </m:rad>
                            </m:den>
                          </m:f>
                        </m:e>
                      </m:d>
                    </m:oMath>
                  </m:oMathPara>
                </a14:m>
                <a:endParaRPr lang="en-US" sz="2600" dirty="0"/>
              </a:p>
            </p:txBody>
          </p:sp>
        </mc:Choice>
        <mc:Fallback xmlns="">
          <p:sp>
            <p:nvSpPr>
              <p:cNvPr id="3" name="Object 2">
                <a:extLst>
                  <a:ext uri="{FF2B5EF4-FFF2-40B4-BE49-F238E27FC236}">
                    <a16:creationId xmlns:a16="http://schemas.microsoft.com/office/drawing/2014/main" id="{9E1ED748-9915-4A85-ACF8-B5D8E0D1397B}"/>
                  </a:ext>
                </a:extLst>
              </p:cNvPr>
              <p:cNvSpPr txBox="1">
                <a:spLocks noRot="1" noChangeAspect="1" noMove="1" noResize="1" noEditPoints="1" noAdjustHandles="1" noChangeArrowheads="1" noChangeShapeType="1" noTextEdit="1"/>
              </p:cNvSpPr>
              <p:nvPr/>
            </p:nvSpPr>
            <p:spPr bwMode="auto">
              <a:xfrm>
                <a:off x="1791698" y="4335463"/>
                <a:ext cx="8372475" cy="1368425"/>
              </a:xfrm>
              <a:prstGeom prst="rect">
                <a:avLst/>
              </a:prstGeom>
              <a:blipFill>
                <a:blip r:embed="rId15"/>
                <a:stretch>
                  <a:fillRect/>
                </a:stretch>
              </a:blipFill>
              <a:ln>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27"/>
                                        </p:tgtEl>
                                        <p:attrNameLst>
                                          <p:attrName>style.visibility</p:attrName>
                                        </p:attrNameLst>
                                      </p:cBhvr>
                                      <p:to>
                                        <p:strVal val="visible"/>
                                      </p:to>
                                    </p:set>
                                    <p:animEffect transition="in" filter="blinds(horizontal)">
                                      <p:cBhvr>
                                        <p:cTn id="7" dur="500"/>
                                        <p:tgtEl>
                                          <p:spTgt spid="348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34842"/>
                                        </p:tgtEl>
                                        <p:attrNameLst>
                                          <p:attrName>style.visibility</p:attrName>
                                        </p:attrNameLst>
                                      </p:cBhvr>
                                      <p:to>
                                        <p:strVal val="visible"/>
                                      </p:to>
                                    </p:set>
                                    <p:animEffect transition="in" filter="blinds(vertical)">
                                      <p:cBhvr>
                                        <p:cTn id="12" dur="500"/>
                                        <p:tgtEl>
                                          <p:spTgt spid="348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4821"/>
                                        </p:tgtEl>
                                        <p:attrNameLst>
                                          <p:attrName>style.visibility</p:attrName>
                                        </p:attrNameLst>
                                      </p:cBhvr>
                                      <p:to>
                                        <p:strVal val="visible"/>
                                      </p:to>
                                    </p:set>
                                    <p:animEffect transition="in" filter="blinds(vertical)">
                                      <p:cBhvr>
                                        <p:cTn id="17" dur="500"/>
                                        <p:tgtEl>
                                          <p:spTgt spid="3482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48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5" grpId="0"/>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43" name="Object 3">
                <a:extLst>
                  <a:ext uri="{FF2B5EF4-FFF2-40B4-BE49-F238E27FC236}">
                    <a16:creationId xmlns:a16="http://schemas.microsoft.com/office/drawing/2014/main" id="{F0EBBEE6-03B1-4347-837B-CD21CD5F2E40}"/>
                  </a:ext>
                </a:extLst>
              </p:cNvPr>
              <p:cNvSpPr txBox="1"/>
              <p:nvPr/>
            </p:nvSpPr>
            <p:spPr bwMode="auto">
              <a:xfrm>
                <a:off x="4283076" y="3017839"/>
                <a:ext cx="4264025" cy="113347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den>
                      </m:f>
                      <m:d>
                        <m:dPr>
                          <m:begChr m:val="["/>
                          <m:endChr m:val="]"/>
                          <m:ctrlPr>
                            <a:rPr lang="en-US" sz="3200" i="1">
                              <a:solidFill>
                                <a:srgbClr val="000000"/>
                              </a:solidFill>
                              <a:latin typeface="Cambria Math" panose="02040503050406030204" pitchFamily="18" charset="0"/>
                            </a:rPr>
                          </m:ctrlPr>
                        </m:dPr>
                        <m:e>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𝑧</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𝑎</m:t>
                              </m:r>
                            </m:num>
                            <m:den>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1</m:t>
                                  </m:r>
                                </m:sub>
                                <m:sup>
                                  <m:r>
                                    <a:rPr lang="en-US" sz="3200" i="1">
                                      <a:solidFill>
                                        <a:srgbClr val="000000"/>
                                      </a:solidFill>
                                      <a:latin typeface="Cambria Math" panose="02040503050406030204" pitchFamily="18" charset="0"/>
                                    </a:rPr>
                                    <m:t>3</m:t>
                                  </m:r>
                                </m:sup>
                              </m:sSubSup>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𝑧</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𝑎</m:t>
                              </m:r>
                            </m:num>
                            <m:den>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2</m:t>
                                  </m:r>
                                </m:sub>
                                <m:sup>
                                  <m:r>
                                    <a:rPr lang="en-US" sz="3200" i="1">
                                      <a:solidFill>
                                        <a:srgbClr val="000000"/>
                                      </a:solidFill>
                                      <a:latin typeface="Cambria Math" panose="02040503050406030204" pitchFamily="18" charset="0"/>
                                    </a:rPr>
                                    <m:t>3</m:t>
                                  </m:r>
                                </m:sup>
                              </m:sSubSup>
                            </m:den>
                          </m:f>
                        </m:e>
                      </m:d>
                    </m:oMath>
                  </m:oMathPara>
                </a14:m>
                <a:endParaRPr lang="en-US" sz="3200" dirty="0"/>
              </a:p>
            </p:txBody>
          </p:sp>
        </mc:Choice>
        <mc:Fallback xmlns="">
          <p:sp>
            <p:nvSpPr>
              <p:cNvPr id="35843" name="Object 3">
                <a:extLst>
                  <a:ext uri="{FF2B5EF4-FFF2-40B4-BE49-F238E27FC236}">
                    <a16:creationId xmlns:a16="http://schemas.microsoft.com/office/drawing/2014/main" id="{F0EBBEE6-03B1-4347-837B-CD21CD5F2E40}"/>
                  </a:ext>
                </a:extLst>
              </p:cNvPr>
              <p:cNvSpPr txBox="1">
                <a:spLocks noRot="1" noChangeAspect="1" noMove="1" noResize="1" noEditPoints="1" noAdjustHandles="1" noChangeArrowheads="1" noChangeShapeType="1" noTextEdit="1"/>
              </p:cNvSpPr>
              <p:nvPr/>
            </p:nvSpPr>
            <p:spPr bwMode="auto">
              <a:xfrm>
                <a:off x="4283076" y="3017839"/>
                <a:ext cx="4264025" cy="1133475"/>
              </a:xfrm>
              <a:prstGeom prst="rect">
                <a:avLst/>
              </a:prstGeom>
              <a:blipFill>
                <a:blip r:embed="rId2"/>
                <a:stretch>
                  <a:fillRect b="-538"/>
                </a:stretch>
              </a:blipFill>
              <a:ln>
                <a:noFill/>
              </a:ln>
              <a:extLst/>
            </p:spPr>
            <p:txBody>
              <a:bodyPr/>
              <a:lstStyle/>
              <a:p>
                <a:r>
                  <a:rPr lang="en-US">
                    <a:noFill/>
                  </a:rPr>
                  <a:t> </a:t>
                </a:r>
              </a:p>
            </p:txBody>
          </p:sp>
        </mc:Fallback>
      </mc:AlternateContent>
      <p:sp>
        <p:nvSpPr>
          <p:cNvPr id="35844" name="Text Box 4">
            <a:extLst>
              <a:ext uri="{FF2B5EF4-FFF2-40B4-BE49-F238E27FC236}">
                <a16:creationId xmlns:a16="http://schemas.microsoft.com/office/drawing/2014/main" id="{2C4B7BCD-1677-44C4-A868-DA0A85D38DFE}"/>
              </a:ext>
            </a:extLst>
          </p:cNvPr>
          <p:cNvSpPr txBox="1">
            <a:spLocks noChangeArrowheads="1"/>
          </p:cNvSpPr>
          <p:nvPr/>
        </p:nvSpPr>
        <p:spPr bwMode="auto">
          <a:xfrm>
            <a:off x="1828800" y="4464050"/>
            <a:ext cx="4038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dirty="0">
                <a:latin typeface="华文楷体" panose="02010600040101010101" pitchFamily="2" charset="-122"/>
                <a:ea typeface="华文楷体" panose="02010600040101010101" pitchFamily="2" charset="-122"/>
              </a:rPr>
              <a:t>2)</a:t>
            </a:r>
            <a:r>
              <a:rPr lang="zh-CN" altLang="en-US" sz="3200" dirty="0">
                <a:latin typeface="华文楷体" panose="02010600040101010101" pitchFamily="2" charset="-122"/>
                <a:ea typeface="华文楷体" panose="02010600040101010101" pitchFamily="2" charset="-122"/>
              </a:rPr>
              <a:t>平板上电荷面密度</a:t>
            </a:r>
          </a:p>
        </p:txBody>
      </p:sp>
      <mc:AlternateContent xmlns:mc="http://schemas.openxmlformats.org/markup-compatibility/2006" xmlns:a14="http://schemas.microsoft.com/office/drawing/2010/main">
        <mc:Choice Requires="a14">
          <p:sp>
            <p:nvSpPr>
              <p:cNvPr id="35845" name="Object 5">
                <a:extLst>
                  <a:ext uri="{FF2B5EF4-FFF2-40B4-BE49-F238E27FC236}">
                    <a16:creationId xmlns:a16="http://schemas.microsoft.com/office/drawing/2014/main" id="{2223B586-6560-4C8C-BFEB-325876155FCB}"/>
                  </a:ext>
                </a:extLst>
              </p:cNvPr>
              <p:cNvSpPr txBox="1"/>
              <p:nvPr/>
            </p:nvSpPr>
            <p:spPr bwMode="auto">
              <a:xfrm>
                <a:off x="2590800" y="5454651"/>
                <a:ext cx="1905000" cy="75406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𝜎</m:t>
                      </m:r>
                      <m:r>
                        <a:rPr lang="en-US" sz="3200" i="1">
                          <a:solidFill>
                            <a:srgbClr val="000000"/>
                          </a:solidFill>
                          <a:latin typeface="Cambria Math" panose="02040503050406030204" pitchFamily="18" charset="0"/>
                        </a:rPr>
                        <m:t>=</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𝐸</m:t>
                          </m:r>
                        </m:e>
                        <m:sub>
                          <m:r>
                            <a:rPr lang="en-US" sz="3200" i="1">
                              <a:solidFill>
                                <a:srgbClr val="000000"/>
                              </a:solidFill>
                              <a:latin typeface="Cambria Math" panose="02040503050406030204" pitchFamily="18" charset="0"/>
                            </a:rPr>
                            <m:t>𝑧</m:t>
                          </m:r>
                        </m:sub>
                      </m:sSub>
                    </m:oMath>
                  </m:oMathPara>
                </a14:m>
                <a:endParaRPr lang="en-US" sz="3200" dirty="0"/>
              </a:p>
            </p:txBody>
          </p:sp>
        </mc:Choice>
        <mc:Fallback xmlns="">
          <p:sp>
            <p:nvSpPr>
              <p:cNvPr id="35845" name="Object 5">
                <a:extLst>
                  <a:ext uri="{FF2B5EF4-FFF2-40B4-BE49-F238E27FC236}">
                    <a16:creationId xmlns:a16="http://schemas.microsoft.com/office/drawing/2014/main" id="{2223B586-6560-4C8C-BFEB-325876155FCB}"/>
                  </a:ext>
                </a:extLst>
              </p:cNvPr>
              <p:cNvSpPr txBox="1">
                <a:spLocks noRot="1" noChangeAspect="1" noMove="1" noResize="1" noEditPoints="1" noAdjustHandles="1" noChangeArrowheads="1" noChangeShapeType="1" noTextEdit="1"/>
              </p:cNvSpPr>
              <p:nvPr/>
            </p:nvSpPr>
            <p:spPr bwMode="auto">
              <a:xfrm>
                <a:off x="2590800" y="5454651"/>
                <a:ext cx="1905000" cy="754063"/>
              </a:xfrm>
              <a:prstGeom prst="rect">
                <a:avLst/>
              </a:prstGeom>
              <a:blipFill>
                <a:blip r:embed="rId3"/>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846" name="Object 6">
                <a:extLst>
                  <a:ext uri="{FF2B5EF4-FFF2-40B4-BE49-F238E27FC236}">
                    <a16:creationId xmlns:a16="http://schemas.microsoft.com/office/drawing/2014/main" id="{B188F198-6468-41B0-B3E2-C67AEBFBBE52}"/>
                  </a:ext>
                </a:extLst>
              </p:cNvPr>
              <p:cNvSpPr txBox="1"/>
              <p:nvPr/>
            </p:nvSpPr>
            <p:spPr bwMode="auto">
              <a:xfrm>
                <a:off x="4495800" y="5251450"/>
                <a:ext cx="3962400" cy="14478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𝑞𝑎</m:t>
                          </m:r>
                        </m:num>
                        <m:den>
                          <m:r>
                            <a:rPr lang="en-US" sz="3200" i="1">
                              <a:solidFill>
                                <a:srgbClr val="000000"/>
                              </a:solidFill>
                              <a:latin typeface="Cambria Math" panose="02040503050406030204" pitchFamily="18" charset="0"/>
                            </a:rPr>
                            <m:t>2</m:t>
                          </m:r>
                          <m:r>
                            <a:rPr lang="en-US" sz="3200" i="1">
                              <a:solidFill>
                                <a:srgbClr val="000000"/>
                              </a:solidFill>
                              <a:latin typeface="Cambria Math" panose="02040503050406030204" pitchFamily="18" charset="0"/>
                            </a:rPr>
                            <m:t>𝜋</m:t>
                          </m:r>
                          <m:sSup>
                            <m:sSupPr>
                              <m:ctrlPr>
                                <a:rPr lang="en-US" sz="3200" i="1">
                                  <a:solidFill>
                                    <a:srgbClr val="000000"/>
                                  </a:solidFill>
                                  <a:latin typeface="Cambria Math" panose="02040503050406030204" pitchFamily="18" charset="0"/>
                                </a:rPr>
                              </m:ctrlPr>
                            </m:sSupPr>
                            <m:e>
                              <m:d>
                                <m:dPr>
                                  <m:begChr m:val="["/>
                                  <m:endChr m:val="]"/>
                                  <m:ctrlPr>
                                    <a:rPr lang="en-US" sz="3200" i="1">
                                      <a:solidFill>
                                        <a:srgbClr val="000000"/>
                                      </a:solidFill>
                                      <a:latin typeface="Cambria Math" panose="02040503050406030204" pitchFamily="18" charset="0"/>
                                    </a:rPr>
                                  </m:ctrlPr>
                                </m:dPr>
                                <m:e>
                                  <m:sSup>
                                    <m:sSupPr>
                                      <m:ctrlPr>
                                        <a:rPr lang="en-US" sz="3200" i="1">
                                          <a:solidFill>
                                            <a:srgbClr val="000000"/>
                                          </a:solidFill>
                                          <a:latin typeface="Cambria Math" panose="02040503050406030204" pitchFamily="18" charset="0"/>
                                        </a:rPr>
                                      </m:ctrlPr>
                                    </m:sSupPr>
                                    <m:e>
                                      <m:r>
                                        <a:rPr lang="en-US" sz="3200" i="1">
                                          <a:solidFill>
                                            <a:srgbClr val="000000"/>
                                          </a:solidFill>
                                          <a:latin typeface="Cambria Math" panose="02040503050406030204" pitchFamily="18" charset="0"/>
                                        </a:rPr>
                                        <m:t>𝑥</m:t>
                                      </m:r>
                                    </m:e>
                                    <m:sup>
                                      <m:r>
                                        <a:rPr lang="en-US" sz="3200" i="1">
                                          <a:solidFill>
                                            <a:srgbClr val="000000"/>
                                          </a:solidFill>
                                          <a:latin typeface="Cambria Math" panose="02040503050406030204" pitchFamily="18" charset="0"/>
                                        </a:rPr>
                                        <m:t>2</m:t>
                                      </m:r>
                                    </m:sup>
                                  </m:sSup>
                                  <m:r>
                                    <a:rPr lang="en-US" sz="3200" i="1">
                                      <a:solidFill>
                                        <a:srgbClr val="000000"/>
                                      </a:solidFill>
                                      <a:latin typeface="Cambria Math" panose="02040503050406030204" pitchFamily="18" charset="0"/>
                                    </a:rPr>
                                    <m:t>+</m:t>
                                  </m:r>
                                  <m:sSup>
                                    <m:sSupPr>
                                      <m:ctrlPr>
                                        <a:rPr lang="en-US" sz="3200" i="1">
                                          <a:solidFill>
                                            <a:srgbClr val="000000"/>
                                          </a:solidFill>
                                          <a:latin typeface="Cambria Math" panose="02040503050406030204" pitchFamily="18" charset="0"/>
                                        </a:rPr>
                                      </m:ctrlPr>
                                    </m:sSupPr>
                                    <m:e>
                                      <m:r>
                                        <a:rPr lang="en-US" sz="3200" i="1">
                                          <a:solidFill>
                                            <a:srgbClr val="000000"/>
                                          </a:solidFill>
                                          <a:latin typeface="Cambria Math" panose="02040503050406030204" pitchFamily="18" charset="0"/>
                                        </a:rPr>
                                        <m:t>𝑦</m:t>
                                      </m:r>
                                    </m:e>
                                    <m:sup>
                                      <m:r>
                                        <a:rPr lang="en-US" sz="3200" i="1">
                                          <a:solidFill>
                                            <a:srgbClr val="000000"/>
                                          </a:solidFill>
                                          <a:latin typeface="Cambria Math" panose="02040503050406030204" pitchFamily="18" charset="0"/>
                                        </a:rPr>
                                        <m:t>2</m:t>
                                      </m:r>
                                    </m:sup>
                                  </m:sSup>
                                  <m:r>
                                    <a:rPr lang="en-US" sz="3200" i="1">
                                      <a:solidFill>
                                        <a:srgbClr val="000000"/>
                                      </a:solidFill>
                                      <a:latin typeface="Cambria Math" panose="02040503050406030204" pitchFamily="18" charset="0"/>
                                    </a:rPr>
                                    <m:t>+</m:t>
                                  </m:r>
                                  <m:sSup>
                                    <m:sSupPr>
                                      <m:ctrlPr>
                                        <a:rPr lang="en-US" sz="3200" i="1">
                                          <a:solidFill>
                                            <a:srgbClr val="000000"/>
                                          </a:solidFill>
                                          <a:latin typeface="Cambria Math" panose="02040503050406030204" pitchFamily="18" charset="0"/>
                                        </a:rPr>
                                      </m:ctrlPr>
                                    </m:sSupPr>
                                    <m:e>
                                      <m:r>
                                        <a:rPr lang="en-US" sz="3200" i="1">
                                          <a:solidFill>
                                            <a:srgbClr val="000000"/>
                                          </a:solidFill>
                                          <a:latin typeface="Cambria Math" panose="02040503050406030204" pitchFamily="18" charset="0"/>
                                        </a:rPr>
                                        <m:t>𝑎</m:t>
                                      </m:r>
                                    </m:e>
                                    <m:sup>
                                      <m:r>
                                        <a:rPr lang="en-US" sz="3200" i="1">
                                          <a:solidFill>
                                            <a:srgbClr val="000000"/>
                                          </a:solidFill>
                                          <a:latin typeface="Cambria Math" panose="02040503050406030204" pitchFamily="18" charset="0"/>
                                        </a:rPr>
                                        <m:t>2</m:t>
                                      </m:r>
                                    </m:sup>
                                  </m:sSup>
                                </m:e>
                              </m:d>
                            </m:e>
                            <m:sup>
                              <m:f>
                                <m:fPr>
                                  <m:type m:val="skw"/>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3</m:t>
                                  </m:r>
                                </m:num>
                                <m:den>
                                  <m:r>
                                    <a:rPr lang="en-US" sz="3200" i="1">
                                      <a:solidFill>
                                        <a:srgbClr val="000000"/>
                                      </a:solidFill>
                                      <a:latin typeface="Cambria Math" panose="02040503050406030204" pitchFamily="18" charset="0"/>
                                    </a:rPr>
                                    <m:t>2</m:t>
                                  </m:r>
                                </m:den>
                              </m:f>
                            </m:sup>
                          </m:sSup>
                        </m:den>
                      </m:f>
                    </m:oMath>
                  </m:oMathPara>
                </a14:m>
                <a:endParaRPr lang="en-US" sz="3200" dirty="0"/>
              </a:p>
            </p:txBody>
          </p:sp>
        </mc:Choice>
        <mc:Fallback xmlns="">
          <p:sp>
            <p:nvSpPr>
              <p:cNvPr id="35846" name="Object 6">
                <a:extLst>
                  <a:ext uri="{FF2B5EF4-FFF2-40B4-BE49-F238E27FC236}">
                    <a16:creationId xmlns:a16="http://schemas.microsoft.com/office/drawing/2014/main" id="{B188F198-6468-41B0-B3E2-C67AEBFBBE52}"/>
                  </a:ext>
                </a:extLst>
              </p:cNvPr>
              <p:cNvSpPr txBox="1">
                <a:spLocks noRot="1" noChangeAspect="1" noMove="1" noResize="1" noEditPoints="1" noAdjustHandles="1" noChangeArrowheads="1" noChangeShapeType="1" noTextEdit="1"/>
              </p:cNvSpPr>
              <p:nvPr/>
            </p:nvSpPr>
            <p:spPr bwMode="auto">
              <a:xfrm>
                <a:off x="4495800" y="5251450"/>
                <a:ext cx="3962400" cy="1447800"/>
              </a:xfrm>
              <a:prstGeom prst="rect">
                <a:avLst/>
              </a:prstGeom>
              <a:blipFill>
                <a:blip r:embed="rId4"/>
                <a:stretch>
                  <a:fillRect r="-923"/>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847" name="Object 7">
                <a:extLst>
                  <a:ext uri="{FF2B5EF4-FFF2-40B4-BE49-F238E27FC236}">
                    <a16:creationId xmlns:a16="http://schemas.microsoft.com/office/drawing/2014/main" id="{3233315B-4534-4DC0-9A86-886689EBA108}"/>
                  </a:ext>
                </a:extLst>
              </p:cNvPr>
              <p:cNvSpPr txBox="1"/>
              <p:nvPr/>
            </p:nvSpPr>
            <p:spPr bwMode="auto">
              <a:xfrm>
                <a:off x="4211638" y="1649414"/>
                <a:ext cx="3332162" cy="115728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𝑞𝑦</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den>
                      </m:f>
                      <m:d>
                        <m:dPr>
                          <m:begChr m:val="["/>
                          <m:endChr m:val="]"/>
                          <m:ctrlPr>
                            <a:rPr lang="en-US" sz="3200" i="1">
                              <a:solidFill>
                                <a:srgbClr val="000000"/>
                              </a:solidFill>
                              <a:latin typeface="Cambria Math" panose="02040503050406030204" pitchFamily="18" charset="0"/>
                            </a:rPr>
                          </m:ctrlPr>
                        </m:dPr>
                        <m:e>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1</m:t>
                              </m:r>
                            </m:num>
                            <m:den>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1</m:t>
                                  </m:r>
                                </m:sub>
                                <m:sup>
                                  <m:r>
                                    <a:rPr lang="en-US" sz="3200" i="1">
                                      <a:solidFill>
                                        <a:srgbClr val="000000"/>
                                      </a:solidFill>
                                      <a:latin typeface="Cambria Math" panose="02040503050406030204" pitchFamily="18" charset="0"/>
                                    </a:rPr>
                                    <m:t>3</m:t>
                                  </m:r>
                                </m:sup>
                              </m:sSubSup>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1</m:t>
                              </m:r>
                            </m:num>
                            <m:den>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2</m:t>
                                  </m:r>
                                </m:sub>
                                <m:sup>
                                  <m:r>
                                    <a:rPr lang="en-US" sz="3200" i="1">
                                      <a:solidFill>
                                        <a:srgbClr val="000000"/>
                                      </a:solidFill>
                                      <a:latin typeface="Cambria Math" panose="02040503050406030204" pitchFamily="18" charset="0"/>
                                    </a:rPr>
                                    <m:t>3</m:t>
                                  </m:r>
                                </m:sup>
                              </m:sSubSup>
                            </m:den>
                          </m:f>
                        </m:e>
                      </m:d>
                    </m:oMath>
                  </m:oMathPara>
                </a14:m>
                <a:endParaRPr lang="en-US" sz="3200" dirty="0"/>
              </a:p>
            </p:txBody>
          </p:sp>
        </mc:Choice>
        <mc:Fallback xmlns="">
          <p:sp>
            <p:nvSpPr>
              <p:cNvPr id="35847" name="Object 7">
                <a:extLst>
                  <a:ext uri="{FF2B5EF4-FFF2-40B4-BE49-F238E27FC236}">
                    <a16:creationId xmlns:a16="http://schemas.microsoft.com/office/drawing/2014/main" id="{3233315B-4534-4DC0-9A86-886689EBA108}"/>
                  </a:ext>
                </a:extLst>
              </p:cNvPr>
              <p:cNvSpPr txBox="1">
                <a:spLocks noRot="1" noChangeAspect="1" noMove="1" noResize="1" noEditPoints="1" noAdjustHandles="1" noChangeArrowheads="1" noChangeShapeType="1" noTextEdit="1"/>
              </p:cNvSpPr>
              <p:nvPr/>
            </p:nvSpPr>
            <p:spPr bwMode="auto">
              <a:xfrm>
                <a:off x="4211638" y="1649414"/>
                <a:ext cx="3332162" cy="1157287"/>
              </a:xfrm>
              <a:prstGeom prst="rect">
                <a:avLst/>
              </a:prstGeom>
              <a:blipFill>
                <a:blip r:embed="rId5"/>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850" name="Object 10">
                <a:extLst>
                  <a:ext uri="{FF2B5EF4-FFF2-40B4-BE49-F238E27FC236}">
                    <a16:creationId xmlns:a16="http://schemas.microsoft.com/office/drawing/2014/main" id="{DB8E2E76-A712-4EE2-B206-DCEB265BF8A1}"/>
                  </a:ext>
                </a:extLst>
              </p:cNvPr>
              <p:cNvSpPr txBox="1"/>
              <p:nvPr/>
            </p:nvSpPr>
            <p:spPr bwMode="auto">
              <a:xfrm>
                <a:off x="4211639" y="209551"/>
                <a:ext cx="3044825" cy="1217613"/>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𝑞𝑥</m:t>
                          </m:r>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den>
                      </m:f>
                      <m:d>
                        <m:dPr>
                          <m:begChr m:val="["/>
                          <m:endChr m:val="]"/>
                          <m:ctrlPr>
                            <a:rPr lang="en-US" sz="3200" i="1">
                              <a:solidFill>
                                <a:srgbClr val="000000"/>
                              </a:solidFill>
                              <a:latin typeface="Cambria Math" panose="02040503050406030204" pitchFamily="18" charset="0"/>
                            </a:rPr>
                          </m:ctrlPr>
                        </m:dPr>
                        <m:e>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1</m:t>
                              </m:r>
                            </m:num>
                            <m:den>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1</m:t>
                                  </m:r>
                                </m:sub>
                                <m:sup>
                                  <m:r>
                                    <a:rPr lang="en-US" sz="3200" i="1">
                                      <a:solidFill>
                                        <a:srgbClr val="000000"/>
                                      </a:solidFill>
                                      <a:latin typeface="Cambria Math" panose="02040503050406030204" pitchFamily="18" charset="0"/>
                                    </a:rPr>
                                    <m:t>3</m:t>
                                  </m:r>
                                </m:sup>
                              </m:sSubSup>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1</m:t>
                              </m:r>
                            </m:num>
                            <m:den>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2</m:t>
                                  </m:r>
                                </m:sub>
                                <m:sup>
                                  <m:r>
                                    <a:rPr lang="en-US" sz="3200" i="1">
                                      <a:solidFill>
                                        <a:srgbClr val="000000"/>
                                      </a:solidFill>
                                      <a:latin typeface="Cambria Math" panose="02040503050406030204" pitchFamily="18" charset="0"/>
                                    </a:rPr>
                                    <m:t>3</m:t>
                                  </m:r>
                                </m:sup>
                              </m:sSubSup>
                            </m:den>
                          </m:f>
                        </m:e>
                      </m:d>
                    </m:oMath>
                  </m:oMathPara>
                </a14:m>
                <a:endParaRPr lang="en-US" sz="3200" dirty="0"/>
              </a:p>
            </p:txBody>
          </p:sp>
        </mc:Choice>
        <mc:Fallback xmlns="">
          <p:sp>
            <p:nvSpPr>
              <p:cNvPr id="35850" name="Object 10">
                <a:extLst>
                  <a:ext uri="{FF2B5EF4-FFF2-40B4-BE49-F238E27FC236}">
                    <a16:creationId xmlns:a16="http://schemas.microsoft.com/office/drawing/2014/main" id="{DB8E2E76-A712-4EE2-B206-DCEB265BF8A1}"/>
                  </a:ext>
                </a:extLst>
              </p:cNvPr>
              <p:cNvSpPr txBox="1">
                <a:spLocks noRot="1" noChangeAspect="1" noMove="1" noResize="1" noEditPoints="1" noAdjustHandles="1" noChangeArrowheads="1" noChangeShapeType="1" noTextEdit="1"/>
              </p:cNvSpPr>
              <p:nvPr/>
            </p:nvSpPr>
            <p:spPr bwMode="auto">
              <a:xfrm>
                <a:off x="4211639" y="209551"/>
                <a:ext cx="3044825" cy="1217613"/>
              </a:xfrm>
              <a:prstGeom prst="rect">
                <a:avLst/>
              </a:prstGeom>
              <a:blipFill>
                <a:blip r:embed="rId6"/>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851" name="Object 11">
                <a:extLst>
                  <a:ext uri="{FF2B5EF4-FFF2-40B4-BE49-F238E27FC236}">
                    <a16:creationId xmlns:a16="http://schemas.microsoft.com/office/drawing/2014/main" id="{F5F7BEA7-E1CF-46FE-A15D-558D12420BE4}"/>
                  </a:ext>
                </a:extLst>
              </p:cNvPr>
              <p:cNvSpPr txBox="1"/>
              <p:nvPr/>
            </p:nvSpPr>
            <p:spPr bwMode="auto">
              <a:xfrm>
                <a:off x="5943600" y="4464051"/>
                <a:ext cx="1238250" cy="63976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𝑧</m:t>
                      </m:r>
                      <m:r>
                        <a:rPr lang="en-US" sz="3200" i="1">
                          <a:solidFill>
                            <a:srgbClr val="000000"/>
                          </a:solidFill>
                          <a:latin typeface="Cambria Math" panose="02040503050406030204" pitchFamily="18" charset="0"/>
                        </a:rPr>
                        <m:t>=0</m:t>
                      </m:r>
                    </m:oMath>
                  </m:oMathPara>
                </a14:m>
                <a:endParaRPr lang="en-US" sz="3200" dirty="0"/>
              </a:p>
            </p:txBody>
          </p:sp>
        </mc:Choice>
        <mc:Fallback xmlns="">
          <p:sp>
            <p:nvSpPr>
              <p:cNvPr id="35851" name="Object 11">
                <a:extLst>
                  <a:ext uri="{FF2B5EF4-FFF2-40B4-BE49-F238E27FC236}">
                    <a16:creationId xmlns:a16="http://schemas.microsoft.com/office/drawing/2014/main" id="{F5F7BEA7-E1CF-46FE-A15D-558D12420BE4}"/>
                  </a:ext>
                </a:extLst>
              </p:cNvPr>
              <p:cNvSpPr txBox="1">
                <a:spLocks noRot="1" noChangeAspect="1" noMove="1" noResize="1" noEditPoints="1" noAdjustHandles="1" noChangeArrowheads="1" noChangeShapeType="1" noTextEdit="1"/>
              </p:cNvSpPr>
              <p:nvPr/>
            </p:nvSpPr>
            <p:spPr bwMode="auto">
              <a:xfrm>
                <a:off x="5943600" y="4464051"/>
                <a:ext cx="1238250" cy="639763"/>
              </a:xfrm>
              <a:prstGeom prst="rect">
                <a:avLst/>
              </a:prstGeom>
              <a:blipFill>
                <a:blip r:embed="rId7"/>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657" name="Object 2">
                <a:extLst>
                  <a:ext uri="{FF2B5EF4-FFF2-40B4-BE49-F238E27FC236}">
                    <a16:creationId xmlns:a16="http://schemas.microsoft.com/office/drawing/2014/main" id="{EF355F94-C990-4801-AEF7-75CE7AC81AAF}"/>
                  </a:ext>
                </a:extLst>
              </p:cNvPr>
              <p:cNvSpPr txBox="1"/>
              <p:nvPr/>
            </p:nvSpPr>
            <p:spPr bwMode="auto">
              <a:xfrm>
                <a:off x="2424114" y="333375"/>
                <a:ext cx="1800225" cy="107315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𝐸</m:t>
                          </m:r>
                        </m:e>
                        <m:sub>
                          <m:r>
                            <a:rPr lang="en-US" sz="3200" i="1">
                              <a:solidFill>
                                <a:srgbClr val="000000"/>
                              </a:solidFill>
                              <a:latin typeface="Cambria Math" panose="02040503050406030204" pitchFamily="18" charset="0"/>
                            </a:rPr>
                            <m:t>𝑥</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𝜕𝜙</m:t>
                          </m:r>
                        </m:num>
                        <m:den>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𝑥</m:t>
                          </m:r>
                        </m:den>
                      </m:f>
                    </m:oMath>
                  </m:oMathPara>
                </a14:m>
                <a:endParaRPr lang="en-US" sz="3200" dirty="0"/>
              </a:p>
            </p:txBody>
          </p:sp>
        </mc:Choice>
        <mc:Fallback xmlns="">
          <p:sp>
            <p:nvSpPr>
              <p:cNvPr id="27657" name="Object 2">
                <a:extLst>
                  <a:ext uri="{FF2B5EF4-FFF2-40B4-BE49-F238E27FC236}">
                    <a16:creationId xmlns:a16="http://schemas.microsoft.com/office/drawing/2014/main" id="{EF355F94-C990-4801-AEF7-75CE7AC81AAF}"/>
                  </a:ext>
                </a:extLst>
              </p:cNvPr>
              <p:cNvSpPr txBox="1">
                <a:spLocks noRot="1" noChangeAspect="1" noMove="1" noResize="1" noEditPoints="1" noAdjustHandles="1" noChangeArrowheads="1" noChangeShapeType="1" noTextEdit="1"/>
              </p:cNvSpPr>
              <p:nvPr/>
            </p:nvSpPr>
            <p:spPr bwMode="auto">
              <a:xfrm>
                <a:off x="2424114" y="333375"/>
                <a:ext cx="1800225" cy="1073150"/>
              </a:xfrm>
              <a:prstGeom prst="rect">
                <a:avLst/>
              </a:prstGeom>
              <a:blipFill>
                <a:blip r:embed="rId8"/>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9F4C9464-2F26-4F3B-B587-5213CDE84CFA}"/>
                  </a:ext>
                </a:extLst>
              </p:cNvPr>
              <p:cNvSpPr txBox="1"/>
              <p:nvPr/>
            </p:nvSpPr>
            <p:spPr bwMode="auto">
              <a:xfrm>
                <a:off x="2424114" y="1665288"/>
                <a:ext cx="1800225" cy="114300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𝐸</m:t>
                          </m:r>
                        </m:e>
                        <m:sub>
                          <m:r>
                            <a:rPr lang="en-US" sz="3200" i="1">
                              <a:solidFill>
                                <a:srgbClr val="000000"/>
                              </a:solidFill>
                              <a:latin typeface="Cambria Math" panose="02040503050406030204" pitchFamily="18" charset="0"/>
                            </a:rPr>
                            <m:t>𝑦</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𝜕𝜙</m:t>
                          </m:r>
                        </m:num>
                        <m:den>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𝑦</m:t>
                          </m:r>
                        </m:den>
                      </m:f>
                    </m:oMath>
                  </m:oMathPara>
                </a14:m>
                <a:endParaRPr lang="en-US" sz="3200" dirty="0"/>
              </a:p>
            </p:txBody>
          </p:sp>
        </mc:Choice>
        <mc:Fallback xmlns="">
          <p:sp>
            <p:nvSpPr>
              <p:cNvPr id="4" name="Object 3">
                <a:extLst>
                  <a:ext uri="{FF2B5EF4-FFF2-40B4-BE49-F238E27FC236}">
                    <a16:creationId xmlns:a16="http://schemas.microsoft.com/office/drawing/2014/main" id="{9F4C9464-2F26-4F3B-B587-5213CDE84CFA}"/>
                  </a:ext>
                </a:extLst>
              </p:cNvPr>
              <p:cNvSpPr txBox="1">
                <a:spLocks noRot="1" noChangeAspect="1" noMove="1" noResize="1" noEditPoints="1" noAdjustHandles="1" noChangeArrowheads="1" noChangeShapeType="1" noTextEdit="1"/>
              </p:cNvSpPr>
              <p:nvPr/>
            </p:nvSpPr>
            <p:spPr bwMode="auto">
              <a:xfrm>
                <a:off x="2424114" y="1665288"/>
                <a:ext cx="1800225" cy="1143000"/>
              </a:xfrm>
              <a:prstGeom prst="rect">
                <a:avLst/>
              </a:prstGeom>
              <a:blipFill>
                <a:blip r:embed="rId9"/>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1A7C4617-B92C-464D-B2E0-7F082DD287DE}"/>
                  </a:ext>
                </a:extLst>
              </p:cNvPr>
              <p:cNvSpPr txBox="1"/>
              <p:nvPr/>
            </p:nvSpPr>
            <p:spPr bwMode="auto">
              <a:xfrm>
                <a:off x="2441575" y="3068638"/>
                <a:ext cx="1765300" cy="107315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𝐸</m:t>
                          </m:r>
                        </m:e>
                        <m:sub>
                          <m:r>
                            <a:rPr lang="en-US" sz="3200" i="1">
                              <a:solidFill>
                                <a:srgbClr val="000000"/>
                              </a:solidFill>
                              <a:latin typeface="Cambria Math" panose="02040503050406030204" pitchFamily="18" charset="0"/>
                            </a:rPr>
                            <m:t>𝑧</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𝜕𝜙</m:t>
                          </m:r>
                        </m:num>
                        <m:den>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𝑧</m:t>
                          </m:r>
                        </m:den>
                      </m:f>
                    </m:oMath>
                  </m:oMathPara>
                </a14:m>
                <a:endParaRPr lang="en-US" sz="3200" dirty="0"/>
              </a:p>
            </p:txBody>
          </p:sp>
        </mc:Choice>
        <mc:Fallback xmlns="">
          <p:sp>
            <p:nvSpPr>
              <p:cNvPr id="5" name="Object 4">
                <a:extLst>
                  <a:ext uri="{FF2B5EF4-FFF2-40B4-BE49-F238E27FC236}">
                    <a16:creationId xmlns:a16="http://schemas.microsoft.com/office/drawing/2014/main" id="{1A7C4617-B92C-464D-B2E0-7F082DD287DE}"/>
                  </a:ext>
                </a:extLst>
              </p:cNvPr>
              <p:cNvSpPr txBox="1">
                <a:spLocks noRot="1" noChangeAspect="1" noMove="1" noResize="1" noEditPoints="1" noAdjustHandles="1" noChangeArrowheads="1" noChangeShapeType="1" noTextEdit="1"/>
              </p:cNvSpPr>
              <p:nvPr/>
            </p:nvSpPr>
            <p:spPr bwMode="auto">
              <a:xfrm>
                <a:off x="2441575" y="3068638"/>
                <a:ext cx="1765300" cy="1073150"/>
              </a:xfrm>
              <a:prstGeom prst="rect">
                <a:avLst/>
              </a:prstGeom>
              <a:blipFill>
                <a:blip r:embed="rId10"/>
                <a:stretch>
                  <a:fillRect/>
                </a:stretch>
              </a:blipFill>
              <a:ln>
                <a:noFill/>
              </a:ln>
              <a:ex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8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8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8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8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8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P spid="35844" grpId="0"/>
      <p:bldP spid="35845" grpId="0"/>
      <p:bldP spid="35846" grpId="0"/>
      <p:bldP spid="35847" grpId="0"/>
      <p:bldP spid="35850" grpId="0"/>
      <p:bldP spid="35851" grpId="0"/>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391265" y="2363801"/>
            <a:ext cx="7468711"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作业 ：课后习题</a:t>
            </a:r>
            <a:r>
              <a:rPr lang="en-US" altLang="zh-CN" sz="3200" kern="0" dirty="0">
                <a:solidFill>
                  <a:srgbClr val="000000"/>
                </a:solidFill>
                <a:latin typeface="+mj-lt"/>
                <a:ea typeface="+mj-ea"/>
                <a:cs typeface="宋体" panose="02010600030101010101" pitchFamily="2" charset="-122"/>
              </a:rPr>
              <a:t>14.3</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14.5</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cs typeface="宋体" panose="02010600030101010101" pitchFamily="2" charset="-122"/>
              </a:rPr>
              <a:t> 14.7</a:t>
            </a:r>
            <a:r>
              <a:rPr lang="zh-CN" altLang="en-US" sz="3200" kern="0" dirty="0">
                <a:solidFill>
                  <a:srgbClr val="000000"/>
                </a:solidFill>
                <a:cs typeface="宋体" panose="02010600030101010101" pitchFamily="2" charset="-122"/>
              </a:rPr>
              <a:t>， </a:t>
            </a:r>
            <a:r>
              <a:rPr lang="en-US" altLang="zh-CN" sz="3200" kern="0" dirty="0">
                <a:solidFill>
                  <a:srgbClr val="000000"/>
                </a:solidFill>
                <a:latin typeface="+mj-lt"/>
                <a:ea typeface="+mj-ea"/>
                <a:cs typeface="宋体" panose="02010600030101010101" pitchFamily="2" charset="-122"/>
              </a:rPr>
              <a:t>14.8</a:t>
            </a:r>
            <a:endParaRPr lang="en-US" sz="3200" kern="100" dirty="0">
              <a:effectLst/>
              <a:latin typeface="+mj-lt"/>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348143" y="3617037"/>
            <a:ext cx="4801314"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截止时间： </a:t>
            </a:r>
            <a:r>
              <a:rPr lang="en-US" altLang="zh-CN" sz="3200" kern="0" dirty="0">
                <a:solidFill>
                  <a:srgbClr val="000000"/>
                </a:solidFill>
                <a:latin typeface="+mj-lt"/>
                <a:ea typeface="+mj-ea"/>
                <a:cs typeface="宋体" panose="02010600030101010101" pitchFamily="2" charset="-122"/>
              </a:rPr>
              <a:t>4</a:t>
            </a:r>
            <a:r>
              <a:rPr lang="zh-CN" altLang="en-US" sz="3200" kern="0" dirty="0">
                <a:solidFill>
                  <a:srgbClr val="000000"/>
                </a:solidFill>
                <a:latin typeface="+mj-lt"/>
                <a:ea typeface="+mj-ea"/>
                <a:cs typeface="宋体" panose="02010600030101010101" pitchFamily="2" charset="-122"/>
              </a:rPr>
              <a:t>月</a:t>
            </a:r>
            <a:r>
              <a:rPr lang="en-US" altLang="zh-CN" sz="3200" kern="0" dirty="0">
                <a:solidFill>
                  <a:srgbClr val="000000"/>
                </a:solidFill>
                <a:latin typeface="+mj-lt"/>
                <a:ea typeface="+mj-ea"/>
                <a:cs typeface="宋体" panose="02010600030101010101" pitchFamily="2" charset="-122"/>
              </a:rPr>
              <a:t>2</a:t>
            </a:r>
            <a:r>
              <a:rPr lang="zh-CN" altLang="en-US" sz="3200" kern="0" dirty="0">
                <a:solidFill>
                  <a:srgbClr val="000000"/>
                </a:solidFill>
                <a:latin typeface="+mj-lt"/>
                <a:ea typeface="+mj-ea"/>
                <a:cs typeface="宋体" panose="02010600030101010101" pitchFamily="2" charset="-122"/>
              </a:rPr>
              <a:t>日</a:t>
            </a:r>
            <a:r>
              <a:rPr lang="en-US" altLang="zh-CN" sz="3200" kern="0" dirty="0">
                <a:solidFill>
                  <a:srgbClr val="000000"/>
                </a:solidFill>
                <a:latin typeface="+mj-lt"/>
                <a:ea typeface="+mj-ea"/>
                <a:cs typeface="宋体" panose="02010600030101010101" pitchFamily="2" charset="-122"/>
              </a:rPr>
              <a:t>10</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10</a:t>
            </a:r>
            <a:endParaRPr lang="en-US" sz="3200" kern="10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2974958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170115" y="263316"/>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15</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 章     静电场中的电介质</a:t>
            </a:r>
            <a:endPar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3213240" y="1697521"/>
            <a:ext cx="523199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1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电解质对电场的影响</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3213240" y="2992921"/>
            <a:ext cx="6527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3  </a:t>
            </a:r>
            <a:r>
              <a:rPr lang="en-US" altLang="zh-CN" sz="3200" b="1" dirty="0">
                <a:solidFill>
                  <a:schemeClr val="tx1"/>
                </a:solidFill>
                <a:latin typeface="+mn-lt"/>
                <a:ea typeface="华文楷体" panose="02010600040101010101" pitchFamily="2" charset="-122"/>
                <a:cs typeface="Arial" panose="020B0604020202020204" pitchFamily="34" charset="0"/>
              </a:rPr>
              <a:t>D</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的高斯定律</a:t>
            </a:r>
          </a:p>
        </p:txBody>
      </p:sp>
      <p:sp>
        <p:nvSpPr>
          <p:cNvPr id="4115" name="Text Box 19">
            <a:hlinkClick r:id="" action="ppaction://noaction"/>
            <a:extLst>
              <a:ext uri="{FF2B5EF4-FFF2-40B4-BE49-F238E27FC236}">
                <a16:creationId xmlns:a16="http://schemas.microsoft.com/office/drawing/2014/main" id="{2E74E40B-D4E9-420C-843A-63B8B00C8FD2}"/>
              </a:ext>
            </a:extLst>
          </p:cNvPr>
          <p:cNvSpPr txBox="1">
            <a:spLocks noChangeArrowheads="1"/>
          </p:cNvSpPr>
          <p:nvPr/>
        </p:nvSpPr>
        <p:spPr bwMode="auto">
          <a:xfrm>
            <a:off x="3203717" y="3642207"/>
            <a:ext cx="39228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4</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  电容器和它的电容</a:t>
            </a:r>
          </a:p>
        </p:txBody>
      </p:sp>
      <p:sp>
        <p:nvSpPr>
          <p:cNvPr id="4116" name="Rectangle 20">
            <a:hlinkClick r:id="" action="ppaction://noaction"/>
            <a:extLst>
              <a:ext uri="{FF2B5EF4-FFF2-40B4-BE49-F238E27FC236}">
                <a16:creationId xmlns:a16="http://schemas.microsoft.com/office/drawing/2014/main" id="{163FEB06-B244-41DC-9745-09D2B510C55A}"/>
              </a:ext>
            </a:extLst>
          </p:cNvPr>
          <p:cNvSpPr>
            <a:spLocks noChangeArrowheads="1"/>
          </p:cNvSpPr>
          <p:nvPr/>
        </p:nvSpPr>
        <p:spPr bwMode="auto">
          <a:xfrm>
            <a:off x="3213240" y="4351546"/>
            <a:ext cx="467995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514350" indent="-514350">
              <a:spcBef>
                <a:spcPct val="50000"/>
              </a:spcBef>
              <a:buAutoNum type="arabicPlain" startAt="5"/>
            </a:pP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电容器的能量</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3213242" y="2345221"/>
            <a:ext cx="615424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2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电解质的极化</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28100134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C59E6DF-6026-4BF2-A0A7-080D555FDA56}"/>
              </a:ext>
            </a:extLst>
          </p:cNvPr>
          <p:cNvSpPr/>
          <p:nvPr/>
        </p:nvSpPr>
        <p:spPr>
          <a:xfrm>
            <a:off x="789827" y="417535"/>
            <a:ext cx="10421511" cy="584775"/>
          </a:xfrm>
          <a:prstGeom prst="rect">
            <a:avLst/>
          </a:prstGeom>
        </p:spPr>
        <p:txBody>
          <a:bodyPr wrap="square">
            <a:spAutoFit/>
          </a:bodyPr>
          <a:lstStyle/>
          <a:p>
            <a:pPr marL="457200" lvl="0" indent="-4572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电介质</a:t>
            </a:r>
          </a:p>
        </p:txBody>
      </p:sp>
      <p:pic>
        <p:nvPicPr>
          <p:cNvPr id="37890" name="Picture 2" descr="how to draw a sodium chloride lattice">
            <a:extLst>
              <a:ext uri="{FF2B5EF4-FFF2-40B4-BE49-F238E27FC236}">
                <a16:creationId xmlns:a16="http://schemas.microsoft.com/office/drawing/2014/main" id="{7036E9F1-FF45-EECE-10A2-6A6AAB9C4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6101" y="1800171"/>
            <a:ext cx="2942366" cy="1979289"/>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141810EC-B0D8-AB77-F6E5-79E0993E93B3}"/>
              </a:ext>
            </a:extLst>
          </p:cNvPr>
          <p:cNvPicPr>
            <a:picLocks noChangeAspect="1"/>
          </p:cNvPicPr>
          <p:nvPr/>
        </p:nvPicPr>
        <p:blipFill rotWithShape="1">
          <a:blip r:embed="rId3"/>
          <a:srcRect r="1728"/>
          <a:stretch/>
        </p:blipFill>
        <p:spPr>
          <a:xfrm>
            <a:off x="5962494" y="3969712"/>
            <a:ext cx="3295333" cy="1594759"/>
          </a:xfrm>
          <a:prstGeom prst="rect">
            <a:avLst/>
          </a:prstGeom>
        </p:spPr>
      </p:pic>
      <p:pic>
        <p:nvPicPr>
          <p:cNvPr id="37892" name="Picture 4" descr="Natural rubber (cis-1,4-polyisoprene), chemical structure - linear fragment  (detail). used to manufacture surgeons' gloves, | CanStock">
            <a:extLst>
              <a:ext uri="{FF2B5EF4-FFF2-40B4-BE49-F238E27FC236}">
                <a16:creationId xmlns:a16="http://schemas.microsoft.com/office/drawing/2014/main" id="{6C19C91F-D3CD-0883-2CB5-F2E0F1FB2F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002"/>
          <a:stretch/>
        </p:blipFill>
        <p:spPr bwMode="auto">
          <a:xfrm>
            <a:off x="1278834" y="1489185"/>
            <a:ext cx="3681098" cy="355908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41CD4AC9-6831-4C91-A706-677CD23B0FCC}"/>
              </a:ext>
            </a:extLst>
          </p:cNvPr>
          <p:cNvSpPr/>
          <p:nvPr/>
        </p:nvSpPr>
        <p:spPr>
          <a:xfrm>
            <a:off x="3124178" y="4773046"/>
            <a:ext cx="902811" cy="523220"/>
          </a:xfrm>
          <a:prstGeom prst="rect">
            <a:avLst/>
          </a:prstGeom>
        </p:spPr>
        <p:txBody>
          <a:bodyPr wrap="none">
            <a:spAutoFit/>
          </a:bodyPr>
          <a:lstStyle/>
          <a:p>
            <a:r>
              <a:rPr lang="zh-CN" altLang="en-US"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橡胶</a:t>
            </a:r>
            <a:endParaRPr lang="en-US" sz="2800" dirty="0"/>
          </a:p>
        </p:txBody>
      </p:sp>
    </p:spTree>
    <p:extLst>
      <p:ext uri="{BB962C8B-B14F-4D97-AF65-F5344CB8AC3E}">
        <p14:creationId xmlns:p14="http://schemas.microsoft.com/office/powerpoint/2010/main" val="35546762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5" descr="25%">
            <a:extLst>
              <a:ext uri="{FF2B5EF4-FFF2-40B4-BE49-F238E27FC236}">
                <a16:creationId xmlns:a16="http://schemas.microsoft.com/office/drawing/2014/main" id="{7C522CF6-1915-65ED-31B5-1B602E38C85F}"/>
              </a:ext>
            </a:extLst>
          </p:cNvPr>
          <p:cNvSpPr/>
          <p:nvPr/>
        </p:nvSpPr>
        <p:spPr>
          <a:xfrm>
            <a:off x="7696200" y="2333625"/>
            <a:ext cx="1524000" cy="609600"/>
          </a:xfrm>
          <a:prstGeom prst="rect">
            <a:avLst/>
          </a:prstGeom>
          <a:pattFill prst="pct25">
            <a:fgClr>
              <a:srgbClr val="0066FF"/>
            </a:fgClr>
            <a:bgClr>
              <a:schemeClr val="bg1"/>
            </a:bgClr>
          </a:pattFill>
          <a:ln w="9525">
            <a:noFill/>
          </a:ln>
        </p:spPr>
        <p:txBody>
          <a:bodyPr wrap="none" anchor="ctr" anchorCtr="0"/>
          <a:lstStyle/>
          <a:p>
            <a:pPr algn="ctr"/>
            <a:endParaRPr lang="zh-CN" altLang="en-US" dirty="0">
              <a:latin typeface="Times New Roman" panose="02020603050405020304" pitchFamily="18" charset="0"/>
              <a:ea typeface="宋体" panose="02010600030101010101" pitchFamily="2" charset="-122"/>
            </a:endParaRPr>
          </a:p>
        </p:txBody>
      </p:sp>
      <p:grpSp>
        <p:nvGrpSpPr>
          <p:cNvPr id="2" name="Group 2"/>
          <p:cNvGrpSpPr/>
          <p:nvPr/>
        </p:nvGrpSpPr>
        <p:grpSpPr>
          <a:xfrm>
            <a:off x="1828800" y="1708150"/>
            <a:ext cx="4832350" cy="2057400"/>
            <a:chOff x="480" y="1056"/>
            <a:chExt cx="3044" cy="1296"/>
          </a:xfrm>
        </p:grpSpPr>
        <p:grpSp>
          <p:nvGrpSpPr>
            <p:cNvPr id="43012" name="Group 5"/>
            <p:cNvGrpSpPr/>
            <p:nvPr/>
          </p:nvGrpSpPr>
          <p:grpSpPr>
            <a:xfrm>
              <a:off x="480" y="1056"/>
              <a:ext cx="2016" cy="1296"/>
              <a:chOff x="480" y="1056"/>
              <a:chExt cx="2016" cy="1296"/>
            </a:xfrm>
          </p:grpSpPr>
          <p:sp>
            <p:nvSpPr>
              <p:cNvPr id="43013" name="Oval 6"/>
              <p:cNvSpPr/>
              <p:nvPr/>
            </p:nvSpPr>
            <p:spPr>
              <a:xfrm>
                <a:off x="480" y="1440"/>
                <a:ext cx="768" cy="720"/>
              </a:xfrm>
              <a:prstGeom prst="ellipse">
                <a:avLst/>
              </a:prstGeom>
              <a:gradFill rotWithShape="0">
                <a:gsLst>
                  <a:gs pos="0">
                    <a:srgbClr val="FFFFFF"/>
                  </a:gs>
                  <a:gs pos="100000">
                    <a:srgbClr val="99CCFF"/>
                  </a:gs>
                </a:gsLst>
                <a:path path="shape">
                  <a:fillToRect l="50000" t="50000" r="50000" b="50000"/>
                </a:path>
                <a:tileRect/>
              </a:gradFill>
              <a:ln w="2857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Times New Roman" panose="02020603050405020304" pitchFamily="18" charset="0"/>
                  <a:ea typeface="宋体" panose="02010600030101010101" pitchFamily="2" charset="-122"/>
                </a:endParaRPr>
              </a:p>
            </p:txBody>
          </p:sp>
          <p:sp>
            <p:nvSpPr>
              <p:cNvPr id="43014" name="Arc 7"/>
              <p:cNvSpPr/>
              <p:nvPr/>
            </p:nvSpPr>
            <p:spPr>
              <a:xfrm rot="-3252027">
                <a:off x="634" y="1482"/>
                <a:ext cx="384" cy="407"/>
              </a:xfrm>
              <a:custGeom>
                <a:avLst/>
                <a:gdLst/>
                <a:ahLst/>
                <a:cxnLst>
                  <a:cxn ang="0">
                    <a:pos x="0" y="0"/>
                  </a:cxn>
                  <a:cxn ang="0">
                    <a:pos x="0" y="0"/>
                  </a:cxn>
                  <a:cxn ang="0">
                    <a:pos x="0" y="0"/>
                  </a:cxn>
                </a:cxnLst>
                <a:rect l="0" t="0" r="0" b="0"/>
                <a:pathLst>
                  <a:path w="21600" h="23905" fill="none">
                    <a:moveTo>
                      <a:pt x="4136" y="-1"/>
                    </a:moveTo>
                    <a:cubicBezTo>
                      <a:pt x="14279" y="1978"/>
                      <a:pt x="21600" y="10865"/>
                      <a:pt x="21600" y="21200"/>
                    </a:cubicBezTo>
                    <a:cubicBezTo>
                      <a:pt x="21600" y="22104"/>
                      <a:pt x="21543" y="23007"/>
                      <a:pt x="21429" y="23904"/>
                    </a:cubicBezTo>
                  </a:path>
                  <a:path w="21600" h="23905" stroke="0">
                    <a:moveTo>
                      <a:pt x="4136" y="-1"/>
                    </a:moveTo>
                    <a:cubicBezTo>
                      <a:pt x="14279" y="1978"/>
                      <a:pt x="21600" y="10865"/>
                      <a:pt x="21600" y="21200"/>
                    </a:cubicBezTo>
                    <a:cubicBezTo>
                      <a:pt x="21600" y="22104"/>
                      <a:pt x="21543" y="23007"/>
                      <a:pt x="21429" y="23904"/>
                    </a:cubicBezTo>
                    <a:lnTo>
                      <a:pt x="0" y="21200"/>
                    </a:lnTo>
                    <a:lnTo>
                      <a:pt x="4136" y="-1"/>
                    </a:lnTo>
                    <a:close/>
                  </a:path>
                </a:pathLst>
              </a:custGeom>
              <a:noFill/>
              <a:ln w="28575" cap="flat" cmpd="sng">
                <a:solidFill>
                  <a:srgbClr val="0000FF"/>
                </a:solidFill>
                <a:prstDash val="solid"/>
                <a:round/>
                <a:headEnd type="none" w="sm" len="lg"/>
                <a:tailEnd type="none" w="sm" len="lg"/>
              </a:ln>
            </p:spPr>
            <p:txBody>
              <a:bodyPr/>
              <a:lstStyle/>
              <a:p>
                <a:endParaRPr lang="zh-CN" altLang="en-US"/>
              </a:p>
            </p:txBody>
          </p:sp>
          <p:sp>
            <p:nvSpPr>
              <p:cNvPr id="43015" name="Freeform 8"/>
              <p:cNvSpPr/>
              <p:nvPr/>
            </p:nvSpPr>
            <p:spPr>
              <a:xfrm>
                <a:off x="858" y="1605"/>
                <a:ext cx="177" cy="255"/>
              </a:xfrm>
              <a:custGeom>
                <a:avLst/>
                <a:gdLst/>
                <a:ahLst/>
                <a:cxnLst>
                  <a:cxn ang="0">
                    <a:pos x="0" y="255"/>
                  </a:cxn>
                  <a:cxn ang="0">
                    <a:pos x="177" y="0"/>
                  </a:cxn>
                </a:cxnLst>
                <a:rect l="0" t="0" r="0" b="0"/>
                <a:pathLst>
                  <a:path w="177" h="255">
                    <a:moveTo>
                      <a:pt x="0" y="255"/>
                    </a:moveTo>
                    <a:lnTo>
                      <a:pt x="177" y="0"/>
                    </a:lnTo>
                  </a:path>
                </a:pathLst>
              </a:custGeom>
              <a:noFill/>
              <a:ln w="38100" cap="flat" cmpd="sng">
                <a:solidFill>
                  <a:srgbClr val="FF0000"/>
                </a:solidFill>
                <a:prstDash val="solid"/>
                <a:round/>
                <a:headEnd type="none" w="sm" len="lg"/>
                <a:tailEnd type="triangle" w="sm" len="lg"/>
              </a:ln>
            </p:spPr>
            <p:txBody>
              <a:bodyPr/>
              <a:lstStyle/>
              <a:p>
                <a:endParaRPr lang="zh-CN" altLang="en-US"/>
              </a:p>
            </p:txBody>
          </p:sp>
          <p:sp>
            <p:nvSpPr>
              <p:cNvPr id="43016" name="Line 9"/>
              <p:cNvSpPr/>
              <p:nvPr/>
            </p:nvSpPr>
            <p:spPr>
              <a:xfrm>
                <a:off x="864" y="1056"/>
                <a:ext cx="1152" cy="0"/>
              </a:xfrm>
              <a:prstGeom prst="line">
                <a:avLst/>
              </a:prstGeom>
              <a:ln w="28575" cap="flat" cmpd="sng">
                <a:solidFill>
                  <a:schemeClr val="tx1"/>
                </a:solidFill>
                <a:prstDash val="solid"/>
                <a:round/>
                <a:headEnd type="none" w="sm" len="lg"/>
                <a:tailEnd type="none" w="sm" len="lg"/>
              </a:ln>
            </p:spPr>
          </p:sp>
          <p:sp>
            <p:nvSpPr>
              <p:cNvPr id="43017" name="Line 10"/>
              <p:cNvSpPr/>
              <p:nvPr/>
            </p:nvSpPr>
            <p:spPr>
              <a:xfrm>
                <a:off x="864" y="2352"/>
                <a:ext cx="1152" cy="0"/>
              </a:xfrm>
              <a:prstGeom prst="line">
                <a:avLst/>
              </a:prstGeom>
              <a:ln w="28575" cap="flat" cmpd="sng">
                <a:solidFill>
                  <a:schemeClr val="tx1"/>
                </a:solidFill>
                <a:prstDash val="solid"/>
                <a:round/>
                <a:headEnd type="none" w="sm" len="lg"/>
                <a:tailEnd type="none" w="sm" len="lg"/>
              </a:ln>
            </p:spPr>
          </p:sp>
          <p:sp>
            <p:nvSpPr>
              <p:cNvPr id="43018" name="Line 11"/>
              <p:cNvSpPr/>
              <p:nvPr/>
            </p:nvSpPr>
            <p:spPr>
              <a:xfrm>
                <a:off x="864" y="1056"/>
                <a:ext cx="0" cy="384"/>
              </a:xfrm>
              <a:prstGeom prst="line">
                <a:avLst/>
              </a:prstGeom>
              <a:ln w="28575" cap="flat" cmpd="sng">
                <a:solidFill>
                  <a:schemeClr val="tx1"/>
                </a:solidFill>
                <a:prstDash val="solid"/>
                <a:round/>
                <a:headEnd type="none" w="sm" len="lg"/>
                <a:tailEnd type="none" w="sm" len="lg"/>
              </a:ln>
            </p:spPr>
          </p:sp>
          <p:sp>
            <p:nvSpPr>
              <p:cNvPr id="43019" name="Line 12"/>
              <p:cNvSpPr/>
              <p:nvPr/>
            </p:nvSpPr>
            <p:spPr>
              <a:xfrm>
                <a:off x="864" y="2160"/>
                <a:ext cx="0" cy="192"/>
              </a:xfrm>
              <a:prstGeom prst="line">
                <a:avLst/>
              </a:prstGeom>
              <a:ln w="28575" cap="flat" cmpd="sng">
                <a:solidFill>
                  <a:schemeClr val="tx1"/>
                </a:solidFill>
                <a:prstDash val="solid"/>
                <a:round/>
                <a:headEnd type="none" w="sm" len="lg"/>
                <a:tailEnd type="none" w="sm" len="lg"/>
              </a:ln>
            </p:spPr>
          </p:sp>
          <p:sp>
            <p:nvSpPr>
              <p:cNvPr id="43020" name="Line 13"/>
              <p:cNvSpPr/>
              <p:nvPr/>
            </p:nvSpPr>
            <p:spPr>
              <a:xfrm>
                <a:off x="1488" y="1440"/>
                <a:ext cx="960" cy="0"/>
              </a:xfrm>
              <a:prstGeom prst="line">
                <a:avLst/>
              </a:prstGeom>
              <a:ln w="38100" cap="flat" cmpd="sng">
                <a:solidFill>
                  <a:srgbClr val="000000"/>
                </a:solidFill>
                <a:prstDash val="solid"/>
                <a:round/>
                <a:headEnd type="none" w="sm" len="lg"/>
                <a:tailEnd type="none" w="sm" len="lg"/>
              </a:ln>
            </p:spPr>
          </p:sp>
          <p:sp>
            <p:nvSpPr>
              <p:cNvPr id="43021" name="Line 14"/>
              <p:cNvSpPr/>
              <p:nvPr/>
            </p:nvSpPr>
            <p:spPr>
              <a:xfrm>
                <a:off x="1488" y="1824"/>
                <a:ext cx="960" cy="0"/>
              </a:xfrm>
              <a:prstGeom prst="line">
                <a:avLst/>
              </a:prstGeom>
              <a:ln w="38100" cap="flat" cmpd="sng">
                <a:solidFill>
                  <a:srgbClr val="000000"/>
                </a:solidFill>
                <a:prstDash val="solid"/>
                <a:round/>
                <a:headEnd type="none" w="sm" len="lg"/>
                <a:tailEnd type="none" w="sm" len="lg"/>
              </a:ln>
            </p:spPr>
          </p:sp>
          <p:sp>
            <p:nvSpPr>
              <p:cNvPr id="43022" name="Line 15"/>
              <p:cNvSpPr/>
              <p:nvPr/>
            </p:nvSpPr>
            <p:spPr>
              <a:xfrm>
                <a:off x="2016" y="1056"/>
                <a:ext cx="0" cy="384"/>
              </a:xfrm>
              <a:prstGeom prst="line">
                <a:avLst/>
              </a:prstGeom>
              <a:ln w="28575" cap="flat" cmpd="sng">
                <a:solidFill>
                  <a:schemeClr val="tx1"/>
                </a:solidFill>
                <a:prstDash val="solid"/>
                <a:round/>
                <a:headEnd type="none" w="sm" len="lg"/>
                <a:tailEnd type="none" w="sm" len="lg"/>
              </a:ln>
            </p:spPr>
          </p:sp>
          <p:sp>
            <p:nvSpPr>
              <p:cNvPr id="43023" name="Line 16"/>
              <p:cNvSpPr/>
              <p:nvPr/>
            </p:nvSpPr>
            <p:spPr>
              <a:xfrm flipV="1">
                <a:off x="2016" y="1824"/>
                <a:ext cx="0" cy="528"/>
              </a:xfrm>
              <a:prstGeom prst="line">
                <a:avLst/>
              </a:prstGeom>
              <a:ln w="28575" cap="flat" cmpd="sng">
                <a:solidFill>
                  <a:schemeClr val="tx1"/>
                </a:solidFill>
                <a:prstDash val="solid"/>
                <a:round/>
                <a:headEnd type="none" w="sm" len="lg"/>
                <a:tailEnd type="none" w="sm" len="lg"/>
              </a:ln>
            </p:spPr>
          </p:sp>
          <p:sp>
            <p:nvSpPr>
              <p:cNvPr id="43024" name="Text Box 17"/>
              <p:cNvSpPr txBox="1"/>
              <p:nvPr/>
            </p:nvSpPr>
            <p:spPr>
              <a:xfrm>
                <a:off x="2112" y="1200"/>
                <a:ext cx="288" cy="288"/>
              </a:xfrm>
              <a:prstGeom prst="rect">
                <a:avLst/>
              </a:prstGeom>
              <a:noFill/>
              <a:ln w="9525">
                <a:noFill/>
              </a:ln>
            </p:spPr>
            <p:txBody>
              <a:bodyPr anchor="t" anchorCtr="0">
                <a:spAutoFit/>
              </a:bodyPr>
              <a:lstStyle/>
              <a:p>
                <a:pPr>
                  <a:spcBef>
                    <a:spcPct val="50000"/>
                  </a:spcBef>
                </a:pPr>
                <a:endParaRPr lang="zh-CN" altLang="zh-CN" sz="2400" dirty="0">
                  <a:solidFill>
                    <a:srgbClr val="CC0000"/>
                  </a:solidFill>
                  <a:latin typeface="Times New Roman" panose="02020603050405020304" pitchFamily="18" charset="0"/>
                  <a:ea typeface="宋体" panose="02010600030101010101" pitchFamily="2" charset="-122"/>
                </a:endParaRPr>
              </a:p>
            </p:txBody>
          </p:sp>
          <p:graphicFrame>
            <p:nvGraphicFramePr>
              <p:cNvPr id="43025" name="Object 18"/>
              <p:cNvGraphicFramePr>
                <a:graphicFrameLocks noChangeAspect="1"/>
              </p:cNvGraphicFramePr>
              <p:nvPr/>
            </p:nvGraphicFramePr>
            <p:xfrm>
              <a:off x="2185" y="1104"/>
              <a:ext cx="263" cy="336"/>
            </p:xfrm>
            <a:graphic>
              <a:graphicData uri="http://schemas.openxmlformats.org/presentationml/2006/ole">
                <mc:AlternateContent xmlns:mc="http://schemas.openxmlformats.org/markup-compatibility/2006">
                  <mc:Choice xmlns:v="urn:schemas-microsoft-com:vml" Requires="v">
                    <p:oleObj spid="_x0000_s1033" r:id="rId3" imgW="228600" imgH="292100" progId="Equation.3">
                      <p:embed/>
                    </p:oleObj>
                  </mc:Choice>
                  <mc:Fallback>
                    <p:oleObj r:id="rId3" imgW="228600" imgH="292100" progId="Equation.3">
                      <p:embed/>
                      <p:pic>
                        <p:nvPicPr>
                          <p:cNvPr id="43025" name="Object 18"/>
                          <p:cNvPicPr/>
                          <p:nvPr/>
                        </p:nvPicPr>
                        <p:blipFill>
                          <a:blip r:embed="rId4"/>
                          <a:stretch>
                            <a:fillRect/>
                          </a:stretch>
                        </p:blipFill>
                        <p:spPr>
                          <a:xfrm>
                            <a:off x="2185" y="1104"/>
                            <a:ext cx="263" cy="336"/>
                          </a:xfrm>
                          <a:prstGeom prst="rect">
                            <a:avLst/>
                          </a:prstGeom>
                          <a:noFill/>
                          <a:ln w="38100">
                            <a:noFill/>
                            <a:miter/>
                          </a:ln>
                        </p:spPr>
                      </p:pic>
                    </p:oleObj>
                  </mc:Fallback>
                </mc:AlternateContent>
              </a:graphicData>
            </a:graphic>
          </p:graphicFrame>
          <p:graphicFrame>
            <p:nvGraphicFramePr>
              <p:cNvPr id="43026" name="Object 19"/>
              <p:cNvGraphicFramePr>
                <a:graphicFrameLocks noChangeAspect="1"/>
              </p:cNvGraphicFramePr>
              <p:nvPr/>
            </p:nvGraphicFramePr>
            <p:xfrm>
              <a:off x="2040" y="1872"/>
              <a:ext cx="456" cy="327"/>
            </p:xfrm>
            <a:graphic>
              <a:graphicData uri="http://schemas.openxmlformats.org/presentationml/2006/ole">
                <mc:AlternateContent xmlns:mc="http://schemas.openxmlformats.org/markup-compatibility/2006">
                  <mc:Choice xmlns:v="urn:schemas-microsoft-com:vml" Requires="v">
                    <p:oleObj spid="_x0000_s1034" r:id="rId5" imgW="405765" imgH="292100" progId="Equation.3">
                      <p:embed/>
                    </p:oleObj>
                  </mc:Choice>
                  <mc:Fallback>
                    <p:oleObj r:id="rId5" imgW="405765" imgH="292100" progId="Equation.3">
                      <p:embed/>
                      <p:pic>
                        <p:nvPicPr>
                          <p:cNvPr id="43026" name="Object 19"/>
                          <p:cNvPicPr/>
                          <p:nvPr/>
                        </p:nvPicPr>
                        <p:blipFill>
                          <a:blip r:embed="rId6"/>
                          <a:stretch>
                            <a:fillRect/>
                          </a:stretch>
                        </p:blipFill>
                        <p:spPr>
                          <a:xfrm>
                            <a:off x="2040" y="1872"/>
                            <a:ext cx="456" cy="327"/>
                          </a:xfrm>
                          <a:prstGeom prst="rect">
                            <a:avLst/>
                          </a:prstGeom>
                          <a:noFill/>
                          <a:ln w="38100">
                            <a:noFill/>
                            <a:miter/>
                          </a:ln>
                        </p:spPr>
                      </p:pic>
                    </p:oleObj>
                  </mc:Fallback>
                </mc:AlternateContent>
              </a:graphicData>
            </a:graphic>
          </p:graphicFrame>
          <p:grpSp>
            <p:nvGrpSpPr>
              <p:cNvPr id="43027" name="Group 20"/>
              <p:cNvGrpSpPr/>
              <p:nvPr/>
            </p:nvGrpSpPr>
            <p:grpSpPr>
              <a:xfrm>
                <a:off x="624" y="1559"/>
                <a:ext cx="432" cy="169"/>
                <a:chOff x="624" y="1559"/>
                <a:chExt cx="432" cy="169"/>
              </a:xfrm>
            </p:grpSpPr>
            <p:sp>
              <p:nvSpPr>
                <p:cNvPr id="43028" name="Line 21"/>
                <p:cNvSpPr/>
                <p:nvPr/>
              </p:nvSpPr>
              <p:spPr>
                <a:xfrm>
                  <a:off x="861" y="1559"/>
                  <a:ext cx="3" cy="121"/>
                </a:xfrm>
                <a:prstGeom prst="line">
                  <a:avLst/>
                </a:prstGeom>
                <a:ln w="19050" cap="flat" cmpd="sng">
                  <a:solidFill>
                    <a:srgbClr val="0000FF"/>
                  </a:solidFill>
                  <a:prstDash val="solid"/>
                  <a:round/>
                  <a:headEnd type="none" w="med" len="med"/>
                  <a:tailEnd type="none" w="med" len="med"/>
                </a:ln>
              </p:spPr>
            </p:sp>
            <p:sp>
              <p:nvSpPr>
                <p:cNvPr id="43029" name="Line 22"/>
                <p:cNvSpPr/>
                <p:nvPr/>
              </p:nvSpPr>
              <p:spPr>
                <a:xfrm rot="-1526445">
                  <a:off x="720" y="1584"/>
                  <a:ext cx="1" cy="96"/>
                </a:xfrm>
                <a:prstGeom prst="line">
                  <a:avLst/>
                </a:prstGeom>
                <a:ln w="19050" cap="flat" cmpd="sng">
                  <a:solidFill>
                    <a:srgbClr val="0000FF"/>
                  </a:solidFill>
                  <a:prstDash val="solid"/>
                  <a:round/>
                  <a:headEnd type="none" w="med" len="med"/>
                  <a:tailEnd type="none" w="med" len="med"/>
                </a:ln>
              </p:spPr>
            </p:sp>
            <p:sp>
              <p:nvSpPr>
                <p:cNvPr id="43030" name="Line 23"/>
                <p:cNvSpPr/>
                <p:nvPr/>
              </p:nvSpPr>
              <p:spPr>
                <a:xfrm rot="1620760">
                  <a:off x="960" y="1584"/>
                  <a:ext cx="1" cy="96"/>
                </a:xfrm>
                <a:prstGeom prst="line">
                  <a:avLst/>
                </a:prstGeom>
                <a:ln w="19050" cap="flat" cmpd="sng">
                  <a:solidFill>
                    <a:srgbClr val="0000FF"/>
                  </a:solidFill>
                  <a:prstDash val="solid"/>
                  <a:round/>
                  <a:headEnd type="none" w="med" len="med"/>
                  <a:tailEnd type="none" w="med" len="med"/>
                </a:ln>
              </p:spPr>
            </p:sp>
            <p:sp>
              <p:nvSpPr>
                <p:cNvPr id="43031" name="Line 24"/>
                <p:cNvSpPr/>
                <p:nvPr/>
              </p:nvSpPr>
              <p:spPr>
                <a:xfrm rot="2498013">
                  <a:off x="1055" y="1632"/>
                  <a:ext cx="1" cy="96"/>
                </a:xfrm>
                <a:prstGeom prst="line">
                  <a:avLst/>
                </a:prstGeom>
                <a:ln w="19050" cap="flat" cmpd="sng">
                  <a:solidFill>
                    <a:srgbClr val="0000FF"/>
                  </a:solidFill>
                  <a:prstDash val="solid"/>
                  <a:round/>
                  <a:headEnd type="none" w="med" len="med"/>
                  <a:tailEnd type="none" w="med" len="med"/>
                </a:ln>
              </p:spPr>
            </p:sp>
            <p:sp>
              <p:nvSpPr>
                <p:cNvPr id="43032" name="Line 25"/>
                <p:cNvSpPr/>
                <p:nvPr/>
              </p:nvSpPr>
              <p:spPr>
                <a:xfrm rot="-2345562">
                  <a:off x="624" y="1632"/>
                  <a:ext cx="1" cy="96"/>
                </a:xfrm>
                <a:prstGeom prst="line">
                  <a:avLst/>
                </a:prstGeom>
                <a:ln w="19050" cap="flat" cmpd="sng">
                  <a:solidFill>
                    <a:srgbClr val="0000FF"/>
                  </a:solidFill>
                  <a:prstDash val="solid"/>
                  <a:round/>
                  <a:headEnd type="none" w="med" len="med"/>
                  <a:tailEnd type="none" w="med" len="med"/>
                </a:ln>
              </p:spPr>
            </p:sp>
          </p:grpSp>
        </p:grpSp>
        <p:grpSp>
          <p:nvGrpSpPr>
            <p:cNvPr id="43033" name="Group 26"/>
            <p:cNvGrpSpPr/>
            <p:nvPr/>
          </p:nvGrpSpPr>
          <p:grpSpPr>
            <a:xfrm>
              <a:off x="1440" y="1392"/>
              <a:ext cx="2084" cy="494"/>
              <a:chOff x="1440" y="1392"/>
              <a:chExt cx="2084" cy="494"/>
            </a:xfrm>
          </p:grpSpPr>
          <p:sp>
            <p:nvSpPr>
              <p:cNvPr id="43034" name="Text Box 27"/>
              <p:cNvSpPr txBox="1"/>
              <p:nvPr/>
            </p:nvSpPr>
            <p:spPr>
              <a:xfrm>
                <a:off x="1440" y="1392"/>
                <a:ext cx="1248" cy="250"/>
              </a:xfrm>
              <a:prstGeom prst="rect">
                <a:avLst/>
              </a:prstGeom>
              <a:noFill/>
              <a:ln w="9525">
                <a:noFill/>
              </a:ln>
            </p:spPr>
            <p:txBody>
              <a:bodyPr anchor="t" anchorCtr="0">
                <a:spAutoFit/>
              </a:bodyPr>
              <a:lstStyle/>
              <a:p>
                <a:pPr>
                  <a:spcBef>
                    <a:spcPct val="50000"/>
                  </a:spcBef>
                </a:pPr>
                <a:r>
                  <a:rPr lang="en-US" altLang="zh-CN" sz="2000" dirty="0">
                    <a:solidFill>
                      <a:srgbClr val="FF0000"/>
                    </a:solidFill>
                    <a:latin typeface="Times New Roman" panose="02020603050405020304" pitchFamily="18" charset="0"/>
                    <a:ea typeface="宋体" panose="02010600030101010101" pitchFamily="2" charset="-122"/>
                  </a:rPr>
                  <a:t>+ + + + + + + </a:t>
                </a:r>
              </a:p>
            </p:txBody>
          </p:sp>
          <p:sp>
            <p:nvSpPr>
              <p:cNvPr id="43035" name="Text Box 28"/>
              <p:cNvSpPr txBox="1"/>
              <p:nvPr/>
            </p:nvSpPr>
            <p:spPr>
              <a:xfrm>
                <a:off x="1460" y="1556"/>
                <a:ext cx="2064" cy="330"/>
              </a:xfrm>
              <a:prstGeom prst="rect">
                <a:avLst/>
              </a:prstGeom>
              <a:noFill/>
              <a:ln w="9525">
                <a:noFill/>
              </a:ln>
            </p:spPr>
            <p:txBody>
              <a:bodyPr wrap="square" anchor="t" anchorCtr="0">
                <a:spAutoFit/>
              </a:bodyPr>
              <a:lstStyle/>
              <a:p>
                <a:pPr>
                  <a:spcBef>
                    <a:spcPct val="50000"/>
                  </a:spcBef>
                </a:pPr>
                <a:r>
                  <a:rPr lang="en-US" altLang="zh-CN" sz="2800" dirty="0">
                    <a:solidFill>
                      <a:srgbClr val="0000FF"/>
                    </a:solidFill>
                    <a:latin typeface="Times New Roman" panose="02020603050405020304" pitchFamily="18" charset="0"/>
                    <a:ea typeface="宋体" panose="02010600030101010101" pitchFamily="2" charset="-122"/>
                  </a:rPr>
                  <a:t>- - - - - - -</a:t>
                </a:r>
              </a:p>
            </p:txBody>
          </p:sp>
        </p:grpSp>
      </p:grpSp>
      <p:grpSp>
        <p:nvGrpSpPr>
          <p:cNvPr id="9" name="Group 41"/>
          <p:cNvGrpSpPr/>
          <p:nvPr/>
        </p:nvGrpSpPr>
        <p:grpSpPr>
          <a:xfrm>
            <a:off x="2663826" y="1708150"/>
            <a:ext cx="536575" cy="2057400"/>
            <a:chOff x="1006" y="1056"/>
            <a:chExt cx="338" cy="1296"/>
          </a:xfrm>
        </p:grpSpPr>
        <p:sp>
          <p:nvSpPr>
            <p:cNvPr id="43049" name="Line 42"/>
            <p:cNvSpPr/>
            <p:nvPr/>
          </p:nvSpPr>
          <p:spPr>
            <a:xfrm flipH="1">
              <a:off x="1344" y="1056"/>
              <a:ext cx="0" cy="1296"/>
            </a:xfrm>
            <a:prstGeom prst="line">
              <a:avLst/>
            </a:prstGeom>
            <a:ln w="19050" cap="flat" cmpd="sng">
              <a:solidFill>
                <a:srgbClr val="CC00CC"/>
              </a:solidFill>
              <a:prstDash val="solid"/>
              <a:round/>
              <a:headEnd type="triangle" w="sm" len="lg"/>
              <a:tailEnd type="triangle" w="sm" len="lg"/>
            </a:ln>
          </p:spPr>
        </p:sp>
        <p:graphicFrame>
          <p:nvGraphicFramePr>
            <p:cNvPr id="43050" name="Object 43"/>
            <p:cNvGraphicFramePr>
              <a:graphicFrameLocks noChangeAspect="1"/>
            </p:cNvGraphicFramePr>
            <p:nvPr/>
          </p:nvGraphicFramePr>
          <p:xfrm>
            <a:off x="1006" y="1104"/>
            <a:ext cx="338" cy="384"/>
          </p:xfrm>
          <a:graphic>
            <a:graphicData uri="http://schemas.openxmlformats.org/presentationml/2006/ole">
              <mc:AlternateContent xmlns:mc="http://schemas.openxmlformats.org/markup-compatibility/2006">
                <mc:Choice xmlns:v="urn:schemas-microsoft-com:vml" Requires="v">
                  <p:oleObj spid="_x0000_s1035" r:id="rId7" imgW="254000" imgH="292100" progId="Equation.3">
                    <p:embed/>
                  </p:oleObj>
                </mc:Choice>
                <mc:Fallback>
                  <p:oleObj r:id="rId7" imgW="254000" imgH="292100" progId="Equation.3">
                    <p:embed/>
                    <p:pic>
                      <p:nvPicPr>
                        <p:cNvPr id="43050" name="Object 43"/>
                        <p:cNvPicPr/>
                        <p:nvPr/>
                      </p:nvPicPr>
                      <p:blipFill>
                        <a:blip r:embed="rId8">
                          <a:clrChange>
                            <a:clrFrom>
                              <a:srgbClr val="000000"/>
                            </a:clrFrom>
                            <a:clrTo>
                              <a:srgbClr val="CC00CC"/>
                            </a:clrTo>
                          </a:clrChange>
                        </a:blip>
                        <a:stretch>
                          <a:fillRect/>
                        </a:stretch>
                      </p:blipFill>
                      <p:spPr>
                        <a:xfrm>
                          <a:off x="1006" y="1104"/>
                          <a:ext cx="338" cy="384"/>
                        </a:xfrm>
                        <a:prstGeom prst="rect">
                          <a:avLst/>
                        </a:prstGeom>
                        <a:noFill/>
                        <a:ln w="38100">
                          <a:noFill/>
                          <a:miter/>
                        </a:ln>
                      </p:spPr>
                    </p:pic>
                  </p:oleObj>
                </mc:Fallback>
              </mc:AlternateContent>
            </a:graphicData>
          </a:graphic>
        </p:graphicFrame>
      </p:grpSp>
      <p:grpSp>
        <p:nvGrpSpPr>
          <p:cNvPr id="10" name="Group 46"/>
          <p:cNvGrpSpPr/>
          <p:nvPr/>
        </p:nvGrpSpPr>
        <p:grpSpPr>
          <a:xfrm>
            <a:off x="6705600" y="1708150"/>
            <a:ext cx="533400" cy="2057400"/>
            <a:chOff x="3552" y="1056"/>
            <a:chExt cx="336" cy="1296"/>
          </a:xfrm>
        </p:grpSpPr>
        <p:graphicFrame>
          <p:nvGraphicFramePr>
            <p:cNvPr id="43054" name="Object 47"/>
            <p:cNvGraphicFramePr>
              <a:graphicFrameLocks noChangeAspect="1"/>
            </p:cNvGraphicFramePr>
            <p:nvPr/>
          </p:nvGraphicFramePr>
          <p:xfrm>
            <a:off x="3552" y="1152"/>
            <a:ext cx="288" cy="288"/>
          </p:xfrm>
          <a:graphic>
            <a:graphicData uri="http://schemas.openxmlformats.org/presentationml/2006/ole">
              <mc:AlternateContent xmlns:mc="http://schemas.openxmlformats.org/markup-compatibility/2006">
                <mc:Choice xmlns:v="urn:schemas-microsoft-com:vml" Requires="v">
                  <p:oleObj spid="_x0000_s1036" r:id="rId9" imgW="304800" imgH="304800" progId="Equation.3">
                    <p:embed/>
                  </p:oleObj>
                </mc:Choice>
                <mc:Fallback>
                  <p:oleObj r:id="rId9" imgW="304800" imgH="304800" progId="Equation.3">
                    <p:embed/>
                    <p:pic>
                      <p:nvPicPr>
                        <p:cNvPr id="43054" name="Object 47"/>
                        <p:cNvPicPr/>
                        <p:nvPr/>
                      </p:nvPicPr>
                      <p:blipFill>
                        <a:blip r:embed="rId10">
                          <a:clrChange>
                            <a:clrFrom>
                              <a:srgbClr val="000000"/>
                            </a:clrFrom>
                            <a:clrTo>
                              <a:srgbClr val="CC00CC"/>
                            </a:clrTo>
                          </a:clrChange>
                        </a:blip>
                        <a:stretch>
                          <a:fillRect/>
                        </a:stretch>
                      </p:blipFill>
                      <p:spPr>
                        <a:xfrm>
                          <a:off x="3552" y="1152"/>
                          <a:ext cx="288" cy="288"/>
                        </a:xfrm>
                        <a:prstGeom prst="rect">
                          <a:avLst/>
                        </a:prstGeom>
                        <a:noFill/>
                        <a:ln w="38100">
                          <a:noFill/>
                          <a:miter/>
                        </a:ln>
                      </p:spPr>
                    </p:pic>
                  </p:oleObj>
                </mc:Fallback>
              </mc:AlternateContent>
            </a:graphicData>
          </a:graphic>
        </p:graphicFrame>
        <p:sp>
          <p:nvSpPr>
            <p:cNvPr id="43055" name="Line 48"/>
            <p:cNvSpPr/>
            <p:nvPr/>
          </p:nvSpPr>
          <p:spPr>
            <a:xfrm>
              <a:off x="3888" y="1056"/>
              <a:ext cx="0" cy="1296"/>
            </a:xfrm>
            <a:prstGeom prst="line">
              <a:avLst/>
            </a:prstGeom>
            <a:ln w="19050" cap="flat" cmpd="sng">
              <a:solidFill>
                <a:srgbClr val="CC00CC"/>
              </a:solidFill>
              <a:prstDash val="solid"/>
              <a:round/>
              <a:headEnd type="triangle" w="sm" len="lg"/>
              <a:tailEnd type="triangle" w="sm" len="lg"/>
            </a:ln>
          </p:spPr>
        </p:sp>
      </p:grpSp>
      <p:graphicFrame>
        <p:nvGraphicFramePr>
          <p:cNvPr id="154673" name="Object 49"/>
          <p:cNvGraphicFramePr>
            <a:graphicFrameLocks noChangeAspect="1"/>
          </p:cNvGraphicFramePr>
          <p:nvPr>
            <p:extLst/>
          </p:nvPr>
        </p:nvGraphicFramePr>
        <p:xfrm>
          <a:off x="7173914" y="2012950"/>
          <a:ext cx="598487" cy="838200"/>
        </p:xfrm>
        <a:graphic>
          <a:graphicData uri="http://schemas.openxmlformats.org/presentationml/2006/ole">
            <mc:AlternateContent xmlns:mc="http://schemas.openxmlformats.org/markup-compatibility/2006">
              <mc:Choice xmlns:v="urn:schemas-microsoft-com:vml" Requires="v">
                <p:oleObj spid="_x0000_s1037" r:id="rId11" imgW="152400" imgH="215900" progId="Equation.3">
                  <p:embed/>
                </p:oleObj>
              </mc:Choice>
              <mc:Fallback>
                <p:oleObj r:id="rId11" imgW="152400" imgH="215900" progId="Equation.3">
                  <p:embed/>
                  <p:pic>
                    <p:nvPicPr>
                      <p:cNvPr id="154673" name="Object 49"/>
                      <p:cNvPicPr/>
                      <p:nvPr/>
                    </p:nvPicPr>
                    <p:blipFill>
                      <a:blip r:embed="rId12"/>
                      <a:stretch>
                        <a:fillRect/>
                      </a:stretch>
                    </p:blipFill>
                    <p:spPr>
                      <a:xfrm>
                        <a:off x="7173914" y="2012950"/>
                        <a:ext cx="598487" cy="838200"/>
                      </a:xfrm>
                      <a:prstGeom prst="rect">
                        <a:avLst/>
                      </a:prstGeom>
                      <a:noFill/>
                      <a:ln w="38100">
                        <a:noFill/>
                        <a:miter/>
                      </a:ln>
                    </p:spPr>
                  </p:pic>
                </p:oleObj>
              </mc:Fallback>
            </mc:AlternateContent>
          </a:graphicData>
        </a:graphic>
      </p:graphicFrame>
      <p:grpSp>
        <p:nvGrpSpPr>
          <p:cNvPr id="11" name="Group 50"/>
          <p:cNvGrpSpPr/>
          <p:nvPr/>
        </p:nvGrpSpPr>
        <p:grpSpPr>
          <a:xfrm>
            <a:off x="5943600" y="1708150"/>
            <a:ext cx="3733800" cy="2057400"/>
            <a:chOff x="3072" y="1056"/>
            <a:chExt cx="2352" cy="1296"/>
          </a:xfrm>
        </p:grpSpPr>
        <p:grpSp>
          <p:nvGrpSpPr>
            <p:cNvPr id="43058" name="Group 51"/>
            <p:cNvGrpSpPr/>
            <p:nvPr/>
          </p:nvGrpSpPr>
          <p:grpSpPr>
            <a:xfrm>
              <a:off x="3072" y="1056"/>
              <a:ext cx="2352" cy="1296"/>
              <a:chOff x="3072" y="1056"/>
              <a:chExt cx="2352" cy="1296"/>
            </a:xfrm>
          </p:grpSpPr>
          <p:sp>
            <p:nvSpPr>
              <p:cNvPr id="43059" name="Oval 52"/>
              <p:cNvSpPr/>
              <p:nvPr/>
            </p:nvSpPr>
            <p:spPr>
              <a:xfrm>
                <a:off x="3072" y="1440"/>
                <a:ext cx="768" cy="720"/>
              </a:xfrm>
              <a:prstGeom prst="ellipse">
                <a:avLst/>
              </a:prstGeom>
              <a:gradFill rotWithShape="0">
                <a:gsLst>
                  <a:gs pos="0">
                    <a:srgbClr val="FFFFFF"/>
                  </a:gs>
                  <a:gs pos="100000">
                    <a:srgbClr val="99CCFF"/>
                  </a:gs>
                </a:gsLst>
                <a:path path="shape">
                  <a:fillToRect l="50000" t="50000" r="50000" b="50000"/>
                </a:path>
                <a:tileRect/>
              </a:gradFill>
              <a:ln w="2857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Times New Roman" panose="02020603050405020304" pitchFamily="18" charset="0"/>
                  <a:ea typeface="宋体" panose="02010600030101010101" pitchFamily="2" charset="-122"/>
                </a:endParaRPr>
              </a:p>
            </p:txBody>
          </p:sp>
          <p:sp>
            <p:nvSpPr>
              <p:cNvPr id="43060" name="Arc 53"/>
              <p:cNvSpPr/>
              <p:nvPr/>
            </p:nvSpPr>
            <p:spPr>
              <a:xfrm rot="-3252027">
                <a:off x="3226" y="1482"/>
                <a:ext cx="384" cy="407"/>
              </a:xfrm>
              <a:custGeom>
                <a:avLst/>
                <a:gdLst/>
                <a:ahLst/>
                <a:cxnLst>
                  <a:cxn ang="0">
                    <a:pos x="0" y="0"/>
                  </a:cxn>
                  <a:cxn ang="0">
                    <a:pos x="0" y="0"/>
                  </a:cxn>
                  <a:cxn ang="0">
                    <a:pos x="0" y="0"/>
                  </a:cxn>
                </a:cxnLst>
                <a:rect l="0" t="0" r="0" b="0"/>
                <a:pathLst>
                  <a:path w="21600" h="23905" fill="none">
                    <a:moveTo>
                      <a:pt x="4136" y="-1"/>
                    </a:moveTo>
                    <a:cubicBezTo>
                      <a:pt x="14279" y="1978"/>
                      <a:pt x="21600" y="10865"/>
                      <a:pt x="21600" y="21200"/>
                    </a:cubicBezTo>
                    <a:cubicBezTo>
                      <a:pt x="21600" y="22104"/>
                      <a:pt x="21543" y="23007"/>
                      <a:pt x="21429" y="23904"/>
                    </a:cubicBezTo>
                  </a:path>
                  <a:path w="21600" h="23905" stroke="0">
                    <a:moveTo>
                      <a:pt x="4136" y="-1"/>
                    </a:moveTo>
                    <a:cubicBezTo>
                      <a:pt x="14279" y="1978"/>
                      <a:pt x="21600" y="10865"/>
                      <a:pt x="21600" y="21200"/>
                    </a:cubicBezTo>
                    <a:cubicBezTo>
                      <a:pt x="21600" y="22104"/>
                      <a:pt x="21543" y="23007"/>
                      <a:pt x="21429" y="23904"/>
                    </a:cubicBezTo>
                    <a:lnTo>
                      <a:pt x="0" y="21200"/>
                    </a:lnTo>
                    <a:lnTo>
                      <a:pt x="4136" y="-1"/>
                    </a:lnTo>
                    <a:close/>
                  </a:path>
                </a:pathLst>
              </a:custGeom>
              <a:noFill/>
              <a:ln w="28575" cap="flat" cmpd="sng">
                <a:solidFill>
                  <a:srgbClr val="0000FF"/>
                </a:solidFill>
                <a:prstDash val="solid"/>
                <a:round/>
                <a:headEnd type="none" w="sm" len="lg"/>
                <a:tailEnd type="none" w="sm" len="lg"/>
              </a:ln>
            </p:spPr>
            <p:txBody>
              <a:bodyPr/>
              <a:lstStyle/>
              <a:p>
                <a:endParaRPr lang="zh-CN" altLang="en-US"/>
              </a:p>
            </p:txBody>
          </p:sp>
          <p:grpSp>
            <p:nvGrpSpPr>
              <p:cNvPr id="43061" name="Group 54"/>
              <p:cNvGrpSpPr/>
              <p:nvPr/>
            </p:nvGrpSpPr>
            <p:grpSpPr>
              <a:xfrm>
                <a:off x="3216" y="1559"/>
                <a:ext cx="432" cy="169"/>
                <a:chOff x="624" y="1559"/>
                <a:chExt cx="432" cy="169"/>
              </a:xfrm>
            </p:grpSpPr>
            <p:sp>
              <p:nvSpPr>
                <p:cNvPr id="43062" name="Line 55"/>
                <p:cNvSpPr/>
                <p:nvPr/>
              </p:nvSpPr>
              <p:spPr>
                <a:xfrm>
                  <a:off x="861" y="1559"/>
                  <a:ext cx="3" cy="121"/>
                </a:xfrm>
                <a:prstGeom prst="line">
                  <a:avLst/>
                </a:prstGeom>
                <a:ln w="19050" cap="flat" cmpd="sng">
                  <a:solidFill>
                    <a:srgbClr val="0000FF"/>
                  </a:solidFill>
                  <a:prstDash val="solid"/>
                  <a:round/>
                  <a:headEnd type="none" w="med" len="med"/>
                  <a:tailEnd type="none" w="med" len="med"/>
                </a:ln>
              </p:spPr>
            </p:sp>
            <p:sp>
              <p:nvSpPr>
                <p:cNvPr id="43063" name="Line 56"/>
                <p:cNvSpPr/>
                <p:nvPr/>
              </p:nvSpPr>
              <p:spPr>
                <a:xfrm rot="-1526445">
                  <a:off x="720" y="1584"/>
                  <a:ext cx="1" cy="96"/>
                </a:xfrm>
                <a:prstGeom prst="line">
                  <a:avLst/>
                </a:prstGeom>
                <a:ln w="19050" cap="flat" cmpd="sng">
                  <a:solidFill>
                    <a:srgbClr val="0000FF"/>
                  </a:solidFill>
                  <a:prstDash val="solid"/>
                  <a:round/>
                  <a:headEnd type="none" w="med" len="med"/>
                  <a:tailEnd type="none" w="med" len="med"/>
                </a:ln>
              </p:spPr>
            </p:sp>
            <p:sp>
              <p:nvSpPr>
                <p:cNvPr id="43064" name="Line 57"/>
                <p:cNvSpPr/>
                <p:nvPr/>
              </p:nvSpPr>
              <p:spPr>
                <a:xfrm rot="1620760">
                  <a:off x="960" y="1584"/>
                  <a:ext cx="1" cy="96"/>
                </a:xfrm>
                <a:prstGeom prst="line">
                  <a:avLst/>
                </a:prstGeom>
                <a:ln w="19050" cap="flat" cmpd="sng">
                  <a:solidFill>
                    <a:srgbClr val="0000FF"/>
                  </a:solidFill>
                  <a:prstDash val="solid"/>
                  <a:round/>
                  <a:headEnd type="none" w="med" len="med"/>
                  <a:tailEnd type="none" w="med" len="med"/>
                </a:ln>
              </p:spPr>
            </p:sp>
            <p:sp>
              <p:nvSpPr>
                <p:cNvPr id="43065" name="Line 58"/>
                <p:cNvSpPr/>
                <p:nvPr/>
              </p:nvSpPr>
              <p:spPr>
                <a:xfrm rot="2498013">
                  <a:off x="1055" y="1632"/>
                  <a:ext cx="1" cy="96"/>
                </a:xfrm>
                <a:prstGeom prst="line">
                  <a:avLst/>
                </a:prstGeom>
                <a:ln w="19050" cap="flat" cmpd="sng">
                  <a:solidFill>
                    <a:srgbClr val="0000FF"/>
                  </a:solidFill>
                  <a:prstDash val="solid"/>
                  <a:round/>
                  <a:headEnd type="none" w="med" len="med"/>
                  <a:tailEnd type="none" w="med" len="med"/>
                </a:ln>
              </p:spPr>
            </p:sp>
            <p:sp>
              <p:nvSpPr>
                <p:cNvPr id="43066" name="Line 59"/>
                <p:cNvSpPr/>
                <p:nvPr/>
              </p:nvSpPr>
              <p:spPr>
                <a:xfrm rot="-2345562">
                  <a:off x="624" y="1632"/>
                  <a:ext cx="1" cy="96"/>
                </a:xfrm>
                <a:prstGeom prst="line">
                  <a:avLst/>
                </a:prstGeom>
                <a:ln w="19050" cap="flat" cmpd="sng">
                  <a:solidFill>
                    <a:srgbClr val="0000FF"/>
                  </a:solidFill>
                  <a:prstDash val="solid"/>
                  <a:round/>
                  <a:headEnd type="none" w="med" len="med"/>
                  <a:tailEnd type="none" w="med" len="med"/>
                </a:ln>
              </p:spPr>
            </p:sp>
          </p:grpSp>
          <p:sp>
            <p:nvSpPr>
              <p:cNvPr id="43067" name="Freeform 60"/>
              <p:cNvSpPr/>
              <p:nvPr/>
            </p:nvSpPr>
            <p:spPr>
              <a:xfrm>
                <a:off x="3366" y="1578"/>
                <a:ext cx="138" cy="294"/>
              </a:xfrm>
              <a:custGeom>
                <a:avLst/>
                <a:gdLst/>
                <a:ahLst/>
                <a:cxnLst>
                  <a:cxn ang="0">
                    <a:pos x="138" y="294"/>
                  </a:cxn>
                  <a:cxn ang="0">
                    <a:pos x="0" y="0"/>
                  </a:cxn>
                </a:cxnLst>
                <a:rect l="0" t="0" r="0" b="0"/>
                <a:pathLst>
                  <a:path w="138" h="294">
                    <a:moveTo>
                      <a:pt x="138" y="294"/>
                    </a:moveTo>
                    <a:lnTo>
                      <a:pt x="0" y="0"/>
                    </a:lnTo>
                  </a:path>
                </a:pathLst>
              </a:custGeom>
              <a:noFill/>
              <a:ln w="38100" cap="flat" cmpd="sng">
                <a:solidFill>
                  <a:srgbClr val="FF0000"/>
                </a:solidFill>
                <a:prstDash val="solid"/>
                <a:round/>
                <a:headEnd type="none" w="sm" len="lg"/>
                <a:tailEnd type="triangle" w="sm" len="lg"/>
              </a:ln>
            </p:spPr>
            <p:txBody>
              <a:bodyPr/>
              <a:lstStyle/>
              <a:p>
                <a:endParaRPr lang="zh-CN" altLang="en-US"/>
              </a:p>
            </p:txBody>
          </p:sp>
          <p:sp>
            <p:nvSpPr>
              <p:cNvPr id="43068" name="Line 61"/>
              <p:cNvSpPr/>
              <p:nvPr/>
            </p:nvSpPr>
            <p:spPr>
              <a:xfrm>
                <a:off x="3456" y="1056"/>
                <a:ext cx="1176" cy="0"/>
              </a:xfrm>
              <a:prstGeom prst="line">
                <a:avLst/>
              </a:prstGeom>
              <a:ln w="28575" cap="flat" cmpd="sng">
                <a:solidFill>
                  <a:schemeClr val="tx1"/>
                </a:solidFill>
                <a:prstDash val="solid"/>
                <a:round/>
                <a:headEnd type="none" w="sm" len="lg"/>
                <a:tailEnd type="none" w="sm" len="lg"/>
              </a:ln>
            </p:spPr>
          </p:sp>
          <p:sp>
            <p:nvSpPr>
              <p:cNvPr id="43069" name="Line 62"/>
              <p:cNvSpPr/>
              <p:nvPr/>
            </p:nvSpPr>
            <p:spPr>
              <a:xfrm>
                <a:off x="3456" y="2352"/>
                <a:ext cx="1176" cy="0"/>
              </a:xfrm>
              <a:prstGeom prst="line">
                <a:avLst/>
              </a:prstGeom>
              <a:ln w="28575" cap="flat" cmpd="sng">
                <a:solidFill>
                  <a:schemeClr val="tx1"/>
                </a:solidFill>
                <a:prstDash val="solid"/>
                <a:round/>
                <a:headEnd type="none" w="sm" len="lg"/>
                <a:tailEnd type="none" w="sm" len="lg"/>
              </a:ln>
            </p:spPr>
          </p:sp>
          <p:sp>
            <p:nvSpPr>
              <p:cNvPr id="43070" name="Line 63"/>
              <p:cNvSpPr/>
              <p:nvPr/>
            </p:nvSpPr>
            <p:spPr>
              <a:xfrm>
                <a:off x="3456" y="1056"/>
                <a:ext cx="0" cy="384"/>
              </a:xfrm>
              <a:prstGeom prst="line">
                <a:avLst/>
              </a:prstGeom>
              <a:ln w="28575" cap="flat" cmpd="sng">
                <a:solidFill>
                  <a:schemeClr val="tx1"/>
                </a:solidFill>
                <a:prstDash val="solid"/>
                <a:round/>
                <a:headEnd type="none" w="sm" len="lg"/>
                <a:tailEnd type="none" w="sm" len="lg"/>
              </a:ln>
            </p:spPr>
          </p:sp>
          <p:sp>
            <p:nvSpPr>
              <p:cNvPr id="43071" name="Line 64"/>
              <p:cNvSpPr/>
              <p:nvPr/>
            </p:nvSpPr>
            <p:spPr>
              <a:xfrm>
                <a:off x="3456" y="2160"/>
                <a:ext cx="0" cy="192"/>
              </a:xfrm>
              <a:prstGeom prst="line">
                <a:avLst/>
              </a:prstGeom>
              <a:ln w="28575" cap="flat" cmpd="sng">
                <a:solidFill>
                  <a:schemeClr val="tx1"/>
                </a:solidFill>
                <a:prstDash val="solid"/>
                <a:round/>
                <a:headEnd type="none" w="sm" len="lg"/>
                <a:tailEnd type="none" w="sm" len="lg"/>
              </a:ln>
            </p:spPr>
          </p:sp>
          <p:sp>
            <p:nvSpPr>
              <p:cNvPr id="43073" name="Line 66"/>
              <p:cNvSpPr/>
              <p:nvPr/>
            </p:nvSpPr>
            <p:spPr>
              <a:xfrm>
                <a:off x="4176" y="1824"/>
                <a:ext cx="960" cy="0"/>
              </a:xfrm>
              <a:prstGeom prst="line">
                <a:avLst/>
              </a:prstGeom>
              <a:ln w="38100" cap="flat" cmpd="sng">
                <a:solidFill>
                  <a:srgbClr val="000000"/>
                </a:solidFill>
                <a:prstDash val="solid"/>
                <a:round/>
                <a:headEnd type="none" w="sm" len="lg"/>
                <a:tailEnd type="none" w="sm" len="lg"/>
              </a:ln>
            </p:spPr>
          </p:sp>
          <p:graphicFrame>
            <p:nvGraphicFramePr>
              <p:cNvPr id="43074" name="Object 67"/>
              <p:cNvGraphicFramePr>
                <a:graphicFrameLocks noChangeAspect="1"/>
              </p:cNvGraphicFramePr>
              <p:nvPr/>
            </p:nvGraphicFramePr>
            <p:xfrm>
              <a:off x="4873" y="1104"/>
              <a:ext cx="263" cy="336"/>
            </p:xfrm>
            <a:graphic>
              <a:graphicData uri="http://schemas.openxmlformats.org/presentationml/2006/ole">
                <mc:AlternateContent xmlns:mc="http://schemas.openxmlformats.org/markup-compatibility/2006">
                  <mc:Choice xmlns:v="urn:schemas-microsoft-com:vml" Requires="v">
                    <p:oleObj spid="_x0000_s1038" r:id="rId13" imgW="228600" imgH="292100" progId="Equation.3">
                      <p:embed/>
                    </p:oleObj>
                  </mc:Choice>
                  <mc:Fallback>
                    <p:oleObj r:id="rId13" imgW="228600" imgH="292100" progId="Equation.3">
                      <p:embed/>
                      <p:pic>
                        <p:nvPicPr>
                          <p:cNvPr id="43074" name="Object 67"/>
                          <p:cNvPicPr/>
                          <p:nvPr/>
                        </p:nvPicPr>
                        <p:blipFill>
                          <a:blip r:embed="rId4"/>
                          <a:stretch>
                            <a:fillRect/>
                          </a:stretch>
                        </p:blipFill>
                        <p:spPr>
                          <a:xfrm>
                            <a:off x="4873" y="1104"/>
                            <a:ext cx="263" cy="336"/>
                          </a:xfrm>
                          <a:prstGeom prst="rect">
                            <a:avLst/>
                          </a:prstGeom>
                          <a:noFill/>
                          <a:ln w="38100">
                            <a:noFill/>
                            <a:miter/>
                          </a:ln>
                        </p:spPr>
                      </p:pic>
                    </p:oleObj>
                  </mc:Fallback>
                </mc:AlternateContent>
              </a:graphicData>
            </a:graphic>
          </p:graphicFrame>
          <p:graphicFrame>
            <p:nvGraphicFramePr>
              <p:cNvPr id="43075" name="Object 68"/>
              <p:cNvGraphicFramePr>
                <a:graphicFrameLocks noChangeAspect="1"/>
              </p:cNvGraphicFramePr>
              <p:nvPr/>
            </p:nvGraphicFramePr>
            <p:xfrm>
              <a:off x="4728" y="1872"/>
              <a:ext cx="456" cy="327"/>
            </p:xfrm>
            <a:graphic>
              <a:graphicData uri="http://schemas.openxmlformats.org/presentationml/2006/ole">
                <mc:AlternateContent xmlns:mc="http://schemas.openxmlformats.org/markup-compatibility/2006">
                  <mc:Choice xmlns:v="urn:schemas-microsoft-com:vml" Requires="v">
                    <p:oleObj spid="_x0000_s1039" r:id="rId14" imgW="405765" imgH="292100" progId="Equation.3">
                      <p:embed/>
                    </p:oleObj>
                  </mc:Choice>
                  <mc:Fallback>
                    <p:oleObj r:id="rId14" imgW="405765" imgH="292100" progId="Equation.3">
                      <p:embed/>
                      <p:pic>
                        <p:nvPicPr>
                          <p:cNvPr id="43075" name="Object 68"/>
                          <p:cNvPicPr/>
                          <p:nvPr/>
                        </p:nvPicPr>
                        <p:blipFill>
                          <a:blip r:embed="rId6"/>
                          <a:stretch>
                            <a:fillRect/>
                          </a:stretch>
                        </p:blipFill>
                        <p:spPr>
                          <a:xfrm>
                            <a:off x="4728" y="1872"/>
                            <a:ext cx="456" cy="327"/>
                          </a:xfrm>
                          <a:prstGeom prst="rect">
                            <a:avLst/>
                          </a:prstGeom>
                          <a:noFill/>
                          <a:ln w="38100">
                            <a:noFill/>
                            <a:miter/>
                          </a:ln>
                        </p:spPr>
                      </p:pic>
                    </p:oleObj>
                  </mc:Fallback>
                </mc:AlternateContent>
              </a:graphicData>
            </a:graphic>
          </p:graphicFrame>
          <p:sp>
            <p:nvSpPr>
              <p:cNvPr id="43076" name="Text Box 69"/>
              <p:cNvSpPr txBox="1"/>
              <p:nvPr/>
            </p:nvSpPr>
            <p:spPr>
              <a:xfrm>
                <a:off x="4176" y="1392"/>
                <a:ext cx="1248" cy="250"/>
              </a:xfrm>
              <a:prstGeom prst="rect">
                <a:avLst/>
              </a:prstGeom>
              <a:noFill/>
              <a:ln w="9525">
                <a:noFill/>
              </a:ln>
            </p:spPr>
            <p:txBody>
              <a:bodyPr anchor="t" anchorCtr="0">
                <a:spAutoFit/>
              </a:bodyPr>
              <a:lstStyle/>
              <a:p>
                <a:pPr>
                  <a:spcBef>
                    <a:spcPct val="50000"/>
                  </a:spcBef>
                </a:pPr>
                <a:r>
                  <a:rPr lang="en-US" altLang="zh-CN" sz="2000" dirty="0">
                    <a:solidFill>
                      <a:srgbClr val="FF0000"/>
                    </a:solidFill>
                    <a:latin typeface="Times New Roman" panose="02020603050405020304" pitchFamily="18" charset="0"/>
                    <a:ea typeface="宋体" panose="02010600030101010101" pitchFamily="2" charset="-122"/>
                  </a:rPr>
                  <a:t>+ + + + + + + </a:t>
                </a:r>
              </a:p>
            </p:txBody>
          </p:sp>
          <p:sp>
            <p:nvSpPr>
              <p:cNvPr id="43077" name="Text Box 70"/>
              <p:cNvSpPr txBox="1"/>
              <p:nvPr/>
            </p:nvSpPr>
            <p:spPr>
              <a:xfrm>
                <a:off x="4176" y="1545"/>
                <a:ext cx="1137" cy="330"/>
              </a:xfrm>
              <a:prstGeom prst="rect">
                <a:avLst/>
              </a:prstGeom>
              <a:noFill/>
              <a:ln w="9525">
                <a:noFill/>
              </a:ln>
            </p:spPr>
            <p:txBody>
              <a:bodyPr wrap="square" anchor="t" anchorCtr="0">
                <a:spAutoFit/>
              </a:bodyPr>
              <a:lstStyle/>
              <a:p>
                <a:pPr>
                  <a:spcBef>
                    <a:spcPct val="50000"/>
                  </a:spcBef>
                </a:pPr>
                <a:r>
                  <a:rPr lang="en-US" altLang="zh-CN" sz="2800" dirty="0">
                    <a:solidFill>
                      <a:srgbClr val="0000FF"/>
                    </a:solidFill>
                    <a:latin typeface="Times New Roman" panose="02020603050405020304" pitchFamily="18" charset="0"/>
                    <a:ea typeface="宋体" panose="02010600030101010101" pitchFamily="2" charset="-122"/>
                  </a:rPr>
                  <a:t>- - - - - - -</a:t>
                </a:r>
              </a:p>
            </p:txBody>
          </p:sp>
          <p:sp>
            <p:nvSpPr>
              <p:cNvPr id="43078" name="Line 71"/>
              <p:cNvSpPr/>
              <p:nvPr/>
            </p:nvSpPr>
            <p:spPr>
              <a:xfrm>
                <a:off x="4608" y="1056"/>
                <a:ext cx="0" cy="384"/>
              </a:xfrm>
              <a:prstGeom prst="line">
                <a:avLst/>
              </a:prstGeom>
              <a:ln w="28575" cap="flat" cmpd="sng">
                <a:solidFill>
                  <a:schemeClr val="tx1"/>
                </a:solidFill>
                <a:prstDash val="solid"/>
                <a:round/>
                <a:headEnd type="none" w="sm" len="lg"/>
                <a:tailEnd type="none" w="sm" len="lg"/>
              </a:ln>
            </p:spPr>
          </p:sp>
          <p:sp>
            <p:nvSpPr>
              <p:cNvPr id="43079" name="Line 72"/>
              <p:cNvSpPr/>
              <p:nvPr/>
            </p:nvSpPr>
            <p:spPr>
              <a:xfrm flipV="1">
                <a:off x="4608" y="1824"/>
                <a:ext cx="0" cy="528"/>
              </a:xfrm>
              <a:prstGeom prst="line">
                <a:avLst/>
              </a:prstGeom>
              <a:ln w="28575" cap="flat" cmpd="sng">
                <a:solidFill>
                  <a:schemeClr val="tx1"/>
                </a:solidFill>
                <a:prstDash val="solid"/>
                <a:round/>
                <a:headEnd type="none" w="sm" len="lg"/>
                <a:tailEnd type="none" w="sm" len="lg"/>
              </a:ln>
            </p:spPr>
          </p:sp>
        </p:grpSp>
        <p:sp>
          <p:nvSpPr>
            <p:cNvPr id="43080" name="Line 73"/>
            <p:cNvSpPr/>
            <p:nvPr/>
          </p:nvSpPr>
          <p:spPr>
            <a:xfrm>
              <a:off x="4176" y="1440"/>
              <a:ext cx="960" cy="0"/>
            </a:xfrm>
            <a:prstGeom prst="line">
              <a:avLst/>
            </a:prstGeom>
            <a:ln w="38100" cap="flat" cmpd="sng">
              <a:solidFill>
                <a:srgbClr val="000000"/>
              </a:solidFill>
              <a:prstDash val="solid"/>
              <a:round/>
              <a:headEnd type="none" w="sm" len="lg"/>
              <a:tailEnd type="none" w="sm" len="lg"/>
            </a:ln>
          </p:spPr>
        </p:sp>
      </p:grpSp>
      <p:sp>
        <p:nvSpPr>
          <p:cNvPr id="3" name="矩形 2">
            <a:extLst>
              <a:ext uri="{FF2B5EF4-FFF2-40B4-BE49-F238E27FC236}">
                <a16:creationId xmlns:a16="http://schemas.microsoft.com/office/drawing/2014/main" id="{56FD0C0A-366B-89F4-E6EB-324D6BD98EC3}"/>
              </a:ext>
            </a:extLst>
          </p:cNvPr>
          <p:cNvSpPr/>
          <p:nvPr/>
        </p:nvSpPr>
        <p:spPr>
          <a:xfrm>
            <a:off x="689252" y="415999"/>
            <a:ext cx="4455066"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电介质对电场的影响</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03155090-7F70-530B-160F-31F81AFE5EBF}"/>
              </a:ext>
            </a:extLst>
          </p:cNvPr>
          <p:cNvSpPr txBox="1"/>
          <p:nvPr/>
        </p:nvSpPr>
        <p:spPr>
          <a:xfrm>
            <a:off x="1727791" y="4651653"/>
            <a:ext cx="8294258" cy="523220"/>
          </a:xfrm>
          <a:prstGeom prst="rect">
            <a:avLst/>
          </a:prstGeom>
          <a:noFill/>
        </p:spPr>
        <p:txBody>
          <a:bodyPr wrap="none" rtlCol="0">
            <a:spAutoFit/>
          </a:bodyPr>
          <a:lstStyle/>
          <a:p>
            <a:r>
              <a:rPr lang="en-US" altLang="zh-CN" sz="2800" dirty="0"/>
              <a:t>- </a:t>
            </a:r>
            <a:r>
              <a:rPr lang="zh-CN" altLang="en-US" sz="2800" dirty="0"/>
              <a:t>带电量不变的情况下，有电解质的平板间电压变小</a:t>
            </a:r>
          </a:p>
        </p:txBody>
      </p:sp>
      <mc:AlternateContent xmlns:mc="http://schemas.openxmlformats.org/markup-compatibility/2006" xmlns:a14="http://schemas.microsoft.com/office/drawing/2010/main">
        <mc:Choice Requires="a14">
          <p:sp>
            <p:nvSpPr>
              <p:cNvPr id="5" name="Object 32">
                <a:extLst>
                  <a:ext uri="{FF2B5EF4-FFF2-40B4-BE49-F238E27FC236}">
                    <a16:creationId xmlns:a16="http://schemas.microsoft.com/office/drawing/2014/main" id="{DE890B55-E230-180E-FF90-D83DD020D4B8}"/>
                  </a:ext>
                </a:extLst>
              </p:cNvPr>
              <p:cNvSpPr txBox="1"/>
              <p:nvPr/>
            </p:nvSpPr>
            <p:spPr>
              <a:xfrm>
                <a:off x="2838450" y="4038600"/>
                <a:ext cx="1866900" cy="136683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𝑈</m:t>
                      </m:r>
                      <m:r>
                        <a:rPr lang="zh-CN" altLang="en-US"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𝐸𝑑</m:t>
                      </m:r>
                    </m:oMath>
                  </m:oMathPara>
                </a14:m>
                <a:endParaRPr lang="zh-CN" altLang="en-US" sz="2800" dirty="0"/>
              </a:p>
            </p:txBody>
          </p:sp>
        </mc:Choice>
        <mc:Fallback xmlns="">
          <p:sp>
            <p:nvSpPr>
              <p:cNvPr id="5" name="Object 32">
                <a:extLst>
                  <a:ext uri="{FF2B5EF4-FFF2-40B4-BE49-F238E27FC236}">
                    <a16:creationId xmlns:a16="http://schemas.microsoft.com/office/drawing/2014/main" id="{DE890B55-E230-180E-FF90-D83DD020D4B8}"/>
                  </a:ext>
                </a:extLst>
              </p:cNvPr>
              <p:cNvSpPr txBox="1">
                <a:spLocks noRot="1" noChangeAspect="1" noMove="1" noResize="1" noEditPoints="1" noAdjustHandles="1" noChangeArrowheads="1" noChangeShapeType="1" noTextEdit="1"/>
              </p:cNvSpPr>
              <p:nvPr/>
            </p:nvSpPr>
            <p:spPr>
              <a:xfrm>
                <a:off x="2838450" y="4038600"/>
                <a:ext cx="1866900" cy="1366838"/>
              </a:xfrm>
              <a:prstGeom prst="rect">
                <a:avLst/>
              </a:prstGeom>
              <a:blipFill>
                <a:blip r:embed="rId1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30">
                <a:extLst>
                  <a:ext uri="{FF2B5EF4-FFF2-40B4-BE49-F238E27FC236}">
                    <a16:creationId xmlns:a16="http://schemas.microsoft.com/office/drawing/2014/main" id="{241F55F4-2606-1AC5-97B9-D6D5D2F902C4}"/>
                  </a:ext>
                </a:extLst>
              </p:cNvPr>
              <p:cNvSpPr txBox="1"/>
              <p:nvPr/>
            </p:nvSpPr>
            <p:spPr>
              <a:xfrm>
                <a:off x="8102600" y="5422010"/>
                <a:ext cx="1400175" cy="113823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0</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m:rPr>
                                  <m:sty m:val="p"/>
                                </m:rPr>
                                <a:rPr lang="zh-CN" altLang="en-US" sz="2800" i="0">
                                  <a:solidFill>
                                    <a:srgbClr val="000000"/>
                                  </a:solidFill>
                                  <a:latin typeface="Cambria Math" panose="02040503050406030204" pitchFamily="18" charset="0"/>
                                </a:rPr>
                                <m:t>r</m:t>
                              </m:r>
                            </m:sub>
                          </m:sSub>
                        </m:den>
                      </m:f>
                    </m:oMath>
                  </m:oMathPara>
                </a14:m>
                <a:endParaRPr lang="zh-CN" altLang="en-US" sz="2800" dirty="0"/>
              </a:p>
            </p:txBody>
          </p:sp>
        </mc:Choice>
        <mc:Fallback xmlns="">
          <p:sp>
            <p:nvSpPr>
              <p:cNvPr id="14" name="Object 30">
                <a:extLst>
                  <a:ext uri="{FF2B5EF4-FFF2-40B4-BE49-F238E27FC236}">
                    <a16:creationId xmlns:a16="http://schemas.microsoft.com/office/drawing/2014/main" id="{241F55F4-2606-1AC5-97B9-D6D5D2F902C4}"/>
                  </a:ext>
                </a:extLst>
              </p:cNvPr>
              <p:cNvSpPr txBox="1">
                <a:spLocks noRot="1" noChangeAspect="1" noMove="1" noResize="1" noEditPoints="1" noAdjustHandles="1" noChangeArrowheads="1" noChangeShapeType="1" noTextEdit="1"/>
              </p:cNvSpPr>
              <p:nvPr/>
            </p:nvSpPr>
            <p:spPr>
              <a:xfrm>
                <a:off x="8102600" y="5422010"/>
                <a:ext cx="1400175" cy="1138238"/>
              </a:xfrm>
              <a:prstGeom prst="rect">
                <a:avLst/>
              </a:prstGeom>
              <a:blipFill>
                <a:blip r:embed="rId1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32">
                <a:extLst>
                  <a:ext uri="{FF2B5EF4-FFF2-40B4-BE49-F238E27FC236}">
                    <a16:creationId xmlns:a16="http://schemas.microsoft.com/office/drawing/2014/main" id="{BC3FF5FA-7FEE-BA96-693E-3F74B9D0C508}"/>
                  </a:ext>
                </a:extLst>
              </p:cNvPr>
              <p:cNvSpPr txBox="1"/>
              <p:nvPr/>
            </p:nvSpPr>
            <p:spPr>
              <a:xfrm>
                <a:off x="2378075" y="5446341"/>
                <a:ext cx="1633538" cy="1196975"/>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𝑈</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m:rPr>
                                  <m:sty m:val="p"/>
                                </m:rPr>
                                <a:rPr lang="zh-CN" altLang="en-US" sz="2800" i="0">
                                  <a:solidFill>
                                    <a:srgbClr val="000000"/>
                                  </a:solidFill>
                                  <a:latin typeface="Cambria Math" panose="02040503050406030204" pitchFamily="18" charset="0"/>
                                </a:rPr>
                                <m:t>r</m:t>
                              </m:r>
                            </m:sub>
                          </m:sSub>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𝑈</m:t>
                          </m:r>
                        </m:e>
                        <m:sub>
                          <m:r>
                            <a:rPr lang="zh-CN" altLang="en-US" sz="2800" i="1">
                              <a:solidFill>
                                <a:srgbClr val="000000"/>
                              </a:solidFill>
                              <a:latin typeface="Cambria Math" panose="02040503050406030204" pitchFamily="18" charset="0"/>
                            </a:rPr>
                            <m:t>0</m:t>
                          </m:r>
                        </m:sub>
                      </m:sSub>
                    </m:oMath>
                  </m:oMathPara>
                </a14:m>
                <a:endParaRPr lang="zh-CN" altLang="en-US" sz="2800" dirty="0"/>
              </a:p>
            </p:txBody>
          </p:sp>
        </mc:Choice>
        <mc:Fallback xmlns="">
          <p:sp>
            <p:nvSpPr>
              <p:cNvPr id="15" name="Object 32">
                <a:extLst>
                  <a:ext uri="{FF2B5EF4-FFF2-40B4-BE49-F238E27FC236}">
                    <a16:creationId xmlns:a16="http://schemas.microsoft.com/office/drawing/2014/main" id="{BC3FF5FA-7FEE-BA96-693E-3F74B9D0C508}"/>
                  </a:ext>
                </a:extLst>
              </p:cNvPr>
              <p:cNvSpPr txBox="1">
                <a:spLocks noRot="1" noChangeAspect="1" noMove="1" noResize="1" noEditPoints="1" noAdjustHandles="1" noChangeArrowheads="1" noChangeShapeType="1" noTextEdit="1"/>
              </p:cNvSpPr>
              <p:nvPr/>
            </p:nvSpPr>
            <p:spPr>
              <a:xfrm>
                <a:off x="2378075" y="5446341"/>
                <a:ext cx="1633538" cy="1196975"/>
              </a:xfrm>
              <a:prstGeom prst="rect">
                <a:avLst/>
              </a:prstGeom>
              <a:blipFill>
                <a:blip r:embed="rId1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F582E572-F4CD-5830-6158-8F88362A9B0B}"/>
                  </a:ext>
                </a:extLst>
              </p:cNvPr>
              <p:cNvSpPr txBox="1"/>
              <p:nvPr/>
            </p:nvSpPr>
            <p:spPr>
              <a:xfrm>
                <a:off x="4202050" y="5625961"/>
                <a:ext cx="3787899" cy="523220"/>
              </a:xfrm>
              <a:prstGeom prst="rect">
                <a:avLst/>
              </a:prstGeom>
              <a:noFill/>
            </p:spPr>
            <p:txBody>
              <a:bodyPr wrap="square">
                <a:spAutoFit/>
              </a:bodyPr>
              <a:lstStyle/>
              <a:p>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m:rPr>
                            <m:sty m:val="p"/>
                          </m:rPr>
                          <a:rPr lang="zh-CN" altLang="en-US" sz="2800" i="0">
                            <a:solidFill>
                              <a:srgbClr val="000000"/>
                            </a:solidFill>
                            <a:latin typeface="Cambria Math" panose="02040503050406030204" pitchFamily="18" charset="0"/>
                          </a:rPr>
                          <m:t>r</m:t>
                        </m:r>
                      </m:sub>
                    </m:sSub>
                  </m:oMath>
                </a14:m>
                <a:r>
                  <a:rPr lang="zh-CN" altLang="en-US" sz="2800" dirty="0"/>
                  <a:t>：相对介电常量</a:t>
                </a:r>
              </a:p>
            </p:txBody>
          </p:sp>
        </mc:Choice>
        <mc:Fallback xmlns="">
          <p:sp>
            <p:nvSpPr>
              <p:cNvPr id="21" name="文本框 20">
                <a:extLst>
                  <a:ext uri="{FF2B5EF4-FFF2-40B4-BE49-F238E27FC236}">
                    <a16:creationId xmlns:a16="http://schemas.microsoft.com/office/drawing/2014/main" id="{F582E572-F4CD-5830-6158-8F88362A9B0B}"/>
                  </a:ext>
                </a:extLst>
              </p:cNvPr>
              <p:cNvSpPr txBox="1">
                <a:spLocks noRot="1" noChangeAspect="1" noMove="1" noResize="1" noEditPoints="1" noAdjustHandles="1" noChangeArrowheads="1" noChangeShapeType="1" noTextEdit="1"/>
              </p:cNvSpPr>
              <p:nvPr/>
            </p:nvSpPr>
            <p:spPr>
              <a:xfrm>
                <a:off x="4202050" y="5625961"/>
                <a:ext cx="3787899" cy="523220"/>
              </a:xfrm>
              <a:prstGeom prst="rect">
                <a:avLst/>
              </a:prstGeom>
              <a:blipFill>
                <a:blip r:embed="rId18"/>
                <a:stretch>
                  <a:fillRect t="-12791" b="-3139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46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p:bldP spid="5" grpId="0"/>
      <p:bldP spid="14" grpId="0"/>
      <p:bldP spid="15"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内容占位符 3">
                <a:extLst>
                  <a:ext uri="{FF2B5EF4-FFF2-40B4-BE49-F238E27FC236}">
                    <a16:creationId xmlns:a16="http://schemas.microsoft.com/office/drawing/2014/main" id="{647DD398-7BF8-4AEF-9E70-1EE817DCF7E3}"/>
                  </a:ext>
                </a:extLst>
              </p:cNvPr>
              <p:cNvSpPr txBox="1">
                <a:spLocks/>
              </p:cNvSpPr>
              <p:nvPr/>
            </p:nvSpPr>
            <p:spPr>
              <a:xfrm>
                <a:off x="689252" y="1106159"/>
                <a:ext cx="10884293" cy="23147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正负电荷重心不重合，构成一对距离极近的电偶极子：</a:t>
                </a:r>
                <a14:m>
                  <m:oMath xmlns:m="http://schemas.openxmlformats.org/officeDocument/2006/math">
                    <m:acc>
                      <m:accPr>
                        <m:chr m:val="⃗"/>
                        <m:ctrlPr>
                          <a:rPr lang="zh-CN" altLang="en-US" i="1">
                            <a:latin typeface="Cambria Math" panose="02040503050406030204" pitchFamily="18" charset="0"/>
                            <a:ea typeface="华文新魏" panose="02010800040101010101" pitchFamily="2" charset="-122"/>
                          </a:rPr>
                        </m:ctrlPr>
                      </m:accPr>
                      <m:e>
                        <m:r>
                          <a:rPr lang="en-US" altLang="zh-CN">
                            <a:latin typeface="Cambria Math" panose="02040503050406030204" pitchFamily="18" charset="0"/>
                            <a:ea typeface="华文新魏" panose="02010800040101010101" pitchFamily="2" charset="-122"/>
                          </a:rPr>
                          <m:t>𝒑</m:t>
                        </m:r>
                      </m:e>
                    </m:acc>
                    <m:r>
                      <a:rPr lang="en-US" altLang="zh-CN">
                        <a:latin typeface="Cambria Math" panose="02040503050406030204" pitchFamily="18" charset="0"/>
                        <a:ea typeface="华文新魏" panose="02010800040101010101" pitchFamily="2" charset="-122"/>
                      </a:rPr>
                      <m:t>=</m:t>
                    </m:r>
                    <m:r>
                      <a:rPr lang="en-US" altLang="zh-CN">
                        <a:latin typeface="Cambria Math" panose="02040503050406030204" pitchFamily="18" charset="0"/>
                        <a:ea typeface="华文新魏" panose="02010800040101010101" pitchFamily="2" charset="-122"/>
                      </a:rPr>
                      <m:t>𝒒</m:t>
                    </m:r>
                    <m:acc>
                      <m:accPr>
                        <m:chr m:val="⃗"/>
                        <m:ctrlPr>
                          <a:rPr lang="en-US" altLang="zh-CN" i="1">
                            <a:latin typeface="Cambria Math" panose="02040503050406030204" pitchFamily="18" charset="0"/>
                            <a:ea typeface="华文新魏" panose="02010800040101010101" pitchFamily="2" charset="-122"/>
                          </a:rPr>
                        </m:ctrlPr>
                      </m:accPr>
                      <m:e>
                        <m:r>
                          <a:rPr lang="en-US" altLang="zh-CN">
                            <a:latin typeface="Cambria Math" panose="02040503050406030204" pitchFamily="18" charset="0"/>
                            <a:ea typeface="华文新魏" panose="02010800040101010101" pitchFamily="2" charset="-122"/>
                          </a:rPr>
                          <m:t>𝒍</m:t>
                        </m:r>
                      </m:e>
                    </m:acc>
                  </m:oMath>
                </a14:m>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内容占位符 3">
                <a:extLst>
                  <a:ext uri="{FF2B5EF4-FFF2-40B4-BE49-F238E27FC236}">
                    <a16:creationId xmlns:a16="http://schemas.microsoft.com/office/drawing/2014/main" id="{647DD398-7BF8-4AEF-9E70-1EE817DCF7E3}"/>
                  </a:ext>
                </a:extLst>
              </p:cNvPr>
              <p:cNvSpPr txBox="1">
                <a:spLocks noRot="1" noChangeAspect="1" noMove="1" noResize="1" noEditPoints="1" noAdjustHandles="1" noChangeArrowheads="1" noChangeShapeType="1" noTextEdit="1"/>
              </p:cNvSpPr>
              <p:nvPr/>
            </p:nvSpPr>
            <p:spPr>
              <a:xfrm>
                <a:off x="689252" y="1106159"/>
                <a:ext cx="10884293" cy="2314786"/>
              </a:xfrm>
              <a:prstGeom prst="rect">
                <a:avLst/>
              </a:prstGeom>
              <a:blipFill>
                <a:blip r:embed="rId2"/>
                <a:stretch>
                  <a:fillRect l="-1120"/>
                </a:stretch>
              </a:blipFill>
            </p:spPr>
            <p:txBody>
              <a:bodyPr/>
              <a:lstStyle/>
              <a:p>
                <a:r>
                  <a:rPr lang="en-US">
                    <a:noFill/>
                  </a:rPr>
                  <a:t> </a:t>
                </a:r>
              </a:p>
            </p:txBody>
          </p:sp>
        </mc:Fallback>
      </mc:AlternateContent>
      <p:pic>
        <p:nvPicPr>
          <p:cNvPr id="7" name="图片 6">
            <a:extLst>
              <a:ext uri="{FF2B5EF4-FFF2-40B4-BE49-F238E27FC236}">
                <a16:creationId xmlns:a16="http://schemas.microsoft.com/office/drawing/2014/main" id="{CF5B1115-E6C8-4C36-AFD9-559EF3DBF1D3}"/>
              </a:ext>
            </a:extLst>
          </p:cNvPr>
          <p:cNvPicPr>
            <a:picLocks noChangeAspect="1"/>
          </p:cNvPicPr>
          <p:nvPr/>
        </p:nvPicPr>
        <p:blipFill>
          <a:blip r:embed="rId3"/>
          <a:stretch>
            <a:fillRect/>
          </a:stretch>
        </p:blipFill>
        <p:spPr>
          <a:xfrm>
            <a:off x="3121635" y="1987085"/>
            <a:ext cx="4877517" cy="1624560"/>
          </a:xfrm>
          <a:prstGeom prst="rect">
            <a:avLst/>
          </a:prstGeom>
        </p:spPr>
      </p:pic>
      <p:sp>
        <p:nvSpPr>
          <p:cNvPr id="9" name="内容占位符 5">
            <a:extLst>
              <a:ext uri="{FF2B5EF4-FFF2-40B4-BE49-F238E27FC236}">
                <a16:creationId xmlns:a16="http://schemas.microsoft.com/office/drawing/2014/main" id="{173A69DF-4835-482E-8A7D-CA1DB06ACAED}"/>
              </a:ext>
            </a:extLst>
          </p:cNvPr>
          <p:cNvSpPr txBox="1">
            <a:spLocks/>
          </p:cNvSpPr>
          <p:nvPr/>
        </p:nvSpPr>
        <p:spPr>
          <a:xfrm>
            <a:off x="4323580" y="5530805"/>
            <a:ext cx="7543801" cy="4023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lang="en-US" altLang="zh-CN" sz="3200" dirty="0">
              <a:solidFill>
                <a:srgbClr val="9933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FABA5058-6F76-432A-898A-DC62B8297DB3}"/>
              </a:ext>
            </a:extLst>
          </p:cNvPr>
          <p:cNvSpPr/>
          <p:nvPr/>
        </p:nvSpPr>
        <p:spPr>
          <a:xfrm>
            <a:off x="689252" y="415999"/>
            <a:ext cx="3634328"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极性分子电介质</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3" name="Picture 6" descr="FG25_21">
            <a:extLst>
              <a:ext uri="{FF2B5EF4-FFF2-40B4-BE49-F238E27FC236}">
                <a16:creationId xmlns:a16="http://schemas.microsoft.com/office/drawing/2014/main" id="{914566DE-30EA-4400-B2D5-8D24148963F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6982" b="65159"/>
          <a:stretch/>
        </p:blipFill>
        <p:spPr bwMode="auto">
          <a:xfrm>
            <a:off x="2237535" y="3709845"/>
            <a:ext cx="2644729" cy="25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FG25_21">
            <a:extLst>
              <a:ext uri="{FF2B5EF4-FFF2-40B4-BE49-F238E27FC236}">
                <a16:creationId xmlns:a16="http://schemas.microsoft.com/office/drawing/2014/main" id="{8FE5F0DB-1658-4A22-B1C6-09A93B0A628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493" b="65159"/>
          <a:stretch/>
        </p:blipFill>
        <p:spPr bwMode="auto">
          <a:xfrm>
            <a:off x="5310588" y="3709845"/>
            <a:ext cx="3166585" cy="25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353329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Glass–ceramic dielectric materials with high energy density and ultra-fast  discharge speed for high power energy storage applications - Journal of  Materials Chemistry C (RSC Publishing) DOI:10.1039/C9TC05253D">
            <a:extLst>
              <a:ext uri="{FF2B5EF4-FFF2-40B4-BE49-F238E27FC236}">
                <a16:creationId xmlns:a16="http://schemas.microsoft.com/office/drawing/2014/main" id="{E2FD043B-7ECE-4E60-AF91-5DB3A26B03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005" t="7524" r="38768" b="70084"/>
          <a:stretch/>
        </p:blipFill>
        <p:spPr bwMode="auto">
          <a:xfrm>
            <a:off x="1231131" y="4195342"/>
            <a:ext cx="2204632" cy="2058461"/>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4">
            <a:extLst>
              <a:ext uri="{FF2B5EF4-FFF2-40B4-BE49-F238E27FC236}">
                <a16:creationId xmlns:a16="http://schemas.microsoft.com/office/drawing/2014/main" id="{BFA4D439-47D8-4B22-A54D-370684883A54}"/>
              </a:ext>
            </a:extLst>
          </p:cNvPr>
          <p:cNvSpPr txBox="1">
            <a:spLocks/>
          </p:cNvSpPr>
          <p:nvPr/>
        </p:nvSpPr>
        <p:spPr>
          <a:xfrm>
            <a:off x="1231131" y="1188100"/>
            <a:ext cx="7543800" cy="12777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非极性</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分子：</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分子正负电荷中心重合  无固有电偶极</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例如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H</a:t>
            </a:r>
            <a:r>
              <a:rPr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O</a:t>
            </a:r>
            <a:r>
              <a:rPr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CO</a:t>
            </a:r>
            <a:r>
              <a:rPr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rPr>
              <a:t>4</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nSpc>
                <a:spcPct val="100000"/>
              </a:lnSpc>
              <a:buFont typeface="Wingdings" panose="05000000000000000000" pitchFamily="2" charset="2"/>
              <a:buChar char="q"/>
            </a:pP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9FF567C9-5797-4DB5-A727-655E0B1D1536}"/>
              </a:ext>
            </a:extLst>
          </p:cNvPr>
          <p:cNvPicPr>
            <a:picLocks noChangeAspect="1"/>
          </p:cNvPicPr>
          <p:nvPr/>
        </p:nvPicPr>
        <p:blipFill>
          <a:blip r:embed="rId3"/>
          <a:stretch>
            <a:fillRect/>
          </a:stretch>
        </p:blipFill>
        <p:spPr>
          <a:xfrm>
            <a:off x="1828049" y="2136882"/>
            <a:ext cx="3690100" cy="2058460"/>
          </a:xfrm>
          <a:prstGeom prst="rect">
            <a:avLst/>
          </a:prstGeom>
        </p:spPr>
      </p:pic>
      <p:sp>
        <p:nvSpPr>
          <p:cNvPr id="11" name="矩形 10">
            <a:extLst>
              <a:ext uri="{FF2B5EF4-FFF2-40B4-BE49-F238E27FC236}">
                <a16:creationId xmlns:a16="http://schemas.microsoft.com/office/drawing/2014/main" id="{CF827992-B0CC-4293-BE09-5F16F3712C2B}"/>
              </a:ext>
            </a:extLst>
          </p:cNvPr>
          <p:cNvSpPr/>
          <p:nvPr/>
        </p:nvSpPr>
        <p:spPr>
          <a:xfrm>
            <a:off x="689252" y="415999"/>
            <a:ext cx="4067139"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非极性分子电介质</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2" name="Picture 6" descr="FG25_21">
            <a:extLst>
              <a:ext uri="{FF2B5EF4-FFF2-40B4-BE49-F238E27FC236}">
                <a16:creationId xmlns:a16="http://schemas.microsoft.com/office/drawing/2014/main" id="{6EAF7FE9-E370-4252-8AFB-8CE4E367E3C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598" t="50000" b="14479"/>
          <a:stretch/>
        </p:blipFill>
        <p:spPr bwMode="auto">
          <a:xfrm>
            <a:off x="6276278" y="2139629"/>
            <a:ext cx="4802414" cy="3716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Glass–ceramic dielectric materials with high energy density and ultra-fast  discharge speed for high power energy storage applications - Journal of  Materials Chemistry C (RSC Publishing) DOI:10.1039/C9TC05253D">
            <a:extLst>
              <a:ext uri="{FF2B5EF4-FFF2-40B4-BE49-F238E27FC236}">
                <a16:creationId xmlns:a16="http://schemas.microsoft.com/office/drawing/2014/main" id="{244A642C-879A-4F7E-AF42-424D4A171B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116" t="7524" b="70084"/>
          <a:stretch/>
        </p:blipFill>
        <p:spPr bwMode="auto">
          <a:xfrm>
            <a:off x="3582405" y="4234598"/>
            <a:ext cx="2513595" cy="2058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9529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9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8" name="Picture 6" descr="FG25_21">
            <a:extLst>
              <a:ext uri="{FF2B5EF4-FFF2-40B4-BE49-F238E27FC236}">
                <a16:creationId xmlns:a16="http://schemas.microsoft.com/office/drawing/2014/main" id="{51BA6E6B-A3DD-4DB7-B4C1-F7F706E08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521" y="966131"/>
            <a:ext cx="4758800" cy="5639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1897" name="Text Box 9">
            <a:extLst>
              <a:ext uri="{FF2B5EF4-FFF2-40B4-BE49-F238E27FC236}">
                <a16:creationId xmlns:a16="http://schemas.microsoft.com/office/drawing/2014/main" id="{D96D432A-9C74-4F4A-AF56-BABE1C7DD9DB}"/>
              </a:ext>
            </a:extLst>
          </p:cNvPr>
          <p:cNvSpPr txBox="1">
            <a:spLocks noChangeArrowheads="1"/>
          </p:cNvSpPr>
          <p:nvPr/>
        </p:nvSpPr>
        <p:spPr bwMode="auto">
          <a:xfrm>
            <a:off x="7015728" y="4759123"/>
            <a:ext cx="1945830" cy="576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zh-CN" altLang="en-US" sz="2800" dirty="0">
                <a:solidFill>
                  <a:srgbClr val="000000"/>
                </a:solidFill>
                <a:ea typeface="华文楷体" panose="02010600040101010101" pitchFamily="2" charset="-122"/>
                <a:cs typeface="Times New Roman" panose="02020603050405020304" pitchFamily="18" charset="0"/>
              </a:rPr>
              <a:t>位移极化</a:t>
            </a:r>
          </a:p>
        </p:txBody>
      </p:sp>
      <p:sp>
        <p:nvSpPr>
          <p:cNvPr id="421899" name="Text Box 11">
            <a:extLst>
              <a:ext uri="{FF2B5EF4-FFF2-40B4-BE49-F238E27FC236}">
                <a16:creationId xmlns:a16="http://schemas.microsoft.com/office/drawing/2014/main" id="{4AC5636A-384B-4810-83D7-5858B8A52EC9}"/>
              </a:ext>
            </a:extLst>
          </p:cNvPr>
          <p:cNvSpPr txBox="1">
            <a:spLocks noChangeArrowheads="1"/>
          </p:cNvSpPr>
          <p:nvPr/>
        </p:nvSpPr>
        <p:spPr bwMode="auto">
          <a:xfrm>
            <a:off x="6807994" y="1704843"/>
            <a:ext cx="2044708" cy="576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zh-CN" altLang="en-US" sz="2800" dirty="0">
                <a:solidFill>
                  <a:srgbClr val="000000"/>
                </a:solidFill>
                <a:ea typeface="华文楷体" panose="02010600040101010101" pitchFamily="2" charset="-122"/>
                <a:cs typeface="Times New Roman" panose="02020603050405020304" pitchFamily="18" charset="0"/>
              </a:rPr>
              <a:t>取向极化</a:t>
            </a:r>
          </a:p>
        </p:txBody>
      </p:sp>
      <p:sp>
        <p:nvSpPr>
          <p:cNvPr id="421900" name="Text Box 12">
            <a:extLst>
              <a:ext uri="{FF2B5EF4-FFF2-40B4-BE49-F238E27FC236}">
                <a16:creationId xmlns:a16="http://schemas.microsoft.com/office/drawing/2014/main" id="{8B9576CD-6DD1-457D-B19A-2D6DD60BA23F}"/>
              </a:ext>
            </a:extLst>
          </p:cNvPr>
          <p:cNvSpPr txBox="1">
            <a:spLocks noChangeArrowheads="1"/>
          </p:cNvSpPr>
          <p:nvPr/>
        </p:nvSpPr>
        <p:spPr bwMode="auto">
          <a:xfrm>
            <a:off x="6448808" y="3968009"/>
            <a:ext cx="22835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solidFill>
                  <a:srgbClr val="000000"/>
                </a:solidFill>
                <a:ea typeface="华文楷体" panose="02010600040101010101" pitchFamily="2" charset="-122"/>
                <a:cs typeface="Times New Roman" panose="02020603050405020304" pitchFamily="18" charset="0"/>
              </a:rPr>
              <a:t>- </a:t>
            </a:r>
            <a:r>
              <a:rPr lang="zh-CN" altLang="en-US" sz="2800" dirty="0">
                <a:solidFill>
                  <a:srgbClr val="000000"/>
                </a:solidFill>
                <a:ea typeface="华文楷体" panose="02010600040101010101" pitchFamily="2" charset="-122"/>
                <a:cs typeface="Times New Roman" panose="02020603050405020304" pitchFamily="18" charset="0"/>
              </a:rPr>
              <a:t>无极分子</a:t>
            </a:r>
          </a:p>
        </p:txBody>
      </p:sp>
      <p:sp>
        <p:nvSpPr>
          <p:cNvPr id="421901" name="Text Box 13">
            <a:extLst>
              <a:ext uri="{FF2B5EF4-FFF2-40B4-BE49-F238E27FC236}">
                <a16:creationId xmlns:a16="http://schemas.microsoft.com/office/drawing/2014/main" id="{483A9D59-A707-4A31-A90B-A89AC0343A02}"/>
              </a:ext>
            </a:extLst>
          </p:cNvPr>
          <p:cNvSpPr txBox="1">
            <a:spLocks noChangeArrowheads="1"/>
          </p:cNvSpPr>
          <p:nvPr/>
        </p:nvSpPr>
        <p:spPr bwMode="auto">
          <a:xfrm>
            <a:off x="6399212" y="966131"/>
            <a:ext cx="21174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solidFill>
                  <a:srgbClr val="000000"/>
                </a:solidFill>
                <a:ea typeface="华文楷体" panose="02010600040101010101" pitchFamily="2" charset="-122"/>
                <a:cs typeface="Times New Roman" panose="02020603050405020304" pitchFamily="18" charset="0"/>
              </a:rPr>
              <a:t>- </a:t>
            </a:r>
            <a:r>
              <a:rPr lang="zh-CN" altLang="en-US" sz="2800" dirty="0">
                <a:solidFill>
                  <a:srgbClr val="000000"/>
                </a:solidFill>
                <a:ea typeface="华文楷体" panose="02010600040101010101" pitchFamily="2" charset="-122"/>
                <a:cs typeface="Times New Roman" panose="02020603050405020304" pitchFamily="18" charset="0"/>
              </a:rPr>
              <a:t>有极分子</a:t>
            </a:r>
          </a:p>
        </p:txBody>
      </p:sp>
      <mc:AlternateContent xmlns:mc="http://schemas.openxmlformats.org/markup-compatibility/2006" xmlns:a14="http://schemas.microsoft.com/office/drawing/2010/main">
        <mc:Choice Requires="a14">
          <p:sp>
            <p:nvSpPr>
              <p:cNvPr id="21" name="Object 24">
                <a:extLst>
                  <a:ext uri="{FF2B5EF4-FFF2-40B4-BE49-F238E27FC236}">
                    <a16:creationId xmlns:a16="http://schemas.microsoft.com/office/drawing/2014/main" id="{B9A80576-E8DB-454C-B438-A3F46EDD3075}"/>
                  </a:ext>
                </a:extLst>
              </p:cNvPr>
              <p:cNvSpPr txBox="1"/>
              <p:nvPr/>
            </p:nvSpPr>
            <p:spPr bwMode="auto">
              <a:xfrm>
                <a:off x="8347869" y="2496772"/>
                <a:ext cx="2942998" cy="817563"/>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e>
                            <m:sub>
                              <m:r>
                                <a:rPr lang="en-US" sz="2800" i="1">
                                  <a:solidFill>
                                    <a:srgbClr val="000000"/>
                                  </a:solidFill>
                                  <a:latin typeface="Cambria Math" panose="02040503050406030204" pitchFamily="18" charset="0"/>
                                </a:rPr>
                                <m:t>𝑖</m:t>
                              </m:r>
                            </m:sub>
                          </m:sSub>
                        </m:e>
                      </m:nary>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21" name="Object 24">
                <a:extLst>
                  <a:ext uri="{FF2B5EF4-FFF2-40B4-BE49-F238E27FC236}">
                    <a16:creationId xmlns:a16="http://schemas.microsoft.com/office/drawing/2014/main" id="{B9A80576-E8DB-454C-B438-A3F46EDD3075}"/>
                  </a:ext>
                </a:extLst>
              </p:cNvPr>
              <p:cNvSpPr txBox="1">
                <a:spLocks noRot="1" noChangeAspect="1" noMove="1" noResize="1" noEditPoints="1" noAdjustHandles="1" noChangeArrowheads="1" noChangeShapeType="1" noTextEdit="1"/>
              </p:cNvSpPr>
              <p:nvPr/>
            </p:nvSpPr>
            <p:spPr bwMode="auto">
              <a:xfrm>
                <a:off x="8347869" y="2496772"/>
                <a:ext cx="2942998" cy="817563"/>
              </a:xfrm>
              <a:prstGeom prst="rect">
                <a:avLst/>
              </a:prstGeom>
              <a:blipFill>
                <a:blip r:embed="rId4"/>
                <a:stretch>
                  <a:fillRect b="-320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4">
                <a:extLst>
                  <a:ext uri="{FF2B5EF4-FFF2-40B4-BE49-F238E27FC236}">
                    <a16:creationId xmlns:a16="http://schemas.microsoft.com/office/drawing/2014/main" id="{F270653B-5E4C-46D9-9392-06D2AAE36B7C}"/>
                  </a:ext>
                </a:extLst>
              </p:cNvPr>
              <p:cNvSpPr txBox="1"/>
              <p:nvPr/>
            </p:nvSpPr>
            <p:spPr bwMode="auto">
              <a:xfrm>
                <a:off x="6399212" y="2522299"/>
                <a:ext cx="2562346" cy="836613"/>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𝑝</m:t>
                                  </m:r>
                                </m:e>
                              </m:acc>
                            </m:e>
                            <m:sub>
                              <m:r>
                                <a:rPr lang="en-US" sz="2800" i="1">
                                  <a:solidFill>
                                    <a:srgbClr val="000000"/>
                                  </a:solidFill>
                                  <a:latin typeface="Cambria Math" panose="02040503050406030204" pitchFamily="18" charset="0"/>
                                </a:rPr>
                                <m:t>𝑖</m:t>
                              </m:r>
                            </m:sub>
                          </m:sSub>
                        </m:e>
                      </m:nary>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22" name="Object 24">
                <a:extLst>
                  <a:ext uri="{FF2B5EF4-FFF2-40B4-BE49-F238E27FC236}">
                    <a16:creationId xmlns:a16="http://schemas.microsoft.com/office/drawing/2014/main" id="{F270653B-5E4C-46D9-9392-06D2AAE36B7C}"/>
                  </a:ext>
                </a:extLst>
              </p:cNvPr>
              <p:cNvSpPr txBox="1">
                <a:spLocks noRot="1" noChangeAspect="1" noMove="1" noResize="1" noEditPoints="1" noAdjustHandles="1" noChangeArrowheads="1" noChangeShapeType="1" noTextEdit="1"/>
              </p:cNvSpPr>
              <p:nvPr/>
            </p:nvSpPr>
            <p:spPr bwMode="auto">
              <a:xfrm>
                <a:off x="6399212" y="2522299"/>
                <a:ext cx="2562346" cy="836613"/>
              </a:xfrm>
              <a:prstGeom prst="rect">
                <a:avLst/>
              </a:prstGeom>
              <a:blipFill>
                <a:blip r:embed="rId5"/>
                <a:stretch>
                  <a:fillRect b="-29197"/>
                </a:stretch>
              </a:blipFill>
              <a:ln>
                <a:noFill/>
              </a:ln>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DB5DCD32-37AA-4A09-A6FC-B14316672769}"/>
              </a:ext>
            </a:extLst>
          </p:cNvPr>
          <p:cNvSpPr/>
          <p:nvPr/>
        </p:nvSpPr>
        <p:spPr>
          <a:xfrm>
            <a:off x="764239" y="87128"/>
            <a:ext cx="3326552" cy="584775"/>
          </a:xfrm>
          <a:prstGeom prst="rect">
            <a:avLst/>
          </a:prstGeom>
        </p:spPr>
        <p:txBody>
          <a:bodyPr wrap="none">
            <a:spAutoFit/>
          </a:bodyPr>
          <a:lstStyle/>
          <a:p>
            <a:pPr marL="571500" indent="-571500">
              <a:buFont typeface="Wingdings" panose="05000000000000000000" pitchFamily="2" charset="2"/>
              <a:buChar char="q"/>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电介质的极化 </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 name="Text Box 9">
            <a:extLst>
              <a:ext uri="{FF2B5EF4-FFF2-40B4-BE49-F238E27FC236}">
                <a16:creationId xmlns:a16="http://schemas.microsoft.com/office/drawing/2014/main" id="{5E0CDBC4-FD8C-44B4-97DE-6633A0386A13}"/>
              </a:ext>
            </a:extLst>
          </p:cNvPr>
          <p:cNvSpPr txBox="1">
            <a:spLocks noChangeArrowheads="1"/>
          </p:cNvSpPr>
          <p:nvPr/>
        </p:nvSpPr>
        <p:spPr bwMode="auto">
          <a:xfrm>
            <a:off x="7015728" y="5522425"/>
            <a:ext cx="1945830" cy="576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zh-CN" altLang="en-US" sz="2800" dirty="0">
                <a:solidFill>
                  <a:srgbClr val="000000"/>
                </a:solidFill>
                <a:ea typeface="华文楷体" panose="02010600040101010101" pitchFamily="2" charset="-122"/>
                <a:cs typeface="Times New Roman" panose="02020603050405020304" pitchFamily="18" charset="0"/>
              </a:rPr>
              <a:t>感生电矩</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19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19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18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189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7" grpId="0"/>
      <p:bldP spid="421899" grpId="0"/>
      <p:bldP spid="421900" grpId="0"/>
      <p:bldP spid="421901" grpId="0"/>
      <p:bldP spid="21" grpId="0"/>
      <p:bldP spid="22" grpId="0"/>
      <p:bldP spid="26" grpId="0"/>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5ea6e4d-8952-4839-be57-11fda0df19d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文档" ma:contentTypeID="0x010100CA343C45D49B2744AE1406E56A2ED666" ma:contentTypeVersion="1" ma:contentTypeDescription="新建文档。" ma:contentTypeScope="" ma:versionID="6b0f810430c447e99b80ecacf0b04663">
  <xsd:schema xmlns:xsd="http://www.w3.org/2001/XMLSchema" xmlns:xs="http://www.w3.org/2001/XMLSchema" xmlns:p="http://schemas.microsoft.com/office/2006/metadata/properties" xmlns:ns3="25ea6e4d-8952-4839-be57-11fda0df19d2" targetNamespace="http://schemas.microsoft.com/office/2006/metadata/properties" ma:root="true" ma:fieldsID="eb43a71fd68e81875b93fced2c01a36c" ns3:_="">
    <xsd:import namespace="25ea6e4d-8952-4839-be57-11fda0df19d2"/>
    <xsd:element name="properties">
      <xsd:complexType>
        <xsd:sequence>
          <xsd:element name="documentManagement">
            <xsd:complexType>
              <xsd:all>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ea6e4d-8952-4839-be57-11fda0df19d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BC6AA1-A723-4C18-A512-D9ED6B3D7C64}">
  <ds:schemaRefs>
    <ds:schemaRef ds:uri="http://schemas.microsoft.com/sharepoint/v3/contenttype/forms"/>
  </ds:schemaRefs>
</ds:datastoreItem>
</file>

<file path=customXml/itemProps2.xml><?xml version="1.0" encoding="utf-8"?>
<ds:datastoreItem xmlns:ds="http://schemas.openxmlformats.org/officeDocument/2006/customXml" ds:itemID="{0680EDA7-8B72-4DCC-8942-51E1EC2DBC5E}">
  <ds:schemaRefs>
    <ds:schemaRef ds:uri="http://schemas.microsoft.com/office/infopath/2007/PartnerControls"/>
    <ds:schemaRef ds:uri="25ea6e4d-8952-4839-be57-11fda0df19d2"/>
    <ds:schemaRef ds:uri="http://purl.org/dc/dcmitype/"/>
    <ds:schemaRef ds:uri="http://purl.org/dc/elements/1.1/"/>
    <ds:schemaRef ds:uri="http://schemas.openxmlformats.org/package/2006/metadata/core-properties"/>
    <ds:schemaRef ds:uri="http://www.w3.org/XML/1998/namespace"/>
    <ds:schemaRef ds:uri="http://purl.org/dc/terms/"/>
    <ds:schemaRef ds:uri="http://schemas.microsoft.com/office/2006/metadata/properties"/>
    <ds:schemaRef ds:uri="http://schemas.microsoft.com/office/2006/documentManagement/types"/>
  </ds:schemaRefs>
</ds:datastoreItem>
</file>

<file path=customXml/itemProps3.xml><?xml version="1.0" encoding="utf-8"?>
<ds:datastoreItem xmlns:ds="http://schemas.openxmlformats.org/officeDocument/2006/customXml" ds:itemID="{3B0120BB-0242-44D2-A7C4-92F3A0AE11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ea6e4d-8952-4839-be57-11fda0df19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12133</TotalTime>
  <Words>1966</Words>
  <Application>Microsoft Office PowerPoint</Application>
  <PresentationFormat>宽屏</PresentationFormat>
  <Paragraphs>391</Paragraphs>
  <Slides>38</Slides>
  <Notes>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3" baseType="lpstr">
      <vt:lpstr>Microsoft Yahei</vt:lpstr>
      <vt:lpstr>Monotype Sorts</vt:lpstr>
      <vt:lpstr>等线</vt:lpstr>
      <vt:lpstr>黑体</vt:lpstr>
      <vt:lpstr>华文楷体</vt:lpstr>
      <vt:lpstr>华文新魏</vt:lpstr>
      <vt:lpstr>宋体</vt:lpstr>
      <vt:lpstr>Arial</vt:lpstr>
      <vt:lpstr>Calibri</vt:lpstr>
      <vt:lpstr>Cambria Math</vt:lpstr>
      <vt:lpstr>Symbol</vt:lpstr>
      <vt:lpstr>Times New Roman</vt:lpstr>
      <vt:lpstr>Wingdings</vt:lpstr>
      <vt:lpstr>Office 主题​​</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由电荷守恒得：</vt:lpstr>
      <vt:lpstr>PowerPoint 演示文稿</vt:lpstr>
      <vt:lpstr>B板接地后</vt:lpstr>
      <vt:lpstr>PowerPoint 演示文稿</vt:lpstr>
      <vt:lpstr>例：导体球壳内外半径分别为R1和R2，导体小球半径为r。二者同心，电荷量分别为Q和q.</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265</cp:revision>
  <dcterms:created xsi:type="dcterms:W3CDTF">2023-02-17T03:39:54Z</dcterms:created>
  <dcterms:modified xsi:type="dcterms:W3CDTF">2024-03-26T01:30:49Z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0x010100CA343C45D49B2744AE1406E56A2ED666</vt:lpwstr>
  </property>
</Properties>
</file>